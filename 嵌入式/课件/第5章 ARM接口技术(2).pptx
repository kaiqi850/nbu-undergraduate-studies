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663" r:id="rId1"/>
  </p:sldMasterIdLst>
  <p:sldIdLst>
    <p:sldId id="317" r:id="rId2"/>
    <p:sldId id="318" r:id="rId3"/>
    <p:sldId id="319" r:id="rId4"/>
    <p:sldId id="320" r:id="rId5"/>
    <p:sldId id="432" r:id="rId6"/>
    <p:sldId id="437" r:id="rId7"/>
    <p:sldId id="442" r:id="rId8"/>
    <p:sldId id="480" r:id="rId9"/>
    <p:sldId id="481" r:id="rId10"/>
    <p:sldId id="482" r:id="rId11"/>
    <p:sldId id="483" r:id="rId12"/>
    <p:sldId id="484" r:id="rId13"/>
    <p:sldId id="485" r:id="rId14"/>
    <p:sldId id="486" r:id="rId15"/>
    <p:sldId id="487" r:id="rId16"/>
    <p:sldId id="488" r:id="rId17"/>
    <p:sldId id="489" r:id="rId18"/>
    <p:sldId id="490" r:id="rId19"/>
    <p:sldId id="260" r:id="rId20"/>
    <p:sldId id="261" r:id="rId21"/>
    <p:sldId id="262" r:id="rId22"/>
    <p:sldId id="263" r:id="rId23"/>
    <p:sldId id="264" r:id="rId24"/>
    <p:sldId id="265" r:id="rId25"/>
    <p:sldId id="642" r:id="rId26"/>
    <p:sldId id="643" r:id="rId27"/>
    <p:sldId id="644" r:id="rId28"/>
    <p:sldId id="266" r:id="rId29"/>
    <p:sldId id="645" r:id="rId30"/>
    <p:sldId id="646" r:id="rId31"/>
    <p:sldId id="647" r:id="rId32"/>
    <p:sldId id="648" r:id="rId33"/>
    <p:sldId id="649" r:id="rId34"/>
    <p:sldId id="468" r:id="rId35"/>
    <p:sldId id="444" r:id="rId36"/>
    <p:sldId id="449" r:id="rId37"/>
    <p:sldId id="470" r:id="rId38"/>
    <p:sldId id="473" r:id="rId39"/>
    <p:sldId id="469" r:id="rId40"/>
    <p:sldId id="471" r:id="rId41"/>
    <p:sldId id="472" r:id="rId42"/>
    <p:sldId id="446" r:id="rId43"/>
    <p:sldId id="447" r:id="rId44"/>
    <p:sldId id="452" r:id="rId45"/>
    <p:sldId id="450" r:id="rId46"/>
    <p:sldId id="453" r:id="rId47"/>
    <p:sldId id="454" r:id="rId48"/>
    <p:sldId id="455" r:id="rId49"/>
    <p:sldId id="456" r:id="rId50"/>
    <p:sldId id="458" r:id="rId51"/>
    <p:sldId id="474" r:id="rId52"/>
    <p:sldId id="475" r:id="rId53"/>
    <p:sldId id="476" r:id="rId54"/>
    <p:sldId id="477" r:id="rId55"/>
    <p:sldId id="478" r:id="rId56"/>
    <p:sldId id="460" r:id="rId57"/>
    <p:sldId id="461" r:id="rId58"/>
    <p:sldId id="462" r:id="rId59"/>
    <p:sldId id="463" r:id="rId60"/>
    <p:sldId id="464" r:id="rId61"/>
    <p:sldId id="563" r:id="rId62"/>
    <p:sldId id="566" r:id="rId63"/>
    <p:sldId id="567" r:id="rId64"/>
    <p:sldId id="568" r:id="rId65"/>
    <p:sldId id="580" r:id="rId66"/>
    <p:sldId id="569" r:id="rId67"/>
    <p:sldId id="570" r:id="rId68"/>
    <p:sldId id="571" r:id="rId69"/>
    <p:sldId id="588" r:id="rId70"/>
    <p:sldId id="589" r:id="rId71"/>
    <p:sldId id="590" r:id="rId72"/>
    <p:sldId id="591" r:id="rId73"/>
    <p:sldId id="583" r:id="rId74"/>
    <p:sldId id="593" r:id="rId75"/>
    <p:sldId id="592" r:id="rId76"/>
    <p:sldId id="595" r:id="rId77"/>
    <p:sldId id="597" r:id="rId78"/>
    <p:sldId id="598" r:id="rId79"/>
    <p:sldId id="585" r:id="rId80"/>
    <p:sldId id="572" r:id="rId81"/>
    <p:sldId id="599" r:id="rId82"/>
    <p:sldId id="600" r:id="rId83"/>
    <p:sldId id="601" r:id="rId84"/>
    <p:sldId id="602" r:id="rId85"/>
    <p:sldId id="603" r:id="rId86"/>
    <p:sldId id="604" r:id="rId87"/>
    <p:sldId id="605" r:id="rId88"/>
    <p:sldId id="606" r:id="rId89"/>
    <p:sldId id="607" r:id="rId90"/>
    <p:sldId id="268" r:id="rId91"/>
    <p:sldId id="608" r:id="rId92"/>
    <p:sldId id="270" r:id="rId93"/>
    <p:sldId id="271" r:id="rId94"/>
    <p:sldId id="272" r:id="rId95"/>
    <p:sldId id="609" r:id="rId96"/>
    <p:sldId id="610" r:id="rId97"/>
    <p:sldId id="611" r:id="rId98"/>
    <p:sldId id="612" r:id="rId99"/>
    <p:sldId id="613" r:id="rId100"/>
    <p:sldId id="573" r:id="rId101"/>
    <p:sldId id="574" r:id="rId102"/>
    <p:sldId id="575" r:id="rId103"/>
    <p:sldId id="576" r:id="rId104"/>
    <p:sldId id="577" r:id="rId105"/>
    <p:sldId id="578" r:id="rId106"/>
    <p:sldId id="579" r:id="rId107"/>
    <p:sldId id="614" r:id="rId108"/>
    <p:sldId id="581" r:id="rId109"/>
    <p:sldId id="582" r:id="rId110"/>
    <p:sldId id="615" r:id="rId111"/>
    <p:sldId id="584" r:id="rId112"/>
    <p:sldId id="616" r:id="rId113"/>
    <p:sldId id="586" r:id="rId114"/>
    <p:sldId id="587" r:id="rId115"/>
    <p:sldId id="617" r:id="rId116"/>
    <p:sldId id="618" r:id="rId117"/>
    <p:sldId id="619" r:id="rId118"/>
    <p:sldId id="620" r:id="rId119"/>
    <p:sldId id="621" r:id="rId120"/>
    <p:sldId id="622" r:id="rId121"/>
    <p:sldId id="594" r:id="rId122"/>
    <p:sldId id="623" r:id="rId123"/>
    <p:sldId id="596" r:id="rId124"/>
    <p:sldId id="624" r:id="rId125"/>
    <p:sldId id="625" r:id="rId126"/>
    <p:sldId id="626" r:id="rId127"/>
    <p:sldId id="627" r:id="rId128"/>
    <p:sldId id="628" r:id="rId129"/>
    <p:sldId id="629" r:id="rId130"/>
    <p:sldId id="630" r:id="rId131"/>
    <p:sldId id="631" r:id="rId132"/>
    <p:sldId id="632" r:id="rId133"/>
    <p:sldId id="633" r:id="rId134"/>
    <p:sldId id="634" r:id="rId135"/>
    <p:sldId id="635" r:id="rId136"/>
    <p:sldId id="636" r:id="rId137"/>
    <p:sldId id="637" r:id="rId138"/>
    <p:sldId id="638" r:id="rId139"/>
    <p:sldId id="639" r:id="rId140"/>
    <p:sldId id="640" r:id="rId141"/>
    <p:sldId id="641" r:id="rId1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90" autoAdjust="0"/>
    <p:restoredTop sz="94660"/>
  </p:normalViewPr>
  <p:slideViewPr>
    <p:cSldViewPr snapToGrid="0">
      <p:cViewPr varScale="1">
        <p:scale>
          <a:sx n="98" d="100"/>
          <a:sy n="98" d="100"/>
        </p:scale>
        <p:origin x="50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zh-CN" altLang="en-US"/>
              <a:t>单击此处编辑母版标题样式</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4B5AB24-C689-4DE4-AEE0-47706C6797A7}" type="datetimeFigureOut">
              <a:rPr lang="zh-CN" altLang="en-US" smtClean="0"/>
              <a:t>2024/4/15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9740C5E-4187-4569-A068-5BE037B8EFF3}" type="slidenum">
              <a:rPr lang="zh-CN" altLang="en-US" smtClean="0"/>
              <a:t>‹#›</a:t>
            </a:fld>
            <a:endParaRPr lang="zh-CN" altLang="en-US"/>
          </a:p>
        </p:txBody>
      </p:sp>
    </p:spTree>
    <p:extLst>
      <p:ext uri="{BB962C8B-B14F-4D97-AF65-F5344CB8AC3E}">
        <p14:creationId xmlns:p14="http://schemas.microsoft.com/office/powerpoint/2010/main" val="3044726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B5AB24-C689-4DE4-AEE0-47706C6797A7}" type="datetimeFigureOut">
              <a:rPr lang="zh-CN" altLang="en-US" smtClean="0"/>
              <a:t>2024/4/15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740C5E-4187-4569-A068-5BE037B8EFF3}" type="slidenum">
              <a:rPr lang="zh-CN" altLang="en-US" smtClean="0"/>
              <a:t>‹#›</a:t>
            </a:fld>
            <a:endParaRPr lang="zh-CN" altLang="en-US"/>
          </a:p>
        </p:txBody>
      </p:sp>
    </p:spTree>
    <p:extLst>
      <p:ext uri="{BB962C8B-B14F-4D97-AF65-F5344CB8AC3E}">
        <p14:creationId xmlns:p14="http://schemas.microsoft.com/office/powerpoint/2010/main" val="2356107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4B5AB24-C689-4DE4-AEE0-47706C6797A7}" type="datetimeFigureOut">
              <a:rPr lang="zh-CN" altLang="en-US" smtClean="0"/>
              <a:t>2024/4/15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740C5E-4187-4569-A068-5BE037B8EFF3}" type="slidenum">
              <a:rPr lang="zh-CN" altLang="en-US" smtClean="0"/>
              <a:t>‹#›</a:t>
            </a:fld>
            <a:endParaRPr lang="zh-CN" altLang="en-US"/>
          </a:p>
        </p:txBody>
      </p:sp>
    </p:spTree>
    <p:extLst>
      <p:ext uri="{BB962C8B-B14F-4D97-AF65-F5344CB8AC3E}">
        <p14:creationId xmlns:p14="http://schemas.microsoft.com/office/powerpoint/2010/main" val="861575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4B5AB24-C689-4DE4-AEE0-47706C6797A7}" type="datetimeFigureOut">
              <a:rPr lang="zh-CN" altLang="en-US" smtClean="0"/>
              <a:t>2024/4/15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9740C5E-4187-4569-A068-5BE037B8EFF3}" type="slidenum">
              <a:rPr lang="zh-CN" altLang="en-US" smtClean="0"/>
              <a:t>‹#›</a:t>
            </a:fld>
            <a:endParaRPr lang="zh-CN" altLang="en-US"/>
          </a:p>
        </p:txBody>
      </p:sp>
    </p:spTree>
    <p:extLst>
      <p:ext uri="{BB962C8B-B14F-4D97-AF65-F5344CB8AC3E}">
        <p14:creationId xmlns:p14="http://schemas.microsoft.com/office/powerpoint/2010/main" val="210488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4B5AB24-C689-4DE4-AEE0-47706C6797A7}" type="datetimeFigureOut">
              <a:rPr lang="zh-CN" altLang="en-US" smtClean="0"/>
              <a:t>2024/4/15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9740C5E-4187-4569-A068-5BE037B8EFF3}" type="slidenum">
              <a:rPr lang="zh-CN" altLang="en-US" smtClean="0"/>
              <a:t>‹#›</a:t>
            </a:fld>
            <a:endParaRPr lang="zh-CN" altLang="en-US"/>
          </a:p>
        </p:txBody>
      </p:sp>
    </p:spTree>
    <p:extLst>
      <p:ext uri="{BB962C8B-B14F-4D97-AF65-F5344CB8AC3E}">
        <p14:creationId xmlns:p14="http://schemas.microsoft.com/office/powerpoint/2010/main" val="3679857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4B5AB24-C689-4DE4-AEE0-47706C6797A7}" type="datetimeFigureOut">
              <a:rPr lang="zh-CN" altLang="en-US" smtClean="0"/>
              <a:t>2024/4/15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9740C5E-4187-4569-A068-5BE037B8EFF3}" type="slidenum">
              <a:rPr lang="zh-CN" altLang="en-US" smtClean="0"/>
              <a:t>‹#›</a:t>
            </a:fld>
            <a:endParaRPr lang="zh-CN" altLang="en-US"/>
          </a:p>
        </p:txBody>
      </p:sp>
    </p:spTree>
    <p:extLst>
      <p:ext uri="{BB962C8B-B14F-4D97-AF65-F5344CB8AC3E}">
        <p14:creationId xmlns:p14="http://schemas.microsoft.com/office/powerpoint/2010/main" val="3801429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B5AB24-C689-4DE4-AEE0-47706C6797A7}" type="datetimeFigureOut">
              <a:rPr lang="zh-CN" altLang="en-US" smtClean="0"/>
              <a:t>2024/4/15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9740C5E-4187-4569-A068-5BE037B8EFF3}" type="slidenum">
              <a:rPr lang="zh-CN" altLang="en-US" smtClean="0"/>
              <a:t>‹#›</a:t>
            </a:fld>
            <a:endParaRPr lang="zh-CN" altLang="en-US"/>
          </a:p>
        </p:txBody>
      </p:sp>
    </p:spTree>
    <p:extLst>
      <p:ext uri="{BB962C8B-B14F-4D97-AF65-F5344CB8AC3E}">
        <p14:creationId xmlns:p14="http://schemas.microsoft.com/office/powerpoint/2010/main" val="3347514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zh-CN" altLang="en-US"/>
              <a:t>单击此处编辑母版标题样式</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4B5AB24-C689-4DE4-AEE0-47706C6797A7}" type="datetimeFigureOut">
              <a:rPr lang="zh-CN" altLang="en-US" smtClean="0"/>
              <a:t>2024/4/15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9740C5E-4187-4569-A068-5BE037B8EFF3}" type="slidenum">
              <a:rPr lang="zh-CN" altLang="en-US" smtClean="0"/>
              <a:t>‹#›</a:t>
            </a:fld>
            <a:endParaRPr lang="zh-CN" altLang="en-US"/>
          </a:p>
        </p:txBody>
      </p:sp>
    </p:spTree>
    <p:extLst>
      <p:ext uri="{BB962C8B-B14F-4D97-AF65-F5344CB8AC3E}">
        <p14:creationId xmlns:p14="http://schemas.microsoft.com/office/powerpoint/2010/main" val="2920569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4B5AB24-C689-4DE4-AEE0-47706C6797A7}" type="datetimeFigureOut">
              <a:rPr lang="zh-CN" altLang="en-US" smtClean="0"/>
              <a:t>2024/4/15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740C5E-4187-4569-A068-5BE037B8EFF3}" type="slidenum">
              <a:rPr lang="zh-CN" altLang="en-US" smtClean="0"/>
              <a:t>‹#›</a:t>
            </a:fld>
            <a:endParaRPr lang="zh-CN" altLang="en-US"/>
          </a:p>
        </p:txBody>
      </p:sp>
    </p:spTree>
    <p:extLst>
      <p:ext uri="{BB962C8B-B14F-4D97-AF65-F5344CB8AC3E}">
        <p14:creationId xmlns:p14="http://schemas.microsoft.com/office/powerpoint/2010/main" val="775668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4B5AB24-C689-4DE4-AEE0-47706C6797A7}" type="datetimeFigureOut">
              <a:rPr lang="zh-CN" altLang="en-US" smtClean="0"/>
              <a:t>2024/4/15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740C5E-4187-4569-A068-5BE037B8EFF3}" type="slidenum">
              <a:rPr lang="zh-CN" altLang="en-US" smtClean="0"/>
              <a:t>‹#›</a:t>
            </a:fld>
            <a:endParaRPr lang="zh-CN" altLang="en-US"/>
          </a:p>
        </p:txBody>
      </p:sp>
    </p:spTree>
    <p:extLst>
      <p:ext uri="{BB962C8B-B14F-4D97-AF65-F5344CB8AC3E}">
        <p14:creationId xmlns:p14="http://schemas.microsoft.com/office/powerpoint/2010/main" val="1736883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a:t>单击此处编辑母版标题样式</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4B5AB24-C689-4DE4-AEE0-47706C6797A7}" type="datetimeFigureOut">
              <a:rPr lang="zh-CN" altLang="en-US" smtClean="0"/>
              <a:t>2024/4/15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740C5E-4187-4569-A068-5BE037B8EFF3}" type="slidenum">
              <a:rPr lang="zh-CN" altLang="en-US" smtClean="0"/>
              <a:t>‹#›</a:t>
            </a:fld>
            <a:endParaRPr lang="zh-CN" alt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360048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p>
        </p:txBody>
      </p:sp>
      <p:sp>
        <p:nvSpPr>
          <p:cNvPr id="5" name="Date Placeholder 4"/>
          <p:cNvSpPr>
            <a:spLocks noGrp="1"/>
          </p:cNvSpPr>
          <p:nvPr>
            <p:ph type="dt" sz="half" idx="10"/>
          </p:nvPr>
        </p:nvSpPr>
        <p:spPr/>
        <p:txBody>
          <a:bodyPr/>
          <a:lstStyle/>
          <a:p>
            <a:fld id="{E4B5AB24-C689-4DE4-AEE0-47706C6797A7}" type="datetimeFigureOut">
              <a:rPr lang="zh-CN" altLang="en-US" smtClean="0"/>
              <a:t>2024/4/15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740C5E-4187-4569-A068-5BE037B8EFF3}" type="slidenum">
              <a:rPr lang="zh-CN" altLang="en-US" smtClean="0"/>
              <a:t>‹#›</a:t>
            </a:fld>
            <a:endParaRPr lang="zh-CN" altLang="en-US"/>
          </a:p>
        </p:txBody>
      </p:sp>
    </p:spTree>
    <p:extLst>
      <p:ext uri="{BB962C8B-B14F-4D97-AF65-F5344CB8AC3E}">
        <p14:creationId xmlns:p14="http://schemas.microsoft.com/office/powerpoint/2010/main" val="36426199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p>
        </p:txBody>
      </p:sp>
      <p:sp>
        <p:nvSpPr>
          <p:cNvPr id="5" name="Date Placeholder 4"/>
          <p:cNvSpPr>
            <a:spLocks noGrp="1"/>
          </p:cNvSpPr>
          <p:nvPr>
            <p:ph type="dt" sz="half" idx="10"/>
          </p:nvPr>
        </p:nvSpPr>
        <p:spPr/>
        <p:txBody>
          <a:bodyPr/>
          <a:lstStyle/>
          <a:p>
            <a:fld id="{E4B5AB24-C689-4DE4-AEE0-47706C6797A7}" type="datetimeFigureOut">
              <a:rPr lang="zh-CN" altLang="en-US" smtClean="0"/>
              <a:t>2024/4/15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740C5E-4187-4569-A068-5BE037B8EFF3}" type="slidenum">
              <a:rPr lang="zh-CN" altLang="en-US" smtClean="0"/>
              <a:t>‹#›</a:t>
            </a:fld>
            <a:endParaRPr lang="zh-CN" alt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522046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zh-CN" altLang="en-US"/>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p>
        </p:txBody>
      </p:sp>
      <p:sp>
        <p:nvSpPr>
          <p:cNvPr id="5" name="Date Placeholder 4"/>
          <p:cNvSpPr>
            <a:spLocks noGrp="1"/>
          </p:cNvSpPr>
          <p:nvPr>
            <p:ph type="dt" sz="half" idx="10"/>
          </p:nvPr>
        </p:nvSpPr>
        <p:spPr/>
        <p:txBody>
          <a:bodyPr/>
          <a:lstStyle/>
          <a:p>
            <a:fld id="{E4B5AB24-C689-4DE4-AEE0-47706C6797A7}" type="datetimeFigureOut">
              <a:rPr lang="zh-CN" altLang="en-US" smtClean="0"/>
              <a:t>2024/4/15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740C5E-4187-4569-A068-5BE037B8EFF3}" type="slidenum">
              <a:rPr lang="zh-CN" altLang="en-US" smtClean="0"/>
              <a:t>‹#›</a:t>
            </a:fld>
            <a:endParaRPr lang="zh-CN" altLang="en-US"/>
          </a:p>
        </p:txBody>
      </p:sp>
    </p:spTree>
    <p:extLst>
      <p:ext uri="{BB962C8B-B14F-4D97-AF65-F5344CB8AC3E}">
        <p14:creationId xmlns:p14="http://schemas.microsoft.com/office/powerpoint/2010/main" val="10155372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B5AB24-C689-4DE4-AEE0-47706C6797A7}" type="datetimeFigureOut">
              <a:rPr lang="zh-CN" altLang="en-US" smtClean="0"/>
              <a:t>2024/4/15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740C5E-4187-4569-A068-5BE037B8EFF3}" type="slidenum">
              <a:rPr lang="zh-CN" altLang="en-US" smtClean="0"/>
              <a:t>‹#›</a:t>
            </a:fld>
            <a:endParaRPr lang="zh-CN" altLang="en-US"/>
          </a:p>
        </p:txBody>
      </p:sp>
    </p:spTree>
    <p:extLst>
      <p:ext uri="{BB962C8B-B14F-4D97-AF65-F5344CB8AC3E}">
        <p14:creationId xmlns:p14="http://schemas.microsoft.com/office/powerpoint/2010/main" val="2781439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B5AB24-C689-4DE4-AEE0-47706C6797A7}" type="datetimeFigureOut">
              <a:rPr lang="zh-CN" altLang="en-US" smtClean="0"/>
              <a:t>2024/4/15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740C5E-4187-4569-A068-5BE037B8EFF3}" type="slidenum">
              <a:rPr lang="zh-CN" altLang="en-US" smtClean="0"/>
              <a:t>‹#›</a:t>
            </a:fld>
            <a:endParaRPr lang="zh-CN" altLang="en-US"/>
          </a:p>
        </p:txBody>
      </p:sp>
    </p:spTree>
    <p:extLst>
      <p:ext uri="{BB962C8B-B14F-4D97-AF65-F5344CB8AC3E}">
        <p14:creationId xmlns:p14="http://schemas.microsoft.com/office/powerpoint/2010/main" val="13236754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p:spPr>
        <p:txBody>
          <a:bodyPr/>
          <a:lstStyle/>
          <a:p>
            <a:r>
              <a:rPr lang="zh-CN" altLang="en-US"/>
              <a:t>单击此处编辑母版标题样式</a:t>
            </a:r>
          </a:p>
        </p:txBody>
      </p:sp>
      <p:sp>
        <p:nvSpPr>
          <p:cNvPr id="3" name="表格占位符 2"/>
          <p:cNvSpPr>
            <a:spLocks noGrp="1"/>
          </p:cNvSpPr>
          <p:nvPr>
            <p:ph type="tbl" idx="1"/>
          </p:nvPr>
        </p:nvSpPr>
        <p:spPr>
          <a:xfrm>
            <a:off x="914400" y="1981200"/>
            <a:ext cx="10363200" cy="4114800"/>
          </a:xfrm>
        </p:spPr>
        <p:txBody>
          <a:bodyPr/>
          <a:lstStyle/>
          <a:p>
            <a:endParaRPr lang="zh-CN" altLang="en-US"/>
          </a:p>
        </p:txBody>
      </p:sp>
      <p:sp>
        <p:nvSpPr>
          <p:cNvPr id="4" name="日期占位符 3"/>
          <p:cNvSpPr>
            <a:spLocks noGrp="1"/>
          </p:cNvSpPr>
          <p:nvPr>
            <p:ph type="dt" sz="half" idx="10"/>
          </p:nvPr>
        </p:nvSpPr>
        <p:spPr>
          <a:xfrm>
            <a:off x="914400" y="6248400"/>
            <a:ext cx="2540000" cy="457200"/>
          </a:xfrm>
        </p:spPr>
        <p:txBody>
          <a:bodyPr/>
          <a:lstStyle>
            <a:lvl1pPr>
              <a:defRPr/>
            </a:lvl1pPr>
          </a:lstStyle>
          <a:p>
            <a:endParaRPr lang="en-US" altLang="zh-CN"/>
          </a:p>
        </p:txBody>
      </p:sp>
      <p:sp>
        <p:nvSpPr>
          <p:cNvPr id="5" name="页脚占位符 4"/>
          <p:cNvSpPr>
            <a:spLocks noGrp="1"/>
          </p:cNvSpPr>
          <p:nvPr>
            <p:ph type="ftr" sz="quarter" idx="11"/>
          </p:nvPr>
        </p:nvSpPr>
        <p:spPr>
          <a:xfrm>
            <a:off x="4165600" y="6248400"/>
            <a:ext cx="3860800" cy="457200"/>
          </a:xfrm>
        </p:spPr>
        <p:txBody>
          <a:bodyPr/>
          <a:lstStyle>
            <a:lvl1pPr>
              <a:defRPr/>
            </a:lvl1pPr>
          </a:lstStyle>
          <a:p>
            <a:endParaRPr lang="en-US" altLang="zh-CN"/>
          </a:p>
        </p:txBody>
      </p:sp>
      <p:sp>
        <p:nvSpPr>
          <p:cNvPr id="6" name="灯片编号占位符 5"/>
          <p:cNvSpPr>
            <a:spLocks noGrp="1"/>
          </p:cNvSpPr>
          <p:nvPr>
            <p:ph type="sldNum" sz="quarter" idx="12"/>
          </p:nvPr>
        </p:nvSpPr>
        <p:spPr>
          <a:xfrm>
            <a:off x="8737600" y="6248400"/>
            <a:ext cx="2540000" cy="457200"/>
          </a:xfrm>
        </p:spPr>
        <p:txBody>
          <a:bodyPr/>
          <a:lstStyle>
            <a:lvl1pPr>
              <a:defRPr/>
            </a:lvl1pPr>
          </a:lstStyle>
          <a:p>
            <a:fld id="{3DF2FE94-6AED-4E80-9104-92A1F6A8A6AD}" type="slidenum">
              <a:rPr lang="en-US" altLang="zh-CN"/>
              <a:pPr/>
              <a:t>‹#›</a:t>
            </a:fld>
            <a:endParaRPr lang="en-US" altLang="zh-CN"/>
          </a:p>
        </p:txBody>
      </p:sp>
    </p:spTree>
    <p:extLst>
      <p:ext uri="{BB962C8B-B14F-4D97-AF65-F5344CB8AC3E}">
        <p14:creationId xmlns:p14="http://schemas.microsoft.com/office/powerpoint/2010/main" val="2007932912"/>
      </p:ext>
    </p:extLst>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609600"/>
            <a:ext cx="103632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a:xfrm>
            <a:off x="914400" y="6248400"/>
            <a:ext cx="2540000" cy="457200"/>
          </a:xfrm>
        </p:spPr>
        <p:txBody>
          <a:bodyPr/>
          <a:lstStyle>
            <a:lvl1pPr>
              <a:defRPr/>
            </a:lvl1pPr>
          </a:lstStyle>
          <a:p>
            <a:endParaRPr lang="en-US" altLang="zh-CN"/>
          </a:p>
        </p:txBody>
      </p:sp>
      <p:sp>
        <p:nvSpPr>
          <p:cNvPr id="4" name="页脚占位符 3"/>
          <p:cNvSpPr>
            <a:spLocks noGrp="1"/>
          </p:cNvSpPr>
          <p:nvPr>
            <p:ph type="ftr" sz="quarter" idx="11"/>
          </p:nvPr>
        </p:nvSpPr>
        <p:spPr>
          <a:xfrm>
            <a:off x="4165600" y="6248400"/>
            <a:ext cx="3860800" cy="45720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8737600" y="6248400"/>
            <a:ext cx="2540000" cy="457200"/>
          </a:xfrm>
        </p:spPr>
        <p:txBody>
          <a:bodyPr/>
          <a:lstStyle>
            <a:lvl1pPr>
              <a:defRPr/>
            </a:lvl1pPr>
          </a:lstStyle>
          <a:p>
            <a:fld id="{370D293A-81E2-4FCA-AD9B-3F4B5C085E42}" type="slidenum">
              <a:rPr lang="en-US" altLang="zh-CN"/>
              <a:pPr/>
              <a:t>‹#›</a:t>
            </a:fld>
            <a:endParaRPr lang="en-US" altLang="zh-CN"/>
          </a:p>
        </p:txBody>
      </p:sp>
    </p:spTree>
    <p:extLst>
      <p:ext uri="{BB962C8B-B14F-4D97-AF65-F5344CB8AC3E}">
        <p14:creationId xmlns:p14="http://schemas.microsoft.com/office/powerpoint/2010/main" val="3007971072"/>
      </p:ext>
    </p:extLst>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981200"/>
            <a:ext cx="508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08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914400" y="6248400"/>
            <a:ext cx="25400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4165600" y="6248400"/>
            <a:ext cx="38608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8737600" y="6248400"/>
            <a:ext cx="2540000" cy="457200"/>
          </a:xfrm>
        </p:spPr>
        <p:txBody>
          <a:bodyPr/>
          <a:lstStyle>
            <a:lvl1pPr>
              <a:defRPr/>
            </a:lvl1pPr>
          </a:lstStyle>
          <a:p>
            <a:fld id="{EEB58E82-2826-4416-801C-CA9378AADFAE}" type="slidenum">
              <a:rPr lang="en-US" altLang="zh-CN"/>
              <a:pPr/>
              <a:t>‹#›</a:t>
            </a:fld>
            <a:endParaRPr lang="en-US" altLang="zh-CN"/>
          </a:p>
        </p:txBody>
      </p:sp>
    </p:spTree>
    <p:extLst>
      <p:ext uri="{BB962C8B-B14F-4D97-AF65-F5344CB8AC3E}">
        <p14:creationId xmlns:p14="http://schemas.microsoft.com/office/powerpoint/2010/main" val="2132642553"/>
      </p:ext>
    </p:extLst>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787830" y="548680"/>
            <a:ext cx="7996469" cy="576064"/>
          </a:xfrm>
        </p:spPr>
        <p:txBody>
          <a:bodyPr/>
          <a:lstStyle>
            <a:lvl1pPr>
              <a:defRPr lang="zh-CN" altLang="en-US" dirty="0"/>
            </a:lvl1pPr>
          </a:lstStyle>
          <a:p>
            <a:pPr lvl="0"/>
            <a:r>
              <a:rPr lang="zh-CN" altLang="en-US" dirty="0"/>
              <a:t>单击此处编辑母版标题样式</a:t>
            </a:r>
          </a:p>
        </p:txBody>
      </p:sp>
      <p:sp>
        <p:nvSpPr>
          <p:cNvPr id="7" name="文本占位符 6"/>
          <p:cNvSpPr>
            <a:spLocks noGrp="1"/>
          </p:cNvSpPr>
          <p:nvPr>
            <p:ph type="body" sz="quarter" idx="10"/>
          </p:nvPr>
        </p:nvSpPr>
        <p:spPr>
          <a:xfrm>
            <a:off x="787200" y="1220755"/>
            <a:ext cx="10685397" cy="489654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851621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4B5AB24-C689-4DE4-AEE0-47706C6797A7}" type="datetimeFigureOut">
              <a:rPr lang="zh-CN" altLang="en-US" smtClean="0"/>
              <a:t>2024/4/15</a:t>
            </a:fld>
            <a:endParaRPr lang="zh-CN" alt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9740C5E-4187-4569-A068-5BE037B8EFF3}" type="slidenum">
              <a:rPr lang="zh-CN" altLang="en-US" smtClean="0"/>
              <a:t>‹#›</a:t>
            </a:fld>
            <a:endParaRPr lang="zh-CN" altLang="en-US"/>
          </a:p>
        </p:txBody>
      </p:sp>
    </p:spTree>
    <p:extLst>
      <p:ext uri="{BB962C8B-B14F-4D97-AF65-F5344CB8AC3E}">
        <p14:creationId xmlns:p14="http://schemas.microsoft.com/office/powerpoint/2010/main" val="2222205162"/>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0.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bin"/><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0.xml"/></Relationships>
</file>

<file path=ppt/slides/_rels/slide8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0.xml"/></Relationships>
</file>

<file path=ppt/slides/_rels/slide8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Layout" Target="../slideLayouts/slideLayout20.xml"/></Relationships>
</file>

<file path=ppt/slides/_rels/slide8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0.xml"/></Relationships>
</file>

<file path=ppt/slides/_rels/slide8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0.xml"/></Relationships>
</file>

<file path=ppt/slides/_rels/slide8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0.xml"/></Relationships>
</file>

<file path=ppt/slides/_rels/slide8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6.wmf"/><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0.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0.xml"/></Relationships>
</file>

<file path=ppt/slides/_rels/slide1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1F4AE47-8888-4205-B078-2E5EF0A99EEC}"/>
              </a:ext>
            </a:extLst>
          </p:cNvPr>
          <p:cNvSpPr>
            <a:spLocks noGrp="1"/>
          </p:cNvSpPr>
          <p:nvPr>
            <p:ph type="title"/>
          </p:nvPr>
        </p:nvSpPr>
        <p:spPr>
          <a:xfrm>
            <a:off x="914400" y="2286000"/>
            <a:ext cx="10363200" cy="797266"/>
          </a:xfrm>
        </p:spPr>
        <p:txBody>
          <a:bodyPr>
            <a:normAutofit fontScale="90000"/>
          </a:bodyPr>
          <a:lstStyle/>
          <a:p>
            <a:r>
              <a:rPr lang="zh-CN" altLang="en-US" sz="4000" dirty="0">
                <a:latin typeface="Times New Roman" pitchFamily="18" charset="0"/>
              </a:rPr>
              <a:t>第五章    </a:t>
            </a:r>
            <a:r>
              <a:rPr lang="en-US" altLang="zh-CN" sz="4000" dirty="0">
                <a:latin typeface="Times New Roman" pitchFamily="18" charset="0"/>
              </a:rPr>
              <a:t>ARM</a:t>
            </a:r>
            <a:r>
              <a:rPr lang="zh-CN" altLang="en-US" sz="4000" dirty="0">
                <a:latin typeface="Times New Roman" pitchFamily="18" charset="0"/>
              </a:rPr>
              <a:t>接口技术</a:t>
            </a:r>
            <a:br>
              <a:rPr lang="zh-CN" altLang="en-US" dirty="0">
                <a:latin typeface="Times New Roman" pitchFamily="18" charset="0"/>
              </a:rPr>
            </a:br>
            <a:endParaRPr lang="zh-CN" altLang="en-US" dirty="0"/>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906" name="Rectangle 42"/>
          <p:cNvSpPr>
            <a:spLocks noChangeArrowheads="1"/>
          </p:cNvSpPr>
          <p:nvPr/>
        </p:nvSpPr>
        <p:spPr bwMode="auto">
          <a:xfrm>
            <a:off x="5521326" y="908051"/>
            <a:ext cx="4606925" cy="547052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64943" name="AutoShape 79"/>
          <p:cNvSpPr>
            <a:spLocks noChangeArrowheads="1"/>
          </p:cNvSpPr>
          <p:nvPr/>
        </p:nvSpPr>
        <p:spPr bwMode="auto">
          <a:xfrm>
            <a:off x="7032626" y="1773238"/>
            <a:ext cx="3040063" cy="1079500"/>
          </a:xfrm>
          <a:prstGeom prst="roundRect">
            <a:avLst>
              <a:gd name="adj" fmla="val 16667"/>
            </a:avLst>
          </a:prstGeom>
          <a:solidFill>
            <a:srgbClr val="99FF99"/>
          </a:solidFill>
          <a:ln w="19050">
            <a:solidFill>
              <a:srgbClr val="FF0000"/>
            </a:solidFill>
            <a:round/>
            <a:headEnd/>
            <a:tailEnd/>
          </a:ln>
          <a:effectLst/>
        </p:spPr>
        <p:txBody>
          <a:bodyPr wrap="none" anchor="ctr"/>
          <a:lstStyle/>
          <a:p>
            <a:endParaRPr lang="zh-CN" altLang="en-US"/>
          </a:p>
        </p:txBody>
      </p:sp>
      <p:sp>
        <p:nvSpPr>
          <p:cNvPr id="164942" name="AutoShape 78"/>
          <p:cNvSpPr>
            <a:spLocks noChangeArrowheads="1"/>
          </p:cNvSpPr>
          <p:nvPr/>
        </p:nvSpPr>
        <p:spPr bwMode="auto">
          <a:xfrm>
            <a:off x="6959600" y="981075"/>
            <a:ext cx="1728788" cy="762000"/>
          </a:xfrm>
          <a:prstGeom prst="roundRect">
            <a:avLst>
              <a:gd name="adj" fmla="val 8958"/>
            </a:avLst>
          </a:prstGeom>
          <a:solidFill>
            <a:srgbClr val="CCFFFF"/>
          </a:solidFill>
          <a:ln w="19050">
            <a:solidFill>
              <a:srgbClr val="FF0000"/>
            </a:solidFill>
            <a:round/>
            <a:headEnd/>
            <a:tailEnd/>
          </a:ln>
          <a:effectLst/>
        </p:spPr>
        <p:txBody>
          <a:bodyPr wrap="none" anchor="ctr"/>
          <a:lstStyle/>
          <a:p>
            <a:endParaRPr lang="zh-CN" altLang="en-US"/>
          </a:p>
        </p:txBody>
      </p:sp>
      <p:sp>
        <p:nvSpPr>
          <p:cNvPr id="164941" name="AutoShape 77"/>
          <p:cNvSpPr>
            <a:spLocks noChangeArrowheads="1"/>
          </p:cNvSpPr>
          <p:nvPr/>
        </p:nvSpPr>
        <p:spPr bwMode="auto">
          <a:xfrm>
            <a:off x="5591175" y="2852739"/>
            <a:ext cx="4495800" cy="3455987"/>
          </a:xfrm>
          <a:prstGeom prst="roundRect">
            <a:avLst>
              <a:gd name="adj" fmla="val 5032"/>
            </a:avLst>
          </a:prstGeom>
          <a:solidFill>
            <a:srgbClr val="FFCCCC"/>
          </a:solidFill>
          <a:ln w="19050">
            <a:solidFill>
              <a:srgbClr val="FF0000"/>
            </a:solidFill>
            <a:round/>
            <a:headEnd/>
            <a:tailEnd/>
          </a:ln>
          <a:effectLst/>
        </p:spPr>
        <p:txBody>
          <a:bodyPr wrap="none" anchor="ctr"/>
          <a:lstStyle/>
          <a:p>
            <a:endParaRPr lang="zh-CN" altLang="en-US"/>
          </a:p>
        </p:txBody>
      </p:sp>
      <p:sp>
        <p:nvSpPr>
          <p:cNvPr id="164940" name="AutoShape 76"/>
          <p:cNvSpPr>
            <a:spLocks noChangeArrowheads="1"/>
          </p:cNvSpPr>
          <p:nvPr/>
        </p:nvSpPr>
        <p:spPr bwMode="auto">
          <a:xfrm>
            <a:off x="5591176" y="981076"/>
            <a:ext cx="1368425" cy="1871663"/>
          </a:xfrm>
          <a:prstGeom prst="roundRect">
            <a:avLst>
              <a:gd name="adj" fmla="val 11625"/>
            </a:avLst>
          </a:prstGeom>
          <a:solidFill>
            <a:srgbClr val="FFFF99"/>
          </a:solidFill>
          <a:ln w="19050">
            <a:solidFill>
              <a:srgbClr val="FF0000"/>
            </a:solidFill>
            <a:round/>
            <a:headEnd/>
            <a:tailEnd/>
          </a:ln>
          <a:effectLst/>
        </p:spPr>
        <p:txBody>
          <a:bodyPr wrap="none" anchor="ctr"/>
          <a:lstStyle/>
          <a:p>
            <a:endParaRPr lang="zh-CN" altLang="en-US"/>
          </a:p>
        </p:txBody>
      </p:sp>
      <p:grpSp>
        <p:nvGrpSpPr>
          <p:cNvPr id="164921" name="Group 57"/>
          <p:cNvGrpSpPr>
            <a:grpSpLocks/>
          </p:cNvGrpSpPr>
          <p:nvPr/>
        </p:nvGrpSpPr>
        <p:grpSpPr bwMode="auto">
          <a:xfrm>
            <a:off x="5584825" y="1052513"/>
            <a:ext cx="4400550" cy="5256212"/>
            <a:chOff x="1469" y="527"/>
            <a:chExt cx="2772" cy="3311"/>
          </a:xfrm>
        </p:grpSpPr>
        <p:sp>
          <p:nvSpPr>
            <p:cNvPr id="164874" name="Rectangle 10"/>
            <p:cNvSpPr>
              <a:spLocks noChangeArrowheads="1"/>
            </p:cNvSpPr>
            <p:nvPr/>
          </p:nvSpPr>
          <p:spPr bwMode="auto">
            <a:xfrm>
              <a:off x="2381" y="527"/>
              <a:ext cx="997" cy="408"/>
            </a:xfrm>
            <a:prstGeom prst="rect">
              <a:avLst/>
            </a:prstGeom>
            <a:solidFill>
              <a:srgbClr val="FF01FF"/>
            </a:solidFill>
            <a:ln w="9525">
              <a:solidFill>
                <a:schemeClr val="tx1"/>
              </a:solidFill>
              <a:miter lim="800000"/>
              <a:headEnd/>
              <a:tailEnd/>
            </a:ln>
            <a:effectLst/>
          </p:spPr>
          <p:txBody>
            <a:bodyPr wrap="none" anchor="ctr"/>
            <a:lstStyle/>
            <a:p>
              <a:r>
                <a:rPr lang="en-US" altLang="zh-CN" sz="1600">
                  <a:solidFill>
                    <a:schemeClr val="bg1"/>
                  </a:solidFill>
                  <a:latin typeface="Arial Black" pitchFamily="34" charset="0"/>
                </a:rPr>
                <a:t>ARM7TDMI-S</a:t>
              </a:r>
            </a:p>
            <a:p>
              <a:r>
                <a:rPr lang="en-US" altLang="zh-CN" sz="1600">
                  <a:solidFill>
                    <a:schemeClr val="bg1"/>
                  </a:solidFill>
                  <a:latin typeface="Arial Black" pitchFamily="34" charset="0"/>
                </a:rPr>
                <a:t>CPU</a:t>
              </a:r>
            </a:p>
          </p:txBody>
        </p:sp>
        <p:sp>
          <p:nvSpPr>
            <p:cNvPr id="164875" name="Rectangle 11"/>
            <p:cNvSpPr>
              <a:spLocks noChangeArrowheads="1"/>
            </p:cNvSpPr>
            <p:nvPr/>
          </p:nvSpPr>
          <p:spPr bwMode="auto">
            <a:xfrm>
              <a:off x="2472" y="1298"/>
              <a:ext cx="816" cy="363"/>
            </a:xfrm>
            <a:prstGeom prst="rect">
              <a:avLst/>
            </a:prstGeom>
            <a:solidFill>
              <a:srgbClr val="D0BC00"/>
            </a:solidFill>
            <a:ln w="9525">
              <a:solidFill>
                <a:schemeClr val="tx1"/>
              </a:solidFill>
              <a:miter lim="800000"/>
              <a:headEnd/>
              <a:tailEnd/>
            </a:ln>
            <a:effectLst/>
          </p:spPr>
          <p:txBody>
            <a:bodyPr wrap="none" anchor="ctr"/>
            <a:lstStyle/>
            <a:p>
              <a:r>
                <a:rPr lang="en-US" altLang="zh-CN" sz="1600">
                  <a:solidFill>
                    <a:schemeClr val="bg1"/>
                  </a:solidFill>
                  <a:latin typeface="Arial Black" pitchFamily="34" charset="0"/>
                </a:rPr>
                <a:t>AHB To </a:t>
              </a:r>
            </a:p>
            <a:p>
              <a:r>
                <a:rPr lang="en-US" altLang="zh-CN" sz="1600">
                  <a:solidFill>
                    <a:schemeClr val="bg1"/>
                  </a:solidFill>
                  <a:latin typeface="Arial Black" pitchFamily="34" charset="0"/>
                </a:rPr>
                <a:t>VPB</a:t>
              </a:r>
              <a:r>
                <a:rPr lang="zh-CN" altLang="en-US" sz="1600" b="1">
                  <a:solidFill>
                    <a:schemeClr val="bg1"/>
                  </a:solidFill>
                  <a:latin typeface="Arial Black" pitchFamily="34" charset="0"/>
                </a:rPr>
                <a:t>桥</a:t>
              </a:r>
            </a:p>
          </p:txBody>
        </p:sp>
        <p:sp>
          <p:nvSpPr>
            <p:cNvPr id="164876" name="Line 12"/>
            <p:cNvSpPr>
              <a:spLocks noChangeShapeType="1"/>
            </p:cNvSpPr>
            <p:nvPr/>
          </p:nvSpPr>
          <p:spPr bwMode="auto">
            <a:xfrm>
              <a:off x="2880" y="1116"/>
              <a:ext cx="0" cy="181"/>
            </a:xfrm>
            <a:prstGeom prst="line">
              <a:avLst/>
            </a:prstGeom>
            <a:noFill/>
            <a:ln w="28575">
              <a:solidFill>
                <a:srgbClr val="FF9900"/>
              </a:solidFill>
              <a:round/>
              <a:headEnd type="triangle" w="med" len="med"/>
              <a:tailEnd type="triangle" w="med" len="med"/>
            </a:ln>
            <a:effectLst/>
          </p:spPr>
          <p:txBody>
            <a:bodyPr/>
            <a:lstStyle/>
            <a:p>
              <a:endParaRPr lang="zh-CN" altLang="en-US"/>
            </a:p>
          </p:txBody>
        </p:sp>
        <p:sp>
          <p:nvSpPr>
            <p:cNvPr id="164877" name="Rectangle 13"/>
            <p:cNvSpPr>
              <a:spLocks noChangeArrowheads="1"/>
            </p:cNvSpPr>
            <p:nvPr/>
          </p:nvSpPr>
          <p:spPr bwMode="auto">
            <a:xfrm>
              <a:off x="3697" y="1343"/>
              <a:ext cx="544" cy="272"/>
            </a:xfrm>
            <a:prstGeom prst="rect">
              <a:avLst/>
            </a:prstGeom>
            <a:solidFill>
              <a:srgbClr val="CCFFFF"/>
            </a:solidFill>
            <a:ln w="9525">
              <a:solidFill>
                <a:schemeClr val="tx1"/>
              </a:solidFill>
              <a:miter lim="800000"/>
              <a:headEnd/>
              <a:tailEnd/>
            </a:ln>
            <a:effectLst/>
          </p:spPr>
          <p:txBody>
            <a:bodyPr wrap="none" anchor="ctr"/>
            <a:lstStyle/>
            <a:p>
              <a:r>
                <a:rPr lang="en-US" altLang="zh-CN" sz="1600">
                  <a:latin typeface="Arial" charset="0"/>
                </a:rPr>
                <a:t>EMC</a:t>
              </a:r>
            </a:p>
          </p:txBody>
        </p:sp>
        <p:sp>
          <p:nvSpPr>
            <p:cNvPr id="164878" name="Rectangle 14"/>
            <p:cNvSpPr>
              <a:spLocks noChangeArrowheads="1"/>
            </p:cNvSpPr>
            <p:nvPr/>
          </p:nvSpPr>
          <p:spPr bwMode="auto">
            <a:xfrm>
              <a:off x="3697" y="980"/>
              <a:ext cx="544" cy="272"/>
            </a:xfrm>
            <a:prstGeom prst="rect">
              <a:avLst/>
            </a:prstGeom>
            <a:solidFill>
              <a:srgbClr val="CCFFFF"/>
            </a:solidFill>
            <a:ln w="9525" algn="ctr">
              <a:solidFill>
                <a:schemeClr val="tx1"/>
              </a:solidFill>
              <a:miter lim="800000"/>
              <a:headEnd/>
              <a:tailEnd/>
            </a:ln>
            <a:effectLst/>
          </p:spPr>
          <p:txBody>
            <a:bodyPr wrap="none" anchor="ctr"/>
            <a:lstStyle/>
            <a:p>
              <a:r>
                <a:rPr lang="en-US" altLang="zh-CN" sz="1600">
                  <a:latin typeface="Arial" charset="0"/>
                </a:rPr>
                <a:t>VIC</a:t>
              </a:r>
            </a:p>
          </p:txBody>
        </p:sp>
        <p:sp>
          <p:nvSpPr>
            <p:cNvPr id="164879" name="Line 15"/>
            <p:cNvSpPr>
              <a:spLocks noChangeShapeType="1"/>
            </p:cNvSpPr>
            <p:nvPr/>
          </p:nvSpPr>
          <p:spPr bwMode="auto">
            <a:xfrm>
              <a:off x="2880" y="1662"/>
              <a:ext cx="0" cy="2176"/>
            </a:xfrm>
            <a:prstGeom prst="line">
              <a:avLst/>
            </a:prstGeom>
            <a:noFill/>
            <a:ln w="28575">
              <a:solidFill>
                <a:srgbClr val="99CC00"/>
              </a:solidFill>
              <a:round/>
              <a:headEnd type="triangle" w="med" len="med"/>
              <a:tailEnd/>
            </a:ln>
            <a:effectLst/>
          </p:spPr>
          <p:txBody>
            <a:bodyPr/>
            <a:lstStyle/>
            <a:p>
              <a:endParaRPr lang="zh-CN" altLang="en-US"/>
            </a:p>
          </p:txBody>
        </p:sp>
        <p:sp>
          <p:nvSpPr>
            <p:cNvPr id="164880" name="Rectangle 16"/>
            <p:cNvSpPr>
              <a:spLocks noChangeArrowheads="1"/>
            </p:cNvSpPr>
            <p:nvPr/>
          </p:nvSpPr>
          <p:spPr bwMode="auto">
            <a:xfrm>
              <a:off x="3424" y="1706"/>
              <a:ext cx="816" cy="272"/>
            </a:xfrm>
            <a:prstGeom prst="rect">
              <a:avLst/>
            </a:prstGeom>
            <a:solidFill>
              <a:srgbClr val="C5E2FF"/>
            </a:solidFill>
            <a:ln w="9525" algn="ctr">
              <a:solidFill>
                <a:schemeClr val="tx1"/>
              </a:solidFill>
              <a:miter lim="800000"/>
              <a:headEnd/>
              <a:tailEnd/>
            </a:ln>
            <a:effectLst/>
          </p:spPr>
          <p:txBody>
            <a:bodyPr wrap="none" anchor="ctr"/>
            <a:lstStyle/>
            <a:p>
              <a:r>
                <a:rPr lang="en-US" altLang="zh-CN" sz="1600">
                  <a:latin typeface="Arial" charset="0"/>
                </a:rPr>
                <a:t>I</a:t>
              </a:r>
              <a:r>
                <a:rPr lang="en-US" altLang="zh-CN" sz="1200" baseline="60000">
                  <a:latin typeface="Arial" charset="0"/>
                </a:rPr>
                <a:t>2</a:t>
              </a:r>
              <a:r>
                <a:rPr lang="en-US" altLang="zh-CN" sz="1600">
                  <a:latin typeface="Arial" charset="0"/>
                </a:rPr>
                <a:t>C</a:t>
              </a:r>
              <a:r>
                <a:rPr lang="zh-CN" altLang="en-US" sz="1600">
                  <a:latin typeface="Arial" charset="0"/>
                </a:rPr>
                <a:t>串行接口</a:t>
              </a:r>
            </a:p>
          </p:txBody>
        </p:sp>
        <p:sp>
          <p:nvSpPr>
            <p:cNvPr id="164881" name="Rectangle 17"/>
            <p:cNvSpPr>
              <a:spLocks noChangeArrowheads="1"/>
            </p:cNvSpPr>
            <p:nvPr/>
          </p:nvSpPr>
          <p:spPr bwMode="auto">
            <a:xfrm>
              <a:off x="3424" y="2069"/>
              <a:ext cx="816" cy="272"/>
            </a:xfrm>
            <a:prstGeom prst="rect">
              <a:avLst/>
            </a:prstGeom>
            <a:solidFill>
              <a:srgbClr val="C5E2FF"/>
            </a:solidFill>
            <a:ln w="9525" algn="ctr">
              <a:solidFill>
                <a:schemeClr val="tx1"/>
              </a:solidFill>
              <a:miter lim="800000"/>
              <a:headEnd/>
              <a:tailEnd/>
            </a:ln>
            <a:effectLst/>
          </p:spPr>
          <p:txBody>
            <a:bodyPr wrap="none" anchor="ctr"/>
            <a:lstStyle/>
            <a:p>
              <a:r>
                <a:rPr lang="en-US" altLang="zh-CN" sz="1600">
                  <a:latin typeface="Arial" charset="0"/>
                </a:rPr>
                <a:t>SPI</a:t>
              </a:r>
              <a:r>
                <a:rPr lang="zh-CN" altLang="en-US" sz="1600">
                  <a:latin typeface="Arial" charset="0"/>
                </a:rPr>
                <a:t>串行接口</a:t>
              </a:r>
            </a:p>
          </p:txBody>
        </p:sp>
        <p:sp>
          <p:nvSpPr>
            <p:cNvPr id="164882" name="Rectangle 18"/>
            <p:cNvSpPr>
              <a:spLocks noChangeArrowheads="1"/>
            </p:cNvSpPr>
            <p:nvPr/>
          </p:nvSpPr>
          <p:spPr bwMode="auto">
            <a:xfrm>
              <a:off x="3425" y="2432"/>
              <a:ext cx="816" cy="272"/>
            </a:xfrm>
            <a:prstGeom prst="rect">
              <a:avLst/>
            </a:prstGeom>
            <a:solidFill>
              <a:srgbClr val="C5E2FF"/>
            </a:solidFill>
            <a:ln w="9525" algn="ctr">
              <a:solidFill>
                <a:schemeClr val="tx1"/>
              </a:solidFill>
              <a:miter lim="800000"/>
              <a:headEnd/>
              <a:tailEnd/>
            </a:ln>
            <a:effectLst/>
          </p:spPr>
          <p:txBody>
            <a:bodyPr wrap="none" anchor="ctr"/>
            <a:lstStyle/>
            <a:p>
              <a:r>
                <a:rPr lang="en-US" altLang="zh-CN" sz="1600">
                  <a:latin typeface="Arial" charset="0"/>
                </a:rPr>
                <a:t>UART 0&amp;1</a:t>
              </a:r>
            </a:p>
          </p:txBody>
        </p:sp>
        <p:sp>
          <p:nvSpPr>
            <p:cNvPr id="164884" name="Rectangle 20"/>
            <p:cNvSpPr>
              <a:spLocks noChangeArrowheads="1"/>
            </p:cNvSpPr>
            <p:nvPr/>
          </p:nvSpPr>
          <p:spPr bwMode="auto">
            <a:xfrm>
              <a:off x="3425" y="3158"/>
              <a:ext cx="816" cy="272"/>
            </a:xfrm>
            <a:prstGeom prst="rect">
              <a:avLst/>
            </a:prstGeom>
            <a:solidFill>
              <a:srgbClr val="C5E2FF"/>
            </a:solidFill>
            <a:ln w="9525" algn="ctr">
              <a:solidFill>
                <a:schemeClr val="tx1"/>
              </a:solidFill>
              <a:miter lim="800000"/>
              <a:headEnd/>
              <a:tailEnd/>
            </a:ln>
            <a:effectLst/>
          </p:spPr>
          <p:txBody>
            <a:bodyPr wrap="none" anchor="ctr"/>
            <a:lstStyle/>
            <a:p>
              <a:r>
                <a:rPr lang="zh-CN" altLang="en-US" sz="1600">
                  <a:latin typeface="Arial" charset="0"/>
                </a:rPr>
                <a:t>看门狗定时器</a:t>
              </a:r>
            </a:p>
          </p:txBody>
        </p:sp>
        <p:sp>
          <p:nvSpPr>
            <p:cNvPr id="164885" name="Rectangle 21"/>
            <p:cNvSpPr>
              <a:spLocks noChangeArrowheads="1"/>
            </p:cNvSpPr>
            <p:nvPr/>
          </p:nvSpPr>
          <p:spPr bwMode="auto">
            <a:xfrm>
              <a:off x="3425" y="3521"/>
              <a:ext cx="816" cy="272"/>
            </a:xfrm>
            <a:prstGeom prst="rect">
              <a:avLst/>
            </a:prstGeom>
            <a:solidFill>
              <a:srgbClr val="C5E2FF"/>
            </a:solidFill>
            <a:ln w="9525" algn="ctr">
              <a:solidFill>
                <a:schemeClr val="tx1"/>
              </a:solidFill>
              <a:miter lim="800000"/>
              <a:headEnd/>
              <a:tailEnd/>
            </a:ln>
            <a:effectLst/>
          </p:spPr>
          <p:txBody>
            <a:bodyPr wrap="none" anchor="ctr"/>
            <a:lstStyle/>
            <a:p>
              <a:r>
                <a:rPr lang="zh-CN" altLang="en-US" sz="1600">
                  <a:latin typeface="Arial" charset="0"/>
                </a:rPr>
                <a:t>系统控制</a:t>
              </a:r>
            </a:p>
          </p:txBody>
        </p:sp>
        <p:sp>
          <p:nvSpPr>
            <p:cNvPr id="164886" name="Rectangle 22"/>
            <p:cNvSpPr>
              <a:spLocks noChangeArrowheads="1"/>
            </p:cNvSpPr>
            <p:nvPr/>
          </p:nvSpPr>
          <p:spPr bwMode="auto">
            <a:xfrm>
              <a:off x="1520" y="1706"/>
              <a:ext cx="816" cy="272"/>
            </a:xfrm>
            <a:prstGeom prst="rect">
              <a:avLst/>
            </a:prstGeom>
            <a:solidFill>
              <a:srgbClr val="C5E2FF"/>
            </a:solidFill>
            <a:ln w="9525" algn="ctr">
              <a:solidFill>
                <a:schemeClr val="tx1"/>
              </a:solidFill>
              <a:miter lim="800000"/>
              <a:headEnd/>
              <a:tailEnd/>
            </a:ln>
            <a:effectLst/>
          </p:spPr>
          <p:txBody>
            <a:bodyPr wrap="none" anchor="ctr"/>
            <a:lstStyle/>
            <a:p>
              <a:r>
                <a:rPr lang="zh-CN" altLang="en-US" sz="1600">
                  <a:latin typeface="Arial" charset="0"/>
                </a:rPr>
                <a:t>外部中断</a:t>
              </a:r>
            </a:p>
          </p:txBody>
        </p:sp>
        <p:sp>
          <p:nvSpPr>
            <p:cNvPr id="164887" name="Rectangle 23"/>
            <p:cNvSpPr>
              <a:spLocks noChangeArrowheads="1"/>
            </p:cNvSpPr>
            <p:nvPr/>
          </p:nvSpPr>
          <p:spPr bwMode="auto">
            <a:xfrm>
              <a:off x="1520" y="2069"/>
              <a:ext cx="816" cy="272"/>
            </a:xfrm>
            <a:prstGeom prst="rect">
              <a:avLst/>
            </a:prstGeom>
            <a:solidFill>
              <a:srgbClr val="C5E2FF"/>
            </a:solidFill>
            <a:ln w="9525" algn="ctr">
              <a:solidFill>
                <a:schemeClr val="tx1"/>
              </a:solidFill>
              <a:miter lim="800000"/>
              <a:headEnd/>
              <a:tailEnd/>
            </a:ln>
            <a:effectLst/>
          </p:spPr>
          <p:txBody>
            <a:bodyPr wrap="none" anchor="ctr"/>
            <a:lstStyle/>
            <a:p>
              <a:r>
                <a:rPr lang="en-US" altLang="zh-CN" sz="1600">
                  <a:latin typeface="Arial" charset="0"/>
                </a:rPr>
                <a:t>TIMER0/1</a:t>
              </a:r>
            </a:p>
          </p:txBody>
        </p:sp>
        <p:sp>
          <p:nvSpPr>
            <p:cNvPr id="164888" name="Rectangle 24"/>
            <p:cNvSpPr>
              <a:spLocks noChangeArrowheads="1"/>
            </p:cNvSpPr>
            <p:nvPr/>
          </p:nvSpPr>
          <p:spPr bwMode="auto">
            <a:xfrm>
              <a:off x="1520" y="2432"/>
              <a:ext cx="816" cy="272"/>
            </a:xfrm>
            <a:prstGeom prst="rect">
              <a:avLst/>
            </a:prstGeom>
            <a:solidFill>
              <a:srgbClr val="C5E2FF"/>
            </a:solidFill>
            <a:ln w="9525" algn="ctr">
              <a:solidFill>
                <a:schemeClr val="tx1"/>
              </a:solidFill>
              <a:miter lim="800000"/>
              <a:headEnd/>
              <a:tailEnd/>
            </a:ln>
            <a:effectLst/>
          </p:spPr>
          <p:txBody>
            <a:bodyPr wrap="none" anchor="ctr"/>
            <a:lstStyle/>
            <a:p>
              <a:r>
                <a:rPr lang="en-US" altLang="zh-CN" sz="1600">
                  <a:latin typeface="Arial" charset="0"/>
                </a:rPr>
                <a:t>ADC</a:t>
              </a:r>
            </a:p>
          </p:txBody>
        </p:sp>
        <p:sp>
          <p:nvSpPr>
            <p:cNvPr id="164889" name="Rectangle 25"/>
            <p:cNvSpPr>
              <a:spLocks noChangeArrowheads="1"/>
            </p:cNvSpPr>
            <p:nvPr/>
          </p:nvSpPr>
          <p:spPr bwMode="auto">
            <a:xfrm>
              <a:off x="1520" y="2786"/>
              <a:ext cx="816" cy="272"/>
            </a:xfrm>
            <a:prstGeom prst="rect">
              <a:avLst/>
            </a:prstGeom>
            <a:solidFill>
              <a:srgbClr val="C5E2FF"/>
            </a:solidFill>
            <a:ln w="9525" algn="ctr">
              <a:solidFill>
                <a:schemeClr val="tx1"/>
              </a:solidFill>
              <a:miter lim="800000"/>
              <a:headEnd/>
              <a:tailEnd/>
            </a:ln>
            <a:effectLst/>
          </p:spPr>
          <p:txBody>
            <a:bodyPr wrap="none" anchor="ctr"/>
            <a:lstStyle/>
            <a:p>
              <a:r>
                <a:rPr lang="zh-CN" altLang="en-US" sz="1600">
                  <a:latin typeface="Arial" charset="0"/>
                </a:rPr>
                <a:t>通用</a:t>
              </a:r>
              <a:r>
                <a:rPr lang="en-US" altLang="zh-CN" sz="1600">
                  <a:latin typeface="Arial" charset="0"/>
                </a:rPr>
                <a:t>I/O</a:t>
              </a:r>
            </a:p>
          </p:txBody>
        </p:sp>
        <p:sp>
          <p:nvSpPr>
            <p:cNvPr id="164890" name="Rectangle 26"/>
            <p:cNvSpPr>
              <a:spLocks noChangeArrowheads="1"/>
            </p:cNvSpPr>
            <p:nvPr/>
          </p:nvSpPr>
          <p:spPr bwMode="auto">
            <a:xfrm>
              <a:off x="1520" y="3158"/>
              <a:ext cx="816" cy="272"/>
            </a:xfrm>
            <a:prstGeom prst="rect">
              <a:avLst/>
            </a:prstGeom>
            <a:solidFill>
              <a:srgbClr val="C5E2FF"/>
            </a:solidFill>
            <a:ln w="9525" algn="ctr">
              <a:solidFill>
                <a:schemeClr val="tx1"/>
              </a:solidFill>
              <a:miter lim="800000"/>
              <a:headEnd/>
              <a:tailEnd/>
            </a:ln>
            <a:effectLst/>
          </p:spPr>
          <p:txBody>
            <a:bodyPr wrap="none" anchor="ctr"/>
            <a:lstStyle/>
            <a:p>
              <a:r>
                <a:rPr lang="en-US" altLang="zh-CN" sz="1600">
                  <a:latin typeface="Arial" charset="0"/>
                </a:rPr>
                <a:t>PWM0</a:t>
              </a:r>
            </a:p>
          </p:txBody>
        </p:sp>
        <p:sp>
          <p:nvSpPr>
            <p:cNvPr id="164891" name="Rectangle 27"/>
            <p:cNvSpPr>
              <a:spLocks noChangeArrowheads="1"/>
            </p:cNvSpPr>
            <p:nvPr/>
          </p:nvSpPr>
          <p:spPr bwMode="auto">
            <a:xfrm>
              <a:off x="1520" y="3521"/>
              <a:ext cx="816" cy="272"/>
            </a:xfrm>
            <a:prstGeom prst="rect">
              <a:avLst/>
            </a:prstGeom>
            <a:solidFill>
              <a:srgbClr val="C5E2FF"/>
            </a:solidFill>
            <a:ln w="9525" algn="ctr">
              <a:solidFill>
                <a:schemeClr val="tx1"/>
              </a:solidFill>
              <a:miter lim="800000"/>
              <a:headEnd/>
              <a:tailEnd/>
            </a:ln>
            <a:effectLst/>
          </p:spPr>
          <p:txBody>
            <a:bodyPr wrap="none" anchor="ctr"/>
            <a:lstStyle/>
            <a:p>
              <a:r>
                <a:rPr lang="zh-CN" altLang="en-US" sz="1600">
                  <a:latin typeface="Arial" charset="0"/>
                </a:rPr>
                <a:t>实时时钟</a:t>
              </a:r>
            </a:p>
          </p:txBody>
        </p:sp>
        <p:sp>
          <p:nvSpPr>
            <p:cNvPr id="164892" name="Line 28"/>
            <p:cNvSpPr>
              <a:spLocks noChangeShapeType="1"/>
            </p:cNvSpPr>
            <p:nvPr/>
          </p:nvSpPr>
          <p:spPr bwMode="auto">
            <a:xfrm>
              <a:off x="2336" y="1842"/>
              <a:ext cx="544" cy="0"/>
            </a:xfrm>
            <a:prstGeom prst="line">
              <a:avLst/>
            </a:prstGeom>
            <a:noFill/>
            <a:ln w="28575">
              <a:solidFill>
                <a:srgbClr val="99CC00"/>
              </a:solidFill>
              <a:round/>
              <a:headEnd type="triangle" w="med" len="med"/>
              <a:tailEnd type="triangle" w="med" len="med"/>
            </a:ln>
            <a:effectLst/>
          </p:spPr>
          <p:txBody>
            <a:bodyPr/>
            <a:lstStyle/>
            <a:p>
              <a:endParaRPr lang="zh-CN" altLang="en-US"/>
            </a:p>
          </p:txBody>
        </p:sp>
        <p:sp>
          <p:nvSpPr>
            <p:cNvPr id="164893" name="Line 29"/>
            <p:cNvSpPr>
              <a:spLocks noChangeShapeType="1"/>
            </p:cNvSpPr>
            <p:nvPr/>
          </p:nvSpPr>
          <p:spPr bwMode="auto">
            <a:xfrm>
              <a:off x="2336" y="2210"/>
              <a:ext cx="544" cy="0"/>
            </a:xfrm>
            <a:prstGeom prst="line">
              <a:avLst/>
            </a:prstGeom>
            <a:noFill/>
            <a:ln w="28575">
              <a:solidFill>
                <a:srgbClr val="99CC00"/>
              </a:solidFill>
              <a:round/>
              <a:headEnd type="triangle" w="med" len="med"/>
              <a:tailEnd type="triangle" w="med" len="med"/>
            </a:ln>
            <a:effectLst/>
          </p:spPr>
          <p:txBody>
            <a:bodyPr/>
            <a:lstStyle/>
            <a:p>
              <a:endParaRPr lang="zh-CN" altLang="en-US"/>
            </a:p>
          </p:txBody>
        </p:sp>
        <p:sp>
          <p:nvSpPr>
            <p:cNvPr id="164894" name="Line 30"/>
            <p:cNvSpPr>
              <a:spLocks noChangeShapeType="1"/>
            </p:cNvSpPr>
            <p:nvPr/>
          </p:nvSpPr>
          <p:spPr bwMode="auto">
            <a:xfrm>
              <a:off x="2336" y="2568"/>
              <a:ext cx="544" cy="0"/>
            </a:xfrm>
            <a:prstGeom prst="line">
              <a:avLst/>
            </a:prstGeom>
            <a:noFill/>
            <a:ln w="28575">
              <a:solidFill>
                <a:srgbClr val="99CC00"/>
              </a:solidFill>
              <a:round/>
              <a:headEnd type="triangle" w="med" len="med"/>
              <a:tailEnd type="triangle" w="med" len="med"/>
            </a:ln>
            <a:effectLst/>
          </p:spPr>
          <p:txBody>
            <a:bodyPr/>
            <a:lstStyle/>
            <a:p>
              <a:endParaRPr lang="zh-CN" altLang="en-US"/>
            </a:p>
          </p:txBody>
        </p:sp>
        <p:sp>
          <p:nvSpPr>
            <p:cNvPr id="164895" name="Line 31"/>
            <p:cNvSpPr>
              <a:spLocks noChangeShapeType="1"/>
            </p:cNvSpPr>
            <p:nvPr/>
          </p:nvSpPr>
          <p:spPr bwMode="auto">
            <a:xfrm>
              <a:off x="2336" y="2930"/>
              <a:ext cx="544" cy="0"/>
            </a:xfrm>
            <a:prstGeom prst="line">
              <a:avLst/>
            </a:prstGeom>
            <a:noFill/>
            <a:ln w="28575">
              <a:solidFill>
                <a:srgbClr val="99CC00"/>
              </a:solidFill>
              <a:round/>
              <a:headEnd type="triangle" w="med" len="med"/>
              <a:tailEnd type="triangle" w="med" len="med"/>
            </a:ln>
            <a:effectLst/>
          </p:spPr>
          <p:txBody>
            <a:bodyPr/>
            <a:lstStyle/>
            <a:p>
              <a:endParaRPr lang="zh-CN" altLang="en-US"/>
            </a:p>
          </p:txBody>
        </p:sp>
        <p:sp>
          <p:nvSpPr>
            <p:cNvPr id="164896" name="Line 32"/>
            <p:cNvSpPr>
              <a:spLocks noChangeShapeType="1"/>
            </p:cNvSpPr>
            <p:nvPr/>
          </p:nvSpPr>
          <p:spPr bwMode="auto">
            <a:xfrm>
              <a:off x="2336" y="3294"/>
              <a:ext cx="544" cy="0"/>
            </a:xfrm>
            <a:prstGeom prst="line">
              <a:avLst/>
            </a:prstGeom>
            <a:noFill/>
            <a:ln w="28575">
              <a:solidFill>
                <a:srgbClr val="99CC00"/>
              </a:solidFill>
              <a:round/>
              <a:headEnd type="triangle" w="med" len="med"/>
              <a:tailEnd type="triangle" w="med" len="med"/>
            </a:ln>
            <a:effectLst/>
          </p:spPr>
          <p:txBody>
            <a:bodyPr/>
            <a:lstStyle/>
            <a:p>
              <a:endParaRPr lang="zh-CN" altLang="en-US"/>
            </a:p>
          </p:txBody>
        </p:sp>
        <p:sp>
          <p:nvSpPr>
            <p:cNvPr id="164897" name="Line 33"/>
            <p:cNvSpPr>
              <a:spLocks noChangeShapeType="1"/>
            </p:cNvSpPr>
            <p:nvPr/>
          </p:nvSpPr>
          <p:spPr bwMode="auto">
            <a:xfrm>
              <a:off x="2336" y="3657"/>
              <a:ext cx="544" cy="0"/>
            </a:xfrm>
            <a:prstGeom prst="line">
              <a:avLst/>
            </a:prstGeom>
            <a:noFill/>
            <a:ln w="28575">
              <a:solidFill>
                <a:srgbClr val="99CC00"/>
              </a:solidFill>
              <a:round/>
              <a:headEnd type="triangle" w="med" len="med"/>
              <a:tailEnd type="triangle" w="med" len="med"/>
            </a:ln>
            <a:effectLst/>
          </p:spPr>
          <p:txBody>
            <a:bodyPr/>
            <a:lstStyle/>
            <a:p>
              <a:endParaRPr lang="zh-CN" altLang="en-US"/>
            </a:p>
          </p:txBody>
        </p:sp>
        <p:sp>
          <p:nvSpPr>
            <p:cNvPr id="164898" name="Line 34"/>
            <p:cNvSpPr>
              <a:spLocks noChangeShapeType="1"/>
            </p:cNvSpPr>
            <p:nvPr/>
          </p:nvSpPr>
          <p:spPr bwMode="auto">
            <a:xfrm>
              <a:off x="2880" y="1842"/>
              <a:ext cx="544" cy="0"/>
            </a:xfrm>
            <a:prstGeom prst="line">
              <a:avLst/>
            </a:prstGeom>
            <a:noFill/>
            <a:ln w="28575">
              <a:solidFill>
                <a:srgbClr val="99CC00"/>
              </a:solidFill>
              <a:round/>
              <a:headEnd type="triangle" w="med" len="med"/>
              <a:tailEnd type="triangle" w="med" len="med"/>
            </a:ln>
            <a:effectLst/>
          </p:spPr>
          <p:txBody>
            <a:bodyPr/>
            <a:lstStyle/>
            <a:p>
              <a:endParaRPr lang="zh-CN" altLang="en-US"/>
            </a:p>
          </p:txBody>
        </p:sp>
        <p:sp>
          <p:nvSpPr>
            <p:cNvPr id="164899" name="Line 35"/>
            <p:cNvSpPr>
              <a:spLocks noChangeShapeType="1"/>
            </p:cNvSpPr>
            <p:nvPr/>
          </p:nvSpPr>
          <p:spPr bwMode="auto">
            <a:xfrm>
              <a:off x="2880" y="2210"/>
              <a:ext cx="544" cy="0"/>
            </a:xfrm>
            <a:prstGeom prst="line">
              <a:avLst/>
            </a:prstGeom>
            <a:noFill/>
            <a:ln w="28575">
              <a:solidFill>
                <a:srgbClr val="99CC00"/>
              </a:solidFill>
              <a:round/>
              <a:headEnd type="triangle" w="med" len="med"/>
              <a:tailEnd type="triangle" w="med" len="med"/>
            </a:ln>
            <a:effectLst/>
          </p:spPr>
          <p:txBody>
            <a:bodyPr/>
            <a:lstStyle/>
            <a:p>
              <a:endParaRPr lang="zh-CN" altLang="en-US"/>
            </a:p>
          </p:txBody>
        </p:sp>
        <p:sp>
          <p:nvSpPr>
            <p:cNvPr id="164900" name="Line 36"/>
            <p:cNvSpPr>
              <a:spLocks noChangeShapeType="1"/>
            </p:cNvSpPr>
            <p:nvPr/>
          </p:nvSpPr>
          <p:spPr bwMode="auto">
            <a:xfrm>
              <a:off x="2880" y="2568"/>
              <a:ext cx="544" cy="0"/>
            </a:xfrm>
            <a:prstGeom prst="line">
              <a:avLst/>
            </a:prstGeom>
            <a:noFill/>
            <a:ln w="28575">
              <a:solidFill>
                <a:srgbClr val="99CC00"/>
              </a:solidFill>
              <a:round/>
              <a:headEnd type="triangle" w="med" len="med"/>
              <a:tailEnd type="triangle" w="med" len="med"/>
            </a:ln>
            <a:effectLst/>
          </p:spPr>
          <p:txBody>
            <a:bodyPr/>
            <a:lstStyle/>
            <a:p>
              <a:endParaRPr lang="zh-CN" altLang="en-US"/>
            </a:p>
          </p:txBody>
        </p:sp>
        <p:sp>
          <p:nvSpPr>
            <p:cNvPr id="164902" name="Line 38"/>
            <p:cNvSpPr>
              <a:spLocks noChangeShapeType="1"/>
            </p:cNvSpPr>
            <p:nvPr/>
          </p:nvSpPr>
          <p:spPr bwMode="auto">
            <a:xfrm>
              <a:off x="2880" y="3294"/>
              <a:ext cx="544" cy="0"/>
            </a:xfrm>
            <a:prstGeom prst="line">
              <a:avLst/>
            </a:prstGeom>
            <a:noFill/>
            <a:ln w="28575">
              <a:solidFill>
                <a:srgbClr val="99CC00"/>
              </a:solidFill>
              <a:round/>
              <a:headEnd type="triangle" w="med" len="med"/>
              <a:tailEnd type="triangle" w="med" len="med"/>
            </a:ln>
            <a:effectLst/>
          </p:spPr>
          <p:txBody>
            <a:bodyPr/>
            <a:lstStyle/>
            <a:p>
              <a:endParaRPr lang="zh-CN" altLang="en-US"/>
            </a:p>
          </p:txBody>
        </p:sp>
        <p:sp>
          <p:nvSpPr>
            <p:cNvPr id="164903" name="Line 39"/>
            <p:cNvSpPr>
              <a:spLocks noChangeShapeType="1"/>
            </p:cNvSpPr>
            <p:nvPr/>
          </p:nvSpPr>
          <p:spPr bwMode="auto">
            <a:xfrm>
              <a:off x="2880" y="3657"/>
              <a:ext cx="544" cy="0"/>
            </a:xfrm>
            <a:prstGeom prst="line">
              <a:avLst/>
            </a:prstGeom>
            <a:noFill/>
            <a:ln w="28575">
              <a:solidFill>
                <a:srgbClr val="99CC00"/>
              </a:solidFill>
              <a:round/>
              <a:headEnd type="triangle" w="med" len="med"/>
              <a:tailEnd type="triangle" w="med" len="med"/>
            </a:ln>
            <a:effectLst/>
          </p:spPr>
          <p:txBody>
            <a:bodyPr/>
            <a:lstStyle/>
            <a:p>
              <a:endParaRPr lang="zh-CN" altLang="en-US"/>
            </a:p>
          </p:txBody>
        </p:sp>
        <p:sp>
          <p:nvSpPr>
            <p:cNvPr id="164904" name="Rectangle 40"/>
            <p:cNvSpPr>
              <a:spLocks noChangeArrowheads="1"/>
            </p:cNvSpPr>
            <p:nvPr/>
          </p:nvSpPr>
          <p:spPr bwMode="auto">
            <a:xfrm>
              <a:off x="1520" y="980"/>
              <a:ext cx="544" cy="272"/>
            </a:xfrm>
            <a:prstGeom prst="rect">
              <a:avLst/>
            </a:prstGeom>
            <a:solidFill>
              <a:srgbClr val="FFFFC8"/>
            </a:solidFill>
            <a:ln w="9525">
              <a:solidFill>
                <a:schemeClr val="tx1"/>
              </a:solidFill>
              <a:miter lim="800000"/>
              <a:headEnd/>
              <a:tailEnd/>
            </a:ln>
            <a:effectLst/>
          </p:spPr>
          <p:txBody>
            <a:bodyPr wrap="none" anchor="ctr"/>
            <a:lstStyle/>
            <a:p>
              <a:r>
                <a:rPr lang="en-US" altLang="zh-CN" sz="1600">
                  <a:latin typeface="Arial" charset="0"/>
                </a:rPr>
                <a:t>SRAM</a:t>
              </a:r>
            </a:p>
          </p:txBody>
        </p:sp>
        <p:sp>
          <p:nvSpPr>
            <p:cNvPr id="164905" name="Rectangle 41"/>
            <p:cNvSpPr>
              <a:spLocks noChangeArrowheads="1"/>
            </p:cNvSpPr>
            <p:nvPr/>
          </p:nvSpPr>
          <p:spPr bwMode="auto">
            <a:xfrm>
              <a:off x="1520" y="1343"/>
              <a:ext cx="544" cy="272"/>
            </a:xfrm>
            <a:prstGeom prst="rect">
              <a:avLst/>
            </a:prstGeom>
            <a:solidFill>
              <a:srgbClr val="FFE4B3"/>
            </a:solidFill>
            <a:ln w="9525">
              <a:solidFill>
                <a:schemeClr val="tx1"/>
              </a:solidFill>
              <a:miter lim="800000"/>
              <a:headEnd/>
              <a:tailEnd/>
            </a:ln>
            <a:effectLst/>
          </p:spPr>
          <p:txBody>
            <a:bodyPr wrap="none" anchor="ctr"/>
            <a:lstStyle/>
            <a:p>
              <a:r>
                <a:rPr lang="en-US" altLang="zh-CN" sz="1600">
                  <a:latin typeface="Arial" charset="0"/>
                </a:rPr>
                <a:t>Flash</a:t>
              </a:r>
            </a:p>
          </p:txBody>
        </p:sp>
        <p:sp>
          <p:nvSpPr>
            <p:cNvPr id="164907" name="Text Box 43"/>
            <p:cNvSpPr txBox="1">
              <a:spLocks noChangeArrowheads="1"/>
            </p:cNvSpPr>
            <p:nvPr/>
          </p:nvSpPr>
          <p:spPr bwMode="auto">
            <a:xfrm>
              <a:off x="2880" y="943"/>
              <a:ext cx="581" cy="173"/>
            </a:xfrm>
            <a:prstGeom prst="rect">
              <a:avLst/>
            </a:prstGeom>
            <a:noFill/>
            <a:ln w="9525">
              <a:noFill/>
              <a:miter lim="800000"/>
              <a:headEnd/>
              <a:tailEnd/>
            </a:ln>
            <a:effectLst/>
          </p:spPr>
          <p:txBody>
            <a:bodyPr>
              <a:spAutoFit/>
            </a:bodyPr>
            <a:lstStyle/>
            <a:p>
              <a:pPr algn="l">
                <a:spcBef>
                  <a:spcPct val="50000"/>
                </a:spcBef>
              </a:pPr>
              <a:r>
                <a:rPr lang="en-US" altLang="zh-CN" sz="1200">
                  <a:latin typeface="Times New Roman" pitchFamily="18" charset="0"/>
                </a:rPr>
                <a:t>AHB</a:t>
              </a:r>
              <a:r>
                <a:rPr lang="zh-CN" altLang="en-US" sz="1200">
                  <a:latin typeface="Times New Roman" pitchFamily="18" charset="0"/>
                </a:rPr>
                <a:t>总线</a:t>
              </a:r>
            </a:p>
          </p:txBody>
        </p:sp>
        <p:sp>
          <p:nvSpPr>
            <p:cNvPr id="164908" name="Line 44"/>
            <p:cNvSpPr>
              <a:spLocks noChangeShapeType="1"/>
            </p:cNvSpPr>
            <p:nvPr/>
          </p:nvSpPr>
          <p:spPr bwMode="auto">
            <a:xfrm>
              <a:off x="2245" y="754"/>
              <a:ext cx="136" cy="0"/>
            </a:xfrm>
            <a:prstGeom prst="line">
              <a:avLst/>
            </a:prstGeom>
            <a:noFill/>
            <a:ln w="28575">
              <a:solidFill>
                <a:srgbClr val="FF0000"/>
              </a:solidFill>
              <a:round/>
              <a:headEnd/>
              <a:tailEnd/>
            </a:ln>
            <a:effectLst/>
          </p:spPr>
          <p:txBody>
            <a:bodyPr/>
            <a:lstStyle/>
            <a:p>
              <a:endParaRPr lang="zh-CN" altLang="en-US"/>
            </a:p>
          </p:txBody>
        </p:sp>
        <p:sp>
          <p:nvSpPr>
            <p:cNvPr id="164909" name="Text Box 45"/>
            <p:cNvSpPr txBox="1">
              <a:spLocks noChangeArrowheads="1"/>
            </p:cNvSpPr>
            <p:nvPr/>
          </p:nvSpPr>
          <p:spPr bwMode="auto">
            <a:xfrm>
              <a:off x="1469" y="762"/>
              <a:ext cx="912" cy="173"/>
            </a:xfrm>
            <a:prstGeom prst="rect">
              <a:avLst/>
            </a:prstGeom>
            <a:noFill/>
            <a:ln w="9525">
              <a:noFill/>
              <a:miter lim="800000"/>
              <a:headEnd/>
              <a:tailEnd/>
            </a:ln>
            <a:effectLst/>
          </p:spPr>
          <p:txBody>
            <a:bodyPr>
              <a:spAutoFit/>
            </a:bodyPr>
            <a:lstStyle/>
            <a:p>
              <a:pPr algn="l">
                <a:spcBef>
                  <a:spcPct val="50000"/>
                </a:spcBef>
              </a:pPr>
              <a:r>
                <a:rPr lang="en-US" altLang="zh-CN" sz="1200">
                  <a:latin typeface="Times New Roman" pitchFamily="18" charset="0"/>
                </a:rPr>
                <a:t>ARM7 </a:t>
              </a:r>
              <a:r>
                <a:rPr lang="zh-CN" altLang="en-US" sz="1200">
                  <a:latin typeface="Times New Roman" pitchFamily="18" charset="0"/>
                </a:rPr>
                <a:t>局部总线</a:t>
              </a:r>
            </a:p>
          </p:txBody>
        </p:sp>
        <p:sp>
          <p:nvSpPr>
            <p:cNvPr id="164910" name="Rectangle 46"/>
            <p:cNvSpPr>
              <a:spLocks noChangeArrowheads="1"/>
            </p:cNvSpPr>
            <p:nvPr/>
          </p:nvSpPr>
          <p:spPr bwMode="auto">
            <a:xfrm>
              <a:off x="3516" y="527"/>
              <a:ext cx="725" cy="272"/>
            </a:xfrm>
            <a:prstGeom prst="rect">
              <a:avLst/>
            </a:prstGeom>
            <a:solidFill>
              <a:srgbClr val="C5E2FF"/>
            </a:solidFill>
            <a:ln w="9525" algn="ctr">
              <a:solidFill>
                <a:schemeClr val="tx1"/>
              </a:solidFill>
              <a:miter lim="800000"/>
              <a:headEnd/>
              <a:tailEnd/>
            </a:ln>
            <a:effectLst/>
          </p:spPr>
          <p:txBody>
            <a:bodyPr wrap="none" anchor="ctr"/>
            <a:lstStyle/>
            <a:p>
              <a:r>
                <a:rPr lang="zh-CN" altLang="en-US" sz="1600">
                  <a:latin typeface="Arial" charset="0"/>
                </a:rPr>
                <a:t>系统功能</a:t>
              </a:r>
            </a:p>
          </p:txBody>
        </p:sp>
        <p:sp>
          <p:nvSpPr>
            <p:cNvPr id="164911" name="Line 47"/>
            <p:cNvSpPr>
              <a:spLocks noChangeShapeType="1"/>
            </p:cNvSpPr>
            <p:nvPr/>
          </p:nvSpPr>
          <p:spPr bwMode="auto">
            <a:xfrm>
              <a:off x="3424" y="1116"/>
              <a:ext cx="272" cy="0"/>
            </a:xfrm>
            <a:prstGeom prst="line">
              <a:avLst/>
            </a:prstGeom>
            <a:noFill/>
            <a:ln w="28575">
              <a:solidFill>
                <a:srgbClr val="FF9900"/>
              </a:solidFill>
              <a:round/>
              <a:headEnd type="triangle" w="med" len="med"/>
              <a:tailEnd type="triangle" w="med" len="med"/>
            </a:ln>
            <a:effectLst/>
          </p:spPr>
          <p:txBody>
            <a:bodyPr/>
            <a:lstStyle/>
            <a:p>
              <a:endParaRPr lang="zh-CN" altLang="en-US"/>
            </a:p>
          </p:txBody>
        </p:sp>
        <p:sp>
          <p:nvSpPr>
            <p:cNvPr id="164912" name="Line 48"/>
            <p:cNvSpPr>
              <a:spLocks noChangeShapeType="1"/>
            </p:cNvSpPr>
            <p:nvPr/>
          </p:nvSpPr>
          <p:spPr bwMode="auto">
            <a:xfrm>
              <a:off x="3424" y="1479"/>
              <a:ext cx="272" cy="0"/>
            </a:xfrm>
            <a:prstGeom prst="line">
              <a:avLst/>
            </a:prstGeom>
            <a:noFill/>
            <a:ln w="28575">
              <a:solidFill>
                <a:srgbClr val="FF9900"/>
              </a:solidFill>
              <a:round/>
              <a:headEnd type="triangle" w="med" len="med"/>
              <a:tailEnd type="triangle" w="med" len="med"/>
            </a:ln>
            <a:effectLst/>
          </p:spPr>
          <p:txBody>
            <a:bodyPr/>
            <a:lstStyle/>
            <a:p>
              <a:endParaRPr lang="zh-CN" altLang="en-US"/>
            </a:p>
          </p:txBody>
        </p:sp>
        <p:sp>
          <p:nvSpPr>
            <p:cNvPr id="164913" name="Line 49"/>
            <p:cNvSpPr>
              <a:spLocks noChangeShapeType="1"/>
            </p:cNvSpPr>
            <p:nvPr/>
          </p:nvSpPr>
          <p:spPr bwMode="auto">
            <a:xfrm flipV="1">
              <a:off x="3424" y="1116"/>
              <a:ext cx="0" cy="499"/>
            </a:xfrm>
            <a:prstGeom prst="line">
              <a:avLst/>
            </a:prstGeom>
            <a:noFill/>
            <a:ln w="28575">
              <a:solidFill>
                <a:srgbClr val="FF9900"/>
              </a:solidFill>
              <a:round/>
              <a:headEnd/>
              <a:tailEnd/>
            </a:ln>
            <a:effectLst/>
          </p:spPr>
          <p:txBody>
            <a:bodyPr/>
            <a:lstStyle/>
            <a:p>
              <a:endParaRPr lang="zh-CN" altLang="en-US"/>
            </a:p>
          </p:txBody>
        </p:sp>
        <p:sp>
          <p:nvSpPr>
            <p:cNvPr id="164914" name="Line 50"/>
            <p:cNvSpPr>
              <a:spLocks noChangeShapeType="1"/>
            </p:cNvSpPr>
            <p:nvPr/>
          </p:nvSpPr>
          <p:spPr bwMode="auto">
            <a:xfrm flipH="1">
              <a:off x="2699" y="1116"/>
              <a:ext cx="725" cy="0"/>
            </a:xfrm>
            <a:prstGeom prst="line">
              <a:avLst/>
            </a:prstGeom>
            <a:noFill/>
            <a:ln w="28575">
              <a:solidFill>
                <a:srgbClr val="FF9900"/>
              </a:solidFill>
              <a:round/>
              <a:headEnd/>
              <a:tailEnd/>
            </a:ln>
            <a:effectLst/>
          </p:spPr>
          <p:txBody>
            <a:bodyPr/>
            <a:lstStyle/>
            <a:p>
              <a:endParaRPr lang="zh-CN" altLang="en-US"/>
            </a:p>
          </p:txBody>
        </p:sp>
        <p:sp>
          <p:nvSpPr>
            <p:cNvPr id="164915" name="Line 51"/>
            <p:cNvSpPr>
              <a:spLocks noChangeShapeType="1"/>
            </p:cNvSpPr>
            <p:nvPr/>
          </p:nvSpPr>
          <p:spPr bwMode="auto">
            <a:xfrm>
              <a:off x="2880" y="935"/>
              <a:ext cx="0" cy="181"/>
            </a:xfrm>
            <a:prstGeom prst="line">
              <a:avLst/>
            </a:prstGeom>
            <a:noFill/>
            <a:ln w="28575">
              <a:solidFill>
                <a:srgbClr val="FF9900"/>
              </a:solidFill>
              <a:round/>
              <a:headEnd type="triangle" w="med" len="med"/>
              <a:tailEnd type="triangle" w="med" len="med"/>
            </a:ln>
            <a:effectLst/>
          </p:spPr>
          <p:txBody>
            <a:bodyPr/>
            <a:lstStyle/>
            <a:p>
              <a:endParaRPr lang="zh-CN" altLang="en-US"/>
            </a:p>
          </p:txBody>
        </p:sp>
        <p:sp>
          <p:nvSpPr>
            <p:cNvPr id="164916" name="Line 52"/>
            <p:cNvSpPr>
              <a:spLocks noChangeShapeType="1"/>
            </p:cNvSpPr>
            <p:nvPr/>
          </p:nvSpPr>
          <p:spPr bwMode="auto">
            <a:xfrm>
              <a:off x="2064" y="1116"/>
              <a:ext cx="181" cy="0"/>
            </a:xfrm>
            <a:prstGeom prst="line">
              <a:avLst/>
            </a:prstGeom>
            <a:noFill/>
            <a:ln w="28575">
              <a:solidFill>
                <a:srgbClr val="FF0000"/>
              </a:solidFill>
              <a:round/>
              <a:headEnd type="triangle" w="med" len="med"/>
              <a:tailEnd type="triangle" w="med" len="med"/>
            </a:ln>
            <a:effectLst/>
          </p:spPr>
          <p:txBody>
            <a:bodyPr/>
            <a:lstStyle/>
            <a:p>
              <a:endParaRPr lang="zh-CN" altLang="en-US"/>
            </a:p>
          </p:txBody>
        </p:sp>
        <p:sp>
          <p:nvSpPr>
            <p:cNvPr id="164917" name="Line 53"/>
            <p:cNvSpPr>
              <a:spLocks noChangeShapeType="1"/>
            </p:cNvSpPr>
            <p:nvPr/>
          </p:nvSpPr>
          <p:spPr bwMode="auto">
            <a:xfrm>
              <a:off x="2064" y="1479"/>
              <a:ext cx="181" cy="0"/>
            </a:xfrm>
            <a:prstGeom prst="line">
              <a:avLst/>
            </a:prstGeom>
            <a:noFill/>
            <a:ln w="28575">
              <a:solidFill>
                <a:srgbClr val="FF0000"/>
              </a:solidFill>
              <a:round/>
              <a:headEnd type="triangle" w="med" len="med"/>
              <a:tailEnd type="triangle" w="med" len="med"/>
            </a:ln>
            <a:effectLst/>
          </p:spPr>
          <p:txBody>
            <a:bodyPr/>
            <a:lstStyle/>
            <a:p>
              <a:endParaRPr lang="zh-CN" altLang="en-US"/>
            </a:p>
          </p:txBody>
        </p:sp>
        <p:sp>
          <p:nvSpPr>
            <p:cNvPr id="164918" name="Line 54"/>
            <p:cNvSpPr>
              <a:spLocks noChangeShapeType="1"/>
            </p:cNvSpPr>
            <p:nvPr/>
          </p:nvSpPr>
          <p:spPr bwMode="auto">
            <a:xfrm flipV="1">
              <a:off x="2247" y="754"/>
              <a:ext cx="0" cy="861"/>
            </a:xfrm>
            <a:prstGeom prst="line">
              <a:avLst/>
            </a:prstGeom>
            <a:noFill/>
            <a:ln w="28575">
              <a:solidFill>
                <a:srgbClr val="FF0000"/>
              </a:solidFill>
              <a:round/>
              <a:headEnd/>
              <a:tailEnd/>
            </a:ln>
            <a:effectLst/>
          </p:spPr>
          <p:txBody>
            <a:bodyPr/>
            <a:lstStyle/>
            <a:p>
              <a:endParaRPr lang="zh-CN" altLang="en-US"/>
            </a:p>
          </p:txBody>
        </p:sp>
        <p:sp>
          <p:nvSpPr>
            <p:cNvPr id="164920" name="Text Box 56"/>
            <p:cNvSpPr txBox="1">
              <a:spLocks noChangeArrowheads="1"/>
            </p:cNvSpPr>
            <p:nvPr/>
          </p:nvSpPr>
          <p:spPr bwMode="auto">
            <a:xfrm>
              <a:off x="2880" y="1669"/>
              <a:ext cx="581" cy="173"/>
            </a:xfrm>
            <a:prstGeom prst="rect">
              <a:avLst/>
            </a:prstGeom>
            <a:noFill/>
            <a:ln w="9525">
              <a:noFill/>
              <a:miter lim="800000"/>
              <a:headEnd/>
              <a:tailEnd/>
            </a:ln>
            <a:effectLst/>
          </p:spPr>
          <p:txBody>
            <a:bodyPr>
              <a:spAutoFit/>
            </a:bodyPr>
            <a:lstStyle/>
            <a:p>
              <a:pPr algn="l">
                <a:spcBef>
                  <a:spcPct val="50000"/>
                </a:spcBef>
              </a:pPr>
              <a:r>
                <a:rPr lang="en-US" altLang="zh-CN" sz="1200">
                  <a:latin typeface="Times New Roman" pitchFamily="18" charset="0"/>
                </a:rPr>
                <a:t>VPB</a:t>
              </a:r>
              <a:r>
                <a:rPr lang="zh-CN" altLang="en-US" sz="1200">
                  <a:latin typeface="Times New Roman" pitchFamily="18" charset="0"/>
                </a:rPr>
                <a:t>总线</a:t>
              </a:r>
            </a:p>
          </p:txBody>
        </p:sp>
      </p:grpSp>
      <p:sp>
        <p:nvSpPr>
          <p:cNvPr id="164923" name="Rectangle 59"/>
          <p:cNvSpPr>
            <a:spLocks noChangeArrowheads="1"/>
          </p:cNvSpPr>
          <p:nvPr/>
        </p:nvSpPr>
        <p:spPr bwMode="auto">
          <a:xfrm>
            <a:off x="2135188" y="1085851"/>
            <a:ext cx="7772400" cy="431798"/>
          </a:xfrm>
          <a:prstGeom prst="rect">
            <a:avLst/>
          </a:prstGeom>
          <a:noFill/>
          <a:ln w="9525">
            <a:noFill/>
            <a:miter lim="800000"/>
            <a:headEnd/>
            <a:tailEnd/>
          </a:ln>
          <a:effectLst/>
        </p:spPr>
        <p:txBody>
          <a:bodyPr/>
          <a:lstStyle/>
          <a:p>
            <a:pPr marL="342900" indent="-342900">
              <a:spcBef>
                <a:spcPct val="20000"/>
              </a:spcBef>
              <a:buFontTx/>
              <a:buChar char="•"/>
            </a:pPr>
            <a:r>
              <a:rPr lang="zh-CN" altLang="en-US" dirty="0">
                <a:latin typeface="Times New Roman" pitchFamily="18" charset="0"/>
              </a:rPr>
              <a:t>芯片内部结构</a:t>
            </a:r>
          </a:p>
        </p:txBody>
      </p:sp>
      <p:sp>
        <p:nvSpPr>
          <p:cNvPr id="164927" name="Text Box 63"/>
          <p:cNvSpPr txBox="1">
            <a:spLocks noChangeArrowheads="1"/>
          </p:cNvSpPr>
          <p:nvPr/>
        </p:nvSpPr>
        <p:spPr bwMode="auto">
          <a:xfrm>
            <a:off x="1774825" y="1484314"/>
            <a:ext cx="3657600" cy="701675"/>
          </a:xfrm>
          <a:prstGeom prst="rect">
            <a:avLst/>
          </a:prstGeom>
          <a:noFill/>
          <a:ln w="9525">
            <a:noFill/>
            <a:miter lim="800000"/>
            <a:headEnd/>
            <a:tailEnd/>
          </a:ln>
          <a:effectLst/>
        </p:spPr>
        <p:txBody>
          <a:bodyPr>
            <a:spAutoFit/>
          </a:bodyPr>
          <a:lstStyle/>
          <a:p>
            <a:pPr algn="l">
              <a:spcBef>
                <a:spcPct val="50000"/>
              </a:spcBef>
            </a:pPr>
            <a:r>
              <a:rPr lang="en-US" altLang="zh-CN" sz="2000" dirty="0">
                <a:latin typeface="华文新魏" pitchFamily="2" charset="-122"/>
                <a:ea typeface="华文新魏" pitchFamily="2" charset="-122"/>
              </a:rPr>
              <a:t>      LPC2000</a:t>
            </a:r>
            <a:r>
              <a:rPr lang="zh-CN" altLang="en-US" sz="2000" dirty="0">
                <a:latin typeface="华文新魏" pitchFamily="2" charset="-122"/>
                <a:ea typeface="华文新魏" pitchFamily="2" charset="-122"/>
              </a:rPr>
              <a:t>系列微控制器包含</a:t>
            </a:r>
            <a:r>
              <a:rPr lang="en-US" altLang="zh-CN" sz="2000" dirty="0">
                <a:latin typeface="华文新魏" pitchFamily="2" charset="-122"/>
                <a:ea typeface="华文新魏" pitchFamily="2" charset="-122"/>
              </a:rPr>
              <a:t>4</a:t>
            </a:r>
            <a:r>
              <a:rPr lang="zh-CN" altLang="en-US" sz="2000" dirty="0">
                <a:latin typeface="华文新魏" pitchFamily="2" charset="-122"/>
                <a:ea typeface="华文新魏" pitchFamily="2" charset="-122"/>
              </a:rPr>
              <a:t>大部分：</a:t>
            </a:r>
          </a:p>
        </p:txBody>
      </p:sp>
      <p:grpSp>
        <p:nvGrpSpPr>
          <p:cNvPr id="164929" name="Group 65"/>
          <p:cNvGrpSpPr>
            <a:grpSpLocks/>
          </p:cNvGrpSpPr>
          <p:nvPr/>
        </p:nvGrpSpPr>
        <p:grpSpPr bwMode="auto">
          <a:xfrm>
            <a:off x="2135188" y="2306639"/>
            <a:ext cx="3384550" cy="708025"/>
            <a:chOff x="430" y="2542"/>
            <a:chExt cx="2132" cy="446"/>
          </a:xfrm>
        </p:grpSpPr>
        <p:sp>
          <p:nvSpPr>
            <p:cNvPr id="164928" name="Text Box 64"/>
            <p:cNvSpPr txBox="1">
              <a:spLocks noChangeArrowheads="1"/>
            </p:cNvSpPr>
            <p:nvPr/>
          </p:nvSpPr>
          <p:spPr bwMode="auto">
            <a:xfrm>
              <a:off x="430" y="2542"/>
              <a:ext cx="2132" cy="446"/>
            </a:xfrm>
            <a:prstGeom prst="rect">
              <a:avLst/>
            </a:prstGeom>
            <a:noFill/>
            <a:ln w="9525" algn="ctr">
              <a:noFill/>
              <a:miter lim="800000"/>
              <a:headEnd/>
              <a:tailEnd/>
            </a:ln>
            <a:effectLst/>
          </p:spPr>
          <p:txBody>
            <a:bodyPr>
              <a:spAutoFit/>
            </a:bodyPr>
            <a:lstStyle/>
            <a:p>
              <a:pPr algn="l">
                <a:spcBef>
                  <a:spcPct val="50000"/>
                </a:spcBef>
              </a:pPr>
              <a:r>
                <a:rPr lang="en-US" altLang="zh-CN" dirty="0">
                  <a:latin typeface="华文新魏" pitchFamily="2" charset="-122"/>
                  <a:ea typeface="华文新魏" pitchFamily="2" charset="-122"/>
                </a:rPr>
                <a:t>    </a:t>
              </a:r>
              <a:r>
                <a:rPr lang="zh-CN" altLang="en-US" sz="2000" dirty="0">
                  <a:latin typeface="华文新魏" pitchFamily="2" charset="-122"/>
                  <a:ea typeface="华文新魏" pitchFamily="2" charset="-122"/>
                </a:rPr>
                <a:t>支持仿真的</a:t>
              </a:r>
              <a:r>
                <a:rPr lang="en-US" altLang="zh-CN" sz="2000" dirty="0">
                  <a:latin typeface="华文新魏" pitchFamily="2" charset="-122"/>
                  <a:ea typeface="华文新魏" pitchFamily="2" charset="-122"/>
                </a:rPr>
                <a:t>ARM7TDMI-S CPU</a:t>
              </a:r>
            </a:p>
          </p:txBody>
        </p:sp>
        <p:sp>
          <p:nvSpPr>
            <p:cNvPr id="164926" name="Oval 62"/>
            <p:cNvSpPr>
              <a:spLocks noChangeArrowheads="1"/>
            </p:cNvSpPr>
            <p:nvPr/>
          </p:nvSpPr>
          <p:spPr bwMode="auto">
            <a:xfrm>
              <a:off x="476" y="2568"/>
              <a:ext cx="182" cy="181"/>
            </a:xfrm>
            <a:prstGeom prst="ellipse">
              <a:avLst/>
            </a:prstGeom>
            <a:solidFill>
              <a:schemeClr val="accent2"/>
            </a:solidFill>
            <a:ln w="9525" algn="ctr">
              <a:solidFill>
                <a:srgbClr val="DDFFDD"/>
              </a:solidFill>
              <a:round/>
              <a:headEnd/>
              <a:tailEnd/>
            </a:ln>
            <a:effectLst/>
          </p:spPr>
          <p:txBody>
            <a:bodyPr wrap="none" anchor="ctr"/>
            <a:lstStyle/>
            <a:p>
              <a:r>
                <a:rPr lang="en-US" altLang="zh-CN">
                  <a:solidFill>
                    <a:schemeClr val="bg1"/>
                  </a:solidFill>
                  <a:latin typeface="Arial Black" pitchFamily="34" charset="0"/>
                </a:rPr>
                <a:t>1</a:t>
              </a:r>
            </a:p>
          </p:txBody>
        </p:sp>
      </p:grpSp>
      <p:grpSp>
        <p:nvGrpSpPr>
          <p:cNvPr id="164930" name="Group 66"/>
          <p:cNvGrpSpPr>
            <a:grpSpLocks/>
          </p:cNvGrpSpPr>
          <p:nvPr/>
        </p:nvGrpSpPr>
        <p:grpSpPr bwMode="auto">
          <a:xfrm>
            <a:off x="2135188" y="3170239"/>
            <a:ext cx="3384550" cy="708025"/>
            <a:chOff x="430" y="2542"/>
            <a:chExt cx="2132" cy="446"/>
          </a:xfrm>
        </p:grpSpPr>
        <p:sp>
          <p:nvSpPr>
            <p:cNvPr id="164931" name="Text Box 67"/>
            <p:cNvSpPr txBox="1">
              <a:spLocks noChangeArrowheads="1"/>
            </p:cNvSpPr>
            <p:nvPr/>
          </p:nvSpPr>
          <p:spPr bwMode="auto">
            <a:xfrm>
              <a:off x="430" y="2542"/>
              <a:ext cx="2132" cy="446"/>
            </a:xfrm>
            <a:prstGeom prst="rect">
              <a:avLst/>
            </a:prstGeom>
            <a:noFill/>
            <a:ln w="9525" algn="ctr">
              <a:noFill/>
              <a:miter lim="800000"/>
              <a:headEnd/>
              <a:tailEnd/>
            </a:ln>
            <a:effectLst/>
          </p:spPr>
          <p:txBody>
            <a:bodyPr>
              <a:spAutoFit/>
            </a:bodyPr>
            <a:lstStyle/>
            <a:p>
              <a:pPr algn="l">
                <a:spcBef>
                  <a:spcPct val="50000"/>
                </a:spcBef>
              </a:pPr>
              <a:r>
                <a:rPr lang="en-US" altLang="zh-CN">
                  <a:latin typeface="华文新魏" pitchFamily="2" charset="-122"/>
                  <a:ea typeface="华文新魏" pitchFamily="2" charset="-122"/>
                </a:rPr>
                <a:t>    </a:t>
              </a:r>
              <a:r>
                <a:rPr lang="zh-CN" altLang="en-US" sz="2000">
                  <a:latin typeface="华文新魏" pitchFamily="2" charset="-122"/>
                  <a:ea typeface="华文新魏" pitchFamily="2" charset="-122"/>
                </a:rPr>
                <a:t>与片内存储器控制器接口的</a:t>
              </a:r>
              <a:r>
                <a:rPr lang="en-US" altLang="zh-CN" sz="2000">
                  <a:latin typeface="华文新魏" pitchFamily="2" charset="-122"/>
                  <a:ea typeface="华文新魏" pitchFamily="2" charset="-122"/>
                </a:rPr>
                <a:t>ARM7</a:t>
              </a:r>
              <a:r>
                <a:rPr lang="zh-CN" altLang="en-US" sz="2000">
                  <a:latin typeface="华文新魏" pitchFamily="2" charset="-122"/>
                  <a:ea typeface="华文新魏" pitchFamily="2" charset="-122"/>
                </a:rPr>
                <a:t>局部总线</a:t>
              </a:r>
            </a:p>
          </p:txBody>
        </p:sp>
        <p:sp>
          <p:nvSpPr>
            <p:cNvPr id="164932" name="Oval 68"/>
            <p:cNvSpPr>
              <a:spLocks noChangeArrowheads="1"/>
            </p:cNvSpPr>
            <p:nvPr/>
          </p:nvSpPr>
          <p:spPr bwMode="auto">
            <a:xfrm>
              <a:off x="476" y="2568"/>
              <a:ext cx="182" cy="181"/>
            </a:xfrm>
            <a:prstGeom prst="ellipse">
              <a:avLst/>
            </a:prstGeom>
            <a:solidFill>
              <a:schemeClr val="accent2"/>
            </a:solidFill>
            <a:ln w="9525" algn="ctr">
              <a:solidFill>
                <a:srgbClr val="DDFFDD"/>
              </a:solidFill>
              <a:round/>
              <a:headEnd/>
              <a:tailEnd/>
            </a:ln>
            <a:effectLst/>
          </p:spPr>
          <p:txBody>
            <a:bodyPr wrap="none" anchor="ctr"/>
            <a:lstStyle/>
            <a:p>
              <a:r>
                <a:rPr lang="en-US" altLang="zh-CN">
                  <a:solidFill>
                    <a:schemeClr val="bg1"/>
                  </a:solidFill>
                  <a:latin typeface="Arial Black" pitchFamily="34" charset="0"/>
                </a:rPr>
                <a:t>2</a:t>
              </a:r>
            </a:p>
          </p:txBody>
        </p:sp>
      </p:grpSp>
      <p:grpSp>
        <p:nvGrpSpPr>
          <p:cNvPr id="164933" name="Group 69"/>
          <p:cNvGrpSpPr>
            <a:grpSpLocks/>
          </p:cNvGrpSpPr>
          <p:nvPr/>
        </p:nvGrpSpPr>
        <p:grpSpPr bwMode="auto">
          <a:xfrm>
            <a:off x="2135188" y="4033839"/>
            <a:ext cx="3384550" cy="708025"/>
            <a:chOff x="430" y="2542"/>
            <a:chExt cx="2132" cy="446"/>
          </a:xfrm>
        </p:grpSpPr>
        <p:sp>
          <p:nvSpPr>
            <p:cNvPr id="164934" name="Text Box 70"/>
            <p:cNvSpPr txBox="1">
              <a:spLocks noChangeArrowheads="1"/>
            </p:cNvSpPr>
            <p:nvPr/>
          </p:nvSpPr>
          <p:spPr bwMode="auto">
            <a:xfrm>
              <a:off x="430" y="2542"/>
              <a:ext cx="2132" cy="446"/>
            </a:xfrm>
            <a:prstGeom prst="rect">
              <a:avLst/>
            </a:prstGeom>
            <a:noFill/>
            <a:ln w="9525" algn="ctr">
              <a:noFill/>
              <a:miter lim="800000"/>
              <a:headEnd/>
              <a:tailEnd/>
            </a:ln>
            <a:effectLst/>
          </p:spPr>
          <p:txBody>
            <a:bodyPr>
              <a:spAutoFit/>
            </a:bodyPr>
            <a:lstStyle/>
            <a:p>
              <a:pPr algn="l">
                <a:spcBef>
                  <a:spcPct val="50000"/>
                </a:spcBef>
              </a:pPr>
              <a:r>
                <a:rPr lang="en-US" altLang="zh-CN" dirty="0">
                  <a:latin typeface="华文新魏" pitchFamily="2" charset="-122"/>
                  <a:ea typeface="华文新魏" pitchFamily="2" charset="-122"/>
                </a:rPr>
                <a:t>    </a:t>
              </a:r>
              <a:r>
                <a:rPr lang="zh-CN" altLang="en-US" sz="2000" dirty="0">
                  <a:latin typeface="华文新魏" pitchFamily="2" charset="-122"/>
                  <a:ea typeface="华文新魏" pitchFamily="2" charset="-122"/>
                </a:rPr>
                <a:t>与中断控制器接口的</a:t>
              </a:r>
              <a:r>
                <a:rPr lang="en-US" altLang="zh-CN" sz="2000" dirty="0">
                  <a:latin typeface="华文新魏" pitchFamily="2" charset="-122"/>
                  <a:ea typeface="华文新魏" pitchFamily="2" charset="-122"/>
                </a:rPr>
                <a:t>AMB A</a:t>
              </a:r>
              <a:r>
                <a:rPr lang="zh-CN" altLang="en-US" sz="2000" dirty="0">
                  <a:latin typeface="华文新魏" pitchFamily="2" charset="-122"/>
                  <a:ea typeface="华文新魏" pitchFamily="2" charset="-122"/>
                </a:rPr>
                <a:t>高性能总线</a:t>
              </a:r>
              <a:r>
                <a:rPr lang="en-US" altLang="zh-CN" sz="2000" dirty="0">
                  <a:latin typeface="华文新魏" pitchFamily="2" charset="-122"/>
                  <a:ea typeface="华文新魏" pitchFamily="2" charset="-122"/>
                </a:rPr>
                <a:t>(AHB)</a:t>
              </a:r>
            </a:p>
          </p:txBody>
        </p:sp>
        <p:sp>
          <p:nvSpPr>
            <p:cNvPr id="164935" name="Oval 71"/>
            <p:cNvSpPr>
              <a:spLocks noChangeArrowheads="1"/>
            </p:cNvSpPr>
            <p:nvPr/>
          </p:nvSpPr>
          <p:spPr bwMode="auto">
            <a:xfrm>
              <a:off x="476" y="2568"/>
              <a:ext cx="182" cy="181"/>
            </a:xfrm>
            <a:prstGeom prst="ellipse">
              <a:avLst/>
            </a:prstGeom>
            <a:solidFill>
              <a:schemeClr val="accent2"/>
            </a:solidFill>
            <a:ln w="9525" algn="ctr">
              <a:solidFill>
                <a:srgbClr val="DDFFDD"/>
              </a:solidFill>
              <a:round/>
              <a:headEnd/>
              <a:tailEnd/>
            </a:ln>
            <a:effectLst/>
          </p:spPr>
          <p:txBody>
            <a:bodyPr wrap="none" anchor="ctr"/>
            <a:lstStyle/>
            <a:p>
              <a:r>
                <a:rPr lang="en-US" altLang="zh-CN">
                  <a:solidFill>
                    <a:schemeClr val="bg1"/>
                  </a:solidFill>
                  <a:latin typeface="Arial Black" pitchFamily="34" charset="0"/>
                </a:rPr>
                <a:t>3</a:t>
              </a:r>
            </a:p>
          </p:txBody>
        </p:sp>
      </p:grpSp>
      <p:grpSp>
        <p:nvGrpSpPr>
          <p:cNvPr id="164936" name="Group 72"/>
          <p:cNvGrpSpPr>
            <a:grpSpLocks/>
          </p:cNvGrpSpPr>
          <p:nvPr/>
        </p:nvGrpSpPr>
        <p:grpSpPr bwMode="auto">
          <a:xfrm>
            <a:off x="2135189" y="4899026"/>
            <a:ext cx="3384550" cy="708025"/>
            <a:chOff x="430" y="2542"/>
            <a:chExt cx="2132" cy="446"/>
          </a:xfrm>
        </p:grpSpPr>
        <p:sp>
          <p:nvSpPr>
            <p:cNvPr id="164937" name="Text Box 73"/>
            <p:cNvSpPr txBox="1">
              <a:spLocks noChangeArrowheads="1"/>
            </p:cNvSpPr>
            <p:nvPr/>
          </p:nvSpPr>
          <p:spPr bwMode="auto">
            <a:xfrm>
              <a:off x="430" y="2542"/>
              <a:ext cx="2132" cy="446"/>
            </a:xfrm>
            <a:prstGeom prst="rect">
              <a:avLst/>
            </a:prstGeom>
            <a:noFill/>
            <a:ln w="9525" algn="ctr">
              <a:noFill/>
              <a:miter lim="800000"/>
              <a:headEnd/>
              <a:tailEnd/>
            </a:ln>
            <a:effectLst/>
          </p:spPr>
          <p:txBody>
            <a:bodyPr>
              <a:spAutoFit/>
            </a:bodyPr>
            <a:lstStyle/>
            <a:p>
              <a:pPr algn="l">
                <a:spcBef>
                  <a:spcPct val="50000"/>
                </a:spcBef>
              </a:pPr>
              <a:r>
                <a:rPr lang="en-US" altLang="zh-CN" dirty="0">
                  <a:latin typeface="华文新魏" pitchFamily="2" charset="-122"/>
                  <a:ea typeface="华文新魏" pitchFamily="2" charset="-122"/>
                </a:rPr>
                <a:t>    </a:t>
              </a:r>
              <a:r>
                <a:rPr lang="zh-CN" altLang="en-US" sz="2000" dirty="0">
                  <a:latin typeface="华文新魏" pitchFamily="2" charset="-122"/>
                  <a:ea typeface="华文新魏" pitchFamily="2" charset="-122"/>
                </a:rPr>
                <a:t>连接片内外设功能的</a:t>
              </a:r>
              <a:r>
                <a:rPr lang="en-US" altLang="zh-CN" sz="2000" dirty="0">
                  <a:latin typeface="华文新魏" pitchFamily="2" charset="-122"/>
                  <a:ea typeface="华文新魏" pitchFamily="2" charset="-122"/>
                </a:rPr>
                <a:t>VLSI</a:t>
              </a:r>
              <a:r>
                <a:rPr lang="zh-CN" altLang="en-US" sz="2000" dirty="0">
                  <a:latin typeface="华文新魏" pitchFamily="2" charset="-122"/>
                  <a:ea typeface="华文新魏" pitchFamily="2" charset="-122"/>
                </a:rPr>
                <a:t>外设总线</a:t>
              </a:r>
              <a:r>
                <a:rPr lang="en-US" altLang="zh-CN" sz="2000" dirty="0">
                  <a:latin typeface="华文新魏" pitchFamily="2" charset="-122"/>
                  <a:ea typeface="华文新魏" pitchFamily="2" charset="-122"/>
                </a:rPr>
                <a:t>(VPB)</a:t>
              </a:r>
            </a:p>
          </p:txBody>
        </p:sp>
        <p:sp>
          <p:nvSpPr>
            <p:cNvPr id="164938" name="Oval 74"/>
            <p:cNvSpPr>
              <a:spLocks noChangeArrowheads="1"/>
            </p:cNvSpPr>
            <p:nvPr/>
          </p:nvSpPr>
          <p:spPr bwMode="auto">
            <a:xfrm>
              <a:off x="476" y="2568"/>
              <a:ext cx="182" cy="181"/>
            </a:xfrm>
            <a:prstGeom prst="ellipse">
              <a:avLst/>
            </a:prstGeom>
            <a:solidFill>
              <a:schemeClr val="accent2"/>
            </a:solidFill>
            <a:ln w="9525" algn="ctr">
              <a:solidFill>
                <a:srgbClr val="DDFFDD"/>
              </a:solidFill>
              <a:round/>
              <a:headEnd/>
              <a:tailEnd/>
            </a:ln>
            <a:effectLst/>
          </p:spPr>
          <p:txBody>
            <a:bodyPr wrap="none" anchor="ctr"/>
            <a:lstStyle/>
            <a:p>
              <a:r>
                <a:rPr lang="en-US" altLang="zh-CN">
                  <a:solidFill>
                    <a:schemeClr val="bg1"/>
                  </a:solidFill>
                  <a:latin typeface="Arial Black" pitchFamily="34" charset="0"/>
                </a:rPr>
                <a:t>4</a:t>
              </a:r>
            </a:p>
          </p:txBody>
        </p:sp>
      </p:grpSp>
      <p:sp>
        <p:nvSpPr>
          <p:cNvPr id="2" name="矩形 1">
            <a:extLst>
              <a:ext uri="{FF2B5EF4-FFF2-40B4-BE49-F238E27FC236}">
                <a16:creationId xmlns:a16="http://schemas.microsoft.com/office/drawing/2014/main" id="{AB6B079D-B74E-45C8-B520-C2666BDB39AE}"/>
              </a:ext>
            </a:extLst>
          </p:cNvPr>
          <p:cNvSpPr/>
          <p:nvPr/>
        </p:nvSpPr>
        <p:spPr>
          <a:xfrm>
            <a:off x="2242429" y="429181"/>
            <a:ext cx="3697392" cy="584775"/>
          </a:xfrm>
          <a:prstGeom prst="rect">
            <a:avLst/>
          </a:prstGeom>
        </p:spPr>
        <p:txBody>
          <a:bodyPr wrap="square">
            <a:spAutoFit/>
          </a:bodyPr>
          <a:lstStyle/>
          <a:p>
            <a:r>
              <a:rPr lang="en-US" altLang="zh-CN" sz="3200" dirty="0">
                <a:latin typeface="华文新魏" pitchFamily="2" charset="-122"/>
                <a:ea typeface="华文新魏" pitchFamily="2" charset="-122"/>
              </a:rPr>
              <a:t> 5.1   LPC2000</a:t>
            </a:r>
            <a:r>
              <a:rPr lang="zh-CN" altLang="en-US" sz="3200" dirty="0">
                <a:latin typeface="华文新魏" pitchFamily="2" charset="-122"/>
                <a:ea typeface="华文新魏" pitchFamily="2" charset="-122"/>
              </a:rPr>
              <a:t>简介</a:t>
            </a:r>
            <a:endParaRPr lang="zh-CN" alt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164923">
                                            <p:txEl>
                                              <p:pRg st="0" end="0"/>
                                            </p:txEl>
                                          </p:spTgt>
                                        </p:tgtEl>
                                        <p:attrNameLst>
                                          <p:attrName>style.visibility</p:attrName>
                                        </p:attrNameLst>
                                      </p:cBhvr>
                                      <p:to>
                                        <p:strVal val="visible"/>
                                      </p:to>
                                    </p:set>
                                    <p:anim calcmode="lin" valueType="num">
                                      <p:cBhvr additive="base">
                                        <p:cTn id="7" dur="500" fill="hold"/>
                                        <p:tgtEl>
                                          <p:spTgt spid="16492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492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164906"/>
                                        </p:tgtEl>
                                        <p:attrNameLst>
                                          <p:attrName>style.visibility</p:attrName>
                                        </p:attrNameLst>
                                      </p:cBhvr>
                                      <p:to>
                                        <p:strVal val="visible"/>
                                      </p:to>
                                    </p:set>
                                    <p:animEffect transition="in" filter="wipe(up)">
                                      <p:cBhvr>
                                        <p:cTn id="12" dur="500"/>
                                        <p:tgtEl>
                                          <p:spTgt spid="164906"/>
                                        </p:tgtEl>
                                      </p:cBhvr>
                                    </p:animEffect>
                                  </p:childTnLst>
                                </p:cTn>
                              </p:par>
                              <p:par>
                                <p:cTn id="13" presetID="22" presetClass="entr" presetSubtype="1" fill="hold" nodeType="withEffect">
                                  <p:stCondLst>
                                    <p:cond delay="0"/>
                                  </p:stCondLst>
                                  <p:childTnLst>
                                    <p:set>
                                      <p:cBhvr>
                                        <p:cTn id="14" dur="1" fill="hold">
                                          <p:stCondLst>
                                            <p:cond delay="0"/>
                                          </p:stCondLst>
                                        </p:cTn>
                                        <p:tgtEl>
                                          <p:spTgt spid="164921"/>
                                        </p:tgtEl>
                                        <p:attrNameLst>
                                          <p:attrName>style.visibility</p:attrName>
                                        </p:attrNameLst>
                                      </p:cBhvr>
                                      <p:to>
                                        <p:strVal val="visible"/>
                                      </p:to>
                                    </p:set>
                                    <p:animEffect transition="in" filter="wipe(up)">
                                      <p:cBhvr>
                                        <p:cTn id="15" dur="500"/>
                                        <p:tgtEl>
                                          <p:spTgt spid="164921"/>
                                        </p:tgtEl>
                                      </p:cBhvr>
                                    </p:animEffect>
                                  </p:childTnLst>
                                </p:cTn>
                              </p:par>
                            </p:childTnLst>
                          </p:cTn>
                        </p:par>
                        <p:par>
                          <p:cTn id="16" fill="hold">
                            <p:stCondLst>
                              <p:cond delay="1000"/>
                            </p:stCondLst>
                            <p:childTnLst>
                              <p:par>
                                <p:cTn id="17" presetID="12" presetClass="entr" presetSubtype="1" fill="hold" grpId="0" nodeType="afterEffect">
                                  <p:stCondLst>
                                    <p:cond delay="0"/>
                                  </p:stCondLst>
                                  <p:childTnLst>
                                    <p:set>
                                      <p:cBhvr>
                                        <p:cTn id="18" dur="1" fill="hold">
                                          <p:stCondLst>
                                            <p:cond delay="0"/>
                                          </p:stCondLst>
                                        </p:cTn>
                                        <p:tgtEl>
                                          <p:spTgt spid="164927"/>
                                        </p:tgtEl>
                                        <p:attrNameLst>
                                          <p:attrName>style.visibility</p:attrName>
                                        </p:attrNameLst>
                                      </p:cBhvr>
                                      <p:to>
                                        <p:strVal val="visible"/>
                                      </p:to>
                                    </p:set>
                                    <p:animEffect transition="in" filter="slide(fromTop)">
                                      <p:cBhvr>
                                        <p:cTn id="19" dur="500"/>
                                        <p:tgtEl>
                                          <p:spTgt spid="164927"/>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164929"/>
                                        </p:tgtEl>
                                        <p:attrNameLst>
                                          <p:attrName>style.visibility</p:attrName>
                                        </p:attrNameLst>
                                      </p:cBhvr>
                                      <p:to>
                                        <p:strVal val="visible"/>
                                      </p:to>
                                    </p:set>
                                    <p:anim calcmode="lin" valueType="num">
                                      <p:cBhvr additive="base">
                                        <p:cTn id="24" dur="500" fill="hold"/>
                                        <p:tgtEl>
                                          <p:spTgt spid="164929"/>
                                        </p:tgtEl>
                                        <p:attrNameLst>
                                          <p:attrName>ppt_x</p:attrName>
                                        </p:attrNameLst>
                                      </p:cBhvr>
                                      <p:tavLst>
                                        <p:tav tm="0">
                                          <p:val>
                                            <p:strVal val="0-#ppt_w/2"/>
                                          </p:val>
                                        </p:tav>
                                        <p:tav tm="100000">
                                          <p:val>
                                            <p:strVal val="#ppt_x"/>
                                          </p:val>
                                        </p:tav>
                                      </p:tavLst>
                                    </p:anim>
                                    <p:anim calcmode="lin" valueType="num">
                                      <p:cBhvr additive="base">
                                        <p:cTn id="25" dur="500" fill="hold"/>
                                        <p:tgtEl>
                                          <p:spTgt spid="164929"/>
                                        </p:tgtEl>
                                        <p:attrNameLst>
                                          <p:attrName>ppt_y</p:attrName>
                                        </p:attrNameLst>
                                      </p:cBhvr>
                                      <p:tavLst>
                                        <p:tav tm="0">
                                          <p:val>
                                            <p:strVal val="#ppt_y"/>
                                          </p:val>
                                        </p:tav>
                                        <p:tav tm="100000">
                                          <p:val>
                                            <p:strVal val="#ppt_y"/>
                                          </p:val>
                                        </p:tav>
                                      </p:tavLst>
                                    </p:anim>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164942"/>
                                        </p:tgtEl>
                                        <p:attrNameLst>
                                          <p:attrName>style.visibility</p:attrName>
                                        </p:attrNameLst>
                                      </p:cBhvr>
                                      <p:to>
                                        <p:strVal val="visible"/>
                                      </p:to>
                                    </p:set>
                                    <p:animEffect transition="in" filter="fade">
                                      <p:cBhvr>
                                        <p:cTn id="29" dur="500"/>
                                        <p:tgtEl>
                                          <p:spTgt spid="164942"/>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nodeType="clickEffect">
                                  <p:stCondLst>
                                    <p:cond delay="0"/>
                                  </p:stCondLst>
                                  <p:childTnLst>
                                    <p:set>
                                      <p:cBhvr>
                                        <p:cTn id="33" dur="1" fill="hold">
                                          <p:stCondLst>
                                            <p:cond delay="0"/>
                                          </p:stCondLst>
                                        </p:cTn>
                                        <p:tgtEl>
                                          <p:spTgt spid="164930"/>
                                        </p:tgtEl>
                                        <p:attrNameLst>
                                          <p:attrName>style.visibility</p:attrName>
                                        </p:attrNameLst>
                                      </p:cBhvr>
                                      <p:to>
                                        <p:strVal val="visible"/>
                                      </p:to>
                                    </p:set>
                                    <p:anim calcmode="lin" valueType="num">
                                      <p:cBhvr additive="base">
                                        <p:cTn id="34" dur="500" fill="hold"/>
                                        <p:tgtEl>
                                          <p:spTgt spid="164930"/>
                                        </p:tgtEl>
                                        <p:attrNameLst>
                                          <p:attrName>ppt_x</p:attrName>
                                        </p:attrNameLst>
                                      </p:cBhvr>
                                      <p:tavLst>
                                        <p:tav tm="0">
                                          <p:val>
                                            <p:strVal val="0-#ppt_w/2"/>
                                          </p:val>
                                        </p:tav>
                                        <p:tav tm="100000">
                                          <p:val>
                                            <p:strVal val="#ppt_x"/>
                                          </p:val>
                                        </p:tav>
                                      </p:tavLst>
                                    </p:anim>
                                    <p:anim calcmode="lin" valueType="num">
                                      <p:cBhvr additive="base">
                                        <p:cTn id="35" dur="500" fill="hold"/>
                                        <p:tgtEl>
                                          <p:spTgt spid="164930"/>
                                        </p:tgtEl>
                                        <p:attrNameLst>
                                          <p:attrName>ppt_y</p:attrName>
                                        </p:attrNameLst>
                                      </p:cBhvr>
                                      <p:tavLst>
                                        <p:tav tm="0">
                                          <p:val>
                                            <p:strVal val="#ppt_y"/>
                                          </p:val>
                                        </p:tav>
                                        <p:tav tm="100000">
                                          <p:val>
                                            <p:strVal val="#ppt_y"/>
                                          </p:val>
                                        </p:tav>
                                      </p:tavLst>
                                    </p:anim>
                                  </p:childTnLst>
                                </p:cTn>
                              </p:par>
                            </p:childTnLst>
                          </p:cTn>
                        </p:par>
                        <p:par>
                          <p:cTn id="36" fill="hold">
                            <p:stCondLst>
                              <p:cond delay="500"/>
                            </p:stCondLst>
                            <p:childTnLst>
                              <p:par>
                                <p:cTn id="37" presetID="10" presetClass="entr" presetSubtype="0" fill="hold" grpId="0" nodeType="afterEffect">
                                  <p:stCondLst>
                                    <p:cond delay="0"/>
                                  </p:stCondLst>
                                  <p:childTnLst>
                                    <p:set>
                                      <p:cBhvr>
                                        <p:cTn id="38" dur="1" fill="hold">
                                          <p:stCondLst>
                                            <p:cond delay="0"/>
                                          </p:stCondLst>
                                        </p:cTn>
                                        <p:tgtEl>
                                          <p:spTgt spid="164940"/>
                                        </p:tgtEl>
                                        <p:attrNameLst>
                                          <p:attrName>style.visibility</p:attrName>
                                        </p:attrNameLst>
                                      </p:cBhvr>
                                      <p:to>
                                        <p:strVal val="visible"/>
                                      </p:to>
                                    </p:set>
                                    <p:animEffect transition="in" filter="fade">
                                      <p:cBhvr>
                                        <p:cTn id="39" dur="500"/>
                                        <p:tgtEl>
                                          <p:spTgt spid="164940"/>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nodeType="clickEffect">
                                  <p:stCondLst>
                                    <p:cond delay="0"/>
                                  </p:stCondLst>
                                  <p:childTnLst>
                                    <p:set>
                                      <p:cBhvr>
                                        <p:cTn id="43" dur="1" fill="hold">
                                          <p:stCondLst>
                                            <p:cond delay="0"/>
                                          </p:stCondLst>
                                        </p:cTn>
                                        <p:tgtEl>
                                          <p:spTgt spid="164933"/>
                                        </p:tgtEl>
                                        <p:attrNameLst>
                                          <p:attrName>style.visibility</p:attrName>
                                        </p:attrNameLst>
                                      </p:cBhvr>
                                      <p:to>
                                        <p:strVal val="visible"/>
                                      </p:to>
                                    </p:set>
                                    <p:anim calcmode="lin" valueType="num">
                                      <p:cBhvr additive="base">
                                        <p:cTn id="44" dur="500" fill="hold"/>
                                        <p:tgtEl>
                                          <p:spTgt spid="164933"/>
                                        </p:tgtEl>
                                        <p:attrNameLst>
                                          <p:attrName>ppt_x</p:attrName>
                                        </p:attrNameLst>
                                      </p:cBhvr>
                                      <p:tavLst>
                                        <p:tav tm="0">
                                          <p:val>
                                            <p:strVal val="0-#ppt_w/2"/>
                                          </p:val>
                                        </p:tav>
                                        <p:tav tm="100000">
                                          <p:val>
                                            <p:strVal val="#ppt_x"/>
                                          </p:val>
                                        </p:tav>
                                      </p:tavLst>
                                    </p:anim>
                                    <p:anim calcmode="lin" valueType="num">
                                      <p:cBhvr additive="base">
                                        <p:cTn id="45" dur="500" fill="hold"/>
                                        <p:tgtEl>
                                          <p:spTgt spid="164933"/>
                                        </p:tgtEl>
                                        <p:attrNameLst>
                                          <p:attrName>ppt_y</p:attrName>
                                        </p:attrNameLst>
                                      </p:cBhvr>
                                      <p:tavLst>
                                        <p:tav tm="0">
                                          <p:val>
                                            <p:strVal val="#ppt_y"/>
                                          </p:val>
                                        </p:tav>
                                        <p:tav tm="100000">
                                          <p:val>
                                            <p:strVal val="#ppt_y"/>
                                          </p:val>
                                        </p:tav>
                                      </p:tavLst>
                                    </p:anim>
                                  </p:childTnLst>
                                </p:cTn>
                              </p:par>
                            </p:childTnLst>
                          </p:cTn>
                        </p:par>
                        <p:par>
                          <p:cTn id="46" fill="hold">
                            <p:stCondLst>
                              <p:cond delay="500"/>
                            </p:stCondLst>
                            <p:childTnLst>
                              <p:par>
                                <p:cTn id="47" presetID="10" presetClass="entr" presetSubtype="0" fill="hold" grpId="0" nodeType="afterEffect">
                                  <p:stCondLst>
                                    <p:cond delay="0"/>
                                  </p:stCondLst>
                                  <p:childTnLst>
                                    <p:set>
                                      <p:cBhvr>
                                        <p:cTn id="48" dur="1" fill="hold">
                                          <p:stCondLst>
                                            <p:cond delay="0"/>
                                          </p:stCondLst>
                                        </p:cTn>
                                        <p:tgtEl>
                                          <p:spTgt spid="164943"/>
                                        </p:tgtEl>
                                        <p:attrNameLst>
                                          <p:attrName>style.visibility</p:attrName>
                                        </p:attrNameLst>
                                      </p:cBhvr>
                                      <p:to>
                                        <p:strVal val="visible"/>
                                      </p:to>
                                    </p:set>
                                    <p:animEffect transition="in" filter="fade">
                                      <p:cBhvr>
                                        <p:cTn id="49" dur="500"/>
                                        <p:tgtEl>
                                          <p:spTgt spid="164943"/>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8" fill="hold" nodeType="clickEffect">
                                  <p:stCondLst>
                                    <p:cond delay="0"/>
                                  </p:stCondLst>
                                  <p:childTnLst>
                                    <p:set>
                                      <p:cBhvr>
                                        <p:cTn id="53" dur="1" fill="hold">
                                          <p:stCondLst>
                                            <p:cond delay="0"/>
                                          </p:stCondLst>
                                        </p:cTn>
                                        <p:tgtEl>
                                          <p:spTgt spid="164936"/>
                                        </p:tgtEl>
                                        <p:attrNameLst>
                                          <p:attrName>style.visibility</p:attrName>
                                        </p:attrNameLst>
                                      </p:cBhvr>
                                      <p:to>
                                        <p:strVal val="visible"/>
                                      </p:to>
                                    </p:set>
                                    <p:anim calcmode="lin" valueType="num">
                                      <p:cBhvr additive="base">
                                        <p:cTn id="54" dur="500" fill="hold"/>
                                        <p:tgtEl>
                                          <p:spTgt spid="164936"/>
                                        </p:tgtEl>
                                        <p:attrNameLst>
                                          <p:attrName>ppt_x</p:attrName>
                                        </p:attrNameLst>
                                      </p:cBhvr>
                                      <p:tavLst>
                                        <p:tav tm="0">
                                          <p:val>
                                            <p:strVal val="0-#ppt_w/2"/>
                                          </p:val>
                                        </p:tav>
                                        <p:tav tm="100000">
                                          <p:val>
                                            <p:strVal val="#ppt_x"/>
                                          </p:val>
                                        </p:tav>
                                      </p:tavLst>
                                    </p:anim>
                                    <p:anim calcmode="lin" valueType="num">
                                      <p:cBhvr additive="base">
                                        <p:cTn id="55" dur="500" fill="hold"/>
                                        <p:tgtEl>
                                          <p:spTgt spid="164936"/>
                                        </p:tgtEl>
                                        <p:attrNameLst>
                                          <p:attrName>ppt_y</p:attrName>
                                        </p:attrNameLst>
                                      </p:cBhvr>
                                      <p:tavLst>
                                        <p:tav tm="0">
                                          <p:val>
                                            <p:strVal val="#ppt_y"/>
                                          </p:val>
                                        </p:tav>
                                        <p:tav tm="100000">
                                          <p:val>
                                            <p:strVal val="#ppt_y"/>
                                          </p:val>
                                        </p:tav>
                                      </p:tavLst>
                                    </p:anim>
                                  </p:childTnLst>
                                </p:cTn>
                              </p:par>
                            </p:childTnLst>
                          </p:cTn>
                        </p:par>
                        <p:par>
                          <p:cTn id="56" fill="hold">
                            <p:stCondLst>
                              <p:cond delay="500"/>
                            </p:stCondLst>
                            <p:childTnLst>
                              <p:par>
                                <p:cTn id="57" presetID="10" presetClass="entr" presetSubtype="0" fill="hold" grpId="0" nodeType="afterEffect">
                                  <p:stCondLst>
                                    <p:cond delay="0"/>
                                  </p:stCondLst>
                                  <p:childTnLst>
                                    <p:set>
                                      <p:cBhvr>
                                        <p:cTn id="58" dur="1" fill="hold">
                                          <p:stCondLst>
                                            <p:cond delay="0"/>
                                          </p:stCondLst>
                                        </p:cTn>
                                        <p:tgtEl>
                                          <p:spTgt spid="164941"/>
                                        </p:tgtEl>
                                        <p:attrNameLst>
                                          <p:attrName>style.visibility</p:attrName>
                                        </p:attrNameLst>
                                      </p:cBhvr>
                                      <p:to>
                                        <p:strVal val="visible"/>
                                      </p:to>
                                    </p:set>
                                    <p:animEffect transition="in" filter="fade">
                                      <p:cBhvr>
                                        <p:cTn id="59" dur="500"/>
                                        <p:tgtEl>
                                          <p:spTgt spid="164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906" grpId="0" animBg="1"/>
      <p:bldP spid="164943" grpId="0" animBg="1"/>
      <p:bldP spid="164942" grpId="0" animBg="1"/>
      <p:bldP spid="164941" grpId="0" animBg="1"/>
      <p:bldP spid="164940" grpId="0" animBg="1"/>
      <p:bldP spid="164923" grpId="0" build="p" autoUpdateAnimBg="0" advAuto="0"/>
      <p:bldP spid="164927"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5" name="Rectangle 3"/>
          <p:cNvSpPr>
            <a:spLocks noGrp="1" noChangeArrowheads="1"/>
          </p:cNvSpPr>
          <p:nvPr>
            <p:ph type="title"/>
          </p:nvPr>
        </p:nvSpPr>
        <p:spPr>
          <a:noFill/>
          <a:ln/>
        </p:spPr>
        <p:txBody>
          <a:bodyPr/>
          <a:lstStyle/>
          <a:p>
            <a:r>
              <a:rPr lang="en-US" altLang="zh-CN"/>
              <a:t>LPC2000</a:t>
            </a:r>
            <a:r>
              <a:rPr lang="zh-CN" altLang="en-US"/>
              <a:t>系列</a:t>
            </a:r>
            <a:r>
              <a:rPr lang="en-US" altLang="zh-CN"/>
              <a:t>ARM</a:t>
            </a:r>
            <a:r>
              <a:rPr lang="zh-CN" altLang="en-US"/>
              <a:t>硬件结构</a:t>
            </a:r>
          </a:p>
        </p:txBody>
      </p:sp>
      <p:sp>
        <p:nvSpPr>
          <p:cNvPr id="166914" name="Rectangle 2"/>
          <p:cNvSpPr>
            <a:spLocks noGrp="1" noChangeArrowheads="1"/>
          </p:cNvSpPr>
          <p:nvPr>
            <p:ph idx="1"/>
          </p:nvPr>
        </p:nvSpPr>
        <p:spPr>
          <a:xfrm>
            <a:off x="2208214" y="1703388"/>
            <a:ext cx="4319587" cy="4533900"/>
          </a:xfrm>
          <a:noFill/>
        </p:spPr>
        <p:txBody>
          <a:bodyPr>
            <a:normAutofit/>
          </a:bodyPr>
          <a:lstStyle/>
          <a:p>
            <a:pPr marL="533400" indent="-533400">
              <a:buClr>
                <a:srgbClr val="FF0000"/>
              </a:buClr>
              <a:buFont typeface="Wingdings" pitchFamily="2" charset="2"/>
              <a:buChar char="Ø"/>
            </a:pPr>
            <a:r>
              <a:rPr lang="en-US" altLang="zh-CN" dirty="0">
                <a:solidFill>
                  <a:srgbClr val="B2B2B2"/>
                </a:solidFill>
              </a:rPr>
              <a:t>1.LPC2000</a:t>
            </a:r>
            <a:r>
              <a:rPr lang="zh-CN" altLang="en-US" dirty="0">
                <a:solidFill>
                  <a:srgbClr val="B2B2B2"/>
                </a:solidFill>
              </a:rPr>
              <a:t>系列简介</a:t>
            </a:r>
          </a:p>
          <a:p>
            <a:pPr marL="533400" indent="-533400">
              <a:buClr>
                <a:srgbClr val="FF0000"/>
              </a:buClr>
              <a:buFont typeface="Wingdings" pitchFamily="2" charset="2"/>
              <a:buChar char="Ø"/>
            </a:pPr>
            <a:r>
              <a:rPr lang="en-US" altLang="zh-CN" dirty="0">
                <a:solidFill>
                  <a:srgbClr val="FF0000"/>
                </a:solidFill>
              </a:rPr>
              <a:t>2.</a:t>
            </a:r>
            <a:r>
              <a:rPr lang="zh-CN" altLang="en-US" dirty="0">
                <a:solidFill>
                  <a:srgbClr val="FF0000"/>
                </a:solidFill>
              </a:rPr>
              <a:t>引脚描述</a:t>
            </a:r>
          </a:p>
          <a:p>
            <a:pPr marL="533400" indent="-533400">
              <a:buClr>
                <a:srgbClr val="FF0000"/>
              </a:buClr>
              <a:buFont typeface="Wingdings" pitchFamily="2" charset="2"/>
              <a:buChar char="Ø"/>
            </a:pPr>
            <a:r>
              <a:rPr lang="en-US" altLang="zh-CN" dirty="0">
                <a:solidFill>
                  <a:srgbClr val="B2B2B2"/>
                </a:solidFill>
              </a:rPr>
              <a:t>3.</a:t>
            </a:r>
            <a:r>
              <a:rPr lang="zh-CN" altLang="en-US" dirty="0">
                <a:solidFill>
                  <a:srgbClr val="B2B2B2"/>
                </a:solidFill>
              </a:rPr>
              <a:t>存储器寻址</a:t>
            </a:r>
          </a:p>
          <a:p>
            <a:pPr marL="533400" indent="-533400">
              <a:buClr>
                <a:srgbClr val="FF0000"/>
              </a:buClr>
              <a:buFont typeface="Wingdings" pitchFamily="2" charset="2"/>
              <a:buChar char="Ø"/>
            </a:pPr>
            <a:r>
              <a:rPr lang="en-US" altLang="zh-CN" dirty="0">
                <a:solidFill>
                  <a:srgbClr val="B2B2B2"/>
                </a:solidFill>
              </a:rPr>
              <a:t>4.</a:t>
            </a:r>
            <a:r>
              <a:rPr lang="zh-CN" altLang="en-US" dirty="0">
                <a:solidFill>
                  <a:srgbClr val="B2B2B2"/>
                </a:solidFill>
              </a:rPr>
              <a:t>系统控制模块</a:t>
            </a:r>
          </a:p>
          <a:p>
            <a:pPr marL="533400" indent="-533400">
              <a:buClr>
                <a:srgbClr val="FF0000"/>
              </a:buClr>
              <a:buFont typeface="Wingdings" pitchFamily="2" charset="2"/>
              <a:buChar char="Ø"/>
            </a:pPr>
            <a:r>
              <a:rPr lang="en-US" altLang="zh-CN" dirty="0">
                <a:solidFill>
                  <a:srgbClr val="B2B2B2"/>
                </a:solidFill>
              </a:rPr>
              <a:t>5.</a:t>
            </a:r>
            <a:r>
              <a:rPr lang="zh-CN" altLang="en-US" dirty="0">
                <a:solidFill>
                  <a:srgbClr val="B2B2B2"/>
                </a:solidFill>
              </a:rPr>
              <a:t>存储器加速模块    （</a:t>
            </a:r>
            <a:r>
              <a:rPr lang="en-US" altLang="zh-CN" dirty="0">
                <a:solidFill>
                  <a:srgbClr val="B2B2B2"/>
                </a:solidFill>
              </a:rPr>
              <a:t>MAM</a:t>
            </a:r>
            <a:r>
              <a:rPr lang="zh-CN" altLang="en-US" dirty="0">
                <a:solidFill>
                  <a:srgbClr val="B2B2B2"/>
                </a:solidFill>
              </a:rPr>
              <a:t>）</a:t>
            </a:r>
          </a:p>
          <a:p>
            <a:pPr marL="533400" indent="-533400">
              <a:buClr>
                <a:srgbClr val="FF0000"/>
              </a:buClr>
              <a:buFont typeface="Wingdings" pitchFamily="2" charset="2"/>
              <a:buChar char="Ø"/>
            </a:pPr>
            <a:r>
              <a:rPr lang="en-US" altLang="zh-CN" dirty="0">
                <a:solidFill>
                  <a:srgbClr val="B2B2B2"/>
                </a:solidFill>
              </a:rPr>
              <a:t>6.</a:t>
            </a:r>
            <a:r>
              <a:rPr lang="zh-CN" altLang="en-US" dirty="0">
                <a:solidFill>
                  <a:srgbClr val="B2B2B2"/>
                </a:solidFill>
              </a:rPr>
              <a:t>外部存储器控制器（</a:t>
            </a:r>
            <a:r>
              <a:rPr lang="en-US" altLang="zh-CN" dirty="0">
                <a:solidFill>
                  <a:srgbClr val="B2B2B2"/>
                </a:solidFill>
              </a:rPr>
              <a:t>EMC</a:t>
            </a:r>
            <a:r>
              <a:rPr lang="zh-CN" altLang="en-US" dirty="0">
                <a:solidFill>
                  <a:srgbClr val="B2B2B2"/>
                </a:solidFill>
              </a:rPr>
              <a:t>）</a:t>
            </a:r>
          </a:p>
          <a:p>
            <a:pPr marL="533400" indent="-533400">
              <a:buClr>
                <a:srgbClr val="FF0000"/>
              </a:buClr>
              <a:buFont typeface="Wingdings" pitchFamily="2" charset="2"/>
              <a:buChar char="Ø"/>
            </a:pPr>
            <a:r>
              <a:rPr lang="en-US" altLang="zh-CN" dirty="0">
                <a:solidFill>
                  <a:srgbClr val="B2B2B2"/>
                </a:solidFill>
              </a:rPr>
              <a:t>7.</a:t>
            </a:r>
            <a:r>
              <a:rPr lang="zh-CN" altLang="en-US" dirty="0">
                <a:solidFill>
                  <a:srgbClr val="B2B2B2"/>
                </a:solidFill>
              </a:rPr>
              <a:t>引脚连接模块</a:t>
            </a:r>
          </a:p>
          <a:p>
            <a:pPr marL="533400" indent="-533400">
              <a:buClr>
                <a:srgbClr val="FF0000"/>
              </a:buClr>
              <a:buFont typeface="Wingdings" pitchFamily="2" charset="2"/>
              <a:buChar char="Ø"/>
            </a:pPr>
            <a:r>
              <a:rPr lang="en-US" altLang="zh-CN" dirty="0">
                <a:solidFill>
                  <a:srgbClr val="B2B2B2"/>
                </a:solidFill>
              </a:rPr>
              <a:t>8.</a:t>
            </a:r>
            <a:r>
              <a:rPr lang="zh-CN" altLang="en-US" dirty="0">
                <a:solidFill>
                  <a:srgbClr val="B2B2B2"/>
                </a:solidFill>
              </a:rPr>
              <a:t>向量中断控制器</a:t>
            </a:r>
          </a:p>
        </p:txBody>
      </p:sp>
      <p:sp>
        <p:nvSpPr>
          <p:cNvPr id="166916" name="Rectangle 4"/>
          <p:cNvSpPr>
            <a:spLocks noChangeArrowheads="1"/>
          </p:cNvSpPr>
          <p:nvPr/>
        </p:nvSpPr>
        <p:spPr bwMode="auto">
          <a:xfrm>
            <a:off x="5951538" y="1701801"/>
            <a:ext cx="4392612" cy="4462463"/>
          </a:xfrm>
          <a:prstGeom prst="rect">
            <a:avLst/>
          </a:prstGeom>
          <a:noFill/>
          <a:ln w="9525">
            <a:noFill/>
            <a:miter lim="800000"/>
            <a:headEnd/>
            <a:tailEnd/>
          </a:ln>
          <a:effectLst/>
        </p:spPr>
        <p:txBody>
          <a:bodyPr/>
          <a:lstStyle/>
          <a:p>
            <a:pPr marL="533400" indent="-533400">
              <a:lnSpc>
                <a:spcPct val="80000"/>
              </a:lnSpc>
              <a:spcBef>
                <a:spcPct val="20000"/>
              </a:spcBef>
              <a:buClr>
                <a:srgbClr val="FF0000"/>
              </a:buClr>
              <a:buFont typeface="Wingdings" pitchFamily="2" charset="2"/>
              <a:buChar char="Ø"/>
            </a:pPr>
            <a:r>
              <a:rPr lang="en-US" altLang="zh-CN" sz="2400" dirty="0">
                <a:solidFill>
                  <a:srgbClr val="B2B2B2"/>
                </a:solidFill>
                <a:latin typeface="Times New Roman" pitchFamily="18" charset="0"/>
              </a:rPr>
              <a:t>9.</a:t>
            </a:r>
            <a:r>
              <a:rPr lang="zh-CN" altLang="en-US" sz="2400" dirty="0">
                <a:solidFill>
                  <a:srgbClr val="B2B2B2"/>
                </a:solidFill>
                <a:latin typeface="Times New Roman" pitchFamily="18" charset="0"/>
              </a:rPr>
              <a:t>最小系统</a:t>
            </a:r>
          </a:p>
          <a:p>
            <a:pPr marL="533400" indent="-533400">
              <a:lnSpc>
                <a:spcPct val="80000"/>
              </a:lnSpc>
              <a:spcBef>
                <a:spcPct val="20000"/>
              </a:spcBef>
              <a:buClr>
                <a:srgbClr val="FF0000"/>
              </a:buClr>
              <a:buFont typeface="Wingdings" pitchFamily="2" charset="2"/>
              <a:buChar char="Ø"/>
            </a:pPr>
            <a:r>
              <a:rPr lang="en-US" altLang="zh-CN" sz="2400" dirty="0">
                <a:solidFill>
                  <a:srgbClr val="B2B2B2"/>
                </a:solidFill>
                <a:latin typeface="Times New Roman" pitchFamily="18" charset="0"/>
              </a:rPr>
              <a:t>10.GPIO</a:t>
            </a:r>
          </a:p>
          <a:p>
            <a:pPr marL="533400" indent="-533400">
              <a:lnSpc>
                <a:spcPct val="80000"/>
              </a:lnSpc>
              <a:spcBef>
                <a:spcPct val="20000"/>
              </a:spcBef>
              <a:buClr>
                <a:srgbClr val="FF0000"/>
              </a:buClr>
              <a:buFont typeface="Wingdings" pitchFamily="2" charset="2"/>
              <a:buChar char="Ø"/>
            </a:pPr>
            <a:r>
              <a:rPr lang="en-US" altLang="zh-CN" sz="2400" dirty="0">
                <a:solidFill>
                  <a:srgbClr val="B2B2B2"/>
                </a:solidFill>
                <a:latin typeface="Times New Roman" pitchFamily="18" charset="0"/>
              </a:rPr>
              <a:t>11.UART(0</a:t>
            </a:r>
            <a:r>
              <a:rPr lang="zh-CN" altLang="en-US" sz="2400" dirty="0">
                <a:solidFill>
                  <a:srgbClr val="B2B2B2"/>
                </a:solidFill>
                <a:latin typeface="Times New Roman" pitchFamily="18" charset="0"/>
              </a:rPr>
              <a:t>、</a:t>
            </a:r>
            <a:r>
              <a:rPr lang="en-US" altLang="zh-CN" sz="2400" dirty="0">
                <a:solidFill>
                  <a:srgbClr val="B2B2B2"/>
                </a:solidFill>
                <a:latin typeface="Times New Roman" pitchFamily="18" charset="0"/>
              </a:rPr>
              <a:t>1)</a:t>
            </a:r>
          </a:p>
          <a:p>
            <a:pPr marL="533400" indent="-533400">
              <a:lnSpc>
                <a:spcPct val="80000"/>
              </a:lnSpc>
              <a:spcBef>
                <a:spcPct val="20000"/>
              </a:spcBef>
              <a:buClr>
                <a:srgbClr val="FF0000"/>
              </a:buClr>
              <a:buFont typeface="Wingdings" pitchFamily="2" charset="2"/>
              <a:buChar char="Ø"/>
            </a:pPr>
            <a:r>
              <a:rPr lang="en-US" altLang="zh-CN" sz="2400" dirty="0">
                <a:solidFill>
                  <a:srgbClr val="B2B2B2"/>
                </a:solidFill>
                <a:latin typeface="Times New Roman" pitchFamily="18" charset="0"/>
              </a:rPr>
              <a:t>12.I</a:t>
            </a:r>
            <a:r>
              <a:rPr lang="en-US" altLang="zh-CN" sz="2400" baseline="60000" dirty="0">
                <a:solidFill>
                  <a:srgbClr val="B2B2B2"/>
                </a:solidFill>
                <a:latin typeface="Times New Roman" pitchFamily="18" charset="0"/>
              </a:rPr>
              <a:t>2</a:t>
            </a:r>
            <a:r>
              <a:rPr lang="en-US" altLang="zh-CN" sz="2400" dirty="0">
                <a:solidFill>
                  <a:srgbClr val="B2B2B2"/>
                </a:solidFill>
                <a:latin typeface="Times New Roman" pitchFamily="18" charset="0"/>
              </a:rPr>
              <a:t>C</a:t>
            </a:r>
            <a:r>
              <a:rPr lang="zh-CN" altLang="en-US" sz="2400" dirty="0">
                <a:solidFill>
                  <a:srgbClr val="B2B2B2"/>
                </a:solidFill>
                <a:latin typeface="Times New Roman" pitchFamily="18" charset="0"/>
              </a:rPr>
              <a:t>接口</a:t>
            </a:r>
          </a:p>
          <a:p>
            <a:pPr marL="533400" indent="-533400">
              <a:lnSpc>
                <a:spcPct val="80000"/>
              </a:lnSpc>
              <a:spcBef>
                <a:spcPct val="20000"/>
              </a:spcBef>
              <a:buClr>
                <a:srgbClr val="FF0000"/>
              </a:buClr>
              <a:buFont typeface="Wingdings" pitchFamily="2" charset="2"/>
              <a:buChar char="Ø"/>
            </a:pPr>
            <a:r>
              <a:rPr lang="en-US" altLang="zh-CN" sz="2400" dirty="0">
                <a:solidFill>
                  <a:srgbClr val="B2B2B2"/>
                </a:solidFill>
                <a:latin typeface="Times New Roman" pitchFamily="18" charset="0"/>
              </a:rPr>
              <a:t>13.SPI</a:t>
            </a:r>
            <a:r>
              <a:rPr lang="zh-CN" altLang="en-US" sz="2400" dirty="0">
                <a:solidFill>
                  <a:srgbClr val="B2B2B2"/>
                </a:solidFill>
                <a:latin typeface="Times New Roman" pitchFamily="18" charset="0"/>
              </a:rPr>
              <a:t>接口</a:t>
            </a:r>
          </a:p>
          <a:p>
            <a:pPr marL="533400" indent="-533400">
              <a:lnSpc>
                <a:spcPct val="80000"/>
              </a:lnSpc>
              <a:spcBef>
                <a:spcPct val="20000"/>
              </a:spcBef>
              <a:buClr>
                <a:srgbClr val="FF0000"/>
              </a:buClr>
              <a:buFont typeface="Wingdings" pitchFamily="2" charset="2"/>
              <a:buChar char="Ø"/>
            </a:pPr>
            <a:r>
              <a:rPr lang="en-US" altLang="zh-CN" sz="2400" dirty="0">
                <a:solidFill>
                  <a:srgbClr val="B2B2B2"/>
                </a:solidFill>
                <a:latin typeface="Times New Roman" pitchFamily="18" charset="0"/>
              </a:rPr>
              <a:t>14.</a:t>
            </a:r>
            <a:r>
              <a:rPr lang="zh-CN" altLang="en-US" sz="2400" dirty="0">
                <a:solidFill>
                  <a:srgbClr val="B2B2B2"/>
                </a:solidFill>
                <a:latin typeface="Times New Roman" pitchFamily="18" charset="0"/>
              </a:rPr>
              <a:t>定时器</a:t>
            </a:r>
            <a:r>
              <a:rPr lang="en-US" altLang="zh-CN" sz="2400" dirty="0">
                <a:solidFill>
                  <a:srgbClr val="B2B2B2"/>
                </a:solidFill>
                <a:latin typeface="Times New Roman" pitchFamily="18" charset="0"/>
              </a:rPr>
              <a:t>0</a:t>
            </a:r>
            <a:r>
              <a:rPr lang="zh-CN" altLang="en-US" sz="2400" dirty="0">
                <a:solidFill>
                  <a:srgbClr val="B2B2B2"/>
                </a:solidFill>
                <a:latin typeface="Times New Roman" pitchFamily="18" charset="0"/>
              </a:rPr>
              <a:t>和定时器</a:t>
            </a:r>
            <a:r>
              <a:rPr lang="en-US" altLang="zh-CN" sz="2400" dirty="0">
                <a:solidFill>
                  <a:srgbClr val="B2B2B2"/>
                </a:solidFill>
                <a:latin typeface="Times New Roman" pitchFamily="18" charset="0"/>
              </a:rPr>
              <a:t>1</a:t>
            </a:r>
          </a:p>
          <a:p>
            <a:pPr marL="533400" indent="-533400">
              <a:lnSpc>
                <a:spcPct val="80000"/>
              </a:lnSpc>
              <a:spcBef>
                <a:spcPct val="20000"/>
              </a:spcBef>
              <a:buClr>
                <a:srgbClr val="FF0000"/>
              </a:buClr>
              <a:buFont typeface="Wingdings" pitchFamily="2" charset="2"/>
              <a:buChar char="Ø"/>
            </a:pPr>
            <a:r>
              <a:rPr lang="en-US" altLang="zh-CN" sz="2400" dirty="0">
                <a:solidFill>
                  <a:srgbClr val="B2B2B2"/>
                </a:solidFill>
                <a:latin typeface="Times New Roman" pitchFamily="18" charset="0"/>
              </a:rPr>
              <a:t>15.</a:t>
            </a:r>
            <a:r>
              <a:rPr lang="zh-CN" altLang="en-US" sz="2400" dirty="0">
                <a:solidFill>
                  <a:srgbClr val="B2B2B2"/>
                </a:solidFill>
                <a:latin typeface="Times New Roman" pitchFamily="18" charset="0"/>
              </a:rPr>
              <a:t>实时时钟</a:t>
            </a:r>
          </a:p>
          <a:p>
            <a:pPr marL="533400" indent="-533400">
              <a:lnSpc>
                <a:spcPct val="80000"/>
              </a:lnSpc>
              <a:spcBef>
                <a:spcPct val="20000"/>
              </a:spcBef>
              <a:buClr>
                <a:srgbClr val="FF0000"/>
              </a:buClr>
              <a:buFont typeface="Wingdings" pitchFamily="2" charset="2"/>
              <a:buChar char="Ø"/>
            </a:pPr>
            <a:r>
              <a:rPr lang="en-US" altLang="zh-CN" sz="2400" dirty="0">
                <a:solidFill>
                  <a:srgbClr val="B2B2B2"/>
                </a:solidFill>
                <a:latin typeface="Times New Roman" pitchFamily="18" charset="0"/>
              </a:rPr>
              <a:t>16.</a:t>
            </a:r>
            <a:r>
              <a:rPr lang="zh-CN" altLang="en-US" sz="2400" dirty="0">
                <a:solidFill>
                  <a:srgbClr val="B2B2B2"/>
                </a:solidFill>
                <a:latin typeface="Times New Roman" pitchFamily="18" charset="0"/>
              </a:rPr>
              <a:t>看门狗</a:t>
            </a:r>
          </a:p>
          <a:p>
            <a:pPr marL="533400" indent="-533400">
              <a:lnSpc>
                <a:spcPct val="80000"/>
              </a:lnSpc>
              <a:spcBef>
                <a:spcPct val="20000"/>
              </a:spcBef>
              <a:buClr>
                <a:srgbClr val="FF0000"/>
              </a:buClr>
              <a:buFont typeface="Wingdings" pitchFamily="2" charset="2"/>
              <a:buChar char="Ø"/>
            </a:pPr>
            <a:r>
              <a:rPr lang="en-US" altLang="zh-CN" sz="2400" dirty="0">
                <a:solidFill>
                  <a:srgbClr val="B2B2B2"/>
                </a:solidFill>
                <a:latin typeface="Times New Roman" pitchFamily="18" charset="0"/>
              </a:rPr>
              <a:t>17.A/D</a:t>
            </a:r>
            <a:r>
              <a:rPr lang="zh-CN" altLang="en-US" sz="2400" dirty="0">
                <a:solidFill>
                  <a:srgbClr val="B2B2B2"/>
                </a:solidFill>
                <a:latin typeface="Times New Roman" pitchFamily="18" charset="0"/>
              </a:rPr>
              <a:t>转换器</a:t>
            </a:r>
          </a:p>
          <a:p>
            <a:pPr marL="533400" indent="-533400">
              <a:lnSpc>
                <a:spcPct val="80000"/>
              </a:lnSpc>
              <a:spcBef>
                <a:spcPct val="20000"/>
              </a:spcBef>
              <a:buClr>
                <a:srgbClr val="FF0000"/>
              </a:buClr>
              <a:buFont typeface="Wingdings" pitchFamily="2" charset="2"/>
              <a:buChar char="Ø"/>
            </a:pPr>
            <a:r>
              <a:rPr lang="en-US" altLang="zh-CN" sz="2400" dirty="0">
                <a:solidFill>
                  <a:srgbClr val="B2B2B2"/>
                </a:solidFill>
                <a:latin typeface="Times New Roman" pitchFamily="18" charset="0"/>
              </a:rPr>
              <a:t>18.</a:t>
            </a:r>
            <a:r>
              <a:rPr lang="zh-CN" altLang="en-US" sz="2400" dirty="0">
                <a:solidFill>
                  <a:srgbClr val="B2B2B2"/>
                </a:solidFill>
                <a:latin typeface="Times New Roman" pitchFamily="18" charset="0"/>
              </a:rPr>
              <a:t>脉宽调制器</a:t>
            </a:r>
            <a:r>
              <a:rPr lang="en-US" altLang="zh-CN" sz="2400" dirty="0">
                <a:solidFill>
                  <a:srgbClr val="B2B2B2"/>
                </a:solidFill>
                <a:latin typeface="Times New Roman" pitchFamily="18" charset="0"/>
              </a:rPr>
              <a:t>(PWM)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p:txBody>
          <a:bodyPr/>
          <a:lstStyle/>
          <a:p>
            <a:r>
              <a:rPr lang="en-US" altLang="zh-CN" dirty="0"/>
              <a:t>5.1.1 </a:t>
            </a:r>
            <a:r>
              <a:rPr lang="zh-CN" altLang="en-US" dirty="0"/>
              <a:t>引脚描述</a:t>
            </a:r>
          </a:p>
        </p:txBody>
      </p:sp>
      <p:sp>
        <p:nvSpPr>
          <p:cNvPr id="167941" name="Rectangle 5"/>
          <p:cNvSpPr>
            <a:spLocks noChangeArrowheads="1"/>
          </p:cNvSpPr>
          <p:nvPr/>
        </p:nvSpPr>
        <p:spPr bwMode="auto">
          <a:xfrm>
            <a:off x="2209800" y="1773238"/>
            <a:ext cx="7772400" cy="6858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LPC2000</a:t>
            </a:r>
            <a:r>
              <a:rPr lang="zh-CN" altLang="en-US" sz="3200">
                <a:latin typeface="Times New Roman" pitchFamily="18" charset="0"/>
              </a:rPr>
              <a:t>系列芯片外形</a:t>
            </a:r>
          </a:p>
        </p:txBody>
      </p:sp>
      <p:pic>
        <p:nvPicPr>
          <p:cNvPr id="167942" name="Picture 6"/>
          <p:cNvPicPr>
            <a:picLocks noChangeAspect="1" noChangeArrowheads="1"/>
          </p:cNvPicPr>
          <p:nvPr/>
        </p:nvPicPr>
        <p:blipFill>
          <a:blip r:embed="rId2" cstate="print"/>
          <a:srcRect/>
          <a:stretch>
            <a:fillRect/>
          </a:stretch>
        </p:blipFill>
        <p:spPr bwMode="auto">
          <a:xfrm>
            <a:off x="3065463" y="2763838"/>
            <a:ext cx="2743200" cy="2678112"/>
          </a:xfrm>
          <a:prstGeom prst="rect">
            <a:avLst/>
          </a:prstGeom>
          <a:solidFill>
            <a:srgbClr val="0000FF"/>
          </a:solidFill>
          <a:ln w="9525">
            <a:noFill/>
            <a:miter lim="800000"/>
            <a:headEnd/>
            <a:tailEnd/>
          </a:ln>
          <a:effectLst/>
        </p:spPr>
      </p:pic>
      <p:pic>
        <p:nvPicPr>
          <p:cNvPr id="167943" name="Picture 7"/>
          <p:cNvPicPr>
            <a:picLocks noChangeAspect="1" noChangeArrowheads="1"/>
          </p:cNvPicPr>
          <p:nvPr/>
        </p:nvPicPr>
        <p:blipFill>
          <a:blip r:embed="rId3" cstate="print"/>
          <a:srcRect/>
          <a:stretch>
            <a:fillRect/>
          </a:stretch>
        </p:blipFill>
        <p:spPr bwMode="auto">
          <a:xfrm>
            <a:off x="6240463" y="2230438"/>
            <a:ext cx="3657600" cy="3643312"/>
          </a:xfrm>
          <a:prstGeom prst="rect">
            <a:avLst/>
          </a:prstGeom>
          <a:noFill/>
          <a:ln w="9525">
            <a:noFill/>
            <a:miter lim="800000"/>
            <a:headEnd/>
            <a:tailEnd/>
          </a:ln>
          <a:effectLst/>
        </p:spPr>
      </p:pic>
      <p:sp>
        <p:nvSpPr>
          <p:cNvPr id="167944" name="Text Box 8"/>
          <p:cNvSpPr txBox="1">
            <a:spLocks noChangeArrowheads="1"/>
          </p:cNvSpPr>
          <p:nvPr/>
        </p:nvSpPr>
        <p:spPr bwMode="auto">
          <a:xfrm>
            <a:off x="6584950" y="5888038"/>
            <a:ext cx="2895600" cy="366712"/>
          </a:xfrm>
          <a:prstGeom prst="rect">
            <a:avLst/>
          </a:prstGeom>
          <a:noFill/>
          <a:ln w="9525">
            <a:noFill/>
            <a:miter lim="800000"/>
            <a:headEnd/>
            <a:tailEnd/>
          </a:ln>
          <a:effectLst/>
        </p:spPr>
        <p:txBody>
          <a:bodyPr>
            <a:spAutoFit/>
          </a:bodyPr>
          <a:lstStyle/>
          <a:p>
            <a:pPr>
              <a:spcBef>
                <a:spcPct val="50000"/>
              </a:spcBef>
            </a:pPr>
            <a:r>
              <a:rPr lang="en-US" altLang="zh-CN">
                <a:solidFill>
                  <a:srgbClr val="FF0000"/>
                </a:solidFill>
                <a:latin typeface="Arial" charset="0"/>
                <a:ea typeface="华文新魏" pitchFamily="2" charset="-122"/>
              </a:rPr>
              <a:t>LPC2210/2220/2212/2214</a:t>
            </a:r>
          </a:p>
        </p:txBody>
      </p:sp>
      <p:sp>
        <p:nvSpPr>
          <p:cNvPr id="167945" name="Text Box 9"/>
          <p:cNvSpPr txBox="1">
            <a:spLocks noChangeArrowheads="1"/>
          </p:cNvSpPr>
          <p:nvPr/>
        </p:nvSpPr>
        <p:spPr bwMode="auto">
          <a:xfrm>
            <a:off x="2984500" y="5888038"/>
            <a:ext cx="2895600" cy="366712"/>
          </a:xfrm>
          <a:prstGeom prst="rect">
            <a:avLst/>
          </a:prstGeom>
          <a:noFill/>
          <a:ln w="9525">
            <a:noFill/>
            <a:miter lim="800000"/>
            <a:headEnd/>
            <a:tailEnd/>
          </a:ln>
          <a:effectLst/>
        </p:spPr>
        <p:txBody>
          <a:bodyPr>
            <a:spAutoFit/>
          </a:bodyPr>
          <a:lstStyle/>
          <a:p>
            <a:pPr>
              <a:spcBef>
                <a:spcPct val="50000"/>
              </a:spcBef>
            </a:pPr>
            <a:r>
              <a:rPr lang="en-US" altLang="zh-CN">
                <a:solidFill>
                  <a:srgbClr val="FF0000"/>
                </a:solidFill>
                <a:latin typeface="Arial" charset="0"/>
                <a:ea typeface="华文新魏" pitchFamily="2" charset="-122"/>
              </a:rPr>
              <a:t>LPC2114/2124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withEffect">
                                  <p:stCondLst>
                                    <p:cond delay="0"/>
                                  </p:stCondLst>
                                  <p:childTnLst>
                                    <p:set>
                                      <p:cBhvr>
                                        <p:cTn id="6" dur="1" fill="hold">
                                          <p:stCondLst>
                                            <p:cond delay="0"/>
                                          </p:stCondLst>
                                        </p:cTn>
                                        <p:tgtEl>
                                          <p:spTgt spid="167938"/>
                                        </p:tgtEl>
                                        <p:attrNameLst>
                                          <p:attrName>style.visibility</p:attrName>
                                        </p:attrNameLst>
                                      </p:cBhvr>
                                      <p:to>
                                        <p:strVal val="visible"/>
                                      </p:to>
                                    </p:set>
                                    <p:animEffect transition="in" filter="slide(fromTop)">
                                      <p:cBhvr>
                                        <p:cTn id="7" dur="500"/>
                                        <p:tgtEl>
                                          <p:spTgt spid="167938"/>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167941">
                                            <p:txEl>
                                              <p:pRg st="0" end="0"/>
                                            </p:txEl>
                                          </p:spTgt>
                                        </p:tgtEl>
                                        <p:attrNameLst>
                                          <p:attrName>style.visibility</p:attrName>
                                        </p:attrNameLst>
                                      </p:cBhvr>
                                      <p:to>
                                        <p:strVal val="visible"/>
                                      </p:to>
                                    </p:set>
                                    <p:anim calcmode="lin" valueType="num">
                                      <p:cBhvr additive="base">
                                        <p:cTn id="11" dur="500" fill="hold"/>
                                        <p:tgtEl>
                                          <p:spTgt spid="167941">
                                            <p:txEl>
                                              <p:pRg st="0" end="0"/>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67941">
                                            <p:txEl>
                                              <p:pRg st="0" end="0"/>
                                            </p:txEl>
                                          </p:spTgt>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2" presetClass="entr" presetSubtype="8" fill="hold" nodeType="afterEffect">
                                  <p:stCondLst>
                                    <p:cond delay="0"/>
                                  </p:stCondLst>
                                  <p:childTnLst>
                                    <p:set>
                                      <p:cBhvr>
                                        <p:cTn id="15" dur="1" fill="hold">
                                          <p:stCondLst>
                                            <p:cond delay="0"/>
                                          </p:stCondLst>
                                        </p:cTn>
                                        <p:tgtEl>
                                          <p:spTgt spid="167942"/>
                                        </p:tgtEl>
                                        <p:attrNameLst>
                                          <p:attrName>style.visibility</p:attrName>
                                        </p:attrNameLst>
                                      </p:cBhvr>
                                      <p:to>
                                        <p:strVal val="visible"/>
                                      </p:to>
                                    </p:set>
                                    <p:animEffect transition="in" filter="slide(fromLeft)">
                                      <p:cBhvr>
                                        <p:cTn id="16" dur="500"/>
                                        <p:tgtEl>
                                          <p:spTgt spid="167942"/>
                                        </p:tgtEl>
                                      </p:cBhvr>
                                    </p:animEffect>
                                  </p:childTnLst>
                                </p:cTn>
                              </p:par>
                            </p:childTnLst>
                          </p:cTn>
                        </p:par>
                        <p:par>
                          <p:cTn id="17" fill="hold">
                            <p:stCondLst>
                              <p:cond delay="1500"/>
                            </p:stCondLst>
                            <p:childTnLst>
                              <p:par>
                                <p:cTn id="18" presetID="12" presetClass="entr" presetSubtype="4" fill="hold" grpId="0" nodeType="afterEffect">
                                  <p:stCondLst>
                                    <p:cond delay="0"/>
                                  </p:stCondLst>
                                  <p:childTnLst>
                                    <p:set>
                                      <p:cBhvr>
                                        <p:cTn id="19" dur="1" fill="hold">
                                          <p:stCondLst>
                                            <p:cond delay="0"/>
                                          </p:stCondLst>
                                        </p:cTn>
                                        <p:tgtEl>
                                          <p:spTgt spid="167945"/>
                                        </p:tgtEl>
                                        <p:attrNameLst>
                                          <p:attrName>style.visibility</p:attrName>
                                        </p:attrNameLst>
                                      </p:cBhvr>
                                      <p:to>
                                        <p:strVal val="visible"/>
                                      </p:to>
                                    </p:set>
                                    <p:animEffect transition="in" filter="slide(fromBottom)">
                                      <p:cBhvr>
                                        <p:cTn id="20" dur="500"/>
                                        <p:tgtEl>
                                          <p:spTgt spid="167945"/>
                                        </p:tgtEl>
                                      </p:cBhvr>
                                    </p:animEffect>
                                  </p:childTnLst>
                                </p:cTn>
                              </p:par>
                            </p:childTnLst>
                          </p:cTn>
                        </p:par>
                        <p:par>
                          <p:cTn id="21" fill="hold">
                            <p:stCondLst>
                              <p:cond delay="2000"/>
                            </p:stCondLst>
                            <p:childTnLst>
                              <p:par>
                                <p:cTn id="22" presetID="12" presetClass="entr" presetSubtype="2" fill="hold" nodeType="afterEffect">
                                  <p:stCondLst>
                                    <p:cond delay="0"/>
                                  </p:stCondLst>
                                  <p:childTnLst>
                                    <p:set>
                                      <p:cBhvr>
                                        <p:cTn id="23" dur="1" fill="hold">
                                          <p:stCondLst>
                                            <p:cond delay="0"/>
                                          </p:stCondLst>
                                        </p:cTn>
                                        <p:tgtEl>
                                          <p:spTgt spid="167943"/>
                                        </p:tgtEl>
                                        <p:attrNameLst>
                                          <p:attrName>style.visibility</p:attrName>
                                        </p:attrNameLst>
                                      </p:cBhvr>
                                      <p:to>
                                        <p:strVal val="visible"/>
                                      </p:to>
                                    </p:set>
                                    <p:animEffect transition="in" filter="slide(fromRight)">
                                      <p:cBhvr>
                                        <p:cTn id="24" dur="500"/>
                                        <p:tgtEl>
                                          <p:spTgt spid="167943"/>
                                        </p:tgtEl>
                                      </p:cBhvr>
                                    </p:animEffect>
                                  </p:childTnLst>
                                </p:cTn>
                              </p:par>
                            </p:childTnLst>
                          </p:cTn>
                        </p:par>
                        <p:par>
                          <p:cTn id="25" fill="hold">
                            <p:stCondLst>
                              <p:cond delay="2500"/>
                            </p:stCondLst>
                            <p:childTnLst>
                              <p:par>
                                <p:cTn id="26" presetID="12" presetClass="entr" presetSubtype="4" fill="hold" grpId="0" nodeType="afterEffect">
                                  <p:stCondLst>
                                    <p:cond delay="0"/>
                                  </p:stCondLst>
                                  <p:childTnLst>
                                    <p:set>
                                      <p:cBhvr>
                                        <p:cTn id="27" dur="1" fill="hold">
                                          <p:stCondLst>
                                            <p:cond delay="0"/>
                                          </p:stCondLst>
                                        </p:cTn>
                                        <p:tgtEl>
                                          <p:spTgt spid="167944"/>
                                        </p:tgtEl>
                                        <p:attrNameLst>
                                          <p:attrName>style.visibility</p:attrName>
                                        </p:attrNameLst>
                                      </p:cBhvr>
                                      <p:to>
                                        <p:strVal val="visible"/>
                                      </p:to>
                                    </p:set>
                                    <p:animEffect transition="in" filter="slide(fromBottom)">
                                      <p:cBhvr>
                                        <p:cTn id="28" dur="500"/>
                                        <p:tgtEl>
                                          <p:spTgt spid="1679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8" grpId="0"/>
      <p:bldP spid="167941" grpId="0" build="p" autoUpdateAnimBg="0" advAuto="0"/>
      <p:bldP spid="167944" grpId="0" autoUpdateAnimBg="0"/>
      <p:bldP spid="167945"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ChangeArrowheads="1"/>
          </p:cNvSpPr>
          <p:nvPr>
            <p:ph type="title"/>
          </p:nvPr>
        </p:nvSpPr>
        <p:spPr/>
        <p:txBody>
          <a:bodyPr/>
          <a:lstStyle/>
          <a:p>
            <a:r>
              <a:rPr lang="en-US" altLang="zh-CN" dirty="0">
                <a:solidFill>
                  <a:schemeClr val="tx1"/>
                </a:solidFill>
              </a:rPr>
              <a:t>5.2  </a:t>
            </a:r>
            <a:r>
              <a:rPr lang="zh-CN" altLang="en-US" dirty="0">
                <a:solidFill>
                  <a:schemeClr val="tx1"/>
                </a:solidFill>
              </a:rPr>
              <a:t>引脚连接模块</a:t>
            </a:r>
          </a:p>
        </p:txBody>
      </p:sp>
      <p:sp>
        <p:nvSpPr>
          <p:cNvPr id="331779" name="Rectangle 3"/>
          <p:cNvSpPr>
            <a:spLocks noChangeArrowheads="1"/>
          </p:cNvSpPr>
          <p:nvPr/>
        </p:nvSpPr>
        <p:spPr bwMode="auto">
          <a:xfrm>
            <a:off x="2209800" y="17002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概述</a:t>
            </a:r>
          </a:p>
        </p:txBody>
      </p:sp>
      <p:sp>
        <p:nvSpPr>
          <p:cNvPr id="331780" name="Text Box 4"/>
          <p:cNvSpPr txBox="1">
            <a:spLocks noChangeArrowheads="1"/>
          </p:cNvSpPr>
          <p:nvPr/>
        </p:nvSpPr>
        <p:spPr bwMode="auto">
          <a:xfrm>
            <a:off x="2495550" y="2457450"/>
            <a:ext cx="7105650" cy="1569660"/>
          </a:xfrm>
          <a:prstGeom prst="rect">
            <a:avLst/>
          </a:prstGeom>
          <a:noFill/>
          <a:ln w="9525">
            <a:noFill/>
            <a:miter lim="800000"/>
            <a:headEnd/>
            <a:tailEnd/>
          </a:ln>
          <a:effectLst/>
        </p:spPr>
        <p:txBody>
          <a:bodyPr>
            <a:spAutoFit/>
          </a:bodyPr>
          <a:lstStyle/>
          <a:p>
            <a:pPr algn="l">
              <a:spcBef>
                <a:spcPct val="50000"/>
              </a:spcBef>
              <a:buClr>
                <a:schemeClr val="accent2"/>
              </a:buClr>
            </a:pPr>
            <a:r>
              <a:rPr lang="en-US" altLang="zh-CN" sz="2400">
                <a:latin typeface="华文新魏" pitchFamily="2" charset="-122"/>
                <a:ea typeface="华文新魏" pitchFamily="2" charset="-122"/>
              </a:rPr>
              <a:t>         LPC2000</a:t>
            </a:r>
            <a:r>
              <a:rPr lang="zh-CN" altLang="en-US" sz="2400">
                <a:latin typeface="华文新魏" pitchFamily="2" charset="-122"/>
                <a:ea typeface="华文新魏" pitchFamily="2" charset="-122"/>
              </a:rPr>
              <a:t>系列微控制器的大部分管脚都具有多种功能，即管脚复用，但是同一引脚在同一时刻只能使用其中一个功能，通过配置相关寄存器控制多路开关来连接引脚与片内外设。</a:t>
            </a:r>
          </a:p>
        </p:txBody>
      </p:sp>
      <p:grpSp>
        <p:nvGrpSpPr>
          <p:cNvPr id="331837" name="Group 61"/>
          <p:cNvGrpSpPr>
            <a:grpSpLocks/>
          </p:cNvGrpSpPr>
          <p:nvPr/>
        </p:nvGrpSpPr>
        <p:grpSpPr bwMode="auto">
          <a:xfrm>
            <a:off x="4872039" y="4149725"/>
            <a:ext cx="4319587" cy="1943100"/>
            <a:chOff x="1837" y="2704"/>
            <a:chExt cx="2721" cy="1224"/>
          </a:xfrm>
        </p:grpSpPr>
        <p:sp>
          <p:nvSpPr>
            <p:cNvPr id="331799" name="Text Box 23"/>
            <p:cNvSpPr txBox="1">
              <a:spLocks noChangeArrowheads="1"/>
            </p:cNvSpPr>
            <p:nvPr/>
          </p:nvSpPr>
          <p:spPr bwMode="auto">
            <a:xfrm>
              <a:off x="1837" y="3112"/>
              <a:ext cx="635" cy="212"/>
            </a:xfrm>
            <a:prstGeom prst="rect">
              <a:avLst/>
            </a:prstGeom>
            <a:noFill/>
            <a:ln w="9525">
              <a:noFill/>
              <a:miter lim="800000"/>
              <a:headEnd/>
              <a:tailEnd/>
            </a:ln>
            <a:effectLst/>
          </p:spPr>
          <p:txBody>
            <a:bodyPr>
              <a:spAutoFit/>
            </a:bodyPr>
            <a:lstStyle/>
            <a:p>
              <a:pPr>
                <a:spcBef>
                  <a:spcPct val="50000"/>
                </a:spcBef>
              </a:pPr>
              <a:r>
                <a:rPr lang="zh-CN" altLang="en-US" sz="1600">
                  <a:latin typeface="Arial" charset="0"/>
                </a:rPr>
                <a:t>引脚</a:t>
              </a:r>
              <a:r>
                <a:rPr lang="en-US" altLang="zh-CN" sz="1600">
                  <a:latin typeface="Arial" charset="0"/>
                  <a:ea typeface="华文新魏" pitchFamily="2" charset="-122"/>
                </a:rPr>
                <a:t>P0.0</a:t>
              </a:r>
            </a:p>
          </p:txBody>
        </p:sp>
        <p:grpSp>
          <p:nvGrpSpPr>
            <p:cNvPr id="331836" name="Group 60"/>
            <p:cNvGrpSpPr>
              <a:grpSpLocks/>
            </p:cNvGrpSpPr>
            <p:nvPr/>
          </p:nvGrpSpPr>
          <p:grpSpPr bwMode="auto">
            <a:xfrm>
              <a:off x="2496" y="2704"/>
              <a:ext cx="2062" cy="1224"/>
              <a:chOff x="2496" y="2704"/>
              <a:chExt cx="2062" cy="1224"/>
            </a:xfrm>
          </p:grpSpPr>
          <p:sp>
            <p:nvSpPr>
              <p:cNvPr id="331784" name="Rectangle 8"/>
              <p:cNvSpPr>
                <a:spLocks noChangeArrowheads="1"/>
              </p:cNvSpPr>
              <p:nvPr/>
            </p:nvSpPr>
            <p:spPr bwMode="auto">
              <a:xfrm>
                <a:off x="2688" y="2704"/>
                <a:ext cx="1870" cy="1224"/>
              </a:xfrm>
              <a:prstGeom prst="rect">
                <a:avLst/>
              </a:prstGeom>
              <a:solidFill>
                <a:srgbClr val="E5F2FF"/>
              </a:solidFill>
              <a:ln w="9525">
                <a:solidFill>
                  <a:schemeClr val="tx1"/>
                </a:solidFill>
                <a:miter lim="800000"/>
                <a:headEnd/>
                <a:tailEnd/>
              </a:ln>
              <a:effectLst>
                <a:outerShdw dist="35921" dir="2700000" algn="ctr" rotWithShape="0">
                  <a:schemeClr val="bg2">
                    <a:alpha val="50000"/>
                  </a:schemeClr>
                </a:outerShdw>
              </a:effectLst>
            </p:spPr>
            <p:txBody>
              <a:bodyPr wrap="none" anchor="ctr"/>
              <a:lstStyle/>
              <a:p>
                <a:endParaRPr lang="zh-CN" altLang="en-US"/>
              </a:p>
            </p:txBody>
          </p:sp>
          <p:sp>
            <p:nvSpPr>
              <p:cNvPr id="331783" name="Rectangle 7"/>
              <p:cNvSpPr>
                <a:spLocks noChangeArrowheads="1"/>
              </p:cNvSpPr>
              <p:nvPr/>
            </p:nvSpPr>
            <p:spPr bwMode="auto">
              <a:xfrm>
                <a:off x="2834" y="2794"/>
                <a:ext cx="635" cy="862"/>
              </a:xfrm>
              <a:prstGeom prst="rect">
                <a:avLst/>
              </a:prstGeom>
              <a:solidFill>
                <a:srgbClr val="CCFFCC"/>
              </a:solidFill>
              <a:ln w="9525">
                <a:solidFill>
                  <a:schemeClr val="tx1"/>
                </a:solidFill>
                <a:miter lim="800000"/>
                <a:headEnd/>
                <a:tailEnd/>
              </a:ln>
              <a:effectLst/>
            </p:spPr>
            <p:txBody>
              <a:bodyPr wrap="none" anchor="ctr"/>
              <a:lstStyle/>
              <a:p>
                <a:endParaRPr lang="zh-CN" altLang="en-US"/>
              </a:p>
            </p:txBody>
          </p:sp>
          <p:sp>
            <p:nvSpPr>
              <p:cNvPr id="331785" name="Rectangle 9"/>
              <p:cNvSpPr>
                <a:spLocks noChangeArrowheads="1"/>
              </p:cNvSpPr>
              <p:nvPr/>
            </p:nvSpPr>
            <p:spPr bwMode="auto">
              <a:xfrm>
                <a:off x="2496" y="3136"/>
                <a:ext cx="192" cy="192"/>
              </a:xfrm>
              <a:prstGeom prst="rect">
                <a:avLst/>
              </a:prstGeom>
              <a:solidFill>
                <a:schemeClr val="folHlink"/>
              </a:solidFill>
              <a:ln w="9525">
                <a:solidFill>
                  <a:schemeClr val="tx1"/>
                </a:solidFill>
                <a:miter lim="800000"/>
                <a:headEnd/>
                <a:tailEnd/>
              </a:ln>
              <a:effectLst/>
            </p:spPr>
            <p:txBody>
              <a:bodyPr wrap="none" anchor="ctr"/>
              <a:lstStyle/>
              <a:p>
                <a:endParaRPr lang="zh-CN" altLang="en-US"/>
              </a:p>
            </p:txBody>
          </p:sp>
          <p:sp>
            <p:nvSpPr>
              <p:cNvPr id="331786" name="Rectangle 10"/>
              <p:cNvSpPr>
                <a:spLocks noChangeArrowheads="1"/>
              </p:cNvSpPr>
              <p:nvPr/>
            </p:nvSpPr>
            <p:spPr bwMode="auto">
              <a:xfrm>
                <a:off x="2496" y="2848"/>
                <a:ext cx="192" cy="192"/>
              </a:xfrm>
              <a:prstGeom prst="rect">
                <a:avLst/>
              </a:prstGeom>
              <a:solidFill>
                <a:schemeClr val="folHlink"/>
              </a:solidFill>
              <a:ln w="9525">
                <a:solidFill>
                  <a:schemeClr val="tx1"/>
                </a:solidFill>
                <a:miter lim="800000"/>
                <a:headEnd/>
                <a:tailEnd/>
              </a:ln>
              <a:effectLst/>
            </p:spPr>
            <p:txBody>
              <a:bodyPr wrap="none" anchor="ctr"/>
              <a:lstStyle/>
              <a:p>
                <a:endParaRPr lang="zh-CN" altLang="en-US"/>
              </a:p>
            </p:txBody>
          </p:sp>
          <p:sp>
            <p:nvSpPr>
              <p:cNvPr id="331787" name="Rectangle 11"/>
              <p:cNvSpPr>
                <a:spLocks noChangeArrowheads="1"/>
              </p:cNvSpPr>
              <p:nvPr/>
            </p:nvSpPr>
            <p:spPr bwMode="auto">
              <a:xfrm>
                <a:off x="2496" y="3424"/>
                <a:ext cx="192" cy="192"/>
              </a:xfrm>
              <a:prstGeom prst="rect">
                <a:avLst/>
              </a:prstGeom>
              <a:solidFill>
                <a:schemeClr val="folHlink"/>
              </a:solidFill>
              <a:ln w="9525">
                <a:solidFill>
                  <a:schemeClr val="tx1"/>
                </a:solidFill>
                <a:miter lim="800000"/>
                <a:headEnd/>
                <a:tailEnd/>
              </a:ln>
              <a:effectLst/>
            </p:spPr>
            <p:txBody>
              <a:bodyPr wrap="none" anchor="ctr"/>
              <a:lstStyle/>
              <a:p>
                <a:endParaRPr lang="zh-CN" altLang="en-US"/>
              </a:p>
            </p:txBody>
          </p:sp>
          <p:sp>
            <p:nvSpPr>
              <p:cNvPr id="331788" name="Line 12"/>
              <p:cNvSpPr>
                <a:spLocks noChangeShapeType="1"/>
              </p:cNvSpPr>
              <p:nvPr/>
            </p:nvSpPr>
            <p:spPr bwMode="auto">
              <a:xfrm>
                <a:off x="2688" y="3232"/>
                <a:ext cx="227" cy="0"/>
              </a:xfrm>
              <a:prstGeom prst="line">
                <a:avLst/>
              </a:prstGeom>
              <a:noFill/>
              <a:ln w="25400">
                <a:solidFill>
                  <a:schemeClr val="tx1"/>
                </a:solidFill>
                <a:round/>
                <a:headEnd/>
                <a:tailEnd/>
              </a:ln>
              <a:effectLst/>
            </p:spPr>
            <p:txBody>
              <a:bodyPr/>
              <a:lstStyle/>
              <a:p>
                <a:endParaRPr lang="zh-CN" altLang="en-US"/>
              </a:p>
            </p:txBody>
          </p:sp>
          <p:sp>
            <p:nvSpPr>
              <p:cNvPr id="331789" name="Line 13"/>
              <p:cNvSpPr>
                <a:spLocks noChangeShapeType="1"/>
              </p:cNvSpPr>
              <p:nvPr/>
            </p:nvSpPr>
            <p:spPr bwMode="auto">
              <a:xfrm>
                <a:off x="3378" y="2885"/>
                <a:ext cx="227" cy="0"/>
              </a:xfrm>
              <a:prstGeom prst="line">
                <a:avLst/>
              </a:prstGeom>
              <a:noFill/>
              <a:ln w="25400">
                <a:solidFill>
                  <a:schemeClr val="tx1"/>
                </a:solidFill>
                <a:round/>
                <a:headEnd/>
                <a:tailEnd/>
              </a:ln>
              <a:effectLst/>
            </p:spPr>
            <p:txBody>
              <a:bodyPr/>
              <a:lstStyle/>
              <a:p>
                <a:endParaRPr lang="zh-CN" altLang="en-US"/>
              </a:p>
            </p:txBody>
          </p:sp>
          <p:sp>
            <p:nvSpPr>
              <p:cNvPr id="331792" name="Oval 16"/>
              <p:cNvSpPr>
                <a:spLocks noChangeArrowheads="1"/>
              </p:cNvSpPr>
              <p:nvPr/>
            </p:nvSpPr>
            <p:spPr bwMode="auto">
              <a:xfrm>
                <a:off x="3330" y="2862"/>
                <a:ext cx="45" cy="45"/>
              </a:xfrm>
              <a:prstGeom prst="ellipse">
                <a:avLst/>
              </a:prstGeom>
              <a:noFill/>
              <a:ln w="19050">
                <a:solidFill>
                  <a:schemeClr val="tx1"/>
                </a:solidFill>
                <a:round/>
                <a:headEnd/>
                <a:tailEnd/>
              </a:ln>
              <a:effectLst/>
            </p:spPr>
            <p:txBody>
              <a:bodyPr wrap="none" anchor="ctr"/>
              <a:lstStyle/>
              <a:p>
                <a:endParaRPr lang="zh-CN" altLang="en-US"/>
              </a:p>
            </p:txBody>
          </p:sp>
          <p:sp>
            <p:nvSpPr>
              <p:cNvPr id="331793" name="Oval 17"/>
              <p:cNvSpPr>
                <a:spLocks noChangeArrowheads="1"/>
              </p:cNvSpPr>
              <p:nvPr/>
            </p:nvSpPr>
            <p:spPr bwMode="auto">
              <a:xfrm>
                <a:off x="2922" y="3204"/>
                <a:ext cx="48" cy="48"/>
              </a:xfrm>
              <a:prstGeom prst="ellipse">
                <a:avLst/>
              </a:prstGeom>
              <a:noFill/>
              <a:ln w="19050">
                <a:solidFill>
                  <a:schemeClr val="tx1"/>
                </a:solidFill>
                <a:round/>
                <a:headEnd/>
                <a:tailEnd/>
              </a:ln>
              <a:effectLst/>
            </p:spPr>
            <p:txBody>
              <a:bodyPr wrap="none" anchor="ctr"/>
              <a:lstStyle/>
              <a:p>
                <a:endParaRPr lang="zh-CN" altLang="en-US"/>
              </a:p>
            </p:txBody>
          </p:sp>
          <p:sp>
            <p:nvSpPr>
              <p:cNvPr id="331794" name="Rectangle 18"/>
              <p:cNvSpPr>
                <a:spLocks noChangeArrowheads="1"/>
              </p:cNvSpPr>
              <p:nvPr/>
            </p:nvSpPr>
            <p:spPr bwMode="auto">
              <a:xfrm>
                <a:off x="3608" y="2795"/>
                <a:ext cx="816" cy="181"/>
              </a:xfrm>
              <a:prstGeom prst="rect">
                <a:avLst/>
              </a:prstGeom>
              <a:solidFill>
                <a:srgbClr val="FFCC99"/>
              </a:solidFill>
              <a:ln w="9525">
                <a:solidFill>
                  <a:schemeClr val="tx1"/>
                </a:solidFill>
                <a:miter lim="800000"/>
                <a:headEnd/>
                <a:tailEnd/>
              </a:ln>
              <a:effectLst/>
            </p:spPr>
            <p:txBody>
              <a:bodyPr wrap="none" anchor="ctr"/>
              <a:lstStyle/>
              <a:p>
                <a:r>
                  <a:rPr lang="en-US" altLang="zh-CN" sz="1600">
                    <a:latin typeface="Arial" charset="0"/>
                  </a:rPr>
                  <a:t>GPIO</a:t>
                </a:r>
              </a:p>
            </p:txBody>
          </p:sp>
          <p:sp>
            <p:nvSpPr>
              <p:cNvPr id="331795" name="Rectangle 19"/>
              <p:cNvSpPr>
                <a:spLocks noChangeArrowheads="1"/>
              </p:cNvSpPr>
              <p:nvPr/>
            </p:nvSpPr>
            <p:spPr bwMode="auto">
              <a:xfrm>
                <a:off x="3608" y="3021"/>
                <a:ext cx="816" cy="181"/>
              </a:xfrm>
              <a:prstGeom prst="rect">
                <a:avLst/>
              </a:prstGeom>
              <a:solidFill>
                <a:srgbClr val="FFCC99"/>
              </a:solidFill>
              <a:ln w="9525">
                <a:solidFill>
                  <a:schemeClr val="tx1"/>
                </a:solidFill>
                <a:miter lim="800000"/>
                <a:headEnd/>
                <a:tailEnd/>
              </a:ln>
              <a:effectLst/>
            </p:spPr>
            <p:txBody>
              <a:bodyPr wrap="none" anchor="ctr"/>
              <a:lstStyle/>
              <a:p>
                <a:r>
                  <a:rPr lang="en-US" altLang="zh-CN" sz="1600">
                    <a:latin typeface="Arial" charset="0"/>
                  </a:rPr>
                  <a:t>TXD0</a:t>
                </a:r>
              </a:p>
            </p:txBody>
          </p:sp>
          <p:sp>
            <p:nvSpPr>
              <p:cNvPr id="331796" name="Rectangle 20"/>
              <p:cNvSpPr>
                <a:spLocks noChangeArrowheads="1"/>
              </p:cNvSpPr>
              <p:nvPr/>
            </p:nvSpPr>
            <p:spPr bwMode="auto">
              <a:xfrm>
                <a:off x="3608" y="3248"/>
                <a:ext cx="816" cy="181"/>
              </a:xfrm>
              <a:prstGeom prst="rect">
                <a:avLst/>
              </a:prstGeom>
              <a:solidFill>
                <a:srgbClr val="FFCC99"/>
              </a:solidFill>
              <a:ln w="9525" algn="ctr">
                <a:solidFill>
                  <a:schemeClr val="tx1"/>
                </a:solidFill>
                <a:miter lim="800000"/>
                <a:headEnd/>
                <a:tailEnd/>
              </a:ln>
              <a:effectLst/>
            </p:spPr>
            <p:txBody>
              <a:bodyPr wrap="none" anchor="ctr"/>
              <a:lstStyle/>
              <a:p>
                <a:r>
                  <a:rPr lang="en-US" altLang="zh-CN" sz="1600">
                    <a:latin typeface="Arial" charset="0"/>
                  </a:rPr>
                  <a:t>PWM1</a:t>
                </a:r>
                <a:r>
                  <a:rPr lang="zh-CN" altLang="en-US" sz="1600">
                    <a:latin typeface="Arial" charset="0"/>
                  </a:rPr>
                  <a:t>输出</a:t>
                </a:r>
              </a:p>
            </p:txBody>
          </p:sp>
          <p:sp>
            <p:nvSpPr>
              <p:cNvPr id="331800" name="Rectangle 24"/>
              <p:cNvSpPr>
                <a:spLocks noChangeArrowheads="1"/>
              </p:cNvSpPr>
              <p:nvPr/>
            </p:nvSpPr>
            <p:spPr bwMode="auto">
              <a:xfrm>
                <a:off x="3608" y="3475"/>
                <a:ext cx="816" cy="181"/>
              </a:xfrm>
              <a:prstGeom prst="rect">
                <a:avLst/>
              </a:prstGeom>
              <a:solidFill>
                <a:srgbClr val="FFCC99"/>
              </a:solidFill>
              <a:ln w="9525">
                <a:solidFill>
                  <a:schemeClr val="tx1"/>
                </a:solidFill>
                <a:miter lim="800000"/>
                <a:headEnd/>
                <a:tailEnd/>
              </a:ln>
              <a:effectLst/>
            </p:spPr>
            <p:txBody>
              <a:bodyPr wrap="none" anchor="ctr"/>
              <a:lstStyle/>
              <a:p>
                <a:r>
                  <a:rPr lang="zh-CN" altLang="en-US" sz="1600">
                    <a:latin typeface="Arial" charset="0"/>
                  </a:rPr>
                  <a:t>保留</a:t>
                </a:r>
              </a:p>
            </p:txBody>
          </p:sp>
          <p:sp>
            <p:nvSpPr>
              <p:cNvPr id="331801" name="Line 25"/>
              <p:cNvSpPr>
                <a:spLocks noChangeShapeType="1"/>
              </p:cNvSpPr>
              <p:nvPr/>
            </p:nvSpPr>
            <p:spPr bwMode="auto">
              <a:xfrm>
                <a:off x="3378" y="3112"/>
                <a:ext cx="227" cy="0"/>
              </a:xfrm>
              <a:prstGeom prst="line">
                <a:avLst/>
              </a:prstGeom>
              <a:noFill/>
              <a:ln w="25400">
                <a:solidFill>
                  <a:schemeClr val="tx1"/>
                </a:solidFill>
                <a:round/>
                <a:headEnd/>
                <a:tailEnd/>
              </a:ln>
              <a:effectLst/>
            </p:spPr>
            <p:txBody>
              <a:bodyPr/>
              <a:lstStyle/>
              <a:p>
                <a:endParaRPr lang="zh-CN" altLang="en-US"/>
              </a:p>
            </p:txBody>
          </p:sp>
          <p:sp>
            <p:nvSpPr>
              <p:cNvPr id="331802" name="Line 26"/>
              <p:cNvSpPr>
                <a:spLocks noChangeShapeType="1"/>
              </p:cNvSpPr>
              <p:nvPr/>
            </p:nvSpPr>
            <p:spPr bwMode="auto">
              <a:xfrm>
                <a:off x="3378" y="3339"/>
                <a:ext cx="227" cy="0"/>
              </a:xfrm>
              <a:prstGeom prst="line">
                <a:avLst/>
              </a:prstGeom>
              <a:noFill/>
              <a:ln w="25400">
                <a:solidFill>
                  <a:schemeClr val="tx1"/>
                </a:solidFill>
                <a:round/>
                <a:headEnd/>
                <a:tailEnd/>
              </a:ln>
              <a:effectLst/>
            </p:spPr>
            <p:txBody>
              <a:bodyPr/>
              <a:lstStyle/>
              <a:p>
                <a:endParaRPr lang="zh-CN" altLang="en-US"/>
              </a:p>
            </p:txBody>
          </p:sp>
          <p:sp>
            <p:nvSpPr>
              <p:cNvPr id="331803" name="Line 27"/>
              <p:cNvSpPr>
                <a:spLocks noChangeShapeType="1"/>
              </p:cNvSpPr>
              <p:nvPr/>
            </p:nvSpPr>
            <p:spPr bwMode="auto">
              <a:xfrm>
                <a:off x="3378" y="3565"/>
                <a:ext cx="227" cy="0"/>
              </a:xfrm>
              <a:prstGeom prst="line">
                <a:avLst/>
              </a:prstGeom>
              <a:noFill/>
              <a:ln w="25400">
                <a:solidFill>
                  <a:schemeClr val="tx1"/>
                </a:solidFill>
                <a:round/>
                <a:headEnd/>
                <a:tailEnd/>
              </a:ln>
              <a:effectLst/>
            </p:spPr>
            <p:txBody>
              <a:bodyPr/>
              <a:lstStyle/>
              <a:p>
                <a:endParaRPr lang="zh-CN" altLang="en-US"/>
              </a:p>
            </p:txBody>
          </p:sp>
          <p:sp>
            <p:nvSpPr>
              <p:cNvPr id="331804" name="Rectangle 28"/>
              <p:cNvSpPr>
                <a:spLocks noChangeArrowheads="1"/>
              </p:cNvSpPr>
              <p:nvPr/>
            </p:nvSpPr>
            <p:spPr bwMode="auto">
              <a:xfrm>
                <a:off x="2834" y="3656"/>
                <a:ext cx="635" cy="182"/>
              </a:xfrm>
              <a:prstGeom prst="rect">
                <a:avLst/>
              </a:prstGeom>
              <a:solidFill>
                <a:srgbClr val="CCFFFF"/>
              </a:solidFill>
              <a:ln w="9525">
                <a:solidFill>
                  <a:schemeClr val="tx1"/>
                </a:solidFill>
                <a:miter lim="800000"/>
                <a:headEnd/>
                <a:tailEnd/>
              </a:ln>
              <a:effectLst/>
            </p:spPr>
            <p:txBody>
              <a:bodyPr wrap="none" anchor="ctr"/>
              <a:lstStyle/>
              <a:p>
                <a:r>
                  <a:rPr lang="en-US" altLang="zh-CN" sz="1600">
                    <a:latin typeface="Arial" charset="0"/>
                  </a:rPr>
                  <a:t>PINSELx</a:t>
                </a:r>
              </a:p>
            </p:txBody>
          </p:sp>
          <p:sp>
            <p:nvSpPr>
              <p:cNvPr id="331805" name="Oval 29"/>
              <p:cNvSpPr>
                <a:spLocks noChangeArrowheads="1"/>
              </p:cNvSpPr>
              <p:nvPr/>
            </p:nvSpPr>
            <p:spPr bwMode="auto">
              <a:xfrm>
                <a:off x="3333" y="3086"/>
                <a:ext cx="48" cy="48"/>
              </a:xfrm>
              <a:prstGeom prst="ellipse">
                <a:avLst/>
              </a:prstGeom>
              <a:noFill/>
              <a:ln w="19050">
                <a:solidFill>
                  <a:schemeClr val="tx1"/>
                </a:solidFill>
                <a:round/>
                <a:headEnd/>
                <a:tailEnd/>
              </a:ln>
              <a:effectLst/>
            </p:spPr>
            <p:txBody>
              <a:bodyPr wrap="none" anchor="ctr"/>
              <a:lstStyle/>
              <a:p>
                <a:endParaRPr lang="zh-CN" altLang="en-US"/>
              </a:p>
            </p:txBody>
          </p:sp>
          <p:sp>
            <p:nvSpPr>
              <p:cNvPr id="331806" name="Oval 30"/>
              <p:cNvSpPr>
                <a:spLocks noChangeArrowheads="1"/>
              </p:cNvSpPr>
              <p:nvPr/>
            </p:nvSpPr>
            <p:spPr bwMode="auto">
              <a:xfrm>
                <a:off x="3333" y="3315"/>
                <a:ext cx="48" cy="48"/>
              </a:xfrm>
              <a:prstGeom prst="ellipse">
                <a:avLst/>
              </a:prstGeom>
              <a:noFill/>
              <a:ln w="19050">
                <a:solidFill>
                  <a:schemeClr val="tx1"/>
                </a:solidFill>
                <a:round/>
                <a:headEnd/>
                <a:tailEnd/>
              </a:ln>
              <a:effectLst/>
            </p:spPr>
            <p:txBody>
              <a:bodyPr wrap="none" anchor="ctr"/>
              <a:lstStyle/>
              <a:p>
                <a:endParaRPr lang="zh-CN" altLang="en-US"/>
              </a:p>
            </p:txBody>
          </p:sp>
          <p:sp>
            <p:nvSpPr>
              <p:cNvPr id="331807" name="Oval 31"/>
              <p:cNvSpPr>
                <a:spLocks noChangeArrowheads="1"/>
              </p:cNvSpPr>
              <p:nvPr/>
            </p:nvSpPr>
            <p:spPr bwMode="auto">
              <a:xfrm>
                <a:off x="3333" y="3542"/>
                <a:ext cx="48" cy="48"/>
              </a:xfrm>
              <a:prstGeom prst="ellipse">
                <a:avLst/>
              </a:prstGeom>
              <a:noFill/>
              <a:ln w="19050">
                <a:solidFill>
                  <a:schemeClr val="tx1"/>
                </a:solidFill>
                <a:round/>
                <a:headEnd/>
                <a:tailEnd/>
              </a:ln>
              <a:effectLst/>
            </p:spPr>
            <p:txBody>
              <a:bodyPr wrap="none" anchor="ctr"/>
              <a:lstStyle/>
              <a:p>
                <a:endParaRPr lang="zh-CN" altLang="en-US"/>
              </a:p>
            </p:txBody>
          </p:sp>
        </p:grpSp>
      </p:grpSp>
      <p:grpSp>
        <p:nvGrpSpPr>
          <p:cNvPr id="331835" name="Group 59"/>
          <p:cNvGrpSpPr>
            <a:grpSpLocks/>
          </p:cNvGrpSpPr>
          <p:nvPr/>
        </p:nvGrpSpPr>
        <p:grpSpPr bwMode="auto">
          <a:xfrm>
            <a:off x="3000376" y="5588001"/>
            <a:ext cx="1871663" cy="504825"/>
            <a:chOff x="3879" y="2568"/>
            <a:chExt cx="1179" cy="318"/>
          </a:xfrm>
        </p:grpSpPr>
        <p:sp>
          <p:nvSpPr>
            <p:cNvPr id="331809" name="Rectangle 33"/>
            <p:cNvSpPr>
              <a:spLocks noChangeArrowheads="1"/>
            </p:cNvSpPr>
            <p:nvPr/>
          </p:nvSpPr>
          <p:spPr bwMode="auto">
            <a:xfrm>
              <a:off x="3879" y="2568"/>
              <a:ext cx="725" cy="317"/>
            </a:xfrm>
            <a:prstGeom prst="rect">
              <a:avLst/>
            </a:prstGeom>
            <a:solidFill>
              <a:srgbClr val="E7FFFF"/>
            </a:solidFill>
            <a:ln w="9525" algn="ctr">
              <a:solidFill>
                <a:schemeClr val="tx1"/>
              </a:solidFill>
              <a:miter lim="800000"/>
              <a:headEnd/>
              <a:tailEnd/>
            </a:ln>
            <a:effectLst/>
          </p:spPr>
          <p:txBody>
            <a:bodyPr wrap="none" anchor="ctr"/>
            <a:lstStyle/>
            <a:p>
              <a:r>
                <a:rPr lang="zh-CN" altLang="en-US" sz="1200">
                  <a:latin typeface="Arial Black" pitchFamily="34" charset="0"/>
                </a:rPr>
                <a:t>引脚连接寄存器</a:t>
              </a:r>
            </a:p>
            <a:p>
              <a:r>
                <a:rPr lang="en-US" altLang="zh-CN" sz="1200">
                  <a:latin typeface="Arial Black" pitchFamily="34" charset="0"/>
                </a:rPr>
                <a:t>PINSELx</a:t>
              </a:r>
            </a:p>
          </p:txBody>
        </p:sp>
        <p:sp>
          <p:nvSpPr>
            <p:cNvPr id="331813" name="Rectangle 37"/>
            <p:cNvSpPr>
              <a:spLocks noChangeArrowheads="1"/>
            </p:cNvSpPr>
            <p:nvPr/>
          </p:nvSpPr>
          <p:spPr bwMode="auto">
            <a:xfrm>
              <a:off x="4695" y="2569"/>
              <a:ext cx="363"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1 : 0</a:t>
              </a:r>
            </a:p>
          </p:txBody>
        </p:sp>
        <p:sp>
          <p:nvSpPr>
            <p:cNvPr id="331814" name="Rectangle 38"/>
            <p:cNvSpPr>
              <a:spLocks noChangeArrowheads="1"/>
            </p:cNvSpPr>
            <p:nvPr/>
          </p:nvSpPr>
          <p:spPr bwMode="auto">
            <a:xfrm>
              <a:off x="4695" y="2705"/>
              <a:ext cx="363" cy="181"/>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solidFill>
                    <a:srgbClr val="FF0000"/>
                  </a:solidFill>
                  <a:latin typeface="Arial Black" pitchFamily="34" charset="0"/>
                </a:rPr>
                <a:t>00</a:t>
              </a:r>
            </a:p>
          </p:txBody>
        </p:sp>
      </p:grpSp>
      <p:sp>
        <p:nvSpPr>
          <p:cNvPr id="331834" name="Rectangle 58"/>
          <p:cNvSpPr>
            <a:spLocks noChangeArrowheads="1"/>
          </p:cNvSpPr>
          <p:nvPr/>
        </p:nvSpPr>
        <p:spPr bwMode="auto">
          <a:xfrm>
            <a:off x="4295776" y="5805489"/>
            <a:ext cx="576263" cy="287337"/>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solidFill>
                  <a:srgbClr val="FF0000"/>
                </a:solidFill>
                <a:latin typeface="Arial Black" pitchFamily="34" charset="0"/>
              </a:rPr>
              <a:t>01</a:t>
            </a:r>
          </a:p>
        </p:txBody>
      </p:sp>
      <p:sp>
        <p:nvSpPr>
          <p:cNvPr id="331838" name="Line 62"/>
          <p:cNvSpPr>
            <a:spLocks noChangeShapeType="1"/>
          </p:cNvSpPr>
          <p:nvPr/>
        </p:nvSpPr>
        <p:spPr bwMode="auto">
          <a:xfrm flipV="1">
            <a:off x="6672263" y="4437064"/>
            <a:ext cx="576262" cy="504825"/>
          </a:xfrm>
          <a:prstGeom prst="line">
            <a:avLst/>
          </a:prstGeom>
          <a:noFill/>
          <a:ln w="25400">
            <a:solidFill>
              <a:srgbClr val="333333"/>
            </a:solidFill>
            <a:round/>
            <a:headEnd/>
            <a:tailEnd/>
          </a:ln>
          <a:effectLst/>
        </p:spPr>
        <p:txBody>
          <a:bodyPr>
            <a:spAutoFit/>
          </a:bodyPr>
          <a:lstStyle/>
          <a:p>
            <a:endParaRPr lang="zh-CN" altLang="en-US"/>
          </a:p>
        </p:txBody>
      </p:sp>
      <p:sp>
        <p:nvSpPr>
          <p:cNvPr id="331839" name="Line 63"/>
          <p:cNvSpPr>
            <a:spLocks noChangeShapeType="1"/>
          </p:cNvSpPr>
          <p:nvPr/>
        </p:nvSpPr>
        <p:spPr bwMode="auto">
          <a:xfrm flipV="1">
            <a:off x="6672263" y="4797426"/>
            <a:ext cx="576262" cy="144463"/>
          </a:xfrm>
          <a:prstGeom prst="line">
            <a:avLst/>
          </a:prstGeom>
          <a:noFill/>
          <a:ln w="25400">
            <a:solidFill>
              <a:srgbClr val="333333"/>
            </a:solidFill>
            <a:round/>
            <a:headEnd/>
            <a:tailEnd/>
          </a:ln>
          <a:effectLst/>
        </p:spPr>
        <p:txBody>
          <a:bodyPr>
            <a:spAutoFit/>
          </a:bodyPr>
          <a:lstStyle/>
          <a:p>
            <a:endParaRPr lang="zh-CN" altLang="en-US"/>
          </a:p>
        </p:txBody>
      </p:sp>
      <p:sp>
        <p:nvSpPr>
          <p:cNvPr id="331840" name="Line 64"/>
          <p:cNvSpPr>
            <a:spLocks noChangeShapeType="1"/>
          </p:cNvSpPr>
          <p:nvPr/>
        </p:nvSpPr>
        <p:spPr bwMode="auto">
          <a:xfrm>
            <a:off x="6672263" y="5013326"/>
            <a:ext cx="576262" cy="144463"/>
          </a:xfrm>
          <a:prstGeom prst="line">
            <a:avLst/>
          </a:prstGeom>
          <a:noFill/>
          <a:ln w="25400">
            <a:solidFill>
              <a:srgbClr val="333333"/>
            </a:solidFill>
            <a:round/>
            <a:headEnd/>
            <a:tailEnd/>
          </a:ln>
          <a:effectLst/>
        </p:spPr>
        <p:txBody>
          <a:bodyPr>
            <a:spAutoFit/>
          </a:bodyPr>
          <a:lstStyle/>
          <a:p>
            <a:endParaRPr lang="zh-CN" altLang="en-US"/>
          </a:p>
        </p:txBody>
      </p:sp>
      <p:sp>
        <p:nvSpPr>
          <p:cNvPr id="331841" name="Line 65"/>
          <p:cNvSpPr>
            <a:spLocks noChangeShapeType="1"/>
          </p:cNvSpPr>
          <p:nvPr/>
        </p:nvSpPr>
        <p:spPr bwMode="auto">
          <a:xfrm>
            <a:off x="6672263" y="5013325"/>
            <a:ext cx="576262" cy="503238"/>
          </a:xfrm>
          <a:prstGeom prst="line">
            <a:avLst/>
          </a:prstGeom>
          <a:noFill/>
          <a:ln w="25400">
            <a:solidFill>
              <a:srgbClr val="333333"/>
            </a:solidFill>
            <a:round/>
            <a:headEnd/>
            <a:tailEnd/>
          </a:ln>
          <a:effectLst/>
        </p:spPr>
        <p:txBody>
          <a:bodyPr>
            <a:spAutoFit/>
          </a:bodyPr>
          <a:lstStyle/>
          <a:p>
            <a:endParaRPr lang="zh-CN" altLang="en-US"/>
          </a:p>
        </p:txBody>
      </p:sp>
      <p:sp>
        <p:nvSpPr>
          <p:cNvPr id="331842" name="Rectangle 66"/>
          <p:cNvSpPr>
            <a:spLocks noChangeArrowheads="1"/>
          </p:cNvSpPr>
          <p:nvPr/>
        </p:nvSpPr>
        <p:spPr bwMode="auto">
          <a:xfrm>
            <a:off x="4295776" y="5805489"/>
            <a:ext cx="576263" cy="287337"/>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solidFill>
                  <a:srgbClr val="FF0000"/>
                </a:solidFill>
                <a:latin typeface="Arial Black" pitchFamily="34" charset="0"/>
              </a:rPr>
              <a:t>10</a:t>
            </a:r>
          </a:p>
        </p:txBody>
      </p:sp>
      <p:sp>
        <p:nvSpPr>
          <p:cNvPr id="331843" name="Rectangle 67"/>
          <p:cNvSpPr>
            <a:spLocks noChangeArrowheads="1"/>
          </p:cNvSpPr>
          <p:nvPr/>
        </p:nvSpPr>
        <p:spPr bwMode="auto">
          <a:xfrm>
            <a:off x="4295776" y="5805489"/>
            <a:ext cx="576263" cy="287337"/>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solidFill>
                  <a:srgbClr val="FF0000"/>
                </a:solidFill>
                <a:latin typeface="Arial Black" pitchFamily="34" charset="0"/>
              </a:rPr>
              <a:t>11</a:t>
            </a:r>
          </a:p>
        </p:txBody>
      </p:sp>
      <p:sp>
        <p:nvSpPr>
          <p:cNvPr id="331844" name="Text Box 68"/>
          <p:cNvSpPr txBox="1">
            <a:spLocks noChangeArrowheads="1"/>
          </p:cNvSpPr>
          <p:nvPr/>
        </p:nvSpPr>
        <p:spPr bwMode="auto">
          <a:xfrm>
            <a:off x="2782888" y="4598989"/>
            <a:ext cx="2087562" cy="701675"/>
          </a:xfrm>
          <a:prstGeom prst="rect">
            <a:avLst/>
          </a:prstGeom>
          <a:solidFill>
            <a:srgbClr val="E5FFE5"/>
          </a:solidFill>
          <a:ln w="9525" algn="ctr">
            <a:noFill/>
            <a:miter lim="800000"/>
            <a:headEnd/>
            <a:tailEnd/>
          </a:ln>
          <a:effectLst>
            <a:outerShdw dist="35921" dir="2700000" algn="ctr" rotWithShape="0">
              <a:schemeClr val="bg2"/>
            </a:outerShdw>
          </a:effectLst>
        </p:spPr>
        <p:txBody>
          <a:bodyPr>
            <a:spAutoFit/>
          </a:bodyPr>
          <a:lstStyle/>
          <a:p>
            <a:pPr algn="l">
              <a:spcBef>
                <a:spcPct val="50000"/>
              </a:spcBef>
            </a:pPr>
            <a:r>
              <a:rPr lang="en-US" altLang="zh-CN" sz="2000">
                <a:latin typeface="华文新魏" pitchFamily="2" charset="-122"/>
                <a:ea typeface="华文新魏" pitchFamily="2" charset="-122"/>
              </a:rPr>
              <a:t>P0.0</a:t>
            </a:r>
            <a:r>
              <a:rPr lang="zh-CN" altLang="en-US" sz="2000">
                <a:latin typeface="华文新魏" pitchFamily="2" charset="-122"/>
                <a:ea typeface="华文新魏" pitchFamily="2" charset="-122"/>
              </a:rPr>
              <a:t>默认为</a:t>
            </a:r>
            <a:r>
              <a:rPr lang="en-US" altLang="zh-CN" sz="2000">
                <a:latin typeface="华文新魏" pitchFamily="2" charset="-122"/>
                <a:ea typeface="华文新魏" pitchFamily="2" charset="-122"/>
              </a:rPr>
              <a:t>GPIO</a:t>
            </a:r>
            <a:r>
              <a:rPr lang="zh-CN" altLang="en-US" sz="2000">
                <a:latin typeface="华文新魏" pitchFamily="2" charset="-122"/>
                <a:ea typeface="华文新魏" pitchFamily="2" charset="-122"/>
              </a:rPr>
              <a:t>功能</a:t>
            </a:r>
          </a:p>
        </p:txBody>
      </p:sp>
      <p:sp>
        <p:nvSpPr>
          <p:cNvPr id="331845" name="Text Box 69"/>
          <p:cNvSpPr txBox="1">
            <a:spLocks noChangeArrowheads="1"/>
          </p:cNvSpPr>
          <p:nvPr/>
        </p:nvSpPr>
        <p:spPr bwMode="auto">
          <a:xfrm>
            <a:off x="2782888" y="4365626"/>
            <a:ext cx="2087562" cy="1006475"/>
          </a:xfrm>
          <a:prstGeom prst="rect">
            <a:avLst/>
          </a:prstGeom>
          <a:solidFill>
            <a:srgbClr val="E5FFE5"/>
          </a:solidFill>
          <a:ln w="9525" algn="ctr">
            <a:noFill/>
            <a:miter lim="800000"/>
            <a:headEnd/>
            <a:tailEnd/>
          </a:ln>
          <a:effectLst>
            <a:outerShdw dist="35921" dir="2700000" algn="ctr" rotWithShape="0">
              <a:schemeClr val="bg2"/>
            </a:outerShdw>
          </a:effectLst>
        </p:spPr>
        <p:txBody>
          <a:bodyPr>
            <a:spAutoFit/>
          </a:bodyPr>
          <a:lstStyle/>
          <a:p>
            <a:pPr algn="l">
              <a:spcBef>
                <a:spcPct val="50000"/>
              </a:spcBef>
            </a:pPr>
            <a:r>
              <a:rPr lang="en-US" altLang="zh-CN" sz="2000">
                <a:latin typeface="华文新魏" pitchFamily="2" charset="-122"/>
                <a:ea typeface="华文新魏" pitchFamily="2" charset="-122"/>
              </a:rPr>
              <a:t>P0.0</a:t>
            </a:r>
            <a:r>
              <a:rPr lang="zh-CN" altLang="en-US" sz="2000">
                <a:latin typeface="华文新魏" pitchFamily="2" charset="-122"/>
                <a:ea typeface="华文新魏" pitchFamily="2" charset="-122"/>
              </a:rPr>
              <a:t>选择</a:t>
            </a:r>
            <a:r>
              <a:rPr lang="en-US" altLang="zh-CN" sz="2000">
                <a:latin typeface="华文新魏" pitchFamily="2" charset="-122"/>
                <a:ea typeface="华文新魏" pitchFamily="2" charset="-122"/>
              </a:rPr>
              <a:t>TXD0</a:t>
            </a:r>
            <a:r>
              <a:rPr lang="zh-CN" altLang="en-US" sz="2000">
                <a:latin typeface="华文新魏" pitchFamily="2" charset="-122"/>
                <a:ea typeface="华文新魏" pitchFamily="2" charset="-122"/>
              </a:rPr>
              <a:t>功能，配置对应位为</a:t>
            </a:r>
            <a:r>
              <a:rPr lang="en-US" altLang="zh-CN" sz="2000">
                <a:latin typeface="华文新魏" pitchFamily="2" charset="-122"/>
                <a:ea typeface="华文新魏" pitchFamily="2" charset="-122"/>
              </a:rPr>
              <a:t>01</a:t>
            </a:r>
          </a:p>
        </p:txBody>
      </p:sp>
      <p:sp>
        <p:nvSpPr>
          <p:cNvPr id="331846" name="Text Box 70"/>
          <p:cNvSpPr txBox="1">
            <a:spLocks noChangeArrowheads="1"/>
          </p:cNvSpPr>
          <p:nvPr/>
        </p:nvSpPr>
        <p:spPr bwMode="auto">
          <a:xfrm>
            <a:off x="2784476" y="4367214"/>
            <a:ext cx="2087563" cy="1006475"/>
          </a:xfrm>
          <a:prstGeom prst="rect">
            <a:avLst/>
          </a:prstGeom>
          <a:solidFill>
            <a:srgbClr val="E5FFE5"/>
          </a:solidFill>
          <a:ln w="9525" algn="ctr">
            <a:noFill/>
            <a:miter lim="800000"/>
            <a:headEnd/>
            <a:tailEnd/>
          </a:ln>
          <a:effectLst>
            <a:outerShdw dist="35921" dir="2700000" algn="ctr" rotWithShape="0">
              <a:schemeClr val="bg2"/>
            </a:outerShdw>
          </a:effectLst>
        </p:spPr>
        <p:txBody>
          <a:bodyPr>
            <a:spAutoFit/>
          </a:bodyPr>
          <a:lstStyle/>
          <a:p>
            <a:pPr algn="l">
              <a:spcBef>
                <a:spcPct val="50000"/>
              </a:spcBef>
            </a:pPr>
            <a:r>
              <a:rPr lang="en-US" altLang="zh-CN" sz="2000">
                <a:latin typeface="华文新魏" pitchFamily="2" charset="-122"/>
                <a:ea typeface="华文新魏" pitchFamily="2" charset="-122"/>
              </a:rPr>
              <a:t>P0.0</a:t>
            </a:r>
            <a:r>
              <a:rPr lang="zh-CN" altLang="en-US" sz="2000">
                <a:latin typeface="华文新魏" pitchFamily="2" charset="-122"/>
                <a:ea typeface="华文新魏" pitchFamily="2" charset="-122"/>
              </a:rPr>
              <a:t>选择</a:t>
            </a:r>
            <a:r>
              <a:rPr lang="en-US" altLang="zh-CN" sz="2000">
                <a:latin typeface="华文新魏" pitchFamily="2" charset="-122"/>
                <a:ea typeface="华文新魏" pitchFamily="2" charset="-122"/>
              </a:rPr>
              <a:t>PWM1</a:t>
            </a:r>
            <a:r>
              <a:rPr lang="zh-CN" altLang="en-US" sz="2000">
                <a:latin typeface="华文新魏" pitchFamily="2" charset="-122"/>
                <a:ea typeface="华文新魏" pitchFamily="2" charset="-122"/>
              </a:rPr>
              <a:t>功能，配置对应位为</a:t>
            </a:r>
            <a:r>
              <a:rPr lang="en-US" altLang="zh-CN" sz="2000">
                <a:latin typeface="华文新魏" pitchFamily="2" charset="-122"/>
                <a:ea typeface="华文新魏" pitchFamily="2" charset="-122"/>
              </a:rPr>
              <a:t>10</a:t>
            </a:r>
          </a:p>
        </p:txBody>
      </p:sp>
      <p:sp>
        <p:nvSpPr>
          <p:cNvPr id="331847" name="Text Box 71"/>
          <p:cNvSpPr txBox="1">
            <a:spLocks noChangeArrowheads="1"/>
          </p:cNvSpPr>
          <p:nvPr/>
        </p:nvSpPr>
        <p:spPr bwMode="auto">
          <a:xfrm>
            <a:off x="2784476" y="4367214"/>
            <a:ext cx="2087563" cy="1006475"/>
          </a:xfrm>
          <a:prstGeom prst="rect">
            <a:avLst/>
          </a:prstGeom>
          <a:solidFill>
            <a:srgbClr val="E5FFE5"/>
          </a:solidFill>
          <a:ln w="9525" algn="ctr">
            <a:noFill/>
            <a:miter lim="800000"/>
            <a:headEnd/>
            <a:tailEnd/>
          </a:ln>
          <a:effectLst>
            <a:outerShdw dist="35921" dir="2700000" algn="ctr" rotWithShape="0">
              <a:schemeClr val="bg2"/>
            </a:outerShdw>
          </a:effectLst>
        </p:spPr>
        <p:txBody>
          <a:bodyPr>
            <a:spAutoFit/>
          </a:bodyPr>
          <a:lstStyle/>
          <a:p>
            <a:pPr algn="l">
              <a:spcBef>
                <a:spcPct val="50000"/>
              </a:spcBef>
            </a:pPr>
            <a:r>
              <a:rPr lang="en-US" altLang="zh-CN" sz="2000">
                <a:latin typeface="华文新魏" pitchFamily="2" charset="-122"/>
                <a:ea typeface="华文新魏" pitchFamily="2" charset="-122"/>
              </a:rPr>
              <a:t>P0.0</a:t>
            </a:r>
            <a:r>
              <a:rPr lang="zh-CN" altLang="en-US" sz="2000">
                <a:latin typeface="华文新魏" pitchFamily="2" charset="-122"/>
                <a:ea typeface="华文新魏" pitchFamily="2" charset="-122"/>
              </a:rPr>
              <a:t>选择保留功能，配置对应位为</a:t>
            </a:r>
            <a:r>
              <a:rPr lang="en-US" altLang="zh-CN" sz="2000">
                <a:latin typeface="华文新魏" pitchFamily="2" charset="-122"/>
                <a:ea typeface="华文新魏" pitchFamily="2" charset="-122"/>
              </a:rPr>
              <a:t>11</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31779">
                                            <p:txEl>
                                              <p:pRg st="0" end="0"/>
                                            </p:txEl>
                                          </p:spTgt>
                                        </p:tgtEl>
                                        <p:attrNameLst>
                                          <p:attrName>style.visibility</p:attrName>
                                        </p:attrNameLst>
                                      </p:cBhvr>
                                      <p:to>
                                        <p:strVal val="visible"/>
                                      </p:to>
                                    </p:set>
                                    <p:anim calcmode="lin" valueType="num">
                                      <p:cBhvr additive="base">
                                        <p:cTn id="7" dur="500" fill="hold"/>
                                        <p:tgtEl>
                                          <p:spTgt spid="33177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31779">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331780"/>
                                        </p:tgtEl>
                                        <p:attrNameLst>
                                          <p:attrName>style.visibility</p:attrName>
                                        </p:attrNameLst>
                                      </p:cBhvr>
                                      <p:to>
                                        <p:strVal val="visible"/>
                                      </p:to>
                                    </p:set>
                                    <p:animEffect transition="in" filter="box(in)">
                                      <p:cBhvr>
                                        <p:cTn id="12" dur="500"/>
                                        <p:tgtEl>
                                          <p:spTgt spid="331780"/>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331837"/>
                                        </p:tgtEl>
                                        <p:attrNameLst>
                                          <p:attrName>style.visibility</p:attrName>
                                        </p:attrNameLst>
                                      </p:cBhvr>
                                      <p:to>
                                        <p:strVal val="visible"/>
                                      </p:to>
                                    </p:set>
                                    <p:animEffect transition="in" filter="wipe(left)">
                                      <p:cBhvr>
                                        <p:cTn id="16" dur="500"/>
                                        <p:tgtEl>
                                          <p:spTgt spid="331837"/>
                                        </p:tgtEl>
                                      </p:cBhvr>
                                    </p:animEffect>
                                  </p:childTnLst>
                                </p:cTn>
                              </p:par>
                            </p:childTnLst>
                          </p:cTn>
                        </p:par>
                        <p:par>
                          <p:cTn id="17" fill="hold">
                            <p:stCondLst>
                              <p:cond delay="1500"/>
                            </p:stCondLst>
                            <p:childTnLst>
                              <p:par>
                                <p:cTn id="18" presetID="22" presetClass="entr" presetSubtype="1" fill="hold" grpId="0" nodeType="afterEffect">
                                  <p:stCondLst>
                                    <p:cond delay="0"/>
                                  </p:stCondLst>
                                  <p:childTnLst>
                                    <p:set>
                                      <p:cBhvr>
                                        <p:cTn id="19" dur="1" fill="hold">
                                          <p:stCondLst>
                                            <p:cond delay="0"/>
                                          </p:stCondLst>
                                        </p:cTn>
                                        <p:tgtEl>
                                          <p:spTgt spid="331844"/>
                                        </p:tgtEl>
                                        <p:attrNameLst>
                                          <p:attrName>style.visibility</p:attrName>
                                        </p:attrNameLst>
                                      </p:cBhvr>
                                      <p:to>
                                        <p:strVal val="visible"/>
                                      </p:to>
                                    </p:set>
                                    <p:animEffect transition="in" filter="wipe(up)">
                                      <p:cBhvr>
                                        <p:cTn id="20" dur="500"/>
                                        <p:tgtEl>
                                          <p:spTgt spid="331844"/>
                                        </p:tgtEl>
                                      </p:cBhvr>
                                    </p:animEffect>
                                  </p:childTnLst>
                                </p:cTn>
                              </p:par>
                            </p:childTnLst>
                          </p:cTn>
                        </p:par>
                        <p:par>
                          <p:cTn id="21" fill="hold">
                            <p:stCondLst>
                              <p:cond delay="2000"/>
                            </p:stCondLst>
                            <p:childTnLst>
                              <p:par>
                                <p:cTn id="22" presetID="12" presetClass="entr" presetSubtype="1" fill="hold" nodeType="afterEffect">
                                  <p:stCondLst>
                                    <p:cond delay="0"/>
                                  </p:stCondLst>
                                  <p:childTnLst>
                                    <p:set>
                                      <p:cBhvr>
                                        <p:cTn id="23" dur="1" fill="hold">
                                          <p:stCondLst>
                                            <p:cond delay="0"/>
                                          </p:stCondLst>
                                        </p:cTn>
                                        <p:tgtEl>
                                          <p:spTgt spid="331835"/>
                                        </p:tgtEl>
                                        <p:attrNameLst>
                                          <p:attrName>style.visibility</p:attrName>
                                        </p:attrNameLst>
                                      </p:cBhvr>
                                      <p:to>
                                        <p:strVal val="visible"/>
                                      </p:to>
                                    </p:set>
                                    <p:animEffect transition="in" filter="slide(fromTop)">
                                      <p:cBhvr>
                                        <p:cTn id="24" dur="500"/>
                                        <p:tgtEl>
                                          <p:spTgt spid="331835"/>
                                        </p:tgtEl>
                                      </p:cBhvr>
                                    </p:animEffect>
                                  </p:childTnLst>
                                </p:cTn>
                              </p:par>
                            </p:childTnLst>
                          </p:cTn>
                        </p:par>
                        <p:par>
                          <p:cTn id="25" fill="hold">
                            <p:stCondLst>
                              <p:cond delay="2500"/>
                            </p:stCondLst>
                            <p:childTnLst>
                              <p:par>
                                <p:cTn id="26" presetID="1" presetClass="entr" presetSubtype="0" fill="hold" grpId="0" nodeType="afterEffect">
                                  <p:stCondLst>
                                    <p:cond delay="0"/>
                                  </p:stCondLst>
                                  <p:childTnLst>
                                    <p:set>
                                      <p:cBhvr>
                                        <p:cTn id="27" dur="1" fill="hold">
                                          <p:stCondLst>
                                            <p:cond delay="0"/>
                                          </p:stCondLst>
                                        </p:cTn>
                                        <p:tgtEl>
                                          <p:spTgt spid="33183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1" nodeType="clickEffect">
                                  <p:stCondLst>
                                    <p:cond delay="0"/>
                                  </p:stCondLst>
                                  <p:childTnLst>
                                    <p:set>
                                      <p:cBhvr>
                                        <p:cTn id="31" dur="1" fill="hold">
                                          <p:stCondLst>
                                            <p:cond delay="0"/>
                                          </p:stCondLst>
                                        </p:cTn>
                                        <p:tgtEl>
                                          <p:spTgt spid="331838"/>
                                        </p:tgtEl>
                                        <p:attrNameLst>
                                          <p:attrName>style.visibility</p:attrName>
                                        </p:attrNameLst>
                                      </p:cBhvr>
                                      <p:to>
                                        <p:strVal val="hidden"/>
                                      </p:to>
                                    </p:set>
                                  </p:childTnLst>
                                </p:cTn>
                              </p:par>
                              <p:par>
                                <p:cTn id="32" presetID="1" presetClass="exit" presetSubtype="0" fill="hold" grpId="1" nodeType="withEffect">
                                  <p:stCondLst>
                                    <p:cond delay="0"/>
                                  </p:stCondLst>
                                  <p:childTnLst>
                                    <p:set>
                                      <p:cBhvr>
                                        <p:cTn id="33" dur="1" fill="hold">
                                          <p:stCondLst>
                                            <p:cond delay="0"/>
                                          </p:stCondLst>
                                        </p:cTn>
                                        <p:tgtEl>
                                          <p:spTgt spid="331844"/>
                                        </p:tgtEl>
                                        <p:attrNameLst>
                                          <p:attrName>style.visibility</p:attrName>
                                        </p:attrNameLst>
                                      </p:cBhvr>
                                      <p:to>
                                        <p:strVal val="hidden"/>
                                      </p:to>
                                    </p:set>
                                  </p:childTnLst>
                                </p:cTn>
                              </p:par>
                              <p:par>
                                <p:cTn id="34" presetID="22" presetClass="entr" presetSubtype="1" fill="hold" grpId="0" nodeType="withEffect">
                                  <p:stCondLst>
                                    <p:cond delay="0"/>
                                  </p:stCondLst>
                                  <p:childTnLst>
                                    <p:set>
                                      <p:cBhvr>
                                        <p:cTn id="35" dur="1" fill="hold">
                                          <p:stCondLst>
                                            <p:cond delay="0"/>
                                          </p:stCondLst>
                                        </p:cTn>
                                        <p:tgtEl>
                                          <p:spTgt spid="331845"/>
                                        </p:tgtEl>
                                        <p:attrNameLst>
                                          <p:attrName>style.visibility</p:attrName>
                                        </p:attrNameLst>
                                      </p:cBhvr>
                                      <p:to>
                                        <p:strVal val="visible"/>
                                      </p:to>
                                    </p:set>
                                    <p:animEffect transition="in" filter="wipe(up)">
                                      <p:cBhvr>
                                        <p:cTn id="36" dur="500"/>
                                        <p:tgtEl>
                                          <p:spTgt spid="331845"/>
                                        </p:tgtEl>
                                      </p:cBhvr>
                                    </p:animEffect>
                                  </p:childTnLst>
                                </p:cTn>
                              </p:par>
                            </p:childTnLst>
                          </p:cTn>
                        </p:par>
                        <p:par>
                          <p:cTn id="37" fill="hold">
                            <p:stCondLst>
                              <p:cond delay="500"/>
                            </p:stCondLst>
                            <p:childTnLst>
                              <p:par>
                                <p:cTn id="38" presetID="12" presetClass="entr" presetSubtype="1" fill="hold" grpId="0" nodeType="afterEffect">
                                  <p:stCondLst>
                                    <p:cond delay="0"/>
                                  </p:stCondLst>
                                  <p:childTnLst>
                                    <p:set>
                                      <p:cBhvr>
                                        <p:cTn id="39" dur="1" fill="hold">
                                          <p:stCondLst>
                                            <p:cond delay="0"/>
                                          </p:stCondLst>
                                        </p:cTn>
                                        <p:tgtEl>
                                          <p:spTgt spid="331834"/>
                                        </p:tgtEl>
                                        <p:attrNameLst>
                                          <p:attrName>style.visibility</p:attrName>
                                        </p:attrNameLst>
                                      </p:cBhvr>
                                      <p:to>
                                        <p:strVal val="visible"/>
                                      </p:to>
                                    </p:set>
                                    <p:animEffect transition="in" filter="slide(fromTop)">
                                      <p:cBhvr>
                                        <p:cTn id="40" dur="500"/>
                                        <p:tgtEl>
                                          <p:spTgt spid="331834"/>
                                        </p:tgtEl>
                                      </p:cBhvr>
                                    </p:animEffect>
                                  </p:childTnLst>
                                </p:cTn>
                              </p:par>
                            </p:childTnLst>
                          </p:cTn>
                        </p:par>
                        <p:par>
                          <p:cTn id="41" fill="hold">
                            <p:stCondLst>
                              <p:cond delay="1000"/>
                            </p:stCondLst>
                            <p:childTnLst>
                              <p:par>
                                <p:cTn id="42" presetID="1" presetClass="entr" presetSubtype="0" fill="hold" grpId="0" nodeType="afterEffect">
                                  <p:stCondLst>
                                    <p:cond delay="0"/>
                                  </p:stCondLst>
                                  <p:childTnLst>
                                    <p:set>
                                      <p:cBhvr>
                                        <p:cTn id="43" dur="1" fill="hold">
                                          <p:stCondLst>
                                            <p:cond delay="0"/>
                                          </p:stCondLst>
                                        </p:cTn>
                                        <p:tgtEl>
                                          <p:spTgt spid="33183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1" nodeType="clickEffect">
                                  <p:stCondLst>
                                    <p:cond delay="0"/>
                                  </p:stCondLst>
                                  <p:childTnLst>
                                    <p:set>
                                      <p:cBhvr>
                                        <p:cTn id="47" dur="1" fill="hold">
                                          <p:stCondLst>
                                            <p:cond delay="0"/>
                                          </p:stCondLst>
                                        </p:cTn>
                                        <p:tgtEl>
                                          <p:spTgt spid="331839"/>
                                        </p:tgtEl>
                                        <p:attrNameLst>
                                          <p:attrName>style.visibility</p:attrName>
                                        </p:attrNameLst>
                                      </p:cBhvr>
                                      <p:to>
                                        <p:strVal val="hidden"/>
                                      </p:to>
                                    </p:set>
                                  </p:childTnLst>
                                </p:cTn>
                              </p:par>
                              <p:par>
                                <p:cTn id="48" presetID="1" presetClass="exit" presetSubtype="0" fill="hold" grpId="1" nodeType="withEffect">
                                  <p:stCondLst>
                                    <p:cond delay="0"/>
                                  </p:stCondLst>
                                  <p:childTnLst>
                                    <p:set>
                                      <p:cBhvr>
                                        <p:cTn id="49" dur="1" fill="hold">
                                          <p:stCondLst>
                                            <p:cond delay="0"/>
                                          </p:stCondLst>
                                        </p:cTn>
                                        <p:tgtEl>
                                          <p:spTgt spid="331845"/>
                                        </p:tgtEl>
                                        <p:attrNameLst>
                                          <p:attrName>style.visibility</p:attrName>
                                        </p:attrNameLst>
                                      </p:cBhvr>
                                      <p:to>
                                        <p:strVal val="hidden"/>
                                      </p:to>
                                    </p:set>
                                  </p:childTnLst>
                                </p:cTn>
                              </p:par>
                              <p:par>
                                <p:cTn id="50" presetID="22" presetClass="entr" presetSubtype="1" fill="hold" grpId="0" nodeType="withEffect">
                                  <p:stCondLst>
                                    <p:cond delay="0"/>
                                  </p:stCondLst>
                                  <p:childTnLst>
                                    <p:set>
                                      <p:cBhvr>
                                        <p:cTn id="51" dur="1" fill="hold">
                                          <p:stCondLst>
                                            <p:cond delay="0"/>
                                          </p:stCondLst>
                                        </p:cTn>
                                        <p:tgtEl>
                                          <p:spTgt spid="331846"/>
                                        </p:tgtEl>
                                        <p:attrNameLst>
                                          <p:attrName>style.visibility</p:attrName>
                                        </p:attrNameLst>
                                      </p:cBhvr>
                                      <p:to>
                                        <p:strVal val="visible"/>
                                      </p:to>
                                    </p:set>
                                    <p:animEffect transition="in" filter="wipe(up)">
                                      <p:cBhvr>
                                        <p:cTn id="52" dur="500"/>
                                        <p:tgtEl>
                                          <p:spTgt spid="331846"/>
                                        </p:tgtEl>
                                      </p:cBhvr>
                                    </p:animEffect>
                                  </p:childTnLst>
                                </p:cTn>
                              </p:par>
                            </p:childTnLst>
                          </p:cTn>
                        </p:par>
                        <p:par>
                          <p:cTn id="53" fill="hold">
                            <p:stCondLst>
                              <p:cond delay="500"/>
                            </p:stCondLst>
                            <p:childTnLst>
                              <p:par>
                                <p:cTn id="54" presetID="12" presetClass="entr" presetSubtype="1" fill="hold" grpId="0" nodeType="afterEffect">
                                  <p:stCondLst>
                                    <p:cond delay="0"/>
                                  </p:stCondLst>
                                  <p:childTnLst>
                                    <p:set>
                                      <p:cBhvr>
                                        <p:cTn id="55" dur="1" fill="hold">
                                          <p:stCondLst>
                                            <p:cond delay="0"/>
                                          </p:stCondLst>
                                        </p:cTn>
                                        <p:tgtEl>
                                          <p:spTgt spid="331842"/>
                                        </p:tgtEl>
                                        <p:attrNameLst>
                                          <p:attrName>style.visibility</p:attrName>
                                        </p:attrNameLst>
                                      </p:cBhvr>
                                      <p:to>
                                        <p:strVal val="visible"/>
                                      </p:to>
                                    </p:set>
                                    <p:animEffect transition="in" filter="slide(fromTop)">
                                      <p:cBhvr>
                                        <p:cTn id="56" dur="500"/>
                                        <p:tgtEl>
                                          <p:spTgt spid="331842"/>
                                        </p:tgtEl>
                                      </p:cBhvr>
                                    </p:animEffect>
                                  </p:childTnLst>
                                </p:cTn>
                              </p:par>
                            </p:childTnLst>
                          </p:cTn>
                        </p:par>
                        <p:par>
                          <p:cTn id="57" fill="hold">
                            <p:stCondLst>
                              <p:cond delay="1000"/>
                            </p:stCondLst>
                            <p:childTnLst>
                              <p:par>
                                <p:cTn id="58" presetID="1" presetClass="entr" presetSubtype="0" fill="hold" grpId="0" nodeType="afterEffect">
                                  <p:stCondLst>
                                    <p:cond delay="0"/>
                                  </p:stCondLst>
                                  <p:childTnLst>
                                    <p:set>
                                      <p:cBhvr>
                                        <p:cTn id="59" dur="1" fill="hold">
                                          <p:stCondLst>
                                            <p:cond delay="0"/>
                                          </p:stCondLst>
                                        </p:cTn>
                                        <p:tgtEl>
                                          <p:spTgt spid="331840"/>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xit" presetSubtype="0" fill="hold" grpId="1" nodeType="clickEffect">
                                  <p:stCondLst>
                                    <p:cond delay="0"/>
                                  </p:stCondLst>
                                  <p:childTnLst>
                                    <p:set>
                                      <p:cBhvr>
                                        <p:cTn id="63" dur="1" fill="hold">
                                          <p:stCondLst>
                                            <p:cond delay="0"/>
                                          </p:stCondLst>
                                        </p:cTn>
                                        <p:tgtEl>
                                          <p:spTgt spid="331840"/>
                                        </p:tgtEl>
                                        <p:attrNameLst>
                                          <p:attrName>style.visibility</p:attrName>
                                        </p:attrNameLst>
                                      </p:cBhvr>
                                      <p:to>
                                        <p:strVal val="hidden"/>
                                      </p:to>
                                    </p:set>
                                  </p:childTnLst>
                                </p:cTn>
                              </p:par>
                              <p:par>
                                <p:cTn id="64" presetID="1" presetClass="exit" presetSubtype="0" fill="hold" grpId="1" nodeType="withEffect">
                                  <p:stCondLst>
                                    <p:cond delay="0"/>
                                  </p:stCondLst>
                                  <p:childTnLst>
                                    <p:set>
                                      <p:cBhvr>
                                        <p:cTn id="65" dur="1" fill="hold">
                                          <p:stCondLst>
                                            <p:cond delay="0"/>
                                          </p:stCondLst>
                                        </p:cTn>
                                        <p:tgtEl>
                                          <p:spTgt spid="331846"/>
                                        </p:tgtEl>
                                        <p:attrNameLst>
                                          <p:attrName>style.visibility</p:attrName>
                                        </p:attrNameLst>
                                      </p:cBhvr>
                                      <p:to>
                                        <p:strVal val="hidden"/>
                                      </p:to>
                                    </p:set>
                                  </p:childTnLst>
                                </p:cTn>
                              </p:par>
                              <p:par>
                                <p:cTn id="66" presetID="22" presetClass="entr" presetSubtype="1" fill="hold" grpId="0" nodeType="withEffect">
                                  <p:stCondLst>
                                    <p:cond delay="0"/>
                                  </p:stCondLst>
                                  <p:childTnLst>
                                    <p:set>
                                      <p:cBhvr>
                                        <p:cTn id="67" dur="1" fill="hold">
                                          <p:stCondLst>
                                            <p:cond delay="0"/>
                                          </p:stCondLst>
                                        </p:cTn>
                                        <p:tgtEl>
                                          <p:spTgt spid="331847"/>
                                        </p:tgtEl>
                                        <p:attrNameLst>
                                          <p:attrName>style.visibility</p:attrName>
                                        </p:attrNameLst>
                                      </p:cBhvr>
                                      <p:to>
                                        <p:strVal val="visible"/>
                                      </p:to>
                                    </p:set>
                                    <p:animEffect transition="in" filter="wipe(up)">
                                      <p:cBhvr>
                                        <p:cTn id="68" dur="500"/>
                                        <p:tgtEl>
                                          <p:spTgt spid="331847"/>
                                        </p:tgtEl>
                                      </p:cBhvr>
                                    </p:animEffect>
                                  </p:childTnLst>
                                </p:cTn>
                              </p:par>
                            </p:childTnLst>
                          </p:cTn>
                        </p:par>
                        <p:par>
                          <p:cTn id="69" fill="hold">
                            <p:stCondLst>
                              <p:cond delay="500"/>
                            </p:stCondLst>
                            <p:childTnLst>
                              <p:par>
                                <p:cTn id="70" presetID="12" presetClass="entr" presetSubtype="1" fill="hold" nodeType="afterEffect">
                                  <p:stCondLst>
                                    <p:cond delay="0"/>
                                  </p:stCondLst>
                                  <p:childTnLst>
                                    <p:set>
                                      <p:cBhvr>
                                        <p:cTn id="71" dur="1" fill="hold">
                                          <p:stCondLst>
                                            <p:cond delay="0"/>
                                          </p:stCondLst>
                                        </p:cTn>
                                        <p:tgtEl>
                                          <p:spTgt spid="331843"/>
                                        </p:tgtEl>
                                        <p:attrNameLst>
                                          <p:attrName>style.visibility</p:attrName>
                                        </p:attrNameLst>
                                      </p:cBhvr>
                                      <p:to>
                                        <p:strVal val="visible"/>
                                      </p:to>
                                    </p:set>
                                    <p:animEffect transition="in" filter="slide(fromTop)">
                                      <p:cBhvr>
                                        <p:cTn id="72" dur="500"/>
                                        <p:tgtEl>
                                          <p:spTgt spid="331843"/>
                                        </p:tgtEl>
                                      </p:cBhvr>
                                    </p:animEffect>
                                  </p:childTnLst>
                                </p:cTn>
                              </p:par>
                            </p:childTnLst>
                          </p:cTn>
                        </p:par>
                        <p:par>
                          <p:cTn id="73" fill="hold">
                            <p:stCondLst>
                              <p:cond delay="1000"/>
                            </p:stCondLst>
                            <p:childTnLst>
                              <p:par>
                                <p:cTn id="74" presetID="1" presetClass="entr" presetSubtype="0" fill="hold" grpId="0" nodeType="afterEffect">
                                  <p:stCondLst>
                                    <p:cond delay="0"/>
                                  </p:stCondLst>
                                  <p:childTnLst>
                                    <p:set>
                                      <p:cBhvr>
                                        <p:cTn id="75" dur="1" fill="hold">
                                          <p:stCondLst>
                                            <p:cond delay="0"/>
                                          </p:stCondLst>
                                        </p:cTn>
                                        <p:tgtEl>
                                          <p:spTgt spid="3318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779" grpId="0" build="p"/>
      <p:bldP spid="331780" grpId="0"/>
      <p:bldP spid="331834" grpId="0" animBg="1"/>
      <p:bldP spid="331838" grpId="0" animBg="1"/>
      <p:bldP spid="331838" grpId="1" animBg="1"/>
      <p:bldP spid="331839" grpId="0" animBg="1"/>
      <p:bldP spid="331839" grpId="1" animBg="1"/>
      <p:bldP spid="331840" grpId="0" animBg="1"/>
      <p:bldP spid="331840" grpId="1" animBg="1"/>
      <p:bldP spid="331841" grpId="0" animBg="1"/>
      <p:bldP spid="331842" grpId="0" animBg="1"/>
      <p:bldP spid="331844" grpId="0" animBg="1"/>
      <p:bldP spid="331844" grpId="1" animBg="1"/>
      <p:bldP spid="331845" grpId="0" animBg="1"/>
      <p:bldP spid="331845" grpId="1" animBg="1"/>
      <p:bldP spid="331846" grpId="0" animBg="1"/>
      <p:bldP spid="331846" grpId="1" animBg="1"/>
      <p:bldP spid="33184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p:cNvSpPr>
            <a:spLocks noGrp="1" noChangeArrowheads="1"/>
          </p:cNvSpPr>
          <p:nvPr>
            <p:ph type="title"/>
          </p:nvPr>
        </p:nvSpPr>
        <p:spPr/>
        <p:txBody>
          <a:bodyPr/>
          <a:lstStyle/>
          <a:p>
            <a:r>
              <a:rPr lang="en-US" altLang="zh-CN" dirty="0">
                <a:solidFill>
                  <a:schemeClr val="tx1"/>
                </a:solidFill>
              </a:rPr>
              <a:t>5.2.1  </a:t>
            </a:r>
            <a:r>
              <a:rPr lang="zh-CN" altLang="en-US" dirty="0">
                <a:solidFill>
                  <a:schemeClr val="tx1"/>
                </a:solidFill>
              </a:rPr>
              <a:t>引脚连接模块</a:t>
            </a:r>
          </a:p>
        </p:txBody>
      </p:sp>
      <p:graphicFrame>
        <p:nvGraphicFramePr>
          <p:cNvPr id="338996" name="Group 52"/>
          <p:cNvGraphicFramePr>
            <a:graphicFrameLocks noGrp="1"/>
          </p:cNvGraphicFramePr>
          <p:nvPr>
            <p:ph type="tbl" idx="1"/>
          </p:nvPr>
        </p:nvGraphicFramePr>
        <p:xfrm>
          <a:off x="2135189" y="3933826"/>
          <a:ext cx="7921625" cy="2291525"/>
        </p:xfrm>
        <a:graphic>
          <a:graphicData uri="http://schemas.openxmlformats.org/drawingml/2006/table">
            <a:tbl>
              <a:tblPr/>
              <a:tblGrid>
                <a:gridCol w="1601787">
                  <a:extLst>
                    <a:ext uri="{9D8B030D-6E8A-4147-A177-3AD203B41FA5}">
                      <a16:colId xmlns:a16="http://schemas.microsoft.com/office/drawing/2014/main" val="20000"/>
                    </a:ext>
                  </a:extLst>
                </a:gridCol>
                <a:gridCol w="1760538">
                  <a:extLst>
                    <a:ext uri="{9D8B030D-6E8A-4147-A177-3AD203B41FA5}">
                      <a16:colId xmlns:a16="http://schemas.microsoft.com/office/drawing/2014/main" val="20001"/>
                    </a:ext>
                  </a:extLst>
                </a:gridCol>
                <a:gridCol w="4559300">
                  <a:extLst>
                    <a:ext uri="{9D8B030D-6E8A-4147-A177-3AD203B41FA5}">
                      <a16:colId xmlns:a16="http://schemas.microsoft.com/office/drawing/2014/main" val="20002"/>
                    </a:ext>
                  </a:extLst>
                </a:gridCol>
              </a:tblGrid>
              <a:tr h="2714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0" i="0" u="none" strike="noStrike" cap="none" normalizeH="0" baseline="0">
                          <a:ln>
                            <a:noFill/>
                          </a:ln>
                          <a:solidFill>
                            <a:schemeClr val="tx1"/>
                          </a:solidFill>
                          <a:effectLst/>
                          <a:latin typeface="Times New Roman" pitchFamily="18" charset="0"/>
                          <a:ea typeface="华文新魏" pitchFamily="2" charset="-122"/>
                        </a:rPr>
                        <a:t>寄存器</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5FFE5"/>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华文新魏" pitchFamily="2" charset="-122"/>
                        </a:rPr>
                        <a:t>LPC2100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5FFE5"/>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华文新魏" pitchFamily="2" charset="-122"/>
                        </a:rPr>
                        <a:t>LPC2200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5FFE5"/>
                    </a:solidFill>
                  </a:tcPr>
                </a:tc>
                <a:extLst>
                  <a:ext uri="{0D108BD9-81ED-4DB2-BD59-A6C34878D82A}">
                    <a16:rowId xmlns:a16="http://schemas.microsoft.com/office/drawing/2014/main" val="10000"/>
                  </a:ext>
                </a:extLst>
              </a:tr>
              <a:tr h="4810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华文新魏" pitchFamily="2" charset="-122"/>
                        </a:rPr>
                        <a:t>PINSEL0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华文新魏" pitchFamily="2" charset="-122"/>
                        </a:rPr>
                        <a:t>P0[0:15]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1"/>
                  </a:ext>
                </a:extLst>
              </a:tr>
              <a:tr h="2714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华文新魏" pitchFamily="2" charset="-122"/>
                        </a:rPr>
                        <a:t>PINSEL1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华文新魏" pitchFamily="2" charset="-122"/>
                        </a:rPr>
                        <a:t>P0[16:31]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2"/>
                  </a:ext>
                </a:extLst>
              </a:tr>
              <a:tr h="2698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华文新魏" pitchFamily="2" charset="-122"/>
                        </a:rPr>
                        <a:t>PINSEL2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华文新魏" pitchFamily="2" charset="-122"/>
                        </a:rPr>
                        <a:t>P1[16:31]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华文新魏" pitchFamily="2" charset="-122"/>
                        </a:rPr>
                        <a:t>P1[0:1]</a:t>
                      </a:r>
                      <a:r>
                        <a:rPr kumimoji="1" lang="zh-CN" altLang="en-US" sz="2400" b="0" i="0" u="none" strike="noStrike" cap="none" normalizeH="0" baseline="0">
                          <a:ln>
                            <a:noFill/>
                          </a:ln>
                          <a:solidFill>
                            <a:schemeClr val="tx1"/>
                          </a:solidFill>
                          <a:effectLst/>
                          <a:latin typeface="Times New Roman" pitchFamily="18" charset="0"/>
                          <a:ea typeface="华文新魏" pitchFamily="2" charset="-122"/>
                        </a:rPr>
                        <a:t>、  </a:t>
                      </a:r>
                      <a:r>
                        <a:rPr kumimoji="1" lang="en-US" altLang="zh-CN" sz="2400" b="0" i="0" u="none" strike="noStrike" cap="none" normalizeH="0" baseline="0">
                          <a:ln>
                            <a:noFill/>
                          </a:ln>
                          <a:solidFill>
                            <a:schemeClr val="tx1"/>
                          </a:solidFill>
                          <a:effectLst/>
                          <a:latin typeface="Times New Roman" pitchFamily="18" charset="0"/>
                          <a:ea typeface="华文新魏" pitchFamily="2" charset="-122"/>
                        </a:rPr>
                        <a:t>P1[16:31]</a:t>
                      </a:r>
                      <a:r>
                        <a:rPr kumimoji="1" lang="zh-CN" altLang="en-US" sz="2400" b="0" i="0" u="none" strike="noStrike" cap="none" normalizeH="0" baseline="0">
                          <a:ln>
                            <a:noFill/>
                          </a:ln>
                          <a:solidFill>
                            <a:schemeClr val="tx1"/>
                          </a:solidFill>
                          <a:effectLst/>
                          <a:latin typeface="Times New Roman" pitchFamily="18" charset="0"/>
                          <a:ea typeface="华文新魏" pitchFamily="2" charset="-122"/>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华文新魏" pitchFamily="2" charset="-122"/>
                        </a:rPr>
                        <a:t>P2[0:31]</a:t>
                      </a:r>
                      <a:r>
                        <a:rPr kumimoji="1" lang="zh-CN" altLang="en-US" sz="2400" b="0" i="0" u="none" strike="noStrike" cap="none" normalizeH="0" baseline="0">
                          <a:ln>
                            <a:noFill/>
                          </a:ln>
                          <a:solidFill>
                            <a:schemeClr val="tx1"/>
                          </a:solidFill>
                          <a:effectLst/>
                          <a:latin typeface="Times New Roman" pitchFamily="18" charset="0"/>
                          <a:ea typeface="华文新魏" pitchFamily="2" charset="-122"/>
                        </a:rPr>
                        <a:t>、</a:t>
                      </a:r>
                      <a:r>
                        <a:rPr kumimoji="1" lang="en-US" altLang="zh-CN" sz="2400" b="0" i="0" u="none" strike="noStrike" cap="none" normalizeH="0" baseline="0">
                          <a:ln>
                            <a:noFill/>
                          </a:ln>
                          <a:solidFill>
                            <a:schemeClr val="tx1"/>
                          </a:solidFill>
                          <a:effectLst/>
                          <a:latin typeface="Times New Roman" pitchFamily="18" charset="0"/>
                          <a:ea typeface="华文新魏" pitchFamily="2" charset="-122"/>
                        </a:rPr>
                        <a:t>P3[0:31]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DE6FF"/>
                    </a:solidFill>
                  </a:tcPr>
                </a:tc>
                <a:extLst>
                  <a:ext uri="{0D108BD9-81ED-4DB2-BD59-A6C34878D82A}">
                    <a16:rowId xmlns:a16="http://schemas.microsoft.com/office/drawing/2014/main" val="10003"/>
                  </a:ext>
                </a:extLst>
              </a:tr>
            </a:tbl>
          </a:graphicData>
        </a:graphic>
      </p:graphicFrame>
      <p:sp>
        <p:nvSpPr>
          <p:cNvPr id="338947" name="Text Box 3"/>
          <p:cNvSpPr txBox="1">
            <a:spLocks noChangeArrowheads="1"/>
          </p:cNvSpPr>
          <p:nvPr/>
        </p:nvSpPr>
        <p:spPr bwMode="auto">
          <a:xfrm>
            <a:off x="2495551" y="2565401"/>
            <a:ext cx="7345363" cy="1200329"/>
          </a:xfrm>
          <a:prstGeom prst="rect">
            <a:avLst/>
          </a:prstGeom>
          <a:noFill/>
          <a:ln w="9525">
            <a:noFill/>
            <a:miter lim="800000"/>
            <a:headEnd/>
            <a:tailEnd/>
          </a:ln>
          <a:effectLst/>
        </p:spPr>
        <p:txBody>
          <a:bodyPr>
            <a:spAutoFit/>
          </a:bodyPr>
          <a:lstStyle/>
          <a:p>
            <a:pPr algn="l">
              <a:spcBef>
                <a:spcPct val="50000"/>
              </a:spcBef>
              <a:buClr>
                <a:schemeClr val="accent2"/>
              </a:buClr>
            </a:pPr>
            <a:r>
              <a:rPr lang="en-US" altLang="zh-CN" sz="2400">
                <a:latin typeface="Times New Roman" pitchFamily="18" charset="0"/>
                <a:ea typeface="华文新魏" pitchFamily="2" charset="-122"/>
              </a:rPr>
              <a:t>        LPC2000</a:t>
            </a:r>
            <a:r>
              <a:rPr lang="zh-CN" altLang="en-US" sz="2400">
                <a:latin typeface="Times New Roman" pitchFamily="18" charset="0"/>
                <a:ea typeface="华文新魏" pitchFamily="2" charset="-122"/>
              </a:rPr>
              <a:t>系列微控制器具有三个</a:t>
            </a:r>
            <a:r>
              <a:rPr lang="en-US" altLang="zh-CN" sz="2400">
                <a:latin typeface="Times New Roman" pitchFamily="18" charset="0"/>
                <a:ea typeface="华文新魏" pitchFamily="2" charset="-122"/>
              </a:rPr>
              <a:t>32</a:t>
            </a:r>
            <a:r>
              <a:rPr lang="zh-CN" altLang="en-US" sz="2400">
                <a:latin typeface="Times New Roman" pitchFamily="18" charset="0"/>
                <a:ea typeface="华文新魏" pitchFamily="2" charset="-122"/>
              </a:rPr>
              <a:t>位宽度</a:t>
            </a:r>
            <a:r>
              <a:rPr lang="en-US" altLang="zh-CN" sz="2400">
                <a:latin typeface="Times New Roman" pitchFamily="18" charset="0"/>
                <a:ea typeface="华文新魏" pitchFamily="2" charset="-122"/>
              </a:rPr>
              <a:t>PINSEL</a:t>
            </a:r>
            <a:r>
              <a:rPr lang="zh-CN" altLang="en-US" sz="2400">
                <a:latin typeface="Times New Roman" pitchFamily="18" charset="0"/>
                <a:ea typeface="华文新魏" pitchFamily="2" charset="-122"/>
              </a:rPr>
              <a:t>寄存器，其中</a:t>
            </a:r>
            <a:r>
              <a:rPr lang="en-US" altLang="zh-CN" sz="2400">
                <a:latin typeface="Times New Roman" pitchFamily="18" charset="0"/>
                <a:ea typeface="华文新魏" pitchFamily="2" charset="-122"/>
              </a:rPr>
              <a:t>PINSEL0</a:t>
            </a:r>
            <a:r>
              <a:rPr lang="zh-CN" altLang="en-US" sz="2400">
                <a:latin typeface="Times New Roman" pitchFamily="18" charset="0"/>
                <a:ea typeface="华文新魏" pitchFamily="2" charset="-122"/>
              </a:rPr>
              <a:t>和</a:t>
            </a:r>
            <a:r>
              <a:rPr lang="en-US" altLang="zh-CN" sz="2400">
                <a:latin typeface="Times New Roman" pitchFamily="18" charset="0"/>
                <a:ea typeface="华文新魏" pitchFamily="2" charset="-122"/>
              </a:rPr>
              <a:t>PINSEL1</a:t>
            </a:r>
            <a:r>
              <a:rPr lang="zh-CN" altLang="en-US" sz="2400">
                <a:latin typeface="Times New Roman" pitchFamily="18" charset="0"/>
                <a:ea typeface="华文新魏" pitchFamily="2" charset="-122"/>
              </a:rPr>
              <a:t>控制端口</a:t>
            </a:r>
            <a:r>
              <a:rPr lang="en-US" altLang="zh-CN" sz="2400">
                <a:latin typeface="Times New Roman" pitchFamily="18" charset="0"/>
                <a:ea typeface="华文新魏" pitchFamily="2" charset="-122"/>
              </a:rPr>
              <a:t>0</a:t>
            </a:r>
            <a:r>
              <a:rPr lang="zh-CN" altLang="en-US" sz="2400">
                <a:latin typeface="Times New Roman" pitchFamily="18" charset="0"/>
                <a:ea typeface="华文新魏" pitchFamily="2" charset="-122"/>
              </a:rPr>
              <a:t>，</a:t>
            </a:r>
            <a:r>
              <a:rPr lang="en-US" altLang="zh-CN" sz="2400">
                <a:latin typeface="Times New Roman" pitchFamily="18" charset="0"/>
                <a:ea typeface="华文新魏" pitchFamily="2" charset="-122"/>
              </a:rPr>
              <a:t>PINSEL2</a:t>
            </a:r>
            <a:r>
              <a:rPr lang="zh-CN" altLang="en-US" sz="2400">
                <a:latin typeface="Times New Roman" pitchFamily="18" charset="0"/>
                <a:ea typeface="华文新魏" pitchFamily="2" charset="-122"/>
              </a:rPr>
              <a:t>根据芯片的不同控制的端口数量也不同 。</a:t>
            </a:r>
          </a:p>
        </p:txBody>
      </p:sp>
      <p:sp>
        <p:nvSpPr>
          <p:cNvPr id="338948" name="Rectangle 4"/>
          <p:cNvSpPr>
            <a:spLocks noChangeArrowheads="1"/>
          </p:cNvSpPr>
          <p:nvPr/>
        </p:nvSpPr>
        <p:spPr bwMode="auto">
          <a:xfrm>
            <a:off x="2209800" y="17002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寄存器描述</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38948">
                                            <p:txEl>
                                              <p:pRg st="0" end="0"/>
                                            </p:txEl>
                                          </p:spTgt>
                                        </p:tgtEl>
                                        <p:attrNameLst>
                                          <p:attrName>style.visibility</p:attrName>
                                        </p:attrNameLst>
                                      </p:cBhvr>
                                      <p:to>
                                        <p:strVal val="visible"/>
                                      </p:to>
                                    </p:set>
                                    <p:anim calcmode="lin" valueType="num">
                                      <p:cBhvr additive="base">
                                        <p:cTn id="7" dur="500" fill="hold"/>
                                        <p:tgtEl>
                                          <p:spTgt spid="33894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38948">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338947"/>
                                        </p:tgtEl>
                                        <p:attrNameLst>
                                          <p:attrName>style.visibility</p:attrName>
                                        </p:attrNameLst>
                                      </p:cBhvr>
                                      <p:to>
                                        <p:strVal val="visible"/>
                                      </p:to>
                                    </p:set>
                                    <p:animEffect transition="in" filter="box(in)">
                                      <p:cBhvr>
                                        <p:cTn id="12" dur="500"/>
                                        <p:tgtEl>
                                          <p:spTgt spid="338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7" grpId="0"/>
      <p:bldP spid="33894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a:lstStyle/>
          <a:p>
            <a:r>
              <a:rPr lang="en-US" altLang="zh-CN" dirty="0">
                <a:solidFill>
                  <a:schemeClr val="tx1"/>
                </a:solidFill>
              </a:rPr>
              <a:t>5.2.2  </a:t>
            </a:r>
            <a:r>
              <a:rPr lang="zh-CN" altLang="en-US" dirty="0">
                <a:solidFill>
                  <a:schemeClr val="tx1"/>
                </a:solidFill>
              </a:rPr>
              <a:t>引脚连接模块</a:t>
            </a:r>
          </a:p>
        </p:txBody>
      </p:sp>
      <p:sp>
        <p:nvSpPr>
          <p:cNvPr id="353284" name="Rectangle 4"/>
          <p:cNvSpPr>
            <a:spLocks noChangeArrowheads="1"/>
          </p:cNvSpPr>
          <p:nvPr/>
        </p:nvSpPr>
        <p:spPr bwMode="auto">
          <a:xfrm>
            <a:off x="2209800" y="17002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应用示例</a:t>
            </a:r>
          </a:p>
        </p:txBody>
      </p:sp>
      <p:sp>
        <p:nvSpPr>
          <p:cNvPr id="353286" name="Rectangle 6"/>
          <p:cNvSpPr>
            <a:spLocks noChangeArrowheads="1"/>
          </p:cNvSpPr>
          <p:nvPr/>
        </p:nvSpPr>
        <p:spPr bwMode="auto">
          <a:xfrm>
            <a:off x="3000375" y="4292601"/>
            <a:ext cx="6191250" cy="360363"/>
          </a:xfrm>
          <a:prstGeom prst="rect">
            <a:avLst/>
          </a:prstGeom>
          <a:solidFill>
            <a:srgbClr val="CDE6FF"/>
          </a:solidFill>
          <a:ln w="9525" algn="ctr">
            <a:solidFill>
              <a:schemeClr val="tx1"/>
            </a:solidFill>
            <a:miter lim="800000"/>
            <a:headEnd/>
            <a:tailEnd/>
          </a:ln>
          <a:effectLst/>
        </p:spPr>
        <p:txBody>
          <a:bodyPr/>
          <a:lstStyle/>
          <a:p>
            <a:pPr>
              <a:spcBef>
                <a:spcPct val="50000"/>
              </a:spcBef>
            </a:pPr>
            <a:r>
              <a:rPr lang="en-US" altLang="zh-CN" sz="1600">
                <a:ea typeface="华文新魏" pitchFamily="2" charset="-122"/>
              </a:rPr>
              <a:t>PINSEL0 = 0x05 &lt;&lt; 16;</a:t>
            </a:r>
          </a:p>
        </p:txBody>
      </p:sp>
      <p:sp>
        <p:nvSpPr>
          <p:cNvPr id="353288" name="Text Box 8"/>
          <p:cNvSpPr txBox="1">
            <a:spLocks noChangeArrowheads="1"/>
          </p:cNvSpPr>
          <p:nvPr/>
        </p:nvSpPr>
        <p:spPr bwMode="auto">
          <a:xfrm>
            <a:off x="2466976" y="2486025"/>
            <a:ext cx="7229475" cy="1754326"/>
          </a:xfrm>
          <a:prstGeom prst="rect">
            <a:avLst/>
          </a:prstGeom>
          <a:noFill/>
          <a:ln w="9525">
            <a:noFill/>
            <a:miter lim="800000"/>
            <a:headEnd/>
            <a:tailEnd/>
          </a:ln>
          <a:effectLst/>
        </p:spPr>
        <p:txBody>
          <a:bodyPr>
            <a:spAutoFit/>
          </a:bodyPr>
          <a:lstStyle/>
          <a:p>
            <a:pPr algn="l">
              <a:spcBef>
                <a:spcPct val="50000"/>
              </a:spcBef>
            </a:pPr>
            <a:r>
              <a:rPr lang="en-US" altLang="zh-CN" sz="2400" dirty="0">
                <a:latin typeface="华文新魏" pitchFamily="2" charset="-122"/>
                <a:ea typeface="华文新魏" pitchFamily="2" charset="-122"/>
              </a:rPr>
              <a:t>        </a:t>
            </a:r>
            <a:r>
              <a:rPr lang="zh-CN" altLang="en-US" sz="2400" dirty="0">
                <a:latin typeface="华文新魏" pitchFamily="2" charset="-122"/>
                <a:ea typeface="华文新魏" pitchFamily="2" charset="-122"/>
              </a:rPr>
              <a:t>要求将</a:t>
            </a:r>
            <a:r>
              <a:rPr lang="en-US" altLang="zh-CN" sz="2400" dirty="0">
                <a:latin typeface="华文新魏" pitchFamily="2" charset="-122"/>
                <a:ea typeface="华文新魏" pitchFamily="2" charset="-122"/>
              </a:rPr>
              <a:t>P0.8</a:t>
            </a:r>
            <a:r>
              <a:rPr lang="zh-CN" altLang="en-US" sz="2400" dirty="0">
                <a:latin typeface="华文新魏" pitchFamily="2" charset="-122"/>
                <a:ea typeface="华文新魏" pitchFamily="2" charset="-122"/>
              </a:rPr>
              <a:t>、</a:t>
            </a:r>
            <a:r>
              <a:rPr lang="en-US" altLang="zh-CN" sz="2400" dirty="0">
                <a:latin typeface="华文新魏" pitchFamily="2" charset="-122"/>
                <a:ea typeface="华文新魏" pitchFamily="2" charset="-122"/>
              </a:rPr>
              <a:t>P0.9</a:t>
            </a:r>
            <a:r>
              <a:rPr lang="zh-CN" altLang="en-US" sz="2400" dirty="0">
                <a:latin typeface="华文新魏" pitchFamily="2" charset="-122"/>
                <a:ea typeface="华文新魏" pitchFamily="2" charset="-122"/>
              </a:rPr>
              <a:t>设置为</a:t>
            </a:r>
            <a:r>
              <a:rPr lang="en-US" altLang="zh-CN" sz="2400" dirty="0">
                <a:latin typeface="华文新魏" pitchFamily="2" charset="-122"/>
                <a:ea typeface="华文新魏" pitchFamily="2" charset="-122"/>
              </a:rPr>
              <a:t>TxD1</a:t>
            </a:r>
            <a:r>
              <a:rPr lang="zh-CN" altLang="en-US" sz="2400" dirty="0">
                <a:latin typeface="华文新魏" pitchFamily="2" charset="-122"/>
                <a:ea typeface="华文新魏" pitchFamily="2" charset="-122"/>
              </a:rPr>
              <a:t>、</a:t>
            </a:r>
            <a:r>
              <a:rPr lang="en-US" altLang="zh-CN" sz="2400" dirty="0">
                <a:latin typeface="华文新魏" pitchFamily="2" charset="-122"/>
                <a:ea typeface="华文新魏" pitchFamily="2" charset="-122"/>
              </a:rPr>
              <a:t>RxD1</a:t>
            </a:r>
          </a:p>
          <a:p>
            <a:pPr algn="l">
              <a:spcBef>
                <a:spcPct val="50000"/>
              </a:spcBef>
            </a:pPr>
            <a:r>
              <a:rPr lang="en-US" altLang="zh-CN" sz="2400" dirty="0">
                <a:latin typeface="华文新魏" pitchFamily="2" charset="-122"/>
                <a:ea typeface="华文新魏" pitchFamily="2" charset="-122"/>
              </a:rPr>
              <a:t>        </a:t>
            </a:r>
            <a:r>
              <a:rPr lang="zh-CN" altLang="en-US" sz="2400" dirty="0">
                <a:latin typeface="华文新魏" pitchFamily="2" charset="-122"/>
                <a:ea typeface="华文新魏" pitchFamily="2" charset="-122"/>
              </a:rPr>
              <a:t>通过查阅</a:t>
            </a:r>
            <a:r>
              <a:rPr lang="en-US" altLang="zh-CN" sz="2400" dirty="0">
                <a:latin typeface="华文新魏" pitchFamily="2" charset="-122"/>
                <a:ea typeface="华文新魏" pitchFamily="2" charset="-122"/>
              </a:rPr>
              <a:t>PINSEL0</a:t>
            </a:r>
            <a:r>
              <a:rPr lang="zh-CN" altLang="en-US" sz="2400" dirty="0">
                <a:latin typeface="华文新魏" pitchFamily="2" charset="-122"/>
                <a:ea typeface="华文新魏" pitchFamily="2" charset="-122"/>
              </a:rPr>
              <a:t>寄存器设置表，得到</a:t>
            </a:r>
            <a:r>
              <a:rPr lang="en-US" altLang="zh-CN" sz="2400" dirty="0">
                <a:latin typeface="华文新魏" pitchFamily="2" charset="-122"/>
                <a:ea typeface="华文新魏" pitchFamily="2" charset="-122"/>
              </a:rPr>
              <a:t>P0.9</a:t>
            </a:r>
            <a:r>
              <a:rPr lang="zh-CN" altLang="en-US" sz="2400" dirty="0">
                <a:latin typeface="华文新魏" pitchFamily="2" charset="-122"/>
                <a:ea typeface="华文新魏" pitchFamily="2" charset="-122"/>
              </a:rPr>
              <a:t>和</a:t>
            </a:r>
            <a:r>
              <a:rPr lang="en-US" altLang="zh-CN" sz="2400" dirty="0">
                <a:latin typeface="华文新魏" pitchFamily="2" charset="-122"/>
                <a:ea typeface="华文新魏" pitchFamily="2" charset="-122"/>
              </a:rPr>
              <a:t>P0.8</a:t>
            </a:r>
            <a:r>
              <a:rPr lang="zh-CN" altLang="en-US" sz="2400" dirty="0">
                <a:latin typeface="华文新魏" pitchFamily="2" charset="-122"/>
                <a:ea typeface="华文新魏" pitchFamily="2" charset="-122"/>
              </a:rPr>
              <a:t>的控制位为</a:t>
            </a:r>
            <a:r>
              <a:rPr lang="en-US" altLang="zh-CN" sz="2400" dirty="0">
                <a:latin typeface="华文新魏" pitchFamily="2" charset="-122"/>
                <a:ea typeface="华文新魏" pitchFamily="2" charset="-122"/>
              </a:rPr>
              <a:t>PINSEL0[19:16]</a:t>
            </a:r>
            <a:r>
              <a:rPr lang="zh-CN" altLang="en-US" sz="2400" dirty="0">
                <a:latin typeface="华文新魏" pitchFamily="2" charset="-122"/>
                <a:ea typeface="华文新魏" pitchFamily="2" charset="-122"/>
              </a:rPr>
              <a:t>，当该域设置为</a:t>
            </a:r>
            <a:r>
              <a:rPr lang="en-US" altLang="zh-CN" sz="2400" dirty="0">
                <a:latin typeface="华文新魏" pitchFamily="2" charset="-122"/>
                <a:ea typeface="华文新魏" pitchFamily="2" charset="-122"/>
              </a:rPr>
              <a:t>[0101] (0x05)</a:t>
            </a:r>
            <a:r>
              <a:rPr lang="zh-CN" altLang="en-US" sz="2400" dirty="0">
                <a:latin typeface="华文新魏" pitchFamily="2" charset="-122"/>
                <a:ea typeface="华文新魏" pitchFamily="2" charset="-122"/>
              </a:rPr>
              <a:t>时选择 </a:t>
            </a:r>
            <a:r>
              <a:rPr lang="en-US" altLang="zh-CN" sz="2400" dirty="0">
                <a:latin typeface="华文新魏" pitchFamily="2" charset="-122"/>
                <a:ea typeface="华文新魏" pitchFamily="2" charset="-122"/>
              </a:rPr>
              <a:t>RxD1</a:t>
            </a:r>
            <a:r>
              <a:rPr lang="zh-CN" altLang="en-US" sz="2400" dirty="0">
                <a:latin typeface="华文新魏" pitchFamily="2" charset="-122"/>
                <a:ea typeface="华文新魏" pitchFamily="2" charset="-122"/>
              </a:rPr>
              <a:t>和 </a:t>
            </a:r>
            <a:r>
              <a:rPr lang="en-US" altLang="zh-CN" sz="2400" dirty="0">
                <a:latin typeface="华文新魏" pitchFamily="2" charset="-122"/>
                <a:ea typeface="华文新魏" pitchFamily="2" charset="-122"/>
              </a:rPr>
              <a:t>TxD1</a:t>
            </a:r>
            <a:r>
              <a:rPr lang="zh-CN" altLang="en-US" sz="2400" dirty="0">
                <a:latin typeface="华文新魏" pitchFamily="2" charset="-122"/>
                <a:ea typeface="华文新魏" pitchFamily="2" charset="-122"/>
              </a:rPr>
              <a:t>。</a:t>
            </a:r>
          </a:p>
        </p:txBody>
      </p:sp>
      <p:sp>
        <p:nvSpPr>
          <p:cNvPr id="353289" name="Text Box 9"/>
          <p:cNvSpPr txBox="1">
            <a:spLocks noChangeArrowheads="1"/>
          </p:cNvSpPr>
          <p:nvPr/>
        </p:nvSpPr>
        <p:spPr bwMode="auto">
          <a:xfrm>
            <a:off x="2495551" y="4941889"/>
            <a:ext cx="7237413" cy="830997"/>
          </a:xfrm>
          <a:prstGeom prst="rect">
            <a:avLst/>
          </a:prstGeom>
          <a:noFill/>
          <a:ln w="9525">
            <a:noFill/>
            <a:miter lim="800000"/>
            <a:headEnd/>
            <a:tailEnd/>
          </a:ln>
          <a:effectLst/>
        </p:spPr>
        <p:txBody>
          <a:bodyPr>
            <a:spAutoFit/>
          </a:bodyPr>
          <a:lstStyle/>
          <a:p>
            <a:pPr algn="l">
              <a:spcBef>
                <a:spcPct val="50000"/>
              </a:spcBef>
            </a:pPr>
            <a:r>
              <a:rPr lang="en-US" altLang="zh-CN" sz="2000">
                <a:latin typeface="华文新魏" pitchFamily="2" charset="-122"/>
                <a:ea typeface="华文新魏" pitchFamily="2" charset="-122"/>
              </a:rPr>
              <a:t>        </a:t>
            </a:r>
            <a:r>
              <a:rPr lang="zh-CN" altLang="en-US" sz="2400">
                <a:latin typeface="华文新魏" pitchFamily="2" charset="-122"/>
                <a:ea typeface="华文新魏" pitchFamily="2" charset="-122"/>
              </a:rPr>
              <a:t>为了不影响别的管脚连接设置，通常选择下面的设置方法。</a:t>
            </a:r>
          </a:p>
        </p:txBody>
      </p:sp>
      <p:sp>
        <p:nvSpPr>
          <p:cNvPr id="353290" name="Rectangle 10"/>
          <p:cNvSpPr>
            <a:spLocks noChangeArrowheads="1"/>
          </p:cNvSpPr>
          <p:nvPr/>
        </p:nvSpPr>
        <p:spPr bwMode="auto">
          <a:xfrm>
            <a:off x="3000376" y="5835651"/>
            <a:ext cx="6189663" cy="360363"/>
          </a:xfrm>
          <a:prstGeom prst="rect">
            <a:avLst/>
          </a:prstGeom>
          <a:solidFill>
            <a:srgbClr val="CDE6FF"/>
          </a:solidFill>
          <a:ln w="9525">
            <a:solidFill>
              <a:schemeClr val="tx1"/>
            </a:solidFill>
            <a:miter lim="800000"/>
            <a:headEnd/>
            <a:tailEnd/>
          </a:ln>
          <a:effectLst/>
        </p:spPr>
        <p:txBody>
          <a:bodyPr/>
          <a:lstStyle/>
          <a:p>
            <a:pPr>
              <a:spcBef>
                <a:spcPct val="50000"/>
              </a:spcBef>
            </a:pPr>
            <a:r>
              <a:rPr lang="en-US" altLang="zh-CN" sz="1600">
                <a:ea typeface="华文新魏" pitchFamily="2" charset="-122"/>
              </a:rPr>
              <a:t>PINSEL0 = (PINSEL0 &amp; 0xFFF0FFFF) | (0x05 &lt;&lt; 16);</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53284">
                                            <p:txEl>
                                              <p:pRg st="0" end="0"/>
                                            </p:txEl>
                                          </p:spTgt>
                                        </p:tgtEl>
                                        <p:attrNameLst>
                                          <p:attrName>style.visibility</p:attrName>
                                        </p:attrNameLst>
                                      </p:cBhvr>
                                      <p:to>
                                        <p:strVal val="visible"/>
                                      </p:to>
                                    </p:set>
                                    <p:anim calcmode="lin" valueType="num">
                                      <p:cBhvr additive="base">
                                        <p:cTn id="7" dur="500" fill="hold"/>
                                        <p:tgtEl>
                                          <p:spTgt spid="35328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53284">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353288"/>
                                        </p:tgtEl>
                                        <p:attrNameLst>
                                          <p:attrName>style.visibility</p:attrName>
                                        </p:attrNameLst>
                                      </p:cBhvr>
                                      <p:to>
                                        <p:strVal val="visible"/>
                                      </p:to>
                                    </p:set>
                                    <p:animEffect transition="in" filter="box(in)">
                                      <p:cBhvr>
                                        <p:cTn id="12" dur="500"/>
                                        <p:tgtEl>
                                          <p:spTgt spid="353288"/>
                                        </p:tgtEl>
                                      </p:cBhvr>
                                    </p:animEffect>
                                  </p:childTnLst>
                                </p:cTn>
                              </p:par>
                            </p:childTnLst>
                          </p:cTn>
                        </p:par>
                        <p:par>
                          <p:cTn id="13" fill="hold">
                            <p:stCondLst>
                              <p:cond delay="1000"/>
                            </p:stCondLst>
                            <p:childTnLst>
                              <p:par>
                                <p:cTn id="14" presetID="12" presetClass="entr" presetSubtype="1" fill="hold" grpId="0" nodeType="afterEffect">
                                  <p:stCondLst>
                                    <p:cond delay="0"/>
                                  </p:stCondLst>
                                  <p:childTnLst>
                                    <p:set>
                                      <p:cBhvr>
                                        <p:cTn id="15" dur="1" fill="hold">
                                          <p:stCondLst>
                                            <p:cond delay="0"/>
                                          </p:stCondLst>
                                        </p:cTn>
                                        <p:tgtEl>
                                          <p:spTgt spid="353286"/>
                                        </p:tgtEl>
                                        <p:attrNameLst>
                                          <p:attrName>style.visibility</p:attrName>
                                        </p:attrNameLst>
                                      </p:cBhvr>
                                      <p:to>
                                        <p:strVal val="visible"/>
                                      </p:to>
                                    </p:set>
                                    <p:animEffect transition="in" filter="slide(fromTop)">
                                      <p:cBhvr>
                                        <p:cTn id="16" dur="500"/>
                                        <p:tgtEl>
                                          <p:spTgt spid="353286"/>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353289"/>
                                        </p:tgtEl>
                                        <p:attrNameLst>
                                          <p:attrName>style.visibility</p:attrName>
                                        </p:attrNameLst>
                                      </p:cBhvr>
                                      <p:to>
                                        <p:strVal val="visible"/>
                                      </p:to>
                                    </p:set>
                                    <p:anim calcmode="lin" valueType="num">
                                      <p:cBhvr additive="base">
                                        <p:cTn id="21" dur="500" fill="hold"/>
                                        <p:tgtEl>
                                          <p:spTgt spid="353289"/>
                                        </p:tgtEl>
                                        <p:attrNameLst>
                                          <p:attrName>ppt_x</p:attrName>
                                        </p:attrNameLst>
                                      </p:cBhvr>
                                      <p:tavLst>
                                        <p:tav tm="0">
                                          <p:val>
                                            <p:strVal val="1+#ppt_w/2"/>
                                          </p:val>
                                        </p:tav>
                                        <p:tav tm="100000">
                                          <p:val>
                                            <p:strVal val="#ppt_x"/>
                                          </p:val>
                                        </p:tav>
                                      </p:tavLst>
                                    </p:anim>
                                    <p:anim calcmode="lin" valueType="num">
                                      <p:cBhvr additive="base">
                                        <p:cTn id="22" dur="500" fill="hold"/>
                                        <p:tgtEl>
                                          <p:spTgt spid="353289"/>
                                        </p:tgtEl>
                                        <p:attrNameLst>
                                          <p:attrName>ppt_y</p:attrName>
                                        </p:attrNameLst>
                                      </p:cBhvr>
                                      <p:tavLst>
                                        <p:tav tm="0">
                                          <p:val>
                                            <p:strVal val="#ppt_y"/>
                                          </p:val>
                                        </p:tav>
                                        <p:tav tm="100000">
                                          <p:val>
                                            <p:strVal val="#ppt_y"/>
                                          </p:val>
                                        </p:tav>
                                      </p:tavLst>
                                    </p:anim>
                                  </p:childTnLst>
                                </p:cTn>
                              </p:par>
                            </p:childTnLst>
                          </p:cTn>
                        </p:par>
                        <p:par>
                          <p:cTn id="23" fill="hold">
                            <p:stCondLst>
                              <p:cond delay="500"/>
                            </p:stCondLst>
                            <p:childTnLst>
                              <p:par>
                                <p:cTn id="24" presetID="12" presetClass="entr" presetSubtype="1" fill="hold" grpId="0" nodeType="afterEffect">
                                  <p:stCondLst>
                                    <p:cond delay="0"/>
                                  </p:stCondLst>
                                  <p:childTnLst>
                                    <p:set>
                                      <p:cBhvr>
                                        <p:cTn id="25" dur="1" fill="hold">
                                          <p:stCondLst>
                                            <p:cond delay="0"/>
                                          </p:stCondLst>
                                        </p:cTn>
                                        <p:tgtEl>
                                          <p:spTgt spid="353290"/>
                                        </p:tgtEl>
                                        <p:attrNameLst>
                                          <p:attrName>style.visibility</p:attrName>
                                        </p:attrNameLst>
                                      </p:cBhvr>
                                      <p:to>
                                        <p:strVal val="visible"/>
                                      </p:to>
                                    </p:set>
                                    <p:animEffect transition="in" filter="slide(fromTop)">
                                      <p:cBhvr>
                                        <p:cTn id="26" dur="500"/>
                                        <p:tgtEl>
                                          <p:spTgt spid="353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4" grpId="0" build="p"/>
      <p:bldP spid="353286" grpId="0" animBg="1" autoUpdateAnimBg="0"/>
      <p:bldP spid="353288" grpId="0" autoUpdateAnimBg="0"/>
      <p:bldP spid="353289" grpId="0" autoUpdateAnimBg="0"/>
      <p:bldP spid="353290"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r>
              <a:rPr lang="en-US" altLang="zh-CN" dirty="0"/>
              <a:t>5.2.3  GPIO</a:t>
            </a:r>
          </a:p>
        </p:txBody>
      </p:sp>
      <p:sp>
        <p:nvSpPr>
          <p:cNvPr id="403459" name="Rectangle 3"/>
          <p:cNvSpPr>
            <a:spLocks noChangeArrowheads="1"/>
          </p:cNvSpPr>
          <p:nvPr/>
        </p:nvSpPr>
        <p:spPr bwMode="auto">
          <a:xfrm>
            <a:off x="2209800" y="17002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引脚描述</a:t>
            </a:r>
          </a:p>
        </p:txBody>
      </p:sp>
      <p:sp>
        <p:nvSpPr>
          <p:cNvPr id="403460" name="Text Box 4"/>
          <p:cNvSpPr txBox="1">
            <a:spLocks noChangeArrowheads="1"/>
          </p:cNvSpPr>
          <p:nvPr/>
        </p:nvSpPr>
        <p:spPr bwMode="auto">
          <a:xfrm>
            <a:off x="2495550" y="2457450"/>
            <a:ext cx="7105650" cy="2308324"/>
          </a:xfrm>
          <a:prstGeom prst="rect">
            <a:avLst/>
          </a:prstGeom>
          <a:noFill/>
          <a:ln w="9525">
            <a:noFill/>
            <a:miter lim="800000"/>
            <a:headEnd/>
            <a:tailEnd/>
          </a:ln>
          <a:effectLst/>
        </p:spPr>
        <p:txBody>
          <a:bodyPr>
            <a:spAutoFit/>
          </a:bodyPr>
          <a:lstStyle/>
          <a:p>
            <a:pPr algn="l"/>
            <a:r>
              <a:rPr lang="en-US" altLang="zh-CN" sz="2400" dirty="0">
                <a:latin typeface="华文新魏" pitchFamily="2" charset="-122"/>
                <a:ea typeface="华文新魏" pitchFamily="2" charset="-122"/>
              </a:rPr>
              <a:t>        LPC2114/2124</a:t>
            </a:r>
            <a:r>
              <a:rPr lang="zh-CN" altLang="en-US" sz="2400" dirty="0">
                <a:latin typeface="华文新魏" pitchFamily="2" charset="-122"/>
                <a:ea typeface="华文新魏" pitchFamily="2" charset="-122"/>
              </a:rPr>
              <a:t>微控制器具有两个端口</a:t>
            </a:r>
            <a:r>
              <a:rPr lang="en-US" altLang="zh-CN" sz="2400" dirty="0">
                <a:latin typeface="Courier New"/>
                <a:ea typeface="华文新魏" pitchFamily="2" charset="-122"/>
              </a:rPr>
              <a:t>——</a:t>
            </a:r>
            <a:r>
              <a:rPr lang="en-US" altLang="zh-CN" sz="2400" dirty="0">
                <a:solidFill>
                  <a:srgbClr val="FF0000"/>
                </a:solidFill>
                <a:latin typeface="华文新魏" pitchFamily="2" charset="-122"/>
                <a:ea typeface="华文新魏" pitchFamily="2" charset="-122"/>
              </a:rPr>
              <a:t>P0</a:t>
            </a:r>
            <a:r>
              <a:rPr lang="zh-CN" altLang="en-US" sz="2400" dirty="0">
                <a:latin typeface="华文新魏" pitchFamily="2" charset="-122"/>
                <a:ea typeface="华文新魏" pitchFamily="2" charset="-122"/>
              </a:rPr>
              <a:t>和</a:t>
            </a:r>
            <a:r>
              <a:rPr lang="en-US" altLang="zh-CN" sz="2400" dirty="0">
                <a:solidFill>
                  <a:srgbClr val="FF0000"/>
                </a:solidFill>
                <a:latin typeface="华文新魏" pitchFamily="2" charset="-122"/>
                <a:ea typeface="华文新魏" pitchFamily="2" charset="-122"/>
              </a:rPr>
              <a:t>P1</a:t>
            </a:r>
            <a:r>
              <a:rPr lang="zh-CN" altLang="en-US" sz="2400" dirty="0">
                <a:latin typeface="华文新魏" pitchFamily="2" charset="-122"/>
                <a:ea typeface="华文新魏" pitchFamily="2" charset="-122"/>
              </a:rPr>
              <a:t>，可以作为</a:t>
            </a:r>
            <a:r>
              <a:rPr lang="en-US" altLang="zh-CN" sz="2400" dirty="0">
                <a:latin typeface="华文新魏" pitchFamily="2" charset="-122"/>
                <a:ea typeface="华文新魏" pitchFamily="2" charset="-122"/>
              </a:rPr>
              <a:t>GPIO</a:t>
            </a:r>
            <a:r>
              <a:rPr lang="zh-CN" altLang="en-US" sz="2400" dirty="0">
                <a:latin typeface="华文新魏" pitchFamily="2" charset="-122"/>
                <a:ea typeface="华文新魏" pitchFamily="2" charset="-122"/>
              </a:rPr>
              <a:t>使用的引脚数为</a:t>
            </a:r>
            <a:r>
              <a:rPr lang="en-US" altLang="zh-CN" sz="2400" dirty="0">
                <a:latin typeface="华文新魏" pitchFamily="2" charset="-122"/>
                <a:ea typeface="华文新魏" pitchFamily="2" charset="-122"/>
              </a:rPr>
              <a:t>46</a:t>
            </a:r>
            <a:r>
              <a:rPr lang="zh-CN" altLang="en-US" sz="2400" dirty="0">
                <a:latin typeface="华文新魏" pitchFamily="2" charset="-122"/>
                <a:ea typeface="华文新魏" pitchFamily="2" charset="-122"/>
              </a:rPr>
              <a:t>个。</a:t>
            </a:r>
          </a:p>
          <a:p>
            <a:pPr algn="l"/>
            <a:r>
              <a:rPr lang="zh-CN" altLang="en-US" sz="2400" dirty="0">
                <a:latin typeface="华文新魏" pitchFamily="2" charset="-122"/>
                <a:ea typeface="华文新魏" pitchFamily="2" charset="-122"/>
              </a:rPr>
              <a:t>        </a:t>
            </a:r>
            <a:r>
              <a:rPr lang="en-US" altLang="zh-CN" sz="2400" dirty="0">
                <a:latin typeface="华文新魏" pitchFamily="2" charset="-122"/>
                <a:ea typeface="华文新魏" pitchFamily="2" charset="-122"/>
              </a:rPr>
              <a:t>LPC2210/2212/2214</a:t>
            </a:r>
            <a:r>
              <a:rPr lang="zh-CN" altLang="en-US" sz="2400" dirty="0">
                <a:latin typeface="华文新魏" pitchFamily="2" charset="-122"/>
                <a:ea typeface="华文新魏" pitchFamily="2" charset="-122"/>
              </a:rPr>
              <a:t>微控制器还包含另外两个端口</a:t>
            </a:r>
            <a:r>
              <a:rPr lang="en-US" altLang="zh-CN" sz="2400" dirty="0">
                <a:latin typeface="Courier New"/>
                <a:ea typeface="华文新魏" pitchFamily="2" charset="-122"/>
              </a:rPr>
              <a:t>——</a:t>
            </a:r>
            <a:r>
              <a:rPr lang="en-US" altLang="zh-CN" sz="2400" dirty="0">
                <a:solidFill>
                  <a:srgbClr val="FF0000"/>
                </a:solidFill>
                <a:latin typeface="华文新魏" pitchFamily="2" charset="-122"/>
                <a:ea typeface="华文新魏" pitchFamily="2" charset="-122"/>
              </a:rPr>
              <a:t>P2</a:t>
            </a:r>
            <a:r>
              <a:rPr lang="zh-CN" altLang="en-US" sz="2400" dirty="0">
                <a:latin typeface="华文新魏" pitchFamily="2" charset="-122"/>
                <a:ea typeface="华文新魏" pitchFamily="2" charset="-122"/>
              </a:rPr>
              <a:t>和</a:t>
            </a:r>
            <a:r>
              <a:rPr lang="en-US" altLang="zh-CN" sz="2400" dirty="0">
                <a:solidFill>
                  <a:srgbClr val="FF0000"/>
                </a:solidFill>
                <a:latin typeface="华文新魏" pitchFamily="2" charset="-122"/>
                <a:ea typeface="华文新魏" pitchFamily="2" charset="-122"/>
              </a:rPr>
              <a:t>P3</a:t>
            </a:r>
            <a:r>
              <a:rPr lang="zh-CN" altLang="en-US" sz="2400" dirty="0">
                <a:latin typeface="华文新魏" pitchFamily="2" charset="-122"/>
                <a:ea typeface="华文新魏" pitchFamily="2" charset="-122"/>
              </a:rPr>
              <a:t>，这两个端口与外部存储器总线复用，当它们全部作为</a:t>
            </a:r>
            <a:r>
              <a:rPr lang="en-US" altLang="zh-CN" sz="2400" dirty="0">
                <a:latin typeface="华文新魏" pitchFamily="2" charset="-122"/>
                <a:ea typeface="华文新魏" pitchFamily="2" charset="-122"/>
              </a:rPr>
              <a:t>GPIO</a:t>
            </a:r>
            <a:r>
              <a:rPr lang="zh-CN" altLang="en-US" sz="2400" dirty="0">
                <a:latin typeface="华文新魏" pitchFamily="2" charset="-122"/>
                <a:ea typeface="华文新魏" pitchFamily="2" charset="-122"/>
              </a:rPr>
              <a:t>使用时，</a:t>
            </a:r>
            <a:r>
              <a:rPr lang="en-US" altLang="zh-CN" sz="2400" dirty="0">
                <a:latin typeface="华文新魏" pitchFamily="2" charset="-122"/>
                <a:ea typeface="华文新魏" pitchFamily="2" charset="-122"/>
              </a:rPr>
              <a:t>GPIO</a:t>
            </a:r>
            <a:r>
              <a:rPr lang="zh-CN" altLang="en-US" sz="2400" dirty="0">
                <a:latin typeface="华文新魏" pitchFamily="2" charset="-122"/>
                <a:ea typeface="华文新魏" pitchFamily="2" charset="-122"/>
              </a:rPr>
              <a:t>引脚数多达</a:t>
            </a:r>
            <a:r>
              <a:rPr lang="en-US" altLang="zh-CN" sz="2400" dirty="0">
                <a:latin typeface="华文新魏" pitchFamily="2" charset="-122"/>
                <a:ea typeface="华文新魏" pitchFamily="2" charset="-122"/>
              </a:rPr>
              <a:t>112</a:t>
            </a:r>
            <a:r>
              <a:rPr lang="zh-CN" altLang="en-US" sz="2400" dirty="0">
                <a:latin typeface="华文新魏" pitchFamily="2" charset="-122"/>
                <a:ea typeface="华文新魏" pitchFamily="2" charset="-122"/>
              </a:rPr>
              <a:t>个。</a:t>
            </a:r>
          </a:p>
        </p:txBody>
      </p:sp>
      <p:sp>
        <p:nvSpPr>
          <p:cNvPr id="403461" name="Text Box 5"/>
          <p:cNvSpPr txBox="1">
            <a:spLocks noChangeArrowheads="1"/>
          </p:cNvSpPr>
          <p:nvPr/>
        </p:nvSpPr>
        <p:spPr bwMode="auto">
          <a:xfrm>
            <a:off x="4367213" y="2565400"/>
            <a:ext cx="3744912" cy="457200"/>
          </a:xfrm>
          <a:prstGeom prst="rect">
            <a:avLst/>
          </a:prstGeom>
          <a:noFill/>
          <a:ln w="9525">
            <a:noFill/>
            <a:miter lim="800000"/>
            <a:headEnd/>
            <a:tailEnd/>
          </a:ln>
          <a:effectLst/>
        </p:spPr>
        <p:txBody>
          <a:bodyPr>
            <a:spAutoFit/>
          </a:bodyPr>
          <a:lstStyle/>
          <a:p>
            <a:pPr>
              <a:spcBef>
                <a:spcPct val="50000"/>
              </a:spcBef>
            </a:pPr>
            <a:r>
              <a:rPr lang="en-US" altLang="zh-CN" sz="2400">
                <a:latin typeface="华文新魏" pitchFamily="2" charset="-122"/>
                <a:ea typeface="华文新魏" pitchFamily="2" charset="-122"/>
              </a:rPr>
              <a:t>GPIO</a:t>
            </a:r>
            <a:r>
              <a:rPr lang="zh-CN" altLang="en-US" sz="2400">
                <a:latin typeface="华文新魏" pitchFamily="2" charset="-122"/>
                <a:ea typeface="华文新魏" pitchFamily="2" charset="-122"/>
              </a:rPr>
              <a:t>与控制寄存器的关系</a:t>
            </a:r>
          </a:p>
        </p:txBody>
      </p:sp>
      <p:grpSp>
        <p:nvGrpSpPr>
          <p:cNvPr id="403462" name="Group 6"/>
          <p:cNvGrpSpPr>
            <a:grpSpLocks/>
          </p:cNvGrpSpPr>
          <p:nvPr/>
        </p:nvGrpSpPr>
        <p:grpSpPr bwMode="auto">
          <a:xfrm>
            <a:off x="3000376" y="2997200"/>
            <a:ext cx="6550025" cy="2376488"/>
            <a:chOff x="930" y="2160"/>
            <a:chExt cx="4126" cy="1497"/>
          </a:xfrm>
        </p:grpSpPr>
        <p:sp>
          <p:nvSpPr>
            <p:cNvPr id="403463" name="Rectangle 7"/>
            <p:cNvSpPr>
              <a:spLocks noChangeArrowheads="1"/>
            </p:cNvSpPr>
            <p:nvPr/>
          </p:nvSpPr>
          <p:spPr bwMode="auto">
            <a:xfrm>
              <a:off x="1156" y="2160"/>
              <a:ext cx="3674" cy="1497"/>
            </a:xfrm>
            <a:prstGeom prst="rect">
              <a:avLst/>
            </a:prstGeom>
            <a:noFill/>
            <a:ln w="19050">
              <a:solidFill>
                <a:schemeClr val="tx1"/>
              </a:solidFill>
              <a:miter lim="800000"/>
              <a:headEnd/>
              <a:tailEnd/>
            </a:ln>
            <a:effectLst/>
          </p:spPr>
          <p:txBody>
            <a:bodyPr wrap="none" anchor="ctr"/>
            <a:lstStyle/>
            <a:p>
              <a:endParaRPr lang="zh-CN" altLang="en-US"/>
            </a:p>
          </p:txBody>
        </p:sp>
        <p:sp>
          <p:nvSpPr>
            <p:cNvPr id="403464" name="Rectangle 8"/>
            <p:cNvSpPr>
              <a:spLocks noChangeArrowheads="1"/>
            </p:cNvSpPr>
            <p:nvPr/>
          </p:nvSpPr>
          <p:spPr bwMode="auto">
            <a:xfrm>
              <a:off x="1474" y="2523"/>
              <a:ext cx="499" cy="816"/>
            </a:xfrm>
            <a:prstGeom prst="rect">
              <a:avLst/>
            </a:prstGeom>
            <a:noFill/>
            <a:ln w="19050">
              <a:solidFill>
                <a:schemeClr val="tx1"/>
              </a:solidFill>
              <a:miter lim="800000"/>
              <a:headEnd/>
              <a:tailEnd/>
            </a:ln>
            <a:effectLst/>
          </p:spPr>
          <p:txBody>
            <a:bodyPr wrap="none" anchor="ctr"/>
            <a:lstStyle/>
            <a:p>
              <a:endParaRPr lang="zh-CN" altLang="en-US"/>
            </a:p>
          </p:txBody>
        </p:sp>
        <p:sp>
          <p:nvSpPr>
            <p:cNvPr id="403465" name="Rectangle 9"/>
            <p:cNvSpPr>
              <a:spLocks noChangeArrowheads="1"/>
            </p:cNvSpPr>
            <p:nvPr/>
          </p:nvSpPr>
          <p:spPr bwMode="auto">
            <a:xfrm>
              <a:off x="1474" y="3339"/>
              <a:ext cx="499" cy="136"/>
            </a:xfrm>
            <a:prstGeom prst="rect">
              <a:avLst/>
            </a:prstGeom>
            <a:solidFill>
              <a:srgbClr val="99CCFF"/>
            </a:solidFill>
            <a:ln w="19050">
              <a:solidFill>
                <a:schemeClr val="tx1"/>
              </a:solidFill>
              <a:miter lim="800000"/>
              <a:headEnd/>
              <a:tailEnd/>
            </a:ln>
            <a:effectLst/>
          </p:spPr>
          <p:txBody>
            <a:bodyPr wrap="none" anchor="ctr"/>
            <a:lstStyle/>
            <a:p>
              <a:r>
                <a:rPr lang="en-US" altLang="zh-CN" sz="1400"/>
                <a:t>PINSELx</a:t>
              </a:r>
            </a:p>
          </p:txBody>
        </p:sp>
        <p:sp>
          <p:nvSpPr>
            <p:cNvPr id="403466" name="Line 10"/>
            <p:cNvSpPr>
              <a:spLocks noChangeShapeType="1"/>
            </p:cNvSpPr>
            <p:nvPr/>
          </p:nvSpPr>
          <p:spPr bwMode="auto">
            <a:xfrm>
              <a:off x="1156" y="2951"/>
              <a:ext cx="412" cy="0"/>
            </a:xfrm>
            <a:prstGeom prst="line">
              <a:avLst/>
            </a:prstGeom>
            <a:noFill/>
            <a:ln w="19050">
              <a:solidFill>
                <a:schemeClr val="tx1"/>
              </a:solidFill>
              <a:round/>
              <a:headEnd/>
              <a:tailEnd/>
            </a:ln>
            <a:effectLst/>
          </p:spPr>
          <p:txBody>
            <a:bodyPr wrap="none" anchor="ctr"/>
            <a:lstStyle/>
            <a:p>
              <a:endParaRPr lang="zh-CN" altLang="en-US"/>
            </a:p>
          </p:txBody>
        </p:sp>
        <p:sp>
          <p:nvSpPr>
            <p:cNvPr id="403467" name="Oval 11"/>
            <p:cNvSpPr>
              <a:spLocks noChangeArrowheads="1"/>
            </p:cNvSpPr>
            <p:nvPr/>
          </p:nvSpPr>
          <p:spPr bwMode="auto">
            <a:xfrm>
              <a:off x="1568" y="2931"/>
              <a:ext cx="42" cy="45"/>
            </a:xfrm>
            <a:prstGeom prst="ellipse">
              <a:avLst/>
            </a:prstGeom>
            <a:noFill/>
            <a:ln w="19050" algn="ctr">
              <a:solidFill>
                <a:schemeClr val="tx1"/>
              </a:solidFill>
              <a:round/>
              <a:headEnd/>
              <a:tailEnd/>
            </a:ln>
            <a:effectLst/>
          </p:spPr>
          <p:txBody>
            <a:bodyPr wrap="none" anchor="ctr"/>
            <a:lstStyle/>
            <a:p>
              <a:endParaRPr lang="zh-CN" altLang="en-US"/>
            </a:p>
          </p:txBody>
        </p:sp>
        <p:grpSp>
          <p:nvGrpSpPr>
            <p:cNvPr id="403468" name="Group 12"/>
            <p:cNvGrpSpPr>
              <a:grpSpLocks/>
            </p:cNvGrpSpPr>
            <p:nvPr/>
          </p:nvGrpSpPr>
          <p:grpSpPr bwMode="auto">
            <a:xfrm>
              <a:off x="1837" y="2684"/>
              <a:ext cx="272" cy="45"/>
              <a:chOff x="1837" y="2684"/>
              <a:chExt cx="272" cy="45"/>
            </a:xfrm>
          </p:grpSpPr>
          <p:sp>
            <p:nvSpPr>
              <p:cNvPr id="403469" name="Line 13"/>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3470" name="Oval 14"/>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3471" name="Group 15"/>
            <p:cNvGrpSpPr>
              <a:grpSpLocks/>
            </p:cNvGrpSpPr>
            <p:nvPr/>
          </p:nvGrpSpPr>
          <p:grpSpPr bwMode="auto">
            <a:xfrm>
              <a:off x="1837" y="2840"/>
              <a:ext cx="272" cy="45"/>
              <a:chOff x="1837" y="2684"/>
              <a:chExt cx="272" cy="45"/>
            </a:xfrm>
          </p:grpSpPr>
          <p:sp>
            <p:nvSpPr>
              <p:cNvPr id="403472" name="Line 16"/>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3473" name="Oval 17"/>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3474" name="Group 18"/>
            <p:cNvGrpSpPr>
              <a:grpSpLocks/>
            </p:cNvGrpSpPr>
            <p:nvPr/>
          </p:nvGrpSpPr>
          <p:grpSpPr bwMode="auto">
            <a:xfrm>
              <a:off x="1837" y="3022"/>
              <a:ext cx="272" cy="45"/>
              <a:chOff x="1837" y="2684"/>
              <a:chExt cx="272" cy="45"/>
            </a:xfrm>
          </p:grpSpPr>
          <p:sp>
            <p:nvSpPr>
              <p:cNvPr id="403475" name="Line 19"/>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3476" name="Oval 20"/>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3477" name="Group 21"/>
            <p:cNvGrpSpPr>
              <a:grpSpLocks/>
            </p:cNvGrpSpPr>
            <p:nvPr/>
          </p:nvGrpSpPr>
          <p:grpSpPr bwMode="auto">
            <a:xfrm>
              <a:off x="1837" y="3203"/>
              <a:ext cx="272" cy="45"/>
              <a:chOff x="1837" y="2684"/>
              <a:chExt cx="272" cy="45"/>
            </a:xfrm>
          </p:grpSpPr>
          <p:sp>
            <p:nvSpPr>
              <p:cNvPr id="403478" name="Line 22"/>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3479" name="Oval 23"/>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sp>
          <p:nvSpPr>
            <p:cNvPr id="403480" name="Line 24"/>
            <p:cNvSpPr>
              <a:spLocks noChangeShapeType="1"/>
            </p:cNvSpPr>
            <p:nvPr/>
          </p:nvSpPr>
          <p:spPr bwMode="auto">
            <a:xfrm flipV="1">
              <a:off x="1610" y="2704"/>
              <a:ext cx="227" cy="227"/>
            </a:xfrm>
            <a:prstGeom prst="line">
              <a:avLst/>
            </a:prstGeom>
            <a:noFill/>
            <a:ln w="19050">
              <a:solidFill>
                <a:srgbClr val="0000FF"/>
              </a:solidFill>
              <a:round/>
              <a:headEnd/>
              <a:tailEnd/>
            </a:ln>
            <a:effectLst/>
          </p:spPr>
          <p:txBody>
            <a:bodyPr wrap="none" anchor="ctr"/>
            <a:lstStyle/>
            <a:p>
              <a:endParaRPr lang="zh-CN" altLang="en-US"/>
            </a:p>
          </p:txBody>
        </p:sp>
        <p:sp>
          <p:nvSpPr>
            <p:cNvPr id="403481" name="Rectangle 25"/>
            <p:cNvSpPr>
              <a:spLocks noChangeArrowheads="1"/>
            </p:cNvSpPr>
            <p:nvPr/>
          </p:nvSpPr>
          <p:spPr bwMode="auto">
            <a:xfrm>
              <a:off x="2471" y="2523"/>
              <a:ext cx="499" cy="363"/>
            </a:xfrm>
            <a:prstGeom prst="rect">
              <a:avLst/>
            </a:prstGeom>
            <a:noFill/>
            <a:ln w="19050">
              <a:solidFill>
                <a:schemeClr val="tx1"/>
              </a:solidFill>
              <a:miter lim="800000"/>
              <a:headEnd/>
              <a:tailEnd/>
            </a:ln>
            <a:effectLst/>
          </p:spPr>
          <p:txBody>
            <a:bodyPr wrap="none" anchor="ctr"/>
            <a:lstStyle/>
            <a:p>
              <a:endParaRPr lang="zh-CN" altLang="en-US"/>
            </a:p>
          </p:txBody>
        </p:sp>
        <p:sp>
          <p:nvSpPr>
            <p:cNvPr id="403482" name="Rectangle 26"/>
            <p:cNvSpPr>
              <a:spLocks noChangeArrowheads="1"/>
            </p:cNvSpPr>
            <p:nvPr/>
          </p:nvSpPr>
          <p:spPr bwMode="auto">
            <a:xfrm>
              <a:off x="2471" y="2886"/>
              <a:ext cx="499" cy="136"/>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IOxDIR</a:t>
              </a:r>
            </a:p>
          </p:txBody>
        </p:sp>
        <p:sp>
          <p:nvSpPr>
            <p:cNvPr id="403483" name="Line 27"/>
            <p:cNvSpPr>
              <a:spLocks noChangeShapeType="1"/>
            </p:cNvSpPr>
            <p:nvPr/>
          </p:nvSpPr>
          <p:spPr bwMode="auto">
            <a:xfrm>
              <a:off x="2109" y="2704"/>
              <a:ext cx="453" cy="0"/>
            </a:xfrm>
            <a:prstGeom prst="line">
              <a:avLst/>
            </a:prstGeom>
            <a:noFill/>
            <a:ln w="19050">
              <a:solidFill>
                <a:schemeClr val="tx1"/>
              </a:solidFill>
              <a:round/>
              <a:headEnd/>
              <a:tailEnd/>
            </a:ln>
            <a:effectLst/>
          </p:spPr>
          <p:txBody>
            <a:bodyPr wrap="none" anchor="ctr"/>
            <a:lstStyle/>
            <a:p>
              <a:endParaRPr lang="zh-CN" altLang="en-US"/>
            </a:p>
          </p:txBody>
        </p:sp>
        <p:sp>
          <p:nvSpPr>
            <p:cNvPr id="403484" name="Oval 28"/>
            <p:cNvSpPr>
              <a:spLocks noChangeArrowheads="1"/>
            </p:cNvSpPr>
            <p:nvPr/>
          </p:nvSpPr>
          <p:spPr bwMode="auto">
            <a:xfrm>
              <a:off x="2562" y="2684"/>
              <a:ext cx="45" cy="45"/>
            </a:xfrm>
            <a:prstGeom prst="ellipse">
              <a:avLst/>
            </a:prstGeom>
            <a:noFill/>
            <a:ln w="19050" algn="ctr">
              <a:solidFill>
                <a:schemeClr val="tx1"/>
              </a:solidFill>
              <a:round/>
              <a:headEnd/>
              <a:tailEnd/>
            </a:ln>
            <a:effectLst/>
          </p:spPr>
          <p:txBody>
            <a:bodyPr wrap="none" anchor="ctr"/>
            <a:lstStyle/>
            <a:p>
              <a:endParaRPr lang="zh-CN" altLang="en-US"/>
            </a:p>
          </p:txBody>
        </p:sp>
        <p:sp>
          <p:nvSpPr>
            <p:cNvPr id="403485" name="Line 29"/>
            <p:cNvSpPr>
              <a:spLocks noChangeShapeType="1"/>
            </p:cNvSpPr>
            <p:nvPr/>
          </p:nvSpPr>
          <p:spPr bwMode="auto">
            <a:xfrm flipH="1">
              <a:off x="2880" y="2568"/>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3486" name="Oval 30"/>
            <p:cNvSpPr>
              <a:spLocks noChangeArrowheads="1"/>
            </p:cNvSpPr>
            <p:nvPr/>
          </p:nvSpPr>
          <p:spPr bwMode="auto">
            <a:xfrm flipH="1">
              <a:off x="2835" y="2548"/>
              <a:ext cx="45" cy="45"/>
            </a:xfrm>
            <a:prstGeom prst="ellipse">
              <a:avLst/>
            </a:prstGeom>
            <a:noFill/>
            <a:ln w="19050" algn="ctr">
              <a:solidFill>
                <a:schemeClr val="tx1"/>
              </a:solidFill>
              <a:round/>
              <a:headEnd/>
              <a:tailEnd/>
            </a:ln>
            <a:effectLst/>
          </p:spPr>
          <p:txBody>
            <a:bodyPr wrap="none" anchor="ctr"/>
            <a:lstStyle/>
            <a:p>
              <a:endParaRPr lang="zh-CN" altLang="en-US"/>
            </a:p>
          </p:txBody>
        </p:sp>
        <p:sp>
          <p:nvSpPr>
            <p:cNvPr id="403487" name="Line 31"/>
            <p:cNvSpPr>
              <a:spLocks noChangeShapeType="1"/>
            </p:cNvSpPr>
            <p:nvPr/>
          </p:nvSpPr>
          <p:spPr bwMode="auto">
            <a:xfrm flipH="1">
              <a:off x="2880" y="2815"/>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3488" name="Oval 32"/>
            <p:cNvSpPr>
              <a:spLocks noChangeArrowheads="1"/>
            </p:cNvSpPr>
            <p:nvPr/>
          </p:nvSpPr>
          <p:spPr bwMode="auto">
            <a:xfrm flipH="1">
              <a:off x="2835" y="2795"/>
              <a:ext cx="45" cy="45"/>
            </a:xfrm>
            <a:prstGeom prst="ellipse">
              <a:avLst/>
            </a:prstGeom>
            <a:noFill/>
            <a:ln w="19050" algn="ctr">
              <a:solidFill>
                <a:schemeClr val="tx1"/>
              </a:solidFill>
              <a:round/>
              <a:headEnd/>
              <a:tailEnd/>
            </a:ln>
            <a:effectLst/>
          </p:spPr>
          <p:txBody>
            <a:bodyPr wrap="none" anchor="ctr"/>
            <a:lstStyle/>
            <a:p>
              <a:endParaRPr lang="zh-CN" altLang="en-US"/>
            </a:p>
          </p:txBody>
        </p:sp>
        <p:sp>
          <p:nvSpPr>
            <p:cNvPr id="403489" name="Line 33"/>
            <p:cNvSpPr>
              <a:spLocks noChangeShapeType="1"/>
            </p:cNvSpPr>
            <p:nvPr/>
          </p:nvSpPr>
          <p:spPr bwMode="auto">
            <a:xfrm flipV="1">
              <a:off x="2607" y="2568"/>
              <a:ext cx="227" cy="136"/>
            </a:xfrm>
            <a:prstGeom prst="line">
              <a:avLst/>
            </a:prstGeom>
            <a:noFill/>
            <a:ln w="19050">
              <a:solidFill>
                <a:srgbClr val="0000FF"/>
              </a:solidFill>
              <a:round/>
              <a:headEnd/>
              <a:tailEnd/>
            </a:ln>
            <a:effectLst/>
          </p:spPr>
          <p:txBody>
            <a:bodyPr wrap="none" anchor="ctr"/>
            <a:lstStyle/>
            <a:p>
              <a:endParaRPr lang="zh-CN" altLang="en-US"/>
            </a:p>
          </p:txBody>
        </p:sp>
        <p:sp>
          <p:nvSpPr>
            <p:cNvPr id="403490" name="Rectangle 34"/>
            <p:cNvSpPr>
              <a:spLocks noChangeArrowheads="1"/>
            </p:cNvSpPr>
            <p:nvPr/>
          </p:nvSpPr>
          <p:spPr bwMode="auto">
            <a:xfrm>
              <a:off x="3379" y="2523"/>
              <a:ext cx="499" cy="317"/>
            </a:xfrm>
            <a:prstGeom prst="rect">
              <a:avLst/>
            </a:prstGeom>
            <a:noFill/>
            <a:ln w="19050">
              <a:solidFill>
                <a:schemeClr val="tx1"/>
              </a:solidFill>
              <a:miter lim="800000"/>
              <a:headEnd/>
              <a:tailEnd/>
            </a:ln>
            <a:effectLst/>
          </p:spPr>
          <p:txBody>
            <a:bodyPr wrap="none" anchor="ctr"/>
            <a:lstStyle/>
            <a:p>
              <a:endParaRPr lang="zh-CN" altLang="en-US"/>
            </a:p>
          </p:txBody>
        </p:sp>
        <p:sp>
          <p:nvSpPr>
            <p:cNvPr id="403491" name="Rectangle 35"/>
            <p:cNvSpPr>
              <a:spLocks noChangeArrowheads="1"/>
            </p:cNvSpPr>
            <p:nvPr/>
          </p:nvSpPr>
          <p:spPr bwMode="auto">
            <a:xfrm>
              <a:off x="3379" y="2886"/>
              <a:ext cx="499" cy="136"/>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IOxCLR</a:t>
              </a:r>
            </a:p>
          </p:txBody>
        </p:sp>
        <p:sp>
          <p:nvSpPr>
            <p:cNvPr id="403492" name="Oval 36"/>
            <p:cNvSpPr>
              <a:spLocks noChangeArrowheads="1"/>
            </p:cNvSpPr>
            <p:nvPr/>
          </p:nvSpPr>
          <p:spPr bwMode="auto">
            <a:xfrm>
              <a:off x="3470"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nvGrpSpPr>
            <p:cNvPr id="403493" name="Group 37"/>
            <p:cNvGrpSpPr>
              <a:grpSpLocks/>
            </p:cNvGrpSpPr>
            <p:nvPr/>
          </p:nvGrpSpPr>
          <p:grpSpPr bwMode="auto">
            <a:xfrm>
              <a:off x="3742" y="2568"/>
              <a:ext cx="272" cy="45"/>
              <a:chOff x="1837" y="2684"/>
              <a:chExt cx="272" cy="45"/>
            </a:xfrm>
          </p:grpSpPr>
          <p:sp>
            <p:nvSpPr>
              <p:cNvPr id="403494" name="Line 38"/>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3495" name="Oval 39"/>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3496" name="Group 40"/>
            <p:cNvGrpSpPr>
              <a:grpSpLocks/>
            </p:cNvGrpSpPr>
            <p:nvPr/>
          </p:nvGrpSpPr>
          <p:grpSpPr bwMode="auto">
            <a:xfrm>
              <a:off x="3742" y="2750"/>
              <a:ext cx="272" cy="45"/>
              <a:chOff x="1837" y="2684"/>
              <a:chExt cx="272" cy="45"/>
            </a:xfrm>
          </p:grpSpPr>
          <p:sp>
            <p:nvSpPr>
              <p:cNvPr id="403497" name="Line 41"/>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3498" name="Oval 42"/>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sp>
          <p:nvSpPr>
            <p:cNvPr id="403499" name="Line 43"/>
            <p:cNvSpPr>
              <a:spLocks noChangeShapeType="1"/>
            </p:cNvSpPr>
            <p:nvPr/>
          </p:nvSpPr>
          <p:spPr bwMode="auto">
            <a:xfrm flipV="1">
              <a:off x="3515" y="2568"/>
              <a:ext cx="227" cy="136"/>
            </a:xfrm>
            <a:prstGeom prst="line">
              <a:avLst/>
            </a:prstGeom>
            <a:noFill/>
            <a:ln w="19050">
              <a:solidFill>
                <a:srgbClr val="0000FF"/>
              </a:solidFill>
              <a:round/>
              <a:headEnd/>
              <a:tailEnd/>
            </a:ln>
            <a:effectLst/>
          </p:spPr>
          <p:txBody>
            <a:bodyPr wrap="none" anchor="ctr"/>
            <a:lstStyle/>
            <a:p>
              <a:endParaRPr lang="zh-CN" altLang="en-US"/>
            </a:p>
          </p:txBody>
        </p:sp>
        <p:sp>
          <p:nvSpPr>
            <p:cNvPr id="403500" name="Line 44"/>
            <p:cNvSpPr>
              <a:spLocks noChangeShapeType="1"/>
            </p:cNvSpPr>
            <p:nvPr/>
          </p:nvSpPr>
          <p:spPr bwMode="auto">
            <a:xfrm>
              <a:off x="324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3501" name="Line 45"/>
            <p:cNvSpPr>
              <a:spLocks noChangeShapeType="1"/>
            </p:cNvSpPr>
            <p:nvPr/>
          </p:nvSpPr>
          <p:spPr bwMode="auto">
            <a:xfrm flipV="1">
              <a:off x="3242" y="2568"/>
              <a:ext cx="0" cy="136"/>
            </a:xfrm>
            <a:prstGeom prst="line">
              <a:avLst/>
            </a:prstGeom>
            <a:noFill/>
            <a:ln w="19050">
              <a:solidFill>
                <a:schemeClr val="tx1"/>
              </a:solidFill>
              <a:round/>
              <a:headEnd/>
              <a:tailEnd/>
            </a:ln>
            <a:effectLst/>
          </p:spPr>
          <p:txBody>
            <a:bodyPr wrap="none" anchor="ctr"/>
            <a:lstStyle/>
            <a:p>
              <a:endParaRPr lang="zh-CN" altLang="en-US"/>
            </a:p>
          </p:txBody>
        </p:sp>
        <p:sp>
          <p:nvSpPr>
            <p:cNvPr id="403502" name="Line 46"/>
            <p:cNvSpPr>
              <a:spLocks noChangeShapeType="1"/>
            </p:cNvSpPr>
            <p:nvPr/>
          </p:nvSpPr>
          <p:spPr bwMode="auto">
            <a:xfrm flipH="1">
              <a:off x="3106" y="2568"/>
              <a:ext cx="136" cy="0"/>
            </a:xfrm>
            <a:prstGeom prst="line">
              <a:avLst/>
            </a:prstGeom>
            <a:noFill/>
            <a:ln w="19050">
              <a:solidFill>
                <a:schemeClr val="tx1"/>
              </a:solidFill>
              <a:round/>
              <a:headEnd/>
              <a:tailEnd/>
            </a:ln>
            <a:effectLst/>
          </p:spPr>
          <p:txBody>
            <a:bodyPr wrap="none" anchor="ctr"/>
            <a:lstStyle/>
            <a:p>
              <a:endParaRPr lang="zh-CN" altLang="en-US"/>
            </a:p>
          </p:txBody>
        </p:sp>
        <p:sp>
          <p:nvSpPr>
            <p:cNvPr id="403503" name="Line 47"/>
            <p:cNvSpPr>
              <a:spLocks noChangeShapeType="1"/>
            </p:cNvSpPr>
            <p:nvPr/>
          </p:nvSpPr>
          <p:spPr bwMode="auto">
            <a:xfrm>
              <a:off x="3107" y="3385"/>
              <a:ext cx="272" cy="0"/>
            </a:xfrm>
            <a:prstGeom prst="line">
              <a:avLst/>
            </a:prstGeom>
            <a:noFill/>
            <a:ln w="19050">
              <a:solidFill>
                <a:schemeClr val="tx1"/>
              </a:solidFill>
              <a:round/>
              <a:headEnd/>
              <a:tailEnd/>
            </a:ln>
            <a:effectLst/>
          </p:spPr>
          <p:txBody>
            <a:bodyPr wrap="none" anchor="ctr"/>
            <a:lstStyle/>
            <a:p>
              <a:endParaRPr lang="zh-CN" altLang="en-US"/>
            </a:p>
          </p:txBody>
        </p:sp>
        <p:sp>
          <p:nvSpPr>
            <p:cNvPr id="403504" name="Rectangle 48"/>
            <p:cNvSpPr>
              <a:spLocks noChangeArrowheads="1"/>
            </p:cNvSpPr>
            <p:nvPr/>
          </p:nvSpPr>
          <p:spPr bwMode="auto">
            <a:xfrm>
              <a:off x="3379" y="3294"/>
              <a:ext cx="499" cy="181"/>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IOxPIN</a:t>
              </a:r>
            </a:p>
          </p:txBody>
        </p:sp>
        <p:sp>
          <p:nvSpPr>
            <p:cNvPr id="403505" name="Rectangle 49"/>
            <p:cNvSpPr>
              <a:spLocks noChangeArrowheads="1"/>
            </p:cNvSpPr>
            <p:nvPr/>
          </p:nvSpPr>
          <p:spPr bwMode="auto">
            <a:xfrm>
              <a:off x="3379" y="2341"/>
              <a:ext cx="499" cy="136"/>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IOxSET</a:t>
              </a:r>
            </a:p>
          </p:txBody>
        </p:sp>
        <p:sp>
          <p:nvSpPr>
            <p:cNvPr id="403506" name="Text Box 50"/>
            <p:cNvSpPr txBox="1">
              <a:spLocks noChangeArrowheads="1"/>
            </p:cNvSpPr>
            <p:nvPr/>
          </p:nvSpPr>
          <p:spPr bwMode="auto">
            <a:xfrm>
              <a:off x="2970" y="2659"/>
              <a:ext cx="227" cy="192"/>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in</a:t>
              </a:r>
            </a:p>
          </p:txBody>
        </p:sp>
        <p:sp>
          <p:nvSpPr>
            <p:cNvPr id="403507" name="Text Box 51"/>
            <p:cNvSpPr txBox="1">
              <a:spLocks noChangeArrowheads="1"/>
            </p:cNvSpPr>
            <p:nvPr/>
          </p:nvSpPr>
          <p:spPr bwMode="auto">
            <a:xfrm>
              <a:off x="2970" y="2387"/>
              <a:ext cx="272" cy="192"/>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out</a:t>
              </a:r>
            </a:p>
          </p:txBody>
        </p:sp>
        <p:sp>
          <p:nvSpPr>
            <p:cNvPr id="403508" name="Line 52"/>
            <p:cNvSpPr>
              <a:spLocks noChangeShapeType="1"/>
            </p:cNvSpPr>
            <p:nvPr/>
          </p:nvSpPr>
          <p:spPr bwMode="auto">
            <a:xfrm>
              <a:off x="3606" y="2478"/>
              <a:ext cx="0" cy="136"/>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403509" name="Line 53"/>
            <p:cNvSpPr>
              <a:spLocks noChangeShapeType="1"/>
            </p:cNvSpPr>
            <p:nvPr/>
          </p:nvSpPr>
          <p:spPr bwMode="auto">
            <a:xfrm flipV="1">
              <a:off x="3606" y="2750"/>
              <a:ext cx="0" cy="136"/>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403510" name="Text Box 54"/>
            <p:cNvSpPr txBox="1">
              <a:spLocks noChangeArrowheads="1"/>
            </p:cNvSpPr>
            <p:nvPr/>
          </p:nvSpPr>
          <p:spPr bwMode="auto">
            <a:xfrm>
              <a:off x="4014" y="2478"/>
              <a:ext cx="227" cy="192"/>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1</a:t>
              </a:r>
            </a:p>
          </p:txBody>
        </p:sp>
        <p:sp>
          <p:nvSpPr>
            <p:cNvPr id="403511" name="Text Box 55"/>
            <p:cNvSpPr txBox="1">
              <a:spLocks noChangeArrowheads="1"/>
            </p:cNvSpPr>
            <p:nvPr/>
          </p:nvSpPr>
          <p:spPr bwMode="auto">
            <a:xfrm>
              <a:off x="4014" y="2659"/>
              <a:ext cx="227" cy="192"/>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0</a:t>
              </a:r>
            </a:p>
          </p:txBody>
        </p:sp>
        <p:sp>
          <p:nvSpPr>
            <p:cNvPr id="403512" name="Line 56"/>
            <p:cNvSpPr>
              <a:spLocks noChangeShapeType="1"/>
            </p:cNvSpPr>
            <p:nvPr/>
          </p:nvSpPr>
          <p:spPr bwMode="auto">
            <a:xfrm>
              <a:off x="2290" y="2704"/>
              <a:ext cx="0" cy="681"/>
            </a:xfrm>
            <a:prstGeom prst="line">
              <a:avLst/>
            </a:prstGeom>
            <a:noFill/>
            <a:ln w="19050">
              <a:solidFill>
                <a:schemeClr val="tx1"/>
              </a:solidFill>
              <a:round/>
              <a:headEnd/>
              <a:tailEnd/>
            </a:ln>
            <a:effectLst/>
          </p:spPr>
          <p:txBody>
            <a:bodyPr wrap="none" anchor="ctr"/>
            <a:lstStyle/>
            <a:p>
              <a:endParaRPr lang="zh-CN" altLang="en-US"/>
            </a:p>
          </p:txBody>
        </p:sp>
        <p:sp>
          <p:nvSpPr>
            <p:cNvPr id="403513" name="Line 57"/>
            <p:cNvSpPr>
              <a:spLocks noChangeShapeType="1"/>
            </p:cNvSpPr>
            <p:nvPr/>
          </p:nvSpPr>
          <p:spPr bwMode="auto">
            <a:xfrm>
              <a:off x="2290" y="3385"/>
              <a:ext cx="817" cy="0"/>
            </a:xfrm>
            <a:prstGeom prst="line">
              <a:avLst/>
            </a:prstGeom>
            <a:noFill/>
            <a:ln w="19050">
              <a:solidFill>
                <a:schemeClr val="tx1"/>
              </a:solidFill>
              <a:round/>
              <a:headEnd/>
              <a:tailEnd/>
            </a:ln>
            <a:effectLst/>
          </p:spPr>
          <p:txBody>
            <a:bodyPr wrap="none" anchor="ctr"/>
            <a:lstStyle/>
            <a:p>
              <a:endParaRPr lang="zh-CN" altLang="en-US"/>
            </a:p>
          </p:txBody>
        </p:sp>
        <p:sp>
          <p:nvSpPr>
            <p:cNvPr id="403514" name="Rectangle 58"/>
            <p:cNvSpPr>
              <a:spLocks noChangeArrowheads="1"/>
            </p:cNvSpPr>
            <p:nvPr/>
          </p:nvSpPr>
          <p:spPr bwMode="auto">
            <a:xfrm>
              <a:off x="930" y="2840"/>
              <a:ext cx="226" cy="227"/>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3515" name="Rectangle 59"/>
            <p:cNvSpPr>
              <a:spLocks noChangeArrowheads="1"/>
            </p:cNvSpPr>
            <p:nvPr/>
          </p:nvSpPr>
          <p:spPr bwMode="auto">
            <a:xfrm>
              <a:off x="930" y="3203"/>
              <a:ext cx="226" cy="227"/>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3516" name="Rectangle 60"/>
            <p:cNvSpPr>
              <a:spLocks noChangeArrowheads="1"/>
            </p:cNvSpPr>
            <p:nvPr/>
          </p:nvSpPr>
          <p:spPr bwMode="auto">
            <a:xfrm>
              <a:off x="930" y="2478"/>
              <a:ext cx="226" cy="227"/>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3517" name="Rectangle 61"/>
            <p:cNvSpPr>
              <a:spLocks noChangeArrowheads="1"/>
            </p:cNvSpPr>
            <p:nvPr/>
          </p:nvSpPr>
          <p:spPr bwMode="auto">
            <a:xfrm>
              <a:off x="4830" y="2840"/>
              <a:ext cx="226" cy="227"/>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3518" name="Rectangle 62"/>
            <p:cNvSpPr>
              <a:spLocks noChangeArrowheads="1"/>
            </p:cNvSpPr>
            <p:nvPr/>
          </p:nvSpPr>
          <p:spPr bwMode="auto">
            <a:xfrm>
              <a:off x="4830" y="3203"/>
              <a:ext cx="226" cy="227"/>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3519" name="Rectangle 63"/>
            <p:cNvSpPr>
              <a:spLocks noChangeArrowheads="1"/>
            </p:cNvSpPr>
            <p:nvPr/>
          </p:nvSpPr>
          <p:spPr bwMode="auto">
            <a:xfrm>
              <a:off x="4830" y="2478"/>
              <a:ext cx="226" cy="227"/>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grpSp>
      <p:sp>
        <p:nvSpPr>
          <p:cNvPr id="403520" name="Text Box 64"/>
          <p:cNvSpPr txBox="1">
            <a:spLocks noChangeArrowheads="1"/>
          </p:cNvSpPr>
          <p:nvPr/>
        </p:nvSpPr>
        <p:spPr bwMode="auto">
          <a:xfrm>
            <a:off x="2135188" y="4076700"/>
            <a:ext cx="647700" cy="336550"/>
          </a:xfrm>
          <a:prstGeom prst="rect">
            <a:avLst/>
          </a:prstGeom>
          <a:noFill/>
          <a:ln w="19050" algn="ctr">
            <a:noFill/>
            <a:miter lim="800000"/>
            <a:headEnd/>
            <a:tailEnd/>
          </a:ln>
          <a:effectLst/>
        </p:spPr>
        <p:txBody>
          <a:bodyPr>
            <a:spAutoFit/>
          </a:bodyPr>
          <a:lstStyle/>
          <a:p>
            <a:pPr>
              <a:spcBef>
                <a:spcPct val="50000"/>
              </a:spcBef>
            </a:pPr>
            <a:r>
              <a:rPr lang="zh-CN" altLang="en-US" sz="1600">
                <a:solidFill>
                  <a:srgbClr val="0000FF"/>
                </a:solidFill>
                <a:latin typeface="Times New Roman" pitchFamily="18" charset="0"/>
                <a:ea typeface="华文新魏" pitchFamily="2" charset="-122"/>
              </a:rPr>
              <a:t>引脚</a:t>
            </a:r>
          </a:p>
        </p:txBody>
      </p:sp>
      <p:sp>
        <p:nvSpPr>
          <p:cNvPr id="403521" name="AutoShape 65"/>
          <p:cNvSpPr>
            <a:spLocks/>
          </p:cNvSpPr>
          <p:nvPr/>
        </p:nvSpPr>
        <p:spPr bwMode="auto">
          <a:xfrm>
            <a:off x="2711450" y="3644901"/>
            <a:ext cx="215900" cy="1223963"/>
          </a:xfrm>
          <a:prstGeom prst="leftBrace">
            <a:avLst>
              <a:gd name="adj1" fmla="val 47243"/>
              <a:gd name="adj2" fmla="val 50000"/>
            </a:avLst>
          </a:prstGeom>
          <a:noFill/>
          <a:ln w="19050">
            <a:solidFill>
              <a:srgbClr val="0000FF"/>
            </a:solidFill>
            <a:round/>
            <a:headEnd/>
            <a:tailEnd/>
          </a:ln>
          <a:effectLst/>
        </p:spPr>
        <p:txBody>
          <a:bodyPr wrap="none" anchor="ctr"/>
          <a:lstStyle/>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withEffect">
                                  <p:stCondLst>
                                    <p:cond delay="0"/>
                                  </p:stCondLst>
                                  <p:childTnLst>
                                    <p:set>
                                      <p:cBhvr>
                                        <p:cTn id="6" dur="1" fill="hold">
                                          <p:stCondLst>
                                            <p:cond delay="0"/>
                                          </p:stCondLst>
                                        </p:cTn>
                                        <p:tgtEl>
                                          <p:spTgt spid="403458"/>
                                        </p:tgtEl>
                                        <p:attrNameLst>
                                          <p:attrName>style.visibility</p:attrName>
                                        </p:attrNameLst>
                                      </p:cBhvr>
                                      <p:to>
                                        <p:strVal val="visible"/>
                                      </p:to>
                                    </p:set>
                                    <p:animEffect transition="in" filter="slide(fromTop)">
                                      <p:cBhvr>
                                        <p:cTn id="7" dur="500"/>
                                        <p:tgtEl>
                                          <p:spTgt spid="403458"/>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403459">
                                            <p:txEl>
                                              <p:pRg st="0" end="0"/>
                                            </p:txEl>
                                          </p:spTgt>
                                        </p:tgtEl>
                                        <p:attrNameLst>
                                          <p:attrName>style.visibility</p:attrName>
                                        </p:attrNameLst>
                                      </p:cBhvr>
                                      <p:to>
                                        <p:strVal val="visible"/>
                                      </p:to>
                                    </p:set>
                                    <p:anim calcmode="lin" valueType="num">
                                      <p:cBhvr additive="base">
                                        <p:cTn id="11" dur="500" fill="hold"/>
                                        <p:tgtEl>
                                          <p:spTgt spid="403459">
                                            <p:txEl>
                                              <p:pRg st="0" end="0"/>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403459">
                                            <p:txEl>
                                              <p:pRg st="0" end="0"/>
                                            </p:txEl>
                                          </p:spTgt>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 presetClass="entr" presetSubtype="16" fill="hold" grpId="0" nodeType="afterEffect">
                                  <p:stCondLst>
                                    <p:cond delay="0"/>
                                  </p:stCondLst>
                                  <p:childTnLst>
                                    <p:set>
                                      <p:cBhvr>
                                        <p:cTn id="15" dur="1" fill="hold">
                                          <p:stCondLst>
                                            <p:cond delay="0"/>
                                          </p:stCondLst>
                                        </p:cTn>
                                        <p:tgtEl>
                                          <p:spTgt spid="403460"/>
                                        </p:tgtEl>
                                        <p:attrNameLst>
                                          <p:attrName>style.visibility</p:attrName>
                                        </p:attrNameLst>
                                      </p:cBhvr>
                                      <p:to>
                                        <p:strVal val="visible"/>
                                      </p:to>
                                    </p:set>
                                    <p:animEffect transition="in" filter="box(in)">
                                      <p:cBhvr>
                                        <p:cTn id="16" dur="500"/>
                                        <p:tgtEl>
                                          <p:spTgt spid="403460"/>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403460"/>
                                        </p:tgtEl>
                                        <p:attrNameLst>
                                          <p:attrName>style.visibility</p:attrName>
                                        </p:attrNameLst>
                                      </p:cBhvr>
                                      <p:to>
                                        <p:strVal val="hidden"/>
                                      </p:to>
                                    </p:set>
                                  </p:childTnLst>
                                </p:cTn>
                              </p:par>
                              <p:par>
                                <p:cTn id="21" presetID="2" presetClass="entr" presetSubtype="2" fill="hold" nodeType="withEffect">
                                  <p:stCondLst>
                                    <p:cond delay="0"/>
                                  </p:stCondLst>
                                  <p:childTnLst>
                                    <p:set>
                                      <p:cBhvr>
                                        <p:cTn id="22" dur="1" fill="hold">
                                          <p:stCondLst>
                                            <p:cond delay="0"/>
                                          </p:stCondLst>
                                        </p:cTn>
                                        <p:tgtEl>
                                          <p:spTgt spid="403461"/>
                                        </p:tgtEl>
                                        <p:attrNameLst>
                                          <p:attrName>style.visibility</p:attrName>
                                        </p:attrNameLst>
                                      </p:cBhvr>
                                      <p:to>
                                        <p:strVal val="visible"/>
                                      </p:to>
                                    </p:set>
                                    <p:anim calcmode="lin" valueType="num">
                                      <p:cBhvr additive="base">
                                        <p:cTn id="23" dur="500" fill="hold"/>
                                        <p:tgtEl>
                                          <p:spTgt spid="403461"/>
                                        </p:tgtEl>
                                        <p:attrNameLst>
                                          <p:attrName>ppt_x</p:attrName>
                                        </p:attrNameLst>
                                      </p:cBhvr>
                                      <p:tavLst>
                                        <p:tav tm="0">
                                          <p:val>
                                            <p:strVal val="1+#ppt_w/2"/>
                                          </p:val>
                                        </p:tav>
                                        <p:tav tm="100000">
                                          <p:val>
                                            <p:strVal val="#ppt_x"/>
                                          </p:val>
                                        </p:tav>
                                      </p:tavLst>
                                    </p:anim>
                                    <p:anim calcmode="lin" valueType="num">
                                      <p:cBhvr additive="base">
                                        <p:cTn id="24" dur="500" fill="hold"/>
                                        <p:tgtEl>
                                          <p:spTgt spid="403461"/>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12" presetClass="entr" presetSubtype="1" fill="hold" nodeType="afterEffect">
                                  <p:stCondLst>
                                    <p:cond delay="0"/>
                                  </p:stCondLst>
                                  <p:childTnLst>
                                    <p:set>
                                      <p:cBhvr>
                                        <p:cTn id="27" dur="1" fill="hold">
                                          <p:stCondLst>
                                            <p:cond delay="0"/>
                                          </p:stCondLst>
                                        </p:cTn>
                                        <p:tgtEl>
                                          <p:spTgt spid="403462"/>
                                        </p:tgtEl>
                                        <p:attrNameLst>
                                          <p:attrName>style.visibility</p:attrName>
                                        </p:attrNameLst>
                                      </p:cBhvr>
                                      <p:to>
                                        <p:strVal val="visible"/>
                                      </p:to>
                                    </p:set>
                                    <p:animEffect transition="in" filter="slide(fromTop)">
                                      <p:cBhvr>
                                        <p:cTn id="28" dur="500"/>
                                        <p:tgtEl>
                                          <p:spTgt spid="403462"/>
                                        </p:tgtEl>
                                      </p:cBhvr>
                                    </p:animEffect>
                                  </p:childTnLst>
                                </p:cTn>
                              </p:par>
                            </p:childTnLst>
                          </p:cTn>
                        </p:par>
                        <p:par>
                          <p:cTn id="29" fill="hold">
                            <p:stCondLst>
                              <p:cond delay="1000"/>
                            </p:stCondLst>
                            <p:childTnLst>
                              <p:par>
                                <p:cTn id="30" presetID="12" presetClass="entr" presetSubtype="8" fill="hold" grpId="0" nodeType="afterEffect">
                                  <p:stCondLst>
                                    <p:cond delay="0"/>
                                  </p:stCondLst>
                                  <p:childTnLst>
                                    <p:set>
                                      <p:cBhvr>
                                        <p:cTn id="31" dur="1" fill="hold">
                                          <p:stCondLst>
                                            <p:cond delay="0"/>
                                          </p:stCondLst>
                                        </p:cTn>
                                        <p:tgtEl>
                                          <p:spTgt spid="403520"/>
                                        </p:tgtEl>
                                        <p:attrNameLst>
                                          <p:attrName>style.visibility</p:attrName>
                                        </p:attrNameLst>
                                      </p:cBhvr>
                                      <p:to>
                                        <p:strVal val="visible"/>
                                      </p:to>
                                    </p:set>
                                    <p:animEffect transition="in" filter="slide(fromLeft)">
                                      <p:cBhvr>
                                        <p:cTn id="32" dur="500"/>
                                        <p:tgtEl>
                                          <p:spTgt spid="403520"/>
                                        </p:tgtEl>
                                      </p:cBhvr>
                                    </p:animEffect>
                                  </p:childTnLst>
                                </p:cTn>
                              </p:par>
                            </p:childTnLst>
                          </p:cTn>
                        </p:par>
                        <p:par>
                          <p:cTn id="33" fill="hold">
                            <p:stCondLst>
                              <p:cond delay="1500"/>
                            </p:stCondLst>
                            <p:childTnLst>
                              <p:par>
                                <p:cTn id="34" presetID="12" presetClass="entr" presetSubtype="8" fill="hold" grpId="0" nodeType="afterEffect">
                                  <p:stCondLst>
                                    <p:cond delay="0"/>
                                  </p:stCondLst>
                                  <p:childTnLst>
                                    <p:set>
                                      <p:cBhvr>
                                        <p:cTn id="35" dur="1" fill="hold">
                                          <p:stCondLst>
                                            <p:cond delay="0"/>
                                          </p:stCondLst>
                                        </p:cTn>
                                        <p:tgtEl>
                                          <p:spTgt spid="403521"/>
                                        </p:tgtEl>
                                        <p:attrNameLst>
                                          <p:attrName>style.visibility</p:attrName>
                                        </p:attrNameLst>
                                      </p:cBhvr>
                                      <p:to>
                                        <p:strVal val="visible"/>
                                      </p:to>
                                    </p:set>
                                    <p:animEffect transition="in" filter="slide(fromLeft)">
                                      <p:cBhvr>
                                        <p:cTn id="36" dur="500"/>
                                        <p:tgtEl>
                                          <p:spTgt spid="403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58" grpId="0"/>
      <p:bldP spid="403459" grpId="0" build="p"/>
      <p:bldP spid="403460" grpId="0"/>
      <p:bldP spid="403460" grpId="1"/>
      <p:bldP spid="403520" grpId="0"/>
      <p:bldP spid="403521"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404482" name="Group 2"/>
          <p:cNvGrpSpPr>
            <a:grpSpLocks/>
          </p:cNvGrpSpPr>
          <p:nvPr/>
        </p:nvGrpSpPr>
        <p:grpSpPr bwMode="auto">
          <a:xfrm>
            <a:off x="2782889" y="1268414"/>
            <a:ext cx="6550025" cy="2376487"/>
            <a:chOff x="930" y="2160"/>
            <a:chExt cx="4126" cy="1497"/>
          </a:xfrm>
        </p:grpSpPr>
        <p:sp>
          <p:nvSpPr>
            <p:cNvPr id="404483" name="Rectangle 3"/>
            <p:cNvSpPr>
              <a:spLocks noChangeArrowheads="1"/>
            </p:cNvSpPr>
            <p:nvPr/>
          </p:nvSpPr>
          <p:spPr bwMode="auto">
            <a:xfrm>
              <a:off x="1156" y="2160"/>
              <a:ext cx="3674" cy="1497"/>
            </a:xfrm>
            <a:prstGeom prst="rect">
              <a:avLst/>
            </a:prstGeom>
            <a:noFill/>
            <a:ln w="19050">
              <a:solidFill>
                <a:schemeClr val="tx1"/>
              </a:solidFill>
              <a:miter lim="800000"/>
              <a:headEnd/>
              <a:tailEnd/>
            </a:ln>
            <a:effectLst/>
          </p:spPr>
          <p:txBody>
            <a:bodyPr wrap="none" anchor="ctr"/>
            <a:lstStyle/>
            <a:p>
              <a:endParaRPr lang="zh-CN" altLang="en-US"/>
            </a:p>
          </p:txBody>
        </p:sp>
        <p:sp>
          <p:nvSpPr>
            <p:cNvPr id="404484" name="Rectangle 4"/>
            <p:cNvSpPr>
              <a:spLocks noChangeArrowheads="1"/>
            </p:cNvSpPr>
            <p:nvPr/>
          </p:nvSpPr>
          <p:spPr bwMode="auto">
            <a:xfrm>
              <a:off x="1474" y="2523"/>
              <a:ext cx="499" cy="816"/>
            </a:xfrm>
            <a:prstGeom prst="rect">
              <a:avLst/>
            </a:prstGeom>
            <a:noFill/>
            <a:ln w="19050">
              <a:solidFill>
                <a:schemeClr val="tx1"/>
              </a:solidFill>
              <a:miter lim="800000"/>
              <a:headEnd/>
              <a:tailEnd/>
            </a:ln>
            <a:effectLst/>
          </p:spPr>
          <p:txBody>
            <a:bodyPr wrap="none" anchor="ctr"/>
            <a:lstStyle/>
            <a:p>
              <a:endParaRPr lang="zh-CN" altLang="en-US"/>
            </a:p>
          </p:txBody>
        </p:sp>
        <p:sp>
          <p:nvSpPr>
            <p:cNvPr id="404485" name="Rectangle 5"/>
            <p:cNvSpPr>
              <a:spLocks noChangeArrowheads="1"/>
            </p:cNvSpPr>
            <p:nvPr/>
          </p:nvSpPr>
          <p:spPr bwMode="auto">
            <a:xfrm>
              <a:off x="1474" y="3339"/>
              <a:ext cx="499" cy="136"/>
            </a:xfrm>
            <a:prstGeom prst="rect">
              <a:avLst/>
            </a:prstGeom>
            <a:solidFill>
              <a:schemeClr val="folHlink"/>
            </a:solidFill>
            <a:ln w="19050">
              <a:solidFill>
                <a:schemeClr val="tx1"/>
              </a:solidFill>
              <a:miter lim="800000"/>
              <a:headEnd/>
              <a:tailEnd/>
            </a:ln>
            <a:effectLst/>
          </p:spPr>
          <p:txBody>
            <a:bodyPr wrap="none" anchor="ctr"/>
            <a:lstStyle/>
            <a:p>
              <a:r>
                <a:rPr lang="en-US" altLang="zh-CN" sz="1400"/>
                <a:t>PINSELx</a:t>
              </a:r>
            </a:p>
          </p:txBody>
        </p:sp>
        <p:sp>
          <p:nvSpPr>
            <p:cNvPr id="404486" name="Line 6"/>
            <p:cNvSpPr>
              <a:spLocks noChangeShapeType="1"/>
            </p:cNvSpPr>
            <p:nvPr/>
          </p:nvSpPr>
          <p:spPr bwMode="auto">
            <a:xfrm>
              <a:off x="1156" y="2951"/>
              <a:ext cx="412" cy="0"/>
            </a:xfrm>
            <a:prstGeom prst="line">
              <a:avLst/>
            </a:prstGeom>
            <a:noFill/>
            <a:ln w="19050">
              <a:solidFill>
                <a:schemeClr val="tx1"/>
              </a:solidFill>
              <a:round/>
              <a:headEnd/>
              <a:tailEnd/>
            </a:ln>
            <a:effectLst/>
          </p:spPr>
          <p:txBody>
            <a:bodyPr wrap="none" anchor="ctr"/>
            <a:lstStyle/>
            <a:p>
              <a:endParaRPr lang="zh-CN" altLang="en-US"/>
            </a:p>
          </p:txBody>
        </p:sp>
        <p:sp>
          <p:nvSpPr>
            <p:cNvPr id="404487" name="Oval 7"/>
            <p:cNvSpPr>
              <a:spLocks noChangeArrowheads="1"/>
            </p:cNvSpPr>
            <p:nvPr/>
          </p:nvSpPr>
          <p:spPr bwMode="auto">
            <a:xfrm>
              <a:off x="1568" y="2931"/>
              <a:ext cx="42" cy="45"/>
            </a:xfrm>
            <a:prstGeom prst="ellipse">
              <a:avLst/>
            </a:prstGeom>
            <a:noFill/>
            <a:ln w="19050" algn="ctr">
              <a:solidFill>
                <a:schemeClr val="tx1"/>
              </a:solidFill>
              <a:round/>
              <a:headEnd/>
              <a:tailEnd/>
            </a:ln>
            <a:effectLst/>
          </p:spPr>
          <p:txBody>
            <a:bodyPr wrap="none" anchor="ctr"/>
            <a:lstStyle/>
            <a:p>
              <a:endParaRPr lang="zh-CN" altLang="en-US"/>
            </a:p>
          </p:txBody>
        </p:sp>
        <p:grpSp>
          <p:nvGrpSpPr>
            <p:cNvPr id="404488" name="Group 8"/>
            <p:cNvGrpSpPr>
              <a:grpSpLocks/>
            </p:cNvGrpSpPr>
            <p:nvPr/>
          </p:nvGrpSpPr>
          <p:grpSpPr bwMode="auto">
            <a:xfrm>
              <a:off x="1837" y="2684"/>
              <a:ext cx="272" cy="45"/>
              <a:chOff x="1837" y="2684"/>
              <a:chExt cx="272" cy="45"/>
            </a:xfrm>
          </p:grpSpPr>
          <p:sp>
            <p:nvSpPr>
              <p:cNvPr id="404489" name="Line 9"/>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4490" name="Oval 10"/>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4491" name="Group 11"/>
            <p:cNvGrpSpPr>
              <a:grpSpLocks/>
            </p:cNvGrpSpPr>
            <p:nvPr/>
          </p:nvGrpSpPr>
          <p:grpSpPr bwMode="auto">
            <a:xfrm>
              <a:off x="1837" y="2840"/>
              <a:ext cx="272" cy="45"/>
              <a:chOff x="1837" y="2684"/>
              <a:chExt cx="272" cy="45"/>
            </a:xfrm>
          </p:grpSpPr>
          <p:sp>
            <p:nvSpPr>
              <p:cNvPr id="404492" name="Line 12"/>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4493" name="Oval 13"/>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4494" name="Group 14"/>
            <p:cNvGrpSpPr>
              <a:grpSpLocks/>
            </p:cNvGrpSpPr>
            <p:nvPr/>
          </p:nvGrpSpPr>
          <p:grpSpPr bwMode="auto">
            <a:xfrm>
              <a:off x="1837" y="3022"/>
              <a:ext cx="272" cy="45"/>
              <a:chOff x="1837" y="2684"/>
              <a:chExt cx="272" cy="45"/>
            </a:xfrm>
          </p:grpSpPr>
          <p:sp>
            <p:nvSpPr>
              <p:cNvPr id="404495" name="Line 15"/>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4496" name="Oval 16"/>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4497" name="Group 17"/>
            <p:cNvGrpSpPr>
              <a:grpSpLocks/>
            </p:cNvGrpSpPr>
            <p:nvPr/>
          </p:nvGrpSpPr>
          <p:grpSpPr bwMode="auto">
            <a:xfrm>
              <a:off x="1837" y="3203"/>
              <a:ext cx="272" cy="45"/>
              <a:chOff x="1837" y="2684"/>
              <a:chExt cx="272" cy="45"/>
            </a:xfrm>
          </p:grpSpPr>
          <p:sp>
            <p:nvSpPr>
              <p:cNvPr id="404498" name="Line 18"/>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4499" name="Oval 19"/>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sp>
          <p:nvSpPr>
            <p:cNvPr id="404500" name="Line 20"/>
            <p:cNvSpPr>
              <a:spLocks noChangeShapeType="1"/>
            </p:cNvSpPr>
            <p:nvPr/>
          </p:nvSpPr>
          <p:spPr bwMode="auto">
            <a:xfrm flipV="1">
              <a:off x="1610" y="2704"/>
              <a:ext cx="227" cy="227"/>
            </a:xfrm>
            <a:prstGeom prst="line">
              <a:avLst/>
            </a:prstGeom>
            <a:noFill/>
            <a:ln w="19050">
              <a:solidFill>
                <a:srgbClr val="0000FF"/>
              </a:solidFill>
              <a:round/>
              <a:headEnd/>
              <a:tailEnd/>
            </a:ln>
            <a:effectLst/>
          </p:spPr>
          <p:txBody>
            <a:bodyPr wrap="none" anchor="ctr"/>
            <a:lstStyle/>
            <a:p>
              <a:endParaRPr lang="zh-CN" altLang="en-US"/>
            </a:p>
          </p:txBody>
        </p:sp>
        <p:sp>
          <p:nvSpPr>
            <p:cNvPr id="404501" name="Rectangle 21"/>
            <p:cNvSpPr>
              <a:spLocks noChangeArrowheads="1"/>
            </p:cNvSpPr>
            <p:nvPr/>
          </p:nvSpPr>
          <p:spPr bwMode="auto">
            <a:xfrm>
              <a:off x="2471" y="2523"/>
              <a:ext cx="499" cy="363"/>
            </a:xfrm>
            <a:prstGeom prst="rect">
              <a:avLst/>
            </a:prstGeom>
            <a:noFill/>
            <a:ln w="19050">
              <a:solidFill>
                <a:schemeClr val="tx1"/>
              </a:solidFill>
              <a:miter lim="800000"/>
              <a:headEnd/>
              <a:tailEnd/>
            </a:ln>
            <a:effectLst/>
          </p:spPr>
          <p:txBody>
            <a:bodyPr wrap="none" anchor="ctr"/>
            <a:lstStyle/>
            <a:p>
              <a:endParaRPr lang="zh-CN" altLang="en-US"/>
            </a:p>
          </p:txBody>
        </p:sp>
        <p:sp>
          <p:nvSpPr>
            <p:cNvPr id="404502" name="Rectangle 22"/>
            <p:cNvSpPr>
              <a:spLocks noChangeArrowheads="1"/>
            </p:cNvSpPr>
            <p:nvPr/>
          </p:nvSpPr>
          <p:spPr bwMode="auto">
            <a:xfrm>
              <a:off x="2471" y="2886"/>
              <a:ext cx="499" cy="136"/>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IOxDIR</a:t>
              </a:r>
            </a:p>
          </p:txBody>
        </p:sp>
        <p:sp>
          <p:nvSpPr>
            <p:cNvPr id="404503" name="Line 23"/>
            <p:cNvSpPr>
              <a:spLocks noChangeShapeType="1"/>
            </p:cNvSpPr>
            <p:nvPr/>
          </p:nvSpPr>
          <p:spPr bwMode="auto">
            <a:xfrm>
              <a:off x="2109" y="2704"/>
              <a:ext cx="453" cy="0"/>
            </a:xfrm>
            <a:prstGeom prst="line">
              <a:avLst/>
            </a:prstGeom>
            <a:noFill/>
            <a:ln w="19050">
              <a:solidFill>
                <a:schemeClr val="tx1"/>
              </a:solidFill>
              <a:round/>
              <a:headEnd/>
              <a:tailEnd/>
            </a:ln>
            <a:effectLst/>
          </p:spPr>
          <p:txBody>
            <a:bodyPr wrap="none" anchor="ctr"/>
            <a:lstStyle/>
            <a:p>
              <a:endParaRPr lang="zh-CN" altLang="en-US"/>
            </a:p>
          </p:txBody>
        </p:sp>
        <p:sp>
          <p:nvSpPr>
            <p:cNvPr id="404504" name="Oval 24"/>
            <p:cNvSpPr>
              <a:spLocks noChangeArrowheads="1"/>
            </p:cNvSpPr>
            <p:nvPr/>
          </p:nvSpPr>
          <p:spPr bwMode="auto">
            <a:xfrm>
              <a:off x="2562" y="2684"/>
              <a:ext cx="45" cy="45"/>
            </a:xfrm>
            <a:prstGeom prst="ellipse">
              <a:avLst/>
            </a:prstGeom>
            <a:noFill/>
            <a:ln w="19050" algn="ctr">
              <a:solidFill>
                <a:schemeClr val="tx1"/>
              </a:solidFill>
              <a:round/>
              <a:headEnd/>
              <a:tailEnd/>
            </a:ln>
            <a:effectLst/>
          </p:spPr>
          <p:txBody>
            <a:bodyPr wrap="none" anchor="ctr"/>
            <a:lstStyle/>
            <a:p>
              <a:endParaRPr lang="zh-CN" altLang="en-US"/>
            </a:p>
          </p:txBody>
        </p:sp>
        <p:sp>
          <p:nvSpPr>
            <p:cNvPr id="404505" name="Line 25"/>
            <p:cNvSpPr>
              <a:spLocks noChangeShapeType="1"/>
            </p:cNvSpPr>
            <p:nvPr/>
          </p:nvSpPr>
          <p:spPr bwMode="auto">
            <a:xfrm flipH="1">
              <a:off x="2880" y="2568"/>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4506" name="Oval 26"/>
            <p:cNvSpPr>
              <a:spLocks noChangeArrowheads="1"/>
            </p:cNvSpPr>
            <p:nvPr/>
          </p:nvSpPr>
          <p:spPr bwMode="auto">
            <a:xfrm flipH="1">
              <a:off x="2835" y="2548"/>
              <a:ext cx="45" cy="45"/>
            </a:xfrm>
            <a:prstGeom prst="ellipse">
              <a:avLst/>
            </a:prstGeom>
            <a:noFill/>
            <a:ln w="19050" algn="ctr">
              <a:solidFill>
                <a:schemeClr val="tx1"/>
              </a:solidFill>
              <a:round/>
              <a:headEnd/>
              <a:tailEnd/>
            </a:ln>
            <a:effectLst/>
          </p:spPr>
          <p:txBody>
            <a:bodyPr wrap="none" anchor="ctr"/>
            <a:lstStyle/>
            <a:p>
              <a:endParaRPr lang="zh-CN" altLang="en-US"/>
            </a:p>
          </p:txBody>
        </p:sp>
        <p:sp>
          <p:nvSpPr>
            <p:cNvPr id="404507" name="Line 27"/>
            <p:cNvSpPr>
              <a:spLocks noChangeShapeType="1"/>
            </p:cNvSpPr>
            <p:nvPr/>
          </p:nvSpPr>
          <p:spPr bwMode="auto">
            <a:xfrm flipH="1">
              <a:off x="2880" y="2815"/>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4508" name="Oval 28"/>
            <p:cNvSpPr>
              <a:spLocks noChangeArrowheads="1"/>
            </p:cNvSpPr>
            <p:nvPr/>
          </p:nvSpPr>
          <p:spPr bwMode="auto">
            <a:xfrm flipH="1">
              <a:off x="2835" y="2795"/>
              <a:ext cx="45" cy="45"/>
            </a:xfrm>
            <a:prstGeom prst="ellipse">
              <a:avLst/>
            </a:prstGeom>
            <a:noFill/>
            <a:ln w="19050" algn="ctr">
              <a:solidFill>
                <a:schemeClr val="tx1"/>
              </a:solidFill>
              <a:round/>
              <a:headEnd/>
              <a:tailEnd/>
            </a:ln>
            <a:effectLst/>
          </p:spPr>
          <p:txBody>
            <a:bodyPr wrap="none" anchor="ctr"/>
            <a:lstStyle/>
            <a:p>
              <a:endParaRPr lang="zh-CN" altLang="en-US"/>
            </a:p>
          </p:txBody>
        </p:sp>
        <p:sp>
          <p:nvSpPr>
            <p:cNvPr id="404509" name="Line 29"/>
            <p:cNvSpPr>
              <a:spLocks noChangeShapeType="1"/>
            </p:cNvSpPr>
            <p:nvPr/>
          </p:nvSpPr>
          <p:spPr bwMode="auto">
            <a:xfrm flipV="1">
              <a:off x="2607" y="2568"/>
              <a:ext cx="227" cy="136"/>
            </a:xfrm>
            <a:prstGeom prst="line">
              <a:avLst/>
            </a:prstGeom>
            <a:noFill/>
            <a:ln w="19050">
              <a:solidFill>
                <a:srgbClr val="0000FF"/>
              </a:solidFill>
              <a:round/>
              <a:headEnd/>
              <a:tailEnd/>
            </a:ln>
            <a:effectLst/>
          </p:spPr>
          <p:txBody>
            <a:bodyPr wrap="none" anchor="ctr"/>
            <a:lstStyle/>
            <a:p>
              <a:endParaRPr lang="zh-CN" altLang="en-US"/>
            </a:p>
          </p:txBody>
        </p:sp>
        <p:sp>
          <p:nvSpPr>
            <p:cNvPr id="404510" name="Rectangle 30"/>
            <p:cNvSpPr>
              <a:spLocks noChangeArrowheads="1"/>
            </p:cNvSpPr>
            <p:nvPr/>
          </p:nvSpPr>
          <p:spPr bwMode="auto">
            <a:xfrm>
              <a:off x="3379" y="2523"/>
              <a:ext cx="499" cy="317"/>
            </a:xfrm>
            <a:prstGeom prst="rect">
              <a:avLst/>
            </a:prstGeom>
            <a:noFill/>
            <a:ln w="19050">
              <a:solidFill>
                <a:schemeClr val="tx1"/>
              </a:solidFill>
              <a:miter lim="800000"/>
              <a:headEnd/>
              <a:tailEnd/>
            </a:ln>
            <a:effectLst/>
          </p:spPr>
          <p:txBody>
            <a:bodyPr wrap="none" anchor="ctr"/>
            <a:lstStyle/>
            <a:p>
              <a:endParaRPr lang="zh-CN" altLang="en-US"/>
            </a:p>
          </p:txBody>
        </p:sp>
        <p:sp>
          <p:nvSpPr>
            <p:cNvPr id="404511" name="Rectangle 31"/>
            <p:cNvSpPr>
              <a:spLocks noChangeArrowheads="1"/>
            </p:cNvSpPr>
            <p:nvPr/>
          </p:nvSpPr>
          <p:spPr bwMode="auto">
            <a:xfrm>
              <a:off x="3379" y="2886"/>
              <a:ext cx="499" cy="136"/>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IOxCLR</a:t>
              </a:r>
            </a:p>
          </p:txBody>
        </p:sp>
        <p:sp>
          <p:nvSpPr>
            <p:cNvPr id="404512" name="Oval 32"/>
            <p:cNvSpPr>
              <a:spLocks noChangeArrowheads="1"/>
            </p:cNvSpPr>
            <p:nvPr/>
          </p:nvSpPr>
          <p:spPr bwMode="auto">
            <a:xfrm>
              <a:off x="3470"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nvGrpSpPr>
            <p:cNvPr id="404513" name="Group 33"/>
            <p:cNvGrpSpPr>
              <a:grpSpLocks/>
            </p:cNvGrpSpPr>
            <p:nvPr/>
          </p:nvGrpSpPr>
          <p:grpSpPr bwMode="auto">
            <a:xfrm>
              <a:off x="3742" y="2568"/>
              <a:ext cx="272" cy="45"/>
              <a:chOff x="1837" y="2684"/>
              <a:chExt cx="272" cy="45"/>
            </a:xfrm>
          </p:grpSpPr>
          <p:sp>
            <p:nvSpPr>
              <p:cNvPr id="404514" name="Line 34"/>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4515" name="Oval 35"/>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4516" name="Group 36"/>
            <p:cNvGrpSpPr>
              <a:grpSpLocks/>
            </p:cNvGrpSpPr>
            <p:nvPr/>
          </p:nvGrpSpPr>
          <p:grpSpPr bwMode="auto">
            <a:xfrm>
              <a:off x="3742" y="2750"/>
              <a:ext cx="272" cy="45"/>
              <a:chOff x="1837" y="2684"/>
              <a:chExt cx="272" cy="45"/>
            </a:xfrm>
          </p:grpSpPr>
          <p:sp>
            <p:nvSpPr>
              <p:cNvPr id="404517" name="Line 37"/>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4518" name="Oval 38"/>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sp>
          <p:nvSpPr>
            <p:cNvPr id="404519" name="Line 39"/>
            <p:cNvSpPr>
              <a:spLocks noChangeShapeType="1"/>
            </p:cNvSpPr>
            <p:nvPr/>
          </p:nvSpPr>
          <p:spPr bwMode="auto">
            <a:xfrm flipV="1">
              <a:off x="3515" y="2568"/>
              <a:ext cx="227" cy="136"/>
            </a:xfrm>
            <a:prstGeom prst="line">
              <a:avLst/>
            </a:prstGeom>
            <a:noFill/>
            <a:ln w="19050">
              <a:solidFill>
                <a:srgbClr val="0000FF"/>
              </a:solidFill>
              <a:round/>
              <a:headEnd/>
              <a:tailEnd/>
            </a:ln>
            <a:effectLst/>
          </p:spPr>
          <p:txBody>
            <a:bodyPr wrap="none" anchor="ctr"/>
            <a:lstStyle/>
            <a:p>
              <a:endParaRPr lang="zh-CN" altLang="en-US"/>
            </a:p>
          </p:txBody>
        </p:sp>
        <p:sp>
          <p:nvSpPr>
            <p:cNvPr id="404520" name="Line 40"/>
            <p:cNvSpPr>
              <a:spLocks noChangeShapeType="1"/>
            </p:cNvSpPr>
            <p:nvPr/>
          </p:nvSpPr>
          <p:spPr bwMode="auto">
            <a:xfrm>
              <a:off x="324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4521" name="Line 41"/>
            <p:cNvSpPr>
              <a:spLocks noChangeShapeType="1"/>
            </p:cNvSpPr>
            <p:nvPr/>
          </p:nvSpPr>
          <p:spPr bwMode="auto">
            <a:xfrm flipV="1">
              <a:off x="3242" y="2568"/>
              <a:ext cx="0" cy="136"/>
            </a:xfrm>
            <a:prstGeom prst="line">
              <a:avLst/>
            </a:prstGeom>
            <a:noFill/>
            <a:ln w="19050">
              <a:solidFill>
                <a:schemeClr val="tx1"/>
              </a:solidFill>
              <a:round/>
              <a:headEnd/>
              <a:tailEnd/>
            </a:ln>
            <a:effectLst/>
          </p:spPr>
          <p:txBody>
            <a:bodyPr wrap="none" anchor="ctr"/>
            <a:lstStyle/>
            <a:p>
              <a:endParaRPr lang="zh-CN" altLang="en-US"/>
            </a:p>
          </p:txBody>
        </p:sp>
        <p:sp>
          <p:nvSpPr>
            <p:cNvPr id="404522" name="Line 42"/>
            <p:cNvSpPr>
              <a:spLocks noChangeShapeType="1"/>
            </p:cNvSpPr>
            <p:nvPr/>
          </p:nvSpPr>
          <p:spPr bwMode="auto">
            <a:xfrm flipH="1">
              <a:off x="3106" y="2568"/>
              <a:ext cx="136" cy="0"/>
            </a:xfrm>
            <a:prstGeom prst="line">
              <a:avLst/>
            </a:prstGeom>
            <a:noFill/>
            <a:ln w="19050">
              <a:solidFill>
                <a:schemeClr val="tx1"/>
              </a:solidFill>
              <a:round/>
              <a:headEnd/>
              <a:tailEnd/>
            </a:ln>
            <a:effectLst/>
          </p:spPr>
          <p:txBody>
            <a:bodyPr wrap="none" anchor="ctr"/>
            <a:lstStyle/>
            <a:p>
              <a:endParaRPr lang="zh-CN" altLang="en-US"/>
            </a:p>
          </p:txBody>
        </p:sp>
        <p:sp>
          <p:nvSpPr>
            <p:cNvPr id="404523" name="Line 43"/>
            <p:cNvSpPr>
              <a:spLocks noChangeShapeType="1"/>
            </p:cNvSpPr>
            <p:nvPr/>
          </p:nvSpPr>
          <p:spPr bwMode="auto">
            <a:xfrm>
              <a:off x="3107" y="3385"/>
              <a:ext cx="272" cy="0"/>
            </a:xfrm>
            <a:prstGeom prst="line">
              <a:avLst/>
            </a:prstGeom>
            <a:noFill/>
            <a:ln w="19050">
              <a:solidFill>
                <a:schemeClr val="tx1"/>
              </a:solidFill>
              <a:round/>
              <a:headEnd/>
              <a:tailEnd/>
            </a:ln>
            <a:effectLst/>
          </p:spPr>
          <p:txBody>
            <a:bodyPr wrap="none" anchor="ctr"/>
            <a:lstStyle/>
            <a:p>
              <a:endParaRPr lang="zh-CN" altLang="en-US"/>
            </a:p>
          </p:txBody>
        </p:sp>
        <p:sp>
          <p:nvSpPr>
            <p:cNvPr id="404524" name="Rectangle 44"/>
            <p:cNvSpPr>
              <a:spLocks noChangeArrowheads="1"/>
            </p:cNvSpPr>
            <p:nvPr/>
          </p:nvSpPr>
          <p:spPr bwMode="auto">
            <a:xfrm>
              <a:off x="3379" y="3294"/>
              <a:ext cx="499" cy="181"/>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IOxPIN</a:t>
              </a:r>
            </a:p>
          </p:txBody>
        </p:sp>
        <p:sp>
          <p:nvSpPr>
            <p:cNvPr id="404525" name="Rectangle 45"/>
            <p:cNvSpPr>
              <a:spLocks noChangeArrowheads="1"/>
            </p:cNvSpPr>
            <p:nvPr/>
          </p:nvSpPr>
          <p:spPr bwMode="auto">
            <a:xfrm>
              <a:off x="3379" y="2341"/>
              <a:ext cx="499" cy="136"/>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IOxSET</a:t>
              </a:r>
            </a:p>
          </p:txBody>
        </p:sp>
        <p:sp>
          <p:nvSpPr>
            <p:cNvPr id="404526" name="Text Box 46"/>
            <p:cNvSpPr txBox="1">
              <a:spLocks noChangeArrowheads="1"/>
            </p:cNvSpPr>
            <p:nvPr/>
          </p:nvSpPr>
          <p:spPr bwMode="auto">
            <a:xfrm>
              <a:off x="2970" y="2659"/>
              <a:ext cx="227" cy="192"/>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in</a:t>
              </a:r>
            </a:p>
          </p:txBody>
        </p:sp>
        <p:sp>
          <p:nvSpPr>
            <p:cNvPr id="404527" name="Text Box 47"/>
            <p:cNvSpPr txBox="1">
              <a:spLocks noChangeArrowheads="1"/>
            </p:cNvSpPr>
            <p:nvPr/>
          </p:nvSpPr>
          <p:spPr bwMode="auto">
            <a:xfrm>
              <a:off x="2970" y="2387"/>
              <a:ext cx="272" cy="192"/>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out</a:t>
              </a:r>
            </a:p>
          </p:txBody>
        </p:sp>
        <p:sp>
          <p:nvSpPr>
            <p:cNvPr id="404528" name="Line 48"/>
            <p:cNvSpPr>
              <a:spLocks noChangeShapeType="1"/>
            </p:cNvSpPr>
            <p:nvPr/>
          </p:nvSpPr>
          <p:spPr bwMode="auto">
            <a:xfrm>
              <a:off x="3606" y="2478"/>
              <a:ext cx="0" cy="136"/>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404529" name="Line 49"/>
            <p:cNvSpPr>
              <a:spLocks noChangeShapeType="1"/>
            </p:cNvSpPr>
            <p:nvPr/>
          </p:nvSpPr>
          <p:spPr bwMode="auto">
            <a:xfrm flipV="1">
              <a:off x="3606" y="2750"/>
              <a:ext cx="0" cy="136"/>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404530" name="Text Box 50"/>
            <p:cNvSpPr txBox="1">
              <a:spLocks noChangeArrowheads="1"/>
            </p:cNvSpPr>
            <p:nvPr/>
          </p:nvSpPr>
          <p:spPr bwMode="auto">
            <a:xfrm>
              <a:off x="4014" y="2478"/>
              <a:ext cx="227" cy="192"/>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1</a:t>
              </a:r>
            </a:p>
          </p:txBody>
        </p:sp>
        <p:sp>
          <p:nvSpPr>
            <p:cNvPr id="404531" name="Text Box 51"/>
            <p:cNvSpPr txBox="1">
              <a:spLocks noChangeArrowheads="1"/>
            </p:cNvSpPr>
            <p:nvPr/>
          </p:nvSpPr>
          <p:spPr bwMode="auto">
            <a:xfrm>
              <a:off x="4014" y="2659"/>
              <a:ext cx="227" cy="192"/>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0</a:t>
              </a:r>
            </a:p>
          </p:txBody>
        </p:sp>
        <p:sp>
          <p:nvSpPr>
            <p:cNvPr id="404532" name="Line 52"/>
            <p:cNvSpPr>
              <a:spLocks noChangeShapeType="1"/>
            </p:cNvSpPr>
            <p:nvPr/>
          </p:nvSpPr>
          <p:spPr bwMode="auto">
            <a:xfrm>
              <a:off x="2290" y="2704"/>
              <a:ext cx="0" cy="681"/>
            </a:xfrm>
            <a:prstGeom prst="line">
              <a:avLst/>
            </a:prstGeom>
            <a:noFill/>
            <a:ln w="19050">
              <a:solidFill>
                <a:schemeClr val="tx1"/>
              </a:solidFill>
              <a:round/>
              <a:headEnd/>
              <a:tailEnd/>
            </a:ln>
            <a:effectLst/>
          </p:spPr>
          <p:txBody>
            <a:bodyPr wrap="none" anchor="ctr"/>
            <a:lstStyle/>
            <a:p>
              <a:endParaRPr lang="zh-CN" altLang="en-US"/>
            </a:p>
          </p:txBody>
        </p:sp>
        <p:sp>
          <p:nvSpPr>
            <p:cNvPr id="404533" name="Line 53"/>
            <p:cNvSpPr>
              <a:spLocks noChangeShapeType="1"/>
            </p:cNvSpPr>
            <p:nvPr/>
          </p:nvSpPr>
          <p:spPr bwMode="auto">
            <a:xfrm>
              <a:off x="2290" y="3385"/>
              <a:ext cx="817" cy="0"/>
            </a:xfrm>
            <a:prstGeom prst="line">
              <a:avLst/>
            </a:prstGeom>
            <a:noFill/>
            <a:ln w="19050">
              <a:solidFill>
                <a:schemeClr val="tx1"/>
              </a:solidFill>
              <a:round/>
              <a:headEnd/>
              <a:tailEnd/>
            </a:ln>
            <a:effectLst/>
          </p:spPr>
          <p:txBody>
            <a:bodyPr wrap="none" anchor="ctr"/>
            <a:lstStyle/>
            <a:p>
              <a:endParaRPr lang="zh-CN" altLang="en-US"/>
            </a:p>
          </p:txBody>
        </p:sp>
        <p:sp>
          <p:nvSpPr>
            <p:cNvPr id="404534" name="Rectangle 54"/>
            <p:cNvSpPr>
              <a:spLocks noChangeArrowheads="1"/>
            </p:cNvSpPr>
            <p:nvPr/>
          </p:nvSpPr>
          <p:spPr bwMode="auto">
            <a:xfrm>
              <a:off x="930" y="2840"/>
              <a:ext cx="226" cy="227"/>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4535" name="Rectangle 55"/>
            <p:cNvSpPr>
              <a:spLocks noChangeArrowheads="1"/>
            </p:cNvSpPr>
            <p:nvPr/>
          </p:nvSpPr>
          <p:spPr bwMode="auto">
            <a:xfrm>
              <a:off x="930" y="3203"/>
              <a:ext cx="226" cy="227"/>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4536" name="Rectangle 56"/>
            <p:cNvSpPr>
              <a:spLocks noChangeArrowheads="1"/>
            </p:cNvSpPr>
            <p:nvPr/>
          </p:nvSpPr>
          <p:spPr bwMode="auto">
            <a:xfrm>
              <a:off x="930" y="2478"/>
              <a:ext cx="226" cy="227"/>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4537" name="Rectangle 57"/>
            <p:cNvSpPr>
              <a:spLocks noChangeArrowheads="1"/>
            </p:cNvSpPr>
            <p:nvPr/>
          </p:nvSpPr>
          <p:spPr bwMode="auto">
            <a:xfrm>
              <a:off x="4830" y="2840"/>
              <a:ext cx="226" cy="227"/>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4538" name="Rectangle 58"/>
            <p:cNvSpPr>
              <a:spLocks noChangeArrowheads="1"/>
            </p:cNvSpPr>
            <p:nvPr/>
          </p:nvSpPr>
          <p:spPr bwMode="auto">
            <a:xfrm>
              <a:off x="4830" y="3203"/>
              <a:ext cx="226" cy="227"/>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4539" name="Rectangle 59"/>
            <p:cNvSpPr>
              <a:spLocks noChangeArrowheads="1"/>
            </p:cNvSpPr>
            <p:nvPr/>
          </p:nvSpPr>
          <p:spPr bwMode="auto">
            <a:xfrm>
              <a:off x="4830" y="2478"/>
              <a:ext cx="226" cy="227"/>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grpSp>
      <p:grpSp>
        <p:nvGrpSpPr>
          <p:cNvPr id="404540" name="Group 60"/>
          <p:cNvGrpSpPr>
            <a:grpSpLocks/>
          </p:cNvGrpSpPr>
          <p:nvPr/>
        </p:nvGrpSpPr>
        <p:grpSpPr bwMode="auto">
          <a:xfrm>
            <a:off x="2782889" y="3429000"/>
            <a:ext cx="6550025" cy="2376488"/>
            <a:chOff x="930" y="2160"/>
            <a:chExt cx="4126" cy="1497"/>
          </a:xfrm>
        </p:grpSpPr>
        <p:sp>
          <p:nvSpPr>
            <p:cNvPr id="404541" name="Rectangle 61"/>
            <p:cNvSpPr>
              <a:spLocks noChangeArrowheads="1"/>
            </p:cNvSpPr>
            <p:nvPr/>
          </p:nvSpPr>
          <p:spPr bwMode="auto">
            <a:xfrm>
              <a:off x="1156" y="2160"/>
              <a:ext cx="3674" cy="1497"/>
            </a:xfrm>
            <a:prstGeom prst="rect">
              <a:avLst/>
            </a:prstGeom>
            <a:noFill/>
            <a:ln w="19050">
              <a:solidFill>
                <a:schemeClr val="tx1"/>
              </a:solidFill>
              <a:miter lim="800000"/>
              <a:headEnd/>
              <a:tailEnd/>
            </a:ln>
            <a:effectLst/>
          </p:spPr>
          <p:txBody>
            <a:bodyPr wrap="none" anchor="ctr"/>
            <a:lstStyle/>
            <a:p>
              <a:endParaRPr lang="zh-CN" altLang="en-US"/>
            </a:p>
          </p:txBody>
        </p:sp>
        <p:sp>
          <p:nvSpPr>
            <p:cNvPr id="404542" name="Rectangle 62"/>
            <p:cNvSpPr>
              <a:spLocks noChangeArrowheads="1"/>
            </p:cNvSpPr>
            <p:nvPr/>
          </p:nvSpPr>
          <p:spPr bwMode="auto">
            <a:xfrm>
              <a:off x="1474" y="2523"/>
              <a:ext cx="499" cy="816"/>
            </a:xfrm>
            <a:prstGeom prst="rect">
              <a:avLst/>
            </a:prstGeom>
            <a:noFill/>
            <a:ln w="19050">
              <a:solidFill>
                <a:schemeClr val="tx1"/>
              </a:solidFill>
              <a:miter lim="800000"/>
              <a:headEnd/>
              <a:tailEnd/>
            </a:ln>
            <a:effectLst/>
          </p:spPr>
          <p:txBody>
            <a:bodyPr wrap="none" anchor="ctr"/>
            <a:lstStyle/>
            <a:p>
              <a:endParaRPr lang="zh-CN" altLang="en-US"/>
            </a:p>
          </p:txBody>
        </p:sp>
        <p:sp>
          <p:nvSpPr>
            <p:cNvPr id="404543" name="Rectangle 63"/>
            <p:cNvSpPr>
              <a:spLocks noChangeArrowheads="1"/>
            </p:cNvSpPr>
            <p:nvPr/>
          </p:nvSpPr>
          <p:spPr bwMode="auto">
            <a:xfrm>
              <a:off x="1474" y="3339"/>
              <a:ext cx="499" cy="136"/>
            </a:xfrm>
            <a:prstGeom prst="rect">
              <a:avLst/>
            </a:prstGeom>
            <a:solidFill>
              <a:schemeClr val="folHlink"/>
            </a:solidFill>
            <a:ln w="19050">
              <a:solidFill>
                <a:schemeClr val="tx1"/>
              </a:solidFill>
              <a:miter lim="800000"/>
              <a:headEnd/>
              <a:tailEnd/>
            </a:ln>
            <a:effectLst/>
          </p:spPr>
          <p:txBody>
            <a:bodyPr wrap="none" anchor="ctr"/>
            <a:lstStyle/>
            <a:p>
              <a:r>
                <a:rPr lang="en-US" altLang="zh-CN" sz="1400"/>
                <a:t>PINSELx</a:t>
              </a:r>
            </a:p>
          </p:txBody>
        </p:sp>
        <p:sp>
          <p:nvSpPr>
            <p:cNvPr id="404544" name="Line 64"/>
            <p:cNvSpPr>
              <a:spLocks noChangeShapeType="1"/>
            </p:cNvSpPr>
            <p:nvPr/>
          </p:nvSpPr>
          <p:spPr bwMode="auto">
            <a:xfrm>
              <a:off x="1156" y="2951"/>
              <a:ext cx="412" cy="0"/>
            </a:xfrm>
            <a:prstGeom prst="line">
              <a:avLst/>
            </a:prstGeom>
            <a:noFill/>
            <a:ln w="19050">
              <a:solidFill>
                <a:schemeClr val="tx1"/>
              </a:solidFill>
              <a:round/>
              <a:headEnd/>
              <a:tailEnd/>
            </a:ln>
            <a:effectLst/>
          </p:spPr>
          <p:txBody>
            <a:bodyPr wrap="none" anchor="ctr"/>
            <a:lstStyle/>
            <a:p>
              <a:endParaRPr lang="zh-CN" altLang="en-US"/>
            </a:p>
          </p:txBody>
        </p:sp>
        <p:sp>
          <p:nvSpPr>
            <p:cNvPr id="404545" name="Oval 65"/>
            <p:cNvSpPr>
              <a:spLocks noChangeArrowheads="1"/>
            </p:cNvSpPr>
            <p:nvPr/>
          </p:nvSpPr>
          <p:spPr bwMode="auto">
            <a:xfrm>
              <a:off x="1568" y="2931"/>
              <a:ext cx="42" cy="45"/>
            </a:xfrm>
            <a:prstGeom prst="ellipse">
              <a:avLst/>
            </a:prstGeom>
            <a:noFill/>
            <a:ln w="19050" algn="ctr">
              <a:solidFill>
                <a:schemeClr val="tx1"/>
              </a:solidFill>
              <a:round/>
              <a:headEnd/>
              <a:tailEnd/>
            </a:ln>
            <a:effectLst/>
          </p:spPr>
          <p:txBody>
            <a:bodyPr wrap="none" anchor="ctr"/>
            <a:lstStyle/>
            <a:p>
              <a:endParaRPr lang="zh-CN" altLang="en-US"/>
            </a:p>
          </p:txBody>
        </p:sp>
        <p:grpSp>
          <p:nvGrpSpPr>
            <p:cNvPr id="404546" name="Group 66"/>
            <p:cNvGrpSpPr>
              <a:grpSpLocks/>
            </p:cNvGrpSpPr>
            <p:nvPr/>
          </p:nvGrpSpPr>
          <p:grpSpPr bwMode="auto">
            <a:xfrm>
              <a:off x="1837" y="2684"/>
              <a:ext cx="272" cy="45"/>
              <a:chOff x="1837" y="2684"/>
              <a:chExt cx="272" cy="45"/>
            </a:xfrm>
          </p:grpSpPr>
          <p:sp>
            <p:nvSpPr>
              <p:cNvPr id="404547" name="Line 67"/>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4548" name="Oval 68"/>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4549" name="Group 69"/>
            <p:cNvGrpSpPr>
              <a:grpSpLocks/>
            </p:cNvGrpSpPr>
            <p:nvPr/>
          </p:nvGrpSpPr>
          <p:grpSpPr bwMode="auto">
            <a:xfrm>
              <a:off x="1837" y="2840"/>
              <a:ext cx="272" cy="45"/>
              <a:chOff x="1837" y="2684"/>
              <a:chExt cx="272" cy="45"/>
            </a:xfrm>
          </p:grpSpPr>
          <p:sp>
            <p:nvSpPr>
              <p:cNvPr id="404550" name="Line 70"/>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4551" name="Oval 71"/>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4552" name="Group 72"/>
            <p:cNvGrpSpPr>
              <a:grpSpLocks/>
            </p:cNvGrpSpPr>
            <p:nvPr/>
          </p:nvGrpSpPr>
          <p:grpSpPr bwMode="auto">
            <a:xfrm>
              <a:off x="1837" y="3022"/>
              <a:ext cx="272" cy="45"/>
              <a:chOff x="1837" y="2684"/>
              <a:chExt cx="272" cy="45"/>
            </a:xfrm>
          </p:grpSpPr>
          <p:sp>
            <p:nvSpPr>
              <p:cNvPr id="404553" name="Line 73"/>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4554" name="Oval 74"/>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4555" name="Group 75"/>
            <p:cNvGrpSpPr>
              <a:grpSpLocks/>
            </p:cNvGrpSpPr>
            <p:nvPr/>
          </p:nvGrpSpPr>
          <p:grpSpPr bwMode="auto">
            <a:xfrm>
              <a:off x="1837" y="3203"/>
              <a:ext cx="272" cy="45"/>
              <a:chOff x="1837" y="2684"/>
              <a:chExt cx="272" cy="45"/>
            </a:xfrm>
          </p:grpSpPr>
          <p:sp>
            <p:nvSpPr>
              <p:cNvPr id="404556" name="Line 76"/>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4557" name="Oval 77"/>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sp>
          <p:nvSpPr>
            <p:cNvPr id="404558" name="Line 78"/>
            <p:cNvSpPr>
              <a:spLocks noChangeShapeType="1"/>
            </p:cNvSpPr>
            <p:nvPr/>
          </p:nvSpPr>
          <p:spPr bwMode="auto">
            <a:xfrm flipV="1">
              <a:off x="1610" y="2704"/>
              <a:ext cx="227" cy="227"/>
            </a:xfrm>
            <a:prstGeom prst="line">
              <a:avLst/>
            </a:prstGeom>
            <a:noFill/>
            <a:ln w="19050">
              <a:solidFill>
                <a:srgbClr val="0000FF"/>
              </a:solidFill>
              <a:round/>
              <a:headEnd/>
              <a:tailEnd/>
            </a:ln>
            <a:effectLst/>
          </p:spPr>
          <p:txBody>
            <a:bodyPr wrap="none" anchor="ctr"/>
            <a:lstStyle/>
            <a:p>
              <a:endParaRPr lang="zh-CN" altLang="en-US"/>
            </a:p>
          </p:txBody>
        </p:sp>
        <p:sp>
          <p:nvSpPr>
            <p:cNvPr id="404559" name="Rectangle 79"/>
            <p:cNvSpPr>
              <a:spLocks noChangeArrowheads="1"/>
            </p:cNvSpPr>
            <p:nvPr/>
          </p:nvSpPr>
          <p:spPr bwMode="auto">
            <a:xfrm>
              <a:off x="2471" y="2523"/>
              <a:ext cx="499" cy="363"/>
            </a:xfrm>
            <a:prstGeom prst="rect">
              <a:avLst/>
            </a:prstGeom>
            <a:noFill/>
            <a:ln w="19050">
              <a:solidFill>
                <a:schemeClr val="tx1"/>
              </a:solidFill>
              <a:miter lim="800000"/>
              <a:headEnd/>
              <a:tailEnd/>
            </a:ln>
            <a:effectLst/>
          </p:spPr>
          <p:txBody>
            <a:bodyPr wrap="none" anchor="ctr"/>
            <a:lstStyle/>
            <a:p>
              <a:endParaRPr lang="zh-CN" altLang="en-US"/>
            </a:p>
          </p:txBody>
        </p:sp>
        <p:sp>
          <p:nvSpPr>
            <p:cNvPr id="404560" name="Rectangle 80"/>
            <p:cNvSpPr>
              <a:spLocks noChangeArrowheads="1"/>
            </p:cNvSpPr>
            <p:nvPr/>
          </p:nvSpPr>
          <p:spPr bwMode="auto">
            <a:xfrm>
              <a:off x="2471" y="2886"/>
              <a:ext cx="499" cy="136"/>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IOxDIR</a:t>
              </a:r>
            </a:p>
          </p:txBody>
        </p:sp>
        <p:sp>
          <p:nvSpPr>
            <p:cNvPr id="404561" name="Line 81"/>
            <p:cNvSpPr>
              <a:spLocks noChangeShapeType="1"/>
            </p:cNvSpPr>
            <p:nvPr/>
          </p:nvSpPr>
          <p:spPr bwMode="auto">
            <a:xfrm>
              <a:off x="2109" y="2704"/>
              <a:ext cx="453" cy="0"/>
            </a:xfrm>
            <a:prstGeom prst="line">
              <a:avLst/>
            </a:prstGeom>
            <a:noFill/>
            <a:ln w="19050">
              <a:solidFill>
                <a:schemeClr val="tx1"/>
              </a:solidFill>
              <a:round/>
              <a:headEnd/>
              <a:tailEnd/>
            </a:ln>
            <a:effectLst/>
          </p:spPr>
          <p:txBody>
            <a:bodyPr wrap="none" anchor="ctr"/>
            <a:lstStyle/>
            <a:p>
              <a:endParaRPr lang="zh-CN" altLang="en-US"/>
            </a:p>
          </p:txBody>
        </p:sp>
        <p:sp>
          <p:nvSpPr>
            <p:cNvPr id="404562" name="Oval 82"/>
            <p:cNvSpPr>
              <a:spLocks noChangeArrowheads="1"/>
            </p:cNvSpPr>
            <p:nvPr/>
          </p:nvSpPr>
          <p:spPr bwMode="auto">
            <a:xfrm>
              <a:off x="2562" y="2684"/>
              <a:ext cx="45" cy="45"/>
            </a:xfrm>
            <a:prstGeom prst="ellipse">
              <a:avLst/>
            </a:prstGeom>
            <a:noFill/>
            <a:ln w="19050" algn="ctr">
              <a:solidFill>
                <a:schemeClr val="tx1"/>
              </a:solidFill>
              <a:round/>
              <a:headEnd/>
              <a:tailEnd/>
            </a:ln>
            <a:effectLst/>
          </p:spPr>
          <p:txBody>
            <a:bodyPr wrap="none" anchor="ctr"/>
            <a:lstStyle/>
            <a:p>
              <a:endParaRPr lang="zh-CN" altLang="en-US"/>
            </a:p>
          </p:txBody>
        </p:sp>
        <p:sp>
          <p:nvSpPr>
            <p:cNvPr id="404563" name="Line 83"/>
            <p:cNvSpPr>
              <a:spLocks noChangeShapeType="1"/>
            </p:cNvSpPr>
            <p:nvPr/>
          </p:nvSpPr>
          <p:spPr bwMode="auto">
            <a:xfrm flipH="1">
              <a:off x="2880" y="2568"/>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4564" name="Oval 84"/>
            <p:cNvSpPr>
              <a:spLocks noChangeArrowheads="1"/>
            </p:cNvSpPr>
            <p:nvPr/>
          </p:nvSpPr>
          <p:spPr bwMode="auto">
            <a:xfrm flipH="1">
              <a:off x="2835" y="2548"/>
              <a:ext cx="45" cy="45"/>
            </a:xfrm>
            <a:prstGeom prst="ellipse">
              <a:avLst/>
            </a:prstGeom>
            <a:noFill/>
            <a:ln w="19050" algn="ctr">
              <a:solidFill>
                <a:schemeClr val="tx1"/>
              </a:solidFill>
              <a:round/>
              <a:headEnd/>
              <a:tailEnd/>
            </a:ln>
            <a:effectLst/>
          </p:spPr>
          <p:txBody>
            <a:bodyPr wrap="none" anchor="ctr"/>
            <a:lstStyle/>
            <a:p>
              <a:endParaRPr lang="zh-CN" altLang="en-US"/>
            </a:p>
          </p:txBody>
        </p:sp>
        <p:sp>
          <p:nvSpPr>
            <p:cNvPr id="404565" name="Line 85"/>
            <p:cNvSpPr>
              <a:spLocks noChangeShapeType="1"/>
            </p:cNvSpPr>
            <p:nvPr/>
          </p:nvSpPr>
          <p:spPr bwMode="auto">
            <a:xfrm flipH="1">
              <a:off x="2880" y="2815"/>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4566" name="Oval 86"/>
            <p:cNvSpPr>
              <a:spLocks noChangeArrowheads="1"/>
            </p:cNvSpPr>
            <p:nvPr/>
          </p:nvSpPr>
          <p:spPr bwMode="auto">
            <a:xfrm flipH="1">
              <a:off x="2835" y="2795"/>
              <a:ext cx="45" cy="45"/>
            </a:xfrm>
            <a:prstGeom prst="ellipse">
              <a:avLst/>
            </a:prstGeom>
            <a:noFill/>
            <a:ln w="19050" algn="ctr">
              <a:solidFill>
                <a:schemeClr val="tx1"/>
              </a:solidFill>
              <a:round/>
              <a:headEnd/>
              <a:tailEnd/>
            </a:ln>
            <a:effectLst/>
          </p:spPr>
          <p:txBody>
            <a:bodyPr wrap="none" anchor="ctr"/>
            <a:lstStyle/>
            <a:p>
              <a:endParaRPr lang="zh-CN" altLang="en-US"/>
            </a:p>
          </p:txBody>
        </p:sp>
        <p:sp>
          <p:nvSpPr>
            <p:cNvPr id="404567" name="Line 87"/>
            <p:cNvSpPr>
              <a:spLocks noChangeShapeType="1"/>
            </p:cNvSpPr>
            <p:nvPr/>
          </p:nvSpPr>
          <p:spPr bwMode="auto">
            <a:xfrm flipV="1">
              <a:off x="2607" y="2568"/>
              <a:ext cx="227" cy="136"/>
            </a:xfrm>
            <a:prstGeom prst="line">
              <a:avLst/>
            </a:prstGeom>
            <a:noFill/>
            <a:ln w="19050">
              <a:solidFill>
                <a:srgbClr val="0000FF"/>
              </a:solidFill>
              <a:round/>
              <a:headEnd/>
              <a:tailEnd/>
            </a:ln>
            <a:effectLst/>
          </p:spPr>
          <p:txBody>
            <a:bodyPr wrap="none" anchor="ctr"/>
            <a:lstStyle/>
            <a:p>
              <a:endParaRPr lang="zh-CN" altLang="en-US"/>
            </a:p>
          </p:txBody>
        </p:sp>
        <p:sp>
          <p:nvSpPr>
            <p:cNvPr id="404568" name="Rectangle 88"/>
            <p:cNvSpPr>
              <a:spLocks noChangeArrowheads="1"/>
            </p:cNvSpPr>
            <p:nvPr/>
          </p:nvSpPr>
          <p:spPr bwMode="auto">
            <a:xfrm>
              <a:off x="3379" y="2523"/>
              <a:ext cx="499" cy="317"/>
            </a:xfrm>
            <a:prstGeom prst="rect">
              <a:avLst/>
            </a:prstGeom>
            <a:noFill/>
            <a:ln w="19050">
              <a:solidFill>
                <a:schemeClr val="tx1"/>
              </a:solidFill>
              <a:miter lim="800000"/>
              <a:headEnd/>
              <a:tailEnd/>
            </a:ln>
            <a:effectLst/>
          </p:spPr>
          <p:txBody>
            <a:bodyPr wrap="none" anchor="ctr"/>
            <a:lstStyle/>
            <a:p>
              <a:endParaRPr lang="zh-CN" altLang="en-US"/>
            </a:p>
          </p:txBody>
        </p:sp>
        <p:sp>
          <p:nvSpPr>
            <p:cNvPr id="404569" name="Rectangle 89"/>
            <p:cNvSpPr>
              <a:spLocks noChangeArrowheads="1"/>
            </p:cNvSpPr>
            <p:nvPr/>
          </p:nvSpPr>
          <p:spPr bwMode="auto">
            <a:xfrm>
              <a:off x="3379" y="2886"/>
              <a:ext cx="499" cy="136"/>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IOxCLR</a:t>
              </a:r>
            </a:p>
          </p:txBody>
        </p:sp>
        <p:sp>
          <p:nvSpPr>
            <p:cNvPr id="404570" name="Oval 90"/>
            <p:cNvSpPr>
              <a:spLocks noChangeArrowheads="1"/>
            </p:cNvSpPr>
            <p:nvPr/>
          </p:nvSpPr>
          <p:spPr bwMode="auto">
            <a:xfrm>
              <a:off x="3470"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nvGrpSpPr>
            <p:cNvPr id="404571" name="Group 91"/>
            <p:cNvGrpSpPr>
              <a:grpSpLocks/>
            </p:cNvGrpSpPr>
            <p:nvPr/>
          </p:nvGrpSpPr>
          <p:grpSpPr bwMode="auto">
            <a:xfrm>
              <a:off x="3742" y="2568"/>
              <a:ext cx="272" cy="45"/>
              <a:chOff x="1837" y="2684"/>
              <a:chExt cx="272" cy="45"/>
            </a:xfrm>
          </p:grpSpPr>
          <p:sp>
            <p:nvSpPr>
              <p:cNvPr id="404572" name="Line 92"/>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4573" name="Oval 93"/>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4574" name="Group 94"/>
            <p:cNvGrpSpPr>
              <a:grpSpLocks/>
            </p:cNvGrpSpPr>
            <p:nvPr/>
          </p:nvGrpSpPr>
          <p:grpSpPr bwMode="auto">
            <a:xfrm>
              <a:off x="3742" y="2750"/>
              <a:ext cx="272" cy="45"/>
              <a:chOff x="1837" y="2684"/>
              <a:chExt cx="272" cy="45"/>
            </a:xfrm>
          </p:grpSpPr>
          <p:sp>
            <p:nvSpPr>
              <p:cNvPr id="404575" name="Line 95"/>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4576" name="Oval 96"/>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sp>
          <p:nvSpPr>
            <p:cNvPr id="404577" name="Line 97"/>
            <p:cNvSpPr>
              <a:spLocks noChangeShapeType="1"/>
            </p:cNvSpPr>
            <p:nvPr/>
          </p:nvSpPr>
          <p:spPr bwMode="auto">
            <a:xfrm flipV="1">
              <a:off x="3515" y="2568"/>
              <a:ext cx="227" cy="136"/>
            </a:xfrm>
            <a:prstGeom prst="line">
              <a:avLst/>
            </a:prstGeom>
            <a:noFill/>
            <a:ln w="19050">
              <a:solidFill>
                <a:srgbClr val="0000FF"/>
              </a:solidFill>
              <a:round/>
              <a:headEnd/>
              <a:tailEnd/>
            </a:ln>
            <a:effectLst/>
          </p:spPr>
          <p:txBody>
            <a:bodyPr wrap="none" anchor="ctr"/>
            <a:lstStyle/>
            <a:p>
              <a:endParaRPr lang="zh-CN" altLang="en-US"/>
            </a:p>
          </p:txBody>
        </p:sp>
        <p:sp>
          <p:nvSpPr>
            <p:cNvPr id="404578" name="Line 98"/>
            <p:cNvSpPr>
              <a:spLocks noChangeShapeType="1"/>
            </p:cNvSpPr>
            <p:nvPr/>
          </p:nvSpPr>
          <p:spPr bwMode="auto">
            <a:xfrm>
              <a:off x="324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4579" name="Line 99"/>
            <p:cNvSpPr>
              <a:spLocks noChangeShapeType="1"/>
            </p:cNvSpPr>
            <p:nvPr/>
          </p:nvSpPr>
          <p:spPr bwMode="auto">
            <a:xfrm flipV="1">
              <a:off x="3242" y="2568"/>
              <a:ext cx="0" cy="136"/>
            </a:xfrm>
            <a:prstGeom prst="line">
              <a:avLst/>
            </a:prstGeom>
            <a:noFill/>
            <a:ln w="19050">
              <a:solidFill>
                <a:schemeClr val="tx1"/>
              </a:solidFill>
              <a:round/>
              <a:headEnd/>
              <a:tailEnd/>
            </a:ln>
            <a:effectLst/>
          </p:spPr>
          <p:txBody>
            <a:bodyPr wrap="none" anchor="ctr"/>
            <a:lstStyle/>
            <a:p>
              <a:endParaRPr lang="zh-CN" altLang="en-US"/>
            </a:p>
          </p:txBody>
        </p:sp>
        <p:sp>
          <p:nvSpPr>
            <p:cNvPr id="404580" name="Line 100"/>
            <p:cNvSpPr>
              <a:spLocks noChangeShapeType="1"/>
            </p:cNvSpPr>
            <p:nvPr/>
          </p:nvSpPr>
          <p:spPr bwMode="auto">
            <a:xfrm flipH="1">
              <a:off x="3106" y="2568"/>
              <a:ext cx="136" cy="0"/>
            </a:xfrm>
            <a:prstGeom prst="line">
              <a:avLst/>
            </a:prstGeom>
            <a:noFill/>
            <a:ln w="19050">
              <a:solidFill>
                <a:schemeClr val="tx1"/>
              </a:solidFill>
              <a:round/>
              <a:headEnd/>
              <a:tailEnd/>
            </a:ln>
            <a:effectLst/>
          </p:spPr>
          <p:txBody>
            <a:bodyPr wrap="none" anchor="ctr"/>
            <a:lstStyle/>
            <a:p>
              <a:endParaRPr lang="zh-CN" altLang="en-US"/>
            </a:p>
          </p:txBody>
        </p:sp>
        <p:sp>
          <p:nvSpPr>
            <p:cNvPr id="404581" name="Line 101"/>
            <p:cNvSpPr>
              <a:spLocks noChangeShapeType="1"/>
            </p:cNvSpPr>
            <p:nvPr/>
          </p:nvSpPr>
          <p:spPr bwMode="auto">
            <a:xfrm>
              <a:off x="3107" y="3385"/>
              <a:ext cx="272" cy="0"/>
            </a:xfrm>
            <a:prstGeom prst="line">
              <a:avLst/>
            </a:prstGeom>
            <a:noFill/>
            <a:ln w="19050">
              <a:solidFill>
                <a:schemeClr val="tx1"/>
              </a:solidFill>
              <a:round/>
              <a:headEnd/>
              <a:tailEnd/>
            </a:ln>
            <a:effectLst/>
          </p:spPr>
          <p:txBody>
            <a:bodyPr wrap="none" anchor="ctr"/>
            <a:lstStyle/>
            <a:p>
              <a:endParaRPr lang="zh-CN" altLang="en-US"/>
            </a:p>
          </p:txBody>
        </p:sp>
        <p:sp>
          <p:nvSpPr>
            <p:cNvPr id="404582" name="Rectangle 102"/>
            <p:cNvSpPr>
              <a:spLocks noChangeArrowheads="1"/>
            </p:cNvSpPr>
            <p:nvPr/>
          </p:nvSpPr>
          <p:spPr bwMode="auto">
            <a:xfrm>
              <a:off x="3379" y="3294"/>
              <a:ext cx="499" cy="181"/>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IOxPIN</a:t>
              </a:r>
            </a:p>
          </p:txBody>
        </p:sp>
        <p:sp>
          <p:nvSpPr>
            <p:cNvPr id="404583" name="Rectangle 103"/>
            <p:cNvSpPr>
              <a:spLocks noChangeArrowheads="1"/>
            </p:cNvSpPr>
            <p:nvPr/>
          </p:nvSpPr>
          <p:spPr bwMode="auto">
            <a:xfrm>
              <a:off x="3379" y="2341"/>
              <a:ext cx="499" cy="136"/>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IOxSET</a:t>
              </a:r>
            </a:p>
          </p:txBody>
        </p:sp>
        <p:sp>
          <p:nvSpPr>
            <p:cNvPr id="404584" name="Text Box 104"/>
            <p:cNvSpPr txBox="1">
              <a:spLocks noChangeArrowheads="1"/>
            </p:cNvSpPr>
            <p:nvPr/>
          </p:nvSpPr>
          <p:spPr bwMode="auto">
            <a:xfrm>
              <a:off x="2970" y="2659"/>
              <a:ext cx="227" cy="192"/>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in</a:t>
              </a:r>
            </a:p>
          </p:txBody>
        </p:sp>
        <p:sp>
          <p:nvSpPr>
            <p:cNvPr id="404585" name="Text Box 105"/>
            <p:cNvSpPr txBox="1">
              <a:spLocks noChangeArrowheads="1"/>
            </p:cNvSpPr>
            <p:nvPr/>
          </p:nvSpPr>
          <p:spPr bwMode="auto">
            <a:xfrm>
              <a:off x="2970" y="2387"/>
              <a:ext cx="272" cy="192"/>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out</a:t>
              </a:r>
            </a:p>
          </p:txBody>
        </p:sp>
        <p:sp>
          <p:nvSpPr>
            <p:cNvPr id="404586" name="Line 106"/>
            <p:cNvSpPr>
              <a:spLocks noChangeShapeType="1"/>
            </p:cNvSpPr>
            <p:nvPr/>
          </p:nvSpPr>
          <p:spPr bwMode="auto">
            <a:xfrm>
              <a:off x="3606" y="2478"/>
              <a:ext cx="0" cy="136"/>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404587" name="Line 107"/>
            <p:cNvSpPr>
              <a:spLocks noChangeShapeType="1"/>
            </p:cNvSpPr>
            <p:nvPr/>
          </p:nvSpPr>
          <p:spPr bwMode="auto">
            <a:xfrm flipV="1">
              <a:off x="3606" y="2750"/>
              <a:ext cx="0" cy="136"/>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404588" name="Text Box 108"/>
            <p:cNvSpPr txBox="1">
              <a:spLocks noChangeArrowheads="1"/>
            </p:cNvSpPr>
            <p:nvPr/>
          </p:nvSpPr>
          <p:spPr bwMode="auto">
            <a:xfrm>
              <a:off x="4014" y="2478"/>
              <a:ext cx="227" cy="192"/>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1</a:t>
              </a:r>
            </a:p>
          </p:txBody>
        </p:sp>
        <p:sp>
          <p:nvSpPr>
            <p:cNvPr id="404589" name="Text Box 109"/>
            <p:cNvSpPr txBox="1">
              <a:spLocks noChangeArrowheads="1"/>
            </p:cNvSpPr>
            <p:nvPr/>
          </p:nvSpPr>
          <p:spPr bwMode="auto">
            <a:xfrm>
              <a:off x="4014" y="2659"/>
              <a:ext cx="227" cy="192"/>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0</a:t>
              </a:r>
            </a:p>
          </p:txBody>
        </p:sp>
        <p:sp>
          <p:nvSpPr>
            <p:cNvPr id="404590" name="Line 110"/>
            <p:cNvSpPr>
              <a:spLocks noChangeShapeType="1"/>
            </p:cNvSpPr>
            <p:nvPr/>
          </p:nvSpPr>
          <p:spPr bwMode="auto">
            <a:xfrm>
              <a:off x="2290" y="2704"/>
              <a:ext cx="0" cy="681"/>
            </a:xfrm>
            <a:prstGeom prst="line">
              <a:avLst/>
            </a:prstGeom>
            <a:noFill/>
            <a:ln w="19050">
              <a:solidFill>
                <a:schemeClr val="tx1"/>
              </a:solidFill>
              <a:round/>
              <a:headEnd/>
              <a:tailEnd/>
            </a:ln>
            <a:effectLst/>
          </p:spPr>
          <p:txBody>
            <a:bodyPr wrap="none" anchor="ctr"/>
            <a:lstStyle/>
            <a:p>
              <a:endParaRPr lang="zh-CN" altLang="en-US"/>
            </a:p>
          </p:txBody>
        </p:sp>
        <p:sp>
          <p:nvSpPr>
            <p:cNvPr id="404591" name="Line 111"/>
            <p:cNvSpPr>
              <a:spLocks noChangeShapeType="1"/>
            </p:cNvSpPr>
            <p:nvPr/>
          </p:nvSpPr>
          <p:spPr bwMode="auto">
            <a:xfrm>
              <a:off x="2290" y="3385"/>
              <a:ext cx="817" cy="0"/>
            </a:xfrm>
            <a:prstGeom prst="line">
              <a:avLst/>
            </a:prstGeom>
            <a:noFill/>
            <a:ln w="19050">
              <a:solidFill>
                <a:schemeClr val="tx1"/>
              </a:solidFill>
              <a:round/>
              <a:headEnd/>
              <a:tailEnd/>
            </a:ln>
            <a:effectLst/>
          </p:spPr>
          <p:txBody>
            <a:bodyPr wrap="none" anchor="ctr"/>
            <a:lstStyle/>
            <a:p>
              <a:endParaRPr lang="zh-CN" altLang="en-US"/>
            </a:p>
          </p:txBody>
        </p:sp>
        <p:sp>
          <p:nvSpPr>
            <p:cNvPr id="404592" name="Rectangle 112"/>
            <p:cNvSpPr>
              <a:spLocks noChangeArrowheads="1"/>
            </p:cNvSpPr>
            <p:nvPr/>
          </p:nvSpPr>
          <p:spPr bwMode="auto">
            <a:xfrm>
              <a:off x="930" y="2840"/>
              <a:ext cx="226" cy="227"/>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4593" name="Rectangle 113"/>
            <p:cNvSpPr>
              <a:spLocks noChangeArrowheads="1"/>
            </p:cNvSpPr>
            <p:nvPr/>
          </p:nvSpPr>
          <p:spPr bwMode="auto">
            <a:xfrm>
              <a:off x="930" y="3203"/>
              <a:ext cx="226" cy="227"/>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4594" name="Rectangle 114"/>
            <p:cNvSpPr>
              <a:spLocks noChangeArrowheads="1"/>
            </p:cNvSpPr>
            <p:nvPr/>
          </p:nvSpPr>
          <p:spPr bwMode="auto">
            <a:xfrm>
              <a:off x="930" y="2478"/>
              <a:ext cx="226" cy="227"/>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4595" name="Rectangle 115"/>
            <p:cNvSpPr>
              <a:spLocks noChangeArrowheads="1"/>
            </p:cNvSpPr>
            <p:nvPr/>
          </p:nvSpPr>
          <p:spPr bwMode="auto">
            <a:xfrm>
              <a:off x="4830" y="2840"/>
              <a:ext cx="226" cy="227"/>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4596" name="Rectangle 116"/>
            <p:cNvSpPr>
              <a:spLocks noChangeArrowheads="1"/>
            </p:cNvSpPr>
            <p:nvPr/>
          </p:nvSpPr>
          <p:spPr bwMode="auto">
            <a:xfrm>
              <a:off x="4830" y="3203"/>
              <a:ext cx="226" cy="227"/>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4597" name="Rectangle 117"/>
            <p:cNvSpPr>
              <a:spLocks noChangeArrowheads="1"/>
            </p:cNvSpPr>
            <p:nvPr/>
          </p:nvSpPr>
          <p:spPr bwMode="auto">
            <a:xfrm>
              <a:off x="4830" y="2478"/>
              <a:ext cx="226" cy="227"/>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grpSp>
      <p:graphicFrame>
        <p:nvGraphicFramePr>
          <p:cNvPr id="404598" name="Group 118"/>
          <p:cNvGraphicFramePr>
            <a:graphicFrameLocks noGrp="1"/>
          </p:cNvGraphicFramePr>
          <p:nvPr>
            <p:ph sz="half" idx="2"/>
          </p:nvPr>
        </p:nvGraphicFramePr>
        <p:xfrm>
          <a:off x="2279651" y="3729038"/>
          <a:ext cx="7631113" cy="2651760"/>
        </p:xfrm>
        <a:graphic>
          <a:graphicData uri="http://schemas.openxmlformats.org/drawingml/2006/table">
            <a:tbl>
              <a:tblPr/>
              <a:tblGrid>
                <a:gridCol w="1008063">
                  <a:extLst>
                    <a:ext uri="{9D8B030D-6E8A-4147-A177-3AD203B41FA5}">
                      <a16:colId xmlns:a16="http://schemas.microsoft.com/office/drawing/2014/main" val="20000"/>
                    </a:ext>
                  </a:extLst>
                </a:gridCol>
                <a:gridCol w="4321175">
                  <a:extLst>
                    <a:ext uri="{9D8B030D-6E8A-4147-A177-3AD203B41FA5}">
                      <a16:colId xmlns:a16="http://schemas.microsoft.com/office/drawing/2014/main" val="20001"/>
                    </a:ext>
                  </a:extLst>
                </a:gridCol>
                <a:gridCol w="1008062">
                  <a:extLst>
                    <a:ext uri="{9D8B030D-6E8A-4147-A177-3AD203B41FA5}">
                      <a16:colId xmlns:a16="http://schemas.microsoft.com/office/drawing/2014/main" val="20002"/>
                    </a:ext>
                  </a:extLst>
                </a:gridCol>
                <a:gridCol w="1293813">
                  <a:extLst>
                    <a:ext uri="{9D8B030D-6E8A-4147-A177-3AD203B41FA5}">
                      <a16:colId xmlns:a16="http://schemas.microsoft.com/office/drawing/2014/main" val="20003"/>
                    </a:ext>
                  </a:extLst>
                </a:gridCol>
              </a:tblGrid>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通用名称</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描述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访问类型</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复位值</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IOPIN</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GPIO</a:t>
                      </a:r>
                      <a:r>
                        <a:rPr kumimoji="1" lang="zh-CN" altLang="en-US" sz="1600" b="0" i="0" u="none" strike="noStrike" cap="none" normalizeH="0" baseline="0">
                          <a:ln>
                            <a:noFill/>
                          </a:ln>
                          <a:solidFill>
                            <a:schemeClr val="tx1"/>
                          </a:solidFill>
                          <a:effectLst/>
                          <a:latin typeface="宋体" pitchFamily="2" charset="-122"/>
                          <a:ea typeface="宋体" pitchFamily="2" charset="-122"/>
                        </a:rPr>
                        <a:t>引脚值寄存器，不管方向模式如何，引脚的当前状态都可以从该寄存器中读出</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只读</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NA</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IOSET</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GPIO</a:t>
                      </a:r>
                      <a:r>
                        <a:rPr kumimoji="1" lang="zh-CN" altLang="en-US" sz="1600" b="0" i="0" u="none" strike="noStrike" cap="none" normalizeH="0" baseline="0">
                          <a:ln>
                            <a:noFill/>
                          </a:ln>
                          <a:solidFill>
                            <a:schemeClr val="tx1"/>
                          </a:solidFill>
                          <a:effectLst/>
                          <a:latin typeface="宋体" pitchFamily="2" charset="-122"/>
                          <a:ea typeface="宋体" pitchFamily="2" charset="-122"/>
                        </a:rPr>
                        <a:t>输出置位寄存器。该寄存器控制引脚输出高电平</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读</a:t>
                      </a:r>
                      <a:r>
                        <a:rPr kumimoji="1" lang="en-US" altLang="zh-CN" sz="1600" b="0" i="0" u="none" strike="noStrike" cap="none" normalizeH="0" baseline="0">
                          <a:ln>
                            <a:noFill/>
                          </a:ln>
                          <a:solidFill>
                            <a:schemeClr val="tx1"/>
                          </a:solidFill>
                          <a:effectLst/>
                          <a:latin typeface="宋体" pitchFamily="2" charset="-122"/>
                          <a:ea typeface="宋体" pitchFamily="2" charset="-122"/>
                        </a:rPr>
                        <a:t>/</a:t>
                      </a:r>
                      <a:r>
                        <a:rPr kumimoji="1" lang="zh-CN" altLang="en-US" sz="1600" b="0" i="0" u="none" strike="noStrike" cap="none" normalizeH="0" baseline="0">
                          <a:ln>
                            <a:noFill/>
                          </a:ln>
                          <a:solidFill>
                            <a:schemeClr val="tx1"/>
                          </a:solidFill>
                          <a:effectLst/>
                          <a:latin typeface="宋体" pitchFamily="2" charset="-122"/>
                          <a:ea typeface="宋体" pitchFamily="2" charset="-122"/>
                        </a:rPr>
                        <a:t>置位</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0x00000000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IOCLR</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GPIO</a:t>
                      </a:r>
                      <a:r>
                        <a:rPr kumimoji="1" lang="zh-CN" altLang="en-US" sz="1600" b="0" i="0" u="none" strike="noStrike" cap="none" normalizeH="0" baseline="0">
                          <a:ln>
                            <a:noFill/>
                          </a:ln>
                          <a:solidFill>
                            <a:schemeClr val="tx1"/>
                          </a:solidFill>
                          <a:effectLst/>
                          <a:latin typeface="宋体" pitchFamily="2" charset="-122"/>
                          <a:ea typeface="宋体" pitchFamily="2" charset="-122"/>
                        </a:rPr>
                        <a:t>输出置位寄存器。该寄存器控制引脚输出低电平</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只清零</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0x00000000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IODIR</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GPIO</a:t>
                      </a:r>
                      <a:r>
                        <a:rPr kumimoji="1" lang="zh-CN" altLang="en-US" sz="1600" b="0" i="0" u="none" strike="noStrike" cap="none" normalizeH="0" baseline="0">
                          <a:ln>
                            <a:noFill/>
                          </a:ln>
                          <a:solidFill>
                            <a:schemeClr val="tx1"/>
                          </a:solidFill>
                          <a:effectLst/>
                          <a:latin typeface="宋体" pitchFamily="2" charset="-122"/>
                          <a:ea typeface="宋体" pitchFamily="2" charset="-122"/>
                        </a:rPr>
                        <a:t>方向控制寄存器。该寄存器单独控制每个</a:t>
                      </a:r>
                      <a:r>
                        <a:rPr kumimoji="1" lang="en-US" altLang="zh-CN" sz="1600" b="0" i="0" u="none" strike="noStrike" cap="none" normalizeH="0" baseline="0">
                          <a:ln>
                            <a:noFill/>
                          </a:ln>
                          <a:solidFill>
                            <a:schemeClr val="tx1"/>
                          </a:solidFill>
                          <a:effectLst/>
                          <a:latin typeface="宋体" pitchFamily="2" charset="-122"/>
                          <a:ea typeface="宋体" pitchFamily="2" charset="-122"/>
                        </a:rPr>
                        <a:t>IO</a:t>
                      </a:r>
                      <a:r>
                        <a:rPr kumimoji="1" lang="zh-CN" altLang="en-US" sz="1600" b="0" i="0" u="none" strike="noStrike" cap="none" normalizeH="0" baseline="0">
                          <a:ln>
                            <a:noFill/>
                          </a:ln>
                          <a:solidFill>
                            <a:schemeClr val="tx1"/>
                          </a:solidFill>
                          <a:effectLst/>
                          <a:latin typeface="宋体" pitchFamily="2" charset="-122"/>
                          <a:ea typeface="宋体" pitchFamily="2" charset="-122"/>
                        </a:rPr>
                        <a:t>口的方向</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读</a:t>
                      </a:r>
                      <a:r>
                        <a:rPr kumimoji="1" lang="en-US" altLang="zh-CN" sz="1600" b="0" i="0" u="none" strike="noStrike" cap="none" normalizeH="0" baseline="0">
                          <a:ln>
                            <a:noFill/>
                          </a:ln>
                          <a:solidFill>
                            <a:schemeClr val="tx1"/>
                          </a:solidFill>
                          <a:effectLst/>
                          <a:latin typeface="宋体" pitchFamily="2" charset="-122"/>
                          <a:ea typeface="宋体" pitchFamily="2" charset="-122"/>
                        </a:rPr>
                        <a:t>/</a:t>
                      </a:r>
                      <a:r>
                        <a:rPr kumimoji="1" lang="zh-CN" altLang="en-US" sz="1600" b="0" i="0" u="none" strike="noStrike" cap="none" normalizeH="0" baseline="0">
                          <a:ln>
                            <a:noFill/>
                          </a:ln>
                          <a:solidFill>
                            <a:schemeClr val="tx1"/>
                          </a:solidFill>
                          <a:effectLst/>
                          <a:latin typeface="宋体" pitchFamily="2" charset="-122"/>
                          <a:ea typeface="宋体" pitchFamily="2" charset="-122"/>
                        </a:rPr>
                        <a:t>写</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0x00000000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bl>
          </a:graphicData>
        </a:graphic>
      </p:graphicFrame>
      <p:sp>
        <p:nvSpPr>
          <p:cNvPr id="404630" name="Rectangle 150"/>
          <p:cNvSpPr>
            <a:spLocks noChangeArrowheads="1"/>
          </p:cNvSpPr>
          <p:nvPr/>
        </p:nvSpPr>
        <p:spPr bwMode="auto">
          <a:xfrm>
            <a:off x="2149475" y="658813"/>
            <a:ext cx="777240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GPIO</a:t>
            </a:r>
            <a:r>
              <a:rPr lang="zh-CN" altLang="en-US" sz="3200">
                <a:latin typeface="Times New Roman" pitchFamily="18" charset="0"/>
              </a:rPr>
              <a:t>相关寄存器描述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404630"/>
                                        </p:tgtEl>
                                        <p:attrNameLst>
                                          <p:attrName>style.visibility</p:attrName>
                                        </p:attrNameLst>
                                      </p:cBhvr>
                                      <p:to>
                                        <p:strVal val="visible"/>
                                      </p:to>
                                    </p:set>
                                    <p:anim calcmode="lin" valueType="num">
                                      <p:cBhvr additive="base">
                                        <p:cTn id="7" dur="500" fill="hold"/>
                                        <p:tgtEl>
                                          <p:spTgt spid="404630"/>
                                        </p:tgtEl>
                                        <p:attrNameLst>
                                          <p:attrName>ppt_x</p:attrName>
                                        </p:attrNameLst>
                                      </p:cBhvr>
                                      <p:tavLst>
                                        <p:tav tm="0">
                                          <p:val>
                                            <p:strVal val="1+#ppt_w/2"/>
                                          </p:val>
                                        </p:tav>
                                        <p:tav tm="100000">
                                          <p:val>
                                            <p:strVal val="#ppt_x"/>
                                          </p:val>
                                        </p:tav>
                                      </p:tavLst>
                                    </p:anim>
                                    <p:anim calcmode="lin" valueType="num">
                                      <p:cBhvr additive="base">
                                        <p:cTn id="8" dur="500" fill="hold"/>
                                        <p:tgtEl>
                                          <p:spTgt spid="40463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xit" presetSubtype="0" fill="hold" nodeType="afterEffect">
                                  <p:stCondLst>
                                    <p:cond delay="0"/>
                                  </p:stCondLst>
                                  <p:childTnLst>
                                    <p:animEffect transition="out" filter="fade">
                                      <p:cBhvr>
                                        <p:cTn id="11" dur="500"/>
                                        <p:tgtEl>
                                          <p:spTgt spid="404540"/>
                                        </p:tgtEl>
                                      </p:cBhvr>
                                    </p:animEffect>
                                    <p:set>
                                      <p:cBhvr>
                                        <p:cTn id="12" dur="1" fill="hold">
                                          <p:stCondLst>
                                            <p:cond delay="499"/>
                                          </p:stCondLst>
                                        </p:cTn>
                                        <p:tgtEl>
                                          <p:spTgt spid="404540"/>
                                        </p:tgtEl>
                                        <p:attrNameLst>
                                          <p:attrName>style.visibility</p:attrName>
                                        </p:attrNameLst>
                                      </p:cBhvr>
                                      <p:to>
                                        <p:strVal val="hidden"/>
                                      </p:to>
                                    </p:se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404482"/>
                                        </p:tgtEl>
                                        <p:attrNameLst>
                                          <p:attrName>style.visibility</p:attrName>
                                        </p:attrNameLst>
                                      </p:cBhvr>
                                      <p:to>
                                        <p:strVal val="visible"/>
                                      </p:to>
                                    </p:set>
                                    <p:animEffect transition="in" filter="fade">
                                      <p:cBhvr>
                                        <p:cTn id="16" dur="500"/>
                                        <p:tgtEl>
                                          <p:spTgt spid="404482"/>
                                        </p:tgtEl>
                                      </p:cBhvr>
                                    </p:animEffect>
                                  </p:childTnLst>
                                </p:cTn>
                              </p:par>
                            </p:childTnLst>
                          </p:cTn>
                        </p:par>
                        <p:par>
                          <p:cTn id="17" fill="hold">
                            <p:stCondLst>
                              <p:cond delay="1500"/>
                            </p:stCondLst>
                            <p:childTnLst>
                              <p:par>
                                <p:cTn id="18" presetID="12" presetClass="entr" presetSubtype="1" fill="hold" nodeType="afterEffect">
                                  <p:stCondLst>
                                    <p:cond delay="0"/>
                                  </p:stCondLst>
                                  <p:childTnLst>
                                    <p:set>
                                      <p:cBhvr>
                                        <p:cTn id="19" dur="1" fill="hold">
                                          <p:stCondLst>
                                            <p:cond delay="0"/>
                                          </p:stCondLst>
                                        </p:cTn>
                                        <p:tgtEl>
                                          <p:spTgt spid="404598"/>
                                        </p:tgtEl>
                                        <p:attrNameLst>
                                          <p:attrName>style.visibility</p:attrName>
                                        </p:attrNameLst>
                                      </p:cBhvr>
                                      <p:to>
                                        <p:strVal val="visible"/>
                                      </p:to>
                                    </p:set>
                                    <p:animEffect transition="in" filter="slide(fromTop)">
                                      <p:cBhvr>
                                        <p:cTn id="20" dur="500"/>
                                        <p:tgtEl>
                                          <p:spTgt spid="404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630"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5506" name="Rectangle 2"/>
          <p:cNvSpPr>
            <a:spLocks noChangeArrowheads="1"/>
          </p:cNvSpPr>
          <p:nvPr/>
        </p:nvSpPr>
        <p:spPr bwMode="auto">
          <a:xfrm>
            <a:off x="3141664" y="1268414"/>
            <a:ext cx="5832475" cy="2376487"/>
          </a:xfrm>
          <a:prstGeom prst="rect">
            <a:avLst/>
          </a:prstGeom>
          <a:noFill/>
          <a:ln w="19050">
            <a:solidFill>
              <a:schemeClr val="tx1"/>
            </a:solidFill>
            <a:miter lim="800000"/>
            <a:headEnd/>
            <a:tailEnd/>
          </a:ln>
          <a:effectLst/>
        </p:spPr>
        <p:txBody>
          <a:bodyPr wrap="none" anchor="ctr"/>
          <a:lstStyle/>
          <a:p>
            <a:endParaRPr lang="zh-CN" altLang="en-US"/>
          </a:p>
        </p:txBody>
      </p:sp>
      <p:sp>
        <p:nvSpPr>
          <p:cNvPr id="405507" name="Rectangle 3"/>
          <p:cNvSpPr>
            <a:spLocks noChangeArrowheads="1"/>
          </p:cNvSpPr>
          <p:nvPr/>
        </p:nvSpPr>
        <p:spPr bwMode="auto">
          <a:xfrm>
            <a:off x="3646488" y="1844675"/>
            <a:ext cx="792162" cy="1295400"/>
          </a:xfrm>
          <a:prstGeom prst="rect">
            <a:avLst/>
          </a:prstGeom>
          <a:noFill/>
          <a:ln w="19050">
            <a:solidFill>
              <a:schemeClr val="tx1"/>
            </a:solidFill>
            <a:miter lim="800000"/>
            <a:headEnd/>
            <a:tailEnd/>
          </a:ln>
          <a:effectLst/>
        </p:spPr>
        <p:txBody>
          <a:bodyPr wrap="none" anchor="ctr"/>
          <a:lstStyle/>
          <a:p>
            <a:endParaRPr lang="zh-CN" altLang="en-US"/>
          </a:p>
        </p:txBody>
      </p:sp>
      <p:sp>
        <p:nvSpPr>
          <p:cNvPr id="405508" name="Rectangle 4"/>
          <p:cNvSpPr>
            <a:spLocks noChangeArrowheads="1"/>
          </p:cNvSpPr>
          <p:nvPr/>
        </p:nvSpPr>
        <p:spPr bwMode="auto">
          <a:xfrm>
            <a:off x="3646488" y="3140075"/>
            <a:ext cx="792162" cy="215900"/>
          </a:xfrm>
          <a:prstGeom prst="rect">
            <a:avLst/>
          </a:prstGeom>
          <a:solidFill>
            <a:schemeClr val="folHlink"/>
          </a:solidFill>
          <a:ln w="19050">
            <a:solidFill>
              <a:schemeClr val="tx1"/>
            </a:solidFill>
            <a:miter lim="800000"/>
            <a:headEnd/>
            <a:tailEnd/>
          </a:ln>
          <a:effectLst/>
        </p:spPr>
        <p:txBody>
          <a:bodyPr wrap="none" anchor="ctr"/>
          <a:lstStyle/>
          <a:p>
            <a:r>
              <a:rPr lang="en-US" altLang="zh-CN" sz="1400"/>
              <a:t>PINSELx</a:t>
            </a:r>
          </a:p>
        </p:txBody>
      </p:sp>
      <p:sp>
        <p:nvSpPr>
          <p:cNvPr id="405509" name="Line 5"/>
          <p:cNvSpPr>
            <a:spLocks noChangeShapeType="1"/>
          </p:cNvSpPr>
          <p:nvPr/>
        </p:nvSpPr>
        <p:spPr bwMode="auto">
          <a:xfrm>
            <a:off x="3141663" y="2524125"/>
            <a:ext cx="654050" cy="0"/>
          </a:xfrm>
          <a:prstGeom prst="line">
            <a:avLst/>
          </a:prstGeom>
          <a:noFill/>
          <a:ln w="19050">
            <a:solidFill>
              <a:schemeClr val="tx1"/>
            </a:solidFill>
            <a:round/>
            <a:headEnd/>
            <a:tailEnd/>
          </a:ln>
          <a:effectLst/>
        </p:spPr>
        <p:txBody>
          <a:bodyPr wrap="none" anchor="ctr"/>
          <a:lstStyle/>
          <a:p>
            <a:endParaRPr lang="zh-CN" altLang="en-US"/>
          </a:p>
        </p:txBody>
      </p:sp>
      <p:sp>
        <p:nvSpPr>
          <p:cNvPr id="405510" name="Oval 6"/>
          <p:cNvSpPr>
            <a:spLocks noChangeArrowheads="1"/>
          </p:cNvSpPr>
          <p:nvPr/>
        </p:nvSpPr>
        <p:spPr bwMode="auto">
          <a:xfrm>
            <a:off x="3795714" y="2492375"/>
            <a:ext cx="66675" cy="71438"/>
          </a:xfrm>
          <a:prstGeom prst="ellipse">
            <a:avLst/>
          </a:prstGeom>
          <a:noFill/>
          <a:ln w="19050" algn="ctr">
            <a:solidFill>
              <a:schemeClr val="tx1"/>
            </a:solidFill>
            <a:round/>
            <a:headEnd/>
            <a:tailEnd/>
          </a:ln>
          <a:effectLst/>
        </p:spPr>
        <p:txBody>
          <a:bodyPr wrap="none" anchor="ctr"/>
          <a:lstStyle/>
          <a:p>
            <a:endParaRPr lang="zh-CN" altLang="en-US"/>
          </a:p>
        </p:txBody>
      </p:sp>
      <p:grpSp>
        <p:nvGrpSpPr>
          <p:cNvPr id="405511" name="Group 7"/>
          <p:cNvGrpSpPr>
            <a:grpSpLocks/>
          </p:cNvGrpSpPr>
          <p:nvPr/>
        </p:nvGrpSpPr>
        <p:grpSpPr bwMode="auto">
          <a:xfrm>
            <a:off x="4222750" y="2100264"/>
            <a:ext cx="431800" cy="71437"/>
            <a:chOff x="1837" y="2684"/>
            <a:chExt cx="272" cy="45"/>
          </a:xfrm>
        </p:grpSpPr>
        <p:sp>
          <p:nvSpPr>
            <p:cNvPr id="405512" name="Line 8"/>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5513" name="Oval 9"/>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5514" name="Group 10"/>
          <p:cNvGrpSpPr>
            <a:grpSpLocks/>
          </p:cNvGrpSpPr>
          <p:nvPr/>
        </p:nvGrpSpPr>
        <p:grpSpPr bwMode="auto">
          <a:xfrm>
            <a:off x="4222750" y="2347914"/>
            <a:ext cx="431800" cy="71437"/>
            <a:chOff x="1837" y="2684"/>
            <a:chExt cx="272" cy="45"/>
          </a:xfrm>
        </p:grpSpPr>
        <p:sp>
          <p:nvSpPr>
            <p:cNvPr id="405515" name="Line 11"/>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5516" name="Oval 12"/>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5517" name="Group 13"/>
          <p:cNvGrpSpPr>
            <a:grpSpLocks/>
          </p:cNvGrpSpPr>
          <p:nvPr/>
        </p:nvGrpSpPr>
        <p:grpSpPr bwMode="auto">
          <a:xfrm>
            <a:off x="4222750" y="2636839"/>
            <a:ext cx="431800" cy="71437"/>
            <a:chOff x="1837" y="2684"/>
            <a:chExt cx="272" cy="45"/>
          </a:xfrm>
        </p:grpSpPr>
        <p:sp>
          <p:nvSpPr>
            <p:cNvPr id="405518" name="Line 14"/>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5519" name="Oval 15"/>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5520" name="Group 16"/>
          <p:cNvGrpSpPr>
            <a:grpSpLocks/>
          </p:cNvGrpSpPr>
          <p:nvPr/>
        </p:nvGrpSpPr>
        <p:grpSpPr bwMode="auto">
          <a:xfrm>
            <a:off x="4222750" y="2924175"/>
            <a:ext cx="431800" cy="71438"/>
            <a:chOff x="1837" y="2684"/>
            <a:chExt cx="272" cy="45"/>
          </a:xfrm>
        </p:grpSpPr>
        <p:sp>
          <p:nvSpPr>
            <p:cNvPr id="405521" name="Line 17"/>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5522" name="Oval 18"/>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sp>
        <p:nvSpPr>
          <p:cNvPr id="405523" name="Line 19"/>
          <p:cNvSpPr>
            <a:spLocks noChangeShapeType="1"/>
          </p:cNvSpPr>
          <p:nvPr/>
        </p:nvSpPr>
        <p:spPr bwMode="auto">
          <a:xfrm flipV="1">
            <a:off x="3862388" y="2132013"/>
            <a:ext cx="360362" cy="360362"/>
          </a:xfrm>
          <a:prstGeom prst="line">
            <a:avLst/>
          </a:prstGeom>
          <a:noFill/>
          <a:ln w="19050">
            <a:solidFill>
              <a:srgbClr val="0000FF"/>
            </a:solidFill>
            <a:round/>
            <a:headEnd/>
            <a:tailEnd/>
          </a:ln>
          <a:effectLst/>
        </p:spPr>
        <p:txBody>
          <a:bodyPr wrap="none" anchor="ctr"/>
          <a:lstStyle/>
          <a:p>
            <a:endParaRPr lang="zh-CN" altLang="en-US"/>
          </a:p>
        </p:txBody>
      </p:sp>
      <p:sp>
        <p:nvSpPr>
          <p:cNvPr id="405524" name="Rectangle 20"/>
          <p:cNvSpPr>
            <a:spLocks noChangeArrowheads="1"/>
          </p:cNvSpPr>
          <p:nvPr/>
        </p:nvSpPr>
        <p:spPr bwMode="auto">
          <a:xfrm>
            <a:off x="5229226" y="1844676"/>
            <a:ext cx="792163" cy="576263"/>
          </a:xfrm>
          <a:prstGeom prst="rect">
            <a:avLst/>
          </a:prstGeom>
          <a:noFill/>
          <a:ln w="19050">
            <a:solidFill>
              <a:schemeClr val="tx1"/>
            </a:solidFill>
            <a:miter lim="800000"/>
            <a:headEnd/>
            <a:tailEnd/>
          </a:ln>
          <a:effectLst/>
        </p:spPr>
        <p:txBody>
          <a:bodyPr wrap="none" anchor="ctr"/>
          <a:lstStyle/>
          <a:p>
            <a:endParaRPr lang="zh-CN" altLang="en-US"/>
          </a:p>
        </p:txBody>
      </p:sp>
      <p:sp>
        <p:nvSpPr>
          <p:cNvPr id="405525" name="Rectangle 21"/>
          <p:cNvSpPr>
            <a:spLocks noChangeArrowheads="1"/>
          </p:cNvSpPr>
          <p:nvPr/>
        </p:nvSpPr>
        <p:spPr bwMode="auto">
          <a:xfrm>
            <a:off x="5229226" y="2420938"/>
            <a:ext cx="792163" cy="215900"/>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IOxDIR</a:t>
            </a:r>
          </a:p>
        </p:txBody>
      </p:sp>
      <p:sp>
        <p:nvSpPr>
          <p:cNvPr id="405526" name="Line 22"/>
          <p:cNvSpPr>
            <a:spLocks noChangeShapeType="1"/>
          </p:cNvSpPr>
          <p:nvPr/>
        </p:nvSpPr>
        <p:spPr bwMode="auto">
          <a:xfrm>
            <a:off x="4654550" y="2132013"/>
            <a:ext cx="719138" cy="0"/>
          </a:xfrm>
          <a:prstGeom prst="line">
            <a:avLst/>
          </a:prstGeom>
          <a:noFill/>
          <a:ln w="19050">
            <a:solidFill>
              <a:schemeClr val="tx1"/>
            </a:solidFill>
            <a:round/>
            <a:headEnd/>
            <a:tailEnd/>
          </a:ln>
          <a:effectLst/>
        </p:spPr>
        <p:txBody>
          <a:bodyPr wrap="none" anchor="ctr"/>
          <a:lstStyle/>
          <a:p>
            <a:endParaRPr lang="zh-CN" altLang="en-US"/>
          </a:p>
        </p:txBody>
      </p:sp>
      <p:sp>
        <p:nvSpPr>
          <p:cNvPr id="405527" name="Oval 23"/>
          <p:cNvSpPr>
            <a:spLocks noChangeArrowheads="1"/>
          </p:cNvSpPr>
          <p:nvPr/>
        </p:nvSpPr>
        <p:spPr bwMode="auto">
          <a:xfrm>
            <a:off x="5373689" y="2100264"/>
            <a:ext cx="71437" cy="71437"/>
          </a:xfrm>
          <a:prstGeom prst="ellipse">
            <a:avLst/>
          </a:prstGeom>
          <a:noFill/>
          <a:ln w="19050" algn="ctr">
            <a:solidFill>
              <a:schemeClr val="tx1"/>
            </a:solidFill>
            <a:round/>
            <a:headEnd/>
            <a:tailEnd/>
          </a:ln>
          <a:effectLst/>
        </p:spPr>
        <p:txBody>
          <a:bodyPr wrap="none" anchor="ctr"/>
          <a:lstStyle/>
          <a:p>
            <a:endParaRPr lang="zh-CN" altLang="en-US"/>
          </a:p>
        </p:txBody>
      </p:sp>
      <p:sp>
        <p:nvSpPr>
          <p:cNvPr id="405528" name="Line 24"/>
          <p:cNvSpPr>
            <a:spLocks noChangeShapeType="1"/>
          </p:cNvSpPr>
          <p:nvPr/>
        </p:nvSpPr>
        <p:spPr bwMode="auto">
          <a:xfrm flipH="1">
            <a:off x="5878513" y="1916113"/>
            <a:ext cx="360362" cy="0"/>
          </a:xfrm>
          <a:prstGeom prst="line">
            <a:avLst/>
          </a:prstGeom>
          <a:noFill/>
          <a:ln w="19050">
            <a:solidFill>
              <a:schemeClr val="tx1"/>
            </a:solidFill>
            <a:round/>
            <a:headEnd/>
            <a:tailEnd/>
          </a:ln>
          <a:effectLst/>
        </p:spPr>
        <p:txBody>
          <a:bodyPr wrap="none" anchor="ctr"/>
          <a:lstStyle/>
          <a:p>
            <a:endParaRPr lang="zh-CN" altLang="en-US"/>
          </a:p>
        </p:txBody>
      </p:sp>
      <p:sp>
        <p:nvSpPr>
          <p:cNvPr id="405529" name="Oval 25"/>
          <p:cNvSpPr>
            <a:spLocks noChangeArrowheads="1"/>
          </p:cNvSpPr>
          <p:nvPr/>
        </p:nvSpPr>
        <p:spPr bwMode="auto">
          <a:xfrm flipH="1">
            <a:off x="5807075" y="1884364"/>
            <a:ext cx="71438" cy="71437"/>
          </a:xfrm>
          <a:prstGeom prst="ellipse">
            <a:avLst/>
          </a:prstGeom>
          <a:noFill/>
          <a:ln w="19050" algn="ctr">
            <a:solidFill>
              <a:schemeClr val="tx1"/>
            </a:solidFill>
            <a:round/>
            <a:headEnd/>
            <a:tailEnd/>
          </a:ln>
          <a:effectLst/>
        </p:spPr>
        <p:txBody>
          <a:bodyPr wrap="none" anchor="ctr"/>
          <a:lstStyle/>
          <a:p>
            <a:endParaRPr lang="zh-CN" altLang="en-US"/>
          </a:p>
        </p:txBody>
      </p:sp>
      <p:sp>
        <p:nvSpPr>
          <p:cNvPr id="405530" name="Line 26"/>
          <p:cNvSpPr>
            <a:spLocks noChangeShapeType="1"/>
          </p:cNvSpPr>
          <p:nvPr/>
        </p:nvSpPr>
        <p:spPr bwMode="auto">
          <a:xfrm flipH="1">
            <a:off x="5878513" y="2308225"/>
            <a:ext cx="360362" cy="0"/>
          </a:xfrm>
          <a:prstGeom prst="line">
            <a:avLst/>
          </a:prstGeom>
          <a:noFill/>
          <a:ln w="19050">
            <a:solidFill>
              <a:schemeClr val="tx1"/>
            </a:solidFill>
            <a:round/>
            <a:headEnd/>
            <a:tailEnd/>
          </a:ln>
          <a:effectLst/>
        </p:spPr>
        <p:txBody>
          <a:bodyPr wrap="none" anchor="ctr"/>
          <a:lstStyle/>
          <a:p>
            <a:endParaRPr lang="zh-CN" altLang="en-US"/>
          </a:p>
        </p:txBody>
      </p:sp>
      <p:sp>
        <p:nvSpPr>
          <p:cNvPr id="405531" name="Oval 27"/>
          <p:cNvSpPr>
            <a:spLocks noChangeArrowheads="1"/>
          </p:cNvSpPr>
          <p:nvPr/>
        </p:nvSpPr>
        <p:spPr bwMode="auto">
          <a:xfrm flipH="1">
            <a:off x="5807075" y="2276475"/>
            <a:ext cx="71438" cy="71438"/>
          </a:xfrm>
          <a:prstGeom prst="ellipse">
            <a:avLst/>
          </a:prstGeom>
          <a:noFill/>
          <a:ln w="19050" algn="ctr">
            <a:solidFill>
              <a:schemeClr val="tx1"/>
            </a:solidFill>
            <a:round/>
            <a:headEnd/>
            <a:tailEnd/>
          </a:ln>
          <a:effectLst/>
        </p:spPr>
        <p:txBody>
          <a:bodyPr wrap="none" anchor="ctr"/>
          <a:lstStyle/>
          <a:p>
            <a:endParaRPr lang="zh-CN" altLang="en-US"/>
          </a:p>
        </p:txBody>
      </p:sp>
      <p:sp>
        <p:nvSpPr>
          <p:cNvPr id="405532" name="Line 28"/>
          <p:cNvSpPr>
            <a:spLocks noChangeShapeType="1"/>
          </p:cNvSpPr>
          <p:nvPr/>
        </p:nvSpPr>
        <p:spPr bwMode="auto">
          <a:xfrm flipV="1">
            <a:off x="5445126" y="1916113"/>
            <a:ext cx="360363" cy="215900"/>
          </a:xfrm>
          <a:prstGeom prst="line">
            <a:avLst/>
          </a:prstGeom>
          <a:noFill/>
          <a:ln w="19050">
            <a:solidFill>
              <a:srgbClr val="0000FF"/>
            </a:solidFill>
            <a:round/>
            <a:headEnd/>
            <a:tailEnd/>
          </a:ln>
          <a:effectLst/>
        </p:spPr>
        <p:txBody>
          <a:bodyPr wrap="none" anchor="ctr"/>
          <a:lstStyle/>
          <a:p>
            <a:endParaRPr lang="zh-CN" altLang="en-US"/>
          </a:p>
        </p:txBody>
      </p:sp>
      <p:sp>
        <p:nvSpPr>
          <p:cNvPr id="405533" name="Rectangle 29"/>
          <p:cNvSpPr>
            <a:spLocks noChangeArrowheads="1"/>
          </p:cNvSpPr>
          <p:nvPr/>
        </p:nvSpPr>
        <p:spPr bwMode="auto">
          <a:xfrm>
            <a:off x="6670676" y="1844675"/>
            <a:ext cx="792163" cy="503238"/>
          </a:xfrm>
          <a:prstGeom prst="rect">
            <a:avLst/>
          </a:prstGeom>
          <a:noFill/>
          <a:ln w="19050">
            <a:solidFill>
              <a:schemeClr val="tx1"/>
            </a:solidFill>
            <a:miter lim="800000"/>
            <a:headEnd/>
            <a:tailEnd/>
          </a:ln>
          <a:effectLst/>
        </p:spPr>
        <p:txBody>
          <a:bodyPr wrap="none" anchor="ctr"/>
          <a:lstStyle/>
          <a:p>
            <a:endParaRPr lang="zh-CN" altLang="en-US"/>
          </a:p>
        </p:txBody>
      </p:sp>
      <p:sp>
        <p:nvSpPr>
          <p:cNvPr id="405534" name="Rectangle 30"/>
          <p:cNvSpPr>
            <a:spLocks noChangeArrowheads="1"/>
          </p:cNvSpPr>
          <p:nvPr/>
        </p:nvSpPr>
        <p:spPr bwMode="auto">
          <a:xfrm>
            <a:off x="6670676" y="2420938"/>
            <a:ext cx="792163" cy="215900"/>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IOxCLR</a:t>
            </a:r>
          </a:p>
        </p:txBody>
      </p:sp>
      <p:sp>
        <p:nvSpPr>
          <p:cNvPr id="405535" name="Oval 31"/>
          <p:cNvSpPr>
            <a:spLocks noChangeArrowheads="1"/>
          </p:cNvSpPr>
          <p:nvPr/>
        </p:nvSpPr>
        <p:spPr bwMode="auto">
          <a:xfrm>
            <a:off x="6815139" y="2100264"/>
            <a:ext cx="71437" cy="71437"/>
          </a:xfrm>
          <a:prstGeom prst="ellipse">
            <a:avLst/>
          </a:prstGeom>
          <a:noFill/>
          <a:ln w="19050" algn="ctr">
            <a:solidFill>
              <a:schemeClr val="tx1"/>
            </a:solidFill>
            <a:round/>
            <a:headEnd/>
            <a:tailEnd/>
          </a:ln>
          <a:effectLst/>
        </p:spPr>
        <p:txBody>
          <a:bodyPr wrap="none" anchor="ctr"/>
          <a:lstStyle/>
          <a:p>
            <a:endParaRPr lang="zh-CN" altLang="en-US"/>
          </a:p>
        </p:txBody>
      </p:sp>
      <p:grpSp>
        <p:nvGrpSpPr>
          <p:cNvPr id="405536" name="Group 32"/>
          <p:cNvGrpSpPr>
            <a:grpSpLocks/>
          </p:cNvGrpSpPr>
          <p:nvPr/>
        </p:nvGrpSpPr>
        <p:grpSpPr bwMode="auto">
          <a:xfrm>
            <a:off x="7246938" y="1916114"/>
            <a:ext cx="431800" cy="71437"/>
            <a:chOff x="1837" y="2684"/>
            <a:chExt cx="272" cy="45"/>
          </a:xfrm>
        </p:grpSpPr>
        <p:sp>
          <p:nvSpPr>
            <p:cNvPr id="405537" name="Line 33"/>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5538" name="Oval 34"/>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5539" name="Group 35"/>
          <p:cNvGrpSpPr>
            <a:grpSpLocks/>
          </p:cNvGrpSpPr>
          <p:nvPr/>
        </p:nvGrpSpPr>
        <p:grpSpPr bwMode="auto">
          <a:xfrm>
            <a:off x="7246938" y="2205039"/>
            <a:ext cx="431800" cy="71437"/>
            <a:chOff x="1837" y="2684"/>
            <a:chExt cx="272" cy="45"/>
          </a:xfrm>
        </p:grpSpPr>
        <p:sp>
          <p:nvSpPr>
            <p:cNvPr id="405540" name="Line 36"/>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5541" name="Oval 37"/>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sp>
        <p:nvSpPr>
          <p:cNvPr id="405542" name="Line 38"/>
          <p:cNvSpPr>
            <a:spLocks noChangeShapeType="1"/>
          </p:cNvSpPr>
          <p:nvPr/>
        </p:nvSpPr>
        <p:spPr bwMode="auto">
          <a:xfrm flipV="1">
            <a:off x="6886576" y="1916113"/>
            <a:ext cx="360363" cy="215900"/>
          </a:xfrm>
          <a:prstGeom prst="line">
            <a:avLst/>
          </a:prstGeom>
          <a:noFill/>
          <a:ln w="19050">
            <a:solidFill>
              <a:srgbClr val="0000FF"/>
            </a:solidFill>
            <a:round/>
            <a:headEnd/>
            <a:tailEnd/>
          </a:ln>
          <a:effectLst/>
        </p:spPr>
        <p:txBody>
          <a:bodyPr wrap="none" anchor="ctr"/>
          <a:lstStyle/>
          <a:p>
            <a:endParaRPr lang="zh-CN" altLang="en-US"/>
          </a:p>
        </p:txBody>
      </p:sp>
      <p:sp>
        <p:nvSpPr>
          <p:cNvPr id="405543" name="Line 39"/>
          <p:cNvSpPr>
            <a:spLocks noChangeShapeType="1"/>
          </p:cNvSpPr>
          <p:nvPr/>
        </p:nvSpPr>
        <p:spPr bwMode="auto">
          <a:xfrm>
            <a:off x="6453188" y="2132013"/>
            <a:ext cx="360362" cy="0"/>
          </a:xfrm>
          <a:prstGeom prst="line">
            <a:avLst/>
          </a:prstGeom>
          <a:noFill/>
          <a:ln w="19050">
            <a:solidFill>
              <a:schemeClr val="tx1"/>
            </a:solidFill>
            <a:round/>
            <a:headEnd/>
            <a:tailEnd/>
          </a:ln>
          <a:effectLst/>
        </p:spPr>
        <p:txBody>
          <a:bodyPr wrap="none" anchor="ctr"/>
          <a:lstStyle/>
          <a:p>
            <a:endParaRPr lang="zh-CN" altLang="en-US"/>
          </a:p>
        </p:txBody>
      </p:sp>
      <p:sp>
        <p:nvSpPr>
          <p:cNvPr id="405544" name="Line 40"/>
          <p:cNvSpPr>
            <a:spLocks noChangeShapeType="1"/>
          </p:cNvSpPr>
          <p:nvPr/>
        </p:nvSpPr>
        <p:spPr bwMode="auto">
          <a:xfrm flipV="1">
            <a:off x="6453188" y="1916113"/>
            <a:ext cx="0" cy="215900"/>
          </a:xfrm>
          <a:prstGeom prst="line">
            <a:avLst/>
          </a:prstGeom>
          <a:noFill/>
          <a:ln w="19050">
            <a:solidFill>
              <a:schemeClr val="tx1"/>
            </a:solidFill>
            <a:round/>
            <a:headEnd/>
            <a:tailEnd/>
          </a:ln>
          <a:effectLst/>
        </p:spPr>
        <p:txBody>
          <a:bodyPr wrap="none" anchor="ctr"/>
          <a:lstStyle/>
          <a:p>
            <a:endParaRPr lang="zh-CN" altLang="en-US"/>
          </a:p>
        </p:txBody>
      </p:sp>
      <p:sp>
        <p:nvSpPr>
          <p:cNvPr id="405545" name="Line 41"/>
          <p:cNvSpPr>
            <a:spLocks noChangeShapeType="1"/>
          </p:cNvSpPr>
          <p:nvPr/>
        </p:nvSpPr>
        <p:spPr bwMode="auto">
          <a:xfrm flipH="1">
            <a:off x="6237288" y="1916113"/>
            <a:ext cx="215900" cy="0"/>
          </a:xfrm>
          <a:prstGeom prst="line">
            <a:avLst/>
          </a:prstGeom>
          <a:noFill/>
          <a:ln w="19050">
            <a:solidFill>
              <a:schemeClr val="tx1"/>
            </a:solidFill>
            <a:round/>
            <a:headEnd/>
            <a:tailEnd/>
          </a:ln>
          <a:effectLst/>
        </p:spPr>
        <p:txBody>
          <a:bodyPr wrap="none" anchor="ctr"/>
          <a:lstStyle/>
          <a:p>
            <a:endParaRPr lang="zh-CN" altLang="en-US"/>
          </a:p>
        </p:txBody>
      </p:sp>
      <p:sp>
        <p:nvSpPr>
          <p:cNvPr id="405546" name="Line 42"/>
          <p:cNvSpPr>
            <a:spLocks noChangeShapeType="1"/>
          </p:cNvSpPr>
          <p:nvPr/>
        </p:nvSpPr>
        <p:spPr bwMode="auto">
          <a:xfrm>
            <a:off x="6238875" y="3213100"/>
            <a:ext cx="431800" cy="0"/>
          </a:xfrm>
          <a:prstGeom prst="line">
            <a:avLst/>
          </a:prstGeom>
          <a:noFill/>
          <a:ln w="19050">
            <a:solidFill>
              <a:schemeClr val="tx1"/>
            </a:solidFill>
            <a:round/>
            <a:headEnd/>
            <a:tailEnd/>
          </a:ln>
          <a:effectLst/>
        </p:spPr>
        <p:txBody>
          <a:bodyPr wrap="none" anchor="ctr"/>
          <a:lstStyle/>
          <a:p>
            <a:endParaRPr lang="zh-CN" altLang="en-US"/>
          </a:p>
        </p:txBody>
      </p:sp>
      <p:sp>
        <p:nvSpPr>
          <p:cNvPr id="405547" name="Rectangle 43"/>
          <p:cNvSpPr>
            <a:spLocks noChangeArrowheads="1"/>
          </p:cNvSpPr>
          <p:nvPr/>
        </p:nvSpPr>
        <p:spPr bwMode="auto">
          <a:xfrm>
            <a:off x="6670676" y="3068639"/>
            <a:ext cx="792163" cy="287337"/>
          </a:xfrm>
          <a:prstGeom prst="rect">
            <a:avLst/>
          </a:prstGeom>
          <a:solidFill>
            <a:srgbClr val="FF99FF"/>
          </a:solidFill>
          <a:ln w="19050">
            <a:solidFill>
              <a:schemeClr val="tx1"/>
            </a:solidFill>
            <a:miter lim="800000"/>
            <a:headEnd/>
            <a:tailEnd/>
          </a:ln>
          <a:effectLst/>
        </p:spPr>
        <p:txBody>
          <a:bodyPr wrap="none" anchor="ctr"/>
          <a:lstStyle/>
          <a:p>
            <a:r>
              <a:rPr lang="en-US" altLang="zh-CN" sz="1400"/>
              <a:t>IOxPIN</a:t>
            </a:r>
          </a:p>
        </p:txBody>
      </p:sp>
      <p:sp>
        <p:nvSpPr>
          <p:cNvPr id="405548" name="Rectangle 44"/>
          <p:cNvSpPr>
            <a:spLocks noChangeArrowheads="1"/>
          </p:cNvSpPr>
          <p:nvPr/>
        </p:nvSpPr>
        <p:spPr bwMode="auto">
          <a:xfrm>
            <a:off x="6670676" y="1555750"/>
            <a:ext cx="792163" cy="215900"/>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IOxSET</a:t>
            </a:r>
          </a:p>
        </p:txBody>
      </p:sp>
      <p:sp>
        <p:nvSpPr>
          <p:cNvPr id="405549" name="Text Box 45"/>
          <p:cNvSpPr txBox="1">
            <a:spLocks noChangeArrowheads="1"/>
          </p:cNvSpPr>
          <p:nvPr/>
        </p:nvSpPr>
        <p:spPr bwMode="auto">
          <a:xfrm>
            <a:off x="6021388" y="2060575"/>
            <a:ext cx="360362"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in</a:t>
            </a:r>
          </a:p>
        </p:txBody>
      </p:sp>
      <p:sp>
        <p:nvSpPr>
          <p:cNvPr id="405550" name="Text Box 46"/>
          <p:cNvSpPr txBox="1">
            <a:spLocks noChangeArrowheads="1"/>
          </p:cNvSpPr>
          <p:nvPr/>
        </p:nvSpPr>
        <p:spPr bwMode="auto">
          <a:xfrm>
            <a:off x="6021388" y="1628775"/>
            <a:ext cx="431800"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out</a:t>
            </a:r>
          </a:p>
        </p:txBody>
      </p:sp>
      <p:sp>
        <p:nvSpPr>
          <p:cNvPr id="405551" name="Line 47"/>
          <p:cNvSpPr>
            <a:spLocks noChangeShapeType="1"/>
          </p:cNvSpPr>
          <p:nvPr/>
        </p:nvSpPr>
        <p:spPr bwMode="auto">
          <a:xfrm>
            <a:off x="7031038" y="1773238"/>
            <a:ext cx="0" cy="2159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405552" name="Line 48"/>
          <p:cNvSpPr>
            <a:spLocks noChangeShapeType="1"/>
          </p:cNvSpPr>
          <p:nvPr/>
        </p:nvSpPr>
        <p:spPr bwMode="auto">
          <a:xfrm flipV="1">
            <a:off x="7031038" y="2205038"/>
            <a:ext cx="0" cy="2159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405553" name="Text Box 49"/>
          <p:cNvSpPr txBox="1">
            <a:spLocks noChangeArrowheads="1"/>
          </p:cNvSpPr>
          <p:nvPr/>
        </p:nvSpPr>
        <p:spPr bwMode="auto">
          <a:xfrm>
            <a:off x="7678738" y="1773238"/>
            <a:ext cx="360362"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1</a:t>
            </a:r>
          </a:p>
        </p:txBody>
      </p:sp>
      <p:sp>
        <p:nvSpPr>
          <p:cNvPr id="405554" name="Text Box 50"/>
          <p:cNvSpPr txBox="1">
            <a:spLocks noChangeArrowheads="1"/>
          </p:cNvSpPr>
          <p:nvPr/>
        </p:nvSpPr>
        <p:spPr bwMode="auto">
          <a:xfrm>
            <a:off x="7678738" y="2060575"/>
            <a:ext cx="360362"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0</a:t>
            </a:r>
          </a:p>
        </p:txBody>
      </p:sp>
      <p:sp>
        <p:nvSpPr>
          <p:cNvPr id="405555" name="Line 51"/>
          <p:cNvSpPr>
            <a:spLocks noChangeShapeType="1"/>
          </p:cNvSpPr>
          <p:nvPr/>
        </p:nvSpPr>
        <p:spPr bwMode="auto">
          <a:xfrm>
            <a:off x="4941888" y="2132014"/>
            <a:ext cx="0" cy="1081087"/>
          </a:xfrm>
          <a:prstGeom prst="line">
            <a:avLst/>
          </a:prstGeom>
          <a:noFill/>
          <a:ln w="19050">
            <a:solidFill>
              <a:schemeClr val="tx1"/>
            </a:solidFill>
            <a:round/>
            <a:headEnd/>
            <a:tailEnd/>
          </a:ln>
          <a:effectLst/>
        </p:spPr>
        <p:txBody>
          <a:bodyPr wrap="none" anchor="ctr"/>
          <a:lstStyle/>
          <a:p>
            <a:endParaRPr lang="zh-CN" altLang="en-US"/>
          </a:p>
        </p:txBody>
      </p:sp>
      <p:sp>
        <p:nvSpPr>
          <p:cNvPr id="405556" name="Line 52"/>
          <p:cNvSpPr>
            <a:spLocks noChangeShapeType="1"/>
          </p:cNvSpPr>
          <p:nvPr/>
        </p:nvSpPr>
        <p:spPr bwMode="auto">
          <a:xfrm>
            <a:off x="4941889" y="3213100"/>
            <a:ext cx="1296987" cy="0"/>
          </a:xfrm>
          <a:prstGeom prst="line">
            <a:avLst/>
          </a:prstGeom>
          <a:noFill/>
          <a:ln w="19050">
            <a:solidFill>
              <a:schemeClr val="tx1"/>
            </a:solidFill>
            <a:round/>
            <a:headEnd/>
            <a:tailEnd/>
          </a:ln>
          <a:effectLst/>
        </p:spPr>
        <p:txBody>
          <a:bodyPr wrap="none" anchor="ctr"/>
          <a:lstStyle/>
          <a:p>
            <a:endParaRPr lang="zh-CN" altLang="en-US"/>
          </a:p>
        </p:txBody>
      </p:sp>
      <p:sp>
        <p:nvSpPr>
          <p:cNvPr id="405557" name="Rectangle 53"/>
          <p:cNvSpPr>
            <a:spLocks noChangeArrowheads="1"/>
          </p:cNvSpPr>
          <p:nvPr/>
        </p:nvSpPr>
        <p:spPr bwMode="auto">
          <a:xfrm>
            <a:off x="2782889" y="2347913"/>
            <a:ext cx="358775" cy="360362"/>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5558" name="Rectangle 54"/>
          <p:cNvSpPr>
            <a:spLocks noChangeArrowheads="1"/>
          </p:cNvSpPr>
          <p:nvPr/>
        </p:nvSpPr>
        <p:spPr bwMode="auto">
          <a:xfrm>
            <a:off x="2782889" y="2924176"/>
            <a:ext cx="358775" cy="360363"/>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5559" name="Rectangle 55"/>
          <p:cNvSpPr>
            <a:spLocks noChangeArrowheads="1"/>
          </p:cNvSpPr>
          <p:nvPr/>
        </p:nvSpPr>
        <p:spPr bwMode="auto">
          <a:xfrm>
            <a:off x="2782889" y="1773238"/>
            <a:ext cx="358775" cy="360362"/>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5560" name="Rectangle 56"/>
          <p:cNvSpPr>
            <a:spLocks noChangeArrowheads="1"/>
          </p:cNvSpPr>
          <p:nvPr/>
        </p:nvSpPr>
        <p:spPr bwMode="auto">
          <a:xfrm>
            <a:off x="8974139" y="2347913"/>
            <a:ext cx="358775" cy="360362"/>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5561" name="Rectangle 57"/>
          <p:cNvSpPr>
            <a:spLocks noChangeArrowheads="1"/>
          </p:cNvSpPr>
          <p:nvPr/>
        </p:nvSpPr>
        <p:spPr bwMode="auto">
          <a:xfrm>
            <a:off x="8974139" y="2924176"/>
            <a:ext cx="358775" cy="360363"/>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5562" name="Rectangle 58"/>
          <p:cNvSpPr>
            <a:spLocks noChangeArrowheads="1"/>
          </p:cNvSpPr>
          <p:nvPr/>
        </p:nvSpPr>
        <p:spPr bwMode="auto">
          <a:xfrm>
            <a:off x="8974139" y="1773238"/>
            <a:ext cx="358775" cy="360362"/>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5563" name="Rectangle 59"/>
          <p:cNvSpPr>
            <a:spLocks noGrp="1" noChangeArrowheads="1"/>
          </p:cNvSpPr>
          <p:nvPr>
            <p:ph type="body" sz="half" idx="1"/>
          </p:nvPr>
        </p:nvSpPr>
        <p:spPr>
          <a:xfrm>
            <a:off x="2179638" y="587375"/>
            <a:ext cx="7772400" cy="609600"/>
          </a:xfrm>
          <a:noFill/>
          <a:ln/>
        </p:spPr>
        <p:txBody>
          <a:bodyPr/>
          <a:lstStyle/>
          <a:p>
            <a:r>
              <a:rPr lang="en-US" altLang="zh-CN"/>
              <a:t>GPIO</a:t>
            </a:r>
            <a:r>
              <a:rPr lang="zh-CN" altLang="en-US"/>
              <a:t>相关寄存器描述</a:t>
            </a:r>
            <a:r>
              <a:rPr lang="en-US" altLang="zh-CN"/>
              <a:t>——</a:t>
            </a:r>
            <a:r>
              <a:rPr lang="en-US" altLang="zh-CN">
                <a:solidFill>
                  <a:srgbClr val="FF0000"/>
                </a:solidFill>
              </a:rPr>
              <a:t>IOxPIN</a:t>
            </a:r>
          </a:p>
        </p:txBody>
      </p:sp>
      <p:graphicFrame>
        <p:nvGraphicFramePr>
          <p:cNvPr id="405564" name="Group 60"/>
          <p:cNvGraphicFramePr>
            <a:graphicFrameLocks noGrp="1"/>
          </p:cNvGraphicFramePr>
          <p:nvPr>
            <p:ph sz="half" idx="2"/>
          </p:nvPr>
        </p:nvGraphicFramePr>
        <p:xfrm>
          <a:off x="1992314" y="3767138"/>
          <a:ext cx="8207375" cy="670560"/>
        </p:xfrm>
        <a:graphic>
          <a:graphicData uri="http://schemas.openxmlformats.org/drawingml/2006/table">
            <a:tbl>
              <a:tblPr/>
              <a:tblGrid>
                <a:gridCol w="865187">
                  <a:extLst>
                    <a:ext uri="{9D8B030D-6E8A-4147-A177-3AD203B41FA5}">
                      <a16:colId xmlns:a16="http://schemas.microsoft.com/office/drawing/2014/main" val="20000"/>
                    </a:ext>
                  </a:extLst>
                </a:gridCol>
                <a:gridCol w="6480175">
                  <a:extLst>
                    <a:ext uri="{9D8B030D-6E8A-4147-A177-3AD203B41FA5}">
                      <a16:colId xmlns:a16="http://schemas.microsoft.com/office/drawing/2014/main" val="20001"/>
                    </a:ext>
                  </a:extLst>
                </a:gridCol>
                <a:gridCol w="862013">
                  <a:extLst>
                    <a:ext uri="{9D8B030D-6E8A-4147-A177-3AD203B41FA5}">
                      <a16:colId xmlns:a16="http://schemas.microsoft.com/office/drawing/2014/main" val="20002"/>
                    </a:ext>
                  </a:extLst>
                </a:gridCol>
              </a:tblGrid>
              <a:tr h="217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IOxPIN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rPr>
                        <a:t>描述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rPr>
                        <a:t>复位值</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217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31 : 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GPIO</a:t>
                      </a:r>
                      <a:r>
                        <a:rPr kumimoji="1" lang="zh-CN" altLang="en-US" sz="1600" b="0" i="0" u="none" strike="noStrike" cap="none" normalizeH="0" baseline="0">
                          <a:ln>
                            <a:noFill/>
                          </a:ln>
                          <a:solidFill>
                            <a:schemeClr val="tx1"/>
                          </a:solidFill>
                          <a:effectLst/>
                          <a:latin typeface="Times New Roman" pitchFamily="18" charset="0"/>
                          <a:ea typeface="宋体" pitchFamily="2" charset="-122"/>
                        </a:rPr>
                        <a:t>引脚值。</a:t>
                      </a:r>
                      <a:r>
                        <a:rPr kumimoji="1" lang="en-US" altLang="zh-CN" sz="1600" b="0" i="0" u="none" strike="noStrike" cap="none" normalizeH="0" baseline="0">
                          <a:ln>
                            <a:noFill/>
                          </a:ln>
                          <a:solidFill>
                            <a:schemeClr val="tx1"/>
                          </a:solidFill>
                          <a:effectLst/>
                          <a:latin typeface="Times New Roman" pitchFamily="18" charset="0"/>
                          <a:ea typeface="宋体" pitchFamily="2" charset="-122"/>
                        </a:rPr>
                        <a:t>IOxPIN[0]</a:t>
                      </a:r>
                      <a:r>
                        <a:rPr kumimoji="1" lang="zh-CN" altLang="en-US" sz="1600" b="0" i="0" u="none" strike="noStrike" cap="none" normalizeH="0" baseline="0">
                          <a:ln>
                            <a:noFill/>
                          </a:ln>
                          <a:solidFill>
                            <a:schemeClr val="tx1"/>
                          </a:solidFill>
                          <a:effectLst/>
                          <a:latin typeface="Times New Roman" pitchFamily="18" charset="0"/>
                          <a:ea typeface="宋体" pitchFamily="2" charset="-122"/>
                        </a:rPr>
                        <a:t>对应于</a:t>
                      </a:r>
                      <a:r>
                        <a:rPr kumimoji="1" lang="en-US" altLang="zh-CN" sz="1600" b="0" i="0" u="none" strike="noStrike" cap="none" normalizeH="0" baseline="0">
                          <a:ln>
                            <a:noFill/>
                          </a:ln>
                          <a:solidFill>
                            <a:schemeClr val="tx1"/>
                          </a:solidFill>
                          <a:effectLst/>
                          <a:latin typeface="Times New Roman" pitchFamily="18" charset="0"/>
                          <a:ea typeface="宋体" pitchFamily="2" charset="-122"/>
                        </a:rPr>
                        <a:t>Px.0 … IOxPIN[31]</a:t>
                      </a:r>
                      <a:r>
                        <a:rPr kumimoji="1" lang="zh-CN" altLang="en-US" sz="1600" b="0" i="0" u="none" strike="noStrike" cap="none" normalizeH="0" baseline="0">
                          <a:ln>
                            <a:noFill/>
                          </a:ln>
                          <a:solidFill>
                            <a:schemeClr val="tx1"/>
                          </a:solidFill>
                          <a:effectLst/>
                          <a:latin typeface="Times New Roman" pitchFamily="18" charset="0"/>
                          <a:ea typeface="宋体" pitchFamily="2" charset="-122"/>
                        </a:rPr>
                        <a:t>对应于</a:t>
                      </a:r>
                      <a:r>
                        <a:rPr kumimoji="1" lang="en-US" altLang="zh-CN" sz="1600" b="0" i="0" u="none" strike="noStrike" cap="none" normalizeH="0" baseline="0">
                          <a:ln>
                            <a:noFill/>
                          </a:ln>
                          <a:solidFill>
                            <a:schemeClr val="tx1"/>
                          </a:solidFill>
                          <a:effectLst/>
                          <a:latin typeface="Times New Roman" pitchFamily="18" charset="0"/>
                          <a:ea typeface="宋体" pitchFamily="2" charset="-122"/>
                        </a:rPr>
                        <a:t>Px.31</a:t>
                      </a:r>
                      <a:r>
                        <a:rPr kumimoji="1" lang="zh-CN" altLang="en-US" sz="1600" b="0" i="0" u="none" strike="noStrike" cap="none" normalizeH="0" baseline="0">
                          <a:ln>
                            <a:noFill/>
                          </a:ln>
                          <a:solidFill>
                            <a:schemeClr val="tx1"/>
                          </a:solidFill>
                          <a:effectLst/>
                          <a:latin typeface="Times New Roman" pitchFamily="18" charset="0"/>
                          <a:ea typeface="宋体" pitchFamily="2" charset="-122"/>
                        </a:rPr>
                        <a:t>引脚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rPr>
                        <a:t>未定义</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bl>
          </a:graphicData>
        </a:graphic>
      </p:graphicFrame>
      <p:sp>
        <p:nvSpPr>
          <p:cNvPr id="405578" name="Text Box 74"/>
          <p:cNvSpPr txBox="1">
            <a:spLocks noChangeArrowheads="1"/>
          </p:cNvSpPr>
          <p:nvPr/>
        </p:nvSpPr>
        <p:spPr bwMode="auto">
          <a:xfrm>
            <a:off x="2370138" y="4581525"/>
            <a:ext cx="7542212" cy="1741488"/>
          </a:xfrm>
          <a:prstGeom prst="rect">
            <a:avLst/>
          </a:prstGeom>
          <a:solidFill>
            <a:srgbClr val="DDDDDD">
              <a:alpha val="30000"/>
            </a:srgbClr>
          </a:solidFill>
          <a:ln w="9525">
            <a:noFill/>
            <a:miter lim="800000"/>
            <a:headEnd/>
            <a:tailEnd/>
          </a:ln>
          <a:effectLst/>
        </p:spPr>
        <p:txBody>
          <a:bodyPr>
            <a:spAutoFit/>
          </a:bodyPr>
          <a:lstStyle/>
          <a:p>
            <a:pPr algn="l">
              <a:spcBef>
                <a:spcPct val="50000"/>
              </a:spcBef>
            </a:pPr>
            <a:r>
              <a:rPr lang="en-US" altLang="zh-CN">
                <a:latin typeface="华文新魏" pitchFamily="2" charset="-122"/>
                <a:ea typeface="华文新魏" pitchFamily="2" charset="-122"/>
              </a:rPr>
              <a:t>        </a:t>
            </a:r>
            <a:r>
              <a:rPr lang="zh-CN" altLang="en-US">
                <a:latin typeface="华文新魏" pitchFamily="2" charset="-122"/>
                <a:ea typeface="华文新魏" pitchFamily="2" charset="-122"/>
              </a:rPr>
              <a:t>该寄存器反映了当前引脚的状态。</a:t>
            </a:r>
            <a:r>
              <a:rPr lang="en-US" altLang="zh-CN">
                <a:latin typeface="华文新魏" pitchFamily="2" charset="-122"/>
                <a:ea typeface="华文新魏" pitchFamily="2" charset="-122"/>
              </a:rPr>
              <a:t>IO</a:t>
            </a:r>
            <a:r>
              <a:rPr lang="en-US" altLang="zh-CN">
                <a:solidFill>
                  <a:srgbClr val="FF0000"/>
                </a:solidFill>
                <a:latin typeface="华文新魏" pitchFamily="2" charset="-122"/>
                <a:ea typeface="华文新魏" pitchFamily="2" charset="-122"/>
              </a:rPr>
              <a:t>x</a:t>
            </a:r>
            <a:r>
              <a:rPr lang="en-US" altLang="zh-CN">
                <a:latin typeface="华文新魏" pitchFamily="2" charset="-122"/>
                <a:ea typeface="华文新魏" pitchFamily="2" charset="-122"/>
              </a:rPr>
              <a:t>PIN</a:t>
            </a:r>
            <a:r>
              <a:rPr lang="zh-CN" altLang="en-US">
                <a:latin typeface="华文新魏" pitchFamily="2" charset="-122"/>
                <a:ea typeface="华文新魏" pitchFamily="2" charset="-122"/>
              </a:rPr>
              <a:t>中的</a:t>
            </a:r>
            <a:r>
              <a:rPr lang="en-US" altLang="zh-CN">
                <a:solidFill>
                  <a:srgbClr val="FF0000"/>
                </a:solidFill>
                <a:latin typeface="华文新魏" pitchFamily="2" charset="-122"/>
                <a:ea typeface="华文新魏" pitchFamily="2" charset="-122"/>
              </a:rPr>
              <a:t>x</a:t>
            </a:r>
            <a:r>
              <a:rPr lang="zh-CN" altLang="en-US">
                <a:latin typeface="华文新魏" pitchFamily="2" charset="-122"/>
                <a:ea typeface="华文新魏" pitchFamily="2" charset="-122"/>
              </a:rPr>
              <a:t>对应于某一个端口，如</a:t>
            </a:r>
            <a:r>
              <a:rPr lang="en-US" altLang="zh-CN">
                <a:latin typeface="华文新魏" pitchFamily="2" charset="-122"/>
                <a:ea typeface="华文新魏" pitchFamily="2" charset="-122"/>
              </a:rPr>
              <a:t>P</a:t>
            </a:r>
            <a:r>
              <a:rPr lang="en-US" altLang="zh-CN">
                <a:solidFill>
                  <a:srgbClr val="FF0000"/>
                </a:solidFill>
                <a:latin typeface="华文新魏" pitchFamily="2" charset="-122"/>
                <a:ea typeface="华文新魏" pitchFamily="2" charset="-122"/>
              </a:rPr>
              <a:t>1</a:t>
            </a:r>
            <a:r>
              <a:rPr lang="zh-CN" altLang="en-US">
                <a:latin typeface="华文新魏" pitchFamily="2" charset="-122"/>
                <a:ea typeface="华文新魏" pitchFamily="2" charset="-122"/>
              </a:rPr>
              <a:t>口对应于</a:t>
            </a:r>
            <a:r>
              <a:rPr lang="en-US" altLang="zh-CN">
                <a:latin typeface="华文新魏" pitchFamily="2" charset="-122"/>
                <a:ea typeface="华文新魏" pitchFamily="2" charset="-122"/>
              </a:rPr>
              <a:t>IO</a:t>
            </a:r>
            <a:r>
              <a:rPr lang="en-US" altLang="zh-CN">
                <a:solidFill>
                  <a:srgbClr val="FF0000"/>
                </a:solidFill>
                <a:latin typeface="华文新魏" pitchFamily="2" charset="-122"/>
                <a:ea typeface="华文新魏" pitchFamily="2" charset="-122"/>
              </a:rPr>
              <a:t>1</a:t>
            </a:r>
            <a:r>
              <a:rPr lang="en-US" altLang="zh-CN">
                <a:latin typeface="华文新魏" pitchFamily="2" charset="-122"/>
                <a:ea typeface="华文新魏" pitchFamily="2" charset="-122"/>
              </a:rPr>
              <a:t>PIN</a:t>
            </a:r>
            <a:r>
              <a:rPr lang="zh-CN" altLang="en-US">
                <a:latin typeface="华文新魏" pitchFamily="2" charset="-122"/>
                <a:ea typeface="华文新魏" pitchFamily="2" charset="-122"/>
              </a:rPr>
              <a:t>。所以芯片存在多少个端口，就有多少个</a:t>
            </a:r>
            <a:r>
              <a:rPr lang="en-US" altLang="zh-CN">
                <a:latin typeface="华文新魏" pitchFamily="2" charset="-122"/>
                <a:ea typeface="华文新魏" pitchFamily="2" charset="-122"/>
              </a:rPr>
              <a:t>IOxPIN</a:t>
            </a:r>
            <a:r>
              <a:rPr lang="zh-CN" altLang="en-US">
                <a:latin typeface="华文新魏" pitchFamily="2" charset="-122"/>
                <a:ea typeface="华文新魏" pitchFamily="2" charset="-122"/>
              </a:rPr>
              <a:t>分别与之对应。</a:t>
            </a:r>
          </a:p>
          <a:p>
            <a:pPr algn="l">
              <a:spcBef>
                <a:spcPct val="50000"/>
              </a:spcBef>
            </a:pPr>
            <a:r>
              <a:rPr lang="zh-CN" altLang="en-US">
                <a:latin typeface="华文新魏" pitchFamily="2" charset="-122"/>
                <a:ea typeface="华文新魏" pitchFamily="2" charset="-122"/>
              </a:rPr>
              <a:t>        写该寄存器会将值保存到输出寄存器，具体使用稍后介绍。</a:t>
            </a:r>
          </a:p>
          <a:p>
            <a:pPr algn="l">
              <a:spcBef>
                <a:spcPct val="50000"/>
              </a:spcBef>
            </a:pPr>
            <a:r>
              <a:rPr lang="zh-CN" altLang="en-US">
                <a:solidFill>
                  <a:srgbClr val="FF0000"/>
                </a:solidFill>
                <a:latin typeface="华文新魏" pitchFamily="2" charset="-122"/>
                <a:ea typeface="华文新魏" pitchFamily="2" charset="-122"/>
              </a:rPr>
              <a:t>注意：</a:t>
            </a:r>
            <a:r>
              <a:rPr lang="zh-CN" altLang="en-US">
                <a:latin typeface="华文新魏" pitchFamily="2" charset="-122"/>
                <a:ea typeface="华文新魏" pitchFamily="2" charset="-122"/>
              </a:rPr>
              <a:t>无论引脚被设置为输入还是输出模式，都不影响引脚状态的读出。</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05563">
                                            <p:txEl>
                                              <p:pRg st="0" end="0"/>
                                            </p:txEl>
                                          </p:spTgt>
                                        </p:tgtEl>
                                        <p:attrNameLst>
                                          <p:attrName>style.visibility</p:attrName>
                                        </p:attrNameLst>
                                      </p:cBhvr>
                                      <p:to>
                                        <p:strVal val="visible"/>
                                      </p:to>
                                    </p:set>
                                    <p:anim calcmode="lin" valueType="num">
                                      <p:cBhvr additive="base">
                                        <p:cTn id="7" dur="500" fill="hold"/>
                                        <p:tgtEl>
                                          <p:spTgt spid="40556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0556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8" fill="hold" nodeType="afterEffect">
                                  <p:stCondLst>
                                    <p:cond delay="0"/>
                                  </p:stCondLst>
                                  <p:childTnLst>
                                    <p:set>
                                      <p:cBhvr>
                                        <p:cTn id="11" dur="1" fill="hold">
                                          <p:stCondLst>
                                            <p:cond delay="0"/>
                                          </p:stCondLst>
                                        </p:cTn>
                                        <p:tgtEl>
                                          <p:spTgt spid="405564"/>
                                        </p:tgtEl>
                                        <p:attrNameLst>
                                          <p:attrName>style.visibility</p:attrName>
                                        </p:attrNameLst>
                                      </p:cBhvr>
                                      <p:to>
                                        <p:strVal val="visible"/>
                                      </p:to>
                                    </p:set>
                                    <p:anim calcmode="lin" valueType="num">
                                      <p:cBhvr additive="base">
                                        <p:cTn id="12" dur="500" fill="hold"/>
                                        <p:tgtEl>
                                          <p:spTgt spid="405564"/>
                                        </p:tgtEl>
                                        <p:attrNameLst>
                                          <p:attrName>ppt_x</p:attrName>
                                        </p:attrNameLst>
                                      </p:cBhvr>
                                      <p:tavLst>
                                        <p:tav tm="0">
                                          <p:val>
                                            <p:strVal val="0-#ppt_w/2"/>
                                          </p:val>
                                        </p:tav>
                                        <p:tav tm="100000">
                                          <p:val>
                                            <p:strVal val="#ppt_x"/>
                                          </p:val>
                                        </p:tav>
                                      </p:tavLst>
                                    </p:anim>
                                    <p:anim calcmode="lin" valueType="num">
                                      <p:cBhvr additive="base">
                                        <p:cTn id="13" dur="500" fill="hold"/>
                                        <p:tgtEl>
                                          <p:spTgt spid="405564"/>
                                        </p:tgtEl>
                                        <p:attrNameLst>
                                          <p:attrName>ppt_y</p:attrName>
                                        </p:attrNameLst>
                                      </p:cBhvr>
                                      <p:tavLst>
                                        <p:tav tm="0">
                                          <p:val>
                                            <p:strVal val="#ppt_y"/>
                                          </p:val>
                                        </p:tav>
                                        <p:tav tm="100000">
                                          <p:val>
                                            <p:strVal val="#ppt_y"/>
                                          </p:val>
                                        </p:tav>
                                      </p:tavLst>
                                    </p:anim>
                                  </p:childTnLst>
                                </p:cTn>
                              </p:par>
                            </p:childTnLst>
                          </p:cTn>
                        </p:par>
                        <p:par>
                          <p:cTn id="14" fill="hold">
                            <p:stCondLst>
                              <p:cond delay="1500"/>
                            </p:stCondLst>
                            <p:childTnLst>
                              <p:par>
                                <p:cTn id="15" presetID="12" presetClass="entr" presetSubtype="4" fill="hold" nodeType="afterEffect">
                                  <p:stCondLst>
                                    <p:cond delay="0"/>
                                  </p:stCondLst>
                                  <p:childTnLst>
                                    <p:set>
                                      <p:cBhvr>
                                        <p:cTn id="16" dur="1" fill="hold">
                                          <p:stCondLst>
                                            <p:cond delay="0"/>
                                          </p:stCondLst>
                                        </p:cTn>
                                        <p:tgtEl>
                                          <p:spTgt spid="405578"/>
                                        </p:tgtEl>
                                        <p:attrNameLst>
                                          <p:attrName>style.visibility</p:attrName>
                                        </p:attrNameLst>
                                      </p:cBhvr>
                                      <p:to>
                                        <p:strVal val="visible"/>
                                      </p:to>
                                    </p:set>
                                    <p:animEffect transition="in" filter="slide(fromBottom)">
                                      <p:cBhvr>
                                        <p:cTn id="17" dur="500"/>
                                        <p:tgtEl>
                                          <p:spTgt spid="405578"/>
                                        </p:tgtEl>
                                      </p:cBhvr>
                                    </p:animEffect>
                                  </p:childTnLst>
                                </p:cTn>
                              </p:par>
                            </p:childTnLst>
                          </p:cTn>
                        </p:par>
                        <p:par>
                          <p:cTn id="18" fill="hold">
                            <p:stCondLst>
                              <p:cond delay="2000"/>
                            </p:stCondLst>
                            <p:childTnLst>
                              <p:par>
                                <p:cTn id="19" presetID="34" presetClass="emph" presetSubtype="0" fill="hold" grpId="0" nodeType="afterEffect">
                                  <p:stCondLst>
                                    <p:cond delay="0"/>
                                  </p:stCondLst>
                                  <p:iterate type="lt">
                                    <p:tmPct val="10000"/>
                                  </p:iterate>
                                  <p:childTnLst>
                                    <p:animMotion origin="layout" path="M -1.11111E-6 -3.7037E-7 L -1.11111E-6 -0.05231 " pathEditMode="relative" rAng="0" ptsTypes="AA">
                                      <p:cBhvr>
                                        <p:cTn id="20" dur="250" accel="50000" decel="50000" autoRev="1" fill="hold">
                                          <p:stCondLst>
                                            <p:cond delay="0"/>
                                          </p:stCondLst>
                                        </p:cTn>
                                        <p:tgtEl>
                                          <p:spTgt spid="405547"/>
                                        </p:tgtEl>
                                        <p:attrNameLst>
                                          <p:attrName>ppt_x</p:attrName>
                                          <p:attrName>ppt_y</p:attrName>
                                        </p:attrNameLst>
                                      </p:cBhvr>
                                      <p:rCtr x="0" y="-26"/>
                                    </p:animMotion>
                                    <p:animRot by="1500000">
                                      <p:cBhvr>
                                        <p:cTn id="21" dur="125" fill="hold">
                                          <p:stCondLst>
                                            <p:cond delay="0"/>
                                          </p:stCondLst>
                                        </p:cTn>
                                        <p:tgtEl>
                                          <p:spTgt spid="405547"/>
                                        </p:tgtEl>
                                        <p:attrNameLst>
                                          <p:attrName>r</p:attrName>
                                        </p:attrNameLst>
                                      </p:cBhvr>
                                    </p:animRot>
                                    <p:animRot by="-1500000">
                                      <p:cBhvr>
                                        <p:cTn id="22" dur="125" fill="hold">
                                          <p:stCondLst>
                                            <p:cond delay="125"/>
                                          </p:stCondLst>
                                        </p:cTn>
                                        <p:tgtEl>
                                          <p:spTgt spid="405547"/>
                                        </p:tgtEl>
                                        <p:attrNameLst>
                                          <p:attrName>r</p:attrName>
                                        </p:attrNameLst>
                                      </p:cBhvr>
                                    </p:animRot>
                                    <p:animRot by="-1500000">
                                      <p:cBhvr>
                                        <p:cTn id="23" dur="125" fill="hold">
                                          <p:stCondLst>
                                            <p:cond delay="250"/>
                                          </p:stCondLst>
                                        </p:cTn>
                                        <p:tgtEl>
                                          <p:spTgt spid="405547"/>
                                        </p:tgtEl>
                                        <p:attrNameLst>
                                          <p:attrName>r</p:attrName>
                                        </p:attrNameLst>
                                      </p:cBhvr>
                                    </p:animRot>
                                    <p:animRot by="1500000">
                                      <p:cBhvr>
                                        <p:cTn id="24" dur="125" fill="hold">
                                          <p:stCondLst>
                                            <p:cond delay="375"/>
                                          </p:stCondLst>
                                        </p:cTn>
                                        <p:tgtEl>
                                          <p:spTgt spid="40554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47" grpId="0" animBg="1"/>
      <p:bldP spid="405563"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6530" name="Rectangle 2"/>
          <p:cNvSpPr>
            <a:spLocks noChangeArrowheads="1"/>
          </p:cNvSpPr>
          <p:nvPr/>
        </p:nvSpPr>
        <p:spPr bwMode="auto">
          <a:xfrm>
            <a:off x="3141664" y="1412875"/>
            <a:ext cx="5832475" cy="2376488"/>
          </a:xfrm>
          <a:prstGeom prst="rect">
            <a:avLst/>
          </a:prstGeom>
          <a:noFill/>
          <a:ln w="19050">
            <a:solidFill>
              <a:schemeClr val="tx1"/>
            </a:solidFill>
            <a:miter lim="800000"/>
            <a:headEnd/>
            <a:tailEnd/>
          </a:ln>
          <a:effectLst/>
        </p:spPr>
        <p:txBody>
          <a:bodyPr wrap="none" anchor="ctr"/>
          <a:lstStyle/>
          <a:p>
            <a:endParaRPr lang="zh-CN" altLang="en-US"/>
          </a:p>
        </p:txBody>
      </p:sp>
      <p:sp>
        <p:nvSpPr>
          <p:cNvPr id="406531" name="Rectangle 3"/>
          <p:cNvSpPr>
            <a:spLocks noChangeArrowheads="1"/>
          </p:cNvSpPr>
          <p:nvPr/>
        </p:nvSpPr>
        <p:spPr bwMode="auto">
          <a:xfrm>
            <a:off x="3646488" y="1989138"/>
            <a:ext cx="792162" cy="1295400"/>
          </a:xfrm>
          <a:prstGeom prst="rect">
            <a:avLst/>
          </a:prstGeom>
          <a:noFill/>
          <a:ln w="19050">
            <a:solidFill>
              <a:schemeClr val="tx1"/>
            </a:solidFill>
            <a:miter lim="800000"/>
            <a:headEnd/>
            <a:tailEnd/>
          </a:ln>
          <a:effectLst/>
        </p:spPr>
        <p:txBody>
          <a:bodyPr wrap="none" anchor="ctr"/>
          <a:lstStyle/>
          <a:p>
            <a:endParaRPr lang="zh-CN" altLang="en-US"/>
          </a:p>
        </p:txBody>
      </p:sp>
      <p:sp>
        <p:nvSpPr>
          <p:cNvPr id="406532" name="Rectangle 4"/>
          <p:cNvSpPr>
            <a:spLocks noChangeArrowheads="1"/>
          </p:cNvSpPr>
          <p:nvPr/>
        </p:nvSpPr>
        <p:spPr bwMode="auto">
          <a:xfrm>
            <a:off x="3646488" y="3284538"/>
            <a:ext cx="792162" cy="215900"/>
          </a:xfrm>
          <a:prstGeom prst="rect">
            <a:avLst/>
          </a:prstGeom>
          <a:solidFill>
            <a:schemeClr val="folHlink"/>
          </a:solidFill>
          <a:ln w="19050">
            <a:solidFill>
              <a:schemeClr val="tx1"/>
            </a:solidFill>
            <a:miter lim="800000"/>
            <a:headEnd/>
            <a:tailEnd/>
          </a:ln>
          <a:effectLst/>
        </p:spPr>
        <p:txBody>
          <a:bodyPr wrap="none" anchor="ctr"/>
          <a:lstStyle/>
          <a:p>
            <a:r>
              <a:rPr lang="en-US" altLang="zh-CN" sz="1400"/>
              <a:t>PINSELx</a:t>
            </a:r>
          </a:p>
        </p:txBody>
      </p:sp>
      <p:sp>
        <p:nvSpPr>
          <p:cNvPr id="406533" name="Line 5"/>
          <p:cNvSpPr>
            <a:spLocks noChangeShapeType="1"/>
          </p:cNvSpPr>
          <p:nvPr/>
        </p:nvSpPr>
        <p:spPr bwMode="auto">
          <a:xfrm>
            <a:off x="3141663" y="2668588"/>
            <a:ext cx="654050" cy="0"/>
          </a:xfrm>
          <a:prstGeom prst="line">
            <a:avLst/>
          </a:prstGeom>
          <a:noFill/>
          <a:ln w="19050">
            <a:solidFill>
              <a:schemeClr val="tx1"/>
            </a:solidFill>
            <a:round/>
            <a:headEnd/>
            <a:tailEnd/>
          </a:ln>
          <a:effectLst/>
        </p:spPr>
        <p:txBody>
          <a:bodyPr wrap="none" anchor="ctr"/>
          <a:lstStyle/>
          <a:p>
            <a:endParaRPr lang="zh-CN" altLang="en-US"/>
          </a:p>
        </p:txBody>
      </p:sp>
      <p:sp>
        <p:nvSpPr>
          <p:cNvPr id="406534" name="Oval 6"/>
          <p:cNvSpPr>
            <a:spLocks noChangeArrowheads="1"/>
          </p:cNvSpPr>
          <p:nvPr/>
        </p:nvSpPr>
        <p:spPr bwMode="auto">
          <a:xfrm>
            <a:off x="3795714" y="2636839"/>
            <a:ext cx="66675" cy="71437"/>
          </a:xfrm>
          <a:prstGeom prst="ellipse">
            <a:avLst/>
          </a:prstGeom>
          <a:noFill/>
          <a:ln w="19050" algn="ctr">
            <a:solidFill>
              <a:schemeClr val="tx1"/>
            </a:solidFill>
            <a:round/>
            <a:headEnd/>
            <a:tailEnd/>
          </a:ln>
          <a:effectLst/>
        </p:spPr>
        <p:txBody>
          <a:bodyPr wrap="none" anchor="ctr"/>
          <a:lstStyle/>
          <a:p>
            <a:endParaRPr lang="zh-CN" altLang="en-US"/>
          </a:p>
        </p:txBody>
      </p:sp>
      <p:grpSp>
        <p:nvGrpSpPr>
          <p:cNvPr id="406535" name="Group 7"/>
          <p:cNvGrpSpPr>
            <a:grpSpLocks/>
          </p:cNvGrpSpPr>
          <p:nvPr/>
        </p:nvGrpSpPr>
        <p:grpSpPr bwMode="auto">
          <a:xfrm>
            <a:off x="4222750" y="2244725"/>
            <a:ext cx="431800" cy="71438"/>
            <a:chOff x="1837" y="2684"/>
            <a:chExt cx="272" cy="45"/>
          </a:xfrm>
        </p:grpSpPr>
        <p:sp>
          <p:nvSpPr>
            <p:cNvPr id="406536" name="Line 8"/>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6537" name="Oval 9"/>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6538" name="Group 10"/>
          <p:cNvGrpSpPr>
            <a:grpSpLocks/>
          </p:cNvGrpSpPr>
          <p:nvPr/>
        </p:nvGrpSpPr>
        <p:grpSpPr bwMode="auto">
          <a:xfrm>
            <a:off x="4222750" y="2492375"/>
            <a:ext cx="431800" cy="71438"/>
            <a:chOff x="1837" y="2684"/>
            <a:chExt cx="272" cy="45"/>
          </a:xfrm>
        </p:grpSpPr>
        <p:sp>
          <p:nvSpPr>
            <p:cNvPr id="406539" name="Line 11"/>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6540" name="Oval 12"/>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6541" name="Group 13"/>
          <p:cNvGrpSpPr>
            <a:grpSpLocks/>
          </p:cNvGrpSpPr>
          <p:nvPr/>
        </p:nvGrpSpPr>
        <p:grpSpPr bwMode="auto">
          <a:xfrm>
            <a:off x="4222750" y="2781300"/>
            <a:ext cx="431800" cy="71438"/>
            <a:chOff x="1837" y="2684"/>
            <a:chExt cx="272" cy="45"/>
          </a:xfrm>
        </p:grpSpPr>
        <p:sp>
          <p:nvSpPr>
            <p:cNvPr id="406542" name="Line 14"/>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6543" name="Oval 15"/>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6544" name="Group 16"/>
          <p:cNvGrpSpPr>
            <a:grpSpLocks/>
          </p:cNvGrpSpPr>
          <p:nvPr/>
        </p:nvGrpSpPr>
        <p:grpSpPr bwMode="auto">
          <a:xfrm>
            <a:off x="4222750" y="3068639"/>
            <a:ext cx="431800" cy="71437"/>
            <a:chOff x="1837" y="2684"/>
            <a:chExt cx="272" cy="45"/>
          </a:xfrm>
        </p:grpSpPr>
        <p:sp>
          <p:nvSpPr>
            <p:cNvPr id="406545" name="Line 17"/>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6546" name="Oval 18"/>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sp>
        <p:nvSpPr>
          <p:cNvPr id="406547" name="Line 19"/>
          <p:cNvSpPr>
            <a:spLocks noChangeShapeType="1"/>
          </p:cNvSpPr>
          <p:nvPr/>
        </p:nvSpPr>
        <p:spPr bwMode="auto">
          <a:xfrm flipV="1">
            <a:off x="3862388" y="2276476"/>
            <a:ext cx="360362" cy="360363"/>
          </a:xfrm>
          <a:prstGeom prst="line">
            <a:avLst/>
          </a:prstGeom>
          <a:noFill/>
          <a:ln w="19050">
            <a:solidFill>
              <a:srgbClr val="0000FF"/>
            </a:solidFill>
            <a:round/>
            <a:headEnd/>
            <a:tailEnd/>
          </a:ln>
          <a:effectLst/>
        </p:spPr>
        <p:txBody>
          <a:bodyPr wrap="none" anchor="ctr"/>
          <a:lstStyle/>
          <a:p>
            <a:endParaRPr lang="zh-CN" altLang="en-US"/>
          </a:p>
        </p:txBody>
      </p:sp>
      <p:sp>
        <p:nvSpPr>
          <p:cNvPr id="406548" name="Rectangle 20"/>
          <p:cNvSpPr>
            <a:spLocks noChangeArrowheads="1"/>
          </p:cNvSpPr>
          <p:nvPr/>
        </p:nvSpPr>
        <p:spPr bwMode="auto">
          <a:xfrm>
            <a:off x="5229226" y="1989138"/>
            <a:ext cx="792163" cy="576262"/>
          </a:xfrm>
          <a:prstGeom prst="rect">
            <a:avLst/>
          </a:prstGeom>
          <a:noFill/>
          <a:ln w="19050">
            <a:solidFill>
              <a:schemeClr val="tx1"/>
            </a:solidFill>
            <a:miter lim="800000"/>
            <a:headEnd/>
            <a:tailEnd/>
          </a:ln>
          <a:effectLst/>
        </p:spPr>
        <p:txBody>
          <a:bodyPr wrap="none" anchor="ctr"/>
          <a:lstStyle/>
          <a:p>
            <a:endParaRPr lang="zh-CN" altLang="en-US"/>
          </a:p>
        </p:txBody>
      </p:sp>
      <p:sp>
        <p:nvSpPr>
          <p:cNvPr id="406549" name="Rectangle 21"/>
          <p:cNvSpPr>
            <a:spLocks noChangeArrowheads="1"/>
          </p:cNvSpPr>
          <p:nvPr/>
        </p:nvSpPr>
        <p:spPr bwMode="auto">
          <a:xfrm>
            <a:off x="5229226" y="2565400"/>
            <a:ext cx="792163" cy="215900"/>
          </a:xfrm>
          <a:prstGeom prst="rect">
            <a:avLst/>
          </a:prstGeom>
          <a:solidFill>
            <a:srgbClr val="FF99FF"/>
          </a:solidFill>
          <a:ln w="19050">
            <a:solidFill>
              <a:schemeClr val="tx1"/>
            </a:solidFill>
            <a:miter lim="800000"/>
            <a:headEnd/>
            <a:tailEnd/>
          </a:ln>
          <a:effectLst/>
        </p:spPr>
        <p:txBody>
          <a:bodyPr wrap="none" anchor="ctr"/>
          <a:lstStyle/>
          <a:p>
            <a:r>
              <a:rPr lang="en-US" altLang="zh-CN" sz="1400"/>
              <a:t>IOxDIR</a:t>
            </a:r>
          </a:p>
        </p:txBody>
      </p:sp>
      <p:sp>
        <p:nvSpPr>
          <p:cNvPr id="406550" name="Line 22"/>
          <p:cNvSpPr>
            <a:spLocks noChangeShapeType="1"/>
          </p:cNvSpPr>
          <p:nvPr/>
        </p:nvSpPr>
        <p:spPr bwMode="auto">
          <a:xfrm>
            <a:off x="4654550" y="2276475"/>
            <a:ext cx="719138" cy="0"/>
          </a:xfrm>
          <a:prstGeom prst="line">
            <a:avLst/>
          </a:prstGeom>
          <a:noFill/>
          <a:ln w="19050">
            <a:solidFill>
              <a:schemeClr val="tx1"/>
            </a:solidFill>
            <a:round/>
            <a:headEnd/>
            <a:tailEnd/>
          </a:ln>
          <a:effectLst/>
        </p:spPr>
        <p:txBody>
          <a:bodyPr wrap="none" anchor="ctr"/>
          <a:lstStyle/>
          <a:p>
            <a:endParaRPr lang="zh-CN" altLang="en-US"/>
          </a:p>
        </p:txBody>
      </p:sp>
      <p:sp>
        <p:nvSpPr>
          <p:cNvPr id="406551" name="Oval 23"/>
          <p:cNvSpPr>
            <a:spLocks noChangeArrowheads="1"/>
          </p:cNvSpPr>
          <p:nvPr/>
        </p:nvSpPr>
        <p:spPr bwMode="auto">
          <a:xfrm>
            <a:off x="5373689" y="2244725"/>
            <a:ext cx="71437" cy="71438"/>
          </a:xfrm>
          <a:prstGeom prst="ellipse">
            <a:avLst/>
          </a:prstGeom>
          <a:noFill/>
          <a:ln w="19050" algn="ctr">
            <a:solidFill>
              <a:schemeClr val="tx1"/>
            </a:solidFill>
            <a:round/>
            <a:headEnd/>
            <a:tailEnd/>
          </a:ln>
          <a:effectLst/>
        </p:spPr>
        <p:txBody>
          <a:bodyPr wrap="none" anchor="ctr"/>
          <a:lstStyle/>
          <a:p>
            <a:endParaRPr lang="zh-CN" altLang="en-US"/>
          </a:p>
        </p:txBody>
      </p:sp>
      <p:sp>
        <p:nvSpPr>
          <p:cNvPr id="406552" name="Line 24"/>
          <p:cNvSpPr>
            <a:spLocks noChangeShapeType="1"/>
          </p:cNvSpPr>
          <p:nvPr/>
        </p:nvSpPr>
        <p:spPr bwMode="auto">
          <a:xfrm flipH="1">
            <a:off x="5878513" y="2060575"/>
            <a:ext cx="360362" cy="0"/>
          </a:xfrm>
          <a:prstGeom prst="line">
            <a:avLst/>
          </a:prstGeom>
          <a:noFill/>
          <a:ln w="19050">
            <a:solidFill>
              <a:schemeClr val="tx1"/>
            </a:solidFill>
            <a:round/>
            <a:headEnd/>
            <a:tailEnd/>
          </a:ln>
          <a:effectLst/>
        </p:spPr>
        <p:txBody>
          <a:bodyPr wrap="none" anchor="ctr"/>
          <a:lstStyle/>
          <a:p>
            <a:endParaRPr lang="zh-CN" altLang="en-US"/>
          </a:p>
        </p:txBody>
      </p:sp>
      <p:sp>
        <p:nvSpPr>
          <p:cNvPr id="406553" name="Oval 25"/>
          <p:cNvSpPr>
            <a:spLocks noChangeArrowheads="1"/>
          </p:cNvSpPr>
          <p:nvPr/>
        </p:nvSpPr>
        <p:spPr bwMode="auto">
          <a:xfrm flipH="1">
            <a:off x="5807075" y="2028825"/>
            <a:ext cx="71438" cy="71438"/>
          </a:xfrm>
          <a:prstGeom prst="ellipse">
            <a:avLst/>
          </a:prstGeom>
          <a:noFill/>
          <a:ln w="19050" algn="ctr">
            <a:solidFill>
              <a:schemeClr val="tx1"/>
            </a:solidFill>
            <a:round/>
            <a:headEnd/>
            <a:tailEnd/>
          </a:ln>
          <a:effectLst/>
        </p:spPr>
        <p:txBody>
          <a:bodyPr wrap="none" anchor="ctr"/>
          <a:lstStyle/>
          <a:p>
            <a:endParaRPr lang="zh-CN" altLang="en-US"/>
          </a:p>
        </p:txBody>
      </p:sp>
      <p:sp>
        <p:nvSpPr>
          <p:cNvPr id="406554" name="Line 26"/>
          <p:cNvSpPr>
            <a:spLocks noChangeShapeType="1"/>
          </p:cNvSpPr>
          <p:nvPr/>
        </p:nvSpPr>
        <p:spPr bwMode="auto">
          <a:xfrm flipH="1">
            <a:off x="5878513" y="2452688"/>
            <a:ext cx="360362" cy="0"/>
          </a:xfrm>
          <a:prstGeom prst="line">
            <a:avLst/>
          </a:prstGeom>
          <a:noFill/>
          <a:ln w="19050">
            <a:solidFill>
              <a:schemeClr val="tx1"/>
            </a:solidFill>
            <a:round/>
            <a:headEnd/>
            <a:tailEnd/>
          </a:ln>
          <a:effectLst/>
        </p:spPr>
        <p:txBody>
          <a:bodyPr wrap="none" anchor="ctr"/>
          <a:lstStyle/>
          <a:p>
            <a:endParaRPr lang="zh-CN" altLang="en-US"/>
          </a:p>
        </p:txBody>
      </p:sp>
      <p:sp>
        <p:nvSpPr>
          <p:cNvPr id="406555" name="Oval 27"/>
          <p:cNvSpPr>
            <a:spLocks noChangeArrowheads="1"/>
          </p:cNvSpPr>
          <p:nvPr/>
        </p:nvSpPr>
        <p:spPr bwMode="auto">
          <a:xfrm flipH="1">
            <a:off x="5807075" y="2420939"/>
            <a:ext cx="71438" cy="71437"/>
          </a:xfrm>
          <a:prstGeom prst="ellipse">
            <a:avLst/>
          </a:prstGeom>
          <a:noFill/>
          <a:ln w="19050" algn="ctr">
            <a:solidFill>
              <a:schemeClr val="tx1"/>
            </a:solidFill>
            <a:round/>
            <a:headEnd/>
            <a:tailEnd/>
          </a:ln>
          <a:effectLst/>
        </p:spPr>
        <p:txBody>
          <a:bodyPr wrap="none" anchor="ctr"/>
          <a:lstStyle/>
          <a:p>
            <a:endParaRPr lang="zh-CN" altLang="en-US"/>
          </a:p>
        </p:txBody>
      </p:sp>
      <p:sp>
        <p:nvSpPr>
          <p:cNvPr id="406556" name="Line 28"/>
          <p:cNvSpPr>
            <a:spLocks noChangeShapeType="1"/>
          </p:cNvSpPr>
          <p:nvPr/>
        </p:nvSpPr>
        <p:spPr bwMode="auto">
          <a:xfrm flipV="1">
            <a:off x="5445126" y="2060575"/>
            <a:ext cx="360363" cy="215900"/>
          </a:xfrm>
          <a:prstGeom prst="line">
            <a:avLst/>
          </a:prstGeom>
          <a:noFill/>
          <a:ln w="19050">
            <a:solidFill>
              <a:srgbClr val="0000FF"/>
            </a:solidFill>
            <a:round/>
            <a:headEnd/>
            <a:tailEnd/>
          </a:ln>
          <a:effectLst/>
        </p:spPr>
        <p:txBody>
          <a:bodyPr wrap="none" anchor="ctr"/>
          <a:lstStyle/>
          <a:p>
            <a:endParaRPr lang="zh-CN" altLang="en-US"/>
          </a:p>
        </p:txBody>
      </p:sp>
      <p:sp>
        <p:nvSpPr>
          <p:cNvPr id="406557" name="Rectangle 29"/>
          <p:cNvSpPr>
            <a:spLocks noChangeArrowheads="1"/>
          </p:cNvSpPr>
          <p:nvPr/>
        </p:nvSpPr>
        <p:spPr bwMode="auto">
          <a:xfrm>
            <a:off x="6670676" y="1989139"/>
            <a:ext cx="792163" cy="503237"/>
          </a:xfrm>
          <a:prstGeom prst="rect">
            <a:avLst/>
          </a:prstGeom>
          <a:noFill/>
          <a:ln w="19050">
            <a:solidFill>
              <a:schemeClr val="tx1"/>
            </a:solidFill>
            <a:miter lim="800000"/>
            <a:headEnd/>
            <a:tailEnd/>
          </a:ln>
          <a:effectLst/>
        </p:spPr>
        <p:txBody>
          <a:bodyPr wrap="none" anchor="ctr"/>
          <a:lstStyle/>
          <a:p>
            <a:endParaRPr lang="zh-CN" altLang="en-US"/>
          </a:p>
        </p:txBody>
      </p:sp>
      <p:sp>
        <p:nvSpPr>
          <p:cNvPr id="406558" name="Rectangle 30"/>
          <p:cNvSpPr>
            <a:spLocks noChangeArrowheads="1"/>
          </p:cNvSpPr>
          <p:nvPr/>
        </p:nvSpPr>
        <p:spPr bwMode="auto">
          <a:xfrm>
            <a:off x="6670676" y="2565400"/>
            <a:ext cx="792163" cy="215900"/>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IOxCLR</a:t>
            </a:r>
          </a:p>
        </p:txBody>
      </p:sp>
      <p:sp>
        <p:nvSpPr>
          <p:cNvPr id="406559" name="Oval 31"/>
          <p:cNvSpPr>
            <a:spLocks noChangeArrowheads="1"/>
          </p:cNvSpPr>
          <p:nvPr/>
        </p:nvSpPr>
        <p:spPr bwMode="auto">
          <a:xfrm>
            <a:off x="6815139" y="2244725"/>
            <a:ext cx="71437" cy="71438"/>
          </a:xfrm>
          <a:prstGeom prst="ellipse">
            <a:avLst/>
          </a:prstGeom>
          <a:noFill/>
          <a:ln w="19050" algn="ctr">
            <a:solidFill>
              <a:schemeClr val="tx1"/>
            </a:solidFill>
            <a:round/>
            <a:headEnd/>
            <a:tailEnd/>
          </a:ln>
          <a:effectLst/>
        </p:spPr>
        <p:txBody>
          <a:bodyPr wrap="none" anchor="ctr"/>
          <a:lstStyle/>
          <a:p>
            <a:endParaRPr lang="zh-CN" altLang="en-US"/>
          </a:p>
        </p:txBody>
      </p:sp>
      <p:grpSp>
        <p:nvGrpSpPr>
          <p:cNvPr id="406560" name="Group 32"/>
          <p:cNvGrpSpPr>
            <a:grpSpLocks/>
          </p:cNvGrpSpPr>
          <p:nvPr/>
        </p:nvGrpSpPr>
        <p:grpSpPr bwMode="auto">
          <a:xfrm>
            <a:off x="7246938" y="2060575"/>
            <a:ext cx="431800" cy="71438"/>
            <a:chOff x="1837" y="2684"/>
            <a:chExt cx="272" cy="45"/>
          </a:xfrm>
        </p:grpSpPr>
        <p:sp>
          <p:nvSpPr>
            <p:cNvPr id="406561" name="Line 33"/>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6562" name="Oval 34"/>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6563" name="Group 35"/>
          <p:cNvGrpSpPr>
            <a:grpSpLocks/>
          </p:cNvGrpSpPr>
          <p:nvPr/>
        </p:nvGrpSpPr>
        <p:grpSpPr bwMode="auto">
          <a:xfrm>
            <a:off x="7246938" y="2349500"/>
            <a:ext cx="431800" cy="71438"/>
            <a:chOff x="1837" y="2684"/>
            <a:chExt cx="272" cy="45"/>
          </a:xfrm>
        </p:grpSpPr>
        <p:sp>
          <p:nvSpPr>
            <p:cNvPr id="406564" name="Line 36"/>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6565" name="Oval 37"/>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sp>
        <p:nvSpPr>
          <p:cNvPr id="406566" name="Line 38"/>
          <p:cNvSpPr>
            <a:spLocks noChangeShapeType="1"/>
          </p:cNvSpPr>
          <p:nvPr/>
        </p:nvSpPr>
        <p:spPr bwMode="auto">
          <a:xfrm flipV="1">
            <a:off x="6886576" y="2060575"/>
            <a:ext cx="360363" cy="215900"/>
          </a:xfrm>
          <a:prstGeom prst="line">
            <a:avLst/>
          </a:prstGeom>
          <a:noFill/>
          <a:ln w="19050">
            <a:solidFill>
              <a:srgbClr val="0000FF"/>
            </a:solidFill>
            <a:round/>
            <a:headEnd/>
            <a:tailEnd/>
          </a:ln>
          <a:effectLst/>
        </p:spPr>
        <p:txBody>
          <a:bodyPr wrap="none" anchor="ctr"/>
          <a:lstStyle/>
          <a:p>
            <a:endParaRPr lang="zh-CN" altLang="en-US"/>
          </a:p>
        </p:txBody>
      </p:sp>
      <p:sp>
        <p:nvSpPr>
          <p:cNvPr id="406567" name="Line 39"/>
          <p:cNvSpPr>
            <a:spLocks noChangeShapeType="1"/>
          </p:cNvSpPr>
          <p:nvPr/>
        </p:nvSpPr>
        <p:spPr bwMode="auto">
          <a:xfrm>
            <a:off x="6453188" y="2276475"/>
            <a:ext cx="360362" cy="0"/>
          </a:xfrm>
          <a:prstGeom prst="line">
            <a:avLst/>
          </a:prstGeom>
          <a:noFill/>
          <a:ln w="19050">
            <a:solidFill>
              <a:schemeClr val="tx1"/>
            </a:solidFill>
            <a:round/>
            <a:headEnd/>
            <a:tailEnd/>
          </a:ln>
          <a:effectLst/>
        </p:spPr>
        <p:txBody>
          <a:bodyPr wrap="none" anchor="ctr"/>
          <a:lstStyle/>
          <a:p>
            <a:endParaRPr lang="zh-CN" altLang="en-US"/>
          </a:p>
        </p:txBody>
      </p:sp>
      <p:sp>
        <p:nvSpPr>
          <p:cNvPr id="406568" name="Line 40"/>
          <p:cNvSpPr>
            <a:spLocks noChangeShapeType="1"/>
          </p:cNvSpPr>
          <p:nvPr/>
        </p:nvSpPr>
        <p:spPr bwMode="auto">
          <a:xfrm flipV="1">
            <a:off x="6453188" y="2060575"/>
            <a:ext cx="0" cy="215900"/>
          </a:xfrm>
          <a:prstGeom prst="line">
            <a:avLst/>
          </a:prstGeom>
          <a:noFill/>
          <a:ln w="19050">
            <a:solidFill>
              <a:schemeClr val="tx1"/>
            </a:solidFill>
            <a:round/>
            <a:headEnd/>
            <a:tailEnd/>
          </a:ln>
          <a:effectLst/>
        </p:spPr>
        <p:txBody>
          <a:bodyPr wrap="none" anchor="ctr"/>
          <a:lstStyle/>
          <a:p>
            <a:endParaRPr lang="zh-CN" altLang="en-US"/>
          </a:p>
        </p:txBody>
      </p:sp>
      <p:sp>
        <p:nvSpPr>
          <p:cNvPr id="406569" name="Line 41"/>
          <p:cNvSpPr>
            <a:spLocks noChangeShapeType="1"/>
          </p:cNvSpPr>
          <p:nvPr/>
        </p:nvSpPr>
        <p:spPr bwMode="auto">
          <a:xfrm flipH="1">
            <a:off x="6237288" y="2060575"/>
            <a:ext cx="215900" cy="0"/>
          </a:xfrm>
          <a:prstGeom prst="line">
            <a:avLst/>
          </a:prstGeom>
          <a:noFill/>
          <a:ln w="19050">
            <a:solidFill>
              <a:schemeClr val="tx1"/>
            </a:solidFill>
            <a:round/>
            <a:headEnd/>
            <a:tailEnd/>
          </a:ln>
          <a:effectLst/>
        </p:spPr>
        <p:txBody>
          <a:bodyPr wrap="none" anchor="ctr"/>
          <a:lstStyle/>
          <a:p>
            <a:endParaRPr lang="zh-CN" altLang="en-US"/>
          </a:p>
        </p:txBody>
      </p:sp>
      <p:sp>
        <p:nvSpPr>
          <p:cNvPr id="406570" name="Line 42"/>
          <p:cNvSpPr>
            <a:spLocks noChangeShapeType="1"/>
          </p:cNvSpPr>
          <p:nvPr/>
        </p:nvSpPr>
        <p:spPr bwMode="auto">
          <a:xfrm>
            <a:off x="6238875" y="3357563"/>
            <a:ext cx="431800" cy="0"/>
          </a:xfrm>
          <a:prstGeom prst="line">
            <a:avLst/>
          </a:prstGeom>
          <a:noFill/>
          <a:ln w="19050">
            <a:solidFill>
              <a:schemeClr val="tx1"/>
            </a:solidFill>
            <a:round/>
            <a:headEnd/>
            <a:tailEnd/>
          </a:ln>
          <a:effectLst/>
        </p:spPr>
        <p:txBody>
          <a:bodyPr wrap="none" anchor="ctr"/>
          <a:lstStyle/>
          <a:p>
            <a:endParaRPr lang="zh-CN" altLang="en-US"/>
          </a:p>
        </p:txBody>
      </p:sp>
      <p:sp>
        <p:nvSpPr>
          <p:cNvPr id="406571" name="Rectangle 43"/>
          <p:cNvSpPr>
            <a:spLocks noChangeArrowheads="1"/>
          </p:cNvSpPr>
          <p:nvPr/>
        </p:nvSpPr>
        <p:spPr bwMode="auto">
          <a:xfrm>
            <a:off x="6670676" y="3213100"/>
            <a:ext cx="792163" cy="287338"/>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IOxPIN</a:t>
            </a:r>
          </a:p>
        </p:txBody>
      </p:sp>
      <p:sp>
        <p:nvSpPr>
          <p:cNvPr id="406572" name="Rectangle 44"/>
          <p:cNvSpPr>
            <a:spLocks noChangeArrowheads="1"/>
          </p:cNvSpPr>
          <p:nvPr/>
        </p:nvSpPr>
        <p:spPr bwMode="auto">
          <a:xfrm>
            <a:off x="6670676" y="1700213"/>
            <a:ext cx="792163" cy="215900"/>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IOxSET</a:t>
            </a:r>
          </a:p>
        </p:txBody>
      </p:sp>
      <p:sp>
        <p:nvSpPr>
          <p:cNvPr id="406573" name="Text Box 45"/>
          <p:cNvSpPr txBox="1">
            <a:spLocks noChangeArrowheads="1"/>
          </p:cNvSpPr>
          <p:nvPr/>
        </p:nvSpPr>
        <p:spPr bwMode="auto">
          <a:xfrm>
            <a:off x="6021388" y="2205038"/>
            <a:ext cx="360362"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in</a:t>
            </a:r>
          </a:p>
        </p:txBody>
      </p:sp>
      <p:sp>
        <p:nvSpPr>
          <p:cNvPr id="406574" name="Text Box 46"/>
          <p:cNvSpPr txBox="1">
            <a:spLocks noChangeArrowheads="1"/>
          </p:cNvSpPr>
          <p:nvPr/>
        </p:nvSpPr>
        <p:spPr bwMode="auto">
          <a:xfrm>
            <a:off x="6021388" y="1773238"/>
            <a:ext cx="431800"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out</a:t>
            </a:r>
          </a:p>
        </p:txBody>
      </p:sp>
      <p:sp>
        <p:nvSpPr>
          <p:cNvPr id="406575" name="Line 47"/>
          <p:cNvSpPr>
            <a:spLocks noChangeShapeType="1"/>
          </p:cNvSpPr>
          <p:nvPr/>
        </p:nvSpPr>
        <p:spPr bwMode="auto">
          <a:xfrm>
            <a:off x="7031038" y="1917700"/>
            <a:ext cx="0" cy="2159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406576" name="Line 48"/>
          <p:cNvSpPr>
            <a:spLocks noChangeShapeType="1"/>
          </p:cNvSpPr>
          <p:nvPr/>
        </p:nvSpPr>
        <p:spPr bwMode="auto">
          <a:xfrm flipV="1">
            <a:off x="7031038" y="2349500"/>
            <a:ext cx="0" cy="2159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406577" name="Text Box 49"/>
          <p:cNvSpPr txBox="1">
            <a:spLocks noChangeArrowheads="1"/>
          </p:cNvSpPr>
          <p:nvPr/>
        </p:nvSpPr>
        <p:spPr bwMode="auto">
          <a:xfrm>
            <a:off x="7678738" y="1917700"/>
            <a:ext cx="360362"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1</a:t>
            </a:r>
          </a:p>
        </p:txBody>
      </p:sp>
      <p:sp>
        <p:nvSpPr>
          <p:cNvPr id="406578" name="Text Box 50"/>
          <p:cNvSpPr txBox="1">
            <a:spLocks noChangeArrowheads="1"/>
          </p:cNvSpPr>
          <p:nvPr/>
        </p:nvSpPr>
        <p:spPr bwMode="auto">
          <a:xfrm>
            <a:off x="7678738" y="2205038"/>
            <a:ext cx="360362"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0</a:t>
            </a:r>
          </a:p>
        </p:txBody>
      </p:sp>
      <p:sp>
        <p:nvSpPr>
          <p:cNvPr id="406579" name="Line 51"/>
          <p:cNvSpPr>
            <a:spLocks noChangeShapeType="1"/>
          </p:cNvSpPr>
          <p:nvPr/>
        </p:nvSpPr>
        <p:spPr bwMode="auto">
          <a:xfrm>
            <a:off x="4941888" y="2276475"/>
            <a:ext cx="0" cy="1081088"/>
          </a:xfrm>
          <a:prstGeom prst="line">
            <a:avLst/>
          </a:prstGeom>
          <a:noFill/>
          <a:ln w="19050">
            <a:solidFill>
              <a:schemeClr val="tx1"/>
            </a:solidFill>
            <a:round/>
            <a:headEnd/>
            <a:tailEnd/>
          </a:ln>
          <a:effectLst/>
        </p:spPr>
        <p:txBody>
          <a:bodyPr wrap="none" anchor="ctr"/>
          <a:lstStyle/>
          <a:p>
            <a:endParaRPr lang="zh-CN" altLang="en-US"/>
          </a:p>
        </p:txBody>
      </p:sp>
      <p:sp>
        <p:nvSpPr>
          <p:cNvPr id="406580" name="Line 52"/>
          <p:cNvSpPr>
            <a:spLocks noChangeShapeType="1"/>
          </p:cNvSpPr>
          <p:nvPr/>
        </p:nvSpPr>
        <p:spPr bwMode="auto">
          <a:xfrm>
            <a:off x="4941889" y="3357563"/>
            <a:ext cx="1296987" cy="0"/>
          </a:xfrm>
          <a:prstGeom prst="line">
            <a:avLst/>
          </a:prstGeom>
          <a:noFill/>
          <a:ln w="19050">
            <a:solidFill>
              <a:schemeClr val="tx1"/>
            </a:solidFill>
            <a:round/>
            <a:headEnd/>
            <a:tailEnd/>
          </a:ln>
          <a:effectLst/>
        </p:spPr>
        <p:txBody>
          <a:bodyPr wrap="none" anchor="ctr"/>
          <a:lstStyle/>
          <a:p>
            <a:endParaRPr lang="zh-CN" altLang="en-US"/>
          </a:p>
        </p:txBody>
      </p:sp>
      <p:sp>
        <p:nvSpPr>
          <p:cNvPr id="406581" name="Rectangle 53"/>
          <p:cNvSpPr>
            <a:spLocks noChangeArrowheads="1"/>
          </p:cNvSpPr>
          <p:nvPr/>
        </p:nvSpPr>
        <p:spPr bwMode="auto">
          <a:xfrm>
            <a:off x="2782889" y="2492376"/>
            <a:ext cx="358775" cy="360363"/>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6582" name="Rectangle 54"/>
          <p:cNvSpPr>
            <a:spLocks noChangeArrowheads="1"/>
          </p:cNvSpPr>
          <p:nvPr/>
        </p:nvSpPr>
        <p:spPr bwMode="auto">
          <a:xfrm>
            <a:off x="2782889" y="3068638"/>
            <a:ext cx="358775" cy="360362"/>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6583" name="Rectangle 55"/>
          <p:cNvSpPr>
            <a:spLocks noChangeArrowheads="1"/>
          </p:cNvSpPr>
          <p:nvPr/>
        </p:nvSpPr>
        <p:spPr bwMode="auto">
          <a:xfrm>
            <a:off x="2782889" y="1917701"/>
            <a:ext cx="358775" cy="360363"/>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6584" name="Rectangle 56"/>
          <p:cNvSpPr>
            <a:spLocks noChangeArrowheads="1"/>
          </p:cNvSpPr>
          <p:nvPr/>
        </p:nvSpPr>
        <p:spPr bwMode="auto">
          <a:xfrm>
            <a:off x="8974139" y="2492376"/>
            <a:ext cx="358775" cy="360363"/>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6585" name="Rectangle 57"/>
          <p:cNvSpPr>
            <a:spLocks noChangeArrowheads="1"/>
          </p:cNvSpPr>
          <p:nvPr/>
        </p:nvSpPr>
        <p:spPr bwMode="auto">
          <a:xfrm>
            <a:off x="8974139" y="3068638"/>
            <a:ext cx="358775" cy="360362"/>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6586" name="Rectangle 58"/>
          <p:cNvSpPr>
            <a:spLocks noChangeArrowheads="1"/>
          </p:cNvSpPr>
          <p:nvPr/>
        </p:nvSpPr>
        <p:spPr bwMode="auto">
          <a:xfrm>
            <a:off x="8974139" y="1917701"/>
            <a:ext cx="358775" cy="360363"/>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6587" name="Rectangle 59"/>
          <p:cNvSpPr>
            <a:spLocks noGrp="1" noChangeArrowheads="1"/>
          </p:cNvSpPr>
          <p:nvPr>
            <p:ph type="body" sz="half" idx="1"/>
          </p:nvPr>
        </p:nvSpPr>
        <p:spPr>
          <a:xfrm>
            <a:off x="2170113" y="587375"/>
            <a:ext cx="7772400" cy="609600"/>
          </a:xfrm>
          <a:noFill/>
          <a:ln/>
        </p:spPr>
        <p:txBody>
          <a:bodyPr/>
          <a:lstStyle/>
          <a:p>
            <a:r>
              <a:rPr lang="en-US" altLang="zh-CN"/>
              <a:t>GPIO</a:t>
            </a:r>
            <a:r>
              <a:rPr lang="zh-CN" altLang="en-US"/>
              <a:t>相关寄存器描述</a:t>
            </a:r>
            <a:r>
              <a:rPr lang="en-US" altLang="zh-CN"/>
              <a:t>——</a:t>
            </a:r>
            <a:r>
              <a:rPr lang="en-US" altLang="zh-CN">
                <a:solidFill>
                  <a:srgbClr val="FF0000"/>
                </a:solidFill>
              </a:rPr>
              <a:t>IOxDIR</a:t>
            </a:r>
          </a:p>
        </p:txBody>
      </p:sp>
      <p:graphicFrame>
        <p:nvGraphicFramePr>
          <p:cNvPr id="406588" name="Group 60"/>
          <p:cNvGraphicFramePr>
            <a:graphicFrameLocks noGrp="1"/>
          </p:cNvGraphicFramePr>
          <p:nvPr>
            <p:ph sz="half" idx="2"/>
          </p:nvPr>
        </p:nvGraphicFramePr>
        <p:xfrm>
          <a:off x="1992314" y="4054475"/>
          <a:ext cx="8207375" cy="670560"/>
        </p:xfrm>
        <a:graphic>
          <a:graphicData uri="http://schemas.openxmlformats.org/drawingml/2006/table">
            <a:tbl>
              <a:tblPr/>
              <a:tblGrid>
                <a:gridCol w="865187">
                  <a:extLst>
                    <a:ext uri="{9D8B030D-6E8A-4147-A177-3AD203B41FA5}">
                      <a16:colId xmlns:a16="http://schemas.microsoft.com/office/drawing/2014/main" val="20000"/>
                    </a:ext>
                  </a:extLst>
                </a:gridCol>
                <a:gridCol w="6480175">
                  <a:extLst>
                    <a:ext uri="{9D8B030D-6E8A-4147-A177-3AD203B41FA5}">
                      <a16:colId xmlns:a16="http://schemas.microsoft.com/office/drawing/2014/main" val="20001"/>
                    </a:ext>
                  </a:extLst>
                </a:gridCol>
                <a:gridCol w="862013">
                  <a:extLst>
                    <a:ext uri="{9D8B030D-6E8A-4147-A177-3AD203B41FA5}">
                      <a16:colId xmlns:a16="http://schemas.microsoft.com/office/drawing/2014/main" val="20002"/>
                    </a:ext>
                  </a:extLst>
                </a:gridCol>
              </a:tblGrid>
              <a:tr h="217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IOxDIR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rPr>
                        <a:t>描述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rPr>
                        <a:t>复位值</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217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31 : 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rPr>
                        <a:t>方向控制位。</a:t>
                      </a:r>
                      <a:r>
                        <a:rPr kumimoji="1" lang="en-US" altLang="zh-CN" sz="1600" b="0" i="0" u="none" strike="noStrike" cap="none" normalizeH="0" baseline="0">
                          <a:ln>
                            <a:noFill/>
                          </a:ln>
                          <a:solidFill>
                            <a:schemeClr val="tx1"/>
                          </a:solidFill>
                          <a:effectLst/>
                          <a:latin typeface="Times New Roman" pitchFamily="18" charset="0"/>
                          <a:ea typeface="宋体" pitchFamily="2" charset="-122"/>
                        </a:rPr>
                        <a:t>IOxDIR[0]</a:t>
                      </a:r>
                      <a:r>
                        <a:rPr kumimoji="1" lang="zh-CN" altLang="en-US" sz="1600" b="0" i="0" u="none" strike="noStrike" cap="none" normalizeH="0" baseline="0">
                          <a:ln>
                            <a:noFill/>
                          </a:ln>
                          <a:solidFill>
                            <a:schemeClr val="tx1"/>
                          </a:solidFill>
                          <a:effectLst/>
                          <a:latin typeface="Times New Roman" pitchFamily="18" charset="0"/>
                          <a:ea typeface="宋体" pitchFamily="2" charset="-122"/>
                        </a:rPr>
                        <a:t>对应于</a:t>
                      </a:r>
                      <a:r>
                        <a:rPr kumimoji="1" lang="en-US" altLang="zh-CN" sz="1600" b="0" i="0" u="none" strike="noStrike" cap="none" normalizeH="0" baseline="0">
                          <a:ln>
                            <a:noFill/>
                          </a:ln>
                          <a:solidFill>
                            <a:schemeClr val="tx1"/>
                          </a:solidFill>
                          <a:effectLst/>
                          <a:latin typeface="Times New Roman" pitchFamily="18" charset="0"/>
                          <a:ea typeface="宋体" pitchFamily="2" charset="-122"/>
                        </a:rPr>
                        <a:t>Px.0 … IOxDIR[31]</a:t>
                      </a:r>
                      <a:r>
                        <a:rPr kumimoji="1" lang="zh-CN" altLang="en-US" sz="1600" b="0" i="0" u="none" strike="noStrike" cap="none" normalizeH="0" baseline="0">
                          <a:ln>
                            <a:noFill/>
                          </a:ln>
                          <a:solidFill>
                            <a:schemeClr val="tx1"/>
                          </a:solidFill>
                          <a:effectLst/>
                          <a:latin typeface="Times New Roman" pitchFamily="18" charset="0"/>
                          <a:ea typeface="宋体" pitchFamily="2" charset="-122"/>
                        </a:rPr>
                        <a:t>对应于</a:t>
                      </a:r>
                      <a:r>
                        <a:rPr kumimoji="1" lang="en-US" altLang="zh-CN" sz="1600" b="0" i="0" u="none" strike="noStrike" cap="none" normalizeH="0" baseline="0">
                          <a:ln>
                            <a:noFill/>
                          </a:ln>
                          <a:solidFill>
                            <a:schemeClr val="tx1"/>
                          </a:solidFill>
                          <a:effectLst/>
                          <a:latin typeface="Times New Roman" pitchFamily="18" charset="0"/>
                          <a:ea typeface="宋体" pitchFamily="2" charset="-122"/>
                        </a:rPr>
                        <a:t>Px.31</a:t>
                      </a:r>
                      <a:r>
                        <a:rPr kumimoji="1" lang="zh-CN" altLang="en-US" sz="1600" b="0" i="0" u="none" strike="noStrike" cap="none" normalizeH="0" baseline="0">
                          <a:ln>
                            <a:noFill/>
                          </a:ln>
                          <a:solidFill>
                            <a:schemeClr val="tx1"/>
                          </a:solidFill>
                          <a:effectLst/>
                          <a:latin typeface="Times New Roman" pitchFamily="18" charset="0"/>
                          <a:ea typeface="宋体" pitchFamily="2" charset="-122"/>
                        </a:rPr>
                        <a:t>引脚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bl>
          </a:graphicData>
        </a:graphic>
      </p:graphicFrame>
      <p:sp>
        <p:nvSpPr>
          <p:cNvPr id="406602" name="Text Box 74"/>
          <p:cNvSpPr txBox="1">
            <a:spLocks noChangeArrowheads="1"/>
          </p:cNvSpPr>
          <p:nvPr/>
        </p:nvSpPr>
        <p:spPr bwMode="auto">
          <a:xfrm>
            <a:off x="2370138" y="4967288"/>
            <a:ext cx="7542212" cy="1054100"/>
          </a:xfrm>
          <a:prstGeom prst="rect">
            <a:avLst/>
          </a:prstGeom>
          <a:solidFill>
            <a:srgbClr val="DDDDDD">
              <a:alpha val="30000"/>
            </a:srgbClr>
          </a:solidFill>
          <a:ln w="9525">
            <a:noFill/>
            <a:miter lim="800000"/>
            <a:headEnd/>
            <a:tailEnd/>
          </a:ln>
          <a:effectLst/>
        </p:spPr>
        <p:txBody>
          <a:bodyPr>
            <a:spAutoFit/>
          </a:bodyPr>
          <a:lstStyle/>
          <a:p>
            <a:pPr algn="l">
              <a:spcBef>
                <a:spcPct val="50000"/>
              </a:spcBef>
            </a:pPr>
            <a:r>
              <a:rPr lang="en-US" altLang="zh-CN">
                <a:latin typeface="华文新魏" pitchFamily="2" charset="-122"/>
                <a:ea typeface="华文新魏" pitchFamily="2" charset="-122"/>
              </a:rPr>
              <a:t>        </a:t>
            </a:r>
            <a:r>
              <a:rPr lang="zh-CN" altLang="en-US">
                <a:latin typeface="华文新魏" pitchFamily="2" charset="-122"/>
                <a:ea typeface="华文新魏" pitchFamily="2" charset="-122"/>
              </a:rPr>
              <a:t>当引脚设置为</a:t>
            </a:r>
            <a:r>
              <a:rPr lang="en-US" altLang="zh-CN">
                <a:latin typeface="华文新魏" pitchFamily="2" charset="-122"/>
                <a:ea typeface="华文新魏" pitchFamily="2" charset="-122"/>
              </a:rPr>
              <a:t>GPIO</a:t>
            </a:r>
            <a:r>
              <a:rPr lang="zh-CN" altLang="en-US">
                <a:latin typeface="华文新魏" pitchFamily="2" charset="-122"/>
                <a:ea typeface="华文新魏" pitchFamily="2" charset="-122"/>
              </a:rPr>
              <a:t>输出模式时，可使用该寄存器控制引脚的方向。向某位写入</a:t>
            </a:r>
            <a:r>
              <a:rPr lang="en-US" altLang="zh-CN">
                <a:latin typeface="华文新魏" pitchFamily="2" charset="-122"/>
                <a:ea typeface="华文新魏" pitchFamily="2" charset="-122"/>
              </a:rPr>
              <a:t>1</a:t>
            </a:r>
            <a:r>
              <a:rPr lang="zh-CN" altLang="en-US">
                <a:latin typeface="华文新魏" pitchFamily="2" charset="-122"/>
                <a:ea typeface="华文新魏" pitchFamily="2" charset="-122"/>
              </a:rPr>
              <a:t>使对应引脚作为输出功能，写入</a:t>
            </a:r>
            <a:r>
              <a:rPr lang="en-US" altLang="zh-CN">
                <a:latin typeface="华文新魏" pitchFamily="2" charset="-122"/>
                <a:ea typeface="华文新魏" pitchFamily="2" charset="-122"/>
              </a:rPr>
              <a:t>0</a:t>
            </a:r>
            <a:r>
              <a:rPr lang="zh-CN" altLang="en-US">
                <a:latin typeface="华文新魏" pitchFamily="2" charset="-122"/>
                <a:ea typeface="华文新魏" pitchFamily="2" charset="-122"/>
              </a:rPr>
              <a:t>时作为输入功能。</a:t>
            </a:r>
          </a:p>
          <a:p>
            <a:pPr algn="l">
              <a:spcBef>
                <a:spcPct val="50000"/>
              </a:spcBef>
            </a:pPr>
            <a:r>
              <a:rPr lang="zh-CN" altLang="en-US">
                <a:latin typeface="华文新魏" pitchFamily="2" charset="-122"/>
                <a:ea typeface="华文新魏" pitchFamily="2" charset="-122"/>
              </a:rPr>
              <a:t>        作为输入功能时，引脚处于高阻态。</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06587">
                                            <p:txEl>
                                              <p:pRg st="0" end="0"/>
                                            </p:txEl>
                                          </p:spTgt>
                                        </p:tgtEl>
                                        <p:attrNameLst>
                                          <p:attrName>style.visibility</p:attrName>
                                        </p:attrNameLst>
                                      </p:cBhvr>
                                      <p:to>
                                        <p:strVal val="visible"/>
                                      </p:to>
                                    </p:set>
                                    <p:anim calcmode="lin" valueType="num">
                                      <p:cBhvr additive="base">
                                        <p:cTn id="7" dur="500" fill="hold"/>
                                        <p:tgtEl>
                                          <p:spTgt spid="40658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06587">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8" fill="hold" nodeType="afterEffect">
                                  <p:stCondLst>
                                    <p:cond delay="0"/>
                                  </p:stCondLst>
                                  <p:childTnLst>
                                    <p:set>
                                      <p:cBhvr>
                                        <p:cTn id="11" dur="1" fill="hold">
                                          <p:stCondLst>
                                            <p:cond delay="0"/>
                                          </p:stCondLst>
                                        </p:cTn>
                                        <p:tgtEl>
                                          <p:spTgt spid="406588"/>
                                        </p:tgtEl>
                                        <p:attrNameLst>
                                          <p:attrName>style.visibility</p:attrName>
                                        </p:attrNameLst>
                                      </p:cBhvr>
                                      <p:to>
                                        <p:strVal val="visible"/>
                                      </p:to>
                                    </p:set>
                                    <p:anim calcmode="lin" valueType="num">
                                      <p:cBhvr additive="base">
                                        <p:cTn id="12" dur="500" fill="hold"/>
                                        <p:tgtEl>
                                          <p:spTgt spid="406588"/>
                                        </p:tgtEl>
                                        <p:attrNameLst>
                                          <p:attrName>ppt_x</p:attrName>
                                        </p:attrNameLst>
                                      </p:cBhvr>
                                      <p:tavLst>
                                        <p:tav tm="0">
                                          <p:val>
                                            <p:strVal val="0-#ppt_w/2"/>
                                          </p:val>
                                        </p:tav>
                                        <p:tav tm="100000">
                                          <p:val>
                                            <p:strVal val="#ppt_x"/>
                                          </p:val>
                                        </p:tav>
                                      </p:tavLst>
                                    </p:anim>
                                    <p:anim calcmode="lin" valueType="num">
                                      <p:cBhvr additive="base">
                                        <p:cTn id="13" dur="500" fill="hold"/>
                                        <p:tgtEl>
                                          <p:spTgt spid="406588"/>
                                        </p:tgtEl>
                                        <p:attrNameLst>
                                          <p:attrName>ppt_y</p:attrName>
                                        </p:attrNameLst>
                                      </p:cBhvr>
                                      <p:tavLst>
                                        <p:tav tm="0">
                                          <p:val>
                                            <p:strVal val="#ppt_y"/>
                                          </p:val>
                                        </p:tav>
                                        <p:tav tm="100000">
                                          <p:val>
                                            <p:strVal val="#ppt_y"/>
                                          </p:val>
                                        </p:tav>
                                      </p:tavLst>
                                    </p:anim>
                                  </p:childTnLst>
                                </p:cTn>
                              </p:par>
                            </p:childTnLst>
                          </p:cTn>
                        </p:par>
                        <p:par>
                          <p:cTn id="14" fill="hold">
                            <p:stCondLst>
                              <p:cond delay="1500"/>
                            </p:stCondLst>
                            <p:childTnLst>
                              <p:par>
                                <p:cTn id="15" presetID="12" presetClass="entr" presetSubtype="4" fill="hold" nodeType="afterEffect">
                                  <p:stCondLst>
                                    <p:cond delay="0"/>
                                  </p:stCondLst>
                                  <p:childTnLst>
                                    <p:set>
                                      <p:cBhvr>
                                        <p:cTn id="16" dur="1" fill="hold">
                                          <p:stCondLst>
                                            <p:cond delay="0"/>
                                          </p:stCondLst>
                                        </p:cTn>
                                        <p:tgtEl>
                                          <p:spTgt spid="406602"/>
                                        </p:tgtEl>
                                        <p:attrNameLst>
                                          <p:attrName>style.visibility</p:attrName>
                                        </p:attrNameLst>
                                      </p:cBhvr>
                                      <p:to>
                                        <p:strVal val="visible"/>
                                      </p:to>
                                    </p:set>
                                    <p:animEffect transition="in" filter="slide(fromBottom)">
                                      <p:cBhvr>
                                        <p:cTn id="17" dur="500"/>
                                        <p:tgtEl>
                                          <p:spTgt spid="406602"/>
                                        </p:tgtEl>
                                      </p:cBhvr>
                                    </p:animEffect>
                                  </p:childTnLst>
                                </p:cTn>
                              </p:par>
                            </p:childTnLst>
                          </p:cTn>
                        </p:par>
                        <p:par>
                          <p:cTn id="18" fill="hold">
                            <p:stCondLst>
                              <p:cond delay="2000"/>
                            </p:stCondLst>
                            <p:childTnLst>
                              <p:par>
                                <p:cTn id="19" presetID="34" presetClass="emph" presetSubtype="0" fill="hold" grpId="0" nodeType="afterEffect">
                                  <p:stCondLst>
                                    <p:cond delay="0"/>
                                  </p:stCondLst>
                                  <p:iterate type="lt">
                                    <p:tmPct val="10000"/>
                                  </p:iterate>
                                  <p:childTnLst>
                                    <p:animMotion origin="layout" path="M -2.22222E-6 -3.33333E-6 L -2.22222E-6 -0.04722 " pathEditMode="relative" rAng="0" ptsTypes="AA">
                                      <p:cBhvr>
                                        <p:cTn id="20" dur="250" accel="50000" decel="50000" autoRev="1" fill="hold">
                                          <p:stCondLst>
                                            <p:cond delay="0"/>
                                          </p:stCondLst>
                                        </p:cTn>
                                        <p:tgtEl>
                                          <p:spTgt spid="406549"/>
                                        </p:tgtEl>
                                        <p:attrNameLst>
                                          <p:attrName>ppt_x</p:attrName>
                                          <p:attrName>ppt_y</p:attrName>
                                        </p:attrNameLst>
                                      </p:cBhvr>
                                      <p:rCtr x="0" y="-24"/>
                                    </p:animMotion>
                                    <p:animRot by="1500000">
                                      <p:cBhvr>
                                        <p:cTn id="21" dur="125" fill="hold">
                                          <p:stCondLst>
                                            <p:cond delay="0"/>
                                          </p:stCondLst>
                                        </p:cTn>
                                        <p:tgtEl>
                                          <p:spTgt spid="406549"/>
                                        </p:tgtEl>
                                        <p:attrNameLst>
                                          <p:attrName>r</p:attrName>
                                        </p:attrNameLst>
                                      </p:cBhvr>
                                    </p:animRot>
                                    <p:animRot by="-1500000">
                                      <p:cBhvr>
                                        <p:cTn id="22" dur="125" fill="hold">
                                          <p:stCondLst>
                                            <p:cond delay="125"/>
                                          </p:stCondLst>
                                        </p:cTn>
                                        <p:tgtEl>
                                          <p:spTgt spid="406549"/>
                                        </p:tgtEl>
                                        <p:attrNameLst>
                                          <p:attrName>r</p:attrName>
                                        </p:attrNameLst>
                                      </p:cBhvr>
                                    </p:animRot>
                                    <p:animRot by="-1500000">
                                      <p:cBhvr>
                                        <p:cTn id="23" dur="125" fill="hold">
                                          <p:stCondLst>
                                            <p:cond delay="250"/>
                                          </p:stCondLst>
                                        </p:cTn>
                                        <p:tgtEl>
                                          <p:spTgt spid="406549"/>
                                        </p:tgtEl>
                                        <p:attrNameLst>
                                          <p:attrName>r</p:attrName>
                                        </p:attrNameLst>
                                      </p:cBhvr>
                                    </p:animRot>
                                    <p:animRot by="1500000">
                                      <p:cBhvr>
                                        <p:cTn id="24" dur="125" fill="hold">
                                          <p:stCondLst>
                                            <p:cond delay="375"/>
                                          </p:stCondLst>
                                        </p:cTn>
                                        <p:tgtEl>
                                          <p:spTgt spid="40654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49" grpId="0" animBg="1"/>
      <p:bldP spid="406587"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7554" name="Rectangle 2"/>
          <p:cNvSpPr>
            <a:spLocks noChangeArrowheads="1"/>
          </p:cNvSpPr>
          <p:nvPr/>
        </p:nvSpPr>
        <p:spPr bwMode="auto">
          <a:xfrm>
            <a:off x="3144839" y="1268414"/>
            <a:ext cx="5832475" cy="2376487"/>
          </a:xfrm>
          <a:prstGeom prst="rect">
            <a:avLst/>
          </a:prstGeom>
          <a:noFill/>
          <a:ln w="19050">
            <a:solidFill>
              <a:schemeClr val="tx1"/>
            </a:solidFill>
            <a:miter lim="800000"/>
            <a:headEnd/>
            <a:tailEnd/>
          </a:ln>
          <a:effectLst/>
        </p:spPr>
        <p:txBody>
          <a:bodyPr wrap="none" anchor="ctr"/>
          <a:lstStyle/>
          <a:p>
            <a:endParaRPr lang="zh-CN" altLang="en-US"/>
          </a:p>
        </p:txBody>
      </p:sp>
      <p:sp>
        <p:nvSpPr>
          <p:cNvPr id="407555" name="Rectangle 3"/>
          <p:cNvSpPr>
            <a:spLocks noChangeArrowheads="1"/>
          </p:cNvSpPr>
          <p:nvPr/>
        </p:nvSpPr>
        <p:spPr bwMode="auto">
          <a:xfrm>
            <a:off x="3649663" y="1844675"/>
            <a:ext cx="792162" cy="1295400"/>
          </a:xfrm>
          <a:prstGeom prst="rect">
            <a:avLst/>
          </a:prstGeom>
          <a:noFill/>
          <a:ln w="19050">
            <a:solidFill>
              <a:schemeClr val="tx1"/>
            </a:solidFill>
            <a:miter lim="800000"/>
            <a:headEnd/>
            <a:tailEnd/>
          </a:ln>
          <a:effectLst/>
        </p:spPr>
        <p:txBody>
          <a:bodyPr wrap="none" anchor="ctr"/>
          <a:lstStyle/>
          <a:p>
            <a:endParaRPr lang="zh-CN" altLang="en-US"/>
          </a:p>
        </p:txBody>
      </p:sp>
      <p:sp>
        <p:nvSpPr>
          <p:cNvPr id="407556" name="Rectangle 4"/>
          <p:cNvSpPr>
            <a:spLocks noChangeArrowheads="1"/>
          </p:cNvSpPr>
          <p:nvPr/>
        </p:nvSpPr>
        <p:spPr bwMode="auto">
          <a:xfrm>
            <a:off x="3649663" y="3140075"/>
            <a:ext cx="792162" cy="215900"/>
          </a:xfrm>
          <a:prstGeom prst="rect">
            <a:avLst/>
          </a:prstGeom>
          <a:solidFill>
            <a:schemeClr val="folHlink"/>
          </a:solidFill>
          <a:ln w="19050">
            <a:solidFill>
              <a:schemeClr val="tx1"/>
            </a:solidFill>
            <a:miter lim="800000"/>
            <a:headEnd/>
            <a:tailEnd/>
          </a:ln>
          <a:effectLst/>
        </p:spPr>
        <p:txBody>
          <a:bodyPr wrap="none" anchor="ctr"/>
          <a:lstStyle/>
          <a:p>
            <a:r>
              <a:rPr lang="en-US" altLang="zh-CN" sz="1400"/>
              <a:t>PINSELx</a:t>
            </a:r>
          </a:p>
        </p:txBody>
      </p:sp>
      <p:sp>
        <p:nvSpPr>
          <p:cNvPr id="407557" name="Line 5"/>
          <p:cNvSpPr>
            <a:spLocks noChangeShapeType="1"/>
          </p:cNvSpPr>
          <p:nvPr/>
        </p:nvSpPr>
        <p:spPr bwMode="auto">
          <a:xfrm>
            <a:off x="3144838" y="2524125"/>
            <a:ext cx="654050" cy="0"/>
          </a:xfrm>
          <a:prstGeom prst="line">
            <a:avLst/>
          </a:prstGeom>
          <a:noFill/>
          <a:ln w="19050">
            <a:solidFill>
              <a:schemeClr val="tx1"/>
            </a:solidFill>
            <a:round/>
            <a:headEnd/>
            <a:tailEnd/>
          </a:ln>
          <a:effectLst/>
        </p:spPr>
        <p:txBody>
          <a:bodyPr wrap="none" anchor="ctr"/>
          <a:lstStyle/>
          <a:p>
            <a:endParaRPr lang="zh-CN" altLang="en-US"/>
          </a:p>
        </p:txBody>
      </p:sp>
      <p:sp>
        <p:nvSpPr>
          <p:cNvPr id="407558" name="Oval 6"/>
          <p:cNvSpPr>
            <a:spLocks noChangeArrowheads="1"/>
          </p:cNvSpPr>
          <p:nvPr/>
        </p:nvSpPr>
        <p:spPr bwMode="auto">
          <a:xfrm>
            <a:off x="3798889" y="2492375"/>
            <a:ext cx="66675" cy="71438"/>
          </a:xfrm>
          <a:prstGeom prst="ellipse">
            <a:avLst/>
          </a:prstGeom>
          <a:noFill/>
          <a:ln w="19050" algn="ctr">
            <a:solidFill>
              <a:schemeClr val="tx1"/>
            </a:solidFill>
            <a:round/>
            <a:headEnd/>
            <a:tailEnd/>
          </a:ln>
          <a:effectLst/>
        </p:spPr>
        <p:txBody>
          <a:bodyPr wrap="none" anchor="ctr"/>
          <a:lstStyle/>
          <a:p>
            <a:endParaRPr lang="zh-CN" altLang="en-US"/>
          </a:p>
        </p:txBody>
      </p:sp>
      <p:grpSp>
        <p:nvGrpSpPr>
          <p:cNvPr id="407559" name="Group 7"/>
          <p:cNvGrpSpPr>
            <a:grpSpLocks/>
          </p:cNvGrpSpPr>
          <p:nvPr/>
        </p:nvGrpSpPr>
        <p:grpSpPr bwMode="auto">
          <a:xfrm>
            <a:off x="4225925" y="2100264"/>
            <a:ext cx="431800" cy="71437"/>
            <a:chOff x="1837" y="2684"/>
            <a:chExt cx="272" cy="45"/>
          </a:xfrm>
        </p:grpSpPr>
        <p:sp>
          <p:nvSpPr>
            <p:cNvPr id="407560" name="Line 8"/>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7561" name="Oval 9"/>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7562" name="Group 10"/>
          <p:cNvGrpSpPr>
            <a:grpSpLocks/>
          </p:cNvGrpSpPr>
          <p:nvPr/>
        </p:nvGrpSpPr>
        <p:grpSpPr bwMode="auto">
          <a:xfrm>
            <a:off x="4225925" y="2347914"/>
            <a:ext cx="431800" cy="71437"/>
            <a:chOff x="1837" y="2684"/>
            <a:chExt cx="272" cy="45"/>
          </a:xfrm>
        </p:grpSpPr>
        <p:sp>
          <p:nvSpPr>
            <p:cNvPr id="407563" name="Line 11"/>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7564" name="Oval 12"/>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7565" name="Group 13"/>
          <p:cNvGrpSpPr>
            <a:grpSpLocks/>
          </p:cNvGrpSpPr>
          <p:nvPr/>
        </p:nvGrpSpPr>
        <p:grpSpPr bwMode="auto">
          <a:xfrm>
            <a:off x="4225925" y="2636839"/>
            <a:ext cx="431800" cy="71437"/>
            <a:chOff x="1837" y="2684"/>
            <a:chExt cx="272" cy="45"/>
          </a:xfrm>
        </p:grpSpPr>
        <p:sp>
          <p:nvSpPr>
            <p:cNvPr id="407566" name="Line 14"/>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7567" name="Oval 15"/>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7568" name="Group 16"/>
          <p:cNvGrpSpPr>
            <a:grpSpLocks/>
          </p:cNvGrpSpPr>
          <p:nvPr/>
        </p:nvGrpSpPr>
        <p:grpSpPr bwMode="auto">
          <a:xfrm>
            <a:off x="4225925" y="2924175"/>
            <a:ext cx="431800" cy="71438"/>
            <a:chOff x="1837" y="2684"/>
            <a:chExt cx="272" cy="45"/>
          </a:xfrm>
        </p:grpSpPr>
        <p:sp>
          <p:nvSpPr>
            <p:cNvPr id="407569" name="Line 17"/>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7570" name="Oval 18"/>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sp>
        <p:nvSpPr>
          <p:cNvPr id="407571" name="Line 19"/>
          <p:cNvSpPr>
            <a:spLocks noChangeShapeType="1"/>
          </p:cNvSpPr>
          <p:nvPr/>
        </p:nvSpPr>
        <p:spPr bwMode="auto">
          <a:xfrm flipV="1">
            <a:off x="3865563" y="2132013"/>
            <a:ext cx="360362" cy="360362"/>
          </a:xfrm>
          <a:prstGeom prst="line">
            <a:avLst/>
          </a:prstGeom>
          <a:noFill/>
          <a:ln w="19050">
            <a:solidFill>
              <a:srgbClr val="0000FF"/>
            </a:solidFill>
            <a:round/>
            <a:headEnd/>
            <a:tailEnd/>
          </a:ln>
          <a:effectLst/>
        </p:spPr>
        <p:txBody>
          <a:bodyPr wrap="none" anchor="ctr"/>
          <a:lstStyle/>
          <a:p>
            <a:endParaRPr lang="zh-CN" altLang="en-US"/>
          </a:p>
        </p:txBody>
      </p:sp>
      <p:sp>
        <p:nvSpPr>
          <p:cNvPr id="407572" name="Rectangle 20"/>
          <p:cNvSpPr>
            <a:spLocks noChangeArrowheads="1"/>
          </p:cNvSpPr>
          <p:nvPr/>
        </p:nvSpPr>
        <p:spPr bwMode="auto">
          <a:xfrm>
            <a:off x="5232401" y="1844676"/>
            <a:ext cx="792163" cy="576263"/>
          </a:xfrm>
          <a:prstGeom prst="rect">
            <a:avLst/>
          </a:prstGeom>
          <a:noFill/>
          <a:ln w="19050">
            <a:solidFill>
              <a:schemeClr val="tx1"/>
            </a:solidFill>
            <a:miter lim="800000"/>
            <a:headEnd/>
            <a:tailEnd/>
          </a:ln>
          <a:effectLst/>
        </p:spPr>
        <p:txBody>
          <a:bodyPr wrap="none" anchor="ctr"/>
          <a:lstStyle/>
          <a:p>
            <a:endParaRPr lang="zh-CN" altLang="en-US"/>
          </a:p>
        </p:txBody>
      </p:sp>
      <p:sp>
        <p:nvSpPr>
          <p:cNvPr id="407573" name="Rectangle 21"/>
          <p:cNvSpPr>
            <a:spLocks noChangeArrowheads="1"/>
          </p:cNvSpPr>
          <p:nvPr/>
        </p:nvSpPr>
        <p:spPr bwMode="auto">
          <a:xfrm>
            <a:off x="5232401" y="2420938"/>
            <a:ext cx="792163" cy="215900"/>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IOxDIR</a:t>
            </a:r>
          </a:p>
        </p:txBody>
      </p:sp>
      <p:sp>
        <p:nvSpPr>
          <p:cNvPr id="407574" name="Line 22"/>
          <p:cNvSpPr>
            <a:spLocks noChangeShapeType="1"/>
          </p:cNvSpPr>
          <p:nvPr/>
        </p:nvSpPr>
        <p:spPr bwMode="auto">
          <a:xfrm>
            <a:off x="4657725" y="2132013"/>
            <a:ext cx="719138" cy="0"/>
          </a:xfrm>
          <a:prstGeom prst="line">
            <a:avLst/>
          </a:prstGeom>
          <a:noFill/>
          <a:ln w="19050">
            <a:solidFill>
              <a:schemeClr val="tx1"/>
            </a:solidFill>
            <a:round/>
            <a:headEnd/>
            <a:tailEnd/>
          </a:ln>
          <a:effectLst/>
        </p:spPr>
        <p:txBody>
          <a:bodyPr wrap="none" anchor="ctr"/>
          <a:lstStyle/>
          <a:p>
            <a:endParaRPr lang="zh-CN" altLang="en-US"/>
          </a:p>
        </p:txBody>
      </p:sp>
      <p:sp>
        <p:nvSpPr>
          <p:cNvPr id="407575" name="Oval 23"/>
          <p:cNvSpPr>
            <a:spLocks noChangeArrowheads="1"/>
          </p:cNvSpPr>
          <p:nvPr/>
        </p:nvSpPr>
        <p:spPr bwMode="auto">
          <a:xfrm>
            <a:off x="5376864" y="2100264"/>
            <a:ext cx="71437" cy="71437"/>
          </a:xfrm>
          <a:prstGeom prst="ellipse">
            <a:avLst/>
          </a:prstGeom>
          <a:noFill/>
          <a:ln w="19050" algn="ctr">
            <a:solidFill>
              <a:schemeClr val="tx1"/>
            </a:solidFill>
            <a:round/>
            <a:headEnd/>
            <a:tailEnd/>
          </a:ln>
          <a:effectLst/>
        </p:spPr>
        <p:txBody>
          <a:bodyPr wrap="none" anchor="ctr"/>
          <a:lstStyle/>
          <a:p>
            <a:endParaRPr lang="zh-CN" altLang="en-US"/>
          </a:p>
        </p:txBody>
      </p:sp>
      <p:sp>
        <p:nvSpPr>
          <p:cNvPr id="407576" name="Line 24"/>
          <p:cNvSpPr>
            <a:spLocks noChangeShapeType="1"/>
          </p:cNvSpPr>
          <p:nvPr/>
        </p:nvSpPr>
        <p:spPr bwMode="auto">
          <a:xfrm flipH="1">
            <a:off x="5881688" y="1916113"/>
            <a:ext cx="360362" cy="0"/>
          </a:xfrm>
          <a:prstGeom prst="line">
            <a:avLst/>
          </a:prstGeom>
          <a:noFill/>
          <a:ln w="19050">
            <a:solidFill>
              <a:schemeClr val="tx1"/>
            </a:solidFill>
            <a:round/>
            <a:headEnd/>
            <a:tailEnd/>
          </a:ln>
          <a:effectLst/>
        </p:spPr>
        <p:txBody>
          <a:bodyPr wrap="none" anchor="ctr"/>
          <a:lstStyle/>
          <a:p>
            <a:endParaRPr lang="zh-CN" altLang="en-US"/>
          </a:p>
        </p:txBody>
      </p:sp>
      <p:sp>
        <p:nvSpPr>
          <p:cNvPr id="407577" name="Oval 25"/>
          <p:cNvSpPr>
            <a:spLocks noChangeArrowheads="1"/>
          </p:cNvSpPr>
          <p:nvPr/>
        </p:nvSpPr>
        <p:spPr bwMode="auto">
          <a:xfrm flipH="1">
            <a:off x="5810250" y="1884364"/>
            <a:ext cx="71438" cy="71437"/>
          </a:xfrm>
          <a:prstGeom prst="ellipse">
            <a:avLst/>
          </a:prstGeom>
          <a:noFill/>
          <a:ln w="19050" algn="ctr">
            <a:solidFill>
              <a:schemeClr val="tx1"/>
            </a:solidFill>
            <a:round/>
            <a:headEnd/>
            <a:tailEnd/>
          </a:ln>
          <a:effectLst/>
        </p:spPr>
        <p:txBody>
          <a:bodyPr wrap="none" anchor="ctr"/>
          <a:lstStyle/>
          <a:p>
            <a:endParaRPr lang="zh-CN" altLang="en-US"/>
          </a:p>
        </p:txBody>
      </p:sp>
      <p:sp>
        <p:nvSpPr>
          <p:cNvPr id="407578" name="Line 26"/>
          <p:cNvSpPr>
            <a:spLocks noChangeShapeType="1"/>
          </p:cNvSpPr>
          <p:nvPr/>
        </p:nvSpPr>
        <p:spPr bwMode="auto">
          <a:xfrm flipH="1">
            <a:off x="5881688" y="2308225"/>
            <a:ext cx="360362" cy="0"/>
          </a:xfrm>
          <a:prstGeom prst="line">
            <a:avLst/>
          </a:prstGeom>
          <a:noFill/>
          <a:ln w="19050">
            <a:solidFill>
              <a:schemeClr val="tx1"/>
            </a:solidFill>
            <a:round/>
            <a:headEnd/>
            <a:tailEnd/>
          </a:ln>
          <a:effectLst/>
        </p:spPr>
        <p:txBody>
          <a:bodyPr wrap="none" anchor="ctr"/>
          <a:lstStyle/>
          <a:p>
            <a:endParaRPr lang="zh-CN" altLang="en-US"/>
          </a:p>
        </p:txBody>
      </p:sp>
      <p:sp>
        <p:nvSpPr>
          <p:cNvPr id="407579" name="Oval 27"/>
          <p:cNvSpPr>
            <a:spLocks noChangeArrowheads="1"/>
          </p:cNvSpPr>
          <p:nvPr/>
        </p:nvSpPr>
        <p:spPr bwMode="auto">
          <a:xfrm flipH="1">
            <a:off x="5810250" y="2276475"/>
            <a:ext cx="71438" cy="71438"/>
          </a:xfrm>
          <a:prstGeom prst="ellipse">
            <a:avLst/>
          </a:prstGeom>
          <a:noFill/>
          <a:ln w="19050" algn="ctr">
            <a:solidFill>
              <a:schemeClr val="tx1"/>
            </a:solidFill>
            <a:round/>
            <a:headEnd/>
            <a:tailEnd/>
          </a:ln>
          <a:effectLst/>
        </p:spPr>
        <p:txBody>
          <a:bodyPr wrap="none" anchor="ctr"/>
          <a:lstStyle/>
          <a:p>
            <a:endParaRPr lang="zh-CN" altLang="en-US"/>
          </a:p>
        </p:txBody>
      </p:sp>
      <p:sp>
        <p:nvSpPr>
          <p:cNvPr id="407580" name="Line 28"/>
          <p:cNvSpPr>
            <a:spLocks noChangeShapeType="1"/>
          </p:cNvSpPr>
          <p:nvPr/>
        </p:nvSpPr>
        <p:spPr bwMode="auto">
          <a:xfrm flipV="1">
            <a:off x="5448301" y="1916113"/>
            <a:ext cx="360363" cy="215900"/>
          </a:xfrm>
          <a:prstGeom prst="line">
            <a:avLst/>
          </a:prstGeom>
          <a:noFill/>
          <a:ln w="19050">
            <a:solidFill>
              <a:srgbClr val="0000FF"/>
            </a:solidFill>
            <a:round/>
            <a:headEnd/>
            <a:tailEnd/>
          </a:ln>
          <a:effectLst/>
        </p:spPr>
        <p:txBody>
          <a:bodyPr wrap="none" anchor="ctr"/>
          <a:lstStyle/>
          <a:p>
            <a:endParaRPr lang="zh-CN" altLang="en-US"/>
          </a:p>
        </p:txBody>
      </p:sp>
      <p:sp>
        <p:nvSpPr>
          <p:cNvPr id="407581" name="Rectangle 29"/>
          <p:cNvSpPr>
            <a:spLocks noChangeArrowheads="1"/>
          </p:cNvSpPr>
          <p:nvPr/>
        </p:nvSpPr>
        <p:spPr bwMode="auto">
          <a:xfrm>
            <a:off x="6673851" y="1844675"/>
            <a:ext cx="792163" cy="503238"/>
          </a:xfrm>
          <a:prstGeom prst="rect">
            <a:avLst/>
          </a:prstGeom>
          <a:noFill/>
          <a:ln w="19050">
            <a:solidFill>
              <a:schemeClr val="tx1"/>
            </a:solidFill>
            <a:miter lim="800000"/>
            <a:headEnd/>
            <a:tailEnd/>
          </a:ln>
          <a:effectLst/>
        </p:spPr>
        <p:txBody>
          <a:bodyPr wrap="none" anchor="ctr"/>
          <a:lstStyle/>
          <a:p>
            <a:endParaRPr lang="zh-CN" altLang="en-US"/>
          </a:p>
        </p:txBody>
      </p:sp>
      <p:sp>
        <p:nvSpPr>
          <p:cNvPr id="407582" name="Rectangle 30"/>
          <p:cNvSpPr>
            <a:spLocks noChangeArrowheads="1"/>
          </p:cNvSpPr>
          <p:nvPr/>
        </p:nvSpPr>
        <p:spPr bwMode="auto">
          <a:xfrm>
            <a:off x="6673851" y="2420938"/>
            <a:ext cx="792163" cy="215900"/>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IOxCLR</a:t>
            </a:r>
          </a:p>
        </p:txBody>
      </p:sp>
      <p:sp>
        <p:nvSpPr>
          <p:cNvPr id="407583" name="Oval 31"/>
          <p:cNvSpPr>
            <a:spLocks noChangeArrowheads="1"/>
          </p:cNvSpPr>
          <p:nvPr/>
        </p:nvSpPr>
        <p:spPr bwMode="auto">
          <a:xfrm>
            <a:off x="6818314" y="2100264"/>
            <a:ext cx="71437" cy="71437"/>
          </a:xfrm>
          <a:prstGeom prst="ellipse">
            <a:avLst/>
          </a:prstGeom>
          <a:noFill/>
          <a:ln w="19050" algn="ctr">
            <a:solidFill>
              <a:schemeClr val="tx1"/>
            </a:solidFill>
            <a:round/>
            <a:headEnd/>
            <a:tailEnd/>
          </a:ln>
          <a:effectLst/>
        </p:spPr>
        <p:txBody>
          <a:bodyPr wrap="none" anchor="ctr"/>
          <a:lstStyle/>
          <a:p>
            <a:endParaRPr lang="zh-CN" altLang="en-US"/>
          </a:p>
        </p:txBody>
      </p:sp>
      <p:grpSp>
        <p:nvGrpSpPr>
          <p:cNvPr id="407584" name="Group 32"/>
          <p:cNvGrpSpPr>
            <a:grpSpLocks/>
          </p:cNvGrpSpPr>
          <p:nvPr/>
        </p:nvGrpSpPr>
        <p:grpSpPr bwMode="auto">
          <a:xfrm>
            <a:off x="7250113" y="1916114"/>
            <a:ext cx="431800" cy="71437"/>
            <a:chOff x="1837" y="2684"/>
            <a:chExt cx="272" cy="45"/>
          </a:xfrm>
        </p:grpSpPr>
        <p:sp>
          <p:nvSpPr>
            <p:cNvPr id="407585" name="Line 33"/>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7586" name="Oval 34"/>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7587" name="Group 35"/>
          <p:cNvGrpSpPr>
            <a:grpSpLocks/>
          </p:cNvGrpSpPr>
          <p:nvPr/>
        </p:nvGrpSpPr>
        <p:grpSpPr bwMode="auto">
          <a:xfrm>
            <a:off x="7250113" y="2205039"/>
            <a:ext cx="431800" cy="71437"/>
            <a:chOff x="1837" y="2684"/>
            <a:chExt cx="272" cy="45"/>
          </a:xfrm>
        </p:grpSpPr>
        <p:sp>
          <p:nvSpPr>
            <p:cNvPr id="407588" name="Line 36"/>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7589" name="Oval 37"/>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sp>
        <p:nvSpPr>
          <p:cNvPr id="407590" name="Line 38"/>
          <p:cNvSpPr>
            <a:spLocks noChangeShapeType="1"/>
          </p:cNvSpPr>
          <p:nvPr/>
        </p:nvSpPr>
        <p:spPr bwMode="auto">
          <a:xfrm flipV="1">
            <a:off x="6889751" y="1916113"/>
            <a:ext cx="360363" cy="215900"/>
          </a:xfrm>
          <a:prstGeom prst="line">
            <a:avLst/>
          </a:prstGeom>
          <a:noFill/>
          <a:ln w="19050">
            <a:solidFill>
              <a:srgbClr val="0000FF"/>
            </a:solidFill>
            <a:round/>
            <a:headEnd/>
            <a:tailEnd/>
          </a:ln>
          <a:effectLst/>
        </p:spPr>
        <p:txBody>
          <a:bodyPr wrap="none" anchor="ctr"/>
          <a:lstStyle/>
          <a:p>
            <a:endParaRPr lang="zh-CN" altLang="en-US"/>
          </a:p>
        </p:txBody>
      </p:sp>
      <p:sp>
        <p:nvSpPr>
          <p:cNvPr id="407591" name="Line 39"/>
          <p:cNvSpPr>
            <a:spLocks noChangeShapeType="1"/>
          </p:cNvSpPr>
          <p:nvPr/>
        </p:nvSpPr>
        <p:spPr bwMode="auto">
          <a:xfrm>
            <a:off x="6456363" y="2132013"/>
            <a:ext cx="360362" cy="0"/>
          </a:xfrm>
          <a:prstGeom prst="line">
            <a:avLst/>
          </a:prstGeom>
          <a:noFill/>
          <a:ln w="19050">
            <a:solidFill>
              <a:schemeClr val="tx1"/>
            </a:solidFill>
            <a:round/>
            <a:headEnd/>
            <a:tailEnd/>
          </a:ln>
          <a:effectLst/>
        </p:spPr>
        <p:txBody>
          <a:bodyPr wrap="none" anchor="ctr"/>
          <a:lstStyle/>
          <a:p>
            <a:endParaRPr lang="zh-CN" altLang="en-US"/>
          </a:p>
        </p:txBody>
      </p:sp>
      <p:sp>
        <p:nvSpPr>
          <p:cNvPr id="407592" name="Line 40"/>
          <p:cNvSpPr>
            <a:spLocks noChangeShapeType="1"/>
          </p:cNvSpPr>
          <p:nvPr/>
        </p:nvSpPr>
        <p:spPr bwMode="auto">
          <a:xfrm flipV="1">
            <a:off x="6456363" y="1916113"/>
            <a:ext cx="0" cy="215900"/>
          </a:xfrm>
          <a:prstGeom prst="line">
            <a:avLst/>
          </a:prstGeom>
          <a:noFill/>
          <a:ln w="19050">
            <a:solidFill>
              <a:schemeClr val="tx1"/>
            </a:solidFill>
            <a:round/>
            <a:headEnd/>
            <a:tailEnd/>
          </a:ln>
          <a:effectLst/>
        </p:spPr>
        <p:txBody>
          <a:bodyPr wrap="none" anchor="ctr"/>
          <a:lstStyle/>
          <a:p>
            <a:endParaRPr lang="zh-CN" altLang="en-US"/>
          </a:p>
        </p:txBody>
      </p:sp>
      <p:sp>
        <p:nvSpPr>
          <p:cNvPr id="407593" name="Line 41"/>
          <p:cNvSpPr>
            <a:spLocks noChangeShapeType="1"/>
          </p:cNvSpPr>
          <p:nvPr/>
        </p:nvSpPr>
        <p:spPr bwMode="auto">
          <a:xfrm flipH="1">
            <a:off x="6240463" y="1916113"/>
            <a:ext cx="215900" cy="0"/>
          </a:xfrm>
          <a:prstGeom prst="line">
            <a:avLst/>
          </a:prstGeom>
          <a:noFill/>
          <a:ln w="19050">
            <a:solidFill>
              <a:schemeClr val="tx1"/>
            </a:solidFill>
            <a:round/>
            <a:headEnd/>
            <a:tailEnd/>
          </a:ln>
          <a:effectLst/>
        </p:spPr>
        <p:txBody>
          <a:bodyPr wrap="none" anchor="ctr"/>
          <a:lstStyle/>
          <a:p>
            <a:endParaRPr lang="zh-CN" altLang="en-US"/>
          </a:p>
        </p:txBody>
      </p:sp>
      <p:sp>
        <p:nvSpPr>
          <p:cNvPr id="407594" name="Line 42"/>
          <p:cNvSpPr>
            <a:spLocks noChangeShapeType="1"/>
          </p:cNvSpPr>
          <p:nvPr/>
        </p:nvSpPr>
        <p:spPr bwMode="auto">
          <a:xfrm>
            <a:off x="6242050" y="3213100"/>
            <a:ext cx="431800" cy="0"/>
          </a:xfrm>
          <a:prstGeom prst="line">
            <a:avLst/>
          </a:prstGeom>
          <a:noFill/>
          <a:ln w="19050">
            <a:solidFill>
              <a:schemeClr val="tx1"/>
            </a:solidFill>
            <a:round/>
            <a:headEnd/>
            <a:tailEnd/>
          </a:ln>
          <a:effectLst/>
        </p:spPr>
        <p:txBody>
          <a:bodyPr wrap="none" anchor="ctr"/>
          <a:lstStyle/>
          <a:p>
            <a:endParaRPr lang="zh-CN" altLang="en-US"/>
          </a:p>
        </p:txBody>
      </p:sp>
      <p:sp>
        <p:nvSpPr>
          <p:cNvPr id="407595" name="Rectangle 43"/>
          <p:cNvSpPr>
            <a:spLocks noChangeArrowheads="1"/>
          </p:cNvSpPr>
          <p:nvPr/>
        </p:nvSpPr>
        <p:spPr bwMode="auto">
          <a:xfrm>
            <a:off x="6673851" y="3068639"/>
            <a:ext cx="792163" cy="287337"/>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IOxPIN</a:t>
            </a:r>
          </a:p>
        </p:txBody>
      </p:sp>
      <p:sp>
        <p:nvSpPr>
          <p:cNvPr id="407596" name="Rectangle 44"/>
          <p:cNvSpPr>
            <a:spLocks noChangeArrowheads="1"/>
          </p:cNvSpPr>
          <p:nvPr/>
        </p:nvSpPr>
        <p:spPr bwMode="auto">
          <a:xfrm>
            <a:off x="6673851" y="1555750"/>
            <a:ext cx="792163" cy="215900"/>
          </a:xfrm>
          <a:prstGeom prst="rect">
            <a:avLst/>
          </a:prstGeom>
          <a:solidFill>
            <a:srgbClr val="FF99FF"/>
          </a:solidFill>
          <a:ln w="19050">
            <a:solidFill>
              <a:schemeClr val="tx1"/>
            </a:solidFill>
            <a:miter lim="800000"/>
            <a:headEnd/>
            <a:tailEnd/>
          </a:ln>
          <a:effectLst/>
        </p:spPr>
        <p:txBody>
          <a:bodyPr wrap="none" anchor="ctr"/>
          <a:lstStyle/>
          <a:p>
            <a:r>
              <a:rPr lang="en-US" altLang="zh-CN" sz="1400"/>
              <a:t>IOxSET</a:t>
            </a:r>
          </a:p>
        </p:txBody>
      </p:sp>
      <p:sp>
        <p:nvSpPr>
          <p:cNvPr id="407597" name="Text Box 45"/>
          <p:cNvSpPr txBox="1">
            <a:spLocks noChangeArrowheads="1"/>
          </p:cNvSpPr>
          <p:nvPr/>
        </p:nvSpPr>
        <p:spPr bwMode="auto">
          <a:xfrm>
            <a:off x="6024563" y="2060575"/>
            <a:ext cx="360362"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in</a:t>
            </a:r>
          </a:p>
        </p:txBody>
      </p:sp>
      <p:sp>
        <p:nvSpPr>
          <p:cNvPr id="407598" name="Text Box 46"/>
          <p:cNvSpPr txBox="1">
            <a:spLocks noChangeArrowheads="1"/>
          </p:cNvSpPr>
          <p:nvPr/>
        </p:nvSpPr>
        <p:spPr bwMode="auto">
          <a:xfrm>
            <a:off x="6024563" y="1628775"/>
            <a:ext cx="431800"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out</a:t>
            </a:r>
          </a:p>
        </p:txBody>
      </p:sp>
      <p:sp>
        <p:nvSpPr>
          <p:cNvPr id="407599" name="Line 47"/>
          <p:cNvSpPr>
            <a:spLocks noChangeShapeType="1"/>
          </p:cNvSpPr>
          <p:nvPr/>
        </p:nvSpPr>
        <p:spPr bwMode="auto">
          <a:xfrm>
            <a:off x="7034213" y="1773238"/>
            <a:ext cx="0" cy="2159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407600" name="Line 48"/>
          <p:cNvSpPr>
            <a:spLocks noChangeShapeType="1"/>
          </p:cNvSpPr>
          <p:nvPr/>
        </p:nvSpPr>
        <p:spPr bwMode="auto">
          <a:xfrm flipV="1">
            <a:off x="7034213" y="2205038"/>
            <a:ext cx="0" cy="2159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407601" name="Text Box 49"/>
          <p:cNvSpPr txBox="1">
            <a:spLocks noChangeArrowheads="1"/>
          </p:cNvSpPr>
          <p:nvPr/>
        </p:nvSpPr>
        <p:spPr bwMode="auto">
          <a:xfrm>
            <a:off x="7681913" y="1773238"/>
            <a:ext cx="360362"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1</a:t>
            </a:r>
          </a:p>
        </p:txBody>
      </p:sp>
      <p:sp>
        <p:nvSpPr>
          <p:cNvPr id="407602" name="Text Box 50"/>
          <p:cNvSpPr txBox="1">
            <a:spLocks noChangeArrowheads="1"/>
          </p:cNvSpPr>
          <p:nvPr/>
        </p:nvSpPr>
        <p:spPr bwMode="auto">
          <a:xfrm>
            <a:off x="7681913" y="2060575"/>
            <a:ext cx="360362"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0</a:t>
            </a:r>
          </a:p>
        </p:txBody>
      </p:sp>
      <p:sp>
        <p:nvSpPr>
          <p:cNvPr id="407603" name="Line 51"/>
          <p:cNvSpPr>
            <a:spLocks noChangeShapeType="1"/>
          </p:cNvSpPr>
          <p:nvPr/>
        </p:nvSpPr>
        <p:spPr bwMode="auto">
          <a:xfrm>
            <a:off x="4945063" y="2132014"/>
            <a:ext cx="0" cy="1081087"/>
          </a:xfrm>
          <a:prstGeom prst="line">
            <a:avLst/>
          </a:prstGeom>
          <a:noFill/>
          <a:ln w="19050">
            <a:solidFill>
              <a:schemeClr val="tx1"/>
            </a:solidFill>
            <a:round/>
            <a:headEnd/>
            <a:tailEnd/>
          </a:ln>
          <a:effectLst/>
        </p:spPr>
        <p:txBody>
          <a:bodyPr wrap="none" anchor="ctr"/>
          <a:lstStyle/>
          <a:p>
            <a:endParaRPr lang="zh-CN" altLang="en-US"/>
          </a:p>
        </p:txBody>
      </p:sp>
      <p:sp>
        <p:nvSpPr>
          <p:cNvPr id="407604" name="Line 52"/>
          <p:cNvSpPr>
            <a:spLocks noChangeShapeType="1"/>
          </p:cNvSpPr>
          <p:nvPr/>
        </p:nvSpPr>
        <p:spPr bwMode="auto">
          <a:xfrm>
            <a:off x="4945064" y="3213100"/>
            <a:ext cx="1296987" cy="0"/>
          </a:xfrm>
          <a:prstGeom prst="line">
            <a:avLst/>
          </a:prstGeom>
          <a:noFill/>
          <a:ln w="19050">
            <a:solidFill>
              <a:schemeClr val="tx1"/>
            </a:solidFill>
            <a:round/>
            <a:headEnd/>
            <a:tailEnd/>
          </a:ln>
          <a:effectLst/>
        </p:spPr>
        <p:txBody>
          <a:bodyPr wrap="none" anchor="ctr"/>
          <a:lstStyle/>
          <a:p>
            <a:endParaRPr lang="zh-CN" altLang="en-US"/>
          </a:p>
        </p:txBody>
      </p:sp>
      <p:sp>
        <p:nvSpPr>
          <p:cNvPr id="407605" name="Rectangle 53"/>
          <p:cNvSpPr>
            <a:spLocks noChangeArrowheads="1"/>
          </p:cNvSpPr>
          <p:nvPr/>
        </p:nvSpPr>
        <p:spPr bwMode="auto">
          <a:xfrm>
            <a:off x="2786064" y="2347913"/>
            <a:ext cx="358775" cy="360362"/>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7606" name="Rectangle 54"/>
          <p:cNvSpPr>
            <a:spLocks noChangeArrowheads="1"/>
          </p:cNvSpPr>
          <p:nvPr/>
        </p:nvSpPr>
        <p:spPr bwMode="auto">
          <a:xfrm>
            <a:off x="2786064" y="2924176"/>
            <a:ext cx="358775" cy="360363"/>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7607" name="Rectangle 55"/>
          <p:cNvSpPr>
            <a:spLocks noChangeArrowheads="1"/>
          </p:cNvSpPr>
          <p:nvPr/>
        </p:nvSpPr>
        <p:spPr bwMode="auto">
          <a:xfrm>
            <a:off x="2786064" y="1773238"/>
            <a:ext cx="358775" cy="360362"/>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7608" name="Rectangle 56"/>
          <p:cNvSpPr>
            <a:spLocks noChangeArrowheads="1"/>
          </p:cNvSpPr>
          <p:nvPr/>
        </p:nvSpPr>
        <p:spPr bwMode="auto">
          <a:xfrm>
            <a:off x="8977314" y="2347913"/>
            <a:ext cx="358775" cy="360362"/>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7609" name="Rectangle 57"/>
          <p:cNvSpPr>
            <a:spLocks noChangeArrowheads="1"/>
          </p:cNvSpPr>
          <p:nvPr/>
        </p:nvSpPr>
        <p:spPr bwMode="auto">
          <a:xfrm>
            <a:off x="8977314" y="2924176"/>
            <a:ext cx="358775" cy="360363"/>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7610" name="Rectangle 58"/>
          <p:cNvSpPr>
            <a:spLocks noChangeArrowheads="1"/>
          </p:cNvSpPr>
          <p:nvPr/>
        </p:nvSpPr>
        <p:spPr bwMode="auto">
          <a:xfrm>
            <a:off x="8977314" y="1773238"/>
            <a:ext cx="358775" cy="360362"/>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7611" name="Rectangle 59"/>
          <p:cNvSpPr>
            <a:spLocks noGrp="1" noChangeArrowheads="1"/>
          </p:cNvSpPr>
          <p:nvPr>
            <p:ph type="body" sz="half" idx="1"/>
          </p:nvPr>
        </p:nvSpPr>
        <p:spPr>
          <a:xfrm>
            <a:off x="2200275" y="587375"/>
            <a:ext cx="7772400" cy="609600"/>
          </a:xfrm>
          <a:noFill/>
          <a:ln/>
        </p:spPr>
        <p:txBody>
          <a:bodyPr/>
          <a:lstStyle/>
          <a:p>
            <a:r>
              <a:rPr lang="en-US" altLang="zh-CN"/>
              <a:t>GPIO</a:t>
            </a:r>
            <a:r>
              <a:rPr lang="zh-CN" altLang="en-US"/>
              <a:t>相关寄存器描述</a:t>
            </a:r>
            <a:r>
              <a:rPr lang="en-US" altLang="zh-CN"/>
              <a:t>——</a:t>
            </a:r>
            <a:r>
              <a:rPr lang="en-US" altLang="zh-CN">
                <a:solidFill>
                  <a:srgbClr val="FF0000"/>
                </a:solidFill>
              </a:rPr>
              <a:t>IOxSET</a:t>
            </a:r>
          </a:p>
        </p:txBody>
      </p:sp>
      <p:graphicFrame>
        <p:nvGraphicFramePr>
          <p:cNvPr id="407612" name="Group 60"/>
          <p:cNvGraphicFramePr>
            <a:graphicFrameLocks noGrp="1"/>
          </p:cNvGraphicFramePr>
          <p:nvPr>
            <p:ph sz="half" idx="2"/>
          </p:nvPr>
        </p:nvGraphicFramePr>
        <p:xfrm>
          <a:off x="1992314" y="3983038"/>
          <a:ext cx="8207375" cy="670560"/>
        </p:xfrm>
        <a:graphic>
          <a:graphicData uri="http://schemas.openxmlformats.org/drawingml/2006/table">
            <a:tbl>
              <a:tblPr/>
              <a:tblGrid>
                <a:gridCol w="865187">
                  <a:extLst>
                    <a:ext uri="{9D8B030D-6E8A-4147-A177-3AD203B41FA5}">
                      <a16:colId xmlns:a16="http://schemas.microsoft.com/office/drawing/2014/main" val="20000"/>
                    </a:ext>
                  </a:extLst>
                </a:gridCol>
                <a:gridCol w="6480175">
                  <a:extLst>
                    <a:ext uri="{9D8B030D-6E8A-4147-A177-3AD203B41FA5}">
                      <a16:colId xmlns:a16="http://schemas.microsoft.com/office/drawing/2014/main" val="20001"/>
                    </a:ext>
                  </a:extLst>
                </a:gridCol>
                <a:gridCol w="862013">
                  <a:extLst>
                    <a:ext uri="{9D8B030D-6E8A-4147-A177-3AD203B41FA5}">
                      <a16:colId xmlns:a16="http://schemas.microsoft.com/office/drawing/2014/main" val="20002"/>
                    </a:ext>
                  </a:extLst>
                </a:gridCol>
              </a:tblGrid>
              <a:tr h="217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IOxSET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rPr>
                        <a:t>描述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rPr>
                        <a:t>复位值</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3127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31 : 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rPr>
                        <a:t>输出置位。</a:t>
                      </a:r>
                      <a:r>
                        <a:rPr kumimoji="1" lang="en-US" altLang="zh-CN" sz="1600" b="0" i="0" u="none" strike="noStrike" cap="none" normalizeH="0" baseline="0">
                          <a:ln>
                            <a:noFill/>
                          </a:ln>
                          <a:solidFill>
                            <a:schemeClr val="tx1"/>
                          </a:solidFill>
                          <a:effectLst/>
                          <a:latin typeface="Times New Roman" pitchFamily="18" charset="0"/>
                          <a:ea typeface="宋体" pitchFamily="2" charset="-122"/>
                        </a:rPr>
                        <a:t>IOxSET[0]</a:t>
                      </a:r>
                      <a:r>
                        <a:rPr kumimoji="1" lang="zh-CN" altLang="en-US" sz="1600" b="0" i="0" u="none" strike="noStrike" cap="none" normalizeH="0" baseline="0">
                          <a:ln>
                            <a:noFill/>
                          </a:ln>
                          <a:solidFill>
                            <a:schemeClr val="tx1"/>
                          </a:solidFill>
                          <a:effectLst/>
                          <a:latin typeface="Times New Roman" pitchFamily="18" charset="0"/>
                          <a:ea typeface="宋体" pitchFamily="2" charset="-122"/>
                        </a:rPr>
                        <a:t>对应于</a:t>
                      </a:r>
                      <a:r>
                        <a:rPr kumimoji="1" lang="en-US" altLang="zh-CN" sz="1600" b="0" i="0" u="none" strike="noStrike" cap="none" normalizeH="0" baseline="0">
                          <a:ln>
                            <a:noFill/>
                          </a:ln>
                          <a:solidFill>
                            <a:schemeClr val="tx1"/>
                          </a:solidFill>
                          <a:effectLst/>
                          <a:latin typeface="Times New Roman" pitchFamily="18" charset="0"/>
                          <a:ea typeface="宋体" pitchFamily="2" charset="-122"/>
                        </a:rPr>
                        <a:t>Px.0 … IOxPIN[31]</a:t>
                      </a:r>
                      <a:r>
                        <a:rPr kumimoji="1" lang="zh-CN" altLang="en-US" sz="1600" b="0" i="0" u="none" strike="noStrike" cap="none" normalizeH="0" baseline="0">
                          <a:ln>
                            <a:noFill/>
                          </a:ln>
                          <a:solidFill>
                            <a:schemeClr val="tx1"/>
                          </a:solidFill>
                          <a:effectLst/>
                          <a:latin typeface="Times New Roman" pitchFamily="18" charset="0"/>
                          <a:ea typeface="宋体" pitchFamily="2" charset="-122"/>
                        </a:rPr>
                        <a:t>对应于</a:t>
                      </a:r>
                      <a:r>
                        <a:rPr kumimoji="1" lang="en-US" altLang="zh-CN" sz="1600" b="0" i="0" u="none" strike="noStrike" cap="none" normalizeH="0" baseline="0">
                          <a:ln>
                            <a:noFill/>
                          </a:ln>
                          <a:solidFill>
                            <a:schemeClr val="tx1"/>
                          </a:solidFill>
                          <a:effectLst/>
                          <a:latin typeface="Times New Roman" pitchFamily="18" charset="0"/>
                          <a:ea typeface="宋体" pitchFamily="2" charset="-122"/>
                        </a:rPr>
                        <a:t>Px.31</a:t>
                      </a:r>
                      <a:r>
                        <a:rPr kumimoji="1" lang="zh-CN" altLang="en-US" sz="1600" b="0" i="0" u="none" strike="noStrike" cap="none" normalizeH="0" baseline="0">
                          <a:ln>
                            <a:noFill/>
                          </a:ln>
                          <a:solidFill>
                            <a:schemeClr val="tx1"/>
                          </a:solidFill>
                          <a:effectLst/>
                          <a:latin typeface="Times New Roman" pitchFamily="18" charset="0"/>
                          <a:ea typeface="宋体" pitchFamily="2" charset="-122"/>
                        </a:rPr>
                        <a:t>引脚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bl>
          </a:graphicData>
        </a:graphic>
      </p:graphicFrame>
      <p:sp>
        <p:nvSpPr>
          <p:cNvPr id="407626" name="Text Box 74"/>
          <p:cNvSpPr txBox="1">
            <a:spLocks noChangeArrowheads="1"/>
          </p:cNvSpPr>
          <p:nvPr/>
        </p:nvSpPr>
        <p:spPr bwMode="auto">
          <a:xfrm>
            <a:off x="2298701" y="4908550"/>
            <a:ext cx="7542213" cy="1328738"/>
          </a:xfrm>
          <a:prstGeom prst="rect">
            <a:avLst/>
          </a:prstGeom>
          <a:solidFill>
            <a:srgbClr val="DDDDDD">
              <a:alpha val="30000"/>
            </a:srgbClr>
          </a:solidFill>
          <a:ln w="9525">
            <a:noFill/>
            <a:miter lim="800000"/>
            <a:headEnd/>
            <a:tailEnd/>
          </a:ln>
          <a:effectLst/>
        </p:spPr>
        <p:txBody>
          <a:bodyPr>
            <a:spAutoFit/>
          </a:bodyPr>
          <a:lstStyle/>
          <a:p>
            <a:pPr algn="l">
              <a:spcBef>
                <a:spcPct val="50000"/>
              </a:spcBef>
            </a:pPr>
            <a:r>
              <a:rPr lang="en-US" altLang="zh-CN">
                <a:latin typeface="华文新魏" pitchFamily="2" charset="-122"/>
                <a:ea typeface="华文新魏" pitchFamily="2" charset="-122"/>
              </a:rPr>
              <a:t>        </a:t>
            </a:r>
            <a:r>
              <a:rPr lang="zh-CN" altLang="en-US">
                <a:latin typeface="华文新魏" pitchFamily="2" charset="-122"/>
                <a:ea typeface="华文新魏" pitchFamily="2" charset="-122"/>
              </a:rPr>
              <a:t>当引脚设置为</a:t>
            </a:r>
            <a:r>
              <a:rPr lang="en-US" altLang="zh-CN">
                <a:latin typeface="华文新魏" pitchFamily="2" charset="-122"/>
                <a:ea typeface="华文新魏" pitchFamily="2" charset="-122"/>
              </a:rPr>
              <a:t>GPIO</a:t>
            </a:r>
            <a:r>
              <a:rPr lang="zh-CN" altLang="en-US">
                <a:latin typeface="华文新魏" pitchFamily="2" charset="-122"/>
                <a:ea typeface="华文新魏" pitchFamily="2" charset="-122"/>
              </a:rPr>
              <a:t>输出模式时，可使用该寄存器从引脚输出</a:t>
            </a:r>
            <a:r>
              <a:rPr lang="zh-CN" altLang="en-US">
                <a:solidFill>
                  <a:srgbClr val="FF0000"/>
                </a:solidFill>
                <a:latin typeface="华文新魏" pitchFamily="2" charset="-122"/>
                <a:ea typeface="华文新魏" pitchFamily="2" charset="-122"/>
              </a:rPr>
              <a:t>高</a:t>
            </a:r>
            <a:r>
              <a:rPr lang="zh-CN" altLang="en-US">
                <a:latin typeface="华文新魏" pitchFamily="2" charset="-122"/>
                <a:ea typeface="华文新魏" pitchFamily="2" charset="-122"/>
              </a:rPr>
              <a:t>电平。向某位写入</a:t>
            </a:r>
            <a:r>
              <a:rPr lang="en-US" altLang="zh-CN">
                <a:latin typeface="华文新魏" pitchFamily="2" charset="-122"/>
                <a:ea typeface="华文新魏" pitchFamily="2" charset="-122"/>
              </a:rPr>
              <a:t>1</a:t>
            </a:r>
            <a:r>
              <a:rPr lang="zh-CN" altLang="en-US">
                <a:latin typeface="华文新魏" pitchFamily="2" charset="-122"/>
                <a:ea typeface="华文新魏" pitchFamily="2" charset="-122"/>
              </a:rPr>
              <a:t>使对应引脚输出高电平。写入</a:t>
            </a:r>
            <a:r>
              <a:rPr lang="en-US" altLang="zh-CN">
                <a:latin typeface="华文新魏" pitchFamily="2" charset="-122"/>
                <a:ea typeface="华文新魏" pitchFamily="2" charset="-122"/>
              </a:rPr>
              <a:t>0</a:t>
            </a:r>
            <a:r>
              <a:rPr lang="zh-CN" altLang="en-US">
                <a:latin typeface="华文新魏" pitchFamily="2" charset="-122"/>
                <a:ea typeface="华文新魏" pitchFamily="2" charset="-122"/>
              </a:rPr>
              <a:t>无效。</a:t>
            </a:r>
          </a:p>
          <a:p>
            <a:pPr algn="l">
              <a:spcBef>
                <a:spcPct val="50000"/>
              </a:spcBef>
            </a:pPr>
            <a:r>
              <a:rPr lang="zh-CN" altLang="en-US">
                <a:latin typeface="华文新魏" pitchFamily="2" charset="-122"/>
                <a:ea typeface="华文新魏" pitchFamily="2" charset="-122"/>
              </a:rPr>
              <a:t>        从该寄存器读回的数据为</a:t>
            </a:r>
            <a:r>
              <a:rPr lang="en-US" altLang="zh-CN">
                <a:latin typeface="华文新魏" pitchFamily="2" charset="-122"/>
                <a:ea typeface="华文新魏" pitchFamily="2" charset="-122"/>
              </a:rPr>
              <a:t>GPIO</a:t>
            </a:r>
            <a:r>
              <a:rPr lang="zh-CN" altLang="en-US">
                <a:latin typeface="华文新魏" pitchFamily="2" charset="-122"/>
                <a:ea typeface="华文新魏" pitchFamily="2" charset="-122"/>
              </a:rPr>
              <a:t>输出寄存器的值。该值不反映外部环境对引脚的影响。</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07611">
                                            <p:txEl>
                                              <p:pRg st="0" end="0"/>
                                            </p:txEl>
                                          </p:spTgt>
                                        </p:tgtEl>
                                        <p:attrNameLst>
                                          <p:attrName>style.visibility</p:attrName>
                                        </p:attrNameLst>
                                      </p:cBhvr>
                                      <p:to>
                                        <p:strVal val="visible"/>
                                      </p:to>
                                    </p:set>
                                    <p:anim calcmode="lin" valueType="num">
                                      <p:cBhvr additive="base">
                                        <p:cTn id="7" dur="500" fill="hold"/>
                                        <p:tgtEl>
                                          <p:spTgt spid="40761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07611">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8" fill="hold" nodeType="afterEffect">
                                  <p:stCondLst>
                                    <p:cond delay="0"/>
                                  </p:stCondLst>
                                  <p:childTnLst>
                                    <p:set>
                                      <p:cBhvr>
                                        <p:cTn id="11" dur="1" fill="hold">
                                          <p:stCondLst>
                                            <p:cond delay="0"/>
                                          </p:stCondLst>
                                        </p:cTn>
                                        <p:tgtEl>
                                          <p:spTgt spid="407612"/>
                                        </p:tgtEl>
                                        <p:attrNameLst>
                                          <p:attrName>style.visibility</p:attrName>
                                        </p:attrNameLst>
                                      </p:cBhvr>
                                      <p:to>
                                        <p:strVal val="visible"/>
                                      </p:to>
                                    </p:set>
                                    <p:anim calcmode="lin" valueType="num">
                                      <p:cBhvr additive="base">
                                        <p:cTn id="12" dur="500" fill="hold"/>
                                        <p:tgtEl>
                                          <p:spTgt spid="407612"/>
                                        </p:tgtEl>
                                        <p:attrNameLst>
                                          <p:attrName>ppt_x</p:attrName>
                                        </p:attrNameLst>
                                      </p:cBhvr>
                                      <p:tavLst>
                                        <p:tav tm="0">
                                          <p:val>
                                            <p:strVal val="0-#ppt_w/2"/>
                                          </p:val>
                                        </p:tav>
                                        <p:tav tm="100000">
                                          <p:val>
                                            <p:strVal val="#ppt_x"/>
                                          </p:val>
                                        </p:tav>
                                      </p:tavLst>
                                    </p:anim>
                                    <p:anim calcmode="lin" valueType="num">
                                      <p:cBhvr additive="base">
                                        <p:cTn id="13" dur="500" fill="hold"/>
                                        <p:tgtEl>
                                          <p:spTgt spid="407612"/>
                                        </p:tgtEl>
                                        <p:attrNameLst>
                                          <p:attrName>ppt_y</p:attrName>
                                        </p:attrNameLst>
                                      </p:cBhvr>
                                      <p:tavLst>
                                        <p:tav tm="0">
                                          <p:val>
                                            <p:strVal val="#ppt_y"/>
                                          </p:val>
                                        </p:tav>
                                        <p:tav tm="100000">
                                          <p:val>
                                            <p:strVal val="#ppt_y"/>
                                          </p:val>
                                        </p:tav>
                                      </p:tavLst>
                                    </p:anim>
                                  </p:childTnLst>
                                </p:cTn>
                              </p:par>
                            </p:childTnLst>
                          </p:cTn>
                        </p:par>
                        <p:par>
                          <p:cTn id="14" fill="hold">
                            <p:stCondLst>
                              <p:cond delay="1500"/>
                            </p:stCondLst>
                            <p:childTnLst>
                              <p:par>
                                <p:cTn id="15" presetID="12" presetClass="entr" presetSubtype="4" fill="hold" nodeType="afterEffect">
                                  <p:stCondLst>
                                    <p:cond delay="0"/>
                                  </p:stCondLst>
                                  <p:childTnLst>
                                    <p:set>
                                      <p:cBhvr>
                                        <p:cTn id="16" dur="1" fill="hold">
                                          <p:stCondLst>
                                            <p:cond delay="0"/>
                                          </p:stCondLst>
                                        </p:cTn>
                                        <p:tgtEl>
                                          <p:spTgt spid="407626"/>
                                        </p:tgtEl>
                                        <p:attrNameLst>
                                          <p:attrName>style.visibility</p:attrName>
                                        </p:attrNameLst>
                                      </p:cBhvr>
                                      <p:to>
                                        <p:strVal val="visible"/>
                                      </p:to>
                                    </p:set>
                                    <p:animEffect transition="in" filter="slide(fromBottom)">
                                      <p:cBhvr>
                                        <p:cTn id="17" dur="500"/>
                                        <p:tgtEl>
                                          <p:spTgt spid="407626"/>
                                        </p:tgtEl>
                                      </p:cBhvr>
                                    </p:animEffect>
                                  </p:childTnLst>
                                </p:cTn>
                              </p:par>
                            </p:childTnLst>
                          </p:cTn>
                        </p:par>
                        <p:par>
                          <p:cTn id="18" fill="hold">
                            <p:stCondLst>
                              <p:cond delay="2000"/>
                            </p:stCondLst>
                            <p:childTnLst>
                              <p:par>
                                <p:cTn id="19" presetID="34" presetClass="emph" presetSubtype="0" fill="hold" grpId="0" nodeType="afterEffect">
                                  <p:stCondLst>
                                    <p:cond delay="0"/>
                                  </p:stCondLst>
                                  <p:iterate type="lt">
                                    <p:tmPct val="10000"/>
                                  </p:iterate>
                                  <p:childTnLst>
                                    <p:animMotion origin="layout" path="M -1.11111E-6 4.07407E-6 L -1.11111E-6 -0.04723 " pathEditMode="relative" rAng="0" ptsTypes="AA">
                                      <p:cBhvr>
                                        <p:cTn id="20" dur="250" accel="50000" decel="50000" autoRev="1" fill="hold">
                                          <p:stCondLst>
                                            <p:cond delay="0"/>
                                          </p:stCondLst>
                                        </p:cTn>
                                        <p:tgtEl>
                                          <p:spTgt spid="407596"/>
                                        </p:tgtEl>
                                        <p:attrNameLst>
                                          <p:attrName>ppt_x</p:attrName>
                                          <p:attrName>ppt_y</p:attrName>
                                        </p:attrNameLst>
                                      </p:cBhvr>
                                      <p:rCtr x="0" y="-24"/>
                                    </p:animMotion>
                                    <p:animRot by="1500000">
                                      <p:cBhvr>
                                        <p:cTn id="21" dur="125" fill="hold">
                                          <p:stCondLst>
                                            <p:cond delay="0"/>
                                          </p:stCondLst>
                                        </p:cTn>
                                        <p:tgtEl>
                                          <p:spTgt spid="407596"/>
                                        </p:tgtEl>
                                        <p:attrNameLst>
                                          <p:attrName>r</p:attrName>
                                        </p:attrNameLst>
                                      </p:cBhvr>
                                    </p:animRot>
                                    <p:animRot by="-1500000">
                                      <p:cBhvr>
                                        <p:cTn id="22" dur="125" fill="hold">
                                          <p:stCondLst>
                                            <p:cond delay="125"/>
                                          </p:stCondLst>
                                        </p:cTn>
                                        <p:tgtEl>
                                          <p:spTgt spid="407596"/>
                                        </p:tgtEl>
                                        <p:attrNameLst>
                                          <p:attrName>r</p:attrName>
                                        </p:attrNameLst>
                                      </p:cBhvr>
                                    </p:animRot>
                                    <p:animRot by="-1500000">
                                      <p:cBhvr>
                                        <p:cTn id="23" dur="125" fill="hold">
                                          <p:stCondLst>
                                            <p:cond delay="250"/>
                                          </p:stCondLst>
                                        </p:cTn>
                                        <p:tgtEl>
                                          <p:spTgt spid="407596"/>
                                        </p:tgtEl>
                                        <p:attrNameLst>
                                          <p:attrName>r</p:attrName>
                                        </p:attrNameLst>
                                      </p:cBhvr>
                                    </p:animRot>
                                    <p:animRot by="1500000">
                                      <p:cBhvr>
                                        <p:cTn id="24" dur="125" fill="hold">
                                          <p:stCondLst>
                                            <p:cond delay="375"/>
                                          </p:stCondLst>
                                        </p:cTn>
                                        <p:tgtEl>
                                          <p:spTgt spid="40759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96" grpId="0" animBg="1"/>
      <p:bldP spid="407611"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8578" name="Rectangle 2"/>
          <p:cNvSpPr>
            <a:spLocks noChangeArrowheads="1"/>
          </p:cNvSpPr>
          <p:nvPr/>
        </p:nvSpPr>
        <p:spPr bwMode="auto">
          <a:xfrm>
            <a:off x="3141664" y="1412875"/>
            <a:ext cx="5832475" cy="2376488"/>
          </a:xfrm>
          <a:prstGeom prst="rect">
            <a:avLst/>
          </a:prstGeom>
          <a:noFill/>
          <a:ln w="19050">
            <a:solidFill>
              <a:schemeClr val="tx1"/>
            </a:solidFill>
            <a:miter lim="800000"/>
            <a:headEnd/>
            <a:tailEnd/>
          </a:ln>
          <a:effectLst/>
        </p:spPr>
        <p:txBody>
          <a:bodyPr wrap="none" anchor="ctr"/>
          <a:lstStyle/>
          <a:p>
            <a:endParaRPr lang="zh-CN" altLang="en-US"/>
          </a:p>
        </p:txBody>
      </p:sp>
      <p:sp>
        <p:nvSpPr>
          <p:cNvPr id="408579" name="Rectangle 3"/>
          <p:cNvSpPr>
            <a:spLocks noChangeArrowheads="1"/>
          </p:cNvSpPr>
          <p:nvPr/>
        </p:nvSpPr>
        <p:spPr bwMode="auto">
          <a:xfrm>
            <a:off x="3646488" y="1989138"/>
            <a:ext cx="792162" cy="1295400"/>
          </a:xfrm>
          <a:prstGeom prst="rect">
            <a:avLst/>
          </a:prstGeom>
          <a:noFill/>
          <a:ln w="19050">
            <a:solidFill>
              <a:schemeClr val="tx1"/>
            </a:solidFill>
            <a:miter lim="800000"/>
            <a:headEnd/>
            <a:tailEnd/>
          </a:ln>
          <a:effectLst/>
        </p:spPr>
        <p:txBody>
          <a:bodyPr wrap="none" anchor="ctr"/>
          <a:lstStyle/>
          <a:p>
            <a:endParaRPr lang="zh-CN" altLang="en-US"/>
          </a:p>
        </p:txBody>
      </p:sp>
      <p:sp>
        <p:nvSpPr>
          <p:cNvPr id="408580" name="Rectangle 4"/>
          <p:cNvSpPr>
            <a:spLocks noChangeArrowheads="1"/>
          </p:cNvSpPr>
          <p:nvPr/>
        </p:nvSpPr>
        <p:spPr bwMode="auto">
          <a:xfrm>
            <a:off x="3646488" y="3284538"/>
            <a:ext cx="792162" cy="215900"/>
          </a:xfrm>
          <a:prstGeom prst="rect">
            <a:avLst/>
          </a:prstGeom>
          <a:solidFill>
            <a:schemeClr val="folHlink"/>
          </a:solidFill>
          <a:ln w="19050">
            <a:solidFill>
              <a:schemeClr val="tx1"/>
            </a:solidFill>
            <a:miter lim="800000"/>
            <a:headEnd/>
            <a:tailEnd/>
          </a:ln>
          <a:effectLst/>
        </p:spPr>
        <p:txBody>
          <a:bodyPr wrap="none" anchor="ctr"/>
          <a:lstStyle/>
          <a:p>
            <a:r>
              <a:rPr lang="en-US" altLang="zh-CN" sz="1400"/>
              <a:t>PINSELx</a:t>
            </a:r>
          </a:p>
        </p:txBody>
      </p:sp>
      <p:sp>
        <p:nvSpPr>
          <p:cNvPr id="408581" name="Line 5"/>
          <p:cNvSpPr>
            <a:spLocks noChangeShapeType="1"/>
          </p:cNvSpPr>
          <p:nvPr/>
        </p:nvSpPr>
        <p:spPr bwMode="auto">
          <a:xfrm>
            <a:off x="3141663" y="2668588"/>
            <a:ext cx="654050" cy="0"/>
          </a:xfrm>
          <a:prstGeom prst="line">
            <a:avLst/>
          </a:prstGeom>
          <a:noFill/>
          <a:ln w="19050">
            <a:solidFill>
              <a:schemeClr val="tx1"/>
            </a:solidFill>
            <a:round/>
            <a:headEnd/>
            <a:tailEnd/>
          </a:ln>
          <a:effectLst/>
        </p:spPr>
        <p:txBody>
          <a:bodyPr wrap="none" anchor="ctr"/>
          <a:lstStyle/>
          <a:p>
            <a:endParaRPr lang="zh-CN" altLang="en-US"/>
          </a:p>
        </p:txBody>
      </p:sp>
      <p:sp>
        <p:nvSpPr>
          <p:cNvPr id="408582" name="Oval 6"/>
          <p:cNvSpPr>
            <a:spLocks noChangeArrowheads="1"/>
          </p:cNvSpPr>
          <p:nvPr/>
        </p:nvSpPr>
        <p:spPr bwMode="auto">
          <a:xfrm>
            <a:off x="3795714" y="2636839"/>
            <a:ext cx="66675" cy="71437"/>
          </a:xfrm>
          <a:prstGeom prst="ellipse">
            <a:avLst/>
          </a:prstGeom>
          <a:noFill/>
          <a:ln w="19050" algn="ctr">
            <a:solidFill>
              <a:schemeClr val="tx1"/>
            </a:solidFill>
            <a:round/>
            <a:headEnd/>
            <a:tailEnd/>
          </a:ln>
          <a:effectLst/>
        </p:spPr>
        <p:txBody>
          <a:bodyPr wrap="none" anchor="ctr"/>
          <a:lstStyle/>
          <a:p>
            <a:endParaRPr lang="zh-CN" altLang="en-US"/>
          </a:p>
        </p:txBody>
      </p:sp>
      <p:grpSp>
        <p:nvGrpSpPr>
          <p:cNvPr id="408583" name="Group 7"/>
          <p:cNvGrpSpPr>
            <a:grpSpLocks/>
          </p:cNvGrpSpPr>
          <p:nvPr/>
        </p:nvGrpSpPr>
        <p:grpSpPr bwMode="auto">
          <a:xfrm>
            <a:off x="4222750" y="2244725"/>
            <a:ext cx="431800" cy="71438"/>
            <a:chOff x="1837" y="2684"/>
            <a:chExt cx="272" cy="45"/>
          </a:xfrm>
        </p:grpSpPr>
        <p:sp>
          <p:nvSpPr>
            <p:cNvPr id="408584" name="Line 8"/>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8585" name="Oval 9"/>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8586" name="Group 10"/>
          <p:cNvGrpSpPr>
            <a:grpSpLocks/>
          </p:cNvGrpSpPr>
          <p:nvPr/>
        </p:nvGrpSpPr>
        <p:grpSpPr bwMode="auto">
          <a:xfrm>
            <a:off x="4222750" y="2492375"/>
            <a:ext cx="431800" cy="71438"/>
            <a:chOff x="1837" y="2684"/>
            <a:chExt cx="272" cy="45"/>
          </a:xfrm>
        </p:grpSpPr>
        <p:sp>
          <p:nvSpPr>
            <p:cNvPr id="408587" name="Line 11"/>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8588" name="Oval 12"/>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8589" name="Group 13"/>
          <p:cNvGrpSpPr>
            <a:grpSpLocks/>
          </p:cNvGrpSpPr>
          <p:nvPr/>
        </p:nvGrpSpPr>
        <p:grpSpPr bwMode="auto">
          <a:xfrm>
            <a:off x="4222750" y="2781300"/>
            <a:ext cx="431800" cy="71438"/>
            <a:chOff x="1837" y="2684"/>
            <a:chExt cx="272" cy="45"/>
          </a:xfrm>
        </p:grpSpPr>
        <p:sp>
          <p:nvSpPr>
            <p:cNvPr id="408590" name="Line 14"/>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8591" name="Oval 15"/>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8592" name="Group 16"/>
          <p:cNvGrpSpPr>
            <a:grpSpLocks/>
          </p:cNvGrpSpPr>
          <p:nvPr/>
        </p:nvGrpSpPr>
        <p:grpSpPr bwMode="auto">
          <a:xfrm>
            <a:off x="4222750" y="3068639"/>
            <a:ext cx="431800" cy="71437"/>
            <a:chOff x="1837" y="2684"/>
            <a:chExt cx="272" cy="45"/>
          </a:xfrm>
        </p:grpSpPr>
        <p:sp>
          <p:nvSpPr>
            <p:cNvPr id="408593" name="Line 17"/>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8594" name="Oval 18"/>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sp>
        <p:nvSpPr>
          <p:cNvPr id="408595" name="Line 19"/>
          <p:cNvSpPr>
            <a:spLocks noChangeShapeType="1"/>
          </p:cNvSpPr>
          <p:nvPr/>
        </p:nvSpPr>
        <p:spPr bwMode="auto">
          <a:xfrm flipV="1">
            <a:off x="3862388" y="2276476"/>
            <a:ext cx="360362" cy="360363"/>
          </a:xfrm>
          <a:prstGeom prst="line">
            <a:avLst/>
          </a:prstGeom>
          <a:noFill/>
          <a:ln w="19050">
            <a:solidFill>
              <a:srgbClr val="0000FF"/>
            </a:solidFill>
            <a:round/>
            <a:headEnd/>
            <a:tailEnd/>
          </a:ln>
          <a:effectLst/>
        </p:spPr>
        <p:txBody>
          <a:bodyPr wrap="none" anchor="ctr"/>
          <a:lstStyle/>
          <a:p>
            <a:endParaRPr lang="zh-CN" altLang="en-US"/>
          </a:p>
        </p:txBody>
      </p:sp>
      <p:sp>
        <p:nvSpPr>
          <p:cNvPr id="408596" name="Rectangle 20"/>
          <p:cNvSpPr>
            <a:spLocks noChangeArrowheads="1"/>
          </p:cNvSpPr>
          <p:nvPr/>
        </p:nvSpPr>
        <p:spPr bwMode="auto">
          <a:xfrm>
            <a:off x="5229226" y="1989138"/>
            <a:ext cx="792163" cy="576262"/>
          </a:xfrm>
          <a:prstGeom prst="rect">
            <a:avLst/>
          </a:prstGeom>
          <a:noFill/>
          <a:ln w="19050">
            <a:solidFill>
              <a:schemeClr val="tx1"/>
            </a:solidFill>
            <a:miter lim="800000"/>
            <a:headEnd/>
            <a:tailEnd/>
          </a:ln>
          <a:effectLst/>
        </p:spPr>
        <p:txBody>
          <a:bodyPr wrap="none" anchor="ctr"/>
          <a:lstStyle/>
          <a:p>
            <a:endParaRPr lang="zh-CN" altLang="en-US"/>
          </a:p>
        </p:txBody>
      </p:sp>
      <p:sp>
        <p:nvSpPr>
          <p:cNvPr id="408597" name="Rectangle 21"/>
          <p:cNvSpPr>
            <a:spLocks noChangeArrowheads="1"/>
          </p:cNvSpPr>
          <p:nvPr/>
        </p:nvSpPr>
        <p:spPr bwMode="auto">
          <a:xfrm>
            <a:off x="5229226" y="2565400"/>
            <a:ext cx="792163" cy="215900"/>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IOxDIR</a:t>
            </a:r>
          </a:p>
        </p:txBody>
      </p:sp>
      <p:sp>
        <p:nvSpPr>
          <p:cNvPr id="408598" name="Line 22"/>
          <p:cNvSpPr>
            <a:spLocks noChangeShapeType="1"/>
          </p:cNvSpPr>
          <p:nvPr/>
        </p:nvSpPr>
        <p:spPr bwMode="auto">
          <a:xfrm>
            <a:off x="4654550" y="2276475"/>
            <a:ext cx="719138" cy="0"/>
          </a:xfrm>
          <a:prstGeom prst="line">
            <a:avLst/>
          </a:prstGeom>
          <a:noFill/>
          <a:ln w="19050">
            <a:solidFill>
              <a:schemeClr val="tx1"/>
            </a:solidFill>
            <a:round/>
            <a:headEnd/>
            <a:tailEnd/>
          </a:ln>
          <a:effectLst/>
        </p:spPr>
        <p:txBody>
          <a:bodyPr wrap="none" anchor="ctr"/>
          <a:lstStyle/>
          <a:p>
            <a:endParaRPr lang="zh-CN" altLang="en-US"/>
          </a:p>
        </p:txBody>
      </p:sp>
      <p:sp>
        <p:nvSpPr>
          <p:cNvPr id="408599" name="Oval 23"/>
          <p:cNvSpPr>
            <a:spLocks noChangeArrowheads="1"/>
          </p:cNvSpPr>
          <p:nvPr/>
        </p:nvSpPr>
        <p:spPr bwMode="auto">
          <a:xfrm>
            <a:off x="5373689" y="2244725"/>
            <a:ext cx="71437" cy="71438"/>
          </a:xfrm>
          <a:prstGeom prst="ellipse">
            <a:avLst/>
          </a:prstGeom>
          <a:noFill/>
          <a:ln w="19050" algn="ctr">
            <a:solidFill>
              <a:schemeClr val="tx1"/>
            </a:solidFill>
            <a:round/>
            <a:headEnd/>
            <a:tailEnd/>
          </a:ln>
          <a:effectLst/>
        </p:spPr>
        <p:txBody>
          <a:bodyPr wrap="none" anchor="ctr"/>
          <a:lstStyle/>
          <a:p>
            <a:endParaRPr lang="zh-CN" altLang="en-US"/>
          </a:p>
        </p:txBody>
      </p:sp>
      <p:sp>
        <p:nvSpPr>
          <p:cNvPr id="408600" name="Line 24"/>
          <p:cNvSpPr>
            <a:spLocks noChangeShapeType="1"/>
          </p:cNvSpPr>
          <p:nvPr/>
        </p:nvSpPr>
        <p:spPr bwMode="auto">
          <a:xfrm flipH="1">
            <a:off x="5878513" y="2060575"/>
            <a:ext cx="360362" cy="0"/>
          </a:xfrm>
          <a:prstGeom prst="line">
            <a:avLst/>
          </a:prstGeom>
          <a:noFill/>
          <a:ln w="19050">
            <a:solidFill>
              <a:schemeClr val="tx1"/>
            </a:solidFill>
            <a:round/>
            <a:headEnd/>
            <a:tailEnd/>
          </a:ln>
          <a:effectLst/>
        </p:spPr>
        <p:txBody>
          <a:bodyPr wrap="none" anchor="ctr"/>
          <a:lstStyle/>
          <a:p>
            <a:endParaRPr lang="zh-CN" altLang="en-US"/>
          </a:p>
        </p:txBody>
      </p:sp>
      <p:sp>
        <p:nvSpPr>
          <p:cNvPr id="408601" name="Oval 25"/>
          <p:cNvSpPr>
            <a:spLocks noChangeArrowheads="1"/>
          </p:cNvSpPr>
          <p:nvPr/>
        </p:nvSpPr>
        <p:spPr bwMode="auto">
          <a:xfrm flipH="1">
            <a:off x="5807075" y="2028825"/>
            <a:ext cx="71438" cy="71438"/>
          </a:xfrm>
          <a:prstGeom prst="ellipse">
            <a:avLst/>
          </a:prstGeom>
          <a:noFill/>
          <a:ln w="19050" algn="ctr">
            <a:solidFill>
              <a:schemeClr val="tx1"/>
            </a:solidFill>
            <a:round/>
            <a:headEnd/>
            <a:tailEnd/>
          </a:ln>
          <a:effectLst/>
        </p:spPr>
        <p:txBody>
          <a:bodyPr wrap="none" anchor="ctr"/>
          <a:lstStyle/>
          <a:p>
            <a:endParaRPr lang="zh-CN" altLang="en-US"/>
          </a:p>
        </p:txBody>
      </p:sp>
      <p:sp>
        <p:nvSpPr>
          <p:cNvPr id="408602" name="Line 26"/>
          <p:cNvSpPr>
            <a:spLocks noChangeShapeType="1"/>
          </p:cNvSpPr>
          <p:nvPr/>
        </p:nvSpPr>
        <p:spPr bwMode="auto">
          <a:xfrm flipH="1">
            <a:off x="5878513" y="2452688"/>
            <a:ext cx="360362" cy="0"/>
          </a:xfrm>
          <a:prstGeom prst="line">
            <a:avLst/>
          </a:prstGeom>
          <a:noFill/>
          <a:ln w="19050">
            <a:solidFill>
              <a:schemeClr val="tx1"/>
            </a:solidFill>
            <a:round/>
            <a:headEnd/>
            <a:tailEnd/>
          </a:ln>
          <a:effectLst/>
        </p:spPr>
        <p:txBody>
          <a:bodyPr wrap="none" anchor="ctr"/>
          <a:lstStyle/>
          <a:p>
            <a:endParaRPr lang="zh-CN" altLang="en-US"/>
          </a:p>
        </p:txBody>
      </p:sp>
      <p:sp>
        <p:nvSpPr>
          <p:cNvPr id="408603" name="Oval 27"/>
          <p:cNvSpPr>
            <a:spLocks noChangeArrowheads="1"/>
          </p:cNvSpPr>
          <p:nvPr/>
        </p:nvSpPr>
        <p:spPr bwMode="auto">
          <a:xfrm flipH="1">
            <a:off x="5807075" y="2420939"/>
            <a:ext cx="71438" cy="71437"/>
          </a:xfrm>
          <a:prstGeom prst="ellipse">
            <a:avLst/>
          </a:prstGeom>
          <a:noFill/>
          <a:ln w="19050" algn="ctr">
            <a:solidFill>
              <a:schemeClr val="tx1"/>
            </a:solidFill>
            <a:round/>
            <a:headEnd/>
            <a:tailEnd/>
          </a:ln>
          <a:effectLst/>
        </p:spPr>
        <p:txBody>
          <a:bodyPr wrap="none" anchor="ctr"/>
          <a:lstStyle/>
          <a:p>
            <a:endParaRPr lang="zh-CN" altLang="en-US"/>
          </a:p>
        </p:txBody>
      </p:sp>
      <p:sp>
        <p:nvSpPr>
          <p:cNvPr id="408604" name="Line 28"/>
          <p:cNvSpPr>
            <a:spLocks noChangeShapeType="1"/>
          </p:cNvSpPr>
          <p:nvPr/>
        </p:nvSpPr>
        <p:spPr bwMode="auto">
          <a:xfrm flipV="1">
            <a:off x="5445126" y="2060575"/>
            <a:ext cx="360363" cy="215900"/>
          </a:xfrm>
          <a:prstGeom prst="line">
            <a:avLst/>
          </a:prstGeom>
          <a:noFill/>
          <a:ln w="19050">
            <a:solidFill>
              <a:srgbClr val="0000FF"/>
            </a:solidFill>
            <a:round/>
            <a:headEnd/>
            <a:tailEnd/>
          </a:ln>
          <a:effectLst/>
        </p:spPr>
        <p:txBody>
          <a:bodyPr wrap="none" anchor="ctr"/>
          <a:lstStyle/>
          <a:p>
            <a:endParaRPr lang="zh-CN" altLang="en-US"/>
          </a:p>
        </p:txBody>
      </p:sp>
      <p:sp>
        <p:nvSpPr>
          <p:cNvPr id="408605" name="Rectangle 29"/>
          <p:cNvSpPr>
            <a:spLocks noChangeArrowheads="1"/>
          </p:cNvSpPr>
          <p:nvPr/>
        </p:nvSpPr>
        <p:spPr bwMode="auto">
          <a:xfrm>
            <a:off x="6670676" y="1989139"/>
            <a:ext cx="792163" cy="503237"/>
          </a:xfrm>
          <a:prstGeom prst="rect">
            <a:avLst/>
          </a:prstGeom>
          <a:noFill/>
          <a:ln w="19050">
            <a:solidFill>
              <a:schemeClr val="tx1"/>
            </a:solidFill>
            <a:miter lim="800000"/>
            <a:headEnd/>
            <a:tailEnd/>
          </a:ln>
          <a:effectLst/>
        </p:spPr>
        <p:txBody>
          <a:bodyPr wrap="none" anchor="ctr"/>
          <a:lstStyle/>
          <a:p>
            <a:endParaRPr lang="zh-CN" altLang="en-US"/>
          </a:p>
        </p:txBody>
      </p:sp>
      <p:sp>
        <p:nvSpPr>
          <p:cNvPr id="408606" name="Rectangle 30"/>
          <p:cNvSpPr>
            <a:spLocks noChangeArrowheads="1"/>
          </p:cNvSpPr>
          <p:nvPr/>
        </p:nvSpPr>
        <p:spPr bwMode="auto">
          <a:xfrm>
            <a:off x="6670676" y="2565400"/>
            <a:ext cx="792163" cy="215900"/>
          </a:xfrm>
          <a:prstGeom prst="rect">
            <a:avLst/>
          </a:prstGeom>
          <a:solidFill>
            <a:srgbClr val="FF99FF"/>
          </a:solidFill>
          <a:ln w="19050">
            <a:solidFill>
              <a:schemeClr val="tx1"/>
            </a:solidFill>
            <a:miter lim="800000"/>
            <a:headEnd/>
            <a:tailEnd/>
          </a:ln>
          <a:effectLst/>
        </p:spPr>
        <p:txBody>
          <a:bodyPr wrap="none" anchor="ctr"/>
          <a:lstStyle/>
          <a:p>
            <a:r>
              <a:rPr lang="en-US" altLang="zh-CN" sz="1400"/>
              <a:t>IOxCLR</a:t>
            </a:r>
          </a:p>
        </p:txBody>
      </p:sp>
      <p:sp>
        <p:nvSpPr>
          <p:cNvPr id="408607" name="Oval 31"/>
          <p:cNvSpPr>
            <a:spLocks noChangeArrowheads="1"/>
          </p:cNvSpPr>
          <p:nvPr/>
        </p:nvSpPr>
        <p:spPr bwMode="auto">
          <a:xfrm>
            <a:off x="6815139" y="2244725"/>
            <a:ext cx="71437" cy="71438"/>
          </a:xfrm>
          <a:prstGeom prst="ellipse">
            <a:avLst/>
          </a:prstGeom>
          <a:noFill/>
          <a:ln w="19050" algn="ctr">
            <a:solidFill>
              <a:schemeClr val="tx1"/>
            </a:solidFill>
            <a:round/>
            <a:headEnd/>
            <a:tailEnd/>
          </a:ln>
          <a:effectLst/>
        </p:spPr>
        <p:txBody>
          <a:bodyPr wrap="none" anchor="ctr"/>
          <a:lstStyle/>
          <a:p>
            <a:endParaRPr lang="zh-CN" altLang="en-US"/>
          </a:p>
        </p:txBody>
      </p:sp>
      <p:grpSp>
        <p:nvGrpSpPr>
          <p:cNvPr id="408608" name="Group 32"/>
          <p:cNvGrpSpPr>
            <a:grpSpLocks/>
          </p:cNvGrpSpPr>
          <p:nvPr/>
        </p:nvGrpSpPr>
        <p:grpSpPr bwMode="auto">
          <a:xfrm>
            <a:off x="7246938" y="2060575"/>
            <a:ext cx="431800" cy="71438"/>
            <a:chOff x="1837" y="2684"/>
            <a:chExt cx="272" cy="45"/>
          </a:xfrm>
        </p:grpSpPr>
        <p:sp>
          <p:nvSpPr>
            <p:cNvPr id="408609" name="Line 33"/>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8610" name="Oval 34"/>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08611" name="Group 35"/>
          <p:cNvGrpSpPr>
            <a:grpSpLocks/>
          </p:cNvGrpSpPr>
          <p:nvPr/>
        </p:nvGrpSpPr>
        <p:grpSpPr bwMode="auto">
          <a:xfrm>
            <a:off x="7246938" y="2349500"/>
            <a:ext cx="431800" cy="71438"/>
            <a:chOff x="1837" y="2684"/>
            <a:chExt cx="272" cy="45"/>
          </a:xfrm>
        </p:grpSpPr>
        <p:sp>
          <p:nvSpPr>
            <p:cNvPr id="408612" name="Line 36"/>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08613" name="Oval 37"/>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sp>
        <p:nvSpPr>
          <p:cNvPr id="408614" name="Line 38"/>
          <p:cNvSpPr>
            <a:spLocks noChangeShapeType="1"/>
          </p:cNvSpPr>
          <p:nvPr/>
        </p:nvSpPr>
        <p:spPr bwMode="auto">
          <a:xfrm flipV="1">
            <a:off x="6886576" y="2060575"/>
            <a:ext cx="360363" cy="215900"/>
          </a:xfrm>
          <a:prstGeom prst="line">
            <a:avLst/>
          </a:prstGeom>
          <a:noFill/>
          <a:ln w="19050">
            <a:solidFill>
              <a:srgbClr val="0000FF"/>
            </a:solidFill>
            <a:round/>
            <a:headEnd/>
            <a:tailEnd/>
          </a:ln>
          <a:effectLst/>
        </p:spPr>
        <p:txBody>
          <a:bodyPr wrap="none" anchor="ctr"/>
          <a:lstStyle/>
          <a:p>
            <a:endParaRPr lang="zh-CN" altLang="en-US"/>
          </a:p>
        </p:txBody>
      </p:sp>
      <p:sp>
        <p:nvSpPr>
          <p:cNvPr id="408615" name="Line 39"/>
          <p:cNvSpPr>
            <a:spLocks noChangeShapeType="1"/>
          </p:cNvSpPr>
          <p:nvPr/>
        </p:nvSpPr>
        <p:spPr bwMode="auto">
          <a:xfrm>
            <a:off x="6453188" y="2276475"/>
            <a:ext cx="360362" cy="0"/>
          </a:xfrm>
          <a:prstGeom prst="line">
            <a:avLst/>
          </a:prstGeom>
          <a:noFill/>
          <a:ln w="19050">
            <a:solidFill>
              <a:schemeClr val="tx1"/>
            </a:solidFill>
            <a:round/>
            <a:headEnd/>
            <a:tailEnd/>
          </a:ln>
          <a:effectLst/>
        </p:spPr>
        <p:txBody>
          <a:bodyPr wrap="none" anchor="ctr"/>
          <a:lstStyle/>
          <a:p>
            <a:endParaRPr lang="zh-CN" altLang="en-US"/>
          </a:p>
        </p:txBody>
      </p:sp>
      <p:sp>
        <p:nvSpPr>
          <p:cNvPr id="408616" name="Line 40"/>
          <p:cNvSpPr>
            <a:spLocks noChangeShapeType="1"/>
          </p:cNvSpPr>
          <p:nvPr/>
        </p:nvSpPr>
        <p:spPr bwMode="auto">
          <a:xfrm flipV="1">
            <a:off x="6453188" y="2060575"/>
            <a:ext cx="0" cy="215900"/>
          </a:xfrm>
          <a:prstGeom prst="line">
            <a:avLst/>
          </a:prstGeom>
          <a:noFill/>
          <a:ln w="19050">
            <a:solidFill>
              <a:schemeClr val="tx1"/>
            </a:solidFill>
            <a:round/>
            <a:headEnd/>
            <a:tailEnd/>
          </a:ln>
          <a:effectLst/>
        </p:spPr>
        <p:txBody>
          <a:bodyPr wrap="none" anchor="ctr"/>
          <a:lstStyle/>
          <a:p>
            <a:endParaRPr lang="zh-CN" altLang="en-US"/>
          </a:p>
        </p:txBody>
      </p:sp>
      <p:sp>
        <p:nvSpPr>
          <p:cNvPr id="408617" name="Line 41"/>
          <p:cNvSpPr>
            <a:spLocks noChangeShapeType="1"/>
          </p:cNvSpPr>
          <p:nvPr/>
        </p:nvSpPr>
        <p:spPr bwMode="auto">
          <a:xfrm flipH="1">
            <a:off x="6237288" y="2060575"/>
            <a:ext cx="215900" cy="0"/>
          </a:xfrm>
          <a:prstGeom prst="line">
            <a:avLst/>
          </a:prstGeom>
          <a:noFill/>
          <a:ln w="19050">
            <a:solidFill>
              <a:schemeClr val="tx1"/>
            </a:solidFill>
            <a:round/>
            <a:headEnd/>
            <a:tailEnd/>
          </a:ln>
          <a:effectLst/>
        </p:spPr>
        <p:txBody>
          <a:bodyPr wrap="none" anchor="ctr"/>
          <a:lstStyle/>
          <a:p>
            <a:endParaRPr lang="zh-CN" altLang="en-US"/>
          </a:p>
        </p:txBody>
      </p:sp>
      <p:sp>
        <p:nvSpPr>
          <p:cNvPr id="408618" name="Line 42"/>
          <p:cNvSpPr>
            <a:spLocks noChangeShapeType="1"/>
          </p:cNvSpPr>
          <p:nvPr/>
        </p:nvSpPr>
        <p:spPr bwMode="auto">
          <a:xfrm>
            <a:off x="6238875" y="3357563"/>
            <a:ext cx="431800" cy="0"/>
          </a:xfrm>
          <a:prstGeom prst="line">
            <a:avLst/>
          </a:prstGeom>
          <a:noFill/>
          <a:ln w="19050">
            <a:solidFill>
              <a:schemeClr val="tx1"/>
            </a:solidFill>
            <a:round/>
            <a:headEnd/>
            <a:tailEnd/>
          </a:ln>
          <a:effectLst/>
        </p:spPr>
        <p:txBody>
          <a:bodyPr wrap="none" anchor="ctr"/>
          <a:lstStyle/>
          <a:p>
            <a:endParaRPr lang="zh-CN" altLang="en-US"/>
          </a:p>
        </p:txBody>
      </p:sp>
      <p:sp>
        <p:nvSpPr>
          <p:cNvPr id="408619" name="Rectangle 43"/>
          <p:cNvSpPr>
            <a:spLocks noChangeArrowheads="1"/>
          </p:cNvSpPr>
          <p:nvPr/>
        </p:nvSpPr>
        <p:spPr bwMode="auto">
          <a:xfrm>
            <a:off x="6670676" y="3213100"/>
            <a:ext cx="792163" cy="287338"/>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IOxPIN</a:t>
            </a:r>
          </a:p>
        </p:txBody>
      </p:sp>
      <p:sp>
        <p:nvSpPr>
          <p:cNvPr id="408620" name="Rectangle 44"/>
          <p:cNvSpPr>
            <a:spLocks noChangeArrowheads="1"/>
          </p:cNvSpPr>
          <p:nvPr/>
        </p:nvSpPr>
        <p:spPr bwMode="auto">
          <a:xfrm>
            <a:off x="6670676" y="1700213"/>
            <a:ext cx="792163" cy="215900"/>
          </a:xfrm>
          <a:prstGeom prst="rect">
            <a:avLst/>
          </a:prstGeom>
          <a:solidFill>
            <a:srgbClr val="99CCFF"/>
          </a:solidFill>
          <a:ln w="19050">
            <a:solidFill>
              <a:schemeClr val="tx1"/>
            </a:solidFill>
            <a:miter lim="800000"/>
            <a:headEnd/>
            <a:tailEnd/>
          </a:ln>
          <a:effectLst/>
        </p:spPr>
        <p:txBody>
          <a:bodyPr wrap="none" anchor="ctr"/>
          <a:lstStyle/>
          <a:p>
            <a:r>
              <a:rPr lang="en-US" altLang="zh-CN" sz="1400"/>
              <a:t>IOxSET</a:t>
            </a:r>
          </a:p>
        </p:txBody>
      </p:sp>
      <p:sp>
        <p:nvSpPr>
          <p:cNvPr id="408621" name="Text Box 45"/>
          <p:cNvSpPr txBox="1">
            <a:spLocks noChangeArrowheads="1"/>
          </p:cNvSpPr>
          <p:nvPr/>
        </p:nvSpPr>
        <p:spPr bwMode="auto">
          <a:xfrm>
            <a:off x="6021388" y="2205038"/>
            <a:ext cx="360362"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in</a:t>
            </a:r>
          </a:p>
        </p:txBody>
      </p:sp>
      <p:sp>
        <p:nvSpPr>
          <p:cNvPr id="408622" name="Text Box 46"/>
          <p:cNvSpPr txBox="1">
            <a:spLocks noChangeArrowheads="1"/>
          </p:cNvSpPr>
          <p:nvPr/>
        </p:nvSpPr>
        <p:spPr bwMode="auto">
          <a:xfrm>
            <a:off x="6021388" y="1773238"/>
            <a:ext cx="431800"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out</a:t>
            </a:r>
          </a:p>
        </p:txBody>
      </p:sp>
      <p:sp>
        <p:nvSpPr>
          <p:cNvPr id="408623" name="Line 47"/>
          <p:cNvSpPr>
            <a:spLocks noChangeShapeType="1"/>
          </p:cNvSpPr>
          <p:nvPr/>
        </p:nvSpPr>
        <p:spPr bwMode="auto">
          <a:xfrm>
            <a:off x="7031038" y="1917700"/>
            <a:ext cx="0" cy="2159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408624" name="Line 48"/>
          <p:cNvSpPr>
            <a:spLocks noChangeShapeType="1"/>
          </p:cNvSpPr>
          <p:nvPr/>
        </p:nvSpPr>
        <p:spPr bwMode="auto">
          <a:xfrm flipV="1">
            <a:off x="7031038" y="2349500"/>
            <a:ext cx="0" cy="2159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408625" name="Text Box 49"/>
          <p:cNvSpPr txBox="1">
            <a:spLocks noChangeArrowheads="1"/>
          </p:cNvSpPr>
          <p:nvPr/>
        </p:nvSpPr>
        <p:spPr bwMode="auto">
          <a:xfrm>
            <a:off x="7678738" y="1917700"/>
            <a:ext cx="360362"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1</a:t>
            </a:r>
          </a:p>
        </p:txBody>
      </p:sp>
      <p:sp>
        <p:nvSpPr>
          <p:cNvPr id="408626" name="Text Box 50"/>
          <p:cNvSpPr txBox="1">
            <a:spLocks noChangeArrowheads="1"/>
          </p:cNvSpPr>
          <p:nvPr/>
        </p:nvSpPr>
        <p:spPr bwMode="auto">
          <a:xfrm>
            <a:off x="7678738" y="2205038"/>
            <a:ext cx="360362"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0</a:t>
            </a:r>
          </a:p>
        </p:txBody>
      </p:sp>
      <p:sp>
        <p:nvSpPr>
          <p:cNvPr id="408627" name="Line 51"/>
          <p:cNvSpPr>
            <a:spLocks noChangeShapeType="1"/>
          </p:cNvSpPr>
          <p:nvPr/>
        </p:nvSpPr>
        <p:spPr bwMode="auto">
          <a:xfrm>
            <a:off x="4941888" y="2276475"/>
            <a:ext cx="0" cy="1081088"/>
          </a:xfrm>
          <a:prstGeom prst="line">
            <a:avLst/>
          </a:prstGeom>
          <a:noFill/>
          <a:ln w="19050">
            <a:solidFill>
              <a:schemeClr val="tx1"/>
            </a:solidFill>
            <a:round/>
            <a:headEnd/>
            <a:tailEnd/>
          </a:ln>
          <a:effectLst/>
        </p:spPr>
        <p:txBody>
          <a:bodyPr wrap="none" anchor="ctr"/>
          <a:lstStyle/>
          <a:p>
            <a:endParaRPr lang="zh-CN" altLang="en-US"/>
          </a:p>
        </p:txBody>
      </p:sp>
      <p:sp>
        <p:nvSpPr>
          <p:cNvPr id="408628" name="Line 52"/>
          <p:cNvSpPr>
            <a:spLocks noChangeShapeType="1"/>
          </p:cNvSpPr>
          <p:nvPr/>
        </p:nvSpPr>
        <p:spPr bwMode="auto">
          <a:xfrm>
            <a:off x="4941889" y="3357563"/>
            <a:ext cx="1296987" cy="0"/>
          </a:xfrm>
          <a:prstGeom prst="line">
            <a:avLst/>
          </a:prstGeom>
          <a:noFill/>
          <a:ln w="19050">
            <a:solidFill>
              <a:schemeClr val="tx1"/>
            </a:solidFill>
            <a:round/>
            <a:headEnd/>
            <a:tailEnd/>
          </a:ln>
          <a:effectLst/>
        </p:spPr>
        <p:txBody>
          <a:bodyPr wrap="none" anchor="ctr"/>
          <a:lstStyle/>
          <a:p>
            <a:endParaRPr lang="zh-CN" altLang="en-US"/>
          </a:p>
        </p:txBody>
      </p:sp>
      <p:sp>
        <p:nvSpPr>
          <p:cNvPr id="408629" name="Rectangle 53"/>
          <p:cNvSpPr>
            <a:spLocks noChangeArrowheads="1"/>
          </p:cNvSpPr>
          <p:nvPr/>
        </p:nvSpPr>
        <p:spPr bwMode="auto">
          <a:xfrm>
            <a:off x="2782889" y="2492376"/>
            <a:ext cx="358775" cy="360363"/>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8630" name="Rectangle 54"/>
          <p:cNvSpPr>
            <a:spLocks noChangeArrowheads="1"/>
          </p:cNvSpPr>
          <p:nvPr/>
        </p:nvSpPr>
        <p:spPr bwMode="auto">
          <a:xfrm>
            <a:off x="2782889" y="3068638"/>
            <a:ext cx="358775" cy="360362"/>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8631" name="Rectangle 55"/>
          <p:cNvSpPr>
            <a:spLocks noChangeArrowheads="1"/>
          </p:cNvSpPr>
          <p:nvPr/>
        </p:nvSpPr>
        <p:spPr bwMode="auto">
          <a:xfrm>
            <a:off x="2782889" y="1917701"/>
            <a:ext cx="358775" cy="360363"/>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8632" name="Rectangle 56"/>
          <p:cNvSpPr>
            <a:spLocks noChangeArrowheads="1"/>
          </p:cNvSpPr>
          <p:nvPr/>
        </p:nvSpPr>
        <p:spPr bwMode="auto">
          <a:xfrm>
            <a:off x="8974139" y="2492376"/>
            <a:ext cx="358775" cy="360363"/>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8633" name="Rectangle 57"/>
          <p:cNvSpPr>
            <a:spLocks noChangeArrowheads="1"/>
          </p:cNvSpPr>
          <p:nvPr/>
        </p:nvSpPr>
        <p:spPr bwMode="auto">
          <a:xfrm>
            <a:off x="8974139" y="3068638"/>
            <a:ext cx="358775" cy="360362"/>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8634" name="Rectangle 58"/>
          <p:cNvSpPr>
            <a:spLocks noChangeArrowheads="1"/>
          </p:cNvSpPr>
          <p:nvPr/>
        </p:nvSpPr>
        <p:spPr bwMode="auto">
          <a:xfrm>
            <a:off x="8974139" y="1917701"/>
            <a:ext cx="358775" cy="360363"/>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08635" name="Rectangle 59"/>
          <p:cNvSpPr>
            <a:spLocks noGrp="1" noChangeArrowheads="1"/>
          </p:cNvSpPr>
          <p:nvPr>
            <p:ph type="body" sz="half" idx="1"/>
          </p:nvPr>
        </p:nvSpPr>
        <p:spPr>
          <a:xfrm>
            <a:off x="2209800" y="587375"/>
            <a:ext cx="7772400" cy="609600"/>
          </a:xfrm>
          <a:noFill/>
          <a:ln/>
        </p:spPr>
        <p:txBody>
          <a:bodyPr/>
          <a:lstStyle/>
          <a:p>
            <a:r>
              <a:rPr lang="en-US" altLang="zh-CN"/>
              <a:t>GPIO</a:t>
            </a:r>
            <a:r>
              <a:rPr lang="zh-CN" altLang="en-US"/>
              <a:t>相关寄存器描述</a:t>
            </a:r>
            <a:r>
              <a:rPr lang="en-US" altLang="zh-CN"/>
              <a:t>——</a:t>
            </a:r>
            <a:r>
              <a:rPr lang="en-US" altLang="zh-CN">
                <a:solidFill>
                  <a:srgbClr val="FF0000"/>
                </a:solidFill>
              </a:rPr>
              <a:t>IOxCLR</a:t>
            </a:r>
          </a:p>
        </p:txBody>
      </p:sp>
      <p:graphicFrame>
        <p:nvGraphicFramePr>
          <p:cNvPr id="408636" name="Group 60"/>
          <p:cNvGraphicFramePr>
            <a:graphicFrameLocks noGrp="1"/>
          </p:cNvGraphicFramePr>
          <p:nvPr>
            <p:ph sz="half" idx="2"/>
          </p:nvPr>
        </p:nvGraphicFramePr>
        <p:xfrm>
          <a:off x="2136775" y="4127500"/>
          <a:ext cx="7920038" cy="670560"/>
        </p:xfrm>
        <a:graphic>
          <a:graphicData uri="http://schemas.openxmlformats.org/drawingml/2006/table">
            <a:tbl>
              <a:tblPr/>
              <a:tblGrid>
                <a:gridCol w="936625">
                  <a:extLst>
                    <a:ext uri="{9D8B030D-6E8A-4147-A177-3AD203B41FA5}">
                      <a16:colId xmlns:a16="http://schemas.microsoft.com/office/drawing/2014/main" val="20000"/>
                    </a:ext>
                  </a:extLst>
                </a:gridCol>
                <a:gridCol w="6046788">
                  <a:extLst>
                    <a:ext uri="{9D8B030D-6E8A-4147-A177-3AD203B41FA5}">
                      <a16:colId xmlns:a16="http://schemas.microsoft.com/office/drawing/2014/main" val="20001"/>
                    </a:ext>
                  </a:extLst>
                </a:gridCol>
                <a:gridCol w="936625">
                  <a:extLst>
                    <a:ext uri="{9D8B030D-6E8A-4147-A177-3AD203B41FA5}">
                      <a16:colId xmlns:a16="http://schemas.microsoft.com/office/drawing/2014/main" val="20002"/>
                    </a:ext>
                  </a:extLst>
                </a:gridCol>
              </a:tblGrid>
              <a:tr h="217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IOxCLR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rPr>
                        <a:t>描述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rPr>
                        <a:t>复位值</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217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31 : 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rPr>
                        <a:t>输出清零。</a:t>
                      </a:r>
                      <a:r>
                        <a:rPr kumimoji="1" lang="en-US" altLang="zh-CN" sz="1600" b="0" i="0" u="none" strike="noStrike" cap="none" normalizeH="0" baseline="0">
                          <a:ln>
                            <a:noFill/>
                          </a:ln>
                          <a:solidFill>
                            <a:schemeClr val="tx1"/>
                          </a:solidFill>
                          <a:effectLst/>
                          <a:latin typeface="Times New Roman" pitchFamily="18" charset="0"/>
                          <a:ea typeface="宋体" pitchFamily="2" charset="-122"/>
                        </a:rPr>
                        <a:t>IOxCLR[0]</a:t>
                      </a:r>
                      <a:r>
                        <a:rPr kumimoji="1" lang="zh-CN" altLang="en-US" sz="1600" b="0" i="0" u="none" strike="noStrike" cap="none" normalizeH="0" baseline="0">
                          <a:ln>
                            <a:noFill/>
                          </a:ln>
                          <a:solidFill>
                            <a:schemeClr val="tx1"/>
                          </a:solidFill>
                          <a:effectLst/>
                          <a:latin typeface="Times New Roman" pitchFamily="18" charset="0"/>
                          <a:ea typeface="宋体" pitchFamily="2" charset="-122"/>
                        </a:rPr>
                        <a:t>对应于</a:t>
                      </a:r>
                      <a:r>
                        <a:rPr kumimoji="1" lang="en-US" altLang="zh-CN" sz="1600" b="0" i="0" u="none" strike="noStrike" cap="none" normalizeH="0" baseline="0">
                          <a:ln>
                            <a:noFill/>
                          </a:ln>
                          <a:solidFill>
                            <a:schemeClr val="tx1"/>
                          </a:solidFill>
                          <a:effectLst/>
                          <a:latin typeface="Times New Roman" pitchFamily="18" charset="0"/>
                          <a:ea typeface="宋体" pitchFamily="2" charset="-122"/>
                        </a:rPr>
                        <a:t>Px.0 … IOxCLR[31]</a:t>
                      </a:r>
                      <a:r>
                        <a:rPr kumimoji="1" lang="zh-CN" altLang="en-US" sz="1600" b="0" i="0" u="none" strike="noStrike" cap="none" normalizeH="0" baseline="0">
                          <a:ln>
                            <a:noFill/>
                          </a:ln>
                          <a:solidFill>
                            <a:schemeClr val="tx1"/>
                          </a:solidFill>
                          <a:effectLst/>
                          <a:latin typeface="Times New Roman" pitchFamily="18" charset="0"/>
                          <a:ea typeface="宋体" pitchFamily="2" charset="-122"/>
                        </a:rPr>
                        <a:t>对应于</a:t>
                      </a:r>
                      <a:r>
                        <a:rPr kumimoji="1" lang="en-US" altLang="zh-CN" sz="1600" b="0" i="0" u="none" strike="noStrike" cap="none" normalizeH="0" baseline="0">
                          <a:ln>
                            <a:noFill/>
                          </a:ln>
                          <a:solidFill>
                            <a:schemeClr val="tx1"/>
                          </a:solidFill>
                          <a:effectLst/>
                          <a:latin typeface="Times New Roman" pitchFamily="18" charset="0"/>
                          <a:ea typeface="宋体" pitchFamily="2" charset="-122"/>
                        </a:rPr>
                        <a:t>Px.31</a:t>
                      </a:r>
                      <a:r>
                        <a:rPr kumimoji="1" lang="zh-CN" altLang="en-US" sz="1600" b="0" i="0" u="none" strike="noStrike" cap="none" normalizeH="0" baseline="0">
                          <a:ln>
                            <a:noFill/>
                          </a:ln>
                          <a:solidFill>
                            <a:schemeClr val="tx1"/>
                          </a:solidFill>
                          <a:effectLst/>
                          <a:latin typeface="Times New Roman" pitchFamily="18" charset="0"/>
                          <a:ea typeface="宋体" pitchFamily="2" charset="-122"/>
                        </a:rPr>
                        <a:t>引脚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bl>
          </a:graphicData>
        </a:graphic>
      </p:graphicFrame>
      <p:sp>
        <p:nvSpPr>
          <p:cNvPr id="408650" name="Text Box 74"/>
          <p:cNvSpPr txBox="1">
            <a:spLocks noChangeArrowheads="1"/>
          </p:cNvSpPr>
          <p:nvPr/>
        </p:nvSpPr>
        <p:spPr bwMode="auto">
          <a:xfrm>
            <a:off x="2298701" y="5084763"/>
            <a:ext cx="7542213" cy="1054100"/>
          </a:xfrm>
          <a:prstGeom prst="rect">
            <a:avLst/>
          </a:prstGeom>
          <a:solidFill>
            <a:srgbClr val="DDDDDD">
              <a:alpha val="30000"/>
            </a:srgbClr>
          </a:solidFill>
          <a:ln w="9525">
            <a:noFill/>
            <a:miter lim="800000"/>
            <a:headEnd/>
            <a:tailEnd/>
          </a:ln>
          <a:effectLst/>
        </p:spPr>
        <p:txBody>
          <a:bodyPr>
            <a:spAutoFit/>
          </a:bodyPr>
          <a:lstStyle/>
          <a:p>
            <a:pPr algn="l">
              <a:spcBef>
                <a:spcPct val="50000"/>
              </a:spcBef>
            </a:pPr>
            <a:r>
              <a:rPr lang="en-US" altLang="zh-CN">
                <a:latin typeface="华文新魏" pitchFamily="2" charset="-122"/>
                <a:ea typeface="华文新魏" pitchFamily="2" charset="-122"/>
              </a:rPr>
              <a:t>        </a:t>
            </a:r>
            <a:r>
              <a:rPr lang="zh-CN" altLang="en-US">
                <a:latin typeface="华文新魏" pitchFamily="2" charset="-122"/>
                <a:ea typeface="华文新魏" pitchFamily="2" charset="-122"/>
              </a:rPr>
              <a:t>当引脚设置为</a:t>
            </a:r>
            <a:r>
              <a:rPr lang="en-US" altLang="zh-CN">
                <a:latin typeface="华文新魏" pitchFamily="2" charset="-122"/>
                <a:ea typeface="华文新魏" pitchFamily="2" charset="-122"/>
              </a:rPr>
              <a:t>GPIO</a:t>
            </a:r>
            <a:r>
              <a:rPr lang="zh-CN" altLang="en-US">
                <a:latin typeface="华文新魏" pitchFamily="2" charset="-122"/>
                <a:ea typeface="华文新魏" pitchFamily="2" charset="-122"/>
              </a:rPr>
              <a:t>输出模式时，可使用该寄存器从引脚输出</a:t>
            </a:r>
            <a:r>
              <a:rPr lang="zh-CN" altLang="en-US">
                <a:solidFill>
                  <a:srgbClr val="FF0000"/>
                </a:solidFill>
                <a:latin typeface="华文新魏" pitchFamily="2" charset="-122"/>
                <a:ea typeface="华文新魏" pitchFamily="2" charset="-122"/>
              </a:rPr>
              <a:t>低</a:t>
            </a:r>
            <a:r>
              <a:rPr lang="zh-CN" altLang="en-US">
                <a:latin typeface="华文新魏" pitchFamily="2" charset="-122"/>
                <a:ea typeface="华文新魏" pitchFamily="2" charset="-122"/>
              </a:rPr>
              <a:t>电平。向某位写入</a:t>
            </a:r>
            <a:r>
              <a:rPr lang="en-US" altLang="zh-CN">
                <a:latin typeface="华文新魏" pitchFamily="2" charset="-122"/>
                <a:ea typeface="华文新魏" pitchFamily="2" charset="-122"/>
              </a:rPr>
              <a:t>1</a:t>
            </a:r>
            <a:r>
              <a:rPr lang="zh-CN" altLang="en-US">
                <a:latin typeface="华文新魏" pitchFamily="2" charset="-122"/>
                <a:ea typeface="华文新魏" pitchFamily="2" charset="-122"/>
              </a:rPr>
              <a:t>使对应引脚输出低电平。写入</a:t>
            </a:r>
            <a:r>
              <a:rPr lang="en-US" altLang="zh-CN">
                <a:latin typeface="华文新魏" pitchFamily="2" charset="-122"/>
                <a:ea typeface="华文新魏" pitchFamily="2" charset="-122"/>
              </a:rPr>
              <a:t>0</a:t>
            </a:r>
            <a:r>
              <a:rPr lang="zh-CN" altLang="en-US">
                <a:latin typeface="华文新魏" pitchFamily="2" charset="-122"/>
                <a:ea typeface="华文新魏" pitchFamily="2" charset="-122"/>
              </a:rPr>
              <a:t>无效。</a:t>
            </a:r>
          </a:p>
          <a:p>
            <a:pPr algn="l">
              <a:spcBef>
                <a:spcPct val="50000"/>
              </a:spcBef>
            </a:pPr>
            <a:r>
              <a:rPr lang="zh-CN" altLang="en-US">
                <a:solidFill>
                  <a:srgbClr val="FF0000"/>
                </a:solidFill>
                <a:latin typeface="华文新魏" pitchFamily="2" charset="-122"/>
                <a:ea typeface="华文新魏" pitchFamily="2" charset="-122"/>
              </a:rPr>
              <a:t>注意：</a:t>
            </a:r>
            <a:r>
              <a:rPr lang="zh-CN" altLang="en-US">
                <a:latin typeface="华文新魏" pitchFamily="2" charset="-122"/>
                <a:ea typeface="华文新魏" pitchFamily="2" charset="-122"/>
              </a:rPr>
              <a:t>读取该寄存器无效，不能读回输出寄存器的值。</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08635">
                                            <p:txEl>
                                              <p:pRg st="0" end="0"/>
                                            </p:txEl>
                                          </p:spTgt>
                                        </p:tgtEl>
                                        <p:attrNameLst>
                                          <p:attrName>style.visibility</p:attrName>
                                        </p:attrNameLst>
                                      </p:cBhvr>
                                      <p:to>
                                        <p:strVal val="visible"/>
                                      </p:to>
                                    </p:set>
                                    <p:anim calcmode="lin" valueType="num">
                                      <p:cBhvr additive="base">
                                        <p:cTn id="7" dur="500" fill="hold"/>
                                        <p:tgtEl>
                                          <p:spTgt spid="40863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08635">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8" fill="hold" nodeType="afterEffect">
                                  <p:stCondLst>
                                    <p:cond delay="0"/>
                                  </p:stCondLst>
                                  <p:childTnLst>
                                    <p:set>
                                      <p:cBhvr>
                                        <p:cTn id="11" dur="1" fill="hold">
                                          <p:stCondLst>
                                            <p:cond delay="0"/>
                                          </p:stCondLst>
                                        </p:cTn>
                                        <p:tgtEl>
                                          <p:spTgt spid="408636"/>
                                        </p:tgtEl>
                                        <p:attrNameLst>
                                          <p:attrName>style.visibility</p:attrName>
                                        </p:attrNameLst>
                                      </p:cBhvr>
                                      <p:to>
                                        <p:strVal val="visible"/>
                                      </p:to>
                                    </p:set>
                                    <p:anim calcmode="lin" valueType="num">
                                      <p:cBhvr additive="base">
                                        <p:cTn id="12" dur="500" fill="hold"/>
                                        <p:tgtEl>
                                          <p:spTgt spid="408636"/>
                                        </p:tgtEl>
                                        <p:attrNameLst>
                                          <p:attrName>ppt_x</p:attrName>
                                        </p:attrNameLst>
                                      </p:cBhvr>
                                      <p:tavLst>
                                        <p:tav tm="0">
                                          <p:val>
                                            <p:strVal val="0-#ppt_w/2"/>
                                          </p:val>
                                        </p:tav>
                                        <p:tav tm="100000">
                                          <p:val>
                                            <p:strVal val="#ppt_x"/>
                                          </p:val>
                                        </p:tav>
                                      </p:tavLst>
                                    </p:anim>
                                    <p:anim calcmode="lin" valueType="num">
                                      <p:cBhvr additive="base">
                                        <p:cTn id="13" dur="500" fill="hold"/>
                                        <p:tgtEl>
                                          <p:spTgt spid="408636"/>
                                        </p:tgtEl>
                                        <p:attrNameLst>
                                          <p:attrName>ppt_y</p:attrName>
                                        </p:attrNameLst>
                                      </p:cBhvr>
                                      <p:tavLst>
                                        <p:tav tm="0">
                                          <p:val>
                                            <p:strVal val="#ppt_y"/>
                                          </p:val>
                                        </p:tav>
                                        <p:tav tm="100000">
                                          <p:val>
                                            <p:strVal val="#ppt_y"/>
                                          </p:val>
                                        </p:tav>
                                      </p:tavLst>
                                    </p:anim>
                                  </p:childTnLst>
                                </p:cTn>
                              </p:par>
                            </p:childTnLst>
                          </p:cTn>
                        </p:par>
                        <p:par>
                          <p:cTn id="14" fill="hold">
                            <p:stCondLst>
                              <p:cond delay="1500"/>
                            </p:stCondLst>
                            <p:childTnLst>
                              <p:par>
                                <p:cTn id="15" presetID="12" presetClass="entr" presetSubtype="4" fill="hold" nodeType="afterEffect">
                                  <p:stCondLst>
                                    <p:cond delay="0"/>
                                  </p:stCondLst>
                                  <p:childTnLst>
                                    <p:set>
                                      <p:cBhvr>
                                        <p:cTn id="16" dur="1" fill="hold">
                                          <p:stCondLst>
                                            <p:cond delay="0"/>
                                          </p:stCondLst>
                                        </p:cTn>
                                        <p:tgtEl>
                                          <p:spTgt spid="408650"/>
                                        </p:tgtEl>
                                        <p:attrNameLst>
                                          <p:attrName>style.visibility</p:attrName>
                                        </p:attrNameLst>
                                      </p:cBhvr>
                                      <p:to>
                                        <p:strVal val="visible"/>
                                      </p:to>
                                    </p:set>
                                    <p:animEffect transition="in" filter="slide(fromBottom)">
                                      <p:cBhvr>
                                        <p:cTn id="17" dur="500"/>
                                        <p:tgtEl>
                                          <p:spTgt spid="408650"/>
                                        </p:tgtEl>
                                      </p:cBhvr>
                                    </p:animEffect>
                                  </p:childTnLst>
                                </p:cTn>
                              </p:par>
                            </p:childTnLst>
                          </p:cTn>
                        </p:par>
                        <p:par>
                          <p:cTn id="18" fill="hold">
                            <p:stCondLst>
                              <p:cond delay="2000"/>
                            </p:stCondLst>
                            <p:childTnLst>
                              <p:par>
                                <p:cTn id="19" presetID="34" presetClass="emph" presetSubtype="0" fill="hold" grpId="0" nodeType="afterEffect">
                                  <p:stCondLst>
                                    <p:cond delay="0"/>
                                  </p:stCondLst>
                                  <p:iterate type="lt">
                                    <p:tmPct val="10000"/>
                                  </p:iterate>
                                  <p:childTnLst>
                                    <p:animMotion origin="layout" path="M -1.11111E-6 -3.33333E-6 L -1.11111E-6 -0.04722 " pathEditMode="relative" rAng="0" ptsTypes="AA">
                                      <p:cBhvr>
                                        <p:cTn id="20" dur="250" accel="50000" decel="50000" autoRev="1" fill="hold">
                                          <p:stCondLst>
                                            <p:cond delay="0"/>
                                          </p:stCondLst>
                                        </p:cTn>
                                        <p:tgtEl>
                                          <p:spTgt spid="408606"/>
                                        </p:tgtEl>
                                        <p:attrNameLst>
                                          <p:attrName>ppt_x</p:attrName>
                                          <p:attrName>ppt_y</p:attrName>
                                        </p:attrNameLst>
                                      </p:cBhvr>
                                      <p:rCtr x="0" y="-24"/>
                                    </p:animMotion>
                                    <p:animRot by="1500000">
                                      <p:cBhvr>
                                        <p:cTn id="21" dur="125" fill="hold">
                                          <p:stCondLst>
                                            <p:cond delay="0"/>
                                          </p:stCondLst>
                                        </p:cTn>
                                        <p:tgtEl>
                                          <p:spTgt spid="408606"/>
                                        </p:tgtEl>
                                        <p:attrNameLst>
                                          <p:attrName>r</p:attrName>
                                        </p:attrNameLst>
                                      </p:cBhvr>
                                    </p:animRot>
                                    <p:animRot by="-1500000">
                                      <p:cBhvr>
                                        <p:cTn id="22" dur="125" fill="hold">
                                          <p:stCondLst>
                                            <p:cond delay="125"/>
                                          </p:stCondLst>
                                        </p:cTn>
                                        <p:tgtEl>
                                          <p:spTgt spid="408606"/>
                                        </p:tgtEl>
                                        <p:attrNameLst>
                                          <p:attrName>r</p:attrName>
                                        </p:attrNameLst>
                                      </p:cBhvr>
                                    </p:animRot>
                                    <p:animRot by="-1500000">
                                      <p:cBhvr>
                                        <p:cTn id="23" dur="125" fill="hold">
                                          <p:stCondLst>
                                            <p:cond delay="250"/>
                                          </p:stCondLst>
                                        </p:cTn>
                                        <p:tgtEl>
                                          <p:spTgt spid="408606"/>
                                        </p:tgtEl>
                                        <p:attrNameLst>
                                          <p:attrName>r</p:attrName>
                                        </p:attrNameLst>
                                      </p:cBhvr>
                                    </p:animRot>
                                    <p:animRot by="1500000">
                                      <p:cBhvr>
                                        <p:cTn id="24" dur="125" fill="hold">
                                          <p:stCondLst>
                                            <p:cond delay="375"/>
                                          </p:stCondLst>
                                        </p:cTn>
                                        <p:tgtEl>
                                          <p:spTgt spid="40860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606" grpId="0" animBg="1"/>
      <p:bldP spid="408635"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a:xfrm>
            <a:off x="2209800" y="620713"/>
            <a:ext cx="7772400" cy="1143000"/>
          </a:xfrm>
          <a:noFill/>
          <a:ln/>
        </p:spPr>
        <p:txBody>
          <a:bodyPr/>
          <a:lstStyle/>
          <a:p>
            <a:r>
              <a:rPr lang="en-US" altLang="zh-CN" dirty="0"/>
              <a:t>5.2.4  GPIO</a:t>
            </a:r>
          </a:p>
        </p:txBody>
      </p:sp>
      <p:sp>
        <p:nvSpPr>
          <p:cNvPr id="409603" name="Rectangle 3"/>
          <p:cNvSpPr>
            <a:spLocks noGrp="1" noChangeArrowheads="1"/>
          </p:cNvSpPr>
          <p:nvPr>
            <p:ph idx="1"/>
          </p:nvPr>
        </p:nvSpPr>
        <p:spPr>
          <a:xfrm>
            <a:off x="2209800" y="1981200"/>
            <a:ext cx="7772400" cy="609600"/>
          </a:xfrm>
          <a:noFill/>
          <a:ln/>
        </p:spPr>
        <p:txBody>
          <a:bodyPr/>
          <a:lstStyle/>
          <a:p>
            <a:r>
              <a:rPr lang="zh-CN" altLang="en-US"/>
              <a:t>使用</a:t>
            </a:r>
            <a:r>
              <a:rPr lang="en-US" altLang="zh-CN"/>
              <a:t>GPIO</a:t>
            </a:r>
            <a:r>
              <a:rPr lang="zh-CN" altLang="en-US"/>
              <a:t>注意要点</a:t>
            </a:r>
          </a:p>
        </p:txBody>
      </p:sp>
      <p:sp>
        <p:nvSpPr>
          <p:cNvPr id="409604" name="Text Box 4"/>
          <p:cNvSpPr txBox="1">
            <a:spLocks noChangeArrowheads="1"/>
          </p:cNvSpPr>
          <p:nvPr/>
        </p:nvSpPr>
        <p:spPr bwMode="auto">
          <a:xfrm>
            <a:off x="2657476" y="2819400"/>
            <a:ext cx="6894513" cy="2677656"/>
          </a:xfrm>
          <a:prstGeom prst="rect">
            <a:avLst/>
          </a:prstGeom>
          <a:noFill/>
          <a:ln w="9525">
            <a:noFill/>
            <a:miter lim="800000"/>
            <a:headEnd/>
            <a:tailEnd/>
          </a:ln>
          <a:effectLst/>
        </p:spPr>
        <p:txBody>
          <a:bodyPr>
            <a:spAutoFit/>
          </a:bodyPr>
          <a:lstStyle/>
          <a:p>
            <a:pPr algn="l">
              <a:spcBef>
                <a:spcPct val="50000"/>
              </a:spcBef>
              <a:buClr>
                <a:srgbClr val="0000FF"/>
              </a:buClr>
              <a:buFont typeface="Wingdings" pitchFamily="2" charset="2"/>
              <a:buChar char="§"/>
            </a:pPr>
            <a:r>
              <a:rPr lang="zh-CN" altLang="en-US" sz="2400">
                <a:latin typeface="华文新魏" pitchFamily="2" charset="-122"/>
                <a:ea typeface="华文新魏" pitchFamily="2" charset="-122"/>
              </a:rPr>
              <a:t>引脚设置为输出方式时，输出状态由</a:t>
            </a:r>
            <a:r>
              <a:rPr lang="en-US" altLang="zh-CN" sz="2400">
                <a:latin typeface="华文新魏" pitchFamily="2" charset="-122"/>
                <a:ea typeface="华文新魏" pitchFamily="2" charset="-122"/>
              </a:rPr>
              <a:t>IOxSET</a:t>
            </a:r>
            <a:r>
              <a:rPr lang="zh-CN" altLang="en-US" sz="2400">
                <a:latin typeface="华文新魏" pitchFamily="2" charset="-122"/>
                <a:ea typeface="华文新魏" pitchFamily="2" charset="-122"/>
              </a:rPr>
              <a:t>和</a:t>
            </a:r>
            <a:r>
              <a:rPr lang="en-US" altLang="zh-CN" sz="2400">
                <a:latin typeface="华文新魏" pitchFamily="2" charset="-122"/>
                <a:ea typeface="华文新魏" pitchFamily="2" charset="-122"/>
              </a:rPr>
              <a:t>IOxCLR</a:t>
            </a:r>
            <a:r>
              <a:rPr lang="zh-CN" altLang="en-US" sz="2400">
                <a:latin typeface="华文新魏" pitchFamily="2" charset="-122"/>
                <a:ea typeface="华文新魏" pitchFamily="2" charset="-122"/>
              </a:rPr>
              <a:t>中最后操作的寄存器决定；</a:t>
            </a:r>
          </a:p>
          <a:p>
            <a:pPr algn="l">
              <a:spcBef>
                <a:spcPct val="50000"/>
              </a:spcBef>
              <a:buClr>
                <a:srgbClr val="0000FF"/>
              </a:buClr>
              <a:buFont typeface="Wingdings" pitchFamily="2" charset="2"/>
              <a:buChar char="§"/>
            </a:pPr>
            <a:r>
              <a:rPr lang="zh-CN" altLang="en-US" sz="2400">
                <a:latin typeface="华文新魏" pitchFamily="2" charset="-122"/>
                <a:ea typeface="华文新魏" pitchFamily="2" charset="-122"/>
              </a:rPr>
              <a:t>大部分</a:t>
            </a:r>
            <a:r>
              <a:rPr lang="en-US" altLang="zh-CN" sz="2400">
                <a:latin typeface="华文新魏" pitchFamily="2" charset="-122"/>
                <a:ea typeface="华文新魏" pitchFamily="2" charset="-122"/>
              </a:rPr>
              <a:t>GPIO</a:t>
            </a:r>
            <a:r>
              <a:rPr lang="zh-CN" altLang="en-US" sz="2400">
                <a:latin typeface="华文新魏" pitchFamily="2" charset="-122"/>
                <a:ea typeface="华文新魏" pitchFamily="2" charset="-122"/>
              </a:rPr>
              <a:t>输出为</a:t>
            </a:r>
            <a:r>
              <a:rPr lang="zh-CN" altLang="en-US" sz="2400">
                <a:solidFill>
                  <a:srgbClr val="FF0000"/>
                </a:solidFill>
                <a:latin typeface="华文新魏" pitchFamily="2" charset="-122"/>
                <a:ea typeface="华文新魏" pitchFamily="2" charset="-122"/>
              </a:rPr>
              <a:t>推挽</a:t>
            </a:r>
            <a:r>
              <a:rPr lang="zh-CN" altLang="en-US" sz="2400">
                <a:latin typeface="华文新魏" pitchFamily="2" charset="-122"/>
                <a:ea typeface="华文新魏" pitchFamily="2" charset="-122"/>
              </a:rPr>
              <a:t>方式（个别引脚为开漏输出），正常拉出</a:t>
            </a:r>
            <a:r>
              <a:rPr lang="en-US" altLang="zh-CN" sz="2400">
                <a:latin typeface="华文新魏" pitchFamily="2" charset="-122"/>
                <a:ea typeface="华文新魏" pitchFamily="2" charset="-122"/>
              </a:rPr>
              <a:t>/</a:t>
            </a:r>
            <a:r>
              <a:rPr lang="zh-CN" altLang="en-US" sz="2400">
                <a:latin typeface="华文新魏" pitchFamily="2" charset="-122"/>
                <a:ea typeface="华文新魏" pitchFamily="2" charset="-122"/>
              </a:rPr>
              <a:t>灌入电流均为</a:t>
            </a:r>
            <a:r>
              <a:rPr lang="en-US" altLang="zh-CN" sz="2400">
                <a:latin typeface="华文新魏" pitchFamily="2" charset="-122"/>
                <a:ea typeface="华文新魏" pitchFamily="2" charset="-122"/>
              </a:rPr>
              <a:t>4mA</a:t>
            </a:r>
            <a:r>
              <a:rPr lang="zh-CN" altLang="en-US" sz="2400">
                <a:latin typeface="华文新魏" pitchFamily="2" charset="-122"/>
                <a:ea typeface="华文新魏" pitchFamily="2" charset="-122"/>
              </a:rPr>
              <a:t>（短时间极限值</a:t>
            </a:r>
            <a:r>
              <a:rPr lang="en-US" altLang="zh-CN" sz="2400">
                <a:latin typeface="华文新魏" pitchFamily="2" charset="-122"/>
                <a:ea typeface="华文新魏" pitchFamily="2" charset="-122"/>
              </a:rPr>
              <a:t>40mA</a:t>
            </a:r>
            <a:r>
              <a:rPr lang="zh-CN" altLang="en-US" sz="2400">
                <a:latin typeface="华文新魏" pitchFamily="2" charset="-122"/>
                <a:ea typeface="华文新魏" pitchFamily="2" charset="-122"/>
              </a:rPr>
              <a:t>）；</a:t>
            </a:r>
          </a:p>
          <a:p>
            <a:pPr algn="l">
              <a:spcBef>
                <a:spcPct val="50000"/>
              </a:spcBef>
              <a:buClr>
                <a:srgbClr val="0000FF"/>
              </a:buClr>
              <a:buFont typeface="Wingdings" pitchFamily="2" charset="2"/>
              <a:buChar char="§"/>
            </a:pPr>
            <a:r>
              <a:rPr lang="zh-CN" altLang="en-US" sz="2400">
                <a:latin typeface="华文新魏" pitchFamily="2" charset="-122"/>
                <a:ea typeface="华文新魏" pitchFamily="2" charset="-122"/>
              </a:rPr>
              <a:t>复位后默认所有</a:t>
            </a:r>
            <a:r>
              <a:rPr lang="en-US" altLang="zh-CN" sz="2400">
                <a:latin typeface="华文新魏" pitchFamily="2" charset="-122"/>
                <a:ea typeface="华文新魏" pitchFamily="2" charset="-122"/>
              </a:rPr>
              <a:t>GPIO</a:t>
            </a:r>
            <a:r>
              <a:rPr lang="zh-CN" altLang="en-US" sz="2400">
                <a:latin typeface="华文新魏" pitchFamily="2" charset="-122"/>
                <a:ea typeface="华文新魏" pitchFamily="2" charset="-122"/>
              </a:rPr>
              <a:t>为输入模式。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409603">
                                            <p:txEl>
                                              <p:pRg st="0" end="0"/>
                                            </p:txEl>
                                          </p:spTgt>
                                        </p:tgtEl>
                                        <p:attrNameLst>
                                          <p:attrName>style.visibility</p:attrName>
                                        </p:attrNameLst>
                                      </p:cBhvr>
                                      <p:to>
                                        <p:strVal val="visible"/>
                                      </p:to>
                                    </p:set>
                                    <p:anim calcmode="lin" valueType="num">
                                      <p:cBhvr additive="base">
                                        <p:cTn id="7" dur="500" fill="hold"/>
                                        <p:tgtEl>
                                          <p:spTgt spid="40960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0960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409604"/>
                                        </p:tgtEl>
                                        <p:attrNameLst>
                                          <p:attrName>style.visibility</p:attrName>
                                        </p:attrNameLst>
                                      </p:cBhvr>
                                      <p:to>
                                        <p:strVal val="visible"/>
                                      </p:to>
                                    </p:set>
                                    <p:animEffect transition="in" filter="box(in)">
                                      <p:cBhvr>
                                        <p:cTn id="12" dur="500"/>
                                        <p:tgtEl>
                                          <p:spTgt spid="409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03" grpId="0" build="p" autoUpdateAnimBg="0" advAuto="0"/>
      <p:bldP spid="409604"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0626" name="Rectangle 2"/>
          <p:cNvSpPr>
            <a:spLocks noChangeArrowheads="1"/>
          </p:cNvSpPr>
          <p:nvPr/>
        </p:nvSpPr>
        <p:spPr bwMode="auto">
          <a:xfrm>
            <a:off x="2711450" y="4424364"/>
            <a:ext cx="3733800" cy="1812925"/>
          </a:xfrm>
          <a:prstGeom prst="rect">
            <a:avLst/>
          </a:prstGeom>
          <a:solidFill>
            <a:schemeClr val="bg1"/>
          </a:solidFill>
          <a:ln w="9525">
            <a:solidFill>
              <a:schemeClr val="tx1"/>
            </a:solidFill>
            <a:miter lim="800000"/>
            <a:headEnd/>
            <a:tailEnd/>
          </a:ln>
          <a:effectLst/>
        </p:spPr>
        <p:txBody>
          <a:bodyPr>
            <a:spAutoFit/>
          </a:bodyPr>
          <a:lstStyle/>
          <a:p>
            <a:pPr algn="l">
              <a:spcBef>
                <a:spcPct val="50000"/>
              </a:spcBef>
            </a:pPr>
            <a:r>
              <a:rPr lang="en-US" altLang="zh-CN" sz="1600">
                <a:ea typeface="华文新魏" pitchFamily="2" charset="-122"/>
              </a:rPr>
              <a:t>    ...</a:t>
            </a:r>
          </a:p>
          <a:p>
            <a:pPr algn="l">
              <a:spcBef>
                <a:spcPct val="50000"/>
              </a:spcBef>
            </a:pPr>
            <a:r>
              <a:rPr lang="en-US" altLang="zh-CN" sz="1600">
                <a:ea typeface="华文新魏" pitchFamily="2" charset="-122"/>
              </a:rPr>
              <a:t>    PINSEL0 &amp;= 0xFFFFFFFC;</a:t>
            </a:r>
          </a:p>
          <a:p>
            <a:pPr algn="l">
              <a:spcBef>
                <a:spcPct val="50000"/>
              </a:spcBef>
            </a:pPr>
            <a:r>
              <a:rPr lang="en-US" altLang="zh-CN" sz="1600">
                <a:ea typeface="华文新魏" pitchFamily="2" charset="-122"/>
              </a:rPr>
              <a:t>    IO0DIR  |= 0x00000001;</a:t>
            </a:r>
          </a:p>
          <a:p>
            <a:pPr algn="l">
              <a:spcBef>
                <a:spcPct val="50000"/>
              </a:spcBef>
            </a:pPr>
            <a:r>
              <a:rPr lang="en-US" altLang="zh-CN" sz="1600">
                <a:ea typeface="华文新魏" pitchFamily="2" charset="-122"/>
              </a:rPr>
              <a:t>    IO0SET   = 0x00000001;</a:t>
            </a:r>
          </a:p>
          <a:p>
            <a:pPr algn="l">
              <a:spcBef>
                <a:spcPct val="50000"/>
              </a:spcBef>
            </a:pPr>
            <a:r>
              <a:rPr lang="en-US" altLang="zh-CN" sz="1600">
                <a:ea typeface="华文新魏" pitchFamily="2" charset="-122"/>
              </a:rPr>
              <a:t>    ...</a:t>
            </a:r>
          </a:p>
        </p:txBody>
      </p:sp>
      <p:sp>
        <p:nvSpPr>
          <p:cNvPr id="410627" name="Text Box 3"/>
          <p:cNvSpPr txBox="1">
            <a:spLocks noChangeArrowheads="1"/>
          </p:cNvSpPr>
          <p:nvPr/>
        </p:nvSpPr>
        <p:spPr bwMode="auto">
          <a:xfrm>
            <a:off x="3708400" y="4043364"/>
            <a:ext cx="1828800" cy="396875"/>
          </a:xfrm>
          <a:prstGeom prst="rect">
            <a:avLst/>
          </a:prstGeom>
          <a:noFill/>
          <a:ln w="9525">
            <a:noFill/>
            <a:miter lim="800000"/>
            <a:headEnd/>
            <a:tailEnd/>
          </a:ln>
          <a:effectLst/>
        </p:spPr>
        <p:txBody>
          <a:bodyPr>
            <a:spAutoFit/>
          </a:bodyPr>
          <a:lstStyle/>
          <a:p>
            <a:pPr>
              <a:spcBef>
                <a:spcPct val="50000"/>
              </a:spcBef>
            </a:pPr>
            <a:r>
              <a:rPr lang="en-US" altLang="zh-CN" sz="2000">
                <a:latin typeface="华文新魏" pitchFamily="2" charset="-122"/>
                <a:ea typeface="华文新魏" pitchFamily="2" charset="-122"/>
              </a:rPr>
              <a:t>C</a:t>
            </a:r>
            <a:r>
              <a:rPr lang="zh-CN" altLang="en-US" sz="2000">
                <a:latin typeface="华文新魏" pitchFamily="2" charset="-122"/>
                <a:ea typeface="华文新魏" pitchFamily="2" charset="-122"/>
              </a:rPr>
              <a:t>代码：</a:t>
            </a:r>
          </a:p>
        </p:txBody>
      </p:sp>
      <p:sp>
        <p:nvSpPr>
          <p:cNvPr id="410628" name="Rectangle 4"/>
          <p:cNvSpPr>
            <a:spLocks noChangeArrowheads="1"/>
          </p:cNvSpPr>
          <p:nvPr/>
        </p:nvSpPr>
        <p:spPr bwMode="auto">
          <a:xfrm>
            <a:off x="3144839" y="1557339"/>
            <a:ext cx="5832475" cy="2376487"/>
          </a:xfrm>
          <a:prstGeom prst="rect">
            <a:avLst/>
          </a:prstGeom>
          <a:noFill/>
          <a:ln w="19050">
            <a:solidFill>
              <a:schemeClr val="tx1"/>
            </a:solidFill>
            <a:miter lim="800000"/>
            <a:headEnd/>
            <a:tailEnd/>
          </a:ln>
          <a:effectLst/>
        </p:spPr>
        <p:txBody>
          <a:bodyPr wrap="none" anchor="ctr"/>
          <a:lstStyle/>
          <a:p>
            <a:endParaRPr lang="zh-CN" altLang="en-US"/>
          </a:p>
        </p:txBody>
      </p:sp>
      <p:sp>
        <p:nvSpPr>
          <p:cNvPr id="410629" name="Rectangle 5"/>
          <p:cNvSpPr>
            <a:spLocks noChangeArrowheads="1"/>
          </p:cNvSpPr>
          <p:nvPr/>
        </p:nvSpPr>
        <p:spPr bwMode="auto">
          <a:xfrm>
            <a:off x="3649663" y="2133600"/>
            <a:ext cx="792162" cy="1295400"/>
          </a:xfrm>
          <a:prstGeom prst="rect">
            <a:avLst/>
          </a:prstGeom>
          <a:noFill/>
          <a:ln w="19050">
            <a:solidFill>
              <a:schemeClr val="tx1"/>
            </a:solidFill>
            <a:miter lim="800000"/>
            <a:headEnd/>
            <a:tailEnd/>
          </a:ln>
          <a:effectLst/>
        </p:spPr>
        <p:txBody>
          <a:bodyPr wrap="none" anchor="ctr"/>
          <a:lstStyle/>
          <a:p>
            <a:endParaRPr lang="zh-CN" altLang="en-US"/>
          </a:p>
        </p:txBody>
      </p:sp>
      <p:sp>
        <p:nvSpPr>
          <p:cNvPr id="410630" name="Rectangle 6"/>
          <p:cNvSpPr>
            <a:spLocks noChangeArrowheads="1"/>
          </p:cNvSpPr>
          <p:nvPr/>
        </p:nvSpPr>
        <p:spPr bwMode="auto">
          <a:xfrm>
            <a:off x="3649663" y="3429000"/>
            <a:ext cx="792162" cy="215900"/>
          </a:xfrm>
          <a:prstGeom prst="rect">
            <a:avLst/>
          </a:prstGeom>
          <a:solidFill>
            <a:srgbClr val="99CCFF"/>
          </a:solidFill>
          <a:ln w="19050">
            <a:solidFill>
              <a:schemeClr val="tx1"/>
            </a:solidFill>
            <a:miter lim="800000"/>
            <a:headEnd/>
            <a:tailEnd/>
          </a:ln>
          <a:effectLst/>
        </p:spPr>
        <p:txBody>
          <a:bodyPr wrap="none" anchor="ctr"/>
          <a:lstStyle/>
          <a:p>
            <a:r>
              <a:rPr lang="en-US" altLang="zh-CN" sz="1400"/>
              <a:t>PINSEL0</a:t>
            </a:r>
          </a:p>
        </p:txBody>
      </p:sp>
      <p:sp>
        <p:nvSpPr>
          <p:cNvPr id="410631" name="Line 7"/>
          <p:cNvSpPr>
            <a:spLocks noChangeShapeType="1"/>
          </p:cNvSpPr>
          <p:nvPr/>
        </p:nvSpPr>
        <p:spPr bwMode="auto">
          <a:xfrm>
            <a:off x="3144838" y="2813050"/>
            <a:ext cx="654050" cy="0"/>
          </a:xfrm>
          <a:prstGeom prst="line">
            <a:avLst/>
          </a:prstGeom>
          <a:noFill/>
          <a:ln w="19050">
            <a:solidFill>
              <a:schemeClr val="tx1"/>
            </a:solidFill>
            <a:round/>
            <a:headEnd/>
            <a:tailEnd/>
          </a:ln>
          <a:effectLst/>
        </p:spPr>
        <p:txBody>
          <a:bodyPr wrap="none" anchor="ctr"/>
          <a:lstStyle/>
          <a:p>
            <a:endParaRPr lang="zh-CN" altLang="en-US"/>
          </a:p>
        </p:txBody>
      </p:sp>
      <p:sp>
        <p:nvSpPr>
          <p:cNvPr id="410632" name="Oval 8"/>
          <p:cNvSpPr>
            <a:spLocks noChangeArrowheads="1"/>
          </p:cNvSpPr>
          <p:nvPr/>
        </p:nvSpPr>
        <p:spPr bwMode="auto">
          <a:xfrm>
            <a:off x="3798889" y="2781300"/>
            <a:ext cx="66675" cy="71438"/>
          </a:xfrm>
          <a:prstGeom prst="ellipse">
            <a:avLst/>
          </a:prstGeom>
          <a:noFill/>
          <a:ln w="19050" algn="ctr">
            <a:solidFill>
              <a:schemeClr val="tx1"/>
            </a:solidFill>
            <a:round/>
            <a:headEnd/>
            <a:tailEnd/>
          </a:ln>
          <a:effectLst/>
        </p:spPr>
        <p:txBody>
          <a:bodyPr wrap="none" anchor="ctr"/>
          <a:lstStyle/>
          <a:p>
            <a:endParaRPr lang="zh-CN" altLang="en-US"/>
          </a:p>
        </p:txBody>
      </p:sp>
      <p:grpSp>
        <p:nvGrpSpPr>
          <p:cNvPr id="410633" name="Group 9"/>
          <p:cNvGrpSpPr>
            <a:grpSpLocks/>
          </p:cNvGrpSpPr>
          <p:nvPr/>
        </p:nvGrpSpPr>
        <p:grpSpPr bwMode="auto">
          <a:xfrm>
            <a:off x="4225925" y="2389189"/>
            <a:ext cx="431800" cy="71437"/>
            <a:chOff x="1837" y="2684"/>
            <a:chExt cx="272" cy="45"/>
          </a:xfrm>
        </p:grpSpPr>
        <p:sp>
          <p:nvSpPr>
            <p:cNvPr id="410634" name="Line 10"/>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10635" name="Oval 11"/>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10636" name="Group 12"/>
          <p:cNvGrpSpPr>
            <a:grpSpLocks/>
          </p:cNvGrpSpPr>
          <p:nvPr/>
        </p:nvGrpSpPr>
        <p:grpSpPr bwMode="auto">
          <a:xfrm>
            <a:off x="4225925" y="2636839"/>
            <a:ext cx="431800" cy="71437"/>
            <a:chOff x="1837" y="2684"/>
            <a:chExt cx="272" cy="45"/>
          </a:xfrm>
        </p:grpSpPr>
        <p:sp>
          <p:nvSpPr>
            <p:cNvPr id="410637" name="Line 13"/>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10638" name="Oval 14"/>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10639" name="Group 15"/>
          <p:cNvGrpSpPr>
            <a:grpSpLocks/>
          </p:cNvGrpSpPr>
          <p:nvPr/>
        </p:nvGrpSpPr>
        <p:grpSpPr bwMode="auto">
          <a:xfrm>
            <a:off x="4225925" y="2925764"/>
            <a:ext cx="431800" cy="71437"/>
            <a:chOff x="1837" y="2684"/>
            <a:chExt cx="272" cy="45"/>
          </a:xfrm>
        </p:grpSpPr>
        <p:sp>
          <p:nvSpPr>
            <p:cNvPr id="410640" name="Line 16"/>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10641" name="Oval 17"/>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10642" name="Group 18"/>
          <p:cNvGrpSpPr>
            <a:grpSpLocks/>
          </p:cNvGrpSpPr>
          <p:nvPr/>
        </p:nvGrpSpPr>
        <p:grpSpPr bwMode="auto">
          <a:xfrm>
            <a:off x="4225925" y="3213100"/>
            <a:ext cx="431800" cy="71438"/>
            <a:chOff x="1837" y="2684"/>
            <a:chExt cx="272" cy="45"/>
          </a:xfrm>
        </p:grpSpPr>
        <p:sp>
          <p:nvSpPr>
            <p:cNvPr id="410643" name="Line 19"/>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10644" name="Oval 20"/>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sp>
        <p:nvSpPr>
          <p:cNvPr id="410645" name="Line 21"/>
          <p:cNvSpPr>
            <a:spLocks noChangeShapeType="1"/>
          </p:cNvSpPr>
          <p:nvPr/>
        </p:nvSpPr>
        <p:spPr bwMode="auto">
          <a:xfrm flipV="1">
            <a:off x="3865563" y="2420938"/>
            <a:ext cx="360362" cy="360362"/>
          </a:xfrm>
          <a:prstGeom prst="line">
            <a:avLst/>
          </a:prstGeom>
          <a:noFill/>
          <a:ln w="19050">
            <a:solidFill>
              <a:srgbClr val="0000FF"/>
            </a:solidFill>
            <a:round/>
            <a:headEnd/>
            <a:tailEnd/>
          </a:ln>
          <a:effectLst/>
        </p:spPr>
        <p:txBody>
          <a:bodyPr wrap="none" anchor="ctr"/>
          <a:lstStyle/>
          <a:p>
            <a:endParaRPr lang="zh-CN" altLang="en-US"/>
          </a:p>
        </p:txBody>
      </p:sp>
      <p:sp>
        <p:nvSpPr>
          <p:cNvPr id="410646" name="Rectangle 22"/>
          <p:cNvSpPr>
            <a:spLocks noChangeArrowheads="1"/>
          </p:cNvSpPr>
          <p:nvPr/>
        </p:nvSpPr>
        <p:spPr bwMode="auto">
          <a:xfrm>
            <a:off x="5232401" y="2133601"/>
            <a:ext cx="792163" cy="576263"/>
          </a:xfrm>
          <a:prstGeom prst="rect">
            <a:avLst/>
          </a:prstGeom>
          <a:noFill/>
          <a:ln w="19050">
            <a:solidFill>
              <a:schemeClr val="tx1"/>
            </a:solidFill>
            <a:miter lim="800000"/>
            <a:headEnd/>
            <a:tailEnd/>
          </a:ln>
          <a:effectLst/>
        </p:spPr>
        <p:txBody>
          <a:bodyPr wrap="none" anchor="ctr"/>
          <a:lstStyle/>
          <a:p>
            <a:endParaRPr lang="zh-CN" altLang="en-US"/>
          </a:p>
        </p:txBody>
      </p:sp>
      <p:sp>
        <p:nvSpPr>
          <p:cNvPr id="410647" name="Rectangle 23"/>
          <p:cNvSpPr>
            <a:spLocks noChangeArrowheads="1"/>
          </p:cNvSpPr>
          <p:nvPr/>
        </p:nvSpPr>
        <p:spPr bwMode="auto">
          <a:xfrm>
            <a:off x="5232401" y="2709863"/>
            <a:ext cx="792163" cy="215900"/>
          </a:xfrm>
          <a:prstGeom prst="rect">
            <a:avLst/>
          </a:prstGeom>
          <a:solidFill>
            <a:srgbClr val="99CCFF"/>
          </a:solidFill>
          <a:ln w="19050">
            <a:solidFill>
              <a:schemeClr val="tx1"/>
            </a:solidFill>
            <a:miter lim="800000"/>
            <a:headEnd/>
            <a:tailEnd/>
          </a:ln>
          <a:effectLst/>
        </p:spPr>
        <p:txBody>
          <a:bodyPr wrap="none" anchor="ctr"/>
          <a:lstStyle/>
          <a:p>
            <a:r>
              <a:rPr lang="en-US" altLang="zh-CN" sz="1400"/>
              <a:t>IO0DIR</a:t>
            </a:r>
          </a:p>
        </p:txBody>
      </p:sp>
      <p:sp>
        <p:nvSpPr>
          <p:cNvPr id="410648" name="Line 24"/>
          <p:cNvSpPr>
            <a:spLocks noChangeShapeType="1"/>
          </p:cNvSpPr>
          <p:nvPr/>
        </p:nvSpPr>
        <p:spPr bwMode="auto">
          <a:xfrm>
            <a:off x="4657725" y="2420938"/>
            <a:ext cx="719138" cy="0"/>
          </a:xfrm>
          <a:prstGeom prst="line">
            <a:avLst/>
          </a:prstGeom>
          <a:noFill/>
          <a:ln w="19050">
            <a:solidFill>
              <a:schemeClr val="tx1"/>
            </a:solidFill>
            <a:round/>
            <a:headEnd/>
            <a:tailEnd/>
          </a:ln>
          <a:effectLst/>
        </p:spPr>
        <p:txBody>
          <a:bodyPr wrap="none" anchor="ctr"/>
          <a:lstStyle/>
          <a:p>
            <a:endParaRPr lang="zh-CN" altLang="en-US"/>
          </a:p>
        </p:txBody>
      </p:sp>
      <p:sp>
        <p:nvSpPr>
          <p:cNvPr id="410649" name="Oval 25"/>
          <p:cNvSpPr>
            <a:spLocks noChangeArrowheads="1"/>
          </p:cNvSpPr>
          <p:nvPr/>
        </p:nvSpPr>
        <p:spPr bwMode="auto">
          <a:xfrm>
            <a:off x="5376864" y="2389189"/>
            <a:ext cx="71437" cy="71437"/>
          </a:xfrm>
          <a:prstGeom prst="ellipse">
            <a:avLst/>
          </a:prstGeom>
          <a:noFill/>
          <a:ln w="19050" algn="ctr">
            <a:solidFill>
              <a:schemeClr val="tx1"/>
            </a:solidFill>
            <a:round/>
            <a:headEnd/>
            <a:tailEnd/>
          </a:ln>
          <a:effectLst/>
        </p:spPr>
        <p:txBody>
          <a:bodyPr wrap="none" anchor="ctr"/>
          <a:lstStyle/>
          <a:p>
            <a:endParaRPr lang="zh-CN" altLang="en-US"/>
          </a:p>
        </p:txBody>
      </p:sp>
      <p:sp>
        <p:nvSpPr>
          <p:cNvPr id="410650" name="Line 26"/>
          <p:cNvSpPr>
            <a:spLocks noChangeShapeType="1"/>
          </p:cNvSpPr>
          <p:nvPr/>
        </p:nvSpPr>
        <p:spPr bwMode="auto">
          <a:xfrm flipH="1">
            <a:off x="5881688" y="2205038"/>
            <a:ext cx="360362" cy="0"/>
          </a:xfrm>
          <a:prstGeom prst="line">
            <a:avLst/>
          </a:prstGeom>
          <a:noFill/>
          <a:ln w="19050">
            <a:solidFill>
              <a:schemeClr val="tx1"/>
            </a:solidFill>
            <a:round/>
            <a:headEnd/>
            <a:tailEnd/>
          </a:ln>
          <a:effectLst/>
        </p:spPr>
        <p:txBody>
          <a:bodyPr wrap="none" anchor="ctr"/>
          <a:lstStyle/>
          <a:p>
            <a:endParaRPr lang="zh-CN" altLang="en-US"/>
          </a:p>
        </p:txBody>
      </p:sp>
      <p:sp>
        <p:nvSpPr>
          <p:cNvPr id="410651" name="Oval 27"/>
          <p:cNvSpPr>
            <a:spLocks noChangeArrowheads="1"/>
          </p:cNvSpPr>
          <p:nvPr/>
        </p:nvSpPr>
        <p:spPr bwMode="auto">
          <a:xfrm flipH="1">
            <a:off x="5810250" y="2173289"/>
            <a:ext cx="71438" cy="71437"/>
          </a:xfrm>
          <a:prstGeom prst="ellipse">
            <a:avLst/>
          </a:prstGeom>
          <a:noFill/>
          <a:ln w="19050" algn="ctr">
            <a:solidFill>
              <a:schemeClr val="tx1"/>
            </a:solidFill>
            <a:round/>
            <a:headEnd/>
            <a:tailEnd/>
          </a:ln>
          <a:effectLst/>
        </p:spPr>
        <p:txBody>
          <a:bodyPr wrap="none" anchor="ctr"/>
          <a:lstStyle/>
          <a:p>
            <a:endParaRPr lang="zh-CN" altLang="en-US"/>
          </a:p>
        </p:txBody>
      </p:sp>
      <p:sp>
        <p:nvSpPr>
          <p:cNvPr id="410652" name="Line 28"/>
          <p:cNvSpPr>
            <a:spLocks noChangeShapeType="1"/>
          </p:cNvSpPr>
          <p:nvPr/>
        </p:nvSpPr>
        <p:spPr bwMode="auto">
          <a:xfrm flipH="1">
            <a:off x="5881688" y="2597150"/>
            <a:ext cx="360362" cy="0"/>
          </a:xfrm>
          <a:prstGeom prst="line">
            <a:avLst/>
          </a:prstGeom>
          <a:noFill/>
          <a:ln w="19050">
            <a:solidFill>
              <a:schemeClr val="tx1"/>
            </a:solidFill>
            <a:round/>
            <a:headEnd/>
            <a:tailEnd/>
          </a:ln>
          <a:effectLst/>
        </p:spPr>
        <p:txBody>
          <a:bodyPr wrap="none" anchor="ctr"/>
          <a:lstStyle/>
          <a:p>
            <a:endParaRPr lang="zh-CN" altLang="en-US"/>
          </a:p>
        </p:txBody>
      </p:sp>
      <p:sp>
        <p:nvSpPr>
          <p:cNvPr id="410653" name="Oval 29"/>
          <p:cNvSpPr>
            <a:spLocks noChangeArrowheads="1"/>
          </p:cNvSpPr>
          <p:nvPr/>
        </p:nvSpPr>
        <p:spPr bwMode="auto">
          <a:xfrm flipH="1">
            <a:off x="5810250" y="2565400"/>
            <a:ext cx="71438" cy="71438"/>
          </a:xfrm>
          <a:prstGeom prst="ellipse">
            <a:avLst/>
          </a:prstGeom>
          <a:noFill/>
          <a:ln w="19050" algn="ctr">
            <a:solidFill>
              <a:schemeClr val="tx1"/>
            </a:solidFill>
            <a:round/>
            <a:headEnd/>
            <a:tailEnd/>
          </a:ln>
          <a:effectLst/>
        </p:spPr>
        <p:txBody>
          <a:bodyPr wrap="none" anchor="ctr"/>
          <a:lstStyle/>
          <a:p>
            <a:endParaRPr lang="zh-CN" altLang="en-US"/>
          </a:p>
        </p:txBody>
      </p:sp>
      <p:sp>
        <p:nvSpPr>
          <p:cNvPr id="410654" name="Line 30"/>
          <p:cNvSpPr>
            <a:spLocks noChangeShapeType="1"/>
          </p:cNvSpPr>
          <p:nvPr/>
        </p:nvSpPr>
        <p:spPr bwMode="auto">
          <a:xfrm flipV="1">
            <a:off x="5448301" y="2205038"/>
            <a:ext cx="360363" cy="215900"/>
          </a:xfrm>
          <a:prstGeom prst="line">
            <a:avLst/>
          </a:prstGeom>
          <a:noFill/>
          <a:ln w="19050">
            <a:solidFill>
              <a:srgbClr val="0000FF"/>
            </a:solidFill>
            <a:round/>
            <a:headEnd/>
            <a:tailEnd/>
          </a:ln>
          <a:effectLst/>
        </p:spPr>
        <p:txBody>
          <a:bodyPr wrap="none" anchor="ctr"/>
          <a:lstStyle/>
          <a:p>
            <a:endParaRPr lang="zh-CN" altLang="en-US"/>
          </a:p>
        </p:txBody>
      </p:sp>
      <p:sp>
        <p:nvSpPr>
          <p:cNvPr id="410655" name="Rectangle 31"/>
          <p:cNvSpPr>
            <a:spLocks noChangeArrowheads="1"/>
          </p:cNvSpPr>
          <p:nvPr/>
        </p:nvSpPr>
        <p:spPr bwMode="auto">
          <a:xfrm>
            <a:off x="6673851" y="2133600"/>
            <a:ext cx="792163" cy="503238"/>
          </a:xfrm>
          <a:prstGeom prst="rect">
            <a:avLst/>
          </a:prstGeom>
          <a:noFill/>
          <a:ln w="19050">
            <a:solidFill>
              <a:schemeClr val="tx1"/>
            </a:solidFill>
            <a:miter lim="800000"/>
            <a:headEnd/>
            <a:tailEnd/>
          </a:ln>
          <a:effectLst/>
        </p:spPr>
        <p:txBody>
          <a:bodyPr wrap="none" anchor="ctr"/>
          <a:lstStyle/>
          <a:p>
            <a:endParaRPr lang="zh-CN" altLang="en-US"/>
          </a:p>
        </p:txBody>
      </p:sp>
      <p:sp>
        <p:nvSpPr>
          <p:cNvPr id="410656" name="Rectangle 32"/>
          <p:cNvSpPr>
            <a:spLocks noChangeArrowheads="1"/>
          </p:cNvSpPr>
          <p:nvPr/>
        </p:nvSpPr>
        <p:spPr bwMode="auto">
          <a:xfrm>
            <a:off x="6673851" y="2709863"/>
            <a:ext cx="792163" cy="215900"/>
          </a:xfrm>
          <a:prstGeom prst="rect">
            <a:avLst/>
          </a:prstGeom>
          <a:solidFill>
            <a:srgbClr val="99CCFF"/>
          </a:solidFill>
          <a:ln w="19050">
            <a:solidFill>
              <a:schemeClr val="tx1"/>
            </a:solidFill>
            <a:miter lim="800000"/>
            <a:headEnd/>
            <a:tailEnd/>
          </a:ln>
          <a:effectLst/>
        </p:spPr>
        <p:txBody>
          <a:bodyPr wrap="none" anchor="ctr"/>
          <a:lstStyle/>
          <a:p>
            <a:r>
              <a:rPr lang="en-US" altLang="zh-CN" sz="1400"/>
              <a:t>IO0CLR</a:t>
            </a:r>
          </a:p>
        </p:txBody>
      </p:sp>
      <p:sp>
        <p:nvSpPr>
          <p:cNvPr id="410657" name="Oval 33"/>
          <p:cNvSpPr>
            <a:spLocks noChangeArrowheads="1"/>
          </p:cNvSpPr>
          <p:nvPr/>
        </p:nvSpPr>
        <p:spPr bwMode="auto">
          <a:xfrm>
            <a:off x="6818314" y="2389189"/>
            <a:ext cx="71437" cy="71437"/>
          </a:xfrm>
          <a:prstGeom prst="ellipse">
            <a:avLst/>
          </a:prstGeom>
          <a:noFill/>
          <a:ln w="19050" algn="ctr">
            <a:solidFill>
              <a:schemeClr val="tx1"/>
            </a:solidFill>
            <a:round/>
            <a:headEnd/>
            <a:tailEnd/>
          </a:ln>
          <a:effectLst/>
        </p:spPr>
        <p:txBody>
          <a:bodyPr wrap="none" anchor="ctr"/>
          <a:lstStyle/>
          <a:p>
            <a:endParaRPr lang="zh-CN" altLang="en-US"/>
          </a:p>
        </p:txBody>
      </p:sp>
      <p:grpSp>
        <p:nvGrpSpPr>
          <p:cNvPr id="410658" name="Group 34"/>
          <p:cNvGrpSpPr>
            <a:grpSpLocks/>
          </p:cNvGrpSpPr>
          <p:nvPr/>
        </p:nvGrpSpPr>
        <p:grpSpPr bwMode="auto">
          <a:xfrm>
            <a:off x="7250113" y="2205039"/>
            <a:ext cx="431800" cy="71437"/>
            <a:chOff x="1837" y="2684"/>
            <a:chExt cx="272" cy="45"/>
          </a:xfrm>
        </p:grpSpPr>
        <p:sp>
          <p:nvSpPr>
            <p:cNvPr id="410659" name="Line 35"/>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10660" name="Oval 36"/>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10661" name="Group 37"/>
          <p:cNvGrpSpPr>
            <a:grpSpLocks/>
          </p:cNvGrpSpPr>
          <p:nvPr/>
        </p:nvGrpSpPr>
        <p:grpSpPr bwMode="auto">
          <a:xfrm>
            <a:off x="7250113" y="2493964"/>
            <a:ext cx="431800" cy="71437"/>
            <a:chOff x="1837" y="2684"/>
            <a:chExt cx="272" cy="45"/>
          </a:xfrm>
        </p:grpSpPr>
        <p:sp>
          <p:nvSpPr>
            <p:cNvPr id="410662" name="Line 38"/>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10663" name="Oval 39"/>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sp>
        <p:nvSpPr>
          <p:cNvPr id="410664" name="Line 40"/>
          <p:cNvSpPr>
            <a:spLocks noChangeShapeType="1"/>
          </p:cNvSpPr>
          <p:nvPr/>
        </p:nvSpPr>
        <p:spPr bwMode="auto">
          <a:xfrm flipV="1">
            <a:off x="6889751" y="2205038"/>
            <a:ext cx="360363" cy="215900"/>
          </a:xfrm>
          <a:prstGeom prst="line">
            <a:avLst/>
          </a:prstGeom>
          <a:noFill/>
          <a:ln w="19050">
            <a:solidFill>
              <a:srgbClr val="0000FF"/>
            </a:solidFill>
            <a:round/>
            <a:headEnd/>
            <a:tailEnd/>
          </a:ln>
          <a:effectLst/>
        </p:spPr>
        <p:txBody>
          <a:bodyPr wrap="none" anchor="ctr"/>
          <a:lstStyle/>
          <a:p>
            <a:endParaRPr lang="zh-CN" altLang="en-US"/>
          </a:p>
        </p:txBody>
      </p:sp>
      <p:sp>
        <p:nvSpPr>
          <p:cNvPr id="410665" name="Line 41"/>
          <p:cNvSpPr>
            <a:spLocks noChangeShapeType="1"/>
          </p:cNvSpPr>
          <p:nvPr/>
        </p:nvSpPr>
        <p:spPr bwMode="auto">
          <a:xfrm>
            <a:off x="6456363" y="2420938"/>
            <a:ext cx="360362" cy="0"/>
          </a:xfrm>
          <a:prstGeom prst="line">
            <a:avLst/>
          </a:prstGeom>
          <a:noFill/>
          <a:ln w="19050">
            <a:solidFill>
              <a:schemeClr val="tx1"/>
            </a:solidFill>
            <a:round/>
            <a:headEnd/>
            <a:tailEnd/>
          </a:ln>
          <a:effectLst/>
        </p:spPr>
        <p:txBody>
          <a:bodyPr wrap="none" anchor="ctr"/>
          <a:lstStyle/>
          <a:p>
            <a:endParaRPr lang="zh-CN" altLang="en-US"/>
          </a:p>
        </p:txBody>
      </p:sp>
      <p:sp>
        <p:nvSpPr>
          <p:cNvPr id="410666" name="Line 42"/>
          <p:cNvSpPr>
            <a:spLocks noChangeShapeType="1"/>
          </p:cNvSpPr>
          <p:nvPr/>
        </p:nvSpPr>
        <p:spPr bwMode="auto">
          <a:xfrm flipV="1">
            <a:off x="6456363" y="2205038"/>
            <a:ext cx="0" cy="215900"/>
          </a:xfrm>
          <a:prstGeom prst="line">
            <a:avLst/>
          </a:prstGeom>
          <a:noFill/>
          <a:ln w="19050">
            <a:solidFill>
              <a:schemeClr val="tx1"/>
            </a:solidFill>
            <a:round/>
            <a:headEnd/>
            <a:tailEnd/>
          </a:ln>
          <a:effectLst/>
        </p:spPr>
        <p:txBody>
          <a:bodyPr wrap="none" anchor="ctr"/>
          <a:lstStyle/>
          <a:p>
            <a:endParaRPr lang="zh-CN" altLang="en-US"/>
          </a:p>
        </p:txBody>
      </p:sp>
      <p:sp>
        <p:nvSpPr>
          <p:cNvPr id="410667" name="Line 43"/>
          <p:cNvSpPr>
            <a:spLocks noChangeShapeType="1"/>
          </p:cNvSpPr>
          <p:nvPr/>
        </p:nvSpPr>
        <p:spPr bwMode="auto">
          <a:xfrm flipH="1">
            <a:off x="6240463" y="2205038"/>
            <a:ext cx="215900" cy="0"/>
          </a:xfrm>
          <a:prstGeom prst="line">
            <a:avLst/>
          </a:prstGeom>
          <a:noFill/>
          <a:ln w="19050">
            <a:solidFill>
              <a:schemeClr val="tx1"/>
            </a:solidFill>
            <a:round/>
            <a:headEnd/>
            <a:tailEnd/>
          </a:ln>
          <a:effectLst/>
        </p:spPr>
        <p:txBody>
          <a:bodyPr wrap="none" anchor="ctr"/>
          <a:lstStyle/>
          <a:p>
            <a:endParaRPr lang="zh-CN" altLang="en-US"/>
          </a:p>
        </p:txBody>
      </p:sp>
      <p:sp>
        <p:nvSpPr>
          <p:cNvPr id="410668" name="Line 44"/>
          <p:cNvSpPr>
            <a:spLocks noChangeShapeType="1"/>
          </p:cNvSpPr>
          <p:nvPr/>
        </p:nvSpPr>
        <p:spPr bwMode="auto">
          <a:xfrm>
            <a:off x="6242050" y="3502025"/>
            <a:ext cx="431800" cy="0"/>
          </a:xfrm>
          <a:prstGeom prst="line">
            <a:avLst/>
          </a:prstGeom>
          <a:noFill/>
          <a:ln w="19050">
            <a:solidFill>
              <a:schemeClr val="tx1"/>
            </a:solidFill>
            <a:round/>
            <a:headEnd/>
            <a:tailEnd/>
          </a:ln>
          <a:effectLst/>
        </p:spPr>
        <p:txBody>
          <a:bodyPr wrap="none" anchor="ctr"/>
          <a:lstStyle/>
          <a:p>
            <a:endParaRPr lang="zh-CN" altLang="en-US"/>
          </a:p>
        </p:txBody>
      </p:sp>
      <p:sp>
        <p:nvSpPr>
          <p:cNvPr id="410669" name="Rectangle 45"/>
          <p:cNvSpPr>
            <a:spLocks noChangeArrowheads="1"/>
          </p:cNvSpPr>
          <p:nvPr/>
        </p:nvSpPr>
        <p:spPr bwMode="auto">
          <a:xfrm>
            <a:off x="6673851" y="3357564"/>
            <a:ext cx="792163" cy="287337"/>
          </a:xfrm>
          <a:prstGeom prst="rect">
            <a:avLst/>
          </a:prstGeom>
          <a:solidFill>
            <a:srgbClr val="99CCFF"/>
          </a:solidFill>
          <a:ln w="19050">
            <a:solidFill>
              <a:schemeClr val="tx1"/>
            </a:solidFill>
            <a:miter lim="800000"/>
            <a:headEnd/>
            <a:tailEnd/>
          </a:ln>
          <a:effectLst/>
        </p:spPr>
        <p:txBody>
          <a:bodyPr wrap="none" anchor="ctr"/>
          <a:lstStyle/>
          <a:p>
            <a:r>
              <a:rPr lang="en-US" altLang="zh-CN" sz="1400"/>
              <a:t>IO0PIN</a:t>
            </a:r>
          </a:p>
        </p:txBody>
      </p:sp>
      <p:sp>
        <p:nvSpPr>
          <p:cNvPr id="410670" name="Rectangle 46"/>
          <p:cNvSpPr>
            <a:spLocks noChangeArrowheads="1"/>
          </p:cNvSpPr>
          <p:nvPr/>
        </p:nvSpPr>
        <p:spPr bwMode="auto">
          <a:xfrm>
            <a:off x="6673851" y="1844675"/>
            <a:ext cx="792163" cy="215900"/>
          </a:xfrm>
          <a:prstGeom prst="rect">
            <a:avLst/>
          </a:prstGeom>
          <a:solidFill>
            <a:srgbClr val="99CCFF"/>
          </a:solidFill>
          <a:ln w="19050">
            <a:solidFill>
              <a:schemeClr val="tx1"/>
            </a:solidFill>
            <a:miter lim="800000"/>
            <a:headEnd/>
            <a:tailEnd/>
          </a:ln>
          <a:effectLst/>
        </p:spPr>
        <p:txBody>
          <a:bodyPr wrap="none" anchor="ctr"/>
          <a:lstStyle/>
          <a:p>
            <a:r>
              <a:rPr lang="en-US" altLang="zh-CN" sz="1400"/>
              <a:t>IO0SET</a:t>
            </a:r>
          </a:p>
        </p:txBody>
      </p:sp>
      <p:sp>
        <p:nvSpPr>
          <p:cNvPr id="410671" name="Text Box 47"/>
          <p:cNvSpPr txBox="1">
            <a:spLocks noChangeArrowheads="1"/>
          </p:cNvSpPr>
          <p:nvPr/>
        </p:nvSpPr>
        <p:spPr bwMode="auto">
          <a:xfrm>
            <a:off x="6024563" y="2349500"/>
            <a:ext cx="360362"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in</a:t>
            </a:r>
          </a:p>
        </p:txBody>
      </p:sp>
      <p:sp>
        <p:nvSpPr>
          <p:cNvPr id="410672" name="Text Box 48"/>
          <p:cNvSpPr txBox="1">
            <a:spLocks noChangeArrowheads="1"/>
          </p:cNvSpPr>
          <p:nvPr/>
        </p:nvSpPr>
        <p:spPr bwMode="auto">
          <a:xfrm>
            <a:off x="6024563" y="1917700"/>
            <a:ext cx="431800"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out</a:t>
            </a:r>
          </a:p>
        </p:txBody>
      </p:sp>
      <p:sp>
        <p:nvSpPr>
          <p:cNvPr id="410673" name="Line 49"/>
          <p:cNvSpPr>
            <a:spLocks noChangeShapeType="1"/>
          </p:cNvSpPr>
          <p:nvPr/>
        </p:nvSpPr>
        <p:spPr bwMode="auto">
          <a:xfrm>
            <a:off x="7034213" y="2062163"/>
            <a:ext cx="0" cy="2159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410674" name="Line 50"/>
          <p:cNvSpPr>
            <a:spLocks noChangeShapeType="1"/>
          </p:cNvSpPr>
          <p:nvPr/>
        </p:nvSpPr>
        <p:spPr bwMode="auto">
          <a:xfrm flipV="1">
            <a:off x="7034213" y="2493963"/>
            <a:ext cx="0" cy="2159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410675" name="Text Box 51"/>
          <p:cNvSpPr txBox="1">
            <a:spLocks noChangeArrowheads="1"/>
          </p:cNvSpPr>
          <p:nvPr/>
        </p:nvSpPr>
        <p:spPr bwMode="auto">
          <a:xfrm>
            <a:off x="7681913" y="2062163"/>
            <a:ext cx="360362"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1</a:t>
            </a:r>
          </a:p>
        </p:txBody>
      </p:sp>
      <p:sp>
        <p:nvSpPr>
          <p:cNvPr id="410676" name="Text Box 52"/>
          <p:cNvSpPr txBox="1">
            <a:spLocks noChangeArrowheads="1"/>
          </p:cNvSpPr>
          <p:nvPr/>
        </p:nvSpPr>
        <p:spPr bwMode="auto">
          <a:xfrm>
            <a:off x="7681913" y="2349500"/>
            <a:ext cx="360362"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0</a:t>
            </a:r>
          </a:p>
        </p:txBody>
      </p:sp>
      <p:sp>
        <p:nvSpPr>
          <p:cNvPr id="410677" name="Line 53"/>
          <p:cNvSpPr>
            <a:spLocks noChangeShapeType="1"/>
          </p:cNvSpPr>
          <p:nvPr/>
        </p:nvSpPr>
        <p:spPr bwMode="auto">
          <a:xfrm>
            <a:off x="4945063" y="2420939"/>
            <a:ext cx="0" cy="1081087"/>
          </a:xfrm>
          <a:prstGeom prst="line">
            <a:avLst/>
          </a:prstGeom>
          <a:noFill/>
          <a:ln w="19050">
            <a:solidFill>
              <a:schemeClr val="tx1"/>
            </a:solidFill>
            <a:round/>
            <a:headEnd/>
            <a:tailEnd/>
          </a:ln>
          <a:effectLst/>
        </p:spPr>
        <p:txBody>
          <a:bodyPr wrap="none" anchor="ctr"/>
          <a:lstStyle/>
          <a:p>
            <a:endParaRPr lang="zh-CN" altLang="en-US"/>
          </a:p>
        </p:txBody>
      </p:sp>
      <p:sp>
        <p:nvSpPr>
          <p:cNvPr id="410678" name="Line 54"/>
          <p:cNvSpPr>
            <a:spLocks noChangeShapeType="1"/>
          </p:cNvSpPr>
          <p:nvPr/>
        </p:nvSpPr>
        <p:spPr bwMode="auto">
          <a:xfrm>
            <a:off x="4945064" y="3502025"/>
            <a:ext cx="1296987" cy="0"/>
          </a:xfrm>
          <a:prstGeom prst="line">
            <a:avLst/>
          </a:prstGeom>
          <a:noFill/>
          <a:ln w="19050">
            <a:solidFill>
              <a:schemeClr val="tx1"/>
            </a:solidFill>
            <a:round/>
            <a:headEnd/>
            <a:tailEnd/>
          </a:ln>
          <a:effectLst/>
        </p:spPr>
        <p:txBody>
          <a:bodyPr wrap="none" anchor="ctr"/>
          <a:lstStyle/>
          <a:p>
            <a:endParaRPr lang="zh-CN" altLang="en-US"/>
          </a:p>
        </p:txBody>
      </p:sp>
      <p:sp>
        <p:nvSpPr>
          <p:cNvPr id="410679" name="Rectangle 55"/>
          <p:cNvSpPr>
            <a:spLocks noChangeArrowheads="1"/>
          </p:cNvSpPr>
          <p:nvPr/>
        </p:nvSpPr>
        <p:spPr bwMode="auto">
          <a:xfrm>
            <a:off x="2786064" y="2636838"/>
            <a:ext cx="358775" cy="360362"/>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10680" name="Rectangle 56"/>
          <p:cNvSpPr>
            <a:spLocks noChangeArrowheads="1"/>
          </p:cNvSpPr>
          <p:nvPr/>
        </p:nvSpPr>
        <p:spPr bwMode="auto">
          <a:xfrm>
            <a:off x="2786064" y="3213101"/>
            <a:ext cx="358775" cy="360363"/>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10681" name="Rectangle 57"/>
          <p:cNvSpPr>
            <a:spLocks noChangeArrowheads="1"/>
          </p:cNvSpPr>
          <p:nvPr/>
        </p:nvSpPr>
        <p:spPr bwMode="auto">
          <a:xfrm>
            <a:off x="2786064" y="2062163"/>
            <a:ext cx="358775" cy="360362"/>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10682" name="Rectangle 58"/>
          <p:cNvSpPr>
            <a:spLocks noChangeArrowheads="1"/>
          </p:cNvSpPr>
          <p:nvPr/>
        </p:nvSpPr>
        <p:spPr bwMode="auto">
          <a:xfrm>
            <a:off x="8977314" y="2636838"/>
            <a:ext cx="358775" cy="360362"/>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10683" name="Rectangle 59"/>
          <p:cNvSpPr>
            <a:spLocks noChangeArrowheads="1"/>
          </p:cNvSpPr>
          <p:nvPr/>
        </p:nvSpPr>
        <p:spPr bwMode="auto">
          <a:xfrm>
            <a:off x="8977314" y="3213101"/>
            <a:ext cx="358775" cy="360363"/>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10684" name="Rectangle 60"/>
          <p:cNvSpPr>
            <a:spLocks noChangeArrowheads="1"/>
          </p:cNvSpPr>
          <p:nvPr/>
        </p:nvSpPr>
        <p:spPr bwMode="auto">
          <a:xfrm>
            <a:off x="8977314" y="2062163"/>
            <a:ext cx="358775" cy="360362"/>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10685" name="Rectangle 61"/>
          <p:cNvSpPr>
            <a:spLocks noChangeArrowheads="1"/>
          </p:cNvSpPr>
          <p:nvPr/>
        </p:nvSpPr>
        <p:spPr bwMode="auto">
          <a:xfrm>
            <a:off x="2209800" y="523875"/>
            <a:ext cx="777240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GPIO</a:t>
            </a:r>
            <a:r>
              <a:rPr lang="zh-CN" altLang="en-US" sz="3200">
                <a:latin typeface="Times New Roman" pitchFamily="18" charset="0"/>
              </a:rPr>
              <a:t>应用示例</a:t>
            </a:r>
            <a:r>
              <a:rPr lang="en-US" altLang="zh-CN" sz="3200">
                <a:latin typeface="Times New Roman" pitchFamily="18" charset="0"/>
              </a:rPr>
              <a:t>——</a:t>
            </a:r>
            <a:r>
              <a:rPr lang="zh-CN" altLang="en-US" sz="3200">
                <a:solidFill>
                  <a:srgbClr val="FF0000"/>
                </a:solidFill>
                <a:latin typeface="Times New Roman" pitchFamily="18" charset="0"/>
              </a:rPr>
              <a:t>设置</a:t>
            </a:r>
            <a:r>
              <a:rPr lang="en-US" altLang="zh-CN" sz="3200">
                <a:solidFill>
                  <a:srgbClr val="FF0000"/>
                </a:solidFill>
                <a:latin typeface="Times New Roman" pitchFamily="18" charset="0"/>
              </a:rPr>
              <a:t>P0.0</a:t>
            </a:r>
            <a:r>
              <a:rPr lang="zh-CN" altLang="en-US" sz="3200">
                <a:solidFill>
                  <a:srgbClr val="FF0000"/>
                </a:solidFill>
                <a:latin typeface="Times New Roman" pitchFamily="18" charset="0"/>
              </a:rPr>
              <a:t>输出高电平</a:t>
            </a:r>
          </a:p>
        </p:txBody>
      </p:sp>
      <p:sp>
        <p:nvSpPr>
          <p:cNvPr id="410686" name="Text Box 62"/>
          <p:cNvSpPr txBox="1">
            <a:spLocks noChangeArrowheads="1"/>
          </p:cNvSpPr>
          <p:nvPr/>
        </p:nvSpPr>
        <p:spPr bwMode="auto">
          <a:xfrm>
            <a:off x="2136775" y="2636838"/>
            <a:ext cx="647700" cy="336550"/>
          </a:xfrm>
          <a:prstGeom prst="rect">
            <a:avLst/>
          </a:prstGeom>
          <a:noFill/>
          <a:ln w="19050" algn="ctr">
            <a:noFill/>
            <a:miter lim="800000"/>
            <a:headEnd/>
            <a:tailEnd/>
          </a:ln>
          <a:effectLst/>
        </p:spPr>
        <p:txBody>
          <a:bodyPr>
            <a:spAutoFit/>
          </a:bodyPr>
          <a:lstStyle/>
          <a:p>
            <a:pPr>
              <a:spcBef>
                <a:spcPct val="50000"/>
              </a:spcBef>
            </a:pPr>
            <a:r>
              <a:rPr lang="en-US" altLang="zh-CN" sz="1600">
                <a:solidFill>
                  <a:srgbClr val="FF0000"/>
                </a:solidFill>
                <a:latin typeface="Times New Roman" pitchFamily="18" charset="0"/>
                <a:ea typeface="华文新魏" pitchFamily="2" charset="-122"/>
              </a:rPr>
              <a:t>P0.0</a:t>
            </a:r>
          </a:p>
        </p:txBody>
      </p:sp>
      <p:grpSp>
        <p:nvGrpSpPr>
          <p:cNvPr id="410687" name="Group 63"/>
          <p:cNvGrpSpPr>
            <a:grpSpLocks/>
          </p:cNvGrpSpPr>
          <p:nvPr/>
        </p:nvGrpSpPr>
        <p:grpSpPr bwMode="auto">
          <a:xfrm>
            <a:off x="2989263" y="4762501"/>
            <a:ext cx="6553200" cy="360363"/>
            <a:chOff x="1383" y="2931"/>
            <a:chExt cx="4128" cy="227"/>
          </a:xfrm>
        </p:grpSpPr>
        <p:sp>
          <p:nvSpPr>
            <p:cNvPr id="410688" name="AutoShape 64"/>
            <p:cNvSpPr>
              <a:spLocks noChangeArrowheads="1"/>
            </p:cNvSpPr>
            <p:nvPr/>
          </p:nvSpPr>
          <p:spPr bwMode="auto">
            <a:xfrm>
              <a:off x="1383" y="2931"/>
              <a:ext cx="4128" cy="227"/>
            </a:xfrm>
            <a:prstGeom prst="roundRect">
              <a:avLst>
                <a:gd name="adj" fmla="val 16667"/>
              </a:avLst>
            </a:prstGeom>
            <a:noFill/>
            <a:ln w="12700" algn="ctr">
              <a:solidFill>
                <a:srgbClr val="0000FF"/>
              </a:solidFill>
              <a:round/>
              <a:headEnd/>
              <a:tailEnd/>
            </a:ln>
            <a:effectLst/>
          </p:spPr>
          <p:txBody>
            <a:bodyPr wrap="none" anchor="ctr"/>
            <a:lstStyle/>
            <a:p>
              <a:endParaRPr lang="zh-CN" altLang="en-US"/>
            </a:p>
          </p:txBody>
        </p:sp>
        <p:sp>
          <p:nvSpPr>
            <p:cNvPr id="410689" name="AutoShape 65"/>
            <p:cNvSpPr>
              <a:spLocks noChangeArrowheads="1"/>
            </p:cNvSpPr>
            <p:nvPr/>
          </p:nvSpPr>
          <p:spPr bwMode="auto">
            <a:xfrm>
              <a:off x="3379" y="2931"/>
              <a:ext cx="2132" cy="227"/>
            </a:xfrm>
            <a:prstGeom prst="roundRect">
              <a:avLst>
                <a:gd name="adj" fmla="val 16667"/>
              </a:avLst>
            </a:prstGeom>
            <a:solidFill>
              <a:srgbClr val="CCECFF"/>
            </a:solidFill>
            <a:ln w="12700" algn="ctr">
              <a:solidFill>
                <a:srgbClr val="0000FF"/>
              </a:solidFill>
              <a:round/>
              <a:headEnd/>
              <a:tailEnd/>
            </a:ln>
            <a:effectLst/>
          </p:spPr>
          <p:txBody>
            <a:bodyPr wrap="none" anchor="ctr"/>
            <a:lstStyle/>
            <a:p>
              <a:pPr algn="l"/>
              <a:r>
                <a:rPr lang="en-US" altLang="zh-CN" sz="1600">
                  <a:latin typeface="Times New Roman" pitchFamily="18" charset="0"/>
                </a:rPr>
                <a:t>(1) </a:t>
              </a:r>
              <a:r>
                <a:rPr lang="zh-CN" altLang="en-US" sz="1600">
                  <a:latin typeface="Times New Roman" pitchFamily="18" charset="0"/>
                </a:rPr>
                <a:t>设置引脚连接模块，</a:t>
              </a:r>
              <a:r>
                <a:rPr lang="en-US" altLang="zh-CN" sz="1600">
                  <a:latin typeface="Times New Roman" pitchFamily="18" charset="0"/>
                </a:rPr>
                <a:t>P0.0</a:t>
              </a:r>
              <a:r>
                <a:rPr lang="zh-CN" altLang="en-US" sz="1600">
                  <a:latin typeface="Times New Roman" pitchFamily="18" charset="0"/>
                </a:rPr>
                <a:t>为</a:t>
              </a:r>
              <a:r>
                <a:rPr lang="en-US" altLang="zh-CN" sz="1600">
                  <a:latin typeface="Times New Roman" pitchFamily="18" charset="0"/>
                </a:rPr>
                <a:t>GPIO</a:t>
              </a:r>
            </a:p>
          </p:txBody>
        </p:sp>
      </p:grpSp>
      <p:grpSp>
        <p:nvGrpSpPr>
          <p:cNvPr id="410690" name="Group 66"/>
          <p:cNvGrpSpPr>
            <a:grpSpLocks/>
          </p:cNvGrpSpPr>
          <p:nvPr/>
        </p:nvGrpSpPr>
        <p:grpSpPr bwMode="auto">
          <a:xfrm>
            <a:off x="2989263" y="5122863"/>
            <a:ext cx="6553200" cy="360362"/>
            <a:chOff x="1383" y="3158"/>
            <a:chExt cx="4128" cy="227"/>
          </a:xfrm>
        </p:grpSpPr>
        <p:sp>
          <p:nvSpPr>
            <p:cNvPr id="410691" name="AutoShape 67"/>
            <p:cNvSpPr>
              <a:spLocks noChangeArrowheads="1"/>
            </p:cNvSpPr>
            <p:nvPr/>
          </p:nvSpPr>
          <p:spPr bwMode="auto">
            <a:xfrm>
              <a:off x="1383" y="3158"/>
              <a:ext cx="4128" cy="227"/>
            </a:xfrm>
            <a:prstGeom prst="roundRect">
              <a:avLst>
                <a:gd name="adj" fmla="val 16667"/>
              </a:avLst>
            </a:prstGeom>
            <a:noFill/>
            <a:ln w="12700" algn="ctr">
              <a:solidFill>
                <a:srgbClr val="0000FF"/>
              </a:solidFill>
              <a:round/>
              <a:headEnd/>
              <a:tailEnd/>
            </a:ln>
            <a:effectLst/>
          </p:spPr>
          <p:txBody>
            <a:bodyPr wrap="none" anchor="ctr"/>
            <a:lstStyle/>
            <a:p>
              <a:endParaRPr lang="zh-CN" altLang="en-US"/>
            </a:p>
          </p:txBody>
        </p:sp>
        <p:sp>
          <p:nvSpPr>
            <p:cNvPr id="410692" name="AutoShape 68"/>
            <p:cNvSpPr>
              <a:spLocks noChangeArrowheads="1"/>
            </p:cNvSpPr>
            <p:nvPr/>
          </p:nvSpPr>
          <p:spPr bwMode="auto">
            <a:xfrm>
              <a:off x="3379" y="3158"/>
              <a:ext cx="2132" cy="227"/>
            </a:xfrm>
            <a:prstGeom prst="roundRect">
              <a:avLst>
                <a:gd name="adj" fmla="val 16667"/>
              </a:avLst>
            </a:prstGeom>
            <a:solidFill>
              <a:srgbClr val="FFFFCC"/>
            </a:solidFill>
            <a:ln w="12700" algn="ctr">
              <a:solidFill>
                <a:srgbClr val="0000FF"/>
              </a:solidFill>
              <a:round/>
              <a:headEnd/>
              <a:tailEnd/>
            </a:ln>
            <a:effectLst/>
          </p:spPr>
          <p:txBody>
            <a:bodyPr wrap="none" anchor="ctr"/>
            <a:lstStyle/>
            <a:p>
              <a:pPr algn="l"/>
              <a:r>
                <a:rPr lang="en-US" altLang="zh-CN" sz="1600">
                  <a:latin typeface="Times New Roman" pitchFamily="18" charset="0"/>
                </a:rPr>
                <a:t>(2) </a:t>
              </a:r>
              <a:r>
                <a:rPr lang="zh-CN" altLang="en-US" sz="1600">
                  <a:latin typeface="Times New Roman" pitchFamily="18" charset="0"/>
                </a:rPr>
                <a:t>设置</a:t>
              </a:r>
              <a:r>
                <a:rPr lang="en-US" altLang="zh-CN" sz="1600">
                  <a:latin typeface="Times New Roman" pitchFamily="18" charset="0"/>
                </a:rPr>
                <a:t>P0.0</a:t>
              </a:r>
              <a:r>
                <a:rPr lang="zh-CN" altLang="en-US" sz="1600">
                  <a:latin typeface="Times New Roman" pitchFamily="18" charset="0"/>
                </a:rPr>
                <a:t>口方向，设置为输出</a:t>
              </a:r>
            </a:p>
          </p:txBody>
        </p:sp>
      </p:grpSp>
      <p:grpSp>
        <p:nvGrpSpPr>
          <p:cNvPr id="410693" name="Group 69"/>
          <p:cNvGrpSpPr>
            <a:grpSpLocks/>
          </p:cNvGrpSpPr>
          <p:nvPr/>
        </p:nvGrpSpPr>
        <p:grpSpPr bwMode="auto">
          <a:xfrm>
            <a:off x="2989263" y="5483226"/>
            <a:ext cx="6553200" cy="360363"/>
            <a:chOff x="1383" y="3385"/>
            <a:chExt cx="4128" cy="227"/>
          </a:xfrm>
        </p:grpSpPr>
        <p:sp>
          <p:nvSpPr>
            <p:cNvPr id="410694" name="AutoShape 70"/>
            <p:cNvSpPr>
              <a:spLocks noChangeArrowheads="1"/>
            </p:cNvSpPr>
            <p:nvPr/>
          </p:nvSpPr>
          <p:spPr bwMode="auto">
            <a:xfrm>
              <a:off x="1383" y="3385"/>
              <a:ext cx="4128" cy="227"/>
            </a:xfrm>
            <a:prstGeom prst="roundRect">
              <a:avLst>
                <a:gd name="adj" fmla="val 16667"/>
              </a:avLst>
            </a:prstGeom>
            <a:noFill/>
            <a:ln w="12700" algn="ctr">
              <a:solidFill>
                <a:srgbClr val="0000FF"/>
              </a:solidFill>
              <a:round/>
              <a:headEnd/>
              <a:tailEnd/>
            </a:ln>
            <a:effectLst/>
          </p:spPr>
          <p:txBody>
            <a:bodyPr wrap="none" anchor="ctr"/>
            <a:lstStyle/>
            <a:p>
              <a:endParaRPr lang="zh-CN" altLang="en-US"/>
            </a:p>
          </p:txBody>
        </p:sp>
        <p:sp>
          <p:nvSpPr>
            <p:cNvPr id="410695" name="AutoShape 71"/>
            <p:cNvSpPr>
              <a:spLocks noChangeArrowheads="1"/>
            </p:cNvSpPr>
            <p:nvPr/>
          </p:nvSpPr>
          <p:spPr bwMode="auto">
            <a:xfrm>
              <a:off x="3379" y="3385"/>
              <a:ext cx="2132" cy="227"/>
            </a:xfrm>
            <a:prstGeom prst="roundRect">
              <a:avLst>
                <a:gd name="adj" fmla="val 16667"/>
              </a:avLst>
            </a:prstGeom>
            <a:solidFill>
              <a:srgbClr val="CCECFF"/>
            </a:solidFill>
            <a:ln w="12700" algn="ctr">
              <a:solidFill>
                <a:srgbClr val="0000FF"/>
              </a:solidFill>
              <a:round/>
              <a:headEnd/>
              <a:tailEnd/>
            </a:ln>
            <a:effectLst/>
          </p:spPr>
          <p:txBody>
            <a:bodyPr wrap="none" anchor="ctr"/>
            <a:lstStyle/>
            <a:p>
              <a:pPr algn="l"/>
              <a:r>
                <a:rPr lang="en-US" altLang="zh-CN" sz="1600">
                  <a:latin typeface="Times New Roman" pitchFamily="18" charset="0"/>
                </a:rPr>
                <a:t>(3) </a:t>
              </a:r>
              <a:r>
                <a:rPr lang="zh-CN" altLang="en-US" sz="1600">
                  <a:latin typeface="Times New Roman" pitchFamily="18" charset="0"/>
                </a:rPr>
                <a:t>设置</a:t>
              </a:r>
              <a:r>
                <a:rPr lang="en-US" altLang="zh-CN" sz="1600">
                  <a:latin typeface="Times New Roman" pitchFamily="18" charset="0"/>
                </a:rPr>
                <a:t>P0.0</a:t>
              </a:r>
              <a:r>
                <a:rPr lang="zh-CN" altLang="en-US" sz="1600">
                  <a:latin typeface="Times New Roman" pitchFamily="18" charset="0"/>
                </a:rPr>
                <a:t>口状态，输出高电平</a:t>
              </a:r>
            </a:p>
          </p:txBody>
        </p:sp>
      </p:grpSp>
      <p:grpSp>
        <p:nvGrpSpPr>
          <p:cNvPr id="410696" name="Group 72"/>
          <p:cNvGrpSpPr>
            <a:grpSpLocks/>
          </p:cNvGrpSpPr>
          <p:nvPr/>
        </p:nvGrpSpPr>
        <p:grpSpPr bwMode="auto">
          <a:xfrm>
            <a:off x="2786063" y="2060575"/>
            <a:ext cx="5257800" cy="935038"/>
            <a:chOff x="839" y="3884"/>
            <a:chExt cx="3312" cy="589"/>
          </a:xfrm>
        </p:grpSpPr>
        <p:sp>
          <p:nvSpPr>
            <p:cNvPr id="410697" name="Line 73"/>
            <p:cNvSpPr>
              <a:spLocks noChangeShapeType="1"/>
            </p:cNvSpPr>
            <p:nvPr/>
          </p:nvSpPr>
          <p:spPr bwMode="auto">
            <a:xfrm>
              <a:off x="1065" y="4357"/>
              <a:ext cx="412" cy="0"/>
            </a:xfrm>
            <a:prstGeom prst="line">
              <a:avLst/>
            </a:prstGeom>
            <a:noFill/>
            <a:ln w="28575">
              <a:solidFill>
                <a:srgbClr val="FF0066"/>
              </a:solidFill>
              <a:round/>
              <a:headEnd/>
              <a:tailEnd/>
            </a:ln>
            <a:effectLst/>
          </p:spPr>
          <p:txBody>
            <a:bodyPr wrap="none" anchor="ctr"/>
            <a:lstStyle/>
            <a:p>
              <a:endParaRPr lang="zh-CN" altLang="en-US"/>
            </a:p>
          </p:txBody>
        </p:sp>
        <p:sp>
          <p:nvSpPr>
            <p:cNvPr id="410698" name="Oval 74"/>
            <p:cNvSpPr>
              <a:spLocks noChangeArrowheads="1"/>
            </p:cNvSpPr>
            <p:nvPr/>
          </p:nvSpPr>
          <p:spPr bwMode="auto">
            <a:xfrm>
              <a:off x="1477" y="4337"/>
              <a:ext cx="42" cy="45"/>
            </a:xfrm>
            <a:prstGeom prst="ellipse">
              <a:avLst/>
            </a:prstGeom>
            <a:noFill/>
            <a:ln w="28575" algn="ctr">
              <a:solidFill>
                <a:srgbClr val="FF0066"/>
              </a:solidFill>
              <a:round/>
              <a:headEnd/>
              <a:tailEnd/>
            </a:ln>
            <a:effectLst/>
          </p:spPr>
          <p:txBody>
            <a:bodyPr wrap="none" anchor="ctr"/>
            <a:lstStyle/>
            <a:p>
              <a:endParaRPr lang="zh-CN" altLang="en-US"/>
            </a:p>
          </p:txBody>
        </p:sp>
        <p:grpSp>
          <p:nvGrpSpPr>
            <p:cNvPr id="410699" name="Group 75"/>
            <p:cNvGrpSpPr>
              <a:grpSpLocks/>
            </p:cNvGrpSpPr>
            <p:nvPr/>
          </p:nvGrpSpPr>
          <p:grpSpPr bwMode="auto">
            <a:xfrm>
              <a:off x="1746" y="4090"/>
              <a:ext cx="272" cy="45"/>
              <a:chOff x="1837" y="2684"/>
              <a:chExt cx="272" cy="45"/>
            </a:xfrm>
          </p:grpSpPr>
          <p:sp>
            <p:nvSpPr>
              <p:cNvPr id="410700" name="Line 76"/>
              <p:cNvSpPr>
                <a:spLocks noChangeShapeType="1"/>
              </p:cNvSpPr>
              <p:nvPr/>
            </p:nvSpPr>
            <p:spPr bwMode="auto">
              <a:xfrm flipH="1">
                <a:off x="1882" y="2704"/>
                <a:ext cx="227" cy="0"/>
              </a:xfrm>
              <a:prstGeom prst="line">
                <a:avLst/>
              </a:prstGeom>
              <a:noFill/>
              <a:ln w="28575">
                <a:solidFill>
                  <a:srgbClr val="FF0066"/>
                </a:solidFill>
                <a:round/>
                <a:headEnd/>
                <a:tailEnd/>
              </a:ln>
              <a:effectLst/>
            </p:spPr>
            <p:txBody>
              <a:bodyPr wrap="none" anchor="ctr"/>
              <a:lstStyle/>
              <a:p>
                <a:endParaRPr lang="zh-CN" altLang="en-US"/>
              </a:p>
            </p:txBody>
          </p:sp>
          <p:sp>
            <p:nvSpPr>
              <p:cNvPr id="410701" name="Oval 77"/>
              <p:cNvSpPr>
                <a:spLocks noChangeArrowheads="1"/>
              </p:cNvSpPr>
              <p:nvPr/>
            </p:nvSpPr>
            <p:spPr bwMode="auto">
              <a:xfrm flipH="1">
                <a:off x="1837" y="2684"/>
                <a:ext cx="45" cy="45"/>
              </a:xfrm>
              <a:prstGeom prst="ellipse">
                <a:avLst/>
              </a:prstGeom>
              <a:noFill/>
              <a:ln w="28575" algn="ctr">
                <a:solidFill>
                  <a:srgbClr val="FF0066"/>
                </a:solidFill>
                <a:round/>
                <a:headEnd/>
                <a:tailEnd/>
              </a:ln>
              <a:effectLst/>
            </p:spPr>
            <p:txBody>
              <a:bodyPr wrap="none" anchor="ctr"/>
              <a:lstStyle/>
              <a:p>
                <a:endParaRPr lang="zh-CN" altLang="en-US"/>
              </a:p>
            </p:txBody>
          </p:sp>
        </p:grpSp>
        <p:sp>
          <p:nvSpPr>
            <p:cNvPr id="410702" name="Line 78"/>
            <p:cNvSpPr>
              <a:spLocks noChangeShapeType="1"/>
            </p:cNvSpPr>
            <p:nvPr/>
          </p:nvSpPr>
          <p:spPr bwMode="auto">
            <a:xfrm flipV="1">
              <a:off x="1519" y="4110"/>
              <a:ext cx="227" cy="227"/>
            </a:xfrm>
            <a:prstGeom prst="line">
              <a:avLst/>
            </a:prstGeom>
            <a:noFill/>
            <a:ln w="28575">
              <a:solidFill>
                <a:srgbClr val="FF0066"/>
              </a:solidFill>
              <a:round/>
              <a:headEnd/>
              <a:tailEnd/>
            </a:ln>
            <a:effectLst/>
          </p:spPr>
          <p:txBody>
            <a:bodyPr wrap="none" anchor="ctr"/>
            <a:lstStyle/>
            <a:p>
              <a:endParaRPr lang="zh-CN" altLang="en-US"/>
            </a:p>
          </p:txBody>
        </p:sp>
        <p:sp>
          <p:nvSpPr>
            <p:cNvPr id="410703" name="Line 79"/>
            <p:cNvSpPr>
              <a:spLocks noChangeShapeType="1"/>
            </p:cNvSpPr>
            <p:nvPr/>
          </p:nvSpPr>
          <p:spPr bwMode="auto">
            <a:xfrm>
              <a:off x="2018" y="4110"/>
              <a:ext cx="453" cy="0"/>
            </a:xfrm>
            <a:prstGeom prst="line">
              <a:avLst/>
            </a:prstGeom>
            <a:noFill/>
            <a:ln w="28575">
              <a:solidFill>
                <a:srgbClr val="FF0066"/>
              </a:solidFill>
              <a:round/>
              <a:headEnd/>
              <a:tailEnd/>
            </a:ln>
            <a:effectLst/>
          </p:spPr>
          <p:txBody>
            <a:bodyPr wrap="none" anchor="ctr"/>
            <a:lstStyle/>
            <a:p>
              <a:endParaRPr lang="zh-CN" altLang="en-US"/>
            </a:p>
          </p:txBody>
        </p:sp>
        <p:sp>
          <p:nvSpPr>
            <p:cNvPr id="410704" name="Oval 80"/>
            <p:cNvSpPr>
              <a:spLocks noChangeArrowheads="1"/>
            </p:cNvSpPr>
            <p:nvPr/>
          </p:nvSpPr>
          <p:spPr bwMode="auto">
            <a:xfrm>
              <a:off x="2471" y="4090"/>
              <a:ext cx="45" cy="45"/>
            </a:xfrm>
            <a:prstGeom prst="ellipse">
              <a:avLst/>
            </a:prstGeom>
            <a:noFill/>
            <a:ln w="28575" algn="ctr">
              <a:solidFill>
                <a:srgbClr val="FF0066"/>
              </a:solidFill>
              <a:round/>
              <a:headEnd/>
              <a:tailEnd/>
            </a:ln>
            <a:effectLst/>
          </p:spPr>
          <p:txBody>
            <a:bodyPr wrap="none" anchor="ctr"/>
            <a:lstStyle/>
            <a:p>
              <a:endParaRPr lang="zh-CN" altLang="en-US"/>
            </a:p>
          </p:txBody>
        </p:sp>
        <p:sp>
          <p:nvSpPr>
            <p:cNvPr id="410705" name="Line 81"/>
            <p:cNvSpPr>
              <a:spLocks noChangeShapeType="1"/>
            </p:cNvSpPr>
            <p:nvPr/>
          </p:nvSpPr>
          <p:spPr bwMode="auto">
            <a:xfrm flipH="1">
              <a:off x="2789" y="3974"/>
              <a:ext cx="227" cy="0"/>
            </a:xfrm>
            <a:prstGeom prst="line">
              <a:avLst/>
            </a:prstGeom>
            <a:noFill/>
            <a:ln w="28575">
              <a:solidFill>
                <a:srgbClr val="FF0066"/>
              </a:solidFill>
              <a:round/>
              <a:headEnd/>
              <a:tailEnd/>
            </a:ln>
            <a:effectLst/>
          </p:spPr>
          <p:txBody>
            <a:bodyPr wrap="none" anchor="ctr"/>
            <a:lstStyle/>
            <a:p>
              <a:endParaRPr lang="zh-CN" altLang="en-US"/>
            </a:p>
          </p:txBody>
        </p:sp>
        <p:sp>
          <p:nvSpPr>
            <p:cNvPr id="410706" name="Oval 82"/>
            <p:cNvSpPr>
              <a:spLocks noChangeArrowheads="1"/>
            </p:cNvSpPr>
            <p:nvPr/>
          </p:nvSpPr>
          <p:spPr bwMode="auto">
            <a:xfrm flipH="1">
              <a:off x="2744" y="3954"/>
              <a:ext cx="45" cy="45"/>
            </a:xfrm>
            <a:prstGeom prst="ellipse">
              <a:avLst/>
            </a:prstGeom>
            <a:noFill/>
            <a:ln w="28575" algn="ctr">
              <a:solidFill>
                <a:srgbClr val="FF0066"/>
              </a:solidFill>
              <a:round/>
              <a:headEnd/>
              <a:tailEnd/>
            </a:ln>
            <a:effectLst/>
          </p:spPr>
          <p:txBody>
            <a:bodyPr wrap="none" anchor="ctr"/>
            <a:lstStyle/>
            <a:p>
              <a:endParaRPr lang="zh-CN" altLang="en-US"/>
            </a:p>
          </p:txBody>
        </p:sp>
        <p:sp>
          <p:nvSpPr>
            <p:cNvPr id="410707" name="Line 83"/>
            <p:cNvSpPr>
              <a:spLocks noChangeShapeType="1"/>
            </p:cNvSpPr>
            <p:nvPr/>
          </p:nvSpPr>
          <p:spPr bwMode="auto">
            <a:xfrm flipV="1">
              <a:off x="2516" y="3974"/>
              <a:ext cx="227" cy="136"/>
            </a:xfrm>
            <a:prstGeom prst="line">
              <a:avLst/>
            </a:prstGeom>
            <a:noFill/>
            <a:ln w="28575">
              <a:solidFill>
                <a:srgbClr val="FF0066"/>
              </a:solidFill>
              <a:round/>
              <a:headEnd/>
              <a:tailEnd/>
            </a:ln>
            <a:effectLst/>
          </p:spPr>
          <p:txBody>
            <a:bodyPr wrap="none" anchor="ctr"/>
            <a:lstStyle/>
            <a:p>
              <a:endParaRPr lang="zh-CN" altLang="en-US"/>
            </a:p>
          </p:txBody>
        </p:sp>
        <p:sp>
          <p:nvSpPr>
            <p:cNvPr id="410708" name="Oval 84"/>
            <p:cNvSpPr>
              <a:spLocks noChangeArrowheads="1"/>
            </p:cNvSpPr>
            <p:nvPr/>
          </p:nvSpPr>
          <p:spPr bwMode="auto">
            <a:xfrm>
              <a:off x="3379" y="4090"/>
              <a:ext cx="45" cy="45"/>
            </a:xfrm>
            <a:prstGeom prst="ellipse">
              <a:avLst/>
            </a:prstGeom>
            <a:noFill/>
            <a:ln w="28575" algn="ctr">
              <a:solidFill>
                <a:srgbClr val="FF0066"/>
              </a:solidFill>
              <a:round/>
              <a:headEnd/>
              <a:tailEnd/>
            </a:ln>
            <a:effectLst/>
          </p:spPr>
          <p:txBody>
            <a:bodyPr wrap="none" anchor="ctr"/>
            <a:lstStyle/>
            <a:p>
              <a:endParaRPr lang="zh-CN" altLang="en-US"/>
            </a:p>
          </p:txBody>
        </p:sp>
        <p:grpSp>
          <p:nvGrpSpPr>
            <p:cNvPr id="410709" name="Group 85"/>
            <p:cNvGrpSpPr>
              <a:grpSpLocks/>
            </p:cNvGrpSpPr>
            <p:nvPr/>
          </p:nvGrpSpPr>
          <p:grpSpPr bwMode="auto">
            <a:xfrm>
              <a:off x="3651" y="3974"/>
              <a:ext cx="272" cy="45"/>
              <a:chOff x="1837" y="2684"/>
              <a:chExt cx="272" cy="45"/>
            </a:xfrm>
          </p:grpSpPr>
          <p:sp>
            <p:nvSpPr>
              <p:cNvPr id="410710" name="Line 86"/>
              <p:cNvSpPr>
                <a:spLocks noChangeShapeType="1"/>
              </p:cNvSpPr>
              <p:nvPr/>
            </p:nvSpPr>
            <p:spPr bwMode="auto">
              <a:xfrm flipH="1">
                <a:off x="1882" y="2704"/>
                <a:ext cx="227" cy="0"/>
              </a:xfrm>
              <a:prstGeom prst="line">
                <a:avLst/>
              </a:prstGeom>
              <a:noFill/>
              <a:ln w="28575">
                <a:solidFill>
                  <a:srgbClr val="FF0066"/>
                </a:solidFill>
                <a:round/>
                <a:headEnd/>
                <a:tailEnd/>
              </a:ln>
              <a:effectLst/>
            </p:spPr>
            <p:txBody>
              <a:bodyPr wrap="none" anchor="ctr"/>
              <a:lstStyle/>
              <a:p>
                <a:endParaRPr lang="zh-CN" altLang="en-US"/>
              </a:p>
            </p:txBody>
          </p:sp>
          <p:sp>
            <p:nvSpPr>
              <p:cNvPr id="410711" name="Oval 87"/>
              <p:cNvSpPr>
                <a:spLocks noChangeArrowheads="1"/>
              </p:cNvSpPr>
              <p:nvPr/>
            </p:nvSpPr>
            <p:spPr bwMode="auto">
              <a:xfrm flipH="1">
                <a:off x="1837" y="2684"/>
                <a:ext cx="45" cy="45"/>
              </a:xfrm>
              <a:prstGeom prst="ellipse">
                <a:avLst/>
              </a:prstGeom>
              <a:noFill/>
              <a:ln w="28575" algn="ctr">
                <a:solidFill>
                  <a:srgbClr val="FF0066"/>
                </a:solidFill>
                <a:round/>
                <a:headEnd/>
                <a:tailEnd/>
              </a:ln>
              <a:effectLst/>
            </p:spPr>
            <p:txBody>
              <a:bodyPr wrap="none" anchor="ctr"/>
              <a:lstStyle/>
              <a:p>
                <a:endParaRPr lang="zh-CN" altLang="en-US"/>
              </a:p>
            </p:txBody>
          </p:sp>
        </p:grpSp>
        <p:sp>
          <p:nvSpPr>
            <p:cNvPr id="410712" name="Line 88"/>
            <p:cNvSpPr>
              <a:spLocks noChangeShapeType="1"/>
            </p:cNvSpPr>
            <p:nvPr/>
          </p:nvSpPr>
          <p:spPr bwMode="auto">
            <a:xfrm flipV="1">
              <a:off x="3424" y="3974"/>
              <a:ext cx="227" cy="136"/>
            </a:xfrm>
            <a:prstGeom prst="line">
              <a:avLst/>
            </a:prstGeom>
            <a:noFill/>
            <a:ln w="28575">
              <a:solidFill>
                <a:srgbClr val="FF0066"/>
              </a:solidFill>
              <a:round/>
              <a:headEnd/>
              <a:tailEnd/>
            </a:ln>
            <a:effectLst/>
          </p:spPr>
          <p:txBody>
            <a:bodyPr wrap="none" anchor="ctr"/>
            <a:lstStyle/>
            <a:p>
              <a:endParaRPr lang="zh-CN" altLang="en-US"/>
            </a:p>
          </p:txBody>
        </p:sp>
        <p:sp>
          <p:nvSpPr>
            <p:cNvPr id="410713" name="Line 89"/>
            <p:cNvSpPr>
              <a:spLocks noChangeShapeType="1"/>
            </p:cNvSpPr>
            <p:nvPr/>
          </p:nvSpPr>
          <p:spPr bwMode="auto">
            <a:xfrm>
              <a:off x="3151" y="4110"/>
              <a:ext cx="227" cy="0"/>
            </a:xfrm>
            <a:prstGeom prst="line">
              <a:avLst/>
            </a:prstGeom>
            <a:noFill/>
            <a:ln w="28575">
              <a:solidFill>
                <a:srgbClr val="FF0066"/>
              </a:solidFill>
              <a:round/>
              <a:headEnd/>
              <a:tailEnd/>
            </a:ln>
            <a:effectLst/>
          </p:spPr>
          <p:txBody>
            <a:bodyPr wrap="none" anchor="ctr"/>
            <a:lstStyle/>
            <a:p>
              <a:endParaRPr lang="zh-CN" altLang="en-US"/>
            </a:p>
          </p:txBody>
        </p:sp>
        <p:sp>
          <p:nvSpPr>
            <p:cNvPr id="410714" name="Line 90"/>
            <p:cNvSpPr>
              <a:spLocks noChangeShapeType="1"/>
            </p:cNvSpPr>
            <p:nvPr/>
          </p:nvSpPr>
          <p:spPr bwMode="auto">
            <a:xfrm flipV="1">
              <a:off x="3151" y="3974"/>
              <a:ext cx="0" cy="136"/>
            </a:xfrm>
            <a:prstGeom prst="line">
              <a:avLst/>
            </a:prstGeom>
            <a:noFill/>
            <a:ln w="28575">
              <a:solidFill>
                <a:srgbClr val="FF0066"/>
              </a:solidFill>
              <a:round/>
              <a:headEnd/>
              <a:tailEnd/>
            </a:ln>
            <a:effectLst/>
          </p:spPr>
          <p:txBody>
            <a:bodyPr wrap="none" anchor="ctr"/>
            <a:lstStyle/>
            <a:p>
              <a:endParaRPr lang="zh-CN" altLang="en-US"/>
            </a:p>
          </p:txBody>
        </p:sp>
        <p:sp>
          <p:nvSpPr>
            <p:cNvPr id="410715" name="Line 91"/>
            <p:cNvSpPr>
              <a:spLocks noChangeShapeType="1"/>
            </p:cNvSpPr>
            <p:nvPr/>
          </p:nvSpPr>
          <p:spPr bwMode="auto">
            <a:xfrm flipH="1">
              <a:off x="3015" y="3974"/>
              <a:ext cx="136" cy="0"/>
            </a:xfrm>
            <a:prstGeom prst="line">
              <a:avLst/>
            </a:prstGeom>
            <a:noFill/>
            <a:ln w="28575">
              <a:solidFill>
                <a:srgbClr val="FF0066"/>
              </a:solidFill>
              <a:round/>
              <a:headEnd/>
              <a:tailEnd/>
            </a:ln>
            <a:effectLst/>
          </p:spPr>
          <p:txBody>
            <a:bodyPr wrap="none" anchor="ctr"/>
            <a:lstStyle/>
            <a:p>
              <a:endParaRPr lang="zh-CN" altLang="en-US"/>
            </a:p>
          </p:txBody>
        </p:sp>
        <p:sp>
          <p:nvSpPr>
            <p:cNvPr id="410716" name="Rectangle 92"/>
            <p:cNvSpPr>
              <a:spLocks noChangeArrowheads="1"/>
            </p:cNvSpPr>
            <p:nvPr/>
          </p:nvSpPr>
          <p:spPr bwMode="auto">
            <a:xfrm>
              <a:off x="839" y="4246"/>
              <a:ext cx="226" cy="227"/>
            </a:xfrm>
            <a:prstGeom prst="rect">
              <a:avLst/>
            </a:prstGeom>
            <a:solidFill>
              <a:schemeClr val="folHlink"/>
            </a:solidFill>
            <a:ln w="28575" algn="ctr">
              <a:solidFill>
                <a:srgbClr val="FF0066"/>
              </a:solidFill>
              <a:miter lim="800000"/>
              <a:headEnd/>
              <a:tailEnd/>
            </a:ln>
            <a:effectLst/>
          </p:spPr>
          <p:txBody>
            <a:bodyPr wrap="none" anchor="ctr"/>
            <a:lstStyle/>
            <a:p>
              <a:endParaRPr lang="zh-CN" altLang="en-US"/>
            </a:p>
          </p:txBody>
        </p:sp>
        <p:sp>
          <p:nvSpPr>
            <p:cNvPr id="410717" name="Text Box 93"/>
            <p:cNvSpPr txBox="1">
              <a:spLocks noChangeArrowheads="1"/>
            </p:cNvSpPr>
            <p:nvPr/>
          </p:nvSpPr>
          <p:spPr bwMode="auto">
            <a:xfrm>
              <a:off x="3924" y="3884"/>
              <a:ext cx="227" cy="192"/>
            </a:xfrm>
            <a:prstGeom prst="rect">
              <a:avLst/>
            </a:prstGeom>
            <a:noFill/>
            <a:ln w="28575" algn="ctr">
              <a:noFill/>
              <a:miter lim="800000"/>
              <a:headEnd/>
              <a:tailEnd/>
            </a:ln>
            <a:effectLst/>
          </p:spPr>
          <p:txBody>
            <a:bodyPr>
              <a:spAutoFit/>
            </a:bodyPr>
            <a:lstStyle/>
            <a:p>
              <a:pPr>
                <a:spcBef>
                  <a:spcPct val="50000"/>
                </a:spcBef>
              </a:pPr>
              <a:r>
                <a:rPr lang="en-US" altLang="zh-CN" sz="1400" b="1">
                  <a:solidFill>
                    <a:srgbClr val="FF0066"/>
                  </a:solidFill>
                  <a:latin typeface="Times New Roman" pitchFamily="18" charset="0"/>
                </a:rPr>
                <a:t>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 presetClass="entr" presetSubtype="2" fill="hold" grpId="0" nodeType="afterEffect">
                                  <p:stCondLst>
                                    <p:cond delay="0"/>
                                  </p:stCondLst>
                                  <p:childTnLst>
                                    <p:set>
                                      <p:cBhvr>
                                        <p:cTn id="6" dur="1" fill="hold">
                                          <p:stCondLst>
                                            <p:cond delay="0"/>
                                          </p:stCondLst>
                                        </p:cTn>
                                        <p:tgtEl>
                                          <p:spTgt spid="410685">
                                            <p:txEl>
                                              <p:pRg st="0" end="0"/>
                                            </p:txEl>
                                          </p:spTgt>
                                        </p:tgtEl>
                                        <p:attrNameLst>
                                          <p:attrName>style.visibility</p:attrName>
                                        </p:attrNameLst>
                                      </p:cBhvr>
                                      <p:to>
                                        <p:strVal val="visible"/>
                                      </p:to>
                                    </p:set>
                                    <p:anim calcmode="lin" valueType="num">
                                      <p:cBhvr additive="base">
                                        <p:cTn id="7" dur="500" fill="hold"/>
                                        <p:tgtEl>
                                          <p:spTgt spid="41068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10685">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2" presetClass="entr" presetSubtype="8" fill="hold" grpId="0" nodeType="afterEffect">
                                  <p:stCondLst>
                                    <p:cond delay="0"/>
                                  </p:stCondLst>
                                  <p:childTnLst>
                                    <p:set>
                                      <p:cBhvr>
                                        <p:cTn id="11" dur="1" fill="hold">
                                          <p:stCondLst>
                                            <p:cond delay="0"/>
                                          </p:stCondLst>
                                        </p:cTn>
                                        <p:tgtEl>
                                          <p:spTgt spid="410686"/>
                                        </p:tgtEl>
                                        <p:attrNameLst>
                                          <p:attrName>style.visibility</p:attrName>
                                        </p:attrNameLst>
                                      </p:cBhvr>
                                      <p:to>
                                        <p:strVal val="visible"/>
                                      </p:to>
                                    </p:set>
                                    <p:animEffect transition="in" filter="slide(fromLeft)">
                                      <p:cBhvr>
                                        <p:cTn id="12" dur="500"/>
                                        <p:tgtEl>
                                          <p:spTgt spid="410686"/>
                                        </p:tgtEl>
                                      </p:cBhvr>
                                    </p:animEffect>
                                  </p:childTnLst>
                                </p:cTn>
                              </p:par>
                            </p:childTnLst>
                          </p:cTn>
                        </p:par>
                        <p:par>
                          <p:cTn id="13" fill="hold">
                            <p:stCondLst>
                              <p:cond delay="1500"/>
                            </p:stCondLst>
                            <p:childTnLst>
                              <p:par>
                                <p:cTn id="14" presetID="2" presetClass="entr" presetSubtype="2" fill="hold" grpId="0" nodeType="afterEffect">
                                  <p:stCondLst>
                                    <p:cond delay="0"/>
                                  </p:stCondLst>
                                  <p:childTnLst>
                                    <p:set>
                                      <p:cBhvr>
                                        <p:cTn id="15" dur="1" fill="hold">
                                          <p:stCondLst>
                                            <p:cond delay="0"/>
                                          </p:stCondLst>
                                        </p:cTn>
                                        <p:tgtEl>
                                          <p:spTgt spid="410627"/>
                                        </p:tgtEl>
                                        <p:attrNameLst>
                                          <p:attrName>style.visibility</p:attrName>
                                        </p:attrNameLst>
                                      </p:cBhvr>
                                      <p:to>
                                        <p:strVal val="visible"/>
                                      </p:to>
                                    </p:set>
                                    <p:anim calcmode="lin" valueType="num">
                                      <p:cBhvr additive="base">
                                        <p:cTn id="16" dur="500" fill="hold"/>
                                        <p:tgtEl>
                                          <p:spTgt spid="410627"/>
                                        </p:tgtEl>
                                        <p:attrNameLst>
                                          <p:attrName>ppt_x</p:attrName>
                                        </p:attrNameLst>
                                      </p:cBhvr>
                                      <p:tavLst>
                                        <p:tav tm="0">
                                          <p:val>
                                            <p:strVal val="1+#ppt_w/2"/>
                                          </p:val>
                                        </p:tav>
                                        <p:tav tm="100000">
                                          <p:val>
                                            <p:strVal val="#ppt_x"/>
                                          </p:val>
                                        </p:tav>
                                      </p:tavLst>
                                    </p:anim>
                                    <p:anim calcmode="lin" valueType="num">
                                      <p:cBhvr additive="base">
                                        <p:cTn id="17" dur="500" fill="hold"/>
                                        <p:tgtEl>
                                          <p:spTgt spid="410627"/>
                                        </p:tgtEl>
                                        <p:attrNameLst>
                                          <p:attrName>ppt_y</p:attrName>
                                        </p:attrNameLst>
                                      </p:cBhvr>
                                      <p:tavLst>
                                        <p:tav tm="0">
                                          <p:val>
                                            <p:strVal val="#ppt_y"/>
                                          </p:val>
                                        </p:tav>
                                        <p:tav tm="100000">
                                          <p:val>
                                            <p:strVal val="#ppt_y"/>
                                          </p:val>
                                        </p:tav>
                                      </p:tavLst>
                                    </p:anim>
                                  </p:childTnLst>
                                </p:cTn>
                              </p:par>
                            </p:childTnLst>
                          </p:cTn>
                        </p:par>
                        <p:par>
                          <p:cTn id="18" fill="hold">
                            <p:stCondLst>
                              <p:cond delay="2000"/>
                            </p:stCondLst>
                            <p:childTnLst>
                              <p:par>
                                <p:cTn id="19" presetID="12" presetClass="entr" presetSubtype="1" fill="hold" grpId="0" nodeType="afterEffect">
                                  <p:stCondLst>
                                    <p:cond delay="0"/>
                                  </p:stCondLst>
                                  <p:childTnLst>
                                    <p:set>
                                      <p:cBhvr>
                                        <p:cTn id="20" dur="1" fill="hold">
                                          <p:stCondLst>
                                            <p:cond delay="0"/>
                                          </p:stCondLst>
                                        </p:cTn>
                                        <p:tgtEl>
                                          <p:spTgt spid="410626"/>
                                        </p:tgtEl>
                                        <p:attrNameLst>
                                          <p:attrName>style.visibility</p:attrName>
                                        </p:attrNameLst>
                                      </p:cBhvr>
                                      <p:to>
                                        <p:strVal val="visible"/>
                                      </p:to>
                                    </p:set>
                                    <p:animEffect transition="in" filter="slide(fromTop)">
                                      <p:cBhvr>
                                        <p:cTn id="21" dur="500"/>
                                        <p:tgtEl>
                                          <p:spTgt spid="41062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410687"/>
                                        </p:tgtEl>
                                        <p:attrNameLst>
                                          <p:attrName>style.visibility</p:attrName>
                                        </p:attrNameLst>
                                      </p:cBhvr>
                                      <p:to>
                                        <p:strVal val="visible"/>
                                      </p:to>
                                    </p:set>
                                    <p:animEffect transition="in" filter="wipe(right)">
                                      <p:cBhvr>
                                        <p:cTn id="26" dur="500"/>
                                        <p:tgtEl>
                                          <p:spTgt spid="410687"/>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410645"/>
                                        </p:tgtEl>
                                        <p:attrNameLst>
                                          <p:attrName>style.visibility</p:attrName>
                                        </p:attrNameLst>
                                      </p:cBhvr>
                                      <p:to>
                                        <p:strVal val="visible"/>
                                      </p:to>
                                    </p:set>
                                    <p:animEffect transition="in" filter="wipe(left)">
                                      <p:cBhvr>
                                        <p:cTn id="30" dur="500"/>
                                        <p:tgtEl>
                                          <p:spTgt spid="41064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nodeType="clickEffect">
                                  <p:stCondLst>
                                    <p:cond delay="0"/>
                                  </p:stCondLst>
                                  <p:childTnLst>
                                    <p:set>
                                      <p:cBhvr>
                                        <p:cTn id="34" dur="1" fill="hold">
                                          <p:stCondLst>
                                            <p:cond delay="0"/>
                                          </p:stCondLst>
                                        </p:cTn>
                                        <p:tgtEl>
                                          <p:spTgt spid="410690"/>
                                        </p:tgtEl>
                                        <p:attrNameLst>
                                          <p:attrName>style.visibility</p:attrName>
                                        </p:attrNameLst>
                                      </p:cBhvr>
                                      <p:to>
                                        <p:strVal val="visible"/>
                                      </p:to>
                                    </p:set>
                                    <p:animEffect transition="in" filter="wipe(right)">
                                      <p:cBhvr>
                                        <p:cTn id="35" dur="500"/>
                                        <p:tgtEl>
                                          <p:spTgt spid="410690"/>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410654"/>
                                        </p:tgtEl>
                                        <p:attrNameLst>
                                          <p:attrName>style.visibility</p:attrName>
                                        </p:attrNameLst>
                                      </p:cBhvr>
                                      <p:to>
                                        <p:strVal val="visible"/>
                                      </p:to>
                                    </p:set>
                                    <p:animEffect transition="in" filter="wipe(left)">
                                      <p:cBhvr>
                                        <p:cTn id="39" dur="500"/>
                                        <p:tgtEl>
                                          <p:spTgt spid="41065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nodeType="clickEffect">
                                  <p:stCondLst>
                                    <p:cond delay="0"/>
                                  </p:stCondLst>
                                  <p:childTnLst>
                                    <p:set>
                                      <p:cBhvr>
                                        <p:cTn id="43" dur="1" fill="hold">
                                          <p:stCondLst>
                                            <p:cond delay="0"/>
                                          </p:stCondLst>
                                        </p:cTn>
                                        <p:tgtEl>
                                          <p:spTgt spid="410693"/>
                                        </p:tgtEl>
                                        <p:attrNameLst>
                                          <p:attrName>style.visibility</p:attrName>
                                        </p:attrNameLst>
                                      </p:cBhvr>
                                      <p:to>
                                        <p:strVal val="visible"/>
                                      </p:to>
                                    </p:set>
                                    <p:animEffect transition="in" filter="wipe(right)">
                                      <p:cBhvr>
                                        <p:cTn id="44" dur="500"/>
                                        <p:tgtEl>
                                          <p:spTgt spid="410693"/>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410664"/>
                                        </p:tgtEl>
                                        <p:attrNameLst>
                                          <p:attrName>style.visibility</p:attrName>
                                        </p:attrNameLst>
                                      </p:cBhvr>
                                      <p:to>
                                        <p:strVal val="visible"/>
                                      </p:to>
                                    </p:set>
                                    <p:animEffect transition="in" filter="wipe(left)">
                                      <p:cBhvr>
                                        <p:cTn id="48" dur="500"/>
                                        <p:tgtEl>
                                          <p:spTgt spid="410664"/>
                                        </p:tgtEl>
                                      </p:cBhvr>
                                    </p:animEffect>
                                  </p:childTnLst>
                                </p:cTn>
                              </p:par>
                            </p:childTnLst>
                          </p:cTn>
                        </p:par>
                        <p:par>
                          <p:cTn id="49" fill="hold">
                            <p:stCondLst>
                              <p:cond delay="1000"/>
                            </p:stCondLst>
                            <p:childTnLst>
                              <p:par>
                                <p:cTn id="50" presetID="22" presetClass="entr" presetSubtype="2" fill="hold" nodeType="afterEffect">
                                  <p:stCondLst>
                                    <p:cond delay="0"/>
                                  </p:stCondLst>
                                  <p:childTnLst>
                                    <p:set>
                                      <p:cBhvr>
                                        <p:cTn id="51" dur="1" fill="hold">
                                          <p:stCondLst>
                                            <p:cond delay="0"/>
                                          </p:stCondLst>
                                        </p:cTn>
                                        <p:tgtEl>
                                          <p:spTgt spid="410696"/>
                                        </p:tgtEl>
                                        <p:attrNameLst>
                                          <p:attrName>style.visibility</p:attrName>
                                        </p:attrNameLst>
                                      </p:cBhvr>
                                      <p:to>
                                        <p:strVal val="visible"/>
                                      </p:to>
                                    </p:set>
                                    <p:animEffect transition="in" filter="wipe(right)">
                                      <p:cBhvr>
                                        <p:cTn id="52" dur="500"/>
                                        <p:tgtEl>
                                          <p:spTgt spid="410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6" grpId="0" animBg="1"/>
      <p:bldP spid="410627" grpId="0" autoUpdateAnimBg="0"/>
      <p:bldP spid="410645" grpId="0" animBg="1"/>
      <p:bldP spid="410654" grpId="0" animBg="1"/>
      <p:bldP spid="410664" grpId="0" animBg="1"/>
      <p:bldP spid="410685" grpId="0" build="p"/>
      <p:bldP spid="410686"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1650" name="Rectangle 2"/>
          <p:cNvSpPr>
            <a:spLocks noChangeArrowheads="1"/>
          </p:cNvSpPr>
          <p:nvPr/>
        </p:nvSpPr>
        <p:spPr bwMode="auto">
          <a:xfrm>
            <a:off x="2566988" y="4273550"/>
            <a:ext cx="3733800" cy="2179638"/>
          </a:xfrm>
          <a:prstGeom prst="rect">
            <a:avLst/>
          </a:prstGeom>
          <a:solidFill>
            <a:schemeClr val="bg1"/>
          </a:solidFill>
          <a:ln w="9525">
            <a:solidFill>
              <a:schemeClr val="tx1"/>
            </a:solidFill>
            <a:miter lim="800000"/>
            <a:headEnd/>
            <a:tailEnd/>
          </a:ln>
          <a:effectLst/>
        </p:spPr>
        <p:txBody>
          <a:bodyPr>
            <a:spAutoFit/>
          </a:bodyPr>
          <a:lstStyle/>
          <a:p>
            <a:pPr algn="l">
              <a:spcBef>
                <a:spcPct val="50000"/>
              </a:spcBef>
            </a:pPr>
            <a:r>
              <a:rPr lang="en-US" altLang="zh-CN" sz="1600">
                <a:ea typeface="华文新魏" pitchFamily="2" charset="-122"/>
              </a:rPr>
              <a:t>    ...</a:t>
            </a:r>
          </a:p>
          <a:p>
            <a:pPr algn="l">
              <a:spcBef>
                <a:spcPct val="50000"/>
              </a:spcBef>
            </a:pPr>
            <a:r>
              <a:rPr lang="en-US" altLang="zh-CN" sz="1600">
                <a:ea typeface="华文新魏" pitchFamily="2" charset="-122"/>
              </a:rPr>
              <a:t>    uint32 PinStat;</a:t>
            </a:r>
          </a:p>
          <a:p>
            <a:pPr algn="l">
              <a:spcBef>
                <a:spcPct val="50000"/>
              </a:spcBef>
            </a:pPr>
            <a:r>
              <a:rPr lang="en-US" altLang="zh-CN" sz="1600">
                <a:ea typeface="华文新魏" pitchFamily="2" charset="-122"/>
              </a:rPr>
              <a:t>    PINSEL0 &amp;= 0xFFFFFFFC;</a:t>
            </a:r>
          </a:p>
          <a:p>
            <a:pPr algn="l">
              <a:spcBef>
                <a:spcPct val="50000"/>
              </a:spcBef>
            </a:pPr>
            <a:r>
              <a:rPr lang="en-US" altLang="zh-CN" sz="1600">
                <a:ea typeface="华文新魏" pitchFamily="2" charset="-122"/>
              </a:rPr>
              <a:t>    IO0DIR  &amp;= 0xFFFFFFFE;</a:t>
            </a:r>
          </a:p>
          <a:p>
            <a:pPr algn="l">
              <a:spcBef>
                <a:spcPct val="50000"/>
              </a:spcBef>
            </a:pPr>
            <a:r>
              <a:rPr lang="en-US" altLang="zh-CN" sz="1600">
                <a:ea typeface="华文新魏" pitchFamily="2" charset="-122"/>
              </a:rPr>
              <a:t>    PinStat  = IO0PIN;</a:t>
            </a:r>
          </a:p>
          <a:p>
            <a:pPr algn="l">
              <a:spcBef>
                <a:spcPct val="50000"/>
              </a:spcBef>
            </a:pPr>
            <a:r>
              <a:rPr lang="en-US" altLang="zh-CN" sz="1600">
                <a:ea typeface="华文新魏" pitchFamily="2" charset="-122"/>
              </a:rPr>
              <a:t>    ...</a:t>
            </a:r>
          </a:p>
        </p:txBody>
      </p:sp>
      <p:sp>
        <p:nvSpPr>
          <p:cNvPr id="411651" name="Text Box 3"/>
          <p:cNvSpPr txBox="1">
            <a:spLocks noChangeArrowheads="1"/>
          </p:cNvSpPr>
          <p:nvPr/>
        </p:nvSpPr>
        <p:spPr bwMode="auto">
          <a:xfrm>
            <a:off x="3502025" y="3860801"/>
            <a:ext cx="1828800" cy="396875"/>
          </a:xfrm>
          <a:prstGeom prst="rect">
            <a:avLst/>
          </a:prstGeom>
          <a:noFill/>
          <a:ln w="9525">
            <a:noFill/>
            <a:miter lim="800000"/>
            <a:headEnd/>
            <a:tailEnd/>
          </a:ln>
          <a:effectLst/>
        </p:spPr>
        <p:txBody>
          <a:bodyPr>
            <a:spAutoFit/>
          </a:bodyPr>
          <a:lstStyle/>
          <a:p>
            <a:pPr>
              <a:spcBef>
                <a:spcPct val="50000"/>
              </a:spcBef>
            </a:pPr>
            <a:r>
              <a:rPr lang="en-US" altLang="zh-CN" sz="2000">
                <a:latin typeface="华文新魏" pitchFamily="2" charset="-122"/>
                <a:ea typeface="华文新魏" pitchFamily="2" charset="-122"/>
              </a:rPr>
              <a:t>C</a:t>
            </a:r>
            <a:r>
              <a:rPr lang="zh-CN" altLang="en-US" sz="2000">
                <a:latin typeface="华文新魏" pitchFamily="2" charset="-122"/>
                <a:ea typeface="华文新魏" pitchFamily="2" charset="-122"/>
              </a:rPr>
              <a:t>代码：</a:t>
            </a:r>
          </a:p>
        </p:txBody>
      </p:sp>
      <p:sp>
        <p:nvSpPr>
          <p:cNvPr id="411652" name="Rectangle 4"/>
          <p:cNvSpPr>
            <a:spLocks noChangeArrowheads="1"/>
          </p:cNvSpPr>
          <p:nvPr/>
        </p:nvSpPr>
        <p:spPr bwMode="auto">
          <a:xfrm>
            <a:off x="3143251" y="1412875"/>
            <a:ext cx="5832475" cy="2376488"/>
          </a:xfrm>
          <a:prstGeom prst="rect">
            <a:avLst/>
          </a:prstGeom>
          <a:noFill/>
          <a:ln w="19050">
            <a:solidFill>
              <a:schemeClr val="tx1"/>
            </a:solidFill>
            <a:miter lim="800000"/>
            <a:headEnd/>
            <a:tailEnd/>
          </a:ln>
          <a:effectLst/>
        </p:spPr>
        <p:txBody>
          <a:bodyPr wrap="none" anchor="ctr"/>
          <a:lstStyle/>
          <a:p>
            <a:endParaRPr lang="zh-CN" altLang="en-US"/>
          </a:p>
        </p:txBody>
      </p:sp>
      <p:sp>
        <p:nvSpPr>
          <p:cNvPr id="411653" name="Rectangle 5"/>
          <p:cNvSpPr>
            <a:spLocks noChangeArrowheads="1"/>
          </p:cNvSpPr>
          <p:nvPr/>
        </p:nvSpPr>
        <p:spPr bwMode="auto">
          <a:xfrm>
            <a:off x="3648076" y="1989138"/>
            <a:ext cx="792163" cy="1295400"/>
          </a:xfrm>
          <a:prstGeom prst="rect">
            <a:avLst/>
          </a:prstGeom>
          <a:noFill/>
          <a:ln w="19050">
            <a:solidFill>
              <a:schemeClr val="tx1"/>
            </a:solidFill>
            <a:miter lim="800000"/>
            <a:headEnd/>
            <a:tailEnd/>
          </a:ln>
          <a:effectLst/>
        </p:spPr>
        <p:txBody>
          <a:bodyPr wrap="none" anchor="ctr"/>
          <a:lstStyle/>
          <a:p>
            <a:endParaRPr lang="zh-CN" altLang="en-US"/>
          </a:p>
        </p:txBody>
      </p:sp>
      <p:sp>
        <p:nvSpPr>
          <p:cNvPr id="411654" name="Rectangle 6"/>
          <p:cNvSpPr>
            <a:spLocks noChangeArrowheads="1"/>
          </p:cNvSpPr>
          <p:nvPr/>
        </p:nvSpPr>
        <p:spPr bwMode="auto">
          <a:xfrm>
            <a:off x="3648076" y="3284538"/>
            <a:ext cx="792163" cy="215900"/>
          </a:xfrm>
          <a:prstGeom prst="rect">
            <a:avLst/>
          </a:prstGeom>
          <a:solidFill>
            <a:srgbClr val="99CCFF"/>
          </a:solidFill>
          <a:ln w="19050">
            <a:solidFill>
              <a:schemeClr val="tx1"/>
            </a:solidFill>
            <a:miter lim="800000"/>
            <a:headEnd/>
            <a:tailEnd/>
          </a:ln>
          <a:effectLst/>
        </p:spPr>
        <p:txBody>
          <a:bodyPr wrap="none" anchor="ctr"/>
          <a:lstStyle/>
          <a:p>
            <a:r>
              <a:rPr lang="en-US" altLang="zh-CN" sz="1400"/>
              <a:t>PINSEL0</a:t>
            </a:r>
          </a:p>
        </p:txBody>
      </p:sp>
      <p:sp>
        <p:nvSpPr>
          <p:cNvPr id="411655" name="Line 7"/>
          <p:cNvSpPr>
            <a:spLocks noChangeShapeType="1"/>
          </p:cNvSpPr>
          <p:nvPr/>
        </p:nvSpPr>
        <p:spPr bwMode="auto">
          <a:xfrm>
            <a:off x="3143250" y="2668588"/>
            <a:ext cx="654050" cy="0"/>
          </a:xfrm>
          <a:prstGeom prst="line">
            <a:avLst/>
          </a:prstGeom>
          <a:noFill/>
          <a:ln w="19050">
            <a:solidFill>
              <a:schemeClr val="tx1"/>
            </a:solidFill>
            <a:round/>
            <a:headEnd/>
            <a:tailEnd/>
          </a:ln>
          <a:effectLst/>
        </p:spPr>
        <p:txBody>
          <a:bodyPr wrap="none" anchor="ctr"/>
          <a:lstStyle/>
          <a:p>
            <a:endParaRPr lang="zh-CN" altLang="en-US"/>
          </a:p>
        </p:txBody>
      </p:sp>
      <p:sp>
        <p:nvSpPr>
          <p:cNvPr id="411656" name="Oval 8"/>
          <p:cNvSpPr>
            <a:spLocks noChangeArrowheads="1"/>
          </p:cNvSpPr>
          <p:nvPr/>
        </p:nvSpPr>
        <p:spPr bwMode="auto">
          <a:xfrm>
            <a:off x="3797301" y="2636839"/>
            <a:ext cx="66675" cy="71437"/>
          </a:xfrm>
          <a:prstGeom prst="ellipse">
            <a:avLst/>
          </a:prstGeom>
          <a:noFill/>
          <a:ln w="19050" algn="ctr">
            <a:solidFill>
              <a:schemeClr val="tx1"/>
            </a:solidFill>
            <a:round/>
            <a:headEnd/>
            <a:tailEnd/>
          </a:ln>
          <a:effectLst/>
        </p:spPr>
        <p:txBody>
          <a:bodyPr wrap="none" anchor="ctr"/>
          <a:lstStyle/>
          <a:p>
            <a:endParaRPr lang="zh-CN" altLang="en-US"/>
          </a:p>
        </p:txBody>
      </p:sp>
      <p:grpSp>
        <p:nvGrpSpPr>
          <p:cNvPr id="411657" name="Group 9"/>
          <p:cNvGrpSpPr>
            <a:grpSpLocks/>
          </p:cNvGrpSpPr>
          <p:nvPr/>
        </p:nvGrpSpPr>
        <p:grpSpPr bwMode="auto">
          <a:xfrm>
            <a:off x="4224338" y="2244725"/>
            <a:ext cx="431800" cy="71438"/>
            <a:chOff x="1837" y="2684"/>
            <a:chExt cx="272" cy="45"/>
          </a:xfrm>
        </p:grpSpPr>
        <p:sp>
          <p:nvSpPr>
            <p:cNvPr id="411658" name="Line 10"/>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11659" name="Oval 11"/>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11660" name="Group 12"/>
          <p:cNvGrpSpPr>
            <a:grpSpLocks/>
          </p:cNvGrpSpPr>
          <p:nvPr/>
        </p:nvGrpSpPr>
        <p:grpSpPr bwMode="auto">
          <a:xfrm>
            <a:off x="4224338" y="2492375"/>
            <a:ext cx="431800" cy="71438"/>
            <a:chOff x="1837" y="2684"/>
            <a:chExt cx="272" cy="45"/>
          </a:xfrm>
        </p:grpSpPr>
        <p:sp>
          <p:nvSpPr>
            <p:cNvPr id="411661" name="Line 13"/>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11662" name="Oval 14"/>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11663" name="Group 15"/>
          <p:cNvGrpSpPr>
            <a:grpSpLocks/>
          </p:cNvGrpSpPr>
          <p:nvPr/>
        </p:nvGrpSpPr>
        <p:grpSpPr bwMode="auto">
          <a:xfrm>
            <a:off x="4224338" y="2781300"/>
            <a:ext cx="431800" cy="71438"/>
            <a:chOff x="1837" y="2684"/>
            <a:chExt cx="272" cy="45"/>
          </a:xfrm>
        </p:grpSpPr>
        <p:sp>
          <p:nvSpPr>
            <p:cNvPr id="411664" name="Line 16"/>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11665" name="Oval 17"/>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11666" name="Group 18"/>
          <p:cNvGrpSpPr>
            <a:grpSpLocks/>
          </p:cNvGrpSpPr>
          <p:nvPr/>
        </p:nvGrpSpPr>
        <p:grpSpPr bwMode="auto">
          <a:xfrm>
            <a:off x="4224338" y="3068639"/>
            <a:ext cx="431800" cy="71437"/>
            <a:chOff x="1837" y="2684"/>
            <a:chExt cx="272" cy="45"/>
          </a:xfrm>
        </p:grpSpPr>
        <p:sp>
          <p:nvSpPr>
            <p:cNvPr id="411667" name="Line 19"/>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11668" name="Oval 20"/>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sp>
        <p:nvSpPr>
          <p:cNvPr id="411669" name="Line 21"/>
          <p:cNvSpPr>
            <a:spLocks noChangeShapeType="1"/>
          </p:cNvSpPr>
          <p:nvPr/>
        </p:nvSpPr>
        <p:spPr bwMode="auto">
          <a:xfrm flipV="1">
            <a:off x="3863976" y="2276476"/>
            <a:ext cx="360363" cy="360363"/>
          </a:xfrm>
          <a:prstGeom prst="line">
            <a:avLst/>
          </a:prstGeom>
          <a:noFill/>
          <a:ln w="19050">
            <a:solidFill>
              <a:srgbClr val="0000FF"/>
            </a:solidFill>
            <a:round/>
            <a:headEnd/>
            <a:tailEnd/>
          </a:ln>
          <a:effectLst/>
        </p:spPr>
        <p:txBody>
          <a:bodyPr wrap="none" anchor="ctr"/>
          <a:lstStyle/>
          <a:p>
            <a:endParaRPr lang="zh-CN" altLang="en-US"/>
          </a:p>
        </p:txBody>
      </p:sp>
      <p:sp>
        <p:nvSpPr>
          <p:cNvPr id="411670" name="Rectangle 22"/>
          <p:cNvSpPr>
            <a:spLocks noChangeArrowheads="1"/>
          </p:cNvSpPr>
          <p:nvPr/>
        </p:nvSpPr>
        <p:spPr bwMode="auto">
          <a:xfrm>
            <a:off x="5230813" y="1989138"/>
            <a:ext cx="792162" cy="576262"/>
          </a:xfrm>
          <a:prstGeom prst="rect">
            <a:avLst/>
          </a:prstGeom>
          <a:noFill/>
          <a:ln w="19050">
            <a:solidFill>
              <a:schemeClr val="tx1"/>
            </a:solidFill>
            <a:miter lim="800000"/>
            <a:headEnd/>
            <a:tailEnd/>
          </a:ln>
          <a:effectLst/>
        </p:spPr>
        <p:txBody>
          <a:bodyPr wrap="none" anchor="ctr"/>
          <a:lstStyle/>
          <a:p>
            <a:endParaRPr lang="zh-CN" altLang="en-US"/>
          </a:p>
        </p:txBody>
      </p:sp>
      <p:sp>
        <p:nvSpPr>
          <p:cNvPr id="411671" name="Rectangle 23"/>
          <p:cNvSpPr>
            <a:spLocks noChangeArrowheads="1"/>
          </p:cNvSpPr>
          <p:nvPr/>
        </p:nvSpPr>
        <p:spPr bwMode="auto">
          <a:xfrm>
            <a:off x="5230813" y="2565400"/>
            <a:ext cx="792162" cy="215900"/>
          </a:xfrm>
          <a:prstGeom prst="rect">
            <a:avLst/>
          </a:prstGeom>
          <a:solidFill>
            <a:srgbClr val="99CCFF"/>
          </a:solidFill>
          <a:ln w="19050">
            <a:solidFill>
              <a:schemeClr val="tx1"/>
            </a:solidFill>
            <a:miter lim="800000"/>
            <a:headEnd/>
            <a:tailEnd/>
          </a:ln>
          <a:effectLst/>
        </p:spPr>
        <p:txBody>
          <a:bodyPr wrap="none" anchor="ctr"/>
          <a:lstStyle/>
          <a:p>
            <a:r>
              <a:rPr lang="en-US" altLang="zh-CN" sz="1400"/>
              <a:t>IO0DIR</a:t>
            </a:r>
          </a:p>
        </p:txBody>
      </p:sp>
      <p:sp>
        <p:nvSpPr>
          <p:cNvPr id="411672" name="Line 24"/>
          <p:cNvSpPr>
            <a:spLocks noChangeShapeType="1"/>
          </p:cNvSpPr>
          <p:nvPr/>
        </p:nvSpPr>
        <p:spPr bwMode="auto">
          <a:xfrm>
            <a:off x="4656139" y="2276475"/>
            <a:ext cx="719137" cy="0"/>
          </a:xfrm>
          <a:prstGeom prst="line">
            <a:avLst/>
          </a:prstGeom>
          <a:noFill/>
          <a:ln w="19050">
            <a:solidFill>
              <a:schemeClr val="tx1"/>
            </a:solidFill>
            <a:round/>
            <a:headEnd/>
            <a:tailEnd/>
          </a:ln>
          <a:effectLst/>
        </p:spPr>
        <p:txBody>
          <a:bodyPr wrap="none" anchor="ctr"/>
          <a:lstStyle/>
          <a:p>
            <a:endParaRPr lang="zh-CN" altLang="en-US"/>
          </a:p>
        </p:txBody>
      </p:sp>
      <p:sp>
        <p:nvSpPr>
          <p:cNvPr id="411673" name="Oval 25"/>
          <p:cNvSpPr>
            <a:spLocks noChangeArrowheads="1"/>
          </p:cNvSpPr>
          <p:nvPr/>
        </p:nvSpPr>
        <p:spPr bwMode="auto">
          <a:xfrm>
            <a:off x="5375275" y="2244725"/>
            <a:ext cx="71438" cy="71438"/>
          </a:xfrm>
          <a:prstGeom prst="ellipse">
            <a:avLst/>
          </a:prstGeom>
          <a:noFill/>
          <a:ln w="19050" algn="ctr">
            <a:solidFill>
              <a:schemeClr val="tx1"/>
            </a:solidFill>
            <a:round/>
            <a:headEnd/>
            <a:tailEnd/>
          </a:ln>
          <a:effectLst/>
        </p:spPr>
        <p:txBody>
          <a:bodyPr wrap="none" anchor="ctr"/>
          <a:lstStyle/>
          <a:p>
            <a:endParaRPr lang="zh-CN" altLang="en-US"/>
          </a:p>
        </p:txBody>
      </p:sp>
      <p:sp>
        <p:nvSpPr>
          <p:cNvPr id="411674" name="Line 26"/>
          <p:cNvSpPr>
            <a:spLocks noChangeShapeType="1"/>
          </p:cNvSpPr>
          <p:nvPr/>
        </p:nvSpPr>
        <p:spPr bwMode="auto">
          <a:xfrm flipH="1">
            <a:off x="5880101" y="2060575"/>
            <a:ext cx="360363" cy="0"/>
          </a:xfrm>
          <a:prstGeom prst="line">
            <a:avLst/>
          </a:prstGeom>
          <a:noFill/>
          <a:ln w="19050">
            <a:solidFill>
              <a:schemeClr val="tx1"/>
            </a:solidFill>
            <a:round/>
            <a:headEnd/>
            <a:tailEnd/>
          </a:ln>
          <a:effectLst/>
        </p:spPr>
        <p:txBody>
          <a:bodyPr wrap="none" anchor="ctr"/>
          <a:lstStyle/>
          <a:p>
            <a:endParaRPr lang="zh-CN" altLang="en-US"/>
          </a:p>
        </p:txBody>
      </p:sp>
      <p:sp>
        <p:nvSpPr>
          <p:cNvPr id="411675" name="Oval 27"/>
          <p:cNvSpPr>
            <a:spLocks noChangeArrowheads="1"/>
          </p:cNvSpPr>
          <p:nvPr/>
        </p:nvSpPr>
        <p:spPr bwMode="auto">
          <a:xfrm flipH="1">
            <a:off x="5808664" y="2028825"/>
            <a:ext cx="71437" cy="71438"/>
          </a:xfrm>
          <a:prstGeom prst="ellipse">
            <a:avLst/>
          </a:prstGeom>
          <a:noFill/>
          <a:ln w="19050" algn="ctr">
            <a:solidFill>
              <a:schemeClr val="tx1"/>
            </a:solidFill>
            <a:round/>
            <a:headEnd/>
            <a:tailEnd/>
          </a:ln>
          <a:effectLst/>
        </p:spPr>
        <p:txBody>
          <a:bodyPr wrap="none" anchor="ctr"/>
          <a:lstStyle/>
          <a:p>
            <a:endParaRPr lang="zh-CN" altLang="en-US"/>
          </a:p>
        </p:txBody>
      </p:sp>
      <p:sp>
        <p:nvSpPr>
          <p:cNvPr id="411676" name="Line 28"/>
          <p:cNvSpPr>
            <a:spLocks noChangeShapeType="1"/>
          </p:cNvSpPr>
          <p:nvPr/>
        </p:nvSpPr>
        <p:spPr bwMode="auto">
          <a:xfrm flipH="1">
            <a:off x="5880101" y="2452688"/>
            <a:ext cx="360363" cy="0"/>
          </a:xfrm>
          <a:prstGeom prst="line">
            <a:avLst/>
          </a:prstGeom>
          <a:noFill/>
          <a:ln w="19050">
            <a:solidFill>
              <a:schemeClr val="tx1"/>
            </a:solidFill>
            <a:round/>
            <a:headEnd/>
            <a:tailEnd/>
          </a:ln>
          <a:effectLst/>
        </p:spPr>
        <p:txBody>
          <a:bodyPr wrap="none" anchor="ctr"/>
          <a:lstStyle/>
          <a:p>
            <a:endParaRPr lang="zh-CN" altLang="en-US"/>
          </a:p>
        </p:txBody>
      </p:sp>
      <p:sp>
        <p:nvSpPr>
          <p:cNvPr id="411677" name="Oval 29"/>
          <p:cNvSpPr>
            <a:spLocks noChangeArrowheads="1"/>
          </p:cNvSpPr>
          <p:nvPr/>
        </p:nvSpPr>
        <p:spPr bwMode="auto">
          <a:xfrm flipH="1">
            <a:off x="5808664" y="2420939"/>
            <a:ext cx="71437" cy="71437"/>
          </a:xfrm>
          <a:prstGeom prst="ellipse">
            <a:avLst/>
          </a:prstGeom>
          <a:noFill/>
          <a:ln w="19050" algn="ctr">
            <a:solidFill>
              <a:schemeClr val="tx1"/>
            </a:solidFill>
            <a:round/>
            <a:headEnd/>
            <a:tailEnd/>
          </a:ln>
          <a:effectLst/>
        </p:spPr>
        <p:txBody>
          <a:bodyPr wrap="none" anchor="ctr"/>
          <a:lstStyle/>
          <a:p>
            <a:endParaRPr lang="zh-CN" altLang="en-US"/>
          </a:p>
        </p:txBody>
      </p:sp>
      <p:sp>
        <p:nvSpPr>
          <p:cNvPr id="411678" name="Line 30"/>
          <p:cNvSpPr>
            <a:spLocks noChangeShapeType="1"/>
          </p:cNvSpPr>
          <p:nvPr/>
        </p:nvSpPr>
        <p:spPr bwMode="auto">
          <a:xfrm>
            <a:off x="5446713" y="2276476"/>
            <a:ext cx="361950" cy="144463"/>
          </a:xfrm>
          <a:prstGeom prst="line">
            <a:avLst/>
          </a:prstGeom>
          <a:noFill/>
          <a:ln w="19050">
            <a:solidFill>
              <a:srgbClr val="0000FF"/>
            </a:solidFill>
            <a:round/>
            <a:headEnd/>
            <a:tailEnd/>
          </a:ln>
          <a:effectLst/>
        </p:spPr>
        <p:txBody>
          <a:bodyPr wrap="none" anchor="ctr"/>
          <a:lstStyle/>
          <a:p>
            <a:endParaRPr lang="zh-CN" altLang="en-US"/>
          </a:p>
        </p:txBody>
      </p:sp>
      <p:sp>
        <p:nvSpPr>
          <p:cNvPr id="411679" name="Rectangle 31"/>
          <p:cNvSpPr>
            <a:spLocks noChangeArrowheads="1"/>
          </p:cNvSpPr>
          <p:nvPr/>
        </p:nvSpPr>
        <p:spPr bwMode="auto">
          <a:xfrm>
            <a:off x="6672263" y="1989139"/>
            <a:ext cx="792162" cy="503237"/>
          </a:xfrm>
          <a:prstGeom prst="rect">
            <a:avLst/>
          </a:prstGeom>
          <a:noFill/>
          <a:ln w="19050">
            <a:solidFill>
              <a:schemeClr val="tx1"/>
            </a:solidFill>
            <a:miter lim="800000"/>
            <a:headEnd/>
            <a:tailEnd/>
          </a:ln>
          <a:effectLst/>
        </p:spPr>
        <p:txBody>
          <a:bodyPr wrap="none" anchor="ctr"/>
          <a:lstStyle/>
          <a:p>
            <a:endParaRPr lang="zh-CN" altLang="en-US"/>
          </a:p>
        </p:txBody>
      </p:sp>
      <p:sp>
        <p:nvSpPr>
          <p:cNvPr id="411680" name="Rectangle 32"/>
          <p:cNvSpPr>
            <a:spLocks noChangeArrowheads="1"/>
          </p:cNvSpPr>
          <p:nvPr/>
        </p:nvSpPr>
        <p:spPr bwMode="auto">
          <a:xfrm>
            <a:off x="6672263" y="2565400"/>
            <a:ext cx="792162" cy="215900"/>
          </a:xfrm>
          <a:prstGeom prst="rect">
            <a:avLst/>
          </a:prstGeom>
          <a:solidFill>
            <a:srgbClr val="99CCFF"/>
          </a:solidFill>
          <a:ln w="19050">
            <a:solidFill>
              <a:schemeClr val="tx1"/>
            </a:solidFill>
            <a:miter lim="800000"/>
            <a:headEnd/>
            <a:tailEnd/>
          </a:ln>
          <a:effectLst/>
        </p:spPr>
        <p:txBody>
          <a:bodyPr wrap="none" anchor="ctr"/>
          <a:lstStyle/>
          <a:p>
            <a:r>
              <a:rPr lang="en-US" altLang="zh-CN" sz="1400"/>
              <a:t>IO0CLR</a:t>
            </a:r>
          </a:p>
        </p:txBody>
      </p:sp>
      <p:sp>
        <p:nvSpPr>
          <p:cNvPr id="411681" name="Oval 33"/>
          <p:cNvSpPr>
            <a:spLocks noChangeArrowheads="1"/>
          </p:cNvSpPr>
          <p:nvPr/>
        </p:nvSpPr>
        <p:spPr bwMode="auto">
          <a:xfrm>
            <a:off x="6816725" y="2244725"/>
            <a:ext cx="71438" cy="71438"/>
          </a:xfrm>
          <a:prstGeom prst="ellipse">
            <a:avLst/>
          </a:prstGeom>
          <a:noFill/>
          <a:ln w="19050" algn="ctr">
            <a:solidFill>
              <a:schemeClr val="tx1"/>
            </a:solidFill>
            <a:round/>
            <a:headEnd/>
            <a:tailEnd/>
          </a:ln>
          <a:effectLst/>
        </p:spPr>
        <p:txBody>
          <a:bodyPr wrap="none" anchor="ctr"/>
          <a:lstStyle/>
          <a:p>
            <a:endParaRPr lang="zh-CN" altLang="en-US"/>
          </a:p>
        </p:txBody>
      </p:sp>
      <p:grpSp>
        <p:nvGrpSpPr>
          <p:cNvPr id="411682" name="Group 34"/>
          <p:cNvGrpSpPr>
            <a:grpSpLocks/>
          </p:cNvGrpSpPr>
          <p:nvPr/>
        </p:nvGrpSpPr>
        <p:grpSpPr bwMode="auto">
          <a:xfrm>
            <a:off x="7248525" y="2060575"/>
            <a:ext cx="431800" cy="71438"/>
            <a:chOff x="1837" y="2684"/>
            <a:chExt cx="272" cy="45"/>
          </a:xfrm>
        </p:grpSpPr>
        <p:sp>
          <p:nvSpPr>
            <p:cNvPr id="411683" name="Line 35"/>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11684" name="Oval 36"/>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grpSp>
        <p:nvGrpSpPr>
          <p:cNvPr id="411685" name="Group 37"/>
          <p:cNvGrpSpPr>
            <a:grpSpLocks/>
          </p:cNvGrpSpPr>
          <p:nvPr/>
        </p:nvGrpSpPr>
        <p:grpSpPr bwMode="auto">
          <a:xfrm>
            <a:off x="7248525" y="2349500"/>
            <a:ext cx="431800" cy="71438"/>
            <a:chOff x="1837" y="2684"/>
            <a:chExt cx="272" cy="45"/>
          </a:xfrm>
        </p:grpSpPr>
        <p:sp>
          <p:nvSpPr>
            <p:cNvPr id="411686" name="Line 38"/>
            <p:cNvSpPr>
              <a:spLocks noChangeShapeType="1"/>
            </p:cNvSpPr>
            <p:nvPr/>
          </p:nvSpPr>
          <p:spPr bwMode="auto">
            <a:xfrm flipH="1">
              <a:off x="1882" y="2704"/>
              <a:ext cx="227" cy="0"/>
            </a:xfrm>
            <a:prstGeom prst="line">
              <a:avLst/>
            </a:prstGeom>
            <a:noFill/>
            <a:ln w="19050">
              <a:solidFill>
                <a:schemeClr val="tx1"/>
              </a:solidFill>
              <a:round/>
              <a:headEnd/>
              <a:tailEnd/>
            </a:ln>
            <a:effectLst/>
          </p:spPr>
          <p:txBody>
            <a:bodyPr wrap="none" anchor="ctr"/>
            <a:lstStyle/>
            <a:p>
              <a:endParaRPr lang="zh-CN" altLang="en-US"/>
            </a:p>
          </p:txBody>
        </p:sp>
        <p:sp>
          <p:nvSpPr>
            <p:cNvPr id="411687" name="Oval 39"/>
            <p:cNvSpPr>
              <a:spLocks noChangeArrowheads="1"/>
            </p:cNvSpPr>
            <p:nvPr/>
          </p:nvSpPr>
          <p:spPr bwMode="auto">
            <a:xfrm flipH="1">
              <a:off x="1837" y="2684"/>
              <a:ext cx="45" cy="45"/>
            </a:xfrm>
            <a:prstGeom prst="ellipse">
              <a:avLst/>
            </a:prstGeom>
            <a:noFill/>
            <a:ln w="19050" algn="ctr">
              <a:solidFill>
                <a:schemeClr val="tx1"/>
              </a:solidFill>
              <a:round/>
              <a:headEnd/>
              <a:tailEnd/>
            </a:ln>
            <a:effectLst/>
          </p:spPr>
          <p:txBody>
            <a:bodyPr wrap="none" anchor="ctr"/>
            <a:lstStyle/>
            <a:p>
              <a:endParaRPr lang="zh-CN" altLang="en-US"/>
            </a:p>
          </p:txBody>
        </p:sp>
      </p:grpSp>
      <p:sp>
        <p:nvSpPr>
          <p:cNvPr id="411688" name="Line 40"/>
          <p:cNvSpPr>
            <a:spLocks noChangeShapeType="1"/>
          </p:cNvSpPr>
          <p:nvPr/>
        </p:nvSpPr>
        <p:spPr bwMode="auto">
          <a:xfrm>
            <a:off x="6454776" y="2276475"/>
            <a:ext cx="360363" cy="0"/>
          </a:xfrm>
          <a:prstGeom prst="line">
            <a:avLst/>
          </a:prstGeom>
          <a:noFill/>
          <a:ln w="19050">
            <a:solidFill>
              <a:schemeClr val="tx1"/>
            </a:solidFill>
            <a:round/>
            <a:headEnd/>
            <a:tailEnd/>
          </a:ln>
          <a:effectLst/>
        </p:spPr>
        <p:txBody>
          <a:bodyPr wrap="none" anchor="ctr"/>
          <a:lstStyle/>
          <a:p>
            <a:endParaRPr lang="zh-CN" altLang="en-US"/>
          </a:p>
        </p:txBody>
      </p:sp>
      <p:sp>
        <p:nvSpPr>
          <p:cNvPr id="411689" name="Line 41"/>
          <p:cNvSpPr>
            <a:spLocks noChangeShapeType="1"/>
          </p:cNvSpPr>
          <p:nvPr/>
        </p:nvSpPr>
        <p:spPr bwMode="auto">
          <a:xfrm flipV="1">
            <a:off x="6454775" y="2060575"/>
            <a:ext cx="0" cy="215900"/>
          </a:xfrm>
          <a:prstGeom prst="line">
            <a:avLst/>
          </a:prstGeom>
          <a:noFill/>
          <a:ln w="19050">
            <a:solidFill>
              <a:schemeClr val="tx1"/>
            </a:solidFill>
            <a:round/>
            <a:headEnd/>
            <a:tailEnd/>
          </a:ln>
          <a:effectLst/>
        </p:spPr>
        <p:txBody>
          <a:bodyPr wrap="none" anchor="ctr"/>
          <a:lstStyle/>
          <a:p>
            <a:endParaRPr lang="zh-CN" altLang="en-US"/>
          </a:p>
        </p:txBody>
      </p:sp>
      <p:sp>
        <p:nvSpPr>
          <p:cNvPr id="411690" name="Line 42"/>
          <p:cNvSpPr>
            <a:spLocks noChangeShapeType="1"/>
          </p:cNvSpPr>
          <p:nvPr/>
        </p:nvSpPr>
        <p:spPr bwMode="auto">
          <a:xfrm flipH="1">
            <a:off x="6238875" y="2060575"/>
            <a:ext cx="215900" cy="0"/>
          </a:xfrm>
          <a:prstGeom prst="line">
            <a:avLst/>
          </a:prstGeom>
          <a:noFill/>
          <a:ln w="19050">
            <a:solidFill>
              <a:schemeClr val="tx1"/>
            </a:solidFill>
            <a:round/>
            <a:headEnd/>
            <a:tailEnd/>
          </a:ln>
          <a:effectLst/>
        </p:spPr>
        <p:txBody>
          <a:bodyPr wrap="none" anchor="ctr"/>
          <a:lstStyle/>
          <a:p>
            <a:endParaRPr lang="zh-CN" altLang="en-US"/>
          </a:p>
        </p:txBody>
      </p:sp>
      <p:sp>
        <p:nvSpPr>
          <p:cNvPr id="411691" name="Line 43"/>
          <p:cNvSpPr>
            <a:spLocks noChangeShapeType="1"/>
          </p:cNvSpPr>
          <p:nvPr/>
        </p:nvSpPr>
        <p:spPr bwMode="auto">
          <a:xfrm>
            <a:off x="6240463" y="3357563"/>
            <a:ext cx="431800" cy="0"/>
          </a:xfrm>
          <a:prstGeom prst="line">
            <a:avLst/>
          </a:prstGeom>
          <a:noFill/>
          <a:ln w="19050">
            <a:solidFill>
              <a:schemeClr val="tx1"/>
            </a:solidFill>
            <a:round/>
            <a:headEnd/>
            <a:tailEnd/>
          </a:ln>
          <a:effectLst/>
        </p:spPr>
        <p:txBody>
          <a:bodyPr wrap="none" anchor="ctr"/>
          <a:lstStyle/>
          <a:p>
            <a:endParaRPr lang="zh-CN" altLang="en-US"/>
          </a:p>
        </p:txBody>
      </p:sp>
      <p:sp>
        <p:nvSpPr>
          <p:cNvPr id="411692" name="Rectangle 44"/>
          <p:cNvSpPr>
            <a:spLocks noChangeArrowheads="1"/>
          </p:cNvSpPr>
          <p:nvPr/>
        </p:nvSpPr>
        <p:spPr bwMode="auto">
          <a:xfrm>
            <a:off x="6672263" y="3213100"/>
            <a:ext cx="792162" cy="287338"/>
          </a:xfrm>
          <a:prstGeom prst="rect">
            <a:avLst/>
          </a:prstGeom>
          <a:solidFill>
            <a:srgbClr val="99CCFF"/>
          </a:solidFill>
          <a:ln w="19050">
            <a:solidFill>
              <a:schemeClr val="tx1"/>
            </a:solidFill>
            <a:miter lim="800000"/>
            <a:headEnd/>
            <a:tailEnd/>
          </a:ln>
          <a:effectLst/>
        </p:spPr>
        <p:txBody>
          <a:bodyPr wrap="none" anchor="ctr"/>
          <a:lstStyle/>
          <a:p>
            <a:r>
              <a:rPr lang="en-US" altLang="zh-CN" sz="1400"/>
              <a:t>IO0PIN</a:t>
            </a:r>
          </a:p>
        </p:txBody>
      </p:sp>
      <p:sp>
        <p:nvSpPr>
          <p:cNvPr id="411693" name="Rectangle 45"/>
          <p:cNvSpPr>
            <a:spLocks noChangeArrowheads="1"/>
          </p:cNvSpPr>
          <p:nvPr/>
        </p:nvSpPr>
        <p:spPr bwMode="auto">
          <a:xfrm>
            <a:off x="6672263" y="1700213"/>
            <a:ext cx="792162" cy="215900"/>
          </a:xfrm>
          <a:prstGeom prst="rect">
            <a:avLst/>
          </a:prstGeom>
          <a:solidFill>
            <a:srgbClr val="99CCFF"/>
          </a:solidFill>
          <a:ln w="19050">
            <a:solidFill>
              <a:schemeClr val="tx1"/>
            </a:solidFill>
            <a:miter lim="800000"/>
            <a:headEnd/>
            <a:tailEnd/>
          </a:ln>
          <a:effectLst/>
        </p:spPr>
        <p:txBody>
          <a:bodyPr wrap="none" anchor="ctr"/>
          <a:lstStyle/>
          <a:p>
            <a:r>
              <a:rPr lang="en-US" altLang="zh-CN" sz="1400"/>
              <a:t>IO0SET</a:t>
            </a:r>
          </a:p>
        </p:txBody>
      </p:sp>
      <p:sp>
        <p:nvSpPr>
          <p:cNvPr id="411694" name="Text Box 46"/>
          <p:cNvSpPr txBox="1">
            <a:spLocks noChangeArrowheads="1"/>
          </p:cNvSpPr>
          <p:nvPr/>
        </p:nvSpPr>
        <p:spPr bwMode="auto">
          <a:xfrm>
            <a:off x="6022976" y="2205038"/>
            <a:ext cx="360363"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in</a:t>
            </a:r>
          </a:p>
        </p:txBody>
      </p:sp>
      <p:sp>
        <p:nvSpPr>
          <p:cNvPr id="411695" name="Text Box 47"/>
          <p:cNvSpPr txBox="1">
            <a:spLocks noChangeArrowheads="1"/>
          </p:cNvSpPr>
          <p:nvPr/>
        </p:nvSpPr>
        <p:spPr bwMode="auto">
          <a:xfrm>
            <a:off x="6022975" y="1773238"/>
            <a:ext cx="431800"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out</a:t>
            </a:r>
          </a:p>
        </p:txBody>
      </p:sp>
      <p:sp>
        <p:nvSpPr>
          <p:cNvPr id="411696" name="Line 48"/>
          <p:cNvSpPr>
            <a:spLocks noChangeShapeType="1"/>
          </p:cNvSpPr>
          <p:nvPr/>
        </p:nvSpPr>
        <p:spPr bwMode="auto">
          <a:xfrm>
            <a:off x="7032625" y="1917700"/>
            <a:ext cx="0" cy="2159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411697" name="Line 49"/>
          <p:cNvSpPr>
            <a:spLocks noChangeShapeType="1"/>
          </p:cNvSpPr>
          <p:nvPr/>
        </p:nvSpPr>
        <p:spPr bwMode="auto">
          <a:xfrm flipV="1">
            <a:off x="7032625" y="2349500"/>
            <a:ext cx="0" cy="2159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411698" name="Text Box 50"/>
          <p:cNvSpPr txBox="1">
            <a:spLocks noChangeArrowheads="1"/>
          </p:cNvSpPr>
          <p:nvPr/>
        </p:nvSpPr>
        <p:spPr bwMode="auto">
          <a:xfrm>
            <a:off x="7680326" y="1917700"/>
            <a:ext cx="360363"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1</a:t>
            </a:r>
          </a:p>
        </p:txBody>
      </p:sp>
      <p:sp>
        <p:nvSpPr>
          <p:cNvPr id="411699" name="Text Box 51"/>
          <p:cNvSpPr txBox="1">
            <a:spLocks noChangeArrowheads="1"/>
          </p:cNvSpPr>
          <p:nvPr/>
        </p:nvSpPr>
        <p:spPr bwMode="auto">
          <a:xfrm>
            <a:off x="7680326" y="2205038"/>
            <a:ext cx="360363" cy="304800"/>
          </a:xfrm>
          <a:prstGeom prst="rect">
            <a:avLst/>
          </a:prstGeom>
          <a:noFill/>
          <a:ln w="19050" algn="ctr">
            <a:noFill/>
            <a:miter lim="800000"/>
            <a:headEnd/>
            <a:tailEnd/>
          </a:ln>
          <a:effectLst/>
        </p:spPr>
        <p:txBody>
          <a:bodyPr>
            <a:spAutoFit/>
          </a:bodyPr>
          <a:lstStyle/>
          <a:p>
            <a:pPr>
              <a:spcBef>
                <a:spcPct val="50000"/>
              </a:spcBef>
            </a:pPr>
            <a:r>
              <a:rPr lang="en-US" altLang="zh-CN" sz="1400">
                <a:latin typeface="Times New Roman" pitchFamily="18" charset="0"/>
              </a:rPr>
              <a:t>0</a:t>
            </a:r>
          </a:p>
        </p:txBody>
      </p:sp>
      <p:sp>
        <p:nvSpPr>
          <p:cNvPr id="411700" name="Line 52"/>
          <p:cNvSpPr>
            <a:spLocks noChangeShapeType="1"/>
          </p:cNvSpPr>
          <p:nvPr/>
        </p:nvSpPr>
        <p:spPr bwMode="auto">
          <a:xfrm>
            <a:off x="4943475" y="2276475"/>
            <a:ext cx="0" cy="1081088"/>
          </a:xfrm>
          <a:prstGeom prst="line">
            <a:avLst/>
          </a:prstGeom>
          <a:noFill/>
          <a:ln w="19050">
            <a:solidFill>
              <a:schemeClr val="tx1"/>
            </a:solidFill>
            <a:round/>
            <a:headEnd/>
            <a:tailEnd/>
          </a:ln>
          <a:effectLst/>
        </p:spPr>
        <p:txBody>
          <a:bodyPr wrap="none" anchor="ctr"/>
          <a:lstStyle/>
          <a:p>
            <a:endParaRPr lang="zh-CN" altLang="en-US"/>
          </a:p>
        </p:txBody>
      </p:sp>
      <p:sp>
        <p:nvSpPr>
          <p:cNvPr id="411701" name="Line 53"/>
          <p:cNvSpPr>
            <a:spLocks noChangeShapeType="1"/>
          </p:cNvSpPr>
          <p:nvPr/>
        </p:nvSpPr>
        <p:spPr bwMode="auto">
          <a:xfrm>
            <a:off x="4943475" y="3357563"/>
            <a:ext cx="1296988" cy="0"/>
          </a:xfrm>
          <a:prstGeom prst="line">
            <a:avLst/>
          </a:prstGeom>
          <a:noFill/>
          <a:ln w="19050">
            <a:solidFill>
              <a:schemeClr val="tx1"/>
            </a:solidFill>
            <a:round/>
            <a:headEnd/>
            <a:tailEnd/>
          </a:ln>
          <a:effectLst/>
        </p:spPr>
        <p:txBody>
          <a:bodyPr wrap="none" anchor="ctr"/>
          <a:lstStyle/>
          <a:p>
            <a:endParaRPr lang="zh-CN" altLang="en-US"/>
          </a:p>
        </p:txBody>
      </p:sp>
      <p:sp>
        <p:nvSpPr>
          <p:cNvPr id="411702" name="Rectangle 54"/>
          <p:cNvSpPr>
            <a:spLocks noChangeArrowheads="1"/>
          </p:cNvSpPr>
          <p:nvPr/>
        </p:nvSpPr>
        <p:spPr bwMode="auto">
          <a:xfrm>
            <a:off x="2784476" y="2492376"/>
            <a:ext cx="358775" cy="360363"/>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11703" name="Rectangle 55"/>
          <p:cNvSpPr>
            <a:spLocks noChangeArrowheads="1"/>
          </p:cNvSpPr>
          <p:nvPr/>
        </p:nvSpPr>
        <p:spPr bwMode="auto">
          <a:xfrm>
            <a:off x="2784476" y="3068638"/>
            <a:ext cx="358775" cy="360362"/>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11704" name="Rectangle 56"/>
          <p:cNvSpPr>
            <a:spLocks noChangeArrowheads="1"/>
          </p:cNvSpPr>
          <p:nvPr/>
        </p:nvSpPr>
        <p:spPr bwMode="auto">
          <a:xfrm>
            <a:off x="2784476" y="1917701"/>
            <a:ext cx="358775" cy="360363"/>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11705" name="Rectangle 57"/>
          <p:cNvSpPr>
            <a:spLocks noChangeArrowheads="1"/>
          </p:cNvSpPr>
          <p:nvPr/>
        </p:nvSpPr>
        <p:spPr bwMode="auto">
          <a:xfrm>
            <a:off x="8975726" y="2492376"/>
            <a:ext cx="358775" cy="360363"/>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11706" name="Rectangle 58"/>
          <p:cNvSpPr>
            <a:spLocks noChangeArrowheads="1"/>
          </p:cNvSpPr>
          <p:nvPr/>
        </p:nvSpPr>
        <p:spPr bwMode="auto">
          <a:xfrm>
            <a:off x="8975726" y="3068638"/>
            <a:ext cx="358775" cy="360362"/>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11707" name="Rectangle 59"/>
          <p:cNvSpPr>
            <a:spLocks noChangeArrowheads="1"/>
          </p:cNvSpPr>
          <p:nvPr/>
        </p:nvSpPr>
        <p:spPr bwMode="auto">
          <a:xfrm>
            <a:off x="8975726" y="1917701"/>
            <a:ext cx="358775" cy="360363"/>
          </a:xfrm>
          <a:prstGeom prst="rect">
            <a:avLst/>
          </a:prstGeom>
          <a:solidFill>
            <a:schemeClr val="folHlink"/>
          </a:solidFill>
          <a:ln w="19050" algn="ctr">
            <a:solidFill>
              <a:schemeClr val="tx1"/>
            </a:solidFill>
            <a:miter lim="800000"/>
            <a:headEnd/>
            <a:tailEnd/>
          </a:ln>
          <a:effectLst/>
        </p:spPr>
        <p:txBody>
          <a:bodyPr wrap="none" anchor="ctr"/>
          <a:lstStyle/>
          <a:p>
            <a:endParaRPr lang="zh-CN" altLang="en-US"/>
          </a:p>
        </p:txBody>
      </p:sp>
      <p:sp>
        <p:nvSpPr>
          <p:cNvPr id="411708" name="Rectangle 60"/>
          <p:cNvSpPr>
            <a:spLocks noChangeArrowheads="1"/>
          </p:cNvSpPr>
          <p:nvPr/>
        </p:nvSpPr>
        <p:spPr bwMode="auto">
          <a:xfrm>
            <a:off x="2209800" y="620713"/>
            <a:ext cx="777240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GPIO</a:t>
            </a:r>
            <a:r>
              <a:rPr lang="zh-CN" altLang="en-US" sz="3200">
                <a:latin typeface="Times New Roman" pitchFamily="18" charset="0"/>
              </a:rPr>
              <a:t>应用示例</a:t>
            </a:r>
            <a:r>
              <a:rPr lang="en-US" altLang="zh-CN" sz="3200">
                <a:latin typeface="Times New Roman" pitchFamily="18" charset="0"/>
              </a:rPr>
              <a:t>——</a:t>
            </a:r>
            <a:r>
              <a:rPr lang="zh-CN" altLang="en-US" sz="3200">
                <a:solidFill>
                  <a:srgbClr val="FF0000"/>
                </a:solidFill>
                <a:latin typeface="Times New Roman" pitchFamily="18" charset="0"/>
              </a:rPr>
              <a:t>读取</a:t>
            </a:r>
            <a:r>
              <a:rPr lang="en-US" altLang="zh-CN" sz="3200">
                <a:solidFill>
                  <a:srgbClr val="FF0000"/>
                </a:solidFill>
                <a:latin typeface="Times New Roman" pitchFamily="18" charset="0"/>
              </a:rPr>
              <a:t>P0.0</a:t>
            </a:r>
            <a:r>
              <a:rPr lang="zh-CN" altLang="en-US" sz="3200">
                <a:solidFill>
                  <a:srgbClr val="FF0000"/>
                </a:solidFill>
                <a:latin typeface="Times New Roman" pitchFamily="18" charset="0"/>
              </a:rPr>
              <a:t>引脚状态</a:t>
            </a:r>
          </a:p>
        </p:txBody>
      </p:sp>
      <p:sp>
        <p:nvSpPr>
          <p:cNvPr id="411709" name="Text Box 61"/>
          <p:cNvSpPr txBox="1">
            <a:spLocks noChangeArrowheads="1"/>
          </p:cNvSpPr>
          <p:nvPr/>
        </p:nvSpPr>
        <p:spPr bwMode="auto">
          <a:xfrm>
            <a:off x="2135188" y="2492375"/>
            <a:ext cx="647700" cy="336550"/>
          </a:xfrm>
          <a:prstGeom prst="rect">
            <a:avLst/>
          </a:prstGeom>
          <a:noFill/>
          <a:ln w="19050" algn="ctr">
            <a:noFill/>
            <a:miter lim="800000"/>
            <a:headEnd/>
            <a:tailEnd/>
          </a:ln>
          <a:effectLst/>
        </p:spPr>
        <p:txBody>
          <a:bodyPr>
            <a:spAutoFit/>
          </a:bodyPr>
          <a:lstStyle/>
          <a:p>
            <a:pPr>
              <a:spcBef>
                <a:spcPct val="50000"/>
              </a:spcBef>
            </a:pPr>
            <a:r>
              <a:rPr lang="en-US" altLang="zh-CN" sz="1600">
                <a:solidFill>
                  <a:srgbClr val="FF0000"/>
                </a:solidFill>
                <a:latin typeface="Times New Roman" pitchFamily="18" charset="0"/>
                <a:ea typeface="华文新魏" pitchFamily="2" charset="-122"/>
              </a:rPr>
              <a:t>P0.0</a:t>
            </a:r>
          </a:p>
        </p:txBody>
      </p:sp>
      <p:grpSp>
        <p:nvGrpSpPr>
          <p:cNvPr id="411710" name="Group 62"/>
          <p:cNvGrpSpPr>
            <a:grpSpLocks/>
          </p:cNvGrpSpPr>
          <p:nvPr/>
        </p:nvGrpSpPr>
        <p:grpSpPr bwMode="auto">
          <a:xfrm>
            <a:off x="2844800" y="5011738"/>
            <a:ext cx="6553200" cy="360362"/>
            <a:chOff x="1383" y="2931"/>
            <a:chExt cx="4128" cy="227"/>
          </a:xfrm>
        </p:grpSpPr>
        <p:sp>
          <p:nvSpPr>
            <p:cNvPr id="411711" name="AutoShape 63"/>
            <p:cNvSpPr>
              <a:spLocks noChangeArrowheads="1"/>
            </p:cNvSpPr>
            <p:nvPr/>
          </p:nvSpPr>
          <p:spPr bwMode="auto">
            <a:xfrm>
              <a:off x="1383" y="2931"/>
              <a:ext cx="4128" cy="227"/>
            </a:xfrm>
            <a:prstGeom prst="roundRect">
              <a:avLst>
                <a:gd name="adj" fmla="val 16667"/>
              </a:avLst>
            </a:prstGeom>
            <a:noFill/>
            <a:ln w="12700" algn="ctr">
              <a:solidFill>
                <a:srgbClr val="0000FF"/>
              </a:solidFill>
              <a:round/>
              <a:headEnd/>
              <a:tailEnd/>
            </a:ln>
            <a:effectLst/>
          </p:spPr>
          <p:txBody>
            <a:bodyPr wrap="none" anchor="ctr"/>
            <a:lstStyle/>
            <a:p>
              <a:endParaRPr lang="zh-CN" altLang="en-US"/>
            </a:p>
          </p:txBody>
        </p:sp>
        <p:sp>
          <p:nvSpPr>
            <p:cNvPr id="411712" name="AutoShape 64"/>
            <p:cNvSpPr>
              <a:spLocks noChangeArrowheads="1"/>
            </p:cNvSpPr>
            <p:nvPr/>
          </p:nvSpPr>
          <p:spPr bwMode="auto">
            <a:xfrm>
              <a:off x="3379" y="2931"/>
              <a:ext cx="2132" cy="227"/>
            </a:xfrm>
            <a:prstGeom prst="roundRect">
              <a:avLst>
                <a:gd name="adj" fmla="val 16667"/>
              </a:avLst>
            </a:prstGeom>
            <a:solidFill>
              <a:srgbClr val="CCECFF"/>
            </a:solidFill>
            <a:ln w="12700" algn="ctr">
              <a:solidFill>
                <a:srgbClr val="0000FF"/>
              </a:solidFill>
              <a:round/>
              <a:headEnd/>
              <a:tailEnd/>
            </a:ln>
            <a:effectLst/>
          </p:spPr>
          <p:txBody>
            <a:bodyPr wrap="none" anchor="ctr"/>
            <a:lstStyle/>
            <a:p>
              <a:pPr algn="l"/>
              <a:r>
                <a:rPr lang="en-US" altLang="zh-CN" sz="1600">
                  <a:latin typeface="Times New Roman" pitchFamily="18" charset="0"/>
                </a:rPr>
                <a:t>(1) </a:t>
              </a:r>
              <a:r>
                <a:rPr lang="zh-CN" altLang="en-US" sz="1600">
                  <a:latin typeface="Times New Roman" pitchFamily="18" charset="0"/>
                </a:rPr>
                <a:t>设置引脚连接模块，</a:t>
              </a:r>
              <a:r>
                <a:rPr lang="en-US" altLang="zh-CN" sz="1600">
                  <a:latin typeface="Times New Roman" pitchFamily="18" charset="0"/>
                </a:rPr>
                <a:t>P0.0</a:t>
              </a:r>
              <a:r>
                <a:rPr lang="zh-CN" altLang="en-US" sz="1600">
                  <a:latin typeface="Times New Roman" pitchFamily="18" charset="0"/>
                </a:rPr>
                <a:t>为</a:t>
              </a:r>
              <a:r>
                <a:rPr lang="en-US" altLang="zh-CN" sz="1600">
                  <a:latin typeface="Times New Roman" pitchFamily="18" charset="0"/>
                </a:rPr>
                <a:t>GPIO</a:t>
              </a:r>
            </a:p>
          </p:txBody>
        </p:sp>
      </p:grpSp>
      <p:grpSp>
        <p:nvGrpSpPr>
          <p:cNvPr id="411713" name="Group 65"/>
          <p:cNvGrpSpPr>
            <a:grpSpLocks/>
          </p:cNvGrpSpPr>
          <p:nvPr/>
        </p:nvGrpSpPr>
        <p:grpSpPr bwMode="auto">
          <a:xfrm>
            <a:off x="2844800" y="5372101"/>
            <a:ext cx="6553200" cy="360363"/>
            <a:chOff x="1383" y="3158"/>
            <a:chExt cx="4128" cy="227"/>
          </a:xfrm>
        </p:grpSpPr>
        <p:sp>
          <p:nvSpPr>
            <p:cNvPr id="411714" name="AutoShape 66"/>
            <p:cNvSpPr>
              <a:spLocks noChangeArrowheads="1"/>
            </p:cNvSpPr>
            <p:nvPr/>
          </p:nvSpPr>
          <p:spPr bwMode="auto">
            <a:xfrm>
              <a:off x="1383" y="3158"/>
              <a:ext cx="4128" cy="227"/>
            </a:xfrm>
            <a:prstGeom prst="roundRect">
              <a:avLst>
                <a:gd name="adj" fmla="val 16667"/>
              </a:avLst>
            </a:prstGeom>
            <a:noFill/>
            <a:ln w="12700" algn="ctr">
              <a:solidFill>
                <a:srgbClr val="0000FF"/>
              </a:solidFill>
              <a:round/>
              <a:headEnd/>
              <a:tailEnd/>
            </a:ln>
            <a:effectLst/>
          </p:spPr>
          <p:txBody>
            <a:bodyPr wrap="none" anchor="ctr"/>
            <a:lstStyle/>
            <a:p>
              <a:endParaRPr lang="zh-CN" altLang="en-US"/>
            </a:p>
          </p:txBody>
        </p:sp>
        <p:sp>
          <p:nvSpPr>
            <p:cNvPr id="411715" name="AutoShape 67"/>
            <p:cNvSpPr>
              <a:spLocks noChangeArrowheads="1"/>
            </p:cNvSpPr>
            <p:nvPr/>
          </p:nvSpPr>
          <p:spPr bwMode="auto">
            <a:xfrm>
              <a:off x="3379" y="3158"/>
              <a:ext cx="2132" cy="227"/>
            </a:xfrm>
            <a:prstGeom prst="roundRect">
              <a:avLst>
                <a:gd name="adj" fmla="val 16667"/>
              </a:avLst>
            </a:prstGeom>
            <a:solidFill>
              <a:srgbClr val="FFFFCC"/>
            </a:solidFill>
            <a:ln w="12700" algn="ctr">
              <a:solidFill>
                <a:srgbClr val="0000FF"/>
              </a:solidFill>
              <a:round/>
              <a:headEnd/>
              <a:tailEnd/>
            </a:ln>
            <a:effectLst/>
          </p:spPr>
          <p:txBody>
            <a:bodyPr wrap="none" anchor="ctr"/>
            <a:lstStyle/>
            <a:p>
              <a:pPr algn="l"/>
              <a:r>
                <a:rPr lang="en-US" altLang="zh-CN" sz="1600">
                  <a:latin typeface="Times New Roman" pitchFamily="18" charset="0"/>
                </a:rPr>
                <a:t>(2) </a:t>
              </a:r>
              <a:r>
                <a:rPr lang="zh-CN" altLang="en-US" sz="1600">
                  <a:latin typeface="Times New Roman" pitchFamily="18" charset="0"/>
                </a:rPr>
                <a:t>设置</a:t>
              </a:r>
              <a:r>
                <a:rPr lang="en-US" altLang="zh-CN" sz="1600">
                  <a:latin typeface="Times New Roman" pitchFamily="18" charset="0"/>
                </a:rPr>
                <a:t>P0.0</a:t>
              </a:r>
              <a:r>
                <a:rPr lang="zh-CN" altLang="en-US" sz="1600">
                  <a:latin typeface="Times New Roman" pitchFamily="18" charset="0"/>
                </a:rPr>
                <a:t>口方向，设置为输入</a:t>
              </a:r>
            </a:p>
          </p:txBody>
        </p:sp>
      </p:grpSp>
      <p:grpSp>
        <p:nvGrpSpPr>
          <p:cNvPr id="411716" name="Group 68"/>
          <p:cNvGrpSpPr>
            <a:grpSpLocks/>
          </p:cNvGrpSpPr>
          <p:nvPr/>
        </p:nvGrpSpPr>
        <p:grpSpPr bwMode="auto">
          <a:xfrm>
            <a:off x="2844800" y="5732463"/>
            <a:ext cx="6553200" cy="360362"/>
            <a:chOff x="1383" y="3385"/>
            <a:chExt cx="4128" cy="227"/>
          </a:xfrm>
        </p:grpSpPr>
        <p:sp>
          <p:nvSpPr>
            <p:cNvPr id="411717" name="AutoShape 69"/>
            <p:cNvSpPr>
              <a:spLocks noChangeArrowheads="1"/>
            </p:cNvSpPr>
            <p:nvPr/>
          </p:nvSpPr>
          <p:spPr bwMode="auto">
            <a:xfrm>
              <a:off x="1383" y="3385"/>
              <a:ext cx="4128" cy="227"/>
            </a:xfrm>
            <a:prstGeom prst="roundRect">
              <a:avLst>
                <a:gd name="adj" fmla="val 16667"/>
              </a:avLst>
            </a:prstGeom>
            <a:noFill/>
            <a:ln w="12700" algn="ctr">
              <a:solidFill>
                <a:srgbClr val="0000FF"/>
              </a:solidFill>
              <a:round/>
              <a:headEnd/>
              <a:tailEnd/>
            </a:ln>
            <a:effectLst/>
          </p:spPr>
          <p:txBody>
            <a:bodyPr wrap="none" anchor="ctr"/>
            <a:lstStyle/>
            <a:p>
              <a:endParaRPr lang="zh-CN" altLang="en-US"/>
            </a:p>
          </p:txBody>
        </p:sp>
        <p:sp>
          <p:nvSpPr>
            <p:cNvPr id="411718" name="AutoShape 70"/>
            <p:cNvSpPr>
              <a:spLocks noChangeArrowheads="1"/>
            </p:cNvSpPr>
            <p:nvPr/>
          </p:nvSpPr>
          <p:spPr bwMode="auto">
            <a:xfrm>
              <a:off x="3379" y="3385"/>
              <a:ext cx="2132" cy="227"/>
            </a:xfrm>
            <a:prstGeom prst="roundRect">
              <a:avLst>
                <a:gd name="adj" fmla="val 16667"/>
              </a:avLst>
            </a:prstGeom>
            <a:solidFill>
              <a:srgbClr val="CCECFF"/>
            </a:solidFill>
            <a:ln w="12700" algn="ctr">
              <a:solidFill>
                <a:srgbClr val="0000FF"/>
              </a:solidFill>
              <a:round/>
              <a:headEnd/>
              <a:tailEnd/>
            </a:ln>
            <a:effectLst/>
          </p:spPr>
          <p:txBody>
            <a:bodyPr wrap="none" anchor="ctr"/>
            <a:lstStyle/>
            <a:p>
              <a:pPr algn="l"/>
              <a:r>
                <a:rPr lang="en-US" altLang="zh-CN" sz="1600">
                  <a:latin typeface="Times New Roman" pitchFamily="18" charset="0"/>
                </a:rPr>
                <a:t>(3) </a:t>
              </a:r>
              <a:r>
                <a:rPr lang="zh-CN" altLang="en-US" sz="1600">
                  <a:latin typeface="Times New Roman" pitchFamily="18" charset="0"/>
                </a:rPr>
                <a:t>从</a:t>
              </a:r>
              <a:r>
                <a:rPr lang="en-US" altLang="zh-CN" sz="1600">
                  <a:latin typeface="Times New Roman" pitchFamily="18" charset="0"/>
                </a:rPr>
                <a:t>IO0PIN</a:t>
              </a:r>
              <a:r>
                <a:rPr lang="zh-CN" altLang="en-US" sz="1600">
                  <a:latin typeface="Times New Roman" pitchFamily="18" charset="0"/>
                </a:rPr>
                <a:t>读取引脚状态</a:t>
              </a:r>
            </a:p>
          </p:txBody>
        </p:sp>
      </p:grpSp>
      <p:sp>
        <p:nvSpPr>
          <p:cNvPr id="411719" name="Rectangle 71"/>
          <p:cNvSpPr>
            <a:spLocks noChangeArrowheads="1"/>
          </p:cNvSpPr>
          <p:nvPr/>
        </p:nvSpPr>
        <p:spPr bwMode="auto">
          <a:xfrm>
            <a:off x="6672263" y="3213100"/>
            <a:ext cx="792162" cy="287338"/>
          </a:xfrm>
          <a:prstGeom prst="rect">
            <a:avLst/>
          </a:prstGeom>
          <a:solidFill>
            <a:srgbClr val="FF99FF"/>
          </a:solidFill>
          <a:ln w="19050">
            <a:solidFill>
              <a:schemeClr val="tx1"/>
            </a:solidFill>
            <a:miter lim="800000"/>
            <a:headEnd/>
            <a:tailEnd/>
          </a:ln>
          <a:effectLst/>
        </p:spPr>
        <p:txBody>
          <a:bodyPr wrap="none" anchor="ctr"/>
          <a:lstStyle/>
          <a:p>
            <a:r>
              <a:rPr lang="en-US" altLang="zh-CN" sz="1400"/>
              <a:t>IO0PIN</a:t>
            </a:r>
          </a:p>
        </p:txBody>
      </p:sp>
      <p:sp>
        <p:nvSpPr>
          <p:cNvPr id="411720" name="Freeform 72"/>
          <p:cNvSpPr>
            <a:spLocks/>
          </p:cNvSpPr>
          <p:nvPr/>
        </p:nvSpPr>
        <p:spPr bwMode="auto">
          <a:xfrm>
            <a:off x="3792539" y="3500438"/>
            <a:ext cx="3278187" cy="2305050"/>
          </a:xfrm>
          <a:custGeom>
            <a:avLst/>
            <a:gdLst/>
            <a:ahLst/>
            <a:cxnLst>
              <a:cxn ang="0">
                <a:pos x="1567" y="0"/>
              </a:cxn>
              <a:cxn ang="0">
                <a:pos x="1289" y="728"/>
              </a:cxn>
              <a:cxn ang="0">
                <a:pos x="274" y="994"/>
              </a:cxn>
              <a:cxn ang="0">
                <a:pos x="0" y="1698"/>
              </a:cxn>
            </a:cxnLst>
            <a:rect l="0" t="0" r="r" b="b"/>
            <a:pathLst>
              <a:path w="1567" h="1698">
                <a:moveTo>
                  <a:pt x="1567" y="0"/>
                </a:moveTo>
                <a:cubicBezTo>
                  <a:pt x="1521" y="121"/>
                  <a:pt x="1504" y="562"/>
                  <a:pt x="1289" y="728"/>
                </a:cubicBezTo>
                <a:cubicBezTo>
                  <a:pt x="1074" y="894"/>
                  <a:pt x="489" y="832"/>
                  <a:pt x="274" y="994"/>
                </a:cubicBezTo>
                <a:cubicBezTo>
                  <a:pt x="59" y="1156"/>
                  <a:pt x="57" y="1551"/>
                  <a:pt x="0" y="1698"/>
                </a:cubicBezTo>
              </a:path>
            </a:pathLst>
          </a:custGeom>
          <a:noFill/>
          <a:ln w="19050" cap="flat" cmpd="sng">
            <a:solidFill>
              <a:srgbClr val="FF0000"/>
            </a:solidFill>
            <a:prstDash val="solid"/>
            <a:round/>
            <a:headEnd/>
            <a:tailEnd type="triangle" w="med" len="med"/>
          </a:ln>
          <a:effectLst/>
        </p:spPr>
        <p:txBody>
          <a:bodyPr wrap="none" anchor="ctr"/>
          <a:lstStyle/>
          <a:p>
            <a:endParaRPr lang="zh-CN" altLang="en-US"/>
          </a:p>
        </p:txBody>
      </p:sp>
      <p:sp>
        <p:nvSpPr>
          <p:cNvPr id="411721" name="Line 73"/>
          <p:cNvSpPr>
            <a:spLocks noChangeShapeType="1"/>
          </p:cNvSpPr>
          <p:nvPr/>
        </p:nvSpPr>
        <p:spPr bwMode="auto">
          <a:xfrm flipV="1">
            <a:off x="5446713" y="2060575"/>
            <a:ext cx="360362" cy="215900"/>
          </a:xfrm>
          <a:prstGeom prst="line">
            <a:avLst/>
          </a:prstGeom>
          <a:noFill/>
          <a:ln w="19050">
            <a:solidFill>
              <a:srgbClr val="0000FF"/>
            </a:solidFill>
            <a:round/>
            <a:headEnd/>
            <a:tailEnd/>
          </a:ln>
          <a:effectLst/>
        </p:spPr>
        <p:txBody>
          <a:bodyPr wrap="none" anchor="ctr"/>
          <a:lstStyle/>
          <a:p>
            <a:endParaRPr lang="zh-CN" altLang="en-US"/>
          </a:p>
        </p:txBody>
      </p:sp>
      <p:sp>
        <p:nvSpPr>
          <p:cNvPr id="411722" name="Line 74"/>
          <p:cNvSpPr>
            <a:spLocks noChangeShapeType="1"/>
          </p:cNvSpPr>
          <p:nvPr/>
        </p:nvSpPr>
        <p:spPr bwMode="auto">
          <a:xfrm flipV="1">
            <a:off x="6888163" y="2060575"/>
            <a:ext cx="360362" cy="215900"/>
          </a:xfrm>
          <a:prstGeom prst="line">
            <a:avLst/>
          </a:prstGeom>
          <a:noFill/>
          <a:ln w="19050">
            <a:solidFill>
              <a:srgbClr val="0000FF"/>
            </a:solidFill>
            <a:round/>
            <a:headEnd/>
            <a:tailEnd/>
          </a:ln>
          <a:effectLst/>
        </p:spPr>
        <p:txBody>
          <a:bodyPr wrap="none" anchor="ctr"/>
          <a:lstStyle/>
          <a:p>
            <a:endParaRPr lang="zh-CN" altLang="en-US"/>
          </a:p>
        </p:txBody>
      </p:sp>
      <p:grpSp>
        <p:nvGrpSpPr>
          <p:cNvPr id="411723" name="Group 75"/>
          <p:cNvGrpSpPr>
            <a:grpSpLocks/>
          </p:cNvGrpSpPr>
          <p:nvPr/>
        </p:nvGrpSpPr>
        <p:grpSpPr bwMode="auto">
          <a:xfrm>
            <a:off x="2784475" y="2238375"/>
            <a:ext cx="3887788" cy="1112838"/>
            <a:chOff x="567" y="2457"/>
            <a:chExt cx="2449" cy="701"/>
          </a:xfrm>
        </p:grpSpPr>
        <p:sp>
          <p:nvSpPr>
            <p:cNvPr id="411724" name="Line 76"/>
            <p:cNvSpPr>
              <a:spLocks noChangeShapeType="1"/>
            </p:cNvSpPr>
            <p:nvPr/>
          </p:nvSpPr>
          <p:spPr bwMode="auto">
            <a:xfrm>
              <a:off x="793" y="2724"/>
              <a:ext cx="412" cy="0"/>
            </a:xfrm>
            <a:prstGeom prst="line">
              <a:avLst/>
            </a:prstGeom>
            <a:noFill/>
            <a:ln w="28575">
              <a:solidFill>
                <a:srgbClr val="FF0066"/>
              </a:solidFill>
              <a:round/>
              <a:headEnd/>
              <a:tailEnd/>
            </a:ln>
            <a:effectLst/>
          </p:spPr>
          <p:txBody>
            <a:bodyPr wrap="none" anchor="ctr"/>
            <a:lstStyle/>
            <a:p>
              <a:endParaRPr lang="zh-CN" altLang="en-US"/>
            </a:p>
          </p:txBody>
        </p:sp>
        <p:sp>
          <p:nvSpPr>
            <p:cNvPr id="411725" name="Oval 77"/>
            <p:cNvSpPr>
              <a:spLocks noChangeArrowheads="1"/>
            </p:cNvSpPr>
            <p:nvPr/>
          </p:nvSpPr>
          <p:spPr bwMode="auto">
            <a:xfrm>
              <a:off x="1205" y="2704"/>
              <a:ext cx="42" cy="45"/>
            </a:xfrm>
            <a:prstGeom prst="ellipse">
              <a:avLst/>
            </a:prstGeom>
            <a:noFill/>
            <a:ln w="28575" algn="ctr">
              <a:solidFill>
                <a:srgbClr val="FF0066"/>
              </a:solidFill>
              <a:round/>
              <a:headEnd/>
              <a:tailEnd/>
            </a:ln>
            <a:effectLst/>
          </p:spPr>
          <p:txBody>
            <a:bodyPr wrap="none" anchor="ctr"/>
            <a:lstStyle/>
            <a:p>
              <a:endParaRPr lang="zh-CN" altLang="en-US"/>
            </a:p>
          </p:txBody>
        </p:sp>
        <p:grpSp>
          <p:nvGrpSpPr>
            <p:cNvPr id="411726" name="Group 78"/>
            <p:cNvGrpSpPr>
              <a:grpSpLocks/>
            </p:cNvGrpSpPr>
            <p:nvPr/>
          </p:nvGrpSpPr>
          <p:grpSpPr bwMode="auto">
            <a:xfrm>
              <a:off x="1474" y="2457"/>
              <a:ext cx="272" cy="45"/>
              <a:chOff x="1837" y="2684"/>
              <a:chExt cx="272" cy="45"/>
            </a:xfrm>
          </p:grpSpPr>
          <p:sp>
            <p:nvSpPr>
              <p:cNvPr id="411727" name="Line 79"/>
              <p:cNvSpPr>
                <a:spLocks noChangeShapeType="1"/>
              </p:cNvSpPr>
              <p:nvPr/>
            </p:nvSpPr>
            <p:spPr bwMode="auto">
              <a:xfrm flipH="1">
                <a:off x="1882" y="2704"/>
                <a:ext cx="227" cy="0"/>
              </a:xfrm>
              <a:prstGeom prst="line">
                <a:avLst/>
              </a:prstGeom>
              <a:noFill/>
              <a:ln w="28575">
                <a:solidFill>
                  <a:srgbClr val="FF0066"/>
                </a:solidFill>
                <a:round/>
                <a:headEnd/>
                <a:tailEnd/>
              </a:ln>
              <a:effectLst/>
            </p:spPr>
            <p:txBody>
              <a:bodyPr wrap="none" anchor="ctr"/>
              <a:lstStyle/>
              <a:p>
                <a:endParaRPr lang="zh-CN" altLang="en-US"/>
              </a:p>
            </p:txBody>
          </p:sp>
          <p:sp>
            <p:nvSpPr>
              <p:cNvPr id="411728" name="Oval 80"/>
              <p:cNvSpPr>
                <a:spLocks noChangeArrowheads="1"/>
              </p:cNvSpPr>
              <p:nvPr/>
            </p:nvSpPr>
            <p:spPr bwMode="auto">
              <a:xfrm flipH="1">
                <a:off x="1837" y="2684"/>
                <a:ext cx="45" cy="45"/>
              </a:xfrm>
              <a:prstGeom prst="ellipse">
                <a:avLst/>
              </a:prstGeom>
              <a:noFill/>
              <a:ln w="28575" algn="ctr">
                <a:solidFill>
                  <a:srgbClr val="FF0066"/>
                </a:solidFill>
                <a:round/>
                <a:headEnd/>
                <a:tailEnd/>
              </a:ln>
              <a:effectLst/>
            </p:spPr>
            <p:txBody>
              <a:bodyPr wrap="none" anchor="ctr"/>
              <a:lstStyle/>
              <a:p>
                <a:endParaRPr lang="zh-CN" altLang="en-US"/>
              </a:p>
            </p:txBody>
          </p:sp>
        </p:grpSp>
        <p:sp>
          <p:nvSpPr>
            <p:cNvPr id="411729" name="Line 81"/>
            <p:cNvSpPr>
              <a:spLocks noChangeShapeType="1"/>
            </p:cNvSpPr>
            <p:nvPr/>
          </p:nvSpPr>
          <p:spPr bwMode="auto">
            <a:xfrm flipV="1">
              <a:off x="1247" y="2477"/>
              <a:ext cx="227" cy="227"/>
            </a:xfrm>
            <a:prstGeom prst="line">
              <a:avLst/>
            </a:prstGeom>
            <a:noFill/>
            <a:ln w="28575">
              <a:solidFill>
                <a:srgbClr val="FF0066"/>
              </a:solidFill>
              <a:round/>
              <a:headEnd/>
              <a:tailEnd/>
            </a:ln>
            <a:effectLst/>
          </p:spPr>
          <p:txBody>
            <a:bodyPr wrap="none" anchor="ctr"/>
            <a:lstStyle/>
            <a:p>
              <a:endParaRPr lang="zh-CN" altLang="en-US"/>
            </a:p>
          </p:txBody>
        </p:sp>
        <p:sp>
          <p:nvSpPr>
            <p:cNvPr id="411730" name="Line 82"/>
            <p:cNvSpPr>
              <a:spLocks noChangeShapeType="1"/>
            </p:cNvSpPr>
            <p:nvPr/>
          </p:nvSpPr>
          <p:spPr bwMode="auto">
            <a:xfrm>
              <a:off x="1746" y="2477"/>
              <a:ext cx="181" cy="0"/>
            </a:xfrm>
            <a:prstGeom prst="line">
              <a:avLst/>
            </a:prstGeom>
            <a:noFill/>
            <a:ln w="28575">
              <a:solidFill>
                <a:srgbClr val="FF0066"/>
              </a:solidFill>
              <a:round/>
              <a:headEnd/>
              <a:tailEnd/>
            </a:ln>
            <a:effectLst/>
          </p:spPr>
          <p:txBody>
            <a:bodyPr wrap="none" anchor="ctr"/>
            <a:lstStyle/>
            <a:p>
              <a:endParaRPr lang="zh-CN" altLang="en-US"/>
            </a:p>
          </p:txBody>
        </p:sp>
        <p:sp>
          <p:nvSpPr>
            <p:cNvPr id="411731" name="Line 83"/>
            <p:cNvSpPr>
              <a:spLocks noChangeShapeType="1"/>
            </p:cNvSpPr>
            <p:nvPr/>
          </p:nvSpPr>
          <p:spPr bwMode="auto">
            <a:xfrm>
              <a:off x="2744" y="3158"/>
              <a:ext cx="272" cy="0"/>
            </a:xfrm>
            <a:prstGeom prst="line">
              <a:avLst/>
            </a:prstGeom>
            <a:noFill/>
            <a:ln w="28575">
              <a:solidFill>
                <a:srgbClr val="FF0066"/>
              </a:solidFill>
              <a:round/>
              <a:headEnd/>
              <a:tailEnd/>
            </a:ln>
            <a:effectLst/>
          </p:spPr>
          <p:txBody>
            <a:bodyPr wrap="none" anchor="ctr"/>
            <a:lstStyle/>
            <a:p>
              <a:endParaRPr lang="zh-CN" altLang="en-US"/>
            </a:p>
          </p:txBody>
        </p:sp>
        <p:sp>
          <p:nvSpPr>
            <p:cNvPr id="411732" name="Line 84"/>
            <p:cNvSpPr>
              <a:spLocks noChangeShapeType="1"/>
            </p:cNvSpPr>
            <p:nvPr/>
          </p:nvSpPr>
          <p:spPr bwMode="auto">
            <a:xfrm>
              <a:off x="1927" y="2477"/>
              <a:ext cx="0" cy="681"/>
            </a:xfrm>
            <a:prstGeom prst="line">
              <a:avLst/>
            </a:prstGeom>
            <a:noFill/>
            <a:ln w="28575">
              <a:solidFill>
                <a:srgbClr val="FF0066"/>
              </a:solidFill>
              <a:round/>
              <a:headEnd/>
              <a:tailEnd/>
            </a:ln>
            <a:effectLst/>
          </p:spPr>
          <p:txBody>
            <a:bodyPr wrap="none" anchor="ctr"/>
            <a:lstStyle/>
            <a:p>
              <a:endParaRPr lang="zh-CN" altLang="en-US"/>
            </a:p>
          </p:txBody>
        </p:sp>
        <p:sp>
          <p:nvSpPr>
            <p:cNvPr id="411733" name="Line 85"/>
            <p:cNvSpPr>
              <a:spLocks noChangeShapeType="1"/>
            </p:cNvSpPr>
            <p:nvPr/>
          </p:nvSpPr>
          <p:spPr bwMode="auto">
            <a:xfrm>
              <a:off x="1927" y="3158"/>
              <a:ext cx="817" cy="0"/>
            </a:xfrm>
            <a:prstGeom prst="line">
              <a:avLst/>
            </a:prstGeom>
            <a:noFill/>
            <a:ln w="28575">
              <a:solidFill>
                <a:srgbClr val="FF0066"/>
              </a:solidFill>
              <a:round/>
              <a:headEnd/>
              <a:tailEnd/>
            </a:ln>
            <a:effectLst/>
          </p:spPr>
          <p:txBody>
            <a:bodyPr wrap="none" anchor="ctr"/>
            <a:lstStyle/>
            <a:p>
              <a:endParaRPr lang="zh-CN" altLang="en-US"/>
            </a:p>
          </p:txBody>
        </p:sp>
        <p:sp>
          <p:nvSpPr>
            <p:cNvPr id="411734" name="Rectangle 86"/>
            <p:cNvSpPr>
              <a:spLocks noChangeArrowheads="1"/>
            </p:cNvSpPr>
            <p:nvPr/>
          </p:nvSpPr>
          <p:spPr bwMode="auto">
            <a:xfrm>
              <a:off x="567" y="2613"/>
              <a:ext cx="226" cy="227"/>
            </a:xfrm>
            <a:prstGeom prst="rect">
              <a:avLst/>
            </a:prstGeom>
            <a:solidFill>
              <a:schemeClr val="folHlink"/>
            </a:solidFill>
            <a:ln w="28575" algn="ctr">
              <a:solidFill>
                <a:srgbClr val="FF0066"/>
              </a:solidFill>
              <a:miter lim="800000"/>
              <a:headEnd/>
              <a:tailEnd/>
            </a:ln>
            <a:effec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 presetClass="entr" presetSubtype="2" fill="hold" grpId="0" nodeType="afterEffect">
                                  <p:stCondLst>
                                    <p:cond delay="0"/>
                                  </p:stCondLst>
                                  <p:childTnLst>
                                    <p:set>
                                      <p:cBhvr>
                                        <p:cTn id="6" dur="1" fill="hold">
                                          <p:stCondLst>
                                            <p:cond delay="0"/>
                                          </p:stCondLst>
                                        </p:cTn>
                                        <p:tgtEl>
                                          <p:spTgt spid="411708">
                                            <p:txEl>
                                              <p:pRg st="0" end="0"/>
                                            </p:txEl>
                                          </p:spTgt>
                                        </p:tgtEl>
                                        <p:attrNameLst>
                                          <p:attrName>style.visibility</p:attrName>
                                        </p:attrNameLst>
                                      </p:cBhvr>
                                      <p:to>
                                        <p:strVal val="visible"/>
                                      </p:to>
                                    </p:set>
                                    <p:anim calcmode="lin" valueType="num">
                                      <p:cBhvr additive="base">
                                        <p:cTn id="7" dur="500" fill="hold"/>
                                        <p:tgtEl>
                                          <p:spTgt spid="41170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11708">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2" fill="hold" grpId="0" nodeType="afterEffect">
                                  <p:stCondLst>
                                    <p:cond delay="0"/>
                                  </p:stCondLst>
                                  <p:childTnLst>
                                    <p:set>
                                      <p:cBhvr>
                                        <p:cTn id="11" dur="1" fill="hold">
                                          <p:stCondLst>
                                            <p:cond delay="0"/>
                                          </p:stCondLst>
                                        </p:cTn>
                                        <p:tgtEl>
                                          <p:spTgt spid="411651"/>
                                        </p:tgtEl>
                                        <p:attrNameLst>
                                          <p:attrName>style.visibility</p:attrName>
                                        </p:attrNameLst>
                                      </p:cBhvr>
                                      <p:to>
                                        <p:strVal val="visible"/>
                                      </p:to>
                                    </p:set>
                                    <p:anim calcmode="lin" valueType="num">
                                      <p:cBhvr additive="base">
                                        <p:cTn id="12" dur="500" fill="hold"/>
                                        <p:tgtEl>
                                          <p:spTgt spid="411651"/>
                                        </p:tgtEl>
                                        <p:attrNameLst>
                                          <p:attrName>ppt_x</p:attrName>
                                        </p:attrNameLst>
                                      </p:cBhvr>
                                      <p:tavLst>
                                        <p:tav tm="0">
                                          <p:val>
                                            <p:strVal val="1+#ppt_w/2"/>
                                          </p:val>
                                        </p:tav>
                                        <p:tav tm="100000">
                                          <p:val>
                                            <p:strVal val="#ppt_x"/>
                                          </p:val>
                                        </p:tav>
                                      </p:tavLst>
                                    </p:anim>
                                    <p:anim calcmode="lin" valueType="num">
                                      <p:cBhvr additive="base">
                                        <p:cTn id="13" dur="500" fill="hold"/>
                                        <p:tgtEl>
                                          <p:spTgt spid="411651"/>
                                        </p:tgtEl>
                                        <p:attrNameLst>
                                          <p:attrName>ppt_y</p:attrName>
                                        </p:attrNameLst>
                                      </p:cBhvr>
                                      <p:tavLst>
                                        <p:tav tm="0">
                                          <p:val>
                                            <p:strVal val="#ppt_y"/>
                                          </p:val>
                                        </p:tav>
                                        <p:tav tm="100000">
                                          <p:val>
                                            <p:strVal val="#ppt_y"/>
                                          </p:val>
                                        </p:tav>
                                      </p:tavLst>
                                    </p:anim>
                                  </p:childTnLst>
                                </p:cTn>
                              </p:par>
                            </p:childTnLst>
                          </p:cTn>
                        </p:par>
                        <p:par>
                          <p:cTn id="14" fill="hold">
                            <p:stCondLst>
                              <p:cond delay="1500"/>
                            </p:stCondLst>
                            <p:childTnLst>
                              <p:par>
                                <p:cTn id="15" presetID="12" presetClass="entr" presetSubtype="1" fill="hold" grpId="0" nodeType="afterEffect">
                                  <p:stCondLst>
                                    <p:cond delay="0"/>
                                  </p:stCondLst>
                                  <p:childTnLst>
                                    <p:set>
                                      <p:cBhvr>
                                        <p:cTn id="16" dur="1" fill="hold">
                                          <p:stCondLst>
                                            <p:cond delay="0"/>
                                          </p:stCondLst>
                                        </p:cTn>
                                        <p:tgtEl>
                                          <p:spTgt spid="411650"/>
                                        </p:tgtEl>
                                        <p:attrNameLst>
                                          <p:attrName>style.visibility</p:attrName>
                                        </p:attrNameLst>
                                      </p:cBhvr>
                                      <p:to>
                                        <p:strVal val="visible"/>
                                      </p:to>
                                    </p:set>
                                    <p:animEffect transition="in" filter="slide(fromTop)">
                                      <p:cBhvr>
                                        <p:cTn id="17" dur="500"/>
                                        <p:tgtEl>
                                          <p:spTgt spid="41165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411710"/>
                                        </p:tgtEl>
                                        <p:attrNameLst>
                                          <p:attrName>style.visibility</p:attrName>
                                        </p:attrNameLst>
                                      </p:cBhvr>
                                      <p:to>
                                        <p:strVal val="visible"/>
                                      </p:to>
                                    </p:set>
                                    <p:animEffect transition="in" filter="wipe(right)">
                                      <p:cBhvr>
                                        <p:cTn id="22" dur="500"/>
                                        <p:tgtEl>
                                          <p:spTgt spid="411710"/>
                                        </p:tgtEl>
                                      </p:cBhvr>
                                    </p:animEffect>
                                  </p:childTnLst>
                                </p:cTn>
                              </p:par>
                            </p:childTnLst>
                          </p:cTn>
                        </p:par>
                        <p:par>
                          <p:cTn id="23" fill="hold">
                            <p:stCondLst>
                              <p:cond delay="500"/>
                            </p:stCondLst>
                            <p:childTnLst>
                              <p:par>
                                <p:cTn id="24" presetID="35" presetClass="emph" presetSubtype="0" fill="hold" grpId="0" nodeType="afterEffect">
                                  <p:stCondLst>
                                    <p:cond delay="0"/>
                                  </p:stCondLst>
                                  <p:childTnLst>
                                    <p:anim calcmode="discrete" valueType="str">
                                      <p:cBhvr>
                                        <p:cTn id="25" dur="1000" fill="hold"/>
                                        <p:tgtEl>
                                          <p:spTgt spid="411669"/>
                                        </p:tgtEl>
                                        <p:attrNameLst>
                                          <p:attrName>style.visibility</p:attrName>
                                        </p:attrNameLst>
                                      </p:cBhvr>
                                      <p:tavLst>
                                        <p:tav tm="0">
                                          <p:val>
                                            <p:strVal val="hidden"/>
                                          </p:val>
                                        </p:tav>
                                        <p:tav tm="50000">
                                          <p:val>
                                            <p:strVal val="visible"/>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nodeType="clickEffect">
                                  <p:stCondLst>
                                    <p:cond delay="0"/>
                                  </p:stCondLst>
                                  <p:childTnLst>
                                    <p:set>
                                      <p:cBhvr>
                                        <p:cTn id="29" dur="1" fill="hold">
                                          <p:stCondLst>
                                            <p:cond delay="0"/>
                                          </p:stCondLst>
                                        </p:cTn>
                                        <p:tgtEl>
                                          <p:spTgt spid="411713"/>
                                        </p:tgtEl>
                                        <p:attrNameLst>
                                          <p:attrName>style.visibility</p:attrName>
                                        </p:attrNameLst>
                                      </p:cBhvr>
                                      <p:to>
                                        <p:strVal val="visible"/>
                                      </p:to>
                                    </p:set>
                                    <p:animEffect transition="in" filter="wipe(right)">
                                      <p:cBhvr>
                                        <p:cTn id="30" dur="500"/>
                                        <p:tgtEl>
                                          <p:spTgt spid="411713"/>
                                        </p:tgtEl>
                                      </p:cBhvr>
                                    </p:animEffect>
                                  </p:childTnLst>
                                </p:cTn>
                              </p:par>
                            </p:childTnLst>
                          </p:cTn>
                        </p:par>
                        <p:par>
                          <p:cTn id="31" fill="hold">
                            <p:stCondLst>
                              <p:cond delay="500"/>
                            </p:stCondLst>
                            <p:childTnLst>
                              <p:par>
                                <p:cTn id="32" presetID="1" presetClass="exit" presetSubtype="0" fill="hold" grpId="0" nodeType="afterEffect">
                                  <p:stCondLst>
                                    <p:cond delay="0"/>
                                  </p:stCondLst>
                                  <p:childTnLst>
                                    <p:set>
                                      <p:cBhvr>
                                        <p:cTn id="33" dur="1" fill="hold">
                                          <p:stCondLst>
                                            <p:cond delay="0"/>
                                          </p:stCondLst>
                                        </p:cTn>
                                        <p:tgtEl>
                                          <p:spTgt spid="411721"/>
                                        </p:tgtEl>
                                        <p:attrNameLst>
                                          <p:attrName>style.visibility</p:attrName>
                                        </p:attrNameLst>
                                      </p:cBhvr>
                                      <p:to>
                                        <p:strVal val="hidden"/>
                                      </p:to>
                                    </p:se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411678"/>
                                        </p:tgtEl>
                                        <p:attrNameLst>
                                          <p:attrName>style.visibility</p:attrName>
                                        </p:attrNameLst>
                                      </p:cBhvr>
                                      <p:to>
                                        <p:strVal val="visible"/>
                                      </p:to>
                                    </p:set>
                                    <p:animEffect transition="in" filter="wipe(left)">
                                      <p:cBhvr>
                                        <p:cTn id="37" dur="500"/>
                                        <p:tgtEl>
                                          <p:spTgt spid="41167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411716"/>
                                        </p:tgtEl>
                                        <p:attrNameLst>
                                          <p:attrName>style.visibility</p:attrName>
                                        </p:attrNameLst>
                                      </p:cBhvr>
                                      <p:to>
                                        <p:strVal val="visible"/>
                                      </p:to>
                                    </p:set>
                                    <p:animEffect transition="in" filter="wipe(right)">
                                      <p:cBhvr>
                                        <p:cTn id="42" dur="500"/>
                                        <p:tgtEl>
                                          <p:spTgt spid="411716"/>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411723"/>
                                        </p:tgtEl>
                                        <p:attrNameLst>
                                          <p:attrName>style.visibility</p:attrName>
                                        </p:attrNameLst>
                                      </p:cBhvr>
                                      <p:to>
                                        <p:strVal val="visible"/>
                                      </p:to>
                                    </p:set>
                                    <p:animEffect transition="in" filter="wipe(left)">
                                      <p:cBhvr>
                                        <p:cTn id="46" dur="500"/>
                                        <p:tgtEl>
                                          <p:spTgt spid="411723"/>
                                        </p:tgtEl>
                                      </p:cBhvr>
                                    </p:animEffect>
                                  </p:childTnLst>
                                </p:cTn>
                              </p:par>
                            </p:childTnLst>
                          </p:cTn>
                        </p:par>
                        <p:par>
                          <p:cTn id="47" fill="hold">
                            <p:stCondLst>
                              <p:cond delay="1000"/>
                            </p:stCondLst>
                            <p:childTnLst>
                              <p:par>
                                <p:cTn id="48" presetID="1" presetClass="entr" presetSubtype="0" fill="hold" grpId="0" nodeType="afterEffect">
                                  <p:stCondLst>
                                    <p:cond delay="0"/>
                                  </p:stCondLst>
                                  <p:childTnLst>
                                    <p:set>
                                      <p:cBhvr>
                                        <p:cTn id="49" dur="1" fill="hold">
                                          <p:stCondLst>
                                            <p:cond delay="0"/>
                                          </p:stCondLst>
                                        </p:cTn>
                                        <p:tgtEl>
                                          <p:spTgt spid="411719"/>
                                        </p:tgtEl>
                                        <p:attrNameLst>
                                          <p:attrName>style.visibility</p:attrName>
                                        </p:attrNameLst>
                                      </p:cBhvr>
                                      <p:to>
                                        <p:strVal val="visible"/>
                                      </p:to>
                                    </p:set>
                                  </p:childTnLst>
                                </p:cTn>
                              </p:par>
                            </p:childTnLst>
                          </p:cTn>
                        </p:par>
                        <p:par>
                          <p:cTn id="50" fill="hold">
                            <p:stCondLst>
                              <p:cond delay="1000"/>
                            </p:stCondLst>
                            <p:childTnLst>
                              <p:par>
                                <p:cTn id="51" presetID="22" presetClass="entr" presetSubtype="1" fill="hold" grpId="0" nodeType="afterEffect">
                                  <p:stCondLst>
                                    <p:cond delay="0"/>
                                  </p:stCondLst>
                                  <p:childTnLst>
                                    <p:set>
                                      <p:cBhvr>
                                        <p:cTn id="52" dur="1" fill="hold">
                                          <p:stCondLst>
                                            <p:cond delay="0"/>
                                          </p:stCondLst>
                                        </p:cTn>
                                        <p:tgtEl>
                                          <p:spTgt spid="411720"/>
                                        </p:tgtEl>
                                        <p:attrNameLst>
                                          <p:attrName>style.visibility</p:attrName>
                                        </p:attrNameLst>
                                      </p:cBhvr>
                                      <p:to>
                                        <p:strVal val="visible"/>
                                      </p:to>
                                    </p:set>
                                    <p:animEffect transition="in" filter="wipe(up)">
                                      <p:cBhvr>
                                        <p:cTn id="53" dur="500"/>
                                        <p:tgtEl>
                                          <p:spTgt spid="4117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650" grpId="0" animBg="1"/>
      <p:bldP spid="411651" grpId="0" autoUpdateAnimBg="0"/>
      <p:bldP spid="411669" grpId="0" animBg="1"/>
      <p:bldP spid="411678" grpId="0" animBg="1"/>
      <p:bldP spid="411708" grpId="0" build="p"/>
      <p:bldP spid="411719" grpId="0" animBg="1"/>
      <p:bldP spid="411720" grpId="0" animBg="1"/>
      <p:bldP spid="411721"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2674" name="Rectangle 2"/>
          <p:cNvSpPr>
            <a:spLocks noChangeArrowheads="1"/>
          </p:cNvSpPr>
          <p:nvPr/>
        </p:nvSpPr>
        <p:spPr bwMode="auto">
          <a:xfrm>
            <a:off x="2433638" y="3162300"/>
            <a:ext cx="3733800" cy="2546350"/>
          </a:xfrm>
          <a:prstGeom prst="rect">
            <a:avLst/>
          </a:prstGeom>
          <a:solidFill>
            <a:schemeClr val="bg1"/>
          </a:solidFill>
          <a:ln w="9525">
            <a:solidFill>
              <a:schemeClr val="tx1"/>
            </a:solidFill>
            <a:miter lim="800000"/>
            <a:headEnd/>
            <a:tailEnd/>
          </a:ln>
          <a:effectLst/>
        </p:spPr>
        <p:txBody>
          <a:bodyPr>
            <a:spAutoFit/>
          </a:bodyPr>
          <a:lstStyle/>
          <a:p>
            <a:pPr algn="l">
              <a:spcBef>
                <a:spcPct val="50000"/>
              </a:spcBef>
            </a:pPr>
            <a:r>
              <a:rPr lang="en-US" altLang="zh-CN" sz="1600">
                <a:ea typeface="华文新魏" pitchFamily="2" charset="-122"/>
              </a:rPr>
              <a:t>#define  DataBus  0xFF</a:t>
            </a:r>
          </a:p>
          <a:p>
            <a:pPr algn="l">
              <a:spcBef>
                <a:spcPct val="50000"/>
              </a:spcBef>
            </a:pPr>
            <a:endParaRPr lang="en-US" altLang="zh-CN" sz="1600">
              <a:ea typeface="华文新魏" pitchFamily="2" charset="-122"/>
            </a:endParaRPr>
          </a:p>
          <a:p>
            <a:pPr algn="l">
              <a:spcBef>
                <a:spcPct val="50000"/>
              </a:spcBef>
            </a:pPr>
            <a:r>
              <a:rPr lang="en-US" altLang="zh-CN" sz="1600">
                <a:ea typeface="华文新魏" pitchFamily="2" charset="-122"/>
              </a:rPr>
              <a:t>    PINSEL0 &amp;= 0xFFFF0000;</a:t>
            </a:r>
          </a:p>
          <a:p>
            <a:pPr algn="l">
              <a:spcBef>
                <a:spcPct val="50000"/>
              </a:spcBef>
            </a:pPr>
            <a:r>
              <a:rPr lang="en-US" altLang="zh-CN" sz="1600">
                <a:ea typeface="华文新魏" pitchFamily="2" charset="-122"/>
              </a:rPr>
              <a:t>    IO0DIR  |= DataBus;</a:t>
            </a:r>
          </a:p>
          <a:p>
            <a:pPr algn="l">
              <a:spcBef>
                <a:spcPct val="50000"/>
              </a:spcBef>
            </a:pPr>
            <a:r>
              <a:rPr lang="en-US" altLang="zh-CN" sz="1600">
                <a:ea typeface="华文新魏" pitchFamily="2" charset="-122"/>
              </a:rPr>
              <a:t>    IO0CLR   = DataBus;</a:t>
            </a:r>
          </a:p>
          <a:p>
            <a:pPr algn="l">
              <a:spcBef>
                <a:spcPct val="50000"/>
              </a:spcBef>
            </a:pPr>
            <a:r>
              <a:rPr lang="en-US" altLang="zh-CN" sz="1600">
                <a:ea typeface="华文新魏" pitchFamily="2" charset="-122"/>
              </a:rPr>
              <a:t>    IO0SET   = Data;</a:t>
            </a:r>
          </a:p>
          <a:p>
            <a:pPr algn="l">
              <a:spcBef>
                <a:spcPct val="50000"/>
              </a:spcBef>
            </a:pPr>
            <a:r>
              <a:rPr lang="en-US" altLang="zh-CN" sz="1600">
                <a:ea typeface="华文新魏" pitchFamily="2" charset="-122"/>
              </a:rPr>
              <a:t>    ...</a:t>
            </a:r>
          </a:p>
        </p:txBody>
      </p:sp>
      <p:sp>
        <p:nvSpPr>
          <p:cNvPr id="412675" name="Text Box 3"/>
          <p:cNvSpPr txBox="1">
            <a:spLocks noChangeArrowheads="1"/>
          </p:cNvSpPr>
          <p:nvPr/>
        </p:nvSpPr>
        <p:spPr bwMode="auto">
          <a:xfrm>
            <a:off x="2424114" y="2781301"/>
            <a:ext cx="3673475" cy="396875"/>
          </a:xfrm>
          <a:prstGeom prst="rect">
            <a:avLst/>
          </a:prstGeom>
          <a:noFill/>
          <a:ln w="9525">
            <a:noFill/>
            <a:miter lim="800000"/>
            <a:headEnd/>
            <a:tailEnd/>
          </a:ln>
          <a:effectLst/>
        </p:spPr>
        <p:txBody>
          <a:bodyPr>
            <a:spAutoFit/>
          </a:bodyPr>
          <a:lstStyle/>
          <a:p>
            <a:pPr>
              <a:spcBef>
                <a:spcPct val="50000"/>
              </a:spcBef>
            </a:pPr>
            <a:r>
              <a:rPr lang="zh-CN" altLang="en-US" sz="2000">
                <a:latin typeface="华文新魏" pitchFamily="2" charset="-122"/>
                <a:ea typeface="华文新魏" pitchFamily="2" charset="-122"/>
              </a:rPr>
              <a:t>使用</a:t>
            </a:r>
            <a:r>
              <a:rPr lang="en-US" altLang="zh-CN" sz="2000">
                <a:latin typeface="华文新魏" pitchFamily="2" charset="-122"/>
                <a:ea typeface="华文新魏" pitchFamily="2" charset="-122"/>
              </a:rPr>
              <a:t>IOxSET</a:t>
            </a:r>
            <a:r>
              <a:rPr lang="zh-CN" altLang="en-US" sz="2000">
                <a:latin typeface="华文新魏" pitchFamily="2" charset="-122"/>
                <a:ea typeface="华文新魏" pitchFamily="2" charset="-122"/>
              </a:rPr>
              <a:t>和</a:t>
            </a:r>
            <a:r>
              <a:rPr lang="en-US" altLang="zh-CN" sz="2000">
                <a:latin typeface="华文新魏" pitchFamily="2" charset="-122"/>
                <a:ea typeface="华文新魏" pitchFamily="2" charset="-122"/>
              </a:rPr>
              <a:t>IOxCLR</a:t>
            </a:r>
            <a:r>
              <a:rPr lang="zh-CN" altLang="en-US" sz="2000">
                <a:latin typeface="华文新魏" pitchFamily="2" charset="-122"/>
                <a:ea typeface="华文新魏" pitchFamily="2" charset="-122"/>
              </a:rPr>
              <a:t>实现：</a:t>
            </a:r>
          </a:p>
        </p:txBody>
      </p:sp>
      <p:sp>
        <p:nvSpPr>
          <p:cNvPr id="412676" name="Rectangle 4"/>
          <p:cNvSpPr>
            <a:spLocks noChangeArrowheads="1"/>
          </p:cNvSpPr>
          <p:nvPr/>
        </p:nvSpPr>
        <p:spPr bwMode="auto">
          <a:xfrm>
            <a:off x="2209800" y="587375"/>
            <a:ext cx="777240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GPIO</a:t>
            </a:r>
            <a:r>
              <a:rPr lang="zh-CN" altLang="en-US" sz="3200">
                <a:latin typeface="Times New Roman" pitchFamily="18" charset="0"/>
              </a:rPr>
              <a:t>应用示例</a:t>
            </a:r>
            <a:r>
              <a:rPr lang="en-US" altLang="zh-CN" sz="3200">
                <a:latin typeface="Times New Roman" pitchFamily="18" charset="0"/>
              </a:rPr>
              <a:t>——</a:t>
            </a:r>
            <a:r>
              <a:rPr lang="zh-CN" altLang="en-US" sz="3200">
                <a:solidFill>
                  <a:srgbClr val="FF0000"/>
                </a:solidFill>
                <a:latin typeface="Times New Roman" pitchFamily="18" charset="0"/>
              </a:rPr>
              <a:t>输出多位数据至</a:t>
            </a:r>
            <a:r>
              <a:rPr lang="en-US" altLang="zh-CN" sz="3200">
                <a:solidFill>
                  <a:srgbClr val="FF0000"/>
                </a:solidFill>
                <a:latin typeface="Times New Roman" pitchFamily="18" charset="0"/>
              </a:rPr>
              <a:t>IO</a:t>
            </a:r>
            <a:r>
              <a:rPr lang="zh-CN" altLang="en-US" sz="3200">
                <a:solidFill>
                  <a:srgbClr val="FF0000"/>
                </a:solidFill>
                <a:latin typeface="Times New Roman" pitchFamily="18" charset="0"/>
              </a:rPr>
              <a:t>口</a:t>
            </a:r>
          </a:p>
        </p:txBody>
      </p:sp>
      <p:grpSp>
        <p:nvGrpSpPr>
          <p:cNvPr id="412677" name="Group 5"/>
          <p:cNvGrpSpPr>
            <a:grpSpLocks/>
          </p:cNvGrpSpPr>
          <p:nvPr/>
        </p:nvGrpSpPr>
        <p:grpSpPr bwMode="auto">
          <a:xfrm>
            <a:off x="2782888" y="3862388"/>
            <a:ext cx="6913562" cy="360362"/>
            <a:chOff x="839" y="2478"/>
            <a:chExt cx="4355" cy="227"/>
          </a:xfrm>
        </p:grpSpPr>
        <p:sp>
          <p:nvSpPr>
            <p:cNvPr id="412678" name="AutoShape 6"/>
            <p:cNvSpPr>
              <a:spLocks noChangeArrowheads="1"/>
            </p:cNvSpPr>
            <p:nvPr/>
          </p:nvSpPr>
          <p:spPr bwMode="auto">
            <a:xfrm>
              <a:off x="839" y="2478"/>
              <a:ext cx="4354" cy="227"/>
            </a:xfrm>
            <a:prstGeom prst="roundRect">
              <a:avLst>
                <a:gd name="adj" fmla="val 16667"/>
              </a:avLst>
            </a:prstGeom>
            <a:noFill/>
            <a:ln w="12700" algn="ctr">
              <a:solidFill>
                <a:srgbClr val="0000FF"/>
              </a:solidFill>
              <a:round/>
              <a:headEnd/>
              <a:tailEnd/>
            </a:ln>
            <a:effectLst/>
          </p:spPr>
          <p:txBody>
            <a:bodyPr wrap="none" anchor="ctr"/>
            <a:lstStyle/>
            <a:p>
              <a:endParaRPr lang="zh-CN" altLang="en-US"/>
            </a:p>
          </p:txBody>
        </p:sp>
        <p:sp>
          <p:nvSpPr>
            <p:cNvPr id="412679" name="AutoShape 7"/>
            <p:cNvSpPr>
              <a:spLocks noChangeArrowheads="1"/>
            </p:cNvSpPr>
            <p:nvPr/>
          </p:nvSpPr>
          <p:spPr bwMode="auto">
            <a:xfrm>
              <a:off x="2699" y="2478"/>
              <a:ext cx="2495" cy="227"/>
            </a:xfrm>
            <a:prstGeom prst="roundRect">
              <a:avLst>
                <a:gd name="adj" fmla="val 16667"/>
              </a:avLst>
            </a:prstGeom>
            <a:solidFill>
              <a:srgbClr val="CCECFF"/>
            </a:solidFill>
            <a:ln w="12700" algn="ctr">
              <a:solidFill>
                <a:srgbClr val="0000FF"/>
              </a:solidFill>
              <a:round/>
              <a:headEnd/>
              <a:tailEnd/>
            </a:ln>
            <a:effectLst/>
          </p:spPr>
          <p:txBody>
            <a:bodyPr wrap="none" anchor="ctr"/>
            <a:lstStyle/>
            <a:p>
              <a:pPr algn="l"/>
              <a:r>
                <a:rPr lang="en-US" altLang="zh-CN" sz="1600" dirty="0">
                  <a:latin typeface="Times New Roman" pitchFamily="18" charset="0"/>
                </a:rPr>
                <a:t>(1) </a:t>
              </a:r>
              <a:r>
                <a:rPr lang="zh-CN" altLang="en-US" sz="1600" dirty="0">
                  <a:latin typeface="Times New Roman" pitchFamily="18" charset="0"/>
                </a:rPr>
                <a:t>设置引脚连接模块，</a:t>
              </a:r>
              <a:r>
                <a:rPr lang="en-US" altLang="zh-CN" sz="1600" dirty="0">
                  <a:latin typeface="Times New Roman" pitchFamily="18" charset="0"/>
                </a:rPr>
                <a:t>P0.0-P0.7</a:t>
              </a:r>
              <a:r>
                <a:rPr lang="zh-CN" altLang="en-US" sz="1600" dirty="0">
                  <a:latin typeface="Times New Roman" pitchFamily="18" charset="0"/>
                </a:rPr>
                <a:t>为</a:t>
              </a:r>
              <a:r>
                <a:rPr lang="en-US" altLang="zh-CN" sz="1600" dirty="0">
                  <a:latin typeface="Times New Roman" pitchFamily="18" charset="0"/>
                </a:rPr>
                <a:t>GPIO</a:t>
              </a:r>
            </a:p>
          </p:txBody>
        </p:sp>
      </p:grpSp>
      <p:grpSp>
        <p:nvGrpSpPr>
          <p:cNvPr id="412680" name="Group 8"/>
          <p:cNvGrpSpPr>
            <a:grpSpLocks/>
          </p:cNvGrpSpPr>
          <p:nvPr/>
        </p:nvGrpSpPr>
        <p:grpSpPr bwMode="auto">
          <a:xfrm>
            <a:off x="2782888" y="4222751"/>
            <a:ext cx="6913562" cy="360363"/>
            <a:chOff x="839" y="2705"/>
            <a:chExt cx="4355" cy="227"/>
          </a:xfrm>
        </p:grpSpPr>
        <p:sp>
          <p:nvSpPr>
            <p:cNvPr id="412681" name="AutoShape 9"/>
            <p:cNvSpPr>
              <a:spLocks noChangeArrowheads="1"/>
            </p:cNvSpPr>
            <p:nvPr/>
          </p:nvSpPr>
          <p:spPr bwMode="auto">
            <a:xfrm>
              <a:off x="839" y="2705"/>
              <a:ext cx="4354" cy="227"/>
            </a:xfrm>
            <a:prstGeom prst="roundRect">
              <a:avLst>
                <a:gd name="adj" fmla="val 16667"/>
              </a:avLst>
            </a:prstGeom>
            <a:noFill/>
            <a:ln w="12700" algn="ctr">
              <a:solidFill>
                <a:srgbClr val="0000FF"/>
              </a:solidFill>
              <a:round/>
              <a:headEnd/>
              <a:tailEnd/>
            </a:ln>
            <a:effectLst/>
          </p:spPr>
          <p:txBody>
            <a:bodyPr wrap="none" anchor="ctr"/>
            <a:lstStyle/>
            <a:p>
              <a:endParaRPr lang="zh-CN" altLang="en-US"/>
            </a:p>
          </p:txBody>
        </p:sp>
        <p:sp>
          <p:nvSpPr>
            <p:cNvPr id="412682" name="AutoShape 10"/>
            <p:cNvSpPr>
              <a:spLocks noChangeArrowheads="1"/>
            </p:cNvSpPr>
            <p:nvPr/>
          </p:nvSpPr>
          <p:spPr bwMode="auto">
            <a:xfrm>
              <a:off x="2699" y="2705"/>
              <a:ext cx="2495" cy="227"/>
            </a:xfrm>
            <a:prstGeom prst="roundRect">
              <a:avLst>
                <a:gd name="adj" fmla="val 16667"/>
              </a:avLst>
            </a:prstGeom>
            <a:solidFill>
              <a:srgbClr val="FFFFCC"/>
            </a:solidFill>
            <a:ln w="12700" algn="ctr">
              <a:solidFill>
                <a:srgbClr val="0000FF"/>
              </a:solidFill>
              <a:round/>
              <a:headEnd/>
              <a:tailEnd/>
            </a:ln>
            <a:effectLst/>
          </p:spPr>
          <p:txBody>
            <a:bodyPr wrap="none" anchor="ctr"/>
            <a:lstStyle/>
            <a:p>
              <a:pPr algn="l"/>
              <a:r>
                <a:rPr lang="en-US" altLang="zh-CN" sz="1600" dirty="0">
                  <a:latin typeface="Times New Roman" pitchFamily="18" charset="0"/>
                </a:rPr>
                <a:t>(2) </a:t>
              </a:r>
              <a:r>
                <a:rPr lang="zh-CN" altLang="en-US" sz="1600" dirty="0">
                  <a:latin typeface="Times New Roman" pitchFamily="18" charset="0"/>
                </a:rPr>
                <a:t>设置</a:t>
              </a:r>
              <a:r>
                <a:rPr lang="en-US" altLang="zh-CN" sz="1600" dirty="0">
                  <a:latin typeface="Times New Roman" pitchFamily="18" charset="0"/>
                </a:rPr>
                <a:t>P0.0-P0.7</a:t>
              </a:r>
              <a:r>
                <a:rPr lang="zh-CN" altLang="en-US" sz="1600" dirty="0">
                  <a:latin typeface="Times New Roman" pitchFamily="18" charset="0"/>
                </a:rPr>
                <a:t>口方向，设置为输出</a:t>
              </a:r>
            </a:p>
          </p:txBody>
        </p:sp>
      </p:grpSp>
      <p:grpSp>
        <p:nvGrpSpPr>
          <p:cNvPr id="412683" name="Group 11"/>
          <p:cNvGrpSpPr>
            <a:grpSpLocks/>
          </p:cNvGrpSpPr>
          <p:nvPr/>
        </p:nvGrpSpPr>
        <p:grpSpPr bwMode="auto">
          <a:xfrm>
            <a:off x="2782888" y="4583113"/>
            <a:ext cx="6913562" cy="360362"/>
            <a:chOff x="839" y="2932"/>
            <a:chExt cx="4355" cy="227"/>
          </a:xfrm>
        </p:grpSpPr>
        <p:sp>
          <p:nvSpPr>
            <p:cNvPr id="412684" name="AutoShape 12"/>
            <p:cNvSpPr>
              <a:spLocks noChangeArrowheads="1"/>
            </p:cNvSpPr>
            <p:nvPr/>
          </p:nvSpPr>
          <p:spPr bwMode="auto">
            <a:xfrm>
              <a:off x="839" y="2932"/>
              <a:ext cx="4354" cy="227"/>
            </a:xfrm>
            <a:prstGeom prst="roundRect">
              <a:avLst>
                <a:gd name="adj" fmla="val 16667"/>
              </a:avLst>
            </a:prstGeom>
            <a:noFill/>
            <a:ln w="12700" algn="ctr">
              <a:solidFill>
                <a:srgbClr val="0000FF"/>
              </a:solidFill>
              <a:round/>
              <a:headEnd/>
              <a:tailEnd/>
            </a:ln>
            <a:effectLst/>
          </p:spPr>
          <p:txBody>
            <a:bodyPr wrap="none" anchor="ctr"/>
            <a:lstStyle/>
            <a:p>
              <a:endParaRPr lang="zh-CN" altLang="en-US"/>
            </a:p>
          </p:txBody>
        </p:sp>
        <p:sp>
          <p:nvSpPr>
            <p:cNvPr id="412685" name="AutoShape 13"/>
            <p:cNvSpPr>
              <a:spLocks noChangeArrowheads="1"/>
            </p:cNvSpPr>
            <p:nvPr/>
          </p:nvSpPr>
          <p:spPr bwMode="auto">
            <a:xfrm>
              <a:off x="2699" y="2932"/>
              <a:ext cx="2495" cy="227"/>
            </a:xfrm>
            <a:prstGeom prst="roundRect">
              <a:avLst>
                <a:gd name="adj" fmla="val 16667"/>
              </a:avLst>
            </a:prstGeom>
            <a:solidFill>
              <a:srgbClr val="CCECFF"/>
            </a:solidFill>
            <a:ln w="12700" algn="ctr">
              <a:solidFill>
                <a:srgbClr val="0000FF"/>
              </a:solidFill>
              <a:round/>
              <a:headEnd/>
              <a:tailEnd/>
            </a:ln>
            <a:effectLst/>
          </p:spPr>
          <p:txBody>
            <a:bodyPr wrap="none" anchor="ctr"/>
            <a:lstStyle/>
            <a:p>
              <a:pPr algn="l"/>
              <a:r>
                <a:rPr lang="en-US" altLang="zh-CN" sz="1600">
                  <a:latin typeface="Times New Roman" pitchFamily="18" charset="0"/>
                </a:rPr>
                <a:t>(3) </a:t>
              </a:r>
              <a:r>
                <a:rPr lang="zh-CN" altLang="en-US" sz="1600">
                  <a:latin typeface="Times New Roman" pitchFamily="18" charset="0"/>
                </a:rPr>
                <a:t>清零</a:t>
              </a:r>
              <a:r>
                <a:rPr lang="en-US" altLang="zh-CN" sz="1600">
                  <a:latin typeface="Times New Roman" pitchFamily="18" charset="0"/>
                </a:rPr>
                <a:t>8</a:t>
              </a:r>
              <a:r>
                <a:rPr lang="zh-CN" altLang="en-US" sz="1600">
                  <a:latin typeface="Times New Roman" pitchFamily="18" charset="0"/>
                </a:rPr>
                <a:t>位</a:t>
              </a:r>
              <a:r>
                <a:rPr lang="en-US" altLang="zh-CN" sz="1600">
                  <a:latin typeface="Times New Roman" pitchFamily="18" charset="0"/>
                </a:rPr>
                <a:t>IO</a:t>
              </a:r>
              <a:r>
                <a:rPr lang="zh-CN" altLang="en-US" sz="1600">
                  <a:latin typeface="Times New Roman" pitchFamily="18" charset="0"/>
                </a:rPr>
                <a:t>口的输出状态</a:t>
              </a:r>
            </a:p>
          </p:txBody>
        </p:sp>
      </p:grpSp>
      <p:sp>
        <p:nvSpPr>
          <p:cNvPr id="412686" name="Text Box 14"/>
          <p:cNvSpPr txBox="1">
            <a:spLocks noChangeArrowheads="1"/>
          </p:cNvSpPr>
          <p:nvPr/>
        </p:nvSpPr>
        <p:spPr bwMode="auto">
          <a:xfrm>
            <a:off x="2514600" y="1268414"/>
            <a:ext cx="7391400" cy="1463675"/>
          </a:xfrm>
          <a:prstGeom prst="rect">
            <a:avLst/>
          </a:prstGeom>
          <a:noFill/>
          <a:ln w="9525">
            <a:noFill/>
            <a:miter lim="800000"/>
            <a:headEnd/>
            <a:tailEnd/>
          </a:ln>
          <a:effectLst/>
        </p:spPr>
        <p:txBody>
          <a:bodyPr>
            <a:spAutoFit/>
          </a:bodyPr>
          <a:lstStyle/>
          <a:p>
            <a:pPr algn="l">
              <a:spcBef>
                <a:spcPct val="50000"/>
              </a:spcBef>
              <a:buClr>
                <a:srgbClr val="0000FF"/>
              </a:buClr>
              <a:buFont typeface="Wingdings" pitchFamily="2" charset="2"/>
              <a:buNone/>
            </a:pPr>
            <a:r>
              <a:rPr lang="en-US" altLang="zh-CN" sz="2000">
                <a:latin typeface="华文新魏" pitchFamily="2" charset="-122"/>
                <a:ea typeface="华文新魏" pitchFamily="2" charset="-122"/>
              </a:rPr>
              <a:t>        </a:t>
            </a:r>
            <a:r>
              <a:rPr lang="zh-CN" altLang="en-US" sz="2000">
                <a:latin typeface="华文新魏" pitchFamily="2" charset="-122"/>
                <a:ea typeface="华文新魏" pitchFamily="2" charset="-122"/>
              </a:rPr>
              <a:t>在需要将多位数据同时输出到某几个</a:t>
            </a:r>
            <a:r>
              <a:rPr lang="en-US" altLang="zh-CN" sz="2000">
                <a:latin typeface="华文新魏" pitchFamily="2" charset="-122"/>
                <a:ea typeface="华文新魏" pitchFamily="2" charset="-122"/>
              </a:rPr>
              <a:t>IO</a:t>
            </a:r>
            <a:r>
              <a:rPr lang="zh-CN" altLang="en-US" sz="2000">
                <a:latin typeface="华文新魏" pitchFamily="2" charset="-122"/>
                <a:ea typeface="华文新魏" pitchFamily="2" charset="-122"/>
              </a:rPr>
              <a:t>口线时，通常使用</a:t>
            </a:r>
            <a:r>
              <a:rPr lang="en-US" altLang="zh-CN" sz="2000">
                <a:latin typeface="华文新魏" pitchFamily="2" charset="-122"/>
                <a:ea typeface="华文新魏" pitchFamily="2" charset="-122"/>
              </a:rPr>
              <a:t>IOxSET</a:t>
            </a:r>
            <a:r>
              <a:rPr lang="zh-CN" altLang="en-US" sz="2000">
                <a:latin typeface="华文新魏" pitchFamily="2" charset="-122"/>
                <a:ea typeface="华文新魏" pitchFamily="2" charset="-122"/>
              </a:rPr>
              <a:t>和</a:t>
            </a:r>
            <a:r>
              <a:rPr lang="en-US" altLang="zh-CN" sz="2000">
                <a:latin typeface="华文新魏" pitchFamily="2" charset="-122"/>
                <a:ea typeface="华文新魏" pitchFamily="2" charset="-122"/>
              </a:rPr>
              <a:t>IOxCLR</a:t>
            </a:r>
            <a:r>
              <a:rPr lang="zh-CN" altLang="en-US" sz="2000">
                <a:latin typeface="华文新魏" pitchFamily="2" charset="-122"/>
                <a:ea typeface="华文新魏" pitchFamily="2" charset="-122"/>
              </a:rPr>
              <a:t>来实现，在某些情况下也可以使用</a:t>
            </a:r>
            <a:r>
              <a:rPr lang="en-US" altLang="zh-CN" sz="2000">
                <a:latin typeface="华文新魏" pitchFamily="2" charset="-122"/>
                <a:ea typeface="华文新魏" pitchFamily="2" charset="-122"/>
              </a:rPr>
              <a:t>IOxPIN</a:t>
            </a:r>
            <a:r>
              <a:rPr lang="zh-CN" altLang="en-US" sz="2000">
                <a:latin typeface="华文新魏" pitchFamily="2" charset="-122"/>
                <a:ea typeface="华文新魏" pitchFamily="2" charset="-122"/>
              </a:rPr>
              <a:t>寄存器实现。后者可以在多个</a:t>
            </a:r>
            <a:r>
              <a:rPr lang="en-US" altLang="zh-CN" sz="2000">
                <a:latin typeface="华文新魏" pitchFamily="2" charset="-122"/>
                <a:ea typeface="华文新魏" pitchFamily="2" charset="-122"/>
              </a:rPr>
              <a:t>IO</a:t>
            </a:r>
            <a:r>
              <a:rPr lang="zh-CN" altLang="en-US" sz="2000">
                <a:latin typeface="华文新魏" pitchFamily="2" charset="-122"/>
                <a:ea typeface="华文新魏" pitchFamily="2" charset="-122"/>
              </a:rPr>
              <a:t>口上直接输出</a:t>
            </a:r>
            <a:r>
              <a:rPr lang="en-US" altLang="zh-CN" sz="2000">
                <a:latin typeface="华文新魏" pitchFamily="2" charset="-122"/>
                <a:ea typeface="华文新魏" pitchFamily="2" charset="-122"/>
              </a:rPr>
              <a:t>0</a:t>
            </a:r>
            <a:r>
              <a:rPr lang="zh-CN" altLang="en-US" sz="2000">
                <a:latin typeface="华文新魏" pitchFamily="2" charset="-122"/>
                <a:ea typeface="华文新魏" pitchFamily="2" charset="-122"/>
              </a:rPr>
              <a:t>和</a:t>
            </a:r>
            <a:r>
              <a:rPr lang="en-US" altLang="zh-CN" sz="2000">
                <a:latin typeface="华文新魏" pitchFamily="2" charset="-122"/>
                <a:ea typeface="华文新魏" pitchFamily="2" charset="-122"/>
              </a:rPr>
              <a:t>1</a:t>
            </a:r>
            <a:r>
              <a:rPr lang="zh-CN" altLang="en-US" sz="2000">
                <a:latin typeface="华文新魏" pitchFamily="2" charset="-122"/>
                <a:ea typeface="华文新魏" pitchFamily="2" charset="-122"/>
              </a:rPr>
              <a:t>电平。</a:t>
            </a:r>
          </a:p>
          <a:p>
            <a:pPr algn="l">
              <a:spcBef>
                <a:spcPct val="50000"/>
              </a:spcBef>
              <a:buClr>
                <a:srgbClr val="0000FF"/>
              </a:buClr>
              <a:buFont typeface="Wingdings" pitchFamily="2" charset="2"/>
              <a:buNone/>
            </a:pPr>
            <a:r>
              <a:rPr lang="zh-CN" altLang="en-US" sz="2000">
                <a:latin typeface="华文新魏" pitchFamily="2" charset="-122"/>
                <a:ea typeface="华文新魏" pitchFamily="2" charset="-122"/>
              </a:rPr>
              <a:t>        </a:t>
            </a:r>
            <a:r>
              <a:rPr lang="zh-CN" altLang="en-US" sz="2000">
                <a:solidFill>
                  <a:srgbClr val="FF0000"/>
                </a:solidFill>
                <a:latin typeface="华文新魏" pitchFamily="2" charset="-122"/>
                <a:ea typeface="华文新魏" pitchFamily="2" charset="-122"/>
              </a:rPr>
              <a:t>本例将</a:t>
            </a:r>
            <a:r>
              <a:rPr lang="en-US" altLang="zh-CN" sz="2000">
                <a:solidFill>
                  <a:srgbClr val="FF0000"/>
                </a:solidFill>
                <a:latin typeface="华文新魏" pitchFamily="2" charset="-122"/>
                <a:ea typeface="华文新魏" pitchFamily="2" charset="-122"/>
              </a:rPr>
              <a:t>8</a:t>
            </a:r>
            <a:r>
              <a:rPr lang="zh-CN" altLang="en-US" sz="2000">
                <a:solidFill>
                  <a:srgbClr val="FF0000"/>
                </a:solidFill>
                <a:latin typeface="华文新魏" pitchFamily="2" charset="-122"/>
                <a:ea typeface="华文新魏" pitchFamily="2" charset="-122"/>
              </a:rPr>
              <a:t>位无符号整形变量</a:t>
            </a:r>
            <a:r>
              <a:rPr lang="en-US" altLang="zh-CN" sz="2000">
                <a:solidFill>
                  <a:srgbClr val="FF0000"/>
                </a:solidFill>
                <a:latin typeface="华文新魏" pitchFamily="2" charset="-122"/>
                <a:ea typeface="华文新魏" pitchFamily="2" charset="-122"/>
              </a:rPr>
              <a:t>Data</a:t>
            </a:r>
            <a:r>
              <a:rPr lang="zh-CN" altLang="en-US" sz="2000">
                <a:solidFill>
                  <a:srgbClr val="FF0000"/>
                </a:solidFill>
                <a:latin typeface="华文新魏" pitchFamily="2" charset="-122"/>
                <a:ea typeface="华文新魏" pitchFamily="2" charset="-122"/>
              </a:rPr>
              <a:t>的值输出到</a:t>
            </a:r>
            <a:r>
              <a:rPr lang="en-US" altLang="zh-CN" sz="2000">
                <a:solidFill>
                  <a:srgbClr val="FF0000"/>
                </a:solidFill>
                <a:latin typeface="华文新魏" pitchFamily="2" charset="-122"/>
                <a:ea typeface="华文新魏" pitchFamily="2" charset="-122"/>
              </a:rPr>
              <a:t>P0.0</a:t>
            </a:r>
            <a:r>
              <a:rPr lang="zh-CN" altLang="en-US" sz="2000">
                <a:solidFill>
                  <a:srgbClr val="FF0000"/>
                </a:solidFill>
                <a:latin typeface="华文新魏" pitchFamily="2" charset="-122"/>
                <a:ea typeface="华文新魏" pitchFamily="2" charset="-122"/>
              </a:rPr>
              <a:t>～</a:t>
            </a:r>
            <a:r>
              <a:rPr lang="en-US" altLang="zh-CN" sz="2000">
                <a:solidFill>
                  <a:srgbClr val="FF0000"/>
                </a:solidFill>
                <a:latin typeface="华文新魏" pitchFamily="2" charset="-122"/>
                <a:ea typeface="华文新魏" pitchFamily="2" charset="-122"/>
              </a:rPr>
              <a:t>P0.7</a:t>
            </a:r>
            <a:r>
              <a:rPr lang="zh-CN" altLang="en-US" sz="2000">
                <a:solidFill>
                  <a:srgbClr val="FF0000"/>
                </a:solidFill>
                <a:latin typeface="华文新魏" pitchFamily="2" charset="-122"/>
                <a:ea typeface="华文新魏" pitchFamily="2" charset="-122"/>
              </a:rPr>
              <a:t>。</a:t>
            </a:r>
          </a:p>
        </p:txBody>
      </p:sp>
      <p:grpSp>
        <p:nvGrpSpPr>
          <p:cNvPr id="412687" name="Group 15"/>
          <p:cNvGrpSpPr>
            <a:grpSpLocks/>
          </p:cNvGrpSpPr>
          <p:nvPr/>
        </p:nvGrpSpPr>
        <p:grpSpPr bwMode="auto">
          <a:xfrm>
            <a:off x="2782888" y="4941888"/>
            <a:ext cx="6913562" cy="360362"/>
            <a:chOff x="839" y="3158"/>
            <a:chExt cx="4355" cy="227"/>
          </a:xfrm>
        </p:grpSpPr>
        <p:sp>
          <p:nvSpPr>
            <p:cNvPr id="412688" name="AutoShape 16"/>
            <p:cNvSpPr>
              <a:spLocks noChangeArrowheads="1"/>
            </p:cNvSpPr>
            <p:nvPr/>
          </p:nvSpPr>
          <p:spPr bwMode="auto">
            <a:xfrm>
              <a:off x="839" y="3158"/>
              <a:ext cx="4354" cy="227"/>
            </a:xfrm>
            <a:prstGeom prst="roundRect">
              <a:avLst>
                <a:gd name="adj" fmla="val 16667"/>
              </a:avLst>
            </a:prstGeom>
            <a:noFill/>
            <a:ln w="12700" algn="ctr">
              <a:solidFill>
                <a:srgbClr val="0000FF"/>
              </a:solidFill>
              <a:round/>
              <a:headEnd/>
              <a:tailEnd/>
            </a:ln>
            <a:effectLst/>
          </p:spPr>
          <p:txBody>
            <a:bodyPr wrap="none" anchor="ctr"/>
            <a:lstStyle/>
            <a:p>
              <a:endParaRPr lang="zh-CN" altLang="en-US"/>
            </a:p>
          </p:txBody>
        </p:sp>
        <p:sp>
          <p:nvSpPr>
            <p:cNvPr id="412689" name="AutoShape 17"/>
            <p:cNvSpPr>
              <a:spLocks noChangeArrowheads="1"/>
            </p:cNvSpPr>
            <p:nvPr/>
          </p:nvSpPr>
          <p:spPr bwMode="auto">
            <a:xfrm>
              <a:off x="2699" y="3158"/>
              <a:ext cx="2495" cy="227"/>
            </a:xfrm>
            <a:prstGeom prst="roundRect">
              <a:avLst>
                <a:gd name="adj" fmla="val 16667"/>
              </a:avLst>
            </a:prstGeom>
            <a:solidFill>
              <a:srgbClr val="FFFFCC"/>
            </a:solidFill>
            <a:ln w="12700" algn="ctr">
              <a:solidFill>
                <a:srgbClr val="0000FF"/>
              </a:solidFill>
              <a:round/>
              <a:headEnd/>
              <a:tailEnd/>
            </a:ln>
            <a:effectLst/>
          </p:spPr>
          <p:txBody>
            <a:bodyPr wrap="none" anchor="ctr"/>
            <a:lstStyle/>
            <a:p>
              <a:pPr algn="l"/>
              <a:r>
                <a:rPr lang="en-US" altLang="zh-CN" sz="1600">
                  <a:latin typeface="Times New Roman" pitchFamily="18" charset="0"/>
                </a:rPr>
                <a:t>(4) Data</a:t>
              </a:r>
              <a:r>
                <a:rPr lang="zh-CN" altLang="en-US" sz="1600">
                  <a:latin typeface="Times New Roman" pitchFamily="18" charset="0"/>
                </a:rPr>
                <a:t>变量中为</a:t>
              </a:r>
              <a:r>
                <a:rPr lang="en-US" altLang="zh-CN" sz="1600">
                  <a:latin typeface="Times New Roman" pitchFamily="18" charset="0"/>
                </a:rPr>
                <a:t>1</a:t>
              </a:r>
              <a:r>
                <a:rPr lang="zh-CN" altLang="en-US" sz="1600">
                  <a:latin typeface="Times New Roman" pitchFamily="18" charset="0"/>
                </a:rPr>
                <a:t>的位将输出高电平</a:t>
              </a:r>
            </a:p>
          </p:txBody>
        </p:sp>
      </p:grpSp>
      <p:grpSp>
        <p:nvGrpSpPr>
          <p:cNvPr id="412690" name="Group 18"/>
          <p:cNvGrpSpPr>
            <a:grpSpLocks/>
          </p:cNvGrpSpPr>
          <p:nvPr/>
        </p:nvGrpSpPr>
        <p:grpSpPr bwMode="auto">
          <a:xfrm>
            <a:off x="4116388" y="5880101"/>
            <a:ext cx="1473200" cy="506413"/>
            <a:chOff x="1565" y="3704"/>
            <a:chExt cx="928" cy="319"/>
          </a:xfrm>
        </p:grpSpPr>
        <p:sp>
          <p:nvSpPr>
            <p:cNvPr id="412691" name="Freeform 19"/>
            <p:cNvSpPr>
              <a:spLocks/>
            </p:cNvSpPr>
            <p:nvPr/>
          </p:nvSpPr>
          <p:spPr bwMode="auto">
            <a:xfrm>
              <a:off x="1565" y="3704"/>
              <a:ext cx="928" cy="319"/>
            </a:xfrm>
            <a:custGeom>
              <a:avLst/>
              <a:gdLst/>
              <a:ahLst/>
              <a:cxnLst>
                <a:cxn ang="0">
                  <a:pos x="0" y="2"/>
                </a:cxn>
                <a:cxn ang="0">
                  <a:pos x="839" y="0"/>
                </a:cxn>
                <a:cxn ang="0">
                  <a:pos x="928" y="158"/>
                </a:cxn>
                <a:cxn ang="0">
                  <a:pos x="839" y="318"/>
                </a:cxn>
                <a:cxn ang="0">
                  <a:pos x="0" y="319"/>
                </a:cxn>
                <a:cxn ang="0">
                  <a:pos x="0" y="2"/>
                </a:cxn>
              </a:cxnLst>
              <a:rect l="0" t="0" r="r" b="b"/>
              <a:pathLst>
                <a:path w="928" h="319">
                  <a:moveTo>
                    <a:pt x="0" y="2"/>
                  </a:moveTo>
                  <a:lnTo>
                    <a:pt x="839" y="0"/>
                  </a:lnTo>
                  <a:lnTo>
                    <a:pt x="928" y="158"/>
                  </a:lnTo>
                  <a:lnTo>
                    <a:pt x="839" y="318"/>
                  </a:lnTo>
                  <a:lnTo>
                    <a:pt x="0" y="319"/>
                  </a:lnTo>
                  <a:lnTo>
                    <a:pt x="0" y="2"/>
                  </a:lnTo>
                  <a:close/>
                </a:path>
              </a:pathLst>
            </a:custGeom>
            <a:solidFill>
              <a:srgbClr val="FFFFCC"/>
            </a:solidFill>
            <a:ln w="19050" cap="flat" cmpd="sng">
              <a:solidFill>
                <a:schemeClr val="tx1"/>
              </a:solidFill>
              <a:prstDash val="solid"/>
              <a:round/>
              <a:headEnd/>
              <a:tailEnd/>
            </a:ln>
            <a:effectLst/>
          </p:spPr>
          <p:txBody>
            <a:bodyPr wrap="none" anchor="ctr"/>
            <a:lstStyle/>
            <a:p>
              <a:endParaRPr lang="zh-CN" altLang="en-US"/>
            </a:p>
          </p:txBody>
        </p:sp>
        <p:sp>
          <p:nvSpPr>
            <p:cNvPr id="412692" name="Text Box 20"/>
            <p:cNvSpPr txBox="1">
              <a:spLocks noChangeArrowheads="1"/>
            </p:cNvSpPr>
            <p:nvPr/>
          </p:nvSpPr>
          <p:spPr bwMode="auto">
            <a:xfrm>
              <a:off x="1812" y="3765"/>
              <a:ext cx="409" cy="192"/>
            </a:xfrm>
            <a:prstGeom prst="rect">
              <a:avLst/>
            </a:prstGeom>
            <a:solidFill>
              <a:srgbClr val="FFFFCC"/>
            </a:solidFill>
            <a:ln w="19050" algn="ctr">
              <a:noFill/>
              <a:miter lim="800000"/>
              <a:headEnd/>
              <a:tailEnd/>
            </a:ln>
            <a:effectLst/>
          </p:spPr>
          <p:txBody>
            <a:bodyPr>
              <a:spAutoFit/>
            </a:bodyPr>
            <a:lstStyle/>
            <a:p>
              <a:pPr>
                <a:spcBef>
                  <a:spcPct val="50000"/>
                </a:spcBef>
              </a:pPr>
              <a:r>
                <a:rPr lang="en-US" altLang="zh-CN" sz="1400" b="1"/>
                <a:t>0x??</a:t>
              </a:r>
            </a:p>
          </p:txBody>
        </p:sp>
      </p:grpSp>
      <p:grpSp>
        <p:nvGrpSpPr>
          <p:cNvPr id="412693" name="Group 21"/>
          <p:cNvGrpSpPr>
            <a:grpSpLocks/>
          </p:cNvGrpSpPr>
          <p:nvPr/>
        </p:nvGrpSpPr>
        <p:grpSpPr bwMode="auto">
          <a:xfrm>
            <a:off x="5516563" y="5876925"/>
            <a:ext cx="647700" cy="508000"/>
            <a:chOff x="2447" y="3702"/>
            <a:chExt cx="408" cy="320"/>
          </a:xfrm>
        </p:grpSpPr>
        <p:sp>
          <p:nvSpPr>
            <p:cNvPr id="412694" name="Freeform 22"/>
            <p:cNvSpPr>
              <a:spLocks/>
            </p:cNvSpPr>
            <p:nvPr/>
          </p:nvSpPr>
          <p:spPr bwMode="auto">
            <a:xfrm>
              <a:off x="2494" y="3702"/>
              <a:ext cx="316" cy="320"/>
            </a:xfrm>
            <a:custGeom>
              <a:avLst/>
              <a:gdLst/>
              <a:ahLst/>
              <a:cxnLst>
                <a:cxn ang="0">
                  <a:pos x="0" y="162"/>
                </a:cxn>
                <a:cxn ang="0">
                  <a:pos x="88" y="2"/>
                </a:cxn>
                <a:cxn ang="0">
                  <a:pos x="228" y="0"/>
                </a:cxn>
                <a:cxn ang="0">
                  <a:pos x="316" y="160"/>
                </a:cxn>
                <a:cxn ang="0">
                  <a:pos x="226" y="320"/>
                </a:cxn>
                <a:cxn ang="0">
                  <a:pos x="88" y="320"/>
                </a:cxn>
                <a:cxn ang="0">
                  <a:pos x="0" y="162"/>
                </a:cxn>
              </a:cxnLst>
              <a:rect l="0" t="0" r="r" b="b"/>
              <a:pathLst>
                <a:path w="316" h="320">
                  <a:moveTo>
                    <a:pt x="0" y="162"/>
                  </a:moveTo>
                  <a:lnTo>
                    <a:pt x="88" y="2"/>
                  </a:lnTo>
                  <a:lnTo>
                    <a:pt x="228" y="0"/>
                  </a:lnTo>
                  <a:lnTo>
                    <a:pt x="316" y="160"/>
                  </a:lnTo>
                  <a:lnTo>
                    <a:pt x="226" y="320"/>
                  </a:lnTo>
                  <a:lnTo>
                    <a:pt x="88" y="320"/>
                  </a:lnTo>
                  <a:lnTo>
                    <a:pt x="0" y="162"/>
                  </a:lnTo>
                  <a:close/>
                </a:path>
              </a:pathLst>
            </a:custGeom>
            <a:solidFill>
              <a:srgbClr val="CCECFF"/>
            </a:solidFill>
            <a:ln w="19050" cap="flat" cmpd="sng">
              <a:solidFill>
                <a:schemeClr val="tx1"/>
              </a:solidFill>
              <a:prstDash val="solid"/>
              <a:round/>
              <a:headEnd/>
              <a:tailEnd/>
            </a:ln>
            <a:effectLst/>
          </p:spPr>
          <p:txBody>
            <a:bodyPr wrap="none" anchor="ctr"/>
            <a:lstStyle/>
            <a:p>
              <a:endParaRPr lang="zh-CN" altLang="en-US"/>
            </a:p>
          </p:txBody>
        </p:sp>
        <p:sp>
          <p:nvSpPr>
            <p:cNvPr id="412695" name="Text Box 23"/>
            <p:cNvSpPr txBox="1">
              <a:spLocks noChangeArrowheads="1"/>
            </p:cNvSpPr>
            <p:nvPr/>
          </p:nvSpPr>
          <p:spPr bwMode="auto">
            <a:xfrm>
              <a:off x="2447" y="3765"/>
              <a:ext cx="408" cy="192"/>
            </a:xfrm>
            <a:prstGeom prst="rect">
              <a:avLst/>
            </a:prstGeom>
            <a:noFill/>
            <a:ln w="19050" algn="ctr">
              <a:noFill/>
              <a:miter lim="800000"/>
              <a:headEnd/>
              <a:tailEnd/>
            </a:ln>
            <a:effectLst/>
          </p:spPr>
          <p:txBody>
            <a:bodyPr>
              <a:spAutoFit/>
            </a:bodyPr>
            <a:lstStyle/>
            <a:p>
              <a:pPr>
                <a:spcBef>
                  <a:spcPct val="50000"/>
                </a:spcBef>
              </a:pPr>
              <a:r>
                <a:rPr lang="en-US" altLang="zh-CN" sz="1400" b="1"/>
                <a:t>0x00</a:t>
              </a:r>
            </a:p>
          </p:txBody>
        </p:sp>
      </p:grpSp>
      <p:grpSp>
        <p:nvGrpSpPr>
          <p:cNvPr id="412696" name="Group 24"/>
          <p:cNvGrpSpPr>
            <a:grpSpLocks/>
          </p:cNvGrpSpPr>
          <p:nvPr/>
        </p:nvGrpSpPr>
        <p:grpSpPr bwMode="auto">
          <a:xfrm>
            <a:off x="6094414" y="5880101"/>
            <a:ext cx="1671637" cy="506413"/>
            <a:chOff x="2811" y="3704"/>
            <a:chExt cx="1053" cy="319"/>
          </a:xfrm>
        </p:grpSpPr>
        <p:sp>
          <p:nvSpPr>
            <p:cNvPr id="412697" name="Freeform 25"/>
            <p:cNvSpPr>
              <a:spLocks/>
            </p:cNvSpPr>
            <p:nvPr/>
          </p:nvSpPr>
          <p:spPr bwMode="auto">
            <a:xfrm>
              <a:off x="2811" y="3704"/>
              <a:ext cx="1053" cy="319"/>
            </a:xfrm>
            <a:custGeom>
              <a:avLst/>
              <a:gdLst/>
              <a:ahLst/>
              <a:cxnLst>
                <a:cxn ang="0">
                  <a:pos x="1053" y="319"/>
                </a:cxn>
                <a:cxn ang="0">
                  <a:pos x="89" y="318"/>
                </a:cxn>
                <a:cxn ang="0">
                  <a:pos x="0" y="160"/>
                </a:cxn>
                <a:cxn ang="0">
                  <a:pos x="89" y="0"/>
                </a:cxn>
                <a:cxn ang="0">
                  <a:pos x="1053" y="2"/>
                </a:cxn>
                <a:cxn ang="0">
                  <a:pos x="1053" y="319"/>
                </a:cxn>
              </a:cxnLst>
              <a:rect l="0" t="0" r="r" b="b"/>
              <a:pathLst>
                <a:path w="1053" h="319">
                  <a:moveTo>
                    <a:pt x="1053" y="319"/>
                  </a:moveTo>
                  <a:lnTo>
                    <a:pt x="89" y="318"/>
                  </a:lnTo>
                  <a:lnTo>
                    <a:pt x="0" y="160"/>
                  </a:lnTo>
                  <a:lnTo>
                    <a:pt x="89" y="0"/>
                  </a:lnTo>
                  <a:lnTo>
                    <a:pt x="1053" y="2"/>
                  </a:lnTo>
                  <a:lnTo>
                    <a:pt x="1053" y="319"/>
                  </a:lnTo>
                  <a:close/>
                </a:path>
              </a:pathLst>
            </a:custGeom>
            <a:solidFill>
              <a:srgbClr val="FFFFCC"/>
            </a:solidFill>
            <a:ln w="19050" cap="flat" cmpd="sng">
              <a:solidFill>
                <a:schemeClr val="tx1"/>
              </a:solidFill>
              <a:prstDash val="solid"/>
              <a:round/>
              <a:headEnd/>
              <a:tailEnd/>
            </a:ln>
            <a:effectLst/>
          </p:spPr>
          <p:txBody>
            <a:bodyPr wrap="none" anchor="ctr"/>
            <a:lstStyle/>
            <a:p>
              <a:endParaRPr lang="zh-CN" altLang="en-US"/>
            </a:p>
          </p:txBody>
        </p:sp>
        <p:sp>
          <p:nvSpPr>
            <p:cNvPr id="412698" name="Text Box 26"/>
            <p:cNvSpPr txBox="1">
              <a:spLocks noChangeArrowheads="1"/>
            </p:cNvSpPr>
            <p:nvPr/>
          </p:nvSpPr>
          <p:spPr bwMode="auto">
            <a:xfrm>
              <a:off x="3173" y="3765"/>
              <a:ext cx="408" cy="192"/>
            </a:xfrm>
            <a:prstGeom prst="rect">
              <a:avLst/>
            </a:prstGeom>
            <a:noFill/>
            <a:ln w="19050" algn="ctr">
              <a:noFill/>
              <a:miter lim="800000"/>
              <a:headEnd/>
              <a:tailEnd/>
            </a:ln>
            <a:effectLst/>
          </p:spPr>
          <p:txBody>
            <a:bodyPr>
              <a:spAutoFit/>
            </a:bodyPr>
            <a:lstStyle/>
            <a:p>
              <a:pPr>
                <a:spcBef>
                  <a:spcPct val="50000"/>
                </a:spcBef>
              </a:pPr>
              <a:r>
                <a:rPr lang="en-US" altLang="zh-CN" sz="1400" b="1"/>
                <a:t>Data</a:t>
              </a:r>
            </a:p>
          </p:txBody>
        </p:sp>
      </p:grpSp>
      <p:sp>
        <p:nvSpPr>
          <p:cNvPr id="412699" name="Text Box 27"/>
          <p:cNvSpPr txBox="1">
            <a:spLocks noChangeArrowheads="1"/>
          </p:cNvSpPr>
          <p:nvPr/>
        </p:nvSpPr>
        <p:spPr bwMode="auto">
          <a:xfrm>
            <a:off x="2495551" y="5948364"/>
            <a:ext cx="1763713" cy="396875"/>
          </a:xfrm>
          <a:prstGeom prst="rect">
            <a:avLst/>
          </a:prstGeom>
          <a:noFill/>
          <a:ln w="9525">
            <a:noFill/>
            <a:miter lim="800000"/>
            <a:headEnd/>
            <a:tailEnd/>
          </a:ln>
          <a:effectLst/>
        </p:spPr>
        <p:txBody>
          <a:bodyPr>
            <a:spAutoFit/>
          </a:bodyPr>
          <a:lstStyle/>
          <a:p>
            <a:pPr>
              <a:spcBef>
                <a:spcPct val="50000"/>
              </a:spcBef>
            </a:pPr>
            <a:r>
              <a:rPr lang="zh-CN" altLang="en-US" sz="2000">
                <a:latin typeface="华文新魏" pitchFamily="2" charset="-122"/>
                <a:ea typeface="华文新魏" pitchFamily="2" charset="-122"/>
              </a:rPr>
              <a:t>数据输出线：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412676">
                                            <p:txEl>
                                              <p:pRg st="0" end="0"/>
                                            </p:txEl>
                                          </p:spTgt>
                                        </p:tgtEl>
                                        <p:attrNameLst>
                                          <p:attrName>style.visibility</p:attrName>
                                        </p:attrNameLst>
                                      </p:cBhvr>
                                      <p:to>
                                        <p:strVal val="visible"/>
                                      </p:to>
                                    </p:set>
                                    <p:anim calcmode="lin" valueType="num">
                                      <p:cBhvr additive="base">
                                        <p:cTn id="7" dur="500" fill="hold"/>
                                        <p:tgtEl>
                                          <p:spTgt spid="41267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12676">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412686"/>
                                        </p:tgtEl>
                                        <p:attrNameLst>
                                          <p:attrName>style.visibility</p:attrName>
                                        </p:attrNameLst>
                                      </p:cBhvr>
                                      <p:to>
                                        <p:strVal val="visible"/>
                                      </p:to>
                                    </p:set>
                                    <p:animEffect transition="in" filter="box(in)">
                                      <p:cBhvr>
                                        <p:cTn id="12" dur="500"/>
                                        <p:tgtEl>
                                          <p:spTgt spid="412686"/>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412675"/>
                                        </p:tgtEl>
                                        <p:attrNameLst>
                                          <p:attrName>style.visibility</p:attrName>
                                        </p:attrNameLst>
                                      </p:cBhvr>
                                      <p:to>
                                        <p:strVal val="visible"/>
                                      </p:to>
                                    </p:set>
                                    <p:anim calcmode="lin" valueType="num">
                                      <p:cBhvr additive="base">
                                        <p:cTn id="16" dur="500" fill="hold"/>
                                        <p:tgtEl>
                                          <p:spTgt spid="412675"/>
                                        </p:tgtEl>
                                        <p:attrNameLst>
                                          <p:attrName>ppt_x</p:attrName>
                                        </p:attrNameLst>
                                      </p:cBhvr>
                                      <p:tavLst>
                                        <p:tav tm="0">
                                          <p:val>
                                            <p:strVal val="0-#ppt_w/2"/>
                                          </p:val>
                                        </p:tav>
                                        <p:tav tm="100000">
                                          <p:val>
                                            <p:strVal val="#ppt_x"/>
                                          </p:val>
                                        </p:tav>
                                      </p:tavLst>
                                    </p:anim>
                                    <p:anim calcmode="lin" valueType="num">
                                      <p:cBhvr additive="base">
                                        <p:cTn id="17" dur="500" fill="hold"/>
                                        <p:tgtEl>
                                          <p:spTgt spid="412675"/>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12" presetClass="entr" presetSubtype="1" fill="hold" grpId="0" nodeType="afterEffect">
                                  <p:stCondLst>
                                    <p:cond delay="0"/>
                                  </p:stCondLst>
                                  <p:childTnLst>
                                    <p:set>
                                      <p:cBhvr>
                                        <p:cTn id="20" dur="1" fill="hold">
                                          <p:stCondLst>
                                            <p:cond delay="0"/>
                                          </p:stCondLst>
                                        </p:cTn>
                                        <p:tgtEl>
                                          <p:spTgt spid="412674"/>
                                        </p:tgtEl>
                                        <p:attrNameLst>
                                          <p:attrName>style.visibility</p:attrName>
                                        </p:attrNameLst>
                                      </p:cBhvr>
                                      <p:to>
                                        <p:strVal val="visible"/>
                                      </p:to>
                                    </p:set>
                                    <p:animEffect transition="in" filter="slide(fromTop)">
                                      <p:cBhvr>
                                        <p:cTn id="21" dur="500"/>
                                        <p:tgtEl>
                                          <p:spTgt spid="41267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412677"/>
                                        </p:tgtEl>
                                        <p:attrNameLst>
                                          <p:attrName>style.visibility</p:attrName>
                                        </p:attrNameLst>
                                      </p:cBhvr>
                                      <p:to>
                                        <p:strVal val="visible"/>
                                      </p:to>
                                    </p:set>
                                    <p:animEffect transition="in" filter="wipe(right)">
                                      <p:cBhvr>
                                        <p:cTn id="26" dur="500"/>
                                        <p:tgtEl>
                                          <p:spTgt spid="41267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412680"/>
                                        </p:tgtEl>
                                        <p:attrNameLst>
                                          <p:attrName>style.visibility</p:attrName>
                                        </p:attrNameLst>
                                      </p:cBhvr>
                                      <p:to>
                                        <p:strVal val="visible"/>
                                      </p:to>
                                    </p:set>
                                    <p:animEffect transition="in" filter="wipe(right)">
                                      <p:cBhvr>
                                        <p:cTn id="31" dur="500"/>
                                        <p:tgtEl>
                                          <p:spTgt spid="412680"/>
                                        </p:tgtEl>
                                      </p:cBhvr>
                                    </p:animEffect>
                                  </p:childTnLst>
                                </p:cTn>
                              </p:par>
                            </p:childTnLst>
                          </p:cTn>
                        </p:par>
                        <p:par>
                          <p:cTn id="32" fill="hold">
                            <p:stCondLst>
                              <p:cond delay="500"/>
                            </p:stCondLst>
                            <p:childTnLst>
                              <p:par>
                                <p:cTn id="33" presetID="2" presetClass="entr" presetSubtype="8" fill="hold" grpId="0" nodeType="afterEffect">
                                  <p:stCondLst>
                                    <p:cond delay="0"/>
                                  </p:stCondLst>
                                  <p:childTnLst>
                                    <p:set>
                                      <p:cBhvr>
                                        <p:cTn id="34" dur="1" fill="hold">
                                          <p:stCondLst>
                                            <p:cond delay="0"/>
                                          </p:stCondLst>
                                        </p:cTn>
                                        <p:tgtEl>
                                          <p:spTgt spid="412699"/>
                                        </p:tgtEl>
                                        <p:attrNameLst>
                                          <p:attrName>style.visibility</p:attrName>
                                        </p:attrNameLst>
                                      </p:cBhvr>
                                      <p:to>
                                        <p:strVal val="visible"/>
                                      </p:to>
                                    </p:set>
                                    <p:anim calcmode="lin" valueType="num">
                                      <p:cBhvr additive="base">
                                        <p:cTn id="35" dur="500" fill="hold"/>
                                        <p:tgtEl>
                                          <p:spTgt spid="412699"/>
                                        </p:tgtEl>
                                        <p:attrNameLst>
                                          <p:attrName>ppt_x</p:attrName>
                                        </p:attrNameLst>
                                      </p:cBhvr>
                                      <p:tavLst>
                                        <p:tav tm="0">
                                          <p:val>
                                            <p:strVal val="0-#ppt_w/2"/>
                                          </p:val>
                                        </p:tav>
                                        <p:tav tm="100000">
                                          <p:val>
                                            <p:strVal val="#ppt_x"/>
                                          </p:val>
                                        </p:tav>
                                      </p:tavLst>
                                    </p:anim>
                                    <p:anim calcmode="lin" valueType="num">
                                      <p:cBhvr additive="base">
                                        <p:cTn id="36" dur="500" fill="hold"/>
                                        <p:tgtEl>
                                          <p:spTgt spid="412699"/>
                                        </p:tgtEl>
                                        <p:attrNameLst>
                                          <p:attrName>ppt_y</p:attrName>
                                        </p:attrNameLst>
                                      </p:cBhvr>
                                      <p:tavLst>
                                        <p:tav tm="0">
                                          <p:val>
                                            <p:strVal val="#ppt_y"/>
                                          </p:val>
                                        </p:tav>
                                        <p:tav tm="100000">
                                          <p:val>
                                            <p:strVal val="#ppt_y"/>
                                          </p:val>
                                        </p:tav>
                                      </p:tavLst>
                                    </p:anim>
                                  </p:childTnLst>
                                </p:cTn>
                              </p:par>
                            </p:childTnLst>
                          </p:cTn>
                        </p:par>
                        <p:par>
                          <p:cTn id="37" fill="hold">
                            <p:stCondLst>
                              <p:cond delay="1000"/>
                            </p:stCondLst>
                            <p:childTnLst>
                              <p:par>
                                <p:cTn id="38" presetID="22" presetClass="entr" presetSubtype="8" fill="hold" nodeType="afterEffect">
                                  <p:stCondLst>
                                    <p:cond delay="0"/>
                                  </p:stCondLst>
                                  <p:childTnLst>
                                    <p:set>
                                      <p:cBhvr>
                                        <p:cTn id="39" dur="1" fill="hold">
                                          <p:stCondLst>
                                            <p:cond delay="0"/>
                                          </p:stCondLst>
                                        </p:cTn>
                                        <p:tgtEl>
                                          <p:spTgt spid="412690"/>
                                        </p:tgtEl>
                                        <p:attrNameLst>
                                          <p:attrName>style.visibility</p:attrName>
                                        </p:attrNameLst>
                                      </p:cBhvr>
                                      <p:to>
                                        <p:strVal val="visible"/>
                                      </p:to>
                                    </p:set>
                                    <p:animEffect transition="in" filter="wipe(left)">
                                      <p:cBhvr>
                                        <p:cTn id="40" dur="500"/>
                                        <p:tgtEl>
                                          <p:spTgt spid="41269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2" fill="hold" nodeType="clickEffect">
                                  <p:stCondLst>
                                    <p:cond delay="0"/>
                                  </p:stCondLst>
                                  <p:childTnLst>
                                    <p:set>
                                      <p:cBhvr>
                                        <p:cTn id="44" dur="1" fill="hold">
                                          <p:stCondLst>
                                            <p:cond delay="0"/>
                                          </p:stCondLst>
                                        </p:cTn>
                                        <p:tgtEl>
                                          <p:spTgt spid="412683"/>
                                        </p:tgtEl>
                                        <p:attrNameLst>
                                          <p:attrName>style.visibility</p:attrName>
                                        </p:attrNameLst>
                                      </p:cBhvr>
                                      <p:to>
                                        <p:strVal val="visible"/>
                                      </p:to>
                                    </p:set>
                                    <p:animEffect transition="in" filter="wipe(right)">
                                      <p:cBhvr>
                                        <p:cTn id="45" dur="500"/>
                                        <p:tgtEl>
                                          <p:spTgt spid="412683"/>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412693"/>
                                        </p:tgtEl>
                                        <p:attrNameLst>
                                          <p:attrName>style.visibility</p:attrName>
                                        </p:attrNameLst>
                                      </p:cBhvr>
                                      <p:to>
                                        <p:strVal val="visible"/>
                                      </p:to>
                                    </p:set>
                                    <p:animEffect transition="in" filter="wipe(left)">
                                      <p:cBhvr>
                                        <p:cTn id="49" dur="500"/>
                                        <p:tgtEl>
                                          <p:spTgt spid="41269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2" fill="hold" nodeType="clickEffect">
                                  <p:stCondLst>
                                    <p:cond delay="0"/>
                                  </p:stCondLst>
                                  <p:childTnLst>
                                    <p:set>
                                      <p:cBhvr>
                                        <p:cTn id="53" dur="1" fill="hold">
                                          <p:stCondLst>
                                            <p:cond delay="0"/>
                                          </p:stCondLst>
                                        </p:cTn>
                                        <p:tgtEl>
                                          <p:spTgt spid="412687"/>
                                        </p:tgtEl>
                                        <p:attrNameLst>
                                          <p:attrName>style.visibility</p:attrName>
                                        </p:attrNameLst>
                                      </p:cBhvr>
                                      <p:to>
                                        <p:strVal val="visible"/>
                                      </p:to>
                                    </p:set>
                                    <p:animEffect transition="in" filter="wipe(right)">
                                      <p:cBhvr>
                                        <p:cTn id="54" dur="500"/>
                                        <p:tgtEl>
                                          <p:spTgt spid="412687"/>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412696"/>
                                        </p:tgtEl>
                                        <p:attrNameLst>
                                          <p:attrName>style.visibility</p:attrName>
                                        </p:attrNameLst>
                                      </p:cBhvr>
                                      <p:to>
                                        <p:strVal val="visible"/>
                                      </p:to>
                                    </p:set>
                                    <p:animEffect transition="in" filter="wipe(left)">
                                      <p:cBhvr>
                                        <p:cTn id="58" dur="500"/>
                                        <p:tgtEl>
                                          <p:spTgt spid="412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4" grpId="0" animBg="1"/>
      <p:bldP spid="412675" grpId="0" autoUpdateAnimBg="0"/>
      <p:bldP spid="412676" grpId="0" build="p"/>
      <p:bldP spid="412686" grpId="0" autoUpdateAnimBg="0"/>
      <p:bldP spid="412699"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3698" name="Rectangle 2"/>
          <p:cNvSpPr>
            <a:spLocks noChangeArrowheads="1"/>
          </p:cNvSpPr>
          <p:nvPr/>
        </p:nvSpPr>
        <p:spPr bwMode="auto">
          <a:xfrm>
            <a:off x="2125664" y="3000375"/>
            <a:ext cx="5545137" cy="2179638"/>
          </a:xfrm>
          <a:prstGeom prst="rect">
            <a:avLst/>
          </a:prstGeom>
          <a:solidFill>
            <a:schemeClr val="bg1"/>
          </a:solidFill>
          <a:ln w="9525">
            <a:solidFill>
              <a:schemeClr val="tx1"/>
            </a:solidFill>
            <a:miter lim="800000"/>
            <a:headEnd/>
            <a:tailEnd/>
          </a:ln>
          <a:effectLst/>
        </p:spPr>
        <p:txBody>
          <a:bodyPr>
            <a:spAutoFit/>
          </a:bodyPr>
          <a:lstStyle/>
          <a:p>
            <a:pPr algn="l">
              <a:spcBef>
                <a:spcPct val="50000"/>
              </a:spcBef>
            </a:pPr>
            <a:r>
              <a:rPr lang="en-US" altLang="zh-CN" sz="1600">
                <a:ea typeface="华文新魏" pitchFamily="2" charset="-122"/>
              </a:rPr>
              <a:t>#define  DataBus  0xFF</a:t>
            </a:r>
          </a:p>
          <a:p>
            <a:pPr algn="l">
              <a:spcBef>
                <a:spcPct val="50000"/>
              </a:spcBef>
            </a:pPr>
            <a:endParaRPr lang="en-US" altLang="zh-CN" sz="1600">
              <a:ea typeface="华文新魏" pitchFamily="2" charset="-122"/>
            </a:endParaRPr>
          </a:p>
          <a:p>
            <a:pPr algn="l">
              <a:spcBef>
                <a:spcPct val="50000"/>
              </a:spcBef>
            </a:pPr>
            <a:r>
              <a:rPr lang="en-US" altLang="zh-CN" sz="1600">
                <a:ea typeface="华文新魏" pitchFamily="2" charset="-122"/>
              </a:rPr>
              <a:t>    PINSEL0 &amp;= 0xFFFF0000;</a:t>
            </a:r>
          </a:p>
          <a:p>
            <a:pPr algn="l">
              <a:spcBef>
                <a:spcPct val="50000"/>
              </a:spcBef>
            </a:pPr>
            <a:r>
              <a:rPr lang="en-US" altLang="zh-CN" sz="1600">
                <a:ea typeface="华文新魏" pitchFamily="2" charset="-122"/>
              </a:rPr>
              <a:t>    IO0DIR  |= DataBus;</a:t>
            </a:r>
          </a:p>
          <a:p>
            <a:pPr algn="l">
              <a:spcBef>
                <a:spcPct val="50000"/>
              </a:spcBef>
            </a:pPr>
            <a:r>
              <a:rPr lang="en-US" altLang="zh-CN" sz="1600">
                <a:ea typeface="华文新魏" pitchFamily="2" charset="-122"/>
              </a:rPr>
              <a:t>    IO0PIN   = (IO0SET &amp; 0xFFFFFF00) | Data;</a:t>
            </a:r>
          </a:p>
          <a:p>
            <a:pPr algn="l">
              <a:spcBef>
                <a:spcPct val="50000"/>
              </a:spcBef>
            </a:pPr>
            <a:r>
              <a:rPr lang="en-US" altLang="zh-CN" sz="1600">
                <a:ea typeface="华文新魏" pitchFamily="2" charset="-122"/>
              </a:rPr>
              <a:t>    ...</a:t>
            </a:r>
          </a:p>
        </p:txBody>
      </p:sp>
      <p:sp>
        <p:nvSpPr>
          <p:cNvPr id="413699" name="Rectangle 3"/>
          <p:cNvSpPr>
            <a:spLocks noChangeArrowheads="1"/>
          </p:cNvSpPr>
          <p:nvPr/>
        </p:nvSpPr>
        <p:spPr bwMode="auto">
          <a:xfrm>
            <a:off x="2209800" y="620713"/>
            <a:ext cx="777240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GPIO</a:t>
            </a:r>
            <a:r>
              <a:rPr lang="zh-CN" altLang="en-US" sz="3200">
                <a:latin typeface="Times New Roman" pitchFamily="18" charset="0"/>
              </a:rPr>
              <a:t>应用示例</a:t>
            </a:r>
            <a:r>
              <a:rPr lang="en-US" altLang="zh-CN" sz="3200">
                <a:latin typeface="Times New Roman" pitchFamily="18" charset="0"/>
              </a:rPr>
              <a:t>——</a:t>
            </a:r>
            <a:r>
              <a:rPr lang="zh-CN" altLang="en-US" sz="3200">
                <a:solidFill>
                  <a:srgbClr val="FF0000"/>
                </a:solidFill>
                <a:latin typeface="Times New Roman" pitchFamily="18" charset="0"/>
              </a:rPr>
              <a:t>输出多位数据至</a:t>
            </a:r>
            <a:r>
              <a:rPr lang="en-US" altLang="zh-CN" sz="3200">
                <a:solidFill>
                  <a:srgbClr val="FF0000"/>
                </a:solidFill>
                <a:latin typeface="Times New Roman" pitchFamily="18" charset="0"/>
              </a:rPr>
              <a:t>IO</a:t>
            </a:r>
            <a:r>
              <a:rPr lang="zh-CN" altLang="en-US" sz="3200">
                <a:solidFill>
                  <a:srgbClr val="FF0000"/>
                </a:solidFill>
                <a:latin typeface="Times New Roman" pitchFamily="18" charset="0"/>
              </a:rPr>
              <a:t>口</a:t>
            </a:r>
          </a:p>
        </p:txBody>
      </p:sp>
      <p:grpSp>
        <p:nvGrpSpPr>
          <p:cNvPr id="413700" name="Group 4"/>
          <p:cNvGrpSpPr>
            <a:grpSpLocks/>
          </p:cNvGrpSpPr>
          <p:nvPr/>
        </p:nvGrpSpPr>
        <p:grpSpPr bwMode="auto">
          <a:xfrm>
            <a:off x="2411412" y="3705225"/>
            <a:ext cx="7561262" cy="360363"/>
            <a:chOff x="651" y="2432"/>
            <a:chExt cx="4763" cy="227"/>
          </a:xfrm>
        </p:grpSpPr>
        <p:sp>
          <p:nvSpPr>
            <p:cNvPr id="413701" name="AutoShape 5"/>
            <p:cNvSpPr>
              <a:spLocks noChangeArrowheads="1"/>
            </p:cNvSpPr>
            <p:nvPr/>
          </p:nvSpPr>
          <p:spPr bwMode="auto">
            <a:xfrm>
              <a:off x="651" y="2432"/>
              <a:ext cx="4763" cy="227"/>
            </a:xfrm>
            <a:prstGeom prst="roundRect">
              <a:avLst>
                <a:gd name="adj" fmla="val 16667"/>
              </a:avLst>
            </a:prstGeom>
            <a:noFill/>
            <a:ln w="12700" algn="ctr">
              <a:solidFill>
                <a:srgbClr val="0000FF"/>
              </a:solidFill>
              <a:round/>
              <a:headEnd/>
              <a:tailEnd/>
            </a:ln>
            <a:effectLst/>
          </p:spPr>
          <p:txBody>
            <a:bodyPr wrap="none" anchor="ctr"/>
            <a:lstStyle/>
            <a:p>
              <a:endParaRPr lang="zh-CN" altLang="en-US"/>
            </a:p>
          </p:txBody>
        </p:sp>
        <p:sp>
          <p:nvSpPr>
            <p:cNvPr id="413702" name="AutoShape 6"/>
            <p:cNvSpPr>
              <a:spLocks noChangeArrowheads="1"/>
            </p:cNvSpPr>
            <p:nvPr/>
          </p:nvSpPr>
          <p:spPr bwMode="auto">
            <a:xfrm>
              <a:off x="3094" y="2432"/>
              <a:ext cx="2320" cy="227"/>
            </a:xfrm>
            <a:prstGeom prst="roundRect">
              <a:avLst>
                <a:gd name="adj" fmla="val 16667"/>
              </a:avLst>
            </a:prstGeom>
            <a:solidFill>
              <a:srgbClr val="CCECFF"/>
            </a:solidFill>
            <a:ln w="12700" algn="ctr">
              <a:solidFill>
                <a:srgbClr val="0000FF"/>
              </a:solidFill>
              <a:round/>
              <a:headEnd/>
              <a:tailEnd/>
            </a:ln>
            <a:effectLst/>
          </p:spPr>
          <p:txBody>
            <a:bodyPr wrap="none" anchor="ctr"/>
            <a:lstStyle/>
            <a:p>
              <a:pPr algn="l"/>
              <a:r>
                <a:rPr lang="en-US" altLang="zh-CN" sz="1600" dirty="0">
                  <a:latin typeface="Times New Roman" pitchFamily="18" charset="0"/>
                </a:rPr>
                <a:t>(1) </a:t>
              </a:r>
              <a:r>
                <a:rPr lang="zh-CN" altLang="en-US" sz="1600" dirty="0">
                  <a:latin typeface="Times New Roman" pitchFamily="18" charset="0"/>
                </a:rPr>
                <a:t>设置引脚连接模块，</a:t>
              </a:r>
              <a:r>
                <a:rPr lang="en-US" altLang="zh-CN" sz="1600" dirty="0">
                  <a:latin typeface="Times New Roman" pitchFamily="18" charset="0"/>
                </a:rPr>
                <a:t>P0.0-P0.7</a:t>
              </a:r>
              <a:r>
                <a:rPr lang="zh-CN" altLang="en-US" sz="1600" dirty="0">
                  <a:latin typeface="Times New Roman" pitchFamily="18" charset="0"/>
                </a:rPr>
                <a:t>为</a:t>
              </a:r>
              <a:r>
                <a:rPr lang="en-US" altLang="zh-CN" sz="1600" dirty="0">
                  <a:latin typeface="Times New Roman" pitchFamily="18" charset="0"/>
                </a:rPr>
                <a:t>GPIO</a:t>
              </a:r>
            </a:p>
          </p:txBody>
        </p:sp>
      </p:grpSp>
      <p:grpSp>
        <p:nvGrpSpPr>
          <p:cNvPr id="413703" name="Group 7"/>
          <p:cNvGrpSpPr>
            <a:grpSpLocks/>
          </p:cNvGrpSpPr>
          <p:nvPr/>
        </p:nvGrpSpPr>
        <p:grpSpPr bwMode="auto">
          <a:xfrm>
            <a:off x="2411413" y="4065587"/>
            <a:ext cx="7570787" cy="360362"/>
            <a:chOff x="651" y="2659"/>
            <a:chExt cx="4769" cy="227"/>
          </a:xfrm>
        </p:grpSpPr>
        <p:sp>
          <p:nvSpPr>
            <p:cNvPr id="413704" name="AutoShape 8"/>
            <p:cNvSpPr>
              <a:spLocks noChangeArrowheads="1"/>
            </p:cNvSpPr>
            <p:nvPr/>
          </p:nvSpPr>
          <p:spPr bwMode="auto">
            <a:xfrm>
              <a:off x="651" y="2659"/>
              <a:ext cx="4769" cy="227"/>
            </a:xfrm>
            <a:prstGeom prst="roundRect">
              <a:avLst>
                <a:gd name="adj" fmla="val 16667"/>
              </a:avLst>
            </a:prstGeom>
            <a:noFill/>
            <a:ln w="12700" algn="ctr">
              <a:solidFill>
                <a:srgbClr val="0000FF"/>
              </a:solidFill>
              <a:round/>
              <a:headEnd/>
              <a:tailEnd/>
            </a:ln>
            <a:effectLst/>
          </p:spPr>
          <p:txBody>
            <a:bodyPr wrap="none" anchor="ctr"/>
            <a:lstStyle/>
            <a:p>
              <a:endParaRPr lang="zh-CN" altLang="en-US"/>
            </a:p>
          </p:txBody>
        </p:sp>
        <p:sp>
          <p:nvSpPr>
            <p:cNvPr id="413705" name="AutoShape 9"/>
            <p:cNvSpPr>
              <a:spLocks noChangeArrowheads="1"/>
            </p:cNvSpPr>
            <p:nvPr/>
          </p:nvSpPr>
          <p:spPr bwMode="auto">
            <a:xfrm>
              <a:off x="3101" y="2659"/>
              <a:ext cx="2313" cy="227"/>
            </a:xfrm>
            <a:prstGeom prst="roundRect">
              <a:avLst>
                <a:gd name="adj" fmla="val 16667"/>
              </a:avLst>
            </a:prstGeom>
            <a:solidFill>
              <a:srgbClr val="FFFFCC"/>
            </a:solidFill>
            <a:ln w="12700" algn="ctr">
              <a:solidFill>
                <a:srgbClr val="0000FF"/>
              </a:solidFill>
              <a:round/>
              <a:headEnd/>
              <a:tailEnd/>
            </a:ln>
            <a:effectLst/>
          </p:spPr>
          <p:txBody>
            <a:bodyPr wrap="none" anchor="ctr"/>
            <a:lstStyle/>
            <a:p>
              <a:pPr algn="l"/>
              <a:r>
                <a:rPr lang="en-US" altLang="zh-CN" sz="1600" dirty="0">
                  <a:latin typeface="Times New Roman" pitchFamily="18" charset="0"/>
                </a:rPr>
                <a:t>(2) </a:t>
              </a:r>
              <a:r>
                <a:rPr lang="zh-CN" altLang="en-US" sz="1600" dirty="0">
                  <a:latin typeface="Times New Roman" pitchFamily="18" charset="0"/>
                </a:rPr>
                <a:t>设置</a:t>
              </a:r>
              <a:r>
                <a:rPr lang="en-US" altLang="zh-CN" sz="1600" dirty="0">
                  <a:latin typeface="Times New Roman" pitchFamily="18" charset="0"/>
                </a:rPr>
                <a:t>P0.0-P0.7</a:t>
              </a:r>
              <a:r>
                <a:rPr lang="zh-CN" altLang="en-US" sz="1600" dirty="0">
                  <a:latin typeface="Times New Roman" pitchFamily="18" charset="0"/>
                </a:rPr>
                <a:t>口方向，设置为输出</a:t>
              </a:r>
            </a:p>
          </p:txBody>
        </p:sp>
      </p:grpSp>
      <p:grpSp>
        <p:nvGrpSpPr>
          <p:cNvPr id="413706" name="Group 10"/>
          <p:cNvGrpSpPr>
            <a:grpSpLocks/>
          </p:cNvGrpSpPr>
          <p:nvPr/>
        </p:nvGrpSpPr>
        <p:grpSpPr bwMode="auto">
          <a:xfrm>
            <a:off x="2411413" y="4425950"/>
            <a:ext cx="7570787" cy="360363"/>
            <a:chOff x="651" y="2886"/>
            <a:chExt cx="4769" cy="227"/>
          </a:xfrm>
        </p:grpSpPr>
        <p:sp>
          <p:nvSpPr>
            <p:cNvPr id="413707" name="AutoShape 11"/>
            <p:cNvSpPr>
              <a:spLocks noChangeArrowheads="1"/>
            </p:cNvSpPr>
            <p:nvPr/>
          </p:nvSpPr>
          <p:spPr bwMode="auto">
            <a:xfrm>
              <a:off x="651" y="2886"/>
              <a:ext cx="4769" cy="227"/>
            </a:xfrm>
            <a:prstGeom prst="roundRect">
              <a:avLst>
                <a:gd name="adj" fmla="val 16667"/>
              </a:avLst>
            </a:prstGeom>
            <a:noFill/>
            <a:ln w="12700" algn="ctr">
              <a:solidFill>
                <a:srgbClr val="0000FF"/>
              </a:solidFill>
              <a:round/>
              <a:headEnd/>
              <a:tailEnd/>
            </a:ln>
            <a:effectLst/>
          </p:spPr>
          <p:txBody>
            <a:bodyPr wrap="none" anchor="ctr"/>
            <a:lstStyle/>
            <a:p>
              <a:endParaRPr lang="zh-CN" altLang="en-US"/>
            </a:p>
          </p:txBody>
        </p:sp>
        <p:sp>
          <p:nvSpPr>
            <p:cNvPr id="413708" name="AutoShape 12"/>
            <p:cNvSpPr>
              <a:spLocks noChangeArrowheads="1"/>
            </p:cNvSpPr>
            <p:nvPr/>
          </p:nvSpPr>
          <p:spPr bwMode="auto">
            <a:xfrm>
              <a:off x="3826" y="2886"/>
              <a:ext cx="1588" cy="227"/>
            </a:xfrm>
            <a:prstGeom prst="roundRect">
              <a:avLst>
                <a:gd name="adj" fmla="val 16667"/>
              </a:avLst>
            </a:prstGeom>
            <a:solidFill>
              <a:srgbClr val="CCECFF"/>
            </a:solidFill>
            <a:ln w="12700" algn="ctr">
              <a:solidFill>
                <a:srgbClr val="0000FF"/>
              </a:solidFill>
              <a:round/>
              <a:headEnd/>
              <a:tailEnd/>
            </a:ln>
            <a:effectLst/>
          </p:spPr>
          <p:txBody>
            <a:bodyPr wrap="none" anchor="ctr"/>
            <a:lstStyle/>
            <a:p>
              <a:pPr algn="l"/>
              <a:r>
                <a:rPr lang="en-US" altLang="zh-CN" sz="1600">
                  <a:latin typeface="Times New Roman" pitchFamily="18" charset="0"/>
                </a:rPr>
                <a:t>(3) </a:t>
              </a:r>
              <a:r>
                <a:rPr lang="zh-CN" altLang="en-US" sz="1600">
                  <a:latin typeface="Times New Roman" pitchFamily="18" charset="0"/>
                </a:rPr>
                <a:t>写</a:t>
              </a:r>
              <a:r>
                <a:rPr lang="en-US" altLang="zh-CN" sz="1600">
                  <a:latin typeface="Times New Roman" pitchFamily="18" charset="0"/>
                </a:rPr>
                <a:t>IO0PIN</a:t>
              </a:r>
              <a:r>
                <a:rPr lang="zh-CN" altLang="en-US" sz="1600">
                  <a:latin typeface="Times New Roman" pitchFamily="18" charset="0"/>
                </a:rPr>
                <a:t>，输出数据</a:t>
              </a:r>
            </a:p>
          </p:txBody>
        </p:sp>
      </p:grpSp>
      <p:sp>
        <p:nvSpPr>
          <p:cNvPr id="413709" name="Text Box 13"/>
          <p:cNvSpPr txBox="1">
            <a:spLocks noChangeArrowheads="1"/>
          </p:cNvSpPr>
          <p:nvPr/>
        </p:nvSpPr>
        <p:spPr bwMode="auto">
          <a:xfrm>
            <a:off x="2424113" y="1244601"/>
            <a:ext cx="7391400" cy="1463675"/>
          </a:xfrm>
          <a:prstGeom prst="rect">
            <a:avLst/>
          </a:prstGeom>
          <a:noFill/>
          <a:ln w="9525">
            <a:noFill/>
            <a:miter lim="800000"/>
            <a:headEnd/>
            <a:tailEnd/>
          </a:ln>
          <a:effectLst/>
        </p:spPr>
        <p:txBody>
          <a:bodyPr>
            <a:spAutoFit/>
          </a:bodyPr>
          <a:lstStyle/>
          <a:p>
            <a:pPr algn="l">
              <a:spcBef>
                <a:spcPct val="50000"/>
              </a:spcBef>
              <a:buClr>
                <a:srgbClr val="0000FF"/>
              </a:buClr>
              <a:buFont typeface="Wingdings" pitchFamily="2" charset="2"/>
              <a:buNone/>
            </a:pPr>
            <a:r>
              <a:rPr lang="en-US" altLang="zh-CN" sz="2000">
                <a:latin typeface="Times New Roman" pitchFamily="18" charset="0"/>
                <a:ea typeface="华文新魏" pitchFamily="2" charset="-122"/>
              </a:rPr>
              <a:t>        </a:t>
            </a:r>
            <a:r>
              <a:rPr lang="zh-CN" altLang="en-US" sz="2000">
                <a:latin typeface="华文新魏" pitchFamily="2" charset="-122"/>
                <a:ea typeface="华文新魏" pitchFamily="2" charset="-122"/>
              </a:rPr>
              <a:t>在需要将多位数据同时输出到某几个</a:t>
            </a:r>
            <a:r>
              <a:rPr lang="en-US" altLang="zh-CN" sz="2000">
                <a:latin typeface="华文新魏" pitchFamily="2" charset="-122"/>
                <a:ea typeface="华文新魏" pitchFamily="2" charset="-122"/>
              </a:rPr>
              <a:t>IO</a:t>
            </a:r>
            <a:r>
              <a:rPr lang="zh-CN" altLang="en-US" sz="2000">
                <a:latin typeface="华文新魏" pitchFamily="2" charset="-122"/>
                <a:ea typeface="华文新魏" pitchFamily="2" charset="-122"/>
              </a:rPr>
              <a:t>口线时，通常使用</a:t>
            </a:r>
            <a:r>
              <a:rPr lang="en-US" altLang="zh-CN" sz="2000">
                <a:latin typeface="华文新魏" pitchFamily="2" charset="-122"/>
                <a:ea typeface="华文新魏" pitchFamily="2" charset="-122"/>
              </a:rPr>
              <a:t>IOxSET</a:t>
            </a:r>
            <a:r>
              <a:rPr lang="zh-CN" altLang="en-US" sz="2000">
                <a:latin typeface="华文新魏" pitchFamily="2" charset="-122"/>
                <a:ea typeface="华文新魏" pitchFamily="2" charset="-122"/>
              </a:rPr>
              <a:t>和</a:t>
            </a:r>
            <a:r>
              <a:rPr lang="en-US" altLang="zh-CN" sz="2000">
                <a:latin typeface="华文新魏" pitchFamily="2" charset="-122"/>
                <a:ea typeface="华文新魏" pitchFamily="2" charset="-122"/>
              </a:rPr>
              <a:t>IOxCLR</a:t>
            </a:r>
            <a:r>
              <a:rPr lang="zh-CN" altLang="en-US" sz="2000">
                <a:latin typeface="华文新魏" pitchFamily="2" charset="-122"/>
                <a:ea typeface="华文新魏" pitchFamily="2" charset="-122"/>
              </a:rPr>
              <a:t>来实现，在某些情况下也可以使用</a:t>
            </a:r>
            <a:r>
              <a:rPr lang="en-US" altLang="zh-CN" sz="2000">
                <a:latin typeface="华文新魏" pitchFamily="2" charset="-122"/>
                <a:ea typeface="华文新魏" pitchFamily="2" charset="-122"/>
              </a:rPr>
              <a:t>IOxPIN</a:t>
            </a:r>
            <a:r>
              <a:rPr lang="zh-CN" altLang="en-US" sz="2000">
                <a:latin typeface="华文新魏" pitchFamily="2" charset="-122"/>
                <a:ea typeface="华文新魏" pitchFamily="2" charset="-122"/>
              </a:rPr>
              <a:t>寄存器实现。后者可以在多个</a:t>
            </a:r>
            <a:r>
              <a:rPr lang="en-US" altLang="zh-CN" sz="2000">
                <a:latin typeface="华文新魏" pitchFamily="2" charset="-122"/>
                <a:ea typeface="华文新魏" pitchFamily="2" charset="-122"/>
              </a:rPr>
              <a:t>IO</a:t>
            </a:r>
            <a:r>
              <a:rPr lang="zh-CN" altLang="en-US" sz="2000">
                <a:latin typeface="华文新魏" pitchFamily="2" charset="-122"/>
                <a:ea typeface="华文新魏" pitchFamily="2" charset="-122"/>
              </a:rPr>
              <a:t>口上直接输出</a:t>
            </a:r>
            <a:r>
              <a:rPr lang="en-US" altLang="zh-CN" sz="2000">
                <a:latin typeface="华文新魏" pitchFamily="2" charset="-122"/>
                <a:ea typeface="华文新魏" pitchFamily="2" charset="-122"/>
              </a:rPr>
              <a:t>0</a:t>
            </a:r>
            <a:r>
              <a:rPr lang="zh-CN" altLang="en-US" sz="2000">
                <a:latin typeface="华文新魏" pitchFamily="2" charset="-122"/>
                <a:ea typeface="华文新魏" pitchFamily="2" charset="-122"/>
              </a:rPr>
              <a:t>和</a:t>
            </a:r>
            <a:r>
              <a:rPr lang="en-US" altLang="zh-CN" sz="2000">
                <a:latin typeface="华文新魏" pitchFamily="2" charset="-122"/>
                <a:ea typeface="华文新魏" pitchFamily="2" charset="-122"/>
              </a:rPr>
              <a:t>1</a:t>
            </a:r>
            <a:r>
              <a:rPr lang="zh-CN" altLang="en-US" sz="2000">
                <a:latin typeface="华文新魏" pitchFamily="2" charset="-122"/>
                <a:ea typeface="华文新魏" pitchFamily="2" charset="-122"/>
              </a:rPr>
              <a:t>电平。</a:t>
            </a:r>
          </a:p>
          <a:p>
            <a:pPr algn="l">
              <a:spcBef>
                <a:spcPct val="50000"/>
              </a:spcBef>
              <a:buClr>
                <a:srgbClr val="0000FF"/>
              </a:buClr>
              <a:buFont typeface="Wingdings" pitchFamily="2" charset="2"/>
              <a:buNone/>
            </a:pPr>
            <a:r>
              <a:rPr lang="zh-CN" altLang="en-US" sz="2000">
                <a:latin typeface="华文新魏" pitchFamily="2" charset="-122"/>
                <a:ea typeface="华文新魏" pitchFamily="2" charset="-122"/>
              </a:rPr>
              <a:t>        </a:t>
            </a:r>
            <a:r>
              <a:rPr lang="zh-CN" altLang="en-US" sz="2000">
                <a:solidFill>
                  <a:srgbClr val="FF0000"/>
                </a:solidFill>
                <a:latin typeface="华文新魏" pitchFamily="2" charset="-122"/>
                <a:ea typeface="华文新魏" pitchFamily="2" charset="-122"/>
              </a:rPr>
              <a:t>本例将</a:t>
            </a:r>
            <a:r>
              <a:rPr lang="en-US" altLang="zh-CN" sz="2000">
                <a:solidFill>
                  <a:srgbClr val="FF0000"/>
                </a:solidFill>
                <a:latin typeface="华文新魏" pitchFamily="2" charset="-122"/>
                <a:ea typeface="华文新魏" pitchFamily="2" charset="-122"/>
              </a:rPr>
              <a:t>8</a:t>
            </a:r>
            <a:r>
              <a:rPr lang="zh-CN" altLang="en-US" sz="2000">
                <a:solidFill>
                  <a:srgbClr val="FF0000"/>
                </a:solidFill>
                <a:latin typeface="华文新魏" pitchFamily="2" charset="-122"/>
                <a:ea typeface="华文新魏" pitchFamily="2" charset="-122"/>
              </a:rPr>
              <a:t>位无符号整数变量</a:t>
            </a:r>
            <a:r>
              <a:rPr lang="en-US" altLang="zh-CN" sz="2000">
                <a:solidFill>
                  <a:srgbClr val="FF0000"/>
                </a:solidFill>
                <a:latin typeface="华文新魏" pitchFamily="2" charset="-122"/>
                <a:ea typeface="华文新魏" pitchFamily="2" charset="-122"/>
              </a:rPr>
              <a:t>Data</a:t>
            </a:r>
            <a:r>
              <a:rPr lang="zh-CN" altLang="en-US" sz="2000">
                <a:solidFill>
                  <a:srgbClr val="FF0000"/>
                </a:solidFill>
                <a:latin typeface="华文新魏" pitchFamily="2" charset="-122"/>
                <a:ea typeface="华文新魏" pitchFamily="2" charset="-122"/>
              </a:rPr>
              <a:t>的值输出到</a:t>
            </a:r>
            <a:r>
              <a:rPr lang="en-US" altLang="zh-CN" sz="2000">
                <a:solidFill>
                  <a:srgbClr val="FF0000"/>
                </a:solidFill>
                <a:latin typeface="华文新魏" pitchFamily="2" charset="-122"/>
                <a:ea typeface="华文新魏" pitchFamily="2" charset="-122"/>
              </a:rPr>
              <a:t>P0.0</a:t>
            </a:r>
            <a:r>
              <a:rPr lang="zh-CN" altLang="en-US" sz="2000">
                <a:solidFill>
                  <a:srgbClr val="FF0000"/>
                </a:solidFill>
                <a:latin typeface="华文新魏" pitchFamily="2" charset="-122"/>
                <a:ea typeface="华文新魏" pitchFamily="2" charset="-122"/>
              </a:rPr>
              <a:t>～</a:t>
            </a:r>
            <a:r>
              <a:rPr lang="en-US" altLang="zh-CN" sz="2000">
                <a:solidFill>
                  <a:srgbClr val="FF0000"/>
                </a:solidFill>
                <a:latin typeface="华文新魏" pitchFamily="2" charset="-122"/>
                <a:ea typeface="华文新魏" pitchFamily="2" charset="-122"/>
              </a:rPr>
              <a:t>P0.7</a:t>
            </a:r>
            <a:r>
              <a:rPr lang="zh-CN" altLang="en-US" sz="2000">
                <a:solidFill>
                  <a:srgbClr val="FF0000"/>
                </a:solidFill>
                <a:latin typeface="华文新魏" pitchFamily="2" charset="-122"/>
                <a:ea typeface="华文新魏" pitchFamily="2" charset="-122"/>
              </a:rPr>
              <a:t>。</a:t>
            </a:r>
          </a:p>
        </p:txBody>
      </p:sp>
      <p:sp>
        <p:nvSpPr>
          <p:cNvPr id="413710" name="Text Box 14"/>
          <p:cNvSpPr txBox="1">
            <a:spLocks noChangeArrowheads="1"/>
          </p:cNvSpPr>
          <p:nvPr/>
        </p:nvSpPr>
        <p:spPr bwMode="auto">
          <a:xfrm>
            <a:off x="2279651" y="2619376"/>
            <a:ext cx="3673475" cy="396875"/>
          </a:xfrm>
          <a:prstGeom prst="rect">
            <a:avLst/>
          </a:prstGeom>
          <a:noFill/>
          <a:ln w="9525">
            <a:noFill/>
            <a:miter lim="800000"/>
            <a:headEnd/>
            <a:tailEnd/>
          </a:ln>
          <a:effectLst/>
        </p:spPr>
        <p:txBody>
          <a:bodyPr>
            <a:spAutoFit/>
          </a:bodyPr>
          <a:lstStyle/>
          <a:p>
            <a:pPr>
              <a:spcBef>
                <a:spcPct val="50000"/>
              </a:spcBef>
            </a:pPr>
            <a:r>
              <a:rPr lang="zh-CN" altLang="en-US" sz="2000">
                <a:latin typeface="华文新魏" pitchFamily="2" charset="-122"/>
                <a:ea typeface="华文新魏" pitchFamily="2" charset="-122"/>
              </a:rPr>
              <a:t>使用</a:t>
            </a:r>
            <a:r>
              <a:rPr lang="en-US" altLang="zh-CN" sz="2000">
                <a:ea typeface="华文新魏" pitchFamily="2" charset="-122"/>
              </a:rPr>
              <a:t>IOxPIN</a:t>
            </a:r>
            <a:r>
              <a:rPr lang="zh-CN" altLang="en-US" sz="2000">
                <a:ea typeface="华文新魏" pitchFamily="2" charset="-122"/>
              </a:rPr>
              <a:t>实现</a:t>
            </a:r>
            <a:r>
              <a:rPr lang="zh-CN" altLang="en-US" sz="2000">
                <a:latin typeface="华文新魏" pitchFamily="2" charset="-122"/>
                <a:ea typeface="华文新魏" pitchFamily="2" charset="-122"/>
              </a:rPr>
              <a:t>：</a:t>
            </a:r>
          </a:p>
        </p:txBody>
      </p:sp>
      <p:grpSp>
        <p:nvGrpSpPr>
          <p:cNvPr id="413711" name="Group 15"/>
          <p:cNvGrpSpPr>
            <a:grpSpLocks/>
          </p:cNvGrpSpPr>
          <p:nvPr/>
        </p:nvGrpSpPr>
        <p:grpSpPr bwMode="auto">
          <a:xfrm>
            <a:off x="4224338" y="5283201"/>
            <a:ext cx="1473200" cy="506413"/>
            <a:chOff x="1565" y="3704"/>
            <a:chExt cx="928" cy="319"/>
          </a:xfrm>
        </p:grpSpPr>
        <p:sp>
          <p:nvSpPr>
            <p:cNvPr id="413712" name="Freeform 16"/>
            <p:cNvSpPr>
              <a:spLocks/>
            </p:cNvSpPr>
            <p:nvPr/>
          </p:nvSpPr>
          <p:spPr bwMode="auto">
            <a:xfrm>
              <a:off x="1565" y="3704"/>
              <a:ext cx="928" cy="319"/>
            </a:xfrm>
            <a:custGeom>
              <a:avLst/>
              <a:gdLst/>
              <a:ahLst/>
              <a:cxnLst>
                <a:cxn ang="0">
                  <a:pos x="0" y="2"/>
                </a:cxn>
                <a:cxn ang="0">
                  <a:pos x="839" y="0"/>
                </a:cxn>
                <a:cxn ang="0">
                  <a:pos x="928" y="158"/>
                </a:cxn>
                <a:cxn ang="0">
                  <a:pos x="839" y="318"/>
                </a:cxn>
                <a:cxn ang="0">
                  <a:pos x="0" y="319"/>
                </a:cxn>
                <a:cxn ang="0">
                  <a:pos x="0" y="2"/>
                </a:cxn>
              </a:cxnLst>
              <a:rect l="0" t="0" r="r" b="b"/>
              <a:pathLst>
                <a:path w="928" h="319">
                  <a:moveTo>
                    <a:pt x="0" y="2"/>
                  </a:moveTo>
                  <a:lnTo>
                    <a:pt x="839" y="0"/>
                  </a:lnTo>
                  <a:lnTo>
                    <a:pt x="928" y="158"/>
                  </a:lnTo>
                  <a:lnTo>
                    <a:pt x="839" y="318"/>
                  </a:lnTo>
                  <a:lnTo>
                    <a:pt x="0" y="319"/>
                  </a:lnTo>
                  <a:lnTo>
                    <a:pt x="0" y="2"/>
                  </a:lnTo>
                  <a:close/>
                </a:path>
              </a:pathLst>
            </a:custGeom>
            <a:solidFill>
              <a:srgbClr val="FFFFCC"/>
            </a:solidFill>
            <a:ln w="19050" cap="flat" cmpd="sng">
              <a:solidFill>
                <a:schemeClr val="tx1"/>
              </a:solidFill>
              <a:prstDash val="solid"/>
              <a:round/>
              <a:headEnd/>
              <a:tailEnd/>
            </a:ln>
            <a:effectLst/>
          </p:spPr>
          <p:txBody>
            <a:bodyPr wrap="none" anchor="ctr"/>
            <a:lstStyle/>
            <a:p>
              <a:endParaRPr lang="zh-CN" altLang="en-US"/>
            </a:p>
          </p:txBody>
        </p:sp>
        <p:sp>
          <p:nvSpPr>
            <p:cNvPr id="413713" name="Text Box 17"/>
            <p:cNvSpPr txBox="1">
              <a:spLocks noChangeArrowheads="1"/>
            </p:cNvSpPr>
            <p:nvPr/>
          </p:nvSpPr>
          <p:spPr bwMode="auto">
            <a:xfrm>
              <a:off x="1812" y="3765"/>
              <a:ext cx="409" cy="192"/>
            </a:xfrm>
            <a:prstGeom prst="rect">
              <a:avLst/>
            </a:prstGeom>
            <a:solidFill>
              <a:srgbClr val="FFFFCC"/>
            </a:solidFill>
            <a:ln w="19050" algn="ctr">
              <a:noFill/>
              <a:miter lim="800000"/>
              <a:headEnd/>
              <a:tailEnd/>
            </a:ln>
            <a:effectLst/>
          </p:spPr>
          <p:txBody>
            <a:bodyPr>
              <a:spAutoFit/>
            </a:bodyPr>
            <a:lstStyle/>
            <a:p>
              <a:pPr>
                <a:spcBef>
                  <a:spcPct val="50000"/>
                </a:spcBef>
              </a:pPr>
              <a:r>
                <a:rPr lang="en-US" altLang="zh-CN" sz="1400" b="1"/>
                <a:t>0x??</a:t>
              </a:r>
            </a:p>
          </p:txBody>
        </p:sp>
      </p:grpSp>
      <p:grpSp>
        <p:nvGrpSpPr>
          <p:cNvPr id="413714" name="Group 18"/>
          <p:cNvGrpSpPr>
            <a:grpSpLocks/>
          </p:cNvGrpSpPr>
          <p:nvPr/>
        </p:nvGrpSpPr>
        <p:grpSpPr bwMode="auto">
          <a:xfrm>
            <a:off x="5697539" y="5283201"/>
            <a:ext cx="1671637" cy="506413"/>
            <a:chOff x="2811" y="3704"/>
            <a:chExt cx="1053" cy="319"/>
          </a:xfrm>
        </p:grpSpPr>
        <p:sp>
          <p:nvSpPr>
            <p:cNvPr id="413715" name="Freeform 19"/>
            <p:cNvSpPr>
              <a:spLocks/>
            </p:cNvSpPr>
            <p:nvPr/>
          </p:nvSpPr>
          <p:spPr bwMode="auto">
            <a:xfrm>
              <a:off x="2811" y="3704"/>
              <a:ext cx="1053" cy="319"/>
            </a:xfrm>
            <a:custGeom>
              <a:avLst/>
              <a:gdLst/>
              <a:ahLst/>
              <a:cxnLst>
                <a:cxn ang="0">
                  <a:pos x="1053" y="319"/>
                </a:cxn>
                <a:cxn ang="0">
                  <a:pos x="89" y="318"/>
                </a:cxn>
                <a:cxn ang="0">
                  <a:pos x="0" y="160"/>
                </a:cxn>
                <a:cxn ang="0">
                  <a:pos x="89" y="0"/>
                </a:cxn>
                <a:cxn ang="0">
                  <a:pos x="1053" y="2"/>
                </a:cxn>
                <a:cxn ang="0">
                  <a:pos x="1053" y="319"/>
                </a:cxn>
              </a:cxnLst>
              <a:rect l="0" t="0" r="r" b="b"/>
              <a:pathLst>
                <a:path w="1053" h="319">
                  <a:moveTo>
                    <a:pt x="1053" y="319"/>
                  </a:moveTo>
                  <a:lnTo>
                    <a:pt x="89" y="318"/>
                  </a:lnTo>
                  <a:lnTo>
                    <a:pt x="0" y="160"/>
                  </a:lnTo>
                  <a:lnTo>
                    <a:pt x="89" y="0"/>
                  </a:lnTo>
                  <a:lnTo>
                    <a:pt x="1053" y="2"/>
                  </a:lnTo>
                  <a:lnTo>
                    <a:pt x="1053" y="319"/>
                  </a:lnTo>
                  <a:close/>
                </a:path>
              </a:pathLst>
            </a:custGeom>
            <a:solidFill>
              <a:srgbClr val="CCECFF"/>
            </a:solidFill>
            <a:ln w="19050" cap="flat" cmpd="sng">
              <a:solidFill>
                <a:schemeClr val="tx1"/>
              </a:solidFill>
              <a:prstDash val="solid"/>
              <a:round/>
              <a:headEnd/>
              <a:tailEnd/>
            </a:ln>
            <a:effectLst/>
          </p:spPr>
          <p:txBody>
            <a:bodyPr wrap="none" anchor="ctr"/>
            <a:lstStyle/>
            <a:p>
              <a:endParaRPr lang="zh-CN" altLang="en-US"/>
            </a:p>
          </p:txBody>
        </p:sp>
        <p:sp>
          <p:nvSpPr>
            <p:cNvPr id="413716" name="Text Box 20"/>
            <p:cNvSpPr txBox="1">
              <a:spLocks noChangeArrowheads="1"/>
            </p:cNvSpPr>
            <p:nvPr/>
          </p:nvSpPr>
          <p:spPr bwMode="auto">
            <a:xfrm>
              <a:off x="3173" y="3765"/>
              <a:ext cx="408" cy="192"/>
            </a:xfrm>
            <a:prstGeom prst="rect">
              <a:avLst/>
            </a:prstGeom>
            <a:solidFill>
              <a:srgbClr val="CCECFF"/>
            </a:solidFill>
            <a:ln w="19050" algn="ctr">
              <a:noFill/>
              <a:miter lim="800000"/>
              <a:headEnd/>
              <a:tailEnd/>
            </a:ln>
            <a:effectLst/>
          </p:spPr>
          <p:txBody>
            <a:bodyPr>
              <a:spAutoFit/>
            </a:bodyPr>
            <a:lstStyle/>
            <a:p>
              <a:pPr>
                <a:spcBef>
                  <a:spcPct val="50000"/>
                </a:spcBef>
              </a:pPr>
              <a:r>
                <a:rPr lang="en-US" altLang="zh-CN" sz="1400" b="1"/>
                <a:t>Data</a:t>
              </a:r>
            </a:p>
          </p:txBody>
        </p:sp>
      </p:grpSp>
      <p:sp>
        <p:nvSpPr>
          <p:cNvPr id="413717" name="Text Box 21"/>
          <p:cNvSpPr txBox="1">
            <a:spLocks noChangeArrowheads="1"/>
          </p:cNvSpPr>
          <p:nvPr/>
        </p:nvSpPr>
        <p:spPr bwMode="auto">
          <a:xfrm>
            <a:off x="2603501" y="5351464"/>
            <a:ext cx="1763713" cy="396875"/>
          </a:xfrm>
          <a:prstGeom prst="rect">
            <a:avLst/>
          </a:prstGeom>
          <a:noFill/>
          <a:ln w="9525">
            <a:noFill/>
            <a:miter lim="800000"/>
            <a:headEnd/>
            <a:tailEnd/>
          </a:ln>
          <a:effectLst/>
        </p:spPr>
        <p:txBody>
          <a:bodyPr>
            <a:spAutoFit/>
          </a:bodyPr>
          <a:lstStyle/>
          <a:p>
            <a:pPr>
              <a:spcBef>
                <a:spcPct val="50000"/>
              </a:spcBef>
            </a:pPr>
            <a:r>
              <a:rPr lang="zh-CN" altLang="en-US" sz="2000">
                <a:latin typeface="华文新魏" pitchFamily="2" charset="-122"/>
                <a:ea typeface="华文新魏" pitchFamily="2" charset="-122"/>
              </a:rPr>
              <a:t>数据输出线：</a:t>
            </a:r>
          </a:p>
        </p:txBody>
      </p:sp>
      <p:grpSp>
        <p:nvGrpSpPr>
          <p:cNvPr id="413718" name="Group 22"/>
          <p:cNvGrpSpPr>
            <a:grpSpLocks/>
          </p:cNvGrpSpPr>
          <p:nvPr/>
        </p:nvGrpSpPr>
        <p:grpSpPr bwMode="auto">
          <a:xfrm>
            <a:off x="2603500" y="5930900"/>
            <a:ext cx="5270500" cy="509588"/>
            <a:chOff x="680" y="3838"/>
            <a:chExt cx="3320" cy="321"/>
          </a:xfrm>
        </p:grpSpPr>
        <p:grpSp>
          <p:nvGrpSpPr>
            <p:cNvPr id="413719" name="Group 23"/>
            <p:cNvGrpSpPr>
              <a:grpSpLocks/>
            </p:cNvGrpSpPr>
            <p:nvPr/>
          </p:nvGrpSpPr>
          <p:grpSpPr bwMode="auto">
            <a:xfrm>
              <a:off x="1701" y="3840"/>
              <a:ext cx="928" cy="319"/>
              <a:chOff x="1565" y="3704"/>
              <a:chExt cx="928" cy="319"/>
            </a:xfrm>
          </p:grpSpPr>
          <p:sp>
            <p:nvSpPr>
              <p:cNvPr id="413720" name="Freeform 24"/>
              <p:cNvSpPr>
                <a:spLocks/>
              </p:cNvSpPr>
              <p:nvPr/>
            </p:nvSpPr>
            <p:spPr bwMode="auto">
              <a:xfrm>
                <a:off x="1565" y="3704"/>
                <a:ext cx="928" cy="319"/>
              </a:xfrm>
              <a:custGeom>
                <a:avLst/>
                <a:gdLst/>
                <a:ahLst/>
                <a:cxnLst>
                  <a:cxn ang="0">
                    <a:pos x="0" y="2"/>
                  </a:cxn>
                  <a:cxn ang="0">
                    <a:pos x="839" y="0"/>
                  </a:cxn>
                  <a:cxn ang="0">
                    <a:pos x="928" y="158"/>
                  </a:cxn>
                  <a:cxn ang="0">
                    <a:pos x="839" y="318"/>
                  </a:cxn>
                  <a:cxn ang="0">
                    <a:pos x="0" y="319"/>
                  </a:cxn>
                  <a:cxn ang="0">
                    <a:pos x="0" y="2"/>
                  </a:cxn>
                </a:cxnLst>
                <a:rect l="0" t="0" r="r" b="b"/>
                <a:pathLst>
                  <a:path w="928" h="319">
                    <a:moveTo>
                      <a:pt x="0" y="2"/>
                    </a:moveTo>
                    <a:lnTo>
                      <a:pt x="839" y="0"/>
                    </a:lnTo>
                    <a:lnTo>
                      <a:pt x="928" y="158"/>
                    </a:lnTo>
                    <a:lnTo>
                      <a:pt x="839" y="318"/>
                    </a:lnTo>
                    <a:lnTo>
                      <a:pt x="0" y="319"/>
                    </a:lnTo>
                    <a:lnTo>
                      <a:pt x="0" y="2"/>
                    </a:lnTo>
                    <a:close/>
                  </a:path>
                </a:pathLst>
              </a:custGeom>
              <a:solidFill>
                <a:srgbClr val="FFFFCC"/>
              </a:solidFill>
              <a:ln w="19050" cap="flat" cmpd="sng">
                <a:solidFill>
                  <a:schemeClr val="tx1"/>
                </a:solidFill>
                <a:prstDash val="solid"/>
                <a:round/>
                <a:headEnd/>
                <a:tailEnd/>
              </a:ln>
              <a:effectLst/>
            </p:spPr>
            <p:txBody>
              <a:bodyPr wrap="none" anchor="ctr"/>
              <a:lstStyle/>
              <a:p>
                <a:endParaRPr lang="zh-CN" altLang="en-US"/>
              </a:p>
            </p:txBody>
          </p:sp>
          <p:sp>
            <p:nvSpPr>
              <p:cNvPr id="413721" name="Text Box 25"/>
              <p:cNvSpPr txBox="1">
                <a:spLocks noChangeArrowheads="1"/>
              </p:cNvSpPr>
              <p:nvPr/>
            </p:nvSpPr>
            <p:spPr bwMode="auto">
              <a:xfrm>
                <a:off x="1812" y="3765"/>
                <a:ext cx="409" cy="192"/>
              </a:xfrm>
              <a:prstGeom prst="rect">
                <a:avLst/>
              </a:prstGeom>
              <a:solidFill>
                <a:srgbClr val="FFFFCC"/>
              </a:solidFill>
              <a:ln w="19050" algn="ctr">
                <a:noFill/>
                <a:miter lim="800000"/>
                <a:headEnd/>
                <a:tailEnd/>
              </a:ln>
              <a:effectLst/>
            </p:spPr>
            <p:txBody>
              <a:bodyPr>
                <a:spAutoFit/>
              </a:bodyPr>
              <a:lstStyle/>
              <a:p>
                <a:pPr>
                  <a:spcBef>
                    <a:spcPct val="50000"/>
                  </a:spcBef>
                </a:pPr>
                <a:r>
                  <a:rPr lang="en-US" altLang="zh-CN" sz="1400" b="1"/>
                  <a:t>0x??</a:t>
                </a:r>
              </a:p>
            </p:txBody>
          </p:sp>
        </p:grpSp>
        <p:grpSp>
          <p:nvGrpSpPr>
            <p:cNvPr id="413722" name="Group 26"/>
            <p:cNvGrpSpPr>
              <a:grpSpLocks/>
            </p:cNvGrpSpPr>
            <p:nvPr/>
          </p:nvGrpSpPr>
          <p:grpSpPr bwMode="auto">
            <a:xfrm>
              <a:off x="2583" y="3838"/>
              <a:ext cx="408" cy="320"/>
              <a:chOff x="2447" y="3702"/>
              <a:chExt cx="408" cy="320"/>
            </a:xfrm>
          </p:grpSpPr>
          <p:sp>
            <p:nvSpPr>
              <p:cNvPr id="413723" name="Freeform 27"/>
              <p:cNvSpPr>
                <a:spLocks/>
              </p:cNvSpPr>
              <p:nvPr/>
            </p:nvSpPr>
            <p:spPr bwMode="auto">
              <a:xfrm>
                <a:off x="2494" y="3702"/>
                <a:ext cx="316" cy="320"/>
              </a:xfrm>
              <a:custGeom>
                <a:avLst/>
                <a:gdLst/>
                <a:ahLst/>
                <a:cxnLst>
                  <a:cxn ang="0">
                    <a:pos x="0" y="162"/>
                  </a:cxn>
                  <a:cxn ang="0">
                    <a:pos x="88" y="2"/>
                  </a:cxn>
                  <a:cxn ang="0">
                    <a:pos x="228" y="0"/>
                  </a:cxn>
                  <a:cxn ang="0">
                    <a:pos x="316" y="160"/>
                  </a:cxn>
                  <a:cxn ang="0">
                    <a:pos x="226" y="320"/>
                  </a:cxn>
                  <a:cxn ang="0">
                    <a:pos x="88" y="320"/>
                  </a:cxn>
                  <a:cxn ang="0">
                    <a:pos x="0" y="162"/>
                  </a:cxn>
                </a:cxnLst>
                <a:rect l="0" t="0" r="r" b="b"/>
                <a:pathLst>
                  <a:path w="316" h="320">
                    <a:moveTo>
                      <a:pt x="0" y="162"/>
                    </a:moveTo>
                    <a:lnTo>
                      <a:pt x="88" y="2"/>
                    </a:lnTo>
                    <a:lnTo>
                      <a:pt x="228" y="0"/>
                    </a:lnTo>
                    <a:lnTo>
                      <a:pt x="316" y="160"/>
                    </a:lnTo>
                    <a:lnTo>
                      <a:pt x="226" y="320"/>
                    </a:lnTo>
                    <a:lnTo>
                      <a:pt x="88" y="320"/>
                    </a:lnTo>
                    <a:lnTo>
                      <a:pt x="0" y="162"/>
                    </a:lnTo>
                    <a:close/>
                  </a:path>
                </a:pathLst>
              </a:custGeom>
              <a:solidFill>
                <a:srgbClr val="CCECFF"/>
              </a:solidFill>
              <a:ln w="19050" cap="flat" cmpd="sng">
                <a:solidFill>
                  <a:schemeClr val="tx1"/>
                </a:solidFill>
                <a:prstDash val="solid"/>
                <a:round/>
                <a:headEnd/>
                <a:tailEnd/>
              </a:ln>
              <a:effectLst/>
            </p:spPr>
            <p:txBody>
              <a:bodyPr wrap="none" anchor="ctr"/>
              <a:lstStyle/>
              <a:p>
                <a:endParaRPr lang="zh-CN" altLang="en-US"/>
              </a:p>
            </p:txBody>
          </p:sp>
          <p:sp>
            <p:nvSpPr>
              <p:cNvPr id="413724" name="Text Box 28"/>
              <p:cNvSpPr txBox="1">
                <a:spLocks noChangeArrowheads="1"/>
              </p:cNvSpPr>
              <p:nvPr/>
            </p:nvSpPr>
            <p:spPr bwMode="auto">
              <a:xfrm>
                <a:off x="2447" y="3765"/>
                <a:ext cx="408" cy="192"/>
              </a:xfrm>
              <a:prstGeom prst="rect">
                <a:avLst/>
              </a:prstGeom>
              <a:noFill/>
              <a:ln w="19050" algn="ctr">
                <a:noFill/>
                <a:miter lim="800000"/>
                <a:headEnd/>
                <a:tailEnd/>
              </a:ln>
              <a:effectLst/>
            </p:spPr>
            <p:txBody>
              <a:bodyPr>
                <a:spAutoFit/>
              </a:bodyPr>
              <a:lstStyle/>
              <a:p>
                <a:pPr>
                  <a:spcBef>
                    <a:spcPct val="50000"/>
                  </a:spcBef>
                </a:pPr>
                <a:r>
                  <a:rPr lang="en-US" altLang="zh-CN" sz="1400" b="1"/>
                  <a:t>0x00</a:t>
                </a:r>
              </a:p>
            </p:txBody>
          </p:sp>
        </p:grpSp>
        <p:grpSp>
          <p:nvGrpSpPr>
            <p:cNvPr id="413725" name="Group 29"/>
            <p:cNvGrpSpPr>
              <a:grpSpLocks/>
            </p:cNvGrpSpPr>
            <p:nvPr/>
          </p:nvGrpSpPr>
          <p:grpSpPr bwMode="auto">
            <a:xfrm>
              <a:off x="2947" y="3840"/>
              <a:ext cx="1053" cy="319"/>
              <a:chOff x="2811" y="3704"/>
              <a:chExt cx="1053" cy="319"/>
            </a:xfrm>
          </p:grpSpPr>
          <p:sp>
            <p:nvSpPr>
              <p:cNvPr id="413726" name="Freeform 30"/>
              <p:cNvSpPr>
                <a:spLocks/>
              </p:cNvSpPr>
              <p:nvPr/>
            </p:nvSpPr>
            <p:spPr bwMode="auto">
              <a:xfrm>
                <a:off x="2811" y="3704"/>
                <a:ext cx="1053" cy="319"/>
              </a:xfrm>
              <a:custGeom>
                <a:avLst/>
                <a:gdLst/>
                <a:ahLst/>
                <a:cxnLst>
                  <a:cxn ang="0">
                    <a:pos x="1053" y="319"/>
                  </a:cxn>
                  <a:cxn ang="0">
                    <a:pos x="89" y="318"/>
                  </a:cxn>
                  <a:cxn ang="0">
                    <a:pos x="0" y="160"/>
                  </a:cxn>
                  <a:cxn ang="0">
                    <a:pos x="89" y="0"/>
                  </a:cxn>
                  <a:cxn ang="0">
                    <a:pos x="1053" y="2"/>
                  </a:cxn>
                  <a:cxn ang="0">
                    <a:pos x="1053" y="319"/>
                  </a:cxn>
                </a:cxnLst>
                <a:rect l="0" t="0" r="r" b="b"/>
                <a:pathLst>
                  <a:path w="1053" h="319">
                    <a:moveTo>
                      <a:pt x="1053" y="319"/>
                    </a:moveTo>
                    <a:lnTo>
                      <a:pt x="89" y="318"/>
                    </a:lnTo>
                    <a:lnTo>
                      <a:pt x="0" y="160"/>
                    </a:lnTo>
                    <a:lnTo>
                      <a:pt x="89" y="0"/>
                    </a:lnTo>
                    <a:lnTo>
                      <a:pt x="1053" y="2"/>
                    </a:lnTo>
                    <a:lnTo>
                      <a:pt x="1053" y="319"/>
                    </a:lnTo>
                    <a:close/>
                  </a:path>
                </a:pathLst>
              </a:custGeom>
              <a:solidFill>
                <a:srgbClr val="FFFFCC"/>
              </a:solidFill>
              <a:ln w="19050" cap="flat" cmpd="sng">
                <a:solidFill>
                  <a:schemeClr val="tx1"/>
                </a:solidFill>
                <a:prstDash val="solid"/>
                <a:round/>
                <a:headEnd/>
                <a:tailEnd/>
              </a:ln>
              <a:effectLst/>
            </p:spPr>
            <p:txBody>
              <a:bodyPr wrap="none" anchor="ctr"/>
              <a:lstStyle/>
              <a:p>
                <a:endParaRPr lang="zh-CN" altLang="en-US"/>
              </a:p>
            </p:txBody>
          </p:sp>
          <p:sp>
            <p:nvSpPr>
              <p:cNvPr id="413727" name="Text Box 31"/>
              <p:cNvSpPr txBox="1">
                <a:spLocks noChangeArrowheads="1"/>
              </p:cNvSpPr>
              <p:nvPr/>
            </p:nvSpPr>
            <p:spPr bwMode="auto">
              <a:xfrm>
                <a:off x="3173" y="3765"/>
                <a:ext cx="408" cy="192"/>
              </a:xfrm>
              <a:prstGeom prst="rect">
                <a:avLst/>
              </a:prstGeom>
              <a:noFill/>
              <a:ln w="19050" algn="ctr">
                <a:noFill/>
                <a:miter lim="800000"/>
                <a:headEnd/>
                <a:tailEnd/>
              </a:ln>
              <a:effectLst/>
            </p:spPr>
            <p:txBody>
              <a:bodyPr>
                <a:spAutoFit/>
              </a:bodyPr>
              <a:lstStyle/>
              <a:p>
                <a:pPr>
                  <a:spcBef>
                    <a:spcPct val="50000"/>
                  </a:spcBef>
                </a:pPr>
                <a:r>
                  <a:rPr lang="en-US" altLang="zh-CN" sz="1400" b="1"/>
                  <a:t>Data</a:t>
                </a:r>
              </a:p>
            </p:txBody>
          </p:sp>
        </p:grpSp>
        <p:sp>
          <p:nvSpPr>
            <p:cNvPr id="413728" name="Text Box 32"/>
            <p:cNvSpPr txBox="1">
              <a:spLocks noChangeArrowheads="1"/>
            </p:cNvSpPr>
            <p:nvPr/>
          </p:nvSpPr>
          <p:spPr bwMode="auto">
            <a:xfrm>
              <a:off x="680" y="3883"/>
              <a:ext cx="1111" cy="250"/>
            </a:xfrm>
            <a:prstGeom prst="rect">
              <a:avLst/>
            </a:prstGeom>
            <a:noFill/>
            <a:ln w="9525">
              <a:noFill/>
              <a:miter lim="800000"/>
              <a:headEnd/>
              <a:tailEnd/>
            </a:ln>
            <a:effectLst/>
          </p:spPr>
          <p:txBody>
            <a:bodyPr>
              <a:spAutoFit/>
            </a:bodyPr>
            <a:lstStyle/>
            <a:p>
              <a:pPr>
                <a:spcBef>
                  <a:spcPct val="50000"/>
                </a:spcBef>
              </a:pPr>
              <a:r>
                <a:rPr lang="zh-CN" altLang="en-US" sz="2000">
                  <a:latin typeface="华文新魏" pitchFamily="2" charset="-122"/>
                  <a:ea typeface="华文新魏" pitchFamily="2" charset="-122"/>
                </a:rPr>
                <a:t>与前者对比：</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13710"/>
                                        </p:tgtEl>
                                        <p:attrNameLst>
                                          <p:attrName>style.visibility</p:attrName>
                                        </p:attrNameLst>
                                      </p:cBhvr>
                                      <p:to>
                                        <p:strVal val="visible"/>
                                      </p:to>
                                    </p:set>
                                    <p:anim calcmode="lin" valueType="num">
                                      <p:cBhvr additive="base">
                                        <p:cTn id="7" dur="500" fill="hold"/>
                                        <p:tgtEl>
                                          <p:spTgt spid="413710"/>
                                        </p:tgtEl>
                                        <p:attrNameLst>
                                          <p:attrName>ppt_x</p:attrName>
                                        </p:attrNameLst>
                                      </p:cBhvr>
                                      <p:tavLst>
                                        <p:tav tm="0">
                                          <p:val>
                                            <p:strVal val="0-#ppt_w/2"/>
                                          </p:val>
                                        </p:tav>
                                        <p:tav tm="100000">
                                          <p:val>
                                            <p:strVal val="#ppt_x"/>
                                          </p:val>
                                        </p:tav>
                                      </p:tavLst>
                                    </p:anim>
                                    <p:anim calcmode="lin" valueType="num">
                                      <p:cBhvr additive="base">
                                        <p:cTn id="8" dur="500" fill="hold"/>
                                        <p:tgtEl>
                                          <p:spTgt spid="41371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1" fill="hold" grpId="0" nodeType="afterEffect">
                                  <p:stCondLst>
                                    <p:cond delay="0"/>
                                  </p:stCondLst>
                                  <p:childTnLst>
                                    <p:set>
                                      <p:cBhvr>
                                        <p:cTn id="11" dur="1" fill="hold">
                                          <p:stCondLst>
                                            <p:cond delay="0"/>
                                          </p:stCondLst>
                                        </p:cTn>
                                        <p:tgtEl>
                                          <p:spTgt spid="413698"/>
                                        </p:tgtEl>
                                        <p:attrNameLst>
                                          <p:attrName>style.visibility</p:attrName>
                                        </p:attrNameLst>
                                      </p:cBhvr>
                                      <p:to>
                                        <p:strVal val="visible"/>
                                      </p:to>
                                    </p:set>
                                    <p:animEffect transition="in" filter="slide(fromTop)">
                                      <p:cBhvr>
                                        <p:cTn id="12" dur="500"/>
                                        <p:tgtEl>
                                          <p:spTgt spid="41369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413700"/>
                                        </p:tgtEl>
                                        <p:attrNameLst>
                                          <p:attrName>style.visibility</p:attrName>
                                        </p:attrNameLst>
                                      </p:cBhvr>
                                      <p:to>
                                        <p:strVal val="visible"/>
                                      </p:to>
                                    </p:set>
                                    <p:animEffect transition="in" filter="wipe(right)">
                                      <p:cBhvr>
                                        <p:cTn id="17" dur="500"/>
                                        <p:tgtEl>
                                          <p:spTgt spid="4137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413703"/>
                                        </p:tgtEl>
                                        <p:attrNameLst>
                                          <p:attrName>style.visibility</p:attrName>
                                        </p:attrNameLst>
                                      </p:cBhvr>
                                      <p:to>
                                        <p:strVal val="visible"/>
                                      </p:to>
                                    </p:set>
                                    <p:animEffect transition="in" filter="wipe(right)">
                                      <p:cBhvr>
                                        <p:cTn id="22" dur="500"/>
                                        <p:tgtEl>
                                          <p:spTgt spid="413703"/>
                                        </p:tgtEl>
                                      </p:cBhvr>
                                    </p:animEffect>
                                  </p:childTnLst>
                                </p:cTn>
                              </p:par>
                            </p:childTnLst>
                          </p:cTn>
                        </p:par>
                        <p:par>
                          <p:cTn id="23" fill="hold">
                            <p:stCondLst>
                              <p:cond delay="500"/>
                            </p:stCondLst>
                            <p:childTnLst>
                              <p:par>
                                <p:cTn id="24" presetID="2" presetClass="entr" presetSubtype="8" fill="hold" grpId="0" nodeType="afterEffect">
                                  <p:stCondLst>
                                    <p:cond delay="0"/>
                                  </p:stCondLst>
                                  <p:childTnLst>
                                    <p:set>
                                      <p:cBhvr>
                                        <p:cTn id="25" dur="1" fill="hold">
                                          <p:stCondLst>
                                            <p:cond delay="0"/>
                                          </p:stCondLst>
                                        </p:cTn>
                                        <p:tgtEl>
                                          <p:spTgt spid="413717"/>
                                        </p:tgtEl>
                                        <p:attrNameLst>
                                          <p:attrName>style.visibility</p:attrName>
                                        </p:attrNameLst>
                                      </p:cBhvr>
                                      <p:to>
                                        <p:strVal val="visible"/>
                                      </p:to>
                                    </p:set>
                                    <p:anim calcmode="lin" valueType="num">
                                      <p:cBhvr additive="base">
                                        <p:cTn id="26" dur="500" fill="hold"/>
                                        <p:tgtEl>
                                          <p:spTgt spid="413717"/>
                                        </p:tgtEl>
                                        <p:attrNameLst>
                                          <p:attrName>ppt_x</p:attrName>
                                        </p:attrNameLst>
                                      </p:cBhvr>
                                      <p:tavLst>
                                        <p:tav tm="0">
                                          <p:val>
                                            <p:strVal val="0-#ppt_w/2"/>
                                          </p:val>
                                        </p:tav>
                                        <p:tav tm="100000">
                                          <p:val>
                                            <p:strVal val="#ppt_x"/>
                                          </p:val>
                                        </p:tav>
                                      </p:tavLst>
                                    </p:anim>
                                    <p:anim calcmode="lin" valueType="num">
                                      <p:cBhvr additive="base">
                                        <p:cTn id="27" dur="500" fill="hold"/>
                                        <p:tgtEl>
                                          <p:spTgt spid="413717"/>
                                        </p:tgtEl>
                                        <p:attrNameLst>
                                          <p:attrName>ppt_y</p:attrName>
                                        </p:attrNameLst>
                                      </p:cBhvr>
                                      <p:tavLst>
                                        <p:tav tm="0">
                                          <p:val>
                                            <p:strVal val="#ppt_y"/>
                                          </p:val>
                                        </p:tav>
                                        <p:tav tm="100000">
                                          <p:val>
                                            <p:strVal val="#ppt_y"/>
                                          </p:val>
                                        </p:tav>
                                      </p:tavLst>
                                    </p:anim>
                                  </p:childTnLst>
                                </p:cTn>
                              </p:par>
                            </p:childTnLst>
                          </p:cTn>
                        </p:par>
                        <p:par>
                          <p:cTn id="28" fill="hold">
                            <p:stCondLst>
                              <p:cond delay="1000"/>
                            </p:stCondLst>
                            <p:childTnLst>
                              <p:par>
                                <p:cTn id="29" presetID="22" presetClass="entr" presetSubtype="8" fill="hold" nodeType="afterEffect">
                                  <p:stCondLst>
                                    <p:cond delay="0"/>
                                  </p:stCondLst>
                                  <p:childTnLst>
                                    <p:set>
                                      <p:cBhvr>
                                        <p:cTn id="30" dur="1" fill="hold">
                                          <p:stCondLst>
                                            <p:cond delay="0"/>
                                          </p:stCondLst>
                                        </p:cTn>
                                        <p:tgtEl>
                                          <p:spTgt spid="413711"/>
                                        </p:tgtEl>
                                        <p:attrNameLst>
                                          <p:attrName>style.visibility</p:attrName>
                                        </p:attrNameLst>
                                      </p:cBhvr>
                                      <p:to>
                                        <p:strVal val="visible"/>
                                      </p:to>
                                    </p:set>
                                    <p:animEffect transition="in" filter="wipe(left)">
                                      <p:cBhvr>
                                        <p:cTn id="31" dur="500"/>
                                        <p:tgtEl>
                                          <p:spTgt spid="41371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413706"/>
                                        </p:tgtEl>
                                        <p:attrNameLst>
                                          <p:attrName>style.visibility</p:attrName>
                                        </p:attrNameLst>
                                      </p:cBhvr>
                                      <p:to>
                                        <p:strVal val="visible"/>
                                      </p:to>
                                    </p:set>
                                    <p:animEffect transition="in" filter="wipe(right)">
                                      <p:cBhvr>
                                        <p:cTn id="36" dur="500"/>
                                        <p:tgtEl>
                                          <p:spTgt spid="413706"/>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413714"/>
                                        </p:tgtEl>
                                        <p:attrNameLst>
                                          <p:attrName>style.visibility</p:attrName>
                                        </p:attrNameLst>
                                      </p:cBhvr>
                                      <p:to>
                                        <p:strVal val="visible"/>
                                      </p:to>
                                    </p:set>
                                    <p:animEffect transition="in" filter="wipe(left)">
                                      <p:cBhvr>
                                        <p:cTn id="40" dur="500"/>
                                        <p:tgtEl>
                                          <p:spTgt spid="413714"/>
                                        </p:tgtEl>
                                      </p:cBhvr>
                                    </p:animEffect>
                                  </p:childTnLst>
                                </p:cTn>
                              </p:par>
                            </p:childTnLst>
                          </p:cTn>
                        </p:par>
                        <p:par>
                          <p:cTn id="41" fill="hold">
                            <p:stCondLst>
                              <p:cond delay="1000"/>
                            </p:stCondLst>
                            <p:childTnLst>
                              <p:par>
                                <p:cTn id="42" presetID="12" presetClass="entr" presetSubtype="4" fill="hold" nodeType="afterEffect">
                                  <p:stCondLst>
                                    <p:cond delay="0"/>
                                  </p:stCondLst>
                                  <p:childTnLst>
                                    <p:set>
                                      <p:cBhvr>
                                        <p:cTn id="43" dur="1" fill="hold">
                                          <p:stCondLst>
                                            <p:cond delay="0"/>
                                          </p:stCondLst>
                                        </p:cTn>
                                        <p:tgtEl>
                                          <p:spTgt spid="413718"/>
                                        </p:tgtEl>
                                        <p:attrNameLst>
                                          <p:attrName>style.visibility</p:attrName>
                                        </p:attrNameLst>
                                      </p:cBhvr>
                                      <p:to>
                                        <p:strVal val="visible"/>
                                      </p:to>
                                    </p:set>
                                    <p:animEffect transition="in" filter="slide(fromBottom)">
                                      <p:cBhvr>
                                        <p:cTn id="44" dur="500"/>
                                        <p:tgtEl>
                                          <p:spTgt spid="4137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698" grpId="0" animBg="1"/>
      <p:bldP spid="413710" grpId="0" autoUpdateAnimBg="0"/>
      <p:bldP spid="413717"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200" y="1832664"/>
            <a:ext cx="7996469" cy="576064"/>
          </a:xfrm>
        </p:spPr>
        <p:txBody>
          <a:bodyPr>
            <a:normAutofit/>
          </a:bodyPr>
          <a:lstStyle/>
          <a:p>
            <a:r>
              <a:rPr lang="en-US" altLang="zh-CN" sz="2000" dirty="0"/>
              <a:t>Exynos4412-GPIO</a:t>
            </a:r>
            <a:r>
              <a:rPr lang="zh-CN" altLang="zh-CN" sz="2000" dirty="0"/>
              <a:t>控制器详解 </a:t>
            </a:r>
            <a:endParaRPr kumimoji="1" lang="zh-CN" altLang="en-US" sz="2000" dirty="0"/>
          </a:p>
        </p:txBody>
      </p:sp>
      <p:sp>
        <p:nvSpPr>
          <p:cNvPr id="3" name="文本占位符 2"/>
          <p:cNvSpPr>
            <a:spLocks noGrp="1"/>
          </p:cNvSpPr>
          <p:nvPr>
            <p:ph type="body" sz="quarter" idx="10"/>
          </p:nvPr>
        </p:nvSpPr>
        <p:spPr>
          <a:xfrm>
            <a:off x="787200" y="2244435"/>
            <a:ext cx="10685397" cy="3872863"/>
          </a:xfrm>
        </p:spPr>
        <p:txBody>
          <a:bodyPr/>
          <a:lstStyle/>
          <a:p>
            <a:r>
              <a:rPr lang="en-GB" altLang="zh-CN" dirty="0"/>
              <a:t>GPIO</a:t>
            </a:r>
            <a:r>
              <a:rPr lang="zh-CN" altLang="zh-CN" dirty="0"/>
              <a:t>功能概括图 </a:t>
            </a:r>
            <a:endParaRPr lang="en-US" altLang="zh-CN" dirty="0"/>
          </a:p>
          <a:p>
            <a:endParaRPr kumimoji="1" lang="zh-CN" altLang="en-US" dirty="0"/>
          </a:p>
        </p:txBody>
      </p:sp>
      <p:pic>
        <p:nvPicPr>
          <p:cNvPr id="5" name="图片 4" descr="6-1"/>
          <p:cNvPicPr/>
          <p:nvPr/>
        </p:nvPicPr>
        <p:blipFill>
          <a:blip r:embed="rId2"/>
          <a:srcRect/>
          <a:stretch>
            <a:fillRect/>
          </a:stretch>
        </p:blipFill>
        <p:spPr>
          <a:xfrm>
            <a:off x="3518746" y="2357860"/>
            <a:ext cx="5154507" cy="4284980"/>
          </a:xfrm>
          <a:prstGeom prst="rect">
            <a:avLst/>
          </a:prstGeom>
          <a:noFill/>
          <a:ln w="9525">
            <a:noFill/>
            <a:miter lim="800000"/>
            <a:headEnd/>
            <a:tailEnd/>
          </a:ln>
        </p:spPr>
      </p:pic>
      <p:sp>
        <p:nvSpPr>
          <p:cNvPr id="4" name="矩形 3">
            <a:extLst>
              <a:ext uri="{FF2B5EF4-FFF2-40B4-BE49-F238E27FC236}">
                <a16:creationId xmlns:a16="http://schemas.microsoft.com/office/drawing/2014/main" id="{8FCF3474-4F7C-4A1E-8DE1-C24D85E712EF}"/>
              </a:ext>
            </a:extLst>
          </p:cNvPr>
          <p:cNvSpPr/>
          <p:nvPr/>
        </p:nvSpPr>
        <p:spPr>
          <a:xfrm>
            <a:off x="868785" y="1011007"/>
            <a:ext cx="9476782" cy="707886"/>
          </a:xfrm>
          <a:prstGeom prst="rect">
            <a:avLst/>
          </a:prstGeom>
        </p:spPr>
        <p:txBody>
          <a:bodyPr wrap="square">
            <a:spAutoFit/>
          </a:bodyPr>
          <a:lstStyle/>
          <a:p>
            <a:r>
              <a:rPr lang="en-US" altLang="zh-CN" sz="4000" dirty="0"/>
              <a:t>5.2.5</a:t>
            </a:r>
            <a:r>
              <a:rPr lang="en-US" altLang="zh-CN" dirty="0"/>
              <a:t> </a:t>
            </a:r>
            <a:r>
              <a:rPr lang="en-US" altLang="zh-CN" sz="4000" dirty="0"/>
              <a:t>Exynos4412-GPIO</a:t>
            </a:r>
            <a:r>
              <a:rPr lang="en-US" altLang="zh-CN" dirty="0"/>
              <a:t> </a:t>
            </a:r>
            <a:endParaRPr lang="zh-CN" altLang="en-US" dirty="0"/>
          </a:p>
        </p:txBody>
      </p:sp>
    </p:spTree>
    <p:extLst>
      <p:ext uri="{BB962C8B-B14F-4D97-AF65-F5344CB8AC3E}">
        <p14:creationId xmlns:p14="http://schemas.microsoft.com/office/powerpoint/2010/main" val="65212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Exynos4412-GPIO</a:t>
            </a:r>
            <a:r>
              <a:rPr lang="zh-CN" altLang="zh-CN" dirty="0"/>
              <a:t>控制器详解 </a:t>
            </a:r>
            <a:endParaRPr kumimoji="1" lang="zh-CN" altLang="en-US" dirty="0"/>
          </a:p>
        </p:txBody>
      </p:sp>
      <p:sp>
        <p:nvSpPr>
          <p:cNvPr id="3" name="文本占位符 2"/>
          <p:cNvSpPr>
            <a:spLocks noGrp="1"/>
          </p:cNvSpPr>
          <p:nvPr>
            <p:ph type="body" sz="quarter" idx="10"/>
          </p:nvPr>
        </p:nvSpPr>
        <p:spPr/>
        <p:txBody>
          <a:bodyPr/>
          <a:lstStyle/>
          <a:p>
            <a:r>
              <a:rPr lang="en-US" altLang="zh-CN" dirty="0"/>
              <a:t>Exynos4412</a:t>
            </a:r>
            <a:r>
              <a:rPr lang="zh-CN" altLang="zh-CN" dirty="0"/>
              <a:t>芯片的</a:t>
            </a:r>
            <a:r>
              <a:rPr lang="en-US" altLang="zh-CN" dirty="0"/>
              <a:t>GPIO</a:t>
            </a:r>
            <a:r>
              <a:rPr lang="zh-CN" altLang="zh-CN" dirty="0"/>
              <a:t>特性包括如下几点：</a:t>
            </a:r>
          </a:p>
          <a:p>
            <a:pPr lvl="1"/>
            <a:r>
              <a:rPr lang="en-US" altLang="zh-CN" dirty="0"/>
              <a:t>146</a:t>
            </a:r>
            <a:r>
              <a:rPr lang="zh-CN" altLang="zh-CN" dirty="0"/>
              <a:t>个可中断通用控制</a:t>
            </a:r>
            <a:r>
              <a:rPr lang="en-US" altLang="zh-CN" dirty="0"/>
              <a:t>I/O</a:t>
            </a:r>
            <a:endParaRPr lang="zh-CN" altLang="zh-CN" dirty="0"/>
          </a:p>
          <a:p>
            <a:pPr lvl="1"/>
            <a:r>
              <a:rPr lang="en-US" altLang="zh-CN" dirty="0"/>
              <a:t>172</a:t>
            </a:r>
            <a:r>
              <a:rPr lang="zh-CN" altLang="zh-CN" dirty="0"/>
              <a:t>个外部中断</a:t>
            </a:r>
          </a:p>
          <a:p>
            <a:pPr lvl="1"/>
            <a:r>
              <a:rPr lang="en-US" altLang="zh-CN" dirty="0"/>
              <a:t>32</a:t>
            </a:r>
            <a:r>
              <a:rPr lang="zh-CN" altLang="zh-CN" dirty="0"/>
              <a:t>个外部可唤醒中断</a:t>
            </a:r>
          </a:p>
          <a:p>
            <a:pPr lvl="1"/>
            <a:r>
              <a:rPr lang="en-US" altLang="zh-CN" dirty="0"/>
              <a:t>252</a:t>
            </a:r>
            <a:r>
              <a:rPr lang="zh-CN" altLang="zh-CN" dirty="0"/>
              <a:t>个多路复用</a:t>
            </a:r>
            <a:r>
              <a:rPr lang="en-US" altLang="zh-CN" dirty="0"/>
              <a:t>I/O</a:t>
            </a:r>
            <a:r>
              <a:rPr lang="zh-CN" altLang="zh-CN" dirty="0"/>
              <a:t>口</a:t>
            </a:r>
          </a:p>
          <a:p>
            <a:pPr lvl="1"/>
            <a:r>
              <a:rPr lang="zh-CN" altLang="zh-CN" dirty="0"/>
              <a:t>睡眠模式引脚状态可控（除了</a:t>
            </a:r>
            <a:r>
              <a:rPr lang="en-US" altLang="zh-CN" dirty="0"/>
              <a:t>GPX0</a:t>
            </a:r>
            <a:r>
              <a:rPr lang="zh-CN" altLang="zh-CN" dirty="0"/>
              <a:t>、</a:t>
            </a:r>
            <a:r>
              <a:rPr lang="en-US" altLang="zh-CN" dirty="0"/>
              <a:t>GPX1</a:t>
            </a:r>
            <a:r>
              <a:rPr lang="zh-CN" altLang="zh-CN" dirty="0"/>
              <a:t>、</a:t>
            </a:r>
            <a:r>
              <a:rPr lang="en-US" altLang="zh-CN" dirty="0"/>
              <a:t>GPH2</a:t>
            </a:r>
            <a:r>
              <a:rPr lang="zh-CN" altLang="zh-CN" dirty="0"/>
              <a:t>和</a:t>
            </a:r>
            <a:r>
              <a:rPr lang="en-US" altLang="zh-CN" dirty="0"/>
              <a:t>GPH3</a:t>
            </a:r>
            <a:r>
              <a:rPr lang="zh-CN" altLang="zh-CN" dirty="0"/>
              <a:t>）。 </a:t>
            </a:r>
            <a:endParaRPr kumimoji="1" lang="zh-CN" altLang="en-US" dirty="0"/>
          </a:p>
        </p:txBody>
      </p:sp>
    </p:spTree>
    <p:extLst>
      <p:ext uri="{BB962C8B-B14F-4D97-AF65-F5344CB8AC3E}">
        <p14:creationId xmlns:p14="http://schemas.microsoft.com/office/powerpoint/2010/main" val="11066452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Exynos4412-GPIO</a:t>
            </a:r>
            <a:r>
              <a:rPr lang="zh-CN" altLang="zh-CN" dirty="0"/>
              <a:t>控制器详解 </a:t>
            </a:r>
            <a:endParaRPr kumimoji="1" lang="zh-CN" altLang="en-US" dirty="0"/>
          </a:p>
        </p:txBody>
      </p:sp>
      <p:sp>
        <p:nvSpPr>
          <p:cNvPr id="3" name="文本占位符 2"/>
          <p:cNvSpPr>
            <a:spLocks noGrp="1"/>
          </p:cNvSpPr>
          <p:nvPr>
            <p:ph type="body" sz="quarter" idx="10"/>
          </p:nvPr>
        </p:nvSpPr>
        <p:spPr/>
        <p:txBody>
          <a:bodyPr/>
          <a:lstStyle/>
          <a:p>
            <a:pPr marL="0" indent="0">
              <a:buNone/>
            </a:pPr>
            <a:r>
              <a:rPr lang="en-US" altLang="zh-CN" dirty="0"/>
              <a:t>GPIO</a:t>
            </a:r>
            <a:r>
              <a:rPr lang="zh-CN" altLang="zh-CN" dirty="0"/>
              <a:t>分组 </a:t>
            </a:r>
            <a:endParaRPr lang="en-US" altLang="zh-CN" dirty="0"/>
          </a:p>
          <a:p>
            <a:pPr lvl="2"/>
            <a:r>
              <a:rPr lang="en-US" altLang="zh-CN" dirty="0"/>
              <a:t>GPA0, GPA1: 14 in/out ports-3xUART </a:t>
            </a:r>
            <a:r>
              <a:rPr lang="zh-CN" altLang="zh-CN" dirty="0"/>
              <a:t>带控制流、</a:t>
            </a:r>
            <a:r>
              <a:rPr lang="en-US" altLang="zh-CN" dirty="0"/>
              <a:t> UART</a:t>
            </a:r>
            <a:r>
              <a:rPr lang="zh-CN" altLang="zh-CN" dirty="0"/>
              <a:t>不带控制流，或</a:t>
            </a:r>
            <a:r>
              <a:rPr lang="en-US" altLang="zh-CN" dirty="0"/>
              <a:t>2xI2C</a:t>
            </a:r>
            <a:r>
              <a:rPr lang="zh-CN" altLang="zh-CN" dirty="0"/>
              <a:t>接口。</a:t>
            </a:r>
          </a:p>
          <a:p>
            <a:pPr lvl="2"/>
            <a:r>
              <a:rPr lang="en-US" altLang="zh-CN" dirty="0"/>
              <a:t>GPB: 8 in/out ports-2xSPI </a:t>
            </a:r>
            <a:r>
              <a:rPr lang="zh-CN" altLang="zh-CN" dirty="0"/>
              <a:t>接口，或</a:t>
            </a:r>
            <a:r>
              <a:rPr lang="en-US" altLang="zh-CN" dirty="0"/>
              <a:t>2xI2C</a:t>
            </a:r>
            <a:r>
              <a:rPr lang="zh-CN" altLang="zh-CN" dirty="0"/>
              <a:t>接口，或</a:t>
            </a:r>
            <a:r>
              <a:rPr lang="en-US" altLang="zh-CN" dirty="0"/>
              <a:t>IEM</a:t>
            </a:r>
            <a:r>
              <a:rPr lang="zh-CN" altLang="zh-CN" dirty="0"/>
              <a:t>接口</a:t>
            </a:r>
          </a:p>
          <a:p>
            <a:pPr lvl="2"/>
            <a:r>
              <a:rPr lang="en-US" altLang="zh-CN" dirty="0"/>
              <a:t>GPC0, GPC1: 10 in/out ports-2xI2S</a:t>
            </a:r>
            <a:r>
              <a:rPr lang="zh-CN" altLang="zh-CN" dirty="0"/>
              <a:t>接口，或</a:t>
            </a:r>
            <a:r>
              <a:rPr lang="en-US" altLang="zh-CN" dirty="0"/>
              <a:t>2xPCM</a:t>
            </a:r>
            <a:r>
              <a:rPr lang="zh-CN" altLang="zh-CN" dirty="0"/>
              <a:t>接口，或</a:t>
            </a:r>
            <a:r>
              <a:rPr lang="en-US" altLang="zh-CN" dirty="0"/>
              <a:t>AC97</a:t>
            </a:r>
            <a:r>
              <a:rPr lang="zh-CN" altLang="zh-CN" dirty="0"/>
              <a:t>接口、</a:t>
            </a:r>
            <a:r>
              <a:rPr lang="en-US" altLang="zh-CN" dirty="0"/>
              <a:t>SPDIF</a:t>
            </a:r>
            <a:r>
              <a:rPr lang="zh-CN" altLang="zh-CN" dirty="0"/>
              <a:t>接口、</a:t>
            </a:r>
            <a:r>
              <a:rPr lang="en-US" altLang="zh-CN" dirty="0"/>
              <a:t>I2C</a:t>
            </a:r>
            <a:r>
              <a:rPr lang="zh-CN" altLang="zh-CN" dirty="0"/>
              <a:t>接口，或</a:t>
            </a:r>
            <a:r>
              <a:rPr lang="en-US" altLang="zh-CN" dirty="0"/>
              <a:t> SPI</a:t>
            </a:r>
            <a:r>
              <a:rPr lang="zh-CN" altLang="zh-CN" dirty="0"/>
              <a:t>接口</a:t>
            </a:r>
          </a:p>
          <a:p>
            <a:pPr lvl="2"/>
            <a:r>
              <a:rPr lang="en-US" altLang="zh-CN" dirty="0"/>
              <a:t>GPD0, GPD1: 8 in/out ports-PWM</a:t>
            </a:r>
            <a:r>
              <a:rPr lang="zh-CN" altLang="zh-CN" dirty="0"/>
              <a:t>接口、</a:t>
            </a:r>
            <a:r>
              <a:rPr lang="en-US" altLang="zh-CN" dirty="0"/>
              <a:t>2xI2C</a:t>
            </a:r>
            <a:r>
              <a:rPr lang="zh-CN" altLang="zh-CN" dirty="0"/>
              <a:t>接口、</a:t>
            </a:r>
            <a:r>
              <a:rPr lang="en-US" altLang="zh-CN" dirty="0"/>
              <a:t>LCD I/F</a:t>
            </a:r>
            <a:r>
              <a:rPr lang="zh-CN" altLang="zh-CN" dirty="0"/>
              <a:t>接口、</a:t>
            </a:r>
            <a:r>
              <a:rPr lang="en-US" altLang="zh-CN" dirty="0"/>
              <a:t>MIPI</a:t>
            </a:r>
            <a:r>
              <a:rPr lang="zh-CN" altLang="zh-CN" dirty="0"/>
              <a:t>接口</a:t>
            </a:r>
          </a:p>
          <a:p>
            <a:pPr lvl="2"/>
            <a:r>
              <a:rPr lang="en-US" altLang="zh-CN" dirty="0"/>
              <a:t>GPM0, GPM1, GPM2, GPM3, GPM4: 35 in/out ports-CAM I/F</a:t>
            </a:r>
            <a:r>
              <a:rPr lang="zh-CN" altLang="zh-CN" dirty="0"/>
              <a:t>接口，或</a:t>
            </a:r>
            <a:r>
              <a:rPr lang="en-US" altLang="zh-CN" dirty="0"/>
              <a:t> TS I/F</a:t>
            </a:r>
            <a:r>
              <a:rPr lang="zh-CN" altLang="zh-CN" dirty="0"/>
              <a:t>接口、</a:t>
            </a:r>
            <a:r>
              <a:rPr lang="en-US" altLang="zh-CN" dirty="0"/>
              <a:t> HIS</a:t>
            </a:r>
            <a:r>
              <a:rPr lang="zh-CN" altLang="zh-CN" dirty="0"/>
              <a:t>接口，或</a:t>
            </a:r>
            <a:r>
              <a:rPr lang="en-US" altLang="zh-CN" dirty="0"/>
              <a:t>Trace I/F</a:t>
            </a:r>
            <a:r>
              <a:rPr lang="zh-CN" altLang="zh-CN" dirty="0"/>
              <a:t>接口</a:t>
            </a:r>
          </a:p>
          <a:p>
            <a:pPr lvl="2"/>
            <a:r>
              <a:rPr lang="en-US" altLang="zh-CN" dirty="0"/>
              <a:t>GPF0, GPF1, GPF2, GPF3: 30 in/out ports-LCD I/F</a:t>
            </a:r>
            <a:r>
              <a:rPr lang="zh-CN" altLang="zh-CN" dirty="0"/>
              <a:t>接口</a:t>
            </a:r>
          </a:p>
          <a:p>
            <a:pPr lvl="2"/>
            <a:r>
              <a:rPr lang="en-US" altLang="zh-CN" dirty="0"/>
              <a:t>GPJ0, GPJ1: 13 in/out ports-CAM I/F</a:t>
            </a:r>
            <a:r>
              <a:rPr lang="zh-CN" altLang="zh-CN" dirty="0"/>
              <a:t>接口</a:t>
            </a:r>
          </a:p>
          <a:p>
            <a:pPr lvl="2"/>
            <a:r>
              <a:rPr lang="en-US" altLang="zh-CN" dirty="0"/>
              <a:t>GPK0, GPK1, GPK2, GPK3: 28 in/out ports-4xMMC (4-bit MMC)</a:t>
            </a:r>
            <a:r>
              <a:rPr lang="zh-CN" altLang="zh-CN" dirty="0"/>
              <a:t>接口，或</a:t>
            </a:r>
            <a:r>
              <a:rPr lang="en-US" altLang="zh-CN" dirty="0"/>
              <a:t> 2xMMC (8-bit MMC) )</a:t>
            </a:r>
            <a:r>
              <a:rPr lang="zh-CN" altLang="zh-CN" dirty="0"/>
              <a:t>接口</a:t>
            </a:r>
            <a:r>
              <a:rPr lang="en-US" altLang="zh-CN" dirty="0"/>
              <a:t>, </a:t>
            </a:r>
            <a:r>
              <a:rPr lang="zh-CN" altLang="zh-CN" dirty="0"/>
              <a:t>或</a:t>
            </a:r>
            <a:r>
              <a:rPr lang="en-US" altLang="zh-CN" dirty="0"/>
              <a:t>GPS debugging I/F</a:t>
            </a:r>
            <a:r>
              <a:rPr lang="zh-CN" altLang="zh-CN" dirty="0"/>
              <a:t>接口</a:t>
            </a:r>
          </a:p>
          <a:p>
            <a:pPr lvl="2"/>
            <a:r>
              <a:rPr lang="en-US" altLang="zh-CN" dirty="0"/>
              <a:t>GPL0, GPL1: 11 in/out ports-GPS I/F</a:t>
            </a:r>
            <a:r>
              <a:rPr lang="zh-CN" altLang="zh-CN" dirty="0"/>
              <a:t>接口</a:t>
            </a:r>
          </a:p>
          <a:p>
            <a:pPr lvl="2"/>
            <a:r>
              <a:rPr lang="en-US" altLang="zh-CN" dirty="0"/>
              <a:t>GPL2: 8 in/out ports-GPS debugging I/F </a:t>
            </a:r>
            <a:r>
              <a:rPr lang="zh-CN" altLang="zh-CN" dirty="0"/>
              <a:t>接口，或键盘</a:t>
            </a:r>
            <a:r>
              <a:rPr lang="en-US" altLang="zh-CN" dirty="0"/>
              <a:t> I/F</a:t>
            </a:r>
            <a:r>
              <a:rPr lang="zh-CN" altLang="zh-CN" dirty="0"/>
              <a:t>接口</a:t>
            </a:r>
          </a:p>
          <a:p>
            <a:pPr lvl="2"/>
            <a:r>
              <a:rPr lang="en-US" altLang="zh-CN" dirty="0"/>
              <a:t>GPX0, GPX1, GPX2, GPX3: 32 in/out ports-</a:t>
            </a:r>
            <a:r>
              <a:rPr lang="zh-CN" altLang="zh-CN" dirty="0"/>
              <a:t>外部可唤醒中断，或键盘</a:t>
            </a:r>
            <a:r>
              <a:rPr lang="en-US" altLang="zh-CN" dirty="0"/>
              <a:t>I/F</a:t>
            </a:r>
            <a:r>
              <a:rPr lang="zh-CN" altLang="zh-CN" dirty="0"/>
              <a:t>接口</a:t>
            </a:r>
          </a:p>
          <a:p>
            <a:pPr lvl="1"/>
            <a:endParaRPr kumimoji="1" lang="zh-CN" altLang="en-US" dirty="0"/>
          </a:p>
        </p:txBody>
      </p:sp>
    </p:spTree>
    <p:extLst>
      <p:ext uri="{BB962C8B-B14F-4D97-AF65-F5344CB8AC3E}">
        <p14:creationId xmlns:p14="http://schemas.microsoft.com/office/powerpoint/2010/main" val="14344478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Exynos4412-GPIO</a:t>
            </a:r>
            <a:r>
              <a:rPr lang="zh-CN" altLang="zh-CN" dirty="0"/>
              <a:t>控制器详解 </a:t>
            </a:r>
            <a:endParaRPr kumimoji="1" lang="zh-CN" altLang="en-US" dirty="0"/>
          </a:p>
        </p:txBody>
      </p:sp>
      <p:sp>
        <p:nvSpPr>
          <p:cNvPr id="3" name="文本占位符 2"/>
          <p:cNvSpPr>
            <a:spLocks noGrp="1"/>
          </p:cNvSpPr>
          <p:nvPr>
            <p:ph type="body" sz="quarter" idx="10"/>
          </p:nvPr>
        </p:nvSpPr>
        <p:spPr/>
        <p:txBody>
          <a:bodyPr/>
          <a:lstStyle/>
          <a:p>
            <a:r>
              <a:rPr lang="en-US" altLang="zh-CN" dirty="0"/>
              <a:t>GPIO</a:t>
            </a:r>
            <a:r>
              <a:rPr lang="zh-CN" altLang="zh-CN" dirty="0"/>
              <a:t>常用寄存器分类</a:t>
            </a:r>
            <a:endParaRPr lang="en-US" altLang="zh-CN" dirty="0"/>
          </a:p>
          <a:p>
            <a:endParaRPr lang="en-US" altLang="zh-CN" dirty="0"/>
          </a:p>
          <a:p>
            <a:pPr lvl="1"/>
            <a:r>
              <a:rPr lang="en-US" altLang="zh-CN" dirty="0"/>
              <a:t>1</a:t>
            </a:r>
            <a:r>
              <a:rPr lang="zh-CN" altLang="zh-CN" dirty="0"/>
              <a:t>．引脚控制寄存器（</a:t>
            </a:r>
            <a:r>
              <a:rPr lang="en-US" altLang="zh-CN" dirty="0"/>
              <a:t>GPxCON  x=A0~V4</a:t>
            </a:r>
            <a:r>
              <a:rPr lang="zh-CN" altLang="zh-CN" dirty="0"/>
              <a:t>）</a:t>
            </a:r>
            <a:endParaRPr lang="en-US" altLang="zh-CN" dirty="0"/>
          </a:p>
          <a:p>
            <a:pPr lvl="1"/>
            <a:r>
              <a:rPr lang="en-US" altLang="zh-CN" dirty="0"/>
              <a:t>2</a:t>
            </a:r>
            <a:r>
              <a:rPr lang="zh-CN" altLang="zh-CN" dirty="0"/>
              <a:t>．引脚数据寄存器（</a:t>
            </a:r>
            <a:r>
              <a:rPr lang="en-US" altLang="zh-CN" dirty="0"/>
              <a:t>GPxDAT  x=A0~V4</a:t>
            </a:r>
            <a:r>
              <a:rPr lang="zh-CN" altLang="zh-CN" dirty="0"/>
              <a:t>）</a:t>
            </a:r>
            <a:endParaRPr lang="en-US" altLang="zh-CN" dirty="0"/>
          </a:p>
          <a:p>
            <a:pPr lvl="1"/>
            <a:r>
              <a:rPr lang="en-US" altLang="zh-CN" dirty="0"/>
              <a:t>3</a:t>
            </a:r>
            <a:r>
              <a:rPr lang="zh-CN" altLang="zh-CN" dirty="0"/>
              <a:t>．引脚上下拉设置寄存器（</a:t>
            </a:r>
            <a:r>
              <a:rPr lang="en-US" altLang="zh-CN" dirty="0" err="1"/>
              <a:t>GPxPU</a:t>
            </a:r>
            <a:r>
              <a:rPr lang="zh-CN" altLang="en-US" dirty="0"/>
              <a:t> </a:t>
            </a:r>
            <a:r>
              <a:rPr lang="en-US" altLang="zh-CN" dirty="0"/>
              <a:t>x=A0~V4</a:t>
            </a:r>
            <a:r>
              <a:rPr lang="zh-CN" altLang="zh-CN" dirty="0"/>
              <a:t>）</a:t>
            </a:r>
            <a:endParaRPr lang="en-US" altLang="zh-CN" dirty="0"/>
          </a:p>
          <a:p>
            <a:pPr lvl="1"/>
            <a:r>
              <a:rPr lang="en-US" altLang="zh-CN" dirty="0"/>
              <a:t>4</a:t>
            </a:r>
            <a:r>
              <a:rPr lang="zh-CN" altLang="zh-CN" dirty="0"/>
              <a:t>．引脚驱动能力寄存器（</a:t>
            </a:r>
            <a:r>
              <a:rPr lang="en-US" altLang="zh-CN" dirty="0"/>
              <a:t>GPxDRV  x=A0~V4</a:t>
            </a:r>
            <a:r>
              <a:rPr lang="zh-CN" altLang="zh-CN" dirty="0"/>
              <a:t>）</a:t>
            </a:r>
            <a:endParaRPr lang="en-US" altLang="zh-CN" dirty="0"/>
          </a:p>
          <a:p>
            <a:pPr lvl="1"/>
            <a:r>
              <a:rPr lang="en-US" altLang="zh-CN" dirty="0"/>
              <a:t>5</a:t>
            </a:r>
            <a:r>
              <a:rPr lang="zh-CN" altLang="zh-CN" dirty="0"/>
              <a:t>．低功耗模式引脚功能控制寄存器（</a:t>
            </a:r>
            <a:r>
              <a:rPr lang="en-US" altLang="zh-CN" dirty="0"/>
              <a:t>GPxCONPDn  x=A0~V4</a:t>
            </a:r>
            <a:r>
              <a:rPr lang="zh-CN" altLang="zh-CN" dirty="0"/>
              <a:t>）</a:t>
            </a:r>
            <a:endParaRPr lang="en-US" altLang="zh-CN" dirty="0"/>
          </a:p>
          <a:p>
            <a:pPr lvl="1"/>
            <a:r>
              <a:rPr lang="en-US" altLang="zh-CN" dirty="0"/>
              <a:t>6</a:t>
            </a:r>
            <a:r>
              <a:rPr lang="zh-CN" altLang="zh-CN" dirty="0"/>
              <a:t>．低功耗引脚上下拉设置寄存器（</a:t>
            </a:r>
            <a:r>
              <a:rPr lang="en-US" altLang="zh-CN" dirty="0"/>
              <a:t>GPxPUDPDN  x=A0~V4</a:t>
            </a:r>
            <a:r>
              <a:rPr lang="zh-CN" altLang="zh-CN" dirty="0"/>
              <a:t>）</a:t>
            </a:r>
          </a:p>
          <a:p>
            <a:endParaRPr lang="zh-CN" altLang="zh-CN" dirty="0"/>
          </a:p>
          <a:p>
            <a:endParaRPr lang="zh-CN" altLang="zh-CN" dirty="0"/>
          </a:p>
          <a:p>
            <a:endParaRPr lang="zh-CN" altLang="zh-CN" dirty="0"/>
          </a:p>
          <a:p>
            <a:endParaRPr lang="zh-CN" altLang="zh-CN" dirty="0"/>
          </a:p>
          <a:p>
            <a:endParaRPr lang="zh-CN" altLang="zh-CN" dirty="0"/>
          </a:p>
          <a:p>
            <a:endParaRPr lang="zh-CN" altLang="zh-CN" dirty="0"/>
          </a:p>
        </p:txBody>
      </p:sp>
    </p:spTree>
    <p:extLst>
      <p:ext uri="{BB962C8B-B14F-4D97-AF65-F5344CB8AC3E}">
        <p14:creationId xmlns:p14="http://schemas.microsoft.com/office/powerpoint/2010/main" val="2971374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 GPIO</a:t>
            </a:r>
            <a:r>
              <a:rPr lang="zh-CN" altLang="zh-CN" dirty="0"/>
              <a:t>寄存器封装 </a:t>
            </a:r>
            <a:endParaRPr kumimoji="1" lang="zh-CN" altLang="en-US" dirty="0"/>
          </a:p>
        </p:txBody>
      </p:sp>
      <p:sp>
        <p:nvSpPr>
          <p:cNvPr id="3" name="文本占位符 2"/>
          <p:cNvSpPr>
            <a:spLocks noGrp="1"/>
          </p:cNvSpPr>
          <p:nvPr>
            <p:ph type="body" sz="quarter" idx="10"/>
          </p:nvPr>
        </p:nvSpPr>
        <p:spPr/>
        <p:txBody>
          <a:bodyPr/>
          <a:lstStyle/>
          <a:p>
            <a:r>
              <a:rPr lang="en-US" altLang="zh-CN" dirty="0"/>
              <a:t>1</a:t>
            </a:r>
            <a:r>
              <a:rPr lang="zh-CN" altLang="zh-CN" dirty="0"/>
              <a:t>．第一种方式是直接一对一封装</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None/>
            </a:pPr>
            <a:r>
              <a:rPr lang="en-US" altLang="zh-CN" kern="100" dirty="0">
                <a:latin typeface="Times New Roman" charset="0"/>
                <a:ea typeface="宋体" charset="-122"/>
              </a:rPr>
              <a:t>       GPIO</a:t>
            </a:r>
            <a:r>
              <a:rPr lang="zh-CN" altLang="zh-CN" kern="100" dirty="0">
                <a:latin typeface="Times New Roman" charset="0"/>
                <a:ea typeface="宋体" charset="-122"/>
                <a:cs typeface="Times New Roman" charset="0"/>
              </a:rPr>
              <a:t>寄存器封装</a:t>
            </a:r>
            <a:r>
              <a:rPr lang="zh-CN" altLang="zh-CN" dirty="0"/>
              <a:t> </a:t>
            </a:r>
            <a:endParaRPr lang="en-US" altLang="zh-CN" dirty="0"/>
          </a:p>
          <a:p>
            <a:pPr marL="0" indent="0">
              <a:buNone/>
            </a:pPr>
            <a:r>
              <a:rPr lang="en-US" altLang="zh-CN" dirty="0"/>
              <a:t>      #define  GPA0CON  </a:t>
            </a:r>
            <a:r>
              <a:rPr lang="zh-CN" altLang="zh-CN" dirty="0"/>
              <a:t>（</a:t>
            </a:r>
            <a:r>
              <a:rPr lang="en-US" altLang="zh-CN" dirty="0"/>
              <a:t>*</a:t>
            </a:r>
            <a:r>
              <a:rPr lang="zh-CN" altLang="zh-CN" dirty="0"/>
              <a:t>（</a:t>
            </a:r>
            <a:r>
              <a:rPr lang="en-US" altLang="zh-CN" dirty="0"/>
              <a:t>volatile unsigned int *</a:t>
            </a:r>
            <a:r>
              <a:rPr lang="zh-CN" altLang="zh-CN" dirty="0"/>
              <a:t>）</a:t>
            </a:r>
            <a:r>
              <a:rPr lang="en-US" altLang="zh-CN" dirty="0"/>
              <a:t>0x11400000</a:t>
            </a:r>
            <a:r>
              <a:rPr lang="zh-CN" altLang="zh-CN" dirty="0"/>
              <a:t>）</a:t>
            </a:r>
          </a:p>
          <a:p>
            <a:endParaRPr lang="zh-CN" altLang="zh-CN" dirty="0"/>
          </a:p>
          <a:p>
            <a:endParaRPr kumimoji="1" lang="zh-CN" altLang="en-US" dirty="0"/>
          </a:p>
        </p:txBody>
      </p:sp>
      <p:sp>
        <p:nvSpPr>
          <p:cNvPr id="4" name="矩形 3"/>
          <p:cNvSpPr/>
          <p:nvPr/>
        </p:nvSpPr>
        <p:spPr>
          <a:xfrm>
            <a:off x="1755697" y="5526154"/>
            <a:ext cx="261610" cy="461665"/>
          </a:xfrm>
          <a:prstGeom prst="rect">
            <a:avLst/>
          </a:prstGeom>
        </p:spPr>
        <p:txBody>
          <a:bodyPr wrap="none">
            <a:spAutoFit/>
          </a:bodyPr>
          <a:lstStyle/>
          <a:p>
            <a:r>
              <a:rPr lang="en-US" altLang="zh-CN" sz="2400" kern="100" dirty="0">
                <a:latin typeface="Times New Roman" charset="0"/>
                <a:ea typeface="宋体" charset="-122"/>
              </a:rPr>
              <a:t> </a:t>
            </a:r>
            <a:endParaRPr lang="zh-CN" altLang="en-US" sz="1600" dirty="0"/>
          </a:p>
        </p:txBody>
      </p:sp>
      <p:pic>
        <p:nvPicPr>
          <p:cNvPr id="5" name="图片 4"/>
          <p:cNvPicPr/>
          <p:nvPr/>
        </p:nvPicPr>
        <p:blipFill>
          <a:blip r:embed="rId2">
            <a:extLst>
              <a:ext uri="{28A0092B-C50C-407E-A947-70E740481C1C}">
                <a14:useLocalDpi xmlns:a14="http://schemas.microsoft.com/office/drawing/2010/main" val="0"/>
              </a:ext>
            </a:extLst>
          </a:blip>
          <a:srcRect b="2024"/>
          <a:stretch>
            <a:fillRect/>
          </a:stretch>
        </p:blipFill>
        <p:spPr>
          <a:xfrm>
            <a:off x="1340509" y="1793222"/>
            <a:ext cx="8332483" cy="2839558"/>
          </a:xfrm>
          <a:prstGeom prst="rect">
            <a:avLst/>
          </a:prstGeom>
          <a:ln>
            <a:noFill/>
          </a:ln>
        </p:spPr>
      </p:pic>
    </p:spTree>
    <p:extLst>
      <p:ext uri="{BB962C8B-B14F-4D97-AF65-F5344CB8AC3E}">
        <p14:creationId xmlns:p14="http://schemas.microsoft.com/office/powerpoint/2010/main" val="1675797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 GPIO</a:t>
            </a:r>
            <a:r>
              <a:rPr lang="zh-CN" altLang="zh-CN" dirty="0"/>
              <a:t>寄存器封装 </a:t>
            </a:r>
            <a:endParaRPr kumimoji="1" lang="zh-CN" altLang="en-US" dirty="0"/>
          </a:p>
        </p:txBody>
      </p:sp>
      <p:sp>
        <p:nvSpPr>
          <p:cNvPr id="3" name="文本占位符 2"/>
          <p:cNvSpPr>
            <a:spLocks noGrp="1"/>
          </p:cNvSpPr>
          <p:nvPr>
            <p:ph type="body" sz="quarter" idx="10"/>
          </p:nvPr>
        </p:nvSpPr>
        <p:spPr/>
        <p:txBody>
          <a:bodyPr/>
          <a:lstStyle/>
          <a:p>
            <a:r>
              <a:rPr lang="en-US" altLang="zh-CN" dirty="0"/>
              <a:t>2</a:t>
            </a:r>
            <a:r>
              <a:rPr lang="zh-CN" altLang="zh-CN" dirty="0"/>
              <a:t>．第二种方式是结构体封装 </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zh-CN" dirty="0"/>
          </a:p>
          <a:p>
            <a:endParaRPr kumimoji="1" lang="zh-CN" altLang="en-US" dirty="0"/>
          </a:p>
        </p:txBody>
      </p:sp>
      <p:sp>
        <p:nvSpPr>
          <p:cNvPr id="4" name="矩形 3"/>
          <p:cNvSpPr/>
          <p:nvPr/>
        </p:nvSpPr>
        <p:spPr>
          <a:xfrm>
            <a:off x="4763156" y="3182780"/>
            <a:ext cx="2605200" cy="461665"/>
          </a:xfrm>
          <a:prstGeom prst="rect">
            <a:avLst/>
          </a:prstGeom>
        </p:spPr>
        <p:txBody>
          <a:bodyPr wrap="none">
            <a:spAutoFit/>
          </a:bodyPr>
          <a:lstStyle/>
          <a:p>
            <a:r>
              <a:rPr lang="en-US" altLang="zh-CN" sz="2400" kern="100" dirty="0">
                <a:latin typeface="Times New Roman" charset="0"/>
                <a:ea typeface="宋体" charset="-122"/>
              </a:rPr>
              <a:t> GPIO</a:t>
            </a:r>
            <a:r>
              <a:rPr lang="zh-CN" altLang="zh-CN" sz="2400" kern="100" dirty="0">
                <a:latin typeface="Times New Roman" charset="0"/>
                <a:ea typeface="宋体" charset="-122"/>
                <a:cs typeface="Times New Roman" charset="0"/>
              </a:rPr>
              <a:t>寄存器封装</a:t>
            </a:r>
            <a:r>
              <a:rPr lang="zh-CN" altLang="zh-CN" sz="2400" dirty="0"/>
              <a:t> </a:t>
            </a:r>
            <a:endParaRPr lang="zh-CN" altLang="en-US" sz="2400" dirty="0"/>
          </a:p>
        </p:txBody>
      </p:sp>
      <p:pic>
        <p:nvPicPr>
          <p:cNvPr id="6" name="图片 5"/>
          <p:cNvPicPr>
            <a:picLocks noChangeAspect="1"/>
          </p:cNvPicPr>
          <p:nvPr/>
        </p:nvPicPr>
        <p:blipFill>
          <a:blip r:embed="rId2"/>
          <a:stretch>
            <a:fillRect/>
          </a:stretch>
        </p:blipFill>
        <p:spPr>
          <a:xfrm>
            <a:off x="1877703" y="2084851"/>
            <a:ext cx="5551140" cy="3058516"/>
          </a:xfrm>
          <a:prstGeom prst="rect">
            <a:avLst/>
          </a:prstGeom>
        </p:spPr>
      </p:pic>
    </p:spTree>
    <p:extLst>
      <p:ext uri="{BB962C8B-B14F-4D97-AF65-F5344CB8AC3E}">
        <p14:creationId xmlns:p14="http://schemas.microsoft.com/office/powerpoint/2010/main" val="704407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49ED7E-6057-4F3C-B9DA-EB79D2B29116}"/>
              </a:ext>
            </a:extLst>
          </p:cNvPr>
          <p:cNvSpPr>
            <a:spLocks noGrp="1"/>
          </p:cNvSpPr>
          <p:nvPr>
            <p:ph type="title"/>
          </p:nvPr>
        </p:nvSpPr>
        <p:spPr/>
        <p:txBody>
          <a:bodyPr>
            <a:normAutofit fontScale="90000"/>
          </a:bodyPr>
          <a:lstStyle/>
          <a:p>
            <a:r>
              <a:rPr lang="en-GB" altLang="zh-CN" b="1" dirty="0"/>
              <a:t>Exynos4412 I/O</a:t>
            </a:r>
            <a:r>
              <a:rPr lang="zh-CN" altLang="zh-CN" b="1" dirty="0"/>
              <a:t>接口常用寄存器详解</a:t>
            </a:r>
            <a:br>
              <a:rPr lang="zh-CN" altLang="zh-CN" b="1" dirty="0"/>
            </a:br>
            <a:endParaRPr lang="zh-CN" altLang="en-US" dirty="0"/>
          </a:p>
        </p:txBody>
      </p:sp>
      <p:graphicFrame>
        <p:nvGraphicFramePr>
          <p:cNvPr id="4" name="表格 3">
            <a:extLst>
              <a:ext uri="{FF2B5EF4-FFF2-40B4-BE49-F238E27FC236}">
                <a16:creationId xmlns:a16="http://schemas.microsoft.com/office/drawing/2014/main" id="{FAEE667F-F730-401E-A143-1F842987C403}"/>
              </a:ext>
            </a:extLst>
          </p:cNvPr>
          <p:cNvGraphicFramePr>
            <a:graphicFrameLocks noGrp="1"/>
          </p:cNvGraphicFramePr>
          <p:nvPr>
            <p:extLst>
              <p:ext uri="{D42A27DB-BD31-4B8C-83A1-F6EECF244321}">
                <p14:modId xmlns:p14="http://schemas.microsoft.com/office/powerpoint/2010/main" val="2462863554"/>
              </p:ext>
            </p:extLst>
          </p:nvPr>
        </p:nvGraphicFramePr>
        <p:xfrm>
          <a:off x="891189" y="2516489"/>
          <a:ext cx="9273009" cy="4216820"/>
        </p:xfrm>
        <a:graphic>
          <a:graphicData uri="http://schemas.openxmlformats.org/drawingml/2006/table">
            <a:tbl>
              <a:tblPr>
                <a:tableStyleId>{5C22544A-7EE6-4342-B048-85BDC9FD1C3A}</a:tableStyleId>
              </a:tblPr>
              <a:tblGrid>
                <a:gridCol w="1248137">
                  <a:extLst>
                    <a:ext uri="{9D8B030D-6E8A-4147-A177-3AD203B41FA5}">
                      <a16:colId xmlns:a16="http://schemas.microsoft.com/office/drawing/2014/main" val="819741341"/>
                    </a:ext>
                  </a:extLst>
                </a:gridCol>
                <a:gridCol w="758363">
                  <a:extLst>
                    <a:ext uri="{9D8B030D-6E8A-4147-A177-3AD203B41FA5}">
                      <a16:colId xmlns:a16="http://schemas.microsoft.com/office/drawing/2014/main" val="599348728"/>
                    </a:ext>
                  </a:extLst>
                </a:gridCol>
                <a:gridCol w="5510539">
                  <a:extLst>
                    <a:ext uri="{9D8B030D-6E8A-4147-A177-3AD203B41FA5}">
                      <a16:colId xmlns:a16="http://schemas.microsoft.com/office/drawing/2014/main" val="3244649437"/>
                    </a:ext>
                  </a:extLst>
                </a:gridCol>
                <a:gridCol w="1755970">
                  <a:extLst>
                    <a:ext uri="{9D8B030D-6E8A-4147-A177-3AD203B41FA5}">
                      <a16:colId xmlns:a16="http://schemas.microsoft.com/office/drawing/2014/main" val="1689395888"/>
                    </a:ext>
                  </a:extLst>
                </a:gridCol>
              </a:tblGrid>
              <a:tr h="304928">
                <a:tc>
                  <a:txBody>
                    <a:bodyPr/>
                    <a:lstStyle/>
                    <a:p>
                      <a:pPr algn="ctr">
                        <a:lnSpc>
                          <a:spcPts val="1400"/>
                        </a:lnSpc>
                        <a:spcAft>
                          <a:spcPts val="0"/>
                        </a:spcAft>
                      </a:pPr>
                      <a:r>
                        <a:rPr lang="en-US" sz="1400" dirty="0">
                          <a:effectLst/>
                        </a:rPr>
                        <a:t>GPF3CON</a:t>
                      </a:r>
                      <a:endParaRPr lang="zh-CN" sz="1400" dirty="0">
                        <a:effectLst/>
                        <a:latin typeface="Arial" panose="020B0604020202020204" pitchFamily="34" charset="0"/>
                        <a:ea typeface="黑体" panose="02010609060101010101" pitchFamily="49" charset="-122"/>
                      </a:endParaRPr>
                    </a:p>
                  </a:txBody>
                  <a:tcPr marL="68580" marR="68580" marT="0" marB="0" anchor="ctr"/>
                </a:tc>
                <a:tc>
                  <a:txBody>
                    <a:bodyPr/>
                    <a:lstStyle/>
                    <a:p>
                      <a:pPr algn="ctr">
                        <a:lnSpc>
                          <a:spcPts val="1400"/>
                        </a:lnSpc>
                        <a:spcAft>
                          <a:spcPts val="0"/>
                        </a:spcAft>
                      </a:pPr>
                      <a:r>
                        <a:rPr lang="zh-CN" sz="1400">
                          <a:effectLst/>
                        </a:rPr>
                        <a:t>位</a:t>
                      </a:r>
                      <a:endParaRPr lang="zh-CN" sz="1400">
                        <a:effectLst/>
                        <a:latin typeface="Arial" panose="020B0604020202020204" pitchFamily="34" charset="0"/>
                        <a:ea typeface="黑体" panose="02010609060101010101" pitchFamily="49" charset="-122"/>
                      </a:endParaRPr>
                    </a:p>
                  </a:txBody>
                  <a:tcPr marL="68580" marR="68580" marT="0" marB="0" anchor="ctr"/>
                </a:tc>
                <a:tc>
                  <a:txBody>
                    <a:bodyPr/>
                    <a:lstStyle/>
                    <a:p>
                      <a:pPr indent="266700" algn="ctr">
                        <a:lnSpc>
                          <a:spcPts val="1400"/>
                        </a:lnSpc>
                        <a:spcAft>
                          <a:spcPts val="0"/>
                        </a:spcAft>
                      </a:pPr>
                      <a:r>
                        <a:rPr lang="zh-CN" sz="1400" dirty="0">
                          <a:effectLst/>
                        </a:rPr>
                        <a:t>描述</a:t>
                      </a:r>
                      <a:endParaRPr lang="zh-CN" sz="1400" dirty="0">
                        <a:effectLst/>
                        <a:latin typeface="Arial" panose="020B0604020202020204" pitchFamily="34" charset="0"/>
                        <a:ea typeface="黑体" panose="02010609060101010101" pitchFamily="49" charset="-122"/>
                      </a:endParaRPr>
                    </a:p>
                  </a:txBody>
                  <a:tcPr marL="68580" marR="68580" marT="0" marB="0" anchor="ctr"/>
                </a:tc>
                <a:tc>
                  <a:txBody>
                    <a:bodyPr/>
                    <a:lstStyle/>
                    <a:p>
                      <a:pPr algn="ctr">
                        <a:lnSpc>
                          <a:spcPts val="1400"/>
                        </a:lnSpc>
                        <a:spcAft>
                          <a:spcPts val="0"/>
                        </a:spcAft>
                      </a:pPr>
                      <a:r>
                        <a:rPr lang="zh-CN" sz="1400">
                          <a:effectLst/>
                        </a:rPr>
                        <a:t>初始状态</a:t>
                      </a:r>
                      <a:endParaRPr lang="zh-CN" sz="1400">
                        <a:effectLst/>
                        <a:latin typeface="Arial" panose="020B0604020202020204" pitchFamily="34" charset="0"/>
                        <a:ea typeface="黑体" panose="02010609060101010101" pitchFamily="49" charset="-122"/>
                      </a:endParaRPr>
                    </a:p>
                  </a:txBody>
                  <a:tcPr marL="68580" marR="68580" marT="0" marB="0" anchor="ctr"/>
                </a:tc>
                <a:extLst>
                  <a:ext uri="{0D108BD9-81ED-4DB2-BD59-A6C34878D82A}">
                    <a16:rowId xmlns:a16="http://schemas.microsoft.com/office/drawing/2014/main" val="3572709953"/>
                  </a:ext>
                </a:extLst>
              </a:tr>
              <a:tr h="651982">
                <a:tc>
                  <a:txBody>
                    <a:bodyPr/>
                    <a:lstStyle/>
                    <a:p>
                      <a:pPr algn="ctr">
                        <a:lnSpc>
                          <a:spcPts val="1400"/>
                        </a:lnSpc>
                        <a:spcAft>
                          <a:spcPts val="0"/>
                        </a:spcAft>
                      </a:pPr>
                      <a:r>
                        <a:rPr lang="en-US" sz="1400" dirty="0">
                          <a:effectLst/>
                        </a:rPr>
                        <a:t>GPF3CON[5]</a:t>
                      </a:r>
                      <a:endParaRPr lang="zh-CN" sz="14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ts val="1400"/>
                        </a:lnSpc>
                        <a:spcAft>
                          <a:spcPts val="0"/>
                        </a:spcAft>
                      </a:pPr>
                      <a:r>
                        <a:rPr lang="en-US" sz="1400" dirty="0">
                          <a:effectLst/>
                        </a:rPr>
                        <a:t>[23:20]</a:t>
                      </a:r>
                      <a:endParaRPr lang="zh-CN" sz="14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indent="256540">
                        <a:lnSpc>
                          <a:spcPts val="1400"/>
                        </a:lnSpc>
                        <a:spcAft>
                          <a:spcPts val="0"/>
                        </a:spcAft>
                      </a:pPr>
                      <a:r>
                        <a:rPr lang="en-US" sz="1400" spc="-20" dirty="0">
                          <a:effectLst/>
                        </a:rPr>
                        <a:t>0x0 = Input0x1 = Output0x2 = SYS_OE</a:t>
                      </a:r>
                      <a:endParaRPr lang="zh-CN" sz="1400" dirty="0">
                        <a:effectLst/>
                      </a:endParaRPr>
                    </a:p>
                    <a:p>
                      <a:pPr indent="256540">
                        <a:lnSpc>
                          <a:spcPts val="1400"/>
                        </a:lnSpc>
                        <a:spcAft>
                          <a:spcPts val="0"/>
                        </a:spcAft>
                      </a:pPr>
                      <a:r>
                        <a:rPr lang="en-US" sz="1400" spc="-20" dirty="0">
                          <a:effectLst/>
                        </a:rPr>
                        <a:t>0x3 to 0xE = Reserve0xF = EXT_INT16[5]</a:t>
                      </a:r>
                      <a:endParaRPr lang="zh-CN" sz="14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ts val="1400"/>
                        </a:lnSpc>
                        <a:spcAft>
                          <a:spcPts val="0"/>
                        </a:spcAft>
                      </a:pPr>
                      <a:r>
                        <a:rPr lang="en-US" sz="1400">
                          <a:effectLst/>
                        </a:rPr>
                        <a:t>0000</a:t>
                      </a:r>
                      <a:endParaRPr lang="zh-CN" sz="14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910986213"/>
                  </a:ext>
                </a:extLst>
              </a:tr>
              <a:tr h="651982">
                <a:tc>
                  <a:txBody>
                    <a:bodyPr/>
                    <a:lstStyle/>
                    <a:p>
                      <a:pPr algn="ctr">
                        <a:lnSpc>
                          <a:spcPts val="1400"/>
                        </a:lnSpc>
                        <a:spcAft>
                          <a:spcPts val="0"/>
                        </a:spcAft>
                      </a:pPr>
                      <a:r>
                        <a:rPr lang="en-US" sz="1400">
                          <a:effectLst/>
                        </a:rPr>
                        <a:t>GPF3CON[4]</a:t>
                      </a:r>
                      <a:endParaRPr lang="zh-CN" sz="14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ts val="1400"/>
                        </a:lnSpc>
                        <a:spcAft>
                          <a:spcPts val="0"/>
                        </a:spcAft>
                      </a:pPr>
                      <a:r>
                        <a:rPr lang="en-US" sz="1400" dirty="0">
                          <a:effectLst/>
                        </a:rPr>
                        <a:t>[19:16]</a:t>
                      </a:r>
                      <a:endParaRPr lang="zh-CN" sz="14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indent="256540">
                        <a:lnSpc>
                          <a:spcPts val="1400"/>
                        </a:lnSpc>
                        <a:spcAft>
                          <a:spcPts val="0"/>
                        </a:spcAft>
                      </a:pPr>
                      <a:r>
                        <a:rPr lang="en-US" sz="1400" spc="-20" dirty="0">
                          <a:effectLst/>
                        </a:rPr>
                        <a:t>0x0 = Input0x1 = Output0x2 = VSYNC_LDI</a:t>
                      </a:r>
                      <a:endParaRPr lang="zh-CN" sz="1400" dirty="0">
                        <a:effectLst/>
                      </a:endParaRPr>
                    </a:p>
                    <a:p>
                      <a:pPr indent="256540">
                        <a:lnSpc>
                          <a:spcPts val="1400"/>
                        </a:lnSpc>
                        <a:spcAft>
                          <a:spcPts val="0"/>
                        </a:spcAft>
                      </a:pPr>
                      <a:r>
                        <a:rPr lang="en-US" sz="1400" spc="-20" dirty="0">
                          <a:effectLst/>
                        </a:rPr>
                        <a:t>0x3 to 0xE = Reserved0xF = EXT_INT16[4]</a:t>
                      </a:r>
                      <a:endParaRPr lang="zh-CN" sz="14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ts val="1400"/>
                        </a:lnSpc>
                        <a:spcAft>
                          <a:spcPts val="0"/>
                        </a:spcAft>
                      </a:pPr>
                      <a:r>
                        <a:rPr lang="en-US" sz="1400">
                          <a:effectLst/>
                        </a:rPr>
                        <a:t>0000</a:t>
                      </a:r>
                      <a:endParaRPr lang="zh-CN" sz="14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632968576"/>
                  </a:ext>
                </a:extLst>
              </a:tr>
              <a:tr h="651982">
                <a:tc>
                  <a:txBody>
                    <a:bodyPr/>
                    <a:lstStyle/>
                    <a:p>
                      <a:pPr algn="ctr">
                        <a:lnSpc>
                          <a:spcPts val="1400"/>
                        </a:lnSpc>
                        <a:spcAft>
                          <a:spcPts val="0"/>
                        </a:spcAft>
                      </a:pPr>
                      <a:r>
                        <a:rPr lang="en-US" sz="1400">
                          <a:effectLst/>
                        </a:rPr>
                        <a:t>GPF3CON[3]</a:t>
                      </a:r>
                      <a:endParaRPr lang="zh-CN" sz="14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ts val="1400"/>
                        </a:lnSpc>
                        <a:spcAft>
                          <a:spcPts val="0"/>
                        </a:spcAft>
                      </a:pPr>
                      <a:r>
                        <a:rPr lang="en-US" sz="1400">
                          <a:effectLst/>
                        </a:rPr>
                        <a:t>[15:12]</a:t>
                      </a:r>
                      <a:endParaRPr lang="zh-CN" sz="14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indent="238125">
                        <a:lnSpc>
                          <a:spcPts val="1400"/>
                        </a:lnSpc>
                        <a:spcAft>
                          <a:spcPts val="0"/>
                        </a:spcAft>
                      </a:pPr>
                      <a:r>
                        <a:rPr lang="en-US" sz="1400" dirty="0">
                          <a:effectLst/>
                        </a:rPr>
                        <a:t>0x0 = Input0x1 = Outpu0x2 = LCD_VD[23]</a:t>
                      </a:r>
                      <a:endParaRPr lang="zh-CN" sz="1400" dirty="0">
                        <a:effectLst/>
                      </a:endParaRPr>
                    </a:p>
                    <a:p>
                      <a:pPr indent="238125">
                        <a:lnSpc>
                          <a:spcPts val="1400"/>
                        </a:lnSpc>
                        <a:spcAft>
                          <a:spcPts val="0"/>
                        </a:spcAft>
                      </a:pPr>
                      <a:r>
                        <a:rPr lang="en-US" sz="1400" dirty="0">
                          <a:effectLst/>
                        </a:rPr>
                        <a:t>0x3 to 0xE = Reserved0xF = EXT_INT16[3]</a:t>
                      </a:r>
                      <a:endParaRPr lang="zh-CN" sz="14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ts val="1400"/>
                        </a:lnSpc>
                        <a:spcAft>
                          <a:spcPts val="0"/>
                        </a:spcAft>
                      </a:pPr>
                      <a:r>
                        <a:rPr lang="en-US" sz="1400">
                          <a:effectLst/>
                        </a:rPr>
                        <a:t>0000</a:t>
                      </a:r>
                      <a:endParaRPr lang="zh-CN" sz="14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299574049"/>
                  </a:ext>
                </a:extLst>
              </a:tr>
              <a:tr h="651982">
                <a:tc>
                  <a:txBody>
                    <a:bodyPr/>
                    <a:lstStyle/>
                    <a:p>
                      <a:pPr algn="ctr">
                        <a:lnSpc>
                          <a:spcPts val="1400"/>
                        </a:lnSpc>
                        <a:spcAft>
                          <a:spcPts val="0"/>
                        </a:spcAft>
                      </a:pPr>
                      <a:r>
                        <a:rPr lang="en-US" sz="1400">
                          <a:effectLst/>
                        </a:rPr>
                        <a:t>GPF3CON[2]</a:t>
                      </a:r>
                      <a:endParaRPr lang="zh-CN" sz="14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ts val="1400"/>
                        </a:lnSpc>
                        <a:spcAft>
                          <a:spcPts val="0"/>
                        </a:spcAft>
                      </a:pPr>
                      <a:r>
                        <a:rPr lang="en-US" sz="1400">
                          <a:effectLst/>
                        </a:rPr>
                        <a:t>[11:8]</a:t>
                      </a:r>
                      <a:endParaRPr lang="zh-CN" sz="14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indent="238125">
                        <a:lnSpc>
                          <a:spcPts val="1400"/>
                        </a:lnSpc>
                        <a:spcAft>
                          <a:spcPts val="0"/>
                        </a:spcAft>
                      </a:pPr>
                      <a:r>
                        <a:rPr lang="en-US" sz="1400" dirty="0">
                          <a:effectLst/>
                        </a:rPr>
                        <a:t>0x0 = Input  0x1 = Output0x2 = LCD_VD[22]</a:t>
                      </a:r>
                      <a:endParaRPr lang="zh-CN" sz="1400" dirty="0">
                        <a:effectLst/>
                      </a:endParaRPr>
                    </a:p>
                    <a:p>
                      <a:pPr indent="238125">
                        <a:lnSpc>
                          <a:spcPts val="1400"/>
                        </a:lnSpc>
                        <a:spcAft>
                          <a:spcPts val="0"/>
                        </a:spcAft>
                      </a:pPr>
                      <a:r>
                        <a:rPr lang="en-US" sz="1400" dirty="0">
                          <a:effectLst/>
                        </a:rPr>
                        <a:t>0x3 to 0xE = Reserved0xF = EXT_INT16[2]</a:t>
                      </a:r>
                      <a:endParaRPr lang="zh-CN" sz="14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ts val="1400"/>
                        </a:lnSpc>
                        <a:spcAft>
                          <a:spcPts val="0"/>
                        </a:spcAft>
                      </a:pPr>
                      <a:r>
                        <a:rPr lang="en-US" sz="1400">
                          <a:effectLst/>
                        </a:rPr>
                        <a:t>0000</a:t>
                      </a:r>
                      <a:endParaRPr lang="zh-CN" sz="14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3410368546"/>
                  </a:ext>
                </a:extLst>
              </a:tr>
              <a:tr h="651982">
                <a:tc>
                  <a:txBody>
                    <a:bodyPr/>
                    <a:lstStyle/>
                    <a:p>
                      <a:pPr algn="ctr">
                        <a:lnSpc>
                          <a:spcPts val="1400"/>
                        </a:lnSpc>
                        <a:spcAft>
                          <a:spcPts val="0"/>
                        </a:spcAft>
                      </a:pPr>
                      <a:r>
                        <a:rPr lang="en-US" sz="1400">
                          <a:effectLst/>
                        </a:rPr>
                        <a:t>GPF3CON[1]</a:t>
                      </a:r>
                      <a:endParaRPr lang="zh-CN" sz="14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ts val="1400"/>
                        </a:lnSpc>
                        <a:spcAft>
                          <a:spcPts val="0"/>
                        </a:spcAft>
                      </a:pPr>
                      <a:r>
                        <a:rPr lang="en-US" sz="1400">
                          <a:effectLst/>
                        </a:rPr>
                        <a:t>[7:4]</a:t>
                      </a:r>
                      <a:endParaRPr lang="zh-CN" sz="14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indent="238125" latinLnBrk="1">
                        <a:lnSpc>
                          <a:spcPts val="1400"/>
                        </a:lnSpc>
                        <a:spcAft>
                          <a:spcPts val="0"/>
                        </a:spcAft>
                      </a:pPr>
                      <a:r>
                        <a:rPr lang="en-US" sz="1400" dirty="0">
                          <a:effectLst/>
                        </a:rPr>
                        <a:t>0x0 = Input0x1 = Output0x2 = LCD_VD[21]</a:t>
                      </a:r>
                      <a:endParaRPr lang="zh-CN" sz="1400" dirty="0">
                        <a:effectLst/>
                      </a:endParaRPr>
                    </a:p>
                    <a:p>
                      <a:pPr indent="238125" latinLnBrk="1">
                        <a:lnSpc>
                          <a:spcPts val="1400"/>
                        </a:lnSpc>
                        <a:spcAft>
                          <a:spcPts val="0"/>
                        </a:spcAft>
                      </a:pPr>
                      <a:r>
                        <a:rPr lang="en-US" sz="1400" dirty="0">
                          <a:effectLst/>
                        </a:rPr>
                        <a:t>0x3 to 0xE = Reserved0xF = EXT_INT16[1]</a:t>
                      </a:r>
                      <a:endParaRPr lang="zh-CN" sz="14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ts val="1400"/>
                        </a:lnSpc>
                        <a:spcAft>
                          <a:spcPts val="0"/>
                        </a:spcAft>
                      </a:pPr>
                      <a:r>
                        <a:rPr lang="en-US" sz="1400">
                          <a:effectLst/>
                        </a:rPr>
                        <a:t>0000</a:t>
                      </a:r>
                      <a:endParaRPr lang="zh-CN" sz="14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2709438800"/>
                  </a:ext>
                </a:extLst>
              </a:tr>
              <a:tr h="651982">
                <a:tc>
                  <a:txBody>
                    <a:bodyPr/>
                    <a:lstStyle/>
                    <a:p>
                      <a:pPr algn="ctr">
                        <a:lnSpc>
                          <a:spcPts val="1400"/>
                        </a:lnSpc>
                        <a:spcAft>
                          <a:spcPts val="0"/>
                        </a:spcAft>
                      </a:pPr>
                      <a:r>
                        <a:rPr lang="en-US" sz="1400">
                          <a:effectLst/>
                        </a:rPr>
                        <a:t>GPF3CON[0]</a:t>
                      </a:r>
                      <a:endParaRPr lang="zh-CN" sz="14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ts val="1400"/>
                        </a:lnSpc>
                        <a:spcAft>
                          <a:spcPts val="0"/>
                        </a:spcAft>
                      </a:pPr>
                      <a:r>
                        <a:rPr lang="en-US" sz="1400">
                          <a:effectLst/>
                        </a:rPr>
                        <a:t>[3:0]</a:t>
                      </a:r>
                      <a:endParaRPr lang="zh-CN" sz="14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indent="238125">
                        <a:lnSpc>
                          <a:spcPts val="1400"/>
                        </a:lnSpc>
                        <a:spcAft>
                          <a:spcPts val="0"/>
                        </a:spcAft>
                      </a:pPr>
                      <a:r>
                        <a:rPr lang="en-US" sz="1400" dirty="0">
                          <a:effectLst/>
                        </a:rPr>
                        <a:t>0x0 = Input0x1 = Output0x2 = LCD_VD[20]</a:t>
                      </a:r>
                      <a:endParaRPr lang="zh-CN" sz="1400" dirty="0">
                        <a:effectLst/>
                      </a:endParaRPr>
                    </a:p>
                    <a:p>
                      <a:pPr indent="238125">
                        <a:lnSpc>
                          <a:spcPts val="1400"/>
                        </a:lnSpc>
                        <a:spcAft>
                          <a:spcPts val="0"/>
                        </a:spcAft>
                      </a:pPr>
                      <a:r>
                        <a:rPr lang="en-US" sz="1400" dirty="0">
                          <a:effectLst/>
                        </a:rPr>
                        <a:t>0x3 to 0xE = Reserved0xF = EXT_INT16[0]</a:t>
                      </a:r>
                      <a:endParaRPr lang="zh-CN" sz="14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ts val="1400"/>
                        </a:lnSpc>
                        <a:spcAft>
                          <a:spcPts val="0"/>
                        </a:spcAft>
                      </a:pPr>
                      <a:r>
                        <a:rPr lang="en-US" sz="1400" dirty="0">
                          <a:effectLst/>
                        </a:rPr>
                        <a:t>0000</a:t>
                      </a:r>
                      <a:endParaRPr lang="zh-CN" sz="14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599391764"/>
                  </a:ext>
                </a:extLst>
              </a:tr>
            </a:tbl>
          </a:graphicData>
        </a:graphic>
      </p:graphicFrame>
      <p:sp>
        <p:nvSpPr>
          <p:cNvPr id="5" name="Rectangle 1">
            <a:extLst>
              <a:ext uri="{FF2B5EF4-FFF2-40B4-BE49-F238E27FC236}">
                <a16:creationId xmlns:a16="http://schemas.microsoft.com/office/drawing/2014/main" id="{D0161AA2-852E-49E7-AA5D-CF0B31BDFA05}"/>
              </a:ext>
            </a:extLst>
          </p:cNvPr>
          <p:cNvSpPr>
            <a:spLocks noGrp="1" noChangeArrowheads="1"/>
          </p:cNvSpPr>
          <p:nvPr>
            <p:ph type="body" sz="quarter" idx="10"/>
          </p:nvPr>
        </p:nvSpPr>
        <p:spPr bwMode="auto">
          <a:xfrm>
            <a:off x="787830" y="1220452"/>
            <a:ext cx="786496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3812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对于</a:t>
            </a: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GPIO</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控制寄存器，现在来看一下每一组</a:t>
            </a: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IO</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的详细功能描述，考虑到</a:t>
            </a: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GPIO</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的寄存器很多，这里只列出与后面</a:t>
            </a: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GPIO</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示例有关的寄存器，</a:t>
            </a:r>
            <a:endPar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defTabSz="914400" rtl="0" eaLnBrk="0" fontAlgn="base" latinLnBrk="0" hangingPunct="0">
              <a:lnSpc>
                <a:spcPct val="100000"/>
              </a:lnSpc>
              <a:spcBef>
                <a:spcPct val="0"/>
              </a:spcBef>
              <a:spcAft>
                <a:spcPct val="0"/>
              </a:spcAft>
              <a:buClrTx/>
              <a:buSzTx/>
              <a:buFontTx/>
              <a:buNone/>
              <a:tabLst/>
            </a:pP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如表所示。表</a:t>
            </a: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GPF3CON</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控制寄存器</a:t>
            </a: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可读</a:t>
            </a: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可写 </a:t>
            </a:r>
            <a:r>
              <a:rPr kumimoji="0" lang="en-US" altLang="zh-CN"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Address = 0x1140_0x01E0)</a:t>
            </a:r>
            <a:endParaRPr kumimoji="0" lang="en-US" altLang="zh-CN" b="0" i="0" u="none" strike="noStrike" cap="none" normalizeH="0" baseline="0" dirty="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97413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A6B04B-F812-4A19-98DA-CBB57D56A510}"/>
              </a:ext>
            </a:extLst>
          </p:cNvPr>
          <p:cNvSpPr>
            <a:spLocks noGrp="1"/>
          </p:cNvSpPr>
          <p:nvPr>
            <p:ph type="title"/>
          </p:nvPr>
        </p:nvSpPr>
        <p:spPr/>
        <p:txBody>
          <a:bodyPr>
            <a:normAutofit fontScale="90000"/>
          </a:bodyPr>
          <a:lstStyle/>
          <a:p>
            <a:r>
              <a:rPr lang="en-GB" altLang="zh-CN" b="1" dirty="0"/>
              <a:t>GPIO</a:t>
            </a:r>
            <a:r>
              <a:rPr lang="zh-CN" altLang="zh-CN" b="1" dirty="0"/>
              <a:t>数据寄存器</a:t>
            </a:r>
            <a:br>
              <a:rPr lang="zh-CN" altLang="zh-CN" b="1" dirty="0"/>
            </a:br>
            <a:endParaRPr lang="zh-CN" altLang="en-US" dirty="0"/>
          </a:p>
        </p:txBody>
      </p:sp>
      <p:sp>
        <p:nvSpPr>
          <p:cNvPr id="3" name="文本占位符 2">
            <a:extLst>
              <a:ext uri="{FF2B5EF4-FFF2-40B4-BE49-F238E27FC236}">
                <a16:creationId xmlns:a16="http://schemas.microsoft.com/office/drawing/2014/main" id="{B7E1E178-C55B-4785-BE1C-929A16004B92}"/>
              </a:ext>
            </a:extLst>
          </p:cNvPr>
          <p:cNvSpPr>
            <a:spLocks noGrp="1"/>
          </p:cNvSpPr>
          <p:nvPr>
            <p:ph type="body" sz="quarter" idx="10"/>
          </p:nvPr>
        </p:nvSpPr>
        <p:spPr/>
        <p:txBody>
          <a:bodyPr/>
          <a:lstStyle/>
          <a:p>
            <a:r>
              <a:rPr lang="en-US" altLang="zh-CN" dirty="0"/>
              <a:t>GPIO</a:t>
            </a:r>
            <a:r>
              <a:rPr lang="zh-CN" altLang="zh-CN" dirty="0"/>
              <a:t>数据寄存器如表所示。</a:t>
            </a:r>
          </a:p>
          <a:p>
            <a:r>
              <a:rPr lang="zh-CN" altLang="zh-CN" dirty="0"/>
              <a:t>表</a:t>
            </a:r>
            <a:r>
              <a:rPr lang="en-US" altLang="zh-CN" dirty="0"/>
              <a:t>GPF3DAT</a:t>
            </a:r>
            <a:r>
              <a:rPr lang="zh-CN" altLang="zh-CN" dirty="0"/>
              <a:t>数据寄存器</a:t>
            </a:r>
            <a:r>
              <a:rPr lang="en-US" altLang="zh-CN" dirty="0"/>
              <a:t>(</a:t>
            </a:r>
            <a:r>
              <a:rPr lang="zh-CN" altLang="zh-CN" dirty="0"/>
              <a:t>可读</a:t>
            </a:r>
            <a:r>
              <a:rPr lang="en-US" altLang="zh-CN" dirty="0"/>
              <a:t>/</a:t>
            </a:r>
            <a:r>
              <a:rPr lang="zh-CN" altLang="zh-CN" dirty="0"/>
              <a:t>可写</a:t>
            </a:r>
            <a:r>
              <a:rPr lang="en-US" altLang="zh-CN" dirty="0"/>
              <a:t> Address = 0x1140_01E4)</a:t>
            </a:r>
            <a:endParaRPr lang="zh-CN" altLang="zh-CN" dirty="0"/>
          </a:p>
          <a:p>
            <a:endParaRPr lang="zh-CN" altLang="en-US" dirty="0"/>
          </a:p>
        </p:txBody>
      </p:sp>
      <p:graphicFrame>
        <p:nvGraphicFramePr>
          <p:cNvPr id="14" name="表格 13">
            <a:extLst>
              <a:ext uri="{FF2B5EF4-FFF2-40B4-BE49-F238E27FC236}">
                <a16:creationId xmlns:a16="http://schemas.microsoft.com/office/drawing/2014/main" id="{CA69AC73-B5F4-4EA1-8EBF-561ECDB299C0}"/>
              </a:ext>
            </a:extLst>
          </p:cNvPr>
          <p:cNvGraphicFramePr>
            <a:graphicFrameLocks noGrp="1"/>
          </p:cNvGraphicFramePr>
          <p:nvPr>
            <p:extLst>
              <p:ext uri="{D42A27DB-BD31-4B8C-83A1-F6EECF244321}">
                <p14:modId xmlns:p14="http://schemas.microsoft.com/office/powerpoint/2010/main" val="1416733153"/>
              </p:ext>
            </p:extLst>
          </p:nvPr>
        </p:nvGraphicFramePr>
        <p:xfrm>
          <a:off x="909002" y="2390454"/>
          <a:ext cx="8555037" cy="312674"/>
        </p:xfrm>
        <a:graphic>
          <a:graphicData uri="http://schemas.openxmlformats.org/drawingml/2006/table">
            <a:tbl>
              <a:tblPr>
                <a:tableStyleId>{5C22544A-7EE6-4342-B048-85BDC9FD1C3A}</a:tableStyleId>
              </a:tblPr>
              <a:tblGrid>
                <a:gridCol w="1607644">
                  <a:extLst>
                    <a:ext uri="{9D8B030D-6E8A-4147-A177-3AD203B41FA5}">
                      <a16:colId xmlns:a16="http://schemas.microsoft.com/office/drawing/2014/main" val="2839497536"/>
                    </a:ext>
                  </a:extLst>
                </a:gridCol>
                <a:gridCol w="1185455">
                  <a:extLst>
                    <a:ext uri="{9D8B030D-6E8A-4147-A177-3AD203B41FA5}">
                      <a16:colId xmlns:a16="http://schemas.microsoft.com/office/drawing/2014/main" val="1900890986"/>
                    </a:ext>
                  </a:extLst>
                </a:gridCol>
                <a:gridCol w="3684272">
                  <a:extLst>
                    <a:ext uri="{9D8B030D-6E8A-4147-A177-3AD203B41FA5}">
                      <a16:colId xmlns:a16="http://schemas.microsoft.com/office/drawing/2014/main" val="2346230776"/>
                    </a:ext>
                  </a:extLst>
                </a:gridCol>
                <a:gridCol w="2077666">
                  <a:extLst>
                    <a:ext uri="{9D8B030D-6E8A-4147-A177-3AD203B41FA5}">
                      <a16:colId xmlns:a16="http://schemas.microsoft.com/office/drawing/2014/main" val="1459086317"/>
                    </a:ext>
                  </a:extLst>
                </a:gridCol>
              </a:tblGrid>
              <a:tr h="312674">
                <a:tc>
                  <a:txBody>
                    <a:bodyPr/>
                    <a:lstStyle/>
                    <a:p>
                      <a:pPr algn="ctr">
                        <a:lnSpc>
                          <a:spcPts val="1400"/>
                        </a:lnSpc>
                        <a:spcAft>
                          <a:spcPts val="0"/>
                        </a:spcAft>
                      </a:pPr>
                      <a:r>
                        <a:rPr lang="en-US" sz="1100" dirty="0">
                          <a:effectLst/>
                        </a:rPr>
                        <a:t>GPF3DAT</a:t>
                      </a:r>
                      <a:endParaRPr lang="zh-CN" sz="1100" dirty="0">
                        <a:effectLst/>
                        <a:latin typeface="Arial" panose="020B0604020202020204" pitchFamily="34" charset="0"/>
                        <a:ea typeface="黑体" panose="02010609060101010101" pitchFamily="49" charset="-122"/>
                      </a:endParaRPr>
                    </a:p>
                  </a:txBody>
                  <a:tcPr marL="68580" marR="68580" marT="0" marB="0"/>
                </a:tc>
                <a:tc>
                  <a:txBody>
                    <a:bodyPr/>
                    <a:lstStyle/>
                    <a:p>
                      <a:pPr algn="ctr">
                        <a:lnSpc>
                          <a:spcPts val="1400"/>
                        </a:lnSpc>
                        <a:spcAft>
                          <a:spcPts val="0"/>
                        </a:spcAft>
                      </a:pPr>
                      <a:r>
                        <a:rPr lang="zh-CN" sz="1100" dirty="0">
                          <a:effectLst/>
                        </a:rPr>
                        <a:t>位</a:t>
                      </a:r>
                      <a:endParaRPr lang="zh-CN" sz="1100" dirty="0">
                        <a:effectLst/>
                        <a:latin typeface="Arial" panose="020B0604020202020204" pitchFamily="34" charset="0"/>
                        <a:ea typeface="黑体" panose="02010609060101010101" pitchFamily="49" charset="-122"/>
                      </a:endParaRPr>
                    </a:p>
                  </a:txBody>
                  <a:tcPr marL="68580" marR="68580" marT="0" marB="0"/>
                </a:tc>
                <a:tc>
                  <a:txBody>
                    <a:bodyPr/>
                    <a:lstStyle/>
                    <a:p>
                      <a:pPr algn="ctr">
                        <a:lnSpc>
                          <a:spcPts val="1400"/>
                        </a:lnSpc>
                        <a:spcAft>
                          <a:spcPts val="0"/>
                        </a:spcAft>
                      </a:pPr>
                      <a:r>
                        <a:rPr lang="zh-CN" sz="1100" dirty="0">
                          <a:effectLst/>
                        </a:rPr>
                        <a:t>描述</a:t>
                      </a:r>
                      <a:endParaRPr lang="zh-CN" sz="1100" dirty="0">
                        <a:effectLst/>
                        <a:latin typeface="Arial" panose="020B0604020202020204" pitchFamily="34" charset="0"/>
                        <a:ea typeface="黑体" panose="02010609060101010101" pitchFamily="49" charset="-122"/>
                      </a:endParaRPr>
                    </a:p>
                  </a:txBody>
                  <a:tcPr marL="68580" marR="68580" marT="0" marB="0"/>
                </a:tc>
                <a:tc>
                  <a:txBody>
                    <a:bodyPr/>
                    <a:lstStyle/>
                    <a:p>
                      <a:pPr algn="ctr">
                        <a:lnSpc>
                          <a:spcPts val="1400"/>
                        </a:lnSpc>
                        <a:spcAft>
                          <a:spcPts val="0"/>
                        </a:spcAft>
                      </a:pPr>
                      <a:r>
                        <a:rPr lang="zh-CN" sz="1100" dirty="0">
                          <a:effectLst/>
                        </a:rPr>
                        <a:t>初始状态</a:t>
                      </a:r>
                      <a:endParaRPr lang="zh-CN" sz="1100" dirty="0">
                        <a:effectLst/>
                        <a:latin typeface="Arial" panose="020B0604020202020204" pitchFamily="34" charset="0"/>
                        <a:ea typeface="黑体" panose="02010609060101010101" pitchFamily="49" charset="-122"/>
                      </a:endParaRPr>
                    </a:p>
                  </a:txBody>
                  <a:tcPr marL="68580" marR="68580" marT="0" marB="0"/>
                </a:tc>
                <a:extLst>
                  <a:ext uri="{0D108BD9-81ED-4DB2-BD59-A6C34878D82A}">
                    <a16:rowId xmlns:a16="http://schemas.microsoft.com/office/drawing/2014/main" val="3233572594"/>
                  </a:ext>
                </a:extLst>
              </a:tr>
            </a:tbl>
          </a:graphicData>
        </a:graphic>
      </p:graphicFrame>
      <p:graphicFrame>
        <p:nvGraphicFramePr>
          <p:cNvPr id="15" name="表格 14">
            <a:extLst>
              <a:ext uri="{FF2B5EF4-FFF2-40B4-BE49-F238E27FC236}">
                <a16:creationId xmlns:a16="http://schemas.microsoft.com/office/drawing/2014/main" id="{83101FC2-8B1B-4FF0-A8EF-8A6615B4DAD2}"/>
              </a:ext>
            </a:extLst>
          </p:cNvPr>
          <p:cNvGraphicFramePr>
            <a:graphicFrameLocks noGrp="1"/>
          </p:cNvGraphicFramePr>
          <p:nvPr>
            <p:extLst>
              <p:ext uri="{D42A27DB-BD31-4B8C-83A1-F6EECF244321}">
                <p14:modId xmlns:p14="http://schemas.microsoft.com/office/powerpoint/2010/main" val="1291516432"/>
              </p:ext>
            </p:extLst>
          </p:nvPr>
        </p:nvGraphicFramePr>
        <p:xfrm>
          <a:off x="909002" y="2877506"/>
          <a:ext cx="8737918" cy="551494"/>
        </p:xfrm>
        <a:graphic>
          <a:graphicData uri="http://schemas.openxmlformats.org/drawingml/2006/table">
            <a:tbl>
              <a:tblPr>
                <a:tableStyleId>{5C22544A-7EE6-4342-B048-85BDC9FD1C3A}</a:tableStyleId>
              </a:tblPr>
              <a:tblGrid>
                <a:gridCol w="1650011">
                  <a:extLst>
                    <a:ext uri="{9D8B030D-6E8A-4147-A177-3AD203B41FA5}">
                      <a16:colId xmlns:a16="http://schemas.microsoft.com/office/drawing/2014/main" val="480770866"/>
                    </a:ext>
                  </a:extLst>
                </a:gridCol>
                <a:gridCol w="1125449">
                  <a:extLst>
                    <a:ext uri="{9D8B030D-6E8A-4147-A177-3AD203B41FA5}">
                      <a16:colId xmlns:a16="http://schemas.microsoft.com/office/drawing/2014/main" val="2340608177"/>
                    </a:ext>
                  </a:extLst>
                </a:gridCol>
                <a:gridCol w="3853342">
                  <a:extLst>
                    <a:ext uri="{9D8B030D-6E8A-4147-A177-3AD203B41FA5}">
                      <a16:colId xmlns:a16="http://schemas.microsoft.com/office/drawing/2014/main" val="3722835474"/>
                    </a:ext>
                  </a:extLst>
                </a:gridCol>
                <a:gridCol w="2109116">
                  <a:extLst>
                    <a:ext uri="{9D8B030D-6E8A-4147-A177-3AD203B41FA5}">
                      <a16:colId xmlns:a16="http://schemas.microsoft.com/office/drawing/2014/main" val="670409021"/>
                    </a:ext>
                  </a:extLst>
                </a:gridCol>
              </a:tblGrid>
              <a:tr h="551494">
                <a:tc>
                  <a:txBody>
                    <a:bodyPr/>
                    <a:lstStyle/>
                    <a:p>
                      <a:pPr algn="ctr">
                        <a:lnSpc>
                          <a:spcPts val="1400"/>
                        </a:lnSpc>
                        <a:spcAft>
                          <a:spcPts val="0"/>
                        </a:spcAft>
                      </a:pPr>
                      <a:r>
                        <a:rPr lang="en-US" sz="1600">
                          <a:effectLst/>
                        </a:rPr>
                        <a:t>GPF3DAT[5:0]</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ts val="1400"/>
                        </a:lnSpc>
                        <a:spcAft>
                          <a:spcPts val="0"/>
                        </a:spcAft>
                      </a:pPr>
                      <a:r>
                        <a:rPr lang="en-US" sz="1600">
                          <a:effectLst/>
                        </a:rPr>
                        <a:t>[5:0]</a:t>
                      </a:r>
                      <a:endParaRPr lang="zh-CN" sz="16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ts val="1400"/>
                        </a:lnSpc>
                        <a:spcAft>
                          <a:spcPts val="0"/>
                        </a:spcAft>
                      </a:pPr>
                      <a:r>
                        <a:rPr lang="zh-CN" sz="1600" dirty="0">
                          <a:effectLst/>
                        </a:rPr>
                        <a:t>该寄存器决定了输入或者输出的电平状态</a:t>
                      </a:r>
                      <a:endParaRPr lang="zh-CN" sz="16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ts val="1400"/>
                        </a:lnSpc>
                        <a:spcAft>
                          <a:spcPts val="0"/>
                        </a:spcAft>
                      </a:pPr>
                      <a:r>
                        <a:rPr lang="en-US" sz="1600" dirty="0">
                          <a:effectLst/>
                        </a:rPr>
                        <a:t>0x00</a:t>
                      </a:r>
                      <a:endParaRPr lang="zh-CN" sz="16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206405151"/>
                  </a:ext>
                </a:extLst>
              </a:tr>
            </a:tbl>
          </a:graphicData>
        </a:graphic>
      </p:graphicFrame>
    </p:spTree>
    <p:extLst>
      <p:ext uri="{BB962C8B-B14F-4D97-AF65-F5344CB8AC3E}">
        <p14:creationId xmlns:p14="http://schemas.microsoft.com/office/powerpoint/2010/main" val="14000270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A0B149CE-9086-47A8-BA43-16FD6CD1C22F}"/>
              </a:ext>
            </a:extLst>
          </p:cNvPr>
          <p:cNvSpPr>
            <a:spLocks noGrp="1"/>
          </p:cNvSpPr>
          <p:nvPr>
            <p:ph type="body" sz="quarter" idx="10"/>
          </p:nvPr>
        </p:nvSpPr>
        <p:spPr/>
        <p:txBody>
          <a:bodyPr/>
          <a:lstStyle/>
          <a:p>
            <a:pPr marL="457200" lvl="1" indent="0" fontAlgn="base">
              <a:buNone/>
            </a:pPr>
            <a:r>
              <a:rPr lang="en-US" altLang="zh-CN" sz="2800" b="1" dirty="0"/>
              <a:t>GPIO</a:t>
            </a:r>
            <a:r>
              <a:rPr lang="zh-CN" altLang="zh-CN" sz="2800" b="1" dirty="0"/>
              <a:t>控制实验</a:t>
            </a:r>
          </a:p>
          <a:p>
            <a:pPr marL="0" indent="0">
              <a:buNone/>
            </a:pPr>
            <a:r>
              <a:rPr lang="en-US" altLang="zh-CN" dirty="0"/>
              <a:t>     </a:t>
            </a:r>
            <a:r>
              <a:rPr lang="zh-CN" altLang="zh-CN" dirty="0"/>
              <a:t>了解了</a:t>
            </a:r>
            <a:r>
              <a:rPr lang="en-US" altLang="zh-CN" dirty="0"/>
              <a:t>GPIO</a:t>
            </a:r>
            <a:r>
              <a:rPr lang="zh-CN" altLang="zh-CN" dirty="0"/>
              <a:t>的功能，以及</a:t>
            </a:r>
            <a:r>
              <a:rPr lang="en-US" altLang="zh-CN" dirty="0"/>
              <a:t>GPF3DAT</a:t>
            </a:r>
            <a:r>
              <a:rPr lang="zh-CN" altLang="zh-CN" dirty="0"/>
              <a:t>芯片</a:t>
            </a:r>
            <a:r>
              <a:rPr lang="en-US" altLang="zh-CN" dirty="0"/>
              <a:t>GPIO</a:t>
            </a:r>
            <a:r>
              <a:rPr lang="zh-CN" altLang="zh-CN" dirty="0"/>
              <a:t>控制器的配置方法。通过一个简单示例说明</a:t>
            </a:r>
            <a:r>
              <a:rPr lang="en-US" altLang="zh-CN" dirty="0"/>
              <a:t>Exynos4412</a:t>
            </a:r>
            <a:r>
              <a:rPr lang="zh-CN" altLang="zh-CN" dirty="0"/>
              <a:t>的</a:t>
            </a:r>
            <a:r>
              <a:rPr lang="en-US" altLang="zh-CN" dirty="0"/>
              <a:t>GPIO</a:t>
            </a:r>
            <a:r>
              <a:rPr lang="zh-CN" altLang="zh-CN" dirty="0"/>
              <a:t>接口的应用。</a:t>
            </a:r>
            <a:endParaRPr lang="en-US" altLang="zh-CN" dirty="0"/>
          </a:p>
          <a:p>
            <a:pPr marL="0" indent="0">
              <a:buNone/>
            </a:pPr>
            <a:r>
              <a:rPr lang="en-US" altLang="zh-CN" sz="2800" b="1" dirty="0"/>
              <a:t>    </a:t>
            </a:r>
            <a:r>
              <a:rPr lang="zh-CN" altLang="zh-CN" sz="2800" b="1" dirty="0"/>
              <a:t>实验目的</a:t>
            </a:r>
          </a:p>
          <a:p>
            <a:pPr marL="0" indent="0">
              <a:buNone/>
            </a:pPr>
            <a:r>
              <a:rPr lang="en-US" altLang="zh-CN" dirty="0"/>
              <a:t>        </a:t>
            </a:r>
            <a:r>
              <a:rPr lang="zh-CN" altLang="zh-CN" dirty="0"/>
              <a:t>利用</a:t>
            </a:r>
            <a:r>
              <a:rPr lang="en-US" altLang="zh-CN" dirty="0"/>
              <a:t>Exynos4412</a:t>
            </a:r>
            <a:r>
              <a:rPr lang="zh-CN" altLang="zh-CN" dirty="0"/>
              <a:t>的</a:t>
            </a:r>
            <a:r>
              <a:rPr lang="en-US" altLang="zh-CN" dirty="0"/>
              <a:t>GPX2_7</a:t>
            </a:r>
            <a:r>
              <a:rPr lang="zh-CN" altLang="zh-CN" dirty="0"/>
              <a:t>、</a:t>
            </a:r>
            <a:r>
              <a:rPr lang="en-US" altLang="zh-CN" dirty="0"/>
              <a:t>GPX1_0</a:t>
            </a:r>
            <a:r>
              <a:rPr lang="zh-CN" altLang="zh-CN" dirty="0"/>
              <a:t>、</a:t>
            </a:r>
            <a:r>
              <a:rPr lang="en-US" altLang="zh-CN" dirty="0"/>
              <a:t>GPF3_4</a:t>
            </a:r>
            <a:r>
              <a:rPr lang="zh-CN" altLang="zh-CN" dirty="0"/>
              <a:t>、</a:t>
            </a:r>
            <a:r>
              <a:rPr lang="en-US" altLang="zh-CN" dirty="0"/>
              <a:t>GPF3_5</a:t>
            </a:r>
            <a:r>
              <a:rPr lang="zh-CN" altLang="zh-CN" dirty="0"/>
              <a:t>这</a:t>
            </a:r>
            <a:r>
              <a:rPr lang="zh-CN" altLang="en-US" dirty="0"/>
              <a:t>四</a:t>
            </a:r>
            <a:r>
              <a:rPr lang="zh-CN" altLang="zh-CN" dirty="0"/>
              <a:t>个</a:t>
            </a:r>
            <a:r>
              <a:rPr lang="en-US" altLang="zh-CN" dirty="0"/>
              <a:t>I/O</a:t>
            </a:r>
            <a:r>
              <a:rPr lang="zh-CN" altLang="zh-CN" dirty="0"/>
              <a:t>引脚控制</a:t>
            </a:r>
            <a:r>
              <a:rPr lang="en-US" altLang="zh-CN" dirty="0"/>
              <a:t>4</a:t>
            </a:r>
            <a:r>
              <a:rPr lang="zh-CN" altLang="zh-CN" dirty="0"/>
              <a:t>个</a:t>
            </a:r>
            <a:r>
              <a:rPr lang="en-US" altLang="zh-CN" dirty="0"/>
              <a:t>LED</a:t>
            </a:r>
            <a:r>
              <a:rPr lang="zh-CN" altLang="zh-CN" dirty="0"/>
              <a:t>发光二极管，使其有规律地闪烁。</a:t>
            </a:r>
            <a:endParaRPr lang="en-US" altLang="zh-CN" dirty="0"/>
          </a:p>
          <a:p>
            <a:pPr marL="0" indent="0">
              <a:buNone/>
            </a:pPr>
            <a:r>
              <a:rPr lang="en-US" altLang="zh-CN" sz="2800" b="1" dirty="0"/>
              <a:t>    </a:t>
            </a:r>
            <a:r>
              <a:rPr lang="zh-CN" altLang="zh-CN" sz="2800" b="1" dirty="0"/>
              <a:t>实验原理</a:t>
            </a:r>
          </a:p>
          <a:p>
            <a:pPr marL="0" indent="0">
              <a:buNone/>
            </a:pPr>
            <a:r>
              <a:rPr lang="en-US" altLang="zh-CN" dirty="0"/>
              <a:t>       </a:t>
            </a:r>
            <a:r>
              <a:rPr lang="zh-CN" altLang="zh-CN" dirty="0"/>
              <a:t>如图所示，</a:t>
            </a:r>
            <a:r>
              <a:rPr lang="en-US" altLang="zh-CN" dirty="0"/>
              <a:t>LED2-LED5</a:t>
            </a:r>
            <a:r>
              <a:rPr lang="zh-CN" altLang="zh-CN" dirty="0"/>
              <a:t>分别与</a:t>
            </a:r>
            <a:r>
              <a:rPr lang="en-US" altLang="zh-CN" dirty="0"/>
              <a:t>GPX2_7</a:t>
            </a:r>
            <a:r>
              <a:rPr lang="zh-CN" altLang="zh-CN" dirty="0"/>
              <a:t>、</a:t>
            </a:r>
            <a:r>
              <a:rPr lang="en-US" altLang="zh-CN" dirty="0"/>
              <a:t>GPX1_0</a:t>
            </a:r>
            <a:r>
              <a:rPr lang="zh-CN" altLang="zh-CN" dirty="0"/>
              <a:t>、</a:t>
            </a:r>
            <a:r>
              <a:rPr lang="en-US" altLang="zh-CN" dirty="0"/>
              <a:t>GPF3_4</a:t>
            </a:r>
            <a:r>
              <a:rPr lang="zh-CN" altLang="zh-CN" dirty="0"/>
              <a:t>、</a:t>
            </a:r>
            <a:r>
              <a:rPr lang="en-US" altLang="zh-CN" dirty="0"/>
              <a:t>GPF3_5</a:t>
            </a:r>
            <a:r>
              <a:rPr lang="zh-CN" altLang="zh-CN" dirty="0"/>
              <a:t>相连，通过</a:t>
            </a:r>
            <a:r>
              <a:rPr lang="en-US" altLang="zh-CN" dirty="0"/>
              <a:t>GPX2_7</a:t>
            </a:r>
            <a:r>
              <a:rPr lang="zh-CN" altLang="zh-CN" dirty="0"/>
              <a:t>、</a:t>
            </a:r>
            <a:r>
              <a:rPr lang="en-US" altLang="zh-CN" dirty="0"/>
              <a:t>GPX1_0</a:t>
            </a:r>
            <a:r>
              <a:rPr lang="zh-CN" altLang="zh-CN" dirty="0"/>
              <a:t>、</a:t>
            </a:r>
            <a:r>
              <a:rPr lang="en-US" altLang="zh-CN" dirty="0"/>
              <a:t>GPF3_4</a:t>
            </a:r>
            <a:r>
              <a:rPr lang="zh-CN" altLang="zh-CN" dirty="0"/>
              <a:t>、</a:t>
            </a:r>
            <a:r>
              <a:rPr lang="en-US" altLang="zh-CN" dirty="0"/>
              <a:t>GPF3_5</a:t>
            </a:r>
            <a:r>
              <a:rPr lang="zh-CN" altLang="zh-CN" dirty="0"/>
              <a:t>引脚的高低电平来控制三极管的导通性，从而控制</a:t>
            </a:r>
            <a:r>
              <a:rPr lang="en-US" altLang="zh-CN" dirty="0"/>
              <a:t>LED</a:t>
            </a:r>
            <a:r>
              <a:rPr lang="zh-CN" altLang="zh-CN" dirty="0"/>
              <a:t>的亮灭。</a:t>
            </a:r>
          </a:p>
          <a:p>
            <a:endParaRPr lang="zh-CN" altLang="en-US" dirty="0"/>
          </a:p>
        </p:txBody>
      </p:sp>
    </p:spTree>
    <p:extLst>
      <p:ext uri="{BB962C8B-B14F-4D97-AF65-F5344CB8AC3E}">
        <p14:creationId xmlns:p14="http://schemas.microsoft.com/office/powerpoint/2010/main" val="19239293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GB" altLang="zh-CN" dirty="0"/>
              <a:t> GPIO</a:t>
            </a:r>
            <a:r>
              <a:rPr lang="zh-CN" altLang="zh-CN" dirty="0"/>
              <a:t>实例硬件连接</a:t>
            </a:r>
            <a:br>
              <a:rPr lang="zh-CN" altLang="zh-CN" dirty="0"/>
            </a:br>
            <a:endParaRPr kumimoji="1" lang="zh-CN" altLang="en-US" dirty="0"/>
          </a:p>
        </p:txBody>
      </p:sp>
      <p:sp>
        <p:nvSpPr>
          <p:cNvPr id="3" name="文本占位符 2"/>
          <p:cNvSpPr>
            <a:spLocks noGrp="1"/>
          </p:cNvSpPr>
          <p:nvPr>
            <p:ph type="body" sz="quarter" idx="10"/>
          </p:nvPr>
        </p:nvSpPr>
        <p:spPr/>
        <p:txBody>
          <a:bodyPr/>
          <a:lstStyle/>
          <a:p>
            <a:endParaRPr kumimoji="1" lang="zh-CN" altLang="en-US" dirty="0"/>
          </a:p>
        </p:txBody>
      </p:sp>
      <p:pic>
        <p:nvPicPr>
          <p:cNvPr id="4" name="图片 3"/>
          <p:cNvPicPr/>
          <p:nvPr/>
        </p:nvPicPr>
        <p:blipFill>
          <a:blip r:embed="rId2">
            <a:extLst>
              <a:ext uri="{28A0092B-C50C-407E-A947-70E740481C1C}">
                <a14:useLocalDpi xmlns:a14="http://schemas.microsoft.com/office/drawing/2010/main" val="0"/>
              </a:ext>
            </a:extLst>
          </a:blip>
          <a:srcRect t="5496" b="2394"/>
          <a:stretch>
            <a:fillRect/>
          </a:stretch>
        </p:blipFill>
        <p:spPr>
          <a:xfrm>
            <a:off x="3311691" y="1941403"/>
            <a:ext cx="4304453" cy="3455247"/>
          </a:xfrm>
          <a:prstGeom prst="rect">
            <a:avLst/>
          </a:prstGeom>
          <a:noFill/>
          <a:ln>
            <a:noFill/>
          </a:ln>
        </p:spPr>
      </p:pic>
    </p:spTree>
    <p:extLst>
      <p:ext uri="{BB962C8B-B14F-4D97-AF65-F5344CB8AC3E}">
        <p14:creationId xmlns:p14="http://schemas.microsoft.com/office/powerpoint/2010/main" val="7585031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ACD0FE-743A-4190-A093-73ABC0AB44DE}"/>
              </a:ext>
            </a:extLst>
          </p:cNvPr>
          <p:cNvSpPr>
            <a:spLocks noGrp="1"/>
          </p:cNvSpPr>
          <p:nvPr>
            <p:ph type="title"/>
          </p:nvPr>
        </p:nvSpPr>
        <p:spPr/>
        <p:txBody>
          <a:bodyPr>
            <a:normAutofit fontScale="90000"/>
          </a:bodyPr>
          <a:lstStyle/>
          <a:p>
            <a:endParaRPr lang="zh-CN" altLang="en-US"/>
          </a:p>
        </p:txBody>
      </p:sp>
      <p:sp>
        <p:nvSpPr>
          <p:cNvPr id="3" name="文本占位符 2">
            <a:extLst>
              <a:ext uri="{FF2B5EF4-FFF2-40B4-BE49-F238E27FC236}">
                <a16:creationId xmlns:a16="http://schemas.microsoft.com/office/drawing/2014/main" id="{E0AD94E3-12EB-489A-BF49-2575F92F3D1A}"/>
              </a:ext>
            </a:extLst>
          </p:cNvPr>
          <p:cNvSpPr>
            <a:spLocks noGrp="1"/>
          </p:cNvSpPr>
          <p:nvPr>
            <p:ph type="body" sz="quarter" idx="10"/>
          </p:nvPr>
        </p:nvSpPr>
        <p:spPr/>
        <p:txBody>
          <a:bodyPr/>
          <a:lstStyle/>
          <a:p>
            <a:r>
              <a:rPr lang="zh-CN" altLang="zh-CN" dirty="0"/>
              <a:t>通过控制</a:t>
            </a:r>
            <a:r>
              <a:rPr lang="en-GB" altLang="zh-CN" dirty="0"/>
              <a:t>GPX1CON</a:t>
            </a:r>
            <a:r>
              <a:rPr lang="zh-CN" altLang="zh-CN" dirty="0"/>
              <a:t>和</a:t>
            </a:r>
            <a:r>
              <a:rPr lang="en-GB" altLang="zh-CN" dirty="0"/>
              <a:t>GPX1DAT</a:t>
            </a:r>
            <a:r>
              <a:rPr lang="zh-CN" altLang="zh-CN" dirty="0"/>
              <a:t>来控制</a:t>
            </a:r>
            <a:r>
              <a:rPr lang="en-GB" altLang="zh-CN" dirty="0"/>
              <a:t>GPX1_0</a:t>
            </a:r>
            <a:r>
              <a:rPr lang="zh-CN" altLang="zh-CN" dirty="0"/>
              <a:t>对应的</a:t>
            </a:r>
            <a:r>
              <a:rPr lang="en-GB" altLang="zh-CN" dirty="0"/>
              <a:t>LED</a:t>
            </a:r>
            <a:r>
              <a:rPr lang="zh-CN" altLang="zh-CN" dirty="0"/>
              <a:t>。</a:t>
            </a:r>
          </a:p>
          <a:p>
            <a:endParaRPr lang="zh-CN" altLang="en-US" dirty="0"/>
          </a:p>
        </p:txBody>
      </p:sp>
      <p:pic>
        <p:nvPicPr>
          <p:cNvPr id="4" name="图片 3">
            <a:extLst>
              <a:ext uri="{FF2B5EF4-FFF2-40B4-BE49-F238E27FC236}">
                <a16:creationId xmlns:a16="http://schemas.microsoft.com/office/drawing/2014/main" id="{90FD1194-03E5-4EE9-AF88-DDD708D204A8}"/>
              </a:ext>
            </a:extLst>
          </p:cNvPr>
          <p:cNvPicPr/>
          <p:nvPr/>
        </p:nvPicPr>
        <p:blipFill>
          <a:blip r:embed="rId2" cstate="print"/>
          <a:stretch>
            <a:fillRect/>
          </a:stretch>
        </p:blipFill>
        <p:spPr>
          <a:xfrm>
            <a:off x="1067752" y="1753552"/>
            <a:ext cx="3457575" cy="561975"/>
          </a:xfrm>
          <a:prstGeom prst="rect">
            <a:avLst/>
          </a:prstGeom>
        </p:spPr>
      </p:pic>
      <p:pic>
        <p:nvPicPr>
          <p:cNvPr id="5" name="图片 4">
            <a:extLst>
              <a:ext uri="{FF2B5EF4-FFF2-40B4-BE49-F238E27FC236}">
                <a16:creationId xmlns:a16="http://schemas.microsoft.com/office/drawing/2014/main" id="{EE76EEAB-9D03-457C-B227-450830FAF5EE}"/>
              </a:ext>
            </a:extLst>
          </p:cNvPr>
          <p:cNvPicPr/>
          <p:nvPr/>
        </p:nvPicPr>
        <p:blipFill>
          <a:blip r:embed="rId3" cstate="print"/>
          <a:stretch>
            <a:fillRect/>
          </a:stretch>
        </p:blipFill>
        <p:spPr>
          <a:xfrm>
            <a:off x="1007745" y="2730513"/>
            <a:ext cx="4867275" cy="990600"/>
          </a:xfrm>
          <a:prstGeom prst="rect">
            <a:avLst/>
          </a:prstGeom>
        </p:spPr>
      </p:pic>
      <p:pic>
        <p:nvPicPr>
          <p:cNvPr id="6" name="图片 5">
            <a:extLst>
              <a:ext uri="{FF2B5EF4-FFF2-40B4-BE49-F238E27FC236}">
                <a16:creationId xmlns:a16="http://schemas.microsoft.com/office/drawing/2014/main" id="{E8D40695-6F82-4601-B423-A0B8131FD02B}"/>
              </a:ext>
            </a:extLst>
          </p:cNvPr>
          <p:cNvPicPr/>
          <p:nvPr/>
        </p:nvPicPr>
        <p:blipFill>
          <a:blip r:embed="rId4" cstate="print"/>
          <a:stretch>
            <a:fillRect/>
          </a:stretch>
        </p:blipFill>
        <p:spPr>
          <a:xfrm>
            <a:off x="1067752" y="4001452"/>
            <a:ext cx="4914900" cy="1400175"/>
          </a:xfrm>
          <a:prstGeom prst="rect">
            <a:avLst/>
          </a:prstGeom>
        </p:spPr>
      </p:pic>
    </p:spTree>
    <p:extLst>
      <p:ext uri="{BB962C8B-B14F-4D97-AF65-F5344CB8AC3E}">
        <p14:creationId xmlns:p14="http://schemas.microsoft.com/office/powerpoint/2010/main" val="851008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00A299-C375-42B4-89B1-A9754D1D232B}"/>
              </a:ext>
            </a:extLst>
          </p:cNvPr>
          <p:cNvSpPr>
            <a:spLocks noGrp="1"/>
          </p:cNvSpPr>
          <p:nvPr>
            <p:ph type="title"/>
          </p:nvPr>
        </p:nvSpPr>
        <p:spPr/>
        <p:txBody>
          <a:bodyPr>
            <a:normAutofit fontScale="90000"/>
          </a:bodyPr>
          <a:lstStyle/>
          <a:p>
            <a:endParaRPr lang="zh-CN" altLang="en-US"/>
          </a:p>
        </p:txBody>
      </p:sp>
      <p:sp>
        <p:nvSpPr>
          <p:cNvPr id="3" name="文本占位符 2">
            <a:extLst>
              <a:ext uri="{FF2B5EF4-FFF2-40B4-BE49-F238E27FC236}">
                <a16:creationId xmlns:a16="http://schemas.microsoft.com/office/drawing/2014/main" id="{CAA3B4B5-BD8C-4129-A7A5-5F969054E175}"/>
              </a:ext>
            </a:extLst>
          </p:cNvPr>
          <p:cNvSpPr>
            <a:spLocks noGrp="1"/>
          </p:cNvSpPr>
          <p:nvPr>
            <p:ph type="body" sz="quarter" idx="10"/>
          </p:nvPr>
        </p:nvSpPr>
        <p:spPr/>
        <p:txBody>
          <a:bodyPr/>
          <a:lstStyle/>
          <a:p>
            <a:endParaRPr lang="zh-CN" altLang="en-US" dirty="0"/>
          </a:p>
        </p:txBody>
      </p:sp>
      <p:pic>
        <p:nvPicPr>
          <p:cNvPr id="4" name="图片 3">
            <a:extLst>
              <a:ext uri="{FF2B5EF4-FFF2-40B4-BE49-F238E27FC236}">
                <a16:creationId xmlns:a16="http://schemas.microsoft.com/office/drawing/2014/main" id="{B7EC5279-1864-4FD7-81E3-BC62F8D519AD}"/>
              </a:ext>
            </a:extLst>
          </p:cNvPr>
          <p:cNvPicPr/>
          <p:nvPr/>
        </p:nvPicPr>
        <p:blipFill>
          <a:blip r:embed="rId2" cstate="print"/>
          <a:stretch>
            <a:fillRect/>
          </a:stretch>
        </p:blipFill>
        <p:spPr>
          <a:xfrm>
            <a:off x="3455670" y="1435417"/>
            <a:ext cx="4914900" cy="1762125"/>
          </a:xfrm>
          <a:prstGeom prst="rect">
            <a:avLst/>
          </a:prstGeom>
        </p:spPr>
      </p:pic>
      <p:pic>
        <p:nvPicPr>
          <p:cNvPr id="5" name="图片 4">
            <a:extLst>
              <a:ext uri="{FF2B5EF4-FFF2-40B4-BE49-F238E27FC236}">
                <a16:creationId xmlns:a16="http://schemas.microsoft.com/office/drawing/2014/main" id="{C739117E-6CEA-4123-AD26-9ABF7CC65FE3}"/>
              </a:ext>
            </a:extLst>
          </p:cNvPr>
          <p:cNvPicPr/>
          <p:nvPr/>
        </p:nvPicPr>
        <p:blipFill>
          <a:blip r:embed="rId3" cstate="print"/>
          <a:stretch>
            <a:fillRect/>
          </a:stretch>
        </p:blipFill>
        <p:spPr>
          <a:xfrm>
            <a:off x="3512820" y="3660459"/>
            <a:ext cx="4857750" cy="1457325"/>
          </a:xfrm>
          <a:prstGeom prst="rect">
            <a:avLst/>
          </a:prstGeom>
        </p:spPr>
      </p:pic>
    </p:spTree>
    <p:extLst>
      <p:ext uri="{BB962C8B-B14F-4D97-AF65-F5344CB8AC3E}">
        <p14:creationId xmlns:p14="http://schemas.microsoft.com/office/powerpoint/2010/main" val="3253414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FAABAB-C808-4B0F-A80A-C9110517F619}"/>
              </a:ext>
            </a:extLst>
          </p:cNvPr>
          <p:cNvSpPr>
            <a:spLocks noGrp="1"/>
          </p:cNvSpPr>
          <p:nvPr>
            <p:ph type="title"/>
          </p:nvPr>
        </p:nvSpPr>
        <p:spPr/>
        <p:txBody>
          <a:bodyPr>
            <a:normAutofit fontScale="90000"/>
          </a:bodyPr>
          <a:lstStyle/>
          <a:p>
            <a:endParaRPr lang="zh-CN" altLang="en-US"/>
          </a:p>
        </p:txBody>
      </p:sp>
      <p:sp>
        <p:nvSpPr>
          <p:cNvPr id="3" name="文本占位符 2">
            <a:extLst>
              <a:ext uri="{FF2B5EF4-FFF2-40B4-BE49-F238E27FC236}">
                <a16:creationId xmlns:a16="http://schemas.microsoft.com/office/drawing/2014/main" id="{866B5541-F2A5-453C-956A-08E9B200CBFC}"/>
              </a:ext>
            </a:extLst>
          </p:cNvPr>
          <p:cNvSpPr>
            <a:spLocks noGrp="1"/>
          </p:cNvSpPr>
          <p:nvPr>
            <p:ph type="body" sz="quarter" idx="10"/>
          </p:nvPr>
        </p:nvSpPr>
        <p:spPr/>
        <p:txBody>
          <a:bodyPr>
            <a:normAutofit fontScale="85000" lnSpcReduction="20000"/>
          </a:bodyPr>
          <a:lstStyle/>
          <a:p>
            <a:r>
              <a:rPr lang="zh-CN" altLang="zh-CN" dirty="0"/>
              <a:t>为了实现控制</a:t>
            </a:r>
            <a:r>
              <a:rPr lang="en-US" altLang="zh-CN" dirty="0"/>
              <a:t>LED</a:t>
            </a:r>
            <a:r>
              <a:rPr lang="zh-CN" altLang="zh-CN" dirty="0"/>
              <a:t>的目的，需要通过配置</a:t>
            </a:r>
            <a:r>
              <a:rPr lang="en-US" altLang="zh-CN" dirty="0"/>
              <a:t>GPX1CON</a:t>
            </a:r>
            <a:r>
              <a:rPr lang="zh-CN" altLang="zh-CN" dirty="0"/>
              <a:t>、</a:t>
            </a:r>
            <a:r>
              <a:rPr lang="en-US" altLang="zh-CN" dirty="0"/>
              <a:t>GPX2CON</a:t>
            </a:r>
            <a:r>
              <a:rPr lang="zh-CN" altLang="zh-CN" dirty="0"/>
              <a:t>、</a:t>
            </a:r>
            <a:r>
              <a:rPr lang="en-US" altLang="zh-CN" dirty="0"/>
              <a:t>GPF3CON</a:t>
            </a:r>
            <a:r>
              <a:rPr lang="zh-CN" altLang="zh-CN" dirty="0"/>
              <a:t>寄存器将</a:t>
            </a:r>
            <a:r>
              <a:rPr lang="en-US" altLang="zh-CN" dirty="0"/>
              <a:t>GPX2_7</a:t>
            </a:r>
            <a:r>
              <a:rPr lang="zh-CN" altLang="zh-CN" dirty="0"/>
              <a:t>、</a:t>
            </a:r>
            <a:r>
              <a:rPr lang="en-US" altLang="zh-CN" dirty="0"/>
              <a:t>GPX1_0</a:t>
            </a:r>
            <a:r>
              <a:rPr lang="zh-CN" altLang="zh-CN" dirty="0"/>
              <a:t>、</a:t>
            </a:r>
            <a:r>
              <a:rPr lang="en-US" altLang="zh-CN" dirty="0"/>
              <a:t>GPF3_4</a:t>
            </a:r>
            <a:r>
              <a:rPr lang="zh-CN" altLang="zh-CN" dirty="0"/>
              <a:t>、</a:t>
            </a:r>
            <a:r>
              <a:rPr lang="en-US" altLang="zh-CN" dirty="0"/>
              <a:t>GPF3_5</a:t>
            </a:r>
            <a:r>
              <a:rPr lang="zh-CN" altLang="zh-CN" dirty="0"/>
              <a:t>设置为输出属性。通过设置对应的</a:t>
            </a:r>
            <a:r>
              <a:rPr lang="en-US" altLang="zh-CN" dirty="0"/>
              <a:t>DAT</a:t>
            </a:r>
            <a:r>
              <a:rPr lang="zh-CN" altLang="zh-CN" dirty="0"/>
              <a:t>寄存器实现点亮与熄灭</a:t>
            </a:r>
            <a:r>
              <a:rPr lang="en-US" altLang="zh-CN" dirty="0"/>
              <a:t>LED</a:t>
            </a:r>
            <a:r>
              <a:rPr lang="zh-CN" altLang="zh-CN" dirty="0"/>
              <a:t>。</a:t>
            </a:r>
          </a:p>
          <a:p>
            <a:r>
              <a:rPr lang="zh-CN" altLang="zh-CN" dirty="0"/>
              <a:t>对于本例来说，各个</a:t>
            </a:r>
            <a:r>
              <a:rPr lang="en-US" altLang="zh-CN" dirty="0"/>
              <a:t>GPIO</a:t>
            </a:r>
            <a:r>
              <a:rPr lang="zh-CN" altLang="zh-CN" dirty="0"/>
              <a:t>的上拉寄存器可以不用设置。</a:t>
            </a:r>
          </a:p>
          <a:p>
            <a:pPr marL="0" indent="0">
              <a:buNone/>
            </a:pPr>
            <a:r>
              <a:rPr lang="en-US" altLang="zh-CN" dirty="0"/>
              <a:t>#include "exynos_4412.h"</a:t>
            </a:r>
            <a:br>
              <a:rPr lang="en-US" altLang="zh-CN" dirty="0"/>
            </a:br>
            <a:br>
              <a:rPr lang="en-US" altLang="zh-CN" dirty="0"/>
            </a:br>
            <a:br>
              <a:rPr lang="en-US" altLang="zh-CN" dirty="0"/>
            </a:br>
            <a:r>
              <a:rPr lang="en-US" altLang="zh-CN" dirty="0"/>
              <a:t>/**********************************************************************</a:t>
            </a:r>
            <a:br>
              <a:rPr lang="en-US" altLang="zh-CN" dirty="0"/>
            </a:br>
            <a:r>
              <a:rPr lang="en-US" altLang="zh-CN" dirty="0"/>
              <a:t> * @brief       </a:t>
            </a:r>
            <a:r>
              <a:rPr lang="en-US" altLang="zh-CN" dirty="0" err="1"/>
              <a:t>mydelay_ms</a:t>
            </a:r>
            <a:r>
              <a:rPr lang="en-US" altLang="zh-CN" dirty="0"/>
              <a:t> program body</a:t>
            </a:r>
            <a:br>
              <a:rPr lang="en-US" altLang="zh-CN" dirty="0"/>
            </a:br>
            <a:r>
              <a:rPr lang="en-US" altLang="zh-CN" dirty="0"/>
              <a:t> * @param[in]   int (</a:t>
            </a:r>
            <a:r>
              <a:rPr lang="en-US" altLang="zh-CN" dirty="0" err="1"/>
              <a:t>ms</a:t>
            </a:r>
            <a:r>
              <a:rPr lang="en-US" altLang="zh-CN" dirty="0"/>
              <a:t>)</a:t>
            </a:r>
            <a:br>
              <a:rPr lang="en-US" altLang="zh-CN" dirty="0"/>
            </a:br>
            <a:r>
              <a:rPr lang="en-US" altLang="zh-CN" dirty="0"/>
              <a:t> * @return      None</a:t>
            </a:r>
            <a:br>
              <a:rPr lang="en-US" altLang="zh-CN" dirty="0"/>
            </a:br>
            <a:r>
              <a:rPr lang="en-US" altLang="zh-CN" dirty="0"/>
              <a:t> **********************************************************************/</a:t>
            </a:r>
            <a:br>
              <a:rPr lang="en-US" altLang="zh-CN" dirty="0"/>
            </a:br>
            <a:r>
              <a:rPr lang="en-US" altLang="zh-CN" dirty="0"/>
              <a:t>void </a:t>
            </a:r>
            <a:r>
              <a:rPr lang="en-US" altLang="zh-CN" dirty="0" err="1"/>
              <a:t>mydelay_ms</a:t>
            </a:r>
            <a:r>
              <a:rPr lang="en-US" altLang="zh-CN" dirty="0"/>
              <a:t>(int </a:t>
            </a:r>
            <a:r>
              <a:rPr lang="en-US" altLang="zh-CN" dirty="0" err="1"/>
              <a:t>ms</a:t>
            </a:r>
            <a:r>
              <a:rPr lang="en-US" altLang="zh-CN" dirty="0"/>
              <a:t>)</a:t>
            </a:r>
            <a:br>
              <a:rPr lang="en-US" altLang="zh-CN" dirty="0"/>
            </a:br>
            <a:r>
              <a:rPr lang="en-US" altLang="zh-CN" dirty="0"/>
              <a:t>{</a:t>
            </a:r>
            <a:br>
              <a:rPr lang="en-US" altLang="zh-CN" dirty="0"/>
            </a:br>
            <a:r>
              <a:rPr lang="en-US" altLang="zh-CN" dirty="0"/>
              <a:t>    int </a:t>
            </a:r>
            <a:r>
              <a:rPr lang="en-US" altLang="zh-CN" dirty="0" err="1"/>
              <a:t>i</a:t>
            </a:r>
            <a:r>
              <a:rPr lang="en-US" altLang="zh-CN" dirty="0"/>
              <a:t>, j;</a:t>
            </a:r>
            <a:br>
              <a:rPr lang="en-US" altLang="zh-CN" dirty="0"/>
            </a:br>
            <a:r>
              <a:rPr lang="en-US" altLang="zh-CN" dirty="0"/>
              <a:t>    while(</a:t>
            </a:r>
            <a:r>
              <a:rPr lang="en-US" altLang="zh-CN" dirty="0" err="1"/>
              <a:t>ms</a:t>
            </a:r>
            <a:r>
              <a:rPr lang="en-US" altLang="zh-CN" dirty="0"/>
              <a:t>--)</a:t>
            </a:r>
            <a:br>
              <a:rPr lang="en-US" altLang="zh-CN" dirty="0"/>
            </a:br>
            <a:r>
              <a:rPr lang="en-US" altLang="zh-CN" dirty="0"/>
              <a:t>    {</a:t>
            </a:r>
            <a:br>
              <a:rPr lang="en-US" altLang="zh-CN" dirty="0"/>
            </a:br>
            <a:r>
              <a:rPr lang="en-US" altLang="zh-CN" dirty="0"/>
              <a:t>        for (</a:t>
            </a:r>
            <a:r>
              <a:rPr lang="en-US" altLang="zh-CN" dirty="0" err="1"/>
              <a:t>i</a:t>
            </a:r>
            <a:r>
              <a:rPr lang="en-US" altLang="zh-CN" dirty="0"/>
              <a:t> = 0; </a:t>
            </a:r>
            <a:r>
              <a:rPr lang="en-US" altLang="zh-CN" dirty="0" err="1"/>
              <a:t>i</a:t>
            </a:r>
            <a:r>
              <a:rPr lang="en-US" altLang="zh-CN" dirty="0"/>
              <a:t> &lt; 5; </a:t>
            </a:r>
            <a:r>
              <a:rPr lang="en-US" altLang="zh-CN" dirty="0" err="1"/>
              <a:t>i</a:t>
            </a:r>
            <a:r>
              <a:rPr lang="en-US" altLang="zh-CN" dirty="0"/>
              <a:t>++)</a:t>
            </a:r>
            <a:br>
              <a:rPr lang="en-US" altLang="zh-CN" dirty="0"/>
            </a:br>
            <a:r>
              <a:rPr lang="en-US" altLang="zh-CN" dirty="0"/>
              <a:t>            for (j = 0; j &lt; 514; </a:t>
            </a:r>
            <a:r>
              <a:rPr lang="en-US" altLang="zh-CN" dirty="0" err="1"/>
              <a:t>j++</a:t>
            </a:r>
            <a:r>
              <a:rPr lang="en-US" altLang="zh-CN" dirty="0"/>
              <a:t>);</a:t>
            </a:r>
            <a:br>
              <a:rPr lang="en-US" altLang="zh-CN" dirty="0"/>
            </a:br>
            <a:r>
              <a:rPr lang="en-US" altLang="zh-CN" dirty="0"/>
              <a:t>    }</a:t>
            </a:r>
            <a:br>
              <a:rPr lang="en-US" altLang="zh-CN" dirty="0"/>
            </a:br>
            <a:r>
              <a:rPr lang="en-US" altLang="zh-CN" dirty="0"/>
              <a:t>}</a:t>
            </a:r>
            <a:br>
              <a:rPr lang="en-US" altLang="zh-CN" dirty="0"/>
            </a:br>
            <a:br>
              <a:rPr lang="en-US" altLang="zh-CN" dirty="0"/>
            </a:br>
            <a:r>
              <a:rPr lang="en-US" altLang="zh-CN" dirty="0"/>
              <a:t>/*-------------------------MAIN FUNCTION------------------------------*/</a:t>
            </a:r>
            <a:br>
              <a:rPr lang="en-US" altLang="zh-CN" dirty="0"/>
            </a:br>
            <a:endParaRPr lang="zh-CN" altLang="en-US" dirty="0"/>
          </a:p>
        </p:txBody>
      </p:sp>
    </p:spTree>
    <p:extLst>
      <p:ext uri="{BB962C8B-B14F-4D97-AF65-F5344CB8AC3E}">
        <p14:creationId xmlns:p14="http://schemas.microsoft.com/office/powerpoint/2010/main" val="19937513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14F0BB-FFEC-41AE-9DF3-747F3AA8DD78}"/>
              </a:ext>
            </a:extLst>
          </p:cNvPr>
          <p:cNvSpPr>
            <a:spLocks noGrp="1"/>
          </p:cNvSpPr>
          <p:nvPr>
            <p:ph type="title"/>
          </p:nvPr>
        </p:nvSpPr>
        <p:spPr/>
        <p:txBody>
          <a:bodyPr>
            <a:normAutofit fontScale="90000"/>
          </a:bodyPr>
          <a:lstStyle/>
          <a:p>
            <a:endParaRPr lang="zh-CN" altLang="en-US"/>
          </a:p>
        </p:txBody>
      </p:sp>
      <p:sp>
        <p:nvSpPr>
          <p:cNvPr id="3" name="文本占位符 2">
            <a:extLst>
              <a:ext uri="{FF2B5EF4-FFF2-40B4-BE49-F238E27FC236}">
                <a16:creationId xmlns:a16="http://schemas.microsoft.com/office/drawing/2014/main" id="{46DFED84-595E-4B6E-85D5-E506F9BDBDB6}"/>
              </a:ext>
            </a:extLst>
          </p:cNvPr>
          <p:cNvSpPr>
            <a:spLocks noGrp="1"/>
          </p:cNvSpPr>
          <p:nvPr>
            <p:ph type="body" sz="quarter" idx="10"/>
          </p:nvPr>
        </p:nvSpPr>
        <p:spPr/>
        <p:txBody>
          <a:bodyPr>
            <a:normAutofit fontScale="70000" lnSpcReduction="20000"/>
          </a:bodyPr>
          <a:lstStyle/>
          <a:p>
            <a:r>
              <a:rPr lang="en-US" altLang="zh-CN" dirty="0"/>
              <a:t>/*-------------------------MAIN FUNCTION------------------------------*/</a:t>
            </a:r>
            <a:br>
              <a:rPr lang="en-US" altLang="zh-CN" dirty="0"/>
            </a:br>
            <a:r>
              <a:rPr lang="en-US" altLang="zh-CN" dirty="0"/>
              <a:t>/**********************************************************************</a:t>
            </a:r>
            <a:br>
              <a:rPr lang="en-US" altLang="zh-CN" dirty="0"/>
            </a:br>
            <a:r>
              <a:rPr lang="en-US" altLang="zh-CN" dirty="0"/>
              <a:t> * @brief       Main program body</a:t>
            </a:r>
            <a:br>
              <a:rPr lang="en-US" altLang="zh-CN" dirty="0"/>
            </a:br>
            <a:r>
              <a:rPr lang="en-US" altLang="zh-CN" dirty="0"/>
              <a:t> * @param[in]   None</a:t>
            </a:r>
            <a:br>
              <a:rPr lang="en-US" altLang="zh-CN" dirty="0"/>
            </a:br>
            <a:r>
              <a:rPr lang="en-US" altLang="zh-CN" dirty="0"/>
              <a:t> * @return      int</a:t>
            </a:r>
            <a:br>
              <a:rPr lang="en-US" altLang="zh-CN" dirty="0"/>
            </a:br>
            <a:r>
              <a:rPr lang="en-US" altLang="zh-CN" dirty="0"/>
              <a:t> **********************************************************************/</a:t>
            </a:r>
            <a:br>
              <a:rPr lang="en-US" altLang="zh-CN" dirty="0"/>
            </a:br>
            <a:r>
              <a:rPr lang="en-US" altLang="zh-CN" dirty="0"/>
              <a:t>int main(void)</a:t>
            </a:r>
            <a:br>
              <a:rPr lang="en-US" altLang="zh-CN" dirty="0"/>
            </a:br>
            <a:r>
              <a:rPr lang="en-US" altLang="zh-CN" dirty="0"/>
              <a:t>{</a:t>
            </a:r>
            <a:br>
              <a:rPr lang="en-US" altLang="zh-CN" dirty="0"/>
            </a:br>
            <a:r>
              <a:rPr lang="en-US" altLang="zh-CN" dirty="0"/>
              <a:t>    /*</a:t>
            </a:r>
            <a:br>
              <a:rPr lang="en-US" altLang="zh-CN" dirty="0"/>
            </a:br>
            <a:r>
              <a:rPr lang="en-US" altLang="zh-CN" dirty="0"/>
              <a:t>     *Config</a:t>
            </a:r>
            <a:br>
              <a:rPr lang="en-US" altLang="zh-CN" dirty="0"/>
            </a:br>
            <a:r>
              <a:rPr lang="en-US" altLang="zh-CN" dirty="0"/>
              <a:t>     */</a:t>
            </a:r>
            <a:br>
              <a:rPr lang="en-US" altLang="zh-CN" dirty="0"/>
            </a:br>
            <a:br>
              <a:rPr lang="en-US" altLang="zh-CN" dirty="0"/>
            </a:br>
            <a:r>
              <a:rPr lang="en-US" altLang="zh-CN" dirty="0"/>
              <a:t>    GPX2.CON = (GPX2.CON &amp; ~(0xf&lt;&lt;28))| 1&lt;&lt;28;//GPX2_7:output, LED2</a:t>
            </a:r>
            <a:br>
              <a:rPr lang="en-US" altLang="zh-CN" dirty="0"/>
            </a:br>
            <a:r>
              <a:rPr lang="en-US" altLang="zh-CN" dirty="0"/>
              <a:t>    GPX1.CON = (GPX1.CON &amp; ~(0xf)) | 1; //GPX1_0:output, LED3</a:t>
            </a:r>
            <a:br>
              <a:rPr lang="en-US" altLang="zh-CN" dirty="0"/>
            </a:br>
            <a:r>
              <a:rPr lang="en-US" altLang="zh-CN" dirty="0"/>
              <a:t>    GPF3.CON = (GPX3.CON &amp; ~(0xf&lt;&lt;16 | 0xf&lt;&lt;20)) | (1&lt;&lt;16 | 1&lt;&lt;20);//GPF3_4:output, LED4</a:t>
            </a:r>
            <a:br>
              <a:rPr lang="en-US" altLang="zh-CN" dirty="0"/>
            </a:br>
            <a:r>
              <a:rPr lang="en-US" altLang="zh-CN" dirty="0"/>
              <a:t>                                                                   //GPF3_5:output, LED5</a:t>
            </a:r>
            <a:br>
              <a:rPr lang="en-US" altLang="zh-CN" dirty="0"/>
            </a:br>
            <a:br>
              <a:rPr lang="en-US" altLang="zh-CN" dirty="0"/>
            </a:br>
            <a:r>
              <a:rPr lang="en-US" altLang="zh-CN" dirty="0"/>
              <a:t>    while(1)</a:t>
            </a:r>
            <a:br>
              <a:rPr lang="en-US" altLang="zh-CN" dirty="0"/>
            </a:br>
            <a:r>
              <a:rPr lang="en-US" altLang="zh-CN" dirty="0"/>
              <a:t>    {</a:t>
            </a:r>
            <a:br>
              <a:rPr lang="en-US" altLang="zh-CN" dirty="0"/>
            </a:br>
            <a:r>
              <a:rPr lang="en-US" altLang="zh-CN" dirty="0"/>
              <a:t>        //Turn on LED2</a:t>
            </a:r>
            <a:br>
              <a:rPr lang="en-US" altLang="zh-CN" dirty="0"/>
            </a:br>
            <a:r>
              <a:rPr lang="en-US" altLang="zh-CN" dirty="0"/>
              <a:t>        GPX2.DAT |= 0x1 &lt;&lt; 7;</a:t>
            </a:r>
            <a:br>
              <a:rPr lang="en-US" altLang="zh-CN" dirty="0"/>
            </a:br>
            <a:r>
              <a:rPr lang="en-US" altLang="zh-CN" dirty="0"/>
              <a:t>        </a:t>
            </a:r>
            <a:r>
              <a:rPr lang="en-US" altLang="zh-CN" dirty="0" err="1"/>
              <a:t>mydelay_ms</a:t>
            </a:r>
            <a:r>
              <a:rPr lang="en-US" altLang="zh-CN" dirty="0"/>
              <a:t>(500);</a:t>
            </a:r>
            <a:br>
              <a:rPr lang="en-US" altLang="zh-CN" dirty="0"/>
            </a:br>
            <a:br>
              <a:rPr lang="en-US" altLang="zh-CN" dirty="0"/>
            </a:br>
            <a:r>
              <a:rPr lang="en-US" altLang="zh-CN" dirty="0"/>
              <a:t>        //Turn on LED3</a:t>
            </a:r>
            <a:br>
              <a:rPr lang="en-US" altLang="zh-CN" dirty="0"/>
            </a:br>
            <a:r>
              <a:rPr lang="en-US" altLang="zh-CN" dirty="0"/>
              <a:t>        GPX1.DAT |= 0x1;</a:t>
            </a:r>
            <a:br>
              <a:rPr lang="en-US" altLang="zh-CN" dirty="0"/>
            </a:br>
            <a:r>
              <a:rPr lang="en-US" altLang="zh-CN" dirty="0"/>
              <a:t>        //Turn off LED2</a:t>
            </a:r>
            <a:br>
              <a:rPr lang="en-US" altLang="zh-CN" dirty="0"/>
            </a:br>
            <a:r>
              <a:rPr lang="en-US" altLang="zh-CN" dirty="0"/>
              <a:t>        GPX2.DAT &amp;= ~(0x1&lt;&lt;7);</a:t>
            </a:r>
            <a:br>
              <a:rPr lang="en-US" altLang="zh-CN" dirty="0"/>
            </a:br>
            <a:r>
              <a:rPr lang="en-US" altLang="zh-CN" dirty="0"/>
              <a:t>        </a:t>
            </a:r>
            <a:r>
              <a:rPr lang="en-US" altLang="zh-CN" dirty="0" err="1"/>
              <a:t>mydelay_ms</a:t>
            </a:r>
            <a:r>
              <a:rPr lang="en-US" altLang="zh-CN" dirty="0"/>
              <a:t>(500);</a:t>
            </a:r>
            <a:br>
              <a:rPr lang="en-US" altLang="zh-CN" dirty="0"/>
            </a:br>
            <a:endParaRPr lang="zh-CN" altLang="en-US" dirty="0"/>
          </a:p>
        </p:txBody>
      </p:sp>
    </p:spTree>
    <p:extLst>
      <p:ext uri="{BB962C8B-B14F-4D97-AF65-F5344CB8AC3E}">
        <p14:creationId xmlns:p14="http://schemas.microsoft.com/office/powerpoint/2010/main" val="1378411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3FA5FE-A175-47BA-BBA3-202292FF83CA}"/>
              </a:ext>
            </a:extLst>
          </p:cNvPr>
          <p:cNvSpPr>
            <a:spLocks noGrp="1"/>
          </p:cNvSpPr>
          <p:nvPr>
            <p:ph type="title"/>
          </p:nvPr>
        </p:nvSpPr>
        <p:spPr/>
        <p:txBody>
          <a:bodyPr>
            <a:normAutofit fontScale="90000"/>
          </a:bodyPr>
          <a:lstStyle/>
          <a:p>
            <a:endParaRPr lang="zh-CN" altLang="en-US"/>
          </a:p>
        </p:txBody>
      </p:sp>
      <p:sp>
        <p:nvSpPr>
          <p:cNvPr id="3" name="文本占位符 2">
            <a:extLst>
              <a:ext uri="{FF2B5EF4-FFF2-40B4-BE49-F238E27FC236}">
                <a16:creationId xmlns:a16="http://schemas.microsoft.com/office/drawing/2014/main" id="{975C6653-2286-46B1-8FED-DC46B87009B9}"/>
              </a:ext>
            </a:extLst>
          </p:cNvPr>
          <p:cNvSpPr>
            <a:spLocks noGrp="1"/>
          </p:cNvSpPr>
          <p:nvPr>
            <p:ph type="body" sz="quarter" idx="10"/>
          </p:nvPr>
        </p:nvSpPr>
        <p:spPr/>
        <p:txBody>
          <a:bodyPr/>
          <a:lstStyle/>
          <a:p>
            <a:r>
              <a:rPr lang="en-US" altLang="zh-CN" dirty="0"/>
              <a:t>        //Turn on LED5</a:t>
            </a:r>
            <a:br>
              <a:rPr lang="en-US" altLang="zh-CN" dirty="0"/>
            </a:br>
            <a:r>
              <a:rPr lang="en-US" altLang="zh-CN" dirty="0"/>
              <a:t>        GPF3.DAT |= (0x1 &lt;&lt; 5);</a:t>
            </a:r>
            <a:br>
              <a:rPr lang="en-US" altLang="zh-CN" dirty="0"/>
            </a:br>
            <a:r>
              <a:rPr lang="en-US" altLang="zh-CN" dirty="0"/>
              <a:t>        //Turn off LED3</a:t>
            </a:r>
            <a:br>
              <a:rPr lang="en-US" altLang="zh-CN" dirty="0"/>
            </a:br>
            <a:r>
              <a:rPr lang="en-US" altLang="zh-CN" dirty="0"/>
              <a:t>        GPX1.DAT &amp;= ~0x1;</a:t>
            </a:r>
            <a:br>
              <a:rPr lang="en-US" altLang="zh-CN" dirty="0"/>
            </a:br>
            <a:r>
              <a:rPr lang="en-US" altLang="zh-CN" dirty="0"/>
              <a:t>        </a:t>
            </a:r>
            <a:r>
              <a:rPr lang="en-US" altLang="zh-CN" dirty="0" err="1"/>
              <a:t>mydelay_ms</a:t>
            </a:r>
            <a:r>
              <a:rPr lang="en-US" altLang="zh-CN" dirty="0"/>
              <a:t>(500);</a:t>
            </a:r>
            <a:br>
              <a:rPr lang="en-US" altLang="zh-CN" dirty="0"/>
            </a:br>
            <a:br>
              <a:rPr lang="en-US" altLang="zh-CN" dirty="0"/>
            </a:br>
            <a:r>
              <a:rPr lang="en-US" altLang="zh-CN" dirty="0"/>
              <a:t>        //Turn on LED4</a:t>
            </a:r>
            <a:br>
              <a:rPr lang="en-US" altLang="zh-CN" dirty="0"/>
            </a:br>
            <a:r>
              <a:rPr lang="en-US" altLang="zh-CN" dirty="0"/>
              <a:t>        GPF3.DAT |= (0x1 &lt;&lt; 4);</a:t>
            </a:r>
            <a:br>
              <a:rPr lang="en-US" altLang="zh-CN" dirty="0"/>
            </a:br>
            <a:r>
              <a:rPr lang="en-US" altLang="zh-CN" dirty="0"/>
              <a:t>        //Turn off LED5</a:t>
            </a:r>
            <a:br>
              <a:rPr lang="en-US" altLang="zh-CN" dirty="0"/>
            </a:br>
            <a:r>
              <a:rPr lang="en-US" altLang="zh-CN" dirty="0"/>
              <a:t>        GPF3.DAT &amp;= ~(0x1 &lt;&lt; 5);</a:t>
            </a:r>
            <a:br>
              <a:rPr lang="en-US" altLang="zh-CN" dirty="0"/>
            </a:br>
            <a:r>
              <a:rPr lang="en-US" altLang="zh-CN" dirty="0"/>
              <a:t>        </a:t>
            </a:r>
            <a:r>
              <a:rPr lang="en-US" altLang="zh-CN" dirty="0" err="1"/>
              <a:t>mydelay_ms</a:t>
            </a:r>
            <a:r>
              <a:rPr lang="en-US" altLang="zh-CN" dirty="0"/>
              <a:t>(500);</a:t>
            </a:r>
            <a:br>
              <a:rPr lang="en-US" altLang="zh-CN" dirty="0"/>
            </a:br>
            <a:br>
              <a:rPr lang="en-US" altLang="zh-CN" dirty="0"/>
            </a:br>
            <a:r>
              <a:rPr lang="en-US" altLang="zh-CN" dirty="0"/>
              <a:t>        //Turn off LED4</a:t>
            </a:r>
            <a:br>
              <a:rPr lang="en-US" altLang="zh-CN" dirty="0"/>
            </a:br>
            <a:r>
              <a:rPr lang="en-US" altLang="zh-CN" dirty="0"/>
              <a:t>        GPF3.DAT &amp;= ~(0x1 &lt;&lt; 4);</a:t>
            </a:r>
            <a:br>
              <a:rPr lang="en-US" altLang="zh-CN" dirty="0"/>
            </a:br>
            <a:r>
              <a:rPr lang="en-US" altLang="zh-CN" dirty="0"/>
              <a:t>    }</a:t>
            </a:r>
            <a:br>
              <a:rPr lang="en-US" altLang="zh-CN" dirty="0"/>
            </a:br>
            <a:r>
              <a:rPr lang="en-US" altLang="zh-CN" dirty="0"/>
              <a:t>    return 0;</a:t>
            </a:r>
            <a:br>
              <a:rPr lang="en-US" altLang="zh-CN" dirty="0"/>
            </a:br>
            <a:r>
              <a:rPr lang="en-US" altLang="zh-CN" dirty="0"/>
              <a:t>}</a:t>
            </a:r>
            <a:endParaRPr lang="zh-CN" altLang="en-US" dirty="0"/>
          </a:p>
        </p:txBody>
      </p:sp>
    </p:spTree>
    <p:extLst>
      <p:ext uri="{BB962C8B-B14F-4D97-AF65-F5344CB8AC3E}">
        <p14:creationId xmlns:p14="http://schemas.microsoft.com/office/powerpoint/2010/main" val="37599361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3" name="Rectangle 3"/>
          <p:cNvSpPr>
            <a:spLocks noGrp="1" noChangeArrowheads="1"/>
          </p:cNvSpPr>
          <p:nvPr>
            <p:ph type="title"/>
          </p:nvPr>
        </p:nvSpPr>
        <p:spPr>
          <a:noFill/>
          <a:ln/>
        </p:spPr>
        <p:txBody>
          <a:bodyPr/>
          <a:lstStyle/>
          <a:p>
            <a:r>
              <a:rPr lang="en-US" altLang="zh-CN"/>
              <a:t>LPC2000</a:t>
            </a:r>
            <a:r>
              <a:rPr lang="zh-CN" altLang="en-US"/>
              <a:t>系列</a:t>
            </a:r>
            <a:r>
              <a:rPr lang="en-US" altLang="zh-CN"/>
              <a:t>ARM</a:t>
            </a:r>
            <a:r>
              <a:rPr lang="zh-CN" altLang="en-US"/>
              <a:t>硬件结构</a:t>
            </a:r>
          </a:p>
        </p:txBody>
      </p:sp>
      <p:sp>
        <p:nvSpPr>
          <p:cNvPr id="389122" name="Rectangle 2"/>
          <p:cNvSpPr>
            <a:spLocks noGrp="1" noChangeArrowheads="1"/>
          </p:cNvSpPr>
          <p:nvPr>
            <p:ph idx="1"/>
          </p:nvPr>
        </p:nvSpPr>
        <p:spPr>
          <a:xfrm>
            <a:off x="2208214" y="1703388"/>
            <a:ext cx="4319587" cy="4533900"/>
          </a:xfrm>
          <a:noFill/>
          <a:ln/>
        </p:spPr>
        <p:txBody>
          <a:bodyPr/>
          <a:lstStyle/>
          <a:p>
            <a:pPr marL="533400" indent="-533400">
              <a:lnSpc>
                <a:spcPct val="80000"/>
              </a:lnSpc>
              <a:buClr>
                <a:srgbClr val="FF0000"/>
              </a:buClr>
              <a:buFont typeface="Wingdings" pitchFamily="2" charset="2"/>
              <a:buChar char="Ø"/>
            </a:pPr>
            <a:r>
              <a:rPr lang="en-US" altLang="zh-CN"/>
              <a:t>1.LPC2000</a:t>
            </a:r>
            <a:r>
              <a:rPr lang="zh-CN" altLang="en-US"/>
              <a:t>系列简介</a:t>
            </a:r>
          </a:p>
          <a:p>
            <a:pPr marL="533400" indent="-533400">
              <a:lnSpc>
                <a:spcPct val="80000"/>
              </a:lnSpc>
              <a:buClr>
                <a:srgbClr val="FF0000"/>
              </a:buClr>
              <a:buFont typeface="Wingdings" pitchFamily="2" charset="2"/>
              <a:buChar char="Ø"/>
            </a:pPr>
            <a:r>
              <a:rPr lang="en-US" altLang="zh-CN"/>
              <a:t>2.</a:t>
            </a:r>
            <a:r>
              <a:rPr lang="zh-CN" altLang="en-US"/>
              <a:t>引脚描述</a:t>
            </a:r>
          </a:p>
          <a:p>
            <a:pPr marL="533400" indent="-533400">
              <a:lnSpc>
                <a:spcPct val="80000"/>
              </a:lnSpc>
              <a:buClr>
                <a:srgbClr val="FF0000"/>
              </a:buClr>
              <a:buFont typeface="Wingdings" pitchFamily="2" charset="2"/>
              <a:buChar char="Ø"/>
            </a:pPr>
            <a:r>
              <a:rPr lang="en-US" altLang="zh-CN"/>
              <a:t>3.</a:t>
            </a:r>
            <a:r>
              <a:rPr lang="zh-CN" altLang="en-US"/>
              <a:t>存储器寻址</a:t>
            </a:r>
          </a:p>
          <a:p>
            <a:pPr marL="533400" indent="-533400">
              <a:lnSpc>
                <a:spcPct val="80000"/>
              </a:lnSpc>
              <a:buClr>
                <a:srgbClr val="FF0000"/>
              </a:buClr>
              <a:buFont typeface="Wingdings" pitchFamily="2" charset="2"/>
              <a:buChar char="Ø"/>
            </a:pPr>
            <a:r>
              <a:rPr lang="en-US" altLang="zh-CN"/>
              <a:t>4.</a:t>
            </a:r>
            <a:r>
              <a:rPr lang="zh-CN" altLang="en-US"/>
              <a:t>系统控制模块</a:t>
            </a:r>
          </a:p>
          <a:p>
            <a:pPr marL="533400" indent="-533400">
              <a:lnSpc>
                <a:spcPct val="80000"/>
              </a:lnSpc>
              <a:buClr>
                <a:srgbClr val="FF0000"/>
              </a:buClr>
              <a:buFont typeface="Wingdings" pitchFamily="2" charset="2"/>
              <a:buChar char="Ø"/>
            </a:pPr>
            <a:r>
              <a:rPr lang="en-US" altLang="zh-CN"/>
              <a:t>5.</a:t>
            </a:r>
            <a:r>
              <a:rPr lang="zh-CN" altLang="en-US"/>
              <a:t>存储器加速模块    （</a:t>
            </a:r>
            <a:r>
              <a:rPr lang="en-US" altLang="zh-CN"/>
              <a:t>MAM</a:t>
            </a:r>
            <a:r>
              <a:rPr lang="zh-CN" altLang="en-US"/>
              <a:t>）</a:t>
            </a:r>
          </a:p>
          <a:p>
            <a:pPr marL="533400" indent="-533400">
              <a:lnSpc>
                <a:spcPct val="80000"/>
              </a:lnSpc>
              <a:buClr>
                <a:srgbClr val="FF0000"/>
              </a:buClr>
              <a:buFont typeface="Wingdings" pitchFamily="2" charset="2"/>
              <a:buChar char="Ø"/>
            </a:pPr>
            <a:r>
              <a:rPr lang="en-US" altLang="zh-CN"/>
              <a:t>6.</a:t>
            </a:r>
            <a:r>
              <a:rPr lang="zh-CN" altLang="en-US"/>
              <a:t>外部存储器控制器（</a:t>
            </a:r>
            <a:r>
              <a:rPr lang="en-US" altLang="zh-CN"/>
              <a:t>EMC</a:t>
            </a:r>
            <a:r>
              <a:rPr lang="zh-CN" altLang="en-US"/>
              <a:t>）</a:t>
            </a:r>
          </a:p>
          <a:p>
            <a:pPr marL="533400" indent="-533400">
              <a:lnSpc>
                <a:spcPct val="80000"/>
              </a:lnSpc>
              <a:buClr>
                <a:srgbClr val="FF0000"/>
              </a:buClr>
              <a:buFont typeface="Wingdings" pitchFamily="2" charset="2"/>
              <a:buChar char="Ø"/>
            </a:pPr>
            <a:r>
              <a:rPr lang="en-US" altLang="zh-CN"/>
              <a:t>7.</a:t>
            </a:r>
            <a:r>
              <a:rPr lang="zh-CN" altLang="en-US"/>
              <a:t>引脚连接模块</a:t>
            </a:r>
          </a:p>
          <a:p>
            <a:pPr marL="533400" indent="-533400">
              <a:lnSpc>
                <a:spcPct val="80000"/>
              </a:lnSpc>
              <a:buClr>
                <a:srgbClr val="FF0000"/>
              </a:buClr>
              <a:buFont typeface="Wingdings" pitchFamily="2" charset="2"/>
              <a:buChar char="Ø"/>
            </a:pPr>
            <a:r>
              <a:rPr lang="en-US" altLang="zh-CN"/>
              <a:t>8. GPIO</a:t>
            </a:r>
          </a:p>
        </p:txBody>
      </p:sp>
      <p:sp>
        <p:nvSpPr>
          <p:cNvPr id="389124" name="Rectangle 4"/>
          <p:cNvSpPr>
            <a:spLocks noChangeArrowheads="1"/>
          </p:cNvSpPr>
          <p:nvPr/>
        </p:nvSpPr>
        <p:spPr bwMode="auto">
          <a:xfrm>
            <a:off x="5951538" y="1701801"/>
            <a:ext cx="4392612" cy="4462463"/>
          </a:xfrm>
          <a:prstGeom prst="rect">
            <a:avLst/>
          </a:prstGeom>
          <a:noFill/>
          <a:ln w="9525">
            <a:noFill/>
            <a:miter lim="800000"/>
            <a:headEnd/>
            <a:tailEnd/>
          </a:ln>
          <a:effectLst/>
        </p:spPr>
        <p:txBody>
          <a:bodyPr/>
          <a:lstStyle/>
          <a:p>
            <a:pPr marL="533400" indent="-533400">
              <a:lnSpc>
                <a:spcPct val="80000"/>
              </a:lnSpc>
              <a:spcBef>
                <a:spcPct val="20000"/>
              </a:spcBef>
              <a:buClr>
                <a:srgbClr val="FF0000"/>
              </a:buClr>
              <a:buFont typeface="Wingdings" pitchFamily="2" charset="2"/>
              <a:buChar char="Ø"/>
            </a:pPr>
            <a:r>
              <a:rPr lang="en-US" altLang="zh-CN" sz="2800">
                <a:solidFill>
                  <a:srgbClr val="FF0000"/>
                </a:solidFill>
                <a:latin typeface="Times New Roman" pitchFamily="18" charset="0"/>
              </a:rPr>
              <a:t>9.</a:t>
            </a:r>
            <a:r>
              <a:rPr lang="en-US" altLang="zh-CN" sz="2800">
                <a:latin typeface="Times New Roman" pitchFamily="18" charset="0"/>
              </a:rPr>
              <a:t> </a:t>
            </a:r>
            <a:r>
              <a:rPr lang="zh-CN" altLang="en-US" sz="2800">
                <a:solidFill>
                  <a:srgbClr val="FF0000"/>
                </a:solidFill>
                <a:latin typeface="Times New Roman" pitchFamily="18" charset="0"/>
              </a:rPr>
              <a:t>向量中断控制器</a:t>
            </a:r>
          </a:p>
          <a:p>
            <a:pPr marL="533400" indent="-533400">
              <a:lnSpc>
                <a:spcPct val="80000"/>
              </a:lnSpc>
              <a:spcBef>
                <a:spcPct val="20000"/>
              </a:spcBef>
              <a:buClr>
                <a:srgbClr val="FF0000"/>
              </a:buClr>
              <a:buFont typeface="Wingdings" pitchFamily="2" charset="2"/>
              <a:buChar char="Ø"/>
            </a:pPr>
            <a:r>
              <a:rPr lang="en-US" altLang="zh-CN" sz="2800">
                <a:latin typeface="Times New Roman" pitchFamily="18" charset="0"/>
              </a:rPr>
              <a:t>10.</a:t>
            </a:r>
            <a:r>
              <a:rPr lang="zh-CN" altLang="en-US" sz="2800">
                <a:latin typeface="Times New Roman" pitchFamily="18" charset="0"/>
              </a:rPr>
              <a:t>外部中断输入</a:t>
            </a:r>
          </a:p>
          <a:p>
            <a:pPr marL="533400" indent="-533400">
              <a:lnSpc>
                <a:spcPct val="80000"/>
              </a:lnSpc>
              <a:spcBef>
                <a:spcPct val="20000"/>
              </a:spcBef>
              <a:buClr>
                <a:srgbClr val="FF0000"/>
              </a:buClr>
              <a:buFont typeface="Wingdings" pitchFamily="2" charset="2"/>
              <a:buChar char="Ø"/>
            </a:pPr>
            <a:r>
              <a:rPr lang="en-US" altLang="zh-CN" sz="2800">
                <a:latin typeface="Times New Roman" pitchFamily="18" charset="0"/>
              </a:rPr>
              <a:t>11.</a:t>
            </a:r>
            <a:r>
              <a:rPr lang="zh-CN" altLang="en-US" sz="2800">
                <a:latin typeface="Times New Roman" pitchFamily="18" charset="0"/>
              </a:rPr>
              <a:t>定时器</a:t>
            </a:r>
            <a:r>
              <a:rPr lang="en-US" altLang="zh-CN" sz="2800">
                <a:latin typeface="Times New Roman" pitchFamily="18" charset="0"/>
              </a:rPr>
              <a:t>0</a:t>
            </a:r>
            <a:r>
              <a:rPr lang="zh-CN" altLang="en-US" sz="2800">
                <a:latin typeface="Times New Roman" pitchFamily="18" charset="0"/>
              </a:rPr>
              <a:t>和定时器</a:t>
            </a:r>
            <a:r>
              <a:rPr lang="en-US" altLang="zh-CN" sz="2800">
                <a:latin typeface="Times New Roman" pitchFamily="18" charset="0"/>
              </a:rPr>
              <a:t>1</a:t>
            </a:r>
          </a:p>
          <a:p>
            <a:pPr marL="533400" indent="-533400">
              <a:lnSpc>
                <a:spcPct val="80000"/>
              </a:lnSpc>
              <a:spcBef>
                <a:spcPct val="20000"/>
              </a:spcBef>
              <a:buClr>
                <a:srgbClr val="FF0000"/>
              </a:buClr>
              <a:buFont typeface="Wingdings" pitchFamily="2" charset="2"/>
              <a:buChar char="Ø"/>
            </a:pPr>
            <a:r>
              <a:rPr lang="en-US" altLang="zh-CN" sz="2800">
                <a:latin typeface="Times New Roman" pitchFamily="18" charset="0"/>
              </a:rPr>
              <a:t>12. SPI</a:t>
            </a:r>
            <a:r>
              <a:rPr lang="zh-CN" altLang="en-US" sz="2800">
                <a:latin typeface="Times New Roman" pitchFamily="18" charset="0"/>
              </a:rPr>
              <a:t>接口</a:t>
            </a:r>
          </a:p>
          <a:p>
            <a:pPr marL="533400" indent="-533400">
              <a:lnSpc>
                <a:spcPct val="80000"/>
              </a:lnSpc>
              <a:spcBef>
                <a:spcPct val="20000"/>
              </a:spcBef>
              <a:buClr>
                <a:srgbClr val="FF0000"/>
              </a:buClr>
              <a:buFont typeface="Wingdings" pitchFamily="2" charset="2"/>
              <a:buChar char="Ø"/>
            </a:pPr>
            <a:r>
              <a:rPr lang="en-US" altLang="zh-CN" sz="2800">
                <a:latin typeface="Times New Roman" pitchFamily="18" charset="0"/>
              </a:rPr>
              <a:t>13. I</a:t>
            </a:r>
            <a:r>
              <a:rPr lang="en-US" altLang="zh-CN" sz="2400" baseline="60000">
                <a:latin typeface="Times New Roman" pitchFamily="18" charset="0"/>
              </a:rPr>
              <a:t>2</a:t>
            </a:r>
            <a:r>
              <a:rPr lang="en-US" altLang="zh-CN" sz="2800">
                <a:latin typeface="Times New Roman" pitchFamily="18" charset="0"/>
              </a:rPr>
              <a:t>C</a:t>
            </a:r>
            <a:r>
              <a:rPr lang="zh-CN" altLang="en-US" sz="2800">
                <a:latin typeface="Times New Roman" pitchFamily="18" charset="0"/>
              </a:rPr>
              <a:t>接口</a:t>
            </a:r>
          </a:p>
          <a:p>
            <a:pPr marL="533400" indent="-533400">
              <a:lnSpc>
                <a:spcPct val="80000"/>
              </a:lnSpc>
              <a:spcBef>
                <a:spcPct val="20000"/>
              </a:spcBef>
              <a:buClr>
                <a:srgbClr val="FF0000"/>
              </a:buClr>
              <a:buFont typeface="Wingdings" pitchFamily="2" charset="2"/>
              <a:buChar char="Ø"/>
            </a:pPr>
            <a:r>
              <a:rPr lang="en-US" altLang="zh-CN" sz="2800">
                <a:latin typeface="Times New Roman" pitchFamily="18" charset="0"/>
              </a:rPr>
              <a:t>14. UART(0</a:t>
            </a:r>
            <a:r>
              <a:rPr lang="zh-CN" altLang="en-US" sz="2800">
                <a:latin typeface="Times New Roman" pitchFamily="18" charset="0"/>
              </a:rPr>
              <a:t>、</a:t>
            </a:r>
            <a:r>
              <a:rPr lang="en-US" altLang="zh-CN" sz="2800">
                <a:latin typeface="Times New Roman" pitchFamily="18" charset="0"/>
              </a:rPr>
              <a:t>1)</a:t>
            </a:r>
          </a:p>
          <a:p>
            <a:pPr marL="533400" indent="-533400">
              <a:lnSpc>
                <a:spcPct val="80000"/>
              </a:lnSpc>
              <a:spcBef>
                <a:spcPct val="20000"/>
              </a:spcBef>
              <a:buClr>
                <a:srgbClr val="FF0000"/>
              </a:buClr>
              <a:buFont typeface="Wingdings" pitchFamily="2" charset="2"/>
              <a:buChar char="Ø"/>
            </a:pPr>
            <a:r>
              <a:rPr lang="en-US" altLang="zh-CN" sz="2800">
                <a:latin typeface="Times New Roman" pitchFamily="18" charset="0"/>
              </a:rPr>
              <a:t>15. A/D</a:t>
            </a:r>
            <a:r>
              <a:rPr lang="zh-CN" altLang="en-US" sz="2800">
                <a:latin typeface="Times New Roman" pitchFamily="18" charset="0"/>
              </a:rPr>
              <a:t>转换器</a:t>
            </a:r>
          </a:p>
          <a:p>
            <a:pPr marL="533400" indent="-533400">
              <a:lnSpc>
                <a:spcPct val="80000"/>
              </a:lnSpc>
              <a:spcBef>
                <a:spcPct val="20000"/>
              </a:spcBef>
              <a:buClr>
                <a:srgbClr val="FF0000"/>
              </a:buClr>
              <a:buFont typeface="Wingdings" pitchFamily="2" charset="2"/>
              <a:buChar char="Ø"/>
            </a:pPr>
            <a:r>
              <a:rPr lang="en-US" altLang="zh-CN" sz="2800">
                <a:latin typeface="Times New Roman" pitchFamily="18" charset="0"/>
              </a:rPr>
              <a:t>16. </a:t>
            </a:r>
            <a:r>
              <a:rPr lang="zh-CN" altLang="en-US" sz="2800">
                <a:latin typeface="Times New Roman" pitchFamily="18" charset="0"/>
              </a:rPr>
              <a:t>看门狗</a:t>
            </a:r>
          </a:p>
          <a:p>
            <a:pPr marL="533400" indent="-533400">
              <a:lnSpc>
                <a:spcPct val="80000"/>
              </a:lnSpc>
              <a:spcBef>
                <a:spcPct val="20000"/>
              </a:spcBef>
              <a:buClr>
                <a:srgbClr val="FF0000"/>
              </a:buClr>
              <a:buFont typeface="Wingdings" pitchFamily="2" charset="2"/>
              <a:buChar char="Ø"/>
            </a:pPr>
            <a:r>
              <a:rPr lang="en-US" altLang="zh-CN" sz="2800">
                <a:latin typeface="Times New Roman" pitchFamily="18" charset="0"/>
              </a:rPr>
              <a:t>17. </a:t>
            </a:r>
            <a:r>
              <a:rPr lang="zh-CN" altLang="en-US" sz="2800">
                <a:latin typeface="Times New Roman" pitchFamily="18" charset="0"/>
              </a:rPr>
              <a:t>脉宽调制器</a:t>
            </a:r>
            <a:r>
              <a:rPr lang="en-US" altLang="zh-CN" sz="2800">
                <a:latin typeface="Times New Roman" pitchFamily="18" charset="0"/>
              </a:rPr>
              <a:t>(PWM)</a:t>
            </a:r>
          </a:p>
          <a:p>
            <a:pPr marL="533400" indent="-533400">
              <a:lnSpc>
                <a:spcPct val="80000"/>
              </a:lnSpc>
              <a:spcBef>
                <a:spcPct val="20000"/>
              </a:spcBef>
              <a:buClr>
                <a:srgbClr val="FF0000"/>
              </a:buClr>
              <a:buFont typeface="Wingdings" pitchFamily="2" charset="2"/>
              <a:buChar char="Ø"/>
            </a:pPr>
            <a:r>
              <a:rPr lang="en-US" altLang="zh-CN" sz="2800">
                <a:latin typeface="Times New Roman" pitchFamily="18" charset="0"/>
              </a:rPr>
              <a:t>18. </a:t>
            </a:r>
            <a:r>
              <a:rPr lang="zh-CN" altLang="en-US" sz="2800">
                <a:latin typeface="Times New Roman" pitchFamily="18" charset="0"/>
              </a:rPr>
              <a:t>实时时钟</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p:txBody>
          <a:bodyPr/>
          <a:lstStyle/>
          <a:p>
            <a:r>
              <a:rPr lang="en-US" altLang="zh-CN" dirty="0">
                <a:solidFill>
                  <a:schemeClr val="tx1"/>
                </a:solidFill>
              </a:rPr>
              <a:t>5.3  </a:t>
            </a:r>
            <a:r>
              <a:rPr lang="zh-CN" altLang="en-US" dirty="0">
                <a:solidFill>
                  <a:schemeClr val="tx1"/>
                </a:solidFill>
              </a:rPr>
              <a:t>向量中断控制器</a:t>
            </a:r>
          </a:p>
        </p:txBody>
      </p:sp>
      <p:sp>
        <p:nvSpPr>
          <p:cNvPr id="355331" name="Rectangle 3"/>
          <p:cNvSpPr>
            <a:spLocks noChangeArrowheads="1"/>
          </p:cNvSpPr>
          <p:nvPr/>
        </p:nvSpPr>
        <p:spPr bwMode="auto">
          <a:xfrm>
            <a:off x="2209800" y="17002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概述</a:t>
            </a:r>
          </a:p>
        </p:txBody>
      </p:sp>
      <p:sp>
        <p:nvSpPr>
          <p:cNvPr id="355336" name="Text Box 8"/>
          <p:cNvSpPr txBox="1">
            <a:spLocks noChangeArrowheads="1"/>
          </p:cNvSpPr>
          <p:nvPr/>
        </p:nvSpPr>
        <p:spPr bwMode="auto">
          <a:xfrm>
            <a:off x="2566989" y="2349500"/>
            <a:ext cx="7024687" cy="1569660"/>
          </a:xfrm>
          <a:prstGeom prst="rect">
            <a:avLst/>
          </a:prstGeom>
          <a:noFill/>
          <a:ln w="9525">
            <a:noFill/>
            <a:miter lim="800000"/>
            <a:headEnd/>
            <a:tailEnd/>
          </a:ln>
          <a:effectLst/>
        </p:spPr>
        <p:txBody>
          <a:bodyPr>
            <a:spAutoFit/>
          </a:bodyPr>
          <a:lstStyle/>
          <a:p>
            <a:pPr algn="l">
              <a:spcBef>
                <a:spcPct val="50000"/>
              </a:spcBef>
            </a:pPr>
            <a:r>
              <a:rPr lang="en-US" altLang="zh-CN" sz="2400">
                <a:latin typeface="华文新魏" pitchFamily="2" charset="-122"/>
                <a:ea typeface="华文新魏" pitchFamily="2" charset="-122"/>
              </a:rPr>
              <a:t>        ARM7TDMI</a:t>
            </a:r>
            <a:r>
              <a:rPr lang="zh-CN" altLang="en-US" sz="2400">
                <a:latin typeface="华文新魏" pitchFamily="2" charset="-122"/>
                <a:ea typeface="华文新魏" pitchFamily="2" charset="-122"/>
              </a:rPr>
              <a:t>内核具有两个中断输入，分别为</a:t>
            </a:r>
            <a:r>
              <a:rPr lang="en-US" altLang="zh-CN" sz="2400">
                <a:latin typeface="华文新魏" pitchFamily="2" charset="-122"/>
                <a:ea typeface="华文新魏" pitchFamily="2" charset="-122"/>
              </a:rPr>
              <a:t>IRQ</a:t>
            </a:r>
            <a:r>
              <a:rPr lang="zh-CN" altLang="en-US" sz="2400">
                <a:latin typeface="华文新魏" pitchFamily="2" charset="-122"/>
                <a:ea typeface="华文新魏" pitchFamily="2" charset="-122"/>
              </a:rPr>
              <a:t>中断和</a:t>
            </a:r>
            <a:r>
              <a:rPr lang="en-US" altLang="zh-CN" sz="2400">
                <a:latin typeface="华文新魏" pitchFamily="2" charset="-122"/>
                <a:ea typeface="华文新魏" pitchFamily="2" charset="-122"/>
              </a:rPr>
              <a:t>FIQ</a:t>
            </a:r>
            <a:r>
              <a:rPr lang="zh-CN" altLang="en-US" sz="2400">
                <a:latin typeface="华文新魏" pitchFamily="2" charset="-122"/>
                <a:ea typeface="华文新魏" pitchFamily="2" charset="-122"/>
              </a:rPr>
              <a:t>中断。向量中断控制器（</a:t>
            </a:r>
            <a:r>
              <a:rPr lang="en-US" altLang="zh-CN" sz="2400">
                <a:latin typeface="华文新魏" pitchFamily="2" charset="-122"/>
                <a:ea typeface="华文新魏" pitchFamily="2" charset="-122"/>
              </a:rPr>
              <a:t>VIC</a:t>
            </a:r>
            <a:r>
              <a:rPr lang="zh-CN" altLang="en-US" sz="2400">
                <a:latin typeface="华文新魏" pitchFamily="2" charset="-122"/>
                <a:ea typeface="华文新魏" pitchFamily="2" charset="-122"/>
              </a:rPr>
              <a:t>）负责管理芯片的中断源，最多可以管理</a:t>
            </a:r>
            <a:r>
              <a:rPr lang="en-US" altLang="zh-CN" sz="2400">
                <a:latin typeface="华文新魏" pitchFamily="2" charset="-122"/>
                <a:ea typeface="华文新魏" pitchFamily="2" charset="-122"/>
              </a:rPr>
              <a:t>32</a:t>
            </a:r>
            <a:r>
              <a:rPr lang="zh-CN" altLang="en-US" sz="2400">
                <a:latin typeface="华文新魏" pitchFamily="2" charset="-122"/>
                <a:ea typeface="华文新魏" pitchFamily="2" charset="-122"/>
              </a:rPr>
              <a:t>个中断输入请求。</a:t>
            </a:r>
          </a:p>
        </p:txBody>
      </p:sp>
      <p:grpSp>
        <p:nvGrpSpPr>
          <p:cNvPr id="355356" name="Group 28"/>
          <p:cNvGrpSpPr>
            <a:grpSpLocks/>
          </p:cNvGrpSpPr>
          <p:nvPr/>
        </p:nvGrpSpPr>
        <p:grpSpPr bwMode="auto">
          <a:xfrm>
            <a:off x="3706813" y="3573463"/>
            <a:ext cx="4621212" cy="2628900"/>
            <a:chOff x="1375" y="2296"/>
            <a:chExt cx="2911" cy="1656"/>
          </a:xfrm>
        </p:grpSpPr>
        <p:pic>
          <p:nvPicPr>
            <p:cNvPr id="355353" name="Picture 25" descr="扇形中断系统"/>
            <p:cNvPicPr>
              <a:picLocks noChangeAspect="1" noChangeArrowheads="1"/>
            </p:cNvPicPr>
            <p:nvPr/>
          </p:nvPicPr>
          <p:blipFill>
            <a:blip r:embed="rId2" cstate="print"/>
            <a:srcRect/>
            <a:stretch>
              <a:fillRect/>
            </a:stretch>
          </p:blipFill>
          <p:spPr bwMode="auto">
            <a:xfrm>
              <a:off x="1375" y="2296"/>
              <a:ext cx="2086" cy="1656"/>
            </a:xfrm>
            <a:prstGeom prst="rect">
              <a:avLst/>
            </a:prstGeom>
            <a:noFill/>
            <a:ln w="9525">
              <a:noFill/>
              <a:miter lim="800000"/>
              <a:headEnd/>
              <a:tailEnd/>
            </a:ln>
          </p:spPr>
        </p:pic>
        <p:sp>
          <p:nvSpPr>
            <p:cNvPr id="355354" name="Text Box 26"/>
            <p:cNvSpPr txBox="1">
              <a:spLocks noChangeArrowheads="1"/>
            </p:cNvSpPr>
            <p:nvPr/>
          </p:nvSpPr>
          <p:spPr bwMode="auto">
            <a:xfrm>
              <a:off x="3461" y="3001"/>
              <a:ext cx="825" cy="338"/>
            </a:xfrm>
            <a:prstGeom prst="rect">
              <a:avLst/>
            </a:prstGeom>
            <a:solidFill>
              <a:srgbClr val="FFCC99"/>
            </a:solidFill>
            <a:ln w="19050" algn="ctr">
              <a:solidFill>
                <a:srgbClr val="000000"/>
              </a:solidFill>
              <a:miter lim="800000"/>
              <a:headEnd/>
              <a:tailEnd/>
            </a:ln>
            <a:effectLst/>
          </p:spPr>
          <p:txBody>
            <a:bodyPr wrap="none">
              <a:spAutoFit/>
            </a:bodyPr>
            <a:lstStyle/>
            <a:p>
              <a:r>
                <a:rPr lang="en-US" altLang="zh-CN" sz="1400">
                  <a:latin typeface="Times New Roman" pitchFamily="18" charset="0"/>
                  <a:ea typeface="黑体" pitchFamily="2" charset="-122"/>
                </a:rPr>
                <a:t>CPU </a:t>
              </a:r>
              <a:r>
                <a:rPr lang="zh-CN" altLang="en-US" sz="1400">
                  <a:latin typeface="Times New Roman" pitchFamily="18" charset="0"/>
                  <a:ea typeface="黑体" pitchFamily="2" charset="-122"/>
                </a:rPr>
                <a:t>内核</a:t>
              </a:r>
            </a:p>
            <a:p>
              <a:r>
                <a:rPr lang="en-US" altLang="zh-CN" sz="1400">
                  <a:latin typeface="Times New Roman" pitchFamily="18" charset="0"/>
                  <a:ea typeface="黑体" pitchFamily="2" charset="-122"/>
                </a:rPr>
                <a:t>ARM7TDMI-S</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withEffect">
                                  <p:stCondLst>
                                    <p:cond delay="0"/>
                                  </p:stCondLst>
                                  <p:childTnLst>
                                    <p:set>
                                      <p:cBhvr>
                                        <p:cTn id="6" dur="1" fill="hold">
                                          <p:stCondLst>
                                            <p:cond delay="0"/>
                                          </p:stCondLst>
                                        </p:cTn>
                                        <p:tgtEl>
                                          <p:spTgt spid="355330"/>
                                        </p:tgtEl>
                                        <p:attrNameLst>
                                          <p:attrName>style.visibility</p:attrName>
                                        </p:attrNameLst>
                                      </p:cBhvr>
                                      <p:to>
                                        <p:strVal val="visible"/>
                                      </p:to>
                                    </p:set>
                                    <p:animEffect transition="in" filter="slide(fromTop)">
                                      <p:cBhvr>
                                        <p:cTn id="7" dur="500"/>
                                        <p:tgtEl>
                                          <p:spTgt spid="355330"/>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355331">
                                            <p:txEl>
                                              <p:pRg st="0" end="0"/>
                                            </p:txEl>
                                          </p:spTgt>
                                        </p:tgtEl>
                                        <p:attrNameLst>
                                          <p:attrName>style.visibility</p:attrName>
                                        </p:attrNameLst>
                                      </p:cBhvr>
                                      <p:to>
                                        <p:strVal val="visible"/>
                                      </p:to>
                                    </p:set>
                                    <p:anim calcmode="lin" valueType="num">
                                      <p:cBhvr additive="base">
                                        <p:cTn id="11" dur="500" fill="hold"/>
                                        <p:tgtEl>
                                          <p:spTgt spid="355331">
                                            <p:txEl>
                                              <p:pRg st="0" end="0"/>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355331">
                                            <p:txEl>
                                              <p:pRg st="0" end="0"/>
                                            </p:txEl>
                                          </p:spTgt>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 presetClass="entr" presetSubtype="16" fill="hold" grpId="0" nodeType="afterEffect">
                                  <p:stCondLst>
                                    <p:cond delay="0"/>
                                  </p:stCondLst>
                                  <p:childTnLst>
                                    <p:set>
                                      <p:cBhvr>
                                        <p:cTn id="15" dur="1" fill="hold">
                                          <p:stCondLst>
                                            <p:cond delay="0"/>
                                          </p:stCondLst>
                                        </p:cTn>
                                        <p:tgtEl>
                                          <p:spTgt spid="355336"/>
                                        </p:tgtEl>
                                        <p:attrNameLst>
                                          <p:attrName>style.visibility</p:attrName>
                                        </p:attrNameLst>
                                      </p:cBhvr>
                                      <p:to>
                                        <p:strVal val="visible"/>
                                      </p:to>
                                    </p:set>
                                    <p:animEffect transition="in" filter="box(in)">
                                      <p:cBhvr>
                                        <p:cTn id="16" dur="500"/>
                                        <p:tgtEl>
                                          <p:spTgt spid="3553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0" grpId="0"/>
      <p:bldP spid="355331" grpId="0" build="p"/>
      <p:bldP spid="355336"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p:txBody>
          <a:bodyPr/>
          <a:lstStyle/>
          <a:p>
            <a:r>
              <a:rPr lang="en-US" altLang="zh-CN" dirty="0">
                <a:solidFill>
                  <a:schemeClr val="tx1"/>
                </a:solidFill>
              </a:rPr>
              <a:t>5.3.1  </a:t>
            </a:r>
            <a:r>
              <a:rPr lang="zh-CN" altLang="en-US" dirty="0">
                <a:solidFill>
                  <a:schemeClr val="tx1"/>
                </a:solidFill>
              </a:rPr>
              <a:t>向量中断控制器</a:t>
            </a:r>
          </a:p>
        </p:txBody>
      </p:sp>
      <p:sp>
        <p:nvSpPr>
          <p:cNvPr id="362545" name="Rectangle 49"/>
          <p:cNvSpPr>
            <a:spLocks noChangeArrowheads="1"/>
          </p:cNvSpPr>
          <p:nvPr/>
        </p:nvSpPr>
        <p:spPr bwMode="auto">
          <a:xfrm>
            <a:off x="2209800" y="17002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程序状态寄存器</a:t>
            </a:r>
            <a:r>
              <a:rPr lang="en-US" altLang="zh-CN" sz="3200">
                <a:latin typeface="Times New Roman" pitchFamily="18" charset="0"/>
              </a:rPr>
              <a:t>CPSR</a:t>
            </a:r>
            <a:r>
              <a:rPr lang="zh-CN" altLang="en-US" sz="3200">
                <a:latin typeface="Times New Roman" pitchFamily="18" charset="0"/>
              </a:rPr>
              <a:t>与</a:t>
            </a:r>
            <a:r>
              <a:rPr lang="en-US" altLang="zh-CN" sz="3200">
                <a:latin typeface="Times New Roman" pitchFamily="18" charset="0"/>
              </a:rPr>
              <a:t>VIC</a:t>
            </a:r>
            <a:r>
              <a:rPr lang="zh-CN" altLang="en-US" sz="3200">
                <a:latin typeface="Times New Roman" pitchFamily="18" charset="0"/>
              </a:rPr>
              <a:t>的关系</a:t>
            </a:r>
          </a:p>
        </p:txBody>
      </p:sp>
      <p:sp>
        <p:nvSpPr>
          <p:cNvPr id="362602" name="Text Box 106"/>
          <p:cNvSpPr txBox="1">
            <a:spLocks noChangeArrowheads="1"/>
          </p:cNvSpPr>
          <p:nvPr/>
        </p:nvSpPr>
        <p:spPr bwMode="auto">
          <a:xfrm>
            <a:off x="2351088" y="2349501"/>
            <a:ext cx="7200900" cy="1200329"/>
          </a:xfrm>
          <a:prstGeom prst="rect">
            <a:avLst/>
          </a:prstGeom>
          <a:noFill/>
          <a:ln w="9525">
            <a:noFill/>
            <a:miter lim="800000"/>
            <a:headEnd/>
            <a:tailEnd/>
          </a:ln>
          <a:effectLst/>
        </p:spPr>
        <p:txBody>
          <a:bodyPr>
            <a:spAutoFit/>
          </a:bodyPr>
          <a:lstStyle/>
          <a:p>
            <a:pPr algn="l">
              <a:spcBef>
                <a:spcPct val="50000"/>
              </a:spcBef>
            </a:pPr>
            <a:r>
              <a:rPr lang="en-US" altLang="zh-CN" sz="2400">
                <a:latin typeface="华文新魏" pitchFamily="2" charset="-122"/>
                <a:ea typeface="华文新魏" pitchFamily="2" charset="-122"/>
              </a:rPr>
              <a:t>          ARM</a:t>
            </a:r>
            <a:r>
              <a:rPr lang="zh-CN" altLang="en-US" sz="2400">
                <a:latin typeface="华文新魏" pitchFamily="2" charset="-122"/>
                <a:ea typeface="华文新魏" pitchFamily="2" charset="-122"/>
              </a:rPr>
              <a:t>内核通过</a:t>
            </a:r>
            <a:r>
              <a:rPr lang="en-US" altLang="zh-CN" sz="2400">
                <a:latin typeface="华文新魏" pitchFamily="2" charset="-122"/>
                <a:ea typeface="华文新魏" pitchFamily="2" charset="-122"/>
              </a:rPr>
              <a:t>CPSR</a:t>
            </a:r>
            <a:r>
              <a:rPr lang="zh-CN" altLang="en-US" sz="2400">
                <a:latin typeface="华文新魏" pitchFamily="2" charset="-122"/>
                <a:ea typeface="华文新魏" pitchFamily="2" charset="-122"/>
              </a:rPr>
              <a:t>来监视和控制内部的操作，</a:t>
            </a:r>
            <a:r>
              <a:rPr lang="en-US" altLang="zh-CN" sz="2400">
                <a:latin typeface="华文新魏" pitchFamily="2" charset="-122"/>
                <a:ea typeface="华文新魏" pitchFamily="2" charset="-122"/>
              </a:rPr>
              <a:t>CPSR</a:t>
            </a:r>
            <a:r>
              <a:rPr lang="zh-CN" altLang="en-US" sz="2400">
                <a:latin typeface="华文新魏" pitchFamily="2" charset="-122"/>
                <a:ea typeface="华文新魏" pitchFamily="2" charset="-122"/>
              </a:rPr>
              <a:t>中的</a:t>
            </a:r>
            <a:r>
              <a:rPr lang="zh-CN" altLang="en-US" sz="2400">
                <a:latin typeface="Times New Roman"/>
                <a:ea typeface="华文新魏" pitchFamily="2" charset="-122"/>
              </a:rPr>
              <a:t>“</a:t>
            </a:r>
            <a:r>
              <a:rPr lang="en-US" altLang="zh-CN" sz="2400">
                <a:latin typeface="华文新魏" pitchFamily="2" charset="-122"/>
                <a:ea typeface="华文新魏" pitchFamily="2" charset="-122"/>
              </a:rPr>
              <a:t>I</a:t>
            </a:r>
            <a:r>
              <a:rPr lang="en-US" altLang="zh-CN" sz="2400">
                <a:latin typeface="Times New Roman"/>
                <a:ea typeface="华文新魏" pitchFamily="2" charset="-122"/>
              </a:rPr>
              <a:t>”</a:t>
            </a:r>
            <a:r>
              <a:rPr lang="zh-CN" altLang="en-US" sz="2400">
                <a:latin typeface="华文新魏" pitchFamily="2" charset="-122"/>
                <a:ea typeface="华文新魏" pitchFamily="2" charset="-122"/>
              </a:rPr>
              <a:t>位和</a:t>
            </a:r>
            <a:r>
              <a:rPr lang="zh-CN" altLang="en-US" sz="2400">
                <a:latin typeface="Times New Roman"/>
                <a:ea typeface="华文新魏" pitchFamily="2" charset="-122"/>
              </a:rPr>
              <a:t>“</a:t>
            </a:r>
            <a:r>
              <a:rPr lang="en-US" altLang="zh-CN" sz="2400">
                <a:latin typeface="华文新魏" pitchFamily="2" charset="-122"/>
                <a:ea typeface="华文新魏" pitchFamily="2" charset="-122"/>
              </a:rPr>
              <a:t>F</a:t>
            </a:r>
            <a:r>
              <a:rPr lang="en-US" altLang="zh-CN" sz="2400">
                <a:latin typeface="Times New Roman"/>
                <a:ea typeface="华文新魏" pitchFamily="2" charset="-122"/>
              </a:rPr>
              <a:t>”</a:t>
            </a:r>
            <a:r>
              <a:rPr lang="zh-CN" altLang="en-US" sz="2400">
                <a:latin typeface="华文新魏" pitchFamily="2" charset="-122"/>
                <a:ea typeface="华文新魏" pitchFamily="2" charset="-122"/>
              </a:rPr>
              <a:t>位分别用来控制</a:t>
            </a:r>
            <a:r>
              <a:rPr lang="en-US" altLang="zh-CN" sz="2400">
                <a:latin typeface="华文新魏" pitchFamily="2" charset="-122"/>
                <a:ea typeface="华文新魏" pitchFamily="2" charset="-122"/>
              </a:rPr>
              <a:t>IRQ</a:t>
            </a:r>
            <a:r>
              <a:rPr lang="zh-CN" altLang="en-US" sz="2400">
                <a:latin typeface="华文新魏" pitchFamily="2" charset="-122"/>
                <a:ea typeface="华文新魏" pitchFamily="2" charset="-122"/>
              </a:rPr>
              <a:t>模式和</a:t>
            </a:r>
            <a:r>
              <a:rPr lang="en-US" altLang="zh-CN" sz="2400">
                <a:latin typeface="华文新魏" pitchFamily="2" charset="-122"/>
                <a:ea typeface="华文新魏" pitchFamily="2" charset="-122"/>
              </a:rPr>
              <a:t>FIQ</a:t>
            </a:r>
            <a:r>
              <a:rPr lang="zh-CN" altLang="en-US" sz="2400">
                <a:latin typeface="华文新魏" pitchFamily="2" charset="-122"/>
                <a:ea typeface="华文新魏" pitchFamily="2" charset="-122"/>
              </a:rPr>
              <a:t>模式的使能。</a:t>
            </a:r>
          </a:p>
        </p:txBody>
      </p:sp>
      <p:sp>
        <p:nvSpPr>
          <p:cNvPr id="362605" name="Rectangle 109"/>
          <p:cNvSpPr>
            <a:spLocks noChangeArrowheads="1"/>
          </p:cNvSpPr>
          <p:nvPr/>
        </p:nvSpPr>
        <p:spPr bwMode="auto">
          <a:xfrm>
            <a:off x="5454651" y="3836988"/>
            <a:ext cx="2136775" cy="2182812"/>
          </a:xfrm>
          <a:prstGeom prst="rect">
            <a:avLst/>
          </a:prstGeom>
          <a:solidFill>
            <a:srgbClr val="FFCC99"/>
          </a:solidFill>
          <a:ln w="9525" algn="ctr">
            <a:solidFill>
              <a:schemeClr val="tx1"/>
            </a:solidFill>
            <a:miter lim="800000"/>
            <a:headEnd/>
            <a:tailEnd/>
          </a:ln>
          <a:effectLst/>
        </p:spPr>
        <p:txBody>
          <a:bodyPr wrap="none" anchor="ctr"/>
          <a:lstStyle/>
          <a:p>
            <a:endParaRPr lang="zh-CN" altLang="zh-CN" sz="1200">
              <a:latin typeface="Arial" charset="0"/>
            </a:endParaRPr>
          </a:p>
        </p:txBody>
      </p:sp>
      <p:sp>
        <p:nvSpPr>
          <p:cNvPr id="362606" name="Rectangle 110"/>
          <p:cNvSpPr>
            <a:spLocks noChangeArrowheads="1"/>
          </p:cNvSpPr>
          <p:nvPr/>
        </p:nvSpPr>
        <p:spPr bwMode="auto">
          <a:xfrm>
            <a:off x="5784850" y="4492625"/>
            <a:ext cx="774700" cy="342900"/>
          </a:xfrm>
          <a:prstGeom prst="rect">
            <a:avLst/>
          </a:prstGeom>
          <a:noFill/>
          <a:ln w="9525" algn="ctr">
            <a:solidFill>
              <a:schemeClr val="tx1"/>
            </a:solidFill>
            <a:prstDash val="dash"/>
            <a:miter lim="800000"/>
            <a:headEnd/>
            <a:tailEnd/>
          </a:ln>
          <a:effectLst/>
        </p:spPr>
        <p:txBody>
          <a:bodyPr wrap="none" anchor="ctr"/>
          <a:lstStyle/>
          <a:p>
            <a:endParaRPr lang="zh-CN" altLang="en-US"/>
          </a:p>
        </p:txBody>
      </p:sp>
      <p:sp>
        <p:nvSpPr>
          <p:cNvPr id="362607" name="Line 111"/>
          <p:cNvSpPr>
            <a:spLocks noChangeShapeType="1"/>
          </p:cNvSpPr>
          <p:nvPr/>
        </p:nvSpPr>
        <p:spPr bwMode="auto">
          <a:xfrm>
            <a:off x="4511676" y="4699000"/>
            <a:ext cx="957263"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62608" name="Rectangle 112"/>
          <p:cNvSpPr>
            <a:spLocks noChangeArrowheads="1"/>
          </p:cNvSpPr>
          <p:nvPr/>
        </p:nvSpPr>
        <p:spPr bwMode="auto">
          <a:xfrm>
            <a:off x="6929438" y="4510088"/>
            <a:ext cx="514350" cy="1066800"/>
          </a:xfrm>
          <a:prstGeom prst="rect">
            <a:avLst/>
          </a:prstGeom>
          <a:solidFill>
            <a:schemeClr val="bg1"/>
          </a:solidFill>
          <a:ln w="9525" algn="ctr">
            <a:solidFill>
              <a:schemeClr val="tx1"/>
            </a:solidFill>
            <a:miter lim="800000"/>
            <a:headEnd/>
            <a:tailEnd/>
          </a:ln>
          <a:effectLst/>
        </p:spPr>
        <p:txBody>
          <a:bodyPr wrap="none" anchor="ctr"/>
          <a:lstStyle/>
          <a:p>
            <a:r>
              <a:rPr lang="en-US" altLang="zh-CN" sz="1200">
                <a:latin typeface="Times New Roman" pitchFamily="18" charset="0"/>
              </a:rPr>
              <a:t>CPU</a:t>
            </a:r>
          </a:p>
        </p:txBody>
      </p:sp>
      <p:sp>
        <p:nvSpPr>
          <p:cNvPr id="362609" name="Line 113"/>
          <p:cNvSpPr>
            <a:spLocks noChangeShapeType="1"/>
          </p:cNvSpPr>
          <p:nvPr/>
        </p:nvSpPr>
        <p:spPr bwMode="auto">
          <a:xfrm>
            <a:off x="5461000" y="4699000"/>
            <a:ext cx="501650"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362610" name="Line 114"/>
          <p:cNvSpPr>
            <a:spLocks noChangeShapeType="1"/>
          </p:cNvSpPr>
          <p:nvPr/>
        </p:nvSpPr>
        <p:spPr bwMode="auto">
          <a:xfrm>
            <a:off x="6400800" y="4711700"/>
            <a:ext cx="541338"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362611" name="Line 115"/>
          <p:cNvSpPr>
            <a:spLocks noChangeShapeType="1"/>
          </p:cNvSpPr>
          <p:nvPr/>
        </p:nvSpPr>
        <p:spPr bwMode="auto">
          <a:xfrm flipV="1">
            <a:off x="5978525" y="4552950"/>
            <a:ext cx="438150" cy="139700"/>
          </a:xfrm>
          <a:prstGeom prst="line">
            <a:avLst/>
          </a:prstGeom>
          <a:noFill/>
          <a:ln w="9525">
            <a:solidFill>
              <a:schemeClr val="tx1"/>
            </a:solidFill>
            <a:round/>
            <a:headEnd/>
            <a:tailEnd/>
          </a:ln>
          <a:effectLst/>
        </p:spPr>
        <p:txBody>
          <a:bodyPr wrap="none" anchor="ctr"/>
          <a:lstStyle/>
          <a:p>
            <a:endParaRPr lang="zh-CN" altLang="en-US"/>
          </a:p>
        </p:txBody>
      </p:sp>
      <p:sp>
        <p:nvSpPr>
          <p:cNvPr id="362612" name="Line 116"/>
          <p:cNvSpPr>
            <a:spLocks noChangeShapeType="1"/>
          </p:cNvSpPr>
          <p:nvPr/>
        </p:nvSpPr>
        <p:spPr bwMode="auto">
          <a:xfrm>
            <a:off x="4518025" y="5254625"/>
            <a:ext cx="9652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62613" name="Line 117"/>
          <p:cNvSpPr>
            <a:spLocks noChangeShapeType="1"/>
          </p:cNvSpPr>
          <p:nvPr/>
        </p:nvSpPr>
        <p:spPr bwMode="auto">
          <a:xfrm>
            <a:off x="5465764" y="5254625"/>
            <a:ext cx="503237"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362614" name="Line 118"/>
          <p:cNvSpPr>
            <a:spLocks noChangeShapeType="1"/>
          </p:cNvSpPr>
          <p:nvPr/>
        </p:nvSpPr>
        <p:spPr bwMode="auto">
          <a:xfrm>
            <a:off x="6407150" y="5267325"/>
            <a:ext cx="534988"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362615" name="Line 119"/>
          <p:cNvSpPr>
            <a:spLocks noChangeShapeType="1"/>
          </p:cNvSpPr>
          <p:nvPr/>
        </p:nvSpPr>
        <p:spPr bwMode="auto">
          <a:xfrm flipV="1">
            <a:off x="5984875" y="5108575"/>
            <a:ext cx="438150" cy="139700"/>
          </a:xfrm>
          <a:prstGeom prst="line">
            <a:avLst/>
          </a:prstGeom>
          <a:noFill/>
          <a:ln w="9525">
            <a:solidFill>
              <a:schemeClr val="tx1"/>
            </a:solidFill>
            <a:round/>
            <a:headEnd/>
            <a:tailEnd/>
          </a:ln>
          <a:effectLst/>
        </p:spPr>
        <p:txBody>
          <a:bodyPr wrap="none" anchor="ctr"/>
          <a:lstStyle/>
          <a:p>
            <a:endParaRPr lang="zh-CN" altLang="en-US"/>
          </a:p>
        </p:txBody>
      </p:sp>
      <p:sp>
        <p:nvSpPr>
          <p:cNvPr id="362616" name="Rectangle 120"/>
          <p:cNvSpPr>
            <a:spLocks noChangeArrowheads="1"/>
          </p:cNvSpPr>
          <p:nvPr/>
        </p:nvSpPr>
        <p:spPr bwMode="auto">
          <a:xfrm>
            <a:off x="5784850" y="5032375"/>
            <a:ext cx="774700" cy="342900"/>
          </a:xfrm>
          <a:prstGeom prst="rect">
            <a:avLst/>
          </a:prstGeom>
          <a:noFill/>
          <a:ln w="9525" algn="ctr">
            <a:solidFill>
              <a:schemeClr val="tx1"/>
            </a:solidFill>
            <a:prstDash val="dash"/>
            <a:miter lim="800000"/>
            <a:headEnd/>
            <a:tailEnd/>
          </a:ln>
          <a:effectLst/>
        </p:spPr>
        <p:txBody>
          <a:bodyPr wrap="none" anchor="ctr"/>
          <a:lstStyle/>
          <a:p>
            <a:endParaRPr lang="zh-CN" altLang="en-US"/>
          </a:p>
        </p:txBody>
      </p:sp>
      <p:sp>
        <p:nvSpPr>
          <p:cNvPr id="362617" name="Text Box 121"/>
          <p:cNvSpPr txBox="1">
            <a:spLocks noChangeArrowheads="1"/>
          </p:cNvSpPr>
          <p:nvPr/>
        </p:nvSpPr>
        <p:spPr bwMode="auto">
          <a:xfrm>
            <a:off x="5797550" y="3573464"/>
            <a:ext cx="1131888" cy="274637"/>
          </a:xfrm>
          <a:prstGeom prst="rect">
            <a:avLst/>
          </a:prstGeom>
          <a:noFill/>
          <a:ln w="9525" algn="ctr">
            <a:noFill/>
            <a:miter lim="800000"/>
            <a:headEnd/>
            <a:tailEnd/>
          </a:ln>
          <a:effectLst/>
        </p:spPr>
        <p:txBody>
          <a:bodyPr wrap="none">
            <a:spAutoFit/>
          </a:bodyPr>
          <a:lstStyle/>
          <a:p>
            <a:r>
              <a:rPr lang="en-US" altLang="zh-CN" sz="1200">
                <a:latin typeface="Arial" charset="0"/>
              </a:rPr>
              <a:t>ARM7TDMI-S</a:t>
            </a:r>
          </a:p>
        </p:txBody>
      </p:sp>
      <p:sp>
        <p:nvSpPr>
          <p:cNvPr id="362618" name="Rectangle 122"/>
          <p:cNvSpPr>
            <a:spLocks noChangeArrowheads="1"/>
          </p:cNvSpPr>
          <p:nvPr/>
        </p:nvSpPr>
        <p:spPr bwMode="auto">
          <a:xfrm>
            <a:off x="4151314" y="3781425"/>
            <a:ext cx="655637" cy="2228850"/>
          </a:xfrm>
          <a:prstGeom prst="rect">
            <a:avLst/>
          </a:prstGeom>
          <a:solidFill>
            <a:srgbClr val="FFFF99"/>
          </a:solidFill>
          <a:ln w="9525" algn="ctr">
            <a:solidFill>
              <a:schemeClr val="tx1"/>
            </a:solidFill>
            <a:miter lim="800000"/>
            <a:headEnd/>
            <a:tailEnd/>
          </a:ln>
          <a:effectLst/>
        </p:spPr>
        <p:txBody>
          <a:bodyPr wrap="none" anchor="ctr"/>
          <a:lstStyle/>
          <a:p>
            <a:r>
              <a:rPr lang="en-US" altLang="zh-CN" sz="1400">
                <a:latin typeface="Times New Roman" pitchFamily="18" charset="0"/>
              </a:rPr>
              <a:t>VIC</a:t>
            </a:r>
          </a:p>
        </p:txBody>
      </p:sp>
      <p:sp>
        <p:nvSpPr>
          <p:cNvPr id="362619" name="Line 123"/>
          <p:cNvSpPr>
            <a:spLocks noChangeShapeType="1"/>
          </p:cNvSpPr>
          <p:nvPr/>
        </p:nvSpPr>
        <p:spPr bwMode="auto">
          <a:xfrm>
            <a:off x="6151563" y="4240214"/>
            <a:ext cx="0" cy="250825"/>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62620" name="Line 124"/>
          <p:cNvSpPr>
            <a:spLocks noChangeShapeType="1"/>
          </p:cNvSpPr>
          <p:nvPr/>
        </p:nvSpPr>
        <p:spPr bwMode="auto">
          <a:xfrm flipV="1">
            <a:off x="6151563" y="5383214"/>
            <a:ext cx="0" cy="236537"/>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62621" name="Text Box 125"/>
          <p:cNvSpPr txBox="1">
            <a:spLocks noChangeArrowheads="1"/>
          </p:cNvSpPr>
          <p:nvPr/>
        </p:nvSpPr>
        <p:spPr bwMode="auto">
          <a:xfrm>
            <a:off x="4864100" y="4443414"/>
            <a:ext cx="446088" cy="274637"/>
          </a:xfrm>
          <a:prstGeom prst="rect">
            <a:avLst/>
          </a:prstGeom>
          <a:noFill/>
          <a:ln w="9525" algn="ctr">
            <a:noFill/>
            <a:miter lim="800000"/>
            <a:headEnd/>
            <a:tailEnd/>
          </a:ln>
          <a:effectLst/>
        </p:spPr>
        <p:txBody>
          <a:bodyPr wrap="none">
            <a:spAutoFit/>
          </a:bodyPr>
          <a:lstStyle/>
          <a:p>
            <a:r>
              <a:rPr lang="en-US" altLang="zh-CN" sz="1200">
                <a:latin typeface="Times New Roman" pitchFamily="18" charset="0"/>
              </a:rPr>
              <a:t>IRQ</a:t>
            </a:r>
          </a:p>
        </p:txBody>
      </p:sp>
      <p:sp>
        <p:nvSpPr>
          <p:cNvPr id="362622" name="Text Box 126"/>
          <p:cNvSpPr txBox="1">
            <a:spLocks noChangeArrowheads="1"/>
          </p:cNvSpPr>
          <p:nvPr/>
        </p:nvSpPr>
        <p:spPr bwMode="auto">
          <a:xfrm>
            <a:off x="4872039" y="5016500"/>
            <a:ext cx="428625" cy="274638"/>
          </a:xfrm>
          <a:prstGeom prst="rect">
            <a:avLst/>
          </a:prstGeom>
          <a:noFill/>
          <a:ln w="9525" algn="ctr">
            <a:noFill/>
            <a:miter lim="800000"/>
            <a:headEnd/>
            <a:tailEnd/>
          </a:ln>
          <a:effectLst/>
        </p:spPr>
        <p:txBody>
          <a:bodyPr wrap="none">
            <a:spAutoFit/>
          </a:bodyPr>
          <a:lstStyle/>
          <a:p>
            <a:r>
              <a:rPr lang="en-US" altLang="zh-CN" sz="1200">
                <a:latin typeface="Times New Roman" pitchFamily="18" charset="0"/>
              </a:rPr>
              <a:t>FIQ</a:t>
            </a:r>
          </a:p>
        </p:txBody>
      </p:sp>
      <p:sp>
        <p:nvSpPr>
          <p:cNvPr id="362623" name="Rectangle 127"/>
          <p:cNvSpPr>
            <a:spLocks noChangeArrowheads="1"/>
          </p:cNvSpPr>
          <p:nvPr/>
        </p:nvSpPr>
        <p:spPr bwMode="auto">
          <a:xfrm>
            <a:off x="5589588" y="3952875"/>
            <a:ext cx="1130300" cy="355600"/>
          </a:xfrm>
          <a:prstGeom prst="rect">
            <a:avLst/>
          </a:prstGeom>
          <a:solidFill>
            <a:schemeClr val="bg1"/>
          </a:solidFill>
          <a:ln w="9525" algn="ctr">
            <a:solidFill>
              <a:schemeClr val="tx1"/>
            </a:solidFill>
            <a:miter lim="800000"/>
            <a:headEnd/>
            <a:tailEnd/>
          </a:ln>
          <a:effectLst/>
        </p:spPr>
        <p:txBody>
          <a:bodyPr wrap="none" anchor="ctr"/>
          <a:lstStyle/>
          <a:p>
            <a:r>
              <a:rPr lang="en-US" altLang="zh-CN" sz="1200">
                <a:latin typeface="Times New Roman" pitchFamily="18" charset="0"/>
              </a:rPr>
              <a:t>CPSR[ 7 ]</a:t>
            </a:r>
            <a:r>
              <a:rPr lang="zh-CN" altLang="en-US" sz="1200">
                <a:latin typeface="Times New Roman" pitchFamily="18" charset="0"/>
              </a:rPr>
              <a:t>（</a:t>
            </a:r>
            <a:r>
              <a:rPr lang="en-US" altLang="zh-CN" sz="1200">
                <a:latin typeface="Times New Roman" pitchFamily="18" charset="0"/>
              </a:rPr>
              <a:t>I</a:t>
            </a:r>
            <a:r>
              <a:rPr lang="zh-CN" altLang="en-US" sz="1200">
                <a:latin typeface="Times New Roman" pitchFamily="18" charset="0"/>
              </a:rPr>
              <a:t>）</a:t>
            </a:r>
          </a:p>
        </p:txBody>
      </p:sp>
      <p:sp>
        <p:nvSpPr>
          <p:cNvPr id="362624" name="Rectangle 128"/>
          <p:cNvSpPr>
            <a:spLocks noChangeArrowheads="1"/>
          </p:cNvSpPr>
          <p:nvPr/>
        </p:nvSpPr>
        <p:spPr bwMode="auto">
          <a:xfrm>
            <a:off x="5589588" y="5583238"/>
            <a:ext cx="1122362" cy="317500"/>
          </a:xfrm>
          <a:prstGeom prst="rect">
            <a:avLst/>
          </a:prstGeom>
          <a:solidFill>
            <a:schemeClr val="bg1"/>
          </a:solidFill>
          <a:ln w="9525" algn="ctr">
            <a:solidFill>
              <a:schemeClr val="tx1"/>
            </a:solidFill>
            <a:miter lim="800000"/>
            <a:headEnd/>
            <a:tailEnd/>
          </a:ln>
          <a:effectLst/>
        </p:spPr>
        <p:txBody>
          <a:bodyPr wrap="none" anchor="ctr"/>
          <a:lstStyle/>
          <a:p>
            <a:r>
              <a:rPr lang="en-US" altLang="zh-CN" sz="1200">
                <a:latin typeface="Times New Roman" pitchFamily="18" charset="0"/>
              </a:rPr>
              <a:t>CPSR[ 6 ]</a:t>
            </a:r>
            <a:r>
              <a:rPr lang="zh-CN" altLang="en-US" sz="1200">
                <a:latin typeface="Times New Roman" pitchFamily="18" charset="0"/>
              </a:rPr>
              <a:t>（</a:t>
            </a:r>
            <a:r>
              <a:rPr lang="en-US" altLang="zh-CN" sz="1200">
                <a:latin typeface="Times New Roman" pitchFamily="18" charset="0"/>
              </a:rPr>
              <a:t>F</a:t>
            </a:r>
            <a:r>
              <a:rPr lang="zh-CN" altLang="en-US" sz="1200">
                <a:latin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62545">
                                            <p:txEl>
                                              <p:pRg st="0" end="0"/>
                                            </p:txEl>
                                          </p:spTgt>
                                        </p:tgtEl>
                                        <p:attrNameLst>
                                          <p:attrName>style.visibility</p:attrName>
                                        </p:attrNameLst>
                                      </p:cBhvr>
                                      <p:to>
                                        <p:strVal val="visible"/>
                                      </p:to>
                                    </p:set>
                                    <p:anim calcmode="lin" valueType="num">
                                      <p:cBhvr additive="base">
                                        <p:cTn id="7" dur="500" fill="hold"/>
                                        <p:tgtEl>
                                          <p:spTgt spid="36254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62545">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362602"/>
                                        </p:tgtEl>
                                        <p:attrNameLst>
                                          <p:attrName>style.visibility</p:attrName>
                                        </p:attrNameLst>
                                      </p:cBhvr>
                                      <p:to>
                                        <p:strVal val="visible"/>
                                      </p:to>
                                    </p:set>
                                    <p:animEffect transition="in" filter="box(in)">
                                      <p:cBhvr>
                                        <p:cTn id="12" dur="500"/>
                                        <p:tgtEl>
                                          <p:spTgt spid="362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545" grpId="0" build="p"/>
      <p:bldP spid="362602"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a:lstStyle/>
          <a:p>
            <a:r>
              <a:rPr lang="en-US" altLang="zh-CN" dirty="0">
                <a:solidFill>
                  <a:schemeClr val="tx1"/>
                </a:solidFill>
              </a:rPr>
              <a:t>5.3.1  </a:t>
            </a:r>
            <a:r>
              <a:rPr lang="zh-CN" altLang="en-US" dirty="0">
                <a:solidFill>
                  <a:schemeClr val="tx1"/>
                </a:solidFill>
              </a:rPr>
              <a:t>向量中断控制器</a:t>
            </a:r>
          </a:p>
        </p:txBody>
      </p:sp>
      <p:sp>
        <p:nvSpPr>
          <p:cNvPr id="392195" name="Rectangle 3"/>
          <p:cNvSpPr>
            <a:spLocks noChangeArrowheads="1"/>
          </p:cNvSpPr>
          <p:nvPr/>
        </p:nvSpPr>
        <p:spPr bwMode="auto">
          <a:xfrm>
            <a:off x="2209800" y="17002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程序状态寄存器</a:t>
            </a:r>
            <a:r>
              <a:rPr lang="en-US" altLang="zh-CN" sz="3200">
                <a:latin typeface="Times New Roman" pitchFamily="18" charset="0"/>
              </a:rPr>
              <a:t>CPSR</a:t>
            </a:r>
            <a:r>
              <a:rPr lang="zh-CN" altLang="en-US" sz="3200">
                <a:latin typeface="Times New Roman" pitchFamily="18" charset="0"/>
              </a:rPr>
              <a:t>与</a:t>
            </a:r>
            <a:r>
              <a:rPr lang="en-US" altLang="zh-CN" sz="3200">
                <a:latin typeface="Times New Roman" pitchFamily="18" charset="0"/>
              </a:rPr>
              <a:t>VIC</a:t>
            </a:r>
            <a:r>
              <a:rPr lang="zh-CN" altLang="en-US" sz="3200">
                <a:latin typeface="Times New Roman" pitchFamily="18" charset="0"/>
              </a:rPr>
              <a:t>的关系</a:t>
            </a:r>
          </a:p>
        </p:txBody>
      </p:sp>
      <p:sp>
        <p:nvSpPr>
          <p:cNvPr id="392196" name="Text Box 4"/>
          <p:cNvSpPr txBox="1">
            <a:spLocks noChangeArrowheads="1"/>
          </p:cNvSpPr>
          <p:nvPr/>
        </p:nvSpPr>
        <p:spPr bwMode="auto">
          <a:xfrm>
            <a:off x="2566988" y="2349500"/>
            <a:ext cx="4176712" cy="457200"/>
          </a:xfrm>
          <a:prstGeom prst="rect">
            <a:avLst/>
          </a:prstGeom>
          <a:noFill/>
          <a:ln w="9525">
            <a:noFill/>
            <a:miter lim="800000"/>
            <a:headEnd/>
            <a:tailEnd/>
          </a:ln>
          <a:effectLst/>
        </p:spPr>
        <p:txBody>
          <a:bodyPr>
            <a:spAutoFit/>
          </a:bodyPr>
          <a:lstStyle/>
          <a:p>
            <a:pPr algn="l">
              <a:spcBef>
                <a:spcPct val="50000"/>
              </a:spcBef>
              <a:buFont typeface="Wingdings" pitchFamily="2" charset="2"/>
              <a:buChar char="Ø"/>
            </a:pPr>
            <a:r>
              <a:rPr lang="en-US" altLang="zh-CN" sz="2400">
                <a:latin typeface="华文新魏" pitchFamily="2" charset="-122"/>
                <a:ea typeface="华文新魏" pitchFamily="2" charset="-122"/>
              </a:rPr>
              <a:t> </a:t>
            </a:r>
            <a:r>
              <a:rPr lang="zh-CN" altLang="en-US" sz="2400">
                <a:latin typeface="华文新魏" pitchFamily="2" charset="-122"/>
                <a:ea typeface="华文新魏" pitchFamily="2" charset="-122"/>
              </a:rPr>
              <a:t>当</a:t>
            </a:r>
            <a:r>
              <a:rPr lang="en-US" altLang="zh-CN" sz="2400">
                <a:latin typeface="华文新魏" pitchFamily="2" charset="-122"/>
                <a:ea typeface="华文新魏" pitchFamily="2" charset="-122"/>
              </a:rPr>
              <a:t>I = 1</a:t>
            </a:r>
            <a:r>
              <a:rPr lang="zh-CN" altLang="en-US" sz="2400">
                <a:latin typeface="华文新魏" pitchFamily="2" charset="-122"/>
                <a:ea typeface="华文新魏" pitchFamily="2" charset="-122"/>
              </a:rPr>
              <a:t>时，禁止</a:t>
            </a:r>
            <a:r>
              <a:rPr lang="en-US" altLang="zh-CN" sz="2400">
                <a:latin typeface="华文新魏" pitchFamily="2" charset="-122"/>
                <a:ea typeface="华文新魏" pitchFamily="2" charset="-122"/>
              </a:rPr>
              <a:t>IRQ</a:t>
            </a:r>
            <a:r>
              <a:rPr lang="zh-CN" altLang="en-US" sz="2400">
                <a:latin typeface="华文新魏" pitchFamily="2" charset="-122"/>
                <a:ea typeface="华文新魏" pitchFamily="2" charset="-122"/>
              </a:rPr>
              <a:t>中断</a:t>
            </a:r>
          </a:p>
        </p:txBody>
      </p:sp>
      <p:grpSp>
        <p:nvGrpSpPr>
          <p:cNvPr id="392218" name="Group 26"/>
          <p:cNvGrpSpPr>
            <a:grpSpLocks/>
          </p:cNvGrpSpPr>
          <p:nvPr/>
        </p:nvGrpSpPr>
        <p:grpSpPr bwMode="auto">
          <a:xfrm>
            <a:off x="4168776" y="3573464"/>
            <a:ext cx="3440113" cy="2446337"/>
            <a:chOff x="1666" y="2251"/>
            <a:chExt cx="2167" cy="1541"/>
          </a:xfrm>
        </p:grpSpPr>
        <p:sp>
          <p:nvSpPr>
            <p:cNvPr id="392197" name="Rectangle 5"/>
            <p:cNvSpPr>
              <a:spLocks noChangeArrowheads="1"/>
            </p:cNvSpPr>
            <p:nvPr/>
          </p:nvSpPr>
          <p:spPr bwMode="auto">
            <a:xfrm>
              <a:off x="2487" y="2417"/>
              <a:ext cx="1346" cy="1375"/>
            </a:xfrm>
            <a:prstGeom prst="rect">
              <a:avLst/>
            </a:prstGeom>
            <a:solidFill>
              <a:srgbClr val="FFCC99"/>
            </a:solidFill>
            <a:ln w="9525" algn="ctr">
              <a:solidFill>
                <a:schemeClr val="tx1"/>
              </a:solidFill>
              <a:miter lim="800000"/>
              <a:headEnd/>
              <a:tailEnd/>
            </a:ln>
            <a:effectLst/>
          </p:spPr>
          <p:txBody>
            <a:bodyPr wrap="none" anchor="ctr"/>
            <a:lstStyle/>
            <a:p>
              <a:endParaRPr lang="zh-CN" altLang="zh-CN" sz="1200">
                <a:latin typeface="Arial" charset="0"/>
              </a:endParaRPr>
            </a:p>
          </p:txBody>
        </p:sp>
        <p:sp>
          <p:nvSpPr>
            <p:cNvPr id="392198" name="Rectangle 6"/>
            <p:cNvSpPr>
              <a:spLocks noChangeArrowheads="1"/>
            </p:cNvSpPr>
            <p:nvPr/>
          </p:nvSpPr>
          <p:spPr bwMode="auto">
            <a:xfrm>
              <a:off x="2695" y="2830"/>
              <a:ext cx="488" cy="216"/>
            </a:xfrm>
            <a:prstGeom prst="rect">
              <a:avLst/>
            </a:prstGeom>
            <a:noFill/>
            <a:ln w="9525" algn="ctr">
              <a:solidFill>
                <a:schemeClr val="tx1"/>
              </a:solidFill>
              <a:prstDash val="dash"/>
              <a:miter lim="800000"/>
              <a:headEnd/>
              <a:tailEnd/>
            </a:ln>
            <a:effectLst/>
          </p:spPr>
          <p:txBody>
            <a:bodyPr wrap="none" anchor="ctr"/>
            <a:lstStyle/>
            <a:p>
              <a:endParaRPr lang="zh-CN" altLang="en-US"/>
            </a:p>
          </p:txBody>
        </p:sp>
        <p:sp>
          <p:nvSpPr>
            <p:cNvPr id="392199" name="Line 7"/>
            <p:cNvSpPr>
              <a:spLocks noChangeShapeType="1"/>
            </p:cNvSpPr>
            <p:nvPr/>
          </p:nvSpPr>
          <p:spPr bwMode="auto">
            <a:xfrm>
              <a:off x="1893" y="2960"/>
              <a:ext cx="603"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92200" name="Rectangle 8"/>
            <p:cNvSpPr>
              <a:spLocks noChangeArrowheads="1"/>
            </p:cNvSpPr>
            <p:nvPr/>
          </p:nvSpPr>
          <p:spPr bwMode="auto">
            <a:xfrm>
              <a:off x="3416" y="2841"/>
              <a:ext cx="324" cy="672"/>
            </a:xfrm>
            <a:prstGeom prst="rect">
              <a:avLst/>
            </a:prstGeom>
            <a:solidFill>
              <a:schemeClr val="bg1"/>
            </a:solidFill>
            <a:ln w="9525" algn="ctr">
              <a:solidFill>
                <a:schemeClr val="tx1"/>
              </a:solidFill>
              <a:miter lim="800000"/>
              <a:headEnd/>
              <a:tailEnd/>
            </a:ln>
            <a:effectLst/>
          </p:spPr>
          <p:txBody>
            <a:bodyPr wrap="none" anchor="ctr"/>
            <a:lstStyle/>
            <a:p>
              <a:r>
                <a:rPr lang="en-US" altLang="zh-CN" sz="1200">
                  <a:latin typeface="Times New Roman" pitchFamily="18" charset="0"/>
                </a:rPr>
                <a:t>CPU</a:t>
              </a:r>
            </a:p>
          </p:txBody>
        </p:sp>
        <p:sp>
          <p:nvSpPr>
            <p:cNvPr id="392201" name="Line 9"/>
            <p:cNvSpPr>
              <a:spLocks noChangeShapeType="1"/>
            </p:cNvSpPr>
            <p:nvPr/>
          </p:nvSpPr>
          <p:spPr bwMode="auto">
            <a:xfrm>
              <a:off x="2491" y="2960"/>
              <a:ext cx="316"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392202" name="Line 10"/>
            <p:cNvSpPr>
              <a:spLocks noChangeShapeType="1"/>
            </p:cNvSpPr>
            <p:nvPr/>
          </p:nvSpPr>
          <p:spPr bwMode="auto">
            <a:xfrm>
              <a:off x="3083" y="2968"/>
              <a:ext cx="341"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392203" name="Line 11"/>
            <p:cNvSpPr>
              <a:spLocks noChangeShapeType="1"/>
            </p:cNvSpPr>
            <p:nvPr/>
          </p:nvSpPr>
          <p:spPr bwMode="auto">
            <a:xfrm flipV="1">
              <a:off x="2817" y="2868"/>
              <a:ext cx="276" cy="88"/>
            </a:xfrm>
            <a:prstGeom prst="line">
              <a:avLst/>
            </a:prstGeom>
            <a:noFill/>
            <a:ln w="9525">
              <a:solidFill>
                <a:schemeClr val="tx1"/>
              </a:solidFill>
              <a:round/>
              <a:headEnd/>
              <a:tailEnd/>
            </a:ln>
            <a:effectLst/>
          </p:spPr>
          <p:txBody>
            <a:bodyPr wrap="none" anchor="ctr"/>
            <a:lstStyle/>
            <a:p>
              <a:endParaRPr lang="zh-CN" altLang="en-US"/>
            </a:p>
          </p:txBody>
        </p:sp>
        <p:sp>
          <p:nvSpPr>
            <p:cNvPr id="392204" name="Line 12"/>
            <p:cNvSpPr>
              <a:spLocks noChangeShapeType="1"/>
            </p:cNvSpPr>
            <p:nvPr/>
          </p:nvSpPr>
          <p:spPr bwMode="auto">
            <a:xfrm>
              <a:off x="1897" y="3310"/>
              <a:ext cx="60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92205" name="Line 13"/>
            <p:cNvSpPr>
              <a:spLocks noChangeShapeType="1"/>
            </p:cNvSpPr>
            <p:nvPr/>
          </p:nvSpPr>
          <p:spPr bwMode="auto">
            <a:xfrm>
              <a:off x="2494" y="3310"/>
              <a:ext cx="317"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392206" name="Line 14"/>
            <p:cNvSpPr>
              <a:spLocks noChangeShapeType="1"/>
            </p:cNvSpPr>
            <p:nvPr/>
          </p:nvSpPr>
          <p:spPr bwMode="auto">
            <a:xfrm>
              <a:off x="3087" y="3318"/>
              <a:ext cx="337"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392207" name="Line 15"/>
            <p:cNvSpPr>
              <a:spLocks noChangeShapeType="1"/>
            </p:cNvSpPr>
            <p:nvPr/>
          </p:nvSpPr>
          <p:spPr bwMode="auto">
            <a:xfrm flipV="1">
              <a:off x="2821" y="3218"/>
              <a:ext cx="276" cy="88"/>
            </a:xfrm>
            <a:prstGeom prst="line">
              <a:avLst/>
            </a:prstGeom>
            <a:noFill/>
            <a:ln w="9525">
              <a:solidFill>
                <a:schemeClr val="tx1"/>
              </a:solidFill>
              <a:round/>
              <a:headEnd/>
              <a:tailEnd/>
            </a:ln>
            <a:effectLst/>
          </p:spPr>
          <p:txBody>
            <a:bodyPr wrap="none" anchor="ctr"/>
            <a:lstStyle/>
            <a:p>
              <a:endParaRPr lang="zh-CN" altLang="en-US"/>
            </a:p>
          </p:txBody>
        </p:sp>
        <p:sp>
          <p:nvSpPr>
            <p:cNvPr id="392208" name="Rectangle 16"/>
            <p:cNvSpPr>
              <a:spLocks noChangeArrowheads="1"/>
            </p:cNvSpPr>
            <p:nvPr/>
          </p:nvSpPr>
          <p:spPr bwMode="auto">
            <a:xfrm>
              <a:off x="2695" y="3170"/>
              <a:ext cx="488" cy="216"/>
            </a:xfrm>
            <a:prstGeom prst="rect">
              <a:avLst/>
            </a:prstGeom>
            <a:noFill/>
            <a:ln w="9525" algn="ctr">
              <a:solidFill>
                <a:schemeClr val="tx1"/>
              </a:solidFill>
              <a:prstDash val="dash"/>
              <a:miter lim="800000"/>
              <a:headEnd/>
              <a:tailEnd/>
            </a:ln>
            <a:effectLst/>
          </p:spPr>
          <p:txBody>
            <a:bodyPr wrap="none" anchor="ctr"/>
            <a:lstStyle/>
            <a:p>
              <a:endParaRPr lang="zh-CN" altLang="en-US"/>
            </a:p>
          </p:txBody>
        </p:sp>
        <p:sp>
          <p:nvSpPr>
            <p:cNvPr id="392209" name="Text Box 17"/>
            <p:cNvSpPr txBox="1">
              <a:spLocks noChangeArrowheads="1"/>
            </p:cNvSpPr>
            <p:nvPr/>
          </p:nvSpPr>
          <p:spPr bwMode="auto">
            <a:xfrm>
              <a:off x="2703" y="2251"/>
              <a:ext cx="713" cy="173"/>
            </a:xfrm>
            <a:prstGeom prst="rect">
              <a:avLst/>
            </a:prstGeom>
            <a:noFill/>
            <a:ln w="9525" algn="ctr">
              <a:noFill/>
              <a:miter lim="800000"/>
              <a:headEnd/>
              <a:tailEnd/>
            </a:ln>
            <a:effectLst/>
          </p:spPr>
          <p:txBody>
            <a:bodyPr wrap="none">
              <a:spAutoFit/>
            </a:bodyPr>
            <a:lstStyle/>
            <a:p>
              <a:r>
                <a:rPr lang="en-US" altLang="zh-CN" sz="1200">
                  <a:latin typeface="Arial" charset="0"/>
                </a:rPr>
                <a:t>ARM7TDMI-S</a:t>
              </a:r>
            </a:p>
          </p:txBody>
        </p:sp>
        <p:sp>
          <p:nvSpPr>
            <p:cNvPr id="392210" name="Rectangle 18"/>
            <p:cNvSpPr>
              <a:spLocks noChangeArrowheads="1"/>
            </p:cNvSpPr>
            <p:nvPr/>
          </p:nvSpPr>
          <p:spPr bwMode="auto">
            <a:xfrm>
              <a:off x="1666" y="2382"/>
              <a:ext cx="413" cy="1404"/>
            </a:xfrm>
            <a:prstGeom prst="rect">
              <a:avLst/>
            </a:prstGeom>
            <a:solidFill>
              <a:srgbClr val="FFFF99"/>
            </a:solidFill>
            <a:ln w="9525" algn="ctr">
              <a:solidFill>
                <a:schemeClr val="tx1"/>
              </a:solidFill>
              <a:miter lim="800000"/>
              <a:headEnd/>
              <a:tailEnd/>
            </a:ln>
            <a:effectLst/>
          </p:spPr>
          <p:txBody>
            <a:bodyPr wrap="none" anchor="ctr"/>
            <a:lstStyle/>
            <a:p>
              <a:r>
                <a:rPr lang="en-US" altLang="zh-CN" sz="1400">
                  <a:latin typeface="Times New Roman" pitchFamily="18" charset="0"/>
                </a:rPr>
                <a:t>VIC</a:t>
              </a:r>
            </a:p>
          </p:txBody>
        </p:sp>
        <p:sp>
          <p:nvSpPr>
            <p:cNvPr id="392211" name="Line 19"/>
            <p:cNvSpPr>
              <a:spLocks noChangeShapeType="1"/>
            </p:cNvSpPr>
            <p:nvPr/>
          </p:nvSpPr>
          <p:spPr bwMode="auto">
            <a:xfrm>
              <a:off x="2926" y="2671"/>
              <a:ext cx="0" cy="158"/>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92212" name="Line 20"/>
            <p:cNvSpPr>
              <a:spLocks noChangeShapeType="1"/>
            </p:cNvSpPr>
            <p:nvPr/>
          </p:nvSpPr>
          <p:spPr bwMode="auto">
            <a:xfrm flipV="1">
              <a:off x="2926" y="3391"/>
              <a:ext cx="0" cy="149"/>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92213" name="Text Box 21"/>
            <p:cNvSpPr txBox="1">
              <a:spLocks noChangeArrowheads="1"/>
            </p:cNvSpPr>
            <p:nvPr/>
          </p:nvSpPr>
          <p:spPr bwMode="auto">
            <a:xfrm>
              <a:off x="2115" y="2799"/>
              <a:ext cx="281" cy="173"/>
            </a:xfrm>
            <a:prstGeom prst="rect">
              <a:avLst/>
            </a:prstGeom>
            <a:noFill/>
            <a:ln w="9525" algn="ctr">
              <a:noFill/>
              <a:miter lim="800000"/>
              <a:headEnd/>
              <a:tailEnd/>
            </a:ln>
            <a:effectLst/>
          </p:spPr>
          <p:txBody>
            <a:bodyPr wrap="none">
              <a:spAutoFit/>
            </a:bodyPr>
            <a:lstStyle/>
            <a:p>
              <a:r>
                <a:rPr lang="en-US" altLang="zh-CN" sz="1200">
                  <a:latin typeface="Times New Roman" pitchFamily="18" charset="0"/>
                </a:rPr>
                <a:t>IRQ</a:t>
              </a:r>
            </a:p>
          </p:txBody>
        </p:sp>
        <p:sp>
          <p:nvSpPr>
            <p:cNvPr id="392214" name="Text Box 22"/>
            <p:cNvSpPr txBox="1">
              <a:spLocks noChangeArrowheads="1"/>
            </p:cNvSpPr>
            <p:nvPr/>
          </p:nvSpPr>
          <p:spPr bwMode="auto">
            <a:xfrm>
              <a:off x="2120" y="3160"/>
              <a:ext cx="270" cy="173"/>
            </a:xfrm>
            <a:prstGeom prst="rect">
              <a:avLst/>
            </a:prstGeom>
            <a:noFill/>
            <a:ln w="9525" algn="ctr">
              <a:noFill/>
              <a:miter lim="800000"/>
              <a:headEnd/>
              <a:tailEnd/>
            </a:ln>
            <a:effectLst/>
          </p:spPr>
          <p:txBody>
            <a:bodyPr wrap="none">
              <a:spAutoFit/>
            </a:bodyPr>
            <a:lstStyle/>
            <a:p>
              <a:r>
                <a:rPr lang="en-US" altLang="zh-CN" sz="1200">
                  <a:latin typeface="Times New Roman" pitchFamily="18" charset="0"/>
                </a:rPr>
                <a:t>FIQ</a:t>
              </a:r>
            </a:p>
          </p:txBody>
        </p:sp>
        <p:sp>
          <p:nvSpPr>
            <p:cNvPr id="392215" name="Rectangle 23"/>
            <p:cNvSpPr>
              <a:spLocks noChangeArrowheads="1"/>
            </p:cNvSpPr>
            <p:nvPr/>
          </p:nvSpPr>
          <p:spPr bwMode="auto">
            <a:xfrm>
              <a:off x="2572" y="2490"/>
              <a:ext cx="712" cy="224"/>
            </a:xfrm>
            <a:prstGeom prst="rect">
              <a:avLst/>
            </a:prstGeom>
            <a:solidFill>
              <a:schemeClr val="bg1"/>
            </a:solidFill>
            <a:ln w="9525" algn="ctr">
              <a:solidFill>
                <a:schemeClr val="tx1"/>
              </a:solidFill>
              <a:miter lim="800000"/>
              <a:headEnd/>
              <a:tailEnd/>
            </a:ln>
            <a:effectLst/>
          </p:spPr>
          <p:txBody>
            <a:bodyPr wrap="none" anchor="ctr"/>
            <a:lstStyle/>
            <a:p>
              <a:r>
                <a:rPr lang="en-US" altLang="zh-CN" sz="1200">
                  <a:latin typeface="Times New Roman" pitchFamily="18" charset="0"/>
                </a:rPr>
                <a:t>CPSR[ 7 ]</a:t>
              </a:r>
              <a:r>
                <a:rPr lang="zh-CN" altLang="en-US" sz="1200">
                  <a:latin typeface="Times New Roman" pitchFamily="18" charset="0"/>
                </a:rPr>
                <a:t>（</a:t>
              </a:r>
              <a:r>
                <a:rPr lang="en-US" altLang="zh-CN" sz="1200">
                  <a:latin typeface="Times New Roman" pitchFamily="18" charset="0"/>
                </a:rPr>
                <a:t>I</a:t>
              </a:r>
              <a:r>
                <a:rPr lang="zh-CN" altLang="en-US" sz="1200">
                  <a:latin typeface="Times New Roman" pitchFamily="18" charset="0"/>
                </a:rPr>
                <a:t>）</a:t>
              </a:r>
            </a:p>
          </p:txBody>
        </p:sp>
        <p:sp>
          <p:nvSpPr>
            <p:cNvPr id="392216" name="Rectangle 24"/>
            <p:cNvSpPr>
              <a:spLocks noChangeArrowheads="1"/>
            </p:cNvSpPr>
            <p:nvPr/>
          </p:nvSpPr>
          <p:spPr bwMode="auto">
            <a:xfrm>
              <a:off x="2572" y="3517"/>
              <a:ext cx="707" cy="200"/>
            </a:xfrm>
            <a:prstGeom prst="rect">
              <a:avLst/>
            </a:prstGeom>
            <a:solidFill>
              <a:schemeClr val="bg1"/>
            </a:solidFill>
            <a:ln w="9525" algn="ctr">
              <a:solidFill>
                <a:schemeClr val="tx1"/>
              </a:solidFill>
              <a:miter lim="800000"/>
              <a:headEnd/>
              <a:tailEnd/>
            </a:ln>
            <a:effectLst/>
          </p:spPr>
          <p:txBody>
            <a:bodyPr wrap="none" anchor="ctr"/>
            <a:lstStyle/>
            <a:p>
              <a:r>
                <a:rPr lang="en-US" altLang="zh-CN" sz="1200">
                  <a:latin typeface="Times New Roman" pitchFamily="18" charset="0"/>
                </a:rPr>
                <a:t>CPSR[ 6 ]</a:t>
              </a:r>
              <a:r>
                <a:rPr lang="zh-CN" altLang="en-US" sz="1200">
                  <a:latin typeface="Times New Roman" pitchFamily="18" charset="0"/>
                </a:rPr>
                <a:t>（</a:t>
              </a:r>
              <a:r>
                <a:rPr lang="en-US" altLang="zh-CN" sz="1200">
                  <a:latin typeface="Times New Roman" pitchFamily="18" charset="0"/>
                </a:rPr>
                <a:t>F</a:t>
              </a:r>
              <a:r>
                <a:rPr lang="zh-CN" altLang="en-US" sz="1200">
                  <a:latin typeface="Times New Roman" pitchFamily="18" charset="0"/>
                </a:rPr>
                <a:t>）</a:t>
              </a:r>
            </a:p>
          </p:txBody>
        </p:sp>
      </p:grpSp>
      <p:sp>
        <p:nvSpPr>
          <p:cNvPr id="392217" name="Text Box 25"/>
          <p:cNvSpPr txBox="1">
            <a:spLocks noChangeArrowheads="1"/>
          </p:cNvSpPr>
          <p:nvPr/>
        </p:nvSpPr>
        <p:spPr bwMode="auto">
          <a:xfrm>
            <a:off x="2566988" y="2924175"/>
            <a:ext cx="4608512" cy="457200"/>
          </a:xfrm>
          <a:prstGeom prst="rect">
            <a:avLst/>
          </a:prstGeom>
          <a:noFill/>
          <a:ln w="9525" algn="ctr">
            <a:noFill/>
            <a:miter lim="800000"/>
            <a:headEnd/>
            <a:tailEnd/>
          </a:ln>
          <a:effectLst/>
        </p:spPr>
        <p:txBody>
          <a:bodyPr>
            <a:spAutoFit/>
          </a:bodyPr>
          <a:lstStyle/>
          <a:p>
            <a:pPr algn="l">
              <a:spcBef>
                <a:spcPct val="50000"/>
              </a:spcBef>
              <a:buFont typeface="Wingdings" pitchFamily="2" charset="2"/>
              <a:buChar char="Ø"/>
            </a:pPr>
            <a:r>
              <a:rPr lang="en-US" altLang="zh-CN" sz="2400">
                <a:latin typeface="华文新魏" pitchFamily="2" charset="-122"/>
                <a:ea typeface="华文新魏" pitchFamily="2" charset="-122"/>
              </a:rPr>
              <a:t> </a:t>
            </a:r>
            <a:r>
              <a:rPr lang="zh-CN" altLang="en-US" sz="2400">
                <a:latin typeface="华文新魏" pitchFamily="2" charset="-122"/>
                <a:ea typeface="华文新魏" pitchFamily="2" charset="-122"/>
              </a:rPr>
              <a:t>当</a:t>
            </a:r>
            <a:r>
              <a:rPr lang="en-US" altLang="zh-CN" sz="2400">
                <a:latin typeface="华文新魏" pitchFamily="2" charset="-122"/>
                <a:ea typeface="华文新魏" pitchFamily="2" charset="-122"/>
              </a:rPr>
              <a:t>I = 0</a:t>
            </a:r>
            <a:r>
              <a:rPr lang="zh-CN" altLang="en-US" sz="2400">
                <a:latin typeface="华文新魏" pitchFamily="2" charset="-122"/>
                <a:ea typeface="华文新魏" pitchFamily="2" charset="-122"/>
              </a:rPr>
              <a:t>时，使能</a:t>
            </a:r>
            <a:r>
              <a:rPr lang="en-US" altLang="zh-CN" sz="2400">
                <a:latin typeface="华文新魏" pitchFamily="2" charset="-122"/>
                <a:ea typeface="华文新魏" pitchFamily="2" charset="-122"/>
              </a:rPr>
              <a:t>IRQ</a:t>
            </a:r>
            <a:r>
              <a:rPr lang="zh-CN" altLang="en-US" sz="2400">
                <a:latin typeface="华文新魏" pitchFamily="2" charset="-122"/>
                <a:ea typeface="华文新魏" pitchFamily="2" charset="-122"/>
              </a:rPr>
              <a:t>中断</a:t>
            </a:r>
          </a:p>
        </p:txBody>
      </p:sp>
      <p:grpSp>
        <p:nvGrpSpPr>
          <p:cNvPr id="392241" name="Group 49"/>
          <p:cNvGrpSpPr>
            <a:grpSpLocks/>
          </p:cNvGrpSpPr>
          <p:nvPr/>
        </p:nvGrpSpPr>
        <p:grpSpPr bwMode="auto">
          <a:xfrm>
            <a:off x="4178301" y="3576639"/>
            <a:ext cx="3440113" cy="2446337"/>
            <a:chOff x="3424" y="1389"/>
            <a:chExt cx="2167" cy="1541"/>
          </a:xfrm>
        </p:grpSpPr>
        <p:sp>
          <p:nvSpPr>
            <p:cNvPr id="392220" name="Rectangle 28"/>
            <p:cNvSpPr>
              <a:spLocks noChangeArrowheads="1"/>
            </p:cNvSpPr>
            <p:nvPr/>
          </p:nvSpPr>
          <p:spPr bwMode="auto">
            <a:xfrm>
              <a:off x="4245" y="1555"/>
              <a:ext cx="1346" cy="1375"/>
            </a:xfrm>
            <a:prstGeom prst="rect">
              <a:avLst/>
            </a:prstGeom>
            <a:solidFill>
              <a:srgbClr val="FFCC99"/>
            </a:solidFill>
            <a:ln w="9525" algn="ctr">
              <a:solidFill>
                <a:schemeClr val="tx1"/>
              </a:solidFill>
              <a:miter lim="800000"/>
              <a:headEnd/>
              <a:tailEnd/>
            </a:ln>
            <a:effectLst/>
          </p:spPr>
          <p:txBody>
            <a:bodyPr wrap="none" anchor="ctr"/>
            <a:lstStyle/>
            <a:p>
              <a:endParaRPr lang="zh-CN" altLang="zh-CN" sz="1200">
                <a:latin typeface="Arial" charset="0"/>
              </a:endParaRPr>
            </a:p>
          </p:txBody>
        </p:sp>
        <p:sp>
          <p:nvSpPr>
            <p:cNvPr id="392221" name="Rectangle 29"/>
            <p:cNvSpPr>
              <a:spLocks noChangeArrowheads="1"/>
            </p:cNvSpPr>
            <p:nvPr/>
          </p:nvSpPr>
          <p:spPr bwMode="auto">
            <a:xfrm>
              <a:off x="4453" y="1968"/>
              <a:ext cx="488" cy="216"/>
            </a:xfrm>
            <a:prstGeom prst="rect">
              <a:avLst/>
            </a:prstGeom>
            <a:noFill/>
            <a:ln w="9525" algn="ctr">
              <a:solidFill>
                <a:schemeClr val="tx1"/>
              </a:solidFill>
              <a:prstDash val="dash"/>
              <a:miter lim="800000"/>
              <a:headEnd/>
              <a:tailEnd/>
            </a:ln>
            <a:effectLst/>
          </p:spPr>
          <p:txBody>
            <a:bodyPr wrap="none" anchor="ctr"/>
            <a:lstStyle/>
            <a:p>
              <a:endParaRPr lang="zh-CN" altLang="en-US"/>
            </a:p>
          </p:txBody>
        </p:sp>
        <p:sp>
          <p:nvSpPr>
            <p:cNvPr id="392222" name="Line 30"/>
            <p:cNvSpPr>
              <a:spLocks noChangeShapeType="1"/>
            </p:cNvSpPr>
            <p:nvPr/>
          </p:nvSpPr>
          <p:spPr bwMode="auto">
            <a:xfrm>
              <a:off x="3651" y="2098"/>
              <a:ext cx="603"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92223" name="Rectangle 31"/>
            <p:cNvSpPr>
              <a:spLocks noChangeArrowheads="1"/>
            </p:cNvSpPr>
            <p:nvPr/>
          </p:nvSpPr>
          <p:spPr bwMode="auto">
            <a:xfrm>
              <a:off x="5174" y="1979"/>
              <a:ext cx="324" cy="672"/>
            </a:xfrm>
            <a:prstGeom prst="rect">
              <a:avLst/>
            </a:prstGeom>
            <a:solidFill>
              <a:schemeClr val="bg1"/>
            </a:solidFill>
            <a:ln w="9525" algn="ctr">
              <a:solidFill>
                <a:schemeClr val="tx1"/>
              </a:solidFill>
              <a:miter lim="800000"/>
              <a:headEnd/>
              <a:tailEnd/>
            </a:ln>
            <a:effectLst/>
          </p:spPr>
          <p:txBody>
            <a:bodyPr wrap="none" anchor="ctr"/>
            <a:lstStyle/>
            <a:p>
              <a:r>
                <a:rPr lang="en-US" altLang="zh-CN" sz="1200">
                  <a:latin typeface="Times New Roman" pitchFamily="18" charset="0"/>
                </a:rPr>
                <a:t>CPU</a:t>
              </a:r>
            </a:p>
          </p:txBody>
        </p:sp>
        <p:sp>
          <p:nvSpPr>
            <p:cNvPr id="392224" name="Line 32"/>
            <p:cNvSpPr>
              <a:spLocks noChangeShapeType="1"/>
            </p:cNvSpPr>
            <p:nvPr/>
          </p:nvSpPr>
          <p:spPr bwMode="auto">
            <a:xfrm>
              <a:off x="4249" y="2098"/>
              <a:ext cx="316"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392225" name="Line 33"/>
            <p:cNvSpPr>
              <a:spLocks noChangeShapeType="1"/>
            </p:cNvSpPr>
            <p:nvPr/>
          </p:nvSpPr>
          <p:spPr bwMode="auto">
            <a:xfrm>
              <a:off x="4841" y="2106"/>
              <a:ext cx="341"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392227" name="Line 35"/>
            <p:cNvSpPr>
              <a:spLocks noChangeShapeType="1"/>
            </p:cNvSpPr>
            <p:nvPr/>
          </p:nvSpPr>
          <p:spPr bwMode="auto">
            <a:xfrm>
              <a:off x="3655" y="2448"/>
              <a:ext cx="60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92228" name="Line 36"/>
            <p:cNvSpPr>
              <a:spLocks noChangeShapeType="1"/>
            </p:cNvSpPr>
            <p:nvPr/>
          </p:nvSpPr>
          <p:spPr bwMode="auto">
            <a:xfrm>
              <a:off x="4252" y="2448"/>
              <a:ext cx="317"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392229" name="Line 37"/>
            <p:cNvSpPr>
              <a:spLocks noChangeShapeType="1"/>
            </p:cNvSpPr>
            <p:nvPr/>
          </p:nvSpPr>
          <p:spPr bwMode="auto">
            <a:xfrm>
              <a:off x="4845" y="2456"/>
              <a:ext cx="337"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392230" name="Line 38"/>
            <p:cNvSpPr>
              <a:spLocks noChangeShapeType="1"/>
            </p:cNvSpPr>
            <p:nvPr/>
          </p:nvSpPr>
          <p:spPr bwMode="auto">
            <a:xfrm flipV="1">
              <a:off x="4579" y="2356"/>
              <a:ext cx="276" cy="88"/>
            </a:xfrm>
            <a:prstGeom prst="line">
              <a:avLst/>
            </a:prstGeom>
            <a:noFill/>
            <a:ln w="9525">
              <a:solidFill>
                <a:schemeClr val="tx1"/>
              </a:solidFill>
              <a:round/>
              <a:headEnd/>
              <a:tailEnd/>
            </a:ln>
            <a:effectLst/>
          </p:spPr>
          <p:txBody>
            <a:bodyPr wrap="none" anchor="ctr"/>
            <a:lstStyle/>
            <a:p>
              <a:endParaRPr lang="zh-CN" altLang="en-US"/>
            </a:p>
          </p:txBody>
        </p:sp>
        <p:sp>
          <p:nvSpPr>
            <p:cNvPr id="392231" name="Rectangle 39"/>
            <p:cNvSpPr>
              <a:spLocks noChangeArrowheads="1"/>
            </p:cNvSpPr>
            <p:nvPr/>
          </p:nvSpPr>
          <p:spPr bwMode="auto">
            <a:xfrm>
              <a:off x="4453" y="2308"/>
              <a:ext cx="488" cy="216"/>
            </a:xfrm>
            <a:prstGeom prst="rect">
              <a:avLst/>
            </a:prstGeom>
            <a:noFill/>
            <a:ln w="9525" algn="ctr">
              <a:solidFill>
                <a:schemeClr val="tx1"/>
              </a:solidFill>
              <a:prstDash val="dash"/>
              <a:miter lim="800000"/>
              <a:headEnd/>
              <a:tailEnd/>
            </a:ln>
            <a:effectLst/>
          </p:spPr>
          <p:txBody>
            <a:bodyPr wrap="none" anchor="ctr"/>
            <a:lstStyle/>
            <a:p>
              <a:endParaRPr lang="zh-CN" altLang="en-US"/>
            </a:p>
          </p:txBody>
        </p:sp>
        <p:sp>
          <p:nvSpPr>
            <p:cNvPr id="392232" name="Text Box 40"/>
            <p:cNvSpPr txBox="1">
              <a:spLocks noChangeArrowheads="1"/>
            </p:cNvSpPr>
            <p:nvPr/>
          </p:nvSpPr>
          <p:spPr bwMode="auto">
            <a:xfrm>
              <a:off x="4461" y="1389"/>
              <a:ext cx="713" cy="173"/>
            </a:xfrm>
            <a:prstGeom prst="rect">
              <a:avLst/>
            </a:prstGeom>
            <a:noFill/>
            <a:ln w="9525" algn="ctr">
              <a:noFill/>
              <a:miter lim="800000"/>
              <a:headEnd/>
              <a:tailEnd/>
            </a:ln>
            <a:effectLst/>
          </p:spPr>
          <p:txBody>
            <a:bodyPr wrap="none">
              <a:spAutoFit/>
            </a:bodyPr>
            <a:lstStyle/>
            <a:p>
              <a:r>
                <a:rPr lang="en-US" altLang="zh-CN" sz="1200">
                  <a:latin typeface="Arial" charset="0"/>
                </a:rPr>
                <a:t>ARM7TDMI-S</a:t>
              </a:r>
            </a:p>
          </p:txBody>
        </p:sp>
        <p:sp>
          <p:nvSpPr>
            <p:cNvPr id="392233" name="Rectangle 41"/>
            <p:cNvSpPr>
              <a:spLocks noChangeArrowheads="1"/>
            </p:cNvSpPr>
            <p:nvPr/>
          </p:nvSpPr>
          <p:spPr bwMode="auto">
            <a:xfrm>
              <a:off x="3424" y="1520"/>
              <a:ext cx="413" cy="1404"/>
            </a:xfrm>
            <a:prstGeom prst="rect">
              <a:avLst/>
            </a:prstGeom>
            <a:solidFill>
              <a:srgbClr val="FFFF99"/>
            </a:solidFill>
            <a:ln w="9525" algn="ctr">
              <a:solidFill>
                <a:schemeClr val="tx1"/>
              </a:solidFill>
              <a:miter lim="800000"/>
              <a:headEnd/>
              <a:tailEnd/>
            </a:ln>
            <a:effectLst/>
          </p:spPr>
          <p:txBody>
            <a:bodyPr wrap="none" anchor="ctr"/>
            <a:lstStyle/>
            <a:p>
              <a:r>
                <a:rPr lang="en-US" altLang="zh-CN" sz="1400">
                  <a:latin typeface="Times New Roman" pitchFamily="18" charset="0"/>
                </a:rPr>
                <a:t>VIC</a:t>
              </a:r>
            </a:p>
          </p:txBody>
        </p:sp>
        <p:sp>
          <p:nvSpPr>
            <p:cNvPr id="392234" name="Line 42"/>
            <p:cNvSpPr>
              <a:spLocks noChangeShapeType="1"/>
            </p:cNvSpPr>
            <p:nvPr/>
          </p:nvSpPr>
          <p:spPr bwMode="auto">
            <a:xfrm>
              <a:off x="4684" y="1809"/>
              <a:ext cx="0" cy="158"/>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92235" name="Line 43"/>
            <p:cNvSpPr>
              <a:spLocks noChangeShapeType="1"/>
            </p:cNvSpPr>
            <p:nvPr/>
          </p:nvSpPr>
          <p:spPr bwMode="auto">
            <a:xfrm flipV="1">
              <a:off x="4684" y="2529"/>
              <a:ext cx="0" cy="149"/>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92236" name="Text Box 44"/>
            <p:cNvSpPr txBox="1">
              <a:spLocks noChangeArrowheads="1"/>
            </p:cNvSpPr>
            <p:nvPr/>
          </p:nvSpPr>
          <p:spPr bwMode="auto">
            <a:xfrm>
              <a:off x="3873" y="1937"/>
              <a:ext cx="281" cy="173"/>
            </a:xfrm>
            <a:prstGeom prst="rect">
              <a:avLst/>
            </a:prstGeom>
            <a:noFill/>
            <a:ln w="9525" algn="ctr">
              <a:noFill/>
              <a:miter lim="800000"/>
              <a:headEnd/>
              <a:tailEnd/>
            </a:ln>
            <a:effectLst/>
          </p:spPr>
          <p:txBody>
            <a:bodyPr wrap="none">
              <a:spAutoFit/>
            </a:bodyPr>
            <a:lstStyle/>
            <a:p>
              <a:r>
                <a:rPr lang="en-US" altLang="zh-CN" sz="1200">
                  <a:latin typeface="Times New Roman" pitchFamily="18" charset="0"/>
                </a:rPr>
                <a:t>IRQ</a:t>
              </a:r>
            </a:p>
          </p:txBody>
        </p:sp>
        <p:sp>
          <p:nvSpPr>
            <p:cNvPr id="392237" name="Text Box 45"/>
            <p:cNvSpPr txBox="1">
              <a:spLocks noChangeArrowheads="1"/>
            </p:cNvSpPr>
            <p:nvPr/>
          </p:nvSpPr>
          <p:spPr bwMode="auto">
            <a:xfrm>
              <a:off x="3878" y="2298"/>
              <a:ext cx="270" cy="173"/>
            </a:xfrm>
            <a:prstGeom prst="rect">
              <a:avLst/>
            </a:prstGeom>
            <a:noFill/>
            <a:ln w="9525" algn="ctr">
              <a:noFill/>
              <a:miter lim="800000"/>
              <a:headEnd/>
              <a:tailEnd/>
            </a:ln>
            <a:effectLst/>
          </p:spPr>
          <p:txBody>
            <a:bodyPr wrap="none">
              <a:spAutoFit/>
            </a:bodyPr>
            <a:lstStyle/>
            <a:p>
              <a:r>
                <a:rPr lang="en-US" altLang="zh-CN" sz="1200">
                  <a:latin typeface="Times New Roman" pitchFamily="18" charset="0"/>
                </a:rPr>
                <a:t>FIQ</a:t>
              </a:r>
            </a:p>
          </p:txBody>
        </p:sp>
        <p:sp>
          <p:nvSpPr>
            <p:cNvPr id="392238" name="Rectangle 46"/>
            <p:cNvSpPr>
              <a:spLocks noChangeArrowheads="1"/>
            </p:cNvSpPr>
            <p:nvPr/>
          </p:nvSpPr>
          <p:spPr bwMode="auto">
            <a:xfrm>
              <a:off x="4330" y="1628"/>
              <a:ext cx="712" cy="224"/>
            </a:xfrm>
            <a:prstGeom prst="rect">
              <a:avLst/>
            </a:prstGeom>
            <a:solidFill>
              <a:schemeClr val="bg1"/>
            </a:solidFill>
            <a:ln w="9525" algn="ctr">
              <a:solidFill>
                <a:schemeClr val="tx1"/>
              </a:solidFill>
              <a:miter lim="800000"/>
              <a:headEnd/>
              <a:tailEnd/>
            </a:ln>
            <a:effectLst/>
          </p:spPr>
          <p:txBody>
            <a:bodyPr wrap="none" anchor="ctr"/>
            <a:lstStyle/>
            <a:p>
              <a:r>
                <a:rPr lang="en-US" altLang="zh-CN" sz="1200">
                  <a:latin typeface="Times New Roman" pitchFamily="18" charset="0"/>
                </a:rPr>
                <a:t>CPSR[ 7 ]</a:t>
              </a:r>
              <a:r>
                <a:rPr lang="zh-CN" altLang="en-US" sz="1200">
                  <a:latin typeface="Times New Roman" pitchFamily="18" charset="0"/>
                </a:rPr>
                <a:t>（</a:t>
              </a:r>
              <a:r>
                <a:rPr lang="en-US" altLang="zh-CN" sz="1200">
                  <a:latin typeface="Times New Roman" pitchFamily="18" charset="0"/>
                </a:rPr>
                <a:t>I</a:t>
              </a:r>
              <a:r>
                <a:rPr lang="zh-CN" altLang="en-US" sz="1200">
                  <a:latin typeface="Times New Roman" pitchFamily="18" charset="0"/>
                </a:rPr>
                <a:t>）</a:t>
              </a:r>
            </a:p>
          </p:txBody>
        </p:sp>
        <p:sp>
          <p:nvSpPr>
            <p:cNvPr id="392239" name="Rectangle 47"/>
            <p:cNvSpPr>
              <a:spLocks noChangeArrowheads="1"/>
            </p:cNvSpPr>
            <p:nvPr/>
          </p:nvSpPr>
          <p:spPr bwMode="auto">
            <a:xfrm>
              <a:off x="4330" y="2655"/>
              <a:ext cx="707" cy="200"/>
            </a:xfrm>
            <a:prstGeom prst="rect">
              <a:avLst/>
            </a:prstGeom>
            <a:solidFill>
              <a:schemeClr val="bg1"/>
            </a:solidFill>
            <a:ln w="9525" algn="ctr">
              <a:solidFill>
                <a:schemeClr val="tx1"/>
              </a:solidFill>
              <a:miter lim="800000"/>
              <a:headEnd/>
              <a:tailEnd/>
            </a:ln>
            <a:effectLst/>
          </p:spPr>
          <p:txBody>
            <a:bodyPr wrap="none" anchor="ctr"/>
            <a:lstStyle/>
            <a:p>
              <a:r>
                <a:rPr lang="en-US" altLang="zh-CN" sz="1200">
                  <a:latin typeface="Times New Roman" pitchFamily="18" charset="0"/>
                </a:rPr>
                <a:t>CPSR[ 6 ]</a:t>
              </a:r>
              <a:r>
                <a:rPr lang="zh-CN" altLang="en-US" sz="1200">
                  <a:latin typeface="Times New Roman" pitchFamily="18" charset="0"/>
                </a:rPr>
                <a:t>（</a:t>
              </a:r>
              <a:r>
                <a:rPr lang="en-US" altLang="zh-CN" sz="1200">
                  <a:latin typeface="Times New Roman" pitchFamily="18" charset="0"/>
                </a:rPr>
                <a:t>F</a:t>
              </a:r>
              <a:r>
                <a:rPr lang="zh-CN" altLang="en-US" sz="1200">
                  <a:latin typeface="Times New Roman" pitchFamily="18" charset="0"/>
                </a:rPr>
                <a:t>）</a:t>
              </a:r>
            </a:p>
          </p:txBody>
        </p:sp>
        <p:sp>
          <p:nvSpPr>
            <p:cNvPr id="392240" name="Line 48"/>
            <p:cNvSpPr>
              <a:spLocks noChangeShapeType="1"/>
            </p:cNvSpPr>
            <p:nvPr/>
          </p:nvSpPr>
          <p:spPr bwMode="auto">
            <a:xfrm>
              <a:off x="4572" y="2100"/>
              <a:ext cx="264" cy="0"/>
            </a:xfrm>
            <a:prstGeom prst="line">
              <a:avLst/>
            </a:prstGeom>
            <a:noFill/>
            <a:ln w="9525">
              <a:solidFill>
                <a:schemeClr val="tx1"/>
              </a:solidFill>
              <a:round/>
              <a:headEnd/>
              <a:tailEnd/>
            </a:ln>
            <a:effectLst/>
          </p:spPr>
          <p:txBody>
            <a:bodyPr>
              <a:spAutoFit/>
            </a:bodyPr>
            <a:lstStyle/>
            <a:p>
              <a:endParaRPr lang="zh-CN" altLang="en-US"/>
            </a:p>
          </p:txBody>
        </p:sp>
      </p:grpSp>
      <p:sp>
        <p:nvSpPr>
          <p:cNvPr id="392242" name="Oval 50"/>
          <p:cNvSpPr>
            <a:spLocks noChangeArrowheads="1"/>
          </p:cNvSpPr>
          <p:nvPr/>
        </p:nvSpPr>
        <p:spPr bwMode="auto">
          <a:xfrm>
            <a:off x="5561013" y="4378207"/>
            <a:ext cx="259766" cy="519351"/>
          </a:xfrm>
          <a:prstGeom prst="ellipse">
            <a:avLst/>
          </a:prstGeom>
          <a:noFill/>
          <a:ln w="19050" algn="ctr">
            <a:solidFill>
              <a:srgbClr val="FF0000"/>
            </a:solidFill>
            <a:round/>
            <a:headEnd/>
            <a:tailEnd/>
          </a:ln>
          <a:effectLst/>
        </p:spPr>
        <p:txBody>
          <a:bodyPr wrap="none"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92195">
                                            <p:txEl>
                                              <p:pRg st="0" end="0"/>
                                            </p:txEl>
                                          </p:spTgt>
                                        </p:tgtEl>
                                        <p:attrNameLst>
                                          <p:attrName>style.visibility</p:attrName>
                                        </p:attrNameLst>
                                      </p:cBhvr>
                                      <p:to>
                                        <p:strVal val="visible"/>
                                      </p:to>
                                    </p:set>
                                    <p:anim calcmode="lin" valueType="num">
                                      <p:cBhvr additive="base">
                                        <p:cTn id="7" dur="500" fill="hold"/>
                                        <p:tgtEl>
                                          <p:spTgt spid="39219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92195">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392196"/>
                                        </p:tgtEl>
                                        <p:attrNameLst>
                                          <p:attrName>style.visibility</p:attrName>
                                        </p:attrNameLst>
                                      </p:cBhvr>
                                      <p:to>
                                        <p:strVal val="visible"/>
                                      </p:to>
                                    </p:set>
                                    <p:animEffect transition="in" filter="box(in)">
                                      <p:cBhvr>
                                        <p:cTn id="12" dur="500"/>
                                        <p:tgtEl>
                                          <p:spTgt spid="392196"/>
                                        </p:tgtEl>
                                      </p:cBhvr>
                                    </p:animEffect>
                                  </p:childTnLst>
                                </p:cTn>
                              </p:par>
                            </p:childTnLst>
                          </p:cTn>
                        </p:par>
                        <p:par>
                          <p:cTn id="13" fill="hold">
                            <p:stCondLst>
                              <p:cond delay="1000"/>
                            </p:stCondLst>
                            <p:childTnLst>
                              <p:par>
                                <p:cTn id="14" presetID="3" presetClass="entr" presetSubtype="10" fill="hold" nodeType="afterEffect">
                                  <p:stCondLst>
                                    <p:cond delay="0"/>
                                  </p:stCondLst>
                                  <p:childTnLst>
                                    <p:set>
                                      <p:cBhvr>
                                        <p:cTn id="15" dur="1" fill="hold">
                                          <p:stCondLst>
                                            <p:cond delay="0"/>
                                          </p:stCondLst>
                                        </p:cTn>
                                        <p:tgtEl>
                                          <p:spTgt spid="392218"/>
                                        </p:tgtEl>
                                        <p:attrNameLst>
                                          <p:attrName>style.visibility</p:attrName>
                                        </p:attrNameLst>
                                      </p:cBhvr>
                                      <p:to>
                                        <p:strVal val="visible"/>
                                      </p:to>
                                    </p:set>
                                    <p:animEffect transition="in" filter="blinds(horizontal)">
                                      <p:cBhvr>
                                        <p:cTn id="16" dur="500"/>
                                        <p:tgtEl>
                                          <p:spTgt spid="392218"/>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392217"/>
                                        </p:tgtEl>
                                        <p:attrNameLst>
                                          <p:attrName>style.visibility</p:attrName>
                                        </p:attrNameLst>
                                      </p:cBhvr>
                                      <p:to>
                                        <p:strVal val="visible"/>
                                      </p:to>
                                    </p:set>
                                    <p:animEffect transition="in" filter="box(in)">
                                      <p:cBhvr>
                                        <p:cTn id="21" dur="500"/>
                                        <p:tgtEl>
                                          <p:spTgt spid="392217"/>
                                        </p:tgtEl>
                                      </p:cBhvr>
                                    </p:animEffect>
                                  </p:childTnLst>
                                </p:cTn>
                              </p:par>
                            </p:childTnLst>
                          </p:cTn>
                        </p:par>
                        <p:par>
                          <p:cTn id="22" fill="hold">
                            <p:stCondLst>
                              <p:cond delay="500"/>
                            </p:stCondLst>
                            <p:childTnLst>
                              <p:par>
                                <p:cTn id="23" presetID="1" presetClass="exit" presetSubtype="0" fill="hold" nodeType="afterEffect">
                                  <p:stCondLst>
                                    <p:cond delay="0"/>
                                  </p:stCondLst>
                                  <p:childTnLst>
                                    <p:set>
                                      <p:cBhvr>
                                        <p:cTn id="24" dur="1" fill="hold">
                                          <p:stCondLst>
                                            <p:cond delay="0"/>
                                          </p:stCondLst>
                                        </p:cTn>
                                        <p:tgtEl>
                                          <p:spTgt spid="392218"/>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392241"/>
                                        </p:tgtEl>
                                        <p:attrNameLst>
                                          <p:attrName>style.visibility</p:attrName>
                                        </p:attrNameLst>
                                      </p:cBhvr>
                                      <p:to>
                                        <p:strVal val="visible"/>
                                      </p:to>
                                    </p:set>
                                  </p:childTnLst>
                                </p:cTn>
                              </p:par>
                            </p:childTnLst>
                          </p:cTn>
                        </p:par>
                        <p:par>
                          <p:cTn id="27" fill="hold">
                            <p:stCondLst>
                              <p:cond delay="500"/>
                            </p:stCondLst>
                            <p:childTnLst>
                              <p:par>
                                <p:cTn id="28" presetID="22" presetClass="entr" presetSubtype="4" fill="hold" grpId="0" nodeType="afterEffect">
                                  <p:stCondLst>
                                    <p:cond delay="0"/>
                                  </p:stCondLst>
                                  <p:childTnLst>
                                    <p:set>
                                      <p:cBhvr>
                                        <p:cTn id="29" dur="1" fill="hold">
                                          <p:stCondLst>
                                            <p:cond delay="0"/>
                                          </p:stCondLst>
                                        </p:cTn>
                                        <p:tgtEl>
                                          <p:spTgt spid="392242"/>
                                        </p:tgtEl>
                                        <p:attrNameLst>
                                          <p:attrName>style.visibility</p:attrName>
                                        </p:attrNameLst>
                                      </p:cBhvr>
                                      <p:to>
                                        <p:strVal val="visible"/>
                                      </p:to>
                                    </p:set>
                                    <p:animEffect transition="in" filter="wipe(down)">
                                      <p:cBhvr>
                                        <p:cTn id="30" dur="500"/>
                                        <p:tgtEl>
                                          <p:spTgt spid="392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5" grpId="0" build="p"/>
      <p:bldP spid="392196" grpId="0" autoUpdateAnimBg="0"/>
      <p:bldP spid="392217" grpId="0" autoUpdateAnimBg="0"/>
      <p:bldP spid="39224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zh-CN" dirty="0">
                <a:solidFill>
                  <a:schemeClr val="tx1"/>
                </a:solidFill>
              </a:rPr>
              <a:t>5.3.1  </a:t>
            </a:r>
            <a:r>
              <a:rPr lang="zh-CN" altLang="en-US" dirty="0">
                <a:solidFill>
                  <a:schemeClr val="tx1"/>
                </a:solidFill>
              </a:rPr>
              <a:t>向量中断控制器</a:t>
            </a:r>
          </a:p>
        </p:txBody>
      </p:sp>
      <p:sp>
        <p:nvSpPr>
          <p:cNvPr id="395267" name="Rectangle 3"/>
          <p:cNvSpPr>
            <a:spLocks noChangeArrowheads="1"/>
          </p:cNvSpPr>
          <p:nvPr/>
        </p:nvSpPr>
        <p:spPr bwMode="auto">
          <a:xfrm>
            <a:off x="2209800" y="17002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程序状态寄存器</a:t>
            </a:r>
            <a:r>
              <a:rPr lang="en-US" altLang="zh-CN" sz="3200">
                <a:latin typeface="Times New Roman" pitchFamily="18" charset="0"/>
              </a:rPr>
              <a:t>CPSR</a:t>
            </a:r>
            <a:r>
              <a:rPr lang="zh-CN" altLang="en-US" sz="3200">
                <a:latin typeface="Times New Roman" pitchFamily="18" charset="0"/>
              </a:rPr>
              <a:t>与</a:t>
            </a:r>
            <a:r>
              <a:rPr lang="en-US" altLang="zh-CN" sz="3200">
                <a:latin typeface="Times New Roman" pitchFamily="18" charset="0"/>
              </a:rPr>
              <a:t>VIC</a:t>
            </a:r>
            <a:r>
              <a:rPr lang="zh-CN" altLang="en-US" sz="3200">
                <a:latin typeface="Times New Roman" pitchFamily="18" charset="0"/>
              </a:rPr>
              <a:t>的关系</a:t>
            </a:r>
          </a:p>
        </p:txBody>
      </p:sp>
      <p:sp>
        <p:nvSpPr>
          <p:cNvPr id="395268" name="Text Box 4"/>
          <p:cNvSpPr txBox="1">
            <a:spLocks noChangeArrowheads="1"/>
          </p:cNvSpPr>
          <p:nvPr/>
        </p:nvSpPr>
        <p:spPr bwMode="auto">
          <a:xfrm>
            <a:off x="2525713" y="2349500"/>
            <a:ext cx="4176712" cy="457200"/>
          </a:xfrm>
          <a:prstGeom prst="rect">
            <a:avLst/>
          </a:prstGeom>
          <a:noFill/>
          <a:ln w="9525">
            <a:noFill/>
            <a:miter lim="800000"/>
            <a:headEnd/>
            <a:tailEnd/>
          </a:ln>
          <a:effectLst/>
        </p:spPr>
        <p:txBody>
          <a:bodyPr>
            <a:spAutoFit/>
          </a:bodyPr>
          <a:lstStyle/>
          <a:p>
            <a:pPr algn="l">
              <a:spcBef>
                <a:spcPct val="50000"/>
              </a:spcBef>
              <a:buFont typeface="Wingdings" pitchFamily="2" charset="2"/>
              <a:buChar char="Ø"/>
            </a:pPr>
            <a:r>
              <a:rPr lang="en-US" altLang="zh-CN" sz="2400">
                <a:latin typeface="华文新魏" pitchFamily="2" charset="-122"/>
                <a:ea typeface="华文新魏" pitchFamily="2" charset="-122"/>
              </a:rPr>
              <a:t> </a:t>
            </a:r>
            <a:r>
              <a:rPr lang="zh-CN" altLang="en-US" sz="2400">
                <a:latin typeface="华文新魏" pitchFamily="2" charset="-122"/>
                <a:ea typeface="华文新魏" pitchFamily="2" charset="-122"/>
              </a:rPr>
              <a:t>当</a:t>
            </a:r>
            <a:r>
              <a:rPr lang="en-US" altLang="zh-CN" sz="2400">
                <a:latin typeface="华文新魏" pitchFamily="2" charset="-122"/>
                <a:ea typeface="华文新魏" pitchFamily="2" charset="-122"/>
              </a:rPr>
              <a:t>F = 1</a:t>
            </a:r>
            <a:r>
              <a:rPr lang="zh-CN" altLang="en-US" sz="2400">
                <a:latin typeface="华文新魏" pitchFamily="2" charset="-122"/>
                <a:ea typeface="华文新魏" pitchFamily="2" charset="-122"/>
              </a:rPr>
              <a:t>时，禁止</a:t>
            </a:r>
            <a:r>
              <a:rPr lang="en-US" altLang="zh-CN" sz="2400">
                <a:latin typeface="华文新魏" pitchFamily="2" charset="-122"/>
                <a:ea typeface="华文新魏" pitchFamily="2" charset="-122"/>
              </a:rPr>
              <a:t>FIQ</a:t>
            </a:r>
            <a:r>
              <a:rPr lang="zh-CN" altLang="en-US" sz="2400">
                <a:latin typeface="华文新魏" pitchFamily="2" charset="-122"/>
                <a:ea typeface="华文新魏" pitchFamily="2" charset="-122"/>
              </a:rPr>
              <a:t>中断</a:t>
            </a:r>
          </a:p>
        </p:txBody>
      </p:sp>
      <p:grpSp>
        <p:nvGrpSpPr>
          <p:cNvPr id="395269" name="Group 5"/>
          <p:cNvGrpSpPr>
            <a:grpSpLocks/>
          </p:cNvGrpSpPr>
          <p:nvPr/>
        </p:nvGrpSpPr>
        <p:grpSpPr bwMode="auto">
          <a:xfrm>
            <a:off x="4168776" y="3573464"/>
            <a:ext cx="3440113" cy="2446337"/>
            <a:chOff x="1666" y="2251"/>
            <a:chExt cx="2167" cy="1541"/>
          </a:xfrm>
        </p:grpSpPr>
        <p:sp>
          <p:nvSpPr>
            <p:cNvPr id="395270" name="Rectangle 6"/>
            <p:cNvSpPr>
              <a:spLocks noChangeArrowheads="1"/>
            </p:cNvSpPr>
            <p:nvPr/>
          </p:nvSpPr>
          <p:spPr bwMode="auto">
            <a:xfrm>
              <a:off x="2487" y="2417"/>
              <a:ext cx="1346" cy="1375"/>
            </a:xfrm>
            <a:prstGeom prst="rect">
              <a:avLst/>
            </a:prstGeom>
            <a:solidFill>
              <a:srgbClr val="FFCC99"/>
            </a:solidFill>
            <a:ln w="9525" algn="ctr">
              <a:solidFill>
                <a:schemeClr val="tx1"/>
              </a:solidFill>
              <a:miter lim="800000"/>
              <a:headEnd/>
              <a:tailEnd/>
            </a:ln>
            <a:effectLst/>
          </p:spPr>
          <p:txBody>
            <a:bodyPr wrap="none" anchor="ctr"/>
            <a:lstStyle/>
            <a:p>
              <a:endParaRPr lang="zh-CN" altLang="zh-CN" sz="1200">
                <a:latin typeface="Arial" charset="0"/>
              </a:endParaRPr>
            </a:p>
          </p:txBody>
        </p:sp>
        <p:sp>
          <p:nvSpPr>
            <p:cNvPr id="395271" name="Rectangle 7"/>
            <p:cNvSpPr>
              <a:spLocks noChangeArrowheads="1"/>
            </p:cNvSpPr>
            <p:nvPr/>
          </p:nvSpPr>
          <p:spPr bwMode="auto">
            <a:xfrm>
              <a:off x="2695" y="2830"/>
              <a:ext cx="488" cy="216"/>
            </a:xfrm>
            <a:prstGeom prst="rect">
              <a:avLst/>
            </a:prstGeom>
            <a:noFill/>
            <a:ln w="9525" algn="ctr">
              <a:solidFill>
                <a:schemeClr val="tx1"/>
              </a:solidFill>
              <a:prstDash val="dash"/>
              <a:miter lim="800000"/>
              <a:headEnd/>
              <a:tailEnd/>
            </a:ln>
            <a:effectLst/>
          </p:spPr>
          <p:txBody>
            <a:bodyPr wrap="none" anchor="ctr"/>
            <a:lstStyle/>
            <a:p>
              <a:endParaRPr lang="zh-CN" altLang="en-US"/>
            </a:p>
          </p:txBody>
        </p:sp>
        <p:sp>
          <p:nvSpPr>
            <p:cNvPr id="395272" name="Line 8"/>
            <p:cNvSpPr>
              <a:spLocks noChangeShapeType="1"/>
            </p:cNvSpPr>
            <p:nvPr/>
          </p:nvSpPr>
          <p:spPr bwMode="auto">
            <a:xfrm>
              <a:off x="1893" y="2960"/>
              <a:ext cx="603"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95273" name="Rectangle 9"/>
            <p:cNvSpPr>
              <a:spLocks noChangeArrowheads="1"/>
            </p:cNvSpPr>
            <p:nvPr/>
          </p:nvSpPr>
          <p:spPr bwMode="auto">
            <a:xfrm>
              <a:off x="3416" y="2841"/>
              <a:ext cx="324" cy="672"/>
            </a:xfrm>
            <a:prstGeom prst="rect">
              <a:avLst/>
            </a:prstGeom>
            <a:solidFill>
              <a:schemeClr val="bg1"/>
            </a:solidFill>
            <a:ln w="9525" algn="ctr">
              <a:solidFill>
                <a:schemeClr val="tx1"/>
              </a:solidFill>
              <a:miter lim="800000"/>
              <a:headEnd/>
              <a:tailEnd/>
            </a:ln>
            <a:effectLst/>
          </p:spPr>
          <p:txBody>
            <a:bodyPr wrap="none" anchor="ctr"/>
            <a:lstStyle/>
            <a:p>
              <a:r>
                <a:rPr lang="en-US" altLang="zh-CN" sz="1200">
                  <a:latin typeface="Times New Roman" pitchFamily="18" charset="0"/>
                </a:rPr>
                <a:t>CPU</a:t>
              </a:r>
            </a:p>
          </p:txBody>
        </p:sp>
        <p:sp>
          <p:nvSpPr>
            <p:cNvPr id="395274" name="Line 10"/>
            <p:cNvSpPr>
              <a:spLocks noChangeShapeType="1"/>
            </p:cNvSpPr>
            <p:nvPr/>
          </p:nvSpPr>
          <p:spPr bwMode="auto">
            <a:xfrm>
              <a:off x="2491" y="2960"/>
              <a:ext cx="316"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395275" name="Line 11"/>
            <p:cNvSpPr>
              <a:spLocks noChangeShapeType="1"/>
            </p:cNvSpPr>
            <p:nvPr/>
          </p:nvSpPr>
          <p:spPr bwMode="auto">
            <a:xfrm>
              <a:off x="3083" y="2968"/>
              <a:ext cx="341"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395276" name="Line 12"/>
            <p:cNvSpPr>
              <a:spLocks noChangeShapeType="1"/>
            </p:cNvSpPr>
            <p:nvPr/>
          </p:nvSpPr>
          <p:spPr bwMode="auto">
            <a:xfrm flipV="1">
              <a:off x="2817" y="2868"/>
              <a:ext cx="276" cy="88"/>
            </a:xfrm>
            <a:prstGeom prst="line">
              <a:avLst/>
            </a:prstGeom>
            <a:noFill/>
            <a:ln w="9525">
              <a:solidFill>
                <a:schemeClr val="tx1"/>
              </a:solidFill>
              <a:round/>
              <a:headEnd/>
              <a:tailEnd/>
            </a:ln>
            <a:effectLst/>
          </p:spPr>
          <p:txBody>
            <a:bodyPr wrap="none" anchor="ctr"/>
            <a:lstStyle/>
            <a:p>
              <a:endParaRPr lang="zh-CN" altLang="en-US"/>
            </a:p>
          </p:txBody>
        </p:sp>
        <p:sp>
          <p:nvSpPr>
            <p:cNvPr id="395277" name="Line 13"/>
            <p:cNvSpPr>
              <a:spLocks noChangeShapeType="1"/>
            </p:cNvSpPr>
            <p:nvPr/>
          </p:nvSpPr>
          <p:spPr bwMode="auto">
            <a:xfrm>
              <a:off x="1897" y="3310"/>
              <a:ext cx="60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95278" name="Line 14"/>
            <p:cNvSpPr>
              <a:spLocks noChangeShapeType="1"/>
            </p:cNvSpPr>
            <p:nvPr/>
          </p:nvSpPr>
          <p:spPr bwMode="auto">
            <a:xfrm>
              <a:off x="2494" y="3310"/>
              <a:ext cx="317"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395279" name="Line 15"/>
            <p:cNvSpPr>
              <a:spLocks noChangeShapeType="1"/>
            </p:cNvSpPr>
            <p:nvPr/>
          </p:nvSpPr>
          <p:spPr bwMode="auto">
            <a:xfrm>
              <a:off x="3087" y="3318"/>
              <a:ext cx="337"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395280" name="Line 16"/>
            <p:cNvSpPr>
              <a:spLocks noChangeShapeType="1"/>
            </p:cNvSpPr>
            <p:nvPr/>
          </p:nvSpPr>
          <p:spPr bwMode="auto">
            <a:xfrm flipV="1">
              <a:off x="2821" y="3218"/>
              <a:ext cx="276" cy="88"/>
            </a:xfrm>
            <a:prstGeom prst="line">
              <a:avLst/>
            </a:prstGeom>
            <a:noFill/>
            <a:ln w="9525">
              <a:solidFill>
                <a:schemeClr val="tx1"/>
              </a:solidFill>
              <a:round/>
              <a:headEnd/>
              <a:tailEnd/>
            </a:ln>
            <a:effectLst/>
          </p:spPr>
          <p:txBody>
            <a:bodyPr wrap="none" anchor="ctr"/>
            <a:lstStyle/>
            <a:p>
              <a:endParaRPr lang="zh-CN" altLang="en-US"/>
            </a:p>
          </p:txBody>
        </p:sp>
        <p:sp>
          <p:nvSpPr>
            <p:cNvPr id="395281" name="Rectangle 17"/>
            <p:cNvSpPr>
              <a:spLocks noChangeArrowheads="1"/>
            </p:cNvSpPr>
            <p:nvPr/>
          </p:nvSpPr>
          <p:spPr bwMode="auto">
            <a:xfrm>
              <a:off x="2695" y="3170"/>
              <a:ext cx="488" cy="216"/>
            </a:xfrm>
            <a:prstGeom prst="rect">
              <a:avLst/>
            </a:prstGeom>
            <a:noFill/>
            <a:ln w="9525" algn="ctr">
              <a:solidFill>
                <a:schemeClr val="tx1"/>
              </a:solidFill>
              <a:prstDash val="dash"/>
              <a:miter lim="800000"/>
              <a:headEnd/>
              <a:tailEnd/>
            </a:ln>
            <a:effectLst/>
          </p:spPr>
          <p:txBody>
            <a:bodyPr wrap="none" anchor="ctr"/>
            <a:lstStyle/>
            <a:p>
              <a:endParaRPr lang="zh-CN" altLang="en-US"/>
            </a:p>
          </p:txBody>
        </p:sp>
        <p:sp>
          <p:nvSpPr>
            <p:cNvPr id="395282" name="Text Box 18"/>
            <p:cNvSpPr txBox="1">
              <a:spLocks noChangeArrowheads="1"/>
            </p:cNvSpPr>
            <p:nvPr/>
          </p:nvSpPr>
          <p:spPr bwMode="auto">
            <a:xfrm>
              <a:off x="2703" y="2251"/>
              <a:ext cx="713" cy="173"/>
            </a:xfrm>
            <a:prstGeom prst="rect">
              <a:avLst/>
            </a:prstGeom>
            <a:noFill/>
            <a:ln w="9525" algn="ctr">
              <a:noFill/>
              <a:miter lim="800000"/>
              <a:headEnd/>
              <a:tailEnd/>
            </a:ln>
            <a:effectLst/>
          </p:spPr>
          <p:txBody>
            <a:bodyPr wrap="none">
              <a:spAutoFit/>
            </a:bodyPr>
            <a:lstStyle/>
            <a:p>
              <a:r>
                <a:rPr lang="en-US" altLang="zh-CN" sz="1200">
                  <a:latin typeface="Arial" charset="0"/>
                </a:rPr>
                <a:t>ARM7TDMI-S</a:t>
              </a:r>
            </a:p>
          </p:txBody>
        </p:sp>
        <p:sp>
          <p:nvSpPr>
            <p:cNvPr id="395283" name="Rectangle 19"/>
            <p:cNvSpPr>
              <a:spLocks noChangeArrowheads="1"/>
            </p:cNvSpPr>
            <p:nvPr/>
          </p:nvSpPr>
          <p:spPr bwMode="auto">
            <a:xfrm>
              <a:off x="1666" y="2382"/>
              <a:ext cx="413" cy="1404"/>
            </a:xfrm>
            <a:prstGeom prst="rect">
              <a:avLst/>
            </a:prstGeom>
            <a:solidFill>
              <a:srgbClr val="FFFF99"/>
            </a:solidFill>
            <a:ln w="9525" algn="ctr">
              <a:solidFill>
                <a:schemeClr val="tx1"/>
              </a:solidFill>
              <a:miter lim="800000"/>
              <a:headEnd/>
              <a:tailEnd/>
            </a:ln>
            <a:effectLst/>
          </p:spPr>
          <p:txBody>
            <a:bodyPr wrap="none" anchor="ctr"/>
            <a:lstStyle/>
            <a:p>
              <a:r>
                <a:rPr lang="en-US" altLang="zh-CN" sz="1400">
                  <a:latin typeface="Times New Roman" pitchFamily="18" charset="0"/>
                </a:rPr>
                <a:t>VIC</a:t>
              </a:r>
            </a:p>
          </p:txBody>
        </p:sp>
        <p:sp>
          <p:nvSpPr>
            <p:cNvPr id="395284" name="Line 20"/>
            <p:cNvSpPr>
              <a:spLocks noChangeShapeType="1"/>
            </p:cNvSpPr>
            <p:nvPr/>
          </p:nvSpPr>
          <p:spPr bwMode="auto">
            <a:xfrm>
              <a:off x="2926" y="2671"/>
              <a:ext cx="0" cy="158"/>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95285" name="Line 21"/>
            <p:cNvSpPr>
              <a:spLocks noChangeShapeType="1"/>
            </p:cNvSpPr>
            <p:nvPr/>
          </p:nvSpPr>
          <p:spPr bwMode="auto">
            <a:xfrm flipV="1">
              <a:off x="2926" y="3391"/>
              <a:ext cx="0" cy="149"/>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95286" name="Text Box 22"/>
            <p:cNvSpPr txBox="1">
              <a:spLocks noChangeArrowheads="1"/>
            </p:cNvSpPr>
            <p:nvPr/>
          </p:nvSpPr>
          <p:spPr bwMode="auto">
            <a:xfrm>
              <a:off x="2115" y="2799"/>
              <a:ext cx="281" cy="173"/>
            </a:xfrm>
            <a:prstGeom prst="rect">
              <a:avLst/>
            </a:prstGeom>
            <a:noFill/>
            <a:ln w="9525" algn="ctr">
              <a:noFill/>
              <a:miter lim="800000"/>
              <a:headEnd/>
              <a:tailEnd/>
            </a:ln>
            <a:effectLst/>
          </p:spPr>
          <p:txBody>
            <a:bodyPr wrap="none">
              <a:spAutoFit/>
            </a:bodyPr>
            <a:lstStyle/>
            <a:p>
              <a:r>
                <a:rPr lang="en-US" altLang="zh-CN" sz="1200">
                  <a:latin typeface="Times New Roman" pitchFamily="18" charset="0"/>
                </a:rPr>
                <a:t>IRQ</a:t>
              </a:r>
            </a:p>
          </p:txBody>
        </p:sp>
        <p:sp>
          <p:nvSpPr>
            <p:cNvPr id="395287" name="Text Box 23"/>
            <p:cNvSpPr txBox="1">
              <a:spLocks noChangeArrowheads="1"/>
            </p:cNvSpPr>
            <p:nvPr/>
          </p:nvSpPr>
          <p:spPr bwMode="auto">
            <a:xfrm>
              <a:off x="2120" y="3160"/>
              <a:ext cx="270" cy="173"/>
            </a:xfrm>
            <a:prstGeom prst="rect">
              <a:avLst/>
            </a:prstGeom>
            <a:noFill/>
            <a:ln w="9525" algn="ctr">
              <a:noFill/>
              <a:miter lim="800000"/>
              <a:headEnd/>
              <a:tailEnd/>
            </a:ln>
            <a:effectLst/>
          </p:spPr>
          <p:txBody>
            <a:bodyPr wrap="none">
              <a:spAutoFit/>
            </a:bodyPr>
            <a:lstStyle/>
            <a:p>
              <a:r>
                <a:rPr lang="en-US" altLang="zh-CN" sz="1200">
                  <a:latin typeface="Times New Roman" pitchFamily="18" charset="0"/>
                </a:rPr>
                <a:t>FIQ</a:t>
              </a:r>
            </a:p>
          </p:txBody>
        </p:sp>
        <p:sp>
          <p:nvSpPr>
            <p:cNvPr id="395288" name="Rectangle 24"/>
            <p:cNvSpPr>
              <a:spLocks noChangeArrowheads="1"/>
            </p:cNvSpPr>
            <p:nvPr/>
          </p:nvSpPr>
          <p:spPr bwMode="auto">
            <a:xfrm>
              <a:off x="2572" y="2490"/>
              <a:ext cx="712" cy="224"/>
            </a:xfrm>
            <a:prstGeom prst="rect">
              <a:avLst/>
            </a:prstGeom>
            <a:solidFill>
              <a:schemeClr val="bg1"/>
            </a:solidFill>
            <a:ln w="9525" algn="ctr">
              <a:solidFill>
                <a:schemeClr val="tx1"/>
              </a:solidFill>
              <a:miter lim="800000"/>
              <a:headEnd/>
              <a:tailEnd/>
            </a:ln>
            <a:effectLst/>
          </p:spPr>
          <p:txBody>
            <a:bodyPr wrap="none" anchor="ctr"/>
            <a:lstStyle/>
            <a:p>
              <a:r>
                <a:rPr lang="en-US" altLang="zh-CN" sz="1200">
                  <a:latin typeface="Times New Roman" pitchFamily="18" charset="0"/>
                </a:rPr>
                <a:t>CPSR[ 7 ]</a:t>
              </a:r>
              <a:r>
                <a:rPr lang="zh-CN" altLang="en-US" sz="1200">
                  <a:latin typeface="Times New Roman" pitchFamily="18" charset="0"/>
                </a:rPr>
                <a:t>（</a:t>
              </a:r>
              <a:r>
                <a:rPr lang="en-US" altLang="zh-CN" sz="1200">
                  <a:latin typeface="Times New Roman" pitchFamily="18" charset="0"/>
                </a:rPr>
                <a:t>I</a:t>
              </a:r>
              <a:r>
                <a:rPr lang="zh-CN" altLang="en-US" sz="1200">
                  <a:latin typeface="Times New Roman" pitchFamily="18" charset="0"/>
                </a:rPr>
                <a:t>）</a:t>
              </a:r>
            </a:p>
          </p:txBody>
        </p:sp>
        <p:sp>
          <p:nvSpPr>
            <p:cNvPr id="395289" name="Rectangle 25"/>
            <p:cNvSpPr>
              <a:spLocks noChangeArrowheads="1"/>
            </p:cNvSpPr>
            <p:nvPr/>
          </p:nvSpPr>
          <p:spPr bwMode="auto">
            <a:xfrm>
              <a:off x="2572" y="3517"/>
              <a:ext cx="707" cy="200"/>
            </a:xfrm>
            <a:prstGeom prst="rect">
              <a:avLst/>
            </a:prstGeom>
            <a:solidFill>
              <a:schemeClr val="bg1"/>
            </a:solidFill>
            <a:ln w="9525" algn="ctr">
              <a:solidFill>
                <a:schemeClr val="tx1"/>
              </a:solidFill>
              <a:miter lim="800000"/>
              <a:headEnd/>
              <a:tailEnd/>
            </a:ln>
            <a:effectLst/>
          </p:spPr>
          <p:txBody>
            <a:bodyPr wrap="none" anchor="ctr"/>
            <a:lstStyle/>
            <a:p>
              <a:r>
                <a:rPr lang="en-US" altLang="zh-CN" sz="1200">
                  <a:latin typeface="Times New Roman" pitchFamily="18" charset="0"/>
                </a:rPr>
                <a:t>CPSR[ 6 ]</a:t>
              </a:r>
              <a:r>
                <a:rPr lang="zh-CN" altLang="en-US" sz="1200">
                  <a:latin typeface="Times New Roman" pitchFamily="18" charset="0"/>
                </a:rPr>
                <a:t>（</a:t>
              </a:r>
              <a:r>
                <a:rPr lang="en-US" altLang="zh-CN" sz="1200">
                  <a:latin typeface="Times New Roman" pitchFamily="18" charset="0"/>
                </a:rPr>
                <a:t>F</a:t>
              </a:r>
              <a:r>
                <a:rPr lang="zh-CN" altLang="en-US" sz="1200">
                  <a:latin typeface="Times New Roman" pitchFamily="18" charset="0"/>
                </a:rPr>
                <a:t>）</a:t>
              </a:r>
            </a:p>
          </p:txBody>
        </p:sp>
      </p:grpSp>
      <p:sp>
        <p:nvSpPr>
          <p:cNvPr id="395290" name="Text Box 26"/>
          <p:cNvSpPr txBox="1">
            <a:spLocks noChangeArrowheads="1"/>
          </p:cNvSpPr>
          <p:nvPr/>
        </p:nvSpPr>
        <p:spPr bwMode="auto">
          <a:xfrm>
            <a:off x="2525713" y="2924175"/>
            <a:ext cx="4608512" cy="457200"/>
          </a:xfrm>
          <a:prstGeom prst="rect">
            <a:avLst/>
          </a:prstGeom>
          <a:noFill/>
          <a:ln w="9525" algn="ctr">
            <a:noFill/>
            <a:miter lim="800000"/>
            <a:headEnd/>
            <a:tailEnd/>
          </a:ln>
          <a:effectLst/>
        </p:spPr>
        <p:txBody>
          <a:bodyPr>
            <a:spAutoFit/>
          </a:bodyPr>
          <a:lstStyle/>
          <a:p>
            <a:pPr algn="l">
              <a:spcBef>
                <a:spcPct val="50000"/>
              </a:spcBef>
              <a:buFont typeface="Wingdings" pitchFamily="2" charset="2"/>
              <a:buChar char="Ø"/>
            </a:pPr>
            <a:r>
              <a:rPr lang="en-US" altLang="zh-CN" sz="2400">
                <a:latin typeface="华文新魏" pitchFamily="2" charset="-122"/>
                <a:ea typeface="华文新魏" pitchFamily="2" charset="-122"/>
              </a:rPr>
              <a:t> </a:t>
            </a:r>
            <a:r>
              <a:rPr lang="zh-CN" altLang="en-US" sz="2400">
                <a:latin typeface="华文新魏" pitchFamily="2" charset="-122"/>
                <a:ea typeface="华文新魏" pitchFamily="2" charset="-122"/>
              </a:rPr>
              <a:t>当</a:t>
            </a:r>
            <a:r>
              <a:rPr lang="en-US" altLang="zh-CN" sz="2400">
                <a:latin typeface="华文新魏" pitchFamily="2" charset="-122"/>
                <a:ea typeface="华文新魏" pitchFamily="2" charset="-122"/>
              </a:rPr>
              <a:t>F = 0</a:t>
            </a:r>
            <a:r>
              <a:rPr lang="zh-CN" altLang="en-US" sz="2400">
                <a:latin typeface="华文新魏" pitchFamily="2" charset="-122"/>
                <a:ea typeface="华文新魏" pitchFamily="2" charset="-122"/>
              </a:rPr>
              <a:t>时，使能</a:t>
            </a:r>
            <a:r>
              <a:rPr lang="en-US" altLang="zh-CN" sz="2400">
                <a:latin typeface="华文新魏" pitchFamily="2" charset="-122"/>
                <a:ea typeface="华文新魏" pitchFamily="2" charset="-122"/>
              </a:rPr>
              <a:t>FIQ</a:t>
            </a:r>
            <a:r>
              <a:rPr lang="zh-CN" altLang="en-US" sz="2400">
                <a:latin typeface="华文新魏" pitchFamily="2" charset="-122"/>
                <a:ea typeface="华文新魏" pitchFamily="2" charset="-122"/>
              </a:rPr>
              <a:t>中断</a:t>
            </a:r>
          </a:p>
        </p:txBody>
      </p:sp>
      <p:grpSp>
        <p:nvGrpSpPr>
          <p:cNvPr id="395334" name="Group 70"/>
          <p:cNvGrpSpPr>
            <a:grpSpLocks/>
          </p:cNvGrpSpPr>
          <p:nvPr/>
        </p:nvGrpSpPr>
        <p:grpSpPr bwMode="auto">
          <a:xfrm>
            <a:off x="4168776" y="3570289"/>
            <a:ext cx="3440113" cy="2446337"/>
            <a:chOff x="3402" y="1459"/>
            <a:chExt cx="2167" cy="1541"/>
          </a:xfrm>
        </p:grpSpPr>
        <p:sp>
          <p:nvSpPr>
            <p:cNvPr id="395313" name="Rectangle 49"/>
            <p:cNvSpPr>
              <a:spLocks noChangeArrowheads="1"/>
            </p:cNvSpPr>
            <p:nvPr/>
          </p:nvSpPr>
          <p:spPr bwMode="auto">
            <a:xfrm>
              <a:off x="4223" y="1625"/>
              <a:ext cx="1346" cy="1375"/>
            </a:xfrm>
            <a:prstGeom prst="rect">
              <a:avLst/>
            </a:prstGeom>
            <a:solidFill>
              <a:srgbClr val="FFCC99"/>
            </a:solidFill>
            <a:ln w="9525" algn="ctr">
              <a:solidFill>
                <a:schemeClr val="tx1"/>
              </a:solidFill>
              <a:miter lim="800000"/>
              <a:headEnd/>
              <a:tailEnd/>
            </a:ln>
            <a:effectLst/>
          </p:spPr>
          <p:txBody>
            <a:bodyPr wrap="none" anchor="ctr"/>
            <a:lstStyle/>
            <a:p>
              <a:endParaRPr lang="zh-CN" altLang="zh-CN" sz="1200">
                <a:latin typeface="Arial" charset="0"/>
              </a:endParaRPr>
            </a:p>
          </p:txBody>
        </p:sp>
        <p:sp>
          <p:nvSpPr>
            <p:cNvPr id="395314" name="Rectangle 50"/>
            <p:cNvSpPr>
              <a:spLocks noChangeArrowheads="1"/>
            </p:cNvSpPr>
            <p:nvPr/>
          </p:nvSpPr>
          <p:spPr bwMode="auto">
            <a:xfrm>
              <a:off x="4431" y="2038"/>
              <a:ext cx="488" cy="216"/>
            </a:xfrm>
            <a:prstGeom prst="rect">
              <a:avLst/>
            </a:prstGeom>
            <a:noFill/>
            <a:ln w="9525" algn="ctr">
              <a:solidFill>
                <a:schemeClr val="tx1"/>
              </a:solidFill>
              <a:prstDash val="dash"/>
              <a:miter lim="800000"/>
              <a:headEnd/>
              <a:tailEnd/>
            </a:ln>
            <a:effectLst/>
          </p:spPr>
          <p:txBody>
            <a:bodyPr wrap="none" anchor="ctr"/>
            <a:lstStyle/>
            <a:p>
              <a:endParaRPr lang="zh-CN" altLang="en-US"/>
            </a:p>
          </p:txBody>
        </p:sp>
        <p:sp>
          <p:nvSpPr>
            <p:cNvPr id="395315" name="Line 51"/>
            <p:cNvSpPr>
              <a:spLocks noChangeShapeType="1"/>
            </p:cNvSpPr>
            <p:nvPr/>
          </p:nvSpPr>
          <p:spPr bwMode="auto">
            <a:xfrm>
              <a:off x="3629" y="2168"/>
              <a:ext cx="603"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95316" name="Rectangle 52"/>
            <p:cNvSpPr>
              <a:spLocks noChangeArrowheads="1"/>
            </p:cNvSpPr>
            <p:nvPr/>
          </p:nvSpPr>
          <p:spPr bwMode="auto">
            <a:xfrm>
              <a:off x="5152" y="2049"/>
              <a:ext cx="324" cy="672"/>
            </a:xfrm>
            <a:prstGeom prst="rect">
              <a:avLst/>
            </a:prstGeom>
            <a:solidFill>
              <a:schemeClr val="bg1"/>
            </a:solidFill>
            <a:ln w="9525" algn="ctr">
              <a:solidFill>
                <a:schemeClr val="tx1"/>
              </a:solidFill>
              <a:miter lim="800000"/>
              <a:headEnd/>
              <a:tailEnd/>
            </a:ln>
            <a:effectLst/>
          </p:spPr>
          <p:txBody>
            <a:bodyPr wrap="none" anchor="ctr"/>
            <a:lstStyle/>
            <a:p>
              <a:r>
                <a:rPr lang="en-US" altLang="zh-CN" sz="1200">
                  <a:latin typeface="Times New Roman" pitchFamily="18" charset="0"/>
                </a:rPr>
                <a:t>CPU</a:t>
              </a:r>
            </a:p>
          </p:txBody>
        </p:sp>
        <p:sp>
          <p:nvSpPr>
            <p:cNvPr id="395317" name="Line 53"/>
            <p:cNvSpPr>
              <a:spLocks noChangeShapeType="1"/>
            </p:cNvSpPr>
            <p:nvPr/>
          </p:nvSpPr>
          <p:spPr bwMode="auto">
            <a:xfrm>
              <a:off x="4227" y="2168"/>
              <a:ext cx="316"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395318" name="Line 54"/>
            <p:cNvSpPr>
              <a:spLocks noChangeShapeType="1"/>
            </p:cNvSpPr>
            <p:nvPr/>
          </p:nvSpPr>
          <p:spPr bwMode="auto">
            <a:xfrm>
              <a:off x="4819" y="2176"/>
              <a:ext cx="341"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395319" name="Line 55"/>
            <p:cNvSpPr>
              <a:spLocks noChangeShapeType="1"/>
            </p:cNvSpPr>
            <p:nvPr/>
          </p:nvSpPr>
          <p:spPr bwMode="auto">
            <a:xfrm flipV="1">
              <a:off x="4553" y="2076"/>
              <a:ext cx="276" cy="88"/>
            </a:xfrm>
            <a:prstGeom prst="line">
              <a:avLst/>
            </a:prstGeom>
            <a:noFill/>
            <a:ln w="9525">
              <a:solidFill>
                <a:schemeClr val="tx1"/>
              </a:solidFill>
              <a:round/>
              <a:headEnd/>
              <a:tailEnd/>
            </a:ln>
            <a:effectLst/>
          </p:spPr>
          <p:txBody>
            <a:bodyPr wrap="none" anchor="ctr"/>
            <a:lstStyle/>
            <a:p>
              <a:endParaRPr lang="zh-CN" altLang="en-US"/>
            </a:p>
          </p:txBody>
        </p:sp>
        <p:sp>
          <p:nvSpPr>
            <p:cNvPr id="395320" name="Line 56"/>
            <p:cNvSpPr>
              <a:spLocks noChangeShapeType="1"/>
            </p:cNvSpPr>
            <p:nvPr/>
          </p:nvSpPr>
          <p:spPr bwMode="auto">
            <a:xfrm>
              <a:off x="3633" y="2518"/>
              <a:ext cx="60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95321" name="Line 57"/>
            <p:cNvSpPr>
              <a:spLocks noChangeShapeType="1"/>
            </p:cNvSpPr>
            <p:nvPr/>
          </p:nvSpPr>
          <p:spPr bwMode="auto">
            <a:xfrm>
              <a:off x="4230" y="2518"/>
              <a:ext cx="317"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395322" name="Line 58"/>
            <p:cNvSpPr>
              <a:spLocks noChangeShapeType="1"/>
            </p:cNvSpPr>
            <p:nvPr/>
          </p:nvSpPr>
          <p:spPr bwMode="auto">
            <a:xfrm>
              <a:off x="4823" y="2526"/>
              <a:ext cx="337"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395324" name="Rectangle 60"/>
            <p:cNvSpPr>
              <a:spLocks noChangeArrowheads="1"/>
            </p:cNvSpPr>
            <p:nvPr/>
          </p:nvSpPr>
          <p:spPr bwMode="auto">
            <a:xfrm>
              <a:off x="4431" y="2378"/>
              <a:ext cx="488" cy="216"/>
            </a:xfrm>
            <a:prstGeom prst="rect">
              <a:avLst/>
            </a:prstGeom>
            <a:noFill/>
            <a:ln w="9525" algn="ctr">
              <a:solidFill>
                <a:schemeClr val="tx1"/>
              </a:solidFill>
              <a:prstDash val="dash"/>
              <a:miter lim="800000"/>
              <a:headEnd/>
              <a:tailEnd/>
            </a:ln>
            <a:effectLst/>
          </p:spPr>
          <p:txBody>
            <a:bodyPr wrap="none" anchor="ctr"/>
            <a:lstStyle/>
            <a:p>
              <a:endParaRPr lang="zh-CN" altLang="en-US"/>
            </a:p>
          </p:txBody>
        </p:sp>
        <p:sp>
          <p:nvSpPr>
            <p:cNvPr id="395325" name="Text Box 61"/>
            <p:cNvSpPr txBox="1">
              <a:spLocks noChangeArrowheads="1"/>
            </p:cNvSpPr>
            <p:nvPr/>
          </p:nvSpPr>
          <p:spPr bwMode="auto">
            <a:xfrm>
              <a:off x="4439" y="1459"/>
              <a:ext cx="713" cy="173"/>
            </a:xfrm>
            <a:prstGeom prst="rect">
              <a:avLst/>
            </a:prstGeom>
            <a:noFill/>
            <a:ln w="9525" algn="ctr">
              <a:noFill/>
              <a:miter lim="800000"/>
              <a:headEnd/>
              <a:tailEnd/>
            </a:ln>
            <a:effectLst/>
          </p:spPr>
          <p:txBody>
            <a:bodyPr wrap="none">
              <a:spAutoFit/>
            </a:bodyPr>
            <a:lstStyle/>
            <a:p>
              <a:r>
                <a:rPr lang="en-US" altLang="zh-CN" sz="1200">
                  <a:latin typeface="Arial" charset="0"/>
                </a:rPr>
                <a:t>ARM7TDMI-S</a:t>
              </a:r>
            </a:p>
          </p:txBody>
        </p:sp>
        <p:sp>
          <p:nvSpPr>
            <p:cNvPr id="395326" name="Rectangle 62"/>
            <p:cNvSpPr>
              <a:spLocks noChangeArrowheads="1"/>
            </p:cNvSpPr>
            <p:nvPr/>
          </p:nvSpPr>
          <p:spPr bwMode="auto">
            <a:xfrm>
              <a:off x="3402" y="1590"/>
              <a:ext cx="413" cy="1404"/>
            </a:xfrm>
            <a:prstGeom prst="rect">
              <a:avLst/>
            </a:prstGeom>
            <a:solidFill>
              <a:srgbClr val="FFFF99"/>
            </a:solidFill>
            <a:ln w="9525" algn="ctr">
              <a:solidFill>
                <a:schemeClr val="tx1"/>
              </a:solidFill>
              <a:miter lim="800000"/>
              <a:headEnd/>
              <a:tailEnd/>
            </a:ln>
            <a:effectLst/>
          </p:spPr>
          <p:txBody>
            <a:bodyPr wrap="none" anchor="ctr"/>
            <a:lstStyle/>
            <a:p>
              <a:r>
                <a:rPr lang="en-US" altLang="zh-CN" sz="1400">
                  <a:latin typeface="Times New Roman" pitchFamily="18" charset="0"/>
                </a:rPr>
                <a:t>VIC</a:t>
              </a:r>
            </a:p>
          </p:txBody>
        </p:sp>
        <p:sp>
          <p:nvSpPr>
            <p:cNvPr id="395327" name="Line 63"/>
            <p:cNvSpPr>
              <a:spLocks noChangeShapeType="1"/>
            </p:cNvSpPr>
            <p:nvPr/>
          </p:nvSpPr>
          <p:spPr bwMode="auto">
            <a:xfrm>
              <a:off x="4662" y="1879"/>
              <a:ext cx="0" cy="158"/>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95328" name="Line 64"/>
            <p:cNvSpPr>
              <a:spLocks noChangeShapeType="1"/>
            </p:cNvSpPr>
            <p:nvPr/>
          </p:nvSpPr>
          <p:spPr bwMode="auto">
            <a:xfrm flipV="1">
              <a:off x="4662" y="2599"/>
              <a:ext cx="0" cy="149"/>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95329" name="Text Box 65"/>
            <p:cNvSpPr txBox="1">
              <a:spLocks noChangeArrowheads="1"/>
            </p:cNvSpPr>
            <p:nvPr/>
          </p:nvSpPr>
          <p:spPr bwMode="auto">
            <a:xfrm>
              <a:off x="3851" y="2007"/>
              <a:ext cx="281" cy="173"/>
            </a:xfrm>
            <a:prstGeom prst="rect">
              <a:avLst/>
            </a:prstGeom>
            <a:noFill/>
            <a:ln w="9525" algn="ctr">
              <a:noFill/>
              <a:miter lim="800000"/>
              <a:headEnd/>
              <a:tailEnd/>
            </a:ln>
            <a:effectLst/>
          </p:spPr>
          <p:txBody>
            <a:bodyPr wrap="none">
              <a:spAutoFit/>
            </a:bodyPr>
            <a:lstStyle/>
            <a:p>
              <a:r>
                <a:rPr lang="en-US" altLang="zh-CN" sz="1200">
                  <a:latin typeface="Times New Roman" pitchFamily="18" charset="0"/>
                </a:rPr>
                <a:t>IRQ</a:t>
              </a:r>
            </a:p>
          </p:txBody>
        </p:sp>
        <p:sp>
          <p:nvSpPr>
            <p:cNvPr id="395330" name="Text Box 66"/>
            <p:cNvSpPr txBox="1">
              <a:spLocks noChangeArrowheads="1"/>
            </p:cNvSpPr>
            <p:nvPr/>
          </p:nvSpPr>
          <p:spPr bwMode="auto">
            <a:xfrm>
              <a:off x="3856" y="2368"/>
              <a:ext cx="270" cy="173"/>
            </a:xfrm>
            <a:prstGeom prst="rect">
              <a:avLst/>
            </a:prstGeom>
            <a:noFill/>
            <a:ln w="9525" algn="ctr">
              <a:noFill/>
              <a:miter lim="800000"/>
              <a:headEnd/>
              <a:tailEnd/>
            </a:ln>
            <a:effectLst/>
          </p:spPr>
          <p:txBody>
            <a:bodyPr wrap="none">
              <a:spAutoFit/>
            </a:bodyPr>
            <a:lstStyle/>
            <a:p>
              <a:r>
                <a:rPr lang="en-US" altLang="zh-CN" sz="1200">
                  <a:latin typeface="Times New Roman" pitchFamily="18" charset="0"/>
                </a:rPr>
                <a:t>FIQ</a:t>
              </a:r>
            </a:p>
          </p:txBody>
        </p:sp>
        <p:sp>
          <p:nvSpPr>
            <p:cNvPr id="395331" name="Rectangle 67"/>
            <p:cNvSpPr>
              <a:spLocks noChangeArrowheads="1"/>
            </p:cNvSpPr>
            <p:nvPr/>
          </p:nvSpPr>
          <p:spPr bwMode="auto">
            <a:xfrm>
              <a:off x="4308" y="1698"/>
              <a:ext cx="712" cy="224"/>
            </a:xfrm>
            <a:prstGeom prst="rect">
              <a:avLst/>
            </a:prstGeom>
            <a:solidFill>
              <a:schemeClr val="bg1"/>
            </a:solidFill>
            <a:ln w="9525" algn="ctr">
              <a:solidFill>
                <a:schemeClr val="tx1"/>
              </a:solidFill>
              <a:miter lim="800000"/>
              <a:headEnd/>
              <a:tailEnd/>
            </a:ln>
            <a:effectLst/>
          </p:spPr>
          <p:txBody>
            <a:bodyPr wrap="none" anchor="ctr"/>
            <a:lstStyle/>
            <a:p>
              <a:r>
                <a:rPr lang="en-US" altLang="zh-CN" sz="1200">
                  <a:latin typeface="Times New Roman" pitchFamily="18" charset="0"/>
                </a:rPr>
                <a:t>CPSR[ 7 ]</a:t>
              </a:r>
              <a:r>
                <a:rPr lang="zh-CN" altLang="en-US" sz="1200">
                  <a:latin typeface="Times New Roman" pitchFamily="18" charset="0"/>
                </a:rPr>
                <a:t>（</a:t>
              </a:r>
              <a:r>
                <a:rPr lang="en-US" altLang="zh-CN" sz="1200">
                  <a:latin typeface="Times New Roman" pitchFamily="18" charset="0"/>
                </a:rPr>
                <a:t>I</a:t>
              </a:r>
              <a:r>
                <a:rPr lang="zh-CN" altLang="en-US" sz="1200">
                  <a:latin typeface="Times New Roman" pitchFamily="18" charset="0"/>
                </a:rPr>
                <a:t>）</a:t>
              </a:r>
            </a:p>
          </p:txBody>
        </p:sp>
        <p:sp>
          <p:nvSpPr>
            <p:cNvPr id="395332" name="Rectangle 68"/>
            <p:cNvSpPr>
              <a:spLocks noChangeArrowheads="1"/>
            </p:cNvSpPr>
            <p:nvPr/>
          </p:nvSpPr>
          <p:spPr bwMode="auto">
            <a:xfrm>
              <a:off x="4308" y="2725"/>
              <a:ext cx="707" cy="200"/>
            </a:xfrm>
            <a:prstGeom prst="rect">
              <a:avLst/>
            </a:prstGeom>
            <a:solidFill>
              <a:schemeClr val="bg1"/>
            </a:solidFill>
            <a:ln w="9525" algn="ctr">
              <a:solidFill>
                <a:schemeClr val="tx1"/>
              </a:solidFill>
              <a:miter lim="800000"/>
              <a:headEnd/>
              <a:tailEnd/>
            </a:ln>
            <a:effectLst/>
          </p:spPr>
          <p:txBody>
            <a:bodyPr wrap="none" anchor="ctr"/>
            <a:lstStyle/>
            <a:p>
              <a:r>
                <a:rPr lang="en-US" altLang="zh-CN" sz="1200">
                  <a:latin typeface="Times New Roman" pitchFamily="18" charset="0"/>
                </a:rPr>
                <a:t>CPSR[ 6 ]</a:t>
              </a:r>
              <a:r>
                <a:rPr lang="zh-CN" altLang="en-US" sz="1200">
                  <a:latin typeface="Times New Roman" pitchFamily="18" charset="0"/>
                </a:rPr>
                <a:t>（</a:t>
              </a:r>
              <a:r>
                <a:rPr lang="en-US" altLang="zh-CN" sz="1200">
                  <a:latin typeface="Times New Roman" pitchFamily="18" charset="0"/>
                </a:rPr>
                <a:t>F</a:t>
              </a:r>
              <a:r>
                <a:rPr lang="zh-CN" altLang="en-US" sz="1200">
                  <a:latin typeface="Times New Roman" pitchFamily="18" charset="0"/>
                </a:rPr>
                <a:t>）</a:t>
              </a:r>
            </a:p>
          </p:txBody>
        </p:sp>
        <p:sp>
          <p:nvSpPr>
            <p:cNvPr id="395333" name="Line 69"/>
            <p:cNvSpPr>
              <a:spLocks noChangeShapeType="1"/>
            </p:cNvSpPr>
            <p:nvPr/>
          </p:nvSpPr>
          <p:spPr bwMode="auto">
            <a:xfrm>
              <a:off x="4552" y="2516"/>
              <a:ext cx="268" cy="0"/>
            </a:xfrm>
            <a:prstGeom prst="line">
              <a:avLst/>
            </a:prstGeom>
            <a:noFill/>
            <a:ln w="9525">
              <a:solidFill>
                <a:schemeClr val="tx1"/>
              </a:solidFill>
              <a:round/>
              <a:headEnd/>
              <a:tailEnd/>
            </a:ln>
            <a:effectLst/>
          </p:spPr>
          <p:txBody>
            <a:bodyPr>
              <a:spAutoFit/>
            </a:bodyPr>
            <a:lstStyle/>
            <a:p>
              <a:endParaRPr lang="zh-CN" altLang="en-US"/>
            </a:p>
          </p:txBody>
        </p:sp>
      </p:grpSp>
      <p:sp>
        <p:nvSpPr>
          <p:cNvPr id="395335" name="Oval 71"/>
          <p:cNvSpPr>
            <a:spLocks noChangeArrowheads="1"/>
          </p:cNvSpPr>
          <p:nvPr/>
        </p:nvSpPr>
        <p:spPr bwMode="auto">
          <a:xfrm>
            <a:off x="5626100" y="4959232"/>
            <a:ext cx="259766" cy="519351"/>
          </a:xfrm>
          <a:prstGeom prst="ellipse">
            <a:avLst/>
          </a:prstGeom>
          <a:noFill/>
          <a:ln w="19050" algn="ctr">
            <a:solidFill>
              <a:srgbClr val="FF0000"/>
            </a:solidFill>
            <a:round/>
            <a:headEnd/>
            <a:tailEnd/>
          </a:ln>
          <a:effectLst/>
        </p:spPr>
        <p:txBody>
          <a:bodyPr wrap="none"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95267">
                                            <p:txEl>
                                              <p:pRg st="0" end="0"/>
                                            </p:txEl>
                                          </p:spTgt>
                                        </p:tgtEl>
                                        <p:attrNameLst>
                                          <p:attrName>style.visibility</p:attrName>
                                        </p:attrNameLst>
                                      </p:cBhvr>
                                      <p:to>
                                        <p:strVal val="visible"/>
                                      </p:to>
                                    </p:set>
                                    <p:anim calcmode="lin" valueType="num">
                                      <p:cBhvr additive="base">
                                        <p:cTn id="7" dur="500" fill="hold"/>
                                        <p:tgtEl>
                                          <p:spTgt spid="39526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95267">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395268"/>
                                        </p:tgtEl>
                                        <p:attrNameLst>
                                          <p:attrName>style.visibility</p:attrName>
                                        </p:attrNameLst>
                                      </p:cBhvr>
                                      <p:to>
                                        <p:strVal val="visible"/>
                                      </p:to>
                                    </p:set>
                                    <p:animEffect transition="in" filter="box(in)">
                                      <p:cBhvr>
                                        <p:cTn id="12" dur="500"/>
                                        <p:tgtEl>
                                          <p:spTgt spid="395268"/>
                                        </p:tgtEl>
                                      </p:cBhvr>
                                    </p:animEffect>
                                  </p:childTnLst>
                                </p:cTn>
                              </p:par>
                            </p:childTnLst>
                          </p:cTn>
                        </p:par>
                        <p:par>
                          <p:cTn id="13" fill="hold">
                            <p:stCondLst>
                              <p:cond delay="1000"/>
                            </p:stCondLst>
                            <p:childTnLst>
                              <p:par>
                                <p:cTn id="14" presetID="3" presetClass="entr" presetSubtype="10" fill="hold" nodeType="afterEffect">
                                  <p:stCondLst>
                                    <p:cond delay="0"/>
                                  </p:stCondLst>
                                  <p:childTnLst>
                                    <p:set>
                                      <p:cBhvr>
                                        <p:cTn id="15" dur="1" fill="hold">
                                          <p:stCondLst>
                                            <p:cond delay="0"/>
                                          </p:stCondLst>
                                        </p:cTn>
                                        <p:tgtEl>
                                          <p:spTgt spid="395269"/>
                                        </p:tgtEl>
                                        <p:attrNameLst>
                                          <p:attrName>style.visibility</p:attrName>
                                        </p:attrNameLst>
                                      </p:cBhvr>
                                      <p:to>
                                        <p:strVal val="visible"/>
                                      </p:to>
                                    </p:set>
                                    <p:animEffect transition="in" filter="blinds(horizontal)">
                                      <p:cBhvr>
                                        <p:cTn id="16" dur="500"/>
                                        <p:tgtEl>
                                          <p:spTgt spid="395269"/>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395290"/>
                                        </p:tgtEl>
                                        <p:attrNameLst>
                                          <p:attrName>style.visibility</p:attrName>
                                        </p:attrNameLst>
                                      </p:cBhvr>
                                      <p:to>
                                        <p:strVal val="visible"/>
                                      </p:to>
                                    </p:set>
                                    <p:animEffect transition="in" filter="box(in)">
                                      <p:cBhvr>
                                        <p:cTn id="21" dur="500"/>
                                        <p:tgtEl>
                                          <p:spTgt spid="395290"/>
                                        </p:tgtEl>
                                      </p:cBhvr>
                                    </p:animEffect>
                                  </p:childTnLst>
                                </p:cTn>
                              </p:par>
                            </p:childTnLst>
                          </p:cTn>
                        </p:par>
                        <p:par>
                          <p:cTn id="22" fill="hold">
                            <p:stCondLst>
                              <p:cond delay="500"/>
                            </p:stCondLst>
                            <p:childTnLst>
                              <p:par>
                                <p:cTn id="23" presetID="1" presetClass="exit" presetSubtype="0" fill="hold" nodeType="afterEffect">
                                  <p:stCondLst>
                                    <p:cond delay="0"/>
                                  </p:stCondLst>
                                  <p:childTnLst>
                                    <p:set>
                                      <p:cBhvr>
                                        <p:cTn id="24" dur="1" fill="hold">
                                          <p:stCondLst>
                                            <p:cond delay="0"/>
                                          </p:stCondLst>
                                        </p:cTn>
                                        <p:tgtEl>
                                          <p:spTgt spid="395269"/>
                                        </p:tgtEl>
                                        <p:attrNameLst>
                                          <p:attrName>style.visibility</p:attrName>
                                        </p:attrNameLst>
                                      </p:cBhvr>
                                      <p:to>
                                        <p:strVal val="hidden"/>
                                      </p:to>
                                    </p:set>
                                  </p:childTnLst>
                                </p:cTn>
                              </p:par>
                            </p:childTnLst>
                          </p:cTn>
                        </p:par>
                        <p:par>
                          <p:cTn id="25" fill="hold">
                            <p:stCondLst>
                              <p:cond delay="500"/>
                            </p:stCondLst>
                            <p:childTnLst>
                              <p:par>
                                <p:cTn id="26" presetID="1" presetClass="entr" presetSubtype="0" fill="hold" nodeType="afterEffect">
                                  <p:stCondLst>
                                    <p:cond delay="0"/>
                                  </p:stCondLst>
                                  <p:childTnLst>
                                    <p:set>
                                      <p:cBhvr>
                                        <p:cTn id="27" dur="1" fill="hold">
                                          <p:stCondLst>
                                            <p:cond delay="0"/>
                                          </p:stCondLst>
                                        </p:cTn>
                                        <p:tgtEl>
                                          <p:spTgt spid="395334"/>
                                        </p:tgtEl>
                                        <p:attrNameLst>
                                          <p:attrName>style.visibility</p:attrName>
                                        </p:attrNameLst>
                                      </p:cBhvr>
                                      <p:to>
                                        <p:strVal val="visible"/>
                                      </p:to>
                                    </p:set>
                                  </p:childTnLst>
                                </p:cTn>
                              </p:par>
                            </p:childTnLst>
                          </p:cTn>
                        </p:par>
                        <p:par>
                          <p:cTn id="28" fill="hold">
                            <p:stCondLst>
                              <p:cond delay="500"/>
                            </p:stCondLst>
                            <p:childTnLst>
                              <p:par>
                                <p:cTn id="29" presetID="22" presetClass="entr" presetSubtype="4" fill="hold" grpId="0" nodeType="afterEffect">
                                  <p:stCondLst>
                                    <p:cond delay="0"/>
                                  </p:stCondLst>
                                  <p:childTnLst>
                                    <p:set>
                                      <p:cBhvr>
                                        <p:cTn id="30" dur="1" fill="hold">
                                          <p:stCondLst>
                                            <p:cond delay="0"/>
                                          </p:stCondLst>
                                        </p:cTn>
                                        <p:tgtEl>
                                          <p:spTgt spid="395335"/>
                                        </p:tgtEl>
                                        <p:attrNameLst>
                                          <p:attrName>style.visibility</p:attrName>
                                        </p:attrNameLst>
                                      </p:cBhvr>
                                      <p:to>
                                        <p:strVal val="visible"/>
                                      </p:to>
                                    </p:set>
                                    <p:animEffect transition="in" filter="wipe(down)">
                                      <p:cBhvr>
                                        <p:cTn id="31" dur="500"/>
                                        <p:tgtEl>
                                          <p:spTgt spid="3953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7" grpId="0" build="p"/>
      <p:bldP spid="395268" grpId="0" autoUpdateAnimBg="0"/>
      <p:bldP spid="395290" grpId="0" autoUpdateAnimBg="0"/>
      <p:bldP spid="39533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p:txBody>
          <a:bodyPr/>
          <a:lstStyle/>
          <a:p>
            <a:r>
              <a:rPr lang="en-US" altLang="zh-CN" dirty="0">
                <a:solidFill>
                  <a:schemeClr val="tx1"/>
                </a:solidFill>
              </a:rPr>
              <a:t>5.3.2  </a:t>
            </a:r>
            <a:r>
              <a:rPr lang="zh-CN" altLang="en-US" dirty="0">
                <a:solidFill>
                  <a:schemeClr val="tx1"/>
                </a:solidFill>
              </a:rPr>
              <a:t>向量中断控制器</a:t>
            </a:r>
          </a:p>
        </p:txBody>
      </p:sp>
      <p:graphicFrame>
        <p:nvGraphicFramePr>
          <p:cNvPr id="391173" name="Object 5"/>
          <p:cNvGraphicFramePr>
            <a:graphicFrameLocks noGrp="1" noChangeAspect="1"/>
          </p:cNvGraphicFramePr>
          <p:nvPr>
            <p:ph sz="half" idx="1"/>
            <p:extLst>
              <p:ext uri="{D42A27DB-BD31-4B8C-83A1-F6EECF244321}">
                <p14:modId xmlns:p14="http://schemas.microsoft.com/office/powerpoint/2010/main" val="1329828700"/>
              </p:ext>
            </p:extLst>
          </p:nvPr>
        </p:nvGraphicFramePr>
        <p:xfrm>
          <a:off x="3004405" y="4390659"/>
          <a:ext cx="3779837" cy="1952625"/>
        </p:xfrm>
        <a:graphic>
          <a:graphicData uri="http://schemas.openxmlformats.org/presentationml/2006/ole">
            <mc:AlternateContent xmlns:mc="http://schemas.openxmlformats.org/markup-compatibility/2006">
              <mc:Choice xmlns:v="urn:schemas-microsoft-com:vml" Requires="v">
                <p:oleObj name="Visio" r:id="rId2" imgW="3780244" imgH="1952526" progId="Visio.Drawing.11">
                  <p:embed/>
                </p:oleObj>
              </mc:Choice>
              <mc:Fallback>
                <p:oleObj name="Visio" r:id="rId2" imgW="3780244" imgH="1952526" progId="Visio.Drawing.11">
                  <p:embed/>
                  <p:pic>
                    <p:nvPicPr>
                      <p:cNvPr id="391173"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4405" y="4390659"/>
                        <a:ext cx="3779837" cy="195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1171" name="Rectangle 3"/>
          <p:cNvSpPr>
            <a:spLocks noChangeArrowheads="1"/>
          </p:cNvSpPr>
          <p:nvPr/>
        </p:nvSpPr>
        <p:spPr bwMode="auto">
          <a:xfrm>
            <a:off x="2209800" y="1557338"/>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dirty="0">
                <a:latin typeface="Times New Roman" pitchFamily="18" charset="0"/>
              </a:rPr>
              <a:t>中断分类</a:t>
            </a:r>
          </a:p>
        </p:txBody>
      </p:sp>
      <p:sp>
        <p:nvSpPr>
          <p:cNvPr id="391172" name="Text Box 4"/>
          <p:cNvSpPr txBox="1">
            <a:spLocks noChangeArrowheads="1"/>
          </p:cNvSpPr>
          <p:nvPr/>
        </p:nvSpPr>
        <p:spPr bwMode="auto">
          <a:xfrm>
            <a:off x="2768601" y="2195514"/>
            <a:ext cx="6640513" cy="1902059"/>
          </a:xfrm>
          <a:prstGeom prst="rect">
            <a:avLst/>
          </a:prstGeom>
          <a:noFill/>
          <a:ln w="9525">
            <a:noFill/>
            <a:miter lim="800000"/>
            <a:headEnd/>
            <a:tailEnd/>
          </a:ln>
          <a:effectLst/>
        </p:spPr>
        <p:txBody>
          <a:bodyPr>
            <a:spAutoFit/>
          </a:bodyPr>
          <a:lstStyle/>
          <a:p>
            <a:pPr algn="l">
              <a:spcBef>
                <a:spcPct val="50000"/>
              </a:spcBef>
            </a:pPr>
            <a:r>
              <a:rPr lang="zh-CN" altLang="en-US" sz="2400">
                <a:latin typeface="华文新魏" pitchFamily="2" charset="-122"/>
                <a:ea typeface="华文新魏" pitchFamily="2" charset="-122"/>
              </a:rPr>
              <a:t>中断输入请求可以在</a:t>
            </a:r>
            <a:r>
              <a:rPr lang="en-US" altLang="zh-CN" sz="2400">
                <a:latin typeface="华文新魏" pitchFamily="2" charset="-122"/>
                <a:ea typeface="华文新魏" pitchFamily="2" charset="-122"/>
              </a:rPr>
              <a:t>VIC</a:t>
            </a:r>
            <a:r>
              <a:rPr lang="zh-CN" altLang="en-US" sz="2400">
                <a:latin typeface="华文新魏" pitchFamily="2" charset="-122"/>
                <a:ea typeface="华文新魏" pitchFamily="2" charset="-122"/>
              </a:rPr>
              <a:t>中被设置为以下三类：</a:t>
            </a:r>
          </a:p>
          <a:p>
            <a:pPr algn="l">
              <a:spcBef>
                <a:spcPct val="50000"/>
              </a:spcBef>
              <a:buClr>
                <a:srgbClr val="0000FF"/>
              </a:buClr>
              <a:buFont typeface="Wingdings" pitchFamily="2" charset="2"/>
              <a:buChar char="§"/>
            </a:pPr>
            <a:r>
              <a:rPr lang="zh-CN" altLang="en-US" sz="2400">
                <a:latin typeface="华文新魏" pitchFamily="2" charset="-122"/>
                <a:ea typeface="华文新魏" pitchFamily="2" charset="-122"/>
              </a:rPr>
              <a:t>  </a:t>
            </a:r>
            <a:r>
              <a:rPr lang="en-US" altLang="zh-CN" sz="2400">
                <a:solidFill>
                  <a:srgbClr val="FF0000"/>
                </a:solidFill>
                <a:latin typeface="华文新魏" pitchFamily="2" charset="-122"/>
                <a:ea typeface="华文新魏" pitchFamily="2" charset="-122"/>
              </a:rPr>
              <a:t>FIQ</a:t>
            </a:r>
            <a:r>
              <a:rPr lang="zh-CN" altLang="en-US" sz="2400">
                <a:solidFill>
                  <a:srgbClr val="FF0000"/>
                </a:solidFill>
                <a:latin typeface="华文新魏" pitchFamily="2" charset="-122"/>
                <a:ea typeface="华文新魏" pitchFamily="2" charset="-122"/>
              </a:rPr>
              <a:t>中断</a:t>
            </a:r>
            <a:r>
              <a:rPr lang="zh-CN" altLang="en-US" sz="2400">
                <a:latin typeface="华文新魏" pitchFamily="2" charset="-122"/>
                <a:ea typeface="华文新魏" pitchFamily="2" charset="-122"/>
              </a:rPr>
              <a:t>：具有最高优先级；</a:t>
            </a:r>
          </a:p>
          <a:p>
            <a:pPr algn="l">
              <a:spcBef>
                <a:spcPct val="20000"/>
              </a:spcBef>
              <a:buClr>
                <a:srgbClr val="0000FF"/>
              </a:buClr>
              <a:buFont typeface="Wingdings" pitchFamily="2" charset="2"/>
              <a:buChar char="§"/>
            </a:pPr>
            <a:r>
              <a:rPr lang="zh-CN" altLang="en-US" sz="2400">
                <a:latin typeface="华文新魏" pitchFamily="2" charset="-122"/>
                <a:ea typeface="华文新魏" pitchFamily="2" charset="-122"/>
              </a:rPr>
              <a:t>  </a:t>
            </a:r>
            <a:r>
              <a:rPr lang="zh-CN" altLang="en-US" sz="2400">
                <a:solidFill>
                  <a:srgbClr val="FF0000"/>
                </a:solidFill>
                <a:latin typeface="华文新魏" pitchFamily="2" charset="-122"/>
                <a:ea typeface="华文新魏" pitchFamily="2" charset="-122"/>
              </a:rPr>
              <a:t>向量</a:t>
            </a:r>
            <a:r>
              <a:rPr lang="en-US" altLang="zh-CN" sz="2400">
                <a:solidFill>
                  <a:srgbClr val="FF0000"/>
                </a:solidFill>
                <a:latin typeface="华文新魏" pitchFamily="2" charset="-122"/>
                <a:ea typeface="华文新魏" pitchFamily="2" charset="-122"/>
              </a:rPr>
              <a:t>IRQ</a:t>
            </a:r>
            <a:r>
              <a:rPr lang="zh-CN" altLang="en-US" sz="2400">
                <a:solidFill>
                  <a:srgbClr val="FF0000"/>
                </a:solidFill>
                <a:latin typeface="华文新魏" pitchFamily="2" charset="-122"/>
                <a:ea typeface="华文新魏" pitchFamily="2" charset="-122"/>
              </a:rPr>
              <a:t>中断</a:t>
            </a:r>
            <a:r>
              <a:rPr lang="zh-CN" altLang="en-US" sz="2400">
                <a:latin typeface="华文新魏" pitchFamily="2" charset="-122"/>
                <a:ea typeface="华文新魏" pitchFamily="2" charset="-122"/>
              </a:rPr>
              <a:t>：具有中等优先级；</a:t>
            </a:r>
          </a:p>
          <a:p>
            <a:pPr algn="l">
              <a:spcBef>
                <a:spcPct val="20000"/>
              </a:spcBef>
              <a:buClr>
                <a:srgbClr val="0000FF"/>
              </a:buClr>
              <a:buFont typeface="Wingdings" pitchFamily="2" charset="2"/>
              <a:buChar char="§"/>
            </a:pPr>
            <a:r>
              <a:rPr lang="zh-CN" altLang="en-US" sz="2400">
                <a:latin typeface="华文新魏" pitchFamily="2" charset="-122"/>
                <a:ea typeface="华文新魏" pitchFamily="2" charset="-122"/>
              </a:rPr>
              <a:t>  </a:t>
            </a:r>
            <a:r>
              <a:rPr lang="zh-CN" altLang="en-US" sz="2400">
                <a:solidFill>
                  <a:srgbClr val="FF0000"/>
                </a:solidFill>
                <a:latin typeface="华文新魏" pitchFamily="2" charset="-122"/>
                <a:ea typeface="华文新魏" pitchFamily="2" charset="-122"/>
              </a:rPr>
              <a:t>非向量</a:t>
            </a:r>
            <a:r>
              <a:rPr lang="en-US" altLang="zh-CN" sz="2400">
                <a:solidFill>
                  <a:srgbClr val="FF0000"/>
                </a:solidFill>
                <a:latin typeface="华文新魏" pitchFamily="2" charset="-122"/>
                <a:ea typeface="华文新魏" pitchFamily="2" charset="-122"/>
              </a:rPr>
              <a:t>IRQ</a:t>
            </a:r>
            <a:r>
              <a:rPr lang="zh-CN" altLang="en-US" sz="2400">
                <a:solidFill>
                  <a:srgbClr val="FF0000"/>
                </a:solidFill>
                <a:latin typeface="华文新魏" pitchFamily="2" charset="-122"/>
                <a:ea typeface="华文新魏" pitchFamily="2" charset="-122"/>
              </a:rPr>
              <a:t>中断</a:t>
            </a:r>
            <a:r>
              <a:rPr lang="zh-CN" altLang="en-US" sz="2400">
                <a:latin typeface="华文新魏" pitchFamily="2" charset="-122"/>
                <a:ea typeface="华文新魏" pitchFamily="2" charset="-122"/>
              </a:rPr>
              <a:t>：具有最低优先级；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91171">
                                            <p:txEl>
                                              <p:pRg st="0" end="0"/>
                                            </p:txEl>
                                          </p:spTgt>
                                        </p:tgtEl>
                                        <p:attrNameLst>
                                          <p:attrName>style.visibility</p:attrName>
                                        </p:attrNameLst>
                                      </p:cBhvr>
                                      <p:to>
                                        <p:strVal val="visible"/>
                                      </p:to>
                                    </p:set>
                                    <p:anim calcmode="lin" valueType="num">
                                      <p:cBhvr additive="base">
                                        <p:cTn id="7" dur="500" fill="hold"/>
                                        <p:tgtEl>
                                          <p:spTgt spid="39117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91171">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391172"/>
                                        </p:tgtEl>
                                        <p:attrNameLst>
                                          <p:attrName>style.visibility</p:attrName>
                                        </p:attrNameLst>
                                      </p:cBhvr>
                                      <p:to>
                                        <p:strVal val="visible"/>
                                      </p:to>
                                    </p:set>
                                    <p:animEffect transition="in" filter="box(in)">
                                      <p:cBhvr>
                                        <p:cTn id="12" dur="500"/>
                                        <p:tgtEl>
                                          <p:spTgt spid="391172"/>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391173"/>
                                        </p:tgtEl>
                                        <p:attrNameLst>
                                          <p:attrName>style.visibility</p:attrName>
                                        </p:attrNameLst>
                                      </p:cBhvr>
                                      <p:to>
                                        <p:strVal val="visible"/>
                                      </p:to>
                                    </p:set>
                                    <p:animEffect transition="in" filter="wipe(left)">
                                      <p:cBhvr>
                                        <p:cTn id="16" dur="500"/>
                                        <p:tgtEl>
                                          <p:spTgt spid="391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1" grpId="0" build="p"/>
      <p:bldP spid="391172"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p:txBody>
          <a:bodyPr/>
          <a:lstStyle/>
          <a:p>
            <a:r>
              <a:rPr lang="en-US" altLang="zh-CN" dirty="0">
                <a:solidFill>
                  <a:schemeClr val="tx1"/>
                </a:solidFill>
              </a:rPr>
              <a:t>5.3.2</a:t>
            </a:r>
            <a:r>
              <a:rPr lang="zh-CN" altLang="en-US" dirty="0">
                <a:solidFill>
                  <a:schemeClr val="tx1"/>
                </a:solidFill>
              </a:rPr>
              <a:t>向量中断控制器</a:t>
            </a:r>
          </a:p>
        </p:txBody>
      </p:sp>
      <p:sp>
        <p:nvSpPr>
          <p:cNvPr id="393219" name="Rectangle 3"/>
          <p:cNvSpPr>
            <a:spLocks noChangeArrowheads="1"/>
          </p:cNvSpPr>
          <p:nvPr/>
        </p:nvSpPr>
        <p:spPr bwMode="auto">
          <a:xfrm>
            <a:off x="2209800" y="1722438"/>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FIQ</a:t>
            </a:r>
            <a:r>
              <a:rPr lang="zh-CN" altLang="en-US" sz="3200">
                <a:latin typeface="Times New Roman" pitchFamily="18" charset="0"/>
              </a:rPr>
              <a:t>中断硬件处理流程</a:t>
            </a:r>
          </a:p>
        </p:txBody>
      </p:sp>
      <p:sp>
        <p:nvSpPr>
          <p:cNvPr id="393223" name="Line 7"/>
          <p:cNvSpPr>
            <a:spLocks noChangeShapeType="1"/>
          </p:cNvSpPr>
          <p:nvPr/>
        </p:nvSpPr>
        <p:spPr bwMode="auto">
          <a:xfrm>
            <a:off x="5705475" y="3463925"/>
            <a:ext cx="0" cy="3810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393224" name="Line 8"/>
          <p:cNvSpPr>
            <a:spLocks noChangeShapeType="1"/>
          </p:cNvSpPr>
          <p:nvPr/>
        </p:nvSpPr>
        <p:spPr bwMode="auto">
          <a:xfrm>
            <a:off x="5718175" y="4108450"/>
            <a:ext cx="0" cy="3810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393225" name="Line 9"/>
          <p:cNvSpPr>
            <a:spLocks noChangeShapeType="1"/>
          </p:cNvSpPr>
          <p:nvPr/>
        </p:nvSpPr>
        <p:spPr bwMode="auto">
          <a:xfrm>
            <a:off x="5718175" y="4686300"/>
            <a:ext cx="0" cy="3810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393226" name="Line 10"/>
          <p:cNvSpPr>
            <a:spLocks noChangeShapeType="1"/>
          </p:cNvSpPr>
          <p:nvPr/>
        </p:nvSpPr>
        <p:spPr bwMode="auto">
          <a:xfrm>
            <a:off x="5718175" y="5356225"/>
            <a:ext cx="0" cy="3810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393227" name="Rectangle 11"/>
          <p:cNvSpPr>
            <a:spLocks noChangeArrowheads="1"/>
          </p:cNvSpPr>
          <p:nvPr/>
        </p:nvSpPr>
        <p:spPr bwMode="auto">
          <a:xfrm>
            <a:off x="4143375" y="3044825"/>
            <a:ext cx="3149600" cy="584200"/>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rPr>
              <a:t>将当前的程序状态寄存器的内容备份</a:t>
            </a:r>
          </a:p>
          <a:p>
            <a:r>
              <a:rPr lang="zh-CN" altLang="en-US" sz="1400">
                <a:latin typeface="Times New Roman" pitchFamily="18" charset="0"/>
              </a:rPr>
              <a:t>即，</a:t>
            </a:r>
            <a:r>
              <a:rPr lang="en-US" altLang="zh-CN" sz="1400">
                <a:latin typeface="Times New Roman" pitchFamily="18" charset="0"/>
              </a:rPr>
              <a:t>SPSR_fiq = CPSR</a:t>
            </a:r>
          </a:p>
        </p:txBody>
      </p:sp>
      <p:sp>
        <p:nvSpPr>
          <p:cNvPr id="393228" name="Rectangle 12"/>
          <p:cNvSpPr>
            <a:spLocks noChangeArrowheads="1"/>
          </p:cNvSpPr>
          <p:nvPr/>
        </p:nvSpPr>
        <p:spPr bwMode="auto">
          <a:xfrm>
            <a:off x="4130675" y="3835401"/>
            <a:ext cx="3149600" cy="392113"/>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rPr>
              <a:t>处理器切换到</a:t>
            </a:r>
            <a:r>
              <a:rPr lang="en-US" altLang="zh-CN" sz="1400">
                <a:latin typeface="Times New Roman" pitchFamily="18" charset="0"/>
              </a:rPr>
              <a:t>FIQ</a:t>
            </a:r>
            <a:r>
              <a:rPr lang="zh-CN" altLang="en-US" sz="1400">
                <a:latin typeface="Times New Roman" pitchFamily="18" charset="0"/>
              </a:rPr>
              <a:t>模式</a:t>
            </a:r>
          </a:p>
        </p:txBody>
      </p:sp>
      <p:sp>
        <p:nvSpPr>
          <p:cNvPr id="393229" name="Rectangle 13"/>
          <p:cNvSpPr>
            <a:spLocks noChangeArrowheads="1"/>
          </p:cNvSpPr>
          <p:nvPr/>
        </p:nvSpPr>
        <p:spPr bwMode="auto">
          <a:xfrm>
            <a:off x="4143375" y="4489450"/>
            <a:ext cx="3149600" cy="393700"/>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rPr>
              <a:t>禁止</a:t>
            </a:r>
            <a:r>
              <a:rPr lang="en-US" altLang="zh-CN" sz="1400">
                <a:latin typeface="Times New Roman" pitchFamily="18" charset="0"/>
              </a:rPr>
              <a:t>IRQ</a:t>
            </a:r>
            <a:r>
              <a:rPr lang="zh-CN" altLang="en-US" sz="1400">
                <a:latin typeface="Times New Roman" pitchFamily="18" charset="0"/>
              </a:rPr>
              <a:t>和</a:t>
            </a:r>
            <a:r>
              <a:rPr lang="en-US" altLang="zh-CN" sz="1400">
                <a:latin typeface="Times New Roman" pitchFamily="18" charset="0"/>
              </a:rPr>
              <a:t>FIQ</a:t>
            </a:r>
            <a:r>
              <a:rPr lang="zh-CN" altLang="en-US" sz="1400">
                <a:latin typeface="Times New Roman" pitchFamily="18" charset="0"/>
              </a:rPr>
              <a:t>中断，即，</a:t>
            </a:r>
            <a:r>
              <a:rPr lang="en-US" altLang="zh-CN" sz="1400">
                <a:latin typeface="Times New Roman" pitchFamily="18" charset="0"/>
              </a:rPr>
              <a:t>I = F = 1</a:t>
            </a:r>
          </a:p>
        </p:txBody>
      </p:sp>
      <p:sp>
        <p:nvSpPr>
          <p:cNvPr id="393230" name="Rectangle 14"/>
          <p:cNvSpPr>
            <a:spLocks noChangeArrowheads="1"/>
          </p:cNvSpPr>
          <p:nvPr/>
        </p:nvSpPr>
        <p:spPr bwMode="auto">
          <a:xfrm>
            <a:off x="4143375" y="5070475"/>
            <a:ext cx="3149600" cy="469900"/>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rPr>
              <a:t>保存返回地址</a:t>
            </a:r>
          </a:p>
          <a:p>
            <a:r>
              <a:rPr lang="en-US" altLang="zh-CN" sz="1400">
                <a:latin typeface="Times New Roman" pitchFamily="18" charset="0"/>
              </a:rPr>
              <a:t>LR_fiq = PC</a:t>
            </a:r>
          </a:p>
        </p:txBody>
      </p:sp>
      <p:sp>
        <p:nvSpPr>
          <p:cNvPr id="393231" name="Rectangle 15"/>
          <p:cNvSpPr>
            <a:spLocks noChangeArrowheads="1"/>
          </p:cNvSpPr>
          <p:nvPr/>
        </p:nvSpPr>
        <p:spPr bwMode="auto">
          <a:xfrm>
            <a:off x="4143375" y="5740400"/>
            <a:ext cx="3149600" cy="488950"/>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rPr>
              <a:t>设置</a:t>
            </a:r>
            <a:r>
              <a:rPr lang="en-US" altLang="zh-CN" sz="1400">
                <a:latin typeface="Times New Roman" pitchFamily="18" charset="0"/>
              </a:rPr>
              <a:t>FIQ</a:t>
            </a:r>
            <a:r>
              <a:rPr lang="zh-CN" altLang="en-US" sz="1400">
                <a:latin typeface="Times New Roman" pitchFamily="18" charset="0"/>
              </a:rPr>
              <a:t>异常入口地址</a:t>
            </a:r>
          </a:p>
          <a:p>
            <a:r>
              <a:rPr lang="en-US" altLang="zh-CN" sz="1400">
                <a:latin typeface="Times New Roman" pitchFamily="18" charset="0"/>
              </a:rPr>
              <a:t>PC = 0x1C</a:t>
            </a:r>
          </a:p>
        </p:txBody>
      </p:sp>
      <p:sp>
        <p:nvSpPr>
          <p:cNvPr id="393232" name="Line 16"/>
          <p:cNvSpPr>
            <a:spLocks noChangeShapeType="1"/>
          </p:cNvSpPr>
          <p:nvPr/>
        </p:nvSpPr>
        <p:spPr bwMode="auto">
          <a:xfrm>
            <a:off x="5715000" y="2667000"/>
            <a:ext cx="0" cy="3810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393233" name="Rectangle 17"/>
          <p:cNvSpPr>
            <a:spLocks noChangeArrowheads="1"/>
          </p:cNvSpPr>
          <p:nvPr/>
        </p:nvSpPr>
        <p:spPr bwMode="auto">
          <a:xfrm>
            <a:off x="4146551" y="2371726"/>
            <a:ext cx="3133725" cy="428625"/>
          </a:xfrm>
          <a:prstGeom prst="rect">
            <a:avLst/>
          </a:prstGeom>
          <a:solidFill>
            <a:srgbClr val="FFCC99"/>
          </a:solidFill>
          <a:ln w="9525" algn="ctr">
            <a:solidFill>
              <a:schemeClr val="tx1"/>
            </a:solidFill>
            <a:miter lim="800000"/>
            <a:headEnd/>
            <a:tailEnd/>
          </a:ln>
          <a:effectLst/>
        </p:spPr>
        <p:txBody>
          <a:bodyPr wrap="none" anchor="ctr"/>
          <a:lstStyle/>
          <a:p>
            <a:r>
              <a:rPr lang="zh-CN" altLang="en-US" sz="1400">
                <a:latin typeface="Times New Roman" pitchFamily="18" charset="0"/>
              </a:rPr>
              <a:t>发生</a:t>
            </a:r>
            <a:r>
              <a:rPr lang="en-US" altLang="zh-CN" sz="1400">
                <a:latin typeface="Times New Roman" pitchFamily="18" charset="0"/>
              </a:rPr>
              <a:t>FIQ</a:t>
            </a:r>
            <a:r>
              <a:rPr lang="zh-CN" altLang="en-US" sz="1400">
                <a:latin typeface="Times New Roman" pitchFamily="18" charset="0"/>
              </a:rPr>
              <a:t>异常事件</a:t>
            </a:r>
          </a:p>
        </p:txBody>
      </p:sp>
      <p:sp>
        <p:nvSpPr>
          <p:cNvPr id="393235" name="Rectangle 19"/>
          <p:cNvSpPr>
            <a:spLocks noChangeArrowheads="1"/>
          </p:cNvSpPr>
          <p:nvPr/>
        </p:nvSpPr>
        <p:spPr bwMode="auto">
          <a:xfrm>
            <a:off x="7369175" y="4533900"/>
            <a:ext cx="2762250" cy="304800"/>
          </a:xfrm>
          <a:prstGeom prst="rect">
            <a:avLst/>
          </a:prstGeom>
          <a:noFill/>
          <a:ln w="9525" algn="ctr">
            <a:noFill/>
            <a:miter lim="800000"/>
            <a:headEnd/>
            <a:tailEnd/>
          </a:ln>
          <a:effectLst/>
        </p:spPr>
        <p:txBody>
          <a:bodyPr wrap="none" anchor="ctr">
            <a:spAutoFit/>
          </a:bodyPr>
          <a:lstStyle/>
          <a:p>
            <a:r>
              <a:rPr lang="zh-CN" altLang="en-US" sz="1400">
                <a:solidFill>
                  <a:srgbClr val="FF0000"/>
                </a:solidFill>
                <a:latin typeface="华文新魏" pitchFamily="2" charset="-122"/>
                <a:ea typeface="华文新魏" pitchFamily="2" charset="-122"/>
              </a:rPr>
              <a:t>说明：</a:t>
            </a:r>
            <a:r>
              <a:rPr lang="en-US" altLang="zh-CN" sz="1400">
                <a:solidFill>
                  <a:srgbClr val="FF0000"/>
                </a:solidFill>
                <a:latin typeface="华文新魏" pitchFamily="2" charset="-122"/>
                <a:ea typeface="华文新魏" pitchFamily="2" charset="-122"/>
              </a:rPr>
              <a:t>ARM7</a:t>
            </a:r>
            <a:r>
              <a:rPr lang="zh-CN" altLang="en-US" sz="1400">
                <a:solidFill>
                  <a:srgbClr val="FF0000"/>
                </a:solidFill>
                <a:latin typeface="华文新魏" pitchFamily="2" charset="-122"/>
                <a:ea typeface="华文新魏" pitchFamily="2" charset="-122"/>
              </a:rPr>
              <a:t>不支持</a:t>
            </a:r>
            <a:r>
              <a:rPr lang="en-US" altLang="zh-CN" sz="1400">
                <a:solidFill>
                  <a:srgbClr val="FF0000"/>
                </a:solidFill>
                <a:latin typeface="华文新魏" pitchFamily="2" charset="-122"/>
                <a:ea typeface="华文新魏" pitchFamily="2" charset="-122"/>
              </a:rPr>
              <a:t>FIQ</a:t>
            </a:r>
            <a:r>
              <a:rPr lang="zh-CN" altLang="en-US" sz="1400">
                <a:solidFill>
                  <a:srgbClr val="FF0000"/>
                </a:solidFill>
                <a:latin typeface="华文新魏" pitchFamily="2" charset="-122"/>
                <a:ea typeface="华文新魏" pitchFamily="2" charset="-122"/>
              </a:rPr>
              <a:t>中断嵌套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93219">
                                            <p:txEl>
                                              <p:pRg st="0" end="0"/>
                                            </p:txEl>
                                          </p:spTgt>
                                        </p:tgtEl>
                                        <p:attrNameLst>
                                          <p:attrName>style.visibility</p:attrName>
                                        </p:attrNameLst>
                                      </p:cBhvr>
                                      <p:to>
                                        <p:strVal val="visible"/>
                                      </p:to>
                                    </p:set>
                                    <p:anim calcmode="lin" valueType="num">
                                      <p:cBhvr additive="base">
                                        <p:cTn id="7" dur="500" fill="hold"/>
                                        <p:tgtEl>
                                          <p:spTgt spid="39321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93219">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39323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393232"/>
                                        </p:tgtEl>
                                        <p:attrNameLst>
                                          <p:attrName>style.visibility</p:attrName>
                                        </p:attrNameLst>
                                      </p:cBhvr>
                                      <p:to>
                                        <p:strVal val="visible"/>
                                      </p:to>
                                    </p:set>
                                    <p:animEffect transition="in" filter="wipe(up)">
                                      <p:cBhvr>
                                        <p:cTn id="16" dur="500"/>
                                        <p:tgtEl>
                                          <p:spTgt spid="393232"/>
                                        </p:tgtEl>
                                      </p:cBhvr>
                                    </p:animEffect>
                                  </p:childTnLst>
                                </p:cTn>
                              </p:par>
                            </p:childTnLst>
                          </p:cTn>
                        </p:par>
                        <p:par>
                          <p:cTn id="17" fill="hold">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393227"/>
                                        </p:tgtEl>
                                        <p:attrNameLst>
                                          <p:attrName>style.visibility</p:attrName>
                                        </p:attrNameLst>
                                      </p:cBhvr>
                                      <p:to>
                                        <p:strVal val="visible"/>
                                      </p:to>
                                    </p:set>
                                    <p:animEffect transition="in" filter="wipe(up)">
                                      <p:cBhvr>
                                        <p:cTn id="20" dur="500"/>
                                        <p:tgtEl>
                                          <p:spTgt spid="39322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393223"/>
                                        </p:tgtEl>
                                        <p:attrNameLst>
                                          <p:attrName>style.visibility</p:attrName>
                                        </p:attrNameLst>
                                      </p:cBhvr>
                                      <p:to>
                                        <p:strVal val="visible"/>
                                      </p:to>
                                    </p:set>
                                    <p:animEffect transition="in" filter="wipe(up)">
                                      <p:cBhvr>
                                        <p:cTn id="25" dur="500"/>
                                        <p:tgtEl>
                                          <p:spTgt spid="393223"/>
                                        </p:tgtEl>
                                      </p:cBhvr>
                                    </p:animEffect>
                                  </p:childTnLst>
                                </p:cTn>
                              </p:par>
                            </p:childTnLst>
                          </p:cTn>
                        </p:par>
                        <p:par>
                          <p:cTn id="26" fill="hold">
                            <p:stCondLst>
                              <p:cond delay="500"/>
                            </p:stCondLst>
                            <p:childTnLst>
                              <p:par>
                                <p:cTn id="27" presetID="22" presetClass="entr" presetSubtype="1" fill="hold" grpId="0" nodeType="afterEffect">
                                  <p:stCondLst>
                                    <p:cond delay="0"/>
                                  </p:stCondLst>
                                  <p:childTnLst>
                                    <p:set>
                                      <p:cBhvr>
                                        <p:cTn id="28" dur="1" fill="hold">
                                          <p:stCondLst>
                                            <p:cond delay="0"/>
                                          </p:stCondLst>
                                        </p:cTn>
                                        <p:tgtEl>
                                          <p:spTgt spid="393228"/>
                                        </p:tgtEl>
                                        <p:attrNameLst>
                                          <p:attrName>style.visibility</p:attrName>
                                        </p:attrNameLst>
                                      </p:cBhvr>
                                      <p:to>
                                        <p:strVal val="visible"/>
                                      </p:to>
                                    </p:set>
                                    <p:animEffect transition="in" filter="wipe(up)">
                                      <p:cBhvr>
                                        <p:cTn id="29" dur="500"/>
                                        <p:tgtEl>
                                          <p:spTgt spid="39322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393224"/>
                                        </p:tgtEl>
                                        <p:attrNameLst>
                                          <p:attrName>style.visibility</p:attrName>
                                        </p:attrNameLst>
                                      </p:cBhvr>
                                      <p:to>
                                        <p:strVal val="visible"/>
                                      </p:to>
                                    </p:set>
                                    <p:animEffect transition="in" filter="wipe(up)">
                                      <p:cBhvr>
                                        <p:cTn id="34" dur="500"/>
                                        <p:tgtEl>
                                          <p:spTgt spid="393224"/>
                                        </p:tgtEl>
                                      </p:cBhvr>
                                    </p:animEffect>
                                  </p:childTnLst>
                                </p:cTn>
                              </p:par>
                            </p:childTnLst>
                          </p:cTn>
                        </p:par>
                        <p:par>
                          <p:cTn id="35" fill="hold">
                            <p:stCondLst>
                              <p:cond delay="500"/>
                            </p:stCondLst>
                            <p:childTnLst>
                              <p:par>
                                <p:cTn id="36" presetID="22" presetClass="entr" presetSubtype="1" fill="hold" grpId="0" nodeType="afterEffect">
                                  <p:stCondLst>
                                    <p:cond delay="0"/>
                                  </p:stCondLst>
                                  <p:childTnLst>
                                    <p:set>
                                      <p:cBhvr>
                                        <p:cTn id="37" dur="1" fill="hold">
                                          <p:stCondLst>
                                            <p:cond delay="0"/>
                                          </p:stCondLst>
                                        </p:cTn>
                                        <p:tgtEl>
                                          <p:spTgt spid="393229"/>
                                        </p:tgtEl>
                                        <p:attrNameLst>
                                          <p:attrName>style.visibility</p:attrName>
                                        </p:attrNameLst>
                                      </p:cBhvr>
                                      <p:to>
                                        <p:strVal val="visible"/>
                                      </p:to>
                                    </p:set>
                                    <p:animEffect transition="in" filter="wipe(up)">
                                      <p:cBhvr>
                                        <p:cTn id="38" dur="500"/>
                                        <p:tgtEl>
                                          <p:spTgt spid="393229"/>
                                        </p:tgtEl>
                                      </p:cBhvr>
                                    </p:animEffect>
                                  </p:childTnLst>
                                </p:cTn>
                              </p:par>
                            </p:childTnLst>
                          </p:cTn>
                        </p:par>
                        <p:par>
                          <p:cTn id="39" fill="hold">
                            <p:stCondLst>
                              <p:cond delay="1000"/>
                            </p:stCondLst>
                            <p:childTnLst>
                              <p:par>
                                <p:cTn id="40" presetID="2" presetClass="entr" presetSubtype="2" fill="hold" grpId="0" nodeType="afterEffect">
                                  <p:stCondLst>
                                    <p:cond delay="0"/>
                                  </p:stCondLst>
                                  <p:childTnLst>
                                    <p:set>
                                      <p:cBhvr>
                                        <p:cTn id="41" dur="1" fill="hold">
                                          <p:stCondLst>
                                            <p:cond delay="0"/>
                                          </p:stCondLst>
                                        </p:cTn>
                                        <p:tgtEl>
                                          <p:spTgt spid="393235"/>
                                        </p:tgtEl>
                                        <p:attrNameLst>
                                          <p:attrName>style.visibility</p:attrName>
                                        </p:attrNameLst>
                                      </p:cBhvr>
                                      <p:to>
                                        <p:strVal val="visible"/>
                                      </p:to>
                                    </p:set>
                                    <p:anim calcmode="lin" valueType="num">
                                      <p:cBhvr additive="base">
                                        <p:cTn id="42" dur="500" fill="hold"/>
                                        <p:tgtEl>
                                          <p:spTgt spid="393235"/>
                                        </p:tgtEl>
                                        <p:attrNameLst>
                                          <p:attrName>ppt_x</p:attrName>
                                        </p:attrNameLst>
                                      </p:cBhvr>
                                      <p:tavLst>
                                        <p:tav tm="0">
                                          <p:val>
                                            <p:strVal val="1+#ppt_w/2"/>
                                          </p:val>
                                        </p:tav>
                                        <p:tav tm="100000">
                                          <p:val>
                                            <p:strVal val="#ppt_x"/>
                                          </p:val>
                                        </p:tav>
                                      </p:tavLst>
                                    </p:anim>
                                    <p:anim calcmode="lin" valueType="num">
                                      <p:cBhvr additive="base">
                                        <p:cTn id="43" dur="500" fill="hold"/>
                                        <p:tgtEl>
                                          <p:spTgt spid="393235"/>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393225"/>
                                        </p:tgtEl>
                                        <p:attrNameLst>
                                          <p:attrName>style.visibility</p:attrName>
                                        </p:attrNameLst>
                                      </p:cBhvr>
                                      <p:to>
                                        <p:strVal val="visible"/>
                                      </p:to>
                                    </p:set>
                                    <p:animEffect transition="in" filter="wipe(up)">
                                      <p:cBhvr>
                                        <p:cTn id="48" dur="500"/>
                                        <p:tgtEl>
                                          <p:spTgt spid="393225"/>
                                        </p:tgtEl>
                                      </p:cBhvr>
                                    </p:animEffect>
                                  </p:childTnLst>
                                </p:cTn>
                              </p:par>
                            </p:childTnLst>
                          </p:cTn>
                        </p:par>
                        <p:par>
                          <p:cTn id="49" fill="hold">
                            <p:stCondLst>
                              <p:cond delay="500"/>
                            </p:stCondLst>
                            <p:childTnLst>
                              <p:par>
                                <p:cTn id="50" presetID="22" presetClass="entr" presetSubtype="1" fill="hold" grpId="0" nodeType="afterEffect">
                                  <p:stCondLst>
                                    <p:cond delay="0"/>
                                  </p:stCondLst>
                                  <p:childTnLst>
                                    <p:set>
                                      <p:cBhvr>
                                        <p:cTn id="51" dur="1" fill="hold">
                                          <p:stCondLst>
                                            <p:cond delay="0"/>
                                          </p:stCondLst>
                                        </p:cTn>
                                        <p:tgtEl>
                                          <p:spTgt spid="393230"/>
                                        </p:tgtEl>
                                        <p:attrNameLst>
                                          <p:attrName>style.visibility</p:attrName>
                                        </p:attrNameLst>
                                      </p:cBhvr>
                                      <p:to>
                                        <p:strVal val="visible"/>
                                      </p:to>
                                    </p:set>
                                    <p:animEffect transition="in" filter="wipe(up)">
                                      <p:cBhvr>
                                        <p:cTn id="52" dur="500"/>
                                        <p:tgtEl>
                                          <p:spTgt spid="39323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393226"/>
                                        </p:tgtEl>
                                        <p:attrNameLst>
                                          <p:attrName>style.visibility</p:attrName>
                                        </p:attrNameLst>
                                      </p:cBhvr>
                                      <p:to>
                                        <p:strVal val="visible"/>
                                      </p:to>
                                    </p:set>
                                    <p:animEffect transition="in" filter="wipe(up)">
                                      <p:cBhvr>
                                        <p:cTn id="57" dur="500"/>
                                        <p:tgtEl>
                                          <p:spTgt spid="393226"/>
                                        </p:tgtEl>
                                      </p:cBhvr>
                                    </p:animEffect>
                                  </p:childTnLst>
                                </p:cTn>
                              </p:par>
                            </p:childTnLst>
                          </p:cTn>
                        </p:par>
                        <p:par>
                          <p:cTn id="58" fill="hold">
                            <p:stCondLst>
                              <p:cond delay="500"/>
                            </p:stCondLst>
                            <p:childTnLst>
                              <p:par>
                                <p:cTn id="59" presetID="22" presetClass="entr" presetSubtype="1" fill="hold" grpId="0" nodeType="afterEffect">
                                  <p:stCondLst>
                                    <p:cond delay="0"/>
                                  </p:stCondLst>
                                  <p:childTnLst>
                                    <p:set>
                                      <p:cBhvr>
                                        <p:cTn id="60" dur="1" fill="hold">
                                          <p:stCondLst>
                                            <p:cond delay="0"/>
                                          </p:stCondLst>
                                        </p:cTn>
                                        <p:tgtEl>
                                          <p:spTgt spid="393231"/>
                                        </p:tgtEl>
                                        <p:attrNameLst>
                                          <p:attrName>style.visibility</p:attrName>
                                        </p:attrNameLst>
                                      </p:cBhvr>
                                      <p:to>
                                        <p:strVal val="visible"/>
                                      </p:to>
                                    </p:set>
                                    <p:animEffect transition="in" filter="wipe(up)">
                                      <p:cBhvr>
                                        <p:cTn id="61" dur="500"/>
                                        <p:tgtEl>
                                          <p:spTgt spid="393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19" grpId="0" build="p"/>
      <p:bldP spid="393223" grpId="0" animBg="1"/>
      <p:bldP spid="393224" grpId="0" animBg="1"/>
      <p:bldP spid="393225" grpId="0" animBg="1"/>
      <p:bldP spid="393226" grpId="0" animBg="1"/>
      <p:bldP spid="393227" grpId="0" animBg="1"/>
      <p:bldP spid="393228" grpId="0" animBg="1"/>
      <p:bldP spid="393229" grpId="0" animBg="1"/>
      <p:bldP spid="393230" grpId="0" animBg="1"/>
      <p:bldP spid="393231" grpId="0" animBg="1"/>
      <p:bldP spid="393232" grpId="0" animBg="1"/>
      <p:bldP spid="393233" grpId="0" animBg="1"/>
      <p:bldP spid="39323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a:lstStyle/>
          <a:p>
            <a:r>
              <a:rPr lang="en-US" altLang="zh-CN" dirty="0">
                <a:solidFill>
                  <a:schemeClr val="tx1"/>
                </a:solidFill>
              </a:rPr>
              <a:t>5.3.3  </a:t>
            </a:r>
            <a:r>
              <a:rPr lang="zh-CN" altLang="en-US" dirty="0">
                <a:solidFill>
                  <a:schemeClr val="tx1"/>
                </a:solidFill>
              </a:rPr>
              <a:t>向量中断控制器</a:t>
            </a:r>
          </a:p>
        </p:txBody>
      </p:sp>
      <p:sp>
        <p:nvSpPr>
          <p:cNvPr id="394243" name="Rectangle 3"/>
          <p:cNvSpPr>
            <a:spLocks noChangeArrowheads="1"/>
          </p:cNvSpPr>
          <p:nvPr/>
        </p:nvSpPr>
        <p:spPr bwMode="auto">
          <a:xfrm>
            <a:off x="2209800" y="1722438"/>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IRQ</a:t>
            </a:r>
            <a:r>
              <a:rPr lang="zh-CN" altLang="en-US" sz="3200">
                <a:latin typeface="Times New Roman" pitchFamily="18" charset="0"/>
              </a:rPr>
              <a:t>中断相应流程</a:t>
            </a:r>
          </a:p>
        </p:txBody>
      </p:sp>
      <p:sp>
        <p:nvSpPr>
          <p:cNvPr id="394244" name="Line 4"/>
          <p:cNvSpPr>
            <a:spLocks noChangeShapeType="1"/>
          </p:cNvSpPr>
          <p:nvPr/>
        </p:nvSpPr>
        <p:spPr bwMode="auto">
          <a:xfrm>
            <a:off x="5451475" y="3540125"/>
            <a:ext cx="0" cy="3810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394245" name="Line 5"/>
          <p:cNvSpPr>
            <a:spLocks noChangeShapeType="1"/>
          </p:cNvSpPr>
          <p:nvPr/>
        </p:nvSpPr>
        <p:spPr bwMode="auto">
          <a:xfrm>
            <a:off x="5464175" y="4121150"/>
            <a:ext cx="0" cy="3810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394246" name="Line 6"/>
          <p:cNvSpPr>
            <a:spLocks noChangeShapeType="1"/>
          </p:cNvSpPr>
          <p:nvPr/>
        </p:nvSpPr>
        <p:spPr bwMode="auto">
          <a:xfrm>
            <a:off x="5464175" y="4699000"/>
            <a:ext cx="0" cy="3810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394247" name="Line 7"/>
          <p:cNvSpPr>
            <a:spLocks noChangeShapeType="1"/>
          </p:cNvSpPr>
          <p:nvPr/>
        </p:nvSpPr>
        <p:spPr bwMode="auto">
          <a:xfrm>
            <a:off x="5464175" y="5368925"/>
            <a:ext cx="0" cy="3810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394248" name="Rectangle 8"/>
          <p:cNvSpPr>
            <a:spLocks noChangeArrowheads="1"/>
          </p:cNvSpPr>
          <p:nvPr/>
        </p:nvSpPr>
        <p:spPr bwMode="auto">
          <a:xfrm>
            <a:off x="3889375" y="3082925"/>
            <a:ext cx="3149600" cy="584200"/>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rPr>
              <a:t>将当前的程序状态寄存器的内容备份</a:t>
            </a:r>
          </a:p>
          <a:p>
            <a:r>
              <a:rPr lang="zh-CN" altLang="en-US" sz="1400">
                <a:latin typeface="Times New Roman" pitchFamily="18" charset="0"/>
              </a:rPr>
              <a:t>即，</a:t>
            </a:r>
            <a:r>
              <a:rPr lang="en-US" altLang="zh-CN" sz="1400">
                <a:latin typeface="Times New Roman" pitchFamily="18" charset="0"/>
              </a:rPr>
              <a:t>SPSR_irq = CPSR</a:t>
            </a:r>
          </a:p>
        </p:txBody>
      </p:sp>
      <p:sp>
        <p:nvSpPr>
          <p:cNvPr id="394249" name="Rectangle 9"/>
          <p:cNvSpPr>
            <a:spLocks noChangeArrowheads="1"/>
          </p:cNvSpPr>
          <p:nvPr/>
        </p:nvSpPr>
        <p:spPr bwMode="auto">
          <a:xfrm>
            <a:off x="3876675" y="3924301"/>
            <a:ext cx="3149600" cy="392113"/>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rPr>
              <a:t>处理器切换到</a:t>
            </a:r>
            <a:r>
              <a:rPr lang="en-US" altLang="zh-CN" sz="1400">
                <a:latin typeface="Times New Roman" pitchFamily="18" charset="0"/>
              </a:rPr>
              <a:t>IRQ</a:t>
            </a:r>
            <a:r>
              <a:rPr lang="zh-CN" altLang="en-US" sz="1400">
                <a:latin typeface="Times New Roman" pitchFamily="18" charset="0"/>
              </a:rPr>
              <a:t>模式</a:t>
            </a:r>
          </a:p>
        </p:txBody>
      </p:sp>
      <p:sp>
        <p:nvSpPr>
          <p:cNvPr id="394250" name="Rectangle 10"/>
          <p:cNvSpPr>
            <a:spLocks noChangeArrowheads="1"/>
          </p:cNvSpPr>
          <p:nvPr/>
        </p:nvSpPr>
        <p:spPr bwMode="auto">
          <a:xfrm>
            <a:off x="3876675" y="4502150"/>
            <a:ext cx="3149600" cy="393700"/>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rPr>
              <a:t>禁止</a:t>
            </a:r>
            <a:r>
              <a:rPr lang="en-US" altLang="zh-CN" sz="1400">
                <a:latin typeface="Times New Roman" pitchFamily="18" charset="0"/>
              </a:rPr>
              <a:t>IRQ</a:t>
            </a:r>
            <a:r>
              <a:rPr lang="zh-CN" altLang="en-US" sz="1400">
                <a:latin typeface="Times New Roman" pitchFamily="18" charset="0"/>
              </a:rPr>
              <a:t>中断，即，</a:t>
            </a:r>
            <a:r>
              <a:rPr lang="en-US" altLang="zh-CN" sz="1400">
                <a:latin typeface="Times New Roman" pitchFamily="18" charset="0"/>
              </a:rPr>
              <a:t>I = 1</a:t>
            </a:r>
          </a:p>
        </p:txBody>
      </p:sp>
      <p:sp>
        <p:nvSpPr>
          <p:cNvPr id="394251" name="Rectangle 11"/>
          <p:cNvSpPr>
            <a:spLocks noChangeArrowheads="1"/>
          </p:cNvSpPr>
          <p:nvPr/>
        </p:nvSpPr>
        <p:spPr bwMode="auto">
          <a:xfrm>
            <a:off x="3876675" y="5083175"/>
            <a:ext cx="3149600" cy="469900"/>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rPr>
              <a:t>保存返回地址</a:t>
            </a:r>
          </a:p>
          <a:p>
            <a:r>
              <a:rPr lang="en-US" altLang="zh-CN" sz="1400">
                <a:latin typeface="Times New Roman" pitchFamily="18" charset="0"/>
              </a:rPr>
              <a:t>LR_irq = PC</a:t>
            </a:r>
          </a:p>
        </p:txBody>
      </p:sp>
      <p:sp>
        <p:nvSpPr>
          <p:cNvPr id="394252" name="Rectangle 12"/>
          <p:cNvSpPr>
            <a:spLocks noChangeArrowheads="1"/>
          </p:cNvSpPr>
          <p:nvPr/>
        </p:nvSpPr>
        <p:spPr bwMode="auto">
          <a:xfrm>
            <a:off x="3876675" y="5753100"/>
            <a:ext cx="3149600" cy="488950"/>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rPr>
              <a:t>设置</a:t>
            </a:r>
            <a:r>
              <a:rPr lang="en-US" altLang="zh-CN" sz="1400">
                <a:latin typeface="Times New Roman" pitchFamily="18" charset="0"/>
              </a:rPr>
              <a:t>IRQ</a:t>
            </a:r>
            <a:r>
              <a:rPr lang="zh-CN" altLang="en-US" sz="1400">
                <a:latin typeface="Times New Roman" pitchFamily="18" charset="0"/>
              </a:rPr>
              <a:t>异常入口地址</a:t>
            </a:r>
          </a:p>
          <a:p>
            <a:r>
              <a:rPr lang="en-US" altLang="zh-CN" sz="1400">
                <a:latin typeface="Times New Roman" pitchFamily="18" charset="0"/>
              </a:rPr>
              <a:t>PC = 0x18</a:t>
            </a:r>
          </a:p>
        </p:txBody>
      </p:sp>
      <p:sp>
        <p:nvSpPr>
          <p:cNvPr id="394253" name="Line 13"/>
          <p:cNvSpPr>
            <a:spLocks noChangeShapeType="1"/>
          </p:cNvSpPr>
          <p:nvPr/>
        </p:nvSpPr>
        <p:spPr bwMode="auto">
          <a:xfrm>
            <a:off x="5461000" y="2679700"/>
            <a:ext cx="0" cy="381000"/>
          </a:xfrm>
          <a:prstGeom prst="line">
            <a:avLst/>
          </a:prstGeom>
          <a:noFill/>
          <a:ln w="19050">
            <a:solidFill>
              <a:schemeClr val="tx1"/>
            </a:solidFill>
            <a:round/>
            <a:headEnd/>
            <a:tailEnd type="triangle" w="med" len="med"/>
          </a:ln>
          <a:effectLst/>
        </p:spPr>
        <p:txBody>
          <a:bodyPr wrap="none" anchor="ctr"/>
          <a:lstStyle/>
          <a:p>
            <a:endParaRPr lang="zh-CN" altLang="en-US"/>
          </a:p>
        </p:txBody>
      </p:sp>
      <p:sp>
        <p:nvSpPr>
          <p:cNvPr id="394254" name="Rectangle 14"/>
          <p:cNvSpPr>
            <a:spLocks noChangeArrowheads="1"/>
          </p:cNvSpPr>
          <p:nvPr/>
        </p:nvSpPr>
        <p:spPr bwMode="auto">
          <a:xfrm>
            <a:off x="3892551" y="2384426"/>
            <a:ext cx="3133725" cy="428625"/>
          </a:xfrm>
          <a:prstGeom prst="rect">
            <a:avLst/>
          </a:prstGeom>
          <a:solidFill>
            <a:srgbClr val="FFCC99"/>
          </a:solidFill>
          <a:ln w="9525" algn="ctr">
            <a:solidFill>
              <a:schemeClr val="tx1"/>
            </a:solidFill>
            <a:miter lim="800000"/>
            <a:headEnd/>
            <a:tailEnd/>
          </a:ln>
          <a:effectLst/>
        </p:spPr>
        <p:txBody>
          <a:bodyPr wrap="none" anchor="ctr"/>
          <a:lstStyle/>
          <a:p>
            <a:r>
              <a:rPr lang="zh-CN" altLang="en-US" sz="1400">
                <a:latin typeface="Times New Roman" pitchFamily="18" charset="0"/>
              </a:rPr>
              <a:t>发生</a:t>
            </a:r>
            <a:r>
              <a:rPr lang="en-US" altLang="zh-CN" sz="1400">
                <a:latin typeface="Times New Roman" pitchFamily="18" charset="0"/>
              </a:rPr>
              <a:t>IRQ</a:t>
            </a:r>
            <a:r>
              <a:rPr lang="zh-CN" altLang="en-US" sz="1400">
                <a:latin typeface="Times New Roman" pitchFamily="18" charset="0"/>
              </a:rPr>
              <a:t>异常事件</a:t>
            </a:r>
          </a:p>
        </p:txBody>
      </p:sp>
      <p:sp>
        <p:nvSpPr>
          <p:cNvPr id="394255" name="Rectangle 15"/>
          <p:cNvSpPr>
            <a:spLocks noChangeArrowheads="1"/>
          </p:cNvSpPr>
          <p:nvPr/>
        </p:nvSpPr>
        <p:spPr bwMode="auto">
          <a:xfrm>
            <a:off x="7358064" y="4533900"/>
            <a:ext cx="2782887" cy="304800"/>
          </a:xfrm>
          <a:prstGeom prst="rect">
            <a:avLst/>
          </a:prstGeom>
          <a:noFill/>
          <a:ln w="9525" algn="ctr">
            <a:noFill/>
            <a:miter lim="800000"/>
            <a:headEnd/>
            <a:tailEnd/>
          </a:ln>
          <a:effectLst/>
        </p:spPr>
        <p:txBody>
          <a:bodyPr wrap="none" anchor="ctr">
            <a:spAutoFit/>
          </a:bodyPr>
          <a:lstStyle/>
          <a:p>
            <a:r>
              <a:rPr lang="zh-CN" altLang="en-US" sz="1400">
                <a:solidFill>
                  <a:srgbClr val="FF0000"/>
                </a:solidFill>
                <a:latin typeface="华文新魏" pitchFamily="2" charset="-122"/>
                <a:ea typeface="华文新魏" pitchFamily="2" charset="-122"/>
              </a:rPr>
              <a:t>说明：</a:t>
            </a:r>
            <a:r>
              <a:rPr lang="en-US" altLang="zh-CN" sz="1400">
                <a:solidFill>
                  <a:srgbClr val="FF0000"/>
                </a:solidFill>
                <a:latin typeface="华文新魏" pitchFamily="2" charset="-122"/>
                <a:ea typeface="华文新魏" pitchFamily="2" charset="-122"/>
              </a:rPr>
              <a:t>ARM7</a:t>
            </a:r>
            <a:r>
              <a:rPr lang="zh-CN" altLang="en-US" sz="1400">
                <a:solidFill>
                  <a:srgbClr val="FF0000"/>
                </a:solidFill>
                <a:latin typeface="华文新魏" pitchFamily="2" charset="-122"/>
                <a:ea typeface="华文新魏" pitchFamily="2" charset="-122"/>
              </a:rPr>
              <a:t>不支持</a:t>
            </a:r>
            <a:r>
              <a:rPr lang="en-US" altLang="zh-CN" sz="1400">
                <a:solidFill>
                  <a:srgbClr val="FF0000"/>
                </a:solidFill>
                <a:latin typeface="华文新魏" pitchFamily="2" charset="-122"/>
                <a:ea typeface="华文新魏" pitchFamily="2" charset="-122"/>
              </a:rPr>
              <a:t>IRQ</a:t>
            </a:r>
            <a:r>
              <a:rPr lang="zh-CN" altLang="en-US" sz="1400">
                <a:solidFill>
                  <a:srgbClr val="FF0000"/>
                </a:solidFill>
                <a:latin typeface="华文新魏" pitchFamily="2" charset="-122"/>
                <a:ea typeface="华文新魏" pitchFamily="2" charset="-122"/>
              </a:rPr>
              <a:t>中断嵌套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94243">
                                            <p:txEl>
                                              <p:pRg st="0" end="0"/>
                                            </p:txEl>
                                          </p:spTgt>
                                        </p:tgtEl>
                                        <p:attrNameLst>
                                          <p:attrName>style.visibility</p:attrName>
                                        </p:attrNameLst>
                                      </p:cBhvr>
                                      <p:to>
                                        <p:strVal val="visible"/>
                                      </p:to>
                                    </p:set>
                                    <p:anim calcmode="lin" valueType="num">
                                      <p:cBhvr additive="base">
                                        <p:cTn id="7" dur="500" fill="hold"/>
                                        <p:tgtEl>
                                          <p:spTgt spid="39424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9424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394254"/>
                                        </p:tgtEl>
                                        <p:attrNameLst>
                                          <p:attrName>style.visibility</p:attrName>
                                        </p:attrNameLst>
                                      </p:cBhvr>
                                      <p:to>
                                        <p:strVal val="visible"/>
                                      </p:to>
                                    </p:set>
                                    <p:animEffect transition="in" filter="blinds(horizontal)">
                                      <p:cBhvr>
                                        <p:cTn id="12" dur="500"/>
                                        <p:tgtEl>
                                          <p:spTgt spid="39425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94253"/>
                                        </p:tgtEl>
                                        <p:attrNameLst>
                                          <p:attrName>style.visibility</p:attrName>
                                        </p:attrNameLst>
                                      </p:cBhvr>
                                      <p:to>
                                        <p:strVal val="visible"/>
                                      </p:to>
                                    </p:set>
                                    <p:animEffect transition="in" filter="wipe(up)">
                                      <p:cBhvr>
                                        <p:cTn id="17" dur="500"/>
                                        <p:tgtEl>
                                          <p:spTgt spid="394253"/>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394248"/>
                                        </p:tgtEl>
                                        <p:attrNameLst>
                                          <p:attrName>style.visibility</p:attrName>
                                        </p:attrNameLst>
                                      </p:cBhvr>
                                      <p:to>
                                        <p:strVal val="visible"/>
                                      </p:to>
                                    </p:set>
                                    <p:animEffect transition="in" filter="wipe(up)">
                                      <p:cBhvr>
                                        <p:cTn id="21" dur="500"/>
                                        <p:tgtEl>
                                          <p:spTgt spid="39424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394244"/>
                                        </p:tgtEl>
                                        <p:attrNameLst>
                                          <p:attrName>style.visibility</p:attrName>
                                        </p:attrNameLst>
                                      </p:cBhvr>
                                      <p:to>
                                        <p:strVal val="visible"/>
                                      </p:to>
                                    </p:set>
                                    <p:animEffect transition="in" filter="wipe(up)">
                                      <p:cBhvr>
                                        <p:cTn id="26" dur="500"/>
                                        <p:tgtEl>
                                          <p:spTgt spid="394244"/>
                                        </p:tgtEl>
                                      </p:cBhvr>
                                    </p:animEffect>
                                  </p:childTnLst>
                                </p:cTn>
                              </p:par>
                            </p:childTnLst>
                          </p:cTn>
                        </p:par>
                        <p:par>
                          <p:cTn id="27" fill="hold">
                            <p:stCondLst>
                              <p:cond delay="500"/>
                            </p:stCondLst>
                            <p:childTnLst>
                              <p:par>
                                <p:cTn id="28" presetID="22" presetClass="entr" presetSubtype="1" fill="hold" grpId="0" nodeType="afterEffect">
                                  <p:stCondLst>
                                    <p:cond delay="0"/>
                                  </p:stCondLst>
                                  <p:childTnLst>
                                    <p:set>
                                      <p:cBhvr>
                                        <p:cTn id="29" dur="1" fill="hold">
                                          <p:stCondLst>
                                            <p:cond delay="0"/>
                                          </p:stCondLst>
                                        </p:cTn>
                                        <p:tgtEl>
                                          <p:spTgt spid="394249"/>
                                        </p:tgtEl>
                                        <p:attrNameLst>
                                          <p:attrName>style.visibility</p:attrName>
                                        </p:attrNameLst>
                                      </p:cBhvr>
                                      <p:to>
                                        <p:strVal val="visible"/>
                                      </p:to>
                                    </p:set>
                                    <p:animEffect transition="in" filter="wipe(up)">
                                      <p:cBhvr>
                                        <p:cTn id="30" dur="500"/>
                                        <p:tgtEl>
                                          <p:spTgt spid="39424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394245"/>
                                        </p:tgtEl>
                                        <p:attrNameLst>
                                          <p:attrName>style.visibility</p:attrName>
                                        </p:attrNameLst>
                                      </p:cBhvr>
                                      <p:to>
                                        <p:strVal val="visible"/>
                                      </p:to>
                                    </p:set>
                                    <p:animEffect transition="in" filter="wipe(up)">
                                      <p:cBhvr>
                                        <p:cTn id="35" dur="500"/>
                                        <p:tgtEl>
                                          <p:spTgt spid="394245"/>
                                        </p:tgtEl>
                                      </p:cBhvr>
                                    </p:animEffect>
                                  </p:childTnLst>
                                </p:cTn>
                              </p:par>
                            </p:childTnLst>
                          </p:cTn>
                        </p:par>
                        <p:par>
                          <p:cTn id="36" fill="hold">
                            <p:stCondLst>
                              <p:cond delay="500"/>
                            </p:stCondLst>
                            <p:childTnLst>
                              <p:par>
                                <p:cTn id="37" presetID="22" presetClass="entr" presetSubtype="1" fill="hold" grpId="0" nodeType="afterEffect">
                                  <p:stCondLst>
                                    <p:cond delay="0"/>
                                  </p:stCondLst>
                                  <p:childTnLst>
                                    <p:set>
                                      <p:cBhvr>
                                        <p:cTn id="38" dur="1" fill="hold">
                                          <p:stCondLst>
                                            <p:cond delay="0"/>
                                          </p:stCondLst>
                                        </p:cTn>
                                        <p:tgtEl>
                                          <p:spTgt spid="394250"/>
                                        </p:tgtEl>
                                        <p:attrNameLst>
                                          <p:attrName>style.visibility</p:attrName>
                                        </p:attrNameLst>
                                      </p:cBhvr>
                                      <p:to>
                                        <p:strVal val="visible"/>
                                      </p:to>
                                    </p:set>
                                    <p:animEffect transition="in" filter="wipe(up)">
                                      <p:cBhvr>
                                        <p:cTn id="39" dur="500"/>
                                        <p:tgtEl>
                                          <p:spTgt spid="394250"/>
                                        </p:tgtEl>
                                      </p:cBhvr>
                                    </p:animEffect>
                                  </p:childTnLst>
                                </p:cTn>
                              </p:par>
                            </p:childTnLst>
                          </p:cTn>
                        </p:par>
                        <p:par>
                          <p:cTn id="40" fill="hold">
                            <p:stCondLst>
                              <p:cond delay="1000"/>
                            </p:stCondLst>
                            <p:childTnLst>
                              <p:par>
                                <p:cTn id="41" presetID="2" presetClass="entr" presetSubtype="2" fill="hold" grpId="0" nodeType="afterEffect">
                                  <p:stCondLst>
                                    <p:cond delay="0"/>
                                  </p:stCondLst>
                                  <p:childTnLst>
                                    <p:set>
                                      <p:cBhvr>
                                        <p:cTn id="42" dur="1" fill="hold">
                                          <p:stCondLst>
                                            <p:cond delay="0"/>
                                          </p:stCondLst>
                                        </p:cTn>
                                        <p:tgtEl>
                                          <p:spTgt spid="394255"/>
                                        </p:tgtEl>
                                        <p:attrNameLst>
                                          <p:attrName>style.visibility</p:attrName>
                                        </p:attrNameLst>
                                      </p:cBhvr>
                                      <p:to>
                                        <p:strVal val="visible"/>
                                      </p:to>
                                    </p:set>
                                    <p:anim calcmode="lin" valueType="num">
                                      <p:cBhvr additive="base">
                                        <p:cTn id="43" dur="500" fill="hold"/>
                                        <p:tgtEl>
                                          <p:spTgt spid="394255"/>
                                        </p:tgtEl>
                                        <p:attrNameLst>
                                          <p:attrName>ppt_x</p:attrName>
                                        </p:attrNameLst>
                                      </p:cBhvr>
                                      <p:tavLst>
                                        <p:tav tm="0">
                                          <p:val>
                                            <p:strVal val="1+#ppt_w/2"/>
                                          </p:val>
                                        </p:tav>
                                        <p:tav tm="100000">
                                          <p:val>
                                            <p:strVal val="#ppt_x"/>
                                          </p:val>
                                        </p:tav>
                                      </p:tavLst>
                                    </p:anim>
                                    <p:anim calcmode="lin" valueType="num">
                                      <p:cBhvr additive="base">
                                        <p:cTn id="44" dur="500" fill="hold"/>
                                        <p:tgtEl>
                                          <p:spTgt spid="394255"/>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394246"/>
                                        </p:tgtEl>
                                        <p:attrNameLst>
                                          <p:attrName>style.visibility</p:attrName>
                                        </p:attrNameLst>
                                      </p:cBhvr>
                                      <p:to>
                                        <p:strVal val="visible"/>
                                      </p:to>
                                    </p:set>
                                    <p:animEffect transition="in" filter="wipe(up)">
                                      <p:cBhvr>
                                        <p:cTn id="49" dur="500"/>
                                        <p:tgtEl>
                                          <p:spTgt spid="394246"/>
                                        </p:tgtEl>
                                      </p:cBhvr>
                                    </p:animEffect>
                                  </p:childTnLst>
                                </p:cTn>
                              </p:par>
                            </p:childTnLst>
                          </p:cTn>
                        </p:par>
                        <p:par>
                          <p:cTn id="50" fill="hold">
                            <p:stCondLst>
                              <p:cond delay="500"/>
                            </p:stCondLst>
                            <p:childTnLst>
                              <p:par>
                                <p:cTn id="51" presetID="22" presetClass="entr" presetSubtype="1" fill="hold" grpId="0" nodeType="afterEffect">
                                  <p:stCondLst>
                                    <p:cond delay="0"/>
                                  </p:stCondLst>
                                  <p:childTnLst>
                                    <p:set>
                                      <p:cBhvr>
                                        <p:cTn id="52" dur="1" fill="hold">
                                          <p:stCondLst>
                                            <p:cond delay="0"/>
                                          </p:stCondLst>
                                        </p:cTn>
                                        <p:tgtEl>
                                          <p:spTgt spid="394251"/>
                                        </p:tgtEl>
                                        <p:attrNameLst>
                                          <p:attrName>style.visibility</p:attrName>
                                        </p:attrNameLst>
                                      </p:cBhvr>
                                      <p:to>
                                        <p:strVal val="visible"/>
                                      </p:to>
                                    </p:set>
                                    <p:animEffect transition="in" filter="wipe(up)">
                                      <p:cBhvr>
                                        <p:cTn id="53" dur="500"/>
                                        <p:tgtEl>
                                          <p:spTgt spid="394251"/>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394247"/>
                                        </p:tgtEl>
                                        <p:attrNameLst>
                                          <p:attrName>style.visibility</p:attrName>
                                        </p:attrNameLst>
                                      </p:cBhvr>
                                      <p:to>
                                        <p:strVal val="visible"/>
                                      </p:to>
                                    </p:set>
                                    <p:animEffect transition="in" filter="wipe(up)">
                                      <p:cBhvr>
                                        <p:cTn id="58" dur="500"/>
                                        <p:tgtEl>
                                          <p:spTgt spid="394247"/>
                                        </p:tgtEl>
                                      </p:cBhvr>
                                    </p:animEffect>
                                  </p:childTnLst>
                                </p:cTn>
                              </p:par>
                            </p:childTnLst>
                          </p:cTn>
                        </p:par>
                        <p:par>
                          <p:cTn id="59" fill="hold">
                            <p:stCondLst>
                              <p:cond delay="500"/>
                            </p:stCondLst>
                            <p:childTnLst>
                              <p:par>
                                <p:cTn id="60" presetID="22" presetClass="entr" presetSubtype="1" fill="hold" grpId="0" nodeType="afterEffect">
                                  <p:stCondLst>
                                    <p:cond delay="0"/>
                                  </p:stCondLst>
                                  <p:childTnLst>
                                    <p:set>
                                      <p:cBhvr>
                                        <p:cTn id="61" dur="1" fill="hold">
                                          <p:stCondLst>
                                            <p:cond delay="0"/>
                                          </p:stCondLst>
                                        </p:cTn>
                                        <p:tgtEl>
                                          <p:spTgt spid="394252"/>
                                        </p:tgtEl>
                                        <p:attrNameLst>
                                          <p:attrName>style.visibility</p:attrName>
                                        </p:attrNameLst>
                                      </p:cBhvr>
                                      <p:to>
                                        <p:strVal val="visible"/>
                                      </p:to>
                                    </p:set>
                                    <p:animEffect transition="in" filter="wipe(up)">
                                      <p:cBhvr>
                                        <p:cTn id="62" dur="500"/>
                                        <p:tgtEl>
                                          <p:spTgt spid="394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3" grpId="0" build="p"/>
      <p:bldP spid="394244" grpId="0" animBg="1"/>
      <p:bldP spid="394245" grpId="0" animBg="1"/>
      <p:bldP spid="394246" grpId="0" animBg="1"/>
      <p:bldP spid="394247" grpId="0" animBg="1"/>
      <p:bldP spid="394248" grpId="0" animBg="1"/>
      <p:bldP spid="394249" grpId="0" animBg="1"/>
      <p:bldP spid="394250" grpId="0" animBg="1"/>
      <p:bldP spid="394251" grpId="0" animBg="1"/>
      <p:bldP spid="394252" grpId="0" animBg="1"/>
      <p:bldP spid="394253" grpId="0" animBg="1"/>
      <p:bldP spid="394254" grpId="0" animBg="1"/>
      <p:bldP spid="39425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670" name="Group 270"/>
          <p:cNvGrpSpPr>
            <a:grpSpLocks/>
          </p:cNvGrpSpPr>
          <p:nvPr/>
        </p:nvGrpSpPr>
        <p:grpSpPr bwMode="auto">
          <a:xfrm>
            <a:off x="2082800" y="692150"/>
            <a:ext cx="8116888" cy="5865814"/>
            <a:chOff x="352" y="421"/>
            <a:chExt cx="5113" cy="3695"/>
          </a:xfrm>
        </p:grpSpPr>
        <p:sp>
          <p:nvSpPr>
            <p:cNvPr id="358507" name="Line 107"/>
            <p:cNvSpPr>
              <a:spLocks noChangeShapeType="1"/>
            </p:cNvSpPr>
            <p:nvPr/>
          </p:nvSpPr>
          <p:spPr bwMode="auto">
            <a:xfrm flipH="1">
              <a:off x="1973" y="2523"/>
              <a:ext cx="0" cy="98"/>
            </a:xfrm>
            <a:prstGeom prst="line">
              <a:avLst/>
            </a:prstGeom>
            <a:noFill/>
            <a:ln w="28575">
              <a:solidFill>
                <a:schemeClr val="tx1"/>
              </a:solidFill>
              <a:prstDash val="sysDot"/>
              <a:round/>
              <a:headEnd/>
              <a:tailEnd/>
            </a:ln>
            <a:effectLst/>
          </p:spPr>
          <p:txBody>
            <a:bodyPr/>
            <a:lstStyle/>
            <a:p>
              <a:endParaRPr lang="zh-CN" altLang="en-US"/>
            </a:p>
          </p:txBody>
        </p:sp>
        <p:sp>
          <p:nvSpPr>
            <p:cNvPr id="358508" name="Rectangle 108"/>
            <p:cNvSpPr>
              <a:spLocks noChangeArrowheads="1"/>
            </p:cNvSpPr>
            <p:nvPr/>
          </p:nvSpPr>
          <p:spPr bwMode="auto">
            <a:xfrm>
              <a:off x="1383" y="1616"/>
              <a:ext cx="1225" cy="907"/>
            </a:xfrm>
            <a:prstGeom prst="rect">
              <a:avLst/>
            </a:prstGeom>
            <a:solidFill>
              <a:srgbClr val="CCFFCC"/>
            </a:solidFill>
            <a:ln w="9525" algn="ctr">
              <a:solidFill>
                <a:schemeClr val="tx1"/>
              </a:solidFill>
              <a:miter lim="800000"/>
              <a:headEnd/>
              <a:tailEnd/>
            </a:ln>
            <a:effectLst/>
          </p:spPr>
          <p:txBody>
            <a:bodyPr wrap="none" anchor="ctr"/>
            <a:lstStyle/>
            <a:p>
              <a:endParaRPr lang="zh-CN" altLang="en-US"/>
            </a:p>
          </p:txBody>
        </p:sp>
        <p:sp>
          <p:nvSpPr>
            <p:cNvPr id="358509" name="Rectangle 109"/>
            <p:cNvSpPr>
              <a:spLocks noChangeArrowheads="1"/>
            </p:cNvSpPr>
            <p:nvPr/>
          </p:nvSpPr>
          <p:spPr bwMode="auto">
            <a:xfrm>
              <a:off x="1383" y="3567"/>
              <a:ext cx="1225" cy="407"/>
            </a:xfrm>
            <a:prstGeom prst="rect">
              <a:avLst/>
            </a:prstGeom>
            <a:solidFill>
              <a:srgbClr val="CCFFCC"/>
            </a:solidFill>
            <a:ln w="9525" algn="ctr">
              <a:solidFill>
                <a:schemeClr val="tx1"/>
              </a:solidFill>
              <a:miter lim="800000"/>
              <a:headEnd/>
              <a:tailEnd/>
            </a:ln>
            <a:effectLst/>
          </p:spPr>
          <p:txBody>
            <a:bodyPr wrap="none" anchor="ctr"/>
            <a:lstStyle/>
            <a:p>
              <a:endParaRPr lang="zh-CN" altLang="en-US"/>
            </a:p>
          </p:txBody>
        </p:sp>
        <p:sp>
          <p:nvSpPr>
            <p:cNvPr id="358511" name="Rectangle 111"/>
            <p:cNvSpPr>
              <a:spLocks noChangeArrowheads="1"/>
            </p:cNvSpPr>
            <p:nvPr/>
          </p:nvSpPr>
          <p:spPr bwMode="auto">
            <a:xfrm>
              <a:off x="1429" y="1971"/>
              <a:ext cx="720" cy="170"/>
            </a:xfrm>
            <a:prstGeom prst="rect">
              <a:avLst/>
            </a:prstGeom>
            <a:noFill/>
            <a:ln w="9525" algn="ctr">
              <a:noFill/>
              <a:miter lim="800000"/>
              <a:headEnd/>
              <a:tailEnd/>
            </a:ln>
            <a:effectLst/>
          </p:spPr>
          <p:txBody>
            <a:bodyPr/>
            <a:lstStyle/>
            <a:p>
              <a:pPr algn="l">
                <a:spcBef>
                  <a:spcPct val="20000"/>
                </a:spcBef>
              </a:pPr>
              <a:r>
                <a:rPr lang="zh-CN" altLang="en-US" dirty="0">
                  <a:latin typeface="Arial" charset="0"/>
                </a:rPr>
                <a:t>向量</a:t>
              </a:r>
              <a:r>
                <a:rPr lang="en-US" altLang="zh-CN" dirty="0">
                  <a:latin typeface="Arial" charset="0"/>
                </a:rPr>
                <a:t>IRQ0</a:t>
              </a:r>
              <a:r>
                <a:rPr lang="zh-CN" altLang="en-US" dirty="0">
                  <a:latin typeface="Arial" charset="0"/>
                </a:rPr>
                <a:t>使能</a:t>
              </a:r>
            </a:p>
          </p:txBody>
        </p:sp>
        <p:sp>
          <p:nvSpPr>
            <p:cNvPr id="358512" name="Rectangle 112"/>
            <p:cNvSpPr>
              <a:spLocks noChangeArrowheads="1"/>
            </p:cNvSpPr>
            <p:nvPr/>
          </p:nvSpPr>
          <p:spPr bwMode="auto">
            <a:xfrm>
              <a:off x="2149" y="1971"/>
              <a:ext cx="413" cy="170"/>
            </a:xfrm>
            <a:prstGeom prst="rect">
              <a:avLst/>
            </a:prstGeom>
            <a:noFill/>
            <a:ln w="9525" algn="ctr">
              <a:noFill/>
              <a:miter lim="800000"/>
              <a:headEnd/>
              <a:tailEnd/>
            </a:ln>
            <a:effectLst/>
          </p:spPr>
          <p:txBody>
            <a:bodyPr/>
            <a:lstStyle/>
            <a:p>
              <a:pPr algn="l">
                <a:spcBef>
                  <a:spcPct val="20000"/>
                </a:spcBef>
              </a:pPr>
              <a:r>
                <a:rPr lang="zh-CN" altLang="en-US">
                  <a:latin typeface="Arial" charset="0"/>
                </a:rPr>
                <a:t>中断源</a:t>
              </a:r>
            </a:p>
          </p:txBody>
        </p:sp>
        <p:sp>
          <p:nvSpPr>
            <p:cNvPr id="358513" name="Rectangle 113"/>
            <p:cNvSpPr>
              <a:spLocks noChangeArrowheads="1"/>
            </p:cNvSpPr>
            <p:nvPr/>
          </p:nvSpPr>
          <p:spPr bwMode="auto">
            <a:xfrm>
              <a:off x="1429" y="1661"/>
              <a:ext cx="1133" cy="310"/>
            </a:xfrm>
            <a:prstGeom prst="rect">
              <a:avLst/>
            </a:prstGeom>
            <a:solidFill>
              <a:srgbClr val="CCFFFF"/>
            </a:solidFill>
            <a:ln w="9525" algn="ctr">
              <a:noFill/>
              <a:miter lim="800000"/>
              <a:headEnd/>
              <a:tailEnd/>
            </a:ln>
            <a:effectLst/>
          </p:spPr>
          <p:txBody>
            <a:bodyPr/>
            <a:lstStyle/>
            <a:p>
              <a:pPr>
                <a:spcBef>
                  <a:spcPct val="20000"/>
                </a:spcBef>
              </a:pPr>
              <a:r>
                <a:rPr lang="zh-CN" altLang="en-US" sz="1200">
                  <a:latin typeface="Arial" charset="0"/>
                </a:rPr>
                <a:t>向量</a:t>
              </a:r>
              <a:r>
                <a:rPr lang="en-US" altLang="zh-CN" sz="1200">
                  <a:latin typeface="Arial" charset="0"/>
                </a:rPr>
                <a:t>IRQ0</a:t>
              </a:r>
              <a:r>
                <a:rPr lang="zh-CN" altLang="en-US" sz="1200">
                  <a:latin typeface="Arial" charset="0"/>
                </a:rPr>
                <a:t>控制寄存器</a:t>
              </a:r>
            </a:p>
            <a:p>
              <a:pPr>
                <a:spcBef>
                  <a:spcPct val="20000"/>
                </a:spcBef>
              </a:pPr>
              <a:r>
                <a:rPr lang="en-US" altLang="zh-CN" sz="1200">
                  <a:latin typeface="Arial" charset="0"/>
                </a:rPr>
                <a:t>VICVectCntl0</a:t>
              </a:r>
            </a:p>
          </p:txBody>
        </p:sp>
        <p:sp>
          <p:nvSpPr>
            <p:cNvPr id="358514" name="Line 114"/>
            <p:cNvSpPr>
              <a:spLocks noChangeShapeType="1"/>
            </p:cNvSpPr>
            <p:nvPr/>
          </p:nvSpPr>
          <p:spPr bwMode="auto">
            <a:xfrm>
              <a:off x="1429" y="1661"/>
              <a:ext cx="1133" cy="0"/>
            </a:xfrm>
            <a:prstGeom prst="line">
              <a:avLst/>
            </a:prstGeom>
            <a:noFill/>
            <a:ln w="12700" cap="sq">
              <a:solidFill>
                <a:schemeClr val="tx1"/>
              </a:solidFill>
              <a:round/>
              <a:headEnd/>
              <a:tailEnd/>
            </a:ln>
            <a:effectLst/>
          </p:spPr>
          <p:txBody>
            <a:bodyPr/>
            <a:lstStyle/>
            <a:p>
              <a:endParaRPr lang="zh-CN" altLang="en-US"/>
            </a:p>
          </p:txBody>
        </p:sp>
        <p:sp>
          <p:nvSpPr>
            <p:cNvPr id="358515" name="Line 115"/>
            <p:cNvSpPr>
              <a:spLocks noChangeShapeType="1"/>
            </p:cNvSpPr>
            <p:nvPr/>
          </p:nvSpPr>
          <p:spPr bwMode="auto">
            <a:xfrm>
              <a:off x="1429" y="2141"/>
              <a:ext cx="1133" cy="0"/>
            </a:xfrm>
            <a:prstGeom prst="line">
              <a:avLst/>
            </a:prstGeom>
            <a:noFill/>
            <a:ln w="12700" cap="sq">
              <a:solidFill>
                <a:schemeClr val="tx1"/>
              </a:solidFill>
              <a:round/>
              <a:headEnd/>
              <a:tailEnd/>
            </a:ln>
            <a:effectLst/>
          </p:spPr>
          <p:txBody>
            <a:bodyPr/>
            <a:lstStyle/>
            <a:p>
              <a:endParaRPr lang="zh-CN" altLang="en-US"/>
            </a:p>
          </p:txBody>
        </p:sp>
        <p:sp>
          <p:nvSpPr>
            <p:cNvPr id="358516" name="Line 116"/>
            <p:cNvSpPr>
              <a:spLocks noChangeShapeType="1"/>
            </p:cNvSpPr>
            <p:nvPr/>
          </p:nvSpPr>
          <p:spPr bwMode="auto">
            <a:xfrm>
              <a:off x="1429" y="1661"/>
              <a:ext cx="0" cy="480"/>
            </a:xfrm>
            <a:prstGeom prst="line">
              <a:avLst/>
            </a:prstGeom>
            <a:noFill/>
            <a:ln w="12700" cap="sq">
              <a:solidFill>
                <a:schemeClr val="tx1"/>
              </a:solidFill>
              <a:round/>
              <a:headEnd/>
              <a:tailEnd/>
            </a:ln>
            <a:effectLst/>
          </p:spPr>
          <p:txBody>
            <a:bodyPr/>
            <a:lstStyle/>
            <a:p>
              <a:endParaRPr lang="zh-CN" altLang="en-US"/>
            </a:p>
          </p:txBody>
        </p:sp>
        <p:sp>
          <p:nvSpPr>
            <p:cNvPr id="358517" name="Line 117"/>
            <p:cNvSpPr>
              <a:spLocks noChangeShapeType="1"/>
            </p:cNvSpPr>
            <p:nvPr/>
          </p:nvSpPr>
          <p:spPr bwMode="auto">
            <a:xfrm>
              <a:off x="2562" y="1661"/>
              <a:ext cx="0" cy="480"/>
            </a:xfrm>
            <a:prstGeom prst="line">
              <a:avLst/>
            </a:prstGeom>
            <a:noFill/>
            <a:ln w="12700" cap="sq">
              <a:solidFill>
                <a:schemeClr val="tx1"/>
              </a:solidFill>
              <a:round/>
              <a:headEnd/>
              <a:tailEnd/>
            </a:ln>
            <a:effectLst/>
          </p:spPr>
          <p:txBody>
            <a:bodyPr/>
            <a:lstStyle/>
            <a:p>
              <a:endParaRPr lang="zh-CN" altLang="en-US"/>
            </a:p>
          </p:txBody>
        </p:sp>
        <p:sp>
          <p:nvSpPr>
            <p:cNvPr id="358518" name="Line 118"/>
            <p:cNvSpPr>
              <a:spLocks noChangeShapeType="1"/>
            </p:cNvSpPr>
            <p:nvPr/>
          </p:nvSpPr>
          <p:spPr bwMode="auto">
            <a:xfrm>
              <a:off x="1429" y="1971"/>
              <a:ext cx="1133" cy="0"/>
            </a:xfrm>
            <a:prstGeom prst="line">
              <a:avLst/>
            </a:prstGeom>
            <a:noFill/>
            <a:ln w="12700">
              <a:solidFill>
                <a:schemeClr val="tx1"/>
              </a:solidFill>
              <a:round/>
              <a:headEnd/>
              <a:tailEnd/>
            </a:ln>
            <a:effectLst/>
          </p:spPr>
          <p:txBody>
            <a:bodyPr/>
            <a:lstStyle/>
            <a:p>
              <a:endParaRPr lang="zh-CN" altLang="en-US"/>
            </a:p>
          </p:txBody>
        </p:sp>
        <p:sp>
          <p:nvSpPr>
            <p:cNvPr id="358519" name="Line 119"/>
            <p:cNvSpPr>
              <a:spLocks noChangeShapeType="1"/>
            </p:cNvSpPr>
            <p:nvPr/>
          </p:nvSpPr>
          <p:spPr bwMode="auto">
            <a:xfrm>
              <a:off x="2149" y="1971"/>
              <a:ext cx="0" cy="170"/>
            </a:xfrm>
            <a:prstGeom prst="line">
              <a:avLst/>
            </a:prstGeom>
            <a:noFill/>
            <a:ln w="12700">
              <a:solidFill>
                <a:schemeClr val="tx1"/>
              </a:solidFill>
              <a:round/>
              <a:headEnd/>
              <a:tailEnd/>
            </a:ln>
            <a:effectLst/>
          </p:spPr>
          <p:txBody>
            <a:bodyPr/>
            <a:lstStyle/>
            <a:p>
              <a:endParaRPr lang="zh-CN" altLang="en-US"/>
            </a:p>
          </p:txBody>
        </p:sp>
        <p:sp>
          <p:nvSpPr>
            <p:cNvPr id="358521" name="Rectangle 121"/>
            <p:cNvSpPr>
              <a:spLocks noChangeArrowheads="1"/>
            </p:cNvSpPr>
            <p:nvPr/>
          </p:nvSpPr>
          <p:spPr bwMode="auto">
            <a:xfrm>
              <a:off x="1473" y="2188"/>
              <a:ext cx="1133" cy="310"/>
            </a:xfrm>
            <a:prstGeom prst="rect">
              <a:avLst/>
            </a:prstGeom>
            <a:solidFill>
              <a:srgbClr val="CCFFFF"/>
            </a:solidFill>
            <a:ln w="9525" algn="ctr">
              <a:noFill/>
              <a:miter lim="800000"/>
              <a:headEnd/>
              <a:tailEnd/>
            </a:ln>
            <a:effectLst/>
          </p:spPr>
          <p:txBody>
            <a:bodyPr/>
            <a:lstStyle/>
            <a:p>
              <a:pPr>
                <a:spcBef>
                  <a:spcPct val="20000"/>
                </a:spcBef>
              </a:pPr>
              <a:r>
                <a:rPr lang="zh-CN" altLang="en-US" sz="1200" dirty="0">
                  <a:latin typeface="Arial" charset="0"/>
                </a:rPr>
                <a:t>向量地址</a:t>
              </a:r>
              <a:r>
                <a:rPr lang="en-US" altLang="zh-CN" sz="1200" dirty="0">
                  <a:latin typeface="Arial" charset="0"/>
                </a:rPr>
                <a:t>0</a:t>
              </a:r>
              <a:r>
                <a:rPr lang="zh-CN" altLang="en-US" sz="1200" dirty="0">
                  <a:latin typeface="Arial" charset="0"/>
                </a:rPr>
                <a:t>寄存器</a:t>
              </a:r>
            </a:p>
            <a:p>
              <a:pPr>
                <a:spcBef>
                  <a:spcPct val="20000"/>
                </a:spcBef>
              </a:pPr>
              <a:r>
                <a:rPr lang="en-US" altLang="zh-CN" sz="1200" dirty="0">
                  <a:latin typeface="Arial" charset="0"/>
                </a:rPr>
                <a:t>VICVectAddr0</a:t>
              </a:r>
            </a:p>
          </p:txBody>
        </p:sp>
        <p:sp>
          <p:nvSpPr>
            <p:cNvPr id="358522" name="Line 122"/>
            <p:cNvSpPr>
              <a:spLocks noChangeShapeType="1"/>
            </p:cNvSpPr>
            <p:nvPr/>
          </p:nvSpPr>
          <p:spPr bwMode="auto">
            <a:xfrm>
              <a:off x="1429" y="2168"/>
              <a:ext cx="1133" cy="0"/>
            </a:xfrm>
            <a:prstGeom prst="line">
              <a:avLst/>
            </a:prstGeom>
            <a:noFill/>
            <a:ln w="12700" cap="sq">
              <a:solidFill>
                <a:schemeClr val="tx1"/>
              </a:solidFill>
              <a:round/>
              <a:headEnd/>
              <a:tailEnd/>
            </a:ln>
            <a:effectLst/>
          </p:spPr>
          <p:txBody>
            <a:bodyPr/>
            <a:lstStyle/>
            <a:p>
              <a:endParaRPr lang="zh-CN" altLang="en-US"/>
            </a:p>
          </p:txBody>
        </p:sp>
        <p:sp>
          <p:nvSpPr>
            <p:cNvPr id="358523" name="Line 123"/>
            <p:cNvSpPr>
              <a:spLocks noChangeShapeType="1"/>
            </p:cNvSpPr>
            <p:nvPr/>
          </p:nvSpPr>
          <p:spPr bwMode="auto">
            <a:xfrm>
              <a:off x="1429" y="2478"/>
              <a:ext cx="1133" cy="0"/>
            </a:xfrm>
            <a:prstGeom prst="line">
              <a:avLst/>
            </a:prstGeom>
            <a:noFill/>
            <a:ln w="12700" cap="sq">
              <a:solidFill>
                <a:schemeClr val="tx1"/>
              </a:solidFill>
              <a:round/>
              <a:headEnd/>
              <a:tailEnd/>
            </a:ln>
            <a:effectLst/>
          </p:spPr>
          <p:txBody>
            <a:bodyPr/>
            <a:lstStyle/>
            <a:p>
              <a:endParaRPr lang="zh-CN" altLang="en-US"/>
            </a:p>
          </p:txBody>
        </p:sp>
        <p:sp>
          <p:nvSpPr>
            <p:cNvPr id="358524" name="Line 124"/>
            <p:cNvSpPr>
              <a:spLocks noChangeShapeType="1"/>
            </p:cNvSpPr>
            <p:nvPr/>
          </p:nvSpPr>
          <p:spPr bwMode="auto">
            <a:xfrm>
              <a:off x="1429" y="2168"/>
              <a:ext cx="0" cy="310"/>
            </a:xfrm>
            <a:prstGeom prst="line">
              <a:avLst/>
            </a:prstGeom>
            <a:noFill/>
            <a:ln w="12700" cap="sq">
              <a:solidFill>
                <a:schemeClr val="tx1"/>
              </a:solidFill>
              <a:round/>
              <a:headEnd/>
              <a:tailEnd/>
            </a:ln>
            <a:effectLst/>
          </p:spPr>
          <p:txBody>
            <a:bodyPr/>
            <a:lstStyle/>
            <a:p>
              <a:endParaRPr lang="zh-CN" altLang="en-US"/>
            </a:p>
          </p:txBody>
        </p:sp>
        <p:sp>
          <p:nvSpPr>
            <p:cNvPr id="358525" name="Line 125"/>
            <p:cNvSpPr>
              <a:spLocks noChangeShapeType="1"/>
            </p:cNvSpPr>
            <p:nvPr/>
          </p:nvSpPr>
          <p:spPr bwMode="auto">
            <a:xfrm>
              <a:off x="2562" y="2168"/>
              <a:ext cx="0" cy="310"/>
            </a:xfrm>
            <a:prstGeom prst="line">
              <a:avLst/>
            </a:prstGeom>
            <a:noFill/>
            <a:ln w="12700" cap="sq">
              <a:solidFill>
                <a:schemeClr val="tx1"/>
              </a:solidFill>
              <a:round/>
              <a:headEnd/>
              <a:tailEnd/>
            </a:ln>
            <a:effectLst/>
          </p:spPr>
          <p:txBody>
            <a:bodyPr/>
            <a:lstStyle/>
            <a:p>
              <a:endParaRPr lang="zh-CN" altLang="en-US"/>
            </a:p>
          </p:txBody>
        </p:sp>
        <p:sp>
          <p:nvSpPr>
            <p:cNvPr id="358527" name="Rectangle 127"/>
            <p:cNvSpPr>
              <a:spLocks noChangeArrowheads="1"/>
            </p:cNvSpPr>
            <p:nvPr/>
          </p:nvSpPr>
          <p:spPr bwMode="auto">
            <a:xfrm>
              <a:off x="1429" y="3612"/>
              <a:ext cx="1134" cy="310"/>
            </a:xfrm>
            <a:prstGeom prst="rect">
              <a:avLst/>
            </a:prstGeom>
            <a:solidFill>
              <a:srgbClr val="CCFFFF"/>
            </a:solidFill>
            <a:ln w="9525" algn="ctr">
              <a:noFill/>
              <a:miter lim="800000"/>
              <a:headEnd/>
              <a:tailEnd/>
            </a:ln>
            <a:effectLst/>
          </p:spPr>
          <p:txBody>
            <a:bodyPr/>
            <a:lstStyle/>
            <a:p>
              <a:pPr>
                <a:spcBef>
                  <a:spcPct val="20000"/>
                </a:spcBef>
              </a:pPr>
              <a:r>
                <a:rPr lang="zh-CN" altLang="en-US" sz="1200">
                  <a:latin typeface="Arial" charset="0"/>
                </a:rPr>
                <a:t>默认向量地址寄存器</a:t>
              </a:r>
            </a:p>
            <a:p>
              <a:pPr>
                <a:spcBef>
                  <a:spcPct val="20000"/>
                </a:spcBef>
              </a:pPr>
              <a:r>
                <a:rPr lang="en-US" altLang="zh-CN" sz="1200">
                  <a:latin typeface="Arial" charset="0"/>
                </a:rPr>
                <a:t>VICDefVectAddr</a:t>
              </a:r>
            </a:p>
          </p:txBody>
        </p:sp>
        <p:sp>
          <p:nvSpPr>
            <p:cNvPr id="358528" name="Line 128"/>
            <p:cNvSpPr>
              <a:spLocks noChangeShapeType="1"/>
            </p:cNvSpPr>
            <p:nvPr/>
          </p:nvSpPr>
          <p:spPr bwMode="auto">
            <a:xfrm>
              <a:off x="1429" y="3612"/>
              <a:ext cx="1134" cy="0"/>
            </a:xfrm>
            <a:prstGeom prst="line">
              <a:avLst/>
            </a:prstGeom>
            <a:noFill/>
            <a:ln w="12700" cap="sq">
              <a:solidFill>
                <a:schemeClr val="tx1"/>
              </a:solidFill>
              <a:round/>
              <a:headEnd/>
              <a:tailEnd/>
            </a:ln>
            <a:effectLst/>
          </p:spPr>
          <p:txBody>
            <a:bodyPr/>
            <a:lstStyle/>
            <a:p>
              <a:endParaRPr lang="zh-CN" altLang="en-US"/>
            </a:p>
          </p:txBody>
        </p:sp>
        <p:sp>
          <p:nvSpPr>
            <p:cNvPr id="358529" name="Line 129"/>
            <p:cNvSpPr>
              <a:spLocks noChangeShapeType="1"/>
            </p:cNvSpPr>
            <p:nvPr/>
          </p:nvSpPr>
          <p:spPr bwMode="auto">
            <a:xfrm>
              <a:off x="1429" y="3922"/>
              <a:ext cx="1134" cy="0"/>
            </a:xfrm>
            <a:prstGeom prst="line">
              <a:avLst/>
            </a:prstGeom>
            <a:noFill/>
            <a:ln w="12700" cap="sq">
              <a:solidFill>
                <a:schemeClr val="tx1"/>
              </a:solidFill>
              <a:round/>
              <a:headEnd/>
              <a:tailEnd/>
            </a:ln>
            <a:effectLst/>
          </p:spPr>
          <p:txBody>
            <a:bodyPr/>
            <a:lstStyle/>
            <a:p>
              <a:endParaRPr lang="zh-CN" altLang="en-US"/>
            </a:p>
          </p:txBody>
        </p:sp>
        <p:sp>
          <p:nvSpPr>
            <p:cNvPr id="358530" name="Line 130"/>
            <p:cNvSpPr>
              <a:spLocks noChangeShapeType="1"/>
            </p:cNvSpPr>
            <p:nvPr/>
          </p:nvSpPr>
          <p:spPr bwMode="auto">
            <a:xfrm>
              <a:off x="1429" y="3612"/>
              <a:ext cx="0" cy="310"/>
            </a:xfrm>
            <a:prstGeom prst="line">
              <a:avLst/>
            </a:prstGeom>
            <a:noFill/>
            <a:ln w="12700" cap="sq">
              <a:solidFill>
                <a:schemeClr val="tx1"/>
              </a:solidFill>
              <a:round/>
              <a:headEnd/>
              <a:tailEnd/>
            </a:ln>
            <a:effectLst/>
          </p:spPr>
          <p:txBody>
            <a:bodyPr/>
            <a:lstStyle/>
            <a:p>
              <a:endParaRPr lang="zh-CN" altLang="en-US"/>
            </a:p>
          </p:txBody>
        </p:sp>
        <p:sp>
          <p:nvSpPr>
            <p:cNvPr id="358531" name="Line 131"/>
            <p:cNvSpPr>
              <a:spLocks noChangeShapeType="1"/>
            </p:cNvSpPr>
            <p:nvPr/>
          </p:nvSpPr>
          <p:spPr bwMode="auto">
            <a:xfrm>
              <a:off x="2563" y="3612"/>
              <a:ext cx="0" cy="310"/>
            </a:xfrm>
            <a:prstGeom prst="line">
              <a:avLst/>
            </a:prstGeom>
            <a:noFill/>
            <a:ln w="12700" cap="sq">
              <a:solidFill>
                <a:schemeClr val="tx1"/>
              </a:solidFill>
              <a:round/>
              <a:headEnd/>
              <a:tailEnd/>
            </a:ln>
            <a:effectLst/>
          </p:spPr>
          <p:txBody>
            <a:bodyPr/>
            <a:lstStyle/>
            <a:p>
              <a:endParaRPr lang="zh-CN" altLang="en-US"/>
            </a:p>
          </p:txBody>
        </p:sp>
        <p:sp>
          <p:nvSpPr>
            <p:cNvPr id="358532" name="Rectangle 132"/>
            <p:cNvSpPr>
              <a:spLocks noChangeArrowheads="1"/>
            </p:cNvSpPr>
            <p:nvPr/>
          </p:nvSpPr>
          <p:spPr bwMode="auto">
            <a:xfrm>
              <a:off x="1383" y="2614"/>
              <a:ext cx="1225" cy="907"/>
            </a:xfrm>
            <a:prstGeom prst="rect">
              <a:avLst/>
            </a:prstGeom>
            <a:solidFill>
              <a:srgbClr val="CCFFCC"/>
            </a:solidFill>
            <a:ln w="9525" algn="ctr">
              <a:solidFill>
                <a:schemeClr val="tx1"/>
              </a:solidFill>
              <a:miter lim="800000"/>
              <a:headEnd/>
              <a:tailEnd/>
            </a:ln>
            <a:effectLst/>
          </p:spPr>
          <p:txBody>
            <a:bodyPr wrap="none" anchor="ctr"/>
            <a:lstStyle/>
            <a:p>
              <a:endParaRPr lang="zh-CN" altLang="en-US"/>
            </a:p>
          </p:txBody>
        </p:sp>
        <p:sp>
          <p:nvSpPr>
            <p:cNvPr id="358534" name="Rectangle 134"/>
            <p:cNvSpPr>
              <a:spLocks noChangeArrowheads="1"/>
            </p:cNvSpPr>
            <p:nvPr/>
          </p:nvSpPr>
          <p:spPr bwMode="auto">
            <a:xfrm>
              <a:off x="1429" y="2969"/>
              <a:ext cx="698" cy="153"/>
            </a:xfrm>
            <a:prstGeom prst="rect">
              <a:avLst/>
            </a:prstGeom>
            <a:noFill/>
            <a:ln w="9525" algn="ctr">
              <a:noFill/>
              <a:miter lim="800000"/>
              <a:headEnd/>
              <a:tailEnd/>
            </a:ln>
            <a:effectLst/>
          </p:spPr>
          <p:txBody>
            <a:bodyPr/>
            <a:lstStyle/>
            <a:p>
              <a:pPr algn="l">
                <a:spcBef>
                  <a:spcPct val="20000"/>
                </a:spcBef>
              </a:pPr>
              <a:r>
                <a:rPr lang="zh-CN" altLang="en-US">
                  <a:latin typeface="Arial" charset="0"/>
                </a:rPr>
                <a:t>向量</a:t>
              </a:r>
              <a:r>
                <a:rPr lang="en-US" altLang="zh-CN">
                  <a:latin typeface="Arial" charset="0"/>
                </a:rPr>
                <a:t>IRQ15</a:t>
              </a:r>
              <a:r>
                <a:rPr lang="zh-CN" altLang="en-US">
                  <a:latin typeface="Arial" charset="0"/>
                </a:rPr>
                <a:t>使能</a:t>
              </a:r>
            </a:p>
          </p:txBody>
        </p:sp>
        <p:sp>
          <p:nvSpPr>
            <p:cNvPr id="358535" name="Rectangle 135"/>
            <p:cNvSpPr>
              <a:spLocks noChangeArrowheads="1"/>
            </p:cNvSpPr>
            <p:nvPr/>
          </p:nvSpPr>
          <p:spPr bwMode="auto">
            <a:xfrm>
              <a:off x="2127" y="2969"/>
              <a:ext cx="435" cy="153"/>
            </a:xfrm>
            <a:prstGeom prst="rect">
              <a:avLst/>
            </a:prstGeom>
            <a:noFill/>
            <a:ln w="9525" algn="ctr">
              <a:noFill/>
              <a:miter lim="800000"/>
              <a:headEnd/>
              <a:tailEnd/>
            </a:ln>
            <a:effectLst/>
          </p:spPr>
          <p:txBody>
            <a:bodyPr/>
            <a:lstStyle/>
            <a:p>
              <a:pPr algn="l">
                <a:spcBef>
                  <a:spcPct val="20000"/>
                </a:spcBef>
              </a:pPr>
              <a:r>
                <a:rPr lang="zh-CN" altLang="en-US">
                  <a:latin typeface="Arial" charset="0"/>
                </a:rPr>
                <a:t>中断源</a:t>
              </a:r>
            </a:p>
          </p:txBody>
        </p:sp>
        <p:sp>
          <p:nvSpPr>
            <p:cNvPr id="358536" name="Rectangle 136"/>
            <p:cNvSpPr>
              <a:spLocks noChangeArrowheads="1"/>
            </p:cNvSpPr>
            <p:nvPr/>
          </p:nvSpPr>
          <p:spPr bwMode="auto">
            <a:xfrm>
              <a:off x="1429" y="2659"/>
              <a:ext cx="1133" cy="310"/>
            </a:xfrm>
            <a:prstGeom prst="rect">
              <a:avLst/>
            </a:prstGeom>
            <a:solidFill>
              <a:srgbClr val="CCFFFF"/>
            </a:solidFill>
            <a:ln w="9525" algn="ctr">
              <a:noFill/>
              <a:miter lim="800000"/>
              <a:headEnd/>
              <a:tailEnd/>
            </a:ln>
            <a:effectLst/>
          </p:spPr>
          <p:txBody>
            <a:bodyPr/>
            <a:lstStyle/>
            <a:p>
              <a:pPr>
                <a:spcBef>
                  <a:spcPct val="20000"/>
                </a:spcBef>
              </a:pPr>
              <a:r>
                <a:rPr lang="zh-CN" altLang="en-US" sz="1200">
                  <a:latin typeface="Arial" charset="0"/>
                </a:rPr>
                <a:t>向量</a:t>
              </a:r>
              <a:r>
                <a:rPr lang="en-US" altLang="zh-CN" sz="1200">
                  <a:latin typeface="Arial" charset="0"/>
                </a:rPr>
                <a:t>IRQ15</a:t>
              </a:r>
              <a:r>
                <a:rPr lang="zh-CN" altLang="en-US" sz="1200">
                  <a:latin typeface="Arial" charset="0"/>
                </a:rPr>
                <a:t>控制寄存器</a:t>
              </a:r>
            </a:p>
            <a:p>
              <a:pPr>
                <a:spcBef>
                  <a:spcPct val="20000"/>
                </a:spcBef>
              </a:pPr>
              <a:r>
                <a:rPr lang="en-US" altLang="zh-CN" sz="1200">
                  <a:latin typeface="Arial" charset="0"/>
                </a:rPr>
                <a:t>VICVectCntl15</a:t>
              </a:r>
            </a:p>
          </p:txBody>
        </p:sp>
        <p:sp>
          <p:nvSpPr>
            <p:cNvPr id="358537" name="Line 137"/>
            <p:cNvSpPr>
              <a:spLocks noChangeShapeType="1"/>
            </p:cNvSpPr>
            <p:nvPr/>
          </p:nvSpPr>
          <p:spPr bwMode="auto">
            <a:xfrm>
              <a:off x="1429" y="2659"/>
              <a:ext cx="1133" cy="0"/>
            </a:xfrm>
            <a:prstGeom prst="line">
              <a:avLst/>
            </a:prstGeom>
            <a:noFill/>
            <a:ln w="12700" cap="sq">
              <a:solidFill>
                <a:schemeClr val="tx1"/>
              </a:solidFill>
              <a:round/>
              <a:headEnd/>
              <a:tailEnd/>
            </a:ln>
            <a:effectLst/>
          </p:spPr>
          <p:txBody>
            <a:bodyPr/>
            <a:lstStyle/>
            <a:p>
              <a:endParaRPr lang="zh-CN" altLang="en-US"/>
            </a:p>
          </p:txBody>
        </p:sp>
        <p:sp>
          <p:nvSpPr>
            <p:cNvPr id="358538" name="Line 138"/>
            <p:cNvSpPr>
              <a:spLocks noChangeShapeType="1"/>
            </p:cNvSpPr>
            <p:nvPr/>
          </p:nvSpPr>
          <p:spPr bwMode="auto">
            <a:xfrm>
              <a:off x="1429" y="3122"/>
              <a:ext cx="1133" cy="0"/>
            </a:xfrm>
            <a:prstGeom prst="line">
              <a:avLst/>
            </a:prstGeom>
            <a:noFill/>
            <a:ln w="12700" cap="sq">
              <a:solidFill>
                <a:schemeClr val="tx1"/>
              </a:solidFill>
              <a:round/>
              <a:headEnd/>
              <a:tailEnd/>
            </a:ln>
            <a:effectLst/>
          </p:spPr>
          <p:txBody>
            <a:bodyPr/>
            <a:lstStyle/>
            <a:p>
              <a:endParaRPr lang="zh-CN" altLang="en-US"/>
            </a:p>
          </p:txBody>
        </p:sp>
        <p:sp>
          <p:nvSpPr>
            <p:cNvPr id="358539" name="Line 139"/>
            <p:cNvSpPr>
              <a:spLocks noChangeShapeType="1"/>
            </p:cNvSpPr>
            <p:nvPr/>
          </p:nvSpPr>
          <p:spPr bwMode="auto">
            <a:xfrm>
              <a:off x="1429" y="2659"/>
              <a:ext cx="0" cy="463"/>
            </a:xfrm>
            <a:prstGeom prst="line">
              <a:avLst/>
            </a:prstGeom>
            <a:noFill/>
            <a:ln w="12700" cap="sq">
              <a:solidFill>
                <a:schemeClr val="tx1"/>
              </a:solidFill>
              <a:round/>
              <a:headEnd/>
              <a:tailEnd/>
            </a:ln>
            <a:effectLst/>
          </p:spPr>
          <p:txBody>
            <a:bodyPr/>
            <a:lstStyle/>
            <a:p>
              <a:endParaRPr lang="zh-CN" altLang="en-US"/>
            </a:p>
          </p:txBody>
        </p:sp>
        <p:sp>
          <p:nvSpPr>
            <p:cNvPr id="358540" name="Line 140"/>
            <p:cNvSpPr>
              <a:spLocks noChangeShapeType="1"/>
            </p:cNvSpPr>
            <p:nvPr/>
          </p:nvSpPr>
          <p:spPr bwMode="auto">
            <a:xfrm>
              <a:off x="2562" y="2659"/>
              <a:ext cx="0" cy="463"/>
            </a:xfrm>
            <a:prstGeom prst="line">
              <a:avLst/>
            </a:prstGeom>
            <a:noFill/>
            <a:ln w="12700" cap="sq">
              <a:solidFill>
                <a:schemeClr val="tx1"/>
              </a:solidFill>
              <a:round/>
              <a:headEnd/>
              <a:tailEnd/>
            </a:ln>
            <a:effectLst/>
          </p:spPr>
          <p:txBody>
            <a:bodyPr/>
            <a:lstStyle/>
            <a:p>
              <a:endParaRPr lang="zh-CN" altLang="en-US"/>
            </a:p>
          </p:txBody>
        </p:sp>
        <p:sp>
          <p:nvSpPr>
            <p:cNvPr id="358541" name="Line 141"/>
            <p:cNvSpPr>
              <a:spLocks noChangeShapeType="1"/>
            </p:cNvSpPr>
            <p:nvPr/>
          </p:nvSpPr>
          <p:spPr bwMode="auto">
            <a:xfrm>
              <a:off x="1429" y="2969"/>
              <a:ext cx="1133" cy="0"/>
            </a:xfrm>
            <a:prstGeom prst="line">
              <a:avLst/>
            </a:prstGeom>
            <a:noFill/>
            <a:ln w="12700">
              <a:solidFill>
                <a:schemeClr val="tx1"/>
              </a:solidFill>
              <a:round/>
              <a:headEnd/>
              <a:tailEnd/>
            </a:ln>
            <a:effectLst/>
          </p:spPr>
          <p:txBody>
            <a:bodyPr/>
            <a:lstStyle/>
            <a:p>
              <a:endParaRPr lang="zh-CN" altLang="en-US"/>
            </a:p>
          </p:txBody>
        </p:sp>
        <p:sp>
          <p:nvSpPr>
            <p:cNvPr id="358542" name="Line 142"/>
            <p:cNvSpPr>
              <a:spLocks noChangeShapeType="1"/>
            </p:cNvSpPr>
            <p:nvPr/>
          </p:nvSpPr>
          <p:spPr bwMode="auto">
            <a:xfrm>
              <a:off x="2127" y="2969"/>
              <a:ext cx="0" cy="153"/>
            </a:xfrm>
            <a:prstGeom prst="line">
              <a:avLst/>
            </a:prstGeom>
            <a:noFill/>
            <a:ln w="12700">
              <a:solidFill>
                <a:schemeClr val="tx1"/>
              </a:solidFill>
              <a:round/>
              <a:headEnd/>
              <a:tailEnd/>
            </a:ln>
            <a:effectLst/>
          </p:spPr>
          <p:txBody>
            <a:bodyPr/>
            <a:lstStyle/>
            <a:p>
              <a:endParaRPr lang="zh-CN" altLang="en-US"/>
            </a:p>
          </p:txBody>
        </p:sp>
        <p:sp>
          <p:nvSpPr>
            <p:cNvPr id="358544" name="Rectangle 144"/>
            <p:cNvSpPr>
              <a:spLocks noChangeArrowheads="1"/>
            </p:cNvSpPr>
            <p:nvPr/>
          </p:nvSpPr>
          <p:spPr bwMode="auto">
            <a:xfrm>
              <a:off x="1429" y="3165"/>
              <a:ext cx="1133" cy="310"/>
            </a:xfrm>
            <a:prstGeom prst="rect">
              <a:avLst/>
            </a:prstGeom>
            <a:solidFill>
              <a:srgbClr val="CCFFFF"/>
            </a:solidFill>
            <a:ln w="9525" algn="ctr">
              <a:noFill/>
              <a:miter lim="800000"/>
              <a:headEnd/>
              <a:tailEnd/>
            </a:ln>
            <a:effectLst/>
          </p:spPr>
          <p:txBody>
            <a:bodyPr/>
            <a:lstStyle/>
            <a:p>
              <a:pPr>
                <a:spcBef>
                  <a:spcPct val="20000"/>
                </a:spcBef>
              </a:pPr>
              <a:r>
                <a:rPr lang="zh-CN" altLang="en-US" sz="1200">
                  <a:latin typeface="Arial" charset="0"/>
                </a:rPr>
                <a:t>向量地址</a:t>
              </a:r>
              <a:r>
                <a:rPr lang="en-US" altLang="zh-CN" sz="1200">
                  <a:latin typeface="Arial" charset="0"/>
                </a:rPr>
                <a:t>15</a:t>
              </a:r>
              <a:r>
                <a:rPr lang="zh-CN" altLang="en-US" sz="1200">
                  <a:latin typeface="Arial" charset="0"/>
                </a:rPr>
                <a:t>寄存器</a:t>
              </a:r>
            </a:p>
            <a:p>
              <a:pPr>
                <a:spcBef>
                  <a:spcPct val="20000"/>
                </a:spcBef>
              </a:pPr>
              <a:r>
                <a:rPr lang="en-US" altLang="zh-CN" sz="1200">
                  <a:latin typeface="Arial" charset="0"/>
                </a:rPr>
                <a:t>VICVectAddr15</a:t>
              </a:r>
            </a:p>
          </p:txBody>
        </p:sp>
        <p:sp>
          <p:nvSpPr>
            <p:cNvPr id="358545" name="Line 145"/>
            <p:cNvSpPr>
              <a:spLocks noChangeShapeType="1"/>
            </p:cNvSpPr>
            <p:nvPr/>
          </p:nvSpPr>
          <p:spPr bwMode="auto">
            <a:xfrm>
              <a:off x="1429" y="3165"/>
              <a:ext cx="1133" cy="0"/>
            </a:xfrm>
            <a:prstGeom prst="line">
              <a:avLst/>
            </a:prstGeom>
            <a:noFill/>
            <a:ln w="12700" cap="sq">
              <a:solidFill>
                <a:schemeClr val="tx1"/>
              </a:solidFill>
              <a:round/>
              <a:headEnd/>
              <a:tailEnd/>
            </a:ln>
            <a:effectLst/>
          </p:spPr>
          <p:txBody>
            <a:bodyPr/>
            <a:lstStyle/>
            <a:p>
              <a:endParaRPr lang="zh-CN" altLang="en-US"/>
            </a:p>
          </p:txBody>
        </p:sp>
        <p:sp>
          <p:nvSpPr>
            <p:cNvPr id="358546" name="Line 146"/>
            <p:cNvSpPr>
              <a:spLocks noChangeShapeType="1"/>
            </p:cNvSpPr>
            <p:nvPr/>
          </p:nvSpPr>
          <p:spPr bwMode="auto">
            <a:xfrm>
              <a:off x="1429" y="3475"/>
              <a:ext cx="1133" cy="0"/>
            </a:xfrm>
            <a:prstGeom prst="line">
              <a:avLst/>
            </a:prstGeom>
            <a:noFill/>
            <a:ln w="12700" cap="sq">
              <a:solidFill>
                <a:schemeClr val="tx1"/>
              </a:solidFill>
              <a:round/>
              <a:headEnd/>
              <a:tailEnd/>
            </a:ln>
            <a:effectLst/>
          </p:spPr>
          <p:txBody>
            <a:bodyPr/>
            <a:lstStyle/>
            <a:p>
              <a:endParaRPr lang="zh-CN" altLang="en-US"/>
            </a:p>
          </p:txBody>
        </p:sp>
        <p:sp>
          <p:nvSpPr>
            <p:cNvPr id="358547" name="Line 147"/>
            <p:cNvSpPr>
              <a:spLocks noChangeShapeType="1"/>
            </p:cNvSpPr>
            <p:nvPr/>
          </p:nvSpPr>
          <p:spPr bwMode="auto">
            <a:xfrm>
              <a:off x="1429" y="3165"/>
              <a:ext cx="0" cy="310"/>
            </a:xfrm>
            <a:prstGeom prst="line">
              <a:avLst/>
            </a:prstGeom>
            <a:noFill/>
            <a:ln w="12700" cap="sq">
              <a:solidFill>
                <a:schemeClr val="tx1"/>
              </a:solidFill>
              <a:round/>
              <a:headEnd/>
              <a:tailEnd/>
            </a:ln>
            <a:effectLst/>
          </p:spPr>
          <p:txBody>
            <a:bodyPr/>
            <a:lstStyle/>
            <a:p>
              <a:endParaRPr lang="zh-CN" altLang="en-US"/>
            </a:p>
          </p:txBody>
        </p:sp>
        <p:sp>
          <p:nvSpPr>
            <p:cNvPr id="358548" name="Line 148"/>
            <p:cNvSpPr>
              <a:spLocks noChangeShapeType="1"/>
            </p:cNvSpPr>
            <p:nvPr/>
          </p:nvSpPr>
          <p:spPr bwMode="auto">
            <a:xfrm>
              <a:off x="2562" y="3165"/>
              <a:ext cx="0" cy="310"/>
            </a:xfrm>
            <a:prstGeom prst="line">
              <a:avLst/>
            </a:prstGeom>
            <a:noFill/>
            <a:ln w="12700" cap="sq">
              <a:solidFill>
                <a:schemeClr val="tx1"/>
              </a:solidFill>
              <a:round/>
              <a:headEnd/>
              <a:tailEnd/>
            </a:ln>
            <a:effectLst/>
          </p:spPr>
          <p:txBody>
            <a:bodyPr/>
            <a:lstStyle/>
            <a:p>
              <a:endParaRPr lang="zh-CN" altLang="en-US"/>
            </a:p>
          </p:txBody>
        </p:sp>
        <p:sp>
          <p:nvSpPr>
            <p:cNvPr id="358553" name="Text Box 153"/>
            <p:cNvSpPr txBox="1">
              <a:spLocks noChangeArrowheads="1"/>
            </p:cNvSpPr>
            <p:nvPr/>
          </p:nvSpPr>
          <p:spPr bwMode="auto">
            <a:xfrm>
              <a:off x="2593" y="3529"/>
              <a:ext cx="630" cy="233"/>
            </a:xfrm>
            <a:prstGeom prst="rect">
              <a:avLst/>
            </a:prstGeom>
            <a:noFill/>
            <a:ln w="9525" algn="ctr">
              <a:noFill/>
              <a:miter lim="800000"/>
              <a:headEnd/>
              <a:tailEnd/>
            </a:ln>
            <a:effectLst/>
          </p:spPr>
          <p:txBody>
            <a:bodyPr wrap="square">
              <a:spAutoFit/>
            </a:bodyPr>
            <a:lstStyle/>
            <a:p>
              <a:r>
                <a:rPr lang="en-US" altLang="zh-CN" dirty="0" err="1">
                  <a:latin typeface="Arial" charset="0"/>
                  <a:ea typeface="楷体_GB2312" pitchFamily="49" charset="-122"/>
                </a:rPr>
                <a:t>DefIRQ</a:t>
              </a:r>
              <a:endParaRPr lang="en-US" altLang="zh-CN" dirty="0">
                <a:latin typeface="Arial" charset="0"/>
                <a:ea typeface="楷体_GB2312" pitchFamily="49" charset="-122"/>
              </a:endParaRPr>
            </a:p>
          </p:txBody>
        </p:sp>
        <p:sp>
          <p:nvSpPr>
            <p:cNvPr id="358554" name="Line 154"/>
            <p:cNvSpPr>
              <a:spLocks noChangeShapeType="1"/>
            </p:cNvSpPr>
            <p:nvPr/>
          </p:nvSpPr>
          <p:spPr bwMode="auto">
            <a:xfrm>
              <a:off x="2622" y="1752"/>
              <a:ext cx="990" cy="0"/>
            </a:xfrm>
            <a:prstGeom prst="line">
              <a:avLst/>
            </a:prstGeom>
            <a:noFill/>
            <a:ln w="9525">
              <a:solidFill>
                <a:srgbClr val="0000FF"/>
              </a:solidFill>
              <a:round/>
              <a:headEnd/>
              <a:tailEnd type="triangle" w="med" len="med"/>
            </a:ln>
            <a:effectLst/>
          </p:spPr>
          <p:txBody>
            <a:bodyPr/>
            <a:lstStyle/>
            <a:p>
              <a:endParaRPr lang="zh-CN" altLang="en-US"/>
            </a:p>
          </p:txBody>
        </p:sp>
        <p:cxnSp>
          <p:nvCxnSpPr>
            <p:cNvPr id="358555" name="AutoShape 155"/>
            <p:cNvCxnSpPr>
              <a:cxnSpLocks noChangeShapeType="1"/>
            </p:cNvCxnSpPr>
            <p:nvPr/>
          </p:nvCxnSpPr>
          <p:spPr bwMode="auto">
            <a:xfrm flipV="1">
              <a:off x="2612" y="2121"/>
              <a:ext cx="1001" cy="719"/>
            </a:xfrm>
            <a:prstGeom prst="bentConnector3">
              <a:avLst>
                <a:gd name="adj1" fmla="val 57838"/>
              </a:avLst>
            </a:prstGeom>
            <a:noFill/>
            <a:ln w="9525">
              <a:solidFill>
                <a:srgbClr val="0000FF"/>
              </a:solidFill>
              <a:miter lim="800000"/>
              <a:headEnd/>
              <a:tailEnd type="triangle" w="med" len="med"/>
            </a:ln>
            <a:effectLst/>
          </p:spPr>
        </p:cxnSp>
        <p:cxnSp>
          <p:nvCxnSpPr>
            <p:cNvPr id="358556" name="AutoShape 156"/>
            <p:cNvCxnSpPr>
              <a:cxnSpLocks noChangeShapeType="1"/>
            </p:cNvCxnSpPr>
            <p:nvPr/>
          </p:nvCxnSpPr>
          <p:spPr bwMode="auto">
            <a:xfrm flipV="1">
              <a:off x="2604" y="2378"/>
              <a:ext cx="1010" cy="1378"/>
            </a:xfrm>
            <a:prstGeom prst="bentConnector3">
              <a:avLst>
                <a:gd name="adj1" fmla="val 65444"/>
              </a:avLst>
            </a:prstGeom>
            <a:noFill/>
            <a:ln w="9525">
              <a:solidFill>
                <a:srgbClr val="0000FF"/>
              </a:solidFill>
              <a:miter lim="800000"/>
              <a:headEnd/>
              <a:tailEnd type="triangle" w="med" len="med"/>
            </a:ln>
            <a:effectLst/>
          </p:spPr>
        </p:cxnSp>
        <p:sp>
          <p:nvSpPr>
            <p:cNvPr id="358557" name="Text Box 157"/>
            <p:cNvSpPr txBox="1">
              <a:spLocks noChangeArrowheads="1"/>
            </p:cNvSpPr>
            <p:nvPr/>
          </p:nvSpPr>
          <p:spPr bwMode="auto">
            <a:xfrm>
              <a:off x="2562" y="1568"/>
              <a:ext cx="527" cy="233"/>
            </a:xfrm>
            <a:prstGeom prst="rect">
              <a:avLst/>
            </a:prstGeom>
            <a:noFill/>
            <a:ln w="9525" algn="ctr">
              <a:noFill/>
              <a:miter lim="800000"/>
              <a:headEnd/>
              <a:tailEnd/>
            </a:ln>
            <a:effectLst/>
          </p:spPr>
          <p:txBody>
            <a:bodyPr wrap="square">
              <a:spAutoFit/>
            </a:bodyPr>
            <a:lstStyle/>
            <a:p>
              <a:r>
                <a:rPr lang="en-US" altLang="zh-CN" dirty="0">
                  <a:latin typeface="Arial" charset="0"/>
                  <a:ea typeface="楷体_GB2312" pitchFamily="49" charset="-122"/>
                </a:rPr>
                <a:t>IRQ0</a:t>
              </a:r>
            </a:p>
          </p:txBody>
        </p:sp>
        <p:sp>
          <p:nvSpPr>
            <p:cNvPr id="358558" name="Text Box 158"/>
            <p:cNvSpPr txBox="1">
              <a:spLocks noChangeArrowheads="1"/>
            </p:cNvSpPr>
            <p:nvPr/>
          </p:nvSpPr>
          <p:spPr bwMode="auto">
            <a:xfrm>
              <a:off x="2596" y="2650"/>
              <a:ext cx="566" cy="233"/>
            </a:xfrm>
            <a:prstGeom prst="rect">
              <a:avLst/>
            </a:prstGeom>
            <a:noFill/>
            <a:ln w="9525" algn="ctr">
              <a:noFill/>
              <a:miter lim="800000"/>
              <a:headEnd/>
              <a:tailEnd/>
            </a:ln>
            <a:effectLst/>
          </p:spPr>
          <p:txBody>
            <a:bodyPr wrap="square">
              <a:spAutoFit/>
            </a:bodyPr>
            <a:lstStyle/>
            <a:p>
              <a:r>
                <a:rPr lang="en-US" altLang="zh-CN" dirty="0">
                  <a:latin typeface="Arial" charset="0"/>
                  <a:ea typeface="楷体_GB2312" pitchFamily="49" charset="-122"/>
                </a:rPr>
                <a:t>IRQ15</a:t>
              </a:r>
            </a:p>
          </p:txBody>
        </p:sp>
        <p:sp>
          <p:nvSpPr>
            <p:cNvPr id="358559" name="Line 159"/>
            <p:cNvSpPr>
              <a:spLocks noChangeShapeType="1"/>
            </p:cNvSpPr>
            <p:nvPr/>
          </p:nvSpPr>
          <p:spPr bwMode="auto">
            <a:xfrm flipH="1">
              <a:off x="3470" y="1842"/>
              <a:ext cx="0" cy="227"/>
            </a:xfrm>
            <a:prstGeom prst="line">
              <a:avLst/>
            </a:prstGeom>
            <a:noFill/>
            <a:ln w="28575">
              <a:solidFill>
                <a:schemeClr val="tx1"/>
              </a:solidFill>
              <a:prstDash val="sysDot"/>
              <a:round/>
              <a:headEnd/>
              <a:tailEnd/>
            </a:ln>
            <a:effectLst/>
          </p:spPr>
          <p:txBody>
            <a:bodyPr/>
            <a:lstStyle/>
            <a:p>
              <a:endParaRPr lang="zh-CN" altLang="en-US"/>
            </a:p>
          </p:txBody>
        </p:sp>
        <p:cxnSp>
          <p:nvCxnSpPr>
            <p:cNvPr id="358560" name="AutoShape 160"/>
            <p:cNvCxnSpPr>
              <a:cxnSpLocks noChangeShapeType="1"/>
              <a:endCxn id="358569" idx="1"/>
            </p:cNvCxnSpPr>
            <p:nvPr/>
          </p:nvCxnSpPr>
          <p:spPr bwMode="auto">
            <a:xfrm>
              <a:off x="2611" y="3233"/>
              <a:ext cx="1011" cy="152"/>
            </a:xfrm>
            <a:prstGeom prst="bentConnector3">
              <a:avLst>
                <a:gd name="adj1" fmla="val 49949"/>
              </a:avLst>
            </a:prstGeom>
            <a:noFill/>
            <a:ln w="9525">
              <a:solidFill>
                <a:schemeClr val="tx1"/>
              </a:solidFill>
              <a:miter lim="800000"/>
              <a:headEnd/>
              <a:tailEnd type="triangle" w="med" len="med"/>
            </a:ln>
            <a:effectLst/>
          </p:spPr>
        </p:cxnSp>
        <p:sp>
          <p:nvSpPr>
            <p:cNvPr id="358561" name="Text Box 161"/>
            <p:cNvSpPr txBox="1">
              <a:spLocks noChangeArrowheads="1"/>
            </p:cNvSpPr>
            <p:nvPr/>
          </p:nvSpPr>
          <p:spPr bwMode="auto">
            <a:xfrm>
              <a:off x="2573" y="1870"/>
              <a:ext cx="787" cy="233"/>
            </a:xfrm>
            <a:prstGeom prst="rect">
              <a:avLst/>
            </a:prstGeom>
            <a:noFill/>
            <a:ln w="9525" algn="ctr">
              <a:noFill/>
              <a:miter lim="800000"/>
              <a:headEnd/>
              <a:tailEnd/>
            </a:ln>
            <a:effectLst/>
          </p:spPr>
          <p:txBody>
            <a:bodyPr wrap="none">
              <a:spAutoFit/>
            </a:bodyPr>
            <a:lstStyle/>
            <a:p>
              <a:r>
                <a:rPr lang="en-US" altLang="zh-CN" dirty="0">
                  <a:latin typeface="Arial" charset="0"/>
                  <a:ea typeface="楷体_GB2312" pitchFamily="49" charset="-122"/>
                </a:rPr>
                <a:t>VectAddr0</a:t>
              </a:r>
            </a:p>
          </p:txBody>
        </p:sp>
        <p:sp>
          <p:nvSpPr>
            <p:cNvPr id="358562" name="Text Box 162"/>
            <p:cNvSpPr txBox="1">
              <a:spLocks noChangeArrowheads="1"/>
            </p:cNvSpPr>
            <p:nvPr/>
          </p:nvSpPr>
          <p:spPr bwMode="auto">
            <a:xfrm>
              <a:off x="2579" y="3037"/>
              <a:ext cx="868" cy="233"/>
            </a:xfrm>
            <a:prstGeom prst="rect">
              <a:avLst/>
            </a:prstGeom>
            <a:noFill/>
            <a:ln w="9525" algn="ctr">
              <a:noFill/>
              <a:miter lim="800000"/>
              <a:headEnd/>
              <a:tailEnd/>
            </a:ln>
            <a:effectLst/>
          </p:spPr>
          <p:txBody>
            <a:bodyPr wrap="none">
              <a:spAutoFit/>
            </a:bodyPr>
            <a:lstStyle/>
            <a:p>
              <a:r>
                <a:rPr lang="en-US" altLang="zh-CN" dirty="0">
                  <a:latin typeface="Arial" charset="0"/>
                  <a:ea typeface="楷体_GB2312" pitchFamily="49" charset="-122"/>
                </a:rPr>
                <a:t>VectAddr15</a:t>
              </a:r>
            </a:p>
          </p:txBody>
        </p:sp>
        <p:sp>
          <p:nvSpPr>
            <p:cNvPr id="358563" name="Text Box 163"/>
            <p:cNvSpPr txBox="1">
              <a:spLocks noChangeArrowheads="1"/>
            </p:cNvSpPr>
            <p:nvPr/>
          </p:nvSpPr>
          <p:spPr bwMode="auto">
            <a:xfrm>
              <a:off x="2573" y="3883"/>
              <a:ext cx="932" cy="233"/>
            </a:xfrm>
            <a:prstGeom prst="rect">
              <a:avLst/>
            </a:prstGeom>
            <a:noFill/>
            <a:ln w="9525" algn="ctr">
              <a:noFill/>
              <a:miter lim="800000"/>
              <a:headEnd/>
              <a:tailEnd/>
            </a:ln>
            <a:effectLst/>
          </p:spPr>
          <p:txBody>
            <a:bodyPr wrap="none">
              <a:spAutoFit/>
            </a:bodyPr>
            <a:lstStyle/>
            <a:p>
              <a:r>
                <a:rPr lang="en-US" altLang="zh-CN" dirty="0" err="1">
                  <a:latin typeface="Arial" charset="0"/>
                  <a:ea typeface="楷体_GB2312" pitchFamily="49" charset="-122"/>
                </a:rPr>
                <a:t>DefVectAddr</a:t>
              </a:r>
              <a:endParaRPr lang="en-US" altLang="zh-CN" dirty="0">
                <a:latin typeface="Arial" charset="0"/>
                <a:ea typeface="楷体_GB2312" pitchFamily="49" charset="-122"/>
              </a:endParaRPr>
            </a:p>
          </p:txBody>
        </p:sp>
        <p:sp>
          <p:nvSpPr>
            <p:cNvPr id="358564" name="Line 164"/>
            <p:cNvSpPr>
              <a:spLocks noChangeShapeType="1"/>
            </p:cNvSpPr>
            <p:nvPr/>
          </p:nvSpPr>
          <p:spPr bwMode="auto">
            <a:xfrm flipH="1">
              <a:off x="3465" y="3158"/>
              <a:ext cx="0" cy="162"/>
            </a:xfrm>
            <a:prstGeom prst="line">
              <a:avLst/>
            </a:prstGeom>
            <a:noFill/>
            <a:ln w="28575">
              <a:solidFill>
                <a:schemeClr val="tx1"/>
              </a:solidFill>
              <a:prstDash val="sysDot"/>
              <a:round/>
              <a:headEnd/>
              <a:tailEnd/>
            </a:ln>
            <a:effectLst/>
          </p:spPr>
          <p:txBody>
            <a:bodyPr/>
            <a:lstStyle/>
            <a:p>
              <a:endParaRPr lang="zh-CN" altLang="en-US"/>
            </a:p>
          </p:txBody>
        </p:sp>
        <p:sp>
          <p:nvSpPr>
            <p:cNvPr id="358565" name="Line 165"/>
            <p:cNvSpPr>
              <a:spLocks noChangeShapeType="1"/>
            </p:cNvSpPr>
            <p:nvPr/>
          </p:nvSpPr>
          <p:spPr bwMode="auto">
            <a:xfrm flipH="1">
              <a:off x="3736" y="3139"/>
              <a:ext cx="0" cy="162"/>
            </a:xfrm>
            <a:prstGeom prst="line">
              <a:avLst/>
            </a:prstGeom>
            <a:noFill/>
            <a:ln w="28575">
              <a:solidFill>
                <a:schemeClr val="tx1"/>
              </a:solidFill>
              <a:prstDash val="sysDot"/>
              <a:round/>
              <a:headEnd/>
              <a:tailEnd/>
            </a:ln>
            <a:effectLst/>
          </p:spPr>
          <p:txBody>
            <a:bodyPr/>
            <a:lstStyle/>
            <a:p>
              <a:endParaRPr lang="zh-CN" altLang="en-US"/>
            </a:p>
          </p:txBody>
        </p:sp>
        <p:sp>
          <p:nvSpPr>
            <p:cNvPr id="358566" name="Rectangle 166"/>
            <p:cNvSpPr>
              <a:spLocks noChangeArrowheads="1"/>
            </p:cNvSpPr>
            <p:nvPr/>
          </p:nvSpPr>
          <p:spPr bwMode="auto">
            <a:xfrm>
              <a:off x="3606" y="1616"/>
              <a:ext cx="227" cy="997"/>
            </a:xfrm>
            <a:prstGeom prst="rect">
              <a:avLst/>
            </a:prstGeom>
            <a:solidFill>
              <a:srgbClr val="FFFF99"/>
            </a:solidFill>
            <a:ln w="9525" algn="ctr">
              <a:solidFill>
                <a:schemeClr val="tx1"/>
              </a:solidFill>
              <a:miter lim="800000"/>
              <a:headEnd/>
              <a:tailEnd/>
            </a:ln>
            <a:effectLst/>
          </p:spPr>
          <p:txBody>
            <a:bodyPr wrap="none" anchor="ctr"/>
            <a:lstStyle/>
            <a:p>
              <a:r>
                <a:rPr lang="zh-CN" altLang="en-US" sz="1400">
                  <a:latin typeface="Times New Roman" pitchFamily="18" charset="0"/>
                </a:rPr>
                <a:t>硬</a:t>
              </a:r>
            </a:p>
            <a:p>
              <a:r>
                <a:rPr lang="zh-CN" altLang="en-US" sz="1400">
                  <a:latin typeface="Times New Roman" pitchFamily="18" charset="0"/>
                </a:rPr>
                <a:t>件</a:t>
              </a:r>
            </a:p>
            <a:p>
              <a:r>
                <a:rPr lang="zh-CN" altLang="en-US" sz="1400">
                  <a:latin typeface="Times New Roman" pitchFamily="18" charset="0"/>
                </a:rPr>
                <a:t>优</a:t>
              </a:r>
            </a:p>
            <a:p>
              <a:r>
                <a:rPr lang="zh-CN" altLang="en-US" sz="1400">
                  <a:latin typeface="Times New Roman" pitchFamily="18" charset="0"/>
                </a:rPr>
                <a:t>先</a:t>
              </a:r>
            </a:p>
            <a:p>
              <a:r>
                <a:rPr lang="zh-CN" altLang="en-US" sz="1400">
                  <a:latin typeface="Times New Roman" pitchFamily="18" charset="0"/>
                </a:rPr>
                <a:t>级</a:t>
              </a:r>
            </a:p>
            <a:p>
              <a:r>
                <a:rPr lang="zh-CN" altLang="en-US" sz="1400">
                  <a:latin typeface="Times New Roman" pitchFamily="18" charset="0"/>
                </a:rPr>
                <a:t>选</a:t>
              </a:r>
            </a:p>
            <a:p>
              <a:r>
                <a:rPr lang="zh-CN" altLang="en-US" sz="1400">
                  <a:latin typeface="Times New Roman" pitchFamily="18" charset="0"/>
                </a:rPr>
                <a:t>择</a:t>
              </a:r>
            </a:p>
          </p:txBody>
        </p:sp>
        <p:sp>
          <p:nvSpPr>
            <p:cNvPr id="358567" name="Rectangle 167"/>
            <p:cNvSpPr>
              <a:spLocks noChangeArrowheads="1"/>
            </p:cNvSpPr>
            <p:nvPr/>
          </p:nvSpPr>
          <p:spPr bwMode="auto">
            <a:xfrm>
              <a:off x="3606" y="2931"/>
              <a:ext cx="920" cy="1043"/>
            </a:xfrm>
            <a:prstGeom prst="rect">
              <a:avLst/>
            </a:prstGeom>
            <a:solidFill>
              <a:srgbClr val="CCFFCC"/>
            </a:solidFill>
            <a:ln w="9525" algn="ctr">
              <a:solidFill>
                <a:schemeClr val="tx1"/>
              </a:solidFill>
              <a:miter lim="800000"/>
              <a:headEnd/>
              <a:tailEnd/>
            </a:ln>
            <a:effectLst/>
          </p:spPr>
          <p:txBody>
            <a:bodyPr wrap="none" anchor="ctr"/>
            <a:lstStyle/>
            <a:p>
              <a:endParaRPr lang="en-US" altLang="zh-CN">
                <a:latin typeface="Times New Roman" pitchFamily="18" charset="0"/>
                <a:ea typeface="楷体_GB2312" pitchFamily="49" charset="-122"/>
              </a:endParaRPr>
            </a:p>
            <a:p>
              <a:endParaRPr lang="en-US" altLang="zh-CN">
                <a:latin typeface="Times New Roman" pitchFamily="18" charset="0"/>
                <a:ea typeface="楷体_GB2312" pitchFamily="49" charset="-122"/>
              </a:endParaRPr>
            </a:p>
            <a:p>
              <a:endParaRPr lang="en-US" altLang="zh-CN">
                <a:latin typeface="Times New Roman" pitchFamily="18" charset="0"/>
                <a:ea typeface="楷体_GB2312" pitchFamily="49" charset="-122"/>
              </a:endParaRPr>
            </a:p>
            <a:p>
              <a:endParaRPr lang="en-US" altLang="zh-CN">
                <a:latin typeface="Times New Roman" pitchFamily="18" charset="0"/>
                <a:ea typeface="楷体_GB2312" pitchFamily="49" charset="-122"/>
              </a:endParaRPr>
            </a:p>
            <a:p>
              <a:endParaRPr lang="en-US" altLang="zh-CN" sz="1400">
                <a:latin typeface="Times New Roman" pitchFamily="18" charset="0"/>
              </a:endParaRPr>
            </a:p>
            <a:p>
              <a:r>
                <a:rPr lang="zh-CN" altLang="en-US" sz="1400">
                  <a:latin typeface="Times New Roman" pitchFamily="18" charset="0"/>
                </a:rPr>
                <a:t>向量地址选择</a:t>
              </a:r>
            </a:p>
          </p:txBody>
        </p:sp>
        <p:sp>
          <p:nvSpPr>
            <p:cNvPr id="358568" name="Rectangle 168"/>
            <p:cNvSpPr>
              <a:spLocks noChangeArrowheads="1"/>
            </p:cNvSpPr>
            <p:nvPr/>
          </p:nvSpPr>
          <p:spPr bwMode="auto">
            <a:xfrm>
              <a:off x="4684" y="3237"/>
              <a:ext cx="725" cy="272"/>
            </a:xfrm>
            <a:prstGeom prst="rect">
              <a:avLst/>
            </a:prstGeom>
            <a:solidFill>
              <a:srgbClr val="CCFFFF"/>
            </a:solidFill>
            <a:ln w="9525">
              <a:solidFill>
                <a:schemeClr val="tx1"/>
              </a:solidFill>
              <a:miter lim="800000"/>
              <a:headEnd/>
              <a:tailEnd/>
            </a:ln>
            <a:effectLst/>
          </p:spPr>
          <p:txBody>
            <a:bodyPr wrap="none" anchor="ctr"/>
            <a:lstStyle/>
            <a:p>
              <a:r>
                <a:rPr lang="zh-CN" altLang="en-US" sz="1200">
                  <a:latin typeface="Arial" charset="0"/>
                </a:rPr>
                <a:t>向量地址寄存器</a:t>
              </a:r>
            </a:p>
            <a:p>
              <a:r>
                <a:rPr lang="en-US" altLang="zh-CN" sz="1200">
                  <a:latin typeface="Arial" charset="0"/>
                  <a:ea typeface="楷体_GB2312" pitchFamily="49" charset="-122"/>
                </a:rPr>
                <a:t>VICVectAddr</a:t>
              </a:r>
            </a:p>
          </p:txBody>
        </p:sp>
        <p:sp>
          <p:nvSpPr>
            <p:cNvPr id="358569" name="Text Box 169"/>
            <p:cNvSpPr txBox="1">
              <a:spLocks noChangeArrowheads="1"/>
            </p:cNvSpPr>
            <p:nvPr/>
          </p:nvSpPr>
          <p:spPr bwMode="auto">
            <a:xfrm>
              <a:off x="3622" y="3269"/>
              <a:ext cx="1262" cy="231"/>
            </a:xfrm>
            <a:prstGeom prst="rect">
              <a:avLst/>
            </a:prstGeom>
            <a:noFill/>
            <a:ln w="9525" algn="ctr">
              <a:noFill/>
              <a:miter lim="800000"/>
              <a:headEnd/>
              <a:tailEnd/>
            </a:ln>
            <a:effectLst/>
          </p:spPr>
          <p:txBody>
            <a:bodyPr>
              <a:spAutoFit/>
            </a:bodyPr>
            <a:lstStyle/>
            <a:p>
              <a:endParaRPr lang="zh-CN" altLang="zh-CN">
                <a:latin typeface="Times New Roman" pitchFamily="18" charset="0"/>
                <a:ea typeface="楷体_GB2312" pitchFamily="49" charset="-122"/>
              </a:endParaRPr>
            </a:p>
          </p:txBody>
        </p:sp>
        <p:sp>
          <p:nvSpPr>
            <p:cNvPr id="358572" name="Line 172"/>
            <p:cNvSpPr>
              <a:spLocks noChangeShapeType="1"/>
            </p:cNvSpPr>
            <p:nvPr/>
          </p:nvSpPr>
          <p:spPr bwMode="auto">
            <a:xfrm>
              <a:off x="3624" y="3060"/>
              <a:ext cx="320" cy="0"/>
            </a:xfrm>
            <a:prstGeom prst="line">
              <a:avLst/>
            </a:prstGeom>
            <a:noFill/>
            <a:ln w="9525">
              <a:solidFill>
                <a:schemeClr val="tx1"/>
              </a:solidFill>
              <a:round/>
              <a:headEnd/>
              <a:tailEnd/>
            </a:ln>
            <a:effectLst/>
          </p:spPr>
          <p:txBody>
            <a:bodyPr/>
            <a:lstStyle/>
            <a:p>
              <a:endParaRPr lang="zh-CN" altLang="en-US"/>
            </a:p>
          </p:txBody>
        </p:sp>
        <p:sp>
          <p:nvSpPr>
            <p:cNvPr id="358573" name="Line 173"/>
            <p:cNvSpPr>
              <a:spLocks noChangeShapeType="1"/>
            </p:cNvSpPr>
            <p:nvPr/>
          </p:nvSpPr>
          <p:spPr bwMode="auto">
            <a:xfrm flipV="1">
              <a:off x="4103" y="3055"/>
              <a:ext cx="324" cy="0"/>
            </a:xfrm>
            <a:prstGeom prst="line">
              <a:avLst/>
            </a:prstGeom>
            <a:noFill/>
            <a:ln w="9525">
              <a:solidFill>
                <a:schemeClr val="tx1"/>
              </a:solidFill>
              <a:round/>
              <a:headEnd type="oval" w="med" len="med"/>
              <a:tailEnd/>
            </a:ln>
            <a:effectLst/>
          </p:spPr>
          <p:txBody>
            <a:bodyPr/>
            <a:lstStyle/>
            <a:p>
              <a:endParaRPr lang="zh-CN" altLang="en-US"/>
            </a:p>
          </p:txBody>
        </p:sp>
        <p:sp>
          <p:nvSpPr>
            <p:cNvPr id="358574" name="Line 174"/>
            <p:cNvSpPr>
              <a:spLocks noChangeShapeType="1"/>
            </p:cNvSpPr>
            <p:nvPr/>
          </p:nvSpPr>
          <p:spPr bwMode="auto">
            <a:xfrm flipV="1">
              <a:off x="3947" y="2983"/>
              <a:ext cx="178" cy="76"/>
            </a:xfrm>
            <a:prstGeom prst="line">
              <a:avLst/>
            </a:prstGeom>
            <a:noFill/>
            <a:ln w="9525">
              <a:solidFill>
                <a:schemeClr val="tx1"/>
              </a:solidFill>
              <a:round/>
              <a:headEnd/>
              <a:tailEnd/>
            </a:ln>
            <a:effectLst/>
          </p:spPr>
          <p:txBody>
            <a:bodyPr/>
            <a:lstStyle/>
            <a:p>
              <a:endParaRPr lang="zh-CN" altLang="en-US"/>
            </a:p>
          </p:txBody>
        </p:sp>
        <p:sp>
          <p:nvSpPr>
            <p:cNvPr id="358576" name="Line 176"/>
            <p:cNvSpPr>
              <a:spLocks noChangeShapeType="1"/>
            </p:cNvSpPr>
            <p:nvPr/>
          </p:nvSpPr>
          <p:spPr bwMode="auto">
            <a:xfrm>
              <a:off x="3626" y="3390"/>
              <a:ext cx="327" cy="0"/>
            </a:xfrm>
            <a:prstGeom prst="line">
              <a:avLst/>
            </a:prstGeom>
            <a:noFill/>
            <a:ln w="9525">
              <a:solidFill>
                <a:schemeClr val="tx1"/>
              </a:solidFill>
              <a:round/>
              <a:headEnd/>
              <a:tailEnd/>
            </a:ln>
            <a:effectLst/>
          </p:spPr>
          <p:txBody>
            <a:bodyPr/>
            <a:lstStyle/>
            <a:p>
              <a:endParaRPr lang="zh-CN" altLang="en-US"/>
            </a:p>
          </p:txBody>
        </p:sp>
        <p:sp>
          <p:nvSpPr>
            <p:cNvPr id="358577" name="Line 177"/>
            <p:cNvSpPr>
              <a:spLocks noChangeShapeType="1"/>
            </p:cNvSpPr>
            <p:nvPr/>
          </p:nvSpPr>
          <p:spPr bwMode="auto">
            <a:xfrm flipV="1">
              <a:off x="4116" y="3385"/>
              <a:ext cx="313" cy="0"/>
            </a:xfrm>
            <a:prstGeom prst="line">
              <a:avLst/>
            </a:prstGeom>
            <a:noFill/>
            <a:ln w="9525">
              <a:solidFill>
                <a:schemeClr val="tx1"/>
              </a:solidFill>
              <a:round/>
              <a:headEnd type="oval" w="med" len="med"/>
              <a:tailEnd/>
            </a:ln>
            <a:effectLst/>
          </p:spPr>
          <p:txBody>
            <a:bodyPr/>
            <a:lstStyle/>
            <a:p>
              <a:endParaRPr lang="zh-CN" altLang="en-US"/>
            </a:p>
          </p:txBody>
        </p:sp>
        <p:sp>
          <p:nvSpPr>
            <p:cNvPr id="358578" name="Line 178"/>
            <p:cNvSpPr>
              <a:spLocks noChangeShapeType="1"/>
            </p:cNvSpPr>
            <p:nvPr/>
          </p:nvSpPr>
          <p:spPr bwMode="auto">
            <a:xfrm flipV="1">
              <a:off x="3956" y="3294"/>
              <a:ext cx="172" cy="95"/>
            </a:xfrm>
            <a:prstGeom prst="line">
              <a:avLst/>
            </a:prstGeom>
            <a:noFill/>
            <a:ln w="9525">
              <a:solidFill>
                <a:schemeClr val="tx1"/>
              </a:solidFill>
              <a:round/>
              <a:headEnd/>
              <a:tailEnd/>
            </a:ln>
            <a:effectLst/>
          </p:spPr>
          <p:txBody>
            <a:bodyPr/>
            <a:lstStyle/>
            <a:p>
              <a:endParaRPr lang="zh-CN" altLang="en-US"/>
            </a:p>
          </p:txBody>
        </p:sp>
        <p:sp>
          <p:nvSpPr>
            <p:cNvPr id="358579" name="Line 179"/>
            <p:cNvSpPr>
              <a:spLocks noChangeShapeType="1"/>
            </p:cNvSpPr>
            <p:nvPr/>
          </p:nvSpPr>
          <p:spPr bwMode="auto">
            <a:xfrm>
              <a:off x="3606" y="3748"/>
              <a:ext cx="336" cy="0"/>
            </a:xfrm>
            <a:prstGeom prst="line">
              <a:avLst/>
            </a:prstGeom>
            <a:noFill/>
            <a:ln w="9525">
              <a:solidFill>
                <a:schemeClr val="tx1"/>
              </a:solidFill>
              <a:round/>
              <a:headEnd/>
              <a:tailEnd/>
            </a:ln>
            <a:effectLst/>
          </p:spPr>
          <p:txBody>
            <a:bodyPr/>
            <a:lstStyle/>
            <a:p>
              <a:endParaRPr lang="zh-CN" altLang="en-US"/>
            </a:p>
          </p:txBody>
        </p:sp>
        <p:sp>
          <p:nvSpPr>
            <p:cNvPr id="358581" name="Line 181"/>
            <p:cNvSpPr>
              <a:spLocks noChangeShapeType="1"/>
            </p:cNvSpPr>
            <p:nvPr/>
          </p:nvSpPr>
          <p:spPr bwMode="auto">
            <a:xfrm flipV="1">
              <a:off x="4104" y="3744"/>
              <a:ext cx="324" cy="0"/>
            </a:xfrm>
            <a:prstGeom prst="line">
              <a:avLst/>
            </a:prstGeom>
            <a:noFill/>
            <a:ln w="9525">
              <a:solidFill>
                <a:schemeClr val="tx1"/>
              </a:solidFill>
              <a:round/>
              <a:headEnd type="oval" w="med" len="med"/>
              <a:tailEnd/>
            </a:ln>
            <a:effectLst/>
          </p:spPr>
          <p:txBody>
            <a:bodyPr/>
            <a:lstStyle/>
            <a:p>
              <a:endParaRPr lang="zh-CN" altLang="en-US"/>
            </a:p>
          </p:txBody>
        </p:sp>
        <p:sp>
          <p:nvSpPr>
            <p:cNvPr id="358582" name="Line 182"/>
            <p:cNvSpPr>
              <a:spLocks noChangeShapeType="1"/>
            </p:cNvSpPr>
            <p:nvPr/>
          </p:nvSpPr>
          <p:spPr bwMode="auto">
            <a:xfrm flipV="1">
              <a:off x="3948" y="3662"/>
              <a:ext cx="164" cy="86"/>
            </a:xfrm>
            <a:prstGeom prst="line">
              <a:avLst/>
            </a:prstGeom>
            <a:noFill/>
            <a:ln w="9525">
              <a:solidFill>
                <a:schemeClr val="tx1"/>
              </a:solidFill>
              <a:round/>
              <a:headEnd/>
              <a:tailEnd/>
            </a:ln>
            <a:effectLst/>
          </p:spPr>
          <p:txBody>
            <a:bodyPr/>
            <a:lstStyle/>
            <a:p>
              <a:endParaRPr lang="zh-CN" altLang="en-US"/>
            </a:p>
          </p:txBody>
        </p:sp>
        <p:sp>
          <p:nvSpPr>
            <p:cNvPr id="358584" name="Line 184"/>
            <p:cNvSpPr>
              <a:spLocks noChangeShapeType="1"/>
            </p:cNvSpPr>
            <p:nvPr/>
          </p:nvSpPr>
          <p:spPr bwMode="auto">
            <a:xfrm>
              <a:off x="3833" y="2024"/>
              <a:ext cx="907" cy="0"/>
            </a:xfrm>
            <a:prstGeom prst="line">
              <a:avLst/>
            </a:prstGeom>
            <a:noFill/>
            <a:ln w="9525">
              <a:solidFill>
                <a:schemeClr val="tx1"/>
              </a:solidFill>
              <a:round/>
              <a:headEnd/>
              <a:tailEnd type="triangle" w="med" len="med"/>
            </a:ln>
            <a:effectLst/>
          </p:spPr>
          <p:txBody>
            <a:bodyPr/>
            <a:lstStyle/>
            <a:p>
              <a:endParaRPr lang="zh-CN" altLang="en-US"/>
            </a:p>
          </p:txBody>
        </p:sp>
        <p:sp>
          <p:nvSpPr>
            <p:cNvPr id="358585" name="Line 185"/>
            <p:cNvSpPr>
              <a:spLocks noChangeShapeType="1"/>
            </p:cNvSpPr>
            <p:nvPr/>
          </p:nvSpPr>
          <p:spPr bwMode="auto">
            <a:xfrm flipH="1">
              <a:off x="4428" y="3068"/>
              <a:ext cx="0" cy="680"/>
            </a:xfrm>
            <a:prstGeom prst="line">
              <a:avLst/>
            </a:prstGeom>
            <a:noFill/>
            <a:ln w="9525">
              <a:solidFill>
                <a:schemeClr val="tx1"/>
              </a:solidFill>
              <a:round/>
              <a:headEnd/>
              <a:tailEnd/>
            </a:ln>
            <a:effectLst/>
          </p:spPr>
          <p:txBody>
            <a:bodyPr/>
            <a:lstStyle/>
            <a:p>
              <a:endParaRPr lang="zh-CN" altLang="en-US"/>
            </a:p>
          </p:txBody>
        </p:sp>
        <p:sp>
          <p:nvSpPr>
            <p:cNvPr id="358586" name="Line 186"/>
            <p:cNvSpPr>
              <a:spLocks noChangeShapeType="1"/>
            </p:cNvSpPr>
            <p:nvPr/>
          </p:nvSpPr>
          <p:spPr bwMode="auto">
            <a:xfrm>
              <a:off x="4428" y="3385"/>
              <a:ext cx="252" cy="0"/>
            </a:xfrm>
            <a:prstGeom prst="line">
              <a:avLst/>
            </a:prstGeom>
            <a:noFill/>
            <a:ln w="9525">
              <a:solidFill>
                <a:schemeClr val="tx1"/>
              </a:solidFill>
              <a:round/>
              <a:headEnd/>
              <a:tailEnd type="triangle" w="med" len="med"/>
            </a:ln>
            <a:effectLst/>
          </p:spPr>
          <p:txBody>
            <a:bodyPr/>
            <a:lstStyle/>
            <a:p>
              <a:endParaRPr lang="zh-CN" altLang="en-US"/>
            </a:p>
          </p:txBody>
        </p:sp>
        <p:sp>
          <p:nvSpPr>
            <p:cNvPr id="358588" name="Line 188"/>
            <p:cNvSpPr>
              <a:spLocks noChangeShapeType="1"/>
            </p:cNvSpPr>
            <p:nvPr/>
          </p:nvSpPr>
          <p:spPr bwMode="auto">
            <a:xfrm>
              <a:off x="4327" y="2024"/>
              <a:ext cx="0" cy="1524"/>
            </a:xfrm>
            <a:prstGeom prst="line">
              <a:avLst/>
            </a:prstGeom>
            <a:noFill/>
            <a:ln w="9525">
              <a:solidFill>
                <a:srgbClr val="FF0000"/>
              </a:solidFill>
              <a:round/>
              <a:headEnd/>
              <a:tailEnd/>
            </a:ln>
            <a:effectLst/>
          </p:spPr>
          <p:txBody>
            <a:bodyPr/>
            <a:lstStyle/>
            <a:p>
              <a:endParaRPr lang="zh-CN" altLang="en-US"/>
            </a:p>
          </p:txBody>
        </p:sp>
        <p:grpSp>
          <p:nvGrpSpPr>
            <p:cNvPr id="358589" name="Group 189"/>
            <p:cNvGrpSpPr>
              <a:grpSpLocks/>
            </p:cNvGrpSpPr>
            <p:nvPr/>
          </p:nvGrpSpPr>
          <p:grpSpPr bwMode="auto">
            <a:xfrm>
              <a:off x="4027" y="2834"/>
              <a:ext cx="297" cy="192"/>
              <a:chOff x="4038" y="2958"/>
              <a:chExt cx="396" cy="192"/>
            </a:xfrm>
          </p:grpSpPr>
          <p:sp>
            <p:nvSpPr>
              <p:cNvPr id="358590" name="Line 190"/>
              <p:cNvSpPr>
                <a:spLocks noChangeShapeType="1"/>
              </p:cNvSpPr>
              <p:nvPr/>
            </p:nvSpPr>
            <p:spPr bwMode="auto">
              <a:xfrm>
                <a:off x="4038" y="2958"/>
                <a:ext cx="0" cy="192"/>
              </a:xfrm>
              <a:prstGeom prst="line">
                <a:avLst/>
              </a:prstGeom>
              <a:noFill/>
              <a:ln w="9525">
                <a:solidFill>
                  <a:srgbClr val="FF0000"/>
                </a:solidFill>
                <a:round/>
                <a:headEnd/>
                <a:tailEnd type="triangle" w="med" len="med"/>
              </a:ln>
              <a:effectLst/>
            </p:spPr>
            <p:txBody>
              <a:bodyPr/>
              <a:lstStyle/>
              <a:p>
                <a:endParaRPr lang="zh-CN" altLang="en-US"/>
              </a:p>
            </p:txBody>
          </p:sp>
          <p:sp>
            <p:nvSpPr>
              <p:cNvPr id="358591" name="Line 191"/>
              <p:cNvSpPr>
                <a:spLocks noChangeShapeType="1"/>
              </p:cNvSpPr>
              <p:nvPr/>
            </p:nvSpPr>
            <p:spPr bwMode="auto">
              <a:xfrm>
                <a:off x="4038" y="2958"/>
                <a:ext cx="396" cy="0"/>
              </a:xfrm>
              <a:prstGeom prst="line">
                <a:avLst/>
              </a:prstGeom>
              <a:noFill/>
              <a:ln w="9525">
                <a:solidFill>
                  <a:srgbClr val="FF0000"/>
                </a:solidFill>
                <a:round/>
                <a:headEnd/>
                <a:tailEnd/>
              </a:ln>
              <a:effectLst/>
            </p:spPr>
            <p:txBody>
              <a:bodyPr/>
              <a:lstStyle/>
              <a:p>
                <a:endParaRPr lang="zh-CN" altLang="en-US"/>
              </a:p>
            </p:txBody>
          </p:sp>
        </p:grpSp>
        <p:grpSp>
          <p:nvGrpSpPr>
            <p:cNvPr id="358592" name="Group 192"/>
            <p:cNvGrpSpPr>
              <a:grpSpLocks/>
            </p:cNvGrpSpPr>
            <p:nvPr/>
          </p:nvGrpSpPr>
          <p:grpSpPr bwMode="auto">
            <a:xfrm>
              <a:off x="4015" y="3217"/>
              <a:ext cx="312" cy="150"/>
              <a:chOff x="4038" y="2958"/>
              <a:chExt cx="396" cy="192"/>
            </a:xfrm>
          </p:grpSpPr>
          <p:sp>
            <p:nvSpPr>
              <p:cNvPr id="358593" name="Line 193"/>
              <p:cNvSpPr>
                <a:spLocks noChangeShapeType="1"/>
              </p:cNvSpPr>
              <p:nvPr/>
            </p:nvSpPr>
            <p:spPr bwMode="auto">
              <a:xfrm>
                <a:off x="4038" y="2958"/>
                <a:ext cx="0" cy="192"/>
              </a:xfrm>
              <a:prstGeom prst="line">
                <a:avLst/>
              </a:prstGeom>
              <a:noFill/>
              <a:ln w="9525">
                <a:solidFill>
                  <a:srgbClr val="FF0000"/>
                </a:solidFill>
                <a:round/>
                <a:headEnd/>
                <a:tailEnd type="triangle" w="med" len="med"/>
              </a:ln>
              <a:effectLst/>
            </p:spPr>
            <p:txBody>
              <a:bodyPr/>
              <a:lstStyle/>
              <a:p>
                <a:endParaRPr lang="zh-CN" altLang="en-US"/>
              </a:p>
            </p:txBody>
          </p:sp>
          <p:sp>
            <p:nvSpPr>
              <p:cNvPr id="358594" name="Line 194"/>
              <p:cNvSpPr>
                <a:spLocks noChangeShapeType="1"/>
              </p:cNvSpPr>
              <p:nvPr/>
            </p:nvSpPr>
            <p:spPr bwMode="auto">
              <a:xfrm>
                <a:off x="4038" y="2958"/>
                <a:ext cx="396" cy="0"/>
              </a:xfrm>
              <a:prstGeom prst="line">
                <a:avLst/>
              </a:prstGeom>
              <a:noFill/>
              <a:ln w="9525">
                <a:solidFill>
                  <a:srgbClr val="FF0000"/>
                </a:solidFill>
                <a:round/>
                <a:headEnd/>
                <a:tailEnd/>
              </a:ln>
              <a:effectLst/>
            </p:spPr>
            <p:txBody>
              <a:bodyPr/>
              <a:lstStyle/>
              <a:p>
                <a:endParaRPr lang="zh-CN" altLang="en-US"/>
              </a:p>
            </p:txBody>
          </p:sp>
        </p:grpSp>
        <p:grpSp>
          <p:nvGrpSpPr>
            <p:cNvPr id="358595" name="Group 195"/>
            <p:cNvGrpSpPr>
              <a:grpSpLocks/>
            </p:cNvGrpSpPr>
            <p:nvPr/>
          </p:nvGrpSpPr>
          <p:grpSpPr bwMode="auto">
            <a:xfrm>
              <a:off x="4014" y="3552"/>
              <a:ext cx="312" cy="150"/>
              <a:chOff x="4038" y="2958"/>
              <a:chExt cx="396" cy="192"/>
            </a:xfrm>
          </p:grpSpPr>
          <p:sp>
            <p:nvSpPr>
              <p:cNvPr id="358596" name="Line 196"/>
              <p:cNvSpPr>
                <a:spLocks noChangeShapeType="1"/>
              </p:cNvSpPr>
              <p:nvPr/>
            </p:nvSpPr>
            <p:spPr bwMode="auto">
              <a:xfrm>
                <a:off x="4038" y="2958"/>
                <a:ext cx="0" cy="192"/>
              </a:xfrm>
              <a:prstGeom prst="line">
                <a:avLst/>
              </a:prstGeom>
              <a:noFill/>
              <a:ln w="9525">
                <a:solidFill>
                  <a:srgbClr val="FF0000"/>
                </a:solidFill>
                <a:round/>
                <a:headEnd/>
                <a:tailEnd type="triangle" w="med" len="med"/>
              </a:ln>
              <a:effectLst/>
            </p:spPr>
            <p:txBody>
              <a:bodyPr/>
              <a:lstStyle/>
              <a:p>
                <a:endParaRPr lang="zh-CN" altLang="en-US"/>
              </a:p>
            </p:txBody>
          </p:sp>
          <p:sp>
            <p:nvSpPr>
              <p:cNvPr id="358597" name="Line 197"/>
              <p:cNvSpPr>
                <a:spLocks noChangeShapeType="1"/>
              </p:cNvSpPr>
              <p:nvPr/>
            </p:nvSpPr>
            <p:spPr bwMode="auto">
              <a:xfrm>
                <a:off x="4038" y="2958"/>
                <a:ext cx="396" cy="0"/>
              </a:xfrm>
              <a:prstGeom prst="line">
                <a:avLst/>
              </a:prstGeom>
              <a:noFill/>
              <a:ln w="9525">
                <a:solidFill>
                  <a:srgbClr val="FF0000"/>
                </a:solidFill>
                <a:round/>
                <a:headEnd/>
                <a:tailEnd/>
              </a:ln>
              <a:effectLst/>
            </p:spPr>
            <p:txBody>
              <a:bodyPr/>
              <a:lstStyle/>
              <a:p>
                <a:endParaRPr lang="zh-CN" altLang="en-US"/>
              </a:p>
            </p:txBody>
          </p:sp>
        </p:grpSp>
        <p:sp>
          <p:nvSpPr>
            <p:cNvPr id="358598" name="Text Box 198"/>
            <p:cNvSpPr txBox="1">
              <a:spLocks noChangeArrowheads="1"/>
            </p:cNvSpPr>
            <p:nvPr/>
          </p:nvSpPr>
          <p:spPr bwMode="auto">
            <a:xfrm>
              <a:off x="3878" y="2630"/>
              <a:ext cx="578" cy="233"/>
            </a:xfrm>
            <a:prstGeom prst="rect">
              <a:avLst/>
            </a:prstGeom>
            <a:noFill/>
            <a:ln w="9525" algn="ctr">
              <a:noFill/>
              <a:miter lim="800000"/>
              <a:headEnd/>
              <a:tailEnd/>
            </a:ln>
            <a:effectLst/>
          </p:spPr>
          <p:txBody>
            <a:bodyPr wrap="square">
              <a:spAutoFit/>
            </a:bodyPr>
            <a:lstStyle/>
            <a:p>
              <a:r>
                <a:rPr lang="en-US" altLang="zh-CN" dirty="0">
                  <a:latin typeface="Arial" charset="0"/>
                  <a:ea typeface="楷体_GB2312" pitchFamily="49" charset="-122"/>
                </a:rPr>
                <a:t>IRQ0</a:t>
              </a:r>
            </a:p>
          </p:txBody>
        </p:sp>
        <p:sp>
          <p:nvSpPr>
            <p:cNvPr id="358599" name="Text Box 199"/>
            <p:cNvSpPr txBox="1">
              <a:spLocks noChangeArrowheads="1"/>
            </p:cNvSpPr>
            <p:nvPr/>
          </p:nvSpPr>
          <p:spPr bwMode="auto">
            <a:xfrm>
              <a:off x="3848" y="3051"/>
              <a:ext cx="565" cy="233"/>
            </a:xfrm>
            <a:prstGeom prst="rect">
              <a:avLst/>
            </a:prstGeom>
            <a:noFill/>
            <a:ln w="9525" algn="ctr">
              <a:noFill/>
              <a:miter lim="800000"/>
              <a:headEnd/>
              <a:tailEnd/>
            </a:ln>
            <a:effectLst/>
          </p:spPr>
          <p:txBody>
            <a:bodyPr wrap="square">
              <a:spAutoFit/>
            </a:bodyPr>
            <a:lstStyle/>
            <a:p>
              <a:r>
                <a:rPr lang="en-US" altLang="zh-CN" dirty="0">
                  <a:latin typeface="Arial" charset="0"/>
                  <a:ea typeface="楷体_GB2312" pitchFamily="49" charset="-122"/>
                </a:rPr>
                <a:t>IRQ15</a:t>
              </a:r>
            </a:p>
          </p:txBody>
        </p:sp>
        <p:sp>
          <p:nvSpPr>
            <p:cNvPr id="358600" name="Text Box 200"/>
            <p:cNvSpPr txBox="1">
              <a:spLocks noChangeArrowheads="1"/>
            </p:cNvSpPr>
            <p:nvPr/>
          </p:nvSpPr>
          <p:spPr bwMode="auto">
            <a:xfrm>
              <a:off x="3772" y="3378"/>
              <a:ext cx="627" cy="233"/>
            </a:xfrm>
            <a:prstGeom prst="rect">
              <a:avLst/>
            </a:prstGeom>
            <a:noFill/>
            <a:ln w="9525" algn="ctr">
              <a:noFill/>
              <a:miter lim="800000"/>
              <a:headEnd/>
              <a:tailEnd/>
            </a:ln>
            <a:effectLst/>
          </p:spPr>
          <p:txBody>
            <a:bodyPr wrap="square">
              <a:spAutoFit/>
            </a:bodyPr>
            <a:lstStyle/>
            <a:p>
              <a:r>
                <a:rPr lang="en-US" altLang="zh-CN" dirty="0" err="1">
                  <a:latin typeface="Arial" charset="0"/>
                  <a:ea typeface="楷体_GB2312" pitchFamily="49" charset="-122"/>
                </a:rPr>
                <a:t>DefIRQ</a:t>
              </a:r>
              <a:endParaRPr lang="en-US" altLang="zh-CN" dirty="0">
                <a:latin typeface="Arial" charset="0"/>
                <a:ea typeface="楷体_GB2312" pitchFamily="49" charset="-122"/>
              </a:endParaRPr>
            </a:p>
          </p:txBody>
        </p:sp>
        <p:sp>
          <p:nvSpPr>
            <p:cNvPr id="358601" name="Text Box 201"/>
            <p:cNvSpPr txBox="1">
              <a:spLocks noChangeArrowheads="1"/>
            </p:cNvSpPr>
            <p:nvPr/>
          </p:nvSpPr>
          <p:spPr bwMode="auto">
            <a:xfrm>
              <a:off x="4696" y="1942"/>
              <a:ext cx="769" cy="173"/>
            </a:xfrm>
            <a:prstGeom prst="rect">
              <a:avLst/>
            </a:prstGeom>
            <a:noFill/>
            <a:ln w="9525" algn="ctr">
              <a:noFill/>
              <a:miter lim="800000"/>
              <a:headEnd/>
              <a:tailEnd/>
            </a:ln>
            <a:effectLst/>
          </p:spPr>
          <p:txBody>
            <a:bodyPr>
              <a:spAutoFit/>
            </a:bodyPr>
            <a:lstStyle/>
            <a:p>
              <a:r>
                <a:rPr lang="en-US" altLang="zh-CN" sz="1200">
                  <a:latin typeface="Arial" charset="0"/>
                </a:rPr>
                <a:t>IRQ</a:t>
              </a:r>
              <a:r>
                <a:rPr lang="zh-CN" altLang="en-US" sz="1200">
                  <a:latin typeface="Arial" charset="0"/>
                </a:rPr>
                <a:t>中断信号</a:t>
              </a:r>
            </a:p>
          </p:txBody>
        </p:sp>
        <p:sp>
          <p:nvSpPr>
            <p:cNvPr id="358602" name="Line 202"/>
            <p:cNvSpPr>
              <a:spLocks noChangeShapeType="1"/>
            </p:cNvSpPr>
            <p:nvPr/>
          </p:nvSpPr>
          <p:spPr bwMode="auto">
            <a:xfrm>
              <a:off x="839" y="1661"/>
              <a:ext cx="0" cy="2087"/>
            </a:xfrm>
            <a:prstGeom prst="line">
              <a:avLst/>
            </a:prstGeom>
            <a:noFill/>
            <a:ln w="13970">
              <a:solidFill>
                <a:schemeClr val="tx1"/>
              </a:solidFill>
              <a:round/>
              <a:headEnd/>
              <a:tailEnd/>
            </a:ln>
            <a:effectLst/>
          </p:spPr>
          <p:txBody>
            <a:bodyPr/>
            <a:lstStyle/>
            <a:p>
              <a:endParaRPr lang="zh-CN" altLang="en-US"/>
            </a:p>
          </p:txBody>
        </p:sp>
        <p:sp>
          <p:nvSpPr>
            <p:cNvPr id="358603" name="Text Box 203"/>
            <p:cNvSpPr txBox="1">
              <a:spLocks noChangeArrowheads="1"/>
            </p:cNvSpPr>
            <p:nvPr/>
          </p:nvSpPr>
          <p:spPr bwMode="auto">
            <a:xfrm>
              <a:off x="851" y="1940"/>
              <a:ext cx="532" cy="173"/>
            </a:xfrm>
            <a:prstGeom prst="rect">
              <a:avLst/>
            </a:prstGeom>
            <a:noFill/>
            <a:ln w="9525" algn="ctr">
              <a:noFill/>
              <a:miter lim="800000"/>
              <a:headEnd/>
              <a:tailEnd/>
            </a:ln>
            <a:effectLst/>
          </p:spPr>
          <p:txBody>
            <a:bodyPr wrap="none">
              <a:spAutoFit/>
            </a:bodyPr>
            <a:lstStyle/>
            <a:p>
              <a:r>
                <a:rPr lang="zh-CN" altLang="en-US" sz="1200" dirty="0">
                  <a:latin typeface="Arial" charset="0"/>
                </a:rPr>
                <a:t>向量</a:t>
              </a:r>
              <a:r>
                <a:rPr lang="en-US" altLang="zh-CN" sz="1200" dirty="0">
                  <a:latin typeface="Arial" charset="0"/>
                </a:rPr>
                <a:t>IRQ0</a:t>
              </a:r>
            </a:p>
          </p:txBody>
        </p:sp>
        <p:sp>
          <p:nvSpPr>
            <p:cNvPr id="358604" name="Line 204"/>
            <p:cNvSpPr>
              <a:spLocks noChangeShapeType="1"/>
            </p:cNvSpPr>
            <p:nvPr/>
          </p:nvSpPr>
          <p:spPr bwMode="auto">
            <a:xfrm>
              <a:off x="839" y="2115"/>
              <a:ext cx="544" cy="0"/>
            </a:xfrm>
            <a:prstGeom prst="line">
              <a:avLst/>
            </a:prstGeom>
            <a:noFill/>
            <a:ln w="9525">
              <a:solidFill>
                <a:schemeClr val="tx1"/>
              </a:solidFill>
              <a:round/>
              <a:headEnd/>
              <a:tailEnd type="triangle" w="med" len="med"/>
            </a:ln>
            <a:effectLst/>
          </p:spPr>
          <p:txBody>
            <a:bodyPr/>
            <a:lstStyle/>
            <a:p>
              <a:endParaRPr lang="zh-CN" altLang="en-US"/>
            </a:p>
          </p:txBody>
        </p:sp>
        <p:sp>
          <p:nvSpPr>
            <p:cNvPr id="358605" name="Text Box 205"/>
            <p:cNvSpPr txBox="1">
              <a:spLocks noChangeArrowheads="1"/>
            </p:cNvSpPr>
            <p:nvPr/>
          </p:nvSpPr>
          <p:spPr bwMode="auto">
            <a:xfrm>
              <a:off x="835" y="2888"/>
              <a:ext cx="590" cy="174"/>
            </a:xfrm>
            <a:prstGeom prst="rect">
              <a:avLst/>
            </a:prstGeom>
            <a:noFill/>
            <a:ln w="9525" algn="ctr">
              <a:noFill/>
              <a:miter lim="800000"/>
              <a:headEnd/>
              <a:tailEnd/>
            </a:ln>
            <a:effectLst/>
          </p:spPr>
          <p:txBody>
            <a:bodyPr wrap="none">
              <a:spAutoFit/>
            </a:bodyPr>
            <a:lstStyle/>
            <a:p>
              <a:r>
                <a:rPr lang="zh-CN" altLang="en-US" sz="1200" dirty="0">
                  <a:latin typeface="宋体" pitchFamily="2" charset="-122"/>
                </a:rPr>
                <a:t>向量</a:t>
              </a:r>
              <a:r>
                <a:rPr lang="en-US" altLang="zh-CN" sz="1200" dirty="0">
                  <a:latin typeface="Arial" charset="0"/>
                </a:rPr>
                <a:t>IRQ15</a:t>
              </a:r>
            </a:p>
          </p:txBody>
        </p:sp>
        <p:sp>
          <p:nvSpPr>
            <p:cNvPr id="358606" name="Line 206"/>
            <p:cNvSpPr>
              <a:spLocks noChangeShapeType="1"/>
            </p:cNvSpPr>
            <p:nvPr/>
          </p:nvSpPr>
          <p:spPr bwMode="auto">
            <a:xfrm>
              <a:off x="839" y="3067"/>
              <a:ext cx="544" cy="0"/>
            </a:xfrm>
            <a:prstGeom prst="line">
              <a:avLst/>
            </a:prstGeom>
            <a:noFill/>
            <a:ln w="9525">
              <a:solidFill>
                <a:schemeClr val="tx1"/>
              </a:solidFill>
              <a:round/>
              <a:headEnd/>
              <a:tailEnd type="triangle" w="med" len="med"/>
            </a:ln>
            <a:effectLst/>
          </p:spPr>
          <p:txBody>
            <a:bodyPr/>
            <a:lstStyle/>
            <a:p>
              <a:endParaRPr lang="zh-CN" altLang="en-US"/>
            </a:p>
          </p:txBody>
        </p:sp>
        <p:sp>
          <p:nvSpPr>
            <p:cNvPr id="358608" name="Text Box 208"/>
            <p:cNvSpPr txBox="1">
              <a:spLocks noChangeArrowheads="1"/>
            </p:cNvSpPr>
            <p:nvPr/>
          </p:nvSpPr>
          <p:spPr bwMode="auto">
            <a:xfrm>
              <a:off x="835" y="3569"/>
              <a:ext cx="580" cy="174"/>
            </a:xfrm>
            <a:prstGeom prst="rect">
              <a:avLst/>
            </a:prstGeom>
            <a:noFill/>
            <a:ln w="9525" algn="ctr">
              <a:noFill/>
              <a:miter lim="800000"/>
              <a:headEnd/>
              <a:tailEnd/>
            </a:ln>
            <a:effectLst/>
          </p:spPr>
          <p:txBody>
            <a:bodyPr wrap="none">
              <a:spAutoFit/>
            </a:bodyPr>
            <a:lstStyle/>
            <a:p>
              <a:r>
                <a:rPr lang="zh-CN" altLang="en-US" sz="1200" dirty="0">
                  <a:latin typeface="宋体" pitchFamily="2" charset="-122"/>
                </a:rPr>
                <a:t>非向量</a:t>
              </a:r>
              <a:r>
                <a:rPr lang="en-US" altLang="zh-CN" sz="1200" dirty="0">
                  <a:latin typeface="Arial" charset="0"/>
                </a:rPr>
                <a:t>IRQ</a:t>
              </a:r>
            </a:p>
          </p:txBody>
        </p:sp>
        <p:sp>
          <p:nvSpPr>
            <p:cNvPr id="358609" name="Line 209"/>
            <p:cNvSpPr>
              <a:spLocks noChangeShapeType="1"/>
            </p:cNvSpPr>
            <p:nvPr/>
          </p:nvSpPr>
          <p:spPr bwMode="auto">
            <a:xfrm>
              <a:off x="839" y="3748"/>
              <a:ext cx="544" cy="0"/>
            </a:xfrm>
            <a:prstGeom prst="line">
              <a:avLst/>
            </a:prstGeom>
            <a:noFill/>
            <a:ln w="9525">
              <a:solidFill>
                <a:schemeClr val="tx1"/>
              </a:solidFill>
              <a:round/>
              <a:headEnd/>
              <a:tailEnd type="triangle" w="med" len="med"/>
            </a:ln>
            <a:effectLst/>
          </p:spPr>
          <p:txBody>
            <a:bodyPr/>
            <a:lstStyle/>
            <a:p>
              <a:endParaRPr lang="zh-CN" altLang="en-US"/>
            </a:p>
          </p:txBody>
        </p:sp>
        <p:sp>
          <p:nvSpPr>
            <p:cNvPr id="358610" name="Line 210"/>
            <p:cNvSpPr>
              <a:spLocks noChangeShapeType="1"/>
            </p:cNvSpPr>
            <p:nvPr/>
          </p:nvSpPr>
          <p:spPr bwMode="auto">
            <a:xfrm flipH="1">
              <a:off x="1111" y="2432"/>
              <a:ext cx="0" cy="227"/>
            </a:xfrm>
            <a:prstGeom prst="line">
              <a:avLst/>
            </a:prstGeom>
            <a:noFill/>
            <a:ln w="28575">
              <a:solidFill>
                <a:schemeClr val="tx1"/>
              </a:solidFill>
              <a:prstDash val="sysDot"/>
              <a:round/>
              <a:headEnd/>
              <a:tailEnd/>
            </a:ln>
            <a:effectLst/>
          </p:spPr>
          <p:txBody>
            <a:bodyPr/>
            <a:lstStyle/>
            <a:p>
              <a:endParaRPr lang="zh-CN" altLang="en-US"/>
            </a:p>
          </p:txBody>
        </p:sp>
        <p:sp>
          <p:nvSpPr>
            <p:cNvPr id="358611" name="Rectangle 211"/>
            <p:cNvSpPr>
              <a:spLocks noChangeArrowheads="1"/>
            </p:cNvSpPr>
            <p:nvPr/>
          </p:nvSpPr>
          <p:spPr bwMode="auto">
            <a:xfrm>
              <a:off x="521" y="1702"/>
              <a:ext cx="260" cy="231"/>
            </a:xfrm>
            <a:prstGeom prst="rect">
              <a:avLst/>
            </a:prstGeom>
            <a:noFill/>
            <a:ln w="9525" algn="ctr">
              <a:noFill/>
              <a:miter lim="800000"/>
              <a:headEnd/>
              <a:tailEnd/>
            </a:ln>
            <a:effectLst/>
          </p:spPr>
          <p:txBody>
            <a:bodyPr wrap="none">
              <a:spAutoFit/>
            </a:bodyPr>
            <a:lstStyle/>
            <a:p>
              <a:r>
                <a:rPr lang="zh-CN" altLang="en-US">
                  <a:latin typeface="Times New Roman" pitchFamily="18" charset="0"/>
                </a:rPr>
                <a:t>高</a:t>
              </a:r>
            </a:p>
          </p:txBody>
        </p:sp>
        <p:sp>
          <p:nvSpPr>
            <p:cNvPr id="358612" name="Rectangle 212"/>
            <p:cNvSpPr>
              <a:spLocks noChangeArrowheads="1"/>
            </p:cNvSpPr>
            <p:nvPr/>
          </p:nvSpPr>
          <p:spPr bwMode="auto">
            <a:xfrm>
              <a:off x="521" y="3567"/>
              <a:ext cx="260" cy="231"/>
            </a:xfrm>
            <a:prstGeom prst="rect">
              <a:avLst/>
            </a:prstGeom>
            <a:noFill/>
            <a:ln w="9525" algn="ctr">
              <a:noFill/>
              <a:miter lim="800000"/>
              <a:headEnd/>
              <a:tailEnd/>
            </a:ln>
            <a:effectLst/>
          </p:spPr>
          <p:txBody>
            <a:bodyPr>
              <a:spAutoFit/>
            </a:bodyPr>
            <a:lstStyle/>
            <a:p>
              <a:r>
                <a:rPr lang="zh-CN" altLang="en-US">
                  <a:latin typeface="Times New Roman" pitchFamily="18" charset="0"/>
                </a:rPr>
                <a:t>低</a:t>
              </a:r>
            </a:p>
          </p:txBody>
        </p:sp>
        <p:sp>
          <p:nvSpPr>
            <p:cNvPr id="358613" name="Line 213"/>
            <p:cNvSpPr>
              <a:spLocks noChangeShapeType="1"/>
            </p:cNvSpPr>
            <p:nvPr/>
          </p:nvSpPr>
          <p:spPr bwMode="auto">
            <a:xfrm>
              <a:off x="657" y="1933"/>
              <a:ext cx="0" cy="1619"/>
            </a:xfrm>
            <a:prstGeom prst="line">
              <a:avLst/>
            </a:prstGeom>
            <a:noFill/>
            <a:ln w="9525">
              <a:solidFill>
                <a:schemeClr val="tx1"/>
              </a:solidFill>
              <a:round/>
              <a:headEnd/>
              <a:tailEnd type="triangle" w="med" len="med"/>
            </a:ln>
            <a:effectLst/>
          </p:spPr>
          <p:txBody>
            <a:bodyPr/>
            <a:lstStyle/>
            <a:p>
              <a:endParaRPr lang="zh-CN" altLang="en-US"/>
            </a:p>
          </p:txBody>
        </p:sp>
        <p:sp>
          <p:nvSpPr>
            <p:cNvPr id="358614" name="Rectangle 214"/>
            <p:cNvSpPr>
              <a:spLocks noChangeArrowheads="1"/>
            </p:cNvSpPr>
            <p:nvPr/>
          </p:nvSpPr>
          <p:spPr bwMode="auto">
            <a:xfrm>
              <a:off x="352" y="2320"/>
              <a:ext cx="260" cy="577"/>
            </a:xfrm>
            <a:prstGeom prst="rect">
              <a:avLst/>
            </a:prstGeom>
            <a:noFill/>
            <a:ln w="9525" algn="ctr">
              <a:noFill/>
              <a:miter lim="800000"/>
              <a:headEnd/>
              <a:tailEnd/>
            </a:ln>
            <a:effectLst/>
          </p:spPr>
          <p:txBody>
            <a:bodyPr wrap="none">
              <a:spAutoFit/>
            </a:bodyPr>
            <a:lstStyle/>
            <a:p>
              <a:r>
                <a:rPr lang="zh-CN" altLang="en-US">
                  <a:solidFill>
                    <a:srgbClr val="FF0000"/>
                  </a:solidFill>
                  <a:latin typeface="Times New Roman" pitchFamily="18" charset="0"/>
                </a:rPr>
                <a:t>优</a:t>
              </a:r>
            </a:p>
            <a:p>
              <a:r>
                <a:rPr lang="zh-CN" altLang="en-US">
                  <a:solidFill>
                    <a:srgbClr val="FF0000"/>
                  </a:solidFill>
                  <a:latin typeface="Times New Roman" pitchFamily="18" charset="0"/>
                </a:rPr>
                <a:t>先</a:t>
              </a:r>
            </a:p>
            <a:p>
              <a:r>
                <a:rPr lang="zh-CN" altLang="en-US">
                  <a:solidFill>
                    <a:srgbClr val="FF0000"/>
                  </a:solidFill>
                  <a:latin typeface="Times New Roman" pitchFamily="18" charset="0"/>
                </a:rPr>
                <a:t>级</a:t>
              </a:r>
            </a:p>
          </p:txBody>
        </p:sp>
        <p:sp>
          <p:nvSpPr>
            <p:cNvPr id="358615" name="Rectangle 215"/>
            <p:cNvSpPr>
              <a:spLocks noChangeArrowheads="1"/>
            </p:cNvSpPr>
            <p:nvPr/>
          </p:nvSpPr>
          <p:spPr bwMode="auto">
            <a:xfrm>
              <a:off x="385" y="1389"/>
              <a:ext cx="907" cy="272"/>
            </a:xfrm>
            <a:prstGeom prst="rect">
              <a:avLst/>
            </a:prstGeom>
            <a:solidFill>
              <a:srgbClr val="CCFFFF"/>
            </a:solidFill>
            <a:ln w="9525" algn="ctr">
              <a:solidFill>
                <a:schemeClr val="tx1"/>
              </a:solidFill>
              <a:miter lim="800000"/>
              <a:headEnd/>
              <a:tailEnd/>
            </a:ln>
            <a:effectLst/>
          </p:spPr>
          <p:txBody>
            <a:bodyPr wrap="none" anchor="ctr"/>
            <a:lstStyle/>
            <a:p>
              <a:r>
                <a:rPr lang="en-US" altLang="zh-CN" sz="1200">
                  <a:latin typeface="Arial" charset="0"/>
                </a:rPr>
                <a:t>IRQ</a:t>
              </a:r>
              <a:r>
                <a:rPr lang="zh-CN" altLang="en-US" sz="1200">
                  <a:latin typeface="Arial" charset="0"/>
                </a:rPr>
                <a:t>中断状态寄存器</a:t>
              </a:r>
            </a:p>
            <a:p>
              <a:r>
                <a:rPr lang="en-US" altLang="zh-CN" sz="1200">
                  <a:latin typeface="Arial" charset="0"/>
                </a:rPr>
                <a:t>VICIRQStatus</a:t>
              </a:r>
            </a:p>
          </p:txBody>
        </p:sp>
        <p:sp>
          <p:nvSpPr>
            <p:cNvPr id="358616" name="Text Box 216"/>
            <p:cNvSpPr txBox="1">
              <a:spLocks noChangeArrowheads="1"/>
            </p:cNvSpPr>
            <p:nvPr/>
          </p:nvSpPr>
          <p:spPr bwMode="auto">
            <a:xfrm>
              <a:off x="5148" y="618"/>
              <a:ext cx="313" cy="407"/>
            </a:xfrm>
            <a:prstGeom prst="rect">
              <a:avLst/>
            </a:prstGeom>
            <a:noFill/>
            <a:ln w="9525" algn="ctr">
              <a:noFill/>
              <a:miter lim="800000"/>
              <a:headEnd/>
              <a:tailEnd/>
            </a:ln>
            <a:effectLst/>
          </p:spPr>
          <p:txBody>
            <a:bodyPr>
              <a:spAutoFit/>
            </a:bodyPr>
            <a:lstStyle/>
            <a:p>
              <a:r>
                <a:rPr lang="en-US" altLang="zh-CN" sz="1200">
                  <a:latin typeface="Arial" charset="0"/>
                </a:rPr>
                <a:t>FIQ</a:t>
              </a:r>
              <a:r>
                <a:rPr lang="zh-CN" altLang="en-US" sz="1200">
                  <a:latin typeface="Arial" charset="0"/>
                </a:rPr>
                <a:t>中断信号</a:t>
              </a:r>
            </a:p>
          </p:txBody>
        </p:sp>
        <p:sp>
          <p:nvSpPr>
            <p:cNvPr id="358617" name="Rectangle 217"/>
            <p:cNvSpPr>
              <a:spLocks noChangeArrowheads="1"/>
            </p:cNvSpPr>
            <p:nvPr/>
          </p:nvSpPr>
          <p:spPr bwMode="auto">
            <a:xfrm>
              <a:off x="3606" y="663"/>
              <a:ext cx="544" cy="408"/>
            </a:xfrm>
            <a:prstGeom prst="rect">
              <a:avLst/>
            </a:prstGeom>
            <a:solidFill>
              <a:srgbClr val="CCFFCC"/>
            </a:solidFill>
            <a:ln w="9525">
              <a:solidFill>
                <a:schemeClr val="tx1"/>
              </a:solidFill>
              <a:miter lim="800000"/>
              <a:headEnd/>
              <a:tailEnd/>
            </a:ln>
            <a:effectLst/>
          </p:spPr>
          <p:txBody>
            <a:bodyPr wrap="none" anchor="ctr"/>
            <a:lstStyle/>
            <a:p>
              <a:endParaRPr lang="zh-CN" altLang="en-US"/>
            </a:p>
          </p:txBody>
        </p:sp>
        <p:sp>
          <p:nvSpPr>
            <p:cNvPr id="358618" name="Rectangle 218"/>
            <p:cNvSpPr>
              <a:spLocks noChangeArrowheads="1"/>
            </p:cNvSpPr>
            <p:nvPr/>
          </p:nvSpPr>
          <p:spPr bwMode="auto">
            <a:xfrm>
              <a:off x="3515" y="1072"/>
              <a:ext cx="725" cy="272"/>
            </a:xfrm>
            <a:prstGeom prst="rect">
              <a:avLst/>
            </a:prstGeom>
            <a:solidFill>
              <a:srgbClr val="CCFFFF"/>
            </a:solidFill>
            <a:ln w="9525">
              <a:solidFill>
                <a:schemeClr val="tx1"/>
              </a:solidFill>
              <a:miter lim="800000"/>
              <a:headEnd/>
              <a:tailEnd/>
            </a:ln>
            <a:effectLst/>
          </p:spPr>
          <p:txBody>
            <a:bodyPr wrap="none" anchor="ctr"/>
            <a:lstStyle/>
            <a:p>
              <a:r>
                <a:rPr lang="zh-CN" altLang="en-US" sz="1200" dirty="0">
                  <a:latin typeface="宋体" pitchFamily="2" charset="-122"/>
                </a:rPr>
                <a:t>中断选择寄存器</a:t>
              </a:r>
            </a:p>
            <a:p>
              <a:r>
                <a:rPr lang="en-US" altLang="zh-CN" sz="1200" dirty="0" err="1">
                  <a:latin typeface="Arial" charset="0"/>
                </a:rPr>
                <a:t>VICIntSelect</a:t>
              </a:r>
              <a:endParaRPr lang="en-US" altLang="zh-CN" sz="1200" dirty="0">
                <a:latin typeface="Arial" charset="0"/>
              </a:endParaRPr>
            </a:p>
          </p:txBody>
        </p:sp>
        <p:sp>
          <p:nvSpPr>
            <p:cNvPr id="358620" name="Rectangle 220"/>
            <p:cNvSpPr>
              <a:spLocks noChangeArrowheads="1"/>
            </p:cNvSpPr>
            <p:nvPr/>
          </p:nvSpPr>
          <p:spPr bwMode="auto">
            <a:xfrm>
              <a:off x="2790" y="799"/>
              <a:ext cx="453" cy="272"/>
            </a:xfrm>
            <a:prstGeom prst="rect">
              <a:avLst/>
            </a:prstGeom>
            <a:solidFill>
              <a:srgbClr val="CCFFCC"/>
            </a:solidFill>
            <a:ln w="9525" algn="ctr">
              <a:solidFill>
                <a:schemeClr val="tx1"/>
              </a:solidFill>
              <a:miter lim="800000"/>
              <a:headEnd/>
              <a:tailEnd/>
            </a:ln>
            <a:effectLst/>
          </p:spPr>
          <p:txBody>
            <a:bodyPr wrap="none" anchor="ctr"/>
            <a:lstStyle/>
            <a:p>
              <a:endParaRPr lang="zh-CN" altLang="en-US"/>
            </a:p>
          </p:txBody>
        </p:sp>
        <p:sp>
          <p:nvSpPr>
            <p:cNvPr id="358621" name="Rectangle 221"/>
            <p:cNvSpPr>
              <a:spLocks noChangeArrowheads="1"/>
            </p:cNvSpPr>
            <p:nvPr/>
          </p:nvSpPr>
          <p:spPr bwMode="auto">
            <a:xfrm>
              <a:off x="2563" y="1072"/>
              <a:ext cx="907" cy="272"/>
            </a:xfrm>
            <a:prstGeom prst="rect">
              <a:avLst/>
            </a:prstGeom>
            <a:solidFill>
              <a:srgbClr val="CCFFFF"/>
            </a:solidFill>
            <a:ln w="9525">
              <a:solidFill>
                <a:schemeClr val="tx1"/>
              </a:solidFill>
              <a:miter lim="800000"/>
              <a:headEnd/>
              <a:tailEnd/>
            </a:ln>
            <a:effectLst/>
          </p:spPr>
          <p:txBody>
            <a:bodyPr wrap="none" anchor="ctr"/>
            <a:lstStyle/>
            <a:p>
              <a:r>
                <a:rPr lang="zh-CN" altLang="en-US" sz="1200" dirty="0">
                  <a:latin typeface="Arial" charset="0"/>
                </a:rPr>
                <a:t>中断使能寄存器</a:t>
              </a:r>
            </a:p>
            <a:p>
              <a:r>
                <a:rPr lang="en-US" altLang="zh-CN" sz="1200" dirty="0" err="1">
                  <a:latin typeface="Arial" charset="0"/>
                </a:rPr>
                <a:t>VICIntEnable</a:t>
              </a:r>
              <a:endParaRPr lang="en-US" altLang="zh-CN" sz="1200" dirty="0">
                <a:latin typeface="Arial" charset="0"/>
              </a:endParaRPr>
            </a:p>
          </p:txBody>
        </p:sp>
        <p:sp>
          <p:nvSpPr>
            <p:cNvPr id="358622" name="Rectangle 222"/>
            <p:cNvSpPr>
              <a:spLocks noChangeArrowheads="1"/>
            </p:cNvSpPr>
            <p:nvPr/>
          </p:nvSpPr>
          <p:spPr bwMode="auto">
            <a:xfrm>
              <a:off x="2563" y="527"/>
              <a:ext cx="907" cy="272"/>
            </a:xfrm>
            <a:prstGeom prst="rect">
              <a:avLst/>
            </a:prstGeom>
            <a:solidFill>
              <a:srgbClr val="CCFFFF"/>
            </a:solidFill>
            <a:ln w="9525" algn="ctr">
              <a:solidFill>
                <a:schemeClr val="tx1"/>
              </a:solidFill>
              <a:miter lim="800000"/>
              <a:headEnd/>
              <a:tailEnd/>
            </a:ln>
            <a:effectLst/>
          </p:spPr>
          <p:txBody>
            <a:bodyPr wrap="none" anchor="ctr"/>
            <a:lstStyle/>
            <a:p>
              <a:r>
                <a:rPr lang="zh-CN" altLang="en-US" sz="1200">
                  <a:latin typeface="Arial" charset="0"/>
                </a:rPr>
                <a:t>中断使能清零寄存器</a:t>
              </a:r>
            </a:p>
            <a:p>
              <a:r>
                <a:rPr lang="en-US" altLang="zh-CN" sz="1200">
                  <a:latin typeface="Arial" charset="0"/>
                </a:rPr>
                <a:t>VICIntEnClr</a:t>
              </a:r>
            </a:p>
          </p:txBody>
        </p:sp>
        <p:sp>
          <p:nvSpPr>
            <p:cNvPr id="358623" name="Line 223"/>
            <p:cNvSpPr>
              <a:spLocks noChangeShapeType="1"/>
            </p:cNvSpPr>
            <p:nvPr/>
          </p:nvSpPr>
          <p:spPr bwMode="auto">
            <a:xfrm>
              <a:off x="5103" y="799"/>
              <a:ext cx="90" cy="0"/>
            </a:xfrm>
            <a:prstGeom prst="line">
              <a:avLst/>
            </a:prstGeom>
            <a:noFill/>
            <a:ln w="9525">
              <a:solidFill>
                <a:schemeClr val="tx1"/>
              </a:solidFill>
              <a:round/>
              <a:headEnd/>
              <a:tailEnd type="triangle" w="med" len="med"/>
            </a:ln>
            <a:effectLst/>
          </p:spPr>
          <p:txBody>
            <a:bodyPr/>
            <a:lstStyle/>
            <a:p>
              <a:endParaRPr lang="zh-CN" altLang="en-US"/>
            </a:p>
          </p:txBody>
        </p:sp>
        <p:sp>
          <p:nvSpPr>
            <p:cNvPr id="358624" name="Rectangle 224"/>
            <p:cNvSpPr>
              <a:spLocks noChangeArrowheads="1"/>
            </p:cNvSpPr>
            <p:nvPr/>
          </p:nvSpPr>
          <p:spPr bwMode="auto">
            <a:xfrm>
              <a:off x="1429" y="572"/>
              <a:ext cx="272" cy="725"/>
            </a:xfrm>
            <a:prstGeom prst="rect">
              <a:avLst/>
            </a:prstGeom>
            <a:solidFill>
              <a:srgbClr val="CCFFCC"/>
            </a:solidFill>
            <a:ln w="9525" algn="ctr">
              <a:solidFill>
                <a:schemeClr val="tx1"/>
              </a:solidFill>
              <a:miter lim="800000"/>
              <a:headEnd/>
              <a:tailEnd/>
            </a:ln>
            <a:effectLst/>
          </p:spPr>
          <p:txBody>
            <a:bodyPr wrap="none" anchor="ctr"/>
            <a:lstStyle/>
            <a:p>
              <a:endParaRPr lang="zh-CN" altLang="en-US"/>
            </a:p>
          </p:txBody>
        </p:sp>
        <p:sp>
          <p:nvSpPr>
            <p:cNvPr id="358625" name="Rectangle 225"/>
            <p:cNvSpPr>
              <a:spLocks noChangeArrowheads="1"/>
            </p:cNvSpPr>
            <p:nvPr/>
          </p:nvSpPr>
          <p:spPr bwMode="auto">
            <a:xfrm>
              <a:off x="385" y="1026"/>
              <a:ext cx="907" cy="272"/>
            </a:xfrm>
            <a:prstGeom prst="rect">
              <a:avLst/>
            </a:prstGeom>
            <a:solidFill>
              <a:srgbClr val="CCFFCC"/>
            </a:solidFill>
            <a:ln w="9525" algn="ctr">
              <a:solidFill>
                <a:schemeClr val="tx1"/>
              </a:solidFill>
              <a:miter lim="800000"/>
              <a:headEnd/>
              <a:tailEnd/>
            </a:ln>
            <a:effectLst/>
          </p:spPr>
          <p:txBody>
            <a:bodyPr wrap="none" anchor="ctr"/>
            <a:lstStyle/>
            <a:p>
              <a:r>
                <a:rPr lang="zh-CN" altLang="en-US" sz="1200">
                  <a:latin typeface="Times New Roman" pitchFamily="18" charset="0"/>
                  <a:ea typeface="楷体_GB2312" pitchFamily="49" charset="-122"/>
                </a:rPr>
                <a:t>中断源</a:t>
              </a:r>
            </a:p>
            <a:p>
              <a:r>
                <a:rPr lang="en-US" altLang="zh-CN" sz="1200">
                  <a:latin typeface="Times New Roman" pitchFamily="18" charset="0"/>
                  <a:ea typeface="楷体_GB2312" pitchFamily="49" charset="-122"/>
                </a:rPr>
                <a:t>[31:0]</a:t>
              </a:r>
            </a:p>
          </p:txBody>
        </p:sp>
        <p:sp>
          <p:nvSpPr>
            <p:cNvPr id="358626" name="Rectangle 226"/>
            <p:cNvSpPr>
              <a:spLocks noChangeArrowheads="1"/>
            </p:cNvSpPr>
            <p:nvPr/>
          </p:nvSpPr>
          <p:spPr bwMode="auto">
            <a:xfrm>
              <a:off x="385" y="421"/>
              <a:ext cx="907" cy="272"/>
            </a:xfrm>
            <a:prstGeom prst="rect">
              <a:avLst/>
            </a:prstGeom>
            <a:solidFill>
              <a:srgbClr val="CCFFFF"/>
            </a:solidFill>
            <a:ln w="9525" algn="ctr">
              <a:solidFill>
                <a:schemeClr val="tx1"/>
              </a:solidFill>
              <a:miter lim="800000"/>
              <a:headEnd/>
              <a:tailEnd/>
            </a:ln>
            <a:effectLst/>
          </p:spPr>
          <p:txBody>
            <a:bodyPr wrap="none" anchor="ctr"/>
            <a:lstStyle/>
            <a:p>
              <a:r>
                <a:rPr lang="zh-CN" altLang="en-US" sz="1200">
                  <a:latin typeface="Arial" charset="0"/>
                </a:rPr>
                <a:t>软件中断使能寄存器</a:t>
              </a:r>
            </a:p>
            <a:p>
              <a:r>
                <a:rPr lang="en-US" altLang="zh-CN" sz="1200">
                  <a:latin typeface="Arial" charset="0"/>
                </a:rPr>
                <a:t>VICSoftInt</a:t>
              </a:r>
            </a:p>
          </p:txBody>
        </p:sp>
        <p:sp>
          <p:nvSpPr>
            <p:cNvPr id="358627" name="Rectangle 227"/>
            <p:cNvSpPr>
              <a:spLocks noChangeArrowheads="1"/>
            </p:cNvSpPr>
            <p:nvPr/>
          </p:nvSpPr>
          <p:spPr bwMode="auto">
            <a:xfrm>
              <a:off x="385" y="709"/>
              <a:ext cx="907" cy="272"/>
            </a:xfrm>
            <a:prstGeom prst="rect">
              <a:avLst/>
            </a:prstGeom>
            <a:solidFill>
              <a:srgbClr val="CCFFFF"/>
            </a:solidFill>
            <a:ln w="9525" algn="ctr">
              <a:solidFill>
                <a:schemeClr val="tx1"/>
              </a:solidFill>
              <a:miter lim="800000"/>
              <a:headEnd/>
              <a:tailEnd/>
            </a:ln>
            <a:effectLst/>
          </p:spPr>
          <p:txBody>
            <a:bodyPr wrap="none" anchor="ctr"/>
            <a:lstStyle/>
            <a:p>
              <a:r>
                <a:rPr lang="zh-CN" altLang="en-US" sz="1200">
                  <a:latin typeface="Arial" charset="0"/>
                </a:rPr>
                <a:t>软件中断清零寄存器</a:t>
              </a:r>
            </a:p>
            <a:p>
              <a:r>
                <a:rPr lang="en-US" altLang="zh-CN" sz="1200">
                  <a:latin typeface="Arial" charset="0"/>
                </a:rPr>
                <a:t>VICSoftIntClear</a:t>
              </a:r>
            </a:p>
          </p:txBody>
        </p:sp>
        <p:sp>
          <p:nvSpPr>
            <p:cNvPr id="358628" name="Line 228"/>
            <p:cNvSpPr>
              <a:spLocks noChangeShapeType="1"/>
            </p:cNvSpPr>
            <p:nvPr/>
          </p:nvSpPr>
          <p:spPr bwMode="auto">
            <a:xfrm>
              <a:off x="1655" y="935"/>
              <a:ext cx="136" cy="0"/>
            </a:xfrm>
            <a:prstGeom prst="line">
              <a:avLst/>
            </a:prstGeom>
            <a:noFill/>
            <a:ln w="9525">
              <a:solidFill>
                <a:schemeClr val="tx1"/>
              </a:solidFill>
              <a:round/>
              <a:headEnd/>
              <a:tailEnd type="triangle" w="med" len="med"/>
            </a:ln>
            <a:effectLst/>
          </p:spPr>
          <p:txBody>
            <a:bodyPr/>
            <a:lstStyle/>
            <a:p>
              <a:endParaRPr lang="zh-CN" altLang="en-US"/>
            </a:p>
          </p:txBody>
        </p:sp>
        <p:cxnSp>
          <p:nvCxnSpPr>
            <p:cNvPr id="358629" name="AutoShape 229"/>
            <p:cNvCxnSpPr>
              <a:cxnSpLocks noChangeShapeType="1"/>
              <a:stCxn id="358626" idx="3"/>
              <a:endCxn id="358627" idx="3"/>
            </p:cNvCxnSpPr>
            <p:nvPr/>
          </p:nvCxnSpPr>
          <p:spPr bwMode="auto">
            <a:xfrm>
              <a:off x="1292" y="557"/>
              <a:ext cx="1" cy="288"/>
            </a:xfrm>
            <a:prstGeom prst="bentConnector3">
              <a:avLst>
                <a:gd name="adj1" fmla="val 6700000"/>
              </a:avLst>
            </a:prstGeom>
            <a:noFill/>
            <a:ln w="9525">
              <a:solidFill>
                <a:schemeClr val="tx1"/>
              </a:solidFill>
              <a:miter lim="800000"/>
              <a:headEnd/>
              <a:tailEnd/>
            </a:ln>
            <a:effectLst/>
          </p:spPr>
        </p:cxnSp>
        <p:sp>
          <p:nvSpPr>
            <p:cNvPr id="358630" name="Line 230"/>
            <p:cNvSpPr>
              <a:spLocks noChangeShapeType="1"/>
            </p:cNvSpPr>
            <p:nvPr/>
          </p:nvSpPr>
          <p:spPr bwMode="auto">
            <a:xfrm>
              <a:off x="1352" y="709"/>
              <a:ext cx="122" cy="0"/>
            </a:xfrm>
            <a:prstGeom prst="line">
              <a:avLst/>
            </a:prstGeom>
            <a:noFill/>
            <a:ln w="9525">
              <a:solidFill>
                <a:schemeClr val="tx1"/>
              </a:solidFill>
              <a:round/>
              <a:headEnd/>
              <a:tailEnd/>
            </a:ln>
            <a:effectLst/>
          </p:spPr>
          <p:txBody>
            <a:bodyPr/>
            <a:lstStyle/>
            <a:p>
              <a:endParaRPr lang="zh-CN" altLang="en-US"/>
            </a:p>
          </p:txBody>
        </p:sp>
        <p:sp>
          <p:nvSpPr>
            <p:cNvPr id="358631" name="Line 231"/>
            <p:cNvSpPr>
              <a:spLocks noChangeShapeType="1"/>
            </p:cNvSpPr>
            <p:nvPr/>
          </p:nvSpPr>
          <p:spPr bwMode="auto">
            <a:xfrm>
              <a:off x="2517" y="935"/>
              <a:ext cx="408" cy="0"/>
            </a:xfrm>
            <a:prstGeom prst="line">
              <a:avLst/>
            </a:prstGeom>
            <a:noFill/>
            <a:ln w="9525">
              <a:solidFill>
                <a:schemeClr val="tx1"/>
              </a:solidFill>
              <a:round/>
              <a:headEnd/>
              <a:tailEnd/>
            </a:ln>
            <a:effectLst/>
          </p:spPr>
          <p:txBody>
            <a:bodyPr/>
            <a:lstStyle/>
            <a:p>
              <a:endParaRPr lang="zh-CN" altLang="en-US"/>
            </a:p>
          </p:txBody>
        </p:sp>
        <p:sp>
          <p:nvSpPr>
            <p:cNvPr id="358632" name="Line 232"/>
            <p:cNvSpPr>
              <a:spLocks noChangeShapeType="1"/>
            </p:cNvSpPr>
            <p:nvPr/>
          </p:nvSpPr>
          <p:spPr bwMode="auto">
            <a:xfrm flipV="1">
              <a:off x="1610" y="709"/>
              <a:ext cx="45" cy="0"/>
            </a:xfrm>
            <a:prstGeom prst="line">
              <a:avLst/>
            </a:prstGeom>
            <a:noFill/>
            <a:ln w="9525">
              <a:solidFill>
                <a:schemeClr val="tx1"/>
              </a:solidFill>
              <a:round/>
              <a:headEnd type="oval" w="med" len="med"/>
              <a:tailEnd/>
            </a:ln>
            <a:effectLst/>
          </p:spPr>
          <p:txBody>
            <a:bodyPr/>
            <a:lstStyle/>
            <a:p>
              <a:endParaRPr lang="zh-CN" altLang="en-US"/>
            </a:p>
          </p:txBody>
        </p:sp>
        <p:sp>
          <p:nvSpPr>
            <p:cNvPr id="358633" name="Line 233"/>
            <p:cNvSpPr>
              <a:spLocks noChangeShapeType="1"/>
            </p:cNvSpPr>
            <p:nvPr/>
          </p:nvSpPr>
          <p:spPr bwMode="auto">
            <a:xfrm flipH="1">
              <a:off x="1655" y="712"/>
              <a:ext cx="0" cy="450"/>
            </a:xfrm>
            <a:prstGeom prst="line">
              <a:avLst/>
            </a:prstGeom>
            <a:noFill/>
            <a:ln w="9525">
              <a:solidFill>
                <a:schemeClr val="tx1"/>
              </a:solidFill>
              <a:round/>
              <a:headEnd/>
              <a:tailEnd/>
            </a:ln>
            <a:effectLst/>
          </p:spPr>
          <p:txBody>
            <a:bodyPr/>
            <a:lstStyle/>
            <a:p>
              <a:endParaRPr lang="zh-CN" altLang="en-US"/>
            </a:p>
          </p:txBody>
        </p:sp>
        <p:sp>
          <p:nvSpPr>
            <p:cNvPr id="358634" name="Line 234"/>
            <p:cNvSpPr>
              <a:spLocks noChangeShapeType="1"/>
            </p:cNvSpPr>
            <p:nvPr/>
          </p:nvSpPr>
          <p:spPr bwMode="auto">
            <a:xfrm flipV="1">
              <a:off x="1610" y="1162"/>
              <a:ext cx="45" cy="0"/>
            </a:xfrm>
            <a:prstGeom prst="line">
              <a:avLst/>
            </a:prstGeom>
            <a:noFill/>
            <a:ln w="9525">
              <a:solidFill>
                <a:schemeClr val="tx1"/>
              </a:solidFill>
              <a:round/>
              <a:headEnd type="oval" w="med" len="med"/>
              <a:tailEnd/>
            </a:ln>
            <a:effectLst/>
          </p:spPr>
          <p:txBody>
            <a:bodyPr/>
            <a:lstStyle/>
            <a:p>
              <a:endParaRPr lang="zh-CN" altLang="en-US"/>
            </a:p>
          </p:txBody>
        </p:sp>
        <p:sp>
          <p:nvSpPr>
            <p:cNvPr id="358635" name="Line 235"/>
            <p:cNvSpPr>
              <a:spLocks noChangeShapeType="1"/>
            </p:cNvSpPr>
            <p:nvPr/>
          </p:nvSpPr>
          <p:spPr bwMode="auto">
            <a:xfrm flipV="1">
              <a:off x="1466" y="618"/>
              <a:ext cx="144" cy="91"/>
            </a:xfrm>
            <a:prstGeom prst="line">
              <a:avLst/>
            </a:prstGeom>
            <a:noFill/>
            <a:ln w="9525">
              <a:solidFill>
                <a:schemeClr val="tx1"/>
              </a:solidFill>
              <a:round/>
              <a:headEnd/>
              <a:tailEnd/>
            </a:ln>
            <a:effectLst/>
          </p:spPr>
          <p:txBody>
            <a:bodyPr/>
            <a:lstStyle/>
            <a:p>
              <a:endParaRPr lang="zh-CN" altLang="en-US"/>
            </a:p>
          </p:txBody>
        </p:sp>
        <p:sp>
          <p:nvSpPr>
            <p:cNvPr id="358636" name="Line 236"/>
            <p:cNvSpPr>
              <a:spLocks noChangeShapeType="1"/>
            </p:cNvSpPr>
            <p:nvPr/>
          </p:nvSpPr>
          <p:spPr bwMode="auto">
            <a:xfrm flipV="1">
              <a:off x="1466" y="1071"/>
              <a:ext cx="144" cy="91"/>
            </a:xfrm>
            <a:prstGeom prst="line">
              <a:avLst/>
            </a:prstGeom>
            <a:noFill/>
            <a:ln w="9525">
              <a:solidFill>
                <a:schemeClr val="tx1"/>
              </a:solidFill>
              <a:round/>
              <a:headEnd/>
              <a:tailEnd/>
            </a:ln>
            <a:effectLst/>
          </p:spPr>
          <p:txBody>
            <a:bodyPr/>
            <a:lstStyle/>
            <a:p>
              <a:endParaRPr lang="zh-CN" altLang="en-US"/>
            </a:p>
          </p:txBody>
        </p:sp>
        <p:sp>
          <p:nvSpPr>
            <p:cNvPr id="358637" name="Line 237"/>
            <p:cNvSpPr>
              <a:spLocks noChangeShapeType="1"/>
            </p:cNvSpPr>
            <p:nvPr/>
          </p:nvSpPr>
          <p:spPr bwMode="auto">
            <a:xfrm flipV="1">
              <a:off x="2925" y="859"/>
              <a:ext cx="164" cy="76"/>
            </a:xfrm>
            <a:prstGeom prst="line">
              <a:avLst/>
            </a:prstGeom>
            <a:noFill/>
            <a:ln w="9525">
              <a:solidFill>
                <a:schemeClr val="tx1"/>
              </a:solidFill>
              <a:round/>
              <a:headEnd/>
              <a:tailEnd/>
            </a:ln>
            <a:effectLst/>
          </p:spPr>
          <p:txBody>
            <a:bodyPr/>
            <a:lstStyle/>
            <a:p>
              <a:endParaRPr lang="zh-CN" altLang="en-US"/>
            </a:p>
          </p:txBody>
        </p:sp>
        <p:sp>
          <p:nvSpPr>
            <p:cNvPr id="358638" name="Line 238"/>
            <p:cNvSpPr>
              <a:spLocks noChangeShapeType="1"/>
            </p:cNvSpPr>
            <p:nvPr/>
          </p:nvSpPr>
          <p:spPr bwMode="auto">
            <a:xfrm>
              <a:off x="3969" y="799"/>
              <a:ext cx="267" cy="0"/>
            </a:xfrm>
            <a:prstGeom prst="line">
              <a:avLst/>
            </a:prstGeom>
            <a:noFill/>
            <a:ln w="9525">
              <a:solidFill>
                <a:schemeClr val="tx1"/>
              </a:solidFill>
              <a:round/>
              <a:headEnd type="oval" w="med" len="med"/>
              <a:tailEnd type="triangle" w="med" len="med"/>
            </a:ln>
            <a:effectLst/>
          </p:spPr>
          <p:txBody>
            <a:bodyPr/>
            <a:lstStyle/>
            <a:p>
              <a:endParaRPr lang="zh-CN" altLang="en-US"/>
            </a:p>
          </p:txBody>
        </p:sp>
        <p:sp>
          <p:nvSpPr>
            <p:cNvPr id="358639" name="Line 239"/>
            <p:cNvSpPr>
              <a:spLocks noChangeShapeType="1"/>
            </p:cNvSpPr>
            <p:nvPr/>
          </p:nvSpPr>
          <p:spPr bwMode="auto">
            <a:xfrm flipV="1">
              <a:off x="3696" y="754"/>
              <a:ext cx="227" cy="181"/>
            </a:xfrm>
            <a:prstGeom prst="line">
              <a:avLst/>
            </a:prstGeom>
            <a:noFill/>
            <a:ln w="9525">
              <a:solidFill>
                <a:schemeClr val="tx1"/>
              </a:solidFill>
              <a:round/>
              <a:headEnd/>
              <a:tailEnd/>
            </a:ln>
            <a:effectLst/>
          </p:spPr>
          <p:txBody>
            <a:bodyPr/>
            <a:lstStyle/>
            <a:p>
              <a:endParaRPr lang="zh-CN" altLang="en-US"/>
            </a:p>
          </p:txBody>
        </p:sp>
        <p:sp>
          <p:nvSpPr>
            <p:cNvPr id="358640" name="Line 240"/>
            <p:cNvSpPr>
              <a:spLocks noChangeShapeType="1"/>
            </p:cNvSpPr>
            <p:nvPr/>
          </p:nvSpPr>
          <p:spPr bwMode="auto">
            <a:xfrm flipV="1">
              <a:off x="3969" y="981"/>
              <a:ext cx="363" cy="0"/>
            </a:xfrm>
            <a:prstGeom prst="line">
              <a:avLst/>
            </a:prstGeom>
            <a:noFill/>
            <a:ln w="9525">
              <a:solidFill>
                <a:schemeClr val="tx1"/>
              </a:solidFill>
              <a:round/>
              <a:headEnd type="oval" w="med" len="med"/>
              <a:tailEnd type="triangle" w="med" len="med"/>
            </a:ln>
            <a:effectLst/>
          </p:spPr>
          <p:txBody>
            <a:bodyPr/>
            <a:lstStyle/>
            <a:p>
              <a:endParaRPr lang="zh-CN" altLang="en-US"/>
            </a:p>
          </p:txBody>
        </p:sp>
        <p:sp>
          <p:nvSpPr>
            <p:cNvPr id="358641" name="Rectangle 241"/>
            <p:cNvSpPr>
              <a:spLocks noChangeArrowheads="1"/>
            </p:cNvSpPr>
            <p:nvPr/>
          </p:nvSpPr>
          <p:spPr bwMode="auto">
            <a:xfrm>
              <a:off x="4241" y="663"/>
              <a:ext cx="862" cy="272"/>
            </a:xfrm>
            <a:prstGeom prst="rect">
              <a:avLst/>
            </a:prstGeom>
            <a:solidFill>
              <a:srgbClr val="CCFFFF"/>
            </a:solidFill>
            <a:ln w="9525">
              <a:solidFill>
                <a:schemeClr val="tx1"/>
              </a:solidFill>
              <a:miter lim="800000"/>
              <a:headEnd/>
              <a:tailEnd/>
            </a:ln>
            <a:effectLst/>
          </p:spPr>
          <p:txBody>
            <a:bodyPr wrap="none" anchor="ctr"/>
            <a:lstStyle/>
            <a:p>
              <a:r>
                <a:rPr lang="en-US" altLang="zh-CN" sz="1200" dirty="0">
                  <a:latin typeface="Arial" charset="0"/>
                </a:rPr>
                <a:t>FIQ</a:t>
              </a:r>
              <a:r>
                <a:rPr lang="zh-CN" altLang="en-US" sz="1200" dirty="0">
                  <a:latin typeface="Arial" charset="0"/>
                </a:rPr>
                <a:t>中断状态寄存器</a:t>
              </a:r>
            </a:p>
            <a:p>
              <a:r>
                <a:rPr lang="en-US" altLang="zh-CN" sz="1200" dirty="0" err="1">
                  <a:latin typeface="Arial" charset="0"/>
                </a:rPr>
                <a:t>VICFIQStatus</a:t>
              </a:r>
              <a:endParaRPr lang="en-US" altLang="zh-CN" sz="1200" dirty="0">
                <a:latin typeface="Arial" charset="0"/>
              </a:endParaRPr>
            </a:p>
          </p:txBody>
        </p:sp>
        <p:sp>
          <p:nvSpPr>
            <p:cNvPr id="358642" name="Rectangle 242"/>
            <p:cNvSpPr>
              <a:spLocks noChangeArrowheads="1"/>
            </p:cNvSpPr>
            <p:nvPr/>
          </p:nvSpPr>
          <p:spPr bwMode="auto">
            <a:xfrm>
              <a:off x="1791" y="799"/>
              <a:ext cx="725" cy="272"/>
            </a:xfrm>
            <a:prstGeom prst="rect">
              <a:avLst/>
            </a:prstGeom>
            <a:solidFill>
              <a:srgbClr val="CCFFFF"/>
            </a:solidFill>
            <a:ln w="9525" algn="ctr">
              <a:solidFill>
                <a:schemeClr val="tx1"/>
              </a:solidFill>
              <a:miter lim="800000"/>
              <a:headEnd/>
              <a:tailEnd/>
            </a:ln>
            <a:effectLst/>
          </p:spPr>
          <p:txBody>
            <a:bodyPr wrap="none" anchor="ctr"/>
            <a:lstStyle/>
            <a:p>
              <a:r>
                <a:rPr lang="zh-CN" altLang="en-US" sz="1200">
                  <a:latin typeface="Arial" charset="0"/>
                </a:rPr>
                <a:t>中断状态寄存器</a:t>
              </a:r>
            </a:p>
            <a:p>
              <a:r>
                <a:rPr lang="en-US" altLang="zh-CN" sz="1200">
                  <a:latin typeface="Arial" charset="0"/>
                </a:rPr>
                <a:t>VICRawIntr</a:t>
              </a:r>
            </a:p>
          </p:txBody>
        </p:sp>
        <p:sp>
          <p:nvSpPr>
            <p:cNvPr id="358643" name="Line 243"/>
            <p:cNvSpPr>
              <a:spLocks noChangeShapeType="1"/>
            </p:cNvSpPr>
            <p:nvPr/>
          </p:nvSpPr>
          <p:spPr bwMode="auto">
            <a:xfrm flipV="1">
              <a:off x="1292" y="1162"/>
              <a:ext cx="181" cy="0"/>
            </a:xfrm>
            <a:prstGeom prst="line">
              <a:avLst/>
            </a:prstGeom>
            <a:noFill/>
            <a:ln w="9525">
              <a:solidFill>
                <a:schemeClr val="tx1"/>
              </a:solidFill>
              <a:round/>
              <a:headEnd/>
              <a:tailEnd/>
            </a:ln>
            <a:effectLst/>
          </p:spPr>
          <p:txBody>
            <a:bodyPr/>
            <a:lstStyle/>
            <a:p>
              <a:endParaRPr lang="zh-CN" altLang="en-US"/>
            </a:p>
          </p:txBody>
        </p:sp>
        <p:sp>
          <p:nvSpPr>
            <p:cNvPr id="358644" name="Text Box 244"/>
            <p:cNvSpPr txBox="1">
              <a:spLocks noChangeArrowheads="1"/>
            </p:cNvSpPr>
            <p:nvPr/>
          </p:nvSpPr>
          <p:spPr bwMode="auto">
            <a:xfrm>
              <a:off x="4315" y="1072"/>
              <a:ext cx="367" cy="233"/>
            </a:xfrm>
            <a:prstGeom prst="rect">
              <a:avLst/>
            </a:prstGeom>
            <a:noFill/>
            <a:ln w="9525" algn="ctr">
              <a:noFill/>
              <a:miter lim="800000"/>
              <a:headEnd/>
              <a:tailEnd/>
            </a:ln>
            <a:effectLst/>
          </p:spPr>
          <p:txBody>
            <a:bodyPr wrap="none">
              <a:spAutoFit/>
            </a:bodyPr>
            <a:lstStyle/>
            <a:p>
              <a:r>
                <a:rPr lang="en-US" altLang="zh-CN" dirty="0">
                  <a:latin typeface="Times New Roman" pitchFamily="18" charset="0"/>
                  <a:ea typeface="楷体_GB2312" pitchFamily="49" charset="-122"/>
                </a:rPr>
                <a:t>IRQ</a:t>
              </a:r>
            </a:p>
          </p:txBody>
        </p:sp>
        <p:sp>
          <p:nvSpPr>
            <p:cNvPr id="358645" name="Text Box 245"/>
            <p:cNvSpPr txBox="1">
              <a:spLocks noChangeArrowheads="1"/>
            </p:cNvSpPr>
            <p:nvPr/>
          </p:nvSpPr>
          <p:spPr bwMode="auto">
            <a:xfrm>
              <a:off x="3923" y="545"/>
              <a:ext cx="395" cy="233"/>
            </a:xfrm>
            <a:prstGeom prst="rect">
              <a:avLst/>
            </a:prstGeom>
            <a:noFill/>
            <a:ln w="9525" algn="ctr">
              <a:noFill/>
              <a:miter lim="800000"/>
              <a:headEnd/>
              <a:tailEnd/>
            </a:ln>
            <a:effectLst/>
          </p:spPr>
          <p:txBody>
            <a:bodyPr wrap="square">
              <a:spAutoFit/>
            </a:bodyPr>
            <a:lstStyle/>
            <a:p>
              <a:r>
                <a:rPr lang="en-US" altLang="zh-CN" dirty="0">
                  <a:latin typeface="Times New Roman" pitchFamily="18" charset="0"/>
                  <a:ea typeface="楷体_GB2312" pitchFamily="49" charset="-122"/>
                </a:rPr>
                <a:t>FIQ</a:t>
              </a:r>
            </a:p>
          </p:txBody>
        </p:sp>
        <p:sp>
          <p:nvSpPr>
            <p:cNvPr id="358646" name="Line 246"/>
            <p:cNvSpPr>
              <a:spLocks noChangeShapeType="1"/>
            </p:cNvSpPr>
            <p:nvPr/>
          </p:nvSpPr>
          <p:spPr bwMode="auto">
            <a:xfrm flipV="1">
              <a:off x="3109" y="935"/>
              <a:ext cx="587" cy="0"/>
            </a:xfrm>
            <a:prstGeom prst="line">
              <a:avLst/>
            </a:prstGeom>
            <a:noFill/>
            <a:ln w="9525">
              <a:solidFill>
                <a:schemeClr val="tx1"/>
              </a:solidFill>
              <a:round/>
              <a:headEnd type="oval" w="med" len="med"/>
              <a:tailEnd/>
            </a:ln>
            <a:effectLst/>
          </p:spPr>
          <p:txBody>
            <a:bodyPr/>
            <a:lstStyle/>
            <a:p>
              <a:endParaRPr lang="zh-CN" altLang="en-US"/>
            </a:p>
          </p:txBody>
        </p:sp>
        <p:sp>
          <p:nvSpPr>
            <p:cNvPr id="358647" name="Line 247"/>
            <p:cNvSpPr>
              <a:spLocks noChangeShapeType="1"/>
            </p:cNvSpPr>
            <p:nvPr/>
          </p:nvSpPr>
          <p:spPr bwMode="auto">
            <a:xfrm>
              <a:off x="4332" y="981"/>
              <a:ext cx="0" cy="544"/>
            </a:xfrm>
            <a:prstGeom prst="line">
              <a:avLst/>
            </a:prstGeom>
            <a:noFill/>
            <a:ln w="13970">
              <a:solidFill>
                <a:schemeClr val="tx1"/>
              </a:solidFill>
              <a:round/>
              <a:headEnd/>
              <a:tailEnd/>
            </a:ln>
            <a:effectLst/>
          </p:spPr>
          <p:txBody>
            <a:bodyPr/>
            <a:lstStyle/>
            <a:p>
              <a:endParaRPr lang="zh-CN" altLang="en-US"/>
            </a:p>
          </p:txBody>
        </p:sp>
        <p:sp>
          <p:nvSpPr>
            <p:cNvPr id="358648" name="Line 248"/>
            <p:cNvSpPr>
              <a:spLocks noChangeShapeType="1"/>
            </p:cNvSpPr>
            <p:nvPr/>
          </p:nvSpPr>
          <p:spPr bwMode="auto">
            <a:xfrm flipH="1">
              <a:off x="1292" y="1525"/>
              <a:ext cx="3040" cy="0"/>
            </a:xfrm>
            <a:prstGeom prst="line">
              <a:avLst/>
            </a:prstGeom>
            <a:noFill/>
            <a:ln w="13970">
              <a:solidFill>
                <a:schemeClr val="tx1"/>
              </a:solidFill>
              <a:round/>
              <a:headEnd/>
              <a:tailEnd type="triangle" w="med" len="med"/>
            </a:ln>
            <a:effectLst/>
          </p:spPr>
          <p:txBody>
            <a:bodyPr wrap="none" anchor="ctr"/>
            <a:lstStyle/>
            <a:p>
              <a:endParaRPr lang="zh-CN" altLang="en-US"/>
            </a:p>
          </p:txBody>
        </p:sp>
        <p:cxnSp>
          <p:nvCxnSpPr>
            <p:cNvPr id="358658" name="AutoShape 258"/>
            <p:cNvCxnSpPr>
              <a:cxnSpLocks noChangeShapeType="1"/>
            </p:cNvCxnSpPr>
            <p:nvPr/>
          </p:nvCxnSpPr>
          <p:spPr bwMode="auto">
            <a:xfrm>
              <a:off x="2608" y="2070"/>
              <a:ext cx="998" cy="997"/>
            </a:xfrm>
            <a:prstGeom prst="bentConnector3">
              <a:avLst>
                <a:gd name="adj1" fmla="val 50000"/>
              </a:avLst>
            </a:prstGeom>
            <a:noFill/>
            <a:ln w="9525">
              <a:solidFill>
                <a:schemeClr val="tx1"/>
              </a:solidFill>
              <a:miter lim="800000"/>
              <a:headEnd/>
              <a:tailEnd type="triangle" w="med" len="med"/>
            </a:ln>
            <a:effectLst/>
          </p:spPr>
        </p:cxnSp>
        <p:cxnSp>
          <p:nvCxnSpPr>
            <p:cNvPr id="358659" name="AutoShape 259"/>
            <p:cNvCxnSpPr>
              <a:cxnSpLocks noChangeShapeType="1"/>
            </p:cNvCxnSpPr>
            <p:nvPr/>
          </p:nvCxnSpPr>
          <p:spPr bwMode="auto">
            <a:xfrm flipV="1">
              <a:off x="2608" y="3748"/>
              <a:ext cx="998" cy="136"/>
            </a:xfrm>
            <a:prstGeom prst="bentConnector3">
              <a:avLst>
                <a:gd name="adj1" fmla="val 72843"/>
              </a:avLst>
            </a:prstGeom>
            <a:noFill/>
            <a:ln w="9525">
              <a:solidFill>
                <a:schemeClr val="tx1"/>
              </a:solidFill>
              <a:miter lim="800000"/>
              <a:headEnd/>
              <a:tailEnd type="triangle" w="med" len="med"/>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358670"/>
                                        </p:tgtEl>
                                        <p:attrNameLst>
                                          <p:attrName>style.visibility</p:attrName>
                                        </p:attrNameLst>
                                      </p:cBhvr>
                                      <p:to>
                                        <p:strVal val="visible"/>
                                      </p:to>
                                    </p:set>
                                    <p:animEffect transition="in" filter="slide(fromTop)">
                                      <p:cBhvr>
                                        <p:cTn id="7" dur="500"/>
                                        <p:tgtEl>
                                          <p:spTgt spid="3586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9596" name="Group 172"/>
          <p:cNvGrpSpPr>
            <a:grpSpLocks/>
          </p:cNvGrpSpPr>
          <p:nvPr/>
        </p:nvGrpSpPr>
        <p:grpSpPr bwMode="auto">
          <a:xfrm>
            <a:off x="2927351" y="1531938"/>
            <a:ext cx="6985001" cy="1465262"/>
            <a:chOff x="385" y="436"/>
            <a:chExt cx="4400" cy="923"/>
          </a:xfrm>
        </p:grpSpPr>
        <p:sp>
          <p:nvSpPr>
            <p:cNvPr id="359597" name="Rectangle 173"/>
            <p:cNvSpPr>
              <a:spLocks noChangeArrowheads="1"/>
            </p:cNvSpPr>
            <p:nvPr/>
          </p:nvSpPr>
          <p:spPr bwMode="auto">
            <a:xfrm>
              <a:off x="3606" y="678"/>
              <a:ext cx="544" cy="408"/>
            </a:xfrm>
            <a:prstGeom prst="rect">
              <a:avLst/>
            </a:prstGeom>
            <a:solidFill>
              <a:srgbClr val="CCFFCC"/>
            </a:solidFill>
            <a:ln w="9525">
              <a:solidFill>
                <a:schemeClr val="tx1"/>
              </a:solidFill>
              <a:miter lim="800000"/>
              <a:headEnd/>
              <a:tailEnd/>
            </a:ln>
            <a:effectLst/>
          </p:spPr>
          <p:txBody>
            <a:bodyPr wrap="none" anchor="ctr"/>
            <a:lstStyle/>
            <a:p>
              <a:endParaRPr lang="zh-CN" altLang="en-US"/>
            </a:p>
          </p:txBody>
        </p:sp>
        <p:sp>
          <p:nvSpPr>
            <p:cNvPr id="359598" name="Rectangle 174"/>
            <p:cNvSpPr>
              <a:spLocks noChangeArrowheads="1"/>
            </p:cNvSpPr>
            <p:nvPr/>
          </p:nvSpPr>
          <p:spPr bwMode="auto">
            <a:xfrm>
              <a:off x="3515" y="1087"/>
              <a:ext cx="725" cy="272"/>
            </a:xfrm>
            <a:prstGeom prst="rect">
              <a:avLst/>
            </a:prstGeom>
            <a:solidFill>
              <a:srgbClr val="CCFFFF"/>
            </a:solidFill>
            <a:ln w="9525">
              <a:solidFill>
                <a:schemeClr val="tx1"/>
              </a:solidFill>
              <a:miter lim="800000"/>
              <a:headEnd/>
              <a:tailEnd/>
            </a:ln>
            <a:effectLst/>
          </p:spPr>
          <p:txBody>
            <a:bodyPr wrap="none" anchor="ctr"/>
            <a:lstStyle/>
            <a:p>
              <a:r>
                <a:rPr lang="zh-CN" altLang="en-US" sz="1200">
                  <a:latin typeface="宋体" pitchFamily="2" charset="-122"/>
                </a:rPr>
                <a:t>中断选择寄存器</a:t>
              </a:r>
            </a:p>
            <a:p>
              <a:r>
                <a:rPr lang="en-US" altLang="zh-CN" sz="1200">
                  <a:latin typeface="宋体" pitchFamily="2" charset="-122"/>
                </a:rPr>
                <a:t>VICIntSelect</a:t>
              </a:r>
            </a:p>
          </p:txBody>
        </p:sp>
        <p:sp>
          <p:nvSpPr>
            <p:cNvPr id="359599" name="Rectangle 175"/>
            <p:cNvSpPr>
              <a:spLocks noChangeArrowheads="1"/>
            </p:cNvSpPr>
            <p:nvPr/>
          </p:nvSpPr>
          <p:spPr bwMode="auto">
            <a:xfrm>
              <a:off x="2790" y="814"/>
              <a:ext cx="453" cy="272"/>
            </a:xfrm>
            <a:prstGeom prst="rect">
              <a:avLst/>
            </a:prstGeom>
            <a:solidFill>
              <a:srgbClr val="CCFFCC"/>
            </a:solidFill>
            <a:ln w="9525" algn="ctr">
              <a:solidFill>
                <a:schemeClr val="tx1"/>
              </a:solidFill>
              <a:miter lim="800000"/>
              <a:headEnd/>
              <a:tailEnd/>
            </a:ln>
            <a:effectLst/>
          </p:spPr>
          <p:txBody>
            <a:bodyPr wrap="none" anchor="ctr"/>
            <a:lstStyle/>
            <a:p>
              <a:endParaRPr lang="zh-CN" altLang="en-US"/>
            </a:p>
          </p:txBody>
        </p:sp>
        <p:sp>
          <p:nvSpPr>
            <p:cNvPr id="359600" name="Rectangle 176"/>
            <p:cNvSpPr>
              <a:spLocks noChangeArrowheads="1"/>
            </p:cNvSpPr>
            <p:nvPr/>
          </p:nvSpPr>
          <p:spPr bwMode="auto">
            <a:xfrm>
              <a:off x="2563" y="1087"/>
              <a:ext cx="907" cy="272"/>
            </a:xfrm>
            <a:prstGeom prst="rect">
              <a:avLst/>
            </a:prstGeom>
            <a:solidFill>
              <a:srgbClr val="CCFFFF"/>
            </a:solidFill>
            <a:ln w="9525">
              <a:solidFill>
                <a:schemeClr val="tx1"/>
              </a:solidFill>
              <a:miter lim="800000"/>
              <a:headEnd/>
              <a:tailEnd/>
            </a:ln>
            <a:effectLst/>
          </p:spPr>
          <p:txBody>
            <a:bodyPr wrap="none" anchor="ctr"/>
            <a:lstStyle/>
            <a:p>
              <a:r>
                <a:rPr lang="zh-CN" altLang="en-US" sz="1200">
                  <a:latin typeface="Arial" charset="0"/>
                </a:rPr>
                <a:t>中断使能寄存器</a:t>
              </a:r>
            </a:p>
            <a:p>
              <a:r>
                <a:rPr lang="en-US" altLang="zh-CN" sz="1200">
                  <a:latin typeface="Arial" charset="0"/>
                </a:rPr>
                <a:t>VICIntEnable</a:t>
              </a:r>
            </a:p>
          </p:txBody>
        </p:sp>
        <p:sp>
          <p:nvSpPr>
            <p:cNvPr id="359601" name="Rectangle 177"/>
            <p:cNvSpPr>
              <a:spLocks noChangeArrowheads="1"/>
            </p:cNvSpPr>
            <p:nvPr/>
          </p:nvSpPr>
          <p:spPr bwMode="auto">
            <a:xfrm>
              <a:off x="2563" y="542"/>
              <a:ext cx="907" cy="272"/>
            </a:xfrm>
            <a:prstGeom prst="rect">
              <a:avLst/>
            </a:prstGeom>
            <a:solidFill>
              <a:srgbClr val="CCFFFF"/>
            </a:solidFill>
            <a:ln w="9525" algn="ctr">
              <a:solidFill>
                <a:schemeClr val="tx1"/>
              </a:solidFill>
              <a:miter lim="800000"/>
              <a:headEnd/>
              <a:tailEnd/>
            </a:ln>
            <a:effectLst/>
          </p:spPr>
          <p:txBody>
            <a:bodyPr wrap="none" anchor="ctr"/>
            <a:lstStyle/>
            <a:p>
              <a:r>
                <a:rPr lang="zh-CN" altLang="en-US" sz="1200">
                  <a:latin typeface="Arial" charset="0"/>
                </a:rPr>
                <a:t>中断使能清零寄存器</a:t>
              </a:r>
            </a:p>
            <a:p>
              <a:r>
                <a:rPr lang="en-US" altLang="zh-CN" sz="1200">
                  <a:latin typeface="Arial" charset="0"/>
                </a:rPr>
                <a:t>VICIntEnClr</a:t>
              </a:r>
            </a:p>
          </p:txBody>
        </p:sp>
        <p:sp>
          <p:nvSpPr>
            <p:cNvPr id="359602" name="Rectangle 178"/>
            <p:cNvSpPr>
              <a:spLocks noChangeArrowheads="1"/>
            </p:cNvSpPr>
            <p:nvPr/>
          </p:nvSpPr>
          <p:spPr bwMode="auto">
            <a:xfrm>
              <a:off x="1429" y="587"/>
              <a:ext cx="272" cy="725"/>
            </a:xfrm>
            <a:prstGeom prst="rect">
              <a:avLst/>
            </a:prstGeom>
            <a:solidFill>
              <a:srgbClr val="CCFFCC"/>
            </a:solidFill>
            <a:ln w="9525" algn="ctr">
              <a:solidFill>
                <a:schemeClr val="tx1"/>
              </a:solidFill>
              <a:miter lim="800000"/>
              <a:headEnd/>
              <a:tailEnd/>
            </a:ln>
            <a:effectLst/>
          </p:spPr>
          <p:txBody>
            <a:bodyPr wrap="none" anchor="ctr"/>
            <a:lstStyle/>
            <a:p>
              <a:endParaRPr lang="zh-CN" altLang="en-US"/>
            </a:p>
          </p:txBody>
        </p:sp>
        <p:sp>
          <p:nvSpPr>
            <p:cNvPr id="359603" name="Rectangle 179"/>
            <p:cNvSpPr>
              <a:spLocks noChangeArrowheads="1"/>
            </p:cNvSpPr>
            <p:nvPr/>
          </p:nvSpPr>
          <p:spPr bwMode="auto">
            <a:xfrm>
              <a:off x="385" y="1041"/>
              <a:ext cx="907" cy="272"/>
            </a:xfrm>
            <a:prstGeom prst="rect">
              <a:avLst/>
            </a:prstGeom>
            <a:solidFill>
              <a:srgbClr val="CCFFCC"/>
            </a:solidFill>
            <a:ln w="9525" algn="ctr">
              <a:solidFill>
                <a:schemeClr val="tx1"/>
              </a:solidFill>
              <a:miter lim="800000"/>
              <a:headEnd/>
              <a:tailEnd/>
            </a:ln>
            <a:effectLst/>
          </p:spPr>
          <p:txBody>
            <a:bodyPr wrap="none" anchor="ctr"/>
            <a:lstStyle/>
            <a:p>
              <a:r>
                <a:rPr lang="zh-CN" altLang="en-US" sz="1200">
                  <a:latin typeface="Times New Roman" pitchFamily="18" charset="0"/>
                  <a:ea typeface="楷体_GB2312" pitchFamily="49" charset="-122"/>
                </a:rPr>
                <a:t>中断源</a:t>
              </a:r>
            </a:p>
            <a:p>
              <a:r>
                <a:rPr lang="en-US" altLang="zh-CN" sz="1200">
                  <a:latin typeface="Times New Roman" pitchFamily="18" charset="0"/>
                  <a:ea typeface="楷体_GB2312" pitchFamily="49" charset="-122"/>
                </a:rPr>
                <a:t>[31:0]</a:t>
              </a:r>
            </a:p>
          </p:txBody>
        </p:sp>
        <p:sp>
          <p:nvSpPr>
            <p:cNvPr id="359604" name="Rectangle 180"/>
            <p:cNvSpPr>
              <a:spLocks noChangeArrowheads="1"/>
            </p:cNvSpPr>
            <p:nvPr/>
          </p:nvSpPr>
          <p:spPr bwMode="auto">
            <a:xfrm>
              <a:off x="385" y="436"/>
              <a:ext cx="907" cy="272"/>
            </a:xfrm>
            <a:prstGeom prst="rect">
              <a:avLst/>
            </a:prstGeom>
            <a:solidFill>
              <a:srgbClr val="CCFFFF"/>
            </a:solidFill>
            <a:ln w="9525" algn="ctr">
              <a:solidFill>
                <a:schemeClr val="tx1"/>
              </a:solidFill>
              <a:miter lim="800000"/>
              <a:headEnd/>
              <a:tailEnd/>
            </a:ln>
            <a:effectLst/>
          </p:spPr>
          <p:txBody>
            <a:bodyPr wrap="none" anchor="ctr"/>
            <a:lstStyle/>
            <a:p>
              <a:r>
                <a:rPr lang="zh-CN" altLang="en-US" sz="1200">
                  <a:latin typeface="Arial" charset="0"/>
                </a:rPr>
                <a:t>软件中断使能寄存器</a:t>
              </a:r>
            </a:p>
            <a:p>
              <a:r>
                <a:rPr lang="en-US" altLang="zh-CN" sz="1200">
                  <a:latin typeface="Arial" charset="0"/>
                </a:rPr>
                <a:t>VICSoftInt</a:t>
              </a:r>
            </a:p>
          </p:txBody>
        </p:sp>
        <p:sp>
          <p:nvSpPr>
            <p:cNvPr id="359605" name="Rectangle 181"/>
            <p:cNvSpPr>
              <a:spLocks noChangeArrowheads="1"/>
            </p:cNvSpPr>
            <p:nvPr/>
          </p:nvSpPr>
          <p:spPr bwMode="auto">
            <a:xfrm>
              <a:off x="385" y="724"/>
              <a:ext cx="907" cy="272"/>
            </a:xfrm>
            <a:prstGeom prst="rect">
              <a:avLst/>
            </a:prstGeom>
            <a:solidFill>
              <a:srgbClr val="CCFFFF"/>
            </a:solidFill>
            <a:ln w="9525" algn="ctr">
              <a:solidFill>
                <a:schemeClr val="tx1"/>
              </a:solidFill>
              <a:miter lim="800000"/>
              <a:headEnd/>
              <a:tailEnd/>
            </a:ln>
            <a:effectLst/>
          </p:spPr>
          <p:txBody>
            <a:bodyPr wrap="none" anchor="ctr"/>
            <a:lstStyle/>
            <a:p>
              <a:r>
                <a:rPr lang="zh-CN" altLang="en-US" sz="1200">
                  <a:latin typeface="Arial" charset="0"/>
                </a:rPr>
                <a:t>软件中断清零寄存器</a:t>
              </a:r>
            </a:p>
            <a:p>
              <a:r>
                <a:rPr lang="en-US" altLang="zh-CN" sz="1200">
                  <a:latin typeface="Arial" charset="0"/>
                </a:rPr>
                <a:t>VICSoftIntClear</a:t>
              </a:r>
            </a:p>
          </p:txBody>
        </p:sp>
        <p:sp>
          <p:nvSpPr>
            <p:cNvPr id="359606" name="Line 182"/>
            <p:cNvSpPr>
              <a:spLocks noChangeShapeType="1"/>
            </p:cNvSpPr>
            <p:nvPr/>
          </p:nvSpPr>
          <p:spPr bwMode="auto">
            <a:xfrm>
              <a:off x="1655" y="950"/>
              <a:ext cx="136" cy="0"/>
            </a:xfrm>
            <a:prstGeom prst="line">
              <a:avLst/>
            </a:prstGeom>
            <a:noFill/>
            <a:ln w="9525">
              <a:solidFill>
                <a:schemeClr val="tx1"/>
              </a:solidFill>
              <a:round/>
              <a:headEnd/>
              <a:tailEnd type="triangle" w="med" len="med"/>
            </a:ln>
            <a:effectLst/>
          </p:spPr>
          <p:txBody>
            <a:bodyPr/>
            <a:lstStyle/>
            <a:p>
              <a:endParaRPr lang="zh-CN" altLang="en-US"/>
            </a:p>
          </p:txBody>
        </p:sp>
        <p:cxnSp>
          <p:nvCxnSpPr>
            <p:cNvPr id="359607" name="AutoShape 183"/>
            <p:cNvCxnSpPr>
              <a:cxnSpLocks noChangeShapeType="1"/>
              <a:stCxn id="359604" idx="3"/>
              <a:endCxn id="359605" idx="3"/>
            </p:cNvCxnSpPr>
            <p:nvPr/>
          </p:nvCxnSpPr>
          <p:spPr bwMode="auto">
            <a:xfrm>
              <a:off x="1292" y="572"/>
              <a:ext cx="1" cy="288"/>
            </a:xfrm>
            <a:prstGeom prst="bentConnector3">
              <a:avLst>
                <a:gd name="adj1" fmla="val 6700000"/>
              </a:avLst>
            </a:prstGeom>
            <a:noFill/>
            <a:ln w="9525">
              <a:solidFill>
                <a:schemeClr val="tx1"/>
              </a:solidFill>
              <a:miter lim="800000"/>
              <a:headEnd/>
              <a:tailEnd/>
            </a:ln>
            <a:effectLst/>
          </p:spPr>
        </p:cxnSp>
        <p:sp>
          <p:nvSpPr>
            <p:cNvPr id="359608" name="Line 184"/>
            <p:cNvSpPr>
              <a:spLocks noChangeShapeType="1"/>
            </p:cNvSpPr>
            <p:nvPr/>
          </p:nvSpPr>
          <p:spPr bwMode="auto">
            <a:xfrm>
              <a:off x="1352" y="724"/>
              <a:ext cx="122" cy="0"/>
            </a:xfrm>
            <a:prstGeom prst="line">
              <a:avLst/>
            </a:prstGeom>
            <a:noFill/>
            <a:ln w="9525">
              <a:solidFill>
                <a:schemeClr val="tx1"/>
              </a:solidFill>
              <a:round/>
              <a:headEnd/>
              <a:tailEnd/>
            </a:ln>
            <a:effectLst/>
          </p:spPr>
          <p:txBody>
            <a:bodyPr/>
            <a:lstStyle/>
            <a:p>
              <a:endParaRPr lang="zh-CN" altLang="en-US"/>
            </a:p>
          </p:txBody>
        </p:sp>
        <p:sp>
          <p:nvSpPr>
            <p:cNvPr id="359609" name="Line 185"/>
            <p:cNvSpPr>
              <a:spLocks noChangeShapeType="1"/>
            </p:cNvSpPr>
            <p:nvPr/>
          </p:nvSpPr>
          <p:spPr bwMode="auto">
            <a:xfrm>
              <a:off x="2517" y="950"/>
              <a:ext cx="408" cy="0"/>
            </a:xfrm>
            <a:prstGeom prst="line">
              <a:avLst/>
            </a:prstGeom>
            <a:noFill/>
            <a:ln w="9525">
              <a:solidFill>
                <a:schemeClr val="tx1"/>
              </a:solidFill>
              <a:round/>
              <a:headEnd/>
              <a:tailEnd/>
            </a:ln>
            <a:effectLst/>
          </p:spPr>
          <p:txBody>
            <a:bodyPr/>
            <a:lstStyle/>
            <a:p>
              <a:endParaRPr lang="zh-CN" altLang="en-US"/>
            </a:p>
          </p:txBody>
        </p:sp>
        <p:sp>
          <p:nvSpPr>
            <p:cNvPr id="359610" name="Line 186"/>
            <p:cNvSpPr>
              <a:spLocks noChangeShapeType="1"/>
            </p:cNvSpPr>
            <p:nvPr/>
          </p:nvSpPr>
          <p:spPr bwMode="auto">
            <a:xfrm flipV="1">
              <a:off x="1610" y="724"/>
              <a:ext cx="45" cy="0"/>
            </a:xfrm>
            <a:prstGeom prst="line">
              <a:avLst/>
            </a:prstGeom>
            <a:noFill/>
            <a:ln w="9525">
              <a:solidFill>
                <a:schemeClr val="tx1"/>
              </a:solidFill>
              <a:round/>
              <a:headEnd type="oval" w="med" len="med"/>
              <a:tailEnd/>
            </a:ln>
            <a:effectLst/>
          </p:spPr>
          <p:txBody>
            <a:bodyPr/>
            <a:lstStyle/>
            <a:p>
              <a:endParaRPr lang="zh-CN" altLang="en-US"/>
            </a:p>
          </p:txBody>
        </p:sp>
        <p:sp>
          <p:nvSpPr>
            <p:cNvPr id="359611" name="Line 187"/>
            <p:cNvSpPr>
              <a:spLocks noChangeShapeType="1"/>
            </p:cNvSpPr>
            <p:nvPr/>
          </p:nvSpPr>
          <p:spPr bwMode="auto">
            <a:xfrm flipH="1">
              <a:off x="1655" y="727"/>
              <a:ext cx="0" cy="450"/>
            </a:xfrm>
            <a:prstGeom prst="line">
              <a:avLst/>
            </a:prstGeom>
            <a:noFill/>
            <a:ln w="9525">
              <a:solidFill>
                <a:schemeClr val="tx1"/>
              </a:solidFill>
              <a:round/>
              <a:headEnd/>
              <a:tailEnd/>
            </a:ln>
            <a:effectLst/>
          </p:spPr>
          <p:txBody>
            <a:bodyPr/>
            <a:lstStyle/>
            <a:p>
              <a:endParaRPr lang="zh-CN" altLang="en-US"/>
            </a:p>
          </p:txBody>
        </p:sp>
        <p:sp>
          <p:nvSpPr>
            <p:cNvPr id="359612" name="Line 188"/>
            <p:cNvSpPr>
              <a:spLocks noChangeShapeType="1"/>
            </p:cNvSpPr>
            <p:nvPr/>
          </p:nvSpPr>
          <p:spPr bwMode="auto">
            <a:xfrm flipV="1">
              <a:off x="1610" y="1177"/>
              <a:ext cx="45" cy="0"/>
            </a:xfrm>
            <a:prstGeom prst="line">
              <a:avLst/>
            </a:prstGeom>
            <a:noFill/>
            <a:ln w="9525">
              <a:solidFill>
                <a:schemeClr val="tx1"/>
              </a:solidFill>
              <a:round/>
              <a:headEnd type="oval" w="med" len="med"/>
              <a:tailEnd/>
            </a:ln>
            <a:effectLst/>
          </p:spPr>
          <p:txBody>
            <a:bodyPr/>
            <a:lstStyle/>
            <a:p>
              <a:endParaRPr lang="zh-CN" altLang="en-US"/>
            </a:p>
          </p:txBody>
        </p:sp>
        <p:sp>
          <p:nvSpPr>
            <p:cNvPr id="359613" name="Line 189"/>
            <p:cNvSpPr>
              <a:spLocks noChangeShapeType="1"/>
            </p:cNvSpPr>
            <p:nvPr/>
          </p:nvSpPr>
          <p:spPr bwMode="auto">
            <a:xfrm flipV="1">
              <a:off x="1466" y="633"/>
              <a:ext cx="144" cy="91"/>
            </a:xfrm>
            <a:prstGeom prst="line">
              <a:avLst/>
            </a:prstGeom>
            <a:noFill/>
            <a:ln w="9525">
              <a:solidFill>
                <a:schemeClr val="tx1"/>
              </a:solidFill>
              <a:round/>
              <a:headEnd/>
              <a:tailEnd/>
            </a:ln>
            <a:effectLst/>
          </p:spPr>
          <p:txBody>
            <a:bodyPr/>
            <a:lstStyle/>
            <a:p>
              <a:endParaRPr lang="zh-CN" altLang="en-US"/>
            </a:p>
          </p:txBody>
        </p:sp>
        <p:sp>
          <p:nvSpPr>
            <p:cNvPr id="359614" name="Line 190"/>
            <p:cNvSpPr>
              <a:spLocks noChangeShapeType="1"/>
            </p:cNvSpPr>
            <p:nvPr/>
          </p:nvSpPr>
          <p:spPr bwMode="auto">
            <a:xfrm flipV="1">
              <a:off x="1466" y="1086"/>
              <a:ext cx="144" cy="91"/>
            </a:xfrm>
            <a:prstGeom prst="line">
              <a:avLst/>
            </a:prstGeom>
            <a:noFill/>
            <a:ln w="9525">
              <a:solidFill>
                <a:schemeClr val="tx1"/>
              </a:solidFill>
              <a:round/>
              <a:headEnd/>
              <a:tailEnd/>
            </a:ln>
            <a:effectLst/>
          </p:spPr>
          <p:txBody>
            <a:bodyPr/>
            <a:lstStyle/>
            <a:p>
              <a:endParaRPr lang="zh-CN" altLang="en-US"/>
            </a:p>
          </p:txBody>
        </p:sp>
        <p:sp>
          <p:nvSpPr>
            <p:cNvPr id="359615" name="Line 191"/>
            <p:cNvSpPr>
              <a:spLocks noChangeShapeType="1"/>
            </p:cNvSpPr>
            <p:nvPr/>
          </p:nvSpPr>
          <p:spPr bwMode="auto">
            <a:xfrm flipV="1">
              <a:off x="2925" y="874"/>
              <a:ext cx="164" cy="76"/>
            </a:xfrm>
            <a:prstGeom prst="line">
              <a:avLst/>
            </a:prstGeom>
            <a:noFill/>
            <a:ln w="9525">
              <a:solidFill>
                <a:schemeClr val="tx1"/>
              </a:solidFill>
              <a:round/>
              <a:headEnd/>
              <a:tailEnd/>
            </a:ln>
            <a:effectLst/>
          </p:spPr>
          <p:txBody>
            <a:bodyPr/>
            <a:lstStyle/>
            <a:p>
              <a:endParaRPr lang="zh-CN" altLang="en-US"/>
            </a:p>
          </p:txBody>
        </p:sp>
        <p:sp>
          <p:nvSpPr>
            <p:cNvPr id="359616" name="Line 192"/>
            <p:cNvSpPr>
              <a:spLocks noChangeShapeType="1"/>
            </p:cNvSpPr>
            <p:nvPr/>
          </p:nvSpPr>
          <p:spPr bwMode="auto">
            <a:xfrm flipV="1">
              <a:off x="3696" y="769"/>
              <a:ext cx="227" cy="181"/>
            </a:xfrm>
            <a:prstGeom prst="line">
              <a:avLst/>
            </a:prstGeom>
            <a:noFill/>
            <a:ln w="9525">
              <a:solidFill>
                <a:schemeClr val="tx1"/>
              </a:solidFill>
              <a:round/>
              <a:headEnd/>
              <a:tailEnd/>
            </a:ln>
            <a:effectLst/>
          </p:spPr>
          <p:txBody>
            <a:bodyPr/>
            <a:lstStyle/>
            <a:p>
              <a:endParaRPr lang="zh-CN" altLang="en-US"/>
            </a:p>
          </p:txBody>
        </p:sp>
        <p:sp>
          <p:nvSpPr>
            <p:cNvPr id="359617" name="Line 193"/>
            <p:cNvSpPr>
              <a:spLocks noChangeShapeType="1"/>
            </p:cNvSpPr>
            <p:nvPr/>
          </p:nvSpPr>
          <p:spPr bwMode="auto">
            <a:xfrm flipV="1">
              <a:off x="3969" y="996"/>
              <a:ext cx="363" cy="0"/>
            </a:xfrm>
            <a:prstGeom prst="line">
              <a:avLst/>
            </a:prstGeom>
            <a:noFill/>
            <a:ln w="9525">
              <a:solidFill>
                <a:schemeClr val="tx1"/>
              </a:solidFill>
              <a:round/>
              <a:headEnd type="oval" w="med" len="med"/>
              <a:tailEnd type="triangle" w="med" len="med"/>
            </a:ln>
            <a:effectLst/>
          </p:spPr>
          <p:txBody>
            <a:bodyPr/>
            <a:lstStyle/>
            <a:p>
              <a:endParaRPr lang="zh-CN" altLang="en-US"/>
            </a:p>
          </p:txBody>
        </p:sp>
        <p:sp>
          <p:nvSpPr>
            <p:cNvPr id="359618" name="Rectangle 194"/>
            <p:cNvSpPr>
              <a:spLocks noChangeArrowheads="1"/>
            </p:cNvSpPr>
            <p:nvPr/>
          </p:nvSpPr>
          <p:spPr bwMode="auto">
            <a:xfrm>
              <a:off x="1791" y="814"/>
              <a:ext cx="725" cy="272"/>
            </a:xfrm>
            <a:prstGeom prst="rect">
              <a:avLst/>
            </a:prstGeom>
            <a:solidFill>
              <a:srgbClr val="CCFFFF"/>
            </a:solidFill>
            <a:ln w="9525" algn="ctr">
              <a:solidFill>
                <a:schemeClr val="tx1"/>
              </a:solidFill>
              <a:miter lim="800000"/>
              <a:headEnd/>
              <a:tailEnd/>
            </a:ln>
            <a:effectLst/>
          </p:spPr>
          <p:txBody>
            <a:bodyPr wrap="none" anchor="ctr"/>
            <a:lstStyle/>
            <a:p>
              <a:r>
                <a:rPr lang="zh-CN" altLang="en-US" sz="1200">
                  <a:latin typeface="Arial" charset="0"/>
                </a:rPr>
                <a:t>中断状态寄存器</a:t>
              </a:r>
            </a:p>
            <a:p>
              <a:r>
                <a:rPr lang="en-US" altLang="zh-CN" sz="1200">
                  <a:latin typeface="Arial" charset="0"/>
                </a:rPr>
                <a:t>VICRawIntr</a:t>
              </a:r>
            </a:p>
          </p:txBody>
        </p:sp>
        <p:sp>
          <p:nvSpPr>
            <p:cNvPr id="359619" name="Line 195"/>
            <p:cNvSpPr>
              <a:spLocks noChangeShapeType="1"/>
            </p:cNvSpPr>
            <p:nvPr/>
          </p:nvSpPr>
          <p:spPr bwMode="auto">
            <a:xfrm flipV="1">
              <a:off x="1292" y="1177"/>
              <a:ext cx="181" cy="0"/>
            </a:xfrm>
            <a:prstGeom prst="line">
              <a:avLst/>
            </a:prstGeom>
            <a:noFill/>
            <a:ln w="9525">
              <a:solidFill>
                <a:schemeClr val="tx1"/>
              </a:solidFill>
              <a:round/>
              <a:headEnd/>
              <a:tailEnd/>
            </a:ln>
            <a:effectLst/>
          </p:spPr>
          <p:txBody>
            <a:bodyPr/>
            <a:lstStyle/>
            <a:p>
              <a:endParaRPr lang="zh-CN" altLang="en-US"/>
            </a:p>
          </p:txBody>
        </p:sp>
        <p:sp>
          <p:nvSpPr>
            <p:cNvPr id="359620" name="Text Box 196"/>
            <p:cNvSpPr txBox="1">
              <a:spLocks noChangeArrowheads="1"/>
            </p:cNvSpPr>
            <p:nvPr/>
          </p:nvSpPr>
          <p:spPr bwMode="auto">
            <a:xfrm>
              <a:off x="4330" y="883"/>
              <a:ext cx="367" cy="233"/>
            </a:xfrm>
            <a:prstGeom prst="rect">
              <a:avLst/>
            </a:prstGeom>
            <a:noFill/>
            <a:ln w="9525" algn="ctr">
              <a:noFill/>
              <a:miter lim="800000"/>
              <a:headEnd/>
              <a:tailEnd/>
            </a:ln>
            <a:effectLst/>
          </p:spPr>
          <p:txBody>
            <a:bodyPr wrap="none">
              <a:spAutoFit/>
            </a:bodyPr>
            <a:lstStyle/>
            <a:p>
              <a:r>
                <a:rPr lang="en-US" altLang="zh-CN" dirty="0">
                  <a:latin typeface="Times New Roman" pitchFamily="18" charset="0"/>
                  <a:ea typeface="楷体_GB2312" pitchFamily="49" charset="-122"/>
                </a:rPr>
                <a:t>IRQ</a:t>
              </a:r>
            </a:p>
          </p:txBody>
        </p:sp>
        <p:sp>
          <p:nvSpPr>
            <p:cNvPr id="359621" name="Text Box 197"/>
            <p:cNvSpPr txBox="1">
              <a:spLocks noChangeArrowheads="1"/>
            </p:cNvSpPr>
            <p:nvPr/>
          </p:nvSpPr>
          <p:spPr bwMode="auto">
            <a:xfrm>
              <a:off x="4332" y="696"/>
              <a:ext cx="453" cy="233"/>
            </a:xfrm>
            <a:prstGeom prst="rect">
              <a:avLst/>
            </a:prstGeom>
            <a:noFill/>
            <a:ln w="9525" algn="ctr">
              <a:noFill/>
              <a:miter lim="800000"/>
              <a:headEnd/>
              <a:tailEnd/>
            </a:ln>
            <a:effectLst/>
          </p:spPr>
          <p:txBody>
            <a:bodyPr wrap="square">
              <a:spAutoFit/>
            </a:bodyPr>
            <a:lstStyle/>
            <a:p>
              <a:r>
                <a:rPr lang="en-US" altLang="zh-CN" dirty="0">
                  <a:latin typeface="Times New Roman" pitchFamily="18" charset="0"/>
                  <a:ea typeface="楷体_GB2312" pitchFamily="49" charset="-122"/>
                </a:rPr>
                <a:t>FIQ</a:t>
              </a:r>
            </a:p>
          </p:txBody>
        </p:sp>
        <p:sp>
          <p:nvSpPr>
            <p:cNvPr id="359622" name="Line 198"/>
            <p:cNvSpPr>
              <a:spLocks noChangeShapeType="1"/>
            </p:cNvSpPr>
            <p:nvPr/>
          </p:nvSpPr>
          <p:spPr bwMode="auto">
            <a:xfrm flipV="1">
              <a:off x="3109" y="950"/>
              <a:ext cx="587" cy="0"/>
            </a:xfrm>
            <a:prstGeom prst="line">
              <a:avLst/>
            </a:prstGeom>
            <a:noFill/>
            <a:ln w="9525">
              <a:solidFill>
                <a:schemeClr val="tx1"/>
              </a:solidFill>
              <a:round/>
              <a:headEnd type="oval" w="med" len="med"/>
              <a:tailEnd/>
            </a:ln>
            <a:effectLst/>
          </p:spPr>
          <p:txBody>
            <a:bodyPr/>
            <a:lstStyle/>
            <a:p>
              <a:endParaRPr lang="zh-CN" altLang="en-US"/>
            </a:p>
          </p:txBody>
        </p:sp>
        <p:sp>
          <p:nvSpPr>
            <p:cNvPr id="359623" name="Line 199"/>
            <p:cNvSpPr>
              <a:spLocks noChangeShapeType="1"/>
            </p:cNvSpPr>
            <p:nvPr/>
          </p:nvSpPr>
          <p:spPr bwMode="auto">
            <a:xfrm flipV="1">
              <a:off x="3969" y="845"/>
              <a:ext cx="363" cy="0"/>
            </a:xfrm>
            <a:prstGeom prst="line">
              <a:avLst/>
            </a:prstGeom>
            <a:noFill/>
            <a:ln w="9525">
              <a:solidFill>
                <a:schemeClr val="tx1"/>
              </a:solidFill>
              <a:round/>
              <a:headEnd type="oval" w="med" len="med"/>
              <a:tailEnd type="triangle" w="med" len="med"/>
            </a:ln>
            <a:effectLst/>
          </p:spPr>
          <p:txBody>
            <a:bodyPr/>
            <a:lstStyle/>
            <a:p>
              <a:endParaRPr lang="zh-CN" altLang="en-US"/>
            </a:p>
          </p:txBody>
        </p:sp>
      </p:grpSp>
      <p:graphicFrame>
        <p:nvGraphicFramePr>
          <p:cNvPr id="359595" name="Group 171"/>
          <p:cNvGraphicFramePr>
            <a:graphicFrameLocks noGrp="1"/>
          </p:cNvGraphicFramePr>
          <p:nvPr/>
        </p:nvGraphicFramePr>
        <p:xfrm>
          <a:off x="2135188" y="3354388"/>
          <a:ext cx="7878762" cy="2895600"/>
        </p:xfrm>
        <a:graphic>
          <a:graphicData uri="http://schemas.openxmlformats.org/drawingml/2006/table">
            <a:tbl>
              <a:tblPr/>
              <a:tblGrid>
                <a:gridCol w="1541462">
                  <a:extLst>
                    <a:ext uri="{9D8B030D-6E8A-4147-A177-3AD203B41FA5}">
                      <a16:colId xmlns:a16="http://schemas.microsoft.com/office/drawing/2014/main" val="20000"/>
                    </a:ext>
                  </a:extLst>
                </a:gridCol>
                <a:gridCol w="3671888">
                  <a:extLst>
                    <a:ext uri="{9D8B030D-6E8A-4147-A177-3AD203B41FA5}">
                      <a16:colId xmlns:a16="http://schemas.microsoft.com/office/drawing/2014/main" val="20001"/>
                    </a:ext>
                  </a:extLst>
                </a:gridCol>
                <a:gridCol w="649287">
                  <a:extLst>
                    <a:ext uri="{9D8B030D-6E8A-4147-A177-3AD203B41FA5}">
                      <a16:colId xmlns:a16="http://schemas.microsoft.com/office/drawing/2014/main" val="20002"/>
                    </a:ext>
                  </a:extLst>
                </a:gridCol>
                <a:gridCol w="792163">
                  <a:extLst>
                    <a:ext uri="{9D8B030D-6E8A-4147-A177-3AD203B41FA5}">
                      <a16:colId xmlns:a16="http://schemas.microsoft.com/office/drawing/2014/main" val="20003"/>
                    </a:ext>
                  </a:extLst>
                </a:gridCol>
                <a:gridCol w="1223962">
                  <a:extLst>
                    <a:ext uri="{9D8B030D-6E8A-4147-A177-3AD203B41FA5}">
                      <a16:colId xmlns:a16="http://schemas.microsoft.com/office/drawing/2014/main" val="20004"/>
                    </a:ext>
                  </a:extLst>
                </a:gridCol>
              </a:tblGrid>
              <a:tr h="1524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66700" algn="r"/>
                          <a:tab pos="2636838" algn="ctr"/>
                          <a:tab pos="5273675" algn="r"/>
                        </a:tabLst>
                      </a:pPr>
                      <a:r>
                        <a:rPr kumimoji="0" lang="zh-CN" altLang="en-US" sz="1400" b="0" i="0" u="none" strike="noStrike" cap="none" normalizeH="0" baseline="0">
                          <a:ln>
                            <a:noFill/>
                          </a:ln>
                          <a:solidFill>
                            <a:srgbClr val="000000"/>
                          </a:solidFill>
                          <a:effectLst/>
                          <a:latin typeface="宋体" pitchFamily="2" charset="-122"/>
                          <a:ea typeface="宋体" pitchFamily="2" charset="-122"/>
                          <a:cs typeface="Arial" charset="0"/>
                        </a:rPr>
                        <a:t>名称</a:t>
                      </a:r>
                      <a:endParaRPr kumimoji="0" lang="zh-CN" altLang="en-US" sz="1400" b="0" i="0" u="none" strike="noStrike" cap="none" normalizeH="0" baseline="0">
                        <a:ln>
                          <a:noFill/>
                        </a:ln>
                        <a:solidFill>
                          <a:schemeClr val="tx1"/>
                        </a:solidFill>
                        <a:effectLst/>
                        <a:latin typeface="宋体" pitchFamily="2" charset="-122"/>
                        <a:ea typeface="宋体" pitchFamily="2" charset="-122"/>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66700" algn="r"/>
                          <a:tab pos="2636838" algn="ctr"/>
                          <a:tab pos="5273675" algn="r"/>
                        </a:tabLst>
                      </a:pPr>
                      <a:r>
                        <a:rPr kumimoji="0" lang="zh-CN" altLang="en-US" sz="1400" b="0" i="0" u="none" strike="noStrike" cap="none" normalizeH="0" baseline="0">
                          <a:ln>
                            <a:noFill/>
                          </a:ln>
                          <a:solidFill>
                            <a:srgbClr val="000000"/>
                          </a:solidFill>
                          <a:effectLst/>
                          <a:latin typeface="宋体" pitchFamily="2" charset="-122"/>
                          <a:ea typeface="宋体" pitchFamily="2" charset="-122"/>
                          <a:cs typeface="Arial" charset="0"/>
                        </a:rPr>
                        <a:t>描述</a:t>
                      </a:r>
                      <a:endParaRPr kumimoji="0" lang="zh-CN" altLang="en-US" sz="1400" b="0" i="0" u="none" strike="noStrike" cap="none" normalizeH="0" baseline="0">
                        <a:ln>
                          <a:noFill/>
                        </a:ln>
                        <a:solidFill>
                          <a:schemeClr val="tx1"/>
                        </a:solidFill>
                        <a:effectLst/>
                        <a:latin typeface="宋体" pitchFamily="2" charset="-122"/>
                        <a:ea typeface="宋体" pitchFamily="2" charset="-122"/>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66700" algn="r"/>
                          <a:tab pos="2636838" algn="ctr"/>
                          <a:tab pos="5273675" algn="r"/>
                        </a:tabLst>
                      </a:pPr>
                      <a:r>
                        <a:rPr kumimoji="0" lang="zh-CN" altLang="en-US" sz="1400" b="0" i="0" u="none" strike="noStrike" cap="none" normalizeH="0" baseline="0">
                          <a:ln>
                            <a:noFill/>
                          </a:ln>
                          <a:solidFill>
                            <a:srgbClr val="000000"/>
                          </a:solidFill>
                          <a:effectLst/>
                          <a:latin typeface="宋体" pitchFamily="2" charset="-122"/>
                          <a:ea typeface="宋体" pitchFamily="2" charset="-122"/>
                          <a:cs typeface="Arial" charset="0"/>
                        </a:rPr>
                        <a:t>访问</a:t>
                      </a:r>
                      <a:endParaRPr kumimoji="0" lang="zh-CN" altLang="en-US" sz="1400" b="0" i="0" u="none" strike="noStrike" cap="none" normalizeH="0" baseline="0">
                        <a:ln>
                          <a:noFill/>
                        </a:ln>
                        <a:solidFill>
                          <a:schemeClr val="tx1"/>
                        </a:solidFill>
                        <a:effectLst/>
                        <a:latin typeface="宋体" pitchFamily="2" charset="-122"/>
                        <a:ea typeface="宋体" pitchFamily="2" charset="-122"/>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66700" algn="r"/>
                          <a:tab pos="2636838" algn="ctr"/>
                          <a:tab pos="5273675" algn="r"/>
                        </a:tabLst>
                      </a:pPr>
                      <a:r>
                        <a:rPr kumimoji="0" lang="zh-CN" altLang="en-US" sz="1400" b="0" i="0" u="none" strike="noStrike" cap="none" normalizeH="0" baseline="0">
                          <a:ln>
                            <a:noFill/>
                          </a:ln>
                          <a:solidFill>
                            <a:srgbClr val="000000"/>
                          </a:solidFill>
                          <a:effectLst/>
                          <a:latin typeface="宋体" pitchFamily="2" charset="-122"/>
                          <a:ea typeface="宋体" pitchFamily="2" charset="-122"/>
                          <a:cs typeface="Arial" charset="0"/>
                        </a:rPr>
                        <a:t>复位值</a:t>
                      </a:r>
                      <a:endParaRPr kumimoji="0" lang="zh-CN" altLang="en-US" sz="1400" b="0" i="0" u="none" strike="noStrike" cap="none" normalizeH="0" baseline="0">
                        <a:ln>
                          <a:noFill/>
                        </a:ln>
                        <a:solidFill>
                          <a:schemeClr val="tx1"/>
                        </a:solidFill>
                        <a:effectLst/>
                        <a:latin typeface="宋体" pitchFamily="2" charset="-122"/>
                        <a:ea typeface="宋体" pitchFamily="2" charset="-122"/>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266700" algn="r"/>
                          <a:tab pos="2636838" algn="ctr"/>
                          <a:tab pos="5273675" algn="r"/>
                        </a:tabLst>
                      </a:pPr>
                      <a:r>
                        <a:rPr kumimoji="0" lang="zh-CN" altLang="en-US" sz="1400" b="0" i="0" u="none" strike="noStrike" cap="none" normalizeH="0" baseline="0">
                          <a:ln>
                            <a:noFill/>
                          </a:ln>
                          <a:solidFill>
                            <a:srgbClr val="000000"/>
                          </a:solidFill>
                          <a:effectLst/>
                          <a:latin typeface="宋体" pitchFamily="2" charset="-122"/>
                          <a:ea typeface="宋体" pitchFamily="2" charset="-122"/>
                          <a:cs typeface="Arial" charset="0"/>
                        </a:rPr>
                        <a:t>地址</a:t>
                      </a:r>
                      <a:endParaRPr kumimoji="0" lang="zh-CN" altLang="en-US" sz="1400" b="0" i="0" u="none" strike="noStrike" cap="none" normalizeH="0" baseline="0">
                        <a:ln>
                          <a:noFill/>
                        </a:ln>
                        <a:solidFill>
                          <a:schemeClr val="tx1"/>
                        </a:solidFill>
                        <a:effectLst/>
                        <a:latin typeface="宋体" pitchFamily="2" charset="-122"/>
                        <a:ea typeface="宋体" pitchFamily="2" charset="-122"/>
                        <a:cs typeface="Arial" charset="0"/>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2667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VICIntEnable</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宋体" pitchFamily="2" charset="-122"/>
                          <a:ea typeface="宋体" pitchFamily="2" charset="-122"/>
                          <a:cs typeface="Times New Roman" pitchFamily="18" charset="0"/>
                        </a:rPr>
                        <a:t>中断使能寄存器</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宋体" pitchFamily="2" charset="-122"/>
                          <a:ea typeface="宋体" pitchFamily="2" charset="-122"/>
                          <a:cs typeface="Times New Roman" pitchFamily="18" charset="0"/>
                        </a:rPr>
                        <a:t> </a:t>
                      </a:r>
                      <a:r>
                        <a:rPr kumimoji="0" lang="zh-CN" altLang="en-US"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控制</a:t>
                      </a: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32</a:t>
                      </a:r>
                      <a:r>
                        <a:rPr kumimoji="0" lang="zh-CN" altLang="en-US"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个中断请求（包括软件中断）的使能</a:t>
                      </a:r>
                      <a:endParaRPr kumimoji="0" lang="zh-CN" altLang="en-US"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R/W</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0</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0xFFFF F010</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2667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VICIntEnClr</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宋体" pitchFamily="2" charset="-122"/>
                          <a:ea typeface="宋体" pitchFamily="2" charset="-122"/>
                          <a:cs typeface="Times New Roman" pitchFamily="18" charset="0"/>
                        </a:rPr>
                        <a:t>中断使能清零寄存器 </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将中断使能寄存器中的一个或多个位清零</a:t>
                      </a:r>
                      <a:endParaRPr kumimoji="0" lang="zh-CN" altLang="en-US"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W</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0</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0xFFFF F014</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2667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VICIntSelect</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宋体" pitchFamily="2" charset="-122"/>
                          <a:ea typeface="宋体" pitchFamily="2" charset="-122"/>
                          <a:cs typeface="Times New Roman" pitchFamily="18" charset="0"/>
                        </a:rPr>
                        <a:t>中断选择寄存器 </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将</a:t>
                      </a: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32</a:t>
                      </a:r>
                      <a:r>
                        <a:rPr kumimoji="0" lang="zh-CN" altLang="en-US"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个中断请求的每个中断分配为</a:t>
                      </a: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FIQ</a:t>
                      </a:r>
                      <a:r>
                        <a:rPr kumimoji="0" lang="zh-CN" altLang="en-US"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或</a:t>
                      </a: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IRQ</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R/W</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0</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0xFFFF F00C</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r h="2667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VICSoftInt</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宋体" pitchFamily="2" charset="-122"/>
                          <a:ea typeface="宋体" pitchFamily="2" charset="-122"/>
                          <a:cs typeface="Times New Roman" pitchFamily="18" charset="0"/>
                        </a:rPr>
                        <a:t>软件中断寄存器</a:t>
                      </a:r>
                      <a:r>
                        <a:rPr kumimoji="0" lang="zh-CN" altLang="en-US"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控制对应通道产生软件中断</a:t>
                      </a:r>
                      <a:endParaRPr kumimoji="0" lang="zh-CN" altLang="en-US"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R/W</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0</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0xFFFF F018</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r h="2492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VICSoftIntClear</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宋体" pitchFamily="2" charset="-122"/>
                          <a:ea typeface="宋体" pitchFamily="2" charset="-122"/>
                          <a:cs typeface="Times New Roman" pitchFamily="18" charset="0"/>
                        </a:rPr>
                        <a:t>软件中断清零寄存器</a:t>
                      </a:r>
                      <a:r>
                        <a:rPr kumimoji="0" lang="zh-CN" altLang="en-US"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禁止对应通道的软件中断</a:t>
                      </a:r>
                      <a:endParaRPr kumimoji="0" lang="zh-CN" altLang="en-US"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W</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0</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0xFFFF F01C</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5"/>
                  </a:ext>
                </a:extLst>
              </a:tr>
            </a:tbl>
          </a:graphicData>
        </a:graphic>
      </p:graphicFrame>
      <p:sp>
        <p:nvSpPr>
          <p:cNvPr id="359501" name="Oval 77"/>
          <p:cNvSpPr>
            <a:spLocks noChangeArrowheads="1"/>
          </p:cNvSpPr>
          <p:nvPr/>
        </p:nvSpPr>
        <p:spPr bwMode="auto">
          <a:xfrm>
            <a:off x="2495551" y="1485901"/>
            <a:ext cx="2232025" cy="962025"/>
          </a:xfrm>
          <a:prstGeom prst="ellipse">
            <a:avLst/>
          </a:prstGeom>
          <a:noFill/>
          <a:ln w="19050" algn="ctr">
            <a:solidFill>
              <a:srgbClr val="FF0000"/>
            </a:solidFill>
            <a:round/>
            <a:headEnd/>
            <a:tailEnd/>
          </a:ln>
          <a:effectLst/>
        </p:spPr>
        <p:txBody>
          <a:bodyPr wrap="none" anchor="ctr"/>
          <a:lstStyle/>
          <a:p>
            <a:endParaRPr lang="zh-CN" altLang="en-US"/>
          </a:p>
        </p:txBody>
      </p:sp>
      <p:sp>
        <p:nvSpPr>
          <p:cNvPr id="359502" name="Oval 78"/>
          <p:cNvSpPr>
            <a:spLocks noChangeArrowheads="1"/>
          </p:cNvSpPr>
          <p:nvPr/>
        </p:nvSpPr>
        <p:spPr bwMode="auto">
          <a:xfrm>
            <a:off x="6240463" y="1657350"/>
            <a:ext cx="1727200" cy="476250"/>
          </a:xfrm>
          <a:prstGeom prst="ellipse">
            <a:avLst/>
          </a:prstGeom>
          <a:noFill/>
          <a:ln w="19050" algn="ctr">
            <a:solidFill>
              <a:srgbClr val="FF0000"/>
            </a:solidFill>
            <a:round/>
            <a:headEnd/>
            <a:tailEnd/>
          </a:ln>
          <a:effectLst/>
        </p:spPr>
        <p:txBody>
          <a:bodyPr wrap="none" anchor="ctr"/>
          <a:lstStyle/>
          <a:p>
            <a:endParaRPr lang="zh-CN" altLang="en-US"/>
          </a:p>
        </p:txBody>
      </p:sp>
      <p:sp>
        <p:nvSpPr>
          <p:cNvPr id="359503" name="Oval 79"/>
          <p:cNvSpPr>
            <a:spLocks noChangeArrowheads="1"/>
          </p:cNvSpPr>
          <p:nvPr/>
        </p:nvSpPr>
        <p:spPr bwMode="auto">
          <a:xfrm>
            <a:off x="6383338" y="2493963"/>
            <a:ext cx="1441450" cy="557212"/>
          </a:xfrm>
          <a:prstGeom prst="ellipse">
            <a:avLst/>
          </a:prstGeom>
          <a:noFill/>
          <a:ln w="19050" algn="ctr">
            <a:solidFill>
              <a:srgbClr val="FF0000"/>
            </a:solidFill>
            <a:round/>
            <a:headEnd/>
            <a:tailEnd/>
          </a:ln>
          <a:effectLst/>
        </p:spPr>
        <p:txBody>
          <a:bodyPr wrap="none" anchor="ctr"/>
          <a:lstStyle/>
          <a:p>
            <a:endParaRPr lang="zh-CN" altLang="en-US"/>
          </a:p>
        </p:txBody>
      </p:sp>
      <p:sp>
        <p:nvSpPr>
          <p:cNvPr id="359504" name="Oval 80"/>
          <p:cNvSpPr>
            <a:spLocks noChangeArrowheads="1"/>
          </p:cNvSpPr>
          <p:nvPr/>
        </p:nvSpPr>
        <p:spPr bwMode="auto">
          <a:xfrm>
            <a:off x="7824788" y="2493964"/>
            <a:ext cx="1295400" cy="574675"/>
          </a:xfrm>
          <a:prstGeom prst="ellipse">
            <a:avLst/>
          </a:prstGeom>
          <a:noFill/>
          <a:ln w="19050" algn="ctr">
            <a:solidFill>
              <a:srgbClr val="FF0000"/>
            </a:solidFill>
            <a:round/>
            <a:headEnd/>
            <a:tailEnd/>
          </a:ln>
          <a:effectLst/>
        </p:spPr>
        <p:txBody>
          <a:bodyPr wrap="none" anchor="ctr"/>
          <a:lstStyle/>
          <a:p>
            <a:endParaRPr lang="zh-CN" altLang="en-US"/>
          </a:p>
        </p:txBody>
      </p:sp>
      <p:sp>
        <p:nvSpPr>
          <p:cNvPr id="359505" name="Rectangle 81"/>
          <p:cNvSpPr>
            <a:spLocks noChangeArrowheads="1"/>
          </p:cNvSpPr>
          <p:nvPr/>
        </p:nvSpPr>
        <p:spPr bwMode="auto">
          <a:xfrm>
            <a:off x="2209800" y="6207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寄存器描述－控制寄存器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59505">
                                            <p:txEl>
                                              <p:pRg st="0" end="0"/>
                                            </p:txEl>
                                          </p:spTgt>
                                        </p:tgtEl>
                                        <p:attrNameLst>
                                          <p:attrName>style.visibility</p:attrName>
                                        </p:attrNameLst>
                                      </p:cBhvr>
                                      <p:to>
                                        <p:strVal val="visible"/>
                                      </p:to>
                                    </p:set>
                                    <p:anim calcmode="lin" valueType="num">
                                      <p:cBhvr additive="base">
                                        <p:cTn id="7" dur="500" fill="hold"/>
                                        <p:tgtEl>
                                          <p:spTgt spid="35950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59505">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359596"/>
                                        </p:tgtEl>
                                        <p:attrNameLst>
                                          <p:attrName>style.visibility</p:attrName>
                                        </p:attrNameLst>
                                      </p:cBhvr>
                                      <p:to>
                                        <p:strVal val="visible"/>
                                      </p:to>
                                    </p:set>
                                    <p:animEffect transition="in" filter="wipe(left)">
                                      <p:cBhvr>
                                        <p:cTn id="12" dur="500"/>
                                        <p:tgtEl>
                                          <p:spTgt spid="359596"/>
                                        </p:tgtEl>
                                      </p:cBhvr>
                                    </p:animEffect>
                                  </p:childTnLst>
                                </p:cTn>
                              </p:par>
                            </p:childTnLst>
                          </p:cTn>
                        </p:par>
                        <p:par>
                          <p:cTn id="13" fill="hold">
                            <p:stCondLst>
                              <p:cond delay="1000"/>
                            </p:stCondLst>
                            <p:childTnLst>
                              <p:par>
                                <p:cTn id="14" presetID="12" presetClass="entr" presetSubtype="1" fill="hold" nodeType="afterEffect">
                                  <p:stCondLst>
                                    <p:cond delay="0"/>
                                  </p:stCondLst>
                                  <p:childTnLst>
                                    <p:set>
                                      <p:cBhvr>
                                        <p:cTn id="15" dur="1" fill="hold">
                                          <p:stCondLst>
                                            <p:cond delay="0"/>
                                          </p:stCondLst>
                                        </p:cTn>
                                        <p:tgtEl>
                                          <p:spTgt spid="359595"/>
                                        </p:tgtEl>
                                        <p:attrNameLst>
                                          <p:attrName>style.visibility</p:attrName>
                                        </p:attrNameLst>
                                      </p:cBhvr>
                                      <p:to>
                                        <p:strVal val="visible"/>
                                      </p:to>
                                    </p:set>
                                    <p:animEffect transition="in" filter="slide(fromTop)">
                                      <p:cBhvr>
                                        <p:cTn id="16" dur="500"/>
                                        <p:tgtEl>
                                          <p:spTgt spid="359595"/>
                                        </p:tgtEl>
                                      </p:cBhvr>
                                    </p:animEffect>
                                  </p:childTnLst>
                                </p:cTn>
                              </p:par>
                            </p:childTnLst>
                          </p:cTn>
                        </p:par>
                        <p:par>
                          <p:cTn id="17" fill="hold">
                            <p:stCondLst>
                              <p:cond delay="1500"/>
                            </p:stCondLst>
                            <p:childTnLst>
                              <p:par>
                                <p:cTn id="18" presetID="13" presetClass="entr" presetSubtype="16" fill="hold" grpId="0" nodeType="afterEffect">
                                  <p:stCondLst>
                                    <p:cond delay="0"/>
                                  </p:stCondLst>
                                  <p:childTnLst>
                                    <p:set>
                                      <p:cBhvr>
                                        <p:cTn id="19" dur="1" fill="hold">
                                          <p:stCondLst>
                                            <p:cond delay="0"/>
                                          </p:stCondLst>
                                        </p:cTn>
                                        <p:tgtEl>
                                          <p:spTgt spid="359501"/>
                                        </p:tgtEl>
                                        <p:attrNameLst>
                                          <p:attrName>style.visibility</p:attrName>
                                        </p:attrNameLst>
                                      </p:cBhvr>
                                      <p:to>
                                        <p:strVal val="visible"/>
                                      </p:to>
                                    </p:set>
                                    <p:animEffect transition="in" filter="plus(in)">
                                      <p:cBhvr>
                                        <p:cTn id="20" dur="500"/>
                                        <p:tgtEl>
                                          <p:spTgt spid="359501"/>
                                        </p:tgtEl>
                                      </p:cBhvr>
                                    </p:animEffect>
                                  </p:childTnLst>
                                </p:cTn>
                              </p:par>
                              <p:par>
                                <p:cTn id="21" presetID="13" presetClass="entr" presetSubtype="16" fill="hold" grpId="0" nodeType="withEffect">
                                  <p:stCondLst>
                                    <p:cond delay="0"/>
                                  </p:stCondLst>
                                  <p:childTnLst>
                                    <p:set>
                                      <p:cBhvr>
                                        <p:cTn id="22" dur="1" fill="hold">
                                          <p:stCondLst>
                                            <p:cond delay="0"/>
                                          </p:stCondLst>
                                        </p:cTn>
                                        <p:tgtEl>
                                          <p:spTgt spid="359502"/>
                                        </p:tgtEl>
                                        <p:attrNameLst>
                                          <p:attrName>style.visibility</p:attrName>
                                        </p:attrNameLst>
                                      </p:cBhvr>
                                      <p:to>
                                        <p:strVal val="visible"/>
                                      </p:to>
                                    </p:set>
                                    <p:animEffect transition="in" filter="plus(in)">
                                      <p:cBhvr>
                                        <p:cTn id="23" dur="500"/>
                                        <p:tgtEl>
                                          <p:spTgt spid="359502"/>
                                        </p:tgtEl>
                                      </p:cBhvr>
                                    </p:animEffect>
                                  </p:childTnLst>
                                </p:cTn>
                              </p:par>
                              <p:par>
                                <p:cTn id="24" presetID="13" presetClass="entr" presetSubtype="16" fill="hold" grpId="0" nodeType="withEffect">
                                  <p:stCondLst>
                                    <p:cond delay="0"/>
                                  </p:stCondLst>
                                  <p:childTnLst>
                                    <p:set>
                                      <p:cBhvr>
                                        <p:cTn id="25" dur="1" fill="hold">
                                          <p:stCondLst>
                                            <p:cond delay="0"/>
                                          </p:stCondLst>
                                        </p:cTn>
                                        <p:tgtEl>
                                          <p:spTgt spid="359503"/>
                                        </p:tgtEl>
                                        <p:attrNameLst>
                                          <p:attrName>style.visibility</p:attrName>
                                        </p:attrNameLst>
                                      </p:cBhvr>
                                      <p:to>
                                        <p:strVal val="visible"/>
                                      </p:to>
                                    </p:set>
                                    <p:animEffect transition="in" filter="plus(in)">
                                      <p:cBhvr>
                                        <p:cTn id="26" dur="500"/>
                                        <p:tgtEl>
                                          <p:spTgt spid="359503"/>
                                        </p:tgtEl>
                                      </p:cBhvr>
                                    </p:animEffect>
                                  </p:childTnLst>
                                </p:cTn>
                              </p:par>
                              <p:par>
                                <p:cTn id="27" presetID="13" presetClass="entr" presetSubtype="16" fill="hold" grpId="0" nodeType="withEffect">
                                  <p:stCondLst>
                                    <p:cond delay="0"/>
                                  </p:stCondLst>
                                  <p:childTnLst>
                                    <p:set>
                                      <p:cBhvr>
                                        <p:cTn id="28" dur="1" fill="hold">
                                          <p:stCondLst>
                                            <p:cond delay="0"/>
                                          </p:stCondLst>
                                        </p:cTn>
                                        <p:tgtEl>
                                          <p:spTgt spid="359504"/>
                                        </p:tgtEl>
                                        <p:attrNameLst>
                                          <p:attrName>style.visibility</p:attrName>
                                        </p:attrNameLst>
                                      </p:cBhvr>
                                      <p:to>
                                        <p:strVal val="visible"/>
                                      </p:to>
                                    </p:set>
                                    <p:animEffect transition="in" filter="plus(in)">
                                      <p:cBhvr>
                                        <p:cTn id="29" dur="500"/>
                                        <p:tgtEl>
                                          <p:spTgt spid="359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501" grpId="0" animBg="1"/>
      <p:bldP spid="359502" grpId="0" animBg="1"/>
      <p:bldP spid="359503" grpId="0" animBg="1"/>
      <p:bldP spid="359504" grpId="0" animBg="1"/>
      <p:bldP spid="359505"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646" name="Rectangle 78"/>
          <p:cNvSpPr>
            <a:spLocks noChangeArrowheads="1"/>
          </p:cNvSpPr>
          <p:nvPr/>
        </p:nvSpPr>
        <p:spPr bwMode="auto">
          <a:xfrm>
            <a:off x="2208213" y="1628776"/>
            <a:ext cx="7702550" cy="576263"/>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控制寄存器功能描述</a:t>
            </a:r>
          </a:p>
        </p:txBody>
      </p:sp>
      <p:sp>
        <p:nvSpPr>
          <p:cNvPr id="365647" name="Rectangle 79"/>
          <p:cNvSpPr>
            <a:spLocks noGrp="1" noChangeArrowheads="1"/>
          </p:cNvSpPr>
          <p:nvPr>
            <p:ph type="title"/>
          </p:nvPr>
        </p:nvSpPr>
        <p:spPr>
          <a:noFill/>
          <a:ln/>
        </p:spPr>
        <p:txBody>
          <a:bodyPr/>
          <a:lstStyle/>
          <a:p>
            <a:r>
              <a:rPr lang="en-US" altLang="zh-CN" dirty="0">
                <a:solidFill>
                  <a:schemeClr val="tx1"/>
                </a:solidFill>
              </a:rPr>
              <a:t>5.3.3</a:t>
            </a:r>
            <a:r>
              <a:rPr lang="en-US" altLang="zh-CN" dirty="0"/>
              <a:t>  </a:t>
            </a:r>
            <a:r>
              <a:rPr lang="zh-CN" altLang="en-US" dirty="0"/>
              <a:t>向量中断控制器</a:t>
            </a:r>
          </a:p>
        </p:txBody>
      </p:sp>
      <p:graphicFrame>
        <p:nvGraphicFramePr>
          <p:cNvPr id="365692" name="Group 124"/>
          <p:cNvGraphicFramePr>
            <a:graphicFrameLocks noGrp="1"/>
          </p:cNvGraphicFramePr>
          <p:nvPr/>
        </p:nvGraphicFramePr>
        <p:xfrm>
          <a:off x="3149600" y="2508250"/>
          <a:ext cx="5899150" cy="2000886"/>
        </p:xfrm>
        <a:graphic>
          <a:graphicData uri="http://schemas.openxmlformats.org/drawingml/2006/table">
            <a:tbl>
              <a:tblPr/>
              <a:tblGrid>
                <a:gridCol w="201295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2127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宋体" pitchFamily="2" charset="-122"/>
                          <a:ea typeface="宋体" pitchFamily="2" charset="-122"/>
                        </a:rPr>
                        <a:t>控制寄存器</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宋体" pitchFamily="2" charset="-122"/>
                          <a:ea typeface="宋体" pitchFamily="2" charset="-122"/>
                        </a:rPr>
                        <a:t>功能描述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3190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pitchFamily="2" charset="-122"/>
                          <a:ea typeface="宋体" pitchFamily="2" charset="-122"/>
                          <a:cs typeface="Times New Roman" pitchFamily="18" charset="0"/>
                        </a:rPr>
                        <a:t>VICIntEnable</a:t>
                      </a:r>
                      <a:endParaRPr kumimoji="0" lang="en-US" altLang="zh-CN" sz="18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宋体" pitchFamily="2" charset="-122"/>
                          <a:ea typeface="宋体" pitchFamily="2" charset="-122"/>
                        </a:rPr>
                        <a:t>使能（禁止）中断源产生中断</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3175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pitchFamily="2" charset="-122"/>
                          <a:ea typeface="宋体" pitchFamily="2" charset="-122"/>
                          <a:cs typeface="Times New Roman" pitchFamily="18" charset="0"/>
                        </a:rPr>
                        <a:t>VICIntEnClr</a:t>
                      </a:r>
                      <a:endParaRPr kumimoji="0" lang="en-US" altLang="zh-CN" sz="18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vMerge="1">
                  <a:txBody>
                    <a:bodyPr/>
                    <a:lstStyle/>
                    <a:p>
                      <a:endParaRPr lang="zh-CN" altLang="en-US"/>
                    </a:p>
                  </a:txBody>
                  <a:tcPr/>
                </a:tc>
                <a:extLst>
                  <a:ext uri="{0D108BD9-81ED-4DB2-BD59-A6C34878D82A}">
                    <a16:rowId xmlns:a16="http://schemas.microsoft.com/office/drawing/2014/main" val="10002"/>
                  </a:ext>
                </a:extLst>
              </a:tr>
              <a:tr h="3619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pitchFamily="2" charset="-122"/>
                          <a:ea typeface="宋体" pitchFamily="2" charset="-122"/>
                          <a:cs typeface="Times New Roman" pitchFamily="18" charset="0"/>
                        </a:rPr>
                        <a:t>VICIntSelect</a:t>
                      </a:r>
                      <a:endParaRPr kumimoji="0" lang="en-US" altLang="zh-CN" sz="18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宋体" pitchFamily="2" charset="-122"/>
                          <a:ea typeface="宋体" pitchFamily="2" charset="-122"/>
                        </a:rPr>
                        <a:t>中断类型选择：</a:t>
                      </a:r>
                      <a:r>
                        <a:rPr kumimoji="1" lang="en-US" altLang="zh-CN" sz="1800" b="0" i="0" u="none" strike="noStrike" cap="none" normalizeH="0" baseline="0">
                          <a:ln>
                            <a:noFill/>
                          </a:ln>
                          <a:solidFill>
                            <a:schemeClr val="tx1"/>
                          </a:solidFill>
                          <a:effectLst/>
                          <a:latin typeface="宋体" pitchFamily="2" charset="-122"/>
                          <a:ea typeface="宋体" pitchFamily="2" charset="-122"/>
                        </a:rPr>
                        <a:t>FIQ &amp; IRQ</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r h="3190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pitchFamily="2" charset="-122"/>
                          <a:ea typeface="宋体" pitchFamily="2" charset="-122"/>
                          <a:cs typeface="Times New Roman" pitchFamily="18" charset="0"/>
                        </a:rPr>
                        <a:t>VICSoftInt</a:t>
                      </a:r>
                      <a:endParaRPr kumimoji="0" lang="en-US" altLang="zh-CN" sz="18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宋体" pitchFamily="2" charset="-122"/>
                          <a:ea typeface="宋体" pitchFamily="2" charset="-122"/>
                        </a:rPr>
                        <a:t>软件中断设置寄存器</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r h="3175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pitchFamily="2" charset="-122"/>
                          <a:ea typeface="宋体" pitchFamily="2" charset="-122"/>
                          <a:cs typeface="Times New Roman" pitchFamily="18" charset="0"/>
                        </a:rPr>
                        <a:t>VICSoftIntClear</a:t>
                      </a:r>
                      <a:endParaRPr kumimoji="0" lang="en-US" altLang="zh-CN" sz="18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vMerge="1">
                  <a:txBody>
                    <a:bodyPr/>
                    <a:lstStyle/>
                    <a:p>
                      <a:endParaRPr lang="zh-CN" altLang="en-US"/>
                    </a:p>
                  </a:txBody>
                  <a:tcPr/>
                </a:tc>
                <a:extLst>
                  <a:ext uri="{0D108BD9-81ED-4DB2-BD59-A6C34878D82A}">
                    <a16:rowId xmlns:a16="http://schemas.microsoft.com/office/drawing/2014/main" val="10005"/>
                  </a:ext>
                </a:extLst>
              </a:tr>
            </a:tbl>
          </a:graphicData>
        </a:graphic>
      </p:graphicFrame>
      <p:grpSp>
        <p:nvGrpSpPr>
          <p:cNvPr id="365669" name="Group 101"/>
          <p:cNvGrpSpPr>
            <a:grpSpLocks/>
          </p:cNvGrpSpPr>
          <p:nvPr/>
        </p:nvGrpSpPr>
        <p:grpSpPr bwMode="auto">
          <a:xfrm>
            <a:off x="3575050" y="4813300"/>
            <a:ext cx="4973638" cy="1352550"/>
            <a:chOff x="1410" y="3150"/>
            <a:chExt cx="3133" cy="852"/>
          </a:xfrm>
        </p:grpSpPr>
        <p:sp>
          <p:nvSpPr>
            <p:cNvPr id="365670" name="Rectangle 102"/>
            <p:cNvSpPr>
              <a:spLocks noChangeArrowheads="1"/>
            </p:cNvSpPr>
            <p:nvPr/>
          </p:nvSpPr>
          <p:spPr bwMode="auto">
            <a:xfrm>
              <a:off x="3449" y="3186"/>
              <a:ext cx="1088" cy="186"/>
            </a:xfrm>
            <a:prstGeom prst="rect">
              <a:avLst/>
            </a:prstGeom>
            <a:solidFill>
              <a:schemeClr val="accent1"/>
            </a:solidFill>
            <a:ln w="9525">
              <a:solidFill>
                <a:schemeClr val="tx1"/>
              </a:solidFill>
              <a:miter lim="800000"/>
              <a:headEnd/>
              <a:tailEnd/>
            </a:ln>
            <a:effectLst/>
          </p:spPr>
          <p:txBody>
            <a:bodyPr wrap="none" anchor="ctr"/>
            <a:lstStyle/>
            <a:p>
              <a:pPr>
                <a:spcBef>
                  <a:spcPct val="20000"/>
                </a:spcBef>
              </a:pPr>
              <a:r>
                <a:rPr lang="en-US" altLang="zh-CN" sz="1600">
                  <a:latin typeface="Times New Roman" pitchFamily="18" charset="0"/>
                  <a:ea typeface="楷体_GB2312" pitchFamily="49" charset="-122"/>
                </a:rPr>
                <a:t>FIQ</a:t>
              </a:r>
              <a:r>
                <a:rPr lang="zh-CN" altLang="en-US" sz="1600">
                  <a:latin typeface="Times New Roman" pitchFamily="18" charset="0"/>
                  <a:ea typeface="楷体_GB2312" pitchFamily="49" charset="-122"/>
                </a:rPr>
                <a:t>中断</a:t>
              </a:r>
            </a:p>
          </p:txBody>
        </p:sp>
        <p:sp>
          <p:nvSpPr>
            <p:cNvPr id="365671" name="Rectangle 103"/>
            <p:cNvSpPr>
              <a:spLocks noChangeArrowheads="1"/>
            </p:cNvSpPr>
            <p:nvPr/>
          </p:nvSpPr>
          <p:spPr bwMode="auto">
            <a:xfrm>
              <a:off x="3455" y="3444"/>
              <a:ext cx="1088" cy="192"/>
            </a:xfrm>
            <a:prstGeom prst="rect">
              <a:avLst/>
            </a:prstGeom>
            <a:solidFill>
              <a:schemeClr val="accent1"/>
            </a:solidFill>
            <a:ln w="9525">
              <a:solidFill>
                <a:schemeClr val="tx1"/>
              </a:solidFill>
              <a:miter lim="800000"/>
              <a:headEnd/>
              <a:tailEnd/>
            </a:ln>
            <a:effectLst/>
          </p:spPr>
          <p:txBody>
            <a:bodyPr wrap="none" anchor="ctr"/>
            <a:lstStyle/>
            <a:p>
              <a:pPr>
                <a:spcBef>
                  <a:spcPct val="20000"/>
                </a:spcBef>
              </a:pPr>
              <a:r>
                <a:rPr lang="zh-CN" altLang="en-US" sz="1600">
                  <a:latin typeface="Times New Roman" pitchFamily="18" charset="0"/>
                  <a:ea typeface="楷体_GB2312" pitchFamily="49" charset="-122"/>
                </a:rPr>
                <a:t>向量</a:t>
              </a:r>
              <a:r>
                <a:rPr lang="en-US" altLang="zh-CN" sz="1600">
                  <a:latin typeface="Times New Roman" pitchFamily="18" charset="0"/>
                  <a:ea typeface="楷体_GB2312" pitchFamily="49" charset="-122"/>
                </a:rPr>
                <a:t>IRQ</a:t>
              </a:r>
              <a:r>
                <a:rPr lang="zh-CN" altLang="en-US" sz="1600">
                  <a:latin typeface="Times New Roman" pitchFamily="18" charset="0"/>
                  <a:ea typeface="楷体_GB2312" pitchFamily="49" charset="-122"/>
                </a:rPr>
                <a:t>中断</a:t>
              </a:r>
            </a:p>
          </p:txBody>
        </p:sp>
        <p:sp>
          <p:nvSpPr>
            <p:cNvPr id="365672" name="Rectangle 104"/>
            <p:cNvSpPr>
              <a:spLocks noChangeArrowheads="1"/>
            </p:cNvSpPr>
            <p:nvPr/>
          </p:nvSpPr>
          <p:spPr bwMode="auto">
            <a:xfrm>
              <a:off x="3455" y="3732"/>
              <a:ext cx="1088" cy="192"/>
            </a:xfrm>
            <a:prstGeom prst="rect">
              <a:avLst/>
            </a:prstGeom>
            <a:solidFill>
              <a:schemeClr val="accent1"/>
            </a:solidFill>
            <a:ln w="9525">
              <a:solidFill>
                <a:schemeClr val="tx1"/>
              </a:solidFill>
              <a:miter lim="800000"/>
              <a:headEnd/>
              <a:tailEnd/>
            </a:ln>
            <a:effectLst/>
          </p:spPr>
          <p:txBody>
            <a:bodyPr wrap="none" anchor="ctr"/>
            <a:lstStyle/>
            <a:p>
              <a:pPr>
                <a:spcBef>
                  <a:spcPct val="20000"/>
                </a:spcBef>
              </a:pPr>
              <a:r>
                <a:rPr lang="zh-CN" altLang="en-US" sz="1600">
                  <a:latin typeface="Times New Roman" pitchFamily="18" charset="0"/>
                  <a:ea typeface="楷体_GB2312" pitchFamily="49" charset="-122"/>
                </a:rPr>
                <a:t>非向量</a:t>
              </a:r>
              <a:r>
                <a:rPr lang="en-US" altLang="zh-CN" sz="1600">
                  <a:latin typeface="Times New Roman" pitchFamily="18" charset="0"/>
                  <a:ea typeface="楷体_GB2312" pitchFamily="49" charset="-122"/>
                </a:rPr>
                <a:t>IRQ</a:t>
              </a:r>
              <a:r>
                <a:rPr lang="zh-CN" altLang="en-US" sz="1600">
                  <a:latin typeface="Times New Roman" pitchFamily="18" charset="0"/>
                  <a:ea typeface="楷体_GB2312" pitchFamily="49" charset="-122"/>
                </a:rPr>
                <a:t>中断</a:t>
              </a:r>
            </a:p>
          </p:txBody>
        </p:sp>
        <p:sp>
          <p:nvSpPr>
            <p:cNvPr id="365673" name="Line 105"/>
            <p:cNvSpPr>
              <a:spLocks noChangeShapeType="1"/>
            </p:cNvSpPr>
            <p:nvPr/>
          </p:nvSpPr>
          <p:spPr bwMode="auto">
            <a:xfrm>
              <a:off x="3051" y="3288"/>
              <a:ext cx="403" cy="0"/>
            </a:xfrm>
            <a:prstGeom prst="line">
              <a:avLst/>
            </a:prstGeom>
            <a:noFill/>
            <a:ln w="19050">
              <a:solidFill>
                <a:srgbClr val="FF0000"/>
              </a:solidFill>
              <a:round/>
              <a:headEnd/>
              <a:tailEnd type="triangle" w="med" len="med"/>
            </a:ln>
            <a:effectLst/>
          </p:spPr>
          <p:txBody>
            <a:bodyPr wrap="none" anchor="ctr"/>
            <a:lstStyle/>
            <a:p>
              <a:endParaRPr lang="zh-CN" altLang="en-US"/>
            </a:p>
          </p:txBody>
        </p:sp>
        <p:sp>
          <p:nvSpPr>
            <p:cNvPr id="365674" name="Line 106"/>
            <p:cNvSpPr>
              <a:spLocks noChangeShapeType="1"/>
            </p:cNvSpPr>
            <p:nvPr/>
          </p:nvSpPr>
          <p:spPr bwMode="auto">
            <a:xfrm>
              <a:off x="3052" y="3540"/>
              <a:ext cx="403" cy="0"/>
            </a:xfrm>
            <a:prstGeom prst="line">
              <a:avLst/>
            </a:prstGeom>
            <a:noFill/>
            <a:ln w="19050">
              <a:solidFill>
                <a:srgbClr val="FF0000"/>
              </a:solidFill>
              <a:round/>
              <a:headEnd/>
              <a:tailEnd type="triangle" w="med" len="med"/>
            </a:ln>
            <a:effectLst/>
          </p:spPr>
          <p:txBody>
            <a:bodyPr wrap="none" anchor="ctr"/>
            <a:lstStyle/>
            <a:p>
              <a:endParaRPr lang="zh-CN" altLang="en-US"/>
            </a:p>
          </p:txBody>
        </p:sp>
        <p:sp>
          <p:nvSpPr>
            <p:cNvPr id="365675" name="Line 107"/>
            <p:cNvSpPr>
              <a:spLocks noChangeShapeType="1"/>
            </p:cNvSpPr>
            <p:nvPr/>
          </p:nvSpPr>
          <p:spPr bwMode="auto">
            <a:xfrm>
              <a:off x="3059" y="3834"/>
              <a:ext cx="404" cy="0"/>
            </a:xfrm>
            <a:prstGeom prst="line">
              <a:avLst/>
            </a:prstGeom>
            <a:noFill/>
            <a:ln w="19050">
              <a:solidFill>
                <a:srgbClr val="FF0000"/>
              </a:solidFill>
              <a:round/>
              <a:headEnd/>
              <a:tailEnd type="triangle" w="med" len="med"/>
            </a:ln>
            <a:effectLst/>
          </p:spPr>
          <p:txBody>
            <a:bodyPr wrap="none" anchor="ctr"/>
            <a:lstStyle/>
            <a:p>
              <a:endParaRPr lang="zh-CN" altLang="en-US"/>
            </a:p>
          </p:txBody>
        </p:sp>
        <p:sp>
          <p:nvSpPr>
            <p:cNvPr id="365676" name="Line 108"/>
            <p:cNvSpPr>
              <a:spLocks noChangeShapeType="1"/>
            </p:cNvSpPr>
            <p:nvPr/>
          </p:nvSpPr>
          <p:spPr bwMode="auto">
            <a:xfrm>
              <a:off x="1810" y="3276"/>
              <a:ext cx="546" cy="1"/>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65677" name="Line 109"/>
            <p:cNvSpPr>
              <a:spLocks noChangeShapeType="1"/>
            </p:cNvSpPr>
            <p:nvPr/>
          </p:nvSpPr>
          <p:spPr bwMode="auto">
            <a:xfrm>
              <a:off x="1810" y="3468"/>
              <a:ext cx="546" cy="1"/>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65678" name="Line 110"/>
            <p:cNvSpPr>
              <a:spLocks noChangeShapeType="1"/>
            </p:cNvSpPr>
            <p:nvPr/>
          </p:nvSpPr>
          <p:spPr bwMode="auto">
            <a:xfrm>
              <a:off x="1810" y="3660"/>
              <a:ext cx="546" cy="1"/>
            </a:xfrm>
            <a:prstGeom prst="line">
              <a:avLst/>
            </a:prstGeom>
            <a:noFill/>
            <a:ln w="9525">
              <a:solidFill>
                <a:schemeClr val="tx1"/>
              </a:solidFill>
              <a:prstDash val="dash"/>
              <a:round/>
              <a:headEnd/>
              <a:tailEnd type="triangle" w="med" len="med"/>
            </a:ln>
            <a:effectLst/>
          </p:spPr>
          <p:txBody>
            <a:bodyPr wrap="none" anchor="ctr"/>
            <a:lstStyle/>
            <a:p>
              <a:endParaRPr lang="zh-CN" altLang="en-US"/>
            </a:p>
          </p:txBody>
        </p:sp>
        <p:sp>
          <p:nvSpPr>
            <p:cNvPr id="365679" name="Line 111"/>
            <p:cNvSpPr>
              <a:spLocks noChangeShapeType="1"/>
            </p:cNvSpPr>
            <p:nvPr/>
          </p:nvSpPr>
          <p:spPr bwMode="auto">
            <a:xfrm>
              <a:off x="1810" y="3852"/>
              <a:ext cx="546" cy="1"/>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365680" name="Rectangle 112"/>
            <p:cNvSpPr>
              <a:spLocks noChangeArrowheads="1"/>
            </p:cNvSpPr>
            <p:nvPr/>
          </p:nvSpPr>
          <p:spPr bwMode="auto">
            <a:xfrm>
              <a:off x="1410" y="3180"/>
              <a:ext cx="655" cy="192"/>
            </a:xfrm>
            <a:prstGeom prst="rect">
              <a:avLst/>
            </a:prstGeom>
            <a:solidFill>
              <a:srgbClr val="99CCFF"/>
            </a:solidFill>
            <a:ln w="9525">
              <a:solidFill>
                <a:schemeClr val="tx1"/>
              </a:solidFill>
              <a:miter lim="800000"/>
              <a:headEnd/>
              <a:tailEnd/>
            </a:ln>
            <a:effectLst/>
          </p:spPr>
          <p:txBody>
            <a:bodyPr wrap="none" anchor="ctr"/>
            <a:lstStyle/>
            <a:p>
              <a:r>
                <a:rPr lang="zh-CN" altLang="en-US" sz="1600">
                  <a:latin typeface="Times New Roman" pitchFamily="18" charset="0"/>
                  <a:ea typeface="楷体_GB2312" pitchFamily="49" charset="-122"/>
                </a:rPr>
                <a:t>中断源</a:t>
              </a:r>
              <a:r>
                <a:rPr lang="en-US" altLang="zh-CN" sz="1600">
                  <a:latin typeface="Times New Roman" pitchFamily="18" charset="0"/>
                  <a:ea typeface="楷体_GB2312" pitchFamily="49" charset="-122"/>
                </a:rPr>
                <a:t>0</a:t>
              </a:r>
            </a:p>
          </p:txBody>
        </p:sp>
        <p:sp>
          <p:nvSpPr>
            <p:cNvPr id="365681" name="Rectangle 113"/>
            <p:cNvSpPr>
              <a:spLocks noChangeArrowheads="1"/>
            </p:cNvSpPr>
            <p:nvPr/>
          </p:nvSpPr>
          <p:spPr bwMode="auto">
            <a:xfrm>
              <a:off x="1410" y="3372"/>
              <a:ext cx="655" cy="192"/>
            </a:xfrm>
            <a:prstGeom prst="rect">
              <a:avLst/>
            </a:prstGeom>
            <a:solidFill>
              <a:srgbClr val="99CCFF"/>
            </a:solidFill>
            <a:ln w="9525">
              <a:solidFill>
                <a:schemeClr val="tx1"/>
              </a:solidFill>
              <a:miter lim="800000"/>
              <a:headEnd/>
              <a:tailEnd/>
            </a:ln>
            <a:effectLst/>
          </p:spPr>
          <p:txBody>
            <a:bodyPr wrap="none" anchor="ctr"/>
            <a:lstStyle/>
            <a:p>
              <a:r>
                <a:rPr lang="zh-CN" altLang="en-US" sz="1600">
                  <a:latin typeface="Times New Roman" pitchFamily="18" charset="0"/>
                  <a:ea typeface="楷体_GB2312" pitchFamily="49" charset="-122"/>
                </a:rPr>
                <a:t>中断源</a:t>
              </a:r>
              <a:r>
                <a:rPr lang="en-US" altLang="zh-CN" sz="1600">
                  <a:latin typeface="Times New Roman" pitchFamily="18" charset="0"/>
                  <a:ea typeface="楷体_GB2312" pitchFamily="49" charset="-122"/>
                </a:rPr>
                <a:t>1</a:t>
              </a:r>
            </a:p>
          </p:txBody>
        </p:sp>
        <p:sp>
          <p:nvSpPr>
            <p:cNvPr id="365682" name="Rectangle 114"/>
            <p:cNvSpPr>
              <a:spLocks noChangeArrowheads="1"/>
            </p:cNvSpPr>
            <p:nvPr/>
          </p:nvSpPr>
          <p:spPr bwMode="auto">
            <a:xfrm>
              <a:off x="1410" y="3564"/>
              <a:ext cx="655" cy="192"/>
            </a:xfrm>
            <a:prstGeom prst="rect">
              <a:avLst/>
            </a:prstGeom>
            <a:solidFill>
              <a:srgbClr val="99CCFF"/>
            </a:solidFill>
            <a:ln w="9525">
              <a:solidFill>
                <a:schemeClr val="tx1"/>
              </a:solidFill>
              <a:miter lim="800000"/>
              <a:headEnd/>
              <a:tailEnd/>
            </a:ln>
            <a:effectLst/>
          </p:spPr>
          <p:txBody>
            <a:bodyPr wrap="none" anchor="ctr"/>
            <a:lstStyle/>
            <a:p>
              <a:r>
                <a:rPr lang="en-US" altLang="zh-CN" sz="1600">
                  <a:latin typeface="Times New Roman" pitchFamily="18" charset="0"/>
                  <a:ea typeface="楷体_GB2312" pitchFamily="49" charset="-122"/>
                </a:rPr>
                <a:t>……</a:t>
              </a:r>
            </a:p>
          </p:txBody>
        </p:sp>
        <p:sp>
          <p:nvSpPr>
            <p:cNvPr id="365683" name="Rectangle 115"/>
            <p:cNvSpPr>
              <a:spLocks noChangeArrowheads="1"/>
            </p:cNvSpPr>
            <p:nvPr/>
          </p:nvSpPr>
          <p:spPr bwMode="auto">
            <a:xfrm>
              <a:off x="1410" y="3756"/>
              <a:ext cx="655" cy="192"/>
            </a:xfrm>
            <a:prstGeom prst="rect">
              <a:avLst/>
            </a:prstGeom>
            <a:solidFill>
              <a:srgbClr val="99CCFF"/>
            </a:solidFill>
            <a:ln w="9525">
              <a:solidFill>
                <a:schemeClr val="tx1"/>
              </a:solidFill>
              <a:miter lim="800000"/>
              <a:headEnd/>
              <a:tailEnd/>
            </a:ln>
            <a:effectLst/>
          </p:spPr>
          <p:txBody>
            <a:bodyPr wrap="none" anchor="ctr"/>
            <a:lstStyle/>
            <a:p>
              <a:r>
                <a:rPr lang="zh-CN" altLang="en-US" sz="1600">
                  <a:latin typeface="Times New Roman" pitchFamily="18" charset="0"/>
                  <a:ea typeface="楷体_GB2312" pitchFamily="49" charset="-122"/>
                </a:rPr>
                <a:t>中断源</a:t>
              </a:r>
              <a:r>
                <a:rPr lang="en-US" altLang="zh-CN" sz="1600">
                  <a:latin typeface="Times New Roman" pitchFamily="18" charset="0"/>
                  <a:ea typeface="楷体_GB2312" pitchFamily="49" charset="-122"/>
                </a:rPr>
                <a:t>31</a:t>
              </a:r>
            </a:p>
          </p:txBody>
        </p:sp>
        <p:sp>
          <p:nvSpPr>
            <p:cNvPr id="365684" name="Rectangle 116"/>
            <p:cNvSpPr>
              <a:spLocks noChangeArrowheads="1"/>
            </p:cNvSpPr>
            <p:nvPr/>
          </p:nvSpPr>
          <p:spPr bwMode="auto">
            <a:xfrm>
              <a:off x="2349" y="3150"/>
              <a:ext cx="756" cy="852"/>
            </a:xfrm>
            <a:prstGeom prst="rect">
              <a:avLst/>
            </a:prstGeom>
            <a:solidFill>
              <a:srgbClr val="FFFF99"/>
            </a:solidFill>
            <a:ln w="9525">
              <a:solidFill>
                <a:schemeClr val="tx1"/>
              </a:solidFill>
              <a:miter lim="800000"/>
              <a:headEnd/>
              <a:tailEnd/>
            </a:ln>
            <a:effectLst/>
          </p:spPr>
          <p:txBody>
            <a:bodyPr wrap="none" anchor="ctr"/>
            <a:lstStyle/>
            <a:p>
              <a:pPr>
                <a:spcBef>
                  <a:spcPct val="20000"/>
                </a:spcBef>
              </a:pPr>
              <a:r>
                <a:rPr lang="en-US" altLang="zh-CN" sz="1600">
                  <a:latin typeface="Times New Roman" pitchFamily="18" charset="0"/>
                  <a:ea typeface="楷体_GB2312" pitchFamily="49" charset="-122"/>
                </a:rPr>
                <a:t>VIC</a:t>
              </a:r>
            </a:p>
            <a:p>
              <a:pPr>
                <a:spcBef>
                  <a:spcPct val="20000"/>
                </a:spcBef>
              </a:pPr>
              <a:r>
                <a:rPr lang="zh-CN" altLang="en-US" sz="1600">
                  <a:latin typeface="Times New Roman" pitchFamily="18" charset="0"/>
                  <a:ea typeface="楷体_GB2312" pitchFamily="49" charset="-122"/>
                </a:rPr>
                <a:t>将</a:t>
              </a:r>
              <a:r>
                <a:rPr lang="en-US" altLang="zh-CN" sz="1600">
                  <a:latin typeface="Times New Roman" pitchFamily="18" charset="0"/>
                  <a:ea typeface="楷体_GB2312" pitchFamily="49" charset="-122"/>
                </a:rPr>
                <a:t>32</a:t>
              </a:r>
              <a:r>
                <a:rPr lang="zh-CN" altLang="en-US" sz="1600">
                  <a:latin typeface="Times New Roman" pitchFamily="18" charset="0"/>
                  <a:ea typeface="楷体_GB2312" pitchFamily="49" charset="-122"/>
                </a:rPr>
                <a:t>个</a:t>
              </a:r>
            </a:p>
            <a:p>
              <a:pPr>
                <a:spcBef>
                  <a:spcPct val="20000"/>
                </a:spcBef>
              </a:pPr>
              <a:r>
                <a:rPr lang="zh-CN" altLang="en-US" sz="1600">
                  <a:latin typeface="Times New Roman" pitchFamily="18" charset="0"/>
                  <a:ea typeface="楷体_GB2312" pitchFamily="49" charset="-122"/>
                </a:rPr>
                <a:t>中断输入</a:t>
              </a:r>
            </a:p>
            <a:p>
              <a:pPr>
                <a:spcBef>
                  <a:spcPct val="20000"/>
                </a:spcBef>
              </a:pPr>
              <a:r>
                <a:rPr lang="zh-CN" altLang="en-US" sz="1600">
                  <a:latin typeface="Times New Roman" pitchFamily="18" charset="0"/>
                  <a:ea typeface="楷体_GB2312" pitchFamily="49" charset="-122"/>
                </a:rPr>
                <a:t>进行分配</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65646">
                                            <p:txEl>
                                              <p:pRg st="0" end="0"/>
                                            </p:txEl>
                                          </p:spTgt>
                                        </p:tgtEl>
                                        <p:attrNameLst>
                                          <p:attrName>style.visibility</p:attrName>
                                        </p:attrNameLst>
                                      </p:cBhvr>
                                      <p:to>
                                        <p:strVal val="visible"/>
                                      </p:to>
                                    </p:set>
                                    <p:anim calcmode="lin" valueType="num">
                                      <p:cBhvr additive="base">
                                        <p:cTn id="7" dur="500" fill="hold"/>
                                        <p:tgtEl>
                                          <p:spTgt spid="36564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65646">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365692"/>
                                        </p:tgtEl>
                                        <p:attrNameLst>
                                          <p:attrName>style.visibility</p:attrName>
                                        </p:attrNameLst>
                                      </p:cBhvr>
                                      <p:to>
                                        <p:strVal val="visible"/>
                                      </p:to>
                                    </p:set>
                                    <p:animEffect transition="in" filter="slide(fromTop)">
                                      <p:cBhvr>
                                        <p:cTn id="12" dur="500"/>
                                        <p:tgtEl>
                                          <p:spTgt spid="365692"/>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365669"/>
                                        </p:tgtEl>
                                        <p:attrNameLst>
                                          <p:attrName>style.visibility</p:attrName>
                                        </p:attrNameLst>
                                      </p:cBhvr>
                                      <p:to>
                                        <p:strVal val="visible"/>
                                      </p:to>
                                    </p:set>
                                    <p:animEffect transition="in" filter="wipe(left)">
                                      <p:cBhvr>
                                        <p:cTn id="16" dur="500"/>
                                        <p:tgtEl>
                                          <p:spTgt spid="365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646"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3685" name="Group 165"/>
          <p:cNvGrpSpPr>
            <a:grpSpLocks/>
          </p:cNvGrpSpPr>
          <p:nvPr/>
        </p:nvGrpSpPr>
        <p:grpSpPr bwMode="auto">
          <a:xfrm>
            <a:off x="2782888" y="1662113"/>
            <a:ext cx="6553200" cy="1441450"/>
            <a:chOff x="748" y="1706"/>
            <a:chExt cx="4128" cy="908"/>
          </a:xfrm>
        </p:grpSpPr>
        <p:sp>
          <p:nvSpPr>
            <p:cNvPr id="363686" name="Line 166"/>
            <p:cNvSpPr>
              <a:spLocks noChangeShapeType="1"/>
            </p:cNvSpPr>
            <p:nvPr/>
          </p:nvSpPr>
          <p:spPr bwMode="auto">
            <a:xfrm>
              <a:off x="2018" y="2115"/>
              <a:ext cx="136" cy="0"/>
            </a:xfrm>
            <a:prstGeom prst="line">
              <a:avLst/>
            </a:prstGeom>
            <a:noFill/>
            <a:ln w="28575">
              <a:solidFill>
                <a:schemeClr val="tx1"/>
              </a:solidFill>
              <a:prstDash val="sysDot"/>
              <a:round/>
              <a:headEnd/>
              <a:tailEnd/>
            </a:ln>
            <a:effectLst/>
          </p:spPr>
          <p:txBody>
            <a:bodyPr/>
            <a:lstStyle/>
            <a:p>
              <a:endParaRPr lang="zh-CN" altLang="en-US"/>
            </a:p>
          </p:txBody>
        </p:sp>
        <p:grpSp>
          <p:nvGrpSpPr>
            <p:cNvPr id="363687" name="Group 167"/>
            <p:cNvGrpSpPr>
              <a:grpSpLocks/>
            </p:cNvGrpSpPr>
            <p:nvPr/>
          </p:nvGrpSpPr>
          <p:grpSpPr bwMode="auto">
            <a:xfrm>
              <a:off x="748" y="1707"/>
              <a:ext cx="1225" cy="907"/>
              <a:chOff x="1383" y="1631"/>
              <a:chExt cx="1225" cy="907"/>
            </a:xfrm>
          </p:grpSpPr>
          <p:sp>
            <p:nvSpPr>
              <p:cNvPr id="363688" name="Rectangle 168"/>
              <p:cNvSpPr>
                <a:spLocks noChangeArrowheads="1"/>
              </p:cNvSpPr>
              <p:nvPr/>
            </p:nvSpPr>
            <p:spPr bwMode="auto">
              <a:xfrm>
                <a:off x="1383" y="1631"/>
                <a:ext cx="1225" cy="907"/>
              </a:xfrm>
              <a:prstGeom prst="rect">
                <a:avLst/>
              </a:prstGeom>
              <a:solidFill>
                <a:srgbClr val="CCFFCC"/>
              </a:solidFill>
              <a:ln w="9525" algn="ctr">
                <a:solidFill>
                  <a:schemeClr val="tx1"/>
                </a:solidFill>
                <a:miter lim="800000"/>
                <a:headEnd/>
                <a:tailEnd/>
              </a:ln>
              <a:effectLst/>
            </p:spPr>
            <p:txBody>
              <a:bodyPr wrap="none" anchor="ctr"/>
              <a:lstStyle/>
              <a:p>
                <a:endParaRPr lang="zh-CN" altLang="en-US"/>
              </a:p>
            </p:txBody>
          </p:sp>
          <p:sp>
            <p:nvSpPr>
              <p:cNvPr id="363689" name="Rectangle 169"/>
              <p:cNvSpPr>
                <a:spLocks noChangeArrowheads="1"/>
              </p:cNvSpPr>
              <p:nvPr/>
            </p:nvSpPr>
            <p:spPr bwMode="auto">
              <a:xfrm>
                <a:off x="1429" y="1986"/>
                <a:ext cx="720" cy="170"/>
              </a:xfrm>
              <a:prstGeom prst="rect">
                <a:avLst/>
              </a:prstGeom>
              <a:noFill/>
              <a:ln w="9525" algn="ctr">
                <a:noFill/>
                <a:miter lim="800000"/>
                <a:headEnd/>
                <a:tailEnd/>
              </a:ln>
              <a:effectLst/>
            </p:spPr>
            <p:txBody>
              <a:bodyPr/>
              <a:lstStyle/>
              <a:p>
                <a:pPr algn="l">
                  <a:spcBef>
                    <a:spcPct val="20000"/>
                  </a:spcBef>
                </a:pPr>
                <a:r>
                  <a:rPr lang="zh-CN" altLang="en-US">
                    <a:latin typeface="Arial" charset="0"/>
                  </a:rPr>
                  <a:t>向量</a:t>
                </a:r>
                <a:r>
                  <a:rPr lang="en-US" altLang="zh-CN">
                    <a:latin typeface="Arial" charset="0"/>
                  </a:rPr>
                  <a:t>IRQ0</a:t>
                </a:r>
                <a:r>
                  <a:rPr lang="zh-CN" altLang="en-US">
                    <a:latin typeface="Arial" charset="0"/>
                  </a:rPr>
                  <a:t>使能</a:t>
                </a:r>
              </a:p>
            </p:txBody>
          </p:sp>
          <p:sp>
            <p:nvSpPr>
              <p:cNvPr id="363690" name="Rectangle 170"/>
              <p:cNvSpPr>
                <a:spLocks noChangeArrowheads="1"/>
              </p:cNvSpPr>
              <p:nvPr/>
            </p:nvSpPr>
            <p:spPr bwMode="auto">
              <a:xfrm>
                <a:off x="2149" y="1986"/>
                <a:ext cx="413" cy="170"/>
              </a:xfrm>
              <a:prstGeom prst="rect">
                <a:avLst/>
              </a:prstGeom>
              <a:noFill/>
              <a:ln w="9525" algn="ctr">
                <a:noFill/>
                <a:miter lim="800000"/>
                <a:headEnd/>
                <a:tailEnd/>
              </a:ln>
              <a:effectLst/>
            </p:spPr>
            <p:txBody>
              <a:bodyPr/>
              <a:lstStyle/>
              <a:p>
                <a:pPr algn="l">
                  <a:spcBef>
                    <a:spcPct val="20000"/>
                  </a:spcBef>
                </a:pPr>
                <a:r>
                  <a:rPr lang="zh-CN" altLang="en-US">
                    <a:latin typeface="Arial" charset="0"/>
                  </a:rPr>
                  <a:t>中断源</a:t>
                </a:r>
              </a:p>
            </p:txBody>
          </p:sp>
          <p:sp>
            <p:nvSpPr>
              <p:cNvPr id="363691" name="Rectangle 171"/>
              <p:cNvSpPr>
                <a:spLocks noChangeArrowheads="1"/>
              </p:cNvSpPr>
              <p:nvPr/>
            </p:nvSpPr>
            <p:spPr bwMode="auto">
              <a:xfrm>
                <a:off x="1429" y="1676"/>
                <a:ext cx="1133" cy="310"/>
              </a:xfrm>
              <a:prstGeom prst="rect">
                <a:avLst/>
              </a:prstGeom>
              <a:solidFill>
                <a:srgbClr val="CCFFFF"/>
              </a:solidFill>
              <a:ln w="9525" algn="ctr">
                <a:noFill/>
                <a:miter lim="800000"/>
                <a:headEnd/>
                <a:tailEnd/>
              </a:ln>
              <a:effectLst/>
            </p:spPr>
            <p:txBody>
              <a:bodyPr/>
              <a:lstStyle/>
              <a:p>
                <a:pPr>
                  <a:spcBef>
                    <a:spcPct val="20000"/>
                  </a:spcBef>
                </a:pPr>
                <a:r>
                  <a:rPr lang="zh-CN" altLang="en-US" sz="1200">
                    <a:latin typeface="Arial" charset="0"/>
                  </a:rPr>
                  <a:t>向量</a:t>
                </a:r>
                <a:r>
                  <a:rPr lang="en-US" altLang="zh-CN" sz="1200">
                    <a:latin typeface="Arial" charset="0"/>
                  </a:rPr>
                  <a:t>IRQ0</a:t>
                </a:r>
                <a:r>
                  <a:rPr lang="zh-CN" altLang="en-US" sz="1200">
                    <a:latin typeface="Arial" charset="0"/>
                  </a:rPr>
                  <a:t>控制寄存器</a:t>
                </a:r>
              </a:p>
              <a:p>
                <a:pPr>
                  <a:spcBef>
                    <a:spcPct val="20000"/>
                  </a:spcBef>
                </a:pPr>
                <a:r>
                  <a:rPr lang="en-US" altLang="zh-CN" sz="1200">
                    <a:latin typeface="Arial" charset="0"/>
                  </a:rPr>
                  <a:t>VICVectCntl0</a:t>
                </a:r>
              </a:p>
            </p:txBody>
          </p:sp>
          <p:sp>
            <p:nvSpPr>
              <p:cNvPr id="363692" name="Line 172"/>
              <p:cNvSpPr>
                <a:spLocks noChangeShapeType="1"/>
              </p:cNvSpPr>
              <p:nvPr/>
            </p:nvSpPr>
            <p:spPr bwMode="auto">
              <a:xfrm>
                <a:off x="1429" y="1676"/>
                <a:ext cx="1133" cy="0"/>
              </a:xfrm>
              <a:prstGeom prst="line">
                <a:avLst/>
              </a:prstGeom>
              <a:noFill/>
              <a:ln w="12700" cap="sq">
                <a:solidFill>
                  <a:schemeClr val="tx1"/>
                </a:solidFill>
                <a:round/>
                <a:headEnd/>
                <a:tailEnd/>
              </a:ln>
              <a:effectLst/>
            </p:spPr>
            <p:txBody>
              <a:bodyPr/>
              <a:lstStyle/>
              <a:p>
                <a:endParaRPr lang="zh-CN" altLang="en-US"/>
              </a:p>
            </p:txBody>
          </p:sp>
          <p:sp>
            <p:nvSpPr>
              <p:cNvPr id="363693" name="Line 173"/>
              <p:cNvSpPr>
                <a:spLocks noChangeShapeType="1"/>
              </p:cNvSpPr>
              <p:nvPr/>
            </p:nvSpPr>
            <p:spPr bwMode="auto">
              <a:xfrm>
                <a:off x="1429" y="2156"/>
                <a:ext cx="1133" cy="0"/>
              </a:xfrm>
              <a:prstGeom prst="line">
                <a:avLst/>
              </a:prstGeom>
              <a:noFill/>
              <a:ln w="12700" cap="sq">
                <a:solidFill>
                  <a:schemeClr val="tx1"/>
                </a:solidFill>
                <a:round/>
                <a:headEnd/>
                <a:tailEnd/>
              </a:ln>
              <a:effectLst/>
            </p:spPr>
            <p:txBody>
              <a:bodyPr/>
              <a:lstStyle/>
              <a:p>
                <a:endParaRPr lang="zh-CN" altLang="en-US"/>
              </a:p>
            </p:txBody>
          </p:sp>
          <p:sp>
            <p:nvSpPr>
              <p:cNvPr id="363694" name="Line 174"/>
              <p:cNvSpPr>
                <a:spLocks noChangeShapeType="1"/>
              </p:cNvSpPr>
              <p:nvPr/>
            </p:nvSpPr>
            <p:spPr bwMode="auto">
              <a:xfrm>
                <a:off x="1429" y="1676"/>
                <a:ext cx="0" cy="480"/>
              </a:xfrm>
              <a:prstGeom prst="line">
                <a:avLst/>
              </a:prstGeom>
              <a:noFill/>
              <a:ln w="12700" cap="sq">
                <a:solidFill>
                  <a:schemeClr val="tx1"/>
                </a:solidFill>
                <a:round/>
                <a:headEnd/>
                <a:tailEnd/>
              </a:ln>
              <a:effectLst/>
            </p:spPr>
            <p:txBody>
              <a:bodyPr/>
              <a:lstStyle/>
              <a:p>
                <a:endParaRPr lang="zh-CN" altLang="en-US"/>
              </a:p>
            </p:txBody>
          </p:sp>
          <p:sp>
            <p:nvSpPr>
              <p:cNvPr id="363695" name="Line 175"/>
              <p:cNvSpPr>
                <a:spLocks noChangeShapeType="1"/>
              </p:cNvSpPr>
              <p:nvPr/>
            </p:nvSpPr>
            <p:spPr bwMode="auto">
              <a:xfrm>
                <a:off x="2562" y="1676"/>
                <a:ext cx="0" cy="480"/>
              </a:xfrm>
              <a:prstGeom prst="line">
                <a:avLst/>
              </a:prstGeom>
              <a:noFill/>
              <a:ln w="12700" cap="sq">
                <a:solidFill>
                  <a:schemeClr val="tx1"/>
                </a:solidFill>
                <a:round/>
                <a:headEnd/>
                <a:tailEnd/>
              </a:ln>
              <a:effectLst/>
            </p:spPr>
            <p:txBody>
              <a:bodyPr/>
              <a:lstStyle/>
              <a:p>
                <a:endParaRPr lang="zh-CN" altLang="en-US"/>
              </a:p>
            </p:txBody>
          </p:sp>
          <p:sp>
            <p:nvSpPr>
              <p:cNvPr id="363696" name="Line 176"/>
              <p:cNvSpPr>
                <a:spLocks noChangeShapeType="1"/>
              </p:cNvSpPr>
              <p:nvPr/>
            </p:nvSpPr>
            <p:spPr bwMode="auto">
              <a:xfrm>
                <a:off x="1429" y="1986"/>
                <a:ext cx="1133" cy="0"/>
              </a:xfrm>
              <a:prstGeom prst="line">
                <a:avLst/>
              </a:prstGeom>
              <a:noFill/>
              <a:ln w="12700">
                <a:solidFill>
                  <a:schemeClr val="tx1"/>
                </a:solidFill>
                <a:round/>
                <a:headEnd/>
                <a:tailEnd/>
              </a:ln>
              <a:effectLst/>
            </p:spPr>
            <p:txBody>
              <a:bodyPr/>
              <a:lstStyle/>
              <a:p>
                <a:endParaRPr lang="zh-CN" altLang="en-US"/>
              </a:p>
            </p:txBody>
          </p:sp>
          <p:sp>
            <p:nvSpPr>
              <p:cNvPr id="363697" name="Line 177"/>
              <p:cNvSpPr>
                <a:spLocks noChangeShapeType="1"/>
              </p:cNvSpPr>
              <p:nvPr/>
            </p:nvSpPr>
            <p:spPr bwMode="auto">
              <a:xfrm>
                <a:off x="2149" y="1986"/>
                <a:ext cx="0" cy="170"/>
              </a:xfrm>
              <a:prstGeom prst="line">
                <a:avLst/>
              </a:prstGeom>
              <a:noFill/>
              <a:ln w="12700">
                <a:solidFill>
                  <a:schemeClr val="tx1"/>
                </a:solidFill>
                <a:round/>
                <a:headEnd/>
                <a:tailEnd/>
              </a:ln>
              <a:effectLst/>
            </p:spPr>
            <p:txBody>
              <a:bodyPr/>
              <a:lstStyle/>
              <a:p>
                <a:endParaRPr lang="zh-CN" altLang="en-US"/>
              </a:p>
            </p:txBody>
          </p:sp>
          <p:sp>
            <p:nvSpPr>
              <p:cNvPr id="363698" name="Rectangle 178"/>
              <p:cNvSpPr>
                <a:spLocks noChangeArrowheads="1"/>
              </p:cNvSpPr>
              <p:nvPr/>
            </p:nvSpPr>
            <p:spPr bwMode="auto">
              <a:xfrm>
                <a:off x="1429" y="2183"/>
                <a:ext cx="1133" cy="310"/>
              </a:xfrm>
              <a:prstGeom prst="rect">
                <a:avLst/>
              </a:prstGeom>
              <a:solidFill>
                <a:srgbClr val="CCFFFF"/>
              </a:solidFill>
              <a:ln w="9525" algn="ctr">
                <a:noFill/>
                <a:miter lim="800000"/>
                <a:headEnd/>
                <a:tailEnd/>
              </a:ln>
              <a:effectLst/>
            </p:spPr>
            <p:txBody>
              <a:bodyPr/>
              <a:lstStyle/>
              <a:p>
                <a:pPr>
                  <a:spcBef>
                    <a:spcPct val="20000"/>
                  </a:spcBef>
                </a:pPr>
                <a:r>
                  <a:rPr lang="zh-CN" altLang="en-US" sz="1200">
                    <a:latin typeface="Arial" charset="0"/>
                  </a:rPr>
                  <a:t>向量地址</a:t>
                </a:r>
                <a:r>
                  <a:rPr lang="en-US" altLang="zh-CN" sz="1200">
                    <a:latin typeface="Arial" charset="0"/>
                  </a:rPr>
                  <a:t>0</a:t>
                </a:r>
                <a:r>
                  <a:rPr lang="zh-CN" altLang="en-US" sz="1200">
                    <a:latin typeface="Arial" charset="0"/>
                  </a:rPr>
                  <a:t>寄存器</a:t>
                </a:r>
              </a:p>
              <a:p>
                <a:pPr>
                  <a:spcBef>
                    <a:spcPct val="20000"/>
                  </a:spcBef>
                </a:pPr>
                <a:r>
                  <a:rPr lang="en-US" altLang="zh-CN" sz="1200">
                    <a:latin typeface="Arial" charset="0"/>
                  </a:rPr>
                  <a:t>VICVectAddr0</a:t>
                </a:r>
              </a:p>
            </p:txBody>
          </p:sp>
          <p:sp>
            <p:nvSpPr>
              <p:cNvPr id="363699" name="Line 179"/>
              <p:cNvSpPr>
                <a:spLocks noChangeShapeType="1"/>
              </p:cNvSpPr>
              <p:nvPr/>
            </p:nvSpPr>
            <p:spPr bwMode="auto">
              <a:xfrm>
                <a:off x="1429" y="2183"/>
                <a:ext cx="1133" cy="0"/>
              </a:xfrm>
              <a:prstGeom prst="line">
                <a:avLst/>
              </a:prstGeom>
              <a:noFill/>
              <a:ln w="12700" cap="sq">
                <a:solidFill>
                  <a:schemeClr val="tx1"/>
                </a:solidFill>
                <a:round/>
                <a:headEnd/>
                <a:tailEnd/>
              </a:ln>
              <a:effectLst/>
            </p:spPr>
            <p:txBody>
              <a:bodyPr/>
              <a:lstStyle/>
              <a:p>
                <a:endParaRPr lang="zh-CN" altLang="en-US"/>
              </a:p>
            </p:txBody>
          </p:sp>
          <p:sp>
            <p:nvSpPr>
              <p:cNvPr id="363700" name="Line 180"/>
              <p:cNvSpPr>
                <a:spLocks noChangeShapeType="1"/>
              </p:cNvSpPr>
              <p:nvPr/>
            </p:nvSpPr>
            <p:spPr bwMode="auto">
              <a:xfrm>
                <a:off x="1429" y="2493"/>
                <a:ext cx="1133" cy="0"/>
              </a:xfrm>
              <a:prstGeom prst="line">
                <a:avLst/>
              </a:prstGeom>
              <a:noFill/>
              <a:ln w="12700" cap="sq">
                <a:solidFill>
                  <a:schemeClr val="tx1"/>
                </a:solidFill>
                <a:round/>
                <a:headEnd/>
                <a:tailEnd/>
              </a:ln>
              <a:effectLst/>
            </p:spPr>
            <p:txBody>
              <a:bodyPr/>
              <a:lstStyle/>
              <a:p>
                <a:endParaRPr lang="zh-CN" altLang="en-US"/>
              </a:p>
            </p:txBody>
          </p:sp>
          <p:sp>
            <p:nvSpPr>
              <p:cNvPr id="363701" name="Line 181"/>
              <p:cNvSpPr>
                <a:spLocks noChangeShapeType="1"/>
              </p:cNvSpPr>
              <p:nvPr/>
            </p:nvSpPr>
            <p:spPr bwMode="auto">
              <a:xfrm>
                <a:off x="1429" y="2183"/>
                <a:ext cx="0" cy="310"/>
              </a:xfrm>
              <a:prstGeom prst="line">
                <a:avLst/>
              </a:prstGeom>
              <a:noFill/>
              <a:ln w="12700" cap="sq">
                <a:solidFill>
                  <a:schemeClr val="tx1"/>
                </a:solidFill>
                <a:round/>
                <a:headEnd/>
                <a:tailEnd/>
              </a:ln>
              <a:effectLst/>
            </p:spPr>
            <p:txBody>
              <a:bodyPr/>
              <a:lstStyle/>
              <a:p>
                <a:endParaRPr lang="zh-CN" altLang="en-US"/>
              </a:p>
            </p:txBody>
          </p:sp>
          <p:sp>
            <p:nvSpPr>
              <p:cNvPr id="363702" name="Line 182"/>
              <p:cNvSpPr>
                <a:spLocks noChangeShapeType="1"/>
              </p:cNvSpPr>
              <p:nvPr/>
            </p:nvSpPr>
            <p:spPr bwMode="auto">
              <a:xfrm>
                <a:off x="2562" y="2183"/>
                <a:ext cx="0" cy="310"/>
              </a:xfrm>
              <a:prstGeom prst="line">
                <a:avLst/>
              </a:prstGeom>
              <a:noFill/>
              <a:ln w="12700" cap="sq">
                <a:solidFill>
                  <a:schemeClr val="tx1"/>
                </a:solidFill>
                <a:round/>
                <a:headEnd/>
                <a:tailEnd/>
              </a:ln>
              <a:effectLst/>
            </p:spPr>
            <p:txBody>
              <a:bodyPr/>
              <a:lstStyle/>
              <a:p>
                <a:endParaRPr lang="zh-CN" altLang="en-US"/>
              </a:p>
            </p:txBody>
          </p:sp>
        </p:grpSp>
        <p:grpSp>
          <p:nvGrpSpPr>
            <p:cNvPr id="363703" name="Group 183"/>
            <p:cNvGrpSpPr>
              <a:grpSpLocks/>
            </p:cNvGrpSpPr>
            <p:nvPr/>
          </p:nvGrpSpPr>
          <p:grpSpPr bwMode="auto">
            <a:xfrm>
              <a:off x="3651" y="1706"/>
              <a:ext cx="1225" cy="407"/>
              <a:chOff x="1383" y="3582"/>
              <a:chExt cx="1225" cy="407"/>
            </a:xfrm>
          </p:grpSpPr>
          <p:sp>
            <p:nvSpPr>
              <p:cNvPr id="363704" name="Rectangle 184"/>
              <p:cNvSpPr>
                <a:spLocks noChangeArrowheads="1"/>
              </p:cNvSpPr>
              <p:nvPr/>
            </p:nvSpPr>
            <p:spPr bwMode="auto">
              <a:xfrm>
                <a:off x="1383" y="3582"/>
                <a:ext cx="1225" cy="407"/>
              </a:xfrm>
              <a:prstGeom prst="rect">
                <a:avLst/>
              </a:prstGeom>
              <a:solidFill>
                <a:srgbClr val="CCFFCC"/>
              </a:solidFill>
              <a:ln w="9525" algn="ctr">
                <a:solidFill>
                  <a:schemeClr val="tx1"/>
                </a:solidFill>
                <a:miter lim="800000"/>
                <a:headEnd/>
                <a:tailEnd/>
              </a:ln>
              <a:effectLst/>
            </p:spPr>
            <p:txBody>
              <a:bodyPr wrap="none" anchor="ctr"/>
              <a:lstStyle/>
              <a:p>
                <a:endParaRPr lang="zh-CN" altLang="en-US"/>
              </a:p>
            </p:txBody>
          </p:sp>
          <p:sp>
            <p:nvSpPr>
              <p:cNvPr id="363705" name="Rectangle 185"/>
              <p:cNvSpPr>
                <a:spLocks noChangeArrowheads="1"/>
              </p:cNvSpPr>
              <p:nvPr/>
            </p:nvSpPr>
            <p:spPr bwMode="auto">
              <a:xfrm>
                <a:off x="1429" y="3627"/>
                <a:ext cx="1134" cy="310"/>
              </a:xfrm>
              <a:prstGeom prst="rect">
                <a:avLst/>
              </a:prstGeom>
              <a:solidFill>
                <a:srgbClr val="CCFFFF"/>
              </a:solidFill>
              <a:ln w="9525" algn="ctr">
                <a:noFill/>
                <a:miter lim="800000"/>
                <a:headEnd/>
                <a:tailEnd/>
              </a:ln>
              <a:effectLst/>
            </p:spPr>
            <p:txBody>
              <a:bodyPr/>
              <a:lstStyle/>
              <a:p>
                <a:pPr>
                  <a:spcBef>
                    <a:spcPct val="20000"/>
                  </a:spcBef>
                </a:pPr>
                <a:r>
                  <a:rPr lang="zh-CN" altLang="en-US" sz="1200">
                    <a:latin typeface="Arial" charset="0"/>
                  </a:rPr>
                  <a:t>默认向量地址寄存器</a:t>
                </a:r>
              </a:p>
              <a:p>
                <a:pPr>
                  <a:spcBef>
                    <a:spcPct val="20000"/>
                  </a:spcBef>
                </a:pPr>
                <a:r>
                  <a:rPr lang="en-US" altLang="zh-CN" sz="1200">
                    <a:latin typeface="Arial" charset="0"/>
                  </a:rPr>
                  <a:t>VICDefVectAddr</a:t>
                </a:r>
              </a:p>
            </p:txBody>
          </p:sp>
          <p:sp>
            <p:nvSpPr>
              <p:cNvPr id="363706" name="Line 186"/>
              <p:cNvSpPr>
                <a:spLocks noChangeShapeType="1"/>
              </p:cNvSpPr>
              <p:nvPr/>
            </p:nvSpPr>
            <p:spPr bwMode="auto">
              <a:xfrm>
                <a:off x="1429" y="3627"/>
                <a:ext cx="1134" cy="0"/>
              </a:xfrm>
              <a:prstGeom prst="line">
                <a:avLst/>
              </a:prstGeom>
              <a:noFill/>
              <a:ln w="12700" cap="sq">
                <a:solidFill>
                  <a:schemeClr val="tx1"/>
                </a:solidFill>
                <a:round/>
                <a:headEnd/>
                <a:tailEnd/>
              </a:ln>
              <a:effectLst/>
            </p:spPr>
            <p:txBody>
              <a:bodyPr/>
              <a:lstStyle/>
              <a:p>
                <a:endParaRPr lang="zh-CN" altLang="en-US"/>
              </a:p>
            </p:txBody>
          </p:sp>
          <p:sp>
            <p:nvSpPr>
              <p:cNvPr id="363707" name="Line 187"/>
              <p:cNvSpPr>
                <a:spLocks noChangeShapeType="1"/>
              </p:cNvSpPr>
              <p:nvPr/>
            </p:nvSpPr>
            <p:spPr bwMode="auto">
              <a:xfrm>
                <a:off x="1429" y="3937"/>
                <a:ext cx="1134" cy="0"/>
              </a:xfrm>
              <a:prstGeom prst="line">
                <a:avLst/>
              </a:prstGeom>
              <a:noFill/>
              <a:ln w="12700" cap="sq">
                <a:solidFill>
                  <a:schemeClr val="tx1"/>
                </a:solidFill>
                <a:round/>
                <a:headEnd/>
                <a:tailEnd/>
              </a:ln>
              <a:effectLst/>
            </p:spPr>
            <p:txBody>
              <a:bodyPr/>
              <a:lstStyle/>
              <a:p>
                <a:endParaRPr lang="zh-CN" altLang="en-US"/>
              </a:p>
            </p:txBody>
          </p:sp>
          <p:sp>
            <p:nvSpPr>
              <p:cNvPr id="363708" name="Line 188"/>
              <p:cNvSpPr>
                <a:spLocks noChangeShapeType="1"/>
              </p:cNvSpPr>
              <p:nvPr/>
            </p:nvSpPr>
            <p:spPr bwMode="auto">
              <a:xfrm>
                <a:off x="1429" y="3627"/>
                <a:ext cx="0" cy="310"/>
              </a:xfrm>
              <a:prstGeom prst="line">
                <a:avLst/>
              </a:prstGeom>
              <a:noFill/>
              <a:ln w="12700" cap="sq">
                <a:solidFill>
                  <a:schemeClr val="tx1"/>
                </a:solidFill>
                <a:round/>
                <a:headEnd/>
                <a:tailEnd/>
              </a:ln>
              <a:effectLst/>
            </p:spPr>
            <p:txBody>
              <a:bodyPr/>
              <a:lstStyle/>
              <a:p>
                <a:endParaRPr lang="zh-CN" altLang="en-US"/>
              </a:p>
            </p:txBody>
          </p:sp>
          <p:sp>
            <p:nvSpPr>
              <p:cNvPr id="363709" name="Line 189"/>
              <p:cNvSpPr>
                <a:spLocks noChangeShapeType="1"/>
              </p:cNvSpPr>
              <p:nvPr/>
            </p:nvSpPr>
            <p:spPr bwMode="auto">
              <a:xfrm>
                <a:off x="2563" y="3627"/>
                <a:ext cx="0" cy="310"/>
              </a:xfrm>
              <a:prstGeom prst="line">
                <a:avLst/>
              </a:prstGeom>
              <a:noFill/>
              <a:ln w="12700" cap="sq">
                <a:solidFill>
                  <a:schemeClr val="tx1"/>
                </a:solidFill>
                <a:round/>
                <a:headEnd/>
                <a:tailEnd/>
              </a:ln>
              <a:effectLst/>
            </p:spPr>
            <p:txBody>
              <a:bodyPr/>
              <a:lstStyle/>
              <a:p>
                <a:endParaRPr lang="zh-CN" altLang="en-US"/>
              </a:p>
            </p:txBody>
          </p:sp>
        </p:grpSp>
        <p:grpSp>
          <p:nvGrpSpPr>
            <p:cNvPr id="363710" name="Group 190"/>
            <p:cNvGrpSpPr>
              <a:grpSpLocks/>
            </p:cNvGrpSpPr>
            <p:nvPr/>
          </p:nvGrpSpPr>
          <p:grpSpPr bwMode="auto">
            <a:xfrm>
              <a:off x="2200" y="1707"/>
              <a:ext cx="1225" cy="907"/>
              <a:chOff x="1383" y="2629"/>
              <a:chExt cx="1225" cy="907"/>
            </a:xfrm>
          </p:grpSpPr>
          <p:sp>
            <p:nvSpPr>
              <p:cNvPr id="363711" name="Rectangle 191"/>
              <p:cNvSpPr>
                <a:spLocks noChangeArrowheads="1"/>
              </p:cNvSpPr>
              <p:nvPr/>
            </p:nvSpPr>
            <p:spPr bwMode="auto">
              <a:xfrm>
                <a:off x="1383" y="2629"/>
                <a:ext cx="1225" cy="907"/>
              </a:xfrm>
              <a:prstGeom prst="rect">
                <a:avLst/>
              </a:prstGeom>
              <a:solidFill>
                <a:srgbClr val="CCFFCC"/>
              </a:solidFill>
              <a:ln w="9525" algn="ctr">
                <a:solidFill>
                  <a:schemeClr val="tx1"/>
                </a:solidFill>
                <a:miter lim="800000"/>
                <a:headEnd/>
                <a:tailEnd/>
              </a:ln>
              <a:effectLst/>
            </p:spPr>
            <p:txBody>
              <a:bodyPr wrap="none" anchor="ctr"/>
              <a:lstStyle/>
              <a:p>
                <a:endParaRPr lang="zh-CN" altLang="en-US"/>
              </a:p>
            </p:txBody>
          </p:sp>
          <p:sp>
            <p:nvSpPr>
              <p:cNvPr id="363712" name="Rectangle 192"/>
              <p:cNvSpPr>
                <a:spLocks noChangeArrowheads="1"/>
              </p:cNvSpPr>
              <p:nvPr/>
            </p:nvSpPr>
            <p:spPr bwMode="auto">
              <a:xfrm>
                <a:off x="1429" y="2984"/>
                <a:ext cx="698" cy="153"/>
              </a:xfrm>
              <a:prstGeom prst="rect">
                <a:avLst/>
              </a:prstGeom>
              <a:noFill/>
              <a:ln w="9525" algn="ctr">
                <a:noFill/>
                <a:miter lim="800000"/>
                <a:headEnd/>
                <a:tailEnd/>
              </a:ln>
              <a:effectLst/>
            </p:spPr>
            <p:txBody>
              <a:bodyPr/>
              <a:lstStyle/>
              <a:p>
                <a:pPr algn="l">
                  <a:spcBef>
                    <a:spcPct val="20000"/>
                  </a:spcBef>
                </a:pPr>
                <a:r>
                  <a:rPr lang="zh-CN" altLang="en-US">
                    <a:latin typeface="Arial" charset="0"/>
                  </a:rPr>
                  <a:t>向量</a:t>
                </a:r>
                <a:r>
                  <a:rPr lang="en-US" altLang="zh-CN">
                    <a:latin typeface="Arial" charset="0"/>
                  </a:rPr>
                  <a:t>IRQ15</a:t>
                </a:r>
                <a:r>
                  <a:rPr lang="zh-CN" altLang="en-US">
                    <a:latin typeface="Arial" charset="0"/>
                  </a:rPr>
                  <a:t>使能</a:t>
                </a:r>
              </a:p>
            </p:txBody>
          </p:sp>
          <p:sp>
            <p:nvSpPr>
              <p:cNvPr id="363713" name="Rectangle 193"/>
              <p:cNvSpPr>
                <a:spLocks noChangeArrowheads="1"/>
              </p:cNvSpPr>
              <p:nvPr/>
            </p:nvSpPr>
            <p:spPr bwMode="auto">
              <a:xfrm>
                <a:off x="2127" y="2984"/>
                <a:ext cx="435" cy="153"/>
              </a:xfrm>
              <a:prstGeom prst="rect">
                <a:avLst/>
              </a:prstGeom>
              <a:noFill/>
              <a:ln w="9525" algn="ctr">
                <a:noFill/>
                <a:miter lim="800000"/>
                <a:headEnd/>
                <a:tailEnd/>
              </a:ln>
              <a:effectLst/>
            </p:spPr>
            <p:txBody>
              <a:bodyPr/>
              <a:lstStyle/>
              <a:p>
                <a:pPr algn="l">
                  <a:spcBef>
                    <a:spcPct val="20000"/>
                  </a:spcBef>
                </a:pPr>
                <a:r>
                  <a:rPr lang="zh-CN" altLang="en-US">
                    <a:latin typeface="Arial" charset="0"/>
                  </a:rPr>
                  <a:t>中断源</a:t>
                </a:r>
              </a:p>
            </p:txBody>
          </p:sp>
          <p:sp>
            <p:nvSpPr>
              <p:cNvPr id="363714" name="Rectangle 194"/>
              <p:cNvSpPr>
                <a:spLocks noChangeArrowheads="1"/>
              </p:cNvSpPr>
              <p:nvPr/>
            </p:nvSpPr>
            <p:spPr bwMode="auto">
              <a:xfrm>
                <a:off x="1429" y="2674"/>
                <a:ext cx="1133" cy="310"/>
              </a:xfrm>
              <a:prstGeom prst="rect">
                <a:avLst/>
              </a:prstGeom>
              <a:solidFill>
                <a:srgbClr val="CCFFFF"/>
              </a:solidFill>
              <a:ln w="9525" algn="ctr">
                <a:noFill/>
                <a:miter lim="800000"/>
                <a:headEnd/>
                <a:tailEnd/>
              </a:ln>
              <a:effectLst/>
            </p:spPr>
            <p:txBody>
              <a:bodyPr/>
              <a:lstStyle/>
              <a:p>
                <a:pPr>
                  <a:spcBef>
                    <a:spcPct val="20000"/>
                  </a:spcBef>
                </a:pPr>
                <a:r>
                  <a:rPr lang="zh-CN" altLang="en-US" sz="1200">
                    <a:latin typeface="Arial" charset="0"/>
                  </a:rPr>
                  <a:t>向量</a:t>
                </a:r>
                <a:r>
                  <a:rPr lang="en-US" altLang="zh-CN" sz="1200">
                    <a:latin typeface="Arial" charset="0"/>
                  </a:rPr>
                  <a:t>IRQ15</a:t>
                </a:r>
                <a:r>
                  <a:rPr lang="zh-CN" altLang="en-US" sz="1200">
                    <a:latin typeface="Arial" charset="0"/>
                  </a:rPr>
                  <a:t>控制寄存器</a:t>
                </a:r>
              </a:p>
              <a:p>
                <a:pPr>
                  <a:spcBef>
                    <a:spcPct val="20000"/>
                  </a:spcBef>
                </a:pPr>
                <a:r>
                  <a:rPr lang="en-US" altLang="zh-CN" sz="1200">
                    <a:latin typeface="Arial" charset="0"/>
                  </a:rPr>
                  <a:t>VICVectCntl15</a:t>
                </a:r>
              </a:p>
            </p:txBody>
          </p:sp>
          <p:sp>
            <p:nvSpPr>
              <p:cNvPr id="363715" name="Line 195"/>
              <p:cNvSpPr>
                <a:spLocks noChangeShapeType="1"/>
              </p:cNvSpPr>
              <p:nvPr/>
            </p:nvSpPr>
            <p:spPr bwMode="auto">
              <a:xfrm>
                <a:off x="1429" y="2674"/>
                <a:ext cx="1133" cy="0"/>
              </a:xfrm>
              <a:prstGeom prst="line">
                <a:avLst/>
              </a:prstGeom>
              <a:noFill/>
              <a:ln w="12700" cap="sq">
                <a:solidFill>
                  <a:schemeClr val="tx1"/>
                </a:solidFill>
                <a:round/>
                <a:headEnd/>
                <a:tailEnd/>
              </a:ln>
              <a:effectLst/>
            </p:spPr>
            <p:txBody>
              <a:bodyPr/>
              <a:lstStyle/>
              <a:p>
                <a:endParaRPr lang="zh-CN" altLang="en-US"/>
              </a:p>
            </p:txBody>
          </p:sp>
          <p:sp>
            <p:nvSpPr>
              <p:cNvPr id="363716" name="Line 196"/>
              <p:cNvSpPr>
                <a:spLocks noChangeShapeType="1"/>
              </p:cNvSpPr>
              <p:nvPr/>
            </p:nvSpPr>
            <p:spPr bwMode="auto">
              <a:xfrm>
                <a:off x="1429" y="3137"/>
                <a:ext cx="1133" cy="0"/>
              </a:xfrm>
              <a:prstGeom prst="line">
                <a:avLst/>
              </a:prstGeom>
              <a:noFill/>
              <a:ln w="12700" cap="sq">
                <a:solidFill>
                  <a:schemeClr val="tx1"/>
                </a:solidFill>
                <a:round/>
                <a:headEnd/>
                <a:tailEnd/>
              </a:ln>
              <a:effectLst/>
            </p:spPr>
            <p:txBody>
              <a:bodyPr/>
              <a:lstStyle/>
              <a:p>
                <a:endParaRPr lang="zh-CN" altLang="en-US"/>
              </a:p>
            </p:txBody>
          </p:sp>
          <p:sp>
            <p:nvSpPr>
              <p:cNvPr id="363717" name="Line 197"/>
              <p:cNvSpPr>
                <a:spLocks noChangeShapeType="1"/>
              </p:cNvSpPr>
              <p:nvPr/>
            </p:nvSpPr>
            <p:spPr bwMode="auto">
              <a:xfrm>
                <a:off x="1429" y="2674"/>
                <a:ext cx="0" cy="463"/>
              </a:xfrm>
              <a:prstGeom prst="line">
                <a:avLst/>
              </a:prstGeom>
              <a:noFill/>
              <a:ln w="12700" cap="sq">
                <a:solidFill>
                  <a:schemeClr val="tx1"/>
                </a:solidFill>
                <a:round/>
                <a:headEnd/>
                <a:tailEnd/>
              </a:ln>
              <a:effectLst/>
            </p:spPr>
            <p:txBody>
              <a:bodyPr/>
              <a:lstStyle/>
              <a:p>
                <a:endParaRPr lang="zh-CN" altLang="en-US"/>
              </a:p>
            </p:txBody>
          </p:sp>
          <p:sp>
            <p:nvSpPr>
              <p:cNvPr id="363718" name="Line 198"/>
              <p:cNvSpPr>
                <a:spLocks noChangeShapeType="1"/>
              </p:cNvSpPr>
              <p:nvPr/>
            </p:nvSpPr>
            <p:spPr bwMode="auto">
              <a:xfrm>
                <a:off x="2562" y="2674"/>
                <a:ext cx="0" cy="463"/>
              </a:xfrm>
              <a:prstGeom prst="line">
                <a:avLst/>
              </a:prstGeom>
              <a:noFill/>
              <a:ln w="12700" cap="sq">
                <a:solidFill>
                  <a:schemeClr val="tx1"/>
                </a:solidFill>
                <a:round/>
                <a:headEnd/>
                <a:tailEnd/>
              </a:ln>
              <a:effectLst/>
            </p:spPr>
            <p:txBody>
              <a:bodyPr/>
              <a:lstStyle/>
              <a:p>
                <a:endParaRPr lang="zh-CN" altLang="en-US"/>
              </a:p>
            </p:txBody>
          </p:sp>
          <p:sp>
            <p:nvSpPr>
              <p:cNvPr id="363719" name="Line 199"/>
              <p:cNvSpPr>
                <a:spLocks noChangeShapeType="1"/>
              </p:cNvSpPr>
              <p:nvPr/>
            </p:nvSpPr>
            <p:spPr bwMode="auto">
              <a:xfrm>
                <a:off x="1429" y="2984"/>
                <a:ext cx="1133" cy="0"/>
              </a:xfrm>
              <a:prstGeom prst="line">
                <a:avLst/>
              </a:prstGeom>
              <a:noFill/>
              <a:ln w="12700">
                <a:solidFill>
                  <a:schemeClr val="tx1"/>
                </a:solidFill>
                <a:round/>
                <a:headEnd/>
                <a:tailEnd/>
              </a:ln>
              <a:effectLst/>
            </p:spPr>
            <p:txBody>
              <a:bodyPr/>
              <a:lstStyle/>
              <a:p>
                <a:endParaRPr lang="zh-CN" altLang="en-US"/>
              </a:p>
            </p:txBody>
          </p:sp>
          <p:sp>
            <p:nvSpPr>
              <p:cNvPr id="363720" name="Line 200"/>
              <p:cNvSpPr>
                <a:spLocks noChangeShapeType="1"/>
              </p:cNvSpPr>
              <p:nvPr/>
            </p:nvSpPr>
            <p:spPr bwMode="auto">
              <a:xfrm>
                <a:off x="2127" y="2984"/>
                <a:ext cx="0" cy="153"/>
              </a:xfrm>
              <a:prstGeom prst="line">
                <a:avLst/>
              </a:prstGeom>
              <a:noFill/>
              <a:ln w="12700">
                <a:solidFill>
                  <a:schemeClr val="tx1"/>
                </a:solidFill>
                <a:round/>
                <a:headEnd/>
                <a:tailEnd/>
              </a:ln>
              <a:effectLst/>
            </p:spPr>
            <p:txBody>
              <a:bodyPr/>
              <a:lstStyle/>
              <a:p>
                <a:endParaRPr lang="zh-CN" altLang="en-US"/>
              </a:p>
            </p:txBody>
          </p:sp>
          <p:sp>
            <p:nvSpPr>
              <p:cNvPr id="363721" name="Rectangle 201"/>
              <p:cNvSpPr>
                <a:spLocks noChangeArrowheads="1"/>
              </p:cNvSpPr>
              <p:nvPr/>
            </p:nvSpPr>
            <p:spPr bwMode="auto">
              <a:xfrm>
                <a:off x="1429" y="3180"/>
                <a:ext cx="1133" cy="310"/>
              </a:xfrm>
              <a:prstGeom prst="rect">
                <a:avLst/>
              </a:prstGeom>
              <a:solidFill>
                <a:srgbClr val="CCFFFF"/>
              </a:solidFill>
              <a:ln w="9525" algn="ctr">
                <a:noFill/>
                <a:miter lim="800000"/>
                <a:headEnd/>
                <a:tailEnd/>
              </a:ln>
              <a:effectLst/>
            </p:spPr>
            <p:txBody>
              <a:bodyPr/>
              <a:lstStyle/>
              <a:p>
                <a:pPr>
                  <a:spcBef>
                    <a:spcPct val="20000"/>
                  </a:spcBef>
                </a:pPr>
                <a:r>
                  <a:rPr lang="zh-CN" altLang="en-US" sz="1200">
                    <a:latin typeface="Arial" charset="0"/>
                  </a:rPr>
                  <a:t>向量地址</a:t>
                </a:r>
                <a:r>
                  <a:rPr lang="en-US" altLang="zh-CN" sz="1200">
                    <a:latin typeface="Arial" charset="0"/>
                  </a:rPr>
                  <a:t>15</a:t>
                </a:r>
                <a:r>
                  <a:rPr lang="zh-CN" altLang="en-US" sz="1200">
                    <a:latin typeface="Arial" charset="0"/>
                  </a:rPr>
                  <a:t>寄存器</a:t>
                </a:r>
              </a:p>
              <a:p>
                <a:pPr>
                  <a:spcBef>
                    <a:spcPct val="20000"/>
                  </a:spcBef>
                </a:pPr>
                <a:r>
                  <a:rPr lang="en-US" altLang="zh-CN" sz="1200">
                    <a:latin typeface="Arial" charset="0"/>
                  </a:rPr>
                  <a:t>VICVectAddr15</a:t>
                </a:r>
              </a:p>
            </p:txBody>
          </p:sp>
          <p:sp>
            <p:nvSpPr>
              <p:cNvPr id="363722" name="Line 202"/>
              <p:cNvSpPr>
                <a:spLocks noChangeShapeType="1"/>
              </p:cNvSpPr>
              <p:nvPr/>
            </p:nvSpPr>
            <p:spPr bwMode="auto">
              <a:xfrm>
                <a:off x="1429" y="3180"/>
                <a:ext cx="1133" cy="0"/>
              </a:xfrm>
              <a:prstGeom prst="line">
                <a:avLst/>
              </a:prstGeom>
              <a:noFill/>
              <a:ln w="12700" cap="sq">
                <a:solidFill>
                  <a:schemeClr val="tx1"/>
                </a:solidFill>
                <a:round/>
                <a:headEnd/>
                <a:tailEnd/>
              </a:ln>
              <a:effectLst/>
            </p:spPr>
            <p:txBody>
              <a:bodyPr/>
              <a:lstStyle/>
              <a:p>
                <a:endParaRPr lang="zh-CN" altLang="en-US"/>
              </a:p>
            </p:txBody>
          </p:sp>
          <p:sp>
            <p:nvSpPr>
              <p:cNvPr id="363723" name="Line 203"/>
              <p:cNvSpPr>
                <a:spLocks noChangeShapeType="1"/>
              </p:cNvSpPr>
              <p:nvPr/>
            </p:nvSpPr>
            <p:spPr bwMode="auto">
              <a:xfrm>
                <a:off x="1429" y="3490"/>
                <a:ext cx="1133" cy="0"/>
              </a:xfrm>
              <a:prstGeom prst="line">
                <a:avLst/>
              </a:prstGeom>
              <a:noFill/>
              <a:ln w="12700" cap="sq">
                <a:solidFill>
                  <a:schemeClr val="tx1"/>
                </a:solidFill>
                <a:round/>
                <a:headEnd/>
                <a:tailEnd/>
              </a:ln>
              <a:effectLst/>
            </p:spPr>
            <p:txBody>
              <a:bodyPr/>
              <a:lstStyle/>
              <a:p>
                <a:endParaRPr lang="zh-CN" altLang="en-US"/>
              </a:p>
            </p:txBody>
          </p:sp>
          <p:sp>
            <p:nvSpPr>
              <p:cNvPr id="363724" name="Line 204"/>
              <p:cNvSpPr>
                <a:spLocks noChangeShapeType="1"/>
              </p:cNvSpPr>
              <p:nvPr/>
            </p:nvSpPr>
            <p:spPr bwMode="auto">
              <a:xfrm>
                <a:off x="1429" y="3180"/>
                <a:ext cx="0" cy="310"/>
              </a:xfrm>
              <a:prstGeom prst="line">
                <a:avLst/>
              </a:prstGeom>
              <a:noFill/>
              <a:ln w="12700" cap="sq">
                <a:solidFill>
                  <a:schemeClr val="tx1"/>
                </a:solidFill>
                <a:round/>
                <a:headEnd/>
                <a:tailEnd/>
              </a:ln>
              <a:effectLst/>
            </p:spPr>
            <p:txBody>
              <a:bodyPr/>
              <a:lstStyle/>
              <a:p>
                <a:endParaRPr lang="zh-CN" altLang="en-US"/>
              </a:p>
            </p:txBody>
          </p:sp>
          <p:sp>
            <p:nvSpPr>
              <p:cNvPr id="363725" name="Line 205"/>
              <p:cNvSpPr>
                <a:spLocks noChangeShapeType="1"/>
              </p:cNvSpPr>
              <p:nvPr/>
            </p:nvSpPr>
            <p:spPr bwMode="auto">
              <a:xfrm>
                <a:off x="2562" y="3180"/>
                <a:ext cx="0" cy="310"/>
              </a:xfrm>
              <a:prstGeom prst="line">
                <a:avLst/>
              </a:prstGeom>
              <a:noFill/>
              <a:ln w="12700" cap="sq">
                <a:solidFill>
                  <a:schemeClr val="tx1"/>
                </a:solidFill>
                <a:round/>
                <a:headEnd/>
                <a:tailEnd/>
              </a:ln>
              <a:effectLst/>
            </p:spPr>
            <p:txBody>
              <a:bodyPr/>
              <a:lstStyle/>
              <a:p>
                <a:endParaRPr lang="zh-CN" altLang="en-US"/>
              </a:p>
            </p:txBody>
          </p:sp>
        </p:grpSp>
        <p:sp>
          <p:nvSpPr>
            <p:cNvPr id="363726" name="Rectangle 206"/>
            <p:cNvSpPr>
              <a:spLocks noChangeArrowheads="1"/>
            </p:cNvSpPr>
            <p:nvPr/>
          </p:nvSpPr>
          <p:spPr bwMode="auto">
            <a:xfrm>
              <a:off x="3923" y="2296"/>
              <a:ext cx="725" cy="272"/>
            </a:xfrm>
            <a:prstGeom prst="rect">
              <a:avLst/>
            </a:prstGeom>
            <a:solidFill>
              <a:srgbClr val="CCFFFF"/>
            </a:solidFill>
            <a:ln w="9525">
              <a:solidFill>
                <a:schemeClr val="tx1"/>
              </a:solidFill>
              <a:miter lim="800000"/>
              <a:headEnd/>
              <a:tailEnd/>
            </a:ln>
            <a:effectLst/>
          </p:spPr>
          <p:txBody>
            <a:bodyPr wrap="none" anchor="ctr"/>
            <a:lstStyle/>
            <a:p>
              <a:r>
                <a:rPr lang="zh-CN" altLang="en-US" sz="1200">
                  <a:latin typeface="Arial" charset="0"/>
                </a:rPr>
                <a:t>向量地址寄存器</a:t>
              </a:r>
            </a:p>
            <a:p>
              <a:r>
                <a:rPr lang="en-US" altLang="zh-CN" sz="1200">
                  <a:latin typeface="Arial" charset="0"/>
                  <a:ea typeface="楷体_GB2312" pitchFamily="49" charset="-122"/>
                </a:rPr>
                <a:t>VICVectAddr</a:t>
              </a:r>
            </a:p>
          </p:txBody>
        </p:sp>
      </p:grpSp>
      <p:sp>
        <p:nvSpPr>
          <p:cNvPr id="363598" name="Rectangle 78"/>
          <p:cNvSpPr>
            <a:spLocks noChangeArrowheads="1"/>
          </p:cNvSpPr>
          <p:nvPr/>
        </p:nvSpPr>
        <p:spPr bwMode="auto">
          <a:xfrm>
            <a:off x="2209800" y="6207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寄存器描述－参数设置寄存器</a:t>
            </a:r>
          </a:p>
        </p:txBody>
      </p:sp>
      <p:sp>
        <p:nvSpPr>
          <p:cNvPr id="363641" name="Text Box 121"/>
          <p:cNvSpPr txBox="1">
            <a:spLocks noChangeArrowheads="1"/>
          </p:cNvSpPr>
          <p:nvPr/>
        </p:nvSpPr>
        <p:spPr bwMode="auto">
          <a:xfrm>
            <a:off x="1958976" y="5445126"/>
            <a:ext cx="2403475" cy="366713"/>
          </a:xfrm>
          <a:prstGeom prst="rect">
            <a:avLst/>
          </a:prstGeom>
          <a:noFill/>
          <a:ln w="9525" algn="ctr">
            <a:noFill/>
            <a:miter lim="800000"/>
            <a:headEnd/>
            <a:tailEnd/>
          </a:ln>
          <a:effectLst/>
        </p:spPr>
        <p:txBody>
          <a:bodyPr>
            <a:spAutoFit/>
          </a:bodyPr>
          <a:lstStyle/>
          <a:p>
            <a:endParaRPr lang="zh-CN" altLang="zh-CN">
              <a:latin typeface="Times New Roman" pitchFamily="18" charset="0"/>
              <a:ea typeface="楷体_GB2312" pitchFamily="49" charset="-122"/>
            </a:endParaRPr>
          </a:p>
        </p:txBody>
      </p:sp>
      <p:graphicFrame>
        <p:nvGraphicFramePr>
          <p:cNvPr id="363681" name="Group 161"/>
          <p:cNvGraphicFramePr>
            <a:graphicFrameLocks noGrp="1"/>
          </p:cNvGraphicFramePr>
          <p:nvPr/>
        </p:nvGraphicFramePr>
        <p:xfrm>
          <a:off x="2962275" y="3573463"/>
          <a:ext cx="6229350" cy="2548128"/>
        </p:xfrm>
        <a:graphic>
          <a:graphicData uri="http://schemas.openxmlformats.org/drawingml/2006/table">
            <a:tbl>
              <a:tblPr/>
              <a:tblGrid>
                <a:gridCol w="1809750">
                  <a:extLst>
                    <a:ext uri="{9D8B030D-6E8A-4147-A177-3AD203B41FA5}">
                      <a16:colId xmlns:a16="http://schemas.microsoft.com/office/drawing/2014/main" val="20000"/>
                    </a:ext>
                  </a:extLst>
                </a:gridCol>
                <a:gridCol w="2028825">
                  <a:extLst>
                    <a:ext uri="{9D8B030D-6E8A-4147-A177-3AD203B41FA5}">
                      <a16:colId xmlns:a16="http://schemas.microsoft.com/office/drawing/2014/main" val="20001"/>
                    </a:ext>
                  </a:extLst>
                </a:gridCol>
                <a:gridCol w="946150">
                  <a:extLst>
                    <a:ext uri="{9D8B030D-6E8A-4147-A177-3AD203B41FA5}">
                      <a16:colId xmlns:a16="http://schemas.microsoft.com/office/drawing/2014/main" val="20002"/>
                    </a:ext>
                  </a:extLst>
                </a:gridCol>
                <a:gridCol w="1444625">
                  <a:extLst>
                    <a:ext uri="{9D8B030D-6E8A-4147-A177-3AD203B41FA5}">
                      <a16:colId xmlns:a16="http://schemas.microsoft.com/office/drawing/2014/main" val="20003"/>
                    </a:ext>
                  </a:extLst>
                </a:gridCol>
              </a:tblGrid>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名称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描述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复位置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地址</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VICVectCntl0</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VICVectCntl15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向量控制</a:t>
                      </a:r>
                      <a:r>
                        <a:rPr kumimoji="1" lang="en-US" altLang="zh-CN" sz="1400" b="0" i="0" u="none" strike="noStrike" cap="none" normalizeH="0" baseline="0">
                          <a:ln>
                            <a:noFill/>
                          </a:ln>
                          <a:solidFill>
                            <a:schemeClr val="tx1"/>
                          </a:solidFill>
                          <a:effectLst/>
                          <a:latin typeface="宋体" pitchFamily="2" charset="-122"/>
                          <a:ea typeface="宋体" pitchFamily="2" charset="-122"/>
                        </a:rPr>
                        <a:t>0</a:t>
                      </a:r>
                      <a:r>
                        <a:rPr kumimoji="1" lang="zh-CN" altLang="en-US" sz="1400" b="0" i="0" u="none" strike="noStrike" cap="none" normalizeH="0" baseline="0">
                          <a:ln>
                            <a:noFill/>
                          </a:ln>
                          <a:solidFill>
                            <a:schemeClr val="tx1"/>
                          </a:solidFill>
                          <a:effectLst/>
                          <a:latin typeface="宋体" pitchFamily="2" charset="-122"/>
                          <a:ea typeface="宋体" pitchFamily="2" charset="-122"/>
                        </a:rPr>
                        <a:t>寄存器 </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向量控制</a:t>
                      </a:r>
                      <a:r>
                        <a:rPr kumimoji="1" lang="en-US" altLang="zh-CN" sz="1400" b="0" i="0" u="none" strike="noStrike" cap="none" normalizeH="0" baseline="0">
                          <a:ln>
                            <a:noFill/>
                          </a:ln>
                          <a:solidFill>
                            <a:schemeClr val="tx1"/>
                          </a:solidFill>
                          <a:effectLst/>
                          <a:latin typeface="宋体" pitchFamily="2" charset="-122"/>
                          <a:ea typeface="宋体" pitchFamily="2" charset="-122"/>
                        </a:rPr>
                        <a:t>15</a:t>
                      </a:r>
                      <a:r>
                        <a:rPr kumimoji="1" lang="zh-CN" altLang="en-US" sz="1400" b="0" i="0" u="none" strike="noStrike" cap="none" normalizeH="0" baseline="0">
                          <a:ln>
                            <a:noFill/>
                          </a:ln>
                          <a:solidFill>
                            <a:schemeClr val="tx1"/>
                          </a:solidFill>
                          <a:effectLst/>
                          <a:latin typeface="宋体" pitchFamily="2" charset="-122"/>
                          <a:ea typeface="宋体" pitchFamily="2" charset="-122"/>
                        </a:rPr>
                        <a:t>寄存器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0xFFFF F200</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0xFFFF F23C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VICVectAddr0 </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VICVectAddr15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向量地址</a:t>
                      </a:r>
                      <a:r>
                        <a:rPr kumimoji="1" lang="en-US" altLang="zh-CN" sz="1400" b="0" i="0" u="none" strike="noStrike" cap="none" normalizeH="0" baseline="0">
                          <a:ln>
                            <a:noFill/>
                          </a:ln>
                          <a:solidFill>
                            <a:schemeClr val="tx1"/>
                          </a:solidFill>
                          <a:effectLst/>
                          <a:latin typeface="宋体" pitchFamily="2" charset="-122"/>
                          <a:ea typeface="宋体" pitchFamily="2" charset="-122"/>
                        </a:rPr>
                        <a:t>0</a:t>
                      </a:r>
                      <a:r>
                        <a:rPr kumimoji="1" lang="zh-CN" altLang="en-US" sz="1400" b="0" i="0" u="none" strike="noStrike" cap="none" normalizeH="0" baseline="0">
                          <a:ln>
                            <a:noFill/>
                          </a:ln>
                          <a:solidFill>
                            <a:schemeClr val="tx1"/>
                          </a:solidFill>
                          <a:effectLst/>
                          <a:latin typeface="宋体" pitchFamily="2" charset="-122"/>
                          <a:ea typeface="宋体" pitchFamily="2" charset="-122"/>
                        </a:rPr>
                        <a:t>寄存器 </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向量地址</a:t>
                      </a:r>
                      <a:r>
                        <a:rPr kumimoji="1" lang="en-US" altLang="zh-CN" sz="1400" b="0" i="0" u="none" strike="noStrike" cap="none" normalizeH="0" baseline="0">
                          <a:ln>
                            <a:noFill/>
                          </a:ln>
                          <a:solidFill>
                            <a:schemeClr val="tx1"/>
                          </a:solidFill>
                          <a:effectLst/>
                          <a:latin typeface="宋体" pitchFamily="2" charset="-122"/>
                          <a:ea typeface="宋体" pitchFamily="2" charset="-122"/>
                        </a:rPr>
                        <a:t>15</a:t>
                      </a:r>
                      <a:r>
                        <a:rPr kumimoji="1" lang="zh-CN" altLang="en-US" sz="1400" b="0" i="0" u="none" strike="noStrike" cap="none" normalizeH="0" baseline="0">
                          <a:ln>
                            <a:noFill/>
                          </a:ln>
                          <a:solidFill>
                            <a:schemeClr val="tx1"/>
                          </a:solidFill>
                          <a:effectLst/>
                          <a:latin typeface="宋体" pitchFamily="2" charset="-122"/>
                          <a:ea typeface="宋体" pitchFamily="2" charset="-122"/>
                        </a:rPr>
                        <a:t>寄存器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0xFFFF F100 </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0xFFFF F13C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VICDefVectAddr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默认向量地址寄存器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0xFFFF F034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VICVectAddr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向量地址寄存器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0xFFFF F030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bl>
          </a:graphicData>
        </a:graphic>
      </p:graphicFrame>
      <p:sp>
        <p:nvSpPr>
          <p:cNvPr id="363675" name="Oval 155"/>
          <p:cNvSpPr>
            <a:spLocks noChangeArrowheads="1"/>
          </p:cNvSpPr>
          <p:nvPr/>
        </p:nvSpPr>
        <p:spPr bwMode="auto">
          <a:xfrm>
            <a:off x="2782889" y="2492375"/>
            <a:ext cx="1944687" cy="609600"/>
          </a:xfrm>
          <a:prstGeom prst="ellipse">
            <a:avLst/>
          </a:prstGeom>
          <a:noFill/>
          <a:ln w="19050" algn="ctr">
            <a:solidFill>
              <a:srgbClr val="FF0000"/>
            </a:solidFill>
            <a:round/>
            <a:headEnd/>
            <a:tailEnd/>
          </a:ln>
          <a:effectLst/>
        </p:spPr>
        <p:txBody>
          <a:bodyPr wrap="none" anchor="ctr"/>
          <a:lstStyle/>
          <a:p>
            <a:endParaRPr lang="zh-CN" altLang="en-US"/>
          </a:p>
        </p:txBody>
      </p:sp>
      <p:sp>
        <p:nvSpPr>
          <p:cNvPr id="363676" name="Oval 156"/>
          <p:cNvSpPr>
            <a:spLocks noChangeArrowheads="1"/>
          </p:cNvSpPr>
          <p:nvPr/>
        </p:nvSpPr>
        <p:spPr bwMode="auto">
          <a:xfrm>
            <a:off x="5087939" y="2514600"/>
            <a:ext cx="1944687" cy="609600"/>
          </a:xfrm>
          <a:prstGeom prst="ellipse">
            <a:avLst/>
          </a:prstGeom>
          <a:noFill/>
          <a:ln w="19050" algn="ctr">
            <a:solidFill>
              <a:srgbClr val="FF0000"/>
            </a:solidFill>
            <a:round/>
            <a:headEnd/>
            <a:tailEnd/>
          </a:ln>
          <a:effectLst/>
        </p:spPr>
        <p:txBody>
          <a:bodyPr wrap="none" anchor="ctr"/>
          <a:lstStyle/>
          <a:p>
            <a:endParaRPr lang="zh-CN" altLang="en-US"/>
          </a:p>
        </p:txBody>
      </p:sp>
      <p:sp>
        <p:nvSpPr>
          <p:cNvPr id="363677" name="Oval 157"/>
          <p:cNvSpPr>
            <a:spLocks noChangeArrowheads="1"/>
          </p:cNvSpPr>
          <p:nvPr/>
        </p:nvSpPr>
        <p:spPr bwMode="auto">
          <a:xfrm>
            <a:off x="7319963" y="1662113"/>
            <a:ext cx="2089150" cy="609600"/>
          </a:xfrm>
          <a:prstGeom prst="ellipse">
            <a:avLst/>
          </a:prstGeom>
          <a:noFill/>
          <a:ln w="19050" algn="ctr">
            <a:solidFill>
              <a:srgbClr val="FF0000"/>
            </a:solidFill>
            <a:round/>
            <a:headEnd/>
            <a:tailEnd/>
          </a:ln>
          <a:effectLst/>
        </p:spPr>
        <p:txBody>
          <a:bodyPr wrap="none" anchor="ctr"/>
          <a:lstStyle/>
          <a:p>
            <a:endParaRPr lang="zh-CN" altLang="en-US"/>
          </a:p>
        </p:txBody>
      </p:sp>
      <p:sp>
        <p:nvSpPr>
          <p:cNvPr id="363678" name="Oval 158"/>
          <p:cNvSpPr>
            <a:spLocks noChangeArrowheads="1"/>
          </p:cNvSpPr>
          <p:nvPr/>
        </p:nvSpPr>
        <p:spPr bwMode="auto">
          <a:xfrm>
            <a:off x="7319963" y="2525713"/>
            <a:ext cx="2114550" cy="609600"/>
          </a:xfrm>
          <a:prstGeom prst="ellipse">
            <a:avLst/>
          </a:prstGeom>
          <a:noFill/>
          <a:ln w="19050" algn="ctr">
            <a:solidFill>
              <a:srgbClr val="FF0000"/>
            </a:solidFill>
            <a:round/>
            <a:headEnd/>
            <a:tailEnd/>
          </a:ln>
          <a:effectLst/>
        </p:spPr>
        <p:txBody>
          <a:bodyPr wrap="none" anchor="ctr"/>
          <a:lstStyle/>
          <a:p>
            <a:endParaRPr lang="zh-CN" altLang="en-US"/>
          </a:p>
        </p:txBody>
      </p:sp>
      <p:sp>
        <p:nvSpPr>
          <p:cNvPr id="363727" name="Oval 207"/>
          <p:cNvSpPr>
            <a:spLocks noChangeArrowheads="1"/>
          </p:cNvSpPr>
          <p:nvPr/>
        </p:nvSpPr>
        <p:spPr bwMode="auto">
          <a:xfrm>
            <a:off x="2782889" y="1662113"/>
            <a:ext cx="1944687" cy="609600"/>
          </a:xfrm>
          <a:prstGeom prst="ellipse">
            <a:avLst/>
          </a:prstGeom>
          <a:noFill/>
          <a:ln w="19050" algn="ctr">
            <a:solidFill>
              <a:srgbClr val="FF0000"/>
            </a:solidFill>
            <a:round/>
            <a:headEnd/>
            <a:tailEnd/>
          </a:ln>
          <a:effectLst/>
        </p:spPr>
        <p:txBody>
          <a:bodyPr wrap="none" anchor="ctr"/>
          <a:lstStyle/>
          <a:p>
            <a:endParaRPr lang="zh-CN" altLang="en-US"/>
          </a:p>
        </p:txBody>
      </p:sp>
      <p:sp>
        <p:nvSpPr>
          <p:cNvPr id="363728" name="Oval 208"/>
          <p:cNvSpPr>
            <a:spLocks noChangeArrowheads="1"/>
          </p:cNvSpPr>
          <p:nvPr/>
        </p:nvSpPr>
        <p:spPr bwMode="auto">
          <a:xfrm>
            <a:off x="5087939" y="1628775"/>
            <a:ext cx="1944687" cy="609600"/>
          </a:xfrm>
          <a:prstGeom prst="ellipse">
            <a:avLst/>
          </a:prstGeom>
          <a:noFill/>
          <a:ln w="19050" algn="ctr">
            <a:solidFill>
              <a:srgbClr val="FF0000"/>
            </a:solidFill>
            <a:round/>
            <a:headEnd/>
            <a:tailEnd/>
          </a:ln>
          <a:effec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63598">
                                            <p:txEl>
                                              <p:pRg st="0" end="0"/>
                                            </p:txEl>
                                          </p:spTgt>
                                        </p:tgtEl>
                                        <p:attrNameLst>
                                          <p:attrName>style.visibility</p:attrName>
                                        </p:attrNameLst>
                                      </p:cBhvr>
                                      <p:to>
                                        <p:strVal val="visible"/>
                                      </p:to>
                                    </p:set>
                                    <p:anim calcmode="lin" valueType="num">
                                      <p:cBhvr additive="base">
                                        <p:cTn id="7" dur="500" fill="hold"/>
                                        <p:tgtEl>
                                          <p:spTgt spid="36359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63598">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363685"/>
                                        </p:tgtEl>
                                        <p:attrNameLst>
                                          <p:attrName>style.visibility</p:attrName>
                                        </p:attrNameLst>
                                      </p:cBhvr>
                                      <p:to>
                                        <p:strVal val="visible"/>
                                      </p:to>
                                    </p:set>
                                    <p:animEffect transition="in" filter="wipe(left)">
                                      <p:cBhvr>
                                        <p:cTn id="12" dur="500"/>
                                        <p:tgtEl>
                                          <p:spTgt spid="363685"/>
                                        </p:tgtEl>
                                      </p:cBhvr>
                                    </p:animEffect>
                                  </p:childTnLst>
                                </p:cTn>
                              </p:par>
                            </p:childTnLst>
                          </p:cTn>
                        </p:par>
                        <p:par>
                          <p:cTn id="13" fill="hold">
                            <p:stCondLst>
                              <p:cond delay="1000"/>
                            </p:stCondLst>
                            <p:childTnLst>
                              <p:par>
                                <p:cTn id="14" presetID="12" presetClass="entr" presetSubtype="1" fill="hold" nodeType="afterEffect">
                                  <p:stCondLst>
                                    <p:cond delay="0"/>
                                  </p:stCondLst>
                                  <p:childTnLst>
                                    <p:set>
                                      <p:cBhvr>
                                        <p:cTn id="15" dur="1" fill="hold">
                                          <p:stCondLst>
                                            <p:cond delay="0"/>
                                          </p:stCondLst>
                                        </p:cTn>
                                        <p:tgtEl>
                                          <p:spTgt spid="363681"/>
                                        </p:tgtEl>
                                        <p:attrNameLst>
                                          <p:attrName>style.visibility</p:attrName>
                                        </p:attrNameLst>
                                      </p:cBhvr>
                                      <p:to>
                                        <p:strVal val="visible"/>
                                      </p:to>
                                    </p:set>
                                    <p:animEffect transition="in" filter="slide(fromTop)">
                                      <p:cBhvr>
                                        <p:cTn id="16" dur="500"/>
                                        <p:tgtEl>
                                          <p:spTgt spid="363681"/>
                                        </p:tgtEl>
                                      </p:cBhvr>
                                    </p:animEffect>
                                  </p:childTnLst>
                                </p:cTn>
                              </p:par>
                            </p:childTnLst>
                          </p:cTn>
                        </p:par>
                        <p:par>
                          <p:cTn id="17" fill="hold">
                            <p:stCondLst>
                              <p:cond delay="1500"/>
                            </p:stCondLst>
                            <p:childTnLst>
                              <p:par>
                                <p:cTn id="18" presetID="13" presetClass="entr" presetSubtype="16" fill="hold" grpId="0" nodeType="afterEffect">
                                  <p:stCondLst>
                                    <p:cond delay="0"/>
                                  </p:stCondLst>
                                  <p:childTnLst>
                                    <p:set>
                                      <p:cBhvr>
                                        <p:cTn id="19" dur="1" fill="hold">
                                          <p:stCondLst>
                                            <p:cond delay="0"/>
                                          </p:stCondLst>
                                        </p:cTn>
                                        <p:tgtEl>
                                          <p:spTgt spid="363675"/>
                                        </p:tgtEl>
                                        <p:attrNameLst>
                                          <p:attrName>style.visibility</p:attrName>
                                        </p:attrNameLst>
                                      </p:cBhvr>
                                      <p:to>
                                        <p:strVal val="visible"/>
                                      </p:to>
                                    </p:set>
                                    <p:animEffect transition="in" filter="plus(in)">
                                      <p:cBhvr>
                                        <p:cTn id="20" dur="500"/>
                                        <p:tgtEl>
                                          <p:spTgt spid="363675"/>
                                        </p:tgtEl>
                                      </p:cBhvr>
                                    </p:animEffect>
                                  </p:childTnLst>
                                </p:cTn>
                              </p:par>
                              <p:par>
                                <p:cTn id="21" presetID="13" presetClass="entr" presetSubtype="16" fill="hold" grpId="0" nodeType="withEffect">
                                  <p:stCondLst>
                                    <p:cond delay="0"/>
                                  </p:stCondLst>
                                  <p:childTnLst>
                                    <p:set>
                                      <p:cBhvr>
                                        <p:cTn id="22" dur="1" fill="hold">
                                          <p:stCondLst>
                                            <p:cond delay="0"/>
                                          </p:stCondLst>
                                        </p:cTn>
                                        <p:tgtEl>
                                          <p:spTgt spid="363676"/>
                                        </p:tgtEl>
                                        <p:attrNameLst>
                                          <p:attrName>style.visibility</p:attrName>
                                        </p:attrNameLst>
                                      </p:cBhvr>
                                      <p:to>
                                        <p:strVal val="visible"/>
                                      </p:to>
                                    </p:set>
                                    <p:animEffect transition="in" filter="plus(in)">
                                      <p:cBhvr>
                                        <p:cTn id="23" dur="500"/>
                                        <p:tgtEl>
                                          <p:spTgt spid="363676"/>
                                        </p:tgtEl>
                                      </p:cBhvr>
                                    </p:animEffect>
                                  </p:childTnLst>
                                </p:cTn>
                              </p:par>
                              <p:par>
                                <p:cTn id="24" presetID="13" presetClass="entr" presetSubtype="16" fill="hold" grpId="0" nodeType="withEffect">
                                  <p:stCondLst>
                                    <p:cond delay="0"/>
                                  </p:stCondLst>
                                  <p:childTnLst>
                                    <p:set>
                                      <p:cBhvr>
                                        <p:cTn id="25" dur="1" fill="hold">
                                          <p:stCondLst>
                                            <p:cond delay="0"/>
                                          </p:stCondLst>
                                        </p:cTn>
                                        <p:tgtEl>
                                          <p:spTgt spid="363677"/>
                                        </p:tgtEl>
                                        <p:attrNameLst>
                                          <p:attrName>style.visibility</p:attrName>
                                        </p:attrNameLst>
                                      </p:cBhvr>
                                      <p:to>
                                        <p:strVal val="visible"/>
                                      </p:to>
                                    </p:set>
                                    <p:animEffect transition="in" filter="plus(in)">
                                      <p:cBhvr>
                                        <p:cTn id="26" dur="500"/>
                                        <p:tgtEl>
                                          <p:spTgt spid="363677"/>
                                        </p:tgtEl>
                                      </p:cBhvr>
                                    </p:animEffect>
                                  </p:childTnLst>
                                </p:cTn>
                              </p:par>
                              <p:par>
                                <p:cTn id="27" presetID="13" presetClass="entr" presetSubtype="16" fill="hold" grpId="0" nodeType="withEffect">
                                  <p:stCondLst>
                                    <p:cond delay="0"/>
                                  </p:stCondLst>
                                  <p:childTnLst>
                                    <p:set>
                                      <p:cBhvr>
                                        <p:cTn id="28" dur="1" fill="hold">
                                          <p:stCondLst>
                                            <p:cond delay="0"/>
                                          </p:stCondLst>
                                        </p:cTn>
                                        <p:tgtEl>
                                          <p:spTgt spid="363678"/>
                                        </p:tgtEl>
                                        <p:attrNameLst>
                                          <p:attrName>style.visibility</p:attrName>
                                        </p:attrNameLst>
                                      </p:cBhvr>
                                      <p:to>
                                        <p:strVal val="visible"/>
                                      </p:to>
                                    </p:set>
                                    <p:animEffect transition="in" filter="plus(in)">
                                      <p:cBhvr>
                                        <p:cTn id="29" dur="500"/>
                                        <p:tgtEl>
                                          <p:spTgt spid="363678"/>
                                        </p:tgtEl>
                                      </p:cBhvr>
                                    </p:animEffect>
                                  </p:childTnLst>
                                </p:cTn>
                              </p:par>
                              <p:par>
                                <p:cTn id="30" presetID="13" presetClass="entr" presetSubtype="16" fill="hold" grpId="0" nodeType="withEffect">
                                  <p:stCondLst>
                                    <p:cond delay="0"/>
                                  </p:stCondLst>
                                  <p:childTnLst>
                                    <p:set>
                                      <p:cBhvr>
                                        <p:cTn id="31" dur="1" fill="hold">
                                          <p:stCondLst>
                                            <p:cond delay="0"/>
                                          </p:stCondLst>
                                        </p:cTn>
                                        <p:tgtEl>
                                          <p:spTgt spid="363727"/>
                                        </p:tgtEl>
                                        <p:attrNameLst>
                                          <p:attrName>style.visibility</p:attrName>
                                        </p:attrNameLst>
                                      </p:cBhvr>
                                      <p:to>
                                        <p:strVal val="visible"/>
                                      </p:to>
                                    </p:set>
                                    <p:animEffect transition="in" filter="plus(in)">
                                      <p:cBhvr>
                                        <p:cTn id="32" dur="500"/>
                                        <p:tgtEl>
                                          <p:spTgt spid="363727"/>
                                        </p:tgtEl>
                                      </p:cBhvr>
                                    </p:animEffect>
                                  </p:childTnLst>
                                </p:cTn>
                              </p:par>
                              <p:par>
                                <p:cTn id="33" presetID="13" presetClass="entr" presetSubtype="16" fill="hold" grpId="0" nodeType="withEffect">
                                  <p:stCondLst>
                                    <p:cond delay="0"/>
                                  </p:stCondLst>
                                  <p:childTnLst>
                                    <p:set>
                                      <p:cBhvr>
                                        <p:cTn id="34" dur="1" fill="hold">
                                          <p:stCondLst>
                                            <p:cond delay="0"/>
                                          </p:stCondLst>
                                        </p:cTn>
                                        <p:tgtEl>
                                          <p:spTgt spid="363728"/>
                                        </p:tgtEl>
                                        <p:attrNameLst>
                                          <p:attrName>style.visibility</p:attrName>
                                        </p:attrNameLst>
                                      </p:cBhvr>
                                      <p:to>
                                        <p:strVal val="visible"/>
                                      </p:to>
                                    </p:set>
                                    <p:animEffect transition="in" filter="plus(in)">
                                      <p:cBhvr>
                                        <p:cTn id="35" dur="500"/>
                                        <p:tgtEl>
                                          <p:spTgt spid="3637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98" grpId="0" build="p"/>
      <p:bldP spid="363675" grpId="0" animBg="1"/>
      <p:bldP spid="363676" grpId="0" animBg="1"/>
      <p:bldP spid="363677" grpId="0" animBg="1"/>
      <p:bldP spid="363678" grpId="0" animBg="1"/>
      <p:bldP spid="363727" grpId="0" animBg="1"/>
      <p:bldP spid="36372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p:cNvSpPr>
            <a:spLocks noChangeArrowheads="1"/>
          </p:cNvSpPr>
          <p:nvPr/>
        </p:nvSpPr>
        <p:spPr bwMode="auto">
          <a:xfrm>
            <a:off x="2208213" y="19161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IRQ</a:t>
            </a:r>
            <a:r>
              <a:rPr lang="zh-CN" altLang="en-US" sz="3200">
                <a:latin typeface="Times New Roman" pitchFamily="18" charset="0"/>
              </a:rPr>
              <a:t>中断特点</a:t>
            </a:r>
          </a:p>
        </p:txBody>
      </p:sp>
      <p:sp>
        <p:nvSpPr>
          <p:cNvPr id="366595" name="Rectangle 3"/>
          <p:cNvSpPr>
            <a:spLocks noGrp="1" noChangeArrowheads="1"/>
          </p:cNvSpPr>
          <p:nvPr>
            <p:ph type="title"/>
          </p:nvPr>
        </p:nvSpPr>
        <p:spPr>
          <a:noFill/>
          <a:ln/>
        </p:spPr>
        <p:txBody>
          <a:bodyPr/>
          <a:lstStyle/>
          <a:p>
            <a:r>
              <a:rPr lang="en-US" altLang="zh-CN" dirty="0"/>
              <a:t>5.3.4  </a:t>
            </a:r>
            <a:r>
              <a:rPr lang="zh-CN" altLang="en-US" dirty="0"/>
              <a:t>向量中断控制器</a:t>
            </a:r>
          </a:p>
        </p:txBody>
      </p:sp>
      <p:graphicFrame>
        <p:nvGraphicFramePr>
          <p:cNvPr id="366670" name="Group 78"/>
          <p:cNvGraphicFramePr>
            <a:graphicFrameLocks noGrp="1"/>
          </p:cNvGraphicFramePr>
          <p:nvPr>
            <p:ph type="tbl" idx="1"/>
            <p:extLst>
              <p:ext uri="{D42A27DB-BD31-4B8C-83A1-F6EECF244321}">
                <p14:modId xmlns:p14="http://schemas.microsoft.com/office/powerpoint/2010/main" val="1444556254"/>
              </p:ext>
            </p:extLst>
          </p:nvPr>
        </p:nvGraphicFramePr>
        <p:xfrm>
          <a:off x="1849438" y="2997201"/>
          <a:ext cx="8426450" cy="2443735"/>
        </p:xfrm>
        <a:graphic>
          <a:graphicData uri="http://schemas.openxmlformats.org/drawingml/2006/table">
            <a:tbl>
              <a:tblPr/>
              <a:tblGrid>
                <a:gridCol w="1109662">
                  <a:extLst>
                    <a:ext uri="{9D8B030D-6E8A-4147-A177-3AD203B41FA5}">
                      <a16:colId xmlns:a16="http://schemas.microsoft.com/office/drawing/2014/main" val="20000"/>
                    </a:ext>
                  </a:extLst>
                </a:gridCol>
                <a:gridCol w="4703763">
                  <a:extLst>
                    <a:ext uri="{9D8B030D-6E8A-4147-A177-3AD203B41FA5}">
                      <a16:colId xmlns:a16="http://schemas.microsoft.com/office/drawing/2014/main" val="20001"/>
                    </a:ext>
                  </a:extLst>
                </a:gridCol>
                <a:gridCol w="2613025">
                  <a:extLst>
                    <a:ext uri="{9D8B030D-6E8A-4147-A177-3AD203B41FA5}">
                      <a16:colId xmlns:a16="http://schemas.microsoft.com/office/drawing/2014/main" val="20002"/>
                    </a:ext>
                  </a:extLst>
                </a:gridCol>
              </a:tblGrid>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宋体" pitchFamily="2" charset="-122"/>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宋体" pitchFamily="2" charset="-122"/>
                          <a:ea typeface="宋体" pitchFamily="2" charset="-122"/>
                        </a:rPr>
                        <a:t>特点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宋体" pitchFamily="2" charset="-122"/>
                          <a:ea typeface="宋体" pitchFamily="2" charset="-122"/>
                        </a:rPr>
                        <a:t>区别</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11303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宋体" pitchFamily="2" charset="-122"/>
                          <a:ea typeface="宋体" pitchFamily="2" charset="-122"/>
                        </a:rPr>
                        <a:t>向量</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宋体" pitchFamily="2" charset="-122"/>
                          <a:ea typeface="宋体" pitchFamily="2" charset="-122"/>
                        </a:rPr>
                        <a:t>IRQ</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Char char="l"/>
                        <a:tabLst/>
                      </a:pPr>
                      <a:r>
                        <a:rPr kumimoji="1" lang="en-US" altLang="zh-CN" sz="1800" b="0" i="0" u="none" strike="noStrike" cap="none" normalizeH="0" baseline="0">
                          <a:ln>
                            <a:noFill/>
                          </a:ln>
                          <a:solidFill>
                            <a:schemeClr val="tx1"/>
                          </a:solidFill>
                          <a:effectLst/>
                          <a:latin typeface="宋体" pitchFamily="2" charset="-122"/>
                          <a:ea typeface="宋体" pitchFamily="2" charset="-122"/>
                        </a:rPr>
                        <a:t> </a:t>
                      </a:r>
                      <a:r>
                        <a:rPr kumimoji="1" lang="zh-CN" altLang="en-US" sz="1800" b="0" i="0" u="none" strike="noStrike" cap="none" normalizeH="0" baseline="0">
                          <a:ln>
                            <a:noFill/>
                          </a:ln>
                          <a:solidFill>
                            <a:schemeClr val="tx1"/>
                          </a:solidFill>
                          <a:effectLst/>
                          <a:latin typeface="宋体" pitchFamily="2" charset="-122"/>
                          <a:ea typeface="宋体" pitchFamily="2" charset="-122"/>
                        </a:rPr>
                        <a:t>支持</a:t>
                      </a:r>
                      <a:r>
                        <a:rPr kumimoji="1" lang="en-US" altLang="zh-CN" sz="1800" b="0" i="0" u="none" strike="noStrike" cap="none" normalizeH="0" baseline="0">
                          <a:ln>
                            <a:noFill/>
                          </a:ln>
                          <a:solidFill>
                            <a:schemeClr val="tx1"/>
                          </a:solidFill>
                          <a:effectLst/>
                          <a:latin typeface="宋体" pitchFamily="2" charset="-122"/>
                          <a:ea typeface="宋体" pitchFamily="2" charset="-122"/>
                        </a:rPr>
                        <a:t>16</a:t>
                      </a:r>
                      <a:r>
                        <a:rPr kumimoji="1" lang="zh-CN" altLang="en-US" sz="1800" b="0" i="0" u="none" strike="noStrike" cap="none" normalizeH="0" baseline="0">
                          <a:ln>
                            <a:noFill/>
                          </a:ln>
                          <a:solidFill>
                            <a:schemeClr val="tx1"/>
                          </a:solidFill>
                          <a:effectLst/>
                          <a:latin typeface="宋体" pitchFamily="2" charset="-122"/>
                          <a:ea typeface="宋体" pitchFamily="2" charset="-122"/>
                        </a:rPr>
                        <a:t>个向量</a:t>
                      </a:r>
                      <a:r>
                        <a:rPr kumimoji="1" lang="en-US" altLang="zh-CN" sz="1800" b="0" i="0" u="none" strike="noStrike" cap="none" normalizeH="0" baseline="0">
                          <a:ln>
                            <a:noFill/>
                          </a:ln>
                          <a:solidFill>
                            <a:schemeClr val="tx1"/>
                          </a:solidFill>
                          <a:effectLst/>
                          <a:latin typeface="宋体" pitchFamily="2" charset="-122"/>
                          <a:ea typeface="宋体" pitchFamily="2" charset="-122"/>
                        </a:rPr>
                        <a:t>IRQ</a:t>
                      </a:r>
                      <a:r>
                        <a:rPr kumimoji="1" lang="zh-CN" altLang="en-US" sz="1800" b="0" i="0" u="none" strike="noStrike" cap="none" normalizeH="0" baseline="0">
                          <a:ln>
                            <a:noFill/>
                          </a:ln>
                          <a:solidFill>
                            <a:schemeClr val="tx1"/>
                          </a:solidFill>
                          <a:effectLst/>
                          <a:latin typeface="宋体" pitchFamily="2" charset="-122"/>
                          <a:ea typeface="宋体" pitchFamily="2" charset="-122"/>
                        </a:rPr>
                        <a:t>中断；</a:t>
                      </a:r>
                    </a:p>
                    <a:p>
                      <a:pPr marL="0" marR="0" lvl="0" indent="0" algn="l" defTabSz="914400" rtl="0" eaLnBrk="1" fontAlgn="base" latinLnBrk="0" hangingPunct="1">
                        <a:lnSpc>
                          <a:spcPct val="100000"/>
                        </a:lnSpc>
                        <a:spcBef>
                          <a:spcPct val="20000"/>
                        </a:spcBef>
                        <a:spcAft>
                          <a:spcPct val="0"/>
                        </a:spcAft>
                        <a:buClrTx/>
                        <a:buSzTx/>
                        <a:buFont typeface="Wingdings" pitchFamily="2" charset="2"/>
                        <a:buChar char="l"/>
                        <a:tabLst/>
                      </a:pPr>
                      <a:r>
                        <a:rPr kumimoji="1" lang="zh-CN" altLang="en-US" sz="1800" b="0" i="0" u="none" strike="noStrike" cap="none" normalizeH="0" baseline="0">
                          <a:ln>
                            <a:noFill/>
                          </a:ln>
                          <a:solidFill>
                            <a:schemeClr val="tx1"/>
                          </a:solidFill>
                          <a:effectLst/>
                          <a:latin typeface="宋体" pitchFamily="2" charset="-122"/>
                          <a:ea typeface="宋体" pitchFamily="2" charset="-122"/>
                        </a:rPr>
                        <a:t> </a:t>
                      </a:r>
                      <a:r>
                        <a:rPr kumimoji="1" lang="en-US" altLang="zh-CN" sz="1800" b="0" i="0" u="none" strike="noStrike" cap="none" normalizeH="0" baseline="0">
                          <a:ln>
                            <a:noFill/>
                          </a:ln>
                          <a:solidFill>
                            <a:schemeClr val="tx1"/>
                          </a:solidFill>
                          <a:effectLst/>
                          <a:latin typeface="宋体" pitchFamily="2" charset="-122"/>
                          <a:ea typeface="宋体" pitchFamily="2" charset="-122"/>
                        </a:rPr>
                        <a:t>16</a:t>
                      </a:r>
                      <a:r>
                        <a:rPr kumimoji="1" lang="zh-CN" altLang="en-US" sz="1800" b="0" i="0" u="none" strike="noStrike" cap="none" normalizeH="0" baseline="0">
                          <a:ln>
                            <a:noFill/>
                          </a:ln>
                          <a:solidFill>
                            <a:schemeClr val="tx1"/>
                          </a:solidFill>
                          <a:effectLst/>
                          <a:latin typeface="宋体" pitchFamily="2" charset="-122"/>
                          <a:ea typeface="宋体" pitchFamily="2" charset="-122"/>
                        </a:rPr>
                        <a:t>个优先级；</a:t>
                      </a:r>
                    </a:p>
                    <a:p>
                      <a:pPr marL="0" marR="0" lvl="0" indent="0" algn="l" defTabSz="914400" rtl="0" eaLnBrk="1" fontAlgn="base" latinLnBrk="0" hangingPunct="1">
                        <a:lnSpc>
                          <a:spcPct val="100000"/>
                        </a:lnSpc>
                        <a:spcBef>
                          <a:spcPct val="20000"/>
                        </a:spcBef>
                        <a:spcAft>
                          <a:spcPct val="0"/>
                        </a:spcAft>
                        <a:buClrTx/>
                        <a:buSzTx/>
                        <a:buFont typeface="Wingdings" pitchFamily="2" charset="2"/>
                        <a:buChar char="l"/>
                        <a:tabLst/>
                      </a:pPr>
                      <a:r>
                        <a:rPr kumimoji="1" lang="zh-CN" altLang="en-US" sz="1800" b="0" i="0" u="none" strike="noStrike" cap="none" normalizeH="0" baseline="0">
                          <a:ln>
                            <a:noFill/>
                          </a:ln>
                          <a:solidFill>
                            <a:schemeClr val="tx1"/>
                          </a:solidFill>
                          <a:effectLst/>
                          <a:latin typeface="宋体" pitchFamily="2" charset="-122"/>
                          <a:ea typeface="宋体" pitchFamily="2" charset="-122"/>
                        </a:rPr>
                        <a:t> 每个优先级指定一个服务程序入口地址。</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宋体" pitchFamily="2" charset="-122"/>
                          <a:ea typeface="宋体" pitchFamily="2" charset="-122"/>
                        </a:rPr>
                        <a:t>能为每个向量</a:t>
                      </a:r>
                      <a:r>
                        <a:rPr kumimoji="1" lang="en-US" altLang="zh-CN" sz="1800" b="0" i="0" u="none" strike="noStrike" cap="none" normalizeH="0" baseline="0" dirty="0">
                          <a:ln>
                            <a:noFill/>
                          </a:ln>
                          <a:solidFill>
                            <a:schemeClr val="tx1"/>
                          </a:solidFill>
                          <a:effectLst/>
                          <a:latin typeface="宋体" pitchFamily="2" charset="-122"/>
                          <a:ea typeface="宋体" pitchFamily="2" charset="-122"/>
                        </a:rPr>
                        <a:t>IRQ</a:t>
                      </a:r>
                      <a:r>
                        <a:rPr kumimoji="1" lang="zh-CN" altLang="en-US" sz="1800" b="0" i="0" u="none" strike="noStrike" cap="none" normalizeH="0" baseline="0" dirty="0">
                          <a:ln>
                            <a:noFill/>
                          </a:ln>
                          <a:solidFill>
                            <a:schemeClr val="tx1"/>
                          </a:solidFill>
                          <a:effectLst/>
                          <a:latin typeface="宋体" pitchFamily="2" charset="-122"/>
                          <a:ea typeface="宋体" pitchFamily="2" charset="-122"/>
                        </a:rPr>
                        <a:t>中断源设置服务程序地址。</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6746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宋体" pitchFamily="2" charset="-122"/>
                          <a:ea typeface="宋体" pitchFamily="2" charset="-122"/>
                        </a:rPr>
                        <a:t>非向量</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宋体" pitchFamily="2" charset="-122"/>
                          <a:ea typeface="宋体" pitchFamily="2" charset="-122"/>
                        </a:rPr>
                        <a:t>IRQ</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Char char="l"/>
                        <a:tabLst/>
                      </a:pPr>
                      <a:r>
                        <a:rPr kumimoji="1" lang="en-US" altLang="zh-CN" sz="1800" b="0" i="0" u="none" strike="noStrike" cap="none" normalizeH="0" baseline="0">
                          <a:ln>
                            <a:noFill/>
                          </a:ln>
                          <a:solidFill>
                            <a:schemeClr val="tx1"/>
                          </a:solidFill>
                          <a:effectLst/>
                          <a:latin typeface="宋体" pitchFamily="2" charset="-122"/>
                          <a:ea typeface="宋体" pitchFamily="2" charset="-122"/>
                        </a:rPr>
                        <a:t> </a:t>
                      </a:r>
                      <a:r>
                        <a:rPr kumimoji="1" lang="zh-CN" altLang="en-US" sz="1800" b="0" i="0" u="none" strike="noStrike" cap="none" normalizeH="0" baseline="0">
                          <a:ln>
                            <a:noFill/>
                          </a:ln>
                          <a:solidFill>
                            <a:schemeClr val="tx1"/>
                          </a:solidFill>
                          <a:effectLst/>
                          <a:latin typeface="宋体" pitchFamily="2" charset="-122"/>
                          <a:ea typeface="宋体" pitchFamily="2" charset="-122"/>
                        </a:rPr>
                        <a:t>支持</a:t>
                      </a:r>
                      <a:r>
                        <a:rPr kumimoji="1" lang="en-US" altLang="zh-CN" sz="1800" b="0" i="0" u="none" strike="noStrike" cap="none" normalizeH="0" baseline="0">
                          <a:ln>
                            <a:noFill/>
                          </a:ln>
                          <a:solidFill>
                            <a:schemeClr val="tx1"/>
                          </a:solidFill>
                          <a:effectLst/>
                          <a:latin typeface="宋体" pitchFamily="2" charset="-122"/>
                          <a:ea typeface="宋体" pitchFamily="2" charset="-122"/>
                        </a:rPr>
                        <a:t>1</a:t>
                      </a:r>
                      <a:r>
                        <a:rPr kumimoji="1" lang="zh-CN" altLang="en-US" sz="1800" b="0" i="0" u="none" strike="noStrike" cap="none" normalizeH="0" baseline="0">
                          <a:ln>
                            <a:noFill/>
                          </a:ln>
                          <a:solidFill>
                            <a:schemeClr val="tx1"/>
                          </a:solidFill>
                          <a:effectLst/>
                          <a:latin typeface="宋体" pitchFamily="2" charset="-122"/>
                          <a:ea typeface="宋体" pitchFamily="2" charset="-122"/>
                        </a:rPr>
                        <a:t>个非向量</a:t>
                      </a:r>
                      <a:r>
                        <a:rPr kumimoji="1" lang="en-US" altLang="zh-CN" sz="1800" b="0" i="0" u="none" strike="noStrike" cap="none" normalizeH="0" baseline="0">
                          <a:ln>
                            <a:noFill/>
                          </a:ln>
                          <a:solidFill>
                            <a:schemeClr val="tx1"/>
                          </a:solidFill>
                          <a:effectLst/>
                          <a:latin typeface="宋体" pitchFamily="2" charset="-122"/>
                          <a:ea typeface="宋体" pitchFamily="2" charset="-122"/>
                        </a:rPr>
                        <a:t>IRQ</a:t>
                      </a:r>
                      <a:r>
                        <a:rPr kumimoji="1" lang="zh-CN" altLang="en-US" sz="1800" b="0" i="0" u="none" strike="noStrike" cap="none" normalizeH="0" baseline="0">
                          <a:ln>
                            <a:noFill/>
                          </a:ln>
                          <a:solidFill>
                            <a:schemeClr val="tx1"/>
                          </a:solidFill>
                          <a:effectLst/>
                          <a:latin typeface="宋体" pitchFamily="2" charset="-122"/>
                          <a:ea typeface="宋体" pitchFamily="2" charset="-122"/>
                        </a:rPr>
                        <a:t>中断；</a:t>
                      </a:r>
                    </a:p>
                    <a:p>
                      <a:pPr marL="0" marR="0" lvl="0" indent="0" algn="l" defTabSz="914400" rtl="0" eaLnBrk="1" fontAlgn="base" latinLnBrk="0" hangingPunct="1">
                        <a:lnSpc>
                          <a:spcPct val="100000"/>
                        </a:lnSpc>
                        <a:spcBef>
                          <a:spcPct val="20000"/>
                        </a:spcBef>
                        <a:spcAft>
                          <a:spcPct val="0"/>
                        </a:spcAft>
                        <a:buClrTx/>
                        <a:buSzTx/>
                        <a:buFont typeface="Wingdings" pitchFamily="2" charset="2"/>
                        <a:buChar char="l"/>
                        <a:tabLst/>
                      </a:pPr>
                      <a:r>
                        <a:rPr kumimoji="1" lang="zh-CN" altLang="en-US" sz="1800" b="0" i="0" u="none" strike="noStrike" cap="none" normalizeH="0" baseline="0">
                          <a:ln>
                            <a:noFill/>
                          </a:ln>
                          <a:solidFill>
                            <a:schemeClr val="tx1"/>
                          </a:solidFill>
                          <a:effectLst/>
                          <a:latin typeface="宋体" pitchFamily="2" charset="-122"/>
                          <a:ea typeface="宋体" pitchFamily="2" charset="-122"/>
                        </a:rPr>
                        <a:t> 所有非向量</a:t>
                      </a:r>
                      <a:r>
                        <a:rPr kumimoji="1" lang="en-US" altLang="zh-CN" sz="1800" b="0" i="0" u="none" strike="noStrike" cap="none" normalizeH="0" baseline="0">
                          <a:ln>
                            <a:noFill/>
                          </a:ln>
                          <a:solidFill>
                            <a:schemeClr val="tx1"/>
                          </a:solidFill>
                          <a:effectLst/>
                          <a:latin typeface="宋体" pitchFamily="2" charset="-122"/>
                          <a:ea typeface="宋体" pitchFamily="2" charset="-122"/>
                        </a:rPr>
                        <a:t>IRQ</a:t>
                      </a:r>
                      <a:r>
                        <a:rPr kumimoji="1" lang="zh-CN" altLang="en-US" sz="1800" b="0" i="0" u="none" strike="noStrike" cap="none" normalizeH="0" baseline="0">
                          <a:ln>
                            <a:noFill/>
                          </a:ln>
                          <a:solidFill>
                            <a:schemeClr val="tx1"/>
                          </a:solidFill>
                          <a:effectLst/>
                          <a:latin typeface="宋体" pitchFamily="2" charset="-122"/>
                          <a:ea typeface="宋体" pitchFamily="2" charset="-122"/>
                        </a:rPr>
                        <a:t>的入口地址都相同。</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宋体" pitchFamily="2" charset="-122"/>
                          <a:ea typeface="宋体" pitchFamily="2" charset="-122"/>
                        </a:rPr>
                        <a:t>所有的非向量</a:t>
                      </a:r>
                      <a:r>
                        <a:rPr kumimoji="1" lang="en-US" altLang="zh-CN" sz="1800" b="0" i="0" u="none" strike="noStrike" cap="none" normalizeH="0" baseline="0" dirty="0">
                          <a:ln>
                            <a:noFill/>
                          </a:ln>
                          <a:solidFill>
                            <a:schemeClr val="tx1"/>
                          </a:solidFill>
                          <a:effectLst/>
                          <a:latin typeface="宋体" pitchFamily="2" charset="-122"/>
                          <a:ea typeface="宋体" pitchFamily="2" charset="-122"/>
                        </a:rPr>
                        <a:t>IRQ</a:t>
                      </a:r>
                      <a:r>
                        <a:rPr kumimoji="1" lang="zh-CN" altLang="en-US" sz="1800" b="0" i="0" u="none" strike="noStrike" cap="none" normalizeH="0" baseline="0" dirty="0">
                          <a:ln>
                            <a:noFill/>
                          </a:ln>
                          <a:solidFill>
                            <a:schemeClr val="tx1"/>
                          </a:solidFill>
                          <a:effectLst/>
                          <a:latin typeface="宋体" pitchFamily="2" charset="-122"/>
                          <a:ea typeface="宋体" pitchFamily="2" charset="-122"/>
                        </a:rPr>
                        <a:t>中断都共用一个相同的服务程序入口地址。</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66594">
                                            <p:txEl>
                                              <p:pRg st="0" end="0"/>
                                            </p:txEl>
                                          </p:spTgt>
                                        </p:tgtEl>
                                        <p:attrNameLst>
                                          <p:attrName>style.visibility</p:attrName>
                                        </p:attrNameLst>
                                      </p:cBhvr>
                                      <p:to>
                                        <p:strVal val="visible"/>
                                      </p:to>
                                    </p:set>
                                    <p:anim calcmode="lin" valueType="num">
                                      <p:cBhvr additive="base">
                                        <p:cTn id="7" dur="500" fill="hold"/>
                                        <p:tgtEl>
                                          <p:spTgt spid="36659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66594">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366670"/>
                                        </p:tgtEl>
                                        <p:attrNameLst>
                                          <p:attrName>style.visibility</p:attrName>
                                        </p:attrNameLst>
                                      </p:cBhvr>
                                      <p:to>
                                        <p:strVal val="visible"/>
                                      </p:to>
                                    </p:set>
                                    <p:animEffect transition="in" filter="slide(fromTop)">
                                      <p:cBhvr>
                                        <p:cTn id="12" dur="500"/>
                                        <p:tgtEl>
                                          <p:spTgt spid="3666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4"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p:cNvSpPr>
            <a:spLocks noChangeArrowheads="1"/>
          </p:cNvSpPr>
          <p:nvPr/>
        </p:nvSpPr>
        <p:spPr bwMode="auto">
          <a:xfrm>
            <a:off x="2208213" y="19161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IRQ</a:t>
            </a:r>
            <a:r>
              <a:rPr lang="zh-CN" altLang="en-US" sz="3200">
                <a:latin typeface="Times New Roman" pitchFamily="18" charset="0"/>
              </a:rPr>
              <a:t>中断相关寄存器</a:t>
            </a:r>
          </a:p>
        </p:txBody>
      </p:sp>
      <p:sp>
        <p:nvSpPr>
          <p:cNvPr id="369667" name="Rectangle 3"/>
          <p:cNvSpPr>
            <a:spLocks noGrp="1" noChangeArrowheads="1"/>
          </p:cNvSpPr>
          <p:nvPr>
            <p:ph type="title"/>
          </p:nvPr>
        </p:nvSpPr>
        <p:spPr>
          <a:noFill/>
          <a:ln/>
        </p:spPr>
        <p:txBody>
          <a:bodyPr/>
          <a:lstStyle/>
          <a:p>
            <a:r>
              <a:rPr lang="en-US" altLang="zh-CN" dirty="0"/>
              <a:t>5.3.4  </a:t>
            </a:r>
            <a:r>
              <a:rPr lang="zh-CN" altLang="en-US" dirty="0"/>
              <a:t>向量中断控制器</a:t>
            </a:r>
          </a:p>
        </p:txBody>
      </p:sp>
      <p:graphicFrame>
        <p:nvGraphicFramePr>
          <p:cNvPr id="369709" name="Group 45"/>
          <p:cNvGraphicFramePr>
            <a:graphicFrameLocks noGrp="1"/>
          </p:cNvGraphicFramePr>
          <p:nvPr/>
        </p:nvGraphicFramePr>
        <p:xfrm>
          <a:off x="2824164" y="2781300"/>
          <a:ext cx="6511925" cy="1341120"/>
        </p:xfrm>
        <a:graphic>
          <a:graphicData uri="http://schemas.openxmlformats.org/drawingml/2006/table">
            <a:tbl>
              <a:tblPr/>
              <a:tblGrid>
                <a:gridCol w="2498725">
                  <a:extLst>
                    <a:ext uri="{9D8B030D-6E8A-4147-A177-3AD203B41FA5}">
                      <a16:colId xmlns:a16="http://schemas.microsoft.com/office/drawing/2014/main" val="20000"/>
                    </a:ext>
                  </a:extLst>
                </a:gridCol>
                <a:gridCol w="4013200">
                  <a:extLst>
                    <a:ext uri="{9D8B030D-6E8A-4147-A177-3AD203B41FA5}">
                      <a16:colId xmlns:a16="http://schemas.microsoft.com/office/drawing/2014/main" val="20001"/>
                    </a:ext>
                  </a:extLst>
                </a:gridCol>
              </a:tblGrid>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寄存器名称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功能</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VICVectCntl0</a:t>
                      </a:r>
                      <a:r>
                        <a:rPr kumimoji="1" lang="zh-CN" altLang="en-US" sz="1600" b="0" i="0" u="none" strike="noStrike" cap="none" normalizeH="0" baseline="0">
                          <a:ln>
                            <a:noFill/>
                          </a:ln>
                          <a:solidFill>
                            <a:schemeClr val="tx1"/>
                          </a:solidFill>
                          <a:effectLst/>
                          <a:latin typeface="宋体" pitchFamily="2" charset="-122"/>
                          <a:ea typeface="宋体" pitchFamily="2" charset="-122"/>
                        </a:rPr>
                        <a:t>～</a:t>
                      </a:r>
                      <a:r>
                        <a:rPr kumimoji="1" lang="en-US" altLang="zh-CN" sz="1600" b="0" i="0" u="none" strike="noStrike" cap="none" normalizeH="0" baseline="0">
                          <a:ln>
                            <a:noFill/>
                          </a:ln>
                          <a:solidFill>
                            <a:schemeClr val="tx1"/>
                          </a:solidFill>
                          <a:effectLst/>
                          <a:latin typeface="宋体" pitchFamily="2" charset="-122"/>
                          <a:ea typeface="宋体" pitchFamily="2" charset="-122"/>
                        </a:rPr>
                        <a:t>15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为中断源分配向量</a:t>
                      </a:r>
                      <a:r>
                        <a:rPr kumimoji="1" lang="en-US" altLang="zh-CN" sz="1600" b="0" i="0" u="none" strike="noStrike" cap="none" normalizeH="0" baseline="0">
                          <a:ln>
                            <a:noFill/>
                          </a:ln>
                          <a:solidFill>
                            <a:schemeClr val="tx1"/>
                          </a:solidFill>
                          <a:effectLst/>
                          <a:latin typeface="宋体" pitchFamily="2" charset="-122"/>
                          <a:ea typeface="宋体" pitchFamily="2" charset="-122"/>
                        </a:rPr>
                        <a:t>IRQ</a:t>
                      </a:r>
                      <a:r>
                        <a:rPr kumimoji="1" lang="zh-CN" altLang="en-US" sz="1600" b="0" i="0" u="none" strike="noStrike" cap="none" normalizeH="0" baseline="0">
                          <a:ln>
                            <a:noFill/>
                          </a:ln>
                          <a:solidFill>
                            <a:schemeClr val="tx1"/>
                          </a:solidFill>
                          <a:effectLst/>
                          <a:latin typeface="宋体" pitchFamily="2" charset="-122"/>
                          <a:ea typeface="宋体" pitchFamily="2" charset="-122"/>
                        </a:rPr>
                        <a:t>中断的优先级。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VICVectAddr0</a:t>
                      </a:r>
                      <a:r>
                        <a:rPr kumimoji="1" lang="zh-CN" altLang="en-US" sz="1600" b="0" i="0" u="none" strike="noStrike" cap="none" normalizeH="0" baseline="0">
                          <a:ln>
                            <a:noFill/>
                          </a:ln>
                          <a:solidFill>
                            <a:schemeClr val="tx1"/>
                          </a:solidFill>
                          <a:effectLst/>
                          <a:latin typeface="宋体" pitchFamily="2" charset="-122"/>
                          <a:ea typeface="宋体" pitchFamily="2" charset="-122"/>
                        </a:rPr>
                        <a:t>～</a:t>
                      </a:r>
                      <a:r>
                        <a:rPr kumimoji="1" lang="en-US" altLang="zh-CN" sz="1600" b="0" i="0" u="none" strike="noStrike" cap="none" normalizeH="0" baseline="0">
                          <a:ln>
                            <a:noFill/>
                          </a:ln>
                          <a:solidFill>
                            <a:schemeClr val="tx1"/>
                          </a:solidFill>
                          <a:effectLst/>
                          <a:latin typeface="宋体" pitchFamily="2" charset="-122"/>
                          <a:ea typeface="宋体" pitchFamily="2" charset="-122"/>
                        </a:rPr>
                        <a:t>15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为该中断优先级设置服务程序入口地址。</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VICDefVectAddr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设置非向量中断服务程序的入口地址。</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bl>
          </a:graphicData>
        </a:graphic>
      </p:graphicFrame>
      <p:sp>
        <p:nvSpPr>
          <p:cNvPr id="369704" name="Rectangle 40"/>
          <p:cNvSpPr>
            <a:spLocks noChangeArrowheads="1"/>
          </p:cNvSpPr>
          <p:nvPr/>
        </p:nvSpPr>
        <p:spPr bwMode="auto">
          <a:xfrm>
            <a:off x="2424114" y="4437064"/>
            <a:ext cx="7272337" cy="1200329"/>
          </a:xfrm>
          <a:prstGeom prst="rect">
            <a:avLst/>
          </a:prstGeom>
          <a:noFill/>
          <a:ln w="9525" algn="ctr">
            <a:noFill/>
            <a:miter lim="800000"/>
            <a:headEnd/>
            <a:tailEnd/>
          </a:ln>
          <a:effectLst/>
        </p:spPr>
        <p:txBody>
          <a:bodyPr>
            <a:spAutoFit/>
          </a:bodyPr>
          <a:lstStyle/>
          <a:p>
            <a:pPr algn="l"/>
            <a:r>
              <a:rPr lang="en-US" altLang="zh-CN" sz="2400">
                <a:solidFill>
                  <a:srgbClr val="FF0000"/>
                </a:solidFill>
                <a:latin typeface="华文新魏" pitchFamily="2" charset="-122"/>
                <a:ea typeface="华文新魏" pitchFamily="2" charset="-122"/>
              </a:rPr>
              <a:t>       </a:t>
            </a:r>
            <a:r>
              <a:rPr lang="zh-CN" altLang="en-US" sz="2400">
                <a:solidFill>
                  <a:srgbClr val="FF0000"/>
                </a:solidFill>
                <a:latin typeface="华文新魏" pitchFamily="2" charset="-122"/>
                <a:ea typeface="华文新魏" pitchFamily="2" charset="-122"/>
              </a:rPr>
              <a:t>注意</a:t>
            </a:r>
            <a:r>
              <a:rPr lang="zh-CN" altLang="en-US" sz="2400">
                <a:latin typeface="华文新魏" pitchFamily="2" charset="-122"/>
                <a:ea typeface="华文新魏" pitchFamily="2" charset="-122"/>
              </a:rPr>
              <a:t>：如果将同一个中断源分配给多个使能的向量</a:t>
            </a:r>
            <a:r>
              <a:rPr lang="en-US" altLang="zh-CN" sz="2400">
                <a:latin typeface="华文新魏" pitchFamily="2" charset="-122"/>
                <a:ea typeface="华文新魏" pitchFamily="2" charset="-122"/>
              </a:rPr>
              <a:t>IRQ</a:t>
            </a:r>
            <a:r>
              <a:rPr lang="zh-CN" altLang="en-US" sz="2400">
                <a:latin typeface="华文新魏" pitchFamily="2" charset="-122"/>
                <a:ea typeface="华文新魏" pitchFamily="2" charset="-122"/>
              </a:rPr>
              <a:t>中断，那么该中断源发生中断时，会使用最高优先级（最低编号）的寄存器设置。</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69666">
                                            <p:txEl>
                                              <p:pRg st="0" end="0"/>
                                            </p:txEl>
                                          </p:spTgt>
                                        </p:tgtEl>
                                        <p:attrNameLst>
                                          <p:attrName>style.visibility</p:attrName>
                                        </p:attrNameLst>
                                      </p:cBhvr>
                                      <p:to>
                                        <p:strVal val="visible"/>
                                      </p:to>
                                    </p:set>
                                    <p:anim calcmode="lin" valueType="num">
                                      <p:cBhvr additive="base">
                                        <p:cTn id="7" dur="500" fill="hold"/>
                                        <p:tgtEl>
                                          <p:spTgt spid="36966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69666">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369709"/>
                                        </p:tgtEl>
                                        <p:attrNameLst>
                                          <p:attrName>style.visibility</p:attrName>
                                        </p:attrNameLst>
                                      </p:cBhvr>
                                      <p:to>
                                        <p:strVal val="visible"/>
                                      </p:to>
                                    </p:set>
                                    <p:animEffect transition="in" filter="slide(fromTop)">
                                      <p:cBhvr>
                                        <p:cTn id="12" dur="500"/>
                                        <p:tgtEl>
                                          <p:spTgt spid="369709"/>
                                        </p:tgtEl>
                                      </p:cBhvr>
                                    </p:animEffect>
                                  </p:childTnLst>
                                </p:cTn>
                              </p:par>
                            </p:childTnLst>
                          </p:cTn>
                        </p:par>
                        <p:par>
                          <p:cTn id="13" fill="hold">
                            <p:stCondLst>
                              <p:cond delay="1000"/>
                            </p:stCondLst>
                            <p:childTnLst>
                              <p:par>
                                <p:cTn id="14" presetID="4" presetClass="entr" presetSubtype="16" fill="hold" grpId="0" nodeType="afterEffect">
                                  <p:stCondLst>
                                    <p:cond delay="0"/>
                                  </p:stCondLst>
                                  <p:childTnLst>
                                    <p:set>
                                      <p:cBhvr>
                                        <p:cTn id="15" dur="1" fill="hold">
                                          <p:stCondLst>
                                            <p:cond delay="0"/>
                                          </p:stCondLst>
                                        </p:cTn>
                                        <p:tgtEl>
                                          <p:spTgt spid="369704"/>
                                        </p:tgtEl>
                                        <p:attrNameLst>
                                          <p:attrName>style.visibility</p:attrName>
                                        </p:attrNameLst>
                                      </p:cBhvr>
                                      <p:to>
                                        <p:strVal val="visible"/>
                                      </p:to>
                                    </p:set>
                                    <p:animEffect transition="in" filter="box(in)">
                                      <p:cBhvr>
                                        <p:cTn id="16" dur="500"/>
                                        <p:tgtEl>
                                          <p:spTgt spid="369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6" grpId="0" build="p"/>
      <p:bldP spid="36970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ChangeArrowheads="1"/>
          </p:cNvSpPr>
          <p:nvPr/>
        </p:nvSpPr>
        <p:spPr bwMode="auto">
          <a:xfrm>
            <a:off x="2208213" y="1844676"/>
            <a:ext cx="7702550" cy="576263"/>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产生中断后的服务程序地址</a:t>
            </a:r>
          </a:p>
        </p:txBody>
      </p:sp>
      <p:sp>
        <p:nvSpPr>
          <p:cNvPr id="370691" name="Rectangle 3"/>
          <p:cNvSpPr>
            <a:spLocks noGrp="1" noChangeArrowheads="1"/>
          </p:cNvSpPr>
          <p:nvPr>
            <p:ph type="title"/>
          </p:nvPr>
        </p:nvSpPr>
        <p:spPr>
          <a:noFill/>
          <a:ln/>
        </p:spPr>
        <p:txBody>
          <a:bodyPr/>
          <a:lstStyle/>
          <a:p>
            <a:r>
              <a:rPr lang="en-US" altLang="zh-CN" dirty="0"/>
              <a:t>5.3.4  </a:t>
            </a:r>
            <a:r>
              <a:rPr lang="zh-CN" altLang="en-US" dirty="0"/>
              <a:t>向量中断控制器</a:t>
            </a:r>
          </a:p>
        </p:txBody>
      </p:sp>
      <p:graphicFrame>
        <p:nvGraphicFramePr>
          <p:cNvPr id="370732" name="Group 44"/>
          <p:cNvGraphicFramePr>
            <a:graphicFrameLocks noGrp="1"/>
          </p:cNvGraphicFramePr>
          <p:nvPr>
            <p:ph type="tbl" idx="1"/>
          </p:nvPr>
        </p:nvGraphicFramePr>
        <p:xfrm>
          <a:off x="3146426" y="2781300"/>
          <a:ext cx="5902325" cy="1158240"/>
        </p:xfrm>
        <a:graphic>
          <a:graphicData uri="http://schemas.openxmlformats.org/drawingml/2006/table">
            <a:tbl>
              <a:tblPr/>
              <a:tblGrid>
                <a:gridCol w="1654175">
                  <a:extLst>
                    <a:ext uri="{9D8B030D-6E8A-4147-A177-3AD203B41FA5}">
                      <a16:colId xmlns:a16="http://schemas.microsoft.com/office/drawing/2014/main" val="20000"/>
                    </a:ext>
                  </a:extLst>
                </a:gridCol>
                <a:gridCol w="4248150">
                  <a:extLst>
                    <a:ext uri="{9D8B030D-6E8A-4147-A177-3AD203B41FA5}">
                      <a16:colId xmlns:a16="http://schemas.microsoft.com/office/drawing/2014/main" val="20001"/>
                    </a:ext>
                  </a:extLst>
                </a:gridCol>
              </a:tblGrid>
              <a:tr h="323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向量</a:t>
                      </a:r>
                      <a:r>
                        <a:rPr kumimoji="1" lang="en-US" altLang="zh-CN" sz="1600" b="0" i="0" u="none" strike="noStrike" cap="none" normalizeH="0" baseline="0">
                          <a:ln>
                            <a:noFill/>
                          </a:ln>
                          <a:solidFill>
                            <a:schemeClr val="tx1"/>
                          </a:solidFill>
                          <a:effectLst/>
                          <a:latin typeface="宋体" pitchFamily="2" charset="-122"/>
                          <a:ea typeface="宋体" pitchFamily="2" charset="-122"/>
                        </a:rPr>
                        <a:t>IRQ</a:t>
                      </a:r>
                      <a:r>
                        <a:rPr kumimoji="1" lang="zh-CN" altLang="en-US" sz="1600" b="0" i="0" u="none" strike="noStrike" cap="none" normalizeH="0" baseline="0">
                          <a:ln>
                            <a:noFill/>
                          </a:ln>
                          <a:solidFill>
                            <a:schemeClr val="tx1"/>
                          </a:solidFill>
                          <a:effectLst/>
                          <a:latin typeface="宋体" pitchFamily="2" charset="-122"/>
                          <a:ea typeface="宋体" pitchFamily="2" charset="-122"/>
                        </a:rPr>
                        <a:t>中断</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发生向量</a:t>
                      </a:r>
                      <a:r>
                        <a:rPr kumimoji="1" lang="en-US" altLang="zh-CN" sz="1600" b="0" i="0" u="none" strike="noStrike" cap="none" normalizeH="0" baseline="0">
                          <a:ln>
                            <a:noFill/>
                          </a:ln>
                          <a:solidFill>
                            <a:schemeClr val="tx1"/>
                          </a:solidFill>
                          <a:effectLst/>
                          <a:latin typeface="宋体" pitchFamily="2" charset="-122"/>
                          <a:ea typeface="宋体" pitchFamily="2" charset="-122"/>
                        </a:rPr>
                        <a:t>IRQ</a:t>
                      </a:r>
                      <a:r>
                        <a:rPr kumimoji="1" lang="zh-CN" altLang="en-US" sz="1600" b="0" i="0" u="none" strike="noStrike" cap="none" normalizeH="0" baseline="0">
                          <a:ln>
                            <a:noFill/>
                          </a:ln>
                          <a:solidFill>
                            <a:schemeClr val="tx1"/>
                          </a:solidFill>
                          <a:effectLst/>
                          <a:latin typeface="宋体" pitchFamily="2" charset="-122"/>
                          <a:ea typeface="宋体" pitchFamily="2" charset="-122"/>
                        </a:rPr>
                        <a:t>中断后，</a:t>
                      </a:r>
                      <a:r>
                        <a:rPr kumimoji="1" lang="en-US" altLang="zh-CN" sz="1600" b="0" i="0" u="none" strike="noStrike" cap="none" normalizeH="0" baseline="0">
                          <a:ln>
                            <a:noFill/>
                          </a:ln>
                          <a:solidFill>
                            <a:schemeClr val="tx1"/>
                          </a:solidFill>
                          <a:effectLst/>
                          <a:latin typeface="宋体" pitchFamily="2" charset="-122"/>
                          <a:ea typeface="宋体" pitchFamily="2" charset="-122"/>
                        </a:rPr>
                        <a:t>VIC</a:t>
                      </a:r>
                      <a:r>
                        <a:rPr kumimoji="1" lang="zh-CN" altLang="en-US" sz="1600" b="0" i="0" u="none" strike="noStrike" cap="none" normalizeH="0" baseline="0">
                          <a:ln>
                            <a:noFill/>
                          </a:ln>
                          <a:solidFill>
                            <a:schemeClr val="tx1"/>
                          </a:solidFill>
                          <a:effectLst/>
                          <a:latin typeface="宋体" pitchFamily="2" charset="-122"/>
                          <a:ea typeface="宋体" pitchFamily="2" charset="-122"/>
                        </a:rPr>
                        <a:t>将对应的</a:t>
                      </a:r>
                      <a:r>
                        <a:rPr kumimoji="1" lang="zh-CN" altLang="en-US" sz="1600" b="0" i="0" u="none" strike="noStrike" cap="none" normalizeH="0" baseline="0">
                          <a:ln>
                            <a:noFill/>
                          </a:ln>
                          <a:solidFill>
                            <a:srgbClr val="FF0000"/>
                          </a:solidFill>
                          <a:effectLst/>
                          <a:latin typeface="宋体" pitchFamily="2" charset="-122"/>
                          <a:ea typeface="宋体" pitchFamily="2" charset="-122"/>
                        </a:rPr>
                        <a:t>向量地址寄存器</a:t>
                      </a:r>
                      <a:r>
                        <a:rPr kumimoji="1" lang="zh-CN" altLang="en-US" sz="1600" b="0" i="0" u="none" strike="noStrike" cap="none" normalizeH="0" baseline="0">
                          <a:ln>
                            <a:noFill/>
                          </a:ln>
                          <a:solidFill>
                            <a:schemeClr val="tx1"/>
                          </a:solidFill>
                          <a:effectLst/>
                          <a:latin typeface="宋体" pitchFamily="2" charset="-122"/>
                          <a:ea typeface="宋体" pitchFamily="2" charset="-122"/>
                        </a:rPr>
                        <a:t>中的数据存入</a:t>
                      </a:r>
                      <a:r>
                        <a:rPr kumimoji="1" lang="en-US" altLang="zh-CN" sz="1600" b="0" i="0" u="none" strike="noStrike" cap="none" normalizeH="0" baseline="0">
                          <a:ln>
                            <a:noFill/>
                          </a:ln>
                          <a:solidFill>
                            <a:schemeClr val="tx1"/>
                          </a:solidFill>
                          <a:effectLst/>
                          <a:latin typeface="宋体" pitchFamily="2" charset="-122"/>
                          <a:ea typeface="宋体" pitchFamily="2" charset="-122"/>
                        </a:rPr>
                        <a:t>VICVectAddr</a:t>
                      </a:r>
                      <a:r>
                        <a:rPr kumimoji="1" lang="zh-CN" altLang="en-US" sz="1600" b="0" i="0" u="none" strike="noStrike" cap="none" normalizeH="0" baseline="0">
                          <a:ln>
                            <a:noFill/>
                          </a:ln>
                          <a:solidFill>
                            <a:schemeClr val="tx1"/>
                          </a:solidFill>
                          <a:effectLst/>
                          <a:latin typeface="宋体" pitchFamily="2" charset="-122"/>
                          <a:ea typeface="宋体" pitchFamily="2" charset="-122"/>
                        </a:rPr>
                        <a:t>寄存器中。</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323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非向量</a:t>
                      </a:r>
                      <a:r>
                        <a:rPr kumimoji="1" lang="en-US" altLang="zh-CN" sz="1600" b="0" i="0" u="none" strike="noStrike" cap="none" normalizeH="0" baseline="0">
                          <a:ln>
                            <a:noFill/>
                          </a:ln>
                          <a:solidFill>
                            <a:schemeClr val="tx1"/>
                          </a:solidFill>
                          <a:effectLst/>
                          <a:latin typeface="宋体" pitchFamily="2" charset="-122"/>
                          <a:ea typeface="宋体" pitchFamily="2" charset="-122"/>
                        </a:rPr>
                        <a:t>IRQ</a:t>
                      </a:r>
                      <a:r>
                        <a:rPr kumimoji="1" lang="zh-CN" altLang="en-US" sz="1600" b="0" i="0" u="none" strike="noStrike" cap="none" normalizeH="0" baseline="0">
                          <a:ln>
                            <a:noFill/>
                          </a:ln>
                          <a:solidFill>
                            <a:schemeClr val="tx1"/>
                          </a:solidFill>
                          <a:effectLst/>
                          <a:latin typeface="宋体" pitchFamily="2" charset="-122"/>
                          <a:ea typeface="宋体" pitchFamily="2" charset="-122"/>
                        </a:rPr>
                        <a:t>中断</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发生非向量</a:t>
                      </a:r>
                      <a:r>
                        <a:rPr kumimoji="1" lang="en-US" altLang="zh-CN" sz="1600" b="0" i="0" u="none" strike="noStrike" cap="none" normalizeH="0" baseline="0">
                          <a:ln>
                            <a:noFill/>
                          </a:ln>
                          <a:solidFill>
                            <a:schemeClr val="tx1"/>
                          </a:solidFill>
                          <a:effectLst/>
                          <a:latin typeface="宋体" pitchFamily="2" charset="-122"/>
                          <a:ea typeface="宋体" pitchFamily="2" charset="-122"/>
                        </a:rPr>
                        <a:t>IRQ</a:t>
                      </a:r>
                      <a:r>
                        <a:rPr kumimoji="1" lang="zh-CN" altLang="en-US" sz="1600" b="0" i="0" u="none" strike="noStrike" cap="none" normalizeH="0" baseline="0">
                          <a:ln>
                            <a:noFill/>
                          </a:ln>
                          <a:solidFill>
                            <a:schemeClr val="tx1"/>
                          </a:solidFill>
                          <a:effectLst/>
                          <a:latin typeface="宋体" pitchFamily="2" charset="-122"/>
                          <a:ea typeface="宋体" pitchFamily="2" charset="-122"/>
                        </a:rPr>
                        <a:t>中断后，</a:t>
                      </a:r>
                      <a:r>
                        <a:rPr kumimoji="1" lang="en-US" altLang="zh-CN" sz="1600" b="0" i="0" u="none" strike="noStrike" cap="none" normalizeH="0" baseline="0">
                          <a:ln>
                            <a:noFill/>
                          </a:ln>
                          <a:solidFill>
                            <a:schemeClr val="tx1"/>
                          </a:solidFill>
                          <a:effectLst/>
                          <a:latin typeface="宋体" pitchFamily="2" charset="-122"/>
                          <a:ea typeface="宋体" pitchFamily="2" charset="-122"/>
                        </a:rPr>
                        <a:t>VIC</a:t>
                      </a:r>
                      <a:r>
                        <a:rPr kumimoji="1" lang="zh-CN" altLang="en-US" sz="1600" b="0" i="0" u="none" strike="noStrike" cap="none" normalizeH="0" baseline="0">
                          <a:ln>
                            <a:noFill/>
                          </a:ln>
                          <a:solidFill>
                            <a:schemeClr val="tx1"/>
                          </a:solidFill>
                          <a:effectLst/>
                          <a:latin typeface="宋体" pitchFamily="2" charset="-122"/>
                          <a:ea typeface="宋体" pitchFamily="2" charset="-122"/>
                        </a:rPr>
                        <a:t>将</a:t>
                      </a:r>
                      <a:r>
                        <a:rPr kumimoji="1" lang="zh-CN" altLang="en-US" sz="1600" b="0" i="0" u="none" strike="noStrike" cap="none" normalizeH="0" baseline="0">
                          <a:ln>
                            <a:noFill/>
                          </a:ln>
                          <a:solidFill>
                            <a:srgbClr val="FF0000"/>
                          </a:solidFill>
                          <a:effectLst/>
                          <a:latin typeface="宋体" pitchFamily="2" charset="-122"/>
                          <a:ea typeface="宋体" pitchFamily="2" charset="-122"/>
                        </a:rPr>
                        <a:t>默认向量地址寄存器</a:t>
                      </a:r>
                      <a:r>
                        <a:rPr kumimoji="1" lang="zh-CN" altLang="en-US" sz="1600" b="0" i="0" u="none" strike="noStrike" cap="none" normalizeH="0" baseline="0">
                          <a:ln>
                            <a:noFill/>
                          </a:ln>
                          <a:solidFill>
                            <a:schemeClr val="tx1"/>
                          </a:solidFill>
                          <a:effectLst/>
                          <a:latin typeface="宋体" pitchFamily="2" charset="-122"/>
                          <a:ea typeface="宋体" pitchFamily="2" charset="-122"/>
                        </a:rPr>
                        <a:t>中的数据存入</a:t>
                      </a:r>
                      <a:r>
                        <a:rPr kumimoji="1" lang="en-US" altLang="zh-CN" sz="1600" b="0" i="0" u="none" strike="noStrike" cap="none" normalizeH="0" baseline="0">
                          <a:ln>
                            <a:noFill/>
                          </a:ln>
                          <a:solidFill>
                            <a:schemeClr val="tx1"/>
                          </a:solidFill>
                          <a:effectLst/>
                          <a:latin typeface="宋体" pitchFamily="2" charset="-122"/>
                          <a:ea typeface="宋体" pitchFamily="2" charset="-122"/>
                        </a:rPr>
                        <a:t>VICVectAddr</a:t>
                      </a:r>
                      <a:r>
                        <a:rPr kumimoji="1" lang="zh-CN" altLang="en-US" sz="1600" b="0" i="0" u="none" strike="noStrike" cap="none" normalizeH="0" baseline="0">
                          <a:ln>
                            <a:noFill/>
                          </a:ln>
                          <a:solidFill>
                            <a:schemeClr val="tx1"/>
                          </a:solidFill>
                          <a:effectLst/>
                          <a:latin typeface="宋体" pitchFamily="2" charset="-122"/>
                          <a:ea typeface="宋体" pitchFamily="2" charset="-122"/>
                        </a:rPr>
                        <a:t>寄存器中</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70690">
                                            <p:txEl>
                                              <p:pRg st="0" end="0"/>
                                            </p:txEl>
                                          </p:spTgt>
                                        </p:tgtEl>
                                        <p:attrNameLst>
                                          <p:attrName>style.visibility</p:attrName>
                                        </p:attrNameLst>
                                      </p:cBhvr>
                                      <p:to>
                                        <p:strVal val="visible"/>
                                      </p:to>
                                    </p:set>
                                    <p:anim calcmode="lin" valueType="num">
                                      <p:cBhvr additive="base">
                                        <p:cTn id="7" dur="500" fill="hold"/>
                                        <p:tgtEl>
                                          <p:spTgt spid="37069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70690">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370732"/>
                                        </p:tgtEl>
                                        <p:attrNameLst>
                                          <p:attrName>style.visibility</p:attrName>
                                        </p:attrNameLst>
                                      </p:cBhvr>
                                      <p:to>
                                        <p:strVal val="visible"/>
                                      </p:to>
                                    </p:set>
                                    <p:animEffect transition="in" filter="slide(fromTop)">
                                      <p:cBhvr>
                                        <p:cTn id="12" dur="500"/>
                                        <p:tgtEl>
                                          <p:spTgt spid="370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0"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1873" name="Group 161"/>
          <p:cNvGrpSpPr>
            <a:grpSpLocks/>
          </p:cNvGrpSpPr>
          <p:nvPr/>
        </p:nvGrpSpPr>
        <p:grpSpPr bwMode="auto">
          <a:xfrm>
            <a:off x="2352675" y="1341438"/>
            <a:ext cx="7488238" cy="1968500"/>
            <a:chOff x="385" y="436"/>
            <a:chExt cx="4717" cy="1240"/>
          </a:xfrm>
        </p:grpSpPr>
        <p:sp>
          <p:nvSpPr>
            <p:cNvPr id="371874" name="Rectangle 162"/>
            <p:cNvSpPr>
              <a:spLocks noChangeArrowheads="1"/>
            </p:cNvSpPr>
            <p:nvPr/>
          </p:nvSpPr>
          <p:spPr bwMode="auto">
            <a:xfrm>
              <a:off x="385" y="1404"/>
              <a:ext cx="907" cy="272"/>
            </a:xfrm>
            <a:prstGeom prst="rect">
              <a:avLst/>
            </a:prstGeom>
            <a:solidFill>
              <a:srgbClr val="CCFFFF"/>
            </a:solidFill>
            <a:ln w="9525" algn="ctr">
              <a:solidFill>
                <a:schemeClr val="tx1"/>
              </a:solidFill>
              <a:miter lim="800000"/>
              <a:headEnd/>
              <a:tailEnd/>
            </a:ln>
            <a:effectLst/>
          </p:spPr>
          <p:txBody>
            <a:bodyPr wrap="none" anchor="ctr"/>
            <a:lstStyle/>
            <a:p>
              <a:r>
                <a:rPr lang="en-US" altLang="zh-CN" sz="1200">
                  <a:latin typeface="Arial" charset="0"/>
                </a:rPr>
                <a:t>IRQ</a:t>
              </a:r>
              <a:r>
                <a:rPr lang="zh-CN" altLang="en-US" sz="1200">
                  <a:latin typeface="Arial" charset="0"/>
                </a:rPr>
                <a:t>中断状态寄存器</a:t>
              </a:r>
            </a:p>
            <a:p>
              <a:r>
                <a:rPr lang="en-US" altLang="zh-CN" sz="1200">
                  <a:latin typeface="Arial" charset="0"/>
                </a:rPr>
                <a:t>VICIRQStatus</a:t>
              </a:r>
            </a:p>
          </p:txBody>
        </p:sp>
        <p:sp>
          <p:nvSpPr>
            <p:cNvPr id="371875" name="Rectangle 163"/>
            <p:cNvSpPr>
              <a:spLocks noChangeArrowheads="1"/>
            </p:cNvSpPr>
            <p:nvPr/>
          </p:nvSpPr>
          <p:spPr bwMode="auto">
            <a:xfrm>
              <a:off x="3606" y="678"/>
              <a:ext cx="544" cy="408"/>
            </a:xfrm>
            <a:prstGeom prst="rect">
              <a:avLst/>
            </a:prstGeom>
            <a:solidFill>
              <a:srgbClr val="CCFFCC"/>
            </a:solidFill>
            <a:ln w="9525">
              <a:solidFill>
                <a:schemeClr val="tx1"/>
              </a:solidFill>
              <a:miter lim="800000"/>
              <a:headEnd/>
              <a:tailEnd/>
            </a:ln>
            <a:effectLst/>
          </p:spPr>
          <p:txBody>
            <a:bodyPr wrap="none" anchor="ctr"/>
            <a:lstStyle/>
            <a:p>
              <a:endParaRPr lang="zh-CN" altLang="en-US"/>
            </a:p>
          </p:txBody>
        </p:sp>
        <p:sp>
          <p:nvSpPr>
            <p:cNvPr id="371876" name="Rectangle 164"/>
            <p:cNvSpPr>
              <a:spLocks noChangeArrowheads="1"/>
            </p:cNvSpPr>
            <p:nvPr/>
          </p:nvSpPr>
          <p:spPr bwMode="auto">
            <a:xfrm>
              <a:off x="3515" y="1087"/>
              <a:ext cx="725" cy="272"/>
            </a:xfrm>
            <a:prstGeom prst="rect">
              <a:avLst/>
            </a:prstGeom>
            <a:solidFill>
              <a:srgbClr val="CCFFFF"/>
            </a:solidFill>
            <a:ln w="9525">
              <a:solidFill>
                <a:schemeClr val="tx1"/>
              </a:solidFill>
              <a:miter lim="800000"/>
              <a:headEnd/>
              <a:tailEnd/>
            </a:ln>
            <a:effectLst/>
          </p:spPr>
          <p:txBody>
            <a:bodyPr wrap="none" anchor="ctr"/>
            <a:lstStyle/>
            <a:p>
              <a:r>
                <a:rPr lang="zh-CN" altLang="en-US" sz="1200">
                  <a:latin typeface="宋体" pitchFamily="2" charset="-122"/>
                </a:rPr>
                <a:t>中断选择寄存器</a:t>
              </a:r>
            </a:p>
            <a:p>
              <a:r>
                <a:rPr lang="en-US" altLang="zh-CN" sz="1200">
                  <a:latin typeface="宋体" pitchFamily="2" charset="-122"/>
                </a:rPr>
                <a:t>VICIntSelect</a:t>
              </a:r>
            </a:p>
          </p:txBody>
        </p:sp>
        <p:sp>
          <p:nvSpPr>
            <p:cNvPr id="371877" name="Rectangle 165"/>
            <p:cNvSpPr>
              <a:spLocks noChangeArrowheads="1"/>
            </p:cNvSpPr>
            <p:nvPr/>
          </p:nvSpPr>
          <p:spPr bwMode="auto">
            <a:xfrm>
              <a:off x="2790" y="814"/>
              <a:ext cx="453" cy="272"/>
            </a:xfrm>
            <a:prstGeom prst="rect">
              <a:avLst/>
            </a:prstGeom>
            <a:solidFill>
              <a:srgbClr val="CCFFCC"/>
            </a:solidFill>
            <a:ln w="9525" algn="ctr">
              <a:solidFill>
                <a:schemeClr val="tx1"/>
              </a:solidFill>
              <a:miter lim="800000"/>
              <a:headEnd/>
              <a:tailEnd/>
            </a:ln>
            <a:effectLst/>
          </p:spPr>
          <p:txBody>
            <a:bodyPr wrap="none" anchor="ctr"/>
            <a:lstStyle/>
            <a:p>
              <a:endParaRPr lang="zh-CN" altLang="en-US"/>
            </a:p>
          </p:txBody>
        </p:sp>
        <p:sp>
          <p:nvSpPr>
            <p:cNvPr id="371878" name="Rectangle 166"/>
            <p:cNvSpPr>
              <a:spLocks noChangeArrowheads="1"/>
            </p:cNvSpPr>
            <p:nvPr/>
          </p:nvSpPr>
          <p:spPr bwMode="auto">
            <a:xfrm>
              <a:off x="2563" y="1087"/>
              <a:ext cx="907" cy="272"/>
            </a:xfrm>
            <a:prstGeom prst="rect">
              <a:avLst/>
            </a:prstGeom>
            <a:solidFill>
              <a:srgbClr val="CCFFFF"/>
            </a:solidFill>
            <a:ln w="9525">
              <a:solidFill>
                <a:schemeClr val="tx1"/>
              </a:solidFill>
              <a:miter lim="800000"/>
              <a:headEnd/>
              <a:tailEnd/>
            </a:ln>
            <a:effectLst/>
          </p:spPr>
          <p:txBody>
            <a:bodyPr wrap="none" anchor="ctr"/>
            <a:lstStyle/>
            <a:p>
              <a:r>
                <a:rPr lang="zh-CN" altLang="en-US" sz="1200">
                  <a:latin typeface="Arial" charset="0"/>
                </a:rPr>
                <a:t>中断使能寄存器</a:t>
              </a:r>
            </a:p>
            <a:p>
              <a:r>
                <a:rPr lang="en-US" altLang="zh-CN" sz="1200">
                  <a:latin typeface="Arial" charset="0"/>
                </a:rPr>
                <a:t>VICIntEnable</a:t>
              </a:r>
            </a:p>
          </p:txBody>
        </p:sp>
        <p:sp>
          <p:nvSpPr>
            <p:cNvPr id="371879" name="Rectangle 167"/>
            <p:cNvSpPr>
              <a:spLocks noChangeArrowheads="1"/>
            </p:cNvSpPr>
            <p:nvPr/>
          </p:nvSpPr>
          <p:spPr bwMode="auto">
            <a:xfrm>
              <a:off x="2563" y="542"/>
              <a:ext cx="907" cy="272"/>
            </a:xfrm>
            <a:prstGeom prst="rect">
              <a:avLst/>
            </a:prstGeom>
            <a:solidFill>
              <a:srgbClr val="CCFFFF"/>
            </a:solidFill>
            <a:ln w="9525" algn="ctr">
              <a:solidFill>
                <a:schemeClr val="tx1"/>
              </a:solidFill>
              <a:miter lim="800000"/>
              <a:headEnd/>
              <a:tailEnd/>
            </a:ln>
            <a:effectLst/>
          </p:spPr>
          <p:txBody>
            <a:bodyPr wrap="none" anchor="ctr"/>
            <a:lstStyle/>
            <a:p>
              <a:r>
                <a:rPr lang="zh-CN" altLang="en-US" sz="1200">
                  <a:latin typeface="Arial" charset="0"/>
                </a:rPr>
                <a:t>中断使能清零寄存器</a:t>
              </a:r>
            </a:p>
            <a:p>
              <a:r>
                <a:rPr lang="en-US" altLang="zh-CN" sz="1200">
                  <a:latin typeface="Arial" charset="0"/>
                </a:rPr>
                <a:t>VICIntEnClr</a:t>
              </a:r>
            </a:p>
          </p:txBody>
        </p:sp>
        <p:sp>
          <p:nvSpPr>
            <p:cNvPr id="371880" name="Rectangle 168"/>
            <p:cNvSpPr>
              <a:spLocks noChangeArrowheads="1"/>
            </p:cNvSpPr>
            <p:nvPr/>
          </p:nvSpPr>
          <p:spPr bwMode="auto">
            <a:xfrm>
              <a:off x="1429" y="587"/>
              <a:ext cx="272" cy="725"/>
            </a:xfrm>
            <a:prstGeom prst="rect">
              <a:avLst/>
            </a:prstGeom>
            <a:solidFill>
              <a:srgbClr val="CCFFCC"/>
            </a:solidFill>
            <a:ln w="9525" algn="ctr">
              <a:solidFill>
                <a:schemeClr val="tx1"/>
              </a:solidFill>
              <a:miter lim="800000"/>
              <a:headEnd/>
              <a:tailEnd/>
            </a:ln>
            <a:effectLst/>
          </p:spPr>
          <p:txBody>
            <a:bodyPr wrap="none" anchor="ctr"/>
            <a:lstStyle/>
            <a:p>
              <a:endParaRPr lang="zh-CN" altLang="en-US"/>
            </a:p>
          </p:txBody>
        </p:sp>
        <p:sp>
          <p:nvSpPr>
            <p:cNvPr id="371881" name="Rectangle 169"/>
            <p:cNvSpPr>
              <a:spLocks noChangeArrowheads="1"/>
            </p:cNvSpPr>
            <p:nvPr/>
          </p:nvSpPr>
          <p:spPr bwMode="auto">
            <a:xfrm>
              <a:off x="385" y="1041"/>
              <a:ext cx="907" cy="272"/>
            </a:xfrm>
            <a:prstGeom prst="rect">
              <a:avLst/>
            </a:prstGeom>
            <a:solidFill>
              <a:srgbClr val="CCFFCC"/>
            </a:solidFill>
            <a:ln w="9525" algn="ctr">
              <a:solidFill>
                <a:schemeClr val="tx1"/>
              </a:solidFill>
              <a:miter lim="800000"/>
              <a:headEnd/>
              <a:tailEnd/>
            </a:ln>
            <a:effectLst/>
          </p:spPr>
          <p:txBody>
            <a:bodyPr wrap="none" anchor="ctr"/>
            <a:lstStyle/>
            <a:p>
              <a:r>
                <a:rPr lang="zh-CN" altLang="en-US" sz="1200">
                  <a:latin typeface="Times New Roman" pitchFamily="18" charset="0"/>
                  <a:ea typeface="楷体_GB2312" pitchFamily="49" charset="-122"/>
                </a:rPr>
                <a:t>中断源</a:t>
              </a:r>
            </a:p>
            <a:p>
              <a:r>
                <a:rPr lang="en-US" altLang="zh-CN" sz="1200">
                  <a:latin typeface="Times New Roman" pitchFamily="18" charset="0"/>
                  <a:ea typeface="楷体_GB2312" pitchFamily="49" charset="-122"/>
                </a:rPr>
                <a:t>[31:0]</a:t>
              </a:r>
            </a:p>
          </p:txBody>
        </p:sp>
        <p:sp>
          <p:nvSpPr>
            <p:cNvPr id="371882" name="Rectangle 170"/>
            <p:cNvSpPr>
              <a:spLocks noChangeArrowheads="1"/>
            </p:cNvSpPr>
            <p:nvPr/>
          </p:nvSpPr>
          <p:spPr bwMode="auto">
            <a:xfrm>
              <a:off x="385" y="436"/>
              <a:ext cx="907" cy="272"/>
            </a:xfrm>
            <a:prstGeom prst="rect">
              <a:avLst/>
            </a:prstGeom>
            <a:solidFill>
              <a:srgbClr val="CCFFFF"/>
            </a:solidFill>
            <a:ln w="9525" algn="ctr">
              <a:solidFill>
                <a:schemeClr val="tx1"/>
              </a:solidFill>
              <a:miter lim="800000"/>
              <a:headEnd/>
              <a:tailEnd/>
            </a:ln>
            <a:effectLst/>
          </p:spPr>
          <p:txBody>
            <a:bodyPr wrap="none" anchor="ctr"/>
            <a:lstStyle/>
            <a:p>
              <a:r>
                <a:rPr lang="zh-CN" altLang="en-US" sz="1200">
                  <a:latin typeface="Arial" charset="0"/>
                </a:rPr>
                <a:t>软件中断使能寄存器</a:t>
              </a:r>
            </a:p>
            <a:p>
              <a:r>
                <a:rPr lang="en-US" altLang="zh-CN" sz="1200">
                  <a:latin typeface="Arial" charset="0"/>
                </a:rPr>
                <a:t>VICSoftInt</a:t>
              </a:r>
            </a:p>
          </p:txBody>
        </p:sp>
        <p:sp>
          <p:nvSpPr>
            <p:cNvPr id="371883" name="Rectangle 171"/>
            <p:cNvSpPr>
              <a:spLocks noChangeArrowheads="1"/>
            </p:cNvSpPr>
            <p:nvPr/>
          </p:nvSpPr>
          <p:spPr bwMode="auto">
            <a:xfrm>
              <a:off x="385" y="724"/>
              <a:ext cx="907" cy="272"/>
            </a:xfrm>
            <a:prstGeom prst="rect">
              <a:avLst/>
            </a:prstGeom>
            <a:solidFill>
              <a:srgbClr val="CCFFFF"/>
            </a:solidFill>
            <a:ln w="9525" algn="ctr">
              <a:solidFill>
                <a:schemeClr val="tx1"/>
              </a:solidFill>
              <a:miter lim="800000"/>
              <a:headEnd/>
              <a:tailEnd/>
            </a:ln>
            <a:effectLst/>
          </p:spPr>
          <p:txBody>
            <a:bodyPr wrap="none" anchor="ctr"/>
            <a:lstStyle/>
            <a:p>
              <a:r>
                <a:rPr lang="zh-CN" altLang="en-US" sz="1200">
                  <a:latin typeface="Arial" charset="0"/>
                </a:rPr>
                <a:t>软件中断清零寄存器</a:t>
              </a:r>
            </a:p>
            <a:p>
              <a:r>
                <a:rPr lang="en-US" altLang="zh-CN" sz="1200">
                  <a:latin typeface="Arial" charset="0"/>
                </a:rPr>
                <a:t>VICSoftIntClear</a:t>
              </a:r>
            </a:p>
          </p:txBody>
        </p:sp>
        <p:sp>
          <p:nvSpPr>
            <p:cNvPr id="371884" name="Line 172"/>
            <p:cNvSpPr>
              <a:spLocks noChangeShapeType="1"/>
            </p:cNvSpPr>
            <p:nvPr/>
          </p:nvSpPr>
          <p:spPr bwMode="auto">
            <a:xfrm>
              <a:off x="1655" y="950"/>
              <a:ext cx="136" cy="0"/>
            </a:xfrm>
            <a:prstGeom prst="line">
              <a:avLst/>
            </a:prstGeom>
            <a:noFill/>
            <a:ln w="9525">
              <a:solidFill>
                <a:schemeClr val="tx1"/>
              </a:solidFill>
              <a:round/>
              <a:headEnd/>
              <a:tailEnd type="triangle" w="med" len="med"/>
            </a:ln>
            <a:effectLst/>
          </p:spPr>
          <p:txBody>
            <a:bodyPr/>
            <a:lstStyle/>
            <a:p>
              <a:endParaRPr lang="zh-CN" altLang="en-US"/>
            </a:p>
          </p:txBody>
        </p:sp>
        <p:cxnSp>
          <p:nvCxnSpPr>
            <p:cNvPr id="371885" name="AutoShape 173"/>
            <p:cNvCxnSpPr>
              <a:cxnSpLocks noChangeShapeType="1"/>
              <a:stCxn id="371882" idx="3"/>
              <a:endCxn id="371883" idx="3"/>
            </p:cNvCxnSpPr>
            <p:nvPr/>
          </p:nvCxnSpPr>
          <p:spPr bwMode="auto">
            <a:xfrm>
              <a:off x="1292" y="572"/>
              <a:ext cx="1" cy="288"/>
            </a:xfrm>
            <a:prstGeom prst="bentConnector3">
              <a:avLst>
                <a:gd name="adj1" fmla="val 6700000"/>
              </a:avLst>
            </a:prstGeom>
            <a:noFill/>
            <a:ln w="9525">
              <a:solidFill>
                <a:schemeClr val="tx1"/>
              </a:solidFill>
              <a:miter lim="800000"/>
              <a:headEnd/>
              <a:tailEnd/>
            </a:ln>
            <a:effectLst/>
          </p:spPr>
        </p:cxnSp>
        <p:sp>
          <p:nvSpPr>
            <p:cNvPr id="371886" name="Line 174"/>
            <p:cNvSpPr>
              <a:spLocks noChangeShapeType="1"/>
            </p:cNvSpPr>
            <p:nvPr/>
          </p:nvSpPr>
          <p:spPr bwMode="auto">
            <a:xfrm>
              <a:off x="1352" y="724"/>
              <a:ext cx="122" cy="0"/>
            </a:xfrm>
            <a:prstGeom prst="line">
              <a:avLst/>
            </a:prstGeom>
            <a:noFill/>
            <a:ln w="9525">
              <a:solidFill>
                <a:schemeClr val="tx1"/>
              </a:solidFill>
              <a:round/>
              <a:headEnd/>
              <a:tailEnd/>
            </a:ln>
            <a:effectLst/>
          </p:spPr>
          <p:txBody>
            <a:bodyPr/>
            <a:lstStyle/>
            <a:p>
              <a:endParaRPr lang="zh-CN" altLang="en-US"/>
            </a:p>
          </p:txBody>
        </p:sp>
        <p:sp>
          <p:nvSpPr>
            <p:cNvPr id="371887" name="Line 175"/>
            <p:cNvSpPr>
              <a:spLocks noChangeShapeType="1"/>
            </p:cNvSpPr>
            <p:nvPr/>
          </p:nvSpPr>
          <p:spPr bwMode="auto">
            <a:xfrm>
              <a:off x="2517" y="950"/>
              <a:ext cx="408" cy="0"/>
            </a:xfrm>
            <a:prstGeom prst="line">
              <a:avLst/>
            </a:prstGeom>
            <a:noFill/>
            <a:ln w="9525">
              <a:solidFill>
                <a:schemeClr val="tx1"/>
              </a:solidFill>
              <a:round/>
              <a:headEnd/>
              <a:tailEnd/>
            </a:ln>
            <a:effectLst/>
          </p:spPr>
          <p:txBody>
            <a:bodyPr/>
            <a:lstStyle/>
            <a:p>
              <a:endParaRPr lang="zh-CN" altLang="en-US"/>
            </a:p>
          </p:txBody>
        </p:sp>
        <p:sp>
          <p:nvSpPr>
            <p:cNvPr id="371888" name="Line 176"/>
            <p:cNvSpPr>
              <a:spLocks noChangeShapeType="1"/>
            </p:cNvSpPr>
            <p:nvPr/>
          </p:nvSpPr>
          <p:spPr bwMode="auto">
            <a:xfrm flipV="1">
              <a:off x="1610" y="724"/>
              <a:ext cx="45" cy="0"/>
            </a:xfrm>
            <a:prstGeom prst="line">
              <a:avLst/>
            </a:prstGeom>
            <a:noFill/>
            <a:ln w="9525">
              <a:solidFill>
                <a:schemeClr val="tx1"/>
              </a:solidFill>
              <a:round/>
              <a:headEnd type="oval" w="med" len="med"/>
              <a:tailEnd/>
            </a:ln>
            <a:effectLst/>
          </p:spPr>
          <p:txBody>
            <a:bodyPr/>
            <a:lstStyle/>
            <a:p>
              <a:endParaRPr lang="zh-CN" altLang="en-US"/>
            </a:p>
          </p:txBody>
        </p:sp>
        <p:sp>
          <p:nvSpPr>
            <p:cNvPr id="371889" name="Line 177"/>
            <p:cNvSpPr>
              <a:spLocks noChangeShapeType="1"/>
            </p:cNvSpPr>
            <p:nvPr/>
          </p:nvSpPr>
          <p:spPr bwMode="auto">
            <a:xfrm flipH="1">
              <a:off x="1655" y="727"/>
              <a:ext cx="0" cy="450"/>
            </a:xfrm>
            <a:prstGeom prst="line">
              <a:avLst/>
            </a:prstGeom>
            <a:noFill/>
            <a:ln w="9525">
              <a:solidFill>
                <a:schemeClr val="tx1"/>
              </a:solidFill>
              <a:round/>
              <a:headEnd/>
              <a:tailEnd/>
            </a:ln>
            <a:effectLst/>
          </p:spPr>
          <p:txBody>
            <a:bodyPr/>
            <a:lstStyle/>
            <a:p>
              <a:endParaRPr lang="zh-CN" altLang="en-US"/>
            </a:p>
          </p:txBody>
        </p:sp>
        <p:sp>
          <p:nvSpPr>
            <p:cNvPr id="371890" name="Line 178"/>
            <p:cNvSpPr>
              <a:spLocks noChangeShapeType="1"/>
            </p:cNvSpPr>
            <p:nvPr/>
          </p:nvSpPr>
          <p:spPr bwMode="auto">
            <a:xfrm flipV="1">
              <a:off x="1610" y="1177"/>
              <a:ext cx="45" cy="0"/>
            </a:xfrm>
            <a:prstGeom prst="line">
              <a:avLst/>
            </a:prstGeom>
            <a:noFill/>
            <a:ln w="9525">
              <a:solidFill>
                <a:schemeClr val="tx1"/>
              </a:solidFill>
              <a:round/>
              <a:headEnd type="oval" w="med" len="med"/>
              <a:tailEnd/>
            </a:ln>
            <a:effectLst/>
          </p:spPr>
          <p:txBody>
            <a:bodyPr/>
            <a:lstStyle/>
            <a:p>
              <a:endParaRPr lang="zh-CN" altLang="en-US"/>
            </a:p>
          </p:txBody>
        </p:sp>
        <p:sp>
          <p:nvSpPr>
            <p:cNvPr id="371891" name="Line 179"/>
            <p:cNvSpPr>
              <a:spLocks noChangeShapeType="1"/>
            </p:cNvSpPr>
            <p:nvPr/>
          </p:nvSpPr>
          <p:spPr bwMode="auto">
            <a:xfrm flipV="1">
              <a:off x="1466" y="633"/>
              <a:ext cx="144" cy="91"/>
            </a:xfrm>
            <a:prstGeom prst="line">
              <a:avLst/>
            </a:prstGeom>
            <a:noFill/>
            <a:ln w="9525">
              <a:solidFill>
                <a:schemeClr val="tx1"/>
              </a:solidFill>
              <a:round/>
              <a:headEnd/>
              <a:tailEnd/>
            </a:ln>
            <a:effectLst/>
          </p:spPr>
          <p:txBody>
            <a:bodyPr/>
            <a:lstStyle/>
            <a:p>
              <a:endParaRPr lang="zh-CN" altLang="en-US"/>
            </a:p>
          </p:txBody>
        </p:sp>
        <p:sp>
          <p:nvSpPr>
            <p:cNvPr id="371892" name="Line 180"/>
            <p:cNvSpPr>
              <a:spLocks noChangeShapeType="1"/>
            </p:cNvSpPr>
            <p:nvPr/>
          </p:nvSpPr>
          <p:spPr bwMode="auto">
            <a:xfrm flipV="1">
              <a:off x="1466" y="1086"/>
              <a:ext cx="144" cy="91"/>
            </a:xfrm>
            <a:prstGeom prst="line">
              <a:avLst/>
            </a:prstGeom>
            <a:noFill/>
            <a:ln w="9525">
              <a:solidFill>
                <a:schemeClr val="tx1"/>
              </a:solidFill>
              <a:round/>
              <a:headEnd/>
              <a:tailEnd/>
            </a:ln>
            <a:effectLst/>
          </p:spPr>
          <p:txBody>
            <a:bodyPr/>
            <a:lstStyle/>
            <a:p>
              <a:endParaRPr lang="zh-CN" altLang="en-US"/>
            </a:p>
          </p:txBody>
        </p:sp>
        <p:sp>
          <p:nvSpPr>
            <p:cNvPr id="371893" name="Line 181"/>
            <p:cNvSpPr>
              <a:spLocks noChangeShapeType="1"/>
            </p:cNvSpPr>
            <p:nvPr/>
          </p:nvSpPr>
          <p:spPr bwMode="auto">
            <a:xfrm flipV="1">
              <a:off x="2925" y="874"/>
              <a:ext cx="164" cy="76"/>
            </a:xfrm>
            <a:prstGeom prst="line">
              <a:avLst/>
            </a:prstGeom>
            <a:noFill/>
            <a:ln w="9525">
              <a:solidFill>
                <a:schemeClr val="tx1"/>
              </a:solidFill>
              <a:round/>
              <a:headEnd/>
              <a:tailEnd/>
            </a:ln>
            <a:effectLst/>
          </p:spPr>
          <p:txBody>
            <a:bodyPr/>
            <a:lstStyle/>
            <a:p>
              <a:endParaRPr lang="zh-CN" altLang="en-US"/>
            </a:p>
          </p:txBody>
        </p:sp>
        <p:sp>
          <p:nvSpPr>
            <p:cNvPr id="371894" name="Line 182"/>
            <p:cNvSpPr>
              <a:spLocks noChangeShapeType="1"/>
            </p:cNvSpPr>
            <p:nvPr/>
          </p:nvSpPr>
          <p:spPr bwMode="auto">
            <a:xfrm>
              <a:off x="3969" y="814"/>
              <a:ext cx="267" cy="0"/>
            </a:xfrm>
            <a:prstGeom prst="line">
              <a:avLst/>
            </a:prstGeom>
            <a:noFill/>
            <a:ln w="9525">
              <a:solidFill>
                <a:schemeClr val="tx1"/>
              </a:solidFill>
              <a:round/>
              <a:headEnd type="oval" w="med" len="med"/>
              <a:tailEnd type="triangle" w="med" len="med"/>
            </a:ln>
            <a:effectLst/>
          </p:spPr>
          <p:txBody>
            <a:bodyPr/>
            <a:lstStyle/>
            <a:p>
              <a:endParaRPr lang="zh-CN" altLang="en-US"/>
            </a:p>
          </p:txBody>
        </p:sp>
        <p:sp>
          <p:nvSpPr>
            <p:cNvPr id="371895" name="Line 183"/>
            <p:cNvSpPr>
              <a:spLocks noChangeShapeType="1"/>
            </p:cNvSpPr>
            <p:nvPr/>
          </p:nvSpPr>
          <p:spPr bwMode="auto">
            <a:xfrm flipV="1">
              <a:off x="3696" y="769"/>
              <a:ext cx="227" cy="181"/>
            </a:xfrm>
            <a:prstGeom prst="line">
              <a:avLst/>
            </a:prstGeom>
            <a:noFill/>
            <a:ln w="9525">
              <a:solidFill>
                <a:schemeClr val="tx1"/>
              </a:solidFill>
              <a:round/>
              <a:headEnd/>
              <a:tailEnd/>
            </a:ln>
            <a:effectLst/>
          </p:spPr>
          <p:txBody>
            <a:bodyPr/>
            <a:lstStyle/>
            <a:p>
              <a:endParaRPr lang="zh-CN" altLang="en-US"/>
            </a:p>
          </p:txBody>
        </p:sp>
        <p:sp>
          <p:nvSpPr>
            <p:cNvPr id="371896" name="Line 184"/>
            <p:cNvSpPr>
              <a:spLocks noChangeShapeType="1"/>
            </p:cNvSpPr>
            <p:nvPr/>
          </p:nvSpPr>
          <p:spPr bwMode="auto">
            <a:xfrm flipV="1">
              <a:off x="3969" y="996"/>
              <a:ext cx="363" cy="0"/>
            </a:xfrm>
            <a:prstGeom prst="line">
              <a:avLst/>
            </a:prstGeom>
            <a:noFill/>
            <a:ln w="9525">
              <a:solidFill>
                <a:schemeClr val="tx1"/>
              </a:solidFill>
              <a:round/>
              <a:headEnd type="oval" w="med" len="med"/>
              <a:tailEnd type="triangle" w="med" len="med"/>
            </a:ln>
            <a:effectLst/>
          </p:spPr>
          <p:txBody>
            <a:bodyPr/>
            <a:lstStyle/>
            <a:p>
              <a:endParaRPr lang="zh-CN" altLang="en-US"/>
            </a:p>
          </p:txBody>
        </p:sp>
        <p:sp>
          <p:nvSpPr>
            <p:cNvPr id="371897" name="Rectangle 185"/>
            <p:cNvSpPr>
              <a:spLocks noChangeArrowheads="1"/>
            </p:cNvSpPr>
            <p:nvPr/>
          </p:nvSpPr>
          <p:spPr bwMode="auto">
            <a:xfrm>
              <a:off x="4241" y="678"/>
              <a:ext cx="861" cy="272"/>
            </a:xfrm>
            <a:prstGeom prst="rect">
              <a:avLst/>
            </a:prstGeom>
            <a:solidFill>
              <a:srgbClr val="CCFFFF"/>
            </a:solidFill>
            <a:ln w="9525">
              <a:solidFill>
                <a:schemeClr val="tx1"/>
              </a:solidFill>
              <a:miter lim="800000"/>
              <a:headEnd/>
              <a:tailEnd/>
            </a:ln>
            <a:effectLst/>
          </p:spPr>
          <p:txBody>
            <a:bodyPr wrap="none" anchor="ctr"/>
            <a:lstStyle/>
            <a:p>
              <a:r>
                <a:rPr lang="en-US" altLang="zh-CN" sz="1200">
                  <a:latin typeface="Arial" charset="0"/>
                </a:rPr>
                <a:t>FIQ</a:t>
              </a:r>
              <a:r>
                <a:rPr lang="zh-CN" altLang="en-US" sz="1200">
                  <a:latin typeface="Arial" charset="0"/>
                </a:rPr>
                <a:t>中断状态寄存器</a:t>
              </a:r>
            </a:p>
            <a:p>
              <a:r>
                <a:rPr lang="en-US" altLang="zh-CN" sz="1200">
                  <a:latin typeface="Arial" charset="0"/>
                </a:rPr>
                <a:t>VICFIQStatus</a:t>
              </a:r>
            </a:p>
          </p:txBody>
        </p:sp>
        <p:sp>
          <p:nvSpPr>
            <p:cNvPr id="371898" name="Rectangle 186"/>
            <p:cNvSpPr>
              <a:spLocks noChangeArrowheads="1"/>
            </p:cNvSpPr>
            <p:nvPr/>
          </p:nvSpPr>
          <p:spPr bwMode="auto">
            <a:xfrm>
              <a:off x="1791" y="814"/>
              <a:ext cx="725" cy="272"/>
            </a:xfrm>
            <a:prstGeom prst="rect">
              <a:avLst/>
            </a:prstGeom>
            <a:solidFill>
              <a:srgbClr val="CCFFFF"/>
            </a:solidFill>
            <a:ln w="9525" algn="ctr">
              <a:solidFill>
                <a:schemeClr val="tx1"/>
              </a:solidFill>
              <a:miter lim="800000"/>
              <a:headEnd/>
              <a:tailEnd/>
            </a:ln>
            <a:effectLst/>
          </p:spPr>
          <p:txBody>
            <a:bodyPr wrap="none" anchor="ctr"/>
            <a:lstStyle/>
            <a:p>
              <a:r>
                <a:rPr lang="zh-CN" altLang="en-US" sz="1200">
                  <a:latin typeface="Arial" charset="0"/>
                </a:rPr>
                <a:t>中断状态寄存器</a:t>
              </a:r>
            </a:p>
            <a:p>
              <a:r>
                <a:rPr lang="en-US" altLang="zh-CN" sz="1200">
                  <a:latin typeface="Arial" charset="0"/>
                </a:rPr>
                <a:t>VICRawIntr</a:t>
              </a:r>
            </a:p>
          </p:txBody>
        </p:sp>
        <p:sp>
          <p:nvSpPr>
            <p:cNvPr id="371899" name="Line 187"/>
            <p:cNvSpPr>
              <a:spLocks noChangeShapeType="1"/>
            </p:cNvSpPr>
            <p:nvPr/>
          </p:nvSpPr>
          <p:spPr bwMode="auto">
            <a:xfrm flipV="1">
              <a:off x="1292" y="1177"/>
              <a:ext cx="181" cy="0"/>
            </a:xfrm>
            <a:prstGeom prst="line">
              <a:avLst/>
            </a:prstGeom>
            <a:noFill/>
            <a:ln w="9525">
              <a:solidFill>
                <a:schemeClr val="tx1"/>
              </a:solidFill>
              <a:round/>
              <a:headEnd/>
              <a:tailEnd/>
            </a:ln>
            <a:effectLst/>
          </p:spPr>
          <p:txBody>
            <a:bodyPr/>
            <a:lstStyle/>
            <a:p>
              <a:endParaRPr lang="zh-CN" altLang="en-US"/>
            </a:p>
          </p:txBody>
        </p:sp>
        <p:sp>
          <p:nvSpPr>
            <p:cNvPr id="371900" name="Text Box 188"/>
            <p:cNvSpPr txBox="1">
              <a:spLocks noChangeArrowheads="1"/>
            </p:cNvSpPr>
            <p:nvPr/>
          </p:nvSpPr>
          <p:spPr bwMode="auto">
            <a:xfrm>
              <a:off x="3918" y="786"/>
              <a:ext cx="367" cy="233"/>
            </a:xfrm>
            <a:prstGeom prst="rect">
              <a:avLst/>
            </a:prstGeom>
            <a:noFill/>
            <a:ln w="9525" algn="ctr">
              <a:noFill/>
              <a:miter lim="800000"/>
              <a:headEnd/>
              <a:tailEnd/>
            </a:ln>
            <a:effectLst/>
          </p:spPr>
          <p:txBody>
            <a:bodyPr wrap="none">
              <a:spAutoFit/>
            </a:bodyPr>
            <a:lstStyle/>
            <a:p>
              <a:r>
                <a:rPr lang="en-US" altLang="zh-CN" dirty="0">
                  <a:latin typeface="Times New Roman" pitchFamily="18" charset="0"/>
                  <a:ea typeface="楷体_GB2312" pitchFamily="49" charset="-122"/>
                </a:rPr>
                <a:t>IRQ</a:t>
              </a:r>
            </a:p>
          </p:txBody>
        </p:sp>
        <p:sp>
          <p:nvSpPr>
            <p:cNvPr id="371901" name="Text Box 189"/>
            <p:cNvSpPr txBox="1">
              <a:spLocks noChangeArrowheads="1"/>
            </p:cNvSpPr>
            <p:nvPr/>
          </p:nvSpPr>
          <p:spPr bwMode="auto">
            <a:xfrm>
              <a:off x="3922" y="591"/>
              <a:ext cx="367" cy="233"/>
            </a:xfrm>
            <a:prstGeom prst="rect">
              <a:avLst/>
            </a:prstGeom>
            <a:noFill/>
            <a:ln w="9525" algn="ctr">
              <a:noFill/>
              <a:miter lim="800000"/>
              <a:headEnd/>
              <a:tailEnd/>
            </a:ln>
            <a:effectLst/>
          </p:spPr>
          <p:txBody>
            <a:bodyPr wrap="square">
              <a:spAutoFit/>
            </a:bodyPr>
            <a:lstStyle/>
            <a:p>
              <a:r>
                <a:rPr lang="en-US" altLang="zh-CN" dirty="0">
                  <a:latin typeface="Times New Roman" pitchFamily="18" charset="0"/>
                  <a:ea typeface="楷体_GB2312" pitchFamily="49" charset="-122"/>
                </a:rPr>
                <a:t>FIQ</a:t>
              </a:r>
            </a:p>
          </p:txBody>
        </p:sp>
        <p:sp>
          <p:nvSpPr>
            <p:cNvPr id="371902" name="Line 190"/>
            <p:cNvSpPr>
              <a:spLocks noChangeShapeType="1"/>
            </p:cNvSpPr>
            <p:nvPr/>
          </p:nvSpPr>
          <p:spPr bwMode="auto">
            <a:xfrm flipV="1">
              <a:off x="3109" y="950"/>
              <a:ext cx="587" cy="0"/>
            </a:xfrm>
            <a:prstGeom prst="line">
              <a:avLst/>
            </a:prstGeom>
            <a:noFill/>
            <a:ln w="9525">
              <a:solidFill>
                <a:schemeClr val="tx1"/>
              </a:solidFill>
              <a:round/>
              <a:headEnd type="oval" w="med" len="med"/>
              <a:tailEnd/>
            </a:ln>
            <a:effectLst/>
          </p:spPr>
          <p:txBody>
            <a:bodyPr/>
            <a:lstStyle/>
            <a:p>
              <a:endParaRPr lang="zh-CN" altLang="en-US"/>
            </a:p>
          </p:txBody>
        </p:sp>
        <p:sp>
          <p:nvSpPr>
            <p:cNvPr id="371903" name="Line 191"/>
            <p:cNvSpPr>
              <a:spLocks noChangeShapeType="1"/>
            </p:cNvSpPr>
            <p:nvPr/>
          </p:nvSpPr>
          <p:spPr bwMode="auto">
            <a:xfrm>
              <a:off x="4332" y="996"/>
              <a:ext cx="0" cy="544"/>
            </a:xfrm>
            <a:prstGeom prst="line">
              <a:avLst/>
            </a:prstGeom>
            <a:noFill/>
            <a:ln w="13970">
              <a:solidFill>
                <a:schemeClr val="tx1"/>
              </a:solidFill>
              <a:round/>
              <a:headEnd/>
              <a:tailEnd/>
            </a:ln>
            <a:effectLst/>
          </p:spPr>
          <p:txBody>
            <a:bodyPr/>
            <a:lstStyle/>
            <a:p>
              <a:endParaRPr lang="zh-CN" altLang="en-US"/>
            </a:p>
          </p:txBody>
        </p:sp>
        <p:sp>
          <p:nvSpPr>
            <p:cNvPr id="371904" name="Line 192"/>
            <p:cNvSpPr>
              <a:spLocks noChangeShapeType="1"/>
            </p:cNvSpPr>
            <p:nvPr/>
          </p:nvSpPr>
          <p:spPr bwMode="auto">
            <a:xfrm flipH="1">
              <a:off x="1292" y="1540"/>
              <a:ext cx="3040" cy="0"/>
            </a:xfrm>
            <a:prstGeom prst="line">
              <a:avLst/>
            </a:prstGeom>
            <a:noFill/>
            <a:ln w="13970">
              <a:solidFill>
                <a:schemeClr val="tx1"/>
              </a:solidFill>
              <a:round/>
              <a:headEnd/>
              <a:tailEnd type="triangle" w="med" len="med"/>
            </a:ln>
            <a:effectLst/>
          </p:spPr>
          <p:txBody>
            <a:bodyPr wrap="none" anchor="ctr"/>
            <a:lstStyle/>
            <a:p>
              <a:endParaRPr lang="zh-CN" altLang="en-US"/>
            </a:p>
          </p:txBody>
        </p:sp>
      </p:grpSp>
      <p:sp>
        <p:nvSpPr>
          <p:cNvPr id="371756" name="Rectangle 44"/>
          <p:cNvSpPr>
            <a:spLocks noChangeArrowheads="1"/>
          </p:cNvSpPr>
          <p:nvPr/>
        </p:nvSpPr>
        <p:spPr bwMode="auto">
          <a:xfrm>
            <a:off x="2209800" y="6207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寄存器描述－状态寄存器</a:t>
            </a:r>
          </a:p>
        </p:txBody>
      </p:sp>
      <p:sp>
        <p:nvSpPr>
          <p:cNvPr id="371790" name="Oval 78"/>
          <p:cNvSpPr>
            <a:spLocks noChangeArrowheads="1"/>
          </p:cNvSpPr>
          <p:nvPr/>
        </p:nvSpPr>
        <p:spPr bwMode="auto">
          <a:xfrm>
            <a:off x="2063750" y="2781300"/>
            <a:ext cx="1944688" cy="609600"/>
          </a:xfrm>
          <a:prstGeom prst="ellipse">
            <a:avLst/>
          </a:prstGeom>
          <a:noFill/>
          <a:ln w="19050" algn="ctr">
            <a:solidFill>
              <a:srgbClr val="FF0000"/>
            </a:solidFill>
            <a:round/>
            <a:headEnd/>
            <a:tailEnd/>
          </a:ln>
          <a:effectLst/>
        </p:spPr>
        <p:txBody>
          <a:bodyPr wrap="none" anchor="ctr"/>
          <a:lstStyle/>
          <a:p>
            <a:endParaRPr lang="zh-CN" altLang="en-US"/>
          </a:p>
        </p:txBody>
      </p:sp>
      <p:sp>
        <p:nvSpPr>
          <p:cNvPr id="371794" name="Oval 82"/>
          <p:cNvSpPr>
            <a:spLocks noChangeArrowheads="1"/>
          </p:cNvSpPr>
          <p:nvPr/>
        </p:nvSpPr>
        <p:spPr bwMode="auto">
          <a:xfrm>
            <a:off x="4151314" y="1844675"/>
            <a:ext cx="1944687" cy="609600"/>
          </a:xfrm>
          <a:prstGeom prst="ellipse">
            <a:avLst/>
          </a:prstGeom>
          <a:noFill/>
          <a:ln w="19050" algn="ctr">
            <a:solidFill>
              <a:srgbClr val="FF0000"/>
            </a:solidFill>
            <a:round/>
            <a:headEnd/>
            <a:tailEnd/>
          </a:ln>
          <a:effectLst/>
        </p:spPr>
        <p:txBody>
          <a:bodyPr wrap="none" anchor="ctr"/>
          <a:lstStyle/>
          <a:p>
            <a:endParaRPr lang="zh-CN" altLang="en-US"/>
          </a:p>
        </p:txBody>
      </p:sp>
      <p:sp>
        <p:nvSpPr>
          <p:cNvPr id="371795" name="Oval 83"/>
          <p:cNvSpPr>
            <a:spLocks noChangeArrowheads="1"/>
          </p:cNvSpPr>
          <p:nvPr/>
        </p:nvSpPr>
        <p:spPr bwMode="auto">
          <a:xfrm>
            <a:off x="8183564" y="1628775"/>
            <a:ext cx="1944687" cy="609600"/>
          </a:xfrm>
          <a:prstGeom prst="ellipse">
            <a:avLst/>
          </a:prstGeom>
          <a:noFill/>
          <a:ln w="19050" algn="ctr">
            <a:solidFill>
              <a:srgbClr val="FF0000"/>
            </a:solidFill>
            <a:round/>
            <a:headEnd/>
            <a:tailEnd/>
          </a:ln>
          <a:effectLst/>
        </p:spPr>
        <p:txBody>
          <a:bodyPr wrap="none" anchor="ctr"/>
          <a:lstStyle/>
          <a:p>
            <a:endParaRPr lang="zh-CN" altLang="en-US"/>
          </a:p>
        </p:txBody>
      </p:sp>
      <p:graphicFrame>
        <p:nvGraphicFramePr>
          <p:cNvPr id="371906" name="Group 194"/>
          <p:cNvGraphicFramePr>
            <a:graphicFrameLocks noGrp="1"/>
          </p:cNvGraphicFramePr>
          <p:nvPr>
            <p:ph/>
            <p:extLst>
              <p:ext uri="{D42A27DB-BD31-4B8C-83A1-F6EECF244321}">
                <p14:modId xmlns:p14="http://schemas.microsoft.com/office/powerpoint/2010/main" val="347723199"/>
              </p:ext>
            </p:extLst>
          </p:nvPr>
        </p:nvGraphicFramePr>
        <p:xfrm>
          <a:off x="2208213" y="3500438"/>
          <a:ext cx="7772400" cy="2072640"/>
        </p:xfrm>
        <a:graphic>
          <a:graphicData uri="http://schemas.openxmlformats.org/drawingml/2006/table">
            <a:tbl>
              <a:tblPr/>
              <a:tblGrid>
                <a:gridCol w="1293812">
                  <a:extLst>
                    <a:ext uri="{9D8B030D-6E8A-4147-A177-3AD203B41FA5}">
                      <a16:colId xmlns:a16="http://schemas.microsoft.com/office/drawing/2014/main" val="20000"/>
                    </a:ext>
                  </a:extLst>
                </a:gridCol>
                <a:gridCol w="3811588">
                  <a:extLst>
                    <a:ext uri="{9D8B030D-6E8A-4147-A177-3AD203B41FA5}">
                      <a16:colId xmlns:a16="http://schemas.microsoft.com/office/drawing/2014/main" val="20001"/>
                    </a:ext>
                  </a:extLst>
                </a:gridCol>
                <a:gridCol w="584200">
                  <a:extLst>
                    <a:ext uri="{9D8B030D-6E8A-4147-A177-3AD203B41FA5}">
                      <a16:colId xmlns:a16="http://schemas.microsoft.com/office/drawing/2014/main" val="20002"/>
                    </a:ext>
                  </a:extLst>
                </a:gridCol>
                <a:gridCol w="895350">
                  <a:extLst>
                    <a:ext uri="{9D8B030D-6E8A-4147-A177-3AD203B41FA5}">
                      <a16:colId xmlns:a16="http://schemas.microsoft.com/office/drawing/2014/main" val="20003"/>
                    </a:ext>
                  </a:extLst>
                </a:gridCol>
                <a:gridCol w="1187450">
                  <a:extLst>
                    <a:ext uri="{9D8B030D-6E8A-4147-A177-3AD203B41FA5}">
                      <a16:colId xmlns:a16="http://schemas.microsoft.com/office/drawing/2014/main" val="20004"/>
                    </a:ext>
                  </a:extLst>
                </a:gridCol>
              </a:tblGrid>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266700" algn="r"/>
                          <a:tab pos="2636838" algn="ctr"/>
                          <a:tab pos="5273675" algn="r"/>
                        </a:tabLst>
                      </a:pPr>
                      <a:r>
                        <a:rPr kumimoji="0" lang="zh-CN" altLang="en-US" sz="1400" b="0" i="0" u="none" strike="noStrike" cap="none" normalizeH="0" baseline="0">
                          <a:ln>
                            <a:noFill/>
                          </a:ln>
                          <a:solidFill>
                            <a:srgbClr val="000000"/>
                          </a:solidFill>
                          <a:effectLst/>
                          <a:latin typeface="宋体" pitchFamily="2" charset="-122"/>
                          <a:ea typeface="宋体" pitchFamily="2" charset="-122"/>
                          <a:cs typeface="Arial" charset="0"/>
                        </a:rPr>
                        <a:t>名称</a:t>
                      </a:r>
                      <a:endParaRPr kumimoji="0" lang="zh-CN" altLang="en-US" sz="1400" b="0" i="0" u="none" strike="noStrike" cap="none" normalizeH="0" baseline="0">
                        <a:ln>
                          <a:noFill/>
                        </a:ln>
                        <a:solidFill>
                          <a:schemeClr val="tx1"/>
                        </a:solidFill>
                        <a:effectLst/>
                        <a:latin typeface="宋体" pitchFamily="2" charset="-122"/>
                        <a:ea typeface="宋体" pitchFamily="2" charset="-122"/>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266700" algn="r"/>
                          <a:tab pos="2636838" algn="ctr"/>
                          <a:tab pos="5273675" algn="r"/>
                        </a:tabLst>
                      </a:pPr>
                      <a:r>
                        <a:rPr kumimoji="0" lang="zh-CN" altLang="en-US" sz="1400" b="0" i="0" u="none" strike="noStrike" cap="none" normalizeH="0" baseline="0">
                          <a:ln>
                            <a:noFill/>
                          </a:ln>
                          <a:solidFill>
                            <a:srgbClr val="000000"/>
                          </a:solidFill>
                          <a:effectLst/>
                          <a:latin typeface="宋体" pitchFamily="2" charset="-122"/>
                          <a:ea typeface="宋体" pitchFamily="2" charset="-122"/>
                          <a:cs typeface="Arial" charset="0"/>
                        </a:rPr>
                        <a:t>描述</a:t>
                      </a:r>
                      <a:endParaRPr kumimoji="0" lang="zh-CN" altLang="en-US" sz="1400" b="0" i="0" u="none" strike="noStrike" cap="none" normalizeH="0" baseline="0">
                        <a:ln>
                          <a:noFill/>
                        </a:ln>
                        <a:solidFill>
                          <a:schemeClr val="tx1"/>
                        </a:solidFill>
                        <a:effectLst/>
                        <a:latin typeface="宋体" pitchFamily="2" charset="-122"/>
                        <a:ea typeface="宋体" pitchFamily="2" charset="-122"/>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266700" algn="r"/>
                          <a:tab pos="2636838" algn="ctr"/>
                          <a:tab pos="5273675" algn="r"/>
                        </a:tabLst>
                      </a:pPr>
                      <a:r>
                        <a:rPr kumimoji="0" lang="zh-CN" altLang="en-US" sz="1400" b="0" i="0" u="none" strike="noStrike" cap="none" normalizeH="0" baseline="0">
                          <a:ln>
                            <a:noFill/>
                          </a:ln>
                          <a:solidFill>
                            <a:srgbClr val="000000"/>
                          </a:solidFill>
                          <a:effectLst/>
                          <a:latin typeface="宋体" pitchFamily="2" charset="-122"/>
                          <a:ea typeface="宋体" pitchFamily="2" charset="-122"/>
                          <a:cs typeface="Arial" charset="0"/>
                        </a:rPr>
                        <a:t>访问</a:t>
                      </a:r>
                      <a:endParaRPr kumimoji="0" lang="zh-CN" altLang="en-US" sz="1400" b="0" i="0" u="none" strike="noStrike" cap="none" normalizeH="0" baseline="0">
                        <a:ln>
                          <a:noFill/>
                        </a:ln>
                        <a:solidFill>
                          <a:schemeClr val="tx1"/>
                        </a:solidFill>
                        <a:effectLst/>
                        <a:latin typeface="宋体" pitchFamily="2" charset="-122"/>
                        <a:ea typeface="宋体" pitchFamily="2" charset="-122"/>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266700" algn="r"/>
                          <a:tab pos="2636838" algn="ctr"/>
                          <a:tab pos="5273675" algn="r"/>
                        </a:tabLst>
                      </a:pPr>
                      <a:r>
                        <a:rPr kumimoji="0" lang="zh-CN" altLang="en-US" sz="1400" b="0" i="0" u="none" strike="noStrike" cap="none" normalizeH="0" baseline="0">
                          <a:ln>
                            <a:noFill/>
                          </a:ln>
                          <a:solidFill>
                            <a:srgbClr val="000000"/>
                          </a:solidFill>
                          <a:effectLst/>
                          <a:latin typeface="宋体" pitchFamily="2" charset="-122"/>
                          <a:ea typeface="宋体" pitchFamily="2" charset="-122"/>
                          <a:cs typeface="Arial" charset="0"/>
                        </a:rPr>
                        <a:t>复位值</a:t>
                      </a:r>
                      <a:endParaRPr kumimoji="0" lang="zh-CN" altLang="en-US" sz="1400" b="0" i="0" u="none" strike="noStrike" cap="none" normalizeH="0" baseline="0">
                        <a:ln>
                          <a:noFill/>
                        </a:ln>
                        <a:solidFill>
                          <a:schemeClr val="tx1"/>
                        </a:solidFill>
                        <a:effectLst/>
                        <a:latin typeface="宋体" pitchFamily="2" charset="-122"/>
                        <a:ea typeface="宋体" pitchFamily="2" charset="-122"/>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266700" algn="r"/>
                          <a:tab pos="2636838" algn="ctr"/>
                          <a:tab pos="5273675" algn="r"/>
                        </a:tabLst>
                      </a:pPr>
                      <a:r>
                        <a:rPr kumimoji="0" lang="zh-CN" altLang="en-US" sz="1400" b="0" i="0" u="none" strike="noStrike" cap="none" normalizeH="0" baseline="0">
                          <a:ln>
                            <a:noFill/>
                          </a:ln>
                          <a:solidFill>
                            <a:srgbClr val="000000"/>
                          </a:solidFill>
                          <a:effectLst/>
                          <a:latin typeface="宋体" pitchFamily="2" charset="-122"/>
                          <a:ea typeface="宋体" pitchFamily="2" charset="-122"/>
                          <a:cs typeface="Arial" charset="0"/>
                        </a:rPr>
                        <a:t>地址</a:t>
                      </a:r>
                      <a:endParaRPr kumimoji="0" lang="zh-CN" altLang="en-US" sz="1400" b="0" i="0" u="none" strike="noStrike" cap="none" normalizeH="0" baseline="0">
                        <a:ln>
                          <a:noFill/>
                        </a:ln>
                        <a:solidFill>
                          <a:schemeClr val="tx1"/>
                        </a:solidFill>
                        <a:effectLst/>
                        <a:latin typeface="宋体" pitchFamily="2" charset="-122"/>
                        <a:ea typeface="宋体" pitchFamily="2" charset="-122"/>
                        <a:cs typeface="Arial" charset="0"/>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266700" algn="r"/>
                          <a:tab pos="2636838" algn="ctr"/>
                          <a:tab pos="5273675" algn="r"/>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VICIRQStatus</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宋体" pitchFamily="2" charset="-122"/>
                          <a:ea typeface="宋体" pitchFamily="2" charset="-122"/>
                          <a:cs typeface="Times New Roman" pitchFamily="18" charset="0"/>
                        </a:rPr>
                        <a:t>IRQ</a:t>
                      </a:r>
                      <a:r>
                        <a:rPr kumimoji="0" lang="zh-CN" altLang="en-US" sz="1400" b="1" i="0" u="none" strike="noStrike" cap="none" normalizeH="0" baseline="0" dirty="0">
                          <a:ln>
                            <a:noFill/>
                          </a:ln>
                          <a:solidFill>
                            <a:srgbClr val="000000"/>
                          </a:solidFill>
                          <a:effectLst/>
                          <a:latin typeface="宋体" pitchFamily="2" charset="-122"/>
                          <a:ea typeface="宋体" pitchFamily="2" charset="-122"/>
                          <a:cs typeface="Times New Roman" pitchFamily="18" charset="0"/>
                        </a:rPr>
                        <a:t>中断状态寄存器</a:t>
                      </a:r>
                      <a:endParaRPr kumimoji="0" lang="zh-CN" altLang="en-US" sz="1400" b="1" i="0" u="none" strike="noStrike" cap="none" normalizeH="0" baseline="0" dirty="0">
                        <a:ln>
                          <a:noFill/>
                        </a:ln>
                        <a:solidFill>
                          <a:schemeClr val="tx1"/>
                        </a:solidFill>
                        <a:effectLst/>
                        <a:latin typeface="宋体" pitchFamily="2" charset="-122"/>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a:ln>
                            <a:noFill/>
                          </a:ln>
                          <a:solidFill>
                            <a:srgbClr val="000000"/>
                          </a:solidFill>
                          <a:effectLst/>
                          <a:latin typeface="宋体" pitchFamily="2" charset="-122"/>
                          <a:ea typeface="宋体" pitchFamily="2" charset="-122"/>
                          <a:cs typeface="Times New Roman" pitchFamily="18" charset="0"/>
                        </a:rPr>
                        <a:t>该寄存器读出定义为</a:t>
                      </a:r>
                      <a:r>
                        <a:rPr kumimoji="0" lang="en-US" altLang="zh-CN" sz="1400" b="0" i="0" u="none" strike="noStrike" cap="none" normalizeH="0" baseline="0" dirty="0">
                          <a:ln>
                            <a:noFill/>
                          </a:ln>
                          <a:solidFill>
                            <a:srgbClr val="000000"/>
                          </a:solidFill>
                          <a:effectLst/>
                          <a:latin typeface="宋体" pitchFamily="2" charset="-122"/>
                          <a:ea typeface="宋体" pitchFamily="2" charset="-122"/>
                          <a:cs typeface="Times New Roman" pitchFamily="18" charset="0"/>
                        </a:rPr>
                        <a:t>IRQ</a:t>
                      </a:r>
                      <a:r>
                        <a:rPr kumimoji="0" lang="zh-CN" altLang="en-US" sz="1400" b="0" i="0" u="none" strike="noStrike" cap="none" normalizeH="0" baseline="0" dirty="0">
                          <a:ln>
                            <a:noFill/>
                          </a:ln>
                          <a:solidFill>
                            <a:srgbClr val="000000"/>
                          </a:solidFill>
                          <a:effectLst/>
                          <a:latin typeface="宋体" pitchFamily="2" charset="-122"/>
                          <a:ea typeface="宋体" pitchFamily="2" charset="-122"/>
                          <a:cs typeface="Times New Roman" pitchFamily="18" charset="0"/>
                        </a:rPr>
                        <a:t>并使能的中断的状态</a:t>
                      </a:r>
                      <a:endParaRPr kumimoji="0" lang="zh-CN" altLang="en-US" sz="1400" b="0" i="0" u="none" strike="noStrike" cap="none" normalizeH="0" baseline="0" dirty="0">
                        <a:ln>
                          <a:noFill/>
                        </a:ln>
                        <a:solidFill>
                          <a:schemeClr val="tx1"/>
                        </a:solidFill>
                        <a:effectLst/>
                        <a:latin typeface="宋体" pitchFamily="2" charset="-122"/>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RO</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0</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0xFFFF F000</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266700" algn="r"/>
                          <a:tab pos="2636838" algn="ctr"/>
                          <a:tab pos="5273675" algn="r"/>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VICFIQStatus</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000000"/>
                          </a:solidFill>
                          <a:effectLst/>
                          <a:latin typeface="宋体" pitchFamily="2" charset="-122"/>
                          <a:ea typeface="宋体" pitchFamily="2" charset="-122"/>
                          <a:cs typeface="Times New Roman" pitchFamily="18" charset="0"/>
                        </a:rPr>
                        <a:t>FIQ</a:t>
                      </a:r>
                      <a:r>
                        <a:rPr kumimoji="0" lang="zh-CN" altLang="en-US" sz="1400" b="1" i="0" u="none" strike="noStrike" cap="none" normalizeH="0" baseline="0" dirty="0">
                          <a:ln>
                            <a:noFill/>
                          </a:ln>
                          <a:solidFill>
                            <a:srgbClr val="000000"/>
                          </a:solidFill>
                          <a:effectLst/>
                          <a:latin typeface="宋体" pitchFamily="2" charset="-122"/>
                          <a:ea typeface="宋体" pitchFamily="2" charset="-122"/>
                          <a:cs typeface="Times New Roman" pitchFamily="18" charset="0"/>
                        </a:rPr>
                        <a:t>中断状态寄存器</a:t>
                      </a:r>
                      <a:endParaRPr kumimoji="0" lang="zh-CN" altLang="en-US" sz="1400" b="1" i="0" u="none" strike="noStrike" cap="none" normalizeH="0" baseline="0" dirty="0">
                        <a:ln>
                          <a:noFill/>
                        </a:ln>
                        <a:solidFill>
                          <a:schemeClr val="tx1"/>
                        </a:solidFill>
                        <a:effectLst/>
                        <a:latin typeface="宋体" pitchFamily="2" charset="-122"/>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a:ln>
                            <a:noFill/>
                          </a:ln>
                          <a:solidFill>
                            <a:srgbClr val="000000"/>
                          </a:solidFill>
                          <a:effectLst/>
                          <a:latin typeface="宋体" pitchFamily="2" charset="-122"/>
                          <a:ea typeface="宋体" pitchFamily="2" charset="-122"/>
                          <a:cs typeface="Times New Roman" pitchFamily="18" charset="0"/>
                        </a:rPr>
                        <a:t>该寄存器读出定义为</a:t>
                      </a:r>
                      <a:r>
                        <a:rPr kumimoji="0" lang="en-US" altLang="zh-CN" sz="1400" b="0" i="0" u="none" strike="noStrike" cap="none" normalizeH="0" baseline="0" dirty="0">
                          <a:ln>
                            <a:noFill/>
                          </a:ln>
                          <a:solidFill>
                            <a:srgbClr val="000000"/>
                          </a:solidFill>
                          <a:effectLst/>
                          <a:latin typeface="宋体" pitchFamily="2" charset="-122"/>
                          <a:ea typeface="宋体" pitchFamily="2" charset="-122"/>
                          <a:cs typeface="Times New Roman" pitchFamily="18" charset="0"/>
                        </a:rPr>
                        <a:t>FIQ</a:t>
                      </a:r>
                      <a:r>
                        <a:rPr kumimoji="0" lang="zh-CN" altLang="en-US" sz="1400" b="0" i="0" u="none" strike="noStrike" cap="none" normalizeH="0" baseline="0" dirty="0">
                          <a:ln>
                            <a:noFill/>
                          </a:ln>
                          <a:solidFill>
                            <a:srgbClr val="000000"/>
                          </a:solidFill>
                          <a:effectLst/>
                          <a:latin typeface="宋体" pitchFamily="2" charset="-122"/>
                          <a:ea typeface="宋体" pitchFamily="2" charset="-122"/>
                          <a:cs typeface="Times New Roman" pitchFamily="18" charset="0"/>
                        </a:rPr>
                        <a:t>并使能的中断的状态</a:t>
                      </a:r>
                      <a:endParaRPr kumimoji="0" lang="zh-CN" altLang="en-US" sz="1400" b="0" i="0" u="none" strike="noStrike" cap="none" normalizeH="0" baseline="0" dirty="0">
                        <a:ln>
                          <a:noFill/>
                        </a:ln>
                        <a:solidFill>
                          <a:schemeClr val="tx1"/>
                        </a:solidFill>
                        <a:effectLst/>
                        <a:latin typeface="宋体" pitchFamily="2" charset="-122"/>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RO</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0</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0xFFFF F004</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VICRawIntr</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rgbClr val="000000"/>
                          </a:solidFill>
                          <a:effectLst/>
                          <a:latin typeface="宋体" pitchFamily="2" charset="-122"/>
                          <a:ea typeface="宋体" pitchFamily="2" charset="-122"/>
                          <a:cs typeface="Times New Roman" pitchFamily="18" charset="0"/>
                        </a:rPr>
                        <a:t>所有中断的状态寄存器 </a:t>
                      </a:r>
                      <a:endParaRPr kumimoji="0" lang="en-US" altLang="zh-CN" sz="1400" b="1" i="0" u="none" strike="noStrike" cap="none" normalizeH="0" baseline="0" dirty="0">
                        <a:ln>
                          <a:noFill/>
                        </a:ln>
                        <a:solidFill>
                          <a:srgbClr val="000000"/>
                        </a:solidFill>
                        <a:effectLst/>
                        <a:latin typeface="宋体" pitchFamily="2" charset="-122"/>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rgbClr val="000000"/>
                          </a:solidFill>
                          <a:effectLst/>
                          <a:latin typeface="宋体" pitchFamily="2" charset="-122"/>
                          <a:ea typeface="宋体" pitchFamily="2" charset="-122"/>
                          <a:cs typeface="Times New Roman" pitchFamily="18" charset="0"/>
                        </a:rPr>
                        <a:t>该寄存器读出</a:t>
                      </a:r>
                      <a:r>
                        <a:rPr kumimoji="0" lang="en-US" altLang="zh-CN" sz="1400" b="0" i="0" u="none" strike="noStrike" cap="none" normalizeH="0" baseline="0" dirty="0">
                          <a:ln>
                            <a:noFill/>
                          </a:ln>
                          <a:solidFill>
                            <a:srgbClr val="000000"/>
                          </a:solidFill>
                          <a:effectLst/>
                          <a:latin typeface="宋体" pitchFamily="2" charset="-122"/>
                          <a:ea typeface="宋体" pitchFamily="2" charset="-122"/>
                          <a:cs typeface="Times New Roman" pitchFamily="18" charset="0"/>
                        </a:rPr>
                        <a:t>32</a:t>
                      </a:r>
                      <a:r>
                        <a:rPr kumimoji="0" lang="zh-CN" altLang="en-US" sz="1400" b="0" i="0" u="none" strike="noStrike" cap="none" normalizeH="0" baseline="0" dirty="0">
                          <a:ln>
                            <a:noFill/>
                          </a:ln>
                          <a:solidFill>
                            <a:srgbClr val="000000"/>
                          </a:solidFill>
                          <a:effectLst/>
                          <a:latin typeface="宋体" pitchFamily="2" charset="-122"/>
                          <a:ea typeface="宋体" pitchFamily="2" charset="-122"/>
                          <a:cs typeface="Times New Roman" pitchFamily="18" charset="0"/>
                        </a:rPr>
                        <a:t>个中断请求</a:t>
                      </a:r>
                      <a:r>
                        <a:rPr kumimoji="0" lang="en-US" altLang="zh-CN" sz="1400" b="0" i="0" u="none" strike="noStrike" cap="none" normalizeH="0" baseline="0" dirty="0">
                          <a:ln>
                            <a:noFill/>
                          </a:ln>
                          <a:solidFill>
                            <a:srgbClr val="000000"/>
                          </a:solidFill>
                          <a:effectLst/>
                          <a:latin typeface="宋体" pitchFamily="2" charset="-122"/>
                          <a:ea typeface="宋体" pitchFamily="2" charset="-122"/>
                          <a:cs typeface="Times New Roman" pitchFamily="18" charset="0"/>
                        </a:rPr>
                        <a:t>/</a:t>
                      </a:r>
                      <a:r>
                        <a:rPr kumimoji="0" lang="zh-CN" altLang="en-US" sz="1400" b="0" i="0" u="none" strike="noStrike" cap="none" normalizeH="0" baseline="0" dirty="0">
                          <a:ln>
                            <a:noFill/>
                          </a:ln>
                          <a:solidFill>
                            <a:srgbClr val="000000"/>
                          </a:solidFill>
                          <a:effectLst/>
                          <a:latin typeface="宋体" pitchFamily="2" charset="-122"/>
                          <a:ea typeface="宋体" pitchFamily="2" charset="-122"/>
                          <a:cs typeface="Times New Roman" pitchFamily="18" charset="0"/>
                        </a:rPr>
                        <a:t>软件中断的状态，不管中断是否使能或分类</a:t>
                      </a:r>
                      <a:endParaRPr kumimoji="0" lang="zh-CN" altLang="en-US" sz="1400" b="0" i="0" u="none" strike="noStrike" cap="none" normalizeH="0" baseline="0" dirty="0">
                        <a:ln>
                          <a:noFill/>
                        </a:ln>
                        <a:solidFill>
                          <a:schemeClr val="tx1"/>
                        </a:solidFill>
                        <a:effectLst/>
                        <a:latin typeface="宋体" pitchFamily="2" charset="-122"/>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RO</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宋体" pitchFamily="2" charset="-122"/>
                          <a:ea typeface="宋体" pitchFamily="2" charset="-122"/>
                          <a:cs typeface="Times New Roman" pitchFamily="18" charset="0"/>
                        </a:rPr>
                        <a:t>0</a:t>
                      </a:r>
                      <a:endParaRPr kumimoji="0"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宋体" pitchFamily="2" charset="-122"/>
                          <a:ea typeface="宋体" pitchFamily="2" charset="-122"/>
                          <a:cs typeface="Times New Roman" pitchFamily="18" charset="0"/>
                        </a:rPr>
                        <a:t>0xFFFF F008</a:t>
                      </a:r>
                      <a:endParaRPr kumimoji="0" lang="en-US" altLang="zh-CN" sz="1400" b="0" i="0" u="none" strike="noStrike" cap="none" normalizeH="0" baseline="0" dirty="0">
                        <a:ln>
                          <a:noFill/>
                        </a:ln>
                        <a:solidFill>
                          <a:schemeClr val="tx1"/>
                        </a:solidFill>
                        <a:effectLst/>
                        <a:latin typeface="宋体" pitchFamily="2" charset="-122"/>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bl>
          </a:graphicData>
        </a:graphic>
      </p:graphicFrame>
      <p:sp>
        <p:nvSpPr>
          <p:cNvPr id="371872" name="Rectangle 160"/>
          <p:cNvSpPr>
            <a:spLocks noChangeArrowheads="1"/>
          </p:cNvSpPr>
          <p:nvPr/>
        </p:nvSpPr>
        <p:spPr bwMode="auto">
          <a:xfrm>
            <a:off x="2424113" y="5585253"/>
            <a:ext cx="7364412" cy="830997"/>
          </a:xfrm>
          <a:prstGeom prst="rect">
            <a:avLst/>
          </a:prstGeom>
          <a:noFill/>
          <a:ln w="9525" algn="ctr">
            <a:noFill/>
            <a:miter lim="800000"/>
            <a:headEnd/>
            <a:tailEnd/>
          </a:ln>
          <a:effectLst/>
        </p:spPr>
        <p:txBody>
          <a:bodyPr anchor="ctr">
            <a:spAutoFit/>
          </a:bodyPr>
          <a:lstStyle/>
          <a:p>
            <a:pPr algn="l"/>
            <a:r>
              <a:rPr lang="zh-CN" altLang="en-US" sz="2400">
                <a:solidFill>
                  <a:srgbClr val="FF0000"/>
                </a:solidFill>
                <a:latin typeface="华文新魏" pitchFamily="2" charset="-122"/>
                <a:ea typeface="华文新魏" pitchFamily="2" charset="-122"/>
              </a:rPr>
              <a:t>注意</a:t>
            </a:r>
            <a:r>
              <a:rPr lang="zh-CN" altLang="en-US" sz="2400">
                <a:latin typeface="华文新魏" pitchFamily="2" charset="-122"/>
                <a:ea typeface="华文新魏" pitchFamily="2" charset="-122"/>
              </a:rPr>
              <a:t>：读取</a:t>
            </a:r>
            <a:r>
              <a:rPr lang="en-US" altLang="zh-CN" sz="2400">
                <a:solidFill>
                  <a:srgbClr val="000000"/>
                </a:solidFill>
                <a:latin typeface="华文新魏" pitchFamily="2" charset="-122"/>
                <a:ea typeface="华文新魏" pitchFamily="2" charset="-122"/>
              </a:rPr>
              <a:t>VICRawIntr</a:t>
            </a:r>
            <a:r>
              <a:rPr lang="zh-CN" altLang="en-US" sz="2400">
                <a:latin typeface="华文新魏" pitchFamily="2" charset="-122"/>
                <a:ea typeface="华文新魏" pitchFamily="2" charset="-122"/>
              </a:rPr>
              <a:t>寄存器将得到所有</a:t>
            </a:r>
            <a:r>
              <a:rPr lang="en-US" altLang="zh-CN" sz="2400">
                <a:latin typeface="华文新魏" pitchFamily="2" charset="-122"/>
                <a:ea typeface="华文新魏" pitchFamily="2" charset="-122"/>
              </a:rPr>
              <a:t>32</a:t>
            </a:r>
            <a:r>
              <a:rPr lang="zh-CN" altLang="en-US" sz="2400">
                <a:latin typeface="华文新魏" pitchFamily="2" charset="-122"/>
                <a:ea typeface="华文新魏" pitchFamily="2" charset="-122"/>
              </a:rPr>
              <a:t>个中断请求和软件中断的状态，它不管中断是否使能或分类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71756">
                                            <p:txEl>
                                              <p:pRg st="0" end="0"/>
                                            </p:txEl>
                                          </p:spTgt>
                                        </p:tgtEl>
                                        <p:attrNameLst>
                                          <p:attrName>style.visibility</p:attrName>
                                        </p:attrNameLst>
                                      </p:cBhvr>
                                      <p:to>
                                        <p:strVal val="visible"/>
                                      </p:to>
                                    </p:set>
                                    <p:anim calcmode="lin" valueType="num">
                                      <p:cBhvr additive="base">
                                        <p:cTn id="7" dur="500" fill="hold"/>
                                        <p:tgtEl>
                                          <p:spTgt spid="37175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71756">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371873"/>
                                        </p:tgtEl>
                                        <p:attrNameLst>
                                          <p:attrName>style.visibility</p:attrName>
                                        </p:attrNameLst>
                                      </p:cBhvr>
                                      <p:to>
                                        <p:strVal val="visible"/>
                                      </p:to>
                                    </p:set>
                                    <p:animEffect transition="in" filter="wipe(left)">
                                      <p:cBhvr>
                                        <p:cTn id="12" dur="500"/>
                                        <p:tgtEl>
                                          <p:spTgt spid="371873"/>
                                        </p:tgtEl>
                                      </p:cBhvr>
                                    </p:animEffect>
                                  </p:childTnLst>
                                </p:cTn>
                              </p:par>
                            </p:childTnLst>
                          </p:cTn>
                        </p:par>
                        <p:par>
                          <p:cTn id="13" fill="hold">
                            <p:stCondLst>
                              <p:cond delay="1000"/>
                            </p:stCondLst>
                            <p:childTnLst>
                              <p:par>
                                <p:cTn id="14" presetID="12" presetClass="entr" presetSubtype="1" fill="hold" nodeType="afterEffect">
                                  <p:stCondLst>
                                    <p:cond delay="0"/>
                                  </p:stCondLst>
                                  <p:childTnLst>
                                    <p:set>
                                      <p:cBhvr>
                                        <p:cTn id="15" dur="1" fill="hold">
                                          <p:stCondLst>
                                            <p:cond delay="0"/>
                                          </p:stCondLst>
                                        </p:cTn>
                                        <p:tgtEl>
                                          <p:spTgt spid="371906"/>
                                        </p:tgtEl>
                                        <p:attrNameLst>
                                          <p:attrName>style.visibility</p:attrName>
                                        </p:attrNameLst>
                                      </p:cBhvr>
                                      <p:to>
                                        <p:strVal val="visible"/>
                                      </p:to>
                                    </p:set>
                                    <p:animEffect transition="in" filter="slide(fromTop)">
                                      <p:cBhvr>
                                        <p:cTn id="16" dur="500"/>
                                        <p:tgtEl>
                                          <p:spTgt spid="371906"/>
                                        </p:tgtEl>
                                      </p:cBhvr>
                                    </p:animEffect>
                                  </p:childTnLst>
                                </p:cTn>
                              </p:par>
                            </p:childTnLst>
                          </p:cTn>
                        </p:par>
                        <p:par>
                          <p:cTn id="17" fill="hold">
                            <p:stCondLst>
                              <p:cond delay="1500"/>
                            </p:stCondLst>
                            <p:childTnLst>
                              <p:par>
                                <p:cTn id="18" presetID="13" presetClass="entr" presetSubtype="16" fill="hold" grpId="0" nodeType="afterEffect">
                                  <p:stCondLst>
                                    <p:cond delay="0"/>
                                  </p:stCondLst>
                                  <p:childTnLst>
                                    <p:set>
                                      <p:cBhvr>
                                        <p:cTn id="19" dur="1" fill="hold">
                                          <p:stCondLst>
                                            <p:cond delay="0"/>
                                          </p:stCondLst>
                                        </p:cTn>
                                        <p:tgtEl>
                                          <p:spTgt spid="371790"/>
                                        </p:tgtEl>
                                        <p:attrNameLst>
                                          <p:attrName>style.visibility</p:attrName>
                                        </p:attrNameLst>
                                      </p:cBhvr>
                                      <p:to>
                                        <p:strVal val="visible"/>
                                      </p:to>
                                    </p:set>
                                    <p:animEffect transition="in" filter="plus(in)">
                                      <p:cBhvr>
                                        <p:cTn id="20" dur="500"/>
                                        <p:tgtEl>
                                          <p:spTgt spid="371790"/>
                                        </p:tgtEl>
                                      </p:cBhvr>
                                    </p:animEffect>
                                  </p:childTnLst>
                                </p:cTn>
                              </p:par>
                              <p:par>
                                <p:cTn id="21" presetID="13" presetClass="entr" presetSubtype="16" fill="hold" grpId="0" nodeType="withEffect">
                                  <p:stCondLst>
                                    <p:cond delay="0"/>
                                  </p:stCondLst>
                                  <p:childTnLst>
                                    <p:set>
                                      <p:cBhvr>
                                        <p:cTn id="22" dur="1" fill="hold">
                                          <p:stCondLst>
                                            <p:cond delay="0"/>
                                          </p:stCondLst>
                                        </p:cTn>
                                        <p:tgtEl>
                                          <p:spTgt spid="371794"/>
                                        </p:tgtEl>
                                        <p:attrNameLst>
                                          <p:attrName>style.visibility</p:attrName>
                                        </p:attrNameLst>
                                      </p:cBhvr>
                                      <p:to>
                                        <p:strVal val="visible"/>
                                      </p:to>
                                    </p:set>
                                    <p:animEffect transition="in" filter="plus(in)">
                                      <p:cBhvr>
                                        <p:cTn id="23" dur="500"/>
                                        <p:tgtEl>
                                          <p:spTgt spid="371794"/>
                                        </p:tgtEl>
                                      </p:cBhvr>
                                    </p:animEffect>
                                  </p:childTnLst>
                                </p:cTn>
                              </p:par>
                              <p:par>
                                <p:cTn id="24" presetID="13" presetClass="entr" presetSubtype="16" fill="hold" grpId="0" nodeType="withEffect">
                                  <p:stCondLst>
                                    <p:cond delay="0"/>
                                  </p:stCondLst>
                                  <p:childTnLst>
                                    <p:set>
                                      <p:cBhvr>
                                        <p:cTn id="25" dur="1" fill="hold">
                                          <p:stCondLst>
                                            <p:cond delay="0"/>
                                          </p:stCondLst>
                                        </p:cTn>
                                        <p:tgtEl>
                                          <p:spTgt spid="371795"/>
                                        </p:tgtEl>
                                        <p:attrNameLst>
                                          <p:attrName>style.visibility</p:attrName>
                                        </p:attrNameLst>
                                      </p:cBhvr>
                                      <p:to>
                                        <p:strVal val="visible"/>
                                      </p:to>
                                    </p:set>
                                    <p:animEffect transition="in" filter="plus(in)">
                                      <p:cBhvr>
                                        <p:cTn id="26" dur="500"/>
                                        <p:tgtEl>
                                          <p:spTgt spid="371795"/>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371872"/>
                                        </p:tgtEl>
                                        <p:attrNameLst>
                                          <p:attrName>style.visibility</p:attrName>
                                        </p:attrNameLst>
                                      </p:cBhvr>
                                      <p:to>
                                        <p:strVal val="visible"/>
                                      </p:to>
                                    </p:set>
                                    <p:animEffect transition="in" filter="box(in)">
                                      <p:cBhvr>
                                        <p:cTn id="31" dur="500"/>
                                        <p:tgtEl>
                                          <p:spTgt spid="3718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56" grpId="0" build="p"/>
      <p:bldP spid="371790" grpId="0" animBg="1"/>
      <p:bldP spid="371794" grpId="0" animBg="1"/>
      <p:bldP spid="371795" grpId="0" animBg="1"/>
      <p:bldP spid="37187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p:cNvSpPr>
            <a:spLocks noChangeArrowheads="1"/>
          </p:cNvSpPr>
          <p:nvPr/>
        </p:nvSpPr>
        <p:spPr bwMode="auto">
          <a:xfrm>
            <a:off x="2208213" y="1844676"/>
            <a:ext cx="7702550" cy="576263"/>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保护使能寄存器</a:t>
            </a:r>
          </a:p>
        </p:txBody>
      </p:sp>
      <p:sp>
        <p:nvSpPr>
          <p:cNvPr id="374787" name="Rectangle 3"/>
          <p:cNvSpPr>
            <a:spLocks noGrp="1" noChangeArrowheads="1"/>
          </p:cNvSpPr>
          <p:nvPr>
            <p:ph type="title"/>
          </p:nvPr>
        </p:nvSpPr>
        <p:spPr>
          <a:noFill/>
          <a:ln/>
        </p:spPr>
        <p:txBody>
          <a:bodyPr/>
          <a:lstStyle/>
          <a:p>
            <a:r>
              <a:rPr lang="en-US" altLang="zh-CN" dirty="0"/>
              <a:t>5.3.4  </a:t>
            </a:r>
            <a:r>
              <a:rPr lang="zh-CN" altLang="en-US" dirty="0"/>
              <a:t>向量中断控制器</a:t>
            </a:r>
          </a:p>
        </p:txBody>
      </p:sp>
      <p:sp>
        <p:nvSpPr>
          <p:cNvPr id="374800" name="Text Box 16"/>
          <p:cNvSpPr txBox="1">
            <a:spLocks noChangeArrowheads="1"/>
          </p:cNvSpPr>
          <p:nvPr/>
        </p:nvSpPr>
        <p:spPr bwMode="auto">
          <a:xfrm>
            <a:off x="2668589" y="3810001"/>
            <a:ext cx="3787775" cy="366713"/>
          </a:xfrm>
          <a:prstGeom prst="rect">
            <a:avLst/>
          </a:prstGeom>
          <a:noFill/>
          <a:ln w="9525">
            <a:noFill/>
            <a:miter lim="800000"/>
            <a:headEnd/>
            <a:tailEnd/>
          </a:ln>
          <a:effectLst/>
        </p:spPr>
        <p:txBody>
          <a:bodyPr>
            <a:spAutoFit/>
          </a:bodyPr>
          <a:lstStyle/>
          <a:p>
            <a:pPr algn="l">
              <a:spcBef>
                <a:spcPct val="50000"/>
              </a:spcBef>
            </a:pPr>
            <a:r>
              <a:rPr lang="zh-CN" altLang="en-US">
                <a:latin typeface="华文新魏" pitchFamily="2" charset="-122"/>
                <a:ea typeface="华文新魏" pitchFamily="2" charset="-122"/>
              </a:rPr>
              <a:t>保护使能寄存器（</a:t>
            </a:r>
            <a:r>
              <a:rPr lang="en-US" altLang="zh-CN">
                <a:latin typeface="华文新魏" pitchFamily="2" charset="-122"/>
                <a:ea typeface="华文新魏" pitchFamily="2" charset="-122"/>
              </a:rPr>
              <a:t>VICProtection )</a:t>
            </a:r>
            <a:r>
              <a:rPr lang="zh-CN" altLang="en-US">
                <a:latin typeface="华文新魏" pitchFamily="2" charset="-122"/>
                <a:ea typeface="华文新魏" pitchFamily="2" charset="-122"/>
              </a:rPr>
              <a:t>：</a:t>
            </a:r>
          </a:p>
        </p:txBody>
      </p:sp>
      <p:graphicFrame>
        <p:nvGraphicFramePr>
          <p:cNvPr id="374817" name="Group 33"/>
          <p:cNvGraphicFramePr>
            <a:graphicFrameLocks noGrp="1"/>
          </p:cNvGraphicFramePr>
          <p:nvPr/>
        </p:nvGraphicFramePr>
        <p:xfrm>
          <a:off x="2743200" y="4267200"/>
          <a:ext cx="7162800" cy="670560"/>
        </p:xfrm>
        <a:graphic>
          <a:graphicData uri="http://schemas.openxmlformats.org/drawingml/2006/table">
            <a:tbl>
              <a:tblPr/>
              <a:tblGrid>
                <a:gridCol w="796925">
                  <a:extLst>
                    <a:ext uri="{9D8B030D-6E8A-4147-A177-3AD203B41FA5}">
                      <a16:colId xmlns:a16="http://schemas.microsoft.com/office/drawing/2014/main" val="20000"/>
                    </a:ext>
                  </a:extLst>
                </a:gridCol>
                <a:gridCol w="803275">
                  <a:extLst>
                    <a:ext uri="{9D8B030D-6E8A-4147-A177-3AD203B41FA5}">
                      <a16:colId xmlns:a16="http://schemas.microsoft.com/office/drawing/2014/main" val="20001"/>
                    </a:ext>
                  </a:extLst>
                </a:gridCol>
                <a:gridCol w="5562600">
                  <a:extLst>
                    <a:ext uri="{9D8B030D-6E8A-4147-A177-3AD203B41FA5}">
                      <a16:colId xmlns:a16="http://schemas.microsoft.com/office/drawing/2014/main" val="20002"/>
                    </a:ext>
                  </a:extLst>
                </a:gridCol>
              </a:tblGrid>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位</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[31:1]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功能</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当该位为</a:t>
                      </a:r>
                      <a:r>
                        <a:rPr kumimoji="1" lang="en-US" altLang="zh-CN" sz="1600" b="0" i="0" u="none" strike="noStrike" cap="none" normalizeH="0" baseline="0">
                          <a:ln>
                            <a:noFill/>
                          </a:ln>
                          <a:solidFill>
                            <a:schemeClr val="tx1"/>
                          </a:solidFill>
                          <a:effectLst/>
                          <a:latin typeface="宋体" pitchFamily="2" charset="-122"/>
                          <a:ea typeface="宋体" pitchFamily="2" charset="-122"/>
                        </a:rPr>
                        <a:t>1</a:t>
                      </a:r>
                      <a:r>
                        <a:rPr kumimoji="1" lang="zh-CN" altLang="en-US" sz="1600" b="0" i="0" u="none" strike="noStrike" cap="none" normalizeH="0" baseline="0">
                          <a:ln>
                            <a:noFill/>
                          </a:ln>
                          <a:solidFill>
                            <a:schemeClr val="tx1"/>
                          </a:solidFill>
                          <a:effectLst/>
                          <a:latin typeface="宋体" pitchFamily="2" charset="-122"/>
                          <a:ea typeface="宋体" pitchFamily="2" charset="-122"/>
                        </a:rPr>
                        <a:t>时，只能在特权模式下访问</a:t>
                      </a:r>
                      <a:r>
                        <a:rPr kumimoji="1" lang="en-US" altLang="zh-CN" sz="1600" b="0" i="0" u="none" strike="noStrike" cap="none" normalizeH="0" baseline="0">
                          <a:ln>
                            <a:noFill/>
                          </a:ln>
                          <a:solidFill>
                            <a:schemeClr val="tx1"/>
                          </a:solidFill>
                          <a:effectLst/>
                          <a:latin typeface="宋体" pitchFamily="2" charset="-122"/>
                          <a:ea typeface="宋体" pitchFamily="2" charset="-122"/>
                        </a:rPr>
                        <a:t>VIC</a:t>
                      </a:r>
                      <a:r>
                        <a:rPr kumimoji="1" lang="zh-CN" altLang="en-US" sz="1600" b="0" i="0" u="none" strike="noStrike" cap="none" normalizeH="0" baseline="0">
                          <a:ln>
                            <a:noFill/>
                          </a:ln>
                          <a:solidFill>
                            <a:schemeClr val="tx1"/>
                          </a:solidFill>
                          <a:effectLst/>
                          <a:latin typeface="宋体" pitchFamily="2" charset="-122"/>
                          <a:ea typeface="宋体" pitchFamily="2" charset="-122"/>
                        </a:rPr>
                        <a:t>寄存器。</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bl>
          </a:graphicData>
        </a:graphic>
      </p:graphicFrame>
      <p:sp>
        <p:nvSpPr>
          <p:cNvPr id="374815" name="Text Box 31"/>
          <p:cNvSpPr txBox="1">
            <a:spLocks noChangeArrowheads="1"/>
          </p:cNvSpPr>
          <p:nvPr/>
        </p:nvSpPr>
        <p:spPr bwMode="auto">
          <a:xfrm>
            <a:off x="2640013" y="2743201"/>
            <a:ext cx="6858000" cy="830997"/>
          </a:xfrm>
          <a:prstGeom prst="rect">
            <a:avLst/>
          </a:prstGeom>
          <a:noFill/>
          <a:ln w="9525">
            <a:noFill/>
            <a:miter lim="800000"/>
            <a:headEnd/>
            <a:tailEnd/>
          </a:ln>
          <a:effectLst/>
        </p:spPr>
        <p:txBody>
          <a:bodyPr>
            <a:spAutoFit/>
          </a:bodyPr>
          <a:lstStyle/>
          <a:p>
            <a:pPr algn="l">
              <a:spcBef>
                <a:spcPct val="50000"/>
              </a:spcBef>
            </a:pPr>
            <a:r>
              <a:rPr lang="en-US" altLang="zh-CN" sz="2400">
                <a:latin typeface="Times New Roman" pitchFamily="18" charset="0"/>
                <a:ea typeface="楷体_GB2312" pitchFamily="49" charset="-122"/>
              </a:rPr>
              <a:t>        </a:t>
            </a:r>
            <a:r>
              <a:rPr lang="zh-CN" altLang="en-US" sz="2400">
                <a:latin typeface="华文新魏" pitchFamily="2" charset="-122"/>
                <a:ea typeface="华文新魏" pitchFamily="2" charset="-122"/>
              </a:rPr>
              <a:t>在某些场合可能需要禁止在用户模式下访问</a:t>
            </a:r>
            <a:r>
              <a:rPr lang="en-US" altLang="zh-CN" sz="2400">
                <a:latin typeface="华文新魏" pitchFamily="2" charset="-122"/>
                <a:ea typeface="华文新魏" pitchFamily="2" charset="-122"/>
              </a:rPr>
              <a:t>VIC</a:t>
            </a:r>
            <a:r>
              <a:rPr lang="zh-CN" altLang="en-US" sz="2400">
                <a:latin typeface="华文新魏" pitchFamily="2" charset="-122"/>
                <a:ea typeface="华文新魏" pitchFamily="2" charset="-122"/>
              </a:rPr>
              <a:t>寄存器，以提高软件的安全等级。</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74786">
                                            <p:txEl>
                                              <p:pRg st="0" end="0"/>
                                            </p:txEl>
                                          </p:spTgt>
                                        </p:tgtEl>
                                        <p:attrNameLst>
                                          <p:attrName>style.visibility</p:attrName>
                                        </p:attrNameLst>
                                      </p:cBhvr>
                                      <p:to>
                                        <p:strVal val="visible"/>
                                      </p:to>
                                    </p:set>
                                    <p:anim calcmode="lin" valueType="num">
                                      <p:cBhvr additive="base">
                                        <p:cTn id="7" dur="500" fill="hold"/>
                                        <p:tgtEl>
                                          <p:spTgt spid="37478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74786">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374815"/>
                                        </p:tgtEl>
                                        <p:attrNameLst>
                                          <p:attrName>style.visibility</p:attrName>
                                        </p:attrNameLst>
                                      </p:cBhvr>
                                      <p:to>
                                        <p:strVal val="visible"/>
                                      </p:to>
                                    </p:set>
                                    <p:animEffect transition="in" filter="box(in)">
                                      <p:cBhvr>
                                        <p:cTn id="12" dur="500"/>
                                        <p:tgtEl>
                                          <p:spTgt spid="374815"/>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374800"/>
                                        </p:tgtEl>
                                        <p:attrNameLst>
                                          <p:attrName>style.visibility</p:attrName>
                                        </p:attrNameLst>
                                      </p:cBhvr>
                                      <p:to>
                                        <p:strVal val="visible"/>
                                      </p:to>
                                    </p:set>
                                    <p:anim calcmode="lin" valueType="num">
                                      <p:cBhvr additive="base">
                                        <p:cTn id="16" dur="500" fill="hold"/>
                                        <p:tgtEl>
                                          <p:spTgt spid="374800"/>
                                        </p:tgtEl>
                                        <p:attrNameLst>
                                          <p:attrName>ppt_x</p:attrName>
                                        </p:attrNameLst>
                                      </p:cBhvr>
                                      <p:tavLst>
                                        <p:tav tm="0">
                                          <p:val>
                                            <p:strVal val="0-#ppt_w/2"/>
                                          </p:val>
                                        </p:tav>
                                        <p:tav tm="100000">
                                          <p:val>
                                            <p:strVal val="#ppt_x"/>
                                          </p:val>
                                        </p:tav>
                                      </p:tavLst>
                                    </p:anim>
                                    <p:anim calcmode="lin" valueType="num">
                                      <p:cBhvr additive="base">
                                        <p:cTn id="17" dur="500" fill="hold"/>
                                        <p:tgtEl>
                                          <p:spTgt spid="374800"/>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12" presetClass="entr" presetSubtype="1" fill="hold" nodeType="afterEffect">
                                  <p:stCondLst>
                                    <p:cond delay="0"/>
                                  </p:stCondLst>
                                  <p:childTnLst>
                                    <p:set>
                                      <p:cBhvr>
                                        <p:cTn id="20" dur="1" fill="hold">
                                          <p:stCondLst>
                                            <p:cond delay="0"/>
                                          </p:stCondLst>
                                        </p:cTn>
                                        <p:tgtEl>
                                          <p:spTgt spid="374817"/>
                                        </p:tgtEl>
                                        <p:attrNameLst>
                                          <p:attrName>style.visibility</p:attrName>
                                        </p:attrNameLst>
                                      </p:cBhvr>
                                      <p:to>
                                        <p:strVal val="visible"/>
                                      </p:to>
                                    </p:set>
                                    <p:animEffect transition="in" filter="slide(fromTop)">
                                      <p:cBhvr>
                                        <p:cTn id="21" dur="500"/>
                                        <p:tgtEl>
                                          <p:spTgt spid="3748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786" grpId="0" build="p"/>
      <p:bldP spid="374800" grpId="0" autoUpdateAnimBg="0"/>
      <p:bldP spid="374815"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335" name="Rectangle 47"/>
          <p:cNvSpPr>
            <a:spLocks noChangeArrowheads="1"/>
          </p:cNvSpPr>
          <p:nvPr/>
        </p:nvSpPr>
        <p:spPr bwMode="auto">
          <a:xfrm>
            <a:off x="6276975" y="4214282"/>
            <a:ext cx="2844800" cy="369332"/>
          </a:xfrm>
          <a:prstGeom prst="rect">
            <a:avLst/>
          </a:prstGeom>
          <a:solidFill>
            <a:srgbClr val="FFFF99"/>
          </a:solidFill>
          <a:ln w="9525" algn="ctr">
            <a:noFill/>
            <a:miter lim="800000"/>
            <a:headEnd/>
            <a:tailEnd/>
          </a:ln>
          <a:effectLst/>
        </p:spPr>
        <p:txBody>
          <a:bodyPr anchor="ctr">
            <a:spAutoFit/>
          </a:bodyPr>
          <a:lstStyle/>
          <a:p>
            <a:endParaRPr lang="zh-CN" altLang="en-US"/>
          </a:p>
        </p:txBody>
      </p:sp>
      <p:sp>
        <p:nvSpPr>
          <p:cNvPr id="396290" name="Rectangle 2"/>
          <p:cNvSpPr>
            <a:spLocks noChangeArrowheads="1"/>
          </p:cNvSpPr>
          <p:nvPr/>
        </p:nvSpPr>
        <p:spPr bwMode="auto">
          <a:xfrm>
            <a:off x="2208214" y="1844676"/>
            <a:ext cx="4137025" cy="576263"/>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ea typeface="华文新魏" pitchFamily="2" charset="-122"/>
              </a:rPr>
              <a:t>FIQ</a:t>
            </a:r>
            <a:r>
              <a:rPr lang="zh-CN" altLang="en-US" sz="3200">
                <a:latin typeface="Times New Roman" pitchFamily="18" charset="0"/>
                <a:ea typeface="华文新魏" pitchFamily="2" charset="-122"/>
              </a:rPr>
              <a:t>中断处理</a:t>
            </a:r>
          </a:p>
        </p:txBody>
      </p:sp>
      <p:sp>
        <p:nvSpPr>
          <p:cNvPr id="396291" name="Rectangle 3"/>
          <p:cNvSpPr>
            <a:spLocks noGrp="1" noChangeArrowheads="1"/>
          </p:cNvSpPr>
          <p:nvPr>
            <p:ph type="title"/>
          </p:nvPr>
        </p:nvSpPr>
        <p:spPr>
          <a:noFill/>
          <a:ln/>
        </p:spPr>
        <p:txBody>
          <a:bodyPr/>
          <a:lstStyle/>
          <a:p>
            <a:r>
              <a:rPr lang="en-US" altLang="zh-CN" dirty="0"/>
              <a:t>5.3.4  </a:t>
            </a:r>
            <a:r>
              <a:rPr lang="zh-CN" altLang="en-US" dirty="0"/>
              <a:t>向量中断控制器</a:t>
            </a:r>
          </a:p>
        </p:txBody>
      </p:sp>
      <p:grpSp>
        <p:nvGrpSpPr>
          <p:cNvPr id="396337" name="Group 49"/>
          <p:cNvGrpSpPr>
            <a:grpSpLocks/>
          </p:cNvGrpSpPr>
          <p:nvPr/>
        </p:nvGrpSpPr>
        <p:grpSpPr bwMode="auto">
          <a:xfrm>
            <a:off x="2803525" y="2657475"/>
            <a:ext cx="2795588" cy="2425700"/>
            <a:chOff x="350" y="1738"/>
            <a:chExt cx="1761" cy="1528"/>
          </a:xfrm>
        </p:grpSpPr>
        <p:grpSp>
          <p:nvGrpSpPr>
            <p:cNvPr id="396318" name="Group 30"/>
            <p:cNvGrpSpPr>
              <a:grpSpLocks/>
            </p:cNvGrpSpPr>
            <p:nvPr/>
          </p:nvGrpSpPr>
          <p:grpSpPr bwMode="auto">
            <a:xfrm>
              <a:off x="358" y="2083"/>
              <a:ext cx="1753" cy="295"/>
              <a:chOff x="482" y="1833"/>
              <a:chExt cx="1753" cy="295"/>
            </a:xfrm>
          </p:grpSpPr>
          <p:sp>
            <p:nvSpPr>
              <p:cNvPr id="396308" name="Rectangle 20"/>
              <p:cNvSpPr>
                <a:spLocks noChangeArrowheads="1"/>
              </p:cNvSpPr>
              <p:nvPr/>
            </p:nvSpPr>
            <p:spPr bwMode="auto">
              <a:xfrm>
                <a:off x="713" y="1833"/>
                <a:ext cx="1522" cy="295"/>
              </a:xfrm>
              <a:prstGeom prst="rect">
                <a:avLst/>
              </a:prstGeom>
              <a:solidFill>
                <a:schemeClr val="bg1"/>
              </a:solidFill>
              <a:ln w="9525" algn="ctr">
                <a:solidFill>
                  <a:schemeClr val="tx1"/>
                </a:solidFill>
                <a:miter lim="800000"/>
                <a:headEnd/>
                <a:tailEnd/>
              </a:ln>
              <a:effectLst/>
            </p:spPr>
            <p:txBody>
              <a:bodyPr anchor="ctr"/>
              <a:lstStyle/>
              <a:p>
                <a:pPr algn="l"/>
                <a:r>
                  <a:rPr lang="en-US" altLang="zh-CN">
                    <a:latin typeface="Times New Roman" pitchFamily="18" charset="0"/>
                  </a:rPr>
                  <a:t>SPSR_fiq = CPSR</a:t>
                </a:r>
              </a:p>
            </p:txBody>
          </p:sp>
          <p:sp>
            <p:nvSpPr>
              <p:cNvPr id="396311" name="Oval 23"/>
              <p:cNvSpPr>
                <a:spLocks noChangeArrowheads="1"/>
              </p:cNvSpPr>
              <p:nvPr/>
            </p:nvSpPr>
            <p:spPr bwMode="auto">
              <a:xfrm>
                <a:off x="482" y="1866"/>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1</a:t>
                </a:r>
              </a:p>
            </p:txBody>
          </p:sp>
        </p:grpSp>
        <p:grpSp>
          <p:nvGrpSpPr>
            <p:cNvPr id="396319" name="Group 31"/>
            <p:cNvGrpSpPr>
              <a:grpSpLocks/>
            </p:cNvGrpSpPr>
            <p:nvPr/>
          </p:nvGrpSpPr>
          <p:grpSpPr bwMode="auto">
            <a:xfrm>
              <a:off x="350" y="2379"/>
              <a:ext cx="1761" cy="295"/>
              <a:chOff x="474" y="2129"/>
              <a:chExt cx="1761" cy="295"/>
            </a:xfrm>
          </p:grpSpPr>
          <p:sp>
            <p:nvSpPr>
              <p:cNvPr id="396312" name="Oval 24"/>
              <p:cNvSpPr>
                <a:spLocks noChangeArrowheads="1"/>
              </p:cNvSpPr>
              <p:nvPr/>
            </p:nvSpPr>
            <p:spPr bwMode="auto">
              <a:xfrm>
                <a:off x="474" y="2172"/>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2</a:t>
                </a:r>
              </a:p>
            </p:txBody>
          </p:sp>
          <p:sp>
            <p:nvSpPr>
              <p:cNvPr id="396315" name="Rectangle 27"/>
              <p:cNvSpPr>
                <a:spLocks noChangeArrowheads="1"/>
              </p:cNvSpPr>
              <p:nvPr/>
            </p:nvSpPr>
            <p:spPr bwMode="auto">
              <a:xfrm>
                <a:off x="713" y="2129"/>
                <a:ext cx="1522" cy="295"/>
              </a:xfrm>
              <a:prstGeom prst="rect">
                <a:avLst/>
              </a:prstGeom>
              <a:solidFill>
                <a:schemeClr val="bg1"/>
              </a:solidFill>
              <a:ln w="9525" algn="ctr">
                <a:solidFill>
                  <a:schemeClr val="tx1"/>
                </a:solidFill>
                <a:miter lim="800000"/>
                <a:headEnd/>
                <a:tailEnd/>
              </a:ln>
              <a:effectLst/>
            </p:spPr>
            <p:txBody>
              <a:bodyPr anchor="ctr"/>
              <a:lstStyle/>
              <a:p>
                <a:pPr algn="l"/>
                <a:r>
                  <a:rPr lang="en-US" altLang="zh-CN">
                    <a:latin typeface="Times New Roman" pitchFamily="18" charset="0"/>
                  </a:rPr>
                  <a:t>CPSR = nzcvq</a:t>
                </a:r>
                <a:r>
                  <a:rPr lang="en-US" altLang="zh-CN">
                    <a:solidFill>
                      <a:srgbClr val="FF0000"/>
                    </a:solidFill>
                    <a:latin typeface="Times New Roman" pitchFamily="18" charset="0"/>
                  </a:rPr>
                  <a:t>IF</a:t>
                </a:r>
                <a:r>
                  <a:rPr lang="en-US" altLang="zh-CN">
                    <a:latin typeface="Times New Roman" pitchFamily="18" charset="0"/>
                  </a:rPr>
                  <a:t>t_fiq</a:t>
                </a:r>
              </a:p>
            </p:txBody>
          </p:sp>
        </p:grpSp>
        <p:grpSp>
          <p:nvGrpSpPr>
            <p:cNvPr id="396320" name="Group 32"/>
            <p:cNvGrpSpPr>
              <a:grpSpLocks/>
            </p:cNvGrpSpPr>
            <p:nvPr/>
          </p:nvGrpSpPr>
          <p:grpSpPr bwMode="auto">
            <a:xfrm>
              <a:off x="350" y="2674"/>
              <a:ext cx="1761" cy="295"/>
              <a:chOff x="474" y="2424"/>
              <a:chExt cx="1761" cy="295"/>
            </a:xfrm>
          </p:grpSpPr>
          <p:sp>
            <p:nvSpPr>
              <p:cNvPr id="396313" name="Oval 25"/>
              <p:cNvSpPr>
                <a:spLocks noChangeArrowheads="1"/>
              </p:cNvSpPr>
              <p:nvPr/>
            </p:nvSpPr>
            <p:spPr bwMode="auto">
              <a:xfrm>
                <a:off x="474" y="2471"/>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3</a:t>
                </a:r>
              </a:p>
            </p:txBody>
          </p:sp>
          <p:sp>
            <p:nvSpPr>
              <p:cNvPr id="396316" name="Rectangle 28"/>
              <p:cNvSpPr>
                <a:spLocks noChangeArrowheads="1"/>
              </p:cNvSpPr>
              <p:nvPr/>
            </p:nvSpPr>
            <p:spPr bwMode="auto">
              <a:xfrm>
                <a:off x="713" y="2424"/>
                <a:ext cx="1522" cy="295"/>
              </a:xfrm>
              <a:prstGeom prst="rect">
                <a:avLst/>
              </a:prstGeom>
              <a:solidFill>
                <a:schemeClr val="bg1"/>
              </a:solidFill>
              <a:ln w="9525" algn="ctr">
                <a:solidFill>
                  <a:schemeClr val="tx1"/>
                </a:solidFill>
                <a:miter lim="800000"/>
                <a:headEnd/>
                <a:tailEnd/>
              </a:ln>
              <a:effectLst/>
            </p:spPr>
            <p:txBody>
              <a:bodyPr anchor="ctr"/>
              <a:lstStyle/>
              <a:p>
                <a:pPr algn="l"/>
                <a:r>
                  <a:rPr lang="en-US" altLang="zh-CN">
                    <a:latin typeface="Times New Roman" pitchFamily="18" charset="0"/>
                  </a:rPr>
                  <a:t>LR_fiq = PC</a:t>
                </a:r>
              </a:p>
            </p:txBody>
          </p:sp>
        </p:grpSp>
        <p:grpSp>
          <p:nvGrpSpPr>
            <p:cNvPr id="396321" name="Group 33"/>
            <p:cNvGrpSpPr>
              <a:grpSpLocks/>
            </p:cNvGrpSpPr>
            <p:nvPr/>
          </p:nvGrpSpPr>
          <p:grpSpPr bwMode="auto">
            <a:xfrm>
              <a:off x="350" y="2971"/>
              <a:ext cx="1761" cy="295"/>
              <a:chOff x="474" y="2721"/>
              <a:chExt cx="1761" cy="295"/>
            </a:xfrm>
          </p:grpSpPr>
          <p:sp>
            <p:nvSpPr>
              <p:cNvPr id="396314" name="Oval 26"/>
              <p:cNvSpPr>
                <a:spLocks noChangeArrowheads="1"/>
              </p:cNvSpPr>
              <p:nvPr/>
            </p:nvSpPr>
            <p:spPr bwMode="auto">
              <a:xfrm>
                <a:off x="474" y="2768"/>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4</a:t>
                </a:r>
              </a:p>
            </p:txBody>
          </p:sp>
          <p:sp>
            <p:nvSpPr>
              <p:cNvPr id="396317" name="Rectangle 29"/>
              <p:cNvSpPr>
                <a:spLocks noChangeArrowheads="1"/>
              </p:cNvSpPr>
              <p:nvPr/>
            </p:nvSpPr>
            <p:spPr bwMode="auto">
              <a:xfrm>
                <a:off x="713" y="2721"/>
                <a:ext cx="1522" cy="295"/>
              </a:xfrm>
              <a:prstGeom prst="rect">
                <a:avLst/>
              </a:prstGeom>
              <a:solidFill>
                <a:schemeClr val="bg1"/>
              </a:solidFill>
              <a:ln w="9525" algn="ctr">
                <a:solidFill>
                  <a:schemeClr val="tx1"/>
                </a:solidFill>
                <a:miter lim="800000"/>
                <a:headEnd/>
                <a:tailEnd/>
              </a:ln>
              <a:effectLst/>
            </p:spPr>
            <p:txBody>
              <a:bodyPr anchor="ctr"/>
              <a:lstStyle/>
              <a:p>
                <a:pPr algn="l"/>
                <a:r>
                  <a:rPr lang="en-US" altLang="zh-CN">
                    <a:latin typeface="Times New Roman" pitchFamily="18" charset="0"/>
                  </a:rPr>
                  <a:t>PC = 0x1C</a:t>
                </a:r>
              </a:p>
            </p:txBody>
          </p:sp>
        </p:grpSp>
        <p:sp>
          <p:nvSpPr>
            <p:cNvPr id="396322" name="Text Box 34"/>
            <p:cNvSpPr txBox="1">
              <a:spLocks noChangeArrowheads="1"/>
            </p:cNvSpPr>
            <p:nvPr/>
          </p:nvSpPr>
          <p:spPr bwMode="auto">
            <a:xfrm>
              <a:off x="859" y="1738"/>
              <a:ext cx="884" cy="288"/>
            </a:xfrm>
            <a:prstGeom prst="rect">
              <a:avLst/>
            </a:prstGeom>
            <a:noFill/>
            <a:ln w="9525" algn="ctr">
              <a:noFill/>
              <a:miter lim="800000"/>
              <a:headEnd/>
              <a:tailEnd/>
            </a:ln>
            <a:effectLst/>
          </p:spPr>
          <p:txBody>
            <a:bodyPr wrap="none">
              <a:spAutoFit/>
            </a:bodyPr>
            <a:lstStyle/>
            <a:p>
              <a:r>
                <a:rPr lang="zh-CN" altLang="en-US" sz="2400">
                  <a:ea typeface="华文新魏" pitchFamily="2" charset="-122"/>
                </a:rPr>
                <a:t>硬件处理</a:t>
              </a:r>
            </a:p>
          </p:txBody>
        </p:sp>
      </p:grpSp>
      <p:grpSp>
        <p:nvGrpSpPr>
          <p:cNvPr id="396339" name="Group 51"/>
          <p:cNvGrpSpPr>
            <a:grpSpLocks/>
          </p:cNvGrpSpPr>
          <p:nvPr/>
        </p:nvGrpSpPr>
        <p:grpSpPr bwMode="auto">
          <a:xfrm>
            <a:off x="5975350" y="2630489"/>
            <a:ext cx="3221038" cy="1997075"/>
            <a:chOff x="2348" y="1721"/>
            <a:chExt cx="2029" cy="1258"/>
          </a:xfrm>
        </p:grpSpPr>
        <p:sp>
          <p:nvSpPr>
            <p:cNvPr id="396323" name="Text Box 35"/>
            <p:cNvSpPr txBox="1">
              <a:spLocks noChangeArrowheads="1"/>
            </p:cNvSpPr>
            <p:nvPr/>
          </p:nvSpPr>
          <p:spPr bwMode="auto">
            <a:xfrm>
              <a:off x="2998" y="1721"/>
              <a:ext cx="884" cy="288"/>
            </a:xfrm>
            <a:prstGeom prst="rect">
              <a:avLst/>
            </a:prstGeom>
            <a:noFill/>
            <a:ln w="9525" algn="ctr">
              <a:noFill/>
              <a:miter lim="800000"/>
              <a:headEnd/>
              <a:tailEnd/>
            </a:ln>
            <a:effectLst/>
          </p:spPr>
          <p:txBody>
            <a:bodyPr wrap="none">
              <a:spAutoFit/>
            </a:bodyPr>
            <a:lstStyle/>
            <a:p>
              <a:r>
                <a:rPr lang="zh-CN" altLang="en-US" sz="2400">
                  <a:ea typeface="华文新魏" pitchFamily="2" charset="-122"/>
                </a:rPr>
                <a:t>软件处理</a:t>
              </a:r>
            </a:p>
          </p:txBody>
        </p:sp>
        <p:grpSp>
          <p:nvGrpSpPr>
            <p:cNvPr id="396338" name="Group 50"/>
            <p:cNvGrpSpPr>
              <a:grpSpLocks/>
            </p:cNvGrpSpPr>
            <p:nvPr/>
          </p:nvGrpSpPr>
          <p:grpSpPr bwMode="auto">
            <a:xfrm>
              <a:off x="2349" y="2096"/>
              <a:ext cx="2028" cy="294"/>
              <a:chOff x="2349" y="2096"/>
              <a:chExt cx="2028" cy="294"/>
            </a:xfrm>
          </p:grpSpPr>
          <p:sp>
            <p:nvSpPr>
              <p:cNvPr id="396325" name="Rectangle 37"/>
              <p:cNvSpPr>
                <a:spLocks noChangeArrowheads="1"/>
              </p:cNvSpPr>
              <p:nvPr/>
            </p:nvSpPr>
            <p:spPr bwMode="auto">
              <a:xfrm>
                <a:off x="2580" y="2096"/>
                <a:ext cx="1797" cy="294"/>
              </a:xfrm>
              <a:prstGeom prst="rect">
                <a:avLst/>
              </a:prstGeom>
              <a:solidFill>
                <a:schemeClr val="bg1"/>
              </a:solidFill>
              <a:ln w="9525" algn="ctr">
                <a:solidFill>
                  <a:schemeClr val="tx1"/>
                </a:solidFill>
                <a:miter lim="800000"/>
                <a:headEnd/>
                <a:tailEnd/>
              </a:ln>
              <a:effectLst/>
            </p:spPr>
            <p:txBody>
              <a:bodyPr anchor="ctr"/>
              <a:lstStyle/>
              <a:p>
                <a:pPr algn="l"/>
                <a:r>
                  <a:rPr lang="zh-CN" altLang="en-US">
                    <a:latin typeface="Times New Roman" pitchFamily="18" charset="0"/>
                  </a:rPr>
                  <a:t>中断服务程序</a:t>
                </a:r>
              </a:p>
            </p:txBody>
          </p:sp>
          <p:sp>
            <p:nvSpPr>
              <p:cNvPr id="396326" name="Oval 38"/>
              <p:cNvSpPr>
                <a:spLocks noChangeArrowheads="1"/>
              </p:cNvSpPr>
              <p:nvPr/>
            </p:nvSpPr>
            <p:spPr bwMode="auto">
              <a:xfrm>
                <a:off x="2349" y="2124"/>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1</a:t>
                </a:r>
              </a:p>
            </p:txBody>
          </p:sp>
        </p:grpSp>
        <p:grpSp>
          <p:nvGrpSpPr>
            <p:cNvPr id="396333" name="Group 45"/>
            <p:cNvGrpSpPr>
              <a:grpSpLocks/>
            </p:cNvGrpSpPr>
            <p:nvPr/>
          </p:nvGrpSpPr>
          <p:grpSpPr bwMode="auto">
            <a:xfrm>
              <a:off x="2348" y="2388"/>
              <a:ext cx="2029" cy="295"/>
              <a:chOff x="2348" y="2460"/>
              <a:chExt cx="2029" cy="295"/>
            </a:xfrm>
          </p:grpSpPr>
          <p:sp>
            <p:nvSpPr>
              <p:cNvPr id="396328" name="Rectangle 40"/>
              <p:cNvSpPr>
                <a:spLocks noChangeArrowheads="1"/>
              </p:cNvSpPr>
              <p:nvPr/>
            </p:nvSpPr>
            <p:spPr bwMode="auto">
              <a:xfrm>
                <a:off x="2579" y="2460"/>
                <a:ext cx="1798" cy="295"/>
              </a:xfrm>
              <a:prstGeom prst="rect">
                <a:avLst/>
              </a:prstGeom>
              <a:noFill/>
              <a:ln w="9525" algn="ctr">
                <a:solidFill>
                  <a:schemeClr val="tx1"/>
                </a:solidFill>
                <a:miter lim="800000"/>
                <a:headEnd/>
                <a:tailEnd/>
              </a:ln>
              <a:effectLst/>
            </p:spPr>
            <p:txBody>
              <a:bodyPr anchor="ctr"/>
              <a:lstStyle/>
              <a:p>
                <a:pPr algn="l"/>
                <a:r>
                  <a:rPr lang="zh-CN" altLang="en-US">
                    <a:latin typeface="Times New Roman" pitchFamily="18" charset="0"/>
                  </a:rPr>
                  <a:t>设置返回地址</a:t>
                </a:r>
              </a:p>
            </p:txBody>
          </p:sp>
          <p:sp>
            <p:nvSpPr>
              <p:cNvPr id="396329" name="Oval 41"/>
              <p:cNvSpPr>
                <a:spLocks noChangeArrowheads="1"/>
              </p:cNvSpPr>
              <p:nvPr/>
            </p:nvSpPr>
            <p:spPr bwMode="auto">
              <a:xfrm>
                <a:off x="2348" y="2493"/>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2</a:t>
                </a:r>
              </a:p>
            </p:txBody>
          </p:sp>
        </p:grpSp>
        <p:grpSp>
          <p:nvGrpSpPr>
            <p:cNvPr id="396332" name="Group 44"/>
            <p:cNvGrpSpPr>
              <a:grpSpLocks/>
            </p:cNvGrpSpPr>
            <p:nvPr/>
          </p:nvGrpSpPr>
          <p:grpSpPr bwMode="auto">
            <a:xfrm>
              <a:off x="2348" y="2684"/>
              <a:ext cx="2029" cy="295"/>
              <a:chOff x="2348" y="2756"/>
              <a:chExt cx="2029" cy="295"/>
            </a:xfrm>
          </p:grpSpPr>
          <p:sp>
            <p:nvSpPr>
              <p:cNvPr id="396330" name="Rectangle 42"/>
              <p:cNvSpPr>
                <a:spLocks noChangeArrowheads="1"/>
              </p:cNvSpPr>
              <p:nvPr/>
            </p:nvSpPr>
            <p:spPr bwMode="auto">
              <a:xfrm>
                <a:off x="2579" y="2756"/>
                <a:ext cx="1798" cy="295"/>
              </a:xfrm>
              <a:prstGeom prst="rect">
                <a:avLst/>
              </a:prstGeom>
              <a:noFill/>
              <a:ln w="9525" algn="ctr">
                <a:solidFill>
                  <a:schemeClr val="tx1"/>
                </a:solidFill>
                <a:miter lim="800000"/>
                <a:headEnd/>
                <a:tailEnd/>
              </a:ln>
              <a:effectLst/>
            </p:spPr>
            <p:txBody>
              <a:bodyPr anchor="ctr"/>
              <a:lstStyle/>
              <a:p>
                <a:pPr algn="l"/>
                <a:r>
                  <a:rPr lang="zh-CN" altLang="en-US" dirty="0">
                    <a:latin typeface="Times New Roman" pitchFamily="18" charset="0"/>
                  </a:rPr>
                  <a:t>恢复程序状态寄存器</a:t>
                </a:r>
                <a:r>
                  <a:rPr lang="en-US" altLang="zh-CN" dirty="0">
                    <a:latin typeface="Times New Roman" pitchFamily="18" charset="0"/>
                  </a:rPr>
                  <a:t>CPSR</a:t>
                </a:r>
              </a:p>
            </p:txBody>
          </p:sp>
          <p:sp>
            <p:nvSpPr>
              <p:cNvPr id="396331" name="Oval 43"/>
              <p:cNvSpPr>
                <a:spLocks noChangeArrowheads="1"/>
              </p:cNvSpPr>
              <p:nvPr/>
            </p:nvSpPr>
            <p:spPr bwMode="auto">
              <a:xfrm>
                <a:off x="2348" y="2789"/>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3</a:t>
                </a:r>
              </a:p>
            </p:txBody>
          </p:sp>
        </p:grpSp>
      </p:grpSp>
      <p:sp>
        <p:nvSpPr>
          <p:cNvPr id="396334" name="Rectangle 46"/>
          <p:cNvSpPr>
            <a:spLocks noChangeArrowheads="1"/>
          </p:cNvSpPr>
          <p:nvPr/>
        </p:nvSpPr>
        <p:spPr bwMode="auto">
          <a:xfrm>
            <a:off x="6334125" y="5386388"/>
            <a:ext cx="2776538" cy="457200"/>
          </a:xfrm>
          <a:prstGeom prst="rect">
            <a:avLst/>
          </a:prstGeom>
          <a:noFill/>
          <a:ln w="9525" algn="ctr">
            <a:noFill/>
            <a:miter lim="800000"/>
            <a:headEnd/>
            <a:tailEnd/>
          </a:ln>
          <a:effectLst/>
        </p:spPr>
        <p:txBody>
          <a:bodyPr wrap="none">
            <a:spAutoFit/>
          </a:bodyPr>
          <a:lstStyle/>
          <a:p>
            <a:r>
              <a:rPr lang="en-US" altLang="zh-CN" sz="2400">
                <a:latin typeface="Times New Roman" pitchFamily="18" charset="0"/>
              </a:rPr>
              <a:t>SUB</a:t>
            </a:r>
            <a:r>
              <a:rPr lang="en-US" altLang="zh-CN" sz="2400">
                <a:solidFill>
                  <a:srgbClr val="FF0000"/>
                </a:solidFill>
                <a:latin typeface="Times New Roman" pitchFamily="18" charset="0"/>
              </a:rPr>
              <a:t>S</a:t>
            </a:r>
            <a:r>
              <a:rPr lang="en-US" altLang="zh-CN" sz="2400">
                <a:latin typeface="Times New Roman" pitchFamily="18" charset="0"/>
              </a:rPr>
              <a:t>    PC,  LR,  #4</a:t>
            </a:r>
          </a:p>
        </p:txBody>
      </p:sp>
      <p:sp>
        <p:nvSpPr>
          <p:cNvPr id="396336" name="AutoShape 48"/>
          <p:cNvSpPr>
            <a:spLocks noChangeArrowheads="1"/>
          </p:cNvSpPr>
          <p:nvPr/>
        </p:nvSpPr>
        <p:spPr bwMode="auto">
          <a:xfrm>
            <a:off x="7512050" y="4812388"/>
            <a:ext cx="407988" cy="447913"/>
          </a:xfrm>
          <a:prstGeom prst="downArrow">
            <a:avLst>
              <a:gd name="adj1" fmla="val 50000"/>
              <a:gd name="adj2" fmla="val 39008"/>
            </a:avLst>
          </a:prstGeom>
          <a:solidFill>
            <a:srgbClr val="0000FF"/>
          </a:solidFill>
          <a:ln w="9525" algn="ctr">
            <a:solidFill>
              <a:schemeClr val="tx1"/>
            </a:solidFill>
            <a:miter lim="800000"/>
            <a:headEnd/>
            <a:tailEnd/>
          </a:ln>
          <a:effectLst/>
        </p:spPr>
        <p:txBody>
          <a:bodyPr anchor="ctr">
            <a:spAutoFit/>
          </a:bodyPr>
          <a:lstStyle/>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96290">
                                            <p:txEl>
                                              <p:pRg st="0" end="0"/>
                                            </p:txEl>
                                          </p:spTgt>
                                        </p:tgtEl>
                                        <p:attrNameLst>
                                          <p:attrName>style.visibility</p:attrName>
                                        </p:attrNameLst>
                                      </p:cBhvr>
                                      <p:to>
                                        <p:strVal val="visible"/>
                                      </p:to>
                                    </p:set>
                                    <p:anim calcmode="lin" valueType="num">
                                      <p:cBhvr additive="base">
                                        <p:cTn id="7" dur="500" fill="hold"/>
                                        <p:tgtEl>
                                          <p:spTgt spid="39629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96290">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396337"/>
                                        </p:tgtEl>
                                        <p:attrNameLst>
                                          <p:attrName>style.visibility</p:attrName>
                                        </p:attrNameLst>
                                      </p:cBhvr>
                                      <p:to>
                                        <p:strVal val="visible"/>
                                      </p:to>
                                    </p:set>
                                    <p:animEffect transition="in" filter="wipe(up)">
                                      <p:cBhvr>
                                        <p:cTn id="12" dur="500"/>
                                        <p:tgtEl>
                                          <p:spTgt spid="396337"/>
                                        </p:tgtEl>
                                      </p:cBhvr>
                                    </p:animEffect>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396339"/>
                                        </p:tgtEl>
                                        <p:attrNameLst>
                                          <p:attrName>style.visibility</p:attrName>
                                        </p:attrNameLst>
                                      </p:cBhvr>
                                      <p:to>
                                        <p:strVal val="visible"/>
                                      </p:to>
                                    </p:set>
                                    <p:animEffect transition="in" filter="wipe(up)">
                                      <p:cBhvr>
                                        <p:cTn id="16" dur="500"/>
                                        <p:tgtEl>
                                          <p:spTgt spid="39633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396335"/>
                                        </p:tgtEl>
                                        <p:attrNameLst>
                                          <p:attrName>style.visibility</p:attrName>
                                        </p:attrNameLst>
                                      </p:cBhvr>
                                      <p:to>
                                        <p:strVal val="visible"/>
                                      </p:to>
                                    </p:set>
                                    <p:animEffect transition="in" filter="wipe(up)">
                                      <p:cBhvr>
                                        <p:cTn id="21" dur="500"/>
                                        <p:tgtEl>
                                          <p:spTgt spid="396335"/>
                                        </p:tgtEl>
                                      </p:cBhvr>
                                    </p:animEffect>
                                  </p:childTnLst>
                                </p:cTn>
                              </p:par>
                            </p:childTnLst>
                          </p:cTn>
                        </p:par>
                        <p:par>
                          <p:cTn id="22" fill="hold">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396336"/>
                                        </p:tgtEl>
                                        <p:attrNameLst>
                                          <p:attrName>style.visibility</p:attrName>
                                        </p:attrNameLst>
                                      </p:cBhvr>
                                      <p:to>
                                        <p:strVal val="visible"/>
                                      </p:to>
                                    </p:set>
                                    <p:animEffect transition="in" filter="wipe(up)">
                                      <p:cBhvr>
                                        <p:cTn id="25" dur="500"/>
                                        <p:tgtEl>
                                          <p:spTgt spid="396336"/>
                                        </p:tgtEl>
                                      </p:cBhvr>
                                    </p:animEffect>
                                  </p:childTnLst>
                                </p:cTn>
                              </p:par>
                            </p:childTnLst>
                          </p:cTn>
                        </p:par>
                        <p:par>
                          <p:cTn id="26" fill="hold">
                            <p:stCondLst>
                              <p:cond delay="1000"/>
                            </p:stCondLst>
                            <p:childTnLst>
                              <p:par>
                                <p:cTn id="27" presetID="3" presetClass="entr" presetSubtype="10" fill="hold" grpId="0" nodeType="afterEffect">
                                  <p:stCondLst>
                                    <p:cond delay="0"/>
                                  </p:stCondLst>
                                  <p:childTnLst>
                                    <p:set>
                                      <p:cBhvr>
                                        <p:cTn id="28" dur="1" fill="hold">
                                          <p:stCondLst>
                                            <p:cond delay="0"/>
                                          </p:stCondLst>
                                        </p:cTn>
                                        <p:tgtEl>
                                          <p:spTgt spid="396334"/>
                                        </p:tgtEl>
                                        <p:attrNameLst>
                                          <p:attrName>style.visibility</p:attrName>
                                        </p:attrNameLst>
                                      </p:cBhvr>
                                      <p:to>
                                        <p:strVal val="visible"/>
                                      </p:to>
                                    </p:set>
                                    <p:animEffect transition="in" filter="blinds(horizontal)">
                                      <p:cBhvr>
                                        <p:cTn id="29" dur="500"/>
                                        <p:tgtEl>
                                          <p:spTgt spid="396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335" grpId="0" animBg="1"/>
      <p:bldP spid="396290" grpId="0" build="p"/>
      <p:bldP spid="396334" grpId="0"/>
      <p:bldP spid="396336"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53" name="Rectangle 41"/>
          <p:cNvSpPr>
            <a:spLocks noChangeArrowheads="1"/>
          </p:cNvSpPr>
          <p:nvPr/>
        </p:nvSpPr>
        <p:spPr bwMode="auto">
          <a:xfrm>
            <a:off x="6808788" y="3195915"/>
            <a:ext cx="2844800" cy="369332"/>
          </a:xfrm>
          <a:prstGeom prst="rect">
            <a:avLst/>
          </a:prstGeom>
          <a:solidFill>
            <a:srgbClr val="CCFFFF"/>
          </a:solidFill>
          <a:ln w="9525" algn="ctr">
            <a:noFill/>
            <a:miter lim="800000"/>
            <a:headEnd/>
            <a:tailEnd/>
          </a:ln>
          <a:effectLst/>
        </p:spPr>
        <p:txBody>
          <a:bodyPr anchor="ctr">
            <a:spAutoFit/>
          </a:bodyPr>
          <a:lstStyle/>
          <a:p>
            <a:endParaRPr lang="zh-CN" altLang="en-US"/>
          </a:p>
        </p:txBody>
      </p:sp>
      <p:sp>
        <p:nvSpPr>
          <p:cNvPr id="397314" name="Rectangle 2"/>
          <p:cNvSpPr>
            <a:spLocks noChangeArrowheads="1"/>
          </p:cNvSpPr>
          <p:nvPr/>
        </p:nvSpPr>
        <p:spPr bwMode="auto">
          <a:xfrm>
            <a:off x="2208214" y="1844676"/>
            <a:ext cx="4137025" cy="576263"/>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IRQ</a:t>
            </a:r>
            <a:r>
              <a:rPr lang="zh-CN" altLang="en-US" sz="3200">
                <a:latin typeface="Times New Roman" pitchFamily="18" charset="0"/>
              </a:rPr>
              <a:t>中断处理</a:t>
            </a:r>
          </a:p>
        </p:txBody>
      </p:sp>
      <p:sp>
        <p:nvSpPr>
          <p:cNvPr id="397315" name="Rectangle 3"/>
          <p:cNvSpPr>
            <a:spLocks noGrp="1" noChangeArrowheads="1"/>
          </p:cNvSpPr>
          <p:nvPr>
            <p:ph type="title"/>
          </p:nvPr>
        </p:nvSpPr>
        <p:spPr>
          <a:noFill/>
          <a:ln/>
        </p:spPr>
        <p:txBody>
          <a:bodyPr/>
          <a:lstStyle/>
          <a:p>
            <a:r>
              <a:rPr lang="en-US" altLang="zh-CN" dirty="0"/>
              <a:t>5.3.4  </a:t>
            </a:r>
            <a:r>
              <a:rPr lang="zh-CN" altLang="en-US" dirty="0"/>
              <a:t>向量中断控制器</a:t>
            </a:r>
          </a:p>
        </p:txBody>
      </p:sp>
      <p:sp>
        <p:nvSpPr>
          <p:cNvPr id="397330" name="Text Box 18"/>
          <p:cNvSpPr txBox="1">
            <a:spLocks noChangeArrowheads="1"/>
          </p:cNvSpPr>
          <p:nvPr/>
        </p:nvSpPr>
        <p:spPr bwMode="auto">
          <a:xfrm>
            <a:off x="3711575" y="2593975"/>
            <a:ext cx="1403350" cy="457200"/>
          </a:xfrm>
          <a:prstGeom prst="rect">
            <a:avLst/>
          </a:prstGeom>
          <a:noFill/>
          <a:ln w="9525" algn="ctr">
            <a:noFill/>
            <a:miter lim="800000"/>
            <a:headEnd/>
            <a:tailEnd/>
          </a:ln>
          <a:effectLst/>
        </p:spPr>
        <p:txBody>
          <a:bodyPr wrap="none">
            <a:spAutoFit/>
          </a:bodyPr>
          <a:lstStyle/>
          <a:p>
            <a:r>
              <a:rPr lang="zh-CN" altLang="en-US" sz="2400">
                <a:ea typeface="华文新魏" pitchFamily="2" charset="-122"/>
              </a:rPr>
              <a:t>硬件处理</a:t>
            </a:r>
          </a:p>
        </p:txBody>
      </p:sp>
      <p:grpSp>
        <p:nvGrpSpPr>
          <p:cNvPr id="397357" name="Group 45"/>
          <p:cNvGrpSpPr>
            <a:grpSpLocks/>
          </p:cNvGrpSpPr>
          <p:nvPr/>
        </p:nvGrpSpPr>
        <p:grpSpPr bwMode="auto">
          <a:xfrm>
            <a:off x="2509838" y="3141663"/>
            <a:ext cx="3592512" cy="2347912"/>
            <a:chOff x="173" y="1979"/>
            <a:chExt cx="2263" cy="1479"/>
          </a:xfrm>
        </p:grpSpPr>
        <p:sp>
          <p:nvSpPr>
            <p:cNvPr id="397319" name="Rectangle 7"/>
            <p:cNvSpPr>
              <a:spLocks noChangeArrowheads="1"/>
            </p:cNvSpPr>
            <p:nvPr/>
          </p:nvSpPr>
          <p:spPr bwMode="auto">
            <a:xfrm>
              <a:off x="412" y="1979"/>
              <a:ext cx="2024" cy="295"/>
            </a:xfrm>
            <a:prstGeom prst="rect">
              <a:avLst/>
            </a:prstGeom>
            <a:solidFill>
              <a:schemeClr val="bg1"/>
            </a:solidFill>
            <a:ln w="9525" algn="ctr">
              <a:solidFill>
                <a:schemeClr val="tx1"/>
              </a:solidFill>
              <a:miter lim="800000"/>
              <a:headEnd/>
              <a:tailEnd/>
            </a:ln>
            <a:effectLst/>
          </p:spPr>
          <p:txBody>
            <a:bodyPr anchor="ctr"/>
            <a:lstStyle/>
            <a:p>
              <a:pPr algn="l"/>
              <a:r>
                <a:rPr lang="en-US" altLang="zh-CN">
                  <a:latin typeface="Times New Roman" pitchFamily="18" charset="0"/>
                </a:rPr>
                <a:t>SPSR_irq = CPSR</a:t>
              </a:r>
            </a:p>
          </p:txBody>
        </p:sp>
        <p:sp>
          <p:nvSpPr>
            <p:cNvPr id="397320" name="Oval 8"/>
            <p:cNvSpPr>
              <a:spLocks noChangeArrowheads="1"/>
            </p:cNvSpPr>
            <p:nvPr/>
          </p:nvSpPr>
          <p:spPr bwMode="auto">
            <a:xfrm>
              <a:off x="181" y="2012"/>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1</a:t>
              </a:r>
            </a:p>
          </p:txBody>
        </p:sp>
        <p:sp>
          <p:nvSpPr>
            <p:cNvPr id="397322" name="Oval 10"/>
            <p:cNvSpPr>
              <a:spLocks noChangeArrowheads="1"/>
            </p:cNvSpPr>
            <p:nvPr/>
          </p:nvSpPr>
          <p:spPr bwMode="auto">
            <a:xfrm>
              <a:off x="173" y="2318"/>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2</a:t>
              </a:r>
            </a:p>
          </p:txBody>
        </p:sp>
        <p:sp>
          <p:nvSpPr>
            <p:cNvPr id="397323" name="Rectangle 11"/>
            <p:cNvSpPr>
              <a:spLocks noChangeArrowheads="1"/>
            </p:cNvSpPr>
            <p:nvPr/>
          </p:nvSpPr>
          <p:spPr bwMode="auto">
            <a:xfrm>
              <a:off x="412" y="2275"/>
              <a:ext cx="2024" cy="295"/>
            </a:xfrm>
            <a:prstGeom prst="rect">
              <a:avLst/>
            </a:prstGeom>
            <a:solidFill>
              <a:schemeClr val="bg1"/>
            </a:solidFill>
            <a:ln w="9525" algn="ctr">
              <a:solidFill>
                <a:schemeClr val="tx1"/>
              </a:solidFill>
              <a:miter lim="800000"/>
              <a:headEnd/>
              <a:tailEnd/>
            </a:ln>
            <a:effectLst/>
          </p:spPr>
          <p:txBody>
            <a:bodyPr anchor="ctr"/>
            <a:lstStyle/>
            <a:p>
              <a:pPr algn="l"/>
              <a:r>
                <a:rPr lang="en-US" altLang="zh-CN">
                  <a:latin typeface="Times New Roman" pitchFamily="18" charset="0"/>
                </a:rPr>
                <a:t>CPSR = nzcvq</a:t>
              </a:r>
              <a:r>
                <a:rPr lang="en-US" altLang="zh-CN">
                  <a:solidFill>
                    <a:srgbClr val="FF0000"/>
                  </a:solidFill>
                  <a:latin typeface="Times New Roman" pitchFamily="18" charset="0"/>
                </a:rPr>
                <a:t>I</a:t>
              </a:r>
              <a:r>
                <a:rPr lang="en-US" altLang="zh-CN">
                  <a:latin typeface="Times New Roman" pitchFamily="18" charset="0"/>
                </a:rPr>
                <a:t>ft_irq</a:t>
              </a:r>
            </a:p>
          </p:txBody>
        </p:sp>
        <p:sp>
          <p:nvSpPr>
            <p:cNvPr id="397325" name="Oval 13"/>
            <p:cNvSpPr>
              <a:spLocks noChangeArrowheads="1"/>
            </p:cNvSpPr>
            <p:nvPr/>
          </p:nvSpPr>
          <p:spPr bwMode="auto">
            <a:xfrm>
              <a:off x="173" y="2617"/>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3</a:t>
              </a:r>
            </a:p>
          </p:txBody>
        </p:sp>
        <p:sp>
          <p:nvSpPr>
            <p:cNvPr id="397326" name="Rectangle 14"/>
            <p:cNvSpPr>
              <a:spLocks noChangeArrowheads="1"/>
            </p:cNvSpPr>
            <p:nvPr/>
          </p:nvSpPr>
          <p:spPr bwMode="auto">
            <a:xfrm>
              <a:off x="412" y="2570"/>
              <a:ext cx="2024" cy="295"/>
            </a:xfrm>
            <a:prstGeom prst="rect">
              <a:avLst/>
            </a:prstGeom>
            <a:solidFill>
              <a:schemeClr val="bg1"/>
            </a:solidFill>
            <a:ln w="9525" algn="ctr">
              <a:solidFill>
                <a:schemeClr val="tx1"/>
              </a:solidFill>
              <a:miter lim="800000"/>
              <a:headEnd/>
              <a:tailEnd/>
            </a:ln>
            <a:effectLst/>
          </p:spPr>
          <p:txBody>
            <a:bodyPr anchor="ctr"/>
            <a:lstStyle/>
            <a:p>
              <a:pPr algn="l"/>
              <a:r>
                <a:rPr lang="en-US" altLang="zh-CN">
                  <a:latin typeface="Times New Roman" pitchFamily="18" charset="0"/>
                </a:rPr>
                <a:t>VICVectAddr = VICVectAddrn</a:t>
              </a:r>
            </a:p>
          </p:txBody>
        </p:sp>
        <p:sp>
          <p:nvSpPr>
            <p:cNvPr id="397328" name="Oval 16"/>
            <p:cNvSpPr>
              <a:spLocks noChangeArrowheads="1"/>
            </p:cNvSpPr>
            <p:nvPr/>
          </p:nvSpPr>
          <p:spPr bwMode="auto">
            <a:xfrm>
              <a:off x="173" y="2914"/>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4</a:t>
              </a:r>
            </a:p>
          </p:txBody>
        </p:sp>
        <p:sp>
          <p:nvSpPr>
            <p:cNvPr id="397329" name="Rectangle 17"/>
            <p:cNvSpPr>
              <a:spLocks noChangeArrowheads="1"/>
            </p:cNvSpPr>
            <p:nvPr/>
          </p:nvSpPr>
          <p:spPr bwMode="auto">
            <a:xfrm>
              <a:off x="412" y="2867"/>
              <a:ext cx="2024" cy="295"/>
            </a:xfrm>
            <a:prstGeom prst="rect">
              <a:avLst/>
            </a:prstGeom>
            <a:solidFill>
              <a:schemeClr val="bg1"/>
            </a:solidFill>
            <a:ln w="9525" algn="ctr">
              <a:solidFill>
                <a:schemeClr val="tx1"/>
              </a:solidFill>
              <a:miter lim="800000"/>
              <a:headEnd/>
              <a:tailEnd/>
            </a:ln>
            <a:effectLst/>
          </p:spPr>
          <p:txBody>
            <a:bodyPr anchor="ctr"/>
            <a:lstStyle/>
            <a:p>
              <a:pPr algn="l"/>
              <a:r>
                <a:rPr lang="en-US" altLang="zh-CN">
                  <a:latin typeface="Times New Roman" pitchFamily="18" charset="0"/>
                </a:rPr>
                <a:t>LR_irq = PC</a:t>
              </a:r>
            </a:p>
          </p:txBody>
        </p:sp>
        <p:sp>
          <p:nvSpPr>
            <p:cNvPr id="397345" name="Oval 33"/>
            <p:cNvSpPr>
              <a:spLocks noChangeArrowheads="1"/>
            </p:cNvSpPr>
            <p:nvPr/>
          </p:nvSpPr>
          <p:spPr bwMode="auto">
            <a:xfrm>
              <a:off x="173" y="3210"/>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5</a:t>
              </a:r>
            </a:p>
          </p:txBody>
        </p:sp>
        <p:sp>
          <p:nvSpPr>
            <p:cNvPr id="397346" name="Rectangle 34"/>
            <p:cNvSpPr>
              <a:spLocks noChangeArrowheads="1"/>
            </p:cNvSpPr>
            <p:nvPr/>
          </p:nvSpPr>
          <p:spPr bwMode="auto">
            <a:xfrm>
              <a:off x="412" y="3163"/>
              <a:ext cx="2024" cy="295"/>
            </a:xfrm>
            <a:prstGeom prst="rect">
              <a:avLst/>
            </a:prstGeom>
            <a:solidFill>
              <a:schemeClr val="bg1"/>
            </a:solidFill>
            <a:ln w="9525" algn="ctr">
              <a:solidFill>
                <a:schemeClr val="tx1"/>
              </a:solidFill>
              <a:miter lim="800000"/>
              <a:headEnd/>
              <a:tailEnd/>
            </a:ln>
            <a:effectLst/>
          </p:spPr>
          <p:txBody>
            <a:bodyPr anchor="ctr"/>
            <a:lstStyle/>
            <a:p>
              <a:pPr algn="l"/>
              <a:r>
                <a:rPr lang="en-US" altLang="zh-CN">
                  <a:latin typeface="Times New Roman" pitchFamily="18" charset="0"/>
                </a:rPr>
                <a:t>PC = 0x18</a:t>
              </a:r>
            </a:p>
          </p:txBody>
        </p:sp>
      </p:grpSp>
      <p:sp>
        <p:nvSpPr>
          <p:cNvPr id="397332" name="Text Box 20"/>
          <p:cNvSpPr txBox="1">
            <a:spLocks noChangeArrowheads="1"/>
          </p:cNvSpPr>
          <p:nvPr/>
        </p:nvSpPr>
        <p:spPr bwMode="auto">
          <a:xfrm>
            <a:off x="7464425" y="2592388"/>
            <a:ext cx="1403350" cy="457200"/>
          </a:xfrm>
          <a:prstGeom prst="rect">
            <a:avLst/>
          </a:prstGeom>
          <a:noFill/>
          <a:ln w="9525" algn="ctr">
            <a:noFill/>
            <a:miter lim="800000"/>
            <a:headEnd/>
            <a:tailEnd/>
          </a:ln>
          <a:effectLst/>
        </p:spPr>
        <p:txBody>
          <a:bodyPr wrap="none">
            <a:spAutoFit/>
          </a:bodyPr>
          <a:lstStyle/>
          <a:p>
            <a:r>
              <a:rPr lang="zh-CN" altLang="en-US" sz="2400">
                <a:ea typeface="华文新魏" pitchFamily="2" charset="-122"/>
              </a:rPr>
              <a:t>软件处理</a:t>
            </a:r>
          </a:p>
        </p:txBody>
      </p:sp>
      <p:grpSp>
        <p:nvGrpSpPr>
          <p:cNvPr id="397358" name="Group 46"/>
          <p:cNvGrpSpPr>
            <a:grpSpLocks/>
          </p:cNvGrpSpPr>
          <p:nvPr/>
        </p:nvGrpSpPr>
        <p:grpSpPr bwMode="auto">
          <a:xfrm>
            <a:off x="6432550" y="3136901"/>
            <a:ext cx="3221038" cy="1858963"/>
            <a:chOff x="2644" y="1976"/>
            <a:chExt cx="2029" cy="1171"/>
          </a:xfrm>
        </p:grpSpPr>
        <p:grpSp>
          <p:nvGrpSpPr>
            <p:cNvPr id="397333" name="Group 21"/>
            <p:cNvGrpSpPr>
              <a:grpSpLocks/>
            </p:cNvGrpSpPr>
            <p:nvPr/>
          </p:nvGrpSpPr>
          <p:grpSpPr bwMode="auto">
            <a:xfrm>
              <a:off x="2645" y="2264"/>
              <a:ext cx="2028" cy="294"/>
              <a:chOff x="2349" y="2096"/>
              <a:chExt cx="2028" cy="294"/>
            </a:xfrm>
          </p:grpSpPr>
          <p:sp>
            <p:nvSpPr>
              <p:cNvPr id="397334" name="Rectangle 22"/>
              <p:cNvSpPr>
                <a:spLocks noChangeArrowheads="1"/>
              </p:cNvSpPr>
              <p:nvPr/>
            </p:nvSpPr>
            <p:spPr bwMode="auto">
              <a:xfrm>
                <a:off x="2580" y="2096"/>
                <a:ext cx="1797" cy="294"/>
              </a:xfrm>
              <a:prstGeom prst="rect">
                <a:avLst/>
              </a:prstGeom>
              <a:solidFill>
                <a:schemeClr val="bg1"/>
              </a:solidFill>
              <a:ln w="9525" algn="ctr">
                <a:solidFill>
                  <a:schemeClr val="tx1"/>
                </a:solidFill>
                <a:miter lim="800000"/>
                <a:headEnd/>
                <a:tailEnd/>
              </a:ln>
              <a:effectLst/>
            </p:spPr>
            <p:txBody>
              <a:bodyPr anchor="ctr"/>
              <a:lstStyle/>
              <a:p>
                <a:pPr algn="l"/>
                <a:r>
                  <a:rPr lang="zh-CN" altLang="en-US">
                    <a:latin typeface="Times New Roman" pitchFamily="18" charset="0"/>
                  </a:rPr>
                  <a:t>执行中断服务程序</a:t>
                </a:r>
              </a:p>
            </p:txBody>
          </p:sp>
          <p:sp>
            <p:nvSpPr>
              <p:cNvPr id="397335" name="Oval 23"/>
              <p:cNvSpPr>
                <a:spLocks noChangeArrowheads="1"/>
              </p:cNvSpPr>
              <p:nvPr/>
            </p:nvSpPr>
            <p:spPr bwMode="auto">
              <a:xfrm>
                <a:off x="2349" y="2124"/>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2</a:t>
                </a:r>
              </a:p>
            </p:txBody>
          </p:sp>
        </p:grpSp>
        <p:grpSp>
          <p:nvGrpSpPr>
            <p:cNvPr id="397336" name="Group 24"/>
            <p:cNvGrpSpPr>
              <a:grpSpLocks/>
            </p:cNvGrpSpPr>
            <p:nvPr/>
          </p:nvGrpSpPr>
          <p:grpSpPr bwMode="auto">
            <a:xfrm>
              <a:off x="2644" y="2556"/>
              <a:ext cx="2029" cy="295"/>
              <a:chOff x="2348" y="2460"/>
              <a:chExt cx="2029" cy="295"/>
            </a:xfrm>
          </p:grpSpPr>
          <p:sp>
            <p:nvSpPr>
              <p:cNvPr id="397337" name="Rectangle 25"/>
              <p:cNvSpPr>
                <a:spLocks noChangeArrowheads="1"/>
              </p:cNvSpPr>
              <p:nvPr/>
            </p:nvSpPr>
            <p:spPr bwMode="auto">
              <a:xfrm>
                <a:off x="2579" y="2460"/>
                <a:ext cx="1798" cy="295"/>
              </a:xfrm>
              <a:prstGeom prst="rect">
                <a:avLst/>
              </a:prstGeom>
              <a:noFill/>
              <a:ln w="9525" algn="ctr">
                <a:solidFill>
                  <a:schemeClr val="tx1"/>
                </a:solidFill>
                <a:miter lim="800000"/>
                <a:headEnd/>
                <a:tailEnd/>
              </a:ln>
              <a:effectLst/>
            </p:spPr>
            <p:txBody>
              <a:bodyPr anchor="ctr"/>
              <a:lstStyle/>
              <a:p>
                <a:pPr algn="l"/>
                <a:r>
                  <a:rPr lang="zh-CN" altLang="en-US">
                    <a:latin typeface="Times New Roman" pitchFamily="18" charset="0"/>
                  </a:rPr>
                  <a:t>设置返回地址</a:t>
                </a:r>
              </a:p>
            </p:txBody>
          </p:sp>
          <p:sp>
            <p:nvSpPr>
              <p:cNvPr id="397338" name="Oval 26"/>
              <p:cNvSpPr>
                <a:spLocks noChangeArrowheads="1"/>
              </p:cNvSpPr>
              <p:nvPr/>
            </p:nvSpPr>
            <p:spPr bwMode="auto">
              <a:xfrm>
                <a:off x="2348" y="2493"/>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3</a:t>
                </a:r>
              </a:p>
            </p:txBody>
          </p:sp>
        </p:grpSp>
        <p:grpSp>
          <p:nvGrpSpPr>
            <p:cNvPr id="397339" name="Group 27"/>
            <p:cNvGrpSpPr>
              <a:grpSpLocks/>
            </p:cNvGrpSpPr>
            <p:nvPr/>
          </p:nvGrpSpPr>
          <p:grpSpPr bwMode="auto">
            <a:xfrm>
              <a:off x="2644" y="2852"/>
              <a:ext cx="2029" cy="295"/>
              <a:chOff x="2348" y="2756"/>
              <a:chExt cx="2029" cy="295"/>
            </a:xfrm>
          </p:grpSpPr>
          <p:sp>
            <p:nvSpPr>
              <p:cNvPr id="397340" name="Rectangle 28"/>
              <p:cNvSpPr>
                <a:spLocks noChangeArrowheads="1"/>
              </p:cNvSpPr>
              <p:nvPr/>
            </p:nvSpPr>
            <p:spPr bwMode="auto">
              <a:xfrm>
                <a:off x="2579" y="2756"/>
                <a:ext cx="1798" cy="295"/>
              </a:xfrm>
              <a:prstGeom prst="rect">
                <a:avLst/>
              </a:prstGeom>
              <a:noFill/>
              <a:ln w="9525" algn="ctr">
                <a:solidFill>
                  <a:schemeClr val="tx1"/>
                </a:solidFill>
                <a:miter lim="800000"/>
                <a:headEnd/>
                <a:tailEnd/>
              </a:ln>
              <a:effectLst/>
            </p:spPr>
            <p:txBody>
              <a:bodyPr anchor="ctr"/>
              <a:lstStyle/>
              <a:p>
                <a:pPr algn="l"/>
                <a:r>
                  <a:rPr lang="zh-CN" altLang="en-US">
                    <a:latin typeface="Times New Roman" pitchFamily="18" charset="0"/>
                  </a:rPr>
                  <a:t>恢复程序状态寄存器</a:t>
                </a:r>
                <a:r>
                  <a:rPr lang="en-US" altLang="zh-CN">
                    <a:latin typeface="Times New Roman" pitchFamily="18" charset="0"/>
                  </a:rPr>
                  <a:t>CPSR</a:t>
                </a:r>
              </a:p>
            </p:txBody>
          </p:sp>
          <p:sp>
            <p:nvSpPr>
              <p:cNvPr id="397341" name="Oval 29"/>
              <p:cNvSpPr>
                <a:spLocks noChangeArrowheads="1"/>
              </p:cNvSpPr>
              <p:nvPr/>
            </p:nvSpPr>
            <p:spPr bwMode="auto">
              <a:xfrm>
                <a:off x="2348" y="2789"/>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4</a:t>
                </a:r>
              </a:p>
            </p:txBody>
          </p:sp>
        </p:grpSp>
        <p:grpSp>
          <p:nvGrpSpPr>
            <p:cNvPr id="397349" name="Group 37"/>
            <p:cNvGrpSpPr>
              <a:grpSpLocks/>
            </p:cNvGrpSpPr>
            <p:nvPr/>
          </p:nvGrpSpPr>
          <p:grpSpPr bwMode="auto">
            <a:xfrm>
              <a:off x="2645" y="1976"/>
              <a:ext cx="2028" cy="294"/>
              <a:chOff x="2349" y="2096"/>
              <a:chExt cx="2028" cy="294"/>
            </a:xfrm>
          </p:grpSpPr>
          <p:sp>
            <p:nvSpPr>
              <p:cNvPr id="397350" name="Rectangle 38"/>
              <p:cNvSpPr>
                <a:spLocks noChangeArrowheads="1"/>
              </p:cNvSpPr>
              <p:nvPr/>
            </p:nvSpPr>
            <p:spPr bwMode="auto">
              <a:xfrm>
                <a:off x="2580" y="2096"/>
                <a:ext cx="1797" cy="294"/>
              </a:xfrm>
              <a:prstGeom prst="rect">
                <a:avLst/>
              </a:prstGeom>
              <a:noFill/>
              <a:ln w="9525" algn="ctr">
                <a:solidFill>
                  <a:schemeClr val="tx1"/>
                </a:solidFill>
                <a:miter lim="800000"/>
                <a:headEnd/>
                <a:tailEnd/>
              </a:ln>
              <a:effectLst/>
            </p:spPr>
            <p:txBody>
              <a:bodyPr anchor="ctr"/>
              <a:lstStyle/>
              <a:p>
                <a:pPr algn="l"/>
                <a:r>
                  <a:rPr lang="zh-CN" altLang="en-US">
                    <a:latin typeface="Times New Roman" pitchFamily="18" charset="0"/>
                  </a:rPr>
                  <a:t>获取中断服务程序地址</a:t>
                </a:r>
              </a:p>
            </p:txBody>
          </p:sp>
          <p:sp>
            <p:nvSpPr>
              <p:cNvPr id="397351" name="Oval 39"/>
              <p:cNvSpPr>
                <a:spLocks noChangeArrowheads="1"/>
              </p:cNvSpPr>
              <p:nvPr/>
            </p:nvSpPr>
            <p:spPr bwMode="auto">
              <a:xfrm>
                <a:off x="2349" y="2124"/>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1</a:t>
                </a:r>
              </a:p>
            </p:txBody>
          </p:sp>
        </p:gr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97314">
                                            <p:txEl>
                                              <p:pRg st="0" end="0"/>
                                            </p:txEl>
                                          </p:spTgt>
                                        </p:tgtEl>
                                        <p:attrNameLst>
                                          <p:attrName>style.visibility</p:attrName>
                                        </p:attrNameLst>
                                      </p:cBhvr>
                                      <p:to>
                                        <p:strVal val="visible"/>
                                      </p:to>
                                    </p:set>
                                    <p:anim calcmode="lin" valueType="num">
                                      <p:cBhvr additive="base">
                                        <p:cTn id="7" dur="500" fill="hold"/>
                                        <p:tgtEl>
                                          <p:spTgt spid="39731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97314">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8" presetClass="entr" presetSubtype="16" fill="hold" grpId="0" nodeType="afterEffect">
                                  <p:stCondLst>
                                    <p:cond delay="0"/>
                                  </p:stCondLst>
                                  <p:childTnLst>
                                    <p:set>
                                      <p:cBhvr>
                                        <p:cTn id="11" dur="1" fill="hold">
                                          <p:stCondLst>
                                            <p:cond delay="0"/>
                                          </p:stCondLst>
                                        </p:cTn>
                                        <p:tgtEl>
                                          <p:spTgt spid="397330"/>
                                        </p:tgtEl>
                                        <p:attrNameLst>
                                          <p:attrName>style.visibility</p:attrName>
                                        </p:attrNameLst>
                                      </p:cBhvr>
                                      <p:to>
                                        <p:strVal val="visible"/>
                                      </p:to>
                                    </p:set>
                                    <p:animEffect transition="in" filter="diamond(in)">
                                      <p:cBhvr>
                                        <p:cTn id="12" dur="500"/>
                                        <p:tgtEl>
                                          <p:spTgt spid="397330"/>
                                        </p:tgtEl>
                                      </p:cBhvr>
                                    </p:animEffect>
                                  </p:childTnLst>
                                </p:cTn>
                              </p:par>
                            </p:childTnLst>
                          </p:cTn>
                        </p:par>
                        <p:par>
                          <p:cTn id="13" fill="hold">
                            <p:stCondLst>
                              <p:cond delay="1000"/>
                            </p:stCondLst>
                            <p:childTnLst>
                              <p:par>
                                <p:cTn id="14" presetID="8" presetClass="entr" presetSubtype="16" fill="hold" grpId="0" nodeType="afterEffect">
                                  <p:stCondLst>
                                    <p:cond delay="0"/>
                                  </p:stCondLst>
                                  <p:childTnLst>
                                    <p:set>
                                      <p:cBhvr>
                                        <p:cTn id="15" dur="1" fill="hold">
                                          <p:stCondLst>
                                            <p:cond delay="0"/>
                                          </p:stCondLst>
                                        </p:cTn>
                                        <p:tgtEl>
                                          <p:spTgt spid="397332"/>
                                        </p:tgtEl>
                                        <p:attrNameLst>
                                          <p:attrName>style.visibility</p:attrName>
                                        </p:attrNameLst>
                                      </p:cBhvr>
                                      <p:to>
                                        <p:strVal val="visible"/>
                                      </p:to>
                                    </p:set>
                                    <p:animEffect transition="in" filter="diamond(in)">
                                      <p:cBhvr>
                                        <p:cTn id="16" dur="500"/>
                                        <p:tgtEl>
                                          <p:spTgt spid="39733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397357"/>
                                        </p:tgtEl>
                                        <p:attrNameLst>
                                          <p:attrName>style.visibility</p:attrName>
                                        </p:attrNameLst>
                                      </p:cBhvr>
                                      <p:to>
                                        <p:strVal val="visible"/>
                                      </p:to>
                                    </p:set>
                                    <p:animEffect transition="in" filter="wipe(up)">
                                      <p:cBhvr>
                                        <p:cTn id="21" dur="500"/>
                                        <p:tgtEl>
                                          <p:spTgt spid="39735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397358"/>
                                        </p:tgtEl>
                                        <p:attrNameLst>
                                          <p:attrName>style.visibility</p:attrName>
                                        </p:attrNameLst>
                                      </p:cBhvr>
                                      <p:to>
                                        <p:strVal val="visible"/>
                                      </p:to>
                                    </p:set>
                                    <p:animEffect transition="in" filter="wipe(up)">
                                      <p:cBhvr>
                                        <p:cTn id="26" dur="500"/>
                                        <p:tgtEl>
                                          <p:spTgt spid="397358"/>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73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53" grpId="0" animBg="1"/>
      <p:bldP spid="397314" grpId="0" build="p"/>
      <p:bldP spid="397330" grpId="0"/>
      <p:bldP spid="39733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ChangeArrowheads="1"/>
          </p:cNvSpPr>
          <p:nvPr/>
        </p:nvSpPr>
        <p:spPr bwMode="auto">
          <a:xfrm>
            <a:off x="6808788" y="3189565"/>
            <a:ext cx="2844800" cy="369332"/>
          </a:xfrm>
          <a:prstGeom prst="rect">
            <a:avLst/>
          </a:prstGeom>
          <a:solidFill>
            <a:srgbClr val="CCFFFF"/>
          </a:solidFill>
          <a:ln w="9525" algn="ctr">
            <a:noFill/>
            <a:miter lim="800000"/>
            <a:headEnd/>
            <a:tailEnd/>
          </a:ln>
          <a:effectLst/>
        </p:spPr>
        <p:txBody>
          <a:bodyPr anchor="ctr">
            <a:spAutoFit/>
          </a:bodyPr>
          <a:lstStyle/>
          <a:p>
            <a:endParaRPr lang="zh-CN" altLang="en-US"/>
          </a:p>
        </p:txBody>
      </p:sp>
      <p:sp>
        <p:nvSpPr>
          <p:cNvPr id="398339" name="Rectangle 3"/>
          <p:cNvSpPr>
            <a:spLocks noChangeArrowheads="1"/>
          </p:cNvSpPr>
          <p:nvPr/>
        </p:nvSpPr>
        <p:spPr bwMode="auto">
          <a:xfrm>
            <a:off x="2208214" y="1844676"/>
            <a:ext cx="4137025" cy="576263"/>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IRQ</a:t>
            </a:r>
            <a:r>
              <a:rPr lang="zh-CN" altLang="en-US" sz="3200">
                <a:latin typeface="Times New Roman" pitchFamily="18" charset="0"/>
              </a:rPr>
              <a:t>中断处理</a:t>
            </a:r>
          </a:p>
        </p:txBody>
      </p:sp>
      <p:sp>
        <p:nvSpPr>
          <p:cNvPr id="398340" name="Rectangle 4"/>
          <p:cNvSpPr>
            <a:spLocks noGrp="1" noChangeArrowheads="1"/>
          </p:cNvSpPr>
          <p:nvPr>
            <p:ph type="title"/>
          </p:nvPr>
        </p:nvSpPr>
        <p:spPr>
          <a:noFill/>
          <a:ln/>
        </p:spPr>
        <p:txBody>
          <a:bodyPr/>
          <a:lstStyle/>
          <a:p>
            <a:r>
              <a:rPr lang="en-US" altLang="zh-CN" dirty="0"/>
              <a:t>5.3.4  </a:t>
            </a:r>
            <a:r>
              <a:rPr lang="zh-CN" altLang="en-US" dirty="0"/>
              <a:t>向量中断控制器</a:t>
            </a:r>
          </a:p>
        </p:txBody>
      </p:sp>
      <p:grpSp>
        <p:nvGrpSpPr>
          <p:cNvPr id="398344" name="Group 8"/>
          <p:cNvGrpSpPr>
            <a:grpSpLocks/>
          </p:cNvGrpSpPr>
          <p:nvPr/>
        </p:nvGrpSpPr>
        <p:grpSpPr bwMode="auto">
          <a:xfrm>
            <a:off x="2509838" y="2593975"/>
            <a:ext cx="3592512" cy="2895600"/>
            <a:chOff x="606" y="1674"/>
            <a:chExt cx="2263" cy="1824"/>
          </a:xfrm>
        </p:grpSpPr>
        <p:sp>
          <p:nvSpPr>
            <p:cNvPr id="398345" name="Rectangle 9"/>
            <p:cNvSpPr>
              <a:spLocks noChangeArrowheads="1"/>
            </p:cNvSpPr>
            <p:nvPr/>
          </p:nvSpPr>
          <p:spPr bwMode="auto">
            <a:xfrm>
              <a:off x="845" y="2019"/>
              <a:ext cx="2024" cy="295"/>
            </a:xfrm>
            <a:prstGeom prst="rect">
              <a:avLst/>
            </a:prstGeom>
            <a:solidFill>
              <a:schemeClr val="bg1"/>
            </a:solidFill>
            <a:ln w="9525" algn="ctr">
              <a:solidFill>
                <a:schemeClr val="tx1"/>
              </a:solidFill>
              <a:miter lim="800000"/>
              <a:headEnd/>
              <a:tailEnd/>
            </a:ln>
            <a:effectLst/>
          </p:spPr>
          <p:txBody>
            <a:bodyPr anchor="ctr"/>
            <a:lstStyle/>
            <a:p>
              <a:pPr algn="l"/>
              <a:r>
                <a:rPr lang="en-US" altLang="zh-CN">
                  <a:latin typeface="Times New Roman" pitchFamily="18" charset="0"/>
                </a:rPr>
                <a:t>SPSR_irq = CPSR</a:t>
              </a:r>
            </a:p>
          </p:txBody>
        </p:sp>
        <p:sp>
          <p:nvSpPr>
            <p:cNvPr id="398346" name="Oval 10"/>
            <p:cNvSpPr>
              <a:spLocks noChangeArrowheads="1"/>
            </p:cNvSpPr>
            <p:nvPr/>
          </p:nvSpPr>
          <p:spPr bwMode="auto">
            <a:xfrm>
              <a:off x="614" y="2052"/>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1</a:t>
              </a:r>
            </a:p>
          </p:txBody>
        </p:sp>
        <p:sp>
          <p:nvSpPr>
            <p:cNvPr id="398347" name="Oval 11"/>
            <p:cNvSpPr>
              <a:spLocks noChangeArrowheads="1"/>
            </p:cNvSpPr>
            <p:nvPr/>
          </p:nvSpPr>
          <p:spPr bwMode="auto">
            <a:xfrm>
              <a:off x="606" y="2358"/>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2</a:t>
              </a:r>
            </a:p>
          </p:txBody>
        </p:sp>
        <p:sp>
          <p:nvSpPr>
            <p:cNvPr id="398348" name="Rectangle 12"/>
            <p:cNvSpPr>
              <a:spLocks noChangeArrowheads="1"/>
            </p:cNvSpPr>
            <p:nvPr/>
          </p:nvSpPr>
          <p:spPr bwMode="auto">
            <a:xfrm>
              <a:off x="845" y="2315"/>
              <a:ext cx="2024" cy="295"/>
            </a:xfrm>
            <a:prstGeom prst="rect">
              <a:avLst/>
            </a:prstGeom>
            <a:solidFill>
              <a:schemeClr val="bg1"/>
            </a:solidFill>
            <a:ln w="9525" algn="ctr">
              <a:solidFill>
                <a:schemeClr val="tx1"/>
              </a:solidFill>
              <a:miter lim="800000"/>
              <a:headEnd/>
              <a:tailEnd/>
            </a:ln>
            <a:effectLst/>
          </p:spPr>
          <p:txBody>
            <a:bodyPr anchor="ctr"/>
            <a:lstStyle/>
            <a:p>
              <a:pPr algn="l"/>
              <a:r>
                <a:rPr lang="en-US" altLang="zh-CN">
                  <a:latin typeface="Times New Roman" pitchFamily="18" charset="0"/>
                </a:rPr>
                <a:t>CPSR = nzcvq</a:t>
              </a:r>
              <a:r>
                <a:rPr lang="en-US" altLang="zh-CN">
                  <a:solidFill>
                    <a:srgbClr val="FF0000"/>
                  </a:solidFill>
                  <a:latin typeface="Times New Roman" pitchFamily="18" charset="0"/>
                </a:rPr>
                <a:t>I</a:t>
              </a:r>
              <a:r>
                <a:rPr lang="en-US" altLang="zh-CN">
                  <a:latin typeface="Times New Roman" pitchFamily="18" charset="0"/>
                </a:rPr>
                <a:t>ft_irq</a:t>
              </a:r>
            </a:p>
          </p:txBody>
        </p:sp>
        <p:sp>
          <p:nvSpPr>
            <p:cNvPr id="398349" name="Oval 13"/>
            <p:cNvSpPr>
              <a:spLocks noChangeArrowheads="1"/>
            </p:cNvSpPr>
            <p:nvPr/>
          </p:nvSpPr>
          <p:spPr bwMode="auto">
            <a:xfrm>
              <a:off x="606" y="2657"/>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3</a:t>
              </a:r>
            </a:p>
          </p:txBody>
        </p:sp>
        <p:sp>
          <p:nvSpPr>
            <p:cNvPr id="398350" name="Rectangle 14"/>
            <p:cNvSpPr>
              <a:spLocks noChangeArrowheads="1"/>
            </p:cNvSpPr>
            <p:nvPr/>
          </p:nvSpPr>
          <p:spPr bwMode="auto">
            <a:xfrm>
              <a:off x="845" y="2610"/>
              <a:ext cx="2024" cy="295"/>
            </a:xfrm>
            <a:prstGeom prst="rect">
              <a:avLst/>
            </a:prstGeom>
            <a:solidFill>
              <a:schemeClr val="bg1"/>
            </a:solidFill>
            <a:ln w="9525" algn="ctr">
              <a:solidFill>
                <a:schemeClr val="tx1"/>
              </a:solidFill>
              <a:miter lim="800000"/>
              <a:headEnd/>
              <a:tailEnd/>
            </a:ln>
            <a:effectLst/>
          </p:spPr>
          <p:txBody>
            <a:bodyPr anchor="ctr"/>
            <a:lstStyle/>
            <a:p>
              <a:pPr algn="l"/>
              <a:r>
                <a:rPr lang="en-US" altLang="zh-CN">
                  <a:latin typeface="Times New Roman" pitchFamily="18" charset="0"/>
                </a:rPr>
                <a:t>VICVectAddr = VICVectAddrn</a:t>
              </a:r>
            </a:p>
          </p:txBody>
        </p:sp>
        <p:sp>
          <p:nvSpPr>
            <p:cNvPr id="398351" name="Oval 15"/>
            <p:cNvSpPr>
              <a:spLocks noChangeArrowheads="1"/>
            </p:cNvSpPr>
            <p:nvPr/>
          </p:nvSpPr>
          <p:spPr bwMode="auto">
            <a:xfrm>
              <a:off x="606" y="2954"/>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4</a:t>
              </a:r>
            </a:p>
          </p:txBody>
        </p:sp>
        <p:sp>
          <p:nvSpPr>
            <p:cNvPr id="398352" name="Rectangle 16"/>
            <p:cNvSpPr>
              <a:spLocks noChangeArrowheads="1"/>
            </p:cNvSpPr>
            <p:nvPr/>
          </p:nvSpPr>
          <p:spPr bwMode="auto">
            <a:xfrm>
              <a:off x="845" y="2907"/>
              <a:ext cx="2024" cy="295"/>
            </a:xfrm>
            <a:prstGeom prst="rect">
              <a:avLst/>
            </a:prstGeom>
            <a:solidFill>
              <a:schemeClr val="bg1"/>
            </a:solidFill>
            <a:ln w="9525" algn="ctr">
              <a:solidFill>
                <a:schemeClr val="tx1"/>
              </a:solidFill>
              <a:miter lim="800000"/>
              <a:headEnd/>
              <a:tailEnd/>
            </a:ln>
            <a:effectLst/>
          </p:spPr>
          <p:txBody>
            <a:bodyPr anchor="ctr"/>
            <a:lstStyle/>
            <a:p>
              <a:pPr algn="l"/>
              <a:r>
                <a:rPr lang="en-US" altLang="zh-CN">
                  <a:latin typeface="Times New Roman" pitchFamily="18" charset="0"/>
                </a:rPr>
                <a:t>LR_irq = PC</a:t>
              </a:r>
            </a:p>
          </p:txBody>
        </p:sp>
        <p:sp>
          <p:nvSpPr>
            <p:cNvPr id="398353" name="Text Box 17"/>
            <p:cNvSpPr txBox="1">
              <a:spLocks noChangeArrowheads="1"/>
            </p:cNvSpPr>
            <p:nvPr/>
          </p:nvSpPr>
          <p:spPr bwMode="auto">
            <a:xfrm>
              <a:off x="1363" y="1674"/>
              <a:ext cx="884" cy="288"/>
            </a:xfrm>
            <a:prstGeom prst="rect">
              <a:avLst/>
            </a:prstGeom>
            <a:noFill/>
            <a:ln w="9525" algn="ctr">
              <a:noFill/>
              <a:miter lim="800000"/>
              <a:headEnd/>
              <a:tailEnd/>
            </a:ln>
            <a:effectLst/>
          </p:spPr>
          <p:txBody>
            <a:bodyPr wrap="none">
              <a:spAutoFit/>
            </a:bodyPr>
            <a:lstStyle/>
            <a:p>
              <a:r>
                <a:rPr lang="zh-CN" altLang="en-US" sz="2400">
                  <a:ea typeface="华文新魏" pitchFamily="2" charset="-122"/>
                </a:rPr>
                <a:t>硬件处理</a:t>
              </a:r>
            </a:p>
          </p:txBody>
        </p:sp>
        <p:sp>
          <p:nvSpPr>
            <p:cNvPr id="398354" name="Oval 18"/>
            <p:cNvSpPr>
              <a:spLocks noChangeArrowheads="1"/>
            </p:cNvSpPr>
            <p:nvPr/>
          </p:nvSpPr>
          <p:spPr bwMode="auto">
            <a:xfrm>
              <a:off x="606" y="3250"/>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5</a:t>
              </a:r>
            </a:p>
          </p:txBody>
        </p:sp>
        <p:sp>
          <p:nvSpPr>
            <p:cNvPr id="398355" name="Rectangle 19"/>
            <p:cNvSpPr>
              <a:spLocks noChangeArrowheads="1"/>
            </p:cNvSpPr>
            <p:nvPr/>
          </p:nvSpPr>
          <p:spPr bwMode="auto">
            <a:xfrm>
              <a:off x="845" y="3203"/>
              <a:ext cx="2024" cy="295"/>
            </a:xfrm>
            <a:prstGeom prst="rect">
              <a:avLst/>
            </a:prstGeom>
            <a:solidFill>
              <a:schemeClr val="bg1"/>
            </a:solidFill>
            <a:ln w="9525" algn="ctr">
              <a:solidFill>
                <a:schemeClr val="tx1"/>
              </a:solidFill>
              <a:miter lim="800000"/>
              <a:headEnd/>
              <a:tailEnd/>
            </a:ln>
            <a:effectLst/>
          </p:spPr>
          <p:txBody>
            <a:bodyPr anchor="ctr"/>
            <a:lstStyle/>
            <a:p>
              <a:pPr algn="l"/>
              <a:r>
                <a:rPr lang="en-US" altLang="zh-CN">
                  <a:latin typeface="Times New Roman" pitchFamily="18" charset="0"/>
                </a:rPr>
                <a:t>PC = 0x18</a:t>
              </a:r>
            </a:p>
          </p:txBody>
        </p:sp>
      </p:grpSp>
      <p:sp>
        <p:nvSpPr>
          <p:cNvPr id="398357" name="Text Box 21"/>
          <p:cNvSpPr txBox="1">
            <a:spLocks noChangeArrowheads="1"/>
          </p:cNvSpPr>
          <p:nvPr/>
        </p:nvSpPr>
        <p:spPr bwMode="auto">
          <a:xfrm>
            <a:off x="7464425" y="2592388"/>
            <a:ext cx="1403350" cy="457200"/>
          </a:xfrm>
          <a:prstGeom prst="rect">
            <a:avLst/>
          </a:prstGeom>
          <a:noFill/>
          <a:ln w="9525" algn="ctr">
            <a:noFill/>
            <a:miter lim="800000"/>
            <a:headEnd/>
            <a:tailEnd/>
          </a:ln>
          <a:effectLst/>
        </p:spPr>
        <p:txBody>
          <a:bodyPr wrap="none">
            <a:spAutoFit/>
          </a:bodyPr>
          <a:lstStyle/>
          <a:p>
            <a:r>
              <a:rPr lang="zh-CN" altLang="en-US" sz="2400">
                <a:ea typeface="华文新魏" pitchFamily="2" charset="-122"/>
              </a:rPr>
              <a:t>软件处理</a:t>
            </a:r>
          </a:p>
        </p:txBody>
      </p:sp>
      <p:grpSp>
        <p:nvGrpSpPr>
          <p:cNvPr id="398358" name="Group 22"/>
          <p:cNvGrpSpPr>
            <a:grpSpLocks/>
          </p:cNvGrpSpPr>
          <p:nvPr/>
        </p:nvGrpSpPr>
        <p:grpSpPr bwMode="auto">
          <a:xfrm>
            <a:off x="6434138" y="3594101"/>
            <a:ext cx="3219450" cy="466725"/>
            <a:chOff x="2349" y="2096"/>
            <a:chExt cx="2028" cy="294"/>
          </a:xfrm>
        </p:grpSpPr>
        <p:sp>
          <p:nvSpPr>
            <p:cNvPr id="398359" name="Rectangle 23"/>
            <p:cNvSpPr>
              <a:spLocks noChangeArrowheads="1"/>
            </p:cNvSpPr>
            <p:nvPr/>
          </p:nvSpPr>
          <p:spPr bwMode="auto">
            <a:xfrm>
              <a:off x="2580" y="2096"/>
              <a:ext cx="1797" cy="294"/>
            </a:xfrm>
            <a:prstGeom prst="rect">
              <a:avLst/>
            </a:prstGeom>
            <a:solidFill>
              <a:schemeClr val="bg1"/>
            </a:solidFill>
            <a:ln w="9525" algn="ctr">
              <a:solidFill>
                <a:schemeClr val="tx1"/>
              </a:solidFill>
              <a:miter lim="800000"/>
              <a:headEnd/>
              <a:tailEnd/>
            </a:ln>
            <a:effectLst/>
          </p:spPr>
          <p:txBody>
            <a:bodyPr anchor="ctr"/>
            <a:lstStyle/>
            <a:p>
              <a:pPr algn="l"/>
              <a:r>
                <a:rPr lang="zh-CN" altLang="en-US">
                  <a:latin typeface="Times New Roman" pitchFamily="18" charset="0"/>
                </a:rPr>
                <a:t>执行中断服务程序</a:t>
              </a:r>
            </a:p>
          </p:txBody>
        </p:sp>
        <p:sp>
          <p:nvSpPr>
            <p:cNvPr id="398360" name="Oval 24"/>
            <p:cNvSpPr>
              <a:spLocks noChangeArrowheads="1"/>
            </p:cNvSpPr>
            <p:nvPr/>
          </p:nvSpPr>
          <p:spPr bwMode="auto">
            <a:xfrm>
              <a:off x="2349" y="2124"/>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2</a:t>
              </a:r>
            </a:p>
          </p:txBody>
        </p:sp>
      </p:grpSp>
      <p:grpSp>
        <p:nvGrpSpPr>
          <p:cNvPr id="398361" name="Group 25"/>
          <p:cNvGrpSpPr>
            <a:grpSpLocks/>
          </p:cNvGrpSpPr>
          <p:nvPr/>
        </p:nvGrpSpPr>
        <p:grpSpPr bwMode="auto">
          <a:xfrm>
            <a:off x="6432550" y="4057651"/>
            <a:ext cx="3221038" cy="468313"/>
            <a:chOff x="2348" y="2460"/>
            <a:chExt cx="2029" cy="295"/>
          </a:xfrm>
        </p:grpSpPr>
        <p:sp>
          <p:nvSpPr>
            <p:cNvPr id="398362" name="Rectangle 26"/>
            <p:cNvSpPr>
              <a:spLocks noChangeArrowheads="1"/>
            </p:cNvSpPr>
            <p:nvPr/>
          </p:nvSpPr>
          <p:spPr bwMode="auto">
            <a:xfrm>
              <a:off x="2579" y="2460"/>
              <a:ext cx="1798" cy="295"/>
            </a:xfrm>
            <a:prstGeom prst="rect">
              <a:avLst/>
            </a:prstGeom>
            <a:noFill/>
            <a:ln w="9525" algn="ctr">
              <a:solidFill>
                <a:schemeClr val="tx1"/>
              </a:solidFill>
              <a:miter lim="800000"/>
              <a:headEnd/>
              <a:tailEnd/>
            </a:ln>
            <a:effectLst/>
          </p:spPr>
          <p:txBody>
            <a:bodyPr anchor="ctr"/>
            <a:lstStyle/>
            <a:p>
              <a:pPr algn="l"/>
              <a:r>
                <a:rPr lang="zh-CN" altLang="en-US">
                  <a:latin typeface="Times New Roman" pitchFamily="18" charset="0"/>
                </a:rPr>
                <a:t>设置返回地址</a:t>
              </a:r>
            </a:p>
          </p:txBody>
        </p:sp>
        <p:sp>
          <p:nvSpPr>
            <p:cNvPr id="398363" name="Oval 27"/>
            <p:cNvSpPr>
              <a:spLocks noChangeArrowheads="1"/>
            </p:cNvSpPr>
            <p:nvPr/>
          </p:nvSpPr>
          <p:spPr bwMode="auto">
            <a:xfrm>
              <a:off x="2348" y="2493"/>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3</a:t>
              </a:r>
            </a:p>
          </p:txBody>
        </p:sp>
      </p:grpSp>
      <p:grpSp>
        <p:nvGrpSpPr>
          <p:cNvPr id="398364" name="Group 28"/>
          <p:cNvGrpSpPr>
            <a:grpSpLocks/>
          </p:cNvGrpSpPr>
          <p:nvPr/>
        </p:nvGrpSpPr>
        <p:grpSpPr bwMode="auto">
          <a:xfrm>
            <a:off x="6432550" y="4527551"/>
            <a:ext cx="3221038" cy="468313"/>
            <a:chOff x="2348" y="2756"/>
            <a:chExt cx="2029" cy="295"/>
          </a:xfrm>
        </p:grpSpPr>
        <p:sp>
          <p:nvSpPr>
            <p:cNvPr id="398365" name="Rectangle 29"/>
            <p:cNvSpPr>
              <a:spLocks noChangeArrowheads="1"/>
            </p:cNvSpPr>
            <p:nvPr/>
          </p:nvSpPr>
          <p:spPr bwMode="auto">
            <a:xfrm>
              <a:off x="2579" y="2756"/>
              <a:ext cx="1798" cy="295"/>
            </a:xfrm>
            <a:prstGeom prst="rect">
              <a:avLst/>
            </a:prstGeom>
            <a:noFill/>
            <a:ln w="9525" algn="ctr">
              <a:solidFill>
                <a:schemeClr val="tx1"/>
              </a:solidFill>
              <a:miter lim="800000"/>
              <a:headEnd/>
              <a:tailEnd/>
            </a:ln>
            <a:effectLst/>
          </p:spPr>
          <p:txBody>
            <a:bodyPr anchor="ctr"/>
            <a:lstStyle/>
            <a:p>
              <a:pPr algn="l"/>
              <a:r>
                <a:rPr lang="zh-CN" altLang="en-US">
                  <a:latin typeface="Times New Roman" pitchFamily="18" charset="0"/>
                </a:rPr>
                <a:t>恢复程序状态寄存器</a:t>
              </a:r>
              <a:r>
                <a:rPr lang="en-US" altLang="zh-CN">
                  <a:latin typeface="Times New Roman" pitchFamily="18" charset="0"/>
                </a:rPr>
                <a:t>CPSR</a:t>
              </a:r>
            </a:p>
          </p:txBody>
        </p:sp>
        <p:sp>
          <p:nvSpPr>
            <p:cNvPr id="398366" name="Oval 30"/>
            <p:cNvSpPr>
              <a:spLocks noChangeArrowheads="1"/>
            </p:cNvSpPr>
            <p:nvPr/>
          </p:nvSpPr>
          <p:spPr bwMode="auto">
            <a:xfrm>
              <a:off x="2348" y="2789"/>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4</a:t>
              </a:r>
            </a:p>
          </p:txBody>
        </p:sp>
      </p:grpSp>
      <p:grpSp>
        <p:nvGrpSpPr>
          <p:cNvPr id="398367" name="Group 31"/>
          <p:cNvGrpSpPr>
            <a:grpSpLocks/>
          </p:cNvGrpSpPr>
          <p:nvPr/>
        </p:nvGrpSpPr>
        <p:grpSpPr bwMode="auto">
          <a:xfrm>
            <a:off x="6434138" y="3136901"/>
            <a:ext cx="3219450" cy="466725"/>
            <a:chOff x="2349" y="2096"/>
            <a:chExt cx="2028" cy="294"/>
          </a:xfrm>
        </p:grpSpPr>
        <p:sp>
          <p:nvSpPr>
            <p:cNvPr id="398368" name="Rectangle 32"/>
            <p:cNvSpPr>
              <a:spLocks noChangeArrowheads="1"/>
            </p:cNvSpPr>
            <p:nvPr/>
          </p:nvSpPr>
          <p:spPr bwMode="auto">
            <a:xfrm>
              <a:off x="2580" y="2096"/>
              <a:ext cx="1797" cy="294"/>
            </a:xfrm>
            <a:prstGeom prst="rect">
              <a:avLst/>
            </a:prstGeom>
            <a:noFill/>
            <a:ln w="9525" algn="ctr">
              <a:solidFill>
                <a:schemeClr val="tx1"/>
              </a:solidFill>
              <a:miter lim="800000"/>
              <a:headEnd/>
              <a:tailEnd/>
            </a:ln>
            <a:effectLst/>
          </p:spPr>
          <p:txBody>
            <a:bodyPr anchor="ctr"/>
            <a:lstStyle/>
            <a:p>
              <a:pPr algn="l"/>
              <a:r>
                <a:rPr lang="en-US" altLang="zh-CN">
                  <a:latin typeface="Times New Roman" pitchFamily="18" charset="0"/>
                </a:rPr>
                <a:t>PC              [VICVectAddr]</a:t>
              </a:r>
            </a:p>
          </p:txBody>
        </p:sp>
        <p:sp>
          <p:nvSpPr>
            <p:cNvPr id="398369" name="Oval 33"/>
            <p:cNvSpPr>
              <a:spLocks noChangeArrowheads="1"/>
            </p:cNvSpPr>
            <p:nvPr/>
          </p:nvSpPr>
          <p:spPr bwMode="auto">
            <a:xfrm>
              <a:off x="2349" y="2124"/>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1</a:t>
              </a:r>
            </a:p>
          </p:txBody>
        </p:sp>
      </p:grpSp>
      <p:sp>
        <p:nvSpPr>
          <p:cNvPr id="398372" name="Line 36"/>
          <p:cNvSpPr>
            <a:spLocks noChangeShapeType="1"/>
          </p:cNvSpPr>
          <p:nvPr/>
        </p:nvSpPr>
        <p:spPr bwMode="auto">
          <a:xfrm flipH="1">
            <a:off x="7277100" y="3378200"/>
            <a:ext cx="635000" cy="0"/>
          </a:xfrm>
          <a:prstGeom prst="line">
            <a:avLst/>
          </a:prstGeom>
          <a:noFill/>
          <a:ln w="9525">
            <a:solidFill>
              <a:schemeClr val="tx1"/>
            </a:solidFill>
            <a:round/>
            <a:headEnd/>
            <a:tailEnd type="triangle" w="med" len="med"/>
          </a:ln>
          <a:effectLst/>
        </p:spPr>
        <p:txBody>
          <a:bodyPr>
            <a:spAutoFit/>
          </a:bodyPr>
          <a:lstStyle/>
          <a:p>
            <a:endParaRPr lang="zh-CN" altLang="en-US"/>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p:cNvSpPr>
            <a:spLocks noChangeArrowheads="1"/>
          </p:cNvSpPr>
          <p:nvPr/>
        </p:nvSpPr>
        <p:spPr bwMode="auto">
          <a:xfrm>
            <a:off x="6808788" y="3189565"/>
            <a:ext cx="2844800" cy="369332"/>
          </a:xfrm>
          <a:prstGeom prst="rect">
            <a:avLst/>
          </a:prstGeom>
          <a:solidFill>
            <a:srgbClr val="CCFFFF"/>
          </a:solidFill>
          <a:ln w="9525" algn="ctr">
            <a:noFill/>
            <a:miter lim="800000"/>
            <a:headEnd/>
            <a:tailEnd/>
          </a:ln>
          <a:effectLst/>
        </p:spPr>
        <p:txBody>
          <a:bodyPr anchor="ctr">
            <a:spAutoFit/>
          </a:bodyPr>
          <a:lstStyle/>
          <a:p>
            <a:endParaRPr lang="zh-CN" altLang="en-US"/>
          </a:p>
        </p:txBody>
      </p:sp>
      <p:sp>
        <p:nvSpPr>
          <p:cNvPr id="399363" name="Rectangle 3"/>
          <p:cNvSpPr>
            <a:spLocks noChangeArrowheads="1"/>
          </p:cNvSpPr>
          <p:nvPr/>
        </p:nvSpPr>
        <p:spPr bwMode="auto">
          <a:xfrm>
            <a:off x="2208214" y="1844676"/>
            <a:ext cx="4137025" cy="576263"/>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IRQ</a:t>
            </a:r>
            <a:r>
              <a:rPr lang="zh-CN" altLang="en-US" sz="3200">
                <a:latin typeface="Times New Roman" pitchFamily="18" charset="0"/>
              </a:rPr>
              <a:t>中断处理</a:t>
            </a:r>
          </a:p>
        </p:txBody>
      </p:sp>
      <p:sp>
        <p:nvSpPr>
          <p:cNvPr id="399364" name="Rectangle 4"/>
          <p:cNvSpPr>
            <a:spLocks noGrp="1" noChangeArrowheads="1"/>
          </p:cNvSpPr>
          <p:nvPr>
            <p:ph type="title"/>
          </p:nvPr>
        </p:nvSpPr>
        <p:spPr>
          <a:noFill/>
          <a:ln/>
        </p:spPr>
        <p:txBody>
          <a:bodyPr/>
          <a:lstStyle/>
          <a:p>
            <a:r>
              <a:rPr lang="en-US" altLang="zh-CN" dirty="0"/>
              <a:t>5.3.4  </a:t>
            </a:r>
            <a:r>
              <a:rPr lang="zh-CN" altLang="en-US" dirty="0"/>
              <a:t>向量中断控制器</a:t>
            </a:r>
          </a:p>
        </p:txBody>
      </p:sp>
      <p:sp>
        <p:nvSpPr>
          <p:cNvPr id="399365" name="Rectangle 5"/>
          <p:cNvSpPr>
            <a:spLocks noChangeArrowheads="1"/>
          </p:cNvSpPr>
          <p:nvPr/>
        </p:nvSpPr>
        <p:spPr bwMode="auto">
          <a:xfrm>
            <a:off x="6799263" y="4589898"/>
            <a:ext cx="2844800" cy="369332"/>
          </a:xfrm>
          <a:prstGeom prst="rect">
            <a:avLst/>
          </a:prstGeom>
          <a:solidFill>
            <a:srgbClr val="FFFF99"/>
          </a:solidFill>
          <a:ln w="9525" algn="ctr">
            <a:noFill/>
            <a:miter lim="800000"/>
            <a:headEnd/>
            <a:tailEnd/>
          </a:ln>
          <a:effectLst/>
        </p:spPr>
        <p:txBody>
          <a:bodyPr anchor="ctr">
            <a:spAutoFit/>
          </a:bodyPr>
          <a:lstStyle/>
          <a:p>
            <a:endParaRPr lang="zh-CN" altLang="en-US"/>
          </a:p>
        </p:txBody>
      </p:sp>
      <p:sp>
        <p:nvSpPr>
          <p:cNvPr id="399366" name="Rectangle 6"/>
          <p:cNvSpPr>
            <a:spLocks noChangeArrowheads="1"/>
          </p:cNvSpPr>
          <p:nvPr/>
        </p:nvSpPr>
        <p:spPr bwMode="auto">
          <a:xfrm>
            <a:off x="6791325" y="5856288"/>
            <a:ext cx="2776538" cy="457200"/>
          </a:xfrm>
          <a:prstGeom prst="rect">
            <a:avLst/>
          </a:prstGeom>
          <a:noFill/>
          <a:ln w="9525" algn="ctr">
            <a:noFill/>
            <a:miter lim="800000"/>
            <a:headEnd/>
            <a:tailEnd/>
          </a:ln>
          <a:effectLst/>
        </p:spPr>
        <p:txBody>
          <a:bodyPr wrap="none">
            <a:spAutoFit/>
          </a:bodyPr>
          <a:lstStyle/>
          <a:p>
            <a:r>
              <a:rPr lang="en-US" altLang="zh-CN" sz="2400">
                <a:latin typeface="Times New Roman" pitchFamily="18" charset="0"/>
              </a:rPr>
              <a:t>SUB</a:t>
            </a:r>
            <a:r>
              <a:rPr lang="en-US" altLang="zh-CN" sz="2400">
                <a:solidFill>
                  <a:srgbClr val="FF0000"/>
                </a:solidFill>
                <a:latin typeface="Times New Roman" pitchFamily="18" charset="0"/>
              </a:rPr>
              <a:t>S</a:t>
            </a:r>
            <a:r>
              <a:rPr lang="en-US" altLang="zh-CN" sz="2400">
                <a:latin typeface="Times New Roman" pitchFamily="18" charset="0"/>
              </a:rPr>
              <a:t>    PC,  LR,  #4</a:t>
            </a:r>
          </a:p>
        </p:txBody>
      </p:sp>
      <p:sp>
        <p:nvSpPr>
          <p:cNvPr id="399367" name="AutoShape 7"/>
          <p:cNvSpPr>
            <a:spLocks noChangeArrowheads="1"/>
          </p:cNvSpPr>
          <p:nvPr/>
        </p:nvSpPr>
        <p:spPr bwMode="auto">
          <a:xfrm>
            <a:off x="7969250" y="5282288"/>
            <a:ext cx="407988" cy="447913"/>
          </a:xfrm>
          <a:prstGeom prst="downArrow">
            <a:avLst>
              <a:gd name="adj1" fmla="val 50000"/>
              <a:gd name="adj2" fmla="val 39008"/>
            </a:avLst>
          </a:prstGeom>
          <a:solidFill>
            <a:srgbClr val="0000FF"/>
          </a:solidFill>
          <a:ln w="9525" algn="ctr">
            <a:solidFill>
              <a:schemeClr val="tx1"/>
            </a:solidFill>
            <a:miter lim="800000"/>
            <a:headEnd/>
            <a:tailEnd/>
          </a:ln>
          <a:effectLst/>
        </p:spPr>
        <p:txBody>
          <a:bodyPr anchor="ctr">
            <a:spAutoFit/>
          </a:bodyPr>
          <a:lstStyle/>
          <a:p>
            <a:endParaRPr lang="zh-CN" altLang="en-US"/>
          </a:p>
        </p:txBody>
      </p:sp>
      <p:grpSp>
        <p:nvGrpSpPr>
          <p:cNvPr id="399368" name="Group 8"/>
          <p:cNvGrpSpPr>
            <a:grpSpLocks/>
          </p:cNvGrpSpPr>
          <p:nvPr/>
        </p:nvGrpSpPr>
        <p:grpSpPr bwMode="auto">
          <a:xfrm>
            <a:off x="2509838" y="2593975"/>
            <a:ext cx="3592512" cy="2895600"/>
            <a:chOff x="606" y="1674"/>
            <a:chExt cx="2263" cy="1824"/>
          </a:xfrm>
        </p:grpSpPr>
        <p:sp>
          <p:nvSpPr>
            <p:cNvPr id="399369" name="Rectangle 9"/>
            <p:cNvSpPr>
              <a:spLocks noChangeArrowheads="1"/>
            </p:cNvSpPr>
            <p:nvPr/>
          </p:nvSpPr>
          <p:spPr bwMode="auto">
            <a:xfrm>
              <a:off x="845" y="2019"/>
              <a:ext cx="2024" cy="295"/>
            </a:xfrm>
            <a:prstGeom prst="rect">
              <a:avLst/>
            </a:prstGeom>
            <a:solidFill>
              <a:schemeClr val="bg1"/>
            </a:solidFill>
            <a:ln w="9525" algn="ctr">
              <a:solidFill>
                <a:schemeClr val="tx1"/>
              </a:solidFill>
              <a:miter lim="800000"/>
              <a:headEnd/>
              <a:tailEnd/>
            </a:ln>
            <a:effectLst/>
          </p:spPr>
          <p:txBody>
            <a:bodyPr anchor="ctr"/>
            <a:lstStyle/>
            <a:p>
              <a:pPr algn="l"/>
              <a:r>
                <a:rPr lang="en-US" altLang="zh-CN">
                  <a:latin typeface="Times New Roman" pitchFamily="18" charset="0"/>
                </a:rPr>
                <a:t>SPSR_irq = CPSR</a:t>
              </a:r>
            </a:p>
          </p:txBody>
        </p:sp>
        <p:sp>
          <p:nvSpPr>
            <p:cNvPr id="399370" name="Oval 10"/>
            <p:cNvSpPr>
              <a:spLocks noChangeArrowheads="1"/>
            </p:cNvSpPr>
            <p:nvPr/>
          </p:nvSpPr>
          <p:spPr bwMode="auto">
            <a:xfrm>
              <a:off x="614" y="2052"/>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1</a:t>
              </a:r>
            </a:p>
          </p:txBody>
        </p:sp>
        <p:sp>
          <p:nvSpPr>
            <p:cNvPr id="399371" name="Oval 11"/>
            <p:cNvSpPr>
              <a:spLocks noChangeArrowheads="1"/>
            </p:cNvSpPr>
            <p:nvPr/>
          </p:nvSpPr>
          <p:spPr bwMode="auto">
            <a:xfrm>
              <a:off x="606" y="2358"/>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2</a:t>
              </a:r>
            </a:p>
          </p:txBody>
        </p:sp>
        <p:sp>
          <p:nvSpPr>
            <p:cNvPr id="399372" name="Rectangle 12"/>
            <p:cNvSpPr>
              <a:spLocks noChangeArrowheads="1"/>
            </p:cNvSpPr>
            <p:nvPr/>
          </p:nvSpPr>
          <p:spPr bwMode="auto">
            <a:xfrm>
              <a:off x="845" y="2315"/>
              <a:ext cx="2024" cy="295"/>
            </a:xfrm>
            <a:prstGeom prst="rect">
              <a:avLst/>
            </a:prstGeom>
            <a:solidFill>
              <a:schemeClr val="bg1"/>
            </a:solidFill>
            <a:ln w="9525" algn="ctr">
              <a:solidFill>
                <a:schemeClr val="tx1"/>
              </a:solidFill>
              <a:miter lim="800000"/>
              <a:headEnd/>
              <a:tailEnd/>
            </a:ln>
            <a:effectLst/>
          </p:spPr>
          <p:txBody>
            <a:bodyPr anchor="ctr"/>
            <a:lstStyle/>
            <a:p>
              <a:pPr algn="l"/>
              <a:r>
                <a:rPr lang="en-US" altLang="zh-CN">
                  <a:latin typeface="Times New Roman" pitchFamily="18" charset="0"/>
                </a:rPr>
                <a:t>CPSR = nzcvq</a:t>
              </a:r>
              <a:r>
                <a:rPr lang="en-US" altLang="zh-CN">
                  <a:solidFill>
                    <a:srgbClr val="FF0000"/>
                  </a:solidFill>
                  <a:latin typeface="Times New Roman" pitchFamily="18" charset="0"/>
                </a:rPr>
                <a:t>I</a:t>
              </a:r>
              <a:r>
                <a:rPr lang="en-US" altLang="zh-CN">
                  <a:latin typeface="Times New Roman" pitchFamily="18" charset="0"/>
                </a:rPr>
                <a:t>ft_irq</a:t>
              </a:r>
            </a:p>
          </p:txBody>
        </p:sp>
        <p:sp>
          <p:nvSpPr>
            <p:cNvPr id="399373" name="Oval 13"/>
            <p:cNvSpPr>
              <a:spLocks noChangeArrowheads="1"/>
            </p:cNvSpPr>
            <p:nvPr/>
          </p:nvSpPr>
          <p:spPr bwMode="auto">
            <a:xfrm>
              <a:off x="606" y="2657"/>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3</a:t>
              </a:r>
            </a:p>
          </p:txBody>
        </p:sp>
        <p:sp>
          <p:nvSpPr>
            <p:cNvPr id="399374" name="Rectangle 14"/>
            <p:cNvSpPr>
              <a:spLocks noChangeArrowheads="1"/>
            </p:cNvSpPr>
            <p:nvPr/>
          </p:nvSpPr>
          <p:spPr bwMode="auto">
            <a:xfrm>
              <a:off x="845" y="2610"/>
              <a:ext cx="2024" cy="295"/>
            </a:xfrm>
            <a:prstGeom prst="rect">
              <a:avLst/>
            </a:prstGeom>
            <a:solidFill>
              <a:schemeClr val="bg1"/>
            </a:solidFill>
            <a:ln w="9525" algn="ctr">
              <a:solidFill>
                <a:schemeClr val="tx1"/>
              </a:solidFill>
              <a:miter lim="800000"/>
              <a:headEnd/>
              <a:tailEnd/>
            </a:ln>
            <a:effectLst/>
          </p:spPr>
          <p:txBody>
            <a:bodyPr anchor="ctr"/>
            <a:lstStyle/>
            <a:p>
              <a:pPr algn="l"/>
              <a:r>
                <a:rPr lang="en-US" altLang="zh-CN">
                  <a:latin typeface="Times New Roman" pitchFamily="18" charset="0"/>
                </a:rPr>
                <a:t>VICVectAddr = VICVectAddrn</a:t>
              </a:r>
            </a:p>
          </p:txBody>
        </p:sp>
        <p:sp>
          <p:nvSpPr>
            <p:cNvPr id="399375" name="Oval 15"/>
            <p:cNvSpPr>
              <a:spLocks noChangeArrowheads="1"/>
            </p:cNvSpPr>
            <p:nvPr/>
          </p:nvSpPr>
          <p:spPr bwMode="auto">
            <a:xfrm>
              <a:off x="606" y="2954"/>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4</a:t>
              </a:r>
            </a:p>
          </p:txBody>
        </p:sp>
        <p:sp>
          <p:nvSpPr>
            <p:cNvPr id="399376" name="Rectangle 16"/>
            <p:cNvSpPr>
              <a:spLocks noChangeArrowheads="1"/>
            </p:cNvSpPr>
            <p:nvPr/>
          </p:nvSpPr>
          <p:spPr bwMode="auto">
            <a:xfrm>
              <a:off x="845" y="2907"/>
              <a:ext cx="2024" cy="295"/>
            </a:xfrm>
            <a:prstGeom prst="rect">
              <a:avLst/>
            </a:prstGeom>
            <a:solidFill>
              <a:schemeClr val="bg1"/>
            </a:solidFill>
            <a:ln w="9525" algn="ctr">
              <a:solidFill>
                <a:schemeClr val="tx1"/>
              </a:solidFill>
              <a:miter lim="800000"/>
              <a:headEnd/>
              <a:tailEnd/>
            </a:ln>
            <a:effectLst/>
          </p:spPr>
          <p:txBody>
            <a:bodyPr anchor="ctr"/>
            <a:lstStyle/>
            <a:p>
              <a:pPr algn="l"/>
              <a:r>
                <a:rPr lang="en-US" altLang="zh-CN">
                  <a:latin typeface="Times New Roman" pitchFamily="18" charset="0"/>
                </a:rPr>
                <a:t>LR_irq = PC</a:t>
              </a:r>
            </a:p>
          </p:txBody>
        </p:sp>
        <p:sp>
          <p:nvSpPr>
            <p:cNvPr id="399377" name="Text Box 17"/>
            <p:cNvSpPr txBox="1">
              <a:spLocks noChangeArrowheads="1"/>
            </p:cNvSpPr>
            <p:nvPr/>
          </p:nvSpPr>
          <p:spPr bwMode="auto">
            <a:xfrm>
              <a:off x="1363" y="1674"/>
              <a:ext cx="884" cy="288"/>
            </a:xfrm>
            <a:prstGeom prst="rect">
              <a:avLst/>
            </a:prstGeom>
            <a:noFill/>
            <a:ln w="9525" algn="ctr">
              <a:noFill/>
              <a:miter lim="800000"/>
              <a:headEnd/>
              <a:tailEnd/>
            </a:ln>
            <a:effectLst/>
          </p:spPr>
          <p:txBody>
            <a:bodyPr wrap="none">
              <a:spAutoFit/>
            </a:bodyPr>
            <a:lstStyle/>
            <a:p>
              <a:r>
                <a:rPr lang="zh-CN" altLang="en-US" sz="2400">
                  <a:ea typeface="华文新魏" pitchFamily="2" charset="-122"/>
                </a:rPr>
                <a:t>硬件处理</a:t>
              </a:r>
            </a:p>
          </p:txBody>
        </p:sp>
        <p:sp>
          <p:nvSpPr>
            <p:cNvPr id="399378" name="Oval 18"/>
            <p:cNvSpPr>
              <a:spLocks noChangeArrowheads="1"/>
            </p:cNvSpPr>
            <p:nvPr/>
          </p:nvSpPr>
          <p:spPr bwMode="auto">
            <a:xfrm>
              <a:off x="606" y="3250"/>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5</a:t>
              </a:r>
            </a:p>
          </p:txBody>
        </p:sp>
        <p:sp>
          <p:nvSpPr>
            <p:cNvPr id="399379" name="Rectangle 19"/>
            <p:cNvSpPr>
              <a:spLocks noChangeArrowheads="1"/>
            </p:cNvSpPr>
            <p:nvPr/>
          </p:nvSpPr>
          <p:spPr bwMode="auto">
            <a:xfrm>
              <a:off x="845" y="3203"/>
              <a:ext cx="2024" cy="295"/>
            </a:xfrm>
            <a:prstGeom prst="rect">
              <a:avLst/>
            </a:prstGeom>
            <a:solidFill>
              <a:schemeClr val="bg1"/>
            </a:solidFill>
            <a:ln w="9525" algn="ctr">
              <a:solidFill>
                <a:schemeClr val="tx1"/>
              </a:solidFill>
              <a:miter lim="800000"/>
              <a:headEnd/>
              <a:tailEnd/>
            </a:ln>
            <a:effectLst/>
          </p:spPr>
          <p:txBody>
            <a:bodyPr anchor="ctr"/>
            <a:lstStyle/>
            <a:p>
              <a:pPr algn="l"/>
              <a:r>
                <a:rPr lang="en-US" altLang="zh-CN">
                  <a:latin typeface="Times New Roman" pitchFamily="18" charset="0"/>
                </a:rPr>
                <a:t>PC = 0x18</a:t>
              </a:r>
            </a:p>
          </p:txBody>
        </p:sp>
      </p:grpSp>
      <p:grpSp>
        <p:nvGrpSpPr>
          <p:cNvPr id="399380" name="Group 20"/>
          <p:cNvGrpSpPr>
            <a:grpSpLocks/>
          </p:cNvGrpSpPr>
          <p:nvPr/>
        </p:nvGrpSpPr>
        <p:grpSpPr bwMode="auto">
          <a:xfrm>
            <a:off x="6432550" y="2592389"/>
            <a:ext cx="3221038" cy="2403475"/>
            <a:chOff x="2644" y="1633"/>
            <a:chExt cx="2029" cy="1514"/>
          </a:xfrm>
        </p:grpSpPr>
        <p:sp>
          <p:nvSpPr>
            <p:cNvPr id="399381" name="Text Box 21"/>
            <p:cNvSpPr txBox="1">
              <a:spLocks noChangeArrowheads="1"/>
            </p:cNvSpPr>
            <p:nvPr/>
          </p:nvSpPr>
          <p:spPr bwMode="auto">
            <a:xfrm>
              <a:off x="3294" y="1633"/>
              <a:ext cx="884" cy="288"/>
            </a:xfrm>
            <a:prstGeom prst="rect">
              <a:avLst/>
            </a:prstGeom>
            <a:noFill/>
            <a:ln w="9525" algn="ctr">
              <a:noFill/>
              <a:miter lim="800000"/>
              <a:headEnd/>
              <a:tailEnd/>
            </a:ln>
            <a:effectLst/>
          </p:spPr>
          <p:txBody>
            <a:bodyPr wrap="none">
              <a:spAutoFit/>
            </a:bodyPr>
            <a:lstStyle/>
            <a:p>
              <a:r>
                <a:rPr lang="zh-CN" altLang="en-US" sz="2400">
                  <a:ea typeface="华文新魏" pitchFamily="2" charset="-122"/>
                </a:rPr>
                <a:t>软件处理</a:t>
              </a:r>
            </a:p>
          </p:txBody>
        </p:sp>
        <p:grpSp>
          <p:nvGrpSpPr>
            <p:cNvPr id="399382" name="Group 22"/>
            <p:cNvGrpSpPr>
              <a:grpSpLocks/>
            </p:cNvGrpSpPr>
            <p:nvPr/>
          </p:nvGrpSpPr>
          <p:grpSpPr bwMode="auto">
            <a:xfrm>
              <a:off x="2645" y="2264"/>
              <a:ext cx="2028" cy="294"/>
              <a:chOff x="2349" y="2096"/>
              <a:chExt cx="2028" cy="294"/>
            </a:xfrm>
          </p:grpSpPr>
          <p:sp>
            <p:nvSpPr>
              <p:cNvPr id="399383" name="Rectangle 23"/>
              <p:cNvSpPr>
                <a:spLocks noChangeArrowheads="1"/>
              </p:cNvSpPr>
              <p:nvPr/>
            </p:nvSpPr>
            <p:spPr bwMode="auto">
              <a:xfrm>
                <a:off x="2580" y="2096"/>
                <a:ext cx="1797" cy="294"/>
              </a:xfrm>
              <a:prstGeom prst="rect">
                <a:avLst/>
              </a:prstGeom>
              <a:solidFill>
                <a:schemeClr val="bg1"/>
              </a:solidFill>
              <a:ln w="9525" algn="ctr">
                <a:solidFill>
                  <a:schemeClr val="tx1"/>
                </a:solidFill>
                <a:miter lim="800000"/>
                <a:headEnd/>
                <a:tailEnd/>
              </a:ln>
              <a:effectLst/>
            </p:spPr>
            <p:txBody>
              <a:bodyPr anchor="ctr"/>
              <a:lstStyle/>
              <a:p>
                <a:pPr algn="l"/>
                <a:r>
                  <a:rPr lang="zh-CN" altLang="en-US">
                    <a:latin typeface="Times New Roman" pitchFamily="18" charset="0"/>
                  </a:rPr>
                  <a:t>执行中断服务程序</a:t>
                </a:r>
              </a:p>
            </p:txBody>
          </p:sp>
          <p:sp>
            <p:nvSpPr>
              <p:cNvPr id="399384" name="Oval 24"/>
              <p:cNvSpPr>
                <a:spLocks noChangeArrowheads="1"/>
              </p:cNvSpPr>
              <p:nvPr/>
            </p:nvSpPr>
            <p:spPr bwMode="auto">
              <a:xfrm>
                <a:off x="2349" y="2124"/>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2</a:t>
                </a:r>
              </a:p>
            </p:txBody>
          </p:sp>
        </p:grpSp>
        <p:grpSp>
          <p:nvGrpSpPr>
            <p:cNvPr id="399385" name="Group 25"/>
            <p:cNvGrpSpPr>
              <a:grpSpLocks/>
            </p:cNvGrpSpPr>
            <p:nvPr/>
          </p:nvGrpSpPr>
          <p:grpSpPr bwMode="auto">
            <a:xfrm>
              <a:off x="2644" y="2556"/>
              <a:ext cx="2029" cy="295"/>
              <a:chOff x="2348" y="2460"/>
              <a:chExt cx="2029" cy="295"/>
            </a:xfrm>
          </p:grpSpPr>
          <p:sp>
            <p:nvSpPr>
              <p:cNvPr id="399386" name="Rectangle 26"/>
              <p:cNvSpPr>
                <a:spLocks noChangeArrowheads="1"/>
              </p:cNvSpPr>
              <p:nvPr/>
            </p:nvSpPr>
            <p:spPr bwMode="auto">
              <a:xfrm>
                <a:off x="2579" y="2460"/>
                <a:ext cx="1798" cy="295"/>
              </a:xfrm>
              <a:prstGeom prst="rect">
                <a:avLst/>
              </a:prstGeom>
              <a:noFill/>
              <a:ln w="9525" algn="ctr">
                <a:solidFill>
                  <a:schemeClr val="tx1"/>
                </a:solidFill>
                <a:miter lim="800000"/>
                <a:headEnd/>
                <a:tailEnd/>
              </a:ln>
              <a:effectLst/>
            </p:spPr>
            <p:txBody>
              <a:bodyPr anchor="ctr"/>
              <a:lstStyle/>
              <a:p>
                <a:pPr algn="l"/>
                <a:r>
                  <a:rPr lang="zh-CN" altLang="en-US">
                    <a:latin typeface="Times New Roman" pitchFamily="18" charset="0"/>
                  </a:rPr>
                  <a:t>设置返回地址</a:t>
                </a:r>
              </a:p>
            </p:txBody>
          </p:sp>
          <p:sp>
            <p:nvSpPr>
              <p:cNvPr id="399387" name="Oval 27"/>
              <p:cNvSpPr>
                <a:spLocks noChangeArrowheads="1"/>
              </p:cNvSpPr>
              <p:nvPr/>
            </p:nvSpPr>
            <p:spPr bwMode="auto">
              <a:xfrm>
                <a:off x="2348" y="2493"/>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3</a:t>
                </a:r>
              </a:p>
            </p:txBody>
          </p:sp>
        </p:grpSp>
        <p:grpSp>
          <p:nvGrpSpPr>
            <p:cNvPr id="399388" name="Group 28"/>
            <p:cNvGrpSpPr>
              <a:grpSpLocks/>
            </p:cNvGrpSpPr>
            <p:nvPr/>
          </p:nvGrpSpPr>
          <p:grpSpPr bwMode="auto">
            <a:xfrm>
              <a:off x="2644" y="2852"/>
              <a:ext cx="2029" cy="295"/>
              <a:chOff x="2348" y="2756"/>
              <a:chExt cx="2029" cy="295"/>
            </a:xfrm>
          </p:grpSpPr>
          <p:sp>
            <p:nvSpPr>
              <p:cNvPr id="399389" name="Rectangle 29"/>
              <p:cNvSpPr>
                <a:spLocks noChangeArrowheads="1"/>
              </p:cNvSpPr>
              <p:nvPr/>
            </p:nvSpPr>
            <p:spPr bwMode="auto">
              <a:xfrm>
                <a:off x="2579" y="2756"/>
                <a:ext cx="1798" cy="295"/>
              </a:xfrm>
              <a:prstGeom prst="rect">
                <a:avLst/>
              </a:prstGeom>
              <a:noFill/>
              <a:ln w="9525" algn="ctr">
                <a:solidFill>
                  <a:schemeClr val="tx1"/>
                </a:solidFill>
                <a:miter lim="800000"/>
                <a:headEnd/>
                <a:tailEnd/>
              </a:ln>
              <a:effectLst/>
            </p:spPr>
            <p:txBody>
              <a:bodyPr anchor="ctr"/>
              <a:lstStyle/>
              <a:p>
                <a:pPr algn="l"/>
                <a:r>
                  <a:rPr lang="zh-CN" altLang="en-US">
                    <a:latin typeface="Times New Roman" pitchFamily="18" charset="0"/>
                  </a:rPr>
                  <a:t>恢复程序状态寄存器</a:t>
                </a:r>
                <a:r>
                  <a:rPr lang="en-US" altLang="zh-CN">
                    <a:latin typeface="Times New Roman" pitchFamily="18" charset="0"/>
                  </a:rPr>
                  <a:t>CPSR</a:t>
                </a:r>
              </a:p>
            </p:txBody>
          </p:sp>
          <p:sp>
            <p:nvSpPr>
              <p:cNvPr id="399390" name="Oval 30"/>
              <p:cNvSpPr>
                <a:spLocks noChangeArrowheads="1"/>
              </p:cNvSpPr>
              <p:nvPr/>
            </p:nvSpPr>
            <p:spPr bwMode="auto">
              <a:xfrm>
                <a:off x="2348" y="2789"/>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4</a:t>
                </a:r>
              </a:p>
            </p:txBody>
          </p:sp>
        </p:grpSp>
        <p:grpSp>
          <p:nvGrpSpPr>
            <p:cNvPr id="399391" name="Group 31"/>
            <p:cNvGrpSpPr>
              <a:grpSpLocks/>
            </p:cNvGrpSpPr>
            <p:nvPr/>
          </p:nvGrpSpPr>
          <p:grpSpPr bwMode="auto">
            <a:xfrm>
              <a:off x="2645" y="1976"/>
              <a:ext cx="2028" cy="294"/>
              <a:chOff x="2349" y="2096"/>
              <a:chExt cx="2028" cy="294"/>
            </a:xfrm>
          </p:grpSpPr>
          <p:sp>
            <p:nvSpPr>
              <p:cNvPr id="399392" name="Rectangle 32"/>
              <p:cNvSpPr>
                <a:spLocks noChangeArrowheads="1"/>
              </p:cNvSpPr>
              <p:nvPr/>
            </p:nvSpPr>
            <p:spPr bwMode="auto">
              <a:xfrm>
                <a:off x="2580" y="2096"/>
                <a:ext cx="1797" cy="294"/>
              </a:xfrm>
              <a:prstGeom prst="rect">
                <a:avLst/>
              </a:prstGeom>
              <a:noFill/>
              <a:ln w="9525" algn="ctr">
                <a:solidFill>
                  <a:schemeClr val="tx1"/>
                </a:solidFill>
                <a:miter lim="800000"/>
                <a:headEnd/>
                <a:tailEnd/>
              </a:ln>
              <a:effectLst/>
            </p:spPr>
            <p:txBody>
              <a:bodyPr anchor="ctr"/>
              <a:lstStyle/>
              <a:p>
                <a:pPr algn="l"/>
                <a:r>
                  <a:rPr lang="en-US" altLang="zh-CN">
                    <a:latin typeface="Times New Roman" pitchFamily="18" charset="0"/>
                  </a:rPr>
                  <a:t>LDR     PC, [PC, #-0xff0]</a:t>
                </a:r>
              </a:p>
            </p:txBody>
          </p:sp>
          <p:sp>
            <p:nvSpPr>
              <p:cNvPr id="399393" name="Oval 33"/>
              <p:cNvSpPr>
                <a:spLocks noChangeArrowheads="1"/>
              </p:cNvSpPr>
              <p:nvPr/>
            </p:nvSpPr>
            <p:spPr bwMode="auto">
              <a:xfrm>
                <a:off x="2349" y="2124"/>
                <a:ext cx="190" cy="200"/>
              </a:xfrm>
              <a:prstGeom prst="ellipse">
                <a:avLst/>
              </a:prstGeom>
              <a:solidFill>
                <a:srgbClr val="FFCC99"/>
              </a:solidFill>
              <a:ln w="9525" algn="ctr">
                <a:solidFill>
                  <a:schemeClr val="tx1"/>
                </a:solidFill>
                <a:round/>
                <a:headEnd/>
                <a:tailEnd/>
              </a:ln>
              <a:effectLst/>
            </p:spPr>
            <p:txBody>
              <a:bodyPr wrap="none" anchor="ctr"/>
              <a:lstStyle/>
              <a:p>
                <a:r>
                  <a:rPr lang="en-US" altLang="zh-CN" b="1">
                    <a:latin typeface="Times New Roman" pitchFamily="18" charset="0"/>
                  </a:rPr>
                  <a:t>1</a:t>
                </a:r>
              </a:p>
            </p:txBody>
          </p:sp>
        </p:gr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99365"/>
                                        </p:tgtEl>
                                        <p:attrNameLst>
                                          <p:attrName>style.visibility</p:attrName>
                                        </p:attrNameLst>
                                      </p:cBhvr>
                                      <p:to>
                                        <p:strVal val="visible"/>
                                      </p:to>
                                    </p:set>
                                    <p:animEffect transition="in" filter="wipe(up)">
                                      <p:cBhvr>
                                        <p:cTn id="7" dur="500"/>
                                        <p:tgtEl>
                                          <p:spTgt spid="39936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99367"/>
                                        </p:tgtEl>
                                        <p:attrNameLst>
                                          <p:attrName>style.visibility</p:attrName>
                                        </p:attrNameLst>
                                      </p:cBhvr>
                                      <p:to>
                                        <p:strVal val="visible"/>
                                      </p:to>
                                    </p:set>
                                    <p:animEffect transition="in" filter="wipe(up)">
                                      <p:cBhvr>
                                        <p:cTn id="11" dur="500"/>
                                        <p:tgtEl>
                                          <p:spTgt spid="399367"/>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399366"/>
                                        </p:tgtEl>
                                        <p:attrNameLst>
                                          <p:attrName>style.visibility</p:attrName>
                                        </p:attrNameLst>
                                      </p:cBhvr>
                                      <p:to>
                                        <p:strVal val="visible"/>
                                      </p:to>
                                    </p:set>
                                    <p:animEffect transition="in" filter="blinds(horizontal)">
                                      <p:cBhvr>
                                        <p:cTn id="15" dur="500"/>
                                        <p:tgtEl>
                                          <p:spTgt spid="399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5" grpId="0" animBg="1"/>
      <p:bldP spid="399366" grpId="0"/>
      <p:bldP spid="39936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ChangeArrowheads="1"/>
          </p:cNvSpPr>
          <p:nvPr/>
        </p:nvSpPr>
        <p:spPr bwMode="auto">
          <a:xfrm>
            <a:off x="2209800" y="6207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IRQ</a:t>
            </a:r>
            <a:r>
              <a:rPr lang="zh-CN" altLang="en-US" sz="3200">
                <a:latin typeface="Times New Roman" pitchFamily="18" charset="0"/>
              </a:rPr>
              <a:t>中断的设计实例</a:t>
            </a:r>
          </a:p>
        </p:txBody>
      </p:sp>
      <p:sp>
        <p:nvSpPr>
          <p:cNvPr id="400387" name="Text Box 3"/>
          <p:cNvSpPr txBox="1">
            <a:spLocks noChangeArrowheads="1"/>
          </p:cNvSpPr>
          <p:nvPr/>
        </p:nvSpPr>
        <p:spPr bwMode="auto">
          <a:xfrm>
            <a:off x="2295525" y="1219201"/>
            <a:ext cx="7659688" cy="830997"/>
          </a:xfrm>
          <a:prstGeom prst="rect">
            <a:avLst/>
          </a:prstGeom>
          <a:noFill/>
          <a:ln w="9525">
            <a:noFill/>
            <a:miter lim="800000"/>
            <a:headEnd/>
            <a:tailEnd/>
          </a:ln>
          <a:effectLst/>
        </p:spPr>
        <p:txBody>
          <a:bodyPr>
            <a:spAutoFit/>
          </a:bodyPr>
          <a:lstStyle/>
          <a:p>
            <a:pPr algn="l">
              <a:spcBef>
                <a:spcPct val="50000"/>
              </a:spcBef>
            </a:pPr>
            <a:r>
              <a:rPr lang="en-US" altLang="zh-CN" sz="2400">
                <a:latin typeface="Times New Roman" pitchFamily="18" charset="0"/>
                <a:ea typeface="华文新魏" pitchFamily="2" charset="-122"/>
              </a:rPr>
              <a:t>        </a:t>
            </a:r>
            <a:r>
              <a:rPr lang="zh-CN" altLang="en-US" sz="2400">
                <a:latin typeface="Times New Roman" pitchFamily="18" charset="0"/>
                <a:ea typeface="华文新魏" pitchFamily="2" charset="-122"/>
              </a:rPr>
              <a:t>将定时器</a:t>
            </a:r>
            <a:r>
              <a:rPr lang="en-US" altLang="zh-CN" sz="2400">
                <a:latin typeface="Times New Roman" pitchFamily="18" charset="0"/>
                <a:ea typeface="华文新魏" pitchFamily="2" charset="-122"/>
              </a:rPr>
              <a:t>0</a:t>
            </a:r>
            <a:r>
              <a:rPr lang="zh-CN" altLang="en-US" sz="2400">
                <a:latin typeface="Times New Roman" pitchFamily="18" charset="0"/>
                <a:ea typeface="华文新魏" pitchFamily="2" charset="-122"/>
              </a:rPr>
              <a:t>中断分配为向量</a:t>
            </a:r>
            <a:r>
              <a:rPr lang="en-US" altLang="zh-CN" sz="2400">
                <a:latin typeface="Times New Roman" pitchFamily="18" charset="0"/>
                <a:ea typeface="华文新魏" pitchFamily="2" charset="-122"/>
              </a:rPr>
              <a:t>IRQ</a:t>
            </a:r>
            <a:r>
              <a:rPr lang="zh-CN" altLang="en-US" sz="2400">
                <a:latin typeface="Times New Roman" pitchFamily="18" charset="0"/>
                <a:ea typeface="华文新魏" pitchFamily="2" charset="-122"/>
              </a:rPr>
              <a:t>通道</a:t>
            </a:r>
            <a:r>
              <a:rPr lang="en-US" altLang="zh-CN" sz="2400">
                <a:latin typeface="Times New Roman" pitchFamily="18" charset="0"/>
                <a:ea typeface="华文新魏" pitchFamily="2" charset="-122"/>
              </a:rPr>
              <a:t>0</a:t>
            </a:r>
            <a:r>
              <a:rPr lang="zh-CN" altLang="en-US" sz="2400">
                <a:latin typeface="Times New Roman" pitchFamily="18" charset="0"/>
                <a:ea typeface="华文新魏" pitchFamily="2" charset="-122"/>
              </a:rPr>
              <a:t>，中断服务程序地址设置为</a:t>
            </a:r>
            <a:r>
              <a:rPr lang="en-US" altLang="zh-CN" sz="2400">
                <a:latin typeface="Times New Roman" pitchFamily="18" charset="0"/>
                <a:ea typeface="华文新魏" pitchFamily="2" charset="-122"/>
              </a:rPr>
              <a:t>Timer0_ISR</a:t>
            </a:r>
            <a:r>
              <a:rPr lang="zh-CN" altLang="en-US" sz="2400">
                <a:latin typeface="Times New Roman" pitchFamily="18" charset="0"/>
                <a:ea typeface="华文新魏" pitchFamily="2" charset="-122"/>
              </a:rPr>
              <a:t>。</a:t>
            </a:r>
          </a:p>
        </p:txBody>
      </p:sp>
      <p:sp>
        <p:nvSpPr>
          <p:cNvPr id="400389" name="Text Box 5"/>
          <p:cNvSpPr txBox="1">
            <a:spLocks noChangeArrowheads="1"/>
          </p:cNvSpPr>
          <p:nvPr/>
        </p:nvSpPr>
        <p:spPr bwMode="auto">
          <a:xfrm>
            <a:off x="7461250" y="2225676"/>
            <a:ext cx="1143000" cy="396875"/>
          </a:xfrm>
          <a:prstGeom prst="rect">
            <a:avLst/>
          </a:prstGeom>
          <a:noFill/>
          <a:ln w="9525">
            <a:noFill/>
            <a:miter lim="800000"/>
            <a:headEnd/>
            <a:tailEnd/>
          </a:ln>
          <a:effectLst/>
        </p:spPr>
        <p:txBody>
          <a:bodyPr>
            <a:spAutoFit/>
          </a:bodyPr>
          <a:lstStyle/>
          <a:p>
            <a:pPr algn="l">
              <a:spcBef>
                <a:spcPct val="50000"/>
              </a:spcBef>
            </a:pPr>
            <a:r>
              <a:rPr lang="en-US" altLang="zh-CN" sz="2000">
                <a:latin typeface="Times New Roman" pitchFamily="18" charset="0"/>
                <a:ea typeface="楷体_GB2312" pitchFamily="49" charset="-122"/>
              </a:rPr>
              <a:t>C</a:t>
            </a:r>
            <a:r>
              <a:rPr lang="zh-CN" altLang="en-US" sz="2000">
                <a:latin typeface="Times New Roman" pitchFamily="18" charset="0"/>
                <a:ea typeface="楷体_GB2312" pitchFamily="49" charset="-122"/>
              </a:rPr>
              <a:t>代码：</a:t>
            </a:r>
          </a:p>
        </p:txBody>
      </p:sp>
      <p:sp>
        <p:nvSpPr>
          <p:cNvPr id="400391" name="Text Box 7"/>
          <p:cNvSpPr txBox="1">
            <a:spLocks noChangeArrowheads="1"/>
          </p:cNvSpPr>
          <p:nvPr/>
        </p:nvSpPr>
        <p:spPr bwMode="auto">
          <a:xfrm>
            <a:off x="1930400" y="2095500"/>
            <a:ext cx="1371600" cy="457200"/>
          </a:xfrm>
          <a:prstGeom prst="rect">
            <a:avLst/>
          </a:prstGeom>
          <a:noFill/>
          <a:ln w="9525">
            <a:noFill/>
            <a:miter lim="800000"/>
            <a:headEnd/>
            <a:tailEnd/>
          </a:ln>
          <a:effectLst/>
        </p:spPr>
        <p:txBody>
          <a:bodyPr>
            <a:spAutoFit/>
          </a:bodyPr>
          <a:lstStyle/>
          <a:p>
            <a:pPr algn="l">
              <a:spcBef>
                <a:spcPct val="50000"/>
              </a:spcBef>
            </a:pPr>
            <a:r>
              <a:rPr lang="zh-CN" altLang="en-US" sz="2400">
                <a:latin typeface="Times New Roman" pitchFamily="18" charset="0"/>
                <a:ea typeface="华文新魏" pitchFamily="2" charset="-122"/>
              </a:rPr>
              <a:t>步骤：</a:t>
            </a:r>
          </a:p>
        </p:txBody>
      </p:sp>
      <p:sp>
        <p:nvSpPr>
          <p:cNvPr id="400404" name="Rectangle 20"/>
          <p:cNvSpPr>
            <a:spLocks noChangeArrowheads="1"/>
          </p:cNvSpPr>
          <p:nvPr/>
        </p:nvSpPr>
        <p:spPr bwMode="auto">
          <a:xfrm>
            <a:off x="1712913" y="4495800"/>
            <a:ext cx="2159000" cy="611188"/>
          </a:xfrm>
          <a:prstGeom prst="rect">
            <a:avLst/>
          </a:prstGeom>
          <a:solidFill>
            <a:schemeClr val="bg1"/>
          </a:solidFill>
          <a:ln w="9525" algn="ctr">
            <a:solidFill>
              <a:schemeClr val="tx1"/>
            </a:solidFill>
            <a:miter lim="800000"/>
            <a:headEnd/>
            <a:tailEnd/>
          </a:ln>
          <a:effectLst/>
        </p:spPr>
        <p:txBody>
          <a:bodyPr wrap="none" anchor="ctr"/>
          <a:lstStyle/>
          <a:p>
            <a:r>
              <a:rPr lang="en-US" altLang="zh-CN" sz="1400">
                <a:latin typeface="Arial" charset="0"/>
              </a:rPr>
              <a:t>IRQ</a:t>
            </a:r>
            <a:r>
              <a:rPr lang="zh-CN" altLang="en-US" sz="1400">
                <a:latin typeface="Arial" charset="0"/>
              </a:rPr>
              <a:t>通道</a:t>
            </a:r>
            <a:r>
              <a:rPr lang="en-US" altLang="zh-CN" sz="1400">
                <a:latin typeface="Arial" charset="0"/>
              </a:rPr>
              <a:t>0</a:t>
            </a:r>
            <a:r>
              <a:rPr lang="zh-CN" altLang="en-US" sz="1400">
                <a:latin typeface="Arial" charset="0"/>
              </a:rPr>
              <a:t>控制寄存器</a:t>
            </a:r>
          </a:p>
          <a:p>
            <a:r>
              <a:rPr lang="en-US" altLang="zh-CN" sz="1400">
                <a:latin typeface="Arial" charset="0"/>
              </a:rPr>
              <a:t>VICVectCntl0</a:t>
            </a:r>
          </a:p>
        </p:txBody>
      </p:sp>
      <p:graphicFrame>
        <p:nvGraphicFramePr>
          <p:cNvPr id="400458" name="Group 74"/>
          <p:cNvGraphicFramePr>
            <a:graphicFrameLocks noGrp="1"/>
          </p:cNvGraphicFramePr>
          <p:nvPr>
            <p:ph/>
          </p:nvPr>
        </p:nvGraphicFramePr>
        <p:xfrm>
          <a:off x="4481513" y="4494213"/>
          <a:ext cx="1651000" cy="609600"/>
        </p:xfrm>
        <a:graphic>
          <a:graphicData uri="http://schemas.openxmlformats.org/drawingml/2006/table">
            <a:tbl>
              <a:tblPr/>
              <a:tblGrid>
                <a:gridCol w="647700">
                  <a:extLst>
                    <a:ext uri="{9D8B030D-6E8A-4147-A177-3AD203B41FA5}">
                      <a16:colId xmlns:a16="http://schemas.microsoft.com/office/drawing/2014/main" val="20000"/>
                    </a:ext>
                  </a:extLst>
                </a:gridCol>
                <a:gridCol w="347662">
                  <a:extLst>
                    <a:ext uri="{9D8B030D-6E8A-4147-A177-3AD203B41FA5}">
                      <a16:colId xmlns:a16="http://schemas.microsoft.com/office/drawing/2014/main" val="20001"/>
                    </a:ext>
                  </a:extLst>
                </a:gridCol>
                <a:gridCol w="655638">
                  <a:extLst>
                    <a:ext uri="{9D8B030D-6E8A-4147-A177-3AD203B41FA5}">
                      <a16:colId xmlns:a16="http://schemas.microsoft.com/office/drawing/2014/main" val="20002"/>
                    </a:ext>
                  </a:extLst>
                </a:gridCol>
              </a:tblGrid>
              <a:tr h="2936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31</a:t>
                      </a:r>
                      <a:r>
                        <a:rPr kumimoji="1" lang="zh-CN" altLang="en-US" sz="1400" b="0" i="0" u="none" strike="noStrike" cap="none" normalizeH="0" baseline="0">
                          <a:ln>
                            <a:noFill/>
                          </a:ln>
                          <a:solidFill>
                            <a:schemeClr val="tx1"/>
                          </a:solidFill>
                          <a:effectLst/>
                          <a:latin typeface="Times New Roman" pitchFamily="18" charset="0"/>
                          <a:ea typeface="宋体" pitchFamily="2" charset="-122"/>
                        </a:rPr>
                        <a:t>：</a:t>
                      </a:r>
                      <a:r>
                        <a:rPr kumimoji="1" lang="en-US" altLang="zh-CN" sz="1400" b="0" i="0" u="none" strike="noStrike" cap="none" normalizeH="0" baseline="0">
                          <a:ln>
                            <a:noFill/>
                          </a:ln>
                          <a:solidFill>
                            <a:schemeClr val="tx1"/>
                          </a:solidFill>
                          <a:effectLst/>
                          <a:latin typeface="Times New Roman" pitchFamily="18" charset="0"/>
                          <a:ea typeface="宋体" pitchFamily="2" charset="-122"/>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4</a:t>
                      </a:r>
                      <a:r>
                        <a:rPr kumimoji="1" lang="zh-CN" altLang="en-US" sz="1400" b="0" i="0" u="none" strike="noStrike" cap="none" normalizeH="0" baseline="0">
                          <a:ln>
                            <a:noFill/>
                          </a:ln>
                          <a:solidFill>
                            <a:schemeClr val="tx1"/>
                          </a:solidFill>
                          <a:effectLst/>
                          <a:latin typeface="Times New Roman" pitchFamily="18" charset="0"/>
                          <a:ea typeface="宋体" pitchFamily="2" charset="-122"/>
                        </a:rPr>
                        <a:t>：</a:t>
                      </a:r>
                      <a:r>
                        <a:rPr kumimoji="1" lang="en-US" altLang="zh-CN" sz="14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25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rPr>
                        <a:t>0x04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400421" name="Text Box 37"/>
          <p:cNvSpPr txBox="1">
            <a:spLocks noChangeArrowheads="1"/>
          </p:cNvSpPr>
          <p:nvPr/>
        </p:nvSpPr>
        <p:spPr bwMode="auto">
          <a:xfrm>
            <a:off x="4065589" y="4186238"/>
            <a:ext cx="2820987" cy="304800"/>
          </a:xfrm>
          <a:prstGeom prst="rect">
            <a:avLst/>
          </a:prstGeom>
          <a:noFill/>
          <a:ln w="9525" algn="ctr">
            <a:noFill/>
            <a:miter lim="800000"/>
            <a:headEnd/>
            <a:tailEnd/>
          </a:ln>
          <a:effectLst/>
        </p:spPr>
        <p:txBody>
          <a:bodyPr>
            <a:spAutoFit/>
          </a:bodyPr>
          <a:lstStyle/>
          <a:p>
            <a:pPr algn="l"/>
            <a:r>
              <a:rPr lang="zh-CN" altLang="en-US" sz="1400">
                <a:latin typeface="Arial" charset="0"/>
              </a:rPr>
              <a:t>向量</a:t>
            </a:r>
            <a:r>
              <a:rPr lang="en-US" altLang="zh-CN" sz="1400">
                <a:latin typeface="Arial" charset="0"/>
              </a:rPr>
              <a:t>IRQ</a:t>
            </a:r>
            <a:r>
              <a:rPr lang="zh-CN" altLang="en-US" sz="1400">
                <a:latin typeface="Arial" charset="0"/>
              </a:rPr>
              <a:t>通道</a:t>
            </a:r>
            <a:r>
              <a:rPr lang="en-US" altLang="zh-CN" sz="1400">
                <a:latin typeface="Arial" charset="0"/>
              </a:rPr>
              <a:t>0</a:t>
            </a:r>
            <a:r>
              <a:rPr lang="zh-CN" altLang="en-US" sz="1400">
                <a:latin typeface="Arial" charset="0"/>
              </a:rPr>
              <a:t>控制寄存器位分配</a:t>
            </a:r>
          </a:p>
        </p:txBody>
      </p:sp>
      <p:sp>
        <p:nvSpPr>
          <p:cNvPr id="400422" name="Text Box 38"/>
          <p:cNvSpPr txBox="1">
            <a:spLocks noChangeArrowheads="1"/>
          </p:cNvSpPr>
          <p:nvPr/>
        </p:nvSpPr>
        <p:spPr bwMode="auto">
          <a:xfrm>
            <a:off x="6237289" y="4478338"/>
            <a:ext cx="534987" cy="304800"/>
          </a:xfrm>
          <a:prstGeom prst="rect">
            <a:avLst/>
          </a:prstGeom>
          <a:noFill/>
          <a:ln w="9525" algn="ctr">
            <a:noFill/>
            <a:miter lim="800000"/>
            <a:headEnd/>
            <a:tailEnd/>
          </a:ln>
          <a:effectLst/>
        </p:spPr>
        <p:txBody>
          <a:bodyPr>
            <a:spAutoFit/>
          </a:bodyPr>
          <a:lstStyle/>
          <a:p>
            <a:pPr algn="l"/>
            <a:r>
              <a:rPr lang="zh-CN" altLang="en-US" sz="1400">
                <a:latin typeface="Arial" charset="0"/>
              </a:rPr>
              <a:t>位</a:t>
            </a:r>
          </a:p>
        </p:txBody>
      </p:sp>
      <p:sp>
        <p:nvSpPr>
          <p:cNvPr id="400423" name="Text Box 39"/>
          <p:cNvSpPr txBox="1">
            <a:spLocks noChangeArrowheads="1"/>
          </p:cNvSpPr>
          <p:nvPr/>
        </p:nvSpPr>
        <p:spPr bwMode="auto">
          <a:xfrm>
            <a:off x="6161089" y="4783138"/>
            <a:ext cx="598487" cy="304800"/>
          </a:xfrm>
          <a:prstGeom prst="rect">
            <a:avLst/>
          </a:prstGeom>
          <a:noFill/>
          <a:ln w="9525" algn="ctr">
            <a:noFill/>
            <a:miter lim="800000"/>
            <a:headEnd/>
            <a:tailEnd/>
          </a:ln>
          <a:effectLst/>
        </p:spPr>
        <p:txBody>
          <a:bodyPr>
            <a:spAutoFit/>
          </a:bodyPr>
          <a:lstStyle/>
          <a:p>
            <a:pPr algn="l"/>
            <a:r>
              <a:rPr lang="zh-CN" altLang="en-US" sz="1400">
                <a:latin typeface="Arial" charset="0"/>
              </a:rPr>
              <a:t>数值</a:t>
            </a:r>
          </a:p>
        </p:txBody>
      </p:sp>
      <p:grpSp>
        <p:nvGrpSpPr>
          <p:cNvPr id="400449" name="Group 65"/>
          <p:cNvGrpSpPr>
            <a:grpSpLocks/>
          </p:cNvGrpSpPr>
          <p:nvPr/>
        </p:nvGrpSpPr>
        <p:grpSpPr bwMode="auto">
          <a:xfrm>
            <a:off x="1712914" y="3505200"/>
            <a:ext cx="4927599" cy="611188"/>
            <a:chOff x="2472" y="2296"/>
            <a:chExt cx="3104" cy="385"/>
          </a:xfrm>
        </p:grpSpPr>
        <p:sp>
          <p:nvSpPr>
            <p:cNvPr id="400403" name="Rectangle 19"/>
            <p:cNvSpPr>
              <a:spLocks noChangeArrowheads="1"/>
            </p:cNvSpPr>
            <p:nvPr/>
          </p:nvSpPr>
          <p:spPr bwMode="auto">
            <a:xfrm>
              <a:off x="2472" y="2296"/>
              <a:ext cx="1360" cy="385"/>
            </a:xfrm>
            <a:prstGeom prst="rect">
              <a:avLst/>
            </a:prstGeom>
            <a:solidFill>
              <a:schemeClr val="bg1"/>
            </a:solidFill>
            <a:ln w="9525" algn="ctr">
              <a:solidFill>
                <a:schemeClr val="tx1"/>
              </a:solidFill>
              <a:miter lim="800000"/>
              <a:headEnd/>
              <a:tailEnd/>
            </a:ln>
            <a:effectLst/>
          </p:spPr>
          <p:txBody>
            <a:bodyPr wrap="none" anchor="ctr"/>
            <a:lstStyle/>
            <a:p>
              <a:r>
                <a:rPr lang="en-US" altLang="zh-CN" sz="1400">
                  <a:latin typeface="Arial" charset="0"/>
                </a:rPr>
                <a:t>IRQ</a:t>
              </a:r>
              <a:r>
                <a:rPr lang="zh-CN" altLang="en-US" sz="1400">
                  <a:latin typeface="Arial" charset="0"/>
                </a:rPr>
                <a:t>通道</a:t>
              </a:r>
              <a:r>
                <a:rPr lang="en-US" altLang="zh-CN" sz="1400">
                  <a:latin typeface="Arial" charset="0"/>
                </a:rPr>
                <a:t>0</a:t>
              </a:r>
              <a:r>
                <a:rPr lang="zh-CN" altLang="en-US" sz="1400">
                  <a:latin typeface="Arial" charset="0"/>
                </a:rPr>
                <a:t>向量地址寄存器</a:t>
              </a:r>
            </a:p>
            <a:p>
              <a:r>
                <a:rPr lang="en-US" altLang="zh-CN" sz="1400">
                  <a:latin typeface="Arial" charset="0"/>
                </a:rPr>
                <a:t>VICVectAddr0</a:t>
              </a:r>
            </a:p>
          </p:txBody>
        </p:sp>
        <p:sp>
          <p:nvSpPr>
            <p:cNvPr id="400406" name="Text Box 22"/>
            <p:cNvSpPr txBox="1">
              <a:spLocks noChangeArrowheads="1"/>
            </p:cNvSpPr>
            <p:nvPr/>
          </p:nvSpPr>
          <p:spPr bwMode="auto">
            <a:xfrm>
              <a:off x="4153" y="2327"/>
              <a:ext cx="1423" cy="330"/>
            </a:xfrm>
            <a:prstGeom prst="rect">
              <a:avLst/>
            </a:prstGeom>
            <a:noFill/>
            <a:ln w="9525" algn="ctr">
              <a:noFill/>
              <a:miter lim="800000"/>
              <a:headEnd/>
              <a:tailEnd/>
            </a:ln>
            <a:effectLst/>
          </p:spPr>
          <p:txBody>
            <a:bodyPr wrap="none">
              <a:spAutoFit/>
            </a:bodyPr>
            <a:lstStyle/>
            <a:p>
              <a:pPr algn="l"/>
              <a:r>
                <a:rPr lang="zh-CN" altLang="en-US" sz="1400">
                  <a:latin typeface="Arial" charset="0"/>
                </a:rPr>
                <a:t>定时器</a:t>
              </a:r>
              <a:r>
                <a:rPr lang="en-US" altLang="zh-CN" sz="1400">
                  <a:latin typeface="Arial" charset="0"/>
                </a:rPr>
                <a:t>0</a:t>
              </a:r>
              <a:r>
                <a:rPr lang="zh-CN" altLang="en-US" sz="1400">
                  <a:latin typeface="Arial" charset="0"/>
                </a:rPr>
                <a:t>中断服务程序地址</a:t>
              </a:r>
            </a:p>
            <a:p>
              <a:pPr algn="l"/>
              <a:r>
                <a:rPr lang="en-US" altLang="zh-CN" sz="1400">
                  <a:latin typeface="Arial" charset="0"/>
                </a:rPr>
                <a:t>Timer0_ISR</a:t>
              </a:r>
            </a:p>
          </p:txBody>
        </p:sp>
        <p:sp>
          <p:nvSpPr>
            <p:cNvPr id="400425" name="AutoShape 41"/>
            <p:cNvSpPr>
              <a:spLocks noChangeArrowheads="1"/>
            </p:cNvSpPr>
            <p:nvPr/>
          </p:nvSpPr>
          <p:spPr bwMode="auto">
            <a:xfrm rot="10800000">
              <a:off x="3840" y="2400"/>
              <a:ext cx="263" cy="178"/>
            </a:xfrm>
            <a:prstGeom prst="rightArrow">
              <a:avLst>
                <a:gd name="adj1" fmla="val 50000"/>
                <a:gd name="adj2" fmla="val 36938"/>
              </a:avLst>
            </a:prstGeom>
            <a:solidFill>
              <a:srgbClr val="FFCC99"/>
            </a:solidFill>
            <a:ln w="9525" algn="ctr">
              <a:solidFill>
                <a:schemeClr val="tx1"/>
              </a:solidFill>
              <a:miter lim="800000"/>
              <a:headEnd/>
              <a:tailEnd/>
            </a:ln>
            <a:effectLst/>
          </p:spPr>
          <p:txBody>
            <a:bodyPr wrap="none" anchor="ctr"/>
            <a:lstStyle/>
            <a:p>
              <a:endParaRPr lang="zh-CN" altLang="en-US"/>
            </a:p>
          </p:txBody>
        </p:sp>
      </p:grpSp>
      <p:sp>
        <p:nvSpPr>
          <p:cNvPr id="400426" name="AutoShape 42"/>
          <p:cNvSpPr>
            <a:spLocks noChangeArrowheads="1"/>
          </p:cNvSpPr>
          <p:nvPr/>
        </p:nvSpPr>
        <p:spPr bwMode="auto">
          <a:xfrm rot="10800000">
            <a:off x="3897313" y="4673601"/>
            <a:ext cx="404812" cy="282575"/>
          </a:xfrm>
          <a:prstGeom prst="rightArrow">
            <a:avLst>
              <a:gd name="adj1" fmla="val 50000"/>
              <a:gd name="adj2" fmla="val 35815"/>
            </a:avLst>
          </a:prstGeom>
          <a:solidFill>
            <a:srgbClr val="FFCC99"/>
          </a:solidFill>
          <a:ln w="9525" algn="ctr">
            <a:solidFill>
              <a:schemeClr val="tx1"/>
            </a:solidFill>
            <a:miter lim="800000"/>
            <a:headEnd/>
            <a:tailEnd/>
          </a:ln>
          <a:effectLst/>
        </p:spPr>
        <p:txBody>
          <a:bodyPr wrap="none" anchor="ctr"/>
          <a:lstStyle/>
          <a:p>
            <a:endParaRPr lang="zh-CN" altLang="en-US"/>
          </a:p>
        </p:txBody>
      </p:sp>
      <p:grpSp>
        <p:nvGrpSpPr>
          <p:cNvPr id="400450" name="Group 66"/>
          <p:cNvGrpSpPr>
            <a:grpSpLocks/>
          </p:cNvGrpSpPr>
          <p:nvPr/>
        </p:nvGrpSpPr>
        <p:grpSpPr bwMode="auto">
          <a:xfrm>
            <a:off x="1712913" y="5422900"/>
            <a:ext cx="5072062" cy="611188"/>
            <a:chOff x="2472" y="3504"/>
            <a:chExt cx="3195" cy="385"/>
          </a:xfrm>
        </p:grpSpPr>
        <p:sp>
          <p:nvSpPr>
            <p:cNvPr id="400405" name="Rectangle 21"/>
            <p:cNvSpPr>
              <a:spLocks noChangeArrowheads="1"/>
            </p:cNvSpPr>
            <p:nvPr/>
          </p:nvSpPr>
          <p:spPr bwMode="auto">
            <a:xfrm>
              <a:off x="2472" y="3504"/>
              <a:ext cx="1360" cy="385"/>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Arial" charset="0"/>
                </a:rPr>
                <a:t>中断使能寄存器</a:t>
              </a:r>
            </a:p>
            <a:p>
              <a:r>
                <a:rPr lang="en-US" altLang="zh-CN" sz="1400">
                  <a:latin typeface="Arial" charset="0"/>
                </a:rPr>
                <a:t>VICIntEnable</a:t>
              </a:r>
            </a:p>
          </p:txBody>
        </p:sp>
        <p:sp>
          <p:nvSpPr>
            <p:cNvPr id="400424" name="Text Box 40"/>
            <p:cNvSpPr txBox="1">
              <a:spLocks noChangeArrowheads="1"/>
            </p:cNvSpPr>
            <p:nvPr/>
          </p:nvSpPr>
          <p:spPr bwMode="auto">
            <a:xfrm>
              <a:off x="4154" y="3613"/>
              <a:ext cx="1513" cy="192"/>
            </a:xfrm>
            <a:prstGeom prst="rect">
              <a:avLst/>
            </a:prstGeom>
            <a:noFill/>
            <a:ln w="9525" algn="ctr">
              <a:noFill/>
              <a:miter lim="800000"/>
              <a:headEnd/>
              <a:tailEnd/>
            </a:ln>
            <a:effectLst/>
          </p:spPr>
          <p:txBody>
            <a:bodyPr>
              <a:spAutoFit/>
            </a:bodyPr>
            <a:lstStyle/>
            <a:p>
              <a:pPr algn="l"/>
              <a:r>
                <a:rPr lang="zh-CN" altLang="en-US" sz="1400">
                  <a:latin typeface="Times New Roman" pitchFamily="18" charset="0"/>
                </a:rPr>
                <a:t>中断通道</a:t>
              </a:r>
              <a:r>
                <a:rPr lang="en-US" altLang="zh-CN" sz="1400">
                  <a:latin typeface="Times New Roman" pitchFamily="18" charset="0"/>
                </a:rPr>
                <a:t>#4</a:t>
              </a:r>
              <a:r>
                <a:rPr lang="zh-CN" altLang="en-US" sz="1400">
                  <a:latin typeface="Times New Roman" pitchFamily="18" charset="0"/>
                </a:rPr>
                <a:t>对应位，置“</a:t>
              </a:r>
              <a:r>
                <a:rPr lang="en-US" altLang="zh-CN" sz="1400">
                  <a:latin typeface="Times New Roman" pitchFamily="18" charset="0"/>
                </a:rPr>
                <a:t>1”</a:t>
              </a:r>
            </a:p>
          </p:txBody>
        </p:sp>
        <p:sp>
          <p:nvSpPr>
            <p:cNvPr id="400427" name="AutoShape 43"/>
            <p:cNvSpPr>
              <a:spLocks noChangeArrowheads="1"/>
            </p:cNvSpPr>
            <p:nvPr/>
          </p:nvSpPr>
          <p:spPr bwMode="auto">
            <a:xfrm rot="10800000">
              <a:off x="3848" y="3616"/>
              <a:ext cx="255" cy="178"/>
            </a:xfrm>
            <a:prstGeom prst="rightArrow">
              <a:avLst>
                <a:gd name="adj1" fmla="val 50000"/>
                <a:gd name="adj2" fmla="val 35815"/>
              </a:avLst>
            </a:prstGeom>
            <a:solidFill>
              <a:srgbClr val="FFCC99"/>
            </a:solidFill>
            <a:ln w="9525" algn="ctr">
              <a:solidFill>
                <a:schemeClr val="tx1"/>
              </a:solidFill>
              <a:miter lim="800000"/>
              <a:headEnd/>
              <a:tailEnd/>
            </a:ln>
            <a:effectLst/>
          </p:spPr>
          <p:txBody>
            <a:bodyPr wrap="none" anchor="ctr"/>
            <a:lstStyle/>
            <a:p>
              <a:endParaRPr lang="zh-CN" altLang="en-US"/>
            </a:p>
          </p:txBody>
        </p:sp>
      </p:grpSp>
      <p:grpSp>
        <p:nvGrpSpPr>
          <p:cNvPr id="400466" name="Group 82"/>
          <p:cNvGrpSpPr>
            <a:grpSpLocks/>
          </p:cNvGrpSpPr>
          <p:nvPr/>
        </p:nvGrpSpPr>
        <p:grpSpPr bwMode="auto">
          <a:xfrm>
            <a:off x="1712914" y="2540000"/>
            <a:ext cx="4967287" cy="611188"/>
            <a:chOff x="119" y="1600"/>
            <a:chExt cx="3129" cy="385"/>
          </a:xfrm>
        </p:grpSpPr>
        <p:sp>
          <p:nvSpPr>
            <p:cNvPr id="400428" name="Rectangle 44"/>
            <p:cNvSpPr>
              <a:spLocks noChangeArrowheads="1"/>
            </p:cNvSpPr>
            <p:nvPr/>
          </p:nvSpPr>
          <p:spPr bwMode="auto">
            <a:xfrm>
              <a:off x="119" y="1600"/>
              <a:ext cx="1360" cy="385"/>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Arial" charset="0"/>
                </a:rPr>
                <a:t>中断选择寄存器</a:t>
              </a:r>
            </a:p>
            <a:p>
              <a:r>
                <a:rPr lang="en-US" altLang="zh-CN" sz="1400">
                  <a:latin typeface="Arial" charset="0"/>
                </a:rPr>
                <a:t>VICIntSelect</a:t>
              </a:r>
            </a:p>
          </p:txBody>
        </p:sp>
        <p:sp>
          <p:nvSpPr>
            <p:cNvPr id="400429" name="Text Box 45"/>
            <p:cNvSpPr txBox="1">
              <a:spLocks noChangeArrowheads="1"/>
            </p:cNvSpPr>
            <p:nvPr/>
          </p:nvSpPr>
          <p:spPr bwMode="auto">
            <a:xfrm>
              <a:off x="1773" y="1623"/>
              <a:ext cx="1385" cy="192"/>
            </a:xfrm>
            <a:prstGeom prst="rect">
              <a:avLst/>
            </a:prstGeom>
            <a:noFill/>
            <a:ln w="9525" algn="ctr">
              <a:noFill/>
              <a:miter lim="800000"/>
              <a:headEnd/>
              <a:tailEnd/>
            </a:ln>
            <a:effectLst/>
          </p:spPr>
          <p:txBody>
            <a:bodyPr wrap="none">
              <a:spAutoFit/>
            </a:bodyPr>
            <a:lstStyle/>
            <a:p>
              <a:pPr algn="l"/>
              <a:r>
                <a:rPr lang="zh-CN" altLang="en-US" sz="1400">
                  <a:latin typeface="Arial" charset="0"/>
                </a:rPr>
                <a:t>中断通道</a:t>
              </a:r>
              <a:r>
                <a:rPr lang="en-US" altLang="zh-CN" sz="1400">
                  <a:latin typeface="Arial" charset="0"/>
                </a:rPr>
                <a:t>4</a:t>
              </a:r>
              <a:r>
                <a:rPr lang="zh-CN" altLang="en-US" sz="1400">
                  <a:latin typeface="Arial" charset="0"/>
                </a:rPr>
                <a:t>分配为</a:t>
              </a:r>
              <a:r>
                <a:rPr lang="en-US" altLang="zh-CN" sz="1400">
                  <a:latin typeface="Arial" charset="0"/>
                </a:rPr>
                <a:t>IRQ</a:t>
              </a:r>
              <a:r>
                <a:rPr lang="zh-CN" altLang="en-US" sz="1400">
                  <a:latin typeface="Arial" charset="0"/>
                </a:rPr>
                <a:t>中断</a:t>
              </a:r>
            </a:p>
          </p:txBody>
        </p:sp>
        <p:sp>
          <p:nvSpPr>
            <p:cNvPr id="400430" name="AutoShape 46"/>
            <p:cNvSpPr>
              <a:spLocks noChangeArrowheads="1"/>
            </p:cNvSpPr>
            <p:nvPr/>
          </p:nvSpPr>
          <p:spPr bwMode="auto">
            <a:xfrm rot="10800000">
              <a:off x="1487" y="1696"/>
              <a:ext cx="263" cy="178"/>
            </a:xfrm>
            <a:prstGeom prst="rightArrow">
              <a:avLst>
                <a:gd name="adj1" fmla="val 50000"/>
                <a:gd name="adj2" fmla="val 36938"/>
              </a:avLst>
            </a:prstGeom>
            <a:solidFill>
              <a:srgbClr val="FFCC99"/>
            </a:solidFill>
            <a:ln w="9525" algn="ctr">
              <a:solidFill>
                <a:schemeClr val="tx1"/>
              </a:solidFill>
              <a:miter lim="800000"/>
              <a:headEnd/>
              <a:tailEnd/>
            </a:ln>
            <a:effectLst/>
          </p:spPr>
          <p:txBody>
            <a:bodyPr wrap="none" anchor="ctr"/>
            <a:lstStyle/>
            <a:p>
              <a:endParaRPr lang="zh-CN" altLang="en-US"/>
            </a:p>
          </p:txBody>
        </p:sp>
        <p:sp>
          <p:nvSpPr>
            <p:cNvPr id="400431" name="Text Box 47"/>
            <p:cNvSpPr txBox="1">
              <a:spLocks noChangeArrowheads="1"/>
            </p:cNvSpPr>
            <p:nvPr/>
          </p:nvSpPr>
          <p:spPr bwMode="auto">
            <a:xfrm>
              <a:off x="1703" y="1789"/>
              <a:ext cx="1545" cy="192"/>
            </a:xfrm>
            <a:prstGeom prst="rect">
              <a:avLst/>
            </a:prstGeom>
            <a:noFill/>
            <a:ln w="9525" algn="ctr">
              <a:noFill/>
              <a:miter lim="800000"/>
              <a:headEnd/>
              <a:tailEnd/>
            </a:ln>
            <a:effectLst/>
          </p:spPr>
          <p:txBody>
            <a:bodyPr>
              <a:spAutoFit/>
            </a:bodyPr>
            <a:lstStyle/>
            <a:p>
              <a:pPr algn="l"/>
              <a:r>
                <a:rPr lang="zh-CN" altLang="en-US" sz="1400">
                  <a:latin typeface="Times New Roman" pitchFamily="18" charset="0"/>
                </a:rPr>
                <a:t>（定时器</a:t>
              </a:r>
              <a:r>
                <a:rPr lang="en-US" altLang="zh-CN" sz="1400">
                  <a:latin typeface="Times New Roman" pitchFamily="18" charset="0"/>
                </a:rPr>
                <a:t>0</a:t>
              </a:r>
              <a:r>
                <a:rPr lang="zh-CN" altLang="en-US" sz="1400">
                  <a:latin typeface="Times New Roman" pitchFamily="18" charset="0"/>
                </a:rPr>
                <a:t>位于中断通道</a:t>
              </a:r>
              <a:r>
                <a:rPr lang="en-US" altLang="zh-CN" sz="1400">
                  <a:latin typeface="Times New Roman" pitchFamily="18" charset="0"/>
                </a:rPr>
                <a:t>#4</a:t>
              </a:r>
              <a:r>
                <a:rPr lang="zh-CN" altLang="en-US" sz="1400">
                  <a:latin typeface="Times New Roman" pitchFamily="18" charset="0"/>
                </a:rPr>
                <a:t>）</a:t>
              </a:r>
            </a:p>
          </p:txBody>
        </p:sp>
      </p:grpSp>
      <p:grpSp>
        <p:nvGrpSpPr>
          <p:cNvPr id="400467" name="Group 83"/>
          <p:cNvGrpSpPr>
            <a:grpSpLocks/>
          </p:cNvGrpSpPr>
          <p:nvPr/>
        </p:nvGrpSpPr>
        <p:grpSpPr bwMode="auto">
          <a:xfrm>
            <a:off x="6769100" y="2460626"/>
            <a:ext cx="3733800" cy="733425"/>
            <a:chOff x="3304" y="1550"/>
            <a:chExt cx="2352" cy="462"/>
          </a:xfrm>
        </p:grpSpPr>
        <p:sp>
          <p:nvSpPr>
            <p:cNvPr id="400435" name="Rectangle 51"/>
            <p:cNvSpPr>
              <a:spLocks noChangeArrowheads="1"/>
            </p:cNvSpPr>
            <p:nvPr/>
          </p:nvSpPr>
          <p:spPr bwMode="auto">
            <a:xfrm>
              <a:off x="3816" y="1674"/>
              <a:ext cx="1840" cy="216"/>
            </a:xfrm>
            <a:prstGeom prst="rect">
              <a:avLst/>
            </a:prstGeom>
            <a:solidFill>
              <a:srgbClr val="B9DCFF"/>
            </a:solidFill>
            <a:ln w="9525" algn="ctr">
              <a:solidFill>
                <a:schemeClr val="tx1"/>
              </a:solidFill>
              <a:miter lim="800000"/>
              <a:headEnd/>
              <a:tailEnd/>
            </a:ln>
            <a:effectLst/>
          </p:spPr>
          <p:txBody>
            <a:bodyPr wrap="none" anchor="ctr"/>
            <a:lstStyle/>
            <a:p>
              <a:pPr algn="l"/>
              <a:r>
                <a:rPr lang="en-US" altLang="zh-CN" sz="1400" b="1">
                  <a:latin typeface="Arial" charset="0"/>
                </a:rPr>
                <a:t>VICIntSelect    = 0x00000000;</a:t>
              </a:r>
            </a:p>
          </p:txBody>
        </p:sp>
        <p:sp>
          <p:nvSpPr>
            <p:cNvPr id="400462" name="AutoShape 78"/>
            <p:cNvSpPr>
              <a:spLocks noChangeArrowheads="1"/>
            </p:cNvSpPr>
            <p:nvPr/>
          </p:nvSpPr>
          <p:spPr bwMode="auto">
            <a:xfrm>
              <a:off x="3304" y="1550"/>
              <a:ext cx="367" cy="462"/>
            </a:xfrm>
            <a:prstGeom prst="rightArrow">
              <a:avLst>
                <a:gd name="adj1" fmla="val 50000"/>
                <a:gd name="adj2" fmla="val 34492"/>
              </a:avLst>
            </a:prstGeom>
            <a:solidFill>
              <a:schemeClr val="accent2"/>
            </a:solidFill>
            <a:ln w="9525" algn="ctr">
              <a:solidFill>
                <a:schemeClr val="tx1"/>
              </a:solidFill>
              <a:miter lim="800000"/>
              <a:headEnd/>
              <a:tailEnd/>
            </a:ln>
            <a:effectLst/>
          </p:spPr>
          <p:txBody>
            <a:bodyPr anchor="ctr">
              <a:spAutoFit/>
            </a:bodyPr>
            <a:lstStyle/>
            <a:p>
              <a:endParaRPr lang="zh-CN" altLang="en-US"/>
            </a:p>
          </p:txBody>
        </p:sp>
      </p:grpSp>
      <p:grpSp>
        <p:nvGrpSpPr>
          <p:cNvPr id="400468" name="Group 84"/>
          <p:cNvGrpSpPr>
            <a:grpSpLocks/>
          </p:cNvGrpSpPr>
          <p:nvPr/>
        </p:nvGrpSpPr>
        <p:grpSpPr bwMode="auto">
          <a:xfrm>
            <a:off x="6781800" y="3425826"/>
            <a:ext cx="3721100" cy="733425"/>
            <a:chOff x="3312" y="2158"/>
            <a:chExt cx="2344" cy="462"/>
          </a:xfrm>
        </p:grpSpPr>
        <p:sp>
          <p:nvSpPr>
            <p:cNvPr id="400459" name="Rectangle 75"/>
            <p:cNvSpPr>
              <a:spLocks noChangeArrowheads="1"/>
            </p:cNvSpPr>
            <p:nvPr/>
          </p:nvSpPr>
          <p:spPr bwMode="auto">
            <a:xfrm>
              <a:off x="3816" y="2290"/>
              <a:ext cx="1840" cy="216"/>
            </a:xfrm>
            <a:prstGeom prst="rect">
              <a:avLst/>
            </a:prstGeom>
            <a:solidFill>
              <a:srgbClr val="B9DCFF"/>
            </a:solidFill>
            <a:ln w="9525" algn="ctr">
              <a:solidFill>
                <a:schemeClr val="tx1"/>
              </a:solidFill>
              <a:miter lim="800000"/>
              <a:headEnd/>
              <a:tailEnd/>
            </a:ln>
            <a:effectLst/>
          </p:spPr>
          <p:txBody>
            <a:bodyPr wrap="none" anchor="ctr"/>
            <a:lstStyle/>
            <a:p>
              <a:pPr algn="l"/>
              <a:r>
                <a:rPr lang="en-US" altLang="zh-CN" sz="1400" b="1">
                  <a:latin typeface="Arial" charset="0"/>
                </a:rPr>
                <a:t>VICVectAddr0 = (int)Timer0_ISR; </a:t>
              </a:r>
            </a:p>
          </p:txBody>
        </p:sp>
        <p:sp>
          <p:nvSpPr>
            <p:cNvPr id="400463" name="AutoShape 79"/>
            <p:cNvSpPr>
              <a:spLocks noChangeArrowheads="1"/>
            </p:cNvSpPr>
            <p:nvPr/>
          </p:nvSpPr>
          <p:spPr bwMode="auto">
            <a:xfrm>
              <a:off x="3312" y="2158"/>
              <a:ext cx="367" cy="462"/>
            </a:xfrm>
            <a:prstGeom prst="rightArrow">
              <a:avLst>
                <a:gd name="adj1" fmla="val 50000"/>
                <a:gd name="adj2" fmla="val 34492"/>
              </a:avLst>
            </a:prstGeom>
            <a:solidFill>
              <a:schemeClr val="accent2"/>
            </a:solidFill>
            <a:ln w="9525" algn="ctr">
              <a:solidFill>
                <a:schemeClr val="tx1"/>
              </a:solidFill>
              <a:miter lim="800000"/>
              <a:headEnd/>
              <a:tailEnd/>
            </a:ln>
            <a:effectLst/>
          </p:spPr>
          <p:txBody>
            <a:bodyPr anchor="ctr">
              <a:spAutoFit/>
            </a:bodyPr>
            <a:lstStyle/>
            <a:p>
              <a:endParaRPr lang="zh-CN" altLang="en-US"/>
            </a:p>
          </p:txBody>
        </p:sp>
      </p:grpSp>
      <p:grpSp>
        <p:nvGrpSpPr>
          <p:cNvPr id="400469" name="Group 85"/>
          <p:cNvGrpSpPr>
            <a:grpSpLocks/>
          </p:cNvGrpSpPr>
          <p:nvPr/>
        </p:nvGrpSpPr>
        <p:grpSpPr bwMode="auto">
          <a:xfrm>
            <a:off x="6807200" y="4441826"/>
            <a:ext cx="3695700" cy="733425"/>
            <a:chOff x="3328" y="2798"/>
            <a:chExt cx="2328" cy="462"/>
          </a:xfrm>
        </p:grpSpPr>
        <p:sp>
          <p:nvSpPr>
            <p:cNvPr id="400460" name="Rectangle 76"/>
            <p:cNvSpPr>
              <a:spLocks noChangeArrowheads="1"/>
            </p:cNvSpPr>
            <p:nvPr/>
          </p:nvSpPr>
          <p:spPr bwMode="auto">
            <a:xfrm>
              <a:off x="3816" y="2919"/>
              <a:ext cx="1840" cy="216"/>
            </a:xfrm>
            <a:prstGeom prst="rect">
              <a:avLst/>
            </a:prstGeom>
            <a:solidFill>
              <a:srgbClr val="B9DCFF"/>
            </a:solidFill>
            <a:ln w="9525" algn="ctr">
              <a:solidFill>
                <a:schemeClr val="tx1"/>
              </a:solidFill>
              <a:miter lim="800000"/>
              <a:headEnd/>
              <a:tailEnd/>
            </a:ln>
            <a:effectLst/>
          </p:spPr>
          <p:txBody>
            <a:bodyPr wrap="none" anchor="ctr"/>
            <a:lstStyle/>
            <a:p>
              <a:pPr algn="l"/>
              <a:r>
                <a:rPr lang="en-US" altLang="zh-CN" sz="1400" b="1">
                  <a:latin typeface="Arial" charset="0"/>
                </a:rPr>
                <a:t>VICVectCntl0  = (0x20 | 4);</a:t>
              </a:r>
            </a:p>
          </p:txBody>
        </p:sp>
        <p:sp>
          <p:nvSpPr>
            <p:cNvPr id="400464" name="AutoShape 80"/>
            <p:cNvSpPr>
              <a:spLocks noChangeArrowheads="1"/>
            </p:cNvSpPr>
            <p:nvPr/>
          </p:nvSpPr>
          <p:spPr bwMode="auto">
            <a:xfrm>
              <a:off x="3328" y="2798"/>
              <a:ext cx="367" cy="462"/>
            </a:xfrm>
            <a:prstGeom prst="rightArrow">
              <a:avLst>
                <a:gd name="adj1" fmla="val 50000"/>
                <a:gd name="adj2" fmla="val 34492"/>
              </a:avLst>
            </a:prstGeom>
            <a:solidFill>
              <a:schemeClr val="accent2"/>
            </a:solidFill>
            <a:ln w="9525" algn="ctr">
              <a:solidFill>
                <a:schemeClr val="tx1"/>
              </a:solidFill>
              <a:miter lim="800000"/>
              <a:headEnd/>
              <a:tailEnd/>
            </a:ln>
            <a:effectLst/>
          </p:spPr>
          <p:txBody>
            <a:bodyPr anchor="ctr">
              <a:spAutoFit/>
            </a:bodyPr>
            <a:lstStyle/>
            <a:p>
              <a:endParaRPr lang="zh-CN" altLang="en-US"/>
            </a:p>
          </p:txBody>
        </p:sp>
      </p:grpSp>
      <p:grpSp>
        <p:nvGrpSpPr>
          <p:cNvPr id="400470" name="Group 86"/>
          <p:cNvGrpSpPr>
            <a:grpSpLocks/>
          </p:cNvGrpSpPr>
          <p:nvPr/>
        </p:nvGrpSpPr>
        <p:grpSpPr bwMode="auto">
          <a:xfrm>
            <a:off x="6807200" y="5381626"/>
            <a:ext cx="3695700" cy="733425"/>
            <a:chOff x="3328" y="3390"/>
            <a:chExt cx="2328" cy="462"/>
          </a:xfrm>
        </p:grpSpPr>
        <p:sp>
          <p:nvSpPr>
            <p:cNvPr id="400461" name="Rectangle 77"/>
            <p:cNvSpPr>
              <a:spLocks noChangeArrowheads="1"/>
            </p:cNvSpPr>
            <p:nvPr/>
          </p:nvSpPr>
          <p:spPr bwMode="auto">
            <a:xfrm>
              <a:off x="3816" y="3506"/>
              <a:ext cx="1840" cy="216"/>
            </a:xfrm>
            <a:prstGeom prst="rect">
              <a:avLst/>
            </a:prstGeom>
            <a:solidFill>
              <a:srgbClr val="B9DCFF"/>
            </a:solidFill>
            <a:ln w="9525" algn="ctr">
              <a:solidFill>
                <a:schemeClr val="tx1"/>
              </a:solidFill>
              <a:miter lim="800000"/>
              <a:headEnd/>
              <a:tailEnd/>
            </a:ln>
            <a:effectLst/>
          </p:spPr>
          <p:txBody>
            <a:bodyPr wrap="none" anchor="ctr"/>
            <a:lstStyle/>
            <a:p>
              <a:pPr algn="l"/>
              <a:r>
                <a:rPr lang="en-US" altLang="zh-CN" sz="1400" b="1">
                  <a:latin typeface="Arial" charset="0"/>
                </a:rPr>
                <a:t>VICIntEnable = (1 &lt;&lt; 4);</a:t>
              </a:r>
            </a:p>
          </p:txBody>
        </p:sp>
        <p:sp>
          <p:nvSpPr>
            <p:cNvPr id="400465" name="AutoShape 81"/>
            <p:cNvSpPr>
              <a:spLocks noChangeArrowheads="1"/>
            </p:cNvSpPr>
            <p:nvPr/>
          </p:nvSpPr>
          <p:spPr bwMode="auto">
            <a:xfrm>
              <a:off x="3328" y="3390"/>
              <a:ext cx="367" cy="462"/>
            </a:xfrm>
            <a:prstGeom prst="rightArrow">
              <a:avLst>
                <a:gd name="adj1" fmla="val 50000"/>
                <a:gd name="adj2" fmla="val 34492"/>
              </a:avLst>
            </a:prstGeom>
            <a:solidFill>
              <a:schemeClr val="accent2"/>
            </a:solidFill>
            <a:ln w="9525" algn="ctr">
              <a:solidFill>
                <a:schemeClr val="tx1"/>
              </a:solidFill>
              <a:miter lim="800000"/>
              <a:headEnd/>
              <a:tailEnd/>
            </a:ln>
            <a:effectLst/>
          </p:spPr>
          <p:txBody>
            <a:bodyPr anchor="ctr">
              <a:spAutoFit/>
            </a:bodyPr>
            <a:lstStyle/>
            <a:p>
              <a:endParaRPr lang="zh-CN" altLang="en-US"/>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400386">
                                            <p:txEl>
                                              <p:pRg st="0" end="0"/>
                                            </p:txEl>
                                          </p:spTgt>
                                        </p:tgtEl>
                                        <p:attrNameLst>
                                          <p:attrName>style.visibility</p:attrName>
                                        </p:attrNameLst>
                                      </p:cBhvr>
                                      <p:to>
                                        <p:strVal val="visible"/>
                                      </p:to>
                                    </p:set>
                                    <p:anim calcmode="lin" valueType="num">
                                      <p:cBhvr additive="base">
                                        <p:cTn id="7" dur="500" fill="hold"/>
                                        <p:tgtEl>
                                          <p:spTgt spid="40038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00386">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400387"/>
                                        </p:tgtEl>
                                        <p:attrNameLst>
                                          <p:attrName>style.visibility</p:attrName>
                                        </p:attrNameLst>
                                      </p:cBhvr>
                                      <p:to>
                                        <p:strVal val="visible"/>
                                      </p:to>
                                    </p:set>
                                    <p:animEffect transition="in" filter="box(in)">
                                      <p:cBhvr>
                                        <p:cTn id="12" dur="500"/>
                                        <p:tgtEl>
                                          <p:spTgt spid="40038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400389"/>
                                        </p:tgtEl>
                                        <p:attrNameLst>
                                          <p:attrName>style.visibility</p:attrName>
                                        </p:attrNameLst>
                                      </p:cBhvr>
                                      <p:to>
                                        <p:strVal val="visible"/>
                                      </p:to>
                                    </p:set>
                                    <p:anim calcmode="lin" valueType="num">
                                      <p:cBhvr additive="base">
                                        <p:cTn id="17" dur="500" fill="hold"/>
                                        <p:tgtEl>
                                          <p:spTgt spid="400389"/>
                                        </p:tgtEl>
                                        <p:attrNameLst>
                                          <p:attrName>ppt_x</p:attrName>
                                        </p:attrNameLst>
                                      </p:cBhvr>
                                      <p:tavLst>
                                        <p:tav tm="0">
                                          <p:val>
                                            <p:strVal val="1+#ppt_w/2"/>
                                          </p:val>
                                        </p:tav>
                                        <p:tav tm="100000">
                                          <p:val>
                                            <p:strVal val="#ppt_x"/>
                                          </p:val>
                                        </p:tav>
                                      </p:tavLst>
                                    </p:anim>
                                    <p:anim calcmode="lin" valueType="num">
                                      <p:cBhvr additive="base">
                                        <p:cTn id="18" dur="500" fill="hold"/>
                                        <p:tgtEl>
                                          <p:spTgt spid="400389"/>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2" presetClass="entr" presetSubtype="8" fill="hold" grpId="0" nodeType="afterEffect">
                                  <p:stCondLst>
                                    <p:cond delay="0"/>
                                  </p:stCondLst>
                                  <p:childTnLst>
                                    <p:set>
                                      <p:cBhvr>
                                        <p:cTn id="21" dur="1" fill="hold">
                                          <p:stCondLst>
                                            <p:cond delay="0"/>
                                          </p:stCondLst>
                                        </p:cTn>
                                        <p:tgtEl>
                                          <p:spTgt spid="400391"/>
                                        </p:tgtEl>
                                        <p:attrNameLst>
                                          <p:attrName>style.visibility</p:attrName>
                                        </p:attrNameLst>
                                      </p:cBhvr>
                                      <p:to>
                                        <p:strVal val="visible"/>
                                      </p:to>
                                    </p:set>
                                    <p:anim calcmode="lin" valueType="num">
                                      <p:cBhvr additive="base">
                                        <p:cTn id="22" dur="500" fill="hold"/>
                                        <p:tgtEl>
                                          <p:spTgt spid="400391"/>
                                        </p:tgtEl>
                                        <p:attrNameLst>
                                          <p:attrName>ppt_x</p:attrName>
                                        </p:attrNameLst>
                                      </p:cBhvr>
                                      <p:tavLst>
                                        <p:tav tm="0">
                                          <p:val>
                                            <p:strVal val="0-#ppt_w/2"/>
                                          </p:val>
                                        </p:tav>
                                        <p:tav tm="100000">
                                          <p:val>
                                            <p:strVal val="#ppt_x"/>
                                          </p:val>
                                        </p:tav>
                                      </p:tavLst>
                                    </p:anim>
                                    <p:anim calcmode="lin" valueType="num">
                                      <p:cBhvr additive="base">
                                        <p:cTn id="23" dur="500" fill="hold"/>
                                        <p:tgtEl>
                                          <p:spTgt spid="400391"/>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00466"/>
                                        </p:tgtEl>
                                        <p:attrNameLst>
                                          <p:attrName>style.visibility</p:attrName>
                                        </p:attrNameLst>
                                      </p:cBhvr>
                                      <p:to>
                                        <p:strVal val="visible"/>
                                      </p:to>
                                    </p:set>
                                    <p:animEffect transition="in" filter="blinds(horizontal)">
                                      <p:cBhvr>
                                        <p:cTn id="28" dur="500"/>
                                        <p:tgtEl>
                                          <p:spTgt spid="400466"/>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400467"/>
                                        </p:tgtEl>
                                        <p:attrNameLst>
                                          <p:attrName>style.visibility</p:attrName>
                                        </p:attrNameLst>
                                      </p:cBhvr>
                                      <p:to>
                                        <p:strVal val="visible"/>
                                      </p:to>
                                    </p:set>
                                    <p:animEffect transition="in" filter="wipe(left)">
                                      <p:cBhvr>
                                        <p:cTn id="32" dur="500"/>
                                        <p:tgtEl>
                                          <p:spTgt spid="40046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00449"/>
                                        </p:tgtEl>
                                        <p:attrNameLst>
                                          <p:attrName>style.visibility</p:attrName>
                                        </p:attrNameLst>
                                      </p:cBhvr>
                                      <p:to>
                                        <p:strVal val="visible"/>
                                      </p:to>
                                    </p:set>
                                    <p:animEffect transition="in" filter="blinds(horizontal)">
                                      <p:cBhvr>
                                        <p:cTn id="37" dur="500"/>
                                        <p:tgtEl>
                                          <p:spTgt spid="400449"/>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400468"/>
                                        </p:tgtEl>
                                        <p:attrNameLst>
                                          <p:attrName>style.visibility</p:attrName>
                                        </p:attrNameLst>
                                      </p:cBhvr>
                                      <p:to>
                                        <p:strVal val="visible"/>
                                      </p:to>
                                    </p:set>
                                    <p:animEffect transition="in" filter="wipe(left)">
                                      <p:cBhvr>
                                        <p:cTn id="41" dur="500"/>
                                        <p:tgtEl>
                                          <p:spTgt spid="400468"/>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400404"/>
                                        </p:tgtEl>
                                        <p:attrNameLst>
                                          <p:attrName>style.visibility</p:attrName>
                                        </p:attrNameLst>
                                      </p:cBhvr>
                                      <p:to>
                                        <p:strVal val="visible"/>
                                      </p:to>
                                    </p:set>
                                    <p:animEffect transition="in" filter="blinds(horizontal)">
                                      <p:cBhvr>
                                        <p:cTn id="46" dur="500"/>
                                        <p:tgtEl>
                                          <p:spTgt spid="400404"/>
                                        </p:tgtEl>
                                      </p:cBhvr>
                                    </p:animEffect>
                                  </p:childTnLst>
                                </p:cTn>
                              </p:par>
                              <p:par>
                                <p:cTn id="47" presetID="3" presetClass="entr" presetSubtype="10" fill="hold" nodeType="withEffect">
                                  <p:stCondLst>
                                    <p:cond delay="0"/>
                                  </p:stCondLst>
                                  <p:childTnLst>
                                    <p:set>
                                      <p:cBhvr>
                                        <p:cTn id="48" dur="1" fill="hold">
                                          <p:stCondLst>
                                            <p:cond delay="0"/>
                                          </p:stCondLst>
                                        </p:cTn>
                                        <p:tgtEl>
                                          <p:spTgt spid="400458"/>
                                        </p:tgtEl>
                                        <p:attrNameLst>
                                          <p:attrName>style.visibility</p:attrName>
                                        </p:attrNameLst>
                                      </p:cBhvr>
                                      <p:to>
                                        <p:strVal val="visible"/>
                                      </p:to>
                                    </p:set>
                                    <p:animEffect transition="in" filter="blinds(horizontal)">
                                      <p:cBhvr>
                                        <p:cTn id="49" dur="500"/>
                                        <p:tgtEl>
                                          <p:spTgt spid="400458"/>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400421"/>
                                        </p:tgtEl>
                                        <p:attrNameLst>
                                          <p:attrName>style.visibility</p:attrName>
                                        </p:attrNameLst>
                                      </p:cBhvr>
                                      <p:to>
                                        <p:strVal val="visible"/>
                                      </p:to>
                                    </p:set>
                                    <p:animEffect transition="in" filter="blinds(horizontal)">
                                      <p:cBhvr>
                                        <p:cTn id="52" dur="500"/>
                                        <p:tgtEl>
                                          <p:spTgt spid="400421"/>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400422"/>
                                        </p:tgtEl>
                                        <p:attrNameLst>
                                          <p:attrName>style.visibility</p:attrName>
                                        </p:attrNameLst>
                                      </p:cBhvr>
                                      <p:to>
                                        <p:strVal val="visible"/>
                                      </p:to>
                                    </p:set>
                                    <p:animEffect transition="in" filter="blinds(horizontal)">
                                      <p:cBhvr>
                                        <p:cTn id="55" dur="500"/>
                                        <p:tgtEl>
                                          <p:spTgt spid="400422"/>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400423"/>
                                        </p:tgtEl>
                                        <p:attrNameLst>
                                          <p:attrName>style.visibility</p:attrName>
                                        </p:attrNameLst>
                                      </p:cBhvr>
                                      <p:to>
                                        <p:strVal val="visible"/>
                                      </p:to>
                                    </p:set>
                                    <p:animEffect transition="in" filter="blinds(horizontal)">
                                      <p:cBhvr>
                                        <p:cTn id="58" dur="500"/>
                                        <p:tgtEl>
                                          <p:spTgt spid="400423"/>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400426"/>
                                        </p:tgtEl>
                                        <p:attrNameLst>
                                          <p:attrName>style.visibility</p:attrName>
                                        </p:attrNameLst>
                                      </p:cBhvr>
                                      <p:to>
                                        <p:strVal val="visible"/>
                                      </p:to>
                                    </p:set>
                                    <p:animEffect transition="in" filter="blinds(horizontal)">
                                      <p:cBhvr>
                                        <p:cTn id="61" dur="500"/>
                                        <p:tgtEl>
                                          <p:spTgt spid="400426"/>
                                        </p:tgtEl>
                                      </p:cBhvr>
                                    </p:animEffect>
                                  </p:childTnLst>
                                </p:cTn>
                              </p:par>
                            </p:childTnLst>
                          </p:cTn>
                        </p:par>
                        <p:par>
                          <p:cTn id="62" fill="hold">
                            <p:stCondLst>
                              <p:cond delay="500"/>
                            </p:stCondLst>
                            <p:childTnLst>
                              <p:par>
                                <p:cTn id="63" presetID="22" presetClass="entr" presetSubtype="8" fill="hold" nodeType="afterEffect">
                                  <p:stCondLst>
                                    <p:cond delay="0"/>
                                  </p:stCondLst>
                                  <p:childTnLst>
                                    <p:set>
                                      <p:cBhvr>
                                        <p:cTn id="64" dur="1" fill="hold">
                                          <p:stCondLst>
                                            <p:cond delay="0"/>
                                          </p:stCondLst>
                                        </p:cTn>
                                        <p:tgtEl>
                                          <p:spTgt spid="400469"/>
                                        </p:tgtEl>
                                        <p:attrNameLst>
                                          <p:attrName>style.visibility</p:attrName>
                                        </p:attrNameLst>
                                      </p:cBhvr>
                                      <p:to>
                                        <p:strVal val="visible"/>
                                      </p:to>
                                    </p:set>
                                    <p:animEffect transition="in" filter="wipe(left)">
                                      <p:cBhvr>
                                        <p:cTn id="65" dur="500"/>
                                        <p:tgtEl>
                                          <p:spTgt spid="400469"/>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400450"/>
                                        </p:tgtEl>
                                        <p:attrNameLst>
                                          <p:attrName>style.visibility</p:attrName>
                                        </p:attrNameLst>
                                      </p:cBhvr>
                                      <p:to>
                                        <p:strVal val="visible"/>
                                      </p:to>
                                    </p:set>
                                    <p:animEffect transition="in" filter="blinds(horizontal)">
                                      <p:cBhvr>
                                        <p:cTn id="70" dur="500"/>
                                        <p:tgtEl>
                                          <p:spTgt spid="400450"/>
                                        </p:tgtEl>
                                      </p:cBhvr>
                                    </p:animEffect>
                                  </p:childTnLst>
                                </p:cTn>
                              </p:par>
                            </p:childTnLst>
                          </p:cTn>
                        </p:par>
                        <p:par>
                          <p:cTn id="71" fill="hold">
                            <p:stCondLst>
                              <p:cond delay="500"/>
                            </p:stCondLst>
                            <p:childTnLst>
                              <p:par>
                                <p:cTn id="72" presetID="22" presetClass="entr" presetSubtype="8" fill="hold" nodeType="afterEffect">
                                  <p:stCondLst>
                                    <p:cond delay="0"/>
                                  </p:stCondLst>
                                  <p:childTnLst>
                                    <p:set>
                                      <p:cBhvr>
                                        <p:cTn id="73" dur="1" fill="hold">
                                          <p:stCondLst>
                                            <p:cond delay="0"/>
                                          </p:stCondLst>
                                        </p:cTn>
                                        <p:tgtEl>
                                          <p:spTgt spid="400470"/>
                                        </p:tgtEl>
                                        <p:attrNameLst>
                                          <p:attrName>style.visibility</p:attrName>
                                        </p:attrNameLst>
                                      </p:cBhvr>
                                      <p:to>
                                        <p:strVal val="visible"/>
                                      </p:to>
                                    </p:set>
                                    <p:animEffect transition="in" filter="wipe(left)">
                                      <p:cBhvr>
                                        <p:cTn id="74" dur="500"/>
                                        <p:tgtEl>
                                          <p:spTgt spid="400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6" grpId="0" build="p"/>
      <p:bldP spid="400387" grpId="0" autoUpdateAnimBg="0"/>
      <p:bldP spid="400389" grpId="0" autoUpdateAnimBg="0"/>
      <p:bldP spid="400391" grpId="0" autoUpdateAnimBg="0"/>
      <p:bldP spid="400404" grpId="0" animBg="1"/>
      <p:bldP spid="400421" grpId="0"/>
      <p:bldP spid="400422" grpId="0"/>
      <p:bldP spid="400423" grpId="0"/>
      <p:bldP spid="40042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27" name="Group 47"/>
          <p:cNvGrpSpPr>
            <a:grpSpLocks/>
          </p:cNvGrpSpPr>
          <p:nvPr/>
        </p:nvGrpSpPr>
        <p:grpSpPr bwMode="auto">
          <a:xfrm>
            <a:off x="6024563" y="5532438"/>
            <a:ext cx="3962400" cy="838200"/>
            <a:chOff x="2928" y="3648"/>
            <a:chExt cx="2496" cy="528"/>
          </a:xfrm>
        </p:grpSpPr>
        <p:sp>
          <p:nvSpPr>
            <p:cNvPr id="378928" name="AutoShape 48"/>
            <p:cNvSpPr>
              <a:spLocks noChangeArrowheads="1"/>
            </p:cNvSpPr>
            <p:nvPr/>
          </p:nvSpPr>
          <p:spPr bwMode="auto">
            <a:xfrm>
              <a:off x="3024" y="3840"/>
              <a:ext cx="288" cy="288"/>
            </a:xfrm>
            <a:prstGeom prst="roundRect">
              <a:avLst>
                <a:gd name="adj" fmla="val 16667"/>
              </a:avLst>
            </a:prstGeom>
            <a:noFill/>
            <a:ln w="9525">
              <a:noFill/>
              <a:round/>
              <a:headEnd/>
              <a:tailEnd/>
            </a:ln>
            <a:effectLst/>
          </p:spPr>
          <p:txBody>
            <a:bodyPr wrap="none" anchor="ctr"/>
            <a:lstStyle/>
            <a:p>
              <a:pPr>
                <a:spcBef>
                  <a:spcPct val="20000"/>
                </a:spcBef>
              </a:pPr>
              <a:r>
                <a:rPr lang="en-US" altLang="zh-CN" sz="2000">
                  <a:solidFill>
                    <a:srgbClr val="0000FF"/>
                  </a:solidFill>
                  <a:latin typeface="宋体" pitchFamily="2" charset="-122"/>
                </a:rPr>
                <a:t>③</a:t>
              </a:r>
              <a:endParaRPr lang="en-US" altLang="zh-CN" sz="2000">
                <a:latin typeface="华文新魏" pitchFamily="2" charset="-122"/>
                <a:ea typeface="华文新魏" pitchFamily="2" charset="-122"/>
              </a:endParaRPr>
            </a:p>
          </p:txBody>
        </p:sp>
        <p:sp>
          <p:nvSpPr>
            <p:cNvPr id="378929" name="Rectangle 49"/>
            <p:cNvSpPr>
              <a:spLocks noChangeArrowheads="1"/>
            </p:cNvSpPr>
            <p:nvPr/>
          </p:nvSpPr>
          <p:spPr bwMode="auto">
            <a:xfrm>
              <a:off x="3408" y="3888"/>
              <a:ext cx="816" cy="192"/>
            </a:xfrm>
            <a:prstGeom prst="rect">
              <a:avLst/>
            </a:prstGeom>
            <a:solidFill>
              <a:schemeClr val="hlink"/>
            </a:solidFill>
            <a:ln w="9525">
              <a:solidFill>
                <a:srgbClr val="000000"/>
              </a:solidFill>
              <a:miter lim="800000"/>
              <a:headEnd/>
              <a:tailEnd/>
            </a:ln>
            <a:effectLst/>
          </p:spPr>
          <p:txBody>
            <a:bodyPr wrap="none" anchor="ctr"/>
            <a:lstStyle/>
            <a:p>
              <a:r>
                <a:rPr lang="en-US" altLang="zh-CN" sz="1600">
                  <a:latin typeface="Times New Roman" pitchFamily="18" charset="0"/>
                </a:rPr>
                <a:t>IRQ_Eint0</a:t>
              </a:r>
            </a:p>
          </p:txBody>
        </p:sp>
        <p:sp>
          <p:nvSpPr>
            <p:cNvPr id="378930" name="Rectangle 50"/>
            <p:cNvSpPr>
              <a:spLocks noChangeArrowheads="1"/>
            </p:cNvSpPr>
            <p:nvPr/>
          </p:nvSpPr>
          <p:spPr bwMode="auto">
            <a:xfrm>
              <a:off x="4416" y="3888"/>
              <a:ext cx="816" cy="192"/>
            </a:xfrm>
            <a:prstGeom prst="rect">
              <a:avLst/>
            </a:prstGeom>
            <a:solidFill>
              <a:srgbClr val="FFFF99"/>
            </a:solidFill>
            <a:ln w="9525">
              <a:solidFill>
                <a:srgbClr val="000000"/>
              </a:solidFill>
              <a:miter lim="800000"/>
              <a:headEnd/>
              <a:tailEnd/>
            </a:ln>
            <a:effectLst/>
          </p:spPr>
          <p:txBody>
            <a:bodyPr wrap="none" anchor="ctr"/>
            <a:lstStyle/>
            <a:p>
              <a:r>
                <a:rPr lang="en-US" altLang="zh-CN" sz="1600">
                  <a:latin typeface="Times New Roman" pitchFamily="18" charset="0"/>
                </a:rPr>
                <a:t>???</a:t>
              </a:r>
            </a:p>
          </p:txBody>
        </p:sp>
        <p:sp>
          <p:nvSpPr>
            <p:cNvPr id="378931" name="Rectangle 51"/>
            <p:cNvSpPr>
              <a:spLocks noChangeArrowheads="1"/>
            </p:cNvSpPr>
            <p:nvPr/>
          </p:nvSpPr>
          <p:spPr bwMode="auto">
            <a:xfrm>
              <a:off x="3408" y="3696"/>
              <a:ext cx="816" cy="192"/>
            </a:xfrm>
            <a:prstGeom prst="rect">
              <a:avLst/>
            </a:prstGeom>
            <a:noFill/>
            <a:ln w="9525">
              <a:noFill/>
              <a:miter lim="800000"/>
              <a:headEnd/>
              <a:tailEnd/>
            </a:ln>
            <a:effectLst/>
          </p:spPr>
          <p:txBody>
            <a:bodyPr wrap="none" anchor="ctr"/>
            <a:lstStyle/>
            <a:p>
              <a:r>
                <a:rPr lang="en-US" altLang="zh-CN" sz="1600">
                  <a:latin typeface="Times New Roman" pitchFamily="18" charset="0"/>
                </a:rPr>
                <a:t>VICVectAddr0</a:t>
              </a:r>
            </a:p>
          </p:txBody>
        </p:sp>
        <p:sp>
          <p:nvSpPr>
            <p:cNvPr id="378932" name="Rectangle 52"/>
            <p:cNvSpPr>
              <a:spLocks noChangeArrowheads="1"/>
            </p:cNvSpPr>
            <p:nvPr/>
          </p:nvSpPr>
          <p:spPr bwMode="auto">
            <a:xfrm>
              <a:off x="4416" y="3696"/>
              <a:ext cx="816" cy="192"/>
            </a:xfrm>
            <a:prstGeom prst="rect">
              <a:avLst/>
            </a:prstGeom>
            <a:noFill/>
            <a:ln w="9525">
              <a:noFill/>
              <a:miter lim="800000"/>
              <a:headEnd/>
              <a:tailEnd/>
            </a:ln>
            <a:effectLst/>
          </p:spPr>
          <p:txBody>
            <a:bodyPr wrap="none" anchor="ctr"/>
            <a:lstStyle/>
            <a:p>
              <a:r>
                <a:rPr lang="en-US" altLang="zh-CN" sz="1600">
                  <a:latin typeface="Times New Roman" pitchFamily="18" charset="0"/>
                </a:rPr>
                <a:t>VICVectAddr</a:t>
              </a:r>
            </a:p>
          </p:txBody>
        </p:sp>
        <p:sp>
          <p:nvSpPr>
            <p:cNvPr id="378933" name="Rectangle 53"/>
            <p:cNvSpPr>
              <a:spLocks noChangeArrowheads="1"/>
            </p:cNvSpPr>
            <p:nvPr/>
          </p:nvSpPr>
          <p:spPr bwMode="auto">
            <a:xfrm>
              <a:off x="2928" y="3648"/>
              <a:ext cx="2496" cy="528"/>
            </a:xfrm>
            <a:prstGeom prst="rect">
              <a:avLst/>
            </a:prstGeom>
            <a:noFill/>
            <a:ln w="9525">
              <a:solidFill>
                <a:schemeClr val="tx1"/>
              </a:solidFill>
              <a:miter lim="800000"/>
              <a:headEnd/>
              <a:tailEnd/>
            </a:ln>
            <a:effectLst/>
          </p:spPr>
          <p:txBody>
            <a:bodyPr wrap="none" anchor="ctr"/>
            <a:lstStyle/>
            <a:p>
              <a:endParaRPr lang="zh-CN" altLang="en-US"/>
            </a:p>
          </p:txBody>
        </p:sp>
        <p:sp>
          <p:nvSpPr>
            <p:cNvPr id="378934" name="Rectangle 54"/>
            <p:cNvSpPr>
              <a:spLocks noChangeArrowheads="1"/>
            </p:cNvSpPr>
            <p:nvPr/>
          </p:nvSpPr>
          <p:spPr bwMode="auto">
            <a:xfrm>
              <a:off x="4416" y="3888"/>
              <a:ext cx="816" cy="192"/>
            </a:xfrm>
            <a:prstGeom prst="rect">
              <a:avLst/>
            </a:prstGeom>
            <a:solidFill>
              <a:srgbClr val="FFFF99"/>
            </a:solidFill>
            <a:ln w="9525">
              <a:solidFill>
                <a:srgbClr val="000000"/>
              </a:solidFill>
              <a:miter lim="800000"/>
              <a:headEnd/>
              <a:tailEnd/>
            </a:ln>
            <a:effectLst/>
          </p:spPr>
          <p:txBody>
            <a:bodyPr wrap="none" anchor="ctr"/>
            <a:lstStyle/>
            <a:p>
              <a:r>
                <a:rPr lang="en-US" altLang="zh-CN" sz="1600">
                  <a:latin typeface="Times New Roman" pitchFamily="18" charset="0"/>
                </a:rPr>
                <a:t>IRQ_Eint0</a:t>
              </a:r>
            </a:p>
          </p:txBody>
        </p:sp>
        <p:sp>
          <p:nvSpPr>
            <p:cNvPr id="378935" name="AutoShape 55"/>
            <p:cNvSpPr>
              <a:spLocks noChangeArrowheads="1"/>
            </p:cNvSpPr>
            <p:nvPr/>
          </p:nvSpPr>
          <p:spPr bwMode="auto">
            <a:xfrm>
              <a:off x="4224" y="3936"/>
              <a:ext cx="192" cy="96"/>
            </a:xfrm>
            <a:prstGeom prst="rightArrow">
              <a:avLst>
                <a:gd name="adj1" fmla="val 50000"/>
                <a:gd name="adj2" fmla="val 50000"/>
              </a:avLst>
            </a:prstGeom>
            <a:solidFill>
              <a:schemeClr val="accent1"/>
            </a:solidFill>
            <a:ln w="9525">
              <a:solidFill>
                <a:schemeClr val="tx1"/>
              </a:solidFill>
              <a:miter lim="800000"/>
              <a:headEnd/>
              <a:tailEnd/>
            </a:ln>
            <a:effectLst/>
          </p:spPr>
          <p:txBody>
            <a:bodyPr wrap="none" anchor="ctr"/>
            <a:lstStyle/>
            <a:p>
              <a:endParaRPr lang="zh-CN" altLang="en-US"/>
            </a:p>
          </p:txBody>
        </p:sp>
      </p:grpSp>
      <p:sp>
        <p:nvSpPr>
          <p:cNvPr id="378926" name="Rectangle 46"/>
          <p:cNvSpPr>
            <a:spLocks noChangeArrowheads="1"/>
          </p:cNvSpPr>
          <p:nvPr/>
        </p:nvSpPr>
        <p:spPr bwMode="auto">
          <a:xfrm>
            <a:off x="6024563" y="1341438"/>
            <a:ext cx="3962400" cy="41910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78882" name="Rectangle 2"/>
          <p:cNvSpPr>
            <a:spLocks noChangeArrowheads="1"/>
          </p:cNvSpPr>
          <p:nvPr/>
        </p:nvSpPr>
        <p:spPr bwMode="auto">
          <a:xfrm>
            <a:off x="2209800" y="6207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图示</a:t>
            </a:r>
            <a:r>
              <a:rPr lang="en-US" altLang="zh-CN" sz="3200">
                <a:latin typeface="Times New Roman" pitchFamily="18" charset="0"/>
              </a:rPr>
              <a:t>IRQ</a:t>
            </a:r>
            <a:r>
              <a:rPr lang="zh-CN" altLang="en-US" sz="3200">
                <a:latin typeface="Times New Roman" pitchFamily="18" charset="0"/>
              </a:rPr>
              <a:t>中断的发生过程</a:t>
            </a:r>
          </a:p>
        </p:txBody>
      </p:sp>
      <p:grpSp>
        <p:nvGrpSpPr>
          <p:cNvPr id="378899" name="Group 19"/>
          <p:cNvGrpSpPr>
            <a:grpSpLocks/>
          </p:cNvGrpSpPr>
          <p:nvPr/>
        </p:nvGrpSpPr>
        <p:grpSpPr bwMode="auto">
          <a:xfrm>
            <a:off x="6710363" y="1570038"/>
            <a:ext cx="3200400" cy="3719512"/>
            <a:chOff x="2976" y="1248"/>
            <a:chExt cx="2016" cy="2343"/>
          </a:xfrm>
        </p:grpSpPr>
        <p:grpSp>
          <p:nvGrpSpPr>
            <p:cNvPr id="378900" name="Group 20"/>
            <p:cNvGrpSpPr>
              <a:grpSpLocks/>
            </p:cNvGrpSpPr>
            <p:nvPr/>
          </p:nvGrpSpPr>
          <p:grpSpPr bwMode="auto">
            <a:xfrm>
              <a:off x="2976" y="1248"/>
              <a:ext cx="2016" cy="2343"/>
              <a:chOff x="2976" y="1248"/>
              <a:chExt cx="2016" cy="2343"/>
            </a:xfrm>
          </p:grpSpPr>
          <p:sp>
            <p:nvSpPr>
              <p:cNvPr id="378901" name="Rectangle 21"/>
              <p:cNvSpPr>
                <a:spLocks noChangeArrowheads="1"/>
              </p:cNvSpPr>
              <p:nvPr/>
            </p:nvSpPr>
            <p:spPr bwMode="auto">
              <a:xfrm>
                <a:off x="2976" y="1344"/>
                <a:ext cx="1008" cy="2160"/>
              </a:xfrm>
              <a:prstGeom prst="rect">
                <a:avLst/>
              </a:prstGeom>
              <a:solidFill>
                <a:srgbClr val="CCFFCC"/>
              </a:solidFill>
              <a:ln w="9525">
                <a:solidFill>
                  <a:schemeClr val="tx1"/>
                </a:solidFill>
                <a:miter lim="800000"/>
                <a:headEnd/>
                <a:tailEnd/>
              </a:ln>
              <a:effectLst/>
            </p:spPr>
            <p:txBody>
              <a:bodyPr wrap="none" anchor="ctr"/>
              <a:lstStyle/>
              <a:p>
                <a:endParaRPr lang="zh-CN" altLang="en-US"/>
              </a:p>
            </p:txBody>
          </p:sp>
          <p:sp>
            <p:nvSpPr>
              <p:cNvPr id="378902" name="Text Box 22"/>
              <p:cNvSpPr txBox="1">
                <a:spLocks noChangeArrowheads="1"/>
              </p:cNvSpPr>
              <p:nvPr/>
            </p:nvSpPr>
            <p:spPr bwMode="auto">
              <a:xfrm>
                <a:off x="3984" y="1248"/>
                <a:ext cx="1008" cy="231"/>
              </a:xfrm>
              <a:prstGeom prst="rect">
                <a:avLst/>
              </a:prstGeom>
              <a:noFill/>
              <a:ln w="9525">
                <a:noFill/>
                <a:miter lim="800000"/>
                <a:headEnd/>
                <a:tailEnd/>
              </a:ln>
              <a:effectLst/>
            </p:spPr>
            <p:txBody>
              <a:bodyPr>
                <a:spAutoFit/>
              </a:bodyPr>
              <a:lstStyle/>
              <a:p>
                <a:pPr>
                  <a:spcBef>
                    <a:spcPct val="50000"/>
                  </a:spcBef>
                </a:pPr>
                <a:r>
                  <a:rPr lang="en-US" altLang="zh-CN">
                    <a:latin typeface="Arial" charset="0"/>
                    <a:ea typeface="华文新魏" pitchFamily="2" charset="-122"/>
                  </a:rPr>
                  <a:t>0x00000000</a:t>
                </a:r>
              </a:p>
            </p:txBody>
          </p:sp>
          <p:sp>
            <p:nvSpPr>
              <p:cNvPr id="378903" name="Text Box 23"/>
              <p:cNvSpPr txBox="1">
                <a:spLocks noChangeArrowheads="1"/>
              </p:cNvSpPr>
              <p:nvPr/>
            </p:nvSpPr>
            <p:spPr bwMode="auto">
              <a:xfrm>
                <a:off x="3984" y="3360"/>
                <a:ext cx="1008" cy="231"/>
              </a:xfrm>
              <a:prstGeom prst="rect">
                <a:avLst/>
              </a:prstGeom>
              <a:noFill/>
              <a:ln w="9525">
                <a:noFill/>
                <a:miter lim="800000"/>
                <a:headEnd/>
                <a:tailEnd/>
              </a:ln>
              <a:effectLst/>
            </p:spPr>
            <p:txBody>
              <a:bodyPr>
                <a:spAutoFit/>
              </a:bodyPr>
              <a:lstStyle/>
              <a:p>
                <a:pPr>
                  <a:spcBef>
                    <a:spcPct val="50000"/>
                  </a:spcBef>
                </a:pPr>
                <a:r>
                  <a:rPr lang="en-US" altLang="zh-CN">
                    <a:latin typeface="Arial" charset="0"/>
                    <a:ea typeface="华文新魏" pitchFamily="2" charset="-122"/>
                  </a:rPr>
                  <a:t>0xFFFFFFFF</a:t>
                </a:r>
              </a:p>
            </p:txBody>
          </p:sp>
        </p:grpSp>
        <p:sp>
          <p:nvSpPr>
            <p:cNvPr id="378904" name="Rectangle 24"/>
            <p:cNvSpPr>
              <a:spLocks noChangeArrowheads="1"/>
            </p:cNvSpPr>
            <p:nvPr/>
          </p:nvSpPr>
          <p:spPr bwMode="auto">
            <a:xfrm>
              <a:off x="2976" y="2112"/>
              <a:ext cx="1008" cy="624"/>
            </a:xfrm>
            <a:prstGeom prst="rect">
              <a:avLst/>
            </a:prstGeom>
            <a:solidFill>
              <a:srgbClr val="FFFF99"/>
            </a:solidFill>
            <a:ln w="9525">
              <a:solidFill>
                <a:schemeClr val="tx1"/>
              </a:solidFill>
              <a:miter lim="800000"/>
              <a:headEnd/>
              <a:tailEnd/>
            </a:ln>
            <a:effectLst/>
          </p:spPr>
          <p:txBody>
            <a:bodyPr wrap="none" anchor="ctr"/>
            <a:lstStyle/>
            <a:p>
              <a:pPr>
                <a:spcBef>
                  <a:spcPct val="20000"/>
                </a:spcBef>
              </a:pPr>
              <a:r>
                <a:rPr lang="zh-CN" altLang="en-US" sz="2000">
                  <a:latin typeface="Times New Roman" pitchFamily="18" charset="0"/>
                  <a:ea typeface="华文新魏" pitchFamily="2" charset="-122"/>
                </a:rPr>
                <a:t>用户程序</a:t>
              </a:r>
            </a:p>
          </p:txBody>
        </p:sp>
        <p:sp>
          <p:nvSpPr>
            <p:cNvPr id="378905" name="Rectangle 25"/>
            <p:cNvSpPr>
              <a:spLocks noChangeArrowheads="1"/>
            </p:cNvSpPr>
            <p:nvPr/>
          </p:nvSpPr>
          <p:spPr bwMode="auto">
            <a:xfrm>
              <a:off x="2976" y="2880"/>
              <a:ext cx="1008" cy="336"/>
            </a:xfrm>
            <a:prstGeom prst="rect">
              <a:avLst/>
            </a:prstGeom>
            <a:solidFill>
              <a:srgbClr val="CCFFFF"/>
            </a:solidFill>
            <a:ln w="9525">
              <a:solidFill>
                <a:schemeClr val="tx1"/>
              </a:solidFill>
              <a:miter lim="800000"/>
              <a:headEnd/>
              <a:tailEnd/>
            </a:ln>
            <a:effectLst/>
          </p:spPr>
          <p:txBody>
            <a:bodyPr wrap="none" anchor="ctr"/>
            <a:lstStyle/>
            <a:p>
              <a:pPr>
                <a:spcBef>
                  <a:spcPct val="20000"/>
                </a:spcBef>
              </a:pPr>
              <a:r>
                <a:rPr lang="zh-CN" altLang="en-US" sz="2000">
                  <a:latin typeface="Times New Roman" pitchFamily="18" charset="0"/>
                  <a:ea typeface="华文新魏" pitchFamily="2" charset="-122"/>
                </a:rPr>
                <a:t>中断服务程序</a:t>
              </a:r>
            </a:p>
          </p:txBody>
        </p:sp>
        <p:sp>
          <p:nvSpPr>
            <p:cNvPr id="378906" name="Rectangle 26"/>
            <p:cNvSpPr>
              <a:spLocks noChangeArrowheads="1"/>
            </p:cNvSpPr>
            <p:nvPr/>
          </p:nvSpPr>
          <p:spPr bwMode="auto">
            <a:xfrm>
              <a:off x="2976" y="1344"/>
              <a:ext cx="1008" cy="432"/>
            </a:xfrm>
            <a:prstGeom prst="rect">
              <a:avLst/>
            </a:prstGeom>
            <a:solidFill>
              <a:srgbClr val="FFCC99"/>
            </a:solidFill>
            <a:ln w="9525">
              <a:solidFill>
                <a:schemeClr val="tx1"/>
              </a:solidFill>
              <a:miter lim="800000"/>
              <a:headEnd/>
              <a:tailEnd/>
            </a:ln>
            <a:effectLst/>
          </p:spPr>
          <p:txBody>
            <a:bodyPr wrap="none" anchor="ctr"/>
            <a:lstStyle/>
            <a:p>
              <a:pPr>
                <a:spcBef>
                  <a:spcPct val="20000"/>
                </a:spcBef>
              </a:pPr>
              <a:r>
                <a:rPr lang="zh-CN" altLang="en-US" sz="2000">
                  <a:latin typeface="Times New Roman" pitchFamily="18" charset="0"/>
                  <a:ea typeface="华文新魏" pitchFamily="2" charset="-122"/>
                </a:rPr>
                <a:t>异常向量表</a:t>
              </a:r>
            </a:p>
          </p:txBody>
        </p:sp>
      </p:grpSp>
      <p:sp>
        <p:nvSpPr>
          <p:cNvPr id="378907" name="AutoShape 27"/>
          <p:cNvSpPr>
            <a:spLocks noChangeArrowheads="1"/>
          </p:cNvSpPr>
          <p:nvPr/>
        </p:nvSpPr>
        <p:spPr bwMode="auto">
          <a:xfrm>
            <a:off x="8310563" y="2941638"/>
            <a:ext cx="228600" cy="381000"/>
          </a:xfrm>
          <a:prstGeom prst="downArrow">
            <a:avLst>
              <a:gd name="adj1" fmla="val 50000"/>
              <a:gd name="adj2" fmla="val 41667"/>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378908" name="Text Box 28"/>
          <p:cNvSpPr txBox="1">
            <a:spLocks noChangeArrowheads="1"/>
          </p:cNvSpPr>
          <p:nvPr/>
        </p:nvSpPr>
        <p:spPr bwMode="auto">
          <a:xfrm>
            <a:off x="2179638" y="1524001"/>
            <a:ext cx="3124200" cy="396875"/>
          </a:xfrm>
          <a:prstGeom prst="rect">
            <a:avLst/>
          </a:prstGeom>
          <a:noFill/>
          <a:ln w="9525">
            <a:noFill/>
            <a:miter lim="800000"/>
            <a:headEnd/>
            <a:tailEnd/>
          </a:ln>
          <a:effectLst/>
        </p:spPr>
        <p:txBody>
          <a:bodyPr>
            <a:spAutoFit/>
          </a:bodyPr>
          <a:lstStyle/>
          <a:p>
            <a:pPr algn="l">
              <a:spcBef>
                <a:spcPct val="50000"/>
              </a:spcBef>
            </a:pPr>
            <a:r>
              <a:rPr lang="en-US" altLang="zh-CN" sz="2000">
                <a:latin typeface="华文新魏" pitchFamily="2" charset="-122"/>
                <a:ea typeface="华文新魏" pitchFamily="2" charset="-122"/>
              </a:rPr>
              <a:t>1.</a:t>
            </a:r>
            <a:r>
              <a:rPr lang="zh-CN" altLang="en-US" sz="2000">
                <a:latin typeface="华文新魏" pitchFamily="2" charset="-122"/>
                <a:ea typeface="华文新魏" pitchFamily="2" charset="-122"/>
              </a:rPr>
              <a:t>正在执行用户程序；</a:t>
            </a:r>
          </a:p>
        </p:txBody>
      </p:sp>
      <p:sp>
        <p:nvSpPr>
          <p:cNvPr id="378909" name="Text Box 29"/>
          <p:cNvSpPr txBox="1">
            <a:spLocks noChangeArrowheads="1"/>
          </p:cNvSpPr>
          <p:nvPr/>
        </p:nvSpPr>
        <p:spPr bwMode="auto">
          <a:xfrm>
            <a:off x="8386763" y="2865439"/>
            <a:ext cx="381000" cy="396875"/>
          </a:xfrm>
          <a:prstGeom prst="rect">
            <a:avLst/>
          </a:prstGeom>
          <a:noFill/>
          <a:ln w="9525">
            <a:noFill/>
            <a:miter lim="800000"/>
            <a:headEnd/>
            <a:tailEnd/>
          </a:ln>
          <a:effectLst/>
        </p:spPr>
        <p:txBody>
          <a:bodyPr>
            <a:spAutoFit/>
          </a:bodyPr>
          <a:lstStyle/>
          <a:p>
            <a:pPr>
              <a:spcBef>
                <a:spcPct val="50000"/>
              </a:spcBef>
            </a:pPr>
            <a:r>
              <a:rPr lang="en-US" altLang="zh-CN" sz="2000">
                <a:solidFill>
                  <a:srgbClr val="0000FF"/>
                </a:solidFill>
                <a:latin typeface="宋体" pitchFamily="2" charset="-122"/>
              </a:rPr>
              <a:t>①</a:t>
            </a:r>
          </a:p>
        </p:txBody>
      </p:sp>
      <p:sp>
        <p:nvSpPr>
          <p:cNvPr id="378910" name="Text Box 30"/>
          <p:cNvSpPr txBox="1">
            <a:spLocks noChangeArrowheads="1"/>
          </p:cNvSpPr>
          <p:nvPr/>
        </p:nvSpPr>
        <p:spPr bwMode="auto">
          <a:xfrm>
            <a:off x="2162175" y="2057401"/>
            <a:ext cx="3429000" cy="396875"/>
          </a:xfrm>
          <a:prstGeom prst="rect">
            <a:avLst/>
          </a:prstGeom>
          <a:noFill/>
          <a:ln w="9525" algn="ctr">
            <a:noFill/>
            <a:miter lim="800000"/>
            <a:headEnd/>
            <a:tailEnd/>
          </a:ln>
          <a:effectLst/>
        </p:spPr>
        <p:txBody>
          <a:bodyPr>
            <a:spAutoFit/>
          </a:bodyPr>
          <a:lstStyle/>
          <a:p>
            <a:pPr algn="l">
              <a:spcBef>
                <a:spcPct val="50000"/>
              </a:spcBef>
            </a:pPr>
            <a:r>
              <a:rPr lang="en-US" altLang="zh-CN" sz="2000">
                <a:latin typeface="华文新魏" pitchFamily="2" charset="-122"/>
                <a:ea typeface="华文新魏" pitchFamily="2" charset="-122"/>
              </a:rPr>
              <a:t>2.</a:t>
            </a:r>
            <a:r>
              <a:rPr lang="zh-CN" altLang="en-US" sz="2000">
                <a:latin typeface="华文新魏" pitchFamily="2" charset="-122"/>
                <a:ea typeface="华文新魏" pitchFamily="2" charset="-122"/>
              </a:rPr>
              <a:t>外部中断</a:t>
            </a:r>
            <a:r>
              <a:rPr lang="en-US" altLang="zh-CN" sz="2000">
                <a:latin typeface="华文新魏" pitchFamily="2" charset="-122"/>
                <a:ea typeface="华文新魏" pitchFamily="2" charset="-122"/>
              </a:rPr>
              <a:t>0</a:t>
            </a:r>
            <a:r>
              <a:rPr lang="zh-CN" altLang="en-US" sz="2000">
                <a:latin typeface="华文新魏" pitchFamily="2" charset="-122"/>
                <a:ea typeface="华文新魏" pitchFamily="2" charset="-122"/>
              </a:rPr>
              <a:t>发生中断；</a:t>
            </a:r>
          </a:p>
        </p:txBody>
      </p:sp>
      <p:sp>
        <p:nvSpPr>
          <p:cNvPr id="378911" name="Text Box 31"/>
          <p:cNvSpPr txBox="1">
            <a:spLocks noChangeArrowheads="1"/>
          </p:cNvSpPr>
          <p:nvPr/>
        </p:nvSpPr>
        <p:spPr bwMode="auto">
          <a:xfrm>
            <a:off x="8462963" y="3246439"/>
            <a:ext cx="381000" cy="396875"/>
          </a:xfrm>
          <a:prstGeom prst="rect">
            <a:avLst/>
          </a:prstGeom>
          <a:noFill/>
          <a:ln w="9525">
            <a:noFill/>
            <a:miter lim="800000"/>
            <a:headEnd/>
            <a:tailEnd/>
          </a:ln>
          <a:effectLst/>
        </p:spPr>
        <p:txBody>
          <a:bodyPr>
            <a:spAutoFit/>
          </a:bodyPr>
          <a:lstStyle/>
          <a:p>
            <a:pPr>
              <a:spcBef>
                <a:spcPct val="50000"/>
              </a:spcBef>
            </a:pPr>
            <a:r>
              <a:rPr lang="en-US" altLang="zh-CN" sz="2000">
                <a:solidFill>
                  <a:srgbClr val="0000FF"/>
                </a:solidFill>
                <a:latin typeface="宋体" pitchFamily="2" charset="-122"/>
              </a:rPr>
              <a:t>②</a:t>
            </a:r>
          </a:p>
        </p:txBody>
      </p:sp>
      <p:sp>
        <p:nvSpPr>
          <p:cNvPr id="378912" name="Text Box 32"/>
          <p:cNvSpPr txBox="1">
            <a:spLocks noChangeArrowheads="1"/>
          </p:cNvSpPr>
          <p:nvPr/>
        </p:nvSpPr>
        <p:spPr bwMode="auto">
          <a:xfrm>
            <a:off x="2146300" y="2590801"/>
            <a:ext cx="3733800" cy="701675"/>
          </a:xfrm>
          <a:prstGeom prst="rect">
            <a:avLst/>
          </a:prstGeom>
          <a:noFill/>
          <a:ln w="9525" algn="ctr">
            <a:noFill/>
            <a:miter lim="800000"/>
            <a:headEnd/>
            <a:tailEnd/>
          </a:ln>
          <a:effectLst/>
        </p:spPr>
        <p:txBody>
          <a:bodyPr>
            <a:spAutoFit/>
          </a:bodyPr>
          <a:lstStyle/>
          <a:p>
            <a:pPr algn="l">
              <a:spcBef>
                <a:spcPct val="50000"/>
              </a:spcBef>
            </a:pPr>
            <a:r>
              <a:rPr lang="en-US" altLang="zh-CN" sz="2000">
                <a:latin typeface="华文新魏" pitchFamily="2" charset="-122"/>
                <a:ea typeface="华文新魏" pitchFamily="2" charset="-122"/>
              </a:rPr>
              <a:t>3.VIC</a:t>
            </a:r>
            <a:r>
              <a:rPr lang="zh-CN" altLang="en-US" sz="2000">
                <a:latin typeface="华文新魏" pitchFamily="2" charset="-122"/>
                <a:ea typeface="华文新魏" pitchFamily="2" charset="-122"/>
              </a:rPr>
              <a:t>硬件将中断服务程序地址装入</a:t>
            </a:r>
            <a:r>
              <a:rPr lang="en-US" altLang="zh-CN" sz="2000">
                <a:latin typeface="华文新魏" pitchFamily="2" charset="-122"/>
                <a:ea typeface="华文新魏" pitchFamily="2" charset="-122"/>
              </a:rPr>
              <a:t>VICVectAddr</a:t>
            </a:r>
            <a:r>
              <a:rPr lang="zh-CN" altLang="en-US" sz="2000">
                <a:latin typeface="华文新魏" pitchFamily="2" charset="-122"/>
                <a:ea typeface="华文新魏" pitchFamily="2" charset="-122"/>
              </a:rPr>
              <a:t>寄存器；</a:t>
            </a:r>
          </a:p>
        </p:txBody>
      </p:sp>
      <p:sp>
        <p:nvSpPr>
          <p:cNvPr id="378913" name="Freeform 33"/>
          <p:cNvSpPr>
            <a:spLocks/>
          </p:cNvSpPr>
          <p:nvPr/>
        </p:nvSpPr>
        <p:spPr bwMode="auto">
          <a:xfrm>
            <a:off x="8310563" y="2103439"/>
            <a:ext cx="628650" cy="1303337"/>
          </a:xfrm>
          <a:custGeom>
            <a:avLst/>
            <a:gdLst/>
            <a:ahLst/>
            <a:cxnLst>
              <a:cxn ang="0">
                <a:pos x="72" y="821"/>
              </a:cxn>
              <a:cxn ang="0">
                <a:pos x="384" y="576"/>
              </a:cxn>
              <a:cxn ang="0">
                <a:pos x="0" y="0"/>
              </a:cxn>
            </a:cxnLst>
            <a:rect l="0" t="0" r="r" b="b"/>
            <a:pathLst>
              <a:path w="396" h="821">
                <a:moveTo>
                  <a:pt x="72" y="821"/>
                </a:moveTo>
                <a:cubicBezTo>
                  <a:pt x="124" y="780"/>
                  <a:pt x="396" y="713"/>
                  <a:pt x="384" y="576"/>
                </a:cubicBezTo>
                <a:cubicBezTo>
                  <a:pt x="372" y="439"/>
                  <a:pt x="184" y="224"/>
                  <a:pt x="0" y="0"/>
                </a:cubicBezTo>
              </a:path>
            </a:pathLst>
          </a:custGeom>
          <a:noFill/>
          <a:ln w="19050" cap="flat" cmpd="sng">
            <a:solidFill>
              <a:srgbClr val="FF0000"/>
            </a:solidFill>
            <a:prstDash val="solid"/>
            <a:round/>
            <a:headEnd/>
            <a:tailEnd type="triangle" w="med" len="med"/>
          </a:ln>
          <a:effectLst/>
        </p:spPr>
        <p:txBody>
          <a:bodyPr wrap="none" anchor="ctr"/>
          <a:lstStyle/>
          <a:p>
            <a:endParaRPr lang="zh-CN" altLang="en-US"/>
          </a:p>
        </p:txBody>
      </p:sp>
      <p:grpSp>
        <p:nvGrpSpPr>
          <p:cNvPr id="378914" name="Group 34"/>
          <p:cNvGrpSpPr>
            <a:grpSpLocks/>
          </p:cNvGrpSpPr>
          <p:nvPr/>
        </p:nvGrpSpPr>
        <p:grpSpPr bwMode="auto">
          <a:xfrm>
            <a:off x="8340725" y="3322638"/>
            <a:ext cx="152400" cy="152400"/>
            <a:chOff x="1536" y="3456"/>
            <a:chExt cx="96" cy="96"/>
          </a:xfrm>
        </p:grpSpPr>
        <p:sp>
          <p:nvSpPr>
            <p:cNvPr id="378915" name="Line 35"/>
            <p:cNvSpPr>
              <a:spLocks noChangeShapeType="1"/>
            </p:cNvSpPr>
            <p:nvPr/>
          </p:nvSpPr>
          <p:spPr bwMode="auto">
            <a:xfrm>
              <a:off x="1536" y="3456"/>
              <a:ext cx="96" cy="96"/>
            </a:xfrm>
            <a:prstGeom prst="line">
              <a:avLst/>
            </a:prstGeom>
            <a:noFill/>
            <a:ln w="12700">
              <a:solidFill>
                <a:srgbClr val="FF0000"/>
              </a:solidFill>
              <a:round/>
              <a:headEnd/>
              <a:tailEnd/>
            </a:ln>
            <a:effectLst/>
          </p:spPr>
          <p:txBody>
            <a:bodyPr wrap="none" anchor="ctr"/>
            <a:lstStyle/>
            <a:p>
              <a:endParaRPr lang="zh-CN" altLang="en-US"/>
            </a:p>
          </p:txBody>
        </p:sp>
        <p:sp>
          <p:nvSpPr>
            <p:cNvPr id="378916" name="Line 36"/>
            <p:cNvSpPr>
              <a:spLocks noChangeShapeType="1"/>
            </p:cNvSpPr>
            <p:nvPr/>
          </p:nvSpPr>
          <p:spPr bwMode="auto">
            <a:xfrm flipV="1">
              <a:off x="1536" y="3456"/>
              <a:ext cx="96" cy="96"/>
            </a:xfrm>
            <a:prstGeom prst="line">
              <a:avLst/>
            </a:prstGeom>
            <a:noFill/>
            <a:ln w="12700">
              <a:solidFill>
                <a:srgbClr val="FF0000"/>
              </a:solidFill>
              <a:round/>
              <a:headEnd/>
              <a:tailEnd/>
            </a:ln>
            <a:effectLst/>
          </p:spPr>
          <p:txBody>
            <a:bodyPr wrap="none" anchor="ctr"/>
            <a:lstStyle/>
            <a:p>
              <a:endParaRPr lang="zh-CN" altLang="en-US"/>
            </a:p>
          </p:txBody>
        </p:sp>
      </p:grpSp>
      <p:sp>
        <p:nvSpPr>
          <p:cNvPr id="378917" name="Text Box 37"/>
          <p:cNvSpPr txBox="1">
            <a:spLocks noChangeArrowheads="1"/>
          </p:cNvSpPr>
          <p:nvPr/>
        </p:nvSpPr>
        <p:spPr bwMode="auto">
          <a:xfrm>
            <a:off x="8615363" y="2332039"/>
            <a:ext cx="457200" cy="396875"/>
          </a:xfrm>
          <a:prstGeom prst="rect">
            <a:avLst/>
          </a:prstGeom>
          <a:noFill/>
          <a:ln w="9525">
            <a:noFill/>
            <a:miter lim="800000"/>
            <a:headEnd/>
            <a:tailEnd/>
          </a:ln>
          <a:effectLst/>
        </p:spPr>
        <p:txBody>
          <a:bodyPr>
            <a:spAutoFit/>
          </a:bodyPr>
          <a:lstStyle/>
          <a:p>
            <a:pPr>
              <a:spcBef>
                <a:spcPct val="50000"/>
              </a:spcBef>
            </a:pPr>
            <a:r>
              <a:rPr lang="en-US" altLang="zh-CN" sz="2000">
                <a:solidFill>
                  <a:srgbClr val="0000FF"/>
                </a:solidFill>
                <a:latin typeface="宋体" pitchFamily="2" charset="-122"/>
              </a:rPr>
              <a:t>④</a:t>
            </a:r>
          </a:p>
        </p:txBody>
      </p:sp>
      <p:sp>
        <p:nvSpPr>
          <p:cNvPr id="378918" name="Text Box 38"/>
          <p:cNvSpPr txBox="1">
            <a:spLocks noChangeArrowheads="1"/>
          </p:cNvSpPr>
          <p:nvPr/>
        </p:nvSpPr>
        <p:spPr bwMode="auto">
          <a:xfrm>
            <a:off x="2146300" y="3352801"/>
            <a:ext cx="3733800" cy="701675"/>
          </a:xfrm>
          <a:prstGeom prst="rect">
            <a:avLst/>
          </a:prstGeom>
          <a:noFill/>
          <a:ln w="9525" algn="ctr">
            <a:noFill/>
            <a:miter lim="800000"/>
            <a:headEnd/>
            <a:tailEnd/>
          </a:ln>
          <a:effectLst/>
        </p:spPr>
        <p:txBody>
          <a:bodyPr>
            <a:spAutoFit/>
          </a:bodyPr>
          <a:lstStyle/>
          <a:p>
            <a:pPr algn="l">
              <a:spcBef>
                <a:spcPct val="50000"/>
              </a:spcBef>
            </a:pPr>
            <a:r>
              <a:rPr lang="en-US" altLang="zh-CN" sz="2000">
                <a:latin typeface="华文新魏" pitchFamily="2" charset="-122"/>
                <a:ea typeface="华文新魏" pitchFamily="2" charset="-122"/>
              </a:rPr>
              <a:t>4.</a:t>
            </a:r>
            <a:r>
              <a:rPr lang="zh-CN" altLang="en-US" sz="2000">
                <a:latin typeface="华文新魏" pitchFamily="2" charset="-122"/>
                <a:ea typeface="华文新魏" pitchFamily="2" charset="-122"/>
              </a:rPr>
              <a:t>程序跳转至异常向量表中</a:t>
            </a:r>
            <a:r>
              <a:rPr lang="en-US" altLang="zh-CN" sz="2000">
                <a:latin typeface="华文新魏" pitchFamily="2" charset="-122"/>
                <a:ea typeface="华文新魏" pitchFamily="2" charset="-122"/>
              </a:rPr>
              <a:t>IRQ</a:t>
            </a:r>
            <a:r>
              <a:rPr lang="zh-CN" altLang="en-US" sz="2000">
                <a:latin typeface="华文新魏" pitchFamily="2" charset="-122"/>
                <a:ea typeface="华文新魏" pitchFamily="2" charset="-122"/>
              </a:rPr>
              <a:t>入口</a:t>
            </a:r>
            <a:r>
              <a:rPr lang="en-US" altLang="zh-CN" sz="2000">
                <a:solidFill>
                  <a:srgbClr val="FF0000"/>
                </a:solidFill>
                <a:latin typeface="华文新魏" pitchFamily="2" charset="-122"/>
                <a:ea typeface="华文新魏" pitchFamily="2" charset="-122"/>
              </a:rPr>
              <a:t>0x0018</a:t>
            </a:r>
            <a:r>
              <a:rPr lang="zh-CN" altLang="en-US" sz="2000">
                <a:latin typeface="华文新魏" pitchFamily="2" charset="-122"/>
                <a:ea typeface="华文新魏" pitchFamily="2" charset="-122"/>
              </a:rPr>
              <a:t>处；</a:t>
            </a:r>
          </a:p>
        </p:txBody>
      </p:sp>
      <p:sp>
        <p:nvSpPr>
          <p:cNvPr id="378919" name="Text Box 39"/>
          <p:cNvSpPr txBox="1">
            <a:spLocks noChangeArrowheads="1"/>
          </p:cNvSpPr>
          <p:nvPr/>
        </p:nvSpPr>
        <p:spPr bwMode="auto">
          <a:xfrm>
            <a:off x="2135188" y="4114801"/>
            <a:ext cx="3733800" cy="701675"/>
          </a:xfrm>
          <a:prstGeom prst="rect">
            <a:avLst/>
          </a:prstGeom>
          <a:noFill/>
          <a:ln w="9525" algn="ctr">
            <a:noFill/>
            <a:miter lim="800000"/>
            <a:headEnd/>
            <a:tailEnd/>
          </a:ln>
          <a:effectLst/>
        </p:spPr>
        <p:txBody>
          <a:bodyPr>
            <a:spAutoFit/>
          </a:bodyPr>
          <a:lstStyle/>
          <a:p>
            <a:pPr algn="l">
              <a:spcBef>
                <a:spcPct val="50000"/>
              </a:spcBef>
            </a:pPr>
            <a:r>
              <a:rPr lang="en-US" altLang="zh-CN" sz="2000">
                <a:latin typeface="华文新魏" pitchFamily="2" charset="-122"/>
                <a:ea typeface="华文新魏" pitchFamily="2" charset="-122"/>
              </a:rPr>
              <a:t>5.</a:t>
            </a:r>
            <a:r>
              <a:rPr lang="zh-CN" altLang="en-US" sz="2000">
                <a:latin typeface="华文新魏" pitchFamily="2" charset="-122"/>
                <a:ea typeface="华文新魏" pitchFamily="2" charset="-122"/>
              </a:rPr>
              <a:t>执行指令跳转至</a:t>
            </a:r>
            <a:r>
              <a:rPr lang="en-US" altLang="zh-CN" sz="2000">
                <a:latin typeface="华文新魏" pitchFamily="2" charset="-122"/>
                <a:ea typeface="华文新魏" pitchFamily="2" charset="-122"/>
              </a:rPr>
              <a:t>VICVectAddr</a:t>
            </a:r>
            <a:r>
              <a:rPr lang="zh-CN" altLang="en-US" sz="2000">
                <a:latin typeface="华文新魏" pitchFamily="2" charset="-122"/>
                <a:ea typeface="华文新魏" pitchFamily="2" charset="-122"/>
              </a:rPr>
              <a:t>寄存器中的中断服务地址；</a:t>
            </a:r>
          </a:p>
        </p:txBody>
      </p:sp>
      <p:sp>
        <p:nvSpPr>
          <p:cNvPr id="378920" name="Freeform 40"/>
          <p:cNvSpPr>
            <a:spLocks/>
          </p:cNvSpPr>
          <p:nvPr/>
        </p:nvSpPr>
        <p:spPr bwMode="auto">
          <a:xfrm>
            <a:off x="6329363" y="2103438"/>
            <a:ext cx="381000" cy="2057400"/>
          </a:xfrm>
          <a:custGeom>
            <a:avLst/>
            <a:gdLst/>
            <a:ahLst/>
            <a:cxnLst>
              <a:cxn ang="0">
                <a:pos x="240" y="0"/>
              </a:cxn>
              <a:cxn ang="0">
                <a:pos x="0" y="528"/>
              </a:cxn>
              <a:cxn ang="0">
                <a:pos x="240" y="1296"/>
              </a:cxn>
            </a:cxnLst>
            <a:rect l="0" t="0" r="r" b="b"/>
            <a:pathLst>
              <a:path w="240" h="1296">
                <a:moveTo>
                  <a:pt x="240" y="0"/>
                </a:moveTo>
                <a:cubicBezTo>
                  <a:pt x="120" y="156"/>
                  <a:pt x="0" y="312"/>
                  <a:pt x="0" y="528"/>
                </a:cubicBezTo>
                <a:cubicBezTo>
                  <a:pt x="0" y="744"/>
                  <a:pt x="120" y="1020"/>
                  <a:pt x="240" y="1296"/>
                </a:cubicBezTo>
              </a:path>
            </a:pathLst>
          </a:custGeom>
          <a:noFill/>
          <a:ln w="19050" cap="flat" cmpd="sng">
            <a:solidFill>
              <a:srgbClr val="FF0000"/>
            </a:solidFill>
            <a:prstDash val="solid"/>
            <a:round/>
            <a:headEnd/>
            <a:tailEnd type="triangle" w="med" len="med"/>
          </a:ln>
          <a:effectLst/>
        </p:spPr>
        <p:txBody>
          <a:bodyPr wrap="none" anchor="ctr"/>
          <a:lstStyle/>
          <a:p>
            <a:endParaRPr lang="zh-CN" altLang="en-US"/>
          </a:p>
        </p:txBody>
      </p:sp>
      <p:sp>
        <p:nvSpPr>
          <p:cNvPr id="378921" name="Text Box 41"/>
          <p:cNvSpPr txBox="1">
            <a:spLocks noChangeArrowheads="1"/>
          </p:cNvSpPr>
          <p:nvPr/>
        </p:nvSpPr>
        <p:spPr bwMode="auto">
          <a:xfrm>
            <a:off x="6253163" y="2865439"/>
            <a:ext cx="457200" cy="396875"/>
          </a:xfrm>
          <a:prstGeom prst="rect">
            <a:avLst/>
          </a:prstGeom>
          <a:noFill/>
          <a:ln w="9525">
            <a:noFill/>
            <a:miter lim="800000"/>
            <a:headEnd/>
            <a:tailEnd/>
          </a:ln>
          <a:effectLst/>
        </p:spPr>
        <p:txBody>
          <a:bodyPr>
            <a:spAutoFit/>
          </a:bodyPr>
          <a:lstStyle/>
          <a:p>
            <a:pPr>
              <a:spcBef>
                <a:spcPct val="50000"/>
              </a:spcBef>
            </a:pPr>
            <a:r>
              <a:rPr lang="en-US" altLang="zh-CN" sz="2000">
                <a:solidFill>
                  <a:srgbClr val="0000FF"/>
                </a:solidFill>
                <a:latin typeface="宋体" pitchFamily="2" charset="-122"/>
              </a:rPr>
              <a:t>⑤</a:t>
            </a:r>
          </a:p>
        </p:txBody>
      </p:sp>
      <p:sp>
        <p:nvSpPr>
          <p:cNvPr id="378922" name="Text Box 42"/>
          <p:cNvSpPr txBox="1">
            <a:spLocks noChangeArrowheads="1"/>
          </p:cNvSpPr>
          <p:nvPr/>
        </p:nvSpPr>
        <p:spPr bwMode="auto">
          <a:xfrm>
            <a:off x="8615363" y="3932239"/>
            <a:ext cx="457200" cy="396875"/>
          </a:xfrm>
          <a:prstGeom prst="rect">
            <a:avLst/>
          </a:prstGeom>
          <a:noFill/>
          <a:ln w="9525">
            <a:noFill/>
            <a:miter lim="800000"/>
            <a:headEnd/>
            <a:tailEnd/>
          </a:ln>
          <a:effectLst/>
        </p:spPr>
        <p:txBody>
          <a:bodyPr>
            <a:spAutoFit/>
          </a:bodyPr>
          <a:lstStyle/>
          <a:p>
            <a:pPr>
              <a:spcBef>
                <a:spcPct val="50000"/>
              </a:spcBef>
            </a:pPr>
            <a:r>
              <a:rPr lang="en-US" altLang="zh-CN" sz="2000">
                <a:solidFill>
                  <a:srgbClr val="0000FF"/>
                </a:solidFill>
                <a:latin typeface="宋体" pitchFamily="2" charset="-122"/>
              </a:rPr>
              <a:t>⑥</a:t>
            </a:r>
          </a:p>
        </p:txBody>
      </p:sp>
      <p:sp>
        <p:nvSpPr>
          <p:cNvPr id="378923" name="Text Box 43"/>
          <p:cNvSpPr txBox="1">
            <a:spLocks noChangeArrowheads="1"/>
          </p:cNvSpPr>
          <p:nvPr/>
        </p:nvSpPr>
        <p:spPr bwMode="auto">
          <a:xfrm>
            <a:off x="2208213" y="4953001"/>
            <a:ext cx="3733800" cy="1006475"/>
          </a:xfrm>
          <a:prstGeom prst="rect">
            <a:avLst/>
          </a:prstGeom>
          <a:noFill/>
          <a:ln w="9525" algn="ctr">
            <a:noFill/>
            <a:miter lim="800000"/>
            <a:headEnd/>
            <a:tailEnd/>
          </a:ln>
          <a:effectLst/>
        </p:spPr>
        <p:txBody>
          <a:bodyPr>
            <a:spAutoFit/>
          </a:bodyPr>
          <a:lstStyle/>
          <a:p>
            <a:pPr algn="l">
              <a:spcBef>
                <a:spcPct val="50000"/>
              </a:spcBef>
            </a:pPr>
            <a:r>
              <a:rPr lang="en-US" altLang="zh-CN" sz="2000">
                <a:latin typeface="华文新魏" pitchFamily="2" charset="-122"/>
                <a:ea typeface="华文新魏" pitchFamily="2" charset="-122"/>
              </a:rPr>
              <a:t>6.</a:t>
            </a:r>
            <a:r>
              <a:rPr lang="zh-CN" altLang="en-US" sz="2000">
                <a:latin typeface="华文新魏" pitchFamily="2" charset="-122"/>
                <a:ea typeface="华文新魏" pitchFamily="2" charset="-122"/>
              </a:rPr>
              <a:t>中断服务程序执行完毕，返回被中断的用户程序继续执行被中断的代码。</a:t>
            </a:r>
          </a:p>
        </p:txBody>
      </p:sp>
      <p:sp>
        <p:nvSpPr>
          <p:cNvPr id="378924" name="AutoShape 44"/>
          <p:cNvSpPr>
            <a:spLocks noChangeArrowheads="1"/>
          </p:cNvSpPr>
          <p:nvPr/>
        </p:nvSpPr>
        <p:spPr bwMode="auto">
          <a:xfrm>
            <a:off x="8310563" y="3551238"/>
            <a:ext cx="228600" cy="381000"/>
          </a:xfrm>
          <a:prstGeom prst="downArrow">
            <a:avLst>
              <a:gd name="adj1" fmla="val 50000"/>
              <a:gd name="adj2" fmla="val 41667"/>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378925" name="Freeform 45"/>
          <p:cNvSpPr>
            <a:spLocks/>
          </p:cNvSpPr>
          <p:nvPr/>
        </p:nvSpPr>
        <p:spPr bwMode="auto">
          <a:xfrm>
            <a:off x="8310563" y="3398838"/>
            <a:ext cx="412750" cy="1295400"/>
          </a:xfrm>
          <a:custGeom>
            <a:avLst/>
            <a:gdLst/>
            <a:ahLst/>
            <a:cxnLst>
              <a:cxn ang="0">
                <a:pos x="0" y="816"/>
              </a:cxn>
              <a:cxn ang="0">
                <a:pos x="168" y="672"/>
              </a:cxn>
              <a:cxn ang="0">
                <a:pos x="240" y="336"/>
              </a:cxn>
              <a:cxn ang="0">
                <a:pos x="48" y="0"/>
              </a:cxn>
            </a:cxnLst>
            <a:rect l="0" t="0" r="r" b="b"/>
            <a:pathLst>
              <a:path w="260" h="816">
                <a:moveTo>
                  <a:pt x="0" y="816"/>
                </a:moveTo>
                <a:cubicBezTo>
                  <a:pt x="28" y="792"/>
                  <a:pt x="128" y="752"/>
                  <a:pt x="168" y="672"/>
                </a:cubicBezTo>
                <a:cubicBezTo>
                  <a:pt x="208" y="592"/>
                  <a:pt x="260" y="448"/>
                  <a:pt x="240" y="336"/>
                </a:cubicBezTo>
                <a:cubicBezTo>
                  <a:pt x="220" y="224"/>
                  <a:pt x="72" y="48"/>
                  <a:pt x="48" y="0"/>
                </a:cubicBezTo>
              </a:path>
            </a:pathLst>
          </a:custGeom>
          <a:noFill/>
          <a:ln w="19050" cap="flat" cmpd="sng">
            <a:solidFill>
              <a:srgbClr val="FF0000"/>
            </a:solidFill>
            <a:prstDash val="solid"/>
            <a:round/>
            <a:headEnd/>
            <a:tailEnd type="triangle" w="med" len="med"/>
          </a:ln>
          <a:effectLst/>
        </p:spPr>
        <p:txBody>
          <a:bodyPr wrap="none" anchor="ctr"/>
          <a:lstStyle/>
          <a:p>
            <a:endParaRPr lang="zh-CN" altLang="en-US"/>
          </a:p>
        </p:txBody>
      </p:sp>
      <p:grpSp>
        <p:nvGrpSpPr>
          <p:cNvPr id="378936" name="Group 56"/>
          <p:cNvGrpSpPr>
            <a:grpSpLocks/>
          </p:cNvGrpSpPr>
          <p:nvPr/>
        </p:nvGrpSpPr>
        <p:grpSpPr bwMode="auto">
          <a:xfrm>
            <a:off x="6024563" y="5532438"/>
            <a:ext cx="3962400" cy="838200"/>
            <a:chOff x="3840" y="288"/>
            <a:chExt cx="2496" cy="528"/>
          </a:xfrm>
        </p:grpSpPr>
        <p:sp>
          <p:nvSpPr>
            <p:cNvPr id="378937" name="Rectangle 57"/>
            <p:cNvSpPr>
              <a:spLocks noChangeArrowheads="1"/>
            </p:cNvSpPr>
            <p:nvPr/>
          </p:nvSpPr>
          <p:spPr bwMode="auto">
            <a:xfrm>
              <a:off x="3840" y="288"/>
              <a:ext cx="2496" cy="528"/>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78938" name="AutoShape 58"/>
            <p:cNvSpPr>
              <a:spLocks noChangeArrowheads="1"/>
            </p:cNvSpPr>
            <p:nvPr/>
          </p:nvSpPr>
          <p:spPr bwMode="auto">
            <a:xfrm>
              <a:off x="3936" y="432"/>
              <a:ext cx="288" cy="288"/>
            </a:xfrm>
            <a:prstGeom prst="roundRect">
              <a:avLst>
                <a:gd name="adj" fmla="val 16667"/>
              </a:avLst>
            </a:prstGeom>
            <a:solidFill>
              <a:schemeClr val="bg1"/>
            </a:solidFill>
            <a:ln w="9525">
              <a:noFill/>
              <a:round/>
              <a:headEnd/>
              <a:tailEnd/>
            </a:ln>
            <a:effectLst>
              <a:outerShdw dist="35921" dir="2700000" algn="ctr" rotWithShape="0">
                <a:schemeClr val="bg2"/>
              </a:outerShdw>
            </a:effectLst>
          </p:spPr>
          <p:txBody>
            <a:bodyPr wrap="none" anchor="ctr"/>
            <a:lstStyle/>
            <a:p>
              <a:pPr>
                <a:spcBef>
                  <a:spcPct val="20000"/>
                </a:spcBef>
              </a:pPr>
              <a:r>
                <a:rPr lang="en-US" altLang="zh-CN" sz="2000">
                  <a:solidFill>
                    <a:srgbClr val="0000FF"/>
                  </a:solidFill>
                  <a:latin typeface="宋体" pitchFamily="2" charset="-122"/>
                </a:rPr>
                <a:t>⑤</a:t>
              </a:r>
            </a:p>
          </p:txBody>
        </p:sp>
        <p:sp>
          <p:nvSpPr>
            <p:cNvPr id="378939" name="Rectangle 59"/>
            <p:cNvSpPr>
              <a:spLocks noChangeArrowheads="1"/>
            </p:cNvSpPr>
            <p:nvPr/>
          </p:nvSpPr>
          <p:spPr bwMode="auto">
            <a:xfrm>
              <a:off x="4272" y="432"/>
              <a:ext cx="2016" cy="288"/>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l"/>
              <a:r>
                <a:rPr lang="en-US" altLang="zh-CN" sz="1600"/>
                <a:t>LDR     PC, [PC, #-0xff0]</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78882">
                                            <p:txEl>
                                              <p:pRg st="0" end="0"/>
                                            </p:txEl>
                                          </p:spTgt>
                                        </p:tgtEl>
                                        <p:attrNameLst>
                                          <p:attrName>style.visibility</p:attrName>
                                        </p:attrNameLst>
                                      </p:cBhvr>
                                      <p:to>
                                        <p:strVal val="visible"/>
                                      </p:to>
                                    </p:set>
                                    <p:anim calcmode="lin" valueType="num">
                                      <p:cBhvr additive="base">
                                        <p:cTn id="7" dur="500" fill="hold"/>
                                        <p:tgtEl>
                                          <p:spTgt spid="37888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78882">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378899"/>
                                        </p:tgtEl>
                                        <p:attrNameLst>
                                          <p:attrName>style.visibility</p:attrName>
                                        </p:attrNameLst>
                                      </p:cBhvr>
                                      <p:to>
                                        <p:strVal val="visible"/>
                                      </p:to>
                                    </p:set>
                                    <p:animEffect transition="in" filter="wipe(up)">
                                      <p:cBhvr>
                                        <p:cTn id="12" dur="500"/>
                                        <p:tgtEl>
                                          <p:spTgt spid="378899"/>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378908"/>
                                        </p:tgtEl>
                                        <p:attrNameLst>
                                          <p:attrName>style.visibility</p:attrName>
                                        </p:attrNameLst>
                                      </p:cBhvr>
                                      <p:to>
                                        <p:strVal val="visible"/>
                                      </p:to>
                                    </p:set>
                                    <p:anim calcmode="lin" valueType="num">
                                      <p:cBhvr additive="base">
                                        <p:cTn id="16" dur="500" fill="hold"/>
                                        <p:tgtEl>
                                          <p:spTgt spid="378908"/>
                                        </p:tgtEl>
                                        <p:attrNameLst>
                                          <p:attrName>ppt_x</p:attrName>
                                        </p:attrNameLst>
                                      </p:cBhvr>
                                      <p:tavLst>
                                        <p:tav tm="0">
                                          <p:val>
                                            <p:strVal val="0-#ppt_w/2"/>
                                          </p:val>
                                        </p:tav>
                                        <p:tav tm="100000">
                                          <p:val>
                                            <p:strVal val="#ppt_x"/>
                                          </p:val>
                                        </p:tav>
                                      </p:tavLst>
                                    </p:anim>
                                    <p:anim calcmode="lin" valueType="num">
                                      <p:cBhvr additive="base">
                                        <p:cTn id="17" dur="500" fill="hold"/>
                                        <p:tgtEl>
                                          <p:spTgt spid="378908"/>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12" presetClass="entr" presetSubtype="2" fill="hold" grpId="0" nodeType="afterEffect">
                                  <p:stCondLst>
                                    <p:cond delay="0"/>
                                  </p:stCondLst>
                                  <p:childTnLst>
                                    <p:set>
                                      <p:cBhvr>
                                        <p:cTn id="20" dur="1" fill="hold">
                                          <p:stCondLst>
                                            <p:cond delay="0"/>
                                          </p:stCondLst>
                                        </p:cTn>
                                        <p:tgtEl>
                                          <p:spTgt spid="378909"/>
                                        </p:tgtEl>
                                        <p:attrNameLst>
                                          <p:attrName>style.visibility</p:attrName>
                                        </p:attrNameLst>
                                      </p:cBhvr>
                                      <p:to>
                                        <p:strVal val="visible"/>
                                      </p:to>
                                    </p:set>
                                    <p:animEffect transition="in" filter="slide(fromRight)">
                                      <p:cBhvr>
                                        <p:cTn id="21" dur="500"/>
                                        <p:tgtEl>
                                          <p:spTgt spid="378909"/>
                                        </p:tgtEl>
                                      </p:cBhvr>
                                    </p:animEffect>
                                  </p:childTnLst>
                                </p:cTn>
                              </p:par>
                            </p:childTnLst>
                          </p:cTn>
                        </p:par>
                        <p:par>
                          <p:cTn id="22" fill="hold">
                            <p:stCondLst>
                              <p:cond delay="2000"/>
                            </p:stCondLst>
                            <p:childTnLst>
                              <p:par>
                                <p:cTn id="23" presetID="12" presetClass="entr" presetSubtype="1" fill="hold" grpId="0" nodeType="afterEffect">
                                  <p:stCondLst>
                                    <p:cond delay="0"/>
                                  </p:stCondLst>
                                  <p:childTnLst>
                                    <p:set>
                                      <p:cBhvr>
                                        <p:cTn id="24" dur="1" fill="hold">
                                          <p:stCondLst>
                                            <p:cond delay="0"/>
                                          </p:stCondLst>
                                        </p:cTn>
                                        <p:tgtEl>
                                          <p:spTgt spid="378907"/>
                                        </p:tgtEl>
                                        <p:attrNameLst>
                                          <p:attrName>style.visibility</p:attrName>
                                        </p:attrNameLst>
                                      </p:cBhvr>
                                      <p:to>
                                        <p:strVal val="visible"/>
                                      </p:to>
                                    </p:set>
                                    <p:animEffect transition="in" filter="slide(fromTop)">
                                      <p:cBhvr>
                                        <p:cTn id="25" dur="500"/>
                                        <p:tgtEl>
                                          <p:spTgt spid="378907"/>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378910"/>
                                        </p:tgtEl>
                                        <p:attrNameLst>
                                          <p:attrName>style.visibility</p:attrName>
                                        </p:attrNameLst>
                                      </p:cBhvr>
                                      <p:to>
                                        <p:strVal val="visible"/>
                                      </p:to>
                                    </p:set>
                                    <p:anim calcmode="lin" valueType="num">
                                      <p:cBhvr additive="base">
                                        <p:cTn id="30" dur="500" fill="hold"/>
                                        <p:tgtEl>
                                          <p:spTgt spid="378910"/>
                                        </p:tgtEl>
                                        <p:attrNameLst>
                                          <p:attrName>ppt_x</p:attrName>
                                        </p:attrNameLst>
                                      </p:cBhvr>
                                      <p:tavLst>
                                        <p:tav tm="0">
                                          <p:val>
                                            <p:strVal val="0-#ppt_w/2"/>
                                          </p:val>
                                        </p:tav>
                                        <p:tav tm="100000">
                                          <p:val>
                                            <p:strVal val="#ppt_x"/>
                                          </p:val>
                                        </p:tav>
                                      </p:tavLst>
                                    </p:anim>
                                    <p:anim calcmode="lin" valueType="num">
                                      <p:cBhvr additive="base">
                                        <p:cTn id="31" dur="500" fill="hold"/>
                                        <p:tgtEl>
                                          <p:spTgt spid="378910"/>
                                        </p:tgtEl>
                                        <p:attrNameLst>
                                          <p:attrName>ppt_y</p:attrName>
                                        </p:attrNameLst>
                                      </p:cBhvr>
                                      <p:tavLst>
                                        <p:tav tm="0">
                                          <p:val>
                                            <p:strVal val="#ppt_y"/>
                                          </p:val>
                                        </p:tav>
                                        <p:tav tm="100000">
                                          <p:val>
                                            <p:strVal val="#ppt_y"/>
                                          </p:val>
                                        </p:tav>
                                      </p:tavLst>
                                    </p:anim>
                                  </p:childTnLst>
                                </p:cTn>
                              </p:par>
                            </p:childTnLst>
                          </p:cTn>
                        </p:par>
                        <p:par>
                          <p:cTn id="32" fill="hold">
                            <p:stCondLst>
                              <p:cond delay="500"/>
                            </p:stCondLst>
                            <p:childTnLst>
                              <p:par>
                                <p:cTn id="33" presetID="12" presetClass="entr" presetSubtype="2" fill="hold" grpId="0" nodeType="afterEffect">
                                  <p:stCondLst>
                                    <p:cond delay="0"/>
                                  </p:stCondLst>
                                  <p:childTnLst>
                                    <p:set>
                                      <p:cBhvr>
                                        <p:cTn id="34" dur="1" fill="hold">
                                          <p:stCondLst>
                                            <p:cond delay="0"/>
                                          </p:stCondLst>
                                        </p:cTn>
                                        <p:tgtEl>
                                          <p:spTgt spid="378911"/>
                                        </p:tgtEl>
                                        <p:attrNameLst>
                                          <p:attrName>style.visibility</p:attrName>
                                        </p:attrNameLst>
                                      </p:cBhvr>
                                      <p:to>
                                        <p:strVal val="visible"/>
                                      </p:to>
                                    </p:set>
                                    <p:animEffect transition="in" filter="slide(fromRight)">
                                      <p:cBhvr>
                                        <p:cTn id="35" dur="500"/>
                                        <p:tgtEl>
                                          <p:spTgt spid="378911"/>
                                        </p:tgtEl>
                                      </p:cBhvr>
                                    </p:animEffect>
                                  </p:childTnLst>
                                </p:cTn>
                              </p:par>
                            </p:childTnLst>
                          </p:cTn>
                        </p:par>
                        <p:par>
                          <p:cTn id="36" fill="hold">
                            <p:stCondLst>
                              <p:cond delay="1000"/>
                            </p:stCondLst>
                            <p:childTnLst>
                              <p:par>
                                <p:cTn id="37" presetID="1" presetClass="entr" presetSubtype="0" fill="hold" nodeType="afterEffect">
                                  <p:stCondLst>
                                    <p:cond delay="0"/>
                                  </p:stCondLst>
                                  <p:childTnLst>
                                    <p:set>
                                      <p:cBhvr>
                                        <p:cTn id="38" dur="1" fill="hold">
                                          <p:stCondLst>
                                            <p:cond delay="499"/>
                                          </p:stCondLst>
                                        </p:cTn>
                                        <p:tgtEl>
                                          <p:spTgt spid="378914"/>
                                        </p:tgtEl>
                                        <p:attrNameLst>
                                          <p:attrName>style.visibility</p:attrName>
                                        </p:attrNameLst>
                                      </p:cBhvr>
                                      <p:to>
                                        <p:strVal val="visible"/>
                                      </p:to>
                                    </p:set>
                                  </p:childTnLst>
                                </p:cTn>
                              </p:par>
                            </p:childTnLst>
                          </p:cTn>
                        </p:par>
                        <p:par>
                          <p:cTn id="39" fill="hold">
                            <p:stCondLst>
                              <p:cond delay="1500"/>
                            </p:stCondLst>
                            <p:childTnLst>
                              <p:par>
                                <p:cTn id="40" presetID="2" presetClass="entr" presetSubtype="8" fill="hold" grpId="0" nodeType="afterEffect">
                                  <p:stCondLst>
                                    <p:cond delay="0"/>
                                  </p:stCondLst>
                                  <p:childTnLst>
                                    <p:set>
                                      <p:cBhvr>
                                        <p:cTn id="41" dur="1" fill="hold">
                                          <p:stCondLst>
                                            <p:cond delay="0"/>
                                          </p:stCondLst>
                                        </p:cTn>
                                        <p:tgtEl>
                                          <p:spTgt spid="378912"/>
                                        </p:tgtEl>
                                        <p:attrNameLst>
                                          <p:attrName>style.visibility</p:attrName>
                                        </p:attrNameLst>
                                      </p:cBhvr>
                                      <p:to>
                                        <p:strVal val="visible"/>
                                      </p:to>
                                    </p:set>
                                    <p:anim calcmode="lin" valueType="num">
                                      <p:cBhvr additive="base">
                                        <p:cTn id="42" dur="500" fill="hold"/>
                                        <p:tgtEl>
                                          <p:spTgt spid="378912"/>
                                        </p:tgtEl>
                                        <p:attrNameLst>
                                          <p:attrName>ppt_x</p:attrName>
                                        </p:attrNameLst>
                                      </p:cBhvr>
                                      <p:tavLst>
                                        <p:tav tm="0">
                                          <p:val>
                                            <p:strVal val="0-#ppt_w/2"/>
                                          </p:val>
                                        </p:tav>
                                        <p:tav tm="100000">
                                          <p:val>
                                            <p:strVal val="#ppt_x"/>
                                          </p:val>
                                        </p:tav>
                                      </p:tavLst>
                                    </p:anim>
                                    <p:anim calcmode="lin" valueType="num">
                                      <p:cBhvr additive="base">
                                        <p:cTn id="43" dur="500" fill="hold"/>
                                        <p:tgtEl>
                                          <p:spTgt spid="378912"/>
                                        </p:tgtEl>
                                        <p:attrNameLst>
                                          <p:attrName>ppt_y</p:attrName>
                                        </p:attrNameLst>
                                      </p:cBhvr>
                                      <p:tavLst>
                                        <p:tav tm="0">
                                          <p:val>
                                            <p:strVal val="#ppt_y"/>
                                          </p:val>
                                        </p:tav>
                                        <p:tav tm="100000">
                                          <p:val>
                                            <p:strVal val="#ppt_y"/>
                                          </p:val>
                                        </p:tav>
                                      </p:tavLst>
                                    </p:anim>
                                  </p:childTnLst>
                                </p:cTn>
                              </p:par>
                            </p:childTnLst>
                          </p:cTn>
                        </p:par>
                        <p:par>
                          <p:cTn id="44" fill="hold">
                            <p:stCondLst>
                              <p:cond delay="2000"/>
                            </p:stCondLst>
                            <p:childTnLst>
                              <p:par>
                                <p:cTn id="45" presetID="12" presetClass="entr" presetSubtype="1" fill="hold" nodeType="afterEffect">
                                  <p:stCondLst>
                                    <p:cond delay="0"/>
                                  </p:stCondLst>
                                  <p:childTnLst>
                                    <p:set>
                                      <p:cBhvr>
                                        <p:cTn id="46" dur="1" fill="hold">
                                          <p:stCondLst>
                                            <p:cond delay="0"/>
                                          </p:stCondLst>
                                        </p:cTn>
                                        <p:tgtEl>
                                          <p:spTgt spid="378927"/>
                                        </p:tgtEl>
                                        <p:attrNameLst>
                                          <p:attrName>style.visibility</p:attrName>
                                        </p:attrNameLst>
                                      </p:cBhvr>
                                      <p:to>
                                        <p:strVal val="visible"/>
                                      </p:to>
                                    </p:set>
                                    <p:animEffect transition="in" filter="slide(fromTop)">
                                      <p:cBhvr>
                                        <p:cTn id="47" dur="500"/>
                                        <p:tgtEl>
                                          <p:spTgt spid="378927"/>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378918"/>
                                        </p:tgtEl>
                                        <p:attrNameLst>
                                          <p:attrName>style.visibility</p:attrName>
                                        </p:attrNameLst>
                                      </p:cBhvr>
                                      <p:to>
                                        <p:strVal val="visible"/>
                                      </p:to>
                                    </p:set>
                                    <p:anim calcmode="lin" valueType="num">
                                      <p:cBhvr additive="base">
                                        <p:cTn id="52" dur="500" fill="hold"/>
                                        <p:tgtEl>
                                          <p:spTgt spid="378918"/>
                                        </p:tgtEl>
                                        <p:attrNameLst>
                                          <p:attrName>ppt_x</p:attrName>
                                        </p:attrNameLst>
                                      </p:cBhvr>
                                      <p:tavLst>
                                        <p:tav tm="0">
                                          <p:val>
                                            <p:strVal val="0-#ppt_w/2"/>
                                          </p:val>
                                        </p:tav>
                                        <p:tav tm="100000">
                                          <p:val>
                                            <p:strVal val="#ppt_x"/>
                                          </p:val>
                                        </p:tav>
                                      </p:tavLst>
                                    </p:anim>
                                    <p:anim calcmode="lin" valueType="num">
                                      <p:cBhvr additive="base">
                                        <p:cTn id="53" dur="500" fill="hold"/>
                                        <p:tgtEl>
                                          <p:spTgt spid="378918"/>
                                        </p:tgtEl>
                                        <p:attrNameLst>
                                          <p:attrName>ppt_y</p:attrName>
                                        </p:attrNameLst>
                                      </p:cBhvr>
                                      <p:tavLst>
                                        <p:tav tm="0">
                                          <p:val>
                                            <p:strVal val="#ppt_y"/>
                                          </p:val>
                                        </p:tav>
                                        <p:tav tm="100000">
                                          <p:val>
                                            <p:strVal val="#ppt_y"/>
                                          </p:val>
                                        </p:tav>
                                      </p:tavLst>
                                    </p:anim>
                                  </p:childTnLst>
                                </p:cTn>
                              </p:par>
                            </p:childTnLst>
                          </p:cTn>
                        </p:par>
                        <p:par>
                          <p:cTn id="54" fill="hold">
                            <p:stCondLst>
                              <p:cond delay="500"/>
                            </p:stCondLst>
                            <p:childTnLst>
                              <p:par>
                                <p:cTn id="55" presetID="22" presetClass="entr" presetSubtype="4" fill="hold" grpId="0" nodeType="afterEffect">
                                  <p:stCondLst>
                                    <p:cond delay="0"/>
                                  </p:stCondLst>
                                  <p:childTnLst>
                                    <p:set>
                                      <p:cBhvr>
                                        <p:cTn id="56" dur="1" fill="hold">
                                          <p:stCondLst>
                                            <p:cond delay="0"/>
                                          </p:stCondLst>
                                        </p:cTn>
                                        <p:tgtEl>
                                          <p:spTgt spid="378913"/>
                                        </p:tgtEl>
                                        <p:attrNameLst>
                                          <p:attrName>style.visibility</p:attrName>
                                        </p:attrNameLst>
                                      </p:cBhvr>
                                      <p:to>
                                        <p:strVal val="visible"/>
                                      </p:to>
                                    </p:set>
                                    <p:animEffect transition="in" filter="wipe(down)">
                                      <p:cBhvr>
                                        <p:cTn id="57" dur="500"/>
                                        <p:tgtEl>
                                          <p:spTgt spid="378913"/>
                                        </p:tgtEl>
                                      </p:cBhvr>
                                    </p:animEffect>
                                  </p:childTnLst>
                                </p:cTn>
                              </p:par>
                            </p:childTnLst>
                          </p:cTn>
                        </p:par>
                        <p:par>
                          <p:cTn id="58" fill="hold">
                            <p:stCondLst>
                              <p:cond delay="1000"/>
                            </p:stCondLst>
                            <p:childTnLst>
                              <p:par>
                                <p:cTn id="59" presetID="12" presetClass="entr" presetSubtype="2" fill="hold" grpId="0" nodeType="afterEffect">
                                  <p:stCondLst>
                                    <p:cond delay="0"/>
                                  </p:stCondLst>
                                  <p:childTnLst>
                                    <p:set>
                                      <p:cBhvr>
                                        <p:cTn id="60" dur="1" fill="hold">
                                          <p:stCondLst>
                                            <p:cond delay="0"/>
                                          </p:stCondLst>
                                        </p:cTn>
                                        <p:tgtEl>
                                          <p:spTgt spid="378917"/>
                                        </p:tgtEl>
                                        <p:attrNameLst>
                                          <p:attrName>style.visibility</p:attrName>
                                        </p:attrNameLst>
                                      </p:cBhvr>
                                      <p:to>
                                        <p:strVal val="visible"/>
                                      </p:to>
                                    </p:set>
                                    <p:animEffect transition="in" filter="slide(fromRight)">
                                      <p:cBhvr>
                                        <p:cTn id="61" dur="500"/>
                                        <p:tgtEl>
                                          <p:spTgt spid="378917"/>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8" fill="hold" grpId="0" nodeType="clickEffect">
                                  <p:stCondLst>
                                    <p:cond delay="0"/>
                                  </p:stCondLst>
                                  <p:childTnLst>
                                    <p:set>
                                      <p:cBhvr>
                                        <p:cTn id="65" dur="1" fill="hold">
                                          <p:stCondLst>
                                            <p:cond delay="0"/>
                                          </p:stCondLst>
                                        </p:cTn>
                                        <p:tgtEl>
                                          <p:spTgt spid="378919"/>
                                        </p:tgtEl>
                                        <p:attrNameLst>
                                          <p:attrName>style.visibility</p:attrName>
                                        </p:attrNameLst>
                                      </p:cBhvr>
                                      <p:to>
                                        <p:strVal val="visible"/>
                                      </p:to>
                                    </p:set>
                                    <p:anim calcmode="lin" valueType="num">
                                      <p:cBhvr additive="base">
                                        <p:cTn id="66" dur="500" fill="hold"/>
                                        <p:tgtEl>
                                          <p:spTgt spid="378919"/>
                                        </p:tgtEl>
                                        <p:attrNameLst>
                                          <p:attrName>ppt_x</p:attrName>
                                        </p:attrNameLst>
                                      </p:cBhvr>
                                      <p:tavLst>
                                        <p:tav tm="0">
                                          <p:val>
                                            <p:strVal val="0-#ppt_w/2"/>
                                          </p:val>
                                        </p:tav>
                                        <p:tav tm="100000">
                                          <p:val>
                                            <p:strVal val="#ppt_x"/>
                                          </p:val>
                                        </p:tav>
                                      </p:tavLst>
                                    </p:anim>
                                    <p:anim calcmode="lin" valueType="num">
                                      <p:cBhvr additive="base">
                                        <p:cTn id="67" dur="500" fill="hold"/>
                                        <p:tgtEl>
                                          <p:spTgt spid="378919"/>
                                        </p:tgtEl>
                                        <p:attrNameLst>
                                          <p:attrName>ppt_y</p:attrName>
                                        </p:attrNameLst>
                                      </p:cBhvr>
                                      <p:tavLst>
                                        <p:tav tm="0">
                                          <p:val>
                                            <p:strVal val="#ppt_y"/>
                                          </p:val>
                                        </p:tav>
                                        <p:tav tm="100000">
                                          <p:val>
                                            <p:strVal val="#ppt_y"/>
                                          </p:val>
                                        </p:tav>
                                      </p:tavLst>
                                    </p:anim>
                                  </p:childTnLst>
                                </p:cTn>
                              </p:par>
                            </p:childTnLst>
                          </p:cTn>
                        </p:par>
                        <p:par>
                          <p:cTn id="68" fill="hold">
                            <p:stCondLst>
                              <p:cond delay="500"/>
                            </p:stCondLst>
                            <p:childTnLst>
                              <p:par>
                                <p:cTn id="69" presetID="12" presetClass="entr" presetSubtype="1" fill="hold" nodeType="afterEffect">
                                  <p:stCondLst>
                                    <p:cond delay="0"/>
                                  </p:stCondLst>
                                  <p:childTnLst>
                                    <p:set>
                                      <p:cBhvr>
                                        <p:cTn id="70" dur="1" fill="hold">
                                          <p:stCondLst>
                                            <p:cond delay="0"/>
                                          </p:stCondLst>
                                        </p:cTn>
                                        <p:tgtEl>
                                          <p:spTgt spid="378936"/>
                                        </p:tgtEl>
                                        <p:attrNameLst>
                                          <p:attrName>style.visibility</p:attrName>
                                        </p:attrNameLst>
                                      </p:cBhvr>
                                      <p:to>
                                        <p:strVal val="visible"/>
                                      </p:to>
                                    </p:set>
                                    <p:animEffect transition="in" filter="slide(fromTop)">
                                      <p:cBhvr>
                                        <p:cTn id="71" dur="500"/>
                                        <p:tgtEl>
                                          <p:spTgt spid="378936"/>
                                        </p:tgtEl>
                                      </p:cBhvr>
                                    </p:animEffect>
                                  </p:childTnLst>
                                </p:cTn>
                              </p:par>
                            </p:childTnLst>
                          </p:cTn>
                        </p:par>
                        <p:par>
                          <p:cTn id="72" fill="hold">
                            <p:stCondLst>
                              <p:cond delay="1000"/>
                            </p:stCondLst>
                            <p:childTnLst>
                              <p:par>
                                <p:cTn id="73" presetID="22" presetClass="entr" presetSubtype="1" fill="hold" grpId="0" nodeType="afterEffect">
                                  <p:stCondLst>
                                    <p:cond delay="0"/>
                                  </p:stCondLst>
                                  <p:childTnLst>
                                    <p:set>
                                      <p:cBhvr>
                                        <p:cTn id="74" dur="1" fill="hold">
                                          <p:stCondLst>
                                            <p:cond delay="0"/>
                                          </p:stCondLst>
                                        </p:cTn>
                                        <p:tgtEl>
                                          <p:spTgt spid="378920"/>
                                        </p:tgtEl>
                                        <p:attrNameLst>
                                          <p:attrName>style.visibility</p:attrName>
                                        </p:attrNameLst>
                                      </p:cBhvr>
                                      <p:to>
                                        <p:strVal val="visible"/>
                                      </p:to>
                                    </p:set>
                                    <p:animEffect transition="in" filter="wipe(up)">
                                      <p:cBhvr>
                                        <p:cTn id="75" dur="500"/>
                                        <p:tgtEl>
                                          <p:spTgt spid="378920"/>
                                        </p:tgtEl>
                                      </p:cBhvr>
                                    </p:animEffect>
                                  </p:childTnLst>
                                </p:cTn>
                              </p:par>
                            </p:childTnLst>
                          </p:cTn>
                        </p:par>
                        <p:par>
                          <p:cTn id="76" fill="hold">
                            <p:stCondLst>
                              <p:cond delay="1500"/>
                            </p:stCondLst>
                            <p:childTnLst>
                              <p:par>
                                <p:cTn id="77" presetID="12" presetClass="entr" presetSubtype="2" fill="hold" grpId="0" nodeType="afterEffect">
                                  <p:stCondLst>
                                    <p:cond delay="0"/>
                                  </p:stCondLst>
                                  <p:childTnLst>
                                    <p:set>
                                      <p:cBhvr>
                                        <p:cTn id="78" dur="1" fill="hold">
                                          <p:stCondLst>
                                            <p:cond delay="0"/>
                                          </p:stCondLst>
                                        </p:cTn>
                                        <p:tgtEl>
                                          <p:spTgt spid="378921"/>
                                        </p:tgtEl>
                                        <p:attrNameLst>
                                          <p:attrName>style.visibility</p:attrName>
                                        </p:attrNameLst>
                                      </p:cBhvr>
                                      <p:to>
                                        <p:strVal val="visible"/>
                                      </p:to>
                                    </p:set>
                                    <p:animEffect transition="in" filter="slide(fromRight)">
                                      <p:cBhvr>
                                        <p:cTn id="79" dur="500"/>
                                        <p:tgtEl>
                                          <p:spTgt spid="378921"/>
                                        </p:tgtEl>
                                      </p:cBhvr>
                                    </p:animEffect>
                                  </p:childTnLst>
                                </p:cTn>
                              </p:par>
                            </p:childTnLst>
                          </p:cTn>
                        </p:par>
                      </p:childTnLst>
                    </p:cTn>
                  </p:par>
                  <p:par>
                    <p:cTn id="80" fill="hold">
                      <p:stCondLst>
                        <p:cond delay="indefinite"/>
                      </p:stCondLst>
                      <p:childTnLst>
                        <p:par>
                          <p:cTn id="81" fill="hold">
                            <p:stCondLst>
                              <p:cond delay="0"/>
                            </p:stCondLst>
                            <p:childTnLst>
                              <p:par>
                                <p:cTn id="82" presetID="2" presetClass="entr" presetSubtype="8" fill="hold" grpId="0" nodeType="clickEffect">
                                  <p:stCondLst>
                                    <p:cond delay="0"/>
                                  </p:stCondLst>
                                  <p:childTnLst>
                                    <p:set>
                                      <p:cBhvr>
                                        <p:cTn id="83" dur="1" fill="hold">
                                          <p:stCondLst>
                                            <p:cond delay="0"/>
                                          </p:stCondLst>
                                        </p:cTn>
                                        <p:tgtEl>
                                          <p:spTgt spid="378923"/>
                                        </p:tgtEl>
                                        <p:attrNameLst>
                                          <p:attrName>style.visibility</p:attrName>
                                        </p:attrNameLst>
                                      </p:cBhvr>
                                      <p:to>
                                        <p:strVal val="visible"/>
                                      </p:to>
                                    </p:set>
                                    <p:anim calcmode="lin" valueType="num">
                                      <p:cBhvr additive="base">
                                        <p:cTn id="84" dur="500" fill="hold"/>
                                        <p:tgtEl>
                                          <p:spTgt spid="378923"/>
                                        </p:tgtEl>
                                        <p:attrNameLst>
                                          <p:attrName>ppt_x</p:attrName>
                                        </p:attrNameLst>
                                      </p:cBhvr>
                                      <p:tavLst>
                                        <p:tav tm="0">
                                          <p:val>
                                            <p:strVal val="0-#ppt_w/2"/>
                                          </p:val>
                                        </p:tav>
                                        <p:tav tm="100000">
                                          <p:val>
                                            <p:strVal val="#ppt_x"/>
                                          </p:val>
                                        </p:tav>
                                      </p:tavLst>
                                    </p:anim>
                                    <p:anim calcmode="lin" valueType="num">
                                      <p:cBhvr additive="base">
                                        <p:cTn id="85" dur="500" fill="hold"/>
                                        <p:tgtEl>
                                          <p:spTgt spid="378923"/>
                                        </p:tgtEl>
                                        <p:attrNameLst>
                                          <p:attrName>ppt_y</p:attrName>
                                        </p:attrNameLst>
                                      </p:cBhvr>
                                      <p:tavLst>
                                        <p:tav tm="0">
                                          <p:val>
                                            <p:strVal val="#ppt_y"/>
                                          </p:val>
                                        </p:tav>
                                        <p:tav tm="100000">
                                          <p:val>
                                            <p:strVal val="#ppt_y"/>
                                          </p:val>
                                        </p:tav>
                                      </p:tavLst>
                                    </p:anim>
                                  </p:childTnLst>
                                </p:cTn>
                              </p:par>
                            </p:childTnLst>
                          </p:cTn>
                        </p:par>
                        <p:par>
                          <p:cTn id="86" fill="hold">
                            <p:stCondLst>
                              <p:cond delay="500"/>
                            </p:stCondLst>
                            <p:childTnLst>
                              <p:par>
                                <p:cTn id="87" presetID="22" presetClass="entr" presetSubtype="4" fill="hold" grpId="0" nodeType="afterEffect">
                                  <p:stCondLst>
                                    <p:cond delay="0"/>
                                  </p:stCondLst>
                                  <p:childTnLst>
                                    <p:set>
                                      <p:cBhvr>
                                        <p:cTn id="88" dur="1" fill="hold">
                                          <p:stCondLst>
                                            <p:cond delay="0"/>
                                          </p:stCondLst>
                                        </p:cTn>
                                        <p:tgtEl>
                                          <p:spTgt spid="378925"/>
                                        </p:tgtEl>
                                        <p:attrNameLst>
                                          <p:attrName>style.visibility</p:attrName>
                                        </p:attrNameLst>
                                      </p:cBhvr>
                                      <p:to>
                                        <p:strVal val="visible"/>
                                      </p:to>
                                    </p:set>
                                    <p:animEffect transition="in" filter="wipe(down)">
                                      <p:cBhvr>
                                        <p:cTn id="89" dur="500"/>
                                        <p:tgtEl>
                                          <p:spTgt spid="378925"/>
                                        </p:tgtEl>
                                      </p:cBhvr>
                                    </p:animEffect>
                                  </p:childTnLst>
                                </p:cTn>
                              </p:par>
                            </p:childTnLst>
                          </p:cTn>
                        </p:par>
                        <p:par>
                          <p:cTn id="90" fill="hold">
                            <p:stCondLst>
                              <p:cond delay="1000"/>
                            </p:stCondLst>
                            <p:childTnLst>
                              <p:par>
                                <p:cTn id="91" presetID="12" presetClass="entr" presetSubtype="2" fill="hold" grpId="0" nodeType="afterEffect">
                                  <p:stCondLst>
                                    <p:cond delay="0"/>
                                  </p:stCondLst>
                                  <p:childTnLst>
                                    <p:set>
                                      <p:cBhvr>
                                        <p:cTn id="92" dur="1" fill="hold">
                                          <p:stCondLst>
                                            <p:cond delay="0"/>
                                          </p:stCondLst>
                                        </p:cTn>
                                        <p:tgtEl>
                                          <p:spTgt spid="378922"/>
                                        </p:tgtEl>
                                        <p:attrNameLst>
                                          <p:attrName>style.visibility</p:attrName>
                                        </p:attrNameLst>
                                      </p:cBhvr>
                                      <p:to>
                                        <p:strVal val="visible"/>
                                      </p:to>
                                    </p:set>
                                    <p:animEffect transition="in" filter="slide(fromRight)">
                                      <p:cBhvr>
                                        <p:cTn id="93" dur="500"/>
                                        <p:tgtEl>
                                          <p:spTgt spid="378922"/>
                                        </p:tgtEl>
                                      </p:cBhvr>
                                    </p:animEffect>
                                  </p:childTnLst>
                                </p:cTn>
                              </p:par>
                            </p:childTnLst>
                          </p:cTn>
                        </p:par>
                        <p:par>
                          <p:cTn id="94" fill="hold">
                            <p:stCondLst>
                              <p:cond delay="1500"/>
                            </p:stCondLst>
                            <p:childTnLst>
                              <p:par>
                                <p:cTn id="95" presetID="12" presetClass="entr" presetSubtype="1" fill="hold" grpId="0" nodeType="afterEffect">
                                  <p:stCondLst>
                                    <p:cond delay="0"/>
                                  </p:stCondLst>
                                  <p:childTnLst>
                                    <p:set>
                                      <p:cBhvr>
                                        <p:cTn id="96" dur="1" fill="hold">
                                          <p:stCondLst>
                                            <p:cond delay="0"/>
                                          </p:stCondLst>
                                        </p:cTn>
                                        <p:tgtEl>
                                          <p:spTgt spid="378924"/>
                                        </p:tgtEl>
                                        <p:attrNameLst>
                                          <p:attrName>style.visibility</p:attrName>
                                        </p:attrNameLst>
                                      </p:cBhvr>
                                      <p:to>
                                        <p:strVal val="visible"/>
                                      </p:to>
                                    </p:set>
                                    <p:animEffect transition="in" filter="slide(fromTop)">
                                      <p:cBhvr>
                                        <p:cTn id="97" dur="500"/>
                                        <p:tgtEl>
                                          <p:spTgt spid="378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82" grpId="0" build="p"/>
      <p:bldP spid="378907" grpId="0" animBg="1"/>
      <p:bldP spid="378908" grpId="0" autoUpdateAnimBg="0"/>
      <p:bldP spid="378909" grpId="0" autoUpdateAnimBg="0"/>
      <p:bldP spid="378910" grpId="0" autoUpdateAnimBg="0"/>
      <p:bldP spid="378911" grpId="0" autoUpdateAnimBg="0"/>
      <p:bldP spid="378912" grpId="0" autoUpdateAnimBg="0"/>
      <p:bldP spid="378913" grpId="0" animBg="1"/>
      <p:bldP spid="378917" grpId="0" autoUpdateAnimBg="0"/>
      <p:bldP spid="378918" grpId="0" autoUpdateAnimBg="0"/>
      <p:bldP spid="378919" grpId="0" autoUpdateAnimBg="0"/>
      <p:bldP spid="378920" grpId="0" animBg="1"/>
      <p:bldP spid="378921" grpId="0" autoUpdateAnimBg="0"/>
      <p:bldP spid="378922" grpId="0" autoUpdateAnimBg="0"/>
      <p:bldP spid="378923" grpId="0" autoUpdateAnimBg="0"/>
      <p:bldP spid="378924" grpId="0" animBg="1"/>
      <p:bldP spid="378925"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69" name="Rectangle 65"/>
          <p:cNvSpPr>
            <a:spLocks noChangeArrowheads="1"/>
          </p:cNvSpPr>
          <p:nvPr/>
        </p:nvSpPr>
        <p:spPr bwMode="auto">
          <a:xfrm>
            <a:off x="6096000" y="1279525"/>
            <a:ext cx="3962400" cy="41910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79916" name="Rectangle 12"/>
          <p:cNvSpPr>
            <a:spLocks noChangeArrowheads="1"/>
          </p:cNvSpPr>
          <p:nvPr/>
        </p:nvSpPr>
        <p:spPr bwMode="auto">
          <a:xfrm>
            <a:off x="2209800" y="6207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图示</a:t>
            </a:r>
            <a:r>
              <a:rPr lang="en-US" altLang="zh-CN" sz="3200">
                <a:latin typeface="Times New Roman" pitchFamily="18" charset="0"/>
              </a:rPr>
              <a:t>IRQ</a:t>
            </a:r>
            <a:r>
              <a:rPr lang="zh-CN" altLang="en-US" sz="3200">
                <a:latin typeface="Times New Roman" pitchFamily="18" charset="0"/>
              </a:rPr>
              <a:t>中断的发生过程</a:t>
            </a:r>
          </a:p>
        </p:txBody>
      </p:sp>
      <p:grpSp>
        <p:nvGrpSpPr>
          <p:cNvPr id="379948" name="Group 44"/>
          <p:cNvGrpSpPr>
            <a:grpSpLocks/>
          </p:cNvGrpSpPr>
          <p:nvPr/>
        </p:nvGrpSpPr>
        <p:grpSpPr bwMode="auto">
          <a:xfrm>
            <a:off x="6781800" y="1508126"/>
            <a:ext cx="3200400" cy="3719513"/>
            <a:chOff x="2976" y="1248"/>
            <a:chExt cx="2016" cy="2343"/>
          </a:xfrm>
        </p:grpSpPr>
        <p:grpSp>
          <p:nvGrpSpPr>
            <p:cNvPr id="379949" name="Group 45"/>
            <p:cNvGrpSpPr>
              <a:grpSpLocks/>
            </p:cNvGrpSpPr>
            <p:nvPr/>
          </p:nvGrpSpPr>
          <p:grpSpPr bwMode="auto">
            <a:xfrm>
              <a:off x="2976" y="1248"/>
              <a:ext cx="2016" cy="2343"/>
              <a:chOff x="2976" y="1248"/>
              <a:chExt cx="2016" cy="2343"/>
            </a:xfrm>
          </p:grpSpPr>
          <p:sp>
            <p:nvSpPr>
              <p:cNvPr id="379950" name="Rectangle 46"/>
              <p:cNvSpPr>
                <a:spLocks noChangeArrowheads="1"/>
              </p:cNvSpPr>
              <p:nvPr/>
            </p:nvSpPr>
            <p:spPr bwMode="auto">
              <a:xfrm>
                <a:off x="2976" y="1344"/>
                <a:ext cx="1008" cy="2160"/>
              </a:xfrm>
              <a:prstGeom prst="rect">
                <a:avLst/>
              </a:prstGeom>
              <a:solidFill>
                <a:srgbClr val="CCFFCC"/>
              </a:solidFill>
              <a:ln w="9525">
                <a:solidFill>
                  <a:schemeClr val="tx1"/>
                </a:solidFill>
                <a:miter lim="800000"/>
                <a:headEnd/>
                <a:tailEnd/>
              </a:ln>
              <a:effectLst/>
            </p:spPr>
            <p:txBody>
              <a:bodyPr wrap="none" anchor="ctr"/>
              <a:lstStyle/>
              <a:p>
                <a:endParaRPr lang="zh-CN" altLang="en-US"/>
              </a:p>
            </p:txBody>
          </p:sp>
          <p:sp>
            <p:nvSpPr>
              <p:cNvPr id="379951" name="Text Box 47"/>
              <p:cNvSpPr txBox="1">
                <a:spLocks noChangeArrowheads="1"/>
              </p:cNvSpPr>
              <p:nvPr/>
            </p:nvSpPr>
            <p:spPr bwMode="auto">
              <a:xfrm>
                <a:off x="3984" y="1248"/>
                <a:ext cx="1008" cy="231"/>
              </a:xfrm>
              <a:prstGeom prst="rect">
                <a:avLst/>
              </a:prstGeom>
              <a:noFill/>
              <a:ln w="9525">
                <a:noFill/>
                <a:miter lim="800000"/>
                <a:headEnd/>
                <a:tailEnd/>
              </a:ln>
              <a:effectLst/>
            </p:spPr>
            <p:txBody>
              <a:bodyPr>
                <a:spAutoFit/>
              </a:bodyPr>
              <a:lstStyle/>
              <a:p>
                <a:pPr>
                  <a:spcBef>
                    <a:spcPct val="50000"/>
                  </a:spcBef>
                </a:pPr>
                <a:r>
                  <a:rPr lang="en-US" altLang="zh-CN">
                    <a:latin typeface="华文新魏" pitchFamily="2" charset="-122"/>
                    <a:ea typeface="华文新魏" pitchFamily="2" charset="-122"/>
                  </a:rPr>
                  <a:t>0x0000 0000</a:t>
                </a:r>
              </a:p>
            </p:txBody>
          </p:sp>
          <p:sp>
            <p:nvSpPr>
              <p:cNvPr id="379952" name="Text Box 48"/>
              <p:cNvSpPr txBox="1">
                <a:spLocks noChangeArrowheads="1"/>
              </p:cNvSpPr>
              <p:nvPr/>
            </p:nvSpPr>
            <p:spPr bwMode="auto">
              <a:xfrm>
                <a:off x="3984" y="3360"/>
                <a:ext cx="1008" cy="231"/>
              </a:xfrm>
              <a:prstGeom prst="rect">
                <a:avLst/>
              </a:prstGeom>
              <a:noFill/>
              <a:ln w="9525">
                <a:noFill/>
                <a:miter lim="800000"/>
                <a:headEnd/>
                <a:tailEnd/>
              </a:ln>
              <a:effectLst/>
            </p:spPr>
            <p:txBody>
              <a:bodyPr>
                <a:spAutoFit/>
              </a:bodyPr>
              <a:lstStyle/>
              <a:p>
                <a:pPr>
                  <a:spcBef>
                    <a:spcPct val="50000"/>
                  </a:spcBef>
                </a:pPr>
                <a:r>
                  <a:rPr lang="en-US" altLang="zh-CN">
                    <a:latin typeface="华文新魏" pitchFamily="2" charset="-122"/>
                    <a:ea typeface="华文新魏" pitchFamily="2" charset="-122"/>
                  </a:rPr>
                  <a:t>0xFFFF FFFF</a:t>
                </a:r>
              </a:p>
            </p:txBody>
          </p:sp>
        </p:grpSp>
        <p:sp>
          <p:nvSpPr>
            <p:cNvPr id="379953" name="Rectangle 49"/>
            <p:cNvSpPr>
              <a:spLocks noChangeArrowheads="1"/>
            </p:cNvSpPr>
            <p:nvPr/>
          </p:nvSpPr>
          <p:spPr bwMode="auto">
            <a:xfrm>
              <a:off x="2976" y="2112"/>
              <a:ext cx="1008" cy="624"/>
            </a:xfrm>
            <a:prstGeom prst="rect">
              <a:avLst/>
            </a:prstGeom>
            <a:solidFill>
              <a:srgbClr val="FFFF99"/>
            </a:solidFill>
            <a:ln w="9525">
              <a:solidFill>
                <a:schemeClr val="tx1"/>
              </a:solidFill>
              <a:miter lim="800000"/>
              <a:headEnd/>
              <a:tailEnd/>
            </a:ln>
            <a:effectLst/>
          </p:spPr>
          <p:txBody>
            <a:bodyPr wrap="none" anchor="ctr"/>
            <a:lstStyle/>
            <a:p>
              <a:pPr>
                <a:spcBef>
                  <a:spcPct val="20000"/>
                </a:spcBef>
              </a:pPr>
              <a:r>
                <a:rPr lang="zh-CN" altLang="en-US" sz="2000">
                  <a:latin typeface="Times New Roman" pitchFamily="18" charset="0"/>
                  <a:ea typeface="华文新魏" pitchFamily="2" charset="-122"/>
                </a:rPr>
                <a:t>用户程序</a:t>
              </a:r>
            </a:p>
          </p:txBody>
        </p:sp>
        <p:sp>
          <p:nvSpPr>
            <p:cNvPr id="379954" name="Rectangle 50"/>
            <p:cNvSpPr>
              <a:spLocks noChangeArrowheads="1"/>
            </p:cNvSpPr>
            <p:nvPr/>
          </p:nvSpPr>
          <p:spPr bwMode="auto">
            <a:xfrm>
              <a:off x="2976" y="2880"/>
              <a:ext cx="1008" cy="336"/>
            </a:xfrm>
            <a:prstGeom prst="rect">
              <a:avLst/>
            </a:prstGeom>
            <a:solidFill>
              <a:srgbClr val="CCFFFF"/>
            </a:solidFill>
            <a:ln w="9525">
              <a:solidFill>
                <a:schemeClr val="tx1"/>
              </a:solidFill>
              <a:miter lim="800000"/>
              <a:headEnd/>
              <a:tailEnd/>
            </a:ln>
            <a:effectLst/>
          </p:spPr>
          <p:txBody>
            <a:bodyPr wrap="none" anchor="ctr"/>
            <a:lstStyle/>
            <a:p>
              <a:pPr>
                <a:spcBef>
                  <a:spcPct val="20000"/>
                </a:spcBef>
              </a:pPr>
              <a:r>
                <a:rPr lang="zh-CN" altLang="en-US" sz="2000">
                  <a:latin typeface="Times New Roman" pitchFamily="18" charset="0"/>
                  <a:ea typeface="华文新魏" pitchFamily="2" charset="-122"/>
                </a:rPr>
                <a:t>中断服务程序</a:t>
              </a:r>
            </a:p>
          </p:txBody>
        </p:sp>
        <p:sp>
          <p:nvSpPr>
            <p:cNvPr id="379955" name="Rectangle 51"/>
            <p:cNvSpPr>
              <a:spLocks noChangeArrowheads="1"/>
            </p:cNvSpPr>
            <p:nvPr/>
          </p:nvSpPr>
          <p:spPr bwMode="auto">
            <a:xfrm>
              <a:off x="2976" y="1344"/>
              <a:ext cx="1008" cy="432"/>
            </a:xfrm>
            <a:prstGeom prst="rect">
              <a:avLst/>
            </a:prstGeom>
            <a:solidFill>
              <a:srgbClr val="FFCC99"/>
            </a:solidFill>
            <a:ln w="9525">
              <a:solidFill>
                <a:schemeClr val="tx1"/>
              </a:solidFill>
              <a:miter lim="800000"/>
              <a:headEnd/>
              <a:tailEnd/>
            </a:ln>
            <a:effectLst/>
          </p:spPr>
          <p:txBody>
            <a:bodyPr wrap="none" anchor="ctr"/>
            <a:lstStyle/>
            <a:p>
              <a:pPr>
                <a:spcBef>
                  <a:spcPct val="20000"/>
                </a:spcBef>
              </a:pPr>
              <a:r>
                <a:rPr lang="zh-CN" altLang="en-US" sz="2000">
                  <a:latin typeface="Times New Roman" pitchFamily="18" charset="0"/>
                  <a:ea typeface="华文新魏" pitchFamily="2" charset="-122"/>
                </a:rPr>
                <a:t>异常向量表</a:t>
              </a:r>
            </a:p>
          </p:txBody>
        </p:sp>
      </p:grpSp>
      <p:sp>
        <p:nvSpPr>
          <p:cNvPr id="379956" name="AutoShape 52"/>
          <p:cNvSpPr>
            <a:spLocks noChangeArrowheads="1"/>
          </p:cNvSpPr>
          <p:nvPr/>
        </p:nvSpPr>
        <p:spPr bwMode="auto">
          <a:xfrm>
            <a:off x="8382000" y="2879725"/>
            <a:ext cx="228600" cy="381000"/>
          </a:xfrm>
          <a:prstGeom prst="downArrow">
            <a:avLst>
              <a:gd name="adj1" fmla="val 50000"/>
              <a:gd name="adj2" fmla="val 41667"/>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379957" name="Text Box 53"/>
          <p:cNvSpPr txBox="1">
            <a:spLocks noChangeArrowheads="1"/>
          </p:cNvSpPr>
          <p:nvPr/>
        </p:nvSpPr>
        <p:spPr bwMode="auto">
          <a:xfrm>
            <a:off x="8458200" y="2803526"/>
            <a:ext cx="381000" cy="396875"/>
          </a:xfrm>
          <a:prstGeom prst="rect">
            <a:avLst/>
          </a:prstGeom>
          <a:noFill/>
          <a:ln w="9525">
            <a:noFill/>
            <a:miter lim="800000"/>
            <a:headEnd/>
            <a:tailEnd/>
          </a:ln>
          <a:effectLst/>
        </p:spPr>
        <p:txBody>
          <a:bodyPr>
            <a:spAutoFit/>
          </a:bodyPr>
          <a:lstStyle/>
          <a:p>
            <a:pPr>
              <a:spcBef>
                <a:spcPct val="50000"/>
              </a:spcBef>
            </a:pPr>
            <a:r>
              <a:rPr lang="en-US" altLang="zh-CN" sz="2000">
                <a:solidFill>
                  <a:srgbClr val="0000FF"/>
                </a:solidFill>
                <a:latin typeface="宋体" pitchFamily="2" charset="-122"/>
              </a:rPr>
              <a:t>①</a:t>
            </a:r>
          </a:p>
        </p:txBody>
      </p:sp>
      <p:sp>
        <p:nvSpPr>
          <p:cNvPr id="379958" name="Text Box 54"/>
          <p:cNvSpPr txBox="1">
            <a:spLocks noChangeArrowheads="1"/>
          </p:cNvSpPr>
          <p:nvPr/>
        </p:nvSpPr>
        <p:spPr bwMode="auto">
          <a:xfrm>
            <a:off x="8534400" y="3184526"/>
            <a:ext cx="381000" cy="396875"/>
          </a:xfrm>
          <a:prstGeom prst="rect">
            <a:avLst/>
          </a:prstGeom>
          <a:noFill/>
          <a:ln w="9525">
            <a:noFill/>
            <a:miter lim="800000"/>
            <a:headEnd/>
            <a:tailEnd/>
          </a:ln>
          <a:effectLst/>
        </p:spPr>
        <p:txBody>
          <a:bodyPr>
            <a:spAutoFit/>
          </a:bodyPr>
          <a:lstStyle/>
          <a:p>
            <a:pPr>
              <a:spcBef>
                <a:spcPct val="50000"/>
              </a:spcBef>
            </a:pPr>
            <a:r>
              <a:rPr lang="en-US" altLang="zh-CN" sz="2000">
                <a:solidFill>
                  <a:srgbClr val="0000FF"/>
                </a:solidFill>
                <a:latin typeface="宋体" pitchFamily="2" charset="-122"/>
              </a:rPr>
              <a:t>②</a:t>
            </a:r>
          </a:p>
        </p:txBody>
      </p:sp>
      <p:sp>
        <p:nvSpPr>
          <p:cNvPr id="379959" name="Freeform 55"/>
          <p:cNvSpPr>
            <a:spLocks/>
          </p:cNvSpPr>
          <p:nvPr/>
        </p:nvSpPr>
        <p:spPr bwMode="auto">
          <a:xfrm>
            <a:off x="8382000" y="2041525"/>
            <a:ext cx="628650" cy="1303338"/>
          </a:xfrm>
          <a:custGeom>
            <a:avLst/>
            <a:gdLst/>
            <a:ahLst/>
            <a:cxnLst>
              <a:cxn ang="0">
                <a:pos x="72" y="821"/>
              </a:cxn>
              <a:cxn ang="0">
                <a:pos x="384" y="576"/>
              </a:cxn>
              <a:cxn ang="0">
                <a:pos x="0" y="0"/>
              </a:cxn>
            </a:cxnLst>
            <a:rect l="0" t="0" r="r" b="b"/>
            <a:pathLst>
              <a:path w="396" h="821">
                <a:moveTo>
                  <a:pt x="72" y="821"/>
                </a:moveTo>
                <a:cubicBezTo>
                  <a:pt x="124" y="780"/>
                  <a:pt x="396" y="713"/>
                  <a:pt x="384" y="576"/>
                </a:cubicBezTo>
                <a:cubicBezTo>
                  <a:pt x="372" y="439"/>
                  <a:pt x="184" y="224"/>
                  <a:pt x="0" y="0"/>
                </a:cubicBezTo>
              </a:path>
            </a:pathLst>
          </a:custGeom>
          <a:noFill/>
          <a:ln w="19050" cap="flat" cmpd="sng">
            <a:solidFill>
              <a:srgbClr val="FF0000"/>
            </a:solidFill>
            <a:prstDash val="solid"/>
            <a:round/>
            <a:headEnd/>
            <a:tailEnd type="triangle" w="med" len="med"/>
          </a:ln>
          <a:effectLst/>
        </p:spPr>
        <p:txBody>
          <a:bodyPr wrap="none" anchor="ctr"/>
          <a:lstStyle/>
          <a:p>
            <a:endParaRPr lang="zh-CN" altLang="en-US"/>
          </a:p>
        </p:txBody>
      </p:sp>
      <p:grpSp>
        <p:nvGrpSpPr>
          <p:cNvPr id="379960" name="Group 56"/>
          <p:cNvGrpSpPr>
            <a:grpSpLocks/>
          </p:cNvGrpSpPr>
          <p:nvPr/>
        </p:nvGrpSpPr>
        <p:grpSpPr bwMode="auto">
          <a:xfrm>
            <a:off x="8412163" y="3260725"/>
            <a:ext cx="152400" cy="152400"/>
            <a:chOff x="1536" y="3456"/>
            <a:chExt cx="96" cy="96"/>
          </a:xfrm>
        </p:grpSpPr>
        <p:sp>
          <p:nvSpPr>
            <p:cNvPr id="379961" name="Line 57"/>
            <p:cNvSpPr>
              <a:spLocks noChangeShapeType="1"/>
            </p:cNvSpPr>
            <p:nvPr/>
          </p:nvSpPr>
          <p:spPr bwMode="auto">
            <a:xfrm>
              <a:off x="1536" y="3456"/>
              <a:ext cx="96" cy="96"/>
            </a:xfrm>
            <a:prstGeom prst="line">
              <a:avLst/>
            </a:prstGeom>
            <a:noFill/>
            <a:ln w="12700">
              <a:solidFill>
                <a:srgbClr val="FF0000"/>
              </a:solidFill>
              <a:round/>
              <a:headEnd/>
              <a:tailEnd/>
            </a:ln>
            <a:effectLst/>
          </p:spPr>
          <p:txBody>
            <a:bodyPr wrap="none" anchor="ctr"/>
            <a:lstStyle/>
            <a:p>
              <a:endParaRPr lang="zh-CN" altLang="en-US"/>
            </a:p>
          </p:txBody>
        </p:sp>
        <p:sp>
          <p:nvSpPr>
            <p:cNvPr id="379962" name="Line 58"/>
            <p:cNvSpPr>
              <a:spLocks noChangeShapeType="1"/>
            </p:cNvSpPr>
            <p:nvPr/>
          </p:nvSpPr>
          <p:spPr bwMode="auto">
            <a:xfrm flipV="1">
              <a:off x="1536" y="3456"/>
              <a:ext cx="96" cy="96"/>
            </a:xfrm>
            <a:prstGeom prst="line">
              <a:avLst/>
            </a:prstGeom>
            <a:noFill/>
            <a:ln w="12700">
              <a:solidFill>
                <a:srgbClr val="FF0000"/>
              </a:solidFill>
              <a:round/>
              <a:headEnd/>
              <a:tailEnd/>
            </a:ln>
            <a:effectLst/>
          </p:spPr>
          <p:txBody>
            <a:bodyPr wrap="none" anchor="ctr"/>
            <a:lstStyle/>
            <a:p>
              <a:endParaRPr lang="zh-CN" altLang="en-US"/>
            </a:p>
          </p:txBody>
        </p:sp>
      </p:grpSp>
      <p:sp>
        <p:nvSpPr>
          <p:cNvPr id="379963" name="Text Box 59"/>
          <p:cNvSpPr txBox="1">
            <a:spLocks noChangeArrowheads="1"/>
          </p:cNvSpPr>
          <p:nvPr/>
        </p:nvSpPr>
        <p:spPr bwMode="auto">
          <a:xfrm>
            <a:off x="8686800" y="2270126"/>
            <a:ext cx="457200" cy="396875"/>
          </a:xfrm>
          <a:prstGeom prst="rect">
            <a:avLst/>
          </a:prstGeom>
          <a:noFill/>
          <a:ln w="9525">
            <a:noFill/>
            <a:miter lim="800000"/>
            <a:headEnd/>
            <a:tailEnd/>
          </a:ln>
          <a:effectLst/>
        </p:spPr>
        <p:txBody>
          <a:bodyPr>
            <a:spAutoFit/>
          </a:bodyPr>
          <a:lstStyle/>
          <a:p>
            <a:pPr>
              <a:spcBef>
                <a:spcPct val="50000"/>
              </a:spcBef>
            </a:pPr>
            <a:r>
              <a:rPr lang="en-US" altLang="zh-CN" sz="2000">
                <a:solidFill>
                  <a:srgbClr val="0000FF"/>
                </a:solidFill>
                <a:latin typeface="宋体" pitchFamily="2" charset="-122"/>
              </a:rPr>
              <a:t>④</a:t>
            </a:r>
          </a:p>
        </p:txBody>
      </p:sp>
      <p:sp>
        <p:nvSpPr>
          <p:cNvPr id="379964" name="Freeform 60"/>
          <p:cNvSpPr>
            <a:spLocks/>
          </p:cNvSpPr>
          <p:nvPr/>
        </p:nvSpPr>
        <p:spPr bwMode="auto">
          <a:xfrm>
            <a:off x="6400800" y="2041525"/>
            <a:ext cx="381000" cy="2057400"/>
          </a:xfrm>
          <a:custGeom>
            <a:avLst/>
            <a:gdLst/>
            <a:ahLst/>
            <a:cxnLst>
              <a:cxn ang="0">
                <a:pos x="240" y="0"/>
              </a:cxn>
              <a:cxn ang="0">
                <a:pos x="0" y="528"/>
              </a:cxn>
              <a:cxn ang="0">
                <a:pos x="240" y="1296"/>
              </a:cxn>
            </a:cxnLst>
            <a:rect l="0" t="0" r="r" b="b"/>
            <a:pathLst>
              <a:path w="240" h="1296">
                <a:moveTo>
                  <a:pt x="240" y="0"/>
                </a:moveTo>
                <a:cubicBezTo>
                  <a:pt x="120" y="156"/>
                  <a:pt x="0" y="312"/>
                  <a:pt x="0" y="528"/>
                </a:cubicBezTo>
                <a:cubicBezTo>
                  <a:pt x="0" y="744"/>
                  <a:pt x="120" y="1020"/>
                  <a:pt x="240" y="1296"/>
                </a:cubicBezTo>
              </a:path>
            </a:pathLst>
          </a:custGeom>
          <a:noFill/>
          <a:ln w="19050" cap="flat" cmpd="sng">
            <a:solidFill>
              <a:srgbClr val="FF0000"/>
            </a:solidFill>
            <a:prstDash val="solid"/>
            <a:round/>
            <a:headEnd/>
            <a:tailEnd type="triangle" w="med" len="med"/>
          </a:ln>
          <a:effectLst/>
        </p:spPr>
        <p:txBody>
          <a:bodyPr wrap="none" anchor="ctr"/>
          <a:lstStyle/>
          <a:p>
            <a:endParaRPr lang="zh-CN" altLang="en-US"/>
          </a:p>
        </p:txBody>
      </p:sp>
      <p:sp>
        <p:nvSpPr>
          <p:cNvPr id="379965" name="Text Box 61"/>
          <p:cNvSpPr txBox="1">
            <a:spLocks noChangeArrowheads="1"/>
          </p:cNvSpPr>
          <p:nvPr/>
        </p:nvSpPr>
        <p:spPr bwMode="auto">
          <a:xfrm>
            <a:off x="6324600" y="2803526"/>
            <a:ext cx="457200" cy="396875"/>
          </a:xfrm>
          <a:prstGeom prst="rect">
            <a:avLst/>
          </a:prstGeom>
          <a:noFill/>
          <a:ln w="9525">
            <a:noFill/>
            <a:miter lim="800000"/>
            <a:headEnd/>
            <a:tailEnd/>
          </a:ln>
          <a:effectLst/>
        </p:spPr>
        <p:txBody>
          <a:bodyPr>
            <a:spAutoFit/>
          </a:bodyPr>
          <a:lstStyle/>
          <a:p>
            <a:pPr>
              <a:spcBef>
                <a:spcPct val="50000"/>
              </a:spcBef>
            </a:pPr>
            <a:r>
              <a:rPr lang="en-US" altLang="zh-CN" sz="2000">
                <a:solidFill>
                  <a:srgbClr val="0000FF"/>
                </a:solidFill>
                <a:latin typeface="宋体" pitchFamily="2" charset="-122"/>
              </a:rPr>
              <a:t>⑤</a:t>
            </a:r>
          </a:p>
        </p:txBody>
      </p:sp>
      <p:sp>
        <p:nvSpPr>
          <p:cNvPr id="379966" name="Text Box 62"/>
          <p:cNvSpPr txBox="1">
            <a:spLocks noChangeArrowheads="1"/>
          </p:cNvSpPr>
          <p:nvPr/>
        </p:nvSpPr>
        <p:spPr bwMode="auto">
          <a:xfrm>
            <a:off x="8686800" y="3870326"/>
            <a:ext cx="457200" cy="396875"/>
          </a:xfrm>
          <a:prstGeom prst="rect">
            <a:avLst/>
          </a:prstGeom>
          <a:noFill/>
          <a:ln w="9525">
            <a:noFill/>
            <a:miter lim="800000"/>
            <a:headEnd/>
            <a:tailEnd/>
          </a:ln>
          <a:effectLst/>
        </p:spPr>
        <p:txBody>
          <a:bodyPr>
            <a:spAutoFit/>
          </a:bodyPr>
          <a:lstStyle/>
          <a:p>
            <a:pPr>
              <a:spcBef>
                <a:spcPct val="50000"/>
              </a:spcBef>
            </a:pPr>
            <a:r>
              <a:rPr lang="en-US" altLang="zh-CN" sz="2000">
                <a:solidFill>
                  <a:srgbClr val="0000FF"/>
                </a:solidFill>
                <a:latin typeface="宋体" pitchFamily="2" charset="-122"/>
              </a:rPr>
              <a:t>⑥</a:t>
            </a:r>
          </a:p>
        </p:txBody>
      </p:sp>
      <p:sp>
        <p:nvSpPr>
          <p:cNvPr id="379967" name="AutoShape 63"/>
          <p:cNvSpPr>
            <a:spLocks noChangeArrowheads="1"/>
          </p:cNvSpPr>
          <p:nvPr/>
        </p:nvSpPr>
        <p:spPr bwMode="auto">
          <a:xfrm>
            <a:off x="8382000" y="3489325"/>
            <a:ext cx="228600" cy="381000"/>
          </a:xfrm>
          <a:prstGeom prst="downArrow">
            <a:avLst>
              <a:gd name="adj1" fmla="val 50000"/>
              <a:gd name="adj2" fmla="val 41667"/>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379968" name="Freeform 64"/>
          <p:cNvSpPr>
            <a:spLocks/>
          </p:cNvSpPr>
          <p:nvPr/>
        </p:nvSpPr>
        <p:spPr bwMode="auto">
          <a:xfrm>
            <a:off x="8382000" y="3336925"/>
            <a:ext cx="412750" cy="1295400"/>
          </a:xfrm>
          <a:custGeom>
            <a:avLst/>
            <a:gdLst/>
            <a:ahLst/>
            <a:cxnLst>
              <a:cxn ang="0">
                <a:pos x="0" y="816"/>
              </a:cxn>
              <a:cxn ang="0">
                <a:pos x="168" y="672"/>
              </a:cxn>
              <a:cxn ang="0">
                <a:pos x="240" y="336"/>
              </a:cxn>
              <a:cxn ang="0">
                <a:pos x="48" y="0"/>
              </a:cxn>
            </a:cxnLst>
            <a:rect l="0" t="0" r="r" b="b"/>
            <a:pathLst>
              <a:path w="260" h="816">
                <a:moveTo>
                  <a:pt x="0" y="816"/>
                </a:moveTo>
                <a:cubicBezTo>
                  <a:pt x="28" y="792"/>
                  <a:pt x="128" y="752"/>
                  <a:pt x="168" y="672"/>
                </a:cubicBezTo>
                <a:cubicBezTo>
                  <a:pt x="208" y="592"/>
                  <a:pt x="260" y="448"/>
                  <a:pt x="240" y="336"/>
                </a:cubicBezTo>
                <a:cubicBezTo>
                  <a:pt x="220" y="224"/>
                  <a:pt x="72" y="48"/>
                  <a:pt x="48" y="0"/>
                </a:cubicBezTo>
              </a:path>
            </a:pathLst>
          </a:custGeom>
          <a:noFill/>
          <a:ln w="19050" cap="flat" cmpd="sng">
            <a:solidFill>
              <a:srgbClr val="FF0000"/>
            </a:solidFill>
            <a:prstDash val="solid"/>
            <a:round/>
            <a:headEnd/>
            <a:tailEnd type="triangle" w="med" len="med"/>
          </a:ln>
          <a:effectLst/>
        </p:spPr>
        <p:txBody>
          <a:bodyPr wrap="none" anchor="ctr"/>
          <a:lstStyle/>
          <a:p>
            <a:endParaRPr lang="zh-CN" altLang="en-US"/>
          </a:p>
        </p:txBody>
      </p:sp>
      <p:grpSp>
        <p:nvGrpSpPr>
          <p:cNvPr id="379970" name="Group 66"/>
          <p:cNvGrpSpPr>
            <a:grpSpLocks/>
          </p:cNvGrpSpPr>
          <p:nvPr/>
        </p:nvGrpSpPr>
        <p:grpSpPr bwMode="auto">
          <a:xfrm>
            <a:off x="6096000" y="5470525"/>
            <a:ext cx="3962400" cy="838200"/>
            <a:chOff x="2928" y="3648"/>
            <a:chExt cx="2496" cy="528"/>
          </a:xfrm>
        </p:grpSpPr>
        <p:sp>
          <p:nvSpPr>
            <p:cNvPr id="379971" name="AutoShape 67"/>
            <p:cNvSpPr>
              <a:spLocks noChangeArrowheads="1"/>
            </p:cNvSpPr>
            <p:nvPr/>
          </p:nvSpPr>
          <p:spPr bwMode="auto">
            <a:xfrm>
              <a:off x="3024" y="3840"/>
              <a:ext cx="288" cy="288"/>
            </a:xfrm>
            <a:prstGeom prst="roundRect">
              <a:avLst>
                <a:gd name="adj" fmla="val 16667"/>
              </a:avLst>
            </a:prstGeom>
            <a:solidFill>
              <a:schemeClr val="bg1"/>
            </a:solidFill>
            <a:ln w="9525">
              <a:noFill/>
              <a:round/>
              <a:headEnd/>
              <a:tailEnd/>
            </a:ln>
            <a:effectLst/>
          </p:spPr>
          <p:txBody>
            <a:bodyPr wrap="none" anchor="ctr"/>
            <a:lstStyle/>
            <a:p>
              <a:pPr>
                <a:spcBef>
                  <a:spcPct val="20000"/>
                </a:spcBef>
              </a:pPr>
              <a:r>
                <a:rPr lang="en-US" altLang="zh-CN" sz="2000">
                  <a:solidFill>
                    <a:srgbClr val="0000FF"/>
                  </a:solidFill>
                  <a:latin typeface="宋体" pitchFamily="2" charset="-122"/>
                </a:rPr>
                <a:t>③</a:t>
              </a:r>
              <a:endParaRPr lang="en-US" altLang="zh-CN" sz="2000">
                <a:latin typeface="华文新魏" pitchFamily="2" charset="-122"/>
                <a:ea typeface="华文新魏" pitchFamily="2" charset="-122"/>
              </a:endParaRPr>
            </a:p>
          </p:txBody>
        </p:sp>
        <p:grpSp>
          <p:nvGrpSpPr>
            <p:cNvPr id="379972" name="Group 68"/>
            <p:cNvGrpSpPr>
              <a:grpSpLocks/>
            </p:cNvGrpSpPr>
            <p:nvPr/>
          </p:nvGrpSpPr>
          <p:grpSpPr bwMode="auto">
            <a:xfrm>
              <a:off x="3408" y="3696"/>
              <a:ext cx="1824" cy="384"/>
              <a:chOff x="3216" y="3600"/>
              <a:chExt cx="1824" cy="384"/>
            </a:xfrm>
          </p:grpSpPr>
          <p:sp>
            <p:nvSpPr>
              <p:cNvPr id="379973" name="Rectangle 69"/>
              <p:cNvSpPr>
                <a:spLocks noChangeArrowheads="1"/>
              </p:cNvSpPr>
              <p:nvPr/>
            </p:nvSpPr>
            <p:spPr bwMode="auto">
              <a:xfrm>
                <a:off x="3216" y="3792"/>
                <a:ext cx="816" cy="192"/>
              </a:xfrm>
              <a:prstGeom prst="rect">
                <a:avLst/>
              </a:prstGeom>
              <a:solidFill>
                <a:schemeClr val="hlink"/>
              </a:solidFill>
              <a:ln w="9525">
                <a:solidFill>
                  <a:srgbClr val="000000"/>
                </a:solidFill>
                <a:miter lim="800000"/>
                <a:headEnd/>
                <a:tailEnd/>
              </a:ln>
              <a:effectLst/>
            </p:spPr>
            <p:txBody>
              <a:bodyPr wrap="none" anchor="ctr"/>
              <a:lstStyle/>
              <a:p>
                <a:r>
                  <a:rPr lang="en-US" altLang="zh-CN" sz="1600">
                    <a:latin typeface="Times New Roman" pitchFamily="18" charset="0"/>
                  </a:rPr>
                  <a:t>IRQ_Eint0</a:t>
                </a:r>
              </a:p>
            </p:txBody>
          </p:sp>
          <p:sp>
            <p:nvSpPr>
              <p:cNvPr id="379974" name="Rectangle 70"/>
              <p:cNvSpPr>
                <a:spLocks noChangeArrowheads="1"/>
              </p:cNvSpPr>
              <p:nvPr/>
            </p:nvSpPr>
            <p:spPr bwMode="auto">
              <a:xfrm>
                <a:off x="4224" y="3792"/>
                <a:ext cx="816" cy="192"/>
              </a:xfrm>
              <a:prstGeom prst="rect">
                <a:avLst/>
              </a:prstGeom>
              <a:solidFill>
                <a:srgbClr val="FFFF99"/>
              </a:solidFill>
              <a:ln w="9525">
                <a:solidFill>
                  <a:srgbClr val="000000"/>
                </a:solidFill>
                <a:miter lim="800000"/>
                <a:headEnd/>
                <a:tailEnd/>
              </a:ln>
              <a:effectLst/>
            </p:spPr>
            <p:txBody>
              <a:bodyPr wrap="none" anchor="ctr"/>
              <a:lstStyle/>
              <a:p>
                <a:r>
                  <a:rPr lang="en-US" altLang="zh-CN" sz="1600">
                    <a:latin typeface="Times New Roman" pitchFamily="18" charset="0"/>
                  </a:rPr>
                  <a:t>???</a:t>
                </a:r>
              </a:p>
            </p:txBody>
          </p:sp>
          <p:sp>
            <p:nvSpPr>
              <p:cNvPr id="379975" name="Rectangle 71"/>
              <p:cNvSpPr>
                <a:spLocks noChangeArrowheads="1"/>
              </p:cNvSpPr>
              <p:nvPr/>
            </p:nvSpPr>
            <p:spPr bwMode="auto">
              <a:xfrm>
                <a:off x="3216" y="3600"/>
                <a:ext cx="816" cy="192"/>
              </a:xfrm>
              <a:prstGeom prst="rect">
                <a:avLst/>
              </a:prstGeom>
              <a:solidFill>
                <a:schemeClr val="bg1"/>
              </a:solidFill>
              <a:ln w="9525">
                <a:noFill/>
                <a:miter lim="800000"/>
                <a:headEnd/>
                <a:tailEnd/>
              </a:ln>
              <a:effectLst/>
            </p:spPr>
            <p:txBody>
              <a:bodyPr wrap="none" anchor="ctr"/>
              <a:lstStyle/>
              <a:p>
                <a:r>
                  <a:rPr lang="en-US" altLang="zh-CN" sz="1600">
                    <a:latin typeface="Times New Roman" pitchFamily="18" charset="0"/>
                  </a:rPr>
                  <a:t>VICVectAddr0</a:t>
                </a:r>
              </a:p>
            </p:txBody>
          </p:sp>
          <p:sp>
            <p:nvSpPr>
              <p:cNvPr id="379976" name="Rectangle 72"/>
              <p:cNvSpPr>
                <a:spLocks noChangeArrowheads="1"/>
              </p:cNvSpPr>
              <p:nvPr/>
            </p:nvSpPr>
            <p:spPr bwMode="auto">
              <a:xfrm>
                <a:off x="4224" y="3600"/>
                <a:ext cx="816" cy="192"/>
              </a:xfrm>
              <a:prstGeom prst="rect">
                <a:avLst/>
              </a:prstGeom>
              <a:solidFill>
                <a:schemeClr val="bg1"/>
              </a:solidFill>
              <a:ln w="9525">
                <a:noFill/>
                <a:miter lim="800000"/>
                <a:headEnd/>
                <a:tailEnd/>
              </a:ln>
              <a:effectLst/>
            </p:spPr>
            <p:txBody>
              <a:bodyPr wrap="none" anchor="ctr"/>
              <a:lstStyle/>
              <a:p>
                <a:r>
                  <a:rPr lang="en-US" altLang="zh-CN" sz="1600">
                    <a:latin typeface="Times New Roman" pitchFamily="18" charset="0"/>
                  </a:rPr>
                  <a:t>VICVectAddr</a:t>
                </a:r>
              </a:p>
            </p:txBody>
          </p:sp>
        </p:grpSp>
        <p:sp>
          <p:nvSpPr>
            <p:cNvPr id="379977" name="Rectangle 73"/>
            <p:cNvSpPr>
              <a:spLocks noChangeArrowheads="1"/>
            </p:cNvSpPr>
            <p:nvPr/>
          </p:nvSpPr>
          <p:spPr bwMode="auto">
            <a:xfrm>
              <a:off x="2928" y="3648"/>
              <a:ext cx="2496" cy="528"/>
            </a:xfrm>
            <a:prstGeom prst="rect">
              <a:avLst/>
            </a:prstGeom>
            <a:noFill/>
            <a:ln w="9525">
              <a:solidFill>
                <a:schemeClr val="tx1"/>
              </a:solidFill>
              <a:miter lim="800000"/>
              <a:headEnd/>
              <a:tailEnd/>
            </a:ln>
            <a:effectLst/>
          </p:spPr>
          <p:txBody>
            <a:bodyPr wrap="none" anchor="ctr"/>
            <a:lstStyle/>
            <a:p>
              <a:endParaRPr lang="zh-CN" altLang="en-US"/>
            </a:p>
          </p:txBody>
        </p:sp>
      </p:grpSp>
      <p:sp>
        <p:nvSpPr>
          <p:cNvPr id="379978" name="Rectangle 74"/>
          <p:cNvSpPr>
            <a:spLocks noChangeArrowheads="1"/>
          </p:cNvSpPr>
          <p:nvPr/>
        </p:nvSpPr>
        <p:spPr bwMode="auto">
          <a:xfrm>
            <a:off x="8458200" y="5851525"/>
            <a:ext cx="1295400" cy="304800"/>
          </a:xfrm>
          <a:prstGeom prst="rect">
            <a:avLst/>
          </a:prstGeom>
          <a:solidFill>
            <a:srgbClr val="FFFF99"/>
          </a:solidFill>
          <a:ln w="9525">
            <a:solidFill>
              <a:srgbClr val="000000"/>
            </a:solidFill>
            <a:miter lim="800000"/>
            <a:headEnd/>
            <a:tailEnd/>
          </a:ln>
          <a:effectLst/>
        </p:spPr>
        <p:txBody>
          <a:bodyPr wrap="none" anchor="ctr"/>
          <a:lstStyle/>
          <a:p>
            <a:r>
              <a:rPr lang="en-US" altLang="zh-CN" sz="1600">
                <a:latin typeface="Times New Roman" pitchFamily="18" charset="0"/>
              </a:rPr>
              <a:t>IRQ_Eint0</a:t>
            </a:r>
          </a:p>
        </p:txBody>
      </p:sp>
      <p:sp>
        <p:nvSpPr>
          <p:cNvPr id="379979" name="AutoShape 75"/>
          <p:cNvSpPr>
            <a:spLocks noChangeArrowheads="1"/>
          </p:cNvSpPr>
          <p:nvPr/>
        </p:nvSpPr>
        <p:spPr bwMode="auto">
          <a:xfrm>
            <a:off x="8153400" y="5927725"/>
            <a:ext cx="304800" cy="152400"/>
          </a:xfrm>
          <a:prstGeom prst="rightArrow">
            <a:avLst>
              <a:gd name="adj1" fmla="val 50000"/>
              <a:gd name="adj2" fmla="val 50000"/>
            </a:avLst>
          </a:prstGeom>
          <a:solidFill>
            <a:schemeClr val="accent1"/>
          </a:solidFill>
          <a:ln w="9525">
            <a:solidFill>
              <a:schemeClr val="tx1"/>
            </a:solidFill>
            <a:miter lim="800000"/>
            <a:headEnd/>
            <a:tailEnd/>
          </a:ln>
          <a:effectLst/>
        </p:spPr>
        <p:txBody>
          <a:bodyPr wrap="none" anchor="ctr"/>
          <a:lstStyle/>
          <a:p>
            <a:endParaRPr lang="zh-CN" altLang="en-US"/>
          </a:p>
        </p:txBody>
      </p:sp>
      <p:grpSp>
        <p:nvGrpSpPr>
          <p:cNvPr id="379980" name="Group 76"/>
          <p:cNvGrpSpPr>
            <a:grpSpLocks/>
          </p:cNvGrpSpPr>
          <p:nvPr/>
        </p:nvGrpSpPr>
        <p:grpSpPr bwMode="auto">
          <a:xfrm>
            <a:off x="6096000" y="5470525"/>
            <a:ext cx="3962400" cy="838200"/>
            <a:chOff x="3840" y="288"/>
            <a:chExt cx="2496" cy="528"/>
          </a:xfrm>
        </p:grpSpPr>
        <p:sp>
          <p:nvSpPr>
            <p:cNvPr id="379981" name="Rectangle 77"/>
            <p:cNvSpPr>
              <a:spLocks noChangeArrowheads="1"/>
            </p:cNvSpPr>
            <p:nvPr/>
          </p:nvSpPr>
          <p:spPr bwMode="auto">
            <a:xfrm>
              <a:off x="3840" y="288"/>
              <a:ext cx="2496" cy="528"/>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379982" name="AutoShape 78"/>
            <p:cNvSpPr>
              <a:spLocks noChangeArrowheads="1"/>
            </p:cNvSpPr>
            <p:nvPr/>
          </p:nvSpPr>
          <p:spPr bwMode="auto">
            <a:xfrm>
              <a:off x="3936" y="432"/>
              <a:ext cx="288" cy="288"/>
            </a:xfrm>
            <a:prstGeom prst="roundRect">
              <a:avLst>
                <a:gd name="adj" fmla="val 16667"/>
              </a:avLst>
            </a:prstGeom>
            <a:solidFill>
              <a:schemeClr val="bg1"/>
            </a:solidFill>
            <a:ln w="9525">
              <a:noFill/>
              <a:round/>
              <a:headEnd/>
              <a:tailEnd/>
            </a:ln>
            <a:effectLst>
              <a:outerShdw dist="35921" dir="2700000" algn="ctr" rotWithShape="0">
                <a:schemeClr val="bg2"/>
              </a:outerShdw>
            </a:effectLst>
          </p:spPr>
          <p:txBody>
            <a:bodyPr wrap="none" anchor="ctr"/>
            <a:lstStyle/>
            <a:p>
              <a:pPr>
                <a:spcBef>
                  <a:spcPct val="20000"/>
                </a:spcBef>
              </a:pPr>
              <a:r>
                <a:rPr lang="en-US" altLang="zh-CN" sz="2000">
                  <a:solidFill>
                    <a:srgbClr val="0000FF"/>
                  </a:solidFill>
                  <a:latin typeface="宋体" pitchFamily="2" charset="-122"/>
                </a:rPr>
                <a:t>⑤</a:t>
              </a:r>
            </a:p>
          </p:txBody>
        </p:sp>
        <p:sp>
          <p:nvSpPr>
            <p:cNvPr id="379983" name="Rectangle 79"/>
            <p:cNvSpPr>
              <a:spLocks noChangeArrowheads="1"/>
            </p:cNvSpPr>
            <p:nvPr/>
          </p:nvSpPr>
          <p:spPr bwMode="auto">
            <a:xfrm>
              <a:off x="4272" y="432"/>
              <a:ext cx="2016" cy="288"/>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l"/>
              <a:r>
                <a:rPr lang="en-US" altLang="zh-CN" sz="1600"/>
                <a:t>LDR     PC, [PC, #-0xff0]</a:t>
              </a:r>
            </a:p>
          </p:txBody>
        </p:sp>
      </p:grpSp>
      <p:sp>
        <p:nvSpPr>
          <p:cNvPr id="379984" name="Text Box 80"/>
          <p:cNvSpPr txBox="1">
            <a:spLocks noChangeArrowheads="1"/>
          </p:cNvSpPr>
          <p:nvPr/>
        </p:nvSpPr>
        <p:spPr bwMode="auto">
          <a:xfrm>
            <a:off x="2286000" y="1581151"/>
            <a:ext cx="3594100" cy="4511675"/>
          </a:xfrm>
          <a:prstGeom prst="rect">
            <a:avLst/>
          </a:prstGeom>
          <a:noFill/>
          <a:ln w="9525">
            <a:noFill/>
            <a:miter lim="800000"/>
            <a:headEnd/>
            <a:tailEnd/>
          </a:ln>
          <a:effectLst/>
        </p:spPr>
        <p:txBody>
          <a:bodyPr>
            <a:spAutoFit/>
          </a:bodyPr>
          <a:lstStyle/>
          <a:p>
            <a:pPr algn="l">
              <a:spcBef>
                <a:spcPct val="50000"/>
              </a:spcBef>
            </a:pPr>
            <a:r>
              <a:rPr lang="zh-CN" altLang="en-US" sz="2000">
                <a:solidFill>
                  <a:srgbClr val="FF0000"/>
                </a:solidFill>
                <a:latin typeface="华文新魏" pitchFamily="2" charset="-122"/>
                <a:ea typeface="华文新魏" pitchFamily="2" charset="-122"/>
              </a:rPr>
              <a:t>注意</a:t>
            </a:r>
            <a:r>
              <a:rPr lang="zh-CN" altLang="en-US" sz="2000">
                <a:latin typeface="华文新魏" pitchFamily="2" charset="-122"/>
                <a:ea typeface="华文新魏" pitchFamily="2" charset="-122"/>
              </a:rPr>
              <a:t>：</a:t>
            </a:r>
          </a:p>
          <a:p>
            <a:pPr algn="l">
              <a:spcBef>
                <a:spcPct val="50000"/>
              </a:spcBef>
            </a:pPr>
            <a:r>
              <a:rPr lang="zh-CN" altLang="en-US" sz="2000">
                <a:latin typeface="华文新魏" pitchFamily="2" charset="-122"/>
                <a:ea typeface="华文新魏" pitchFamily="2" charset="-122"/>
              </a:rPr>
              <a:t>        任何</a:t>
            </a:r>
            <a:r>
              <a:rPr lang="en-US" altLang="zh-CN" sz="2000">
                <a:latin typeface="华文新魏" pitchFamily="2" charset="-122"/>
                <a:ea typeface="华文新魏" pitchFamily="2" charset="-122"/>
              </a:rPr>
              <a:t>IRQ</a:t>
            </a:r>
            <a:r>
              <a:rPr lang="zh-CN" altLang="en-US" sz="2000">
                <a:latin typeface="华文新魏" pitchFamily="2" charset="-122"/>
                <a:ea typeface="华文新魏" pitchFamily="2" charset="-122"/>
              </a:rPr>
              <a:t>中断产生之后，微控制器跳转到地址</a:t>
            </a:r>
            <a:r>
              <a:rPr lang="en-US" altLang="zh-CN" sz="2000">
                <a:latin typeface="华文新魏" pitchFamily="2" charset="-122"/>
                <a:ea typeface="华文新魏" pitchFamily="2" charset="-122"/>
              </a:rPr>
              <a:t>0x18</a:t>
            </a:r>
            <a:r>
              <a:rPr lang="zh-CN" altLang="en-US" sz="2000">
                <a:latin typeface="华文新魏" pitchFamily="2" charset="-122"/>
                <a:ea typeface="华文新魏" pitchFamily="2" charset="-122"/>
              </a:rPr>
              <a:t>执行代码，该地址处的指令为：</a:t>
            </a:r>
          </a:p>
          <a:p>
            <a:pPr algn="l"/>
            <a:r>
              <a:rPr lang="zh-CN" altLang="en-US" sz="2000">
                <a:solidFill>
                  <a:srgbClr val="0000FF"/>
                </a:solidFill>
                <a:latin typeface="华文新魏" pitchFamily="2" charset="-122"/>
                <a:ea typeface="华文新魏" pitchFamily="2" charset="-122"/>
              </a:rPr>
              <a:t>  </a:t>
            </a:r>
            <a:r>
              <a:rPr lang="en-US" altLang="zh-CN" sz="2000">
                <a:solidFill>
                  <a:srgbClr val="FF0000"/>
                </a:solidFill>
                <a:latin typeface="Arial" charset="0"/>
                <a:ea typeface="华文新魏" pitchFamily="2" charset="-122"/>
              </a:rPr>
              <a:t>LDR     PC, [PC, #-0xff0]</a:t>
            </a:r>
          </a:p>
          <a:p>
            <a:pPr algn="l"/>
            <a:r>
              <a:rPr lang="zh-CN" altLang="en-US" sz="2000">
                <a:latin typeface="华文新魏" pitchFamily="2" charset="-122"/>
                <a:ea typeface="华文新魏" pitchFamily="2" charset="-122"/>
              </a:rPr>
              <a:t>在执行该指令时，</a:t>
            </a:r>
            <a:r>
              <a:rPr lang="en-US" altLang="zh-CN" sz="2000">
                <a:latin typeface="华文新魏" pitchFamily="2" charset="-122"/>
                <a:ea typeface="华文新魏" pitchFamily="2" charset="-122"/>
              </a:rPr>
              <a:t>PC</a:t>
            </a:r>
            <a:r>
              <a:rPr lang="zh-CN" altLang="en-US" sz="2000">
                <a:latin typeface="华文新魏" pitchFamily="2" charset="-122"/>
                <a:ea typeface="华文新魏" pitchFamily="2" charset="-122"/>
              </a:rPr>
              <a:t>指向当前指令后的第</a:t>
            </a:r>
            <a:r>
              <a:rPr lang="en-US" altLang="zh-CN" sz="2000">
                <a:latin typeface="华文新魏" pitchFamily="2" charset="-122"/>
                <a:ea typeface="华文新魏" pitchFamily="2" charset="-122"/>
              </a:rPr>
              <a:t>2</a:t>
            </a:r>
            <a:r>
              <a:rPr lang="zh-CN" altLang="en-US" sz="2000">
                <a:latin typeface="华文新魏" pitchFamily="2" charset="-122"/>
                <a:ea typeface="华文新魏" pitchFamily="2" charset="-122"/>
              </a:rPr>
              <a:t>条指令，即地址</a:t>
            </a:r>
            <a:r>
              <a:rPr lang="en-US" altLang="zh-CN" sz="2000">
                <a:latin typeface="华文新魏" pitchFamily="2" charset="-122"/>
                <a:ea typeface="华文新魏" pitchFamily="2" charset="-122"/>
              </a:rPr>
              <a:t>0x20</a:t>
            </a:r>
            <a:r>
              <a:rPr lang="zh-CN" altLang="en-US" sz="2000">
                <a:latin typeface="华文新魏" pitchFamily="2" charset="-122"/>
                <a:ea typeface="华文新魏" pitchFamily="2" charset="-122"/>
              </a:rPr>
              <a:t>。</a:t>
            </a:r>
          </a:p>
          <a:p>
            <a:pPr algn="l"/>
            <a:r>
              <a:rPr lang="zh-CN" altLang="en-US" sz="2000">
                <a:latin typeface="华文新魏" pitchFamily="2" charset="-122"/>
                <a:ea typeface="华文新魏" pitchFamily="2" charset="-122"/>
              </a:rPr>
              <a:t>       该指令将内存地址：</a:t>
            </a:r>
          </a:p>
          <a:p>
            <a:pPr algn="l"/>
            <a:r>
              <a:rPr lang="zh-CN" altLang="en-US" sz="2000">
                <a:solidFill>
                  <a:srgbClr val="0000FF"/>
                </a:solidFill>
                <a:latin typeface="华文新魏" pitchFamily="2" charset="-122"/>
                <a:ea typeface="华文新魏" pitchFamily="2" charset="-122"/>
              </a:rPr>
              <a:t>  </a:t>
            </a:r>
            <a:r>
              <a:rPr lang="en-US" altLang="zh-CN" sz="2000">
                <a:solidFill>
                  <a:srgbClr val="FF0000"/>
                </a:solidFill>
                <a:latin typeface="Arial" charset="0"/>
                <a:ea typeface="华文新魏" pitchFamily="2" charset="-122"/>
              </a:rPr>
              <a:t>0x20-0xFF0 </a:t>
            </a:r>
            <a:r>
              <a:rPr lang="zh-CN" altLang="en-US" sz="2000">
                <a:solidFill>
                  <a:srgbClr val="FF0000"/>
                </a:solidFill>
                <a:latin typeface="Arial" charset="0"/>
                <a:ea typeface="华文新魏" pitchFamily="2" charset="-122"/>
              </a:rPr>
              <a:t>＝ </a:t>
            </a:r>
            <a:r>
              <a:rPr lang="en-US" altLang="zh-CN" sz="2000">
                <a:solidFill>
                  <a:srgbClr val="FF0000"/>
                </a:solidFill>
                <a:latin typeface="Arial" charset="0"/>
                <a:ea typeface="华文新魏" pitchFamily="2" charset="-122"/>
              </a:rPr>
              <a:t>0xFFFFF030</a:t>
            </a:r>
          </a:p>
          <a:p>
            <a:pPr algn="l"/>
            <a:r>
              <a:rPr lang="zh-CN" altLang="en-US" sz="2000">
                <a:latin typeface="华文新魏" pitchFamily="2" charset="-122"/>
                <a:ea typeface="华文新魏" pitchFamily="2" charset="-122"/>
              </a:rPr>
              <a:t>处的内容存入</a:t>
            </a:r>
            <a:r>
              <a:rPr lang="en-US" altLang="zh-CN" sz="2000">
                <a:latin typeface="华文新魏" pitchFamily="2" charset="-122"/>
                <a:ea typeface="华文新魏" pitchFamily="2" charset="-122"/>
              </a:rPr>
              <a:t>PC</a:t>
            </a:r>
            <a:r>
              <a:rPr lang="zh-CN" altLang="en-US" sz="2000">
                <a:latin typeface="华文新魏" pitchFamily="2" charset="-122"/>
                <a:ea typeface="华文新魏" pitchFamily="2" charset="-122"/>
              </a:rPr>
              <a:t>，该地址正是        </a:t>
            </a:r>
            <a:r>
              <a:rPr lang="en-US" altLang="zh-CN" sz="2000">
                <a:latin typeface="华文新魏" pitchFamily="2" charset="-122"/>
                <a:ea typeface="华文新魏" pitchFamily="2" charset="-122"/>
              </a:rPr>
              <a:t>VICVectAddr</a:t>
            </a:r>
            <a:r>
              <a:rPr lang="zh-CN" altLang="en-US" sz="2000">
                <a:latin typeface="华文新魏" pitchFamily="2" charset="-122"/>
                <a:ea typeface="华文新魏" pitchFamily="2" charset="-122"/>
              </a:rPr>
              <a:t>寄存器的地址。</a:t>
            </a:r>
          </a:p>
          <a:p>
            <a:pPr algn="l"/>
            <a:r>
              <a:rPr lang="zh-CN" altLang="en-US" sz="2000">
                <a:latin typeface="华文新魏" pitchFamily="2" charset="-122"/>
                <a:ea typeface="华文新魏" pitchFamily="2" charset="-122"/>
              </a:rPr>
              <a:t>       所以一条</a:t>
            </a:r>
            <a:r>
              <a:rPr lang="en-US" altLang="zh-CN" sz="2000">
                <a:latin typeface="华文新魏" pitchFamily="2" charset="-122"/>
                <a:ea typeface="华文新魏" pitchFamily="2" charset="-122"/>
              </a:rPr>
              <a:t>ARM</a:t>
            </a:r>
            <a:r>
              <a:rPr lang="zh-CN" altLang="en-US" sz="2000">
                <a:latin typeface="华文新魏" pitchFamily="2" charset="-122"/>
                <a:ea typeface="华文新魏" pitchFamily="2" charset="-122"/>
              </a:rPr>
              <a:t>指令即可实现程序向中断服务程序的跳转。</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79984"/>
                                        </p:tgtEl>
                                        <p:attrNameLst>
                                          <p:attrName>style.visibility</p:attrName>
                                        </p:attrNameLst>
                                      </p:cBhvr>
                                      <p:to>
                                        <p:strVal val="visible"/>
                                      </p:to>
                                    </p:set>
                                    <p:anim calcmode="lin" valueType="num">
                                      <p:cBhvr additive="base">
                                        <p:cTn id="7" dur="500" fill="hold"/>
                                        <p:tgtEl>
                                          <p:spTgt spid="379984"/>
                                        </p:tgtEl>
                                        <p:attrNameLst>
                                          <p:attrName>ppt_x</p:attrName>
                                        </p:attrNameLst>
                                      </p:cBhvr>
                                      <p:tavLst>
                                        <p:tav tm="0">
                                          <p:val>
                                            <p:strVal val="0-#ppt_w/2"/>
                                          </p:val>
                                        </p:tav>
                                        <p:tav tm="100000">
                                          <p:val>
                                            <p:strVal val="#ppt_x"/>
                                          </p:val>
                                        </p:tav>
                                      </p:tavLst>
                                    </p:anim>
                                    <p:anim calcmode="lin" valueType="num">
                                      <p:cBhvr additive="base">
                                        <p:cTn id="8" dur="500" fill="hold"/>
                                        <p:tgtEl>
                                          <p:spTgt spid="3799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84"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ChangeArrowheads="1"/>
          </p:cNvSpPr>
          <p:nvPr/>
        </p:nvSpPr>
        <p:spPr bwMode="auto">
          <a:xfrm>
            <a:off x="2208213" y="1844676"/>
            <a:ext cx="7702550" cy="576263"/>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使用</a:t>
            </a:r>
            <a:r>
              <a:rPr lang="en-US" altLang="zh-CN" sz="3200">
                <a:latin typeface="Times New Roman" pitchFamily="18" charset="0"/>
              </a:rPr>
              <a:t>VIC</a:t>
            </a:r>
            <a:r>
              <a:rPr lang="zh-CN" altLang="en-US" sz="3200">
                <a:latin typeface="Times New Roman" pitchFamily="18" charset="0"/>
              </a:rPr>
              <a:t>的注意要点</a:t>
            </a:r>
          </a:p>
        </p:txBody>
      </p:sp>
      <p:sp>
        <p:nvSpPr>
          <p:cNvPr id="380931" name="Rectangle 3"/>
          <p:cNvSpPr>
            <a:spLocks noGrp="1" noChangeArrowheads="1"/>
          </p:cNvSpPr>
          <p:nvPr>
            <p:ph type="title"/>
          </p:nvPr>
        </p:nvSpPr>
        <p:spPr>
          <a:noFill/>
          <a:ln/>
        </p:spPr>
        <p:txBody>
          <a:bodyPr/>
          <a:lstStyle/>
          <a:p>
            <a:r>
              <a:rPr lang="en-US" altLang="zh-CN" dirty="0"/>
              <a:t>5.3.4  </a:t>
            </a:r>
            <a:r>
              <a:rPr lang="zh-CN" altLang="en-US" dirty="0"/>
              <a:t>向量中断控制器</a:t>
            </a:r>
          </a:p>
        </p:txBody>
      </p:sp>
      <p:sp>
        <p:nvSpPr>
          <p:cNvPr id="380948" name="Text Box 20"/>
          <p:cNvSpPr txBox="1">
            <a:spLocks noChangeArrowheads="1"/>
          </p:cNvSpPr>
          <p:nvPr/>
        </p:nvSpPr>
        <p:spPr bwMode="auto">
          <a:xfrm>
            <a:off x="2279650" y="2605088"/>
            <a:ext cx="7600950" cy="3600986"/>
          </a:xfrm>
          <a:prstGeom prst="rect">
            <a:avLst/>
          </a:prstGeom>
          <a:noFill/>
          <a:ln w="9525">
            <a:noFill/>
            <a:miter lim="800000"/>
            <a:headEnd/>
            <a:tailEnd/>
          </a:ln>
          <a:effectLst/>
        </p:spPr>
        <p:txBody>
          <a:bodyPr>
            <a:spAutoFit/>
          </a:bodyPr>
          <a:lstStyle/>
          <a:p>
            <a:pPr algn="l">
              <a:spcBef>
                <a:spcPct val="50000"/>
              </a:spcBef>
              <a:buClr>
                <a:srgbClr val="0000FF"/>
              </a:buClr>
              <a:buFont typeface="Wingdings" pitchFamily="2" charset="2"/>
              <a:buChar char="Ø"/>
            </a:pPr>
            <a:r>
              <a:rPr lang="zh-CN" altLang="en-US" sz="2400">
                <a:latin typeface="华文新魏" pitchFamily="2" charset="-122"/>
                <a:ea typeface="华文新魏" pitchFamily="2" charset="-122"/>
              </a:rPr>
              <a:t>如果在片内</a:t>
            </a:r>
            <a:r>
              <a:rPr lang="en-US" altLang="zh-CN" sz="2400">
                <a:latin typeface="华文新魏" pitchFamily="2" charset="-122"/>
                <a:ea typeface="华文新魏" pitchFamily="2" charset="-122"/>
              </a:rPr>
              <a:t>RAM</a:t>
            </a:r>
            <a:r>
              <a:rPr lang="zh-CN" altLang="en-US" sz="2400">
                <a:latin typeface="华文新魏" pitchFamily="2" charset="-122"/>
                <a:ea typeface="华文新魏" pitchFamily="2" charset="-122"/>
              </a:rPr>
              <a:t>中调试程序，并使用了中断，那么必须将存储器映射控制设置为内部</a:t>
            </a:r>
            <a:r>
              <a:rPr lang="en-US" altLang="zh-CN" sz="2400">
                <a:latin typeface="华文新魏" pitchFamily="2" charset="-122"/>
                <a:ea typeface="华文新魏" pitchFamily="2" charset="-122"/>
              </a:rPr>
              <a:t>RAM</a:t>
            </a:r>
            <a:r>
              <a:rPr lang="zh-CN" altLang="en-US" sz="2400">
                <a:latin typeface="华文新魏" pitchFamily="2" charset="-122"/>
                <a:ea typeface="华文新魏" pitchFamily="2" charset="-122"/>
              </a:rPr>
              <a:t>模式；</a:t>
            </a:r>
          </a:p>
          <a:p>
            <a:pPr algn="l">
              <a:spcBef>
                <a:spcPct val="50000"/>
              </a:spcBef>
              <a:buClr>
                <a:srgbClr val="0000FF"/>
              </a:buClr>
              <a:buFont typeface="Wingdings" pitchFamily="2" charset="2"/>
              <a:buChar char="Ø"/>
            </a:pPr>
            <a:r>
              <a:rPr lang="zh-CN" altLang="en-US" sz="2400">
                <a:latin typeface="华文新魏" pitchFamily="2" charset="-122"/>
                <a:ea typeface="华文新魏" pitchFamily="2" charset="-122"/>
              </a:rPr>
              <a:t>将多个中断源设置为</a:t>
            </a:r>
            <a:r>
              <a:rPr lang="en-US" altLang="zh-CN" sz="2400">
                <a:latin typeface="华文新魏" pitchFamily="2" charset="-122"/>
                <a:ea typeface="华文新魏" pitchFamily="2" charset="-122"/>
              </a:rPr>
              <a:t>FIQ</a:t>
            </a:r>
            <a:r>
              <a:rPr lang="zh-CN" altLang="en-US" sz="2400">
                <a:latin typeface="华文新魏" pitchFamily="2" charset="-122"/>
                <a:ea typeface="华文新魏" pitchFamily="2" charset="-122"/>
              </a:rPr>
              <a:t>，将增加中断响应延时，所以建议</a:t>
            </a:r>
            <a:r>
              <a:rPr lang="en-US" altLang="zh-CN" sz="2400">
                <a:latin typeface="华文新魏" pitchFamily="2" charset="-122"/>
                <a:ea typeface="华文新魏" pitchFamily="2" charset="-122"/>
              </a:rPr>
              <a:t>FIQ</a:t>
            </a:r>
            <a:r>
              <a:rPr lang="zh-CN" altLang="en-US" sz="2400">
                <a:latin typeface="华文新魏" pitchFamily="2" charset="-122"/>
                <a:ea typeface="华文新魏" pitchFamily="2" charset="-122"/>
              </a:rPr>
              <a:t>中断只有一个中断源；</a:t>
            </a:r>
          </a:p>
          <a:p>
            <a:pPr algn="l">
              <a:spcBef>
                <a:spcPct val="50000"/>
              </a:spcBef>
              <a:buClr>
                <a:srgbClr val="0000FF"/>
              </a:buClr>
              <a:buFont typeface="Wingdings" pitchFamily="2" charset="2"/>
              <a:buChar char="Ø"/>
            </a:pPr>
            <a:r>
              <a:rPr lang="en-US" altLang="zh-CN" sz="2400">
                <a:latin typeface="华文新魏" pitchFamily="2" charset="-122"/>
                <a:ea typeface="华文新魏" pitchFamily="2" charset="-122"/>
              </a:rPr>
              <a:t>ADS1.2</a:t>
            </a:r>
            <a:r>
              <a:rPr lang="zh-CN" altLang="en-US" sz="2400">
                <a:latin typeface="华文新魏" pitchFamily="2" charset="-122"/>
                <a:ea typeface="华文新魏" pitchFamily="2" charset="-122"/>
              </a:rPr>
              <a:t>规定在定义中断服务函数时必须加入关键字</a:t>
            </a:r>
            <a:r>
              <a:rPr lang="zh-CN" altLang="en-US" sz="2400">
                <a:latin typeface="Times New Roman"/>
                <a:ea typeface="华文新魏" pitchFamily="2" charset="-122"/>
              </a:rPr>
              <a:t>“</a:t>
            </a:r>
            <a:r>
              <a:rPr lang="en-US" altLang="zh-CN" sz="2400">
                <a:latin typeface="华文新魏" pitchFamily="2" charset="-122"/>
                <a:ea typeface="华文新魏" pitchFamily="2" charset="-122"/>
              </a:rPr>
              <a:t>__irq</a:t>
            </a:r>
            <a:r>
              <a:rPr lang="en-US" altLang="zh-CN" sz="2400">
                <a:latin typeface="Times New Roman"/>
                <a:ea typeface="华文新魏" pitchFamily="2" charset="-122"/>
              </a:rPr>
              <a:t>”</a:t>
            </a:r>
            <a:r>
              <a:rPr lang="zh-CN" altLang="en-US" sz="2400">
                <a:latin typeface="华文新魏" pitchFamily="2" charset="-122"/>
                <a:ea typeface="华文新魏" pitchFamily="2" charset="-122"/>
              </a:rPr>
              <a:t>，保证函数返回时会切换处理器模式；</a:t>
            </a:r>
          </a:p>
          <a:p>
            <a:pPr algn="l">
              <a:spcBef>
                <a:spcPct val="50000"/>
              </a:spcBef>
              <a:buClr>
                <a:srgbClr val="0000FF"/>
              </a:buClr>
              <a:buFont typeface="Wingdings" pitchFamily="2" charset="2"/>
              <a:buChar char="Ø"/>
            </a:pPr>
            <a:r>
              <a:rPr lang="zh-CN" altLang="en-US" sz="2400">
                <a:latin typeface="华文新魏" pitchFamily="2" charset="-122"/>
                <a:ea typeface="华文新魏" pitchFamily="2" charset="-122"/>
              </a:rPr>
              <a:t>在退出中断服务程序时要清零相应外设的中断标志，以及</a:t>
            </a:r>
            <a:r>
              <a:rPr lang="en-US" altLang="zh-CN" sz="2400">
                <a:latin typeface="华文新魏" pitchFamily="2" charset="-122"/>
                <a:ea typeface="华文新魏" pitchFamily="2" charset="-122"/>
              </a:rPr>
              <a:t>VICVectAddr</a:t>
            </a:r>
            <a:r>
              <a:rPr lang="zh-CN" altLang="en-US" sz="2400">
                <a:latin typeface="华文新魏" pitchFamily="2" charset="-122"/>
                <a:ea typeface="华文新魏" pitchFamily="2" charset="-122"/>
              </a:rPr>
              <a:t>寄存器，为响应下次中断作好准备</a:t>
            </a:r>
            <a:r>
              <a:rPr lang="zh-CN" altLang="en-US" sz="2200">
                <a:latin typeface="Times New Roman" pitchFamily="18" charset="0"/>
                <a:ea typeface="楷体_GB2312" pitchFamily="49" charset="-122"/>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80930">
                                            <p:txEl>
                                              <p:pRg st="0" end="0"/>
                                            </p:txEl>
                                          </p:spTgt>
                                        </p:tgtEl>
                                        <p:attrNameLst>
                                          <p:attrName>style.visibility</p:attrName>
                                        </p:attrNameLst>
                                      </p:cBhvr>
                                      <p:to>
                                        <p:strVal val="visible"/>
                                      </p:to>
                                    </p:set>
                                    <p:anim calcmode="lin" valueType="num">
                                      <p:cBhvr additive="base">
                                        <p:cTn id="7" dur="500" fill="hold"/>
                                        <p:tgtEl>
                                          <p:spTgt spid="38093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80930">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1" fill="hold" grpId="0" nodeType="afterEffect">
                                  <p:stCondLst>
                                    <p:cond delay="0"/>
                                  </p:stCondLst>
                                  <p:childTnLst>
                                    <p:set>
                                      <p:cBhvr>
                                        <p:cTn id="11" dur="1" fill="hold">
                                          <p:stCondLst>
                                            <p:cond delay="0"/>
                                          </p:stCondLst>
                                        </p:cTn>
                                        <p:tgtEl>
                                          <p:spTgt spid="380948"/>
                                        </p:tgtEl>
                                        <p:attrNameLst>
                                          <p:attrName>style.visibility</p:attrName>
                                        </p:attrNameLst>
                                      </p:cBhvr>
                                      <p:to>
                                        <p:strVal val="visible"/>
                                      </p:to>
                                    </p:set>
                                    <p:animEffect transition="in" filter="slide(fromTop)">
                                      <p:cBhvr>
                                        <p:cTn id="12" dur="500"/>
                                        <p:tgtEl>
                                          <p:spTgt spid="380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30" grpId="0" build="p"/>
      <p:bldP spid="380948"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5" name="Rectangle 3"/>
          <p:cNvSpPr>
            <a:spLocks noChangeArrowheads="1"/>
          </p:cNvSpPr>
          <p:nvPr/>
        </p:nvSpPr>
        <p:spPr bwMode="auto">
          <a:xfrm>
            <a:off x="2209800" y="6207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VIC</a:t>
            </a:r>
            <a:r>
              <a:rPr lang="zh-CN" altLang="en-US" sz="3200">
                <a:latin typeface="Times New Roman" pitchFamily="18" charset="0"/>
              </a:rPr>
              <a:t>相关启动代码分析</a:t>
            </a:r>
          </a:p>
        </p:txBody>
      </p:sp>
      <p:sp>
        <p:nvSpPr>
          <p:cNvPr id="381992" name="Rectangle 40"/>
          <p:cNvSpPr>
            <a:spLocks noChangeArrowheads="1"/>
          </p:cNvSpPr>
          <p:nvPr/>
        </p:nvSpPr>
        <p:spPr bwMode="auto">
          <a:xfrm>
            <a:off x="6324600" y="1676400"/>
            <a:ext cx="3886200" cy="2179638"/>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a:spAutoFit/>
          </a:bodyPr>
          <a:lstStyle/>
          <a:p>
            <a:pPr algn="l">
              <a:spcBef>
                <a:spcPct val="50000"/>
              </a:spcBef>
            </a:pPr>
            <a:r>
              <a:rPr lang="en-US" altLang="zh-CN" sz="1600">
                <a:ea typeface="华文新魏" pitchFamily="2" charset="-122"/>
              </a:rPr>
              <a:t>...</a:t>
            </a:r>
          </a:p>
          <a:p>
            <a:pPr algn="l">
              <a:spcBef>
                <a:spcPct val="50000"/>
              </a:spcBef>
            </a:pPr>
            <a:r>
              <a:rPr lang="en-US" altLang="zh-CN" sz="1600">
                <a:ea typeface="华文新魏" pitchFamily="2" charset="-122"/>
              </a:rPr>
              <a:t>/* </a:t>
            </a:r>
            <a:r>
              <a:rPr lang="zh-CN" altLang="en-US" sz="1600">
                <a:ea typeface="华文新魏" pitchFamily="2" charset="-122"/>
              </a:rPr>
              <a:t>初始化</a:t>
            </a:r>
            <a:r>
              <a:rPr lang="en-US" altLang="zh-CN" sz="1600">
                <a:ea typeface="华文新魏" pitchFamily="2" charset="-122"/>
              </a:rPr>
              <a:t>VIC */</a:t>
            </a:r>
          </a:p>
          <a:p>
            <a:pPr algn="l">
              <a:spcBef>
                <a:spcPct val="50000"/>
              </a:spcBef>
            </a:pPr>
            <a:r>
              <a:rPr lang="en-US" altLang="zh-CN" sz="1600">
                <a:ea typeface="华文新魏" pitchFamily="2" charset="-122"/>
              </a:rPr>
              <a:t>VICIntEnClr = 0xffffffff; </a:t>
            </a:r>
          </a:p>
          <a:p>
            <a:pPr algn="l">
              <a:spcBef>
                <a:spcPct val="50000"/>
              </a:spcBef>
            </a:pPr>
            <a:r>
              <a:rPr lang="en-US" altLang="zh-CN" sz="1600">
                <a:ea typeface="华文新魏" pitchFamily="2" charset="-122"/>
              </a:rPr>
              <a:t>VICVectAddr = 0;</a:t>
            </a:r>
          </a:p>
          <a:p>
            <a:pPr algn="l">
              <a:spcBef>
                <a:spcPct val="50000"/>
              </a:spcBef>
            </a:pPr>
            <a:r>
              <a:rPr lang="en-US" altLang="zh-CN" sz="1600">
                <a:ea typeface="华文新魏" pitchFamily="2" charset="-122"/>
              </a:rPr>
              <a:t>VICIntSelect = 0;</a:t>
            </a:r>
          </a:p>
          <a:p>
            <a:pPr algn="l">
              <a:spcBef>
                <a:spcPct val="50000"/>
              </a:spcBef>
            </a:pPr>
            <a:r>
              <a:rPr lang="en-US" altLang="zh-CN" sz="1600">
                <a:ea typeface="华文新魏" pitchFamily="2" charset="-122"/>
              </a:rPr>
              <a:t>...</a:t>
            </a:r>
          </a:p>
        </p:txBody>
      </p:sp>
      <p:sp>
        <p:nvSpPr>
          <p:cNvPr id="381993" name="Text Box 41"/>
          <p:cNvSpPr txBox="1">
            <a:spLocks noChangeArrowheads="1"/>
          </p:cNvSpPr>
          <p:nvPr/>
        </p:nvSpPr>
        <p:spPr bwMode="auto">
          <a:xfrm>
            <a:off x="2135189" y="1971675"/>
            <a:ext cx="4105275" cy="1107996"/>
          </a:xfrm>
          <a:prstGeom prst="rect">
            <a:avLst/>
          </a:prstGeom>
          <a:noFill/>
          <a:ln w="9525">
            <a:noFill/>
            <a:miter lim="800000"/>
            <a:headEnd/>
            <a:tailEnd/>
          </a:ln>
          <a:effectLst/>
        </p:spPr>
        <p:txBody>
          <a:bodyPr>
            <a:spAutoFit/>
          </a:bodyPr>
          <a:lstStyle/>
          <a:p>
            <a:pPr algn="l">
              <a:spcBef>
                <a:spcPct val="50000"/>
              </a:spcBef>
            </a:pPr>
            <a:r>
              <a:rPr lang="en-US" altLang="zh-CN" sz="2200">
                <a:latin typeface="华文新魏" pitchFamily="2" charset="-122"/>
                <a:ea typeface="华文新魏" pitchFamily="2" charset="-122"/>
              </a:rPr>
              <a:t>        </a:t>
            </a:r>
            <a:r>
              <a:rPr lang="zh-CN" altLang="en-US" sz="2200">
                <a:latin typeface="华文新魏" pitchFamily="2" charset="-122"/>
                <a:ea typeface="华文新魏" pitchFamily="2" charset="-122"/>
              </a:rPr>
              <a:t>在</a:t>
            </a:r>
            <a:r>
              <a:rPr lang="en-US" altLang="zh-CN" sz="2200">
                <a:latin typeface="华文新魏" pitchFamily="2" charset="-122"/>
                <a:ea typeface="华文新魏" pitchFamily="2" charset="-122"/>
              </a:rPr>
              <a:t>LPC2100</a:t>
            </a:r>
            <a:r>
              <a:rPr lang="zh-CN" altLang="en-US" sz="2200">
                <a:latin typeface="华文新魏" pitchFamily="2" charset="-122"/>
                <a:ea typeface="华文新魏" pitchFamily="2" charset="-122"/>
              </a:rPr>
              <a:t>、</a:t>
            </a:r>
            <a:r>
              <a:rPr lang="en-US" altLang="zh-CN" sz="2200">
                <a:latin typeface="华文新魏" pitchFamily="2" charset="-122"/>
                <a:ea typeface="华文新魏" pitchFamily="2" charset="-122"/>
              </a:rPr>
              <a:t>LPC2200</a:t>
            </a:r>
            <a:r>
              <a:rPr lang="zh-CN" altLang="en-US" sz="2200">
                <a:latin typeface="华文新魏" pitchFamily="2" charset="-122"/>
                <a:ea typeface="华文新魏" pitchFamily="2" charset="-122"/>
              </a:rPr>
              <a:t>的启动代码中包含有</a:t>
            </a:r>
            <a:r>
              <a:rPr lang="en-US" altLang="zh-CN" sz="2200">
                <a:latin typeface="华文新魏" pitchFamily="2" charset="-122"/>
                <a:ea typeface="华文新魏" pitchFamily="2" charset="-122"/>
              </a:rPr>
              <a:t>VIC</a:t>
            </a:r>
            <a:r>
              <a:rPr lang="zh-CN" altLang="en-US" sz="2200">
                <a:latin typeface="华文新魏" pitchFamily="2" charset="-122"/>
                <a:ea typeface="华文新魏" pitchFamily="2" charset="-122"/>
              </a:rPr>
              <a:t>初始化程序，默认是禁止所有中断。</a:t>
            </a:r>
          </a:p>
        </p:txBody>
      </p:sp>
      <p:sp>
        <p:nvSpPr>
          <p:cNvPr id="381994" name="Text Box 42"/>
          <p:cNvSpPr txBox="1">
            <a:spLocks noChangeArrowheads="1"/>
          </p:cNvSpPr>
          <p:nvPr/>
        </p:nvSpPr>
        <p:spPr bwMode="auto">
          <a:xfrm>
            <a:off x="6324600" y="1219201"/>
            <a:ext cx="3124200" cy="396875"/>
          </a:xfrm>
          <a:prstGeom prst="rect">
            <a:avLst/>
          </a:prstGeom>
          <a:noFill/>
          <a:ln w="9525">
            <a:noFill/>
            <a:miter lim="800000"/>
            <a:headEnd/>
            <a:tailEnd/>
          </a:ln>
          <a:effectLst/>
        </p:spPr>
        <p:txBody>
          <a:bodyPr>
            <a:spAutoFit/>
          </a:bodyPr>
          <a:lstStyle/>
          <a:p>
            <a:pPr algn="l">
              <a:spcBef>
                <a:spcPct val="50000"/>
              </a:spcBef>
            </a:pPr>
            <a:r>
              <a:rPr lang="en-US" altLang="zh-CN" sz="2000">
                <a:latin typeface="华文新魏" pitchFamily="2" charset="-122"/>
                <a:ea typeface="华文新魏" pitchFamily="2" charset="-122"/>
              </a:rPr>
              <a:t>TargetResetInit</a:t>
            </a:r>
            <a:r>
              <a:rPr lang="zh-CN" altLang="en-US" sz="2000">
                <a:latin typeface="华文新魏" pitchFamily="2" charset="-122"/>
                <a:ea typeface="华文新魏" pitchFamily="2" charset="-122"/>
              </a:rPr>
              <a:t>函数：</a:t>
            </a:r>
          </a:p>
        </p:txBody>
      </p:sp>
      <p:sp>
        <p:nvSpPr>
          <p:cNvPr id="381995" name="Rectangle 43"/>
          <p:cNvSpPr>
            <a:spLocks noChangeArrowheads="1"/>
          </p:cNvSpPr>
          <p:nvPr/>
        </p:nvSpPr>
        <p:spPr bwMode="auto">
          <a:xfrm>
            <a:off x="6324600" y="4495801"/>
            <a:ext cx="3886200" cy="181292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a:spAutoFit/>
          </a:bodyPr>
          <a:lstStyle/>
          <a:p>
            <a:pPr algn="l">
              <a:spcBef>
                <a:spcPct val="50000"/>
              </a:spcBef>
            </a:pPr>
            <a:r>
              <a:rPr lang="en-US" altLang="zh-CN" sz="1600">
                <a:ea typeface="华文新魏" pitchFamily="2" charset="-122"/>
              </a:rPr>
              <a:t>InitStack</a:t>
            </a:r>
          </a:p>
          <a:p>
            <a:pPr algn="l">
              <a:spcBef>
                <a:spcPct val="50000"/>
              </a:spcBef>
            </a:pPr>
            <a:r>
              <a:rPr lang="en-US" altLang="zh-CN" sz="1600">
                <a:ea typeface="华文新魏" pitchFamily="2" charset="-122"/>
              </a:rPr>
              <a:t>   ...</a:t>
            </a:r>
          </a:p>
          <a:p>
            <a:pPr algn="l">
              <a:spcBef>
                <a:spcPct val="50000"/>
              </a:spcBef>
            </a:pPr>
            <a:r>
              <a:rPr lang="en-US" altLang="zh-CN" sz="1600">
                <a:ea typeface="华文新魏" pitchFamily="2" charset="-122"/>
              </a:rPr>
              <a:t>   MSR  CPSR_c,#</a:t>
            </a:r>
            <a:r>
              <a:rPr lang="en-US" altLang="zh-CN" sz="1600">
                <a:solidFill>
                  <a:srgbClr val="0000FF"/>
                </a:solidFill>
                <a:ea typeface="华文新魏" pitchFamily="2" charset="-122"/>
              </a:rPr>
              <a:t>0xdf</a:t>
            </a:r>
          </a:p>
          <a:p>
            <a:pPr algn="l">
              <a:spcBef>
                <a:spcPct val="50000"/>
              </a:spcBef>
            </a:pPr>
            <a:r>
              <a:rPr lang="en-US" altLang="zh-CN" sz="1600">
                <a:ea typeface="华文新魏" pitchFamily="2" charset="-122"/>
              </a:rPr>
              <a:t>   LDR  SP,=StackUsr</a:t>
            </a:r>
          </a:p>
          <a:p>
            <a:pPr algn="l">
              <a:spcBef>
                <a:spcPct val="50000"/>
              </a:spcBef>
            </a:pPr>
            <a:r>
              <a:rPr lang="en-US" altLang="zh-CN" sz="1600">
                <a:ea typeface="华文新魏" pitchFamily="2" charset="-122"/>
              </a:rPr>
              <a:t>   MOV  PC,R0</a:t>
            </a:r>
          </a:p>
        </p:txBody>
      </p:sp>
      <p:sp>
        <p:nvSpPr>
          <p:cNvPr id="381996" name="Text Box 44"/>
          <p:cNvSpPr txBox="1">
            <a:spLocks noChangeArrowheads="1"/>
          </p:cNvSpPr>
          <p:nvPr/>
        </p:nvSpPr>
        <p:spPr bwMode="auto">
          <a:xfrm>
            <a:off x="2135189" y="3871914"/>
            <a:ext cx="4105275" cy="2462213"/>
          </a:xfrm>
          <a:prstGeom prst="rect">
            <a:avLst/>
          </a:prstGeom>
          <a:noFill/>
          <a:ln w="9525">
            <a:noFill/>
            <a:miter lim="800000"/>
            <a:headEnd/>
            <a:tailEnd/>
          </a:ln>
          <a:effectLst/>
        </p:spPr>
        <p:txBody>
          <a:bodyPr>
            <a:spAutoFit/>
          </a:bodyPr>
          <a:lstStyle/>
          <a:p>
            <a:pPr algn="l">
              <a:spcBef>
                <a:spcPct val="50000"/>
              </a:spcBef>
            </a:pPr>
            <a:r>
              <a:rPr lang="en-US" altLang="zh-CN" sz="2200">
                <a:latin typeface="华文新魏" pitchFamily="2" charset="-122"/>
                <a:ea typeface="华文新魏" pitchFamily="2" charset="-122"/>
              </a:rPr>
              <a:t>        </a:t>
            </a:r>
            <a:r>
              <a:rPr lang="zh-CN" altLang="en-US" sz="2200">
                <a:latin typeface="华文新魏" pitchFamily="2" charset="-122"/>
                <a:ea typeface="华文新魏" pitchFamily="2" charset="-122"/>
              </a:rPr>
              <a:t>在</a:t>
            </a:r>
            <a:r>
              <a:rPr lang="en-US" altLang="zh-CN" sz="2200">
                <a:latin typeface="华文新魏" pitchFamily="2" charset="-122"/>
                <a:ea typeface="华文新魏" pitchFamily="2" charset="-122"/>
              </a:rPr>
              <a:t>LPC2100</a:t>
            </a:r>
            <a:r>
              <a:rPr lang="zh-CN" altLang="en-US" sz="2200">
                <a:latin typeface="华文新魏" pitchFamily="2" charset="-122"/>
                <a:ea typeface="华文新魏" pitchFamily="2" charset="-122"/>
              </a:rPr>
              <a:t>、 </a:t>
            </a:r>
            <a:r>
              <a:rPr lang="en-US" altLang="zh-CN" sz="2200">
                <a:latin typeface="华文新魏" pitchFamily="2" charset="-122"/>
                <a:ea typeface="华文新魏" pitchFamily="2" charset="-122"/>
              </a:rPr>
              <a:t>LPC2200</a:t>
            </a:r>
            <a:r>
              <a:rPr lang="zh-CN" altLang="en-US" sz="2200">
                <a:latin typeface="华文新魏" pitchFamily="2" charset="-122"/>
                <a:ea typeface="华文新魏" pitchFamily="2" charset="-122"/>
              </a:rPr>
              <a:t>的启动代码中默认是关闭</a:t>
            </a:r>
            <a:r>
              <a:rPr lang="en-US" altLang="zh-CN" sz="2200">
                <a:latin typeface="华文新魏" pitchFamily="2" charset="-122"/>
                <a:ea typeface="华文新魏" pitchFamily="2" charset="-122"/>
              </a:rPr>
              <a:t>IRQ</a:t>
            </a:r>
            <a:r>
              <a:rPr lang="zh-CN" altLang="en-US" sz="2200">
                <a:latin typeface="华文新魏" pitchFamily="2" charset="-122"/>
                <a:ea typeface="华文新魏" pitchFamily="2" charset="-122"/>
              </a:rPr>
              <a:t>和</a:t>
            </a:r>
            <a:r>
              <a:rPr lang="en-US" altLang="zh-CN" sz="2200">
                <a:latin typeface="华文新魏" pitchFamily="2" charset="-122"/>
                <a:ea typeface="华文新魏" pitchFamily="2" charset="-122"/>
              </a:rPr>
              <a:t>FIQ</a:t>
            </a:r>
            <a:r>
              <a:rPr lang="zh-CN" altLang="en-US" sz="2200">
                <a:latin typeface="华文新魏" pitchFamily="2" charset="-122"/>
                <a:ea typeface="华文新魏" pitchFamily="2" charset="-122"/>
              </a:rPr>
              <a:t>中断的。如果用户需要使用这两个中断，则要设置</a:t>
            </a:r>
            <a:r>
              <a:rPr lang="en-US" altLang="zh-CN" sz="2200">
                <a:latin typeface="华文新魏" pitchFamily="2" charset="-122"/>
                <a:ea typeface="华文新魏" pitchFamily="2" charset="-122"/>
              </a:rPr>
              <a:t>CPSR</a:t>
            </a:r>
            <a:r>
              <a:rPr lang="zh-CN" altLang="en-US" sz="2200">
                <a:latin typeface="华文新魏" pitchFamily="2" charset="-122"/>
                <a:ea typeface="华文新魏" pitchFamily="2" charset="-122"/>
              </a:rPr>
              <a:t>寄存器的</a:t>
            </a:r>
            <a:r>
              <a:rPr lang="en-US" altLang="zh-CN" sz="2200">
                <a:latin typeface="华文新魏" pitchFamily="2" charset="-122"/>
                <a:ea typeface="华文新魏" pitchFamily="2" charset="-122"/>
              </a:rPr>
              <a:t>I</a:t>
            </a:r>
            <a:r>
              <a:rPr lang="zh-CN" altLang="en-US" sz="2200">
                <a:latin typeface="华文新魏" pitchFamily="2" charset="-122"/>
                <a:ea typeface="华文新魏" pitchFamily="2" charset="-122"/>
              </a:rPr>
              <a:t>位或</a:t>
            </a:r>
            <a:r>
              <a:rPr lang="en-US" altLang="zh-CN" sz="2200">
                <a:latin typeface="华文新魏" pitchFamily="2" charset="-122"/>
                <a:ea typeface="华文新魏" pitchFamily="2" charset="-122"/>
              </a:rPr>
              <a:t>F</a:t>
            </a:r>
            <a:r>
              <a:rPr lang="zh-CN" altLang="en-US" sz="2200">
                <a:latin typeface="华文新魏" pitchFamily="2" charset="-122"/>
                <a:ea typeface="华文新魏" pitchFamily="2" charset="-122"/>
              </a:rPr>
              <a:t>位，这需要在特权模式下处理。最简单的方法是在启动代码中设置（修改</a:t>
            </a:r>
            <a:r>
              <a:rPr lang="en-US" altLang="zh-CN" sz="2200">
                <a:latin typeface="华文新魏" pitchFamily="2" charset="-122"/>
                <a:ea typeface="华文新魏" pitchFamily="2" charset="-122"/>
              </a:rPr>
              <a:t>0xdf</a:t>
            </a:r>
            <a:r>
              <a:rPr lang="zh-CN" altLang="en-US" sz="2200">
                <a:latin typeface="华文新魏" pitchFamily="2" charset="-122"/>
                <a:ea typeface="华文新魏" pitchFamily="2" charset="-122"/>
              </a:rPr>
              <a:t>值）。</a:t>
            </a:r>
          </a:p>
        </p:txBody>
      </p:sp>
      <p:sp>
        <p:nvSpPr>
          <p:cNvPr id="381997" name="Text Box 45"/>
          <p:cNvSpPr txBox="1">
            <a:spLocks noChangeArrowheads="1"/>
          </p:cNvSpPr>
          <p:nvPr/>
        </p:nvSpPr>
        <p:spPr bwMode="auto">
          <a:xfrm>
            <a:off x="6324600" y="4038601"/>
            <a:ext cx="3124200" cy="396875"/>
          </a:xfrm>
          <a:prstGeom prst="rect">
            <a:avLst/>
          </a:prstGeom>
          <a:noFill/>
          <a:ln w="9525">
            <a:noFill/>
            <a:miter lim="800000"/>
            <a:headEnd/>
            <a:tailEnd/>
          </a:ln>
          <a:effectLst/>
        </p:spPr>
        <p:txBody>
          <a:bodyPr>
            <a:spAutoFit/>
          </a:bodyPr>
          <a:lstStyle/>
          <a:p>
            <a:pPr algn="l">
              <a:spcBef>
                <a:spcPct val="50000"/>
              </a:spcBef>
            </a:pPr>
            <a:r>
              <a:rPr lang="zh-CN" altLang="en-US" sz="2000">
                <a:latin typeface="华文新魏" pitchFamily="2" charset="-122"/>
                <a:ea typeface="华文新魏" pitchFamily="2" charset="-122"/>
              </a:rPr>
              <a:t>处理器各模式堆栈设置：</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81994"/>
                                        </p:tgtEl>
                                        <p:attrNameLst>
                                          <p:attrName>style.visibility</p:attrName>
                                        </p:attrNameLst>
                                      </p:cBhvr>
                                      <p:to>
                                        <p:strVal val="visible"/>
                                      </p:to>
                                    </p:set>
                                    <p:anim calcmode="lin" valueType="num">
                                      <p:cBhvr additive="base">
                                        <p:cTn id="7" dur="500" fill="hold"/>
                                        <p:tgtEl>
                                          <p:spTgt spid="381994"/>
                                        </p:tgtEl>
                                        <p:attrNameLst>
                                          <p:attrName>ppt_x</p:attrName>
                                        </p:attrNameLst>
                                      </p:cBhvr>
                                      <p:tavLst>
                                        <p:tav tm="0">
                                          <p:val>
                                            <p:strVal val="1+#ppt_w/2"/>
                                          </p:val>
                                        </p:tav>
                                        <p:tav tm="100000">
                                          <p:val>
                                            <p:strVal val="#ppt_x"/>
                                          </p:val>
                                        </p:tav>
                                      </p:tavLst>
                                    </p:anim>
                                    <p:anim calcmode="lin" valueType="num">
                                      <p:cBhvr additive="base">
                                        <p:cTn id="8" dur="500" fill="hold"/>
                                        <p:tgtEl>
                                          <p:spTgt spid="38199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1" fill="hold" grpId="0" nodeType="afterEffect">
                                  <p:stCondLst>
                                    <p:cond delay="0"/>
                                  </p:stCondLst>
                                  <p:childTnLst>
                                    <p:set>
                                      <p:cBhvr>
                                        <p:cTn id="11" dur="1" fill="hold">
                                          <p:stCondLst>
                                            <p:cond delay="0"/>
                                          </p:stCondLst>
                                        </p:cTn>
                                        <p:tgtEl>
                                          <p:spTgt spid="381992"/>
                                        </p:tgtEl>
                                        <p:attrNameLst>
                                          <p:attrName>style.visibility</p:attrName>
                                        </p:attrNameLst>
                                      </p:cBhvr>
                                      <p:to>
                                        <p:strVal val="visible"/>
                                      </p:to>
                                    </p:set>
                                    <p:animEffect transition="in" filter="slide(fromTop)">
                                      <p:cBhvr>
                                        <p:cTn id="12" dur="500"/>
                                        <p:tgtEl>
                                          <p:spTgt spid="381992"/>
                                        </p:tgtEl>
                                      </p:cBhvr>
                                    </p:animEffect>
                                  </p:childTnLst>
                                </p:cTn>
                              </p:par>
                            </p:childTnLst>
                          </p:cTn>
                        </p:par>
                        <p:par>
                          <p:cTn id="13" fill="hold">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381997"/>
                                        </p:tgtEl>
                                        <p:attrNameLst>
                                          <p:attrName>style.visibility</p:attrName>
                                        </p:attrNameLst>
                                      </p:cBhvr>
                                      <p:to>
                                        <p:strVal val="visible"/>
                                      </p:to>
                                    </p:set>
                                    <p:anim calcmode="lin" valueType="num">
                                      <p:cBhvr additive="base">
                                        <p:cTn id="16" dur="500" fill="hold"/>
                                        <p:tgtEl>
                                          <p:spTgt spid="381997"/>
                                        </p:tgtEl>
                                        <p:attrNameLst>
                                          <p:attrName>ppt_x</p:attrName>
                                        </p:attrNameLst>
                                      </p:cBhvr>
                                      <p:tavLst>
                                        <p:tav tm="0">
                                          <p:val>
                                            <p:strVal val="1+#ppt_w/2"/>
                                          </p:val>
                                        </p:tav>
                                        <p:tav tm="100000">
                                          <p:val>
                                            <p:strVal val="#ppt_x"/>
                                          </p:val>
                                        </p:tav>
                                      </p:tavLst>
                                    </p:anim>
                                    <p:anim calcmode="lin" valueType="num">
                                      <p:cBhvr additive="base">
                                        <p:cTn id="17" dur="500" fill="hold"/>
                                        <p:tgtEl>
                                          <p:spTgt spid="381997"/>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12" presetClass="entr" presetSubtype="1" fill="hold" grpId="0" nodeType="afterEffect">
                                  <p:stCondLst>
                                    <p:cond delay="0"/>
                                  </p:stCondLst>
                                  <p:childTnLst>
                                    <p:set>
                                      <p:cBhvr>
                                        <p:cTn id="20" dur="1" fill="hold">
                                          <p:stCondLst>
                                            <p:cond delay="0"/>
                                          </p:stCondLst>
                                        </p:cTn>
                                        <p:tgtEl>
                                          <p:spTgt spid="381995"/>
                                        </p:tgtEl>
                                        <p:attrNameLst>
                                          <p:attrName>style.visibility</p:attrName>
                                        </p:attrNameLst>
                                      </p:cBhvr>
                                      <p:to>
                                        <p:strVal val="visible"/>
                                      </p:to>
                                    </p:set>
                                    <p:animEffect transition="in" filter="slide(fromTop)">
                                      <p:cBhvr>
                                        <p:cTn id="21" dur="500"/>
                                        <p:tgtEl>
                                          <p:spTgt spid="381995"/>
                                        </p:tgtEl>
                                      </p:cBhvr>
                                    </p:animEffect>
                                  </p:childTnLst>
                                </p:cTn>
                              </p:par>
                            </p:childTnLst>
                          </p:cTn>
                        </p:par>
                        <p:par>
                          <p:cTn id="22" fill="hold">
                            <p:stCondLst>
                              <p:cond delay="2000"/>
                            </p:stCondLst>
                            <p:childTnLst>
                              <p:par>
                                <p:cTn id="23" presetID="2" presetClass="entr" presetSubtype="8" fill="hold" grpId="0" nodeType="afterEffect">
                                  <p:stCondLst>
                                    <p:cond delay="0"/>
                                  </p:stCondLst>
                                  <p:childTnLst>
                                    <p:set>
                                      <p:cBhvr>
                                        <p:cTn id="24" dur="1" fill="hold">
                                          <p:stCondLst>
                                            <p:cond delay="0"/>
                                          </p:stCondLst>
                                        </p:cTn>
                                        <p:tgtEl>
                                          <p:spTgt spid="381993"/>
                                        </p:tgtEl>
                                        <p:attrNameLst>
                                          <p:attrName>style.visibility</p:attrName>
                                        </p:attrNameLst>
                                      </p:cBhvr>
                                      <p:to>
                                        <p:strVal val="visible"/>
                                      </p:to>
                                    </p:set>
                                    <p:anim calcmode="lin" valueType="num">
                                      <p:cBhvr additive="base">
                                        <p:cTn id="25" dur="500" fill="hold"/>
                                        <p:tgtEl>
                                          <p:spTgt spid="381993"/>
                                        </p:tgtEl>
                                        <p:attrNameLst>
                                          <p:attrName>ppt_x</p:attrName>
                                        </p:attrNameLst>
                                      </p:cBhvr>
                                      <p:tavLst>
                                        <p:tav tm="0">
                                          <p:val>
                                            <p:strVal val="0-#ppt_w/2"/>
                                          </p:val>
                                        </p:tav>
                                        <p:tav tm="100000">
                                          <p:val>
                                            <p:strVal val="#ppt_x"/>
                                          </p:val>
                                        </p:tav>
                                      </p:tavLst>
                                    </p:anim>
                                    <p:anim calcmode="lin" valueType="num">
                                      <p:cBhvr additive="base">
                                        <p:cTn id="26" dur="500" fill="hold"/>
                                        <p:tgtEl>
                                          <p:spTgt spid="381993"/>
                                        </p:tgtEl>
                                        <p:attrNameLst>
                                          <p:attrName>ppt_y</p:attrName>
                                        </p:attrNameLst>
                                      </p:cBhvr>
                                      <p:tavLst>
                                        <p:tav tm="0">
                                          <p:val>
                                            <p:strVal val="#ppt_y"/>
                                          </p:val>
                                        </p:tav>
                                        <p:tav tm="100000">
                                          <p:val>
                                            <p:strVal val="#ppt_y"/>
                                          </p:val>
                                        </p:tav>
                                      </p:tavLst>
                                    </p:anim>
                                  </p:childTnLst>
                                </p:cTn>
                              </p:par>
                            </p:childTnLst>
                          </p:cTn>
                        </p:par>
                        <p:par>
                          <p:cTn id="27" fill="hold">
                            <p:stCondLst>
                              <p:cond delay="2500"/>
                            </p:stCondLst>
                            <p:childTnLst>
                              <p:par>
                                <p:cTn id="28" presetID="2" presetClass="entr" presetSubtype="8" fill="hold" grpId="0" nodeType="afterEffect">
                                  <p:stCondLst>
                                    <p:cond delay="0"/>
                                  </p:stCondLst>
                                  <p:childTnLst>
                                    <p:set>
                                      <p:cBhvr>
                                        <p:cTn id="29" dur="1" fill="hold">
                                          <p:stCondLst>
                                            <p:cond delay="0"/>
                                          </p:stCondLst>
                                        </p:cTn>
                                        <p:tgtEl>
                                          <p:spTgt spid="381996"/>
                                        </p:tgtEl>
                                        <p:attrNameLst>
                                          <p:attrName>style.visibility</p:attrName>
                                        </p:attrNameLst>
                                      </p:cBhvr>
                                      <p:to>
                                        <p:strVal val="visible"/>
                                      </p:to>
                                    </p:set>
                                    <p:anim calcmode="lin" valueType="num">
                                      <p:cBhvr additive="base">
                                        <p:cTn id="30" dur="500" fill="hold"/>
                                        <p:tgtEl>
                                          <p:spTgt spid="381996"/>
                                        </p:tgtEl>
                                        <p:attrNameLst>
                                          <p:attrName>ppt_x</p:attrName>
                                        </p:attrNameLst>
                                      </p:cBhvr>
                                      <p:tavLst>
                                        <p:tav tm="0">
                                          <p:val>
                                            <p:strVal val="0-#ppt_w/2"/>
                                          </p:val>
                                        </p:tav>
                                        <p:tav tm="100000">
                                          <p:val>
                                            <p:strVal val="#ppt_x"/>
                                          </p:val>
                                        </p:tav>
                                      </p:tavLst>
                                    </p:anim>
                                    <p:anim calcmode="lin" valueType="num">
                                      <p:cBhvr additive="base">
                                        <p:cTn id="31" dur="500" fill="hold"/>
                                        <p:tgtEl>
                                          <p:spTgt spid="3819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92" grpId="0" animBg="1" autoUpdateAnimBg="0"/>
      <p:bldP spid="381993" grpId="0" autoUpdateAnimBg="0"/>
      <p:bldP spid="381994" grpId="0" autoUpdateAnimBg="0"/>
      <p:bldP spid="381995" grpId="0" animBg="1" autoUpdateAnimBg="0"/>
      <p:bldP spid="381996" grpId="0" autoUpdateAnimBg="0"/>
      <p:bldP spid="381997"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ChangeArrowheads="1"/>
          </p:cNvSpPr>
          <p:nvPr/>
        </p:nvSpPr>
        <p:spPr bwMode="auto">
          <a:xfrm>
            <a:off x="2209800" y="6207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VIC</a:t>
            </a:r>
            <a:r>
              <a:rPr lang="zh-CN" altLang="en-US" sz="3200">
                <a:latin typeface="Times New Roman" pitchFamily="18" charset="0"/>
              </a:rPr>
              <a:t>相关启动代码分析</a:t>
            </a:r>
          </a:p>
        </p:txBody>
      </p:sp>
      <p:sp>
        <p:nvSpPr>
          <p:cNvPr id="382985" name="Rectangle 9"/>
          <p:cNvSpPr>
            <a:spLocks noChangeArrowheads="1"/>
          </p:cNvSpPr>
          <p:nvPr/>
        </p:nvSpPr>
        <p:spPr bwMode="auto">
          <a:xfrm>
            <a:off x="6172200" y="1630363"/>
            <a:ext cx="4038600" cy="46783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a:spAutoFit/>
          </a:bodyPr>
          <a:lstStyle/>
          <a:p>
            <a:pPr algn="l">
              <a:spcBef>
                <a:spcPct val="50000"/>
              </a:spcBef>
            </a:pPr>
            <a:r>
              <a:rPr lang="en-US" altLang="zh-CN" sz="1200">
                <a:ea typeface="华文新魏" pitchFamily="2" charset="-122"/>
              </a:rPr>
              <a:t>        CODE32</a:t>
            </a:r>
          </a:p>
          <a:p>
            <a:pPr algn="l">
              <a:spcBef>
                <a:spcPct val="50000"/>
              </a:spcBef>
            </a:pPr>
            <a:r>
              <a:rPr lang="en-US" altLang="zh-CN" sz="1200">
                <a:ea typeface="华文新魏" pitchFamily="2" charset="-122"/>
              </a:rPr>
              <a:t>        AREA    vectors,CODE,READONLY</a:t>
            </a:r>
          </a:p>
          <a:p>
            <a:pPr algn="l">
              <a:spcBef>
                <a:spcPct val="50000"/>
              </a:spcBef>
            </a:pPr>
            <a:r>
              <a:rPr lang="en-US" altLang="zh-CN" sz="1200">
                <a:ea typeface="华文新魏" pitchFamily="2" charset="-122"/>
              </a:rPr>
              <a:t>        ENTRY</a:t>
            </a:r>
          </a:p>
          <a:p>
            <a:pPr algn="l">
              <a:spcBef>
                <a:spcPct val="50000"/>
              </a:spcBef>
            </a:pPr>
            <a:r>
              <a:rPr lang="en-US" altLang="zh-CN" sz="1200">
                <a:ea typeface="华文新魏" pitchFamily="2" charset="-122"/>
              </a:rPr>
              <a:t>Reset</a:t>
            </a:r>
          </a:p>
          <a:p>
            <a:pPr algn="l">
              <a:spcBef>
                <a:spcPct val="50000"/>
              </a:spcBef>
            </a:pPr>
            <a:r>
              <a:rPr lang="en-US" altLang="zh-CN" sz="1200">
                <a:ea typeface="华文新魏" pitchFamily="2" charset="-122"/>
              </a:rPr>
              <a:t>        LDR     PC, ResetAddr</a:t>
            </a:r>
          </a:p>
          <a:p>
            <a:pPr algn="l">
              <a:spcBef>
                <a:spcPct val="50000"/>
              </a:spcBef>
            </a:pPr>
            <a:r>
              <a:rPr lang="en-US" altLang="zh-CN" sz="1200">
                <a:ea typeface="华文新魏" pitchFamily="2" charset="-122"/>
              </a:rPr>
              <a:t>        LDR     PC, UndefinedAddr</a:t>
            </a:r>
          </a:p>
          <a:p>
            <a:pPr algn="l">
              <a:spcBef>
                <a:spcPct val="50000"/>
              </a:spcBef>
            </a:pPr>
            <a:r>
              <a:rPr lang="en-US" altLang="zh-CN" sz="1200">
                <a:ea typeface="华文新魏" pitchFamily="2" charset="-122"/>
              </a:rPr>
              <a:t>        . . .</a:t>
            </a:r>
          </a:p>
          <a:p>
            <a:pPr algn="l">
              <a:spcBef>
                <a:spcPct val="50000"/>
              </a:spcBef>
            </a:pPr>
            <a:r>
              <a:rPr lang="en-US" altLang="zh-CN" sz="1200">
                <a:ea typeface="华文新魏" pitchFamily="2" charset="-122"/>
              </a:rPr>
              <a:t>        DCD     0xb9205f80</a:t>
            </a:r>
          </a:p>
          <a:p>
            <a:pPr algn="l">
              <a:spcBef>
                <a:spcPct val="50000"/>
              </a:spcBef>
            </a:pPr>
            <a:r>
              <a:rPr lang="en-US" altLang="zh-CN" sz="1200">
                <a:ea typeface="华文新魏" pitchFamily="2" charset="-122"/>
              </a:rPr>
              <a:t>        LDR     PC, [PC, #-0xff0]</a:t>
            </a:r>
          </a:p>
          <a:p>
            <a:pPr algn="l">
              <a:spcBef>
                <a:spcPct val="50000"/>
              </a:spcBef>
            </a:pPr>
            <a:r>
              <a:rPr lang="en-US" altLang="zh-CN" sz="1200">
                <a:ea typeface="华文新魏" pitchFamily="2" charset="-122"/>
              </a:rPr>
              <a:t>        LDR     PC, FIQ_Addr</a:t>
            </a:r>
          </a:p>
          <a:p>
            <a:pPr algn="l">
              <a:spcBef>
                <a:spcPct val="50000"/>
              </a:spcBef>
            </a:pPr>
            <a:endParaRPr lang="en-US" altLang="zh-CN" sz="1200">
              <a:ea typeface="华文新魏" pitchFamily="2" charset="-122"/>
            </a:endParaRPr>
          </a:p>
          <a:p>
            <a:pPr algn="l">
              <a:spcBef>
                <a:spcPct val="50000"/>
              </a:spcBef>
            </a:pPr>
            <a:r>
              <a:rPr lang="en-US" altLang="zh-CN" sz="1200">
                <a:ea typeface="华文新魏" pitchFamily="2" charset="-122"/>
              </a:rPr>
              <a:t>ResetAddr           DCD      ResetInit</a:t>
            </a:r>
          </a:p>
          <a:p>
            <a:pPr algn="l">
              <a:spcBef>
                <a:spcPct val="50000"/>
              </a:spcBef>
            </a:pPr>
            <a:r>
              <a:rPr lang="en-US" altLang="zh-CN" sz="1200">
                <a:ea typeface="华文新魏" pitchFamily="2" charset="-122"/>
              </a:rPr>
              <a:t>UndefinedAddr       DCD      Undefined</a:t>
            </a:r>
          </a:p>
          <a:p>
            <a:pPr algn="l">
              <a:spcBef>
                <a:spcPct val="50000"/>
              </a:spcBef>
            </a:pPr>
            <a:r>
              <a:rPr lang="en-US" altLang="zh-CN" sz="1200">
                <a:ea typeface="华文新魏" pitchFamily="2" charset="-122"/>
              </a:rPr>
              <a:t>. . .</a:t>
            </a:r>
          </a:p>
          <a:p>
            <a:pPr algn="l">
              <a:spcBef>
                <a:spcPct val="50000"/>
              </a:spcBef>
            </a:pPr>
            <a:r>
              <a:rPr lang="en-US" altLang="zh-CN" sz="1200">
                <a:ea typeface="华文新魏" pitchFamily="2" charset="-122"/>
              </a:rPr>
              <a:t>Nouse               DCD     0</a:t>
            </a:r>
          </a:p>
          <a:p>
            <a:pPr algn="l">
              <a:spcBef>
                <a:spcPct val="50000"/>
              </a:spcBef>
            </a:pPr>
            <a:r>
              <a:rPr lang="en-US" altLang="zh-CN" sz="1200">
                <a:ea typeface="华文新魏" pitchFamily="2" charset="-122"/>
              </a:rPr>
              <a:t>IRQ_Addr            DCD     0</a:t>
            </a:r>
          </a:p>
          <a:p>
            <a:pPr algn="l">
              <a:spcBef>
                <a:spcPct val="50000"/>
              </a:spcBef>
            </a:pPr>
            <a:r>
              <a:rPr lang="en-US" altLang="zh-CN" sz="1200">
                <a:ea typeface="华文新魏" pitchFamily="2" charset="-122"/>
              </a:rPr>
              <a:t>FIQ_Addr            DCD      FIQ_Handler</a:t>
            </a:r>
          </a:p>
        </p:txBody>
      </p:sp>
      <p:sp>
        <p:nvSpPr>
          <p:cNvPr id="382986" name="Text Box 10"/>
          <p:cNvSpPr txBox="1">
            <a:spLocks noChangeArrowheads="1"/>
          </p:cNvSpPr>
          <p:nvPr/>
        </p:nvSpPr>
        <p:spPr bwMode="auto">
          <a:xfrm>
            <a:off x="6172200" y="1173164"/>
            <a:ext cx="2590800" cy="396875"/>
          </a:xfrm>
          <a:prstGeom prst="rect">
            <a:avLst/>
          </a:prstGeom>
          <a:noFill/>
          <a:ln w="9525">
            <a:noFill/>
            <a:miter lim="800000"/>
            <a:headEnd/>
            <a:tailEnd/>
          </a:ln>
          <a:effectLst/>
        </p:spPr>
        <p:txBody>
          <a:bodyPr>
            <a:spAutoFit/>
          </a:bodyPr>
          <a:lstStyle/>
          <a:p>
            <a:pPr algn="l">
              <a:spcBef>
                <a:spcPct val="50000"/>
              </a:spcBef>
            </a:pPr>
            <a:r>
              <a:rPr lang="zh-CN" altLang="en-US" sz="2000">
                <a:latin typeface="Times New Roman" pitchFamily="18" charset="0"/>
                <a:ea typeface="华文新魏" pitchFamily="2" charset="-122"/>
              </a:rPr>
              <a:t>异常向量表：</a:t>
            </a:r>
          </a:p>
        </p:txBody>
      </p:sp>
      <p:sp>
        <p:nvSpPr>
          <p:cNvPr id="382987" name="Text Box 11"/>
          <p:cNvSpPr txBox="1">
            <a:spLocks noChangeArrowheads="1"/>
          </p:cNvSpPr>
          <p:nvPr/>
        </p:nvSpPr>
        <p:spPr bwMode="auto">
          <a:xfrm>
            <a:off x="2209800" y="1516063"/>
            <a:ext cx="3810000" cy="1569660"/>
          </a:xfrm>
          <a:prstGeom prst="rect">
            <a:avLst/>
          </a:prstGeom>
          <a:noFill/>
          <a:ln w="9525">
            <a:noFill/>
            <a:miter lim="800000"/>
            <a:headEnd/>
            <a:tailEnd/>
          </a:ln>
          <a:effectLst/>
        </p:spPr>
        <p:txBody>
          <a:bodyPr>
            <a:spAutoFit/>
          </a:bodyPr>
          <a:lstStyle/>
          <a:p>
            <a:pPr algn="l">
              <a:spcBef>
                <a:spcPct val="50000"/>
              </a:spcBef>
              <a:buClr>
                <a:srgbClr val="0000FF"/>
              </a:buClr>
              <a:buFont typeface="Wingdings" pitchFamily="2" charset="2"/>
              <a:buChar char="§"/>
            </a:pPr>
            <a:r>
              <a:rPr lang="zh-CN" altLang="en-US" sz="2400">
                <a:latin typeface="华文新魏" pitchFamily="2" charset="-122"/>
                <a:ea typeface="华文新魏" pitchFamily="2" charset="-122"/>
              </a:rPr>
              <a:t>一旦产生</a:t>
            </a:r>
            <a:r>
              <a:rPr lang="en-US" altLang="zh-CN" sz="2400">
                <a:latin typeface="华文新魏" pitchFamily="2" charset="-122"/>
                <a:ea typeface="华文新魏" pitchFamily="2" charset="-122"/>
              </a:rPr>
              <a:t>IRQ</a:t>
            </a:r>
            <a:r>
              <a:rPr lang="zh-CN" altLang="en-US" sz="2400">
                <a:latin typeface="华文新魏" pitchFamily="2" charset="-122"/>
                <a:ea typeface="华文新魏" pitchFamily="2" charset="-122"/>
              </a:rPr>
              <a:t>中断，微控制器切换到</a:t>
            </a:r>
            <a:r>
              <a:rPr lang="en-US" altLang="zh-CN" sz="2400">
                <a:latin typeface="华文新魏" pitchFamily="2" charset="-122"/>
                <a:ea typeface="华文新魏" pitchFamily="2" charset="-122"/>
              </a:rPr>
              <a:t>IRQ</a:t>
            </a:r>
            <a:r>
              <a:rPr lang="zh-CN" altLang="en-US" sz="2400">
                <a:latin typeface="华文新魏" pitchFamily="2" charset="-122"/>
                <a:ea typeface="华文新魏" pitchFamily="2" charset="-122"/>
              </a:rPr>
              <a:t>模式，并跳转到向量表</a:t>
            </a:r>
            <a:r>
              <a:rPr lang="en-US" altLang="zh-CN" sz="2400">
                <a:latin typeface="华文新魏" pitchFamily="2" charset="-122"/>
                <a:ea typeface="华文新魏" pitchFamily="2" charset="-122"/>
              </a:rPr>
              <a:t>0x0018</a:t>
            </a:r>
            <a:r>
              <a:rPr lang="zh-CN" altLang="en-US" sz="2400">
                <a:latin typeface="华文新魏" pitchFamily="2" charset="-122"/>
                <a:ea typeface="华文新魏" pitchFamily="2" charset="-122"/>
              </a:rPr>
              <a:t>地址执行指令。</a:t>
            </a:r>
          </a:p>
        </p:txBody>
      </p:sp>
      <p:sp>
        <p:nvSpPr>
          <p:cNvPr id="382988" name="Text Box 12"/>
          <p:cNvSpPr txBox="1">
            <a:spLocks noChangeArrowheads="1"/>
          </p:cNvSpPr>
          <p:nvPr/>
        </p:nvSpPr>
        <p:spPr bwMode="auto">
          <a:xfrm>
            <a:off x="2209800" y="3382963"/>
            <a:ext cx="3810000" cy="1938992"/>
          </a:xfrm>
          <a:prstGeom prst="rect">
            <a:avLst/>
          </a:prstGeom>
          <a:noFill/>
          <a:ln w="9525">
            <a:noFill/>
            <a:miter lim="800000"/>
            <a:headEnd/>
            <a:tailEnd/>
          </a:ln>
          <a:effectLst/>
        </p:spPr>
        <p:txBody>
          <a:bodyPr>
            <a:spAutoFit/>
          </a:bodyPr>
          <a:lstStyle/>
          <a:p>
            <a:pPr algn="l">
              <a:spcBef>
                <a:spcPct val="50000"/>
              </a:spcBef>
              <a:buClr>
                <a:srgbClr val="0000FF"/>
              </a:buClr>
              <a:buFont typeface="Wingdings" pitchFamily="2" charset="2"/>
              <a:buChar char="§"/>
            </a:pPr>
            <a:r>
              <a:rPr lang="zh-CN" altLang="en-US" sz="2400">
                <a:latin typeface="华文新魏" pitchFamily="2" charset="-122"/>
                <a:ea typeface="华文新魏" pitchFamily="2" charset="-122"/>
              </a:rPr>
              <a:t>一旦产生</a:t>
            </a:r>
            <a:r>
              <a:rPr lang="en-US" altLang="zh-CN" sz="2400">
                <a:latin typeface="华文新魏" pitchFamily="2" charset="-122"/>
                <a:ea typeface="华文新魏" pitchFamily="2" charset="-122"/>
              </a:rPr>
              <a:t>FIQ</a:t>
            </a:r>
            <a:r>
              <a:rPr lang="zh-CN" altLang="en-US" sz="2400">
                <a:latin typeface="华文新魏" pitchFamily="2" charset="-122"/>
                <a:ea typeface="华文新魏" pitchFamily="2" charset="-122"/>
              </a:rPr>
              <a:t>中断，微控制器切换到</a:t>
            </a:r>
            <a:r>
              <a:rPr lang="en-US" altLang="zh-CN" sz="2400">
                <a:latin typeface="华文新魏" pitchFamily="2" charset="-122"/>
                <a:ea typeface="华文新魏" pitchFamily="2" charset="-122"/>
              </a:rPr>
              <a:t>FIQ</a:t>
            </a:r>
            <a:r>
              <a:rPr lang="zh-CN" altLang="en-US" sz="2400">
                <a:latin typeface="华文新魏" pitchFamily="2" charset="-122"/>
                <a:ea typeface="华文新魏" pitchFamily="2" charset="-122"/>
              </a:rPr>
              <a:t>模式，并跳转到向量表</a:t>
            </a:r>
            <a:r>
              <a:rPr lang="en-US" altLang="zh-CN" sz="2400">
                <a:latin typeface="华文新魏" pitchFamily="2" charset="-122"/>
                <a:ea typeface="华文新魏" pitchFamily="2" charset="-122"/>
              </a:rPr>
              <a:t>0x001C</a:t>
            </a:r>
            <a:r>
              <a:rPr lang="zh-CN" altLang="en-US" sz="2400">
                <a:latin typeface="华文新魏" pitchFamily="2" charset="-122"/>
                <a:ea typeface="华文新魏" pitchFamily="2" charset="-122"/>
              </a:rPr>
              <a:t>地址执行指令，然后跳转到</a:t>
            </a:r>
            <a:r>
              <a:rPr lang="en-US" altLang="zh-CN" sz="2400">
                <a:latin typeface="华文新魏" pitchFamily="2" charset="-122"/>
                <a:ea typeface="华文新魏" pitchFamily="2" charset="-122"/>
              </a:rPr>
              <a:t>FIQ_Handler</a:t>
            </a:r>
            <a:r>
              <a:rPr lang="zh-CN" altLang="en-US" sz="2400">
                <a:latin typeface="华文新魏" pitchFamily="2" charset="-122"/>
                <a:ea typeface="华文新魏" pitchFamily="2" charset="-122"/>
              </a:rPr>
              <a:t>代码段。</a:t>
            </a:r>
          </a:p>
        </p:txBody>
      </p:sp>
      <p:sp>
        <p:nvSpPr>
          <p:cNvPr id="382989" name="AutoShape 13"/>
          <p:cNvSpPr>
            <a:spLocks noChangeArrowheads="1"/>
          </p:cNvSpPr>
          <p:nvPr/>
        </p:nvSpPr>
        <p:spPr bwMode="auto">
          <a:xfrm>
            <a:off x="6934200" y="3840163"/>
            <a:ext cx="2438400" cy="228600"/>
          </a:xfrm>
          <a:prstGeom prst="roundRect">
            <a:avLst>
              <a:gd name="adj" fmla="val 16667"/>
            </a:avLst>
          </a:prstGeom>
          <a:noFill/>
          <a:ln w="19050">
            <a:solidFill>
              <a:srgbClr val="0000FF"/>
            </a:solidFill>
            <a:round/>
            <a:headEnd/>
            <a:tailEnd/>
          </a:ln>
          <a:effectLst/>
        </p:spPr>
        <p:txBody>
          <a:bodyPr wrap="none" anchor="ctr"/>
          <a:lstStyle/>
          <a:p>
            <a:endParaRPr lang="zh-CN" altLang="en-US"/>
          </a:p>
        </p:txBody>
      </p:sp>
      <p:sp>
        <p:nvSpPr>
          <p:cNvPr id="382990" name="AutoShape 14"/>
          <p:cNvSpPr>
            <a:spLocks noChangeArrowheads="1"/>
          </p:cNvSpPr>
          <p:nvPr/>
        </p:nvSpPr>
        <p:spPr bwMode="auto">
          <a:xfrm>
            <a:off x="6934200" y="4114800"/>
            <a:ext cx="2438400" cy="228600"/>
          </a:xfrm>
          <a:prstGeom prst="roundRect">
            <a:avLst>
              <a:gd name="adj" fmla="val 16667"/>
            </a:avLst>
          </a:prstGeom>
          <a:noFill/>
          <a:ln w="19050">
            <a:solidFill>
              <a:srgbClr val="FF0000"/>
            </a:solidFill>
            <a:round/>
            <a:headEnd/>
            <a:tailEnd/>
          </a:ln>
          <a:effectLst/>
        </p:spPr>
        <p:txBody>
          <a:bodyPr wrap="none" anchor="ctr"/>
          <a:lstStyle/>
          <a:p>
            <a:endParaRPr lang="zh-CN" altLang="en-US"/>
          </a:p>
        </p:txBody>
      </p:sp>
      <p:sp>
        <p:nvSpPr>
          <p:cNvPr id="382991" name="AutoShape 15"/>
          <p:cNvSpPr>
            <a:spLocks noChangeArrowheads="1"/>
          </p:cNvSpPr>
          <p:nvPr/>
        </p:nvSpPr>
        <p:spPr bwMode="auto">
          <a:xfrm>
            <a:off x="7979508" y="6037141"/>
            <a:ext cx="1219200" cy="228600"/>
          </a:xfrm>
          <a:prstGeom prst="roundRect">
            <a:avLst>
              <a:gd name="adj" fmla="val 16667"/>
            </a:avLst>
          </a:prstGeom>
          <a:noFill/>
          <a:ln w="19050">
            <a:solidFill>
              <a:srgbClr val="FF0000"/>
            </a:solidFill>
            <a:round/>
            <a:headEnd/>
            <a:tailEnd/>
          </a:ln>
          <a:effectLst/>
        </p:spPr>
        <p:txBody>
          <a:bodyPr wrap="none" anchor="ctr"/>
          <a:lstStyle/>
          <a:p>
            <a:endParaRPr lang="zh-CN" altLang="en-US"/>
          </a:p>
        </p:txBody>
      </p:sp>
      <p:sp>
        <p:nvSpPr>
          <p:cNvPr id="382992" name="Freeform 16"/>
          <p:cNvSpPr>
            <a:spLocks/>
          </p:cNvSpPr>
          <p:nvPr/>
        </p:nvSpPr>
        <p:spPr bwMode="auto">
          <a:xfrm>
            <a:off x="7924800" y="4297363"/>
            <a:ext cx="1676400" cy="1676400"/>
          </a:xfrm>
          <a:custGeom>
            <a:avLst/>
            <a:gdLst/>
            <a:ahLst/>
            <a:cxnLst>
              <a:cxn ang="0">
                <a:pos x="864" y="1056"/>
              </a:cxn>
              <a:cxn ang="0">
                <a:pos x="912" y="672"/>
              </a:cxn>
              <a:cxn ang="0">
                <a:pos x="0" y="0"/>
              </a:cxn>
            </a:cxnLst>
            <a:rect l="0" t="0" r="r" b="b"/>
            <a:pathLst>
              <a:path w="1056" h="1056">
                <a:moveTo>
                  <a:pt x="864" y="1056"/>
                </a:moveTo>
                <a:cubicBezTo>
                  <a:pt x="960" y="952"/>
                  <a:pt x="1056" y="848"/>
                  <a:pt x="912" y="672"/>
                </a:cubicBezTo>
                <a:cubicBezTo>
                  <a:pt x="768" y="496"/>
                  <a:pt x="384" y="248"/>
                  <a:pt x="0" y="0"/>
                </a:cubicBezTo>
              </a:path>
            </a:pathLst>
          </a:custGeom>
          <a:noFill/>
          <a:ln w="19050" cap="flat" cmpd="sng">
            <a:solidFill>
              <a:srgbClr val="FF0000"/>
            </a:solidFill>
            <a:prstDash val="solid"/>
            <a:round/>
            <a:headEnd/>
            <a:tailEnd type="triangle" w="med" len="med"/>
          </a:ln>
          <a:effectLst/>
        </p:spPr>
        <p:txBody>
          <a:bodyPr wrap="none" anchor="ctr"/>
          <a:lstStyle/>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82986"/>
                                        </p:tgtEl>
                                        <p:attrNameLst>
                                          <p:attrName>style.visibility</p:attrName>
                                        </p:attrNameLst>
                                      </p:cBhvr>
                                      <p:to>
                                        <p:strVal val="visible"/>
                                      </p:to>
                                    </p:set>
                                    <p:anim calcmode="lin" valueType="num">
                                      <p:cBhvr additive="base">
                                        <p:cTn id="7" dur="500" fill="hold"/>
                                        <p:tgtEl>
                                          <p:spTgt spid="382986"/>
                                        </p:tgtEl>
                                        <p:attrNameLst>
                                          <p:attrName>ppt_x</p:attrName>
                                        </p:attrNameLst>
                                      </p:cBhvr>
                                      <p:tavLst>
                                        <p:tav tm="0">
                                          <p:val>
                                            <p:strVal val="1+#ppt_w/2"/>
                                          </p:val>
                                        </p:tav>
                                        <p:tav tm="100000">
                                          <p:val>
                                            <p:strVal val="#ppt_x"/>
                                          </p:val>
                                        </p:tav>
                                      </p:tavLst>
                                    </p:anim>
                                    <p:anim calcmode="lin" valueType="num">
                                      <p:cBhvr additive="base">
                                        <p:cTn id="8" dur="500" fill="hold"/>
                                        <p:tgtEl>
                                          <p:spTgt spid="38298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1" fill="hold" grpId="0" nodeType="afterEffect">
                                  <p:stCondLst>
                                    <p:cond delay="0"/>
                                  </p:stCondLst>
                                  <p:childTnLst>
                                    <p:set>
                                      <p:cBhvr>
                                        <p:cTn id="11" dur="1" fill="hold">
                                          <p:stCondLst>
                                            <p:cond delay="0"/>
                                          </p:stCondLst>
                                        </p:cTn>
                                        <p:tgtEl>
                                          <p:spTgt spid="382985"/>
                                        </p:tgtEl>
                                        <p:attrNameLst>
                                          <p:attrName>style.visibility</p:attrName>
                                        </p:attrNameLst>
                                      </p:cBhvr>
                                      <p:to>
                                        <p:strVal val="visible"/>
                                      </p:to>
                                    </p:set>
                                    <p:animEffect transition="in" filter="slide(fromTop)">
                                      <p:cBhvr>
                                        <p:cTn id="12" dur="500"/>
                                        <p:tgtEl>
                                          <p:spTgt spid="382985"/>
                                        </p:tgtEl>
                                      </p:cBhvr>
                                    </p:animEffect>
                                  </p:childTnLst>
                                </p:cTn>
                              </p:par>
                            </p:childTnLst>
                          </p:cTn>
                        </p:par>
                        <p:par>
                          <p:cTn id="13" fill="hold">
                            <p:stCondLst>
                              <p:cond delay="1000"/>
                            </p:stCondLst>
                            <p:childTnLst>
                              <p:par>
                                <p:cTn id="14" presetID="2" presetClass="entr" presetSubtype="8" fill="hold" grpId="0" nodeType="afterEffect">
                                  <p:stCondLst>
                                    <p:cond delay="1000"/>
                                  </p:stCondLst>
                                  <p:childTnLst>
                                    <p:set>
                                      <p:cBhvr>
                                        <p:cTn id="15" dur="1" fill="hold">
                                          <p:stCondLst>
                                            <p:cond delay="0"/>
                                          </p:stCondLst>
                                        </p:cTn>
                                        <p:tgtEl>
                                          <p:spTgt spid="382987"/>
                                        </p:tgtEl>
                                        <p:attrNameLst>
                                          <p:attrName>style.visibility</p:attrName>
                                        </p:attrNameLst>
                                      </p:cBhvr>
                                      <p:to>
                                        <p:strVal val="visible"/>
                                      </p:to>
                                    </p:set>
                                    <p:anim calcmode="lin" valueType="num">
                                      <p:cBhvr additive="base">
                                        <p:cTn id="16" dur="500" fill="hold"/>
                                        <p:tgtEl>
                                          <p:spTgt spid="382987"/>
                                        </p:tgtEl>
                                        <p:attrNameLst>
                                          <p:attrName>ppt_x</p:attrName>
                                        </p:attrNameLst>
                                      </p:cBhvr>
                                      <p:tavLst>
                                        <p:tav tm="0">
                                          <p:val>
                                            <p:strVal val="0-#ppt_w/2"/>
                                          </p:val>
                                        </p:tav>
                                        <p:tav tm="100000">
                                          <p:val>
                                            <p:strVal val="#ppt_x"/>
                                          </p:val>
                                        </p:tav>
                                      </p:tavLst>
                                    </p:anim>
                                    <p:anim calcmode="lin" valueType="num">
                                      <p:cBhvr additive="base">
                                        <p:cTn id="17" dur="500" fill="hold"/>
                                        <p:tgtEl>
                                          <p:spTgt spid="382987"/>
                                        </p:tgtEl>
                                        <p:attrNameLst>
                                          <p:attrName>ppt_y</p:attrName>
                                        </p:attrNameLst>
                                      </p:cBhvr>
                                      <p:tavLst>
                                        <p:tav tm="0">
                                          <p:val>
                                            <p:strVal val="#ppt_y"/>
                                          </p:val>
                                        </p:tav>
                                        <p:tav tm="100000">
                                          <p:val>
                                            <p:strVal val="#ppt_y"/>
                                          </p:val>
                                        </p:tav>
                                      </p:tavLst>
                                    </p:anim>
                                  </p:childTnLst>
                                </p:cTn>
                              </p:par>
                            </p:childTnLst>
                          </p:cTn>
                        </p:par>
                        <p:par>
                          <p:cTn id="18" fill="hold">
                            <p:stCondLst>
                              <p:cond delay="2500"/>
                            </p:stCondLst>
                            <p:childTnLst>
                              <p:par>
                                <p:cTn id="19" presetID="1" presetClass="entr" presetSubtype="0" fill="hold" grpId="0" nodeType="afterEffect">
                                  <p:stCondLst>
                                    <p:cond delay="0"/>
                                  </p:stCondLst>
                                  <p:childTnLst>
                                    <p:set>
                                      <p:cBhvr>
                                        <p:cTn id="20" dur="1" fill="hold">
                                          <p:stCondLst>
                                            <p:cond delay="499"/>
                                          </p:stCondLst>
                                        </p:cTn>
                                        <p:tgtEl>
                                          <p:spTgt spid="38298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82988"/>
                                        </p:tgtEl>
                                        <p:attrNameLst>
                                          <p:attrName>style.visibility</p:attrName>
                                        </p:attrNameLst>
                                      </p:cBhvr>
                                      <p:to>
                                        <p:strVal val="visible"/>
                                      </p:to>
                                    </p:set>
                                    <p:anim calcmode="lin" valueType="num">
                                      <p:cBhvr additive="base">
                                        <p:cTn id="25" dur="500" fill="hold"/>
                                        <p:tgtEl>
                                          <p:spTgt spid="382988"/>
                                        </p:tgtEl>
                                        <p:attrNameLst>
                                          <p:attrName>ppt_x</p:attrName>
                                        </p:attrNameLst>
                                      </p:cBhvr>
                                      <p:tavLst>
                                        <p:tav tm="0">
                                          <p:val>
                                            <p:strVal val="0-#ppt_w/2"/>
                                          </p:val>
                                        </p:tav>
                                        <p:tav tm="100000">
                                          <p:val>
                                            <p:strVal val="#ppt_x"/>
                                          </p:val>
                                        </p:tav>
                                      </p:tavLst>
                                    </p:anim>
                                    <p:anim calcmode="lin" valueType="num">
                                      <p:cBhvr additive="base">
                                        <p:cTn id="26" dur="500" fill="hold"/>
                                        <p:tgtEl>
                                          <p:spTgt spid="382988"/>
                                        </p:tgtEl>
                                        <p:attrNameLst>
                                          <p:attrName>ppt_y</p:attrName>
                                        </p:attrNameLst>
                                      </p:cBhvr>
                                      <p:tavLst>
                                        <p:tav tm="0">
                                          <p:val>
                                            <p:strVal val="#ppt_y"/>
                                          </p:val>
                                        </p:tav>
                                        <p:tav tm="100000">
                                          <p:val>
                                            <p:strVal val="#ppt_y"/>
                                          </p:val>
                                        </p:tav>
                                      </p:tavLst>
                                    </p:anim>
                                  </p:childTnLst>
                                </p:cTn>
                              </p:par>
                            </p:childTnLst>
                          </p:cTn>
                        </p:par>
                        <p:par>
                          <p:cTn id="27" fill="hold">
                            <p:stCondLst>
                              <p:cond delay="500"/>
                            </p:stCondLst>
                            <p:childTnLst>
                              <p:par>
                                <p:cTn id="28" presetID="1" presetClass="entr" presetSubtype="0" fill="hold" grpId="0" nodeType="afterEffect">
                                  <p:stCondLst>
                                    <p:cond delay="0"/>
                                  </p:stCondLst>
                                  <p:childTnLst>
                                    <p:set>
                                      <p:cBhvr>
                                        <p:cTn id="29" dur="1" fill="hold">
                                          <p:stCondLst>
                                            <p:cond delay="499"/>
                                          </p:stCondLst>
                                        </p:cTn>
                                        <p:tgtEl>
                                          <p:spTgt spid="382990"/>
                                        </p:tgtEl>
                                        <p:attrNameLst>
                                          <p:attrName>style.visibility</p:attrName>
                                        </p:attrNameLst>
                                      </p:cBhvr>
                                      <p:to>
                                        <p:strVal val="visible"/>
                                      </p:to>
                                    </p:set>
                                  </p:childTnLst>
                                </p:cTn>
                              </p:par>
                            </p:childTnLst>
                          </p:cTn>
                        </p:par>
                        <p:par>
                          <p:cTn id="30" fill="hold">
                            <p:stCondLst>
                              <p:cond delay="1000"/>
                            </p:stCondLst>
                            <p:childTnLst>
                              <p:par>
                                <p:cTn id="31" presetID="1" presetClass="entr" presetSubtype="0" fill="hold" grpId="0" nodeType="afterEffect">
                                  <p:stCondLst>
                                    <p:cond delay="0"/>
                                  </p:stCondLst>
                                  <p:childTnLst>
                                    <p:set>
                                      <p:cBhvr>
                                        <p:cTn id="32" dur="1" fill="hold">
                                          <p:stCondLst>
                                            <p:cond delay="499"/>
                                          </p:stCondLst>
                                        </p:cTn>
                                        <p:tgtEl>
                                          <p:spTgt spid="382991"/>
                                        </p:tgtEl>
                                        <p:attrNameLst>
                                          <p:attrName>style.visibility</p:attrName>
                                        </p:attrNameLst>
                                      </p:cBhvr>
                                      <p:to>
                                        <p:strVal val="visible"/>
                                      </p:to>
                                    </p:set>
                                  </p:childTnLst>
                                </p:cTn>
                              </p:par>
                            </p:childTnLst>
                          </p:cTn>
                        </p:par>
                        <p:par>
                          <p:cTn id="33" fill="hold">
                            <p:stCondLst>
                              <p:cond delay="1500"/>
                            </p:stCondLst>
                            <p:childTnLst>
                              <p:par>
                                <p:cTn id="34" presetID="22" presetClass="entr" presetSubtype="4" fill="hold" grpId="0" nodeType="afterEffect">
                                  <p:stCondLst>
                                    <p:cond delay="0"/>
                                  </p:stCondLst>
                                  <p:childTnLst>
                                    <p:set>
                                      <p:cBhvr>
                                        <p:cTn id="35" dur="1" fill="hold">
                                          <p:stCondLst>
                                            <p:cond delay="0"/>
                                          </p:stCondLst>
                                        </p:cTn>
                                        <p:tgtEl>
                                          <p:spTgt spid="382992"/>
                                        </p:tgtEl>
                                        <p:attrNameLst>
                                          <p:attrName>style.visibility</p:attrName>
                                        </p:attrNameLst>
                                      </p:cBhvr>
                                      <p:to>
                                        <p:strVal val="visible"/>
                                      </p:to>
                                    </p:set>
                                    <p:animEffect transition="in" filter="wipe(down)">
                                      <p:cBhvr>
                                        <p:cTn id="36" dur="500"/>
                                        <p:tgtEl>
                                          <p:spTgt spid="3829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85" grpId="0" animBg="1" autoUpdateAnimBg="0"/>
      <p:bldP spid="382986" grpId="0" autoUpdateAnimBg="0"/>
      <p:bldP spid="382987" grpId="0" autoUpdateAnimBg="0"/>
      <p:bldP spid="382988" grpId="0" autoUpdateAnimBg="0"/>
      <p:bldP spid="382989" grpId="0" animBg="1"/>
      <p:bldP spid="382990" grpId="0" animBg="1"/>
      <p:bldP spid="382991" grpId="0" animBg="1"/>
      <p:bldP spid="38299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p:cNvSpPr>
            <a:spLocks noGrp="1" noChangeArrowheads="1"/>
          </p:cNvSpPr>
          <p:nvPr>
            <p:ph type="title"/>
          </p:nvPr>
        </p:nvSpPr>
        <p:spPr/>
        <p:txBody>
          <a:bodyPr/>
          <a:lstStyle/>
          <a:p>
            <a:r>
              <a:rPr lang="en-US" altLang="zh-CN" dirty="0"/>
              <a:t>5.3.5  </a:t>
            </a:r>
            <a:r>
              <a:rPr lang="zh-CN" altLang="en-US" dirty="0"/>
              <a:t>外部中断输入</a:t>
            </a:r>
          </a:p>
        </p:txBody>
      </p:sp>
      <p:sp>
        <p:nvSpPr>
          <p:cNvPr id="560131" name="Rectangle 3"/>
          <p:cNvSpPr>
            <a:spLocks noChangeArrowheads="1"/>
          </p:cNvSpPr>
          <p:nvPr/>
        </p:nvSpPr>
        <p:spPr bwMode="auto">
          <a:xfrm>
            <a:off x="2209800" y="1700213"/>
            <a:ext cx="7702550" cy="576262"/>
          </a:xfrm>
          <a:prstGeom prst="rect">
            <a:avLst/>
          </a:prstGeom>
          <a:noFill/>
          <a:ln w="9525">
            <a:noFill/>
            <a:miter lim="800000"/>
            <a:headEnd/>
            <a:tailEnd/>
          </a:ln>
          <a:effectLst/>
        </p:spPr>
        <p:txBody>
          <a:bodyPr/>
          <a:lstStyle/>
          <a:p>
            <a:pPr marL="342900" indent="-342900">
              <a:spcBef>
                <a:spcPct val="20000"/>
              </a:spcBef>
            </a:pPr>
            <a:r>
              <a:rPr lang="zh-CN" altLang="en-US" sz="3200">
                <a:latin typeface="Times New Roman" pitchFamily="18" charset="0"/>
              </a:rPr>
              <a:t>概述</a:t>
            </a:r>
          </a:p>
        </p:txBody>
      </p:sp>
      <p:sp>
        <p:nvSpPr>
          <p:cNvPr id="560228" name="Text Box 100"/>
          <p:cNvSpPr txBox="1">
            <a:spLocks noChangeArrowheads="1"/>
          </p:cNvSpPr>
          <p:nvPr/>
        </p:nvSpPr>
        <p:spPr bwMode="auto">
          <a:xfrm>
            <a:off x="2055814" y="2797175"/>
            <a:ext cx="8222123" cy="2677656"/>
          </a:xfrm>
          <a:prstGeom prst="rect">
            <a:avLst/>
          </a:prstGeom>
          <a:noFill/>
          <a:ln w="9525" algn="ctr">
            <a:noFill/>
            <a:miter lim="800000"/>
            <a:headEnd/>
            <a:tailEnd/>
          </a:ln>
          <a:effectLst/>
        </p:spPr>
        <p:txBody>
          <a:bodyPr wrap="none">
            <a:spAutoFit/>
          </a:bodyPr>
          <a:lstStyle/>
          <a:p>
            <a:pPr algn="l"/>
            <a:r>
              <a:rPr lang="en-US" altLang="zh-CN" sz="2400">
                <a:latin typeface="Times New Roman" pitchFamily="18" charset="0"/>
                <a:ea typeface="华文新魏" pitchFamily="2" charset="-122"/>
              </a:rPr>
              <a:t>LPC2000</a:t>
            </a:r>
            <a:r>
              <a:rPr lang="zh-CN" altLang="en-US" sz="2400">
                <a:latin typeface="Times New Roman" pitchFamily="18" charset="0"/>
                <a:ea typeface="华文新魏" pitchFamily="2" charset="-122"/>
              </a:rPr>
              <a:t>系列</a:t>
            </a:r>
            <a:r>
              <a:rPr lang="en-US" altLang="zh-CN" sz="2400">
                <a:latin typeface="Times New Roman" pitchFamily="18" charset="0"/>
                <a:ea typeface="华文新魏" pitchFamily="2" charset="-122"/>
              </a:rPr>
              <a:t>ARM</a:t>
            </a:r>
            <a:r>
              <a:rPr lang="zh-CN" altLang="en-US" sz="2400">
                <a:latin typeface="Times New Roman" pitchFamily="18" charset="0"/>
                <a:ea typeface="华文新魏" pitchFamily="2" charset="-122"/>
              </a:rPr>
              <a:t>具有</a:t>
            </a:r>
            <a:r>
              <a:rPr lang="en-US" altLang="zh-CN" sz="2400">
                <a:latin typeface="Times New Roman" pitchFamily="18" charset="0"/>
                <a:ea typeface="华文新魏" pitchFamily="2" charset="-122"/>
              </a:rPr>
              <a:t>4</a:t>
            </a:r>
            <a:r>
              <a:rPr lang="zh-CN" altLang="en-US" sz="2400">
                <a:latin typeface="Times New Roman" pitchFamily="18" charset="0"/>
                <a:ea typeface="华文新魏" pitchFamily="2" charset="-122"/>
              </a:rPr>
              <a:t>路外部中断，可以设置为</a:t>
            </a:r>
            <a:r>
              <a:rPr lang="en-US" altLang="zh-CN" sz="2400">
                <a:latin typeface="Times New Roman" pitchFamily="18" charset="0"/>
                <a:ea typeface="华文新魏" pitchFamily="2" charset="-122"/>
              </a:rPr>
              <a:t>2</a:t>
            </a:r>
            <a:r>
              <a:rPr lang="zh-CN" altLang="en-US" sz="2400">
                <a:latin typeface="Times New Roman" pitchFamily="18" charset="0"/>
                <a:ea typeface="华文新魏" pitchFamily="2" charset="-122"/>
              </a:rPr>
              <a:t>种类型：</a:t>
            </a:r>
          </a:p>
          <a:p>
            <a:pPr algn="l">
              <a:buFont typeface="Wingdings" pitchFamily="2" charset="2"/>
              <a:buChar char=""/>
            </a:pPr>
            <a:r>
              <a:rPr lang="zh-CN" altLang="en-US" sz="2400">
                <a:latin typeface="Times New Roman" pitchFamily="18" charset="0"/>
                <a:ea typeface="华文新魏" pitchFamily="2" charset="-122"/>
              </a:rPr>
              <a:t>  边沿触发：</a:t>
            </a:r>
          </a:p>
          <a:p>
            <a:pPr lvl="1" algn="l">
              <a:buFont typeface="Wingdings" pitchFamily="2" charset="2"/>
              <a:buChar char="Ø"/>
            </a:pPr>
            <a:r>
              <a:rPr lang="zh-CN" altLang="en-US" sz="2400">
                <a:latin typeface="Times New Roman" pitchFamily="18" charset="0"/>
                <a:ea typeface="华文新魏" pitchFamily="2" charset="-122"/>
              </a:rPr>
              <a:t> 上升沿触发</a:t>
            </a:r>
          </a:p>
          <a:p>
            <a:pPr lvl="1" algn="l">
              <a:buFont typeface="Wingdings" pitchFamily="2" charset="2"/>
              <a:buChar char="Ø"/>
            </a:pPr>
            <a:r>
              <a:rPr lang="zh-CN" altLang="en-US" sz="2400">
                <a:latin typeface="Times New Roman" pitchFamily="18" charset="0"/>
                <a:ea typeface="华文新魏" pitchFamily="2" charset="-122"/>
              </a:rPr>
              <a:t> 下降沿触发</a:t>
            </a:r>
          </a:p>
          <a:p>
            <a:pPr algn="l">
              <a:buFontTx/>
              <a:buChar char="•"/>
            </a:pPr>
            <a:r>
              <a:rPr lang="zh-CN" altLang="en-US" sz="2400">
                <a:latin typeface="Times New Roman" pitchFamily="18" charset="0"/>
                <a:ea typeface="华文新魏" pitchFamily="2" charset="-122"/>
              </a:rPr>
              <a:t>  电平触发：</a:t>
            </a:r>
          </a:p>
          <a:p>
            <a:pPr lvl="1" algn="l">
              <a:buFont typeface="Wingdings" pitchFamily="2" charset="2"/>
              <a:buChar char="Ø"/>
            </a:pPr>
            <a:r>
              <a:rPr lang="zh-CN" altLang="en-US" sz="2400">
                <a:latin typeface="Times New Roman" pitchFamily="18" charset="0"/>
                <a:ea typeface="华文新魏" pitchFamily="2" charset="-122"/>
              </a:rPr>
              <a:t> 高电平触发</a:t>
            </a:r>
          </a:p>
          <a:p>
            <a:pPr lvl="1" algn="l">
              <a:buFont typeface="Wingdings" pitchFamily="2" charset="2"/>
              <a:buChar char="Ø"/>
            </a:pPr>
            <a:r>
              <a:rPr lang="zh-CN" altLang="en-US" sz="2400">
                <a:latin typeface="Times New Roman" pitchFamily="18" charset="0"/>
                <a:ea typeface="华文新魏" pitchFamily="2" charset="-122"/>
              </a:rPr>
              <a:t> 低电平触发</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withEffect">
                                  <p:stCondLst>
                                    <p:cond delay="0"/>
                                  </p:stCondLst>
                                  <p:childTnLst>
                                    <p:set>
                                      <p:cBhvr>
                                        <p:cTn id="6" dur="1" fill="hold">
                                          <p:stCondLst>
                                            <p:cond delay="0"/>
                                          </p:stCondLst>
                                        </p:cTn>
                                        <p:tgtEl>
                                          <p:spTgt spid="560130"/>
                                        </p:tgtEl>
                                        <p:attrNameLst>
                                          <p:attrName>style.visibility</p:attrName>
                                        </p:attrNameLst>
                                      </p:cBhvr>
                                      <p:to>
                                        <p:strVal val="visible"/>
                                      </p:to>
                                    </p:set>
                                    <p:animEffect transition="in" filter="slide(fromTop)">
                                      <p:cBhvr>
                                        <p:cTn id="7" dur="500"/>
                                        <p:tgtEl>
                                          <p:spTgt spid="560130"/>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560131">
                                            <p:txEl>
                                              <p:pRg st="0" end="0"/>
                                            </p:txEl>
                                          </p:spTgt>
                                        </p:tgtEl>
                                        <p:attrNameLst>
                                          <p:attrName>style.visibility</p:attrName>
                                        </p:attrNameLst>
                                      </p:cBhvr>
                                      <p:to>
                                        <p:strVal val="visible"/>
                                      </p:to>
                                    </p:set>
                                    <p:anim calcmode="lin" valueType="num">
                                      <p:cBhvr additive="base">
                                        <p:cTn id="11" dur="500" fill="hold"/>
                                        <p:tgtEl>
                                          <p:spTgt spid="560131">
                                            <p:txEl>
                                              <p:pRg st="0" end="0"/>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56013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130" grpId="0"/>
      <p:bldP spid="560131"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3202" name="Group 2"/>
          <p:cNvGrpSpPr>
            <a:grpSpLocks/>
          </p:cNvGrpSpPr>
          <p:nvPr/>
        </p:nvGrpSpPr>
        <p:grpSpPr bwMode="auto">
          <a:xfrm>
            <a:off x="3143250" y="4545014"/>
            <a:ext cx="5905500" cy="901700"/>
            <a:chOff x="1020" y="2953"/>
            <a:chExt cx="3720" cy="568"/>
          </a:xfrm>
        </p:grpSpPr>
        <p:grpSp>
          <p:nvGrpSpPr>
            <p:cNvPr id="563203" name="Group 3"/>
            <p:cNvGrpSpPr>
              <a:grpSpLocks/>
            </p:cNvGrpSpPr>
            <p:nvPr/>
          </p:nvGrpSpPr>
          <p:grpSpPr bwMode="auto">
            <a:xfrm>
              <a:off x="1020" y="2953"/>
              <a:ext cx="3720" cy="457"/>
              <a:chOff x="1020" y="2953"/>
              <a:chExt cx="3720" cy="457"/>
            </a:xfrm>
          </p:grpSpPr>
          <p:sp>
            <p:nvSpPr>
              <p:cNvPr id="563204" name="Rectangle 4"/>
              <p:cNvSpPr>
                <a:spLocks noChangeArrowheads="1"/>
              </p:cNvSpPr>
              <p:nvPr/>
            </p:nvSpPr>
            <p:spPr bwMode="auto">
              <a:xfrm>
                <a:off x="1066" y="3177"/>
                <a:ext cx="3628" cy="233"/>
              </a:xfrm>
              <a:prstGeom prst="rect">
                <a:avLst/>
              </a:prstGeom>
              <a:solidFill>
                <a:srgbClr val="CCFFFF"/>
              </a:solidFill>
              <a:ln w="9525" algn="ctr">
                <a:noFill/>
                <a:miter lim="800000"/>
                <a:headEnd/>
                <a:tailEnd/>
              </a:ln>
              <a:effectLst>
                <a:outerShdw dist="35921" dir="2700000" algn="ctr" rotWithShape="0">
                  <a:schemeClr val="bg2"/>
                </a:outerShdw>
              </a:effectLst>
            </p:spPr>
            <p:txBody>
              <a:bodyPr anchor="ctr">
                <a:spAutoFit/>
              </a:bodyPr>
              <a:lstStyle/>
              <a:p>
                <a:endParaRPr lang="zh-CN" altLang="en-US"/>
              </a:p>
            </p:txBody>
          </p:sp>
          <p:sp>
            <p:nvSpPr>
              <p:cNvPr id="563205" name="Text Box 5"/>
              <p:cNvSpPr txBox="1">
                <a:spLocks noChangeArrowheads="1"/>
              </p:cNvSpPr>
              <p:nvPr/>
            </p:nvSpPr>
            <p:spPr bwMode="auto">
              <a:xfrm>
                <a:off x="1020" y="2953"/>
                <a:ext cx="771" cy="231"/>
              </a:xfrm>
              <a:prstGeom prst="rect">
                <a:avLst/>
              </a:prstGeom>
              <a:noFill/>
              <a:ln w="9525" algn="ctr">
                <a:noFill/>
                <a:miter lim="800000"/>
                <a:headEnd/>
                <a:tailEnd/>
              </a:ln>
              <a:effectLst/>
            </p:spPr>
            <p:txBody>
              <a:bodyPr>
                <a:spAutoFit/>
              </a:bodyPr>
              <a:lstStyle/>
              <a:p>
                <a:pPr>
                  <a:spcBef>
                    <a:spcPct val="50000"/>
                  </a:spcBef>
                </a:pPr>
                <a:r>
                  <a:rPr lang="zh-CN" altLang="en-US">
                    <a:ea typeface="华文新魏" pitchFamily="2" charset="-122"/>
                  </a:rPr>
                  <a:t>中断信号</a:t>
                </a:r>
              </a:p>
            </p:txBody>
          </p:sp>
          <p:sp>
            <p:nvSpPr>
              <p:cNvPr id="563206" name="Text Box 6"/>
              <p:cNvSpPr txBox="1">
                <a:spLocks noChangeArrowheads="1"/>
              </p:cNvSpPr>
              <p:nvPr/>
            </p:nvSpPr>
            <p:spPr bwMode="auto">
              <a:xfrm>
                <a:off x="3788" y="2953"/>
                <a:ext cx="952" cy="231"/>
              </a:xfrm>
              <a:prstGeom prst="rect">
                <a:avLst/>
              </a:prstGeom>
              <a:noFill/>
              <a:ln w="9525" algn="ctr">
                <a:noFill/>
                <a:miter lim="800000"/>
                <a:headEnd/>
                <a:tailEnd/>
              </a:ln>
              <a:effectLst/>
            </p:spPr>
            <p:txBody>
              <a:bodyPr>
                <a:spAutoFit/>
              </a:bodyPr>
              <a:lstStyle/>
              <a:p>
                <a:pPr>
                  <a:spcBef>
                    <a:spcPct val="50000"/>
                  </a:spcBef>
                </a:pPr>
                <a:r>
                  <a:rPr lang="zh-CN" altLang="en-US">
                    <a:ea typeface="华文新魏" pitchFamily="2" charset="-122"/>
                  </a:rPr>
                  <a:t>下降沿触发</a:t>
                </a:r>
              </a:p>
            </p:txBody>
          </p:sp>
        </p:grpSp>
        <p:grpSp>
          <p:nvGrpSpPr>
            <p:cNvPr id="563207" name="Group 7"/>
            <p:cNvGrpSpPr>
              <a:grpSpLocks/>
            </p:cNvGrpSpPr>
            <p:nvPr/>
          </p:nvGrpSpPr>
          <p:grpSpPr bwMode="auto">
            <a:xfrm>
              <a:off x="1747" y="3068"/>
              <a:ext cx="2040" cy="453"/>
              <a:chOff x="1883" y="2433"/>
              <a:chExt cx="2040" cy="453"/>
            </a:xfrm>
          </p:grpSpPr>
          <p:sp>
            <p:nvSpPr>
              <p:cNvPr id="563208" name="Line 8"/>
              <p:cNvSpPr>
                <a:spLocks noChangeShapeType="1"/>
              </p:cNvSpPr>
              <p:nvPr/>
            </p:nvSpPr>
            <p:spPr bwMode="auto">
              <a:xfrm>
                <a:off x="2336" y="2433"/>
                <a:ext cx="0" cy="453"/>
              </a:xfrm>
              <a:prstGeom prst="line">
                <a:avLst/>
              </a:prstGeom>
              <a:noFill/>
              <a:ln w="12700" cap="rnd">
                <a:solidFill>
                  <a:schemeClr val="tx1"/>
                </a:solidFill>
                <a:prstDash val="sysDot"/>
                <a:round/>
                <a:headEnd/>
                <a:tailEnd/>
              </a:ln>
              <a:effectLst/>
            </p:spPr>
            <p:txBody>
              <a:bodyPr>
                <a:spAutoFit/>
              </a:bodyPr>
              <a:lstStyle/>
              <a:p>
                <a:endParaRPr lang="zh-CN" altLang="en-US"/>
              </a:p>
            </p:txBody>
          </p:sp>
          <p:sp>
            <p:nvSpPr>
              <p:cNvPr id="563209" name="Line 9"/>
              <p:cNvSpPr>
                <a:spLocks noChangeShapeType="1"/>
              </p:cNvSpPr>
              <p:nvPr/>
            </p:nvSpPr>
            <p:spPr bwMode="auto">
              <a:xfrm>
                <a:off x="1883" y="2433"/>
                <a:ext cx="453" cy="0"/>
              </a:xfrm>
              <a:prstGeom prst="line">
                <a:avLst/>
              </a:prstGeom>
              <a:noFill/>
              <a:ln w="12700" cap="rnd">
                <a:solidFill>
                  <a:schemeClr val="tx1"/>
                </a:solidFill>
                <a:prstDash val="sysDot"/>
                <a:round/>
                <a:headEnd/>
                <a:tailEnd/>
              </a:ln>
              <a:effectLst/>
            </p:spPr>
            <p:txBody>
              <a:bodyPr>
                <a:spAutoFit/>
              </a:bodyPr>
              <a:lstStyle/>
              <a:p>
                <a:endParaRPr lang="zh-CN" altLang="en-US"/>
              </a:p>
            </p:txBody>
          </p:sp>
          <p:sp>
            <p:nvSpPr>
              <p:cNvPr id="563210" name="Line 10"/>
              <p:cNvSpPr>
                <a:spLocks noChangeShapeType="1"/>
              </p:cNvSpPr>
              <p:nvPr/>
            </p:nvSpPr>
            <p:spPr bwMode="auto">
              <a:xfrm>
                <a:off x="2336" y="2886"/>
                <a:ext cx="1134" cy="0"/>
              </a:xfrm>
              <a:prstGeom prst="line">
                <a:avLst/>
              </a:prstGeom>
              <a:noFill/>
              <a:ln w="12700" cap="rnd">
                <a:solidFill>
                  <a:schemeClr val="tx1"/>
                </a:solidFill>
                <a:prstDash val="sysDot"/>
                <a:round/>
                <a:headEnd/>
                <a:tailEnd/>
              </a:ln>
              <a:effectLst/>
            </p:spPr>
            <p:txBody>
              <a:bodyPr>
                <a:spAutoFit/>
              </a:bodyPr>
              <a:lstStyle/>
              <a:p>
                <a:endParaRPr lang="zh-CN" altLang="en-US"/>
              </a:p>
            </p:txBody>
          </p:sp>
          <p:sp>
            <p:nvSpPr>
              <p:cNvPr id="563211" name="Line 11"/>
              <p:cNvSpPr>
                <a:spLocks noChangeShapeType="1"/>
              </p:cNvSpPr>
              <p:nvPr/>
            </p:nvSpPr>
            <p:spPr bwMode="auto">
              <a:xfrm>
                <a:off x="3470" y="2433"/>
                <a:ext cx="0" cy="453"/>
              </a:xfrm>
              <a:prstGeom prst="line">
                <a:avLst/>
              </a:prstGeom>
              <a:noFill/>
              <a:ln w="12700" cap="rnd">
                <a:solidFill>
                  <a:schemeClr val="tx1"/>
                </a:solidFill>
                <a:prstDash val="sysDot"/>
                <a:round/>
                <a:headEnd/>
                <a:tailEnd/>
              </a:ln>
              <a:effectLst/>
            </p:spPr>
            <p:txBody>
              <a:bodyPr>
                <a:spAutoFit/>
              </a:bodyPr>
              <a:lstStyle/>
              <a:p>
                <a:endParaRPr lang="zh-CN" altLang="en-US"/>
              </a:p>
            </p:txBody>
          </p:sp>
          <p:sp>
            <p:nvSpPr>
              <p:cNvPr id="563212" name="Line 12"/>
              <p:cNvSpPr>
                <a:spLocks noChangeShapeType="1"/>
              </p:cNvSpPr>
              <p:nvPr/>
            </p:nvSpPr>
            <p:spPr bwMode="auto">
              <a:xfrm>
                <a:off x="3470" y="2433"/>
                <a:ext cx="453" cy="0"/>
              </a:xfrm>
              <a:prstGeom prst="line">
                <a:avLst/>
              </a:prstGeom>
              <a:noFill/>
              <a:ln w="12700" cap="rnd">
                <a:solidFill>
                  <a:schemeClr val="tx1"/>
                </a:solidFill>
                <a:prstDash val="sysDot"/>
                <a:round/>
                <a:headEnd/>
                <a:tailEnd/>
              </a:ln>
              <a:effectLst/>
            </p:spPr>
            <p:txBody>
              <a:bodyPr>
                <a:spAutoFit/>
              </a:bodyPr>
              <a:lstStyle/>
              <a:p>
                <a:endParaRPr lang="zh-CN" altLang="en-US"/>
              </a:p>
            </p:txBody>
          </p:sp>
        </p:grpSp>
      </p:grpSp>
      <p:sp>
        <p:nvSpPr>
          <p:cNvPr id="563213" name="Rectangle 13"/>
          <p:cNvSpPr>
            <a:spLocks noGrp="1" noChangeArrowheads="1"/>
          </p:cNvSpPr>
          <p:nvPr>
            <p:ph type="title"/>
          </p:nvPr>
        </p:nvSpPr>
        <p:spPr/>
        <p:txBody>
          <a:bodyPr/>
          <a:lstStyle/>
          <a:p>
            <a:r>
              <a:rPr lang="en-US" altLang="zh-CN" dirty="0"/>
              <a:t>5.3.5  </a:t>
            </a:r>
            <a:r>
              <a:rPr lang="zh-CN" altLang="en-US" dirty="0"/>
              <a:t>外部中断输入</a:t>
            </a:r>
          </a:p>
        </p:txBody>
      </p:sp>
      <p:sp>
        <p:nvSpPr>
          <p:cNvPr id="563214" name="Rectangle 14"/>
          <p:cNvSpPr>
            <a:spLocks noChangeArrowheads="1"/>
          </p:cNvSpPr>
          <p:nvPr/>
        </p:nvSpPr>
        <p:spPr bwMode="auto">
          <a:xfrm>
            <a:off x="2209800" y="17002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边沿触发中断</a:t>
            </a:r>
          </a:p>
        </p:txBody>
      </p:sp>
      <p:sp>
        <p:nvSpPr>
          <p:cNvPr id="563215" name="Text Box 15"/>
          <p:cNvSpPr txBox="1">
            <a:spLocks noChangeArrowheads="1"/>
          </p:cNvSpPr>
          <p:nvPr/>
        </p:nvSpPr>
        <p:spPr bwMode="auto">
          <a:xfrm>
            <a:off x="2855914" y="2466975"/>
            <a:ext cx="6696075" cy="457200"/>
          </a:xfrm>
          <a:prstGeom prst="rect">
            <a:avLst/>
          </a:prstGeom>
          <a:noFill/>
          <a:ln w="9525" algn="ctr">
            <a:noFill/>
            <a:miter lim="800000"/>
            <a:headEnd/>
            <a:tailEnd/>
          </a:ln>
          <a:effectLst/>
        </p:spPr>
        <p:txBody>
          <a:bodyPr>
            <a:spAutoFit/>
          </a:bodyPr>
          <a:lstStyle/>
          <a:p>
            <a:pPr algn="l">
              <a:spcBef>
                <a:spcPct val="50000"/>
              </a:spcBef>
            </a:pPr>
            <a:r>
              <a:rPr lang="zh-CN" altLang="en-US" sz="2400">
                <a:latin typeface="华文新魏" pitchFamily="2" charset="-122"/>
                <a:ea typeface="华文新魏" pitchFamily="2" charset="-122"/>
              </a:rPr>
              <a:t>下降沿触发类型中断的请求和清除时序。</a:t>
            </a:r>
          </a:p>
        </p:txBody>
      </p:sp>
      <p:sp>
        <p:nvSpPr>
          <p:cNvPr id="563216" name="Line 16"/>
          <p:cNvSpPr>
            <a:spLocks noChangeShapeType="1"/>
          </p:cNvSpPr>
          <p:nvPr/>
        </p:nvSpPr>
        <p:spPr bwMode="auto">
          <a:xfrm>
            <a:off x="5016500" y="4725989"/>
            <a:ext cx="0" cy="719137"/>
          </a:xfrm>
          <a:prstGeom prst="line">
            <a:avLst/>
          </a:prstGeom>
          <a:noFill/>
          <a:ln w="25400">
            <a:solidFill>
              <a:srgbClr val="FF0000"/>
            </a:solidFill>
            <a:round/>
            <a:headEnd/>
            <a:tailEnd/>
          </a:ln>
          <a:effectLst/>
        </p:spPr>
        <p:txBody>
          <a:bodyPr>
            <a:spAutoFit/>
          </a:bodyPr>
          <a:lstStyle/>
          <a:p>
            <a:endParaRPr lang="zh-CN" altLang="en-US"/>
          </a:p>
        </p:txBody>
      </p:sp>
      <p:sp>
        <p:nvSpPr>
          <p:cNvPr id="563217" name="Line 17"/>
          <p:cNvSpPr>
            <a:spLocks noChangeShapeType="1"/>
          </p:cNvSpPr>
          <p:nvPr/>
        </p:nvSpPr>
        <p:spPr bwMode="auto">
          <a:xfrm>
            <a:off x="4297364" y="4725988"/>
            <a:ext cx="719137" cy="0"/>
          </a:xfrm>
          <a:prstGeom prst="line">
            <a:avLst/>
          </a:prstGeom>
          <a:noFill/>
          <a:ln w="25400">
            <a:solidFill>
              <a:srgbClr val="FF0000"/>
            </a:solidFill>
            <a:round/>
            <a:headEnd/>
            <a:tailEnd/>
          </a:ln>
          <a:effectLst/>
        </p:spPr>
        <p:txBody>
          <a:bodyPr>
            <a:spAutoFit/>
          </a:bodyPr>
          <a:lstStyle/>
          <a:p>
            <a:endParaRPr lang="zh-CN" altLang="en-US"/>
          </a:p>
        </p:txBody>
      </p:sp>
      <p:sp>
        <p:nvSpPr>
          <p:cNvPr id="563218" name="Line 18"/>
          <p:cNvSpPr>
            <a:spLocks noChangeShapeType="1"/>
          </p:cNvSpPr>
          <p:nvPr/>
        </p:nvSpPr>
        <p:spPr bwMode="auto">
          <a:xfrm>
            <a:off x="5016501" y="5445125"/>
            <a:ext cx="1800225" cy="0"/>
          </a:xfrm>
          <a:prstGeom prst="line">
            <a:avLst/>
          </a:prstGeom>
          <a:noFill/>
          <a:ln w="25400">
            <a:solidFill>
              <a:srgbClr val="FF0000"/>
            </a:solidFill>
            <a:round/>
            <a:headEnd/>
            <a:tailEnd/>
          </a:ln>
          <a:effectLst/>
        </p:spPr>
        <p:txBody>
          <a:bodyPr>
            <a:spAutoFit/>
          </a:bodyPr>
          <a:lstStyle/>
          <a:p>
            <a:endParaRPr lang="zh-CN" altLang="en-US"/>
          </a:p>
        </p:txBody>
      </p:sp>
      <p:sp>
        <p:nvSpPr>
          <p:cNvPr id="563219" name="Line 19"/>
          <p:cNvSpPr>
            <a:spLocks noChangeShapeType="1"/>
          </p:cNvSpPr>
          <p:nvPr/>
        </p:nvSpPr>
        <p:spPr bwMode="auto">
          <a:xfrm>
            <a:off x="6816725" y="4725989"/>
            <a:ext cx="0" cy="719137"/>
          </a:xfrm>
          <a:prstGeom prst="line">
            <a:avLst/>
          </a:prstGeom>
          <a:noFill/>
          <a:ln w="25400">
            <a:solidFill>
              <a:srgbClr val="FF0000"/>
            </a:solidFill>
            <a:round/>
            <a:headEnd/>
            <a:tailEnd/>
          </a:ln>
          <a:effectLst/>
        </p:spPr>
        <p:txBody>
          <a:bodyPr>
            <a:spAutoFit/>
          </a:bodyPr>
          <a:lstStyle/>
          <a:p>
            <a:endParaRPr lang="zh-CN" altLang="en-US"/>
          </a:p>
        </p:txBody>
      </p:sp>
      <p:sp>
        <p:nvSpPr>
          <p:cNvPr id="563220" name="Line 20"/>
          <p:cNvSpPr>
            <a:spLocks noChangeShapeType="1"/>
          </p:cNvSpPr>
          <p:nvPr/>
        </p:nvSpPr>
        <p:spPr bwMode="auto">
          <a:xfrm>
            <a:off x="6816725" y="4725988"/>
            <a:ext cx="719138" cy="0"/>
          </a:xfrm>
          <a:prstGeom prst="line">
            <a:avLst/>
          </a:prstGeom>
          <a:noFill/>
          <a:ln w="25400">
            <a:solidFill>
              <a:srgbClr val="FF0000"/>
            </a:solidFill>
            <a:round/>
            <a:headEnd/>
            <a:tailEnd/>
          </a:ln>
          <a:effectLst/>
        </p:spPr>
        <p:txBody>
          <a:bodyPr>
            <a:spAutoFit/>
          </a:bodyPr>
          <a:lstStyle/>
          <a:p>
            <a:endParaRPr lang="zh-CN" altLang="en-US"/>
          </a:p>
        </p:txBody>
      </p:sp>
      <p:grpSp>
        <p:nvGrpSpPr>
          <p:cNvPr id="563221" name="Group 21"/>
          <p:cNvGrpSpPr>
            <a:grpSpLocks/>
          </p:cNvGrpSpPr>
          <p:nvPr/>
        </p:nvGrpSpPr>
        <p:grpSpPr bwMode="auto">
          <a:xfrm>
            <a:off x="4799014" y="5445126"/>
            <a:ext cx="433387" cy="720725"/>
            <a:chOff x="2063" y="3067"/>
            <a:chExt cx="273" cy="454"/>
          </a:xfrm>
        </p:grpSpPr>
        <p:sp>
          <p:nvSpPr>
            <p:cNvPr id="563222" name="Line 22"/>
            <p:cNvSpPr>
              <a:spLocks noChangeShapeType="1"/>
            </p:cNvSpPr>
            <p:nvPr/>
          </p:nvSpPr>
          <p:spPr bwMode="auto">
            <a:xfrm flipV="1">
              <a:off x="2200" y="3067"/>
              <a:ext cx="0" cy="227"/>
            </a:xfrm>
            <a:prstGeom prst="line">
              <a:avLst/>
            </a:prstGeom>
            <a:noFill/>
            <a:ln w="25400">
              <a:solidFill>
                <a:schemeClr val="tx1"/>
              </a:solidFill>
              <a:round/>
              <a:headEnd/>
              <a:tailEnd type="triangle" w="lg" len="med"/>
            </a:ln>
            <a:effectLst/>
          </p:spPr>
          <p:txBody>
            <a:bodyPr>
              <a:spAutoFit/>
            </a:bodyPr>
            <a:lstStyle/>
            <a:p>
              <a:endParaRPr lang="zh-CN" altLang="en-US"/>
            </a:p>
          </p:txBody>
        </p:sp>
        <p:sp>
          <p:nvSpPr>
            <p:cNvPr id="563223" name="Text Box 23"/>
            <p:cNvSpPr txBox="1">
              <a:spLocks noChangeArrowheads="1"/>
            </p:cNvSpPr>
            <p:nvPr/>
          </p:nvSpPr>
          <p:spPr bwMode="auto">
            <a:xfrm>
              <a:off x="2063" y="3290"/>
              <a:ext cx="273" cy="231"/>
            </a:xfrm>
            <a:prstGeom prst="rect">
              <a:avLst/>
            </a:prstGeom>
            <a:noFill/>
            <a:ln w="9525" algn="ctr">
              <a:noFill/>
              <a:miter lim="800000"/>
              <a:headEnd/>
              <a:tailEnd/>
            </a:ln>
            <a:effectLst/>
          </p:spPr>
          <p:txBody>
            <a:bodyPr>
              <a:spAutoFit/>
            </a:bodyPr>
            <a:lstStyle/>
            <a:p>
              <a:pPr>
                <a:spcBef>
                  <a:spcPct val="50000"/>
                </a:spcBef>
              </a:pPr>
              <a:r>
                <a:rPr lang="en-US" altLang="zh-CN">
                  <a:latin typeface="华文新魏" pitchFamily="2" charset="-122"/>
                  <a:ea typeface="华文新魏" pitchFamily="2" charset="-122"/>
                </a:rPr>
                <a:t>T1</a:t>
              </a:r>
            </a:p>
          </p:txBody>
        </p:sp>
      </p:grpSp>
      <p:grpSp>
        <p:nvGrpSpPr>
          <p:cNvPr id="563224" name="Group 24"/>
          <p:cNvGrpSpPr>
            <a:grpSpLocks/>
          </p:cNvGrpSpPr>
          <p:nvPr/>
        </p:nvGrpSpPr>
        <p:grpSpPr bwMode="auto">
          <a:xfrm>
            <a:off x="6527801" y="5445126"/>
            <a:ext cx="576263" cy="720725"/>
            <a:chOff x="3152" y="3067"/>
            <a:chExt cx="363" cy="454"/>
          </a:xfrm>
        </p:grpSpPr>
        <p:sp>
          <p:nvSpPr>
            <p:cNvPr id="563225" name="Line 25"/>
            <p:cNvSpPr>
              <a:spLocks noChangeShapeType="1"/>
            </p:cNvSpPr>
            <p:nvPr/>
          </p:nvSpPr>
          <p:spPr bwMode="auto">
            <a:xfrm flipV="1">
              <a:off x="3334" y="3067"/>
              <a:ext cx="0" cy="227"/>
            </a:xfrm>
            <a:prstGeom prst="line">
              <a:avLst/>
            </a:prstGeom>
            <a:noFill/>
            <a:ln w="25400">
              <a:solidFill>
                <a:schemeClr val="tx1"/>
              </a:solidFill>
              <a:round/>
              <a:headEnd/>
              <a:tailEnd type="triangle" w="lg" len="med"/>
            </a:ln>
            <a:effectLst/>
          </p:spPr>
          <p:txBody>
            <a:bodyPr>
              <a:spAutoFit/>
            </a:bodyPr>
            <a:lstStyle/>
            <a:p>
              <a:endParaRPr lang="zh-CN" altLang="en-US"/>
            </a:p>
          </p:txBody>
        </p:sp>
        <p:sp>
          <p:nvSpPr>
            <p:cNvPr id="563226" name="Text Box 26"/>
            <p:cNvSpPr txBox="1">
              <a:spLocks noChangeArrowheads="1"/>
            </p:cNvSpPr>
            <p:nvPr/>
          </p:nvSpPr>
          <p:spPr bwMode="auto">
            <a:xfrm>
              <a:off x="3152" y="3290"/>
              <a:ext cx="363" cy="231"/>
            </a:xfrm>
            <a:prstGeom prst="rect">
              <a:avLst/>
            </a:prstGeom>
            <a:noFill/>
            <a:ln w="9525" algn="ctr">
              <a:noFill/>
              <a:miter lim="800000"/>
              <a:headEnd/>
              <a:tailEnd/>
            </a:ln>
            <a:effectLst/>
          </p:spPr>
          <p:txBody>
            <a:bodyPr>
              <a:spAutoFit/>
            </a:bodyPr>
            <a:lstStyle/>
            <a:p>
              <a:pPr>
                <a:spcBef>
                  <a:spcPct val="50000"/>
                </a:spcBef>
              </a:pPr>
              <a:r>
                <a:rPr lang="en-US" altLang="zh-CN">
                  <a:latin typeface="华文新魏" pitchFamily="2" charset="-122"/>
                  <a:ea typeface="华文新魏" pitchFamily="2" charset="-122"/>
                </a:rPr>
                <a:t>T2</a:t>
              </a:r>
            </a:p>
          </p:txBody>
        </p:sp>
      </p:grpSp>
      <p:grpSp>
        <p:nvGrpSpPr>
          <p:cNvPr id="563227" name="Group 27"/>
          <p:cNvGrpSpPr>
            <a:grpSpLocks/>
          </p:cNvGrpSpPr>
          <p:nvPr/>
        </p:nvGrpSpPr>
        <p:grpSpPr bwMode="auto">
          <a:xfrm>
            <a:off x="2351088" y="2967041"/>
            <a:ext cx="7561262" cy="830263"/>
            <a:chOff x="567" y="2478"/>
            <a:chExt cx="4763" cy="523"/>
          </a:xfrm>
        </p:grpSpPr>
        <p:sp>
          <p:nvSpPr>
            <p:cNvPr id="563228" name="Text Box 28"/>
            <p:cNvSpPr txBox="1">
              <a:spLocks noChangeArrowheads="1"/>
            </p:cNvSpPr>
            <p:nvPr/>
          </p:nvSpPr>
          <p:spPr bwMode="auto">
            <a:xfrm>
              <a:off x="567" y="2478"/>
              <a:ext cx="4763" cy="523"/>
            </a:xfrm>
            <a:prstGeom prst="rect">
              <a:avLst/>
            </a:prstGeom>
            <a:noFill/>
            <a:ln w="9525" algn="ctr">
              <a:noFill/>
              <a:miter lim="800000"/>
              <a:headEnd/>
              <a:tailEnd/>
            </a:ln>
            <a:effectLst/>
          </p:spPr>
          <p:txBody>
            <a:bodyPr>
              <a:spAutoFit/>
            </a:bodyPr>
            <a:lstStyle/>
            <a:p>
              <a:pPr algn="l"/>
              <a:r>
                <a:rPr lang="en-US" altLang="zh-CN" sz="2400">
                  <a:latin typeface="华文新魏" pitchFamily="2" charset="-122"/>
                  <a:ea typeface="华文新魏" pitchFamily="2" charset="-122"/>
                </a:rPr>
                <a:t>    T1</a:t>
              </a:r>
              <a:r>
                <a:rPr lang="zh-CN" altLang="en-US" sz="2400">
                  <a:latin typeface="华文新魏" pitchFamily="2" charset="-122"/>
                  <a:ea typeface="华文新魏" pitchFamily="2" charset="-122"/>
                </a:rPr>
                <a:t>时刻，中断信号有下降沿产生，中断控制器向</a:t>
              </a:r>
              <a:r>
                <a:rPr lang="en-US" altLang="zh-CN" sz="2400">
                  <a:latin typeface="华文新魏" pitchFamily="2" charset="-122"/>
                  <a:ea typeface="华文新魏" pitchFamily="2" charset="-122"/>
                </a:rPr>
                <a:t>CPU</a:t>
              </a:r>
              <a:r>
                <a:rPr lang="zh-CN" altLang="en-US" sz="2400">
                  <a:latin typeface="华文新魏" pitchFamily="2" charset="-122"/>
                  <a:ea typeface="华文新魏" pitchFamily="2" charset="-122"/>
                </a:rPr>
                <a:t>发出中断请求。</a:t>
              </a:r>
            </a:p>
          </p:txBody>
        </p:sp>
        <p:sp>
          <p:nvSpPr>
            <p:cNvPr id="563229" name="Oval 29"/>
            <p:cNvSpPr>
              <a:spLocks noChangeArrowheads="1"/>
            </p:cNvSpPr>
            <p:nvPr/>
          </p:nvSpPr>
          <p:spPr bwMode="auto">
            <a:xfrm>
              <a:off x="613" y="2546"/>
              <a:ext cx="182" cy="181"/>
            </a:xfrm>
            <a:prstGeom prst="ellipse">
              <a:avLst/>
            </a:prstGeom>
            <a:solidFill>
              <a:schemeClr val="accent2"/>
            </a:solidFill>
            <a:ln w="9525" algn="ctr">
              <a:solidFill>
                <a:srgbClr val="DDFFDD"/>
              </a:solidFill>
              <a:round/>
              <a:headEnd/>
              <a:tailEnd/>
            </a:ln>
            <a:effectLst/>
          </p:spPr>
          <p:txBody>
            <a:bodyPr wrap="none" anchor="ctr"/>
            <a:lstStyle/>
            <a:p>
              <a:r>
                <a:rPr lang="en-US" altLang="zh-CN">
                  <a:solidFill>
                    <a:schemeClr val="bg1"/>
                  </a:solidFill>
                  <a:latin typeface="Arial Black" pitchFamily="34" charset="0"/>
                </a:rPr>
                <a:t>1</a:t>
              </a:r>
            </a:p>
          </p:txBody>
        </p:sp>
      </p:grpSp>
      <p:grpSp>
        <p:nvGrpSpPr>
          <p:cNvPr id="563230" name="Group 30"/>
          <p:cNvGrpSpPr>
            <a:grpSpLocks/>
          </p:cNvGrpSpPr>
          <p:nvPr/>
        </p:nvGrpSpPr>
        <p:grpSpPr bwMode="auto">
          <a:xfrm>
            <a:off x="2351088" y="2967041"/>
            <a:ext cx="7561262" cy="830263"/>
            <a:chOff x="567" y="2478"/>
            <a:chExt cx="4763" cy="523"/>
          </a:xfrm>
        </p:grpSpPr>
        <p:sp>
          <p:nvSpPr>
            <p:cNvPr id="563231" name="Text Box 31"/>
            <p:cNvSpPr txBox="1">
              <a:spLocks noChangeArrowheads="1"/>
            </p:cNvSpPr>
            <p:nvPr/>
          </p:nvSpPr>
          <p:spPr bwMode="auto">
            <a:xfrm>
              <a:off x="567" y="2478"/>
              <a:ext cx="4763" cy="523"/>
            </a:xfrm>
            <a:prstGeom prst="rect">
              <a:avLst/>
            </a:prstGeom>
            <a:noFill/>
            <a:ln w="9525" algn="ctr">
              <a:noFill/>
              <a:miter lim="800000"/>
              <a:headEnd/>
              <a:tailEnd/>
            </a:ln>
            <a:effectLst/>
          </p:spPr>
          <p:txBody>
            <a:bodyPr>
              <a:spAutoFit/>
            </a:bodyPr>
            <a:lstStyle/>
            <a:p>
              <a:pPr algn="l"/>
              <a:r>
                <a:rPr lang="en-US" altLang="zh-CN" sz="2400">
                  <a:latin typeface="华文新魏" pitchFamily="2" charset="-122"/>
                  <a:ea typeface="华文新魏" pitchFamily="2" charset="-122"/>
                </a:rPr>
                <a:t>    T2</a:t>
              </a:r>
              <a:r>
                <a:rPr lang="zh-CN" altLang="en-US" sz="2400">
                  <a:latin typeface="华文新魏" pitchFamily="2" charset="-122"/>
                  <a:ea typeface="华文新魏" pitchFamily="2" charset="-122"/>
                </a:rPr>
                <a:t>时刻，</a:t>
              </a:r>
              <a:r>
                <a:rPr lang="en-US" altLang="zh-CN" sz="2400">
                  <a:latin typeface="华文新魏" pitchFamily="2" charset="-122"/>
                  <a:ea typeface="华文新魏" pitchFamily="2" charset="-122"/>
                </a:rPr>
                <a:t>CPU</a:t>
              </a:r>
              <a:r>
                <a:rPr lang="zh-CN" altLang="en-US" sz="2400">
                  <a:latin typeface="华文新魏" pitchFamily="2" charset="-122"/>
                  <a:ea typeface="华文新魏" pitchFamily="2" charset="-122"/>
                </a:rPr>
                <a:t>执行完成中断控制器的中断服务程序，清除中断，中断信号回复到高电平。</a:t>
              </a:r>
            </a:p>
          </p:txBody>
        </p:sp>
        <p:sp>
          <p:nvSpPr>
            <p:cNvPr id="563232" name="Oval 32"/>
            <p:cNvSpPr>
              <a:spLocks noChangeArrowheads="1"/>
            </p:cNvSpPr>
            <p:nvPr/>
          </p:nvSpPr>
          <p:spPr bwMode="auto">
            <a:xfrm>
              <a:off x="613" y="2546"/>
              <a:ext cx="182" cy="181"/>
            </a:xfrm>
            <a:prstGeom prst="ellipse">
              <a:avLst/>
            </a:prstGeom>
            <a:solidFill>
              <a:schemeClr val="accent2"/>
            </a:solidFill>
            <a:ln w="9525" algn="ctr">
              <a:solidFill>
                <a:srgbClr val="DDFFDD"/>
              </a:solidFill>
              <a:round/>
              <a:headEnd/>
              <a:tailEnd/>
            </a:ln>
            <a:effectLst/>
          </p:spPr>
          <p:txBody>
            <a:bodyPr wrap="none" anchor="ctr"/>
            <a:lstStyle/>
            <a:p>
              <a:r>
                <a:rPr lang="en-US" altLang="zh-CN">
                  <a:solidFill>
                    <a:schemeClr val="bg1"/>
                  </a:solidFill>
                  <a:latin typeface="Arial Black" pitchFamily="34" charset="0"/>
                </a:rPr>
                <a:t>2</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63214"/>
                                        </p:tgtEl>
                                        <p:attrNameLst>
                                          <p:attrName>style.visibility</p:attrName>
                                        </p:attrNameLst>
                                      </p:cBhvr>
                                      <p:to>
                                        <p:strVal val="visible"/>
                                      </p:to>
                                    </p:set>
                                    <p:anim calcmode="lin" valueType="num">
                                      <p:cBhvr additive="base">
                                        <p:cTn id="7" dur="500" fill="hold"/>
                                        <p:tgtEl>
                                          <p:spTgt spid="563214"/>
                                        </p:tgtEl>
                                        <p:attrNameLst>
                                          <p:attrName>ppt_x</p:attrName>
                                        </p:attrNameLst>
                                      </p:cBhvr>
                                      <p:tavLst>
                                        <p:tav tm="0">
                                          <p:val>
                                            <p:strVal val="1+#ppt_w/2"/>
                                          </p:val>
                                        </p:tav>
                                        <p:tav tm="100000">
                                          <p:val>
                                            <p:strVal val="#ppt_x"/>
                                          </p:val>
                                        </p:tav>
                                      </p:tavLst>
                                    </p:anim>
                                    <p:anim calcmode="lin" valueType="num">
                                      <p:cBhvr additive="base">
                                        <p:cTn id="8" dur="500" fill="hold"/>
                                        <p:tgtEl>
                                          <p:spTgt spid="56321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563215"/>
                                        </p:tgtEl>
                                        <p:attrNameLst>
                                          <p:attrName>style.visibility</p:attrName>
                                        </p:attrNameLst>
                                      </p:cBhvr>
                                      <p:to>
                                        <p:strVal val="visible"/>
                                      </p:to>
                                    </p:set>
                                    <p:animEffect transition="in" filter="box(in)">
                                      <p:cBhvr>
                                        <p:cTn id="12" dur="500"/>
                                        <p:tgtEl>
                                          <p:spTgt spid="563215"/>
                                        </p:tgtEl>
                                      </p:cBhvr>
                                    </p:animEffect>
                                  </p:childTnLst>
                                </p:cTn>
                              </p:par>
                            </p:childTnLst>
                          </p:cTn>
                        </p:par>
                        <p:par>
                          <p:cTn id="13" fill="hold">
                            <p:stCondLst>
                              <p:cond delay="1000"/>
                            </p:stCondLst>
                            <p:childTnLst>
                              <p:par>
                                <p:cTn id="14" presetID="12" presetClass="entr" presetSubtype="1" fill="hold" nodeType="afterEffect">
                                  <p:stCondLst>
                                    <p:cond delay="0"/>
                                  </p:stCondLst>
                                  <p:childTnLst>
                                    <p:set>
                                      <p:cBhvr>
                                        <p:cTn id="15" dur="1" fill="hold">
                                          <p:stCondLst>
                                            <p:cond delay="0"/>
                                          </p:stCondLst>
                                        </p:cTn>
                                        <p:tgtEl>
                                          <p:spTgt spid="563202"/>
                                        </p:tgtEl>
                                        <p:attrNameLst>
                                          <p:attrName>style.visibility</p:attrName>
                                        </p:attrNameLst>
                                      </p:cBhvr>
                                      <p:to>
                                        <p:strVal val="visible"/>
                                      </p:to>
                                    </p:set>
                                    <p:animEffect transition="in" filter="slide(fromTop)">
                                      <p:cBhvr>
                                        <p:cTn id="16" dur="500"/>
                                        <p:tgtEl>
                                          <p:spTgt spid="563202"/>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563217"/>
                                        </p:tgtEl>
                                        <p:attrNameLst>
                                          <p:attrName>style.visibility</p:attrName>
                                        </p:attrNameLst>
                                      </p:cBhvr>
                                      <p:to>
                                        <p:strVal val="visible"/>
                                      </p:to>
                                    </p:set>
                                    <p:animEffect transition="in" filter="wipe(left)">
                                      <p:cBhvr>
                                        <p:cTn id="20" dur="500"/>
                                        <p:tgtEl>
                                          <p:spTgt spid="563217"/>
                                        </p:tgtEl>
                                      </p:cBhvr>
                                    </p:animEffect>
                                  </p:childTnLst>
                                </p:cTn>
                              </p:par>
                            </p:childTnLst>
                          </p:cTn>
                        </p:par>
                        <p:par>
                          <p:cTn id="21" fill="hold">
                            <p:stCondLst>
                              <p:cond delay="2000"/>
                            </p:stCondLst>
                            <p:childTnLst>
                              <p:par>
                                <p:cTn id="22" presetID="22" presetClass="entr" presetSubtype="1" fill="hold" grpId="0" nodeType="afterEffect">
                                  <p:stCondLst>
                                    <p:cond delay="0"/>
                                  </p:stCondLst>
                                  <p:childTnLst>
                                    <p:set>
                                      <p:cBhvr>
                                        <p:cTn id="23" dur="1" fill="hold">
                                          <p:stCondLst>
                                            <p:cond delay="0"/>
                                          </p:stCondLst>
                                        </p:cTn>
                                        <p:tgtEl>
                                          <p:spTgt spid="563216"/>
                                        </p:tgtEl>
                                        <p:attrNameLst>
                                          <p:attrName>style.visibility</p:attrName>
                                        </p:attrNameLst>
                                      </p:cBhvr>
                                      <p:to>
                                        <p:strVal val="visible"/>
                                      </p:to>
                                    </p:set>
                                    <p:animEffect transition="in" filter="wipe(up)">
                                      <p:cBhvr>
                                        <p:cTn id="24" dur="500"/>
                                        <p:tgtEl>
                                          <p:spTgt spid="563216"/>
                                        </p:tgtEl>
                                      </p:cBhvr>
                                    </p:animEffect>
                                  </p:childTnLst>
                                </p:cTn>
                              </p:par>
                            </p:childTnLst>
                          </p:cTn>
                        </p:par>
                        <p:par>
                          <p:cTn id="25" fill="hold">
                            <p:stCondLst>
                              <p:cond delay="2500"/>
                            </p:stCondLst>
                            <p:childTnLst>
                              <p:par>
                                <p:cTn id="26" presetID="22" presetClass="entr" presetSubtype="4" fill="hold" nodeType="afterEffect">
                                  <p:stCondLst>
                                    <p:cond delay="0"/>
                                  </p:stCondLst>
                                  <p:childTnLst>
                                    <p:set>
                                      <p:cBhvr>
                                        <p:cTn id="27" dur="1" fill="hold">
                                          <p:stCondLst>
                                            <p:cond delay="0"/>
                                          </p:stCondLst>
                                        </p:cTn>
                                        <p:tgtEl>
                                          <p:spTgt spid="563221"/>
                                        </p:tgtEl>
                                        <p:attrNameLst>
                                          <p:attrName>style.visibility</p:attrName>
                                        </p:attrNameLst>
                                      </p:cBhvr>
                                      <p:to>
                                        <p:strVal val="visible"/>
                                      </p:to>
                                    </p:set>
                                    <p:animEffect transition="in" filter="wipe(down)">
                                      <p:cBhvr>
                                        <p:cTn id="28" dur="500"/>
                                        <p:tgtEl>
                                          <p:spTgt spid="563221"/>
                                        </p:tgtEl>
                                      </p:cBhvr>
                                    </p:animEffect>
                                  </p:childTnLst>
                                </p:cTn>
                              </p:par>
                            </p:childTnLst>
                          </p:cTn>
                        </p:par>
                        <p:par>
                          <p:cTn id="29" fill="hold">
                            <p:stCondLst>
                              <p:cond delay="3000"/>
                            </p:stCondLst>
                            <p:childTnLst>
                              <p:par>
                                <p:cTn id="30" presetID="2" presetClass="entr" presetSubtype="2" fill="hold" nodeType="afterEffect">
                                  <p:stCondLst>
                                    <p:cond delay="0"/>
                                  </p:stCondLst>
                                  <p:childTnLst>
                                    <p:set>
                                      <p:cBhvr>
                                        <p:cTn id="31" dur="1" fill="hold">
                                          <p:stCondLst>
                                            <p:cond delay="0"/>
                                          </p:stCondLst>
                                        </p:cTn>
                                        <p:tgtEl>
                                          <p:spTgt spid="563227"/>
                                        </p:tgtEl>
                                        <p:attrNameLst>
                                          <p:attrName>style.visibility</p:attrName>
                                        </p:attrNameLst>
                                      </p:cBhvr>
                                      <p:to>
                                        <p:strVal val="visible"/>
                                      </p:to>
                                    </p:set>
                                    <p:anim calcmode="lin" valueType="num">
                                      <p:cBhvr additive="base">
                                        <p:cTn id="32" dur="500" fill="hold"/>
                                        <p:tgtEl>
                                          <p:spTgt spid="563227"/>
                                        </p:tgtEl>
                                        <p:attrNameLst>
                                          <p:attrName>ppt_x</p:attrName>
                                        </p:attrNameLst>
                                      </p:cBhvr>
                                      <p:tavLst>
                                        <p:tav tm="0">
                                          <p:val>
                                            <p:strVal val="1+#ppt_w/2"/>
                                          </p:val>
                                        </p:tav>
                                        <p:tav tm="100000">
                                          <p:val>
                                            <p:strVal val="#ppt_x"/>
                                          </p:val>
                                        </p:tav>
                                      </p:tavLst>
                                    </p:anim>
                                    <p:anim calcmode="lin" valueType="num">
                                      <p:cBhvr additive="base">
                                        <p:cTn id="33" dur="500" fill="hold"/>
                                        <p:tgtEl>
                                          <p:spTgt spid="563227"/>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nodeType="clickEffect">
                                  <p:stCondLst>
                                    <p:cond delay="0"/>
                                  </p:stCondLst>
                                  <p:childTnLst>
                                    <p:set>
                                      <p:cBhvr>
                                        <p:cTn id="37" dur="1" fill="hold">
                                          <p:stCondLst>
                                            <p:cond delay="0"/>
                                          </p:stCondLst>
                                        </p:cTn>
                                        <p:tgtEl>
                                          <p:spTgt spid="563227"/>
                                        </p:tgtEl>
                                        <p:attrNameLst>
                                          <p:attrName>style.visibility</p:attrName>
                                        </p:attrNameLst>
                                      </p:cBhvr>
                                      <p:to>
                                        <p:strVal val="hidden"/>
                                      </p:to>
                                    </p:set>
                                  </p:childTnLst>
                                </p:cTn>
                              </p:par>
                              <p:par>
                                <p:cTn id="38" presetID="22" presetClass="entr" presetSubtype="8" fill="hold" grpId="0" nodeType="withEffect">
                                  <p:stCondLst>
                                    <p:cond delay="0"/>
                                  </p:stCondLst>
                                  <p:childTnLst>
                                    <p:set>
                                      <p:cBhvr>
                                        <p:cTn id="39" dur="1" fill="hold">
                                          <p:stCondLst>
                                            <p:cond delay="0"/>
                                          </p:stCondLst>
                                        </p:cTn>
                                        <p:tgtEl>
                                          <p:spTgt spid="563218"/>
                                        </p:tgtEl>
                                        <p:attrNameLst>
                                          <p:attrName>style.visibility</p:attrName>
                                        </p:attrNameLst>
                                      </p:cBhvr>
                                      <p:to>
                                        <p:strVal val="visible"/>
                                      </p:to>
                                    </p:set>
                                    <p:animEffect transition="in" filter="wipe(left)">
                                      <p:cBhvr>
                                        <p:cTn id="40" dur="500"/>
                                        <p:tgtEl>
                                          <p:spTgt spid="563218"/>
                                        </p:tgtEl>
                                      </p:cBhvr>
                                    </p:animEffect>
                                  </p:childTnLst>
                                </p:cTn>
                              </p:par>
                            </p:childTnLst>
                          </p:cTn>
                        </p:par>
                        <p:par>
                          <p:cTn id="41" fill="hold">
                            <p:stCondLst>
                              <p:cond delay="500"/>
                            </p:stCondLst>
                            <p:childTnLst>
                              <p:par>
                                <p:cTn id="42" presetID="22" presetClass="entr" presetSubtype="4" fill="hold" nodeType="afterEffect">
                                  <p:stCondLst>
                                    <p:cond delay="0"/>
                                  </p:stCondLst>
                                  <p:childTnLst>
                                    <p:set>
                                      <p:cBhvr>
                                        <p:cTn id="43" dur="1" fill="hold">
                                          <p:stCondLst>
                                            <p:cond delay="0"/>
                                          </p:stCondLst>
                                        </p:cTn>
                                        <p:tgtEl>
                                          <p:spTgt spid="563224"/>
                                        </p:tgtEl>
                                        <p:attrNameLst>
                                          <p:attrName>style.visibility</p:attrName>
                                        </p:attrNameLst>
                                      </p:cBhvr>
                                      <p:to>
                                        <p:strVal val="visible"/>
                                      </p:to>
                                    </p:set>
                                    <p:animEffect transition="in" filter="wipe(down)">
                                      <p:cBhvr>
                                        <p:cTn id="44" dur="500"/>
                                        <p:tgtEl>
                                          <p:spTgt spid="563224"/>
                                        </p:tgtEl>
                                      </p:cBhvr>
                                    </p:animEffect>
                                  </p:childTnLst>
                                </p:cTn>
                              </p:par>
                            </p:childTnLst>
                          </p:cTn>
                        </p:par>
                        <p:par>
                          <p:cTn id="45" fill="hold">
                            <p:stCondLst>
                              <p:cond delay="1000"/>
                            </p:stCondLst>
                            <p:childTnLst>
                              <p:par>
                                <p:cTn id="46" presetID="22" presetClass="entr" presetSubtype="4" fill="hold" grpId="0" nodeType="afterEffect">
                                  <p:stCondLst>
                                    <p:cond delay="0"/>
                                  </p:stCondLst>
                                  <p:childTnLst>
                                    <p:set>
                                      <p:cBhvr>
                                        <p:cTn id="47" dur="1" fill="hold">
                                          <p:stCondLst>
                                            <p:cond delay="0"/>
                                          </p:stCondLst>
                                        </p:cTn>
                                        <p:tgtEl>
                                          <p:spTgt spid="563219"/>
                                        </p:tgtEl>
                                        <p:attrNameLst>
                                          <p:attrName>style.visibility</p:attrName>
                                        </p:attrNameLst>
                                      </p:cBhvr>
                                      <p:to>
                                        <p:strVal val="visible"/>
                                      </p:to>
                                    </p:set>
                                    <p:animEffect transition="in" filter="wipe(down)">
                                      <p:cBhvr>
                                        <p:cTn id="48" dur="500"/>
                                        <p:tgtEl>
                                          <p:spTgt spid="563219"/>
                                        </p:tgtEl>
                                      </p:cBhvr>
                                    </p:animEffect>
                                  </p:childTnLst>
                                </p:cTn>
                              </p:par>
                            </p:childTnLst>
                          </p:cTn>
                        </p:par>
                        <p:par>
                          <p:cTn id="49" fill="hold">
                            <p:stCondLst>
                              <p:cond delay="1500"/>
                            </p:stCondLst>
                            <p:childTnLst>
                              <p:par>
                                <p:cTn id="50" presetID="22" presetClass="entr" presetSubtype="8" fill="hold" grpId="0" nodeType="afterEffect">
                                  <p:stCondLst>
                                    <p:cond delay="0"/>
                                  </p:stCondLst>
                                  <p:childTnLst>
                                    <p:set>
                                      <p:cBhvr>
                                        <p:cTn id="51" dur="1" fill="hold">
                                          <p:stCondLst>
                                            <p:cond delay="0"/>
                                          </p:stCondLst>
                                        </p:cTn>
                                        <p:tgtEl>
                                          <p:spTgt spid="563220"/>
                                        </p:tgtEl>
                                        <p:attrNameLst>
                                          <p:attrName>style.visibility</p:attrName>
                                        </p:attrNameLst>
                                      </p:cBhvr>
                                      <p:to>
                                        <p:strVal val="visible"/>
                                      </p:to>
                                    </p:set>
                                    <p:animEffect transition="in" filter="wipe(left)">
                                      <p:cBhvr>
                                        <p:cTn id="52" dur="500"/>
                                        <p:tgtEl>
                                          <p:spTgt spid="563220"/>
                                        </p:tgtEl>
                                      </p:cBhvr>
                                    </p:animEffect>
                                  </p:childTnLst>
                                </p:cTn>
                              </p:par>
                            </p:childTnLst>
                          </p:cTn>
                        </p:par>
                        <p:par>
                          <p:cTn id="53" fill="hold">
                            <p:stCondLst>
                              <p:cond delay="2000"/>
                            </p:stCondLst>
                            <p:childTnLst>
                              <p:par>
                                <p:cTn id="54" presetID="2" presetClass="entr" presetSubtype="2" fill="hold" nodeType="afterEffect">
                                  <p:stCondLst>
                                    <p:cond delay="0"/>
                                  </p:stCondLst>
                                  <p:childTnLst>
                                    <p:set>
                                      <p:cBhvr>
                                        <p:cTn id="55" dur="1" fill="hold">
                                          <p:stCondLst>
                                            <p:cond delay="0"/>
                                          </p:stCondLst>
                                        </p:cTn>
                                        <p:tgtEl>
                                          <p:spTgt spid="563230"/>
                                        </p:tgtEl>
                                        <p:attrNameLst>
                                          <p:attrName>style.visibility</p:attrName>
                                        </p:attrNameLst>
                                      </p:cBhvr>
                                      <p:to>
                                        <p:strVal val="visible"/>
                                      </p:to>
                                    </p:set>
                                    <p:anim calcmode="lin" valueType="num">
                                      <p:cBhvr additive="base">
                                        <p:cTn id="56" dur="500" fill="hold"/>
                                        <p:tgtEl>
                                          <p:spTgt spid="563230"/>
                                        </p:tgtEl>
                                        <p:attrNameLst>
                                          <p:attrName>ppt_x</p:attrName>
                                        </p:attrNameLst>
                                      </p:cBhvr>
                                      <p:tavLst>
                                        <p:tav tm="0">
                                          <p:val>
                                            <p:strVal val="1+#ppt_w/2"/>
                                          </p:val>
                                        </p:tav>
                                        <p:tav tm="100000">
                                          <p:val>
                                            <p:strVal val="#ppt_x"/>
                                          </p:val>
                                        </p:tav>
                                      </p:tavLst>
                                    </p:anim>
                                    <p:anim calcmode="lin" valueType="num">
                                      <p:cBhvr additive="base">
                                        <p:cTn id="57" dur="500" fill="hold"/>
                                        <p:tgtEl>
                                          <p:spTgt spid="563230"/>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1" presetClass="exit" presetSubtype="0" fill="hold" nodeType="clickEffect">
                                  <p:stCondLst>
                                    <p:cond delay="0"/>
                                  </p:stCondLst>
                                  <p:childTnLst>
                                    <p:set>
                                      <p:cBhvr>
                                        <p:cTn id="61" dur="1" fill="hold">
                                          <p:stCondLst>
                                            <p:cond delay="0"/>
                                          </p:stCondLst>
                                        </p:cTn>
                                        <p:tgtEl>
                                          <p:spTgt spid="5632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14" grpId="0"/>
      <p:bldP spid="563215" grpId="0"/>
      <p:bldP spid="563216" grpId="0" animBg="1"/>
      <p:bldP spid="563217" grpId="0" animBg="1"/>
      <p:bldP spid="563218" grpId="0" animBg="1"/>
      <p:bldP spid="563219" grpId="0" animBg="1"/>
      <p:bldP spid="563220"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4226" name="Group 2"/>
          <p:cNvGrpSpPr>
            <a:grpSpLocks/>
          </p:cNvGrpSpPr>
          <p:nvPr/>
        </p:nvGrpSpPr>
        <p:grpSpPr bwMode="auto">
          <a:xfrm>
            <a:off x="3143250" y="4545014"/>
            <a:ext cx="5905500" cy="901700"/>
            <a:chOff x="1020" y="2953"/>
            <a:chExt cx="3720" cy="568"/>
          </a:xfrm>
        </p:grpSpPr>
        <p:grpSp>
          <p:nvGrpSpPr>
            <p:cNvPr id="564227" name="Group 3"/>
            <p:cNvGrpSpPr>
              <a:grpSpLocks/>
            </p:cNvGrpSpPr>
            <p:nvPr/>
          </p:nvGrpSpPr>
          <p:grpSpPr bwMode="auto">
            <a:xfrm>
              <a:off x="1020" y="2953"/>
              <a:ext cx="3720" cy="457"/>
              <a:chOff x="1020" y="2953"/>
              <a:chExt cx="3720" cy="457"/>
            </a:xfrm>
          </p:grpSpPr>
          <p:sp>
            <p:nvSpPr>
              <p:cNvPr id="564228" name="Rectangle 4"/>
              <p:cNvSpPr>
                <a:spLocks noChangeArrowheads="1"/>
              </p:cNvSpPr>
              <p:nvPr/>
            </p:nvSpPr>
            <p:spPr bwMode="auto">
              <a:xfrm>
                <a:off x="1066" y="3177"/>
                <a:ext cx="3628" cy="233"/>
              </a:xfrm>
              <a:prstGeom prst="rect">
                <a:avLst/>
              </a:prstGeom>
              <a:solidFill>
                <a:srgbClr val="CCFFFF"/>
              </a:solidFill>
              <a:ln w="9525" algn="ctr">
                <a:noFill/>
                <a:miter lim="800000"/>
                <a:headEnd/>
                <a:tailEnd/>
              </a:ln>
              <a:effectLst>
                <a:outerShdw dist="35921" dir="2700000" algn="ctr" rotWithShape="0">
                  <a:schemeClr val="bg2"/>
                </a:outerShdw>
              </a:effectLst>
            </p:spPr>
            <p:txBody>
              <a:bodyPr anchor="ctr">
                <a:spAutoFit/>
              </a:bodyPr>
              <a:lstStyle/>
              <a:p>
                <a:endParaRPr lang="zh-CN" altLang="en-US"/>
              </a:p>
            </p:txBody>
          </p:sp>
          <p:sp>
            <p:nvSpPr>
              <p:cNvPr id="564229" name="Text Box 5"/>
              <p:cNvSpPr txBox="1">
                <a:spLocks noChangeArrowheads="1"/>
              </p:cNvSpPr>
              <p:nvPr/>
            </p:nvSpPr>
            <p:spPr bwMode="auto">
              <a:xfrm>
                <a:off x="1020" y="2953"/>
                <a:ext cx="771" cy="231"/>
              </a:xfrm>
              <a:prstGeom prst="rect">
                <a:avLst/>
              </a:prstGeom>
              <a:noFill/>
              <a:ln w="9525" algn="ctr">
                <a:noFill/>
                <a:miter lim="800000"/>
                <a:headEnd/>
                <a:tailEnd/>
              </a:ln>
              <a:effectLst/>
            </p:spPr>
            <p:txBody>
              <a:bodyPr>
                <a:spAutoFit/>
              </a:bodyPr>
              <a:lstStyle/>
              <a:p>
                <a:pPr>
                  <a:spcBef>
                    <a:spcPct val="50000"/>
                  </a:spcBef>
                </a:pPr>
                <a:r>
                  <a:rPr lang="zh-CN" altLang="en-US">
                    <a:ea typeface="华文新魏" pitchFamily="2" charset="-122"/>
                  </a:rPr>
                  <a:t>中断信号</a:t>
                </a:r>
              </a:p>
            </p:txBody>
          </p:sp>
          <p:sp>
            <p:nvSpPr>
              <p:cNvPr id="564230" name="Text Box 6"/>
              <p:cNvSpPr txBox="1">
                <a:spLocks noChangeArrowheads="1"/>
              </p:cNvSpPr>
              <p:nvPr/>
            </p:nvSpPr>
            <p:spPr bwMode="auto">
              <a:xfrm>
                <a:off x="3788" y="2953"/>
                <a:ext cx="952" cy="231"/>
              </a:xfrm>
              <a:prstGeom prst="rect">
                <a:avLst/>
              </a:prstGeom>
              <a:noFill/>
              <a:ln w="9525" algn="ctr">
                <a:noFill/>
                <a:miter lim="800000"/>
                <a:headEnd/>
                <a:tailEnd/>
              </a:ln>
              <a:effectLst/>
            </p:spPr>
            <p:txBody>
              <a:bodyPr>
                <a:spAutoFit/>
              </a:bodyPr>
              <a:lstStyle/>
              <a:p>
                <a:pPr>
                  <a:spcBef>
                    <a:spcPct val="50000"/>
                  </a:spcBef>
                </a:pPr>
                <a:r>
                  <a:rPr lang="zh-CN" altLang="en-US">
                    <a:ea typeface="华文新魏" pitchFamily="2" charset="-122"/>
                  </a:rPr>
                  <a:t>低电平触发</a:t>
                </a:r>
              </a:p>
            </p:txBody>
          </p:sp>
        </p:grpSp>
        <p:grpSp>
          <p:nvGrpSpPr>
            <p:cNvPr id="564231" name="Group 7"/>
            <p:cNvGrpSpPr>
              <a:grpSpLocks/>
            </p:cNvGrpSpPr>
            <p:nvPr/>
          </p:nvGrpSpPr>
          <p:grpSpPr bwMode="auto">
            <a:xfrm>
              <a:off x="1747" y="3068"/>
              <a:ext cx="2040" cy="453"/>
              <a:chOff x="1883" y="2433"/>
              <a:chExt cx="2040" cy="453"/>
            </a:xfrm>
          </p:grpSpPr>
          <p:sp>
            <p:nvSpPr>
              <p:cNvPr id="564232" name="Line 8"/>
              <p:cNvSpPr>
                <a:spLocks noChangeShapeType="1"/>
              </p:cNvSpPr>
              <p:nvPr/>
            </p:nvSpPr>
            <p:spPr bwMode="auto">
              <a:xfrm>
                <a:off x="2336" y="2433"/>
                <a:ext cx="0" cy="453"/>
              </a:xfrm>
              <a:prstGeom prst="line">
                <a:avLst/>
              </a:prstGeom>
              <a:noFill/>
              <a:ln w="12700" cap="rnd">
                <a:solidFill>
                  <a:schemeClr val="tx1"/>
                </a:solidFill>
                <a:prstDash val="sysDot"/>
                <a:round/>
                <a:headEnd/>
                <a:tailEnd/>
              </a:ln>
              <a:effectLst/>
            </p:spPr>
            <p:txBody>
              <a:bodyPr>
                <a:spAutoFit/>
              </a:bodyPr>
              <a:lstStyle/>
              <a:p>
                <a:endParaRPr lang="zh-CN" altLang="en-US"/>
              </a:p>
            </p:txBody>
          </p:sp>
          <p:sp>
            <p:nvSpPr>
              <p:cNvPr id="564233" name="Line 9"/>
              <p:cNvSpPr>
                <a:spLocks noChangeShapeType="1"/>
              </p:cNvSpPr>
              <p:nvPr/>
            </p:nvSpPr>
            <p:spPr bwMode="auto">
              <a:xfrm>
                <a:off x="1883" y="2433"/>
                <a:ext cx="453" cy="0"/>
              </a:xfrm>
              <a:prstGeom prst="line">
                <a:avLst/>
              </a:prstGeom>
              <a:noFill/>
              <a:ln w="12700" cap="rnd">
                <a:solidFill>
                  <a:schemeClr val="tx1"/>
                </a:solidFill>
                <a:prstDash val="sysDot"/>
                <a:round/>
                <a:headEnd/>
                <a:tailEnd/>
              </a:ln>
              <a:effectLst/>
            </p:spPr>
            <p:txBody>
              <a:bodyPr>
                <a:spAutoFit/>
              </a:bodyPr>
              <a:lstStyle/>
              <a:p>
                <a:endParaRPr lang="zh-CN" altLang="en-US"/>
              </a:p>
            </p:txBody>
          </p:sp>
          <p:sp>
            <p:nvSpPr>
              <p:cNvPr id="564234" name="Line 10"/>
              <p:cNvSpPr>
                <a:spLocks noChangeShapeType="1"/>
              </p:cNvSpPr>
              <p:nvPr/>
            </p:nvSpPr>
            <p:spPr bwMode="auto">
              <a:xfrm>
                <a:off x="2336" y="2886"/>
                <a:ext cx="1134" cy="0"/>
              </a:xfrm>
              <a:prstGeom prst="line">
                <a:avLst/>
              </a:prstGeom>
              <a:noFill/>
              <a:ln w="12700" cap="rnd">
                <a:solidFill>
                  <a:schemeClr val="tx1"/>
                </a:solidFill>
                <a:prstDash val="sysDot"/>
                <a:round/>
                <a:headEnd/>
                <a:tailEnd/>
              </a:ln>
              <a:effectLst/>
            </p:spPr>
            <p:txBody>
              <a:bodyPr>
                <a:spAutoFit/>
              </a:bodyPr>
              <a:lstStyle/>
              <a:p>
                <a:endParaRPr lang="zh-CN" altLang="en-US"/>
              </a:p>
            </p:txBody>
          </p:sp>
          <p:sp>
            <p:nvSpPr>
              <p:cNvPr id="564235" name="Line 11"/>
              <p:cNvSpPr>
                <a:spLocks noChangeShapeType="1"/>
              </p:cNvSpPr>
              <p:nvPr/>
            </p:nvSpPr>
            <p:spPr bwMode="auto">
              <a:xfrm>
                <a:off x="3470" y="2433"/>
                <a:ext cx="0" cy="453"/>
              </a:xfrm>
              <a:prstGeom prst="line">
                <a:avLst/>
              </a:prstGeom>
              <a:noFill/>
              <a:ln w="12700" cap="rnd">
                <a:solidFill>
                  <a:schemeClr val="tx1"/>
                </a:solidFill>
                <a:prstDash val="sysDot"/>
                <a:round/>
                <a:headEnd/>
                <a:tailEnd/>
              </a:ln>
              <a:effectLst/>
            </p:spPr>
            <p:txBody>
              <a:bodyPr>
                <a:spAutoFit/>
              </a:bodyPr>
              <a:lstStyle/>
              <a:p>
                <a:endParaRPr lang="zh-CN" altLang="en-US"/>
              </a:p>
            </p:txBody>
          </p:sp>
          <p:sp>
            <p:nvSpPr>
              <p:cNvPr id="564236" name="Line 12"/>
              <p:cNvSpPr>
                <a:spLocks noChangeShapeType="1"/>
              </p:cNvSpPr>
              <p:nvPr/>
            </p:nvSpPr>
            <p:spPr bwMode="auto">
              <a:xfrm>
                <a:off x="3470" y="2433"/>
                <a:ext cx="453" cy="0"/>
              </a:xfrm>
              <a:prstGeom prst="line">
                <a:avLst/>
              </a:prstGeom>
              <a:noFill/>
              <a:ln w="12700" cap="rnd">
                <a:solidFill>
                  <a:schemeClr val="tx1"/>
                </a:solidFill>
                <a:prstDash val="sysDot"/>
                <a:round/>
                <a:headEnd/>
                <a:tailEnd/>
              </a:ln>
              <a:effectLst/>
            </p:spPr>
            <p:txBody>
              <a:bodyPr>
                <a:spAutoFit/>
              </a:bodyPr>
              <a:lstStyle/>
              <a:p>
                <a:endParaRPr lang="zh-CN" altLang="en-US"/>
              </a:p>
            </p:txBody>
          </p:sp>
        </p:grpSp>
      </p:grpSp>
      <p:sp>
        <p:nvSpPr>
          <p:cNvPr id="564237" name="Rectangle 13"/>
          <p:cNvSpPr>
            <a:spLocks noGrp="1" noChangeArrowheads="1"/>
          </p:cNvSpPr>
          <p:nvPr>
            <p:ph type="title"/>
          </p:nvPr>
        </p:nvSpPr>
        <p:spPr/>
        <p:txBody>
          <a:bodyPr/>
          <a:lstStyle/>
          <a:p>
            <a:r>
              <a:rPr lang="en-US" altLang="zh-CN" dirty="0"/>
              <a:t>5.3.5  </a:t>
            </a:r>
            <a:r>
              <a:rPr lang="zh-CN" altLang="en-US" dirty="0"/>
              <a:t>外部中断输入</a:t>
            </a:r>
          </a:p>
        </p:txBody>
      </p:sp>
      <p:sp>
        <p:nvSpPr>
          <p:cNvPr id="564238" name="Rectangle 14"/>
          <p:cNvSpPr>
            <a:spLocks noChangeArrowheads="1"/>
          </p:cNvSpPr>
          <p:nvPr/>
        </p:nvSpPr>
        <p:spPr bwMode="auto">
          <a:xfrm>
            <a:off x="2209800" y="17002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电平触发中断</a:t>
            </a:r>
          </a:p>
        </p:txBody>
      </p:sp>
      <p:sp>
        <p:nvSpPr>
          <p:cNvPr id="564239" name="Text Box 15"/>
          <p:cNvSpPr txBox="1">
            <a:spLocks noChangeArrowheads="1"/>
          </p:cNvSpPr>
          <p:nvPr/>
        </p:nvSpPr>
        <p:spPr bwMode="auto">
          <a:xfrm>
            <a:off x="2855914" y="2466975"/>
            <a:ext cx="6696075" cy="457200"/>
          </a:xfrm>
          <a:prstGeom prst="rect">
            <a:avLst/>
          </a:prstGeom>
          <a:noFill/>
          <a:ln w="9525" algn="ctr">
            <a:noFill/>
            <a:miter lim="800000"/>
            <a:headEnd/>
            <a:tailEnd/>
          </a:ln>
          <a:effectLst/>
        </p:spPr>
        <p:txBody>
          <a:bodyPr>
            <a:spAutoFit/>
          </a:bodyPr>
          <a:lstStyle/>
          <a:p>
            <a:pPr algn="l">
              <a:spcBef>
                <a:spcPct val="50000"/>
              </a:spcBef>
            </a:pPr>
            <a:r>
              <a:rPr lang="zh-CN" altLang="en-US" sz="2400">
                <a:latin typeface="华文新魏" pitchFamily="2" charset="-122"/>
                <a:ea typeface="华文新魏" pitchFamily="2" charset="-122"/>
              </a:rPr>
              <a:t>低电平触发类型中断的请求和清除时序。</a:t>
            </a:r>
          </a:p>
        </p:txBody>
      </p:sp>
      <p:sp>
        <p:nvSpPr>
          <p:cNvPr id="564240" name="Line 16"/>
          <p:cNvSpPr>
            <a:spLocks noChangeShapeType="1"/>
          </p:cNvSpPr>
          <p:nvPr/>
        </p:nvSpPr>
        <p:spPr bwMode="auto">
          <a:xfrm>
            <a:off x="5016500" y="4725989"/>
            <a:ext cx="0" cy="719137"/>
          </a:xfrm>
          <a:prstGeom prst="line">
            <a:avLst/>
          </a:prstGeom>
          <a:noFill/>
          <a:ln w="25400">
            <a:solidFill>
              <a:srgbClr val="FF0000"/>
            </a:solidFill>
            <a:round/>
            <a:headEnd/>
            <a:tailEnd/>
          </a:ln>
          <a:effectLst/>
        </p:spPr>
        <p:txBody>
          <a:bodyPr>
            <a:spAutoFit/>
          </a:bodyPr>
          <a:lstStyle/>
          <a:p>
            <a:endParaRPr lang="zh-CN" altLang="en-US"/>
          </a:p>
        </p:txBody>
      </p:sp>
      <p:sp>
        <p:nvSpPr>
          <p:cNvPr id="564241" name="Line 17"/>
          <p:cNvSpPr>
            <a:spLocks noChangeShapeType="1"/>
          </p:cNvSpPr>
          <p:nvPr/>
        </p:nvSpPr>
        <p:spPr bwMode="auto">
          <a:xfrm>
            <a:off x="4297364" y="4725988"/>
            <a:ext cx="719137" cy="0"/>
          </a:xfrm>
          <a:prstGeom prst="line">
            <a:avLst/>
          </a:prstGeom>
          <a:noFill/>
          <a:ln w="25400">
            <a:solidFill>
              <a:srgbClr val="FF0000"/>
            </a:solidFill>
            <a:round/>
            <a:headEnd/>
            <a:tailEnd/>
          </a:ln>
          <a:effectLst/>
        </p:spPr>
        <p:txBody>
          <a:bodyPr>
            <a:spAutoFit/>
          </a:bodyPr>
          <a:lstStyle/>
          <a:p>
            <a:endParaRPr lang="zh-CN" altLang="en-US"/>
          </a:p>
        </p:txBody>
      </p:sp>
      <p:sp>
        <p:nvSpPr>
          <p:cNvPr id="564242" name="Line 18"/>
          <p:cNvSpPr>
            <a:spLocks noChangeShapeType="1"/>
          </p:cNvSpPr>
          <p:nvPr/>
        </p:nvSpPr>
        <p:spPr bwMode="auto">
          <a:xfrm>
            <a:off x="5016501" y="5445125"/>
            <a:ext cx="358775" cy="0"/>
          </a:xfrm>
          <a:prstGeom prst="line">
            <a:avLst/>
          </a:prstGeom>
          <a:noFill/>
          <a:ln w="25400">
            <a:solidFill>
              <a:srgbClr val="FF0000"/>
            </a:solidFill>
            <a:round/>
            <a:headEnd/>
            <a:tailEnd/>
          </a:ln>
          <a:effectLst/>
        </p:spPr>
        <p:txBody>
          <a:bodyPr>
            <a:spAutoFit/>
          </a:bodyPr>
          <a:lstStyle/>
          <a:p>
            <a:endParaRPr lang="zh-CN" altLang="en-US"/>
          </a:p>
        </p:txBody>
      </p:sp>
      <p:sp>
        <p:nvSpPr>
          <p:cNvPr id="564243" name="Line 19"/>
          <p:cNvSpPr>
            <a:spLocks noChangeShapeType="1"/>
          </p:cNvSpPr>
          <p:nvPr/>
        </p:nvSpPr>
        <p:spPr bwMode="auto">
          <a:xfrm>
            <a:off x="6816725" y="4725989"/>
            <a:ext cx="0" cy="719137"/>
          </a:xfrm>
          <a:prstGeom prst="line">
            <a:avLst/>
          </a:prstGeom>
          <a:noFill/>
          <a:ln w="25400">
            <a:solidFill>
              <a:srgbClr val="FF0000"/>
            </a:solidFill>
            <a:round/>
            <a:headEnd/>
            <a:tailEnd/>
          </a:ln>
          <a:effectLst/>
        </p:spPr>
        <p:txBody>
          <a:bodyPr>
            <a:spAutoFit/>
          </a:bodyPr>
          <a:lstStyle/>
          <a:p>
            <a:endParaRPr lang="zh-CN" altLang="en-US"/>
          </a:p>
        </p:txBody>
      </p:sp>
      <p:sp>
        <p:nvSpPr>
          <p:cNvPr id="564244" name="Line 20"/>
          <p:cNvSpPr>
            <a:spLocks noChangeShapeType="1"/>
          </p:cNvSpPr>
          <p:nvPr/>
        </p:nvSpPr>
        <p:spPr bwMode="auto">
          <a:xfrm>
            <a:off x="6816725" y="4725988"/>
            <a:ext cx="719138" cy="0"/>
          </a:xfrm>
          <a:prstGeom prst="line">
            <a:avLst/>
          </a:prstGeom>
          <a:noFill/>
          <a:ln w="25400">
            <a:solidFill>
              <a:srgbClr val="FF0000"/>
            </a:solidFill>
            <a:round/>
            <a:headEnd/>
            <a:tailEnd/>
          </a:ln>
          <a:effectLst/>
        </p:spPr>
        <p:txBody>
          <a:bodyPr>
            <a:spAutoFit/>
          </a:bodyPr>
          <a:lstStyle/>
          <a:p>
            <a:endParaRPr lang="zh-CN" altLang="en-US"/>
          </a:p>
        </p:txBody>
      </p:sp>
      <p:grpSp>
        <p:nvGrpSpPr>
          <p:cNvPr id="564245" name="Group 21"/>
          <p:cNvGrpSpPr>
            <a:grpSpLocks/>
          </p:cNvGrpSpPr>
          <p:nvPr/>
        </p:nvGrpSpPr>
        <p:grpSpPr bwMode="auto">
          <a:xfrm>
            <a:off x="4799014" y="5445126"/>
            <a:ext cx="433387" cy="720725"/>
            <a:chOff x="2063" y="3067"/>
            <a:chExt cx="273" cy="454"/>
          </a:xfrm>
        </p:grpSpPr>
        <p:sp>
          <p:nvSpPr>
            <p:cNvPr id="564246" name="Line 22"/>
            <p:cNvSpPr>
              <a:spLocks noChangeShapeType="1"/>
            </p:cNvSpPr>
            <p:nvPr/>
          </p:nvSpPr>
          <p:spPr bwMode="auto">
            <a:xfrm flipV="1">
              <a:off x="2200" y="3067"/>
              <a:ext cx="0" cy="227"/>
            </a:xfrm>
            <a:prstGeom prst="line">
              <a:avLst/>
            </a:prstGeom>
            <a:noFill/>
            <a:ln w="25400">
              <a:solidFill>
                <a:schemeClr val="tx1"/>
              </a:solidFill>
              <a:round/>
              <a:headEnd/>
              <a:tailEnd type="triangle" w="lg" len="med"/>
            </a:ln>
            <a:effectLst/>
          </p:spPr>
          <p:txBody>
            <a:bodyPr>
              <a:spAutoFit/>
            </a:bodyPr>
            <a:lstStyle/>
            <a:p>
              <a:endParaRPr lang="zh-CN" altLang="en-US"/>
            </a:p>
          </p:txBody>
        </p:sp>
        <p:sp>
          <p:nvSpPr>
            <p:cNvPr id="564247" name="Text Box 23"/>
            <p:cNvSpPr txBox="1">
              <a:spLocks noChangeArrowheads="1"/>
            </p:cNvSpPr>
            <p:nvPr/>
          </p:nvSpPr>
          <p:spPr bwMode="auto">
            <a:xfrm>
              <a:off x="2063" y="3290"/>
              <a:ext cx="273" cy="231"/>
            </a:xfrm>
            <a:prstGeom prst="rect">
              <a:avLst/>
            </a:prstGeom>
            <a:noFill/>
            <a:ln w="9525" algn="ctr">
              <a:noFill/>
              <a:miter lim="800000"/>
              <a:headEnd/>
              <a:tailEnd/>
            </a:ln>
            <a:effectLst/>
          </p:spPr>
          <p:txBody>
            <a:bodyPr>
              <a:spAutoFit/>
            </a:bodyPr>
            <a:lstStyle/>
            <a:p>
              <a:pPr>
                <a:spcBef>
                  <a:spcPct val="50000"/>
                </a:spcBef>
              </a:pPr>
              <a:r>
                <a:rPr lang="en-US" altLang="zh-CN">
                  <a:latin typeface="华文新魏" pitchFamily="2" charset="-122"/>
                  <a:ea typeface="华文新魏" pitchFamily="2" charset="-122"/>
                </a:rPr>
                <a:t>T1</a:t>
              </a:r>
            </a:p>
          </p:txBody>
        </p:sp>
      </p:grpSp>
      <p:grpSp>
        <p:nvGrpSpPr>
          <p:cNvPr id="564248" name="Group 24"/>
          <p:cNvGrpSpPr>
            <a:grpSpLocks/>
          </p:cNvGrpSpPr>
          <p:nvPr/>
        </p:nvGrpSpPr>
        <p:grpSpPr bwMode="auto">
          <a:xfrm>
            <a:off x="6527801" y="5445126"/>
            <a:ext cx="576263" cy="720725"/>
            <a:chOff x="3152" y="3067"/>
            <a:chExt cx="363" cy="454"/>
          </a:xfrm>
        </p:grpSpPr>
        <p:sp>
          <p:nvSpPr>
            <p:cNvPr id="564249" name="Line 25"/>
            <p:cNvSpPr>
              <a:spLocks noChangeShapeType="1"/>
            </p:cNvSpPr>
            <p:nvPr/>
          </p:nvSpPr>
          <p:spPr bwMode="auto">
            <a:xfrm flipV="1">
              <a:off x="3334" y="3067"/>
              <a:ext cx="0" cy="227"/>
            </a:xfrm>
            <a:prstGeom prst="line">
              <a:avLst/>
            </a:prstGeom>
            <a:noFill/>
            <a:ln w="25400">
              <a:solidFill>
                <a:schemeClr val="tx1"/>
              </a:solidFill>
              <a:round/>
              <a:headEnd/>
              <a:tailEnd type="triangle" w="lg" len="med"/>
            </a:ln>
            <a:effectLst/>
          </p:spPr>
          <p:txBody>
            <a:bodyPr>
              <a:spAutoFit/>
            </a:bodyPr>
            <a:lstStyle/>
            <a:p>
              <a:endParaRPr lang="zh-CN" altLang="en-US"/>
            </a:p>
          </p:txBody>
        </p:sp>
        <p:sp>
          <p:nvSpPr>
            <p:cNvPr id="564250" name="Text Box 26"/>
            <p:cNvSpPr txBox="1">
              <a:spLocks noChangeArrowheads="1"/>
            </p:cNvSpPr>
            <p:nvPr/>
          </p:nvSpPr>
          <p:spPr bwMode="auto">
            <a:xfrm>
              <a:off x="3152" y="3290"/>
              <a:ext cx="363" cy="231"/>
            </a:xfrm>
            <a:prstGeom prst="rect">
              <a:avLst/>
            </a:prstGeom>
            <a:noFill/>
            <a:ln w="9525" algn="ctr">
              <a:noFill/>
              <a:miter lim="800000"/>
              <a:headEnd/>
              <a:tailEnd/>
            </a:ln>
            <a:effectLst/>
          </p:spPr>
          <p:txBody>
            <a:bodyPr>
              <a:spAutoFit/>
            </a:bodyPr>
            <a:lstStyle/>
            <a:p>
              <a:pPr>
                <a:spcBef>
                  <a:spcPct val="50000"/>
                </a:spcBef>
              </a:pPr>
              <a:r>
                <a:rPr lang="en-US" altLang="zh-CN">
                  <a:latin typeface="华文新魏" pitchFamily="2" charset="-122"/>
                  <a:ea typeface="华文新魏" pitchFamily="2" charset="-122"/>
                </a:rPr>
                <a:t>T3</a:t>
              </a:r>
            </a:p>
          </p:txBody>
        </p:sp>
      </p:grpSp>
      <p:grpSp>
        <p:nvGrpSpPr>
          <p:cNvPr id="564251" name="Group 27"/>
          <p:cNvGrpSpPr>
            <a:grpSpLocks/>
          </p:cNvGrpSpPr>
          <p:nvPr/>
        </p:nvGrpSpPr>
        <p:grpSpPr bwMode="auto">
          <a:xfrm>
            <a:off x="2351088" y="3141663"/>
            <a:ext cx="7561262" cy="457200"/>
            <a:chOff x="567" y="2478"/>
            <a:chExt cx="4763" cy="288"/>
          </a:xfrm>
        </p:grpSpPr>
        <p:sp>
          <p:nvSpPr>
            <p:cNvPr id="564252" name="Text Box 28"/>
            <p:cNvSpPr txBox="1">
              <a:spLocks noChangeArrowheads="1"/>
            </p:cNvSpPr>
            <p:nvPr/>
          </p:nvSpPr>
          <p:spPr bwMode="auto">
            <a:xfrm>
              <a:off x="567" y="2478"/>
              <a:ext cx="4763" cy="288"/>
            </a:xfrm>
            <a:prstGeom prst="rect">
              <a:avLst/>
            </a:prstGeom>
            <a:noFill/>
            <a:ln w="9525" algn="ctr">
              <a:noFill/>
              <a:miter lim="800000"/>
              <a:headEnd/>
              <a:tailEnd/>
            </a:ln>
            <a:effectLst/>
          </p:spPr>
          <p:txBody>
            <a:bodyPr>
              <a:spAutoFit/>
            </a:bodyPr>
            <a:lstStyle/>
            <a:p>
              <a:pPr algn="l"/>
              <a:r>
                <a:rPr lang="en-US" altLang="zh-CN" sz="2400">
                  <a:latin typeface="华文新魏" pitchFamily="2" charset="-122"/>
                  <a:ea typeface="华文新魏" pitchFamily="2" charset="-122"/>
                </a:rPr>
                <a:t>    T1</a:t>
              </a:r>
              <a:r>
                <a:rPr lang="zh-CN" altLang="en-US" sz="2400">
                  <a:latin typeface="华文新魏" pitchFamily="2" charset="-122"/>
                  <a:ea typeface="华文新魏" pitchFamily="2" charset="-122"/>
                </a:rPr>
                <a:t>时刻，中断信号开始由高电平转为低电平。</a:t>
              </a:r>
            </a:p>
          </p:txBody>
        </p:sp>
        <p:sp>
          <p:nvSpPr>
            <p:cNvPr id="564253" name="Oval 29"/>
            <p:cNvSpPr>
              <a:spLocks noChangeArrowheads="1"/>
            </p:cNvSpPr>
            <p:nvPr/>
          </p:nvSpPr>
          <p:spPr bwMode="auto">
            <a:xfrm>
              <a:off x="613" y="2546"/>
              <a:ext cx="182" cy="181"/>
            </a:xfrm>
            <a:prstGeom prst="ellipse">
              <a:avLst/>
            </a:prstGeom>
            <a:solidFill>
              <a:schemeClr val="accent2"/>
            </a:solidFill>
            <a:ln w="9525" algn="ctr">
              <a:solidFill>
                <a:srgbClr val="DDFFDD"/>
              </a:solidFill>
              <a:round/>
              <a:headEnd/>
              <a:tailEnd/>
            </a:ln>
            <a:effectLst/>
          </p:spPr>
          <p:txBody>
            <a:bodyPr wrap="none" anchor="ctr"/>
            <a:lstStyle/>
            <a:p>
              <a:r>
                <a:rPr lang="en-US" altLang="zh-CN">
                  <a:solidFill>
                    <a:schemeClr val="bg1"/>
                  </a:solidFill>
                  <a:latin typeface="Arial Black" pitchFamily="34" charset="0"/>
                </a:rPr>
                <a:t>1</a:t>
              </a:r>
            </a:p>
          </p:txBody>
        </p:sp>
      </p:grpSp>
      <p:grpSp>
        <p:nvGrpSpPr>
          <p:cNvPr id="564254" name="Group 30"/>
          <p:cNvGrpSpPr>
            <a:grpSpLocks/>
          </p:cNvGrpSpPr>
          <p:nvPr/>
        </p:nvGrpSpPr>
        <p:grpSpPr bwMode="auto">
          <a:xfrm>
            <a:off x="2351088" y="3141663"/>
            <a:ext cx="7561262" cy="830263"/>
            <a:chOff x="567" y="2486"/>
            <a:chExt cx="4763" cy="523"/>
          </a:xfrm>
        </p:grpSpPr>
        <p:sp>
          <p:nvSpPr>
            <p:cNvPr id="564255" name="Text Box 31"/>
            <p:cNvSpPr txBox="1">
              <a:spLocks noChangeArrowheads="1"/>
            </p:cNvSpPr>
            <p:nvPr/>
          </p:nvSpPr>
          <p:spPr bwMode="auto">
            <a:xfrm>
              <a:off x="567" y="2486"/>
              <a:ext cx="4763" cy="523"/>
            </a:xfrm>
            <a:prstGeom prst="rect">
              <a:avLst/>
            </a:prstGeom>
            <a:noFill/>
            <a:ln w="9525" algn="ctr">
              <a:noFill/>
              <a:miter lim="800000"/>
              <a:headEnd/>
              <a:tailEnd/>
            </a:ln>
            <a:effectLst/>
          </p:spPr>
          <p:txBody>
            <a:bodyPr>
              <a:spAutoFit/>
            </a:bodyPr>
            <a:lstStyle/>
            <a:p>
              <a:pPr algn="l"/>
              <a:r>
                <a:rPr lang="en-US" altLang="zh-CN" sz="2400" dirty="0">
                  <a:latin typeface="华文新魏" pitchFamily="2" charset="-122"/>
                  <a:ea typeface="华文新魏" pitchFamily="2" charset="-122"/>
                </a:rPr>
                <a:t>    T2</a:t>
              </a:r>
              <a:r>
                <a:rPr lang="zh-CN" altLang="en-US" sz="2400" dirty="0">
                  <a:latin typeface="华文新魏" pitchFamily="2" charset="-122"/>
                  <a:ea typeface="华文新魏" pitchFamily="2" charset="-122"/>
                </a:rPr>
                <a:t>时刻，中断控制器确认中断信号是低电平后，将向</a:t>
              </a:r>
              <a:r>
                <a:rPr lang="en-US" altLang="zh-CN" sz="2400" dirty="0">
                  <a:latin typeface="华文新魏" pitchFamily="2" charset="-122"/>
                  <a:ea typeface="华文新魏" pitchFamily="2" charset="-122"/>
                </a:rPr>
                <a:t>CPU</a:t>
              </a:r>
              <a:r>
                <a:rPr lang="zh-CN" altLang="en-US" sz="2400" dirty="0">
                  <a:latin typeface="华文新魏" pitchFamily="2" charset="-122"/>
                  <a:ea typeface="华文新魏" pitchFamily="2" charset="-122"/>
                </a:rPr>
                <a:t>发出中断请求。</a:t>
              </a:r>
            </a:p>
          </p:txBody>
        </p:sp>
        <p:sp>
          <p:nvSpPr>
            <p:cNvPr id="564256" name="Oval 32"/>
            <p:cNvSpPr>
              <a:spLocks noChangeArrowheads="1"/>
            </p:cNvSpPr>
            <p:nvPr/>
          </p:nvSpPr>
          <p:spPr bwMode="auto">
            <a:xfrm>
              <a:off x="613" y="2546"/>
              <a:ext cx="182" cy="181"/>
            </a:xfrm>
            <a:prstGeom prst="ellipse">
              <a:avLst/>
            </a:prstGeom>
            <a:solidFill>
              <a:schemeClr val="accent2"/>
            </a:solidFill>
            <a:ln w="9525" algn="ctr">
              <a:solidFill>
                <a:srgbClr val="DDFFDD"/>
              </a:solidFill>
              <a:round/>
              <a:headEnd/>
              <a:tailEnd/>
            </a:ln>
            <a:effectLst/>
          </p:spPr>
          <p:txBody>
            <a:bodyPr wrap="none" anchor="ctr"/>
            <a:lstStyle/>
            <a:p>
              <a:r>
                <a:rPr lang="en-US" altLang="zh-CN">
                  <a:solidFill>
                    <a:schemeClr val="bg1"/>
                  </a:solidFill>
                  <a:latin typeface="Arial Black" pitchFamily="34" charset="0"/>
                </a:rPr>
                <a:t>2</a:t>
              </a:r>
            </a:p>
          </p:txBody>
        </p:sp>
      </p:grpSp>
      <p:grpSp>
        <p:nvGrpSpPr>
          <p:cNvPr id="564257" name="Group 33"/>
          <p:cNvGrpSpPr>
            <a:grpSpLocks/>
          </p:cNvGrpSpPr>
          <p:nvPr/>
        </p:nvGrpSpPr>
        <p:grpSpPr bwMode="auto">
          <a:xfrm>
            <a:off x="5087938" y="5445126"/>
            <a:ext cx="576262" cy="720725"/>
            <a:chOff x="3152" y="3067"/>
            <a:chExt cx="363" cy="454"/>
          </a:xfrm>
        </p:grpSpPr>
        <p:sp>
          <p:nvSpPr>
            <p:cNvPr id="564258" name="Line 34"/>
            <p:cNvSpPr>
              <a:spLocks noChangeShapeType="1"/>
            </p:cNvSpPr>
            <p:nvPr/>
          </p:nvSpPr>
          <p:spPr bwMode="auto">
            <a:xfrm flipV="1">
              <a:off x="3334" y="3067"/>
              <a:ext cx="0" cy="227"/>
            </a:xfrm>
            <a:prstGeom prst="line">
              <a:avLst/>
            </a:prstGeom>
            <a:noFill/>
            <a:ln w="25400">
              <a:solidFill>
                <a:schemeClr val="tx1"/>
              </a:solidFill>
              <a:round/>
              <a:headEnd/>
              <a:tailEnd type="triangle" w="lg" len="med"/>
            </a:ln>
            <a:effectLst/>
          </p:spPr>
          <p:txBody>
            <a:bodyPr>
              <a:spAutoFit/>
            </a:bodyPr>
            <a:lstStyle/>
            <a:p>
              <a:endParaRPr lang="zh-CN" altLang="en-US"/>
            </a:p>
          </p:txBody>
        </p:sp>
        <p:sp>
          <p:nvSpPr>
            <p:cNvPr id="564259" name="Text Box 35"/>
            <p:cNvSpPr txBox="1">
              <a:spLocks noChangeArrowheads="1"/>
            </p:cNvSpPr>
            <p:nvPr/>
          </p:nvSpPr>
          <p:spPr bwMode="auto">
            <a:xfrm>
              <a:off x="3152" y="3290"/>
              <a:ext cx="363" cy="231"/>
            </a:xfrm>
            <a:prstGeom prst="rect">
              <a:avLst/>
            </a:prstGeom>
            <a:noFill/>
            <a:ln w="9525" algn="ctr">
              <a:noFill/>
              <a:miter lim="800000"/>
              <a:headEnd/>
              <a:tailEnd/>
            </a:ln>
            <a:effectLst/>
          </p:spPr>
          <p:txBody>
            <a:bodyPr>
              <a:spAutoFit/>
            </a:bodyPr>
            <a:lstStyle/>
            <a:p>
              <a:pPr>
                <a:spcBef>
                  <a:spcPct val="50000"/>
                </a:spcBef>
              </a:pPr>
              <a:r>
                <a:rPr lang="en-US" altLang="zh-CN">
                  <a:latin typeface="华文新魏" pitchFamily="2" charset="-122"/>
                  <a:ea typeface="华文新魏" pitchFamily="2" charset="-122"/>
                </a:rPr>
                <a:t>T2</a:t>
              </a:r>
            </a:p>
          </p:txBody>
        </p:sp>
      </p:grpSp>
      <p:sp>
        <p:nvSpPr>
          <p:cNvPr id="564260" name="Line 36"/>
          <p:cNvSpPr>
            <a:spLocks noChangeShapeType="1"/>
          </p:cNvSpPr>
          <p:nvPr/>
        </p:nvSpPr>
        <p:spPr bwMode="auto">
          <a:xfrm>
            <a:off x="5375275" y="5445125"/>
            <a:ext cx="1441450" cy="0"/>
          </a:xfrm>
          <a:prstGeom prst="line">
            <a:avLst/>
          </a:prstGeom>
          <a:noFill/>
          <a:ln w="25400">
            <a:solidFill>
              <a:srgbClr val="FF0000"/>
            </a:solidFill>
            <a:round/>
            <a:headEnd/>
            <a:tailEnd/>
          </a:ln>
          <a:effectLst/>
        </p:spPr>
        <p:txBody>
          <a:bodyPr>
            <a:spAutoFit/>
          </a:bodyPr>
          <a:lstStyle/>
          <a:p>
            <a:endParaRPr lang="zh-CN" altLang="en-US"/>
          </a:p>
        </p:txBody>
      </p:sp>
      <p:grpSp>
        <p:nvGrpSpPr>
          <p:cNvPr id="564261" name="Group 37"/>
          <p:cNvGrpSpPr>
            <a:grpSpLocks/>
          </p:cNvGrpSpPr>
          <p:nvPr/>
        </p:nvGrpSpPr>
        <p:grpSpPr bwMode="auto">
          <a:xfrm>
            <a:off x="2351088" y="3154973"/>
            <a:ext cx="7561262" cy="830263"/>
            <a:chOff x="2246" y="1823"/>
            <a:chExt cx="4763" cy="523"/>
          </a:xfrm>
        </p:grpSpPr>
        <p:sp>
          <p:nvSpPr>
            <p:cNvPr id="564262" name="Text Box 38"/>
            <p:cNvSpPr txBox="1">
              <a:spLocks noChangeArrowheads="1"/>
            </p:cNvSpPr>
            <p:nvPr/>
          </p:nvSpPr>
          <p:spPr bwMode="auto">
            <a:xfrm>
              <a:off x="2246" y="1823"/>
              <a:ext cx="4763" cy="523"/>
            </a:xfrm>
            <a:prstGeom prst="rect">
              <a:avLst/>
            </a:prstGeom>
            <a:noFill/>
            <a:ln w="9525" algn="ctr">
              <a:noFill/>
              <a:miter lim="800000"/>
              <a:headEnd/>
              <a:tailEnd/>
            </a:ln>
            <a:effectLst/>
          </p:spPr>
          <p:txBody>
            <a:bodyPr>
              <a:spAutoFit/>
            </a:bodyPr>
            <a:lstStyle/>
            <a:p>
              <a:pPr algn="l"/>
              <a:r>
                <a:rPr lang="en-US" altLang="zh-CN" sz="2400" dirty="0">
                  <a:latin typeface="华文新魏" pitchFamily="2" charset="-122"/>
                  <a:ea typeface="华文新魏" pitchFamily="2" charset="-122"/>
                </a:rPr>
                <a:t>    T3</a:t>
              </a:r>
              <a:r>
                <a:rPr lang="zh-CN" altLang="en-US" sz="2400" dirty="0">
                  <a:latin typeface="华文新魏" pitchFamily="2" charset="-122"/>
                  <a:ea typeface="华文新魏" pitchFamily="2" charset="-122"/>
                </a:rPr>
                <a:t>时刻，</a:t>
              </a:r>
              <a:r>
                <a:rPr lang="en-US" altLang="zh-CN" sz="2400" dirty="0">
                  <a:latin typeface="华文新魏" pitchFamily="2" charset="-122"/>
                  <a:ea typeface="华文新魏" pitchFamily="2" charset="-122"/>
                </a:rPr>
                <a:t>CPU</a:t>
              </a:r>
              <a:r>
                <a:rPr lang="zh-CN" altLang="en-US" sz="2400" dirty="0">
                  <a:latin typeface="华文新魏" pitchFamily="2" charset="-122"/>
                  <a:ea typeface="华文新魏" pitchFamily="2" charset="-122"/>
                </a:rPr>
                <a:t>执行完成中断控制器的中断服务程序，清除</a:t>
              </a:r>
              <a:r>
                <a:rPr lang="en-US" altLang="zh-CN" sz="2400" dirty="0">
                  <a:latin typeface="华文新魏" pitchFamily="2" charset="-122"/>
                  <a:ea typeface="华文新魏" pitchFamily="2" charset="-122"/>
                </a:rPr>
                <a:t>CPU</a:t>
              </a:r>
              <a:r>
                <a:rPr lang="zh-CN" altLang="en-US" sz="2400" dirty="0">
                  <a:latin typeface="华文新魏" pitchFamily="2" charset="-122"/>
                  <a:ea typeface="华文新魏" pitchFamily="2" charset="-122"/>
                </a:rPr>
                <a:t>中断，中断信号回复到高电平。</a:t>
              </a:r>
            </a:p>
          </p:txBody>
        </p:sp>
        <p:sp>
          <p:nvSpPr>
            <p:cNvPr id="564263" name="Oval 39"/>
            <p:cNvSpPr>
              <a:spLocks noChangeArrowheads="1"/>
            </p:cNvSpPr>
            <p:nvPr/>
          </p:nvSpPr>
          <p:spPr bwMode="auto">
            <a:xfrm>
              <a:off x="2274" y="1884"/>
              <a:ext cx="182" cy="181"/>
            </a:xfrm>
            <a:prstGeom prst="ellipse">
              <a:avLst/>
            </a:prstGeom>
            <a:solidFill>
              <a:schemeClr val="accent2"/>
            </a:solidFill>
            <a:ln w="9525" algn="ctr">
              <a:solidFill>
                <a:srgbClr val="DDFFDD"/>
              </a:solidFill>
              <a:round/>
              <a:headEnd/>
              <a:tailEnd/>
            </a:ln>
            <a:effectLst/>
          </p:spPr>
          <p:txBody>
            <a:bodyPr wrap="none" anchor="ctr"/>
            <a:lstStyle/>
            <a:p>
              <a:r>
                <a:rPr lang="en-US" altLang="zh-CN" dirty="0">
                  <a:solidFill>
                    <a:schemeClr val="bg1"/>
                  </a:solidFill>
                  <a:latin typeface="Arial Black" pitchFamily="34" charset="0"/>
                </a:rPr>
                <a:t>3</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64238"/>
                                        </p:tgtEl>
                                        <p:attrNameLst>
                                          <p:attrName>style.visibility</p:attrName>
                                        </p:attrNameLst>
                                      </p:cBhvr>
                                      <p:to>
                                        <p:strVal val="visible"/>
                                      </p:to>
                                    </p:set>
                                    <p:anim calcmode="lin" valueType="num">
                                      <p:cBhvr additive="base">
                                        <p:cTn id="7" dur="500" fill="hold"/>
                                        <p:tgtEl>
                                          <p:spTgt spid="564238"/>
                                        </p:tgtEl>
                                        <p:attrNameLst>
                                          <p:attrName>ppt_x</p:attrName>
                                        </p:attrNameLst>
                                      </p:cBhvr>
                                      <p:tavLst>
                                        <p:tav tm="0">
                                          <p:val>
                                            <p:strVal val="1+#ppt_w/2"/>
                                          </p:val>
                                        </p:tav>
                                        <p:tav tm="100000">
                                          <p:val>
                                            <p:strVal val="#ppt_x"/>
                                          </p:val>
                                        </p:tav>
                                      </p:tavLst>
                                    </p:anim>
                                    <p:anim calcmode="lin" valueType="num">
                                      <p:cBhvr additive="base">
                                        <p:cTn id="8" dur="500" fill="hold"/>
                                        <p:tgtEl>
                                          <p:spTgt spid="56423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564239"/>
                                        </p:tgtEl>
                                        <p:attrNameLst>
                                          <p:attrName>style.visibility</p:attrName>
                                        </p:attrNameLst>
                                      </p:cBhvr>
                                      <p:to>
                                        <p:strVal val="visible"/>
                                      </p:to>
                                    </p:set>
                                    <p:animEffect transition="in" filter="box(in)">
                                      <p:cBhvr>
                                        <p:cTn id="12" dur="500"/>
                                        <p:tgtEl>
                                          <p:spTgt spid="564239"/>
                                        </p:tgtEl>
                                      </p:cBhvr>
                                    </p:animEffect>
                                  </p:childTnLst>
                                </p:cTn>
                              </p:par>
                            </p:childTnLst>
                          </p:cTn>
                        </p:par>
                        <p:par>
                          <p:cTn id="13" fill="hold">
                            <p:stCondLst>
                              <p:cond delay="1000"/>
                            </p:stCondLst>
                            <p:childTnLst>
                              <p:par>
                                <p:cTn id="14" presetID="12" presetClass="entr" presetSubtype="1" fill="hold" nodeType="afterEffect">
                                  <p:stCondLst>
                                    <p:cond delay="0"/>
                                  </p:stCondLst>
                                  <p:childTnLst>
                                    <p:set>
                                      <p:cBhvr>
                                        <p:cTn id="15" dur="1" fill="hold">
                                          <p:stCondLst>
                                            <p:cond delay="0"/>
                                          </p:stCondLst>
                                        </p:cTn>
                                        <p:tgtEl>
                                          <p:spTgt spid="564226"/>
                                        </p:tgtEl>
                                        <p:attrNameLst>
                                          <p:attrName>style.visibility</p:attrName>
                                        </p:attrNameLst>
                                      </p:cBhvr>
                                      <p:to>
                                        <p:strVal val="visible"/>
                                      </p:to>
                                    </p:set>
                                    <p:animEffect transition="in" filter="slide(fromTop)">
                                      <p:cBhvr>
                                        <p:cTn id="16" dur="500"/>
                                        <p:tgtEl>
                                          <p:spTgt spid="564226"/>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564241"/>
                                        </p:tgtEl>
                                        <p:attrNameLst>
                                          <p:attrName>style.visibility</p:attrName>
                                        </p:attrNameLst>
                                      </p:cBhvr>
                                      <p:to>
                                        <p:strVal val="visible"/>
                                      </p:to>
                                    </p:set>
                                    <p:animEffect transition="in" filter="wipe(left)">
                                      <p:cBhvr>
                                        <p:cTn id="20" dur="500"/>
                                        <p:tgtEl>
                                          <p:spTgt spid="564241"/>
                                        </p:tgtEl>
                                      </p:cBhvr>
                                    </p:animEffect>
                                  </p:childTnLst>
                                </p:cTn>
                              </p:par>
                            </p:childTnLst>
                          </p:cTn>
                        </p:par>
                        <p:par>
                          <p:cTn id="21" fill="hold">
                            <p:stCondLst>
                              <p:cond delay="2000"/>
                            </p:stCondLst>
                            <p:childTnLst>
                              <p:par>
                                <p:cTn id="22" presetID="22" presetClass="entr" presetSubtype="1" fill="hold" grpId="0" nodeType="afterEffect">
                                  <p:stCondLst>
                                    <p:cond delay="0"/>
                                  </p:stCondLst>
                                  <p:childTnLst>
                                    <p:set>
                                      <p:cBhvr>
                                        <p:cTn id="23" dur="1" fill="hold">
                                          <p:stCondLst>
                                            <p:cond delay="0"/>
                                          </p:stCondLst>
                                        </p:cTn>
                                        <p:tgtEl>
                                          <p:spTgt spid="564240"/>
                                        </p:tgtEl>
                                        <p:attrNameLst>
                                          <p:attrName>style.visibility</p:attrName>
                                        </p:attrNameLst>
                                      </p:cBhvr>
                                      <p:to>
                                        <p:strVal val="visible"/>
                                      </p:to>
                                    </p:set>
                                    <p:animEffect transition="in" filter="wipe(up)">
                                      <p:cBhvr>
                                        <p:cTn id="24" dur="500"/>
                                        <p:tgtEl>
                                          <p:spTgt spid="564240"/>
                                        </p:tgtEl>
                                      </p:cBhvr>
                                    </p:animEffect>
                                  </p:childTnLst>
                                </p:cTn>
                              </p:par>
                            </p:childTnLst>
                          </p:cTn>
                        </p:par>
                        <p:par>
                          <p:cTn id="25" fill="hold">
                            <p:stCondLst>
                              <p:cond delay="2500"/>
                            </p:stCondLst>
                            <p:childTnLst>
                              <p:par>
                                <p:cTn id="26" presetID="22" presetClass="entr" presetSubtype="4" fill="hold" nodeType="afterEffect">
                                  <p:stCondLst>
                                    <p:cond delay="0"/>
                                  </p:stCondLst>
                                  <p:childTnLst>
                                    <p:set>
                                      <p:cBhvr>
                                        <p:cTn id="27" dur="1" fill="hold">
                                          <p:stCondLst>
                                            <p:cond delay="0"/>
                                          </p:stCondLst>
                                        </p:cTn>
                                        <p:tgtEl>
                                          <p:spTgt spid="564245"/>
                                        </p:tgtEl>
                                        <p:attrNameLst>
                                          <p:attrName>style.visibility</p:attrName>
                                        </p:attrNameLst>
                                      </p:cBhvr>
                                      <p:to>
                                        <p:strVal val="visible"/>
                                      </p:to>
                                    </p:set>
                                    <p:animEffect transition="in" filter="wipe(down)">
                                      <p:cBhvr>
                                        <p:cTn id="28" dur="500"/>
                                        <p:tgtEl>
                                          <p:spTgt spid="564245"/>
                                        </p:tgtEl>
                                      </p:cBhvr>
                                    </p:animEffect>
                                  </p:childTnLst>
                                </p:cTn>
                              </p:par>
                            </p:childTnLst>
                          </p:cTn>
                        </p:par>
                        <p:par>
                          <p:cTn id="29" fill="hold">
                            <p:stCondLst>
                              <p:cond delay="3000"/>
                            </p:stCondLst>
                            <p:childTnLst>
                              <p:par>
                                <p:cTn id="30" presetID="2" presetClass="entr" presetSubtype="2" fill="hold" nodeType="afterEffect">
                                  <p:stCondLst>
                                    <p:cond delay="0"/>
                                  </p:stCondLst>
                                  <p:childTnLst>
                                    <p:set>
                                      <p:cBhvr>
                                        <p:cTn id="31" dur="1" fill="hold">
                                          <p:stCondLst>
                                            <p:cond delay="0"/>
                                          </p:stCondLst>
                                        </p:cTn>
                                        <p:tgtEl>
                                          <p:spTgt spid="564251"/>
                                        </p:tgtEl>
                                        <p:attrNameLst>
                                          <p:attrName>style.visibility</p:attrName>
                                        </p:attrNameLst>
                                      </p:cBhvr>
                                      <p:to>
                                        <p:strVal val="visible"/>
                                      </p:to>
                                    </p:set>
                                    <p:anim calcmode="lin" valueType="num">
                                      <p:cBhvr additive="base">
                                        <p:cTn id="32" dur="500" fill="hold"/>
                                        <p:tgtEl>
                                          <p:spTgt spid="564251"/>
                                        </p:tgtEl>
                                        <p:attrNameLst>
                                          <p:attrName>ppt_x</p:attrName>
                                        </p:attrNameLst>
                                      </p:cBhvr>
                                      <p:tavLst>
                                        <p:tav tm="0">
                                          <p:val>
                                            <p:strVal val="1+#ppt_w/2"/>
                                          </p:val>
                                        </p:tav>
                                        <p:tav tm="100000">
                                          <p:val>
                                            <p:strVal val="#ppt_x"/>
                                          </p:val>
                                        </p:tav>
                                      </p:tavLst>
                                    </p:anim>
                                    <p:anim calcmode="lin" valueType="num">
                                      <p:cBhvr additive="base">
                                        <p:cTn id="33" dur="500" fill="hold"/>
                                        <p:tgtEl>
                                          <p:spTgt spid="564251"/>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nodeType="clickEffect">
                                  <p:stCondLst>
                                    <p:cond delay="0"/>
                                  </p:stCondLst>
                                  <p:childTnLst>
                                    <p:set>
                                      <p:cBhvr>
                                        <p:cTn id="37" dur="1" fill="hold">
                                          <p:stCondLst>
                                            <p:cond delay="0"/>
                                          </p:stCondLst>
                                        </p:cTn>
                                        <p:tgtEl>
                                          <p:spTgt spid="564251"/>
                                        </p:tgtEl>
                                        <p:attrNameLst>
                                          <p:attrName>style.visibility</p:attrName>
                                        </p:attrNameLst>
                                      </p:cBhvr>
                                      <p:to>
                                        <p:strVal val="hidden"/>
                                      </p:to>
                                    </p:set>
                                  </p:childTnLst>
                                </p:cTn>
                              </p:par>
                              <p:par>
                                <p:cTn id="38" presetID="22" presetClass="entr" presetSubtype="8" fill="hold" grpId="0" nodeType="withEffect">
                                  <p:stCondLst>
                                    <p:cond delay="0"/>
                                  </p:stCondLst>
                                  <p:childTnLst>
                                    <p:set>
                                      <p:cBhvr>
                                        <p:cTn id="39" dur="1" fill="hold">
                                          <p:stCondLst>
                                            <p:cond delay="0"/>
                                          </p:stCondLst>
                                        </p:cTn>
                                        <p:tgtEl>
                                          <p:spTgt spid="564242"/>
                                        </p:tgtEl>
                                        <p:attrNameLst>
                                          <p:attrName>style.visibility</p:attrName>
                                        </p:attrNameLst>
                                      </p:cBhvr>
                                      <p:to>
                                        <p:strVal val="visible"/>
                                      </p:to>
                                    </p:set>
                                    <p:animEffect transition="in" filter="wipe(left)">
                                      <p:cBhvr>
                                        <p:cTn id="40" dur="500"/>
                                        <p:tgtEl>
                                          <p:spTgt spid="564242"/>
                                        </p:tgtEl>
                                      </p:cBhvr>
                                    </p:animEffect>
                                  </p:childTnLst>
                                </p:cTn>
                              </p:par>
                            </p:childTnLst>
                          </p:cTn>
                        </p:par>
                        <p:par>
                          <p:cTn id="41" fill="hold">
                            <p:stCondLst>
                              <p:cond delay="500"/>
                            </p:stCondLst>
                            <p:childTnLst>
                              <p:par>
                                <p:cTn id="42" presetID="22" presetClass="entr" presetSubtype="4" fill="hold" nodeType="afterEffect">
                                  <p:stCondLst>
                                    <p:cond delay="0"/>
                                  </p:stCondLst>
                                  <p:childTnLst>
                                    <p:set>
                                      <p:cBhvr>
                                        <p:cTn id="43" dur="1" fill="hold">
                                          <p:stCondLst>
                                            <p:cond delay="0"/>
                                          </p:stCondLst>
                                        </p:cTn>
                                        <p:tgtEl>
                                          <p:spTgt spid="564257"/>
                                        </p:tgtEl>
                                        <p:attrNameLst>
                                          <p:attrName>style.visibility</p:attrName>
                                        </p:attrNameLst>
                                      </p:cBhvr>
                                      <p:to>
                                        <p:strVal val="visible"/>
                                      </p:to>
                                    </p:set>
                                    <p:animEffect transition="in" filter="wipe(down)">
                                      <p:cBhvr>
                                        <p:cTn id="44" dur="500"/>
                                        <p:tgtEl>
                                          <p:spTgt spid="564257"/>
                                        </p:tgtEl>
                                      </p:cBhvr>
                                    </p:animEffect>
                                  </p:childTnLst>
                                </p:cTn>
                              </p:par>
                            </p:childTnLst>
                          </p:cTn>
                        </p:par>
                        <p:par>
                          <p:cTn id="45" fill="hold">
                            <p:stCondLst>
                              <p:cond delay="1000"/>
                            </p:stCondLst>
                            <p:childTnLst>
                              <p:par>
                                <p:cTn id="46" presetID="2" presetClass="entr" presetSubtype="2" fill="hold" nodeType="afterEffect">
                                  <p:stCondLst>
                                    <p:cond delay="0"/>
                                  </p:stCondLst>
                                  <p:childTnLst>
                                    <p:set>
                                      <p:cBhvr>
                                        <p:cTn id="47" dur="1" fill="hold">
                                          <p:stCondLst>
                                            <p:cond delay="0"/>
                                          </p:stCondLst>
                                        </p:cTn>
                                        <p:tgtEl>
                                          <p:spTgt spid="564254"/>
                                        </p:tgtEl>
                                        <p:attrNameLst>
                                          <p:attrName>style.visibility</p:attrName>
                                        </p:attrNameLst>
                                      </p:cBhvr>
                                      <p:to>
                                        <p:strVal val="visible"/>
                                      </p:to>
                                    </p:set>
                                    <p:anim calcmode="lin" valueType="num">
                                      <p:cBhvr additive="base">
                                        <p:cTn id="48" dur="500" fill="hold"/>
                                        <p:tgtEl>
                                          <p:spTgt spid="564254"/>
                                        </p:tgtEl>
                                        <p:attrNameLst>
                                          <p:attrName>ppt_x</p:attrName>
                                        </p:attrNameLst>
                                      </p:cBhvr>
                                      <p:tavLst>
                                        <p:tav tm="0">
                                          <p:val>
                                            <p:strVal val="1+#ppt_w/2"/>
                                          </p:val>
                                        </p:tav>
                                        <p:tav tm="100000">
                                          <p:val>
                                            <p:strVal val="#ppt_x"/>
                                          </p:val>
                                        </p:tav>
                                      </p:tavLst>
                                    </p:anim>
                                    <p:anim calcmode="lin" valueType="num">
                                      <p:cBhvr additive="base">
                                        <p:cTn id="49" dur="500" fill="hold"/>
                                        <p:tgtEl>
                                          <p:spTgt spid="564254"/>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nodeType="clickEffect">
                                  <p:stCondLst>
                                    <p:cond delay="0"/>
                                  </p:stCondLst>
                                  <p:childTnLst>
                                    <p:set>
                                      <p:cBhvr>
                                        <p:cTn id="53" dur="1" fill="hold">
                                          <p:stCondLst>
                                            <p:cond delay="0"/>
                                          </p:stCondLst>
                                        </p:cTn>
                                        <p:tgtEl>
                                          <p:spTgt spid="564254"/>
                                        </p:tgtEl>
                                        <p:attrNameLst>
                                          <p:attrName>style.visibility</p:attrName>
                                        </p:attrNameLst>
                                      </p:cBhvr>
                                      <p:to>
                                        <p:strVal val="hidden"/>
                                      </p:to>
                                    </p:set>
                                  </p:childTnLst>
                                </p:cTn>
                              </p:par>
                              <p:par>
                                <p:cTn id="54" presetID="22" presetClass="entr" presetSubtype="8" fill="hold" grpId="0" nodeType="withEffect">
                                  <p:stCondLst>
                                    <p:cond delay="0"/>
                                  </p:stCondLst>
                                  <p:childTnLst>
                                    <p:set>
                                      <p:cBhvr>
                                        <p:cTn id="55" dur="1" fill="hold">
                                          <p:stCondLst>
                                            <p:cond delay="0"/>
                                          </p:stCondLst>
                                        </p:cTn>
                                        <p:tgtEl>
                                          <p:spTgt spid="564260"/>
                                        </p:tgtEl>
                                        <p:attrNameLst>
                                          <p:attrName>style.visibility</p:attrName>
                                        </p:attrNameLst>
                                      </p:cBhvr>
                                      <p:to>
                                        <p:strVal val="visible"/>
                                      </p:to>
                                    </p:set>
                                    <p:animEffect transition="in" filter="wipe(left)">
                                      <p:cBhvr>
                                        <p:cTn id="56" dur="500"/>
                                        <p:tgtEl>
                                          <p:spTgt spid="564260"/>
                                        </p:tgtEl>
                                      </p:cBhvr>
                                    </p:animEffect>
                                  </p:childTnLst>
                                </p:cTn>
                              </p:par>
                            </p:childTnLst>
                          </p:cTn>
                        </p:par>
                        <p:par>
                          <p:cTn id="57" fill="hold">
                            <p:stCondLst>
                              <p:cond delay="500"/>
                            </p:stCondLst>
                            <p:childTnLst>
                              <p:par>
                                <p:cTn id="58" presetID="22" presetClass="entr" presetSubtype="4" fill="hold" nodeType="afterEffect">
                                  <p:stCondLst>
                                    <p:cond delay="0"/>
                                  </p:stCondLst>
                                  <p:childTnLst>
                                    <p:set>
                                      <p:cBhvr>
                                        <p:cTn id="59" dur="1" fill="hold">
                                          <p:stCondLst>
                                            <p:cond delay="0"/>
                                          </p:stCondLst>
                                        </p:cTn>
                                        <p:tgtEl>
                                          <p:spTgt spid="564248"/>
                                        </p:tgtEl>
                                        <p:attrNameLst>
                                          <p:attrName>style.visibility</p:attrName>
                                        </p:attrNameLst>
                                      </p:cBhvr>
                                      <p:to>
                                        <p:strVal val="visible"/>
                                      </p:to>
                                    </p:set>
                                    <p:animEffect transition="in" filter="wipe(down)">
                                      <p:cBhvr>
                                        <p:cTn id="60" dur="500"/>
                                        <p:tgtEl>
                                          <p:spTgt spid="564248"/>
                                        </p:tgtEl>
                                      </p:cBhvr>
                                    </p:animEffect>
                                  </p:childTnLst>
                                </p:cTn>
                              </p:par>
                            </p:childTnLst>
                          </p:cTn>
                        </p:par>
                        <p:par>
                          <p:cTn id="61" fill="hold">
                            <p:stCondLst>
                              <p:cond delay="1000"/>
                            </p:stCondLst>
                            <p:childTnLst>
                              <p:par>
                                <p:cTn id="62" presetID="22" presetClass="entr" presetSubtype="4" fill="hold" grpId="0" nodeType="afterEffect">
                                  <p:stCondLst>
                                    <p:cond delay="0"/>
                                  </p:stCondLst>
                                  <p:childTnLst>
                                    <p:set>
                                      <p:cBhvr>
                                        <p:cTn id="63" dur="1" fill="hold">
                                          <p:stCondLst>
                                            <p:cond delay="0"/>
                                          </p:stCondLst>
                                        </p:cTn>
                                        <p:tgtEl>
                                          <p:spTgt spid="564243"/>
                                        </p:tgtEl>
                                        <p:attrNameLst>
                                          <p:attrName>style.visibility</p:attrName>
                                        </p:attrNameLst>
                                      </p:cBhvr>
                                      <p:to>
                                        <p:strVal val="visible"/>
                                      </p:to>
                                    </p:set>
                                    <p:animEffect transition="in" filter="wipe(down)">
                                      <p:cBhvr>
                                        <p:cTn id="64" dur="500"/>
                                        <p:tgtEl>
                                          <p:spTgt spid="564243"/>
                                        </p:tgtEl>
                                      </p:cBhvr>
                                    </p:animEffect>
                                  </p:childTnLst>
                                </p:cTn>
                              </p:par>
                            </p:childTnLst>
                          </p:cTn>
                        </p:par>
                        <p:par>
                          <p:cTn id="65" fill="hold">
                            <p:stCondLst>
                              <p:cond delay="1500"/>
                            </p:stCondLst>
                            <p:childTnLst>
                              <p:par>
                                <p:cTn id="66" presetID="22" presetClass="entr" presetSubtype="8" fill="hold" grpId="0" nodeType="afterEffect">
                                  <p:stCondLst>
                                    <p:cond delay="0"/>
                                  </p:stCondLst>
                                  <p:childTnLst>
                                    <p:set>
                                      <p:cBhvr>
                                        <p:cTn id="67" dur="1" fill="hold">
                                          <p:stCondLst>
                                            <p:cond delay="0"/>
                                          </p:stCondLst>
                                        </p:cTn>
                                        <p:tgtEl>
                                          <p:spTgt spid="564244"/>
                                        </p:tgtEl>
                                        <p:attrNameLst>
                                          <p:attrName>style.visibility</p:attrName>
                                        </p:attrNameLst>
                                      </p:cBhvr>
                                      <p:to>
                                        <p:strVal val="visible"/>
                                      </p:to>
                                    </p:set>
                                    <p:animEffect transition="in" filter="wipe(left)">
                                      <p:cBhvr>
                                        <p:cTn id="68" dur="500"/>
                                        <p:tgtEl>
                                          <p:spTgt spid="564244"/>
                                        </p:tgtEl>
                                      </p:cBhvr>
                                    </p:animEffect>
                                  </p:childTnLst>
                                </p:cTn>
                              </p:par>
                            </p:childTnLst>
                          </p:cTn>
                        </p:par>
                        <p:par>
                          <p:cTn id="69" fill="hold">
                            <p:stCondLst>
                              <p:cond delay="2000"/>
                            </p:stCondLst>
                            <p:childTnLst>
                              <p:par>
                                <p:cTn id="70" presetID="2" presetClass="entr" presetSubtype="2" fill="hold" nodeType="afterEffect">
                                  <p:stCondLst>
                                    <p:cond delay="0"/>
                                  </p:stCondLst>
                                  <p:childTnLst>
                                    <p:set>
                                      <p:cBhvr>
                                        <p:cTn id="71" dur="1" fill="hold">
                                          <p:stCondLst>
                                            <p:cond delay="0"/>
                                          </p:stCondLst>
                                        </p:cTn>
                                        <p:tgtEl>
                                          <p:spTgt spid="564261"/>
                                        </p:tgtEl>
                                        <p:attrNameLst>
                                          <p:attrName>style.visibility</p:attrName>
                                        </p:attrNameLst>
                                      </p:cBhvr>
                                      <p:to>
                                        <p:strVal val="visible"/>
                                      </p:to>
                                    </p:set>
                                    <p:anim calcmode="lin" valueType="num">
                                      <p:cBhvr additive="base">
                                        <p:cTn id="72" dur="500" fill="hold"/>
                                        <p:tgtEl>
                                          <p:spTgt spid="564261"/>
                                        </p:tgtEl>
                                        <p:attrNameLst>
                                          <p:attrName>ppt_x</p:attrName>
                                        </p:attrNameLst>
                                      </p:cBhvr>
                                      <p:tavLst>
                                        <p:tav tm="0">
                                          <p:val>
                                            <p:strVal val="1+#ppt_w/2"/>
                                          </p:val>
                                        </p:tav>
                                        <p:tav tm="100000">
                                          <p:val>
                                            <p:strVal val="#ppt_x"/>
                                          </p:val>
                                        </p:tav>
                                      </p:tavLst>
                                    </p:anim>
                                    <p:anim calcmode="lin" valueType="num">
                                      <p:cBhvr additive="base">
                                        <p:cTn id="73" dur="500" fill="hold"/>
                                        <p:tgtEl>
                                          <p:spTgt spid="564261"/>
                                        </p:tgtEl>
                                        <p:attrNameLst>
                                          <p:attrName>ppt_y</p:attrName>
                                        </p:attrNameLst>
                                      </p:cBhvr>
                                      <p:tavLst>
                                        <p:tav tm="0">
                                          <p:val>
                                            <p:strVal val="#ppt_y"/>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 presetClass="exit" presetSubtype="0" fill="hold" nodeType="clickEffect">
                                  <p:stCondLst>
                                    <p:cond delay="0"/>
                                  </p:stCondLst>
                                  <p:childTnLst>
                                    <p:set>
                                      <p:cBhvr>
                                        <p:cTn id="77" dur="1" fill="hold">
                                          <p:stCondLst>
                                            <p:cond delay="0"/>
                                          </p:stCondLst>
                                        </p:cTn>
                                        <p:tgtEl>
                                          <p:spTgt spid="56426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38" grpId="0"/>
      <p:bldP spid="564239" grpId="0"/>
      <p:bldP spid="564240" grpId="0" animBg="1"/>
      <p:bldP spid="564241" grpId="0" animBg="1"/>
      <p:bldP spid="564242" grpId="0" animBg="1"/>
      <p:bldP spid="564243" grpId="0" animBg="1"/>
      <p:bldP spid="564244" grpId="0" animBg="1"/>
      <p:bldP spid="564260"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5250" name="Group 2"/>
          <p:cNvGrpSpPr>
            <a:grpSpLocks/>
          </p:cNvGrpSpPr>
          <p:nvPr/>
        </p:nvGrpSpPr>
        <p:grpSpPr bwMode="auto">
          <a:xfrm>
            <a:off x="4151313" y="3284538"/>
            <a:ext cx="1727200" cy="863600"/>
            <a:chOff x="1655" y="2069"/>
            <a:chExt cx="1088" cy="544"/>
          </a:xfrm>
        </p:grpSpPr>
        <p:sp>
          <p:nvSpPr>
            <p:cNvPr id="565251" name="AutoShape 3"/>
            <p:cNvSpPr>
              <a:spLocks noChangeArrowheads="1"/>
            </p:cNvSpPr>
            <p:nvPr/>
          </p:nvSpPr>
          <p:spPr bwMode="auto">
            <a:xfrm>
              <a:off x="1655" y="2069"/>
              <a:ext cx="681" cy="317"/>
            </a:xfrm>
            <a:prstGeom prst="roundRect">
              <a:avLst>
                <a:gd name="adj" fmla="val 16667"/>
              </a:avLst>
            </a:prstGeom>
            <a:solidFill>
              <a:srgbClr val="DDDDDD"/>
            </a:solidFill>
            <a:ln w="12700" algn="ctr">
              <a:solidFill>
                <a:schemeClr val="tx1"/>
              </a:solidFill>
              <a:round/>
              <a:headEnd/>
              <a:tailEnd/>
            </a:ln>
            <a:effectLst/>
          </p:spPr>
          <p:txBody>
            <a:bodyPr wrap="none" anchor="ctr"/>
            <a:lstStyle/>
            <a:p>
              <a:r>
                <a:rPr lang="zh-CN" altLang="en-US" sz="1600">
                  <a:latin typeface="黑体" pitchFamily="2" charset="-122"/>
                  <a:ea typeface="黑体" pitchFamily="2" charset="-122"/>
                </a:rPr>
                <a:t>中断源</a:t>
              </a:r>
              <a:r>
                <a:rPr lang="en-US" altLang="zh-CN" sz="1600">
                  <a:latin typeface="黑体" pitchFamily="2" charset="-122"/>
                  <a:ea typeface="黑体" pitchFamily="2" charset="-122"/>
                </a:rPr>
                <a:t>1</a:t>
              </a:r>
            </a:p>
            <a:p>
              <a:r>
                <a:rPr lang="en-US" altLang="zh-CN" sz="1600">
                  <a:latin typeface="黑体" pitchFamily="2" charset="-122"/>
                  <a:ea typeface="黑体" pitchFamily="2" charset="-122"/>
                </a:rPr>
                <a:t>(WDT)</a:t>
              </a:r>
            </a:p>
          </p:txBody>
        </p:sp>
        <p:sp>
          <p:nvSpPr>
            <p:cNvPr id="565252" name="AutoShape 4"/>
            <p:cNvSpPr>
              <a:spLocks noChangeArrowheads="1"/>
            </p:cNvSpPr>
            <p:nvPr/>
          </p:nvSpPr>
          <p:spPr bwMode="auto">
            <a:xfrm>
              <a:off x="1655" y="2477"/>
              <a:ext cx="681" cy="136"/>
            </a:xfrm>
            <a:prstGeom prst="roundRect">
              <a:avLst>
                <a:gd name="adj" fmla="val 16667"/>
              </a:avLst>
            </a:prstGeom>
            <a:solidFill>
              <a:srgbClr val="DDDDDD"/>
            </a:solidFill>
            <a:ln w="12700" algn="ctr">
              <a:solidFill>
                <a:schemeClr val="tx1"/>
              </a:solidFill>
              <a:round/>
              <a:headEnd/>
              <a:tailEnd/>
            </a:ln>
            <a:effectLst/>
          </p:spPr>
          <p:txBody>
            <a:bodyPr wrap="none" tIns="3600" anchor="ctr"/>
            <a:lstStyle/>
            <a:p>
              <a:r>
                <a:rPr lang="en-US" altLang="zh-CN" sz="1600">
                  <a:latin typeface="黑体" pitchFamily="2" charset="-122"/>
                  <a:ea typeface="黑体" pitchFamily="2" charset="-122"/>
                </a:rPr>
                <a:t>...</a:t>
              </a:r>
            </a:p>
          </p:txBody>
        </p:sp>
        <p:sp>
          <p:nvSpPr>
            <p:cNvPr id="565253" name="Line 5"/>
            <p:cNvSpPr>
              <a:spLocks noChangeShapeType="1"/>
            </p:cNvSpPr>
            <p:nvPr/>
          </p:nvSpPr>
          <p:spPr bwMode="auto">
            <a:xfrm>
              <a:off x="2336" y="2205"/>
              <a:ext cx="407" cy="0"/>
            </a:xfrm>
            <a:prstGeom prst="line">
              <a:avLst/>
            </a:prstGeom>
            <a:noFill/>
            <a:ln w="28575">
              <a:solidFill>
                <a:schemeClr val="tx1"/>
              </a:solidFill>
              <a:round/>
              <a:headEnd type="oval" w="sm" len="sm"/>
              <a:tailEnd type="arrow" w="med" len="med"/>
            </a:ln>
            <a:effectLst/>
          </p:spPr>
          <p:txBody>
            <a:bodyPr wrap="none" anchor="ctr"/>
            <a:lstStyle/>
            <a:p>
              <a:endParaRPr lang="zh-CN" altLang="en-US"/>
            </a:p>
          </p:txBody>
        </p:sp>
      </p:grpSp>
      <p:grpSp>
        <p:nvGrpSpPr>
          <p:cNvPr id="565254" name="Group 6"/>
          <p:cNvGrpSpPr>
            <a:grpSpLocks/>
          </p:cNvGrpSpPr>
          <p:nvPr/>
        </p:nvGrpSpPr>
        <p:grpSpPr bwMode="auto">
          <a:xfrm>
            <a:off x="4151313" y="4292600"/>
            <a:ext cx="1727200" cy="1943100"/>
            <a:chOff x="1655" y="2704"/>
            <a:chExt cx="1088" cy="1224"/>
          </a:xfrm>
        </p:grpSpPr>
        <p:sp>
          <p:nvSpPr>
            <p:cNvPr id="565255" name="AutoShape 7"/>
            <p:cNvSpPr>
              <a:spLocks noChangeArrowheads="1"/>
            </p:cNvSpPr>
            <p:nvPr/>
          </p:nvSpPr>
          <p:spPr bwMode="auto">
            <a:xfrm>
              <a:off x="1655" y="2704"/>
              <a:ext cx="681" cy="317"/>
            </a:xfrm>
            <a:prstGeom prst="roundRect">
              <a:avLst>
                <a:gd name="adj" fmla="val 16667"/>
              </a:avLst>
            </a:prstGeom>
            <a:solidFill>
              <a:srgbClr val="FFCC99"/>
            </a:solidFill>
            <a:ln w="12700" algn="ctr">
              <a:solidFill>
                <a:schemeClr val="tx1"/>
              </a:solidFill>
              <a:round/>
              <a:headEnd/>
              <a:tailEnd/>
            </a:ln>
            <a:effectLst/>
          </p:spPr>
          <p:txBody>
            <a:bodyPr wrap="none" anchor="ctr"/>
            <a:lstStyle/>
            <a:p>
              <a:r>
                <a:rPr lang="zh-CN" altLang="en-US" sz="1600">
                  <a:latin typeface="黑体" pitchFamily="2" charset="-122"/>
                  <a:ea typeface="黑体" pitchFamily="2" charset="-122"/>
                </a:rPr>
                <a:t>中断源</a:t>
              </a:r>
              <a:r>
                <a:rPr lang="en-US" altLang="zh-CN" sz="1600">
                  <a:latin typeface="黑体" pitchFamily="2" charset="-122"/>
                  <a:ea typeface="黑体" pitchFamily="2" charset="-122"/>
                </a:rPr>
                <a:t>14</a:t>
              </a:r>
            </a:p>
            <a:p>
              <a:r>
                <a:rPr lang="en-US" altLang="zh-CN" sz="1600">
                  <a:latin typeface="黑体" pitchFamily="2" charset="-122"/>
                  <a:ea typeface="黑体" pitchFamily="2" charset="-122"/>
                </a:rPr>
                <a:t>(EINT0)</a:t>
              </a:r>
            </a:p>
          </p:txBody>
        </p:sp>
        <p:sp>
          <p:nvSpPr>
            <p:cNvPr id="565256" name="AutoShape 8"/>
            <p:cNvSpPr>
              <a:spLocks noChangeArrowheads="1"/>
            </p:cNvSpPr>
            <p:nvPr/>
          </p:nvSpPr>
          <p:spPr bwMode="auto">
            <a:xfrm>
              <a:off x="1655" y="3067"/>
              <a:ext cx="681" cy="317"/>
            </a:xfrm>
            <a:prstGeom prst="roundRect">
              <a:avLst>
                <a:gd name="adj" fmla="val 16667"/>
              </a:avLst>
            </a:prstGeom>
            <a:solidFill>
              <a:srgbClr val="FFCC99"/>
            </a:solidFill>
            <a:ln w="12700" algn="ctr">
              <a:solidFill>
                <a:schemeClr val="tx1"/>
              </a:solidFill>
              <a:round/>
              <a:headEnd/>
              <a:tailEnd/>
            </a:ln>
            <a:effectLst/>
          </p:spPr>
          <p:txBody>
            <a:bodyPr wrap="none" anchor="ctr"/>
            <a:lstStyle/>
            <a:p>
              <a:r>
                <a:rPr lang="zh-CN" altLang="en-US" sz="1600">
                  <a:latin typeface="黑体" pitchFamily="2" charset="-122"/>
                  <a:ea typeface="黑体" pitchFamily="2" charset="-122"/>
                </a:rPr>
                <a:t>中断源</a:t>
              </a:r>
              <a:r>
                <a:rPr lang="en-US" altLang="zh-CN" sz="1600">
                  <a:latin typeface="黑体" pitchFamily="2" charset="-122"/>
                  <a:ea typeface="黑体" pitchFamily="2" charset="-122"/>
                </a:rPr>
                <a:t>15</a:t>
              </a:r>
            </a:p>
            <a:p>
              <a:r>
                <a:rPr lang="en-US" altLang="zh-CN" sz="1600">
                  <a:latin typeface="黑体" pitchFamily="2" charset="-122"/>
                  <a:ea typeface="黑体" pitchFamily="2" charset="-122"/>
                </a:rPr>
                <a:t>(EINT1)</a:t>
              </a:r>
            </a:p>
          </p:txBody>
        </p:sp>
        <p:sp>
          <p:nvSpPr>
            <p:cNvPr id="565257" name="AutoShape 9"/>
            <p:cNvSpPr>
              <a:spLocks noChangeArrowheads="1"/>
            </p:cNvSpPr>
            <p:nvPr/>
          </p:nvSpPr>
          <p:spPr bwMode="auto">
            <a:xfrm>
              <a:off x="1655" y="3430"/>
              <a:ext cx="681" cy="136"/>
            </a:xfrm>
            <a:prstGeom prst="roundRect">
              <a:avLst>
                <a:gd name="adj" fmla="val 16667"/>
              </a:avLst>
            </a:prstGeom>
            <a:solidFill>
              <a:srgbClr val="FFCC99"/>
            </a:solidFill>
            <a:ln w="12700" algn="ctr">
              <a:solidFill>
                <a:schemeClr val="tx1"/>
              </a:solidFill>
              <a:round/>
              <a:headEnd/>
              <a:tailEnd/>
            </a:ln>
            <a:effectLst/>
          </p:spPr>
          <p:txBody>
            <a:bodyPr wrap="none" tIns="3600" anchor="ctr"/>
            <a:lstStyle/>
            <a:p>
              <a:r>
                <a:rPr lang="en-US" altLang="zh-CN" sz="1600">
                  <a:latin typeface="黑体" pitchFamily="2" charset="-122"/>
                  <a:ea typeface="黑体" pitchFamily="2" charset="-122"/>
                </a:rPr>
                <a:t>...</a:t>
              </a:r>
            </a:p>
          </p:txBody>
        </p:sp>
        <p:sp>
          <p:nvSpPr>
            <p:cNvPr id="565258" name="AutoShape 10"/>
            <p:cNvSpPr>
              <a:spLocks noChangeArrowheads="1"/>
            </p:cNvSpPr>
            <p:nvPr/>
          </p:nvSpPr>
          <p:spPr bwMode="auto">
            <a:xfrm>
              <a:off x="1655" y="3611"/>
              <a:ext cx="681" cy="317"/>
            </a:xfrm>
            <a:prstGeom prst="roundRect">
              <a:avLst>
                <a:gd name="adj" fmla="val 16667"/>
              </a:avLst>
            </a:prstGeom>
            <a:solidFill>
              <a:srgbClr val="FFCC99"/>
            </a:solidFill>
            <a:ln w="12700" algn="ctr">
              <a:solidFill>
                <a:schemeClr val="tx1"/>
              </a:solidFill>
              <a:round/>
              <a:headEnd/>
              <a:tailEnd/>
            </a:ln>
            <a:effectLst/>
          </p:spPr>
          <p:txBody>
            <a:bodyPr wrap="none" anchor="ctr"/>
            <a:lstStyle/>
            <a:p>
              <a:r>
                <a:rPr lang="zh-CN" altLang="en-US" sz="1600">
                  <a:latin typeface="黑体" pitchFamily="2" charset="-122"/>
                  <a:ea typeface="黑体" pitchFamily="2" charset="-122"/>
                </a:rPr>
                <a:t>中断源</a:t>
              </a:r>
              <a:r>
                <a:rPr lang="en-US" altLang="zh-CN" sz="1600">
                  <a:latin typeface="黑体" pitchFamily="2" charset="-122"/>
                  <a:ea typeface="黑体" pitchFamily="2" charset="-122"/>
                </a:rPr>
                <a:t>17</a:t>
              </a:r>
            </a:p>
            <a:p>
              <a:r>
                <a:rPr lang="en-US" altLang="zh-CN" sz="1600">
                  <a:latin typeface="黑体" pitchFamily="2" charset="-122"/>
                  <a:ea typeface="黑体" pitchFamily="2" charset="-122"/>
                </a:rPr>
                <a:t>(EINT3)</a:t>
              </a:r>
            </a:p>
          </p:txBody>
        </p:sp>
        <p:sp>
          <p:nvSpPr>
            <p:cNvPr id="565259" name="Line 11"/>
            <p:cNvSpPr>
              <a:spLocks noChangeShapeType="1"/>
            </p:cNvSpPr>
            <p:nvPr/>
          </p:nvSpPr>
          <p:spPr bwMode="auto">
            <a:xfrm>
              <a:off x="2336" y="2885"/>
              <a:ext cx="407" cy="0"/>
            </a:xfrm>
            <a:prstGeom prst="line">
              <a:avLst/>
            </a:prstGeom>
            <a:noFill/>
            <a:ln w="28575">
              <a:solidFill>
                <a:schemeClr val="tx1"/>
              </a:solidFill>
              <a:round/>
              <a:headEnd type="oval" w="sm" len="sm"/>
              <a:tailEnd type="arrow" w="med" len="med"/>
            </a:ln>
            <a:effectLst/>
          </p:spPr>
          <p:txBody>
            <a:bodyPr wrap="none" anchor="ctr"/>
            <a:lstStyle/>
            <a:p>
              <a:endParaRPr lang="zh-CN" altLang="en-US"/>
            </a:p>
          </p:txBody>
        </p:sp>
        <p:sp>
          <p:nvSpPr>
            <p:cNvPr id="565260" name="Line 12"/>
            <p:cNvSpPr>
              <a:spLocks noChangeShapeType="1"/>
            </p:cNvSpPr>
            <p:nvPr/>
          </p:nvSpPr>
          <p:spPr bwMode="auto">
            <a:xfrm>
              <a:off x="2336" y="3248"/>
              <a:ext cx="407" cy="0"/>
            </a:xfrm>
            <a:prstGeom prst="line">
              <a:avLst/>
            </a:prstGeom>
            <a:noFill/>
            <a:ln w="28575">
              <a:solidFill>
                <a:schemeClr val="tx1"/>
              </a:solidFill>
              <a:round/>
              <a:headEnd type="oval" w="sm" len="sm"/>
              <a:tailEnd type="arrow" w="med" len="med"/>
            </a:ln>
            <a:effectLst/>
          </p:spPr>
          <p:txBody>
            <a:bodyPr wrap="none" anchor="ctr"/>
            <a:lstStyle/>
            <a:p>
              <a:endParaRPr lang="zh-CN" altLang="en-US"/>
            </a:p>
          </p:txBody>
        </p:sp>
        <p:sp>
          <p:nvSpPr>
            <p:cNvPr id="565261" name="Line 13"/>
            <p:cNvSpPr>
              <a:spLocks noChangeShapeType="1"/>
            </p:cNvSpPr>
            <p:nvPr/>
          </p:nvSpPr>
          <p:spPr bwMode="auto">
            <a:xfrm>
              <a:off x="2336" y="3793"/>
              <a:ext cx="407" cy="0"/>
            </a:xfrm>
            <a:prstGeom prst="line">
              <a:avLst/>
            </a:prstGeom>
            <a:noFill/>
            <a:ln w="28575">
              <a:solidFill>
                <a:schemeClr val="tx1"/>
              </a:solidFill>
              <a:round/>
              <a:headEnd type="oval" w="sm" len="sm"/>
              <a:tailEnd type="arrow" w="med" len="med"/>
            </a:ln>
            <a:effectLst/>
          </p:spPr>
          <p:txBody>
            <a:bodyPr wrap="none" anchor="ctr"/>
            <a:lstStyle/>
            <a:p>
              <a:endParaRPr lang="zh-CN" altLang="en-US"/>
            </a:p>
          </p:txBody>
        </p:sp>
      </p:grpSp>
      <p:grpSp>
        <p:nvGrpSpPr>
          <p:cNvPr id="565262" name="Group 14"/>
          <p:cNvGrpSpPr>
            <a:grpSpLocks/>
          </p:cNvGrpSpPr>
          <p:nvPr/>
        </p:nvGrpSpPr>
        <p:grpSpPr bwMode="auto">
          <a:xfrm>
            <a:off x="5880101" y="3284539"/>
            <a:ext cx="2303463" cy="3024187"/>
            <a:chOff x="2744" y="2069"/>
            <a:chExt cx="1451" cy="1905"/>
          </a:xfrm>
        </p:grpSpPr>
        <p:sp>
          <p:nvSpPr>
            <p:cNvPr id="565263" name="AutoShape 15"/>
            <p:cNvSpPr>
              <a:spLocks noChangeArrowheads="1"/>
            </p:cNvSpPr>
            <p:nvPr/>
          </p:nvSpPr>
          <p:spPr bwMode="auto">
            <a:xfrm>
              <a:off x="3469" y="2477"/>
              <a:ext cx="726" cy="1179"/>
            </a:xfrm>
            <a:prstGeom prst="roundRect">
              <a:avLst>
                <a:gd name="adj" fmla="val 16667"/>
              </a:avLst>
            </a:prstGeom>
            <a:solidFill>
              <a:srgbClr val="BBE0E3"/>
            </a:solidFill>
            <a:ln w="12700" algn="ctr">
              <a:solidFill>
                <a:schemeClr val="tx1"/>
              </a:solidFill>
              <a:round/>
              <a:headEnd/>
              <a:tailEnd/>
            </a:ln>
            <a:effectLst/>
          </p:spPr>
          <p:txBody>
            <a:bodyPr wrap="none" anchor="ctr"/>
            <a:lstStyle/>
            <a:p>
              <a:r>
                <a:rPr lang="en-US" altLang="zh-CN">
                  <a:latin typeface="Arial Black" pitchFamily="34" charset="0"/>
                  <a:ea typeface="黑体" pitchFamily="2" charset="-122"/>
                </a:rPr>
                <a:t>ARM</a:t>
              </a:r>
            </a:p>
            <a:p>
              <a:r>
                <a:rPr lang="zh-CN" altLang="en-US">
                  <a:latin typeface="Arial Black" pitchFamily="34" charset="0"/>
                  <a:ea typeface="黑体" pitchFamily="2" charset="-122"/>
                </a:rPr>
                <a:t>处理器核</a:t>
              </a:r>
            </a:p>
          </p:txBody>
        </p:sp>
        <p:sp>
          <p:nvSpPr>
            <p:cNvPr id="565264" name="AutoShape 16"/>
            <p:cNvSpPr>
              <a:spLocks noChangeArrowheads="1"/>
            </p:cNvSpPr>
            <p:nvPr/>
          </p:nvSpPr>
          <p:spPr bwMode="auto">
            <a:xfrm rot="16200000">
              <a:off x="1927" y="2886"/>
              <a:ext cx="1905" cy="272"/>
            </a:xfrm>
            <a:prstGeom prst="flowChartManualOperation">
              <a:avLst/>
            </a:prstGeom>
            <a:solidFill>
              <a:srgbClr val="FFFF99"/>
            </a:solidFill>
            <a:ln w="12700" algn="ctr">
              <a:solidFill>
                <a:schemeClr val="tx1"/>
              </a:solidFill>
              <a:miter lim="800000"/>
              <a:headEnd/>
              <a:tailEnd/>
            </a:ln>
            <a:effectLst/>
          </p:spPr>
          <p:txBody>
            <a:bodyPr vert="eaVert" wrap="none" anchor="ctr"/>
            <a:lstStyle/>
            <a:p>
              <a:r>
                <a:rPr lang="zh-CN" altLang="en-US" sz="1600">
                  <a:latin typeface="Arial" charset="0"/>
                  <a:ea typeface="黑体" pitchFamily="2" charset="-122"/>
                </a:rPr>
                <a:t>向</a:t>
              </a:r>
            </a:p>
            <a:p>
              <a:r>
                <a:rPr lang="zh-CN" altLang="en-US" sz="1600">
                  <a:latin typeface="Arial" charset="0"/>
                  <a:ea typeface="黑体" pitchFamily="2" charset="-122"/>
                </a:rPr>
                <a:t>量</a:t>
              </a:r>
            </a:p>
            <a:p>
              <a:r>
                <a:rPr lang="zh-CN" altLang="en-US" sz="1600">
                  <a:latin typeface="Arial" charset="0"/>
                  <a:ea typeface="黑体" pitchFamily="2" charset="-122"/>
                </a:rPr>
                <a:t>中</a:t>
              </a:r>
            </a:p>
            <a:p>
              <a:r>
                <a:rPr lang="zh-CN" altLang="en-US" sz="1600">
                  <a:latin typeface="Arial" charset="0"/>
                  <a:ea typeface="黑体" pitchFamily="2" charset="-122"/>
                </a:rPr>
                <a:t>断</a:t>
              </a:r>
            </a:p>
            <a:p>
              <a:r>
                <a:rPr lang="zh-CN" altLang="en-US" sz="1600">
                  <a:latin typeface="Arial" charset="0"/>
                  <a:ea typeface="黑体" pitchFamily="2" charset="-122"/>
                </a:rPr>
                <a:t>控</a:t>
              </a:r>
            </a:p>
            <a:p>
              <a:r>
                <a:rPr lang="zh-CN" altLang="en-US" sz="1600">
                  <a:latin typeface="Arial" charset="0"/>
                  <a:ea typeface="黑体" pitchFamily="2" charset="-122"/>
                </a:rPr>
                <a:t>制</a:t>
              </a:r>
            </a:p>
            <a:p>
              <a:r>
                <a:rPr lang="zh-CN" altLang="en-US" sz="1600">
                  <a:latin typeface="Arial" charset="0"/>
                  <a:ea typeface="黑体" pitchFamily="2" charset="-122"/>
                </a:rPr>
                <a:t>器</a:t>
              </a:r>
            </a:p>
          </p:txBody>
        </p:sp>
        <p:sp>
          <p:nvSpPr>
            <p:cNvPr id="565265" name="Line 17"/>
            <p:cNvSpPr>
              <a:spLocks noChangeShapeType="1"/>
            </p:cNvSpPr>
            <p:nvPr/>
          </p:nvSpPr>
          <p:spPr bwMode="auto">
            <a:xfrm>
              <a:off x="3016" y="2795"/>
              <a:ext cx="453" cy="0"/>
            </a:xfrm>
            <a:prstGeom prst="line">
              <a:avLst/>
            </a:prstGeom>
            <a:noFill/>
            <a:ln w="28575">
              <a:solidFill>
                <a:schemeClr val="tx1"/>
              </a:solidFill>
              <a:round/>
              <a:headEnd type="oval" w="sm" len="sm"/>
              <a:tailEnd type="arrow" w="med" len="med"/>
            </a:ln>
            <a:effectLst/>
          </p:spPr>
          <p:txBody>
            <a:bodyPr wrap="none" anchor="ctr"/>
            <a:lstStyle/>
            <a:p>
              <a:endParaRPr lang="zh-CN" altLang="en-US"/>
            </a:p>
          </p:txBody>
        </p:sp>
        <p:sp>
          <p:nvSpPr>
            <p:cNvPr id="565266" name="Line 18"/>
            <p:cNvSpPr>
              <a:spLocks noChangeShapeType="1"/>
            </p:cNvSpPr>
            <p:nvPr/>
          </p:nvSpPr>
          <p:spPr bwMode="auto">
            <a:xfrm>
              <a:off x="3016" y="3294"/>
              <a:ext cx="453" cy="0"/>
            </a:xfrm>
            <a:prstGeom prst="line">
              <a:avLst/>
            </a:prstGeom>
            <a:noFill/>
            <a:ln w="28575">
              <a:solidFill>
                <a:schemeClr val="tx1"/>
              </a:solidFill>
              <a:round/>
              <a:headEnd type="oval" w="sm" len="sm"/>
              <a:tailEnd type="arrow" w="med" len="med"/>
            </a:ln>
            <a:effectLst/>
          </p:spPr>
          <p:txBody>
            <a:bodyPr wrap="none" anchor="ctr"/>
            <a:lstStyle/>
            <a:p>
              <a:endParaRPr lang="zh-CN" altLang="en-US"/>
            </a:p>
          </p:txBody>
        </p:sp>
        <p:sp>
          <p:nvSpPr>
            <p:cNvPr id="565267" name="Text Box 19"/>
            <p:cNvSpPr txBox="1">
              <a:spLocks noChangeArrowheads="1"/>
            </p:cNvSpPr>
            <p:nvPr/>
          </p:nvSpPr>
          <p:spPr bwMode="auto">
            <a:xfrm>
              <a:off x="3015" y="2613"/>
              <a:ext cx="373" cy="212"/>
            </a:xfrm>
            <a:prstGeom prst="rect">
              <a:avLst/>
            </a:prstGeom>
            <a:noFill/>
            <a:ln w="9525">
              <a:noFill/>
              <a:miter lim="800000"/>
              <a:headEnd/>
              <a:tailEnd/>
            </a:ln>
            <a:effectLst/>
          </p:spPr>
          <p:txBody>
            <a:bodyPr wrap="none">
              <a:spAutoFit/>
            </a:bodyPr>
            <a:lstStyle/>
            <a:p>
              <a:pPr algn="l">
                <a:spcBef>
                  <a:spcPct val="50000"/>
                </a:spcBef>
              </a:pPr>
              <a:r>
                <a:rPr lang="en-US" altLang="zh-CN" sz="1600">
                  <a:latin typeface="Arial Black" pitchFamily="34" charset="0"/>
                </a:rPr>
                <a:t>IRQ</a:t>
              </a:r>
              <a:endParaRPr lang="en-US" altLang="zh-CN" sz="1600" baseline="-25000">
                <a:latin typeface="Arial Black" pitchFamily="34" charset="0"/>
              </a:endParaRPr>
            </a:p>
          </p:txBody>
        </p:sp>
        <p:sp>
          <p:nvSpPr>
            <p:cNvPr id="565268" name="Text Box 20"/>
            <p:cNvSpPr txBox="1">
              <a:spLocks noChangeArrowheads="1"/>
            </p:cNvSpPr>
            <p:nvPr/>
          </p:nvSpPr>
          <p:spPr bwMode="auto">
            <a:xfrm>
              <a:off x="3015" y="3112"/>
              <a:ext cx="358" cy="212"/>
            </a:xfrm>
            <a:prstGeom prst="rect">
              <a:avLst/>
            </a:prstGeom>
            <a:noFill/>
            <a:ln w="9525">
              <a:noFill/>
              <a:miter lim="800000"/>
              <a:headEnd/>
              <a:tailEnd/>
            </a:ln>
            <a:effectLst/>
          </p:spPr>
          <p:txBody>
            <a:bodyPr wrap="none">
              <a:spAutoFit/>
            </a:bodyPr>
            <a:lstStyle/>
            <a:p>
              <a:pPr algn="l">
                <a:spcBef>
                  <a:spcPct val="50000"/>
                </a:spcBef>
              </a:pPr>
              <a:r>
                <a:rPr lang="en-US" altLang="zh-CN" sz="1600">
                  <a:latin typeface="Arial Black" pitchFamily="34" charset="0"/>
                </a:rPr>
                <a:t>FIQ</a:t>
              </a:r>
              <a:endParaRPr lang="en-US" altLang="zh-CN" sz="1600" baseline="-25000">
                <a:latin typeface="Arial Black" pitchFamily="34" charset="0"/>
              </a:endParaRPr>
            </a:p>
          </p:txBody>
        </p:sp>
      </p:grpSp>
      <p:sp>
        <p:nvSpPr>
          <p:cNvPr id="565269" name="Rectangle 21"/>
          <p:cNvSpPr>
            <a:spLocks noChangeArrowheads="1"/>
          </p:cNvSpPr>
          <p:nvPr/>
        </p:nvSpPr>
        <p:spPr bwMode="auto">
          <a:xfrm>
            <a:off x="2209800" y="609600"/>
            <a:ext cx="7772400" cy="1143000"/>
          </a:xfrm>
          <a:prstGeom prst="rect">
            <a:avLst/>
          </a:prstGeom>
          <a:noFill/>
          <a:ln w="9525">
            <a:noFill/>
            <a:miter lim="800000"/>
            <a:headEnd/>
            <a:tailEnd/>
          </a:ln>
          <a:effectLst/>
        </p:spPr>
        <p:txBody>
          <a:bodyPr anchor="ctr"/>
          <a:lstStyle/>
          <a:p>
            <a:r>
              <a:rPr lang="en-US" altLang="zh-CN" sz="4400" dirty="0"/>
              <a:t>5.3.6</a:t>
            </a:r>
            <a:r>
              <a:rPr lang="en-US" altLang="zh-CN" sz="4400" dirty="0">
                <a:solidFill>
                  <a:schemeClr val="tx2"/>
                </a:solidFill>
                <a:latin typeface="Times New Roman" pitchFamily="18" charset="0"/>
              </a:rPr>
              <a:t>  </a:t>
            </a:r>
            <a:r>
              <a:rPr lang="zh-CN" altLang="en-US" sz="4400" dirty="0">
                <a:solidFill>
                  <a:schemeClr val="tx2"/>
                </a:solidFill>
                <a:latin typeface="Times New Roman" pitchFamily="18" charset="0"/>
              </a:rPr>
              <a:t>外部中断输入</a:t>
            </a:r>
          </a:p>
        </p:txBody>
      </p:sp>
      <p:sp>
        <p:nvSpPr>
          <p:cNvPr id="565270" name="Rectangle 22"/>
          <p:cNvSpPr>
            <a:spLocks noChangeArrowheads="1"/>
          </p:cNvSpPr>
          <p:nvPr/>
        </p:nvSpPr>
        <p:spPr bwMode="auto">
          <a:xfrm>
            <a:off x="2209800" y="17002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dirty="0">
                <a:latin typeface="Times New Roman" pitchFamily="18" charset="0"/>
              </a:rPr>
              <a:t>外部中断源</a:t>
            </a:r>
          </a:p>
        </p:txBody>
      </p:sp>
      <p:sp>
        <p:nvSpPr>
          <p:cNvPr id="565271" name="Text Box 23"/>
          <p:cNvSpPr txBox="1">
            <a:spLocks noChangeArrowheads="1"/>
          </p:cNvSpPr>
          <p:nvPr/>
        </p:nvSpPr>
        <p:spPr bwMode="auto">
          <a:xfrm>
            <a:off x="2351088" y="2319339"/>
            <a:ext cx="7561262" cy="830997"/>
          </a:xfrm>
          <a:prstGeom prst="rect">
            <a:avLst/>
          </a:prstGeom>
          <a:noFill/>
          <a:ln w="9525" algn="ctr">
            <a:noFill/>
            <a:miter lim="800000"/>
            <a:headEnd/>
            <a:tailEnd/>
          </a:ln>
          <a:effectLst/>
        </p:spPr>
        <p:txBody>
          <a:bodyPr>
            <a:spAutoFit/>
          </a:bodyPr>
          <a:lstStyle/>
          <a:p>
            <a:pPr algn="l"/>
            <a:r>
              <a:rPr lang="en-US" altLang="zh-CN" sz="2400">
                <a:latin typeface="华文新魏" pitchFamily="2" charset="-122"/>
                <a:ea typeface="华文新魏" pitchFamily="2" charset="-122"/>
              </a:rPr>
              <a:t>        LPC2000</a:t>
            </a:r>
            <a:r>
              <a:rPr lang="zh-CN" altLang="en-US" sz="2400">
                <a:latin typeface="华文新魏" pitchFamily="2" charset="-122"/>
                <a:ea typeface="华文新魏" pitchFamily="2" charset="-122"/>
              </a:rPr>
              <a:t>系列微控制器几乎所有的外设部件都可以产生中断。其中外部中断含有</a:t>
            </a:r>
            <a:r>
              <a:rPr lang="en-US" altLang="zh-CN" sz="2400">
                <a:latin typeface="华文新魏" pitchFamily="2" charset="-122"/>
                <a:ea typeface="华文新魏" pitchFamily="2" charset="-122"/>
              </a:rPr>
              <a:t>4</a:t>
            </a:r>
            <a:r>
              <a:rPr lang="zh-CN" altLang="en-US" sz="2400">
                <a:latin typeface="华文新魏" pitchFamily="2" charset="-122"/>
                <a:ea typeface="华文新魏" pitchFamily="2" charset="-122"/>
              </a:rPr>
              <a:t>个独立的中断输入。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65270"/>
                                        </p:tgtEl>
                                        <p:attrNameLst>
                                          <p:attrName>style.visibility</p:attrName>
                                        </p:attrNameLst>
                                      </p:cBhvr>
                                      <p:to>
                                        <p:strVal val="visible"/>
                                      </p:to>
                                    </p:set>
                                    <p:anim calcmode="lin" valueType="num">
                                      <p:cBhvr additive="base">
                                        <p:cTn id="7" dur="500" fill="hold"/>
                                        <p:tgtEl>
                                          <p:spTgt spid="565270"/>
                                        </p:tgtEl>
                                        <p:attrNameLst>
                                          <p:attrName>ppt_x</p:attrName>
                                        </p:attrNameLst>
                                      </p:cBhvr>
                                      <p:tavLst>
                                        <p:tav tm="0">
                                          <p:val>
                                            <p:strVal val="1+#ppt_w/2"/>
                                          </p:val>
                                        </p:tav>
                                        <p:tav tm="100000">
                                          <p:val>
                                            <p:strVal val="#ppt_x"/>
                                          </p:val>
                                        </p:tav>
                                      </p:tavLst>
                                    </p:anim>
                                    <p:anim calcmode="lin" valueType="num">
                                      <p:cBhvr additive="base">
                                        <p:cTn id="8" dur="500" fill="hold"/>
                                        <p:tgtEl>
                                          <p:spTgt spid="56527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565271"/>
                                        </p:tgtEl>
                                        <p:attrNameLst>
                                          <p:attrName>style.visibility</p:attrName>
                                        </p:attrNameLst>
                                      </p:cBhvr>
                                      <p:to>
                                        <p:strVal val="visible"/>
                                      </p:to>
                                    </p:set>
                                    <p:animEffect transition="in" filter="box(in)">
                                      <p:cBhvr>
                                        <p:cTn id="12" dur="500"/>
                                        <p:tgtEl>
                                          <p:spTgt spid="565271"/>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565250"/>
                                        </p:tgtEl>
                                        <p:attrNameLst>
                                          <p:attrName>style.visibility</p:attrName>
                                        </p:attrNameLst>
                                      </p:cBhvr>
                                      <p:to>
                                        <p:strVal val="visible"/>
                                      </p:to>
                                    </p:set>
                                    <p:animEffect transition="in" filter="wipe(left)">
                                      <p:cBhvr>
                                        <p:cTn id="16" dur="500"/>
                                        <p:tgtEl>
                                          <p:spTgt spid="565250"/>
                                        </p:tgtEl>
                                      </p:cBhvr>
                                    </p:animEffect>
                                  </p:childTnLst>
                                </p:cTn>
                              </p:par>
                              <p:par>
                                <p:cTn id="17" presetID="22" presetClass="entr" presetSubtype="8" fill="hold" nodeType="withEffect">
                                  <p:stCondLst>
                                    <p:cond delay="0"/>
                                  </p:stCondLst>
                                  <p:childTnLst>
                                    <p:set>
                                      <p:cBhvr>
                                        <p:cTn id="18" dur="1" fill="hold">
                                          <p:stCondLst>
                                            <p:cond delay="0"/>
                                          </p:stCondLst>
                                        </p:cTn>
                                        <p:tgtEl>
                                          <p:spTgt spid="565254"/>
                                        </p:tgtEl>
                                        <p:attrNameLst>
                                          <p:attrName>style.visibility</p:attrName>
                                        </p:attrNameLst>
                                      </p:cBhvr>
                                      <p:to>
                                        <p:strVal val="visible"/>
                                      </p:to>
                                    </p:set>
                                    <p:animEffect transition="in" filter="wipe(left)">
                                      <p:cBhvr>
                                        <p:cTn id="19" dur="500"/>
                                        <p:tgtEl>
                                          <p:spTgt spid="565254"/>
                                        </p:tgtEl>
                                      </p:cBhvr>
                                    </p:animEffect>
                                  </p:childTnLst>
                                </p:cTn>
                              </p:par>
                            </p:childTnLst>
                          </p:cTn>
                        </p:par>
                        <p:par>
                          <p:cTn id="20" fill="hold">
                            <p:stCondLst>
                              <p:cond delay="1500"/>
                            </p:stCondLst>
                            <p:childTnLst>
                              <p:par>
                                <p:cTn id="21" presetID="22" presetClass="entr" presetSubtype="8" fill="hold" nodeType="afterEffect">
                                  <p:stCondLst>
                                    <p:cond delay="0"/>
                                  </p:stCondLst>
                                  <p:childTnLst>
                                    <p:set>
                                      <p:cBhvr>
                                        <p:cTn id="22" dur="1" fill="hold">
                                          <p:stCondLst>
                                            <p:cond delay="0"/>
                                          </p:stCondLst>
                                        </p:cTn>
                                        <p:tgtEl>
                                          <p:spTgt spid="565262"/>
                                        </p:tgtEl>
                                        <p:attrNameLst>
                                          <p:attrName>style.visibility</p:attrName>
                                        </p:attrNameLst>
                                      </p:cBhvr>
                                      <p:to>
                                        <p:strVal val="visible"/>
                                      </p:to>
                                    </p:set>
                                    <p:animEffect transition="in" filter="wipe(left)">
                                      <p:cBhvr>
                                        <p:cTn id="23" dur="500"/>
                                        <p:tgtEl>
                                          <p:spTgt spid="565262"/>
                                        </p:tgtEl>
                                      </p:cBhvr>
                                    </p:animEffect>
                                  </p:childTnLst>
                                </p:cTn>
                              </p:par>
                            </p:childTnLst>
                          </p:cTn>
                        </p:par>
                        <p:par>
                          <p:cTn id="24" fill="hold">
                            <p:stCondLst>
                              <p:cond delay="2000"/>
                            </p:stCondLst>
                            <p:childTnLst>
                              <p:par>
                                <p:cTn id="25" presetID="35" presetClass="emph" presetSubtype="0" repeatCount="3000" fill="hold" nodeType="afterEffect">
                                  <p:stCondLst>
                                    <p:cond delay="0"/>
                                  </p:stCondLst>
                                  <p:childTnLst>
                                    <p:anim calcmode="discrete" valueType="str">
                                      <p:cBhvr>
                                        <p:cTn id="26" dur="500" fill="hold"/>
                                        <p:tgtEl>
                                          <p:spTgt spid="56525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70" grpId="0"/>
      <p:bldP spid="565271"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8" name="Rectangle 2"/>
          <p:cNvSpPr>
            <a:spLocks noChangeArrowheads="1"/>
          </p:cNvSpPr>
          <p:nvPr/>
        </p:nvSpPr>
        <p:spPr bwMode="auto">
          <a:xfrm>
            <a:off x="2209800" y="692150"/>
            <a:ext cx="7772400" cy="1143000"/>
          </a:xfrm>
          <a:prstGeom prst="rect">
            <a:avLst/>
          </a:prstGeom>
          <a:noFill/>
          <a:ln w="9525">
            <a:noFill/>
            <a:miter lim="800000"/>
            <a:headEnd/>
            <a:tailEnd/>
          </a:ln>
          <a:effectLst/>
        </p:spPr>
        <p:txBody>
          <a:bodyPr anchor="ctr"/>
          <a:lstStyle/>
          <a:p>
            <a:r>
              <a:rPr lang="zh-CN" altLang="en-US" sz="4400">
                <a:solidFill>
                  <a:schemeClr val="tx2"/>
                </a:solidFill>
                <a:latin typeface="Times New Roman" pitchFamily="18" charset="0"/>
              </a:rPr>
              <a:t>系统控制模块功能汇总</a:t>
            </a:r>
          </a:p>
        </p:txBody>
      </p:sp>
      <p:graphicFrame>
        <p:nvGraphicFramePr>
          <p:cNvPr id="577539" name="Group 3"/>
          <p:cNvGraphicFramePr>
            <a:graphicFrameLocks noGrp="1"/>
          </p:cNvGraphicFramePr>
          <p:nvPr/>
        </p:nvGraphicFramePr>
        <p:xfrm>
          <a:off x="3071813" y="2781300"/>
          <a:ext cx="5903912" cy="1544638"/>
        </p:xfrm>
        <a:graphic>
          <a:graphicData uri="http://schemas.openxmlformats.org/drawingml/2006/table">
            <a:tbl>
              <a:tblPr/>
              <a:tblGrid>
                <a:gridCol w="1152525">
                  <a:extLst>
                    <a:ext uri="{9D8B030D-6E8A-4147-A177-3AD203B41FA5}">
                      <a16:colId xmlns:a16="http://schemas.microsoft.com/office/drawing/2014/main" val="20000"/>
                    </a:ext>
                  </a:extLst>
                </a:gridCol>
                <a:gridCol w="1800225">
                  <a:extLst>
                    <a:ext uri="{9D8B030D-6E8A-4147-A177-3AD203B41FA5}">
                      <a16:colId xmlns:a16="http://schemas.microsoft.com/office/drawing/2014/main" val="20001"/>
                    </a:ext>
                  </a:extLst>
                </a:gridCol>
                <a:gridCol w="792162">
                  <a:extLst>
                    <a:ext uri="{9D8B030D-6E8A-4147-A177-3AD203B41FA5}">
                      <a16:colId xmlns:a16="http://schemas.microsoft.com/office/drawing/2014/main" val="20002"/>
                    </a:ext>
                  </a:extLst>
                </a:gridCol>
                <a:gridCol w="935038">
                  <a:extLst>
                    <a:ext uri="{9D8B030D-6E8A-4147-A177-3AD203B41FA5}">
                      <a16:colId xmlns:a16="http://schemas.microsoft.com/office/drawing/2014/main" val="20003"/>
                    </a:ext>
                  </a:extLst>
                </a:gridCol>
                <a:gridCol w="1223962">
                  <a:extLst>
                    <a:ext uri="{9D8B030D-6E8A-4147-A177-3AD203B41FA5}">
                      <a16:colId xmlns:a16="http://schemas.microsoft.com/office/drawing/2014/main" val="20004"/>
                    </a:ext>
                  </a:extLst>
                </a:gridCol>
              </a:tblGrid>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名称</a:t>
                      </a:r>
                      <a:endParaRPr kumimoji="0" lang="zh-CN" altLang="en-US" sz="1400" b="0" i="0" u="none" strike="noStrike" cap="none" normalizeH="0" baseline="0">
                        <a:ln>
                          <a:noFill/>
                        </a:ln>
                        <a:solidFill>
                          <a:schemeClr val="tx1"/>
                        </a:solidFill>
                        <a:effectLst/>
                        <a:latin typeface="Arial" charset="0"/>
                        <a:ea typeface="黑体" pitchFamily="2" charset="-122"/>
                        <a:cs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描述</a:t>
                      </a:r>
                      <a:endParaRPr kumimoji="0" lang="zh-CN" altLang="en-US" sz="1400" b="0" i="0" u="none" strike="noStrike" cap="none" normalizeH="0" baseline="0">
                        <a:ln>
                          <a:noFill/>
                        </a:ln>
                        <a:solidFill>
                          <a:schemeClr val="tx1"/>
                        </a:solidFill>
                        <a:effectLst/>
                        <a:latin typeface="Arial" charset="0"/>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访问</a:t>
                      </a:r>
                      <a:endParaRPr kumimoji="0" lang="zh-CN" altLang="en-US" sz="1400" b="0" i="0" u="none" strike="noStrike" cap="none" normalizeH="0" baseline="0">
                        <a:ln>
                          <a:noFill/>
                        </a:ln>
                        <a:solidFill>
                          <a:schemeClr val="tx1"/>
                        </a:solidFill>
                        <a:effectLst/>
                        <a:latin typeface="Arial" charset="0"/>
                        <a:ea typeface="黑体" pitchFamily="2" charset="-122"/>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复位值*</a:t>
                      </a:r>
                      <a:endParaRPr kumimoji="0" lang="zh-CN" altLang="en-US" sz="1400" b="0" i="0" u="none" strike="noStrike" cap="none" normalizeH="0" baseline="0">
                        <a:ln>
                          <a:noFill/>
                        </a:ln>
                        <a:solidFill>
                          <a:schemeClr val="tx1"/>
                        </a:solidFill>
                        <a:effectLst/>
                        <a:latin typeface="Arial" charset="0"/>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地址</a:t>
                      </a:r>
                      <a:endParaRPr kumimoji="0" lang="zh-CN" altLang="en-US" sz="1400" b="0" i="0" u="none" strike="noStrike" cap="none" normalizeH="0" baseline="0">
                        <a:ln>
                          <a:noFill/>
                        </a:ln>
                        <a:solidFill>
                          <a:schemeClr val="tx1"/>
                        </a:solidFill>
                        <a:effectLst/>
                        <a:latin typeface="Arial" charset="0"/>
                        <a:ea typeface="黑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EXTINT</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外部中断标志寄存器</a:t>
                      </a:r>
                      <a:endParaRPr kumimoji="0" lang="zh-CN" altLang="en-US" sz="14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R/W</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0xE01FC140</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EXTWAKE</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外部中断唤醒寄存器</a:t>
                      </a:r>
                      <a:endParaRPr kumimoji="0" lang="zh-CN" altLang="en-US" sz="14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R/W</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0xE01FC144</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EXTMODE</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外部中断方式寄存器</a:t>
                      </a:r>
                      <a:endParaRPr kumimoji="0" lang="zh-CN" altLang="en-US" sz="14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R/W</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0xE01FC148</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r h="3254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EXTPOLAR</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外部中断极性寄存器</a:t>
                      </a:r>
                      <a:endParaRPr kumimoji="0" lang="zh-CN" altLang="en-US" sz="14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R/W</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0xE01FC14C</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bl>
          </a:graphicData>
        </a:graphic>
      </p:graphicFrame>
      <p:sp>
        <p:nvSpPr>
          <p:cNvPr id="577581" name="Text Box 45"/>
          <p:cNvSpPr txBox="1">
            <a:spLocks noChangeArrowheads="1"/>
          </p:cNvSpPr>
          <p:nvPr/>
        </p:nvSpPr>
        <p:spPr bwMode="auto">
          <a:xfrm>
            <a:off x="2495551" y="4797426"/>
            <a:ext cx="7129463" cy="396875"/>
          </a:xfrm>
          <a:prstGeom prst="rect">
            <a:avLst/>
          </a:prstGeom>
          <a:noFill/>
          <a:ln w="9525" algn="ctr">
            <a:noFill/>
            <a:miter lim="800000"/>
            <a:headEnd/>
            <a:tailEnd/>
          </a:ln>
          <a:effectLst/>
        </p:spPr>
        <p:txBody>
          <a:bodyPr>
            <a:spAutoFit/>
          </a:bodyPr>
          <a:lstStyle/>
          <a:p>
            <a:pPr algn="l">
              <a:spcBef>
                <a:spcPct val="50000"/>
              </a:spcBef>
            </a:pPr>
            <a:r>
              <a:rPr lang="en-US" altLang="zh-CN" sz="2000">
                <a:solidFill>
                  <a:srgbClr val="FF0000"/>
                </a:solidFill>
                <a:latin typeface="华文新魏" pitchFamily="2" charset="-122"/>
                <a:ea typeface="华文新魏" pitchFamily="2" charset="-122"/>
              </a:rPr>
              <a:t>*</a:t>
            </a:r>
            <a:r>
              <a:rPr lang="zh-CN" altLang="en-US" sz="2000">
                <a:solidFill>
                  <a:srgbClr val="FF0000"/>
                </a:solidFill>
                <a:latin typeface="华文新魏" pitchFamily="2" charset="-122"/>
                <a:ea typeface="华文新魏" pitchFamily="2" charset="-122"/>
              </a:rPr>
              <a:t>：</a:t>
            </a:r>
            <a:r>
              <a:rPr lang="zh-CN" altLang="en-US" sz="2000">
                <a:latin typeface="华文新魏" pitchFamily="2" charset="-122"/>
                <a:ea typeface="华文新魏" pitchFamily="2" charset="-122"/>
              </a:rPr>
              <a:t>复位值仅指已使用位中保存的数据，不包括保留位的内容。</a:t>
            </a:r>
          </a:p>
        </p:txBody>
      </p:sp>
      <p:sp>
        <p:nvSpPr>
          <p:cNvPr id="577583" name="Rectangle 47"/>
          <p:cNvSpPr>
            <a:spLocks noChangeArrowheads="1"/>
          </p:cNvSpPr>
          <p:nvPr/>
        </p:nvSpPr>
        <p:spPr bwMode="auto">
          <a:xfrm>
            <a:off x="2209801" y="1916113"/>
            <a:ext cx="3165475"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寄存器汇总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577539"/>
                                        </p:tgtEl>
                                        <p:attrNameLst>
                                          <p:attrName>style.visibility</p:attrName>
                                        </p:attrNameLst>
                                      </p:cBhvr>
                                      <p:to>
                                        <p:strVal val="visible"/>
                                      </p:to>
                                    </p:set>
                                    <p:animEffect transition="in" filter="slide(fromTop)">
                                      <p:cBhvr>
                                        <p:cTn id="7" dur="500"/>
                                        <p:tgtEl>
                                          <p:spTgt spid="577539"/>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577581"/>
                                        </p:tgtEl>
                                        <p:attrNameLst>
                                          <p:attrName>style.visibility</p:attrName>
                                        </p:attrNameLst>
                                      </p:cBhvr>
                                      <p:to>
                                        <p:strVal val="visible"/>
                                      </p:to>
                                    </p:set>
                                    <p:anim calcmode="lin" valueType="num">
                                      <p:cBhvr additive="base">
                                        <p:cTn id="11" dur="500" fill="hold"/>
                                        <p:tgtEl>
                                          <p:spTgt spid="577581"/>
                                        </p:tgtEl>
                                        <p:attrNameLst>
                                          <p:attrName>ppt_x</p:attrName>
                                        </p:attrNameLst>
                                      </p:cBhvr>
                                      <p:tavLst>
                                        <p:tav tm="0">
                                          <p:val>
                                            <p:strVal val="1+#ppt_w/2"/>
                                          </p:val>
                                        </p:tav>
                                        <p:tav tm="100000">
                                          <p:val>
                                            <p:strVal val="#ppt_x"/>
                                          </p:val>
                                        </p:tav>
                                      </p:tavLst>
                                    </p:anim>
                                    <p:anim calcmode="lin" valueType="num">
                                      <p:cBhvr additive="base">
                                        <p:cTn id="12" dur="500" fill="hold"/>
                                        <p:tgtEl>
                                          <p:spTgt spid="577581"/>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577583"/>
                                        </p:tgtEl>
                                        <p:attrNameLst>
                                          <p:attrName>style.visibility</p:attrName>
                                        </p:attrNameLst>
                                      </p:cBhvr>
                                      <p:to>
                                        <p:strVal val="visible"/>
                                      </p:to>
                                    </p:set>
                                    <p:anim calcmode="lin" valueType="num">
                                      <p:cBhvr additive="base">
                                        <p:cTn id="15" dur="500" fill="hold"/>
                                        <p:tgtEl>
                                          <p:spTgt spid="577583"/>
                                        </p:tgtEl>
                                        <p:attrNameLst>
                                          <p:attrName>ppt_x</p:attrName>
                                        </p:attrNameLst>
                                      </p:cBhvr>
                                      <p:tavLst>
                                        <p:tav tm="0">
                                          <p:val>
                                            <p:strVal val="1+#ppt_w/2"/>
                                          </p:val>
                                        </p:tav>
                                        <p:tav tm="100000">
                                          <p:val>
                                            <p:strVal val="#ppt_x"/>
                                          </p:val>
                                        </p:tav>
                                      </p:tavLst>
                                    </p:anim>
                                    <p:anim calcmode="lin" valueType="num">
                                      <p:cBhvr additive="base">
                                        <p:cTn id="16" dur="500" fill="hold"/>
                                        <p:tgtEl>
                                          <p:spTgt spid="5775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7581" grpId="0"/>
      <p:bldP spid="57758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6274" name="Group 2"/>
          <p:cNvGrpSpPr>
            <a:grpSpLocks/>
          </p:cNvGrpSpPr>
          <p:nvPr/>
        </p:nvGrpSpPr>
        <p:grpSpPr bwMode="auto">
          <a:xfrm>
            <a:off x="1966913" y="3284538"/>
            <a:ext cx="8305800" cy="2895600"/>
            <a:chOff x="288" y="2150"/>
            <a:chExt cx="5232" cy="1824"/>
          </a:xfrm>
        </p:grpSpPr>
        <p:sp>
          <p:nvSpPr>
            <p:cNvPr id="566275" name="Rectangle 3"/>
            <p:cNvSpPr>
              <a:spLocks noChangeArrowheads="1"/>
            </p:cNvSpPr>
            <p:nvPr/>
          </p:nvSpPr>
          <p:spPr bwMode="auto">
            <a:xfrm>
              <a:off x="1565" y="2638"/>
              <a:ext cx="1769" cy="1044"/>
            </a:xfrm>
            <a:prstGeom prst="rect">
              <a:avLst/>
            </a:prstGeom>
            <a:noFill/>
            <a:ln w="9525" algn="ctr">
              <a:solidFill>
                <a:schemeClr val="tx1"/>
              </a:solidFill>
              <a:prstDash val="dash"/>
              <a:miter lim="800000"/>
              <a:headEnd/>
              <a:tailEnd/>
            </a:ln>
            <a:effectLst/>
          </p:spPr>
          <p:txBody>
            <a:bodyPr wrap="none" anchor="ctr"/>
            <a:lstStyle/>
            <a:p>
              <a:endParaRPr lang="zh-CN" altLang="en-US"/>
            </a:p>
          </p:txBody>
        </p:sp>
        <p:sp>
          <p:nvSpPr>
            <p:cNvPr id="566276" name="Rectangle 4"/>
            <p:cNvSpPr>
              <a:spLocks noChangeArrowheads="1"/>
            </p:cNvSpPr>
            <p:nvPr/>
          </p:nvSpPr>
          <p:spPr bwMode="auto">
            <a:xfrm>
              <a:off x="768" y="2486"/>
              <a:ext cx="672" cy="1152"/>
            </a:xfrm>
            <a:prstGeom prst="rect">
              <a:avLst/>
            </a:prstGeom>
            <a:solidFill>
              <a:srgbClr val="CCFFFF"/>
            </a:solidFill>
            <a:ln w="9525">
              <a:solidFill>
                <a:schemeClr val="tx1"/>
              </a:solidFill>
              <a:miter lim="800000"/>
              <a:headEnd/>
              <a:tailEnd/>
            </a:ln>
            <a:effectLst/>
          </p:spPr>
          <p:txBody>
            <a:bodyPr wrap="none" anchor="ctr"/>
            <a:lstStyle/>
            <a:p>
              <a:r>
                <a:rPr lang="zh-CN" altLang="en-US">
                  <a:latin typeface="宋体" pitchFamily="2" charset="-122"/>
                </a:rPr>
                <a:t>管脚</a:t>
              </a:r>
            </a:p>
            <a:p>
              <a:r>
                <a:rPr lang="zh-CN" altLang="en-US">
                  <a:latin typeface="宋体" pitchFamily="2" charset="-122"/>
                </a:rPr>
                <a:t>连接控制</a:t>
              </a:r>
            </a:p>
          </p:txBody>
        </p:sp>
        <p:sp>
          <p:nvSpPr>
            <p:cNvPr id="566277" name="Rectangle 5"/>
            <p:cNvSpPr>
              <a:spLocks noChangeArrowheads="1"/>
            </p:cNvSpPr>
            <p:nvPr/>
          </p:nvSpPr>
          <p:spPr bwMode="auto">
            <a:xfrm>
              <a:off x="1632" y="2774"/>
              <a:ext cx="720" cy="576"/>
            </a:xfrm>
            <a:prstGeom prst="rect">
              <a:avLst/>
            </a:prstGeom>
            <a:solidFill>
              <a:srgbClr val="CCFFCC"/>
            </a:solidFill>
            <a:ln w="9525">
              <a:solidFill>
                <a:schemeClr val="tx1"/>
              </a:solidFill>
              <a:miter lim="800000"/>
              <a:headEnd/>
              <a:tailEnd/>
            </a:ln>
            <a:effectLst/>
          </p:spPr>
          <p:txBody>
            <a:bodyPr wrap="none" anchor="ctr"/>
            <a:lstStyle/>
            <a:p>
              <a:r>
                <a:rPr lang="zh-CN" altLang="en-US">
                  <a:latin typeface="宋体" pitchFamily="2" charset="-122"/>
                </a:rPr>
                <a:t>外部中断</a:t>
              </a:r>
            </a:p>
            <a:p>
              <a:r>
                <a:rPr lang="zh-CN" altLang="en-US">
                  <a:latin typeface="宋体" pitchFamily="2" charset="-122"/>
                </a:rPr>
                <a:t>极性控制</a:t>
              </a:r>
            </a:p>
          </p:txBody>
        </p:sp>
        <p:sp>
          <p:nvSpPr>
            <p:cNvPr id="566278" name="Rectangle 6"/>
            <p:cNvSpPr>
              <a:spLocks noChangeArrowheads="1"/>
            </p:cNvSpPr>
            <p:nvPr/>
          </p:nvSpPr>
          <p:spPr bwMode="auto">
            <a:xfrm>
              <a:off x="2544" y="2774"/>
              <a:ext cx="720" cy="576"/>
            </a:xfrm>
            <a:prstGeom prst="rect">
              <a:avLst/>
            </a:prstGeom>
            <a:solidFill>
              <a:srgbClr val="CCFFCC"/>
            </a:solidFill>
            <a:ln w="9525">
              <a:solidFill>
                <a:schemeClr val="tx1"/>
              </a:solidFill>
              <a:miter lim="800000"/>
              <a:headEnd/>
              <a:tailEnd/>
            </a:ln>
            <a:effectLst/>
          </p:spPr>
          <p:txBody>
            <a:bodyPr wrap="none" anchor="ctr"/>
            <a:lstStyle/>
            <a:p>
              <a:r>
                <a:rPr lang="zh-CN" altLang="en-US">
                  <a:latin typeface="宋体" pitchFamily="2" charset="-122"/>
                </a:rPr>
                <a:t>外部中断</a:t>
              </a:r>
            </a:p>
            <a:p>
              <a:r>
                <a:rPr lang="zh-CN" altLang="en-US">
                  <a:latin typeface="宋体" pitchFamily="2" charset="-122"/>
                </a:rPr>
                <a:t>方式控制</a:t>
              </a:r>
            </a:p>
          </p:txBody>
        </p:sp>
        <p:sp>
          <p:nvSpPr>
            <p:cNvPr id="566279" name="Rectangle 7"/>
            <p:cNvSpPr>
              <a:spLocks noChangeArrowheads="1"/>
            </p:cNvSpPr>
            <p:nvPr/>
          </p:nvSpPr>
          <p:spPr bwMode="auto">
            <a:xfrm>
              <a:off x="3600" y="2534"/>
              <a:ext cx="720" cy="480"/>
            </a:xfrm>
            <a:prstGeom prst="rect">
              <a:avLst/>
            </a:prstGeom>
            <a:solidFill>
              <a:srgbClr val="FFCC99"/>
            </a:solidFill>
            <a:ln w="9525">
              <a:solidFill>
                <a:schemeClr val="tx1"/>
              </a:solidFill>
              <a:miter lim="800000"/>
              <a:headEnd/>
              <a:tailEnd/>
            </a:ln>
            <a:effectLst/>
          </p:spPr>
          <p:txBody>
            <a:bodyPr wrap="none" anchor="ctr"/>
            <a:lstStyle/>
            <a:p>
              <a:r>
                <a:rPr lang="zh-CN" altLang="en-US">
                  <a:latin typeface="宋体" pitchFamily="2" charset="-122"/>
                </a:rPr>
                <a:t>掉电</a:t>
              </a:r>
            </a:p>
            <a:p>
              <a:r>
                <a:rPr lang="zh-CN" altLang="en-US">
                  <a:latin typeface="宋体" pitchFamily="2" charset="-122"/>
                </a:rPr>
                <a:t>唤醒控制</a:t>
              </a:r>
            </a:p>
          </p:txBody>
        </p:sp>
        <p:sp>
          <p:nvSpPr>
            <p:cNvPr id="566280" name="Rectangle 8"/>
            <p:cNvSpPr>
              <a:spLocks noChangeArrowheads="1"/>
            </p:cNvSpPr>
            <p:nvPr/>
          </p:nvSpPr>
          <p:spPr bwMode="auto">
            <a:xfrm>
              <a:off x="3600" y="3158"/>
              <a:ext cx="720" cy="480"/>
            </a:xfrm>
            <a:prstGeom prst="rect">
              <a:avLst/>
            </a:prstGeom>
            <a:solidFill>
              <a:srgbClr val="FFCC99"/>
            </a:solidFill>
            <a:ln w="9525">
              <a:solidFill>
                <a:schemeClr val="tx1"/>
              </a:solidFill>
              <a:miter lim="800000"/>
              <a:headEnd/>
              <a:tailEnd/>
            </a:ln>
            <a:effectLst/>
          </p:spPr>
          <p:txBody>
            <a:bodyPr wrap="none" anchor="ctr"/>
            <a:lstStyle/>
            <a:p>
              <a:r>
                <a:rPr lang="zh-CN" altLang="en-US">
                  <a:latin typeface="宋体" pitchFamily="2" charset="-122"/>
                </a:rPr>
                <a:t>中断标志</a:t>
              </a:r>
            </a:p>
          </p:txBody>
        </p:sp>
        <p:sp>
          <p:nvSpPr>
            <p:cNvPr id="566281" name="Line 9"/>
            <p:cNvSpPr>
              <a:spLocks noChangeShapeType="1"/>
            </p:cNvSpPr>
            <p:nvPr/>
          </p:nvSpPr>
          <p:spPr bwMode="auto">
            <a:xfrm>
              <a:off x="1440" y="3062"/>
              <a:ext cx="192" cy="0"/>
            </a:xfrm>
            <a:prstGeom prst="line">
              <a:avLst/>
            </a:prstGeom>
            <a:noFill/>
            <a:ln w="28575">
              <a:solidFill>
                <a:schemeClr val="tx1"/>
              </a:solidFill>
              <a:round/>
              <a:headEnd/>
              <a:tailEnd type="triangle" w="med" len="med"/>
            </a:ln>
            <a:effectLst/>
          </p:spPr>
          <p:txBody>
            <a:bodyPr/>
            <a:lstStyle/>
            <a:p>
              <a:endParaRPr lang="zh-CN" altLang="en-US"/>
            </a:p>
          </p:txBody>
        </p:sp>
        <p:sp>
          <p:nvSpPr>
            <p:cNvPr id="566282" name="Line 10"/>
            <p:cNvSpPr>
              <a:spLocks noChangeShapeType="1"/>
            </p:cNvSpPr>
            <p:nvPr/>
          </p:nvSpPr>
          <p:spPr bwMode="auto">
            <a:xfrm>
              <a:off x="2352" y="3062"/>
              <a:ext cx="192" cy="0"/>
            </a:xfrm>
            <a:prstGeom prst="line">
              <a:avLst/>
            </a:prstGeom>
            <a:noFill/>
            <a:ln w="28575">
              <a:solidFill>
                <a:schemeClr val="tx1"/>
              </a:solidFill>
              <a:round/>
              <a:headEnd/>
              <a:tailEnd type="triangle" w="med" len="med"/>
            </a:ln>
            <a:effectLst/>
          </p:spPr>
          <p:txBody>
            <a:bodyPr/>
            <a:lstStyle/>
            <a:p>
              <a:endParaRPr lang="zh-CN" altLang="en-US"/>
            </a:p>
          </p:txBody>
        </p:sp>
        <p:grpSp>
          <p:nvGrpSpPr>
            <p:cNvPr id="566283" name="Group 11"/>
            <p:cNvGrpSpPr>
              <a:grpSpLocks/>
            </p:cNvGrpSpPr>
            <p:nvPr/>
          </p:nvGrpSpPr>
          <p:grpSpPr bwMode="auto">
            <a:xfrm>
              <a:off x="4320" y="2774"/>
              <a:ext cx="192" cy="624"/>
              <a:chOff x="4320" y="2304"/>
              <a:chExt cx="192" cy="624"/>
            </a:xfrm>
          </p:grpSpPr>
          <p:sp>
            <p:nvSpPr>
              <p:cNvPr id="566284" name="Line 12"/>
              <p:cNvSpPr>
                <a:spLocks noChangeShapeType="1"/>
              </p:cNvSpPr>
              <p:nvPr/>
            </p:nvSpPr>
            <p:spPr bwMode="auto">
              <a:xfrm>
                <a:off x="4320" y="2304"/>
                <a:ext cx="192" cy="0"/>
              </a:xfrm>
              <a:prstGeom prst="line">
                <a:avLst/>
              </a:prstGeom>
              <a:noFill/>
              <a:ln w="28575">
                <a:solidFill>
                  <a:schemeClr val="tx1"/>
                </a:solidFill>
                <a:round/>
                <a:headEnd/>
                <a:tailEnd type="triangle" w="med" len="med"/>
              </a:ln>
              <a:effectLst/>
            </p:spPr>
            <p:txBody>
              <a:bodyPr/>
              <a:lstStyle/>
              <a:p>
                <a:endParaRPr lang="zh-CN" altLang="en-US"/>
              </a:p>
            </p:txBody>
          </p:sp>
          <p:sp>
            <p:nvSpPr>
              <p:cNvPr id="566285" name="Line 13"/>
              <p:cNvSpPr>
                <a:spLocks noChangeShapeType="1"/>
              </p:cNvSpPr>
              <p:nvPr/>
            </p:nvSpPr>
            <p:spPr bwMode="auto">
              <a:xfrm>
                <a:off x="4320" y="2928"/>
                <a:ext cx="192" cy="0"/>
              </a:xfrm>
              <a:prstGeom prst="line">
                <a:avLst/>
              </a:prstGeom>
              <a:noFill/>
              <a:ln w="28575">
                <a:solidFill>
                  <a:schemeClr val="tx1"/>
                </a:solidFill>
                <a:round/>
                <a:headEnd/>
                <a:tailEnd type="triangle" w="med" len="med"/>
              </a:ln>
              <a:effectLst/>
            </p:spPr>
            <p:txBody>
              <a:bodyPr/>
              <a:lstStyle/>
              <a:p>
                <a:endParaRPr lang="zh-CN" altLang="en-US"/>
              </a:p>
            </p:txBody>
          </p:sp>
        </p:grpSp>
        <p:grpSp>
          <p:nvGrpSpPr>
            <p:cNvPr id="566286" name="Group 14"/>
            <p:cNvGrpSpPr>
              <a:grpSpLocks/>
            </p:cNvGrpSpPr>
            <p:nvPr/>
          </p:nvGrpSpPr>
          <p:grpSpPr bwMode="auto">
            <a:xfrm>
              <a:off x="3264" y="2774"/>
              <a:ext cx="336" cy="624"/>
              <a:chOff x="3264" y="2304"/>
              <a:chExt cx="336" cy="624"/>
            </a:xfrm>
          </p:grpSpPr>
          <p:sp>
            <p:nvSpPr>
              <p:cNvPr id="566287" name="Line 15"/>
              <p:cNvSpPr>
                <a:spLocks noChangeShapeType="1"/>
              </p:cNvSpPr>
              <p:nvPr/>
            </p:nvSpPr>
            <p:spPr bwMode="auto">
              <a:xfrm>
                <a:off x="3408" y="2304"/>
                <a:ext cx="192" cy="0"/>
              </a:xfrm>
              <a:prstGeom prst="line">
                <a:avLst/>
              </a:prstGeom>
              <a:noFill/>
              <a:ln w="28575">
                <a:solidFill>
                  <a:schemeClr val="tx1"/>
                </a:solidFill>
                <a:round/>
                <a:headEnd/>
                <a:tailEnd type="triangle" w="med" len="med"/>
              </a:ln>
              <a:effectLst/>
            </p:spPr>
            <p:txBody>
              <a:bodyPr/>
              <a:lstStyle/>
              <a:p>
                <a:endParaRPr lang="zh-CN" altLang="en-US"/>
              </a:p>
            </p:txBody>
          </p:sp>
          <p:sp>
            <p:nvSpPr>
              <p:cNvPr id="566288" name="Line 16"/>
              <p:cNvSpPr>
                <a:spLocks noChangeShapeType="1"/>
              </p:cNvSpPr>
              <p:nvPr/>
            </p:nvSpPr>
            <p:spPr bwMode="auto">
              <a:xfrm>
                <a:off x="3408" y="2304"/>
                <a:ext cx="0" cy="624"/>
              </a:xfrm>
              <a:prstGeom prst="line">
                <a:avLst/>
              </a:prstGeom>
              <a:noFill/>
              <a:ln w="28575">
                <a:solidFill>
                  <a:schemeClr val="tx1"/>
                </a:solidFill>
                <a:round/>
                <a:headEnd/>
                <a:tailEnd/>
              </a:ln>
              <a:effectLst/>
            </p:spPr>
            <p:txBody>
              <a:bodyPr/>
              <a:lstStyle/>
              <a:p>
                <a:endParaRPr lang="zh-CN" altLang="en-US"/>
              </a:p>
            </p:txBody>
          </p:sp>
          <p:sp>
            <p:nvSpPr>
              <p:cNvPr id="566289" name="Line 17"/>
              <p:cNvSpPr>
                <a:spLocks noChangeShapeType="1"/>
              </p:cNvSpPr>
              <p:nvPr/>
            </p:nvSpPr>
            <p:spPr bwMode="auto">
              <a:xfrm>
                <a:off x="3408" y="2928"/>
                <a:ext cx="192" cy="0"/>
              </a:xfrm>
              <a:prstGeom prst="line">
                <a:avLst/>
              </a:prstGeom>
              <a:noFill/>
              <a:ln w="28575">
                <a:solidFill>
                  <a:schemeClr val="tx1"/>
                </a:solidFill>
                <a:round/>
                <a:headEnd/>
                <a:tailEnd type="triangle" w="med" len="med"/>
              </a:ln>
              <a:effectLst/>
            </p:spPr>
            <p:txBody>
              <a:bodyPr/>
              <a:lstStyle/>
              <a:p>
                <a:endParaRPr lang="zh-CN" altLang="en-US"/>
              </a:p>
            </p:txBody>
          </p:sp>
          <p:sp>
            <p:nvSpPr>
              <p:cNvPr id="566290" name="Line 18"/>
              <p:cNvSpPr>
                <a:spLocks noChangeShapeType="1"/>
              </p:cNvSpPr>
              <p:nvPr/>
            </p:nvSpPr>
            <p:spPr bwMode="auto">
              <a:xfrm>
                <a:off x="3264" y="2592"/>
                <a:ext cx="144" cy="0"/>
              </a:xfrm>
              <a:prstGeom prst="line">
                <a:avLst/>
              </a:prstGeom>
              <a:noFill/>
              <a:ln w="28575">
                <a:solidFill>
                  <a:schemeClr val="tx1"/>
                </a:solidFill>
                <a:round/>
                <a:headEnd/>
                <a:tailEnd/>
              </a:ln>
              <a:effectLst/>
            </p:spPr>
            <p:txBody>
              <a:bodyPr/>
              <a:lstStyle/>
              <a:p>
                <a:endParaRPr lang="zh-CN" altLang="en-US"/>
              </a:p>
            </p:txBody>
          </p:sp>
        </p:grpSp>
        <p:grpSp>
          <p:nvGrpSpPr>
            <p:cNvPr id="566291" name="Group 19"/>
            <p:cNvGrpSpPr>
              <a:grpSpLocks/>
            </p:cNvGrpSpPr>
            <p:nvPr/>
          </p:nvGrpSpPr>
          <p:grpSpPr bwMode="auto">
            <a:xfrm>
              <a:off x="288" y="2150"/>
              <a:ext cx="5232" cy="1824"/>
              <a:chOff x="288" y="1680"/>
              <a:chExt cx="5232" cy="1824"/>
            </a:xfrm>
          </p:grpSpPr>
          <p:sp>
            <p:nvSpPr>
              <p:cNvPr id="566292" name="Rectangle 20"/>
              <p:cNvSpPr>
                <a:spLocks noChangeArrowheads="1"/>
              </p:cNvSpPr>
              <p:nvPr/>
            </p:nvSpPr>
            <p:spPr bwMode="auto">
              <a:xfrm>
                <a:off x="528" y="1680"/>
                <a:ext cx="4752" cy="1824"/>
              </a:xfrm>
              <a:prstGeom prst="rect">
                <a:avLst/>
              </a:prstGeom>
              <a:noFill/>
              <a:ln w="9525">
                <a:solidFill>
                  <a:schemeClr val="tx1"/>
                </a:solidFill>
                <a:miter lim="800000"/>
                <a:headEnd/>
                <a:tailEnd/>
              </a:ln>
              <a:effectLst/>
            </p:spPr>
            <p:txBody>
              <a:bodyPr wrap="none" anchor="ctr"/>
              <a:lstStyle/>
              <a:p>
                <a:endParaRPr lang="zh-CN" altLang="en-US"/>
              </a:p>
            </p:txBody>
          </p:sp>
          <p:sp>
            <p:nvSpPr>
              <p:cNvPr id="566293" name="Rectangle 21"/>
              <p:cNvSpPr>
                <a:spLocks noChangeArrowheads="1"/>
              </p:cNvSpPr>
              <p:nvPr/>
            </p:nvSpPr>
            <p:spPr bwMode="auto">
              <a:xfrm>
                <a:off x="288" y="2064"/>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6294" name="Rectangle 22"/>
              <p:cNvSpPr>
                <a:spLocks noChangeArrowheads="1"/>
              </p:cNvSpPr>
              <p:nvPr/>
            </p:nvSpPr>
            <p:spPr bwMode="auto">
              <a:xfrm>
                <a:off x="288" y="2352"/>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6295" name="Rectangle 23"/>
              <p:cNvSpPr>
                <a:spLocks noChangeArrowheads="1"/>
              </p:cNvSpPr>
              <p:nvPr/>
            </p:nvSpPr>
            <p:spPr bwMode="auto">
              <a:xfrm>
                <a:off x="288" y="2640"/>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6296" name="Rectangle 24"/>
              <p:cNvSpPr>
                <a:spLocks noChangeArrowheads="1"/>
              </p:cNvSpPr>
              <p:nvPr/>
            </p:nvSpPr>
            <p:spPr bwMode="auto">
              <a:xfrm>
                <a:off x="288" y="2928"/>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6297" name="Rectangle 25"/>
              <p:cNvSpPr>
                <a:spLocks noChangeArrowheads="1"/>
              </p:cNvSpPr>
              <p:nvPr/>
            </p:nvSpPr>
            <p:spPr bwMode="auto">
              <a:xfrm>
                <a:off x="288" y="3216"/>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6298" name="Rectangle 26"/>
              <p:cNvSpPr>
                <a:spLocks noChangeArrowheads="1"/>
              </p:cNvSpPr>
              <p:nvPr/>
            </p:nvSpPr>
            <p:spPr bwMode="auto">
              <a:xfrm>
                <a:off x="288" y="1776"/>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6299" name="Rectangle 27"/>
              <p:cNvSpPr>
                <a:spLocks noChangeArrowheads="1"/>
              </p:cNvSpPr>
              <p:nvPr/>
            </p:nvSpPr>
            <p:spPr bwMode="auto">
              <a:xfrm>
                <a:off x="5280" y="2064"/>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6300" name="Rectangle 28"/>
              <p:cNvSpPr>
                <a:spLocks noChangeArrowheads="1"/>
              </p:cNvSpPr>
              <p:nvPr/>
            </p:nvSpPr>
            <p:spPr bwMode="auto">
              <a:xfrm>
                <a:off x="5280" y="2352"/>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6301" name="Rectangle 29"/>
              <p:cNvSpPr>
                <a:spLocks noChangeArrowheads="1"/>
              </p:cNvSpPr>
              <p:nvPr/>
            </p:nvSpPr>
            <p:spPr bwMode="auto">
              <a:xfrm>
                <a:off x="5280" y="2640"/>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6302" name="Rectangle 30"/>
              <p:cNvSpPr>
                <a:spLocks noChangeArrowheads="1"/>
              </p:cNvSpPr>
              <p:nvPr/>
            </p:nvSpPr>
            <p:spPr bwMode="auto">
              <a:xfrm>
                <a:off x="5280" y="2928"/>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6303" name="Rectangle 31"/>
              <p:cNvSpPr>
                <a:spLocks noChangeArrowheads="1"/>
              </p:cNvSpPr>
              <p:nvPr/>
            </p:nvSpPr>
            <p:spPr bwMode="auto">
              <a:xfrm>
                <a:off x="5280" y="3216"/>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6304" name="Rectangle 32"/>
              <p:cNvSpPr>
                <a:spLocks noChangeArrowheads="1"/>
              </p:cNvSpPr>
              <p:nvPr/>
            </p:nvSpPr>
            <p:spPr bwMode="auto">
              <a:xfrm>
                <a:off x="5280" y="1776"/>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grpSp>
        <p:sp>
          <p:nvSpPr>
            <p:cNvPr id="566305" name="Rectangle 33"/>
            <p:cNvSpPr>
              <a:spLocks noChangeArrowheads="1"/>
            </p:cNvSpPr>
            <p:nvPr/>
          </p:nvSpPr>
          <p:spPr bwMode="auto">
            <a:xfrm>
              <a:off x="768" y="3638"/>
              <a:ext cx="672" cy="192"/>
            </a:xfrm>
            <a:prstGeom prst="rect">
              <a:avLst/>
            </a:prstGeom>
            <a:solidFill>
              <a:srgbClr val="FFFF99"/>
            </a:solidFill>
            <a:ln w="9525">
              <a:solidFill>
                <a:schemeClr val="tx1"/>
              </a:solidFill>
              <a:miter lim="800000"/>
              <a:headEnd/>
              <a:tailEnd/>
            </a:ln>
            <a:effectLst/>
          </p:spPr>
          <p:txBody>
            <a:bodyPr wrap="none" anchor="ctr"/>
            <a:lstStyle/>
            <a:p>
              <a:r>
                <a:rPr lang="en-US" altLang="zh-CN" sz="1400">
                  <a:latin typeface="Arial Black" pitchFamily="34" charset="0"/>
                </a:rPr>
                <a:t>PINSELx</a:t>
              </a:r>
            </a:p>
          </p:txBody>
        </p:sp>
        <p:sp>
          <p:nvSpPr>
            <p:cNvPr id="566306" name="Rectangle 34"/>
            <p:cNvSpPr>
              <a:spLocks noChangeArrowheads="1"/>
            </p:cNvSpPr>
            <p:nvPr/>
          </p:nvSpPr>
          <p:spPr bwMode="auto">
            <a:xfrm>
              <a:off x="1632" y="3350"/>
              <a:ext cx="720" cy="192"/>
            </a:xfrm>
            <a:prstGeom prst="rect">
              <a:avLst/>
            </a:prstGeom>
            <a:solidFill>
              <a:srgbClr val="FFFF99"/>
            </a:solidFill>
            <a:ln w="9525">
              <a:solidFill>
                <a:schemeClr val="tx1"/>
              </a:solidFill>
              <a:miter lim="800000"/>
              <a:headEnd/>
              <a:tailEnd/>
            </a:ln>
            <a:effectLst/>
          </p:spPr>
          <p:txBody>
            <a:bodyPr wrap="none" anchor="ctr"/>
            <a:lstStyle/>
            <a:p>
              <a:r>
                <a:rPr lang="en-US" altLang="zh-CN" sz="1400">
                  <a:latin typeface="Arial Black" pitchFamily="34" charset="0"/>
                </a:rPr>
                <a:t>EXTPOLAR</a:t>
              </a:r>
            </a:p>
          </p:txBody>
        </p:sp>
        <p:sp>
          <p:nvSpPr>
            <p:cNvPr id="566307" name="Rectangle 35"/>
            <p:cNvSpPr>
              <a:spLocks noChangeArrowheads="1"/>
            </p:cNvSpPr>
            <p:nvPr/>
          </p:nvSpPr>
          <p:spPr bwMode="auto">
            <a:xfrm>
              <a:off x="2544" y="3350"/>
              <a:ext cx="720" cy="192"/>
            </a:xfrm>
            <a:prstGeom prst="rect">
              <a:avLst/>
            </a:prstGeom>
            <a:solidFill>
              <a:srgbClr val="FFFF99"/>
            </a:solidFill>
            <a:ln w="9525">
              <a:solidFill>
                <a:schemeClr val="tx1"/>
              </a:solidFill>
              <a:miter lim="800000"/>
              <a:headEnd/>
              <a:tailEnd/>
            </a:ln>
            <a:effectLst/>
          </p:spPr>
          <p:txBody>
            <a:bodyPr wrap="none" anchor="ctr"/>
            <a:lstStyle/>
            <a:p>
              <a:r>
                <a:rPr lang="en-US" altLang="zh-CN" sz="1400">
                  <a:latin typeface="Arial Black" pitchFamily="34" charset="0"/>
                </a:rPr>
                <a:t>EXTMODE</a:t>
              </a:r>
            </a:p>
          </p:txBody>
        </p:sp>
        <p:sp>
          <p:nvSpPr>
            <p:cNvPr id="566308" name="Rectangle 36"/>
            <p:cNvSpPr>
              <a:spLocks noChangeArrowheads="1"/>
            </p:cNvSpPr>
            <p:nvPr/>
          </p:nvSpPr>
          <p:spPr bwMode="auto">
            <a:xfrm>
              <a:off x="3600" y="3638"/>
              <a:ext cx="720" cy="192"/>
            </a:xfrm>
            <a:prstGeom prst="rect">
              <a:avLst/>
            </a:prstGeom>
            <a:solidFill>
              <a:srgbClr val="FFFF99"/>
            </a:solidFill>
            <a:ln w="9525">
              <a:solidFill>
                <a:schemeClr val="tx1"/>
              </a:solidFill>
              <a:miter lim="800000"/>
              <a:headEnd/>
              <a:tailEnd/>
            </a:ln>
            <a:effectLst/>
          </p:spPr>
          <p:txBody>
            <a:bodyPr wrap="none" anchor="ctr"/>
            <a:lstStyle/>
            <a:p>
              <a:r>
                <a:rPr lang="en-US" altLang="zh-CN" sz="1400">
                  <a:latin typeface="Arial Black" pitchFamily="34" charset="0"/>
                </a:rPr>
                <a:t>EXTINT</a:t>
              </a:r>
            </a:p>
          </p:txBody>
        </p:sp>
        <p:sp>
          <p:nvSpPr>
            <p:cNvPr id="566309" name="Rectangle 37"/>
            <p:cNvSpPr>
              <a:spLocks noChangeArrowheads="1"/>
            </p:cNvSpPr>
            <p:nvPr/>
          </p:nvSpPr>
          <p:spPr bwMode="auto">
            <a:xfrm>
              <a:off x="3600" y="2342"/>
              <a:ext cx="720" cy="192"/>
            </a:xfrm>
            <a:prstGeom prst="rect">
              <a:avLst/>
            </a:prstGeom>
            <a:solidFill>
              <a:srgbClr val="FFFF99"/>
            </a:solidFill>
            <a:ln w="9525">
              <a:solidFill>
                <a:schemeClr val="tx1"/>
              </a:solidFill>
              <a:miter lim="800000"/>
              <a:headEnd/>
              <a:tailEnd/>
            </a:ln>
            <a:effectLst/>
          </p:spPr>
          <p:txBody>
            <a:bodyPr wrap="none" anchor="ctr"/>
            <a:lstStyle/>
            <a:p>
              <a:r>
                <a:rPr lang="en-US" altLang="zh-CN" sz="1400">
                  <a:latin typeface="Arial Black" pitchFamily="34" charset="0"/>
                </a:rPr>
                <a:t>EXTWAKE</a:t>
              </a:r>
            </a:p>
          </p:txBody>
        </p:sp>
        <p:grpSp>
          <p:nvGrpSpPr>
            <p:cNvPr id="566310" name="Group 38"/>
            <p:cNvGrpSpPr>
              <a:grpSpLocks/>
            </p:cNvGrpSpPr>
            <p:nvPr/>
          </p:nvGrpSpPr>
          <p:grpSpPr bwMode="auto">
            <a:xfrm>
              <a:off x="432" y="2630"/>
              <a:ext cx="336" cy="865"/>
              <a:chOff x="432" y="2160"/>
              <a:chExt cx="336" cy="865"/>
            </a:xfrm>
          </p:grpSpPr>
          <p:sp>
            <p:nvSpPr>
              <p:cNvPr id="566311" name="Line 39"/>
              <p:cNvSpPr>
                <a:spLocks noChangeShapeType="1"/>
              </p:cNvSpPr>
              <p:nvPr/>
            </p:nvSpPr>
            <p:spPr bwMode="auto">
              <a:xfrm>
                <a:off x="432" y="2160"/>
                <a:ext cx="336" cy="1"/>
              </a:xfrm>
              <a:prstGeom prst="line">
                <a:avLst/>
              </a:prstGeom>
              <a:noFill/>
              <a:ln w="28575">
                <a:solidFill>
                  <a:schemeClr val="tx1"/>
                </a:solidFill>
                <a:round/>
                <a:headEnd type="oval" w="med" len="med"/>
                <a:tailEnd type="triangle" w="med" len="med"/>
              </a:ln>
              <a:effectLst/>
            </p:spPr>
            <p:txBody>
              <a:bodyPr/>
              <a:lstStyle/>
              <a:p>
                <a:endParaRPr lang="zh-CN" altLang="en-US"/>
              </a:p>
            </p:txBody>
          </p:sp>
          <p:sp>
            <p:nvSpPr>
              <p:cNvPr id="566312" name="Line 40"/>
              <p:cNvSpPr>
                <a:spLocks noChangeShapeType="1"/>
              </p:cNvSpPr>
              <p:nvPr/>
            </p:nvSpPr>
            <p:spPr bwMode="auto">
              <a:xfrm>
                <a:off x="432" y="2448"/>
                <a:ext cx="336" cy="1"/>
              </a:xfrm>
              <a:prstGeom prst="line">
                <a:avLst/>
              </a:prstGeom>
              <a:noFill/>
              <a:ln w="28575">
                <a:solidFill>
                  <a:schemeClr val="tx1"/>
                </a:solidFill>
                <a:round/>
                <a:headEnd type="oval" w="med" len="med"/>
                <a:tailEnd type="triangle" w="med" len="med"/>
              </a:ln>
              <a:effectLst/>
            </p:spPr>
            <p:txBody>
              <a:bodyPr/>
              <a:lstStyle/>
              <a:p>
                <a:endParaRPr lang="zh-CN" altLang="en-US"/>
              </a:p>
            </p:txBody>
          </p:sp>
          <p:sp>
            <p:nvSpPr>
              <p:cNvPr id="566313" name="Line 41"/>
              <p:cNvSpPr>
                <a:spLocks noChangeShapeType="1"/>
              </p:cNvSpPr>
              <p:nvPr/>
            </p:nvSpPr>
            <p:spPr bwMode="auto">
              <a:xfrm>
                <a:off x="432" y="3024"/>
                <a:ext cx="336" cy="1"/>
              </a:xfrm>
              <a:prstGeom prst="line">
                <a:avLst/>
              </a:prstGeom>
              <a:noFill/>
              <a:ln w="28575">
                <a:solidFill>
                  <a:schemeClr val="tx1"/>
                </a:solidFill>
                <a:round/>
                <a:headEnd type="oval" w="med" len="med"/>
                <a:tailEnd type="triangle" w="med" len="med"/>
              </a:ln>
              <a:effectLst/>
            </p:spPr>
            <p:txBody>
              <a:bodyPr/>
              <a:lstStyle/>
              <a:p>
                <a:endParaRPr lang="zh-CN" altLang="en-US"/>
              </a:p>
            </p:txBody>
          </p:sp>
          <p:sp>
            <p:nvSpPr>
              <p:cNvPr id="566314" name="Line 42"/>
              <p:cNvSpPr>
                <a:spLocks noChangeShapeType="1"/>
              </p:cNvSpPr>
              <p:nvPr/>
            </p:nvSpPr>
            <p:spPr bwMode="auto">
              <a:xfrm>
                <a:off x="432" y="2736"/>
                <a:ext cx="336" cy="1"/>
              </a:xfrm>
              <a:prstGeom prst="line">
                <a:avLst/>
              </a:prstGeom>
              <a:noFill/>
              <a:ln w="28575">
                <a:solidFill>
                  <a:schemeClr val="tx1"/>
                </a:solidFill>
                <a:round/>
                <a:headEnd type="oval" w="med" len="med"/>
                <a:tailEnd type="triangle" w="med" len="med"/>
              </a:ln>
              <a:effectLst/>
            </p:spPr>
            <p:txBody>
              <a:bodyPr/>
              <a:lstStyle/>
              <a:p>
                <a:endParaRPr lang="zh-CN" altLang="en-US"/>
              </a:p>
            </p:txBody>
          </p:sp>
        </p:grpSp>
        <p:sp>
          <p:nvSpPr>
            <p:cNvPr id="566315" name="AutoShape 43"/>
            <p:cNvSpPr>
              <a:spLocks noChangeArrowheads="1"/>
            </p:cNvSpPr>
            <p:nvPr/>
          </p:nvSpPr>
          <p:spPr bwMode="auto">
            <a:xfrm>
              <a:off x="4513" y="2502"/>
              <a:ext cx="681" cy="1135"/>
            </a:xfrm>
            <a:prstGeom prst="roundRect">
              <a:avLst>
                <a:gd name="adj" fmla="val 16667"/>
              </a:avLst>
            </a:prstGeom>
            <a:solidFill>
              <a:srgbClr val="FF99CC"/>
            </a:solidFill>
            <a:ln w="9525" algn="ctr">
              <a:solidFill>
                <a:schemeClr val="tx1"/>
              </a:solidFill>
              <a:round/>
              <a:headEnd/>
              <a:tailEnd/>
            </a:ln>
            <a:effectLst/>
          </p:spPr>
          <p:txBody>
            <a:bodyPr wrap="none" anchor="ctr"/>
            <a:lstStyle/>
            <a:p>
              <a:r>
                <a:rPr lang="en-US" altLang="zh-CN">
                  <a:latin typeface="Arial" charset="0"/>
                </a:rPr>
                <a:t>CPU</a:t>
              </a:r>
            </a:p>
            <a:p>
              <a:r>
                <a:rPr lang="zh-CN" altLang="en-US">
                  <a:latin typeface="Arial" charset="0"/>
                </a:rPr>
                <a:t>其它部件</a:t>
              </a:r>
            </a:p>
          </p:txBody>
        </p:sp>
      </p:grpSp>
      <p:sp>
        <p:nvSpPr>
          <p:cNvPr id="566316" name="Oval 44"/>
          <p:cNvSpPr>
            <a:spLocks noChangeArrowheads="1"/>
          </p:cNvSpPr>
          <p:nvPr/>
        </p:nvSpPr>
        <p:spPr bwMode="auto">
          <a:xfrm>
            <a:off x="3128964" y="3627439"/>
            <a:ext cx="288925" cy="288925"/>
          </a:xfrm>
          <a:prstGeom prst="ellipse">
            <a:avLst/>
          </a:prstGeom>
          <a:solidFill>
            <a:srgbClr val="0000FF"/>
          </a:solidFill>
          <a:ln w="9525" algn="ctr">
            <a:solidFill>
              <a:schemeClr val="bg1"/>
            </a:solidFill>
            <a:round/>
            <a:headEnd/>
            <a:tailEnd/>
          </a:ln>
          <a:effectLst/>
        </p:spPr>
        <p:txBody>
          <a:bodyPr wrap="none" anchor="ctr"/>
          <a:lstStyle/>
          <a:p>
            <a:r>
              <a:rPr lang="en-US" altLang="zh-CN">
                <a:solidFill>
                  <a:schemeClr val="bg1"/>
                </a:solidFill>
                <a:latin typeface="Arial Black" pitchFamily="34" charset="0"/>
              </a:rPr>
              <a:t>1</a:t>
            </a:r>
          </a:p>
        </p:txBody>
      </p:sp>
      <p:sp>
        <p:nvSpPr>
          <p:cNvPr id="566317" name="Oval 45"/>
          <p:cNvSpPr>
            <a:spLocks noChangeArrowheads="1"/>
          </p:cNvSpPr>
          <p:nvPr/>
        </p:nvSpPr>
        <p:spPr bwMode="auto">
          <a:xfrm>
            <a:off x="5218114" y="3843339"/>
            <a:ext cx="288925" cy="288925"/>
          </a:xfrm>
          <a:prstGeom prst="ellipse">
            <a:avLst/>
          </a:prstGeom>
          <a:solidFill>
            <a:srgbClr val="0000FF"/>
          </a:solidFill>
          <a:ln w="9525" algn="ctr">
            <a:solidFill>
              <a:schemeClr val="bg1"/>
            </a:solidFill>
            <a:round/>
            <a:headEnd/>
            <a:tailEnd/>
          </a:ln>
          <a:effectLst/>
        </p:spPr>
        <p:txBody>
          <a:bodyPr wrap="none" anchor="ctr"/>
          <a:lstStyle/>
          <a:p>
            <a:r>
              <a:rPr lang="en-US" altLang="zh-CN">
                <a:solidFill>
                  <a:schemeClr val="bg1"/>
                </a:solidFill>
                <a:latin typeface="Arial Black" pitchFamily="34" charset="0"/>
              </a:rPr>
              <a:t>2</a:t>
            </a:r>
          </a:p>
        </p:txBody>
      </p:sp>
      <p:sp>
        <p:nvSpPr>
          <p:cNvPr id="566318" name="Oval 46"/>
          <p:cNvSpPr>
            <a:spLocks noChangeArrowheads="1"/>
          </p:cNvSpPr>
          <p:nvPr/>
        </p:nvSpPr>
        <p:spPr bwMode="auto">
          <a:xfrm>
            <a:off x="7088189" y="3411539"/>
            <a:ext cx="288925" cy="288925"/>
          </a:xfrm>
          <a:prstGeom prst="ellipse">
            <a:avLst/>
          </a:prstGeom>
          <a:solidFill>
            <a:srgbClr val="0000FF"/>
          </a:solidFill>
          <a:ln w="9525" algn="ctr">
            <a:solidFill>
              <a:schemeClr val="bg1"/>
            </a:solidFill>
            <a:round/>
            <a:headEnd/>
            <a:tailEnd/>
          </a:ln>
          <a:effectLst/>
        </p:spPr>
        <p:txBody>
          <a:bodyPr wrap="none" anchor="ctr"/>
          <a:lstStyle/>
          <a:p>
            <a:r>
              <a:rPr lang="en-US" altLang="zh-CN">
                <a:solidFill>
                  <a:schemeClr val="bg1"/>
                </a:solidFill>
                <a:latin typeface="Arial Black" pitchFamily="34" charset="0"/>
              </a:rPr>
              <a:t>3</a:t>
            </a:r>
          </a:p>
        </p:txBody>
      </p:sp>
      <p:sp>
        <p:nvSpPr>
          <p:cNvPr id="566319" name="Oval 47"/>
          <p:cNvSpPr>
            <a:spLocks noChangeArrowheads="1"/>
          </p:cNvSpPr>
          <p:nvPr/>
        </p:nvSpPr>
        <p:spPr bwMode="auto">
          <a:xfrm>
            <a:off x="7088189" y="4779964"/>
            <a:ext cx="288925" cy="288925"/>
          </a:xfrm>
          <a:prstGeom prst="ellipse">
            <a:avLst/>
          </a:prstGeom>
          <a:solidFill>
            <a:srgbClr val="0000FF"/>
          </a:solidFill>
          <a:ln w="9525" algn="ctr">
            <a:solidFill>
              <a:schemeClr val="bg1"/>
            </a:solidFill>
            <a:round/>
            <a:headEnd/>
            <a:tailEnd/>
          </a:ln>
          <a:effectLst/>
        </p:spPr>
        <p:txBody>
          <a:bodyPr wrap="none" anchor="ctr"/>
          <a:lstStyle/>
          <a:p>
            <a:r>
              <a:rPr lang="en-US" altLang="zh-CN">
                <a:solidFill>
                  <a:schemeClr val="bg1"/>
                </a:solidFill>
                <a:latin typeface="Arial Black" pitchFamily="34" charset="0"/>
              </a:rPr>
              <a:t>4</a:t>
            </a:r>
          </a:p>
        </p:txBody>
      </p:sp>
      <p:sp>
        <p:nvSpPr>
          <p:cNvPr id="566320" name="Rectangle 48"/>
          <p:cNvSpPr>
            <a:spLocks noChangeArrowheads="1"/>
          </p:cNvSpPr>
          <p:nvPr/>
        </p:nvSpPr>
        <p:spPr bwMode="auto">
          <a:xfrm>
            <a:off x="2209800" y="609600"/>
            <a:ext cx="7772400" cy="1143000"/>
          </a:xfrm>
          <a:prstGeom prst="rect">
            <a:avLst/>
          </a:prstGeom>
          <a:noFill/>
          <a:ln w="9525">
            <a:noFill/>
            <a:miter lim="800000"/>
            <a:headEnd/>
            <a:tailEnd/>
          </a:ln>
          <a:effectLst/>
        </p:spPr>
        <p:txBody>
          <a:bodyPr anchor="ctr"/>
          <a:lstStyle/>
          <a:p>
            <a:r>
              <a:rPr lang="en-US" altLang="zh-CN" sz="4400" dirty="0"/>
              <a:t>5.3.6</a:t>
            </a:r>
            <a:r>
              <a:rPr lang="en-US" altLang="zh-CN" sz="4400" dirty="0">
                <a:solidFill>
                  <a:schemeClr val="tx2"/>
                </a:solidFill>
                <a:latin typeface="Times New Roman" pitchFamily="18" charset="0"/>
              </a:rPr>
              <a:t>  </a:t>
            </a:r>
            <a:r>
              <a:rPr lang="zh-CN" altLang="en-US" sz="4400" dirty="0">
                <a:solidFill>
                  <a:schemeClr val="tx2"/>
                </a:solidFill>
                <a:latin typeface="Times New Roman" pitchFamily="18" charset="0"/>
              </a:rPr>
              <a:t>外部中断输入</a:t>
            </a:r>
          </a:p>
        </p:txBody>
      </p:sp>
      <p:sp>
        <p:nvSpPr>
          <p:cNvPr id="566321" name="Rectangle 49"/>
          <p:cNvSpPr>
            <a:spLocks noChangeArrowheads="1"/>
          </p:cNvSpPr>
          <p:nvPr/>
        </p:nvSpPr>
        <p:spPr bwMode="auto">
          <a:xfrm>
            <a:off x="2209800" y="17002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dirty="0">
                <a:latin typeface="Times New Roman" pitchFamily="18" charset="0"/>
              </a:rPr>
              <a:t>寄存器汇总</a:t>
            </a:r>
          </a:p>
        </p:txBody>
      </p:sp>
      <p:grpSp>
        <p:nvGrpSpPr>
          <p:cNvPr id="566322" name="Group 50"/>
          <p:cNvGrpSpPr>
            <a:grpSpLocks/>
          </p:cNvGrpSpPr>
          <p:nvPr/>
        </p:nvGrpSpPr>
        <p:grpSpPr bwMode="auto">
          <a:xfrm>
            <a:off x="2351088" y="2349503"/>
            <a:ext cx="7561262" cy="830263"/>
            <a:chOff x="567" y="2478"/>
            <a:chExt cx="4763" cy="523"/>
          </a:xfrm>
        </p:grpSpPr>
        <p:sp>
          <p:nvSpPr>
            <p:cNvPr id="566323" name="Text Box 51"/>
            <p:cNvSpPr txBox="1">
              <a:spLocks noChangeArrowheads="1"/>
            </p:cNvSpPr>
            <p:nvPr/>
          </p:nvSpPr>
          <p:spPr bwMode="auto">
            <a:xfrm>
              <a:off x="567" y="2478"/>
              <a:ext cx="4763" cy="523"/>
            </a:xfrm>
            <a:prstGeom prst="rect">
              <a:avLst/>
            </a:prstGeom>
            <a:noFill/>
            <a:ln w="9525" algn="ctr">
              <a:noFill/>
              <a:miter lim="800000"/>
              <a:headEnd/>
              <a:tailEnd/>
            </a:ln>
            <a:effectLst/>
          </p:spPr>
          <p:txBody>
            <a:bodyPr>
              <a:spAutoFit/>
            </a:bodyPr>
            <a:lstStyle/>
            <a:p>
              <a:pPr algn="l"/>
              <a:r>
                <a:rPr lang="en-US" altLang="zh-CN" sz="2400">
                  <a:latin typeface="华文新魏" pitchFamily="2" charset="-122"/>
                  <a:ea typeface="华文新魏" pitchFamily="2" charset="-122"/>
                </a:rPr>
                <a:t>    </a:t>
              </a:r>
              <a:r>
                <a:rPr lang="zh-CN" altLang="en-US" sz="2400">
                  <a:latin typeface="华文新魏" pitchFamily="2" charset="-122"/>
                  <a:ea typeface="华文新魏" pitchFamily="2" charset="-122"/>
                </a:rPr>
                <a:t>可以通过设置</a:t>
              </a:r>
              <a:r>
                <a:rPr lang="en-US" altLang="zh-CN" sz="2400">
                  <a:latin typeface="华文新魏" pitchFamily="2" charset="-122"/>
                  <a:ea typeface="华文新魏" pitchFamily="2" charset="-122"/>
                </a:rPr>
                <a:t>PINSELx</a:t>
              </a:r>
              <a:r>
                <a:rPr lang="zh-CN" altLang="en-US" sz="2400">
                  <a:latin typeface="华文新魏" pitchFamily="2" charset="-122"/>
                  <a:ea typeface="华文新魏" pitchFamily="2" charset="-122"/>
                </a:rPr>
                <a:t>寄存器选择对应引脚为外部中断输入引脚。</a:t>
              </a:r>
            </a:p>
          </p:txBody>
        </p:sp>
        <p:sp>
          <p:nvSpPr>
            <p:cNvPr id="566324" name="Oval 52"/>
            <p:cNvSpPr>
              <a:spLocks noChangeArrowheads="1"/>
            </p:cNvSpPr>
            <p:nvPr/>
          </p:nvSpPr>
          <p:spPr bwMode="auto">
            <a:xfrm>
              <a:off x="613" y="2546"/>
              <a:ext cx="182" cy="181"/>
            </a:xfrm>
            <a:prstGeom prst="ellipse">
              <a:avLst/>
            </a:prstGeom>
            <a:solidFill>
              <a:schemeClr val="accent2"/>
            </a:solidFill>
            <a:ln w="9525" algn="ctr">
              <a:solidFill>
                <a:srgbClr val="DDFFDD"/>
              </a:solidFill>
              <a:round/>
              <a:headEnd/>
              <a:tailEnd/>
            </a:ln>
            <a:effectLst/>
          </p:spPr>
          <p:txBody>
            <a:bodyPr wrap="none" anchor="ctr"/>
            <a:lstStyle/>
            <a:p>
              <a:r>
                <a:rPr lang="en-US" altLang="zh-CN">
                  <a:solidFill>
                    <a:schemeClr val="bg1"/>
                  </a:solidFill>
                  <a:latin typeface="Arial Black" pitchFamily="34" charset="0"/>
                </a:rPr>
                <a:t>1</a:t>
              </a:r>
            </a:p>
          </p:txBody>
        </p:sp>
      </p:grpSp>
      <p:grpSp>
        <p:nvGrpSpPr>
          <p:cNvPr id="566325" name="Group 53"/>
          <p:cNvGrpSpPr>
            <a:grpSpLocks/>
          </p:cNvGrpSpPr>
          <p:nvPr/>
        </p:nvGrpSpPr>
        <p:grpSpPr bwMode="auto">
          <a:xfrm>
            <a:off x="2351088" y="2349503"/>
            <a:ext cx="7561262" cy="830263"/>
            <a:chOff x="567" y="2478"/>
            <a:chExt cx="4763" cy="523"/>
          </a:xfrm>
        </p:grpSpPr>
        <p:sp>
          <p:nvSpPr>
            <p:cNvPr id="566326" name="Text Box 54"/>
            <p:cNvSpPr txBox="1">
              <a:spLocks noChangeArrowheads="1"/>
            </p:cNvSpPr>
            <p:nvPr/>
          </p:nvSpPr>
          <p:spPr bwMode="auto">
            <a:xfrm>
              <a:off x="567" y="2478"/>
              <a:ext cx="4763" cy="523"/>
            </a:xfrm>
            <a:prstGeom prst="rect">
              <a:avLst/>
            </a:prstGeom>
            <a:noFill/>
            <a:ln w="9525" algn="ctr">
              <a:noFill/>
              <a:miter lim="800000"/>
              <a:headEnd/>
              <a:tailEnd/>
            </a:ln>
            <a:effectLst/>
          </p:spPr>
          <p:txBody>
            <a:bodyPr>
              <a:spAutoFit/>
            </a:bodyPr>
            <a:lstStyle/>
            <a:p>
              <a:pPr algn="l"/>
              <a:r>
                <a:rPr lang="en-US" altLang="zh-CN" sz="2400">
                  <a:latin typeface="华文新魏" pitchFamily="2" charset="-122"/>
                  <a:ea typeface="华文新魏" pitchFamily="2" charset="-122"/>
                </a:rPr>
                <a:t>    </a:t>
              </a:r>
              <a:r>
                <a:rPr lang="zh-CN" altLang="en-US" sz="2400">
                  <a:latin typeface="华文新魏" pitchFamily="2" charset="-122"/>
                  <a:ea typeface="华文新魏" pitchFamily="2" charset="-122"/>
                </a:rPr>
                <a:t>可以通过设置</a:t>
              </a:r>
              <a:r>
                <a:rPr lang="en-US" altLang="zh-CN" sz="2400">
                  <a:latin typeface="华文新魏" pitchFamily="2" charset="-122"/>
                  <a:ea typeface="华文新魏" pitchFamily="2" charset="-122"/>
                </a:rPr>
                <a:t>EXTPOLAR</a:t>
              </a:r>
              <a:r>
                <a:rPr lang="zh-CN" altLang="en-US" sz="2400">
                  <a:latin typeface="华文新魏" pitchFamily="2" charset="-122"/>
                  <a:ea typeface="华文新魏" pitchFamily="2" charset="-122"/>
                </a:rPr>
                <a:t>和</a:t>
              </a:r>
              <a:r>
                <a:rPr lang="en-US" altLang="zh-CN" sz="2400">
                  <a:latin typeface="华文新魏" pitchFamily="2" charset="-122"/>
                  <a:ea typeface="华文新魏" pitchFamily="2" charset="-122"/>
                </a:rPr>
                <a:t>EXTMODE</a:t>
              </a:r>
              <a:r>
                <a:rPr lang="zh-CN" altLang="en-US" sz="2400">
                  <a:latin typeface="华文新魏" pitchFamily="2" charset="-122"/>
                  <a:ea typeface="华文新魏" pitchFamily="2" charset="-122"/>
                </a:rPr>
                <a:t>确定外部中断的触发信号。</a:t>
              </a:r>
            </a:p>
          </p:txBody>
        </p:sp>
        <p:sp>
          <p:nvSpPr>
            <p:cNvPr id="566327" name="Oval 55"/>
            <p:cNvSpPr>
              <a:spLocks noChangeArrowheads="1"/>
            </p:cNvSpPr>
            <p:nvPr/>
          </p:nvSpPr>
          <p:spPr bwMode="auto">
            <a:xfrm>
              <a:off x="613" y="2546"/>
              <a:ext cx="182" cy="181"/>
            </a:xfrm>
            <a:prstGeom prst="ellipse">
              <a:avLst/>
            </a:prstGeom>
            <a:solidFill>
              <a:schemeClr val="accent2"/>
            </a:solidFill>
            <a:ln w="9525" algn="ctr">
              <a:solidFill>
                <a:srgbClr val="DDFFDD"/>
              </a:solidFill>
              <a:round/>
              <a:headEnd/>
              <a:tailEnd/>
            </a:ln>
            <a:effectLst/>
          </p:spPr>
          <p:txBody>
            <a:bodyPr wrap="none" anchor="ctr"/>
            <a:lstStyle/>
            <a:p>
              <a:r>
                <a:rPr lang="en-US" altLang="zh-CN">
                  <a:solidFill>
                    <a:schemeClr val="bg1"/>
                  </a:solidFill>
                  <a:latin typeface="Arial Black" pitchFamily="34" charset="0"/>
                </a:rPr>
                <a:t>2</a:t>
              </a:r>
            </a:p>
          </p:txBody>
        </p:sp>
      </p:grpSp>
      <p:grpSp>
        <p:nvGrpSpPr>
          <p:cNvPr id="566328" name="Group 56"/>
          <p:cNvGrpSpPr>
            <a:grpSpLocks/>
          </p:cNvGrpSpPr>
          <p:nvPr/>
        </p:nvGrpSpPr>
        <p:grpSpPr bwMode="auto">
          <a:xfrm>
            <a:off x="2351088" y="2492375"/>
            <a:ext cx="7561262" cy="457200"/>
            <a:chOff x="567" y="2478"/>
            <a:chExt cx="4763" cy="288"/>
          </a:xfrm>
        </p:grpSpPr>
        <p:sp>
          <p:nvSpPr>
            <p:cNvPr id="566329" name="Text Box 57"/>
            <p:cNvSpPr txBox="1">
              <a:spLocks noChangeArrowheads="1"/>
            </p:cNvSpPr>
            <p:nvPr/>
          </p:nvSpPr>
          <p:spPr bwMode="auto">
            <a:xfrm>
              <a:off x="567" y="2478"/>
              <a:ext cx="4763" cy="288"/>
            </a:xfrm>
            <a:prstGeom prst="rect">
              <a:avLst/>
            </a:prstGeom>
            <a:noFill/>
            <a:ln w="9525" algn="ctr">
              <a:noFill/>
              <a:miter lim="800000"/>
              <a:headEnd/>
              <a:tailEnd/>
            </a:ln>
            <a:effectLst/>
          </p:spPr>
          <p:txBody>
            <a:bodyPr>
              <a:spAutoFit/>
            </a:bodyPr>
            <a:lstStyle/>
            <a:p>
              <a:pPr algn="l"/>
              <a:r>
                <a:rPr lang="en-US" altLang="zh-CN" sz="2400">
                  <a:latin typeface="华文新魏" pitchFamily="2" charset="-122"/>
                  <a:ea typeface="华文新魏" pitchFamily="2" charset="-122"/>
                </a:rPr>
                <a:t>    </a:t>
              </a:r>
              <a:r>
                <a:rPr lang="zh-CN" altLang="en-US" sz="2400">
                  <a:latin typeface="华文新魏" pitchFamily="2" charset="-122"/>
                  <a:ea typeface="华文新魏" pitchFamily="2" charset="-122"/>
                </a:rPr>
                <a:t>可以控制把</a:t>
              </a:r>
              <a:r>
                <a:rPr lang="en-US" altLang="zh-CN" sz="2400">
                  <a:latin typeface="华文新魏" pitchFamily="2" charset="-122"/>
                  <a:ea typeface="华文新魏" pitchFamily="2" charset="-122"/>
                </a:rPr>
                <a:t>CPU</a:t>
              </a:r>
              <a:r>
                <a:rPr lang="zh-CN" altLang="en-US" sz="2400">
                  <a:latin typeface="华文新魏" pitchFamily="2" charset="-122"/>
                  <a:ea typeface="华文新魏" pitchFamily="2" charset="-122"/>
                </a:rPr>
                <a:t>从掉电模式唤醒。</a:t>
              </a:r>
            </a:p>
          </p:txBody>
        </p:sp>
        <p:sp>
          <p:nvSpPr>
            <p:cNvPr id="566330" name="Oval 58"/>
            <p:cNvSpPr>
              <a:spLocks noChangeArrowheads="1"/>
            </p:cNvSpPr>
            <p:nvPr/>
          </p:nvSpPr>
          <p:spPr bwMode="auto">
            <a:xfrm>
              <a:off x="613" y="2546"/>
              <a:ext cx="182" cy="181"/>
            </a:xfrm>
            <a:prstGeom prst="ellipse">
              <a:avLst/>
            </a:prstGeom>
            <a:solidFill>
              <a:schemeClr val="accent2"/>
            </a:solidFill>
            <a:ln w="9525" algn="ctr">
              <a:solidFill>
                <a:srgbClr val="DDFFDD"/>
              </a:solidFill>
              <a:round/>
              <a:headEnd/>
              <a:tailEnd/>
            </a:ln>
            <a:effectLst/>
          </p:spPr>
          <p:txBody>
            <a:bodyPr wrap="none" anchor="ctr"/>
            <a:lstStyle/>
            <a:p>
              <a:r>
                <a:rPr lang="en-US" altLang="zh-CN">
                  <a:solidFill>
                    <a:schemeClr val="bg1"/>
                  </a:solidFill>
                  <a:latin typeface="Arial Black" pitchFamily="34" charset="0"/>
                </a:rPr>
                <a:t>3</a:t>
              </a:r>
            </a:p>
          </p:txBody>
        </p:sp>
      </p:grpSp>
      <p:grpSp>
        <p:nvGrpSpPr>
          <p:cNvPr id="566331" name="Group 59"/>
          <p:cNvGrpSpPr>
            <a:grpSpLocks/>
          </p:cNvGrpSpPr>
          <p:nvPr/>
        </p:nvGrpSpPr>
        <p:grpSpPr bwMode="auto">
          <a:xfrm>
            <a:off x="2351088" y="2466975"/>
            <a:ext cx="7561262" cy="457200"/>
            <a:chOff x="567" y="2478"/>
            <a:chExt cx="4763" cy="288"/>
          </a:xfrm>
        </p:grpSpPr>
        <p:sp>
          <p:nvSpPr>
            <p:cNvPr id="566332" name="Text Box 60"/>
            <p:cNvSpPr txBox="1">
              <a:spLocks noChangeArrowheads="1"/>
            </p:cNvSpPr>
            <p:nvPr/>
          </p:nvSpPr>
          <p:spPr bwMode="auto">
            <a:xfrm>
              <a:off x="567" y="2478"/>
              <a:ext cx="4763" cy="288"/>
            </a:xfrm>
            <a:prstGeom prst="rect">
              <a:avLst/>
            </a:prstGeom>
            <a:noFill/>
            <a:ln w="9525" algn="ctr">
              <a:noFill/>
              <a:miter lim="800000"/>
              <a:headEnd/>
              <a:tailEnd/>
            </a:ln>
            <a:effectLst/>
          </p:spPr>
          <p:txBody>
            <a:bodyPr>
              <a:spAutoFit/>
            </a:bodyPr>
            <a:lstStyle/>
            <a:p>
              <a:pPr algn="l"/>
              <a:r>
                <a:rPr lang="en-US" altLang="zh-CN" sz="2400">
                  <a:latin typeface="华文新魏" pitchFamily="2" charset="-122"/>
                  <a:ea typeface="华文新魏" pitchFamily="2" charset="-122"/>
                </a:rPr>
                <a:t>    </a:t>
              </a:r>
              <a:r>
                <a:rPr lang="zh-CN" altLang="en-US" sz="2400">
                  <a:latin typeface="华文新魏" pitchFamily="2" charset="-122"/>
                  <a:ea typeface="华文新魏" pitchFamily="2" charset="-122"/>
                </a:rPr>
                <a:t>有效中断信号设置中断标志。</a:t>
              </a:r>
            </a:p>
          </p:txBody>
        </p:sp>
        <p:sp>
          <p:nvSpPr>
            <p:cNvPr id="566333" name="Oval 61"/>
            <p:cNvSpPr>
              <a:spLocks noChangeArrowheads="1"/>
            </p:cNvSpPr>
            <p:nvPr/>
          </p:nvSpPr>
          <p:spPr bwMode="auto">
            <a:xfrm>
              <a:off x="613" y="2546"/>
              <a:ext cx="182" cy="181"/>
            </a:xfrm>
            <a:prstGeom prst="ellipse">
              <a:avLst/>
            </a:prstGeom>
            <a:solidFill>
              <a:schemeClr val="accent2"/>
            </a:solidFill>
            <a:ln w="9525" algn="ctr">
              <a:solidFill>
                <a:srgbClr val="DDFFDD"/>
              </a:solidFill>
              <a:round/>
              <a:headEnd/>
              <a:tailEnd/>
            </a:ln>
            <a:effectLst/>
          </p:spPr>
          <p:txBody>
            <a:bodyPr wrap="none" anchor="ctr"/>
            <a:lstStyle/>
            <a:p>
              <a:r>
                <a:rPr lang="en-US" altLang="zh-CN">
                  <a:solidFill>
                    <a:schemeClr val="bg1"/>
                  </a:solidFill>
                  <a:latin typeface="Arial Black" pitchFamily="34" charset="0"/>
                </a:rPr>
                <a:t>4</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66321"/>
                                        </p:tgtEl>
                                        <p:attrNameLst>
                                          <p:attrName>style.visibility</p:attrName>
                                        </p:attrNameLst>
                                      </p:cBhvr>
                                      <p:to>
                                        <p:strVal val="visible"/>
                                      </p:to>
                                    </p:set>
                                    <p:anim calcmode="lin" valueType="num">
                                      <p:cBhvr additive="base">
                                        <p:cTn id="7" dur="500" fill="hold"/>
                                        <p:tgtEl>
                                          <p:spTgt spid="566321"/>
                                        </p:tgtEl>
                                        <p:attrNameLst>
                                          <p:attrName>ppt_x</p:attrName>
                                        </p:attrNameLst>
                                      </p:cBhvr>
                                      <p:tavLst>
                                        <p:tav tm="0">
                                          <p:val>
                                            <p:strVal val="1+#ppt_w/2"/>
                                          </p:val>
                                        </p:tav>
                                        <p:tav tm="100000">
                                          <p:val>
                                            <p:strVal val="#ppt_x"/>
                                          </p:val>
                                        </p:tav>
                                      </p:tavLst>
                                    </p:anim>
                                    <p:anim calcmode="lin" valueType="num">
                                      <p:cBhvr additive="base">
                                        <p:cTn id="8" dur="500" fill="hold"/>
                                        <p:tgtEl>
                                          <p:spTgt spid="5663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566274"/>
                                        </p:tgtEl>
                                        <p:attrNameLst>
                                          <p:attrName>style.visibility</p:attrName>
                                        </p:attrNameLst>
                                      </p:cBhvr>
                                      <p:to>
                                        <p:strVal val="visible"/>
                                      </p:to>
                                    </p:set>
                                    <p:animEffect transition="in" filter="slide(fromTop)">
                                      <p:cBhvr>
                                        <p:cTn id="12" dur="500"/>
                                        <p:tgtEl>
                                          <p:spTgt spid="566274"/>
                                        </p:tgtEl>
                                      </p:cBhvr>
                                    </p:animEffect>
                                  </p:childTnLst>
                                </p:cTn>
                              </p:par>
                            </p:childTnLst>
                          </p:cTn>
                        </p:par>
                        <p:par>
                          <p:cTn id="13" fill="hold">
                            <p:stCondLst>
                              <p:cond delay="1000"/>
                            </p:stCondLst>
                            <p:childTnLst>
                              <p:par>
                                <p:cTn id="14" presetID="22" presetClass="entr" presetSubtype="1" fill="hold" grpId="1" nodeType="afterEffect">
                                  <p:stCondLst>
                                    <p:cond delay="0"/>
                                  </p:stCondLst>
                                  <p:childTnLst>
                                    <p:set>
                                      <p:cBhvr>
                                        <p:cTn id="15" dur="1" fill="hold">
                                          <p:stCondLst>
                                            <p:cond delay="0"/>
                                          </p:stCondLst>
                                        </p:cTn>
                                        <p:tgtEl>
                                          <p:spTgt spid="566316"/>
                                        </p:tgtEl>
                                        <p:attrNameLst>
                                          <p:attrName>style.visibility</p:attrName>
                                        </p:attrNameLst>
                                      </p:cBhvr>
                                      <p:to>
                                        <p:strVal val="visible"/>
                                      </p:to>
                                    </p:set>
                                    <p:animEffect transition="in" filter="wipe(up)">
                                      <p:cBhvr>
                                        <p:cTn id="16" dur="500"/>
                                        <p:tgtEl>
                                          <p:spTgt spid="566316"/>
                                        </p:tgtEl>
                                      </p:cBhvr>
                                    </p:animEffect>
                                  </p:childTnLst>
                                </p:cTn>
                              </p:par>
                              <p:par>
                                <p:cTn id="17" presetID="22" presetClass="entr" presetSubtype="1" fill="hold" grpId="1" nodeType="withEffect">
                                  <p:stCondLst>
                                    <p:cond delay="0"/>
                                  </p:stCondLst>
                                  <p:childTnLst>
                                    <p:set>
                                      <p:cBhvr>
                                        <p:cTn id="18" dur="1" fill="hold">
                                          <p:stCondLst>
                                            <p:cond delay="0"/>
                                          </p:stCondLst>
                                        </p:cTn>
                                        <p:tgtEl>
                                          <p:spTgt spid="566317"/>
                                        </p:tgtEl>
                                        <p:attrNameLst>
                                          <p:attrName>style.visibility</p:attrName>
                                        </p:attrNameLst>
                                      </p:cBhvr>
                                      <p:to>
                                        <p:strVal val="visible"/>
                                      </p:to>
                                    </p:set>
                                    <p:animEffect transition="in" filter="wipe(up)">
                                      <p:cBhvr>
                                        <p:cTn id="19" dur="500"/>
                                        <p:tgtEl>
                                          <p:spTgt spid="566317"/>
                                        </p:tgtEl>
                                      </p:cBhvr>
                                    </p:animEffect>
                                  </p:childTnLst>
                                </p:cTn>
                              </p:par>
                              <p:par>
                                <p:cTn id="20" presetID="22" presetClass="entr" presetSubtype="1" fill="hold" grpId="1" nodeType="withEffect">
                                  <p:stCondLst>
                                    <p:cond delay="0"/>
                                  </p:stCondLst>
                                  <p:childTnLst>
                                    <p:set>
                                      <p:cBhvr>
                                        <p:cTn id="21" dur="1" fill="hold">
                                          <p:stCondLst>
                                            <p:cond delay="0"/>
                                          </p:stCondLst>
                                        </p:cTn>
                                        <p:tgtEl>
                                          <p:spTgt spid="566318"/>
                                        </p:tgtEl>
                                        <p:attrNameLst>
                                          <p:attrName>style.visibility</p:attrName>
                                        </p:attrNameLst>
                                      </p:cBhvr>
                                      <p:to>
                                        <p:strVal val="visible"/>
                                      </p:to>
                                    </p:set>
                                    <p:animEffect transition="in" filter="wipe(up)">
                                      <p:cBhvr>
                                        <p:cTn id="22" dur="500"/>
                                        <p:tgtEl>
                                          <p:spTgt spid="566318"/>
                                        </p:tgtEl>
                                      </p:cBhvr>
                                    </p:animEffect>
                                  </p:childTnLst>
                                </p:cTn>
                              </p:par>
                              <p:par>
                                <p:cTn id="23" presetID="22" presetClass="entr" presetSubtype="1" fill="hold" grpId="1" nodeType="withEffect">
                                  <p:stCondLst>
                                    <p:cond delay="0"/>
                                  </p:stCondLst>
                                  <p:childTnLst>
                                    <p:set>
                                      <p:cBhvr>
                                        <p:cTn id="24" dur="1" fill="hold">
                                          <p:stCondLst>
                                            <p:cond delay="0"/>
                                          </p:stCondLst>
                                        </p:cTn>
                                        <p:tgtEl>
                                          <p:spTgt spid="566319"/>
                                        </p:tgtEl>
                                        <p:attrNameLst>
                                          <p:attrName>style.visibility</p:attrName>
                                        </p:attrNameLst>
                                      </p:cBhvr>
                                      <p:to>
                                        <p:strVal val="visible"/>
                                      </p:to>
                                    </p:set>
                                    <p:animEffect transition="in" filter="wipe(up)">
                                      <p:cBhvr>
                                        <p:cTn id="25" dur="500"/>
                                        <p:tgtEl>
                                          <p:spTgt spid="566319"/>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nodeType="clickEffect">
                                  <p:stCondLst>
                                    <p:cond delay="0"/>
                                  </p:stCondLst>
                                  <p:childTnLst>
                                    <p:set>
                                      <p:cBhvr>
                                        <p:cTn id="29" dur="1" fill="hold">
                                          <p:stCondLst>
                                            <p:cond delay="0"/>
                                          </p:stCondLst>
                                        </p:cTn>
                                        <p:tgtEl>
                                          <p:spTgt spid="566322"/>
                                        </p:tgtEl>
                                        <p:attrNameLst>
                                          <p:attrName>style.visibility</p:attrName>
                                        </p:attrNameLst>
                                      </p:cBhvr>
                                      <p:to>
                                        <p:strVal val="visible"/>
                                      </p:to>
                                    </p:set>
                                    <p:anim calcmode="lin" valueType="num">
                                      <p:cBhvr additive="base">
                                        <p:cTn id="30" dur="500" fill="hold"/>
                                        <p:tgtEl>
                                          <p:spTgt spid="566322"/>
                                        </p:tgtEl>
                                        <p:attrNameLst>
                                          <p:attrName>ppt_x</p:attrName>
                                        </p:attrNameLst>
                                      </p:cBhvr>
                                      <p:tavLst>
                                        <p:tav tm="0">
                                          <p:val>
                                            <p:strVal val="1+#ppt_w/2"/>
                                          </p:val>
                                        </p:tav>
                                        <p:tav tm="100000">
                                          <p:val>
                                            <p:strVal val="#ppt_x"/>
                                          </p:val>
                                        </p:tav>
                                      </p:tavLst>
                                    </p:anim>
                                    <p:anim calcmode="lin" valueType="num">
                                      <p:cBhvr additive="base">
                                        <p:cTn id="31" dur="500" fill="hold"/>
                                        <p:tgtEl>
                                          <p:spTgt spid="566322"/>
                                        </p:tgtEl>
                                        <p:attrNameLst>
                                          <p:attrName>ppt_y</p:attrName>
                                        </p:attrNameLst>
                                      </p:cBhvr>
                                      <p:tavLst>
                                        <p:tav tm="0">
                                          <p:val>
                                            <p:strVal val="#ppt_y"/>
                                          </p:val>
                                        </p:tav>
                                        <p:tav tm="100000">
                                          <p:val>
                                            <p:strVal val="#ppt_y"/>
                                          </p:val>
                                        </p:tav>
                                      </p:tavLst>
                                    </p:anim>
                                  </p:childTnLst>
                                </p:cTn>
                              </p:par>
                              <p:par>
                                <p:cTn id="32" presetID="23" presetClass="emph" presetSubtype="0" repeatCount="indefinite" fill="hold" grpId="0" nodeType="withEffect">
                                  <p:stCondLst>
                                    <p:cond delay="0"/>
                                  </p:stCondLst>
                                  <p:endCondLst>
                                    <p:cond evt="onNext" delay="0">
                                      <p:tgtEl>
                                        <p:sldTgt/>
                                      </p:tgtEl>
                                    </p:cond>
                                  </p:endCondLst>
                                  <p:childTnLst>
                                    <p:animClr clrSpc="hsl" dir="cw">
                                      <p:cBhvr override="childStyle">
                                        <p:cTn id="33" dur="500" fill="hold"/>
                                        <p:tgtEl>
                                          <p:spTgt spid="566316"/>
                                        </p:tgtEl>
                                        <p:attrNameLst>
                                          <p:attrName>style.color</p:attrName>
                                        </p:attrNameLst>
                                      </p:cBhvr>
                                      <p:by>
                                        <p:hsl h="10842353" s="0" l="0"/>
                                      </p:by>
                                    </p:animClr>
                                    <p:animClr clrSpc="hsl" dir="cw">
                                      <p:cBhvr>
                                        <p:cTn id="34" dur="500" fill="hold"/>
                                        <p:tgtEl>
                                          <p:spTgt spid="566316"/>
                                        </p:tgtEl>
                                        <p:attrNameLst>
                                          <p:attrName>fillcolor</p:attrName>
                                        </p:attrNameLst>
                                      </p:cBhvr>
                                      <p:by>
                                        <p:hsl h="10842353" s="0" l="0"/>
                                      </p:by>
                                    </p:animClr>
                                    <p:animClr clrSpc="hsl" dir="cw">
                                      <p:cBhvr>
                                        <p:cTn id="35" dur="500" fill="hold"/>
                                        <p:tgtEl>
                                          <p:spTgt spid="566316"/>
                                        </p:tgtEl>
                                        <p:attrNameLst>
                                          <p:attrName>stroke.color</p:attrName>
                                        </p:attrNameLst>
                                      </p:cBhvr>
                                      <p:by>
                                        <p:hsl h="10842353" s="0" l="0"/>
                                      </p:by>
                                    </p:animClr>
                                    <p:set>
                                      <p:cBhvr>
                                        <p:cTn id="36" dur="500" fill="hold"/>
                                        <p:tgtEl>
                                          <p:spTgt spid="566316"/>
                                        </p:tgtEl>
                                        <p:attrNameLst>
                                          <p:attrName>fill.type</p:attrName>
                                        </p:attrNameLst>
                                      </p:cBhvr>
                                      <p:to>
                                        <p:strVal val="solid"/>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566322"/>
                                        </p:tgtEl>
                                        <p:attrNameLst>
                                          <p:attrName>style.visibility</p:attrName>
                                        </p:attrNameLst>
                                      </p:cBhvr>
                                      <p:to>
                                        <p:strVal val="hidden"/>
                                      </p:to>
                                    </p:set>
                                  </p:childTnLst>
                                </p:cTn>
                              </p:par>
                              <p:par>
                                <p:cTn id="41" presetID="2" presetClass="entr" presetSubtype="2" fill="hold" nodeType="withEffect">
                                  <p:stCondLst>
                                    <p:cond delay="0"/>
                                  </p:stCondLst>
                                  <p:childTnLst>
                                    <p:set>
                                      <p:cBhvr>
                                        <p:cTn id="42" dur="1" fill="hold">
                                          <p:stCondLst>
                                            <p:cond delay="0"/>
                                          </p:stCondLst>
                                        </p:cTn>
                                        <p:tgtEl>
                                          <p:spTgt spid="566325"/>
                                        </p:tgtEl>
                                        <p:attrNameLst>
                                          <p:attrName>style.visibility</p:attrName>
                                        </p:attrNameLst>
                                      </p:cBhvr>
                                      <p:to>
                                        <p:strVal val="visible"/>
                                      </p:to>
                                    </p:set>
                                    <p:anim calcmode="lin" valueType="num">
                                      <p:cBhvr additive="base">
                                        <p:cTn id="43" dur="500" fill="hold"/>
                                        <p:tgtEl>
                                          <p:spTgt spid="566325"/>
                                        </p:tgtEl>
                                        <p:attrNameLst>
                                          <p:attrName>ppt_x</p:attrName>
                                        </p:attrNameLst>
                                      </p:cBhvr>
                                      <p:tavLst>
                                        <p:tav tm="0">
                                          <p:val>
                                            <p:strVal val="1+#ppt_w/2"/>
                                          </p:val>
                                        </p:tav>
                                        <p:tav tm="100000">
                                          <p:val>
                                            <p:strVal val="#ppt_x"/>
                                          </p:val>
                                        </p:tav>
                                      </p:tavLst>
                                    </p:anim>
                                    <p:anim calcmode="lin" valueType="num">
                                      <p:cBhvr additive="base">
                                        <p:cTn id="44" dur="500" fill="hold"/>
                                        <p:tgtEl>
                                          <p:spTgt spid="566325"/>
                                        </p:tgtEl>
                                        <p:attrNameLst>
                                          <p:attrName>ppt_y</p:attrName>
                                        </p:attrNameLst>
                                      </p:cBhvr>
                                      <p:tavLst>
                                        <p:tav tm="0">
                                          <p:val>
                                            <p:strVal val="#ppt_y"/>
                                          </p:val>
                                        </p:tav>
                                        <p:tav tm="100000">
                                          <p:val>
                                            <p:strVal val="#ppt_y"/>
                                          </p:val>
                                        </p:tav>
                                      </p:tavLst>
                                    </p:anim>
                                  </p:childTnLst>
                                </p:cTn>
                              </p:par>
                              <p:par>
                                <p:cTn id="45" presetID="23" presetClass="emph" presetSubtype="0" repeatCount="indefinite" fill="hold" grpId="0" nodeType="withEffect">
                                  <p:stCondLst>
                                    <p:cond delay="0"/>
                                  </p:stCondLst>
                                  <p:endCondLst>
                                    <p:cond evt="onNext" delay="0">
                                      <p:tgtEl>
                                        <p:sldTgt/>
                                      </p:tgtEl>
                                    </p:cond>
                                  </p:endCondLst>
                                  <p:childTnLst>
                                    <p:animClr clrSpc="hsl" dir="cw">
                                      <p:cBhvr override="childStyle">
                                        <p:cTn id="46" dur="500" fill="hold"/>
                                        <p:tgtEl>
                                          <p:spTgt spid="566317"/>
                                        </p:tgtEl>
                                        <p:attrNameLst>
                                          <p:attrName>style.color</p:attrName>
                                        </p:attrNameLst>
                                      </p:cBhvr>
                                      <p:by>
                                        <p:hsl h="10842353" s="0" l="0"/>
                                      </p:by>
                                    </p:animClr>
                                    <p:animClr clrSpc="hsl" dir="cw">
                                      <p:cBhvr>
                                        <p:cTn id="47" dur="500" fill="hold"/>
                                        <p:tgtEl>
                                          <p:spTgt spid="566317"/>
                                        </p:tgtEl>
                                        <p:attrNameLst>
                                          <p:attrName>fillcolor</p:attrName>
                                        </p:attrNameLst>
                                      </p:cBhvr>
                                      <p:by>
                                        <p:hsl h="10842353" s="0" l="0"/>
                                      </p:by>
                                    </p:animClr>
                                    <p:animClr clrSpc="hsl" dir="cw">
                                      <p:cBhvr>
                                        <p:cTn id="48" dur="500" fill="hold"/>
                                        <p:tgtEl>
                                          <p:spTgt spid="566317"/>
                                        </p:tgtEl>
                                        <p:attrNameLst>
                                          <p:attrName>stroke.color</p:attrName>
                                        </p:attrNameLst>
                                      </p:cBhvr>
                                      <p:by>
                                        <p:hsl h="10842353" s="0" l="0"/>
                                      </p:by>
                                    </p:animClr>
                                    <p:set>
                                      <p:cBhvr>
                                        <p:cTn id="49" dur="500" fill="hold"/>
                                        <p:tgtEl>
                                          <p:spTgt spid="566317"/>
                                        </p:tgtEl>
                                        <p:attrNameLst>
                                          <p:attrName>fill.type</p:attrName>
                                        </p:attrNameLst>
                                      </p:cBhvr>
                                      <p:to>
                                        <p:strVal val="solid"/>
                                      </p:to>
                                    </p:se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nodeType="clickEffect">
                                  <p:stCondLst>
                                    <p:cond delay="0"/>
                                  </p:stCondLst>
                                  <p:childTnLst>
                                    <p:set>
                                      <p:cBhvr>
                                        <p:cTn id="53" dur="1" fill="hold">
                                          <p:stCondLst>
                                            <p:cond delay="0"/>
                                          </p:stCondLst>
                                        </p:cTn>
                                        <p:tgtEl>
                                          <p:spTgt spid="566325"/>
                                        </p:tgtEl>
                                        <p:attrNameLst>
                                          <p:attrName>style.visibility</p:attrName>
                                        </p:attrNameLst>
                                      </p:cBhvr>
                                      <p:to>
                                        <p:strVal val="hidden"/>
                                      </p:to>
                                    </p:set>
                                  </p:childTnLst>
                                </p:cTn>
                              </p:par>
                              <p:par>
                                <p:cTn id="54" presetID="2" presetClass="entr" presetSubtype="2" fill="hold" nodeType="withEffect">
                                  <p:stCondLst>
                                    <p:cond delay="0"/>
                                  </p:stCondLst>
                                  <p:childTnLst>
                                    <p:set>
                                      <p:cBhvr>
                                        <p:cTn id="55" dur="1" fill="hold">
                                          <p:stCondLst>
                                            <p:cond delay="0"/>
                                          </p:stCondLst>
                                        </p:cTn>
                                        <p:tgtEl>
                                          <p:spTgt spid="566328"/>
                                        </p:tgtEl>
                                        <p:attrNameLst>
                                          <p:attrName>style.visibility</p:attrName>
                                        </p:attrNameLst>
                                      </p:cBhvr>
                                      <p:to>
                                        <p:strVal val="visible"/>
                                      </p:to>
                                    </p:set>
                                    <p:anim calcmode="lin" valueType="num">
                                      <p:cBhvr additive="base">
                                        <p:cTn id="56" dur="500" fill="hold"/>
                                        <p:tgtEl>
                                          <p:spTgt spid="566328"/>
                                        </p:tgtEl>
                                        <p:attrNameLst>
                                          <p:attrName>ppt_x</p:attrName>
                                        </p:attrNameLst>
                                      </p:cBhvr>
                                      <p:tavLst>
                                        <p:tav tm="0">
                                          <p:val>
                                            <p:strVal val="1+#ppt_w/2"/>
                                          </p:val>
                                        </p:tav>
                                        <p:tav tm="100000">
                                          <p:val>
                                            <p:strVal val="#ppt_x"/>
                                          </p:val>
                                        </p:tav>
                                      </p:tavLst>
                                    </p:anim>
                                    <p:anim calcmode="lin" valueType="num">
                                      <p:cBhvr additive="base">
                                        <p:cTn id="57" dur="500" fill="hold"/>
                                        <p:tgtEl>
                                          <p:spTgt spid="566328"/>
                                        </p:tgtEl>
                                        <p:attrNameLst>
                                          <p:attrName>ppt_y</p:attrName>
                                        </p:attrNameLst>
                                      </p:cBhvr>
                                      <p:tavLst>
                                        <p:tav tm="0">
                                          <p:val>
                                            <p:strVal val="#ppt_y"/>
                                          </p:val>
                                        </p:tav>
                                        <p:tav tm="100000">
                                          <p:val>
                                            <p:strVal val="#ppt_y"/>
                                          </p:val>
                                        </p:tav>
                                      </p:tavLst>
                                    </p:anim>
                                  </p:childTnLst>
                                </p:cTn>
                              </p:par>
                              <p:par>
                                <p:cTn id="58" presetID="23" presetClass="emph" presetSubtype="0" repeatCount="indefinite" fill="hold" grpId="0" nodeType="withEffect">
                                  <p:stCondLst>
                                    <p:cond delay="0"/>
                                  </p:stCondLst>
                                  <p:endCondLst>
                                    <p:cond evt="onNext" delay="0">
                                      <p:tgtEl>
                                        <p:sldTgt/>
                                      </p:tgtEl>
                                    </p:cond>
                                  </p:endCondLst>
                                  <p:childTnLst>
                                    <p:animClr clrSpc="hsl" dir="cw">
                                      <p:cBhvr override="childStyle">
                                        <p:cTn id="59" dur="500" fill="hold"/>
                                        <p:tgtEl>
                                          <p:spTgt spid="566318"/>
                                        </p:tgtEl>
                                        <p:attrNameLst>
                                          <p:attrName>style.color</p:attrName>
                                        </p:attrNameLst>
                                      </p:cBhvr>
                                      <p:by>
                                        <p:hsl h="10842353" s="0" l="0"/>
                                      </p:by>
                                    </p:animClr>
                                    <p:animClr clrSpc="hsl" dir="cw">
                                      <p:cBhvr>
                                        <p:cTn id="60" dur="500" fill="hold"/>
                                        <p:tgtEl>
                                          <p:spTgt spid="566318"/>
                                        </p:tgtEl>
                                        <p:attrNameLst>
                                          <p:attrName>fillcolor</p:attrName>
                                        </p:attrNameLst>
                                      </p:cBhvr>
                                      <p:by>
                                        <p:hsl h="10842353" s="0" l="0"/>
                                      </p:by>
                                    </p:animClr>
                                    <p:animClr clrSpc="hsl" dir="cw">
                                      <p:cBhvr>
                                        <p:cTn id="61" dur="500" fill="hold"/>
                                        <p:tgtEl>
                                          <p:spTgt spid="566318"/>
                                        </p:tgtEl>
                                        <p:attrNameLst>
                                          <p:attrName>stroke.color</p:attrName>
                                        </p:attrNameLst>
                                      </p:cBhvr>
                                      <p:by>
                                        <p:hsl h="10842353" s="0" l="0"/>
                                      </p:by>
                                    </p:animClr>
                                    <p:set>
                                      <p:cBhvr>
                                        <p:cTn id="62" dur="500" fill="hold"/>
                                        <p:tgtEl>
                                          <p:spTgt spid="566318"/>
                                        </p:tgtEl>
                                        <p:attrNameLst>
                                          <p:attrName>fill.type</p:attrName>
                                        </p:attrNameLst>
                                      </p:cBhvr>
                                      <p:to>
                                        <p:strVal val="solid"/>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nodeType="clickEffect">
                                  <p:stCondLst>
                                    <p:cond delay="0"/>
                                  </p:stCondLst>
                                  <p:childTnLst>
                                    <p:set>
                                      <p:cBhvr>
                                        <p:cTn id="66" dur="1" fill="hold">
                                          <p:stCondLst>
                                            <p:cond delay="0"/>
                                          </p:stCondLst>
                                        </p:cTn>
                                        <p:tgtEl>
                                          <p:spTgt spid="566328"/>
                                        </p:tgtEl>
                                        <p:attrNameLst>
                                          <p:attrName>style.visibility</p:attrName>
                                        </p:attrNameLst>
                                      </p:cBhvr>
                                      <p:to>
                                        <p:strVal val="hidden"/>
                                      </p:to>
                                    </p:set>
                                  </p:childTnLst>
                                </p:cTn>
                              </p:par>
                              <p:par>
                                <p:cTn id="67" presetID="2" presetClass="entr" presetSubtype="2" fill="hold" nodeType="withEffect">
                                  <p:stCondLst>
                                    <p:cond delay="0"/>
                                  </p:stCondLst>
                                  <p:childTnLst>
                                    <p:set>
                                      <p:cBhvr>
                                        <p:cTn id="68" dur="1" fill="hold">
                                          <p:stCondLst>
                                            <p:cond delay="0"/>
                                          </p:stCondLst>
                                        </p:cTn>
                                        <p:tgtEl>
                                          <p:spTgt spid="566331"/>
                                        </p:tgtEl>
                                        <p:attrNameLst>
                                          <p:attrName>style.visibility</p:attrName>
                                        </p:attrNameLst>
                                      </p:cBhvr>
                                      <p:to>
                                        <p:strVal val="visible"/>
                                      </p:to>
                                    </p:set>
                                    <p:anim calcmode="lin" valueType="num">
                                      <p:cBhvr additive="base">
                                        <p:cTn id="69" dur="500" fill="hold"/>
                                        <p:tgtEl>
                                          <p:spTgt spid="566331"/>
                                        </p:tgtEl>
                                        <p:attrNameLst>
                                          <p:attrName>ppt_x</p:attrName>
                                        </p:attrNameLst>
                                      </p:cBhvr>
                                      <p:tavLst>
                                        <p:tav tm="0">
                                          <p:val>
                                            <p:strVal val="1+#ppt_w/2"/>
                                          </p:val>
                                        </p:tav>
                                        <p:tav tm="100000">
                                          <p:val>
                                            <p:strVal val="#ppt_x"/>
                                          </p:val>
                                        </p:tav>
                                      </p:tavLst>
                                    </p:anim>
                                    <p:anim calcmode="lin" valueType="num">
                                      <p:cBhvr additive="base">
                                        <p:cTn id="70" dur="500" fill="hold"/>
                                        <p:tgtEl>
                                          <p:spTgt spid="566331"/>
                                        </p:tgtEl>
                                        <p:attrNameLst>
                                          <p:attrName>ppt_y</p:attrName>
                                        </p:attrNameLst>
                                      </p:cBhvr>
                                      <p:tavLst>
                                        <p:tav tm="0">
                                          <p:val>
                                            <p:strVal val="#ppt_y"/>
                                          </p:val>
                                        </p:tav>
                                        <p:tav tm="100000">
                                          <p:val>
                                            <p:strVal val="#ppt_y"/>
                                          </p:val>
                                        </p:tav>
                                      </p:tavLst>
                                    </p:anim>
                                  </p:childTnLst>
                                </p:cTn>
                              </p:par>
                              <p:par>
                                <p:cTn id="71" presetID="23" presetClass="emph" presetSubtype="0" repeatCount="indefinite" fill="hold" grpId="0" nodeType="withEffect">
                                  <p:stCondLst>
                                    <p:cond delay="0"/>
                                  </p:stCondLst>
                                  <p:endCondLst>
                                    <p:cond evt="onNext" delay="0">
                                      <p:tgtEl>
                                        <p:sldTgt/>
                                      </p:tgtEl>
                                    </p:cond>
                                  </p:endCondLst>
                                  <p:childTnLst>
                                    <p:animClr clrSpc="hsl" dir="cw">
                                      <p:cBhvr override="childStyle">
                                        <p:cTn id="72" dur="500" fill="hold"/>
                                        <p:tgtEl>
                                          <p:spTgt spid="566319"/>
                                        </p:tgtEl>
                                        <p:attrNameLst>
                                          <p:attrName>style.color</p:attrName>
                                        </p:attrNameLst>
                                      </p:cBhvr>
                                      <p:by>
                                        <p:hsl h="10842353" s="0" l="0"/>
                                      </p:by>
                                    </p:animClr>
                                    <p:animClr clrSpc="hsl" dir="cw">
                                      <p:cBhvr>
                                        <p:cTn id="73" dur="500" fill="hold"/>
                                        <p:tgtEl>
                                          <p:spTgt spid="566319"/>
                                        </p:tgtEl>
                                        <p:attrNameLst>
                                          <p:attrName>fillcolor</p:attrName>
                                        </p:attrNameLst>
                                      </p:cBhvr>
                                      <p:by>
                                        <p:hsl h="10842353" s="0" l="0"/>
                                      </p:by>
                                    </p:animClr>
                                    <p:animClr clrSpc="hsl" dir="cw">
                                      <p:cBhvr>
                                        <p:cTn id="74" dur="500" fill="hold"/>
                                        <p:tgtEl>
                                          <p:spTgt spid="566319"/>
                                        </p:tgtEl>
                                        <p:attrNameLst>
                                          <p:attrName>stroke.color</p:attrName>
                                        </p:attrNameLst>
                                      </p:cBhvr>
                                      <p:by>
                                        <p:hsl h="10842353" s="0" l="0"/>
                                      </p:by>
                                    </p:animClr>
                                    <p:set>
                                      <p:cBhvr>
                                        <p:cTn id="75" dur="500" fill="hold"/>
                                        <p:tgtEl>
                                          <p:spTgt spid="566319"/>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316" grpId="0" animBg="1"/>
      <p:bldP spid="566316" grpId="1" animBg="1"/>
      <p:bldP spid="566317" grpId="0" animBg="1"/>
      <p:bldP spid="566317" grpId="1" animBg="1"/>
      <p:bldP spid="566318" grpId="0" animBg="1"/>
      <p:bldP spid="566318" grpId="1" animBg="1"/>
      <p:bldP spid="566319" grpId="0" animBg="1"/>
      <p:bldP spid="566319" grpId="1" animBg="1"/>
      <p:bldP spid="566321"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Rectangle 2"/>
          <p:cNvSpPr>
            <a:spLocks noChangeArrowheads="1"/>
          </p:cNvSpPr>
          <p:nvPr/>
        </p:nvSpPr>
        <p:spPr bwMode="auto">
          <a:xfrm>
            <a:off x="4100513" y="4403725"/>
            <a:ext cx="1143000" cy="914400"/>
          </a:xfrm>
          <a:prstGeom prst="rect">
            <a:avLst/>
          </a:prstGeom>
          <a:solidFill>
            <a:srgbClr val="CCFFCC"/>
          </a:solidFill>
          <a:ln w="9525">
            <a:solidFill>
              <a:schemeClr val="tx1"/>
            </a:solidFill>
            <a:miter lim="800000"/>
            <a:headEnd/>
            <a:tailEnd/>
          </a:ln>
          <a:effectLst/>
        </p:spPr>
        <p:txBody>
          <a:bodyPr wrap="none" anchor="ctr"/>
          <a:lstStyle/>
          <a:p>
            <a:r>
              <a:rPr lang="zh-CN" altLang="en-US">
                <a:latin typeface="宋体" pitchFamily="2" charset="-122"/>
              </a:rPr>
              <a:t>外部中断</a:t>
            </a:r>
          </a:p>
          <a:p>
            <a:r>
              <a:rPr lang="zh-CN" altLang="en-US">
                <a:latin typeface="宋体" pitchFamily="2" charset="-122"/>
              </a:rPr>
              <a:t>极性控制</a:t>
            </a:r>
          </a:p>
        </p:txBody>
      </p:sp>
      <p:sp>
        <p:nvSpPr>
          <p:cNvPr id="567299" name="Rectangle 3"/>
          <p:cNvSpPr>
            <a:spLocks noChangeArrowheads="1"/>
          </p:cNvSpPr>
          <p:nvPr/>
        </p:nvSpPr>
        <p:spPr bwMode="auto">
          <a:xfrm>
            <a:off x="5548313" y="4403725"/>
            <a:ext cx="1143000" cy="914400"/>
          </a:xfrm>
          <a:prstGeom prst="rect">
            <a:avLst/>
          </a:prstGeom>
          <a:solidFill>
            <a:srgbClr val="CCFFCC"/>
          </a:solidFill>
          <a:ln w="9525">
            <a:solidFill>
              <a:schemeClr val="tx1"/>
            </a:solidFill>
            <a:miter lim="800000"/>
            <a:headEnd/>
            <a:tailEnd/>
          </a:ln>
          <a:effectLst/>
        </p:spPr>
        <p:txBody>
          <a:bodyPr wrap="none" anchor="ctr"/>
          <a:lstStyle/>
          <a:p>
            <a:r>
              <a:rPr lang="zh-CN" altLang="en-US">
                <a:latin typeface="宋体" pitchFamily="2" charset="-122"/>
              </a:rPr>
              <a:t>外部中断</a:t>
            </a:r>
          </a:p>
          <a:p>
            <a:r>
              <a:rPr lang="zh-CN" altLang="en-US">
                <a:latin typeface="宋体" pitchFamily="2" charset="-122"/>
              </a:rPr>
              <a:t>方式控制</a:t>
            </a:r>
          </a:p>
        </p:txBody>
      </p:sp>
      <p:sp>
        <p:nvSpPr>
          <p:cNvPr id="567300" name="Rectangle 4"/>
          <p:cNvSpPr>
            <a:spLocks noChangeArrowheads="1"/>
          </p:cNvSpPr>
          <p:nvPr/>
        </p:nvSpPr>
        <p:spPr bwMode="auto">
          <a:xfrm>
            <a:off x="7224713" y="4022725"/>
            <a:ext cx="1143000" cy="762000"/>
          </a:xfrm>
          <a:prstGeom prst="rect">
            <a:avLst/>
          </a:prstGeom>
          <a:solidFill>
            <a:srgbClr val="FFCC99"/>
          </a:solidFill>
          <a:ln w="9525">
            <a:solidFill>
              <a:schemeClr val="tx1"/>
            </a:solidFill>
            <a:miter lim="800000"/>
            <a:headEnd/>
            <a:tailEnd/>
          </a:ln>
          <a:effectLst/>
        </p:spPr>
        <p:txBody>
          <a:bodyPr wrap="none" anchor="ctr"/>
          <a:lstStyle/>
          <a:p>
            <a:r>
              <a:rPr lang="zh-CN" altLang="en-US">
                <a:latin typeface="宋体" pitchFamily="2" charset="-122"/>
              </a:rPr>
              <a:t>掉电</a:t>
            </a:r>
          </a:p>
          <a:p>
            <a:r>
              <a:rPr lang="zh-CN" altLang="en-US">
                <a:latin typeface="宋体" pitchFamily="2" charset="-122"/>
              </a:rPr>
              <a:t>唤醒控制</a:t>
            </a:r>
          </a:p>
        </p:txBody>
      </p:sp>
      <p:sp>
        <p:nvSpPr>
          <p:cNvPr id="567301" name="Rectangle 5"/>
          <p:cNvSpPr>
            <a:spLocks noChangeArrowheads="1"/>
          </p:cNvSpPr>
          <p:nvPr/>
        </p:nvSpPr>
        <p:spPr bwMode="auto">
          <a:xfrm>
            <a:off x="7224713" y="5013325"/>
            <a:ext cx="1143000" cy="762000"/>
          </a:xfrm>
          <a:prstGeom prst="rect">
            <a:avLst/>
          </a:prstGeom>
          <a:solidFill>
            <a:srgbClr val="FFCC99"/>
          </a:solidFill>
          <a:ln w="9525">
            <a:solidFill>
              <a:schemeClr val="tx1"/>
            </a:solidFill>
            <a:miter lim="800000"/>
            <a:headEnd/>
            <a:tailEnd/>
          </a:ln>
          <a:effectLst/>
        </p:spPr>
        <p:txBody>
          <a:bodyPr wrap="none" anchor="ctr"/>
          <a:lstStyle/>
          <a:p>
            <a:r>
              <a:rPr lang="zh-CN" altLang="en-US">
                <a:latin typeface="宋体" pitchFamily="2" charset="-122"/>
              </a:rPr>
              <a:t>中断标志</a:t>
            </a:r>
          </a:p>
        </p:txBody>
      </p:sp>
      <p:grpSp>
        <p:nvGrpSpPr>
          <p:cNvPr id="567302" name="Group 6"/>
          <p:cNvGrpSpPr>
            <a:grpSpLocks/>
          </p:cNvGrpSpPr>
          <p:nvPr/>
        </p:nvGrpSpPr>
        <p:grpSpPr bwMode="auto">
          <a:xfrm>
            <a:off x="1966913" y="3413125"/>
            <a:ext cx="8305800" cy="2895600"/>
            <a:chOff x="279" y="2069"/>
            <a:chExt cx="5232" cy="1824"/>
          </a:xfrm>
        </p:grpSpPr>
        <p:sp>
          <p:nvSpPr>
            <p:cNvPr id="567303" name="Rectangle 7"/>
            <p:cNvSpPr>
              <a:spLocks noChangeArrowheads="1"/>
            </p:cNvSpPr>
            <p:nvPr/>
          </p:nvSpPr>
          <p:spPr bwMode="auto">
            <a:xfrm>
              <a:off x="1623" y="3269"/>
              <a:ext cx="720" cy="192"/>
            </a:xfrm>
            <a:prstGeom prst="rect">
              <a:avLst/>
            </a:prstGeom>
            <a:solidFill>
              <a:srgbClr val="FFFF99"/>
            </a:solidFill>
            <a:ln w="9525">
              <a:solidFill>
                <a:schemeClr val="tx1"/>
              </a:solidFill>
              <a:miter lim="800000"/>
              <a:headEnd/>
              <a:tailEnd/>
            </a:ln>
            <a:effectLst/>
          </p:spPr>
          <p:txBody>
            <a:bodyPr wrap="none" anchor="ctr"/>
            <a:lstStyle/>
            <a:p>
              <a:r>
                <a:rPr lang="en-US" altLang="zh-CN" sz="1400">
                  <a:latin typeface="Arial Black" pitchFamily="34" charset="0"/>
                </a:rPr>
                <a:t>EXTPOLAR</a:t>
              </a:r>
            </a:p>
          </p:txBody>
        </p:sp>
        <p:sp>
          <p:nvSpPr>
            <p:cNvPr id="567304" name="Rectangle 8"/>
            <p:cNvSpPr>
              <a:spLocks noChangeArrowheads="1"/>
            </p:cNvSpPr>
            <p:nvPr/>
          </p:nvSpPr>
          <p:spPr bwMode="auto">
            <a:xfrm>
              <a:off x="2535" y="3269"/>
              <a:ext cx="720" cy="192"/>
            </a:xfrm>
            <a:prstGeom prst="rect">
              <a:avLst/>
            </a:prstGeom>
            <a:solidFill>
              <a:srgbClr val="FFFF99"/>
            </a:solidFill>
            <a:ln w="9525">
              <a:solidFill>
                <a:schemeClr val="tx1"/>
              </a:solidFill>
              <a:miter lim="800000"/>
              <a:headEnd/>
              <a:tailEnd/>
            </a:ln>
            <a:effectLst/>
          </p:spPr>
          <p:txBody>
            <a:bodyPr wrap="none" anchor="ctr"/>
            <a:lstStyle/>
            <a:p>
              <a:r>
                <a:rPr lang="en-US" altLang="zh-CN" sz="1400">
                  <a:latin typeface="Arial Black" pitchFamily="34" charset="0"/>
                </a:rPr>
                <a:t>EXTMODE</a:t>
              </a:r>
            </a:p>
          </p:txBody>
        </p:sp>
        <p:sp>
          <p:nvSpPr>
            <p:cNvPr id="567305" name="Rectangle 9"/>
            <p:cNvSpPr>
              <a:spLocks noChangeArrowheads="1"/>
            </p:cNvSpPr>
            <p:nvPr/>
          </p:nvSpPr>
          <p:spPr bwMode="auto">
            <a:xfrm>
              <a:off x="3591" y="3557"/>
              <a:ext cx="720" cy="192"/>
            </a:xfrm>
            <a:prstGeom prst="rect">
              <a:avLst/>
            </a:prstGeom>
            <a:solidFill>
              <a:srgbClr val="FFFF99"/>
            </a:solidFill>
            <a:ln w="9525">
              <a:solidFill>
                <a:schemeClr val="tx1"/>
              </a:solidFill>
              <a:miter lim="800000"/>
              <a:headEnd/>
              <a:tailEnd/>
            </a:ln>
            <a:effectLst/>
          </p:spPr>
          <p:txBody>
            <a:bodyPr wrap="none" anchor="ctr"/>
            <a:lstStyle/>
            <a:p>
              <a:r>
                <a:rPr lang="en-US" altLang="zh-CN" sz="1400">
                  <a:latin typeface="Arial Black" pitchFamily="34" charset="0"/>
                </a:rPr>
                <a:t>EXTINT</a:t>
              </a:r>
            </a:p>
          </p:txBody>
        </p:sp>
        <p:sp>
          <p:nvSpPr>
            <p:cNvPr id="567306" name="Rectangle 10"/>
            <p:cNvSpPr>
              <a:spLocks noChangeArrowheads="1"/>
            </p:cNvSpPr>
            <p:nvPr/>
          </p:nvSpPr>
          <p:spPr bwMode="auto">
            <a:xfrm>
              <a:off x="3591" y="2261"/>
              <a:ext cx="720" cy="192"/>
            </a:xfrm>
            <a:prstGeom prst="rect">
              <a:avLst/>
            </a:prstGeom>
            <a:solidFill>
              <a:srgbClr val="FFFF99"/>
            </a:solidFill>
            <a:ln w="9525">
              <a:solidFill>
                <a:schemeClr val="tx1"/>
              </a:solidFill>
              <a:miter lim="800000"/>
              <a:headEnd/>
              <a:tailEnd/>
            </a:ln>
            <a:effectLst/>
          </p:spPr>
          <p:txBody>
            <a:bodyPr wrap="none" anchor="ctr"/>
            <a:lstStyle/>
            <a:p>
              <a:r>
                <a:rPr lang="en-US" altLang="zh-CN" sz="1400">
                  <a:latin typeface="Arial Black" pitchFamily="34" charset="0"/>
                </a:rPr>
                <a:t>EXTWAKE</a:t>
              </a:r>
            </a:p>
          </p:txBody>
        </p:sp>
        <p:sp>
          <p:nvSpPr>
            <p:cNvPr id="567307" name="Rectangle 11"/>
            <p:cNvSpPr>
              <a:spLocks noChangeArrowheads="1"/>
            </p:cNvSpPr>
            <p:nvPr/>
          </p:nvSpPr>
          <p:spPr bwMode="auto">
            <a:xfrm>
              <a:off x="1556" y="2557"/>
              <a:ext cx="1769" cy="1044"/>
            </a:xfrm>
            <a:prstGeom prst="rect">
              <a:avLst/>
            </a:prstGeom>
            <a:noFill/>
            <a:ln w="9525" algn="ctr">
              <a:solidFill>
                <a:schemeClr val="tx1"/>
              </a:solidFill>
              <a:prstDash val="dash"/>
              <a:miter lim="800000"/>
              <a:headEnd/>
              <a:tailEnd/>
            </a:ln>
            <a:effectLst/>
          </p:spPr>
          <p:txBody>
            <a:bodyPr wrap="none" anchor="ctr"/>
            <a:lstStyle/>
            <a:p>
              <a:endParaRPr lang="zh-CN" altLang="en-US"/>
            </a:p>
          </p:txBody>
        </p:sp>
        <p:sp>
          <p:nvSpPr>
            <p:cNvPr id="567308" name="Rectangle 12"/>
            <p:cNvSpPr>
              <a:spLocks noChangeArrowheads="1"/>
            </p:cNvSpPr>
            <p:nvPr/>
          </p:nvSpPr>
          <p:spPr bwMode="auto">
            <a:xfrm>
              <a:off x="759" y="2405"/>
              <a:ext cx="672" cy="1152"/>
            </a:xfrm>
            <a:prstGeom prst="rect">
              <a:avLst/>
            </a:prstGeom>
            <a:solidFill>
              <a:srgbClr val="CCFFFF"/>
            </a:solidFill>
            <a:ln w="9525">
              <a:solidFill>
                <a:schemeClr val="tx1"/>
              </a:solidFill>
              <a:miter lim="800000"/>
              <a:headEnd/>
              <a:tailEnd/>
            </a:ln>
            <a:effectLst/>
          </p:spPr>
          <p:txBody>
            <a:bodyPr wrap="none" anchor="ctr"/>
            <a:lstStyle/>
            <a:p>
              <a:r>
                <a:rPr lang="zh-CN" altLang="en-US">
                  <a:latin typeface="宋体" pitchFamily="2" charset="-122"/>
                </a:rPr>
                <a:t>管脚</a:t>
              </a:r>
            </a:p>
            <a:p>
              <a:r>
                <a:rPr lang="zh-CN" altLang="en-US">
                  <a:latin typeface="宋体" pitchFamily="2" charset="-122"/>
                </a:rPr>
                <a:t>连接控制</a:t>
              </a:r>
            </a:p>
          </p:txBody>
        </p:sp>
        <p:sp>
          <p:nvSpPr>
            <p:cNvPr id="567309" name="Line 13"/>
            <p:cNvSpPr>
              <a:spLocks noChangeShapeType="1"/>
            </p:cNvSpPr>
            <p:nvPr/>
          </p:nvSpPr>
          <p:spPr bwMode="auto">
            <a:xfrm>
              <a:off x="1431" y="2981"/>
              <a:ext cx="192" cy="0"/>
            </a:xfrm>
            <a:prstGeom prst="line">
              <a:avLst/>
            </a:prstGeom>
            <a:noFill/>
            <a:ln w="28575">
              <a:solidFill>
                <a:schemeClr val="tx1"/>
              </a:solidFill>
              <a:round/>
              <a:headEnd/>
              <a:tailEnd type="triangle" w="med" len="med"/>
            </a:ln>
            <a:effectLst/>
          </p:spPr>
          <p:txBody>
            <a:bodyPr/>
            <a:lstStyle/>
            <a:p>
              <a:endParaRPr lang="zh-CN" altLang="en-US"/>
            </a:p>
          </p:txBody>
        </p:sp>
        <p:sp>
          <p:nvSpPr>
            <p:cNvPr id="567310" name="Line 14"/>
            <p:cNvSpPr>
              <a:spLocks noChangeShapeType="1"/>
            </p:cNvSpPr>
            <p:nvPr/>
          </p:nvSpPr>
          <p:spPr bwMode="auto">
            <a:xfrm>
              <a:off x="2343" y="2981"/>
              <a:ext cx="192" cy="0"/>
            </a:xfrm>
            <a:prstGeom prst="line">
              <a:avLst/>
            </a:prstGeom>
            <a:noFill/>
            <a:ln w="28575">
              <a:solidFill>
                <a:schemeClr val="tx1"/>
              </a:solidFill>
              <a:round/>
              <a:headEnd/>
              <a:tailEnd type="triangle" w="med" len="med"/>
            </a:ln>
            <a:effectLst/>
          </p:spPr>
          <p:txBody>
            <a:bodyPr/>
            <a:lstStyle/>
            <a:p>
              <a:endParaRPr lang="zh-CN" altLang="en-US"/>
            </a:p>
          </p:txBody>
        </p:sp>
        <p:grpSp>
          <p:nvGrpSpPr>
            <p:cNvPr id="567311" name="Group 15"/>
            <p:cNvGrpSpPr>
              <a:grpSpLocks/>
            </p:cNvGrpSpPr>
            <p:nvPr/>
          </p:nvGrpSpPr>
          <p:grpSpPr bwMode="auto">
            <a:xfrm>
              <a:off x="4311" y="2693"/>
              <a:ext cx="192" cy="624"/>
              <a:chOff x="4320" y="2304"/>
              <a:chExt cx="192" cy="624"/>
            </a:xfrm>
          </p:grpSpPr>
          <p:sp>
            <p:nvSpPr>
              <p:cNvPr id="567312" name="Line 16"/>
              <p:cNvSpPr>
                <a:spLocks noChangeShapeType="1"/>
              </p:cNvSpPr>
              <p:nvPr/>
            </p:nvSpPr>
            <p:spPr bwMode="auto">
              <a:xfrm>
                <a:off x="4320" y="2304"/>
                <a:ext cx="192" cy="0"/>
              </a:xfrm>
              <a:prstGeom prst="line">
                <a:avLst/>
              </a:prstGeom>
              <a:noFill/>
              <a:ln w="28575">
                <a:solidFill>
                  <a:schemeClr val="tx1"/>
                </a:solidFill>
                <a:round/>
                <a:headEnd/>
                <a:tailEnd type="triangle" w="med" len="med"/>
              </a:ln>
              <a:effectLst/>
            </p:spPr>
            <p:txBody>
              <a:bodyPr/>
              <a:lstStyle/>
              <a:p>
                <a:endParaRPr lang="zh-CN" altLang="en-US"/>
              </a:p>
            </p:txBody>
          </p:sp>
          <p:sp>
            <p:nvSpPr>
              <p:cNvPr id="567313" name="Line 17"/>
              <p:cNvSpPr>
                <a:spLocks noChangeShapeType="1"/>
              </p:cNvSpPr>
              <p:nvPr/>
            </p:nvSpPr>
            <p:spPr bwMode="auto">
              <a:xfrm>
                <a:off x="4320" y="2928"/>
                <a:ext cx="192" cy="0"/>
              </a:xfrm>
              <a:prstGeom prst="line">
                <a:avLst/>
              </a:prstGeom>
              <a:noFill/>
              <a:ln w="28575">
                <a:solidFill>
                  <a:schemeClr val="tx1"/>
                </a:solidFill>
                <a:round/>
                <a:headEnd/>
                <a:tailEnd type="triangle" w="med" len="med"/>
              </a:ln>
              <a:effectLst/>
            </p:spPr>
            <p:txBody>
              <a:bodyPr/>
              <a:lstStyle/>
              <a:p>
                <a:endParaRPr lang="zh-CN" altLang="en-US"/>
              </a:p>
            </p:txBody>
          </p:sp>
        </p:grpSp>
        <p:grpSp>
          <p:nvGrpSpPr>
            <p:cNvPr id="567314" name="Group 18"/>
            <p:cNvGrpSpPr>
              <a:grpSpLocks/>
            </p:cNvGrpSpPr>
            <p:nvPr/>
          </p:nvGrpSpPr>
          <p:grpSpPr bwMode="auto">
            <a:xfrm>
              <a:off x="3255" y="2693"/>
              <a:ext cx="336" cy="624"/>
              <a:chOff x="3264" y="2304"/>
              <a:chExt cx="336" cy="624"/>
            </a:xfrm>
          </p:grpSpPr>
          <p:sp>
            <p:nvSpPr>
              <p:cNvPr id="567315" name="Line 19"/>
              <p:cNvSpPr>
                <a:spLocks noChangeShapeType="1"/>
              </p:cNvSpPr>
              <p:nvPr/>
            </p:nvSpPr>
            <p:spPr bwMode="auto">
              <a:xfrm>
                <a:off x="3408" y="2304"/>
                <a:ext cx="192" cy="0"/>
              </a:xfrm>
              <a:prstGeom prst="line">
                <a:avLst/>
              </a:prstGeom>
              <a:noFill/>
              <a:ln w="28575">
                <a:solidFill>
                  <a:schemeClr val="tx1"/>
                </a:solidFill>
                <a:round/>
                <a:headEnd/>
                <a:tailEnd type="triangle" w="med" len="med"/>
              </a:ln>
              <a:effectLst/>
            </p:spPr>
            <p:txBody>
              <a:bodyPr/>
              <a:lstStyle/>
              <a:p>
                <a:endParaRPr lang="zh-CN" altLang="en-US"/>
              </a:p>
            </p:txBody>
          </p:sp>
          <p:sp>
            <p:nvSpPr>
              <p:cNvPr id="567316" name="Line 20"/>
              <p:cNvSpPr>
                <a:spLocks noChangeShapeType="1"/>
              </p:cNvSpPr>
              <p:nvPr/>
            </p:nvSpPr>
            <p:spPr bwMode="auto">
              <a:xfrm>
                <a:off x="3408" y="2304"/>
                <a:ext cx="0" cy="624"/>
              </a:xfrm>
              <a:prstGeom prst="line">
                <a:avLst/>
              </a:prstGeom>
              <a:noFill/>
              <a:ln w="28575">
                <a:solidFill>
                  <a:schemeClr val="tx1"/>
                </a:solidFill>
                <a:round/>
                <a:headEnd/>
                <a:tailEnd/>
              </a:ln>
              <a:effectLst/>
            </p:spPr>
            <p:txBody>
              <a:bodyPr/>
              <a:lstStyle/>
              <a:p>
                <a:endParaRPr lang="zh-CN" altLang="en-US"/>
              </a:p>
            </p:txBody>
          </p:sp>
          <p:sp>
            <p:nvSpPr>
              <p:cNvPr id="567317" name="Line 21"/>
              <p:cNvSpPr>
                <a:spLocks noChangeShapeType="1"/>
              </p:cNvSpPr>
              <p:nvPr/>
            </p:nvSpPr>
            <p:spPr bwMode="auto">
              <a:xfrm>
                <a:off x="3408" y="2928"/>
                <a:ext cx="192" cy="0"/>
              </a:xfrm>
              <a:prstGeom prst="line">
                <a:avLst/>
              </a:prstGeom>
              <a:noFill/>
              <a:ln w="28575">
                <a:solidFill>
                  <a:schemeClr val="tx1"/>
                </a:solidFill>
                <a:round/>
                <a:headEnd/>
                <a:tailEnd type="triangle" w="med" len="med"/>
              </a:ln>
              <a:effectLst/>
            </p:spPr>
            <p:txBody>
              <a:bodyPr/>
              <a:lstStyle/>
              <a:p>
                <a:endParaRPr lang="zh-CN" altLang="en-US"/>
              </a:p>
            </p:txBody>
          </p:sp>
          <p:sp>
            <p:nvSpPr>
              <p:cNvPr id="567318" name="Line 22"/>
              <p:cNvSpPr>
                <a:spLocks noChangeShapeType="1"/>
              </p:cNvSpPr>
              <p:nvPr/>
            </p:nvSpPr>
            <p:spPr bwMode="auto">
              <a:xfrm>
                <a:off x="3264" y="2592"/>
                <a:ext cx="144" cy="0"/>
              </a:xfrm>
              <a:prstGeom prst="line">
                <a:avLst/>
              </a:prstGeom>
              <a:noFill/>
              <a:ln w="28575">
                <a:solidFill>
                  <a:schemeClr val="tx1"/>
                </a:solidFill>
                <a:round/>
                <a:headEnd/>
                <a:tailEnd/>
              </a:ln>
              <a:effectLst/>
            </p:spPr>
            <p:txBody>
              <a:bodyPr/>
              <a:lstStyle/>
              <a:p>
                <a:endParaRPr lang="zh-CN" altLang="en-US"/>
              </a:p>
            </p:txBody>
          </p:sp>
        </p:grpSp>
        <p:grpSp>
          <p:nvGrpSpPr>
            <p:cNvPr id="567319" name="Group 23"/>
            <p:cNvGrpSpPr>
              <a:grpSpLocks/>
            </p:cNvGrpSpPr>
            <p:nvPr/>
          </p:nvGrpSpPr>
          <p:grpSpPr bwMode="auto">
            <a:xfrm>
              <a:off x="279" y="2069"/>
              <a:ext cx="5232" cy="1824"/>
              <a:chOff x="288" y="1680"/>
              <a:chExt cx="5232" cy="1824"/>
            </a:xfrm>
          </p:grpSpPr>
          <p:sp>
            <p:nvSpPr>
              <p:cNvPr id="567320" name="Rectangle 24"/>
              <p:cNvSpPr>
                <a:spLocks noChangeArrowheads="1"/>
              </p:cNvSpPr>
              <p:nvPr/>
            </p:nvSpPr>
            <p:spPr bwMode="auto">
              <a:xfrm>
                <a:off x="528" y="1680"/>
                <a:ext cx="4752" cy="1824"/>
              </a:xfrm>
              <a:prstGeom prst="rect">
                <a:avLst/>
              </a:prstGeom>
              <a:noFill/>
              <a:ln w="9525">
                <a:solidFill>
                  <a:schemeClr val="tx1"/>
                </a:solidFill>
                <a:miter lim="800000"/>
                <a:headEnd/>
                <a:tailEnd/>
              </a:ln>
              <a:effectLst/>
            </p:spPr>
            <p:txBody>
              <a:bodyPr wrap="none" anchor="ctr"/>
              <a:lstStyle/>
              <a:p>
                <a:endParaRPr lang="zh-CN" altLang="en-US"/>
              </a:p>
            </p:txBody>
          </p:sp>
          <p:sp>
            <p:nvSpPr>
              <p:cNvPr id="567321" name="Rectangle 25"/>
              <p:cNvSpPr>
                <a:spLocks noChangeArrowheads="1"/>
              </p:cNvSpPr>
              <p:nvPr/>
            </p:nvSpPr>
            <p:spPr bwMode="auto">
              <a:xfrm>
                <a:off x="288" y="2064"/>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7322" name="Rectangle 26"/>
              <p:cNvSpPr>
                <a:spLocks noChangeArrowheads="1"/>
              </p:cNvSpPr>
              <p:nvPr/>
            </p:nvSpPr>
            <p:spPr bwMode="auto">
              <a:xfrm>
                <a:off x="288" y="2352"/>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7323" name="Rectangle 27"/>
              <p:cNvSpPr>
                <a:spLocks noChangeArrowheads="1"/>
              </p:cNvSpPr>
              <p:nvPr/>
            </p:nvSpPr>
            <p:spPr bwMode="auto">
              <a:xfrm>
                <a:off x="288" y="2640"/>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7324" name="Rectangle 28"/>
              <p:cNvSpPr>
                <a:spLocks noChangeArrowheads="1"/>
              </p:cNvSpPr>
              <p:nvPr/>
            </p:nvSpPr>
            <p:spPr bwMode="auto">
              <a:xfrm>
                <a:off x="288" y="2928"/>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7325" name="Rectangle 29"/>
              <p:cNvSpPr>
                <a:spLocks noChangeArrowheads="1"/>
              </p:cNvSpPr>
              <p:nvPr/>
            </p:nvSpPr>
            <p:spPr bwMode="auto">
              <a:xfrm>
                <a:off x="288" y="3216"/>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7326" name="Rectangle 30"/>
              <p:cNvSpPr>
                <a:spLocks noChangeArrowheads="1"/>
              </p:cNvSpPr>
              <p:nvPr/>
            </p:nvSpPr>
            <p:spPr bwMode="auto">
              <a:xfrm>
                <a:off x="288" y="1776"/>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7327" name="Rectangle 31"/>
              <p:cNvSpPr>
                <a:spLocks noChangeArrowheads="1"/>
              </p:cNvSpPr>
              <p:nvPr/>
            </p:nvSpPr>
            <p:spPr bwMode="auto">
              <a:xfrm>
                <a:off x="5280" y="2064"/>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7328" name="Rectangle 32"/>
              <p:cNvSpPr>
                <a:spLocks noChangeArrowheads="1"/>
              </p:cNvSpPr>
              <p:nvPr/>
            </p:nvSpPr>
            <p:spPr bwMode="auto">
              <a:xfrm>
                <a:off x="5280" y="2352"/>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7329" name="Rectangle 33"/>
              <p:cNvSpPr>
                <a:spLocks noChangeArrowheads="1"/>
              </p:cNvSpPr>
              <p:nvPr/>
            </p:nvSpPr>
            <p:spPr bwMode="auto">
              <a:xfrm>
                <a:off x="5280" y="2640"/>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7330" name="Rectangle 34"/>
              <p:cNvSpPr>
                <a:spLocks noChangeArrowheads="1"/>
              </p:cNvSpPr>
              <p:nvPr/>
            </p:nvSpPr>
            <p:spPr bwMode="auto">
              <a:xfrm>
                <a:off x="5280" y="2928"/>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7331" name="Rectangle 35"/>
              <p:cNvSpPr>
                <a:spLocks noChangeArrowheads="1"/>
              </p:cNvSpPr>
              <p:nvPr/>
            </p:nvSpPr>
            <p:spPr bwMode="auto">
              <a:xfrm>
                <a:off x="5280" y="3216"/>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sp>
            <p:nvSpPr>
              <p:cNvPr id="567332" name="Rectangle 36"/>
              <p:cNvSpPr>
                <a:spLocks noChangeArrowheads="1"/>
              </p:cNvSpPr>
              <p:nvPr/>
            </p:nvSpPr>
            <p:spPr bwMode="auto">
              <a:xfrm>
                <a:off x="5280" y="1776"/>
                <a:ext cx="240" cy="192"/>
              </a:xfrm>
              <a:prstGeom prst="rect">
                <a:avLst/>
              </a:prstGeom>
              <a:solidFill>
                <a:srgbClr val="DDDDDD"/>
              </a:solidFill>
              <a:ln w="9525">
                <a:solidFill>
                  <a:schemeClr val="tx1"/>
                </a:solidFill>
                <a:miter lim="800000"/>
                <a:headEnd/>
                <a:tailEnd/>
              </a:ln>
              <a:effectLst/>
            </p:spPr>
            <p:txBody>
              <a:bodyPr wrap="none" anchor="ctr"/>
              <a:lstStyle/>
              <a:p>
                <a:endParaRPr lang="zh-CN" altLang="en-US"/>
              </a:p>
            </p:txBody>
          </p:sp>
        </p:grpSp>
        <p:sp>
          <p:nvSpPr>
            <p:cNvPr id="567333" name="Rectangle 37"/>
            <p:cNvSpPr>
              <a:spLocks noChangeArrowheads="1"/>
            </p:cNvSpPr>
            <p:nvPr/>
          </p:nvSpPr>
          <p:spPr bwMode="auto">
            <a:xfrm>
              <a:off x="759" y="3557"/>
              <a:ext cx="672" cy="192"/>
            </a:xfrm>
            <a:prstGeom prst="rect">
              <a:avLst/>
            </a:prstGeom>
            <a:solidFill>
              <a:srgbClr val="FFFF99"/>
            </a:solidFill>
            <a:ln w="9525">
              <a:solidFill>
                <a:schemeClr val="tx1"/>
              </a:solidFill>
              <a:miter lim="800000"/>
              <a:headEnd/>
              <a:tailEnd/>
            </a:ln>
            <a:effectLst/>
          </p:spPr>
          <p:txBody>
            <a:bodyPr wrap="none" anchor="ctr"/>
            <a:lstStyle/>
            <a:p>
              <a:r>
                <a:rPr lang="en-US" altLang="zh-CN" sz="1400">
                  <a:latin typeface="Arial Black" pitchFamily="34" charset="0"/>
                </a:rPr>
                <a:t>PINSELx</a:t>
              </a:r>
            </a:p>
          </p:txBody>
        </p:sp>
        <p:grpSp>
          <p:nvGrpSpPr>
            <p:cNvPr id="567334" name="Group 38"/>
            <p:cNvGrpSpPr>
              <a:grpSpLocks/>
            </p:cNvGrpSpPr>
            <p:nvPr/>
          </p:nvGrpSpPr>
          <p:grpSpPr bwMode="auto">
            <a:xfrm>
              <a:off x="423" y="2549"/>
              <a:ext cx="336" cy="865"/>
              <a:chOff x="432" y="2160"/>
              <a:chExt cx="336" cy="865"/>
            </a:xfrm>
          </p:grpSpPr>
          <p:sp>
            <p:nvSpPr>
              <p:cNvPr id="567335" name="Line 39"/>
              <p:cNvSpPr>
                <a:spLocks noChangeShapeType="1"/>
              </p:cNvSpPr>
              <p:nvPr/>
            </p:nvSpPr>
            <p:spPr bwMode="auto">
              <a:xfrm>
                <a:off x="432" y="2160"/>
                <a:ext cx="336" cy="1"/>
              </a:xfrm>
              <a:prstGeom prst="line">
                <a:avLst/>
              </a:prstGeom>
              <a:noFill/>
              <a:ln w="28575">
                <a:solidFill>
                  <a:schemeClr val="tx1"/>
                </a:solidFill>
                <a:round/>
                <a:headEnd type="oval" w="med" len="med"/>
                <a:tailEnd type="triangle" w="med" len="med"/>
              </a:ln>
              <a:effectLst/>
            </p:spPr>
            <p:txBody>
              <a:bodyPr/>
              <a:lstStyle/>
              <a:p>
                <a:endParaRPr lang="zh-CN" altLang="en-US"/>
              </a:p>
            </p:txBody>
          </p:sp>
          <p:sp>
            <p:nvSpPr>
              <p:cNvPr id="567336" name="Line 40"/>
              <p:cNvSpPr>
                <a:spLocks noChangeShapeType="1"/>
              </p:cNvSpPr>
              <p:nvPr/>
            </p:nvSpPr>
            <p:spPr bwMode="auto">
              <a:xfrm>
                <a:off x="432" y="2448"/>
                <a:ext cx="336" cy="1"/>
              </a:xfrm>
              <a:prstGeom prst="line">
                <a:avLst/>
              </a:prstGeom>
              <a:noFill/>
              <a:ln w="28575">
                <a:solidFill>
                  <a:schemeClr val="tx1"/>
                </a:solidFill>
                <a:round/>
                <a:headEnd type="oval" w="med" len="med"/>
                <a:tailEnd type="triangle" w="med" len="med"/>
              </a:ln>
              <a:effectLst/>
            </p:spPr>
            <p:txBody>
              <a:bodyPr/>
              <a:lstStyle/>
              <a:p>
                <a:endParaRPr lang="zh-CN" altLang="en-US"/>
              </a:p>
            </p:txBody>
          </p:sp>
          <p:sp>
            <p:nvSpPr>
              <p:cNvPr id="567337" name="Line 41"/>
              <p:cNvSpPr>
                <a:spLocks noChangeShapeType="1"/>
              </p:cNvSpPr>
              <p:nvPr/>
            </p:nvSpPr>
            <p:spPr bwMode="auto">
              <a:xfrm>
                <a:off x="432" y="3024"/>
                <a:ext cx="336" cy="1"/>
              </a:xfrm>
              <a:prstGeom prst="line">
                <a:avLst/>
              </a:prstGeom>
              <a:noFill/>
              <a:ln w="28575">
                <a:solidFill>
                  <a:schemeClr val="tx1"/>
                </a:solidFill>
                <a:round/>
                <a:headEnd type="oval" w="med" len="med"/>
                <a:tailEnd type="triangle" w="med" len="med"/>
              </a:ln>
              <a:effectLst/>
            </p:spPr>
            <p:txBody>
              <a:bodyPr/>
              <a:lstStyle/>
              <a:p>
                <a:endParaRPr lang="zh-CN" altLang="en-US"/>
              </a:p>
            </p:txBody>
          </p:sp>
          <p:sp>
            <p:nvSpPr>
              <p:cNvPr id="567338" name="Line 42"/>
              <p:cNvSpPr>
                <a:spLocks noChangeShapeType="1"/>
              </p:cNvSpPr>
              <p:nvPr/>
            </p:nvSpPr>
            <p:spPr bwMode="auto">
              <a:xfrm>
                <a:off x="432" y="2736"/>
                <a:ext cx="336" cy="1"/>
              </a:xfrm>
              <a:prstGeom prst="line">
                <a:avLst/>
              </a:prstGeom>
              <a:noFill/>
              <a:ln w="28575">
                <a:solidFill>
                  <a:schemeClr val="tx1"/>
                </a:solidFill>
                <a:round/>
                <a:headEnd type="oval" w="med" len="med"/>
                <a:tailEnd type="triangle" w="med" len="med"/>
              </a:ln>
              <a:effectLst/>
            </p:spPr>
            <p:txBody>
              <a:bodyPr/>
              <a:lstStyle/>
              <a:p>
                <a:endParaRPr lang="zh-CN" altLang="en-US"/>
              </a:p>
            </p:txBody>
          </p:sp>
        </p:grpSp>
        <p:sp>
          <p:nvSpPr>
            <p:cNvPr id="567339" name="AutoShape 43"/>
            <p:cNvSpPr>
              <a:spLocks noChangeArrowheads="1"/>
            </p:cNvSpPr>
            <p:nvPr/>
          </p:nvSpPr>
          <p:spPr bwMode="auto">
            <a:xfrm>
              <a:off x="4504" y="2421"/>
              <a:ext cx="681" cy="1135"/>
            </a:xfrm>
            <a:prstGeom prst="roundRect">
              <a:avLst>
                <a:gd name="adj" fmla="val 16667"/>
              </a:avLst>
            </a:prstGeom>
            <a:solidFill>
              <a:srgbClr val="FF99CC"/>
            </a:solidFill>
            <a:ln w="9525" algn="ctr">
              <a:solidFill>
                <a:schemeClr val="tx1"/>
              </a:solidFill>
              <a:round/>
              <a:headEnd/>
              <a:tailEnd/>
            </a:ln>
            <a:effectLst/>
          </p:spPr>
          <p:txBody>
            <a:bodyPr wrap="none" anchor="ctr"/>
            <a:lstStyle/>
            <a:p>
              <a:r>
                <a:rPr lang="en-US" altLang="zh-CN">
                  <a:latin typeface="Arial" charset="0"/>
                </a:rPr>
                <a:t>CPU</a:t>
              </a:r>
            </a:p>
            <a:p>
              <a:r>
                <a:rPr lang="zh-CN" altLang="en-US">
                  <a:latin typeface="Arial" charset="0"/>
                </a:rPr>
                <a:t>其它部件</a:t>
              </a:r>
            </a:p>
          </p:txBody>
        </p:sp>
      </p:grpSp>
      <p:sp>
        <p:nvSpPr>
          <p:cNvPr id="567340" name="Rectangle 44"/>
          <p:cNvSpPr>
            <a:spLocks noChangeArrowheads="1"/>
          </p:cNvSpPr>
          <p:nvPr/>
        </p:nvSpPr>
        <p:spPr bwMode="auto">
          <a:xfrm>
            <a:off x="2209800" y="6207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寄存器汇总</a:t>
            </a:r>
          </a:p>
        </p:txBody>
      </p:sp>
      <p:grpSp>
        <p:nvGrpSpPr>
          <p:cNvPr id="567341" name="Group 45"/>
          <p:cNvGrpSpPr>
            <a:grpSpLocks/>
          </p:cNvGrpSpPr>
          <p:nvPr/>
        </p:nvGrpSpPr>
        <p:grpSpPr bwMode="auto">
          <a:xfrm>
            <a:off x="2643188" y="2708276"/>
            <a:ext cx="6837362" cy="504825"/>
            <a:chOff x="613" y="935"/>
            <a:chExt cx="4307" cy="318"/>
          </a:xfrm>
        </p:grpSpPr>
        <p:sp>
          <p:nvSpPr>
            <p:cNvPr id="567342" name="Rectangle 46"/>
            <p:cNvSpPr>
              <a:spLocks noChangeArrowheads="1"/>
            </p:cNvSpPr>
            <p:nvPr/>
          </p:nvSpPr>
          <p:spPr bwMode="auto">
            <a:xfrm>
              <a:off x="613" y="936"/>
              <a:ext cx="725" cy="317"/>
            </a:xfrm>
            <a:prstGeom prst="rect">
              <a:avLst/>
            </a:prstGeom>
            <a:solidFill>
              <a:srgbClr val="CCFFFF"/>
            </a:solidFill>
            <a:ln w="9525" algn="ctr">
              <a:solidFill>
                <a:schemeClr val="tx1"/>
              </a:solidFill>
              <a:miter lim="800000"/>
              <a:headEnd/>
              <a:tailEnd/>
            </a:ln>
            <a:effectLst/>
          </p:spPr>
          <p:txBody>
            <a:bodyPr wrap="none" anchor="ctr"/>
            <a:lstStyle/>
            <a:p>
              <a:r>
                <a:rPr lang="zh-CN" altLang="en-US" sz="1200">
                  <a:latin typeface="Arial Black" pitchFamily="34" charset="0"/>
                </a:rPr>
                <a:t>中断相关寄存器</a:t>
              </a:r>
            </a:p>
            <a:p>
              <a:r>
                <a:rPr lang="en-US" altLang="zh-CN" sz="1200">
                  <a:latin typeface="Arial Black" pitchFamily="34" charset="0"/>
                </a:rPr>
                <a:t>EXTINT</a:t>
              </a:r>
            </a:p>
          </p:txBody>
        </p:sp>
        <p:sp>
          <p:nvSpPr>
            <p:cNvPr id="567343" name="Rectangle 47"/>
            <p:cNvSpPr>
              <a:spLocks noChangeArrowheads="1"/>
            </p:cNvSpPr>
            <p:nvPr/>
          </p:nvSpPr>
          <p:spPr bwMode="auto">
            <a:xfrm>
              <a:off x="1384" y="1072"/>
              <a:ext cx="634" cy="181"/>
            </a:xfrm>
            <a:prstGeom prst="rect">
              <a:avLst/>
            </a:prstGeom>
            <a:solidFill>
              <a:schemeClr val="bg1"/>
            </a:solidFill>
            <a:ln w="9525" algn="ctr">
              <a:solidFill>
                <a:schemeClr val="tx1"/>
              </a:solidFill>
              <a:miter lim="800000"/>
              <a:headEnd/>
              <a:tailEnd/>
            </a:ln>
            <a:effectLst/>
          </p:spPr>
          <p:txBody>
            <a:bodyPr wrap="none" anchor="ctr"/>
            <a:lstStyle/>
            <a:p>
              <a:r>
                <a:rPr lang="en-US" altLang="zh-CN" sz="1200">
                  <a:latin typeface="Arial Black" pitchFamily="34" charset="0"/>
                </a:rPr>
                <a:t>——</a:t>
              </a:r>
            </a:p>
          </p:txBody>
        </p:sp>
        <p:sp>
          <p:nvSpPr>
            <p:cNvPr id="567344" name="Rectangle 48"/>
            <p:cNvSpPr>
              <a:spLocks noChangeArrowheads="1"/>
            </p:cNvSpPr>
            <p:nvPr/>
          </p:nvSpPr>
          <p:spPr bwMode="auto">
            <a:xfrm>
              <a:off x="4195" y="1072"/>
              <a:ext cx="725" cy="181"/>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solidFill>
                    <a:srgbClr val="FF0000"/>
                  </a:solidFill>
                  <a:latin typeface="Arial Black" pitchFamily="34" charset="0"/>
                </a:rPr>
                <a:t>EINT0</a:t>
              </a:r>
            </a:p>
          </p:txBody>
        </p:sp>
        <p:sp>
          <p:nvSpPr>
            <p:cNvPr id="567345" name="Rectangle 49"/>
            <p:cNvSpPr>
              <a:spLocks noChangeArrowheads="1"/>
            </p:cNvSpPr>
            <p:nvPr/>
          </p:nvSpPr>
          <p:spPr bwMode="auto">
            <a:xfrm>
              <a:off x="1384" y="936"/>
              <a:ext cx="635"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7 : 4</a:t>
              </a:r>
            </a:p>
          </p:txBody>
        </p:sp>
        <p:sp>
          <p:nvSpPr>
            <p:cNvPr id="567346" name="Rectangle 50"/>
            <p:cNvSpPr>
              <a:spLocks noChangeArrowheads="1"/>
            </p:cNvSpPr>
            <p:nvPr/>
          </p:nvSpPr>
          <p:spPr bwMode="auto">
            <a:xfrm>
              <a:off x="4195" y="936"/>
              <a:ext cx="725"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0</a:t>
              </a:r>
            </a:p>
          </p:txBody>
        </p:sp>
        <p:sp>
          <p:nvSpPr>
            <p:cNvPr id="567347" name="Rectangle 51"/>
            <p:cNvSpPr>
              <a:spLocks noChangeArrowheads="1"/>
            </p:cNvSpPr>
            <p:nvPr/>
          </p:nvSpPr>
          <p:spPr bwMode="auto">
            <a:xfrm>
              <a:off x="3470" y="1071"/>
              <a:ext cx="725" cy="181"/>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solidFill>
                    <a:srgbClr val="FF0000"/>
                  </a:solidFill>
                  <a:latin typeface="Arial Black" pitchFamily="34" charset="0"/>
                </a:rPr>
                <a:t>EINT1</a:t>
              </a:r>
            </a:p>
          </p:txBody>
        </p:sp>
        <p:sp>
          <p:nvSpPr>
            <p:cNvPr id="567348" name="Rectangle 52"/>
            <p:cNvSpPr>
              <a:spLocks noChangeArrowheads="1"/>
            </p:cNvSpPr>
            <p:nvPr/>
          </p:nvSpPr>
          <p:spPr bwMode="auto">
            <a:xfrm>
              <a:off x="3470" y="935"/>
              <a:ext cx="725"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1</a:t>
              </a:r>
            </a:p>
          </p:txBody>
        </p:sp>
        <p:sp>
          <p:nvSpPr>
            <p:cNvPr id="567349" name="Rectangle 53"/>
            <p:cNvSpPr>
              <a:spLocks noChangeArrowheads="1"/>
            </p:cNvSpPr>
            <p:nvPr/>
          </p:nvSpPr>
          <p:spPr bwMode="auto">
            <a:xfrm>
              <a:off x="2744" y="1071"/>
              <a:ext cx="725" cy="181"/>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solidFill>
                    <a:srgbClr val="FF0000"/>
                  </a:solidFill>
                  <a:latin typeface="Arial Black" pitchFamily="34" charset="0"/>
                </a:rPr>
                <a:t>EINT2</a:t>
              </a:r>
            </a:p>
          </p:txBody>
        </p:sp>
        <p:sp>
          <p:nvSpPr>
            <p:cNvPr id="567350" name="Rectangle 54"/>
            <p:cNvSpPr>
              <a:spLocks noChangeArrowheads="1"/>
            </p:cNvSpPr>
            <p:nvPr/>
          </p:nvSpPr>
          <p:spPr bwMode="auto">
            <a:xfrm>
              <a:off x="2744" y="935"/>
              <a:ext cx="725"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2</a:t>
              </a:r>
            </a:p>
          </p:txBody>
        </p:sp>
        <p:sp>
          <p:nvSpPr>
            <p:cNvPr id="567351" name="Rectangle 55"/>
            <p:cNvSpPr>
              <a:spLocks noChangeArrowheads="1"/>
            </p:cNvSpPr>
            <p:nvPr/>
          </p:nvSpPr>
          <p:spPr bwMode="auto">
            <a:xfrm>
              <a:off x="2018" y="1071"/>
              <a:ext cx="725" cy="181"/>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solidFill>
                    <a:srgbClr val="FF0000"/>
                  </a:solidFill>
                  <a:latin typeface="Arial Black" pitchFamily="34" charset="0"/>
                </a:rPr>
                <a:t>EINT3</a:t>
              </a:r>
            </a:p>
          </p:txBody>
        </p:sp>
        <p:sp>
          <p:nvSpPr>
            <p:cNvPr id="567352" name="Rectangle 56"/>
            <p:cNvSpPr>
              <a:spLocks noChangeArrowheads="1"/>
            </p:cNvSpPr>
            <p:nvPr/>
          </p:nvSpPr>
          <p:spPr bwMode="auto">
            <a:xfrm>
              <a:off x="2018" y="935"/>
              <a:ext cx="725"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3</a:t>
              </a:r>
            </a:p>
          </p:txBody>
        </p:sp>
      </p:grpSp>
      <p:sp>
        <p:nvSpPr>
          <p:cNvPr id="567353" name="Text Box 57"/>
          <p:cNvSpPr txBox="1">
            <a:spLocks noChangeArrowheads="1"/>
          </p:cNvSpPr>
          <p:nvPr/>
        </p:nvSpPr>
        <p:spPr bwMode="auto">
          <a:xfrm>
            <a:off x="2360614" y="1851025"/>
            <a:ext cx="7551737" cy="641350"/>
          </a:xfrm>
          <a:prstGeom prst="rect">
            <a:avLst/>
          </a:prstGeom>
          <a:noFill/>
          <a:ln w="9525">
            <a:noFill/>
            <a:miter lim="800000"/>
            <a:headEnd/>
            <a:tailEnd/>
          </a:ln>
          <a:effectLst/>
        </p:spPr>
        <p:txBody>
          <a:bodyPr>
            <a:spAutoFit/>
          </a:bodyPr>
          <a:lstStyle/>
          <a:p>
            <a:pPr algn="l">
              <a:spcBef>
                <a:spcPct val="50000"/>
              </a:spcBef>
            </a:pPr>
            <a:r>
              <a:rPr lang="en-US" altLang="zh-CN">
                <a:latin typeface="宋体" pitchFamily="2" charset="-122"/>
              </a:rPr>
              <a:t>    </a:t>
            </a:r>
            <a:r>
              <a:rPr lang="zh-CN" altLang="en-US">
                <a:latin typeface="华文新魏" pitchFamily="2" charset="-122"/>
                <a:ea typeface="华文新魏" pitchFamily="2" charset="-122"/>
              </a:rPr>
              <a:t>若引脚上出现了符合要求的信号，</a:t>
            </a:r>
            <a:r>
              <a:rPr lang="en-US" altLang="zh-CN">
                <a:latin typeface="华文新魏" pitchFamily="2" charset="-122"/>
                <a:ea typeface="华文新魏" pitchFamily="2" charset="-122"/>
              </a:rPr>
              <a:t>EXTINT</a:t>
            </a:r>
            <a:r>
              <a:rPr lang="zh-CN" altLang="en-US">
                <a:latin typeface="华文新魏" pitchFamily="2" charset="-122"/>
                <a:ea typeface="华文新魏" pitchFamily="2" charset="-122"/>
              </a:rPr>
              <a:t>寄存器中对应的中断标志将被置位。向该寄存器的</a:t>
            </a:r>
            <a:r>
              <a:rPr lang="en-US" altLang="zh-CN">
                <a:latin typeface="华文新魏" pitchFamily="2" charset="-122"/>
                <a:ea typeface="华文新魏" pitchFamily="2" charset="-122"/>
              </a:rPr>
              <a:t>EINT0</a:t>
            </a:r>
            <a:r>
              <a:rPr lang="zh-CN" altLang="en-US">
                <a:latin typeface="华文新魏" pitchFamily="2" charset="-122"/>
                <a:ea typeface="华文新魏" pitchFamily="2" charset="-122"/>
              </a:rPr>
              <a:t>～</a:t>
            </a:r>
            <a:r>
              <a:rPr lang="en-US" altLang="zh-CN">
                <a:latin typeface="华文新魏" pitchFamily="2" charset="-122"/>
                <a:ea typeface="华文新魏" pitchFamily="2" charset="-122"/>
              </a:rPr>
              <a:t>EINT3</a:t>
            </a:r>
            <a:r>
              <a:rPr lang="zh-CN" altLang="en-US">
                <a:latin typeface="华文新魏" pitchFamily="2" charset="-122"/>
                <a:ea typeface="华文新魏" pitchFamily="2" charset="-122"/>
              </a:rPr>
              <a:t>位写入</a:t>
            </a:r>
            <a:r>
              <a:rPr lang="en-US" altLang="zh-CN">
                <a:latin typeface="华文新魏" pitchFamily="2" charset="-122"/>
                <a:ea typeface="华文新魏" pitchFamily="2" charset="-122"/>
              </a:rPr>
              <a:t>1</a:t>
            </a:r>
            <a:r>
              <a:rPr lang="zh-CN" altLang="en-US">
                <a:latin typeface="华文新魏" pitchFamily="2" charset="-122"/>
                <a:ea typeface="华文新魏" pitchFamily="2" charset="-122"/>
              </a:rPr>
              <a:t>，可将其清零。</a:t>
            </a:r>
          </a:p>
        </p:txBody>
      </p:sp>
      <p:sp>
        <p:nvSpPr>
          <p:cNvPr id="567354" name="Text Box 58"/>
          <p:cNvSpPr txBox="1">
            <a:spLocks noChangeArrowheads="1"/>
          </p:cNvSpPr>
          <p:nvPr/>
        </p:nvSpPr>
        <p:spPr bwMode="auto">
          <a:xfrm>
            <a:off x="2381250" y="1262063"/>
            <a:ext cx="6019800" cy="457200"/>
          </a:xfrm>
          <a:prstGeom prst="rect">
            <a:avLst/>
          </a:prstGeom>
          <a:noFill/>
          <a:ln w="9525">
            <a:noFill/>
            <a:miter lim="800000"/>
            <a:headEnd/>
            <a:tailEnd/>
          </a:ln>
          <a:effectLst/>
        </p:spPr>
        <p:txBody>
          <a:bodyPr>
            <a:spAutoFit/>
          </a:bodyPr>
          <a:lstStyle/>
          <a:p>
            <a:pPr algn="l">
              <a:spcBef>
                <a:spcPct val="50000"/>
              </a:spcBef>
            </a:pPr>
            <a:r>
              <a:rPr lang="zh-CN" altLang="en-US" sz="2400">
                <a:latin typeface="华文新魏" pitchFamily="2" charset="-122"/>
                <a:ea typeface="华文新魏" pitchFamily="2" charset="-122"/>
              </a:rPr>
              <a:t>外部中断标志寄存器</a:t>
            </a:r>
            <a:r>
              <a:rPr lang="en-US" altLang="zh-CN" sz="2400">
                <a:latin typeface="华文新魏" pitchFamily="2" charset="-122"/>
                <a:ea typeface="华文新魏" pitchFamily="2" charset="-122"/>
              </a:rPr>
              <a:t>(EXTINT)</a:t>
            </a:r>
            <a:r>
              <a:rPr lang="zh-CN" altLang="en-US" sz="2400">
                <a:latin typeface="华文新魏" pitchFamily="2" charset="-122"/>
                <a:ea typeface="华文新魏" pitchFamily="2" charset="-122"/>
              </a:rPr>
              <a:t>：</a:t>
            </a:r>
            <a:endParaRPr lang="zh-CN" altLang="en-US" sz="2400" baseline="-25000">
              <a:latin typeface="华文新魏" pitchFamily="2" charset="-122"/>
              <a:ea typeface="华文新魏" pitchFamily="2" charset="-122"/>
            </a:endParaRPr>
          </a:p>
        </p:txBody>
      </p:sp>
      <p:sp>
        <p:nvSpPr>
          <p:cNvPr id="567355" name="Text Box 59"/>
          <p:cNvSpPr txBox="1">
            <a:spLocks noChangeArrowheads="1"/>
          </p:cNvSpPr>
          <p:nvPr/>
        </p:nvSpPr>
        <p:spPr bwMode="auto">
          <a:xfrm>
            <a:off x="2351088" y="1720850"/>
            <a:ext cx="7561262" cy="915988"/>
          </a:xfrm>
          <a:prstGeom prst="rect">
            <a:avLst/>
          </a:prstGeom>
          <a:noFill/>
          <a:ln w="9525">
            <a:noFill/>
            <a:miter lim="800000"/>
            <a:headEnd/>
            <a:tailEnd/>
          </a:ln>
          <a:effectLst/>
        </p:spPr>
        <p:txBody>
          <a:bodyPr>
            <a:spAutoFit/>
          </a:bodyPr>
          <a:lstStyle/>
          <a:p>
            <a:pPr algn="l">
              <a:spcBef>
                <a:spcPct val="50000"/>
              </a:spcBef>
            </a:pPr>
            <a:r>
              <a:rPr lang="zh-CN" altLang="en-US">
                <a:solidFill>
                  <a:srgbClr val="FF0000"/>
                </a:solidFill>
                <a:latin typeface="宋体" pitchFamily="2" charset="-122"/>
                <a:ea typeface="华文新魏" pitchFamily="2" charset="-122"/>
              </a:rPr>
              <a:t>注意</a:t>
            </a:r>
            <a:r>
              <a:rPr lang="zh-CN" altLang="en-US">
                <a:latin typeface="宋体" pitchFamily="2" charset="-122"/>
                <a:ea typeface="华文新魏" pitchFamily="2" charset="-122"/>
              </a:rPr>
              <a:t>：在电平触发方式下，清除中断标志只有在引脚处于无效状态时才可实现。比如设置为低电平中断，则只有在中断引脚恢复为高电平后才能清除中断标志。</a:t>
            </a:r>
            <a:endParaRPr lang="zh-CN" altLang="en-US">
              <a:latin typeface="Times New Roman" pitchFamily="18" charset="0"/>
              <a:ea typeface="华文新魏" pitchFamily="2" charset="-122"/>
            </a:endParaRPr>
          </a:p>
        </p:txBody>
      </p:sp>
      <p:sp>
        <p:nvSpPr>
          <p:cNvPr id="567356" name="Text Box 60"/>
          <p:cNvSpPr txBox="1">
            <a:spLocks noChangeArrowheads="1"/>
          </p:cNvSpPr>
          <p:nvPr/>
        </p:nvSpPr>
        <p:spPr bwMode="auto">
          <a:xfrm>
            <a:off x="2351088" y="1720850"/>
            <a:ext cx="7561262" cy="915988"/>
          </a:xfrm>
          <a:prstGeom prst="rect">
            <a:avLst/>
          </a:prstGeom>
          <a:noFill/>
          <a:ln w="9525">
            <a:noFill/>
            <a:miter lim="800000"/>
            <a:headEnd/>
            <a:tailEnd/>
          </a:ln>
          <a:effectLst/>
        </p:spPr>
        <p:txBody>
          <a:bodyPr>
            <a:spAutoFit/>
          </a:bodyPr>
          <a:lstStyle/>
          <a:p>
            <a:pPr algn="l">
              <a:spcBef>
                <a:spcPct val="50000"/>
              </a:spcBef>
            </a:pPr>
            <a:r>
              <a:rPr lang="en-US" altLang="zh-CN">
                <a:latin typeface="宋体" pitchFamily="2" charset="-122"/>
              </a:rPr>
              <a:t>    </a:t>
            </a:r>
            <a:r>
              <a:rPr lang="zh-CN" altLang="en-US">
                <a:latin typeface="华文新魏" pitchFamily="2" charset="-122"/>
                <a:ea typeface="华文新魏" pitchFamily="2" charset="-122"/>
              </a:rPr>
              <a:t>设置该寄存器允许相应的外部中断将处理器从掉电模式唤醒。实现掉电唤醒不需要在向量中断控制器（</a:t>
            </a:r>
            <a:r>
              <a:rPr lang="en-US" altLang="zh-CN">
                <a:latin typeface="华文新魏" pitchFamily="2" charset="-122"/>
                <a:ea typeface="华文新魏" pitchFamily="2" charset="-122"/>
              </a:rPr>
              <a:t>VIC</a:t>
            </a:r>
            <a:r>
              <a:rPr lang="zh-CN" altLang="en-US">
                <a:latin typeface="华文新魏" pitchFamily="2" charset="-122"/>
                <a:ea typeface="华文新魏" pitchFamily="2" charset="-122"/>
              </a:rPr>
              <a:t>）中使能相应的中断。该寄存器的低四位（</a:t>
            </a:r>
            <a:r>
              <a:rPr lang="en-US" altLang="zh-CN">
                <a:latin typeface="华文新魏" pitchFamily="2" charset="-122"/>
                <a:ea typeface="华文新魏" pitchFamily="2" charset="-122"/>
              </a:rPr>
              <a:t>EXTWAKE[3:0]</a:t>
            </a:r>
            <a:r>
              <a:rPr lang="zh-CN" altLang="en-US">
                <a:latin typeface="华文新魏" pitchFamily="2" charset="-122"/>
                <a:ea typeface="华文新魏" pitchFamily="2" charset="-122"/>
              </a:rPr>
              <a:t>）分别对应外部中断</a:t>
            </a:r>
            <a:r>
              <a:rPr lang="en-US" altLang="zh-CN">
                <a:latin typeface="华文新魏" pitchFamily="2" charset="-122"/>
                <a:ea typeface="华文新魏" pitchFamily="2" charset="-122"/>
              </a:rPr>
              <a:t>3</a:t>
            </a:r>
            <a:r>
              <a:rPr lang="zh-CN" altLang="en-US">
                <a:latin typeface="华文新魏" pitchFamily="2" charset="-122"/>
                <a:ea typeface="华文新魏" pitchFamily="2" charset="-122"/>
              </a:rPr>
              <a:t>～</a:t>
            </a:r>
            <a:r>
              <a:rPr lang="en-US" altLang="zh-CN">
                <a:latin typeface="华文新魏" pitchFamily="2" charset="-122"/>
                <a:ea typeface="华文新魏" pitchFamily="2" charset="-122"/>
              </a:rPr>
              <a:t>0</a:t>
            </a:r>
            <a:r>
              <a:rPr lang="zh-CN" altLang="en-US">
                <a:latin typeface="华文新魏" pitchFamily="2" charset="-122"/>
                <a:ea typeface="华文新魏" pitchFamily="2" charset="-122"/>
              </a:rPr>
              <a:t>。</a:t>
            </a:r>
          </a:p>
        </p:txBody>
      </p:sp>
      <p:sp>
        <p:nvSpPr>
          <p:cNvPr id="567357" name="Text Box 61"/>
          <p:cNvSpPr txBox="1">
            <a:spLocks noChangeArrowheads="1"/>
          </p:cNvSpPr>
          <p:nvPr/>
        </p:nvSpPr>
        <p:spPr bwMode="auto">
          <a:xfrm>
            <a:off x="2381251" y="1268413"/>
            <a:ext cx="5154613" cy="457200"/>
          </a:xfrm>
          <a:prstGeom prst="rect">
            <a:avLst/>
          </a:prstGeom>
          <a:noFill/>
          <a:ln w="9525">
            <a:noFill/>
            <a:miter lim="800000"/>
            <a:headEnd/>
            <a:tailEnd/>
          </a:ln>
          <a:effectLst/>
        </p:spPr>
        <p:txBody>
          <a:bodyPr>
            <a:spAutoFit/>
          </a:bodyPr>
          <a:lstStyle/>
          <a:p>
            <a:pPr algn="l">
              <a:spcBef>
                <a:spcPct val="50000"/>
              </a:spcBef>
            </a:pPr>
            <a:r>
              <a:rPr lang="zh-CN" altLang="en-US" sz="2400">
                <a:latin typeface="华文新魏" pitchFamily="2" charset="-122"/>
                <a:ea typeface="华文新魏" pitchFamily="2" charset="-122"/>
              </a:rPr>
              <a:t>外部中断唤醒寄存器</a:t>
            </a:r>
            <a:r>
              <a:rPr lang="en-US" altLang="zh-CN" sz="2400">
                <a:latin typeface="华文新魏" pitchFamily="2" charset="-122"/>
                <a:ea typeface="华文新魏" pitchFamily="2" charset="-122"/>
              </a:rPr>
              <a:t>(EXTWAKE)</a:t>
            </a:r>
            <a:r>
              <a:rPr lang="zh-CN" altLang="en-US" sz="2400">
                <a:latin typeface="华文新魏" pitchFamily="2" charset="-122"/>
                <a:ea typeface="华文新魏" pitchFamily="2" charset="-122"/>
              </a:rPr>
              <a:t>：</a:t>
            </a:r>
            <a:endParaRPr lang="zh-CN" altLang="en-US" sz="2400" baseline="-25000">
              <a:latin typeface="华文新魏" pitchFamily="2" charset="-122"/>
              <a:ea typeface="华文新魏" pitchFamily="2" charset="-122"/>
            </a:endParaRPr>
          </a:p>
        </p:txBody>
      </p:sp>
      <p:grpSp>
        <p:nvGrpSpPr>
          <p:cNvPr id="567358" name="Group 62"/>
          <p:cNvGrpSpPr>
            <a:grpSpLocks/>
          </p:cNvGrpSpPr>
          <p:nvPr/>
        </p:nvGrpSpPr>
        <p:grpSpPr bwMode="auto">
          <a:xfrm>
            <a:off x="2640013" y="2708276"/>
            <a:ext cx="6837362" cy="504825"/>
            <a:chOff x="613" y="935"/>
            <a:chExt cx="4307" cy="318"/>
          </a:xfrm>
        </p:grpSpPr>
        <p:sp>
          <p:nvSpPr>
            <p:cNvPr id="567359" name="Rectangle 63"/>
            <p:cNvSpPr>
              <a:spLocks noChangeArrowheads="1"/>
            </p:cNvSpPr>
            <p:nvPr/>
          </p:nvSpPr>
          <p:spPr bwMode="auto">
            <a:xfrm>
              <a:off x="613" y="936"/>
              <a:ext cx="725" cy="317"/>
            </a:xfrm>
            <a:prstGeom prst="rect">
              <a:avLst/>
            </a:prstGeom>
            <a:solidFill>
              <a:srgbClr val="CCFFFF"/>
            </a:solidFill>
            <a:ln w="9525" algn="ctr">
              <a:solidFill>
                <a:schemeClr val="tx1"/>
              </a:solidFill>
              <a:miter lim="800000"/>
              <a:headEnd/>
              <a:tailEnd/>
            </a:ln>
            <a:effectLst/>
          </p:spPr>
          <p:txBody>
            <a:bodyPr wrap="none" anchor="ctr"/>
            <a:lstStyle/>
            <a:p>
              <a:r>
                <a:rPr lang="zh-CN" altLang="en-US" sz="1200">
                  <a:latin typeface="Arial Black" pitchFamily="34" charset="0"/>
                </a:rPr>
                <a:t>控制寄存器</a:t>
              </a:r>
            </a:p>
            <a:p>
              <a:r>
                <a:rPr lang="en-US" altLang="zh-CN" sz="1200">
                  <a:latin typeface="Arial Black" pitchFamily="34" charset="0"/>
                </a:rPr>
                <a:t>EXTWAKE</a:t>
              </a:r>
            </a:p>
          </p:txBody>
        </p:sp>
        <p:sp>
          <p:nvSpPr>
            <p:cNvPr id="567360" name="Rectangle 64"/>
            <p:cNvSpPr>
              <a:spLocks noChangeArrowheads="1"/>
            </p:cNvSpPr>
            <p:nvPr/>
          </p:nvSpPr>
          <p:spPr bwMode="auto">
            <a:xfrm>
              <a:off x="1384" y="1072"/>
              <a:ext cx="634" cy="181"/>
            </a:xfrm>
            <a:prstGeom prst="rect">
              <a:avLst/>
            </a:prstGeom>
            <a:solidFill>
              <a:schemeClr val="bg1"/>
            </a:solidFill>
            <a:ln w="9525" algn="ctr">
              <a:solidFill>
                <a:schemeClr val="tx1"/>
              </a:solidFill>
              <a:miter lim="800000"/>
              <a:headEnd/>
              <a:tailEnd/>
            </a:ln>
            <a:effectLst/>
          </p:spPr>
          <p:txBody>
            <a:bodyPr wrap="none" anchor="ctr"/>
            <a:lstStyle/>
            <a:p>
              <a:r>
                <a:rPr lang="en-US" altLang="zh-CN" sz="1200">
                  <a:latin typeface="Arial Black" pitchFamily="34" charset="0"/>
                </a:rPr>
                <a:t>——</a:t>
              </a:r>
            </a:p>
          </p:txBody>
        </p:sp>
        <p:sp>
          <p:nvSpPr>
            <p:cNvPr id="567361" name="Rectangle 65"/>
            <p:cNvSpPr>
              <a:spLocks noChangeArrowheads="1"/>
            </p:cNvSpPr>
            <p:nvPr/>
          </p:nvSpPr>
          <p:spPr bwMode="auto">
            <a:xfrm>
              <a:off x="4195" y="1072"/>
              <a:ext cx="725" cy="181"/>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solidFill>
                    <a:srgbClr val="FF0000"/>
                  </a:solidFill>
                  <a:latin typeface="Arial Black" pitchFamily="34" charset="0"/>
                </a:rPr>
                <a:t>EXTWAKE0</a:t>
              </a:r>
            </a:p>
          </p:txBody>
        </p:sp>
        <p:sp>
          <p:nvSpPr>
            <p:cNvPr id="567362" name="Rectangle 66"/>
            <p:cNvSpPr>
              <a:spLocks noChangeArrowheads="1"/>
            </p:cNvSpPr>
            <p:nvPr/>
          </p:nvSpPr>
          <p:spPr bwMode="auto">
            <a:xfrm>
              <a:off x="1384" y="936"/>
              <a:ext cx="635"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7 : 4</a:t>
              </a:r>
            </a:p>
          </p:txBody>
        </p:sp>
        <p:sp>
          <p:nvSpPr>
            <p:cNvPr id="567363" name="Rectangle 67"/>
            <p:cNvSpPr>
              <a:spLocks noChangeArrowheads="1"/>
            </p:cNvSpPr>
            <p:nvPr/>
          </p:nvSpPr>
          <p:spPr bwMode="auto">
            <a:xfrm>
              <a:off x="4195" y="936"/>
              <a:ext cx="725"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0</a:t>
              </a:r>
            </a:p>
          </p:txBody>
        </p:sp>
        <p:sp>
          <p:nvSpPr>
            <p:cNvPr id="567364" name="Rectangle 68"/>
            <p:cNvSpPr>
              <a:spLocks noChangeArrowheads="1"/>
            </p:cNvSpPr>
            <p:nvPr/>
          </p:nvSpPr>
          <p:spPr bwMode="auto">
            <a:xfrm>
              <a:off x="3470" y="1071"/>
              <a:ext cx="725" cy="181"/>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solidFill>
                    <a:srgbClr val="FF0000"/>
                  </a:solidFill>
                  <a:latin typeface="Arial Black" pitchFamily="34" charset="0"/>
                </a:rPr>
                <a:t>EXTWAKE1</a:t>
              </a:r>
            </a:p>
          </p:txBody>
        </p:sp>
        <p:sp>
          <p:nvSpPr>
            <p:cNvPr id="567365" name="Rectangle 69"/>
            <p:cNvSpPr>
              <a:spLocks noChangeArrowheads="1"/>
            </p:cNvSpPr>
            <p:nvPr/>
          </p:nvSpPr>
          <p:spPr bwMode="auto">
            <a:xfrm>
              <a:off x="3470" y="935"/>
              <a:ext cx="725"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1</a:t>
              </a:r>
            </a:p>
          </p:txBody>
        </p:sp>
        <p:sp>
          <p:nvSpPr>
            <p:cNvPr id="567366" name="Rectangle 70"/>
            <p:cNvSpPr>
              <a:spLocks noChangeArrowheads="1"/>
            </p:cNvSpPr>
            <p:nvPr/>
          </p:nvSpPr>
          <p:spPr bwMode="auto">
            <a:xfrm>
              <a:off x="2744" y="1071"/>
              <a:ext cx="725" cy="181"/>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solidFill>
                    <a:srgbClr val="FF0000"/>
                  </a:solidFill>
                  <a:latin typeface="Arial Black" pitchFamily="34" charset="0"/>
                </a:rPr>
                <a:t>EXTWAKE2</a:t>
              </a:r>
            </a:p>
          </p:txBody>
        </p:sp>
        <p:sp>
          <p:nvSpPr>
            <p:cNvPr id="567367" name="Rectangle 71"/>
            <p:cNvSpPr>
              <a:spLocks noChangeArrowheads="1"/>
            </p:cNvSpPr>
            <p:nvPr/>
          </p:nvSpPr>
          <p:spPr bwMode="auto">
            <a:xfrm>
              <a:off x="2744" y="935"/>
              <a:ext cx="725"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2</a:t>
              </a:r>
            </a:p>
          </p:txBody>
        </p:sp>
        <p:sp>
          <p:nvSpPr>
            <p:cNvPr id="567368" name="Rectangle 72"/>
            <p:cNvSpPr>
              <a:spLocks noChangeArrowheads="1"/>
            </p:cNvSpPr>
            <p:nvPr/>
          </p:nvSpPr>
          <p:spPr bwMode="auto">
            <a:xfrm>
              <a:off x="2018" y="1071"/>
              <a:ext cx="725" cy="181"/>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solidFill>
                    <a:srgbClr val="FF0000"/>
                  </a:solidFill>
                  <a:latin typeface="Arial Black" pitchFamily="34" charset="0"/>
                </a:rPr>
                <a:t>EXTWAKE3</a:t>
              </a:r>
            </a:p>
          </p:txBody>
        </p:sp>
        <p:sp>
          <p:nvSpPr>
            <p:cNvPr id="567369" name="Rectangle 73"/>
            <p:cNvSpPr>
              <a:spLocks noChangeArrowheads="1"/>
            </p:cNvSpPr>
            <p:nvPr/>
          </p:nvSpPr>
          <p:spPr bwMode="auto">
            <a:xfrm>
              <a:off x="2018" y="935"/>
              <a:ext cx="725"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3</a:t>
              </a:r>
            </a:p>
          </p:txBody>
        </p:sp>
      </p:grpSp>
      <p:sp>
        <p:nvSpPr>
          <p:cNvPr id="567370" name="Text Box 74"/>
          <p:cNvSpPr txBox="1">
            <a:spLocks noChangeArrowheads="1"/>
          </p:cNvSpPr>
          <p:nvPr/>
        </p:nvSpPr>
        <p:spPr bwMode="auto">
          <a:xfrm>
            <a:off x="2381250" y="1268413"/>
            <a:ext cx="5875338" cy="457200"/>
          </a:xfrm>
          <a:prstGeom prst="rect">
            <a:avLst/>
          </a:prstGeom>
          <a:noFill/>
          <a:ln w="9525">
            <a:noFill/>
            <a:miter lim="800000"/>
            <a:headEnd/>
            <a:tailEnd/>
          </a:ln>
          <a:effectLst/>
        </p:spPr>
        <p:txBody>
          <a:bodyPr>
            <a:spAutoFit/>
          </a:bodyPr>
          <a:lstStyle/>
          <a:p>
            <a:pPr algn="l">
              <a:spcBef>
                <a:spcPct val="50000"/>
              </a:spcBef>
            </a:pPr>
            <a:r>
              <a:rPr lang="zh-CN" altLang="en-US" sz="2400">
                <a:latin typeface="华文新魏" pitchFamily="2" charset="-122"/>
                <a:ea typeface="华文新魏" pitchFamily="2" charset="-122"/>
              </a:rPr>
              <a:t>外部中断方式控制寄存器</a:t>
            </a:r>
            <a:r>
              <a:rPr lang="en-US" altLang="zh-CN" sz="2400">
                <a:latin typeface="华文新魏" pitchFamily="2" charset="-122"/>
                <a:ea typeface="华文新魏" pitchFamily="2" charset="-122"/>
              </a:rPr>
              <a:t>(EXTMODE)</a:t>
            </a:r>
            <a:r>
              <a:rPr lang="zh-CN" altLang="en-US" sz="2400">
                <a:latin typeface="华文新魏" pitchFamily="2" charset="-122"/>
                <a:ea typeface="华文新魏" pitchFamily="2" charset="-122"/>
              </a:rPr>
              <a:t>：</a:t>
            </a:r>
            <a:endParaRPr lang="zh-CN" altLang="en-US" sz="2400" baseline="-25000">
              <a:latin typeface="华文新魏" pitchFamily="2" charset="-122"/>
              <a:ea typeface="华文新魏" pitchFamily="2" charset="-122"/>
            </a:endParaRPr>
          </a:p>
        </p:txBody>
      </p:sp>
      <p:sp>
        <p:nvSpPr>
          <p:cNvPr id="567371" name="Text Box 75"/>
          <p:cNvSpPr txBox="1">
            <a:spLocks noChangeArrowheads="1"/>
          </p:cNvSpPr>
          <p:nvPr/>
        </p:nvSpPr>
        <p:spPr bwMode="auto">
          <a:xfrm>
            <a:off x="2381250" y="1720850"/>
            <a:ext cx="7315200" cy="915988"/>
          </a:xfrm>
          <a:prstGeom prst="rect">
            <a:avLst/>
          </a:prstGeom>
          <a:noFill/>
          <a:ln w="9525">
            <a:noFill/>
            <a:miter lim="800000"/>
            <a:headEnd/>
            <a:tailEnd/>
          </a:ln>
          <a:effectLst/>
        </p:spPr>
        <p:txBody>
          <a:bodyPr>
            <a:spAutoFit/>
          </a:bodyPr>
          <a:lstStyle/>
          <a:p>
            <a:pPr algn="l">
              <a:spcBef>
                <a:spcPct val="50000"/>
              </a:spcBef>
            </a:pPr>
            <a:r>
              <a:rPr lang="en-US" altLang="zh-CN">
                <a:latin typeface="华文新魏" pitchFamily="2" charset="-122"/>
                <a:ea typeface="华文新魏" pitchFamily="2" charset="-122"/>
              </a:rPr>
              <a:t>    </a:t>
            </a:r>
            <a:r>
              <a:rPr lang="zh-CN" altLang="en-US">
                <a:latin typeface="华文新魏" pitchFamily="2" charset="-122"/>
                <a:ea typeface="华文新魏" pitchFamily="2" charset="-122"/>
              </a:rPr>
              <a:t>该寄存器控制着外部中断输入信号的有效触发方式，低四位分别对应外部中断</a:t>
            </a:r>
            <a:r>
              <a:rPr lang="en-US" altLang="zh-CN">
                <a:latin typeface="华文新魏" pitchFamily="2" charset="-122"/>
                <a:ea typeface="华文新魏" pitchFamily="2" charset="-122"/>
              </a:rPr>
              <a:t>3</a:t>
            </a:r>
            <a:r>
              <a:rPr lang="zh-CN" altLang="en-US">
                <a:latin typeface="华文新魏" pitchFamily="2" charset="-122"/>
                <a:ea typeface="华文新魏" pitchFamily="2" charset="-122"/>
              </a:rPr>
              <a:t>～</a:t>
            </a:r>
            <a:r>
              <a:rPr lang="en-US" altLang="zh-CN">
                <a:latin typeface="华文新魏" pitchFamily="2" charset="-122"/>
                <a:ea typeface="华文新魏" pitchFamily="2" charset="-122"/>
              </a:rPr>
              <a:t>0</a:t>
            </a:r>
            <a:r>
              <a:rPr lang="zh-CN" altLang="en-US">
                <a:latin typeface="华文新魏" pitchFamily="2" charset="-122"/>
                <a:ea typeface="华文新魏" pitchFamily="2" charset="-122"/>
              </a:rPr>
              <a:t>。对应位为</a:t>
            </a:r>
            <a:r>
              <a:rPr lang="en-US" altLang="zh-CN">
                <a:latin typeface="华文新魏" pitchFamily="2" charset="-122"/>
                <a:ea typeface="华文新魏" pitchFamily="2" charset="-122"/>
              </a:rPr>
              <a:t>0</a:t>
            </a:r>
            <a:r>
              <a:rPr lang="zh-CN" altLang="en-US">
                <a:latin typeface="华文新魏" pitchFamily="2" charset="-122"/>
                <a:ea typeface="华文新魏" pitchFamily="2" charset="-122"/>
              </a:rPr>
              <a:t>时，电平触发外部中断；对应位为</a:t>
            </a:r>
            <a:r>
              <a:rPr lang="en-US" altLang="zh-CN">
                <a:latin typeface="华文新魏" pitchFamily="2" charset="-122"/>
                <a:ea typeface="华文新魏" pitchFamily="2" charset="-122"/>
              </a:rPr>
              <a:t>1</a:t>
            </a:r>
            <a:r>
              <a:rPr lang="zh-CN" altLang="en-US">
                <a:latin typeface="华文新魏" pitchFamily="2" charset="-122"/>
                <a:ea typeface="华文新魏" pitchFamily="2" charset="-122"/>
              </a:rPr>
              <a:t>时，边沿触发外部中断。</a:t>
            </a:r>
          </a:p>
        </p:txBody>
      </p:sp>
      <p:grpSp>
        <p:nvGrpSpPr>
          <p:cNvPr id="567372" name="Group 76"/>
          <p:cNvGrpSpPr>
            <a:grpSpLocks/>
          </p:cNvGrpSpPr>
          <p:nvPr/>
        </p:nvGrpSpPr>
        <p:grpSpPr bwMode="auto">
          <a:xfrm>
            <a:off x="2640013" y="2708276"/>
            <a:ext cx="6837362" cy="504825"/>
            <a:chOff x="613" y="935"/>
            <a:chExt cx="4307" cy="318"/>
          </a:xfrm>
        </p:grpSpPr>
        <p:sp>
          <p:nvSpPr>
            <p:cNvPr id="567373" name="Rectangle 77"/>
            <p:cNvSpPr>
              <a:spLocks noChangeArrowheads="1"/>
            </p:cNvSpPr>
            <p:nvPr/>
          </p:nvSpPr>
          <p:spPr bwMode="auto">
            <a:xfrm>
              <a:off x="613" y="936"/>
              <a:ext cx="725" cy="317"/>
            </a:xfrm>
            <a:prstGeom prst="rect">
              <a:avLst/>
            </a:prstGeom>
            <a:solidFill>
              <a:srgbClr val="CCFFFF"/>
            </a:solidFill>
            <a:ln w="9525" algn="ctr">
              <a:solidFill>
                <a:schemeClr val="tx1"/>
              </a:solidFill>
              <a:miter lim="800000"/>
              <a:headEnd/>
              <a:tailEnd/>
            </a:ln>
            <a:effectLst/>
          </p:spPr>
          <p:txBody>
            <a:bodyPr wrap="none" anchor="ctr"/>
            <a:lstStyle/>
            <a:p>
              <a:r>
                <a:rPr lang="zh-CN" altLang="en-US" sz="1200">
                  <a:latin typeface="Arial Black" pitchFamily="34" charset="0"/>
                </a:rPr>
                <a:t>控制寄存器</a:t>
              </a:r>
            </a:p>
            <a:p>
              <a:r>
                <a:rPr lang="en-US" altLang="zh-CN" sz="1200">
                  <a:latin typeface="Arial Black" pitchFamily="34" charset="0"/>
                </a:rPr>
                <a:t>EXTMODE</a:t>
              </a:r>
            </a:p>
          </p:txBody>
        </p:sp>
        <p:sp>
          <p:nvSpPr>
            <p:cNvPr id="567374" name="Rectangle 78"/>
            <p:cNvSpPr>
              <a:spLocks noChangeArrowheads="1"/>
            </p:cNvSpPr>
            <p:nvPr/>
          </p:nvSpPr>
          <p:spPr bwMode="auto">
            <a:xfrm>
              <a:off x="1384" y="1072"/>
              <a:ext cx="634" cy="181"/>
            </a:xfrm>
            <a:prstGeom prst="rect">
              <a:avLst/>
            </a:prstGeom>
            <a:solidFill>
              <a:schemeClr val="bg1"/>
            </a:solidFill>
            <a:ln w="9525" algn="ctr">
              <a:solidFill>
                <a:schemeClr val="tx1"/>
              </a:solidFill>
              <a:miter lim="800000"/>
              <a:headEnd/>
              <a:tailEnd/>
            </a:ln>
            <a:effectLst/>
          </p:spPr>
          <p:txBody>
            <a:bodyPr wrap="none" anchor="ctr"/>
            <a:lstStyle/>
            <a:p>
              <a:r>
                <a:rPr lang="en-US" altLang="zh-CN" sz="1200">
                  <a:latin typeface="Arial Black" pitchFamily="34" charset="0"/>
                </a:rPr>
                <a:t>——</a:t>
              </a:r>
            </a:p>
          </p:txBody>
        </p:sp>
        <p:sp>
          <p:nvSpPr>
            <p:cNvPr id="567375" name="Rectangle 79"/>
            <p:cNvSpPr>
              <a:spLocks noChangeArrowheads="1"/>
            </p:cNvSpPr>
            <p:nvPr/>
          </p:nvSpPr>
          <p:spPr bwMode="auto">
            <a:xfrm>
              <a:off x="4195" y="1072"/>
              <a:ext cx="725" cy="181"/>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solidFill>
                    <a:srgbClr val="FF0000"/>
                  </a:solidFill>
                  <a:latin typeface="Arial Black" pitchFamily="34" charset="0"/>
                </a:rPr>
                <a:t>EXTMODE0</a:t>
              </a:r>
            </a:p>
          </p:txBody>
        </p:sp>
        <p:sp>
          <p:nvSpPr>
            <p:cNvPr id="567376" name="Rectangle 80"/>
            <p:cNvSpPr>
              <a:spLocks noChangeArrowheads="1"/>
            </p:cNvSpPr>
            <p:nvPr/>
          </p:nvSpPr>
          <p:spPr bwMode="auto">
            <a:xfrm>
              <a:off x="1384" y="936"/>
              <a:ext cx="635"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7 : 4</a:t>
              </a:r>
            </a:p>
          </p:txBody>
        </p:sp>
        <p:sp>
          <p:nvSpPr>
            <p:cNvPr id="567377" name="Rectangle 81"/>
            <p:cNvSpPr>
              <a:spLocks noChangeArrowheads="1"/>
            </p:cNvSpPr>
            <p:nvPr/>
          </p:nvSpPr>
          <p:spPr bwMode="auto">
            <a:xfrm>
              <a:off x="4195" y="936"/>
              <a:ext cx="725"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0</a:t>
              </a:r>
            </a:p>
          </p:txBody>
        </p:sp>
        <p:sp>
          <p:nvSpPr>
            <p:cNvPr id="567378" name="Rectangle 82"/>
            <p:cNvSpPr>
              <a:spLocks noChangeArrowheads="1"/>
            </p:cNvSpPr>
            <p:nvPr/>
          </p:nvSpPr>
          <p:spPr bwMode="auto">
            <a:xfrm>
              <a:off x="3470" y="1071"/>
              <a:ext cx="725" cy="181"/>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solidFill>
                    <a:srgbClr val="FF0000"/>
                  </a:solidFill>
                  <a:latin typeface="Arial Black" pitchFamily="34" charset="0"/>
                </a:rPr>
                <a:t>EXTMODE1</a:t>
              </a:r>
            </a:p>
          </p:txBody>
        </p:sp>
        <p:sp>
          <p:nvSpPr>
            <p:cNvPr id="567379" name="Rectangle 83"/>
            <p:cNvSpPr>
              <a:spLocks noChangeArrowheads="1"/>
            </p:cNvSpPr>
            <p:nvPr/>
          </p:nvSpPr>
          <p:spPr bwMode="auto">
            <a:xfrm>
              <a:off x="3470" y="935"/>
              <a:ext cx="725"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1</a:t>
              </a:r>
            </a:p>
          </p:txBody>
        </p:sp>
        <p:sp>
          <p:nvSpPr>
            <p:cNvPr id="567380" name="Rectangle 84"/>
            <p:cNvSpPr>
              <a:spLocks noChangeArrowheads="1"/>
            </p:cNvSpPr>
            <p:nvPr/>
          </p:nvSpPr>
          <p:spPr bwMode="auto">
            <a:xfrm>
              <a:off x="2744" y="1071"/>
              <a:ext cx="725" cy="181"/>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solidFill>
                    <a:srgbClr val="FF0000"/>
                  </a:solidFill>
                  <a:latin typeface="Arial Black" pitchFamily="34" charset="0"/>
                </a:rPr>
                <a:t>EXTMODE2</a:t>
              </a:r>
            </a:p>
          </p:txBody>
        </p:sp>
        <p:sp>
          <p:nvSpPr>
            <p:cNvPr id="567381" name="Rectangle 85"/>
            <p:cNvSpPr>
              <a:spLocks noChangeArrowheads="1"/>
            </p:cNvSpPr>
            <p:nvPr/>
          </p:nvSpPr>
          <p:spPr bwMode="auto">
            <a:xfrm>
              <a:off x="2744" y="935"/>
              <a:ext cx="725"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2</a:t>
              </a:r>
            </a:p>
          </p:txBody>
        </p:sp>
        <p:sp>
          <p:nvSpPr>
            <p:cNvPr id="567382" name="Rectangle 86"/>
            <p:cNvSpPr>
              <a:spLocks noChangeArrowheads="1"/>
            </p:cNvSpPr>
            <p:nvPr/>
          </p:nvSpPr>
          <p:spPr bwMode="auto">
            <a:xfrm>
              <a:off x="2018" y="1071"/>
              <a:ext cx="725" cy="181"/>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solidFill>
                    <a:srgbClr val="FF0000"/>
                  </a:solidFill>
                  <a:latin typeface="Arial Black" pitchFamily="34" charset="0"/>
                </a:rPr>
                <a:t>EXTMODE3</a:t>
              </a:r>
            </a:p>
          </p:txBody>
        </p:sp>
        <p:sp>
          <p:nvSpPr>
            <p:cNvPr id="567383" name="Rectangle 87"/>
            <p:cNvSpPr>
              <a:spLocks noChangeArrowheads="1"/>
            </p:cNvSpPr>
            <p:nvPr/>
          </p:nvSpPr>
          <p:spPr bwMode="auto">
            <a:xfrm>
              <a:off x="2018" y="935"/>
              <a:ext cx="725"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3</a:t>
              </a:r>
            </a:p>
          </p:txBody>
        </p:sp>
      </p:grpSp>
      <p:sp>
        <p:nvSpPr>
          <p:cNvPr id="567384" name="Text Box 88"/>
          <p:cNvSpPr txBox="1">
            <a:spLocks noChangeArrowheads="1"/>
          </p:cNvSpPr>
          <p:nvPr/>
        </p:nvSpPr>
        <p:spPr bwMode="auto">
          <a:xfrm>
            <a:off x="2381251" y="1268413"/>
            <a:ext cx="5802313" cy="457200"/>
          </a:xfrm>
          <a:prstGeom prst="rect">
            <a:avLst/>
          </a:prstGeom>
          <a:noFill/>
          <a:ln w="9525">
            <a:noFill/>
            <a:miter lim="800000"/>
            <a:headEnd/>
            <a:tailEnd/>
          </a:ln>
          <a:effectLst/>
        </p:spPr>
        <p:txBody>
          <a:bodyPr>
            <a:spAutoFit/>
          </a:bodyPr>
          <a:lstStyle/>
          <a:p>
            <a:pPr algn="l">
              <a:spcBef>
                <a:spcPct val="50000"/>
              </a:spcBef>
            </a:pPr>
            <a:r>
              <a:rPr lang="zh-CN" altLang="en-US" sz="2400">
                <a:latin typeface="华文新魏" pitchFamily="2" charset="-122"/>
                <a:ea typeface="华文新魏" pitchFamily="2" charset="-122"/>
              </a:rPr>
              <a:t>外部中断极性控制寄存器</a:t>
            </a:r>
            <a:r>
              <a:rPr lang="en-US" altLang="zh-CN" sz="2400">
                <a:latin typeface="华文新魏" pitchFamily="2" charset="-122"/>
                <a:ea typeface="华文新魏" pitchFamily="2" charset="-122"/>
              </a:rPr>
              <a:t>(EXTPOLAR)</a:t>
            </a:r>
            <a:r>
              <a:rPr lang="zh-CN" altLang="en-US" sz="2400">
                <a:latin typeface="华文新魏" pitchFamily="2" charset="-122"/>
                <a:ea typeface="华文新魏" pitchFamily="2" charset="-122"/>
              </a:rPr>
              <a:t>：</a:t>
            </a:r>
            <a:endParaRPr lang="zh-CN" altLang="en-US" sz="2400" baseline="-25000">
              <a:latin typeface="华文新魏" pitchFamily="2" charset="-122"/>
              <a:ea typeface="华文新魏" pitchFamily="2" charset="-122"/>
            </a:endParaRPr>
          </a:p>
        </p:txBody>
      </p:sp>
      <p:sp>
        <p:nvSpPr>
          <p:cNvPr id="567385" name="Text Box 89"/>
          <p:cNvSpPr txBox="1">
            <a:spLocks noChangeArrowheads="1"/>
          </p:cNvSpPr>
          <p:nvPr/>
        </p:nvSpPr>
        <p:spPr bwMode="auto">
          <a:xfrm>
            <a:off x="2351088" y="1720850"/>
            <a:ext cx="7632700" cy="915988"/>
          </a:xfrm>
          <a:prstGeom prst="rect">
            <a:avLst/>
          </a:prstGeom>
          <a:noFill/>
          <a:ln w="9525">
            <a:noFill/>
            <a:miter lim="800000"/>
            <a:headEnd/>
            <a:tailEnd/>
          </a:ln>
          <a:effectLst/>
        </p:spPr>
        <p:txBody>
          <a:bodyPr>
            <a:spAutoFit/>
          </a:bodyPr>
          <a:lstStyle/>
          <a:p>
            <a:pPr algn="l">
              <a:spcBef>
                <a:spcPct val="50000"/>
              </a:spcBef>
            </a:pPr>
            <a:r>
              <a:rPr lang="en-US" altLang="zh-CN">
                <a:latin typeface="华文新魏" pitchFamily="2" charset="-122"/>
                <a:ea typeface="华文新魏" pitchFamily="2" charset="-122"/>
              </a:rPr>
              <a:t>        </a:t>
            </a:r>
            <a:r>
              <a:rPr lang="zh-CN" altLang="en-US">
                <a:latin typeface="华文新魏" pitchFamily="2" charset="-122"/>
                <a:ea typeface="华文新魏" pitchFamily="2" charset="-122"/>
              </a:rPr>
              <a:t>电平触发方式下：对应位为</a:t>
            </a:r>
            <a:r>
              <a:rPr lang="en-US" altLang="zh-CN">
                <a:latin typeface="华文新魏" pitchFamily="2" charset="-122"/>
                <a:ea typeface="华文新魏" pitchFamily="2" charset="-122"/>
              </a:rPr>
              <a:t>0</a:t>
            </a:r>
            <a:r>
              <a:rPr lang="zh-CN" altLang="en-US">
                <a:latin typeface="华文新魏" pitchFamily="2" charset="-122"/>
                <a:ea typeface="华文新魏" pitchFamily="2" charset="-122"/>
              </a:rPr>
              <a:t>时，低电平触发外部中断；对应位为</a:t>
            </a:r>
            <a:r>
              <a:rPr lang="en-US" altLang="zh-CN">
                <a:latin typeface="华文新魏" pitchFamily="2" charset="-122"/>
                <a:ea typeface="华文新魏" pitchFamily="2" charset="-122"/>
              </a:rPr>
              <a:t>1</a:t>
            </a:r>
            <a:r>
              <a:rPr lang="zh-CN" altLang="en-US">
                <a:latin typeface="华文新魏" pitchFamily="2" charset="-122"/>
                <a:ea typeface="华文新魏" pitchFamily="2" charset="-122"/>
              </a:rPr>
              <a:t>时，高电平触发外部中断。边沿触发方式下：对应位为</a:t>
            </a:r>
            <a:r>
              <a:rPr lang="en-US" altLang="zh-CN">
                <a:latin typeface="华文新魏" pitchFamily="2" charset="-122"/>
                <a:ea typeface="华文新魏" pitchFamily="2" charset="-122"/>
              </a:rPr>
              <a:t>0</a:t>
            </a:r>
            <a:r>
              <a:rPr lang="zh-CN" altLang="en-US">
                <a:latin typeface="华文新魏" pitchFamily="2" charset="-122"/>
                <a:ea typeface="华文新魏" pitchFamily="2" charset="-122"/>
              </a:rPr>
              <a:t>时，下降沿触发外部中断；对应位为</a:t>
            </a:r>
            <a:r>
              <a:rPr lang="en-US" altLang="zh-CN">
                <a:latin typeface="华文新魏" pitchFamily="2" charset="-122"/>
                <a:ea typeface="华文新魏" pitchFamily="2" charset="-122"/>
              </a:rPr>
              <a:t>1</a:t>
            </a:r>
            <a:r>
              <a:rPr lang="zh-CN" altLang="en-US">
                <a:latin typeface="华文新魏" pitchFamily="2" charset="-122"/>
                <a:ea typeface="华文新魏" pitchFamily="2" charset="-122"/>
              </a:rPr>
              <a:t>时，上升沿触发中断。</a:t>
            </a:r>
          </a:p>
        </p:txBody>
      </p:sp>
      <p:grpSp>
        <p:nvGrpSpPr>
          <p:cNvPr id="567386" name="Group 90"/>
          <p:cNvGrpSpPr>
            <a:grpSpLocks/>
          </p:cNvGrpSpPr>
          <p:nvPr/>
        </p:nvGrpSpPr>
        <p:grpSpPr bwMode="auto">
          <a:xfrm>
            <a:off x="2640013" y="2708276"/>
            <a:ext cx="6837362" cy="504825"/>
            <a:chOff x="613" y="935"/>
            <a:chExt cx="4307" cy="318"/>
          </a:xfrm>
        </p:grpSpPr>
        <p:sp>
          <p:nvSpPr>
            <p:cNvPr id="567387" name="Rectangle 91"/>
            <p:cNvSpPr>
              <a:spLocks noChangeArrowheads="1"/>
            </p:cNvSpPr>
            <p:nvPr/>
          </p:nvSpPr>
          <p:spPr bwMode="auto">
            <a:xfrm>
              <a:off x="613" y="936"/>
              <a:ext cx="725" cy="317"/>
            </a:xfrm>
            <a:prstGeom prst="rect">
              <a:avLst/>
            </a:prstGeom>
            <a:solidFill>
              <a:srgbClr val="CCFFFF"/>
            </a:solidFill>
            <a:ln w="9525" algn="ctr">
              <a:solidFill>
                <a:schemeClr val="tx1"/>
              </a:solidFill>
              <a:miter lim="800000"/>
              <a:headEnd/>
              <a:tailEnd/>
            </a:ln>
            <a:effectLst/>
          </p:spPr>
          <p:txBody>
            <a:bodyPr wrap="none" anchor="ctr"/>
            <a:lstStyle/>
            <a:p>
              <a:r>
                <a:rPr lang="zh-CN" altLang="en-US" sz="1200">
                  <a:latin typeface="Arial Black" pitchFamily="34" charset="0"/>
                </a:rPr>
                <a:t>控制寄存器</a:t>
              </a:r>
            </a:p>
            <a:p>
              <a:r>
                <a:rPr lang="en-US" altLang="zh-CN" sz="1200">
                  <a:latin typeface="Arial Black" pitchFamily="34" charset="0"/>
                </a:rPr>
                <a:t>EXTPOLAR</a:t>
              </a:r>
            </a:p>
          </p:txBody>
        </p:sp>
        <p:sp>
          <p:nvSpPr>
            <p:cNvPr id="567388" name="Rectangle 92"/>
            <p:cNvSpPr>
              <a:spLocks noChangeArrowheads="1"/>
            </p:cNvSpPr>
            <p:nvPr/>
          </p:nvSpPr>
          <p:spPr bwMode="auto">
            <a:xfrm>
              <a:off x="1384" y="1072"/>
              <a:ext cx="634" cy="181"/>
            </a:xfrm>
            <a:prstGeom prst="rect">
              <a:avLst/>
            </a:prstGeom>
            <a:solidFill>
              <a:schemeClr val="bg1"/>
            </a:solidFill>
            <a:ln w="9525" algn="ctr">
              <a:solidFill>
                <a:schemeClr val="tx1"/>
              </a:solidFill>
              <a:miter lim="800000"/>
              <a:headEnd/>
              <a:tailEnd/>
            </a:ln>
            <a:effectLst/>
          </p:spPr>
          <p:txBody>
            <a:bodyPr wrap="none" anchor="ctr"/>
            <a:lstStyle/>
            <a:p>
              <a:r>
                <a:rPr lang="en-US" altLang="zh-CN" sz="1200">
                  <a:latin typeface="Arial Black" pitchFamily="34" charset="0"/>
                </a:rPr>
                <a:t>——</a:t>
              </a:r>
            </a:p>
          </p:txBody>
        </p:sp>
        <p:sp>
          <p:nvSpPr>
            <p:cNvPr id="567389" name="Rectangle 93"/>
            <p:cNvSpPr>
              <a:spLocks noChangeArrowheads="1"/>
            </p:cNvSpPr>
            <p:nvPr/>
          </p:nvSpPr>
          <p:spPr bwMode="auto">
            <a:xfrm>
              <a:off x="4195" y="1072"/>
              <a:ext cx="725" cy="181"/>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solidFill>
                    <a:srgbClr val="FF0000"/>
                  </a:solidFill>
                  <a:latin typeface="Arial Black" pitchFamily="34" charset="0"/>
                </a:rPr>
                <a:t>EXTPOLAR0</a:t>
              </a:r>
            </a:p>
          </p:txBody>
        </p:sp>
        <p:sp>
          <p:nvSpPr>
            <p:cNvPr id="567390" name="Rectangle 94"/>
            <p:cNvSpPr>
              <a:spLocks noChangeArrowheads="1"/>
            </p:cNvSpPr>
            <p:nvPr/>
          </p:nvSpPr>
          <p:spPr bwMode="auto">
            <a:xfrm>
              <a:off x="1384" y="936"/>
              <a:ext cx="635"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7 : 4</a:t>
              </a:r>
            </a:p>
          </p:txBody>
        </p:sp>
        <p:sp>
          <p:nvSpPr>
            <p:cNvPr id="567391" name="Rectangle 95"/>
            <p:cNvSpPr>
              <a:spLocks noChangeArrowheads="1"/>
            </p:cNvSpPr>
            <p:nvPr/>
          </p:nvSpPr>
          <p:spPr bwMode="auto">
            <a:xfrm>
              <a:off x="4195" y="936"/>
              <a:ext cx="725"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0</a:t>
              </a:r>
            </a:p>
          </p:txBody>
        </p:sp>
        <p:sp>
          <p:nvSpPr>
            <p:cNvPr id="567392" name="Rectangle 96"/>
            <p:cNvSpPr>
              <a:spLocks noChangeArrowheads="1"/>
            </p:cNvSpPr>
            <p:nvPr/>
          </p:nvSpPr>
          <p:spPr bwMode="auto">
            <a:xfrm>
              <a:off x="3470" y="1071"/>
              <a:ext cx="725" cy="181"/>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solidFill>
                    <a:srgbClr val="FF0000"/>
                  </a:solidFill>
                  <a:latin typeface="Arial Black" pitchFamily="34" charset="0"/>
                </a:rPr>
                <a:t>EXTPOLAR1</a:t>
              </a:r>
            </a:p>
          </p:txBody>
        </p:sp>
        <p:sp>
          <p:nvSpPr>
            <p:cNvPr id="567393" name="Rectangle 97"/>
            <p:cNvSpPr>
              <a:spLocks noChangeArrowheads="1"/>
            </p:cNvSpPr>
            <p:nvPr/>
          </p:nvSpPr>
          <p:spPr bwMode="auto">
            <a:xfrm>
              <a:off x="3470" y="935"/>
              <a:ext cx="725"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1</a:t>
              </a:r>
            </a:p>
          </p:txBody>
        </p:sp>
        <p:sp>
          <p:nvSpPr>
            <p:cNvPr id="567394" name="Rectangle 98"/>
            <p:cNvSpPr>
              <a:spLocks noChangeArrowheads="1"/>
            </p:cNvSpPr>
            <p:nvPr/>
          </p:nvSpPr>
          <p:spPr bwMode="auto">
            <a:xfrm>
              <a:off x="2744" y="1071"/>
              <a:ext cx="725" cy="181"/>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solidFill>
                    <a:srgbClr val="FF0000"/>
                  </a:solidFill>
                  <a:latin typeface="Arial Black" pitchFamily="34" charset="0"/>
                </a:rPr>
                <a:t>EXTPOLAR2</a:t>
              </a:r>
            </a:p>
          </p:txBody>
        </p:sp>
        <p:sp>
          <p:nvSpPr>
            <p:cNvPr id="567395" name="Rectangle 99"/>
            <p:cNvSpPr>
              <a:spLocks noChangeArrowheads="1"/>
            </p:cNvSpPr>
            <p:nvPr/>
          </p:nvSpPr>
          <p:spPr bwMode="auto">
            <a:xfrm>
              <a:off x="2744" y="935"/>
              <a:ext cx="725"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2</a:t>
              </a:r>
            </a:p>
          </p:txBody>
        </p:sp>
        <p:sp>
          <p:nvSpPr>
            <p:cNvPr id="567396" name="Rectangle 100"/>
            <p:cNvSpPr>
              <a:spLocks noChangeArrowheads="1"/>
            </p:cNvSpPr>
            <p:nvPr/>
          </p:nvSpPr>
          <p:spPr bwMode="auto">
            <a:xfrm>
              <a:off x="2018" y="1071"/>
              <a:ext cx="725" cy="181"/>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solidFill>
                    <a:srgbClr val="FF0000"/>
                  </a:solidFill>
                  <a:latin typeface="Arial Black" pitchFamily="34" charset="0"/>
                </a:rPr>
                <a:t>EXTPOLAR3</a:t>
              </a:r>
            </a:p>
          </p:txBody>
        </p:sp>
        <p:sp>
          <p:nvSpPr>
            <p:cNvPr id="567397" name="Rectangle 101"/>
            <p:cNvSpPr>
              <a:spLocks noChangeArrowheads="1"/>
            </p:cNvSpPr>
            <p:nvPr/>
          </p:nvSpPr>
          <p:spPr bwMode="auto">
            <a:xfrm>
              <a:off x="2018" y="935"/>
              <a:ext cx="725" cy="135"/>
            </a:xfrm>
            <a:prstGeom prst="rect">
              <a:avLst/>
            </a:prstGeom>
            <a:solidFill>
              <a:srgbClr val="FFCC99"/>
            </a:solidFill>
            <a:ln w="9525" algn="ctr">
              <a:solidFill>
                <a:schemeClr val="tx1"/>
              </a:solidFill>
              <a:miter lim="800000"/>
              <a:headEnd/>
              <a:tailEnd/>
            </a:ln>
            <a:effectLst/>
          </p:spPr>
          <p:txBody>
            <a:bodyPr wrap="none" anchor="ctr"/>
            <a:lstStyle/>
            <a:p>
              <a:r>
                <a:rPr lang="en-US" altLang="zh-CN" sz="1200">
                  <a:latin typeface="Arial" charset="0"/>
                </a:rPr>
                <a:t>3</a:t>
              </a:r>
            </a:p>
          </p:txBody>
        </p:sp>
      </p:grpSp>
      <p:sp>
        <p:nvSpPr>
          <p:cNvPr id="567398" name="Rectangle 102"/>
          <p:cNvSpPr>
            <a:spLocks noChangeArrowheads="1"/>
          </p:cNvSpPr>
          <p:nvPr/>
        </p:nvSpPr>
        <p:spPr bwMode="auto">
          <a:xfrm>
            <a:off x="2936876" y="1845747"/>
            <a:ext cx="184731" cy="369332"/>
          </a:xfrm>
          <a:prstGeom prst="rect">
            <a:avLst/>
          </a:prstGeom>
          <a:noFill/>
          <a:ln w="9525" algn="ctr">
            <a:noFill/>
            <a:miter lim="800000"/>
            <a:headEnd/>
            <a:tailEnd/>
          </a:ln>
          <a:effectLst/>
        </p:spPr>
        <p:txBody>
          <a:bodyPr wrap="none" anchor="ctr">
            <a:spAutoFit/>
          </a:bodyPr>
          <a:lstStyle/>
          <a:p>
            <a:endParaRPr lang="zh-CN" altLang="en-US"/>
          </a:p>
        </p:txBody>
      </p:sp>
      <p:sp>
        <p:nvSpPr>
          <p:cNvPr id="567399" name="Rectangle 103"/>
          <p:cNvSpPr>
            <a:spLocks noChangeArrowheads="1"/>
          </p:cNvSpPr>
          <p:nvPr/>
        </p:nvSpPr>
        <p:spPr bwMode="auto">
          <a:xfrm>
            <a:off x="2936876" y="1845747"/>
            <a:ext cx="184731" cy="369332"/>
          </a:xfrm>
          <a:prstGeom prst="rect">
            <a:avLst/>
          </a:prstGeom>
          <a:noFill/>
          <a:ln w="9525" algn="ctr">
            <a:noFill/>
            <a:miter lim="800000"/>
            <a:headEnd/>
            <a:tailEnd/>
          </a:ln>
          <a:effectLst/>
        </p:spPr>
        <p:txBody>
          <a:bodyPr wrap="none" anchor="ctr">
            <a:spAutoFit/>
          </a:bodyPr>
          <a:lstStyle/>
          <a:p>
            <a:endParaRPr lang="zh-CN" altLang="en-US"/>
          </a:p>
        </p:txBody>
      </p:sp>
      <p:sp>
        <p:nvSpPr>
          <p:cNvPr id="567400" name="Rectangle 104"/>
          <p:cNvSpPr>
            <a:spLocks noChangeArrowheads="1"/>
          </p:cNvSpPr>
          <p:nvPr/>
        </p:nvSpPr>
        <p:spPr bwMode="auto">
          <a:xfrm>
            <a:off x="2936876" y="1845747"/>
            <a:ext cx="184731" cy="369332"/>
          </a:xfrm>
          <a:prstGeom prst="rect">
            <a:avLst/>
          </a:prstGeom>
          <a:noFill/>
          <a:ln w="9525" algn="ctr">
            <a:noFill/>
            <a:miter lim="800000"/>
            <a:headEnd/>
            <a:tailEnd/>
          </a:ln>
          <a:effectLst/>
        </p:spPr>
        <p:txBody>
          <a:bodyPr wrap="none" anchor="ctr">
            <a:spAutoFit/>
          </a:bodyPr>
          <a:lstStyle/>
          <a:p>
            <a:endParaRPr lang="zh-CN" altLang="en-US"/>
          </a:p>
        </p:txBody>
      </p:sp>
      <p:sp>
        <p:nvSpPr>
          <p:cNvPr id="567401" name="Rectangle 105"/>
          <p:cNvSpPr>
            <a:spLocks noChangeArrowheads="1"/>
          </p:cNvSpPr>
          <p:nvPr/>
        </p:nvSpPr>
        <p:spPr bwMode="auto">
          <a:xfrm>
            <a:off x="2936876" y="1845747"/>
            <a:ext cx="184731" cy="369332"/>
          </a:xfrm>
          <a:prstGeom prst="rect">
            <a:avLst/>
          </a:prstGeom>
          <a:noFill/>
          <a:ln w="9525" algn="ctr">
            <a:noFill/>
            <a:miter lim="800000"/>
            <a:headEnd/>
            <a:tailEnd/>
          </a:ln>
          <a:effectLst/>
        </p:spPr>
        <p:txBody>
          <a:bodyPr wrap="none" anchor="ctr">
            <a:spAutoFit/>
          </a:bodyPr>
          <a:lstStyle/>
          <a:p>
            <a:endParaRPr lang="zh-CN" altLang="en-US"/>
          </a:p>
        </p:txBody>
      </p:sp>
      <p:graphicFrame>
        <p:nvGraphicFramePr>
          <p:cNvPr id="567402" name="Group 106"/>
          <p:cNvGraphicFramePr>
            <a:graphicFrameLocks noGrp="1"/>
          </p:cNvGraphicFramePr>
          <p:nvPr/>
        </p:nvGraphicFramePr>
        <p:xfrm>
          <a:off x="2863850" y="1773239"/>
          <a:ext cx="6472238" cy="1843405"/>
        </p:xfrm>
        <a:graphic>
          <a:graphicData uri="http://schemas.openxmlformats.org/drawingml/2006/table">
            <a:tbl>
              <a:tblPr/>
              <a:tblGrid>
                <a:gridCol w="1447800">
                  <a:extLst>
                    <a:ext uri="{9D8B030D-6E8A-4147-A177-3AD203B41FA5}">
                      <a16:colId xmlns:a16="http://schemas.microsoft.com/office/drawing/2014/main" val="20000"/>
                    </a:ext>
                  </a:extLst>
                </a:gridCol>
                <a:gridCol w="1793875">
                  <a:extLst>
                    <a:ext uri="{9D8B030D-6E8A-4147-A177-3AD203B41FA5}">
                      <a16:colId xmlns:a16="http://schemas.microsoft.com/office/drawing/2014/main" val="20001"/>
                    </a:ext>
                  </a:extLst>
                </a:gridCol>
                <a:gridCol w="1871663">
                  <a:extLst>
                    <a:ext uri="{9D8B030D-6E8A-4147-A177-3AD203B41FA5}">
                      <a16:colId xmlns:a16="http://schemas.microsoft.com/office/drawing/2014/main" val="20002"/>
                    </a:ext>
                  </a:extLst>
                </a:gridCol>
                <a:gridCol w="1358900">
                  <a:extLst>
                    <a:ext uri="{9D8B030D-6E8A-4147-A177-3AD203B41FA5}">
                      <a16:colId xmlns:a16="http://schemas.microsoft.com/office/drawing/2014/main" val="20003"/>
                    </a:ext>
                  </a:extLst>
                </a:gridCol>
              </a:tblGrid>
              <a:tr h="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设置说明</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相应位设置值</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信号波形</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极性控制寄存器</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EXTPOLAR</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方式控制寄存器</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EXTMODE</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vMerge="1">
                  <a:txBody>
                    <a:bodyPr/>
                    <a:lstStyle/>
                    <a:p>
                      <a:endParaRPr lang="zh-CN" altLang="en-US"/>
                    </a:p>
                  </a:txBody>
                  <a:tcPr/>
                </a:tc>
                <a:extLst>
                  <a:ext uri="{0D108BD9-81ED-4DB2-BD59-A6C34878D82A}">
                    <a16:rowId xmlns:a16="http://schemas.microsoft.com/office/drawing/2014/main" val="10001"/>
                  </a:ext>
                </a:extLst>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低电平触发</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（低）</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（电平）</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2"/>
                  </a:ext>
                </a:extLst>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高电平触发</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（高）</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（电平）</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3"/>
                  </a:ext>
                </a:extLst>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下降沿触发</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（下降）</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（边沿）</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4"/>
                  </a:ext>
                </a:extLst>
              </a:tr>
              <a:tr h="2889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上升沿触发</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（上升）</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（边沿）</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99"/>
                    </a:solidFill>
                  </a:tcPr>
                </a:tc>
                <a:extLst>
                  <a:ext uri="{0D108BD9-81ED-4DB2-BD59-A6C34878D82A}">
                    <a16:rowId xmlns:a16="http://schemas.microsoft.com/office/drawing/2014/main" val="10005"/>
                  </a:ext>
                </a:extLst>
              </a:tr>
            </a:tbl>
          </a:graphicData>
        </a:graphic>
      </p:graphicFrame>
      <p:sp>
        <p:nvSpPr>
          <p:cNvPr id="567436" name="Text Box 140"/>
          <p:cNvSpPr txBox="1">
            <a:spLocks noChangeArrowheads="1"/>
          </p:cNvSpPr>
          <p:nvPr/>
        </p:nvSpPr>
        <p:spPr bwMode="auto">
          <a:xfrm>
            <a:off x="2381251" y="1196975"/>
            <a:ext cx="5802313" cy="457200"/>
          </a:xfrm>
          <a:prstGeom prst="rect">
            <a:avLst/>
          </a:prstGeom>
          <a:noFill/>
          <a:ln w="9525">
            <a:noFill/>
            <a:miter lim="800000"/>
            <a:headEnd/>
            <a:tailEnd/>
          </a:ln>
          <a:effectLst/>
        </p:spPr>
        <p:txBody>
          <a:bodyPr>
            <a:spAutoFit/>
          </a:bodyPr>
          <a:lstStyle/>
          <a:p>
            <a:pPr algn="l">
              <a:spcBef>
                <a:spcPct val="50000"/>
              </a:spcBef>
            </a:pPr>
            <a:r>
              <a:rPr lang="zh-CN" altLang="en-US" sz="2400">
                <a:latin typeface="华文新魏" pitchFamily="2" charset="-122"/>
                <a:ea typeface="华文新魏" pitchFamily="2" charset="-122"/>
              </a:rPr>
              <a:t>中断信号波形与设置方式 </a:t>
            </a:r>
          </a:p>
        </p:txBody>
      </p:sp>
      <p:pic>
        <p:nvPicPr>
          <p:cNvPr id="567437" name="Picture 141" descr="中断信号"/>
          <p:cNvPicPr>
            <a:picLocks noChangeAspect="1" noChangeArrowheads="1"/>
          </p:cNvPicPr>
          <p:nvPr/>
        </p:nvPicPr>
        <p:blipFill>
          <a:blip r:embed="rId2" cstate="print"/>
          <a:srcRect b="81488"/>
          <a:stretch>
            <a:fillRect/>
          </a:stretch>
        </p:blipFill>
        <p:spPr bwMode="auto">
          <a:xfrm>
            <a:off x="8401051" y="2565401"/>
            <a:ext cx="576263" cy="207963"/>
          </a:xfrm>
          <a:prstGeom prst="rect">
            <a:avLst/>
          </a:prstGeom>
          <a:noFill/>
          <a:ln w="9525">
            <a:noFill/>
            <a:miter lim="800000"/>
            <a:headEnd/>
            <a:tailEnd/>
          </a:ln>
        </p:spPr>
      </p:pic>
      <p:pic>
        <p:nvPicPr>
          <p:cNvPr id="567438" name="Picture 142" descr="中断信号"/>
          <p:cNvPicPr>
            <a:picLocks noChangeAspect="1" noChangeArrowheads="1"/>
          </p:cNvPicPr>
          <p:nvPr/>
        </p:nvPicPr>
        <p:blipFill>
          <a:blip r:embed="rId2" cstate="print"/>
          <a:srcRect t="28651" b="51141"/>
          <a:stretch>
            <a:fillRect/>
          </a:stretch>
        </p:blipFill>
        <p:spPr bwMode="auto">
          <a:xfrm>
            <a:off x="8399463" y="2781301"/>
            <a:ext cx="576262" cy="246063"/>
          </a:xfrm>
          <a:prstGeom prst="rect">
            <a:avLst/>
          </a:prstGeom>
          <a:noFill/>
        </p:spPr>
      </p:pic>
      <p:pic>
        <p:nvPicPr>
          <p:cNvPr id="567439" name="Picture 143" descr="中断信号"/>
          <p:cNvPicPr>
            <a:picLocks noChangeAspect="1" noChangeArrowheads="1"/>
          </p:cNvPicPr>
          <p:nvPr/>
        </p:nvPicPr>
        <p:blipFill>
          <a:blip r:embed="rId2" cstate="print"/>
          <a:srcRect t="56380" b="23877"/>
          <a:stretch>
            <a:fillRect/>
          </a:stretch>
        </p:blipFill>
        <p:spPr bwMode="auto">
          <a:xfrm>
            <a:off x="8399463" y="3068638"/>
            <a:ext cx="576262" cy="215900"/>
          </a:xfrm>
          <a:prstGeom prst="rect">
            <a:avLst/>
          </a:prstGeom>
          <a:noFill/>
        </p:spPr>
      </p:pic>
      <p:pic>
        <p:nvPicPr>
          <p:cNvPr id="567440" name="Picture 144" descr="中断信号"/>
          <p:cNvPicPr>
            <a:picLocks noChangeArrowheads="1"/>
          </p:cNvPicPr>
          <p:nvPr/>
        </p:nvPicPr>
        <p:blipFill>
          <a:blip r:embed="rId2" cstate="print"/>
          <a:srcRect t="81642"/>
          <a:stretch>
            <a:fillRect/>
          </a:stretch>
        </p:blipFill>
        <p:spPr bwMode="auto">
          <a:xfrm>
            <a:off x="8401051" y="3357563"/>
            <a:ext cx="576263" cy="2159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67354"/>
                                        </p:tgtEl>
                                        <p:attrNameLst>
                                          <p:attrName>style.visibility</p:attrName>
                                        </p:attrNameLst>
                                      </p:cBhvr>
                                      <p:to>
                                        <p:strVal val="visible"/>
                                      </p:to>
                                    </p:set>
                                    <p:anim calcmode="lin" valueType="num">
                                      <p:cBhvr additive="base">
                                        <p:cTn id="7" dur="500" fill="hold"/>
                                        <p:tgtEl>
                                          <p:spTgt spid="567354"/>
                                        </p:tgtEl>
                                        <p:attrNameLst>
                                          <p:attrName>ppt_x</p:attrName>
                                        </p:attrNameLst>
                                      </p:cBhvr>
                                      <p:tavLst>
                                        <p:tav tm="0">
                                          <p:val>
                                            <p:strVal val="1+#ppt_w/2"/>
                                          </p:val>
                                        </p:tav>
                                        <p:tav tm="100000">
                                          <p:val>
                                            <p:strVal val="#ppt_x"/>
                                          </p:val>
                                        </p:tav>
                                      </p:tavLst>
                                    </p:anim>
                                    <p:anim calcmode="lin" valueType="num">
                                      <p:cBhvr additive="base">
                                        <p:cTn id="8" dur="500" fill="hold"/>
                                        <p:tgtEl>
                                          <p:spTgt spid="56735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567353"/>
                                        </p:tgtEl>
                                        <p:attrNameLst>
                                          <p:attrName>style.visibility</p:attrName>
                                        </p:attrNameLst>
                                      </p:cBhvr>
                                      <p:to>
                                        <p:strVal val="visible"/>
                                      </p:to>
                                    </p:set>
                                    <p:animEffect transition="in" filter="box(in)">
                                      <p:cBhvr>
                                        <p:cTn id="12" dur="500"/>
                                        <p:tgtEl>
                                          <p:spTgt spid="567353"/>
                                        </p:tgtEl>
                                      </p:cBhvr>
                                    </p:animEffect>
                                  </p:childTnLst>
                                </p:cTn>
                              </p:par>
                            </p:childTnLst>
                          </p:cTn>
                        </p:par>
                        <p:par>
                          <p:cTn id="13" fill="hold">
                            <p:stCondLst>
                              <p:cond delay="1000"/>
                            </p:stCondLst>
                            <p:childTnLst>
                              <p:par>
                                <p:cTn id="14" presetID="4" presetClass="entr" presetSubtype="16" fill="hold" nodeType="afterEffect">
                                  <p:stCondLst>
                                    <p:cond delay="0"/>
                                  </p:stCondLst>
                                  <p:childTnLst>
                                    <p:set>
                                      <p:cBhvr>
                                        <p:cTn id="15" dur="1" fill="hold">
                                          <p:stCondLst>
                                            <p:cond delay="0"/>
                                          </p:stCondLst>
                                        </p:cTn>
                                        <p:tgtEl>
                                          <p:spTgt spid="567341"/>
                                        </p:tgtEl>
                                        <p:attrNameLst>
                                          <p:attrName>style.visibility</p:attrName>
                                        </p:attrNameLst>
                                      </p:cBhvr>
                                      <p:to>
                                        <p:strVal val="visible"/>
                                      </p:to>
                                    </p:set>
                                    <p:animEffect transition="in" filter="box(in)">
                                      <p:cBhvr>
                                        <p:cTn id="16" dur="500"/>
                                        <p:tgtEl>
                                          <p:spTgt spid="567341"/>
                                        </p:tgtEl>
                                      </p:cBhvr>
                                    </p:animEffect>
                                  </p:childTnLst>
                                </p:cTn>
                              </p:par>
                            </p:childTnLst>
                          </p:cTn>
                        </p:par>
                        <p:par>
                          <p:cTn id="17" fill="hold">
                            <p:stCondLst>
                              <p:cond delay="1500"/>
                            </p:stCondLst>
                            <p:childTnLst>
                              <p:par>
                                <p:cTn id="18" presetID="23" presetClass="emph" presetSubtype="0" repeatCount="indefinite" fill="hold" grpId="0" nodeType="afterEffect">
                                  <p:stCondLst>
                                    <p:cond delay="0"/>
                                  </p:stCondLst>
                                  <p:endCondLst>
                                    <p:cond evt="onNext" delay="0">
                                      <p:tgtEl>
                                        <p:sldTgt/>
                                      </p:tgtEl>
                                    </p:cond>
                                  </p:endCondLst>
                                  <p:childTnLst>
                                    <p:animClr clrSpc="hsl" dir="cw">
                                      <p:cBhvr override="childStyle">
                                        <p:cTn id="19" dur="500" fill="hold"/>
                                        <p:tgtEl>
                                          <p:spTgt spid="567301"/>
                                        </p:tgtEl>
                                        <p:attrNameLst>
                                          <p:attrName>style.color</p:attrName>
                                        </p:attrNameLst>
                                      </p:cBhvr>
                                      <p:by>
                                        <p:hsl h="10842353" s="0" l="0"/>
                                      </p:by>
                                    </p:animClr>
                                    <p:animClr clrSpc="hsl" dir="cw">
                                      <p:cBhvr>
                                        <p:cTn id="20" dur="500" fill="hold"/>
                                        <p:tgtEl>
                                          <p:spTgt spid="567301"/>
                                        </p:tgtEl>
                                        <p:attrNameLst>
                                          <p:attrName>fillcolor</p:attrName>
                                        </p:attrNameLst>
                                      </p:cBhvr>
                                      <p:by>
                                        <p:hsl h="10842353" s="0" l="0"/>
                                      </p:by>
                                    </p:animClr>
                                    <p:animClr clrSpc="hsl" dir="cw">
                                      <p:cBhvr>
                                        <p:cTn id="21" dur="500" fill="hold"/>
                                        <p:tgtEl>
                                          <p:spTgt spid="567301"/>
                                        </p:tgtEl>
                                        <p:attrNameLst>
                                          <p:attrName>stroke.color</p:attrName>
                                        </p:attrNameLst>
                                      </p:cBhvr>
                                      <p:by>
                                        <p:hsl h="10842353" s="0" l="0"/>
                                      </p:by>
                                    </p:animClr>
                                    <p:set>
                                      <p:cBhvr>
                                        <p:cTn id="22" dur="500" fill="hold"/>
                                        <p:tgtEl>
                                          <p:spTgt spid="567301"/>
                                        </p:tgtEl>
                                        <p:attrNameLst>
                                          <p:attrName>fill.type</p:attrName>
                                        </p:attrNameLst>
                                      </p:cBhvr>
                                      <p:to>
                                        <p:strVal val="solid"/>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567353"/>
                                        </p:tgtEl>
                                        <p:attrNameLst>
                                          <p:attrName>style.visibility</p:attrName>
                                        </p:attrNameLst>
                                      </p:cBhvr>
                                      <p:to>
                                        <p:strVal val="hidden"/>
                                      </p:to>
                                    </p:set>
                                  </p:childTnLst>
                                </p:cTn>
                              </p:par>
                            </p:childTnLst>
                          </p:cTn>
                        </p:par>
                        <p:par>
                          <p:cTn id="27" fill="hold">
                            <p:stCondLst>
                              <p:cond delay="0"/>
                            </p:stCondLst>
                            <p:childTnLst>
                              <p:par>
                                <p:cTn id="28" presetID="4" presetClass="entr" presetSubtype="16" fill="hold" grpId="0" nodeType="afterEffect">
                                  <p:stCondLst>
                                    <p:cond delay="0"/>
                                  </p:stCondLst>
                                  <p:childTnLst>
                                    <p:set>
                                      <p:cBhvr>
                                        <p:cTn id="29" dur="1" fill="hold">
                                          <p:stCondLst>
                                            <p:cond delay="0"/>
                                          </p:stCondLst>
                                        </p:cTn>
                                        <p:tgtEl>
                                          <p:spTgt spid="567355"/>
                                        </p:tgtEl>
                                        <p:attrNameLst>
                                          <p:attrName>style.visibility</p:attrName>
                                        </p:attrNameLst>
                                      </p:cBhvr>
                                      <p:to>
                                        <p:strVal val="visible"/>
                                      </p:to>
                                    </p:set>
                                    <p:animEffect transition="in" filter="box(in)">
                                      <p:cBhvr>
                                        <p:cTn id="30" dur="500"/>
                                        <p:tgtEl>
                                          <p:spTgt spid="567355"/>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567355"/>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567341"/>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567354"/>
                                        </p:tgtEl>
                                        <p:attrNameLst>
                                          <p:attrName>style.visibility</p:attrName>
                                        </p:attrNameLst>
                                      </p:cBhvr>
                                      <p:to>
                                        <p:strVal val="hidden"/>
                                      </p:to>
                                    </p:set>
                                  </p:childTnLst>
                                </p:cTn>
                              </p:par>
                              <p:par>
                                <p:cTn id="39" presetID="2" presetClass="entr" presetSubtype="2" fill="hold" grpId="0" nodeType="withEffect">
                                  <p:stCondLst>
                                    <p:cond delay="0"/>
                                  </p:stCondLst>
                                  <p:childTnLst>
                                    <p:set>
                                      <p:cBhvr>
                                        <p:cTn id="40" dur="1" fill="hold">
                                          <p:stCondLst>
                                            <p:cond delay="0"/>
                                          </p:stCondLst>
                                        </p:cTn>
                                        <p:tgtEl>
                                          <p:spTgt spid="567357"/>
                                        </p:tgtEl>
                                        <p:attrNameLst>
                                          <p:attrName>style.visibility</p:attrName>
                                        </p:attrNameLst>
                                      </p:cBhvr>
                                      <p:to>
                                        <p:strVal val="visible"/>
                                      </p:to>
                                    </p:set>
                                    <p:anim calcmode="lin" valueType="num">
                                      <p:cBhvr additive="base">
                                        <p:cTn id="41" dur="500" fill="hold"/>
                                        <p:tgtEl>
                                          <p:spTgt spid="567357"/>
                                        </p:tgtEl>
                                        <p:attrNameLst>
                                          <p:attrName>ppt_x</p:attrName>
                                        </p:attrNameLst>
                                      </p:cBhvr>
                                      <p:tavLst>
                                        <p:tav tm="0">
                                          <p:val>
                                            <p:strVal val="1+#ppt_w/2"/>
                                          </p:val>
                                        </p:tav>
                                        <p:tav tm="100000">
                                          <p:val>
                                            <p:strVal val="#ppt_x"/>
                                          </p:val>
                                        </p:tav>
                                      </p:tavLst>
                                    </p:anim>
                                    <p:anim calcmode="lin" valueType="num">
                                      <p:cBhvr additive="base">
                                        <p:cTn id="42" dur="500" fill="hold"/>
                                        <p:tgtEl>
                                          <p:spTgt spid="567357"/>
                                        </p:tgtEl>
                                        <p:attrNameLst>
                                          <p:attrName>ppt_y</p:attrName>
                                        </p:attrNameLst>
                                      </p:cBhvr>
                                      <p:tavLst>
                                        <p:tav tm="0">
                                          <p:val>
                                            <p:strVal val="#ppt_y"/>
                                          </p:val>
                                        </p:tav>
                                        <p:tav tm="100000">
                                          <p:val>
                                            <p:strVal val="#ppt_y"/>
                                          </p:val>
                                        </p:tav>
                                      </p:tavLst>
                                    </p:anim>
                                  </p:childTnLst>
                                </p:cTn>
                              </p:par>
                            </p:childTnLst>
                          </p:cTn>
                        </p:par>
                        <p:par>
                          <p:cTn id="43" fill="hold">
                            <p:stCondLst>
                              <p:cond delay="500"/>
                            </p:stCondLst>
                            <p:childTnLst>
                              <p:par>
                                <p:cTn id="44" presetID="4" presetClass="entr" presetSubtype="16" fill="hold" grpId="0" nodeType="afterEffect">
                                  <p:stCondLst>
                                    <p:cond delay="0"/>
                                  </p:stCondLst>
                                  <p:childTnLst>
                                    <p:set>
                                      <p:cBhvr>
                                        <p:cTn id="45" dur="1" fill="hold">
                                          <p:stCondLst>
                                            <p:cond delay="0"/>
                                          </p:stCondLst>
                                        </p:cTn>
                                        <p:tgtEl>
                                          <p:spTgt spid="567356"/>
                                        </p:tgtEl>
                                        <p:attrNameLst>
                                          <p:attrName>style.visibility</p:attrName>
                                        </p:attrNameLst>
                                      </p:cBhvr>
                                      <p:to>
                                        <p:strVal val="visible"/>
                                      </p:to>
                                    </p:set>
                                    <p:animEffect transition="in" filter="box(in)">
                                      <p:cBhvr>
                                        <p:cTn id="46" dur="500"/>
                                        <p:tgtEl>
                                          <p:spTgt spid="567356"/>
                                        </p:tgtEl>
                                      </p:cBhvr>
                                    </p:animEffect>
                                  </p:childTnLst>
                                </p:cTn>
                              </p:par>
                            </p:childTnLst>
                          </p:cTn>
                        </p:par>
                        <p:par>
                          <p:cTn id="47" fill="hold">
                            <p:stCondLst>
                              <p:cond delay="1000"/>
                            </p:stCondLst>
                            <p:childTnLst>
                              <p:par>
                                <p:cTn id="48" presetID="4" presetClass="entr" presetSubtype="16" fill="hold" nodeType="afterEffect">
                                  <p:stCondLst>
                                    <p:cond delay="0"/>
                                  </p:stCondLst>
                                  <p:childTnLst>
                                    <p:set>
                                      <p:cBhvr>
                                        <p:cTn id="49" dur="1" fill="hold">
                                          <p:stCondLst>
                                            <p:cond delay="0"/>
                                          </p:stCondLst>
                                        </p:cTn>
                                        <p:tgtEl>
                                          <p:spTgt spid="567358"/>
                                        </p:tgtEl>
                                        <p:attrNameLst>
                                          <p:attrName>style.visibility</p:attrName>
                                        </p:attrNameLst>
                                      </p:cBhvr>
                                      <p:to>
                                        <p:strVal val="visible"/>
                                      </p:to>
                                    </p:set>
                                    <p:animEffect transition="in" filter="box(in)">
                                      <p:cBhvr>
                                        <p:cTn id="50" dur="500"/>
                                        <p:tgtEl>
                                          <p:spTgt spid="567358"/>
                                        </p:tgtEl>
                                      </p:cBhvr>
                                    </p:animEffect>
                                  </p:childTnLst>
                                </p:cTn>
                              </p:par>
                            </p:childTnLst>
                          </p:cTn>
                        </p:par>
                        <p:par>
                          <p:cTn id="51" fill="hold">
                            <p:stCondLst>
                              <p:cond delay="1500"/>
                            </p:stCondLst>
                            <p:childTnLst>
                              <p:par>
                                <p:cTn id="52" presetID="23" presetClass="emph" presetSubtype="0" repeatCount="indefinite" fill="hold" grpId="0" nodeType="afterEffect">
                                  <p:stCondLst>
                                    <p:cond delay="0"/>
                                  </p:stCondLst>
                                  <p:endCondLst>
                                    <p:cond evt="onNext" delay="0">
                                      <p:tgtEl>
                                        <p:sldTgt/>
                                      </p:tgtEl>
                                    </p:cond>
                                  </p:endCondLst>
                                  <p:childTnLst>
                                    <p:animClr clrSpc="hsl" dir="cw">
                                      <p:cBhvr override="childStyle">
                                        <p:cTn id="53" dur="500" fill="hold"/>
                                        <p:tgtEl>
                                          <p:spTgt spid="567300"/>
                                        </p:tgtEl>
                                        <p:attrNameLst>
                                          <p:attrName>style.color</p:attrName>
                                        </p:attrNameLst>
                                      </p:cBhvr>
                                      <p:by>
                                        <p:hsl h="10842353" s="0" l="0"/>
                                      </p:by>
                                    </p:animClr>
                                    <p:animClr clrSpc="hsl" dir="cw">
                                      <p:cBhvr>
                                        <p:cTn id="54" dur="500" fill="hold"/>
                                        <p:tgtEl>
                                          <p:spTgt spid="567300"/>
                                        </p:tgtEl>
                                        <p:attrNameLst>
                                          <p:attrName>fillcolor</p:attrName>
                                        </p:attrNameLst>
                                      </p:cBhvr>
                                      <p:by>
                                        <p:hsl h="10842353" s="0" l="0"/>
                                      </p:by>
                                    </p:animClr>
                                    <p:animClr clrSpc="hsl" dir="cw">
                                      <p:cBhvr>
                                        <p:cTn id="55" dur="500" fill="hold"/>
                                        <p:tgtEl>
                                          <p:spTgt spid="567300"/>
                                        </p:tgtEl>
                                        <p:attrNameLst>
                                          <p:attrName>stroke.color</p:attrName>
                                        </p:attrNameLst>
                                      </p:cBhvr>
                                      <p:by>
                                        <p:hsl h="10842353" s="0" l="0"/>
                                      </p:by>
                                    </p:animClr>
                                    <p:set>
                                      <p:cBhvr>
                                        <p:cTn id="56" dur="500" fill="hold"/>
                                        <p:tgtEl>
                                          <p:spTgt spid="567300"/>
                                        </p:tgtEl>
                                        <p:attrNameLst>
                                          <p:attrName>fill.type</p:attrName>
                                        </p:attrNameLst>
                                      </p:cBhvr>
                                      <p:to>
                                        <p:strVal val="solid"/>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567358"/>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567357"/>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567356"/>
                                        </p:tgtEl>
                                        <p:attrNameLst>
                                          <p:attrName>style.visibility</p:attrName>
                                        </p:attrNameLst>
                                      </p:cBhvr>
                                      <p:to>
                                        <p:strVal val="hidden"/>
                                      </p:to>
                                    </p:set>
                                  </p:childTnLst>
                                </p:cTn>
                              </p:par>
                              <p:par>
                                <p:cTn id="65" presetID="2" presetClass="entr" presetSubtype="2" fill="hold" grpId="0" nodeType="withEffect">
                                  <p:stCondLst>
                                    <p:cond delay="0"/>
                                  </p:stCondLst>
                                  <p:childTnLst>
                                    <p:set>
                                      <p:cBhvr>
                                        <p:cTn id="66" dur="1" fill="hold">
                                          <p:stCondLst>
                                            <p:cond delay="0"/>
                                          </p:stCondLst>
                                        </p:cTn>
                                        <p:tgtEl>
                                          <p:spTgt spid="567370"/>
                                        </p:tgtEl>
                                        <p:attrNameLst>
                                          <p:attrName>style.visibility</p:attrName>
                                        </p:attrNameLst>
                                      </p:cBhvr>
                                      <p:to>
                                        <p:strVal val="visible"/>
                                      </p:to>
                                    </p:set>
                                    <p:anim calcmode="lin" valueType="num">
                                      <p:cBhvr additive="base">
                                        <p:cTn id="67" dur="500" fill="hold"/>
                                        <p:tgtEl>
                                          <p:spTgt spid="567370"/>
                                        </p:tgtEl>
                                        <p:attrNameLst>
                                          <p:attrName>ppt_x</p:attrName>
                                        </p:attrNameLst>
                                      </p:cBhvr>
                                      <p:tavLst>
                                        <p:tav tm="0">
                                          <p:val>
                                            <p:strVal val="1+#ppt_w/2"/>
                                          </p:val>
                                        </p:tav>
                                        <p:tav tm="100000">
                                          <p:val>
                                            <p:strVal val="#ppt_x"/>
                                          </p:val>
                                        </p:tav>
                                      </p:tavLst>
                                    </p:anim>
                                    <p:anim calcmode="lin" valueType="num">
                                      <p:cBhvr additive="base">
                                        <p:cTn id="68" dur="500" fill="hold"/>
                                        <p:tgtEl>
                                          <p:spTgt spid="567370"/>
                                        </p:tgtEl>
                                        <p:attrNameLst>
                                          <p:attrName>ppt_y</p:attrName>
                                        </p:attrNameLst>
                                      </p:cBhvr>
                                      <p:tavLst>
                                        <p:tav tm="0">
                                          <p:val>
                                            <p:strVal val="#ppt_y"/>
                                          </p:val>
                                        </p:tav>
                                        <p:tav tm="100000">
                                          <p:val>
                                            <p:strVal val="#ppt_y"/>
                                          </p:val>
                                        </p:tav>
                                      </p:tavLst>
                                    </p:anim>
                                  </p:childTnLst>
                                </p:cTn>
                              </p:par>
                            </p:childTnLst>
                          </p:cTn>
                        </p:par>
                        <p:par>
                          <p:cTn id="69" fill="hold">
                            <p:stCondLst>
                              <p:cond delay="500"/>
                            </p:stCondLst>
                            <p:childTnLst>
                              <p:par>
                                <p:cTn id="70" presetID="4" presetClass="entr" presetSubtype="16" fill="hold" grpId="0" nodeType="afterEffect">
                                  <p:stCondLst>
                                    <p:cond delay="0"/>
                                  </p:stCondLst>
                                  <p:childTnLst>
                                    <p:set>
                                      <p:cBhvr>
                                        <p:cTn id="71" dur="1" fill="hold">
                                          <p:stCondLst>
                                            <p:cond delay="0"/>
                                          </p:stCondLst>
                                        </p:cTn>
                                        <p:tgtEl>
                                          <p:spTgt spid="567371"/>
                                        </p:tgtEl>
                                        <p:attrNameLst>
                                          <p:attrName>style.visibility</p:attrName>
                                        </p:attrNameLst>
                                      </p:cBhvr>
                                      <p:to>
                                        <p:strVal val="visible"/>
                                      </p:to>
                                    </p:set>
                                    <p:animEffect transition="in" filter="box(in)">
                                      <p:cBhvr>
                                        <p:cTn id="72" dur="500"/>
                                        <p:tgtEl>
                                          <p:spTgt spid="567371"/>
                                        </p:tgtEl>
                                      </p:cBhvr>
                                    </p:animEffect>
                                  </p:childTnLst>
                                </p:cTn>
                              </p:par>
                            </p:childTnLst>
                          </p:cTn>
                        </p:par>
                        <p:par>
                          <p:cTn id="73" fill="hold">
                            <p:stCondLst>
                              <p:cond delay="1000"/>
                            </p:stCondLst>
                            <p:childTnLst>
                              <p:par>
                                <p:cTn id="74" presetID="4" presetClass="entr" presetSubtype="16" fill="hold" nodeType="afterEffect">
                                  <p:stCondLst>
                                    <p:cond delay="0"/>
                                  </p:stCondLst>
                                  <p:childTnLst>
                                    <p:set>
                                      <p:cBhvr>
                                        <p:cTn id="75" dur="1" fill="hold">
                                          <p:stCondLst>
                                            <p:cond delay="0"/>
                                          </p:stCondLst>
                                        </p:cTn>
                                        <p:tgtEl>
                                          <p:spTgt spid="567372"/>
                                        </p:tgtEl>
                                        <p:attrNameLst>
                                          <p:attrName>style.visibility</p:attrName>
                                        </p:attrNameLst>
                                      </p:cBhvr>
                                      <p:to>
                                        <p:strVal val="visible"/>
                                      </p:to>
                                    </p:set>
                                    <p:animEffect transition="in" filter="box(in)">
                                      <p:cBhvr>
                                        <p:cTn id="76" dur="500"/>
                                        <p:tgtEl>
                                          <p:spTgt spid="567372"/>
                                        </p:tgtEl>
                                      </p:cBhvr>
                                    </p:animEffect>
                                  </p:childTnLst>
                                </p:cTn>
                              </p:par>
                            </p:childTnLst>
                          </p:cTn>
                        </p:par>
                        <p:par>
                          <p:cTn id="77" fill="hold">
                            <p:stCondLst>
                              <p:cond delay="1500"/>
                            </p:stCondLst>
                            <p:childTnLst>
                              <p:par>
                                <p:cTn id="78" presetID="23" presetClass="emph" presetSubtype="0" repeatCount="indefinite" fill="hold" grpId="0" nodeType="afterEffect">
                                  <p:stCondLst>
                                    <p:cond delay="0"/>
                                  </p:stCondLst>
                                  <p:endCondLst>
                                    <p:cond evt="onNext" delay="0">
                                      <p:tgtEl>
                                        <p:sldTgt/>
                                      </p:tgtEl>
                                    </p:cond>
                                  </p:endCondLst>
                                  <p:childTnLst>
                                    <p:animClr clrSpc="hsl" dir="cw">
                                      <p:cBhvr override="childStyle">
                                        <p:cTn id="79" dur="500" fill="hold"/>
                                        <p:tgtEl>
                                          <p:spTgt spid="567299"/>
                                        </p:tgtEl>
                                        <p:attrNameLst>
                                          <p:attrName>style.color</p:attrName>
                                        </p:attrNameLst>
                                      </p:cBhvr>
                                      <p:by>
                                        <p:hsl h="10842353" s="0" l="0"/>
                                      </p:by>
                                    </p:animClr>
                                    <p:animClr clrSpc="hsl" dir="cw">
                                      <p:cBhvr>
                                        <p:cTn id="80" dur="500" fill="hold"/>
                                        <p:tgtEl>
                                          <p:spTgt spid="567299"/>
                                        </p:tgtEl>
                                        <p:attrNameLst>
                                          <p:attrName>fillcolor</p:attrName>
                                        </p:attrNameLst>
                                      </p:cBhvr>
                                      <p:by>
                                        <p:hsl h="10842353" s="0" l="0"/>
                                      </p:by>
                                    </p:animClr>
                                    <p:animClr clrSpc="hsl" dir="cw">
                                      <p:cBhvr>
                                        <p:cTn id="81" dur="500" fill="hold"/>
                                        <p:tgtEl>
                                          <p:spTgt spid="567299"/>
                                        </p:tgtEl>
                                        <p:attrNameLst>
                                          <p:attrName>stroke.color</p:attrName>
                                        </p:attrNameLst>
                                      </p:cBhvr>
                                      <p:by>
                                        <p:hsl h="10842353" s="0" l="0"/>
                                      </p:by>
                                    </p:animClr>
                                    <p:set>
                                      <p:cBhvr>
                                        <p:cTn id="82" dur="500" fill="hold"/>
                                        <p:tgtEl>
                                          <p:spTgt spid="567299"/>
                                        </p:tgtEl>
                                        <p:attrNameLst>
                                          <p:attrName>fill.type</p:attrName>
                                        </p:attrNameLst>
                                      </p:cBhvr>
                                      <p:to>
                                        <p:strVal val="solid"/>
                                      </p:to>
                                    </p:se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grpId="1" nodeType="clickEffect">
                                  <p:stCondLst>
                                    <p:cond delay="0"/>
                                  </p:stCondLst>
                                  <p:childTnLst>
                                    <p:set>
                                      <p:cBhvr>
                                        <p:cTn id="86" dur="1" fill="hold">
                                          <p:stCondLst>
                                            <p:cond delay="0"/>
                                          </p:stCondLst>
                                        </p:cTn>
                                        <p:tgtEl>
                                          <p:spTgt spid="567370"/>
                                        </p:tgtEl>
                                        <p:attrNameLst>
                                          <p:attrName>style.visibility</p:attrName>
                                        </p:attrNameLst>
                                      </p:cBhvr>
                                      <p:to>
                                        <p:strVal val="hidden"/>
                                      </p:to>
                                    </p:set>
                                  </p:childTnLst>
                                </p:cTn>
                              </p:par>
                              <p:par>
                                <p:cTn id="87" presetID="1" presetClass="exit" presetSubtype="0" fill="hold" grpId="1" nodeType="withEffect">
                                  <p:stCondLst>
                                    <p:cond delay="0"/>
                                  </p:stCondLst>
                                  <p:childTnLst>
                                    <p:set>
                                      <p:cBhvr>
                                        <p:cTn id="88" dur="1" fill="hold">
                                          <p:stCondLst>
                                            <p:cond delay="0"/>
                                          </p:stCondLst>
                                        </p:cTn>
                                        <p:tgtEl>
                                          <p:spTgt spid="567371"/>
                                        </p:tgtEl>
                                        <p:attrNameLst>
                                          <p:attrName>style.visibility</p:attrName>
                                        </p:attrNameLst>
                                      </p:cBhvr>
                                      <p:to>
                                        <p:strVal val="hidden"/>
                                      </p:to>
                                    </p:set>
                                  </p:childTnLst>
                                </p:cTn>
                              </p:par>
                              <p:par>
                                <p:cTn id="89" presetID="1" presetClass="exit" presetSubtype="0" fill="hold" nodeType="withEffect">
                                  <p:stCondLst>
                                    <p:cond delay="0"/>
                                  </p:stCondLst>
                                  <p:childTnLst>
                                    <p:set>
                                      <p:cBhvr>
                                        <p:cTn id="90" dur="1" fill="hold">
                                          <p:stCondLst>
                                            <p:cond delay="0"/>
                                          </p:stCondLst>
                                        </p:cTn>
                                        <p:tgtEl>
                                          <p:spTgt spid="567372"/>
                                        </p:tgtEl>
                                        <p:attrNameLst>
                                          <p:attrName>style.visibility</p:attrName>
                                        </p:attrNameLst>
                                      </p:cBhvr>
                                      <p:to>
                                        <p:strVal val="hidden"/>
                                      </p:to>
                                    </p:set>
                                  </p:childTnLst>
                                </p:cTn>
                              </p:par>
                              <p:par>
                                <p:cTn id="91" presetID="2" presetClass="entr" presetSubtype="2" fill="hold" grpId="0" nodeType="withEffect">
                                  <p:stCondLst>
                                    <p:cond delay="0"/>
                                  </p:stCondLst>
                                  <p:childTnLst>
                                    <p:set>
                                      <p:cBhvr>
                                        <p:cTn id="92" dur="1" fill="hold">
                                          <p:stCondLst>
                                            <p:cond delay="0"/>
                                          </p:stCondLst>
                                        </p:cTn>
                                        <p:tgtEl>
                                          <p:spTgt spid="567384"/>
                                        </p:tgtEl>
                                        <p:attrNameLst>
                                          <p:attrName>style.visibility</p:attrName>
                                        </p:attrNameLst>
                                      </p:cBhvr>
                                      <p:to>
                                        <p:strVal val="visible"/>
                                      </p:to>
                                    </p:set>
                                    <p:anim calcmode="lin" valueType="num">
                                      <p:cBhvr additive="base">
                                        <p:cTn id="93" dur="500" fill="hold"/>
                                        <p:tgtEl>
                                          <p:spTgt spid="567384"/>
                                        </p:tgtEl>
                                        <p:attrNameLst>
                                          <p:attrName>ppt_x</p:attrName>
                                        </p:attrNameLst>
                                      </p:cBhvr>
                                      <p:tavLst>
                                        <p:tav tm="0">
                                          <p:val>
                                            <p:strVal val="1+#ppt_w/2"/>
                                          </p:val>
                                        </p:tav>
                                        <p:tav tm="100000">
                                          <p:val>
                                            <p:strVal val="#ppt_x"/>
                                          </p:val>
                                        </p:tav>
                                      </p:tavLst>
                                    </p:anim>
                                    <p:anim calcmode="lin" valueType="num">
                                      <p:cBhvr additive="base">
                                        <p:cTn id="94" dur="500" fill="hold"/>
                                        <p:tgtEl>
                                          <p:spTgt spid="567384"/>
                                        </p:tgtEl>
                                        <p:attrNameLst>
                                          <p:attrName>ppt_y</p:attrName>
                                        </p:attrNameLst>
                                      </p:cBhvr>
                                      <p:tavLst>
                                        <p:tav tm="0">
                                          <p:val>
                                            <p:strVal val="#ppt_y"/>
                                          </p:val>
                                        </p:tav>
                                        <p:tav tm="100000">
                                          <p:val>
                                            <p:strVal val="#ppt_y"/>
                                          </p:val>
                                        </p:tav>
                                      </p:tavLst>
                                    </p:anim>
                                  </p:childTnLst>
                                </p:cTn>
                              </p:par>
                            </p:childTnLst>
                          </p:cTn>
                        </p:par>
                        <p:par>
                          <p:cTn id="95" fill="hold">
                            <p:stCondLst>
                              <p:cond delay="500"/>
                            </p:stCondLst>
                            <p:childTnLst>
                              <p:par>
                                <p:cTn id="96" presetID="4" presetClass="entr" presetSubtype="16" fill="hold" grpId="0" nodeType="afterEffect">
                                  <p:stCondLst>
                                    <p:cond delay="0"/>
                                  </p:stCondLst>
                                  <p:childTnLst>
                                    <p:set>
                                      <p:cBhvr>
                                        <p:cTn id="97" dur="1" fill="hold">
                                          <p:stCondLst>
                                            <p:cond delay="0"/>
                                          </p:stCondLst>
                                        </p:cTn>
                                        <p:tgtEl>
                                          <p:spTgt spid="567385"/>
                                        </p:tgtEl>
                                        <p:attrNameLst>
                                          <p:attrName>style.visibility</p:attrName>
                                        </p:attrNameLst>
                                      </p:cBhvr>
                                      <p:to>
                                        <p:strVal val="visible"/>
                                      </p:to>
                                    </p:set>
                                    <p:animEffect transition="in" filter="box(in)">
                                      <p:cBhvr>
                                        <p:cTn id="98" dur="500"/>
                                        <p:tgtEl>
                                          <p:spTgt spid="567385"/>
                                        </p:tgtEl>
                                      </p:cBhvr>
                                    </p:animEffect>
                                  </p:childTnLst>
                                </p:cTn>
                              </p:par>
                            </p:childTnLst>
                          </p:cTn>
                        </p:par>
                        <p:par>
                          <p:cTn id="99" fill="hold">
                            <p:stCondLst>
                              <p:cond delay="1000"/>
                            </p:stCondLst>
                            <p:childTnLst>
                              <p:par>
                                <p:cTn id="100" presetID="4" presetClass="entr" presetSubtype="16" fill="hold" nodeType="afterEffect">
                                  <p:stCondLst>
                                    <p:cond delay="0"/>
                                  </p:stCondLst>
                                  <p:childTnLst>
                                    <p:set>
                                      <p:cBhvr>
                                        <p:cTn id="101" dur="1" fill="hold">
                                          <p:stCondLst>
                                            <p:cond delay="0"/>
                                          </p:stCondLst>
                                        </p:cTn>
                                        <p:tgtEl>
                                          <p:spTgt spid="567386"/>
                                        </p:tgtEl>
                                        <p:attrNameLst>
                                          <p:attrName>style.visibility</p:attrName>
                                        </p:attrNameLst>
                                      </p:cBhvr>
                                      <p:to>
                                        <p:strVal val="visible"/>
                                      </p:to>
                                    </p:set>
                                    <p:animEffect transition="in" filter="box(in)">
                                      <p:cBhvr>
                                        <p:cTn id="102" dur="500"/>
                                        <p:tgtEl>
                                          <p:spTgt spid="567386"/>
                                        </p:tgtEl>
                                      </p:cBhvr>
                                    </p:animEffect>
                                  </p:childTnLst>
                                </p:cTn>
                              </p:par>
                            </p:childTnLst>
                          </p:cTn>
                        </p:par>
                        <p:par>
                          <p:cTn id="103" fill="hold">
                            <p:stCondLst>
                              <p:cond delay="1500"/>
                            </p:stCondLst>
                            <p:childTnLst>
                              <p:par>
                                <p:cTn id="104" presetID="23" presetClass="emph" presetSubtype="0" repeatCount="indefinite" fill="hold" grpId="0" nodeType="afterEffect">
                                  <p:stCondLst>
                                    <p:cond delay="0"/>
                                  </p:stCondLst>
                                  <p:endCondLst>
                                    <p:cond evt="onNext" delay="0">
                                      <p:tgtEl>
                                        <p:sldTgt/>
                                      </p:tgtEl>
                                    </p:cond>
                                  </p:endCondLst>
                                  <p:childTnLst>
                                    <p:animClr clrSpc="hsl" dir="cw">
                                      <p:cBhvr override="childStyle">
                                        <p:cTn id="105" dur="500" fill="hold"/>
                                        <p:tgtEl>
                                          <p:spTgt spid="567298"/>
                                        </p:tgtEl>
                                        <p:attrNameLst>
                                          <p:attrName>style.color</p:attrName>
                                        </p:attrNameLst>
                                      </p:cBhvr>
                                      <p:by>
                                        <p:hsl h="10842353" s="0" l="0"/>
                                      </p:by>
                                    </p:animClr>
                                    <p:animClr clrSpc="hsl" dir="cw">
                                      <p:cBhvr>
                                        <p:cTn id="106" dur="500" fill="hold"/>
                                        <p:tgtEl>
                                          <p:spTgt spid="567298"/>
                                        </p:tgtEl>
                                        <p:attrNameLst>
                                          <p:attrName>fillcolor</p:attrName>
                                        </p:attrNameLst>
                                      </p:cBhvr>
                                      <p:by>
                                        <p:hsl h="10842353" s="0" l="0"/>
                                      </p:by>
                                    </p:animClr>
                                    <p:animClr clrSpc="hsl" dir="cw">
                                      <p:cBhvr>
                                        <p:cTn id="107" dur="500" fill="hold"/>
                                        <p:tgtEl>
                                          <p:spTgt spid="567298"/>
                                        </p:tgtEl>
                                        <p:attrNameLst>
                                          <p:attrName>stroke.color</p:attrName>
                                        </p:attrNameLst>
                                      </p:cBhvr>
                                      <p:by>
                                        <p:hsl h="10842353" s="0" l="0"/>
                                      </p:by>
                                    </p:animClr>
                                    <p:set>
                                      <p:cBhvr>
                                        <p:cTn id="108" dur="500" fill="hold"/>
                                        <p:tgtEl>
                                          <p:spTgt spid="567298"/>
                                        </p:tgtEl>
                                        <p:attrNameLst>
                                          <p:attrName>fill.type</p:attrName>
                                        </p:attrNameLst>
                                      </p:cBhvr>
                                      <p:to>
                                        <p:strVal val="solid"/>
                                      </p:to>
                                    </p:set>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nodeType="clickEffect">
                                  <p:stCondLst>
                                    <p:cond delay="0"/>
                                  </p:stCondLst>
                                  <p:childTnLst>
                                    <p:set>
                                      <p:cBhvr>
                                        <p:cTn id="112" dur="1" fill="hold">
                                          <p:stCondLst>
                                            <p:cond delay="0"/>
                                          </p:stCondLst>
                                        </p:cTn>
                                        <p:tgtEl>
                                          <p:spTgt spid="567386"/>
                                        </p:tgtEl>
                                        <p:attrNameLst>
                                          <p:attrName>style.visibility</p:attrName>
                                        </p:attrNameLst>
                                      </p:cBhvr>
                                      <p:to>
                                        <p:strVal val="hidden"/>
                                      </p:to>
                                    </p:set>
                                  </p:childTnLst>
                                </p:cTn>
                              </p:par>
                              <p:par>
                                <p:cTn id="113" presetID="1" presetClass="exit" presetSubtype="0" fill="hold" grpId="1" nodeType="withEffect">
                                  <p:stCondLst>
                                    <p:cond delay="0"/>
                                  </p:stCondLst>
                                  <p:childTnLst>
                                    <p:set>
                                      <p:cBhvr>
                                        <p:cTn id="114" dur="1" fill="hold">
                                          <p:stCondLst>
                                            <p:cond delay="0"/>
                                          </p:stCondLst>
                                        </p:cTn>
                                        <p:tgtEl>
                                          <p:spTgt spid="567384"/>
                                        </p:tgtEl>
                                        <p:attrNameLst>
                                          <p:attrName>style.visibility</p:attrName>
                                        </p:attrNameLst>
                                      </p:cBhvr>
                                      <p:to>
                                        <p:strVal val="hidden"/>
                                      </p:to>
                                    </p:set>
                                  </p:childTnLst>
                                </p:cTn>
                              </p:par>
                              <p:par>
                                <p:cTn id="115" presetID="1" presetClass="exit" presetSubtype="0" fill="hold" grpId="1" nodeType="withEffect">
                                  <p:stCondLst>
                                    <p:cond delay="0"/>
                                  </p:stCondLst>
                                  <p:childTnLst>
                                    <p:set>
                                      <p:cBhvr>
                                        <p:cTn id="116" dur="1" fill="hold">
                                          <p:stCondLst>
                                            <p:cond delay="0"/>
                                          </p:stCondLst>
                                        </p:cTn>
                                        <p:tgtEl>
                                          <p:spTgt spid="567385"/>
                                        </p:tgtEl>
                                        <p:attrNameLst>
                                          <p:attrName>style.visibility</p:attrName>
                                        </p:attrNameLst>
                                      </p:cBhvr>
                                      <p:to>
                                        <p:strVal val="hidden"/>
                                      </p:to>
                                    </p:set>
                                  </p:childTnLst>
                                </p:cTn>
                              </p:par>
                              <p:par>
                                <p:cTn id="117" presetID="2" presetClass="entr" presetSubtype="2" fill="hold" grpId="0" nodeType="withEffect">
                                  <p:stCondLst>
                                    <p:cond delay="0"/>
                                  </p:stCondLst>
                                  <p:childTnLst>
                                    <p:set>
                                      <p:cBhvr>
                                        <p:cTn id="118" dur="1" fill="hold">
                                          <p:stCondLst>
                                            <p:cond delay="0"/>
                                          </p:stCondLst>
                                        </p:cTn>
                                        <p:tgtEl>
                                          <p:spTgt spid="567436"/>
                                        </p:tgtEl>
                                        <p:attrNameLst>
                                          <p:attrName>style.visibility</p:attrName>
                                        </p:attrNameLst>
                                      </p:cBhvr>
                                      <p:to>
                                        <p:strVal val="visible"/>
                                      </p:to>
                                    </p:set>
                                    <p:anim calcmode="lin" valueType="num">
                                      <p:cBhvr additive="base">
                                        <p:cTn id="119" dur="500" fill="hold"/>
                                        <p:tgtEl>
                                          <p:spTgt spid="567436"/>
                                        </p:tgtEl>
                                        <p:attrNameLst>
                                          <p:attrName>ppt_x</p:attrName>
                                        </p:attrNameLst>
                                      </p:cBhvr>
                                      <p:tavLst>
                                        <p:tav tm="0">
                                          <p:val>
                                            <p:strVal val="1+#ppt_w/2"/>
                                          </p:val>
                                        </p:tav>
                                        <p:tav tm="100000">
                                          <p:val>
                                            <p:strVal val="#ppt_x"/>
                                          </p:val>
                                        </p:tav>
                                      </p:tavLst>
                                    </p:anim>
                                    <p:anim calcmode="lin" valueType="num">
                                      <p:cBhvr additive="base">
                                        <p:cTn id="120" dur="500" fill="hold"/>
                                        <p:tgtEl>
                                          <p:spTgt spid="567436"/>
                                        </p:tgtEl>
                                        <p:attrNameLst>
                                          <p:attrName>ppt_y</p:attrName>
                                        </p:attrNameLst>
                                      </p:cBhvr>
                                      <p:tavLst>
                                        <p:tav tm="0">
                                          <p:val>
                                            <p:strVal val="#ppt_y"/>
                                          </p:val>
                                        </p:tav>
                                        <p:tav tm="100000">
                                          <p:val>
                                            <p:strVal val="#ppt_y"/>
                                          </p:val>
                                        </p:tav>
                                      </p:tavLst>
                                    </p:anim>
                                  </p:childTnLst>
                                </p:cTn>
                              </p:par>
                            </p:childTnLst>
                          </p:cTn>
                        </p:par>
                        <p:par>
                          <p:cTn id="121" fill="hold">
                            <p:stCondLst>
                              <p:cond delay="500"/>
                            </p:stCondLst>
                            <p:childTnLst>
                              <p:par>
                                <p:cTn id="122" presetID="12" presetClass="entr" presetSubtype="1" fill="hold" nodeType="afterEffect">
                                  <p:stCondLst>
                                    <p:cond delay="0"/>
                                  </p:stCondLst>
                                  <p:childTnLst>
                                    <p:set>
                                      <p:cBhvr>
                                        <p:cTn id="123" dur="1" fill="hold">
                                          <p:stCondLst>
                                            <p:cond delay="0"/>
                                          </p:stCondLst>
                                        </p:cTn>
                                        <p:tgtEl>
                                          <p:spTgt spid="567402"/>
                                        </p:tgtEl>
                                        <p:attrNameLst>
                                          <p:attrName>style.visibility</p:attrName>
                                        </p:attrNameLst>
                                      </p:cBhvr>
                                      <p:to>
                                        <p:strVal val="visible"/>
                                      </p:to>
                                    </p:set>
                                    <p:animEffect transition="in" filter="slide(fromTop)">
                                      <p:cBhvr>
                                        <p:cTn id="124" dur="500"/>
                                        <p:tgtEl>
                                          <p:spTgt spid="567402"/>
                                        </p:tgtEl>
                                      </p:cBhvr>
                                    </p:animEffect>
                                  </p:childTnLst>
                                </p:cTn>
                              </p:par>
                            </p:childTnLst>
                          </p:cTn>
                        </p:par>
                        <p:par>
                          <p:cTn id="125" fill="hold">
                            <p:stCondLst>
                              <p:cond delay="1000"/>
                            </p:stCondLst>
                            <p:childTnLst>
                              <p:par>
                                <p:cTn id="126" presetID="22" presetClass="entr" presetSubtype="8" fill="hold" nodeType="afterEffect">
                                  <p:stCondLst>
                                    <p:cond delay="0"/>
                                  </p:stCondLst>
                                  <p:childTnLst>
                                    <p:set>
                                      <p:cBhvr>
                                        <p:cTn id="127" dur="1" fill="hold">
                                          <p:stCondLst>
                                            <p:cond delay="0"/>
                                          </p:stCondLst>
                                        </p:cTn>
                                        <p:tgtEl>
                                          <p:spTgt spid="567437"/>
                                        </p:tgtEl>
                                        <p:attrNameLst>
                                          <p:attrName>style.visibility</p:attrName>
                                        </p:attrNameLst>
                                      </p:cBhvr>
                                      <p:to>
                                        <p:strVal val="visible"/>
                                      </p:to>
                                    </p:set>
                                    <p:animEffect transition="in" filter="wipe(left)">
                                      <p:cBhvr>
                                        <p:cTn id="128" dur="500"/>
                                        <p:tgtEl>
                                          <p:spTgt spid="567437"/>
                                        </p:tgtEl>
                                      </p:cBhvr>
                                    </p:animEffect>
                                  </p:childTnLst>
                                </p:cTn>
                              </p:par>
                              <p:par>
                                <p:cTn id="129" presetID="22" presetClass="entr" presetSubtype="8" fill="hold" nodeType="withEffect">
                                  <p:stCondLst>
                                    <p:cond delay="0"/>
                                  </p:stCondLst>
                                  <p:childTnLst>
                                    <p:set>
                                      <p:cBhvr>
                                        <p:cTn id="130" dur="1" fill="hold">
                                          <p:stCondLst>
                                            <p:cond delay="0"/>
                                          </p:stCondLst>
                                        </p:cTn>
                                        <p:tgtEl>
                                          <p:spTgt spid="567438"/>
                                        </p:tgtEl>
                                        <p:attrNameLst>
                                          <p:attrName>style.visibility</p:attrName>
                                        </p:attrNameLst>
                                      </p:cBhvr>
                                      <p:to>
                                        <p:strVal val="visible"/>
                                      </p:to>
                                    </p:set>
                                    <p:animEffect transition="in" filter="wipe(left)">
                                      <p:cBhvr>
                                        <p:cTn id="131" dur="500"/>
                                        <p:tgtEl>
                                          <p:spTgt spid="567438"/>
                                        </p:tgtEl>
                                      </p:cBhvr>
                                    </p:animEffect>
                                  </p:childTnLst>
                                </p:cTn>
                              </p:par>
                              <p:par>
                                <p:cTn id="132" presetID="22" presetClass="entr" presetSubtype="8" fill="hold" nodeType="withEffect">
                                  <p:stCondLst>
                                    <p:cond delay="0"/>
                                  </p:stCondLst>
                                  <p:childTnLst>
                                    <p:set>
                                      <p:cBhvr>
                                        <p:cTn id="133" dur="1" fill="hold">
                                          <p:stCondLst>
                                            <p:cond delay="0"/>
                                          </p:stCondLst>
                                        </p:cTn>
                                        <p:tgtEl>
                                          <p:spTgt spid="567439"/>
                                        </p:tgtEl>
                                        <p:attrNameLst>
                                          <p:attrName>style.visibility</p:attrName>
                                        </p:attrNameLst>
                                      </p:cBhvr>
                                      <p:to>
                                        <p:strVal val="visible"/>
                                      </p:to>
                                    </p:set>
                                    <p:animEffect transition="in" filter="wipe(left)">
                                      <p:cBhvr>
                                        <p:cTn id="134" dur="500"/>
                                        <p:tgtEl>
                                          <p:spTgt spid="567439"/>
                                        </p:tgtEl>
                                      </p:cBhvr>
                                    </p:animEffect>
                                  </p:childTnLst>
                                </p:cTn>
                              </p:par>
                              <p:par>
                                <p:cTn id="135" presetID="22" presetClass="entr" presetSubtype="8" fill="hold" nodeType="withEffect">
                                  <p:stCondLst>
                                    <p:cond delay="0"/>
                                  </p:stCondLst>
                                  <p:childTnLst>
                                    <p:set>
                                      <p:cBhvr>
                                        <p:cTn id="136" dur="1" fill="hold">
                                          <p:stCondLst>
                                            <p:cond delay="0"/>
                                          </p:stCondLst>
                                        </p:cTn>
                                        <p:tgtEl>
                                          <p:spTgt spid="567440"/>
                                        </p:tgtEl>
                                        <p:attrNameLst>
                                          <p:attrName>style.visibility</p:attrName>
                                        </p:attrNameLst>
                                      </p:cBhvr>
                                      <p:to>
                                        <p:strVal val="visible"/>
                                      </p:to>
                                    </p:set>
                                    <p:animEffect transition="in" filter="wipe(left)">
                                      <p:cBhvr>
                                        <p:cTn id="137" dur="500"/>
                                        <p:tgtEl>
                                          <p:spTgt spid="567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298" grpId="0" animBg="1"/>
      <p:bldP spid="567299" grpId="0" animBg="1"/>
      <p:bldP spid="567300" grpId="0" animBg="1"/>
      <p:bldP spid="567301" grpId="0" animBg="1"/>
      <p:bldP spid="567353" grpId="0" autoUpdateAnimBg="0"/>
      <p:bldP spid="567353" grpId="1"/>
      <p:bldP spid="567354" grpId="0" autoUpdateAnimBg="0"/>
      <p:bldP spid="567354" grpId="1"/>
      <p:bldP spid="567355" grpId="0" autoUpdateAnimBg="0"/>
      <p:bldP spid="567355" grpId="1"/>
      <p:bldP spid="567356" grpId="0" autoUpdateAnimBg="0"/>
      <p:bldP spid="567356" grpId="1"/>
      <p:bldP spid="567357" grpId="0" autoUpdateAnimBg="0"/>
      <p:bldP spid="567357" grpId="1"/>
      <p:bldP spid="567370" grpId="0" autoUpdateAnimBg="0"/>
      <p:bldP spid="567370" grpId="1"/>
      <p:bldP spid="567371" grpId="0" autoUpdateAnimBg="0"/>
      <p:bldP spid="567371" grpId="1"/>
      <p:bldP spid="567384" grpId="0" autoUpdateAnimBg="0"/>
      <p:bldP spid="567384" grpId="1"/>
      <p:bldP spid="567385" grpId="0" autoUpdateAnimBg="0"/>
      <p:bldP spid="567385" grpId="1"/>
      <p:bldP spid="567436"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2"/>
          <p:cNvSpPr>
            <a:spLocks noGrp="1" noChangeArrowheads="1"/>
          </p:cNvSpPr>
          <p:nvPr>
            <p:ph type="title"/>
          </p:nvPr>
        </p:nvSpPr>
        <p:spPr/>
        <p:txBody>
          <a:bodyPr/>
          <a:lstStyle/>
          <a:p>
            <a:r>
              <a:rPr lang="en-US" altLang="zh-CN" dirty="0"/>
              <a:t>5.3.6  </a:t>
            </a:r>
            <a:r>
              <a:rPr lang="zh-CN" altLang="en-US" dirty="0"/>
              <a:t>外部中断输入</a:t>
            </a:r>
          </a:p>
        </p:txBody>
      </p:sp>
      <p:graphicFrame>
        <p:nvGraphicFramePr>
          <p:cNvPr id="568325" name="Group 5"/>
          <p:cNvGraphicFramePr>
            <a:graphicFrameLocks noGrp="1"/>
          </p:cNvGraphicFramePr>
          <p:nvPr>
            <p:ph type="tbl" idx="1"/>
          </p:nvPr>
        </p:nvGraphicFramePr>
        <p:xfrm>
          <a:off x="3216275" y="3578225"/>
          <a:ext cx="5734050" cy="2743200"/>
        </p:xfrm>
        <a:graphic>
          <a:graphicData uri="http://schemas.openxmlformats.org/drawingml/2006/table">
            <a:tbl>
              <a:tblPr/>
              <a:tblGrid>
                <a:gridCol w="1773238">
                  <a:extLst>
                    <a:ext uri="{9D8B030D-6E8A-4147-A177-3AD203B41FA5}">
                      <a16:colId xmlns:a16="http://schemas.microsoft.com/office/drawing/2014/main" val="20000"/>
                    </a:ext>
                  </a:extLst>
                </a:gridCol>
                <a:gridCol w="1944687">
                  <a:extLst>
                    <a:ext uri="{9D8B030D-6E8A-4147-A177-3AD203B41FA5}">
                      <a16:colId xmlns:a16="http://schemas.microsoft.com/office/drawing/2014/main" val="20001"/>
                    </a:ext>
                  </a:extLst>
                </a:gridCol>
                <a:gridCol w="2016125">
                  <a:extLst>
                    <a:ext uri="{9D8B030D-6E8A-4147-A177-3AD203B41FA5}">
                      <a16:colId xmlns:a16="http://schemas.microsoft.com/office/drawing/2014/main" val="20002"/>
                    </a:ext>
                  </a:extLst>
                </a:gridCol>
              </a:tblGrid>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外部中断名称</a:t>
                      </a:r>
                      <a:endParaRPr kumimoji="0" lang="zh-CN" altLang="en-US" sz="1200" b="1" i="0" u="none" strike="noStrike" cap="none" normalizeH="0" baseline="0">
                        <a:ln>
                          <a:noFill/>
                        </a:ln>
                        <a:solidFill>
                          <a:schemeClr val="tx1"/>
                        </a:solidFill>
                        <a:effectLst/>
                        <a:latin typeface="Arial"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引脚名</a:t>
                      </a:r>
                      <a:endParaRPr kumimoji="0" lang="zh-CN" altLang="en-US" sz="12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该引脚其它功能</a:t>
                      </a:r>
                      <a:endParaRPr kumimoji="0" lang="zh-CN" altLang="en-US" sz="12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外部中断</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EINT0</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P0.1</a:t>
                      </a:r>
                      <a:endParaRPr kumimoji="0" lang="en-US" altLang="zh-CN"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RXD0</a:t>
                      </a:r>
                      <a:endParaRPr kumimoji="0" lang="en-US" altLang="zh-CN"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P0.16</a:t>
                      </a:r>
                      <a:endParaRPr kumimoji="0" lang="en-US" altLang="zh-CN"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外部中断</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EINT1</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P0.3</a:t>
                      </a:r>
                      <a:endParaRPr kumimoji="0" lang="en-US" altLang="zh-CN"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SDA0</a:t>
                      </a:r>
                      <a:endParaRPr kumimoji="0" lang="en-US" altLang="zh-CN"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r h="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P0.14</a:t>
                      </a:r>
                      <a:endParaRPr kumimoji="0" lang="en-US" altLang="zh-CN"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DCD</a:t>
                      </a:r>
                      <a:endParaRPr kumimoji="0" lang="en-US" altLang="zh-CN"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r h="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外部中断</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EINT2</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P0.7</a:t>
                      </a:r>
                      <a:endParaRPr kumimoji="0" lang="en-US" altLang="zh-CN"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SSEL0</a:t>
                      </a:r>
                      <a:endParaRPr kumimoji="0" lang="en-US" altLang="zh-CN"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5"/>
                  </a:ext>
                </a:extLst>
              </a:tr>
              <a:tr h="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P0.15</a:t>
                      </a:r>
                      <a:endParaRPr kumimoji="0" lang="en-US" altLang="zh-CN"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RI</a:t>
                      </a:r>
                      <a:endParaRPr kumimoji="0" lang="en-US" altLang="zh-CN"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6"/>
                  </a:ext>
                </a:extLst>
              </a:tr>
              <a:tr h="0">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外部中断</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EINT3</a:t>
                      </a:r>
                      <a:r>
                        <a:rPr kumimoji="0" lang="zh-CN" altLang="en-US"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0" lang="zh-CN" altLang="en-US" sz="1200" b="0" i="0" u="none" strike="noStrike" cap="none" normalizeH="0" baseline="0">
                        <a:ln>
                          <a:noFill/>
                        </a:ln>
                        <a:solidFill>
                          <a:schemeClr val="tx1"/>
                        </a:solidFill>
                        <a:effectLst/>
                        <a:latin typeface="Arial"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P0.9</a:t>
                      </a:r>
                      <a:endParaRPr kumimoji="0" lang="en-US" altLang="zh-CN"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RXD1</a:t>
                      </a:r>
                      <a:endParaRPr kumimoji="0" lang="en-US" altLang="zh-CN"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7"/>
                  </a:ext>
                </a:extLst>
              </a:tr>
              <a:tr h="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P0.20</a:t>
                      </a:r>
                      <a:endParaRPr kumimoji="0" lang="en-US" altLang="zh-CN"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SSEL1</a:t>
                      </a:r>
                      <a:endParaRPr kumimoji="0" lang="en-US" altLang="zh-CN"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8"/>
                  </a:ext>
                </a:extLst>
              </a:tr>
              <a:tr h="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P0.30</a:t>
                      </a:r>
                      <a:endParaRPr kumimoji="0" lang="en-US" altLang="zh-CN" sz="1200" b="0"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200" b="0"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9"/>
                  </a:ext>
                </a:extLst>
              </a:tr>
            </a:tbl>
          </a:graphicData>
        </a:graphic>
      </p:graphicFrame>
      <p:sp>
        <p:nvSpPr>
          <p:cNvPr id="568323" name="Rectangle 3"/>
          <p:cNvSpPr>
            <a:spLocks noChangeArrowheads="1"/>
          </p:cNvSpPr>
          <p:nvPr/>
        </p:nvSpPr>
        <p:spPr bwMode="auto">
          <a:xfrm>
            <a:off x="2209800" y="17002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外部中断引脚设置</a:t>
            </a:r>
          </a:p>
        </p:txBody>
      </p:sp>
      <p:sp>
        <p:nvSpPr>
          <p:cNvPr id="568324" name="Text Box 4"/>
          <p:cNvSpPr txBox="1">
            <a:spLocks noChangeArrowheads="1"/>
          </p:cNvSpPr>
          <p:nvPr/>
        </p:nvSpPr>
        <p:spPr bwMode="auto">
          <a:xfrm>
            <a:off x="2352676" y="2312989"/>
            <a:ext cx="7559675" cy="1200329"/>
          </a:xfrm>
          <a:prstGeom prst="rect">
            <a:avLst/>
          </a:prstGeom>
          <a:noFill/>
          <a:ln w="9525" algn="ctr">
            <a:noFill/>
            <a:miter lim="800000"/>
            <a:headEnd/>
            <a:tailEnd/>
          </a:ln>
          <a:effectLst/>
        </p:spPr>
        <p:txBody>
          <a:bodyPr>
            <a:spAutoFit/>
          </a:bodyPr>
          <a:lstStyle/>
          <a:p>
            <a:pPr algn="l">
              <a:spcBef>
                <a:spcPct val="50000"/>
              </a:spcBef>
            </a:pPr>
            <a:r>
              <a:rPr lang="en-US" altLang="zh-CN" sz="2400">
                <a:latin typeface="华文新魏" pitchFamily="2" charset="-122"/>
                <a:ea typeface="华文新魏" pitchFamily="2" charset="-122"/>
              </a:rPr>
              <a:t>        LPC2000</a:t>
            </a:r>
            <a:r>
              <a:rPr lang="zh-CN" altLang="en-US" sz="2400">
                <a:latin typeface="华文新魏" pitchFamily="2" charset="-122"/>
                <a:ea typeface="华文新魏" pitchFamily="2" charset="-122"/>
              </a:rPr>
              <a:t>系列芯片中，外部中断输入功能的引脚绝大多数同时还作为通信上的一个功能引脚，这样处理器可以通过外部中断唤醒，之后引脚设为通讯端口。</a:t>
            </a:r>
          </a:p>
        </p:txBody>
      </p:sp>
      <p:sp>
        <p:nvSpPr>
          <p:cNvPr id="568366" name="Text Box 46"/>
          <p:cNvSpPr txBox="1">
            <a:spLocks noChangeArrowheads="1"/>
          </p:cNvSpPr>
          <p:nvPr/>
        </p:nvSpPr>
        <p:spPr bwMode="auto">
          <a:xfrm>
            <a:off x="2351089" y="2311400"/>
            <a:ext cx="7488237" cy="3970318"/>
          </a:xfrm>
          <a:prstGeom prst="rect">
            <a:avLst/>
          </a:prstGeom>
          <a:noFill/>
          <a:ln w="9525">
            <a:noFill/>
            <a:miter lim="800000"/>
            <a:headEnd/>
            <a:tailEnd/>
          </a:ln>
          <a:effectLst/>
        </p:spPr>
        <p:txBody>
          <a:bodyPr>
            <a:spAutoFit/>
          </a:bodyPr>
          <a:lstStyle/>
          <a:p>
            <a:pPr algn="l">
              <a:spcBef>
                <a:spcPct val="50000"/>
              </a:spcBef>
            </a:pPr>
            <a:r>
              <a:rPr lang="en-US" altLang="zh-CN" sz="2400">
                <a:latin typeface="华文新魏" pitchFamily="2" charset="-122"/>
                <a:ea typeface="华文新魏" pitchFamily="2" charset="-122"/>
              </a:rPr>
              <a:t>        LPC2000</a:t>
            </a:r>
            <a:r>
              <a:rPr lang="zh-CN" altLang="en-US" sz="2400">
                <a:latin typeface="华文新魏" pitchFamily="2" charset="-122"/>
                <a:ea typeface="华文新魏" pitchFamily="2" charset="-122"/>
              </a:rPr>
              <a:t>系列芯片允许多个引脚同时作为一个外部中断的输入引脚。根据其方式位和极性位的不同，外部中断逻辑处理如下：</a:t>
            </a:r>
            <a:r>
              <a:rPr lang="zh-CN" altLang="en-US"/>
              <a:t> </a:t>
            </a:r>
            <a:r>
              <a:rPr lang="zh-CN" altLang="en-US" sz="2400">
                <a:latin typeface="华文新魏" pitchFamily="2" charset="-122"/>
                <a:ea typeface="华文新魏" pitchFamily="2" charset="-122"/>
              </a:rPr>
              <a:t>       </a:t>
            </a:r>
          </a:p>
          <a:p>
            <a:pPr algn="l">
              <a:spcBef>
                <a:spcPct val="50000"/>
              </a:spcBef>
              <a:buClr>
                <a:srgbClr val="0000FF"/>
              </a:buClr>
              <a:buFont typeface="Wingdings" pitchFamily="2" charset="2"/>
              <a:buChar char="§"/>
            </a:pPr>
            <a:r>
              <a:rPr lang="zh-CN" altLang="en-US" sz="2400">
                <a:latin typeface="华文新魏" pitchFamily="2" charset="-122"/>
                <a:ea typeface="华文新魏" pitchFamily="2" charset="-122"/>
              </a:rPr>
              <a:t>低电平触发方式：作为</a:t>
            </a:r>
            <a:r>
              <a:rPr lang="en-US" altLang="zh-CN" sz="2400">
                <a:latin typeface="华文新魏" pitchFamily="2" charset="-122"/>
                <a:ea typeface="华文新魏" pitchFamily="2" charset="-122"/>
              </a:rPr>
              <a:t>EINT</a:t>
            </a:r>
            <a:r>
              <a:rPr lang="zh-CN" altLang="en-US" sz="2400">
                <a:latin typeface="华文新魏" pitchFamily="2" charset="-122"/>
                <a:ea typeface="华文新魏" pitchFamily="2" charset="-122"/>
              </a:rPr>
              <a:t>功能的全部引脚的状态</a:t>
            </a:r>
            <a:r>
              <a:rPr lang="zh-CN" altLang="en-US" sz="2400">
                <a:solidFill>
                  <a:srgbClr val="FF0000"/>
                </a:solidFill>
                <a:latin typeface="华文新魏" pitchFamily="2" charset="-122"/>
                <a:ea typeface="华文新魏" pitchFamily="2" charset="-122"/>
              </a:rPr>
              <a:t>相与</a:t>
            </a:r>
            <a:r>
              <a:rPr lang="zh-CN" altLang="en-US" sz="2400">
                <a:latin typeface="华文新魏" pitchFamily="2" charset="-122"/>
                <a:ea typeface="华文新魏" pitchFamily="2" charset="-122"/>
              </a:rPr>
              <a:t>后作为输入信号；</a:t>
            </a:r>
          </a:p>
          <a:p>
            <a:pPr algn="l">
              <a:spcBef>
                <a:spcPct val="50000"/>
              </a:spcBef>
              <a:buClr>
                <a:srgbClr val="0000FF"/>
              </a:buClr>
              <a:buFont typeface="Wingdings" pitchFamily="2" charset="2"/>
              <a:buChar char="§"/>
            </a:pPr>
            <a:r>
              <a:rPr lang="zh-CN" altLang="en-US" sz="2400">
                <a:latin typeface="华文新魏" pitchFamily="2" charset="-122"/>
                <a:ea typeface="华文新魏" pitchFamily="2" charset="-122"/>
              </a:rPr>
              <a:t>高电平触发方式：作为</a:t>
            </a:r>
            <a:r>
              <a:rPr lang="en-US" altLang="zh-CN" sz="2400">
                <a:latin typeface="华文新魏" pitchFamily="2" charset="-122"/>
                <a:ea typeface="华文新魏" pitchFamily="2" charset="-122"/>
              </a:rPr>
              <a:t>EINT</a:t>
            </a:r>
            <a:r>
              <a:rPr lang="zh-CN" altLang="en-US" sz="2400">
                <a:latin typeface="华文新魏" pitchFamily="2" charset="-122"/>
                <a:ea typeface="华文新魏" pitchFamily="2" charset="-122"/>
              </a:rPr>
              <a:t>功能的全部引脚的状态</a:t>
            </a:r>
            <a:r>
              <a:rPr lang="zh-CN" altLang="en-US" sz="2400">
                <a:solidFill>
                  <a:srgbClr val="FF0000"/>
                </a:solidFill>
                <a:latin typeface="华文新魏" pitchFamily="2" charset="-122"/>
                <a:ea typeface="华文新魏" pitchFamily="2" charset="-122"/>
              </a:rPr>
              <a:t>相或</a:t>
            </a:r>
            <a:r>
              <a:rPr lang="zh-CN" altLang="en-US" sz="2400">
                <a:latin typeface="华文新魏" pitchFamily="2" charset="-122"/>
                <a:ea typeface="华文新魏" pitchFamily="2" charset="-122"/>
              </a:rPr>
              <a:t>后作为输入信号；</a:t>
            </a:r>
          </a:p>
          <a:p>
            <a:pPr algn="l">
              <a:spcBef>
                <a:spcPct val="50000"/>
              </a:spcBef>
              <a:buClr>
                <a:srgbClr val="0000FF"/>
              </a:buClr>
              <a:buFont typeface="Wingdings" pitchFamily="2" charset="2"/>
              <a:buChar char="§"/>
            </a:pPr>
            <a:r>
              <a:rPr lang="zh-CN" altLang="en-US" sz="2400">
                <a:latin typeface="华文新魏" pitchFamily="2" charset="-122"/>
                <a:ea typeface="华文新魏" pitchFamily="2" charset="-122"/>
              </a:rPr>
              <a:t>边沿触发方式：只使用</a:t>
            </a:r>
            <a:r>
              <a:rPr lang="en-US" altLang="zh-CN" sz="2400">
                <a:latin typeface="华文新魏" pitchFamily="2" charset="-122"/>
                <a:ea typeface="华文新魏" pitchFamily="2" charset="-122"/>
              </a:rPr>
              <a:t>GPIO</a:t>
            </a:r>
            <a:r>
              <a:rPr lang="zh-CN" altLang="en-US" sz="2400">
                <a:latin typeface="华文新魏" pitchFamily="2" charset="-122"/>
                <a:ea typeface="华文新魏" pitchFamily="2" charset="-122"/>
              </a:rPr>
              <a:t>端口号最低的那个引脚，并且与极性设置无关。</a:t>
            </a:r>
          </a:p>
        </p:txBody>
      </p:sp>
      <p:sp>
        <p:nvSpPr>
          <p:cNvPr id="568367" name="Text Box 47"/>
          <p:cNvSpPr txBox="1">
            <a:spLocks noChangeArrowheads="1"/>
          </p:cNvSpPr>
          <p:nvPr/>
        </p:nvSpPr>
        <p:spPr bwMode="auto">
          <a:xfrm>
            <a:off x="2351089" y="2509838"/>
            <a:ext cx="7488237" cy="2677656"/>
          </a:xfrm>
          <a:prstGeom prst="rect">
            <a:avLst/>
          </a:prstGeom>
          <a:noFill/>
          <a:ln w="9525">
            <a:noFill/>
            <a:miter lim="800000"/>
            <a:headEnd/>
            <a:tailEnd/>
          </a:ln>
          <a:effectLst/>
        </p:spPr>
        <p:txBody>
          <a:bodyPr>
            <a:spAutoFit/>
          </a:bodyPr>
          <a:lstStyle/>
          <a:p>
            <a:pPr algn="l">
              <a:spcBef>
                <a:spcPct val="50000"/>
              </a:spcBef>
            </a:pPr>
            <a:r>
              <a:rPr lang="en-US" altLang="zh-CN" sz="2400">
                <a:latin typeface="华文新魏" pitchFamily="2" charset="-122"/>
                <a:ea typeface="华文新魏" pitchFamily="2" charset="-122"/>
              </a:rPr>
              <a:t>       </a:t>
            </a:r>
            <a:r>
              <a:rPr lang="zh-CN" altLang="en-US" sz="2400">
                <a:latin typeface="华文新魏" pitchFamily="2" charset="-122"/>
                <a:ea typeface="华文新魏" pitchFamily="2" charset="-122"/>
              </a:rPr>
              <a:t>在实际应用中的</a:t>
            </a:r>
            <a:r>
              <a:rPr lang="zh-CN" altLang="en-US" sz="2400">
                <a:solidFill>
                  <a:srgbClr val="FF0000"/>
                </a:solidFill>
                <a:latin typeface="华文新魏" pitchFamily="2" charset="-122"/>
                <a:ea typeface="华文新魏" pitchFamily="2" charset="-122"/>
              </a:rPr>
              <a:t>注意点</a:t>
            </a:r>
            <a:r>
              <a:rPr lang="zh-CN" altLang="en-US" sz="2400">
                <a:latin typeface="华文新魏" pitchFamily="2" charset="-122"/>
                <a:ea typeface="华文新魏" pitchFamily="2" charset="-122"/>
              </a:rPr>
              <a:t>：</a:t>
            </a:r>
          </a:p>
          <a:p>
            <a:pPr algn="l">
              <a:spcBef>
                <a:spcPct val="50000"/>
              </a:spcBef>
              <a:buClr>
                <a:srgbClr val="0000FF"/>
              </a:buClr>
              <a:buFont typeface="Wingdings" pitchFamily="2" charset="2"/>
              <a:buChar char="§"/>
            </a:pPr>
            <a:r>
              <a:rPr lang="zh-CN" altLang="en-US" sz="2400">
                <a:latin typeface="华文新魏" pitchFamily="2" charset="-122"/>
                <a:ea typeface="华文新魏" pitchFamily="2" charset="-122"/>
              </a:rPr>
              <a:t>如果要产生外部中断，除了引脚连接模块的设置，还需设置</a:t>
            </a:r>
            <a:r>
              <a:rPr lang="en-US" altLang="zh-CN" sz="2400">
                <a:latin typeface="华文新魏" pitchFamily="2" charset="-122"/>
                <a:ea typeface="华文新魏" pitchFamily="2" charset="-122"/>
              </a:rPr>
              <a:t>VIC</a:t>
            </a:r>
            <a:r>
              <a:rPr lang="zh-CN" altLang="en-US" sz="2400">
                <a:latin typeface="华文新魏" pitchFamily="2" charset="-122"/>
                <a:ea typeface="华文新魏" pitchFamily="2" charset="-122"/>
              </a:rPr>
              <a:t>模块，否则外部中断只能反映在</a:t>
            </a:r>
            <a:r>
              <a:rPr lang="en-US" altLang="zh-CN" sz="2400">
                <a:latin typeface="华文新魏" pitchFamily="2" charset="-122"/>
                <a:ea typeface="华文新魏" pitchFamily="2" charset="-122"/>
              </a:rPr>
              <a:t>EXTINT</a:t>
            </a:r>
            <a:r>
              <a:rPr lang="zh-CN" altLang="en-US" sz="2400">
                <a:latin typeface="华文新魏" pitchFamily="2" charset="-122"/>
                <a:ea typeface="华文新魏" pitchFamily="2" charset="-122"/>
              </a:rPr>
              <a:t>寄存器中；</a:t>
            </a:r>
          </a:p>
          <a:p>
            <a:pPr algn="l">
              <a:spcBef>
                <a:spcPct val="50000"/>
              </a:spcBef>
              <a:buClr>
                <a:srgbClr val="0000FF"/>
              </a:buClr>
              <a:buFont typeface="Wingdings" pitchFamily="2" charset="2"/>
              <a:buChar char="§"/>
            </a:pPr>
            <a:r>
              <a:rPr lang="zh-CN" altLang="en-US" sz="2400">
                <a:latin typeface="华文新魏" pitchFamily="2" charset="-122"/>
                <a:ea typeface="华文新魏" pitchFamily="2" charset="-122"/>
              </a:rPr>
              <a:t>要使器件进入掉电模式并通过外部中断唤醒，软件应该正确设置引脚的外部中断功能，再进入掉电模式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68323"/>
                                        </p:tgtEl>
                                        <p:attrNameLst>
                                          <p:attrName>style.visibility</p:attrName>
                                        </p:attrNameLst>
                                      </p:cBhvr>
                                      <p:to>
                                        <p:strVal val="visible"/>
                                      </p:to>
                                    </p:set>
                                    <p:anim calcmode="lin" valueType="num">
                                      <p:cBhvr additive="base">
                                        <p:cTn id="7" dur="500" fill="hold"/>
                                        <p:tgtEl>
                                          <p:spTgt spid="568323"/>
                                        </p:tgtEl>
                                        <p:attrNameLst>
                                          <p:attrName>ppt_x</p:attrName>
                                        </p:attrNameLst>
                                      </p:cBhvr>
                                      <p:tavLst>
                                        <p:tav tm="0">
                                          <p:val>
                                            <p:strVal val="1+#ppt_w/2"/>
                                          </p:val>
                                        </p:tav>
                                        <p:tav tm="100000">
                                          <p:val>
                                            <p:strVal val="#ppt_x"/>
                                          </p:val>
                                        </p:tav>
                                      </p:tavLst>
                                    </p:anim>
                                    <p:anim calcmode="lin" valueType="num">
                                      <p:cBhvr additive="base">
                                        <p:cTn id="8" dur="500" fill="hold"/>
                                        <p:tgtEl>
                                          <p:spTgt spid="56832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568324"/>
                                        </p:tgtEl>
                                        <p:attrNameLst>
                                          <p:attrName>style.visibility</p:attrName>
                                        </p:attrNameLst>
                                      </p:cBhvr>
                                      <p:to>
                                        <p:strVal val="visible"/>
                                      </p:to>
                                    </p:set>
                                    <p:animEffect transition="in" filter="box(in)">
                                      <p:cBhvr>
                                        <p:cTn id="12" dur="500"/>
                                        <p:tgtEl>
                                          <p:spTgt spid="568324"/>
                                        </p:tgtEl>
                                      </p:cBhvr>
                                    </p:animEffect>
                                  </p:childTnLst>
                                </p:cTn>
                              </p:par>
                            </p:childTnLst>
                          </p:cTn>
                        </p:par>
                        <p:par>
                          <p:cTn id="13" fill="hold">
                            <p:stCondLst>
                              <p:cond delay="1000"/>
                            </p:stCondLst>
                            <p:childTnLst>
                              <p:par>
                                <p:cTn id="14" presetID="12" presetClass="entr" presetSubtype="1" fill="hold" nodeType="afterEffect">
                                  <p:stCondLst>
                                    <p:cond delay="0"/>
                                  </p:stCondLst>
                                  <p:childTnLst>
                                    <p:set>
                                      <p:cBhvr>
                                        <p:cTn id="15" dur="1" fill="hold">
                                          <p:stCondLst>
                                            <p:cond delay="0"/>
                                          </p:stCondLst>
                                        </p:cTn>
                                        <p:tgtEl>
                                          <p:spTgt spid="568325"/>
                                        </p:tgtEl>
                                        <p:attrNameLst>
                                          <p:attrName>style.visibility</p:attrName>
                                        </p:attrNameLst>
                                      </p:cBhvr>
                                      <p:to>
                                        <p:strVal val="visible"/>
                                      </p:to>
                                    </p:set>
                                    <p:animEffect transition="in" filter="slide(fromTop)">
                                      <p:cBhvr>
                                        <p:cTn id="16" dur="500"/>
                                        <p:tgtEl>
                                          <p:spTgt spid="56832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568324"/>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568325"/>
                                        </p:tgtEl>
                                        <p:attrNameLst>
                                          <p:attrName>style.visibility</p:attrName>
                                        </p:attrNameLst>
                                      </p:cBhvr>
                                      <p:to>
                                        <p:strVal val="hidden"/>
                                      </p:to>
                                    </p:set>
                                  </p:childTnLst>
                                </p:cTn>
                              </p:par>
                              <p:par>
                                <p:cTn id="23" presetID="4" presetClass="entr" presetSubtype="16" fill="hold" grpId="0" nodeType="withEffect">
                                  <p:stCondLst>
                                    <p:cond delay="0"/>
                                  </p:stCondLst>
                                  <p:childTnLst>
                                    <p:set>
                                      <p:cBhvr>
                                        <p:cTn id="24" dur="1" fill="hold">
                                          <p:stCondLst>
                                            <p:cond delay="0"/>
                                          </p:stCondLst>
                                        </p:cTn>
                                        <p:tgtEl>
                                          <p:spTgt spid="568366"/>
                                        </p:tgtEl>
                                        <p:attrNameLst>
                                          <p:attrName>style.visibility</p:attrName>
                                        </p:attrNameLst>
                                      </p:cBhvr>
                                      <p:to>
                                        <p:strVal val="visible"/>
                                      </p:to>
                                    </p:set>
                                    <p:animEffect transition="in" filter="box(in)">
                                      <p:cBhvr>
                                        <p:cTn id="25" dur="500"/>
                                        <p:tgtEl>
                                          <p:spTgt spid="568366"/>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1" nodeType="clickEffect">
                                  <p:stCondLst>
                                    <p:cond delay="0"/>
                                  </p:stCondLst>
                                  <p:childTnLst>
                                    <p:set>
                                      <p:cBhvr>
                                        <p:cTn id="29" dur="1" fill="hold">
                                          <p:stCondLst>
                                            <p:cond delay="0"/>
                                          </p:stCondLst>
                                        </p:cTn>
                                        <p:tgtEl>
                                          <p:spTgt spid="568366"/>
                                        </p:tgtEl>
                                        <p:attrNameLst>
                                          <p:attrName>style.visibility</p:attrName>
                                        </p:attrNameLst>
                                      </p:cBhvr>
                                      <p:to>
                                        <p:strVal val="hidden"/>
                                      </p:to>
                                    </p:set>
                                  </p:childTnLst>
                                </p:cTn>
                              </p:par>
                            </p:childTnLst>
                          </p:cTn>
                        </p:par>
                        <p:par>
                          <p:cTn id="30" fill="hold">
                            <p:stCondLst>
                              <p:cond delay="0"/>
                            </p:stCondLst>
                            <p:childTnLst>
                              <p:par>
                                <p:cTn id="31" presetID="4" presetClass="entr" presetSubtype="16" fill="hold" grpId="0" nodeType="afterEffect">
                                  <p:stCondLst>
                                    <p:cond delay="0"/>
                                  </p:stCondLst>
                                  <p:childTnLst>
                                    <p:set>
                                      <p:cBhvr>
                                        <p:cTn id="32" dur="1" fill="hold">
                                          <p:stCondLst>
                                            <p:cond delay="0"/>
                                          </p:stCondLst>
                                        </p:cTn>
                                        <p:tgtEl>
                                          <p:spTgt spid="568367"/>
                                        </p:tgtEl>
                                        <p:attrNameLst>
                                          <p:attrName>style.visibility</p:attrName>
                                        </p:attrNameLst>
                                      </p:cBhvr>
                                      <p:to>
                                        <p:strVal val="visible"/>
                                      </p:to>
                                    </p:set>
                                    <p:animEffect transition="in" filter="box(in)">
                                      <p:cBhvr>
                                        <p:cTn id="33" dur="500"/>
                                        <p:tgtEl>
                                          <p:spTgt spid="568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8323" grpId="0"/>
      <p:bldP spid="568324" grpId="0"/>
      <p:bldP spid="568324" grpId="1"/>
      <p:bldP spid="568366" grpId="0" autoUpdateAnimBg="0"/>
      <p:bldP spid="568366" grpId="1"/>
      <p:bldP spid="568367"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p:cNvSpPr>
            <a:spLocks noChangeArrowheads="1"/>
          </p:cNvSpPr>
          <p:nvPr/>
        </p:nvSpPr>
        <p:spPr bwMode="auto">
          <a:xfrm>
            <a:off x="2209800" y="609600"/>
            <a:ext cx="7772400" cy="1143000"/>
          </a:xfrm>
          <a:prstGeom prst="rect">
            <a:avLst/>
          </a:prstGeom>
          <a:noFill/>
          <a:ln w="9525">
            <a:noFill/>
            <a:miter lim="800000"/>
            <a:headEnd/>
            <a:tailEnd/>
          </a:ln>
          <a:effectLst/>
        </p:spPr>
        <p:txBody>
          <a:bodyPr anchor="ctr"/>
          <a:lstStyle/>
          <a:p>
            <a:r>
              <a:rPr lang="en-US" altLang="zh-CN" sz="4400" dirty="0"/>
              <a:t>5.3.6</a:t>
            </a:r>
            <a:r>
              <a:rPr lang="en-US" altLang="zh-CN" sz="4400" dirty="0">
                <a:solidFill>
                  <a:schemeClr val="tx2"/>
                </a:solidFill>
                <a:latin typeface="Times New Roman" pitchFamily="18" charset="0"/>
              </a:rPr>
              <a:t>  </a:t>
            </a:r>
            <a:r>
              <a:rPr lang="zh-CN" altLang="en-US" sz="4400" dirty="0">
                <a:solidFill>
                  <a:schemeClr val="tx2"/>
                </a:solidFill>
                <a:latin typeface="Times New Roman" pitchFamily="18" charset="0"/>
              </a:rPr>
              <a:t>外部中断输入</a:t>
            </a:r>
          </a:p>
        </p:txBody>
      </p:sp>
      <p:sp>
        <p:nvSpPr>
          <p:cNvPr id="585731" name="Rectangle 3"/>
          <p:cNvSpPr>
            <a:spLocks noChangeArrowheads="1"/>
          </p:cNvSpPr>
          <p:nvPr/>
        </p:nvSpPr>
        <p:spPr bwMode="auto">
          <a:xfrm>
            <a:off x="2209800" y="17510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dirty="0">
                <a:latin typeface="Times New Roman" pitchFamily="18" charset="0"/>
              </a:rPr>
              <a:t>外部中断与</a:t>
            </a:r>
            <a:r>
              <a:rPr lang="en-US" altLang="zh-CN" sz="3200" dirty="0">
                <a:latin typeface="Times New Roman" pitchFamily="18" charset="0"/>
              </a:rPr>
              <a:t>VIC</a:t>
            </a:r>
            <a:r>
              <a:rPr lang="zh-CN" altLang="en-US" sz="3200" dirty="0">
                <a:latin typeface="Times New Roman" pitchFamily="18" charset="0"/>
              </a:rPr>
              <a:t>的关系</a:t>
            </a:r>
          </a:p>
        </p:txBody>
      </p:sp>
      <p:grpSp>
        <p:nvGrpSpPr>
          <p:cNvPr id="585766" name="Group 38"/>
          <p:cNvGrpSpPr>
            <a:grpSpLocks/>
          </p:cNvGrpSpPr>
          <p:nvPr/>
        </p:nvGrpSpPr>
        <p:grpSpPr bwMode="auto">
          <a:xfrm>
            <a:off x="2000250" y="4081463"/>
            <a:ext cx="8096250" cy="1847850"/>
            <a:chOff x="300" y="2571"/>
            <a:chExt cx="5100" cy="1164"/>
          </a:xfrm>
        </p:grpSpPr>
        <p:sp>
          <p:nvSpPr>
            <p:cNvPr id="585732" name="Rectangle 4"/>
            <p:cNvSpPr>
              <a:spLocks noChangeArrowheads="1"/>
            </p:cNvSpPr>
            <p:nvPr/>
          </p:nvSpPr>
          <p:spPr bwMode="auto">
            <a:xfrm>
              <a:off x="2353" y="3058"/>
              <a:ext cx="492" cy="33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585733" name="Rectangle 5"/>
            <p:cNvSpPr>
              <a:spLocks noChangeArrowheads="1"/>
            </p:cNvSpPr>
            <p:nvPr/>
          </p:nvSpPr>
          <p:spPr bwMode="auto">
            <a:xfrm>
              <a:off x="1509" y="3100"/>
              <a:ext cx="330" cy="264"/>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585734" name="Rectangle 6"/>
            <p:cNvSpPr>
              <a:spLocks noChangeArrowheads="1"/>
            </p:cNvSpPr>
            <p:nvPr/>
          </p:nvSpPr>
          <p:spPr bwMode="auto">
            <a:xfrm>
              <a:off x="949" y="3125"/>
              <a:ext cx="432" cy="232"/>
            </a:xfrm>
            <a:prstGeom prst="rect">
              <a:avLst/>
            </a:prstGeom>
            <a:solidFill>
              <a:srgbClr val="FFCC99"/>
            </a:solidFill>
            <a:ln w="9525" algn="ctr">
              <a:solidFill>
                <a:schemeClr val="tx1"/>
              </a:solidFill>
              <a:miter lim="800000"/>
              <a:headEnd/>
              <a:tailEnd/>
            </a:ln>
            <a:effectLst/>
          </p:spPr>
          <p:txBody>
            <a:bodyPr wrap="none" anchor="ctr"/>
            <a:lstStyle/>
            <a:p>
              <a:r>
                <a:rPr lang="zh-CN" altLang="en-US" sz="1400">
                  <a:latin typeface="Arial" charset="0"/>
                </a:rPr>
                <a:t>通道</a:t>
              </a:r>
              <a:r>
                <a:rPr lang="en-US" altLang="zh-CN" sz="1400">
                  <a:latin typeface="Arial" charset="0"/>
                </a:rPr>
                <a:t>14</a:t>
              </a:r>
            </a:p>
          </p:txBody>
        </p:sp>
        <p:sp>
          <p:nvSpPr>
            <p:cNvPr id="585735" name="Text Box 7"/>
            <p:cNvSpPr txBox="1">
              <a:spLocks noChangeArrowheads="1"/>
            </p:cNvSpPr>
            <p:nvPr/>
          </p:nvSpPr>
          <p:spPr bwMode="auto">
            <a:xfrm>
              <a:off x="300" y="3133"/>
              <a:ext cx="471"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EINT0</a:t>
              </a:r>
            </a:p>
          </p:txBody>
        </p:sp>
        <p:sp>
          <p:nvSpPr>
            <p:cNvPr id="585736" name="Text Box 8"/>
            <p:cNvSpPr txBox="1">
              <a:spLocks noChangeArrowheads="1"/>
            </p:cNvSpPr>
            <p:nvPr/>
          </p:nvSpPr>
          <p:spPr bwMode="auto">
            <a:xfrm>
              <a:off x="4401" y="2595"/>
              <a:ext cx="931" cy="192"/>
            </a:xfrm>
            <a:prstGeom prst="rect">
              <a:avLst/>
            </a:prstGeom>
            <a:noFill/>
            <a:ln w="9525" algn="ctr">
              <a:noFill/>
              <a:miter lim="800000"/>
              <a:headEnd/>
              <a:tailEnd/>
            </a:ln>
            <a:effectLst/>
          </p:spPr>
          <p:txBody>
            <a:bodyPr>
              <a:spAutoFit/>
            </a:bodyPr>
            <a:lstStyle/>
            <a:p>
              <a:r>
                <a:rPr lang="zh-CN" altLang="en-US" sz="1400">
                  <a:latin typeface="Times New Roman" pitchFamily="18" charset="0"/>
                </a:rPr>
                <a:t>向量</a:t>
              </a:r>
              <a:r>
                <a:rPr lang="en-US" altLang="zh-CN" sz="1400">
                  <a:latin typeface="Times New Roman" pitchFamily="18" charset="0"/>
                </a:rPr>
                <a:t>IRQ</a:t>
              </a:r>
              <a:r>
                <a:rPr lang="zh-CN" altLang="en-US" sz="1400">
                  <a:latin typeface="Times New Roman" pitchFamily="18" charset="0"/>
                </a:rPr>
                <a:t>通道</a:t>
              </a:r>
              <a:r>
                <a:rPr lang="en-US" altLang="zh-CN" sz="1400">
                  <a:latin typeface="Times New Roman" pitchFamily="18" charset="0"/>
                </a:rPr>
                <a:t>0</a:t>
              </a:r>
            </a:p>
          </p:txBody>
        </p:sp>
        <p:sp>
          <p:nvSpPr>
            <p:cNvPr id="585737" name="Text Box 9"/>
            <p:cNvSpPr txBox="1">
              <a:spLocks noChangeArrowheads="1"/>
            </p:cNvSpPr>
            <p:nvPr/>
          </p:nvSpPr>
          <p:spPr bwMode="auto">
            <a:xfrm>
              <a:off x="4401" y="3125"/>
              <a:ext cx="999" cy="192"/>
            </a:xfrm>
            <a:prstGeom prst="rect">
              <a:avLst/>
            </a:prstGeom>
            <a:noFill/>
            <a:ln w="9525" algn="ctr">
              <a:noFill/>
              <a:miter lim="800000"/>
              <a:headEnd/>
              <a:tailEnd/>
            </a:ln>
            <a:effectLst/>
          </p:spPr>
          <p:txBody>
            <a:bodyPr>
              <a:spAutoFit/>
            </a:bodyPr>
            <a:lstStyle/>
            <a:p>
              <a:r>
                <a:rPr lang="zh-CN" altLang="en-US" sz="1400">
                  <a:latin typeface="Times New Roman" pitchFamily="18" charset="0"/>
                </a:rPr>
                <a:t>向量</a:t>
              </a:r>
              <a:r>
                <a:rPr lang="en-US" altLang="zh-CN" sz="1400">
                  <a:latin typeface="Times New Roman" pitchFamily="18" charset="0"/>
                </a:rPr>
                <a:t>IRQ</a:t>
              </a:r>
              <a:r>
                <a:rPr lang="zh-CN" altLang="en-US" sz="1400">
                  <a:latin typeface="Times New Roman" pitchFamily="18" charset="0"/>
                </a:rPr>
                <a:t>通道</a:t>
              </a:r>
              <a:r>
                <a:rPr lang="en-US" altLang="zh-CN" sz="1400">
                  <a:latin typeface="Times New Roman" pitchFamily="18" charset="0"/>
                </a:rPr>
                <a:t>15</a:t>
              </a:r>
            </a:p>
          </p:txBody>
        </p:sp>
        <p:sp>
          <p:nvSpPr>
            <p:cNvPr id="585738" name="Text Box 10"/>
            <p:cNvSpPr txBox="1">
              <a:spLocks noChangeArrowheads="1"/>
            </p:cNvSpPr>
            <p:nvPr/>
          </p:nvSpPr>
          <p:spPr bwMode="auto">
            <a:xfrm>
              <a:off x="4401" y="3475"/>
              <a:ext cx="986" cy="192"/>
            </a:xfrm>
            <a:prstGeom prst="rect">
              <a:avLst/>
            </a:prstGeom>
            <a:noFill/>
            <a:ln w="9525" algn="ctr">
              <a:noFill/>
              <a:miter lim="800000"/>
              <a:headEnd/>
              <a:tailEnd/>
            </a:ln>
            <a:effectLst/>
          </p:spPr>
          <p:txBody>
            <a:bodyPr>
              <a:spAutoFit/>
            </a:bodyPr>
            <a:lstStyle/>
            <a:p>
              <a:r>
                <a:rPr lang="zh-CN" altLang="en-US" sz="1400">
                  <a:latin typeface="Times New Roman" pitchFamily="18" charset="0"/>
                </a:rPr>
                <a:t>非向量</a:t>
              </a:r>
              <a:r>
                <a:rPr lang="en-US" altLang="zh-CN" sz="1400">
                  <a:latin typeface="Times New Roman" pitchFamily="18" charset="0"/>
                </a:rPr>
                <a:t>IRQ</a:t>
              </a:r>
              <a:r>
                <a:rPr lang="zh-CN" altLang="en-US" sz="1400">
                  <a:latin typeface="Times New Roman" pitchFamily="18" charset="0"/>
                </a:rPr>
                <a:t>通道</a:t>
              </a:r>
            </a:p>
          </p:txBody>
        </p:sp>
        <p:sp>
          <p:nvSpPr>
            <p:cNvPr id="585739" name="Line 11"/>
            <p:cNvSpPr>
              <a:spLocks noChangeShapeType="1"/>
            </p:cNvSpPr>
            <p:nvPr/>
          </p:nvSpPr>
          <p:spPr bwMode="auto">
            <a:xfrm>
              <a:off x="4436" y="2774"/>
              <a:ext cx="88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5740" name="Line 12"/>
            <p:cNvSpPr>
              <a:spLocks noChangeShapeType="1"/>
            </p:cNvSpPr>
            <p:nvPr/>
          </p:nvSpPr>
          <p:spPr bwMode="auto">
            <a:xfrm>
              <a:off x="4446" y="3306"/>
              <a:ext cx="84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5741" name="Line 13"/>
            <p:cNvSpPr>
              <a:spLocks noChangeShapeType="1"/>
            </p:cNvSpPr>
            <p:nvPr/>
          </p:nvSpPr>
          <p:spPr bwMode="auto">
            <a:xfrm>
              <a:off x="4452" y="3652"/>
              <a:ext cx="842"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5742" name="Line 14"/>
            <p:cNvSpPr>
              <a:spLocks noChangeShapeType="1"/>
            </p:cNvSpPr>
            <p:nvPr/>
          </p:nvSpPr>
          <p:spPr bwMode="auto">
            <a:xfrm>
              <a:off x="4874" y="2876"/>
              <a:ext cx="0" cy="216"/>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85743" name="Line 15"/>
            <p:cNvSpPr>
              <a:spLocks noChangeShapeType="1"/>
            </p:cNvSpPr>
            <p:nvPr/>
          </p:nvSpPr>
          <p:spPr bwMode="auto">
            <a:xfrm>
              <a:off x="1388" y="3238"/>
              <a:ext cx="182"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585744" name="Line 16"/>
            <p:cNvSpPr>
              <a:spLocks noChangeShapeType="1"/>
            </p:cNvSpPr>
            <p:nvPr/>
          </p:nvSpPr>
          <p:spPr bwMode="auto">
            <a:xfrm>
              <a:off x="749" y="3238"/>
              <a:ext cx="2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5745" name="Line 17"/>
            <p:cNvSpPr>
              <a:spLocks noChangeShapeType="1"/>
            </p:cNvSpPr>
            <p:nvPr/>
          </p:nvSpPr>
          <p:spPr bwMode="auto">
            <a:xfrm>
              <a:off x="1758" y="3239"/>
              <a:ext cx="715" cy="0"/>
            </a:xfrm>
            <a:prstGeom prst="line">
              <a:avLst/>
            </a:prstGeom>
            <a:noFill/>
            <a:ln w="9525">
              <a:solidFill>
                <a:schemeClr val="tx1"/>
              </a:solidFill>
              <a:round/>
              <a:headEnd type="oval" w="sm" len="sm"/>
              <a:tailEnd type="oval" w="sm" len="sm"/>
            </a:ln>
            <a:effectLst/>
          </p:spPr>
          <p:txBody>
            <a:bodyPr wrap="none" anchor="ctr"/>
            <a:lstStyle/>
            <a:p>
              <a:endParaRPr lang="zh-CN" altLang="en-US"/>
            </a:p>
          </p:txBody>
        </p:sp>
        <p:sp>
          <p:nvSpPr>
            <p:cNvPr id="585746" name="Line 18"/>
            <p:cNvSpPr>
              <a:spLocks noChangeShapeType="1"/>
            </p:cNvSpPr>
            <p:nvPr/>
          </p:nvSpPr>
          <p:spPr bwMode="auto">
            <a:xfrm>
              <a:off x="2731" y="3130"/>
              <a:ext cx="558"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585747" name="Line 19"/>
            <p:cNvSpPr>
              <a:spLocks noChangeShapeType="1"/>
            </p:cNvSpPr>
            <p:nvPr/>
          </p:nvSpPr>
          <p:spPr bwMode="auto">
            <a:xfrm>
              <a:off x="2731" y="3334"/>
              <a:ext cx="420"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585748" name="Line 20"/>
            <p:cNvSpPr>
              <a:spLocks noChangeShapeType="1"/>
            </p:cNvSpPr>
            <p:nvPr/>
          </p:nvSpPr>
          <p:spPr bwMode="auto">
            <a:xfrm flipV="1">
              <a:off x="2479" y="3098"/>
              <a:ext cx="266" cy="140"/>
            </a:xfrm>
            <a:prstGeom prst="line">
              <a:avLst/>
            </a:prstGeom>
            <a:noFill/>
            <a:ln w="9525">
              <a:solidFill>
                <a:schemeClr val="tx1"/>
              </a:solidFill>
              <a:round/>
              <a:headEnd/>
              <a:tailEnd/>
            </a:ln>
            <a:effectLst/>
          </p:spPr>
          <p:txBody>
            <a:bodyPr wrap="none" anchor="ctr"/>
            <a:lstStyle/>
            <a:p>
              <a:endParaRPr lang="zh-CN" altLang="en-US"/>
            </a:p>
          </p:txBody>
        </p:sp>
        <p:sp>
          <p:nvSpPr>
            <p:cNvPr id="585749" name="Text Box 21"/>
            <p:cNvSpPr txBox="1">
              <a:spLocks noChangeArrowheads="1"/>
            </p:cNvSpPr>
            <p:nvPr/>
          </p:nvSpPr>
          <p:spPr bwMode="auto">
            <a:xfrm>
              <a:off x="2104" y="2776"/>
              <a:ext cx="982"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VICIntSelect[14]</a:t>
              </a:r>
            </a:p>
          </p:txBody>
        </p:sp>
        <p:sp>
          <p:nvSpPr>
            <p:cNvPr id="585750" name="Line 22"/>
            <p:cNvSpPr>
              <a:spLocks noChangeShapeType="1"/>
            </p:cNvSpPr>
            <p:nvPr/>
          </p:nvSpPr>
          <p:spPr bwMode="auto">
            <a:xfrm flipV="1">
              <a:off x="1569" y="3160"/>
              <a:ext cx="186" cy="78"/>
            </a:xfrm>
            <a:prstGeom prst="line">
              <a:avLst/>
            </a:prstGeom>
            <a:noFill/>
            <a:ln w="9525">
              <a:solidFill>
                <a:srgbClr val="FF0000"/>
              </a:solidFill>
              <a:round/>
              <a:headEnd/>
              <a:tailEnd/>
            </a:ln>
            <a:effectLst/>
          </p:spPr>
          <p:txBody>
            <a:bodyPr wrap="none" anchor="ctr"/>
            <a:lstStyle/>
            <a:p>
              <a:endParaRPr lang="zh-CN" altLang="en-US"/>
            </a:p>
          </p:txBody>
        </p:sp>
        <p:sp>
          <p:nvSpPr>
            <p:cNvPr id="585751" name="Text Box 23"/>
            <p:cNvSpPr txBox="1">
              <a:spLocks noChangeArrowheads="1"/>
            </p:cNvSpPr>
            <p:nvPr/>
          </p:nvSpPr>
          <p:spPr bwMode="auto">
            <a:xfrm>
              <a:off x="1170" y="2768"/>
              <a:ext cx="1005"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VICIntEnable[14]</a:t>
              </a:r>
            </a:p>
          </p:txBody>
        </p:sp>
        <p:sp>
          <p:nvSpPr>
            <p:cNvPr id="585752" name="Text Box 24"/>
            <p:cNvSpPr txBox="1">
              <a:spLocks noChangeArrowheads="1"/>
            </p:cNvSpPr>
            <p:nvPr/>
          </p:nvSpPr>
          <p:spPr bwMode="auto">
            <a:xfrm>
              <a:off x="2753" y="2971"/>
              <a:ext cx="469"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IRQ</a:t>
              </a:r>
            </a:p>
          </p:txBody>
        </p:sp>
        <p:sp>
          <p:nvSpPr>
            <p:cNvPr id="585753" name="Text Box 25"/>
            <p:cNvSpPr txBox="1">
              <a:spLocks noChangeArrowheads="1"/>
            </p:cNvSpPr>
            <p:nvPr/>
          </p:nvSpPr>
          <p:spPr bwMode="auto">
            <a:xfrm>
              <a:off x="2841" y="3181"/>
              <a:ext cx="300"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FIQ</a:t>
              </a:r>
            </a:p>
          </p:txBody>
        </p:sp>
        <p:grpSp>
          <p:nvGrpSpPr>
            <p:cNvPr id="585754" name="Group 26"/>
            <p:cNvGrpSpPr>
              <a:grpSpLocks/>
            </p:cNvGrpSpPr>
            <p:nvPr/>
          </p:nvGrpSpPr>
          <p:grpSpPr bwMode="auto">
            <a:xfrm>
              <a:off x="3559" y="2571"/>
              <a:ext cx="900" cy="390"/>
              <a:chOff x="3492" y="1368"/>
              <a:chExt cx="714" cy="390"/>
            </a:xfrm>
          </p:grpSpPr>
          <p:sp>
            <p:nvSpPr>
              <p:cNvPr id="585755" name="Rectangle 27"/>
              <p:cNvSpPr>
                <a:spLocks noChangeArrowheads="1"/>
              </p:cNvSpPr>
              <p:nvPr/>
            </p:nvSpPr>
            <p:spPr bwMode="auto">
              <a:xfrm>
                <a:off x="3492" y="1368"/>
                <a:ext cx="714" cy="210"/>
              </a:xfrm>
              <a:prstGeom prst="rect">
                <a:avLst/>
              </a:prstGeom>
              <a:solidFill>
                <a:srgbClr val="99CCFF"/>
              </a:solidFill>
              <a:ln w="9525" algn="ctr">
                <a:solidFill>
                  <a:schemeClr val="tx1"/>
                </a:solidFill>
                <a:miter lim="800000"/>
                <a:headEnd/>
                <a:tailEnd/>
              </a:ln>
              <a:effectLst/>
            </p:spPr>
            <p:txBody>
              <a:bodyPr wrap="none" anchor="ctr"/>
              <a:lstStyle/>
              <a:p>
                <a:r>
                  <a:rPr lang="en-US" altLang="zh-CN" sz="1400">
                    <a:latin typeface="Times New Roman" pitchFamily="18" charset="0"/>
                  </a:rPr>
                  <a:t>VICVectAddr0</a:t>
                </a:r>
              </a:p>
            </p:txBody>
          </p:sp>
          <p:sp>
            <p:nvSpPr>
              <p:cNvPr id="585756" name="Rectangle 28"/>
              <p:cNvSpPr>
                <a:spLocks noChangeArrowheads="1"/>
              </p:cNvSpPr>
              <p:nvPr/>
            </p:nvSpPr>
            <p:spPr bwMode="auto">
              <a:xfrm>
                <a:off x="3492" y="1572"/>
                <a:ext cx="714" cy="186"/>
              </a:xfrm>
              <a:prstGeom prst="rect">
                <a:avLst/>
              </a:prstGeom>
              <a:solidFill>
                <a:srgbClr val="CCFFCC"/>
              </a:solidFill>
              <a:ln w="9525" algn="ctr">
                <a:solidFill>
                  <a:schemeClr val="tx1"/>
                </a:solidFill>
                <a:miter lim="800000"/>
                <a:headEnd/>
                <a:tailEnd/>
              </a:ln>
              <a:effectLst/>
            </p:spPr>
            <p:txBody>
              <a:bodyPr wrap="none" anchor="ctr"/>
              <a:lstStyle/>
              <a:p>
                <a:r>
                  <a:rPr lang="en-US" altLang="zh-CN" sz="1400">
                    <a:latin typeface="Times New Roman" pitchFamily="18" charset="0"/>
                  </a:rPr>
                  <a:t>VICVectCntl0</a:t>
                </a:r>
              </a:p>
            </p:txBody>
          </p:sp>
        </p:grpSp>
        <p:grpSp>
          <p:nvGrpSpPr>
            <p:cNvPr id="585757" name="Group 29"/>
            <p:cNvGrpSpPr>
              <a:grpSpLocks/>
            </p:cNvGrpSpPr>
            <p:nvPr/>
          </p:nvGrpSpPr>
          <p:grpSpPr bwMode="auto">
            <a:xfrm>
              <a:off x="3559" y="3100"/>
              <a:ext cx="900" cy="390"/>
              <a:chOff x="3492" y="1368"/>
              <a:chExt cx="714" cy="390"/>
            </a:xfrm>
          </p:grpSpPr>
          <p:sp>
            <p:nvSpPr>
              <p:cNvPr id="585758" name="Rectangle 30"/>
              <p:cNvSpPr>
                <a:spLocks noChangeArrowheads="1"/>
              </p:cNvSpPr>
              <p:nvPr/>
            </p:nvSpPr>
            <p:spPr bwMode="auto">
              <a:xfrm>
                <a:off x="3492" y="1368"/>
                <a:ext cx="714" cy="210"/>
              </a:xfrm>
              <a:prstGeom prst="rect">
                <a:avLst/>
              </a:prstGeom>
              <a:solidFill>
                <a:srgbClr val="99CCFF"/>
              </a:solidFill>
              <a:ln w="9525" algn="ctr">
                <a:solidFill>
                  <a:schemeClr val="tx1"/>
                </a:solidFill>
                <a:miter lim="800000"/>
                <a:headEnd/>
                <a:tailEnd/>
              </a:ln>
              <a:effectLst/>
            </p:spPr>
            <p:txBody>
              <a:bodyPr wrap="none" anchor="ctr"/>
              <a:lstStyle/>
              <a:p>
                <a:r>
                  <a:rPr lang="en-US" altLang="zh-CN" sz="1400">
                    <a:latin typeface="Times New Roman" pitchFamily="18" charset="0"/>
                  </a:rPr>
                  <a:t>VICVectAddr15</a:t>
                </a:r>
              </a:p>
            </p:txBody>
          </p:sp>
          <p:sp>
            <p:nvSpPr>
              <p:cNvPr id="585759" name="Rectangle 31"/>
              <p:cNvSpPr>
                <a:spLocks noChangeArrowheads="1"/>
              </p:cNvSpPr>
              <p:nvPr/>
            </p:nvSpPr>
            <p:spPr bwMode="auto">
              <a:xfrm>
                <a:off x="3492" y="1572"/>
                <a:ext cx="714" cy="186"/>
              </a:xfrm>
              <a:prstGeom prst="rect">
                <a:avLst/>
              </a:prstGeom>
              <a:solidFill>
                <a:srgbClr val="CCFFCC"/>
              </a:solidFill>
              <a:ln w="9525" algn="ctr">
                <a:solidFill>
                  <a:schemeClr val="tx1"/>
                </a:solidFill>
                <a:miter lim="800000"/>
                <a:headEnd/>
                <a:tailEnd/>
              </a:ln>
              <a:effectLst/>
            </p:spPr>
            <p:txBody>
              <a:bodyPr wrap="none" anchor="ctr"/>
              <a:lstStyle/>
              <a:p>
                <a:r>
                  <a:rPr lang="en-US" altLang="zh-CN" sz="1400">
                    <a:latin typeface="Times New Roman" pitchFamily="18" charset="0"/>
                  </a:rPr>
                  <a:t>VICVectCntl15</a:t>
                </a:r>
              </a:p>
            </p:txBody>
          </p:sp>
        </p:grpSp>
        <p:sp>
          <p:nvSpPr>
            <p:cNvPr id="585760" name="Rectangle 32"/>
            <p:cNvSpPr>
              <a:spLocks noChangeArrowheads="1"/>
            </p:cNvSpPr>
            <p:nvPr/>
          </p:nvSpPr>
          <p:spPr bwMode="auto">
            <a:xfrm>
              <a:off x="3559" y="3568"/>
              <a:ext cx="900" cy="167"/>
            </a:xfrm>
            <a:prstGeom prst="rect">
              <a:avLst/>
            </a:prstGeom>
            <a:solidFill>
              <a:srgbClr val="99CCFF"/>
            </a:solidFill>
            <a:ln w="9525" algn="ctr">
              <a:solidFill>
                <a:schemeClr val="tx1"/>
              </a:solidFill>
              <a:miter lim="800000"/>
              <a:headEnd/>
              <a:tailEnd/>
            </a:ln>
            <a:effectLst/>
          </p:spPr>
          <p:txBody>
            <a:bodyPr wrap="none" anchor="ctr"/>
            <a:lstStyle/>
            <a:p>
              <a:r>
                <a:rPr lang="en-US" altLang="zh-CN" sz="1400">
                  <a:latin typeface="Times New Roman" pitchFamily="18" charset="0"/>
                </a:rPr>
                <a:t>VICDefVectAddr</a:t>
              </a:r>
            </a:p>
          </p:txBody>
        </p:sp>
        <p:sp>
          <p:nvSpPr>
            <p:cNvPr id="585761" name="Line 33"/>
            <p:cNvSpPr>
              <a:spLocks noChangeShapeType="1"/>
            </p:cNvSpPr>
            <p:nvPr/>
          </p:nvSpPr>
          <p:spPr bwMode="auto">
            <a:xfrm>
              <a:off x="1677" y="2956"/>
              <a:ext cx="0" cy="138"/>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5762" name="Line 34"/>
            <p:cNvSpPr>
              <a:spLocks noChangeShapeType="1"/>
            </p:cNvSpPr>
            <p:nvPr/>
          </p:nvSpPr>
          <p:spPr bwMode="auto">
            <a:xfrm>
              <a:off x="2599" y="2938"/>
              <a:ext cx="0" cy="132"/>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5763" name="Rectangle 35"/>
            <p:cNvSpPr>
              <a:spLocks noChangeArrowheads="1"/>
            </p:cNvSpPr>
            <p:nvPr/>
          </p:nvSpPr>
          <p:spPr bwMode="auto">
            <a:xfrm>
              <a:off x="3292" y="2571"/>
              <a:ext cx="268" cy="1164"/>
            </a:xfrm>
            <a:prstGeom prst="rect">
              <a:avLst/>
            </a:prstGeom>
            <a:solidFill>
              <a:srgbClr val="CCFFFF"/>
            </a:solidFill>
            <a:ln w="9525" algn="ctr">
              <a:solidFill>
                <a:schemeClr val="tx1"/>
              </a:solidFill>
              <a:miter lim="800000"/>
              <a:headEnd/>
              <a:tailEnd/>
            </a:ln>
            <a:effectLst/>
          </p:spPr>
          <p:txBody>
            <a:bodyPr wrap="none" anchor="ctr"/>
            <a:lstStyle/>
            <a:p>
              <a:r>
                <a:rPr lang="en-US" altLang="zh-CN" sz="1400">
                  <a:latin typeface="Arial" charset="0"/>
                </a:rPr>
                <a:t>IRQ</a:t>
              </a:r>
            </a:p>
            <a:p>
              <a:r>
                <a:rPr lang="zh-CN" altLang="en-US" sz="1400">
                  <a:latin typeface="Arial" charset="0"/>
                </a:rPr>
                <a:t>通道</a:t>
              </a:r>
            </a:p>
            <a:p>
              <a:r>
                <a:rPr lang="zh-CN" altLang="en-US" sz="1400">
                  <a:latin typeface="Arial" charset="0"/>
                </a:rPr>
                <a:t>分配</a:t>
              </a:r>
            </a:p>
          </p:txBody>
        </p:sp>
      </p:grpSp>
      <p:sp>
        <p:nvSpPr>
          <p:cNvPr id="585764" name="Text Box 36"/>
          <p:cNvSpPr txBox="1">
            <a:spLocks noChangeArrowheads="1"/>
          </p:cNvSpPr>
          <p:nvPr/>
        </p:nvSpPr>
        <p:spPr bwMode="auto">
          <a:xfrm>
            <a:off x="1851026" y="6000751"/>
            <a:ext cx="8385175" cy="366713"/>
          </a:xfrm>
          <a:prstGeom prst="rect">
            <a:avLst/>
          </a:prstGeom>
          <a:noFill/>
          <a:ln w="9525" algn="ctr">
            <a:noFill/>
            <a:miter lim="800000"/>
            <a:headEnd/>
            <a:tailEnd/>
          </a:ln>
          <a:effectLst/>
        </p:spPr>
        <p:txBody>
          <a:bodyPr wrap="none">
            <a:spAutoFit/>
          </a:bodyPr>
          <a:lstStyle/>
          <a:p>
            <a:r>
              <a:rPr lang="zh-CN" altLang="en-US">
                <a:solidFill>
                  <a:srgbClr val="FF0000"/>
                </a:solidFill>
                <a:latin typeface="Times New Roman" pitchFamily="18" charset="0"/>
                <a:ea typeface="华文新魏" pitchFamily="2" charset="-122"/>
              </a:rPr>
              <a:t>注意：</a:t>
            </a:r>
            <a:r>
              <a:rPr lang="zh-CN" altLang="en-US">
                <a:latin typeface="Times New Roman" pitchFamily="18" charset="0"/>
                <a:ea typeface="华文新魏" pitchFamily="2" charset="-122"/>
              </a:rPr>
              <a:t>这里仅以</a:t>
            </a:r>
            <a:r>
              <a:rPr lang="en-US" altLang="zh-CN">
                <a:latin typeface="Times New Roman" pitchFamily="18" charset="0"/>
                <a:ea typeface="华文新魏" pitchFamily="2" charset="-122"/>
              </a:rPr>
              <a:t>EINT0</a:t>
            </a:r>
            <a:r>
              <a:rPr lang="zh-CN" altLang="en-US">
                <a:latin typeface="Times New Roman" pitchFamily="18" charset="0"/>
                <a:ea typeface="华文新魏" pitchFamily="2" charset="-122"/>
              </a:rPr>
              <a:t>为例来进行讲解，</a:t>
            </a:r>
            <a:r>
              <a:rPr lang="en-US" altLang="zh-CN">
                <a:latin typeface="Times New Roman" pitchFamily="18" charset="0"/>
                <a:ea typeface="华文新魏" pitchFamily="2" charset="-122"/>
              </a:rPr>
              <a:t>EINT1~EINT3</a:t>
            </a:r>
            <a:r>
              <a:rPr lang="zh-CN" altLang="en-US">
                <a:latin typeface="Times New Roman" pitchFamily="18" charset="0"/>
                <a:ea typeface="华文新魏" pitchFamily="2" charset="-122"/>
              </a:rPr>
              <a:t>与之类似，此处不再重复。</a:t>
            </a:r>
          </a:p>
        </p:txBody>
      </p:sp>
      <p:sp>
        <p:nvSpPr>
          <p:cNvPr id="585765" name="Text Box 37"/>
          <p:cNvSpPr txBox="1">
            <a:spLocks noChangeArrowheads="1"/>
          </p:cNvSpPr>
          <p:nvPr/>
        </p:nvSpPr>
        <p:spPr bwMode="auto">
          <a:xfrm>
            <a:off x="1758951" y="2433638"/>
            <a:ext cx="8691563" cy="1569660"/>
          </a:xfrm>
          <a:prstGeom prst="rect">
            <a:avLst/>
          </a:prstGeom>
          <a:noFill/>
          <a:ln w="9525" algn="ctr">
            <a:noFill/>
            <a:miter lim="800000"/>
            <a:headEnd/>
            <a:tailEnd/>
          </a:ln>
          <a:effectLst/>
        </p:spPr>
        <p:txBody>
          <a:bodyPr>
            <a:spAutoFit/>
          </a:bodyPr>
          <a:lstStyle/>
          <a:p>
            <a:pPr algn="l"/>
            <a:r>
              <a:rPr lang="en-US" altLang="zh-CN" sz="2400">
                <a:latin typeface="Times New Roman" pitchFamily="18" charset="0"/>
                <a:ea typeface="华文新魏" pitchFamily="2" charset="-122"/>
              </a:rPr>
              <a:t>      </a:t>
            </a:r>
            <a:r>
              <a:rPr lang="zh-CN" altLang="en-US" sz="2400">
                <a:latin typeface="Times New Roman" pitchFamily="18" charset="0"/>
                <a:ea typeface="华文新魏" pitchFamily="2" charset="-122"/>
              </a:rPr>
              <a:t>外部中断</a:t>
            </a:r>
            <a:r>
              <a:rPr lang="en-US" altLang="zh-CN" sz="2400">
                <a:latin typeface="Times New Roman" pitchFamily="18" charset="0"/>
                <a:ea typeface="华文新魏" pitchFamily="2" charset="-122"/>
              </a:rPr>
              <a:t>0</a:t>
            </a:r>
            <a:r>
              <a:rPr lang="zh-CN" altLang="en-US" sz="2400">
                <a:latin typeface="Times New Roman" pitchFamily="18" charset="0"/>
                <a:ea typeface="华文新魏" pitchFamily="2" charset="-122"/>
              </a:rPr>
              <a:t>位于</a:t>
            </a:r>
            <a:r>
              <a:rPr lang="en-US" altLang="zh-CN" sz="2400">
                <a:latin typeface="Times New Roman" pitchFamily="18" charset="0"/>
                <a:ea typeface="华文新魏" pitchFamily="2" charset="-122"/>
              </a:rPr>
              <a:t>VIC</a:t>
            </a:r>
            <a:r>
              <a:rPr lang="zh-CN" altLang="en-US" sz="2400">
                <a:latin typeface="Times New Roman" pitchFamily="18" charset="0"/>
                <a:ea typeface="华文新魏" pitchFamily="2" charset="-122"/>
              </a:rPr>
              <a:t>通道</a:t>
            </a:r>
            <a:r>
              <a:rPr lang="en-US" altLang="zh-CN" sz="2400">
                <a:latin typeface="Times New Roman" pitchFamily="18" charset="0"/>
                <a:ea typeface="华文新魏" pitchFamily="2" charset="-122"/>
              </a:rPr>
              <a:t>14</a:t>
            </a:r>
            <a:r>
              <a:rPr lang="zh-CN" altLang="en-US" sz="2400">
                <a:latin typeface="Times New Roman" pitchFamily="18" charset="0"/>
                <a:ea typeface="华文新魏" pitchFamily="2" charset="-122"/>
              </a:rPr>
              <a:t>，中断使能寄存器</a:t>
            </a:r>
            <a:r>
              <a:rPr lang="en-US" altLang="zh-CN" sz="2400">
                <a:latin typeface="Times New Roman" pitchFamily="18" charset="0"/>
                <a:ea typeface="华文新魏" pitchFamily="2" charset="-122"/>
              </a:rPr>
              <a:t>VICIntEnable[14]</a:t>
            </a:r>
            <a:r>
              <a:rPr lang="zh-CN" altLang="en-US" sz="2400">
                <a:latin typeface="Times New Roman" pitchFamily="18" charset="0"/>
                <a:ea typeface="华文新魏" pitchFamily="2" charset="-122"/>
              </a:rPr>
              <a:t>用来控制通道</a:t>
            </a:r>
            <a:r>
              <a:rPr lang="en-US" altLang="zh-CN" sz="2400">
                <a:latin typeface="Times New Roman" pitchFamily="18" charset="0"/>
                <a:ea typeface="华文新魏" pitchFamily="2" charset="-122"/>
              </a:rPr>
              <a:t>14</a:t>
            </a:r>
            <a:r>
              <a:rPr lang="zh-CN" altLang="en-US" sz="2400">
                <a:latin typeface="Times New Roman" pitchFamily="18" charset="0"/>
                <a:ea typeface="华文新魏" pitchFamily="2" charset="-122"/>
              </a:rPr>
              <a:t>的使能：</a:t>
            </a:r>
          </a:p>
          <a:p>
            <a:pPr algn="l">
              <a:buFont typeface="Wingdings" pitchFamily="2" charset="2"/>
              <a:buNone/>
            </a:pPr>
            <a:r>
              <a:rPr lang="zh-CN" altLang="en-US" sz="2400">
                <a:latin typeface="Times New Roman" pitchFamily="18" charset="0"/>
                <a:ea typeface="华文新魏" pitchFamily="2" charset="-122"/>
              </a:rPr>
              <a:t>      当</a:t>
            </a:r>
            <a:r>
              <a:rPr lang="en-US" altLang="zh-CN" sz="2400">
                <a:latin typeface="Times New Roman" pitchFamily="18" charset="0"/>
                <a:ea typeface="华文新魏" pitchFamily="2" charset="-122"/>
              </a:rPr>
              <a:t>VICIntEnable[14] = 0</a:t>
            </a:r>
            <a:r>
              <a:rPr lang="zh-CN" altLang="en-US" sz="2400">
                <a:latin typeface="Times New Roman" pitchFamily="18" charset="0"/>
                <a:ea typeface="华文新魏" pitchFamily="2" charset="-122"/>
              </a:rPr>
              <a:t>时，通道</a:t>
            </a:r>
            <a:r>
              <a:rPr lang="en-US" altLang="zh-CN" sz="2400">
                <a:latin typeface="Times New Roman" pitchFamily="18" charset="0"/>
                <a:ea typeface="华文新魏" pitchFamily="2" charset="-122"/>
              </a:rPr>
              <a:t>14</a:t>
            </a:r>
            <a:r>
              <a:rPr lang="zh-CN" altLang="en-US" sz="2400">
                <a:latin typeface="Times New Roman" pitchFamily="18" charset="0"/>
                <a:ea typeface="华文新魏" pitchFamily="2" charset="-122"/>
              </a:rPr>
              <a:t>中断禁止</a:t>
            </a:r>
          </a:p>
          <a:p>
            <a:pPr algn="l">
              <a:buFont typeface="Wingdings" pitchFamily="2" charset="2"/>
              <a:buNone/>
            </a:pPr>
            <a:r>
              <a:rPr lang="zh-CN" altLang="en-US" sz="2400">
                <a:latin typeface="Times New Roman" pitchFamily="18" charset="0"/>
                <a:ea typeface="华文新魏" pitchFamily="2" charset="-122"/>
              </a:rPr>
              <a:t>      </a:t>
            </a:r>
          </a:p>
        </p:txBody>
      </p:sp>
      <p:sp>
        <p:nvSpPr>
          <p:cNvPr id="585767" name="Oval 39"/>
          <p:cNvSpPr>
            <a:spLocks noChangeArrowheads="1"/>
          </p:cNvSpPr>
          <p:nvPr/>
        </p:nvSpPr>
        <p:spPr bwMode="auto">
          <a:xfrm>
            <a:off x="3475038" y="4855251"/>
            <a:ext cx="1479550" cy="519351"/>
          </a:xfrm>
          <a:prstGeom prst="ellipse">
            <a:avLst/>
          </a:prstGeom>
          <a:noFill/>
          <a:ln w="19050" algn="ctr">
            <a:solidFill>
              <a:srgbClr val="FF0000"/>
            </a:solidFill>
            <a:round/>
            <a:headEnd/>
            <a:tailEnd/>
          </a:ln>
          <a:effectLst/>
        </p:spPr>
        <p:txBody>
          <a:bodyPr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85731"/>
                                        </p:tgtEl>
                                        <p:attrNameLst>
                                          <p:attrName>style.visibility</p:attrName>
                                        </p:attrNameLst>
                                      </p:cBhvr>
                                      <p:to>
                                        <p:strVal val="visible"/>
                                      </p:to>
                                    </p:set>
                                    <p:anim calcmode="lin" valueType="num">
                                      <p:cBhvr additive="base">
                                        <p:cTn id="7" dur="500" fill="hold"/>
                                        <p:tgtEl>
                                          <p:spTgt spid="585731"/>
                                        </p:tgtEl>
                                        <p:attrNameLst>
                                          <p:attrName>ppt_x</p:attrName>
                                        </p:attrNameLst>
                                      </p:cBhvr>
                                      <p:tavLst>
                                        <p:tav tm="0">
                                          <p:val>
                                            <p:strVal val="1+#ppt_w/2"/>
                                          </p:val>
                                        </p:tav>
                                        <p:tav tm="100000">
                                          <p:val>
                                            <p:strVal val="#ppt_x"/>
                                          </p:val>
                                        </p:tav>
                                      </p:tavLst>
                                    </p:anim>
                                    <p:anim calcmode="lin" valueType="num">
                                      <p:cBhvr additive="base">
                                        <p:cTn id="8" dur="500" fill="hold"/>
                                        <p:tgtEl>
                                          <p:spTgt spid="58573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585765"/>
                                        </p:tgtEl>
                                        <p:attrNameLst>
                                          <p:attrName>style.visibility</p:attrName>
                                        </p:attrNameLst>
                                      </p:cBhvr>
                                      <p:to>
                                        <p:strVal val="visible"/>
                                      </p:to>
                                    </p:set>
                                    <p:animEffect transition="in" filter="wipe(up)">
                                      <p:cBhvr>
                                        <p:cTn id="12" dur="500"/>
                                        <p:tgtEl>
                                          <p:spTgt spid="585765"/>
                                        </p:tgtEl>
                                      </p:cBhvr>
                                    </p:animEffect>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585766"/>
                                        </p:tgtEl>
                                        <p:attrNameLst>
                                          <p:attrName>style.visibility</p:attrName>
                                        </p:attrNameLst>
                                      </p:cBhvr>
                                      <p:to>
                                        <p:strVal val="visible"/>
                                      </p:to>
                                    </p:set>
                                    <p:animEffect transition="in" filter="wipe(up)">
                                      <p:cBhvr>
                                        <p:cTn id="16" dur="500"/>
                                        <p:tgtEl>
                                          <p:spTgt spid="585766"/>
                                        </p:tgtEl>
                                      </p:cBhvr>
                                    </p:animEffect>
                                  </p:childTnLst>
                                </p:cTn>
                              </p:par>
                            </p:childTnLst>
                          </p:cTn>
                        </p:par>
                        <p:par>
                          <p:cTn id="17" fill="hold">
                            <p:stCondLst>
                              <p:cond delay="1500"/>
                            </p:stCondLst>
                            <p:childTnLst>
                              <p:par>
                                <p:cTn id="18" presetID="22" presetClass="entr" presetSubtype="1" fill="hold" grpId="0" nodeType="afterEffect">
                                  <p:stCondLst>
                                    <p:cond delay="0"/>
                                  </p:stCondLst>
                                  <p:childTnLst>
                                    <p:set>
                                      <p:cBhvr>
                                        <p:cTn id="19" dur="1" fill="hold">
                                          <p:stCondLst>
                                            <p:cond delay="0"/>
                                          </p:stCondLst>
                                        </p:cTn>
                                        <p:tgtEl>
                                          <p:spTgt spid="585764"/>
                                        </p:tgtEl>
                                        <p:attrNameLst>
                                          <p:attrName>style.visibility</p:attrName>
                                        </p:attrNameLst>
                                      </p:cBhvr>
                                      <p:to>
                                        <p:strVal val="visible"/>
                                      </p:to>
                                    </p:set>
                                    <p:animEffect transition="in" filter="wipe(up)">
                                      <p:cBhvr>
                                        <p:cTn id="20" dur="500"/>
                                        <p:tgtEl>
                                          <p:spTgt spid="585764"/>
                                        </p:tgtEl>
                                      </p:cBhvr>
                                    </p:animEffect>
                                  </p:childTnLst>
                                </p:cTn>
                              </p:par>
                            </p:childTnLst>
                          </p:cTn>
                        </p:par>
                        <p:par>
                          <p:cTn id="21" fill="hold">
                            <p:stCondLst>
                              <p:cond delay="2000"/>
                            </p:stCondLst>
                            <p:childTnLst>
                              <p:par>
                                <p:cTn id="22" presetID="22" presetClass="entr" presetSubtype="4" fill="hold" grpId="0" nodeType="afterEffect">
                                  <p:stCondLst>
                                    <p:cond delay="0"/>
                                  </p:stCondLst>
                                  <p:childTnLst>
                                    <p:set>
                                      <p:cBhvr>
                                        <p:cTn id="23" dur="1" fill="hold">
                                          <p:stCondLst>
                                            <p:cond delay="0"/>
                                          </p:stCondLst>
                                        </p:cTn>
                                        <p:tgtEl>
                                          <p:spTgt spid="585767"/>
                                        </p:tgtEl>
                                        <p:attrNameLst>
                                          <p:attrName>style.visibility</p:attrName>
                                        </p:attrNameLst>
                                      </p:cBhvr>
                                      <p:to>
                                        <p:strVal val="visible"/>
                                      </p:to>
                                    </p:set>
                                    <p:animEffect transition="in" filter="wipe(down)">
                                      <p:cBhvr>
                                        <p:cTn id="24" dur="500"/>
                                        <p:tgtEl>
                                          <p:spTgt spid="5857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731" grpId="0"/>
      <p:bldP spid="585764" grpId="0"/>
      <p:bldP spid="585765" grpId="0"/>
      <p:bldP spid="585767"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Rectangle 2"/>
          <p:cNvSpPr>
            <a:spLocks noChangeArrowheads="1"/>
          </p:cNvSpPr>
          <p:nvPr/>
        </p:nvSpPr>
        <p:spPr bwMode="auto">
          <a:xfrm>
            <a:off x="2209800" y="609600"/>
            <a:ext cx="7772400" cy="1143000"/>
          </a:xfrm>
          <a:prstGeom prst="rect">
            <a:avLst/>
          </a:prstGeom>
          <a:noFill/>
          <a:ln w="9525">
            <a:noFill/>
            <a:miter lim="800000"/>
            <a:headEnd/>
            <a:tailEnd/>
          </a:ln>
          <a:effectLst/>
        </p:spPr>
        <p:txBody>
          <a:bodyPr anchor="ctr"/>
          <a:lstStyle/>
          <a:p>
            <a:r>
              <a:rPr lang="en-US" altLang="zh-CN" sz="4400" dirty="0"/>
              <a:t>5.3.6</a:t>
            </a:r>
            <a:r>
              <a:rPr lang="en-US" altLang="zh-CN" sz="4400" dirty="0">
                <a:solidFill>
                  <a:schemeClr val="tx2"/>
                </a:solidFill>
                <a:latin typeface="Times New Roman" pitchFamily="18" charset="0"/>
              </a:rPr>
              <a:t>  </a:t>
            </a:r>
            <a:r>
              <a:rPr lang="zh-CN" altLang="en-US" sz="4400" dirty="0">
                <a:solidFill>
                  <a:schemeClr val="tx2"/>
                </a:solidFill>
                <a:latin typeface="Times New Roman" pitchFamily="18" charset="0"/>
              </a:rPr>
              <a:t>外部中断输入</a:t>
            </a:r>
          </a:p>
        </p:txBody>
      </p:sp>
      <p:sp>
        <p:nvSpPr>
          <p:cNvPr id="586755" name="Rectangle 3"/>
          <p:cNvSpPr>
            <a:spLocks noChangeArrowheads="1"/>
          </p:cNvSpPr>
          <p:nvPr/>
        </p:nvSpPr>
        <p:spPr bwMode="auto">
          <a:xfrm>
            <a:off x="2209800" y="17510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dirty="0">
                <a:latin typeface="Times New Roman" pitchFamily="18" charset="0"/>
              </a:rPr>
              <a:t>外部中断与</a:t>
            </a:r>
            <a:r>
              <a:rPr lang="en-US" altLang="zh-CN" sz="3200" dirty="0">
                <a:latin typeface="Times New Roman" pitchFamily="18" charset="0"/>
              </a:rPr>
              <a:t>VIC</a:t>
            </a:r>
            <a:r>
              <a:rPr lang="zh-CN" altLang="en-US" sz="3200" dirty="0">
                <a:latin typeface="Times New Roman" pitchFamily="18" charset="0"/>
              </a:rPr>
              <a:t>的关系</a:t>
            </a:r>
          </a:p>
        </p:txBody>
      </p:sp>
      <p:grpSp>
        <p:nvGrpSpPr>
          <p:cNvPr id="586790" name="Group 38"/>
          <p:cNvGrpSpPr>
            <a:grpSpLocks/>
          </p:cNvGrpSpPr>
          <p:nvPr/>
        </p:nvGrpSpPr>
        <p:grpSpPr bwMode="auto">
          <a:xfrm>
            <a:off x="2000250" y="4081463"/>
            <a:ext cx="8096250" cy="1847850"/>
            <a:chOff x="300" y="2571"/>
            <a:chExt cx="5100" cy="1164"/>
          </a:xfrm>
        </p:grpSpPr>
        <p:sp>
          <p:nvSpPr>
            <p:cNvPr id="586756" name="Rectangle 4"/>
            <p:cNvSpPr>
              <a:spLocks noChangeArrowheads="1"/>
            </p:cNvSpPr>
            <p:nvPr/>
          </p:nvSpPr>
          <p:spPr bwMode="auto">
            <a:xfrm>
              <a:off x="2353" y="3058"/>
              <a:ext cx="492" cy="33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586757" name="Rectangle 5"/>
            <p:cNvSpPr>
              <a:spLocks noChangeArrowheads="1"/>
            </p:cNvSpPr>
            <p:nvPr/>
          </p:nvSpPr>
          <p:spPr bwMode="auto">
            <a:xfrm>
              <a:off x="1509" y="3100"/>
              <a:ext cx="330" cy="264"/>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586758" name="Rectangle 6"/>
            <p:cNvSpPr>
              <a:spLocks noChangeArrowheads="1"/>
            </p:cNvSpPr>
            <p:nvPr/>
          </p:nvSpPr>
          <p:spPr bwMode="auto">
            <a:xfrm>
              <a:off x="949" y="3125"/>
              <a:ext cx="432" cy="232"/>
            </a:xfrm>
            <a:prstGeom prst="rect">
              <a:avLst/>
            </a:prstGeom>
            <a:solidFill>
              <a:srgbClr val="FFCC99"/>
            </a:solidFill>
            <a:ln w="9525" algn="ctr">
              <a:solidFill>
                <a:schemeClr val="tx1"/>
              </a:solidFill>
              <a:miter lim="800000"/>
              <a:headEnd/>
              <a:tailEnd/>
            </a:ln>
            <a:effectLst/>
          </p:spPr>
          <p:txBody>
            <a:bodyPr wrap="none" anchor="ctr"/>
            <a:lstStyle/>
            <a:p>
              <a:r>
                <a:rPr lang="zh-CN" altLang="en-US" sz="1400">
                  <a:latin typeface="Arial" charset="0"/>
                </a:rPr>
                <a:t>通道</a:t>
              </a:r>
              <a:r>
                <a:rPr lang="en-US" altLang="zh-CN" sz="1400">
                  <a:latin typeface="Arial" charset="0"/>
                </a:rPr>
                <a:t>14</a:t>
              </a:r>
            </a:p>
          </p:txBody>
        </p:sp>
        <p:sp>
          <p:nvSpPr>
            <p:cNvPr id="586759" name="Text Box 7"/>
            <p:cNvSpPr txBox="1">
              <a:spLocks noChangeArrowheads="1"/>
            </p:cNvSpPr>
            <p:nvPr/>
          </p:nvSpPr>
          <p:spPr bwMode="auto">
            <a:xfrm>
              <a:off x="300" y="3133"/>
              <a:ext cx="471"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EINT0</a:t>
              </a:r>
            </a:p>
          </p:txBody>
        </p:sp>
        <p:sp>
          <p:nvSpPr>
            <p:cNvPr id="586760" name="Text Box 8"/>
            <p:cNvSpPr txBox="1">
              <a:spLocks noChangeArrowheads="1"/>
            </p:cNvSpPr>
            <p:nvPr/>
          </p:nvSpPr>
          <p:spPr bwMode="auto">
            <a:xfrm>
              <a:off x="4401" y="2595"/>
              <a:ext cx="931" cy="192"/>
            </a:xfrm>
            <a:prstGeom prst="rect">
              <a:avLst/>
            </a:prstGeom>
            <a:noFill/>
            <a:ln w="9525" algn="ctr">
              <a:noFill/>
              <a:miter lim="800000"/>
              <a:headEnd/>
              <a:tailEnd/>
            </a:ln>
            <a:effectLst/>
          </p:spPr>
          <p:txBody>
            <a:bodyPr>
              <a:spAutoFit/>
            </a:bodyPr>
            <a:lstStyle/>
            <a:p>
              <a:r>
                <a:rPr lang="zh-CN" altLang="en-US" sz="1400">
                  <a:latin typeface="Times New Roman" pitchFamily="18" charset="0"/>
                </a:rPr>
                <a:t>向量</a:t>
              </a:r>
              <a:r>
                <a:rPr lang="en-US" altLang="zh-CN" sz="1400">
                  <a:latin typeface="Times New Roman" pitchFamily="18" charset="0"/>
                </a:rPr>
                <a:t>IRQ</a:t>
              </a:r>
              <a:r>
                <a:rPr lang="zh-CN" altLang="en-US" sz="1400">
                  <a:latin typeface="Times New Roman" pitchFamily="18" charset="0"/>
                </a:rPr>
                <a:t>通道</a:t>
              </a:r>
              <a:r>
                <a:rPr lang="en-US" altLang="zh-CN" sz="1400">
                  <a:latin typeface="Times New Roman" pitchFamily="18" charset="0"/>
                </a:rPr>
                <a:t>0</a:t>
              </a:r>
            </a:p>
          </p:txBody>
        </p:sp>
        <p:sp>
          <p:nvSpPr>
            <p:cNvPr id="586761" name="Text Box 9"/>
            <p:cNvSpPr txBox="1">
              <a:spLocks noChangeArrowheads="1"/>
            </p:cNvSpPr>
            <p:nvPr/>
          </p:nvSpPr>
          <p:spPr bwMode="auto">
            <a:xfrm>
              <a:off x="4401" y="3125"/>
              <a:ext cx="999" cy="192"/>
            </a:xfrm>
            <a:prstGeom prst="rect">
              <a:avLst/>
            </a:prstGeom>
            <a:noFill/>
            <a:ln w="9525" algn="ctr">
              <a:noFill/>
              <a:miter lim="800000"/>
              <a:headEnd/>
              <a:tailEnd/>
            </a:ln>
            <a:effectLst/>
          </p:spPr>
          <p:txBody>
            <a:bodyPr>
              <a:spAutoFit/>
            </a:bodyPr>
            <a:lstStyle/>
            <a:p>
              <a:r>
                <a:rPr lang="zh-CN" altLang="en-US" sz="1400">
                  <a:latin typeface="Times New Roman" pitchFamily="18" charset="0"/>
                </a:rPr>
                <a:t>向量</a:t>
              </a:r>
              <a:r>
                <a:rPr lang="en-US" altLang="zh-CN" sz="1400">
                  <a:latin typeface="Times New Roman" pitchFamily="18" charset="0"/>
                </a:rPr>
                <a:t>IRQ</a:t>
              </a:r>
              <a:r>
                <a:rPr lang="zh-CN" altLang="en-US" sz="1400">
                  <a:latin typeface="Times New Roman" pitchFamily="18" charset="0"/>
                </a:rPr>
                <a:t>通道</a:t>
              </a:r>
              <a:r>
                <a:rPr lang="en-US" altLang="zh-CN" sz="1400">
                  <a:latin typeface="Times New Roman" pitchFamily="18" charset="0"/>
                </a:rPr>
                <a:t>15</a:t>
              </a:r>
            </a:p>
          </p:txBody>
        </p:sp>
        <p:sp>
          <p:nvSpPr>
            <p:cNvPr id="586762" name="Text Box 10"/>
            <p:cNvSpPr txBox="1">
              <a:spLocks noChangeArrowheads="1"/>
            </p:cNvSpPr>
            <p:nvPr/>
          </p:nvSpPr>
          <p:spPr bwMode="auto">
            <a:xfrm>
              <a:off x="4401" y="3475"/>
              <a:ext cx="986" cy="192"/>
            </a:xfrm>
            <a:prstGeom prst="rect">
              <a:avLst/>
            </a:prstGeom>
            <a:noFill/>
            <a:ln w="9525" algn="ctr">
              <a:noFill/>
              <a:miter lim="800000"/>
              <a:headEnd/>
              <a:tailEnd/>
            </a:ln>
            <a:effectLst/>
          </p:spPr>
          <p:txBody>
            <a:bodyPr>
              <a:spAutoFit/>
            </a:bodyPr>
            <a:lstStyle/>
            <a:p>
              <a:r>
                <a:rPr lang="zh-CN" altLang="en-US" sz="1400">
                  <a:latin typeface="Times New Roman" pitchFamily="18" charset="0"/>
                </a:rPr>
                <a:t>非向量</a:t>
              </a:r>
              <a:r>
                <a:rPr lang="en-US" altLang="zh-CN" sz="1400">
                  <a:latin typeface="Times New Roman" pitchFamily="18" charset="0"/>
                </a:rPr>
                <a:t>IRQ</a:t>
              </a:r>
              <a:r>
                <a:rPr lang="zh-CN" altLang="en-US" sz="1400">
                  <a:latin typeface="Times New Roman" pitchFamily="18" charset="0"/>
                </a:rPr>
                <a:t>通道</a:t>
              </a:r>
            </a:p>
          </p:txBody>
        </p:sp>
        <p:sp>
          <p:nvSpPr>
            <p:cNvPr id="586763" name="Line 11"/>
            <p:cNvSpPr>
              <a:spLocks noChangeShapeType="1"/>
            </p:cNvSpPr>
            <p:nvPr/>
          </p:nvSpPr>
          <p:spPr bwMode="auto">
            <a:xfrm>
              <a:off x="4436" y="2774"/>
              <a:ext cx="88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6764" name="Line 12"/>
            <p:cNvSpPr>
              <a:spLocks noChangeShapeType="1"/>
            </p:cNvSpPr>
            <p:nvPr/>
          </p:nvSpPr>
          <p:spPr bwMode="auto">
            <a:xfrm>
              <a:off x="4446" y="3306"/>
              <a:ext cx="84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6765" name="Line 13"/>
            <p:cNvSpPr>
              <a:spLocks noChangeShapeType="1"/>
            </p:cNvSpPr>
            <p:nvPr/>
          </p:nvSpPr>
          <p:spPr bwMode="auto">
            <a:xfrm>
              <a:off x="4452" y="3652"/>
              <a:ext cx="842"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6766" name="Line 14"/>
            <p:cNvSpPr>
              <a:spLocks noChangeShapeType="1"/>
            </p:cNvSpPr>
            <p:nvPr/>
          </p:nvSpPr>
          <p:spPr bwMode="auto">
            <a:xfrm>
              <a:off x="4874" y="2876"/>
              <a:ext cx="0" cy="216"/>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86767" name="Line 15"/>
            <p:cNvSpPr>
              <a:spLocks noChangeShapeType="1"/>
            </p:cNvSpPr>
            <p:nvPr/>
          </p:nvSpPr>
          <p:spPr bwMode="auto">
            <a:xfrm>
              <a:off x="1388" y="3238"/>
              <a:ext cx="182"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586768" name="Line 16"/>
            <p:cNvSpPr>
              <a:spLocks noChangeShapeType="1"/>
            </p:cNvSpPr>
            <p:nvPr/>
          </p:nvSpPr>
          <p:spPr bwMode="auto">
            <a:xfrm>
              <a:off x="749" y="3238"/>
              <a:ext cx="2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6769" name="Line 17"/>
            <p:cNvSpPr>
              <a:spLocks noChangeShapeType="1"/>
            </p:cNvSpPr>
            <p:nvPr/>
          </p:nvSpPr>
          <p:spPr bwMode="auto">
            <a:xfrm>
              <a:off x="1758" y="3239"/>
              <a:ext cx="715" cy="0"/>
            </a:xfrm>
            <a:prstGeom prst="line">
              <a:avLst/>
            </a:prstGeom>
            <a:noFill/>
            <a:ln w="9525">
              <a:solidFill>
                <a:schemeClr val="tx1"/>
              </a:solidFill>
              <a:round/>
              <a:headEnd type="oval" w="sm" len="sm"/>
              <a:tailEnd type="oval" w="sm" len="sm"/>
            </a:ln>
            <a:effectLst/>
          </p:spPr>
          <p:txBody>
            <a:bodyPr wrap="none" anchor="ctr"/>
            <a:lstStyle/>
            <a:p>
              <a:endParaRPr lang="zh-CN" altLang="en-US"/>
            </a:p>
          </p:txBody>
        </p:sp>
        <p:sp>
          <p:nvSpPr>
            <p:cNvPr id="586770" name="Line 18"/>
            <p:cNvSpPr>
              <a:spLocks noChangeShapeType="1"/>
            </p:cNvSpPr>
            <p:nvPr/>
          </p:nvSpPr>
          <p:spPr bwMode="auto">
            <a:xfrm>
              <a:off x="2731" y="3130"/>
              <a:ext cx="558"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586771" name="Line 19"/>
            <p:cNvSpPr>
              <a:spLocks noChangeShapeType="1"/>
            </p:cNvSpPr>
            <p:nvPr/>
          </p:nvSpPr>
          <p:spPr bwMode="auto">
            <a:xfrm>
              <a:off x="2731" y="3334"/>
              <a:ext cx="420"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586772" name="Line 20"/>
            <p:cNvSpPr>
              <a:spLocks noChangeShapeType="1"/>
            </p:cNvSpPr>
            <p:nvPr/>
          </p:nvSpPr>
          <p:spPr bwMode="auto">
            <a:xfrm flipV="1">
              <a:off x="2479" y="3098"/>
              <a:ext cx="266" cy="140"/>
            </a:xfrm>
            <a:prstGeom prst="line">
              <a:avLst/>
            </a:prstGeom>
            <a:noFill/>
            <a:ln w="9525">
              <a:solidFill>
                <a:schemeClr val="tx1"/>
              </a:solidFill>
              <a:round/>
              <a:headEnd/>
              <a:tailEnd/>
            </a:ln>
            <a:effectLst/>
          </p:spPr>
          <p:txBody>
            <a:bodyPr wrap="none" anchor="ctr"/>
            <a:lstStyle/>
            <a:p>
              <a:endParaRPr lang="zh-CN" altLang="en-US"/>
            </a:p>
          </p:txBody>
        </p:sp>
        <p:sp>
          <p:nvSpPr>
            <p:cNvPr id="586773" name="Text Box 21"/>
            <p:cNvSpPr txBox="1">
              <a:spLocks noChangeArrowheads="1"/>
            </p:cNvSpPr>
            <p:nvPr/>
          </p:nvSpPr>
          <p:spPr bwMode="auto">
            <a:xfrm>
              <a:off x="2104" y="2776"/>
              <a:ext cx="982"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VICIntSelect[14]</a:t>
              </a:r>
            </a:p>
          </p:txBody>
        </p:sp>
        <p:sp>
          <p:nvSpPr>
            <p:cNvPr id="586774" name="Line 22"/>
            <p:cNvSpPr>
              <a:spLocks noChangeShapeType="1"/>
            </p:cNvSpPr>
            <p:nvPr/>
          </p:nvSpPr>
          <p:spPr bwMode="auto">
            <a:xfrm flipV="1">
              <a:off x="1569" y="3216"/>
              <a:ext cx="206" cy="22"/>
            </a:xfrm>
            <a:prstGeom prst="line">
              <a:avLst/>
            </a:prstGeom>
            <a:noFill/>
            <a:ln w="9525">
              <a:solidFill>
                <a:srgbClr val="FF0000"/>
              </a:solidFill>
              <a:round/>
              <a:headEnd/>
              <a:tailEnd/>
            </a:ln>
            <a:effectLst/>
          </p:spPr>
          <p:txBody>
            <a:bodyPr wrap="none" anchor="ctr"/>
            <a:lstStyle/>
            <a:p>
              <a:endParaRPr lang="zh-CN" altLang="en-US"/>
            </a:p>
          </p:txBody>
        </p:sp>
        <p:sp>
          <p:nvSpPr>
            <p:cNvPr id="586775" name="Text Box 23"/>
            <p:cNvSpPr txBox="1">
              <a:spLocks noChangeArrowheads="1"/>
            </p:cNvSpPr>
            <p:nvPr/>
          </p:nvSpPr>
          <p:spPr bwMode="auto">
            <a:xfrm>
              <a:off x="1170" y="2768"/>
              <a:ext cx="1005"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VICIntEnable[14]</a:t>
              </a:r>
            </a:p>
          </p:txBody>
        </p:sp>
        <p:sp>
          <p:nvSpPr>
            <p:cNvPr id="586776" name="Text Box 24"/>
            <p:cNvSpPr txBox="1">
              <a:spLocks noChangeArrowheads="1"/>
            </p:cNvSpPr>
            <p:nvPr/>
          </p:nvSpPr>
          <p:spPr bwMode="auto">
            <a:xfrm>
              <a:off x="2753" y="2971"/>
              <a:ext cx="469"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IRQ</a:t>
              </a:r>
            </a:p>
          </p:txBody>
        </p:sp>
        <p:sp>
          <p:nvSpPr>
            <p:cNvPr id="586777" name="Text Box 25"/>
            <p:cNvSpPr txBox="1">
              <a:spLocks noChangeArrowheads="1"/>
            </p:cNvSpPr>
            <p:nvPr/>
          </p:nvSpPr>
          <p:spPr bwMode="auto">
            <a:xfrm>
              <a:off x="2841" y="3181"/>
              <a:ext cx="300"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FIQ</a:t>
              </a:r>
            </a:p>
          </p:txBody>
        </p:sp>
        <p:grpSp>
          <p:nvGrpSpPr>
            <p:cNvPr id="586778" name="Group 26"/>
            <p:cNvGrpSpPr>
              <a:grpSpLocks/>
            </p:cNvGrpSpPr>
            <p:nvPr/>
          </p:nvGrpSpPr>
          <p:grpSpPr bwMode="auto">
            <a:xfrm>
              <a:off x="3559" y="2571"/>
              <a:ext cx="900" cy="390"/>
              <a:chOff x="3492" y="1368"/>
              <a:chExt cx="714" cy="390"/>
            </a:xfrm>
          </p:grpSpPr>
          <p:sp>
            <p:nvSpPr>
              <p:cNvPr id="586779" name="Rectangle 27"/>
              <p:cNvSpPr>
                <a:spLocks noChangeArrowheads="1"/>
              </p:cNvSpPr>
              <p:nvPr/>
            </p:nvSpPr>
            <p:spPr bwMode="auto">
              <a:xfrm>
                <a:off x="3492" y="1368"/>
                <a:ext cx="714" cy="210"/>
              </a:xfrm>
              <a:prstGeom prst="rect">
                <a:avLst/>
              </a:prstGeom>
              <a:solidFill>
                <a:srgbClr val="99CCFF"/>
              </a:solidFill>
              <a:ln w="9525" algn="ctr">
                <a:solidFill>
                  <a:schemeClr val="tx1"/>
                </a:solidFill>
                <a:miter lim="800000"/>
                <a:headEnd/>
                <a:tailEnd/>
              </a:ln>
              <a:effectLst/>
            </p:spPr>
            <p:txBody>
              <a:bodyPr wrap="none" anchor="ctr"/>
              <a:lstStyle/>
              <a:p>
                <a:r>
                  <a:rPr lang="en-US" altLang="zh-CN" sz="1400">
                    <a:latin typeface="Times New Roman" pitchFamily="18" charset="0"/>
                  </a:rPr>
                  <a:t>VICVectAddr0</a:t>
                </a:r>
              </a:p>
            </p:txBody>
          </p:sp>
          <p:sp>
            <p:nvSpPr>
              <p:cNvPr id="586780" name="Rectangle 28"/>
              <p:cNvSpPr>
                <a:spLocks noChangeArrowheads="1"/>
              </p:cNvSpPr>
              <p:nvPr/>
            </p:nvSpPr>
            <p:spPr bwMode="auto">
              <a:xfrm>
                <a:off x="3492" y="1572"/>
                <a:ext cx="714" cy="186"/>
              </a:xfrm>
              <a:prstGeom prst="rect">
                <a:avLst/>
              </a:prstGeom>
              <a:solidFill>
                <a:srgbClr val="CCFFCC"/>
              </a:solidFill>
              <a:ln w="9525" algn="ctr">
                <a:solidFill>
                  <a:schemeClr val="tx1"/>
                </a:solidFill>
                <a:miter lim="800000"/>
                <a:headEnd/>
                <a:tailEnd/>
              </a:ln>
              <a:effectLst/>
            </p:spPr>
            <p:txBody>
              <a:bodyPr wrap="none" anchor="ctr"/>
              <a:lstStyle/>
              <a:p>
                <a:r>
                  <a:rPr lang="en-US" altLang="zh-CN" sz="1400">
                    <a:latin typeface="Times New Roman" pitchFamily="18" charset="0"/>
                  </a:rPr>
                  <a:t>VICVectCntl0</a:t>
                </a:r>
              </a:p>
            </p:txBody>
          </p:sp>
        </p:grpSp>
        <p:grpSp>
          <p:nvGrpSpPr>
            <p:cNvPr id="586781" name="Group 29"/>
            <p:cNvGrpSpPr>
              <a:grpSpLocks/>
            </p:cNvGrpSpPr>
            <p:nvPr/>
          </p:nvGrpSpPr>
          <p:grpSpPr bwMode="auto">
            <a:xfrm>
              <a:off x="3559" y="3100"/>
              <a:ext cx="900" cy="390"/>
              <a:chOff x="3492" y="1368"/>
              <a:chExt cx="714" cy="390"/>
            </a:xfrm>
          </p:grpSpPr>
          <p:sp>
            <p:nvSpPr>
              <p:cNvPr id="586782" name="Rectangle 30"/>
              <p:cNvSpPr>
                <a:spLocks noChangeArrowheads="1"/>
              </p:cNvSpPr>
              <p:nvPr/>
            </p:nvSpPr>
            <p:spPr bwMode="auto">
              <a:xfrm>
                <a:off x="3492" y="1368"/>
                <a:ext cx="714" cy="210"/>
              </a:xfrm>
              <a:prstGeom prst="rect">
                <a:avLst/>
              </a:prstGeom>
              <a:solidFill>
                <a:srgbClr val="99CCFF"/>
              </a:solidFill>
              <a:ln w="9525" algn="ctr">
                <a:solidFill>
                  <a:schemeClr val="tx1"/>
                </a:solidFill>
                <a:miter lim="800000"/>
                <a:headEnd/>
                <a:tailEnd/>
              </a:ln>
              <a:effectLst/>
            </p:spPr>
            <p:txBody>
              <a:bodyPr wrap="none" anchor="ctr"/>
              <a:lstStyle/>
              <a:p>
                <a:r>
                  <a:rPr lang="en-US" altLang="zh-CN" sz="1400">
                    <a:latin typeface="Times New Roman" pitchFamily="18" charset="0"/>
                  </a:rPr>
                  <a:t>VICVectAddr15</a:t>
                </a:r>
              </a:p>
            </p:txBody>
          </p:sp>
          <p:sp>
            <p:nvSpPr>
              <p:cNvPr id="586783" name="Rectangle 31"/>
              <p:cNvSpPr>
                <a:spLocks noChangeArrowheads="1"/>
              </p:cNvSpPr>
              <p:nvPr/>
            </p:nvSpPr>
            <p:spPr bwMode="auto">
              <a:xfrm>
                <a:off x="3492" y="1572"/>
                <a:ext cx="714" cy="186"/>
              </a:xfrm>
              <a:prstGeom prst="rect">
                <a:avLst/>
              </a:prstGeom>
              <a:solidFill>
                <a:srgbClr val="CCFFCC"/>
              </a:solidFill>
              <a:ln w="9525" algn="ctr">
                <a:solidFill>
                  <a:schemeClr val="tx1"/>
                </a:solidFill>
                <a:miter lim="800000"/>
                <a:headEnd/>
                <a:tailEnd/>
              </a:ln>
              <a:effectLst/>
            </p:spPr>
            <p:txBody>
              <a:bodyPr wrap="none" anchor="ctr"/>
              <a:lstStyle/>
              <a:p>
                <a:r>
                  <a:rPr lang="en-US" altLang="zh-CN" sz="1400">
                    <a:latin typeface="Times New Roman" pitchFamily="18" charset="0"/>
                  </a:rPr>
                  <a:t>VICVectCntl15</a:t>
                </a:r>
              </a:p>
            </p:txBody>
          </p:sp>
        </p:grpSp>
        <p:sp>
          <p:nvSpPr>
            <p:cNvPr id="586784" name="Rectangle 32"/>
            <p:cNvSpPr>
              <a:spLocks noChangeArrowheads="1"/>
            </p:cNvSpPr>
            <p:nvPr/>
          </p:nvSpPr>
          <p:spPr bwMode="auto">
            <a:xfrm>
              <a:off x="3559" y="3568"/>
              <a:ext cx="900" cy="167"/>
            </a:xfrm>
            <a:prstGeom prst="rect">
              <a:avLst/>
            </a:prstGeom>
            <a:solidFill>
              <a:srgbClr val="99CCFF"/>
            </a:solidFill>
            <a:ln w="9525" algn="ctr">
              <a:solidFill>
                <a:schemeClr val="tx1"/>
              </a:solidFill>
              <a:miter lim="800000"/>
              <a:headEnd/>
              <a:tailEnd/>
            </a:ln>
            <a:effectLst/>
          </p:spPr>
          <p:txBody>
            <a:bodyPr wrap="none" anchor="ctr"/>
            <a:lstStyle/>
            <a:p>
              <a:r>
                <a:rPr lang="en-US" altLang="zh-CN" sz="1400">
                  <a:latin typeface="Times New Roman" pitchFamily="18" charset="0"/>
                </a:rPr>
                <a:t>VICDefVectAddr</a:t>
              </a:r>
            </a:p>
          </p:txBody>
        </p:sp>
        <p:sp>
          <p:nvSpPr>
            <p:cNvPr id="586785" name="Line 33"/>
            <p:cNvSpPr>
              <a:spLocks noChangeShapeType="1"/>
            </p:cNvSpPr>
            <p:nvPr/>
          </p:nvSpPr>
          <p:spPr bwMode="auto">
            <a:xfrm>
              <a:off x="1677" y="2956"/>
              <a:ext cx="0" cy="138"/>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6786" name="Line 34"/>
            <p:cNvSpPr>
              <a:spLocks noChangeShapeType="1"/>
            </p:cNvSpPr>
            <p:nvPr/>
          </p:nvSpPr>
          <p:spPr bwMode="auto">
            <a:xfrm>
              <a:off x="2599" y="2938"/>
              <a:ext cx="0" cy="132"/>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6787" name="Rectangle 35"/>
            <p:cNvSpPr>
              <a:spLocks noChangeArrowheads="1"/>
            </p:cNvSpPr>
            <p:nvPr/>
          </p:nvSpPr>
          <p:spPr bwMode="auto">
            <a:xfrm>
              <a:off x="3292" y="2571"/>
              <a:ext cx="268" cy="1164"/>
            </a:xfrm>
            <a:prstGeom prst="rect">
              <a:avLst/>
            </a:prstGeom>
            <a:solidFill>
              <a:srgbClr val="CCFFFF"/>
            </a:solidFill>
            <a:ln w="9525" algn="ctr">
              <a:solidFill>
                <a:schemeClr val="tx1"/>
              </a:solidFill>
              <a:miter lim="800000"/>
              <a:headEnd/>
              <a:tailEnd/>
            </a:ln>
            <a:effectLst/>
          </p:spPr>
          <p:txBody>
            <a:bodyPr wrap="none" anchor="ctr"/>
            <a:lstStyle/>
            <a:p>
              <a:r>
                <a:rPr lang="en-US" altLang="zh-CN" sz="1400">
                  <a:latin typeface="Arial" charset="0"/>
                </a:rPr>
                <a:t>IRQ</a:t>
              </a:r>
            </a:p>
            <a:p>
              <a:r>
                <a:rPr lang="zh-CN" altLang="en-US" sz="1400">
                  <a:latin typeface="Arial" charset="0"/>
                </a:rPr>
                <a:t>通道</a:t>
              </a:r>
            </a:p>
            <a:p>
              <a:r>
                <a:rPr lang="zh-CN" altLang="en-US" sz="1400">
                  <a:latin typeface="Arial" charset="0"/>
                </a:rPr>
                <a:t>分配</a:t>
              </a:r>
            </a:p>
          </p:txBody>
        </p:sp>
      </p:grpSp>
      <p:sp>
        <p:nvSpPr>
          <p:cNvPr id="586788" name="Text Box 36"/>
          <p:cNvSpPr txBox="1">
            <a:spLocks noChangeArrowheads="1"/>
          </p:cNvSpPr>
          <p:nvPr/>
        </p:nvSpPr>
        <p:spPr bwMode="auto">
          <a:xfrm>
            <a:off x="1851026" y="6000751"/>
            <a:ext cx="8385175" cy="366713"/>
          </a:xfrm>
          <a:prstGeom prst="rect">
            <a:avLst/>
          </a:prstGeom>
          <a:noFill/>
          <a:ln w="9525" algn="ctr">
            <a:noFill/>
            <a:miter lim="800000"/>
            <a:headEnd/>
            <a:tailEnd/>
          </a:ln>
          <a:effectLst/>
        </p:spPr>
        <p:txBody>
          <a:bodyPr wrap="none">
            <a:spAutoFit/>
          </a:bodyPr>
          <a:lstStyle/>
          <a:p>
            <a:r>
              <a:rPr lang="zh-CN" altLang="en-US">
                <a:solidFill>
                  <a:srgbClr val="FF0000"/>
                </a:solidFill>
                <a:latin typeface="Times New Roman" pitchFamily="18" charset="0"/>
                <a:ea typeface="华文新魏" pitchFamily="2" charset="-122"/>
              </a:rPr>
              <a:t>注意：</a:t>
            </a:r>
            <a:r>
              <a:rPr lang="zh-CN" altLang="en-US">
                <a:latin typeface="Times New Roman" pitchFamily="18" charset="0"/>
                <a:ea typeface="华文新魏" pitchFamily="2" charset="-122"/>
              </a:rPr>
              <a:t>这里仅以</a:t>
            </a:r>
            <a:r>
              <a:rPr lang="en-US" altLang="zh-CN">
                <a:latin typeface="Times New Roman" pitchFamily="18" charset="0"/>
                <a:ea typeface="华文新魏" pitchFamily="2" charset="-122"/>
              </a:rPr>
              <a:t>EINT0</a:t>
            </a:r>
            <a:r>
              <a:rPr lang="zh-CN" altLang="en-US">
                <a:latin typeface="Times New Roman" pitchFamily="18" charset="0"/>
                <a:ea typeface="华文新魏" pitchFamily="2" charset="-122"/>
              </a:rPr>
              <a:t>为例来进行讲解，</a:t>
            </a:r>
            <a:r>
              <a:rPr lang="en-US" altLang="zh-CN">
                <a:latin typeface="Times New Roman" pitchFamily="18" charset="0"/>
                <a:ea typeface="华文新魏" pitchFamily="2" charset="-122"/>
              </a:rPr>
              <a:t>EINT1~EINT3</a:t>
            </a:r>
            <a:r>
              <a:rPr lang="zh-CN" altLang="en-US">
                <a:latin typeface="Times New Roman" pitchFamily="18" charset="0"/>
                <a:ea typeface="华文新魏" pitchFamily="2" charset="-122"/>
              </a:rPr>
              <a:t>与之类似，此处不再重复。</a:t>
            </a:r>
          </a:p>
        </p:txBody>
      </p:sp>
      <p:sp>
        <p:nvSpPr>
          <p:cNvPr id="586789" name="Text Box 37"/>
          <p:cNvSpPr txBox="1">
            <a:spLocks noChangeArrowheads="1"/>
          </p:cNvSpPr>
          <p:nvPr/>
        </p:nvSpPr>
        <p:spPr bwMode="auto">
          <a:xfrm>
            <a:off x="1758951" y="2433638"/>
            <a:ext cx="8691563" cy="1569660"/>
          </a:xfrm>
          <a:prstGeom prst="rect">
            <a:avLst/>
          </a:prstGeom>
          <a:noFill/>
          <a:ln w="9525" algn="ctr">
            <a:noFill/>
            <a:miter lim="800000"/>
            <a:headEnd/>
            <a:tailEnd/>
          </a:ln>
          <a:effectLst/>
        </p:spPr>
        <p:txBody>
          <a:bodyPr>
            <a:spAutoFit/>
          </a:bodyPr>
          <a:lstStyle/>
          <a:p>
            <a:pPr algn="l"/>
            <a:r>
              <a:rPr lang="en-US" altLang="zh-CN" sz="2400">
                <a:latin typeface="Times New Roman" pitchFamily="18" charset="0"/>
                <a:ea typeface="华文新魏" pitchFamily="2" charset="-122"/>
              </a:rPr>
              <a:t>      </a:t>
            </a:r>
            <a:r>
              <a:rPr lang="zh-CN" altLang="en-US" sz="2400">
                <a:latin typeface="Times New Roman" pitchFamily="18" charset="0"/>
                <a:ea typeface="华文新魏" pitchFamily="2" charset="-122"/>
              </a:rPr>
              <a:t>外部中断</a:t>
            </a:r>
            <a:r>
              <a:rPr lang="en-US" altLang="zh-CN" sz="2400">
                <a:latin typeface="Times New Roman" pitchFamily="18" charset="0"/>
                <a:ea typeface="华文新魏" pitchFamily="2" charset="-122"/>
              </a:rPr>
              <a:t>0</a:t>
            </a:r>
            <a:r>
              <a:rPr lang="zh-CN" altLang="en-US" sz="2400">
                <a:latin typeface="Times New Roman" pitchFamily="18" charset="0"/>
                <a:ea typeface="华文新魏" pitchFamily="2" charset="-122"/>
              </a:rPr>
              <a:t>位于</a:t>
            </a:r>
            <a:r>
              <a:rPr lang="en-US" altLang="zh-CN" sz="2400">
                <a:latin typeface="Times New Roman" pitchFamily="18" charset="0"/>
                <a:ea typeface="华文新魏" pitchFamily="2" charset="-122"/>
              </a:rPr>
              <a:t>VIC</a:t>
            </a:r>
            <a:r>
              <a:rPr lang="zh-CN" altLang="en-US" sz="2400">
                <a:latin typeface="Times New Roman" pitchFamily="18" charset="0"/>
                <a:ea typeface="华文新魏" pitchFamily="2" charset="-122"/>
              </a:rPr>
              <a:t>通道</a:t>
            </a:r>
            <a:r>
              <a:rPr lang="en-US" altLang="zh-CN" sz="2400">
                <a:latin typeface="Times New Roman" pitchFamily="18" charset="0"/>
                <a:ea typeface="华文新魏" pitchFamily="2" charset="-122"/>
              </a:rPr>
              <a:t>14</a:t>
            </a:r>
            <a:r>
              <a:rPr lang="zh-CN" altLang="en-US" sz="2400">
                <a:latin typeface="Times New Roman" pitchFamily="18" charset="0"/>
                <a:ea typeface="华文新魏" pitchFamily="2" charset="-122"/>
              </a:rPr>
              <a:t>，中断使能寄存器</a:t>
            </a:r>
            <a:r>
              <a:rPr lang="en-US" altLang="zh-CN" sz="2400">
                <a:latin typeface="Times New Roman" pitchFamily="18" charset="0"/>
                <a:ea typeface="华文新魏" pitchFamily="2" charset="-122"/>
              </a:rPr>
              <a:t>VICIntEnable[14]</a:t>
            </a:r>
            <a:r>
              <a:rPr lang="zh-CN" altLang="en-US" sz="2400">
                <a:latin typeface="Times New Roman" pitchFamily="18" charset="0"/>
                <a:ea typeface="华文新魏" pitchFamily="2" charset="-122"/>
              </a:rPr>
              <a:t>用来控制通道</a:t>
            </a:r>
            <a:r>
              <a:rPr lang="en-US" altLang="zh-CN" sz="2400">
                <a:latin typeface="Times New Roman" pitchFamily="18" charset="0"/>
                <a:ea typeface="华文新魏" pitchFamily="2" charset="-122"/>
              </a:rPr>
              <a:t>14</a:t>
            </a:r>
            <a:r>
              <a:rPr lang="zh-CN" altLang="en-US" sz="2400">
                <a:latin typeface="Times New Roman" pitchFamily="18" charset="0"/>
                <a:ea typeface="华文新魏" pitchFamily="2" charset="-122"/>
              </a:rPr>
              <a:t>的使能：</a:t>
            </a:r>
          </a:p>
          <a:p>
            <a:pPr algn="l">
              <a:buFont typeface="Wingdings" pitchFamily="2" charset="2"/>
              <a:buNone/>
            </a:pPr>
            <a:r>
              <a:rPr lang="zh-CN" altLang="en-US" sz="2400">
                <a:latin typeface="Times New Roman" pitchFamily="18" charset="0"/>
                <a:ea typeface="华文新魏" pitchFamily="2" charset="-122"/>
              </a:rPr>
              <a:t>      当</a:t>
            </a:r>
            <a:r>
              <a:rPr lang="en-US" altLang="zh-CN" sz="2400">
                <a:latin typeface="Times New Roman" pitchFamily="18" charset="0"/>
                <a:ea typeface="华文新魏" pitchFamily="2" charset="-122"/>
              </a:rPr>
              <a:t>VICIntEnable[14] = 0</a:t>
            </a:r>
            <a:r>
              <a:rPr lang="zh-CN" altLang="en-US" sz="2400">
                <a:latin typeface="Times New Roman" pitchFamily="18" charset="0"/>
                <a:ea typeface="华文新魏" pitchFamily="2" charset="-122"/>
              </a:rPr>
              <a:t>时，通道</a:t>
            </a:r>
            <a:r>
              <a:rPr lang="en-US" altLang="zh-CN" sz="2400">
                <a:latin typeface="Times New Roman" pitchFamily="18" charset="0"/>
                <a:ea typeface="华文新魏" pitchFamily="2" charset="-122"/>
              </a:rPr>
              <a:t>14</a:t>
            </a:r>
            <a:r>
              <a:rPr lang="zh-CN" altLang="en-US" sz="2400">
                <a:latin typeface="Times New Roman" pitchFamily="18" charset="0"/>
                <a:ea typeface="华文新魏" pitchFamily="2" charset="-122"/>
              </a:rPr>
              <a:t>中断禁止</a:t>
            </a:r>
          </a:p>
          <a:p>
            <a:pPr algn="l">
              <a:buFont typeface="Wingdings" pitchFamily="2" charset="2"/>
              <a:buNone/>
            </a:pPr>
            <a:r>
              <a:rPr lang="zh-CN" altLang="en-US" sz="2400">
                <a:latin typeface="Times New Roman" pitchFamily="18" charset="0"/>
                <a:ea typeface="华文新魏" pitchFamily="2" charset="-122"/>
              </a:rPr>
              <a:t>      当</a:t>
            </a:r>
            <a:r>
              <a:rPr lang="en-US" altLang="zh-CN" sz="2400">
                <a:latin typeface="Times New Roman" pitchFamily="18" charset="0"/>
                <a:ea typeface="华文新魏" pitchFamily="2" charset="-122"/>
              </a:rPr>
              <a:t>VICIntEnable[14] = 1</a:t>
            </a:r>
            <a:r>
              <a:rPr lang="zh-CN" altLang="en-US" sz="2400">
                <a:latin typeface="Times New Roman" pitchFamily="18" charset="0"/>
                <a:ea typeface="华文新魏" pitchFamily="2" charset="-122"/>
              </a:rPr>
              <a:t>时，通道</a:t>
            </a:r>
            <a:r>
              <a:rPr lang="en-US" altLang="zh-CN" sz="2400">
                <a:latin typeface="Times New Roman" pitchFamily="18" charset="0"/>
                <a:ea typeface="华文新魏" pitchFamily="2" charset="-122"/>
              </a:rPr>
              <a:t>14</a:t>
            </a:r>
            <a:r>
              <a:rPr lang="zh-CN" altLang="en-US" sz="2400">
                <a:latin typeface="Times New Roman" pitchFamily="18" charset="0"/>
                <a:ea typeface="华文新魏" pitchFamily="2" charset="-122"/>
              </a:rPr>
              <a:t>中断使能</a:t>
            </a:r>
          </a:p>
        </p:txBody>
      </p:sp>
      <p:sp>
        <p:nvSpPr>
          <p:cNvPr id="586791" name="Oval 39"/>
          <p:cNvSpPr>
            <a:spLocks noChangeArrowheads="1"/>
          </p:cNvSpPr>
          <p:nvPr/>
        </p:nvSpPr>
        <p:spPr bwMode="auto">
          <a:xfrm>
            <a:off x="3406775" y="4855251"/>
            <a:ext cx="1479550" cy="519351"/>
          </a:xfrm>
          <a:prstGeom prst="ellipse">
            <a:avLst/>
          </a:prstGeom>
          <a:noFill/>
          <a:ln w="19050" algn="ctr">
            <a:solidFill>
              <a:srgbClr val="FF0000"/>
            </a:solidFill>
            <a:round/>
            <a:headEnd/>
            <a:tailEnd/>
          </a:ln>
          <a:effectLst/>
        </p:spPr>
        <p:txBody>
          <a:bodyPr anchor="ctr">
            <a:spAutoFit/>
          </a:bodyPr>
          <a:lstStyle/>
          <a:p>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7814" name="Group 38"/>
          <p:cNvGrpSpPr>
            <a:grpSpLocks/>
          </p:cNvGrpSpPr>
          <p:nvPr/>
        </p:nvGrpSpPr>
        <p:grpSpPr bwMode="auto">
          <a:xfrm>
            <a:off x="2000250" y="4081463"/>
            <a:ext cx="8096250" cy="1847850"/>
            <a:chOff x="300" y="2571"/>
            <a:chExt cx="5100" cy="1164"/>
          </a:xfrm>
        </p:grpSpPr>
        <p:sp>
          <p:nvSpPr>
            <p:cNvPr id="587780" name="Rectangle 4"/>
            <p:cNvSpPr>
              <a:spLocks noChangeArrowheads="1"/>
            </p:cNvSpPr>
            <p:nvPr/>
          </p:nvSpPr>
          <p:spPr bwMode="auto">
            <a:xfrm>
              <a:off x="2353" y="3058"/>
              <a:ext cx="492" cy="33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587781" name="Rectangle 5"/>
            <p:cNvSpPr>
              <a:spLocks noChangeArrowheads="1"/>
            </p:cNvSpPr>
            <p:nvPr/>
          </p:nvSpPr>
          <p:spPr bwMode="auto">
            <a:xfrm>
              <a:off x="1509" y="3100"/>
              <a:ext cx="330" cy="264"/>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587782" name="Rectangle 6"/>
            <p:cNvSpPr>
              <a:spLocks noChangeArrowheads="1"/>
            </p:cNvSpPr>
            <p:nvPr/>
          </p:nvSpPr>
          <p:spPr bwMode="auto">
            <a:xfrm>
              <a:off x="949" y="3125"/>
              <a:ext cx="432" cy="232"/>
            </a:xfrm>
            <a:prstGeom prst="rect">
              <a:avLst/>
            </a:prstGeom>
            <a:solidFill>
              <a:srgbClr val="FFCC99"/>
            </a:solidFill>
            <a:ln w="9525" algn="ctr">
              <a:solidFill>
                <a:schemeClr val="tx1"/>
              </a:solidFill>
              <a:miter lim="800000"/>
              <a:headEnd/>
              <a:tailEnd/>
            </a:ln>
            <a:effectLst/>
          </p:spPr>
          <p:txBody>
            <a:bodyPr wrap="none" anchor="ctr"/>
            <a:lstStyle/>
            <a:p>
              <a:r>
                <a:rPr lang="zh-CN" altLang="en-US" sz="1400">
                  <a:latin typeface="Arial" charset="0"/>
                </a:rPr>
                <a:t>通道</a:t>
              </a:r>
              <a:r>
                <a:rPr lang="en-US" altLang="zh-CN" sz="1400">
                  <a:latin typeface="Arial" charset="0"/>
                </a:rPr>
                <a:t>14</a:t>
              </a:r>
            </a:p>
          </p:txBody>
        </p:sp>
        <p:sp>
          <p:nvSpPr>
            <p:cNvPr id="587783" name="Text Box 7"/>
            <p:cNvSpPr txBox="1">
              <a:spLocks noChangeArrowheads="1"/>
            </p:cNvSpPr>
            <p:nvPr/>
          </p:nvSpPr>
          <p:spPr bwMode="auto">
            <a:xfrm>
              <a:off x="300" y="3133"/>
              <a:ext cx="471"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EINT0</a:t>
              </a:r>
            </a:p>
          </p:txBody>
        </p:sp>
        <p:sp>
          <p:nvSpPr>
            <p:cNvPr id="587784" name="Text Box 8"/>
            <p:cNvSpPr txBox="1">
              <a:spLocks noChangeArrowheads="1"/>
            </p:cNvSpPr>
            <p:nvPr/>
          </p:nvSpPr>
          <p:spPr bwMode="auto">
            <a:xfrm>
              <a:off x="4401" y="2595"/>
              <a:ext cx="931" cy="192"/>
            </a:xfrm>
            <a:prstGeom prst="rect">
              <a:avLst/>
            </a:prstGeom>
            <a:noFill/>
            <a:ln w="9525" algn="ctr">
              <a:noFill/>
              <a:miter lim="800000"/>
              <a:headEnd/>
              <a:tailEnd/>
            </a:ln>
            <a:effectLst/>
          </p:spPr>
          <p:txBody>
            <a:bodyPr>
              <a:spAutoFit/>
            </a:bodyPr>
            <a:lstStyle/>
            <a:p>
              <a:r>
                <a:rPr lang="zh-CN" altLang="en-US" sz="1400">
                  <a:latin typeface="Times New Roman" pitchFamily="18" charset="0"/>
                </a:rPr>
                <a:t>向量</a:t>
              </a:r>
              <a:r>
                <a:rPr lang="en-US" altLang="zh-CN" sz="1400">
                  <a:latin typeface="Times New Roman" pitchFamily="18" charset="0"/>
                </a:rPr>
                <a:t>IRQ</a:t>
              </a:r>
              <a:r>
                <a:rPr lang="zh-CN" altLang="en-US" sz="1400">
                  <a:latin typeface="Times New Roman" pitchFamily="18" charset="0"/>
                </a:rPr>
                <a:t>通道</a:t>
              </a:r>
              <a:r>
                <a:rPr lang="en-US" altLang="zh-CN" sz="1400">
                  <a:latin typeface="Times New Roman" pitchFamily="18" charset="0"/>
                </a:rPr>
                <a:t>0</a:t>
              </a:r>
            </a:p>
          </p:txBody>
        </p:sp>
        <p:sp>
          <p:nvSpPr>
            <p:cNvPr id="587785" name="Text Box 9"/>
            <p:cNvSpPr txBox="1">
              <a:spLocks noChangeArrowheads="1"/>
            </p:cNvSpPr>
            <p:nvPr/>
          </p:nvSpPr>
          <p:spPr bwMode="auto">
            <a:xfrm>
              <a:off x="4401" y="3125"/>
              <a:ext cx="999" cy="192"/>
            </a:xfrm>
            <a:prstGeom prst="rect">
              <a:avLst/>
            </a:prstGeom>
            <a:noFill/>
            <a:ln w="9525" algn="ctr">
              <a:noFill/>
              <a:miter lim="800000"/>
              <a:headEnd/>
              <a:tailEnd/>
            </a:ln>
            <a:effectLst/>
          </p:spPr>
          <p:txBody>
            <a:bodyPr>
              <a:spAutoFit/>
            </a:bodyPr>
            <a:lstStyle/>
            <a:p>
              <a:r>
                <a:rPr lang="zh-CN" altLang="en-US" sz="1400">
                  <a:latin typeface="Times New Roman" pitchFamily="18" charset="0"/>
                </a:rPr>
                <a:t>向量</a:t>
              </a:r>
              <a:r>
                <a:rPr lang="en-US" altLang="zh-CN" sz="1400">
                  <a:latin typeface="Times New Roman" pitchFamily="18" charset="0"/>
                </a:rPr>
                <a:t>IRQ</a:t>
              </a:r>
              <a:r>
                <a:rPr lang="zh-CN" altLang="en-US" sz="1400">
                  <a:latin typeface="Times New Roman" pitchFamily="18" charset="0"/>
                </a:rPr>
                <a:t>通道</a:t>
              </a:r>
              <a:r>
                <a:rPr lang="en-US" altLang="zh-CN" sz="1400">
                  <a:latin typeface="Times New Roman" pitchFamily="18" charset="0"/>
                </a:rPr>
                <a:t>15</a:t>
              </a:r>
            </a:p>
          </p:txBody>
        </p:sp>
        <p:sp>
          <p:nvSpPr>
            <p:cNvPr id="587786" name="Text Box 10"/>
            <p:cNvSpPr txBox="1">
              <a:spLocks noChangeArrowheads="1"/>
            </p:cNvSpPr>
            <p:nvPr/>
          </p:nvSpPr>
          <p:spPr bwMode="auto">
            <a:xfrm>
              <a:off x="4401" y="3475"/>
              <a:ext cx="986" cy="192"/>
            </a:xfrm>
            <a:prstGeom prst="rect">
              <a:avLst/>
            </a:prstGeom>
            <a:noFill/>
            <a:ln w="9525" algn="ctr">
              <a:noFill/>
              <a:miter lim="800000"/>
              <a:headEnd/>
              <a:tailEnd/>
            </a:ln>
            <a:effectLst/>
          </p:spPr>
          <p:txBody>
            <a:bodyPr>
              <a:spAutoFit/>
            </a:bodyPr>
            <a:lstStyle/>
            <a:p>
              <a:r>
                <a:rPr lang="zh-CN" altLang="en-US" sz="1400">
                  <a:latin typeface="Times New Roman" pitchFamily="18" charset="0"/>
                </a:rPr>
                <a:t>非向量</a:t>
              </a:r>
              <a:r>
                <a:rPr lang="en-US" altLang="zh-CN" sz="1400">
                  <a:latin typeface="Times New Roman" pitchFamily="18" charset="0"/>
                </a:rPr>
                <a:t>IRQ</a:t>
              </a:r>
              <a:r>
                <a:rPr lang="zh-CN" altLang="en-US" sz="1400">
                  <a:latin typeface="Times New Roman" pitchFamily="18" charset="0"/>
                </a:rPr>
                <a:t>通道</a:t>
              </a:r>
            </a:p>
          </p:txBody>
        </p:sp>
        <p:sp>
          <p:nvSpPr>
            <p:cNvPr id="587787" name="Line 11"/>
            <p:cNvSpPr>
              <a:spLocks noChangeShapeType="1"/>
            </p:cNvSpPr>
            <p:nvPr/>
          </p:nvSpPr>
          <p:spPr bwMode="auto">
            <a:xfrm>
              <a:off x="4436" y="2774"/>
              <a:ext cx="88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7788" name="Line 12"/>
            <p:cNvSpPr>
              <a:spLocks noChangeShapeType="1"/>
            </p:cNvSpPr>
            <p:nvPr/>
          </p:nvSpPr>
          <p:spPr bwMode="auto">
            <a:xfrm>
              <a:off x="4446" y="3306"/>
              <a:ext cx="84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7789" name="Line 13"/>
            <p:cNvSpPr>
              <a:spLocks noChangeShapeType="1"/>
            </p:cNvSpPr>
            <p:nvPr/>
          </p:nvSpPr>
          <p:spPr bwMode="auto">
            <a:xfrm>
              <a:off x="4452" y="3652"/>
              <a:ext cx="842"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7790" name="Line 14"/>
            <p:cNvSpPr>
              <a:spLocks noChangeShapeType="1"/>
            </p:cNvSpPr>
            <p:nvPr/>
          </p:nvSpPr>
          <p:spPr bwMode="auto">
            <a:xfrm>
              <a:off x="4874" y="2876"/>
              <a:ext cx="0" cy="216"/>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87791" name="Line 15"/>
            <p:cNvSpPr>
              <a:spLocks noChangeShapeType="1"/>
            </p:cNvSpPr>
            <p:nvPr/>
          </p:nvSpPr>
          <p:spPr bwMode="auto">
            <a:xfrm>
              <a:off x="1388" y="3238"/>
              <a:ext cx="182" cy="0"/>
            </a:xfrm>
            <a:prstGeom prst="line">
              <a:avLst/>
            </a:prstGeom>
            <a:noFill/>
            <a:ln w="9525">
              <a:solidFill>
                <a:srgbClr val="FF0000"/>
              </a:solidFill>
              <a:round/>
              <a:headEnd/>
              <a:tailEnd type="oval" w="sm" len="sm"/>
            </a:ln>
            <a:effectLst/>
          </p:spPr>
          <p:txBody>
            <a:bodyPr wrap="none" anchor="ctr"/>
            <a:lstStyle/>
            <a:p>
              <a:endParaRPr lang="zh-CN" altLang="en-US"/>
            </a:p>
          </p:txBody>
        </p:sp>
        <p:sp>
          <p:nvSpPr>
            <p:cNvPr id="587792" name="Line 16"/>
            <p:cNvSpPr>
              <a:spLocks noChangeShapeType="1"/>
            </p:cNvSpPr>
            <p:nvPr/>
          </p:nvSpPr>
          <p:spPr bwMode="auto">
            <a:xfrm>
              <a:off x="749" y="3238"/>
              <a:ext cx="2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7793" name="Line 17"/>
            <p:cNvSpPr>
              <a:spLocks noChangeShapeType="1"/>
            </p:cNvSpPr>
            <p:nvPr/>
          </p:nvSpPr>
          <p:spPr bwMode="auto">
            <a:xfrm>
              <a:off x="1758" y="3239"/>
              <a:ext cx="715" cy="0"/>
            </a:xfrm>
            <a:prstGeom prst="line">
              <a:avLst/>
            </a:prstGeom>
            <a:noFill/>
            <a:ln w="9525">
              <a:solidFill>
                <a:srgbClr val="FF0000"/>
              </a:solidFill>
              <a:round/>
              <a:headEnd type="oval" w="sm" len="sm"/>
              <a:tailEnd type="oval" w="sm" len="sm"/>
            </a:ln>
            <a:effectLst/>
          </p:spPr>
          <p:txBody>
            <a:bodyPr wrap="none" anchor="ctr"/>
            <a:lstStyle/>
            <a:p>
              <a:endParaRPr lang="zh-CN" altLang="en-US"/>
            </a:p>
          </p:txBody>
        </p:sp>
        <p:sp>
          <p:nvSpPr>
            <p:cNvPr id="587794" name="Line 18"/>
            <p:cNvSpPr>
              <a:spLocks noChangeShapeType="1"/>
            </p:cNvSpPr>
            <p:nvPr/>
          </p:nvSpPr>
          <p:spPr bwMode="auto">
            <a:xfrm>
              <a:off x="2731" y="3130"/>
              <a:ext cx="558" cy="0"/>
            </a:xfrm>
            <a:prstGeom prst="line">
              <a:avLst/>
            </a:prstGeom>
            <a:noFill/>
            <a:ln w="9525">
              <a:solidFill>
                <a:srgbClr val="FF0000"/>
              </a:solidFill>
              <a:round/>
              <a:headEnd type="oval" w="sm" len="sm"/>
              <a:tailEnd type="triangle" w="med" len="med"/>
            </a:ln>
            <a:effectLst/>
          </p:spPr>
          <p:txBody>
            <a:bodyPr wrap="none" anchor="ctr"/>
            <a:lstStyle/>
            <a:p>
              <a:endParaRPr lang="zh-CN" altLang="en-US"/>
            </a:p>
          </p:txBody>
        </p:sp>
        <p:sp>
          <p:nvSpPr>
            <p:cNvPr id="587795" name="Line 19"/>
            <p:cNvSpPr>
              <a:spLocks noChangeShapeType="1"/>
            </p:cNvSpPr>
            <p:nvPr/>
          </p:nvSpPr>
          <p:spPr bwMode="auto">
            <a:xfrm>
              <a:off x="2731" y="3334"/>
              <a:ext cx="420"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587796" name="Line 20"/>
            <p:cNvSpPr>
              <a:spLocks noChangeShapeType="1"/>
            </p:cNvSpPr>
            <p:nvPr/>
          </p:nvSpPr>
          <p:spPr bwMode="auto">
            <a:xfrm flipV="1">
              <a:off x="2479" y="3098"/>
              <a:ext cx="266" cy="140"/>
            </a:xfrm>
            <a:prstGeom prst="line">
              <a:avLst/>
            </a:prstGeom>
            <a:noFill/>
            <a:ln w="9525">
              <a:solidFill>
                <a:srgbClr val="FF0000"/>
              </a:solidFill>
              <a:round/>
              <a:headEnd/>
              <a:tailEnd/>
            </a:ln>
            <a:effectLst/>
          </p:spPr>
          <p:txBody>
            <a:bodyPr wrap="none" anchor="ctr"/>
            <a:lstStyle/>
            <a:p>
              <a:endParaRPr lang="zh-CN" altLang="en-US"/>
            </a:p>
          </p:txBody>
        </p:sp>
        <p:sp>
          <p:nvSpPr>
            <p:cNvPr id="587797" name="Text Box 21"/>
            <p:cNvSpPr txBox="1">
              <a:spLocks noChangeArrowheads="1"/>
            </p:cNvSpPr>
            <p:nvPr/>
          </p:nvSpPr>
          <p:spPr bwMode="auto">
            <a:xfrm>
              <a:off x="2104" y="2776"/>
              <a:ext cx="982"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VICIntSelect[14]</a:t>
              </a:r>
            </a:p>
          </p:txBody>
        </p:sp>
        <p:sp>
          <p:nvSpPr>
            <p:cNvPr id="587798" name="Line 22"/>
            <p:cNvSpPr>
              <a:spLocks noChangeShapeType="1"/>
            </p:cNvSpPr>
            <p:nvPr/>
          </p:nvSpPr>
          <p:spPr bwMode="auto">
            <a:xfrm flipV="1">
              <a:off x="1569" y="3216"/>
              <a:ext cx="206" cy="22"/>
            </a:xfrm>
            <a:prstGeom prst="line">
              <a:avLst/>
            </a:prstGeom>
            <a:noFill/>
            <a:ln w="9525">
              <a:solidFill>
                <a:srgbClr val="FF0000"/>
              </a:solidFill>
              <a:round/>
              <a:headEnd/>
              <a:tailEnd/>
            </a:ln>
            <a:effectLst/>
          </p:spPr>
          <p:txBody>
            <a:bodyPr wrap="none" anchor="ctr"/>
            <a:lstStyle/>
            <a:p>
              <a:endParaRPr lang="zh-CN" altLang="en-US"/>
            </a:p>
          </p:txBody>
        </p:sp>
        <p:sp>
          <p:nvSpPr>
            <p:cNvPr id="587799" name="Text Box 23"/>
            <p:cNvSpPr txBox="1">
              <a:spLocks noChangeArrowheads="1"/>
            </p:cNvSpPr>
            <p:nvPr/>
          </p:nvSpPr>
          <p:spPr bwMode="auto">
            <a:xfrm>
              <a:off x="1170" y="2768"/>
              <a:ext cx="1005"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VICIntEnable[14]</a:t>
              </a:r>
            </a:p>
          </p:txBody>
        </p:sp>
        <p:sp>
          <p:nvSpPr>
            <p:cNvPr id="587800" name="Text Box 24"/>
            <p:cNvSpPr txBox="1">
              <a:spLocks noChangeArrowheads="1"/>
            </p:cNvSpPr>
            <p:nvPr/>
          </p:nvSpPr>
          <p:spPr bwMode="auto">
            <a:xfrm>
              <a:off x="2753" y="2971"/>
              <a:ext cx="469"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IRQ</a:t>
              </a:r>
            </a:p>
          </p:txBody>
        </p:sp>
        <p:sp>
          <p:nvSpPr>
            <p:cNvPr id="587801" name="Text Box 25"/>
            <p:cNvSpPr txBox="1">
              <a:spLocks noChangeArrowheads="1"/>
            </p:cNvSpPr>
            <p:nvPr/>
          </p:nvSpPr>
          <p:spPr bwMode="auto">
            <a:xfrm>
              <a:off x="2841" y="3181"/>
              <a:ext cx="300"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FIQ</a:t>
              </a:r>
            </a:p>
          </p:txBody>
        </p:sp>
        <p:grpSp>
          <p:nvGrpSpPr>
            <p:cNvPr id="587802" name="Group 26"/>
            <p:cNvGrpSpPr>
              <a:grpSpLocks/>
            </p:cNvGrpSpPr>
            <p:nvPr/>
          </p:nvGrpSpPr>
          <p:grpSpPr bwMode="auto">
            <a:xfrm>
              <a:off x="3559" y="2571"/>
              <a:ext cx="900" cy="390"/>
              <a:chOff x="3492" y="1368"/>
              <a:chExt cx="714" cy="390"/>
            </a:xfrm>
          </p:grpSpPr>
          <p:sp>
            <p:nvSpPr>
              <p:cNvPr id="587803" name="Rectangle 27"/>
              <p:cNvSpPr>
                <a:spLocks noChangeArrowheads="1"/>
              </p:cNvSpPr>
              <p:nvPr/>
            </p:nvSpPr>
            <p:spPr bwMode="auto">
              <a:xfrm>
                <a:off x="3492" y="1368"/>
                <a:ext cx="714" cy="210"/>
              </a:xfrm>
              <a:prstGeom prst="rect">
                <a:avLst/>
              </a:prstGeom>
              <a:solidFill>
                <a:srgbClr val="99CCFF"/>
              </a:solidFill>
              <a:ln w="9525" algn="ctr">
                <a:solidFill>
                  <a:schemeClr val="tx1"/>
                </a:solidFill>
                <a:miter lim="800000"/>
                <a:headEnd/>
                <a:tailEnd/>
              </a:ln>
              <a:effectLst/>
            </p:spPr>
            <p:txBody>
              <a:bodyPr wrap="none" anchor="ctr"/>
              <a:lstStyle/>
              <a:p>
                <a:r>
                  <a:rPr lang="en-US" altLang="zh-CN" sz="1400">
                    <a:latin typeface="Times New Roman" pitchFamily="18" charset="0"/>
                  </a:rPr>
                  <a:t>VICVectAddr0</a:t>
                </a:r>
              </a:p>
            </p:txBody>
          </p:sp>
          <p:sp>
            <p:nvSpPr>
              <p:cNvPr id="587804" name="Rectangle 28"/>
              <p:cNvSpPr>
                <a:spLocks noChangeArrowheads="1"/>
              </p:cNvSpPr>
              <p:nvPr/>
            </p:nvSpPr>
            <p:spPr bwMode="auto">
              <a:xfrm>
                <a:off x="3492" y="1572"/>
                <a:ext cx="714" cy="186"/>
              </a:xfrm>
              <a:prstGeom prst="rect">
                <a:avLst/>
              </a:prstGeom>
              <a:solidFill>
                <a:srgbClr val="CCFFCC"/>
              </a:solidFill>
              <a:ln w="9525" algn="ctr">
                <a:solidFill>
                  <a:schemeClr val="tx1"/>
                </a:solidFill>
                <a:miter lim="800000"/>
                <a:headEnd/>
                <a:tailEnd/>
              </a:ln>
              <a:effectLst/>
            </p:spPr>
            <p:txBody>
              <a:bodyPr wrap="none" anchor="ctr"/>
              <a:lstStyle/>
              <a:p>
                <a:r>
                  <a:rPr lang="en-US" altLang="zh-CN" sz="1400">
                    <a:latin typeface="Times New Roman" pitchFamily="18" charset="0"/>
                  </a:rPr>
                  <a:t>VICVectCntl0</a:t>
                </a:r>
              </a:p>
            </p:txBody>
          </p:sp>
        </p:grpSp>
        <p:grpSp>
          <p:nvGrpSpPr>
            <p:cNvPr id="587805" name="Group 29"/>
            <p:cNvGrpSpPr>
              <a:grpSpLocks/>
            </p:cNvGrpSpPr>
            <p:nvPr/>
          </p:nvGrpSpPr>
          <p:grpSpPr bwMode="auto">
            <a:xfrm>
              <a:off x="3559" y="3100"/>
              <a:ext cx="900" cy="390"/>
              <a:chOff x="3492" y="1368"/>
              <a:chExt cx="714" cy="390"/>
            </a:xfrm>
          </p:grpSpPr>
          <p:sp>
            <p:nvSpPr>
              <p:cNvPr id="587806" name="Rectangle 30"/>
              <p:cNvSpPr>
                <a:spLocks noChangeArrowheads="1"/>
              </p:cNvSpPr>
              <p:nvPr/>
            </p:nvSpPr>
            <p:spPr bwMode="auto">
              <a:xfrm>
                <a:off x="3492" y="1368"/>
                <a:ext cx="714" cy="210"/>
              </a:xfrm>
              <a:prstGeom prst="rect">
                <a:avLst/>
              </a:prstGeom>
              <a:solidFill>
                <a:srgbClr val="99CCFF"/>
              </a:solidFill>
              <a:ln w="9525" algn="ctr">
                <a:solidFill>
                  <a:schemeClr val="tx1"/>
                </a:solidFill>
                <a:miter lim="800000"/>
                <a:headEnd/>
                <a:tailEnd/>
              </a:ln>
              <a:effectLst/>
            </p:spPr>
            <p:txBody>
              <a:bodyPr wrap="none" anchor="ctr"/>
              <a:lstStyle/>
              <a:p>
                <a:r>
                  <a:rPr lang="en-US" altLang="zh-CN" sz="1400">
                    <a:latin typeface="Times New Roman" pitchFamily="18" charset="0"/>
                  </a:rPr>
                  <a:t>VICVectAddr15</a:t>
                </a:r>
              </a:p>
            </p:txBody>
          </p:sp>
          <p:sp>
            <p:nvSpPr>
              <p:cNvPr id="587807" name="Rectangle 31"/>
              <p:cNvSpPr>
                <a:spLocks noChangeArrowheads="1"/>
              </p:cNvSpPr>
              <p:nvPr/>
            </p:nvSpPr>
            <p:spPr bwMode="auto">
              <a:xfrm>
                <a:off x="3492" y="1572"/>
                <a:ext cx="714" cy="186"/>
              </a:xfrm>
              <a:prstGeom prst="rect">
                <a:avLst/>
              </a:prstGeom>
              <a:solidFill>
                <a:srgbClr val="CCFFCC"/>
              </a:solidFill>
              <a:ln w="9525" algn="ctr">
                <a:solidFill>
                  <a:schemeClr val="tx1"/>
                </a:solidFill>
                <a:miter lim="800000"/>
                <a:headEnd/>
                <a:tailEnd/>
              </a:ln>
              <a:effectLst/>
            </p:spPr>
            <p:txBody>
              <a:bodyPr wrap="none" anchor="ctr"/>
              <a:lstStyle/>
              <a:p>
                <a:r>
                  <a:rPr lang="en-US" altLang="zh-CN" sz="1400">
                    <a:latin typeface="Times New Roman" pitchFamily="18" charset="0"/>
                  </a:rPr>
                  <a:t>VICVectCntl15</a:t>
                </a:r>
              </a:p>
            </p:txBody>
          </p:sp>
        </p:grpSp>
        <p:sp>
          <p:nvSpPr>
            <p:cNvPr id="587808" name="Rectangle 32"/>
            <p:cNvSpPr>
              <a:spLocks noChangeArrowheads="1"/>
            </p:cNvSpPr>
            <p:nvPr/>
          </p:nvSpPr>
          <p:spPr bwMode="auto">
            <a:xfrm>
              <a:off x="3559" y="3568"/>
              <a:ext cx="900" cy="167"/>
            </a:xfrm>
            <a:prstGeom prst="rect">
              <a:avLst/>
            </a:prstGeom>
            <a:solidFill>
              <a:srgbClr val="99CCFF"/>
            </a:solidFill>
            <a:ln w="9525" algn="ctr">
              <a:solidFill>
                <a:schemeClr val="tx1"/>
              </a:solidFill>
              <a:miter lim="800000"/>
              <a:headEnd/>
              <a:tailEnd/>
            </a:ln>
            <a:effectLst/>
          </p:spPr>
          <p:txBody>
            <a:bodyPr wrap="none" anchor="ctr"/>
            <a:lstStyle/>
            <a:p>
              <a:r>
                <a:rPr lang="en-US" altLang="zh-CN" sz="1400">
                  <a:latin typeface="Times New Roman" pitchFamily="18" charset="0"/>
                </a:rPr>
                <a:t>VICDefVectAddr</a:t>
              </a:r>
            </a:p>
          </p:txBody>
        </p:sp>
        <p:sp>
          <p:nvSpPr>
            <p:cNvPr id="587809" name="Line 33"/>
            <p:cNvSpPr>
              <a:spLocks noChangeShapeType="1"/>
            </p:cNvSpPr>
            <p:nvPr/>
          </p:nvSpPr>
          <p:spPr bwMode="auto">
            <a:xfrm>
              <a:off x="1677" y="2956"/>
              <a:ext cx="0" cy="138"/>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7810" name="Line 34"/>
            <p:cNvSpPr>
              <a:spLocks noChangeShapeType="1"/>
            </p:cNvSpPr>
            <p:nvPr/>
          </p:nvSpPr>
          <p:spPr bwMode="auto">
            <a:xfrm>
              <a:off x="2599" y="2938"/>
              <a:ext cx="0" cy="132"/>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7811" name="Rectangle 35"/>
            <p:cNvSpPr>
              <a:spLocks noChangeArrowheads="1"/>
            </p:cNvSpPr>
            <p:nvPr/>
          </p:nvSpPr>
          <p:spPr bwMode="auto">
            <a:xfrm>
              <a:off x="3292" y="2571"/>
              <a:ext cx="268" cy="1164"/>
            </a:xfrm>
            <a:prstGeom prst="rect">
              <a:avLst/>
            </a:prstGeom>
            <a:solidFill>
              <a:srgbClr val="CCFFFF"/>
            </a:solidFill>
            <a:ln w="9525" algn="ctr">
              <a:solidFill>
                <a:schemeClr val="tx1"/>
              </a:solidFill>
              <a:miter lim="800000"/>
              <a:headEnd/>
              <a:tailEnd/>
            </a:ln>
            <a:effectLst/>
          </p:spPr>
          <p:txBody>
            <a:bodyPr wrap="none" anchor="ctr"/>
            <a:lstStyle/>
            <a:p>
              <a:r>
                <a:rPr lang="en-US" altLang="zh-CN" sz="1400">
                  <a:latin typeface="Arial" charset="0"/>
                </a:rPr>
                <a:t>IRQ</a:t>
              </a:r>
            </a:p>
            <a:p>
              <a:r>
                <a:rPr lang="zh-CN" altLang="en-US" sz="1400">
                  <a:latin typeface="Arial" charset="0"/>
                </a:rPr>
                <a:t>通道</a:t>
              </a:r>
            </a:p>
            <a:p>
              <a:r>
                <a:rPr lang="zh-CN" altLang="en-US" sz="1400">
                  <a:latin typeface="Arial" charset="0"/>
                </a:rPr>
                <a:t>分配</a:t>
              </a:r>
            </a:p>
          </p:txBody>
        </p:sp>
      </p:grpSp>
      <p:sp>
        <p:nvSpPr>
          <p:cNvPr id="587778" name="Rectangle 2"/>
          <p:cNvSpPr>
            <a:spLocks noChangeArrowheads="1"/>
          </p:cNvSpPr>
          <p:nvPr/>
        </p:nvSpPr>
        <p:spPr bwMode="auto">
          <a:xfrm>
            <a:off x="2209800" y="609600"/>
            <a:ext cx="7772400" cy="1143000"/>
          </a:xfrm>
          <a:prstGeom prst="rect">
            <a:avLst/>
          </a:prstGeom>
          <a:noFill/>
          <a:ln w="9525">
            <a:noFill/>
            <a:miter lim="800000"/>
            <a:headEnd/>
            <a:tailEnd/>
          </a:ln>
          <a:effectLst/>
        </p:spPr>
        <p:txBody>
          <a:bodyPr anchor="ctr"/>
          <a:lstStyle/>
          <a:p>
            <a:r>
              <a:rPr lang="en-US" altLang="zh-CN" sz="4400" dirty="0"/>
              <a:t>5.3.6</a:t>
            </a:r>
            <a:r>
              <a:rPr lang="en-US" altLang="zh-CN" sz="4400" dirty="0">
                <a:solidFill>
                  <a:schemeClr val="tx2"/>
                </a:solidFill>
                <a:latin typeface="Times New Roman" pitchFamily="18" charset="0"/>
              </a:rPr>
              <a:t>  </a:t>
            </a:r>
            <a:r>
              <a:rPr lang="zh-CN" altLang="en-US" sz="4400" dirty="0">
                <a:solidFill>
                  <a:schemeClr val="tx2"/>
                </a:solidFill>
                <a:latin typeface="Times New Roman" pitchFamily="18" charset="0"/>
              </a:rPr>
              <a:t>外部中断输入</a:t>
            </a:r>
          </a:p>
        </p:txBody>
      </p:sp>
      <p:sp>
        <p:nvSpPr>
          <p:cNvPr id="587779" name="Rectangle 3"/>
          <p:cNvSpPr>
            <a:spLocks noChangeArrowheads="1"/>
          </p:cNvSpPr>
          <p:nvPr/>
        </p:nvSpPr>
        <p:spPr bwMode="auto">
          <a:xfrm>
            <a:off x="2209800" y="17510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外部中断与</a:t>
            </a:r>
            <a:r>
              <a:rPr lang="en-US" altLang="zh-CN" sz="3200">
                <a:latin typeface="Times New Roman" pitchFamily="18" charset="0"/>
              </a:rPr>
              <a:t>VIC</a:t>
            </a:r>
            <a:r>
              <a:rPr lang="zh-CN" altLang="en-US" sz="3200">
                <a:latin typeface="Times New Roman" pitchFamily="18" charset="0"/>
              </a:rPr>
              <a:t>的关系</a:t>
            </a:r>
          </a:p>
        </p:txBody>
      </p:sp>
      <p:sp>
        <p:nvSpPr>
          <p:cNvPr id="587812" name="Text Box 36"/>
          <p:cNvSpPr txBox="1">
            <a:spLocks noChangeArrowheads="1"/>
          </p:cNvSpPr>
          <p:nvPr/>
        </p:nvSpPr>
        <p:spPr bwMode="auto">
          <a:xfrm>
            <a:off x="1851026" y="6000751"/>
            <a:ext cx="8385175" cy="366713"/>
          </a:xfrm>
          <a:prstGeom prst="rect">
            <a:avLst/>
          </a:prstGeom>
          <a:noFill/>
          <a:ln w="9525" algn="ctr">
            <a:noFill/>
            <a:miter lim="800000"/>
            <a:headEnd/>
            <a:tailEnd/>
          </a:ln>
          <a:effectLst/>
        </p:spPr>
        <p:txBody>
          <a:bodyPr wrap="none">
            <a:spAutoFit/>
          </a:bodyPr>
          <a:lstStyle/>
          <a:p>
            <a:r>
              <a:rPr lang="zh-CN" altLang="en-US">
                <a:solidFill>
                  <a:srgbClr val="FF0000"/>
                </a:solidFill>
                <a:latin typeface="Times New Roman" pitchFamily="18" charset="0"/>
                <a:ea typeface="华文新魏" pitchFamily="2" charset="-122"/>
              </a:rPr>
              <a:t>注意：</a:t>
            </a:r>
            <a:r>
              <a:rPr lang="zh-CN" altLang="en-US">
                <a:latin typeface="Times New Roman" pitchFamily="18" charset="0"/>
                <a:ea typeface="华文新魏" pitchFamily="2" charset="-122"/>
              </a:rPr>
              <a:t>这里仅以</a:t>
            </a:r>
            <a:r>
              <a:rPr lang="en-US" altLang="zh-CN">
                <a:latin typeface="Times New Roman" pitchFamily="18" charset="0"/>
                <a:ea typeface="华文新魏" pitchFamily="2" charset="-122"/>
              </a:rPr>
              <a:t>EINT0</a:t>
            </a:r>
            <a:r>
              <a:rPr lang="zh-CN" altLang="en-US">
                <a:latin typeface="Times New Roman" pitchFamily="18" charset="0"/>
                <a:ea typeface="华文新魏" pitchFamily="2" charset="-122"/>
              </a:rPr>
              <a:t>为例来进行讲解，</a:t>
            </a:r>
            <a:r>
              <a:rPr lang="en-US" altLang="zh-CN">
                <a:latin typeface="Times New Roman" pitchFamily="18" charset="0"/>
                <a:ea typeface="华文新魏" pitchFamily="2" charset="-122"/>
              </a:rPr>
              <a:t>EINT1~EINT3</a:t>
            </a:r>
            <a:r>
              <a:rPr lang="zh-CN" altLang="en-US">
                <a:latin typeface="Times New Roman" pitchFamily="18" charset="0"/>
                <a:ea typeface="华文新魏" pitchFamily="2" charset="-122"/>
              </a:rPr>
              <a:t>与之类似，此处不再重复。</a:t>
            </a:r>
          </a:p>
        </p:txBody>
      </p:sp>
      <p:sp>
        <p:nvSpPr>
          <p:cNvPr id="587813" name="Text Box 37"/>
          <p:cNvSpPr txBox="1">
            <a:spLocks noChangeArrowheads="1"/>
          </p:cNvSpPr>
          <p:nvPr/>
        </p:nvSpPr>
        <p:spPr bwMode="auto">
          <a:xfrm>
            <a:off x="1758951" y="2433638"/>
            <a:ext cx="8691563" cy="1569660"/>
          </a:xfrm>
          <a:prstGeom prst="rect">
            <a:avLst/>
          </a:prstGeom>
          <a:noFill/>
          <a:ln w="9525" algn="ctr">
            <a:noFill/>
            <a:miter lim="800000"/>
            <a:headEnd/>
            <a:tailEnd/>
          </a:ln>
          <a:effectLst/>
        </p:spPr>
        <p:txBody>
          <a:bodyPr>
            <a:spAutoFit/>
          </a:bodyPr>
          <a:lstStyle/>
          <a:p>
            <a:pPr algn="l"/>
            <a:r>
              <a:rPr lang="en-US" altLang="zh-CN" sz="2400">
                <a:latin typeface="Times New Roman" pitchFamily="18" charset="0"/>
                <a:ea typeface="华文新魏" pitchFamily="2" charset="-122"/>
              </a:rPr>
              <a:t>      </a:t>
            </a:r>
            <a:r>
              <a:rPr lang="zh-CN" altLang="en-US" sz="2400">
                <a:latin typeface="Times New Roman" pitchFamily="18" charset="0"/>
                <a:ea typeface="华文新魏" pitchFamily="2" charset="-122"/>
              </a:rPr>
              <a:t>外部中断</a:t>
            </a:r>
            <a:r>
              <a:rPr lang="en-US" altLang="zh-CN" sz="2400">
                <a:latin typeface="Times New Roman" pitchFamily="18" charset="0"/>
                <a:ea typeface="华文新魏" pitchFamily="2" charset="-122"/>
              </a:rPr>
              <a:t>0</a:t>
            </a:r>
            <a:r>
              <a:rPr lang="zh-CN" altLang="en-US" sz="2400">
                <a:latin typeface="Times New Roman" pitchFamily="18" charset="0"/>
                <a:ea typeface="华文新魏" pitchFamily="2" charset="-122"/>
              </a:rPr>
              <a:t>位于</a:t>
            </a:r>
            <a:r>
              <a:rPr lang="en-US" altLang="zh-CN" sz="2400">
                <a:latin typeface="Times New Roman" pitchFamily="18" charset="0"/>
                <a:ea typeface="华文新魏" pitchFamily="2" charset="-122"/>
              </a:rPr>
              <a:t>VIC</a:t>
            </a:r>
            <a:r>
              <a:rPr lang="zh-CN" altLang="en-US" sz="2400">
                <a:latin typeface="Times New Roman" pitchFamily="18" charset="0"/>
                <a:ea typeface="华文新魏" pitchFamily="2" charset="-122"/>
              </a:rPr>
              <a:t>通道</a:t>
            </a:r>
            <a:r>
              <a:rPr lang="en-US" altLang="zh-CN" sz="2400">
                <a:latin typeface="Times New Roman" pitchFamily="18" charset="0"/>
                <a:ea typeface="华文新魏" pitchFamily="2" charset="-122"/>
              </a:rPr>
              <a:t>14</a:t>
            </a:r>
            <a:r>
              <a:rPr lang="zh-CN" altLang="en-US" sz="2400">
                <a:latin typeface="Times New Roman" pitchFamily="18" charset="0"/>
                <a:ea typeface="华文新魏" pitchFamily="2" charset="-122"/>
              </a:rPr>
              <a:t>，中断选择寄存器</a:t>
            </a:r>
            <a:r>
              <a:rPr lang="en-US" altLang="zh-CN" sz="2400">
                <a:latin typeface="Times New Roman" pitchFamily="18" charset="0"/>
                <a:ea typeface="华文新魏" pitchFamily="2" charset="-122"/>
              </a:rPr>
              <a:t>VICIntSelect[14]</a:t>
            </a:r>
            <a:r>
              <a:rPr lang="zh-CN" altLang="en-US" sz="2400">
                <a:latin typeface="Times New Roman" pitchFamily="18" charset="0"/>
                <a:ea typeface="华文新魏" pitchFamily="2" charset="-122"/>
              </a:rPr>
              <a:t>用来选择通道</a:t>
            </a:r>
            <a:r>
              <a:rPr lang="en-US" altLang="zh-CN" sz="2400">
                <a:latin typeface="Times New Roman" pitchFamily="18" charset="0"/>
                <a:ea typeface="华文新魏" pitchFamily="2" charset="-122"/>
              </a:rPr>
              <a:t>14</a:t>
            </a:r>
            <a:r>
              <a:rPr lang="zh-CN" altLang="en-US" sz="2400">
                <a:latin typeface="Times New Roman" pitchFamily="18" charset="0"/>
                <a:ea typeface="华文新魏" pitchFamily="2" charset="-122"/>
              </a:rPr>
              <a:t>的中断类型：</a:t>
            </a:r>
          </a:p>
          <a:p>
            <a:pPr algn="l">
              <a:buFont typeface="Wingdings" pitchFamily="2" charset="2"/>
              <a:buNone/>
            </a:pPr>
            <a:r>
              <a:rPr lang="zh-CN" altLang="en-US" sz="2400">
                <a:latin typeface="Times New Roman" pitchFamily="18" charset="0"/>
                <a:ea typeface="华文新魏" pitchFamily="2" charset="-122"/>
              </a:rPr>
              <a:t>      当</a:t>
            </a:r>
            <a:r>
              <a:rPr lang="en-US" altLang="zh-CN" sz="2400">
                <a:latin typeface="Times New Roman" pitchFamily="18" charset="0"/>
              </a:rPr>
              <a:t>VICIntSelect[14</a:t>
            </a:r>
            <a:r>
              <a:rPr lang="en-US" altLang="zh-CN" sz="2400">
                <a:latin typeface="Times New Roman" pitchFamily="18" charset="0"/>
                <a:ea typeface="华文新魏" pitchFamily="2" charset="-122"/>
              </a:rPr>
              <a:t>] = 0</a:t>
            </a:r>
            <a:r>
              <a:rPr lang="zh-CN" altLang="en-US" sz="2400">
                <a:latin typeface="Times New Roman" pitchFamily="18" charset="0"/>
                <a:ea typeface="华文新魏" pitchFamily="2" charset="-122"/>
              </a:rPr>
              <a:t>时，通道</a:t>
            </a:r>
            <a:r>
              <a:rPr lang="en-US" altLang="zh-CN" sz="2400">
                <a:latin typeface="Times New Roman" pitchFamily="18" charset="0"/>
                <a:ea typeface="华文新魏" pitchFamily="2" charset="-122"/>
              </a:rPr>
              <a:t>14</a:t>
            </a:r>
            <a:r>
              <a:rPr lang="zh-CN" altLang="en-US" sz="2400">
                <a:latin typeface="Times New Roman" pitchFamily="18" charset="0"/>
                <a:ea typeface="华文新魏" pitchFamily="2" charset="-122"/>
              </a:rPr>
              <a:t>分配为</a:t>
            </a:r>
            <a:r>
              <a:rPr lang="en-US" altLang="zh-CN" sz="2400">
                <a:latin typeface="Times New Roman" pitchFamily="18" charset="0"/>
                <a:ea typeface="华文新魏" pitchFamily="2" charset="-122"/>
              </a:rPr>
              <a:t>IRQ</a:t>
            </a:r>
            <a:r>
              <a:rPr lang="zh-CN" altLang="en-US" sz="2400">
                <a:latin typeface="Times New Roman" pitchFamily="18" charset="0"/>
                <a:ea typeface="华文新魏" pitchFamily="2" charset="-122"/>
              </a:rPr>
              <a:t>中断</a:t>
            </a:r>
          </a:p>
          <a:p>
            <a:pPr algn="l">
              <a:buFont typeface="Wingdings" pitchFamily="2" charset="2"/>
              <a:buNone/>
            </a:pPr>
            <a:r>
              <a:rPr lang="zh-CN" altLang="en-US" sz="2400">
                <a:latin typeface="Times New Roman" pitchFamily="18" charset="0"/>
                <a:ea typeface="华文新魏" pitchFamily="2" charset="-122"/>
              </a:rPr>
              <a:t>      </a:t>
            </a:r>
          </a:p>
        </p:txBody>
      </p:sp>
      <p:sp>
        <p:nvSpPr>
          <p:cNvPr id="587815" name="Oval 39"/>
          <p:cNvSpPr>
            <a:spLocks noChangeArrowheads="1"/>
          </p:cNvSpPr>
          <p:nvPr/>
        </p:nvSpPr>
        <p:spPr bwMode="auto">
          <a:xfrm>
            <a:off x="4791075" y="4856838"/>
            <a:ext cx="259766" cy="519351"/>
          </a:xfrm>
          <a:prstGeom prst="ellipse">
            <a:avLst/>
          </a:prstGeom>
          <a:noFill/>
          <a:ln w="19050" algn="ctr">
            <a:solidFill>
              <a:srgbClr val="FF0000"/>
            </a:solidFill>
            <a:round/>
            <a:headEnd/>
            <a:tailEnd/>
          </a:ln>
          <a:effectLst/>
        </p:spPr>
        <p:txBody>
          <a:bodyPr wrap="none"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87813"/>
                                        </p:tgtEl>
                                        <p:attrNameLst>
                                          <p:attrName>style.visibility</p:attrName>
                                        </p:attrNameLst>
                                      </p:cBhvr>
                                      <p:to>
                                        <p:strVal val="visible"/>
                                      </p:to>
                                    </p:set>
                                    <p:animEffect transition="in" filter="wipe(up)">
                                      <p:cBhvr>
                                        <p:cTn id="7" dur="500"/>
                                        <p:tgtEl>
                                          <p:spTgt spid="587813"/>
                                        </p:tgtEl>
                                      </p:cBhvr>
                                    </p:animEffect>
                                  </p:childTnLst>
                                </p:cTn>
                              </p:par>
                              <p:par>
                                <p:cTn id="8" presetID="22" presetClass="entr" presetSubtype="1" fill="hold" nodeType="withEffect">
                                  <p:stCondLst>
                                    <p:cond delay="0"/>
                                  </p:stCondLst>
                                  <p:childTnLst>
                                    <p:set>
                                      <p:cBhvr>
                                        <p:cTn id="9" dur="1" fill="hold">
                                          <p:stCondLst>
                                            <p:cond delay="0"/>
                                          </p:stCondLst>
                                        </p:cTn>
                                        <p:tgtEl>
                                          <p:spTgt spid="587814"/>
                                        </p:tgtEl>
                                        <p:attrNameLst>
                                          <p:attrName>style.visibility</p:attrName>
                                        </p:attrNameLst>
                                      </p:cBhvr>
                                      <p:to>
                                        <p:strVal val="visible"/>
                                      </p:to>
                                    </p:set>
                                    <p:animEffect transition="in" filter="wipe(up)">
                                      <p:cBhvr>
                                        <p:cTn id="10" dur="500"/>
                                        <p:tgtEl>
                                          <p:spTgt spid="587814"/>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587812"/>
                                        </p:tgtEl>
                                        <p:attrNameLst>
                                          <p:attrName>style.visibility</p:attrName>
                                        </p:attrNameLst>
                                      </p:cBhvr>
                                      <p:to>
                                        <p:strVal val="visible"/>
                                      </p:to>
                                    </p:set>
                                    <p:animEffect transition="in" filter="wipe(up)">
                                      <p:cBhvr>
                                        <p:cTn id="13" dur="500"/>
                                        <p:tgtEl>
                                          <p:spTgt spid="587812"/>
                                        </p:tgtEl>
                                      </p:cBhvr>
                                    </p:animEffect>
                                  </p:childTnLst>
                                </p:cTn>
                              </p:par>
                            </p:childTnLst>
                          </p:cTn>
                        </p:par>
                        <p:par>
                          <p:cTn id="14" fill="hold">
                            <p:stCondLst>
                              <p:cond delay="500"/>
                            </p:stCondLst>
                            <p:childTnLst>
                              <p:par>
                                <p:cTn id="15" presetID="22" presetClass="entr" presetSubtype="4" fill="hold" grpId="0" nodeType="afterEffect">
                                  <p:stCondLst>
                                    <p:cond delay="0"/>
                                  </p:stCondLst>
                                  <p:childTnLst>
                                    <p:set>
                                      <p:cBhvr>
                                        <p:cTn id="16" dur="1" fill="hold">
                                          <p:stCondLst>
                                            <p:cond delay="0"/>
                                          </p:stCondLst>
                                        </p:cTn>
                                        <p:tgtEl>
                                          <p:spTgt spid="587815"/>
                                        </p:tgtEl>
                                        <p:attrNameLst>
                                          <p:attrName>style.visibility</p:attrName>
                                        </p:attrNameLst>
                                      </p:cBhvr>
                                      <p:to>
                                        <p:strVal val="visible"/>
                                      </p:to>
                                    </p:set>
                                    <p:animEffect transition="in" filter="wipe(down)">
                                      <p:cBhvr>
                                        <p:cTn id="17" dur="500"/>
                                        <p:tgtEl>
                                          <p:spTgt spid="5878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7812" grpId="0"/>
      <p:bldP spid="587813" grpId="0"/>
      <p:bldP spid="587815"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p:cNvSpPr>
            <a:spLocks noChangeArrowheads="1"/>
          </p:cNvSpPr>
          <p:nvPr/>
        </p:nvSpPr>
        <p:spPr bwMode="auto">
          <a:xfrm>
            <a:off x="2209800" y="609600"/>
            <a:ext cx="7772400" cy="1143000"/>
          </a:xfrm>
          <a:prstGeom prst="rect">
            <a:avLst/>
          </a:prstGeom>
          <a:noFill/>
          <a:ln w="9525">
            <a:noFill/>
            <a:miter lim="800000"/>
            <a:headEnd/>
            <a:tailEnd/>
          </a:ln>
          <a:effectLst/>
        </p:spPr>
        <p:txBody>
          <a:bodyPr anchor="ctr"/>
          <a:lstStyle/>
          <a:p>
            <a:r>
              <a:rPr lang="en-US" altLang="zh-CN" sz="4400" dirty="0"/>
              <a:t>5.3.6</a:t>
            </a:r>
            <a:r>
              <a:rPr lang="en-US" altLang="zh-CN" sz="4400" dirty="0">
                <a:solidFill>
                  <a:schemeClr val="tx2"/>
                </a:solidFill>
                <a:latin typeface="Times New Roman" pitchFamily="18" charset="0"/>
              </a:rPr>
              <a:t>  </a:t>
            </a:r>
            <a:r>
              <a:rPr lang="zh-CN" altLang="en-US" sz="4400" dirty="0">
                <a:solidFill>
                  <a:schemeClr val="tx2"/>
                </a:solidFill>
                <a:latin typeface="Times New Roman" pitchFamily="18" charset="0"/>
              </a:rPr>
              <a:t>外部中断输入</a:t>
            </a:r>
          </a:p>
        </p:txBody>
      </p:sp>
      <p:sp>
        <p:nvSpPr>
          <p:cNvPr id="588803" name="Rectangle 3"/>
          <p:cNvSpPr>
            <a:spLocks noChangeArrowheads="1"/>
          </p:cNvSpPr>
          <p:nvPr/>
        </p:nvSpPr>
        <p:spPr bwMode="auto">
          <a:xfrm>
            <a:off x="2209800" y="17510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外部中断与</a:t>
            </a:r>
            <a:r>
              <a:rPr lang="en-US" altLang="zh-CN" sz="3200">
                <a:latin typeface="Times New Roman" pitchFamily="18" charset="0"/>
              </a:rPr>
              <a:t>VIC</a:t>
            </a:r>
            <a:r>
              <a:rPr lang="zh-CN" altLang="en-US" sz="3200">
                <a:latin typeface="Times New Roman" pitchFamily="18" charset="0"/>
              </a:rPr>
              <a:t>的关系</a:t>
            </a:r>
          </a:p>
        </p:txBody>
      </p:sp>
      <p:grpSp>
        <p:nvGrpSpPr>
          <p:cNvPr id="588838" name="Group 38"/>
          <p:cNvGrpSpPr>
            <a:grpSpLocks/>
          </p:cNvGrpSpPr>
          <p:nvPr/>
        </p:nvGrpSpPr>
        <p:grpSpPr bwMode="auto">
          <a:xfrm>
            <a:off x="2000250" y="4081463"/>
            <a:ext cx="8096250" cy="1847850"/>
            <a:chOff x="300" y="2571"/>
            <a:chExt cx="5100" cy="1164"/>
          </a:xfrm>
        </p:grpSpPr>
        <p:sp>
          <p:nvSpPr>
            <p:cNvPr id="588804" name="Rectangle 4"/>
            <p:cNvSpPr>
              <a:spLocks noChangeArrowheads="1"/>
            </p:cNvSpPr>
            <p:nvPr/>
          </p:nvSpPr>
          <p:spPr bwMode="auto">
            <a:xfrm>
              <a:off x="2353" y="3058"/>
              <a:ext cx="492" cy="33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588805" name="Rectangle 5"/>
            <p:cNvSpPr>
              <a:spLocks noChangeArrowheads="1"/>
            </p:cNvSpPr>
            <p:nvPr/>
          </p:nvSpPr>
          <p:spPr bwMode="auto">
            <a:xfrm>
              <a:off x="1509" y="3100"/>
              <a:ext cx="330" cy="264"/>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588806" name="Rectangle 6"/>
            <p:cNvSpPr>
              <a:spLocks noChangeArrowheads="1"/>
            </p:cNvSpPr>
            <p:nvPr/>
          </p:nvSpPr>
          <p:spPr bwMode="auto">
            <a:xfrm>
              <a:off x="949" y="3125"/>
              <a:ext cx="432" cy="232"/>
            </a:xfrm>
            <a:prstGeom prst="rect">
              <a:avLst/>
            </a:prstGeom>
            <a:solidFill>
              <a:srgbClr val="FFCC99"/>
            </a:solidFill>
            <a:ln w="9525" algn="ctr">
              <a:solidFill>
                <a:schemeClr val="tx1"/>
              </a:solidFill>
              <a:miter lim="800000"/>
              <a:headEnd/>
              <a:tailEnd/>
            </a:ln>
            <a:effectLst/>
          </p:spPr>
          <p:txBody>
            <a:bodyPr wrap="none" anchor="ctr"/>
            <a:lstStyle/>
            <a:p>
              <a:r>
                <a:rPr lang="zh-CN" altLang="en-US" sz="1400">
                  <a:latin typeface="Arial" charset="0"/>
                </a:rPr>
                <a:t>通道</a:t>
              </a:r>
              <a:r>
                <a:rPr lang="en-US" altLang="zh-CN" sz="1400">
                  <a:latin typeface="Arial" charset="0"/>
                </a:rPr>
                <a:t>14</a:t>
              </a:r>
            </a:p>
          </p:txBody>
        </p:sp>
        <p:sp>
          <p:nvSpPr>
            <p:cNvPr id="588807" name="Text Box 7"/>
            <p:cNvSpPr txBox="1">
              <a:spLocks noChangeArrowheads="1"/>
            </p:cNvSpPr>
            <p:nvPr/>
          </p:nvSpPr>
          <p:spPr bwMode="auto">
            <a:xfrm>
              <a:off x="300" y="3133"/>
              <a:ext cx="471"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EINT0</a:t>
              </a:r>
            </a:p>
          </p:txBody>
        </p:sp>
        <p:sp>
          <p:nvSpPr>
            <p:cNvPr id="588808" name="Text Box 8"/>
            <p:cNvSpPr txBox="1">
              <a:spLocks noChangeArrowheads="1"/>
            </p:cNvSpPr>
            <p:nvPr/>
          </p:nvSpPr>
          <p:spPr bwMode="auto">
            <a:xfrm>
              <a:off x="4401" y="2595"/>
              <a:ext cx="931" cy="192"/>
            </a:xfrm>
            <a:prstGeom prst="rect">
              <a:avLst/>
            </a:prstGeom>
            <a:noFill/>
            <a:ln w="9525" algn="ctr">
              <a:noFill/>
              <a:miter lim="800000"/>
              <a:headEnd/>
              <a:tailEnd/>
            </a:ln>
            <a:effectLst/>
          </p:spPr>
          <p:txBody>
            <a:bodyPr>
              <a:spAutoFit/>
            </a:bodyPr>
            <a:lstStyle/>
            <a:p>
              <a:r>
                <a:rPr lang="zh-CN" altLang="en-US" sz="1400">
                  <a:latin typeface="Times New Roman" pitchFamily="18" charset="0"/>
                </a:rPr>
                <a:t>向量</a:t>
              </a:r>
              <a:r>
                <a:rPr lang="en-US" altLang="zh-CN" sz="1400">
                  <a:latin typeface="Times New Roman" pitchFamily="18" charset="0"/>
                </a:rPr>
                <a:t>IRQ</a:t>
              </a:r>
              <a:r>
                <a:rPr lang="zh-CN" altLang="en-US" sz="1400">
                  <a:latin typeface="Times New Roman" pitchFamily="18" charset="0"/>
                </a:rPr>
                <a:t>通道</a:t>
              </a:r>
              <a:r>
                <a:rPr lang="en-US" altLang="zh-CN" sz="1400">
                  <a:latin typeface="Times New Roman" pitchFamily="18" charset="0"/>
                </a:rPr>
                <a:t>0</a:t>
              </a:r>
            </a:p>
          </p:txBody>
        </p:sp>
        <p:sp>
          <p:nvSpPr>
            <p:cNvPr id="588809" name="Text Box 9"/>
            <p:cNvSpPr txBox="1">
              <a:spLocks noChangeArrowheads="1"/>
            </p:cNvSpPr>
            <p:nvPr/>
          </p:nvSpPr>
          <p:spPr bwMode="auto">
            <a:xfrm>
              <a:off x="4401" y="3125"/>
              <a:ext cx="999" cy="192"/>
            </a:xfrm>
            <a:prstGeom prst="rect">
              <a:avLst/>
            </a:prstGeom>
            <a:noFill/>
            <a:ln w="9525" algn="ctr">
              <a:noFill/>
              <a:miter lim="800000"/>
              <a:headEnd/>
              <a:tailEnd/>
            </a:ln>
            <a:effectLst/>
          </p:spPr>
          <p:txBody>
            <a:bodyPr>
              <a:spAutoFit/>
            </a:bodyPr>
            <a:lstStyle/>
            <a:p>
              <a:r>
                <a:rPr lang="zh-CN" altLang="en-US" sz="1400">
                  <a:latin typeface="Times New Roman" pitchFamily="18" charset="0"/>
                </a:rPr>
                <a:t>向量</a:t>
              </a:r>
              <a:r>
                <a:rPr lang="en-US" altLang="zh-CN" sz="1400">
                  <a:latin typeface="Times New Roman" pitchFamily="18" charset="0"/>
                </a:rPr>
                <a:t>IRQ</a:t>
              </a:r>
              <a:r>
                <a:rPr lang="zh-CN" altLang="en-US" sz="1400">
                  <a:latin typeface="Times New Roman" pitchFamily="18" charset="0"/>
                </a:rPr>
                <a:t>通道</a:t>
              </a:r>
              <a:r>
                <a:rPr lang="en-US" altLang="zh-CN" sz="1400">
                  <a:latin typeface="Times New Roman" pitchFamily="18" charset="0"/>
                </a:rPr>
                <a:t>15</a:t>
              </a:r>
            </a:p>
          </p:txBody>
        </p:sp>
        <p:sp>
          <p:nvSpPr>
            <p:cNvPr id="588810" name="Text Box 10"/>
            <p:cNvSpPr txBox="1">
              <a:spLocks noChangeArrowheads="1"/>
            </p:cNvSpPr>
            <p:nvPr/>
          </p:nvSpPr>
          <p:spPr bwMode="auto">
            <a:xfrm>
              <a:off x="4401" y="3475"/>
              <a:ext cx="986" cy="192"/>
            </a:xfrm>
            <a:prstGeom prst="rect">
              <a:avLst/>
            </a:prstGeom>
            <a:noFill/>
            <a:ln w="9525" algn="ctr">
              <a:noFill/>
              <a:miter lim="800000"/>
              <a:headEnd/>
              <a:tailEnd/>
            </a:ln>
            <a:effectLst/>
          </p:spPr>
          <p:txBody>
            <a:bodyPr>
              <a:spAutoFit/>
            </a:bodyPr>
            <a:lstStyle/>
            <a:p>
              <a:r>
                <a:rPr lang="zh-CN" altLang="en-US" sz="1400">
                  <a:latin typeface="Times New Roman" pitchFamily="18" charset="0"/>
                </a:rPr>
                <a:t>非向量</a:t>
              </a:r>
              <a:r>
                <a:rPr lang="en-US" altLang="zh-CN" sz="1400">
                  <a:latin typeface="Times New Roman" pitchFamily="18" charset="0"/>
                </a:rPr>
                <a:t>IRQ</a:t>
              </a:r>
              <a:r>
                <a:rPr lang="zh-CN" altLang="en-US" sz="1400">
                  <a:latin typeface="Times New Roman" pitchFamily="18" charset="0"/>
                </a:rPr>
                <a:t>通道</a:t>
              </a:r>
            </a:p>
          </p:txBody>
        </p:sp>
        <p:sp>
          <p:nvSpPr>
            <p:cNvPr id="588811" name="Line 11"/>
            <p:cNvSpPr>
              <a:spLocks noChangeShapeType="1"/>
            </p:cNvSpPr>
            <p:nvPr/>
          </p:nvSpPr>
          <p:spPr bwMode="auto">
            <a:xfrm>
              <a:off x="4436" y="2774"/>
              <a:ext cx="88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8812" name="Line 12"/>
            <p:cNvSpPr>
              <a:spLocks noChangeShapeType="1"/>
            </p:cNvSpPr>
            <p:nvPr/>
          </p:nvSpPr>
          <p:spPr bwMode="auto">
            <a:xfrm>
              <a:off x="4446" y="3306"/>
              <a:ext cx="84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8813" name="Line 13"/>
            <p:cNvSpPr>
              <a:spLocks noChangeShapeType="1"/>
            </p:cNvSpPr>
            <p:nvPr/>
          </p:nvSpPr>
          <p:spPr bwMode="auto">
            <a:xfrm>
              <a:off x="4452" y="3652"/>
              <a:ext cx="842"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8814" name="Line 14"/>
            <p:cNvSpPr>
              <a:spLocks noChangeShapeType="1"/>
            </p:cNvSpPr>
            <p:nvPr/>
          </p:nvSpPr>
          <p:spPr bwMode="auto">
            <a:xfrm>
              <a:off x="4874" y="2876"/>
              <a:ext cx="0" cy="216"/>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88815" name="Line 15"/>
            <p:cNvSpPr>
              <a:spLocks noChangeShapeType="1"/>
            </p:cNvSpPr>
            <p:nvPr/>
          </p:nvSpPr>
          <p:spPr bwMode="auto">
            <a:xfrm>
              <a:off x="1388" y="3238"/>
              <a:ext cx="182" cy="0"/>
            </a:xfrm>
            <a:prstGeom prst="line">
              <a:avLst/>
            </a:prstGeom>
            <a:noFill/>
            <a:ln w="9525">
              <a:solidFill>
                <a:srgbClr val="FF0000"/>
              </a:solidFill>
              <a:round/>
              <a:headEnd/>
              <a:tailEnd type="oval" w="sm" len="sm"/>
            </a:ln>
            <a:effectLst/>
          </p:spPr>
          <p:txBody>
            <a:bodyPr wrap="none" anchor="ctr"/>
            <a:lstStyle/>
            <a:p>
              <a:endParaRPr lang="zh-CN" altLang="en-US"/>
            </a:p>
          </p:txBody>
        </p:sp>
        <p:sp>
          <p:nvSpPr>
            <p:cNvPr id="588816" name="Line 16"/>
            <p:cNvSpPr>
              <a:spLocks noChangeShapeType="1"/>
            </p:cNvSpPr>
            <p:nvPr/>
          </p:nvSpPr>
          <p:spPr bwMode="auto">
            <a:xfrm>
              <a:off x="749" y="3238"/>
              <a:ext cx="2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8817" name="Line 17"/>
            <p:cNvSpPr>
              <a:spLocks noChangeShapeType="1"/>
            </p:cNvSpPr>
            <p:nvPr/>
          </p:nvSpPr>
          <p:spPr bwMode="auto">
            <a:xfrm>
              <a:off x="1758" y="3239"/>
              <a:ext cx="715" cy="0"/>
            </a:xfrm>
            <a:prstGeom prst="line">
              <a:avLst/>
            </a:prstGeom>
            <a:noFill/>
            <a:ln w="9525">
              <a:solidFill>
                <a:srgbClr val="FF0000"/>
              </a:solidFill>
              <a:round/>
              <a:headEnd type="oval" w="sm" len="sm"/>
              <a:tailEnd type="oval" w="sm" len="sm"/>
            </a:ln>
            <a:effectLst/>
          </p:spPr>
          <p:txBody>
            <a:bodyPr wrap="none" anchor="ctr"/>
            <a:lstStyle/>
            <a:p>
              <a:endParaRPr lang="zh-CN" altLang="en-US"/>
            </a:p>
          </p:txBody>
        </p:sp>
        <p:sp>
          <p:nvSpPr>
            <p:cNvPr id="588818" name="Line 18"/>
            <p:cNvSpPr>
              <a:spLocks noChangeShapeType="1"/>
            </p:cNvSpPr>
            <p:nvPr/>
          </p:nvSpPr>
          <p:spPr bwMode="auto">
            <a:xfrm>
              <a:off x="2731" y="3130"/>
              <a:ext cx="558"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588819" name="Line 19"/>
            <p:cNvSpPr>
              <a:spLocks noChangeShapeType="1"/>
            </p:cNvSpPr>
            <p:nvPr/>
          </p:nvSpPr>
          <p:spPr bwMode="auto">
            <a:xfrm>
              <a:off x="2731" y="3334"/>
              <a:ext cx="420" cy="0"/>
            </a:xfrm>
            <a:prstGeom prst="line">
              <a:avLst/>
            </a:prstGeom>
            <a:noFill/>
            <a:ln w="9525">
              <a:solidFill>
                <a:srgbClr val="FF0000"/>
              </a:solidFill>
              <a:round/>
              <a:headEnd type="oval" w="sm" len="sm"/>
              <a:tailEnd type="triangle" w="med" len="med"/>
            </a:ln>
            <a:effectLst/>
          </p:spPr>
          <p:txBody>
            <a:bodyPr wrap="none" anchor="ctr"/>
            <a:lstStyle/>
            <a:p>
              <a:endParaRPr lang="zh-CN" altLang="en-US"/>
            </a:p>
          </p:txBody>
        </p:sp>
        <p:sp>
          <p:nvSpPr>
            <p:cNvPr id="588820" name="Line 20"/>
            <p:cNvSpPr>
              <a:spLocks noChangeShapeType="1"/>
            </p:cNvSpPr>
            <p:nvPr/>
          </p:nvSpPr>
          <p:spPr bwMode="auto">
            <a:xfrm>
              <a:off x="2479" y="3238"/>
              <a:ext cx="258" cy="86"/>
            </a:xfrm>
            <a:prstGeom prst="line">
              <a:avLst/>
            </a:prstGeom>
            <a:noFill/>
            <a:ln w="9525">
              <a:solidFill>
                <a:srgbClr val="FF0000"/>
              </a:solidFill>
              <a:round/>
              <a:headEnd/>
              <a:tailEnd/>
            </a:ln>
            <a:effectLst/>
          </p:spPr>
          <p:txBody>
            <a:bodyPr wrap="none" anchor="ctr"/>
            <a:lstStyle/>
            <a:p>
              <a:endParaRPr lang="zh-CN" altLang="en-US"/>
            </a:p>
          </p:txBody>
        </p:sp>
        <p:sp>
          <p:nvSpPr>
            <p:cNvPr id="588821" name="Text Box 21"/>
            <p:cNvSpPr txBox="1">
              <a:spLocks noChangeArrowheads="1"/>
            </p:cNvSpPr>
            <p:nvPr/>
          </p:nvSpPr>
          <p:spPr bwMode="auto">
            <a:xfrm>
              <a:off x="2104" y="2776"/>
              <a:ext cx="982"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VICIntSelect[14]</a:t>
              </a:r>
            </a:p>
          </p:txBody>
        </p:sp>
        <p:sp>
          <p:nvSpPr>
            <p:cNvPr id="588822" name="Line 22"/>
            <p:cNvSpPr>
              <a:spLocks noChangeShapeType="1"/>
            </p:cNvSpPr>
            <p:nvPr/>
          </p:nvSpPr>
          <p:spPr bwMode="auto">
            <a:xfrm flipV="1">
              <a:off x="1569" y="3216"/>
              <a:ext cx="206" cy="22"/>
            </a:xfrm>
            <a:prstGeom prst="line">
              <a:avLst/>
            </a:prstGeom>
            <a:noFill/>
            <a:ln w="9525">
              <a:solidFill>
                <a:srgbClr val="FF0000"/>
              </a:solidFill>
              <a:round/>
              <a:headEnd/>
              <a:tailEnd/>
            </a:ln>
            <a:effectLst/>
          </p:spPr>
          <p:txBody>
            <a:bodyPr wrap="none" anchor="ctr"/>
            <a:lstStyle/>
            <a:p>
              <a:endParaRPr lang="zh-CN" altLang="en-US"/>
            </a:p>
          </p:txBody>
        </p:sp>
        <p:sp>
          <p:nvSpPr>
            <p:cNvPr id="588823" name="Text Box 23"/>
            <p:cNvSpPr txBox="1">
              <a:spLocks noChangeArrowheads="1"/>
            </p:cNvSpPr>
            <p:nvPr/>
          </p:nvSpPr>
          <p:spPr bwMode="auto">
            <a:xfrm>
              <a:off x="1170" y="2768"/>
              <a:ext cx="1005"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VICIntEnable[14]</a:t>
              </a:r>
            </a:p>
          </p:txBody>
        </p:sp>
        <p:sp>
          <p:nvSpPr>
            <p:cNvPr id="588824" name="Text Box 24"/>
            <p:cNvSpPr txBox="1">
              <a:spLocks noChangeArrowheads="1"/>
            </p:cNvSpPr>
            <p:nvPr/>
          </p:nvSpPr>
          <p:spPr bwMode="auto">
            <a:xfrm>
              <a:off x="2753" y="2971"/>
              <a:ext cx="469"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IRQ</a:t>
              </a:r>
            </a:p>
          </p:txBody>
        </p:sp>
        <p:sp>
          <p:nvSpPr>
            <p:cNvPr id="588825" name="Text Box 25"/>
            <p:cNvSpPr txBox="1">
              <a:spLocks noChangeArrowheads="1"/>
            </p:cNvSpPr>
            <p:nvPr/>
          </p:nvSpPr>
          <p:spPr bwMode="auto">
            <a:xfrm>
              <a:off x="2841" y="3181"/>
              <a:ext cx="300"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FIQ</a:t>
              </a:r>
            </a:p>
          </p:txBody>
        </p:sp>
        <p:grpSp>
          <p:nvGrpSpPr>
            <p:cNvPr id="588826" name="Group 26"/>
            <p:cNvGrpSpPr>
              <a:grpSpLocks/>
            </p:cNvGrpSpPr>
            <p:nvPr/>
          </p:nvGrpSpPr>
          <p:grpSpPr bwMode="auto">
            <a:xfrm>
              <a:off x="3559" y="2571"/>
              <a:ext cx="900" cy="390"/>
              <a:chOff x="3492" y="1368"/>
              <a:chExt cx="714" cy="390"/>
            </a:xfrm>
          </p:grpSpPr>
          <p:sp>
            <p:nvSpPr>
              <p:cNvPr id="588827" name="Rectangle 27"/>
              <p:cNvSpPr>
                <a:spLocks noChangeArrowheads="1"/>
              </p:cNvSpPr>
              <p:nvPr/>
            </p:nvSpPr>
            <p:spPr bwMode="auto">
              <a:xfrm>
                <a:off x="3492" y="1368"/>
                <a:ext cx="714" cy="210"/>
              </a:xfrm>
              <a:prstGeom prst="rect">
                <a:avLst/>
              </a:prstGeom>
              <a:solidFill>
                <a:srgbClr val="99CCFF"/>
              </a:solidFill>
              <a:ln w="9525" algn="ctr">
                <a:solidFill>
                  <a:schemeClr val="tx1"/>
                </a:solidFill>
                <a:miter lim="800000"/>
                <a:headEnd/>
                <a:tailEnd/>
              </a:ln>
              <a:effectLst/>
            </p:spPr>
            <p:txBody>
              <a:bodyPr wrap="none" anchor="ctr"/>
              <a:lstStyle/>
              <a:p>
                <a:r>
                  <a:rPr lang="en-US" altLang="zh-CN" sz="1400">
                    <a:latin typeface="Times New Roman" pitchFamily="18" charset="0"/>
                  </a:rPr>
                  <a:t>VICVectAddr0</a:t>
                </a:r>
              </a:p>
            </p:txBody>
          </p:sp>
          <p:sp>
            <p:nvSpPr>
              <p:cNvPr id="588828" name="Rectangle 28"/>
              <p:cNvSpPr>
                <a:spLocks noChangeArrowheads="1"/>
              </p:cNvSpPr>
              <p:nvPr/>
            </p:nvSpPr>
            <p:spPr bwMode="auto">
              <a:xfrm>
                <a:off x="3492" y="1572"/>
                <a:ext cx="714" cy="186"/>
              </a:xfrm>
              <a:prstGeom prst="rect">
                <a:avLst/>
              </a:prstGeom>
              <a:solidFill>
                <a:srgbClr val="CCFFCC"/>
              </a:solidFill>
              <a:ln w="9525" algn="ctr">
                <a:solidFill>
                  <a:schemeClr val="tx1"/>
                </a:solidFill>
                <a:miter lim="800000"/>
                <a:headEnd/>
                <a:tailEnd/>
              </a:ln>
              <a:effectLst/>
            </p:spPr>
            <p:txBody>
              <a:bodyPr wrap="none" anchor="ctr"/>
              <a:lstStyle/>
              <a:p>
                <a:r>
                  <a:rPr lang="en-US" altLang="zh-CN" sz="1400">
                    <a:latin typeface="Times New Roman" pitchFamily="18" charset="0"/>
                  </a:rPr>
                  <a:t>VICVectCntl0</a:t>
                </a:r>
              </a:p>
            </p:txBody>
          </p:sp>
        </p:grpSp>
        <p:grpSp>
          <p:nvGrpSpPr>
            <p:cNvPr id="588829" name="Group 29"/>
            <p:cNvGrpSpPr>
              <a:grpSpLocks/>
            </p:cNvGrpSpPr>
            <p:nvPr/>
          </p:nvGrpSpPr>
          <p:grpSpPr bwMode="auto">
            <a:xfrm>
              <a:off x="3559" y="3100"/>
              <a:ext cx="900" cy="390"/>
              <a:chOff x="3492" y="1368"/>
              <a:chExt cx="714" cy="390"/>
            </a:xfrm>
          </p:grpSpPr>
          <p:sp>
            <p:nvSpPr>
              <p:cNvPr id="588830" name="Rectangle 30"/>
              <p:cNvSpPr>
                <a:spLocks noChangeArrowheads="1"/>
              </p:cNvSpPr>
              <p:nvPr/>
            </p:nvSpPr>
            <p:spPr bwMode="auto">
              <a:xfrm>
                <a:off x="3492" y="1368"/>
                <a:ext cx="714" cy="210"/>
              </a:xfrm>
              <a:prstGeom prst="rect">
                <a:avLst/>
              </a:prstGeom>
              <a:solidFill>
                <a:srgbClr val="99CCFF"/>
              </a:solidFill>
              <a:ln w="9525" algn="ctr">
                <a:solidFill>
                  <a:schemeClr val="tx1"/>
                </a:solidFill>
                <a:miter lim="800000"/>
                <a:headEnd/>
                <a:tailEnd/>
              </a:ln>
              <a:effectLst/>
            </p:spPr>
            <p:txBody>
              <a:bodyPr wrap="none" anchor="ctr"/>
              <a:lstStyle/>
              <a:p>
                <a:r>
                  <a:rPr lang="en-US" altLang="zh-CN" sz="1400">
                    <a:latin typeface="Times New Roman" pitchFamily="18" charset="0"/>
                  </a:rPr>
                  <a:t>VICVectAddr15</a:t>
                </a:r>
              </a:p>
            </p:txBody>
          </p:sp>
          <p:sp>
            <p:nvSpPr>
              <p:cNvPr id="588831" name="Rectangle 31"/>
              <p:cNvSpPr>
                <a:spLocks noChangeArrowheads="1"/>
              </p:cNvSpPr>
              <p:nvPr/>
            </p:nvSpPr>
            <p:spPr bwMode="auto">
              <a:xfrm>
                <a:off x="3492" y="1572"/>
                <a:ext cx="714" cy="186"/>
              </a:xfrm>
              <a:prstGeom prst="rect">
                <a:avLst/>
              </a:prstGeom>
              <a:solidFill>
                <a:srgbClr val="CCFFCC"/>
              </a:solidFill>
              <a:ln w="9525" algn="ctr">
                <a:solidFill>
                  <a:schemeClr val="tx1"/>
                </a:solidFill>
                <a:miter lim="800000"/>
                <a:headEnd/>
                <a:tailEnd/>
              </a:ln>
              <a:effectLst/>
            </p:spPr>
            <p:txBody>
              <a:bodyPr wrap="none" anchor="ctr"/>
              <a:lstStyle/>
              <a:p>
                <a:r>
                  <a:rPr lang="en-US" altLang="zh-CN" sz="1400">
                    <a:latin typeface="Times New Roman" pitchFamily="18" charset="0"/>
                  </a:rPr>
                  <a:t>VICVectCntl15</a:t>
                </a:r>
              </a:p>
            </p:txBody>
          </p:sp>
        </p:grpSp>
        <p:sp>
          <p:nvSpPr>
            <p:cNvPr id="588832" name="Rectangle 32"/>
            <p:cNvSpPr>
              <a:spLocks noChangeArrowheads="1"/>
            </p:cNvSpPr>
            <p:nvPr/>
          </p:nvSpPr>
          <p:spPr bwMode="auto">
            <a:xfrm>
              <a:off x="3559" y="3568"/>
              <a:ext cx="900" cy="167"/>
            </a:xfrm>
            <a:prstGeom prst="rect">
              <a:avLst/>
            </a:prstGeom>
            <a:solidFill>
              <a:srgbClr val="99CCFF"/>
            </a:solidFill>
            <a:ln w="9525" algn="ctr">
              <a:solidFill>
                <a:schemeClr val="tx1"/>
              </a:solidFill>
              <a:miter lim="800000"/>
              <a:headEnd/>
              <a:tailEnd/>
            </a:ln>
            <a:effectLst/>
          </p:spPr>
          <p:txBody>
            <a:bodyPr wrap="none" anchor="ctr"/>
            <a:lstStyle/>
            <a:p>
              <a:r>
                <a:rPr lang="en-US" altLang="zh-CN" sz="1400">
                  <a:latin typeface="Times New Roman" pitchFamily="18" charset="0"/>
                </a:rPr>
                <a:t>VICDefVectAddr</a:t>
              </a:r>
            </a:p>
          </p:txBody>
        </p:sp>
        <p:sp>
          <p:nvSpPr>
            <p:cNvPr id="588833" name="Line 33"/>
            <p:cNvSpPr>
              <a:spLocks noChangeShapeType="1"/>
            </p:cNvSpPr>
            <p:nvPr/>
          </p:nvSpPr>
          <p:spPr bwMode="auto">
            <a:xfrm>
              <a:off x="1677" y="2956"/>
              <a:ext cx="0" cy="138"/>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8834" name="Line 34"/>
            <p:cNvSpPr>
              <a:spLocks noChangeShapeType="1"/>
            </p:cNvSpPr>
            <p:nvPr/>
          </p:nvSpPr>
          <p:spPr bwMode="auto">
            <a:xfrm>
              <a:off x="2599" y="2938"/>
              <a:ext cx="0" cy="132"/>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8835" name="Rectangle 35"/>
            <p:cNvSpPr>
              <a:spLocks noChangeArrowheads="1"/>
            </p:cNvSpPr>
            <p:nvPr/>
          </p:nvSpPr>
          <p:spPr bwMode="auto">
            <a:xfrm>
              <a:off x="3292" y="2571"/>
              <a:ext cx="268" cy="1164"/>
            </a:xfrm>
            <a:prstGeom prst="rect">
              <a:avLst/>
            </a:prstGeom>
            <a:solidFill>
              <a:srgbClr val="CCFFFF"/>
            </a:solidFill>
            <a:ln w="9525" algn="ctr">
              <a:solidFill>
                <a:schemeClr val="tx1"/>
              </a:solidFill>
              <a:miter lim="800000"/>
              <a:headEnd/>
              <a:tailEnd/>
            </a:ln>
            <a:effectLst/>
          </p:spPr>
          <p:txBody>
            <a:bodyPr wrap="none" anchor="ctr"/>
            <a:lstStyle/>
            <a:p>
              <a:r>
                <a:rPr lang="en-US" altLang="zh-CN" sz="1400">
                  <a:latin typeface="Arial" charset="0"/>
                </a:rPr>
                <a:t>IRQ</a:t>
              </a:r>
            </a:p>
            <a:p>
              <a:r>
                <a:rPr lang="zh-CN" altLang="en-US" sz="1400">
                  <a:latin typeface="Arial" charset="0"/>
                </a:rPr>
                <a:t>通道</a:t>
              </a:r>
            </a:p>
            <a:p>
              <a:r>
                <a:rPr lang="zh-CN" altLang="en-US" sz="1400">
                  <a:latin typeface="Arial" charset="0"/>
                </a:rPr>
                <a:t>分配</a:t>
              </a:r>
            </a:p>
          </p:txBody>
        </p:sp>
      </p:grpSp>
      <p:sp>
        <p:nvSpPr>
          <p:cNvPr id="588836" name="Text Box 36"/>
          <p:cNvSpPr txBox="1">
            <a:spLocks noChangeArrowheads="1"/>
          </p:cNvSpPr>
          <p:nvPr/>
        </p:nvSpPr>
        <p:spPr bwMode="auto">
          <a:xfrm>
            <a:off x="1851026" y="6000751"/>
            <a:ext cx="8385175" cy="366713"/>
          </a:xfrm>
          <a:prstGeom prst="rect">
            <a:avLst/>
          </a:prstGeom>
          <a:noFill/>
          <a:ln w="9525" algn="ctr">
            <a:noFill/>
            <a:miter lim="800000"/>
            <a:headEnd/>
            <a:tailEnd/>
          </a:ln>
          <a:effectLst/>
        </p:spPr>
        <p:txBody>
          <a:bodyPr wrap="none">
            <a:spAutoFit/>
          </a:bodyPr>
          <a:lstStyle/>
          <a:p>
            <a:r>
              <a:rPr lang="zh-CN" altLang="en-US">
                <a:solidFill>
                  <a:srgbClr val="FF0000"/>
                </a:solidFill>
                <a:latin typeface="Times New Roman" pitchFamily="18" charset="0"/>
                <a:ea typeface="华文新魏" pitchFamily="2" charset="-122"/>
              </a:rPr>
              <a:t>注意：</a:t>
            </a:r>
            <a:r>
              <a:rPr lang="zh-CN" altLang="en-US">
                <a:latin typeface="Times New Roman" pitchFamily="18" charset="0"/>
                <a:ea typeface="华文新魏" pitchFamily="2" charset="-122"/>
              </a:rPr>
              <a:t>这里仅以</a:t>
            </a:r>
            <a:r>
              <a:rPr lang="en-US" altLang="zh-CN">
                <a:latin typeface="Times New Roman" pitchFamily="18" charset="0"/>
                <a:ea typeface="华文新魏" pitchFamily="2" charset="-122"/>
              </a:rPr>
              <a:t>EINT0</a:t>
            </a:r>
            <a:r>
              <a:rPr lang="zh-CN" altLang="en-US">
                <a:latin typeface="Times New Roman" pitchFamily="18" charset="0"/>
                <a:ea typeface="华文新魏" pitchFamily="2" charset="-122"/>
              </a:rPr>
              <a:t>为例来进行讲解，</a:t>
            </a:r>
            <a:r>
              <a:rPr lang="en-US" altLang="zh-CN">
                <a:latin typeface="Times New Roman" pitchFamily="18" charset="0"/>
                <a:ea typeface="华文新魏" pitchFamily="2" charset="-122"/>
              </a:rPr>
              <a:t>EINT1~EINT3</a:t>
            </a:r>
            <a:r>
              <a:rPr lang="zh-CN" altLang="en-US">
                <a:latin typeface="Times New Roman" pitchFamily="18" charset="0"/>
                <a:ea typeface="华文新魏" pitchFamily="2" charset="-122"/>
              </a:rPr>
              <a:t>与之类似，此处不再重复。</a:t>
            </a:r>
          </a:p>
        </p:txBody>
      </p:sp>
      <p:sp>
        <p:nvSpPr>
          <p:cNvPr id="588837" name="Text Box 37"/>
          <p:cNvSpPr txBox="1">
            <a:spLocks noChangeArrowheads="1"/>
          </p:cNvSpPr>
          <p:nvPr/>
        </p:nvSpPr>
        <p:spPr bwMode="auto">
          <a:xfrm>
            <a:off x="1758951" y="2433638"/>
            <a:ext cx="8691563" cy="1569660"/>
          </a:xfrm>
          <a:prstGeom prst="rect">
            <a:avLst/>
          </a:prstGeom>
          <a:noFill/>
          <a:ln w="9525" algn="ctr">
            <a:noFill/>
            <a:miter lim="800000"/>
            <a:headEnd/>
            <a:tailEnd/>
          </a:ln>
          <a:effectLst/>
        </p:spPr>
        <p:txBody>
          <a:bodyPr>
            <a:spAutoFit/>
          </a:bodyPr>
          <a:lstStyle/>
          <a:p>
            <a:pPr algn="l"/>
            <a:r>
              <a:rPr lang="en-US" altLang="zh-CN" sz="2400">
                <a:latin typeface="Times New Roman" pitchFamily="18" charset="0"/>
                <a:ea typeface="华文新魏" pitchFamily="2" charset="-122"/>
              </a:rPr>
              <a:t>      </a:t>
            </a:r>
            <a:r>
              <a:rPr lang="zh-CN" altLang="en-US" sz="2400">
                <a:latin typeface="Times New Roman" pitchFamily="18" charset="0"/>
                <a:ea typeface="华文新魏" pitchFamily="2" charset="-122"/>
              </a:rPr>
              <a:t>外部中断</a:t>
            </a:r>
            <a:r>
              <a:rPr lang="en-US" altLang="zh-CN" sz="2400">
                <a:latin typeface="Times New Roman" pitchFamily="18" charset="0"/>
                <a:ea typeface="华文新魏" pitchFamily="2" charset="-122"/>
              </a:rPr>
              <a:t>0</a:t>
            </a:r>
            <a:r>
              <a:rPr lang="zh-CN" altLang="en-US" sz="2400">
                <a:latin typeface="Times New Roman" pitchFamily="18" charset="0"/>
                <a:ea typeface="华文新魏" pitchFamily="2" charset="-122"/>
              </a:rPr>
              <a:t>位于</a:t>
            </a:r>
            <a:r>
              <a:rPr lang="en-US" altLang="zh-CN" sz="2400">
                <a:latin typeface="Times New Roman" pitchFamily="18" charset="0"/>
                <a:ea typeface="华文新魏" pitchFamily="2" charset="-122"/>
              </a:rPr>
              <a:t>VIC</a:t>
            </a:r>
            <a:r>
              <a:rPr lang="zh-CN" altLang="en-US" sz="2400">
                <a:latin typeface="Times New Roman" pitchFamily="18" charset="0"/>
                <a:ea typeface="华文新魏" pitchFamily="2" charset="-122"/>
              </a:rPr>
              <a:t>通道</a:t>
            </a:r>
            <a:r>
              <a:rPr lang="en-US" altLang="zh-CN" sz="2400">
                <a:latin typeface="Times New Roman" pitchFamily="18" charset="0"/>
                <a:ea typeface="华文新魏" pitchFamily="2" charset="-122"/>
              </a:rPr>
              <a:t>14</a:t>
            </a:r>
            <a:r>
              <a:rPr lang="zh-CN" altLang="en-US" sz="2400">
                <a:latin typeface="Times New Roman" pitchFamily="18" charset="0"/>
                <a:ea typeface="华文新魏" pitchFamily="2" charset="-122"/>
              </a:rPr>
              <a:t>，中断选择寄存器</a:t>
            </a:r>
            <a:r>
              <a:rPr lang="en-US" altLang="zh-CN" sz="2400">
                <a:latin typeface="Times New Roman" pitchFamily="18" charset="0"/>
                <a:ea typeface="华文新魏" pitchFamily="2" charset="-122"/>
              </a:rPr>
              <a:t>VICIntSelect[14]</a:t>
            </a:r>
            <a:r>
              <a:rPr lang="zh-CN" altLang="en-US" sz="2400">
                <a:latin typeface="Times New Roman" pitchFamily="18" charset="0"/>
                <a:ea typeface="华文新魏" pitchFamily="2" charset="-122"/>
              </a:rPr>
              <a:t>用来选择通道</a:t>
            </a:r>
            <a:r>
              <a:rPr lang="en-US" altLang="zh-CN" sz="2400">
                <a:latin typeface="Times New Roman" pitchFamily="18" charset="0"/>
                <a:ea typeface="华文新魏" pitchFamily="2" charset="-122"/>
              </a:rPr>
              <a:t>14</a:t>
            </a:r>
            <a:r>
              <a:rPr lang="zh-CN" altLang="en-US" sz="2400">
                <a:latin typeface="Times New Roman" pitchFamily="18" charset="0"/>
                <a:ea typeface="华文新魏" pitchFamily="2" charset="-122"/>
              </a:rPr>
              <a:t>的中断类型：</a:t>
            </a:r>
          </a:p>
          <a:p>
            <a:pPr algn="l">
              <a:buFont typeface="Wingdings" pitchFamily="2" charset="2"/>
              <a:buNone/>
            </a:pPr>
            <a:r>
              <a:rPr lang="zh-CN" altLang="en-US" sz="2400">
                <a:latin typeface="Times New Roman" pitchFamily="18" charset="0"/>
                <a:ea typeface="华文新魏" pitchFamily="2" charset="-122"/>
              </a:rPr>
              <a:t>      当</a:t>
            </a:r>
            <a:r>
              <a:rPr lang="en-US" altLang="zh-CN" sz="2400">
                <a:latin typeface="Times New Roman" pitchFamily="18" charset="0"/>
              </a:rPr>
              <a:t>VICIntSelect[14</a:t>
            </a:r>
            <a:r>
              <a:rPr lang="en-US" altLang="zh-CN" sz="2400">
                <a:latin typeface="Times New Roman" pitchFamily="18" charset="0"/>
                <a:ea typeface="华文新魏" pitchFamily="2" charset="-122"/>
              </a:rPr>
              <a:t>] = 0</a:t>
            </a:r>
            <a:r>
              <a:rPr lang="zh-CN" altLang="en-US" sz="2400">
                <a:latin typeface="Times New Roman" pitchFamily="18" charset="0"/>
                <a:ea typeface="华文新魏" pitchFamily="2" charset="-122"/>
              </a:rPr>
              <a:t>时，通道</a:t>
            </a:r>
            <a:r>
              <a:rPr lang="en-US" altLang="zh-CN" sz="2400">
                <a:latin typeface="Times New Roman" pitchFamily="18" charset="0"/>
                <a:ea typeface="华文新魏" pitchFamily="2" charset="-122"/>
              </a:rPr>
              <a:t>14</a:t>
            </a:r>
            <a:r>
              <a:rPr lang="zh-CN" altLang="en-US" sz="2400">
                <a:latin typeface="Times New Roman" pitchFamily="18" charset="0"/>
                <a:ea typeface="华文新魏" pitchFamily="2" charset="-122"/>
              </a:rPr>
              <a:t>分配为</a:t>
            </a:r>
            <a:r>
              <a:rPr lang="en-US" altLang="zh-CN" sz="2400">
                <a:latin typeface="Times New Roman" pitchFamily="18" charset="0"/>
                <a:ea typeface="华文新魏" pitchFamily="2" charset="-122"/>
              </a:rPr>
              <a:t>IRQ</a:t>
            </a:r>
            <a:r>
              <a:rPr lang="zh-CN" altLang="en-US" sz="2400">
                <a:latin typeface="Times New Roman" pitchFamily="18" charset="0"/>
                <a:ea typeface="华文新魏" pitchFamily="2" charset="-122"/>
              </a:rPr>
              <a:t>中断</a:t>
            </a:r>
          </a:p>
          <a:p>
            <a:pPr algn="l">
              <a:buFont typeface="Wingdings" pitchFamily="2" charset="2"/>
              <a:buNone/>
            </a:pPr>
            <a:r>
              <a:rPr lang="zh-CN" altLang="en-US" sz="2400">
                <a:latin typeface="Times New Roman" pitchFamily="18" charset="0"/>
                <a:ea typeface="华文新魏" pitchFamily="2" charset="-122"/>
              </a:rPr>
              <a:t>      当</a:t>
            </a:r>
            <a:r>
              <a:rPr lang="en-US" altLang="zh-CN" sz="2400">
                <a:latin typeface="Times New Roman" pitchFamily="18" charset="0"/>
              </a:rPr>
              <a:t>VICIntSelect[14</a:t>
            </a:r>
            <a:r>
              <a:rPr lang="en-US" altLang="zh-CN" sz="2400">
                <a:latin typeface="Times New Roman" pitchFamily="18" charset="0"/>
                <a:ea typeface="华文新魏" pitchFamily="2" charset="-122"/>
              </a:rPr>
              <a:t>] = 1</a:t>
            </a:r>
            <a:r>
              <a:rPr lang="zh-CN" altLang="en-US" sz="2400">
                <a:latin typeface="Times New Roman" pitchFamily="18" charset="0"/>
                <a:ea typeface="华文新魏" pitchFamily="2" charset="-122"/>
              </a:rPr>
              <a:t>时，通道</a:t>
            </a:r>
            <a:r>
              <a:rPr lang="en-US" altLang="zh-CN" sz="2400">
                <a:latin typeface="Times New Roman" pitchFamily="18" charset="0"/>
                <a:ea typeface="华文新魏" pitchFamily="2" charset="-122"/>
              </a:rPr>
              <a:t>14</a:t>
            </a:r>
            <a:r>
              <a:rPr lang="zh-CN" altLang="en-US" sz="2400">
                <a:latin typeface="Times New Roman" pitchFamily="18" charset="0"/>
                <a:ea typeface="华文新魏" pitchFamily="2" charset="-122"/>
              </a:rPr>
              <a:t>分配为</a:t>
            </a:r>
            <a:r>
              <a:rPr lang="en-US" altLang="zh-CN" sz="2400">
                <a:latin typeface="Times New Roman" pitchFamily="18" charset="0"/>
                <a:ea typeface="华文新魏" pitchFamily="2" charset="-122"/>
              </a:rPr>
              <a:t>FIQ</a:t>
            </a:r>
            <a:r>
              <a:rPr lang="zh-CN" altLang="en-US" sz="2400">
                <a:latin typeface="Times New Roman" pitchFamily="18" charset="0"/>
                <a:ea typeface="华文新魏" pitchFamily="2" charset="-122"/>
              </a:rPr>
              <a:t>中断</a:t>
            </a:r>
          </a:p>
        </p:txBody>
      </p:sp>
      <p:sp>
        <p:nvSpPr>
          <p:cNvPr id="588839" name="Oval 39"/>
          <p:cNvSpPr>
            <a:spLocks noChangeArrowheads="1"/>
          </p:cNvSpPr>
          <p:nvPr/>
        </p:nvSpPr>
        <p:spPr bwMode="auto">
          <a:xfrm>
            <a:off x="4791075" y="4856838"/>
            <a:ext cx="259766" cy="519351"/>
          </a:xfrm>
          <a:prstGeom prst="ellipse">
            <a:avLst/>
          </a:prstGeom>
          <a:noFill/>
          <a:ln w="19050" algn="ctr">
            <a:solidFill>
              <a:srgbClr val="FF0000"/>
            </a:solidFill>
            <a:round/>
            <a:headEnd/>
            <a:tailEnd/>
          </a:ln>
          <a:effectLst/>
        </p:spPr>
        <p:txBody>
          <a:bodyPr wrap="none" anchor="ctr">
            <a:spAutoFit/>
          </a:bodyPr>
          <a:lstStyle/>
          <a:p>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ChangeArrowheads="1"/>
          </p:cNvSpPr>
          <p:nvPr/>
        </p:nvSpPr>
        <p:spPr bwMode="auto">
          <a:xfrm>
            <a:off x="2209800" y="609600"/>
            <a:ext cx="7772400" cy="1143000"/>
          </a:xfrm>
          <a:prstGeom prst="rect">
            <a:avLst/>
          </a:prstGeom>
          <a:noFill/>
          <a:ln w="9525">
            <a:noFill/>
            <a:miter lim="800000"/>
            <a:headEnd/>
            <a:tailEnd/>
          </a:ln>
          <a:effectLst/>
        </p:spPr>
        <p:txBody>
          <a:bodyPr anchor="ctr"/>
          <a:lstStyle/>
          <a:p>
            <a:r>
              <a:rPr lang="en-US" altLang="zh-CN" sz="4400" dirty="0"/>
              <a:t>5.3.6</a:t>
            </a:r>
            <a:r>
              <a:rPr lang="en-US" altLang="zh-CN" sz="4400" dirty="0">
                <a:solidFill>
                  <a:schemeClr val="tx2"/>
                </a:solidFill>
                <a:latin typeface="Times New Roman" pitchFamily="18" charset="0"/>
              </a:rPr>
              <a:t>  </a:t>
            </a:r>
            <a:r>
              <a:rPr lang="zh-CN" altLang="en-US" sz="4400" dirty="0">
                <a:solidFill>
                  <a:schemeClr val="tx2"/>
                </a:solidFill>
                <a:latin typeface="Times New Roman" pitchFamily="18" charset="0"/>
              </a:rPr>
              <a:t>外部中断输入</a:t>
            </a:r>
          </a:p>
        </p:txBody>
      </p:sp>
      <p:sp>
        <p:nvSpPr>
          <p:cNvPr id="580611" name="Rectangle 3"/>
          <p:cNvSpPr>
            <a:spLocks noChangeArrowheads="1"/>
          </p:cNvSpPr>
          <p:nvPr/>
        </p:nvSpPr>
        <p:spPr bwMode="auto">
          <a:xfrm>
            <a:off x="2209800" y="17002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外部中断的设置</a:t>
            </a:r>
          </a:p>
        </p:txBody>
      </p:sp>
      <p:sp>
        <p:nvSpPr>
          <p:cNvPr id="580672" name="Text Box 64"/>
          <p:cNvSpPr txBox="1">
            <a:spLocks noChangeArrowheads="1"/>
          </p:cNvSpPr>
          <p:nvPr/>
        </p:nvSpPr>
        <p:spPr bwMode="auto">
          <a:xfrm>
            <a:off x="2138377" y="2286828"/>
            <a:ext cx="8054975" cy="1569660"/>
          </a:xfrm>
          <a:prstGeom prst="rect">
            <a:avLst/>
          </a:prstGeom>
          <a:noFill/>
          <a:ln w="19050" algn="ctr">
            <a:noFill/>
            <a:miter lim="800000"/>
            <a:headEnd/>
            <a:tailEnd/>
          </a:ln>
          <a:effectLst/>
        </p:spPr>
        <p:txBody>
          <a:bodyPr>
            <a:spAutoFit/>
          </a:bodyPr>
          <a:lstStyle/>
          <a:p>
            <a:pPr algn="l"/>
            <a:r>
              <a:rPr lang="en-US" altLang="zh-CN" sz="2400">
                <a:latin typeface="Times New Roman" pitchFamily="18" charset="0"/>
                <a:ea typeface="华文新魏" pitchFamily="2" charset="-122"/>
              </a:rPr>
              <a:t>        LPC2000</a:t>
            </a:r>
            <a:r>
              <a:rPr lang="zh-CN" altLang="en-US" sz="2400">
                <a:latin typeface="Times New Roman" pitchFamily="18" charset="0"/>
                <a:ea typeface="华文新魏" pitchFamily="2" charset="-122"/>
              </a:rPr>
              <a:t>系列</a:t>
            </a:r>
            <a:r>
              <a:rPr lang="en-US" altLang="zh-CN" sz="2400">
                <a:latin typeface="Times New Roman" pitchFamily="18" charset="0"/>
                <a:ea typeface="华文新魏" pitchFamily="2" charset="-122"/>
              </a:rPr>
              <a:t>ARM</a:t>
            </a:r>
            <a:r>
              <a:rPr lang="zh-CN" altLang="en-US" sz="2400">
                <a:latin typeface="Times New Roman" pitchFamily="18" charset="0"/>
                <a:ea typeface="华文新魏" pitchFamily="2" charset="-122"/>
              </a:rPr>
              <a:t>的电平中断可以设置为</a:t>
            </a:r>
            <a:r>
              <a:rPr lang="zh-CN" altLang="en-US" sz="2400">
                <a:solidFill>
                  <a:srgbClr val="FF0000"/>
                </a:solidFill>
                <a:latin typeface="Times New Roman" pitchFamily="18" charset="0"/>
                <a:ea typeface="华文新魏" pitchFamily="2" charset="-122"/>
              </a:rPr>
              <a:t>电平中断</a:t>
            </a:r>
            <a:r>
              <a:rPr lang="zh-CN" altLang="en-US" sz="2400">
                <a:latin typeface="Times New Roman" pitchFamily="18" charset="0"/>
                <a:ea typeface="华文新魏" pitchFamily="2" charset="-122"/>
              </a:rPr>
              <a:t>和</a:t>
            </a:r>
            <a:r>
              <a:rPr lang="zh-CN" altLang="en-US" sz="2400">
                <a:solidFill>
                  <a:srgbClr val="FF0000"/>
                </a:solidFill>
                <a:latin typeface="Times New Roman" pitchFamily="18" charset="0"/>
                <a:ea typeface="华文新魏" pitchFamily="2" charset="-122"/>
              </a:rPr>
              <a:t>边沿中断。</a:t>
            </a:r>
          </a:p>
          <a:p>
            <a:pPr lvl="1" algn="l">
              <a:buFont typeface="Wingdings" pitchFamily="2" charset="2"/>
              <a:buChar char="Ø"/>
            </a:pPr>
            <a:r>
              <a:rPr lang="zh-CN" altLang="en-US" sz="2400">
                <a:solidFill>
                  <a:srgbClr val="FF0000"/>
                </a:solidFill>
                <a:latin typeface="Times New Roman" pitchFamily="18" charset="0"/>
                <a:ea typeface="华文新魏" pitchFamily="2" charset="-122"/>
              </a:rPr>
              <a:t> 当</a:t>
            </a:r>
            <a:r>
              <a:rPr lang="en-US" altLang="zh-CN" sz="2400">
                <a:solidFill>
                  <a:srgbClr val="FF0000"/>
                </a:solidFill>
                <a:latin typeface="Times New Roman" pitchFamily="18" charset="0"/>
                <a:ea typeface="华文新魏" pitchFamily="2" charset="-122"/>
              </a:rPr>
              <a:t>EXTMODE[0] = 0</a:t>
            </a:r>
            <a:r>
              <a:rPr lang="zh-CN" altLang="en-US" sz="2400">
                <a:solidFill>
                  <a:srgbClr val="FF0000"/>
                </a:solidFill>
                <a:latin typeface="Times New Roman" pitchFamily="18" charset="0"/>
                <a:ea typeface="华文新魏" pitchFamily="2" charset="-122"/>
              </a:rPr>
              <a:t>时，外部中断</a:t>
            </a:r>
            <a:r>
              <a:rPr lang="en-US" altLang="zh-CN" sz="2400">
                <a:solidFill>
                  <a:srgbClr val="FF0000"/>
                </a:solidFill>
                <a:latin typeface="Times New Roman" pitchFamily="18" charset="0"/>
                <a:ea typeface="华文新魏" pitchFamily="2" charset="-122"/>
              </a:rPr>
              <a:t>0</a:t>
            </a:r>
            <a:r>
              <a:rPr lang="zh-CN" altLang="en-US" sz="2400">
                <a:solidFill>
                  <a:srgbClr val="FF0000"/>
                </a:solidFill>
                <a:latin typeface="Times New Roman" pitchFamily="18" charset="0"/>
                <a:ea typeface="华文新魏" pitchFamily="2" charset="-122"/>
              </a:rPr>
              <a:t>设置为电平触发。</a:t>
            </a:r>
          </a:p>
          <a:p>
            <a:pPr lvl="1" algn="l">
              <a:buFont typeface="Wingdings" pitchFamily="2" charset="2"/>
              <a:buChar char="Ø"/>
            </a:pPr>
            <a:r>
              <a:rPr lang="zh-CN" altLang="en-US" sz="2400">
                <a:latin typeface="Times New Roman" pitchFamily="18" charset="0"/>
                <a:ea typeface="华文新魏" pitchFamily="2" charset="-122"/>
              </a:rPr>
              <a:t> 当</a:t>
            </a:r>
            <a:r>
              <a:rPr lang="en-US" altLang="zh-CN" sz="2400">
                <a:latin typeface="Times New Roman" pitchFamily="18" charset="0"/>
                <a:ea typeface="华文新魏" pitchFamily="2" charset="-122"/>
              </a:rPr>
              <a:t>EXTMODE[0] = 1</a:t>
            </a:r>
            <a:r>
              <a:rPr lang="zh-CN" altLang="en-US" sz="2400">
                <a:latin typeface="Times New Roman" pitchFamily="18" charset="0"/>
                <a:ea typeface="华文新魏" pitchFamily="2" charset="-122"/>
              </a:rPr>
              <a:t>时，外部中断</a:t>
            </a:r>
            <a:r>
              <a:rPr lang="en-US" altLang="zh-CN" sz="2400">
                <a:latin typeface="Times New Roman" pitchFamily="18" charset="0"/>
                <a:ea typeface="华文新魏" pitchFamily="2" charset="-122"/>
              </a:rPr>
              <a:t>0</a:t>
            </a:r>
            <a:r>
              <a:rPr lang="zh-CN" altLang="en-US" sz="2400">
                <a:latin typeface="Times New Roman" pitchFamily="18" charset="0"/>
                <a:ea typeface="华文新魏" pitchFamily="2" charset="-122"/>
              </a:rPr>
              <a:t>设置为边沿触发。</a:t>
            </a:r>
          </a:p>
        </p:txBody>
      </p:sp>
      <p:sp>
        <p:nvSpPr>
          <p:cNvPr id="580673" name="Text Box 65"/>
          <p:cNvSpPr txBox="1">
            <a:spLocks noChangeArrowheads="1"/>
          </p:cNvSpPr>
          <p:nvPr/>
        </p:nvSpPr>
        <p:spPr bwMode="auto">
          <a:xfrm>
            <a:off x="1889126" y="6038851"/>
            <a:ext cx="8385175" cy="366713"/>
          </a:xfrm>
          <a:prstGeom prst="rect">
            <a:avLst/>
          </a:prstGeom>
          <a:noFill/>
          <a:ln w="9525" algn="ctr">
            <a:noFill/>
            <a:miter lim="800000"/>
            <a:headEnd/>
            <a:tailEnd/>
          </a:ln>
          <a:effectLst/>
        </p:spPr>
        <p:txBody>
          <a:bodyPr wrap="none">
            <a:spAutoFit/>
          </a:bodyPr>
          <a:lstStyle/>
          <a:p>
            <a:r>
              <a:rPr lang="zh-CN" altLang="en-US">
                <a:solidFill>
                  <a:srgbClr val="FF0000"/>
                </a:solidFill>
                <a:latin typeface="Times New Roman" pitchFamily="18" charset="0"/>
                <a:ea typeface="华文新魏" pitchFamily="2" charset="-122"/>
              </a:rPr>
              <a:t>注意：</a:t>
            </a:r>
            <a:r>
              <a:rPr lang="zh-CN" altLang="en-US">
                <a:latin typeface="Times New Roman" pitchFamily="18" charset="0"/>
                <a:ea typeface="华文新魏" pitchFamily="2" charset="-122"/>
              </a:rPr>
              <a:t>这里仅以</a:t>
            </a:r>
            <a:r>
              <a:rPr lang="en-US" altLang="zh-CN">
                <a:latin typeface="Times New Roman" pitchFamily="18" charset="0"/>
                <a:ea typeface="华文新魏" pitchFamily="2" charset="-122"/>
              </a:rPr>
              <a:t>EINT0</a:t>
            </a:r>
            <a:r>
              <a:rPr lang="zh-CN" altLang="en-US">
                <a:latin typeface="Times New Roman" pitchFamily="18" charset="0"/>
                <a:ea typeface="华文新魏" pitchFamily="2" charset="-122"/>
              </a:rPr>
              <a:t>为例来进行讲解，</a:t>
            </a:r>
            <a:r>
              <a:rPr lang="en-US" altLang="zh-CN">
                <a:latin typeface="Times New Roman" pitchFamily="18" charset="0"/>
                <a:ea typeface="华文新魏" pitchFamily="2" charset="-122"/>
              </a:rPr>
              <a:t>EINT1~EINT3</a:t>
            </a:r>
            <a:r>
              <a:rPr lang="zh-CN" altLang="en-US">
                <a:latin typeface="Times New Roman" pitchFamily="18" charset="0"/>
                <a:ea typeface="华文新魏" pitchFamily="2" charset="-122"/>
              </a:rPr>
              <a:t>与之类似，此处不再重复。</a:t>
            </a:r>
          </a:p>
        </p:txBody>
      </p:sp>
      <p:grpSp>
        <p:nvGrpSpPr>
          <p:cNvPr id="580677" name="Group 69"/>
          <p:cNvGrpSpPr>
            <a:grpSpLocks/>
          </p:cNvGrpSpPr>
          <p:nvPr/>
        </p:nvGrpSpPr>
        <p:grpSpPr bwMode="auto">
          <a:xfrm>
            <a:off x="2368550" y="3954463"/>
            <a:ext cx="7412038" cy="2055812"/>
            <a:chOff x="532" y="2491"/>
            <a:chExt cx="4669" cy="1295"/>
          </a:xfrm>
        </p:grpSpPr>
        <p:grpSp>
          <p:nvGrpSpPr>
            <p:cNvPr id="580669" name="Group 61"/>
            <p:cNvGrpSpPr>
              <a:grpSpLocks/>
            </p:cNvGrpSpPr>
            <p:nvPr/>
          </p:nvGrpSpPr>
          <p:grpSpPr bwMode="auto">
            <a:xfrm>
              <a:off x="532" y="2648"/>
              <a:ext cx="560" cy="513"/>
              <a:chOff x="492" y="2264"/>
              <a:chExt cx="560" cy="513"/>
            </a:xfrm>
          </p:grpSpPr>
          <p:sp>
            <p:nvSpPr>
              <p:cNvPr id="580616" name="Rectangle 8"/>
              <p:cNvSpPr>
                <a:spLocks noChangeArrowheads="1"/>
              </p:cNvSpPr>
              <p:nvPr/>
            </p:nvSpPr>
            <p:spPr bwMode="auto">
              <a:xfrm>
                <a:off x="492" y="2437"/>
                <a:ext cx="560" cy="34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580621" name="Text Box 13"/>
              <p:cNvSpPr txBox="1">
                <a:spLocks noChangeArrowheads="1"/>
              </p:cNvSpPr>
              <p:nvPr/>
            </p:nvSpPr>
            <p:spPr bwMode="auto">
              <a:xfrm>
                <a:off x="552" y="2264"/>
                <a:ext cx="452" cy="192"/>
              </a:xfrm>
              <a:prstGeom prst="rect">
                <a:avLst/>
              </a:prstGeom>
              <a:noFill/>
              <a:ln w="9525" algn="ctr">
                <a:noFill/>
                <a:miter lim="800000"/>
                <a:headEnd/>
                <a:tailEnd/>
              </a:ln>
              <a:effectLst/>
            </p:spPr>
            <p:txBody>
              <a:bodyPr wrap="none">
                <a:spAutoFit/>
              </a:bodyPr>
              <a:lstStyle/>
              <a:p>
                <a:r>
                  <a:rPr lang="zh-CN" altLang="en-US" sz="1400">
                    <a:latin typeface="Times New Roman" pitchFamily="18" charset="0"/>
                    <a:ea typeface="华文新魏" pitchFamily="2" charset="-122"/>
                  </a:rPr>
                  <a:t>低电平</a:t>
                </a:r>
              </a:p>
            </p:txBody>
          </p:sp>
          <p:sp>
            <p:nvSpPr>
              <p:cNvPr id="580622" name="Line 14"/>
              <p:cNvSpPr>
                <a:spLocks noChangeShapeType="1"/>
              </p:cNvSpPr>
              <p:nvPr/>
            </p:nvSpPr>
            <p:spPr bwMode="auto">
              <a:xfrm>
                <a:off x="549" y="2508"/>
                <a:ext cx="210" cy="0"/>
              </a:xfrm>
              <a:prstGeom prst="line">
                <a:avLst/>
              </a:prstGeom>
              <a:noFill/>
              <a:ln w="9525">
                <a:solidFill>
                  <a:schemeClr val="tx1"/>
                </a:solidFill>
                <a:round/>
                <a:headEnd/>
                <a:tailEnd/>
              </a:ln>
              <a:effectLst/>
            </p:spPr>
            <p:txBody>
              <a:bodyPr wrap="none" anchor="ctr"/>
              <a:lstStyle/>
              <a:p>
                <a:endParaRPr lang="zh-CN" altLang="en-US"/>
              </a:p>
            </p:txBody>
          </p:sp>
          <p:sp>
            <p:nvSpPr>
              <p:cNvPr id="580623" name="Line 15"/>
              <p:cNvSpPr>
                <a:spLocks noChangeShapeType="1"/>
              </p:cNvSpPr>
              <p:nvPr/>
            </p:nvSpPr>
            <p:spPr bwMode="auto">
              <a:xfrm>
                <a:off x="760" y="2717"/>
                <a:ext cx="210" cy="0"/>
              </a:xfrm>
              <a:prstGeom prst="line">
                <a:avLst/>
              </a:prstGeom>
              <a:noFill/>
              <a:ln w="9525">
                <a:solidFill>
                  <a:srgbClr val="FF0000"/>
                </a:solidFill>
                <a:round/>
                <a:headEnd/>
                <a:tailEnd type="triangle" w="med" len="med"/>
              </a:ln>
              <a:effectLst/>
            </p:spPr>
            <p:txBody>
              <a:bodyPr wrap="none" anchor="ctr"/>
              <a:lstStyle/>
              <a:p>
                <a:endParaRPr lang="zh-CN" altLang="en-US"/>
              </a:p>
            </p:txBody>
          </p:sp>
          <p:sp>
            <p:nvSpPr>
              <p:cNvPr id="580624" name="Line 16"/>
              <p:cNvSpPr>
                <a:spLocks noChangeShapeType="1"/>
              </p:cNvSpPr>
              <p:nvPr/>
            </p:nvSpPr>
            <p:spPr bwMode="auto">
              <a:xfrm>
                <a:off x="759" y="2510"/>
                <a:ext cx="0" cy="207"/>
              </a:xfrm>
              <a:prstGeom prst="line">
                <a:avLst/>
              </a:prstGeom>
              <a:noFill/>
              <a:ln w="9525">
                <a:solidFill>
                  <a:schemeClr val="tx1"/>
                </a:solidFill>
                <a:round/>
                <a:headEnd/>
                <a:tailEnd/>
              </a:ln>
              <a:effectLst/>
            </p:spPr>
            <p:txBody>
              <a:bodyPr wrap="none" anchor="ctr"/>
              <a:lstStyle/>
              <a:p>
                <a:endParaRPr lang="zh-CN" altLang="en-US"/>
              </a:p>
            </p:txBody>
          </p:sp>
        </p:grpSp>
        <p:grpSp>
          <p:nvGrpSpPr>
            <p:cNvPr id="580670" name="Group 62"/>
            <p:cNvGrpSpPr>
              <a:grpSpLocks/>
            </p:cNvGrpSpPr>
            <p:nvPr/>
          </p:nvGrpSpPr>
          <p:grpSpPr bwMode="auto">
            <a:xfrm>
              <a:off x="533" y="3170"/>
              <a:ext cx="560" cy="511"/>
              <a:chOff x="493" y="2786"/>
              <a:chExt cx="560" cy="511"/>
            </a:xfrm>
          </p:grpSpPr>
          <p:sp>
            <p:nvSpPr>
              <p:cNvPr id="580617" name="Rectangle 9"/>
              <p:cNvSpPr>
                <a:spLocks noChangeArrowheads="1"/>
              </p:cNvSpPr>
              <p:nvPr/>
            </p:nvSpPr>
            <p:spPr bwMode="auto">
              <a:xfrm>
                <a:off x="493" y="2957"/>
                <a:ext cx="560" cy="34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580620" name="Text Box 12"/>
              <p:cNvSpPr txBox="1">
                <a:spLocks noChangeArrowheads="1"/>
              </p:cNvSpPr>
              <p:nvPr/>
            </p:nvSpPr>
            <p:spPr bwMode="auto">
              <a:xfrm>
                <a:off x="547" y="2786"/>
                <a:ext cx="452" cy="192"/>
              </a:xfrm>
              <a:prstGeom prst="rect">
                <a:avLst/>
              </a:prstGeom>
              <a:noFill/>
              <a:ln w="9525" algn="ctr">
                <a:noFill/>
                <a:miter lim="800000"/>
                <a:headEnd/>
                <a:tailEnd/>
              </a:ln>
              <a:effectLst/>
            </p:spPr>
            <p:txBody>
              <a:bodyPr wrap="none">
                <a:spAutoFit/>
              </a:bodyPr>
              <a:lstStyle/>
              <a:p>
                <a:r>
                  <a:rPr lang="zh-CN" altLang="en-US" sz="1400">
                    <a:latin typeface="Times New Roman" pitchFamily="18" charset="0"/>
                    <a:ea typeface="华文新魏" pitchFamily="2" charset="-122"/>
                  </a:rPr>
                  <a:t>高电平</a:t>
                </a:r>
              </a:p>
            </p:txBody>
          </p:sp>
          <p:sp>
            <p:nvSpPr>
              <p:cNvPr id="580625" name="Line 17"/>
              <p:cNvSpPr>
                <a:spLocks noChangeShapeType="1"/>
              </p:cNvSpPr>
              <p:nvPr/>
            </p:nvSpPr>
            <p:spPr bwMode="auto">
              <a:xfrm>
                <a:off x="545" y="3231"/>
                <a:ext cx="210" cy="0"/>
              </a:xfrm>
              <a:prstGeom prst="line">
                <a:avLst/>
              </a:prstGeom>
              <a:noFill/>
              <a:ln w="9525">
                <a:solidFill>
                  <a:schemeClr val="tx1"/>
                </a:solidFill>
                <a:round/>
                <a:headEnd/>
                <a:tailEnd/>
              </a:ln>
              <a:effectLst/>
            </p:spPr>
            <p:txBody>
              <a:bodyPr wrap="none" anchor="ctr"/>
              <a:lstStyle/>
              <a:p>
                <a:endParaRPr lang="zh-CN" altLang="en-US"/>
              </a:p>
            </p:txBody>
          </p:sp>
          <p:sp>
            <p:nvSpPr>
              <p:cNvPr id="580626" name="Line 18"/>
              <p:cNvSpPr>
                <a:spLocks noChangeShapeType="1"/>
              </p:cNvSpPr>
              <p:nvPr/>
            </p:nvSpPr>
            <p:spPr bwMode="auto">
              <a:xfrm>
                <a:off x="756" y="3021"/>
                <a:ext cx="210" cy="0"/>
              </a:xfrm>
              <a:prstGeom prst="line">
                <a:avLst/>
              </a:prstGeom>
              <a:noFill/>
              <a:ln w="9525">
                <a:solidFill>
                  <a:srgbClr val="FF0000"/>
                </a:solidFill>
                <a:round/>
                <a:headEnd/>
                <a:tailEnd type="triangle" w="med" len="med"/>
              </a:ln>
              <a:effectLst/>
            </p:spPr>
            <p:txBody>
              <a:bodyPr wrap="none" anchor="ctr"/>
              <a:lstStyle/>
              <a:p>
                <a:endParaRPr lang="zh-CN" altLang="en-US"/>
              </a:p>
            </p:txBody>
          </p:sp>
          <p:sp>
            <p:nvSpPr>
              <p:cNvPr id="580627" name="Line 19"/>
              <p:cNvSpPr>
                <a:spLocks noChangeShapeType="1"/>
              </p:cNvSpPr>
              <p:nvPr/>
            </p:nvSpPr>
            <p:spPr bwMode="auto">
              <a:xfrm>
                <a:off x="755" y="3021"/>
                <a:ext cx="0" cy="207"/>
              </a:xfrm>
              <a:prstGeom prst="line">
                <a:avLst/>
              </a:prstGeom>
              <a:noFill/>
              <a:ln w="9525">
                <a:solidFill>
                  <a:schemeClr val="tx1"/>
                </a:solidFill>
                <a:round/>
                <a:headEnd/>
                <a:tailEnd/>
              </a:ln>
              <a:effectLst/>
            </p:spPr>
            <p:txBody>
              <a:bodyPr wrap="none" anchor="ctr"/>
              <a:lstStyle/>
              <a:p>
                <a:endParaRPr lang="zh-CN" altLang="en-US"/>
              </a:p>
            </p:txBody>
          </p:sp>
        </p:grpSp>
        <p:sp>
          <p:nvSpPr>
            <p:cNvPr id="580612" name="Rectangle 4"/>
            <p:cNvSpPr>
              <a:spLocks noChangeArrowheads="1"/>
            </p:cNvSpPr>
            <p:nvPr/>
          </p:nvSpPr>
          <p:spPr bwMode="auto">
            <a:xfrm>
              <a:off x="1226" y="3234"/>
              <a:ext cx="140" cy="60"/>
            </a:xfrm>
            <a:prstGeom prst="rect">
              <a:avLst/>
            </a:prstGeom>
            <a:solidFill>
              <a:srgbClr val="969696"/>
            </a:solidFill>
            <a:ln w="9525" algn="ctr">
              <a:solidFill>
                <a:schemeClr val="tx1"/>
              </a:solidFill>
              <a:miter lim="800000"/>
              <a:headEnd/>
              <a:tailEnd/>
            </a:ln>
            <a:effectLst/>
          </p:spPr>
          <p:txBody>
            <a:bodyPr wrap="none" anchor="ctr"/>
            <a:lstStyle/>
            <a:p>
              <a:endParaRPr lang="zh-CN" altLang="en-US"/>
            </a:p>
          </p:txBody>
        </p:sp>
        <p:sp>
          <p:nvSpPr>
            <p:cNvPr id="580613" name="Rectangle 5"/>
            <p:cNvSpPr>
              <a:spLocks noChangeArrowheads="1"/>
            </p:cNvSpPr>
            <p:nvPr/>
          </p:nvSpPr>
          <p:spPr bwMode="auto">
            <a:xfrm>
              <a:off x="1226" y="3370"/>
              <a:ext cx="140" cy="60"/>
            </a:xfrm>
            <a:prstGeom prst="rect">
              <a:avLst/>
            </a:prstGeom>
            <a:solidFill>
              <a:srgbClr val="969696"/>
            </a:solidFill>
            <a:ln w="9525" algn="ctr">
              <a:solidFill>
                <a:schemeClr val="tx1"/>
              </a:solidFill>
              <a:miter lim="800000"/>
              <a:headEnd/>
              <a:tailEnd/>
            </a:ln>
            <a:effectLst/>
          </p:spPr>
          <p:txBody>
            <a:bodyPr wrap="none" anchor="ctr"/>
            <a:lstStyle/>
            <a:p>
              <a:endParaRPr lang="zh-CN" altLang="en-US"/>
            </a:p>
          </p:txBody>
        </p:sp>
        <p:sp>
          <p:nvSpPr>
            <p:cNvPr id="580614" name="Rectangle 6"/>
            <p:cNvSpPr>
              <a:spLocks noChangeArrowheads="1"/>
            </p:cNvSpPr>
            <p:nvPr/>
          </p:nvSpPr>
          <p:spPr bwMode="auto">
            <a:xfrm>
              <a:off x="1226" y="3106"/>
              <a:ext cx="140" cy="60"/>
            </a:xfrm>
            <a:prstGeom prst="rect">
              <a:avLst/>
            </a:prstGeom>
            <a:solidFill>
              <a:srgbClr val="969696"/>
            </a:solidFill>
            <a:ln w="9525" algn="ctr">
              <a:solidFill>
                <a:schemeClr val="tx1"/>
              </a:solidFill>
              <a:miter lim="800000"/>
              <a:headEnd/>
              <a:tailEnd/>
            </a:ln>
            <a:effectLst/>
          </p:spPr>
          <p:txBody>
            <a:bodyPr wrap="none" anchor="ctr"/>
            <a:lstStyle/>
            <a:p>
              <a:endParaRPr lang="zh-CN" altLang="en-US"/>
            </a:p>
          </p:txBody>
        </p:sp>
        <p:sp>
          <p:nvSpPr>
            <p:cNvPr id="580615" name="Rectangle 7"/>
            <p:cNvSpPr>
              <a:spLocks noChangeArrowheads="1"/>
            </p:cNvSpPr>
            <p:nvPr/>
          </p:nvSpPr>
          <p:spPr bwMode="auto">
            <a:xfrm flipH="1">
              <a:off x="1310" y="2491"/>
              <a:ext cx="3891" cy="1295"/>
            </a:xfrm>
            <a:prstGeom prst="rect">
              <a:avLst/>
            </a:prstGeom>
            <a:solidFill>
              <a:schemeClr val="bg1"/>
            </a:solidFill>
            <a:ln w="9525" algn="ctr">
              <a:solidFill>
                <a:schemeClr val="tx1"/>
              </a:solidFill>
              <a:miter lim="800000"/>
              <a:headEnd/>
              <a:tailEnd/>
            </a:ln>
            <a:effectLst/>
          </p:spPr>
          <p:txBody>
            <a:bodyPr wrap="none" anchor="ctr"/>
            <a:lstStyle/>
            <a:p>
              <a:endParaRPr lang="zh-CN" altLang="en-US"/>
            </a:p>
          </p:txBody>
        </p:sp>
        <p:sp>
          <p:nvSpPr>
            <p:cNvPr id="580668" name="Text Box 60"/>
            <p:cNvSpPr txBox="1">
              <a:spLocks noChangeArrowheads="1"/>
            </p:cNvSpPr>
            <p:nvPr/>
          </p:nvSpPr>
          <p:spPr bwMode="auto">
            <a:xfrm>
              <a:off x="1309" y="3104"/>
              <a:ext cx="516"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EINT0</a:t>
              </a:r>
            </a:p>
          </p:txBody>
        </p:sp>
        <p:sp>
          <p:nvSpPr>
            <p:cNvPr id="580618" name="Text Box 10"/>
            <p:cNvSpPr txBox="1">
              <a:spLocks noChangeArrowheads="1"/>
            </p:cNvSpPr>
            <p:nvPr/>
          </p:nvSpPr>
          <p:spPr bwMode="auto">
            <a:xfrm>
              <a:off x="3355" y="2761"/>
              <a:ext cx="212"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0</a:t>
              </a:r>
            </a:p>
          </p:txBody>
        </p:sp>
        <p:sp>
          <p:nvSpPr>
            <p:cNvPr id="580619" name="AutoShape 11"/>
            <p:cNvSpPr>
              <a:spLocks/>
            </p:cNvSpPr>
            <p:nvPr/>
          </p:nvSpPr>
          <p:spPr bwMode="auto">
            <a:xfrm>
              <a:off x="1151" y="2992"/>
              <a:ext cx="56" cy="532"/>
            </a:xfrm>
            <a:prstGeom prst="rightBrace">
              <a:avLst>
                <a:gd name="adj1" fmla="val 79167"/>
                <a:gd name="adj2" fmla="val 50000"/>
              </a:avLst>
            </a:prstGeom>
            <a:noFill/>
            <a:ln w="9525">
              <a:solidFill>
                <a:schemeClr val="tx1"/>
              </a:solidFill>
              <a:round/>
              <a:headEnd/>
              <a:tailEnd/>
            </a:ln>
            <a:effectLst/>
          </p:spPr>
          <p:txBody>
            <a:bodyPr wrap="none" anchor="ctr"/>
            <a:lstStyle/>
            <a:p>
              <a:endParaRPr lang="zh-CN" altLang="en-US"/>
            </a:p>
          </p:txBody>
        </p:sp>
        <p:sp>
          <p:nvSpPr>
            <p:cNvPr id="580629" name="Line 21"/>
            <p:cNvSpPr>
              <a:spLocks noChangeShapeType="1"/>
            </p:cNvSpPr>
            <p:nvPr/>
          </p:nvSpPr>
          <p:spPr bwMode="auto">
            <a:xfrm flipV="1">
              <a:off x="1786" y="3139"/>
              <a:ext cx="257" cy="125"/>
            </a:xfrm>
            <a:prstGeom prst="line">
              <a:avLst/>
            </a:prstGeom>
            <a:noFill/>
            <a:ln w="9525">
              <a:solidFill>
                <a:srgbClr val="FF0000"/>
              </a:solidFill>
              <a:round/>
              <a:headEnd/>
              <a:tailEnd/>
            </a:ln>
            <a:effectLst/>
          </p:spPr>
          <p:txBody>
            <a:bodyPr wrap="none" anchor="ctr"/>
            <a:lstStyle/>
            <a:p>
              <a:endParaRPr lang="zh-CN" altLang="en-US"/>
            </a:p>
          </p:txBody>
        </p:sp>
        <p:sp>
          <p:nvSpPr>
            <p:cNvPr id="580630" name="Text Box 22"/>
            <p:cNvSpPr txBox="1">
              <a:spLocks noChangeArrowheads="1"/>
            </p:cNvSpPr>
            <p:nvPr/>
          </p:nvSpPr>
          <p:spPr bwMode="auto">
            <a:xfrm>
              <a:off x="1445" y="2783"/>
              <a:ext cx="968" cy="192"/>
            </a:xfrm>
            <a:prstGeom prst="rect">
              <a:avLst/>
            </a:prstGeom>
            <a:noFill/>
            <a:ln w="9525" algn="ctr">
              <a:noFill/>
              <a:miter lim="800000"/>
              <a:headEnd/>
              <a:tailEnd/>
            </a:ln>
            <a:effectLst/>
          </p:spPr>
          <p:txBody>
            <a:bodyPr>
              <a:spAutoFit/>
            </a:bodyPr>
            <a:lstStyle/>
            <a:p>
              <a:r>
                <a:rPr lang="en-US" altLang="zh-CN" sz="1400">
                  <a:solidFill>
                    <a:srgbClr val="FF0000"/>
                  </a:solidFill>
                  <a:latin typeface="Times New Roman" pitchFamily="18" charset="0"/>
                  <a:ea typeface="华文新魏" pitchFamily="2" charset="-122"/>
                </a:rPr>
                <a:t>EXTMODE[0] = 0</a:t>
              </a:r>
            </a:p>
          </p:txBody>
        </p:sp>
        <p:sp>
          <p:nvSpPr>
            <p:cNvPr id="580631" name="Line 23"/>
            <p:cNvSpPr>
              <a:spLocks noChangeShapeType="1"/>
            </p:cNvSpPr>
            <p:nvPr/>
          </p:nvSpPr>
          <p:spPr bwMode="auto">
            <a:xfrm>
              <a:off x="1933" y="2983"/>
              <a:ext cx="0" cy="199"/>
            </a:xfrm>
            <a:prstGeom prst="line">
              <a:avLst/>
            </a:prstGeom>
            <a:noFill/>
            <a:ln w="9525">
              <a:solidFill>
                <a:schemeClr val="tx1"/>
              </a:solidFill>
              <a:prstDash val="dash"/>
              <a:round/>
              <a:headEnd/>
              <a:tailEnd type="triangle" w="sm" len="sm"/>
            </a:ln>
            <a:effectLst/>
          </p:spPr>
          <p:txBody>
            <a:bodyPr wrap="none" anchor="ctr"/>
            <a:lstStyle/>
            <a:p>
              <a:endParaRPr lang="zh-CN" altLang="en-US"/>
            </a:p>
          </p:txBody>
        </p:sp>
        <p:sp>
          <p:nvSpPr>
            <p:cNvPr id="580632" name="Line 24"/>
            <p:cNvSpPr>
              <a:spLocks noChangeShapeType="1"/>
            </p:cNvSpPr>
            <p:nvPr/>
          </p:nvSpPr>
          <p:spPr bwMode="auto">
            <a:xfrm>
              <a:off x="2267" y="3018"/>
              <a:ext cx="352" cy="0"/>
            </a:xfrm>
            <a:prstGeom prst="line">
              <a:avLst/>
            </a:prstGeom>
            <a:noFill/>
            <a:ln w="9525">
              <a:solidFill>
                <a:srgbClr val="FF0000"/>
              </a:solidFill>
              <a:round/>
              <a:headEnd/>
              <a:tailEnd type="oval" w="sm" len="sm"/>
            </a:ln>
            <a:effectLst/>
          </p:spPr>
          <p:txBody>
            <a:bodyPr wrap="none" anchor="ctr"/>
            <a:lstStyle/>
            <a:p>
              <a:endParaRPr lang="zh-CN" altLang="en-US"/>
            </a:p>
          </p:txBody>
        </p:sp>
        <p:sp>
          <p:nvSpPr>
            <p:cNvPr id="580633" name="Line 25"/>
            <p:cNvSpPr>
              <a:spLocks noChangeShapeType="1"/>
            </p:cNvSpPr>
            <p:nvPr/>
          </p:nvSpPr>
          <p:spPr bwMode="auto">
            <a:xfrm flipV="1">
              <a:off x="3091" y="2892"/>
              <a:ext cx="260" cy="122"/>
            </a:xfrm>
            <a:prstGeom prst="line">
              <a:avLst/>
            </a:prstGeom>
            <a:noFill/>
            <a:ln w="9525">
              <a:solidFill>
                <a:schemeClr val="tx1"/>
              </a:solidFill>
              <a:round/>
              <a:headEnd/>
              <a:tailEnd/>
            </a:ln>
            <a:effectLst/>
          </p:spPr>
          <p:txBody>
            <a:bodyPr wrap="none" anchor="ctr"/>
            <a:lstStyle/>
            <a:p>
              <a:endParaRPr lang="zh-CN" altLang="en-US"/>
            </a:p>
          </p:txBody>
        </p:sp>
        <p:sp>
          <p:nvSpPr>
            <p:cNvPr id="580635" name="Line 27"/>
            <p:cNvSpPr>
              <a:spLocks noChangeShapeType="1"/>
            </p:cNvSpPr>
            <p:nvPr/>
          </p:nvSpPr>
          <p:spPr bwMode="auto">
            <a:xfrm>
              <a:off x="2016" y="3327"/>
              <a:ext cx="244"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80636" name="Line 28"/>
            <p:cNvSpPr>
              <a:spLocks noChangeShapeType="1"/>
            </p:cNvSpPr>
            <p:nvPr/>
          </p:nvSpPr>
          <p:spPr bwMode="auto">
            <a:xfrm>
              <a:off x="3341" y="3117"/>
              <a:ext cx="241"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80637" name="Line 29"/>
            <p:cNvSpPr>
              <a:spLocks noChangeShapeType="1"/>
            </p:cNvSpPr>
            <p:nvPr/>
          </p:nvSpPr>
          <p:spPr bwMode="auto">
            <a:xfrm>
              <a:off x="3341" y="2916"/>
              <a:ext cx="241"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80638" name="Text Box 30"/>
            <p:cNvSpPr txBox="1">
              <a:spLocks noChangeArrowheads="1"/>
            </p:cNvSpPr>
            <p:nvPr/>
          </p:nvSpPr>
          <p:spPr bwMode="auto">
            <a:xfrm>
              <a:off x="2551" y="2542"/>
              <a:ext cx="874"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EXTPOLAR[0]</a:t>
              </a:r>
            </a:p>
          </p:txBody>
        </p:sp>
        <p:sp>
          <p:nvSpPr>
            <p:cNvPr id="580639" name="Line 31"/>
            <p:cNvSpPr>
              <a:spLocks noChangeShapeType="1"/>
            </p:cNvSpPr>
            <p:nvPr/>
          </p:nvSpPr>
          <p:spPr bwMode="auto">
            <a:xfrm flipV="1">
              <a:off x="2265" y="3019"/>
              <a:ext cx="0" cy="149"/>
            </a:xfrm>
            <a:prstGeom prst="line">
              <a:avLst/>
            </a:prstGeom>
            <a:noFill/>
            <a:ln w="9525">
              <a:solidFill>
                <a:srgbClr val="FF0000"/>
              </a:solidFill>
              <a:round/>
              <a:headEnd/>
              <a:tailEnd type="none" w="sm" len="sm"/>
            </a:ln>
            <a:effectLst/>
          </p:spPr>
          <p:txBody>
            <a:bodyPr wrap="none" anchor="ctr"/>
            <a:lstStyle/>
            <a:p>
              <a:endParaRPr lang="zh-CN" altLang="en-US"/>
            </a:p>
          </p:txBody>
        </p:sp>
        <p:sp>
          <p:nvSpPr>
            <p:cNvPr id="580640" name="Line 32"/>
            <p:cNvSpPr>
              <a:spLocks noChangeShapeType="1"/>
            </p:cNvSpPr>
            <p:nvPr/>
          </p:nvSpPr>
          <p:spPr bwMode="auto">
            <a:xfrm>
              <a:off x="4248" y="2914"/>
              <a:ext cx="241"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80641" name="Line 33"/>
            <p:cNvSpPr>
              <a:spLocks noChangeShapeType="1"/>
            </p:cNvSpPr>
            <p:nvPr/>
          </p:nvSpPr>
          <p:spPr bwMode="auto">
            <a:xfrm>
              <a:off x="4243" y="3118"/>
              <a:ext cx="241"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80642" name="Rectangle 34"/>
            <p:cNvSpPr>
              <a:spLocks noChangeArrowheads="1"/>
            </p:cNvSpPr>
            <p:nvPr/>
          </p:nvSpPr>
          <p:spPr bwMode="auto">
            <a:xfrm>
              <a:off x="3583" y="3031"/>
              <a:ext cx="704" cy="169"/>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高电平中断</a:t>
              </a:r>
            </a:p>
          </p:txBody>
        </p:sp>
        <p:sp>
          <p:nvSpPr>
            <p:cNvPr id="580643" name="Rectangle 35"/>
            <p:cNvSpPr>
              <a:spLocks noChangeArrowheads="1"/>
            </p:cNvSpPr>
            <p:nvPr/>
          </p:nvSpPr>
          <p:spPr bwMode="auto">
            <a:xfrm>
              <a:off x="3583" y="2830"/>
              <a:ext cx="704" cy="170"/>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低电平中断</a:t>
              </a:r>
            </a:p>
          </p:txBody>
        </p:sp>
        <p:sp>
          <p:nvSpPr>
            <p:cNvPr id="580644" name="Line 36"/>
            <p:cNvSpPr>
              <a:spLocks noChangeShapeType="1"/>
            </p:cNvSpPr>
            <p:nvPr/>
          </p:nvSpPr>
          <p:spPr bwMode="auto">
            <a:xfrm>
              <a:off x="2261" y="3439"/>
              <a:ext cx="826"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580645" name="Line 37"/>
            <p:cNvSpPr>
              <a:spLocks noChangeShapeType="1"/>
            </p:cNvSpPr>
            <p:nvPr/>
          </p:nvSpPr>
          <p:spPr bwMode="auto">
            <a:xfrm flipV="1">
              <a:off x="3099" y="3321"/>
              <a:ext cx="262" cy="118"/>
            </a:xfrm>
            <a:prstGeom prst="line">
              <a:avLst/>
            </a:prstGeom>
            <a:noFill/>
            <a:ln w="9525">
              <a:solidFill>
                <a:schemeClr val="tx1"/>
              </a:solidFill>
              <a:round/>
              <a:headEnd/>
              <a:tailEnd/>
            </a:ln>
            <a:effectLst/>
          </p:spPr>
          <p:txBody>
            <a:bodyPr wrap="none" anchor="ctr"/>
            <a:lstStyle/>
            <a:p>
              <a:endParaRPr lang="zh-CN" altLang="en-US"/>
            </a:p>
          </p:txBody>
        </p:sp>
        <p:sp>
          <p:nvSpPr>
            <p:cNvPr id="580646" name="Line 38"/>
            <p:cNvSpPr>
              <a:spLocks noChangeShapeType="1"/>
            </p:cNvSpPr>
            <p:nvPr/>
          </p:nvSpPr>
          <p:spPr bwMode="auto">
            <a:xfrm>
              <a:off x="3345" y="3570"/>
              <a:ext cx="241"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80647" name="Line 39"/>
            <p:cNvSpPr>
              <a:spLocks noChangeShapeType="1"/>
            </p:cNvSpPr>
            <p:nvPr/>
          </p:nvSpPr>
          <p:spPr bwMode="auto">
            <a:xfrm>
              <a:off x="3345" y="3349"/>
              <a:ext cx="241"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80648" name="Line 40"/>
            <p:cNvSpPr>
              <a:spLocks noChangeShapeType="1"/>
            </p:cNvSpPr>
            <p:nvPr/>
          </p:nvSpPr>
          <p:spPr bwMode="auto">
            <a:xfrm>
              <a:off x="4248" y="3352"/>
              <a:ext cx="241"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80649" name="Line 41"/>
            <p:cNvSpPr>
              <a:spLocks noChangeShapeType="1"/>
            </p:cNvSpPr>
            <p:nvPr/>
          </p:nvSpPr>
          <p:spPr bwMode="auto">
            <a:xfrm>
              <a:off x="4248" y="3571"/>
              <a:ext cx="241"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80650" name="Rectangle 42"/>
            <p:cNvSpPr>
              <a:spLocks noChangeArrowheads="1"/>
            </p:cNvSpPr>
            <p:nvPr/>
          </p:nvSpPr>
          <p:spPr bwMode="auto">
            <a:xfrm>
              <a:off x="3583" y="3481"/>
              <a:ext cx="704" cy="170"/>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上升沿中断</a:t>
              </a:r>
            </a:p>
          </p:txBody>
        </p:sp>
        <p:sp>
          <p:nvSpPr>
            <p:cNvPr id="580651" name="Rectangle 43"/>
            <p:cNvSpPr>
              <a:spLocks noChangeArrowheads="1"/>
            </p:cNvSpPr>
            <p:nvPr/>
          </p:nvSpPr>
          <p:spPr bwMode="auto">
            <a:xfrm>
              <a:off x="3583" y="3268"/>
              <a:ext cx="704" cy="170"/>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下降沿中断</a:t>
              </a:r>
            </a:p>
          </p:txBody>
        </p:sp>
        <p:sp>
          <p:nvSpPr>
            <p:cNvPr id="580652" name="Line 44"/>
            <p:cNvSpPr>
              <a:spLocks noChangeShapeType="1"/>
            </p:cNvSpPr>
            <p:nvPr/>
          </p:nvSpPr>
          <p:spPr bwMode="auto">
            <a:xfrm flipV="1">
              <a:off x="2262" y="3331"/>
              <a:ext cx="0" cy="104"/>
            </a:xfrm>
            <a:prstGeom prst="line">
              <a:avLst/>
            </a:prstGeom>
            <a:noFill/>
            <a:ln w="9525">
              <a:solidFill>
                <a:schemeClr val="tx1"/>
              </a:solidFill>
              <a:round/>
              <a:headEnd/>
              <a:tailEnd type="none" w="sm" len="sm"/>
            </a:ln>
            <a:effectLst/>
          </p:spPr>
          <p:txBody>
            <a:bodyPr wrap="none" anchor="ctr"/>
            <a:lstStyle/>
            <a:p>
              <a:endParaRPr lang="zh-CN" altLang="en-US"/>
            </a:p>
          </p:txBody>
        </p:sp>
        <p:sp>
          <p:nvSpPr>
            <p:cNvPr id="580654" name="Rectangle 46"/>
            <p:cNvSpPr>
              <a:spLocks noChangeArrowheads="1"/>
            </p:cNvSpPr>
            <p:nvPr/>
          </p:nvSpPr>
          <p:spPr bwMode="auto">
            <a:xfrm>
              <a:off x="2509" y="3301"/>
              <a:ext cx="283" cy="283"/>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边沿</a:t>
              </a:r>
            </a:p>
            <a:p>
              <a:r>
                <a:rPr lang="zh-CN" altLang="en-US" sz="1400">
                  <a:latin typeface="Times New Roman" pitchFamily="18" charset="0"/>
                  <a:ea typeface="华文新魏" pitchFamily="2" charset="-122"/>
                </a:rPr>
                <a:t>中断</a:t>
              </a:r>
            </a:p>
          </p:txBody>
        </p:sp>
        <p:sp>
          <p:nvSpPr>
            <p:cNvPr id="580655" name="Line 47"/>
            <p:cNvSpPr>
              <a:spLocks noChangeShapeType="1"/>
            </p:cNvSpPr>
            <p:nvPr/>
          </p:nvSpPr>
          <p:spPr bwMode="auto">
            <a:xfrm>
              <a:off x="4598" y="3252"/>
              <a:ext cx="193"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80656" name="Rectangle 48"/>
            <p:cNvSpPr>
              <a:spLocks noChangeArrowheads="1"/>
            </p:cNvSpPr>
            <p:nvPr/>
          </p:nvSpPr>
          <p:spPr bwMode="auto">
            <a:xfrm>
              <a:off x="4796" y="3181"/>
              <a:ext cx="282" cy="135"/>
            </a:xfrm>
            <a:prstGeom prst="rect">
              <a:avLst/>
            </a:prstGeom>
            <a:solidFill>
              <a:srgbClr val="CCFFFF"/>
            </a:solidFill>
            <a:ln w="9525" algn="ctr">
              <a:solidFill>
                <a:schemeClr val="tx1"/>
              </a:solidFill>
              <a:miter lim="800000"/>
              <a:headEnd/>
              <a:tailEnd/>
            </a:ln>
            <a:effectLst/>
          </p:spPr>
          <p:txBody>
            <a:bodyPr wrap="none" anchor="ctr"/>
            <a:lstStyle/>
            <a:p>
              <a:r>
                <a:rPr lang="en-US" altLang="zh-CN" sz="1400">
                  <a:latin typeface="Times New Roman" pitchFamily="18" charset="0"/>
                  <a:ea typeface="华文新魏" pitchFamily="2" charset="-122"/>
                </a:rPr>
                <a:t>VIC</a:t>
              </a:r>
            </a:p>
          </p:txBody>
        </p:sp>
        <p:sp>
          <p:nvSpPr>
            <p:cNvPr id="580657" name="Rectangle 49"/>
            <p:cNvSpPr>
              <a:spLocks noChangeArrowheads="1"/>
            </p:cNvSpPr>
            <p:nvPr/>
          </p:nvSpPr>
          <p:spPr bwMode="auto">
            <a:xfrm>
              <a:off x="4497" y="2815"/>
              <a:ext cx="144" cy="862"/>
            </a:xfrm>
            <a:prstGeom prst="rect">
              <a:avLst/>
            </a:prstGeom>
            <a:solidFill>
              <a:srgbClr val="FFCC99"/>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外</a:t>
              </a:r>
            </a:p>
            <a:p>
              <a:r>
                <a:rPr lang="zh-CN" altLang="en-US" sz="1400">
                  <a:latin typeface="Times New Roman" pitchFamily="18" charset="0"/>
                  <a:ea typeface="华文新魏" pitchFamily="2" charset="-122"/>
                </a:rPr>
                <a:t>部</a:t>
              </a:r>
            </a:p>
            <a:p>
              <a:r>
                <a:rPr lang="zh-CN" altLang="en-US" sz="1400">
                  <a:latin typeface="Times New Roman" pitchFamily="18" charset="0"/>
                  <a:ea typeface="华文新魏" pitchFamily="2" charset="-122"/>
                </a:rPr>
                <a:t>中</a:t>
              </a:r>
            </a:p>
            <a:p>
              <a:r>
                <a:rPr lang="zh-CN" altLang="en-US" sz="1400">
                  <a:latin typeface="Times New Roman" pitchFamily="18" charset="0"/>
                  <a:ea typeface="华文新魏" pitchFamily="2" charset="-122"/>
                </a:rPr>
                <a:t>断</a:t>
              </a:r>
            </a:p>
            <a:p>
              <a:r>
                <a:rPr lang="en-US" altLang="zh-CN" sz="1400">
                  <a:latin typeface="Times New Roman" pitchFamily="18" charset="0"/>
                  <a:ea typeface="华文新魏" pitchFamily="2" charset="-122"/>
                </a:rPr>
                <a:t>0</a:t>
              </a:r>
            </a:p>
          </p:txBody>
        </p:sp>
        <p:sp>
          <p:nvSpPr>
            <p:cNvPr id="580658" name="Text Box 50"/>
            <p:cNvSpPr txBox="1">
              <a:spLocks noChangeArrowheads="1"/>
            </p:cNvSpPr>
            <p:nvPr/>
          </p:nvSpPr>
          <p:spPr bwMode="auto">
            <a:xfrm>
              <a:off x="3351" y="3202"/>
              <a:ext cx="212"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0</a:t>
              </a:r>
            </a:p>
          </p:txBody>
        </p:sp>
        <p:sp>
          <p:nvSpPr>
            <p:cNvPr id="580659" name="Text Box 51"/>
            <p:cNvSpPr txBox="1">
              <a:spLocks noChangeArrowheads="1"/>
            </p:cNvSpPr>
            <p:nvPr/>
          </p:nvSpPr>
          <p:spPr bwMode="auto">
            <a:xfrm>
              <a:off x="3351" y="2964"/>
              <a:ext cx="212"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1</a:t>
              </a:r>
            </a:p>
          </p:txBody>
        </p:sp>
        <p:sp>
          <p:nvSpPr>
            <p:cNvPr id="580660" name="Text Box 52"/>
            <p:cNvSpPr txBox="1">
              <a:spLocks noChangeArrowheads="1"/>
            </p:cNvSpPr>
            <p:nvPr/>
          </p:nvSpPr>
          <p:spPr bwMode="auto">
            <a:xfrm>
              <a:off x="3347" y="3413"/>
              <a:ext cx="212"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1</a:t>
              </a:r>
            </a:p>
          </p:txBody>
        </p:sp>
        <p:sp>
          <p:nvSpPr>
            <p:cNvPr id="580661" name="Text Box 53"/>
            <p:cNvSpPr txBox="1">
              <a:spLocks noChangeArrowheads="1"/>
            </p:cNvSpPr>
            <p:nvPr/>
          </p:nvSpPr>
          <p:spPr bwMode="auto">
            <a:xfrm>
              <a:off x="2042" y="3019"/>
              <a:ext cx="126"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0</a:t>
              </a:r>
            </a:p>
          </p:txBody>
        </p:sp>
        <p:sp>
          <p:nvSpPr>
            <p:cNvPr id="580662" name="Text Box 54"/>
            <p:cNvSpPr txBox="1">
              <a:spLocks noChangeArrowheads="1"/>
            </p:cNvSpPr>
            <p:nvPr/>
          </p:nvSpPr>
          <p:spPr bwMode="auto">
            <a:xfrm>
              <a:off x="2026" y="3171"/>
              <a:ext cx="212"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1</a:t>
              </a:r>
            </a:p>
          </p:txBody>
        </p:sp>
        <p:sp>
          <p:nvSpPr>
            <p:cNvPr id="580663" name="Line 55"/>
            <p:cNvSpPr>
              <a:spLocks noChangeShapeType="1"/>
            </p:cNvSpPr>
            <p:nvPr/>
          </p:nvSpPr>
          <p:spPr bwMode="auto">
            <a:xfrm>
              <a:off x="2989" y="2719"/>
              <a:ext cx="0" cy="464"/>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80664" name="Line 56"/>
            <p:cNvSpPr>
              <a:spLocks noChangeShapeType="1"/>
            </p:cNvSpPr>
            <p:nvPr/>
          </p:nvSpPr>
          <p:spPr bwMode="auto">
            <a:xfrm>
              <a:off x="2995" y="2803"/>
              <a:ext cx="187" cy="0"/>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80665" name="Line 57"/>
            <p:cNvSpPr>
              <a:spLocks noChangeShapeType="1"/>
            </p:cNvSpPr>
            <p:nvPr/>
          </p:nvSpPr>
          <p:spPr bwMode="auto">
            <a:xfrm>
              <a:off x="3197" y="2804"/>
              <a:ext cx="0" cy="134"/>
            </a:xfrm>
            <a:prstGeom prst="line">
              <a:avLst/>
            </a:prstGeom>
            <a:noFill/>
            <a:ln w="9525">
              <a:solidFill>
                <a:schemeClr val="tx1"/>
              </a:solidFill>
              <a:prstDash val="dash"/>
              <a:round/>
              <a:headEnd/>
              <a:tailEnd type="triangle" w="sm" len="sm"/>
            </a:ln>
            <a:effectLst/>
          </p:spPr>
          <p:txBody>
            <a:bodyPr wrap="none" anchor="ctr"/>
            <a:lstStyle/>
            <a:p>
              <a:endParaRPr lang="zh-CN" altLang="en-US"/>
            </a:p>
          </p:txBody>
        </p:sp>
        <p:sp>
          <p:nvSpPr>
            <p:cNvPr id="580666" name="Line 58"/>
            <p:cNvSpPr>
              <a:spLocks noChangeShapeType="1"/>
            </p:cNvSpPr>
            <p:nvPr/>
          </p:nvSpPr>
          <p:spPr bwMode="auto">
            <a:xfrm>
              <a:off x="2995" y="3182"/>
              <a:ext cx="187" cy="0"/>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80667" name="Line 59"/>
            <p:cNvSpPr>
              <a:spLocks noChangeShapeType="1"/>
            </p:cNvSpPr>
            <p:nvPr/>
          </p:nvSpPr>
          <p:spPr bwMode="auto">
            <a:xfrm>
              <a:off x="3197" y="3190"/>
              <a:ext cx="0" cy="182"/>
            </a:xfrm>
            <a:prstGeom prst="line">
              <a:avLst/>
            </a:prstGeom>
            <a:noFill/>
            <a:ln w="9525">
              <a:solidFill>
                <a:schemeClr val="tx1"/>
              </a:solidFill>
              <a:prstDash val="dash"/>
              <a:round/>
              <a:headEnd/>
              <a:tailEnd type="triangle" w="sm" len="sm"/>
            </a:ln>
            <a:effectLst/>
          </p:spPr>
          <p:txBody>
            <a:bodyPr wrap="none" anchor="ctr"/>
            <a:lstStyle/>
            <a:p>
              <a:endParaRPr lang="zh-CN" altLang="en-US"/>
            </a:p>
          </p:txBody>
        </p:sp>
        <p:sp>
          <p:nvSpPr>
            <p:cNvPr id="580634" name="Line 26"/>
            <p:cNvSpPr>
              <a:spLocks noChangeShapeType="1"/>
            </p:cNvSpPr>
            <p:nvPr/>
          </p:nvSpPr>
          <p:spPr bwMode="auto">
            <a:xfrm>
              <a:off x="2020" y="3172"/>
              <a:ext cx="241" cy="0"/>
            </a:xfrm>
            <a:prstGeom prst="line">
              <a:avLst/>
            </a:prstGeom>
            <a:noFill/>
            <a:ln w="9525">
              <a:solidFill>
                <a:srgbClr val="FF0000"/>
              </a:solidFill>
              <a:round/>
              <a:headEnd type="oval" w="sm" len="sm"/>
              <a:tailEnd type="none" w="sm" len="sm"/>
            </a:ln>
            <a:effectLst/>
          </p:spPr>
          <p:txBody>
            <a:bodyPr wrap="none" anchor="ctr"/>
            <a:lstStyle/>
            <a:p>
              <a:endParaRPr lang="zh-CN" altLang="en-US"/>
            </a:p>
          </p:txBody>
        </p:sp>
        <p:sp>
          <p:nvSpPr>
            <p:cNvPr id="580628" name="Line 20"/>
            <p:cNvSpPr>
              <a:spLocks noChangeShapeType="1"/>
            </p:cNvSpPr>
            <p:nvPr/>
          </p:nvSpPr>
          <p:spPr bwMode="auto">
            <a:xfrm>
              <a:off x="1318" y="3264"/>
              <a:ext cx="469" cy="0"/>
            </a:xfrm>
            <a:prstGeom prst="line">
              <a:avLst/>
            </a:prstGeom>
            <a:noFill/>
            <a:ln w="9525">
              <a:solidFill>
                <a:srgbClr val="FF0000"/>
              </a:solidFill>
              <a:round/>
              <a:headEnd/>
              <a:tailEnd type="oval" w="sm" len="sm"/>
            </a:ln>
            <a:effectLst/>
          </p:spPr>
          <p:txBody>
            <a:bodyPr wrap="none" anchor="ctr"/>
            <a:lstStyle/>
            <a:p>
              <a:endParaRPr lang="zh-CN" altLang="en-US"/>
            </a:p>
          </p:txBody>
        </p:sp>
        <p:sp>
          <p:nvSpPr>
            <p:cNvPr id="580676" name="Line 68"/>
            <p:cNvSpPr>
              <a:spLocks noChangeShapeType="1"/>
            </p:cNvSpPr>
            <p:nvPr/>
          </p:nvSpPr>
          <p:spPr bwMode="auto">
            <a:xfrm>
              <a:off x="2743" y="3018"/>
              <a:ext cx="352"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580653" name="Rectangle 45"/>
            <p:cNvSpPr>
              <a:spLocks noChangeArrowheads="1"/>
            </p:cNvSpPr>
            <p:nvPr/>
          </p:nvSpPr>
          <p:spPr bwMode="auto">
            <a:xfrm>
              <a:off x="2508" y="2878"/>
              <a:ext cx="283" cy="283"/>
            </a:xfrm>
            <a:prstGeom prst="rect">
              <a:avLst/>
            </a:prstGeom>
            <a:solidFill>
              <a:srgbClr val="FF0000"/>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电平</a:t>
              </a:r>
            </a:p>
            <a:p>
              <a:r>
                <a:rPr lang="zh-CN" altLang="en-US" sz="1400">
                  <a:latin typeface="Times New Roman" pitchFamily="18" charset="0"/>
                  <a:ea typeface="华文新魏" pitchFamily="2" charset="-122"/>
                </a:rPr>
                <a:t>中断</a:t>
              </a:r>
            </a:p>
          </p:txBody>
        </p:sp>
      </p:grpSp>
      <p:sp>
        <p:nvSpPr>
          <p:cNvPr id="580675" name="Freeform 67"/>
          <p:cNvSpPr>
            <a:spLocks/>
          </p:cNvSpPr>
          <p:nvPr/>
        </p:nvSpPr>
        <p:spPr bwMode="auto">
          <a:xfrm>
            <a:off x="1800225" y="3227388"/>
            <a:ext cx="2063750" cy="369332"/>
          </a:xfrm>
          <a:custGeom>
            <a:avLst/>
            <a:gdLst/>
            <a:ahLst/>
            <a:cxnLst>
              <a:cxn ang="0">
                <a:pos x="512" y="0"/>
              </a:cxn>
              <a:cxn ang="0">
                <a:pos x="131" y="415"/>
              </a:cxn>
              <a:cxn ang="0">
                <a:pos x="1300" y="847"/>
              </a:cxn>
            </a:cxnLst>
            <a:rect l="0" t="0" r="r" b="b"/>
            <a:pathLst>
              <a:path w="1300" h="847">
                <a:moveTo>
                  <a:pt x="512" y="0"/>
                </a:moveTo>
                <a:cubicBezTo>
                  <a:pt x="256" y="137"/>
                  <a:pt x="0" y="274"/>
                  <a:pt x="131" y="415"/>
                </a:cubicBezTo>
                <a:cubicBezTo>
                  <a:pt x="262" y="556"/>
                  <a:pt x="781" y="701"/>
                  <a:pt x="1300" y="847"/>
                </a:cubicBezTo>
              </a:path>
            </a:pathLst>
          </a:custGeom>
          <a:noFill/>
          <a:ln w="19050" cap="flat" cmpd="sng">
            <a:solidFill>
              <a:srgbClr val="FF0000"/>
            </a:solidFill>
            <a:prstDash val="solid"/>
            <a:round/>
            <a:headEnd/>
            <a:tailEnd type="triangle" w="med" len="med"/>
          </a:ln>
          <a:effectLst/>
        </p:spPr>
        <p:txBody>
          <a:bodyP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80611"/>
                                        </p:tgtEl>
                                        <p:attrNameLst>
                                          <p:attrName>style.visibility</p:attrName>
                                        </p:attrNameLst>
                                      </p:cBhvr>
                                      <p:to>
                                        <p:strVal val="visible"/>
                                      </p:to>
                                    </p:set>
                                    <p:animEffect transition="in" filter="wipe(up)">
                                      <p:cBhvr>
                                        <p:cTn id="7" dur="500"/>
                                        <p:tgtEl>
                                          <p:spTgt spid="58061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80672"/>
                                        </p:tgtEl>
                                        <p:attrNameLst>
                                          <p:attrName>style.visibility</p:attrName>
                                        </p:attrNameLst>
                                      </p:cBhvr>
                                      <p:to>
                                        <p:strVal val="visible"/>
                                      </p:to>
                                    </p:set>
                                    <p:animEffect transition="in" filter="wipe(up)">
                                      <p:cBhvr>
                                        <p:cTn id="11" dur="500"/>
                                        <p:tgtEl>
                                          <p:spTgt spid="580672"/>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580677"/>
                                        </p:tgtEl>
                                        <p:attrNameLst>
                                          <p:attrName>style.visibility</p:attrName>
                                        </p:attrNameLst>
                                      </p:cBhvr>
                                      <p:to>
                                        <p:strVal val="visible"/>
                                      </p:to>
                                    </p:set>
                                    <p:animEffect transition="in" filter="wipe(up)">
                                      <p:cBhvr>
                                        <p:cTn id="15" dur="500"/>
                                        <p:tgtEl>
                                          <p:spTgt spid="580677"/>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580675"/>
                                        </p:tgtEl>
                                        <p:attrNameLst>
                                          <p:attrName>style.visibility</p:attrName>
                                        </p:attrNameLst>
                                      </p:cBhvr>
                                      <p:to>
                                        <p:strVal val="visible"/>
                                      </p:to>
                                    </p:set>
                                    <p:animEffect transition="in" filter="wipe(up)">
                                      <p:cBhvr>
                                        <p:cTn id="19" dur="500"/>
                                        <p:tgtEl>
                                          <p:spTgt spid="580675"/>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580673"/>
                                        </p:tgtEl>
                                        <p:attrNameLst>
                                          <p:attrName>style.visibility</p:attrName>
                                        </p:attrNameLst>
                                      </p:cBhvr>
                                      <p:to>
                                        <p:strVal val="visible"/>
                                      </p:to>
                                    </p:set>
                                    <p:animEffect transition="in" filter="wipe(up)">
                                      <p:cBhvr>
                                        <p:cTn id="23" dur="500"/>
                                        <p:tgtEl>
                                          <p:spTgt spid="5806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11" grpId="0"/>
      <p:bldP spid="580672" grpId="0"/>
      <p:bldP spid="580673" grpId="0"/>
      <p:bldP spid="580675"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p:cNvSpPr>
            <a:spLocks noChangeArrowheads="1"/>
          </p:cNvSpPr>
          <p:nvPr/>
        </p:nvSpPr>
        <p:spPr bwMode="auto">
          <a:xfrm>
            <a:off x="2209800" y="609600"/>
            <a:ext cx="7772400" cy="1143000"/>
          </a:xfrm>
          <a:prstGeom prst="rect">
            <a:avLst/>
          </a:prstGeom>
          <a:noFill/>
          <a:ln w="9525">
            <a:noFill/>
            <a:miter lim="800000"/>
            <a:headEnd/>
            <a:tailEnd/>
          </a:ln>
          <a:effectLst/>
        </p:spPr>
        <p:txBody>
          <a:bodyPr anchor="ctr"/>
          <a:lstStyle/>
          <a:p>
            <a:r>
              <a:rPr lang="en-US" altLang="zh-CN" sz="4400" dirty="0"/>
              <a:t>5.3.6</a:t>
            </a:r>
            <a:r>
              <a:rPr lang="en-US" altLang="zh-CN" sz="4400" dirty="0">
                <a:solidFill>
                  <a:schemeClr val="tx2"/>
                </a:solidFill>
                <a:latin typeface="Times New Roman" pitchFamily="18" charset="0"/>
              </a:rPr>
              <a:t>  </a:t>
            </a:r>
            <a:r>
              <a:rPr lang="zh-CN" altLang="en-US" sz="4400" dirty="0">
                <a:solidFill>
                  <a:schemeClr val="tx2"/>
                </a:solidFill>
                <a:latin typeface="Times New Roman" pitchFamily="18" charset="0"/>
              </a:rPr>
              <a:t>外部中断输入</a:t>
            </a:r>
          </a:p>
        </p:txBody>
      </p:sp>
      <p:sp>
        <p:nvSpPr>
          <p:cNvPr id="591875" name="Rectangle 3"/>
          <p:cNvSpPr>
            <a:spLocks noChangeArrowheads="1"/>
          </p:cNvSpPr>
          <p:nvPr/>
        </p:nvSpPr>
        <p:spPr bwMode="auto">
          <a:xfrm>
            <a:off x="2209800" y="17002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外部中断的设置</a:t>
            </a:r>
          </a:p>
        </p:txBody>
      </p:sp>
      <p:sp>
        <p:nvSpPr>
          <p:cNvPr id="591935" name="Text Box 63"/>
          <p:cNvSpPr txBox="1">
            <a:spLocks noChangeArrowheads="1"/>
          </p:cNvSpPr>
          <p:nvPr/>
        </p:nvSpPr>
        <p:spPr bwMode="auto">
          <a:xfrm>
            <a:off x="2130426" y="2281238"/>
            <a:ext cx="8054975" cy="1569660"/>
          </a:xfrm>
          <a:prstGeom prst="rect">
            <a:avLst/>
          </a:prstGeom>
          <a:noFill/>
          <a:ln w="19050" algn="ctr">
            <a:noFill/>
            <a:miter lim="800000"/>
            <a:headEnd/>
            <a:tailEnd/>
          </a:ln>
          <a:effectLst/>
        </p:spPr>
        <p:txBody>
          <a:bodyPr>
            <a:spAutoFit/>
          </a:bodyPr>
          <a:lstStyle/>
          <a:p>
            <a:pPr algn="l"/>
            <a:r>
              <a:rPr lang="en-US" altLang="zh-CN" sz="2400">
                <a:latin typeface="Times New Roman" pitchFamily="18" charset="0"/>
                <a:ea typeface="华文新魏" pitchFamily="2" charset="-122"/>
              </a:rPr>
              <a:t>        LPC2000</a:t>
            </a:r>
            <a:r>
              <a:rPr lang="zh-CN" altLang="en-US" sz="2400">
                <a:latin typeface="Times New Roman" pitchFamily="18" charset="0"/>
                <a:ea typeface="华文新魏" pitchFamily="2" charset="-122"/>
              </a:rPr>
              <a:t>系列</a:t>
            </a:r>
            <a:r>
              <a:rPr lang="en-US" altLang="zh-CN" sz="2400">
                <a:latin typeface="Times New Roman" pitchFamily="18" charset="0"/>
                <a:ea typeface="华文新魏" pitchFamily="2" charset="-122"/>
              </a:rPr>
              <a:t>ARM</a:t>
            </a:r>
            <a:r>
              <a:rPr lang="zh-CN" altLang="en-US" sz="2400">
                <a:latin typeface="Times New Roman" pitchFamily="18" charset="0"/>
                <a:ea typeface="华文新魏" pitchFamily="2" charset="-122"/>
              </a:rPr>
              <a:t>的电平中断可以设置为</a:t>
            </a:r>
            <a:r>
              <a:rPr lang="zh-CN" altLang="en-US" sz="2400">
                <a:solidFill>
                  <a:srgbClr val="FF0000"/>
                </a:solidFill>
                <a:latin typeface="Times New Roman" pitchFamily="18" charset="0"/>
                <a:ea typeface="华文新魏" pitchFamily="2" charset="-122"/>
              </a:rPr>
              <a:t>电平中断</a:t>
            </a:r>
            <a:r>
              <a:rPr lang="zh-CN" altLang="en-US" sz="2400">
                <a:latin typeface="Times New Roman" pitchFamily="18" charset="0"/>
                <a:ea typeface="华文新魏" pitchFamily="2" charset="-122"/>
              </a:rPr>
              <a:t>和</a:t>
            </a:r>
            <a:r>
              <a:rPr lang="zh-CN" altLang="en-US" sz="2400">
                <a:solidFill>
                  <a:srgbClr val="FF0000"/>
                </a:solidFill>
                <a:latin typeface="Times New Roman" pitchFamily="18" charset="0"/>
                <a:ea typeface="华文新魏" pitchFamily="2" charset="-122"/>
              </a:rPr>
              <a:t>边沿中断。</a:t>
            </a:r>
          </a:p>
          <a:p>
            <a:pPr lvl="1" algn="l">
              <a:buFont typeface="Wingdings" pitchFamily="2" charset="2"/>
              <a:buChar char="Ø"/>
            </a:pPr>
            <a:r>
              <a:rPr lang="zh-CN" altLang="en-US" sz="2400">
                <a:latin typeface="Times New Roman" pitchFamily="18" charset="0"/>
                <a:ea typeface="华文新魏" pitchFamily="2" charset="-122"/>
              </a:rPr>
              <a:t> 当</a:t>
            </a:r>
            <a:r>
              <a:rPr lang="en-US" altLang="zh-CN" sz="2400">
                <a:latin typeface="Times New Roman" pitchFamily="18" charset="0"/>
                <a:ea typeface="华文新魏" pitchFamily="2" charset="-122"/>
              </a:rPr>
              <a:t>EXTMODE[0] = 0</a:t>
            </a:r>
            <a:r>
              <a:rPr lang="zh-CN" altLang="en-US" sz="2400">
                <a:latin typeface="Times New Roman" pitchFamily="18" charset="0"/>
                <a:ea typeface="华文新魏" pitchFamily="2" charset="-122"/>
              </a:rPr>
              <a:t>时，外部中断</a:t>
            </a:r>
            <a:r>
              <a:rPr lang="en-US" altLang="zh-CN" sz="2400">
                <a:latin typeface="Times New Roman" pitchFamily="18" charset="0"/>
                <a:ea typeface="华文新魏" pitchFamily="2" charset="-122"/>
              </a:rPr>
              <a:t>0</a:t>
            </a:r>
            <a:r>
              <a:rPr lang="zh-CN" altLang="en-US" sz="2400">
                <a:latin typeface="Times New Roman" pitchFamily="18" charset="0"/>
                <a:ea typeface="华文新魏" pitchFamily="2" charset="-122"/>
              </a:rPr>
              <a:t>设置为电平触发。</a:t>
            </a:r>
          </a:p>
          <a:p>
            <a:pPr lvl="1" algn="l">
              <a:buFont typeface="Wingdings" pitchFamily="2" charset="2"/>
              <a:buChar char="Ø"/>
            </a:pPr>
            <a:r>
              <a:rPr lang="zh-CN" altLang="en-US" sz="2400">
                <a:solidFill>
                  <a:srgbClr val="FF0000"/>
                </a:solidFill>
                <a:latin typeface="Times New Roman" pitchFamily="18" charset="0"/>
                <a:ea typeface="华文新魏" pitchFamily="2" charset="-122"/>
              </a:rPr>
              <a:t> 当</a:t>
            </a:r>
            <a:r>
              <a:rPr lang="en-US" altLang="zh-CN" sz="2400">
                <a:solidFill>
                  <a:srgbClr val="FF0000"/>
                </a:solidFill>
                <a:latin typeface="Times New Roman" pitchFamily="18" charset="0"/>
                <a:ea typeface="华文新魏" pitchFamily="2" charset="-122"/>
              </a:rPr>
              <a:t>EXTMODE[0] = 1</a:t>
            </a:r>
            <a:r>
              <a:rPr lang="zh-CN" altLang="en-US" sz="2400">
                <a:solidFill>
                  <a:srgbClr val="FF0000"/>
                </a:solidFill>
                <a:latin typeface="Times New Roman" pitchFamily="18" charset="0"/>
                <a:ea typeface="华文新魏" pitchFamily="2" charset="-122"/>
              </a:rPr>
              <a:t>时，外部中断</a:t>
            </a:r>
            <a:r>
              <a:rPr lang="en-US" altLang="zh-CN" sz="2400">
                <a:solidFill>
                  <a:srgbClr val="FF0000"/>
                </a:solidFill>
                <a:latin typeface="Times New Roman" pitchFamily="18" charset="0"/>
                <a:ea typeface="华文新魏" pitchFamily="2" charset="-122"/>
              </a:rPr>
              <a:t>0</a:t>
            </a:r>
            <a:r>
              <a:rPr lang="zh-CN" altLang="en-US" sz="2400">
                <a:solidFill>
                  <a:srgbClr val="FF0000"/>
                </a:solidFill>
                <a:latin typeface="Times New Roman" pitchFamily="18" charset="0"/>
                <a:ea typeface="华文新魏" pitchFamily="2" charset="-122"/>
              </a:rPr>
              <a:t>设置为边沿触发。</a:t>
            </a:r>
          </a:p>
        </p:txBody>
      </p:sp>
      <p:sp>
        <p:nvSpPr>
          <p:cNvPr id="591936" name="Text Box 64"/>
          <p:cNvSpPr txBox="1">
            <a:spLocks noChangeArrowheads="1"/>
          </p:cNvSpPr>
          <p:nvPr/>
        </p:nvSpPr>
        <p:spPr bwMode="auto">
          <a:xfrm>
            <a:off x="1889126" y="6038851"/>
            <a:ext cx="8385175" cy="366713"/>
          </a:xfrm>
          <a:prstGeom prst="rect">
            <a:avLst/>
          </a:prstGeom>
          <a:noFill/>
          <a:ln w="9525" algn="ctr">
            <a:noFill/>
            <a:miter lim="800000"/>
            <a:headEnd/>
            <a:tailEnd/>
          </a:ln>
          <a:effectLst/>
        </p:spPr>
        <p:txBody>
          <a:bodyPr wrap="none">
            <a:spAutoFit/>
          </a:bodyPr>
          <a:lstStyle/>
          <a:p>
            <a:r>
              <a:rPr lang="zh-CN" altLang="en-US">
                <a:solidFill>
                  <a:srgbClr val="FF0000"/>
                </a:solidFill>
                <a:latin typeface="Times New Roman" pitchFamily="18" charset="0"/>
                <a:ea typeface="华文新魏" pitchFamily="2" charset="-122"/>
              </a:rPr>
              <a:t>注意：</a:t>
            </a:r>
            <a:r>
              <a:rPr lang="zh-CN" altLang="en-US">
                <a:latin typeface="Times New Roman" pitchFamily="18" charset="0"/>
                <a:ea typeface="华文新魏" pitchFamily="2" charset="-122"/>
              </a:rPr>
              <a:t>这里仅以</a:t>
            </a:r>
            <a:r>
              <a:rPr lang="en-US" altLang="zh-CN">
                <a:latin typeface="Times New Roman" pitchFamily="18" charset="0"/>
                <a:ea typeface="华文新魏" pitchFamily="2" charset="-122"/>
              </a:rPr>
              <a:t>EINT0</a:t>
            </a:r>
            <a:r>
              <a:rPr lang="zh-CN" altLang="en-US">
                <a:latin typeface="Times New Roman" pitchFamily="18" charset="0"/>
                <a:ea typeface="华文新魏" pitchFamily="2" charset="-122"/>
              </a:rPr>
              <a:t>为例来进行讲解，</a:t>
            </a:r>
            <a:r>
              <a:rPr lang="en-US" altLang="zh-CN">
                <a:latin typeface="Times New Roman" pitchFamily="18" charset="0"/>
                <a:ea typeface="华文新魏" pitchFamily="2" charset="-122"/>
              </a:rPr>
              <a:t>EINT1~EINT3</a:t>
            </a:r>
            <a:r>
              <a:rPr lang="zh-CN" altLang="en-US">
                <a:latin typeface="Times New Roman" pitchFamily="18" charset="0"/>
                <a:ea typeface="华文新魏" pitchFamily="2" charset="-122"/>
              </a:rPr>
              <a:t>与之类似，此处不再重复。</a:t>
            </a:r>
          </a:p>
        </p:txBody>
      </p:sp>
      <p:sp>
        <p:nvSpPr>
          <p:cNvPr id="591888" name="Rectangle 16"/>
          <p:cNvSpPr>
            <a:spLocks noChangeArrowheads="1"/>
          </p:cNvSpPr>
          <p:nvPr/>
        </p:nvSpPr>
        <p:spPr bwMode="auto">
          <a:xfrm>
            <a:off x="3470275" y="5133975"/>
            <a:ext cx="222250" cy="95250"/>
          </a:xfrm>
          <a:prstGeom prst="rect">
            <a:avLst/>
          </a:prstGeom>
          <a:solidFill>
            <a:srgbClr val="969696"/>
          </a:solidFill>
          <a:ln w="9525" algn="ctr">
            <a:solidFill>
              <a:schemeClr val="tx1"/>
            </a:solidFill>
            <a:miter lim="800000"/>
            <a:headEnd/>
            <a:tailEnd/>
          </a:ln>
          <a:effectLst/>
        </p:spPr>
        <p:txBody>
          <a:bodyPr wrap="none" anchor="ctr"/>
          <a:lstStyle/>
          <a:p>
            <a:endParaRPr lang="zh-CN" altLang="en-US"/>
          </a:p>
        </p:txBody>
      </p:sp>
      <p:sp>
        <p:nvSpPr>
          <p:cNvPr id="591889" name="Rectangle 17"/>
          <p:cNvSpPr>
            <a:spLocks noChangeArrowheads="1"/>
          </p:cNvSpPr>
          <p:nvPr/>
        </p:nvSpPr>
        <p:spPr bwMode="auto">
          <a:xfrm>
            <a:off x="3470275" y="5349875"/>
            <a:ext cx="222250" cy="95250"/>
          </a:xfrm>
          <a:prstGeom prst="rect">
            <a:avLst/>
          </a:prstGeom>
          <a:solidFill>
            <a:srgbClr val="969696"/>
          </a:solidFill>
          <a:ln w="9525" algn="ctr">
            <a:solidFill>
              <a:schemeClr val="tx1"/>
            </a:solidFill>
            <a:miter lim="800000"/>
            <a:headEnd/>
            <a:tailEnd/>
          </a:ln>
          <a:effectLst/>
        </p:spPr>
        <p:txBody>
          <a:bodyPr wrap="none" anchor="ctr"/>
          <a:lstStyle/>
          <a:p>
            <a:endParaRPr lang="zh-CN" altLang="en-US"/>
          </a:p>
        </p:txBody>
      </p:sp>
      <p:sp>
        <p:nvSpPr>
          <p:cNvPr id="591890" name="Rectangle 18"/>
          <p:cNvSpPr>
            <a:spLocks noChangeArrowheads="1"/>
          </p:cNvSpPr>
          <p:nvPr/>
        </p:nvSpPr>
        <p:spPr bwMode="auto">
          <a:xfrm>
            <a:off x="3470275" y="4930775"/>
            <a:ext cx="222250" cy="95250"/>
          </a:xfrm>
          <a:prstGeom prst="rect">
            <a:avLst/>
          </a:prstGeom>
          <a:solidFill>
            <a:srgbClr val="969696"/>
          </a:solidFill>
          <a:ln w="9525" algn="ctr">
            <a:solidFill>
              <a:schemeClr val="tx1"/>
            </a:solidFill>
            <a:miter lim="800000"/>
            <a:headEnd/>
            <a:tailEnd/>
          </a:ln>
          <a:effectLst/>
        </p:spPr>
        <p:txBody>
          <a:bodyPr wrap="none" anchor="ctr"/>
          <a:lstStyle/>
          <a:p>
            <a:endParaRPr lang="zh-CN" altLang="en-US"/>
          </a:p>
        </p:txBody>
      </p:sp>
      <p:sp>
        <p:nvSpPr>
          <p:cNvPr id="591891" name="Rectangle 19"/>
          <p:cNvSpPr>
            <a:spLocks noChangeArrowheads="1"/>
          </p:cNvSpPr>
          <p:nvPr/>
        </p:nvSpPr>
        <p:spPr bwMode="auto">
          <a:xfrm flipH="1">
            <a:off x="3603626" y="3954463"/>
            <a:ext cx="6176963" cy="2055812"/>
          </a:xfrm>
          <a:prstGeom prst="rect">
            <a:avLst/>
          </a:prstGeom>
          <a:solidFill>
            <a:schemeClr val="bg1"/>
          </a:solidFill>
          <a:ln w="9525" algn="ctr">
            <a:solidFill>
              <a:schemeClr val="tx1"/>
            </a:solidFill>
            <a:miter lim="800000"/>
            <a:headEnd/>
            <a:tailEnd/>
          </a:ln>
          <a:effectLst/>
        </p:spPr>
        <p:txBody>
          <a:bodyPr wrap="none" anchor="ctr"/>
          <a:lstStyle/>
          <a:p>
            <a:endParaRPr lang="zh-CN" altLang="en-US"/>
          </a:p>
        </p:txBody>
      </p:sp>
      <p:sp>
        <p:nvSpPr>
          <p:cNvPr id="591892" name="Line 20"/>
          <p:cNvSpPr>
            <a:spLocks noChangeShapeType="1"/>
          </p:cNvSpPr>
          <p:nvPr/>
        </p:nvSpPr>
        <p:spPr bwMode="auto">
          <a:xfrm>
            <a:off x="3616325" y="5181600"/>
            <a:ext cx="744538" cy="0"/>
          </a:xfrm>
          <a:prstGeom prst="line">
            <a:avLst/>
          </a:prstGeom>
          <a:noFill/>
          <a:ln w="9525">
            <a:solidFill>
              <a:srgbClr val="FF0000"/>
            </a:solidFill>
            <a:round/>
            <a:headEnd/>
            <a:tailEnd type="oval" w="sm" len="sm"/>
          </a:ln>
          <a:effectLst/>
        </p:spPr>
        <p:txBody>
          <a:bodyPr wrap="none" anchor="ctr"/>
          <a:lstStyle/>
          <a:p>
            <a:endParaRPr lang="zh-CN" altLang="en-US"/>
          </a:p>
        </p:txBody>
      </p:sp>
      <p:sp>
        <p:nvSpPr>
          <p:cNvPr id="591893" name="Text Box 21"/>
          <p:cNvSpPr txBox="1">
            <a:spLocks noChangeArrowheads="1"/>
          </p:cNvSpPr>
          <p:nvPr/>
        </p:nvSpPr>
        <p:spPr bwMode="auto">
          <a:xfrm>
            <a:off x="3602038" y="4883150"/>
            <a:ext cx="819150" cy="304800"/>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EINT0</a:t>
            </a:r>
          </a:p>
        </p:txBody>
      </p:sp>
      <p:sp>
        <p:nvSpPr>
          <p:cNvPr id="591894" name="Text Box 22"/>
          <p:cNvSpPr txBox="1">
            <a:spLocks noChangeArrowheads="1"/>
          </p:cNvSpPr>
          <p:nvPr/>
        </p:nvSpPr>
        <p:spPr bwMode="auto">
          <a:xfrm>
            <a:off x="6850063" y="4383088"/>
            <a:ext cx="336550" cy="304800"/>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0</a:t>
            </a:r>
          </a:p>
        </p:txBody>
      </p:sp>
      <p:sp>
        <p:nvSpPr>
          <p:cNvPr id="591895" name="AutoShape 23"/>
          <p:cNvSpPr>
            <a:spLocks/>
          </p:cNvSpPr>
          <p:nvPr/>
        </p:nvSpPr>
        <p:spPr bwMode="auto">
          <a:xfrm>
            <a:off x="3351213" y="4749800"/>
            <a:ext cx="88900" cy="844550"/>
          </a:xfrm>
          <a:prstGeom prst="rightBrace">
            <a:avLst>
              <a:gd name="adj1" fmla="val 79167"/>
              <a:gd name="adj2" fmla="val 50000"/>
            </a:avLst>
          </a:prstGeom>
          <a:noFill/>
          <a:ln w="9525">
            <a:solidFill>
              <a:schemeClr val="tx1"/>
            </a:solidFill>
            <a:round/>
            <a:headEnd/>
            <a:tailEnd/>
          </a:ln>
          <a:effectLst/>
        </p:spPr>
        <p:txBody>
          <a:bodyPr wrap="none" anchor="ctr"/>
          <a:lstStyle/>
          <a:p>
            <a:endParaRPr lang="zh-CN" altLang="en-US"/>
          </a:p>
        </p:txBody>
      </p:sp>
      <p:sp>
        <p:nvSpPr>
          <p:cNvPr id="591896" name="Line 24"/>
          <p:cNvSpPr>
            <a:spLocks noChangeShapeType="1"/>
          </p:cNvSpPr>
          <p:nvPr/>
        </p:nvSpPr>
        <p:spPr bwMode="auto">
          <a:xfrm>
            <a:off x="4359275" y="5181600"/>
            <a:ext cx="427038" cy="84138"/>
          </a:xfrm>
          <a:prstGeom prst="line">
            <a:avLst/>
          </a:prstGeom>
          <a:noFill/>
          <a:ln w="9525">
            <a:solidFill>
              <a:srgbClr val="FF0000"/>
            </a:solidFill>
            <a:round/>
            <a:headEnd/>
            <a:tailEnd/>
          </a:ln>
          <a:effectLst/>
        </p:spPr>
        <p:txBody>
          <a:bodyPr wrap="none" anchor="ctr"/>
          <a:lstStyle/>
          <a:p>
            <a:endParaRPr lang="zh-CN" altLang="en-US"/>
          </a:p>
        </p:txBody>
      </p:sp>
      <p:sp>
        <p:nvSpPr>
          <p:cNvPr id="591897" name="Text Box 25"/>
          <p:cNvSpPr txBox="1">
            <a:spLocks noChangeArrowheads="1"/>
          </p:cNvSpPr>
          <p:nvPr/>
        </p:nvSpPr>
        <p:spPr bwMode="auto">
          <a:xfrm>
            <a:off x="3817938" y="4418013"/>
            <a:ext cx="1536700" cy="304800"/>
          </a:xfrm>
          <a:prstGeom prst="rect">
            <a:avLst/>
          </a:prstGeom>
          <a:noFill/>
          <a:ln w="9525" algn="ctr">
            <a:noFill/>
            <a:miter lim="800000"/>
            <a:headEnd/>
            <a:tailEnd/>
          </a:ln>
          <a:effectLst/>
        </p:spPr>
        <p:txBody>
          <a:bodyPr>
            <a:spAutoFit/>
          </a:bodyPr>
          <a:lstStyle/>
          <a:p>
            <a:r>
              <a:rPr lang="en-US" altLang="zh-CN" sz="1400">
                <a:solidFill>
                  <a:srgbClr val="FF0000"/>
                </a:solidFill>
                <a:latin typeface="Times New Roman" pitchFamily="18" charset="0"/>
                <a:ea typeface="华文新魏" pitchFamily="2" charset="-122"/>
              </a:rPr>
              <a:t>EXTMODE[0] = 1</a:t>
            </a:r>
          </a:p>
        </p:txBody>
      </p:sp>
      <p:sp>
        <p:nvSpPr>
          <p:cNvPr id="591898" name="Line 26"/>
          <p:cNvSpPr>
            <a:spLocks noChangeShapeType="1"/>
          </p:cNvSpPr>
          <p:nvPr/>
        </p:nvSpPr>
        <p:spPr bwMode="auto">
          <a:xfrm>
            <a:off x="4592638" y="4735513"/>
            <a:ext cx="0" cy="506412"/>
          </a:xfrm>
          <a:prstGeom prst="line">
            <a:avLst/>
          </a:prstGeom>
          <a:noFill/>
          <a:ln w="9525">
            <a:solidFill>
              <a:schemeClr val="tx1"/>
            </a:solidFill>
            <a:prstDash val="dash"/>
            <a:round/>
            <a:headEnd/>
            <a:tailEnd type="triangle" w="sm" len="sm"/>
          </a:ln>
          <a:effectLst/>
        </p:spPr>
        <p:txBody>
          <a:bodyPr wrap="none" anchor="ctr"/>
          <a:lstStyle/>
          <a:p>
            <a:endParaRPr lang="zh-CN" altLang="en-US"/>
          </a:p>
        </p:txBody>
      </p:sp>
      <p:sp>
        <p:nvSpPr>
          <p:cNvPr id="591899" name="Line 27"/>
          <p:cNvSpPr>
            <a:spLocks noChangeShapeType="1"/>
          </p:cNvSpPr>
          <p:nvPr/>
        </p:nvSpPr>
        <p:spPr bwMode="auto">
          <a:xfrm>
            <a:off x="5122863" y="4791075"/>
            <a:ext cx="1301750"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591900" name="Line 28"/>
          <p:cNvSpPr>
            <a:spLocks noChangeShapeType="1"/>
          </p:cNvSpPr>
          <p:nvPr/>
        </p:nvSpPr>
        <p:spPr bwMode="auto">
          <a:xfrm flipV="1">
            <a:off x="6440488" y="4581526"/>
            <a:ext cx="412750" cy="193675"/>
          </a:xfrm>
          <a:prstGeom prst="line">
            <a:avLst/>
          </a:prstGeom>
          <a:noFill/>
          <a:ln w="9525">
            <a:solidFill>
              <a:schemeClr val="tx1"/>
            </a:solidFill>
            <a:round/>
            <a:headEnd/>
            <a:tailEnd/>
          </a:ln>
          <a:effectLst/>
        </p:spPr>
        <p:txBody>
          <a:bodyPr wrap="none" anchor="ctr"/>
          <a:lstStyle/>
          <a:p>
            <a:endParaRPr lang="zh-CN" altLang="en-US"/>
          </a:p>
        </p:txBody>
      </p:sp>
      <p:sp>
        <p:nvSpPr>
          <p:cNvPr id="591901" name="Line 29"/>
          <p:cNvSpPr>
            <a:spLocks noChangeShapeType="1"/>
          </p:cNvSpPr>
          <p:nvPr/>
        </p:nvSpPr>
        <p:spPr bwMode="auto">
          <a:xfrm>
            <a:off x="4730750" y="5035550"/>
            <a:ext cx="382588"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91902" name="Line 30"/>
          <p:cNvSpPr>
            <a:spLocks noChangeShapeType="1"/>
          </p:cNvSpPr>
          <p:nvPr/>
        </p:nvSpPr>
        <p:spPr bwMode="auto">
          <a:xfrm>
            <a:off x="4724400" y="5281613"/>
            <a:ext cx="387350" cy="0"/>
          </a:xfrm>
          <a:prstGeom prst="line">
            <a:avLst/>
          </a:prstGeom>
          <a:noFill/>
          <a:ln w="9525">
            <a:solidFill>
              <a:srgbClr val="FF0000"/>
            </a:solidFill>
            <a:round/>
            <a:headEnd type="oval" w="sm" len="sm"/>
            <a:tailEnd type="none" w="sm" len="sm"/>
          </a:ln>
          <a:effectLst/>
        </p:spPr>
        <p:txBody>
          <a:bodyPr wrap="none" anchor="ctr"/>
          <a:lstStyle/>
          <a:p>
            <a:endParaRPr lang="zh-CN" altLang="en-US"/>
          </a:p>
        </p:txBody>
      </p:sp>
      <p:sp>
        <p:nvSpPr>
          <p:cNvPr id="591903" name="Line 31"/>
          <p:cNvSpPr>
            <a:spLocks noChangeShapeType="1"/>
          </p:cNvSpPr>
          <p:nvPr/>
        </p:nvSpPr>
        <p:spPr bwMode="auto">
          <a:xfrm>
            <a:off x="6827839" y="4948238"/>
            <a:ext cx="382587"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91904" name="Line 32"/>
          <p:cNvSpPr>
            <a:spLocks noChangeShapeType="1"/>
          </p:cNvSpPr>
          <p:nvPr/>
        </p:nvSpPr>
        <p:spPr bwMode="auto">
          <a:xfrm>
            <a:off x="6827839" y="4629150"/>
            <a:ext cx="382587"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91905" name="Text Box 33"/>
          <p:cNvSpPr txBox="1">
            <a:spLocks noChangeArrowheads="1"/>
          </p:cNvSpPr>
          <p:nvPr/>
        </p:nvSpPr>
        <p:spPr bwMode="auto">
          <a:xfrm>
            <a:off x="5573714" y="4035425"/>
            <a:ext cx="1387475" cy="304800"/>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EXTPOLAR[0]</a:t>
            </a:r>
          </a:p>
        </p:txBody>
      </p:sp>
      <p:sp>
        <p:nvSpPr>
          <p:cNvPr id="591906" name="Line 34"/>
          <p:cNvSpPr>
            <a:spLocks noChangeShapeType="1"/>
          </p:cNvSpPr>
          <p:nvPr/>
        </p:nvSpPr>
        <p:spPr bwMode="auto">
          <a:xfrm flipV="1">
            <a:off x="5119688" y="4792664"/>
            <a:ext cx="0" cy="236537"/>
          </a:xfrm>
          <a:prstGeom prst="line">
            <a:avLst/>
          </a:prstGeom>
          <a:noFill/>
          <a:ln w="9525">
            <a:solidFill>
              <a:schemeClr val="tx1"/>
            </a:solidFill>
            <a:round/>
            <a:headEnd/>
            <a:tailEnd type="none" w="sm" len="sm"/>
          </a:ln>
          <a:effectLst/>
        </p:spPr>
        <p:txBody>
          <a:bodyPr wrap="none" anchor="ctr"/>
          <a:lstStyle/>
          <a:p>
            <a:endParaRPr lang="zh-CN" altLang="en-US"/>
          </a:p>
        </p:txBody>
      </p:sp>
      <p:sp>
        <p:nvSpPr>
          <p:cNvPr id="591907" name="Line 35"/>
          <p:cNvSpPr>
            <a:spLocks noChangeShapeType="1"/>
          </p:cNvSpPr>
          <p:nvPr/>
        </p:nvSpPr>
        <p:spPr bwMode="auto">
          <a:xfrm>
            <a:off x="8267700" y="4625975"/>
            <a:ext cx="382588"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91908" name="Line 36"/>
          <p:cNvSpPr>
            <a:spLocks noChangeShapeType="1"/>
          </p:cNvSpPr>
          <p:nvPr/>
        </p:nvSpPr>
        <p:spPr bwMode="auto">
          <a:xfrm>
            <a:off x="8259764" y="4949825"/>
            <a:ext cx="382587"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91909" name="Rectangle 37"/>
          <p:cNvSpPr>
            <a:spLocks noChangeArrowheads="1"/>
          </p:cNvSpPr>
          <p:nvPr/>
        </p:nvSpPr>
        <p:spPr bwMode="auto">
          <a:xfrm>
            <a:off x="7212013" y="4811714"/>
            <a:ext cx="1117600" cy="268287"/>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高电平中断</a:t>
            </a:r>
          </a:p>
        </p:txBody>
      </p:sp>
      <p:sp>
        <p:nvSpPr>
          <p:cNvPr id="591910" name="Rectangle 38"/>
          <p:cNvSpPr>
            <a:spLocks noChangeArrowheads="1"/>
          </p:cNvSpPr>
          <p:nvPr/>
        </p:nvSpPr>
        <p:spPr bwMode="auto">
          <a:xfrm>
            <a:off x="7212013" y="4492626"/>
            <a:ext cx="1117600" cy="269875"/>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低电平中断</a:t>
            </a:r>
          </a:p>
        </p:txBody>
      </p:sp>
      <p:sp>
        <p:nvSpPr>
          <p:cNvPr id="591911" name="Line 39"/>
          <p:cNvSpPr>
            <a:spLocks noChangeShapeType="1"/>
          </p:cNvSpPr>
          <p:nvPr/>
        </p:nvSpPr>
        <p:spPr bwMode="auto">
          <a:xfrm>
            <a:off x="5113339" y="5459413"/>
            <a:ext cx="579437" cy="0"/>
          </a:xfrm>
          <a:prstGeom prst="line">
            <a:avLst/>
          </a:prstGeom>
          <a:noFill/>
          <a:ln w="9525">
            <a:solidFill>
              <a:srgbClr val="FF0000"/>
            </a:solidFill>
            <a:round/>
            <a:headEnd/>
            <a:tailEnd type="oval" w="sm" len="sm"/>
          </a:ln>
          <a:effectLst/>
        </p:spPr>
        <p:txBody>
          <a:bodyPr wrap="none" anchor="ctr"/>
          <a:lstStyle/>
          <a:p>
            <a:endParaRPr lang="zh-CN" altLang="en-US"/>
          </a:p>
        </p:txBody>
      </p:sp>
      <p:sp>
        <p:nvSpPr>
          <p:cNvPr id="591912" name="Line 40"/>
          <p:cNvSpPr>
            <a:spLocks noChangeShapeType="1"/>
          </p:cNvSpPr>
          <p:nvPr/>
        </p:nvSpPr>
        <p:spPr bwMode="auto">
          <a:xfrm flipV="1">
            <a:off x="6443664" y="5272089"/>
            <a:ext cx="415925" cy="187325"/>
          </a:xfrm>
          <a:prstGeom prst="line">
            <a:avLst/>
          </a:prstGeom>
          <a:noFill/>
          <a:ln w="9525">
            <a:solidFill>
              <a:schemeClr val="tx1"/>
            </a:solidFill>
            <a:round/>
            <a:headEnd/>
            <a:tailEnd/>
          </a:ln>
          <a:effectLst/>
        </p:spPr>
        <p:txBody>
          <a:bodyPr wrap="none" anchor="ctr"/>
          <a:lstStyle/>
          <a:p>
            <a:endParaRPr lang="zh-CN" altLang="en-US"/>
          </a:p>
        </p:txBody>
      </p:sp>
      <p:sp>
        <p:nvSpPr>
          <p:cNvPr id="591913" name="Line 41"/>
          <p:cNvSpPr>
            <a:spLocks noChangeShapeType="1"/>
          </p:cNvSpPr>
          <p:nvPr/>
        </p:nvSpPr>
        <p:spPr bwMode="auto">
          <a:xfrm>
            <a:off x="6834189" y="5667375"/>
            <a:ext cx="382587"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91914" name="Line 42"/>
          <p:cNvSpPr>
            <a:spLocks noChangeShapeType="1"/>
          </p:cNvSpPr>
          <p:nvPr/>
        </p:nvSpPr>
        <p:spPr bwMode="auto">
          <a:xfrm>
            <a:off x="6834189" y="5316538"/>
            <a:ext cx="382587"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91915" name="Line 43"/>
          <p:cNvSpPr>
            <a:spLocks noChangeShapeType="1"/>
          </p:cNvSpPr>
          <p:nvPr/>
        </p:nvSpPr>
        <p:spPr bwMode="auto">
          <a:xfrm>
            <a:off x="8267700" y="5321300"/>
            <a:ext cx="382588"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91916" name="Line 44"/>
          <p:cNvSpPr>
            <a:spLocks noChangeShapeType="1"/>
          </p:cNvSpPr>
          <p:nvPr/>
        </p:nvSpPr>
        <p:spPr bwMode="auto">
          <a:xfrm>
            <a:off x="8267700" y="5668963"/>
            <a:ext cx="382588"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91917" name="Rectangle 45"/>
          <p:cNvSpPr>
            <a:spLocks noChangeArrowheads="1"/>
          </p:cNvSpPr>
          <p:nvPr/>
        </p:nvSpPr>
        <p:spPr bwMode="auto">
          <a:xfrm>
            <a:off x="7212013" y="5526089"/>
            <a:ext cx="1117600" cy="269875"/>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上升沿中断</a:t>
            </a:r>
          </a:p>
        </p:txBody>
      </p:sp>
      <p:sp>
        <p:nvSpPr>
          <p:cNvPr id="591918" name="Rectangle 46"/>
          <p:cNvSpPr>
            <a:spLocks noChangeArrowheads="1"/>
          </p:cNvSpPr>
          <p:nvPr/>
        </p:nvSpPr>
        <p:spPr bwMode="auto">
          <a:xfrm>
            <a:off x="7212013" y="5187951"/>
            <a:ext cx="1117600" cy="269875"/>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下降沿中断</a:t>
            </a:r>
          </a:p>
        </p:txBody>
      </p:sp>
      <p:sp>
        <p:nvSpPr>
          <p:cNvPr id="591919" name="Line 47"/>
          <p:cNvSpPr>
            <a:spLocks noChangeShapeType="1"/>
          </p:cNvSpPr>
          <p:nvPr/>
        </p:nvSpPr>
        <p:spPr bwMode="auto">
          <a:xfrm flipV="1">
            <a:off x="5105400" y="5287963"/>
            <a:ext cx="0" cy="165100"/>
          </a:xfrm>
          <a:prstGeom prst="line">
            <a:avLst/>
          </a:prstGeom>
          <a:noFill/>
          <a:ln w="9525">
            <a:solidFill>
              <a:srgbClr val="FF0000"/>
            </a:solidFill>
            <a:round/>
            <a:headEnd/>
            <a:tailEnd type="none" w="sm" len="sm"/>
          </a:ln>
          <a:effectLst/>
        </p:spPr>
        <p:txBody>
          <a:bodyPr wrap="none" anchor="ctr"/>
          <a:lstStyle/>
          <a:p>
            <a:endParaRPr lang="zh-CN" altLang="en-US"/>
          </a:p>
        </p:txBody>
      </p:sp>
      <p:sp>
        <p:nvSpPr>
          <p:cNvPr id="591920" name="Rectangle 48"/>
          <p:cNvSpPr>
            <a:spLocks noChangeArrowheads="1"/>
          </p:cNvSpPr>
          <p:nvPr/>
        </p:nvSpPr>
        <p:spPr bwMode="auto">
          <a:xfrm>
            <a:off x="5505451" y="4568826"/>
            <a:ext cx="449263" cy="449263"/>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电平</a:t>
            </a:r>
          </a:p>
          <a:p>
            <a:r>
              <a:rPr lang="zh-CN" altLang="en-US" sz="1400">
                <a:latin typeface="Times New Roman" pitchFamily="18" charset="0"/>
                <a:ea typeface="华文新魏" pitchFamily="2" charset="-122"/>
              </a:rPr>
              <a:t>中断</a:t>
            </a:r>
          </a:p>
        </p:txBody>
      </p:sp>
      <p:sp>
        <p:nvSpPr>
          <p:cNvPr id="591922" name="Line 50"/>
          <p:cNvSpPr>
            <a:spLocks noChangeShapeType="1"/>
          </p:cNvSpPr>
          <p:nvPr/>
        </p:nvSpPr>
        <p:spPr bwMode="auto">
          <a:xfrm>
            <a:off x="8823325" y="5162550"/>
            <a:ext cx="306388"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91923" name="Rectangle 51"/>
          <p:cNvSpPr>
            <a:spLocks noChangeArrowheads="1"/>
          </p:cNvSpPr>
          <p:nvPr/>
        </p:nvSpPr>
        <p:spPr bwMode="auto">
          <a:xfrm>
            <a:off x="9137651" y="5049838"/>
            <a:ext cx="447675" cy="214312"/>
          </a:xfrm>
          <a:prstGeom prst="rect">
            <a:avLst/>
          </a:prstGeom>
          <a:solidFill>
            <a:srgbClr val="CCFFFF"/>
          </a:solidFill>
          <a:ln w="9525" algn="ctr">
            <a:solidFill>
              <a:schemeClr val="tx1"/>
            </a:solidFill>
            <a:miter lim="800000"/>
            <a:headEnd/>
            <a:tailEnd/>
          </a:ln>
          <a:effectLst/>
        </p:spPr>
        <p:txBody>
          <a:bodyPr wrap="none" anchor="ctr"/>
          <a:lstStyle/>
          <a:p>
            <a:r>
              <a:rPr lang="en-US" altLang="zh-CN" sz="1400">
                <a:latin typeface="Times New Roman" pitchFamily="18" charset="0"/>
                <a:ea typeface="华文新魏" pitchFamily="2" charset="-122"/>
              </a:rPr>
              <a:t>VIC</a:t>
            </a:r>
          </a:p>
        </p:txBody>
      </p:sp>
      <p:sp>
        <p:nvSpPr>
          <p:cNvPr id="591924" name="Rectangle 52"/>
          <p:cNvSpPr>
            <a:spLocks noChangeArrowheads="1"/>
          </p:cNvSpPr>
          <p:nvPr/>
        </p:nvSpPr>
        <p:spPr bwMode="auto">
          <a:xfrm>
            <a:off x="8662988" y="4494214"/>
            <a:ext cx="228600" cy="1368425"/>
          </a:xfrm>
          <a:prstGeom prst="rect">
            <a:avLst/>
          </a:prstGeom>
          <a:solidFill>
            <a:srgbClr val="FFCC99"/>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外</a:t>
            </a:r>
          </a:p>
          <a:p>
            <a:r>
              <a:rPr lang="zh-CN" altLang="en-US" sz="1400">
                <a:latin typeface="Times New Roman" pitchFamily="18" charset="0"/>
                <a:ea typeface="华文新魏" pitchFamily="2" charset="-122"/>
              </a:rPr>
              <a:t>部</a:t>
            </a:r>
          </a:p>
          <a:p>
            <a:r>
              <a:rPr lang="zh-CN" altLang="en-US" sz="1400">
                <a:latin typeface="Times New Roman" pitchFamily="18" charset="0"/>
                <a:ea typeface="华文新魏" pitchFamily="2" charset="-122"/>
              </a:rPr>
              <a:t>中</a:t>
            </a:r>
          </a:p>
          <a:p>
            <a:r>
              <a:rPr lang="zh-CN" altLang="en-US" sz="1400">
                <a:latin typeface="Times New Roman" pitchFamily="18" charset="0"/>
                <a:ea typeface="华文新魏" pitchFamily="2" charset="-122"/>
              </a:rPr>
              <a:t>断</a:t>
            </a:r>
          </a:p>
          <a:p>
            <a:r>
              <a:rPr lang="en-US" altLang="zh-CN" sz="1400">
                <a:latin typeface="Times New Roman" pitchFamily="18" charset="0"/>
                <a:ea typeface="华文新魏" pitchFamily="2" charset="-122"/>
              </a:rPr>
              <a:t>0</a:t>
            </a:r>
          </a:p>
        </p:txBody>
      </p:sp>
      <p:sp>
        <p:nvSpPr>
          <p:cNvPr id="591925" name="Text Box 53"/>
          <p:cNvSpPr txBox="1">
            <a:spLocks noChangeArrowheads="1"/>
          </p:cNvSpPr>
          <p:nvPr/>
        </p:nvSpPr>
        <p:spPr bwMode="auto">
          <a:xfrm>
            <a:off x="6843713" y="4854575"/>
            <a:ext cx="336550" cy="304800"/>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0</a:t>
            </a:r>
          </a:p>
        </p:txBody>
      </p:sp>
      <p:sp>
        <p:nvSpPr>
          <p:cNvPr id="591926" name="Text Box 54"/>
          <p:cNvSpPr txBox="1">
            <a:spLocks noChangeArrowheads="1"/>
          </p:cNvSpPr>
          <p:nvPr/>
        </p:nvSpPr>
        <p:spPr bwMode="auto">
          <a:xfrm>
            <a:off x="6843713" y="4705350"/>
            <a:ext cx="336550" cy="304800"/>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1</a:t>
            </a:r>
          </a:p>
        </p:txBody>
      </p:sp>
      <p:sp>
        <p:nvSpPr>
          <p:cNvPr id="591927" name="Text Box 55"/>
          <p:cNvSpPr txBox="1">
            <a:spLocks noChangeArrowheads="1"/>
          </p:cNvSpPr>
          <p:nvPr/>
        </p:nvSpPr>
        <p:spPr bwMode="auto">
          <a:xfrm>
            <a:off x="6837363" y="5418138"/>
            <a:ext cx="336550" cy="304800"/>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1</a:t>
            </a:r>
          </a:p>
        </p:txBody>
      </p:sp>
      <p:sp>
        <p:nvSpPr>
          <p:cNvPr id="591928" name="Text Box 56"/>
          <p:cNvSpPr txBox="1">
            <a:spLocks noChangeArrowheads="1"/>
          </p:cNvSpPr>
          <p:nvPr/>
        </p:nvSpPr>
        <p:spPr bwMode="auto">
          <a:xfrm>
            <a:off x="4765676" y="4792663"/>
            <a:ext cx="200025" cy="304800"/>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0</a:t>
            </a:r>
          </a:p>
        </p:txBody>
      </p:sp>
      <p:sp>
        <p:nvSpPr>
          <p:cNvPr id="591929" name="Text Box 57"/>
          <p:cNvSpPr txBox="1">
            <a:spLocks noChangeArrowheads="1"/>
          </p:cNvSpPr>
          <p:nvPr/>
        </p:nvSpPr>
        <p:spPr bwMode="auto">
          <a:xfrm>
            <a:off x="4740275" y="5037138"/>
            <a:ext cx="336550" cy="304800"/>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1</a:t>
            </a:r>
          </a:p>
        </p:txBody>
      </p:sp>
      <p:sp>
        <p:nvSpPr>
          <p:cNvPr id="591930" name="Line 58"/>
          <p:cNvSpPr>
            <a:spLocks noChangeShapeType="1"/>
          </p:cNvSpPr>
          <p:nvPr/>
        </p:nvSpPr>
        <p:spPr bwMode="auto">
          <a:xfrm>
            <a:off x="6269038" y="4316413"/>
            <a:ext cx="0" cy="736600"/>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91931" name="Line 59"/>
          <p:cNvSpPr>
            <a:spLocks noChangeShapeType="1"/>
          </p:cNvSpPr>
          <p:nvPr/>
        </p:nvSpPr>
        <p:spPr bwMode="auto">
          <a:xfrm>
            <a:off x="6278563" y="4449763"/>
            <a:ext cx="296862" cy="0"/>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91932" name="Line 60"/>
          <p:cNvSpPr>
            <a:spLocks noChangeShapeType="1"/>
          </p:cNvSpPr>
          <p:nvPr/>
        </p:nvSpPr>
        <p:spPr bwMode="auto">
          <a:xfrm>
            <a:off x="6599238" y="4451351"/>
            <a:ext cx="0" cy="212725"/>
          </a:xfrm>
          <a:prstGeom prst="line">
            <a:avLst/>
          </a:prstGeom>
          <a:noFill/>
          <a:ln w="9525">
            <a:solidFill>
              <a:schemeClr val="tx1"/>
            </a:solidFill>
            <a:prstDash val="dash"/>
            <a:round/>
            <a:headEnd/>
            <a:tailEnd type="triangle" w="sm" len="sm"/>
          </a:ln>
          <a:effectLst/>
        </p:spPr>
        <p:txBody>
          <a:bodyPr wrap="none" anchor="ctr"/>
          <a:lstStyle/>
          <a:p>
            <a:endParaRPr lang="zh-CN" altLang="en-US"/>
          </a:p>
        </p:txBody>
      </p:sp>
      <p:sp>
        <p:nvSpPr>
          <p:cNvPr id="591933" name="Line 61"/>
          <p:cNvSpPr>
            <a:spLocks noChangeShapeType="1"/>
          </p:cNvSpPr>
          <p:nvPr/>
        </p:nvSpPr>
        <p:spPr bwMode="auto">
          <a:xfrm>
            <a:off x="6278563" y="5051425"/>
            <a:ext cx="296862" cy="0"/>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91934" name="Line 62"/>
          <p:cNvSpPr>
            <a:spLocks noChangeShapeType="1"/>
          </p:cNvSpPr>
          <p:nvPr/>
        </p:nvSpPr>
        <p:spPr bwMode="auto">
          <a:xfrm>
            <a:off x="6599238" y="5051426"/>
            <a:ext cx="0" cy="301625"/>
          </a:xfrm>
          <a:prstGeom prst="line">
            <a:avLst/>
          </a:prstGeom>
          <a:noFill/>
          <a:ln w="9525">
            <a:solidFill>
              <a:schemeClr val="tx1"/>
            </a:solidFill>
            <a:prstDash val="dash"/>
            <a:round/>
            <a:headEnd/>
            <a:tailEnd type="triangle" w="sm" len="sm"/>
          </a:ln>
          <a:effectLst/>
        </p:spPr>
        <p:txBody>
          <a:bodyPr wrap="none" anchor="ctr"/>
          <a:lstStyle/>
          <a:p>
            <a:endParaRPr lang="zh-CN" altLang="en-US"/>
          </a:p>
        </p:txBody>
      </p:sp>
      <p:grpSp>
        <p:nvGrpSpPr>
          <p:cNvPr id="591948" name="Group 76"/>
          <p:cNvGrpSpPr>
            <a:grpSpLocks/>
          </p:cNvGrpSpPr>
          <p:nvPr/>
        </p:nvGrpSpPr>
        <p:grpSpPr bwMode="auto">
          <a:xfrm>
            <a:off x="2368550" y="4233864"/>
            <a:ext cx="889000" cy="814387"/>
            <a:chOff x="532" y="2667"/>
            <a:chExt cx="560" cy="513"/>
          </a:xfrm>
        </p:grpSpPr>
        <p:sp>
          <p:nvSpPr>
            <p:cNvPr id="591938" name="Rectangle 66"/>
            <p:cNvSpPr>
              <a:spLocks noChangeArrowheads="1"/>
            </p:cNvSpPr>
            <p:nvPr/>
          </p:nvSpPr>
          <p:spPr bwMode="auto">
            <a:xfrm>
              <a:off x="532" y="2840"/>
              <a:ext cx="560" cy="34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591941" name="Text Box 69"/>
            <p:cNvSpPr txBox="1">
              <a:spLocks noChangeArrowheads="1"/>
            </p:cNvSpPr>
            <p:nvPr/>
          </p:nvSpPr>
          <p:spPr bwMode="auto">
            <a:xfrm>
              <a:off x="582" y="2667"/>
              <a:ext cx="452" cy="192"/>
            </a:xfrm>
            <a:prstGeom prst="rect">
              <a:avLst/>
            </a:prstGeom>
            <a:noFill/>
            <a:ln w="9525" algn="ctr">
              <a:noFill/>
              <a:miter lim="800000"/>
              <a:headEnd/>
              <a:tailEnd/>
            </a:ln>
            <a:effectLst/>
          </p:spPr>
          <p:txBody>
            <a:bodyPr wrap="none">
              <a:spAutoFit/>
            </a:bodyPr>
            <a:lstStyle/>
            <a:p>
              <a:r>
                <a:rPr lang="zh-CN" altLang="en-US" sz="1400">
                  <a:latin typeface="Arial" charset="0"/>
                  <a:ea typeface="华文新魏" pitchFamily="2" charset="-122"/>
                </a:rPr>
                <a:t>下降沿</a:t>
              </a:r>
            </a:p>
          </p:txBody>
        </p:sp>
        <p:sp>
          <p:nvSpPr>
            <p:cNvPr id="591942" name="Line 70"/>
            <p:cNvSpPr>
              <a:spLocks noChangeShapeType="1"/>
            </p:cNvSpPr>
            <p:nvPr/>
          </p:nvSpPr>
          <p:spPr bwMode="auto">
            <a:xfrm>
              <a:off x="589" y="2911"/>
              <a:ext cx="210" cy="0"/>
            </a:xfrm>
            <a:prstGeom prst="line">
              <a:avLst/>
            </a:prstGeom>
            <a:noFill/>
            <a:ln w="9525">
              <a:solidFill>
                <a:schemeClr val="tx1"/>
              </a:solidFill>
              <a:round/>
              <a:headEnd/>
              <a:tailEnd/>
            </a:ln>
            <a:effectLst/>
          </p:spPr>
          <p:txBody>
            <a:bodyPr wrap="none" anchor="ctr"/>
            <a:lstStyle/>
            <a:p>
              <a:endParaRPr lang="zh-CN" altLang="en-US"/>
            </a:p>
          </p:txBody>
        </p:sp>
        <p:sp>
          <p:nvSpPr>
            <p:cNvPr id="591943" name="Line 71"/>
            <p:cNvSpPr>
              <a:spLocks noChangeShapeType="1"/>
            </p:cNvSpPr>
            <p:nvPr/>
          </p:nvSpPr>
          <p:spPr bwMode="auto">
            <a:xfrm>
              <a:off x="800" y="3118"/>
              <a:ext cx="210" cy="0"/>
            </a:xfrm>
            <a:prstGeom prst="line">
              <a:avLst/>
            </a:prstGeom>
            <a:noFill/>
            <a:ln w="9525">
              <a:solidFill>
                <a:schemeClr val="tx1"/>
              </a:solidFill>
              <a:round/>
              <a:headEnd/>
              <a:tailEnd/>
            </a:ln>
            <a:effectLst/>
          </p:spPr>
          <p:txBody>
            <a:bodyPr wrap="none" anchor="ctr"/>
            <a:lstStyle/>
            <a:p>
              <a:endParaRPr lang="zh-CN" altLang="en-US"/>
            </a:p>
          </p:txBody>
        </p:sp>
        <p:sp>
          <p:nvSpPr>
            <p:cNvPr id="591944" name="Line 72"/>
            <p:cNvSpPr>
              <a:spLocks noChangeShapeType="1"/>
            </p:cNvSpPr>
            <p:nvPr/>
          </p:nvSpPr>
          <p:spPr bwMode="auto">
            <a:xfrm>
              <a:off x="799" y="2913"/>
              <a:ext cx="0" cy="207"/>
            </a:xfrm>
            <a:prstGeom prst="line">
              <a:avLst/>
            </a:prstGeom>
            <a:noFill/>
            <a:ln w="9525">
              <a:solidFill>
                <a:srgbClr val="FF0000"/>
              </a:solidFill>
              <a:round/>
              <a:headEnd/>
              <a:tailEnd type="triangle" w="med" len="med"/>
            </a:ln>
            <a:effectLst/>
          </p:spPr>
          <p:txBody>
            <a:bodyPr wrap="none" anchor="ctr"/>
            <a:lstStyle/>
            <a:p>
              <a:endParaRPr lang="zh-CN" altLang="en-US"/>
            </a:p>
          </p:txBody>
        </p:sp>
      </p:grpSp>
      <p:grpSp>
        <p:nvGrpSpPr>
          <p:cNvPr id="591949" name="Group 77"/>
          <p:cNvGrpSpPr>
            <a:grpSpLocks/>
          </p:cNvGrpSpPr>
          <p:nvPr/>
        </p:nvGrpSpPr>
        <p:grpSpPr bwMode="auto">
          <a:xfrm>
            <a:off x="2368550" y="5059363"/>
            <a:ext cx="889000" cy="811212"/>
            <a:chOff x="532" y="3187"/>
            <a:chExt cx="560" cy="511"/>
          </a:xfrm>
        </p:grpSpPr>
        <p:sp>
          <p:nvSpPr>
            <p:cNvPr id="591939" name="Rectangle 67"/>
            <p:cNvSpPr>
              <a:spLocks noChangeArrowheads="1"/>
            </p:cNvSpPr>
            <p:nvPr/>
          </p:nvSpPr>
          <p:spPr bwMode="auto">
            <a:xfrm>
              <a:off x="532" y="3358"/>
              <a:ext cx="560" cy="34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591940" name="Text Box 68"/>
            <p:cNvSpPr txBox="1">
              <a:spLocks noChangeArrowheads="1"/>
            </p:cNvSpPr>
            <p:nvPr/>
          </p:nvSpPr>
          <p:spPr bwMode="auto">
            <a:xfrm>
              <a:off x="586" y="3187"/>
              <a:ext cx="452" cy="192"/>
            </a:xfrm>
            <a:prstGeom prst="rect">
              <a:avLst/>
            </a:prstGeom>
            <a:noFill/>
            <a:ln w="9525" algn="ctr">
              <a:noFill/>
              <a:miter lim="800000"/>
              <a:headEnd/>
              <a:tailEnd/>
            </a:ln>
            <a:effectLst/>
          </p:spPr>
          <p:txBody>
            <a:bodyPr wrap="none">
              <a:spAutoFit/>
            </a:bodyPr>
            <a:lstStyle/>
            <a:p>
              <a:r>
                <a:rPr lang="zh-CN" altLang="en-US" sz="1400">
                  <a:latin typeface="Arial" charset="0"/>
                  <a:ea typeface="华文新魏" pitchFamily="2" charset="-122"/>
                </a:rPr>
                <a:t>上升沿</a:t>
              </a:r>
            </a:p>
          </p:txBody>
        </p:sp>
        <p:sp>
          <p:nvSpPr>
            <p:cNvPr id="591945" name="Line 73"/>
            <p:cNvSpPr>
              <a:spLocks noChangeShapeType="1"/>
            </p:cNvSpPr>
            <p:nvPr/>
          </p:nvSpPr>
          <p:spPr bwMode="auto">
            <a:xfrm>
              <a:off x="584" y="3632"/>
              <a:ext cx="210" cy="0"/>
            </a:xfrm>
            <a:prstGeom prst="line">
              <a:avLst/>
            </a:prstGeom>
            <a:noFill/>
            <a:ln w="9525">
              <a:solidFill>
                <a:schemeClr val="tx1"/>
              </a:solidFill>
              <a:round/>
              <a:headEnd/>
              <a:tailEnd/>
            </a:ln>
            <a:effectLst/>
          </p:spPr>
          <p:txBody>
            <a:bodyPr wrap="none" anchor="ctr"/>
            <a:lstStyle/>
            <a:p>
              <a:endParaRPr lang="zh-CN" altLang="en-US"/>
            </a:p>
          </p:txBody>
        </p:sp>
        <p:sp>
          <p:nvSpPr>
            <p:cNvPr id="591946" name="Line 74"/>
            <p:cNvSpPr>
              <a:spLocks noChangeShapeType="1"/>
            </p:cNvSpPr>
            <p:nvPr/>
          </p:nvSpPr>
          <p:spPr bwMode="auto">
            <a:xfrm>
              <a:off x="795" y="3423"/>
              <a:ext cx="210" cy="0"/>
            </a:xfrm>
            <a:prstGeom prst="line">
              <a:avLst/>
            </a:prstGeom>
            <a:noFill/>
            <a:ln w="9525">
              <a:solidFill>
                <a:schemeClr val="tx1"/>
              </a:solidFill>
              <a:round/>
              <a:headEnd/>
              <a:tailEnd/>
            </a:ln>
            <a:effectLst/>
          </p:spPr>
          <p:txBody>
            <a:bodyPr wrap="none" anchor="ctr"/>
            <a:lstStyle/>
            <a:p>
              <a:endParaRPr lang="zh-CN" altLang="en-US"/>
            </a:p>
          </p:txBody>
        </p:sp>
        <p:sp>
          <p:nvSpPr>
            <p:cNvPr id="591947" name="Line 75"/>
            <p:cNvSpPr>
              <a:spLocks noChangeShapeType="1"/>
            </p:cNvSpPr>
            <p:nvPr/>
          </p:nvSpPr>
          <p:spPr bwMode="auto">
            <a:xfrm>
              <a:off x="794" y="3420"/>
              <a:ext cx="0" cy="207"/>
            </a:xfrm>
            <a:prstGeom prst="line">
              <a:avLst/>
            </a:prstGeom>
            <a:noFill/>
            <a:ln w="9525">
              <a:solidFill>
                <a:srgbClr val="FF0000"/>
              </a:solidFill>
              <a:round/>
              <a:headEnd type="triangle" w="med" len="med"/>
              <a:tailEnd/>
            </a:ln>
            <a:effectLst/>
          </p:spPr>
          <p:txBody>
            <a:bodyPr wrap="none" anchor="ctr"/>
            <a:lstStyle/>
            <a:p>
              <a:endParaRPr lang="zh-CN" altLang="en-US"/>
            </a:p>
          </p:txBody>
        </p:sp>
      </p:grpSp>
      <p:sp>
        <p:nvSpPr>
          <p:cNvPr id="591951" name="Freeform 79"/>
          <p:cNvSpPr>
            <a:spLocks/>
          </p:cNvSpPr>
          <p:nvPr/>
        </p:nvSpPr>
        <p:spPr bwMode="auto">
          <a:xfrm>
            <a:off x="2055814" y="3617913"/>
            <a:ext cx="1793875" cy="369332"/>
          </a:xfrm>
          <a:custGeom>
            <a:avLst/>
            <a:gdLst/>
            <a:ahLst/>
            <a:cxnLst>
              <a:cxn ang="0">
                <a:pos x="343" y="0"/>
              </a:cxn>
              <a:cxn ang="0">
                <a:pos x="131" y="228"/>
              </a:cxn>
              <a:cxn ang="0">
                <a:pos x="1130" y="593"/>
              </a:cxn>
            </a:cxnLst>
            <a:rect l="0" t="0" r="r" b="b"/>
            <a:pathLst>
              <a:path w="1130" h="593">
                <a:moveTo>
                  <a:pt x="343" y="0"/>
                </a:moveTo>
                <a:cubicBezTo>
                  <a:pt x="171" y="64"/>
                  <a:pt x="0" y="129"/>
                  <a:pt x="131" y="228"/>
                </a:cubicBezTo>
                <a:cubicBezTo>
                  <a:pt x="262" y="327"/>
                  <a:pt x="696" y="460"/>
                  <a:pt x="1130" y="593"/>
                </a:cubicBezTo>
              </a:path>
            </a:pathLst>
          </a:custGeom>
          <a:noFill/>
          <a:ln w="19050" cap="flat" cmpd="sng">
            <a:solidFill>
              <a:srgbClr val="FF0000"/>
            </a:solidFill>
            <a:prstDash val="solid"/>
            <a:round/>
            <a:headEnd/>
            <a:tailEnd type="triangle" w="med" len="med"/>
          </a:ln>
          <a:effectLst/>
        </p:spPr>
        <p:txBody>
          <a:bodyPr>
            <a:spAutoFit/>
          </a:bodyPr>
          <a:lstStyle/>
          <a:p>
            <a:endParaRPr lang="zh-CN" altLang="en-US"/>
          </a:p>
        </p:txBody>
      </p:sp>
      <p:sp>
        <p:nvSpPr>
          <p:cNvPr id="591953" name="Line 81"/>
          <p:cNvSpPr>
            <a:spLocks noChangeShapeType="1"/>
          </p:cNvSpPr>
          <p:nvPr/>
        </p:nvSpPr>
        <p:spPr bwMode="auto">
          <a:xfrm>
            <a:off x="5859464" y="5457825"/>
            <a:ext cx="579437"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591921" name="Rectangle 49"/>
          <p:cNvSpPr>
            <a:spLocks noChangeArrowheads="1"/>
          </p:cNvSpPr>
          <p:nvPr/>
        </p:nvSpPr>
        <p:spPr bwMode="auto">
          <a:xfrm>
            <a:off x="5507038" y="5240338"/>
            <a:ext cx="449262" cy="449262"/>
          </a:xfrm>
          <a:prstGeom prst="rect">
            <a:avLst/>
          </a:prstGeom>
          <a:solidFill>
            <a:srgbClr val="FF0000"/>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边沿</a:t>
            </a:r>
          </a:p>
          <a:p>
            <a:r>
              <a:rPr lang="zh-CN" altLang="en-US" sz="1400">
                <a:latin typeface="Times New Roman" pitchFamily="18" charset="0"/>
                <a:ea typeface="华文新魏" pitchFamily="2" charset="-122"/>
              </a:rPr>
              <a:t>中断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91951"/>
                                        </p:tgtEl>
                                        <p:attrNameLst>
                                          <p:attrName>style.visibility</p:attrName>
                                        </p:attrNameLst>
                                      </p:cBhvr>
                                      <p:to>
                                        <p:strVal val="visible"/>
                                      </p:to>
                                    </p:set>
                                    <p:animEffect transition="in" filter="wipe(up)">
                                      <p:cBhvr>
                                        <p:cTn id="7" dur="500"/>
                                        <p:tgtEl>
                                          <p:spTgt spid="5919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1951"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2"/>
          <p:cNvSpPr>
            <a:spLocks noChangeArrowheads="1"/>
          </p:cNvSpPr>
          <p:nvPr/>
        </p:nvSpPr>
        <p:spPr bwMode="auto">
          <a:xfrm>
            <a:off x="2247182" y="601662"/>
            <a:ext cx="7772400" cy="1143000"/>
          </a:xfrm>
          <a:prstGeom prst="rect">
            <a:avLst/>
          </a:prstGeom>
          <a:noFill/>
          <a:ln w="9525">
            <a:noFill/>
            <a:miter lim="800000"/>
            <a:headEnd/>
            <a:tailEnd/>
          </a:ln>
          <a:effectLst/>
        </p:spPr>
        <p:txBody>
          <a:bodyPr anchor="ctr"/>
          <a:lstStyle/>
          <a:p>
            <a:r>
              <a:rPr lang="en-US" altLang="zh-CN" sz="4400" dirty="0"/>
              <a:t>5.3.6</a:t>
            </a:r>
            <a:r>
              <a:rPr lang="en-US" altLang="zh-CN" sz="4400" dirty="0">
                <a:solidFill>
                  <a:schemeClr val="tx2"/>
                </a:solidFill>
                <a:latin typeface="Times New Roman" pitchFamily="18" charset="0"/>
              </a:rPr>
              <a:t>  </a:t>
            </a:r>
            <a:r>
              <a:rPr lang="zh-CN" altLang="en-US" sz="4400" dirty="0">
                <a:solidFill>
                  <a:schemeClr val="tx2"/>
                </a:solidFill>
                <a:latin typeface="Times New Roman" pitchFamily="18" charset="0"/>
              </a:rPr>
              <a:t>外部中断输入</a:t>
            </a:r>
          </a:p>
        </p:txBody>
      </p:sp>
      <p:sp>
        <p:nvSpPr>
          <p:cNvPr id="589827" name="Rectangle 3"/>
          <p:cNvSpPr>
            <a:spLocks noChangeArrowheads="1"/>
          </p:cNvSpPr>
          <p:nvPr/>
        </p:nvSpPr>
        <p:spPr bwMode="auto">
          <a:xfrm>
            <a:off x="2209800" y="16748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电平中断设置</a:t>
            </a:r>
          </a:p>
        </p:txBody>
      </p:sp>
      <p:grpSp>
        <p:nvGrpSpPr>
          <p:cNvPr id="589828" name="Group 4"/>
          <p:cNvGrpSpPr>
            <a:grpSpLocks/>
          </p:cNvGrpSpPr>
          <p:nvPr/>
        </p:nvGrpSpPr>
        <p:grpSpPr bwMode="auto">
          <a:xfrm>
            <a:off x="2368550" y="4622800"/>
            <a:ext cx="889000" cy="814388"/>
            <a:chOff x="492" y="2264"/>
            <a:chExt cx="560" cy="513"/>
          </a:xfrm>
        </p:grpSpPr>
        <p:sp>
          <p:nvSpPr>
            <p:cNvPr id="589829" name="Rectangle 5"/>
            <p:cNvSpPr>
              <a:spLocks noChangeArrowheads="1"/>
            </p:cNvSpPr>
            <p:nvPr/>
          </p:nvSpPr>
          <p:spPr bwMode="auto">
            <a:xfrm>
              <a:off x="492" y="2437"/>
              <a:ext cx="560" cy="34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589830" name="Text Box 6"/>
            <p:cNvSpPr txBox="1">
              <a:spLocks noChangeArrowheads="1"/>
            </p:cNvSpPr>
            <p:nvPr/>
          </p:nvSpPr>
          <p:spPr bwMode="auto">
            <a:xfrm>
              <a:off x="552" y="2264"/>
              <a:ext cx="452" cy="192"/>
            </a:xfrm>
            <a:prstGeom prst="rect">
              <a:avLst/>
            </a:prstGeom>
            <a:noFill/>
            <a:ln w="9525" algn="ctr">
              <a:noFill/>
              <a:miter lim="800000"/>
              <a:headEnd/>
              <a:tailEnd/>
            </a:ln>
            <a:effectLst/>
          </p:spPr>
          <p:txBody>
            <a:bodyPr wrap="none">
              <a:spAutoFit/>
            </a:bodyPr>
            <a:lstStyle/>
            <a:p>
              <a:r>
                <a:rPr lang="zh-CN" altLang="en-US" sz="1400">
                  <a:latin typeface="Times New Roman" pitchFamily="18" charset="0"/>
                  <a:ea typeface="华文新魏" pitchFamily="2" charset="-122"/>
                </a:rPr>
                <a:t>低电平</a:t>
              </a:r>
            </a:p>
          </p:txBody>
        </p:sp>
        <p:sp>
          <p:nvSpPr>
            <p:cNvPr id="589831" name="Line 7"/>
            <p:cNvSpPr>
              <a:spLocks noChangeShapeType="1"/>
            </p:cNvSpPr>
            <p:nvPr/>
          </p:nvSpPr>
          <p:spPr bwMode="auto">
            <a:xfrm>
              <a:off x="549" y="2508"/>
              <a:ext cx="210" cy="0"/>
            </a:xfrm>
            <a:prstGeom prst="line">
              <a:avLst/>
            </a:prstGeom>
            <a:noFill/>
            <a:ln w="9525">
              <a:solidFill>
                <a:schemeClr val="tx1"/>
              </a:solidFill>
              <a:round/>
              <a:headEnd/>
              <a:tailEnd/>
            </a:ln>
            <a:effectLst/>
          </p:spPr>
          <p:txBody>
            <a:bodyPr wrap="none" anchor="ctr"/>
            <a:lstStyle/>
            <a:p>
              <a:endParaRPr lang="zh-CN" altLang="en-US"/>
            </a:p>
          </p:txBody>
        </p:sp>
        <p:sp>
          <p:nvSpPr>
            <p:cNvPr id="589832" name="Line 8"/>
            <p:cNvSpPr>
              <a:spLocks noChangeShapeType="1"/>
            </p:cNvSpPr>
            <p:nvPr/>
          </p:nvSpPr>
          <p:spPr bwMode="auto">
            <a:xfrm>
              <a:off x="760" y="2717"/>
              <a:ext cx="210" cy="0"/>
            </a:xfrm>
            <a:prstGeom prst="line">
              <a:avLst/>
            </a:prstGeom>
            <a:noFill/>
            <a:ln w="9525">
              <a:solidFill>
                <a:srgbClr val="FF0000"/>
              </a:solidFill>
              <a:round/>
              <a:headEnd/>
              <a:tailEnd type="triangle" w="med" len="med"/>
            </a:ln>
            <a:effectLst/>
          </p:spPr>
          <p:txBody>
            <a:bodyPr wrap="none" anchor="ctr"/>
            <a:lstStyle/>
            <a:p>
              <a:endParaRPr lang="zh-CN" altLang="en-US"/>
            </a:p>
          </p:txBody>
        </p:sp>
        <p:sp>
          <p:nvSpPr>
            <p:cNvPr id="589833" name="Line 9"/>
            <p:cNvSpPr>
              <a:spLocks noChangeShapeType="1"/>
            </p:cNvSpPr>
            <p:nvPr/>
          </p:nvSpPr>
          <p:spPr bwMode="auto">
            <a:xfrm>
              <a:off x="759" y="2510"/>
              <a:ext cx="0" cy="207"/>
            </a:xfrm>
            <a:prstGeom prst="line">
              <a:avLst/>
            </a:prstGeom>
            <a:noFill/>
            <a:ln w="9525">
              <a:solidFill>
                <a:schemeClr val="tx1"/>
              </a:solidFill>
              <a:round/>
              <a:headEnd/>
              <a:tailEnd/>
            </a:ln>
            <a:effectLst/>
          </p:spPr>
          <p:txBody>
            <a:bodyPr wrap="none" anchor="ctr"/>
            <a:lstStyle/>
            <a:p>
              <a:endParaRPr lang="zh-CN" altLang="en-US"/>
            </a:p>
          </p:txBody>
        </p:sp>
      </p:grpSp>
      <p:sp>
        <p:nvSpPr>
          <p:cNvPr id="589889" name="Text Box 65"/>
          <p:cNvSpPr txBox="1">
            <a:spLocks noChangeArrowheads="1"/>
          </p:cNvSpPr>
          <p:nvPr/>
        </p:nvSpPr>
        <p:spPr bwMode="auto">
          <a:xfrm>
            <a:off x="1889126" y="6038851"/>
            <a:ext cx="8385175" cy="366713"/>
          </a:xfrm>
          <a:prstGeom prst="rect">
            <a:avLst/>
          </a:prstGeom>
          <a:noFill/>
          <a:ln w="9525" algn="ctr">
            <a:noFill/>
            <a:miter lim="800000"/>
            <a:headEnd/>
            <a:tailEnd/>
          </a:ln>
          <a:effectLst/>
        </p:spPr>
        <p:txBody>
          <a:bodyPr wrap="none">
            <a:spAutoFit/>
          </a:bodyPr>
          <a:lstStyle/>
          <a:p>
            <a:r>
              <a:rPr lang="zh-CN" altLang="en-US">
                <a:solidFill>
                  <a:srgbClr val="FF0000"/>
                </a:solidFill>
                <a:latin typeface="Times New Roman" pitchFamily="18" charset="0"/>
                <a:ea typeface="华文新魏" pitchFamily="2" charset="-122"/>
              </a:rPr>
              <a:t>注意：</a:t>
            </a:r>
            <a:r>
              <a:rPr lang="zh-CN" altLang="en-US">
                <a:latin typeface="Times New Roman" pitchFamily="18" charset="0"/>
                <a:ea typeface="华文新魏" pitchFamily="2" charset="-122"/>
              </a:rPr>
              <a:t>这里仅以</a:t>
            </a:r>
            <a:r>
              <a:rPr lang="en-US" altLang="zh-CN">
                <a:latin typeface="Times New Roman" pitchFamily="18" charset="0"/>
                <a:ea typeface="华文新魏" pitchFamily="2" charset="-122"/>
              </a:rPr>
              <a:t>EINT0</a:t>
            </a:r>
            <a:r>
              <a:rPr lang="zh-CN" altLang="en-US">
                <a:latin typeface="Times New Roman" pitchFamily="18" charset="0"/>
                <a:ea typeface="华文新魏" pitchFamily="2" charset="-122"/>
              </a:rPr>
              <a:t>为例来进行讲解，</a:t>
            </a:r>
            <a:r>
              <a:rPr lang="en-US" altLang="zh-CN">
                <a:latin typeface="Times New Roman" pitchFamily="18" charset="0"/>
                <a:ea typeface="华文新魏" pitchFamily="2" charset="-122"/>
              </a:rPr>
              <a:t>EINT1~EINT3</a:t>
            </a:r>
            <a:r>
              <a:rPr lang="zh-CN" altLang="en-US">
                <a:latin typeface="Times New Roman" pitchFamily="18" charset="0"/>
                <a:ea typeface="华文新魏" pitchFamily="2" charset="-122"/>
              </a:rPr>
              <a:t>与之类似，此处不再重复。</a:t>
            </a:r>
          </a:p>
        </p:txBody>
      </p:sp>
      <p:sp>
        <p:nvSpPr>
          <p:cNvPr id="589890" name="Text Box 66"/>
          <p:cNvSpPr txBox="1">
            <a:spLocks noChangeArrowheads="1"/>
          </p:cNvSpPr>
          <p:nvPr/>
        </p:nvSpPr>
        <p:spPr bwMode="auto">
          <a:xfrm>
            <a:off x="1927225" y="2225675"/>
            <a:ext cx="8485188" cy="1569660"/>
          </a:xfrm>
          <a:prstGeom prst="rect">
            <a:avLst/>
          </a:prstGeom>
          <a:noFill/>
          <a:ln w="19050" algn="ctr">
            <a:noFill/>
            <a:miter lim="800000"/>
            <a:headEnd/>
            <a:tailEnd/>
          </a:ln>
          <a:effectLst/>
        </p:spPr>
        <p:txBody>
          <a:bodyPr>
            <a:spAutoFit/>
          </a:bodyPr>
          <a:lstStyle/>
          <a:p>
            <a:pPr algn="l"/>
            <a:r>
              <a:rPr lang="en-US" altLang="zh-CN" sz="2400">
                <a:latin typeface="Times New Roman" pitchFamily="18" charset="0"/>
                <a:ea typeface="华文新魏" pitchFamily="2" charset="-122"/>
              </a:rPr>
              <a:t>         LPC2000</a:t>
            </a:r>
            <a:r>
              <a:rPr lang="zh-CN" altLang="en-US" sz="2400">
                <a:latin typeface="Times New Roman" pitchFamily="18" charset="0"/>
                <a:ea typeface="华文新魏" pitchFamily="2" charset="-122"/>
              </a:rPr>
              <a:t>系列</a:t>
            </a:r>
            <a:r>
              <a:rPr lang="en-US" altLang="zh-CN" sz="2400">
                <a:latin typeface="Times New Roman" pitchFamily="18" charset="0"/>
                <a:ea typeface="华文新魏" pitchFamily="2" charset="-122"/>
              </a:rPr>
              <a:t>ARM</a:t>
            </a:r>
            <a:r>
              <a:rPr lang="zh-CN" altLang="en-US" sz="2400">
                <a:latin typeface="Times New Roman" pitchFamily="18" charset="0"/>
                <a:ea typeface="华文新魏" pitchFamily="2" charset="-122"/>
              </a:rPr>
              <a:t>的电平中断可以设置为</a:t>
            </a:r>
            <a:r>
              <a:rPr lang="zh-CN" altLang="en-US" sz="2400">
                <a:solidFill>
                  <a:srgbClr val="FF0000"/>
                </a:solidFill>
                <a:latin typeface="Times New Roman" pitchFamily="18" charset="0"/>
                <a:ea typeface="华文新魏" pitchFamily="2" charset="-122"/>
              </a:rPr>
              <a:t>高电平</a:t>
            </a:r>
            <a:r>
              <a:rPr lang="zh-CN" altLang="en-US" sz="2400">
                <a:latin typeface="Times New Roman" pitchFamily="18" charset="0"/>
                <a:ea typeface="华文新魏" pitchFamily="2" charset="-122"/>
              </a:rPr>
              <a:t>触发和</a:t>
            </a:r>
            <a:r>
              <a:rPr lang="zh-CN" altLang="en-US" sz="2400">
                <a:solidFill>
                  <a:srgbClr val="FF0000"/>
                </a:solidFill>
                <a:latin typeface="Times New Roman" pitchFamily="18" charset="0"/>
                <a:ea typeface="华文新魏" pitchFamily="2" charset="-122"/>
              </a:rPr>
              <a:t>低电平</a:t>
            </a:r>
            <a:r>
              <a:rPr lang="zh-CN" altLang="en-US" sz="2400">
                <a:latin typeface="Times New Roman" pitchFamily="18" charset="0"/>
                <a:ea typeface="华文新魏" pitchFamily="2" charset="-122"/>
              </a:rPr>
              <a:t>触发。</a:t>
            </a:r>
            <a:endParaRPr lang="zh-CN" altLang="en-US" sz="2400">
              <a:solidFill>
                <a:srgbClr val="FF0000"/>
              </a:solidFill>
              <a:latin typeface="Times New Roman" pitchFamily="18" charset="0"/>
              <a:ea typeface="华文新魏" pitchFamily="2" charset="-122"/>
            </a:endParaRPr>
          </a:p>
          <a:p>
            <a:pPr lvl="1" algn="l">
              <a:buFont typeface="Wingdings" pitchFamily="2" charset="2"/>
              <a:buChar char="Ø"/>
            </a:pPr>
            <a:r>
              <a:rPr lang="zh-CN" altLang="en-US" sz="2400">
                <a:solidFill>
                  <a:srgbClr val="FF0000"/>
                </a:solidFill>
                <a:latin typeface="Times New Roman" pitchFamily="18" charset="0"/>
                <a:ea typeface="华文新魏" pitchFamily="2" charset="-122"/>
              </a:rPr>
              <a:t> 当</a:t>
            </a:r>
            <a:r>
              <a:rPr lang="en-US" altLang="zh-CN" sz="2400">
                <a:solidFill>
                  <a:srgbClr val="FF0000"/>
                </a:solidFill>
                <a:latin typeface="Times New Roman" pitchFamily="18" charset="0"/>
              </a:rPr>
              <a:t>EXTPOLAR[0]</a:t>
            </a:r>
            <a:r>
              <a:rPr lang="en-US" altLang="zh-CN" sz="2400">
                <a:solidFill>
                  <a:srgbClr val="FF0000"/>
                </a:solidFill>
                <a:latin typeface="Times New Roman" pitchFamily="18" charset="0"/>
                <a:ea typeface="华文新魏" pitchFamily="2" charset="-122"/>
              </a:rPr>
              <a:t> = 0</a:t>
            </a:r>
            <a:r>
              <a:rPr lang="zh-CN" altLang="en-US" sz="2400">
                <a:solidFill>
                  <a:srgbClr val="FF0000"/>
                </a:solidFill>
                <a:latin typeface="Times New Roman" pitchFamily="18" charset="0"/>
                <a:ea typeface="华文新魏" pitchFamily="2" charset="-122"/>
              </a:rPr>
              <a:t>时，外部中断</a:t>
            </a:r>
            <a:r>
              <a:rPr lang="en-US" altLang="zh-CN" sz="2400">
                <a:solidFill>
                  <a:srgbClr val="FF0000"/>
                </a:solidFill>
                <a:latin typeface="Times New Roman" pitchFamily="18" charset="0"/>
                <a:ea typeface="华文新魏" pitchFamily="2" charset="-122"/>
              </a:rPr>
              <a:t>0</a:t>
            </a:r>
            <a:r>
              <a:rPr lang="zh-CN" altLang="en-US" sz="2400">
                <a:solidFill>
                  <a:srgbClr val="FF0000"/>
                </a:solidFill>
                <a:latin typeface="Times New Roman" pitchFamily="18" charset="0"/>
                <a:ea typeface="华文新魏" pitchFamily="2" charset="-122"/>
              </a:rPr>
              <a:t>设置为低电平触发。</a:t>
            </a:r>
          </a:p>
          <a:p>
            <a:pPr lvl="1" algn="l">
              <a:buFont typeface="Wingdings" pitchFamily="2" charset="2"/>
              <a:buChar char="Ø"/>
            </a:pPr>
            <a:r>
              <a:rPr lang="zh-CN" altLang="en-US" sz="2400">
                <a:latin typeface="Times New Roman" pitchFamily="18" charset="0"/>
                <a:ea typeface="华文新魏" pitchFamily="2" charset="-122"/>
              </a:rPr>
              <a:t> 当</a:t>
            </a:r>
            <a:r>
              <a:rPr lang="en-US" altLang="zh-CN" sz="2400">
                <a:latin typeface="Times New Roman" pitchFamily="18" charset="0"/>
              </a:rPr>
              <a:t>EXTPOLAR[0]</a:t>
            </a:r>
            <a:r>
              <a:rPr lang="en-US" altLang="zh-CN" sz="2400">
                <a:latin typeface="Times New Roman" pitchFamily="18" charset="0"/>
                <a:ea typeface="华文新魏" pitchFamily="2" charset="-122"/>
              </a:rPr>
              <a:t> = 1</a:t>
            </a:r>
            <a:r>
              <a:rPr lang="zh-CN" altLang="en-US" sz="2400">
                <a:latin typeface="Times New Roman" pitchFamily="18" charset="0"/>
                <a:ea typeface="华文新魏" pitchFamily="2" charset="-122"/>
              </a:rPr>
              <a:t>时，外部中断</a:t>
            </a:r>
            <a:r>
              <a:rPr lang="en-US" altLang="zh-CN" sz="2400">
                <a:latin typeface="Times New Roman" pitchFamily="18" charset="0"/>
                <a:ea typeface="华文新魏" pitchFamily="2" charset="-122"/>
              </a:rPr>
              <a:t>0</a:t>
            </a:r>
            <a:r>
              <a:rPr lang="zh-CN" altLang="en-US" sz="2400">
                <a:latin typeface="Times New Roman" pitchFamily="18" charset="0"/>
                <a:ea typeface="华文新魏" pitchFamily="2" charset="-122"/>
              </a:rPr>
              <a:t>设置为高电平触发。</a:t>
            </a:r>
          </a:p>
        </p:txBody>
      </p:sp>
      <p:grpSp>
        <p:nvGrpSpPr>
          <p:cNvPr id="589894" name="Group 70"/>
          <p:cNvGrpSpPr>
            <a:grpSpLocks/>
          </p:cNvGrpSpPr>
          <p:nvPr/>
        </p:nvGrpSpPr>
        <p:grpSpPr bwMode="auto">
          <a:xfrm>
            <a:off x="3470276" y="3916363"/>
            <a:ext cx="6310313" cy="2081212"/>
            <a:chOff x="1226" y="2467"/>
            <a:chExt cx="3975" cy="1311"/>
          </a:xfrm>
        </p:grpSpPr>
        <p:sp>
          <p:nvSpPr>
            <p:cNvPr id="589841" name="Rectangle 17"/>
            <p:cNvSpPr>
              <a:spLocks noChangeArrowheads="1"/>
            </p:cNvSpPr>
            <p:nvPr/>
          </p:nvSpPr>
          <p:spPr bwMode="auto">
            <a:xfrm>
              <a:off x="1226" y="3210"/>
              <a:ext cx="140" cy="60"/>
            </a:xfrm>
            <a:prstGeom prst="rect">
              <a:avLst/>
            </a:prstGeom>
            <a:solidFill>
              <a:srgbClr val="969696"/>
            </a:solidFill>
            <a:ln w="9525" algn="ctr">
              <a:solidFill>
                <a:schemeClr val="tx1"/>
              </a:solidFill>
              <a:miter lim="800000"/>
              <a:headEnd/>
              <a:tailEnd/>
            </a:ln>
            <a:effectLst/>
          </p:spPr>
          <p:txBody>
            <a:bodyPr wrap="none" anchor="ctr"/>
            <a:lstStyle/>
            <a:p>
              <a:endParaRPr lang="zh-CN" altLang="en-US"/>
            </a:p>
          </p:txBody>
        </p:sp>
        <p:sp>
          <p:nvSpPr>
            <p:cNvPr id="589842" name="Rectangle 18"/>
            <p:cNvSpPr>
              <a:spLocks noChangeArrowheads="1"/>
            </p:cNvSpPr>
            <p:nvPr/>
          </p:nvSpPr>
          <p:spPr bwMode="auto">
            <a:xfrm>
              <a:off x="1226" y="3346"/>
              <a:ext cx="140" cy="60"/>
            </a:xfrm>
            <a:prstGeom prst="rect">
              <a:avLst/>
            </a:prstGeom>
            <a:solidFill>
              <a:srgbClr val="969696"/>
            </a:solidFill>
            <a:ln w="9525" algn="ctr">
              <a:solidFill>
                <a:schemeClr val="tx1"/>
              </a:solidFill>
              <a:miter lim="800000"/>
              <a:headEnd/>
              <a:tailEnd/>
            </a:ln>
            <a:effectLst/>
          </p:spPr>
          <p:txBody>
            <a:bodyPr wrap="none" anchor="ctr"/>
            <a:lstStyle/>
            <a:p>
              <a:endParaRPr lang="zh-CN" altLang="en-US"/>
            </a:p>
          </p:txBody>
        </p:sp>
        <p:sp>
          <p:nvSpPr>
            <p:cNvPr id="589843" name="Rectangle 19"/>
            <p:cNvSpPr>
              <a:spLocks noChangeArrowheads="1"/>
            </p:cNvSpPr>
            <p:nvPr/>
          </p:nvSpPr>
          <p:spPr bwMode="auto">
            <a:xfrm>
              <a:off x="1226" y="3082"/>
              <a:ext cx="140" cy="60"/>
            </a:xfrm>
            <a:prstGeom prst="rect">
              <a:avLst/>
            </a:prstGeom>
            <a:solidFill>
              <a:srgbClr val="969696"/>
            </a:solidFill>
            <a:ln w="9525" algn="ctr">
              <a:solidFill>
                <a:schemeClr val="tx1"/>
              </a:solidFill>
              <a:miter lim="800000"/>
              <a:headEnd/>
              <a:tailEnd/>
            </a:ln>
            <a:effectLst/>
          </p:spPr>
          <p:txBody>
            <a:bodyPr wrap="none" anchor="ctr"/>
            <a:lstStyle/>
            <a:p>
              <a:endParaRPr lang="zh-CN" altLang="en-US"/>
            </a:p>
          </p:txBody>
        </p:sp>
        <p:sp>
          <p:nvSpPr>
            <p:cNvPr id="589844" name="Rectangle 20"/>
            <p:cNvSpPr>
              <a:spLocks noChangeArrowheads="1"/>
            </p:cNvSpPr>
            <p:nvPr/>
          </p:nvSpPr>
          <p:spPr bwMode="auto">
            <a:xfrm flipH="1">
              <a:off x="1310" y="2467"/>
              <a:ext cx="3891" cy="1311"/>
            </a:xfrm>
            <a:prstGeom prst="rect">
              <a:avLst/>
            </a:prstGeom>
            <a:solidFill>
              <a:schemeClr val="bg1"/>
            </a:solidFill>
            <a:ln w="9525" algn="ctr">
              <a:solidFill>
                <a:schemeClr val="tx1"/>
              </a:solidFill>
              <a:miter lim="800000"/>
              <a:headEnd/>
              <a:tailEnd/>
            </a:ln>
            <a:effectLst/>
          </p:spPr>
          <p:txBody>
            <a:bodyPr wrap="none" anchor="ctr"/>
            <a:lstStyle/>
            <a:p>
              <a:endParaRPr lang="zh-CN" altLang="en-US"/>
            </a:p>
          </p:txBody>
        </p:sp>
        <p:sp>
          <p:nvSpPr>
            <p:cNvPr id="589845" name="Line 21"/>
            <p:cNvSpPr>
              <a:spLocks noChangeShapeType="1"/>
            </p:cNvSpPr>
            <p:nvPr/>
          </p:nvSpPr>
          <p:spPr bwMode="auto">
            <a:xfrm>
              <a:off x="1318" y="3240"/>
              <a:ext cx="469" cy="0"/>
            </a:xfrm>
            <a:prstGeom prst="line">
              <a:avLst/>
            </a:prstGeom>
            <a:noFill/>
            <a:ln w="9525">
              <a:solidFill>
                <a:srgbClr val="FF0000"/>
              </a:solidFill>
              <a:round/>
              <a:headEnd/>
              <a:tailEnd type="oval" w="sm" len="sm"/>
            </a:ln>
            <a:effectLst/>
          </p:spPr>
          <p:txBody>
            <a:bodyPr wrap="none" anchor="ctr"/>
            <a:lstStyle/>
            <a:p>
              <a:endParaRPr lang="zh-CN" altLang="en-US"/>
            </a:p>
          </p:txBody>
        </p:sp>
        <p:sp>
          <p:nvSpPr>
            <p:cNvPr id="589846" name="Text Box 22"/>
            <p:cNvSpPr txBox="1">
              <a:spLocks noChangeArrowheads="1"/>
            </p:cNvSpPr>
            <p:nvPr/>
          </p:nvSpPr>
          <p:spPr bwMode="auto">
            <a:xfrm>
              <a:off x="1309" y="3048"/>
              <a:ext cx="516"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EINT0</a:t>
              </a:r>
            </a:p>
          </p:txBody>
        </p:sp>
        <p:sp>
          <p:nvSpPr>
            <p:cNvPr id="589847" name="Text Box 23"/>
            <p:cNvSpPr txBox="1">
              <a:spLocks noChangeArrowheads="1"/>
            </p:cNvSpPr>
            <p:nvPr/>
          </p:nvSpPr>
          <p:spPr bwMode="auto">
            <a:xfrm>
              <a:off x="3355" y="2737"/>
              <a:ext cx="212"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0</a:t>
              </a:r>
            </a:p>
          </p:txBody>
        </p:sp>
        <p:sp>
          <p:nvSpPr>
            <p:cNvPr id="589849" name="Line 25"/>
            <p:cNvSpPr>
              <a:spLocks noChangeShapeType="1"/>
            </p:cNvSpPr>
            <p:nvPr/>
          </p:nvSpPr>
          <p:spPr bwMode="auto">
            <a:xfrm flipV="1">
              <a:off x="1786" y="3115"/>
              <a:ext cx="257" cy="125"/>
            </a:xfrm>
            <a:prstGeom prst="line">
              <a:avLst/>
            </a:prstGeom>
            <a:noFill/>
            <a:ln w="9525">
              <a:solidFill>
                <a:srgbClr val="FF0000"/>
              </a:solidFill>
              <a:round/>
              <a:headEnd/>
              <a:tailEnd/>
            </a:ln>
            <a:effectLst/>
          </p:spPr>
          <p:txBody>
            <a:bodyPr wrap="none" anchor="ctr"/>
            <a:lstStyle/>
            <a:p>
              <a:endParaRPr lang="zh-CN" altLang="en-US"/>
            </a:p>
          </p:txBody>
        </p:sp>
        <p:sp>
          <p:nvSpPr>
            <p:cNvPr id="589850" name="Text Box 26"/>
            <p:cNvSpPr txBox="1">
              <a:spLocks noChangeArrowheads="1"/>
            </p:cNvSpPr>
            <p:nvPr/>
          </p:nvSpPr>
          <p:spPr bwMode="auto">
            <a:xfrm>
              <a:off x="1430" y="2759"/>
              <a:ext cx="1003"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EXTMODE[0] = 0</a:t>
              </a:r>
            </a:p>
          </p:txBody>
        </p:sp>
        <p:sp>
          <p:nvSpPr>
            <p:cNvPr id="589851" name="Line 27"/>
            <p:cNvSpPr>
              <a:spLocks noChangeShapeType="1"/>
            </p:cNvSpPr>
            <p:nvPr/>
          </p:nvSpPr>
          <p:spPr bwMode="auto">
            <a:xfrm>
              <a:off x="1933" y="2959"/>
              <a:ext cx="0" cy="199"/>
            </a:xfrm>
            <a:prstGeom prst="line">
              <a:avLst/>
            </a:prstGeom>
            <a:noFill/>
            <a:ln w="9525">
              <a:solidFill>
                <a:schemeClr val="tx1"/>
              </a:solidFill>
              <a:prstDash val="dash"/>
              <a:round/>
              <a:headEnd/>
              <a:tailEnd type="triangle" w="sm" len="sm"/>
            </a:ln>
            <a:effectLst/>
          </p:spPr>
          <p:txBody>
            <a:bodyPr wrap="none" anchor="ctr"/>
            <a:lstStyle/>
            <a:p>
              <a:endParaRPr lang="zh-CN" altLang="en-US"/>
            </a:p>
          </p:txBody>
        </p:sp>
        <p:sp>
          <p:nvSpPr>
            <p:cNvPr id="589852" name="Line 28"/>
            <p:cNvSpPr>
              <a:spLocks noChangeShapeType="1"/>
            </p:cNvSpPr>
            <p:nvPr/>
          </p:nvSpPr>
          <p:spPr bwMode="auto">
            <a:xfrm>
              <a:off x="2267" y="2994"/>
              <a:ext cx="820" cy="0"/>
            </a:xfrm>
            <a:prstGeom prst="line">
              <a:avLst/>
            </a:prstGeom>
            <a:noFill/>
            <a:ln w="9525">
              <a:solidFill>
                <a:srgbClr val="FF0000"/>
              </a:solidFill>
              <a:round/>
              <a:headEnd/>
              <a:tailEnd type="oval" w="sm" len="sm"/>
            </a:ln>
            <a:effectLst/>
          </p:spPr>
          <p:txBody>
            <a:bodyPr wrap="none" anchor="ctr"/>
            <a:lstStyle/>
            <a:p>
              <a:endParaRPr lang="zh-CN" altLang="en-US"/>
            </a:p>
          </p:txBody>
        </p:sp>
        <p:sp>
          <p:nvSpPr>
            <p:cNvPr id="589853" name="Line 29"/>
            <p:cNvSpPr>
              <a:spLocks noChangeShapeType="1"/>
            </p:cNvSpPr>
            <p:nvPr/>
          </p:nvSpPr>
          <p:spPr bwMode="auto">
            <a:xfrm flipV="1">
              <a:off x="3097" y="2862"/>
              <a:ext cx="260" cy="122"/>
            </a:xfrm>
            <a:prstGeom prst="line">
              <a:avLst/>
            </a:prstGeom>
            <a:noFill/>
            <a:ln w="9525">
              <a:solidFill>
                <a:srgbClr val="FF0000"/>
              </a:solidFill>
              <a:round/>
              <a:headEnd/>
              <a:tailEnd/>
            </a:ln>
            <a:effectLst/>
          </p:spPr>
          <p:txBody>
            <a:bodyPr wrap="none" anchor="ctr"/>
            <a:lstStyle/>
            <a:p>
              <a:endParaRPr lang="zh-CN" altLang="en-US"/>
            </a:p>
          </p:txBody>
        </p:sp>
        <p:sp>
          <p:nvSpPr>
            <p:cNvPr id="589854" name="Line 30"/>
            <p:cNvSpPr>
              <a:spLocks noChangeShapeType="1"/>
            </p:cNvSpPr>
            <p:nvPr/>
          </p:nvSpPr>
          <p:spPr bwMode="auto">
            <a:xfrm>
              <a:off x="2020" y="3148"/>
              <a:ext cx="241" cy="0"/>
            </a:xfrm>
            <a:prstGeom prst="line">
              <a:avLst/>
            </a:prstGeom>
            <a:noFill/>
            <a:ln w="9525">
              <a:solidFill>
                <a:srgbClr val="FF0000"/>
              </a:solidFill>
              <a:round/>
              <a:headEnd type="oval" w="sm" len="sm"/>
              <a:tailEnd type="none" w="sm" len="sm"/>
            </a:ln>
            <a:effectLst/>
          </p:spPr>
          <p:txBody>
            <a:bodyPr wrap="none" anchor="ctr"/>
            <a:lstStyle/>
            <a:p>
              <a:endParaRPr lang="zh-CN" altLang="en-US"/>
            </a:p>
          </p:txBody>
        </p:sp>
        <p:sp>
          <p:nvSpPr>
            <p:cNvPr id="589855" name="Line 31"/>
            <p:cNvSpPr>
              <a:spLocks noChangeShapeType="1"/>
            </p:cNvSpPr>
            <p:nvPr/>
          </p:nvSpPr>
          <p:spPr bwMode="auto">
            <a:xfrm>
              <a:off x="2016" y="3303"/>
              <a:ext cx="244"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89856" name="Line 32"/>
            <p:cNvSpPr>
              <a:spLocks noChangeShapeType="1"/>
            </p:cNvSpPr>
            <p:nvPr/>
          </p:nvSpPr>
          <p:spPr bwMode="auto">
            <a:xfrm>
              <a:off x="3341" y="3093"/>
              <a:ext cx="241"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89857" name="Line 33"/>
            <p:cNvSpPr>
              <a:spLocks noChangeShapeType="1"/>
            </p:cNvSpPr>
            <p:nvPr/>
          </p:nvSpPr>
          <p:spPr bwMode="auto">
            <a:xfrm>
              <a:off x="3341" y="2892"/>
              <a:ext cx="241" cy="0"/>
            </a:xfrm>
            <a:prstGeom prst="line">
              <a:avLst/>
            </a:prstGeom>
            <a:noFill/>
            <a:ln w="9525">
              <a:solidFill>
                <a:srgbClr val="FF0000"/>
              </a:solidFill>
              <a:round/>
              <a:headEnd type="oval" w="sm" len="sm"/>
              <a:tailEnd type="none" w="sm" len="sm"/>
            </a:ln>
            <a:effectLst/>
          </p:spPr>
          <p:txBody>
            <a:bodyPr wrap="none" anchor="ctr"/>
            <a:lstStyle/>
            <a:p>
              <a:endParaRPr lang="zh-CN" altLang="en-US"/>
            </a:p>
          </p:txBody>
        </p:sp>
        <p:sp>
          <p:nvSpPr>
            <p:cNvPr id="589858" name="Text Box 34"/>
            <p:cNvSpPr txBox="1">
              <a:spLocks noChangeArrowheads="1"/>
            </p:cNvSpPr>
            <p:nvPr/>
          </p:nvSpPr>
          <p:spPr bwMode="auto">
            <a:xfrm>
              <a:off x="2455" y="2518"/>
              <a:ext cx="1043" cy="192"/>
            </a:xfrm>
            <a:prstGeom prst="rect">
              <a:avLst/>
            </a:prstGeom>
            <a:noFill/>
            <a:ln w="9525" algn="ctr">
              <a:noFill/>
              <a:miter lim="800000"/>
              <a:headEnd/>
              <a:tailEnd/>
            </a:ln>
            <a:effectLst/>
          </p:spPr>
          <p:txBody>
            <a:bodyPr>
              <a:spAutoFit/>
            </a:bodyPr>
            <a:lstStyle/>
            <a:p>
              <a:r>
                <a:rPr lang="en-US" altLang="zh-CN" sz="1400">
                  <a:solidFill>
                    <a:srgbClr val="FF0000"/>
                  </a:solidFill>
                  <a:latin typeface="Times New Roman" pitchFamily="18" charset="0"/>
                  <a:ea typeface="华文新魏" pitchFamily="2" charset="-122"/>
                </a:rPr>
                <a:t>EXTPOLAR[0] = 0</a:t>
              </a:r>
            </a:p>
          </p:txBody>
        </p:sp>
        <p:sp>
          <p:nvSpPr>
            <p:cNvPr id="589859" name="Line 35"/>
            <p:cNvSpPr>
              <a:spLocks noChangeShapeType="1"/>
            </p:cNvSpPr>
            <p:nvPr/>
          </p:nvSpPr>
          <p:spPr bwMode="auto">
            <a:xfrm flipV="1">
              <a:off x="2265" y="2995"/>
              <a:ext cx="0" cy="149"/>
            </a:xfrm>
            <a:prstGeom prst="line">
              <a:avLst/>
            </a:prstGeom>
            <a:noFill/>
            <a:ln w="9525">
              <a:solidFill>
                <a:srgbClr val="FF0000"/>
              </a:solidFill>
              <a:round/>
              <a:headEnd/>
              <a:tailEnd type="none" w="sm" len="sm"/>
            </a:ln>
            <a:effectLst/>
          </p:spPr>
          <p:txBody>
            <a:bodyPr wrap="none" anchor="ctr"/>
            <a:lstStyle/>
            <a:p>
              <a:endParaRPr lang="zh-CN" altLang="en-US"/>
            </a:p>
          </p:txBody>
        </p:sp>
        <p:sp>
          <p:nvSpPr>
            <p:cNvPr id="589860" name="Line 36"/>
            <p:cNvSpPr>
              <a:spLocks noChangeShapeType="1"/>
            </p:cNvSpPr>
            <p:nvPr/>
          </p:nvSpPr>
          <p:spPr bwMode="auto">
            <a:xfrm>
              <a:off x="4248" y="2890"/>
              <a:ext cx="241" cy="0"/>
            </a:xfrm>
            <a:prstGeom prst="line">
              <a:avLst/>
            </a:prstGeom>
            <a:noFill/>
            <a:ln w="9525">
              <a:solidFill>
                <a:srgbClr val="FF0000"/>
              </a:solidFill>
              <a:round/>
              <a:headEnd type="none" w="sm" len="sm"/>
              <a:tailEnd type="triangle" w="sm" len="sm"/>
            </a:ln>
            <a:effectLst/>
          </p:spPr>
          <p:txBody>
            <a:bodyPr wrap="none" anchor="ctr"/>
            <a:lstStyle/>
            <a:p>
              <a:endParaRPr lang="zh-CN" altLang="en-US"/>
            </a:p>
          </p:txBody>
        </p:sp>
        <p:sp>
          <p:nvSpPr>
            <p:cNvPr id="589861" name="Line 37"/>
            <p:cNvSpPr>
              <a:spLocks noChangeShapeType="1"/>
            </p:cNvSpPr>
            <p:nvPr/>
          </p:nvSpPr>
          <p:spPr bwMode="auto">
            <a:xfrm>
              <a:off x="4243" y="3094"/>
              <a:ext cx="241"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89862" name="Rectangle 38"/>
            <p:cNvSpPr>
              <a:spLocks noChangeArrowheads="1"/>
            </p:cNvSpPr>
            <p:nvPr/>
          </p:nvSpPr>
          <p:spPr bwMode="auto">
            <a:xfrm>
              <a:off x="3583" y="3007"/>
              <a:ext cx="704" cy="169"/>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高电平中断</a:t>
              </a:r>
            </a:p>
          </p:txBody>
        </p:sp>
        <p:sp>
          <p:nvSpPr>
            <p:cNvPr id="589863" name="Rectangle 39"/>
            <p:cNvSpPr>
              <a:spLocks noChangeArrowheads="1"/>
            </p:cNvSpPr>
            <p:nvPr/>
          </p:nvSpPr>
          <p:spPr bwMode="auto">
            <a:xfrm>
              <a:off x="3583" y="2806"/>
              <a:ext cx="704" cy="170"/>
            </a:xfrm>
            <a:prstGeom prst="rect">
              <a:avLst/>
            </a:prstGeom>
            <a:solidFill>
              <a:srgbClr val="FF0000"/>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低电平中断</a:t>
              </a:r>
            </a:p>
          </p:txBody>
        </p:sp>
        <p:sp>
          <p:nvSpPr>
            <p:cNvPr id="589864" name="Line 40"/>
            <p:cNvSpPr>
              <a:spLocks noChangeShapeType="1"/>
            </p:cNvSpPr>
            <p:nvPr/>
          </p:nvSpPr>
          <p:spPr bwMode="auto">
            <a:xfrm>
              <a:off x="2261" y="3415"/>
              <a:ext cx="826"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589865" name="Line 41"/>
            <p:cNvSpPr>
              <a:spLocks noChangeShapeType="1"/>
            </p:cNvSpPr>
            <p:nvPr/>
          </p:nvSpPr>
          <p:spPr bwMode="auto">
            <a:xfrm flipV="1">
              <a:off x="3099" y="3297"/>
              <a:ext cx="262" cy="118"/>
            </a:xfrm>
            <a:prstGeom prst="line">
              <a:avLst/>
            </a:prstGeom>
            <a:noFill/>
            <a:ln w="9525">
              <a:solidFill>
                <a:schemeClr val="tx1"/>
              </a:solidFill>
              <a:round/>
              <a:headEnd/>
              <a:tailEnd/>
            </a:ln>
            <a:effectLst/>
          </p:spPr>
          <p:txBody>
            <a:bodyPr wrap="none" anchor="ctr"/>
            <a:lstStyle/>
            <a:p>
              <a:endParaRPr lang="zh-CN" altLang="en-US"/>
            </a:p>
          </p:txBody>
        </p:sp>
        <p:sp>
          <p:nvSpPr>
            <p:cNvPr id="589866" name="Line 42"/>
            <p:cNvSpPr>
              <a:spLocks noChangeShapeType="1"/>
            </p:cNvSpPr>
            <p:nvPr/>
          </p:nvSpPr>
          <p:spPr bwMode="auto">
            <a:xfrm>
              <a:off x="3345" y="3546"/>
              <a:ext cx="241"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89867" name="Line 43"/>
            <p:cNvSpPr>
              <a:spLocks noChangeShapeType="1"/>
            </p:cNvSpPr>
            <p:nvPr/>
          </p:nvSpPr>
          <p:spPr bwMode="auto">
            <a:xfrm>
              <a:off x="3345" y="3325"/>
              <a:ext cx="241"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89868" name="Line 44"/>
            <p:cNvSpPr>
              <a:spLocks noChangeShapeType="1"/>
            </p:cNvSpPr>
            <p:nvPr/>
          </p:nvSpPr>
          <p:spPr bwMode="auto">
            <a:xfrm>
              <a:off x="4248" y="3328"/>
              <a:ext cx="241"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89869" name="Line 45"/>
            <p:cNvSpPr>
              <a:spLocks noChangeShapeType="1"/>
            </p:cNvSpPr>
            <p:nvPr/>
          </p:nvSpPr>
          <p:spPr bwMode="auto">
            <a:xfrm>
              <a:off x="4248" y="3547"/>
              <a:ext cx="241"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89870" name="Rectangle 46"/>
            <p:cNvSpPr>
              <a:spLocks noChangeArrowheads="1"/>
            </p:cNvSpPr>
            <p:nvPr/>
          </p:nvSpPr>
          <p:spPr bwMode="auto">
            <a:xfrm>
              <a:off x="3583" y="3457"/>
              <a:ext cx="704" cy="170"/>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上升沿中断</a:t>
              </a:r>
            </a:p>
          </p:txBody>
        </p:sp>
        <p:sp>
          <p:nvSpPr>
            <p:cNvPr id="589871" name="Rectangle 47"/>
            <p:cNvSpPr>
              <a:spLocks noChangeArrowheads="1"/>
            </p:cNvSpPr>
            <p:nvPr/>
          </p:nvSpPr>
          <p:spPr bwMode="auto">
            <a:xfrm>
              <a:off x="3583" y="3244"/>
              <a:ext cx="704" cy="170"/>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下降沿中断</a:t>
              </a:r>
            </a:p>
          </p:txBody>
        </p:sp>
        <p:sp>
          <p:nvSpPr>
            <p:cNvPr id="589872" name="Line 48"/>
            <p:cNvSpPr>
              <a:spLocks noChangeShapeType="1"/>
            </p:cNvSpPr>
            <p:nvPr/>
          </p:nvSpPr>
          <p:spPr bwMode="auto">
            <a:xfrm flipV="1">
              <a:off x="2256" y="3307"/>
              <a:ext cx="0" cy="104"/>
            </a:xfrm>
            <a:prstGeom prst="line">
              <a:avLst/>
            </a:prstGeom>
            <a:noFill/>
            <a:ln w="9525">
              <a:solidFill>
                <a:schemeClr val="tx1"/>
              </a:solidFill>
              <a:round/>
              <a:headEnd/>
              <a:tailEnd type="none" w="sm" len="sm"/>
            </a:ln>
            <a:effectLst/>
          </p:spPr>
          <p:txBody>
            <a:bodyPr wrap="none" anchor="ctr"/>
            <a:lstStyle/>
            <a:p>
              <a:endParaRPr lang="zh-CN" altLang="en-US"/>
            </a:p>
          </p:txBody>
        </p:sp>
        <p:sp>
          <p:nvSpPr>
            <p:cNvPr id="589873" name="Rectangle 49"/>
            <p:cNvSpPr>
              <a:spLocks noChangeArrowheads="1"/>
            </p:cNvSpPr>
            <p:nvPr/>
          </p:nvSpPr>
          <p:spPr bwMode="auto">
            <a:xfrm>
              <a:off x="2508" y="2854"/>
              <a:ext cx="283" cy="283"/>
            </a:xfrm>
            <a:prstGeom prst="rect">
              <a:avLst/>
            </a:prstGeom>
            <a:solidFill>
              <a:srgbClr val="FF0000"/>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电平</a:t>
              </a:r>
            </a:p>
            <a:p>
              <a:r>
                <a:rPr lang="zh-CN" altLang="en-US" sz="1400">
                  <a:latin typeface="Times New Roman" pitchFamily="18" charset="0"/>
                  <a:ea typeface="华文新魏" pitchFamily="2" charset="-122"/>
                </a:rPr>
                <a:t>中断</a:t>
              </a:r>
            </a:p>
          </p:txBody>
        </p:sp>
        <p:sp>
          <p:nvSpPr>
            <p:cNvPr id="589874" name="Rectangle 50"/>
            <p:cNvSpPr>
              <a:spLocks noChangeArrowheads="1"/>
            </p:cNvSpPr>
            <p:nvPr/>
          </p:nvSpPr>
          <p:spPr bwMode="auto">
            <a:xfrm>
              <a:off x="2509" y="3277"/>
              <a:ext cx="283" cy="283"/>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边沿</a:t>
              </a:r>
            </a:p>
            <a:p>
              <a:r>
                <a:rPr lang="zh-CN" altLang="en-US" sz="1400">
                  <a:latin typeface="Times New Roman" pitchFamily="18" charset="0"/>
                  <a:ea typeface="华文新魏" pitchFamily="2" charset="-122"/>
                </a:rPr>
                <a:t>中断</a:t>
              </a:r>
            </a:p>
          </p:txBody>
        </p:sp>
        <p:sp>
          <p:nvSpPr>
            <p:cNvPr id="589875" name="Line 51"/>
            <p:cNvSpPr>
              <a:spLocks noChangeShapeType="1"/>
            </p:cNvSpPr>
            <p:nvPr/>
          </p:nvSpPr>
          <p:spPr bwMode="auto">
            <a:xfrm>
              <a:off x="4598" y="3228"/>
              <a:ext cx="193"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89876" name="Rectangle 52"/>
            <p:cNvSpPr>
              <a:spLocks noChangeArrowheads="1"/>
            </p:cNvSpPr>
            <p:nvPr/>
          </p:nvSpPr>
          <p:spPr bwMode="auto">
            <a:xfrm>
              <a:off x="4796" y="3157"/>
              <a:ext cx="282" cy="135"/>
            </a:xfrm>
            <a:prstGeom prst="rect">
              <a:avLst/>
            </a:prstGeom>
            <a:solidFill>
              <a:srgbClr val="CCFFFF"/>
            </a:solidFill>
            <a:ln w="9525" algn="ctr">
              <a:solidFill>
                <a:schemeClr val="tx1"/>
              </a:solidFill>
              <a:miter lim="800000"/>
              <a:headEnd/>
              <a:tailEnd/>
            </a:ln>
            <a:effectLst/>
          </p:spPr>
          <p:txBody>
            <a:bodyPr wrap="none" anchor="ctr"/>
            <a:lstStyle/>
            <a:p>
              <a:r>
                <a:rPr lang="en-US" altLang="zh-CN" sz="1400">
                  <a:latin typeface="Times New Roman" pitchFamily="18" charset="0"/>
                  <a:ea typeface="华文新魏" pitchFamily="2" charset="-122"/>
                </a:rPr>
                <a:t>VIC</a:t>
              </a:r>
            </a:p>
          </p:txBody>
        </p:sp>
        <p:sp>
          <p:nvSpPr>
            <p:cNvPr id="589877" name="Rectangle 53"/>
            <p:cNvSpPr>
              <a:spLocks noChangeArrowheads="1"/>
            </p:cNvSpPr>
            <p:nvPr/>
          </p:nvSpPr>
          <p:spPr bwMode="auto">
            <a:xfrm>
              <a:off x="4497" y="2807"/>
              <a:ext cx="144" cy="862"/>
            </a:xfrm>
            <a:prstGeom prst="rect">
              <a:avLst/>
            </a:prstGeom>
            <a:solidFill>
              <a:srgbClr val="FFCC99"/>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外</a:t>
              </a:r>
            </a:p>
            <a:p>
              <a:r>
                <a:rPr lang="zh-CN" altLang="en-US" sz="1400">
                  <a:latin typeface="Times New Roman" pitchFamily="18" charset="0"/>
                  <a:ea typeface="华文新魏" pitchFamily="2" charset="-122"/>
                </a:rPr>
                <a:t>部</a:t>
              </a:r>
            </a:p>
            <a:p>
              <a:r>
                <a:rPr lang="zh-CN" altLang="en-US" sz="1400">
                  <a:latin typeface="Times New Roman" pitchFamily="18" charset="0"/>
                  <a:ea typeface="华文新魏" pitchFamily="2" charset="-122"/>
                </a:rPr>
                <a:t>中</a:t>
              </a:r>
            </a:p>
            <a:p>
              <a:r>
                <a:rPr lang="zh-CN" altLang="en-US" sz="1400">
                  <a:latin typeface="Times New Roman" pitchFamily="18" charset="0"/>
                  <a:ea typeface="华文新魏" pitchFamily="2" charset="-122"/>
                </a:rPr>
                <a:t>断</a:t>
              </a:r>
            </a:p>
            <a:p>
              <a:r>
                <a:rPr lang="en-US" altLang="zh-CN" sz="1400">
                  <a:latin typeface="Times New Roman" pitchFamily="18" charset="0"/>
                  <a:ea typeface="华文新魏" pitchFamily="2" charset="-122"/>
                </a:rPr>
                <a:t>0</a:t>
              </a:r>
            </a:p>
          </p:txBody>
        </p:sp>
        <p:sp>
          <p:nvSpPr>
            <p:cNvPr id="589878" name="Text Box 54"/>
            <p:cNvSpPr txBox="1">
              <a:spLocks noChangeArrowheads="1"/>
            </p:cNvSpPr>
            <p:nvPr/>
          </p:nvSpPr>
          <p:spPr bwMode="auto">
            <a:xfrm>
              <a:off x="3351" y="3178"/>
              <a:ext cx="212"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0</a:t>
              </a:r>
            </a:p>
          </p:txBody>
        </p:sp>
        <p:sp>
          <p:nvSpPr>
            <p:cNvPr id="589879" name="Text Box 55"/>
            <p:cNvSpPr txBox="1">
              <a:spLocks noChangeArrowheads="1"/>
            </p:cNvSpPr>
            <p:nvPr/>
          </p:nvSpPr>
          <p:spPr bwMode="auto">
            <a:xfrm>
              <a:off x="3351" y="2940"/>
              <a:ext cx="212"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1</a:t>
              </a:r>
            </a:p>
          </p:txBody>
        </p:sp>
        <p:sp>
          <p:nvSpPr>
            <p:cNvPr id="589880" name="Text Box 56"/>
            <p:cNvSpPr txBox="1">
              <a:spLocks noChangeArrowheads="1"/>
            </p:cNvSpPr>
            <p:nvPr/>
          </p:nvSpPr>
          <p:spPr bwMode="auto">
            <a:xfrm>
              <a:off x="3347" y="3389"/>
              <a:ext cx="212"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1</a:t>
              </a:r>
            </a:p>
          </p:txBody>
        </p:sp>
        <p:sp>
          <p:nvSpPr>
            <p:cNvPr id="589881" name="Text Box 57"/>
            <p:cNvSpPr txBox="1">
              <a:spLocks noChangeArrowheads="1"/>
            </p:cNvSpPr>
            <p:nvPr/>
          </p:nvSpPr>
          <p:spPr bwMode="auto">
            <a:xfrm>
              <a:off x="2042" y="2995"/>
              <a:ext cx="126"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0</a:t>
              </a:r>
            </a:p>
          </p:txBody>
        </p:sp>
        <p:sp>
          <p:nvSpPr>
            <p:cNvPr id="589882" name="Text Box 58"/>
            <p:cNvSpPr txBox="1">
              <a:spLocks noChangeArrowheads="1"/>
            </p:cNvSpPr>
            <p:nvPr/>
          </p:nvSpPr>
          <p:spPr bwMode="auto">
            <a:xfrm>
              <a:off x="2026" y="3147"/>
              <a:ext cx="212"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1</a:t>
              </a:r>
            </a:p>
          </p:txBody>
        </p:sp>
        <p:sp>
          <p:nvSpPr>
            <p:cNvPr id="589883" name="Line 59"/>
            <p:cNvSpPr>
              <a:spLocks noChangeShapeType="1"/>
            </p:cNvSpPr>
            <p:nvPr/>
          </p:nvSpPr>
          <p:spPr bwMode="auto">
            <a:xfrm>
              <a:off x="2989" y="2695"/>
              <a:ext cx="0" cy="464"/>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89884" name="Line 60"/>
            <p:cNvSpPr>
              <a:spLocks noChangeShapeType="1"/>
            </p:cNvSpPr>
            <p:nvPr/>
          </p:nvSpPr>
          <p:spPr bwMode="auto">
            <a:xfrm>
              <a:off x="2995" y="2779"/>
              <a:ext cx="187" cy="0"/>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89885" name="Line 61"/>
            <p:cNvSpPr>
              <a:spLocks noChangeShapeType="1"/>
            </p:cNvSpPr>
            <p:nvPr/>
          </p:nvSpPr>
          <p:spPr bwMode="auto">
            <a:xfrm>
              <a:off x="3197" y="2780"/>
              <a:ext cx="0" cy="134"/>
            </a:xfrm>
            <a:prstGeom prst="line">
              <a:avLst/>
            </a:prstGeom>
            <a:noFill/>
            <a:ln w="9525">
              <a:solidFill>
                <a:schemeClr val="tx1"/>
              </a:solidFill>
              <a:prstDash val="dash"/>
              <a:round/>
              <a:headEnd/>
              <a:tailEnd type="triangle" w="sm" len="sm"/>
            </a:ln>
            <a:effectLst/>
          </p:spPr>
          <p:txBody>
            <a:bodyPr wrap="none" anchor="ctr"/>
            <a:lstStyle/>
            <a:p>
              <a:endParaRPr lang="zh-CN" altLang="en-US"/>
            </a:p>
          </p:txBody>
        </p:sp>
        <p:sp>
          <p:nvSpPr>
            <p:cNvPr id="589886" name="Line 62"/>
            <p:cNvSpPr>
              <a:spLocks noChangeShapeType="1"/>
            </p:cNvSpPr>
            <p:nvPr/>
          </p:nvSpPr>
          <p:spPr bwMode="auto">
            <a:xfrm>
              <a:off x="2995" y="3158"/>
              <a:ext cx="187" cy="0"/>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89887" name="Line 63"/>
            <p:cNvSpPr>
              <a:spLocks noChangeShapeType="1"/>
            </p:cNvSpPr>
            <p:nvPr/>
          </p:nvSpPr>
          <p:spPr bwMode="auto">
            <a:xfrm>
              <a:off x="3197" y="3214"/>
              <a:ext cx="0" cy="134"/>
            </a:xfrm>
            <a:prstGeom prst="line">
              <a:avLst/>
            </a:prstGeom>
            <a:noFill/>
            <a:ln w="9525">
              <a:solidFill>
                <a:schemeClr val="tx1"/>
              </a:solidFill>
              <a:prstDash val="dash"/>
              <a:round/>
              <a:headEnd/>
              <a:tailEnd type="triangle" w="sm" len="sm"/>
            </a:ln>
            <a:effectLst/>
          </p:spPr>
          <p:txBody>
            <a:bodyPr wrap="none" anchor="ctr"/>
            <a:lstStyle/>
            <a:p>
              <a:endParaRPr lang="zh-CN" altLang="en-US"/>
            </a:p>
          </p:txBody>
        </p:sp>
      </p:grpSp>
      <p:sp>
        <p:nvSpPr>
          <p:cNvPr id="589892" name="Freeform 68"/>
          <p:cNvSpPr>
            <a:spLocks/>
          </p:cNvSpPr>
          <p:nvPr/>
        </p:nvSpPr>
        <p:spPr bwMode="auto">
          <a:xfrm>
            <a:off x="1519238" y="3173413"/>
            <a:ext cx="3930651" cy="369332"/>
          </a:xfrm>
          <a:custGeom>
            <a:avLst/>
            <a:gdLst/>
            <a:ahLst/>
            <a:cxnLst>
              <a:cxn ang="0">
                <a:pos x="579" y="0"/>
              </a:cxn>
              <a:cxn ang="0">
                <a:pos x="316" y="364"/>
              </a:cxn>
              <a:cxn ang="0">
                <a:pos x="2476" y="610"/>
              </a:cxn>
            </a:cxnLst>
            <a:rect l="0" t="0" r="r" b="b"/>
            <a:pathLst>
              <a:path w="2476" h="610">
                <a:moveTo>
                  <a:pt x="579" y="0"/>
                </a:moveTo>
                <a:cubicBezTo>
                  <a:pt x="289" y="131"/>
                  <a:pt x="0" y="262"/>
                  <a:pt x="316" y="364"/>
                </a:cubicBezTo>
                <a:cubicBezTo>
                  <a:pt x="632" y="466"/>
                  <a:pt x="1554" y="538"/>
                  <a:pt x="2476" y="610"/>
                </a:cubicBezTo>
              </a:path>
            </a:pathLst>
          </a:custGeom>
          <a:noFill/>
          <a:ln w="19050" cap="flat" cmpd="sng">
            <a:solidFill>
              <a:srgbClr val="FF0000"/>
            </a:solidFill>
            <a:prstDash val="solid"/>
            <a:round/>
            <a:headEnd/>
            <a:tailEnd type="triangle" w="med" len="med"/>
          </a:ln>
          <a:effectLst/>
        </p:spPr>
        <p:txBody>
          <a:bodyP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89827"/>
                                        </p:tgtEl>
                                        <p:attrNameLst>
                                          <p:attrName>style.visibility</p:attrName>
                                        </p:attrNameLst>
                                      </p:cBhvr>
                                      <p:to>
                                        <p:strVal val="visible"/>
                                      </p:to>
                                    </p:set>
                                    <p:animEffect transition="in" filter="wipe(up)">
                                      <p:cBhvr>
                                        <p:cTn id="7" dur="500"/>
                                        <p:tgtEl>
                                          <p:spTgt spid="58982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89890"/>
                                        </p:tgtEl>
                                        <p:attrNameLst>
                                          <p:attrName>style.visibility</p:attrName>
                                        </p:attrNameLst>
                                      </p:cBhvr>
                                      <p:to>
                                        <p:strVal val="visible"/>
                                      </p:to>
                                    </p:set>
                                    <p:animEffect transition="in" filter="wipe(up)">
                                      <p:cBhvr>
                                        <p:cTn id="11" dur="500"/>
                                        <p:tgtEl>
                                          <p:spTgt spid="589890"/>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589894"/>
                                        </p:tgtEl>
                                        <p:attrNameLst>
                                          <p:attrName>style.visibility</p:attrName>
                                        </p:attrNameLst>
                                      </p:cBhvr>
                                      <p:to>
                                        <p:strVal val="visible"/>
                                      </p:to>
                                    </p:set>
                                    <p:animEffect transition="in" filter="wipe(up)">
                                      <p:cBhvr>
                                        <p:cTn id="15" dur="500"/>
                                        <p:tgtEl>
                                          <p:spTgt spid="589894"/>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589828"/>
                                        </p:tgtEl>
                                        <p:attrNameLst>
                                          <p:attrName>style.visibility</p:attrName>
                                        </p:attrNameLst>
                                      </p:cBhvr>
                                      <p:to>
                                        <p:strVal val="visible"/>
                                      </p:to>
                                    </p:set>
                                    <p:animEffect transition="in" filter="wipe(up)">
                                      <p:cBhvr>
                                        <p:cTn id="19" dur="500"/>
                                        <p:tgtEl>
                                          <p:spTgt spid="589828"/>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589892"/>
                                        </p:tgtEl>
                                        <p:attrNameLst>
                                          <p:attrName>style.visibility</p:attrName>
                                        </p:attrNameLst>
                                      </p:cBhvr>
                                      <p:to>
                                        <p:strVal val="visible"/>
                                      </p:to>
                                    </p:set>
                                    <p:animEffect transition="in" filter="wipe(up)">
                                      <p:cBhvr>
                                        <p:cTn id="23" dur="500"/>
                                        <p:tgtEl>
                                          <p:spTgt spid="589892"/>
                                        </p:tgtEl>
                                      </p:cBhvr>
                                    </p:animEffect>
                                  </p:childTnLst>
                                </p:cTn>
                              </p:par>
                            </p:childTnLst>
                          </p:cTn>
                        </p:par>
                        <p:par>
                          <p:cTn id="24" fill="hold">
                            <p:stCondLst>
                              <p:cond delay="2500"/>
                            </p:stCondLst>
                            <p:childTnLst>
                              <p:par>
                                <p:cTn id="25" presetID="35" presetClass="emph" presetSubtype="0" fill="hold" nodeType="afterEffect">
                                  <p:stCondLst>
                                    <p:cond delay="0"/>
                                  </p:stCondLst>
                                  <p:childTnLst>
                                    <p:anim calcmode="discrete" valueType="str">
                                      <p:cBhvr>
                                        <p:cTn id="26" dur="500" fill="hold"/>
                                        <p:tgtEl>
                                          <p:spTgt spid="589828"/>
                                        </p:tgtEl>
                                        <p:attrNameLst>
                                          <p:attrName>style.visibility</p:attrName>
                                        </p:attrNameLst>
                                      </p:cBhvr>
                                      <p:tavLst>
                                        <p:tav tm="0">
                                          <p:val>
                                            <p:strVal val="hidden"/>
                                          </p:val>
                                        </p:tav>
                                        <p:tav tm="50000">
                                          <p:val>
                                            <p:strVal val="visible"/>
                                          </p:val>
                                        </p:tav>
                                      </p:tavLst>
                                    </p:anim>
                                  </p:childTnLst>
                                </p:cTn>
                              </p:par>
                            </p:childTnLst>
                          </p:cTn>
                        </p:par>
                        <p:par>
                          <p:cTn id="27" fill="hold">
                            <p:stCondLst>
                              <p:cond delay="3000"/>
                            </p:stCondLst>
                            <p:childTnLst>
                              <p:par>
                                <p:cTn id="28" presetID="22" presetClass="entr" presetSubtype="1" fill="hold" grpId="0" nodeType="afterEffect">
                                  <p:stCondLst>
                                    <p:cond delay="0"/>
                                  </p:stCondLst>
                                  <p:childTnLst>
                                    <p:set>
                                      <p:cBhvr>
                                        <p:cTn id="29" dur="1" fill="hold">
                                          <p:stCondLst>
                                            <p:cond delay="0"/>
                                          </p:stCondLst>
                                        </p:cTn>
                                        <p:tgtEl>
                                          <p:spTgt spid="589889"/>
                                        </p:tgtEl>
                                        <p:attrNameLst>
                                          <p:attrName>style.visibility</p:attrName>
                                        </p:attrNameLst>
                                      </p:cBhvr>
                                      <p:to>
                                        <p:strVal val="visible"/>
                                      </p:to>
                                    </p:set>
                                    <p:animEffect transition="in" filter="wipe(up)">
                                      <p:cBhvr>
                                        <p:cTn id="30" dur="500"/>
                                        <p:tgtEl>
                                          <p:spTgt spid="5898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9827" grpId="0"/>
      <p:bldP spid="589889" grpId="0"/>
      <p:bldP spid="589890" grpId="0"/>
      <p:bldP spid="58989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2"/>
          <p:cNvSpPr>
            <a:spLocks noChangeArrowheads="1"/>
          </p:cNvSpPr>
          <p:nvPr/>
        </p:nvSpPr>
        <p:spPr bwMode="auto">
          <a:xfrm>
            <a:off x="2209800" y="609600"/>
            <a:ext cx="7772400" cy="1143000"/>
          </a:xfrm>
          <a:prstGeom prst="rect">
            <a:avLst/>
          </a:prstGeom>
          <a:noFill/>
          <a:ln w="9525">
            <a:noFill/>
            <a:miter lim="800000"/>
            <a:headEnd/>
            <a:tailEnd/>
          </a:ln>
          <a:effectLst/>
        </p:spPr>
        <p:txBody>
          <a:bodyPr anchor="ctr"/>
          <a:lstStyle/>
          <a:p>
            <a:r>
              <a:rPr lang="en-US" altLang="zh-CN" sz="4400" dirty="0"/>
              <a:t>5.3.6</a:t>
            </a:r>
            <a:r>
              <a:rPr lang="en-US" altLang="zh-CN" sz="4400" dirty="0">
                <a:solidFill>
                  <a:schemeClr val="tx2"/>
                </a:solidFill>
                <a:latin typeface="Times New Roman" pitchFamily="18" charset="0"/>
              </a:rPr>
              <a:t>  </a:t>
            </a:r>
            <a:r>
              <a:rPr lang="zh-CN" altLang="en-US" sz="4400" dirty="0">
                <a:solidFill>
                  <a:schemeClr val="tx2"/>
                </a:solidFill>
                <a:latin typeface="Times New Roman" pitchFamily="18" charset="0"/>
              </a:rPr>
              <a:t>外部中断输入</a:t>
            </a:r>
          </a:p>
        </p:txBody>
      </p:sp>
      <p:sp>
        <p:nvSpPr>
          <p:cNvPr id="593923" name="Rectangle 3"/>
          <p:cNvSpPr>
            <a:spLocks noChangeArrowheads="1"/>
          </p:cNvSpPr>
          <p:nvPr/>
        </p:nvSpPr>
        <p:spPr bwMode="auto">
          <a:xfrm>
            <a:off x="2209800" y="16748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电平中断设置</a:t>
            </a:r>
          </a:p>
        </p:txBody>
      </p:sp>
      <p:grpSp>
        <p:nvGrpSpPr>
          <p:cNvPr id="593989" name="Group 69"/>
          <p:cNvGrpSpPr>
            <a:grpSpLocks/>
          </p:cNvGrpSpPr>
          <p:nvPr/>
        </p:nvGrpSpPr>
        <p:grpSpPr bwMode="auto">
          <a:xfrm>
            <a:off x="3470276" y="3916363"/>
            <a:ext cx="6310313" cy="2055812"/>
            <a:chOff x="1226" y="2467"/>
            <a:chExt cx="3975" cy="1295"/>
          </a:xfrm>
        </p:grpSpPr>
        <p:sp>
          <p:nvSpPr>
            <p:cNvPr id="593931" name="Rectangle 11"/>
            <p:cNvSpPr>
              <a:spLocks noChangeArrowheads="1"/>
            </p:cNvSpPr>
            <p:nvPr/>
          </p:nvSpPr>
          <p:spPr bwMode="auto">
            <a:xfrm>
              <a:off x="1226" y="3210"/>
              <a:ext cx="140" cy="60"/>
            </a:xfrm>
            <a:prstGeom prst="rect">
              <a:avLst/>
            </a:prstGeom>
            <a:solidFill>
              <a:srgbClr val="969696"/>
            </a:solidFill>
            <a:ln w="9525" algn="ctr">
              <a:solidFill>
                <a:schemeClr val="tx1"/>
              </a:solidFill>
              <a:miter lim="800000"/>
              <a:headEnd/>
              <a:tailEnd/>
            </a:ln>
            <a:effectLst/>
          </p:spPr>
          <p:txBody>
            <a:bodyPr wrap="none" anchor="ctr"/>
            <a:lstStyle/>
            <a:p>
              <a:endParaRPr lang="zh-CN" altLang="en-US"/>
            </a:p>
          </p:txBody>
        </p:sp>
        <p:sp>
          <p:nvSpPr>
            <p:cNvPr id="593932" name="Rectangle 12"/>
            <p:cNvSpPr>
              <a:spLocks noChangeArrowheads="1"/>
            </p:cNvSpPr>
            <p:nvPr/>
          </p:nvSpPr>
          <p:spPr bwMode="auto">
            <a:xfrm>
              <a:off x="1226" y="3346"/>
              <a:ext cx="140" cy="60"/>
            </a:xfrm>
            <a:prstGeom prst="rect">
              <a:avLst/>
            </a:prstGeom>
            <a:solidFill>
              <a:srgbClr val="969696"/>
            </a:solidFill>
            <a:ln w="9525" algn="ctr">
              <a:solidFill>
                <a:schemeClr val="tx1"/>
              </a:solidFill>
              <a:miter lim="800000"/>
              <a:headEnd/>
              <a:tailEnd/>
            </a:ln>
            <a:effectLst/>
          </p:spPr>
          <p:txBody>
            <a:bodyPr wrap="none" anchor="ctr"/>
            <a:lstStyle/>
            <a:p>
              <a:endParaRPr lang="zh-CN" altLang="en-US"/>
            </a:p>
          </p:txBody>
        </p:sp>
        <p:sp>
          <p:nvSpPr>
            <p:cNvPr id="593933" name="Rectangle 13"/>
            <p:cNvSpPr>
              <a:spLocks noChangeArrowheads="1"/>
            </p:cNvSpPr>
            <p:nvPr/>
          </p:nvSpPr>
          <p:spPr bwMode="auto">
            <a:xfrm>
              <a:off x="1226" y="3082"/>
              <a:ext cx="140" cy="60"/>
            </a:xfrm>
            <a:prstGeom prst="rect">
              <a:avLst/>
            </a:prstGeom>
            <a:solidFill>
              <a:srgbClr val="969696"/>
            </a:solidFill>
            <a:ln w="9525" algn="ctr">
              <a:solidFill>
                <a:schemeClr val="tx1"/>
              </a:solidFill>
              <a:miter lim="800000"/>
              <a:headEnd/>
              <a:tailEnd/>
            </a:ln>
            <a:effectLst/>
          </p:spPr>
          <p:txBody>
            <a:bodyPr wrap="none" anchor="ctr"/>
            <a:lstStyle/>
            <a:p>
              <a:endParaRPr lang="zh-CN" altLang="en-US"/>
            </a:p>
          </p:txBody>
        </p:sp>
        <p:sp>
          <p:nvSpPr>
            <p:cNvPr id="593934" name="Rectangle 14"/>
            <p:cNvSpPr>
              <a:spLocks noChangeArrowheads="1"/>
            </p:cNvSpPr>
            <p:nvPr/>
          </p:nvSpPr>
          <p:spPr bwMode="auto">
            <a:xfrm flipH="1">
              <a:off x="1310" y="2467"/>
              <a:ext cx="3891" cy="1295"/>
            </a:xfrm>
            <a:prstGeom prst="rect">
              <a:avLst/>
            </a:prstGeom>
            <a:solidFill>
              <a:schemeClr val="bg1"/>
            </a:solidFill>
            <a:ln w="9525" algn="ctr">
              <a:solidFill>
                <a:schemeClr val="tx1"/>
              </a:solidFill>
              <a:miter lim="800000"/>
              <a:headEnd/>
              <a:tailEnd/>
            </a:ln>
            <a:effectLst/>
          </p:spPr>
          <p:txBody>
            <a:bodyPr wrap="none" anchor="ctr"/>
            <a:lstStyle/>
            <a:p>
              <a:endParaRPr lang="zh-CN" altLang="en-US"/>
            </a:p>
          </p:txBody>
        </p:sp>
        <p:sp>
          <p:nvSpPr>
            <p:cNvPr id="593935" name="Line 15"/>
            <p:cNvSpPr>
              <a:spLocks noChangeShapeType="1"/>
            </p:cNvSpPr>
            <p:nvPr/>
          </p:nvSpPr>
          <p:spPr bwMode="auto">
            <a:xfrm>
              <a:off x="1318" y="3240"/>
              <a:ext cx="469" cy="0"/>
            </a:xfrm>
            <a:prstGeom prst="line">
              <a:avLst/>
            </a:prstGeom>
            <a:noFill/>
            <a:ln w="9525">
              <a:solidFill>
                <a:srgbClr val="FF0000"/>
              </a:solidFill>
              <a:round/>
              <a:headEnd/>
              <a:tailEnd type="oval" w="sm" len="sm"/>
            </a:ln>
            <a:effectLst/>
          </p:spPr>
          <p:txBody>
            <a:bodyPr wrap="none" anchor="ctr"/>
            <a:lstStyle/>
            <a:p>
              <a:endParaRPr lang="zh-CN" altLang="en-US"/>
            </a:p>
          </p:txBody>
        </p:sp>
        <p:sp>
          <p:nvSpPr>
            <p:cNvPr id="593936" name="Text Box 16"/>
            <p:cNvSpPr txBox="1">
              <a:spLocks noChangeArrowheads="1"/>
            </p:cNvSpPr>
            <p:nvPr/>
          </p:nvSpPr>
          <p:spPr bwMode="auto">
            <a:xfrm>
              <a:off x="1309" y="3080"/>
              <a:ext cx="516"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EINT0</a:t>
              </a:r>
            </a:p>
          </p:txBody>
        </p:sp>
        <p:sp>
          <p:nvSpPr>
            <p:cNvPr id="593937" name="Text Box 17"/>
            <p:cNvSpPr txBox="1">
              <a:spLocks noChangeArrowheads="1"/>
            </p:cNvSpPr>
            <p:nvPr/>
          </p:nvSpPr>
          <p:spPr bwMode="auto">
            <a:xfrm>
              <a:off x="3355" y="2737"/>
              <a:ext cx="212"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0</a:t>
              </a:r>
            </a:p>
          </p:txBody>
        </p:sp>
        <p:sp>
          <p:nvSpPr>
            <p:cNvPr id="593938" name="Line 18"/>
            <p:cNvSpPr>
              <a:spLocks noChangeShapeType="1"/>
            </p:cNvSpPr>
            <p:nvPr/>
          </p:nvSpPr>
          <p:spPr bwMode="auto">
            <a:xfrm flipV="1">
              <a:off x="1786" y="3115"/>
              <a:ext cx="257" cy="125"/>
            </a:xfrm>
            <a:prstGeom prst="line">
              <a:avLst/>
            </a:prstGeom>
            <a:noFill/>
            <a:ln w="9525">
              <a:solidFill>
                <a:srgbClr val="FF0000"/>
              </a:solidFill>
              <a:round/>
              <a:headEnd/>
              <a:tailEnd/>
            </a:ln>
            <a:effectLst/>
          </p:spPr>
          <p:txBody>
            <a:bodyPr wrap="none" anchor="ctr"/>
            <a:lstStyle/>
            <a:p>
              <a:endParaRPr lang="zh-CN" altLang="en-US"/>
            </a:p>
          </p:txBody>
        </p:sp>
        <p:sp>
          <p:nvSpPr>
            <p:cNvPr id="593939" name="Text Box 19"/>
            <p:cNvSpPr txBox="1">
              <a:spLocks noChangeArrowheads="1"/>
            </p:cNvSpPr>
            <p:nvPr/>
          </p:nvSpPr>
          <p:spPr bwMode="auto">
            <a:xfrm>
              <a:off x="1430" y="2759"/>
              <a:ext cx="1003"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EXTMODE[0] = 0</a:t>
              </a:r>
            </a:p>
          </p:txBody>
        </p:sp>
        <p:sp>
          <p:nvSpPr>
            <p:cNvPr id="593940" name="Line 20"/>
            <p:cNvSpPr>
              <a:spLocks noChangeShapeType="1"/>
            </p:cNvSpPr>
            <p:nvPr/>
          </p:nvSpPr>
          <p:spPr bwMode="auto">
            <a:xfrm>
              <a:off x="1933" y="2959"/>
              <a:ext cx="0" cy="199"/>
            </a:xfrm>
            <a:prstGeom prst="line">
              <a:avLst/>
            </a:prstGeom>
            <a:noFill/>
            <a:ln w="9525">
              <a:solidFill>
                <a:schemeClr val="tx1"/>
              </a:solidFill>
              <a:prstDash val="dash"/>
              <a:round/>
              <a:headEnd/>
              <a:tailEnd type="triangle" w="sm" len="sm"/>
            </a:ln>
            <a:effectLst/>
          </p:spPr>
          <p:txBody>
            <a:bodyPr wrap="none" anchor="ctr"/>
            <a:lstStyle/>
            <a:p>
              <a:endParaRPr lang="zh-CN" altLang="en-US"/>
            </a:p>
          </p:txBody>
        </p:sp>
        <p:sp>
          <p:nvSpPr>
            <p:cNvPr id="593941" name="Line 21"/>
            <p:cNvSpPr>
              <a:spLocks noChangeShapeType="1"/>
            </p:cNvSpPr>
            <p:nvPr/>
          </p:nvSpPr>
          <p:spPr bwMode="auto">
            <a:xfrm>
              <a:off x="2267" y="2994"/>
              <a:ext cx="820" cy="0"/>
            </a:xfrm>
            <a:prstGeom prst="line">
              <a:avLst/>
            </a:prstGeom>
            <a:noFill/>
            <a:ln w="9525">
              <a:solidFill>
                <a:srgbClr val="FF0000"/>
              </a:solidFill>
              <a:round/>
              <a:headEnd/>
              <a:tailEnd type="oval" w="sm" len="sm"/>
            </a:ln>
            <a:effectLst/>
          </p:spPr>
          <p:txBody>
            <a:bodyPr wrap="none" anchor="ctr"/>
            <a:lstStyle/>
            <a:p>
              <a:endParaRPr lang="zh-CN" altLang="en-US"/>
            </a:p>
          </p:txBody>
        </p:sp>
        <p:sp>
          <p:nvSpPr>
            <p:cNvPr id="593942" name="Line 22"/>
            <p:cNvSpPr>
              <a:spLocks noChangeShapeType="1"/>
            </p:cNvSpPr>
            <p:nvPr/>
          </p:nvSpPr>
          <p:spPr bwMode="auto">
            <a:xfrm>
              <a:off x="3097" y="2984"/>
              <a:ext cx="260" cy="104"/>
            </a:xfrm>
            <a:prstGeom prst="line">
              <a:avLst/>
            </a:prstGeom>
            <a:noFill/>
            <a:ln w="9525">
              <a:solidFill>
                <a:srgbClr val="FF0000"/>
              </a:solidFill>
              <a:round/>
              <a:headEnd/>
              <a:tailEnd/>
            </a:ln>
            <a:effectLst/>
          </p:spPr>
          <p:txBody>
            <a:bodyPr wrap="none" anchor="ctr"/>
            <a:lstStyle/>
            <a:p>
              <a:endParaRPr lang="zh-CN" altLang="en-US"/>
            </a:p>
          </p:txBody>
        </p:sp>
        <p:sp>
          <p:nvSpPr>
            <p:cNvPr id="593943" name="Line 23"/>
            <p:cNvSpPr>
              <a:spLocks noChangeShapeType="1"/>
            </p:cNvSpPr>
            <p:nvPr/>
          </p:nvSpPr>
          <p:spPr bwMode="auto">
            <a:xfrm>
              <a:off x="2020" y="3148"/>
              <a:ext cx="241" cy="0"/>
            </a:xfrm>
            <a:prstGeom prst="line">
              <a:avLst/>
            </a:prstGeom>
            <a:noFill/>
            <a:ln w="9525">
              <a:solidFill>
                <a:srgbClr val="FF0000"/>
              </a:solidFill>
              <a:round/>
              <a:headEnd type="oval" w="sm" len="sm"/>
              <a:tailEnd type="none" w="sm" len="sm"/>
            </a:ln>
            <a:effectLst/>
          </p:spPr>
          <p:txBody>
            <a:bodyPr wrap="none" anchor="ctr"/>
            <a:lstStyle/>
            <a:p>
              <a:endParaRPr lang="zh-CN" altLang="en-US"/>
            </a:p>
          </p:txBody>
        </p:sp>
        <p:sp>
          <p:nvSpPr>
            <p:cNvPr id="593944" name="Line 24"/>
            <p:cNvSpPr>
              <a:spLocks noChangeShapeType="1"/>
            </p:cNvSpPr>
            <p:nvPr/>
          </p:nvSpPr>
          <p:spPr bwMode="auto">
            <a:xfrm>
              <a:off x="2016" y="3303"/>
              <a:ext cx="244"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93945" name="Line 25"/>
            <p:cNvSpPr>
              <a:spLocks noChangeShapeType="1"/>
            </p:cNvSpPr>
            <p:nvPr/>
          </p:nvSpPr>
          <p:spPr bwMode="auto">
            <a:xfrm>
              <a:off x="3341" y="3093"/>
              <a:ext cx="241" cy="0"/>
            </a:xfrm>
            <a:prstGeom prst="line">
              <a:avLst/>
            </a:prstGeom>
            <a:noFill/>
            <a:ln w="9525">
              <a:solidFill>
                <a:srgbClr val="FF0000"/>
              </a:solidFill>
              <a:round/>
              <a:headEnd type="oval" w="sm" len="sm"/>
              <a:tailEnd type="none" w="sm" len="sm"/>
            </a:ln>
            <a:effectLst/>
          </p:spPr>
          <p:txBody>
            <a:bodyPr wrap="none" anchor="ctr"/>
            <a:lstStyle/>
            <a:p>
              <a:endParaRPr lang="zh-CN" altLang="en-US"/>
            </a:p>
          </p:txBody>
        </p:sp>
        <p:sp>
          <p:nvSpPr>
            <p:cNvPr id="593946" name="Line 26"/>
            <p:cNvSpPr>
              <a:spLocks noChangeShapeType="1"/>
            </p:cNvSpPr>
            <p:nvPr/>
          </p:nvSpPr>
          <p:spPr bwMode="auto">
            <a:xfrm>
              <a:off x="3341" y="2892"/>
              <a:ext cx="241"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93947" name="Text Box 27"/>
            <p:cNvSpPr txBox="1">
              <a:spLocks noChangeArrowheads="1"/>
            </p:cNvSpPr>
            <p:nvPr/>
          </p:nvSpPr>
          <p:spPr bwMode="auto">
            <a:xfrm>
              <a:off x="2455" y="2518"/>
              <a:ext cx="1043" cy="192"/>
            </a:xfrm>
            <a:prstGeom prst="rect">
              <a:avLst/>
            </a:prstGeom>
            <a:noFill/>
            <a:ln w="9525" algn="ctr">
              <a:noFill/>
              <a:miter lim="800000"/>
              <a:headEnd/>
              <a:tailEnd/>
            </a:ln>
            <a:effectLst/>
          </p:spPr>
          <p:txBody>
            <a:bodyPr>
              <a:spAutoFit/>
            </a:bodyPr>
            <a:lstStyle/>
            <a:p>
              <a:r>
                <a:rPr lang="en-US" altLang="zh-CN" sz="1400">
                  <a:solidFill>
                    <a:srgbClr val="FF0000"/>
                  </a:solidFill>
                  <a:latin typeface="Times New Roman" pitchFamily="18" charset="0"/>
                  <a:ea typeface="华文新魏" pitchFamily="2" charset="-122"/>
                </a:rPr>
                <a:t>EXTPOLAR[0] = 1</a:t>
              </a:r>
            </a:p>
          </p:txBody>
        </p:sp>
        <p:sp>
          <p:nvSpPr>
            <p:cNvPr id="593948" name="Line 28"/>
            <p:cNvSpPr>
              <a:spLocks noChangeShapeType="1"/>
            </p:cNvSpPr>
            <p:nvPr/>
          </p:nvSpPr>
          <p:spPr bwMode="auto">
            <a:xfrm flipV="1">
              <a:off x="2265" y="2995"/>
              <a:ext cx="0" cy="149"/>
            </a:xfrm>
            <a:prstGeom prst="line">
              <a:avLst/>
            </a:prstGeom>
            <a:noFill/>
            <a:ln w="9525">
              <a:solidFill>
                <a:srgbClr val="FF0000"/>
              </a:solidFill>
              <a:round/>
              <a:headEnd/>
              <a:tailEnd type="none" w="sm" len="sm"/>
            </a:ln>
            <a:effectLst/>
          </p:spPr>
          <p:txBody>
            <a:bodyPr wrap="none" anchor="ctr"/>
            <a:lstStyle/>
            <a:p>
              <a:endParaRPr lang="zh-CN" altLang="en-US"/>
            </a:p>
          </p:txBody>
        </p:sp>
        <p:sp>
          <p:nvSpPr>
            <p:cNvPr id="593949" name="Line 29"/>
            <p:cNvSpPr>
              <a:spLocks noChangeShapeType="1"/>
            </p:cNvSpPr>
            <p:nvPr/>
          </p:nvSpPr>
          <p:spPr bwMode="auto">
            <a:xfrm>
              <a:off x="4248" y="2890"/>
              <a:ext cx="241"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93950" name="Line 30"/>
            <p:cNvSpPr>
              <a:spLocks noChangeShapeType="1"/>
            </p:cNvSpPr>
            <p:nvPr/>
          </p:nvSpPr>
          <p:spPr bwMode="auto">
            <a:xfrm>
              <a:off x="4243" y="3094"/>
              <a:ext cx="241" cy="0"/>
            </a:xfrm>
            <a:prstGeom prst="line">
              <a:avLst/>
            </a:prstGeom>
            <a:noFill/>
            <a:ln w="9525">
              <a:solidFill>
                <a:srgbClr val="FF0000"/>
              </a:solidFill>
              <a:round/>
              <a:headEnd type="none" w="sm" len="sm"/>
              <a:tailEnd type="triangle" w="sm" len="sm"/>
            </a:ln>
            <a:effectLst/>
          </p:spPr>
          <p:txBody>
            <a:bodyPr wrap="none" anchor="ctr"/>
            <a:lstStyle/>
            <a:p>
              <a:endParaRPr lang="zh-CN" altLang="en-US"/>
            </a:p>
          </p:txBody>
        </p:sp>
        <p:sp>
          <p:nvSpPr>
            <p:cNvPr id="593951" name="Rectangle 31"/>
            <p:cNvSpPr>
              <a:spLocks noChangeArrowheads="1"/>
            </p:cNvSpPr>
            <p:nvPr/>
          </p:nvSpPr>
          <p:spPr bwMode="auto">
            <a:xfrm>
              <a:off x="3583" y="3007"/>
              <a:ext cx="704" cy="169"/>
            </a:xfrm>
            <a:prstGeom prst="rect">
              <a:avLst/>
            </a:prstGeom>
            <a:solidFill>
              <a:srgbClr val="FF0000"/>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高电平中断</a:t>
              </a:r>
            </a:p>
          </p:txBody>
        </p:sp>
        <p:sp>
          <p:nvSpPr>
            <p:cNvPr id="593952" name="Rectangle 32"/>
            <p:cNvSpPr>
              <a:spLocks noChangeArrowheads="1"/>
            </p:cNvSpPr>
            <p:nvPr/>
          </p:nvSpPr>
          <p:spPr bwMode="auto">
            <a:xfrm>
              <a:off x="3583" y="2806"/>
              <a:ext cx="704" cy="170"/>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低电平中断</a:t>
              </a:r>
            </a:p>
          </p:txBody>
        </p:sp>
        <p:sp>
          <p:nvSpPr>
            <p:cNvPr id="593953" name="Line 33"/>
            <p:cNvSpPr>
              <a:spLocks noChangeShapeType="1"/>
            </p:cNvSpPr>
            <p:nvPr/>
          </p:nvSpPr>
          <p:spPr bwMode="auto">
            <a:xfrm>
              <a:off x="2261" y="3415"/>
              <a:ext cx="826"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593954" name="Line 34"/>
            <p:cNvSpPr>
              <a:spLocks noChangeShapeType="1"/>
            </p:cNvSpPr>
            <p:nvPr/>
          </p:nvSpPr>
          <p:spPr bwMode="auto">
            <a:xfrm>
              <a:off x="3099" y="3415"/>
              <a:ext cx="262" cy="114"/>
            </a:xfrm>
            <a:prstGeom prst="line">
              <a:avLst/>
            </a:prstGeom>
            <a:noFill/>
            <a:ln w="9525">
              <a:solidFill>
                <a:schemeClr val="tx1"/>
              </a:solidFill>
              <a:round/>
              <a:headEnd/>
              <a:tailEnd/>
            </a:ln>
            <a:effectLst/>
          </p:spPr>
          <p:txBody>
            <a:bodyPr wrap="none" anchor="ctr"/>
            <a:lstStyle/>
            <a:p>
              <a:endParaRPr lang="zh-CN" altLang="en-US"/>
            </a:p>
          </p:txBody>
        </p:sp>
        <p:sp>
          <p:nvSpPr>
            <p:cNvPr id="593955" name="Line 35"/>
            <p:cNvSpPr>
              <a:spLocks noChangeShapeType="1"/>
            </p:cNvSpPr>
            <p:nvPr/>
          </p:nvSpPr>
          <p:spPr bwMode="auto">
            <a:xfrm>
              <a:off x="3345" y="3546"/>
              <a:ext cx="241"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93956" name="Line 36"/>
            <p:cNvSpPr>
              <a:spLocks noChangeShapeType="1"/>
            </p:cNvSpPr>
            <p:nvPr/>
          </p:nvSpPr>
          <p:spPr bwMode="auto">
            <a:xfrm>
              <a:off x="3345" y="3325"/>
              <a:ext cx="241"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93957" name="Line 37"/>
            <p:cNvSpPr>
              <a:spLocks noChangeShapeType="1"/>
            </p:cNvSpPr>
            <p:nvPr/>
          </p:nvSpPr>
          <p:spPr bwMode="auto">
            <a:xfrm>
              <a:off x="4248" y="3328"/>
              <a:ext cx="241"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93958" name="Line 38"/>
            <p:cNvSpPr>
              <a:spLocks noChangeShapeType="1"/>
            </p:cNvSpPr>
            <p:nvPr/>
          </p:nvSpPr>
          <p:spPr bwMode="auto">
            <a:xfrm>
              <a:off x="4248" y="3547"/>
              <a:ext cx="241"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93959" name="Rectangle 39"/>
            <p:cNvSpPr>
              <a:spLocks noChangeArrowheads="1"/>
            </p:cNvSpPr>
            <p:nvPr/>
          </p:nvSpPr>
          <p:spPr bwMode="auto">
            <a:xfrm>
              <a:off x="3583" y="3457"/>
              <a:ext cx="704" cy="170"/>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上升沿中断</a:t>
              </a:r>
            </a:p>
          </p:txBody>
        </p:sp>
        <p:sp>
          <p:nvSpPr>
            <p:cNvPr id="593960" name="Rectangle 40"/>
            <p:cNvSpPr>
              <a:spLocks noChangeArrowheads="1"/>
            </p:cNvSpPr>
            <p:nvPr/>
          </p:nvSpPr>
          <p:spPr bwMode="auto">
            <a:xfrm>
              <a:off x="3583" y="3244"/>
              <a:ext cx="704" cy="170"/>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下降沿中断</a:t>
              </a:r>
            </a:p>
          </p:txBody>
        </p:sp>
        <p:sp>
          <p:nvSpPr>
            <p:cNvPr id="593961" name="Line 41"/>
            <p:cNvSpPr>
              <a:spLocks noChangeShapeType="1"/>
            </p:cNvSpPr>
            <p:nvPr/>
          </p:nvSpPr>
          <p:spPr bwMode="auto">
            <a:xfrm flipV="1">
              <a:off x="2256" y="3307"/>
              <a:ext cx="0" cy="104"/>
            </a:xfrm>
            <a:prstGeom prst="line">
              <a:avLst/>
            </a:prstGeom>
            <a:noFill/>
            <a:ln w="9525">
              <a:solidFill>
                <a:schemeClr val="tx1"/>
              </a:solidFill>
              <a:round/>
              <a:headEnd/>
              <a:tailEnd type="none" w="sm" len="sm"/>
            </a:ln>
            <a:effectLst/>
          </p:spPr>
          <p:txBody>
            <a:bodyPr wrap="none" anchor="ctr"/>
            <a:lstStyle/>
            <a:p>
              <a:endParaRPr lang="zh-CN" altLang="en-US"/>
            </a:p>
          </p:txBody>
        </p:sp>
        <p:sp>
          <p:nvSpPr>
            <p:cNvPr id="593962" name="Rectangle 42"/>
            <p:cNvSpPr>
              <a:spLocks noChangeArrowheads="1"/>
            </p:cNvSpPr>
            <p:nvPr/>
          </p:nvSpPr>
          <p:spPr bwMode="auto">
            <a:xfrm>
              <a:off x="2508" y="2854"/>
              <a:ext cx="283" cy="283"/>
            </a:xfrm>
            <a:prstGeom prst="rect">
              <a:avLst/>
            </a:prstGeom>
            <a:solidFill>
              <a:srgbClr val="FF0000"/>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电平</a:t>
              </a:r>
            </a:p>
            <a:p>
              <a:r>
                <a:rPr lang="zh-CN" altLang="en-US" sz="1400">
                  <a:latin typeface="Times New Roman" pitchFamily="18" charset="0"/>
                  <a:ea typeface="华文新魏" pitchFamily="2" charset="-122"/>
                </a:rPr>
                <a:t>中断</a:t>
              </a:r>
            </a:p>
          </p:txBody>
        </p:sp>
        <p:sp>
          <p:nvSpPr>
            <p:cNvPr id="593963" name="Rectangle 43"/>
            <p:cNvSpPr>
              <a:spLocks noChangeArrowheads="1"/>
            </p:cNvSpPr>
            <p:nvPr/>
          </p:nvSpPr>
          <p:spPr bwMode="auto">
            <a:xfrm>
              <a:off x="2509" y="3277"/>
              <a:ext cx="283" cy="283"/>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边沿</a:t>
              </a:r>
            </a:p>
            <a:p>
              <a:r>
                <a:rPr lang="zh-CN" altLang="en-US" sz="1400">
                  <a:latin typeface="Times New Roman" pitchFamily="18" charset="0"/>
                  <a:ea typeface="华文新魏" pitchFamily="2" charset="-122"/>
                </a:rPr>
                <a:t>中断</a:t>
              </a:r>
            </a:p>
          </p:txBody>
        </p:sp>
        <p:sp>
          <p:nvSpPr>
            <p:cNvPr id="593964" name="Line 44"/>
            <p:cNvSpPr>
              <a:spLocks noChangeShapeType="1"/>
            </p:cNvSpPr>
            <p:nvPr/>
          </p:nvSpPr>
          <p:spPr bwMode="auto">
            <a:xfrm>
              <a:off x="4598" y="3228"/>
              <a:ext cx="193"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93965" name="Rectangle 45"/>
            <p:cNvSpPr>
              <a:spLocks noChangeArrowheads="1"/>
            </p:cNvSpPr>
            <p:nvPr/>
          </p:nvSpPr>
          <p:spPr bwMode="auto">
            <a:xfrm>
              <a:off x="4796" y="3157"/>
              <a:ext cx="282" cy="135"/>
            </a:xfrm>
            <a:prstGeom prst="rect">
              <a:avLst/>
            </a:prstGeom>
            <a:solidFill>
              <a:srgbClr val="CCFFFF"/>
            </a:solidFill>
            <a:ln w="9525" algn="ctr">
              <a:solidFill>
                <a:schemeClr val="tx1"/>
              </a:solidFill>
              <a:miter lim="800000"/>
              <a:headEnd/>
              <a:tailEnd/>
            </a:ln>
            <a:effectLst/>
          </p:spPr>
          <p:txBody>
            <a:bodyPr wrap="none" anchor="ctr"/>
            <a:lstStyle/>
            <a:p>
              <a:r>
                <a:rPr lang="en-US" altLang="zh-CN" sz="1400">
                  <a:latin typeface="Times New Roman" pitchFamily="18" charset="0"/>
                  <a:ea typeface="华文新魏" pitchFamily="2" charset="-122"/>
                </a:rPr>
                <a:t>VIC</a:t>
              </a:r>
            </a:p>
          </p:txBody>
        </p:sp>
        <p:sp>
          <p:nvSpPr>
            <p:cNvPr id="593966" name="Rectangle 46"/>
            <p:cNvSpPr>
              <a:spLocks noChangeArrowheads="1"/>
            </p:cNvSpPr>
            <p:nvPr/>
          </p:nvSpPr>
          <p:spPr bwMode="auto">
            <a:xfrm>
              <a:off x="4497" y="2807"/>
              <a:ext cx="144" cy="862"/>
            </a:xfrm>
            <a:prstGeom prst="rect">
              <a:avLst/>
            </a:prstGeom>
            <a:solidFill>
              <a:srgbClr val="FFCC99"/>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外</a:t>
              </a:r>
            </a:p>
            <a:p>
              <a:r>
                <a:rPr lang="zh-CN" altLang="en-US" sz="1400">
                  <a:latin typeface="Times New Roman" pitchFamily="18" charset="0"/>
                  <a:ea typeface="华文新魏" pitchFamily="2" charset="-122"/>
                </a:rPr>
                <a:t>部</a:t>
              </a:r>
            </a:p>
            <a:p>
              <a:r>
                <a:rPr lang="zh-CN" altLang="en-US" sz="1400">
                  <a:latin typeface="Times New Roman" pitchFamily="18" charset="0"/>
                  <a:ea typeface="华文新魏" pitchFamily="2" charset="-122"/>
                </a:rPr>
                <a:t>中</a:t>
              </a:r>
            </a:p>
            <a:p>
              <a:r>
                <a:rPr lang="zh-CN" altLang="en-US" sz="1400">
                  <a:latin typeface="Times New Roman" pitchFamily="18" charset="0"/>
                  <a:ea typeface="华文新魏" pitchFamily="2" charset="-122"/>
                </a:rPr>
                <a:t>断</a:t>
              </a:r>
            </a:p>
            <a:p>
              <a:r>
                <a:rPr lang="en-US" altLang="zh-CN" sz="1400">
                  <a:latin typeface="Times New Roman" pitchFamily="18" charset="0"/>
                  <a:ea typeface="华文新魏" pitchFamily="2" charset="-122"/>
                </a:rPr>
                <a:t>0</a:t>
              </a:r>
            </a:p>
          </p:txBody>
        </p:sp>
        <p:sp>
          <p:nvSpPr>
            <p:cNvPr id="593967" name="Text Box 47"/>
            <p:cNvSpPr txBox="1">
              <a:spLocks noChangeArrowheads="1"/>
            </p:cNvSpPr>
            <p:nvPr/>
          </p:nvSpPr>
          <p:spPr bwMode="auto">
            <a:xfrm>
              <a:off x="3351" y="3178"/>
              <a:ext cx="212"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0</a:t>
              </a:r>
            </a:p>
          </p:txBody>
        </p:sp>
        <p:sp>
          <p:nvSpPr>
            <p:cNvPr id="593968" name="Text Box 48"/>
            <p:cNvSpPr txBox="1">
              <a:spLocks noChangeArrowheads="1"/>
            </p:cNvSpPr>
            <p:nvPr/>
          </p:nvSpPr>
          <p:spPr bwMode="auto">
            <a:xfrm>
              <a:off x="3351" y="2932"/>
              <a:ext cx="212"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1</a:t>
              </a:r>
            </a:p>
          </p:txBody>
        </p:sp>
        <p:sp>
          <p:nvSpPr>
            <p:cNvPr id="593969" name="Text Box 49"/>
            <p:cNvSpPr txBox="1">
              <a:spLocks noChangeArrowheads="1"/>
            </p:cNvSpPr>
            <p:nvPr/>
          </p:nvSpPr>
          <p:spPr bwMode="auto">
            <a:xfrm>
              <a:off x="3347" y="3389"/>
              <a:ext cx="212"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1</a:t>
              </a:r>
            </a:p>
          </p:txBody>
        </p:sp>
        <p:sp>
          <p:nvSpPr>
            <p:cNvPr id="593970" name="Text Box 50"/>
            <p:cNvSpPr txBox="1">
              <a:spLocks noChangeArrowheads="1"/>
            </p:cNvSpPr>
            <p:nvPr/>
          </p:nvSpPr>
          <p:spPr bwMode="auto">
            <a:xfrm>
              <a:off x="2042" y="2995"/>
              <a:ext cx="126"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0</a:t>
              </a:r>
            </a:p>
          </p:txBody>
        </p:sp>
        <p:sp>
          <p:nvSpPr>
            <p:cNvPr id="593971" name="Text Box 51"/>
            <p:cNvSpPr txBox="1">
              <a:spLocks noChangeArrowheads="1"/>
            </p:cNvSpPr>
            <p:nvPr/>
          </p:nvSpPr>
          <p:spPr bwMode="auto">
            <a:xfrm>
              <a:off x="2026" y="3151"/>
              <a:ext cx="212"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1</a:t>
              </a:r>
            </a:p>
          </p:txBody>
        </p:sp>
        <p:sp>
          <p:nvSpPr>
            <p:cNvPr id="593972" name="Line 52"/>
            <p:cNvSpPr>
              <a:spLocks noChangeShapeType="1"/>
            </p:cNvSpPr>
            <p:nvPr/>
          </p:nvSpPr>
          <p:spPr bwMode="auto">
            <a:xfrm>
              <a:off x="2989" y="2695"/>
              <a:ext cx="0" cy="464"/>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93973" name="Line 53"/>
            <p:cNvSpPr>
              <a:spLocks noChangeShapeType="1"/>
            </p:cNvSpPr>
            <p:nvPr/>
          </p:nvSpPr>
          <p:spPr bwMode="auto">
            <a:xfrm>
              <a:off x="2995" y="2779"/>
              <a:ext cx="187" cy="0"/>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93974" name="Line 54"/>
            <p:cNvSpPr>
              <a:spLocks noChangeShapeType="1"/>
            </p:cNvSpPr>
            <p:nvPr/>
          </p:nvSpPr>
          <p:spPr bwMode="auto">
            <a:xfrm>
              <a:off x="3197" y="2780"/>
              <a:ext cx="0" cy="230"/>
            </a:xfrm>
            <a:prstGeom prst="line">
              <a:avLst/>
            </a:prstGeom>
            <a:noFill/>
            <a:ln w="9525">
              <a:solidFill>
                <a:schemeClr val="tx1"/>
              </a:solidFill>
              <a:prstDash val="dash"/>
              <a:round/>
              <a:headEnd/>
              <a:tailEnd type="triangle" w="sm" len="sm"/>
            </a:ln>
            <a:effectLst/>
          </p:spPr>
          <p:txBody>
            <a:bodyPr wrap="none" anchor="ctr"/>
            <a:lstStyle/>
            <a:p>
              <a:endParaRPr lang="zh-CN" altLang="en-US"/>
            </a:p>
          </p:txBody>
        </p:sp>
        <p:sp>
          <p:nvSpPr>
            <p:cNvPr id="593975" name="Line 55"/>
            <p:cNvSpPr>
              <a:spLocks noChangeShapeType="1"/>
            </p:cNvSpPr>
            <p:nvPr/>
          </p:nvSpPr>
          <p:spPr bwMode="auto">
            <a:xfrm>
              <a:off x="2995" y="3158"/>
              <a:ext cx="187" cy="0"/>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93976" name="Line 56"/>
            <p:cNvSpPr>
              <a:spLocks noChangeShapeType="1"/>
            </p:cNvSpPr>
            <p:nvPr/>
          </p:nvSpPr>
          <p:spPr bwMode="auto">
            <a:xfrm>
              <a:off x="3197" y="3154"/>
              <a:ext cx="0" cy="294"/>
            </a:xfrm>
            <a:prstGeom prst="line">
              <a:avLst/>
            </a:prstGeom>
            <a:noFill/>
            <a:ln w="9525">
              <a:solidFill>
                <a:schemeClr val="tx1"/>
              </a:solidFill>
              <a:prstDash val="dash"/>
              <a:round/>
              <a:headEnd/>
              <a:tailEnd type="triangle" w="sm" len="sm"/>
            </a:ln>
            <a:effectLst/>
          </p:spPr>
          <p:txBody>
            <a:bodyPr wrap="none" anchor="ctr"/>
            <a:lstStyle/>
            <a:p>
              <a:endParaRPr lang="zh-CN" altLang="en-US"/>
            </a:p>
          </p:txBody>
        </p:sp>
      </p:grpSp>
      <p:sp>
        <p:nvSpPr>
          <p:cNvPr id="593977" name="Text Box 57"/>
          <p:cNvSpPr txBox="1">
            <a:spLocks noChangeArrowheads="1"/>
          </p:cNvSpPr>
          <p:nvPr/>
        </p:nvSpPr>
        <p:spPr bwMode="auto">
          <a:xfrm>
            <a:off x="1889126" y="6038851"/>
            <a:ext cx="8385175" cy="366713"/>
          </a:xfrm>
          <a:prstGeom prst="rect">
            <a:avLst/>
          </a:prstGeom>
          <a:noFill/>
          <a:ln w="9525" algn="ctr">
            <a:noFill/>
            <a:miter lim="800000"/>
            <a:headEnd/>
            <a:tailEnd/>
          </a:ln>
          <a:effectLst/>
        </p:spPr>
        <p:txBody>
          <a:bodyPr wrap="none">
            <a:spAutoFit/>
          </a:bodyPr>
          <a:lstStyle/>
          <a:p>
            <a:r>
              <a:rPr lang="zh-CN" altLang="en-US">
                <a:solidFill>
                  <a:srgbClr val="FF0000"/>
                </a:solidFill>
                <a:latin typeface="Times New Roman" pitchFamily="18" charset="0"/>
                <a:ea typeface="华文新魏" pitchFamily="2" charset="-122"/>
              </a:rPr>
              <a:t>注意：</a:t>
            </a:r>
            <a:r>
              <a:rPr lang="zh-CN" altLang="en-US">
                <a:latin typeface="Times New Roman" pitchFamily="18" charset="0"/>
                <a:ea typeface="华文新魏" pitchFamily="2" charset="-122"/>
              </a:rPr>
              <a:t>这里仅以</a:t>
            </a:r>
            <a:r>
              <a:rPr lang="en-US" altLang="zh-CN">
                <a:latin typeface="Times New Roman" pitchFamily="18" charset="0"/>
                <a:ea typeface="华文新魏" pitchFamily="2" charset="-122"/>
              </a:rPr>
              <a:t>EINT0</a:t>
            </a:r>
            <a:r>
              <a:rPr lang="zh-CN" altLang="en-US">
                <a:latin typeface="Times New Roman" pitchFamily="18" charset="0"/>
                <a:ea typeface="华文新魏" pitchFamily="2" charset="-122"/>
              </a:rPr>
              <a:t>为例来进行讲解，</a:t>
            </a:r>
            <a:r>
              <a:rPr lang="en-US" altLang="zh-CN">
                <a:latin typeface="Times New Roman" pitchFamily="18" charset="0"/>
                <a:ea typeface="华文新魏" pitchFamily="2" charset="-122"/>
              </a:rPr>
              <a:t>EINT1~EINT3</a:t>
            </a:r>
            <a:r>
              <a:rPr lang="zh-CN" altLang="en-US">
                <a:latin typeface="Times New Roman" pitchFamily="18" charset="0"/>
                <a:ea typeface="华文新魏" pitchFamily="2" charset="-122"/>
              </a:rPr>
              <a:t>与之类似，此处不再重复。</a:t>
            </a:r>
          </a:p>
        </p:txBody>
      </p:sp>
      <p:sp>
        <p:nvSpPr>
          <p:cNvPr id="593978" name="Text Box 58"/>
          <p:cNvSpPr txBox="1">
            <a:spLocks noChangeArrowheads="1"/>
          </p:cNvSpPr>
          <p:nvPr/>
        </p:nvSpPr>
        <p:spPr bwMode="auto">
          <a:xfrm>
            <a:off x="1927225" y="2225675"/>
            <a:ext cx="8485188" cy="1569660"/>
          </a:xfrm>
          <a:prstGeom prst="rect">
            <a:avLst/>
          </a:prstGeom>
          <a:noFill/>
          <a:ln w="19050" algn="ctr">
            <a:noFill/>
            <a:miter lim="800000"/>
            <a:headEnd/>
            <a:tailEnd/>
          </a:ln>
          <a:effectLst/>
        </p:spPr>
        <p:txBody>
          <a:bodyPr>
            <a:spAutoFit/>
          </a:bodyPr>
          <a:lstStyle/>
          <a:p>
            <a:pPr algn="l"/>
            <a:r>
              <a:rPr lang="en-US" altLang="zh-CN" sz="2400">
                <a:latin typeface="Times New Roman" pitchFamily="18" charset="0"/>
                <a:ea typeface="华文新魏" pitchFamily="2" charset="-122"/>
              </a:rPr>
              <a:t>         LPC2000</a:t>
            </a:r>
            <a:r>
              <a:rPr lang="zh-CN" altLang="en-US" sz="2400">
                <a:latin typeface="Times New Roman" pitchFamily="18" charset="0"/>
                <a:ea typeface="华文新魏" pitchFamily="2" charset="-122"/>
              </a:rPr>
              <a:t>系列</a:t>
            </a:r>
            <a:r>
              <a:rPr lang="en-US" altLang="zh-CN" sz="2400">
                <a:latin typeface="Times New Roman" pitchFamily="18" charset="0"/>
                <a:ea typeface="华文新魏" pitchFamily="2" charset="-122"/>
              </a:rPr>
              <a:t>ARM</a:t>
            </a:r>
            <a:r>
              <a:rPr lang="zh-CN" altLang="en-US" sz="2400">
                <a:latin typeface="Times New Roman" pitchFamily="18" charset="0"/>
                <a:ea typeface="华文新魏" pitchFamily="2" charset="-122"/>
              </a:rPr>
              <a:t>的电平中断可以设置为</a:t>
            </a:r>
            <a:r>
              <a:rPr lang="zh-CN" altLang="en-US" sz="2400">
                <a:solidFill>
                  <a:srgbClr val="FF0000"/>
                </a:solidFill>
                <a:latin typeface="Times New Roman" pitchFamily="18" charset="0"/>
                <a:ea typeface="华文新魏" pitchFamily="2" charset="-122"/>
              </a:rPr>
              <a:t>高电平</a:t>
            </a:r>
            <a:r>
              <a:rPr lang="zh-CN" altLang="en-US" sz="2400">
                <a:latin typeface="Times New Roman" pitchFamily="18" charset="0"/>
                <a:ea typeface="华文新魏" pitchFamily="2" charset="-122"/>
              </a:rPr>
              <a:t>触发和</a:t>
            </a:r>
            <a:r>
              <a:rPr lang="zh-CN" altLang="en-US" sz="2400">
                <a:solidFill>
                  <a:srgbClr val="FF0000"/>
                </a:solidFill>
                <a:latin typeface="Times New Roman" pitchFamily="18" charset="0"/>
                <a:ea typeface="华文新魏" pitchFamily="2" charset="-122"/>
              </a:rPr>
              <a:t>低电平</a:t>
            </a:r>
            <a:r>
              <a:rPr lang="zh-CN" altLang="en-US" sz="2400">
                <a:latin typeface="Times New Roman" pitchFamily="18" charset="0"/>
                <a:ea typeface="华文新魏" pitchFamily="2" charset="-122"/>
              </a:rPr>
              <a:t>触发。</a:t>
            </a:r>
            <a:endParaRPr lang="zh-CN" altLang="en-US" sz="2400">
              <a:solidFill>
                <a:srgbClr val="FF0000"/>
              </a:solidFill>
              <a:latin typeface="Times New Roman" pitchFamily="18" charset="0"/>
              <a:ea typeface="华文新魏" pitchFamily="2" charset="-122"/>
            </a:endParaRPr>
          </a:p>
          <a:p>
            <a:pPr lvl="1" algn="l">
              <a:buFont typeface="Wingdings" pitchFamily="2" charset="2"/>
              <a:buChar char="Ø"/>
            </a:pPr>
            <a:r>
              <a:rPr lang="zh-CN" altLang="en-US" sz="2400">
                <a:latin typeface="Times New Roman" pitchFamily="18" charset="0"/>
                <a:ea typeface="华文新魏" pitchFamily="2" charset="-122"/>
              </a:rPr>
              <a:t> 当</a:t>
            </a:r>
            <a:r>
              <a:rPr lang="en-US" altLang="zh-CN" sz="2400">
                <a:latin typeface="Times New Roman" pitchFamily="18" charset="0"/>
              </a:rPr>
              <a:t>EXTPOLAR[0]</a:t>
            </a:r>
            <a:r>
              <a:rPr lang="en-US" altLang="zh-CN" sz="2400">
                <a:latin typeface="Times New Roman" pitchFamily="18" charset="0"/>
                <a:ea typeface="华文新魏" pitchFamily="2" charset="-122"/>
              </a:rPr>
              <a:t> = 0</a:t>
            </a:r>
            <a:r>
              <a:rPr lang="zh-CN" altLang="en-US" sz="2400">
                <a:latin typeface="Times New Roman" pitchFamily="18" charset="0"/>
                <a:ea typeface="华文新魏" pitchFamily="2" charset="-122"/>
              </a:rPr>
              <a:t>时，外部中断</a:t>
            </a:r>
            <a:r>
              <a:rPr lang="en-US" altLang="zh-CN" sz="2400">
                <a:latin typeface="Times New Roman" pitchFamily="18" charset="0"/>
                <a:ea typeface="华文新魏" pitchFamily="2" charset="-122"/>
              </a:rPr>
              <a:t>0</a:t>
            </a:r>
            <a:r>
              <a:rPr lang="zh-CN" altLang="en-US" sz="2400">
                <a:latin typeface="Times New Roman" pitchFamily="18" charset="0"/>
                <a:ea typeface="华文新魏" pitchFamily="2" charset="-122"/>
              </a:rPr>
              <a:t>设置为低电平触发。</a:t>
            </a:r>
          </a:p>
          <a:p>
            <a:pPr lvl="1" algn="l">
              <a:buFont typeface="Wingdings" pitchFamily="2" charset="2"/>
              <a:buChar char="Ø"/>
            </a:pPr>
            <a:r>
              <a:rPr lang="zh-CN" altLang="en-US" sz="2400">
                <a:solidFill>
                  <a:srgbClr val="FF0000"/>
                </a:solidFill>
                <a:latin typeface="Times New Roman" pitchFamily="18" charset="0"/>
                <a:ea typeface="华文新魏" pitchFamily="2" charset="-122"/>
              </a:rPr>
              <a:t> 当</a:t>
            </a:r>
            <a:r>
              <a:rPr lang="en-US" altLang="zh-CN" sz="2400">
                <a:solidFill>
                  <a:srgbClr val="FF0000"/>
                </a:solidFill>
                <a:latin typeface="Times New Roman" pitchFamily="18" charset="0"/>
                <a:ea typeface="华文新魏" pitchFamily="2" charset="-122"/>
              </a:rPr>
              <a:t>EXTPOLAR[0] = 1</a:t>
            </a:r>
            <a:r>
              <a:rPr lang="zh-CN" altLang="en-US" sz="2400">
                <a:solidFill>
                  <a:srgbClr val="FF0000"/>
                </a:solidFill>
                <a:latin typeface="Times New Roman" pitchFamily="18" charset="0"/>
                <a:ea typeface="华文新魏" pitchFamily="2" charset="-122"/>
              </a:rPr>
              <a:t>时，外部中断</a:t>
            </a:r>
            <a:r>
              <a:rPr lang="en-US" altLang="zh-CN" sz="2400">
                <a:solidFill>
                  <a:srgbClr val="FF0000"/>
                </a:solidFill>
                <a:latin typeface="Times New Roman" pitchFamily="18" charset="0"/>
                <a:ea typeface="华文新魏" pitchFamily="2" charset="-122"/>
              </a:rPr>
              <a:t>0</a:t>
            </a:r>
            <a:r>
              <a:rPr lang="zh-CN" altLang="en-US" sz="2400">
                <a:solidFill>
                  <a:srgbClr val="FF0000"/>
                </a:solidFill>
                <a:latin typeface="Times New Roman" pitchFamily="18" charset="0"/>
                <a:ea typeface="华文新魏" pitchFamily="2" charset="-122"/>
              </a:rPr>
              <a:t>设置为高电平触发。</a:t>
            </a:r>
          </a:p>
        </p:txBody>
      </p:sp>
      <p:sp>
        <p:nvSpPr>
          <p:cNvPr id="593982" name="Freeform 62"/>
          <p:cNvSpPr>
            <a:spLocks/>
          </p:cNvSpPr>
          <p:nvPr/>
        </p:nvSpPr>
        <p:spPr bwMode="auto">
          <a:xfrm>
            <a:off x="1282700" y="3578225"/>
            <a:ext cx="4114800" cy="369332"/>
          </a:xfrm>
          <a:custGeom>
            <a:avLst/>
            <a:gdLst/>
            <a:ahLst/>
            <a:cxnLst>
              <a:cxn ang="0">
                <a:pos x="711" y="0"/>
              </a:cxn>
              <a:cxn ang="0">
                <a:pos x="313" y="152"/>
              </a:cxn>
              <a:cxn ang="0">
                <a:pos x="2592" y="355"/>
              </a:cxn>
            </a:cxnLst>
            <a:rect l="0" t="0" r="r" b="b"/>
            <a:pathLst>
              <a:path w="2592" h="355">
                <a:moveTo>
                  <a:pt x="711" y="0"/>
                </a:moveTo>
                <a:cubicBezTo>
                  <a:pt x="355" y="46"/>
                  <a:pt x="0" y="93"/>
                  <a:pt x="313" y="152"/>
                </a:cubicBezTo>
                <a:cubicBezTo>
                  <a:pt x="626" y="211"/>
                  <a:pt x="1609" y="283"/>
                  <a:pt x="2592" y="355"/>
                </a:cubicBezTo>
              </a:path>
            </a:pathLst>
          </a:custGeom>
          <a:noFill/>
          <a:ln w="19050" cap="flat" cmpd="sng">
            <a:solidFill>
              <a:srgbClr val="FF0000"/>
            </a:solidFill>
            <a:prstDash val="solid"/>
            <a:round/>
            <a:headEnd/>
            <a:tailEnd type="triangle" w="med" len="med"/>
          </a:ln>
          <a:effectLst/>
        </p:spPr>
        <p:txBody>
          <a:bodyPr>
            <a:spAutoFit/>
          </a:bodyPr>
          <a:lstStyle/>
          <a:p>
            <a:endParaRPr lang="zh-CN" altLang="en-US"/>
          </a:p>
        </p:txBody>
      </p:sp>
      <p:grpSp>
        <p:nvGrpSpPr>
          <p:cNvPr id="593983" name="Group 63"/>
          <p:cNvGrpSpPr>
            <a:grpSpLocks/>
          </p:cNvGrpSpPr>
          <p:nvPr/>
        </p:nvGrpSpPr>
        <p:grpSpPr bwMode="auto">
          <a:xfrm>
            <a:off x="2408238" y="4597401"/>
            <a:ext cx="889000" cy="811213"/>
            <a:chOff x="493" y="2786"/>
            <a:chExt cx="560" cy="511"/>
          </a:xfrm>
        </p:grpSpPr>
        <p:sp>
          <p:nvSpPr>
            <p:cNvPr id="593984" name="Rectangle 64"/>
            <p:cNvSpPr>
              <a:spLocks noChangeArrowheads="1"/>
            </p:cNvSpPr>
            <p:nvPr/>
          </p:nvSpPr>
          <p:spPr bwMode="auto">
            <a:xfrm>
              <a:off x="493" y="2957"/>
              <a:ext cx="560" cy="34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593985" name="Text Box 65"/>
            <p:cNvSpPr txBox="1">
              <a:spLocks noChangeArrowheads="1"/>
            </p:cNvSpPr>
            <p:nvPr/>
          </p:nvSpPr>
          <p:spPr bwMode="auto">
            <a:xfrm>
              <a:off x="547" y="2786"/>
              <a:ext cx="452" cy="192"/>
            </a:xfrm>
            <a:prstGeom prst="rect">
              <a:avLst/>
            </a:prstGeom>
            <a:noFill/>
            <a:ln w="9525" algn="ctr">
              <a:noFill/>
              <a:miter lim="800000"/>
              <a:headEnd/>
              <a:tailEnd/>
            </a:ln>
            <a:effectLst/>
          </p:spPr>
          <p:txBody>
            <a:bodyPr wrap="none">
              <a:spAutoFit/>
            </a:bodyPr>
            <a:lstStyle/>
            <a:p>
              <a:r>
                <a:rPr lang="zh-CN" altLang="en-US" sz="1400">
                  <a:latin typeface="Times New Roman" pitchFamily="18" charset="0"/>
                  <a:ea typeface="华文新魏" pitchFamily="2" charset="-122"/>
                </a:rPr>
                <a:t>高电平</a:t>
              </a:r>
            </a:p>
          </p:txBody>
        </p:sp>
        <p:sp>
          <p:nvSpPr>
            <p:cNvPr id="593986" name="Line 66"/>
            <p:cNvSpPr>
              <a:spLocks noChangeShapeType="1"/>
            </p:cNvSpPr>
            <p:nvPr/>
          </p:nvSpPr>
          <p:spPr bwMode="auto">
            <a:xfrm>
              <a:off x="545" y="3231"/>
              <a:ext cx="210" cy="0"/>
            </a:xfrm>
            <a:prstGeom prst="line">
              <a:avLst/>
            </a:prstGeom>
            <a:noFill/>
            <a:ln w="9525">
              <a:solidFill>
                <a:schemeClr val="tx1"/>
              </a:solidFill>
              <a:round/>
              <a:headEnd/>
              <a:tailEnd/>
            </a:ln>
            <a:effectLst/>
          </p:spPr>
          <p:txBody>
            <a:bodyPr wrap="none" anchor="ctr"/>
            <a:lstStyle/>
            <a:p>
              <a:endParaRPr lang="zh-CN" altLang="en-US"/>
            </a:p>
          </p:txBody>
        </p:sp>
        <p:sp>
          <p:nvSpPr>
            <p:cNvPr id="593987" name="Line 67"/>
            <p:cNvSpPr>
              <a:spLocks noChangeShapeType="1"/>
            </p:cNvSpPr>
            <p:nvPr/>
          </p:nvSpPr>
          <p:spPr bwMode="auto">
            <a:xfrm>
              <a:off x="756" y="3021"/>
              <a:ext cx="210" cy="0"/>
            </a:xfrm>
            <a:prstGeom prst="line">
              <a:avLst/>
            </a:prstGeom>
            <a:noFill/>
            <a:ln w="9525">
              <a:solidFill>
                <a:srgbClr val="FF0000"/>
              </a:solidFill>
              <a:round/>
              <a:headEnd/>
              <a:tailEnd type="triangle" w="med" len="med"/>
            </a:ln>
            <a:effectLst/>
          </p:spPr>
          <p:txBody>
            <a:bodyPr wrap="none" anchor="ctr"/>
            <a:lstStyle/>
            <a:p>
              <a:endParaRPr lang="zh-CN" altLang="en-US"/>
            </a:p>
          </p:txBody>
        </p:sp>
        <p:sp>
          <p:nvSpPr>
            <p:cNvPr id="593988" name="Line 68"/>
            <p:cNvSpPr>
              <a:spLocks noChangeShapeType="1"/>
            </p:cNvSpPr>
            <p:nvPr/>
          </p:nvSpPr>
          <p:spPr bwMode="auto">
            <a:xfrm>
              <a:off x="755" y="3021"/>
              <a:ext cx="0" cy="207"/>
            </a:xfrm>
            <a:prstGeom prst="line">
              <a:avLst/>
            </a:prstGeom>
            <a:noFill/>
            <a:ln w="9525">
              <a:solidFill>
                <a:schemeClr val="tx1"/>
              </a:solidFill>
              <a:round/>
              <a:headEnd/>
              <a:tailEnd/>
            </a:ln>
            <a:effec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93982"/>
                                        </p:tgtEl>
                                        <p:attrNameLst>
                                          <p:attrName>style.visibility</p:attrName>
                                        </p:attrNameLst>
                                      </p:cBhvr>
                                      <p:to>
                                        <p:strVal val="visible"/>
                                      </p:to>
                                    </p:set>
                                    <p:animEffect transition="in" filter="wipe(up)">
                                      <p:cBhvr>
                                        <p:cTn id="7" dur="500"/>
                                        <p:tgtEl>
                                          <p:spTgt spid="593982"/>
                                        </p:tgtEl>
                                      </p:cBhvr>
                                    </p:animEffect>
                                  </p:childTnLst>
                                </p:cTn>
                              </p:par>
                            </p:childTnLst>
                          </p:cTn>
                        </p:par>
                        <p:par>
                          <p:cTn id="8" fill="hold">
                            <p:stCondLst>
                              <p:cond delay="500"/>
                            </p:stCondLst>
                            <p:childTnLst>
                              <p:par>
                                <p:cTn id="9" presetID="35" presetClass="emph" presetSubtype="0" fill="hold" nodeType="afterEffect">
                                  <p:stCondLst>
                                    <p:cond delay="0"/>
                                  </p:stCondLst>
                                  <p:childTnLst>
                                    <p:anim calcmode="discrete" valueType="str">
                                      <p:cBhvr>
                                        <p:cTn id="10" dur="500" fill="hold"/>
                                        <p:tgtEl>
                                          <p:spTgt spid="59398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82"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p:cNvSpPr>
            <a:spLocks noChangeArrowheads="1"/>
          </p:cNvSpPr>
          <p:nvPr/>
        </p:nvSpPr>
        <p:spPr bwMode="auto">
          <a:xfrm>
            <a:off x="2209800" y="609600"/>
            <a:ext cx="7772400" cy="1143000"/>
          </a:xfrm>
          <a:prstGeom prst="rect">
            <a:avLst/>
          </a:prstGeom>
          <a:noFill/>
          <a:ln w="9525">
            <a:noFill/>
            <a:miter lim="800000"/>
            <a:headEnd/>
            <a:tailEnd/>
          </a:ln>
          <a:effectLst/>
        </p:spPr>
        <p:txBody>
          <a:bodyPr anchor="ctr"/>
          <a:lstStyle/>
          <a:p>
            <a:r>
              <a:rPr lang="en-US" altLang="zh-CN" sz="4400" dirty="0"/>
              <a:t>5.3.6</a:t>
            </a:r>
            <a:r>
              <a:rPr lang="en-US" altLang="zh-CN" sz="4400" dirty="0">
                <a:solidFill>
                  <a:schemeClr val="tx2"/>
                </a:solidFill>
                <a:latin typeface="Times New Roman" pitchFamily="18" charset="0"/>
              </a:rPr>
              <a:t>  </a:t>
            </a:r>
            <a:r>
              <a:rPr lang="zh-CN" altLang="en-US" sz="4400" dirty="0">
                <a:solidFill>
                  <a:schemeClr val="tx2"/>
                </a:solidFill>
                <a:latin typeface="Times New Roman" pitchFamily="18" charset="0"/>
              </a:rPr>
              <a:t>外部中断输入</a:t>
            </a:r>
          </a:p>
        </p:txBody>
      </p:sp>
      <p:sp>
        <p:nvSpPr>
          <p:cNvPr id="595971" name="Rectangle 3"/>
          <p:cNvSpPr>
            <a:spLocks noChangeArrowheads="1"/>
          </p:cNvSpPr>
          <p:nvPr/>
        </p:nvSpPr>
        <p:spPr bwMode="auto">
          <a:xfrm>
            <a:off x="2209800" y="1674813"/>
            <a:ext cx="3722688"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dirty="0">
                <a:latin typeface="Times New Roman" pitchFamily="18" charset="0"/>
              </a:rPr>
              <a:t>边沿中断设置</a:t>
            </a:r>
          </a:p>
        </p:txBody>
      </p:sp>
      <p:grpSp>
        <p:nvGrpSpPr>
          <p:cNvPr id="596034" name="Group 66"/>
          <p:cNvGrpSpPr>
            <a:grpSpLocks/>
          </p:cNvGrpSpPr>
          <p:nvPr/>
        </p:nvGrpSpPr>
        <p:grpSpPr bwMode="auto">
          <a:xfrm>
            <a:off x="3470276" y="3916363"/>
            <a:ext cx="6310313" cy="2081212"/>
            <a:chOff x="1226" y="2467"/>
            <a:chExt cx="3975" cy="1311"/>
          </a:xfrm>
        </p:grpSpPr>
        <p:sp>
          <p:nvSpPr>
            <p:cNvPr id="595979" name="Rectangle 11"/>
            <p:cNvSpPr>
              <a:spLocks noChangeArrowheads="1"/>
            </p:cNvSpPr>
            <p:nvPr/>
          </p:nvSpPr>
          <p:spPr bwMode="auto">
            <a:xfrm>
              <a:off x="1226" y="3210"/>
              <a:ext cx="140" cy="60"/>
            </a:xfrm>
            <a:prstGeom prst="rect">
              <a:avLst/>
            </a:prstGeom>
            <a:solidFill>
              <a:srgbClr val="969696"/>
            </a:solidFill>
            <a:ln w="9525" algn="ctr">
              <a:solidFill>
                <a:schemeClr val="tx1"/>
              </a:solidFill>
              <a:miter lim="800000"/>
              <a:headEnd/>
              <a:tailEnd/>
            </a:ln>
            <a:effectLst/>
          </p:spPr>
          <p:txBody>
            <a:bodyPr wrap="none" anchor="ctr"/>
            <a:lstStyle/>
            <a:p>
              <a:endParaRPr lang="zh-CN" altLang="en-US"/>
            </a:p>
          </p:txBody>
        </p:sp>
        <p:sp>
          <p:nvSpPr>
            <p:cNvPr id="595980" name="Rectangle 12"/>
            <p:cNvSpPr>
              <a:spLocks noChangeArrowheads="1"/>
            </p:cNvSpPr>
            <p:nvPr/>
          </p:nvSpPr>
          <p:spPr bwMode="auto">
            <a:xfrm>
              <a:off x="1226" y="3346"/>
              <a:ext cx="140" cy="60"/>
            </a:xfrm>
            <a:prstGeom prst="rect">
              <a:avLst/>
            </a:prstGeom>
            <a:solidFill>
              <a:srgbClr val="969696"/>
            </a:solidFill>
            <a:ln w="9525" algn="ctr">
              <a:solidFill>
                <a:schemeClr val="tx1"/>
              </a:solidFill>
              <a:miter lim="800000"/>
              <a:headEnd/>
              <a:tailEnd/>
            </a:ln>
            <a:effectLst/>
          </p:spPr>
          <p:txBody>
            <a:bodyPr wrap="none" anchor="ctr"/>
            <a:lstStyle/>
            <a:p>
              <a:endParaRPr lang="zh-CN" altLang="en-US"/>
            </a:p>
          </p:txBody>
        </p:sp>
        <p:sp>
          <p:nvSpPr>
            <p:cNvPr id="595981" name="Rectangle 13"/>
            <p:cNvSpPr>
              <a:spLocks noChangeArrowheads="1"/>
            </p:cNvSpPr>
            <p:nvPr/>
          </p:nvSpPr>
          <p:spPr bwMode="auto">
            <a:xfrm>
              <a:off x="1226" y="3082"/>
              <a:ext cx="140" cy="60"/>
            </a:xfrm>
            <a:prstGeom prst="rect">
              <a:avLst/>
            </a:prstGeom>
            <a:solidFill>
              <a:srgbClr val="969696"/>
            </a:solidFill>
            <a:ln w="9525" algn="ctr">
              <a:solidFill>
                <a:schemeClr val="tx1"/>
              </a:solidFill>
              <a:miter lim="800000"/>
              <a:headEnd/>
              <a:tailEnd/>
            </a:ln>
            <a:effectLst/>
          </p:spPr>
          <p:txBody>
            <a:bodyPr wrap="none" anchor="ctr"/>
            <a:lstStyle/>
            <a:p>
              <a:endParaRPr lang="zh-CN" altLang="en-US"/>
            </a:p>
          </p:txBody>
        </p:sp>
        <p:sp>
          <p:nvSpPr>
            <p:cNvPr id="595982" name="Rectangle 14"/>
            <p:cNvSpPr>
              <a:spLocks noChangeArrowheads="1"/>
            </p:cNvSpPr>
            <p:nvPr/>
          </p:nvSpPr>
          <p:spPr bwMode="auto">
            <a:xfrm flipH="1">
              <a:off x="1310" y="2467"/>
              <a:ext cx="3891" cy="1311"/>
            </a:xfrm>
            <a:prstGeom prst="rect">
              <a:avLst/>
            </a:prstGeom>
            <a:solidFill>
              <a:schemeClr val="bg1"/>
            </a:solidFill>
            <a:ln w="9525" algn="ctr">
              <a:solidFill>
                <a:schemeClr val="tx1"/>
              </a:solidFill>
              <a:miter lim="800000"/>
              <a:headEnd/>
              <a:tailEnd/>
            </a:ln>
            <a:effectLst/>
          </p:spPr>
          <p:txBody>
            <a:bodyPr wrap="none" anchor="ctr"/>
            <a:lstStyle/>
            <a:p>
              <a:endParaRPr lang="zh-CN" altLang="en-US"/>
            </a:p>
          </p:txBody>
        </p:sp>
        <p:sp>
          <p:nvSpPr>
            <p:cNvPr id="595983" name="Line 15"/>
            <p:cNvSpPr>
              <a:spLocks noChangeShapeType="1"/>
            </p:cNvSpPr>
            <p:nvPr/>
          </p:nvSpPr>
          <p:spPr bwMode="auto">
            <a:xfrm>
              <a:off x="1318" y="3240"/>
              <a:ext cx="469" cy="0"/>
            </a:xfrm>
            <a:prstGeom prst="line">
              <a:avLst/>
            </a:prstGeom>
            <a:noFill/>
            <a:ln w="9525">
              <a:solidFill>
                <a:srgbClr val="FF0000"/>
              </a:solidFill>
              <a:round/>
              <a:headEnd/>
              <a:tailEnd type="oval" w="sm" len="sm"/>
            </a:ln>
            <a:effectLst/>
          </p:spPr>
          <p:txBody>
            <a:bodyPr wrap="none" anchor="ctr"/>
            <a:lstStyle/>
            <a:p>
              <a:endParaRPr lang="zh-CN" altLang="en-US"/>
            </a:p>
          </p:txBody>
        </p:sp>
        <p:sp>
          <p:nvSpPr>
            <p:cNvPr id="595984" name="Text Box 16"/>
            <p:cNvSpPr txBox="1">
              <a:spLocks noChangeArrowheads="1"/>
            </p:cNvSpPr>
            <p:nvPr/>
          </p:nvSpPr>
          <p:spPr bwMode="auto">
            <a:xfrm>
              <a:off x="1309" y="3080"/>
              <a:ext cx="516"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EINT0</a:t>
              </a:r>
            </a:p>
          </p:txBody>
        </p:sp>
        <p:sp>
          <p:nvSpPr>
            <p:cNvPr id="595985" name="Text Box 17"/>
            <p:cNvSpPr txBox="1">
              <a:spLocks noChangeArrowheads="1"/>
            </p:cNvSpPr>
            <p:nvPr/>
          </p:nvSpPr>
          <p:spPr bwMode="auto">
            <a:xfrm>
              <a:off x="3355" y="2737"/>
              <a:ext cx="212"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0</a:t>
              </a:r>
            </a:p>
          </p:txBody>
        </p:sp>
        <p:sp>
          <p:nvSpPr>
            <p:cNvPr id="595986" name="Line 18"/>
            <p:cNvSpPr>
              <a:spLocks noChangeShapeType="1"/>
            </p:cNvSpPr>
            <p:nvPr/>
          </p:nvSpPr>
          <p:spPr bwMode="auto">
            <a:xfrm>
              <a:off x="1786" y="3240"/>
              <a:ext cx="253" cy="43"/>
            </a:xfrm>
            <a:prstGeom prst="line">
              <a:avLst/>
            </a:prstGeom>
            <a:noFill/>
            <a:ln w="9525">
              <a:solidFill>
                <a:srgbClr val="FF0000"/>
              </a:solidFill>
              <a:round/>
              <a:headEnd/>
              <a:tailEnd/>
            </a:ln>
            <a:effectLst/>
          </p:spPr>
          <p:txBody>
            <a:bodyPr wrap="none" anchor="ctr"/>
            <a:lstStyle/>
            <a:p>
              <a:endParaRPr lang="zh-CN" altLang="en-US"/>
            </a:p>
          </p:txBody>
        </p:sp>
        <p:sp>
          <p:nvSpPr>
            <p:cNvPr id="595987" name="Text Box 19"/>
            <p:cNvSpPr txBox="1">
              <a:spLocks noChangeArrowheads="1"/>
            </p:cNvSpPr>
            <p:nvPr/>
          </p:nvSpPr>
          <p:spPr bwMode="auto">
            <a:xfrm>
              <a:off x="1430" y="2759"/>
              <a:ext cx="1003"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EXTMODE[0] = 1</a:t>
              </a:r>
            </a:p>
          </p:txBody>
        </p:sp>
        <p:sp>
          <p:nvSpPr>
            <p:cNvPr id="595988" name="Line 20"/>
            <p:cNvSpPr>
              <a:spLocks noChangeShapeType="1"/>
            </p:cNvSpPr>
            <p:nvPr/>
          </p:nvSpPr>
          <p:spPr bwMode="auto">
            <a:xfrm>
              <a:off x="1933" y="2959"/>
              <a:ext cx="0" cy="289"/>
            </a:xfrm>
            <a:prstGeom prst="line">
              <a:avLst/>
            </a:prstGeom>
            <a:noFill/>
            <a:ln w="9525">
              <a:solidFill>
                <a:schemeClr val="tx1"/>
              </a:solidFill>
              <a:prstDash val="dash"/>
              <a:round/>
              <a:headEnd/>
              <a:tailEnd type="triangle" w="sm" len="sm"/>
            </a:ln>
            <a:effectLst/>
          </p:spPr>
          <p:txBody>
            <a:bodyPr wrap="none" anchor="ctr"/>
            <a:lstStyle/>
            <a:p>
              <a:endParaRPr lang="zh-CN" altLang="en-US"/>
            </a:p>
          </p:txBody>
        </p:sp>
        <p:sp>
          <p:nvSpPr>
            <p:cNvPr id="595989" name="Line 21"/>
            <p:cNvSpPr>
              <a:spLocks noChangeShapeType="1"/>
            </p:cNvSpPr>
            <p:nvPr/>
          </p:nvSpPr>
          <p:spPr bwMode="auto">
            <a:xfrm>
              <a:off x="2267" y="2994"/>
              <a:ext cx="820"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595990" name="Line 22"/>
            <p:cNvSpPr>
              <a:spLocks noChangeShapeType="1"/>
            </p:cNvSpPr>
            <p:nvPr/>
          </p:nvSpPr>
          <p:spPr bwMode="auto">
            <a:xfrm flipV="1">
              <a:off x="3097" y="2862"/>
              <a:ext cx="260" cy="122"/>
            </a:xfrm>
            <a:prstGeom prst="line">
              <a:avLst/>
            </a:prstGeom>
            <a:noFill/>
            <a:ln w="9525">
              <a:solidFill>
                <a:schemeClr val="tx1"/>
              </a:solidFill>
              <a:round/>
              <a:headEnd/>
              <a:tailEnd/>
            </a:ln>
            <a:effectLst/>
          </p:spPr>
          <p:txBody>
            <a:bodyPr wrap="none" anchor="ctr"/>
            <a:lstStyle/>
            <a:p>
              <a:endParaRPr lang="zh-CN" altLang="en-US"/>
            </a:p>
          </p:txBody>
        </p:sp>
        <p:sp>
          <p:nvSpPr>
            <p:cNvPr id="595991" name="Line 23"/>
            <p:cNvSpPr>
              <a:spLocks noChangeShapeType="1"/>
            </p:cNvSpPr>
            <p:nvPr/>
          </p:nvSpPr>
          <p:spPr bwMode="auto">
            <a:xfrm>
              <a:off x="2020" y="3148"/>
              <a:ext cx="241"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95992" name="Line 24"/>
            <p:cNvSpPr>
              <a:spLocks noChangeShapeType="1"/>
            </p:cNvSpPr>
            <p:nvPr/>
          </p:nvSpPr>
          <p:spPr bwMode="auto">
            <a:xfrm>
              <a:off x="2016" y="3303"/>
              <a:ext cx="244" cy="0"/>
            </a:xfrm>
            <a:prstGeom prst="line">
              <a:avLst/>
            </a:prstGeom>
            <a:noFill/>
            <a:ln w="9525">
              <a:solidFill>
                <a:srgbClr val="FF0000"/>
              </a:solidFill>
              <a:round/>
              <a:headEnd type="oval" w="sm" len="sm"/>
              <a:tailEnd type="none" w="sm" len="sm"/>
            </a:ln>
            <a:effectLst/>
          </p:spPr>
          <p:txBody>
            <a:bodyPr wrap="none" anchor="ctr"/>
            <a:lstStyle/>
            <a:p>
              <a:endParaRPr lang="zh-CN" altLang="en-US"/>
            </a:p>
          </p:txBody>
        </p:sp>
        <p:sp>
          <p:nvSpPr>
            <p:cNvPr id="595993" name="Line 25"/>
            <p:cNvSpPr>
              <a:spLocks noChangeShapeType="1"/>
            </p:cNvSpPr>
            <p:nvPr/>
          </p:nvSpPr>
          <p:spPr bwMode="auto">
            <a:xfrm>
              <a:off x="3341" y="3093"/>
              <a:ext cx="241"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95994" name="Line 26"/>
            <p:cNvSpPr>
              <a:spLocks noChangeShapeType="1"/>
            </p:cNvSpPr>
            <p:nvPr/>
          </p:nvSpPr>
          <p:spPr bwMode="auto">
            <a:xfrm>
              <a:off x="3341" y="2892"/>
              <a:ext cx="241"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95995" name="Text Box 27"/>
            <p:cNvSpPr txBox="1">
              <a:spLocks noChangeArrowheads="1"/>
            </p:cNvSpPr>
            <p:nvPr/>
          </p:nvSpPr>
          <p:spPr bwMode="auto">
            <a:xfrm>
              <a:off x="2455" y="2518"/>
              <a:ext cx="1043" cy="192"/>
            </a:xfrm>
            <a:prstGeom prst="rect">
              <a:avLst/>
            </a:prstGeom>
            <a:noFill/>
            <a:ln w="9525" algn="ctr">
              <a:noFill/>
              <a:miter lim="800000"/>
              <a:headEnd/>
              <a:tailEnd/>
            </a:ln>
            <a:effectLst/>
          </p:spPr>
          <p:txBody>
            <a:bodyPr>
              <a:spAutoFit/>
            </a:bodyPr>
            <a:lstStyle/>
            <a:p>
              <a:r>
                <a:rPr lang="en-US" altLang="zh-CN" sz="1400">
                  <a:solidFill>
                    <a:srgbClr val="FF0000"/>
                  </a:solidFill>
                  <a:latin typeface="Times New Roman" pitchFamily="18" charset="0"/>
                  <a:ea typeface="华文新魏" pitchFamily="2" charset="-122"/>
                </a:rPr>
                <a:t>EXTPOLAR[0] = 0</a:t>
              </a:r>
            </a:p>
          </p:txBody>
        </p:sp>
        <p:sp>
          <p:nvSpPr>
            <p:cNvPr id="595996" name="Line 28"/>
            <p:cNvSpPr>
              <a:spLocks noChangeShapeType="1"/>
            </p:cNvSpPr>
            <p:nvPr/>
          </p:nvSpPr>
          <p:spPr bwMode="auto">
            <a:xfrm flipV="1">
              <a:off x="2265" y="2995"/>
              <a:ext cx="0" cy="149"/>
            </a:xfrm>
            <a:prstGeom prst="line">
              <a:avLst/>
            </a:prstGeom>
            <a:noFill/>
            <a:ln w="9525">
              <a:solidFill>
                <a:schemeClr val="tx1"/>
              </a:solidFill>
              <a:round/>
              <a:headEnd/>
              <a:tailEnd type="none" w="sm" len="sm"/>
            </a:ln>
            <a:effectLst/>
          </p:spPr>
          <p:txBody>
            <a:bodyPr wrap="none" anchor="ctr"/>
            <a:lstStyle/>
            <a:p>
              <a:endParaRPr lang="zh-CN" altLang="en-US"/>
            </a:p>
          </p:txBody>
        </p:sp>
        <p:sp>
          <p:nvSpPr>
            <p:cNvPr id="595997" name="Line 29"/>
            <p:cNvSpPr>
              <a:spLocks noChangeShapeType="1"/>
            </p:cNvSpPr>
            <p:nvPr/>
          </p:nvSpPr>
          <p:spPr bwMode="auto">
            <a:xfrm>
              <a:off x="4248" y="2890"/>
              <a:ext cx="241"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95998" name="Line 30"/>
            <p:cNvSpPr>
              <a:spLocks noChangeShapeType="1"/>
            </p:cNvSpPr>
            <p:nvPr/>
          </p:nvSpPr>
          <p:spPr bwMode="auto">
            <a:xfrm>
              <a:off x="4243" y="3094"/>
              <a:ext cx="241"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95999" name="Rectangle 31"/>
            <p:cNvSpPr>
              <a:spLocks noChangeArrowheads="1"/>
            </p:cNvSpPr>
            <p:nvPr/>
          </p:nvSpPr>
          <p:spPr bwMode="auto">
            <a:xfrm>
              <a:off x="3583" y="3007"/>
              <a:ext cx="704" cy="169"/>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高电平中断</a:t>
              </a:r>
            </a:p>
          </p:txBody>
        </p:sp>
        <p:sp>
          <p:nvSpPr>
            <p:cNvPr id="596000" name="Rectangle 32"/>
            <p:cNvSpPr>
              <a:spLocks noChangeArrowheads="1"/>
            </p:cNvSpPr>
            <p:nvPr/>
          </p:nvSpPr>
          <p:spPr bwMode="auto">
            <a:xfrm>
              <a:off x="3583" y="2806"/>
              <a:ext cx="704" cy="170"/>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低电平中断</a:t>
              </a:r>
            </a:p>
          </p:txBody>
        </p:sp>
        <p:sp>
          <p:nvSpPr>
            <p:cNvPr id="596001" name="Line 33"/>
            <p:cNvSpPr>
              <a:spLocks noChangeShapeType="1"/>
            </p:cNvSpPr>
            <p:nvPr/>
          </p:nvSpPr>
          <p:spPr bwMode="auto">
            <a:xfrm>
              <a:off x="2261" y="3415"/>
              <a:ext cx="826" cy="0"/>
            </a:xfrm>
            <a:prstGeom prst="line">
              <a:avLst/>
            </a:prstGeom>
            <a:noFill/>
            <a:ln w="9525">
              <a:solidFill>
                <a:srgbClr val="FF0000"/>
              </a:solidFill>
              <a:round/>
              <a:headEnd/>
              <a:tailEnd type="oval" w="sm" len="sm"/>
            </a:ln>
            <a:effectLst/>
          </p:spPr>
          <p:txBody>
            <a:bodyPr wrap="none" anchor="ctr"/>
            <a:lstStyle/>
            <a:p>
              <a:endParaRPr lang="zh-CN" altLang="en-US"/>
            </a:p>
          </p:txBody>
        </p:sp>
        <p:sp>
          <p:nvSpPr>
            <p:cNvPr id="596002" name="Line 34"/>
            <p:cNvSpPr>
              <a:spLocks noChangeShapeType="1"/>
            </p:cNvSpPr>
            <p:nvPr/>
          </p:nvSpPr>
          <p:spPr bwMode="auto">
            <a:xfrm flipV="1">
              <a:off x="3099" y="3297"/>
              <a:ext cx="262" cy="118"/>
            </a:xfrm>
            <a:prstGeom prst="line">
              <a:avLst/>
            </a:prstGeom>
            <a:noFill/>
            <a:ln w="9525">
              <a:solidFill>
                <a:srgbClr val="FF0000"/>
              </a:solidFill>
              <a:round/>
              <a:headEnd/>
              <a:tailEnd/>
            </a:ln>
            <a:effectLst/>
          </p:spPr>
          <p:txBody>
            <a:bodyPr wrap="none" anchor="ctr"/>
            <a:lstStyle/>
            <a:p>
              <a:endParaRPr lang="zh-CN" altLang="en-US"/>
            </a:p>
          </p:txBody>
        </p:sp>
        <p:sp>
          <p:nvSpPr>
            <p:cNvPr id="596003" name="Line 35"/>
            <p:cNvSpPr>
              <a:spLocks noChangeShapeType="1"/>
            </p:cNvSpPr>
            <p:nvPr/>
          </p:nvSpPr>
          <p:spPr bwMode="auto">
            <a:xfrm>
              <a:off x="3345" y="3546"/>
              <a:ext cx="241"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96004" name="Line 36"/>
            <p:cNvSpPr>
              <a:spLocks noChangeShapeType="1"/>
            </p:cNvSpPr>
            <p:nvPr/>
          </p:nvSpPr>
          <p:spPr bwMode="auto">
            <a:xfrm>
              <a:off x="3345" y="3325"/>
              <a:ext cx="241" cy="0"/>
            </a:xfrm>
            <a:prstGeom prst="line">
              <a:avLst/>
            </a:prstGeom>
            <a:noFill/>
            <a:ln w="9525">
              <a:solidFill>
                <a:srgbClr val="FF0000"/>
              </a:solidFill>
              <a:round/>
              <a:headEnd type="oval" w="sm" len="sm"/>
              <a:tailEnd type="none" w="sm" len="sm"/>
            </a:ln>
            <a:effectLst/>
          </p:spPr>
          <p:txBody>
            <a:bodyPr wrap="none" anchor="ctr"/>
            <a:lstStyle/>
            <a:p>
              <a:endParaRPr lang="zh-CN" altLang="en-US"/>
            </a:p>
          </p:txBody>
        </p:sp>
        <p:sp>
          <p:nvSpPr>
            <p:cNvPr id="596005" name="Line 37"/>
            <p:cNvSpPr>
              <a:spLocks noChangeShapeType="1"/>
            </p:cNvSpPr>
            <p:nvPr/>
          </p:nvSpPr>
          <p:spPr bwMode="auto">
            <a:xfrm>
              <a:off x="4248" y="3328"/>
              <a:ext cx="241" cy="0"/>
            </a:xfrm>
            <a:prstGeom prst="line">
              <a:avLst/>
            </a:prstGeom>
            <a:noFill/>
            <a:ln w="9525">
              <a:solidFill>
                <a:srgbClr val="FF0000"/>
              </a:solidFill>
              <a:round/>
              <a:headEnd type="none" w="sm" len="sm"/>
              <a:tailEnd type="triangle" w="sm" len="sm"/>
            </a:ln>
            <a:effectLst/>
          </p:spPr>
          <p:txBody>
            <a:bodyPr wrap="none" anchor="ctr"/>
            <a:lstStyle/>
            <a:p>
              <a:endParaRPr lang="zh-CN" altLang="en-US"/>
            </a:p>
          </p:txBody>
        </p:sp>
        <p:sp>
          <p:nvSpPr>
            <p:cNvPr id="596006" name="Line 38"/>
            <p:cNvSpPr>
              <a:spLocks noChangeShapeType="1"/>
            </p:cNvSpPr>
            <p:nvPr/>
          </p:nvSpPr>
          <p:spPr bwMode="auto">
            <a:xfrm>
              <a:off x="4248" y="3547"/>
              <a:ext cx="241"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96007" name="Rectangle 39"/>
            <p:cNvSpPr>
              <a:spLocks noChangeArrowheads="1"/>
            </p:cNvSpPr>
            <p:nvPr/>
          </p:nvSpPr>
          <p:spPr bwMode="auto">
            <a:xfrm>
              <a:off x="3583" y="3457"/>
              <a:ext cx="704" cy="170"/>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上升沿中断</a:t>
              </a:r>
            </a:p>
          </p:txBody>
        </p:sp>
        <p:sp>
          <p:nvSpPr>
            <p:cNvPr id="596008" name="Rectangle 40"/>
            <p:cNvSpPr>
              <a:spLocks noChangeArrowheads="1"/>
            </p:cNvSpPr>
            <p:nvPr/>
          </p:nvSpPr>
          <p:spPr bwMode="auto">
            <a:xfrm>
              <a:off x="3583" y="3244"/>
              <a:ext cx="704" cy="170"/>
            </a:xfrm>
            <a:prstGeom prst="rect">
              <a:avLst/>
            </a:prstGeom>
            <a:solidFill>
              <a:srgbClr val="FF0000"/>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下降沿中断</a:t>
              </a:r>
            </a:p>
          </p:txBody>
        </p:sp>
        <p:sp>
          <p:nvSpPr>
            <p:cNvPr id="596009" name="Line 41"/>
            <p:cNvSpPr>
              <a:spLocks noChangeShapeType="1"/>
            </p:cNvSpPr>
            <p:nvPr/>
          </p:nvSpPr>
          <p:spPr bwMode="auto">
            <a:xfrm flipV="1">
              <a:off x="2256" y="3307"/>
              <a:ext cx="0" cy="104"/>
            </a:xfrm>
            <a:prstGeom prst="line">
              <a:avLst/>
            </a:prstGeom>
            <a:noFill/>
            <a:ln w="9525">
              <a:solidFill>
                <a:srgbClr val="FF0000"/>
              </a:solidFill>
              <a:round/>
              <a:headEnd/>
              <a:tailEnd type="none" w="sm" len="sm"/>
            </a:ln>
            <a:effectLst/>
          </p:spPr>
          <p:txBody>
            <a:bodyPr wrap="none" anchor="ctr"/>
            <a:lstStyle/>
            <a:p>
              <a:endParaRPr lang="zh-CN" altLang="en-US"/>
            </a:p>
          </p:txBody>
        </p:sp>
        <p:sp>
          <p:nvSpPr>
            <p:cNvPr id="596010" name="Rectangle 42"/>
            <p:cNvSpPr>
              <a:spLocks noChangeArrowheads="1"/>
            </p:cNvSpPr>
            <p:nvPr/>
          </p:nvSpPr>
          <p:spPr bwMode="auto">
            <a:xfrm>
              <a:off x="2508" y="2854"/>
              <a:ext cx="283" cy="283"/>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电平</a:t>
              </a:r>
            </a:p>
            <a:p>
              <a:r>
                <a:rPr lang="zh-CN" altLang="en-US" sz="1400">
                  <a:latin typeface="Times New Roman" pitchFamily="18" charset="0"/>
                  <a:ea typeface="华文新魏" pitchFamily="2" charset="-122"/>
                </a:rPr>
                <a:t>中断</a:t>
              </a:r>
            </a:p>
          </p:txBody>
        </p:sp>
        <p:sp>
          <p:nvSpPr>
            <p:cNvPr id="596011" name="Rectangle 43"/>
            <p:cNvSpPr>
              <a:spLocks noChangeArrowheads="1"/>
            </p:cNvSpPr>
            <p:nvPr/>
          </p:nvSpPr>
          <p:spPr bwMode="auto">
            <a:xfrm>
              <a:off x="2509" y="3277"/>
              <a:ext cx="283" cy="283"/>
            </a:xfrm>
            <a:prstGeom prst="rect">
              <a:avLst/>
            </a:prstGeom>
            <a:solidFill>
              <a:srgbClr val="FF0000"/>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边沿</a:t>
              </a:r>
            </a:p>
            <a:p>
              <a:r>
                <a:rPr lang="zh-CN" altLang="en-US" sz="1400">
                  <a:latin typeface="Times New Roman" pitchFamily="18" charset="0"/>
                  <a:ea typeface="华文新魏" pitchFamily="2" charset="-122"/>
                </a:rPr>
                <a:t>中断</a:t>
              </a:r>
            </a:p>
          </p:txBody>
        </p:sp>
        <p:sp>
          <p:nvSpPr>
            <p:cNvPr id="596012" name="Line 44"/>
            <p:cNvSpPr>
              <a:spLocks noChangeShapeType="1"/>
            </p:cNvSpPr>
            <p:nvPr/>
          </p:nvSpPr>
          <p:spPr bwMode="auto">
            <a:xfrm>
              <a:off x="4598" y="3228"/>
              <a:ext cx="193"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96013" name="Rectangle 45"/>
            <p:cNvSpPr>
              <a:spLocks noChangeArrowheads="1"/>
            </p:cNvSpPr>
            <p:nvPr/>
          </p:nvSpPr>
          <p:spPr bwMode="auto">
            <a:xfrm>
              <a:off x="4796" y="3157"/>
              <a:ext cx="282" cy="135"/>
            </a:xfrm>
            <a:prstGeom prst="rect">
              <a:avLst/>
            </a:prstGeom>
            <a:solidFill>
              <a:srgbClr val="CCFFFF"/>
            </a:solidFill>
            <a:ln w="9525" algn="ctr">
              <a:solidFill>
                <a:schemeClr val="tx1"/>
              </a:solidFill>
              <a:miter lim="800000"/>
              <a:headEnd/>
              <a:tailEnd/>
            </a:ln>
            <a:effectLst/>
          </p:spPr>
          <p:txBody>
            <a:bodyPr wrap="none" anchor="ctr"/>
            <a:lstStyle/>
            <a:p>
              <a:r>
                <a:rPr lang="en-US" altLang="zh-CN" sz="1400">
                  <a:latin typeface="Times New Roman" pitchFamily="18" charset="0"/>
                  <a:ea typeface="华文新魏" pitchFamily="2" charset="-122"/>
                </a:rPr>
                <a:t>VIC</a:t>
              </a:r>
            </a:p>
          </p:txBody>
        </p:sp>
        <p:sp>
          <p:nvSpPr>
            <p:cNvPr id="596014" name="Rectangle 46"/>
            <p:cNvSpPr>
              <a:spLocks noChangeArrowheads="1"/>
            </p:cNvSpPr>
            <p:nvPr/>
          </p:nvSpPr>
          <p:spPr bwMode="auto">
            <a:xfrm>
              <a:off x="4497" y="2807"/>
              <a:ext cx="144" cy="862"/>
            </a:xfrm>
            <a:prstGeom prst="rect">
              <a:avLst/>
            </a:prstGeom>
            <a:solidFill>
              <a:srgbClr val="FFCC99"/>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外</a:t>
              </a:r>
            </a:p>
            <a:p>
              <a:r>
                <a:rPr lang="zh-CN" altLang="en-US" sz="1400">
                  <a:latin typeface="Times New Roman" pitchFamily="18" charset="0"/>
                  <a:ea typeface="华文新魏" pitchFamily="2" charset="-122"/>
                </a:rPr>
                <a:t>部</a:t>
              </a:r>
            </a:p>
            <a:p>
              <a:r>
                <a:rPr lang="zh-CN" altLang="en-US" sz="1400">
                  <a:latin typeface="Times New Roman" pitchFamily="18" charset="0"/>
                  <a:ea typeface="华文新魏" pitchFamily="2" charset="-122"/>
                </a:rPr>
                <a:t>中</a:t>
              </a:r>
            </a:p>
            <a:p>
              <a:r>
                <a:rPr lang="zh-CN" altLang="en-US" sz="1400">
                  <a:latin typeface="Times New Roman" pitchFamily="18" charset="0"/>
                  <a:ea typeface="华文新魏" pitchFamily="2" charset="-122"/>
                </a:rPr>
                <a:t>断</a:t>
              </a:r>
            </a:p>
            <a:p>
              <a:r>
                <a:rPr lang="en-US" altLang="zh-CN" sz="1400">
                  <a:latin typeface="Times New Roman" pitchFamily="18" charset="0"/>
                  <a:ea typeface="华文新魏" pitchFamily="2" charset="-122"/>
                </a:rPr>
                <a:t>0</a:t>
              </a:r>
            </a:p>
          </p:txBody>
        </p:sp>
        <p:sp>
          <p:nvSpPr>
            <p:cNvPr id="596015" name="Text Box 47"/>
            <p:cNvSpPr txBox="1">
              <a:spLocks noChangeArrowheads="1"/>
            </p:cNvSpPr>
            <p:nvPr/>
          </p:nvSpPr>
          <p:spPr bwMode="auto">
            <a:xfrm>
              <a:off x="3351" y="3178"/>
              <a:ext cx="212"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0</a:t>
              </a:r>
            </a:p>
          </p:txBody>
        </p:sp>
        <p:sp>
          <p:nvSpPr>
            <p:cNvPr id="596016" name="Text Box 48"/>
            <p:cNvSpPr txBox="1">
              <a:spLocks noChangeArrowheads="1"/>
            </p:cNvSpPr>
            <p:nvPr/>
          </p:nvSpPr>
          <p:spPr bwMode="auto">
            <a:xfrm>
              <a:off x="3351" y="2940"/>
              <a:ext cx="212"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1</a:t>
              </a:r>
            </a:p>
          </p:txBody>
        </p:sp>
        <p:sp>
          <p:nvSpPr>
            <p:cNvPr id="596017" name="Text Box 49"/>
            <p:cNvSpPr txBox="1">
              <a:spLocks noChangeArrowheads="1"/>
            </p:cNvSpPr>
            <p:nvPr/>
          </p:nvSpPr>
          <p:spPr bwMode="auto">
            <a:xfrm>
              <a:off x="3347" y="3389"/>
              <a:ext cx="212"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1</a:t>
              </a:r>
            </a:p>
          </p:txBody>
        </p:sp>
        <p:sp>
          <p:nvSpPr>
            <p:cNvPr id="596018" name="Text Box 50"/>
            <p:cNvSpPr txBox="1">
              <a:spLocks noChangeArrowheads="1"/>
            </p:cNvSpPr>
            <p:nvPr/>
          </p:nvSpPr>
          <p:spPr bwMode="auto">
            <a:xfrm>
              <a:off x="2042" y="2995"/>
              <a:ext cx="126"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0</a:t>
              </a:r>
            </a:p>
          </p:txBody>
        </p:sp>
        <p:sp>
          <p:nvSpPr>
            <p:cNvPr id="596019" name="Text Box 51"/>
            <p:cNvSpPr txBox="1">
              <a:spLocks noChangeArrowheads="1"/>
            </p:cNvSpPr>
            <p:nvPr/>
          </p:nvSpPr>
          <p:spPr bwMode="auto">
            <a:xfrm>
              <a:off x="2026" y="3147"/>
              <a:ext cx="212" cy="192"/>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1</a:t>
              </a:r>
            </a:p>
          </p:txBody>
        </p:sp>
        <p:sp>
          <p:nvSpPr>
            <p:cNvPr id="596020" name="Line 52"/>
            <p:cNvSpPr>
              <a:spLocks noChangeShapeType="1"/>
            </p:cNvSpPr>
            <p:nvPr/>
          </p:nvSpPr>
          <p:spPr bwMode="auto">
            <a:xfrm>
              <a:off x="2989" y="2695"/>
              <a:ext cx="0" cy="464"/>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96021" name="Line 53"/>
            <p:cNvSpPr>
              <a:spLocks noChangeShapeType="1"/>
            </p:cNvSpPr>
            <p:nvPr/>
          </p:nvSpPr>
          <p:spPr bwMode="auto">
            <a:xfrm>
              <a:off x="2995" y="2779"/>
              <a:ext cx="187" cy="0"/>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96022" name="Line 54"/>
            <p:cNvSpPr>
              <a:spLocks noChangeShapeType="1"/>
            </p:cNvSpPr>
            <p:nvPr/>
          </p:nvSpPr>
          <p:spPr bwMode="auto">
            <a:xfrm>
              <a:off x="3197" y="2780"/>
              <a:ext cx="0" cy="134"/>
            </a:xfrm>
            <a:prstGeom prst="line">
              <a:avLst/>
            </a:prstGeom>
            <a:noFill/>
            <a:ln w="9525">
              <a:solidFill>
                <a:schemeClr val="tx1"/>
              </a:solidFill>
              <a:prstDash val="dash"/>
              <a:round/>
              <a:headEnd/>
              <a:tailEnd type="triangle" w="sm" len="sm"/>
            </a:ln>
            <a:effectLst/>
          </p:spPr>
          <p:txBody>
            <a:bodyPr wrap="none" anchor="ctr"/>
            <a:lstStyle/>
            <a:p>
              <a:endParaRPr lang="zh-CN" altLang="en-US"/>
            </a:p>
          </p:txBody>
        </p:sp>
        <p:sp>
          <p:nvSpPr>
            <p:cNvPr id="596023" name="Line 55"/>
            <p:cNvSpPr>
              <a:spLocks noChangeShapeType="1"/>
            </p:cNvSpPr>
            <p:nvPr/>
          </p:nvSpPr>
          <p:spPr bwMode="auto">
            <a:xfrm>
              <a:off x="2995" y="3158"/>
              <a:ext cx="187" cy="0"/>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96024" name="Line 56"/>
            <p:cNvSpPr>
              <a:spLocks noChangeShapeType="1"/>
            </p:cNvSpPr>
            <p:nvPr/>
          </p:nvSpPr>
          <p:spPr bwMode="auto">
            <a:xfrm>
              <a:off x="3197" y="3166"/>
              <a:ext cx="0" cy="182"/>
            </a:xfrm>
            <a:prstGeom prst="line">
              <a:avLst/>
            </a:prstGeom>
            <a:noFill/>
            <a:ln w="9525">
              <a:solidFill>
                <a:schemeClr val="tx1"/>
              </a:solidFill>
              <a:prstDash val="dash"/>
              <a:round/>
              <a:headEnd/>
              <a:tailEnd type="triangle" w="sm" len="sm"/>
            </a:ln>
            <a:effectLst/>
          </p:spPr>
          <p:txBody>
            <a:bodyPr wrap="none" anchor="ctr"/>
            <a:lstStyle/>
            <a:p>
              <a:endParaRPr lang="zh-CN" altLang="en-US"/>
            </a:p>
          </p:txBody>
        </p:sp>
      </p:grpSp>
      <p:sp>
        <p:nvSpPr>
          <p:cNvPr id="596025" name="Text Box 57"/>
          <p:cNvSpPr txBox="1">
            <a:spLocks noChangeArrowheads="1"/>
          </p:cNvSpPr>
          <p:nvPr/>
        </p:nvSpPr>
        <p:spPr bwMode="auto">
          <a:xfrm>
            <a:off x="1889126" y="6038851"/>
            <a:ext cx="8385175" cy="366713"/>
          </a:xfrm>
          <a:prstGeom prst="rect">
            <a:avLst/>
          </a:prstGeom>
          <a:noFill/>
          <a:ln w="9525" algn="ctr">
            <a:noFill/>
            <a:miter lim="800000"/>
            <a:headEnd/>
            <a:tailEnd/>
          </a:ln>
          <a:effectLst/>
        </p:spPr>
        <p:txBody>
          <a:bodyPr wrap="none">
            <a:spAutoFit/>
          </a:bodyPr>
          <a:lstStyle/>
          <a:p>
            <a:r>
              <a:rPr lang="zh-CN" altLang="en-US">
                <a:solidFill>
                  <a:srgbClr val="FF0000"/>
                </a:solidFill>
                <a:latin typeface="Times New Roman" pitchFamily="18" charset="0"/>
                <a:ea typeface="华文新魏" pitchFamily="2" charset="-122"/>
              </a:rPr>
              <a:t>注意：</a:t>
            </a:r>
            <a:r>
              <a:rPr lang="zh-CN" altLang="en-US">
                <a:latin typeface="Times New Roman" pitchFamily="18" charset="0"/>
                <a:ea typeface="华文新魏" pitchFamily="2" charset="-122"/>
              </a:rPr>
              <a:t>这里仅以</a:t>
            </a:r>
            <a:r>
              <a:rPr lang="en-US" altLang="zh-CN">
                <a:latin typeface="Times New Roman" pitchFamily="18" charset="0"/>
                <a:ea typeface="华文新魏" pitchFamily="2" charset="-122"/>
              </a:rPr>
              <a:t>EINT0</a:t>
            </a:r>
            <a:r>
              <a:rPr lang="zh-CN" altLang="en-US">
                <a:latin typeface="Times New Roman" pitchFamily="18" charset="0"/>
                <a:ea typeface="华文新魏" pitchFamily="2" charset="-122"/>
              </a:rPr>
              <a:t>为例来进行讲解，</a:t>
            </a:r>
            <a:r>
              <a:rPr lang="en-US" altLang="zh-CN">
                <a:latin typeface="Times New Roman" pitchFamily="18" charset="0"/>
                <a:ea typeface="华文新魏" pitchFamily="2" charset="-122"/>
              </a:rPr>
              <a:t>EINT1~EINT3</a:t>
            </a:r>
            <a:r>
              <a:rPr lang="zh-CN" altLang="en-US">
                <a:latin typeface="Times New Roman" pitchFamily="18" charset="0"/>
                <a:ea typeface="华文新魏" pitchFamily="2" charset="-122"/>
              </a:rPr>
              <a:t>与之类似，此处不再重复。</a:t>
            </a:r>
          </a:p>
        </p:txBody>
      </p:sp>
      <p:sp>
        <p:nvSpPr>
          <p:cNvPr id="596026" name="Text Box 58"/>
          <p:cNvSpPr txBox="1">
            <a:spLocks noChangeArrowheads="1"/>
          </p:cNvSpPr>
          <p:nvPr/>
        </p:nvSpPr>
        <p:spPr bwMode="auto">
          <a:xfrm>
            <a:off x="1927225" y="2225675"/>
            <a:ext cx="8485188" cy="1569660"/>
          </a:xfrm>
          <a:prstGeom prst="rect">
            <a:avLst/>
          </a:prstGeom>
          <a:noFill/>
          <a:ln w="19050" algn="ctr">
            <a:noFill/>
            <a:miter lim="800000"/>
            <a:headEnd/>
            <a:tailEnd/>
          </a:ln>
          <a:effectLst/>
        </p:spPr>
        <p:txBody>
          <a:bodyPr>
            <a:spAutoFit/>
          </a:bodyPr>
          <a:lstStyle/>
          <a:p>
            <a:pPr algn="l"/>
            <a:r>
              <a:rPr lang="en-US" altLang="zh-CN" sz="2400">
                <a:latin typeface="Times New Roman" pitchFamily="18" charset="0"/>
                <a:ea typeface="华文新魏" pitchFamily="2" charset="-122"/>
              </a:rPr>
              <a:t>         LPC2000</a:t>
            </a:r>
            <a:r>
              <a:rPr lang="zh-CN" altLang="en-US" sz="2400">
                <a:latin typeface="Times New Roman" pitchFamily="18" charset="0"/>
                <a:ea typeface="华文新魏" pitchFamily="2" charset="-122"/>
              </a:rPr>
              <a:t>系列</a:t>
            </a:r>
            <a:r>
              <a:rPr lang="en-US" altLang="zh-CN" sz="2400">
                <a:latin typeface="Times New Roman" pitchFamily="18" charset="0"/>
                <a:ea typeface="华文新魏" pitchFamily="2" charset="-122"/>
              </a:rPr>
              <a:t>ARM</a:t>
            </a:r>
            <a:r>
              <a:rPr lang="zh-CN" altLang="en-US" sz="2400">
                <a:latin typeface="Times New Roman" pitchFamily="18" charset="0"/>
                <a:ea typeface="华文新魏" pitchFamily="2" charset="-122"/>
              </a:rPr>
              <a:t>的边沿中断可以设置为</a:t>
            </a:r>
            <a:r>
              <a:rPr lang="zh-CN" altLang="en-US" sz="2400">
                <a:solidFill>
                  <a:srgbClr val="FF0000"/>
                </a:solidFill>
                <a:latin typeface="Times New Roman" pitchFamily="18" charset="0"/>
                <a:ea typeface="华文新魏" pitchFamily="2" charset="-122"/>
              </a:rPr>
              <a:t>上升沿</a:t>
            </a:r>
            <a:r>
              <a:rPr lang="zh-CN" altLang="en-US" sz="2400">
                <a:latin typeface="Times New Roman" pitchFamily="18" charset="0"/>
                <a:ea typeface="华文新魏" pitchFamily="2" charset="-122"/>
              </a:rPr>
              <a:t>触发和</a:t>
            </a:r>
            <a:r>
              <a:rPr lang="zh-CN" altLang="en-US" sz="2400">
                <a:solidFill>
                  <a:srgbClr val="FF0000"/>
                </a:solidFill>
                <a:latin typeface="Times New Roman" pitchFamily="18" charset="0"/>
                <a:ea typeface="华文新魏" pitchFamily="2" charset="-122"/>
              </a:rPr>
              <a:t>下降沿</a:t>
            </a:r>
            <a:r>
              <a:rPr lang="zh-CN" altLang="en-US" sz="2400">
                <a:latin typeface="Times New Roman" pitchFamily="18" charset="0"/>
                <a:ea typeface="华文新魏" pitchFamily="2" charset="-122"/>
              </a:rPr>
              <a:t>触发。</a:t>
            </a:r>
            <a:endParaRPr lang="zh-CN" altLang="en-US" sz="2400">
              <a:solidFill>
                <a:srgbClr val="FF0000"/>
              </a:solidFill>
              <a:latin typeface="Times New Roman" pitchFamily="18" charset="0"/>
              <a:ea typeface="华文新魏" pitchFamily="2" charset="-122"/>
            </a:endParaRPr>
          </a:p>
          <a:p>
            <a:pPr lvl="1" algn="l">
              <a:buFont typeface="Wingdings" pitchFamily="2" charset="2"/>
              <a:buChar char="Ø"/>
            </a:pPr>
            <a:r>
              <a:rPr lang="zh-CN" altLang="en-US" sz="2400">
                <a:solidFill>
                  <a:srgbClr val="FF0000"/>
                </a:solidFill>
                <a:latin typeface="Times New Roman" pitchFamily="18" charset="0"/>
                <a:ea typeface="华文新魏" pitchFamily="2" charset="-122"/>
              </a:rPr>
              <a:t> 当</a:t>
            </a:r>
            <a:r>
              <a:rPr lang="en-US" altLang="zh-CN" sz="2400">
                <a:solidFill>
                  <a:srgbClr val="FF0000"/>
                </a:solidFill>
                <a:latin typeface="Times New Roman" pitchFamily="18" charset="0"/>
              </a:rPr>
              <a:t>EXTPOLAR[0]</a:t>
            </a:r>
            <a:r>
              <a:rPr lang="en-US" altLang="zh-CN" sz="2400">
                <a:solidFill>
                  <a:srgbClr val="FF0000"/>
                </a:solidFill>
                <a:latin typeface="Times New Roman" pitchFamily="18" charset="0"/>
                <a:ea typeface="华文新魏" pitchFamily="2" charset="-122"/>
              </a:rPr>
              <a:t> = 0</a:t>
            </a:r>
            <a:r>
              <a:rPr lang="zh-CN" altLang="en-US" sz="2400">
                <a:solidFill>
                  <a:srgbClr val="FF0000"/>
                </a:solidFill>
                <a:latin typeface="Times New Roman" pitchFamily="18" charset="0"/>
                <a:ea typeface="华文新魏" pitchFamily="2" charset="-122"/>
              </a:rPr>
              <a:t>时，外部中断</a:t>
            </a:r>
            <a:r>
              <a:rPr lang="en-US" altLang="zh-CN" sz="2400">
                <a:solidFill>
                  <a:srgbClr val="FF0000"/>
                </a:solidFill>
                <a:latin typeface="Times New Roman" pitchFamily="18" charset="0"/>
                <a:ea typeface="华文新魏" pitchFamily="2" charset="-122"/>
              </a:rPr>
              <a:t>0</a:t>
            </a:r>
            <a:r>
              <a:rPr lang="zh-CN" altLang="en-US" sz="2400">
                <a:solidFill>
                  <a:srgbClr val="FF0000"/>
                </a:solidFill>
                <a:latin typeface="Times New Roman" pitchFamily="18" charset="0"/>
                <a:ea typeface="华文新魏" pitchFamily="2" charset="-122"/>
              </a:rPr>
              <a:t>设置为下降沿触发。</a:t>
            </a:r>
          </a:p>
          <a:p>
            <a:pPr lvl="1" algn="l">
              <a:buFont typeface="Wingdings" pitchFamily="2" charset="2"/>
              <a:buChar char="Ø"/>
            </a:pPr>
            <a:r>
              <a:rPr lang="zh-CN" altLang="en-US" sz="2400">
                <a:latin typeface="Times New Roman" pitchFamily="18" charset="0"/>
                <a:ea typeface="华文新魏" pitchFamily="2" charset="-122"/>
              </a:rPr>
              <a:t> 当</a:t>
            </a:r>
            <a:r>
              <a:rPr lang="en-US" altLang="zh-CN" sz="2400">
                <a:latin typeface="Times New Roman" pitchFamily="18" charset="0"/>
              </a:rPr>
              <a:t>EXTPOLAR[0]</a:t>
            </a:r>
            <a:r>
              <a:rPr lang="en-US" altLang="zh-CN" sz="2400">
                <a:latin typeface="Times New Roman" pitchFamily="18" charset="0"/>
                <a:ea typeface="华文新魏" pitchFamily="2" charset="-122"/>
              </a:rPr>
              <a:t> = 1</a:t>
            </a:r>
            <a:r>
              <a:rPr lang="zh-CN" altLang="en-US" sz="2400">
                <a:latin typeface="Times New Roman" pitchFamily="18" charset="0"/>
                <a:ea typeface="华文新魏" pitchFamily="2" charset="-122"/>
              </a:rPr>
              <a:t>时，外部中断</a:t>
            </a:r>
            <a:r>
              <a:rPr lang="en-US" altLang="zh-CN" sz="2400">
                <a:latin typeface="Times New Roman" pitchFamily="18" charset="0"/>
                <a:ea typeface="华文新魏" pitchFamily="2" charset="-122"/>
              </a:rPr>
              <a:t>0</a:t>
            </a:r>
            <a:r>
              <a:rPr lang="zh-CN" altLang="en-US" sz="2400">
                <a:latin typeface="Times New Roman" pitchFamily="18" charset="0"/>
                <a:ea typeface="华文新魏" pitchFamily="2" charset="-122"/>
              </a:rPr>
              <a:t>设置为上升沿触发。</a:t>
            </a:r>
          </a:p>
        </p:txBody>
      </p:sp>
      <p:sp>
        <p:nvSpPr>
          <p:cNvPr id="596027" name="Freeform 59"/>
          <p:cNvSpPr>
            <a:spLocks/>
          </p:cNvSpPr>
          <p:nvPr/>
        </p:nvSpPr>
        <p:spPr bwMode="auto">
          <a:xfrm>
            <a:off x="1519238" y="3173413"/>
            <a:ext cx="3930651" cy="369332"/>
          </a:xfrm>
          <a:custGeom>
            <a:avLst/>
            <a:gdLst/>
            <a:ahLst/>
            <a:cxnLst>
              <a:cxn ang="0">
                <a:pos x="579" y="0"/>
              </a:cxn>
              <a:cxn ang="0">
                <a:pos x="316" y="364"/>
              </a:cxn>
              <a:cxn ang="0">
                <a:pos x="2476" y="610"/>
              </a:cxn>
            </a:cxnLst>
            <a:rect l="0" t="0" r="r" b="b"/>
            <a:pathLst>
              <a:path w="2476" h="610">
                <a:moveTo>
                  <a:pt x="579" y="0"/>
                </a:moveTo>
                <a:cubicBezTo>
                  <a:pt x="289" y="131"/>
                  <a:pt x="0" y="262"/>
                  <a:pt x="316" y="364"/>
                </a:cubicBezTo>
                <a:cubicBezTo>
                  <a:pt x="632" y="466"/>
                  <a:pt x="1554" y="538"/>
                  <a:pt x="2476" y="610"/>
                </a:cubicBezTo>
              </a:path>
            </a:pathLst>
          </a:custGeom>
          <a:noFill/>
          <a:ln w="19050" cap="flat" cmpd="sng">
            <a:solidFill>
              <a:srgbClr val="FF0000"/>
            </a:solidFill>
            <a:prstDash val="solid"/>
            <a:round/>
            <a:headEnd/>
            <a:tailEnd type="triangle" w="med" len="med"/>
          </a:ln>
          <a:effectLst/>
        </p:spPr>
        <p:txBody>
          <a:bodyPr>
            <a:spAutoFit/>
          </a:bodyPr>
          <a:lstStyle/>
          <a:p>
            <a:endParaRPr lang="zh-CN" altLang="en-US"/>
          </a:p>
        </p:txBody>
      </p:sp>
      <p:grpSp>
        <p:nvGrpSpPr>
          <p:cNvPr id="596028" name="Group 60"/>
          <p:cNvGrpSpPr>
            <a:grpSpLocks/>
          </p:cNvGrpSpPr>
          <p:nvPr/>
        </p:nvGrpSpPr>
        <p:grpSpPr bwMode="auto">
          <a:xfrm>
            <a:off x="2406650" y="4576764"/>
            <a:ext cx="889000" cy="814387"/>
            <a:chOff x="532" y="2667"/>
            <a:chExt cx="560" cy="513"/>
          </a:xfrm>
        </p:grpSpPr>
        <p:sp>
          <p:nvSpPr>
            <p:cNvPr id="596029" name="Rectangle 61"/>
            <p:cNvSpPr>
              <a:spLocks noChangeArrowheads="1"/>
            </p:cNvSpPr>
            <p:nvPr/>
          </p:nvSpPr>
          <p:spPr bwMode="auto">
            <a:xfrm>
              <a:off x="532" y="2840"/>
              <a:ext cx="560" cy="34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596030" name="Text Box 62"/>
            <p:cNvSpPr txBox="1">
              <a:spLocks noChangeArrowheads="1"/>
            </p:cNvSpPr>
            <p:nvPr/>
          </p:nvSpPr>
          <p:spPr bwMode="auto">
            <a:xfrm>
              <a:off x="582" y="2667"/>
              <a:ext cx="452" cy="192"/>
            </a:xfrm>
            <a:prstGeom prst="rect">
              <a:avLst/>
            </a:prstGeom>
            <a:noFill/>
            <a:ln w="9525" algn="ctr">
              <a:noFill/>
              <a:miter lim="800000"/>
              <a:headEnd/>
              <a:tailEnd/>
            </a:ln>
            <a:effectLst/>
          </p:spPr>
          <p:txBody>
            <a:bodyPr wrap="none">
              <a:spAutoFit/>
            </a:bodyPr>
            <a:lstStyle/>
            <a:p>
              <a:r>
                <a:rPr lang="zh-CN" altLang="en-US" sz="1400">
                  <a:latin typeface="Arial" charset="0"/>
                  <a:ea typeface="华文新魏" pitchFamily="2" charset="-122"/>
                </a:rPr>
                <a:t>下降沿</a:t>
              </a:r>
            </a:p>
          </p:txBody>
        </p:sp>
        <p:sp>
          <p:nvSpPr>
            <p:cNvPr id="596031" name="Line 63"/>
            <p:cNvSpPr>
              <a:spLocks noChangeShapeType="1"/>
            </p:cNvSpPr>
            <p:nvPr/>
          </p:nvSpPr>
          <p:spPr bwMode="auto">
            <a:xfrm>
              <a:off x="589" y="2911"/>
              <a:ext cx="210" cy="0"/>
            </a:xfrm>
            <a:prstGeom prst="line">
              <a:avLst/>
            </a:prstGeom>
            <a:noFill/>
            <a:ln w="9525">
              <a:solidFill>
                <a:schemeClr val="tx1"/>
              </a:solidFill>
              <a:round/>
              <a:headEnd/>
              <a:tailEnd/>
            </a:ln>
            <a:effectLst/>
          </p:spPr>
          <p:txBody>
            <a:bodyPr wrap="none" anchor="ctr"/>
            <a:lstStyle/>
            <a:p>
              <a:endParaRPr lang="zh-CN" altLang="en-US"/>
            </a:p>
          </p:txBody>
        </p:sp>
        <p:sp>
          <p:nvSpPr>
            <p:cNvPr id="596032" name="Line 64"/>
            <p:cNvSpPr>
              <a:spLocks noChangeShapeType="1"/>
            </p:cNvSpPr>
            <p:nvPr/>
          </p:nvSpPr>
          <p:spPr bwMode="auto">
            <a:xfrm>
              <a:off x="800" y="3118"/>
              <a:ext cx="210" cy="0"/>
            </a:xfrm>
            <a:prstGeom prst="line">
              <a:avLst/>
            </a:prstGeom>
            <a:noFill/>
            <a:ln w="9525">
              <a:solidFill>
                <a:schemeClr val="tx1"/>
              </a:solidFill>
              <a:round/>
              <a:headEnd/>
              <a:tailEnd/>
            </a:ln>
            <a:effectLst/>
          </p:spPr>
          <p:txBody>
            <a:bodyPr wrap="none" anchor="ctr"/>
            <a:lstStyle/>
            <a:p>
              <a:endParaRPr lang="zh-CN" altLang="en-US"/>
            </a:p>
          </p:txBody>
        </p:sp>
        <p:sp>
          <p:nvSpPr>
            <p:cNvPr id="596033" name="Line 65"/>
            <p:cNvSpPr>
              <a:spLocks noChangeShapeType="1"/>
            </p:cNvSpPr>
            <p:nvPr/>
          </p:nvSpPr>
          <p:spPr bwMode="auto">
            <a:xfrm>
              <a:off x="799" y="2913"/>
              <a:ext cx="0" cy="207"/>
            </a:xfrm>
            <a:prstGeom prst="line">
              <a:avLst/>
            </a:prstGeom>
            <a:noFill/>
            <a:ln w="9525">
              <a:solidFill>
                <a:srgbClr val="FF0000"/>
              </a:solidFill>
              <a:round/>
              <a:headEnd/>
              <a:tailEnd type="triangle" w="med" len="med"/>
            </a:ln>
            <a:effec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95971"/>
                                        </p:tgtEl>
                                        <p:attrNameLst>
                                          <p:attrName>style.visibility</p:attrName>
                                        </p:attrNameLst>
                                      </p:cBhvr>
                                      <p:to>
                                        <p:strVal val="visible"/>
                                      </p:to>
                                    </p:set>
                                    <p:animEffect transition="in" filter="wipe(up)">
                                      <p:cBhvr>
                                        <p:cTn id="7" dur="500"/>
                                        <p:tgtEl>
                                          <p:spTgt spid="59597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96026"/>
                                        </p:tgtEl>
                                        <p:attrNameLst>
                                          <p:attrName>style.visibility</p:attrName>
                                        </p:attrNameLst>
                                      </p:cBhvr>
                                      <p:to>
                                        <p:strVal val="visible"/>
                                      </p:to>
                                    </p:set>
                                    <p:animEffect transition="in" filter="wipe(up)">
                                      <p:cBhvr>
                                        <p:cTn id="11" dur="500"/>
                                        <p:tgtEl>
                                          <p:spTgt spid="596026"/>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596028"/>
                                        </p:tgtEl>
                                        <p:attrNameLst>
                                          <p:attrName>style.visibility</p:attrName>
                                        </p:attrNameLst>
                                      </p:cBhvr>
                                      <p:to>
                                        <p:strVal val="visible"/>
                                      </p:to>
                                    </p:set>
                                    <p:animEffect transition="in" filter="wipe(up)">
                                      <p:cBhvr>
                                        <p:cTn id="15" dur="500"/>
                                        <p:tgtEl>
                                          <p:spTgt spid="596028"/>
                                        </p:tgtEl>
                                      </p:cBhvr>
                                    </p:animEffect>
                                  </p:childTnLst>
                                </p:cTn>
                              </p:par>
                              <p:par>
                                <p:cTn id="16" presetID="22" presetClass="entr" presetSubtype="1" fill="hold" nodeType="withEffect">
                                  <p:stCondLst>
                                    <p:cond delay="0"/>
                                  </p:stCondLst>
                                  <p:childTnLst>
                                    <p:set>
                                      <p:cBhvr>
                                        <p:cTn id="17" dur="1" fill="hold">
                                          <p:stCondLst>
                                            <p:cond delay="0"/>
                                          </p:stCondLst>
                                        </p:cTn>
                                        <p:tgtEl>
                                          <p:spTgt spid="596034"/>
                                        </p:tgtEl>
                                        <p:attrNameLst>
                                          <p:attrName>style.visibility</p:attrName>
                                        </p:attrNameLst>
                                      </p:cBhvr>
                                      <p:to>
                                        <p:strVal val="visible"/>
                                      </p:to>
                                    </p:set>
                                    <p:animEffect transition="in" filter="wipe(up)">
                                      <p:cBhvr>
                                        <p:cTn id="18" dur="500"/>
                                        <p:tgtEl>
                                          <p:spTgt spid="596034"/>
                                        </p:tgtEl>
                                      </p:cBhvr>
                                    </p:animEffect>
                                  </p:childTnLst>
                                </p:cTn>
                              </p:par>
                            </p:childTnLst>
                          </p:cTn>
                        </p:par>
                        <p:par>
                          <p:cTn id="19" fill="hold">
                            <p:stCondLst>
                              <p:cond delay="1500"/>
                            </p:stCondLst>
                            <p:childTnLst>
                              <p:par>
                                <p:cTn id="20" presetID="22" presetClass="entr" presetSubtype="1" fill="hold" grpId="0" nodeType="afterEffect">
                                  <p:stCondLst>
                                    <p:cond delay="0"/>
                                  </p:stCondLst>
                                  <p:childTnLst>
                                    <p:set>
                                      <p:cBhvr>
                                        <p:cTn id="21" dur="1" fill="hold">
                                          <p:stCondLst>
                                            <p:cond delay="0"/>
                                          </p:stCondLst>
                                        </p:cTn>
                                        <p:tgtEl>
                                          <p:spTgt spid="596027"/>
                                        </p:tgtEl>
                                        <p:attrNameLst>
                                          <p:attrName>style.visibility</p:attrName>
                                        </p:attrNameLst>
                                      </p:cBhvr>
                                      <p:to>
                                        <p:strVal val="visible"/>
                                      </p:to>
                                    </p:set>
                                    <p:animEffect transition="in" filter="wipe(up)">
                                      <p:cBhvr>
                                        <p:cTn id="22" dur="500"/>
                                        <p:tgtEl>
                                          <p:spTgt spid="596027"/>
                                        </p:tgtEl>
                                      </p:cBhvr>
                                    </p:animEffect>
                                  </p:childTnLst>
                                </p:cTn>
                              </p:par>
                            </p:childTnLst>
                          </p:cTn>
                        </p:par>
                        <p:par>
                          <p:cTn id="23" fill="hold">
                            <p:stCondLst>
                              <p:cond delay="2000"/>
                            </p:stCondLst>
                            <p:childTnLst>
                              <p:par>
                                <p:cTn id="24" presetID="35" presetClass="emph" presetSubtype="0" fill="hold" nodeType="afterEffect">
                                  <p:stCondLst>
                                    <p:cond delay="0"/>
                                  </p:stCondLst>
                                  <p:childTnLst>
                                    <p:anim calcmode="discrete" valueType="str">
                                      <p:cBhvr>
                                        <p:cTn id="25" dur="500" fill="hold"/>
                                        <p:tgtEl>
                                          <p:spTgt spid="596028"/>
                                        </p:tgtEl>
                                        <p:attrNameLst>
                                          <p:attrName>style.visibility</p:attrName>
                                        </p:attrNameLst>
                                      </p:cBhvr>
                                      <p:tavLst>
                                        <p:tav tm="0">
                                          <p:val>
                                            <p:strVal val="hidden"/>
                                          </p:val>
                                        </p:tav>
                                        <p:tav tm="50000">
                                          <p:val>
                                            <p:strVal val="visible"/>
                                          </p:val>
                                        </p:tav>
                                      </p:tavLst>
                                    </p:anim>
                                  </p:childTnLst>
                                </p:cTn>
                              </p:par>
                            </p:childTnLst>
                          </p:cTn>
                        </p:par>
                        <p:par>
                          <p:cTn id="26" fill="hold">
                            <p:stCondLst>
                              <p:cond delay="2500"/>
                            </p:stCondLst>
                            <p:childTnLst>
                              <p:par>
                                <p:cTn id="27" presetID="22" presetClass="entr" presetSubtype="1" fill="hold" grpId="0" nodeType="afterEffect">
                                  <p:stCondLst>
                                    <p:cond delay="0"/>
                                  </p:stCondLst>
                                  <p:childTnLst>
                                    <p:set>
                                      <p:cBhvr>
                                        <p:cTn id="28" dur="1" fill="hold">
                                          <p:stCondLst>
                                            <p:cond delay="0"/>
                                          </p:stCondLst>
                                        </p:cTn>
                                        <p:tgtEl>
                                          <p:spTgt spid="596025"/>
                                        </p:tgtEl>
                                        <p:attrNameLst>
                                          <p:attrName>style.visibility</p:attrName>
                                        </p:attrNameLst>
                                      </p:cBhvr>
                                      <p:to>
                                        <p:strVal val="visible"/>
                                      </p:to>
                                    </p:set>
                                    <p:animEffect transition="in" filter="wipe(up)">
                                      <p:cBhvr>
                                        <p:cTn id="29" dur="500"/>
                                        <p:tgtEl>
                                          <p:spTgt spid="5960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5971" grpId="0"/>
      <p:bldP spid="596025" grpId="0"/>
      <p:bldP spid="596026" grpId="0"/>
      <p:bldP spid="596027"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p:cNvSpPr>
            <a:spLocks noChangeArrowheads="1"/>
          </p:cNvSpPr>
          <p:nvPr/>
        </p:nvSpPr>
        <p:spPr bwMode="auto">
          <a:xfrm>
            <a:off x="2209800" y="609600"/>
            <a:ext cx="7772400" cy="1143000"/>
          </a:xfrm>
          <a:prstGeom prst="rect">
            <a:avLst/>
          </a:prstGeom>
          <a:noFill/>
          <a:ln w="9525">
            <a:noFill/>
            <a:miter lim="800000"/>
            <a:headEnd/>
            <a:tailEnd/>
          </a:ln>
          <a:effectLst/>
        </p:spPr>
        <p:txBody>
          <a:bodyPr anchor="ctr"/>
          <a:lstStyle/>
          <a:p>
            <a:r>
              <a:rPr lang="en-US" altLang="zh-CN" sz="4400" dirty="0"/>
              <a:t>5.3.6</a:t>
            </a:r>
            <a:r>
              <a:rPr lang="en-US" altLang="zh-CN" sz="4400" dirty="0">
                <a:solidFill>
                  <a:schemeClr val="tx2"/>
                </a:solidFill>
                <a:latin typeface="Times New Roman" pitchFamily="18" charset="0"/>
              </a:rPr>
              <a:t>  </a:t>
            </a:r>
            <a:r>
              <a:rPr lang="zh-CN" altLang="en-US" sz="4400" dirty="0">
                <a:solidFill>
                  <a:schemeClr val="tx2"/>
                </a:solidFill>
                <a:latin typeface="Times New Roman" pitchFamily="18" charset="0"/>
              </a:rPr>
              <a:t>外部中断输入</a:t>
            </a:r>
          </a:p>
        </p:txBody>
      </p:sp>
      <p:sp>
        <p:nvSpPr>
          <p:cNvPr id="596995" name="Rectangle 3"/>
          <p:cNvSpPr>
            <a:spLocks noChangeArrowheads="1"/>
          </p:cNvSpPr>
          <p:nvPr/>
        </p:nvSpPr>
        <p:spPr bwMode="auto">
          <a:xfrm>
            <a:off x="2209800" y="16748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边沿中断设置</a:t>
            </a:r>
          </a:p>
        </p:txBody>
      </p:sp>
      <p:sp>
        <p:nvSpPr>
          <p:cNvPr id="596997" name="Rectangle 5"/>
          <p:cNvSpPr>
            <a:spLocks noChangeArrowheads="1"/>
          </p:cNvSpPr>
          <p:nvPr/>
        </p:nvSpPr>
        <p:spPr bwMode="auto">
          <a:xfrm>
            <a:off x="3470275" y="5095875"/>
            <a:ext cx="222250" cy="95250"/>
          </a:xfrm>
          <a:prstGeom prst="rect">
            <a:avLst/>
          </a:prstGeom>
          <a:solidFill>
            <a:srgbClr val="969696"/>
          </a:solidFill>
          <a:ln w="9525" algn="ctr">
            <a:solidFill>
              <a:schemeClr val="tx1"/>
            </a:solidFill>
            <a:miter lim="800000"/>
            <a:headEnd/>
            <a:tailEnd/>
          </a:ln>
          <a:effectLst/>
        </p:spPr>
        <p:txBody>
          <a:bodyPr wrap="none" anchor="ctr"/>
          <a:lstStyle/>
          <a:p>
            <a:endParaRPr lang="zh-CN" altLang="en-US"/>
          </a:p>
        </p:txBody>
      </p:sp>
      <p:sp>
        <p:nvSpPr>
          <p:cNvPr id="596998" name="Rectangle 6"/>
          <p:cNvSpPr>
            <a:spLocks noChangeArrowheads="1"/>
          </p:cNvSpPr>
          <p:nvPr/>
        </p:nvSpPr>
        <p:spPr bwMode="auto">
          <a:xfrm>
            <a:off x="3470275" y="5311775"/>
            <a:ext cx="222250" cy="95250"/>
          </a:xfrm>
          <a:prstGeom prst="rect">
            <a:avLst/>
          </a:prstGeom>
          <a:solidFill>
            <a:srgbClr val="969696"/>
          </a:solidFill>
          <a:ln w="9525" algn="ctr">
            <a:solidFill>
              <a:schemeClr val="tx1"/>
            </a:solidFill>
            <a:miter lim="800000"/>
            <a:headEnd/>
            <a:tailEnd/>
          </a:ln>
          <a:effectLst/>
        </p:spPr>
        <p:txBody>
          <a:bodyPr wrap="none" anchor="ctr"/>
          <a:lstStyle/>
          <a:p>
            <a:endParaRPr lang="zh-CN" altLang="en-US"/>
          </a:p>
        </p:txBody>
      </p:sp>
      <p:sp>
        <p:nvSpPr>
          <p:cNvPr id="596999" name="Rectangle 7"/>
          <p:cNvSpPr>
            <a:spLocks noChangeArrowheads="1"/>
          </p:cNvSpPr>
          <p:nvPr/>
        </p:nvSpPr>
        <p:spPr bwMode="auto">
          <a:xfrm>
            <a:off x="3470275" y="4892675"/>
            <a:ext cx="222250" cy="95250"/>
          </a:xfrm>
          <a:prstGeom prst="rect">
            <a:avLst/>
          </a:prstGeom>
          <a:solidFill>
            <a:srgbClr val="969696"/>
          </a:solidFill>
          <a:ln w="9525" algn="ctr">
            <a:solidFill>
              <a:schemeClr val="tx1"/>
            </a:solidFill>
            <a:miter lim="800000"/>
            <a:headEnd/>
            <a:tailEnd/>
          </a:ln>
          <a:effectLst/>
        </p:spPr>
        <p:txBody>
          <a:bodyPr wrap="none" anchor="ctr"/>
          <a:lstStyle/>
          <a:p>
            <a:endParaRPr lang="zh-CN" altLang="en-US"/>
          </a:p>
        </p:txBody>
      </p:sp>
      <p:sp>
        <p:nvSpPr>
          <p:cNvPr id="597000" name="Rectangle 8"/>
          <p:cNvSpPr>
            <a:spLocks noChangeArrowheads="1"/>
          </p:cNvSpPr>
          <p:nvPr/>
        </p:nvSpPr>
        <p:spPr bwMode="auto">
          <a:xfrm flipH="1">
            <a:off x="3603626" y="3849688"/>
            <a:ext cx="6176963" cy="2144712"/>
          </a:xfrm>
          <a:prstGeom prst="rect">
            <a:avLst/>
          </a:prstGeom>
          <a:solidFill>
            <a:schemeClr val="bg1"/>
          </a:solidFill>
          <a:ln w="9525" algn="ctr">
            <a:solidFill>
              <a:schemeClr val="tx1"/>
            </a:solidFill>
            <a:miter lim="800000"/>
            <a:headEnd/>
            <a:tailEnd/>
          </a:ln>
          <a:effectLst/>
        </p:spPr>
        <p:txBody>
          <a:bodyPr wrap="none" anchor="ctr"/>
          <a:lstStyle/>
          <a:p>
            <a:endParaRPr lang="zh-CN" altLang="en-US"/>
          </a:p>
        </p:txBody>
      </p:sp>
      <p:sp>
        <p:nvSpPr>
          <p:cNvPr id="597001" name="Line 9"/>
          <p:cNvSpPr>
            <a:spLocks noChangeShapeType="1"/>
          </p:cNvSpPr>
          <p:nvPr/>
        </p:nvSpPr>
        <p:spPr bwMode="auto">
          <a:xfrm>
            <a:off x="3616325" y="5143500"/>
            <a:ext cx="744538" cy="0"/>
          </a:xfrm>
          <a:prstGeom prst="line">
            <a:avLst/>
          </a:prstGeom>
          <a:noFill/>
          <a:ln w="9525">
            <a:solidFill>
              <a:srgbClr val="FF0000"/>
            </a:solidFill>
            <a:round/>
            <a:headEnd/>
            <a:tailEnd type="oval" w="sm" len="sm"/>
          </a:ln>
          <a:effectLst/>
        </p:spPr>
        <p:txBody>
          <a:bodyPr wrap="none" anchor="ctr"/>
          <a:lstStyle/>
          <a:p>
            <a:endParaRPr lang="zh-CN" altLang="en-US"/>
          </a:p>
        </p:txBody>
      </p:sp>
      <p:sp>
        <p:nvSpPr>
          <p:cNvPr id="597002" name="Text Box 10"/>
          <p:cNvSpPr txBox="1">
            <a:spLocks noChangeArrowheads="1"/>
          </p:cNvSpPr>
          <p:nvPr/>
        </p:nvSpPr>
        <p:spPr bwMode="auto">
          <a:xfrm>
            <a:off x="3602038" y="4889500"/>
            <a:ext cx="819150" cy="304800"/>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EINT0</a:t>
            </a:r>
          </a:p>
        </p:txBody>
      </p:sp>
      <p:sp>
        <p:nvSpPr>
          <p:cNvPr id="597003" name="Text Box 11"/>
          <p:cNvSpPr txBox="1">
            <a:spLocks noChangeArrowheads="1"/>
          </p:cNvSpPr>
          <p:nvPr/>
        </p:nvSpPr>
        <p:spPr bwMode="auto">
          <a:xfrm>
            <a:off x="6850063" y="4344988"/>
            <a:ext cx="336550" cy="304800"/>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0</a:t>
            </a:r>
          </a:p>
        </p:txBody>
      </p:sp>
      <p:sp>
        <p:nvSpPr>
          <p:cNvPr id="597004" name="Line 12"/>
          <p:cNvSpPr>
            <a:spLocks noChangeShapeType="1"/>
          </p:cNvSpPr>
          <p:nvPr/>
        </p:nvSpPr>
        <p:spPr bwMode="auto">
          <a:xfrm>
            <a:off x="4359275" y="5143501"/>
            <a:ext cx="401638" cy="74613"/>
          </a:xfrm>
          <a:prstGeom prst="line">
            <a:avLst/>
          </a:prstGeom>
          <a:noFill/>
          <a:ln w="9525">
            <a:solidFill>
              <a:srgbClr val="FF0000"/>
            </a:solidFill>
            <a:round/>
            <a:headEnd/>
            <a:tailEnd/>
          </a:ln>
          <a:effectLst/>
        </p:spPr>
        <p:txBody>
          <a:bodyPr wrap="none" anchor="ctr"/>
          <a:lstStyle/>
          <a:p>
            <a:endParaRPr lang="zh-CN" altLang="en-US"/>
          </a:p>
        </p:txBody>
      </p:sp>
      <p:sp>
        <p:nvSpPr>
          <p:cNvPr id="597005" name="Text Box 13"/>
          <p:cNvSpPr txBox="1">
            <a:spLocks noChangeArrowheads="1"/>
          </p:cNvSpPr>
          <p:nvPr/>
        </p:nvSpPr>
        <p:spPr bwMode="auto">
          <a:xfrm>
            <a:off x="3794126" y="4379913"/>
            <a:ext cx="1592263" cy="304800"/>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EXTMODE[0] = 0</a:t>
            </a:r>
          </a:p>
        </p:txBody>
      </p:sp>
      <p:sp>
        <p:nvSpPr>
          <p:cNvPr id="597006" name="Line 14"/>
          <p:cNvSpPr>
            <a:spLocks noChangeShapeType="1"/>
          </p:cNvSpPr>
          <p:nvPr/>
        </p:nvSpPr>
        <p:spPr bwMode="auto">
          <a:xfrm>
            <a:off x="4592638" y="4697413"/>
            <a:ext cx="0" cy="463550"/>
          </a:xfrm>
          <a:prstGeom prst="line">
            <a:avLst/>
          </a:prstGeom>
          <a:noFill/>
          <a:ln w="9525">
            <a:solidFill>
              <a:schemeClr val="tx1"/>
            </a:solidFill>
            <a:prstDash val="dash"/>
            <a:round/>
            <a:headEnd/>
            <a:tailEnd type="triangle" w="sm" len="sm"/>
          </a:ln>
          <a:effectLst/>
        </p:spPr>
        <p:txBody>
          <a:bodyPr wrap="none" anchor="ctr"/>
          <a:lstStyle/>
          <a:p>
            <a:endParaRPr lang="zh-CN" altLang="en-US"/>
          </a:p>
        </p:txBody>
      </p:sp>
      <p:sp>
        <p:nvSpPr>
          <p:cNvPr id="597007" name="Line 15"/>
          <p:cNvSpPr>
            <a:spLocks noChangeShapeType="1"/>
          </p:cNvSpPr>
          <p:nvPr/>
        </p:nvSpPr>
        <p:spPr bwMode="auto">
          <a:xfrm>
            <a:off x="5122863" y="4752975"/>
            <a:ext cx="1301750"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597008" name="Line 16"/>
          <p:cNvSpPr>
            <a:spLocks noChangeShapeType="1"/>
          </p:cNvSpPr>
          <p:nvPr/>
        </p:nvSpPr>
        <p:spPr bwMode="auto">
          <a:xfrm>
            <a:off x="6440488" y="4737100"/>
            <a:ext cx="412750" cy="165100"/>
          </a:xfrm>
          <a:prstGeom prst="line">
            <a:avLst/>
          </a:prstGeom>
          <a:noFill/>
          <a:ln w="9525">
            <a:solidFill>
              <a:schemeClr val="tx1"/>
            </a:solidFill>
            <a:round/>
            <a:headEnd/>
            <a:tailEnd/>
          </a:ln>
          <a:effectLst/>
        </p:spPr>
        <p:txBody>
          <a:bodyPr wrap="none" anchor="ctr"/>
          <a:lstStyle/>
          <a:p>
            <a:endParaRPr lang="zh-CN" altLang="en-US"/>
          </a:p>
        </p:txBody>
      </p:sp>
      <p:sp>
        <p:nvSpPr>
          <p:cNvPr id="597009" name="Line 17"/>
          <p:cNvSpPr>
            <a:spLocks noChangeShapeType="1"/>
          </p:cNvSpPr>
          <p:nvPr/>
        </p:nvSpPr>
        <p:spPr bwMode="auto">
          <a:xfrm>
            <a:off x="4730750" y="4997450"/>
            <a:ext cx="382588"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97010" name="Line 18"/>
          <p:cNvSpPr>
            <a:spLocks noChangeShapeType="1"/>
          </p:cNvSpPr>
          <p:nvPr/>
        </p:nvSpPr>
        <p:spPr bwMode="auto">
          <a:xfrm>
            <a:off x="4724400" y="5243513"/>
            <a:ext cx="387350" cy="0"/>
          </a:xfrm>
          <a:prstGeom prst="line">
            <a:avLst/>
          </a:prstGeom>
          <a:noFill/>
          <a:ln w="9525">
            <a:solidFill>
              <a:srgbClr val="FF0000"/>
            </a:solidFill>
            <a:round/>
            <a:headEnd type="oval" w="sm" len="sm"/>
            <a:tailEnd type="none" w="sm" len="sm"/>
          </a:ln>
          <a:effectLst/>
        </p:spPr>
        <p:txBody>
          <a:bodyPr wrap="none" anchor="ctr"/>
          <a:lstStyle/>
          <a:p>
            <a:endParaRPr lang="zh-CN" altLang="en-US"/>
          </a:p>
        </p:txBody>
      </p:sp>
      <p:sp>
        <p:nvSpPr>
          <p:cNvPr id="597011" name="Line 19"/>
          <p:cNvSpPr>
            <a:spLocks noChangeShapeType="1"/>
          </p:cNvSpPr>
          <p:nvPr/>
        </p:nvSpPr>
        <p:spPr bwMode="auto">
          <a:xfrm>
            <a:off x="6827839" y="4910138"/>
            <a:ext cx="382587"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97012" name="Line 20"/>
          <p:cNvSpPr>
            <a:spLocks noChangeShapeType="1"/>
          </p:cNvSpPr>
          <p:nvPr/>
        </p:nvSpPr>
        <p:spPr bwMode="auto">
          <a:xfrm>
            <a:off x="6827839" y="4591050"/>
            <a:ext cx="382587"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97013" name="Text Box 21"/>
          <p:cNvSpPr txBox="1">
            <a:spLocks noChangeArrowheads="1"/>
          </p:cNvSpPr>
          <p:nvPr/>
        </p:nvSpPr>
        <p:spPr bwMode="auto">
          <a:xfrm>
            <a:off x="5421313" y="3997325"/>
            <a:ext cx="1655762" cy="304800"/>
          </a:xfrm>
          <a:prstGeom prst="rect">
            <a:avLst/>
          </a:prstGeom>
          <a:noFill/>
          <a:ln w="9525" algn="ctr">
            <a:noFill/>
            <a:miter lim="800000"/>
            <a:headEnd/>
            <a:tailEnd/>
          </a:ln>
          <a:effectLst/>
        </p:spPr>
        <p:txBody>
          <a:bodyPr>
            <a:spAutoFit/>
          </a:bodyPr>
          <a:lstStyle/>
          <a:p>
            <a:r>
              <a:rPr lang="en-US" altLang="zh-CN" sz="1400">
                <a:solidFill>
                  <a:srgbClr val="FF0000"/>
                </a:solidFill>
                <a:latin typeface="Times New Roman" pitchFamily="18" charset="0"/>
                <a:ea typeface="华文新魏" pitchFamily="2" charset="-122"/>
              </a:rPr>
              <a:t>EXTPOLAR[0] = 1</a:t>
            </a:r>
          </a:p>
        </p:txBody>
      </p:sp>
      <p:sp>
        <p:nvSpPr>
          <p:cNvPr id="597014" name="Line 22"/>
          <p:cNvSpPr>
            <a:spLocks noChangeShapeType="1"/>
          </p:cNvSpPr>
          <p:nvPr/>
        </p:nvSpPr>
        <p:spPr bwMode="auto">
          <a:xfrm flipV="1">
            <a:off x="5119688" y="4754564"/>
            <a:ext cx="0" cy="236537"/>
          </a:xfrm>
          <a:prstGeom prst="line">
            <a:avLst/>
          </a:prstGeom>
          <a:noFill/>
          <a:ln w="9525">
            <a:solidFill>
              <a:schemeClr val="tx1"/>
            </a:solidFill>
            <a:round/>
            <a:headEnd/>
            <a:tailEnd type="none" w="sm" len="sm"/>
          </a:ln>
          <a:effectLst/>
        </p:spPr>
        <p:txBody>
          <a:bodyPr wrap="none" anchor="ctr"/>
          <a:lstStyle/>
          <a:p>
            <a:endParaRPr lang="zh-CN" altLang="en-US"/>
          </a:p>
        </p:txBody>
      </p:sp>
      <p:sp>
        <p:nvSpPr>
          <p:cNvPr id="597015" name="Line 23"/>
          <p:cNvSpPr>
            <a:spLocks noChangeShapeType="1"/>
          </p:cNvSpPr>
          <p:nvPr/>
        </p:nvSpPr>
        <p:spPr bwMode="auto">
          <a:xfrm>
            <a:off x="8267700" y="4587875"/>
            <a:ext cx="382588"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97016" name="Line 24"/>
          <p:cNvSpPr>
            <a:spLocks noChangeShapeType="1"/>
          </p:cNvSpPr>
          <p:nvPr/>
        </p:nvSpPr>
        <p:spPr bwMode="auto">
          <a:xfrm>
            <a:off x="8259764" y="4911725"/>
            <a:ext cx="382587"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97017" name="Rectangle 25"/>
          <p:cNvSpPr>
            <a:spLocks noChangeArrowheads="1"/>
          </p:cNvSpPr>
          <p:nvPr/>
        </p:nvSpPr>
        <p:spPr bwMode="auto">
          <a:xfrm>
            <a:off x="7212013" y="4773614"/>
            <a:ext cx="1117600" cy="268287"/>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高电平中断</a:t>
            </a:r>
          </a:p>
        </p:txBody>
      </p:sp>
      <p:sp>
        <p:nvSpPr>
          <p:cNvPr id="597018" name="Rectangle 26"/>
          <p:cNvSpPr>
            <a:spLocks noChangeArrowheads="1"/>
          </p:cNvSpPr>
          <p:nvPr/>
        </p:nvSpPr>
        <p:spPr bwMode="auto">
          <a:xfrm>
            <a:off x="7212013" y="4454526"/>
            <a:ext cx="1117600" cy="269875"/>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低电平中断</a:t>
            </a:r>
          </a:p>
        </p:txBody>
      </p:sp>
      <p:sp>
        <p:nvSpPr>
          <p:cNvPr id="597019" name="Line 27"/>
          <p:cNvSpPr>
            <a:spLocks noChangeShapeType="1"/>
          </p:cNvSpPr>
          <p:nvPr/>
        </p:nvSpPr>
        <p:spPr bwMode="auto">
          <a:xfrm>
            <a:off x="5113339" y="5421313"/>
            <a:ext cx="1311275" cy="0"/>
          </a:xfrm>
          <a:prstGeom prst="line">
            <a:avLst/>
          </a:prstGeom>
          <a:noFill/>
          <a:ln w="9525">
            <a:solidFill>
              <a:srgbClr val="FF0000"/>
            </a:solidFill>
            <a:round/>
            <a:headEnd/>
            <a:tailEnd type="oval" w="sm" len="sm"/>
          </a:ln>
          <a:effectLst/>
        </p:spPr>
        <p:txBody>
          <a:bodyPr wrap="none" anchor="ctr"/>
          <a:lstStyle/>
          <a:p>
            <a:endParaRPr lang="zh-CN" altLang="en-US"/>
          </a:p>
        </p:txBody>
      </p:sp>
      <p:sp>
        <p:nvSpPr>
          <p:cNvPr id="597020" name="Line 28"/>
          <p:cNvSpPr>
            <a:spLocks noChangeShapeType="1"/>
          </p:cNvSpPr>
          <p:nvPr/>
        </p:nvSpPr>
        <p:spPr bwMode="auto">
          <a:xfrm>
            <a:off x="6424614" y="5421313"/>
            <a:ext cx="439737" cy="196850"/>
          </a:xfrm>
          <a:prstGeom prst="line">
            <a:avLst/>
          </a:prstGeom>
          <a:noFill/>
          <a:ln w="9525">
            <a:solidFill>
              <a:srgbClr val="FF0000"/>
            </a:solidFill>
            <a:round/>
            <a:headEnd/>
            <a:tailEnd/>
          </a:ln>
          <a:effectLst/>
        </p:spPr>
        <p:txBody>
          <a:bodyPr wrap="none" anchor="ctr"/>
          <a:lstStyle/>
          <a:p>
            <a:endParaRPr lang="zh-CN" altLang="en-US"/>
          </a:p>
        </p:txBody>
      </p:sp>
      <p:sp>
        <p:nvSpPr>
          <p:cNvPr id="597021" name="Line 29"/>
          <p:cNvSpPr>
            <a:spLocks noChangeShapeType="1"/>
          </p:cNvSpPr>
          <p:nvPr/>
        </p:nvSpPr>
        <p:spPr bwMode="auto">
          <a:xfrm>
            <a:off x="6834189" y="5629275"/>
            <a:ext cx="382587" cy="0"/>
          </a:xfrm>
          <a:prstGeom prst="line">
            <a:avLst/>
          </a:prstGeom>
          <a:noFill/>
          <a:ln w="9525">
            <a:solidFill>
              <a:srgbClr val="FF0000"/>
            </a:solidFill>
            <a:round/>
            <a:headEnd type="oval" w="sm" len="sm"/>
            <a:tailEnd type="none" w="sm" len="sm"/>
          </a:ln>
          <a:effectLst/>
        </p:spPr>
        <p:txBody>
          <a:bodyPr wrap="none" anchor="ctr"/>
          <a:lstStyle/>
          <a:p>
            <a:endParaRPr lang="zh-CN" altLang="en-US"/>
          </a:p>
        </p:txBody>
      </p:sp>
      <p:sp>
        <p:nvSpPr>
          <p:cNvPr id="597022" name="Line 30"/>
          <p:cNvSpPr>
            <a:spLocks noChangeShapeType="1"/>
          </p:cNvSpPr>
          <p:nvPr/>
        </p:nvSpPr>
        <p:spPr bwMode="auto">
          <a:xfrm>
            <a:off x="6834189" y="5278438"/>
            <a:ext cx="382587" cy="0"/>
          </a:xfrm>
          <a:prstGeom prst="line">
            <a:avLst/>
          </a:prstGeom>
          <a:noFill/>
          <a:ln w="9525">
            <a:solidFill>
              <a:schemeClr val="tx1"/>
            </a:solidFill>
            <a:round/>
            <a:headEnd type="oval" w="sm" len="sm"/>
            <a:tailEnd type="none" w="sm" len="sm"/>
          </a:ln>
          <a:effectLst/>
        </p:spPr>
        <p:txBody>
          <a:bodyPr wrap="none" anchor="ctr"/>
          <a:lstStyle/>
          <a:p>
            <a:endParaRPr lang="zh-CN" altLang="en-US"/>
          </a:p>
        </p:txBody>
      </p:sp>
      <p:sp>
        <p:nvSpPr>
          <p:cNvPr id="597023" name="Line 31"/>
          <p:cNvSpPr>
            <a:spLocks noChangeShapeType="1"/>
          </p:cNvSpPr>
          <p:nvPr/>
        </p:nvSpPr>
        <p:spPr bwMode="auto">
          <a:xfrm>
            <a:off x="8267700" y="5283200"/>
            <a:ext cx="382588"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97024" name="Line 32"/>
          <p:cNvSpPr>
            <a:spLocks noChangeShapeType="1"/>
          </p:cNvSpPr>
          <p:nvPr/>
        </p:nvSpPr>
        <p:spPr bwMode="auto">
          <a:xfrm>
            <a:off x="8267700" y="5630863"/>
            <a:ext cx="382588" cy="0"/>
          </a:xfrm>
          <a:prstGeom prst="line">
            <a:avLst/>
          </a:prstGeom>
          <a:noFill/>
          <a:ln w="9525">
            <a:solidFill>
              <a:srgbClr val="FF0000"/>
            </a:solidFill>
            <a:round/>
            <a:headEnd type="none" w="sm" len="sm"/>
            <a:tailEnd type="triangle" w="sm" len="sm"/>
          </a:ln>
          <a:effectLst/>
        </p:spPr>
        <p:txBody>
          <a:bodyPr wrap="none" anchor="ctr"/>
          <a:lstStyle/>
          <a:p>
            <a:endParaRPr lang="zh-CN" altLang="en-US"/>
          </a:p>
        </p:txBody>
      </p:sp>
      <p:sp>
        <p:nvSpPr>
          <p:cNvPr id="597025" name="Rectangle 33"/>
          <p:cNvSpPr>
            <a:spLocks noChangeArrowheads="1"/>
          </p:cNvSpPr>
          <p:nvPr/>
        </p:nvSpPr>
        <p:spPr bwMode="auto">
          <a:xfrm>
            <a:off x="7212013" y="5487989"/>
            <a:ext cx="1117600" cy="269875"/>
          </a:xfrm>
          <a:prstGeom prst="rect">
            <a:avLst/>
          </a:prstGeom>
          <a:solidFill>
            <a:srgbClr val="FF0000"/>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上升沿中断</a:t>
            </a:r>
          </a:p>
        </p:txBody>
      </p:sp>
      <p:sp>
        <p:nvSpPr>
          <p:cNvPr id="597026" name="Rectangle 34"/>
          <p:cNvSpPr>
            <a:spLocks noChangeArrowheads="1"/>
          </p:cNvSpPr>
          <p:nvPr/>
        </p:nvSpPr>
        <p:spPr bwMode="auto">
          <a:xfrm>
            <a:off x="7212013" y="5149851"/>
            <a:ext cx="1117600" cy="269875"/>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下降沿中断</a:t>
            </a:r>
          </a:p>
        </p:txBody>
      </p:sp>
      <p:sp>
        <p:nvSpPr>
          <p:cNvPr id="597027" name="Line 35"/>
          <p:cNvSpPr>
            <a:spLocks noChangeShapeType="1"/>
          </p:cNvSpPr>
          <p:nvPr/>
        </p:nvSpPr>
        <p:spPr bwMode="auto">
          <a:xfrm flipV="1">
            <a:off x="5105400" y="5249863"/>
            <a:ext cx="0" cy="165100"/>
          </a:xfrm>
          <a:prstGeom prst="line">
            <a:avLst/>
          </a:prstGeom>
          <a:noFill/>
          <a:ln w="9525">
            <a:solidFill>
              <a:srgbClr val="FF0000"/>
            </a:solidFill>
            <a:round/>
            <a:headEnd/>
            <a:tailEnd type="none" w="sm" len="sm"/>
          </a:ln>
          <a:effectLst/>
        </p:spPr>
        <p:txBody>
          <a:bodyPr wrap="none" anchor="ctr"/>
          <a:lstStyle/>
          <a:p>
            <a:endParaRPr lang="zh-CN" altLang="en-US"/>
          </a:p>
        </p:txBody>
      </p:sp>
      <p:sp>
        <p:nvSpPr>
          <p:cNvPr id="597028" name="Rectangle 36"/>
          <p:cNvSpPr>
            <a:spLocks noChangeArrowheads="1"/>
          </p:cNvSpPr>
          <p:nvPr/>
        </p:nvSpPr>
        <p:spPr bwMode="auto">
          <a:xfrm>
            <a:off x="5505451" y="4530726"/>
            <a:ext cx="449263" cy="449263"/>
          </a:xfrm>
          <a:prstGeom prst="rect">
            <a:avLst/>
          </a:prstGeom>
          <a:solidFill>
            <a:schemeClr val="bg1"/>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电平</a:t>
            </a:r>
          </a:p>
          <a:p>
            <a:r>
              <a:rPr lang="zh-CN" altLang="en-US" sz="1400">
                <a:latin typeface="Times New Roman" pitchFamily="18" charset="0"/>
                <a:ea typeface="华文新魏" pitchFamily="2" charset="-122"/>
              </a:rPr>
              <a:t>中断</a:t>
            </a:r>
          </a:p>
        </p:txBody>
      </p:sp>
      <p:sp>
        <p:nvSpPr>
          <p:cNvPr id="597029" name="Rectangle 37"/>
          <p:cNvSpPr>
            <a:spLocks noChangeArrowheads="1"/>
          </p:cNvSpPr>
          <p:nvPr/>
        </p:nvSpPr>
        <p:spPr bwMode="auto">
          <a:xfrm>
            <a:off x="5507038" y="5202238"/>
            <a:ext cx="449262" cy="449262"/>
          </a:xfrm>
          <a:prstGeom prst="rect">
            <a:avLst/>
          </a:prstGeom>
          <a:solidFill>
            <a:srgbClr val="FF0000"/>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边沿</a:t>
            </a:r>
          </a:p>
          <a:p>
            <a:r>
              <a:rPr lang="zh-CN" altLang="en-US" sz="1400">
                <a:latin typeface="Times New Roman" pitchFamily="18" charset="0"/>
                <a:ea typeface="华文新魏" pitchFamily="2" charset="-122"/>
              </a:rPr>
              <a:t>中断</a:t>
            </a:r>
          </a:p>
        </p:txBody>
      </p:sp>
      <p:sp>
        <p:nvSpPr>
          <p:cNvPr id="597030" name="Line 38"/>
          <p:cNvSpPr>
            <a:spLocks noChangeShapeType="1"/>
          </p:cNvSpPr>
          <p:nvPr/>
        </p:nvSpPr>
        <p:spPr bwMode="auto">
          <a:xfrm>
            <a:off x="8823325" y="5124450"/>
            <a:ext cx="306388" cy="0"/>
          </a:xfrm>
          <a:prstGeom prst="line">
            <a:avLst/>
          </a:prstGeom>
          <a:noFill/>
          <a:ln w="9525">
            <a:solidFill>
              <a:schemeClr val="tx1"/>
            </a:solidFill>
            <a:round/>
            <a:headEnd type="none" w="sm" len="sm"/>
            <a:tailEnd type="triangle" w="sm" len="sm"/>
          </a:ln>
          <a:effectLst/>
        </p:spPr>
        <p:txBody>
          <a:bodyPr wrap="none" anchor="ctr"/>
          <a:lstStyle/>
          <a:p>
            <a:endParaRPr lang="zh-CN" altLang="en-US"/>
          </a:p>
        </p:txBody>
      </p:sp>
      <p:sp>
        <p:nvSpPr>
          <p:cNvPr id="597031" name="Rectangle 39"/>
          <p:cNvSpPr>
            <a:spLocks noChangeArrowheads="1"/>
          </p:cNvSpPr>
          <p:nvPr/>
        </p:nvSpPr>
        <p:spPr bwMode="auto">
          <a:xfrm>
            <a:off x="9137651" y="5011738"/>
            <a:ext cx="447675" cy="214312"/>
          </a:xfrm>
          <a:prstGeom prst="rect">
            <a:avLst/>
          </a:prstGeom>
          <a:solidFill>
            <a:srgbClr val="CCFFFF"/>
          </a:solidFill>
          <a:ln w="9525" algn="ctr">
            <a:solidFill>
              <a:schemeClr val="tx1"/>
            </a:solidFill>
            <a:miter lim="800000"/>
            <a:headEnd/>
            <a:tailEnd/>
          </a:ln>
          <a:effectLst/>
        </p:spPr>
        <p:txBody>
          <a:bodyPr wrap="none" anchor="ctr"/>
          <a:lstStyle/>
          <a:p>
            <a:r>
              <a:rPr lang="en-US" altLang="zh-CN" sz="1400">
                <a:latin typeface="Times New Roman" pitchFamily="18" charset="0"/>
                <a:ea typeface="华文新魏" pitchFamily="2" charset="-122"/>
              </a:rPr>
              <a:t>VIC</a:t>
            </a:r>
          </a:p>
        </p:txBody>
      </p:sp>
      <p:sp>
        <p:nvSpPr>
          <p:cNvPr id="597032" name="Rectangle 40"/>
          <p:cNvSpPr>
            <a:spLocks noChangeArrowheads="1"/>
          </p:cNvSpPr>
          <p:nvPr/>
        </p:nvSpPr>
        <p:spPr bwMode="auto">
          <a:xfrm>
            <a:off x="8662988" y="4456114"/>
            <a:ext cx="228600" cy="1368425"/>
          </a:xfrm>
          <a:prstGeom prst="rect">
            <a:avLst/>
          </a:prstGeom>
          <a:solidFill>
            <a:srgbClr val="FFCC99"/>
          </a:solidFill>
          <a:ln w="9525"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外</a:t>
            </a:r>
          </a:p>
          <a:p>
            <a:r>
              <a:rPr lang="zh-CN" altLang="en-US" sz="1400">
                <a:latin typeface="Times New Roman" pitchFamily="18" charset="0"/>
                <a:ea typeface="华文新魏" pitchFamily="2" charset="-122"/>
              </a:rPr>
              <a:t>部</a:t>
            </a:r>
          </a:p>
          <a:p>
            <a:r>
              <a:rPr lang="zh-CN" altLang="en-US" sz="1400">
                <a:latin typeface="Times New Roman" pitchFamily="18" charset="0"/>
                <a:ea typeface="华文新魏" pitchFamily="2" charset="-122"/>
              </a:rPr>
              <a:t>中</a:t>
            </a:r>
          </a:p>
          <a:p>
            <a:r>
              <a:rPr lang="zh-CN" altLang="en-US" sz="1400">
                <a:latin typeface="Times New Roman" pitchFamily="18" charset="0"/>
                <a:ea typeface="华文新魏" pitchFamily="2" charset="-122"/>
              </a:rPr>
              <a:t>断</a:t>
            </a:r>
          </a:p>
          <a:p>
            <a:r>
              <a:rPr lang="en-US" altLang="zh-CN" sz="1400">
                <a:latin typeface="Times New Roman" pitchFamily="18" charset="0"/>
                <a:ea typeface="华文新魏" pitchFamily="2" charset="-122"/>
              </a:rPr>
              <a:t>0</a:t>
            </a:r>
          </a:p>
        </p:txBody>
      </p:sp>
      <p:sp>
        <p:nvSpPr>
          <p:cNvPr id="597033" name="Text Box 41"/>
          <p:cNvSpPr txBox="1">
            <a:spLocks noChangeArrowheads="1"/>
          </p:cNvSpPr>
          <p:nvPr/>
        </p:nvSpPr>
        <p:spPr bwMode="auto">
          <a:xfrm>
            <a:off x="6843713" y="5045075"/>
            <a:ext cx="336550" cy="304800"/>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0</a:t>
            </a:r>
          </a:p>
        </p:txBody>
      </p:sp>
      <p:sp>
        <p:nvSpPr>
          <p:cNvPr id="597034" name="Text Box 42"/>
          <p:cNvSpPr txBox="1">
            <a:spLocks noChangeArrowheads="1"/>
          </p:cNvSpPr>
          <p:nvPr/>
        </p:nvSpPr>
        <p:spPr bwMode="auto">
          <a:xfrm>
            <a:off x="6843713" y="4667250"/>
            <a:ext cx="336550" cy="304800"/>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1</a:t>
            </a:r>
          </a:p>
        </p:txBody>
      </p:sp>
      <p:sp>
        <p:nvSpPr>
          <p:cNvPr id="597035" name="Text Box 43"/>
          <p:cNvSpPr txBox="1">
            <a:spLocks noChangeArrowheads="1"/>
          </p:cNvSpPr>
          <p:nvPr/>
        </p:nvSpPr>
        <p:spPr bwMode="auto">
          <a:xfrm>
            <a:off x="6837363" y="5380038"/>
            <a:ext cx="336550" cy="304800"/>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1</a:t>
            </a:r>
          </a:p>
        </p:txBody>
      </p:sp>
      <p:sp>
        <p:nvSpPr>
          <p:cNvPr id="597036" name="Text Box 44"/>
          <p:cNvSpPr txBox="1">
            <a:spLocks noChangeArrowheads="1"/>
          </p:cNvSpPr>
          <p:nvPr/>
        </p:nvSpPr>
        <p:spPr bwMode="auto">
          <a:xfrm>
            <a:off x="4765676" y="4754563"/>
            <a:ext cx="200025" cy="304800"/>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0</a:t>
            </a:r>
          </a:p>
        </p:txBody>
      </p:sp>
      <p:sp>
        <p:nvSpPr>
          <p:cNvPr id="597037" name="Text Box 45"/>
          <p:cNvSpPr txBox="1">
            <a:spLocks noChangeArrowheads="1"/>
          </p:cNvSpPr>
          <p:nvPr/>
        </p:nvSpPr>
        <p:spPr bwMode="auto">
          <a:xfrm>
            <a:off x="4740275" y="4995863"/>
            <a:ext cx="336550" cy="304800"/>
          </a:xfrm>
          <a:prstGeom prst="rect">
            <a:avLst/>
          </a:prstGeom>
          <a:noFill/>
          <a:ln w="9525" algn="ctr">
            <a:noFill/>
            <a:miter lim="800000"/>
            <a:headEnd/>
            <a:tailEnd/>
          </a:ln>
          <a:effectLst/>
        </p:spPr>
        <p:txBody>
          <a:bodyPr>
            <a:spAutoFit/>
          </a:bodyPr>
          <a:lstStyle/>
          <a:p>
            <a:r>
              <a:rPr lang="en-US" altLang="zh-CN" sz="1400">
                <a:latin typeface="Times New Roman" pitchFamily="18" charset="0"/>
                <a:ea typeface="华文新魏" pitchFamily="2" charset="-122"/>
              </a:rPr>
              <a:t>1</a:t>
            </a:r>
          </a:p>
        </p:txBody>
      </p:sp>
      <p:sp>
        <p:nvSpPr>
          <p:cNvPr id="597038" name="Line 46"/>
          <p:cNvSpPr>
            <a:spLocks noChangeShapeType="1"/>
          </p:cNvSpPr>
          <p:nvPr/>
        </p:nvSpPr>
        <p:spPr bwMode="auto">
          <a:xfrm>
            <a:off x="6269038" y="4278313"/>
            <a:ext cx="0" cy="736600"/>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97039" name="Line 47"/>
          <p:cNvSpPr>
            <a:spLocks noChangeShapeType="1"/>
          </p:cNvSpPr>
          <p:nvPr/>
        </p:nvSpPr>
        <p:spPr bwMode="auto">
          <a:xfrm>
            <a:off x="6278563" y="4411663"/>
            <a:ext cx="296862" cy="0"/>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97040" name="Line 48"/>
          <p:cNvSpPr>
            <a:spLocks noChangeShapeType="1"/>
          </p:cNvSpPr>
          <p:nvPr/>
        </p:nvSpPr>
        <p:spPr bwMode="auto">
          <a:xfrm>
            <a:off x="6599238" y="4413251"/>
            <a:ext cx="0" cy="365125"/>
          </a:xfrm>
          <a:prstGeom prst="line">
            <a:avLst/>
          </a:prstGeom>
          <a:noFill/>
          <a:ln w="9525">
            <a:solidFill>
              <a:schemeClr val="tx1"/>
            </a:solidFill>
            <a:prstDash val="dash"/>
            <a:round/>
            <a:headEnd/>
            <a:tailEnd type="triangle" w="sm" len="sm"/>
          </a:ln>
          <a:effectLst/>
        </p:spPr>
        <p:txBody>
          <a:bodyPr wrap="none" anchor="ctr"/>
          <a:lstStyle/>
          <a:p>
            <a:endParaRPr lang="zh-CN" altLang="en-US"/>
          </a:p>
        </p:txBody>
      </p:sp>
      <p:sp>
        <p:nvSpPr>
          <p:cNvPr id="597041" name="Line 49"/>
          <p:cNvSpPr>
            <a:spLocks noChangeShapeType="1"/>
          </p:cNvSpPr>
          <p:nvPr/>
        </p:nvSpPr>
        <p:spPr bwMode="auto">
          <a:xfrm>
            <a:off x="6278563" y="5013325"/>
            <a:ext cx="296862" cy="0"/>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597042" name="Line 50"/>
          <p:cNvSpPr>
            <a:spLocks noChangeShapeType="1"/>
          </p:cNvSpPr>
          <p:nvPr/>
        </p:nvSpPr>
        <p:spPr bwMode="auto">
          <a:xfrm>
            <a:off x="6599238" y="5011738"/>
            <a:ext cx="0" cy="455612"/>
          </a:xfrm>
          <a:prstGeom prst="line">
            <a:avLst/>
          </a:prstGeom>
          <a:noFill/>
          <a:ln w="9525">
            <a:solidFill>
              <a:schemeClr val="tx1"/>
            </a:solidFill>
            <a:prstDash val="dash"/>
            <a:round/>
            <a:headEnd/>
            <a:tailEnd type="triangle" w="sm" len="sm"/>
          </a:ln>
          <a:effectLst/>
        </p:spPr>
        <p:txBody>
          <a:bodyPr wrap="none" anchor="ctr"/>
          <a:lstStyle/>
          <a:p>
            <a:endParaRPr lang="zh-CN" altLang="en-US"/>
          </a:p>
        </p:txBody>
      </p:sp>
      <p:sp>
        <p:nvSpPr>
          <p:cNvPr id="597043" name="Text Box 51"/>
          <p:cNvSpPr txBox="1">
            <a:spLocks noChangeArrowheads="1"/>
          </p:cNvSpPr>
          <p:nvPr/>
        </p:nvSpPr>
        <p:spPr bwMode="auto">
          <a:xfrm>
            <a:off x="1889126" y="6038851"/>
            <a:ext cx="8385175" cy="366713"/>
          </a:xfrm>
          <a:prstGeom prst="rect">
            <a:avLst/>
          </a:prstGeom>
          <a:noFill/>
          <a:ln w="9525" algn="ctr">
            <a:noFill/>
            <a:miter lim="800000"/>
            <a:headEnd/>
            <a:tailEnd/>
          </a:ln>
          <a:effectLst/>
        </p:spPr>
        <p:txBody>
          <a:bodyPr wrap="none">
            <a:spAutoFit/>
          </a:bodyPr>
          <a:lstStyle/>
          <a:p>
            <a:r>
              <a:rPr lang="zh-CN" altLang="en-US">
                <a:solidFill>
                  <a:srgbClr val="FF0000"/>
                </a:solidFill>
                <a:latin typeface="Times New Roman" pitchFamily="18" charset="0"/>
                <a:ea typeface="华文新魏" pitchFamily="2" charset="-122"/>
              </a:rPr>
              <a:t>注意：</a:t>
            </a:r>
            <a:r>
              <a:rPr lang="zh-CN" altLang="en-US">
                <a:latin typeface="Times New Roman" pitchFamily="18" charset="0"/>
                <a:ea typeface="华文新魏" pitchFamily="2" charset="-122"/>
              </a:rPr>
              <a:t>这里仅以</a:t>
            </a:r>
            <a:r>
              <a:rPr lang="en-US" altLang="zh-CN">
                <a:latin typeface="Times New Roman" pitchFamily="18" charset="0"/>
                <a:ea typeface="华文新魏" pitchFamily="2" charset="-122"/>
              </a:rPr>
              <a:t>EINT0</a:t>
            </a:r>
            <a:r>
              <a:rPr lang="zh-CN" altLang="en-US">
                <a:latin typeface="Times New Roman" pitchFamily="18" charset="0"/>
                <a:ea typeface="华文新魏" pitchFamily="2" charset="-122"/>
              </a:rPr>
              <a:t>为例来进行讲解，</a:t>
            </a:r>
            <a:r>
              <a:rPr lang="en-US" altLang="zh-CN">
                <a:latin typeface="Times New Roman" pitchFamily="18" charset="0"/>
                <a:ea typeface="华文新魏" pitchFamily="2" charset="-122"/>
              </a:rPr>
              <a:t>EINT1~EINT3</a:t>
            </a:r>
            <a:r>
              <a:rPr lang="zh-CN" altLang="en-US">
                <a:latin typeface="Times New Roman" pitchFamily="18" charset="0"/>
                <a:ea typeface="华文新魏" pitchFamily="2" charset="-122"/>
              </a:rPr>
              <a:t>与之类似，此处不再重复。</a:t>
            </a:r>
          </a:p>
        </p:txBody>
      </p:sp>
      <p:sp>
        <p:nvSpPr>
          <p:cNvPr id="597044" name="Text Box 52"/>
          <p:cNvSpPr txBox="1">
            <a:spLocks noChangeArrowheads="1"/>
          </p:cNvSpPr>
          <p:nvPr/>
        </p:nvSpPr>
        <p:spPr bwMode="auto">
          <a:xfrm>
            <a:off x="1927225" y="2225675"/>
            <a:ext cx="8485188" cy="1569660"/>
          </a:xfrm>
          <a:prstGeom prst="rect">
            <a:avLst/>
          </a:prstGeom>
          <a:noFill/>
          <a:ln w="19050" algn="ctr">
            <a:noFill/>
            <a:miter lim="800000"/>
            <a:headEnd/>
            <a:tailEnd/>
          </a:ln>
          <a:effectLst/>
        </p:spPr>
        <p:txBody>
          <a:bodyPr>
            <a:spAutoFit/>
          </a:bodyPr>
          <a:lstStyle/>
          <a:p>
            <a:pPr algn="l"/>
            <a:r>
              <a:rPr lang="en-US" altLang="zh-CN" sz="2400">
                <a:latin typeface="Times New Roman" pitchFamily="18" charset="0"/>
                <a:ea typeface="华文新魏" pitchFamily="2" charset="-122"/>
              </a:rPr>
              <a:t>         LPC2000</a:t>
            </a:r>
            <a:r>
              <a:rPr lang="zh-CN" altLang="en-US" sz="2400">
                <a:latin typeface="Times New Roman" pitchFamily="18" charset="0"/>
                <a:ea typeface="华文新魏" pitchFamily="2" charset="-122"/>
              </a:rPr>
              <a:t>系列</a:t>
            </a:r>
            <a:r>
              <a:rPr lang="en-US" altLang="zh-CN" sz="2400">
                <a:latin typeface="Times New Roman" pitchFamily="18" charset="0"/>
                <a:ea typeface="华文新魏" pitchFamily="2" charset="-122"/>
              </a:rPr>
              <a:t>ARM</a:t>
            </a:r>
            <a:r>
              <a:rPr lang="zh-CN" altLang="en-US" sz="2400">
                <a:latin typeface="Times New Roman" pitchFamily="18" charset="0"/>
                <a:ea typeface="华文新魏" pitchFamily="2" charset="-122"/>
              </a:rPr>
              <a:t>的边沿中断可以设置为</a:t>
            </a:r>
            <a:r>
              <a:rPr lang="zh-CN" altLang="en-US" sz="2400">
                <a:solidFill>
                  <a:srgbClr val="FF0000"/>
                </a:solidFill>
                <a:latin typeface="Times New Roman" pitchFamily="18" charset="0"/>
                <a:ea typeface="华文新魏" pitchFamily="2" charset="-122"/>
              </a:rPr>
              <a:t>上升沿</a:t>
            </a:r>
            <a:r>
              <a:rPr lang="zh-CN" altLang="en-US" sz="2400">
                <a:latin typeface="Times New Roman" pitchFamily="18" charset="0"/>
                <a:ea typeface="华文新魏" pitchFamily="2" charset="-122"/>
              </a:rPr>
              <a:t>触发和</a:t>
            </a:r>
            <a:r>
              <a:rPr lang="zh-CN" altLang="en-US" sz="2400">
                <a:solidFill>
                  <a:srgbClr val="FF0000"/>
                </a:solidFill>
                <a:latin typeface="Times New Roman" pitchFamily="18" charset="0"/>
                <a:ea typeface="华文新魏" pitchFamily="2" charset="-122"/>
              </a:rPr>
              <a:t>下降沿</a:t>
            </a:r>
            <a:r>
              <a:rPr lang="zh-CN" altLang="en-US" sz="2400">
                <a:latin typeface="Times New Roman" pitchFamily="18" charset="0"/>
                <a:ea typeface="华文新魏" pitchFamily="2" charset="-122"/>
              </a:rPr>
              <a:t>触发。</a:t>
            </a:r>
            <a:endParaRPr lang="zh-CN" altLang="en-US" sz="2400">
              <a:solidFill>
                <a:srgbClr val="FF0000"/>
              </a:solidFill>
              <a:latin typeface="Times New Roman" pitchFamily="18" charset="0"/>
              <a:ea typeface="华文新魏" pitchFamily="2" charset="-122"/>
            </a:endParaRPr>
          </a:p>
          <a:p>
            <a:pPr lvl="1" algn="l">
              <a:buFont typeface="Wingdings" pitchFamily="2" charset="2"/>
              <a:buChar char="Ø"/>
            </a:pPr>
            <a:r>
              <a:rPr lang="zh-CN" altLang="en-US" sz="2400">
                <a:latin typeface="Times New Roman" pitchFamily="18" charset="0"/>
                <a:ea typeface="华文新魏" pitchFamily="2" charset="-122"/>
              </a:rPr>
              <a:t> 当</a:t>
            </a:r>
            <a:r>
              <a:rPr lang="en-US" altLang="zh-CN" sz="2400">
                <a:latin typeface="Times New Roman" pitchFamily="18" charset="0"/>
              </a:rPr>
              <a:t>EXTPOLAR[0]</a:t>
            </a:r>
            <a:r>
              <a:rPr lang="en-US" altLang="zh-CN" sz="2400">
                <a:latin typeface="Times New Roman" pitchFamily="18" charset="0"/>
                <a:ea typeface="华文新魏" pitchFamily="2" charset="-122"/>
              </a:rPr>
              <a:t> = 0</a:t>
            </a:r>
            <a:r>
              <a:rPr lang="zh-CN" altLang="en-US" sz="2400">
                <a:latin typeface="Times New Roman" pitchFamily="18" charset="0"/>
                <a:ea typeface="华文新魏" pitchFamily="2" charset="-122"/>
              </a:rPr>
              <a:t>时，外部中断</a:t>
            </a:r>
            <a:r>
              <a:rPr lang="en-US" altLang="zh-CN" sz="2400">
                <a:latin typeface="Times New Roman" pitchFamily="18" charset="0"/>
                <a:ea typeface="华文新魏" pitchFamily="2" charset="-122"/>
              </a:rPr>
              <a:t>0</a:t>
            </a:r>
            <a:r>
              <a:rPr lang="zh-CN" altLang="en-US" sz="2400">
                <a:latin typeface="Times New Roman" pitchFamily="18" charset="0"/>
                <a:ea typeface="华文新魏" pitchFamily="2" charset="-122"/>
              </a:rPr>
              <a:t>设置为下降沿触发。</a:t>
            </a:r>
          </a:p>
          <a:p>
            <a:pPr lvl="1" algn="l">
              <a:buFont typeface="Wingdings" pitchFamily="2" charset="2"/>
              <a:buChar char="Ø"/>
            </a:pPr>
            <a:r>
              <a:rPr lang="zh-CN" altLang="en-US" sz="2400">
                <a:solidFill>
                  <a:srgbClr val="FF0000"/>
                </a:solidFill>
                <a:latin typeface="Times New Roman" pitchFamily="18" charset="0"/>
                <a:ea typeface="华文新魏" pitchFamily="2" charset="-122"/>
              </a:rPr>
              <a:t> 当</a:t>
            </a:r>
            <a:r>
              <a:rPr lang="en-US" altLang="zh-CN" sz="2400">
                <a:solidFill>
                  <a:srgbClr val="FF0000"/>
                </a:solidFill>
                <a:latin typeface="Times New Roman" pitchFamily="18" charset="0"/>
                <a:ea typeface="华文新魏" pitchFamily="2" charset="-122"/>
              </a:rPr>
              <a:t>EXTPOLAR[0] = 1</a:t>
            </a:r>
            <a:r>
              <a:rPr lang="zh-CN" altLang="en-US" sz="2400">
                <a:solidFill>
                  <a:srgbClr val="FF0000"/>
                </a:solidFill>
                <a:latin typeface="Times New Roman" pitchFamily="18" charset="0"/>
                <a:ea typeface="华文新魏" pitchFamily="2" charset="-122"/>
              </a:rPr>
              <a:t>时，外部中断</a:t>
            </a:r>
            <a:r>
              <a:rPr lang="en-US" altLang="zh-CN" sz="2400">
                <a:solidFill>
                  <a:srgbClr val="FF0000"/>
                </a:solidFill>
                <a:latin typeface="Times New Roman" pitchFamily="18" charset="0"/>
                <a:ea typeface="华文新魏" pitchFamily="2" charset="-122"/>
              </a:rPr>
              <a:t>0</a:t>
            </a:r>
            <a:r>
              <a:rPr lang="zh-CN" altLang="en-US" sz="2400">
                <a:solidFill>
                  <a:srgbClr val="FF0000"/>
                </a:solidFill>
                <a:latin typeface="Times New Roman" pitchFamily="18" charset="0"/>
                <a:ea typeface="华文新魏" pitchFamily="2" charset="-122"/>
              </a:rPr>
              <a:t>设置为上升沿触发。</a:t>
            </a:r>
          </a:p>
        </p:txBody>
      </p:sp>
      <p:sp>
        <p:nvSpPr>
          <p:cNvPr id="597045" name="Freeform 53"/>
          <p:cNvSpPr>
            <a:spLocks/>
          </p:cNvSpPr>
          <p:nvPr/>
        </p:nvSpPr>
        <p:spPr bwMode="auto">
          <a:xfrm>
            <a:off x="1282700" y="3578225"/>
            <a:ext cx="4114800" cy="369332"/>
          </a:xfrm>
          <a:custGeom>
            <a:avLst/>
            <a:gdLst/>
            <a:ahLst/>
            <a:cxnLst>
              <a:cxn ang="0">
                <a:pos x="711" y="0"/>
              </a:cxn>
              <a:cxn ang="0">
                <a:pos x="313" y="152"/>
              </a:cxn>
              <a:cxn ang="0">
                <a:pos x="2592" y="355"/>
              </a:cxn>
            </a:cxnLst>
            <a:rect l="0" t="0" r="r" b="b"/>
            <a:pathLst>
              <a:path w="2592" h="355">
                <a:moveTo>
                  <a:pt x="711" y="0"/>
                </a:moveTo>
                <a:cubicBezTo>
                  <a:pt x="355" y="46"/>
                  <a:pt x="0" y="93"/>
                  <a:pt x="313" y="152"/>
                </a:cubicBezTo>
                <a:cubicBezTo>
                  <a:pt x="626" y="211"/>
                  <a:pt x="1609" y="283"/>
                  <a:pt x="2592" y="355"/>
                </a:cubicBezTo>
              </a:path>
            </a:pathLst>
          </a:custGeom>
          <a:noFill/>
          <a:ln w="19050" cap="flat" cmpd="sng">
            <a:solidFill>
              <a:srgbClr val="FF0000"/>
            </a:solidFill>
            <a:prstDash val="solid"/>
            <a:round/>
            <a:headEnd/>
            <a:tailEnd type="triangle" w="med" len="med"/>
          </a:ln>
          <a:effectLst/>
        </p:spPr>
        <p:txBody>
          <a:bodyPr>
            <a:spAutoFit/>
          </a:bodyPr>
          <a:lstStyle/>
          <a:p>
            <a:endParaRPr lang="zh-CN" altLang="en-US"/>
          </a:p>
        </p:txBody>
      </p:sp>
      <p:grpSp>
        <p:nvGrpSpPr>
          <p:cNvPr id="597052" name="Group 60"/>
          <p:cNvGrpSpPr>
            <a:grpSpLocks/>
          </p:cNvGrpSpPr>
          <p:nvPr/>
        </p:nvGrpSpPr>
        <p:grpSpPr bwMode="auto">
          <a:xfrm>
            <a:off x="2406650" y="4589463"/>
            <a:ext cx="889000" cy="811212"/>
            <a:chOff x="532" y="3187"/>
            <a:chExt cx="560" cy="511"/>
          </a:xfrm>
        </p:grpSpPr>
        <p:sp>
          <p:nvSpPr>
            <p:cNvPr id="597053" name="Rectangle 61"/>
            <p:cNvSpPr>
              <a:spLocks noChangeArrowheads="1"/>
            </p:cNvSpPr>
            <p:nvPr/>
          </p:nvSpPr>
          <p:spPr bwMode="auto">
            <a:xfrm>
              <a:off x="532" y="3358"/>
              <a:ext cx="560" cy="34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597054" name="Text Box 62"/>
            <p:cNvSpPr txBox="1">
              <a:spLocks noChangeArrowheads="1"/>
            </p:cNvSpPr>
            <p:nvPr/>
          </p:nvSpPr>
          <p:spPr bwMode="auto">
            <a:xfrm>
              <a:off x="586" y="3187"/>
              <a:ext cx="452" cy="192"/>
            </a:xfrm>
            <a:prstGeom prst="rect">
              <a:avLst/>
            </a:prstGeom>
            <a:noFill/>
            <a:ln w="9525" algn="ctr">
              <a:noFill/>
              <a:miter lim="800000"/>
              <a:headEnd/>
              <a:tailEnd/>
            </a:ln>
            <a:effectLst/>
          </p:spPr>
          <p:txBody>
            <a:bodyPr wrap="none">
              <a:spAutoFit/>
            </a:bodyPr>
            <a:lstStyle/>
            <a:p>
              <a:r>
                <a:rPr lang="zh-CN" altLang="en-US" sz="1400">
                  <a:latin typeface="Arial" charset="0"/>
                  <a:ea typeface="华文新魏" pitchFamily="2" charset="-122"/>
                </a:rPr>
                <a:t>上升沿</a:t>
              </a:r>
            </a:p>
          </p:txBody>
        </p:sp>
        <p:sp>
          <p:nvSpPr>
            <p:cNvPr id="597055" name="Line 63"/>
            <p:cNvSpPr>
              <a:spLocks noChangeShapeType="1"/>
            </p:cNvSpPr>
            <p:nvPr/>
          </p:nvSpPr>
          <p:spPr bwMode="auto">
            <a:xfrm>
              <a:off x="584" y="3632"/>
              <a:ext cx="210" cy="0"/>
            </a:xfrm>
            <a:prstGeom prst="line">
              <a:avLst/>
            </a:prstGeom>
            <a:noFill/>
            <a:ln w="9525">
              <a:solidFill>
                <a:schemeClr val="tx1"/>
              </a:solidFill>
              <a:round/>
              <a:headEnd/>
              <a:tailEnd/>
            </a:ln>
            <a:effectLst/>
          </p:spPr>
          <p:txBody>
            <a:bodyPr wrap="none" anchor="ctr"/>
            <a:lstStyle/>
            <a:p>
              <a:endParaRPr lang="zh-CN" altLang="en-US"/>
            </a:p>
          </p:txBody>
        </p:sp>
        <p:sp>
          <p:nvSpPr>
            <p:cNvPr id="597056" name="Line 64"/>
            <p:cNvSpPr>
              <a:spLocks noChangeShapeType="1"/>
            </p:cNvSpPr>
            <p:nvPr/>
          </p:nvSpPr>
          <p:spPr bwMode="auto">
            <a:xfrm>
              <a:off x="795" y="3423"/>
              <a:ext cx="210" cy="0"/>
            </a:xfrm>
            <a:prstGeom prst="line">
              <a:avLst/>
            </a:prstGeom>
            <a:noFill/>
            <a:ln w="9525">
              <a:solidFill>
                <a:schemeClr val="tx1"/>
              </a:solidFill>
              <a:round/>
              <a:headEnd/>
              <a:tailEnd/>
            </a:ln>
            <a:effectLst/>
          </p:spPr>
          <p:txBody>
            <a:bodyPr wrap="none" anchor="ctr"/>
            <a:lstStyle/>
            <a:p>
              <a:endParaRPr lang="zh-CN" altLang="en-US"/>
            </a:p>
          </p:txBody>
        </p:sp>
        <p:sp>
          <p:nvSpPr>
            <p:cNvPr id="597057" name="Line 65"/>
            <p:cNvSpPr>
              <a:spLocks noChangeShapeType="1"/>
            </p:cNvSpPr>
            <p:nvPr/>
          </p:nvSpPr>
          <p:spPr bwMode="auto">
            <a:xfrm>
              <a:off x="794" y="3420"/>
              <a:ext cx="0" cy="207"/>
            </a:xfrm>
            <a:prstGeom prst="line">
              <a:avLst/>
            </a:prstGeom>
            <a:noFill/>
            <a:ln w="9525">
              <a:solidFill>
                <a:srgbClr val="FF0000"/>
              </a:solidFill>
              <a:round/>
              <a:headEnd type="triangle" w="med" len="med"/>
              <a:tailEnd/>
            </a:ln>
            <a:effec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97045"/>
                                        </p:tgtEl>
                                        <p:attrNameLst>
                                          <p:attrName>style.visibility</p:attrName>
                                        </p:attrNameLst>
                                      </p:cBhvr>
                                      <p:to>
                                        <p:strVal val="visible"/>
                                      </p:to>
                                    </p:set>
                                    <p:animEffect transition="in" filter="wipe(up)">
                                      <p:cBhvr>
                                        <p:cTn id="7" dur="500"/>
                                        <p:tgtEl>
                                          <p:spTgt spid="597045"/>
                                        </p:tgtEl>
                                      </p:cBhvr>
                                    </p:animEffect>
                                  </p:childTnLst>
                                </p:cTn>
                              </p:par>
                            </p:childTnLst>
                          </p:cTn>
                        </p:par>
                        <p:par>
                          <p:cTn id="8" fill="hold">
                            <p:stCondLst>
                              <p:cond delay="500"/>
                            </p:stCondLst>
                            <p:childTnLst>
                              <p:par>
                                <p:cTn id="9" presetID="35" presetClass="emph" presetSubtype="0" fill="hold" nodeType="afterEffect">
                                  <p:stCondLst>
                                    <p:cond delay="0"/>
                                  </p:stCondLst>
                                  <p:childTnLst>
                                    <p:anim calcmode="discrete" valueType="str">
                                      <p:cBhvr>
                                        <p:cTn id="10" dur="500" fill="hold"/>
                                        <p:tgtEl>
                                          <p:spTgt spid="59705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7045"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ChangeArrowheads="1"/>
          </p:cNvSpPr>
          <p:nvPr/>
        </p:nvSpPr>
        <p:spPr bwMode="auto">
          <a:xfrm>
            <a:off x="2209800" y="609600"/>
            <a:ext cx="7772400" cy="1143000"/>
          </a:xfrm>
          <a:prstGeom prst="rect">
            <a:avLst/>
          </a:prstGeom>
          <a:noFill/>
          <a:ln w="9525">
            <a:noFill/>
            <a:miter lim="800000"/>
            <a:headEnd/>
            <a:tailEnd/>
          </a:ln>
          <a:effectLst/>
        </p:spPr>
        <p:txBody>
          <a:bodyPr anchor="ctr"/>
          <a:lstStyle/>
          <a:p>
            <a:r>
              <a:rPr lang="en-US" altLang="zh-CN" sz="4400" dirty="0"/>
              <a:t>5.3.6</a:t>
            </a:r>
            <a:r>
              <a:rPr lang="en-US" altLang="zh-CN" sz="4400" dirty="0">
                <a:solidFill>
                  <a:schemeClr val="tx2"/>
                </a:solidFill>
                <a:latin typeface="Times New Roman" pitchFamily="18" charset="0"/>
              </a:rPr>
              <a:t>  </a:t>
            </a:r>
            <a:r>
              <a:rPr lang="zh-CN" altLang="en-US" sz="4400" dirty="0">
                <a:solidFill>
                  <a:schemeClr val="tx2"/>
                </a:solidFill>
                <a:latin typeface="Times New Roman" pitchFamily="18" charset="0"/>
              </a:rPr>
              <a:t>外部中断输入</a:t>
            </a:r>
          </a:p>
        </p:txBody>
      </p:sp>
      <p:sp>
        <p:nvSpPr>
          <p:cNvPr id="582659" name="Rectangle 3"/>
          <p:cNvSpPr>
            <a:spLocks noChangeArrowheads="1"/>
          </p:cNvSpPr>
          <p:nvPr/>
        </p:nvSpPr>
        <p:spPr bwMode="auto">
          <a:xfrm>
            <a:off x="2209800" y="17002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外部中断的设置</a:t>
            </a:r>
            <a:r>
              <a:rPr lang="en-US" altLang="zh-CN" sz="3200">
                <a:latin typeface="Times New Roman" pitchFamily="18" charset="0"/>
              </a:rPr>
              <a:t>——</a:t>
            </a:r>
            <a:r>
              <a:rPr lang="zh-CN" altLang="en-US" sz="3200">
                <a:latin typeface="Times New Roman" pitchFamily="18" charset="0"/>
              </a:rPr>
              <a:t>中断标志</a:t>
            </a:r>
          </a:p>
        </p:txBody>
      </p:sp>
      <p:grpSp>
        <p:nvGrpSpPr>
          <p:cNvPr id="582675" name="Group 19"/>
          <p:cNvGrpSpPr>
            <a:grpSpLocks/>
          </p:cNvGrpSpPr>
          <p:nvPr/>
        </p:nvGrpSpPr>
        <p:grpSpPr bwMode="auto">
          <a:xfrm>
            <a:off x="3987800" y="2560639"/>
            <a:ext cx="3930650" cy="2994025"/>
            <a:chOff x="1552" y="1613"/>
            <a:chExt cx="2476" cy="1886"/>
          </a:xfrm>
        </p:grpSpPr>
        <p:sp>
          <p:nvSpPr>
            <p:cNvPr id="582660" name="Rectangle 4"/>
            <p:cNvSpPr>
              <a:spLocks noChangeArrowheads="1"/>
            </p:cNvSpPr>
            <p:nvPr/>
          </p:nvSpPr>
          <p:spPr bwMode="auto">
            <a:xfrm>
              <a:off x="2752" y="1960"/>
              <a:ext cx="1244" cy="1539"/>
            </a:xfrm>
            <a:prstGeom prst="rect">
              <a:avLst/>
            </a:prstGeom>
            <a:solidFill>
              <a:srgbClr val="FFCC99"/>
            </a:solidFill>
            <a:ln w="9525" algn="ctr">
              <a:solidFill>
                <a:schemeClr val="tx1"/>
              </a:solidFill>
              <a:miter lim="800000"/>
              <a:headEnd/>
              <a:tailEnd/>
            </a:ln>
            <a:effectLst/>
          </p:spPr>
          <p:txBody>
            <a:bodyPr wrap="none" anchor="ctr"/>
            <a:lstStyle/>
            <a:p>
              <a:endParaRPr lang="zh-CN" altLang="zh-CN" sz="1600">
                <a:latin typeface="Times New Roman" pitchFamily="18" charset="0"/>
                <a:ea typeface="华文新魏" pitchFamily="2" charset="-122"/>
              </a:endParaRPr>
            </a:p>
          </p:txBody>
        </p:sp>
        <p:sp>
          <p:nvSpPr>
            <p:cNvPr id="582661" name="Rectangle 5"/>
            <p:cNvSpPr>
              <a:spLocks noChangeArrowheads="1"/>
            </p:cNvSpPr>
            <p:nvPr/>
          </p:nvSpPr>
          <p:spPr bwMode="auto">
            <a:xfrm>
              <a:off x="2752" y="2011"/>
              <a:ext cx="744" cy="199"/>
            </a:xfrm>
            <a:prstGeom prst="rect">
              <a:avLst/>
            </a:prstGeom>
            <a:solidFill>
              <a:schemeClr val="bg1"/>
            </a:solidFill>
            <a:ln w="9525" algn="ctr">
              <a:solidFill>
                <a:schemeClr val="tx1"/>
              </a:solidFill>
              <a:miter lim="800000"/>
              <a:headEnd/>
              <a:tailEnd/>
            </a:ln>
            <a:effectLst/>
          </p:spPr>
          <p:txBody>
            <a:bodyPr wrap="none" anchor="ctr"/>
            <a:lstStyle/>
            <a:p>
              <a:r>
                <a:rPr lang="en-US" altLang="zh-CN" sz="1600">
                  <a:latin typeface="Times New Roman" pitchFamily="18" charset="0"/>
                  <a:ea typeface="华文新魏" pitchFamily="2" charset="-122"/>
                </a:rPr>
                <a:t>EXTINT[0]</a:t>
              </a:r>
            </a:p>
          </p:txBody>
        </p:sp>
        <p:sp>
          <p:nvSpPr>
            <p:cNvPr id="582662" name="Rectangle 6"/>
            <p:cNvSpPr>
              <a:spLocks noChangeArrowheads="1"/>
            </p:cNvSpPr>
            <p:nvPr/>
          </p:nvSpPr>
          <p:spPr bwMode="auto">
            <a:xfrm>
              <a:off x="2752" y="2419"/>
              <a:ext cx="738" cy="199"/>
            </a:xfrm>
            <a:prstGeom prst="rect">
              <a:avLst/>
            </a:prstGeom>
            <a:solidFill>
              <a:schemeClr val="bg1"/>
            </a:solidFill>
            <a:ln w="9525" algn="ctr">
              <a:solidFill>
                <a:schemeClr val="tx1"/>
              </a:solidFill>
              <a:miter lim="800000"/>
              <a:headEnd/>
              <a:tailEnd/>
            </a:ln>
            <a:effectLst/>
          </p:spPr>
          <p:txBody>
            <a:bodyPr wrap="none" anchor="ctr"/>
            <a:lstStyle/>
            <a:p>
              <a:r>
                <a:rPr lang="en-US" altLang="zh-CN" sz="1600">
                  <a:latin typeface="Times New Roman" pitchFamily="18" charset="0"/>
                  <a:ea typeface="华文新魏" pitchFamily="2" charset="-122"/>
                </a:rPr>
                <a:t>EXTINT[1]</a:t>
              </a:r>
            </a:p>
          </p:txBody>
        </p:sp>
        <p:sp>
          <p:nvSpPr>
            <p:cNvPr id="582663" name="Rectangle 7"/>
            <p:cNvSpPr>
              <a:spLocks noChangeArrowheads="1"/>
            </p:cNvSpPr>
            <p:nvPr/>
          </p:nvSpPr>
          <p:spPr bwMode="auto">
            <a:xfrm>
              <a:off x="2752" y="2846"/>
              <a:ext cx="738" cy="199"/>
            </a:xfrm>
            <a:prstGeom prst="rect">
              <a:avLst/>
            </a:prstGeom>
            <a:solidFill>
              <a:schemeClr val="bg1"/>
            </a:solidFill>
            <a:ln w="9525" algn="ctr">
              <a:solidFill>
                <a:schemeClr val="tx1"/>
              </a:solidFill>
              <a:miter lim="800000"/>
              <a:headEnd/>
              <a:tailEnd/>
            </a:ln>
            <a:effectLst/>
          </p:spPr>
          <p:txBody>
            <a:bodyPr wrap="none" anchor="ctr"/>
            <a:lstStyle/>
            <a:p>
              <a:r>
                <a:rPr lang="en-US" altLang="zh-CN" sz="1600">
                  <a:latin typeface="Times New Roman" pitchFamily="18" charset="0"/>
                  <a:ea typeface="华文新魏" pitchFamily="2" charset="-122"/>
                </a:rPr>
                <a:t>EXTINT[2]</a:t>
              </a:r>
            </a:p>
          </p:txBody>
        </p:sp>
        <p:sp>
          <p:nvSpPr>
            <p:cNvPr id="582664" name="Rectangle 8"/>
            <p:cNvSpPr>
              <a:spLocks noChangeArrowheads="1"/>
            </p:cNvSpPr>
            <p:nvPr/>
          </p:nvSpPr>
          <p:spPr bwMode="auto">
            <a:xfrm>
              <a:off x="2752" y="3247"/>
              <a:ext cx="744" cy="199"/>
            </a:xfrm>
            <a:prstGeom prst="rect">
              <a:avLst/>
            </a:prstGeom>
            <a:solidFill>
              <a:schemeClr val="bg1"/>
            </a:solidFill>
            <a:ln w="9525" algn="ctr">
              <a:solidFill>
                <a:schemeClr val="tx1"/>
              </a:solidFill>
              <a:miter lim="800000"/>
              <a:headEnd/>
              <a:tailEnd/>
            </a:ln>
            <a:effectLst/>
          </p:spPr>
          <p:txBody>
            <a:bodyPr wrap="none" anchor="ctr"/>
            <a:lstStyle/>
            <a:p>
              <a:r>
                <a:rPr lang="en-US" altLang="zh-CN" sz="1600">
                  <a:latin typeface="Times New Roman" pitchFamily="18" charset="0"/>
                  <a:ea typeface="华文新魏" pitchFamily="2" charset="-122"/>
                </a:rPr>
                <a:t>EXTINT[3]</a:t>
              </a:r>
            </a:p>
          </p:txBody>
        </p:sp>
        <p:sp>
          <p:nvSpPr>
            <p:cNvPr id="582665" name="Line 9"/>
            <p:cNvSpPr>
              <a:spLocks noChangeShapeType="1"/>
            </p:cNvSpPr>
            <p:nvPr/>
          </p:nvSpPr>
          <p:spPr bwMode="auto">
            <a:xfrm>
              <a:off x="2431" y="2117"/>
              <a:ext cx="321"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2666" name="Line 10"/>
            <p:cNvSpPr>
              <a:spLocks noChangeShapeType="1"/>
            </p:cNvSpPr>
            <p:nvPr/>
          </p:nvSpPr>
          <p:spPr bwMode="auto">
            <a:xfrm>
              <a:off x="2431" y="2525"/>
              <a:ext cx="321"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2667" name="Line 11"/>
            <p:cNvSpPr>
              <a:spLocks noChangeShapeType="1"/>
            </p:cNvSpPr>
            <p:nvPr/>
          </p:nvSpPr>
          <p:spPr bwMode="auto">
            <a:xfrm>
              <a:off x="2431" y="2950"/>
              <a:ext cx="321"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2668" name="Line 12"/>
            <p:cNvSpPr>
              <a:spLocks noChangeShapeType="1"/>
            </p:cNvSpPr>
            <p:nvPr/>
          </p:nvSpPr>
          <p:spPr bwMode="auto">
            <a:xfrm>
              <a:off x="2431" y="3348"/>
              <a:ext cx="321"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582669" name="Rectangle 13"/>
            <p:cNvSpPr>
              <a:spLocks noChangeArrowheads="1"/>
            </p:cNvSpPr>
            <p:nvPr/>
          </p:nvSpPr>
          <p:spPr bwMode="auto">
            <a:xfrm>
              <a:off x="1556" y="2011"/>
              <a:ext cx="994" cy="199"/>
            </a:xfrm>
            <a:prstGeom prst="rect">
              <a:avLst/>
            </a:prstGeom>
            <a:solidFill>
              <a:srgbClr val="FFCC99"/>
            </a:solidFill>
            <a:ln w="9525" algn="ctr">
              <a:solidFill>
                <a:schemeClr val="tx1"/>
              </a:solidFill>
              <a:miter lim="800000"/>
              <a:headEnd/>
              <a:tailEnd/>
            </a:ln>
            <a:effectLst/>
          </p:spPr>
          <p:txBody>
            <a:bodyPr wrap="none" anchor="ctr"/>
            <a:lstStyle/>
            <a:p>
              <a:r>
                <a:rPr lang="zh-CN" altLang="en-US" sz="1600">
                  <a:latin typeface="Times New Roman" pitchFamily="18" charset="0"/>
                  <a:ea typeface="华文新魏" pitchFamily="2" charset="-122"/>
                </a:rPr>
                <a:t>触发外部中断</a:t>
              </a:r>
              <a:r>
                <a:rPr lang="en-US" altLang="zh-CN" sz="1600">
                  <a:latin typeface="Times New Roman" pitchFamily="18" charset="0"/>
                  <a:ea typeface="华文新魏" pitchFamily="2" charset="-122"/>
                </a:rPr>
                <a:t>0</a:t>
              </a:r>
            </a:p>
          </p:txBody>
        </p:sp>
        <p:sp>
          <p:nvSpPr>
            <p:cNvPr id="582670" name="Rectangle 14"/>
            <p:cNvSpPr>
              <a:spLocks noChangeArrowheads="1"/>
            </p:cNvSpPr>
            <p:nvPr/>
          </p:nvSpPr>
          <p:spPr bwMode="auto">
            <a:xfrm>
              <a:off x="1554" y="2417"/>
              <a:ext cx="994" cy="200"/>
            </a:xfrm>
            <a:prstGeom prst="rect">
              <a:avLst/>
            </a:prstGeom>
            <a:solidFill>
              <a:srgbClr val="FFCC99"/>
            </a:solidFill>
            <a:ln w="9525" algn="ctr">
              <a:solidFill>
                <a:schemeClr val="tx1"/>
              </a:solidFill>
              <a:miter lim="800000"/>
              <a:headEnd/>
              <a:tailEnd/>
            </a:ln>
            <a:effectLst/>
          </p:spPr>
          <p:txBody>
            <a:bodyPr wrap="none" anchor="ctr"/>
            <a:lstStyle/>
            <a:p>
              <a:r>
                <a:rPr lang="zh-CN" altLang="en-US" sz="1600">
                  <a:latin typeface="Times New Roman" pitchFamily="18" charset="0"/>
                  <a:ea typeface="华文新魏" pitchFamily="2" charset="-122"/>
                </a:rPr>
                <a:t>触发外部中断</a:t>
              </a:r>
              <a:r>
                <a:rPr lang="en-US" altLang="zh-CN" sz="1600">
                  <a:latin typeface="Times New Roman" pitchFamily="18" charset="0"/>
                  <a:ea typeface="华文新魏" pitchFamily="2" charset="-122"/>
                </a:rPr>
                <a:t>1</a:t>
              </a:r>
            </a:p>
          </p:txBody>
        </p:sp>
        <p:sp>
          <p:nvSpPr>
            <p:cNvPr id="582671" name="Rectangle 15"/>
            <p:cNvSpPr>
              <a:spLocks noChangeArrowheads="1"/>
            </p:cNvSpPr>
            <p:nvPr/>
          </p:nvSpPr>
          <p:spPr bwMode="auto">
            <a:xfrm>
              <a:off x="1556" y="2843"/>
              <a:ext cx="993" cy="199"/>
            </a:xfrm>
            <a:prstGeom prst="rect">
              <a:avLst/>
            </a:prstGeom>
            <a:solidFill>
              <a:srgbClr val="FFCC99"/>
            </a:solidFill>
            <a:ln w="9525" algn="ctr">
              <a:solidFill>
                <a:schemeClr val="tx1"/>
              </a:solidFill>
              <a:miter lim="800000"/>
              <a:headEnd/>
              <a:tailEnd/>
            </a:ln>
            <a:effectLst/>
          </p:spPr>
          <p:txBody>
            <a:bodyPr wrap="none" anchor="ctr"/>
            <a:lstStyle/>
            <a:p>
              <a:r>
                <a:rPr lang="zh-CN" altLang="en-US" sz="1600">
                  <a:latin typeface="Times New Roman" pitchFamily="18" charset="0"/>
                  <a:ea typeface="华文新魏" pitchFamily="2" charset="-122"/>
                </a:rPr>
                <a:t>触发外部中断</a:t>
              </a:r>
              <a:r>
                <a:rPr lang="en-US" altLang="zh-CN" sz="1600">
                  <a:latin typeface="Times New Roman" pitchFamily="18" charset="0"/>
                  <a:ea typeface="华文新魏" pitchFamily="2" charset="-122"/>
                </a:rPr>
                <a:t>2</a:t>
              </a:r>
            </a:p>
          </p:txBody>
        </p:sp>
        <p:sp>
          <p:nvSpPr>
            <p:cNvPr id="582672" name="Rectangle 16"/>
            <p:cNvSpPr>
              <a:spLocks noChangeArrowheads="1"/>
            </p:cNvSpPr>
            <p:nvPr/>
          </p:nvSpPr>
          <p:spPr bwMode="auto">
            <a:xfrm>
              <a:off x="1552" y="3248"/>
              <a:ext cx="994" cy="199"/>
            </a:xfrm>
            <a:prstGeom prst="rect">
              <a:avLst/>
            </a:prstGeom>
            <a:solidFill>
              <a:srgbClr val="FFCC99"/>
            </a:solidFill>
            <a:ln w="9525" algn="ctr">
              <a:solidFill>
                <a:schemeClr val="tx1"/>
              </a:solidFill>
              <a:miter lim="800000"/>
              <a:headEnd/>
              <a:tailEnd/>
            </a:ln>
            <a:effectLst/>
          </p:spPr>
          <p:txBody>
            <a:bodyPr wrap="none" anchor="ctr"/>
            <a:lstStyle/>
            <a:p>
              <a:r>
                <a:rPr lang="zh-CN" altLang="en-US" sz="1600">
                  <a:latin typeface="Times New Roman" pitchFamily="18" charset="0"/>
                  <a:ea typeface="华文新魏" pitchFamily="2" charset="-122"/>
                </a:rPr>
                <a:t>触发外部中断</a:t>
              </a:r>
              <a:r>
                <a:rPr lang="en-US" altLang="zh-CN" sz="1600">
                  <a:latin typeface="Times New Roman" pitchFamily="18" charset="0"/>
                  <a:ea typeface="华文新魏" pitchFamily="2" charset="-122"/>
                </a:rPr>
                <a:t>3</a:t>
              </a:r>
            </a:p>
          </p:txBody>
        </p:sp>
        <p:sp>
          <p:nvSpPr>
            <p:cNvPr id="582673" name="Rectangle 17"/>
            <p:cNvSpPr>
              <a:spLocks noChangeArrowheads="1"/>
            </p:cNvSpPr>
            <p:nvPr/>
          </p:nvSpPr>
          <p:spPr bwMode="auto">
            <a:xfrm>
              <a:off x="2720" y="1613"/>
              <a:ext cx="1308" cy="366"/>
            </a:xfrm>
            <a:prstGeom prst="rect">
              <a:avLst/>
            </a:prstGeom>
            <a:noFill/>
            <a:ln w="19050" algn="ctr">
              <a:noFill/>
              <a:miter lim="800000"/>
              <a:headEnd/>
              <a:tailEnd/>
            </a:ln>
            <a:effectLst/>
          </p:spPr>
          <p:txBody>
            <a:bodyPr>
              <a:spAutoFit/>
            </a:bodyPr>
            <a:lstStyle/>
            <a:p>
              <a:r>
                <a:rPr lang="zh-CN" altLang="en-US" sz="1600">
                  <a:latin typeface="Times New Roman" pitchFamily="18" charset="0"/>
                  <a:ea typeface="华文新魏" pitchFamily="2" charset="-122"/>
                </a:rPr>
                <a:t>外部中断标志寄存器</a:t>
              </a:r>
            </a:p>
            <a:p>
              <a:r>
                <a:rPr lang="en-US" altLang="zh-CN" sz="1600">
                  <a:latin typeface="Times New Roman" pitchFamily="18" charset="0"/>
                  <a:ea typeface="华文新魏" pitchFamily="2" charset="-122"/>
                </a:rPr>
                <a:t>EXTINT</a:t>
              </a:r>
            </a:p>
          </p:txBody>
        </p:sp>
      </p:grpSp>
      <p:sp>
        <p:nvSpPr>
          <p:cNvPr id="582674" name="Text Box 18"/>
          <p:cNvSpPr txBox="1">
            <a:spLocks noChangeArrowheads="1"/>
          </p:cNvSpPr>
          <p:nvPr/>
        </p:nvSpPr>
        <p:spPr bwMode="auto">
          <a:xfrm>
            <a:off x="2449513" y="5856289"/>
            <a:ext cx="4783682" cy="461665"/>
          </a:xfrm>
          <a:prstGeom prst="rect">
            <a:avLst/>
          </a:prstGeom>
          <a:noFill/>
          <a:ln w="19050" algn="ctr">
            <a:noFill/>
            <a:miter lim="800000"/>
            <a:headEnd/>
            <a:tailEnd/>
          </a:ln>
          <a:effectLst/>
        </p:spPr>
        <p:txBody>
          <a:bodyPr wrap="none">
            <a:spAutoFit/>
          </a:bodyPr>
          <a:lstStyle/>
          <a:p>
            <a:r>
              <a:rPr lang="zh-CN" altLang="en-US" sz="2400">
                <a:solidFill>
                  <a:srgbClr val="FF0000"/>
                </a:solidFill>
                <a:latin typeface="Times New Roman" pitchFamily="18" charset="0"/>
                <a:ea typeface="华文新魏" pitchFamily="2" charset="-122"/>
              </a:rPr>
              <a:t>注意：</a:t>
            </a:r>
            <a:r>
              <a:rPr lang="zh-CN" altLang="en-US" sz="2400">
                <a:latin typeface="Times New Roman" pitchFamily="18" charset="0"/>
                <a:ea typeface="华文新魏" pitchFamily="2" charset="-122"/>
              </a:rPr>
              <a:t>外部中断标志写“</a:t>
            </a:r>
            <a:r>
              <a:rPr lang="en-US" altLang="zh-CN" sz="2400">
                <a:latin typeface="Times New Roman" pitchFamily="18" charset="0"/>
                <a:ea typeface="华文新魏" pitchFamily="2" charset="-122"/>
              </a:rPr>
              <a:t>1”</a:t>
            </a:r>
            <a:r>
              <a:rPr lang="zh-CN" altLang="en-US" sz="2400">
                <a:latin typeface="Times New Roman" pitchFamily="18" charset="0"/>
                <a:ea typeface="华文新魏" pitchFamily="2" charset="-122"/>
              </a:rPr>
              <a:t>清零。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82659"/>
                                        </p:tgtEl>
                                        <p:attrNameLst>
                                          <p:attrName>style.visibility</p:attrName>
                                        </p:attrNameLst>
                                      </p:cBhvr>
                                      <p:to>
                                        <p:strVal val="visible"/>
                                      </p:to>
                                    </p:set>
                                    <p:animEffect transition="in" filter="wipe(up)">
                                      <p:cBhvr>
                                        <p:cTn id="7" dur="500"/>
                                        <p:tgtEl>
                                          <p:spTgt spid="58265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82675"/>
                                        </p:tgtEl>
                                        <p:attrNameLst>
                                          <p:attrName>style.visibility</p:attrName>
                                        </p:attrNameLst>
                                      </p:cBhvr>
                                      <p:to>
                                        <p:strVal val="visible"/>
                                      </p:to>
                                    </p:set>
                                    <p:animEffect transition="in" filter="wipe(up)">
                                      <p:cBhvr>
                                        <p:cTn id="11" dur="500"/>
                                        <p:tgtEl>
                                          <p:spTgt spid="582675"/>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82674"/>
                                        </p:tgtEl>
                                        <p:attrNameLst>
                                          <p:attrName>style.visibility</p:attrName>
                                        </p:attrNameLst>
                                      </p:cBhvr>
                                      <p:to>
                                        <p:strVal val="visible"/>
                                      </p:to>
                                    </p:set>
                                    <p:animEffect transition="in" filter="wipe(up)">
                                      <p:cBhvr>
                                        <p:cTn id="15" dur="500"/>
                                        <p:tgtEl>
                                          <p:spTgt spid="5826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59" grpId="0"/>
      <p:bldP spid="582674"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p:cNvSpPr>
            <a:spLocks noChangeArrowheads="1"/>
          </p:cNvSpPr>
          <p:nvPr/>
        </p:nvSpPr>
        <p:spPr bwMode="auto">
          <a:xfrm>
            <a:off x="2209800" y="609600"/>
            <a:ext cx="7772400" cy="1143000"/>
          </a:xfrm>
          <a:prstGeom prst="rect">
            <a:avLst/>
          </a:prstGeom>
          <a:noFill/>
          <a:ln w="9525">
            <a:noFill/>
            <a:miter lim="800000"/>
            <a:headEnd/>
            <a:tailEnd/>
          </a:ln>
          <a:effectLst/>
        </p:spPr>
        <p:txBody>
          <a:bodyPr anchor="ctr"/>
          <a:lstStyle/>
          <a:p>
            <a:r>
              <a:rPr lang="en-US" altLang="zh-CN" sz="4400" dirty="0"/>
              <a:t>5.3.6</a:t>
            </a:r>
            <a:r>
              <a:rPr lang="en-US" altLang="zh-CN" sz="4400" dirty="0">
                <a:solidFill>
                  <a:schemeClr val="tx2"/>
                </a:solidFill>
                <a:latin typeface="Times New Roman" pitchFamily="18" charset="0"/>
              </a:rPr>
              <a:t>  </a:t>
            </a:r>
            <a:r>
              <a:rPr lang="zh-CN" altLang="en-US" sz="4400" dirty="0">
                <a:solidFill>
                  <a:schemeClr val="tx2"/>
                </a:solidFill>
                <a:latin typeface="Times New Roman" pitchFamily="18" charset="0"/>
              </a:rPr>
              <a:t>外部中断输入</a:t>
            </a:r>
          </a:p>
        </p:txBody>
      </p:sp>
      <p:sp>
        <p:nvSpPr>
          <p:cNvPr id="569347" name="Rectangle 3"/>
          <p:cNvSpPr>
            <a:spLocks noChangeArrowheads="1"/>
          </p:cNvSpPr>
          <p:nvPr/>
        </p:nvSpPr>
        <p:spPr bwMode="auto">
          <a:xfrm>
            <a:off x="2209800" y="17002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外部中断应用示例</a:t>
            </a:r>
          </a:p>
        </p:txBody>
      </p:sp>
      <p:sp>
        <p:nvSpPr>
          <p:cNvPr id="569348" name="Text Box 4"/>
          <p:cNvSpPr txBox="1">
            <a:spLocks noChangeArrowheads="1"/>
          </p:cNvSpPr>
          <p:nvPr/>
        </p:nvSpPr>
        <p:spPr bwMode="auto">
          <a:xfrm>
            <a:off x="2208213" y="2395538"/>
            <a:ext cx="5543550" cy="457200"/>
          </a:xfrm>
          <a:prstGeom prst="rect">
            <a:avLst/>
          </a:prstGeom>
          <a:noFill/>
          <a:ln w="9525">
            <a:noFill/>
            <a:miter lim="800000"/>
            <a:headEnd/>
            <a:tailEnd/>
          </a:ln>
          <a:effectLst/>
        </p:spPr>
        <p:txBody>
          <a:bodyPr>
            <a:spAutoFit/>
          </a:bodyPr>
          <a:lstStyle/>
          <a:p>
            <a:pPr algn="l">
              <a:spcBef>
                <a:spcPct val="50000"/>
              </a:spcBef>
            </a:pPr>
            <a:r>
              <a:rPr lang="en-US" altLang="zh-CN" sz="2400">
                <a:latin typeface="华文新魏" pitchFamily="2" charset="-122"/>
                <a:ea typeface="华文新魏" pitchFamily="2" charset="-122"/>
              </a:rPr>
              <a:t>       </a:t>
            </a:r>
            <a:r>
              <a:rPr lang="zh-CN" altLang="en-US" sz="2400">
                <a:latin typeface="华文新魏" pitchFamily="2" charset="-122"/>
                <a:ea typeface="华文新魏" pitchFamily="2" charset="-122"/>
              </a:rPr>
              <a:t>初始化</a:t>
            </a:r>
            <a:r>
              <a:rPr lang="en-US" altLang="zh-CN" sz="2400">
                <a:latin typeface="华文新魏" pitchFamily="2" charset="-122"/>
                <a:ea typeface="华文新魏" pitchFamily="2" charset="-122"/>
              </a:rPr>
              <a:t>EINT0</a:t>
            </a:r>
            <a:r>
              <a:rPr lang="zh-CN" altLang="en-US" sz="2400">
                <a:latin typeface="华文新魏" pitchFamily="2" charset="-122"/>
                <a:ea typeface="华文新魏" pitchFamily="2" charset="-122"/>
              </a:rPr>
              <a:t>为电平中断：</a:t>
            </a:r>
          </a:p>
        </p:txBody>
      </p:sp>
      <p:sp>
        <p:nvSpPr>
          <p:cNvPr id="569349" name="Text Box 5"/>
          <p:cNvSpPr txBox="1">
            <a:spLocks noChangeArrowheads="1"/>
          </p:cNvSpPr>
          <p:nvPr/>
        </p:nvSpPr>
        <p:spPr bwMode="auto">
          <a:xfrm>
            <a:off x="2208213" y="3763963"/>
            <a:ext cx="5543550" cy="457200"/>
          </a:xfrm>
          <a:prstGeom prst="rect">
            <a:avLst/>
          </a:prstGeom>
          <a:noFill/>
          <a:ln w="9525">
            <a:noFill/>
            <a:miter lim="800000"/>
            <a:headEnd/>
            <a:tailEnd/>
          </a:ln>
          <a:effectLst/>
        </p:spPr>
        <p:txBody>
          <a:bodyPr>
            <a:spAutoFit/>
          </a:bodyPr>
          <a:lstStyle/>
          <a:p>
            <a:pPr algn="l">
              <a:spcBef>
                <a:spcPct val="50000"/>
              </a:spcBef>
            </a:pPr>
            <a:r>
              <a:rPr lang="en-US" altLang="zh-CN" sz="2400">
                <a:latin typeface="华文新魏" pitchFamily="2" charset="-122"/>
                <a:ea typeface="华文新魏" pitchFamily="2" charset="-122"/>
              </a:rPr>
              <a:t>       </a:t>
            </a:r>
            <a:r>
              <a:rPr lang="zh-CN" altLang="en-US" sz="2400">
                <a:latin typeface="华文新魏" pitchFamily="2" charset="-122"/>
                <a:ea typeface="华文新魏" pitchFamily="2" charset="-122"/>
              </a:rPr>
              <a:t>初始化</a:t>
            </a:r>
            <a:r>
              <a:rPr lang="en-US" altLang="zh-CN" sz="2400">
                <a:latin typeface="华文新魏" pitchFamily="2" charset="-122"/>
                <a:ea typeface="华文新魏" pitchFamily="2" charset="-122"/>
              </a:rPr>
              <a:t>EINT0</a:t>
            </a:r>
            <a:r>
              <a:rPr lang="zh-CN" altLang="en-US" sz="2400">
                <a:latin typeface="华文新魏" pitchFamily="2" charset="-122"/>
                <a:ea typeface="华文新魏" pitchFamily="2" charset="-122"/>
              </a:rPr>
              <a:t>为下降沿中断：</a:t>
            </a:r>
          </a:p>
        </p:txBody>
      </p:sp>
      <p:sp>
        <p:nvSpPr>
          <p:cNvPr id="569350" name="Text Box 6"/>
          <p:cNvSpPr txBox="1">
            <a:spLocks noChangeArrowheads="1"/>
          </p:cNvSpPr>
          <p:nvPr/>
        </p:nvSpPr>
        <p:spPr bwMode="auto">
          <a:xfrm>
            <a:off x="2208213" y="5348288"/>
            <a:ext cx="5543550" cy="457200"/>
          </a:xfrm>
          <a:prstGeom prst="rect">
            <a:avLst/>
          </a:prstGeom>
          <a:noFill/>
          <a:ln w="9525">
            <a:noFill/>
            <a:miter lim="800000"/>
            <a:headEnd/>
            <a:tailEnd/>
          </a:ln>
          <a:effectLst/>
        </p:spPr>
        <p:txBody>
          <a:bodyPr>
            <a:spAutoFit/>
          </a:bodyPr>
          <a:lstStyle/>
          <a:p>
            <a:pPr algn="l">
              <a:spcBef>
                <a:spcPct val="50000"/>
              </a:spcBef>
            </a:pPr>
            <a:r>
              <a:rPr lang="en-US" altLang="zh-CN" sz="2400">
                <a:latin typeface="华文新魏" pitchFamily="2" charset="-122"/>
                <a:ea typeface="华文新魏" pitchFamily="2" charset="-122"/>
              </a:rPr>
              <a:t>       </a:t>
            </a:r>
            <a:r>
              <a:rPr lang="zh-CN" altLang="en-US" sz="2400">
                <a:latin typeface="华文新魏" pitchFamily="2" charset="-122"/>
                <a:ea typeface="华文新魏" pitchFamily="2" charset="-122"/>
              </a:rPr>
              <a:t>清除所有外部中断标志：</a:t>
            </a:r>
          </a:p>
        </p:txBody>
      </p:sp>
      <p:sp>
        <p:nvSpPr>
          <p:cNvPr id="569351" name="Rectangle 7"/>
          <p:cNvSpPr>
            <a:spLocks noChangeArrowheads="1"/>
          </p:cNvSpPr>
          <p:nvPr/>
        </p:nvSpPr>
        <p:spPr bwMode="auto">
          <a:xfrm>
            <a:off x="3935413" y="2997201"/>
            <a:ext cx="4318000" cy="576263"/>
          </a:xfrm>
          <a:prstGeom prst="rect">
            <a:avLst/>
          </a:prstGeom>
          <a:solidFill>
            <a:srgbClr val="BBE0E3"/>
          </a:solidFill>
          <a:ln w="9525" algn="ctr">
            <a:solidFill>
              <a:schemeClr val="tx1"/>
            </a:solidFill>
            <a:miter lim="800000"/>
            <a:headEnd/>
            <a:tailEnd/>
          </a:ln>
          <a:effectLst/>
        </p:spPr>
        <p:txBody>
          <a:bodyPr wrap="none" anchor="ctr"/>
          <a:lstStyle/>
          <a:p>
            <a:pPr algn="l"/>
            <a:r>
              <a:rPr lang="pt-BR" altLang="zh-CN" sz="1600">
                <a:latin typeface="Arial" charset="0"/>
              </a:rPr>
              <a:t>PINSEL1 = (PINSEL1&amp;0xFFFFFFFC) | 0x01;</a:t>
            </a:r>
          </a:p>
          <a:p>
            <a:pPr algn="l"/>
            <a:r>
              <a:rPr lang="pt-BR" altLang="zh-CN" sz="1600">
                <a:latin typeface="Arial" charset="0"/>
              </a:rPr>
              <a:t>EXTMODE = EXTMODE &amp; 0x0E;</a:t>
            </a:r>
            <a:endParaRPr lang="en-US" altLang="zh-CN" sz="1600">
              <a:latin typeface="Arial" charset="0"/>
            </a:endParaRPr>
          </a:p>
        </p:txBody>
      </p:sp>
      <p:sp>
        <p:nvSpPr>
          <p:cNvPr id="569352" name="Rectangle 8"/>
          <p:cNvSpPr>
            <a:spLocks noChangeArrowheads="1"/>
          </p:cNvSpPr>
          <p:nvPr/>
        </p:nvSpPr>
        <p:spPr bwMode="auto">
          <a:xfrm>
            <a:off x="3935413" y="5878514"/>
            <a:ext cx="4318000" cy="287337"/>
          </a:xfrm>
          <a:prstGeom prst="rect">
            <a:avLst/>
          </a:prstGeom>
          <a:solidFill>
            <a:srgbClr val="BBE0E3"/>
          </a:solidFill>
          <a:ln w="9525" algn="ctr">
            <a:solidFill>
              <a:schemeClr val="tx1"/>
            </a:solidFill>
            <a:miter lim="800000"/>
            <a:headEnd/>
            <a:tailEnd/>
          </a:ln>
          <a:effectLst/>
        </p:spPr>
        <p:txBody>
          <a:bodyPr wrap="none" anchor="ctr"/>
          <a:lstStyle/>
          <a:p>
            <a:pPr algn="l"/>
            <a:r>
              <a:rPr lang="pt-BR" altLang="zh-CN" sz="1600">
                <a:latin typeface="Arial" charset="0"/>
              </a:rPr>
              <a:t>EXTINT = 0x0F;</a:t>
            </a:r>
            <a:endParaRPr lang="en-US" altLang="zh-CN" sz="1600">
              <a:latin typeface="Arial" charset="0"/>
            </a:endParaRPr>
          </a:p>
        </p:txBody>
      </p:sp>
      <p:sp>
        <p:nvSpPr>
          <p:cNvPr id="569353" name="Rectangle 9"/>
          <p:cNvSpPr>
            <a:spLocks noChangeArrowheads="1"/>
          </p:cNvSpPr>
          <p:nvPr/>
        </p:nvSpPr>
        <p:spPr bwMode="auto">
          <a:xfrm>
            <a:off x="3938588" y="4365625"/>
            <a:ext cx="4318000" cy="863600"/>
          </a:xfrm>
          <a:prstGeom prst="rect">
            <a:avLst/>
          </a:prstGeom>
          <a:solidFill>
            <a:srgbClr val="BBE0E3"/>
          </a:solidFill>
          <a:ln w="9525" algn="ctr">
            <a:solidFill>
              <a:schemeClr val="tx1"/>
            </a:solidFill>
            <a:miter lim="800000"/>
            <a:headEnd/>
            <a:tailEnd/>
          </a:ln>
          <a:effectLst/>
        </p:spPr>
        <p:txBody>
          <a:bodyPr wrap="none" anchor="ctr"/>
          <a:lstStyle/>
          <a:p>
            <a:pPr algn="l"/>
            <a:r>
              <a:rPr lang="pt-BR" altLang="zh-CN" sz="1600">
                <a:latin typeface="Arial" charset="0"/>
              </a:rPr>
              <a:t>PINSEL1 = (PINSEL1&amp;0xFFFFFFFC) | 0x01;</a:t>
            </a:r>
          </a:p>
          <a:p>
            <a:pPr algn="l"/>
            <a:r>
              <a:rPr lang="en-US" altLang="zh-CN" sz="1600">
                <a:latin typeface="Arial" charset="0"/>
              </a:rPr>
              <a:t>EXTMODE = EXTMODE | 0x01;</a:t>
            </a:r>
          </a:p>
          <a:p>
            <a:pPr algn="l"/>
            <a:r>
              <a:rPr lang="en-US" altLang="zh-CN" sz="1600">
                <a:latin typeface="Arial" charset="0"/>
              </a:rPr>
              <a:t>EXTPOLAR = EXTPOLAR &amp; 0x0E;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569347"/>
                                        </p:tgtEl>
                                        <p:attrNameLst>
                                          <p:attrName>style.visibility</p:attrName>
                                        </p:attrNameLst>
                                      </p:cBhvr>
                                      <p:to>
                                        <p:strVal val="visible"/>
                                      </p:to>
                                    </p:set>
                                    <p:anim calcmode="lin" valueType="num">
                                      <p:cBhvr additive="base">
                                        <p:cTn id="7" dur="500" fill="hold"/>
                                        <p:tgtEl>
                                          <p:spTgt spid="569347"/>
                                        </p:tgtEl>
                                        <p:attrNameLst>
                                          <p:attrName>ppt_x</p:attrName>
                                        </p:attrNameLst>
                                      </p:cBhvr>
                                      <p:tavLst>
                                        <p:tav tm="0">
                                          <p:val>
                                            <p:strVal val="1+#ppt_w/2"/>
                                          </p:val>
                                        </p:tav>
                                        <p:tav tm="100000">
                                          <p:val>
                                            <p:strVal val="#ppt_x"/>
                                          </p:val>
                                        </p:tav>
                                      </p:tavLst>
                                    </p:anim>
                                    <p:anim calcmode="lin" valueType="num">
                                      <p:cBhvr additive="base">
                                        <p:cTn id="8" dur="500" fill="hold"/>
                                        <p:tgtEl>
                                          <p:spTgt spid="56934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569348"/>
                                        </p:tgtEl>
                                        <p:attrNameLst>
                                          <p:attrName>style.visibility</p:attrName>
                                        </p:attrNameLst>
                                      </p:cBhvr>
                                      <p:to>
                                        <p:strVal val="visible"/>
                                      </p:to>
                                    </p:set>
                                    <p:animEffect transition="in" filter="box(in)">
                                      <p:cBhvr>
                                        <p:cTn id="12" dur="500"/>
                                        <p:tgtEl>
                                          <p:spTgt spid="569348"/>
                                        </p:tgtEl>
                                      </p:cBhvr>
                                    </p:animEffect>
                                  </p:childTnLst>
                                </p:cTn>
                              </p:par>
                            </p:childTnLst>
                          </p:cTn>
                        </p:par>
                        <p:par>
                          <p:cTn id="13" fill="hold">
                            <p:stCondLst>
                              <p:cond delay="1000"/>
                            </p:stCondLst>
                            <p:childTnLst>
                              <p:par>
                                <p:cTn id="14" presetID="12" presetClass="entr" presetSubtype="1" fill="hold" grpId="0" nodeType="afterEffect">
                                  <p:stCondLst>
                                    <p:cond delay="0"/>
                                  </p:stCondLst>
                                  <p:childTnLst>
                                    <p:set>
                                      <p:cBhvr>
                                        <p:cTn id="15" dur="1" fill="hold">
                                          <p:stCondLst>
                                            <p:cond delay="0"/>
                                          </p:stCondLst>
                                        </p:cTn>
                                        <p:tgtEl>
                                          <p:spTgt spid="569351"/>
                                        </p:tgtEl>
                                        <p:attrNameLst>
                                          <p:attrName>style.visibility</p:attrName>
                                        </p:attrNameLst>
                                      </p:cBhvr>
                                      <p:to>
                                        <p:strVal val="visible"/>
                                      </p:to>
                                    </p:set>
                                    <p:animEffect transition="in" filter="slide(fromTop)">
                                      <p:cBhvr>
                                        <p:cTn id="16" dur="500"/>
                                        <p:tgtEl>
                                          <p:spTgt spid="569351"/>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569349"/>
                                        </p:tgtEl>
                                        <p:attrNameLst>
                                          <p:attrName>style.visibility</p:attrName>
                                        </p:attrNameLst>
                                      </p:cBhvr>
                                      <p:to>
                                        <p:strVal val="visible"/>
                                      </p:to>
                                    </p:set>
                                    <p:animEffect transition="in" filter="box(in)">
                                      <p:cBhvr>
                                        <p:cTn id="21" dur="500"/>
                                        <p:tgtEl>
                                          <p:spTgt spid="569349"/>
                                        </p:tgtEl>
                                      </p:cBhvr>
                                    </p:animEffect>
                                  </p:childTnLst>
                                </p:cTn>
                              </p:par>
                            </p:childTnLst>
                          </p:cTn>
                        </p:par>
                        <p:par>
                          <p:cTn id="22" fill="hold">
                            <p:stCondLst>
                              <p:cond delay="500"/>
                            </p:stCondLst>
                            <p:childTnLst>
                              <p:par>
                                <p:cTn id="23" presetID="12" presetClass="entr" presetSubtype="1" fill="hold" grpId="0" nodeType="afterEffect">
                                  <p:stCondLst>
                                    <p:cond delay="0"/>
                                  </p:stCondLst>
                                  <p:childTnLst>
                                    <p:set>
                                      <p:cBhvr>
                                        <p:cTn id="24" dur="1" fill="hold">
                                          <p:stCondLst>
                                            <p:cond delay="0"/>
                                          </p:stCondLst>
                                        </p:cTn>
                                        <p:tgtEl>
                                          <p:spTgt spid="569353"/>
                                        </p:tgtEl>
                                        <p:attrNameLst>
                                          <p:attrName>style.visibility</p:attrName>
                                        </p:attrNameLst>
                                      </p:cBhvr>
                                      <p:to>
                                        <p:strVal val="visible"/>
                                      </p:to>
                                    </p:set>
                                    <p:animEffect transition="in" filter="slide(fromTop)">
                                      <p:cBhvr>
                                        <p:cTn id="25" dur="500"/>
                                        <p:tgtEl>
                                          <p:spTgt spid="569353"/>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569350"/>
                                        </p:tgtEl>
                                        <p:attrNameLst>
                                          <p:attrName>style.visibility</p:attrName>
                                        </p:attrNameLst>
                                      </p:cBhvr>
                                      <p:to>
                                        <p:strVal val="visible"/>
                                      </p:to>
                                    </p:set>
                                    <p:animEffect transition="in" filter="box(in)">
                                      <p:cBhvr>
                                        <p:cTn id="30" dur="500"/>
                                        <p:tgtEl>
                                          <p:spTgt spid="569350"/>
                                        </p:tgtEl>
                                      </p:cBhvr>
                                    </p:animEffect>
                                  </p:childTnLst>
                                </p:cTn>
                              </p:par>
                            </p:childTnLst>
                          </p:cTn>
                        </p:par>
                        <p:par>
                          <p:cTn id="31" fill="hold">
                            <p:stCondLst>
                              <p:cond delay="500"/>
                            </p:stCondLst>
                            <p:childTnLst>
                              <p:par>
                                <p:cTn id="32" presetID="12" presetClass="entr" presetSubtype="1" fill="hold" grpId="0" nodeType="afterEffect">
                                  <p:stCondLst>
                                    <p:cond delay="0"/>
                                  </p:stCondLst>
                                  <p:childTnLst>
                                    <p:set>
                                      <p:cBhvr>
                                        <p:cTn id="33" dur="1" fill="hold">
                                          <p:stCondLst>
                                            <p:cond delay="0"/>
                                          </p:stCondLst>
                                        </p:cTn>
                                        <p:tgtEl>
                                          <p:spTgt spid="569352"/>
                                        </p:tgtEl>
                                        <p:attrNameLst>
                                          <p:attrName>style.visibility</p:attrName>
                                        </p:attrNameLst>
                                      </p:cBhvr>
                                      <p:to>
                                        <p:strVal val="visible"/>
                                      </p:to>
                                    </p:set>
                                    <p:animEffect transition="in" filter="slide(fromTop)">
                                      <p:cBhvr>
                                        <p:cTn id="34" dur="500"/>
                                        <p:tgtEl>
                                          <p:spTgt spid="569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9347" grpId="0"/>
      <p:bldP spid="569348" grpId="0"/>
      <p:bldP spid="569349" grpId="0"/>
      <p:bldP spid="569350" grpId="0"/>
      <p:bldP spid="569351" grpId="0" animBg="1"/>
      <p:bldP spid="569352" grpId="0" animBg="1"/>
      <p:bldP spid="569353"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zh-CN" dirty="0"/>
              <a:t>5.3.7 GIC</a:t>
            </a:r>
            <a:r>
              <a:rPr kumimoji="1" lang="zh-CN" altLang="en-US" dirty="0"/>
              <a:t>中断系统</a:t>
            </a:r>
          </a:p>
        </p:txBody>
      </p:sp>
      <p:sp>
        <p:nvSpPr>
          <p:cNvPr id="3" name="文本占位符 2"/>
          <p:cNvSpPr>
            <a:spLocks noGrp="1"/>
          </p:cNvSpPr>
          <p:nvPr>
            <p:ph type="body" sz="quarter" idx="10"/>
          </p:nvPr>
        </p:nvSpPr>
        <p:spPr/>
        <p:txBody>
          <a:bodyPr/>
          <a:lstStyle/>
          <a:p>
            <a:endParaRPr kumimoji="1" lang="zh-CN" altLang="en-US" dirty="0"/>
          </a:p>
        </p:txBody>
      </p:sp>
      <p:pic>
        <p:nvPicPr>
          <p:cNvPr id="4" name="图片 3" descr="7-5"/>
          <p:cNvPicPr/>
          <p:nvPr/>
        </p:nvPicPr>
        <p:blipFill>
          <a:blip r:embed="rId2" cstate="print">
            <a:extLst>
              <a:ext uri="{28A0092B-C50C-407E-A947-70E740481C1C}">
                <a14:useLocalDpi xmlns:a14="http://schemas.microsoft.com/office/drawing/2010/main" val="0"/>
              </a:ext>
            </a:extLst>
          </a:blip>
          <a:srcRect/>
          <a:stretch>
            <a:fillRect/>
          </a:stretch>
        </p:blipFill>
        <p:spPr>
          <a:xfrm>
            <a:off x="3023659" y="2179075"/>
            <a:ext cx="5378237" cy="2979903"/>
          </a:xfrm>
          <a:prstGeom prst="rect">
            <a:avLst/>
          </a:prstGeom>
          <a:noFill/>
          <a:ln>
            <a:noFill/>
          </a:ln>
        </p:spPr>
      </p:pic>
    </p:spTree>
    <p:extLst>
      <p:ext uri="{BB962C8B-B14F-4D97-AF65-F5344CB8AC3E}">
        <p14:creationId xmlns:p14="http://schemas.microsoft.com/office/powerpoint/2010/main" val="15984583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zh-CN" dirty="0"/>
              <a:t>NVIC</a:t>
            </a:r>
            <a:endParaRPr kumimoji="1" lang="zh-CN" altLang="en-US" dirty="0"/>
          </a:p>
        </p:txBody>
      </p:sp>
      <p:sp>
        <p:nvSpPr>
          <p:cNvPr id="3" name="文本占位符 2"/>
          <p:cNvSpPr>
            <a:spLocks noGrp="1"/>
          </p:cNvSpPr>
          <p:nvPr>
            <p:ph type="body" sz="quarter" idx="10"/>
          </p:nvPr>
        </p:nvSpPr>
        <p:spPr/>
        <p:txBody>
          <a:bodyPr/>
          <a:lstStyle/>
          <a:p>
            <a:endParaRPr kumimoji="1" lang="zh-CN" altLang="en-US" dirty="0"/>
          </a:p>
        </p:txBody>
      </p:sp>
      <p:pic>
        <p:nvPicPr>
          <p:cNvPr id="4" name="图片 3" descr="7-6"/>
          <p:cNvPicPr/>
          <p:nvPr/>
        </p:nvPicPr>
        <p:blipFill>
          <a:blip r:embed="rId2">
            <a:extLst>
              <a:ext uri="{28A0092B-C50C-407E-A947-70E740481C1C}">
                <a14:useLocalDpi xmlns:a14="http://schemas.microsoft.com/office/drawing/2010/main" val="0"/>
              </a:ext>
            </a:extLst>
          </a:blip>
          <a:srcRect/>
          <a:stretch>
            <a:fillRect/>
          </a:stretch>
        </p:blipFill>
        <p:spPr>
          <a:xfrm>
            <a:off x="1182467" y="2468894"/>
            <a:ext cx="4908973" cy="1812713"/>
          </a:xfrm>
          <a:prstGeom prst="rect">
            <a:avLst/>
          </a:prstGeom>
          <a:noFill/>
          <a:ln>
            <a:noFill/>
          </a:ln>
        </p:spPr>
      </p:pic>
      <p:pic>
        <p:nvPicPr>
          <p:cNvPr id="5" name="图片 4" descr="说明: C:\Documents and Settings\Administrator\桌面\未命名.PNG"/>
          <p:cNvPicPr/>
          <p:nvPr/>
        </p:nvPicPr>
        <p:blipFill>
          <a:blip r:embed="rId3">
            <a:extLst>
              <a:ext uri="{28A0092B-C50C-407E-A947-70E740481C1C}">
                <a14:useLocalDpi xmlns:a14="http://schemas.microsoft.com/office/drawing/2010/main" val="0"/>
              </a:ext>
            </a:extLst>
          </a:blip>
          <a:srcRect t="1006" b="2295"/>
          <a:stretch>
            <a:fillRect/>
          </a:stretch>
        </p:blipFill>
        <p:spPr>
          <a:xfrm>
            <a:off x="6192011" y="1797893"/>
            <a:ext cx="4335780" cy="3742267"/>
          </a:xfrm>
          <a:prstGeom prst="rect">
            <a:avLst/>
          </a:prstGeom>
          <a:noFill/>
          <a:ln>
            <a:noFill/>
          </a:ln>
        </p:spPr>
      </p:pic>
    </p:spTree>
    <p:extLst>
      <p:ext uri="{BB962C8B-B14F-4D97-AF65-F5344CB8AC3E}">
        <p14:creationId xmlns:p14="http://schemas.microsoft.com/office/powerpoint/2010/main" val="94242769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zh-CN" dirty="0"/>
              <a:t>VIC</a:t>
            </a:r>
            <a:endParaRPr kumimoji="1" lang="zh-CN" altLang="en-US" dirty="0"/>
          </a:p>
        </p:txBody>
      </p:sp>
      <p:sp>
        <p:nvSpPr>
          <p:cNvPr id="3" name="文本占位符 2"/>
          <p:cNvSpPr>
            <a:spLocks noGrp="1"/>
          </p:cNvSpPr>
          <p:nvPr>
            <p:ph type="body" sz="quarter" idx="10"/>
          </p:nvPr>
        </p:nvSpPr>
        <p:spPr/>
        <p:txBody>
          <a:bodyPr/>
          <a:lstStyle/>
          <a:p>
            <a:endParaRPr kumimoji="1" lang="zh-CN" altLang="en-US" dirty="0"/>
          </a:p>
        </p:txBody>
      </p:sp>
      <p:pic>
        <p:nvPicPr>
          <p:cNvPr id="4" name="图片 3" descr="7-8"/>
          <p:cNvPicPr/>
          <p:nvPr/>
        </p:nvPicPr>
        <p:blipFill>
          <a:blip r:embed="rId2" cstate="print">
            <a:extLst>
              <a:ext uri="{28A0092B-C50C-407E-A947-70E740481C1C}">
                <a14:useLocalDpi xmlns:a14="http://schemas.microsoft.com/office/drawing/2010/main" val="0"/>
              </a:ext>
            </a:extLst>
          </a:blip>
          <a:srcRect/>
          <a:stretch>
            <a:fillRect/>
          </a:stretch>
        </p:blipFill>
        <p:spPr>
          <a:xfrm>
            <a:off x="1007435" y="1500290"/>
            <a:ext cx="4188460" cy="4337473"/>
          </a:xfrm>
          <a:prstGeom prst="rect">
            <a:avLst/>
          </a:prstGeom>
          <a:noFill/>
          <a:ln>
            <a:noFill/>
          </a:ln>
        </p:spPr>
      </p:pic>
      <p:pic>
        <p:nvPicPr>
          <p:cNvPr id="5" name="图片 4"/>
          <p:cNvPicPr/>
          <p:nvPr/>
        </p:nvPicPr>
        <p:blipFill>
          <a:blip r:embed="rId3"/>
          <a:srcRect b="13867"/>
          <a:stretch>
            <a:fillRect/>
          </a:stretch>
        </p:blipFill>
        <p:spPr>
          <a:xfrm>
            <a:off x="5150134" y="2852936"/>
            <a:ext cx="5746399" cy="1536171"/>
          </a:xfrm>
          <a:prstGeom prst="rect">
            <a:avLst/>
          </a:prstGeom>
          <a:noFill/>
          <a:ln w="9525">
            <a:noFill/>
          </a:ln>
        </p:spPr>
      </p:pic>
    </p:spTree>
    <p:extLst>
      <p:ext uri="{BB962C8B-B14F-4D97-AF65-F5344CB8AC3E}">
        <p14:creationId xmlns:p14="http://schemas.microsoft.com/office/powerpoint/2010/main" val="1084400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zh-CN" dirty="0"/>
              <a:t>GIC</a:t>
            </a:r>
            <a:endParaRPr kumimoji="1" lang="zh-CN" altLang="en-US" dirty="0"/>
          </a:p>
        </p:txBody>
      </p:sp>
      <p:sp>
        <p:nvSpPr>
          <p:cNvPr id="3" name="文本占位符 2"/>
          <p:cNvSpPr>
            <a:spLocks noGrp="1"/>
          </p:cNvSpPr>
          <p:nvPr>
            <p:ph type="body" sz="quarter" idx="10"/>
          </p:nvPr>
        </p:nvSpPr>
        <p:spPr/>
        <p:txBody>
          <a:bodyPr/>
          <a:lstStyle/>
          <a:p>
            <a:endParaRPr kumimoji="1" lang="zh-CN" altLang="en-US" dirty="0"/>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2831637" y="1237780"/>
            <a:ext cx="5611707" cy="4734560"/>
          </a:xfrm>
          <a:prstGeom prst="rect">
            <a:avLst/>
          </a:prstGeom>
          <a:noFill/>
          <a:ln>
            <a:noFill/>
          </a:ln>
        </p:spPr>
      </p:pic>
    </p:spTree>
    <p:extLst>
      <p:ext uri="{BB962C8B-B14F-4D97-AF65-F5344CB8AC3E}">
        <p14:creationId xmlns:p14="http://schemas.microsoft.com/office/powerpoint/2010/main" val="4148092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zh-CN" dirty="0"/>
              <a:t>GIC</a:t>
            </a:r>
            <a:r>
              <a:rPr kumimoji="1" lang="zh-CN" altLang="en-US" dirty="0"/>
              <a:t>功能模块</a:t>
            </a:r>
          </a:p>
        </p:txBody>
      </p:sp>
      <p:sp>
        <p:nvSpPr>
          <p:cNvPr id="3" name="文本占位符 2"/>
          <p:cNvSpPr>
            <a:spLocks noGrp="1"/>
          </p:cNvSpPr>
          <p:nvPr>
            <p:ph type="body" sz="quarter" idx="10"/>
          </p:nvPr>
        </p:nvSpPr>
        <p:spPr/>
        <p:txBody>
          <a:bodyPr/>
          <a:lstStyle/>
          <a:p>
            <a:r>
              <a:rPr lang="en-US" altLang="zh-CN" dirty="0"/>
              <a:t>GIC</a:t>
            </a:r>
            <a:r>
              <a:rPr lang="zh-CN" altLang="zh-CN" dirty="0"/>
              <a:t>功能模块</a:t>
            </a:r>
            <a:r>
              <a:rPr lang="en-US" altLang="zh-CN" dirty="0"/>
              <a:t>-</a:t>
            </a:r>
            <a:r>
              <a:rPr lang="zh-CN" altLang="zh-CN" dirty="0"/>
              <a:t>分配器</a:t>
            </a:r>
          </a:p>
          <a:p>
            <a:r>
              <a:rPr lang="zh-CN" altLang="zh-CN" dirty="0"/>
              <a:t> </a:t>
            </a:r>
            <a:endParaRPr kumimoji="1" lang="zh-CN" altLang="en-US" dirty="0"/>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2801752" y="2004903"/>
            <a:ext cx="5982547" cy="3328247"/>
          </a:xfrm>
          <a:prstGeom prst="rect">
            <a:avLst/>
          </a:prstGeom>
          <a:noFill/>
          <a:ln>
            <a:noFill/>
          </a:ln>
        </p:spPr>
      </p:pic>
    </p:spTree>
    <p:extLst>
      <p:ext uri="{BB962C8B-B14F-4D97-AF65-F5344CB8AC3E}">
        <p14:creationId xmlns:p14="http://schemas.microsoft.com/office/powerpoint/2010/main" val="18342783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zh-CN" dirty="0"/>
              <a:t>GIC</a:t>
            </a:r>
            <a:r>
              <a:rPr kumimoji="1" lang="zh-CN" altLang="en-US" dirty="0"/>
              <a:t>功能模块</a:t>
            </a:r>
          </a:p>
        </p:txBody>
      </p:sp>
      <p:sp>
        <p:nvSpPr>
          <p:cNvPr id="3" name="文本占位符 2"/>
          <p:cNvSpPr>
            <a:spLocks noGrp="1"/>
          </p:cNvSpPr>
          <p:nvPr>
            <p:ph type="body" sz="quarter" idx="10"/>
          </p:nvPr>
        </p:nvSpPr>
        <p:spPr/>
        <p:txBody>
          <a:bodyPr/>
          <a:lstStyle/>
          <a:p>
            <a:r>
              <a:rPr lang="en-US" altLang="zh-CN" dirty="0"/>
              <a:t>GIC</a:t>
            </a:r>
            <a:r>
              <a:rPr lang="zh-CN" altLang="zh-CN" dirty="0"/>
              <a:t>功能模块</a:t>
            </a:r>
            <a:r>
              <a:rPr lang="en-US" altLang="zh-CN" dirty="0"/>
              <a:t>-CPU</a:t>
            </a:r>
            <a:r>
              <a:rPr lang="zh-CN" altLang="en-US" dirty="0"/>
              <a:t>接口</a:t>
            </a:r>
            <a:r>
              <a:rPr lang="zh-CN" altLang="zh-CN" dirty="0"/>
              <a:t> </a:t>
            </a:r>
            <a:endParaRPr kumimoji="1" lang="zh-CN" altLang="en-US" dirty="0"/>
          </a:p>
        </p:txBody>
      </p:sp>
      <p:pic>
        <p:nvPicPr>
          <p:cNvPr id="5" name="图片 4"/>
          <p:cNvPicPr/>
          <p:nvPr/>
        </p:nvPicPr>
        <p:blipFill>
          <a:blip r:embed="rId2">
            <a:extLst>
              <a:ext uri="{28A0092B-C50C-407E-A947-70E740481C1C}">
                <a14:useLocalDpi xmlns:a14="http://schemas.microsoft.com/office/drawing/2010/main" val="0"/>
              </a:ext>
            </a:extLst>
          </a:blip>
          <a:srcRect/>
          <a:stretch>
            <a:fillRect/>
          </a:stretch>
        </p:blipFill>
        <p:spPr>
          <a:xfrm>
            <a:off x="2544260" y="2658953"/>
            <a:ext cx="6223000" cy="2020147"/>
          </a:xfrm>
          <a:prstGeom prst="rect">
            <a:avLst/>
          </a:prstGeom>
          <a:noFill/>
          <a:ln>
            <a:noFill/>
          </a:ln>
        </p:spPr>
      </p:pic>
    </p:spTree>
    <p:extLst>
      <p:ext uri="{BB962C8B-B14F-4D97-AF65-F5344CB8AC3E}">
        <p14:creationId xmlns:p14="http://schemas.microsoft.com/office/powerpoint/2010/main" val="197019857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GIC</a:t>
            </a:r>
            <a:r>
              <a:rPr lang="zh-CN" altLang="zh-CN" dirty="0"/>
              <a:t>中断控制器中断类型 </a:t>
            </a:r>
            <a:endParaRPr kumimoji="1" lang="zh-CN" altLang="en-US" dirty="0"/>
          </a:p>
        </p:txBody>
      </p:sp>
      <p:sp>
        <p:nvSpPr>
          <p:cNvPr id="3" name="文本占位符 2"/>
          <p:cNvSpPr>
            <a:spLocks noGrp="1"/>
          </p:cNvSpPr>
          <p:nvPr>
            <p:ph type="body" sz="quarter" idx="10"/>
          </p:nvPr>
        </p:nvSpPr>
        <p:spPr/>
        <p:txBody>
          <a:bodyPr/>
          <a:lstStyle/>
          <a:p>
            <a:r>
              <a:rPr lang="en-US" altLang="zh-CN" dirty="0"/>
              <a:t>GIC</a:t>
            </a:r>
            <a:r>
              <a:rPr lang="zh-CN" altLang="zh-CN" dirty="0"/>
              <a:t>中断控制器中断类型分为三种：</a:t>
            </a:r>
          </a:p>
          <a:p>
            <a:pPr lvl="1"/>
            <a:r>
              <a:rPr lang="zh-CN" altLang="zh-CN" dirty="0"/>
              <a:t>（</a:t>
            </a:r>
            <a:r>
              <a:rPr lang="en-US" altLang="zh-CN" dirty="0"/>
              <a:t>1</a:t>
            </a:r>
            <a:r>
              <a:rPr lang="zh-CN" altLang="zh-CN" dirty="0"/>
              <a:t>）软中断（</a:t>
            </a:r>
            <a:r>
              <a:rPr lang="en-US" altLang="zh-CN" dirty="0"/>
              <a:t>SGI</a:t>
            </a:r>
            <a:r>
              <a:rPr lang="zh-CN" altLang="zh-CN" dirty="0"/>
              <a:t>）</a:t>
            </a:r>
          </a:p>
          <a:p>
            <a:pPr lvl="1"/>
            <a:r>
              <a:rPr lang="zh-CN" altLang="zh-CN" dirty="0"/>
              <a:t>软件生成的中断，软中断的产生是通过软件写入到一个专门的寄存器：软中断产生中断寄存器（</a:t>
            </a:r>
            <a:r>
              <a:rPr lang="en-US" altLang="zh-CN" dirty="0"/>
              <a:t>ICDSGIR</a:t>
            </a:r>
            <a:r>
              <a:rPr lang="zh-CN" altLang="zh-CN" dirty="0"/>
              <a:t>）。它常用在核间通信。软中断能以所有核为目标或选定的一组系统中的核心为目标。中断号</a:t>
            </a:r>
            <a:r>
              <a:rPr lang="en-US" altLang="zh-CN" dirty="0"/>
              <a:t>0-15</a:t>
            </a:r>
            <a:r>
              <a:rPr lang="zh-CN" altLang="zh-CN" dirty="0"/>
              <a:t>为</a:t>
            </a:r>
            <a:r>
              <a:rPr lang="en-US" altLang="zh-CN" dirty="0"/>
              <a:t>SGI</a:t>
            </a:r>
            <a:r>
              <a:rPr lang="zh-CN" altLang="zh-CN" dirty="0"/>
              <a:t>保留。</a:t>
            </a:r>
          </a:p>
          <a:p>
            <a:pPr lvl="1"/>
            <a:r>
              <a:rPr lang="zh-CN" altLang="zh-CN" dirty="0"/>
              <a:t>（</a:t>
            </a:r>
            <a:r>
              <a:rPr lang="en-US" altLang="zh-CN" dirty="0"/>
              <a:t>2</a:t>
            </a:r>
            <a:r>
              <a:rPr lang="zh-CN" altLang="zh-CN" dirty="0"/>
              <a:t>）专用外设中断（</a:t>
            </a:r>
            <a:r>
              <a:rPr lang="en-US" altLang="zh-CN" dirty="0"/>
              <a:t>PPI</a:t>
            </a:r>
            <a:r>
              <a:rPr lang="zh-CN" altLang="zh-CN" dirty="0"/>
              <a:t>）</a:t>
            </a:r>
          </a:p>
          <a:p>
            <a:pPr lvl="1"/>
            <a:r>
              <a:rPr lang="zh-CN" altLang="zh-CN" dirty="0"/>
              <a:t>这是由外设产生的，是专由特定核心处理的中断。中断号码</a:t>
            </a:r>
            <a:r>
              <a:rPr lang="en-US" altLang="zh-CN" dirty="0"/>
              <a:t>16-31</a:t>
            </a:r>
            <a:r>
              <a:rPr lang="zh-CN" altLang="zh-CN" dirty="0"/>
              <a:t>为</a:t>
            </a:r>
            <a:r>
              <a:rPr lang="en-US" altLang="zh-CN" dirty="0"/>
              <a:t>PPI</a:t>
            </a:r>
            <a:r>
              <a:rPr lang="zh-CN" altLang="zh-CN" dirty="0"/>
              <a:t>保留。这些中断源对核心是私有的，并且独立于其他核上相同的中断源，例如每个核上的定时器中断源。</a:t>
            </a:r>
          </a:p>
          <a:p>
            <a:pPr lvl="1"/>
            <a:r>
              <a:rPr lang="zh-CN" altLang="zh-CN" dirty="0"/>
              <a:t>（</a:t>
            </a:r>
            <a:r>
              <a:rPr lang="en-US" altLang="zh-CN" dirty="0"/>
              <a:t>3</a:t>
            </a:r>
            <a:r>
              <a:rPr lang="zh-CN" altLang="zh-CN" dirty="0"/>
              <a:t>）共享外设中断（</a:t>
            </a:r>
            <a:r>
              <a:rPr lang="en-US" altLang="zh-CN" dirty="0"/>
              <a:t>SPI</a:t>
            </a:r>
            <a:r>
              <a:rPr lang="zh-CN" altLang="zh-CN" dirty="0"/>
              <a:t>）</a:t>
            </a:r>
          </a:p>
          <a:p>
            <a:pPr lvl="1"/>
            <a:r>
              <a:rPr lang="zh-CN" altLang="zh-CN" dirty="0"/>
              <a:t>这是由外设产生的可以发送给一个或多个核心处理的中断源。中断号</a:t>
            </a:r>
            <a:r>
              <a:rPr lang="en-US" altLang="zh-CN" dirty="0"/>
              <a:t>32-1020</a:t>
            </a:r>
            <a:r>
              <a:rPr lang="zh-CN" altLang="zh-CN" dirty="0"/>
              <a:t>用于共享外设中断。</a:t>
            </a:r>
          </a:p>
          <a:p>
            <a:endParaRPr kumimoji="1" lang="zh-CN" altLang="en-US" dirty="0"/>
          </a:p>
        </p:txBody>
      </p:sp>
    </p:spTree>
    <p:extLst>
      <p:ext uri="{BB962C8B-B14F-4D97-AF65-F5344CB8AC3E}">
        <p14:creationId xmlns:p14="http://schemas.microsoft.com/office/powerpoint/2010/main" val="58635693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GIC</a:t>
            </a:r>
            <a:r>
              <a:rPr lang="zh-CN" altLang="zh-CN" dirty="0"/>
              <a:t>中断控制器中断状态</a:t>
            </a:r>
          </a:p>
        </p:txBody>
      </p:sp>
      <p:sp>
        <p:nvSpPr>
          <p:cNvPr id="3" name="文本占位符 2"/>
          <p:cNvSpPr>
            <a:spLocks noGrp="1"/>
          </p:cNvSpPr>
          <p:nvPr>
            <p:ph type="body" sz="quarter" idx="10"/>
          </p:nvPr>
        </p:nvSpPr>
        <p:spPr/>
        <p:txBody>
          <a:bodyPr/>
          <a:lstStyle/>
          <a:p>
            <a:endParaRPr kumimoji="1" lang="zh-CN" altLang="en-US" dirty="0"/>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3023659" y="2084851"/>
            <a:ext cx="4416491" cy="2784309"/>
          </a:xfrm>
          <a:prstGeom prst="rect">
            <a:avLst/>
          </a:prstGeom>
          <a:noFill/>
          <a:ln>
            <a:noFill/>
          </a:ln>
        </p:spPr>
      </p:pic>
    </p:spTree>
    <p:extLst>
      <p:ext uri="{BB962C8B-B14F-4D97-AF65-F5344CB8AC3E}">
        <p14:creationId xmlns:p14="http://schemas.microsoft.com/office/powerpoint/2010/main" val="16635902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Exynos4412</a:t>
            </a:r>
            <a:r>
              <a:rPr lang="zh-CN" altLang="zh-CN" dirty="0"/>
              <a:t>中断源</a:t>
            </a:r>
          </a:p>
        </p:txBody>
      </p:sp>
      <p:sp>
        <p:nvSpPr>
          <p:cNvPr id="3" name="文本占位符 2"/>
          <p:cNvSpPr>
            <a:spLocks noGrp="1"/>
          </p:cNvSpPr>
          <p:nvPr>
            <p:ph type="body" sz="quarter" idx="10"/>
          </p:nvPr>
        </p:nvSpPr>
        <p:spPr/>
        <p:txBody>
          <a:bodyPr/>
          <a:lstStyle/>
          <a:p>
            <a:endParaRPr kumimoji="1" lang="zh-CN" altLang="en-US" dirty="0"/>
          </a:p>
        </p:txBody>
      </p:sp>
      <p:pic>
        <p:nvPicPr>
          <p:cNvPr id="4" name="图片 3" descr="C:\Users\Administrator.XA\Desktop\Doc1.files\image001.png"/>
          <p:cNvPicPr/>
          <p:nvPr/>
        </p:nvPicPr>
        <p:blipFill>
          <a:blip r:embed="rId2">
            <a:extLst>
              <a:ext uri="{28A0092B-C50C-407E-A947-70E740481C1C}">
                <a14:useLocalDpi xmlns:a14="http://schemas.microsoft.com/office/drawing/2010/main" val="0"/>
              </a:ext>
            </a:extLst>
          </a:blip>
          <a:srcRect/>
          <a:stretch>
            <a:fillRect/>
          </a:stretch>
        </p:blipFill>
        <p:spPr>
          <a:xfrm>
            <a:off x="2255573" y="1167127"/>
            <a:ext cx="6124787" cy="5003800"/>
          </a:xfrm>
          <a:prstGeom prst="rect">
            <a:avLst/>
          </a:prstGeom>
          <a:noFill/>
          <a:ln>
            <a:noFill/>
          </a:ln>
        </p:spPr>
      </p:pic>
    </p:spTree>
    <p:extLst>
      <p:ext uri="{BB962C8B-B14F-4D97-AF65-F5344CB8AC3E}">
        <p14:creationId xmlns:p14="http://schemas.microsoft.com/office/powerpoint/2010/main" val="187223566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Exynos4412-GIC</a:t>
            </a:r>
            <a:r>
              <a:rPr lang="zh-CN" altLang="zh-CN" dirty="0"/>
              <a:t>寄存器 </a:t>
            </a:r>
            <a:endParaRPr kumimoji="1" lang="zh-CN" altLang="en-US" dirty="0"/>
          </a:p>
        </p:txBody>
      </p:sp>
      <p:sp>
        <p:nvSpPr>
          <p:cNvPr id="3" name="文本占位符 2"/>
          <p:cNvSpPr>
            <a:spLocks noGrp="1"/>
          </p:cNvSpPr>
          <p:nvPr>
            <p:ph type="body" sz="quarter" idx="10"/>
          </p:nvPr>
        </p:nvSpPr>
        <p:spPr/>
        <p:txBody>
          <a:bodyPr/>
          <a:lstStyle/>
          <a:p>
            <a:pPr lvl="1"/>
            <a:endParaRPr lang="en-US" altLang="zh-CN" dirty="0"/>
          </a:p>
          <a:p>
            <a:pPr lvl="1"/>
            <a:r>
              <a:rPr lang="zh-CN" altLang="zh-CN" dirty="0"/>
              <a:t>（</a:t>
            </a:r>
            <a:r>
              <a:rPr lang="en-GB" altLang="zh-CN" dirty="0"/>
              <a:t>1</a:t>
            </a:r>
            <a:r>
              <a:rPr lang="zh-CN" altLang="zh-CN" dirty="0"/>
              <a:t>）</a:t>
            </a:r>
            <a:r>
              <a:rPr lang="en-GB" altLang="zh-CN" dirty="0"/>
              <a:t>CPU</a:t>
            </a:r>
            <a:r>
              <a:rPr lang="zh-CN" altLang="zh-CN" dirty="0"/>
              <a:t>中断通道使能寄存器（</a:t>
            </a:r>
            <a:r>
              <a:rPr lang="en-US" altLang="zh-CN" dirty="0"/>
              <a:t>ICCICR_CPUn  n=0~3</a:t>
            </a:r>
            <a:r>
              <a:rPr lang="zh-CN" altLang="zh-CN" dirty="0"/>
              <a:t>）</a:t>
            </a:r>
            <a:endParaRPr lang="en-US" altLang="zh-CN" dirty="0"/>
          </a:p>
          <a:p>
            <a:pPr lvl="1"/>
            <a:r>
              <a:rPr lang="zh-CN" altLang="zh-CN" dirty="0"/>
              <a:t>（</a:t>
            </a:r>
            <a:r>
              <a:rPr lang="en-GB" altLang="zh-CN" dirty="0"/>
              <a:t>2</a:t>
            </a:r>
            <a:r>
              <a:rPr lang="zh-CN" altLang="zh-CN" dirty="0"/>
              <a:t>）中断使能寄存器（</a:t>
            </a:r>
            <a:r>
              <a:rPr lang="en-US" altLang="zh-CN" dirty="0" err="1"/>
              <a:t>ICDISERm_CPUn</a:t>
            </a:r>
            <a:r>
              <a:rPr lang="zh-CN" altLang="en-US" dirty="0"/>
              <a:t>  </a:t>
            </a:r>
            <a:r>
              <a:rPr lang="en-US" altLang="zh-CN" dirty="0"/>
              <a:t>m=0~4  n=0~3</a:t>
            </a:r>
            <a:r>
              <a:rPr lang="zh-CN" altLang="zh-CN" dirty="0"/>
              <a:t>）</a:t>
            </a:r>
          </a:p>
          <a:p>
            <a:pPr lvl="1"/>
            <a:r>
              <a:rPr lang="zh-CN" altLang="zh-CN" dirty="0"/>
              <a:t>（</a:t>
            </a:r>
            <a:r>
              <a:rPr lang="en-GB" altLang="zh-CN" dirty="0"/>
              <a:t>3</a:t>
            </a:r>
            <a:r>
              <a:rPr lang="zh-CN" altLang="zh-CN" dirty="0"/>
              <a:t>）</a:t>
            </a:r>
            <a:r>
              <a:rPr lang="en-GB" altLang="zh-CN" dirty="0"/>
              <a:t>CPU</a:t>
            </a:r>
            <a:r>
              <a:rPr lang="zh-CN" altLang="zh-CN" dirty="0"/>
              <a:t>优先级过滤寄存器（</a:t>
            </a:r>
            <a:r>
              <a:rPr lang="en-US" altLang="zh-CN" dirty="0"/>
              <a:t>ICCPMR_CPUn  n=0~3</a:t>
            </a:r>
            <a:r>
              <a:rPr lang="zh-CN" altLang="zh-CN" dirty="0"/>
              <a:t>）</a:t>
            </a:r>
          </a:p>
          <a:p>
            <a:pPr lvl="1"/>
            <a:r>
              <a:rPr lang="zh-CN" altLang="zh-CN" dirty="0"/>
              <a:t>（</a:t>
            </a:r>
            <a:r>
              <a:rPr lang="en-GB" altLang="zh-CN" dirty="0"/>
              <a:t>4</a:t>
            </a:r>
            <a:r>
              <a:rPr lang="zh-CN" altLang="zh-CN" dirty="0"/>
              <a:t>）</a:t>
            </a:r>
            <a:r>
              <a:rPr lang="en-GB" altLang="zh-CN" dirty="0"/>
              <a:t>GIC</a:t>
            </a:r>
            <a:r>
              <a:rPr lang="zh-CN" altLang="zh-CN" dirty="0"/>
              <a:t>中断使能寄存器（</a:t>
            </a:r>
            <a:r>
              <a:rPr lang="en-US" altLang="zh-CN" dirty="0"/>
              <a:t>ICDDCR</a:t>
            </a:r>
            <a:r>
              <a:rPr lang="zh-CN" altLang="zh-CN" dirty="0"/>
              <a:t>）</a:t>
            </a:r>
          </a:p>
          <a:p>
            <a:pPr lvl="1"/>
            <a:r>
              <a:rPr lang="zh-CN" altLang="zh-CN" dirty="0"/>
              <a:t>（</a:t>
            </a:r>
            <a:r>
              <a:rPr lang="en-GB" altLang="zh-CN" dirty="0"/>
              <a:t>5</a:t>
            </a:r>
            <a:r>
              <a:rPr lang="zh-CN" altLang="zh-CN" dirty="0"/>
              <a:t>）中断目标</a:t>
            </a:r>
            <a:r>
              <a:rPr lang="en-GB" altLang="zh-CN" dirty="0"/>
              <a:t>CPU</a:t>
            </a:r>
            <a:r>
              <a:rPr lang="zh-CN" altLang="zh-CN" dirty="0"/>
              <a:t>配置寄存器（</a:t>
            </a:r>
            <a:r>
              <a:rPr lang="en-US" altLang="zh-CN" dirty="0"/>
              <a:t>ICDIPTRm_CPUn  m=0~39  n=0~3</a:t>
            </a:r>
            <a:r>
              <a:rPr lang="zh-CN" altLang="zh-CN" dirty="0"/>
              <a:t>）</a:t>
            </a:r>
          </a:p>
          <a:p>
            <a:endParaRPr lang="zh-CN" altLang="zh-CN" dirty="0"/>
          </a:p>
          <a:p>
            <a:endParaRPr kumimoji="1" lang="zh-CN" altLang="en-US" dirty="0"/>
          </a:p>
        </p:txBody>
      </p:sp>
    </p:spTree>
    <p:extLst>
      <p:ext uri="{BB962C8B-B14F-4D97-AF65-F5344CB8AC3E}">
        <p14:creationId xmlns:p14="http://schemas.microsoft.com/office/powerpoint/2010/main" val="173445942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GIC</a:t>
            </a:r>
            <a:r>
              <a:rPr lang="zh-CN" altLang="zh-CN" dirty="0"/>
              <a:t>中断实例硬件连接</a:t>
            </a:r>
            <a:br>
              <a:rPr lang="zh-CN" altLang="zh-CN" dirty="0"/>
            </a:br>
            <a:endParaRPr kumimoji="1" lang="zh-CN" altLang="en-US" dirty="0"/>
          </a:p>
        </p:txBody>
      </p:sp>
      <p:sp>
        <p:nvSpPr>
          <p:cNvPr id="3" name="文本占位符 2"/>
          <p:cNvSpPr>
            <a:spLocks noGrp="1"/>
          </p:cNvSpPr>
          <p:nvPr>
            <p:ph type="body" sz="quarter" idx="10"/>
          </p:nvPr>
        </p:nvSpPr>
        <p:spPr/>
        <p:txBody>
          <a:bodyPr/>
          <a:lstStyle/>
          <a:p>
            <a:endParaRPr kumimoji="1" lang="zh-CN" altLang="en-US" dirty="0"/>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3311691" y="2180861"/>
            <a:ext cx="4419600" cy="2507827"/>
          </a:xfrm>
          <a:prstGeom prst="rect">
            <a:avLst/>
          </a:prstGeom>
          <a:noFill/>
          <a:ln>
            <a:noFill/>
          </a:ln>
        </p:spPr>
      </p:pic>
    </p:spTree>
    <p:extLst>
      <p:ext uri="{BB962C8B-B14F-4D97-AF65-F5344CB8AC3E}">
        <p14:creationId xmlns:p14="http://schemas.microsoft.com/office/powerpoint/2010/main" val="6994469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GIC</a:t>
            </a:r>
            <a:r>
              <a:rPr lang="zh-CN" altLang="zh-CN" dirty="0"/>
              <a:t>中断实例软件设计</a:t>
            </a:r>
          </a:p>
        </p:txBody>
      </p:sp>
      <p:sp>
        <p:nvSpPr>
          <p:cNvPr id="3" name="文本占位符 2"/>
          <p:cNvSpPr>
            <a:spLocks noGrp="1"/>
          </p:cNvSpPr>
          <p:nvPr>
            <p:ph type="body" sz="quarter" idx="10"/>
          </p:nvPr>
        </p:nvSpPr>
        <p:spPr>
          <a:xfrm>
            <a:off x="787830" y="1136900"/>
            <a:ext cx="10685397" cy="4896544"/>
          </a:xfrm>
        </p:spPr>
        <p:txBody>
          <a:bodyPr>
            <a:normAutofit lnSpcReduction="10000"/>
          </a:bodyPr>
          <a:lstStyle/>
          <a:p>
            <a:pPr marL="0" indent="0">
              <a:buNone/>
            </a:pPr>
            <a:r>
              <a:rPr lang="zh-CN" altLang="zh-CN" dirty="0"/>
              <a:t>第一级：</a:t>
            </a:r>
            <a:r>
              <a:rPr lang="en-US" altLang="zh-CN" dirty="0"/>
              <a:t>GPIO</a:t>
            </a:r>
            <a:r>
              <a:rPr lang="zh-CN" altLang="zh-CN" dirty="0"/>
              <a:t>控制器</a:t>
            </a:r>
          </a:p>
          <a:p>
            <a:pPr marL="457200" lvl="1" indent="0">
              <a:buNone/>
            </a:pPr>
            <a:r>
              <a:rPr lang="zh-CN" altLang="zh-CN" dirty="0"/>
              <a:t>（</a:t>
            </a:r>
            <a:r>
              <a:rPr lang="en-US" altLang="zh-CN" dirty="0"/>
              <a:t>1</a:t>
            </a:r>
            <a:r>
              <a:rPr lang="zh-CN" altLang="zh-CN" dirty="0"/>
              <a:t>）设置</a:t>
            </a:r>
            <a:r>
              <a:rPr lang="en-US" altLang="zh-CN" dirty="0"/>
              <a:t>GPX1_1</a:t>
            </a:r>
            <a:r>
              <a:rPr lang="zh-CN" altLang="zh-CN" dirty="0"/>
              <a:t>引脚上拉和下拉</a:t>
            </a:r>
            <a:r>
              <a:rPr lang="en-US" altLang="zh-CN" dirty="0"/>
              <a:t>	</a:t>
            </a:r>
            <a:endParaRPr lang="zh-CN" altLang="zh-CN" dirty="0"/>
          </a:p>
          <a:p>
            <a:pPr marL="457200" lvl="1" indent="0">
              <a:buNone/>
            </a:pPr>
            <a:r>
              <a:rPr lang="zh-CN" altLang="zh-CN" dirty="0"/>
              <a:t>（</a:t>
            </a:r>
            <a:r>
              <a:rPr lang="en-US" altLang="zh-CN" dirty="0"/>
              <a:t>2</a:t>
            </a:r>
            <a:r>
              <a:rPr lang="zh-CN" altLang="zh-CN" dirty="0"/>
              <a:t>）设置</a:t>
            </a:r>
            <a:r>
              <a:rPr lang="en-US" altLang="zh-CN" dirty="0"/>
              <a:t>GPX1_1</a:t>
            </a:r>
            <a:r>
              <a:rPr lang="zh-CN" altLang="zh-CN" dirty="0"/>
              <a:t>引脚功能为中断功能</a:t>
            </a:r>
            <a:r>
              <a:rPr lang="en-US" altLang="zh-CN" dirty="0"/>
              <a:t> WAKEUP_INT1[1]</a:t>
            </a:r>
            <a:endParaRPr lang="zh-CN" altLang="zh-CN" dirty="0"/>
          </a:p>
          <a:p>
            <a:pPr marL="914400" lvl="2" indent="0">
              <a:buNone/>
            </a:pPr>
            <a:r>
              <a:rPr lang="en-US" altLang="zh-CN" dirty="0"/>
              <a:t>GPX1CON[7:4] = 0b1111</a:t>
            </a:r>
            <a:endParaRPr lang="zh-CN" altLang="zh-CN" dirty="0"/>
          </a:p>
          <a:p>
            <a:pPr marL="914400" lvl="2" indent="0">
              <a:buNone/>
            </a:pPr>
            <a:r>
              <a:rPr lang="en-US" altLang="zh-CN" dirty="0"/>
              <a:t>WAKEUP_INT1[1]</a:t>
            </a:r>
            <a:r>
              <a:rPr lang="zh-CN" altLang="zh-CN" dirty="0"/>
              <a:t>对应</a:t>
            </a:r>
            <a:r>
              <a:rPr lang="en-US" altLang="zh-CN" dirty="0"/>
              <a:t>EXT_INT41[1]</a:t>
            </a:r>
            <a:endParaRPr lang="zh-CN" altLang="zh-CN" dirty="0"/>
          </a:p>
          <a:p>
            <a:pPr marL="457200" lvl="1" indent="0">
              <a:buNone/>
            </a:pPr>
            <a:r>
              <a:rPr lang="zh-CN" altLang="zh-CN" dirty="0"/>
              <a:t>（</a:t>
            </a:r>
            <a:r>
              <a:rPr lang="en-US" altLang="zh-CN" dirty="0"/>
              <a:t>3</a:t>
            </a:r>
            <a:r>
              <a:rPr lang="zh-CN" altLang="zh-CN" dirty="0"/>
              <a:t>）</a:t>
            </a:r>
            <a:r>
              <a:rPr lang="en-US" altLang="zh-CN" dirty="0"/>
              <a:t>EXT_INT41CON </a:t>
            </a:r>
            <a:r>
              <a:rPr lang="zh-CN" altLang="zh-CN" dirty="0"/>
              <a:t>中断配置寄存器</a:t>
            </a:r>
          </a:p>
          <a:p>
            <a:pPr marL="914400" lvl="2" indent="0">
              <a:buNone/>
            </a:pPr>
            <a:r>
              <a:rPr lang="en-US" altLang="zh-CN" dirty="0"/>
              <a:t>EXT_INT41CON[6:4] = 0b010</a:t>
            </a:r>
            <a:endParaRPr lang="zh-CN" altLang="zh-CN" dirty="0"/>
          </a:p>
          <a:p>
            <a:pPr marL="457200" lvl="1" indent="0">
              <a:buNone/>
            </a:pPr>
            <a:r>
              <a:rPr lang="zh-CN" altLang="zh-CN" dirty="0"/>
              <a:t>（</a:t>
            </a:r>
            <a:r>
              <a:rPr lang="en-US" altLang="zh-CN" dirty="0"/>
              <a:t>4</a:t>
            </a:r>
            <a:r>
              <a:rPr lang="zh-CN" altLang="zh-CN" dirty="0"/>
              <a:t>）</a:t>
            </a:r>
            <a:r>
              <a:rPr lang="en-US" altLang="zh-CN" dirty="0"/>
              <a:t>EXT_INT41_FLTCON0  </a:t>
            </a:r>
            <a:r>
              <a:rPr lang="zh-CN" altLang="zh-CN" dirty="0"/>
              <a:t>中断滤波寄存器</a:t>
            </a:r>
            <a:endParaRPr lang="en-US" altLang="zh-CN" dirty="0"/>
          </a:p>
          <a:p>
            <a:pPr marL="914400" lvl="2" indent="0">
              <a:buNone/>
            </a:pPr>
            <a:r>
              <a:rPr lang="zh-CN" altLang="zh-CN" dirty="0"/>
              <a:t>默认使能，不需要设置。</a:t>
            </a:r>
          </a:p>
          <a:p>
            <a:pPr marL="457200" lvl="1" indent="0">
              <a:buNone/>
            </a:pPr>
            <a:r>
              <a:rPr lang="zh-CN" altLang="zh-CN" dirty="0"/>
              <a:t>（</a:t>
            </a:r>
            <a:r>
              <a:rPr lang="en-US" altLang="zh-CN" dirty="0"/>
              <a:t>5</a:t>
            </a:r>
            <a:r>
              <a:rPr lang="zh-CN" altLang="zh-CN" dirty="0"/>
              <a:t>）</a:t>
            </a:r>
            <a:r>
              <a:rPr lang="en-US" altLang="zh-CN" dirty="0"/>
              <a:t>EXT_INT41_MASK  </a:t>
            </a:r>
            <a:r>
              <a:rPr lang="zh-CN" altLang="zh-CN" dirty="0"/>
              <a:t>中断使能寄存器</a:t>
            </a:r>
            <a:endParaRPr lang="en-US" altLang="zh-CN" dirty="0"/>
          </a:p>
          <a:p>
            <a:pPr marL="914400" lvl="2" indent="0">
              <a:buNone/>
            </a:pPr>
            <a:r>
              <a:rPr lang="zh-CN" altLang="zh-CN" dirty="0"/>
              <a:t>使能：</a:t>
            </a:r>
            <a:r>
              <a:rPr lang="en-US" altLang="zh-CN" dirty="0"/>
              <a:t>EXT_INT41_MASK[1] =0b0</a:t>
            </a:r>
            <a:endParaRPr lang="zh-CN" altLang="zh-CN" dirty="0"/>
          </a:p>
          <a:p>
            <a:pPr marL="457200" lvl="1" indent="0">
              <a:buNone/>
            </a:pPr>
            <a:r>
              <a:rPr lang="zh-CN" altLang="zh-CN" dirty="0"/>
              <a:t>（</a:t>
            </a:r>
            <a:r>
              <a:rPr lang="en-US" altLang="zh-CN" dirty="0"/>
              <a:t>6</a:t>
            </a:r>
            <a:r>
              <a:rPr lang="zh-CN" altLang="zh-CN" dirty="0"/>
              <a:t>）</a:t>
            </a:r>
            <a:r>
              <a:rPr lang="en-US" altLang="zh-CN" dirty="0"/>
              <a:t>EXT_INT41_PEND </a:t>
            </a:r>
            <a:r>
              <a:rPr lang="zh-CN" altLang="zh-CN" dirty="0"/>
              <a:t>中断状态寄存器</a:t>
            </a:r>
            <a:endParaRPr lang="en-US" altLang="zh-CN" dirty="0"/>
          </a:p>
          <a:p>
            <a:pPr marL="914400" lvl="2" indent="0">
              <a:buNone/>
            </a:pPr>
            <a:r>
              <a:rPr lang="zh-CN" altLang="zh-CN" dirty="0"/>
              <a:t>当引脚接收到下降沿，中断</a:t>
            </a:r>
            <a:r>
              <a:rPr lang="en-US" altLang="zh-CN" dirty="0"/>
              <a:t>EXT_INT41[1]</a:t>
            </a:r>
            <a:r>
              <a:rPr lang="zh-CN" altLang="zh-CN" dirty="0"/>
              <a:t>发生，</a:t>
            </a:r>
            <a:r>
              <a:rPr lang="en-US" altLang="zh-CN" dirty="0"/>
              <a:t>EXT_INT41_PEND[1]</a:t>
            </a:r>
            <a:r>
              <a:rPr lang="zh-CN" altLang="zh-CN" dirty="0"/>
              <a:t>自动置</a:t>
            </a:r>
            <a:r>
              <a:rPr lang="en-US" altLang="zh-CN" dirty="0"/>
              <a:t>1</a:t>
            </a:r>
            <a:r>
              <a:rPr lang="zh-CN" altLang="zh-CN" dirty="0"/>
              <a:t>，表示该中断发生。</a:t>
            </a:r>
            <a:endParaRPr lang="en-US" altLang="zh-CN" dirty="0"/>
          </a:p>
          <a:p>
            <a:pPr marL="914400" lvl="2" indent="0">
              <a:buNone/>
            </a:pPr>
            <a:r>
              <a:rPr lang="zh-CN" altLang="zh-CN" dirty="0"/>
              <a:t>注意：中断处理完成后，需要软件清理：</a:t>
            </a:r>
            <a:r>
              <a:rPr lang="en-US" altLang="zh-CN" dirty="0"/>
              <a:t>EXT_INT41_PEND[1] =1</a:t>
            </a:r>
            <a:r>
              <a:rPr lang="zh-CN" altLang="zh-CN" dirty="0"/>
              <a:t>。</a:t>
            </a:r>
          </a:p>
        </p:txBody>
      </p:sp>
    </p:spTree>
    <p:extLst>
      <p:ext uri="{BB962C8B-B14F-4D97-AF65-F5344CB8AC3E}">
        <p14:creationId xmlns:p14="http://schemas.microsoft.com/office/powerpoint/2010/main" val="88686672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GIC</a:t>
            </a:r>
            <a:r>
              <a:rPr lang="zh-CN" altLang="zh-CN" dirty="0"/>
              <a:t>中断实例软件设计</a:t>
            </a:r>
          </a:p>
        </p:txBody>
      </p:sp>
      <p:sp>
        <p:nvSpPr>
          <p:cNvPr id="3" name="文本占位符 2"/>
          <p:cNvSpPr>
            <a:spLocks noGrp="1"/>
          </p:cNvSpPr>
          <p:nvPr>
            <p:ph type="body" sz="quarter" idx="10"/>
          </p:nvPr>
        </p:nvSpPr>
        <p:spPr>
          <a:xfrm>
            <a:off x="883138" y="1220755"/>
            <a:ext cx="10589459" cy="4896544"/>
          </a:xfrm>
        </p:spPr>
        <p:txBody>
          <a:bodyPr>
            <a:normAutofit/>
          </a:bodyPr>
          <a:lstStyle/>
          <a:p>
            <a:pPr marL="0" indent="0">
              <a:buNone/>
            </a:pPr>
            <a:r>
              <a:rPr lang="zh-CN" altLang="zh-CN" dirty="0"/>
              <a:t>第二级：</a:t>
            </a:r>
            <a:r>
              <a:rPr lang="en-US" altLang="zh-CN" dirty="0"/>
              <a:t>GIC</a:t>
            </a:r>
            <a:r>
              <a:rPr lang="zh-CN" altLang="zh-CN" dirty="0"/>
              <a:t>控制器</a:t>
            </a:r>
          </a:p>
          <a:p>
            <a:pPr marL="914400" lvl="2" indent="0">
              <a:buNone/>
            </a:pPr>
            <a:r>
              <a:rPr lang="en-US" altLang="zh-CN" dirty="0"/>
              <a:t>GPIO</a:t>
            </a:r>
            <a:r>
              <a:rPr lang="zh-CN" altLang="zh-CN" dirty="0"/>
              <a:t>控制器一级和</a:t>
            </a:r>
            <a:r>
              <a:rPr lang="en-US" altLang="zh-CN" dirty="0"/>
              <a:t>GIC</a:t>
            </a:r>
            <a:r>
              <a:rPr lang="zh-CN" altLang="zh-CN" dirty="0"/>
              <a:t>控制器一级对中断名称的对应关系：</a:t>
            </a:r>
          </a:p>
          <a:p>
            <a:pPr marL="914400" lvl="2" indent="0">
              <a:buNone/>
            </a:pPr>
            <a:r>
              <a:rPr lang="en-US" altLang="zh-CN" dirty="0"/>
              <a:t>WAKEUP_INT1[1]</a:t>
            </a:r>
            <a:r>
              <a:rPr lang="zh-CN" altLang="zh-CN" dirty="0"/>
              <a:t>对应</a:t>
            </a:r>
            <a:r>
              <a:rPr lang="en-US" altLang="zh-CN" dirty="0"/>
              <a:t>EXT_INT41[1]</a:t>
            </a:r>
            <a:r>
              <a:rPr lang="zh-CN" altLang="zh-CN" dirty="0"/>
              <a:t>对应</a:t>
            </a:r>
            <a:r>
              <a:rPr lang="en-US" altLang="zh-CN" dirty="0"/>
              <a:t>EINT[9]</a:t>
            </a:r>
            <a:r>
              <a:rPr lang="zh-CN" altLang="zh-CN" dirty="0"/>
              <a:t>对应</a:t>
            </a:r>
            <a:r>
              <a:rPr lang="en-US" altLang="zh-CN" dirty="0"/>
              <a:t>SPI25/ID57</a:t>
            </a:r>
            <a:endParaRPr lang="zh-CN" altLang="zh-CN" dirty="0"/>
          </a:p>
          <a:p>
            <a:pPr marL="457200" lvl="1" indent="0">
              <a:buNone/>
            </a:pPr>
            <a:r>
              <a:rPr lang="zh-CN" altLang="zh-CN" dirty="0"/>
              <a:t>（</a:t>
            </a:r>
            <a:r>
              <a:rPr lang="en-US" altLang="zh-CN" dirty="0"/>
              <a:t>1</a:t>
            </a:r>
            <a:r>
              <a:rPr lang="zh-CN" altLang="zh-CN" dirty="0"/>
              <a:t>）使能</a:t>
            </a:r>
            <a:r>
              <a:rPr lang="en-US" altLang="zh-CN" dirty="0"/>
              <a:t>CPU0</a:t>
            </a:r>
            <a:r>
              <a:rPr lang="zh-CN" altLang="zh-CN" dirty="0"/>
              <a:t>的</a:t>
            </a:r>
            <a:r>
              <a:rPr lang="en-US" altLang="zh-CN" dirty="0"/>
              <a:t>SPI25/ID57</a:t>
            </a:r>
            <a:endParaRPr lang="zh-CN" altLang="zh-CN" dirty="0"/>
          </a:p>
          <a:p>
            <a:pPr marL="914400" lvl="2" indent="0">
              <a:buNone/>
            </a:pPr>
            <a:r>
              <a:rPr lang="en-US" altLang="zh-CN" dirty="0"/>
              <a:t>ICDISER.ICDISER1 |= (0x1 &lt;&lt; 25);</a:t>
            </a:r>
          </a:p>
          <a:p>
            <a:pPr marL="514350" lvl="1" indent="0" algn="just">
              <a:buNone/>
            </a:pPr>
            <a:r>
              <a:rPr lang="zh-CN" altLang="zh-CN" dirty="0"/>
              <a:t>（</a:t>
            </a:r>
            <a:r>
              <a:rPr lang="en-US" altLang="zh-CN" dirty="0"/>
              <a:t>2</a:t>
            </a:r>
            <a:r>
              <a:rPr lang="zh-CN" altLang="zh-CN" dirty="0"/>
              <a:t>）全局使能</a:t>
            </a:r>
            <a:r>
              <a:rPr lang="en-US" altLang="zh-CN" dirty="0"/>
              <a:t>CPU0</a:t>
            </a:r>
            <a:endParaRPr lang="zh-CN" altLang="zh-CN" dirty="0"/>
          </a:p>
          <a:p>
            <a:pPr marL="914400" lvl="2" indent="0">
              <a:buNone/>
            </a:pPr>
            <a:r>
              <a:rPr lang="en-US" altLang="zh-CN" dirty="0"/>
              <a:t>CPU0.ICCICR |= 0x1; </a:t>
            </a:r>
            <a:endParaRPr lang="zh-CN" altLang="zh-CN" dirty="0"/>
          </a:p>
          <a:p>
            <a:pPr marL="457200" lvl="1" indent="0">
              <a:buNone/>
            </a:pPr>
            <a:r>
              <a:rPr lang="zh-CN" altLang="zh-CN" dirty="0"/>
              <a:t>（</a:t>
            </a:r>
            <a:r>
              <a:rPr lang="en-US" altLang="zh-CN" dirty="0"/>
              <a:t>3</a:t>
            </a:r>
            <a:r>
              <a:rPr lang="zh-CN" altLang="zh-CN" dirty="0"/>
              <a:t>）设置</a:t>
            </a:r>
            <a:r>
              <a:rPr lang="en-US" altLang="zh-CN" dirty="0"/>
              <a:t>CPU0</a:t>
            </a:r>
            <a:r>
              <a:rPr lang="zh-CN" altLang="zh-CN" dirty="0"/>
              <a:t>能够处理所有优先级的中断</a:t>
            </a:r>
          </a:p>
          <a:p>
            <a:pPr marL="914400" lvl="2" indent="0">
              <a:buNone/>
            </a:pPr>
            <a:r>
              <a:rPr lang="en-US" altLang="zh-CN" dirty="0"/>
              <a:t>CPU0.ICCPMR = 0xFF;</a:t>
            </a:r>
            <a:endParaRPr lang="zh-CN" altLang="zh-CN" dirty="0"/>
          </a:p>
          <a:p>
            <a:pPr marL="457200" lvl="1" indent="0">
              <a:buNone/>
            </a:pPr>
            <a:r>
              <a:rPr lang="zh-CN" altLang="zh-CN" dirty="0"/>
              <a:t>（</a:t>
            </a:r>
            <a:r>
              <a:rPr lang="en-US" altLang="zh-CN" dirty="0"/>
              <a:t>4</a:t>
            </a:r>
            <a:r>
              <a:rPr lang="zh-CN" altLang="zh-CN" dirty="0"/>
              <a:t>）</a:t>
            </a:r>
            <a:r>
              <a:rPr lang="en-US" altLang="zh-CN" dirty="0"/>
              <a:t>GIC</a:t>
            </a:r>
            <a:r>
              <a:rPr lang="zh-CN" altLang="zh-CN" dirty="0"/>
              <a:t>使能</a:t>
            </a:r>
          </a:p>
          <a:p>
            <a:pPr marL="914400" lvl="2" indent="0">
              <a:buNone/>
            </a:pPr>
            <a:r>
              <a:rPr lang="en-US" altLang="zh-CN" dirty="0"/>
              <a:t>ICDDCR = 1;</a:t>
            </a:r>
            <a:endParaRPr lang="zh-CN" altLang="zh-CN" dirty="0"/>
          </a:p>
          <a:p>
            <a:pPr marL="457200" lvl="1" indent="0">
              <a:buNone/>
            </a:pPr>
            <a:r>
              <a:rPr lang="zh-CN" altLang="zh-CN" dirty="0"/>
              <a:t>（</a:t>
            </a:r>
            <a:r>
              <a:rPr lang="en-US" altLang="zh-CN" dirty="0"/>
              <a:t>5</a:t>
            </a:r>
            <a:r>
              <a:rPr lang="zh-CN" altLang="zh-CN" dirty="0"/>
              <a:t>）设置将</a:t>
            </a:r>
            <a:r>
              <a:rPr lang="en-US" altLang="zh-CN" dirty="0"/>
              <a:t>SPI25 </a:t>
            </a:r>
            <a:r>
              <a:rPr lang="zh-CN" altLang="zh-CN" dirty="0"/>
              <a:t>发送给</a:t>
            </a:r>
            <a:r>
              <a:rPr lang="en-US" altLang="zh-CN" dirty="0"/>
              <a:t>CPU0</a:t>
            </a:r>
            <a:r>
              <a:rPr lang="zh-CN" altLang="zh-CN" dirty="0"/>
              <a:t>处理</a:t>
            </a:r>
          </a:p>
          <a:p>
            <a:pPr marL="914400" lvl="2" indent="0">
              <a:buNone/>
            </a:pPr>
            <a:r>
              <a:rPr lang="en-US" altLang="zh-CN" dirty="0"/>
              <a:t>ICDIPTR.ICDIPTR14 |= 0x01&lt;&lt;8;</a:t>
            </a:r>
            <a:endParaRPr lang="zh-CN" altLang="zh-CN" dirty="0"/>
          </a:p>
        </p:txBody>
      </p:sp>
    </p:spTree>
    <p:extLst>
      <p:ext uri="{BB962C8B-B14F-4D97-AF65-F5344CB8AC3E}">
        <p14:creationId xmlns:p14="http://schemas.microsoft.com/office/powerpoint/2010/main" val="203258731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GIC</a:t>
            </a:r>
            <a:r>
              <a:rPr lang="zh-CN" altLang="zh-CN" dirty="0"/>
              <a:t>中断实例软件设计</a:t>
            </a:r>
          </a:p>
        </p:txBody>
      </p:sp>
      <p:sp>
        <p:nvSpPr>
          <p:cNvPr id="3" name="文本占位符 2"/>
          <p:cNvSpPr>
            <a:spLocks noGrp="1"/>
          </p:cNvSpPr>
          <p:nvPr>
            <p:ph type="body" sz="quarter" idx="10"/>
          </p:nvPr>
        </p:nvSpPr>
        <p:spPr/>
        <p:txBody>
          <a:bodyPr/>
          <a:lstStyle/>
          <a:p>
            <a:pPr marL="0" indent="0">
              <a:buNone/>
            </a:pPr>
            <a:r>
              <a:rPr lang="zh-CN" altLang="zh-CN" dirty="0"/>
              <a:t>第三级：</a:t>
            </a:r>
            <a:r>
              <a:rPr lang="en-US" altLang="zh-CN" dirty="0"/>
              <a:t>ARM</a:t>
            </a:r>
            <a:r>
              <a:rPr lang="zh-CN" altLang="zh-CN" dirty="0"/>
              <a:t>核</a:t>
            </a:r>
          </a:p>
          <a:p>
            <a:pPr lvl="1"/>
            <a:endParaRPr lang="en-US" altLang="zh-CN" dirty="0"/>
          </a:p>
          <a:p>
            <a:pPr marL="457200" lvl="1" indent="0">
              <a:buNone/>
            </a:pPr>
            <a:r>
              <a:rPr lang="zh-CN" altLang="zh-CN" dirty="0"/>
              <a:t>（</a:t>
            </a:r>
            <a:r>
              <a:rPr lang="en-US" altLang="zh-CN" dirty="0"/>
              <a:t>1</a:t>
            </a:r>
            <a:r>
              <a:rPr lang="zh-CN" altLang="zh-CN" dirty="0"/>
              <a:t>）</a:t>
            </a:r>
            <a:r>
              <a:rPr lang="en-US" altLang="zh-CN" dirty="0"/>
              <a:t>ARM</a:t>
            </a:r>
            <a:r>
              <a:rPr lang="zh-CN" altLang="zh-CN" dirty="0"/>
              <a:t>核中断使能</a:t>
            </a:r>
          </a:p>
          <a:p>
            <a:pPr marL="457200" lvl="1" indent="0">
              <a:buNone/>
            </a:pPr>
            <a:r>
              <a:rPr lang="zh-CN" altLang="zh-CN" dirty="0"/>
              <a:t>（</a:t>
            </a:r>
            <a:r>
              <a:rPr lang="en-US" altLang="zh-CN" dirty="0"/>
              <a:t>2</a:t>
            </a:r>
            <a:r>
              <a:rPr lang="zh-CN" altLang="zh-CN" dirty="0"/>
              <a:t>）四大步三小步对应硬件</a:t>
            </a:r>
          </a:p>
          <a:p>
            <a:pPr marL="457200" lvl="1" indent="0">
              <a:buNone/>
            </a:pPr>
            <a:r>
              <a:rPr lang="zh-CN" altLang="zh-CN" dirty="0"/>
              <a:t>（</a:t>
            </a:r>
            <a:r>
              <a:rPr lang="en-US" altLang="zh-CN" dirty="0"/>
              <a:t>3</a:t>
            </a:r>
            <a:r>
              <a:rPr lang="zh-CN" altLang="zh-CN" dirty="0"/>
              <a:t>）中断服务程序对应汇编</a:t>
            </a:r>
            <a:r>
              <a:rPr lang="en-US" altLang="zh-CN" dirty="0"/>
              <a:t>start</a:t>
            </a:r>
            <a:r>
              <a:rPr lang="zh-CN" altLang="zh-CN" dirty="0"/>
              <a:t>、</a:t>
            </a:r>
            <a:r>
              <a:rPr lang="en-US" altLang="zh-CN" dirty="0"/>
              <a:t>S</a:t>
            </a:r>
            <a:r>
              <a:rPr lang="zh-CN" altLang="zh-CN" dirty="0"/>
              <a:t>程序中</a:t>
            </a:r>
            <a:r>
              <a:rPr lang="en-US" altLang="zh-CN" dirty="0"/>
              <a:t>Sirq _ handle</a:t>
            </a:r>
            <a:endParaRPr lang="zh-CN" altLang="zh-CN" dirty="0"/>
          </a:p>
          <a:p>
            <a:pPr marL="457200" lvl="1" indent="0">
              <a:buNone/>
            </a:pPr>
            <a:r>
              <a:rPr lang="zh-CN" altLang="zh-CN" dirty="0"/>
              <a:t>（</a:t>
            </a:r>
            <a:r>
              <a:rPr lang="en-US" altLang="zh-CN" dirty="0"/>
              <a:t>4</a:t>
            </a:r>
            <a:r>
              <a:rPr lang="zh-CN" altLang="zh-CN" dirty="0"/>
              <a:t>）中断处理程序对应</a:t>
            </a:r>
            <a:r>
              <a:rPr lang="en-US" altLang="zh-CN" dirty="0"/>
              <a:t>C</a:t>
            </a:r>
            <a:r>
              <a:rPr lang="zh-CN" altLang="zh-CN" dirty="0"/>
              <a:t>语言程序</a:t>
            </a:r>
            <a:r>
              <a:rPr lang="en-US" altLang="zh-CN" dirty="0"/>
              <a:t>do_irq</a:t>
            </a:r>
            <a:r>
              <a:rPr lang="zh-CN" altLang="zh-CN" dirty="0"/>
              <a:t>函数（</a:t>
            </a:r>
            <a:r>
              <a:rPr lang="en-US" altLang="zh-CN" dirty="0"/>
              <a:t>void name</a:t>
            </a:r>
            <a:r>
              <a:rPr lang="zh-CN" altLang="zh-CN" dirty="0"/>
              <a:t>（</a:t>
            </a:r>
            <a:r>
              <a:rPr lang="en-US" altLang="zh-CN" dirty="0"/>
              <a:t>void</a:t>
            </a:r>
            <a:r>
              <a:rPr lang="zh-CN" altLang="zh-CN" dirty="0"/>
              <a:t>））</a:t>
            </a:r>
            <a:endParaRPr lang="en-US" altLang="zh-CN" dirty="0"/>
          </a:p>
          <a:p>
            <a:pPr marL="1371600" lvl="3" indent="0">
              <a:buNone/>
            </a:pPr>
            <a:r>
              <a:rPr lang="en-US" altLang="zh-CN" dirty="0"/>
              <a:t>a</a:t>
            </a:r>
            <a:r>
              <a:rPr lang="zh-CN" altLang="zh-CN" dirty="0"/>
              <a:t>）读取</a:t>
            </a:r>
            <a:r>
              <a:rPr lang="en-US" altLang="zh-CN" dirty="0"/>
              <a:t>ICCIAR </a:t>
            </a:r>
            <a:r>
              <a:rPr lang="zh-CN" altLang="zh-CN" dirty="0"/>
              <a:t>寄存器获得需要处理哪个中断</a:t>
            </a:r>
            <a:endParaRPr lang="en-US" altLang="zh-CN" dirty="0"/>
          </a:p>
          <a:p>
            <a:pPr marL="1371600" lvl="3" indent="0">
              <a:buNone/>
            </a:pPr>
            <a:r>
              <a:rPr lang="en-US" altLang="zh-CN" dirty="0"/>
              <a:t>b</a:t>
            </a:r>
            <a:r>
              <a:rPr lang="zh-CN" altLang="zh-CN" dirty="0"/>
              <a:t>）根据</a:t>
            </a:r>
            <a:r>
              <a:rPr lang="en-US" altLang="zh-CN" dirty="0"/>
              <a:t>a</a:t>
            </a:r>
            <a:r>
              <a:rPr lang="zh-CN" altLang="zh-CN" dirty="0"/>
              <a:t>中读取的结果，分支处理，调用具体的中断处理函数</a:t>
            </a:r>
            <a:endParaRPr lang="en-US" altLang="zh-CN" dirty="0"/>
          </a:p>
          <a:p>
            <a:pPr marL="1371600" lvl="3" indent="0">
              <a:buNone/>
            </a:pPr>
            <a:r>
              <a:rPr lang="en-US" altLang="zh-CN" dirty="0"/>
              <a:t>c</a:t>
            </a:r>
            <a:r>
              <a:rPr lang="zh-CN" altLang="zh-CN" dirty="0"/>
              <a:t>）中断处理程序执行结束，写入相同的中断</a:t>
            </a:r>
            <a:r>
              <a:rPr lang="en-US" altLang="zh-CN" dirty="0"/>
              <a:t>ID</a:t>
            </a:r>
            <a:r>
              <a:rPr lang="zh-CN" altLang="zh-CN" dirty="0"/>
              <a:t>号中断结束寄存器（</a:t>
            </a:r>
            <a:r>
              <a:rPr lang="en-US" altLang="zh-CN" dirty="0"/>
              <a:t>ICCEOIR</a:t>
            </a:r>
            <a:r>
              <a:rPr lang="zh-CN" altLang="zh-CN" dirty="0"/>
              <a:t>）</a:t>
            </a:r>
          </a:p>
          <a:p>
            <a:pPr marL="0" indent="0">
              <a:buNone/>
            </a:pPr>
            <a:r>
              <a:rPr lang="en-US" altLang="zh-CN" dirty="0"/>
              <a:t>		</a:t>
            </a:r>
            <a:endParaRPr kumimoji="1" lang="zh-CN" altLang="en-US" dirty="0"/>
          </a:p>
        </p:txBody>
      </p:sp>
    </p:spTree>
    <p:extLst>
      <p:ext uri="{BB962C8B-B14F-4D97-AF65-F5344CB8AC3E}">
        <p14:creationId xmlns:p14="http://schemas.microsoft.com/office/powerpoint/2010/main" val="167264718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Rectangle 2"/>
          <p:cNvSpPr>
            <a:spLocks noGrp="1" noChangeArrowheads="1"/>
          </p:cNvSpPr>
          <p:nvPr>
            <p:ph type="title"/>
          </p:nvPr>
        </p:nvSpPr>
        <p:spPr/>
        <p:txBody>
          <a:bodyPr/>
          <a:lstStyle/>
          <a:p>
            <a:r>
              <a:rPr lang="en-US" altLang="zh-CN" dirty="0"/>
              <a:t>5.4.1  UART(0</a:t>
            </a:r>
            <a:r>
              <a:rPr lang="zh-CN" altLang="en-US" dirty="0"/>
              <a:t>、</a:t>
            </a:r>
            <a:r>
              <a:rPr lang="en-US" altLang="zh-CN" dirty="0"/>
              <a:t>1)</a:t>
            </a:r>
          </a:p>
        </p:txBody>
      </p:sp>
      <p:sp>
        <p:nvSpPr>
          <p:cNvPr id="709635" name="Rectangle 3"/>
          <p:cNvSpPr>
            <a:spLocks noChangeArrowheads="1"/>
          </p:cNvSpPr>
          <p:nvPr/>
        </p:nvSpPr>
        <p:spPr bwMode="auto">
          <a:xfrm>
            <a:off x="2209800" y="1773238"/>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特性</a:t>
            </a:r>
          </a:p>
        </p:txBody>
      </p:sp>
      <p:sp>
        <p:nvSpPr>
          <p:cNvPr id="709636" name="Text Box 4"/>
          <p:cNvSpPr txBox="1">
            <a:spLocks noChangeArrowheads="1"/>
          </p:cNvSpPr>
          <p:nvPr/>
        </p:nvSpPr>
        <p:spPr bwMode="auto">
          <a:xfrm>
            <a:off x="2568575" y="2538413"/>
            <a:ext cx="7056438" cy="3157788"/>
          </a:xfrm>
          <a:prstGeom prst="rect">
            <a:avLst/>
          </a:prstGeom>
          <a:noFill/>
          <a:ln w="9525">
            <a:noFill/>
            <a:miter lim="800000"/>
            <a:headEnd/>
            <a:tailEnd/>
          </a:ln>
          <a:effectLst/>
        </p:spPr>
        <p:txBody>
          <a:bodyPr>
            <a:spAutoFit/>
          </a:bodyPr>
          <a:lstStyle/>
          <a:p>
            <a:pPr algn="l">
              <a:spcBef>
                <a:spcPct val="50000"/>
              </a:spcBef>
            </a:pPr>
            <a:r>
              <a:rPr lang="en-US" altLang="zh-CN" sz="2400">
                <a:latin typeface="华文新魏" pitchFamily="2" charset="-122"/>
                <a:ea typeface="华文新魏" pitchFamily="2" charset="-122"/>
              </a:rPr>
              <a:t>        LPC2000</a:t>
            </a:r>
            <a:r>
              <a:rPr lang="zh-CN" altLang="en-US" sz="2400">
                <a:latin typeface="华文新魏" pitchFamily="2" charset="-122"/>
                <a:ea typeface="华文新魏" pitchFamily="2" charset="-122"/>
              </a:rPr>
              <a:t>系列微控制器具有两个功能强大的</a:t>
            </a:r>
            <a:r>
              <a:rPr lang="en-US" altLang="zh-CN" sz="2400">
                <a:latin typeface="华文新魏" pitchFamily="2" charset="-122"/>
                <a:ea typeface="华文新魏" pitchFamily="2" charset="-122"/>
              </a:rPr>
              <a:t>UART</a:t>
            </a:r>
            <a:r>
              <a:rPr lang="zh-CN" altLang="en-US" sz="2400">
                <a:latin typeface="华文新魏" pitchFamily="2" charset="-122"/>
                <a:ea typeface="华文新魏" pitchFamily="2" charset="-122"/>
              </a:rPr>
              <a:t>，其特性如下：</a:t>
            </a:r>
          </a:p>
          <a:p>
            <a:pPr lvl="1" algn="l">
              <a:spcBef>
                <a:spcPct val="50000"/>
              </a:spcBef>
              <a:buClr>
                <a:srgbClr val="0000FF"/>
              </a:buClr>
              <a:buFont typeface="Wingdings" pitchFamily="2" charset="2"/>
              <a:buChar char="§"/>
            </a:pPr>
            <a:r>
              <a:rPr lang="zh-CN" altLang="en-US" sz="2400">
                <a:latin typeface="华文新魏" pitchFamily="2" charset="-122"/>
                <a:ea typeface="华文新魏" pitchFamily="2" charset="-122"/>
              </a:rPr>
              <a:t>  </a:t>
            </a:r>
            <a:r>
              <a:rPr lang="en-US" altLang="zh-CN" sz="2400">
                <a:latin typeface="华文新魏" pitchFamily="2" charset="-122"/>
                <a:ea typeface="华文新魏" pitchFamily="2" charset="-122"/>
              </a:rPr>
              <a:t>16</a:t>
            </a:r>
            <a:r>
              <a:rPr lang="zh-CN" altLang="en-US" sz="2400">
                <a:latin typeface="华文新魏" pitchFamily="2" charset="-122"/>
                <a:ea typeface="华文新魏" pitchFamily="2" charset="-122"/>
              </a:rPr>
              <a:t>字节接收</a:t>
            </a:r>
            <a:r>
              <a:rPr lang="en-US" altLang="zh-CN" sz="2400">
                <a:latin typeface="华文新魏" pitchFamily="2" charset="-122"/>
                <a:ea typeface="华文新魏" pitchFamily="2" charset="-122"/>
              </a:rPr>
              <a:t>FIFO</a:t>
            </a:r>
            <a:r>
              <a:rPr lang="zh-CN" altLang="en-US" sz="2400">
                <a:latin typeface="华文新魏" pitchFamily="2" charset="-122"/>
                <a:ea typeface="华文新魏" pitchFamily="2" charset="-122"/>
              </a:rPr>
              <a:t>和</a:t>
            </a:r>
            <a:r>
              <a:rPr lang="en-US" altLang="zh-CN" sz="2400">
                <a:latin typeface="华文新魏" pitchFamily="2" charset="-122"/>
                <a:ea typeface="华文新魏" pitchFamily="2" charset="-122"/>
              </a:rPr>
              <a:t>16</a:t>
            </a:r>
            <a:r>
              <a:rPr lang="zh-CN" altLang="en-US" sz="2400">
                <a:latin typeface="华文新魏" pitchFamily="2" charset="-122"/>
                <a:ea typeface="华文新魏" pitchFamily="2" charset="-122"/>
              </a:rPr>
              <a:t>字节发送</a:t>
            </a:r>
            <a:r>
              <a:rPr lang="en-US" altLang="zh-CN" sz="2400">
                <a:latin typeface="华文新魏" pitchFamily="2" charset="-122"/>
                <a:ea typeface="华文新魏" pitchFamily="2" charset="-122"/>
              </a:rPr>
              <a:t>FIFO</a:t>
            </a:r>
            <a:r>
              <a:rPr lang="zh-CN" altLang="en-US" sz="2400">
                <a:latin typeface="华文新魏" pitchFamily="2" charset="-122"/>
                <a:ea typeface="华文新魏" pitchFamily="2" charset="-122"/>
              </a:rPr>
              <a:t>；</a:t>
            </a:r>
          </a:p>
          <a:p>
            <a:pPr lvl="1" algn="l">
              <a:spcBef>
                <a:spcPct val="20000"/>
              </a:spcBef>
              <a:buClr>
                <a:srgbClr val="0000FF"/>
              </a:buClr>
              <a:buFont typeface="Wingdings" pitchFamily="2" charset="2"/>
              <a:buChar char="§"/>
            </a:pPr>
            <a:r>
              <a:rPr lang="zh-CN" altLang="en-US" sz="2400">
                <a:latin typeface="华文新魏" pitchFamily="2" charset="-122"/>
                <a:ea typeface="华文新魏" pitchFamily="2" charset="-122"/>
              </a:rPr>
              <a:t>  寄存器位置符合</a:t>
            </a:r>
            <a:r>
              <a:rPr lang="en-US" altLang="zh-CN" sz="2400">
                <a:latin typeface="华文新魏" pitchFamily="2" charset="-122"/>
                <a:ea typeface="华文新魏" pitchFamily="2" charset="-122"/>
              </a:rPr>
              <a:t>16C550</a:t>
            </a:r>
            <a:r>
              <a:rPr lang="zh-CN" altLang="en-US" sz="2400">
                <a:latin typeface="华文新魏" pitchFamily="2" charset="-122"/>
                <a:ea typeface="华文新魏" pitchFamily="2" charset="-122"/>
              </a:rPr>
              <a:t>工业标准；</a:t>
            </a:r>
          </a:p>
          <a:p>
            <a:pPr lvl="1" algn="l">
              <a:spcBef>
                <a:spcPct val="20000"/>
              </a:spcBef>
              <a:buClr>
                <a:srgbClr val="0000FF"/>
              </a:buClr>
              <a:buFont typeface="Wingdings" pitchFamily="2" charset="2"/>
              <a:buChar char="§"/>
            </a:pPr>
            <a:r>
              <a:rPr lang="zh-CN" altLang="en-US" sz="2400">
                <a:latin typeface="华文新魏" pitchFamily="2" charset="-122"/>
                <a:ea typeface="华文新魏" pitchFamily="2" charset="-122"/>
              </a:rPr>
              <a:t>  接收</a:t>
            </a:r>
            <a:r>
              <a:rPr lang="en-US" altLang="zh-CN" sz="2400">
                <a:latin typeface="华文新魏" pitchFamily="2" charset="-122"/>
                <a:ea typeface="华文新魏" pitchFamily="2" charset="-122"/>
              </a:rPr>
              <a:t>FIFO</a:t>
            </a:r>
            <a:r>
              <a:rPr lang="zh-CN" altLang="en-US" sz="2400">
                <a:latin typeface="华文新魏" pitchFamily="2" charset="-122"/>
                <a:ea typeface="华文新魏" pitchFamily="2" charset="-122"/>
              </a:rPr>
              <a:t>触发点可设置为</a:t>
            </a:r>
            <a:r>
              <a:rPr lang="en-US" altLang="zh-CN" sz="2400">
                <a:latin typeface="华文新魏" pitchFamily="2" charset="-122"/>
                <a:ea typeface="华文新魏" pitchFamily="2" charset="-122"/>
              </a:rPr>
              <a:t>1</a:t>
            </a:r>
            <a:r>
              <a:rPr lang="zh-CN" altLang="en-US" sz="2400">
                <a:latin typeface="华文新魏" pitchFamily="2" charset="-122"/>
                <a:ea typeface="华文新魏" pitchFamily="2" charset="-122"/>
              </a:rPr>
              <a:t>、</a:t>
            </a:r>
            <a:r>
              <a:rPr lang="en-US" altLang="zh-CN" sz="2400">
                <a:latin typeface="华文新魏" pitchFamily="2" charset="-122"/>
                <a:ea typeface="华文新魏" pitchFamily="2" charset="-122"/>
              </a:rPr>
              <a:t>4</a:t>
            </a:r>
            <a:r>
              <a:rPr lang="zh-CN" altLang="en-US" sz="2400">
                <a:latin typeface="华文新魏" pitchFamily="2" charset="-122"/>
                <a:ea typeface="华文新魏" pitchFamily="2" charset="-122"/>
              </a:rPr>
              <a:t>、</a:t>
            </a:r>
            <a:r>
              <a:rPr lang="en-US" altLang="zh-CN" sz="2400">
                <a:latin typeface="华文新魏" pitchFamily="2" charset="-122"/>
                <a:ea typeface="华文新魏" pitchFamily="2" charset="-122"/>
              </a:rPr>
              <a:t>8</a:t>
            </a:r>
            <a:r>
              <a:rPr lang="zh-CN" altLang="en-US" sz="2400">
                <a:latin typeface="华文新魏" pitchFamily="2" charset="-122"/>
                <a:ea typeface="华文新魏" pitchFamily="2" charset="-122"/>
              </a:rPr>
              <a:t>或</a:t>
            </a:r>
            <a:r>
              <a:rPr lang="en-US" altLang="zh-CN" sz="2400">
                <a:latin typeface="华文新魏" pitchFamily="2" charset="-122"/>
                <a:ea typeface="华文新魏" pitchFamily="2" charset="-122"/>
              </a:rPr>
              <a:t>14</a:t>
            </a:r>
            <a:r>
              <a:rPr lang="zh-CN" altLang="en-US" sz="2400">
                <a:latin typeface="华文新魏" pitchFamily="2" charset="-122"/>
                <a:ea typeface="华文新魏" pitchFamily="2" charset="-122"/>
              </a:rPr>
              <a:t>字节；</a:t>
            </a:r>
          </a:p>
          <a:p>
            <a:pPr lvl="1" algn="l">
              <a:spcBef>
                <a:spcPct val="20000"/>
              </a:spcBef>
              <a:buClr>
                <a:srgbClr val="0000FF"/>
              </a:buClr>
              <a:buFont typeface="Wingdings" pitchFamily="2" charset="2"/>
              <a:buChar char="§"/>
            </a:pPr>
            <a:r>
              <a:rPr lang="zh-CN" altLang="en-US" sz="2400">
                <a:latin typeface="华文新魏" pitchFamily="2" charset="-122"/>
                <a:ea typeface="华文新魏" pitchFamily="2" charset="-122"/>
              </a:rPr>
              <a:t>  内置波特率发生器；</a:t>
            </a:r>
          </a:p>
          <a:p>
            <a:pPr lvl="1" algn="l">
              <a:spcBef>
                <a:spcPct val="20000"/>
              </a:spcBef>
              <a:buClr>
                <a:srgbClr val="0000FF"/>
              </a:buClr>
              <a:buFont typeface="Wingdings" pitchFamily="2" charset="2"/>
              <a:buChar char="§"/>
            </a:pPr>
            <a:r>
              <a:rPr lang="zh-CN" altLang="en-US" sz="2400">
                <a:latin typeface="华文新魏" pitchFamily="2" charset="-122"/>
                <a:ea typeface="华文新魏" pitchFamily="2" charset="-122"/>
              </a:rPr>
              <a:t>  </a:t>
            </a:r>
            <a:r>
              <a:rPr lang="en-US" altLang="zh-CN" sz="2400">
                <a:latin typeface="华文新魏" pitchFamily="2" charset="-122"/>
                <a:ea typeface="华文新魏" pitchFamily="2" charset="-122"/>
              </a:rPr>
              <a:t>UART1</a:t>
            </a:r>
            <a:r>
              <a:rPr lang="zh-CN" altLang="en-US" sz="2400">
                <a:latin typeface="华文新魏" pitchFamily="2" charset="-122"/>
                <a:ea typeface="华文新魏" pitchFamily="2" charset="-122"/>
              </a:rPr>
              <a:t>含有标准调制解调器接口信号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withEffect">
                                  <p:stCondLst>
                                    <p:cond delay="0"/>
                                  </p:stCondLst>
                                  <p:childTnLst>
                                    <p:set>
                                      <p:cBhvr>
                                        <p:cTn id="6" dur="1" fill="hold">
                                          <p:stCondLst>
                                            <p:cond delay="0"/>
                                          </p:stCondLst>
                                        </p:cTn>
                                        <p:tgtEl>
                                          <p:spTgt spid="709634"/>
                                        </p:tgtEl>
                                        <p:attrNameLst>
                                          <p:attrName>style.visibility</p:attrName>
                                        </p:attrNameLst>
                                      </p:cBhvr>
                                      <p:to>
                                        <p:strVal val="visible"/>
                                      </p:to>
                                    </p:set>
                                    <p:animEffect transition="in" filter="slide(fromTop)">
                                      <p:cBhvr>
                                        <p:cTn id="7" dur="500"/>
                                        <p:tgtEl>
                                          <p:spTgt spid="709634"/>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709635">
                                            <p:txEl>
                                              <p:pRg st="0" end="0"/>
                                            </p:txEl>
                                          </p:spTgt>
                                        </p:tgtEl>
                                        <p:attrNameLst>
                                          <p:attrName>style.visibility</p:attrName>
                                        </p:attrNameLst>
                                      </p:cBhvr>
                                      <p:to>
                                        <p:strVal val="visible"/>
                                      </p:to>
                                    </p:set>
                                    <p:anim calcmode="lin" valueType="num">
                                      <p:cBhvr additive="base">
                                        <p:cTn id="11" dur="500" fill="hold"/>
                                        <p:tgtEl>
                                          <p:spTgt spid="709635">
                                            <p:txEl>
                                              <p:pRg st="0" end="0"/>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709635">
                                            <p:txEl>
                                              <p:pRg st="0" end="0"/>
                                            </p:txEl>
                                          </p:spTgt>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4" presetClass="entr" presetSubtype="16" fill="hold" grpId="0" nodeType="afterEffect">
                                  <p:stCondLst>
                                    <p:cond delay="0"/>
                                  </p:stCondLst>
                                  <p:childTnLst>
                                    <p:set>
                                      <p:cBhvr>
                                        <p:cTn id="15" dur="1" fill="hold">
                                          <p:stCondLst>
                                            <p:cond delay="0"/>
                                          </p:stCondLst>
                                        </p:cTn>
                                        <p:tgtEl>
                                          <p:spTgt spid="709636"/>
                                        </p:tgtEl>
                                        <p:attrNameLst>
                                          <p:attrName>style.visibility</p:attrName>
                                        </p:attrNameLst>
                                      </p:cBhvr>
                                      <p:to>
                                        <p:strVal val="visible"/>
                                      </p:to>
                                    </p:set>
                                    <p:animEffect transition="in" filter="box(in)">
                                      <p:cBhvr>
                                        <p:cTn id="16" dur="500"/>
                                        <p:tgtEl>
                                          <p:spTgt spid="709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9634" grpId="0"/>
      <p:bldP spid="709635" grpId="0" build="p"/>
      <p:bldP spid="709636" grpId="0"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0658" name="Rectangle 2"/>
          <p:cNvSpPr>
            <a:spLocks noChangeArrowheads="1"/>
          </p:cNvSpPr>
          <p:nvPr/>
        </p:nvSpPr>
        <p:spPr bwMode="auto">
          <a:xfrm>
            <a:off x="2135188" y="620713"/>
            <a:ext cx="7772400" cy="609600"/>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应用示例</a:t>
            </a:r>
            <a:endParaRPr lang="zh-CN" altLang="en-US" sz="3200">
              <a:solidFill>
                <a:srgbClr val="0000FF"/>
              </a:solidFill>
              <a:latin typeface="Times New Roman" pitchFamily="18" charset="0"/>
            </a:endParaRPr>
          </a:p>
        </p:txBody>
      </p:sp>
      <p:grpSp>
        <p:nvGrpSpPr>
          <p:cNvPr id="710659" name="Group 3"/>
          <p:cNvGrpSpPr>
            <a:grpSpLocks/>
          </p:cNvGrpSpPr>
          <p:nvPr/>
        </p:nvGrpSpPr>
        <p:grpSpPr bwMode="auto">
          <a:xfrm>
            <a:off x="1638301" y="1196976"/>
            <a:ext cx="8893175" cy="1166813"/>
            <a:chOff x="72" y="685"/>
            <a:chExt cx="5602" cy="735"/>
          </a:xfrm>
        </p:grpSpPr>
        <p:sp>
          <p:nvSpPr>
            <p:cNvPr id="710660" name="Text Box 4"/>
            <p:cNvSpPr txBox="1">
              <a:spLocks noChangeArrowheads="1"/>
            </p:cNvSpPr>
            <p:nvPr/>
          </p:nvSpPr>
          <p:spPr bwMode="auto">
            <a:xfrm>
              <a:off x="72" y="764"/>
              <a:ext cx="1770" cy="577"/>
            </a:xfrm>
            <a:prstGeom prst="rect">
              <a:avLst/>
            </a:prstGeom>
            <a:noFill/>
            <a:ln w="9525">
              <a:noFill/>
              <a:miter lim="800000"/>
              <a:headEnd/>
              <a:tailEnd/>
            </a:ln>
            <a:effectLst/>
          </p:spPr>
          <p:txBody>
            <a:bodyPr>
              <a:spAutoFit/>
            </a:bodyPr>
            <a:lstStyle/>
            <a:p>
              <a:pPr algn="l">
                <a:spcBef>
                  <a:spcPct val="50000"/>
                </a:spcBef>
              </a:pPr>
              <a:r>
                <a:rPr lang="en-US" altLang="zh-CN">
                  <a:latin typeface="华文新魏" pitchFamily="2" charset="-122"/>
                  <a:ea typeface="华文新魏" pitchFamily="2" charset="-122"/>
                </a:rPr>
                <a:t>LPC2000</a:t>
              </a:r>
              <a:r>
                <a:rPr lang="zh-CN" altLang="en-US">
                  <a:latin typeface="华文新魏" pitchFamily="2" charset="-122"/>
                  <a:ea typeface="华文新魏" pitchFamily="2" charset="-122"/>
                </a:rPr>
                <a:t>的</a:t>
              </a:r>
              <a:r>
                <a:rPr lang="en-US" altLang="zh-CN">
                  <a:latin typeface="华文新魏" pitchFamily="2" charset="-122"/>
                  <a:ea typeface="华文新魏" pitchFamily="2" charset="-122"/>
                </a:rPr>
                <a:t>I/O</a:t>
              </a:r>
              <a:r>
                <a:rPr lang="zh-CN" altLang="en-US">
                  <a:latin typeface="华文新魏" pitchFamily="2" charset="-122"/>
                  <a:ea typeface="华文新魏" pitchFamily="2" charset="-122"/>
                </a:rPr>
                <a:t>电压为</a:t>
              </a:r>
              <a:r>
                <a:rPr lang="en-US" altLang="zh-CN">
                  <a:latin typeface="华文新魏" pitchFamily="2" charset="-122"/>
                  <a:ea typeface="华文新魏" pitchFamily="2" charset="-122"/>
                </a:rPr>
                <a:t>3.3V</a:t>
              </a:r>
              <a:r>
                <a:rPr lang="zh-CN" altLang="en-US">
                  <a:latin typeface="华文新魏" pitchFamily="2" charset="-122"/>
                  <a:ea typeface="华文新魏" pitchFamily="2" charset="-122"/>
                </a:rPr>
                <a:t>，连接时须注意电平的匹配。</a:t>
              </a:r>
            </a:p>
          </p:txBody>
        </p:sp>
        <p:grpSp>
          <p:nvGrpSpPr>
            <p:cNvPr id="710661" name="Group 5"/>
            <p:cNvGrpSpPr>
              <a:grpSpLocks/>
            </p:cNvGrpSpPr>
            <p:nvPr/>
          </p:nvGrpSpPr>
          <p:grpSpPr bwMode="auto">
            <a:xfrm>
              <a:off x="2292" y="685"/>
              <a:ext cx="3382" cy="735"/>
              <a:chOff x="1927" y="1933"/>
              <a:chExt cx="3447" cy="765"/>
            </a:xfrm>
          </p:grpSpPr>
          <p:sp>
            <p:nvSpPr>
              <p:cNvPr id="710662" name="Rectangle 6"/>
              <p:cNvSpPr>
                <a:spLocks noChangeArrowheads="1"/>
              </p:cNvSpPr>
              <p:nvPr/>
            </p:nvSpPr>
            <p:spPr bwMode="auto">
              <a:xfrm>
                <a:off x="1927" y="1979"/>
                <a:ext cx="771" cy="719"/>
              </a:xfrm>
              <a:prstGeom prst="rect">
                <a:avLst/>
              </a:prstGeom>
              <a:solidFill>
                <a:srgbClr val="DDDDDD"/>
              </a:solidFill>
              <a:ln w="12700" algn="ctr">
                <a:solidFill>
                  <a:schemeClr val="tx1"/>
                </a:solidFill>
                <a:miter lim="800000"/>
                <a:headEnd/>
                <a:tailEnd/>
              </a:ln>
              <a:effectLst/>
            </p:spPr>
            <p:txBody>
              <a:bodyPr wrap="none" anchor="ctr"/>
              <a:lstStyle/>
              <a:p>
                <a:r>
                  <a:rPr lang="en-US" altLang="zh-CN" b="1" i="1">
                    <a:latin typeface="Times New Roman" pitchFamily="18" charset="0"/>
                  </a:rPr>
                  <a:t>LPC2000</a:t>
                </a:r>
              </a:p>
            </p:txBody>
          </p:sp>
          <p:sp>
            <p:nvSpPr>
              <p:cNvPr id="710663" name="Rectangle 7"/>
              <p:cNvSpPr>
                <a:spLocks noChangeArrowheads="1"/>
              </p:cNvSpPr>
              <p:nvPr/>
            </p:nvSpPr>
            <p:spPr bwMode="auto">
              <a:xfrm>
                <a:off x="4603" y="1979"/>
                <a:ext cx="771" cy="719"/>
              </a:xfrm>
              <a:prstGeom prst="rect">
                <a:avLst/>
              </a:prstGeom>
              <a:solidFill>
                <a:srgbClr val="DDDDDD"/>
              </a:solidFill>
              <a:ln w="12700" algn="ctr">
                <a:solidFill>
                  <a:schemeClr val="tx1"/>
                </a:solidFill>
                <a:miter lim="800000"/>
                <a:headEnd/>
                <a:tailEnd/>
              </a:ln>
              <a:effectLst/>
            </p:spPr>
            <p:txBody>
              <a:bodyPr wrap="none" anchor="ctr"/>
              <a:lstStyle/>
              <a:p>
                <a:r>
                  <a:rPr lang="zh-CN" altLang="en-US">
                    <a:ea typeface="楷体_GB2312" pitchFamily="49" charset="-122"/>
                  </a:rPr>
                  <a:t>其它</a:t>
                </a:r>
              </a:p>
              <a:p>
                <a:r>
                  <a:rPr lang="zh-CN" altLang="en-US">
                    <a:ea typeface="楷体_GB2312" pitchFamily="49" charset="-122"/>
                  </a:rPr>
                  <a:t>通信设备</a:t>
                </a:r>
              </a:p>
            </p:txBody>
          </p:sp>
          <p:sp>
            <p:nvSpPr>
              <p:cNvPr id="710664" name="Line 8"/>
              <p:cNvSpPr>
                <a:spLocks noChangeShapeType="1"/>
              </p:cNvSpPr>
              <p:nvPr/>
            </p:nvSpPr>
            <p:spPr bwMode="auto">
              <a:xfrm flipV="1">
                <a:off x="3510" y="2115"/>
                <a:ext cx="234" cy="266"/>
              </a:xfrm>
              <a:prstGeom prst="line">
                <a:avLst/>
              </a:prstGeom>
              <a:noFill/>
              <a:ln w="12700">
                <a:solidFill>
                  <a:schemeClr val="tx1"/>
                </a:solidFill>
                <a:round/>
                <a:headEnd/>
                <a:tailEnd/>
              </a:ln>
              <a:effectLst/>
            </p:spPr>
            <p:txBody>
              <a:bodyPr wrap="none" anchor="ctr"/>
              <a:lstStyle/>
              <a:p>
                <a:endParaRPr lang="zh-CN" altLang="en-US"/>
              </a:p>
            </p:txBody>
          </p:sp>
          <p:sp>
            <p:nvSpPr>
              <p:cNvPr id="710665" name="Line 9"/>
              <p:cNvSpPr>
                <a:spLocks noChangeShapeType="1"/>
              </p:cNvSpPr>
              <p:nvPr/>
            </p:nvSpPr>
            <p:spPr bwMode="auto">
              <a:xfrm>
                <a:off x="3514" y="2115"/>
                <a:ext cx="227" cy="264"/>
              </a:xfrm>
              <a:prstGeom prst="line">
                <a:avLst/>
              </a:prstGeom>
              <a:noFill/>
              <a:ln w="12700">
                <a:solidFill>
                  <a:schemeClr val="tx1"/>
                </a:solidFill>
                <a:round/>
                <a:headEnd/>
                <a:tailEnd/>
              </a:ln>
              <a:effectLst/>
            </p:spPr>
            <p:txBody>
              <a:bodyPr wrap="none" anchor="ctr"/>
              <a:lstStyle/>
              <a:p>
                <a:endParaRPr lang="zh-CN" altLang="en-US"/>
              </a:p>
            </p:txBody>
          </p:sp>
          <p:sp>
            <p:nvSpPr>
              <p:cNvPr id="710666" name="Line 10"/>
              <p:cNvSpPr>
                <a:spLocks noChangeShapeType="1"/>
              </p:cNvSpPr>
              <p:nvPr/>
            </p:nvSpPr>
            <p:spPr bwMode="auto">
              <a:xfrm>
                <a:off x="2698" y="2550"/>
                <a:ext cx="1905" cy="0"/>
              </a:xfrm>
              <a:prstGeom prst="line">
                <a:avLst/>
              </a:prstGeom>
              <a:noFill/>
              <a:ln w="12700">
                <a:solidFill>
                  <a:schemeClr val="tx1"/>
                </a:solidFill>
                <a:round/>
                <a:headEnd/>
                <a:tailEnd/>
              </a:ln>
              <a:effectLst/>
            </p:spPr>
            <p:txBody>
              <a:bodyPr wrap="none" anchor="ctr"/>
              <a:lstStyle/>
              <a:p>
                <a:endParaRPr lang="zh-CN" altLang="en-US"/>
              </a:p>
            </p:txBody>
          </p:sp>
          <p:sp>
            <p:nvSpPr>
              <p:cNvPr id="710667" name="Text Box 11"/>
              <p:cNvSpPr txBox="1">
                <a:spLocks noChangeArrowheads="1"/>
              </p:cNvSpPr>
              <p:nvPr/>
            </p:nvSpPr>
            <p:spPr bwMode="auto">
              <a:xfrm>
                <a:off x="2651" y="1933"/>
                <a:ext cx="499" cy="221"/>
              </a:xfrm>
              <a:prstGeom prst="rect">
                <a:avLst/>
              </a:prstGeom>
              <a:noFill/>
              <a:ln w="12700" algn="ctr">
                <a:noFill/>
                <a:miter lim="800000"/>
                <a:headEnd/>
                <a:tailEnd/>
              </a:ln>
              <a:effectLst/>
            </p:spPr>
            <p:txBody>
              <a:bodyPr>
                <a:spAutoFit/>
              </a:bodyPr>
              <a:lstStyle/>
              <a:p>
                <a:pPr>
                  <a:spcBef>
                    <a:spcPct val="50000"/>
                  </a:spcBef>
                </a:pPr>
                <a:r>
                  <a:rPr lang="en-US" altLang="zh-CN" sz="1600">
                    <a:latin typeface="Times New Roman" pitchFamily="18" charset="0"/>
                  </a:rPr>
                  <a:t>TxD0</a:t>
                </a:r>
              </a:p>
            </p:txBody>
          </p:sp>
          <p:sp>
            <p:nvSpPr>
              <p:cNvPr id="710668" name="Text Box 12"/>
              <p:cNvSpPr txBox="1">
                <a:spLocks noChangeArrowheads="1"/>
              </p:cNvSpPr>
              <p:nvPr/>
            </p:nvSpPr>
            <p:spPr bwMode="auto">
              <a:xfrm>
                <a:off x="2651" y="2183"/>
                <a:ext cx="499" cy="220"/>
              </a:xfrm>
              <a:prstGeom prst="rect">
                <a:avLst/>
              </a:prstGeom>
              <a:noFill/>
              <a:ln w="12700" algn="ctr">
                <a:noFill/>
                <a:miter lim="800000"/>
                <a:headEnd/>
                <a:tailEnd/>
              </a:ln>
              <a:effectLst/>
            </p:spPr>
            <p:txBody>
              <a:bodyPr>
                <a:spAutoFit/>
              </a:bodyPr>
              <a:lstStyle/>
              <a:p>
                <a:pPr>
                  <a:spcBef>
                    <a:spcPct val="50000"/>
                  </a:spcBef>
                </a:pPr>
                <a:r>
                  <a:rPr lang="en-US" altLang="zh-CN" sz="1600">
                    <a:latin typeface="Times New Roman" pitchFamily="18" charset="0"/>
                  </a:rPr>
                  <a:t>RxD0</a:t>
                </a:r>
              </a:p>
            </p:txBody>
          </p:sp>
          <p:sp>
            <p:nvSpPr>
              <p:cNvPr id="710669" name="Text Box 13"/>
              <p:cNvSpPr txBox="1">
                <a:spLocks noChangeArrowheads="1"/>
              </p:cNvSpPr>
              <p:nvPr/>
            </p:nvSpPr>
            <p:spPr bwMode="auto">
              <a:xfrm>
                <a:off x="4149" y="1933"/>
                <a:ext cx="499" cy="221"/>
              </a:xfrm>
              <a:prstGeom prst="rect">
                <a:avLst/>
              </a:prstGeom>
              <a:noFill/>
              <a:ln w="12700" algn="ctr">
                <a:noFill/>
                <a:miter lim="800000"/>
                <a:headEnd/>
                <a:tailEnd/>
              </a:ln>
              <a:effectLst/>
            </p:spPr>
            <p:txBody>
              <a:bodyPr>
                <a:spAutoFit/>
              </a:bodyPr>
              <a:lstStyle/>
              <a:p>
                <a:pPr>
                  <a:spcBef>
                    <a:spcPct val="50000"/>
                  </a:spcBef>
                </a:pPr>
                <a:r>
                  <a:rPr lang="en-US" altLang="zh-CN" sz="1600">
                    <a:latin typeface="Times New Roman" pitchFamily="18" charset="0"/>
                  </a:rPr>
                  <a:t>TxD0</a:t>
                </a:r>
              </a:p>
            </p:txBody>
          </p:sp>
          <p:sp>
            <p:nvSpPr>
              <p:cNvPr id="710670" name="Text Box 14"/>
              <p:cNvSpPr txBox="1">
                <a:spLocks noChangeArrowheads="1"/>
              </p:cNvSpPr>
              <p:nvPr/>
            </p:nvSpPr>
            <p:spPr bwMode="auto">
              <a:xfrm>
                <a:off x="4149" y="2197"/>
                <a:ext cx="499" cy="221"/>
              </a:xfrm>
              <a:prstGeom prst="rect">
                <a:avLst/>
              </a:prstGeom>
              <a:noFill/>
              <a:ln w="12700" algn="ctr">
                <a:noFill/>
                <a:miter lim="800000"/>
                <a:headEnd/>
                <a:tailEnd/>
              </a:ln>
              <a:effectLst/>
            </p:spPr>
            <p:txBody>
              <a:bodyPr>
                <a:spAutoFit/>
              </a:bodyPr>
              <a:lstStyle/>
              <a:p>
                <a:pPr>
                  <a:spcBef>
                    <a:spcPct val="50000"/>
                  </a:spcBef>
                </a:pPr>
                <a:r>
                  <a:rPr lang="en-US" altLang="zh-CN" sz="1600">
                    <a:latin typeface="Times New Roman" pitchFamily="18" charset="0"/>
                  </a:rPr>
                  <a:t>RxD0</a:t>
                </a:r>
              </a:p>
            </p:txBody>
          </p:sp>
          <p:sp>
            <p:nvSpPr>
              <p:cNvPr id="710671" name="Line 15"/>
              <p:cNvSpPr>
                <a:spLocks noChangeShapeType="1"/>
              </p:cNvSpPr>
              <p:nvPr/>
            </p:nvSpPr>
            <p:spPr bwMode="auto">
              <a:xfrm flipH="1">
                <a:off x="2698" y="2380"/>
                <a:ext cx="816" cy="0"/>
              </a:xfrm>
              <a:prstGeom prst="line">
                <a:avLst/>
              </a:prstGeom>
              <a:noFill/>
              <a:ln w="12700">
                <a:solidFill>
                  <a:schemeClr val="tx1"/>
                </a:solidFill>
                <a:round/>
                <a:headEnd/>
                <a:tailEnd/>
              </a:ln>
              <a:effectLst/>
            </p:spPr>
            <p:txBody>
              <a:bodyPr wrap="none" anchor="ctr"/>
              <a:lstStyle/>
              <a:p>
                <a:endParaRPr lang="zh-CN" altLang="en-US"/>
              </a:p>
            </p:txBody>
          </p:sp>
          <p:sp>
            <p:nvSpPr>
              <p:cNvPr id="710672" name="Line 16"/>
              <p:cNvSpPr>
                <a:spLocks noChangeShapeType="1"/>
              </p:cNvSpPr>
              <p:nvPr/>
            </p:nvSpPr>
            <p:spPr bwMode="auto">
              <a:xfrm>
                <a:off x="3741" y="2380"/>
                <a:ext cx="861" cy="0"/>
              </a:xfrm>
              <a:prstGeom prst="line">
                <a:avLst/>
              </a:prstGeom>
              <a:noFill/>
              <a:ln w="12700">
                <a:solidFill>
                  <a:schemeClr val="tx1"/>
                </a:solidFill>
                <a:round/>
                <a:headEnd/>
                <a:tailEnd/>
              </a:ln>
              <a:effectLst/>
            </p:spPr>
            <p:txBody>
              <a:bodyPr wrap="none" anchor="ctr"/>
              <a:lstStyle/>
              <a:p>
                <a:endParaRPr lang="zh-CN" altLang="en-US"/>
              </a:p>
            </p:txBody>
          </p:sp>
          <p:sp>
            <p:nvSpPr>
              <p:cNvPr id="710673" name="Line 17"/>
              <p:cNvSpPr>
                <a:spLocks noChangeShapeType="1"/>
              </p:cNvSpPr>
              <p:nvPr/>
            </p:nvSpPr>
            <p:spPr bwMode="auto">
              <a:xfrm>
                <a:off x="3741" y="2115"/>
                <a:ext cx="862" cy="0"/>
              </a:xfrm>
              <a:prstGeom prst="line">
                <a:avLst/>
              </a:prstGeom>
              <a:noFill/>
              <a:ln w="12700">
                <a:solidFill>
                  <a:schemeClr val="tx1"/>
                </a:solidFill>
                <a:round/>
                <a:headEnd/>
                <a:tailEnd/>
              </a:ln>
              <a:effectLst/>
            </p:spPr>
            <p:txBody>
              <a:bodyPr wrap="none" anchor="ctr"/>
              <a:lstStyle/>
              <a:p>
                <a:endParaRPr lang="zh-CN" altLang="en-US"/>
              </a:p>
            </p:txBody>
          </p:sp>
          <p:sp>
            <p:nvSpPr>
              <p:cNvPr id="710674" name="Line 18"/>
              <p:cNvSpPr>
                <a:spLocks noChangeShapeType="1"/>
              </p:cNvSpPr>
              <p:nvPr/>
            </p:nvSpPr>
            <p:spPr bwMode="auto">
              <a:xfrm flipH="1">
                <a:off x="2698" y="2115"/>
                <a:ext cx="816" cy="0"/>
              </a:xfrm>
              <a:prstGeom prst="line">
                <a:avLst/>
              </a:prstGeom>
              <a:noFill/>
              <a:ln w="12700">
                <a:solidFill>
                  <a:schemeClr val="tx1"/>
                </a:solidFill>
                <a:round/>
                <a:headEnd/>
                <a:tailEnd/>
              </a:ln>
              <a:effectLst/>
            </p:spPr>
            <p:txBody>
              <a:bodyPr wrap="none" anchor="ctr"/>
              <a:lstStyle/>
              <a:p>
                <a:endParaRPr lang="zh-CN" altLang="en-US"/>
              </a:p>
            </p:txBody>
          </p:sp>
          <p:sp>
            <p:nvSpPr>
              <p:cNvPr id="710675" name="Line 19"/>
              <p:cNvSpPr>
                <a:spLocks noChangeShapeType="1"/>
              </p:cNvSpPr>
              <p:nvPr/>
            </p:nvSpPr>
            <p:spPr bwMode="auto">
              <a:xfrm>
                <a:off x="3606" y="2550"/>
                <a:ext cx="0" cy="136"/>
              </a:xfrm>
              <a:prstGeom prst="line">
                <a:avLst/>
              </a:prstGeom>
              <a:noFill/>
              <a:ln w="12700">
                <a:solidFill>
                  <a:schemeClr val="tx1"/>
                </a:solidFill>
                <a:round/>
                <a:headEnd/>
                <a:tailEnd/>
              </a:ln>
              <a:effectLst/>
            </p:spPr>
            <p:txBody>
              <a:bodyPr wrap="none" anchor="ctr"/>
              <a:lstStyle/>
              <a:p>
                <a:endParaRPr lang="zh-CN" altLang="en-US"/>
              </a:p>
            </p:txBody>
          </p:sp>
          <p:sp>
            <p:nvSpPr>
              <p:cNvPr id="710676" name="Line 20"/>
              <p:cNvSpPr>
                <a:spLocks noChangeShapeType="1"/>
              </p:cNvSpPr>
              <p:nvPr/>
            </p:nvSpPr>
            <p:spPr bwMode="auto">
              <a:xfrm>
                <a:off x="3515" y="2686"/>
                <a:ext cx="181" cy="0"/>
              </a:xfrm>
              <a:prstGeom prst="line">
                <a:avLst/>
              </a:prstGeom>
              <a:noFill/>
              <a:ln w="28575">
                <a:solidFill>
                  <a:schemeClr val="tx1"/>
                </a:solidFill>
                <a:round/>
                <a:headEnd/>
                <a:tailEnd/>
              </a:ln>
              <a:effectLst/>
            </p:spPr>
            <p:txBody>
              <a:bodyPr wrap="none" anchor="ctr"/>
              <a:lstStyle/>
              <a:p>
                <a:endParaRPr lang="zh-CN" altLang="en-US"/>
              </a:p>
            </p:txBody>
          </p:sp>
        </p:grpSp>
        <p:sp>
          <p:nvSpPr>
            <p:cNvPr id="710677" name="AutoShape 21"/>
            <p:cNvSpPr>
              <a:spLocks noChangeArrowheads="1"/>
            </p:cNvSpPr>
            <p:nvPr/>
          </p:nvSpPr>
          <p:spPr bwMode="auto">
            <a:xfrm>
              <a:off x="1818" y="924"/>
              <a:ext cx="459" cy="276"/>
            </a:xfrm>
            <a:prstGeom prst="rightArrow">
              <a:avLst>
                <a:gd name="adj1" fmla="val 50000"/>
                <a:gd name="adj2" fmla="val 41576"/>
              </a:avLst>
            </a:prstGeom>
            <a:solidFill>
              <a:schemeClr val="accent1"/>
            </a:solidFill>
            <a:ln w="9525" algn="ctr">
              <a:solidFill>
                <a:schemeClr val="tx1"/>
              </a:solidFill>
              <a:miter lim="800000"/>
              <a:headEnd/>
              <a:tailEnd/>
            </a:ln>
            <a:effectLst/>
          </p:spPr>
          <p:txBody>
            <a:bodyPr wrap="none" anchor="ctr"/>
            <a:lstStyle/>
            <a:p>
              <a:endParaRPr lang="zh-CN" altLang="en-US"/>
            </a:p>
          </p:txBody>
        </p:sp>
      </p:grpSp>
      <p:grpSp>
        <p:nvGrpSpPr>
          <p:cNvPr id="710678" name="Group 22"/>
          <p:cNvGrpSpPr>
            <a:grpSpLocks/>
          </p:cNvGrpSpPr>
          <p:nvPr/>
        </p:nvGrpSpPr>
        <p:grpSpPr bwMode="auto">
          <a:xfrm>
            <a:off x="1638301" y="2435226"/>
            <a:ext cx="8893175" cy="1281113"/>
            <a:chOff x="72" y="1483"/>
            <a:chExt cx="5602" cy="807"/>
          </a:xfrm>
        </p:grpSpPr>
        <p:sp>
          <p:nvSpPr>
            <p:cNvPr id="710679" name="Text Box 23"/>
            <p:cNvSpPr txBox="1">
              <a:spLocks noChangeArrowheads="1"/>
            </p:cNvSpPr>
            <p:nvPr/>
          </p:nvSpPr>
          <p:spPr bwMode="auto">
            <a:xfrm>
              <a:off x="72" y="1499"/>
              <a:ext cx="1770" cy="750"/>
            </a:xfrm>
            <a:prstGeom prst="rect">
              <a:avLst/>
            </a:prstGeom>
            <a:noFill/>
            <a:ln w="9525">
              <a:noFill/>
              <a:miter lim="800000"/>
              <a:headEnd/>
              <a:tailEnd/>
            </a:ln>
            <a:effectLst/>
          </p:spPr>
          <p:txBody>
            <a:bodyPr>
              <a:spAutoFit/>
            </a:bodyPr>
            <a:lstStyle/>
            <a:p>
              <a:pPr algn="l">
                <a:spcBef>
                  <a:spcPct val="50000"/>
                </a:spcBef>
              </a:pPr>
              <a:r>
                <a:rPr lang="zh-CN" altLang="en-US">
                  <a:latin typeface="华文新魏" pitchFamily="2" charset="-122"/>
                  <a:ea typeface="华文新魏" pitchFamily="2" charset="-122"/>
                </a:rPr>
                <a:t>与</a:t>
              </a:r>
              <a:r>
                <a:rPr lang="en-US" altLang="zh-CN">
                  <a:latin typeface="华文新魏" pitchFamily="2" charset="-122"/>
                  <a:ea typeface="华文新魏" pitchFamily="2" charset="-122"/>
                </a:rPr>
                <a:t>PC</a:t>
              </a:r>
              <a:r>
                <a:rPr lang="zh-CN" altLang="en-US">
                  <a:latin typeface="华文新魏" pitchFamily="2" charset="-122"/>
                  <a:ea typeface="华文新魏" pitchFamily="2" charset="-122"/>
                </a:rPr>
                <a:t>机相连时，由于</a:t>
              </a:r>
              <a:r>
                <a:rPr lang="en-US" altLang="zh-CN">
                  <a:latin typeface="华文新魏" pitchFamily="2" charset="-122"/>
                  <a:ea typeface="华文新魏" pitchFamily="2" charset="-122"/>
                </a:rPr>
                <a:t>PC</a:t>
              </a:r>
              <a:r>
                <a:rPr lang="zh-CN" altLang="en-US">
                  <a:latin typeface="华文新魏" pitchFamily="2" charset="-122"/>
                  <a:ea typeface="华文新魏" pitchFamily="2" charset="-122"/>
                </a:rPr>
                <a:t>机串口是</a:t>
              </a:r>
              <a:r>
                <a:rPr lang="en-US" altLang="zh-CN">
                  <a:latin typeface="华文新魏" pitchFamily="2" charset="-122"/>
                  <a:ea typeface="华文新魏" pitchFamily="2" charset="-122"/>
                </a:rPr>
                <a:t>RS232</a:t>
              </a:r>
              <a:r>
                <a:rPr lang="zh-CN" altLang="en-US">
                  <a:latin typeface="华文新魏" pitchFamily="2" charset="-122"/>
                  <a:ea typeface="华文新魏" pitchFamily="2" charset="-122"/>
                </a:rPr>
                <a:t>电平，所以连接时需要使用</a:t>
              </a:r>
              <a:r>
                <a:rPr lang="en-US" altLang="zh-CN">
                  <a:latin typeface="华文新魏" pitchFamily="2" charset="-122"/>
                  <a:ea typeface="华文新魏" pitchFamily="2" charset="-122"/>
                </a:rPr>
                <a:t>RS232</a:t>
              </a:r>
              <a:r>
                <a:rPr lang="zh-CN" altLang="en-US">
                  <a:latin typeface="华文新魏" pitchFamily="2" charset="-122"/>
                  <a:ea typeface="华文新魏" pitchFamily="2" charset="-122"/>
                </a:rPr>
                <a:t>转换器。</a:t>
              </a:r>
            </a:p>
          </p:txBody>
        </p:sp>
        <p:grpSp>
          <p:nvGrpSpPr>
            <p:cNvPr id="710680" name="Group 24"/>
            <p:cNvGrpSpPr>
              <a:grpSpLocks/>
            </p:cNvGrpSpPr>
            <p:nvPr/>
          </p:nvGrpSpPr>
          <p:grpSpPr bwMode="auto">
            <a:xfrm>
              <a:off x="2288" y="1483"/>
              <a:ext cx="3386" cy="807"/>
              <a:chOff x="1928" y="3037"/>
              <a:chExt cx="3446" cy="891"/>
            </a:xfrm>
          </p:grpSpPr>
          <p:sp>
            <p:nvSpPr>
              <p:cNvPr id="710681" name="Rectangle 25"/>
              <p:cNvSpPr>
                <a:spLocks noChangeArrowheads="1"/>
              </p:cNvSpPr>
              <p:nvPr/>
            </p:nvSpPr>
            <p:spPr bwMode="auto">
              <a:xfrm>
                <a:off x="1928" y="3066"/>
                <a:ext cx="771" cy="862"/>
              </a:xfrm>
              <a:prstGeom prst="rect">
                <a:avLst/>
              </a:prstGeom>
              <a:solidFill>
                <a:srgbClr val="DDDDDD"/>
              </a:solidFill>
              <a:ln w="12700" algn="ctr">
                <a:solidFill>
                  <a:schemeClr val="tx1"/>
                </a:solidFill>
                <a:miter lim="800000"/>
                <a:headEnd/>
                <a:tailEnd/>
              </a:ln>
              <a:effectLst/>
            </p:spPr>
            <p:txBody>
              <a:bodyPr wrap="none" anchor="ctr"/>
              <a:lstStyle/>
              <a:p>
                <a:r>
                  <a:rPr lang="en-US" altLang="zh-CN" b="1" i="1">
                    <a:latin typeface="Times New Roman" pitchFamily="18" charset="0"/>
                  </a:rPr>
                  <a:t>LPC2000</a:t>
                </a:r>
              </a:p>
            </p:txBody>
          </p:sp>
          <p:sp>
            <p:nvSpPr>
              <p:cNvPr id="710682" name="Rectangle 26"/>
              <p:cNvSpPr>
                <a:spLocks noChangeArrowheads="1"/>
              </p:cNvSpPr>
              <p:nvPr/>
            </p:nvSpPr>
            <p:spPr bwMode="auto">
              <a:xfrm>
                <a:off x="4603" y="3066"/>
                <a:ext cx="771" cy="862"/>
              </a:xfrm>
              <a:prstGeom prst="rect">
                <a:avLst/>
              </a:prstGeom>
              <a:solidFill>
                <a:srgbClr val="DDDDDD"/>
              </a:solidFill>
              <a:ln w="12700" algn="ctr">
                <a:solidFill>
                  <a:schemeClr val="tx1"/>
                </a:solidFill>
                <a:miter lim="800000"/>
                <a:headEnd/>
                <a:tailEnd/>
              </a:ln>
              <a:effectLst/>
            </p:spPr>
            <p:txBody>
              <a:bodyPr wrap="none" anchor="ctr"/>
              <a:lstStyle/>
              <a:p>
                <a:r>
                  <a:rPr lang="en-US" altLang="zh-CN">
                    <a:latin typeface="Times New Roman" pitchFamily="18" charset="0"/>
                    <a:ea typeface="楷体_GB2312" pitchFamily="49" charset="-122"/>
                  </a:rPr>
                  <a:t>PC</a:t>
                </a:r>
                <a:r>
                  <a:rPr lang="zh-CN" altLang="en-US">
                    <a:latin typeface="Times New Roman" pitchFamily="18" charset="0"/>
                    <a:ea typeface="楷体_GB2312" pitchFamily="49" charset="-122"/>
                  </a:rPr>
                  <a:t>机串口</a:t>
                </a:r>
              </a:p>
            </p:txBody>
          </p:sp>
          <p:sp>
            <p:nvSpPr>
              <p:cNvPr id="710683" name="Line 27"/>
              <p:cNvSpPr>
                <a:spLocks noChangeShapeType="1"/>
              </p:cNvSpPr>
              <p:nvPr/>
            </p:nvSpPr>
            <p:spPr bwMode="auto">
              <a:xfrm>
                <a:off x="2699" y="3202"/>
                <a:ext cx="452" cy="1"/>
              </a:xfrm>
              <a:prstGeom prst="line">
                <a:avLst/>
              </a:prstGeom>
              <a:noFill/>
              <a:ln w="12700">
                <a:solidFill>
                  <a:schemeClr val="tx1"/>
                </a:solidFill>
                <a:round/>
                <a:headEnd/>
                <a:tailEnd/>
              </a:ln>
              <a:effectLst/>
            </p:spPr>
            <p:txBody>
              <a:bodyPr wrap="none" anchor="ctr"/>
              <a:lstStyle/>
              <a:p>
                <a:endParaRPr lang="zh-CN" altLang="en-US"/>
              </a:p>
            </p:txBody>
          </p:sp>
          <p:sp>
            <p:nvSpPr>
              <p:cNvPr id="710684" name="Line 28"/>
              <p:cNvSpPr>
                <a:spLocks noChangeShapeType="1"/>
              </p:cNvSpPr>
              <p:nvPr/>
            </p:nvSpPr>
            <p:spPr bwMode="auto">
              <a:xfrm>
                <a:off x="2699" y="3494"/>
                <a:ext cx="452" cy="2"/>
              </a:xfrm>
              <a:prstGeom prst="line">
                <a:avLst/>
              </a:prstGeom>
              <a:noFill/>
              <a:ln w="12700">
                <a:solidFill>
                  <a:schemeClr val="tx1"/>
                </a:solidFill>
                <a:round/>
                <a:headEnd/>
                <a:tailEnd/>
              </a:ln>
              <a:effectLst/>
            </p:spPr>
            <p:txBody>
              <a:bodyPr wrap="none" anchor="ctr"/>
              <a:lstStyle/>
              <a:p>
                <a:endParaRPr lang="zh-CN" altLang="en-US"/>
              </a:p>
            </p:txBody>
          </p:sp>
          <p:sp>
            <p:nvSpPr>
              <p:cNvPr id="710685" name="Line 29"/>
              <p:cNvSpPr>
                <a:spLocks noChangeShapeType="1"/>
              </p:cNvSpPr>
              <p:nvPr/>
            </p:nvSpPr>
            <p:spPr bwMode="auto">
              <a:xfrm flipV="1">
                <a:off x="4004" y="3202"/>
                <a:ext cx="237" cy="293"/>
              </a:xfrm>
              <a:prstGeom prst="line">
                <a:avLst/>
              </a:prstGeom>
              <a:noFill/>
              <a:ln w="12700">
                <a:solidFill>
                  <a:schemeClr val="tx1"/>
                </a:solidFill>
                <a:round/>
                <a:headEnd/>
                <a:tailEnd/>
              </a:ln>
              <a:effectLst/>
            </p:spPr>
            <p:txBody>
              <a:bodyPr wrap="none" anchor="ctr"/>
              <a:lstStyle/>
              <a:p>
                <a:endParaRPr lang="zh-CN" altLang="en-US"/>
              </a:p>
            </p:txBody>
          </p:sp>
          <p:sp>
            <p:nvSpPr>
              <p:cNvPr id="710686" name="Line 30"/>
              <p:cNvSpPr>
                <a:spLocks noChangeShapeType="1"/>
              </p:cNvSpPr>
              <p:nvPr/>
            </p:nvSpPr>
            <p:spPr bwMode="auto">
              <a:xfrm>
                <a:off x="4241" y="3202"/>
                <a:ext cx="362" cy="0"/>
              </a:xfrm>
              <a:prstGeom prst="line">
                <a:avLst/>
              </a:prstGeom>
              <a:noFill/>
              <a:ln w="12700">
                <a:solidFill>
                  <a:schemeClr val="tx1"/>
                </a:solidFill>
                <a:round/>
                <a:headEnd/>
                <a:tailEnd/>
              </a:ln>
              <a:effectLst/>
            </p:spPr>
            <p:txBody>
              <a:bodyPr wrap="none" anchor="ctr"/>
              <a:lstStyle/>
              <a:p>
                <a:endParaRPr lang="zh-CN" altLang="en-US"/>
              </a:p>
            </p:txBody>
          </p:sp>
          <p:sp>
            <p:nvSpPr>
              <p:cNvPr id="710687" name="Line 31"/>
              <p:cNvSpPr>
                <a:spLocks noChangeShapeType="1"/>
              </p:cNvSpPr>
              <p:nvPr/>
            </p:nvSpPr>
            <p:spPr bwMode="auto">
              <a:xfrm>
                <a:off x="4005" y="3202"/>
                <a:ext cx="238" cy="291"/>
              </a:xfrm>
              <a:prstGeom prst="line">
                <a:avLst/>
              </a:prstGeom>
              <a:noFill/>
              <a:ln w="12700">
                <a:solidFill>
                  <a:schemeClr val="tx1"/>
                </a:solidFill>
                <a:round/>
                <a:headEnd/>
                <a:tailEnd/>
              </a:ln>
              <a:effectLst/>
            </p:spPr>
            <p:txBody>
              <a:bodyPr wrap="none" anchor="ctr"/>
              <a:lstStyle/>
              <a:p>
                <a:endParaRPr lang="zh-CN" altLang="en-US"/>
              </a:p>
            </p:txBody>
          </p:sp>
          <p:sp>
            <p:nvSpPr>
              <p:cNvPr id="710688" name="Line 32"/>
              <p:cNvSpPr>
                <a:spLocks noChangeShapeType="1"/>
              </p:cNvSpPr>
              <p:nvPr/>
            </p:nvSpPr>
            <p:spPr bwMode="auto">
              <a:xfrm>
                <a:off x="4241" y="3494"/>
                <a:ext cx="362" cy="0"/>
              </a:xfrm>
              <a:prstGeom prst="line">
                <a:avLst/>
              </a:prstGeom>
              <a:noFill/>
              <a:ln w="12700">
                <a:solidFill>
                  <a:schemeClr val="tx1"/>
                </a:solidFill>
                <a:round/>
                <a:headEnd/>
                <a:tailEnd/>
              </a:ln>
              <a:effectLst/>
            </p:spPr>
            <p:txBody>
              <a:bodyPr wrap="none" anchor="ctr"/>
              <a:lstStyle/>
              <a:p>
                <a:endParaRPr lang="zh-CN" altLang="en-US"/>
              </a:p>
            </p:txBody>
          </p:sp>
          <p:sp>
            <p:nvSpPr>
              <p:cNvPr id="710689" name="Line 33"/>
              <p:cNvSpPr>
                <a:spLocks noChangeShapeType="1"/>
              </p:cNvSpPr>
              <p:nvPr/>
            </p:nvSpPr>
            <p:spPr bwMode="auto">
              <a:xfrm>
                <a:off x="2699" y="3777"/>
                <a:ext cx="1904" cy="0"/>
              </a:xfrm>
              <a:prstGeom prst="line">
                <a:avLst/>
              </a:prstGeom>
              <a:noFill/>
              <a:ln w="12700">
                <a:solidFill>
                  <a:schemeClr val="tx1"/>
                </a:solidFill>
                <a:round/>
                <a:headEnd/>
                <a:tailEnd/>
              </a:ln>
              <a:effectLst/>
            </p:spPr>
            <p:txBody>
              <a:bodyPr wrap="none" anchor="ctr"/>
              <a:lstStyle/>
              <a:p>
                <a:endParaRPr lang="zh-CN" altLang="en-US"/>
              </a:p>
            </p:txBody>
          </p:sp>
          <p:sp>
            <p:nvSpPr>
              <p:cNvPr id="710690" name="Rectangle 34"/>
              <p:cNvSpPr>
                <a:spLocks noChangeArrowheads="1"/>
              </p:cNvSpPr>
              <p:nvPr/>
            </p:nvSpPr>
            <p:spPr bwMode="auto">
              <a:xfrm>
                <a:off x="3151" y="3066"/>
                <a:ext cx="680" cy="590"/>
              </a:xfrm>
              <a:prstGeom prst="rect">
                <a:avLst/>
              </a:prstGeom>
              <a:solidFill>
                <a:srgbClr val="CCECFF"/>
              </a:solidFill>
              <a:ln w="12700" algn="ctr">
                <a:solidFill>
                  <a:schemeClr val="tx1"/>
                </a:solidFill>
                <a:miter lim="800000"/>
                <a:headEnd/>
                <a:tailEnd/>
              </a:ln>
              <a:effectLst/>
            </p:spPr>
            <p:txBody>
              <a:bodyPr wrap="none" anchor="ctr"/>
              <a:lstStyle/>
              <a:p>
                <a:r>
                  <a:rPr lang="en-US" altLang="zh-CN" dirty="0">
                    <a:latin typeface="Times New Roman" pitchFamily="18" charset="0"/>
                    <a:ea typeface="楷体_GB2312" pitchFamily="49" charset="-122"/>
                  </a:rPr>
                  <a:t>RS232</a:t>
                </a:r>
              </a:p>
              <a:p>
                <a:r>
                  <a:rPr lang="zh-CN" altLang="en-US" dirty="0">
                    <a:latin typeface="Times New Roman" pitchFamily="18" charset="0"/>
                    <a:ea typeface="楷体_GB2312" pitchFamily="49" charset="-122"/>
                  </a:rPr>
                  <a:t>电平转换</a:t>
                </a:r>
              </a:p>
            </p:txBody>
          </p:sp>
          <p:sp>
            <p:nvSpPr>
              <p:cNvPr id="710691" name="Line 35"/>
              <p:cNvSpPr>
                <a:spLocks noChangeShapeType="1"/>
              </p:cNvSpPr>
              <p:nvPr/>
            </p:nvSpPr>
            <p:spPr bwMode="auto">
              <a:xfrm flipV="1">
                <a:off x="3831" y="3203"/>
                <a:ext cx="175" cy="0"/>
              </a:xfrm>
              <a:prstGeom prst="line">
                <a:avLst/>
              </a:prstGeom>
              <a:noFill/>
              <a:ln w="12700">
                <a:solidFill>
                  <a:schemeClr val="tx1"/>
                </a:solidFill>
                <a:round/>
                <a:headEnd/>
                <a:tailEnd/>
              </a:ln>
              <a:effectLst/>
            </p:spPr>
            <p:txBody>
              <a:bodyPr wrap="none" anchor="ctr"/>
              <a:lstStyle/>
              <a:p>
                <a:endParaRPr lang="zh-CN" altLang="en-US"/>
              </a:p>
            </p:txBody>
          </p:sp>
          <p:sp>
            <p:nvSpPr>
              <p:cNvPr id="710692" name="Line 36"/>
              <p:cNvSpPr>
                <a:spLocks noChangeShapeType="1"/>
              </p:cNvSpPr>
              <p:nvPr/>
            </p:nvSpPr>
            <p:spPr bwMode="auto">
              <a:xfrm flipV="1">
                <a:off x="3831" y="3496"/>
                <a:ext cx="176" cy="0"/>
              </a:xfrm>
              <a:prstGeom prst="line">
                <a:avLst/>
              </a:prstGeom>
              <a:noFill/>
              <a:ln w="12700">
                <a:solidFill>
                  <a:schemeClr val="tx1"/>
                </a:solidFill>
                <a:round/>
                <a:headEnd/>
                <a:tailEnd/>
              </a:ln>
              <a:effectLst/>
            </p:spPr>
            <p:txBody>
              <a:bodyPr wrap="none" anchor="ctr"/>
              <a:lstStyle/>
              <a:p>
                <a:endParaRPr lang="zh-CN" altLang="en-US"/>
              </a:p>
            </p:txBody>
          </p:sp>
          <p:sp>
            <p:nvSpPr>
              <p:cNvPr id="710693" name="Text Box 37"/>
              <p:cNvSpPr txBox="1">
                <a:spLocks noChangeArrowheads="1"/>
              </p:cNvSpPr>
              <p:nvPr/>
            </p:nvSpPr>
            <p:spPr bwMode="auto">
              <a:xfrm>
                <a:off x="2652" y="3037"/>
                <a:ext cx="499" cy="234"/>
              </a:xfrm>
              <a:prstGeom prst="rect">
                <a:avLst/>
              </a:prstGeom>
              <a:noFill/>
              <a:ln w="12700" algn="ctr">
                <a:noFill/>
                <a:miter lim="800000"/>
                <a:headEnd/>
                <a:tailEnd/>
              </a:ln>
              <a:effectLst/>
            </p:spPr>
            <p:txBody>
              <a:bodyPr>
                <a:spAutoFit/>
              </a:bodyPr>
              <a:lstStyle/>
              <a:p>
                <a:pPr>
                  <a:spcBef>
                    <a:spcPct val="50000"/>
                  </a:spcBef>
                </a:pPr>
                <a:r>
                  <a:rPr lang="en-US" altLang="zh-CN" sz="1600">
                    <a:latin typeface="Times New Roman" pitchFamily="18" charset="0"/>
                  </a:rPr>
                  <a:t>TxD0</a:t>
                </a:r>
              </a:p>
            </p:txBody>
          </p:sp>
          <p:sp>
            <p:nvSpPr>
              <p:cNvPr id="710694" name="Text Box 38"/>
              <p:cNvSpPr txBox="1">
                <a:spLocks noChangeArrowheads="1"/>
              </p:cNvSpPr>
              <p:nvPr/>
            </p:nvSpPr>
            <p:spPr bwMode="auto">
              <a:xfrm>
                <a:off x="2652" y="3315"/>
                <a:ext cx="499" cy="234"/>
              </a:xfrm>
              <a:prstGeom prst="rect">
                <a:avLst/>
              </a:prstGeom>
              <a:noFill/>
              <a:ln w="12700" algn="ctr">
                <a:noFill/>
                <a:miter lim="800000"/>
                <a:headEnd/>
                <a:tailEnd/>
              </a:ln>
              <a:effectLst/>
            </p:spPr>
            <p:txBody>
              <a:bodyPr>
                <a:spAutoFit/>
              </a:bodyPr>
              <a:lstStyle/>
              <a:p>
                <a:pPr>
                  <a:spcBef>
                    <a:spcPct val="50000"/>
                  </a:spcBef>
                </a:pPr>
                <a:r>
                  <a:rPr lang="en-US" altLang="zh-CN" sz="1600">
                    <a:latin typeface="Times New Roman" pitchFamily="18" charset="0"/>
                  </a:rPr>
                  <a:t>RxD0</a:t>
                </a:r>
              </a:p>
            </p:txBody>
          </p:sp>
          <p:sp>
            <p:nvSpPr>
              <p:cNvPr id="710695" name="Text Box 39"/>
              <p:cNvSpPr txBox="1">
                <a:spLocks noChangeArrowheads="1"/>
              </p:cNvSpPr>
              <p:nvPr/>
            </p:nvSpPr>
            <p:spPr bwMode="auto">
              <a:xfrm>
                <a:off x="4149" y="3037"/>
                <a:ext cx="499" cy="234"/>
              </a:xfrm>
              <a:prstGeom prst="rect">
                <a:avLst/>
              </a:prstGeom>
              <a:noFill/>
              <a:ln w="12700" algn="ctr">
                <a:noFill/>
                <a:miter lim="800000"/>
                <a:headEnd/>
                <a:tailEnd/>
              </a:ln>
              <a:effectLst/>
            </p:spPr>
            <p:txBody>
              <a:bodyPr>
                <a:spAutoFit/>
              </a:bodyPr>
              <a:lstStyle/>
              <a:p>
                <a:pPr>
                  <a:spcBef>
                    <a:spcPct val="50000"/>
                  </a:spcBef>
                </a:pPr>
                <a:r>
                  <a:rPr lang="en-US" altLang="zh-CN" sz="1600">
                    <a:latin typeface="Times New Roman" pitchFamily="18" charset="0"/>
                  </a:rPr>
                  <a:t>TxD0</a:t>
                </a:r>
              </a:p>
            </p:txBody>
          </p:sp>
          <p:sp>
            <p:nvSpPr>
              <p:cNvPr id="710696" name="Text Box 40"/>
              <p:cNvSpPr txBox="1">
                <a:spLocks noChangeArrowheads="1"/>
              </p:cNvSpPr>
              <p:nvPr/>
            </p:nvSpPr>
            <p:spPr bwMode="auto">
              <a:xfrm>
                <a:off x="4149" y="3315"/>
                <a:ext cx="499" cy="234"/>
              </a:xfrm>
              <a:prstGeom prst="rect">
                <a:avLst/>
              </a:prstGeom>
              <a:noFill/>
              <a:ln w="12700" algn="ctr">
                <a:noFill/>
                <a:miter lim="800000"/>
                <a:headEnd/>
                <a:tailEnd/>
              </a:ln>
              <a:effectLst/>
            </p:spPr>
            <p:txBody>
              <a:bodyPr>
                <a:spAutoFit/>
              </a:bodyPr>
              <a:lstStyle/>
              <a:p>
                <a:pPr>
                  <a:spcBef>
                    <a:spcPct val="50000"/>
                  </a:spcBef>
                </a:pPr>
                <a:r>
                  <a:rPr lang="en-US" altLang="zh-CN" sz="1600">
                    <a:latin typeface="Times New Roman" pitchFamily="18" charset="0"/>
                  </a:rPr>
                  <a:t>RxD0</a:t>
                </a:r>
              </a:p>
            </p:txBody>
          </p:sp>
          <p:sp>
            <p:nvSpPr>
              <p:cNvPr id="710697" name="Line 41"/>
              <p:cNvSpPr>
                <a:spLocks noChangeShapeType="1"/>
              </p:cNvSpPr>
              <p:nvPr/>
            </p:nvSpPr>
            <p:spPr bwMode="auto">
              <a:xfrm>
                <a:off x="3606" y="3779"/>
                <a:ext cx="0" cy="136"/>
              </a:xfrm>
              <a:prstGeom prst="line">
                <a:avLst/>
              </a:prstGeom>
              <a:noFill/>
              <a:ln w="12700">
                <a:solidFill>
                  <a:schemeClr val="tx1"/>
                </a:solidFill>
                <a:round/>
                <a:headEnd/>
                <a:tailEnd/>
              </a:ln>
              <a:effectLst/>
            </p:spPr>
            <p:txBody>
              <a:bodyPr wrap="none" anchor="ctr"/>
              <a:lstStyle/>
              <a:p>
                <a:endParaRPr lang="zh-CN" altLang="en-US"/>
              </a:p>
            </p:txBody>
          </p:sp>
          <p:sp>
            <p:nvSpPr>
              <p:cNvPr id="710698" name="Line 42"/>
              <p:cNvSpPr>
                <a:spLocks noChangeShapeType="1"/>
              </p:cNvSpPr>
              <p:nvPr/>
            </p:nvSpPr>
            <p:spPr bwMode="auto">
              <a:xfrm>
                <a:off x="3515" y="3915"/>
                <a:ext cx="181" cy="0"/>
              </a:xfrm>
              <a:prstGeom prst="line">
                <a:avLst/>
              </a:prstGeom>
              <a:noFill/>
              <a:ln w="28575">
                <a:solidFill>
                  <a:schemeClr val="tx1"/>
                </a:solidFill>
                <a:round/>
                <a:headEnd/>
                <a:tailEnd/>
              </a:ln>
              <a:effectLst/>
            </p:spPr>
            <p:txBody>
              <a:bodyPr wrap="none" anchor="ctr"/>
              <a:lstStyle/>
              <a:p>
                <a:endParaRPr lang="zh-CN" altLang="en-US"/>
              </a:p>
            </p:txBody>
          </p:sp>
        </p:grpSp>
        <p:sp>
          <p:nvSpPr>
            <p:cNvPr id="710699" name="AutoShape 43"/>
            <p:cNvSpPr>
              <a:spLocks noChangeArrowheads="1"/>
            </p:cNvSpPr>
            <p:nvPr/>
          </p:nvSpPr>
          <p:spPr bwMode="auto">
            <a:xfrm>
              <a:off x="1816" y="1726"/>
              <a:ext cx="459" cy="276"/>
            </a:xfrm>
            <a:prstGeom prst="rightArrow">
              <a:avLst>
                <a:gd name="adj1" fmla="val 50000"/>
                <a:gd name="adj2" fmla="val 41576"/>
              </a:avLst>
            </a:prstGeom>
            <a:solidFill>
              <a:schemeClr val="accent1"/>
            </a:solidFill>
            <a:ln w="9525" algn="ctr">
              <a:solidFill>
                <a:schemeClr val="tx1"/>
              </a:solidFill>
              <a:miter lim="800000"/>
              <a:headEnd/>
              <a:tailEnd/>
            </a:ln>
            <a:effectLst/>
          </p:spPr>
          <p:txBody>
            <a:bodyPr wrap="none" anchor="ctr"/>
            <a:lstStyle/>
            <a:p>
              <a:endParaRPr lang="zh-CN" altLang="en-US"/>
            </a:p>
          </p:txBody>
        </p:sp>
      </p:grpSp>
      <p:grpSp>
        <p:nvGrpSpPr>
          <p:cNvPr id="710700" name="Group 44"/>
          <p:cNvGrpSpPr>
            <a:grpSpLocks/>
          </p:cNvGrpSpPr>
          <p:nvPr/>
        </p:nvGrpSpPr>
        <p:grpSpPr bwMode="auto">
          <a:xfrm>
            <a:off x="1638300" y="3716339"/>
            <a:ext cx="8896350" cy="2687637"/>
            <a:chOff x="72" y="2326"/>
            <a:chExt cx="5604" cy="1693"/>
          </a:xfrm>
        </p:grpSpPr>
        <p:grpSp>
          <p:nvGrpSpPr>
            <p:cNvPr id="710701" name="Group 45"/>
            <p:cNvGrpSpPr>
              <a:grpSpLocks/>
            </p:cNvGrpSpPr>
            <p:nvPr/>
          </p:nvGrpSpPr>
          <p:grpSpPr bwMode="auto">
            <a:xfrm>
              <a:off x="2292" y="2326"/>
              <a:ext cx="3384" cy="1693"/>
              <a:chOff x="2292" y="2326"/>
              <a:chExt cx="3384" cy="1693"/>
            </a:xfrm>
          </p:grpSpPr>
          <p:sp>
            <p:nvSpPr>
              <p:cNvPr id="710702" name="Text Box 46"/>
              <p:cNvSpPr txBox="1">
                <a:spLocks noChangeArrowheads="1"/>
              </p:cNvSpPr>
              <p:nvPr/>
            </p:nvSpPr>
            <p:spPr bwMode="auto">
              <a:xfrm>
                <a:off x="3068" y="2499"/>
                <a:ext cx="473" cy="212"/>
              </a:xfrm>
              <a:prstGeom prst="rect">
                <a:avLst/>
              </a:prstGeom>
              <a:noFill/>
              <a:ln w="12700" algn="ctr">
                <a:noFill/>
                <a:miter lim="800000"/>
                <a:headEnd/>
                <a:tailEnd/>
              </a:ln>
              <a:effectLst/>
            </p:spPr>
            <p:txBody>
              <a:bodyPr>
                <a:spAutoFit/>
              </a:bodyPr>
              <a:lstStyle/>
              <a:p>
                <a:pPr algn="l">
                  <a:spcBef>
                    <a:spcPct val="50000"/>
                  </a:spcBef>
                </a:pPr>
                <a:r>
                  <a:rPr lang="en-US" altLang="zh-CN" sz="1600">
                    <a:latin typeface="Times New Roman" pitchFamily="18" charset="0"/>
                  </a:rPr>
                  <a:t>RxD1</a:t>
                </a:r>
              </a:p>
            </p:txBody>
          </p:sp>
          <p:sp>
            <p:nvSpPr>
              <p:cNvPr id="710703" name="Text Box 47"/>
              <p:cNvSpPr txBox="1">
                <a:spLocks noChangeArrowheads="1"/>
              </p:cNvSpPr>
              <p:nvPr/>
            </p:nvSpPr>
            <p:spPr bwMode="auto">
              <a:xfrm>
                <a:off x="3068" y="2671"/>
                <a:ext cx="473" cy="212"/>
              </a:xfrm>
              <a:prstGeom prst="rect">
                <a:avLst/>
              </a:prstGeom>
              <a:noFill/>
              <a:ln w="12700" algn="ctr">
                <a:noFill/>
                <a:miter lim="800000"/>
                <a:headEnd/>
                <a:tailEnd/>
              </a:ln>
              <a:effectLst/>
            </p:spPr>
            <p:txBody>
              <a:bodyPr>
                <a:spAutoFit/>
              </a:bodyPr>
              <a:lstStyle/>
              <a:p>
                <a:pPr algn="l">
                  <a:spcBef>
                    <a:spcPct val="50000"/>
                  </a:spcBef>
                </a:pPr>
                <a:r>
                  <a:rPr lang="en-US" altLang="zh-CN" sz="1600">
                    <a:latin typeface="Times New Roman" pitchFamily="18" charset="0"/>
                  </a:rPr>
                  <a:t>RTS</a:t>
                </a:r>
              </a:p>
            </p:txBody>
          </p:sp>
          <p:sp>
            <p:nvSpPr>
              <p:cNvPr id="710704" name="Text Box 48"/>
              <p:cNvSpPr txBox="1">
                <a:spLocks noChangeArrowheads="1"/>
              </p:cNvSpPr>
              <p:nvPr/>
            </p:nvSpPr>
            <p:spPr bwMode="auto">
              <a:xfrm>
                <a:off x="3068" y="2838"/>
                <a:ext cx="473" cy="212"/>
              </a:xfrm>
              <a:prstGeom prst="rect">
                <a:avLst/>
              </a:prstGeom>
              <a:noFill/>
              <a:ln w="12700" algn="ctr">
                <a:noFill/>
                <a:miter lim="800000"/>
                <a:headEnd/>
                <a:tailEnd/>
              </a:ln>
              <a:effectLst/>
            </p:spPr>
            <p:txBody>
              <a:bodyPr>
                <a:spAutoFit/>
              </a:bodyPr>
              <a:lstStyle/>
              <a:p>
                <a:pPr algn="l">
                  <a:spcBef>
                    <a:spcPct val="50000"/>
                  </a:spcBef>
                </a:pPr>
                <a:r>
                  <a:rPr lang="en-US" altLang="zh-CN" sz="1600">
                    <a:latin typeface="Times New Roman" pitchFamily="18" charset="0"/>
                  </a:rPr>
                  <a:t>CTS</a:t>
                </a:r>
              </a:p>
            </p:txBody>
          </p:sp>
          <p:sp>
            <p:nvSpPr>
              <p:cNvPr id="710705" name="Text Box 49"/>
              <p:cNvSpPr txBox="1">
                <a:spLocks noChangeArrowheads="1"/>
              </p:cNvSpPr>
              <p:nvPr/>
            </p:nvSpPr>
            <p:spPr bwMode="auto">
              <a:xfrm>
                <a:off x="3068" y="3002"/>
                <a:ext cx="473" cy="212"/>
              </a:xfrm>
              <a:prstGeom prst="rect">
                <a:avLst/>
              </a:prstGeom>
              <a:noFill/>
              <a:ln w="12700" algn="ctr">
                <a:noFill/>
                <a:miter lim="800000"/>
                <a:headEnd/>
                <a:tailEnd/>
              </a:ln>
              <a:effectLst/>
            </p:spPr>
            <p:txBody>
              <a:bodyPr>
                <a:spAutoFit/>
              </a:bodyPr>
              <a:lstStyle/>
              <a:p>
                <a:pPr algn="l">
                  <a:spcBef>
                    <a:spcPct val="50000"/>
                  </a:spcBef>
                </a:pPr>
                <a:r>
                  <a:rPr lang="en-US" altLang="zh-CN" sz="1600">
                    <a:latin typeface="Times New Roman" pitchFamily="18" charset="0"/>
                  </a:rPr>
                  <a:t>DSR1</a:t>
                </a:r>
              </a:p>
            </p:txBody>
          </p:sp>
          <p:sp>
            <p:nvSpPr>
              <p:cNvPr id="710706" name="Text Box 50"/>
              <p:cNvSpPr txBox="1">
                <a:spLocks noChangeArrowheads="1"/>
              </p:cNvSpPr>
              <p:nvPr/>
            </p:nvSpPr>
            <p:spPr bwMode="auto">
              <a:xfrm>
                <a:off x="3062" y="3182"/>
                <a:ext cx="473" cy="212"/>
              </a:xfrm>
              <a:prstGeom prst="rect">
                <a:avLst/>
              </a:prstGeom>
              <a:noFill/>
              <a:ln w="12700" algn="ctr">
                <a:noFill/>
                <a:miter lim="800000"/>
                <a:headEnd/>
                <a:tailEnd/>
              </a:ln>
              <a:effectLst/>
            </p:spPr>
            <p:txBody>
              <a:bodyPr>
                <a:spAutoFit/>
              </a:bodyPr>
              <a:lstStyle/>
              <a:p>
                <a:pPr algn="l">
                  <a:spcBef>
                    <a:spcPct val="50000"/>
                  </a:spcBef>
                </a:pPr>
                <a:r>
                  <a:rPr lang="en-US" altLang="zh-CN" sz="1600">
                    <a:latin typeface="Times New Roman" pitchFamily="18" charset="0"/>
                  </a:rPr>
                  <a:t>DTR1</a:t>
                </a:r>
              </a:p>
            </p:txBody>
          </p:sp>
          <p:sp>
            <p:nvSpPr>
              <p:cNvPr id="710707" name="Text Box 51"/>
              <p:cNvSpPr txBox="1">
                <a:spLocks noChangeArrowheads="1"/>
              </p:cNvSpPr>
              <p:nvPr/>
            </p:nvSpPr>
            <p:spPr bwMode="auto">
              <a:xfrm>
                <a:off x="3062" y="2326"/>
                <a:ext cx="473" cy="212"/>
              </a:xfrm>
              <a:prstGeom prst="rect">
                <a:avLst/>
              </a:prstGeom>
              <a:noFill/>
              <a:ln w="12700" algn="ctr">
                <a:noFill/>
                <a:miter lim="800000"/>
                <a:headEnd/>
                <a:tailEnd/>
              </a:ln>
              <a:effectLst/>
            </p:spPr>
            <p:txBody>
              <a:bodyPr>
                <a:spAutoFit/>
              </a:bodyPr>
              <a:lstStyle/>
              <a:p>
                <a:pPr algn="l">
                  <a:spcBef>
                    <a:spcPct val="50000"/>
                  </a:spcBef>
                </a:pPr>
                <a:r>
                  <a:rPr lang="en-US" altLang="zh-CN" sz="1600">
                    <a:latin typeface="Times New Roman" pitchFamily="18" charset="0"/>
                  </a:rPr>
                  <a:t>TxD1</a:t>
                </a:r>
              </a:p>
            </p:txBody>
          </p:sp>
          <p:sp>
            <p:nvSpPr>
              <p:cNvPr id="710708" name="Rectangle 52"/>
              <p:cNvSpPr>
                <a:spLocks noChangeArrowheads="1"/>
              </p:cNvSpPr>
              <p:nvPr/>
            </p:nvSpPr>
            <p:spPr bwMode="auto">
              <a:xfrm>
                <a:off x="2292" y="2385"/>
                <a:ext cx="756" cy="1634"/>
              </a:xfrm>
              <a:prstGeom prst="rect">
                <a:avLst/>
              </a:prstGeom>
              <a:solidFill>
                <a:srgbClr val="DDDDDD"/>
              </a:solidFill>
              <a:ln w="12700" algn="ctr">
                <a:solidFill>
                  <a:schemeClr val="tx1"/>
                </a:solidFill>
                <a:miter lim="800000"/>
                <a:headEnd/>
                <a:tailEnd/>
              </a:ln>
              <a:effectLst/>
            </p:spPr>
            <p:txBody>
              <a:bodyPr wrap="none" anchor="ctr"/>
              <a:lstStyle/>
              <a:p>
                <a:r>
                  <a:rPr lang="en-US" altLang="zh-CN" b="1" i="1">
                    <a:latin typeface="Times New Roman" pitchFamily="18" charset="0"/>
                  </a:rPr>
                  <a:t>LPC2000</a:t>
                </a:r>
              </a:p>
            </p:txBody>
          </p:sp>
          <p:sp>
            <p:nvSpPr>
              <p:cNvPr id="710709" name="Rectangle 53"/>
              <p:cNvSpPr>
                <a:spLocks noChangeArrowheads="1"/>
              </p:cNvSpPr>
              <p:nvPr/>
            </p:nvSpPr>
            <p:spPr bwMode="auto">
              <a:xfrm>
                <a:off x="4921" y="2385"/>
                <a:ext cx="755" cy="1634"/>
              </a:xfrm>
              <a:prstGeom prst="rect">
                <a:avLst/>
              </a:prstGeom>
              <a:solidFill>
                <a:srgbClr val="DDDDDD"/>
              </a:solidFill>
              <a:ln w="12700" algn="ctr">
                <a:solidFill>
                  <a:schemeClr val="tx1"/>
                </a:solidFill>
                <a:miter lim="800000"/>
                <a:headEnd/>
                <a:tailEnd/>
              </a:ln>
              <a:effectLst/>
            </p:spPr>
            <p:txBody>
              <a:bodyPr wrap="none" anchor="ctr"/>
              <a:lstStyle/>
              <a:p>
                <a:r>
                  <a:rPr lang="en-US" altLang="zh-CN">
                    <a:latin typeface="Times New Roman" pitchFamily="18" charset="0"/>
                  </a:rPr>
                  <a:t>Modem</a:t>
                </a:r>
              </a:p>
            </p:txBody>
          </p:sp>
          <p:sp>
            <p:nvSpPr>
              <p:cNvPr id="710710" name="Line 54"/>
              <p:cNvSpPr>
                <a:spLocks noChangeShapeType="1"/>
              </p:cNvSpPr>
              <p:nvPr/>
            </p:nvSpPr>
            <p:spPr bwMode="auto">
              <a:xfrm flipV="1">
                <a:off x="4363" y="2511"/>
                <a:ext cx="216" cy="168"/>
              </a:xfrm>
              <a:prstGeom prst="line">
                <a:avLst/>
              </a:prstGeom>
              <a:noFill/>
              <a:ln w="12700">
                <a:solidFill>
                  <a:schemeClr val="tx1"/>
                </a:solidFill>
                <a:round/>
                <a:headEnd/>
                <a:tailEnd/>
              </a:ln>
              <a:effectLst/>
            </p:spPr>
            <p:txBody>
              <a:bodyPr wrap="none" anchor="ctr"/>
              <a:lstStyle/>
              <a:p>
                <a:endParaRPr lang="zh-CN" altLang="en-US"/>
              </a:p>
            </p:txBody>
          </p:sp>
          <p:sp>
            <p:nvSpPr>
              <p:cNvPr id="710711" name="Line 55"/>
              <p:cNvSpPr>
                <a:spLocks noChangeShapeType="1"/>
              </p:cNvSpPr>
              <p:nvPr/>
            </p:nvSpPr>
            <p:spPr bwMode="auto">
              <a:xfrm>
                <a:off x="4578" y="2510"/>
                <a:ext cx="343" cy="0"/>
              </a:xfrm>
              <a:prstGeom prst="line">
                <a:avLst/>
              </a:prstGeom>
              <a:noFill/>
              <a:ln w="12700">
                <a:solidFill>
                  <a:schemeClr val="tx1"/>
                </a:solidFill>
                <a:round/>
                <a:headEnd/>
                <a:tailEnd/>
              </a:ln>
              <a:effectLst/>
            </p:spPr>
            <p:txBody>
              <a:bodyPr wrap="none" anchor="ctr"/>
              <a:lstStyle/>
              <a:p>
                <a:endParaRPr lang="zh-CN" altLang="en-US"/>
              </a:p>
            </p:txBody>
          </p:sp>
          <p:sp>
            <p:nvSpPr>
              <p:cNvPr id="710712" name="Line 56"/>
              <p:cNvSpPr>
                <a:spLocks noChangeShapeType="1"/>
              </p:cNvSpPr>
              <p:nvPr/>
            </p:nvSpPr>
            <p:spPr bwMode="auto">
              <a:xfrm>
                <a:off x="4364" y="2511"/>
                <a:ext cx="213" cy="168"/>
              </a:xfrm>
              <a:prstGeom prst="line">
                <a:avLst/>
              </a:prstGeom>
              <a:noFill/>
              <a:ln w="12700">
                <a:solidFill>
                  <a:schemeClr val="tx1"/>
                </a:solidFill>
                <a:round/>
                <a:headEnd/>
                <a:tailEnd/>
              </a:ln>
              <a:effectLst/>
            </p:spPr>
            <p:txBody>
              <a:bodyPr wrap="none" anchor="ctr"/>
              <a:lstStyle/>
              <a:p>
                <a:endParaRPr lang="zh-CN" altLang="en-US"/>
              </a:p>
            </p:txBody>
          </p:sp>
          <p:sp>
            <p:nvSpPr>
              <p:cNvPr id="710713" name="Line 57"/>
              <p:cNvSpPr>
                <a:spLocks noChangeShapeType="1"/>
              </p:cNvSpPr>
              <p:nvPr/>
            </p:nvSpPr>
            <p:spPr bwMode="auto">
              <a:xfrm>
                <a:off x="4574" y="2677"/>
                <a:ext cx="343" cy="0"/>
              </a:xfrm>
              <a:prstGeom prst="line">
                <a:avLst/>
              </a:prstGeom>
              <a:noFill/>
              <a:ln w="12700">
                <a:solidFill>
                  <a:schemeClr val="tx1"/>
                </a:solidFill>
                <a:round/>
                <a:headEnd/>
                <a:tailEnd/>
              </a:ln>
              <a:effectLst/>
            </p:spPr>
            <p:txBody>
              <a:bodyPr wrap="none" anchor="ctr"/>
              <a:lstStyle/>
              <a:p>
                <a:endParaRPr lang="zh-CN" altLang="en-US"/>
              </a:p>
            </p:txBody>
          </p:sp>
          <p:sp>
            <p:nvSpPr>
              <p:cNvPr id="710714" name="Line 58"/>
              <p:cNvSpPr>
                <a:spLocks noChangeShapeType="1"/>
              </p:cNvSpPr>
              <p:nvPr/>
            </p:nvSpPr>
            <p:spPr bwMode="auto">
              <a:xfrm flipV="1">
                <a:off x="3051" y="3892"/>
                <a:ext cx="1870" cy="1"/>
              </a:xfrm>
              <a:prstGeom prst="line">
                <a:avLst/>
              </a:prstGeom>
              <a:noFill/>
              <a:ln w="12700">
                <a:solidFill>
                  <a:schemeClr val="tx1"/>
                </a:solidFill>
                <a:round/>
                <a:headEnd/>
                <a:tailEnd/>
              </a:ln>
              <a:effectLst/>
            </p:spPr>
            <p:txBody>
              <a:bodyPr wrap="none" anchor="ctr"/>
              <a:lstStyle/>
              <a:p>
                <a:endParaRPr lang="zh-CN" altLang="en-US"/>
              </a:p>
            </p:txBody>
          </p:sp>
          <p:sp>
            <p:nvSpPr>
              <p:cNvPr id="710715" name="Line 59"/>
              <p:cNvSpPr>
                <a:spLocks noChangeShapeType="1"/>
              </p:cNvSpPr>
              <p:nvPr/>
            </p:nvSpPr>
            <p:spPr bwMode="auto">
              <a:xfrm>
                <a:off x="4165" y="2512"/>
                <a:ext cx="200" cy="0"/>
              </a:xfrm>
              <a:prstGeom prst="line">
                <a:avLst/>
              </a:prstGeom>
              <a:noFill/>
              <a:ln w="12700">
                <a:solidFill>
                  <a:schemeClr val="tx1"/>
                </a:solidFill>
                <a:round/>
                <a:headEnd/>
                <a:tailEnd/>
              </a:ln>
              <a:effectLst/>
            </p:spPr>
            <p:txBody>
              <a:bodyPr wrap="none" anchor="ctr"/>
              <a:lstStyle/>
              <a:p>
                <a:endParaRPr lang="zh-CN" altLang="en-US"/>
              </a:p>
            </p:txBody>
          </p:sp>
          <p:sp>
            <p:nvSpPr>
              <p:cNvPr id="710716" name="Text Box 60"/>
              <p:cNvSpPr txBox="1">
                <a:spLocks noChangeArrowheads="1"/>
              </p:cNvSpPr>
              <p:nvPr/>
            </p:nvSpPr>
            <p:spPr bwMode="auto">
              <a:xfrm>
                <a:off x="4491" y="2358"/>
                <a:ext cx="473" cy="212"/>
              </a:xfrm>
              <a:prstGeom prst="rect">
                <a:avLst/>
              </a:prstGeom>
              <a:noFill/>
              <a:ln w="12700" algn="ctr">
                <a:noFill/>
                <a:miter lim="800000"/>
                <a:headEnd/>
                <a:tailEnd/>
              </a:ln>
              <a:effectLst/>
            </p:spPr>
            <p:txBody>
              <a:bodyPr>
                <a:spAutoFit/>
              </a:bodyPr>
              <a:lstStyle/>
              <a:p>
                <a:pPr algn="r">
                  <a:spcBef>
                    <a:spcPct val="50000"/>
                  </a:spcBef>
                </a:pPr>
                <a:r>
                  <a:rPr lang="en-US" altLang="zh-CN" sz="1600">
                    <a:latin typeface="Times New Roman" pitchFamily="18" charset="0"/>
                  </a:rPr>
                  <a:t>TxD</a:t>
                </a:r>
              </a:p>
            </p:txBody>
          </p:sp>
          <p:sp>
            <p:nvSpPr>
              <p:cNvPr id="710717" name="Text Box 61"/>
              <p:cNvSpPr txBox="1">
                <a:spLocks noChangeArrowheads="1"/>
              </p:cNvSpPr>
              <p:nvPr/>
            </p:nvSpPr>
            <p:spPr bwMode="auto">
              <a:xfrm>
                <a:off x="4491" y="2511"/>
                <a:ext cx="473" cy="212"/>
              </a:xfrm>
              <a:prstGeom prst="rect">
                <a:avLst/>
              </a:prstGeom>
              <a:noFill/>
              <a:ln w="12700" algn="ctr">
                <a:noFill/>
                <a:miter lim="800000"/>
                <a:headEnd/>
                <a:tailEnd/>
              </a:ln>
              <a:effectLst/>
            </p:spPr>
            <p:txBody>
              <a:bodyPr>
                <a:spAutoFit/>
              </a:bodyPr>
              <a:lstStyle/>
              <a:p>
                <a:pPr algn="r">
                  <a:spcBef>
                    <a:spcPct val="50000"/>
                  </a:spcBef>
                </a:pPr>
                <a:r>
                  <a:rPr lang="en-US" altLang="zh-CN" sz="1600">
                    <a:latin typeface="Times New Roman" pitchFamily="18" charset="0"/>
                  </a:rPr>
                  <a:t>RxD</a:t>
                </a:r>
              </a:p>
            </p:txBody>
          </p:sp>
          <p:sp>
            <p:nvSpPr>
              <p:cNvPr id="710718" name="Line 62"/>
              <p:cNvSpPr>
                <a:spLocks noChangeShapeType="1"/>
              </p:cNvSpPr>
              <p:nvPr/>
            </p:nvSpPr>
            <p:spPr bwMode="auto">
              <a:xfrm>
                <a:off x="3976" y="3893"/>
                <a:ext cx="0" cy="126"/>
              </a:xfrm>
              <a:prstGeom prst="line">
                <a:avLst/>
              </a:prstGeom>
              <a:noFill/>
              <a:ln w="12700">
                <a:solidFill>
                  <a:schemeClr val="tx1"/>
                </a:solidFill>
                <a:round/>
                <a:headEnd/>
                <a:tailEnd/>
              </a:ln>
              <a:effectLst/>
            </p:spPr>
            <p:txBody>
              <a:bodyPr wrap="none" anchor="ctr"/>
              <a:lstStyle/>
              <a:p>
                <a:endParaRPr lang="zh-CN" altLang="en-US"/>
              </a:p>
            </p:txBody>
          </p:sp>
          <p:sp>
            <p:nvSpPr>
              <p:cNvPr id="710719" name="Line 63"/>
              <p:cNvSpPr>
                <a:spLocks noChangeShapeType="1"/>
              </p:cNvSpPr>
              <p:nvPr/>
            </p:nvSpPr>
            <p:spPr bwMode="auto">
              <a:xfrm>
                <a:off x="3890" y="4019"/>
                <a:ext cx="172" cy="0"/>
              </a:xfrm>
              <a:prstGeom prst="line">
                <a:avLst/>
              </a:prstGeom>
              <a:noFill/>
              <a:ln w="28575">
                <a:solidFill>
                  <a:schemeClr val="tx1"/>
                </a:solidFill>
                <a:round/>
                <a:headEnd/>
                <a:tailEnd/>
              </a:ln>
              <a:effectLst/>
            </p:spPr>
            <p:txBody>
              <a:bodyPr wrap="none" anchor="ctr"/>
              <a:lstStyle/>
              <a:p>
                <a:endParaRPr lang="zh-CN" altLang="en-US"/>
              </a:p>
            </p:txBody>
          </p:sp>
          <p:sp>
            <p:nvSpPr>
              <p:cNvPr id="710720" name="Text Box 64"/>
              <p:cNvSpPr txBox="1">
                <a:spLocks noChangeArrowheads="1"/>
              </p:cNvSpPr>
              <p:nvPr/>
            </p:nvSpPr>
            <p:spPr bwMode="auto">
              <a:xfrm>
                <a:off x="3070" y="3340"/>
                <a:ext cx="428" cy="212"/>
              </a:xfrm>
              <a:prstGeom prst="rect">
                <a:avLst/>
              </a:prstGeom>
              <a:noFill/>
              <a:ln w="12700" algn="ctr">
                <a:noFill/>
                <a:miter lim="800000"/>
                <a:headEnd/>
                <a:tailEnd/>
              </a:ln>
              <a:effectLst/>
            </p:spPr>
            <p:txBody>
              <a:bodyPr>
                <a:spAutoFit/>
              </a:bodyPr>
              <a:lstStyle/>
              <a:p>
                <a:pPr algn="l">
                  <a:spcBef>
                    <a:spcPct val="50000"/>
                  </a:spcBef>
                </a:pPr>
                <a:r>
                  <a:rPr lang="en-US" altLang="zh-CN" sz="1600">
                    <a:latin typeface="Times New Roman" pitchFamily="18" charset="0"/>
                  </a:rPr>
                  <a:t>DCD</a:t>
                </a:r>
              </a:p>
            </p:txBody>
          </p:sp>
          <p:sp>
            <p:nvSpPr>
              <p:cNvPr id="710721" name="Text Box 65"/>
              <p:cNvSpPr txBox="1">
                <a:spLocks noChangeArrowheads="1"/>
              </p:cNvSpPr>
              <p:nvPr/>
            </p:nvSpPr>
            <p:spPr bwMode="auto">
              <a:xfrm>
                <a:off x="3087" y="3508"/>
                <a:ext cx="341" cy="212"/>
              </a:xfrm>
              <a:prstGeom prst="rect">
                <a:avLst/>
              </a:prstGeom>
              <a:noFill/>
              <a:ln w="12700" algn="ctr">
                <a:noFill/>
                <a:miter lim="800000"/>
                <a:headEnd/>
                <a:tailEnd/>
              </a:ln>
              <a:effectLst/>
            </p:spPr>
            <p:txBody>
              <a:bodyPr>
                <a:spAutoFit/>
              </a:bodyPr>
              <a:lstStyle/>
              <a:p>
                <a:pPr algn="l">
                  <a:spcBef>
                    <a:spcPct val="50000"/>
                  </a:spcBef>
                </a:pPr>
                <a:r>
                  <a:rPr lang="en-US" altLang="zh-CN" sz="1600">
                    <a:latin typeface="Times New Roman" pitchFamily="18" charset="0"/>
                  </a:rPr>
                  <a:t>RI1</a:t>
                </a:r>
              </a:p>
            </p:txBody>
          </p:sp>
          <p:sp>
            <p:nvSpPr>
              <p:cNvPr id="710722" name="Text Box 66"/>
              <p:cNvSpPr txBox="1">
                <a:spLocks noChangeArrowheads="1"/>
              </p:cNvSpPr>
              <p:nvPr/>
            </p:nvSpPr>
            <p:spPr bwMode="auto">
              <a:xfrm>
                <a:off x="4448" y="2679"/>
                <a:ext cx="473" cy="212"/>
              </a:xfrm>
              <a:prstGeom prst="rect">
                <a:avLst/>
              </a:prstGeom>
              <a:noFill/>
              <a:ln w="12700" algn="ctr">
                <a:noFill/>
                <a:miter lim="800000"/>
                <a:headEnd/>
                <a:tailEnd/>
              </a:ln>
              <a:effectLst/>
            </p:spPr>
            <p:txBody>
              <a:bodyPr>
                <a:spAutoFit/>
              </a:bodyPr>
              <a:lstStyle/>
              <a:p>
                <a:pPr algn="r">
                  <a:spcBef>
                    <a:spcPct val="50000"/>
                  </a:spcBef>
                </a:pPr>
                <a:r>
                  <a:rPr lang="en-US" altLang="zh-CN" sz="1600">
                    <a:latin typeface="Times New Roman" pitchFamily="18" charset="0"/>
                  </a:rPr>
                  <a:t>RTS</a:t>
                </a:r>
              </a:p>
            </p:txBody>
          </p:sp>
          <p:sp>
            <p:nvSpPr>
              <p:cNvPr id="710723" name="Text Box 67"/>
              <p:cNvSpPr txBox="1">
                <a:spLocks noChangeArrowheads="1"/>
              </p:cNvSpPr>
              <p:nvPr/>
            </p:nvSpPr>
            <p:spPr bwMode="auto">
              <a:xfrm>
                <a:off x="4448" y="2846"/>
                <a:ext cx="473" cy="212"/>
              </a:xfrm>
              <a:prstGeom prst="rect">
                <a:avLst/>
              </a:prstGeom>
              <a:noFill/>
              <a:ln w="12700" algn="ctr">
                <a:noFill/>
                <a:miter lim="800000"/>
                <a:headEnd/>
                <a:tailEnd/>
              </a:ln>
              <a:effectLst/>
            </p:spPr>
            <p:txBody>
              <a:bodyPr>
                <a:spAutoFit/>
              </a:bodyPr>
              <a:lstStyle/>
              <a:p>
                <a:pPr algn="r">
                  <a:spcBef>
                    <a:spcPct val="50000"/>
                  </a:spcBef>
                </a:pPr>
                <a:r>
                  <a:rPr lang="en-US" altLang="zh-CN" sz="1600">
                    <a:latin typeface="Times New Roman" pitchFamily="18" charset="0"/>
                  </a:rPr>
                  <a:t>CTS</a:t>
                </a:r>
              </a:p>
            </p:txBody>
          </p:sp>
          <p:sp>
            <p:nvSpPr>
              <p:cNvPr id="710724" name="Text Box 68"/>
              <p:cNvSpPr txBox="1">
                <a:spLocks noChangeArrowheads="1"/>
              </p:cNvSpPr>
              <p:nvPr/>
            </p:nvSpPr>
            <p:spPr bwMode="auto">
              <a:xfrm>
                <a:off x="4448" y="3014"/>
                <a:ext cx="473" cy="212"/>
              </a:xfrm>
              <a:prstGeom prst="rect">
                <a:avLst/>
              </a:prstGeom>
              <a:noFill/>
              <a:ln w="12700" algn="ctr">
                <a:noFill/>
                <a:miter lim="800000"/>
                <a:headEnd/>
                <a:tailEnd/>
              </a:ln>
              <a:effectLst/>
            </p:spPr>
            <p:txBody>
              <a:bodyPr>
                <a:spAutoFit/>
              </a:bodyPr>
              <a:lstStyle/>
              <a:p>
                <a:pPr algn="r">
                  <a:spcBef>
                    <a:spcPct val="50000"/>
                  </a:spcBef>
                </a:pPr>
                <a:r>
                  <a:rPr lang="en-US" altLang="zh-CN" sz="1600">
                    <a:latin typeface="Times New Roman" pitchFamily="18" charset="0"/>
                  </a:rPr>
                  <a:t>DSR1</a:t>
                </a:r>
              </a:p>
            </p:txBody>
          </p:sp>
          <p:sp>
            <p:nvSpPr>
              <p:cNvPr id="710725" name="Text Box 69"/>
              <p:cNvSpPr txBox="1">
                <a:spLocks noChangeArrowheads="1"/>
              </p:cNvSpPr>
              <p:nvPr/>
            </p:nvSpPr>
            <p:spPr bwMode="auto">
              <a:xfrm>
                <a:off x="4448" y="3182"/>
                <a:ext cx="473" cy="212"/>
              </a:xfrm>
              <a:prstGeom prst="rect">
                <a:avLst/>
              </a:prstGeom>
              <a:noFill/>
              <a:ln w="12700" algn="ctr">
                <a:noFill/>
                <a:miter lim="800000"/>
                <a:headEnd/>
                <a:tailEnd/>
              </a:ln>
              <a:effectLst/>
            </p:spPr>
            <p:txBody>
              <a:bodyPr>
                <a:spAutoFit/>
              </a:bodyPr>
              <a:lstStyle/>
              <a:p>
                <a:pPr algn="r">
                  <a:spcBef>
                    <a:spcPct val="50000"/>
                  </a:spcBef>
                </a:pPr>
                <a:r>
                  <a:rPr lang="en-US" altLang="zh-CN" sz="1600">
                    <a:latin typeface="Times New Roman" pitchFamily="18" charset="0"/>
                  </a:rPr>
                  <a:t>DTR1</a:t>
                </a:r>
              </a:p>
            </p:txBody>
          </p:sp>
          <p:sp>
            <p:nvSpPr>
              <p:cNvPr id="710726" name="Text Box 70"/>
              <p:cNvSpPr txBox="1">
                <a:spLocks noChangeArrowheads="1"/>
              </p:cNvSpPr>
              <p:nvPr/>
            </p:nvSpPr>
            <p:spPr bwMode="auto">
              <a:xfrm>
                <a:off x="4448" y="3349"/>
                <a:ext cx="473" cy="212"/>
              </a:xfrm>
              <a:prstGeom prst="rect">
                <a:avLst/>
              </a:prstGeom>
              <a:noFill/>
              <a:ln w="12700" algn="ctr">
                <a:noFill/>
                <a:miter lim="800000"/>
                <a:headEnd/>
                <a:tailEnd/>
              </a:ln>
              <a:effectLst/>
            </p:spPr>
            <p:txBody>
              <a:bodyPr>
                <a:spAutoFit/>
              </a:bodyPr>
              <a:lstStyle/>
              <a:p>
                <a:pPr algn="r">
                  <a:spcBef>
                    <a:spcPct val="50000"/>
                  </a:spcBef>
                </a:pPr>
                <a:r>
                  <a:rPr lang="en-US" altLang="zh-CN" sz="1600">
                    <a:latin typeface="Times New Roman" pitchFamily="18" charset="0"/>
                  </a:rPr>
                  <a:t>DCD1</a:t>
                </a:r>
              </a:p>
            </p:txBody>
          </p:sp>
          <p:sp>
            <p:nvSpPr>
              <p:cNvPr id="710727" name="Text Box 71"/>
              <p:cNvSpPr txBox="1">
                <a:spLocks noChangeArrowheads="1"/>
              </p:cNvSpPr>
              <p:nvPr/>
            </p:nvSpPr>
            <p:spPr bwMode="auto">
              <a:xfrm>
                <a:off x="4448" y="3517"/>
                <a:ext cx="473" cy="212"/>
              </a:xfrm>
              <a:prstGeom prst="rect">
                <a:avLst/>
              </a:prstGeom>
              <a:noFill/>
              <a:ln w="12700" algn="ctr">
                <a:noFill/>
                <a:miter lim="800000"/>
                <a:headEnd/>
                <a:tailEnd/>
              </a:ln>
              <a:effectLst/>
            </p:spPr>
            <p:txBody>
              <a:bodyPr>
                <a:spAutoFit/>
              </a:bodyPr>
              <a:lstStyle/>
              <a:p>
                <a:pPr algn="r">
                  <a:spcBef>
                    <a:spcPct val="50000"/>
                  </a:spcBef>
                </a:pPr>
                <a:r>
                  <a:rPr lang="en-US" altLang="zh-CN" sz="1600">
                    <a:latin typeface="Times New Roman" pitchFamily="18" charset="0"/>
                  </a:rPr>
                  <a:t>RI1</a:t>
                </a:r>
              </a:p>
            </p:txBody>
          </p:sp>
          <p:sp>
            <p:nvSpPr>
              <p:cNvPr id="710728" name="Line 72"/>
              <p:cNvSpPr>
                <a:spLocks noChangeShapeType="1"/>
              </p:cNvSpPr>
              <p:nvPr/>
            </p:nvSpPr>
            <p:spPr bwMode="auto">
              <a:xfrm flipV="1">
                <a:off x="4161" y="3183"/>
                <a:ext cx="760" cy="0"/>
              </a:xfrm>
              <a:prstGeom prst="line">
                <a:avLst/>
              </a:prstGeom>
              <a:noFill/>
              <a:ln w="12700">
                <a:solidFill>
                  <a:schemeClr val="tx1"/>
                </a:solidFill>
                <a:round/>
                <a:headEnd/>
                <a:tailEnd/>
              </a:ln>
              <a:effectLst/>
            </p:spPr>
            <p:txBody>
              <a:bodyPr wrap="none" anchor="ctr"/>
              <a:lstStyle/>
              <a:p>
                <a:endParaRPr lang="zh-CN" altLang="en-US"/>
              </a:p>
            </p:txBody>
          </p:sp>
          <p:sp>
            <p:nvSpPr>
              <p:cNvPr id="710729" name="Line 73"/>
              <p:cNvSpPr>
                <a:spLocks noChangeShapeType="1"/>
              </p:cNvSpPr>
              <p:nvPr/>
            </p:nvSpPr>
            <p:spPr bwMode="auto">
              <a:xfrm>
                <a:off x="4161" y="3016"/>
                <a:ext cx="760" cy="0"/>
              </a:xfrm>
              <a:prstGeom prst="line">
                <a:avLst/>
              </a:prstGeom>
              <a:noFill/>
              <a:ln w="12700">
                <a:solidFill>
                  <a:schemeClr val="tx1"/>
                </a:solidFill>
                <a:round/>
                <a:headEnd/>
                <a:tailEnd/>
              </a:ln>
              <a:effectLst/>
            </p:spPr>
            <p:txBody>
              <a:bodyPr wrap="none" anchor="ctr"/>
              <a:lstStyle/>
              <a:p>
                <a:endParaRPr lang="zh-CN" altLang="en-US"/>
              </a:p>
            </p:txBody>
          </p:sp>
          <p:sp>
            <p:nvSpPr>
              <p:cNvPr id="710730" name="Line 74"/>
              <p:cNvSpPr>
                <a:spLocks noChangeShapeType="1"/>
              </p:cNvSpPr>
              <p:nvPr/>
            </p:nvSpPr>
            <p:spPr bwMode="auto">
              <a:xfrm>
                <a:off x="4167" y="2847"/>
                <a:ext cx="754" cy="1"/>
              </a:xfrm>
              <a:prstGeom prst="line">
                <a:avLst/>
              </a:prstGeom>
              <a:noFill/>
              <a:ln w="12700">
                <a:solidFill>
                  <a:schemeClr val="tx1"/>
                </a:solidFill>
                <a:round/>
                <a:headEnd/>
                <a:tailEnd/>
              </a:ln>
              <a:effectLst/>
            </p:spPr>
            <p:txBody>
              <a:bodyPr wrap="none" anchor="ctr"/>
              <a:lstStyle/>
              <a:p>
                <a:endParaRPr lang="zh-CN" altLang="en-US"/>
              </a:p>
            </p:txBody>
          </p:sp>
          <p:sp>
            <p:nvSpPr>
              <p:cNvPr id="710731" name="Line 75"/>
              <p:cNvSpPr>
                <a:spLocks noChangeShapeType="1"/>
              </p:cNvSpPr>
              <p:nvPr/>
            </p:nvSpPr>
            <p:spPr bwMode="auto">
              <a:xfrm flipH="1">
                <a:off x="3049" y="3684"/>
                <a:ext cx="451" cy="0"/>
              </a:xfrm>
              <a:prstGeom prst="line">
                <a:avLst/>
              </a:prstGeom>
              <a:noFill/>
              <a:ln w="12700">
                <a:solidFill>
                  <a:srgbClr val="000000"/>
                </a:solidFill>
                <a:round/>
                <a:headEnd/>
                <a:tailEnd type="triangle" w="med" len="med"/>
              </a:ln>
              <a:effectLst/>
            </p:spPr>
            <p:txBody>
              <a:bodyPr wrap="none" anchor="ctr"/>
              <a:lstStyle/>
              <a:p>
                <a:endParaRPr lang="zh-CN" altLang="en-US"/>
              </a:p>
            </p:txBody>
          </p:sp>
          <p:sp>
            <p:nvSpPr>
              <p:cNvPr id="710732" name="Line 76"/>
              <p:cNvSpPr>
                <a:spLocks noChangeShapeType="1"/>
              </p:cNvSpPr>
              <p:nvPr/>
            </p:nvSpPr>
            <p:spPr bwMode="auto">
              <a:xfrm flipH="1">
                <a:off x="3051" y="3517"/>
                <a:ext cx="441" cy="0"/>
              </a:xfrm>
              <a:prstGeom prst="line">
                <a:avLst/>
              </a:prstGeom>
              <a:noFill/>
              <a:ln w="12700">
                <a:solidFill>
                  <a:srgbClr val="000000"/>
                </a:solidFill>
                <a:round/>
                <a:headEnd/>
                <a:tailEnd type="triangle" w="med" len="med"/>
              </a:ln>
              <a:effectLst/>
            </p:spPr>
            <p:txBody>
              <a:bodyPr wrap="none" anchor="ctr"/>
              <a:lstStyle/>
              <a:p>
                <a:endParaRPr lang="zh-CN" altLang="en-US"/>
              </a:p>
            </p:txBody>
          </p:sp>
          <p:sp>
            <p:nvSpPr>
              <p:cNvPr id="710733" name="Line 77"/>
              <p:cNvSpPr>
                <a:spLocks noChangeShapeType="1"/>
              </p:cNvSpPr>
              <p:nvPr/>
            </p:nvSpPr>
            <p:spPr bwMode="auto">
              <a:xfrm>
                <a:off x="3047" y="3349"/>
                <a:ext cx="443" cy="0"/>
              </a:xfrm>
              <a:prstGeom prst="line">
                <a:avLst/>
              </a:prstGeom>
              <a:noFill/>
              <a:ln w="12700">
                <a:solidFill>
                  <a:srgbClr val="000000"/>
                </a:solidFill>
                <a:round/>
                <a:headEnd/>
                <a:tailEnd type="triangle" w="med" len="med"/>
              </a:ln>
              <a:effectLst/>
            </p:spPr>
            <p:txBody>
              <a:bodyPr wrap="none" anchor="ctr"/>
              <a:lstStyle/>
              <a:p>
                <a:endParaRPr lang="zh-CN" altLang="en-US"/>
              </a:p>
            </p:txBody>
          </p:sp>
          <p:sp>
            <p:nvSpPr>
              <p:cNvPr id="710734" name="Line 78"/>
              <p:cNvSpPr>
                <a:spLocks noChangeShapeType="1"/>
              </p:cNvSpPr>
              <p:nvPr/>
            </p:nvSpPr>
            <p:spPr bwMode="auto">
              <a:xfrm flipH="1">
                <a:off x="3050" y="3182"/>
                <a:ext cx="443" cy="0"/>
              </a:xfrm>
              <a:prstGeom prst="line">
                <a:avLst/>
              </a:prstGeom>
              <a:noFill/>
              <a:ln w="12700">
                <a:solidFill>
                  <a:srgbClr val="000000"/>
                </a:solidFill>
                <a:round/>
                <a:headEnd/>
                <a:tailEnd type="triangle" w="med" len="med"/>
              </a:ln>
              <a:effectLst/>
            </p:spPr>
            <p:txBody>
              <a:bodyPr wrap="none" anchor="ctr"/>
              <a:lstStyle/>
              <a:p>
                <a:endParaRPr lang="zh-CN" altLang="en-US"/>
              </a:p>
            </p:txBody>
          </p:sp>
          <p:sp>
            <p:nvSpPr>
              <p:cNvPr id="710735" name="Line 79"/>
              <p:cNvSpPr>
                <a:spLocks noChangeShapeType="1"/>
              </p:cNvSpPr>
              <p:nvPr/>
            </p:nvSpPr>
            <p:spPr bwMode="auto">
              <a:xfrm flipH="1">
                <a:off x="3049" y="3014"/>
                <a:ext cx="444" cy="0"/>
              </a:xfrm>
              <a:prstGeom prst="line">
                <a:avLst/>
              </a:prstGeom>
              <a:noFill/>
              <a:ln w="12700">
                <a:solidFill>
                  <a:srgbClr val="000000"/>
                </a:solidFill>
                <a:round/>
                <a:headEnd/>
                <a:tailEnd type="triangle" w="med" len="med"/>
              </a:ln>
              <a:effectLst/>
            </p:spPr>
            <p:txBody>
              <a:bodyPr wrap="none" anchor="ctr"/>
              <a:lstStyle/>
              <a:p>
                <a:endParaRPr lang="zh-CN" altLang="en-US"/>
              </a:p>
            </p:txBody>
          </p:sp>
          <p:sp>
            <p:nvSpPr>
              <p:cNvPr id="710736" name="Line 80"/>
              <p:cNvSpPr>
                <a:spLocks noChangeShapeType="1"/>
              </p:cNvSpPr>
              <p:nvPr/>
            </p:nvSpPr>
            <p:spPr bwMode="auto">
              <a:xfrm flipH="1">
                <a:off x="3050" y="2679"/>
                <a:ext cx="445" cy="0"/>
              </a:xfrm>
              <a:prstGeom prst="line">
                <a:avLst/>
              </a:prstGeom>
              <a:noFill/>
              <a:ln w="12700">
                <a:solidFill>
                  <a:srgbClr val="000000"/>
                </a:solidFill>
                <a:round/>
                <a:headEnd/>
                <a:tailEnd type="triangle" w="med" len="med"/>
              </a:ln>
              <a:effectLst/>
            </p:spPr>
            <p:txBody>
              <a:bodyPr wrap="none" anchor="ctr"/>
              <a:lstStyle/>
              <a:p>
                <a:endParaRPr lang="zh-CN" altLang="en-US"/>
              </a:p>
            </p:txBody>
          </p:sp>
          <p:sp>
            <p:nvSpPr>
              <p:cNvPr id="710737" name="Line 81"/>
              <p:cNvSpPr>
                <a:spLocks noChangeShapeType="1"/>
              </p:cNvSpPr>
              <p:nvPr/>
            </p:nvSpPr>
            <p:spPr bwMode="auto">
              <a:xfrm>
                <a:off x="3044" y="2846"/>
                <a:ext cx="446" cy="0"/>
              </a:xfrm>
              <a:prstGeom prst="line">
                <a:avLst/>
              </a:prstGeom>
              <a:noFill/>
              <a:ln w="12700">
                <a:solidFill>
                  <a:srgbClr val="000000"/>
                </a:solidFill>
                <a:round/>
                <a:headEnd/>
                <a:tailEnd type="triangle" w="med" len="med"/>
              </a:ln>
              <a:effectLst/>
            </p:spPr>
            <p:txBody>
              <a:bodyPr wrap="none" anchor="ctr"/>
              <a:lstStyle/>
              <a:p>
                <a:endParaRPr lang="zh-CN" altLang="en-US"/>
              </a:p>
            </p:txBody>
          </p:sp>
          <p:sp>
            <p:nvSpPr>
              <p:cNvPr id="710738" name="Line 82"/>
              <p:cNvSpPr>
                <a:spLocks noChangeShapeType="1"/>
              </p:cNvSpPr>
              <p:nvPr/>
            </p:nvSpPr>
            <p:spPr bwMode="auto">
              <a:xfrm flipV="1">
                <a:off x="3049" y="2505"/>
                <a:ext cx="443" cy="0"/>
              </a:xfrm>
              <a:prstGeom prst="line">
                <a:avLst/>
              </a:prstGeom>
              <a:noFill/>
              <a:ln w="12700">
                <a:solidFill>
                  <a:srgbClr val="000000"/>
                </a:solidFill>
                <a:round/>
                <a:headEnd/>
                <a:tailEnd type="triangle" w="med" len="med"/>
              </a:ln>
              <a:effectLst/>
            </p:spPr>
            <p:txBody>
              <a:bodyPr wrap="none" anchor="ctr"/>
              <a:lstStyle/>
              <a:p>
                <a:endParaRPr lang="zh-CN" altLang="en-US"/>
              </a:p>
            </p:txBody>
          </p:sp>
          <p:sp>
            <p:nvSpPr>
              <p:cNvPr id="710739" name="Rectangle 83"/>
              <p:cNvSpPr>
                <a:spLocks noChangeArrowheads="1"/>
              </p:cNvSpPr>
              <p:nvPr/>
            </p:nvSpPr>
            <p:spPr bwMode="auto">
              <a:xfrm>
                <a:off x="3492" y="2386"/>
                <a:ext cx="672" cy="1382"/>
              </a:xfrm>
              <a:prstGeom prst="rect">
                <a:avLst/>
              </a:prstGeom>
              <a:solidFill>
                <a:srgbClr val="CCECFF"/>
              </a:solidFill>
              <a:ln w="12700" algn="ctr">
                <a:solidFill>
                  <a:schemeClr val="tx1"/>
                </a:solidFill>
                <a:miter lim="800000"/>
                <a:headEnd/>
                <a:tailEnd/>
              </a:ln>
              <a:effectLst/>
            </p:spPr>
            <p:txBody>
              <a:bodyPr wrap="none" anchor="ctr"/>
              <a:lstStyle/>
              <a:p>
                <a:r>
                  <a:rPr lang="en-US" altLang="zh-CN" dirty="0">
                    <a:latin typeface="Times New Roman" pitchFamily="18" charset="0"/>
                    <a:ea typeface="楷体_GB2312" pitchFamily="49" charset="-122"/>
                  </a:rPr>
                  <a:t>RS232</a:t>
                </a:r>
              </a:p>
              <a:p>
                <a:r>
                  <a:rPr lang="zh-CN" altLang="en-US" dirty="0">
                    <a:latin typeface="Times New Roman" pitchFamily="18" charset="0"/>
                    <a:ea typeface="楷体_GB2312" pitchFamily="49" charset="-122"/>
                  </a:rPr>
                  <a:t>电平转换</a:t>
                </a:r>
              </a:p>
            </p:txBody>
          </p:sp>
          <p:sp>
            <p:nvSpPr>
              <p:cNvPr id="710740" name="Line 84"/>
              <p:cNvSpPr>
                <a:spLocks noChangeShapeType="1"/>
              </p:cNvSpPr>
              <p:nvPr/>
            </p:nvSpPr>
            <p:spPr bwMode="auto">
              <a:xfrm>
                <a:off x="4159" y="2678"/>
                <a:ext cx="209" cy="0"/>
              </a:xfrm>
              <a:prstGeom prst="line">
                <a:avLst/>
              </a:prstGeom>
              <a:noFill/>
              <a:ln w="12700">
                <a:solidFill>
                  <a:schemeClr val="tx1"/>
                </a:solidFill>
                <a:round/>
                <a:headEnd/>
                <a:tailEnd/>
              </a:ln>
              <a:effectLst/>
            </p:spPr>
            <p:txBody>
              <a:bodyPr wrap="none" anchor="ctr"/>
              <a:lstStyle/>
              <a:p>
                <a:endParaRPr lang="zh-CN" altLang="en-US"/>
              </a:p>
            </p:txBody>
          </p:sp>
          <p:sp>
            <p:nvSpPr>
              <p:cNvPr id="710741" name="Line 85"/>
              <p:cNvSpPr>
                <a:spLocks noChangeShapeType="1"/>
              </p:cNvSpPr>
              <p:nvPr/>
            </p:nvSpPr>
            <p:spPr bwMode="auto">
              <a:xfrm flipV="1">
                <a:off x="4162" y="3351"/>
                <a:ext cx="760" cy="0"/>
              </a:xfrm>
              <a:prstGeom prst="line">
                <a:avLst/>
              </a:prstGeom>
              <a:noFill/>
              <a:ln w="12700">
                <a:solidFill>
                  <a:schemeClr val="tx1"/>
                </a:solidFill>
                <a:round/>
                <a:headEnd/>
                <a:tailEnd/>
              </a:ln>
              <a:effectLst/>
            </p:spPr>
            <p:txBody>
              <a:bodyPr wrap="none" anchor="ctr"/>
              <a:lstStyle/>
              <a:p>
                <a:endParaRPr lang="zh-CN" altLang="en-US"/>
              </a:p>
            </p:txBody>
          </p:sp>
          <p:sp>
            <p:nvSpPr>
              <p:cNvPr id="710742" name="Line 86"/>
              <p:cNvSpPr>
                <a:spLocks noChangeShapeType="1"/>
              </p:cNvSpPr>
              <p:nvPr/>
            </p:nvSpPr>
            <p:spPr bwMode="auto">
              <a:xfrm flipV="1">
                <a:off x="4165" y="3517"/>
                <a:ext cx="760" cy="0"/>
              </a:xfrm>
              <a:prstGeom prst="line">
                <a:avLst/>
              </a:prstGeom>
              <a:noFill/>
              <a:ln w="12700">
                <a:solidFill>
                  <a:schemeClr val="tx1"/>
                </a:solidFill>
                <a:round/>
                <a:headEnd/>
                <a:tailEnd/>
              </a:ln>
              <a:effectLst/>
            </p:spPr>
            <p:txBody>
              <a:bodyPr wrap="none" anchor="ctr"/>
              <a:lstStyle/>
              <a:p>
                <a:endParaRPr lang="zh-CN" altLang="en-US"/>
              </a:p>
            </p:txBody>
          </p:sp>
          <p:sp>
            <p:nvSpPr>
              <p:cNvPr id="710743" name="Line 87"/>
              <p:cNvSpPr>
                <a:spLocks noChangeShapeType="1"/>
              </p:cNvSpPr>
              <p:nvPr/>
            </p:nvSpPr>
            <p:spPr bwMode="auto">
              <a:xfrm flipV="1">
                <a:off x="4161" y="3684"/>
                <a:ext cx="760" cy="0"/>
              </a:xfrm>
              <a:prstGeom prst="line">
                <a:avLst/>
              </a:prstGeom>
              <a:noFill/>
              <a:ln w="12700">
                <a:solidFill>
                  <a:schemeClr val="tx1"/>
                </a:solidFill>
                <a:round/>
                <a:headEnd/>
                <a:tailEnd/>
              </a:ln>
              <a:effectLst/>
            </p:spPr>
            <p:txBody>
              <a:bodyPr wrap="none" anchor="ctr"/>
              <a:lstStyle/>
              <a:p>
                <a:endParaRPr lang="zh-CN" altLang="en-US"/>
              </a:p>
            </p:txBody>
          </p:sp>
        </p:grpSp>
        <p:sp>
          <p:nvSpPr>
            <p:cNvPr id="710744" name="Rectangle 88"/>
            <p:cNvSpPr>
              <a:spLocks noChangeArrowheads="1"/>
            </p:cNvSpPr>
            <p:nvPr/>
          </p:nvSpPr>
          <p:spPr bwMode="auto">
            <a:xfrm>
              <a:off x="72" y="2797"/>
              <a:ext cx="1770" cy="750"/>
            </a:xfrm>
            <a:prstGeom prst="rect">
              <a:avLst/>
            </a:prstGeom>
            <a:noFill/>
            <a:ln w="9525" algn="ctr">
              <a:noFill/>
              <a:miter lim="800000"/>
              <a:headEnd/>
              <a:tailEnd/>
            </a:ln>
            <a:effectLst/>
          </p:spPr>
          <p:txBody>
            <a:bodyPr>
              <a:spAutoFit/>
            </a:bodyPr>
            <a:lstStyle/>
            <a:p>
              <a:pPr algn="l">
                <a:spcBef>
                  <a:spcPct val="50000"/>
                </a:spcBef>
              </a:pPr>
              <a:r>
                <a:rPr lang="zh-CN" altLang="en-US">
                  <a:latin typeface="华文新魏" pitchFamily="2" charset="-122"/>
                  <a:ea typeface="华文新魏" pitchFamily="2" charset="-122"/>
                </a:rPr>
                <a:t>当使用</a:t>
              </a:r>
              <a:r>
                <a:rPr lang="en-US" altLang="zh-CN">
                  <a:latin typeface="华文新魏" pitchFamily="2" charset="-122"/>
                  <a:ea typeface="华文新魏" pitchFamily="2" charset="-122"/>
                </a:rPr>
                <a:t>Modem</a:t>
              </a:r>
              <a:r>
                <a:rPr lang="zh-CN" altLang="en-US">
                  <a:latin typeface="华文新魏" pitchFamily="2" charset="-122"/>
                  <a:ea typeface="华文新魏" pitchFamily="2" charset="-122"/>
                </a:rPr>
                <a:t>接口时，需要一个</a:t>
              </a:r>
              <a:r>
                <a:rPr lang="en-US" altLang="zh-CN">
                  <a:latin typeface="华文新魏" pitchFamily="2" charset="-122"/>
                  <a:ea typeface="华文新魏" pitchFamily="2" charset="-122"/>
                </a:rPr>
                <a:t>RS232</a:t>
              </a:r>
              <a:r>
                <a:rPr lang="zh-CN" altLang="en-US">
                  <a:latin typeface="华文新魏" pitchFamily="2" charset="-122"/>
                  <a:ea typeface="华文新魏" pitchFamily="2" charset="-122"/>
                </a:rPr>
                <a:t>转换器将信号转换为</a:t>
              </a:r>
              <a:r>
                <a:rPr lang="en-US" altLang="zh-CN">
                  <a:latin typeface="华文新魏" pitchFamily="2" charset="-122"/>
                  <a:ea typeface="华文新魏" pitchFamily="2" charset="-122"/>
                </a:rPr>
                <a:t>RS232</a:t>
              </a:r>
              <a:r>
                <a:rPr lang="zh-CN" altLang="en-US">
                  <a:latin typeface="华文新魏" pitchFamily="2" charset="-122"/>
                  <a:ea typeface="华文新魏" pitchFamily="2" charset="-122"/>
                </a:rPr>
                <a:t>电平后，才能与</a:t>
              </a:r>
              <a:r>
                <a:rPr lang="en-US" altLang="zh-CN">
                  <a:latin typeface="华文新魏" pitchFamily="2" charset="-122"/>
                  <a:ea typeface="华文新魏" pitchFamily="2" charset="-122"/>
                </a:rPr>
                <a:t>Modem</a:t>
              </a:r>
              <a:r>
                <a:rPr lang="zh-CN" altLang="en-US">
                  <a:latin typeface="华文新魏" pitchFamily="2" charset="-122"/>
                  <a:ea typeface="华文新魏" pitchFamily="2" charset="-122"/>
                </a:rPr>
                <a:t>连接 。</a:t>
              </a:r>
            </a:p>
          </p:txBody>
        </p:sp>
        <p:sp>
          <p:nvSpPr>
            <p:cNvPr id="710745" name="AutoShape 89"/>
            <p:cNvSpPr>
              <a:spLocks noChangeArrowheads="1"/>
            </p:cNvSpPr>
            <p:nvPr/>
          </p:nvSpPr>
          <p:spPr bwMode="auto">
            <a:xfrm>
              <a:off x="1820" y="3044"/>
              <a:ext cx="459" cy="276"/>
            </a:xfrm>
            <a:prstGeom prst="rightArrow">
              <a:avLst>
                <a:gd name="adj1" fmla="val 50000"/>
                <a:gd name="adj2" fmla="val 41576"/>
              </a:avLst>
            </a:prstGeom>
            <a:solidFill>
              <a:schemeClr val="accent1"/>
            </a:solidFill>
            <a:ln w="9525" algn="ctr">
              <a:solidFill>
                <a:schemeClr val="tx1"/>
              </a:solidFill>
              <a:miter lim="800000"/>
              <a:headEnd/>
              <a:tailEnd/>
            </a:ln>
            <a:effec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10658"/>
                                        </p:tgtEl>
                                        <p:attrNameLst>
                                          <p:attrName>style.visibility</p:attrName>
                                        </p:attrNameLst>
                                      </p:cBhvr>
                                      <p:to>
                                        <p:strVal val="visible"/>
                                      </p:to>
                                    </p:set>
                                    <p:anim calcmode="lin" valueType="num">
                                      <p:cBhvr additive="base">
                                        <p:cTn id="7" dur="500" fill="hold"/>
                                        <p:tgtEl>
                                          <p:spTgt spid="710658"/>
                                        </p:tgtEl>
                                        <p:attrNameLst>
                                          <p:attrName>ppt_x</p:attrName>
                                        </p:attrNameLst>
                                      </p:cBhvr>
                                      <p:tavLst>
                                        <p:tav tm="0">
                                          <p:val>
                                            <p:strVal val="1+#ppt_w/2"/>
                                          </p:val>
                                        </p:tav>
                                        <p:tav tm="100000">
                                          <p:val>
                                            <p:strVal val="#ppt_x"/>
                                          </p:val>
                                        </p:tav>
                                      </p:tavLst>
                                    </p:anim>
                                    <p:anim calcmode="lin" valueType="num">
                                      <p:cBhvr additive="base">
                                        <p:cTn id="8" dur="500" fill="hold"/>
                                        <p:tgtEl>
                                          <p:spTgt spid="71065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710659"/>
                                        </p:tgtEl>
                                        <p:attrNameLst>
                                          <p:attrName>style.visibility</p:attrName>
                                        </p:attrNameLst>
                                      </p:cBhvr>
                                      <p:to>
                                        <p:strVal val="visible"/>
                                      </p:to>
                                    </p:set>
                                    <p:animEffect transition="in" filter="wipe(left)">
                                      <p:cBhvr>
                                        <p:cTn id="12" dur="500"/>
                                        <p:tgtEl>
                                          <p:spTgt spid="710659"/>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710678"/>
                                        </p:tgtEl>
                                        <p:attrNameLst>
                                          <p:attrName>style.visibility</p:attrName>
                                        </p:attrNameLst>
                                      </p:cBhvr>
                                      <p:to>
                                        <p:strVal val="visible"/>
                                      </p:to>
                                    </p:set>
                                    <p:animEffect transition="in" filter="wipe(left)">
                                      <p:cBhvr>
                                        <p:cTn id="16" dur="500"/>
                                        <p:tgtEl>
                                          <p:spTgt spid="710678"/>
                                        </p:tgtEl>
                                      </p:cBhvr>
                                    </p:animEffect>
                                  </p:childTnLst>
                                </p:cTn>
                              </p:par>
                            </p:childTnLst>
                          </p:cTn>
                        </p:par>
                        <p:par>
                          <p:cTn id="17" fill="hold">
                            <p:stCondLst>
                              <p:cond delay="1500"/>
                            </p:stCondLst>
                            <p:childTnLst>
                              <p:par>
                                <p:cTn id="18" presetID="22" presetClass="entr" presetSubtype="8" fill="hold" nodeType="afterEffect">
                                  <p:stCondLst>
                                    <p:cond delay="0"/>
                                  </p:stCondLst>
                                  <p:childTnLst>
                                    <p:set>
                                      <p:cBhvr>
                                        <p:cTn id="19" dur="1" fill="hold">
                                          <p:stCondLst>
                                            <p:cond delay="0"/>
                                          </p:stCondLst>
                                        </p:cTn>
                                        <p:tgtEl>
                                          <p:spTgt spid="710700"/>
                                        </p:tgtEl>
                                        <p:attrNameLst>
                                          <p:attrName>style.visibility</p:attrName>
                                        </p:attrNameLst>
                                      </p:cBhvr>
                                      <p:to>
                                        <p:strVal val="visible"/>
                                      </p:to>
                                    </p:set>
                                    <p:animEffect transition="in" filter="wipe(left)">
                                      <p:cBhvr>
                                        <p:cTn id="20" dur="500"/>
                                        <p:tgtEl>
                                          <p:spTgt spid="710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0658"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1682" name="Group 2"/>
          <p:cNvGrpSpPr>
            <a:grpSpLocks/>
          </p:cNvGrpSpPr>
          <p:nvPr/>
        </p:nvGrpSpPr>
        <p:grpSpPr bwMode="auto">
          <a:xfrm>
            <a:off x="1962150" y="1341439"/>
            <a:ext cx="8531226" cy="5043487"/>
            <a:chOff x="271" y="609"/>
            <a:chExt cx="5374" cy="3177"/>
          </a:xfrm>
        </p:grpSpPr>
        <p:sp>
          <p:nvSpPr>
            <p:cNvPr id="711683" name="Line 3"/>
            <p:cNvSpPr>
              <a:spLocks noChangeShapeType="1"/>
            </p:cNvSpPr>
            <p:nvPr/>
          </p:nvSpPr>
          <p:spPr bwMode="auto">
            <a:xfrm>
              <a:off x="4374" y="1685"/>
              <a:ext cx="265" cy="0"/>
            </a:xfrm>
            <a:prstGeom prst="line">
              <a:avLst/>
            </a:prstGeom>
            <a:noFill/>
            <a:ln w="38100">
              <a:solidFill>
                <a:schemeClr val="tx1"/>
              </a:solidFill>
              <a:round/>
              <a:headEnd/>
              <a:tailEnd/>
            </a:ln>
            <a:effectLst/>
          </p:spPr>
          <p:txBody>
            <a:bodyPr wrap="none" lIns="90000" tIns="46800" rIns="90000" bIns="46800" anchor="ctr"/>
            <a:lstStyle/>
            <a:p>
              <a:endParaRPr lang="zh-CN" altLang="en-US"/>
            </a:p>
          </p:txBody>
        </p:sp>
        <p:grpSp>
          <p:nvGrpSpPr>
            <p:cNvPr id="711684" name="Group 4"/>
            <p:cNvGrpSpPr>
              <a:grpSpLocks/>
            </p:cNvGrpSpPr>
            <p:nvPr/>
          </p:nvGrpSpPr>
          <p:grpSpPr bwMode="auto">
            <a:xfrm>
              <a:off x="2706" y="2008"/>
              <a:ext cx="2939" cy="564"/>
              <a:chOff x="2592" y="2038"/>
              <a:chExt cx="2939" cy="564"/>
            </a:xfrm>
          </p:grpSpPr>
          <p:sp>
            <p:nvSpPr>
              <p:cNvPr id="711685" name="AutoShape 5"/>
              <p:cNvSpPr>
                <a:spLocks noChangeArrowheads="1"/>
              </p:cNvSpPr>
              <p:nvPr/>
            </p:nvSpPr>
            <p:spPr bwMode="auto">
              <a:xfrm>
                <a:off x="2592" y="2262"/>
                <a:ext cx="372" cy="186"/>
              </a:xfrm>
              <a:prstGeom prst="leftArrow">
                <a:avLst>
                  <a:gd name="adj1" fmla="val 50000"/>
                  <a:gd name="adj2" fmla="val 50000"/>
                </a:avLst>
              </a:prstGeom>
              <a:solidFill>
                <a:srgbClr val="FFFFFF"/>
              </a:solidFill>
              <a:ln w="9525" algn="ctr">
                <a:solidFill>
                  <a:schemeClr val="tx1"/>
                </a:solidFill>
                <a:miter lim="800000"/>
                <a:headEnd/>
                <a:tailEnd/>
              </a:ln>
              <a:effectLst/>
            </p:spPr>
            <p:txBody>
              <a:bodyPr wrap="none" lIns="90000" tIns="46800" rIns="90000" bIns="46800" anchor="ctr"/>
              <a:lstStyle/>
              <a:p>
                <a:endParaRPr lang="zh-CN" altLang="en-US"/>
              </a:p>
            </p:txBody>
          </p:sp>
          <p:grpSp>
            <p:nvGrpSpPr>
              <p:cNvPr id="711686" name="Group 6"/>
              <p:cNvGrpSpPr>
                <a:grpSpLocks/>
              </p:cNvGrpSpPr>
              <p:nvPr/>
            </p:nvGrpSpPr>
            <p:grpSpPr bwMode="auto">
              <a:xfrm>
                <a:off x="2962" y="2038"/>
                <a:ext cx="1992" cy="564"/>
                <a:chOff x="2578" y="1336"/>
                <a:chExt cx="1992" cy="564"/>
              </a:xfrm>
            </p:grpSpPr>
            <p:sp>
              <p:nvSpPr>
                <p:cNvPr id="711687" name="Rectangle 7"/>
                <p:cNvSpPr>
                  <a:spLocks noChangeArrowheads="1"/>
                </p:cNvSpPr>
                <p:nvPr/>
              </p:nvSpPr>
              <p:spPr bwMode="auto">
                <a:xfrm>
                  <a:off x="2578" y="1336"/>
                  <a:ext cx="1992" cy="564"/>
                </a:xfrm>
                <a:prstGeom prst="rect">
                  <a:avLst/>
                </a:prstGeom>
                <a:solidFill>
                  <a:srgbClr val="FFFF00"/>
                </a:solidFill>
                <a:ln w="9525" algn="ctr">
                  <a:solidFill>
                    <a:schemeClr val="tx1"/>
                  </a:solidFill>
                  <a:miter lim="800000"/>
                  <a:headEnd/>
                  <a:tailEnd/>
                </a:ln>
                <a:effectLst/>
              </p:spPr>
              <p:txBody>
                <a:bodyPr wrap="none" anchor="ctr"/>
                <a:lstStyle/>
                <a:p>
                  <a:endParaRPr lang="en-US" altLang="zh-CN">
                    <a:latin typeface="Times New Roman" pitchFamily="18" charset="0"/>
                  </a:endParaRPr>
                </a:p>
                <a:p>
                  <a:endParaRPr lang="en-US" altLang="zh-CN">
                    <a:latin typeface="Times New Roman" pitchFamily="18" charset="0"/>
                  </a:endParaRPr>
                </a:p>
                <a:p>
                  <a:endParaRPr lang="en-US" altLang="zh-CN">
                    <a:latin typeface="Times New Roman" pitchFamily="18" charset="0"/>
                  </a:endParaRPr>
                </a:p>
              </p:txBody>
            </p:sp>
            <p:sp>
              <p:nvSpPr>
                <p:cNvPr id="711688" name="Rectangle 8"/>
                <p:cNvSpPr>
                  <a:spLocks noChangeArrowheads="1"/>
                </p:cNvSpPr>
                <p:nvPr/>
              </p:nvSpPr>
              <p:spPr bwMode="auto">
                <a:xfrm>
                  <a:off x="3762" y="1557"/>
                  <a:ext cx="714" cy="300"/>
                </a:xfrm>
                <a:prstGeom prst="rect">
                  <a:avLst/>
                </a:prstGeom>
                <a:solidFill>
                  <a:srgbClr val="FFFFFF"/>
                </a:solidFill>
                <a:ln w="9525" algn="ctr">
                  <a:solidFill>
                    <a:schemeClr val="tx1"/>
                  </a:solidFill>
                  <a:miter lim="800000"/>
                  <a:headEnd/>
                  <a:tailEnd/>
                </a:ln>
                <a:effectLst/>
              </p:spPr>
              <p:txBody>
                <a:bodyPr wrap="none" anchor="ctr"/>
                <a:lstStyle/>
                <a:p>
                  <a:r>
                    <a:rPr lang="zh-CN" altLang="en-US" sz="1400">
                      <a:latin typeface="Times New Roman" pitchFamily="18" charset="0"/>
                    </a:rPr>
                    <a:t>移位寄存器</a:t>
                  </a:r>
                </a:p>
                <a:p>
                  <a:r>
                    <a:rPr lang="en-US" altLang="zh-CN" sz="1400">
                      <a:latin typeface="Times New Roman" pitchFamily="18" charset="0"/>
                    </a:rPr>
                    <a:t>UnRSR</a:t>
                  </a:r>
                </a:p>
              </p:txBody>
            </p:sp>
            <p:sp>
              <p:nvSpPr>
                <p:cNvPr id="711689" name="Rectangle 9"/>
                <p:cNvSpPr>
                  <a:spLocks noChangeArrowheads="1"/>
                </p:cNvSpPr>
                <p:nvPr/>
              </p:nvSpPr>
              <p:spPr bwMode="auto">
                <a:xfrm>
                  <a:off x="2638" y="1554"/>
                  <a:ext cx="866" cy="305"/>
                </a:xfrm>
                <a:prstGeom prst="rect">
                  <a:avLst/>
                </a:prstGeom>
                <a:solidFill>
                  <a:srgbClr val="FFFFFF"/>
                </a:solidFill>
                <a:ln w="9525" algn="ctr">
                  <a:solidFill>
                    <a:schemeClr val="tx1"/>
                  </a:solidFill>
                  <a:miter lim="800000"/>
                  <a:headEnd/>
                  <a:tailEnd/>
                </a:ln>
                <a:effectLst/>
              </p:spPr>
              <p:txBody>
                <a:bodyPr wrap="none" anchor="ctr"/>
                <a:lstStyle/>
                <a:p>
                  <a:r>
                    <a:rPr lang="zh-CN" altLang="en-US" sz="1400">
                      <a:latin typeface="Times New Roman" pitchFamily="18" charset="0"/>
                    </a:rPr>
                    <a:t>接收缓冲寄存器</a:t>
                  </a:r>
                </a:p>
                <a:p>
                  <a:r>
                    <a:rPr lang="en-US" altLang="zh-CN" sz="1400">
                      <a:latin typeface="Times New Roman" pitchFamily="18" charset="0"/>
                    </a:rPr>
                    <a:t>UnRBR</a:t>
                  </a:r>
                </a:p>
              </p:txBody>
            </p:sp>
            <p:sp>
              <p:nvSpPr>
                <p:cNvPr id="711690" name="Rectangle 10"/>
                <p:cNvSpPr>
                  <a:spLocks noChangeArrowheads="1"/>
                </p:cNvSpPr>
                <p:nvPr/>
              </p:nvSpPr>
              <p:spPr bwMode="auto">
                <a:xfrm>
                  <a:off x="3021" y="1341"/>
                  <a:ext cx="1039" cy="212"/>
                </a:xfrm>
                <a:prstGeom prst="rect">
                  <a:avLst/>
                </a:prstGeom>
                <a:noFill/>
                <a:ln w="9525" algn="ctr">
                  <a:noFill/>
                  <a:miter lim="800000"/>
                  <a:headEnd/>
                  <a:tailEnd/>
                </a:ln>
                <a:effectLst/>
              </p:spPr>
              <p:txBody>
                <a:bodyPr wrap="none">
                  <a:spAutoFit/>
                </a:bodyPr>
                <a:lstStyle/>
                <a:p>
                  <a:r>
                    <a:rPr lang="en-US" altLang="zh-CN" sz="1600">
                      <a:latin typeface="Times New Roman" pitchFamily="18" charset="0"/>
                    </a:rPr>
                    <a:t>UARTn</a:t>
                  </a:r>
                  <a:r>
                    <a:rPr lang="zh-CN" altLang="en-US" sz="1600">
                      <a:latin typeface="Times New Roman" pitchFamily="18" charset="0"/>
                    </a:rPr>
                    <a:t>接收单元</a:t>
                  </a:r>
                </a:p>
              </p:txBody>
            </p:sp>
          </p:grpSp>
          <p:cxnSp>
            <p:nvCxnSpPr>
              <p:cNvPr id="711691" name="AutoShape 11"/>
              <p:cNvCxnSpPr>
                <a:cxnSpLocks noChangeShapeType="1"/>
                <a:stCxn id="711689" idx="3"/>
                <a:endCxn id="711688" idx="1"/>
              </p:cNvCxnSpPr>
              <p:nvPr/>
            </p:nvCxnSpPr>
            <p:spPr bwMode="auto">
              <a:xfrm>
                <a:off x="3888" y="2409"/>
                <a:ext cx="258" cy="0"/>
              </a:xfrm>
              <a:prstGeom prst="straightConnector1">
                <a:avLst/>
              </a:prstGeom>
              <a:noFill/>
              <a:ln w="9525">
                <a:solidFill>
                  <a:schemeClr val="tx1"/>
                </a:solidFill>
                <a:round/>
                <a:headEnd type="triangle" w="med" len="med"/>
                <a:tailEnd/>
              </a:ln>
              <a:effectLst/>
            </p:spPr>
          </p:cxnSp>
          <p:sp>
            <p:nvSpPr>
              <p:cNvPr id="711692" name="Text Box 12"/>
              <p:cNvSpPr txBox="1">
                <a:spLocks noChangeArrowheads="1"/>
              </p:cNvSpPr>
              <p:nvPr/>
            </p:nvSpPr>
            <p:spPr bwMode="auto">
              <a:xfrm>
                <a:off x="5109" y="2300"/>
                <a:ext cx="422" cy="215"/>
              </a:xfrm>
              <a:prstGeom prst="rect">
                <a:avLst/>
              </a:prstGeom>
              <a:noFill/>
              <a:ln w="9525" algn="ctr">
                <a:noFill/>
                <a:miter lim="800000"/>
                <a:headEnd/>
                <a:tailEnd/>
              </a:ln>
              <a:effectLst/>
            </p:spPr>
            <p:txBody>
              <a:bodyPr wrap="none" lIns="90000" tIns="46800" rIns="90000" bIns="46800">
                <a:spAutoFit/>
              </a:bodyPr>
              <a:lstStyle/>
              <a:p>
                <a:r>
                  <a:rPr lang="en-US" altLang="zh-CN" sz="1600">
                    <a:latin typeface="Times New Roman" pitchFamily="18" charset="0"/>
                  </a:rPr>
                  <a:t>RxDn</a:t>
                </a:r>
              </a:p>
            </p:txBody>
          </p:sp>
          <p:sp>
            <p:nvSpPr>
              <p:cNvPr id="711693" name="Line 13"/>
              <p:cNvSpPr>
                <a:spLocks noChangeShapeType="1"/>
              </p:cNvSpPr>
              <p:nvPr/>
            </p:nvSpPr>
            <p:spPr bwMode="auto">
              <a:xfrm>
                <a:off x="4859" y="2411"/>
                <a:ext cx="282" cy="0"/>
              </a:xfrm>
              <a:prstGeom prst="line">
                <a:avLst/>
              </a:prstGeom>
              <a:noFill/>
              <a:ln w="9525">
                <a:solidFill>
                  <a:schemeClr val="tx1"/>
                </a:solidFill>
                <a:round/>
                <a:headEnd type="triangle" w="med" len="med"/>
                <a:tailEnd/>
              </a:ln>
              <a:effectLst/>
            </p:spPr>
            <p:txBody>
              <a:bodyPr wrap="none" lIns="90000" tIns="46800" rIns="90000" bIns="46800" anchor="ctr"/>
              <a:lstStyle/>
              <a:p>
                <a:endParaRPr lang="zh-CN" altLang="en-US"/>
              </a:p>
            </p:txBody>
          </p:sp>
        </p:grpSp>
        <p:grpSp>
          <p:nvGrpSpPr>
            <p:cNvPr id="711694" name="Group 14"/>
            <p:cNvGrpSpPr>
              <a:grpSpLocks/>
            </p:cNvGrpSpPr>
            <p:nvPr/>
          </p:nvGrpSpPr>
          <p:grpSpPr bwMode="auto">
            <a:xfrm>
              <a:off x="2661" y="1403"/>
              <a:ext cx="1819" cy="534"/>
              <a:chOff x="2661" y="1391"/>
              <a:chExt cx="1819" cy="534"/>
            </a:xfrm>
          </p:grpSpPr>
          <p:sp>
            <p:nvSpPr>
              <p:cNvPr id="711695" name="AutoShape 15"/>
              <p:cNvSpPr>
                <a:spLocks noChangeArrowheads="1"/>
              </p:cNvSpPr>
              <p:nvPr/>
            </p:nvSpPr>
            <p:spPr bwMode="auto">
              <a:xfrm>
                <a:off x="2661" y="1581"/>
                <a:ext cx="420" cy="162"/>
              </a:xfrm>
              <a:prstGeom prst="rightArrow">
                <a:avLst>
                  <a:gd name="adj1" fmla="val 50000"/>
                  <a:gd name="adj2" fmla="val 64815"/>
                </a:avLst>
              </a:prstGeom>
              <a:solidFill>
                <a:srgbClr val="FFFFFF"/>
              </a:solidFill>
              <a:ln w="9525" algn="ctr">
                <a:solidFill>
                  <a:schemeClr val="tx1"/>
                </a:solidFill>
                <a:miter lim="800000"/>
                <a:headEnd/>
                <a:tailEnd/>
              </a:ln>
              <a:effectLst/>
            </p:spPr>
            <p:txBody>
              <a:bodyPr wrap="none" lIns="90000" tIns="46800" rIns="90000" bIns="46800" anchor="ctr"/>
              <a:lstStyle/>
              <a:p>
                <a:endParaRPr lang="zh-CN" altLang="en-US"/>
              </a:p>
            </p:txBody>
          </p:sp>
          <p:sp>
            <p:nvSpPr>
              <p:cNvPr id="711696" name="Rectangle 16"/>
              <p:cNvSpPr>
                <a:spLocks noChangeArrowheads="1"/>
              </p:cNvSpPr>
              <p:nvPr/>
            </p:nvSpPr>
            <p:spPr bwMode="auto">
              <a:xfrm>
                <a:off x="3076" y="1391"/>
                <a:ext cx="1404" cy="534"/>
              </a:xfrm>
              <a:prstGeom prst="rect">
                <a:avLst/>
              </a:prstGeom>
              <a:solidFill>
                <a:srgbClr val="CCFFCC"/>
              </a:solidFill>
              <a:ln w="9525" algn="ctr">
                <a:solidFill>
                  <a:schemeClr val="tx1"/>
                </a:solidFill>
                <a:miter lim="800000"/>
                <a:headEnd/>
                <a:tailEnd/>
              </a:ln>
              <a:effectLst/>
            </p:spPr>
            <p:txBody>
              <a:bodyPr wrap="none" anchor="ctr"/>
              <a:lstStyle/>
              <a:p>
                <a:endParaRPr lang="en-US" altLang="zh-CN" sz="1400">
                  <a:latin typeface="Times New Roman" pitchFamily="18" charset="0"/>
                </a:endParaRPr>
              </a:p>
              <a:p>
                <a:endParaRPr lang="en-US" altLang="zh-CN" sz="1400">
                  <a:latin typeface="Times New Roman" pitchFamily="18" charset="0"/>
                </a:endParaRPr>
              </a:p>
              <a:p>
                <a:endParaRPr lang="en-US" altLang="zh-CN" sz="1400">
                  <a:latin typeface="Times New Roman" pitchFamily="18" charset="0"/>
                </a:endParaRPr>
              </a:p>
              <a:p>
                <a:endParaRPr lang="en-US" altLang="zh-CN" sz="1400">
                  <a:latin typeface="Times New Roman" pitchFamily="18" charset="0"/>
                </a:endParaRPr>
              </a:p>
              <a:p>
                <a:endParaRPr lang="en-US" altLang="zh-CN" sz="1400">
                  <a:latin typeface="Times New Roman" pitchFamily="18" charset="0"/>
                </a:endParaRPr>
              </a:p>
            </p:txBody>
          </p:sp>
          <p:sp>
            <p:nvSpPr>
              <p:cNvPr id="711697" name="Rectangle 17"/>
              <p:cNvSpPr>
                <a:spLocks noChangeArrowheads="1"/>
              </p:cNvSpPr>
              <p:nvPr/>
            </p:nvSpPr>
            <p:spPr bwMode="auto">
              <a:xfrm>
                <a:off x="3144" y="1596"/>
                <a:ext cx="1260" cy="288"/>
              </a:xfrm>
              <a:prstGeom prst="rect">
                <a:avLst/>
              </a:prstGeom>
              <a:solidFill>
                <a:srgbClr val="FFFFFF"/>
              </a:solidFill>
              <a:ln w="9525" algn="ctr">
                <a:solidFill>
                  <a:schemeClr val="tx1"/>
                </a:solidFill>
                <a:miter lim="800000"/>
                <a:headEnd/>
                <a:tailEnd/>
              </a:ln>
              <a:effectLst/>
            </p:spPr>
            <p:txBody>
              <a:bodyPr wrap="none" anchor="ctr"/>
              <a:lstStyle/>
              <a:p>
                <a:r>
                  <a:rPr lang="zh-CN" altLang="en-US" sz="1400">
                    <a:latin typeface="Times New Roman" pitchFamily="18" charset="0"/>
                  </a:rPr>
                  <a:t>除数锁存寄存器</a:t>
                </a:r>
              </a:p>
              <a:p>
                <a:r>
                  <a:rPr lang="en-US" altLang="zh-CN" sz="1400">
                    <a:latin typeface="Times New Roman" pitchFamily="18" charset="0"/>
                  </a:rPr>
                  <a:t>UnDLL</a:t>
                </a:r>
                <a:r>
                  <a:rPr lang="zh-CN" altLang="en-US" sz="1400">
                    <a:latin typeface="Times New Roman" pitchFamily="18" charset="0"/>
                  </a:rPr>
                  <a:t>、</a:t>
                </a:r>
                <a:r>
                  <a:rPr lang="en-US" altLang="zh-CN" sz="1400">
                    <a:latin typeface="Times New Roman" pitchFamily="18" charset="0"/>
                  </a:rPr>
                  <a:t>UnDLM</a:t>
                </a:r>
              </a:p>
            </p:txBody>
          </p:sp>
          <p:sp>
            <p:nvSpPr>
              <p:cNvPr id="711698" name="Rectangle 18"/>
              <p:cNvSpPr>
                <a:spLocks noChangeArrowheads="1"/>
              </p:cNvSpPr>
              <p:nvPr/>
            </p:nvSpPr>
            <p:spPr bwMode="auto">
              <a:xfrm>
                <a:off x="3212" y="1405"/>
                <a:ext cx="1149" cy="192"/>
              </a:xfrm>
              <a:prstGeom prst="rect">
                <a:avLst/>
              </a:prstGeom>
              <a:noFill/>
              <a:ln w="9525" algn="ctr">
                <a:noFill/>
                <a:miter lim="800000"/>
                <a:headEnd/>
                <a:tailEnd/>
              </a:ln>
              <a:effectLst/>
            </p:spPr>
            <p:txBody>
              <a:bodyPr wrap="none">
                <a:spAutoFit/>
              </a:bodyPr>
              <a:lstStyle/>
              <a:p>
                <a:r>
                  <a:rPr lang="en-US" altLang="zh-CN" sz="1400">
                    <a:latin typeface="Times New Roman" pitchFamily="18" charset="0"/>
                  </a:rPr>
                  <a:t>UARTn</a:t>
                </a:r>
                <a:r>
                  <a:rPr lang="zh-CN" altLang="en-US" sz="1400">
                    <a:latin typeface="Times New Roman" pitchFamily="18" charset="0"/>
                  </a:rPr>
                  <a:t>波特率发生器</a:t>
                </a:r>
              </a:p>
            </p:txBody>
          </p:sp>
        </p:grpSp>
        <p:grpSp>
          <p:nvGrpSpPr>
            <p:cNvPr id="711699" name="Group 19"/>
            <p:cNvGrpSpPr>
              <a:grpSpLocks/>
            </p:cNvGrpSpPr>
            <p:nvPr/>
          </p:nvGrpSpPr>
          <p:grpSpPr bwMode="auto">
            <a:xfrm>
              <a:off x="2663" y="2939"/>
              <a:ext cx="2304" cy="198"/>
              <a:chOff x="2663" y="3131"/>
              <a:chExt cx="2304" cy="198"/>
            </a:xfrm>
          </p:grpSpPr>
          <p:sp>
            <p:nvSpPr>
              <p:cNvPr id="711700" name="AutoShape 20"/>
              <p:cNvSpPr>
                <a:spLocks noChangeArrowheads="1"/>
              </p:cNvSpPr>
              <p:nvPr/>
            </p:nvSpPr>
            <p:spPr bwMode="auto">
              <a:xfrm>
                <a:off x="2663" y="3149"/>
                <a:ext cx="402" cy="162"/>
              </a:xfrm>
              <a:prstGeom prst="rightArrow">
                <a:avLst>
                  <a:gd name="adj1" fmla="val 50000"/>
                  <a:gd name="adj2" fmla="val 62037"/>
                </a:avLst>
              </a:prstGeom>
              <a:solidFill>
                <a:srgbClr val="FFFFFF"/>
              </a:solidFill>
              <a:ln w="9525" algn="ctr">
                <a:solidFill>
                  <a:schemeClr val="tx1"/>
                </a:solidFill>
                <a:miter lim="800000"/>
                <a:headEnd/>
                <a:tailEnd/>
              </a:ln>
              <a:effectLst/>
            </p:spPr>
            <p:txBody>
              <a:bodyPr wrap="none" lIns="90000" tIns="46800" rIns="90000" bIns="46800" anchor="ctr"/>
              <a:lstStyle/>
              <a:p>
                <a:endParaRPr lang="zh-CN" altLang="en-US"/>
              </a:p>
            </p:txBody>
          </p:sp>
          <p:sp>
            <p:nvSpPr>
              <p:cNvPr id="711701" name="Rectangle 21"/>
              <p:cNvSpPr>
                <a:spLocks noChangeArrowheads="1"/>
              </p:cNvSpPr>
              <p:nvPr/>
            </p:nvSpPr>
            <p:spPr bwMode="auto">
              <a:xfrm>
                <a:off x="3071" y="3131"/>
                <a:ext cx="1896" cy="198"/>
              </a:xfrm>
              <a:prstGeom prst="rect">
                <a:avLst/>
              </a:prstGeom>
              <a:solidFill>
                <a:srgbClr val="FFCC66"/>
              </a:solidFill>
              <a:ln w="9525" algn="ctr">
                <a:solidFill>
                  <a:schemeClr val="tx1"/>
                </a:solidFill>
                <a:miter lim="800000"/>
                <a:headEnd/>
                <a:tailEnd/>
              </a:ln>
              <a:effectLst/>
            </p:spPr>
            <p:txBody>
              <a:bodyPr wrap="none" anchor="ctr"/>
              <a:lstStyle/>
              <a:p>
                <a:r>
                  <a:rPr lang="en-US" altLang="zh-CN" sz="1400">
                    <a:latin typeface="Times New Roman" pitchFamily="18" charset="0"/>
                  </a:rPr>
                  <a:t>UARTn</a:t>
                </a:r>
                <a:r>
                  <a:rPr lang="zh-CN" altLang="en-US" sz="1400">
                    <a:latin typeface="Times New Roman" pitchFamily="18" charset="0"/>
                  </a:rPr>
                  <a:t>控制寄存器（</a:t>
                </a:r>
                <a:r>
                  <a:rPr lang="en-US" altLang="zh-CN" sz="1400">
                    <a:latin typeface="Times New Roman" pitchFamily="18" charset="0"/>
                  </a:rPr>
                  <a:t>UnLCR</a:t>
                </a:r>
                <a:r>
                  <a:rPr lang="zh-CN" altLang="en-US" sz="1400">
                    <a:latin typeface="Times New Roman" pitchFamily="18" charset="0"/>
                  </a:rPr>
                  <a:t>）</a:t>
                </a:r>
              </a:p>
            </p:txBody>
          </p:sp>
        </p:grpSp>
        <p:sp>
          <p:nvSpPr>
            <p:cNvPr id="711702" name="Line 22"/>
            <p:cNvSpPr>
              <a:spLocks noChangeShapeType="1"/>
            </p:cNvSpPr>
            <p:nvPr/>
          </p:nvSpPr>
          <p:spPr bwMode="auto">
            <a:xfrm flipH="1">
              <a:off x="3551" y="2537"/>
              <a:ext cx="0" cy="264"/>
            </a:xfrm>
            <a:prstGeom prst="line">
              <a:avLst/>
            </a:prstGeom>
            <a:noFill/>
            <a:ln w="38100">
              <a:solidFill>
                <a:srgbClr val="008000"/>
              </a:solidFill>
              <a:round/>
              <a:headEnd type="triangle" w="med" len="med"/>
              <a:tailEnd/>
            </a:ln>
            <a:effectLst/>
          </p:spPr>
          <p:txBody>
            <a:bodyPr wrap="none" lIns="90000" tIns="46800" rIns="90000" bIns="46800" anchor="ctr"/>
            <a:lstStyle/>
            <a:p>
              <a:endParaRPr lang="zh-CN" altLang="en-US"/>
            </a:p>
          </p:txBody>
        </p:sp>
        <p:grpSp>
          <p:nvGrpSpPr>
            <p:cNvPr id="711703" name="Group 23"/>
            <p:cNvGrpSpPr>
              <a:grpSpLocks/>
            </p:cNvGrpSpPr>
            <p:nvPr/>
          </p:nvGrpSpPr>
          <p:grpSpPr bwMode="auto">
            <a:xfrm>
              <a:off x="2668" y="2679"/>
              <a:ext cx="2288" cy="174"/>
              <a:chOff x="2668" y="2679"/>
              <a:chExt cx="2288" cy="174"/>
            </a:xfrm>
          </p:grpSpPr>
          <p:sp>
            <p:nvSpPr>
              <p:cNvPr id="711704" name="AutoShape 24"/>
              <p:cNvSpPr>
                <a:spLocks noChangeArrowheads="1"/>
              </p:cNvSpPr>
              <p:nvPr/>
            </p:nvSpPr>
            <p:spPr bwMode="auto">
              <a:xfrm>
                <a:off x="2668" y="2686"/>
                <a:ext cx="402" cy="162"/>
              </a:xfrm>
              <a:prstGeom prst="rightArrow">
                <a:avLst>
                  <a:gd name="adj1" fmla="val 50000"/>
                  <a:gd name="adj2" fmla="val 62037"/>
                </a:avLst>
              </a:prstGeom>
              <a:solidFill>
                <a:srgbClr val="FFFFFF"/>
              </a:solidFill>
              <a:ln w="9525" algn="ctr">
                <a:solidFill>
                  <a:schemeClr val="tx1"/>
                </a:solidFill>
                <a:miter lim="800000"/>
                <a:headEnd/>
                <a:tailEnd/>
              </a:ln>
              <a:effectLst/>
            </p:spPr>
            <p:txBody>
              <a:bodyPr wrap="none" lIns="90000" tIns="46800" rIns="90000" bIns="46800" anchor="ctr"/>
              <a:lstStyle/>
              <a:p>
                <a:endParaRPr lang="zh-CN" altLang="en-US"/>
              </a:p>
            </p:txBody>
          </p:sp>
          <p:sp>
            <p:nvSpPr>
              <p:cNvPr id="711705" name="Rectangle 25"/>
              <p:cNvSpPr>
                <a:spLocks noChangeArrowheads="1"/>
              </p:cNvSpPr>
              <p:nvPr/>
            </p:nvSpPr>
            <p:spPr bwMode="auto">
              <a:xfrm>
                <a:off x="3071" y="2679"/>
                <a:ext cx="1885" cy="174"/>
              </a:xfrm>
              <a:prstGeom prst="rect">
                <a:avLst/>
              </a:prstGeom>
              <a:solidFill>
                <a:srgbClr val="FFCC00"/>
              </a:solidFill>
              <a:ln w="9525" algn="ctr">
                <a:solidFill>
                  <a:schemeClr val="tx1"/>
                </a:solidFill>
                <a:miter lim="800000"/>
                <a:headEnd/>
                <a:tailEnd/>
              </a:ln>
              <a:effectLst/>
            </p:spPr>
            <p:txBody>
              <a:bodyPr wrap="none" anchor="ctr"/>
              <a:lstStyle/>
              <a:p>
                <a:r>
                  <a:rPr lang="en-US" altLang="zh-CN" sz="1400">
                    <a:latin typeface="Times New Roman" pitchFamily="18" charset="0"/>
                  </a:rPr>
                  <a:t>FIFO</a:t>
                </a:r>
                <a:r>
                  <a:rPr lang="zh-CN" altLang="en-US" sz="1400">
                    <a:latin typeface="Times New Roman" pitchFamily="18" charset="0"/>
                  </a:rPr>
                  <a:t>控制寄存器</a:t>
                </a:r>
                <a:r>
                  <a:rPr lang="en-US" altLang="zh-CN" sz="1400">
                    <a:latin typeface="Times New Roman" pitchFamily="18" charset="0"/>
                  </a:rPr>
                  <a:t>(UnFCR)</a:t>
                </a:r>
              </a:p>
            </p:txBody>
          </p:sp>
        </p:grpSp>
        <p:grpSp>
          <p:nvGrpSpPr>
            <p:cNvPr id="711706" name="Group 26"/>
            <p:cNvGrpSpPr>
              <a:grpSpLocks/>
            </p:cNvGrpSpPr>
            <p:nvPr/>
          </p:nvGrpSpPr>
          <p:grpSpPr bwMode="auto">
            <a:xfrm>
              <a:off x="2699" y="3209"/>
              <a:ext cx="2261" cy="192"/>
              <a:chOff x="2705" y="3503"/>
              <a:chExt cx="2261" cy="192"/>
            </a:xfrm>
          </p:grpSpPr>
          <p:sp>
            <p:nvSpPr>
              <p:cNvPr id="711707" name="AutoShape 27"/>
              <p:cNvSpPr>
                <a:spLocks noChangeArrowheads="1"/>
              </p:cNvSpPr>
              <p:nvPr/>
            </p:nvSpPr>
            <p:spPr bwMode="auto">
              <a:xfrm>
                <a:off x="2705" y="3509"/>
                <a:ext cx="372" cy="186"/>
              </a:xfrm>
              <a:prstGeom prst="leftArrow">
                <a:avLst>
                  <a:gd name="adj1" fmla="val 50000"/>
                  <a:gd name="adj2" fmla="val 50000"/>
                </a:avLst>
              </a:prstGeom>
              <a:solidFill>
                <a:srgbClr val="FFFFFF"/>
              </a:solidFill>
              <a:ln w="9525" algn="ctr">
                <a:solidFill>
                  <a:schemeClr val="tx1"/>
                </a:solidFill>
                <a:miter lim="800000"/>
                <a:headEnd/>
                <a:tailEnd/>
              </a:ln>
              <a:effectLst/>
            </p:spPr>
            <p:txBody>
              <a:bodyPr wrap="none" lIns="90000" tIns="46800" rIns="90000" bIns="46800" anchor="ctr"/>
              <a:lstStyle/>
              <a:p>
                <a:endParaRPr lang="zh-CN" altLang="en-US"/>
              </a:p>
            </p:txBody>
          </p:sp>
          <p:sp>
            <p:nvSpPr>
              <p:cNvPr id="711708" name="Rectangle 28"/>
              <p:cNvSpPr>
                <a:spLocks noChangeArrowheads="1"/>
              </p:cNvSpPr>
              <p:nvPr/>
            </p:nvSpPr>
            <p:spPr bwMode="auto">
              <a:xfrm>
                <a:off x="3070" y="3503"/>
                <a:ext cx="1896" cy="192"/>
              </a:xfrm>
              <a:prstGeom prst="rect">
                <a:avLst/>
              </a:prstGeom>
              <a:solidFill>
                <a:srgbClr val="FFFF99"/>
              </a:solidFill>
              <a:ln w="9525" algn="ctr">
                <a:solidFill>
                  <a:schemeClr val="tx1"/>
                </a:solidFill>
                <a:miter lim="800000"/>
                <a:headEnd/>
                <a:tailEnd/>
              </a:ln>
              <a:effectLst/>
            </p:spPr>
            <p:txBody>
              <a:bodyPr wrap="none" anchor="ctr"/>
              <a:lstStyle/>
              <a:p>
                <a:r>
                  <a:rPr lang="en-US" altLang="zh-CN" sz="1400">
                    <a:latin typeface="Times New Roman" pitchFamily="18" charset="0"/>
                  </a:rPr>
                  <a:t>UARTn</a:t>
                </a:r>
                <a:r>
                  <a:rPr lang="zh-CN" altLang="en-US" sz="1400">
                    <a:latin typeface="Times New Roman" pitchFamily="18" charset="0"/>
                  </a:rPr>
                  <a:t>状态寄存器（</a:t>
                </a:r>
                <a:r>
                  <a:rPr lang="en-US" altLang="zh-CN" sz="1400">
                    <a:latin typeface="Times New Roman" pitchFamily="18" charset="0"/>
                  </a:rPr>
                  <a:t>UnLSR</a:t>
                </a:r>
                <a:r>
                  <a:rPr lang="zh-CN" altLang="en-US" sz="1400">
                    <a:latin typeface="Times New Roman" pitchFamily="18" charset="0"/>
                  </a:rPr>
                  <a:t>）</a:t>
                </a:r>
              </a:p>
            </p:txBody>
          </p:sp>
        </p:grpSp>
        <p:grpSp>
          <p:nvGrpSpPr>
            <p:cNvPr id="711709" name="Group 29"/>
            <p:cNvGrpSpPr>
              <a:grpSpLocks/>
            </p:cNvGrpSpPr>
            <p:nvPr/>
          </p:nvGrpSpPr>
          <p:grpSpPr bwMode="auto">
            <a:xfrm>
              <a:off x="905" y="1950"/>
              <a:ext cx="1621" cy="1010"/>
              <a:chOff x="905" y="1938"/>
              <a:chExt cx="1621" cy="1010"/>
            </a:xfrm>
          </p:grpSpPr>
          <p:sp>
            <p:nvSpPr>
              <p:cNvPr id="711710" name="Rectangle 30"/>
              <p:cNvSpPr>
                <a:spLocks noChangeArrowheads="1"/>
              </p:cNvSpPr>
              <p:nvPr/>
            </p:nvSpPr>
            <p:spPr bwMode="auto">
              <a:xfrm>
                <a:off x="905" y="1949"/>
                <a:ext cx="1254" cy="999"/>
              </a:xfrm>
              <a:prstGeom prst="rect">
                <a:avLst/>
              </a:prstGeom>
              <a:solidFill>
                <a:srgbClr val="FFCC99"/>
              </a:solidFill>
              <a:ln w="9525" algn="ctr">
                <a:solidFill>
                  <a:schemeClr val="tx1"/>
                </a:solidFill>
                <a:miter lim="800000"/>
                <a:headEnd/>
                <a:tailEnd/>
              </a:ln>
              <a:effectLst/>
            </p:spPr>
            <p:txBody>
              <a:bodyPr wrap="none" anchor="ctr"/>
              <a:lstStyle/>
              <a:p>
                <a:endParaRPr lang="zh-CN" altLang="en-US"/>
              </a:p>
            </p:txBody>
          </p:sp>
          <p:sp>
            <p:nvSpPr>
              <p:cNvPr id="711711" name="AutoShape 31"/>
              <p:cNvSpPr>
                <a:spLocks noChangeArrowheads="1"/>
              </p:cNvSpPr>
              <p:nvPr/>
            </p:nvSpPr>
            <p:spPr bwMode="auto">
              <a:xfrm>
                <a:off x="2082" y="2638"/>
                <a:ext cx="432" cy="162"/>
              </a:xfrm>
              <a:prstGeom prst="rightArrow">
                <a:avLst>
                  <a:gd name="adj1" fmla="val 50000"/>
                  <a:gd name="adj2" fmla="val 66667"/>
                </a:avLst>
              </a:prstGeom>
              <a:solidFill>
                <a:srgbClr val="FFFFFF"/>
              </a:solidFill>
              <a:ln w="9525" algn="ctr">
                <a:solidFill>
                  <a:schemeClr val="tx1"/>
                </a:solidFill>
                <a:miter lim="800000"/>
                <a:headEnd/>
                <a:tailEnd/>
              </a:ln>
              <a:effectLst/>
            </p:spPr>
            <p:txBody>
              <a:bodyPr wrap="none" lIns="90000" tIns="46800" rIns="90000" bIns="46800" anchor="ctr"/>
              <a:lstStyle/>
              <a:p>
                <a:endParaRPr lang="zh-CN" altLang="en-US"/>
              </a:p>
            </p:txBody>
          </p:sp>
          <p:sp>
            <p:nvSpPr>
              <p:cNvPr id="711712" name="AutoShape 32"/>
              <p:cNvSpPr>
                <a:spLocks noChangeArrowheads="1"/>
              </p:cNvSpPr>
              <p:nvPr/>
            </p:nvSpPr>
            <p:spPr bwMode="auto">
              <a:xfrm>
                <a:off x="2100" y="2236"/>
                <a:ext cx="426" cy="186"/>
              </a:xfrm>
              <a:prstGeom prst="leftArrow">
                <a:avLst>
                  <a:gd name="adj1" fmla="val 50000"/>
                  <a:gd name="adj2" fmla="val 57258"/>
                </a:avLst>
              </a:prstGeom>
              <a:solidFill>
                <a:srgbClr val="FFFFFF"/>
              </a:solidFill>
              <a:ln w="9525" algn="ctr">
                <a:solidFill>
                  <a:schemeClr val="tx1"/>
                </a:solidFill>
                <a:miter lim="800000"/>
                <a:headEnd/>
                <a:tailEnd/>
              </a:ln>
              <a:effectLst/>
            </p:spPr>
            <p:txBody>
              <a:bodyPr wrap="none" lIns="90000" tIns="46800" rIns="90000" bIns="46800" anchor="ctr"/>
              <a:lstStyle/>
              <a:p>
                <a:endParaRPr lang="zh-CN" altLang="en-US"/>
              </a:p>
            </p:txBody>
          </p:sp>
          <p:sp>
            <p:nvSpPr>
              <p:cNvPr id="711713" name="Text Box 33"/>
              <p:cNvSpPr txBox="1">
                <a:spLocks noChangeArrowheads="1"/>
              </p:cNvSpPr>
              <p:nvPr/>
            </p:nvSpPr>
            <p:spPr bwMode="auto">
              <a:xfrm>
                <a:off x="912" y="1938"/>
                <a:ext cx="1235" cy="192"/>
              </a:xfrm>
              <a:prstGeom prst="rect">
                <a:avLst/>
              </a:prstGeom>
              <a:noFill/>
              <a:ln w="9525" algn="ctr">
                <a:noFill/>
                <a:miter lim="800000"/>
                <a:headEnd/>
                <a:tailEnd/>
              </a:ln>
              <a:effectLst/>
            </p:spPr>
            <p:txBody>
              <a:bodyPr>
                <a:spAutoFit/>
              </a:bodyPr>
              <a:lstStyle/>
              <a:p>
                <a:r>
                  <a:rPr lang="zh-CN" altLang="en-US" sz="1400">
                    <a:latin typeface="Times New Roman" pitchFamily="18" charset="0"/>
                  </a:rPr>
                  <a:t>中断</a:t>
                </a:r>
              </a:p>
            </p:txBody>
          </p:sp>
          <p:sp>
            <p:nvSpPr>
              <p:cNvPr id="711714" name="Rectangle 34"/>
              <p:cNvSpPr>
                <a:spLocks noChangeArrowheads="1"/>
              </p:cNvSpPr>
              <p:nvPr/>
            </p:nvSpPr>
            <p:spPr bwMode="auto">
              <a:xfrm>
                <a:off x="959" y="2141"/>
                <a:ext cx="1141" cy="356"/>
              </a:xfrm>
              <a:prstGeom prst="rect">
                <a:avLst/>
              </a:prstGeom>
              <a:solidFill>
                <a:srgbClr val="FFFFFF"/>
              </a:solidFill>
              <a:ln w="9525" algn="ctr">
                <a:solidFill>
                  <a:schemeClr val="tx1"/>
                </a:solidFill>
                <a:miter lim="800000"/>
                <a:headEnd/>
                <a:tailEnd/>
              </a:ln>
              <a:effectLst/>
            </p:spPr>
            <p:txBody>
              <a:bodyPr wrap="none" anchor="ctr"/>
              <a:lstStyle/>
              <a:p>
                <a:r>
                  <a:rPr lang="zh-CN" altLang="en-US" sz="1400">
                    <a:latin typeface="Times New Roman" pitchFamily="18" charset="0"/>
                  </a:rPr>
                  <a:t>中断使能寄存器</a:t>
                </a:r>
              </a:p>
              <a:p>
                <a:r>
                  <a:rPr lang="en-US" altLang="zh-CN" sz="1400">
                    <a:latin typeface="Times New Roman" pitchFamily="18" charset="0"/>
                  </a:rPr>
                  <a:t>UnIER</a:t>
                </a:r>
              </a:p>
            </p:txBody>
          </p:sp>
          <p:sp>
            <p:nvSpPr>
              <p:cNvPr id="711715" name="Rectangle 35"/>
              <p:cNvSpPr>
                <a:spLocks noChangeArrowheads="1"/>
              </p:cNvSpPr>
              <p:nvPr/>
            </p:nvSpPr>
            <p:spPr bwMode="auto">
              <a:xfrm>
                <a:off x="954" y="2539"/>
                <a:ext cx="1145" cy="356"/>
              </a:xfrm>
              <a:prstGeom prst="rect">
                <a:avLst/>
              </a:prstGeom>
              <a:solidFill>
                <a:srgbClr val="FFFFFF"/>
              </a:solidFill>
              <a:ln w="9525" algn="ctr">
                <a:solidFill>
                  <a:schemeClr val="tx1"/>
                </a:solidFill>
                <a:miter lim="800000"/>
                <a:headEnd/>
                <a:tailEnd/>
              </a:ln>
              <a:effectLst/>
            </p:spPr>
            <p:txBody>
              <a:bodyPr wrap="none" lIns="90000" tIns="46800" rIns="90000" bIns="46800" anchor="ctr"/>
              <a:lstStyle/>
              <a:p>
                <a:r>
                  <a:rPr lang="zh-CN" altLang="en-US" sz="1400">
                    <a:latin typeface="Times New Roman" pitchFamily="18" charset="0"/>
                  </a:rPr>
                  <a:t>中断标志寄存器</a:t>
                </a:r>
              </a:p>
              <a:p>
                <a:r>
                  <a:rPr lang="en-US" altLang="zh-CN" sz="1400">
                    <a:latin typeface="Times New Roman" pitchFamily="18" charset="0"/>
                  </a:rPr>
                  <a:t>UnIIR</a:t>
                </a:r>
              </a:p>
            </p:txBody>
          </p:sp>
        </p:grpSp>
        <p:grpSp>
          <p:nvGrpSpPr>
            <p:cNvPr id="711716" name="Group 36"/>
            <p:cNvGrpSpPr>
              <a:grpSpLocks/>
            </p:cNvGrpSpPr>
            <p:nvPr/>
          </p:nvGrpSpPr>
          <p:grpSpPr bwMode="auto">
            <a:xfrm>
              <a:off x="882" y="3048"/>
              <a:ext cx="1644" cy="318"/>
              <a:chOff x="882" y="3306"/>
              <a:chExt cx="1644" cy="318"/>
            </a:xfrm>
          </p:grpSpPr>
          <p:sp>
            <p:nvSpPr>
              <p:cNvPr id="711717" name="Rectangle 37"/>
              <p:cNvSpPr>
                <a:spLocks noChangeArrowheads="1"/>
              </p:cNvSpPr>
              <p:nvPr/>
            </p:nvSpPr>
            <p:spPr bwMode="auto">
              <a:xfrm>
                <a:off x="882" y="3306"/>
                <a:ext cx="1272" cy="318"/>
              </a:xfrm>
              <a:prstGeom prst="rect">
                <a:avLst/>
              </a:prstGeom>
              <a:solidFill>
                <a:srgbClr val="CCFF66"/>
              </a:solidFill>
              <a:ln w="9525" algn="ctr">
                <a:solidFill>
                  <a:schemeClr val="tx1"/>
                </a:solidFill>
                <a:miter lim="800000"/>
                <a:headEnd/>
                <a:tailEnd/>
              </a:ln>
              <a:effectLst/>
            </p:spPr>
            <p:txBody>
              <a:bodyPr wrap="none" anchor="ctr"/>
              <a:lstStyle/>
              <a:p>
                <a:r>
                  <a:rPr lang="en-US" altLang="zh-CN" sz="1400">
                    <a:latin typeface="Times New Roman" pitchFamily="18" charset="0"/>
                  </a:rPr>
                  <a:t>UARTn</a:t>
                </a:r>
                <a:r>
                  <a:rPr lang="zh-CN" altLang="en-US" sz="1400">
                    <a:latin typeface="Times New Roman" pitchFamily="18" charset="0"/>
                  </a:rPr>
                  <a:t>高速缓存寄存器</a:t>
                </a:r>
              </a:p>
              <a:p>
                <a:r>
                  <a:rPr lang="en-US" altLang="zh-CN" sz="1400">
                    <a:latin typeface="Times New Roman" pitchFamily="18" charset="0"/>
                  </a:rPr>
                  <a:t>UnSCR</a:t>
                </a:r>
              </a:p>
            </p:txBody>
          </p:sp>
          <p:sp>
            <p:nvSpPr>
              <p:cNvPr id="711718" name="AutoShape 38"/>
              <p:cNvSpPr>
                <a:spLocks noChangeArrowheads="1"/>
              </p:cNvSpPr>
              <p:nvPr/>
            </p:nvSpPr>
            <p:spPr bwMode="auto">
              <a:xfrm>
                <a:off x="2160" y="3397"/>
                <a:ext cx="366" cy="145"/>
              </a:xfrm>
              <a:prstGeom prst="leftRightArrow">
                <a:avLst>
                  <a:gd name="adj1" fmla="val 50000"/>
                  <a:gd name="adj2" fmla="val 50483"/>
                </a:avLst>
              </a:prstGeom>
              <a:solidFill>
                <a:srgbClr val="FFFFFF"/>
              </a:solidFill>
              <a:ln w="9525" algn="ctr">
                <a:solidFill>
                  <a:schemeClr val="tx1"/>
                </a:solidFill>
                <a:miter lim="800000"/>
                <a:headEnd/>
                <a:tailEnd/>
              </a:ln>
              <a:effectLst/>
            </p:spPr>
            <p:txBody>
              <a:bodyPr wrap="none" lIns="90000" tIns="46800" rIns="90000" bIns="46800" anchor="ctr"/>
              <a:lstStyle/>
              <a:p>
                <a:endParaRPr lang="zh-CN" altLang="en-US"/>
              </a:p>
            </p:txBody>
          </p:sp>
        </p:grpSp>
        <p:sp>
          <p:nvSpPr>
            <p:cNvPr id="711719" name="AutoShape 39"/>
            <p:cNvSpPr>
              <a:spLocks noChangeArrowheads="1"/>
            </p:cNvSpPr>
            <p:nvPr/>
          </p:nvSpPr>
          <p:spPr bwMode="auto">
            <a:xfrm>
              <a:off x="2658" y="1056"/>
              <a:ext cx="402" cy="162"/>
            </a:xfrm>
            <a:prstGeom prst="rightArrow">
              <a:avLst>
                <a:gd name="adj1" fmla="val 50000"/>
                <a:gd name="adj2" fmla="val 62037"/>
              </a:avLst>
            </a:prstGeom>
            <a:solidFill>
              <a:schemeClr val="bg1"/>
            </a:solidFill>
            <a:ln w="9525" algn="ctr">
              <a:solidFill>
                <a:schemeClr val="tx1"/>
              </a:solidFill>
              <a:miter lim="800000"/>
              <a:headEnd/>
              <a:tailEnd/>
            </a:ln>
            <a:effectLst/>
          </p:spPr>
          <p:txBody>
            <a:bodyPr wrap="none" lIns="90000" tIns="46800" rIns="90000" bIns="46800" anchor="ctr"/>
            <a:lstStyle/>
            <a:p>
              <a:endParaRPr lang="zh-CN" altLang="en-US"/>
            </a:p>
          </p:txBody>
        </p:sp>
        <p:sp>
          <p:nvSpPr>
            <p:cNvPr id="711720" name="Rectangle 40"/>
            <p:cNvSpPr>
              <a:spLocks noChangeArrowheads="1"/>
            </p:cNvSpPr>
            <p:nvPr/>
          </p:nvSpPr>
          <p:spPr bwMode="auto">
            <a:xfrm>
              <a:off x="3071" y="821"/>
              <a:ext cx="1992" cy="516"/>
            </a:xfrm>
            <a:prstGeom prst="rect">
              <a:avLst/>
            </a:prstGeom>
            <a:solidFill>
              <a:srgbClr val="FFFF99"/>
            </a:solidFill>
            <a:ln w="9525" algn="ctr">
              <a:solidFill>
                <a:schemeClr val="tx1"/>
              </a:solidFill>
              <a:miter lim="800000"/>
              <a:headEnd/>
              <a:tailEnd/>
            </a:ln>
            <a:effectLst/>
          </p:spPr>
          <p:txBody>
            <a:bodyPr wrap="none" anchor="ctr"/>
            <a:lstStyle/>
            <a:p>
              <a:endParaRPr lang="en-US" altLang="zh-CN" sz="1400">
                <a:latin typeface="Times New Roman" pitchFamily="18" charset="0"/>
              </a:endParaRPr>
            </a:p>
            <a:p>
              <a:endParaRPr lang="en-US" altLang="zh-CN" sz="1400">
                <a:latin typeface="Times New Roman" pitchFamily="18" charset="0"/>
              </a:endParaRPr>
            </a:p>
            <a:p>
              <a:endParaRPr lang="en-US" altLang="zh-CN" sz="1400">
                <a:latin typeface="Times New Roman" pitchFamily="18" charset="0"/>
              </a:endParaRPr>
            </a:p>
          </p:txBody>
        </p:sp>
        <p:sp>
          <p:nvSpPr>
            <p:cNvPr id="711721" name="Rectangle 41"/>
            <p:cNvSpPr>
              <a:spLocks noChangeArrowheads="1"/>
            </p:cNvSpPr>
            <p:nvPr/>
          </p:nvSpPr>
          <p:spPr bwMode="auto">
            <a:xfrm>
              <a:off x="3131" y="998"/>
              <a:ext cx="954" cy="295"/>
            </a:xfrm>
            <a:prstGeom prst="rect">
              <a:avLst/>
            </a:prstGeom>
            <a:solidFill>
              <a:srgbClr val="FFFFFF"/>
            </a:solidFill>
            <a:ln w="9525" algn="ctr">
              <a:solidFill>
                <a:schemeClr val="tx1"/>
              </a:solidFill>
              <a:miter lim="800000"/>
              <a:headEnd/>
              <a:tailEnd/>
            </a:ln>
            <a:effectLst/>
          </p:spPr>
          <p:txBody>
            <a:bodyPr wrap="none" anchor="ctr"/>
            <a:lstStyle/>
            <a:p>
              <a:r>
                <a:rPr lang="zh-CN" altLang="en-US" sz="1400">
                  <a:latin typeface="Times New Roman" pitchFamily="18" charset="0"/>
                </a:rPr>
                <a:t>发送缓冲寄存器</a:t>
              </a:r>
            </a:p>
            <a:p>
              <a:r>
                <a:rPr lang="en-US" altLang="zh-CN" sz="1400">
                  <a:latin typeface="Times New Roman" pitchFamily="18" charset="0"/>
                </a:rPr>
                <a:t>UnTHR</a:t>
              </a:r>
            </a:p>
          </p:txBody>
        </p:sp>
        <p:sp>
          <p:nvSpPr>
            <p:cNvPr id="711722" name="Rectangle 42"/>
            <p:cNvSpPr>
              <a:spLocks noChangeArrowheads="1"/>
            </p:cNvSpPr>
            <p:nvPr/>
          </p:nvSpPr>
          <p:spPr bwMode="auto">
            <a:xfrm>
              <a:off x="3612" y="817"/>
              <a:ext cx="925" cy="192"/>
            </a:xfrm>
            <a:prstGeom prst="rect">
              <a:avLst/>
            </a:prstGeom>
            <a:noFill/>
            <a:ln w="9525" algn="ctr">
              <a:noFill/>
              <a:miter lim="800000"/>
              <a:headEnd/>
              <a:tailEnd/>
            </a:ln>
            <a:effectLst/>
          </p:spPr>
          <p:txBody>
            <a:bodyPr wrap="none">
              <a:spAutoFit/>
            </a:bodyPr>
            <a:lstStyle/>
            <a:p>
              <a:r>
                <a:rPr lang="en-US" altLang="zh-CN" sz="1400">
                  <a:latin typeface="Times New Roman" pitchFamily="18" charset="0"/>
                </a:rPr>
                <a:t>UARTn</a:t>
              </a:r>
              <a:r>
                <a:rPr lang="zh-CN" altLang="en-US" sz="1400">
                  <a:latin typeface="Times New Roman" pitchFamily="18" charset="0"/>
                </a:rPr>
                <a:t>发送单元</a:t>
              </a:r>
            </a:p>
          </p:txBody>
        </p:sp>
        <p:sp>
          <p:nvSpPr>
            <p:cNvPr id="711723" name="Text Box 43"/>
            <p:cNvSpPr txBox="1">
              <a:spLocks noChangeArrowheads="1"/>
            </p:cNvSpPr>
            <p:nvPr/>
          </p:nvSpPr>
          <p:spPr bwMode="auto">
            <a:xfrm>
              <a:off x="5224" y="1043"/>
              <a:ext cx="415" cy="215"/>
            </a:xfrm>
            <a:prstGeom prst="rect">
              <a:avLst/>
            </a:prstGeom>
            <a:noFill/>
            <a:ln w="9525" algn="ctr">
              <a:noFill/>
              <a:miter lim="800000"/>
              <a:headEnd/>
              <a:tailEnd/>
            </a:ln>
            <a:effectLst/>
          </p:spPr>
          <p:txBody>
            <a:bodyPr wrap="none" lIns="90000" tIns="46800" rIns="90000" bIns="46800">
              <a:spAutoFit/>
            </a:bodyPr>
            <a:lstStyle/>
            <a:p>
              <a:r>
                <a:rPr lang="en-US" altLang="zh-CN" sz="1600">
                  <a:latin typeface="Times New Roman" pitchFamily="18" charset="0"/>
                </a:rPr>
                <a:t>TxDn</a:t>
              </a:r>
            </a:p>
          </p:txBody>
        </p:sp>
        <p:sp>
          <p:nvSpPr>
            <p:cNvPr id="711724" name="Line 44"/>
            <p:cNvSpPr>
              <a:spLocks noChangeShapeType="1"/>
            </p:cNvSpPr>
            <p:nvPr/>
          </p:nvSpPr>
          <p:spPr bwMode="auto">
            <a:xfrm>
              <a:off x="4968" y="1152"/>
              <a:ext cx="282" cy="0"/>
            </a:xfrm>
            <a:prstGeom prst="line">
              <a:avLst/>
            </a:prstGeom>
            <a:noFill/>
            <a:ln w="9525">
              <a:solidFill>
                <a:schemeClr val="tx1"/>
              </a:solidFill>
              <a:round/>
              <a:headEnd/>
              <a:tailEnd type="triangle" w="med" len="med"/>
            </a:ln>
            <a:effectLst/>
          </p:spPr>
          <p:txBody>
            <a:bodyPr wrap="none" lIns="90000" tIns="46800" rIns="90000" bIns="46800" anchor="ctr"/>
            <a:lstStyle/>
            <a:p>
              <a:endParaRPr lang="zh-CN" altLang="en-US"/>
            </a:p>
          </p:txBody>
        </p:sp>
        <p:sp>
          <p:nvSpPr>
            <p:cNvPr id="711725" name="Rectangle 45"/>
            <p:cNvSpPr>
              <a:spLocks noChangeArrowheads="1"/>
            </p:cNvSpPr>
            <p:nvPr/>
          </p:nvSpPr>
          <p:spPr bwMode="auto">
            <a:xfrm>
              <a:off x="4248" y="1001"/>
              <a:ext cx="744" cy="292"/>
            </a:xfrm>
            <a:prstGeom prst="rect">
              <a:avLst/>
            </a:prstGeom>
            <a:solidFill>
              <a:srgbClr val="FFFFFF"/>
            </a:solidFill>
            <a:ln w="9525" algn="ctr">
              <a:solidFill>
                <a:schemeClr val="tx1"/>
              </a:solidFill>
              <a:miter lim="800000"/>
              <a:headEnd/>
              <a:tailEnd/>
            </a:ln>
            <a:effectLst/>
          </p:spPr>
          <p:txBody>
            <a:bodyPr wrap="none" anchor="ctr"/>
            <a:lstStyle/>
            <a:p>
              <a:r>
                <a:rPr lang="zh-CN" altLang="en-US" sz="1400">
                  <a:latin typeface="Times New Roman" pitchFamily="18" charset="0"/>
                </a:rPr>
                <a:t>移位寄存器</a:t>
              </a:r>
            </a:p>
            <a:p>
              <a:r>
                <a:rPr lang="en-US" altLang="zh-CN" sz="1400">
                  <a:latin typeface="Times New Roman" pitchFamily="18" charset="0"/>
                </a:rPr>
                <a:t>UnTSR</a:t>
              </a:r>
            </a:p>
          </p:txBody>
        </p:sp>
        <p:sp>
          <p:nvSpPr>
            <p:cNvPr id="711726" name="Line 46"/>
            <p:cNvSpPr>
              <a:spLocks noChangeShapeType="1"/>
            </p:cNvSpPr>
            <p:nvPr/>
          </p:nvSpPr>
          <p:spPr bwMode="auto">
            <a:xfrm>
              <a:off x="4650" y="1290"/>
              <a:ext cx="0" cy="942"/>
            </a:xfrm>
            <a:prstGeom prst="line">
              <a:avLst/>
            </a:prstGeom>
            <a:noFill/>
            <a:ln w="38100">
              <a:solidFill>
                <a:schemeClr val="tx1"/>
              </a:solidFill>
              <a:round/>
              <a:headEnd type="triangle" w="med" len="med"/>
              <a:tailEnd type="triangle" w="med" len="med"/>
            </a:ln>
            <a:effectLst/>
          </p:spPr>
          <p:txBody>
            <a:bodyPr wrap="none" lIns="90000" tIns="46800" rIns="90000" bIns="46800" anchor="ctr"/>
            <a:lstStyle/>
            <a:p>
              <a:endParaRPr lang="zh-CN" altLang="en-US"/>
            </a:p>
          </p:txBody>
        </p:sp>
        <p:grpSp>
          <p:nvGrpSpPr>
            <p:cNvPr id="711727" name="Group 47"/>
            <p:cNvGrpSpPr>
              <a:grpSpLocks/>
            </p:cNvGrpSpPr>
            <p:nvPr/>
          </p:nvGrpSpPr>
          <p:grpSpPr bwMode="auto">
            <a:xfrm>
              <a:off x="271" y="784"/>
              <a:ext cx="2248" cy="1083"/>
              <a:chOff x="271" y="784"/>
              <a:chExt cx="2248" cy="1083"/>
            </a:xfrm>
          </p:grpSpPr>
          <p:sp>
            <p:nvSpPr>
              <p:cNvPr id="711728" name="Rectangle 48"/>
              <p:cNvSpPr>
                <a:spLocks noChangeArrowheads="1"/>
              </p:cNvSpPr>
              <p:nvPr/>
            </p:nvSpPr>
            <p:spPr bwMode="auto">
              <a:xfrm>
                <a:off x="904" y="790"/>
                <a:ext cx="1254" cy="1077"/>
              </a:xfrm>
              <a:prstGeom prst="rect">
                <a:avLst/>
              </a:prstGeom>
              <a:solidFill>
                <a:srgbClr val="FF9900"/>
              </a:solidFill>
              <a:ln w="9525" algn="ctr">
                <a:solidFill>
                  <a:schemeClr val="tx1"/>
                </a:solidFill>
                <a:miter lim="800000"/>
                <a:headEnd/>
                <a:tailEnd/>
              </a:ln>
              <a:effectLst/>
            </p:spPr>
            <p:txBody>
              <a:bodyPr wrap="none" anchor="ctr"/>
              <a:lstStyle/>
              <a:p>
                <a:endParaRPr lang="zh-CN" altLang="zh-CN" sz="1400" b="1">
                  <a:latin typeface="Times New Roman" pitchFamily="18" charset="0"/>
                </a:endParaRPr>
              </a:p>
            </p:txBody>
          </p:sp>
          <p:sp>
            <p:nvSpPr>
              <p:cNvPr id="711729" name="Text Box 49"/>
              <p:cNvSpPr txBox="1">
                <a:spLocks noChangeArrowheads="1"/>
              </p:cNvSpPr>
              <p:nvPr/>
            </p:nvSpPr>
            <p:spPr bwMode="auto">
              <a:xfrm>
                <a:off x="935" y="803"/>
                <a:ext cx="1217" cy="192"/>
              </a:xfrm>
              <a:prstGeom prst="rect">
                <a:avLst/>
              </a:prstGeom>
              <a:noFill/>
              <a:ln w="9525" algn="ctr">
                <a:noFill/>
                <a:miter lim="800000"/>
                <a:headEnd/>
                <a:tailEnd/>
              </a:ln>
              <a:effectLst/>
            </p:spPr>
            <p:txBody>
              <a:bodyPr>
                <a:spAutoFit/>
              </a:bodyPr>
              <a:lstStyle/>
              <a:p>
                <a:r>
                  <a:rPr lang="en-US" altLang="zh-CN" sz="1400">
                    <a:latin typeface="Times New Roman" pitchFamily="18" charset="0"/>
                  </a:rPr>
                  <a:t>MODEM</a:t>
                </a:r>
              </a:p>
            </p:txBody>
          </p:sp>
          <p:sp>
            <p:nvSpPr>
              <p:cNvPr id="711730" name="Rectangle 50"/>
              <p:cNvSpPr>
                <a:spLocks noChangeArrowheads="1"/>
              </p:cNvSpPr>
              <p:nvPr/>
            </p:nvSpPr>
            <p:spPr bwMode="auto">
              <a:xfrm>
                <a:off x="958" y="1024"/>
                <a:ext cx="1140" cy="356"/>
              </a:xfrm>
              <a:prstGeom prst="rect">
                <a:avLst/>
              </a:prstGeom>
              <a:solidFill>
                <a:srgbClr val="FFFFFF"/>
              </a:solidFill>
              <a:ln w="9525" algn="ctr">
                <a:solidFill>
                  <a:schemeClr val="tx1"/>
                </a:solidFill>
                <a:miter lim="800000"/>
                <a:headEnd/>
                <a:tailEnd/>
              </a:ln>
              <a:effectLst/>
            </p:spPr>
            <p:txBody>
              <a:bodyPr wrap="none" anchor="ctr"/>
              <a:lstStyle/>
              <a:p>
                <a:r>
                  <a:rPr lang="en-US" altLang="zh-CN" sz="1400">
                    <a:latin typeface="Times New Roman" pitchFamily="18" charset="0"/>
                  </a:rPr>
                  <a:t>Modem</a:t>
                </a:r>
                <a:r>
                  <a:rPr lang="zh-CN" altLang="en-US" sz="1400">
                    <a:latin typeface="Times New Roman" pitchFamily="18" charset="0"/>
                  </a:rPr>
                  <a:t>控制寄存器</a:t>
                </a:r>
              </a:p>
              <a:p>
                <a:r>
                  <a:rPr lang="en-US" altLang="zh-CN" sz="1400">
                    <a:latin typeface="Times New Roman" pitchFamily="18" charset="0"/>
                  </a:rPr>
                  <a:t>U1MCR</a:t>
                </a:r>
              </a:p>
            </p:txBody>
          </p:sp>
          <p:sp>
            <p:nvSpPr>
              <p:cNvPr id="711731" name="Rectangle 51"/>
              <p:cNvSpPr>
                <a:spLocks noChangeArrowheads="1"/>
              </p:cNvSpPr>
              <p:nvPr/>
            </p:nvSpPr>
            <p:spPr bwMode="auto">
              <a:xfrm>
                <a:off x="952" y="1428"/>
                <a:ext cx="1140" cy="356"/>
              </a:xfrm>
              <a:prstGeom prst="rect">
                <a:avLst/>
              </a:prstGeom>
              <a:solidFill>
                <a:srgbClr val="FFFFFF"/>
              </a:solidFill>
              <a:ln w="9525" algn="ctr">
                <a:solidFill>
                  <a:schemeClr val="tx1"/>
                </a:solidFill>
                <a:miter lim="800000"/>
                <a:headEnd/>
                <a:tailEnd/>
              </a:ln>
              <a:effectLst/>
            </p:spPr>
            <p:txBody>
              <a:bodyPr wrap="none" anchor="ctr"/>
              <a:lstStyle/>
              <a:p>
                <a:r>
                  <a:rPr lang="en-US" altLang="zh-CN" sz="1400">
                    <a:latin typeface="Times New Roman" pitchFamily="18" charset="0"/>
                  </a:rPr>
                  <a:t>Modem</a:t>
                </a:r>
                <a:r>
                  <a:rPr lang="zh-CN" altLang="en-US" sz="1400">
                    <a:latin typeface="Times New Roman" pitchFamily="18" charset="0"/>
                  </a:rPr>
                  <a:t>状态寄存器</a:t>
                </a:r>
              </a:p>
              <a:p>
                <a:r>
                  <a:rPr lang="en-US" altLang="zh-CN" sz="1400">
                    <a:latin typeface="Times New Roman" pitchFamily="18" charset="0"/>
                  </a:rPr>
                  <a:t>U1MSR</a:t>
                </a:r>
              </a:p>
            </p:txBody>
          </p:sp>
          <p:sp>
            <p:nvSpPr>
              <p:cNvPr id="711732" name="Text Box 52"/>
              <p:cNvSpPr txBox="1">
                <a:spLocks noChangeArrowheads="1"/>
              </p:cNvSpPr>
              <p:nvPr/>
            </p:nvSpPr>
            <p:spPr bwMode="auto">
              <a:xfrm>
                <a:off x="271" y="784"/>
                <a:ext cx="351" cy="195"/>
              </a:xfrm>
              <a:prstGeom prst="rect">
                <a:avLst/>
              </a:prstGeom>
              <a:noFill/>
              <a:ln w="9525" algn="ctr">
                <a:noFill/>
                <a:miter lim="800000"/>
                <a:headEnd/>
                <a:tailEnd/>
              </a:ln>
              <a:effectLst/>
            </p:spPr>
            <p:txBody>
              <a:bodyPr lIns="90000" tIns="46800" rIns="90000" bIns="46800">
                <a:spAutoFit/>
              </a:bodyPr>
              <a:lstStyle/>
              <a:p>
                <a:r>
                  <a:rPr lang="en-US" altLang="zh-CN" sz="1400">
                    <a:latin typeface="Times New Roman" pitchFamily="18" charset="0"/>
                  </a:rPr>
                  <a:t>CTS</a:t>
                </a:r>
              </a:p>
            </p:txBody>
          </p:sp>
          <p:sp>
            <p:nvSpPr>
              <p:cNvPr id="711733" name="Line 53"/>
              <p:cNvSpPr>
                <a:spLocks noChangeShapeType="1"/>
              </p:cNvSpPr>
              <p:nvPr/>
            </p:nvSpPr>
            <p:spPr bwMode="auto">
              <a:xfrm>
                <a:off x="576" y="882"/>
                <a:ext cx="324" cy="0"/>
              </a:xfrm>
              <a:prstGeom prst="line">
                <a:avLst/>
              </a:prstGeom>
              <a:noFill/>
              <a:ln w="9525">
                <a:solidFill>
                  <a:schemeClr val="tx1"/>
                </a:solidFill>
                <a:round/>
                <a:headEnd/>
                <a:tailEnd type="triangle" w="med" len="med"/>
              </a:ln>
              <a:effectLst/>
            </p:spPr>
            <p:txBody>
              <a:bodyPr wrap="none" lIns="90000" tIns="46800" rIns="90000" bIns="46800" anchor="ctr"/>
              <a:lstStyle/>
              <a:p>
                <a:endParaRPr lang="zh-CN" altLang="en-US"/>
              </a:p>
            </p:txBody>
          </p:sp>
          <p:sp>
            <p:nvSpPr>
              <p:cNvPr id="711734" name="Line 54"/>
              <p:cNvSpPr>
                <a:spLocks noChangeShapeType="1"/>
              </p:cNvSpPr>
              <p:nvPr/>
            </p:nvSpPr>
            <p:spPr bwMode="auto">
              <a:xfrm>
                <a:off x="581" y="1055"/>
                <a:ext cx="324" cy="0"/>
              </a:xfrm>
              <a:prstGeom prst="line">
                <a:avLst/>
              </a:prstGeom>
              <a:noFill/>
              <a:ln w="9525">
                <a:solidFill>
                  <a:schemeClr val="tx1"/>
                </a:solidFill>
                <a:round/>
                <a:headEnd/>
                <a:tailEnd type="triangle" w="med" len="med"/>
              </a:ln>
              <a:effectLst/>
            </p:spPr>
            <p:txBody>
              <a:bodyPr wrap="none" lIns="90000" tIns="46800" rIns="90000" bIns="46800" anchor="ctr"/>
              <a:lstStyle/>
              <a:p>
                <a:endParaRPr lang="zh-CN" altLang="en-US"/>
              </a:p>
            </p:txBody>
          </p:sp>
          <p:sp>
            <p:nvSpPr>
              <p:cNvPr id="711735" name="Line 55"/>
              <p:cNvSpPr>
                <a:spLocks noChangeShapeType="1"/>
              </p:cNvSpPr>
              <p:nvPr/>
            </p:nvSpPr>
            <p:spPr bwMode="auto">
              <a:xfrm>
                <a:off x="581" y="1241"/>
                <a:ext cx="324" cy="0"/>
              </a:xfrm>
              <a:prstGeom prst="line">
                <a:avLst/>
              </a:prstGeom>
              <a:noFill/>
              <a:ln w="9525">
                <a:solidFill>
                  <a:schemeClr val="tx1"/>
                </a:solidFill>
                <a:round/>
                <a:headEnd/>
                <a:tailEnd type="triangle" w="med" len="med"/>
              </a:ln>
              <a:effectLst/>
            </p:spPr>
            <p:txBody>
              <a:bodyPr wrap="none" lIns="90000" tIns="46800" rIns="90000" bIns="46800" anchor="ctr"/>
              <a:lstStyle/>
              <a:p>
                <a:endParaRPr lang="zh-CN" altLang="en-US"/>
              </a:p>
            </p:txBody>
          </p:sp>
          <p:sp>
            <p:nvSpPr>
              <p:cNvPr id="711736" name="Line 56"/>
              <p:cNvSpPr>
                <a:spLocks noChangeShapeType="1"/>
              </p:cNvSpPr>
              <p:nvPr/>
            </p:nvSpPr>
            <p:spPr bwMode="auto">
              <a:xfrm>
                <a:off x="586" y="1414"/>
                <a:ext cx="324" cy="0"/>
              </a:xfrm>
              <a:prstGeom prst="line">
                <a:avLst/>
              </a:prstGeom>
              <a:noFill/>
              <a:ln w="9525">
                <a:solidFill>
                  <a:schemeClr val="tx1"/>
                </a:solidFill>
                <a:round/>
                <a:headEnd/>
                <a:tailEnd type="triangle" w="med" len="med"/>
              </a:ln>
              <a:effectLst/>
            </p:spPr>
            <p:txBody>
              <a:bodyPr wrap="none" lIns="90000" tIns="46800" rIns="90000" bIns="46800" anchor="ctr"/>
              <a:lstStyle/>
              <a:p>
                <a:endParaRPr lang="zh-CN" altLang="en-US"/>
              </a:p>
            </p:txBody>
          </p:sp>
          <p:sp>
            <p:nvSpPr>
              <p:cNvPr id="711737" name="Line 57"/>
              <p:cNvSpPr>
                <a:spLocks noChangeShapeType="1"/>
              </p:cNvSpPr>
              <p:nvPr/>
            </p:nvSpPr>
            <p:spPr bwMode="auto">
              <a:xfrm>
                <a:off x="580" y="1600"/>
                <a:ext cx="324" cy="0"/>
              </a:xfrm>
              <a:prstGeom prst="line">
                <a:avLst/>
              </a:prstGeom>
              <a:noFill/>
              <a:ln w="9525">
                <a:solidFill>
                  <a:schemeClr val="tx1"/>
                </a:solidFill>
                <a:round/>
                <a:headEnd type="triangle" w="med" len="med"/>
                <a:tailEnd/>
              </a:ln>
              <a:effectLst/>
            </p:spPr>
            <p:txBody>
              <a:bodyPr wrap="none" lIns="90000" tIns="46800" rIns="90000" bIns="46800" anchor="ctr"/>
              <a:lstStyle/>
              <a:p>
                <a:endParaRPr lang="zh-CN" altLang="en-US"/>
              </a:p>
            </p:txBody>
          </p:sp>
          <p:sp>
            <p:nvSpPr>
              <p:cNvPr id="711738" name="Line 58"/>
              <p:cNvSpPr>
                <a:spLocks noChangeShapeType="1"/>
              </p:cNvSpPr>
              <p:nvPr/>
            </p:nvSpPr>
            <p:spPr bwMode="auto">
              <a:xfrm>
                <a:off x="585" y="1773"/>
                <a:ext cx="324" cy="0"/>
              </a:xfrm>
              <a:prstGeom prst="line">
                <a:avLst/>
              </a:prstGeom>
              <a:noFill/>
              <a:ln w="9525">
                <a:solidFill>
                  <a:schemeClr val="tx1"/>
                </a:solidFill>
                <a:round/>
                <a:headEnd type="triangle" w="med" len="med"/>
                <a:tailEnd/>
              </a:ln>
              <a:effectLst/>
            </p:spPr>
            <p:txBody>
              <a:bodyPr wrap="none" lIns="90000" tIns="46800" rIns="90000" bIns="46800" anchor="ctr"/>
              <a:lstStyle/>
              <a:p>
                <a:endParaRPr lang="zh-CN" altLang="en-US"/>
              </a:p>
            </p:txBody>
          </p:sp>
          <p:sp>
            <p:nvSpPr>
              <p:cNvPr id="711739" name="AutoShape 59"/>
              <p:cNvSpPr>
                <a:spLocks noChangeArrowheads="1"/>
              </p:cNvSpPr>
              <p:nvPr/>
            </p:nvSpPr>
            <p:spPr bwMode="auto">
              <a:xfrm>
                <a:off x="2093" y="1116"/>
                <a:ext cx="426" cy="145"/>
              </a:xfrm>
              <a:prstGeom prst="leftRightArrow">
                <a:avLst>
                  <a:gd name="adj1" fmla="val 50000"/>
                  <a:gd name="adj2" fmla="val 58759"/>
                </a:avLst>
              </a:prstGeom>
              <a:solidFill>
                <a:srgbClr val="FFFFFF"/>
              </a:solidFill>
              <a:ln w="9525" algn="ctr">
                <a:solidFill>
                  <a:schemeClr val="tx1"/>
                </a:solidFill>
                <a:miter lim="800000"/>
                <a:headEnd/>
                <a:tailEnd/>
              </a:ln>
              <a:effectLst/>
            </p:spPr>
            <p:txBody>
              <a:bodyPr wrap="none" lIns="90000" tIns="46800" rIns="90000" bIns="46800" anchor="ctr"/>
              <a:lstStyle/>
              <a:p>
                <a:endParaRPr lang="zh-CN" altLang="en-US"/>
              </a:p>
            </p:txBody>
          </p:sp>
          <p:sp>
            <p:nvSpPr>
              <p:cNvPr id="711740" name="AutoShape 60"/>
              <p:cNvSpPr>
                <a:spLocks noChangeArrowheads="1"/>
              </p:cNvSpPr>
              <p:nvPr/>
            </p:nvSpPr>
            <p:spPr bwMode="auto">
              <a:xfrm>
                <a:off x="2092" y="1559"/>
                <a:ext cx="426" cy="145"/>
              </a:xfrm>
              <a:prstGeom prst="leftRightArrow">
                <a:avLst>
                  <a:gd name="adj1" fmla="val 50000"/>
                  <a:gd name="adj2" fmla="val 58759"/>
                </a:avLst>
              </a:prstGeom>
              <a:solidFill>
                <a:srgbClr val="FFFFFF"/>
              </a:solidFill>
              <a:ln w="9525" algn="ctr">
                <a:solidFill>
                  <a:schemeClr val="tx1"/>
                </a:solidFill>
                <a:miter lim="800000"/>
                <a:headEnd/>
                <a:tailEnd/>
              </a:ln>
              <a:effectLst/>
            </p:spPr>
            <p:txBody>
              <a:bodyPr wrap="none" lIns="90000" tIns="46800" rIns="90000" bIns="46800" anchor="ctr"/>
              <a:lstStyle/>
              <a:p>
                <a:endParaRPr lang="zh-CN" altLang="en-US"/>
              </a:p>
            </p:txBody>
          </p:sp>
          <p:sp>
            <p:nvSpPr>
              <p:cNvPr id="711741" name="Text Box 61"/>
              <p:cNvSpPr txBox="1">
                <a:spLocks noChangeArrowheads="1"/>
              </p:cNvSpPr>
              <p:nvPr/>
            </p:nvSpPr>
            <p:spPr bwMode="auto">
              <a:xfrm>
                <a:off x="282" y="950"/>
                <a:ext cx="351" cy="195"/>
              </a:xfrm>
              <a:prstGeom prst="rect">
                <a:avLst/>
              </a:prstGeom>
              <a:noFill/>
              <a:ln w="9525" algn="ctr">
                <a:noFill/>
                <a:miter lim="800000"/>
                <a:headEnd/>
                <a:tailEnd/>
              </a:ln>
              <a:effectLst/>
            </p:spPr>
            <p:txBody>
              <a:bodyPr lIns="90000" tIns="46800" rIns="90000" bIns="46800">
                <a:spAutoFit/>
              </a:bodyPr>
              <a:lstStyle/>
              <a:p>
                <a:r>
                  <a:rPr lang="en-US" altLang="zh-CN" sz="1400">
                    <a:latin typeface="Times New Roman" pitchFamily="18" charset="0"/>
                  </a:rPr>
                  <a:t>DSR</a:t>
                </a:r>
              </a:p>
            </p:txBody>
          </p:sp>
          <p:sp>
            <p:nvSpPr>
              <p:cNvPr id="711742" name="Text Box 62"/>
              <p:cNvSpPr txBox="1">
                <a:spLocks noChangeArrowheads="1"/>
              </p:cNvSpPr>
              <p:nvPr/>
            </p:nvSpPr>
            <p:spPr bwMode="auto">
              <a:xfrm>
                <a:off x="276" y="1302"/>
                <a:ext cx="351" cy="195"/>
              </a:xfrm>
              <a:prstGeom prst="rect">
                <a:avLst/>
              </a:prstGeom>
              <a:noFill/>
              <a:ln w="9525" algn="ctr">
                <a:noFill/>
                <a:miter lim="800000"/>
                <a:headEnd/>
                <a:tailEnd/>
              </a:ln>
              <a:effectLst/>
            </p:spPr>
            <p:txBody>
              <a:bodyPr lIns="90000" tIns="46800" rIns="90000" bIns="46800">
                <a:spAutoFit/>
              </a:bodyPr>
              <a:lstStyle/>
              <a:p>
                <a:r>
                  <a:rPr lang="en-US" altLang="zh-CN" sz="1400">
                    <a:latin typeface="Times New Roman" pitchFamily="18" charset="0"/>
                  </a:rPr>
                  <a:t>DCD</a:t>
                </a:r>
              </a:p>
            </p:txBody>
          </p:sp>
          <p:sp>
            <p:nvSpPr>
              <p:cNvPr id="711743" name="Text Box 63"/>
              <p:cNvSpPr txBox="1">
                <a:spLocks noChangeArrowheads="1"/>
              </p:cNvSpPr>
              <p:nvPr/>
            </p:nvSpPr>
            <p:spPr bwMode="auto">
              <a:xfrm>
                <a:off x="271" y="1472"/>
                <a:ext cx="351" cy="195"/>
              </a:xfrm>
              <a:prstGeom prst="rect">
                <a:avLst/>
              </a:prstGeom>
              <a:noFill/>
              <a:ln w="9525" algn="ctr">
                <a:noFill/>
                <a:miter lim="800000"/>
                <a:headEnd/>
                <a:tailEnd/>
              </a:ln>
              <a:effectLst/>
            </p:spPr>
            <p:txBody>
              <a:bodyPr lIns="90000" tIns="46800" rIns="90000" bIns="46800">
                <a:spAutoFit/>
              </a:bodyPr>
              <a:lstStyle/>
              <a:p>
                <a:r>
                  <a:rPr lang="en-US" altLang="zh-CN" sz="1400">
                    <a:latin typeface="Times New Roman" pitchFamily="18" charset="0"/>
                  </a:rPr>
                  <a:t>DTR</a:t>
                </a:r>
              </a:p>
            </p:txBody>
          </p:sp>
          <p:sp>
            <p:nvSpPr>
              <p:cNvPr id="711744" name="Text Box 64"/>
              <p:cNvSpPr txBox="1">
                <a:spLocks noChangeArrowheads="1"/>
              </p:cNvSpPr>
              <p:nvPr/>
            </p:nvSpPr>
            <p:spPr bwMode="auto">
              <a:xfrm>
                <a:off x="312" y="1140"/>
                <a:ext cx="351" cy="195"/>
              </a:xfrm>
              <a:prstGeom prst="rect">
                <a:avLst/>
              </a:prstGeom>
              <a:noFill/>
              <a:ln w="9525" algn="ctr">
                <a:noFill/>
                <a:miter lim="800000"/>
                <a:headEnd/>
                <a:tailEnd/>
              </a:ln>
              <a:effectLst/>
            </p:spPr>
            <p:txBody>
              <a:bodyPr lIns="90000" tIns="46800" rIns="90000" bIns="46800">
                <a:spAutoFit/>
              </a:bodyPr>
              <a:lstStyle/>
              <a:p>
                <a:r>
                  <a:rPr lang="en-US" altLang="zh-CN" sz="1400">
                    <a:latin typeface="Times New Roman" pitchFamily="18" charset="0"/>
                  </a:rPr>
                  <a:t>RI</a:t>
                </a:r>
              </a:p>
            </p:txBody>
          </p:sp>
          <p:sp>
            <p:nvSpPr>
              <p:cNvPr id="711745" name="Text Box 65"/>
              <p:cNvSpPr txBox="1">
                <a:spLocks noChangeArrowheads="1"/>
              </p:cNvSpPr>
              <p:nvPr/>
            </p:nvSpPr>
            <p:spPr bwMode="auto">
              <a:xfrm>
                <a:off x="271" y="1658"/>
                <a:ext cx="351" cy="195"/>
              </a:xfrm>
              <a:prstGeom prst="rect">
                <a:avLst/>
              </a:prstGeom>
              <a:noFill/>
              <a:ln w="9525" algn="ctr">
                <a:noFill/>
                <a:miter lim="800000"/>
                <a:headEnd/>
                <a:tailEnd/>
              </a:ln>
              <a:effectLst/>
            </p:spPr>
            <p:txBody>
              <a:bodyPr lIns="90000" tIns="46800" rIns="90000" bIns="46800">
                <a:spAutoFit/>
              </a:bodyPr>
              <a:lstStyle/>
              <a:p>
                <a:r>
                  <a:rPr lang="en-US" altLang="zh-CN" sz="1400">
                    <a:latin typeface="Times New Roman" pitchFamily="18" charset="0"/>
                  </a:rPr>
                  <a:t>RTS</a:t>
                </a:r>
              </a:p>
            </p:txBody>
          </p:sp>
        </p:grpSp>
        <p:sp>
          <p:nvSpPr>
            <p:cNvPr id="711746" name="AutoShape 66"/>
            <p:cNvSpPr>
              <a:spLocks noChangeArrowheads="1"/>
            </p:cNvSpPr>
            <p:nvPr/>
          </p:nvSpPr>
          <p:spPr bwMode="auto">
            <a:xfrm>
              <a:off x="2421" y="609"/>
              <a:ext cx="378" cy="3177"/>
            </a:xfrm>
            <a:prstGeom prst="upDownArrow">
              <a:avLst>
                <a:gd name="adj1" fmla="val 46565"/>
                <a:gd name="adj2" fmla="val 77783"/>
              </a:avLst>
            </a:prstGeom>
            <a:solidFill>
              <a:srgbClr val="CC99FF"/>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r>
                <a:rPr lang="en-US" altLang="zh-CN" sz="1600" b="1">
                  <a:latin typeface="Times New Roman" pitchFamily="18" charset="0"/>
                </a:rPr>
                <a:t>V</a:t>
              </a:r>
            </a:p>
            <a:p>
              <a:r>
                <a:rPr lang="en-US" altLang="zh-CN" sz="1600" b="1">
                  <a:latin typeface="Times New Roman" pitchFamily="18" charset="0"/>
                </a:rPr>
                <a:t>P</a:t>
              </a:r>
            </a:p>
            <a:p>
              <a:r>
                <a:rPr lang="en-US" altLang="zh-CN" sz="1600" b="1">
                  <a:latin typeface="Times New Roman" pitchFamily="18" charset="0"/>
                </a:rPr>
                <a:t>B</a:t>
              </a:r>
            </a:p>
            <a:p>
              <a:r>
                <a:rPr lang="zh-CN" altLang="en-US" sz="1600" b="1">
                  <a:latin typeface="Times New Roman" pitchFamily="18" charset="0"/>
                </a:rPr>
                <a:t>总</a:t>
              </a:r>
            </a:p>
            <a:p>
              <a:r>
                <a:rPr lang="zh-CN" altLang="en-US" sz="1600" b="1">
                  <a:latin typeface="Times New Roman" pitchFamily="18" charset="0"/>
                </a:rPr>
                <a:t>线</a:t>
              </a:r>
            </a:p>
          </p:txBody>
        </p:sp>
        <p:sp>
          <p:nvSpPr>
            <p:cNvPr id="711747" name="Line 67"/>
            <p:cNvSpPr>
              <a:spLocks noChangeShapeType="1"/>
            </p:cNvSpPr>
            <p:nvPr/>
          </p:nvSpPr>
          <p:spPr bwMode="auto">
            <a:xfrm>
              <a:off x="4080" y="1146"/>
              <a:ext cx="174" cy="0"/>
            </a:xfrm>
            <a:prstGeom prst="line">
              <a:avLst/>
            </a:prstGeom>
            <a:noFill/>
            <a:ln w="9525">
              <a:solidFill>
                <a:schemeClr val="tx1"/>
              </a:solidFill>
              <a:round/>
              <a:headEnd/>
              <a:tailEnd type="triangle" w="med" len="med"/>
            </a:ln>
            <a:effectLst/>
          </p:spPr>
          <p:txBody>
            <a:bodyPr wrap="none" anchor="ctr"/>
            <a:lstStyle/>
            <a:p>
              <a:endParaRPr lang="zh-CN" altLang="en-US"/>
            </a:p>
          </p:txBody>
        </p:sp>
      </p:grpSp>
      <p:sp>
        <p:nvSpPr>
          <p:cNvPr id="711748" name="Rectangle 68"/>
          <p:cNvSpPr>
            <a:spLocks noChangeArrowheads="1"/>
          </p:cNvSpPr>
          <p:nvPr/>
        </p:nvSpPr>
        <p:spPr bwMode="auto">
          <a:xfrm>
            <a:off x="1911351" y="1525588"/>
            <a:ext cx="3248025" cy="1905000"/>
          </a:xfrm>
          <a:prstGeom prst="rect">
            <a:avLst/>
          </a:prstGeom>
          <a:noFill/>
          <a:ln w="19050" algn="ctr">
            <a:solidFill>
              <a:srgbClr val="FF0000"/>
            </a:solidFill>
            <a:miter lim="800000"/>
            <a:headEnd/>
            <a:tailEnd/>
          </a:ln>
          <a:effectLst/>
        </p:spPr>
        <p:txBody>
          <a:bodyPr wrap="none" anchor="ctr"/>
          <a:lstStyle/>
          <a:p>
            <a:endParaRPr lang="zh-CN" altLang="en-US"/>
          </a:p>
        </p:txBody>
      </p:sp>
      <p:sp>
        <p:nvSpPr>
          <p:cNvPr id="711749" name="AutoShape 69"/>
          <p:cNvSpPr>
            <a:spLocks noChangeArrowheads="1"/>
          </p:cNvSpPr>
          <p:nvPr/>
        </p:nvSpPr>
        <p:spPr bwMode="auto">
          <a:xfrm>
            <a:off x="973137" y="3558321"/>
            <a:ext cx="1895475" cy="609600"/>
          </a:xfrm>
          <a:prstGeom prst="wedgeRectCallout">
            <a:avLst>
              <a:gd name="adj1" fmla="val 58322"/>
              <a:gd name="adj2" fmla="val -103686"/>
            </a:avLst>
          </a:prstGeom>
          <a:solidFill>
            <a:srgbClr val="CCECFF"/>
          </a:solidFill>
          <a:ln w="9525" algn="ctr">
            <a:solidFill>
              <a:schemeClr val="tx1"/>
            </a:solidFill>
            <a:miter lim="800000"/>
            <a:headEnd/>
            <a:tailEnd/>
          </a:ln>
          <a:effectLst/>
        </p:spPr>
        <p:txBody>
          <a:bodyPr anchor="ctr"/>
          <a:lstStyle/>
          <a:p>
            <a:r>
              <a:rPr lang="zh-CN" altLang="en-US" sz="1600">
                <a:latin typeface="Times New Roman" pitchFamily="18" charset="0"/>
                <a:ea typeface="楷体_GB2312" pitchFamily="49" charset="-122"/>
              </a:rPr>
              <a:t>只有</a:t>
            </a:r>
            <a:r>
              <a:rPr lang="en-US" altLang="zh-CN" sz="1600">
                <a:latin typeface="Times New Roman" pitchFamily="18" charset="0"/>
                <a:ea typeface="楷体_GB2312" pitchFamily="49" charset="-122"/>
              </a:rPr>
              <a:t>UART1</a:t>
            </a:r>
            <a:r>
              <a:rPr lang="zh-CN" altLang="en-US" sz="1600">
                <a:latin typeface="Times New Roman" pitchFamily="18" charset="0"/>
                <a:ea typeface="楷体_GB2312" pitchFamily="49" charset="-122"/>
              </a:rPr>
              <a:t>才有</a:t>
            </a:r>
            <a:r>
              <a:rPr lang="en-US" altLang="zh-CN" sz="1600">
                <a:latin typeface="Times New Roman" pitchFamily="18" charset="0"/>
                <a:ea typeface="楷体_GB2312" pitchFamily="49" charset="-122"/>
              </a:rPr>
              <a:t>Modem</a:t>
            </a:r>
            <a:r>
              <a:rPr lang="zh-CN" altLang="en-US" sz="1600">
                <a:latin typeface="Times New Roman" pitchFamily="18" charset="0"/>
                <a:ea typeface="楷体_GB2312" pitchFamily="49" charset="-122"/>
              </a:rPr>
              <a:t>接口</a:t>
            </a:r>
          </a:p>
        </p:txBody>
      </p:sp>
      <p:sp>
        <p:nvSpPr>
          <p:cNvPr id="711750" name="Rectangle 70"/>
          <p:cNvSpPr>
            <a:spLocks noChangeArrowheads="1"/>
          </p:cNvSpPr>
          <p:nvPr/>
        </p:nvSpPr>
        <p:spPr bwMode="auto">
          <a:xfrm>
            <a:off x="2211388" y="620713"/>
            <a:ext cx="777240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ea typeface="楷体_GB2312" pitchFamily="49" charset="-122"/>
              </a:rPr>
              <a:t>UART</a:t>
            </a:r>
            <a:r>
              <a:rPr lang="zh-CN" altLang="en-US" sz="3200">
                <a:latin typeface="Times New Roman" pitchFamily="18" charset="0"/>
                <a:ea typeface="楷体_GB2312" pitchFamily="49" charset="-122"/>
              </a:rPr>
              <a:t>结构图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11750"/>
                                        </p:tgtEl>
                                        <p:attrNameLst>
                                          <p:attrName>style.visibility</p:attrName>
                                        </p:attrNameLst>
                                      </p:cBhvr>
                                      <p:to>
                                        <p:strVal val="visible"/>
                                      </p:to>
                                    </p:set>
                                    <p:anim calcmode="lin" valueType="num">
                                      <p:cBhvr additive="base">
                                        <p:cTn id="7" dur="500" fill="hold"/>
                                        <p:tgtEl>
                                          <p:spTgt spid="711750"/>
                                        </p:tgtEl>
                                        <p:attrNameLst>
                                          <p:attrName>ppt_x</p:attrName>
                                        </p:attrNameLst>
                                      </p:cBhvr>
                                      <p:tavLst>
                                        <p:tav tm="0">
                                          <p:val>
                                            <p:strVal val="1+#ppt_w/2"/>
                                          </p:val>
                                        </p:tav>
                                        <p:tav tm="100000">
                                          <p:val>
                                            <p:strVal val="#ppt_x"/>
                                          </p:val>
                                        </p:tav>
                                      </p:tavLst>
                                    </p:anim>
                                    <p:anim calcmode="lin" valueType="num">
                                      <p:cBhvr additive="base">
                                        <p:cTn id="8" dur="500" fill="hold"/>
                                        <p:tgtEl>
                                          <p:spTgt spid="71175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5" presetClass="entr" presetSubtype="0" fill="hold" nodeType="afterEffect">
                                  <p:stCondLst>
                                    <p:cond delay="0"/>
                                  </p:stCondLst>
                                  <p:childTnLst>
                                    <p:set>
                                      <p:cBhvr>
                                        <p:cTn id="11" dur="1" fill="hold">
                                          <p:stCondLst>
                                            <p:cond delay="0"/>
                                          </p:stCondLst>
                                        </p:cTn>
                                        <p:tgtEl>
                                          <p:spTgt spid="711682"/>
                                        </p:tgtEl>
                                        <p:attrNameLst>
                                          <p:attrName>style.visibility</p:attrName>
                                        </p:attrNameLst>
                                      </p:cBhvr>
                                      <p:to>
                                        <p:strVal val="visible"/>
                                      </p:to>
                                    </p:set>
                                    <p:anim calcmode="lin" valueType="num">
                                      <p:cBhvr>
                                        <p:cTn id="12" dur="1000" fill="hold"/>
                                        <p:tgtEl>
                                          <p:spTgt spid="711682"/>
                                        </p:tgtEl>
                                        <p:attrNameLst>
                                          <p:attrName>ppt_w</p:attrName>
                                        </p:attrNameLst>
                                      </p:cBhvr>
                                      <p:tavLst>
                                        <p:tav tm="0">
                                          <p:val>
                                            <p:fltVal val="0"/>
                                          </p:val>
                                        </p:tav>
                                        <p:tav tm="100000">
                                          <p:val>
                                            <p:strVal val="#ppt_w"/>
                                          </p:val>
                                        </p:tav>
                                      </p:tavLst>
                                    </p:anim>
                                    <p:anim calcmode="lin" valueType="num">
                                      <p:cBhvr>
                                        <p:cTn id="13" dur="1000" fill="hold"/>
                                        <p:tgtEl>
                                          <p:spTgt spid="711682"/>
                                        </p:tgtEl>
                                        <p:attrNameLst>
                                          <p:attrName>ppt_h</p:attrName>
                                        </p:attrNameLst>
                                      </p:cBhvr>
                                      <p:tavLst>
                                        <p:tav tm="0">
                                          <p:val>
                                            <p:fltVal val="0"/>
                                          </p:val>
                                        </p:tav>
                                        <p:tav tm="100000">
                                          <p:val>
                                            <p:strVal val="#ppt_h"/>
                                          </p:val>
                                        </p:tav>
                                      </p:tavLst>
                                    </p:anim>
                                    <p:anim calcmode="lin" valueType="num">
                                      <p:cBhvr>
                                        <p:cTn id="14" dur="1000" fill="hold"/>
                                        <p:tgtEl>
                                          <p:spTgt spid="711682"/>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711682"/>
                                        </p:tgtEl>
                                        <p:attrNameLst>
                                          <p:attrName>ppt_y</p:attrName>
                                        </p:attrNameLst>
                                      </p:cBhvr>
                                      <p:tavLst>
                                        <p:tav tm="0" fmla="#ppt_y+(sin(-2*pi*(1-$))*-#ppt_x+cos(-2*pi*(1-$))*(1-#ppt_y))*(1-$)">
                                          <p:val>
                                            <p:fltVal val="0"/>
                                          </p:val>
                                        </p:tav>
                                        <p:tav tm="100000">
                                          <p:val>
                                            <p:fltVal val="1"/>
                                          </p:val>
                                        </p:tav>
                                      </p:tavLst>
                                    </p:anim>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711748"/>
                                        </p:tgtEl>
                                        <p:attrNameLst>
                                          <p:attrName>style.visibility</p:attrName>
                                        </p:attrNameLst>
                                      </p:cBhvr>
                                      <p:to>
                                        <p:strVal val="visible"/>
                                      </p:to>
                                    </p:set>
                                    <p:animEffect transition="in" filter="dissolve">
                                      <p:cBhvr>
                                        <p:cTn id="19" dur="500"/>
                                        <p:tgtEl>
                                          <p:spTgt spid="711748"/>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711749"/>
                                        </p:tgtEl>
                                        <p:attrNameLst>
                                          <p:attrName>style.visibility</p:attrName>
                                        </p:attrNameLst>
                                      </p:cBhvr>
                                      <p:to>
                                        <p:strVal val="visible"/>
                                      </p:to>
                                    </p:set>
                                    <p:animEffect transition="in" filter="dissolve">
                                      <p:cBhvr>
                                        <p:cTn id="22" dur="500"/>
                                        <p:tgtEl>
                                          <p:spTgt spid="711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1748" grpId="0" animBg="1"/>
      <p:bldP spid="711749" grpId="0" animBg="1"/>
      <p:bldP spid="711750"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2706" name="Group 2"/>
          <p:cNvGrpSpPr>
            <a:grpSpLocks/>
          </p:cNvGrpSpPr>
          <p:nvPr/>
        </p:nvGrpSpPr>
        <p:grpSpPr bwMode="auto">
          <a:xfrm>
            <a:off x="4303713" y="1271589"/>
            <a:ext cx="5037138" cy="3914775"/>
            <a:chOff x="2532" y="1536"/>
            <a:chExt cx="3173" cy="2466"/>
          </a:xfrm>
        </p:grpSpPr>
        <p:sp>
          <p:nvSpPr>
            <p:cNvPr id="712707" name="AutoShape 3"/>
            <p:cNvSpPr>
              <a:spLocks noChangeArrowheads="1"/>
            </p:cNvSpPr>
            <p:nvPr/>
          </p:nvSpPr>
          <p:spPr bwMode="auto">
            <a:xfrm>
              <a:off x="2934" y="3252"/>
              <a:ext cx="330" cy="162"/>
            </a:xfrm>
            <a:prstGeom prst="rightArrow">
              <a:avLst>
                <a:gd name="adj1" fmla="val 50000"/>
                <a:gd name="adj2" fmla="val 50926"/>
              </a:avLst>
            </a:prstGeom>
            <a:solidFill>
              <a:schemeClr val="bg1"/>
            </a:solidFill>
            <a:ln w="9525" algn="ctr">
              <a:solidFill>
                <a:schemeClr val="tx1"/>
              </a:solidFill>
              <a:miter lim="800000"/>
              <a:headEnd/>
              <a:tailEnd/>
            </a:ln>
            <a:effectLst/>
          </p:spPr>
          <p:txBody>
            <a:bodyPr wrap="none" lIns="90000" tIns="46800" rIns="90000" bIns="46800" anchor="ctr"/>
            <a:lstStyle/>
            <a:p>
              <a:endParaRPr lang="zh-CN" altLang="en-US"/>
            </a:p>
          </p:txBody>
        </p:sp>
        <p:sp>
          <p:nvSpPr>
            <p:cNvPr id="712708" name="AutoShape 4"/>
            <p:cNvSpPr>
              <a:spLocks noChangeArrowheads="1"/>
            </p:cNvSpPr>
            <p:nvPr/>
          </p:nvSpPr>
          <p:spPr bwMode="auto">
            <a:xfrm>
              <a:off x="2787" y="2577"/>
              <a:ext cx="378" cy="1425"/>
            </a:xfrm>
            <a:prstGeom prst="upDownArrow">
              <a:avLst>
                <a:gd name="adj1" fmla="val 49731"/>
                <a:gd name="adj2" fmla="val 53965"/>
              </a:avLst>
            </a:prstGeom>
            <a:solidFill>
              <a:srgbClr val="CC99FF"/>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r>
                <a:rPr lang="en-US" altLang="zh-CN" sz="1400" b="1">
                  <a:latin typeface="Times New Roman" pitchFamily="18" charset="0"/>
                </a:rPr>
                <a:t>V</a:t>
              </a:r>
            </a:p>
            <a:p>
              <a:r>
                <a:rPr lang="en-US" altLang="zh-CN" sz="1400" b="1">
                  <a:latin typeface="Times New Roman" pitchFamily="18" charset="0"/>
                </a:rPr>
                <a:t>P</a:t>
              </a:r>
            </a:p>
            <a:p>
              <a:r>
                <a:rPr lang="en-US" altLang="zh-CN" sz="1400" b="1">
                  <a:latin typeface="Times New Roman" pitchFamily="18" charset="0"/>
                </a:rPr>
                <a:t>B</a:t>
              </a:r>
            </a:p>
            <a:p>
              <a:r>
                <a:rPr lang="zh-CN" altLang="en-US" sz="1400" b="1">
                  <a:latin typeface="Times New Roman" pitchFamily="18" charset="0"/>
                </a:rPr>
                <a:t>总</a:t>
              </a:r>
            </a:p>
            <a:p>
              <a:r>
                <a:rPr lang="zh-CN" altLang="en-US" sz="1400" b="1">
                  <a:latin typeface="Times New Roman" pitchFamily="18" charset="0"/>
                </a:rPr>
                <a:t>线</a:t>
              </a:r>
            </a:p>
          </p:txBody>
        </p:sp>
        <p:sp>
          <p:nvSpPr>
            <p:cNvPr id="712709" name="Rectangle 5"/>
            <p:cNvSpPr>
              <a:spLocks noChangeArrowheads="1"/>
            </p:cNvSpPr>
            <p:nvPr/>
          </p:nvSpPr>
          <p:spPr bwMode="auto">
            <a:xfrm>
              <a:off x="2532" y="2292"/>
              <a:ext cx="870" cy="282"/>
            </a:xfrm>
            <a:prstGeom prst="rect">
              <a:avLst/>
            </a:prstGeom>
            <a:solidFill>
              <a:schemeClr val="accent1"/>
            </a:solidFill>
            <a:ln w="9525" algn="ctr">
              <a:solidFill>
                <a:schemeClr val="tx1"/>
              </a:solidFill>
              <a:miter lim="800000"/>
              <a:headEnd/>
              <a:tailEnd/>
            </a:ln>
            <a:effectLst/>
          </p:spPr>
          <p:txBody>
            <a:bodyPr wrap="none" anchor="ctr"/>
            <a:lstStyle/>
            <a:p>
              <a:r>
                <a:rPr lang="en-US" altLang="zh-CN" sz="1400">
                  <a:latin typeface="Times New Roman" pitchFamily="18" charset="0"/>
                  <a:ea typeface="楷体_GB2312" pitchFamily="49" charset="-122"/>
                </a:rPr>
                <a:t>AHB-VPB</a:t>
              </a:r>
              <a:r>
                <a:rPr lang="zh-CN" altLang="en-US" sz="1400">
                  <a:latin typeface="Times New Roman" pitchFamily="18" charset="0"/>
                  <a:ea typeface="楷体_GB2312" pitchFamily="49" charset="-122"/>
                </a:rPr>
                <a:t>桥</a:t>
              </a:r>
            </a:p>
          </p:txBody>
        </p:sp>
        <p:sp>
          <p:nvSpPr>
            <p:cNvPr id="712710" name="Rectangle 6"/>
            <p:cNvSpPr>
              <a:spLocks noChangeArrowheads="1"/>
            </p:cNvSpPr>
            <p:nvPr/>
          </p:nvSpPr>
          <p:spPr bwMode="auto">
            <a:xfrm>
              <a:off x="4368" y="1950"/>
              <a:ext cx="732" cy="288"/>
            </a:xfrm>
            <a:prstGeom prst="rect">
              <a:avLst/>
            </a:prstGeom>
            <a:solidFill>
              <a:srgbClr val="FFCC99"/>
            </a:solidFill>
            <a:ln w="9525" algn="ctr">
              <a:solidFill>
                <a:schemeClr val="tx1"/>
              </a:solidFill>
              <a:miter lim="800000"/>
              <a:headEnd/>
              <a:tailEnd/>
            </a:ln>
            <a:effectLst/>
          </p:spPr>
          <p:txBody>
            <a:bodyPr wrap="none" anchor="ctr"/>
            <a:lstStyle/>
            <a:p>
              <a:r>
                <a:rPr lang="en-US" altLang="zh-CN" sz="1600">
                  <a:latin typeface="Times New Roman" pitchFamily="18" charset="0"/>
                </a:rPr>
                <a:t>ARM7</a:t>
              </a:r>
            </a:p>
          </p:txBody>
        </p:sp>
        <p:grpSp>
          <p:nvGrpSpPr>
            <p:cNvPr id="712711" name="Group 7"/>
            <p:cNvGrpSpPr>
              <a:grpSpLocks/>
            </p:cNvGrpSpPr>
            <p:nvPr/>
          </p:nvGrpSpPr>
          <p:grpSpPr bwMode="auto">
            <a:xfrm>
              <a:off x="3269" y="3077"/>
              <a:ext cx="2436" cy="516"/>
              <a:chOff x="2255" y="2915"/>
              <a:chExt cx="2436" cy="516"/>
            </a:xfrm>
          </p:grpSpPr>
          <p:sp>
            <p:nvSpPr>
              <p:cNvPr id="712712" name="Rectangle 8"/>
              <p:cNvSpPr>
                <a:spLocks noChangeArrowheads="1"/>
              </p:cNvSpPr>
              <p:nvPr/>
            </p:nvSpPr>
            <p:spPr bwMode="auto">
              <a:xfrm>
                <a:off x="2255" y="2915"/>
                <a:ext cx="1926" cy="516"/>
              </a:xfrm>
              <a:prstGeom prst="rect">
                <a:avLst/>
              </a:prstGeom>
              <a:solidFill>
                <a:srgbClr val="FFFF99"/>
              </a:solidFill>
              <a:ln w="9525" algn="ctr">
                <a:solidFill>
                  <a:schemeClr val="tx1"/>
                </a:solidFill>
                <a:miter lim="800000"/>
                <a:headEnd/>
                <a:tailEnd/>
              </a:ln>
              <a:effectLst/>
            </p:spPr>
            <p:txBody>
              <a:bodyPr wrap="none" anchor="ctr"/>
              <a:lstStyle/>
              <a:p>
                <a:endParaRPr lang="en-US" altLang="zh-CN" sz="1400">
                  <a:latin typeface="Times New Roman" pitchFamily="18" charset="0"/>
                </a:endParaRPr>
              </a:p>
              <a:p>
                <a:endParaRPr lang="en-US" altLang="zh-CN" sz="1400">
                  <a:latin typeface="Times New Roman" pitchFamily="18" charset="0"/>
                </a:endParaRPr>
              </a:p>
              <a:p>
                <a:endParaRPr lang="en-US" altLang="zh-CN" sz="1400">
                  <a:latin typeface="Times New Roman" pitchFamily="18" charset="0"/>
                </a:endParaRPr>
              </a:p>
            </p:txBody>
          </p:sp>
          <p:sp>
            <p:nvSpPr>
              <p:cNvPr id="712713" name="Rectangle 9"/>
              <p:cNvSpPr>
                <a:spLocks noChangeArrowheads="1"/>
              </p:cNvSpPr>
              <p:nvPr/>
            </p:nvSpPr>
            <p:spPr bwMode="auto">
              <a:xfrm>
                <a:off x="2802" y="2917"/>
                <a:ext cx="925" cy="192"/>
              </a:xfrm>
              <a:prstGeom prst="rect">
                <a:avLst/>
              </a:prstGeom>
              <a:noFill/>
              <a:ln w="9525" algn="ctr">
                <a:noFill/>
                <a:miter lim="800000"/>
                <a:headEnd/>
                <a:tailEnd/>
              </a:ln>
              <a:effectLst/>
            </p:spPr>
            <p:txBody>
              <a:bodyPr wrap="none">
                <a:spAutoFit/>
              </a:bodyPr>
              <a:lstStyle/>
              <a:p>
                <a:r>
                  <a:rPr lang="en-US" altLang="zh-CN" sz="1400">
                    <a:latin typeface="Times New Roman" pitchFamily="18" charset="0"/>
                  </a:rPr>
                  <a:t>UARTn</a:t>
                </a:r>
                <a:r>
                  <a:rPr lang="zh-CN" altLang="en-US" sz="1400">
                    <a:latin typeface="Times New Roman" pitchFamily="18" charset="0"/>
                  </a:rPr>
                  <a:t>发送单元</a:t>
                </a:r>
              </a:p>
            </p:txBody>
          </p:sp>
          <p:sp>
            <p:nvSpPr>
              <p:cNvPr id="712714" name="Text Box 10"/>
              <p:cNvSpPr txBox="1">
                <a:spLocks noChangeArrowheads="1"/>
              </p:cNvSpPr>
              <p:nvPr/>
            </p:nvSpPr>
            <p:spPr bwMode="auto">
              <a:xfrm>
                <a:off x="4276" y="3143"/>
                <a:ext cx="415" cy="215"/>
              </a:xfrm>
              <a:prstGeom prst="rect">
                <a:avLst/>
              </a:prstGeom>
              <a:noFill/>
              <a:ln w="9525" algn="ctr">
                <a:noFill/>
                <a:miter lim="800000"/>
                <a:headEnd/>
                <a:tailEnd/>
              </a:ln>
              <a:effectLst/>
            </p:spPr>
            <p:txBody>
              <a:bodyPr wrap="none" lIns="90000" tIns="46800" rIns="90000" bIns="46800">
                <a:spAutoFit/>
              </a:bodyPr>
              <a:lstStyle/>
              <a:p>
                <a:r>
                  <a:rPr lang="en-US" altLang="zh-CN" sz="1600">
                    <a:latin typeface="Times New Roman" pitchFamily="18" charset="0"/>
                  </a:rPr>
                  <a:t>TxDn</a:t>
                </a:r>
              </a:p>
            </p:txBody>
          </p:sp>
          <p:sp>
            <p:nvSpPr>
              <p:cNvPr id="712715" name="Line 11"/>
              <p:cNvSpPr>
                <a:spLocks noChangeShapeType="1"/>
              </p:cNvSpPr>
              <p:nvPr/>
            </p:nvSpPr>
            <p:spPr bwMode="auto">
              <a:xfrm>
                <a:off x="4020" y="3252"/>
                <a:ext cx="282" cy="0"/>
              </a:xfrm>
              <a:prstGeom prst="line">
                <a:avLst/>
              </a:prstGeom>
              <a:noFill/>
              <a:ln w="9525">
                <a:solidFill>
                  <a:schemeClr val="tx1"/>
                </a:solidFill>
                <a:round/>
                <a:headEnd/>
                <a:tailEnd type="triangle" w="med" len="med"/>
              </a:ln>
              <a:effectLst/>
            </p:spPr>
            <p:txBody>
              <a:bodyPr wrap="none" lIns="90000" tIns="46800" rIns="90000" bIns="46800" anchor="ctr"/>
              <a:lstStyle/>
              <a:p>
                <a:endParaRPr lang="zh-CN" altLang="en-US"/>
              </a:p>
            </p:txBody>
          </p:sp>
          <p:sp>
            <p:nvSpPr>
              <p:cNvPr id="712716" name="Rectangle 12"/>
              <p:cNvSpPr>
                <a:spLocks noChangeArrowheads="1"/>
              </p:cNvSpPr>
              <p:nvPr/>
            </p:nvSpPr>
            <p:spPr bwMode="auto">
              <a:xfrm>
                <a:off x="3378" y="3101"/>
                <a:ext cx="744" cy="292"/>
              </a:xfrm>
              <a:prstGeom prst="rect">
                <a:avLst/>
              </a:prstGeom>
              <a:solidFill>
                <a:srgbClr val="FFFFFF"/>
              </a:solidFill>
              <a:ln w="9525" algn="ctr">
                <a:solidFill>
                  <a:schemeClr val="tx1"/>
                </a:solidFill>
                <a:miter lim="800000"/>
                <a:headEnd/>
                <a:tailEnd/>
              </a:ln>
              <a:effectLst/>
            </p:spPr>
            <p:txBody>
              <a:bodyPr wrap="none" anchor="ctr"/>
              <a:lstStyle/>
              <a:p>
                <a:r>
                  <a:rPr lang="zh-CN" altLang="en-US" sz="1400">
                    <a:latin typeface="Times New Roman" pitchFamily="18" charset="0"/>
                  </a:rPr>
                  <a:t>移位寄存器</a:t>
                </a:r>
              </a:p>
              <a:p>
                <a:r>
                  <a:rPr lang="en-US" altLang="zh-CN" sz="1400">
                    <a:latin typeface="Times New Roman" pitchFamily="18" charset="0"/>
                  </a:rPr>
                  <a:t>UnTSR</a:t>
                </a:r>
              </a:p>
            </p:txBody>
          </p:sp>
          <p:sp>
            <p:nvSpPr>
              <p:cNvPr id="712717" name="Line 13"/>
              <p:cNvSpPr>
                <a:spLocks noChangeShapeType="1"/>
              </p:cNvSpPr>
              <p:nvPr/>
            </p:nvSpPr>
            <p:spPr bwMode="auto">
              <a:xfrm>
                <a:off x="3210" y="3246"/>
                <a:ext cx="174"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12718" name="Rectangle 14"/>
              <p:cNvSpPr>
                <a:spLocks noChangeArrowheads="1"/>
              </p:cNvSpPr>
              <p:nvPr/>
            </p:nvSpPr>
            <p:spPr bwMode="auto">
              <a:xfrm>
                <a:off x="2297" y="3098"/>
                <a:ext cx="954" cy="295"/>
              </a:xfrm>
              <a:prstGeom prst="rect">
                <a:avLst/>
              </a:prstGeom>
              <a:solidFill>
                <a:srgbClr val="FFFFFF"/>
              </a:solidFill>
              <a:ln w="9525" algn="ctr">
                <a:solidFill>
                  <a:schemeClr val="tx1"/>
                </a:solidFill>
                <a:miter lim="800000"/>
                <a:headEnd/>
                <a:tailEnd/>
              </a:ln>
              <a:effectLst/>
            </p:spPr>
            <p:txBody>
              <a:bodyPr wrap="none" anchor="ctr"/>
              <a:lstStyle/>
              <a:p>
                <a:r>
                  <a:rPr lang="zh-CN" altLang="en-US" sz="1400">
                    <a:latin typeface="Times New Roman" pitchFamily="18" charset="0"/>
                  </a:rPr>
                  <a:t>发送缓冲寄存器</a:t>
                </a:r>
              </a:p>
              <a:p>
                <a:r>
                  <a:rPr lang="en-US" altLang="zh-CN" sz="1400">
                    <a:latin typeface="Times New Roman" pitchFamily="18" charset="0"/>
                  </a:rPr>
                  <a:t>UnTHR</a:t>
                </a:r>
              </a:p>
            </p:txBody>
          </p:sp>
        </p:grpSp>
        <p:sp>
          <p:nvSpPr>
            <p:cNvPr id="712719" name="AutoShape 15"/>
            <p:cNvSpPr>
              <a:spLocks noChangeArrowheads="1"/>
            </p:cNvSpPr>
            <p:nvPr/>
          </p:nvSpPr>
          <p:spPr bwMode="auto">
            <a:xfrm>
              <a:off x="3810" y="1536"/>
              <a:ext cx="306" cy="1467"/>
            </a:xfrm>
            <a:prstGeom prst="upDownArrow">
              <a:avLst>
                <a:gd name="adj1" fmla="val 50000"/>
                <a:gd name="adj2" fmla="val 95882"/>
              </a:avLst>
            </a:prstGeom>
            <a:solidFill>
              <a:srgbClr val="CCECFF"/>
            </a:solidFill>
            <a:ln w="9525" algn="ctr">
              <a:solidFill>
                <a:schemeClr val="tx1"/>
              </a:solidFill>
              <a:miter lim="800000"/>
              <a:headEnd/>
              <a:tailEnd/>
            </a:ln>
            <a:effectLst/>
          </p:spPr>
          <p:txBody>
            <a:bodyPr wrap="none" anchor="ctr"/>
            <a:lstStyle/>
            <a:p>
              <a:r>
                <a:rPr lang="en-US" altLang="zh-CN" sz="1400">
                  <a:latin typeface="Times New Roman" pitchFamily="18" charset="0"/>
                  <a:ea typeface="楷体_GB2312" pitchFamily="49" charset="-122"/>
                </a:rPr>
                <a:t>A</a:t>
              </a:r>
            </a:p>
            <a:p>
              <a:r>
                <a:rPr lang="en-US" altLang="zh-CN" sz="1400">
                  <a:latin typeface="Times New Roman" pitchFamily="18" charset="0"/>
                  <a:ea typeface="楷体_GB2312" pitchFamily="49" charset="-122"/>
                </a:rPr>
                <a:t>H</a:t>
              </a:r>
            </a:p>
            <a:p>
              <a:r>
                <a:rPr lang="en-US" altLang="zh-CN" sz="1400">
                  <a:latin typeface="Times New Roman" pitchFamily="18" charset="0"/>
                  <a:ea typeface="楷体_GB2312" pitchFamily="49" charset="-122"/>
                </a:rPr>
                <a:t>B</a:t>
              </a:r>
            </a:p>
            <a:p>
              <a:r>
                <a:rPr lang="zh-CN" altLang="en-US" sz="1400">
                  <a:latin typeface="Times New Roman" pitchFamily="18" charset="0"/>
                  <a:ea typeface="楷体_GB2312" pitchFamily="49" charset="-122"/>
                </a:rPr>
                <a:t>总</a:t>
              </a:r>
            </a:p>
            <a:p>
              <a:r>
                <a:rPr lang="zh-CN" altLang="en-US" sz="1400">
                  <a:latin typeface="Times New Roman" pitchFamily="18" charset="0"/>
                  <a:ea typeface="楷体_GB2312" pitchFamily="49" charset="-122"/>
                </a:rPr>
                <a:t>线</a:t>
              </a:r>
            </a:p>
          </p:txBody>
        </p:sp>
        <p:sp>
          <p:nvSpPr>
            <p:cNvPr id="712720" name="AutoShape 16"/>
            <p:cNvSpPr>
              <a:spLocks noChangeArrowheads="1"/>
            </p:cNvSpPr>
            <p:nvPr/>
          </p:nvSpPr>
          <p:spPr bwMode="auto">
            <a:xfrm>
              <a:off x="3408" y="2346"/>
              <a:ext cx="477" cy="216"/>
            </a:xfrm>
            <a:prstGeom prst="leftRightArrow">
              <a:avLst>
                <a:gd name="adj1" fmla="val 50000"/>
                <a:gd name="adj2" fmla="val 44167"/>
              </a:avLst>
            </a:prstGeom>
            <a:solidFill>
              <a:srgbClr val="FFFFCC"/>
            </a:solidFill>
            <a:ln w="9525" algn="ctr">
              <a:solidFill>
                <a:schemeClr val="tx1"/>
              </a:solidFill>
              <a:miter lim="800000"/>
              <a:headEnd/>
              <a:tailEnd/>
            </a:ln>
            <a:effectLst/>
          </p:spPr>
          <p:txBody>
            <a:bodyPr wrap="none" anchor="ctr"/>
            <a:lstStyle/>
            <a:p>
              <a:endParaRPr lang="zh-CN" altLang="en-US"/>
            </a:p>
          </p:txBody>
        </p:sp>
        <p:sp>
          <p:nvSpPr>
            <p:cNvPr id="712721" name="AutoShape 17"/>
            <p:cNvSpPr>
              <a:spLocks noChangeArrowheads="1"/>
            </p:cNvSpPr>
            <p:nvPr/>
          </p:nvSpPr>
          <p:spPr bwMode="auto">
            <a:xfrm>
              <a:off x="4042" y="1996"/>
              <a:ext cx="321" cy="210"/>
            </a:xfrm>
            <a:prstGeom prst="leftRightArrow">
              <a:avLst>
                <a:gd name="adj1" fmla="val 50000"/>
                <a:gd name="adj2" fmla="val 30571"/>
              </a:avLst>
            </a:prstGeom>
            <a:solidFill>
              <a:srgbClr val="FFFFCC"/>
            </a:solidFill>
            <a:ln w="9525" algn="ctr">
              <a:solidFill>
                <a:schemeClr val="tx1"/>
              </a:solidFill>
              <a:miter lim="800000"/>
              <a:headEnd/>
              <a:tailEnd/>
            </a:ln>
            <a:effectLst/>
          </p:spPr>
          <p:txBody>
            <a:bodyPr wrap="none" anchor="ctr"/>
            <a:lstStyle/>
            <a:p>
              <a:endParaRPr lang="zh-CN" altLang="en-US"/>
            </a:p>
          </p:txBody>
        </p:sp>
      </p:grpSp>
      <p:grpSp>
        <p:nvGrpSpPr>
          <p:cNvPr id="712722" name="Group 18"/>
          <p:cNvGrpSpPr>
            <a:grpSpLocks/>
          </p:cNvGrpSpPr>
          <p:nvPr/>
        </p:nvGrpSpPr>
        <p:grpSpPr bwMode="auto">
          <a:xfrm>
            <a:off x="5691188" y="1268413"/>
            <a:ext cx="2686050" cy="2328862"/>
            <a:chOff x="3874" y="1648"/>
            <a:chExt cx="1692" cy="1467"/>
          </a:xfrm>
        </p:grpSpPr>
        <p:sp>
          <p:nvSpPr>
            <p:cNvPr id="712723" name="Rectangle 19"/>
            <p:cNvSpPr>
              <a:spLocks noChangeArrowheads="1"/>
            </p:cNvSpPr>
            <p:nvPr/>
          </p:nvSpPr>
          <p:spPr bwMode="auto">
            <a:xfrm>
              <a:off x="4834" y="2062"/>
              <a:ext cx="732" cy="288"/>
            </a:xfrm>
            <a:prstGeom prst="rect">
              <a:avLst/>
            </a:prstGeom>
            <a:solidFill>
              <a:srgbClr val="FF9900"/>
            </a:solidFill>
            <a:ln w="9525" algn="ctr">
              <a:solidFill>
                <a:schemeClr val="tx1"/>
              </a:solidFill>
              <a:miter lim="800000"/>
              <a:headEnd/>
              <a:tailEnd/>
            </a:ln>
            <a:effectLst/>
          </p:spPr>
          <p:txBody>
            <a:bodyPr wrap="none" anchor="ctr"/>
            <a:lstStyle/>
            <a:p>
              <a:r>
                <a:rPr lang="en-US" altLang="zh-CN" sz="1600">
                  <a:latin typeface="Times New Roman" pitchFamily="18" charset="0"/>
                </a:rPr>
                <a:t>ARM7</a:t>
              </a:r>
            </a:p>
          </p:txBody>
        </p:sp>
        <p:sp>
          <p:nvSpPr>
            <p:cNvPr id="712724" name="AutoShape 20"/>
            <p:cNvSpPr>
              <a:spLocks noChangeArrowheads="1"/>
            </p:cNvSpPr>
            <p:nvPr/>
          </p:nvSpPr>
          <p:spPr bwMode="auto">
            <a:xfrm>
              <a:off x="4276" y="1648"/>
              <a:ext cx="306" cy="1467"/>
            </a:xfrm>
            <a:prstGeom prst="upDownArrow">
              <a:avLst>
                <a:gd name="adj1" fmla="val 50000"/>
                <a:gd name="adj2" fmla="val 95882"/>
              </a:avLst>
            </a:prstGeom>
            <a:solidFill>
              <a:srgbClr val="FF9900"/>
            </a:solidFill>
            <a:ln w="9525" algn="ctr">
              <a:solidFill>
                <a:schemeClr val="tx1"/>
              </a:solidFill>
              <a:miter lim="800000"/>
              <a:headEnd/>
              <a:tailEnd/>
            </a:ln>
            <a:effectLst/>
          </p:spPr>
          <p:txBody>
            <a:bodyPr wrap="none" anchor="ctr"/>
            <a:lstStyle/>
            <a:p>
              <a:r>
                <a:rPr lang="en-US" altLang="zh-CN" sz="1400">
                  <a:latin typeface="Times New Roman" pitchFamily="18" charset="0"/>
                  <a:ea typeface="楷体_GB2312" pitchFamily="49" charset="-122"/>
                </a:rPr>
                <a:t>A</a:t>
              </a:r>
            </a:p>
            <a:p>
              <a:r>
                <a:rPr lang="en-US" altLang="zh-CN" sz="1400">
                  <a:latin typeface="Times New Roman" pitchFamily="18" charset="0"/>
                  <a:ea typeface="楷体_GB2312" pitchFamily="49" charset="-122"/>
                </a:rPr>
                <a:t>H</a:t>
              </a:r>
            </a:p>
            <a:p>
              <a:r>
                <a:rPr lang="en-US" altLang="zh-CN" sz="1400">
                  <a:latin typeface="Times New Roman" pitchFamily="18" charset="0"/>
                  <a:ea typeface="楷体_GB2312" pitchFamily="49" charset="-122"/>
                </a:rPr>
                <a:t>B</a:t>
              </a:r>
            </a:p>
            <a:p>
              <a:r>
                <a:rPr lang="zh-CN" altLang="en-US" sz="1400">
                  <a:latin typeface="Times New Roman" pitchFamily="18" charset="0"/>
                  <a:ea typeface="楷体_GB2312" pitchFamily="49" charset="-122"/>
                </a:rPr>
                <a:t>总</a:t>
              </a:r>
            </a:p>
            <a:p>
              <a:r>
                <a:rPr lang="zh-CN" altLang="en-US" sz="1400">
                  <a:latin typeface="Times New Roman" pitchFamily="18" charset="0"/>
                  <a:ea typeface="楷体_GB2312" pitchFamily="49" charset="-122"/>
                </a:rPr>
                <a:t>线</a:t>
              </a:r>
            </a:p>
          </p:txBody>
        </p:sp>
        <p:sp>
          <p:nvSpPr>
            <p:cNvPr id="712725" name="AutoShape 21"/>
            <p:cNvSpPr>
              <a:spLocks noChangeArrowheads="1"/>
            </p:cNvSpPr>
            <p:nvPr/>
          </p:nvSpPr>
          <p:spPr bwMode="auto">
            <a:xfrm>
              <a:off x="3874" y="2458"/>
              <a:ext cx="477" cy="216"/>
            </a:xfrm>
            <a:prstGeom prst="leftRightArrow">
              <a:avLst>
                <a:gd name="adj1" fmla="val 50000"/>
                <a:gd name="adj2" fmla="val 44167"/>
              </a:avLst>
            </a:prstGeom>
            <a:solidFill>
              <a:srgbClr val="FF9900"/>
            </a:solidFill>
            <a:ln w="9525" algn="ctr">
              <a:solidFill>
                <a:schemeClr val="tx1"/>
              </a:solidFill>
              <a:miter lim="800000"/>
              <a:headEnd/>
              <a:tailEnd/>
            </a:ln>
            <a:effectLst/>
          </p:spPr>
          <p:txBody>
            <a:bodyPr wrap="none" anchor="ctr"/>
            <a:lstStyle/>
            <a:p>
              <a:endParaRPr lang="zh-CN" altLang="en-US"/>
            </a:p>
          </p:txBody>
        </p:sp>
        <p:sp>
          <p:nvSpPr>
            <p:cNvPr id="712726" name="AutoShape 22"/>
            <p:cNvSpPr>
              <a:spLocks noChangeArrowheads="1"/>
            </p:cNvSpPr>
            <p:nvPr/>
          </p:nvSpPr>
          <p:spPr bwMode="auto">
            <a:xfrm>
              <a:off x="4508" y="2108"/>
              <a:ext cx="321" cy="210"/>
            </a:xfrm>
            <a:prstGeom prst="leftRightArrow">
              <a:avLst>
                <a:gd name="adj1" fmla="val 50000"/>
                <a:gd name="adj2" fmla="val 30571"/>
              </a:avLst>
            </a:prstGeom>
            <a:solidFill>
              <a:srgbClr val="FF9900"/>
            </a:solidFill>
            <a:ln w="9525" algn="ctr">
              <a:solidFill>
                <a:schemeClr val="tx1"/>
              </a:solidFill>
              <a:miter lim="800000"/>
              <a:headEnd/>
              <a:tailEnd/>
            </a:ln>
            <a:effectLst/>
          </p:spPr>
          <p:txBody>
            <a:bodyPr wrap="none" anchor="ctr"/>
            <a:lstStyle/>
            <a:p>
              <a:endParaRPr lang="zh-CN" altLang="en-US"/>
            </a:p>
          </p:txBody>
        </p:sp>
      </p:grpSp>
      <p:grpSp>
        <p:nvGrpSpPr>
          <p:cNvPr id="712727" name="Group 23"/>
          <p:cNvGrpSpPr>
            <a:grpSpLocks/>
          </p:cNvGrpSpPr>
          <p:nvPr/>
        </p:nvGrpSpPr>
        <p:grpSpPr bwMode="auto">
          <a:xfrm>
            <a:off x="4938714" y="3719513"/>
            <a:ext cx="4398963" cy="819150"/>
            <a:chOff x="88" y="1731"/>
            <a:chExt cx="2771" cy="516"/>
          </a:xfrm>
        </p:grpSpPr>
        <p:sp>
          <p:nvSpPr>
            <p:cNvPr id="712728" name="AutoShape 24"/>
            <p:cNvSpPr>
              <a:spLocks noChangeArrowheads="1"/>
            </p:cNvSpPr>
            <p:nvPr/>
          </p:nvSpPr>
          <p:spPr bwMode="auto">
            <a:xfrm>
              <a:off x="88" y="1906"/>
              <a:ext cx="330" cy="162"/>
            </a:xfrm>
            <a:prstGeom prst="rightArrow">
              <a:avLst>
                <a:gd name="adj1" fmla="val 50000"/>
                <a:gd name="adj2" fmla="val 50926"/>
              </a:avLst>
            </a:prstGeom>
            <a:solidFill>
              <a:srgbClr val="FF9900"/>
            </a:solidFill>
            <a:ln w="9525" algn="ctr">
              <a:solidFill>
                <a:schemeClr val="tx1"/>
              </a:solidFill>
              <a:miter lim="800000"/>
              <a:headEnd/>
              <a:tailEnd/>
            </a:ln>
            <a:effectLst/>
          </p:spPr>
          <p:txBody>
            <a:bodyPr wrap="none" lIns="90000" tIns="46800" rIns="90000" bIns="46800" anchor="ctr"/>
            <a:lstStyle/>
            <a:p>
              <a:endParaRPr lang="zh-CN" altLang="en-US"/>
            </a:p>
          </p:txBody>
        </p:sp>
        <p:grpSp>
          <p:nvGrpSpPr>
            <p:cNvPr id="712729" name="Group 25"/>
            <p:cNvGrpSpPr>
              <a:grpSpLocks/>
            </p:cNvGrpSpPr>
            <p:nvPr/>
          </p:nvGrpSpPr>
          <p:grpSpPr bwMode="auto">
            <a:xfrm>
              <a:off x="423" y="1731"/>
              <a:ext cx="2436" cy="516"/>
              <a:chOff x="2255" y="2915"/>
              <a:chExt cx="2436" cy="516"/>
            </a:xfrm>
          </p:grpSpPr>
          <p:sp>
            <p:nvSpPr>
              <p:cNvPr id="712730" name="Rectangle 26"/>
              <p:cNvSpPr>
                <a:spLocks noChangeArrowheads="1"/>
              </p:cNvSpPr>
              <p:nvPr/>
            </p:nvSpPr>
            <p:spPr bwMode="auto">
              <a:xfrm>
                <a:off x="2255" y="2915"/>
                <a:ext cx="1926" cy="516"/>
              </a:xfrm>
              <a:prstGeom prst="rect">
                <a:avLst/>
              </a:prstGeom>
              <a:solidFill>
                <a:srgbClr val="FFFF99"/>
              </a:solidFill>
              <a:ln w="9525" algn="ctr">
                <a:solidFill>
                  <a:schemeClr val="tx1"/>
                </a:solidFill>
                <a:miter lim="800000"/>
                <a:headEnd/>
                <a:tailEnd/>
              </a:ln>
              <a:effectLst/>
            </p:spPr>
            <p:txBody>
              <a:bodyPr wrap="none" anchor="ctr"/>
              <a:lstStyle/>
              <a:p>
                <a:endParaRPr lang="en-US" altLang="zh-CN" sz="1400">
                  <a:latin typeface="Times New Roman" pitchFamily="18" charset="0"/>
                </a:endParaRPr>
              </a:p>
              <a:p>
                <a:endParaRPr lang="en-US" altLang="zh-CN" sz="1400">
                  <a:latin typeface="Times New Roman" pitchFamily="18" charset="0"/>
                </a:endParaRPr>
              </a:p>
              <a:p>
                <a:endParaRPr lang="en-US" altLang="zh-CN" sz="1400">
                  <a:latin typeface="Times New Roman" pitchFamily="18" charset="0"/>
                </a:endParaRPr>
              </a:p>
            </p:txBody>
          </p:sp>
          <p:sp>
            <p:nvSpPr>
              <p:cNvPr id="712731" name="Rectangle 27"/>
              <p:cNvSpPr>
                <a:spLocks noChangeArrowheads="1"/>
              </p:cNvSpPr>
              <p:nvPr/>
            </p:nvSpPr>
            <p:spPr bwMode="auto">
              <a:xfrm>
                <a:off x="2802" y="2917"/>
                <a:ext cx="925" cy="192"/>
              </a:xfrm>
              <a:prstGeom prst="rect">
                <a:avLst/>
              </a:prstGeom>
              <a:noFill/>
              <a:ln w="9525" algn="ctr">
                <a:noFill/>
                <a:miter lim="800000"/>
                <a:headEnd/>
                <a:tailEnd/>
              </a:ln>
              <a:effectLst/>
            </p:spPr>
            <p:txBody>
              <a:bodyPr wrap="none">
                <a:spAutoFit/>
              </a:bodyPr>
              <a:lstStyle/>
              <a:p>
                <a:r>
                  <a:rPr lang="en-US" altLang="zh-CN" sz="1400">
                    <a:latin typeface="Times New Roman" pitchFamily="18" charset="0"/>
                  </a:rPr>
                  <a:t>UARTn</a:t>
                </a:r>
                <a:r>
                  <a:rPr lang="zh-CN" altLang="en-US" sz="1400">
                    <a:latin typeface="Times New Roman" pitchFamily="18" charset="0"/>
                  </a:rPr>
                  <a:t>发送单元</a:t>
                </a:r>
              </a:p>
            </p:txBody>
          </p:sp>
          <p:sp>
            <p:nvSpPr>
              <p:cNvPr id="712732" name="Text Box 28"/>
              <p:cNvSpPr txBox="1">
                <a:spLocks noChangeArrowheads="1"/>
              </p:cNvSpPr>
              <p:nvPr/>
            </p:nvSpPr>
            <p:spPr bwMode="auto">
              <a:xfrm>
                <a:off x="4276" y="3143"/>
                <a:ext cx="415" cy="215"/>
              </a:xfrm>
              <a:prstGeom prst="rect">
                <a:avLst/>
              </a:prstGeom>
              <a:solidFill>
                <a:srgbClr val="FF9900"/>
              </a:solidFill>
              <a:ln w="9525" algn="ctr">
                <a:noFill/>
                <a:miter lim="800000"/>
                <a:headEnd/>
                <a:tailEnd/>
              </a:ln>
              <a:effectLst/>
            </p:spPr>
            <p:txBody>
              <a:bodyPr wrap="none" lIns="90000" tIns="46800" rIns="90000" bIns="46800">
                <a:spAutoFit/>
              </a:bodyPr>
              <a:lstStyle/>
              <a:p>
                <a:r>
                  <a:rPr lang="en-US" altLang="zh-CN" sz="1600">
                    <a:latin typeface="Times New Roman" pitchFamily="18" charset="0"/>
                  </a:rPr>
                  <a:t>TxDn</a:t>
                </a:r>
              </a:p>
            </p:txBody>
          </p:sp>
          <p:sp>
            <p:nvSpPr>
              <p:cNvPr id="712733" name="Line 29"/>
              <p:cNvSpPr>
                <a:spLocks noChangeShapeType="1"/>
              </p:cNvSpPr>
              <p:nvPr/>
            </p:nvSpPr>
            <p:spPr bwMode="auto">
              <a:xfrm>
                <a:off x="4020" y="3252"/>
                <a:ext cx="282" cy="0"/>
              </a:xfrm>
              <a:prstGeom prst="line">
                <a:avLst/>
              </a:prstGeom>
              <a:noFill/>
              <a:ln w="9525">
                <a:solidFill>
                  <a:srgbClr val="FF9900"/>
                </a:solidFill>
                <a:round/>
                <a:headEnd/>
                <a:tailEnd type="triangle" w="med" len="med"/>
              </a:ln>
              <a:effectLst/>
            </p:spPr>
            <p:txBody>
              <a:bodyPr wrap="none" lIns="90000" tIns="46800" rIns="90000" bIns="46800" anchor="ctr"/>
              <a:lstStyle/>
              <a:p>
                <a:endParaRPr lang="zh-CN" altLang="en-US"/>
              </a:p>
            </p:txBody>
          </p:sp>
          <p:sp>
            <p:nvSpPr>
              <p:cNvPr id="712734" name="Rectangle 30"/>
              <p:cNvSpPr>
                <a:spLocks noChangeArrowheads="1"/>
              </p:cNvSpPr>
              <p:nvPr/>
            </p:nvSpPr>
            <p:spPr bwMode="auto">
              <a:xfrm>
                <a:off x="3378" y="3101"/>
                <a:ext cx="744" cy="292"/>
              </a:xfrm>
              <a:prstGeom prst="rect">
                <a:avLst/>
              </a:prstGeom>
              <a:solidFill>
                <a:srgbClr val="FF9900"/>
              </a:solidFill>
              <a:ln w="9525" algn="ctr">
                <a:solidFill>
                  <a:schemeClr val="tx1"/>
                </a:solidFill>
                <a:miter lim="800000"/>
                <a:headEnd/>
                <a:tailEnd/>
              </a:ln>
              <a:effectLst/>
            </p:spPr>
            <p:txBody>
              <a:bodyPr wrap="none" anchor="ctr"/>
              <a:lstStyle/>
              <a:p>
                <a:r>
                  <a:rPr lang="zh-CN" altLang="en-US" sz="1400">
                    <a:latin typeface="Times New Roman" pitchFamily="18" charset="0"/>
                  </a:rPr>
                  <a:t>移位寄存器</a:t>
                </a:r>
              </a:p>
              <a:p>
                <a:r>
                  <a:rPr lang="en-US" altLang="zh-CN" sz="1400">
                    <a:latin typeface="Times New Roman" pitchFamily="18" charset="0"/>
                  </a:rPr>
                  <a:t>UnTSR</a:t>
                </a:r>
              </a:p>
            </p:txBody>
          </p:sp>
          <p:sp>
            <p:nvSpPr>
              <p:cNvPr id="712735" name="Line 31"/>
              <p:cNvSpPr>
                <a:spLocks noChangeShapeType="1"/>
              </p:cNvSpPr>
              <p:nvPr/>
            </p:nvSpPr>
            <p:spPr bwMode="auto">
              <a:xfrm>
                <a:off x="3210" y="3246"/>
                <a:ext cx="174" cy="0"/>
              </a:xfrm>
              <a:prstGeom prst="line">
                <a:avLst/>
              </a:prstGeom>
              <a:noFill/>
              <a:ln w="9525">
                <a:solidFill>
                  <a:srgbClr val="FF9900"/>
                </a:solidFill>
                <a:round/>
                <a:headEnd/>
                <a:tailEnd type="triangle" w="med" len="med"/>
              </a:ln>
              <a:effectLst/>
            </p:spPr>
            <p:txBody>
              <a:bodyPr wrap="none" anchor="ctr"/>
              <a:lstStyle/>
              <a:p>
                <a:endParaRPr lang="zh-CN" altLang="en-US"/>
              </a:p>
            </p:txBody>
          </p:sp>
          <p:sp>
            <p:nvSpPr>
              <p:cNvPr id="712736" name="Rectangle 32"/>
              <p:cNvSpPr>
                <a:spLocks noChangeArrowheads="1"/>
              </p:cNvSpPr>
              <p:nvPr/>
            </p:nvSpPr>
            <p:spPr bwMode="auto">
              <a:xfrm>
                <a:off x="2297" y="3098"/>
                <a:ext cx="954" cy="295"/>
              </a:xfrm>
              <a:prstGeom prst="rect">
                <a:avLst/>
              </a:prstGeom>
              <a:solidFill>
                <a:srgbClr val="FF9900"/>
              </a:solidFill>
              <a:ln w="9525" algn="ctr">
                <a:solidFill>
                  <a:schemeClr val="tx1"/>
                </a:solidFill>
                <a:miter lim="800000"/>
                <a:headEnd/>
                <a:tailEnd/>
              </a:ln>
              <a:effectLst/>
            </p:spPr>
            <p:txBody>
              <a:bodyPr wrap="none" anchor="ctr"/>
              <a:lstStyle/>
              <a:p>
                <a:r>
                  <a:rPr lang="zh-CN" altLang="en-US" sz="1400">
                    <a:latin typeface="Times New Roman" pitchFamily="18" charset="0"/>
                  </a:rPr>
                  <a:t>发送缓冲寄存器</a:t>
                </a:r>
              </a:p>
              <a:p>
                <a:r>
                  <a:rPr lang="en-US" altLang="zh-CN" sz="1400">
                    <a:latin typeface="Times New Roman" pitchFamily="18" charset="0"/>
                  </a:rPr>
                  <a:t>UnTHR</a:t>
                </a:r>
              </a:p>
            </p:txBody>
          </p:sp>
        </p:grpSp>
      </p:grpSp>
      <p:grpSp>
        <p:nvGrpSpPr>
          <p:cNvPr id="712737" name="Group 33"/>
          <p:cNvGrpSpPr>
            <a:grpSpLocks/>
          </p:cNvGrpSpPr>
          <p:nvPr/>
        </p:nvGrpSpPr>
        <p:grpSpPr bwMode="auto">
          <a:xfrm>
            <a:off x="4310064" y="2478089"/>
            <a:ext cx="1381125" cy="2714625"/>
            <a:chOff x="346" y="2188"/>
            <a:chExt cx="870" cy="1710"/>
          </a:xfrm>
        </p:grpSpPr>
        <p:sp>
          <p:nvSpPr>
            <p:cNvPr id="712738" name="AutoShape 34"/>
            <p:cNvSpPr>
              <a:spLocks noChangeArrowheads="1"/>
            </p:cNvSpPr>
            <p:nvPr/>
          </p:nvSpPr>
          <p:spPr bwMode="auto">
            <a:xfrm>
              <a:off x="601" y="2473"/>
              <a:ext cx="378" cy="1425"/>
            </a:xfrm>
            <a:prstGeom prst="upDownArrow">
              <a:avLst>
                <a:gd name="adj1" fmla="val 49731"/>
                <a:gd name="adj2" fmla="val 53965"/>
              </a:avLst>
            </a:prstGeom>
            <a:solidFill>
              <a:srgbClr val="FF9900"/>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r>
                <a:rPr lang="en-US" altLang="zh-CN" sz="1400" b="1">
                  <a:latin typeface="Times New Roman" pitchFamily="18" charset="0"/>
                </a:rPr>
                <a:t>V</a:t>
              </a:r>
            </a:p>
            <a:p>
              <a:r>
                <a:rPr lang="en-US" altLang="zh-CN" sz="1400" b="1">
                  <a:latin typeface="Times New Roman" pitchFamily="18" charset="0"/>
                </a:rPr>
                <a:t>P</a:t>
              </a:r>
            </a:p>
            <a:p>
              <a:r>
                <a:rPr lang="en-US" altLang="zh-CN" sz="1400" b="1">
                  <a:latin typeface="Times New Roman" pitchFamily="18" charset="0"/>
                </a:rPr>
                <a:t>B</a:t>
              </a:r>
            </a:p>
            <a:p>
              <a:r>
                <a:rPr lang="zh-CN" altLang="en-US" sz="1400" b="1">
                  <a:latin typeface="Times New Roman" pitchFamily="18" charset="0"/>
                </a:rPr>
                <a:t>总</a:t>
              </a:r>
            </a:p>
            <a:p>
              <a:r>
                <a:rPr lang="zh-CN" altLang="en-US" sz="1400" b="1">
                  <a:latin typeface="Times New Roman" pitchFamily="18" charset="0"/>
                </a:rPr>
                <a:t>线</a:t>
              </a:r>
            </a:p>
          </p:txBody>
        </p:sp>
        <p:sp>
          <p:nvSpPr>
            <p:cNvPr id="712739" name="Rectangle 35"/>
            <p:cNvSpPr>
              <a:spLocks noChangeArrowheads="1"/>
            </p:cNvSpPr>
            <p:nvPr/>
          </p:nvSpPr>
          <p:spPr bwMode="auto">
            <a:xfrm>
              <a:off x="346" y="2188"/>
              <a:ext cx="870" cy="282"/>
            </a:xfrm>
            <a:prstGeom prst="rect">
              <a:avLst/>
            </a:prstGeom>
            <a:solidFill>
              <a:srgbClr val="FF9900"/>
            </a:solidFill>
            <a:ln w="9525" algn="ctr">
              <a:solidFill>
                <a:schemeClr val="tx1"/>
              </a:solidFill>
              <a:miter lim="800000"/>
              <a:headEnd/>
              <a:tailEnd/>
            </a:ln>
            <a:effectLst/>
          </p:spPr>
          <p:txBody>
            <a:bodyPr wrap="none" anchor="ctr"/>
            <a:lstStyle/>
            <a:p>
              <a:r>
                <a:rPr lang="en-US" altLang="zh-CN" sz="1400">
                  <a:latin typeface="Times New Roman" pitchFamily="18" charset="0"/>
                  <a:ea typeface="楷体_GB2312" pitchFamily="49" charset="-122"/>
                </a:rPr>
                <a:t>AHB-VPB</a:t>
              </a:r>
              <a:r>
                <a:rPr lang="zh-CN" altLang="en-US" sz="1400">
                  <a:latin typeface="Times New Roman" pitchFamily="18" charset="0"/>
                  <a:ea typeface="楷体_GB2312" pitchFamily="49" charset="-122"/>
                </a:rPr>
                <a:t>桥</a:t>
              </a:r>
            </a:p>
          </p:txBody>
        </p:sp>
      </p:grpSp>
      <p:grpSp>
        <p:nvGrpSpPr>
          <p:cNvPr id="712740" name="Group 36"/>
          <p:cNvGrpSpPr>
            <a:grpSpLocks/>
          </p:cNvGrpSpPr>
          <p:nvPr/>
        </p:nvGrpSpPr>
        <p:grpSpPr bwMode="auto">
          <a:xfrm>
            <a:off x="2855913" y="1957388"/>
            <a:ext cx="971550" cy="2984500"/>
            <a:chOff x="756" y="1824"/>
            <a:chExt cx="612" cy="1880"/>
          </a:xfrm>
        </p:grpSpPr>
        <p:sp>
          <p:nvSpPr>
            <p:cNvPr id="712741" name="AutoShape 37"/>
            <p:cNvSpPr>
              <a:spLocks noChangeArrowheads="1"/>
            </p:cNvSpPr>
            <p:nvPr/>
          </p:nvSpPr>
          <p:spPr bwMode="auto">
            <a:xfrm>
              <a:off x="948" y="2028"/>
              <a:ext cx="198" cy="321"/>
            </a:xfrm>
            <a:prstGeom prst="downArrow">
              <a:avLst>
                <a:gd name="adj1" fmla="val 50000"/>
                <a:gd name="adj2" fmla="val 40530"/>
              </a:avLst>
            </a:prstGeom>
            <a:solidFill>
              <a:srgbClr val="CCFFFF"/>
            </a:solidFill>
            <a:ln w="9525" algn="ctr">
              <a:solidFill>
                <a:schemeClr val="tx1"/>
              </a:solidFill>
              <a:miter lim="800000"/>
              <a:headEnd/>
              <a:tailEnd/>
            </a:ln>
            <a:effectLst/>
          </p:spPr>
          <p:txBody>
            <a:bodyPr wrap="none" anchor="ctr"/>
            <a:lstStyle/>
            <a:p>
              <a:endParaRPr lang="zh-CN" altLang="en-US"/>
            </a:p>
          </p:txBody>
        </p:sp>
        <p:sp>
          <p:nvSpPr>
            <p:cNvPr id="712742" name="Rectangle 38"/>
            <p:cNvSpPr>
              <a:spLocks noChangeArrowheads="1"/>
            </p:cNvSpPr>
            <p:nvPr/>
          </p:nvSpPr>
          <p:spPr bwMode="auto">
            <a:xfrm>
              <a:off x="756" y="1824"/>
              <a:ext cx="606" cy="246"/>
            </a:xfrm>
            <a:prstGeom prst="rect">
              <a:avLst/>
            </a:prstGeom>
            <a:solidFill>
              <a:srgbClr val="CCFFFF"/>
            </a:solidFill>
            <a:ln w="9525" algn="ctr">
              <a:solidFill>
                <a:schemeClr val="tx1"/>
              </a:solidFill>
              <a:miter lim="800000"/>
              <a:headEnd/>
              <a:tailEnd/>
            </a:ln>
            <a:effectLst/>
          </p:spPr>
          <p:txBody>
            <a:bodyPr wrap="none" anchor="ctr"/>
            <a:lstStyle/>
            <a:p>
              <a:r>
                <a:rPr lang="en-US" altLang="zh-CN" sz="1400">
                  <a:latin typeface="Times New Roman" pitchFamily="18" charset="0"/>
                  <a:ea typeface="楷体_GB2312" pitchFamily="49" charset="-122"/>
                </a:rPr>
                <a:t>CPU</a:t>
              </a:r>
            </a:p>
          </p:txBody>
        </p:sp>
        <p:sp>
          <p:nvSpPr>
            <p:cNvPr id="712743" name="AutoShape 39"/>
            <p:cNvSpPr>
              <a:spLocks noChangeArrowheads="1"/>
            </p:cNvSpPr>
            <p:nvPr/>
          </p:nvSpPr>
          <p:spPr bwMode="auto">
            <a:xfrm>
              <a:off x="958" y="2590"/>
              <a:ext cx="198" cy="321"/>
            </a:xfrm>
            <a:prstGeom prst="downArrow">
              <a:avLst>
                <a:gd name="adj1" fmla="val 50000"/>
                <a:gd name="adj2" fmla="val 40530"/>
              </a:avLst>
            </a:prstGeom>
            <a:solidFill>
              <a:srgbClr val="CCFFFF"/>
            </a:solidFill>
            <a:ln w="9525" algn="ctr">
              <a:solidFill>
                <a:schemeClr val="tx1"/>
              </a:solidFill>
              <a:miter lim="800000"/>
              <a:headEnd/>
              <a:tailEnd/>
            </a:ln>
            <a:effectLst/>
          </p:spPr>
          <p:txBody>
            <a:bodyPr wrap="none" anchor="ctr"/>
            <a:lstStyle/>
            <a:p>
              <a:endParaRPr lang="zh-CN" altLang="en-US"/>
            </a:p>
          </p:txBody>
        </p:sp>
        <p:sp>
          <p:nvSpPr>
            <p:cNvPr id="712744" name="AutoShape 40"/>
            <p:cNvSpPr>
              <a:spLocks noChangeArrowheads="1"/>
            </p:cNvSpPr>
            <p:nvPr/>
          </p:nvSpPr>
          <p:spPr bwMode="auto">
            <a:xfrm>
              <a:off x="950" y="3152"/>
              <a:ext cx="198" cy="321"/>
            </a:xfrm>
            <a:prstGeom prst="downArrow">
              <a:avLst>
                <a:gd name="adj1" fmla="val 50000"/>
                <a:gd name="adj2" fmla="val 40530"/>
              </a:avLst>
            </a:prstGeom>
            <a:solidFill>
              <a:srgbClr val="CCFFFF"/>
            </a:solidFill>
            <a:ln w="9525" algn="ctr">
              <a:solidFill>
                <a:schemeClr val="tx1"/>
              </a:solidFill>
              <a:miter lim="800000"/>
              <a:headEnd/>
              <a:tailEnd/>
            </a:ln>
            <a:effectLst/>
          </p:spPr>
          <p:txBody>
            <a:bodyPr wrap="none" anchor="ctr"/>
            <a:lstStyle/>
            <a:p>
              <a:endParaRPr lang="zh-CN" altLang="en-US"/>
            </a:p>
          </p:txBody>
        </p:sp>
        <p:sp>
          <p:nvSpPr>
            <p:cNvPr id="712745" name="Rectangle 41"/>
            <p:cNvSpPr>
              <a:spLocks noChangeArrowheads="1"/>
            </p:cNvSpPr>
            <p:nvPr/>
          </p:nvSpPr>
          <p:spPr bwMode="auto">
            <a:xfrm>
              <a:off x="756" y="2914"/>
              <a:ext cx="612" cy="252"/>
            </a:xfrm>
            <a:prstGeom prst="rect">
              <a:avLst/>
            </a:prstGeom>
            <a:solidFill>
              <a:srgbClr val="CCFFFF"/>
            </a:solidFill>
            <a:ln w="9525" algn="ctr">
              <a:solidFill>
                <a:schemeClr val="tx1"/>
              </a:solidFill>
              <a:miter lim="800000"/>
              <a:headEnd/>
              <a:tailEnd/>
            </a:ln>
            <a:effectLst/>
          </p:spPr>
          <p:txBody>
            <a:bodyPr wrap="none" anchor="ctr"/>
            <a:lstStyle/>
            <a:p>
              <a:r>
                <a:rPr lang="en-US" altLang="zh-CN" sz="1400">
                  <a:latin typeface="Times New Roman" pitchFamily="18" charset="0"/>
                  <a:ea typeface="楷体_GB2312" pitchFamily="49" charset="-122"/>
                </a:rPr>
                <a:t>UnTSR</a:t>
              </a:r>
            </a:p>
          </p:txBody>
        </p:sp>
        <p:sp>
          <p:nvSpPr>
            <p:cNvPr id="712746" name="Rectangle 42"/>
            <p:cNvSpPr>
              <a:spLocks noChangeArrowheads="1"/>
            </p:cNvSpPr>
            <p:nvPr/>
          </p:nvSpPr>
          <p:spPr bwMode="auto">
            <a:xfrm>
              <a:off x="756" y="3476"/>
              <a:ext cx="612" cy="228"/>
            </a:xfrm>
            <a:prstGeom prst="rect">
              <a:avLst/>
            </a:prstGeom>
            <a:solidFill>
              <a:srgbClr val="CCFFFF"/>
            </a:solidFill>
            <a:ln w="9525" algn="ctr">
              <a:solidFill>
                <a:schemeClr val="tx1"/>
              </a:solidFill>
              <a:miter lim="800000"/>
              <a:headEnd/>
              <a:tailEnd/>
            </a:ln>
            <a:effectLst/>
          </p:spPr>
          <p:txBody>
            <a:bodyPr wrap="none" anchor="ctr"/>
            <a:lstStyle/>
            <a:p>
              <a:r>
                <a:rPr lang="en-US" altLang="zh-CN" sz="1400">
                  <a:latin typeface="Times New Roman" pitchFamily="18" charset="0"/>
                  <a:ea typeface="楷体_GB2312" pitchFamily="49" charset="-122"/>
                </a:rPr>
                <a:t>TXD</a:t>
              </a:r>
            </a:p>
          </p:txBody>
        </p:sp>
        <p:sp>
          <p:nvSpPr>
            <p:cNvPr id="712747" name="Rectangle 43"/>
            <p:cNvSpPr>
              <a:spLocks noChangeArrowheads="1"/>
            </p:cNvSpPr>
            <p:nvPr/>
          </p:nvSpPr>
          <p:spPr bwMode="auto">
            <a:xfrm>
              <a:off x="756" y="2356"/>
              <a:ext cx="612" cy="264"/>
            </a:xfrm>
            <a:prstGeom prst="rect">
              <a:avLst/>
            </a:prstGeom>
            <a:solidFill>
              <a:srgbClr val="CCFFFF"/>
            </a:solidFill>
            <a:ln w="9525" algn="ctr">
              <a:solidFill>
                <a:schemeClr val="tx1"/>
              </a:solidFill>
              <a:miter lim="800000"/>
              <a:headEnd/>
              <a:tailEnd/>
            </a:ln>
            <a:effectLst/>
          </p:spPr>
          <p:txBody>
            <a:bodyPr wrap="none" anchor="ctr"/>
            <a:lstStyle/>
            <a:p>
              <a:r>
                <a:rPr lang="en-US" altLang="zh-CN" sz="1400">
                  <a:latin typeface="Times New Roman" pitchFamily="18" charset="0"/>
                  <a:ea typeface="楷体_GB2312" pitchFamily="49" charset="-122"/>
                </a:rPr>
                <a:t>UnTHR</a:t>
              </a:r>
            </a:p>
          </p:txBody>
        </p:sp>
      </p:grpSp>
      <p:graphicFrame>
        <p:nvGraphicFramePr>
          <p:cNvPr id="712748" name="Group 44"/>
          <p:cNvGraphicFramePr>
            <a:graphicFrameLocks noGrp="1"/>
          </p:cNvGraphicFramePr>
          <p:nvPr/>
        </p:nvGraphicFramePr>
        <p:xfrm>
          <a:off x="2114551" y="5373688"/>
          <a:ext cx="7942263" cy="822960"/>
        </p:xfrm>
        <a:graphic>
          <a:graphicData uri="http://schemas.openxmlformats.org/drawingml/2006/table">
            <a:tbl>
              <a:tblPr/>
              <a:tblGrid>
                <a:gridCol w="865188">
                  <a:extLst>
                    <a:ext uri="{9D8B030D-6E8A-4147-A177-3AD203B41FA5}">
                      <a16:colId xmlns:a16="http://schemas.microsoft.com/office/drawing/2014/main" val="20000"/>
                    </a:ext>
                  </a:extLst>
                </a:gridCol>
                <a:gridCol w="6140450">
                  <a:extLst>
                    <a:ext uri="{9D8B030D-6E8A-4147-A177-3AD203B41FA5}">
                      <a16:colId xmlns:a16="http://schemas.microsoft.com/office/drawing/2014/main" val="20001"/>
                    </a:ext>
                  </a:extLst>
                </a:gridCol>
                <a:gridCol w="936625">
                  <a:extLst>
                    <a:ext uri="{9D8B030D-6E8A-4147-A177-3AD203B41FA5}">
                      <a16:colId xmlns:a16="http://schemas.microsoft.com/office/drawing/2014/main" val="20002"/>
                    </a:ext>
                  </a:extLst>
                </a:gridCol>
              </a:tblGrid>
              <a:tr h="217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UnTHR</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描述</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复位值</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217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7 : 0</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rgbClr val="0000FF"/>
                          </a:solidFill>
                          <a:effectLst/>
                          <a:latin typeface="宋体" pitchFamily="2" charset="-122"/>
                          <a:ea typeface="宋体" pitchFamily="2" charset="-122"/>
                        </a:rPr>
                        <a:t>发送器保持寄存器。</a:t>
                      </a:r>
                      <a:r>
                        <a:rPr kumimoji="1" lang="zh-CN" altLang="en-US" sz="1400" b="0" i="0" u="none" strike="noStrike" cap="none" normalizeH="0" baseline="0">
                          <a:ln>
                            <a:noFill/>
                          </a:ln>
                          <a:solidFill>
                            <a:schemeClr val="tx1"/>
                          </a:solidFill>
                          <a:effectLst/>
                          <a:latin typeface="宋体" pitchFamily="2" charset="-122"/>
                          <a:ea typeface="宋体" pitchFamily="2" charset="-122"/>
                        </a:rPr>
                        <a:t>写入该寄存器的值保存到发送</a:t>
                      </a:r>
                      <a:r>
                        <a:rPr kumimoji="1" lang="en-US" altLang="zh-CN" sz="1400" b="0" i="0" u="none" strike="noStrike" cap="none" normalizeH="0" baseline="0">
                          <a:ln>
                            <a:noFill/>
                          </a:ln>
                          <a:solidFill>
                            <a:schemeClr val="tx1"/>
                          </a:solidFill>
                          <a:effectLst/>
                          <a:latin typeface="宋体" pitchFamily="2" charset="-122"/>
                          <a:ea typeface="宋体" pitchFamily="2" charset="-122"/>
                        </a:rPr>
                        <a:t>FIFO</a:t>
                      </a:r>
                      <a:r>
                        <a:rPr kumimoji="1" lang="zh-CN" altLang="en-US" sz="1400" b="0" i="0" u="none" strike="noStrike" cap="none" normalizeH="0" baseline="0">
                          <a:ln>
                            <a:noFill/>
                          </a:ln>
                          <a:solidFill>
                            <a:schemeClr val="tx1"/>
                          </a:solidFill>
                          <a:effectLst/>
                          <a:latin typeface="宋体" pitchFamily="2" charset="-122"/>
                          <a:ea typeface="宋体" pitchFamily="2" charset="-122"/>
                        </a:rPr>
                        <a:t>中，当该字节到达</a:t>
                      </a:r>
                      <a:r>
                        <a:rPr kumimoji="1" lang="en-US" altLang="zh-CN" sz="1400" b="0" i="0" u="none" strike="noStrike" cap="none" normalizeH="0" baseline="0">
                          <a:ln>
                            <a:noFill/>
                          </a:ln>
                          <a:solidFill>
                            <a:schemeClr val="tx1"/>
                          </a:solidFill>
                          <a:effectLst/>
                          <a:latin typeface="宋体" pitchFamily="2" charset="-122"/>
                          <a:ea typeface="宋体" pitchFamily="2" charset="-122"/>
                        </a:rPr>
                        <a:t>FIFO</a:t>
                      </a:r>
                      <a:r>
                        <a:rPr kumimoji="1" lang="zh-CN" altLang="en-US" sz="1400" b="0" i="0" u="none" strike="noStrike" cap="none" normalizeH="0" baseline="0">
                          <a:ln>
                            <a:noFill/>
                          </a:ln>
                          <a:solidFill>
                            <a:schemeClr val="tx1"/>
                          </a:solidFill>
                          <a:effectLst/>
                          <a:latin typeface="宋体" pitchFamily="2" charset="-122"/>
                          <a:ea typeface="宋体" pitchFamily="2" charset="-122"/>
                        </a:rPr>
                        <a:t>底部时，它将被送入发送移位寄存器（</a:t>
                      </a:r>
                      <a:r>
                        <a:rPr kumimoji="1" lang="en-US" altLang="zh-CN" sz="1400" b="0" i="0" u="none" strike="noStrike" cap="none" normalizeH="0" baseline="0">
                          <a:ln>
                            <a:noFill/>
                          </a:ln>
                          <a:solidFill>
                            <a:schemeClr val="tx1"/>
                          </a:solidFill>
                          <a:effectLst/>
                          <a:latin typeface="宋体" pitchFamily="2" charset="-122"/>
                          <a:ea typeface="宋体" pitchFamily="2" charset="-122"/>
                        </a:rPr>
                        <a:t>UnTSR</a:t>
                      </a:r>
                      <a:r>
                        <a:rPr kumimoji="1" lang="zh-CN" altLang="en-US" sz="1400" b="0" i="0" u="none" strike="noStrike" cap="none" normalizeH="0" baseline="0">
                          <a:ln>
                            <a:noFill/>
                          </a:ln>
                          <a:solidFill>
                            <a:schemeClr val="tx1"/>
                          </a:solidFill>
                          <a:effectLst/>
                          <a:latin typeface="宋体" pitchFamily="2" charset="-122"/>
                          <a:ea typeface="宋体" pitchFamily="2" charset="-122"/>
                        </a:rPr>
                        <a:t>）进行发送。</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未定义</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bl>
          </a:graphicData>
        </a:graphic>
      </p:graphicFrame>
      <p:sp>
        <p:nvSpPr>
          <p:cNvPr id="712762" name="Oval 58"/>
          <p:cNvSpPr>
            <a:spLocks noChangeArrowheads="1"/>
          </p:cNvSpPr>
          <p:nvPr/>
        </p:nvSpPr>
        <p:spPr bwMode="auto">
          <a:xfrm>
            <a:off x="5386389" y="3881438"/>
            <a:ext cx="1804987" cy="711200"/>
          </a:xfrm>
          <a:prstGeom prst="ellipse">
            <a:avLst/>
          </a:prstGeom>
          <a:noFill/>
          <a:ln w="19050" algn="ctr">
            <a:solidFill>
              <a:srgbClr val="FF0000"/>
            </a:solidFill>
            <a:round/>
            <a:headEnd/>
            <a:tailEnd/>
          </a:ln>
          <a:effectLst/>
        </p:spPr>
        <p:txBody>
          <a:bodyPr wrap="none" anchor="ctr"/>
          <a:lstStyle/>
          <a:p>
            <a:endParaRPr lang="zh-CN" altLang="en-US"/>
          </a:p>
        </p:txBody>
      </p:sp>
      <p:sp>
        <p:nvSpPr>
          <p:cNvPr id="712763" name="Rectangle 59"/>
          <p:cNvSpPr>
            <a:spLocks noChangeArrowheads="1"/>
          </p:cNvSpPr>
          <p:nvPr/>
        </p:nvSpPr>
        <p:spPr bwMode="auto">
          <a:xfrm>
            <a:off x="2211388" y="620713"/>
            <a:ext cx="777240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a:t>
            </a:r>
            <a:r>
              <a:rPr lang="zh-CN" altLang="en-US" sz="3200">
                <a:latin typeface="Times New Roman" pitchFamily="18" charset="0"/>
              </a:rPr>
              <a:t>发送单元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12763"/>
                                        </p:tgtEl>
                                        <p:attrNameLst>
                                          <p:attrName>style.visibility</p:attrName>
                                        </p:attrNameLst>
                                      </p:cBhvr>
                                      <p:to>
                                        <p:strVal val="visible"/>
                                      </p:to>
                                    </p:set>
                                    <p:anim calcmode="lin" valueType="num">
                                      <p:cBhvr additive="base">
                                        <p:cTn id="7" dur="500" fill="hold"/>
                                        <p:tgtEl>
                                          <p:spTgt spid="712763"/>
                                        </p:tgtEl>
                                        <p:attrNameLst>
                                          <p:attrName>ppt_x</p:attrName>
                                        </p:attrNameLst>
                                      </p:cBhvr>
                                      <p:tavLst>
                                        <p:tav tm="0">
                                          <p:val>
                                            <p:strVal val="1+#ppt_w/2"/>
                                          </p:val>
                                        </p:tav>
                                        <p:tav tm="100000">
                                          <p:val>
                                            <p:strVal val="#ppt_x"/>
                                          </p:val>
                                        </p:tav>
                                      </p:tavLst>
                                    </p:anim>
                                    <p:anim calcmode="lin" valueType="num">
                                      <p:cBhvr additive="base">
                                        <p:cTn id="8" dur="500" fill="hold"/>
                                        <p:tgtEl>
                                          <p:spTgt spid="71276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8" presetClass="entr" presetSubtype="6" fill="hold" nodeType="afterEffect">
                                  <p:stCondLst>
                                    <p:cond delay="0"/>
                                  </p:stCondLst>
                                  <p:childTnLst>
                                    <p:set>
                                      <p:cBhvr>
                                        <p:cTn id="11" dur="1" fill="hold">
                                          <p:stCondLst>
                                            <p:cond delay="0"/>
                                          </p:stCondLst>
                                        </p:cTn>
                                        <p:tgtEl>
                                          <p:spTgt spid="712706"/>
                                        </p:tgtEl>
                                        <p:attrNameLst>
                                          <p:attrName>style.visibility</p:attrName>
                                        </p:attrNameLst>
                                      </p:cBhvr>
                                      <p:to>
                                        <p:strVal val="visible"/>
                                      </p:to>
                                    </p:set>
                                    <p:animEffect transition="in" filter="strips(downRight)">
                                      <p:cBhvr>
                                        <p:cTn id="12" dur="500"/>
                                        <p:tgtEl>
                                          <p:spTgt spid="71270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12740"/>
                                        </p:tgtEl>
                                        <p:attrNameLst>
                                          <p:attrName>style.visibility</p:attrName>
                                        </p:attrNameLst>
                                      </p:cBhvr>
                                      <p:to>
                                        <p:strVal val="visible"/>
                                      </p:to>
                                    </p:set>
                                    <p:animEffect transition="in" filter="wipe(up)">
                                      <p:cBhvr>
                                        <p:cTn id="17" dur="2000"/>
                                        <p:tgtEl>
                                          <p:spTgt spid="71274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712722"/>
                                        </p:tgtEl>
                                        <p:attrNameLst>
                                          <p:attrName>style.visibility</p:attrName>
                                        </p:attrNameLst>
                                      </p:cBhvr>
                                      <p:to>
                                        <p:strVal val="visible"/>
                                      </p:to>
                                    </p:set>
                                    <p:animEffect transition="in" filter="wipe(right)">
                                      <p:cBhvr>
                                        <p:cTn id="22" dur="2000"/>
                                        <p:tgtEl>
                                          <p:spTgt spid="712722"/>
                                        </p:tgtEl>
                                      </p:cBhvr>
                                    </p:animEffect>
                                  </p:childTnLst>
                                </p:cTn>
                              </p:par>
                            </p:childTnLst>
                          </p:cTn>
                        </p:par>
                        <p:par>
                          <p:cTn id="23" fill="hold">
                            <p:stCondLst>
                              <p:cond delay="2000"/>
                            </p:stCondLst>
                            <p:childTnLst>
                              <p:par>
                                <p:cTn id="24" presetID="22" presetClass="entr" presetSubtype="1" fill="hold" nodeType="afterEffect">
                                  <p:stCondLst>
                                    <p:cond delay="0"/>
                                  </p:stCondLst>
                                  <p:childTnLst>
                                    <p:set>
                                      <p:cBhvr>
                                        <p:cTn id="25" dur="1" fill="hold">
                                          <p:stCondLst>
                                            <p:cond delay="0"/>
                                          </p:stCondLst>
                                        </p:cTn>
                                        <p:tgtEl>
                                          <p:spTgt spid="712737"/>
                                        </p:tgtEl>
                                        <p:attrNameLst>
                                          <p:attrName>style.visibility</p:attrName>
                                        </p:attrNameLst>
                                      </p:cBhvr>
                                      <p:to>
                                        <p:strVal val="visible"/>
                                      </p:to>
                                    </p:set>
                                    <p:animEffect transition="in" filter="wipe(up)">
                                      <p:cBhvr>
                                        <p:cTn id="26" dur="2000"/>
                                        <p:tgtEl>
                                          <p:spTgt spid="712737"/>
                                        </p:tgtEl>
                                      </p:cBhvr>
                                    </p:animEffect>
                                  </p:childTnLst>
                                </p:cTn>
                              </p:par>
                            </p:childTnLst>
                          </p:cTn>
                        </p:par>
                        <p:par>
                          <p:cTn id="27" fill="hold">
                            <p:stCondLst>
                              <p:cond delay="4000"/>
                            </p:stCondLst>
                            <p:childTnLst>
                              <p:par>
                                <p:cTn id="28" presetID="22" presetClass="entr" presetSubtype="8" fill="hold" nodeType="afterEffect">
                                  <p:stCondLst>
                                    <p:cond delay="0"/>
                                  </p:stCondLst>
                                  <p:childTnLst>
                                    <p:set>
                                      <p:cBhvr>
                                        <p:cTn id="29" dur="1" fill="hold">
                                          <p:stCondLst>
                                            <p:cond delay="0"/>
                                          </p:stCondLst>
                                        </p:cTn>
                                        <p:tgtEl>
                                          <p:spTgt spid="712727"/>
                                        </p:tgtEl>
                                        <p:attrNameLst>
                                          <p:attrName>style.visibility</p:attrName>
                                        </p:attrNameLst>
                                      </p:cBhvr>
                                      <p:to>
                                        <p:strVal val="visible"/>
                                      </p:to>
                                    </p:set>
                                    <p:animEffect transition="in" filter="wipe(left)">
                                      <p:cBhvr>
                                        <p:cTn id="30" dur="2000"/>
                                        <p:tgtEl>
                                          <p:spTgt spid="712727"/>
                                        </p:tgtEl>
                                      </p:cBhvr>
                                    </p:animEffect>
                                  </p:childTnLst>
                                </p:cTn>
                              </p:par>
                            </p:childTnLst>
                          </p:cTn>
                        </p:par>
                        <p:par>
                          <p:cTn id="31" fill="hold">
                            <p:stCondLst>
                              <p:cond delay="6000"/>
                            </p:stCondLst>
                            <p:childTnLst>
                              <p:par>
                                <p:cTn id="32" presetID="13" presetClass="entr" presetSubtype="16" fill="hold" grpId="0" nodeType="afterEffect">
                                  <p:stCondLst>
                                    <p:cond delay="0"/>
                                  </p:stCondLst>
                                  <p:childTnLst>
                                    <p:set>
                                      <p:cBhvr>
                                        <p:cTn id="33" dur="1" fill="hold">
                                          <p:stCondLst>
                                            <p:cond delay="0"/>
                                          </p:stCondLst>
                                        </p:cTn>
                                        <p:tgtEl>
                                          <p:spTgt spid="712762"/>
                                        </p:tgtEl>
                                        <p:attrNameLst>
                                          <p:attrName>style.visibility</p:attrName>
                                        </p:attrNameLst>
                                      </p:cBhvr>
                                      <p:to>
                                        <p:strVal val="visible"/>
                                      </p:to>
                                    </p:set>
                                    <p:animEffect transition="in" filter="plus(in)">
                                      <p:cBhvr>
                                        <p:cTn id="34" dur="500"/>
                                        <p:tgtEl>
                                          <p:spTgt spid="712762"/>
                                        </p:tgtEl>
                                      </p:cBhvr>
                                    </p:animEffect>
                                  </p:childTnLst>
                                </p:cTn>
                              </p:par>
                            </p:childTnLst>
                          </p:cTn>
                        </p:par>
                        <p:par>
                          <p:cTn id="35" fill="hold">
                            <p:stCondLst>
                              <p:cond delay="6500"/>
                            </p:stCondLst>
                            <p:childTnLst>
                              <p:par>
                                <p:cTn id="36" presetID="2" presetClass="entr" presetSubtype="8" fill="hold" nodeType="afterEffect">
                                  <p:stCondLst>
                                    <p:cond delay="0"/>
                                  </p:stCondLst>
                                  <p:childTnLst>
                                    <p:set>
                                      <p:cBhvr>
                                        <p:cTn id="37" dur="1" fill="hold">
                                          <p:stCondLst>
                                            <p:cond delay="0"/>
                                          </p:stCondLst>
                                        </p:cTn>
                                        <p:tgtEl>
                                          <p:spTgt spid="712748"/>
                                        </p:tgtEl>
                                        <p:attrNameLst>
                                          <p:attrName>style.visibility</p:attrName>
                                        </p:attrNameLst>
                                      </p:cBhvr>
                                      <p:to>
                                        <p:strVal val="visible"/>
                                      </p:to>
                                    </p:set>
                                    <p:anim calcmode="lin" valueType="num">
                                      <p:cBhvr additive="base">
                                        <p:cTn id="38" dur="500" fill="hold"/>
                                        <p:tgtEl>
                                          <p:spTgt spid="712748"/>
                                        </p:tgtEl>
                                        <p:attrNameLst>
                                          <p:attrName>ppt_x</p:attrName>
                                        </p:attrNameLst>
                                      </p:cBhvr>
                                      <p:tavLst>
                                        <p:tav tm="0">
                                          <p:val>
                                            <p:strVal val="0-#ppt_w/2"/>
                                          </p:val>
                                        </p:tav>
                                        <p:tav tm="100000">
                                          <p:val>
                                            <p:strVal val="#ppt_x"/>
                                          </p:val>
                                        </p:tav>
                                      </p:tavLst>
                                    </p:anim>
                                    <p:anim calcmode="lin" valueType="num">
                                      <p:cBhvr additive="base">
                                        <p:cTn id="39" dur="500" fill="hold"/>
                                        <p:tgtEl>
                                          <p:spTgt spid="7127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2762" grpId="0" animBg="1"/>
      <p:bldP spid="712763"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30" name="Rectangle 2"/>
          <p:cNvSpPr>
            <a:spLocks noGrp="1" noChangeArrowheads="1"/>
          </p:cNvSpPr>
          <p:nvPr>
            <p:ph idx="1"/>
          </p:nvPr>
        </p:nvSpPr>
        <p:spPr>
          <a:xfrm>
            <a:off x="2241551" y="2278064"/>
            <a:ext cx="3998913" cy="2663825"/>
          </a:xfrm>
        </p:spPr>
        <p:txBody>
          <a:bodyPr/>
          <a:lstStyle/>
          <a:p>
            <a:pPr>
              <a:lnSpc>
                <a:spcPct val="90000"/>
              </a:lnSpc>
              <a:buClr>
                <a:schemeClr val="accent2"/>
              </a:buClr>
            </a:pPr>
            <a:r>
              <a:rPr lang="en-US" altLang="zh-CN" sz="2400">
                <a:latin typeface="华文新魏" pitchFamily="2" charset="-122"/>
                <a:ea typeface="华文新魏" pitchFamily="2" charset="-122"/>
              </a:rPr>
              <a:t>UART0</a:t>
            </a:r>
            <a:r>
              <a:rPr lang="zh-CN" altLang="en-US" sz="2400">
                <a:latin typeface="华文新魏" pitchFamily="2" charset="-122"/>
                <a:ea typeface="华文新魏" pitchFamily="2" charset="-122"/>
              </a:rPr>
              <a:t>、</a:t>
            </a:r>
            <a:r>
              <a:rPr lang="en-US" altLang="zh-CN" sz="2400">
                <a:latin typeface="华文新魏" pitchFamily="2" charset="-122"/>
                <a:ea typeface="华文新魏" pitchFamily="2" charset="-122"/>
              </a:rPr>
              <a:t>UART1</a:t>
            </a:r>
            <a:r>
              <a:rPr lang="zh-CN" altLang="en-US" sz="2400">
                <a:latin typeface="华文新魏" pitchFamily="2" charset="-122"/>
                <a:ea typeface="华文新魏" pitchFamily="2" charset="-122"/>
              </a:rPr>
              <a:t>各含有</a:t>
            </a:r>
            <a:r>
              <a:rPr lang="en-US" altLang="zh-CN" sz="2400">
                <a:latin typeface="华文新魏" pitchFamily="2" charset="-122"/>
                <a:ea typeface="华文新魏" pitchFamily="2" charset="-122"/>
              </a:rPr>
              <a:t>1</a:t>
            </a:r>
            <a:r>
              <a:rPr lang="zh-CN" altLang="en-US" sz="2400">
                <a:latin typeface="华文新魏" pitchFamily="2" charset="-122"/>
                <a:ea typeface="华文新魏" pitchFamily="2" charset="-122"/>
              </a:rPr>
              <a:t>个</a:t>
            </a:r>
            <a:r>
              <a:rPr lang="en-US" altLang="zh-CN" sz="2400">
                <a:latin typeface="华文新魏" pitchFamily="2" charset="-122"/>
                <a:ea typeface="华文新魏" pitchFamily="2" charset="-122"/>
              </a:rPr>
              <a:t>16</a:t>
            </a:r>
            <a:r>
              <a:rPr lang="zh-CN" altLang="en-US" sz="2400">
                <a:latin typeface="华文新魏" pitchFamily="2" charset="-122"/>
                <a:ea typeface="华文新魏" pitchFamily="2" charset="-122"/>
              </a:rPr>
              <a:t>字节的发送</a:t>
            </a:r>
            <a:r>
              <a:rPr lang="en-US" altLang="zh-CN" sz="2400">
                <a:latin typeface="华文新魏" pitchFamily="2" charset="-122"/>
                <a:ea typeface="华文新魏" pitchFamily="2" charset="-122"/>
              </a:rPr>
              <a:t>FIFO</a:t>
            </a:r>
            <a:r>
              <a:rPr lang="zh-CN" altLang="en-US" sz="2400">
                <a:latin typeface="华文新魏" pitchFamily="2" charset="-122"/>
                <a:ea typeface="华文新魏" pitchFamily="2" charset="-122"/>
              </a:rPr>
              <a:t>缓冲区。 </a:t>
            </a:r>
          </a:p>
          <a:p>
            <a:pPr>
              <a:lnSpc>
                <a:spcPct val="90000"/>
              </a:lnSpc>
              <a:buClr>
                <a:schemeClr val="accent2"/>
              </a:buClr>
            </a:pPr>
            <a:r>
              <a:rPr lang="en-US" altLang="zh-CN" sz="2400">
                <a:latin typeface="华文新魏" pitchFamily="2" charset="-122"/>
                <a:ea typeface="华文新魏" pitchFamily="2" charset="-122"/>
              </a:rPr>
              <a:t>UnTHR</a:t>
            </a:r>
            <a:r>
              <a:rPr lang="zh-CN" altLang="en-US" sz="2400">
                <a:latin typeface="华文新魏" pitchFamily="2" charset="-122"/>
                <a:ea typeface="华文新魏" pitchFamily="2" charset="-122"/>
              </a:rPr>
              <a:t>是</a:t>
            </a:r>
            <a:r>
              <a:rPr lang="en-US" altLang="zh-CN" sz="2400">
                <a:latin typeface="华文新魏" pitchFamily="2" charset="-122"/>
                <a:ea typeface="华文新魏" pitchFamily="2" charset="-122"/>
              </a:rPr>
              <a:t>UARTn</a:t>
            </a:r>
            <a:r>
              <a:rPr lang="zh-CN" altLang="en-US" sz="2400">
                <a:latin typeface="华文新魏" pitchFamily="2" charset="-122"/>
                <a:ea typeface="华文新魏" pitchFamily="2" charset="-122"/>
              </a:rPr>
              <a:t>发送</a:t>
            </a:r>
            <a:r>
              <a:rPr lang="en-US" altLang="zh-CN" sz="2400">
                <a:latin typeface="华文新魏" pitchFamily="2" charset="-122"/>
                <a:ea typeface="华文新魏" pitchFamily="2" charset="-122"/>
              </a:rPr>
              <a:t>FIFO</a:t>
            </a:r>
            <a:r>
              <a:rPr lang="zh-CN" altLang="en-US" sz="2400">
                <a:latin typeface="华文新魏" pitchFamily="2" charset="-122"/>
                <a:ea typeface="华文新魏" pitchFamily="2" charset="-122"/>
              </a:rPr>
              <a:t>的最高字节。 </a:t>
            </a:r>
          </a:p>
          <a:p>
            <a:pPr>
              <a:lnSpc>
                <a:spcPct val="90000"/>
              </a:lnSpc>
              <a:buClr>
                <a:schemeClr val="accent2"/>
              </a:buClr>
            </a:pPr>
            <a:r>
              <a:rPr lang="en-US" altLang="zh-CN" sz="2400">
                <a:latin typeface="华文新魏" pitchFamily="2" charset="-122"/>
                <a:ea typeface="华文新魏" pitchFamily="2" charset="-122"/>
              </a:rPr>
              <a:t>UART</a:t>
            </a:r>
            <a:r>
              <a:rPr lang="zh-CN" altLang="en-US" sz="2400">
                <a:latin typeface="华文新魏" pitchFamily="2" charset="-122"/>
                <a:ea typeface="华文新魏" pitchFamily="2" charset="-122"/>
              </a:rPr>
              <a:t>的发送</a:t>
            </a:r>
            <a:r>
              <a:rPr lang="en-US" altLang="zh-CN" sz="2400">
                <a:latin typeface="华文新魏" pitchFamily="2" charset="-122"/>
                <a:ea typeface="华文新魏" pitchFamily="2" charset="-122"/>
              </a:rPr>
              <a:t>FIFO</a:t>
            </a:r>
            <a:r>
              <a:rPr lang="zh-CN" altLang="en-US" sz="2400">
                <a:latin typeface="华文新魏" pitchFamily="2" charset="-122"/>
                <a:ea typeface="华文新魏" pitchFamily="2" charset="-122"/>
              </a:rPr>
              <a:t>是一直使能的。</a:t>
            </a:r>
          </a:p>
        </p:txBody>
      </p:sp>
      <p:grpSp>
        <p:nvGrpSpPr>
          <p:cNvPr id="713731" name="Group 3"/>
          <p:cNvGrpSpPr>
            <a:grpSpLocks/>
          </p:cNvGrpSpPr>
          <p:nvPr/>
        </p:nvGrpSpPr>
        <p:grpSpPr bwMode="auto">
          <a:xfrm>
            <a:off x="6496051" y="2176464"/>
            <a:ext cx="3128963" cy="3425825"/>
            <a:chOff x="3099" y="1371"/>
            <a:chExt cx="1971" cy="2158"/>
          </a:xfrm>
        </p:grpSpPr>
        <p:pic>
          <p:nvPicPr>
            <p:cNvPr id="713732" name="Picture 4" descr="MCj02374070000[1]"/>
            <p:cNvPicPr>
              <a:picLocks noChangeAspect="1" noChangeArrowheads="1"/>
            </p:cNvPicPr>
            <p:nvPr/>
          </p:nvPicPr>
          <p:blipFill>
            <a:blip r:embed="rId2" cstate="print"/>
            <a:srcRect/>
            <a:stretch>
              <a:fillRect/>
            </a:stretch>
          </p:blipFill>
          <p:spPr bwMode="auto">
            <a:xfrm>
              <a:off x="3168" y="1950"/>
              <a:ext cx="750" cy="970"/>
            </a:xfrm>
            <a:prstGeom prst="rect">
              <a:avLst/>
            </a:prstGeom>
            <a:noFill/>
            <a:effectLst>
              <a:outerShdw dist="107763" dir="2700000" algn="ctr" rotWithShape="0">
                <a:srgbClr val="808080">
                  <a:alpha val="50000"/>
                </a:srgbClr>
              </a:outerShdw>
            </a:effectLst>
          </p:spPr>
        </p:pic>
        <p:sp>
          <p:nvSpPr>
            <p:cNvPr id="713733" name="Text Box 5"/>
            <p:cNvSpPr txBox="1">
              <a:spLocks noChangeArrowheads="1"/>
            </p:cNvSpPr>
            <p:nvPr/>
          </p:nvSpPr>
          <p:spPr bwMode="auto">
            <a:xfrm>
              <a:off x="3698" y="2403"/>
              <a:ext cx="716" cy="231"/>
            </a:xfrm>
            <a:prstGeom prst="rect">
              <a:avLst/>
            </a:prstGeom>
            <a:noFill/>
            <a:ln w="9525" algn="ctr">
              <a:noFill/>
              <a:miter lim="800000"/>
              <a:headEnd/>
              <a:tailEnd/>
            </a:ln>
            <a:effectLst/>
          </p:spPr>
          <p:txBody>
            <a:bodyPr wrap="none">
              <a:spAutoFit/>
            </a:bodyPr>
            <a:lstStyle/>
            <a:p>
              <a:r>
                <a:rPr lang="zh-CN" altLang="en-US">
                  <a:latin typeface="Times New Roman" pitchFamily="18" charset="0"/>
                  <a:ea typeface="楷体_GB2312" pitchFamily="49" charset="-122"/>
                </a:rPr>
                <a:t>发送</a:t>
              </a:r>
              <a:r>
                <a:rPr lang="en-US" altLang="zh-CN">
                  <a:latin typeface="Times New Roman" pitchFamily="18" charset="0"/>
                  <a:ea typeface="楷体_GB2312" pitchFamily="49" charset="-122"/>
                </a:rPr>
                <a:t>FIFO</a:t>
              </a:r>
            </a:p>
          </p:txBody>
        </p:sp>
        <p:sp>
          <p:nvSpPr>
            <p:cNvPr id="713734" name="AutoShape 6"/>
            <p:cNvSpPr>
              <a:spLocks noChangeArrowheads="1"/>
            </p:cNvSpPr>
            <p:nvPr/>
          </p:nvSpPr>
          <p:spPr bwMode="auto">
            <a:xfrm>
              <a:off x="3391" y="1533"/>
              <a:ext cx="306" cy="615"/>
            </a:xfrm>
            <a:prstGeom prst="downArrow">
              <a:avLst>
                <a:gd name="adj1" fmla="val 50000"/>
                <a:gd name="adj2" fmla="val 50245"/>
              </a:avLst>
            </a:prstGeom>
            <a:solidFill>
              <a:srgbClr val="CCECFF"/>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sp>
          <p:nvSpPr>
            <p:cNvPr id="713735" name="Rectangle 7"/>
            <p:cNvSpPr>
              <a:spLocks noChangeArrowheads="1"/>
            </p:cNvSpPr>
            <p:nvPr/>
          </p:nvSpPr>
          <p:spPr bwMode="auto">
            <a:xfrm>
              <a:off x="3099" y="1371"/>
              <a:ext cx="901" cy="431"/>
            </a:xfrm>
            <a:prstGeom prst="rect">
              <a:avLst/>
            </a:prstGeom>
            <a:solidFill>
              <a:srgbClr val="FFFF99"/>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r>
                <a:rPr lang="en-US" altLang="zh-CN" sz="2000">
                  <a:latin typeface="Times New Roman" pitchFamily="18" charset="0"/>
                </a:rPr>
                <a:t>UnTHR</a:t>
              </a:r>
            </a:p>
          </p:txBody>
        </p:sp>
        <p:sp>
          <p:nvSpPr>
            <p:cNvPr id="713736" name="Line 8"/>
            <p:cNvSpPr>
              <a:spLocks noChangeShapeType="1"/>
            </p:cNvSpPr>
            <p:nvPr/>
          </p:nvSpPr>
          <p:spPr bwMode="auto">
            <a:xfrm>
              <a:off x="3553" y="2888"/>
              <a:ext cx="0" cy="211"/>
            </a:xfrm>
            <a:prstGeom prst="line">
              <a:avLst/>
            </a:prstGeom>
            <a:noFill/>
            <a:ln w="19050">
              <a:solidFill>
                <a:srgbClr val="FF0000"/>
              </a:solidFill>
              <a:round/>
              <a:headEnd/>
              <a:tailEnd type="triangle" w="med" len="med"/>
            </a:ln>
            <a:effectLst>
              <a:outerShdw dist="107763" dir="2700000" algn="ctr" rotWithShape="0">
                <a:schemeClr val="bg2">
                  <a:alpha val="50000"/>
                </a:schemeClr>
              </a:outerShdw>
            </a:effectLst>
          </p:spPr>
          <p:txBody>
            <a:bodyPr wrap="none" anchor="ctr"/>
            <a:lstStyle/>
            <a:p>
              <a:endParaRPr lang="zh-CN" altLang="en-US"/>
            </a:p>
          </p:txBody>
        </p:sp>
        <p:sp>
          <p:nvSpPr>
            <p:cNvPr id="713737" name="Line 9"/>
            <p:cNvSpPr>
              <a:spLocks noChangeShapeType="1"/>
            </p:cNvSpPr>
            <p:nvPr/>
          </p:nvSpPr>
          <p:spPr bwMode="auto">
            <a:xfrm>
              <a:off x="3879" y="3326"/>
              <a:ext cx="341" cy="0"/>
            </a:xfrm>
            <a:prstGeom prst="line">
              <a:avLst/>
            </a:prstGeom>
            <a:noFill/>
            <a:ln w="19050">
              <a:solidFill>
                <a:srgbClr val="FF0000"/>
              </a:solidFill>
              <a:round/>
              <a:headEnd/>
              <a:tailEnd type="triangle" w="med" len="med"/>
            </a:ln>
            <a:effectLst>
              <a:outerShdw dist="107763" dir="2700000" algn="ctr" rotWithShape="0">
                <a:schemeClr val="bg2">
                  <a:alpha val="50000"/>
                </a:schemeClr>
              </a:outerShdw>
            </a:effectLst>
          </p:spPr>
          <p:txBody>
            <a:bodyPr wrap="none" anchor="ctr"/>
            <a:lstStyle/>
            <a:p>
              <a:endParaRPr lang="zh-CN" altLang="en-US"/>
            </a:p>
          </p:txBody>
        </p:sp>
        <p:sp>
          <p:nvSpPr>
            <p:cNvPr id="713738" name="Rectangle 10"/>
            <p:cNvSpPr>
              <a:spLocks noChangeArrowheads="1"/>
            </p:cNvSpPr>
            <p:nvPr/>
          </p:nvSpPr>
          <p:spPr bwMode="auto">
            <a:xfrm>
              <a:off x="3105" y="3098"/>
              <a:ext cx="901" cy="431"/>
            </a:xfrm>
            <a:prstGeom prst="rect">
              <a:avLst/>
            </a:prstGeom>
            <a:solidFill>
              <a:srgbClr val="FFFF99"/>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r>
                <a:rPr lang="en-US" altLang="zh-CN" sz="2000">
                  <a:latin typeface="Times New Roman" pitchFamily="18" charset="0"/>
                </a:rPr>
                <a:t>UnTSR</a:t>
              </a:r>
            </a:p>
          </p:txBody>
        </p:sp>
        <p:pic>
          <p:nvPicPr>
            <p:cNvPr id="713739" name="Picture 11"/>
            <p:cNvPicPr>
              <a:picLocks noChangeAspect="1" noChangeArrowheads="1"/>
            </p:cNvPicPr>
            <p:nvPr/>
          </p:nvPicPr>
          <p:blipFill>
            <a:blip r:embed="rId3" cstate="print"/>
            <a:srcRect/>
            <a:stretch>
              <a:fillRect/>
            </a:stretch>
          </p:blipFill>
          <p:spPr bwMode="auto">
            <a:xfrm>
              <a:off x="4211" y="3172"/>
              <a:ext cx="859" cy="295"/>
            </a:xfrm>
            <a:prstGeom prst="rect">
              <a:avLst/>
            </a:prstGeom>
            <a:noFill/>
            <a:ln w="9525" algn="ctr">
              <a:noFill/>
              <a:miter lim="800000"/>
              <a:headEnd/>
              <a:tailEnd/>
            </a:ln>
            <a:effectLst>
              <a:outerShdw dist="107763" dir="2700000" algn="ctr" rotWithShape="0">
                <a:schemeClr val="bg2">
                  <a:alpha val="50000"/>
                </a:schemeClr>
              </a:outerShdw>
            </a:effectLst>
          </p:spPr>
        </p:pic>
      </p:grpSp>
      <p:sp>
        <p:nvSpPr>
          <p:cNvPr id="713740" name="Rectangle 12"/>
          <p:cNvSpPr>
            <a:spLocks noChangeArrowheads="1"/>
          </p:cNvSpPr>
          <p:nvPr/>
        </p:nvSpPr>
        <p:spPr bwMode="auto">
          <a:xfrm>
            <a:off x="2211388" y="620713"/>
            <a:ext cx="777240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a:t>
            </a:r>
            <a:r>
              <a:rPr lang="zh-CN" altLang="en-US" sz="3200">
                <a:latin typeface="Times New Roman" pitchFamily="18" charset="0"/>
              </a:rPr>
              <a:t>发送</a:t>
            </a:r>
            <a:r>
              <a:rPr lang="en-US" altLang="zh-CN" sz="3200">
                <a:latin typeface="Times New Roman" pitchFamily="18" charset="0"/>
              </a:rPr>
              <a:t>FIFO</a:t>
            </a:r>
            <a:r>
              <a:rPr lang="zh-CN" altLang="en-US" sz="3200">
                <a:latin typeface="Times New Roman" pitchFamily="18" charset="0"/>
              </a:rPr>
              <a:t>缓冲区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13740"/>
                                        </p:tgtEl>
                                        <p:attrNameLst>
                                          <p:attrName>style.visibility</p:attrName>
                                        </p:attrNameLst>
                                      </p:cBhvr>
                                      <p:to>
                                        <p:strVal val="visible"/>
                                      </p:to>
                                    </p:set>
                                    <p:anim calcmode="lin" valueType="num">
                                      <p:cBhvr additive="base">
                                        <p:cTn id="7" dur="500" fill="hold"/>
                                        <p:tgtEl>
                                          <p:spTgt spid="713740"/>
                                        </p:tgtEl>
                                        <p:attrNameLst>
                                          <p:attrName>ppt_x</p:attrName>
                                        </p:attrNameLst>
                                      </p:cBhvr>
                                      <p:tavLst>
                                        <p:tav tm="0">
                                          <p:val>
                                            <p:strVal val="1+#ppt_w/2"/>
                                          </p:val>
                                        </p:tav>
                                        <p:tav tm="100000">
                                          <p:val>
                                            <p:strVal val="#ppt_x"/>
                                          </p:val>
                                        </p:tav>
                                      </p:tavLst>
                                    </p:anim>
                                    <p:anim calcmode="lin" valueType="num">
                                      <p:cBhvr additive="base">
                                        <p:cTn id="8" dur="500" fill="hold"/>
                                        <p:tgtEl>
                                          <p:spTgt spid="71374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713730">
                                            <p:txEl>
                                              <p:pRg st="0" end="0"/>
                                            </p:txEl>
                                          </p:spTgt>
                                        </p:tgtEl>
                                        <p:attrNameLst>
                                          <p:attrName>style.visibility</p:attrName>
                                        </p:attrNameLst>
                                      </p:cBhvr>
                                      <p:to>
                                        <p:strVal val="visible"/>
                                      </p:to>
                                    </p:set>
                                    <p:animEffect transition="in" filter="box(in)">
                                      <p:cBhvr>
                                        <p:cTn id="12" dur="500"/>
                                        <p:tgtEl>
                                          <p:spTgt spid="713730">
                                            <p:txEl>
                                              <p:pRg st="0" end="0"/>
                                            </p:txEl>
                                          </p:spTgt>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713730">
                                            <p:txEl>
                                              <p:pRg st="1" end="1"/>
                                            </p:txEl>
                                          </p:spTgt>
                                        </p:tgtEl>
                                        <p:attrNameLst>
                                          <p:attrName>style.visibility</p:attrName>
                                        </p:attrNameLst>
                                      </p:cBhvr>
                                      <p:to>
                                        <p:strVal val="visible"/>
                                      </p:to>
                                    </p:set>
                                    <p:animEffect transition="in" filter="box(in)">
                                      <p:cBhvr>
                                        <p:cTn id="15" dur="500"/>
                                        <p:tgtEl>
                                          <p:spTgt spid="713730">
                                            <p:txEl>
                                              <p:pRg st="1" end="1"/>
                                            </p:txEl>
                                          </p:spTgt>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713730">
                                            <p:txEl>
                                              <p:pRg st="2" end="2"/>
                                            </p:txEl>
                                          </p:spTgt>
                                        </p:tgtEl>
                                        <p:attrNameLst>
                                          <p:attrName>style.visibility</p:attrName>
                                        </p:attrNameLst>
                                      </p:cBhvr>
                                      <p:to>
                                        <p:strVal val="visible"/>
                                      </p:to>
                                    </p:set>
                                    <p:animEffect transition="in" filter="box(in)">
                                      <p:cBhvr>
                                        <p:cTn id="18" dur="500"/>
                                        <p:tgtEl>
                                          <p:spTgt spid="713730">
                                            <p:txEl>
                                              <p:pRg st="2" end="2"/>
                                            </p:txEl>
                                          </p:spTgt>
                                        </p:tgtEl>
                                      </p:cBhvr>
                                    </p:animEffect>
                                  </p:childTnLst>
                                </p:cTn>
                              </p:par>
                            </p:childTnLst>
                          </p:cTn>
                        </p:par>
                        <p:par>
                          <p:cTn id="19" fill="hold">
                            <p:stCondLst>
                              <p:cond delay="1000"/>
                            </p:stCondLst>
                            <p:childTnLst>
                              <p:par>
                                <p:cTn id="20" presetID="12" presetClass="entr" presetSubtype="1" fill="hold" nodeType="afterEffect">
                                  <p:stCondLst>
                                    <p:cond delay="0"/>
                                  </p:stCondLst>
                                  <p:childTnLst>
                                    <p:set>
                                      <p:cBhvr>
                                        <p:cTn id="21" dur="1" fill="hold">
                                          <p:stCondLst>
                                            <p:cond delay="0"/>
                                          </p:stCondLst>
                                        </p:cTn>
                                        <p:tgtEl>
                                          <p:spTgt spid="713731"/>
                                        </p:tgtEl>
                                        <p:attrNameLst>
                                          <p:attrName>style.visibility</p:attrName>
                                        </p:attrNameLst>
                                      </p:cBhvr>
                                      <p:to>
                                        <p:strVal val="visible"/>
                                      </p:to>
                                    </p:set>
                                    <p:animEffect transition="in" filter="slide(fromTop)">
                                      <p:cBhvr>
                                        <p:cTn id="22" dur="500"/>
                                        <p:tgtEl>
                                          <p:spTgt spid="713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3730" grpId="0" build="p"/>
      <p:bldP spid="713740"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4754" name="Group 2"/>
          <p:cNvGrpSpPr>
            <a:grpSpLocks/>
          </p:cNvGrpSpPr>
          <p:nvPr/>
        </p:nvGrpSpPr>
        <p:grpSpPr bwMode="auto">
          <a:xfrm>
            <a:off x="4519614" y="1274764"/>
            <a:ext cx="5105399" cy="3914775"/>
            <a:chOff x="2249" y="1095"/>
            <a:chExt cx="3216" cy="2466"/>
          </a:xfrm>
        </p:grpSpPr>
        <p:sp>
          <p:nvSpPr>
            <p:cNvPr id="714755" name="AutoShape 3"/>
            <p:cNvSpPr>
              <a:spLocks noChangeArrowheads="1"/>
            </p:cNvSpPr>
            <p:nvPr/>
          </p:nvSpPr>
          <p:spPr bwMode="auto">
            <a:xfrm>
              <a:off x="2504" y="2136"/>
              <a:ext cx="378" cy="1425"/>
            </a:xfrm>
            <a:prstGeom prst="upDownArrow">
              <a:avLst>
                <a:gd name="adj1" fmla="val 49731"/>
                <a:gd name="adj2" fmla="val 53965"/>
              </a:avLst>
            </a:prstGeom>
            <a:solidFill>
              <a:srgbClr val="CC99FF"/>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r>
                <a:rPr lang="en-US" altLang="zh-CN" sz="1400" b="1">
                  <a:latin typeface="Times New Roman" pitchFamily="18" charset="0"/>
                </a:rPr>
                <a:t>V</a:t>
              </a:r>
            </a:p>
            <a:p>
              <a:r>
                <a:rPr lang="en-US" altLang="zh-CN" sz="1400" b="1">
                  <a:latin typeface="Times New Roman" pitchFamily="18" charset="0"/>
                </a:rPr>
                <a:t>P</a:t>
              </a:r>
            </a:p>
            <a:p>
              <a:r>
                <a:rPr lang="en-US" altLang="zh-CN" sz="1400" b="1">
                  <a:latin typeface="Times New Roman" pitchFamily="18" charset="0"/>
                </a:rPr>
                <a:t>B</a:t>
              </a:r>
            </a:p>
            <a:p>
              <a:r>
                <a:rPr lang="zh-CN" altLang="en-US" sz="1400" b="1">
                  <a:latin typeface="Times New Roman" pitchFamily="18" charset="0"/>
                </a:rPr>
                <a:t>总</a:t>
              </a:r>
            </a:p>
            <a:p>
              <a:r>
                <a:rPr lang="zh-CN" altLang="en-US" sz="1400" b="1">
                  <a:latin typeface="Times New Roman" pitchFamily="18" charset="0"/>
                </a:rPr>
                <a:t>线</a:t>
              </a:r>
            </a:p>
          </p:txBody>
        </p:sp>
        <p:sp>
          <p:nvSpPr>
            <p:cNvPr id="714756" name="Rectangle 4"/>
            <p:cNvSpPr>
              <a:spLocks noChangeArrowheads="1"/>
            </p:cNvSpPr>
            <p:nvPr/>
          </p:nvSpPr>
          <p:spPr bwMode="auto">
            <a:xfrm>
              <a:off x="2249" y="1851"/>
              <a:ext cx="870" cy="282"/>
            </a:xfrm>
            <a:prstGeom prst="rect">
              <a:avLst/>
            </a:prstGeom>
            <a:solidFill>
              <a:schemeClr val="accent1"/>
            </a:solidFill>
            <a:ln w="9525" algn="ctr">
              <a:solidFill>
                <a:schemeClr val="tx1"/>
              </a:solidFill>
              <a:miter lim="800000"/>
              <a:headEnd/>
              <a:tailEnd/>
            </a:ln>
            <a:effectLst/>
          </p:spPr>
          <p:txBody>
            <a:bodyPr wrap="none" anchor="ctr"/>
            <a:lstStyle/>
            <a:p>
              <a:r>
                <a:rPr lang="en-US" altLang="zh-CN" sz="1400">
                  <a:latin typeface="Times New Roman" pitchFamily="18" charset="0"/>
                  <a:ea typeface="楷体_GB2312" pitchFamily="49" charset="-122"/>
                </a:rPr>
                <a:t>AHB-VPB</a:t>
              </a:r>
              <a:r>
                <a:rPr lang="zh-CN" altLang="en-US" sz="1400">
                  <a:latin typeface="Times New Roman" pitchFamily="18" charset="0"/>
                  <a:ea typeface="楷体_GB2312" pitchFamily="49" charset="-122"/>
                </a:rPr>
                <a:t>桥</a:t>
              </a:r>
            </a:p>
          </p:txBody>
        </p:sp>
        <p:sp>
          <p:nvSpPr>
            <p:cNvPr id="714757" name="Rectangle 5"/>
            <p:cNvSpPr>
              <a:spLocks noChangeArrowheads="1"/>
            </p:cNvSpPr>
            <p:nvPr/>
          </p:nvSpPr>
          <p:spPr bwMode="auto">
            <a:xfrm>
              <a:off x="4085" y="1509"/>
              <a:ext cx="732" cy="288"/>
            </a:xfrm>
            <a:prstGeom prst="rect">
              <a:avLst/>
            </a:prstGeom>
            <a:solidFill>
              <a:srgbClr val="FFCC99"/>
            </a:solidFill>
            <a:ln w="9525" algn="ctr">
              <a:solidFill>
                <a:schemeClr val="tx1"/>
              </a:solidFill>
              <a:miter lim="800000"/>
              <a:headEnd/>
              <a:tailEnd/>
            </a:ln>
            <a:effectLst/>
          </p:spPr>
          <p:txBody>
            <a:bodyPr wrap="none" anchor="ctr"/>
            <a:lstStyle/>
            <a:p>
              <a:r>
                <a:rPr lang="en-US" altLang="zh-CN" sz="1600">
                  <a:latin typeface="Times New Roman" pitchFamily="18" charset="0"/>
                </a:rPr>
                <a:t>ARM7</a:t>
              </a:r>
            </a:p>
          </p:txBody>
        </p:sp>
        <p:sp>
          <p:nvSpPr>
            <p:cNvPr id="714758" name="AutoShape 6"/>
            <p:cNvSpPr>
              <a:spLocks noChangeArrowheads="1"/>
            </p:cNvSpPr>
            <p:nvPr/>
          </p:nvSpPr>
          <p:spPr bwMode="auto">
            <a:xfrm>
              <a:off x="3527" y="1095"/>
              <a:ext cx="306" cy="1467"/>
            </a:xfrm>
            <a:prstGeom prst="upDownArrow">
              <a:avLst>
                <a:gd name="adj1" fmla="val 50000"/>
                <a:gd name="adj2" fmla="val 95882"/>
              </a:avLst>
            </a:prstGeom>
            <a:solidFill>
              <a:srgbClr val="CCECFF"/>
            </a:solidFill>
            <a:ln w="9525" algn="ctr">
              <a:solidFill>
                <a:schemeClr val="tx1"/>
              </a:solidFill>
              <a:miter lim="800000"/>
              <a:headEnd/>
              <a:tailEnd/>
            </a:ln>
            <a:effectLst/>
          </p:spPr>
          <p:txBody>
            <a:bodyPr wrap="none" anchor="ctr"/>
            <a:lstStyle/>
            <a:p>
              <a:r>
                <a:rPr lang="en-US" altLang="zh-CN" sz="1400">
                  <a:latin typeface="Times New Roman" pitchFamily="18" charset="0"/>
                  <a:ea typeface="楷体_GB2312" pitchFamily="49" charset="-122"/>
                </a:rPr>
                <a:t>A</a:t>
              </a:r>
            </a:p>
            <a:p>
              <a:r>
                <a:rPr lang="en-US" altLang="zh-CN" sz="1400">
                  <a:latin typeface="Times New Roman" pitchFamily="18" charset="0"/>
                  <a:ea typeface="楷体_GB2312" pitchFamily="49" charset="-122"/>
                </a:rPr>
                <a:t>H</a:t>
              </a:r>
            </a:p>
            <a:p>
              <a:r>
                <a:rPr lang="en-US" altLang="zh-CN" sz="1400">
                  <a:latin typeface="Times New Roman" pitchFamily="18" charset="0"/>
                  <a:ea typeface="楷体_GB2312" pitchFamily="49" charset="-122"/>
                </a:rPr>
                <a:t>B</a:t>
              </a:r>
            </a:p>
            <a:p>
              <a:r>
                <a:rPr lang="zh-CN" altLang="en-US" sz="1400">
                  <a:latin typeface="Times New Roman" pitchFamily="18" charset="0"/>
                  <a:ea typeface="楷体_GB2312" pitchFamily="49" charset="-122"/>
                </a:rPr>
                <a:t>总</a:t>
              </a:r>
            </a:p>
            <a:p>
              <a:r>
                <a:rPr lang="zh-CN" altLang="en-US" sz="1400">
                  <a:latin typeface="Times New Roman" pitchFamily="18" charset="0"/>
                  <a:ea typeface="楷体_GB2312" pitchFamily="49" charset="-122"/>
                </a:rPr>
                <a:t>线</a:t>
              </a:r>
            </a:p>
          </p:txBody>
        </p:sp>
        <p:sp>
          <p:nvSpPr>
            <p:cNvPr id="714759" name="AutoShape 7"/>
            <p:cNvSpPr>
              <a:spLocks noChangeArrowheads="1"/>
            </p:cNvSpPr>
            <p:nvPr/>
          </p:nvSpPr>
          <p:spPr bwMode="auto">
            <a:xfrm>
              <a:off x="3125" y="1905"/>
              <a:ext cx="477" cy="216"/>
            </a:xfrm>
            <a:prstGeom prst="leftRightArrow">
              <a:avLst>
                <a:gd name="adj1" fmla="val 50000"/>
                <a:gd name="adj2" fmla="val 44167"/>
              </a:avLst>
            </a:prstGeom>
            <a:solidFill>
              <a:srgbClr val="FFFFCC"/>
            </a:solidFill>
            <a:ln w="9525" algn="ctr">
              <a:solidFill>
                <a:schemeClr val="tx1"/>
              </a:solidFill>
              <a:miter lim="800000"/>
              <a:headEnd/>
              <a:tailEnd/>
            </a:ln>
            <a:effectLst/>
          </p:spPr>
          <p:txBody>
            <a:bodyPr wrap="none" anchor="ctr"/>
            <a:lstStyle/>
            <a:p>
              <a:endParaRPr lang="zh-CN" altLang="en-US"/>
            </a:p>
          </p:txBody>
        </p:sp>
        <p:sp>
          <p:nvSpPr>
            <p:cNvPr id="714760" name="AutoShape 8"/>
            <p:cNvSpPr>
              <a:spLocks noChangeArrowheads="1"/>
            </p:cNvSpPr>
            <p:nvPr/>
          </p:nvSpPr>
          <p:spPr bwMode="auto">
            <a:xfrm>
              <a:off x="3759" y="1555"/>
              <a:ext cx="321" cy="210"/>
            </a:xfrm>
            <a:prstGeom prst="leftRightArrow">
              <a:avLst>
                <a:gd name="adj1" fmla="val 50000"/>
                <a:gd name="adj2" fmla="val 30571"/>
              </a:avLst>
            </a:prstGeom>
            <a:solidFill>
              <a:srgbClr val="FFFFCC"/>
            </a:solidFill>
            <a:ln w="9525" algn="ctr">
              <a:solidFill>
                <a:schemeClr val="tx1"/>
              </a:solidFill>
              <a:miter lim="800000"/>
              <a:headEnd/>
              <a:tailEnd/>
            </a:ln>
            <a:effectLst/>
          </p:spPr>
          <p:txBody>
            <a:bodyPr wrap="none" anchor="ctr"/>
            <a:lstStyle/>
            <a:p>
              <a:endParaRPr lang="zh-CN" altLang="en-US"/>
            </a:p>
          </p:txBody>
        </p:sp>
        <p:sp>
          <p:nvSpPr>
            <p:cNvPr id="714761" name="AutoShape 9"/>
            <p:cNvSpPr>
              <a:spLocks noChangeArrowheads="1"/>
            </p:cNvSpPr>
            <p:nvPr/>
          </p:nvSpPr>
          <p:spPr bwMode="auto">
            <a:xfrm>
              <a:off x="2784" y="2951"/>
              <a:ext cx="372" cy="186"/>
            </a:xfrm>
            <a:prstGeom prst="leftArrow">
              <a:avLst>
                <a:gd name="adj1" fmla="val 50000"/>
                <a:gd name="adj2" fmla="val 50000"/>
              </a:avLst>
            </a:prstGeom>
            <a:solidFill>
              <a:srgbClr val="FFFFFF"/>
            </a:solidFill>
            <a:ln w="9525" algn="ctr">
              <a:solidFill>
                <a:schemeClr val="tx1"/>
              </a:solidFill>
              <a:miter lim="800000"/>
              <a:headEnd/>
              <a:tailEnd/>
            </a:ln>
            <a:effectLst/>
          </p:spPr>
          <p:txBody>
            <a:bodyPr wrap="none" lIns="90000" tIns="46800" rIns="90000" bIns="46800" anchor="ctr"/>
            <a:lstStyle/>
            <a:p>
              <a:endParaRPr lang="zh-CN" altLang="en-US"/>
            </a:p>
          </p:txBody>
        </p:sp>
        <p:grpSp>
          <p:nvGrpSpPr>
            <p:cNvPr id="714762" name="Group 10"/>
            <p:cNvGrpSpPr>
              <a:grpSpLocks/>
            </p:cNvGrpSpPr>
            <p:nvPr/>
          </p:nvGrpSpPr>
          <p:grpSpPr bwMode="auto">
            <a:xfrm>
              <a:off x="3002" y="2668"/>
              <a:ext cx="1992" cy="564"/>
              <a:chOff x="2578" y="1336"/>
              <a:chExt cx="1992" cy="564"/>
            </a:xfrm>
          </p:grpSpPr>
          <p:sp>
            <p:nvSpPr>
              <p:cNvPr id="714763" name="Rectangle 11"/>
              <p:cNvSpPr>
                <a:spLocks noChangeArrowheads="1"/>
              </p:cNvSpPr>
              <p:nvPr/>
            </p:nvSpPr>
            <p:spPr bwMode="auto">
              <a:xfrm>
                <a:off x="2578" y="1336"/>
                <a:ext cx="1992" cy="564"/>
              </a:xfrm>
              <a:prstGeom prst="rect">
                <a:avLst/>
              </a:prstGeom>
              <a:solidFill>
                <a:srgbClr val="FFFF00"/>
              </a:solidFill>
              <a:ln w="9525" algn="ctr">
                <a:solidFill>
                  <a:schemeClr val="tx1"/>
                </a:solidFill>
                <a:miter lim="800000"/>
                <a:headEnd/>
                <a:tailEnd/>
              </a:ln>
              <a:effectLst/>
            </p:spPr>
            <p:txBody>
              <a:bodyPr wrap="none" anchor="ctr"/>
              <a:lstStyle/>
              <a:p>
                <a:endParaRPr lang="en-US" altLang="zh-CN">
                  <a:latin typeface="Times New Roman" pitchFamily="18" charset="0"/>
                </a:endParaRPr>
              </a:p>
              <a:p>
                <a:endParaRPr lang="en-US" altLang="zh-CN">
                  <a:latin typeface="Times New Roman" pitchFamily="18" charset="0"/>
                </a:endParaRPr>
              </a:p>
              <a:p>
                <a:endParaRPr lang="en-US" altLang="zh-CN">
                  <a:latin typeface="Times New Roman" pitchFamily="18" charset="0"/>
                </a:endParaRPr>
              </a:p>
            </p:txBody>
          </p:sp>
          <p:sp>
            <p:nvSpPr>
              <p:cNvPr id="714764" name="Rectangle 12"/>
              <p:cNvSpPr>
                <a:spLocks noChangeArrowheads="1"/>
              </p:cNvSpPr>
              <p:nvPr/>
            </p:nvSpPr>
            <p:spPr bwMode="auto">
              <a:xfrm>
                <a:off x="3762" y="1557"/>
                <a:ext cx="714" cy="300"/>
              </a:xfrm>
              <a:prstGeom prst="rect">
                <a:avLst/>
              </a:prstGeom>
              <a:solidFill>
                <a:srgbClr val="FFFFFF"/>
              </a:solidFill>
              <a:ln w="9525" algn="ctr">
                <a:solidFill>
                  <a:schemeClr val="tx1"/>
                </a:solidFill>
                <a:miter lim="800000"/>
                <a:headEnd/>
                <a:tailEnd/>
              </a:ln>
              <a:effectLst/>
            </p:spPr>
            <p:txBody>
              <a:bodyPr wrap="none" anchor="ctr"/>
              <a:lstStyle/>
              <a:p>
                <a:r>
                  <a:rPr lang="zh-CN" altLang="en-US" sz="1400">
                    <a:latin typeface="Times New Roman" pitchFamily="18" charset="0"/>
                  </a:rPr>
                  <a:t>移位寄存器</a:t>
                </a:r>
              </a:p>
              <a:p>
                <a:r>
                  <a:rPr lang="en-US" altLang="zh-CN" sz="1400">
                    <a:latin typeface="Times New Roman" pitchFamily="18" charset="0"/>
                  </a:rPr>
                  <a:t>UnRSR</a:t>
                </a:r>
              </a:p>
            </p:txBody>
          </p:sp>
          <p:sp>
            <p:nvSpPr>
              <p:cNvPr id="714765" name="Rectangle 13"/>
              <p:cNvSpPr>
                <a:spLocks noChangeArrowheads="1"/>
              </p:cNvSpPr>
              <p:nvPr/>
            </p:nvSpPr>
            <p:spPr bwMode="auto">
              <a:xfrm>
                <a:off x="2638" y="1554"/>
                <a:ext cx="866" cy="305"/>
              </a:xfrm>
              <a:prstGeom prst="rect">
                <a:avLst/>
              </a:prstGeom>
              <a:solidFill>
                <a:srgbClr val="FFFFFF"/>
              </a:solidFill>
              <a:ln w="9525" algn="ctr">
                <a:solidFill>
                  <a:schemeClr val="tx1"/>
                </a:solidFill>
                <a:miter lim="800000"/>
                <a:headEnd/>
                <a:tailEnd/>
              </a:ln>
              <a:effectLst/>
            </p:spPr>
            <p:txBody>
              <a:bodyPr wrap="none" anchor="ctr"/>
              <a:lstStyle/>
              <a:p>
                <a:r>
                  <a:rPr lang="zh-CN" altLang="en-US" sz="1400">
                    <a:latin typeface="Times New Roman" pitchFamily="18" charset="0"/>
                  </a:rPr>
                  <a:t>接收缓冲寄存器</a:t>
                </a:r>
              </a:p>
              <a:p>
                <a:r>
                  <a:rPr lang="en-US" altLang="zh-CN" sz="1400">
                    <a:latin typeface="Times New Roman" pitchFamily="18" charset="0"/>
                  </a:rPr>
                  <a:t>UnRBR</a:t>
                </a:r>
              </a:p>
            </p:txBody>
          </p:sp>
          <p:sp>
            <p:nvSpPr>
              <p:cNvPr id="714766" name="Rectangle 14"/>
              <p:cNvSpPr>
                <a:spLocks noChangeArrowheads="1"/>
              </p:cNvSpPr>
              <p:nvPr/>
            </p:nvSpPr>
            <p:spPr bwMode="auto">
              <a:xfrm>
                <a:off x="3021" y="1341"/>
                <a:ext cx="1039" cy="212"/>
              </a:xfrm>
              <a:prstGeom prst="rect">
                <a:avLst/>
              </a:prstGeom>
              <a:noFill/>
              <a:ln w="9525" algn="ctr">
                <a:noFill/>
                <a:miter lim="800000"/>
                <a:headEnd/>
                <a:tailEnd/>
              </a:ln>
              <a:effectLst/>
            </p:spPr>
            <p:txBody>
              <a:bodyPr wrap="none">
                <a:spAutoFit/>
              </a:bodyPr>
              <a:lstStyle/>
              <a:p>
                <a:r>
                  <a:rPr lang="en-US" altLang="zh-CN" sz="1600">
                    <a:latin typeface="Times New Roman" pitchFamily="18" charset="0"/>
                  </a:rPr>
                  <a:t>UARTn</a:t>
                </a:r>
                <a:r>
                  <a:rPr lang="zh-CN" altLang="en-US" sz="1600">
                    <a:latin typeface="Times New Roman" pitchFamily="18" charset="0"/>
                  </a:rPr>
                  <a:t>接收单元</a:t>
                </a:r>
              </a:p>
            </p:txBody>
          </p:sp>
        </p:grpSp>
        <p:cxnSp>
          <p:nvCxnSpPr>
            <p:cNvPr id="714767" name="AutoShape 15"/>
            <p:cNvCxnSpPr>
              <a:cxnSpLocks noChangeShapeType="1"/>
              <a:stCxn id="714765" idx="3"/>
              <a:endCxn id="714764" idx="1"/>
            </p:cNvCxnSpPr>
            <p:nvPr/>
          </p:nvCxnSpPr>
          <p:spPr bwMode="auto">
            <a:xfrm>
              <a:off x="3928" y="3039"/>
              <a:ext cx="258" cy="0"/>
            </a:xfrm>
            <a:prstGeom prst="straightConnector1">
              <a:avLst/>
            </a:prstGeom>
            <a:noFill/>
            <a:ln w="9525">
              <a:solidFill>
                <a:schemeClr val="tx1"/>
              </a:solidFill>
              <a:round/>
              <a:headEnd type="triangle" w="med" len="med"/>
              <a:tailEnd/>
            </a:ln>
            <a:effectLst/>
          </p:spPr>
        </p:cxnSp>
        <p:sp>
          <p:nvSpPr>
            <p:cNvPr id="714768" name="Text Box 16"/>
            <p:cNvSpPr txBox="1">
              <a:spLocks noChangeArrowheads="1"/>
            </p:cNvSpPr>
            <p:nvPr/>
          </p:nvSpPr>
          <p:spPr bwMode="auto">
            <a:xfrm>
              <a:off x="5080" y="2944"/>
              <a:ext cx="385" cy="195"/>
            </a:xfrm>
            <a:prstGeom prst="rect">
              <a:avLst/>
            </a:prstGeom>
            <a:noFill/>
            <a:ln w="9525" algn="ctr">
              <a:noFill/>
              <a:miter lim="800000"/>
              <a:headEnd/>
              <a:tailEnd/>
            </a:ln>
            <a:effectLst/>
          </p:spPr>
          <p:txBody>
            <a:bodyPr wrap="none" lIns="90000" tIns="46800" rIns="90000" bIns="46800">
              <a:spAutoFit/>
            </a:bodyPr>
            <a:lstStyle/>
            <a:p>
              <a:r>
                <a:rPr lang="en-US" altLang="zh-CN" sz="1400">
                  <a:latin typeface="Times New Roman" pitchFamily="18" charset="0"/>
                </a:rPr>
                <a:t>RxDn</a:t>
              </a:r>
            </a:p>
          </p:txBody>
        </p:sp>
        <p:sp>
          <p:nvSpPr>
            <p:cNvPr id="714769" name="Line 17"/>
            <p:cNvSpPr>
              <a:spLocks noChangeShapeType="1"/>
            </p:cNvSpPr>
            <p:nvPr/>
          </p:nvSpPr>
          <p:spPr bwMode="auto">
            <a:xfrm>
              <a:off x="4902" y="3042"/>
              <a:ext cx="189" cy="0"/>
            </a:xfrm>
            <a:prstGeom prst="line">
              <a:avLst/>
            </a:prstGeom>
            <a:noFill/>
            <a:ln w="9525">
              <a:solidFill>
                <a:schemeClr val="tx1"/>
              </a:solidFill>
              <a:round/>
              <a:headEnd type="triangle" w="med" len="med"/>
              <a:tailEnd/>
            </a:ln>
            <a:effectLst/>
          </p:spPr>
          <p:txBody>
            <a:bodyPr wrap="none" lIns="90000" tIns="46800" rIns="90000" bIns="46800" anchor="ctr"/>
            <a:lstStyle/>
            <a:p>
              <a:endParaRPr lang="zh-CN" altLang="en-US"/>
            </a:p>
          </p:txBody>
        </p:sp>
      </p:grpSp>
      <p:grpSp>
        <p:nvGrpSpPr>
          <p:cNvPr id="714770" name="Group 18"/>
          <p:cNvGrpSpPr>
            <a:grpSpLocks/>
          </p:cNvGrpSpPr>
          <p:nvPr/>
        </p:nvGrpSpPr>
        <p:grpSpPr bwMode="auto">
          <a:xfrm>
            <a:off x="4511676" y="2468564"/>
            <a:ext cx="1381125" cy="2714625"/>
            <a:chOff x="346" y="2188"/>
            <a:chExt cx="870" cy="1710"/>
          </a:xfrm>
        </p:grpSpPr>
        <p:sp>
          <p:nvSpPr>
            <p:cNvPr id="714771" name="AutoShape 19"/>
            <p:cNvSpPr>
              <a:spLocks noChangeArrowheads="1"/>
            </p:cNvSpPr>
            <p:nvPr/>
          </p:nvSpPr>
          <p:spPr bwMode="auto">
            <a:xfrm>
              <a:off x="601" y="2473"/>
              <a:ext cx="378" cy="1425"/>
            </a:xfrm>
            <a:prstGeom prst="upDownArrow">
              <a:avLst>
                <a:gd name="adj1" fmla="val 49731"/>
                <a:gd name="adj2" fmla="val 53965"/>
              </a:avLst>
            </a:prstGeom>
            <a:solidFill>
              <a:srgbClr val="FF9900"/>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r>
                <a:rPr lang="en-US" altLang="zh-CN" sz="1400" b="1">
                  <a:latin typeface="Times New Roman" pitchFamily="18" charset="0"/>
                </a:rPr>
                <a:t>V</a:t>
              </a:r>
            </a:p>
            <a:p>
              <a:r>
                <a:rPr lang="en-US" altLang="zh-CN" sz="1400" b="1">
                  <a:latin typeface="Times New Roman" pitchFamily="18" charset="0"/>
                </a:rPr>
                <a:t>P</a:t>
              </a:r>
            </a:p>
            <a:p>
              <a:r>
                <a:rPr lang="en-US" altLang="zh-CN" sz="1400" b="1">
                  <a:latin typeface="Times New Roman" pitchFamily="18" charset="0"/>
                </a:rPr>
                <a:t>B</a:t>
              </a:r>
            </a:p>
            <a:p>
              <a:r>
                <a:rPr lang="zh-CN" altLang="en-US" sz="1400" b="1">
                  <a:latin typeface="Times New Roman" pitchFamily="18" charset="0"/>
                </a:rPr>
                <a:t>总</a:t>
              </a:r>
            </a:p>
            <a:p>
              <a:r>
                <a:rPr lang="zh-CN" altLang="en-US" sz="1400" b="1">
                  <a:latin typeface="Times New Roman" pitchFamily="18" charset="0"/>
                </a:rPr>
                <a:t>线</a:t>
              </a:r>
            </a:p>
          </p:txBody>
        </p:sp>
        <p:sp>
          <p:nvSpPr>
            <p:cNvPr id="714772" name="Rectangle 20"/>
            <p:cNvSpPr>
              <a:spLocks noChangeArrowheads="1"/>
            </p:cNvSpPr>
            <p:nvPr/>
          </p:nvSpPr>
          <p:spPr bwMode="auto">
            <a:xfrm>
              <a:off x="346" y="2188"/>
              <a:ext cx="870" cy="282"/>
            </a:xfrm>
            <a:prstGeom prst="rect">
              <a:avLst/>
            </a:prstGeom>
            <a:solidFill>
              <a:srgbClr val="FF9900"/>
            </a:solidFill>
            <a:ln w="9525" algn="ctr">
              <a:solidFill>
                <a:schemeClr val="tx1"/>
              </a:solidFill>
              <a:miter lim="800000"/>
              <a:headEnd/>
              <a:tailEnd/>
            </a:ln>
            <a:effectLst/>
          </p:spPr>
          <p:txBody>
            <a:bodyPr wrap="none" anchor="ctr"/>
            <a:lstStyle/>
            <a:p>
              <a:r>
                <a:rPr lang="en-US" altLang="zh-CN" sz="1400">
                  <a:latin typeface="Times New Roman" pitchFamily="18" charset="0"/>
                  <a:ea typeface="楷体_GB2312" pitchFamily="49" charset="-122"/>
                </a:rPr>
                <a:t>AHB-VPB</a:t>
              </a:r>
              <a:r>
                <a:rPr lang="zh-CN" altLang="en-US" sz="1400">
                  <a:latin typeface="Times New Roman" pitchFamily="18" charset="0"/>
                  <a:ea typeface="楷体_GB2312" pitchFamily="49" charset="-122"/>
                </a:rPr>
                <a:t>桥</a:t>
              </a:r>
            </a:p>
          </p:txBody>
        </p:sp>
      </p:grpSp>
      <p:grpSp>
        <p:nvGrpSpPr>
          <p:cNvPr id="714773" name="Group 21"/>
          <p:cNvGrpSpPr>
            <a:grpSpLocks/>
          </p:cNvGrpSpPr>
          <p:nvPr/>
        </p:nvGrpSpPr>
        <p:grpSpPr bwMode="auto">
          <a:xfrm>
            <a:off x="5372101" y="3768725"/>
            <a:ext cx="4256088" cy="895350"/>
            <a:chOff x="2786" y="2669"/>
            <a:chExt cx="2681" cy="564"/>
          </a:xfrm>
        </p:grpSpPr>
        <p:sp>
          <p:nvSpPr>
            <p:cNvPr id="714774" name="AutoShape 22"/>
            <p:cNvSpPr>
              <a:spLocks noChangeArrowheads="1"/>
            </p:cNvSpPr>
            <p:nvPr/>
          </p:nvSpPr>
          <p:spPr bwMode="auto">
            <a:xfrm>
              <a:off x="2786" y="2952"/>
              <a:ext cx="372" cy="186"/>
            </a:xfrm>
            <a:prstGeom prst="leftArrow">
              <a:avLst>
                <a:gd name="adj1" fmla="val 50000"/>
                <a:gd name="adj2" fmla="val 50000"/>
              </a:avLst>
            </a:prstGeom>
            <a:solidFill>
              <a:srgbClr val="FF9900"/>
            </a:solidFill>
            <a:ln w="9525" algn="ctr">
              <a:solidFill>
                <a:schemeClr val="tx1"/>
              </a:solidFill>
              <a:miter lim="800000"/>
              <a:headEnd/>
              <a:tailEnd/>
            </a:ln>
            <a:effectLst/>
          </p:spPr>
          <p:txBody>
            <a:bodyPr wrap="none" lIns="90000" tIns="46800" rIns="90000" bIns="46800" anchor="ctr"/>
            <a:lstStyle/>
            <a:p>
              <a:endParaRPr lang="zh-CN" altLang="en-US"/>
            </a:p>
          </p:txBody>
        </p:sp>
        <p:grpSp>
          <p:nvGrpSpPr>
            <p:cNvPr id="714775" name="Group 23"/>
            <p:cNvGrpSpPr>
              <a:grpSpLocks/>
            </p:cNvGrpSpPr>
            <p:nvPr/>
          </p:nvGrpSpPr>
          <p:grpSpPr bwMode="auto">
            <a:xfrm>
              <a:off x="3004" y="2669"/>
              <a:ext cx="1992" cy="564"/>
              <a:chOff x="2578" y="1336"/>
              <a:chExt cx="1992" cy="564"/>
            </a:xfrm>
          </p:grpSpPr>
          <p:sp>
            <p:nvSpPr>
              <p:cNvPr id="714776" name="Rectangle 24"/>
              <p:cNvSpPr>
                <a:spLocks noChangeArrowheads="1"/>
              </p:cNvSpPr>
              <p:nvPr/>
            </p:nvSpPr>
            <p:spPr bwMode="auto">
              <a:xfrm>
                <a:off x="2578" y="1336"/>
                <a:ext cx="1992" cy="564"/>
              </a:xfrm>
              <a:prstGeom prst="rect">
                <a:avLst/>
              </a:prstGeom>
              <a:solidFill>
                <a:srgbClr val="FFFF00"/>
              </a:solidFill>
              <a:ln w="9525" algn="ctr">
                <a:solidFill>
                  <a:schemeClr val="tx1"/>
                </a:solidFill>
                <a:miter lim="800000"/>
                <a:headEnd/>
                <a:tailEnd/>
              </a:ln>
              <a:effectLst/>
            </p:spPr>
            <p:txBody>
              <a:bodyPr wrap="none" anchor="ctr"/>
              <a:lstStyle/>
              <a:p>
                <a:endParaRPr lang="en-US" altLang="zh-CN">
                  <a:latin typeface="Times New Roman" pitchFamily="18" charset="0"/>
                </a:endParaRPr>
              </a:p>
              <a:p>
                <a:endParaRPr lang="en-US" altLang="zh-CN">
                  <a:latin typeface="Times New Roman" pitchFamily="18" charset="0"/>
                </a:endParaRPr>
              </a:p>
              <a:p>
                <a:endParaRPr lang="en-US" altLang="zh-CN">
                  <a:latin typeface="Times New Roman" pitchFamily="18" charset="0"/>
                </a:endParaRPr>
              </a:p>
            </p:txBody>
          </p:sp>
          <p:sp>
            <p:nvSpPr>
              <p:cNvPr id="714777" name="Rectangle 25"/>
              <p:cNvSpPr>
                <a:spLocks noChangeArrowheads="1"/>
              </p:cNvSpPr>
              <p:nvPr/>
            </p:nvSpPr>
            <p:spPr bwMode="auto">
              <a:xfrm>
                <a:off x="3762" y="1557"/>
                <a:ext cx="714" cy="300"/>
              </a:xfrm>
              <a:prstGeom prst="rect">
                <a:avLst/>
              </a:prstGeom>
              <a:solidFill>
                <a:srgbClr val="FF9900"/>
              </a:solidFill>
              <a:ln w="9525" algn="ctr">
                <a:solidFill>
                  <a:schemeClr val="tx1"/>
                </a:solidFill>
                <a:miter lim="800000"/>
                <a:headEnd/>
                <a:tailEnd/>
              </a:ln>
              <a:effectLst/>
            </p:spPr>
            <p:txBody>
              <a:bodyPr wrap="none" anchor="ctr"/>
              <a:lstStyle/>
              <a:p>
                <a:r>
                  <a:rPr lang="zh-CN" altLang="en-US" sz="1400">
                    <a:latin typeface="Times New Roman" pitchFamily="18" charset="0"/>
                  </a:rPr>
                  <a:t>移位寄存器</a:t>
                </a:r>
              </a:p>
              <a:p>
                <a:r>
                  <a:rPr lang="en-US" altLang="zh-CN" sz="1400">
                    <a:latin typeface="Times New Roman" pitchFamily="18" charset="0"/>
                  </a:rPr>
                  <a:t>UnRSR</a:t>
                </a:r>
              </a:p>
            </p:txBody>
          </p:sp>
          <p:sp>
            <p:nvSpPr>
              <p:cNvPr id="714778" name="Rectangle 26"/>
              <p:cNvSpPr>
                <a:spLocks noChangeArrowheads="1"/>
              </p:cNvSpPr>
              <p:nvPr/>
            </p:nvSpPr>
            <p:spPr bwMode="auto">
              <a:xfrm>
                <a:off x="2638" y="1554"/>
                <a:ext cx="866" cy="305"/>
              </a:xfrm>
              <a:prstGeom prst="rect">
                <a:avLst/>
              </a:prstGeom>
              <a:solidFill>
                <a:srgbClr val="FF9900"/>
              </a:solidFill>
              <a:ln w="9525" algn="ctr">
                <a:solidFill>
                  <a:schemeClr val="tx1"/>
                </a:solidFill>
                <a:miter lim="800000"/>
                <a:headEnd/>
                <a:tailEnd/>
              </a:ln>
              <a:effectLst/>
            </p:spPr>
            <p:txBody>
              <a:bodyPr wrap="none" anchor="ctr"/>
              <a:lstStyle/>
              <a:p>
                <a:r>
                  <a:rPr lang="zh-CN" altLang="en-US" sz="1400">
                    <a:latin typeface="Times New Roman" pitchFamily="18" charset="0"/>
                  </a:rPr>
                  <a:t>接收缓冲寄存器</a:t>
                </a:r>
              </a:p>
              <a:p>
                <a:r>
                  <a:rPr lang="en-US" altLang="zh-CN" sz="1400">
                    <a:latin typeface="Times New Roman" pitchFamily="18" charset="0"/>
                  </a:rPr>
                  <a:t>UnRBR</a:t>
                </a:r>
              </a:p>
            </p:txBody>
          </p:sp>
          <p:sp>
            <p:nvSpPr>
              <p:cNvPr id="714779" name="Rectangle 27"/>
              <p:cNvSpPr>
                <a:spLocks noChangeArrowheads="1"/>
              </p:cNvSpPr>
              <p:nvPr/>
            </p:nvSpPr>
            <p:spPr bwMode="auto">
              <a:xfrm>
                <a:off x="3021" y="1341"/>
                <a:ext cx="1039" cy="212"/>
              </a:xfrm>
              <a:prstGeom prst="rect">
                <a:avLst/>
              </a:prstGeom>
              <a:noFill/>
              <a:ln w="9525" algn="ctr">
                <a:noFill/>
                <a:miter lim="800000"/>
                <a:headEnd/>
                <a:tailEnd/>
              </a:ln>
              <a:effectLst/>
            </p:spPr>
            <p:txBody>
              <a:bodyPr wrap="none">
                <a:spAutoFit/>
              </a:bodyPr>
              <a:lstStyle/>
              <a:p>
                <a:r>
                  <a:rPr lang="en-US" altLang="zh-CN" sz="1600">
                    <a:latin typeface="Times New Roman" pitchFamily="18" charset="0"/>
                  </a:rPr>
                  <a:t>UARTn</a:t>
                </a:r>
                <a:r>
                  <a:rPr lang="zh-CN" altLang="en-US" sz="1600">
                    <a:latin typeface="Times New Roman" pitchFamily="18" charset="0"/>
                  </a:rPr>
                  <a:t>接收单元</a:t>
                </a:r>
              </a:p>
            </p:txBody>
          </p:sp>
        </p:grpSp>
        <p:cxnSp>
          <p:nvCxnSpPr>
            <p:cNvPr id="714780" name="AutoShape 28"/>
            <p:cNvCxnSpPr>
              <a:cxnSpLocks noChangeShapeType="1"/>
              <a:stCxn id="714778" idx="3"/>
              <a:endCxn id="714777" idx="1"/>
            </p:cNvCxnSpPr>
            <p:nvPr/>
          </p:nvCxnSpPr>
          <p:spPr bwMode="auto">
            <a:xfrm>
              <a:off x="3930" y="3040"/>
              <a:ext cx="258" cy="0"/>
            </a:xfrm>
            <a:prstGeom prst="straightConnector1">
              <a:avLst/>
            </a:prstGeom>
            <a:noFill/>
            <a:ln w="9525">
              <a:solidFill>
                <a:srgbClr val="FF9900"/>
              </a:solidFill>
              <a:round/>
              <a:headEnd type="triangle" w="med" len="med"/>
              <a:tailEnd/>
            </a:ln>
            <a:effectLst/>
          </p:spPr>
        </p:cxnSp>
        <p:sp>
          <p:nvSpPr>
            <p:cNvPr id="714781" name="Text Box 29"/>
            <p:cNvSpPr txBox="1">
              <a:spLocks noChangeArrowheads="1"/>
            </p:cNvSpPr>
            <p:nvPr/>
          </p:nvSpPr>
          <p:spPr bwMode="auto">
            <a:xfrm>
              <a:off x="5082" y="2945"/>
              <a:ext cx="385" cy="195"/>
            </a:xfrm>
            <a:prstGeom prst="rect">
              <a:avLst/>
            </a:prstGeom>
            <a:solidFill>
              <a:srgbClr val="FF9900"/>
            </a:solidFill>
            <a:ln w="9525" algn="ctr">
              <a:noFill/>
              <a:miter lim="800000"/>
              <a:headEnd/>
              <a:tailEnd/>
            </a:ln>
            <a:effectLst/>
          </p:spPr>
          <p:txBody>
            <a:bodyPr wrap="none" lIns="90000" tIns="46800" rIns="90000" bIns="46800">
              <a:spAutoFit/>
            </a:bodyPr>
            <a:lstStyle/>
            <a:p>
              <a:r>
                <a:rPr lang="en-US" altLang="zh-CN" sz="1400">
                  <a:latin typeface="Times New Roman" pitchFamily="18" charset="0"/>
                </a:rPr>
                <a:t>RxDn</a:t>
              </a:r>
            </a:p>
          </p:txBody>
        </p:sp>
        <p:sp>
          <p:nvSpPr>
            <p:cNvPr id="714782" name="Line 30"/>
            <p:cNvSpPr>
              <a:spLocks noChangeShapeType="1"/>
            </p:cNvSpPr>
            <p:nvPr/>
          </p:nvSpPr>
          <p:spPr bwMode="auto">
            <a:xfrm>
              <a:off x="4904" y="3043"/>
              <a:ext cx="189" cy="0"/>
            </a:xfrm>
            <a:prstGeom prst="line">
              <a:avLst/>
            </a:prstGeom>
            <a:noFill/>
            <a:ln w="9525">
              <a:solidFill>
                <a:srgbClr val="FF9900"/>
              </a:solidFill>
              <a:round/>
              <a:headEnd type="triangle" w="med" len="med"/>
              <a:tailEnd/>
            </a:ln>
            <a:effectLst/>
          </p:spPr>
          <p:txBody>
            <a:bodyPr wrap="none" lIns="90000" tIns="46800" rIns="90000" bIns="46800" anchor="ctr"/>
            <a:lstStyle/>
            <a:p>
              <a:endParaRPr lang="zh-CN" altLang="en-US"/>
            </a:p>
          </p:txBody>
        </p:sp>
      </p:grpSp>
      <p:grpSp>
        <p:nvGrpSpPr>
          <p:cNvPr id="714783" name="Group 31"/>
          <p:cNvGrpSpPr>
            <a:grpSpLocks/>
          </p:cNvGrpSpPr>
          <p:nvPr/>
        </p:nvGrpSpPr>
        <p:grpSpPr bwMode="auto">
          <a:xfrm>
            <a:off x="5902325" y="1268413"/>
            <a:ext cx="2686050" cy="2328862"/>
            <a:chOff x="3874" y="1648"/>
            <a:chExt cx="1692" cy="1467"/>
          </a:xfrm>
        </p:grpSpPr>
        <p:sp>
          <p:nvSpPr>
            <p:cNvPr id="714784" name="Rectangle 32"/>
            <p:cNvSpPr>
              <a:spLocks noChangeArrowheads="1"/>
            </p:cNvSpPr>
            <p:nvPr/>
          </p:nvSpPr>
          <p:spPr bwMode="auto">
            <a:xfrm>
              <a:off x="4834" y="2062"/>
              <a:ext cx="732" cy="288"/>
            </a:xfrm>
            <a:prstGeom prst="rect">
              <a:avLst/>
            </a:prstGeom>
            <a:solidFill>
              <a:srgbClr val="FF9900"/>
            </a:solidFill>
            <a:ln w="9525" algn="ctr">
              <a:solidFill>
                <a:schemeClr val="tx1"/>
              </a:solidFill>
              <a:miter lim="800000"/>
              <a:headEnd/>
              <a:tailEnd/>
            </a:ln>
            <a:effectLst/>
          </p:spPr>
          <p:txBody>
            <a:bodyPr wrap="none" anchor="ctr"/>
            <a:lstStyle/>
            <a:p>
              <a:r>
                <a:rPr lang="en-US" altLang="zh-CN" sz="1600">
                  <a:latin typeface="Times New Roman" pitchFamily="18" charset="0"/>
                </a:rPr>
                <a:t>ARM7</a:t>
              </a:r>
            </a:p>
          </p:txBody>
        </p:sp>
        <p:sp>
          <p:nvSpPr>
            <p:cNvPr id="714785" name="AutoShape 33"/>
            <p:cNvSpPr>
              <a:spLocks noChangeArrowheads="1"/>
            </p:cNvSpPr>
            <p:nvPr/>
          </p:nvSpPr>
          <p:spPr bwMode="auto">
            <a:xfrm>
              <a:off x="4276" y="1648"/>
              <a:ext cx="306" cy="1467"/>
            </a:xfrm>
            <a:prstGeom prst="upDownArrow">
              <a:avLst>
                <a:gd name="adj1" fmla="val 50000"/>
                <a:gd name="adj2" fmla="val 95882"/>
              </a:avLst>
            </a:prstGeom>
            <a:solidFill>
              <a:srgbClr val="FF9900"/>
            </a:solidFill>
            <a:ln w="9525" algn="ctr">
              <a:solidFill>
                <a:schemeClr val="tx1"/>
              </a:solidFill>
              <a:miter lim="800000"/>
              <a:headEnd/>
              <a:tailEnd/>
            </a:ln>
            <a:effectLst/>
          </p:spPr>
          <p:txBody>
            <a:bodyPr wrap="none" anchor="ctr"/>
            <a:lstStyle/>
            <a:p>
              <a:r>
                <a:rPr lang="en-US" altLang="zh-CN" sz="1400">
                  <a:latin typeface="Times New Roman" pitchFamily="18" charset="0"/>
                  <a:ea typeface="楷体_GB2312" pitchFamily="49" charset="-122"/>
                </a:rPr>
                <a:t>A</a:t>
              </a:r>
            </a:p>
            <a:p>
              <a:r>
                <a:rPr lang="en-US" altLang="zh-CN" sz="1400">
                  <a:latin typeface="Times New Roman" pitchFamily="18" charset="0"/>
                  <a:ea typeface="楷体_GB2312" pitchFamily="49" charset="-122"/>
                </a:rPr>
                <a:t>H</a:t>
              </a:r>
            </a:p>
            <a:p>
              <a:r>
                <a:rPr lang="en-US" altLang="zh-CN" sz="1400">
                  <a:latin typeface="Times New Roman" pitchFamily="18" charset="0"/>
                  <a:ea typeface="楷体_GB2312" pitchFamily="49" charset="-122"/>
                </a:rPr>
                <a:t>B</a:t>
              </a:r>
            </a:p>
            <a:p>
              <a:r>
                <a:rPr lang="zh-CN" altLang="en-US" sz="1400">
                  <a:latin typeface="Times New Roman" pitchFamily="18" charset="0"/>
                  <a:ea typeface="楷体_GB2312" pitchFamily="49" charset="-122"/>
                </a:rPr>
                <a:t>总</a:t>
              </a:r>
            </a:p>
            <a:p>
              <a:r>
                <a:rPr lang="zh-CN" altLang="en-US" sz="1400">
                  <a:latin typeface="Times New Roman" pitchFamily="18" charset="0"/>
                  <a:ea typeface="楷体_GB2312" pitchFamily="49" charset="-122"/>
                </a:rPr>
                <a:t>线</a:t>
              </a:r>
            </a:p>
          </p:txBody>
        </p:sp>
        <p:sp>
          <p:nvSpPr>
            <p:cNvPr id="714786" name="AutoShape 34"/>
            <p:cNvSpPr>
              <a:spLocks noChangeArrowheads="1"/>
            </p:cNvSpPr>
            <p:nvPr/>
          </p:nvSpPr>
          <p:spPr bwMode="auto">
            <a:xfrm>
              <a:off x="3874" y="2458"/>
              <a:ext cx="477" cy="216"/>
            </a:xfrm>
            <a:prstGeom prst="leftRightArrow">
              <a:avLst>
                <a:gd name="adj1" fmla="val 50000"/>
                <a:gd name="adj2" fmla="val 44167"/>
              </a:avLst>
            </a:prstGeom>
            <a:solidFill>
              <a:srgbClr val="FF9900"/>
            </a:solidFill>
            <a:ln w="9525" algn="ctr">
              <a:solidFill>
                <a:schemeClr val="tx1"/>
              </a:solidFill>
              <a:miter lim="800000"/>
              <a:headEnd/>
              <a:tailEnd/>
            </a:ln>
            <a:effectLst/>
          </p:spPr>
          <p:txBody>
            <a:bodyPr wrap="none" anchor="ctr"/>
            <a:lstStyle/>
            <a:p>
              <a:endParaRPr lang="zh-CN" altLang="en-US"/>
            </a:p>
          </p:txBody>
        </p:sp>
        <p:sp>
          <p:nvSpPr>
            <p:cNvPr id="714787" name="AutoShape 35"/>
            <p:cNvSpPr>
              <a:spLocks noChangeArrowheads="1"/>
            </p:cNvSpPr>
            <p:nvPr/>
          </p:nvSpPr>
          <p:spPr bwMode="auto">
            <a:xfrm>
              <a:off x="4508" y="2108"/>
              <a:ext cx="321" cy="210"/>
            </a:xfrm>
            <a:prstGeom prst="leftRightArrow">
              <a:avLst>
                <a:gd name="adj1" fmla="val 50000"/>
                <a:gd name="adj2" fmla="val 30571"/>
              </a:avLst>
            </a:prstGeom>
            <a:solidFill>
              <a:srgbClr val="FF9900"/>
            </a:solidFill>
            <a:ln w="9525" algn="ctr">
              <a:solidFill>
                <a:schemeClr val="tx1"/>
              </a:solidFill>
              <a:miter lim="800000"/>
              <a:headEnd/>
              <a:tailEnd/>
            </a:ln>
            <a:effectLst/>
          </p:spPr>
          <p:txBody>
            <a:bodyPr wrap="none" anchor="ctr"/>
            <a:lstStyle/>
            <a:p>
              <a:endParaRPr lang="zh-CN" altLang="en-US"/>
            </a:p>
          </p:txBody>
        </p:sp>
      </p:grpSp>
      <p:sp>
        <p:nvSpPr>
          <p:cNvPr id="714788" name="Oval 36"/>
          <p:cNvSpPr>
            <a:spLocks noChangeArrowheads="1"/>
          </p:cNvSpPr>
          <p:nvPr/>
        </p:nvSpPr>
        <p:spPr bwMode="auto">
          <a:xfrm>
            <a:off x="5594350" y="3962400"/>
            <a:ext cx="1804988" cy="711200"/>
          </a:xfrm>
          <a:prstGeom prst="ellipse">
            <a:avLst/>
          </a:prstGeom>
          <a:noFill/>
          <a:ln w="19050" algn="ctr">
            <a:solidFill>
              <a:srgbClr val="FF0000"/>
            </a:solidFill>
            <a:round/>
            <a:headEnd/>
            <a:tailEnd/>
          </a:ln>
          <a:effectLst/>
        </p:spPr>
        <p:txBody>
          <a:bodyPr wrap="none" anchor="ctr"/>
          <a:lstStyle/>
          <a:p>
            <a:endParaRPr lang="zh-CN" altLang="en-US"/>
          </a:p>
        </p:txBody>
      </p:sp>
      <p:grpSp>
        <p:nvGrpSpPr>
          <p:cNvPr id="714789" name="Group 37"/>
          <p:cNvGrpSpPr>
            <a:grpSpLocks/>
          </p:cNvGrpSpPr>
          <p:nvPr/>
        </p:nvGrpSpPr>
        <p:grpSpPr bwMode="auto">
          <a:xfrm>
            <a:off x="3108325" y="1957388"/>
            <a:ext cx="971550" cy="2984500"/>
            <a:chOff x="756" y="1824"/>
            <a:chExt cx="612" cy="1880"/>
          </a:xfrm>
        </p:grpSpPr>
        <p:sp>
          <p:nvSpPr>
            <p:cNvPr id="714790" name="AutoShape 38"/>
            <p:cNvSpPr>
              <a:spLocks noChangeArrowheads="1"/>
            </p:cNvSpPr>
            <p:nvPr/>
          </p:nvSpPr>
          <p:spPr bwMode="auto">
            <a:xfrm>
              <a:off x="948" y="2028"/>
              <a:ext cx="198" cy="321"/>
            </a:xfrm>
            <a:prstGeom prst="downArrow">
              <a:avLst>
                <a:gd name="adj1" fmla="val 50000"/>
                <a:gd name="adj2" fmla="val 40530"/>
              </a:avLst>
            </a:prstGeom>
            <a:solidFill>
              <a:srgbClr val="CCFFFF"/>
            </a:solidFill>
            <a:ln w="9525" algn="ctr">
              <a:solidFill>
                <a:schemeClr val="tx1"/>
              </a:solidFill>
              <a:miter lim="800000"/>
              <a:headEnd/>
              <a:tailEnd/>
            </a:ln>
            <a:effectLst/>
          </p:spPr>
          <p:txBody>
            <a:bodyPr wrap="none" anchor="ctr"/>
            <a:lstStyle/>
            <a:p>
              <a:endParaRPr lang="zh-CN" altLang="en-US"/>
            </a:p>
          </p:txBody>
        </p:sp>
        <p:sp>
          <p:nvSpPr>
            <p:cNvPr id="714791" name="Rectangle 39"/>
            <p:cNvSpPr>
              <a:spLocks noChangeArrowheads="1"/>
            </p:cNvSpPr>
            <p:nvPr/>
          </p:nvSpPr>
          <p:spPr bwMode="auto">
            <a:xfrm>
              <a:off x="756" y="1824"/>
              <a:ext cx="606" cy="246"/>
            </a:xfrm>
            <a:prstGeom prst="rect">
              <a:avLst/>
            </a:prstGeom>
            <a:solidFill>
              <a:srgbClr val="CCFFFF"/>
            </a:solidFill>
            <a:ln w="9525" algn="ctr">
              <a:solidFill>
                <a:schemeClr val="tx1"/>
              </a:solidFill>
              <a:miter lim="800000"/>
              <a:headEnd/>
              <a:tailEnd/>
            </a:ln>
            <a:effectLst/>
          </p:spPr>
          <p:txBody>
            <a:bodyPr wrap="none" anchor="ctr"/>
            <a:lstStyle/>
            <a:p>
              <a:r>
                <a:rPr lang="en-US" altLang="zh-CN" sz="1400">
                  <a:latin typeface="Times New Roman" pitchFamily="18" charset="0"/>
                  <a:ea typeface="楷体_GB2312" pitchFamily="49" charset="-122"/>
                </a:rPr>
                <a:t>RXD</a:t>
              </a:r>
            </a:p>
          </p:txBody>
        </p:sp>
        <p:sp>
          <p:nvSpPr>
            <p:cNvPr id="714792" name="AutoShape 40"/>
            <p:cNvSpPr>
              <a:spLocks noChangeArrowheads="1"/>
            </p:cNvSpPr>
            <p:nvPr/>
          </p:nvSpPr>
          <p:spPr bwMode="auto">
            <a:xfrm>
              <a:off x="958" y="2590"/>
              <a:ext cx="198" cy="321"/>
            </a:xfrm>
            <a:prstGeom prst="downArrow">
              <a:avLst>
                <a:gd name="adj1" fmla="val 50000"/>
                <a:gd name="adj2" fmla="val 40530"/>
              </a:avLst>
            </a:prstGeom>
            <a:solidFill>
              <a:srgbClr val="CCFFFF"/>
            </a:solidFill>
            <a:ln w="9525" algn="ctr">
              <a:solidFill>
                <a:schemeClr val="tx1"/>
              </a:solidFill>
              <a:miter lim="800000"/>
              <a:headEnd/>
              <a:tailEnd/>
            </a:ln>
            <a:effectLst/>
          </p:spPr>
          <p:txBody>
            <a:bodyPr wrap="none" anchor="ctr"/>
            <a:lstStyle/>
            <a:p>
              <a:endParaRPr lang="zh-CN" altLang="en-US"/>
            </a:p>
          </p:txBody>
        </p:sp>
        <p:sp>
          <p:nvSpPr>
            <p:cNvPr id="714793" name="AutoShape 41"/>
            <p:cNvSpPr>
              <a:spLocks noChangeArrowheads="1"/>
            </p:cNvSpPr>
            <p:nvPr/>
          </p:nvSpPr>
          <p:spPr bwMode="auto">
            <a:xfrm>
              <a:off x="950" y="3152"/>
              <a:ext cx="198" cy="321"/>
            </a:xfrm>
            <a:prstGeom prst="downArrow">
              <a:avLst>
                <a:gd name="adj1" fmla="val 50000"/>
                <a:gd name="adj2" fmla="val 40530"/>
              </a:avLst>
            </a:prstGeom>
            <a:solidFill>
              <a:srgbClr val="CCFFFF"/>
            </a:solidFill>
            <a:ln w="9525" algn="ctr">
              <a:solidFill>
                <a:schemeClr val="tx1"/>
              </a:solidFill>
              <a:miter lim="800000"/>
              <a:headEnd/>
              <a:tailEnd/>
            </a:ln>
            <a:effectLst/>
          </p:spPr>
          <p:txBody>
            <a:bodyPr wrap="none" anchor="ctr"/>
            <a:lstStyle/>
            <a:p>
              <a:endParaRPr lang="zh-CN" altLang="en-US"/>
            </a:p>
          </p:txBody>
        </p:sp>
        <p:sp>
          <p:nvSpPr>
            <p:cNvPr id="714794" name="Rectangle 42"/>
            <p:cNvSpPr>
              <a:spLocks noChangeArrowheads="1"/>
            </p:cNvSpPr>
            <p:nvPr/>
          </p:nvSpPr>
          <p:spPr bwMode="auto">
            <a:xfrm>
              <a:off x="756" y="2914"/>
              <a:ext cx="612" cy="252"/>
            </a:xfrm>
            <a:prstGeom prst="rect">
              <a:avLst/>
            </a:prstGeom>
            <a:solidFill>
              <a:srgbClr val="CCFFFF"/>
            </a:solidFill>
            <a:ln w="9525" algn="ctr">
              <a:solidFill>
                <a:schemeClr val="tx1"/>
              </a:solidFill>
              <a:miter lim="800000"/>
              <a:headEnd/>
              <a:tailEnd/>
            </a:ln>
            <a:effectLst/>
          </p:spPr>
          <p:txBody>
            <a:bodyPr wrap="none" anchor="ctr"/>
            <a:lstStyle/>
            <a:p>
              <a:r>
                <a:rPr lang="en-US" altLang="zh-CN" sz="1400">
                  <a:latin typeface="Times New Roman" pitchFamily="18" charset="0"/>
                  <a:ea typeface="楷体_GB2312" pitchFamily="49" charset="-122"/>
                </a:rPr>
                <a:t>UnRBR</a:t>
              </a:r>
            </a:p>
          </p:txBody>
        </p:sp>
        <p:sp>
          <p:nvSpPr>
            <p:cNvPr id="714795" name="Rectangle 43"/>
            <p:cNvSpPr>
              <a:spLocks noChangeArrowheads="1"/>
            </p:cNvSpPr>
            <p:nvPr/>
          </p:nvSpPr>
          <p:spPr bwMode="auto">
            <a:xfrm>
              <a:off x="756" y="3476"/>
              <a:ext cx="612" cy="228"/>
            </a:xfrm>
            <a:prstGeom prst="rect">
              <a:avLst/>
            </a:prstGeom>
            <a:solidFill>
              <a:srgbClr val="CCFFFF"/>
            </a:solidFill>
            <a:ln w="9525" algn="ctr">
              <a:solidFill>
                <a:schemeClr val="tx1"/>
              </a:solidFill>
              <a:miter lim="800000"/>
              <a:headEnd/>
              <a:tailEnd/>
            </a:ln>
            <a:effectLst/>
          </p:spPr>
          <p:txBody>
            <a:bodyPr wrap="none" anchor="ctr"/>
            <a:lstStyle/>
            <a:p>
              <a:r>
                <a:rPr lang="en-US" altLang="zh-CN" sz="1400">
                  <a:latin typeface="Times New Roman" pitchFamily="18" charset="0"/>
                </a:rPr>
                <a:t>CPU</a:t>
              </a:r>
            </a:p>
          </p:txBody>
        </p:sp>
        <p:sp>
          <p:nvSpPr>
            <p:cNvPr id="714796" name="Rectangle 44"/>
            <p:cNvSpPr>
              <a:spLocks noChangeArrowheads="1"/>
            </p:cNvSpPr>
            <p:nvPr/>
          </p:nvSpPr>
          <p:spPr bwMode="auto">
            <a:xfrm>
              <a:off x="756" y="2356"/>
              <a:ext cx="612" cy="264"/>
            </a:xfrm>
            <a:prstGeom prst="rect">
              <a:avLst/>
            </a:prstGeom>
            <a:solidFill>
              <a:srgbClr val="CCFFFF"/>
            </a:solidFill>
            <a:ln w="9525" algn="ctr">
              <a:solidFill>
                <a:schemeClr val="tx1"/>
              </a:solidFill>
              <a:miter lim="800000"/>
              <a:headEnd/>
              <a:tailEnd/>
            </a:ln>
            <a:effectLst/>
          </p:spPr>
          <p:txBody>
            <a:bodyPr wrap="none" anchor="ctr"/>
            <a:lstStyle/>
            <a:p>
              <a:r>
                <a:rPr lang="en-US" altLang="zh-CN" sz="1400">
                  <a:latin typeface="Times New Roman" pitchFamily="18" charset="0"/>
                  <a:ea typeface="楷体_GB2312" pitchFamily="49" charset="-122"/>
                </a:rPr>
                <a:t>UnRSR</a:t>
              </a:r>
            </a:p>
          </p:txBody>
        </p:sp>
      </p:grpSp>
      <p:graphicFrame>
        <p:nvGraphicFramePr>
          <p:cNvPr id="714797" name="Group 45"/>
          <p:cNvGraphicFramePr>
            <a:graphicFrameLocks noGrp="1"/>
          </p:cNvGraphicFramePr>
          <p:nvPr/>
        </p:nvGraphicFramePr>
        <p:xfrm>
          <a:off x="2208213" y="5445125"/>
          <a:ext cx="7739062" cy="670560"/>
        </p:xfrm>
        <a:graphic>
          <a:graphicData uri="http://schemas.openxmlformats.org/drawingml/2006/table">
            <a:tbl>
              <a:tblPr/>
              <a:tblGrid>
                <a:gridCol w="865187">
                  <a:extLst>
                    <a:ext uri="{9D8B030D-6E8A-4147-A177-3AD203B41FA5}">
                      <a16:colId xmlns:a16="http://schemas.microsoft.com/office/drawing/2014/main" val="20000"/>
                    </a:ext>
                  </a:extLst>
                </a:gridCol>
                <a:gridCol w="5938838">
                  <a:extLst>
                    <a:ext uri="{9D8B030D-6E8A-4147-A177-3AD203B41FA5}">
                      <a16:colId xmlns:a16="http://schemas.microsoft.com/office/drawing/2014/main" val="20001"/>
                    </a:ext>
                  </a:extLst>
                </a:gridCol>
                <a:gridCol w="935037">
                  <a:extLst>
                    <a:ext uri="{9D8B030D-6E8A-4147-A177-3AD203B41FA5}">
                      <a16:colId xmlns:a16="http://schemas.microsoft.com/office/drawing/2014/main" val="20002"/>
                    </a:ext>
                  </a:extLst>
                </a:gridCol>
              </a:tblGrid>
              <a:tr h="1587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UnRBR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描述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复位值</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1587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7 : 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rgbClr val="0000FF"/>
                          </a:solidFill>
                          <a:effectLst/>
                          <a:latin typeface="宋体" pitchFamily="2" charset="-122"/>
                          <a:ea typeface="宋体" pitchFamily="2" charset="-122"/>
                        </a:rPr>
                        <a:t>接收缓存寄存器</a:t>
                      </a:r>
                      <a:r>
                        <a:rPr kumimoji="1" lang="zh-CN" altLang="en-US" sz="1600" b="0" i="0" u="none" strike="noStrike" cap="none" normalizeH="0" baseline="0">
                          <a:ln>
                            <a:noFill/>
                          </a:ln>
                          <a:solidFill>
                            <a:schemeClr val="tx1"/>
                          </a:solidFill>
                          <a:effectLst/>
                          <a:latin typeface="宋体" pitchFamily="2" charset="-122"/>
                          <a:ea typeface="宋体" pitchFamily="2" charset="-122"/>
                        </a:rPr>
                        <a:t>，它包含了接收</a:t>
                      </a:r>
                      <a:r>
                        <a:rPr kumimoji="1" lang="en-US" altLang="zh-CN" sz="1600" b="0" i="0" u="none" strike="noStrike" cap="none" normalizeH="0" baseline="0">
                          <a:ln>
                            <a:noFill/>
                          </a:ln>
                          <a:solidFill>
                            <a:schemeClr val="tx1"/>
                          </a:solidFill>
                          <a:effectLst/>
                          <a:latin typeface="宋体" pitchFamily="2" charset="-122"/>
                          <a:ea typeface="宋体" pitchFamily="2" charset="-122"/>
                        </a:rPr>
                        <a:t>FIFO</a:t>
                      </a:r>
                      <a:r>
                        <a:rPr kumimoji="1" lang="zh-CN" altLang="en-US" sz="1600" b="0" i="0" u="none" strike="noStrike" cap="none" normalizeH="0" baseline="0">
                          <a:ln>
                            <a:noFill/>
                          </a:ln>
                          <a:solidFill>
                            <a:schemeClr val="tx1"/>
                          </a:solidFill>
                          <a:effectLst/>
                          <a:latin typeface="宋体" pitchFamily="2" charset="-122"/>
                          <a:ea typeface="宋体" pitchFamily="2" charset="-122"/>
                        </a:rPr>
                        <a:t>中最早接收到的字节</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未定义</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bl>
          </a:graphicData>
        </a:graphic>
      </p:graphicFrame>
      <p:sp>
        <p:nvSpPr>
          <p:cNvPr id="714811" name="Rectangle 59"/>
          <p:cNvSpPr>
            <a:spLocks noChangeArrowheads="1"/>
          </p:cNvSpPr>
          <p:nvPr/>
        </p:nvSpPr>
        <p:spPr bwMode="auto">
          <a:xfrm>
            <a:off x="2211388" y="620713"/>
            <a:ext cx="777240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a:t>
            </a:r>
            <a:r>
              <a:rPr lang="zh-CN" altLang="en-US" sz="3200">
                <a:latin typeface="Times New Roman" pitchFamily="18" charset="0"/>
              </a:rPr>
              <a:t>接收模块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14811"/>
                                        </p:tgtEl>
                                        <p:attrNameLst>
                                          <p:attrName>style.visibility</p:attrName>
                                        </p:attrNameLst>
                                      </p:cBhvr>
                                      <p:to>
                                        <p:strVal val="visible"/>
                                      </p:to>
                                    </p:set>
                                    <p:anim calcmode="lin" valueType="num">
                                      <p:cBhvr additive="base">
                                        <p:cTn id="7" dur="500" fill="hold"/>
                                        <p:tgtEl>
                                          <p:spTgt spid="714811"/>
                                        </p:tgtEl>
                                        <p:attrNameLst>
                                          <p:attrName>ppt_x</p:attrName>
                                        </p:attrNameLst>
                                      </p:cBhvr>
                                      <p:tavLst>
                                        <p:tav tm="0">
                                          <p:val>
                                            <p:strVal val="1+#ppt_w/2"/>
                                          </p:val>
                                        </p:tav>
                                        <p:tav tm="100000">
                                          <p:val>
                                            <p:strVal val="#ppt_x"/>
                                          </p:val>
                                        </p:tav>
                                      </p:tavLst>
                                    </p:anim>
                                    <p:anim calcmode="lin" valueType="num">
                                      <p:cBhvr additive="base">
                                        <p:cTn id="8" dur="500" fill="hold"/>
                                        <p:tgtEl>
                                          <p:spTgt spid="7148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8" presetClass="entr" presetSubtype="6" fill="hold" nodeType="afterEffect">
                                  <p:stCondLst>
                                    <p:cond delay="0"/>
                                  </p:stCondLst>
                                  <p:childTnLst>
                                    <p:set>
                                      <p:cBhvr>
                                        <p:cTn id="11" dur="1" fill="hold">
                                          <p:stCondLst>
                                            <p:cond delay="0"/>
                                          </p:stCondLst>
                                        </p:cTn>
                                        <p:tgtEl>
                                          <p:spTgt spid="714754"/>
                                        </p:tgtEl>
                                        <p:attrNameLst>
                                          <p:attrName>style.visibility</p:attrName>
                                        </p:attrNameLst>
                                      </p:cBhvr>
                                      <p:to>
                                        <p:strVal val="visible"/>
                                      </p:to>
                                    </p:set>
                                    <p:animEffect transition="in" filter="strips(downRight)">
                                      <p:cBhvr>
                                        <p:cTn id="12" dur="500"/>
                                        <p:tgtEl>
                                          <p:spTgt spid="71475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14789"/>
                                        </p:tgtEl>
                                        <p:attrNameLst>
                                          <p:attrName>style.visibility</p:attrName>
                                        </p:attrNameLst>
                                      </p:cBhvr>
                                      <p:to>
                                        <p:strVal val="visible"/>
                                      </p:to>
                                    </p:set>
                                    <p:animEffect transition="in" filter="wipe(up)">
                                      <p:cBhvr>
                                        <p:cTn id="17" dur="2000"/>
                                        <p:tgtEl>
                                          <p:spTgt spid="71478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714773"/>
                                        </p:tgtEl>
                                        <p:attrNameLst>
                                          <p:attrName>style.visibility</p:attrName>
                                        </p:attrNameLst>
                                      </p:cBhvr>
                                      <p:to>
                                        <p:strVal val="visible"/>
                                      </p:to>
                                    </p:set>
                                    <p:animEffect transition="in" filter="wipe(right)">
                                      <p:cBhvr>
                                        <p:cTn id="22" dur="500"/>
                                        <p:tgtEl>
                                          <p:spTgt spid="714773"/>
                                        </p:tgtEl>
                                      </p:cBhvr>
                                    </p:animEffect>
                                  </p:childTnLst>
                                </p:cTn>
                              </p:par>
                            </p:childTnLst>
                          </p:cTn>
                        </p:par>
                        <p:par>
                          <p:cTn id="23" fill="hold">
                            <p:stCondLst>
                              <p:cond delay="500"/>
                            </p:stCondLst>
                            <p:childTnLst>
                              <p:par>
                                <p:cTn id="24" presetID="22" presetClass="entr" presetSubtype="4" fill="hold" nodeType="afterEffect">
                                  <p:stCondLst>
                                    <p:cond delay="0"/>
                                  </p:stCondLst>
                                  <p:childTnLst>
                                    <p:set>
                                      <p:cBhvr>
                                        <p:cTn id="25" dur="1" fill="hold">
                                          <p:stCondLst>
                                            <p:cond delay="0"/>
                                          </p:stCondLst>
                                        </p:cTn>
                                        <p:tgtEl>
                                          <p:spTgt spid="714770"/>
                                        </p:tgtEl>
                                        <p:attrNameLst>
                                          <p:attrName>style.visibility</p:attrName>
                                        </p:attrNameLst>
                                      </p:cBhvr>
                                      <p:to>
                                        <p:strVal val="visible"/>
                                      </p:to>
                                    </p:set>
                                    <p:animEffect transition="in" filter="wipe(down)">
                                      <p:cBhvr>
                                        <p:cTn id="26" dur="500"/>
                                        <p:tgtEl>
                                          <p:spTgt spid="714770"/>
                                        </p:tgtEl>
                                      </p:cBhvr>
                                    </p:animEffect>
                                  </p:childTnLst>
                                </p:cTn>
                              </p:par>
                            </p:childTnLst>
                          </p:cTn>
                        </p:par>
                        <p:par>
                          <p:cTn id="27" fill="hold">
                            <p:stCondLst>
                              <p:cond delay="1000"/>
                            </p:stCondLst>
                            <p:childTnLst>
                              <p:par>
                                <p:cTn id="28" presetID="22" presetClass="entr" presetSubtype="8" fill="hold" nodeType="afterEffect">
                                  <p:stCondLst>
                                    <p:cond delay="0"/>
                                  </p:stCondLst>
                                  <p:childTnLst>
                                    <p:set>
                                      <p:cBhvr>
                                        <p:cTn id="29" dur="1" fill="hold">
                                          <p:stCondLst>
                                            <p:cond delay="0"/>
                                          </p:stCondLst>
                                        </p:cTn>
                                        <p:tgtEl>
                                          <p:spTgt spid="714783"/>
                                        </p:tgtEl>
                                        <p:attrNameLst>
                                          <p:attrName>style.visibility</p:attrName>
                                        </p:attrNameLst>
                                      </p:cBhvr>
                                      <p:to>
                                        <p:strVal val="visible"/>
                                      </p:to>
                                    </p:set>
                                    <p:animEffect transition="in" filter="wipe(left)">
                                      <p:cBhvr>
                                        <p:cTn id="30" dur="500"/>
                                        <p:tgtEl>
                                          <p:spTgt spid="714783"/>
                                        </p:tgtEl>
                                      </p:cBhvr>
                                    </p:animEffect>
                                  </p:childTnLst>
                                </p:cTn>
                              </p:par>
                            </p:childTnLst>
                          </p:cTn>
                        </p:par>
                        <p:par>
                          <p:cTn id="31" fill="hold">
                            <p:stCondLst>
                              <p:cond delay="1500"/>
                            </p:stCondLst>
                            <p:childTnLst>
                              <p:par>
                                <p:cTn id="32" presetID="13" presetClass="entr" presetSubtype="16" fill="hold" grpId="0" nodeType="afterEffect">
                                  <p:stCondLst>
                                    <p:cond delay="0"/>
                                  </p:stCondLst>
                                  <p:childTnLst>
                                    <p:set>
                                      <p:cBhvr>
                                        <p:cTn id="33" dur="1" fill="hold">
                                          <p:stCondLst>
                                            <p:cond delay="0"/>
                                          </p:stCondLst>
                                        </p:cTn>
                                        <p:tgtEl>
                                          <p:spTgt spid="714788"/>
                                        </p:tgtEl>
                                        <p:attrNameLst>
                                          <p:attrName>style.visibility</p:attrName>
                                        </p:attrNameLst>
                                      </p:cBhvr>
                                      <p:to>
                                        <p:strVal val="visible"/>
                                      </p:to>
                                    </p:set>
                                    <p:animEffect transition="in" filter="plus(in)">
                                      <p:cBhvr>
                                        <p:cTn id="34" dur="500"/>
                                        <p:tgtEl>
                                          <p:spTgt spid="714788"/>
                                        </p:tgtEl>
                                      </p:cBhvr>
                                    </p:animEffect>
                                  </p:childTnLst>
                                </p:cTn>
                              </p:par>
                            </p:childTnLst>
                          </p:cTn>
                        </p:par>
                        <p:par>
                          <p:cTn id="35" fill="hold">
                            <p:stCondLst>
                              <p:cond delay="2000"/>
                            </p:stCondLst>
                            <p:childTnLst>
                              <p:par>
                                <p:cTn id="36" presetID="2" presetClass="entr" presetSubtype="8" fill="hold" nodeType="afterEffect">
                                  <p:stCondLst>
                                    <p:cond delay="0"/>
                                  </p:stCondLst>
                                  <p:childTnLst>
                                    <p:set>
                                      <p:cBhvr>
                                        <p:cTn id="37" dur="1" fill="hold">
                                          <p:stCondLst>
                                            <p:cond delay="0"/>
                                          </p:stCondLst>
                                        </p:cTn>
                                        <p:tgtEl>
                                          <p:spTgt spid="714797"/>
                                        </p:tgtEl>
                                        <p:attrNameLst>
                                          <p:attrName>style.visibility</p:attrName>
                                        </p:attrNameLst>
                                      </p:cBhvr>
                                      <p:to>
                                        <p:strVal val="visible"/>
                                      </p:to>
                                    </p:set>
                                    <p:anim calcmode="lin" valueType="num">
                                      <p:cBhvr additive="base">
                                        <p:cTn id="38" dur="500" fill="hold"/>
                                        <p:tgtEl>
                                          <p:spTgt spid="714797"/>
                                        </p:tgtEl>
                                        <p:attrNameLst>
                                          <p:attrName>ppt_x</p:attrName>
                                        </p:attrNameLst>
                                      </p:cBhvr>
                                      <p:tavLst>
                                        <p:tav tm="0">
                                          <p:val>
                                            <p:strVal val="0-#ppt_w/2"/>
                                          </p:val>
                                        </p:tav>
                                        <p:tav tm="100000">
                                          <p:val>
                                            <p:strVal val="#ppt_x"/>
                                          </p:val>
                                        </p:tav>
                                      </p:tavLst>
                                    </p:anim>
                                    <p:anim calcmode="lin" valueType="num">
                                      <p:cBhvr additive="base">
                                        <p:cTn id="39" dur="500" fill="hold"/>
                                        <p:tgtEl>
                                          <p:spTgt spid="7147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4788" grpId="0" animBg="1"/>
      <p:bldP spid="714811"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Rectangle 2"/>
          <p:cNvSpPr>
            <a:spLocks noChangeArrowheads="1"/>
          </p:cNvSpPr>
          <p:nvPr/>
        </p:nvSpPr>
        <p:spPr bwMode="auto">
          <a:xfrm>
            <a:off x="2182813" y="1700214"/>
            <a:ext cx="3998912" cy="2097087"/>
          </a:xfrm>
          <a:prstGeom prst="rect">
            <a:avLst/>
          </a:prstGeom>
          <a:noFill/>
          <a:ln w="9525">
            <a:noFill/>
            <a:miter lim="800000"/>
            <a:headEnd/>
            <a:tailEnd/>
          </a:ln>
          <a:effectLst/>
        </p:spPr>
        <p:txBody>
          <a:bodyPr/>
          <a:lstStyle/>
          <a:p>
            <a:pPr marL="342900" indent="-342900">
              <a:lnSpc>
                <a:spcPct val="90000"/>
              </a:lnSpc>
              <a:spcBef>
                <a:spcPct val="20000"/>
              </a:spcBef>
              <a:buClr>
                <a:schemeClr val="accent2"/>
              </a:buClr>
              <a:buFontTx/>
              <a:buChar char="•"/>
            </a:pPr>
            <a:r>
              <a:rPr lang="en-US" altLang="zh-CN" sz="2400">
                <a:latin typeface="华文新魏" pitchFamily="2" charset="-122"/>
                <a:ea typeface="华文新魏" pitchFamily="2" charset="-122"/>
              </a:rPr>
              <a:t>UART0</a:t>
            </a:r>
            <a:r>
              <a:rPr lang="zh-CN" altLang="en-US" sz="2400">
                <a:latin typeface="华文新魏" pitchFamily="2" charset="-122"/>
                <a:ea typeface="华文新魏" pitchFamily="2" charset="-122"/>
              </a:rPr>
              <a:t>、</a:t>
            </a:r>
            <a:r>
              <a:rPr lang="en-US" altLang="zh-CN" sz="2400">
                <a:latin typeface="华文新魏" pitchFamily="2" charset="-122"/>
                <a:ea typeface="华文新魏" pitchFamily="2" charset="-122"/>
              </a:rPr>
              <a:t>UART1</a:t>
            </a:r>
            <a:r>
              <a:rPr lang="zh-CN" altLang="en-US" sz="2400">
                <a:latin typeface="华文新魏" pitchFamily="2" charset="-122"/>
                <a:ea typeface="华文新魏" pitchFamily="2" charset="-122"/>
              </a:rPr>
              <a:t>各含有</a:t>
            </a:r>
            <a:r>
              <a:rPr lang="en-US" altLang="zh-CN" sz="2400">
                <a:latin typeface="华文新魏" pitchFamily="2" charset="-122"/>
                <a:ea typeface="华文新魏" pitchFamily="2" charset="-122"/>
              </a:rPr>
              <a:t>1</a:t>
            </a:r>
            <a:r>
              <a:rPr lang="zh-CN" altLang="en-US" sz="2400">
                <a:latin typeface="华文新魏" pitchFamily="2" charset="-122"/>
                <a:ea typeface="华文新魏" pitchFamily="2" charset="-122"/>
              </a:rPr>
              <a:t>个</a:t>
            </a:r>
            <a:r>
              <a:rPr lang="en-US" altLang="zh-CN" sz="2400">
                <a:latin typeface="华文新魏" pitchFamily="2" charset="-122"/>
                <a:ea typeface="华文新魏" pitchFamily="2" charset="-122"/>
              </a:rPr>
              <a:t>16</a:t>
            </a:r>
            <a:r>
              <a:rPr lang="zh-CN" altLang="en-US" sz="2400">
                <a:latin typeface="华文新魏" pitchFamily="2" charset="-122"/>
                <a:ea typeface="华文新魏" pitchFamily="2" charset="-122"/>
              </a:rPr>
              <a:t>字节的接收</a:t>
            </a:r>
            <a:r>
              <a:rPr lang="en-US" altLang="zh-CN" sz="2400">
                <a:latin typeface="华文新魏" pitchFamily="2" charset="-122"/>
                <a:ea typeface="华文新魏" pitchFamily="2" charset="-122"/>
              </a:rPr>
              <a:t>FIFO</a:t>
            </a:r>
            <a:r>
              <a:rPr lang="zh-CN" altLang="en-US" sz="2400">
                <a:latin typeface="华文新魏" pitchFamily="2" charset="-122"/>
                <a:ea typeface="华文新魏" pitchFamily="2" charset="-122"/>
              </a:rPr>
              <a:t>缓冲区。 </a:t>
            </a:r>
          </a:p>
          <a:p>
            <a:pPr marL="342900" indent="-342900">
              <a:lnSpc>
                <a:spcPct val="90000"/>
              </a:lnSpc>
              <a:spcBef>
                <a:spcPct val="20000"/>
              </a:spcBef>
              <a:buClr>
                <a:schemeClr val="accent2"/>
              </a:buClr>
              <a:buFontTx/>
              <a:buChar char="•"/>
            </a:pPr>
            <a:r>
              <a:rPr lang="zh-CN" altLang="en-US" sz="2400">
                <a:latin typeface="华文新魏" pitchFamily="2" charset="-122"/>
                <a:ea typeface="华文新魏" pitchFamily="2" charset="-122"/>
              </a:rPr>
              <a:t>软件设置接收</a:t>
            </a:r>
            <a:r>
              <a:rPr lang="en-US" altLang="zh-CN" sz="2400">
                <a:latin typeface="华文新魏" pitchFamily="2" charset="-122"/>
                <a:ea typeface="华文新魏" pitchFamily="2" charset="-122"/>
              </a:rPr>
              <a:t>FIFO</a:t>
            </a:r>
            <a:r>
              <a:rPr lang="zh-CN" altLang="en-US" sz="2400">
                <a:latin typeface="华文新魏" pitchFamily="2" charset="-122"/>
                <a:ea typeface="华文新魏" pitchFamily="2" charset="-122"/>
              </a:rPr>
              <a:t>缓冲区的触发字节。 </a:t>
            </a:r>
          </a:p>
        </p:txBody>
      </p:sp>
      <p:graphicFrame>
        <p:nvGraphicFramePr>
          <p:cNvPr id="715779" name="Group 3"/>
          <p:cNvGraphicFramePr>
            <a:graphicFrameLocks noGrp="1"/>
          </p:cNvGraphicFramePr>
          <p:nvPr/>
        </p:nvGraphicFramePr>
        <p:xfrm>
          <a:off x="2208214" y="4437063"/>
          <a:ext cx="7775575" cy="1005840"/>
        </p:xfrm>
        <a:graphic>
          <a:graphicData uri="http://schemas.openxmlformats.org/drawingml/2006/table">
            <a:tbl>
              <a:tblPr/>
              <a:tblGrid>
                <a:gridCol w="911225">
                  <a:extLst>
                    <a:ext uri="{9D8B030D-6E8A-4147-A177-3AD203B41FA5}">
                      <a16:colId xmlns:a16="http://schemas.microsoft.com/office/drawing/2014/main" val="20000"/>
                    </a:ext>
                  </a:extLst>
                </a:gridCol>
                <a:gridCol w="911225">
                  <a:extLst>
                    <a:ext uri="{9D8B030D-6E8A-4147-A177-3AD203B41FA5}">
                      <a16:colId xmlns:a16="http://schemas.microsoft.com/office/drawing/2014/main" val="20001"/>
                    </a:ext>
                  </a:extLst>
                </a:gridCol>
                <a:gridCol w="911225">
                  <a:extLst>
                    <a:ext uri="{9D8B030D-6E8A-4147-A177-3AD203B41FA5}">
                      <a16:colId xmlns:a16="http://schemas.microsoft.com/office/drawing/2014/main" val="20002"/>
                    </a:ext>
                  </a:extLst>
                </a:gridCol>
                <a:gridCol w="938212">
                  <a:extLst>
                    <a:ext uri="{9D8B030D-6E8A-4147-A177-3AD203B41FA5}">
                      <a16:colId xmlns:a16="http://schemas.microsoft.com/office/drawing/2014/main" val="20003"/>
                    </a:ext>
                  </a:extLst>
                </a:gridCol>
                <a:gridCol w="1368425">
                  <a:extLst>
                    <a:ext uri="{9D8B030D-6E8A-4147-A177-3AD203B41FA5}">
                      <a16:colId xmlns:a16="http://schemas.microsoft.com/office/drawing/2014/main" val="20004"/>
                    </a:ext>
                  </a:extLst>
                </a:gridCol>
                <a:gridCol w="1368425">
                  <a:extLst>
                    <a:ext uri="{9D8B030D-6E8A-4147-A177-3AD203B41FA5}">
                      <a16:colId xmlns:a16="http://schemas.microsoft.com/office/drawing/2014/main" val="20005"/>
                    </a:ext>
                  </a:extLst>
                </a:gridCol>
                <a:gridCol w="1366838">
                  <a:extLst>
                    <a:ext uri="{9D8B030D-6E8A-4147-A177-3AD203B41FA5}">
                      <a16:colId xmlns:a16="http://schemas.microsoft.com/office/drawing/2014/main" val="20006"/>
                    </a:ext>
                  </a:extLst>
                </a:gridCol>
              </a:tblGrid>
              <a:tr h="144463">
                <a:tc gridSpan="7">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宋体" pitchFamily="2" charset="-122"/>
                        </a:rPr>
                        <a:t>UART FIFO</a:t>
                      </a:r>
                      <a:r>
                        <a:rPr kumimoji="1" lang="zh-CN" altLang="en-US" sz="1600" b="1" i="0" u="none" strike="noStrike" cap="none" normalizeH="0" baseline="0">
                          <a:ln>
                            <a:noFill/>
                          </a:ln>
                          <a:solidFill>
                            <a:schemeClr val="tx1"/>
                          </a:solidFill>
                          <a:effectLst/>
                          <a:latin typeface="Times New Roman" pitchFamily="18" charset="0"/>
                          <a:ea typeface="宋体" pitchFamily="2" charset="-122"/>
                        </a:rPr>
                        <a:t>控制寄存器</a:t>
                      </a:r>
                      <a:endParaRPr kumimoji="1" lang="zh-CN" altLang="en-US" sz="1600" b="1" i="0" u="none" strike="noStrike" cap="none" normalizeH="0" baseline="0">
                        <a:ln>
                          <a:noFill/>
                        </a:ln>
                        <a:solidFill>
                          <a:schemeClr val="tx1"/>
                        </a:solidFill>
                        <a:effectLst/>
                        <a:latin typeface="宋体" pitchFamily="2" charset="-122"/>
                        <a:ea typeface="宋体"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位</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[5 : 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3127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功能</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Rx</a:t>
                      </a:r>
                      <a:r>
                        <a:rPr kumimoji="1" lang="zh-CN" altLang="en-US" sz="1600" b="0" i="0" u="none" strike="noStrike" cap="none" normalizeH="0" baseline="0">
                          <a:ln>
                            <a:noFill/>
                          </a:ln>
                          <a:solidFill>
                            <a:schemeClr val="tx1"/>
                          </a:solidFill>
                          <a:effectLst/>
                          <a:latin typeface="宋体" pitchFamily="2" charset="-122"/>
                          <a:ea typeface="宋体" pitchFamily="2" charset="-122"/>
                        </a:rPr>
                        <a:t>触发点设置</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复位</a:t>
                      </a:r>
                      <a:r>
                        <a:rPr kumimoji="1" lang="en-US" altLang="zh-CN" sz="1600" b="0" i="0" u="none" strike="noStrike" cap="none" normalizeH="0" baseline="0">
                          <a:ln>
                            <a:noFill/>
                          </a:ln>
                          <a:solidFill>
                            <a:schemeClr val="tx1"/>
                          </a:solidFill>
                          <a:effectLst/>
                          <a:latin typeface="宋体" pitchFamily="2" charset="-122"/>
                          <a:ea typeface="宋体" pitchFamily="2" charset="-122"/>
                        </a:rPr>
                        <a:t>TxFIFO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复位</a:t>
                      </a:r>
                      <a:r>
                        <a:rPr kumimoji="1" lang="en-US" altLang="zh-CN" sz="1600" b="0" i="0" u="none" strike="noStrike" cap="none" normalizeH="0" baseline="0">
                          <a:ln>
                            <a:noFill/>
                          </a:ln>
                          <a:solidFill>
                            <a:schemeClr val="tx1"/>
                          </a:solidFill>
                          <a:effectLst/>
                          <a:latin typeface="宋体" pitchFamily="2" charset="-122"/>
                          <a:ea typeface="宋体" pitchFamily="2" charset="-122"/>
                        </a:rPr>
                        <a:t>RxFIFO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使能</a:t>
                      </a:r>
                      <a:r>
                        <a:rPr kumimoji="1" lang="en-US" altLang="zh-CN" sz="1600" b="0" i="0" u="none" strike="noStrike" cap="none" normalizeH="0" baseline="0">
                          <a:ln>
                            <a:noFill/>
                          </a:ln>
                          <a:solidFill>
                            <a:schemeClr val="tx1"/>
                          </a:solidFill>
                          <a:effectLst/>
                          <a:latin typeface="宋体" pitchFamily="2" charset="-122"/>
                          <a:ea typeface="宋体" pitchFamily="2" charset="-122"/>
                        </a:rPr>
                        <a:t>FIFO</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bl>
          </a:graphicData>
        </a:graphic>
      </p:graphicFrame>
      <p:grpSp>
        <p:nvGrpSpPr>
          <p:cNvPr id="715806" name="Group 30"/>
          <p:cNvGrpSpPr>
            <a:grpSpLocks/>
          </p:cNvGrpSpPr>
          <p:nvPr/>
        </p:nvGrpSpPr>
        <p:grpSpPr bwMode="auto">
          <a:xfrm>
            <a:off x="6240463" y="1335089"/>
            <a:ext cx="3548062" cy="2897187"/>
            <a:chOff x="3256" y="952"/>
            <a:chExt cx="2235" cy="1825"/>
          </a:xfrm>
        </p:grpSpPr>
        <p:grpSp>
          <p:nvGrpSpPr>
            <p:cNvPr id="715807" name="Group 31"/>
            <p:cNvGrpSpPr>
              <a:grpSpLocks/>
            </p:cNvGrpSpPr>
            <p:nvPr/>
          </p:nvGrpSpPr>
          <p:grpSpPr bwMode="auto">
            <a:xfrm>
              <a:off x="3256" y="952"/>
              <a:ext cx="1956" cy="1825"/>
              <a:chOff x="3219" y="1037"/>
              <a:chExt cx="1956" cy="1825"/>
            </a:xfrm>
          </p:grpSpPr>
          <p:pic>
            <p:nvPicPr>
              <p:cNvPr id="715808" name="Picture 32" descr="MCj02374070000[1]"/>
              <p:cNvPicPr>
                <a:picLocks noChangeAspect="1" noChangeArrowheads="1"/>
              </p:cNvPicPr>
              <p:nvPr/>
            </p:nvPicPr>
            <p:blipFill>
              <a:blip r:embed="rId2" cstate="print"/>
              <a:srcRect/>
              <a:stretch>
                <a:fillRect/>
              </a:stretch>
            </p:blipFill>
            <p:spPr bwMode="auto">
              <a:xfrm>
                <a:off x="3288" y="1463"/>
                <a:ext cx="750" cy="970"/>
              </a:xfrm>
              <a:prstGeom prst="rect">
                <a:avLst/>
              </a:prstGeom>
              <a:noFill/>
              <a:effectLst>
                <a:outerShdw dist="107763" dir="2700000" algn="ctr" rotWithShape="0">
                  <a:srgbClr val="808080">
                    <a:alpha val="50000"/>
                  </a:srgbClr>
                </a:outerShdw>
              </a:effectLst>
            </p:spPr>
          </p:pic>
          <p:sp>
            <p:nvSpPr>
              <p:cNvPr id="715809" name="Text Box 33"/>
              <p:cNvSpPr txBox="1">
                <a:spLocks noChangeArrowheads="1"/>
              </p:cNvSpPr>
              <p:nvPr/>
            </p:nvSpPr>
            <p:spPr bwMode="auto">
              <a:xfrm>
                <a:off x="3830" y="1906"/>
                <a:ext cx="692" cy="231"/>
              </a:xfrm>
              <a:prstGeom prst="rect">
                <a:avLst/>
              </a:prstGeom>
              <a:noFill/>
              <a:ln w="9525" algn="ctr">
                <a:noFill/>
                <a:miter lim="800000"/>
                <a:headEnd/>
                <a:tailEnd/>
              </a:ln>
              <a:effectLst/>
            </p:spPr>
            <p:txBody>
              <a:bodyPr wrap="none">
                <a:spAutoFit/>
              </a:bodyPr>
              <a:lstStyle/>
              <a:p>
                <a:r>
                  <a:rPr lang="zh-CN" altLang="en-US">
                    <a:latin typeface="宋体" pitchFamily="2" charset="-122"/>
                  </a:rPr>
                  <a:t>接收</a:t>
                </a:r>
                <a:r>
                  <a:rPr lang="en-US" altLang="zh-CN">
                    <a:latin typeface="宋体" pitchFamily="2" charset="-122"/>
                  </a:rPr>
                  <a:t>FIFO</a:t>
                </a:r>
              </a:p>
            </p:txBody>
          </p:sp>
          <p:sp>
            <p:nvSpPr>
              <p:cNvPr id="715810" name="AutoShape 34"/>
              <p:cNvSpPr>
                <a:spLocks noChangeArrowheads="1"/>
              </p:cNvSpPr>
              <p:nvPr/>
            </p:nvSpPr>
            <p:spPr bwMode="auto">
              <a:xfrm>
                <a:off x="3511" y="1195"/>
                <a:ext cx="306" cy="466"/>
              </a:xfrm>
              <a:prstGeom prst="downArrow">
                <a:avLst>
                  <a:gd name="adj1" fmla="val 50000"/>
                  <a:gd name="adj2" fmla="val 38072"/>
                </a:avLst>
              </a:prstGeom>
              <a:solidFill>
                <a:srgbClr val="CCECFF"/>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sp>
            <p:nvSpPr>
              <p:cNvPr id="715811" name="Rectangle 35"/>
              <p:cNvSpPr>
                <a:spLocks noChangeArrowheads="1"/>
              </p:cNvSpPr>
              <p:nvPr/>
            </p:nvSpPr>
            <p:spPr bwMode="auto">
              <a:xfrm>
                <a:off x="3219" y="1055"/>
                <a:ext cx="901" cy="260"/>
              </a:xfrm>
              <a:prstGeom prst="rect">
                <a:avLst/>
              </a:prstGeom>
              <a:solidFill>
                <a:srgbClr val="FFFF99"/>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r>
                  <a:rPr lang="en-US" altLang="zh-CN">
                    <a:latin typeface="Times New Roman" pitchFamily="18" charset="0"/>
                  </a:rPr>
                  <a:t>UnRSR</a:t>
                </a:r>
              </a:p>
            </p:txBody>
          </p:sp>
          <p:sp>
            <p:nvSpPr>
              <p:cNvPr id="715812" name="Line 36"/>
              <p:cNvSpPr>
                <a:spLocks noChangeShapeType="1"/>
              </p:cNvSpPr>
              <p:nvPr/>
            </p:nvSpPr>
            <p:spPr bwMode="auto">
              <a:xfrm>
                <a:off x="3673" y="2401"/>
                <a:ext cx="0" cy="211"/>
              </a:xfrm>
              <a:prstGeom prst="line">
                <a:avLst/>
              </a:prstGeom>
              <a:noFill/>
              <a:ln w="19050">
                <a:solidFill>
                  <a:srgbClr val="FF0000"/>
                </a:solidFill>
                <a:round/>
                <a:headEnd/>
                <a:tailEnd type="triangle" w="med" len="med"/>
              </a:ln>
              <a:effectLst>
                <a:outerShdw dist="107763" dir="2700000" algn="ctr" rotWithShape="0">
                  <a:schemeClr val="bg2">
                    <a:alpha val="50000"/>
                  </a:schemeClr>
                </a:outerShdw>
              </a:effectLst>
            </p:spPr>
            <p:txBody>
              <a:bodyPr wrap="none" anchor="ctr"/>
              <a:lstStyle/>
              <a:p>
                <a:endParaRPr lang="zh-CN" altLang="en-US"/>
              </a:p>
            </p:txBody>
          </p:sp>
          <p:sp>
            <p:nvSpPr>
              <p:cNvPr id="715813" name="Line 37"/>
              <p:cNvSpPr>
                <a:spLocks noChangeShapeType="1"/>
              </p:cNvSpPr>
              <p:nvPr/>
            </p:nvSpPr>
            <p:spPr bwMode="auto">
              <a:xfrm>
                <a:off x="4111" y="1184"/>
                <a:ext cx="341" cy="0"/>
              </a:xfrm>
              <a:prstGeom prst="line">
                <a:avLst/>
              </a:prstGeom>
              <a:noFill/>
              <a:ln w="19050">
                <a:solidFill>
                  <a:srgbClr val="FF0000"/>
                </a:solidFill>
                <a:round/>
                <a:headEnd type="triangle" w="med" len="med"/>
                <a:tailEnd/>
              </a:ln>
              <a:effectLst>
                <a:outerShdw dist="107763" dir="2700000" algn="ctr" rotWithShape="0">
                  <a:schemeClr val="bg2">
                    <a:alpha val="50000"/>
                  </a:schemeClr>
                </a:outerShdw>
              </a:effectLst>
            </p:spPr>
            <p:txBody>
              <a:bodyPr wrap="none" anchor="ctr"/>
              <a:lstStyle/>
              <a:p>
                <a:endParaRPr lang="zh-CN" altLang="en-US"/>
              </a:p>
            </p:txBody>
          </p:sp>
          <p:sp>
            <p:nvSpPr>
              <p:cNvPr id="715814" name="Rectangle 38"/>
              <p:cNvSpPr>
                <a:spLocks noChangeArrowheads="1"/>
              </p:cNvSpPr>
              <p:nvPr/>
            </p:nvSpPr>
            <p:spPr bwMode="auto">
              <a:xfrm>
                <a:off x="3225" y="2611"/>
                <a:ext cx="901" cy="251"/>
              </a:xfrm>
              <a:prstGeom prst="rect">
                <a:avLst/>
              </a:prstGeom>
              <a:solidFill>
                <a:srgbClr val="FFFF99"/>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r>
                  <a:rPr lang="en-US" altLang="zh-CN">
                    <a:latin typeface="Times New Roman" pitchFamily="18" charset="0"/>
                  </a:rPr>
                  <a:t>UnRBR</a:t>
                </a:r>
              </a:p>
            </p:txBody>
          </p:sp>
          <p:pic>
            <p:nvPicPr>
              <p:cNvPr id="715815" name="Picture 39"/>
              <p:cNvPicPr>
                <a:picLocks noChangeAspect="1" noChangeArrowheads="1"/>
              </p:cNvPicPr>
              <p:nvPr/>
            </p:nvPicPr>
            <p:blipFill>
              <a:blip r:embed="rId3" cstate="print"/>
              <a:srcRect/>
              <a:stretch>
                <a:fillRect/>
              </a:stretch>
            </p:blipFill>
            <p:spPr bwMode="auto">
              <a:xfrm>
                <a:off x="4334" y="1037"/>
                <a:ext cx="841" cy="288"/>
              </a:xfrm>
              <a:prstGeom prst="rect">
                <a:avLst/>
              </a:prstGeom>
              <a:noFill/>
              <a:ln w="9525" algn="ctr">
                <a:noFill/>
                <a:miter lim="800000"/>
                <a:headEnd/>
                <a:tailEnd/>
              </a:ln>
              <a:effectLst/>
            </p:spPr>
          </p:pic>
        </p:grpSp>
        <p:sp>
          <p:nvSpPr>
            <p:cNvPr id="715816" name="AutoShape 40"/>
            <p:cNvSpPr>
              <a:spLocks noChangeArrowheads="1"/>
            </p:cNvSpPr>
            <p:nvPr/>
          </p:nvSpPr>
          <p:spPr bwMode="auto">
            <a:xfrm>
              <a:off x="4559" y="1849"/>
              <a:ext cx="279" cy="223"/>
            </a:xfrm>
            <a:prstGeom prst="leftArrow">
              <a:avLst>
                <a:gd name="adj1" fmla="val 50000"/>
                <a:gd name="adj2" fmla="val 31278"/>
              </a:avLst>
            </a:prstGeom>
            <a:solidFill>
              <a:srgbClr val="666699"/>
            </a:solidFill>
            <a:ln w="9525" algn="ctr">
              <a:solidFill>
                <a:schemeClr val="tx1"/>
              </a:solidFill>
              <a:miter lim="800000"/>
              <a:headEnd/>
              <a:tailEnd/>
            </a:ln>
            <a:effectLst/>
          </p:spPr>
          <p:txBody>
            <a:bodyPr wrap="none" anchor="ctr"/>
            <a:lstStyle/>
            <a:p>
              <a:endParaRPr lang="zh-CN" altLang="en-US"/>
            </a:p>
          </p:txBody>
        </p:sp>
        <p:sp>
          <p:nvSpPr>
            <p:cNvPr id="715817" name="Rectangle 41"/>
            <p:cNvSpPr>
              <a:spLocks noChangeArrowheads="1"/>
            </p:cNvSpPr>
            <p:nvPr/>
          </p:nvSpPr>
          <p:spPr bwMode="auto">
            <a:xfrm>
              <a:off x="4915" y="1789"/>
              <a:ext cx="576" cy="299"/>
            </a:xfrm>
            <a:prstGeom prst="rect">
              <a:avLst/>
            </a:prstGeom>
            <a:solidFill>
              <a:srgbClr val="FFCC99"/>
            </a:solidFill>
            <a:ln w="9525" algn="ctr">
              <a:solidFill>
                <a:schemeClr val="tx1"/>
              </a:solidFill>
              <a:miter lim="800000"/>
              <a:headEnd/>
              <a:tailEnd/>
            </a:ln>
            <a:effectLst/>
          </p:spPr>
          <p:txBody>
            <a:bodyPr wrap="none" anchor="ctr"/>
            <a:lstStyle/>
            <a:p>
              <a:r>
                <a:rPr lang="en-US" altLang="zh-CN">
                  <a:latin typeface="Times New Roman" pitchFamily="18" charset="0"/>
                </a:rPr>
                <a:t>UnFCR</a:t>
              </a:r>
            </a:p>
          </p:txBody>
        </p:sp>
      </p:grpSp>
      <p:grpSp>
        <p:nvGrpSpPr>
          <p:cNvPr id="715818" name="Group 42"/>
          <p:cNvGrpSpPr>
            <a:grpSpLocks/>
          </p:cNvGrpSpPr>
          <p:nvPr/>
        </p:nvGrpSpPr>
        <p:grpSpPr bwMode="auto">
          <a:xfrm>
            <a:off x="8597901" y="2568576"/>
            <a:ext cx="1484313" cy="1724025"/>
            <a:chOff x="4741" y="1729"/>
            <a:chExt cx="935" cy="1086"/>
          </a:xfrm>
        </p:grpSpPr>
        <p:sp>
          <p:nvSpPr>
            <p:cNvPr id="715819" name="Oval 43"/>
            <p:cNvSpPr>
              <a:spLocks noChangeArrowheads="1"/>
            </p:cNvSpPr>
            <p:nvPr/>
          </p:nvSpPr>
          <p:spPr bwMode="auto">
            <a:xfrm>
              <a:off x="4741" y="1729"/>
              <a:ext cx="935" cy="427"/>
            </a:xfrm>
            <a:prstGeom prst="ellipse">
              <a:avLst/>
            </a:prstGeom>
            <a:noFill/>
            <a:ln w="19050" algn="ctr">
              <a:solidFill>
                <a:srgbClr val="FF0000"/>
              </a:solidFill>
              <a:round/>
              <a:headEnd/>
              <a:tailEnd/>
            </a:ln>
            <a:effectLst/>
          </p:spPr>
          <p:txBody>
            <a:bodyPr wrap="none" anchor="ctr"/>
            <a:lstStyle/>
            <a:p>
              <a:endParaRPr lang="zh-CN" altLang="en-US"/>
            </a:p>
          </p:txBody>
        </p:sp>
        <p:sp>
          <p:nvSpPr>
            <p:cNvPr id="715820" name="AutoShape 44"/>
            <p:cNvSpPr>
              <a:spLocks noChangeArrowheads="1"/>
            </p:cNvSpPr>
            <p:nvPr/>
          </p:nvSpPr>
          <p:spPr bwMode="auto">
            <a:xfrm>
              <a:off x="5061" y="2200"/>
              <a:ext cx="306" cy="615"/>
            </a:xfrm>
            <a:prstGeom prst="downArrow">
              <a:avLst>
                <a:gd name="adj1" fmla="val 50000"/>
                <a:gd name="adj2" fmla="val 50245"/>
              </a:avLst>
            </a:prstGeom>
            <a:noFill/>
            <a:ln w="9525" algn="ctr">
              <a:solidFill>
                <a:schemeClr val="tx1"/>
              </a:solidFill>
              <a:miter lim="800000"/>
              <a:headEnd/>
              <a:tailEnd/>
            </a:ln>
            <a:effectLst/>
          </p:spPr>
          <p:txBody>
            <a:bodyPr wrap="none" anchor="ctr"/>
            <a:lstStyle/>
            <a:p>
              <a:endParaRPr lang="zh-CN" altLang="en-US"/>
            </a:p>
          </p:txBody>
        </p:sp>
      </p:grpSp>
      <p:sp>
        <p:nvSpPr>
          <p:cNvPr id="715821" name="Rectangle 45"/>
          <p:cNvSpPr>
            <a:spLocks noChangeArrowheads="1"/>
          </p:cNvSpPr>
          <p:nvPr/>
        </p:nvSpPr>
        <p:spPr bwMode="auto">
          <a:xfrm>
            <a:off x="2211388" y="620713"/>
            <a:ext cx="777240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a:t>
            </a:r>
            <a:r>
              <a:rPr lang="zh-CN" altLang="en-US" sz="3200">
                <a:latin typeface="Times New Roman" pitchFamily="18" charset="0"/>
              </a:rPr>
              <a:t>接收</a:t>
            </a:r>
            <a:r>
              <a:rPr lang="en-US" altLang="zh-CN" sz="3200">
                <a:latin typeface="Times New Roman" pitchFamily="18" charset="0"/>
              </a:rPr>
              <a:t>FIFO</a:t>
            </a:r>
            <a:r>
              <a:rPr lang="zh-CN" altLang="en-US" sz="3200">
                <a:latin typeface="Times New Roman" pitchFamily="18" charset="0"/>
              </a:rPr>
              <a:t>缓冲区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15821"/>
                                        </p:tgtEl>
                                        <p:attrNameLst>
                                          <p:attrName>style.visibility</p:attrName>
                                        </p:attrNameLst>
                                      </p:cBhvr>
                                      <p:to>
                                        <p:strVal val="visible"/>
                                      </p:to>
                                    </p:set>
                                    <p:anim calcmode="lin" valueType="num">
                                      <p:cBhvr additive="base">
                                        <p:cTn id="7" dur="500" fill="hold"/>
                                        <p:tgtEl>
                                          <p:spTgt spid="715821"/>
                                        </p:tgtEl>
                                        <p:attrNameLst>
                                          <p:attrName>ppt_x</p:attrName>
                                        </p:attrNameLst>
                                      </p:cBhvr>
                                      <p:tavLst>
                                        <p:tav tm="0">
                                          <p:val>
                                            <p:strVal val="1+#ppt_w/2"/>
                                          </p:val>
                                        </p:tav>
                                        <p:tav tm="100000">
                                          <p:val>
                                            <p:strVal val="#ppt_x"/>
                                          </p:val>
                                        </p:tav>
                                      </p:tavLst>
                                    </p:anim>
                                    <p:anim calcmode="lin" valueType="num">
                                      <p:cBhvr additive="base">
                                        <p:cTn id="8" dur="500" fill="hold"/>
                                        <p:tgtEl>
                                          <p:spTgt spid="7158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715778">
                                            <p:txEl>
                                              <p:pRg st="0" end="0"/>
                                            </p:txEl>
                                          </p:spTgt>
                                        </p:tgtEl>
                                        <p:attrNameLst>
                                          <p:attrName>style.visibility</p:attrName>
                                        </p:attrNameLst>
                                      </p:cBhvr>
                                      <p:to>
                                        <p:strVal val="visible"/>
                                      </p:to>
                                    </p:set>
                                    <p:animEffect transition="in" filter="box(in)">
                                      <p:cBhvr>
                                        <p:cTn id="12" dur="500"/>
                                        <p:tgtEl>
                                          <p:spTgt spid="715778">
                                            <p:txEl>
                                              <p:pRg st="0" end="0"/>
                                            </p:txEl>
                                          </p:spTgt>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715778">
                                            <p:txEl>
                                              <p:pRg st="1" end="1"/>
                                            </p:txEl>
                                          </p:spTgt>
                                        </p:tgtEl>
                                        <p:attrNameLst>
                                          <p:attrName>style.visibility</p:attrName>
                                        </p:attrNameLst>
                                      </p:cBhvr>
                                      <p:to>
                                        <p:strVal val="visible"/>
                                      </p:to>
                                    </p:set>
                                    <p:animEffect transition="in" filter="box(in)">
                                      <p:cBhvr>
                                        <p:cTn id="15" dur="500"/>
                                        <p:tgtEl>
                                          <p:spTgt spid="715778">
                                            <p:txEl>
                                              <p:pRg st="1" end="1"/>
                                            </p:txEl>
                                          </p:spTgt>
                                        </p:tgtEl>
                                      </p:cBhvr>
                                    </p:animEffect>
                                  </p:childTnLst>
                                </p:cTn>
                              </p:par>
                            </p:childTnLst>
                          </p:cTn>
                        </p:par>
                        <p:par>
                          <p:cTn id="16" fill="hold">
                            <p:stCondLst>
                              <p:cond delay="1000"/>
                            </p:stCondLst>
                            <p:childTnLst>
                              <p:par>
                                <p:cTn id="17" presetID="12" presetClass="entr" presetSubtype="1" fill="hold" nodeType="afterEffect">
                                  <p:stCondLst>
                                    <p:cond delay="0"/>
                                  </p:stCondLst>
                                  <p:childTnLst>
                                    <p:set>
                                      <p:cBhvr>
                                        <p:cTn id="18" dur="1" fill="hold">
                                          <p:stCondLst>
                                            <p:cond delay="0"/>
                                          </p:stCondLst>
                                        </p:cTn>
                                        <p:tgtEl>
                                          <p:spTgt spid="715806"/>
                                        </p:tgtEl>
                                        <p:attrNameLst>
                                          <p:attrName>style.visibility</p:attrName>
                                        </p:attrNameLst>
                                      </p:cBhvr>
                                      <p:to>
                                        <p:strVal val="visible"/>
                                      </p:to>
                                    </p:set>
                                    <p:animEffect transition="in" filter="slide(fromTop)">
                                      <p:cBhvr>
                                        <p:cTn id="19" dur="500"/>
                                        <p:tgtEl>
                                          <p:spTgt spid="715806"/>
                                        </p:tgtEl>
                                      </p:cBhvr>
                                    </p:animEffect>
                                  </p:childTnLst>
                                </p:cTn>
                              </p:par>
                            </p:childTnLst>
                          </p:cTn>
                        </p:par>
                        <p:par>
                          <p:cTn id="20" fill="hold">
                            <p:stCondLst>
                              <p:cond delay="1500"/>
                            </p:stCondLst>
                            <p:childTnLst>
                              <p:par>
                                <p:cTn id="21" presetID="22" presetClass="entr" presetSubtype="1" fill="hold" nodeType="afterEffect">
                                  <p:stCondLst>
                                    <p:cond delay="0"/>
                                  </p:stCondLst>
                                  <p:childTnLst>
                                    <p:set>
                                      <p:cBhvr>
                                        <p:cTn id="22" dur="1" fill="hold">
                                          <p:stCondLst>
                                            <p:cond delay="0"/>
                                          </p:stCondLst>
                                        </p:cTn>
                                        <p:tgtEl>
                                          <p:spTgt spid="715818"/>
                                        </p:tgtEl>
                                        <p:attrNameLst>
                                          <p:attrName>style.visibility</p:attrName>
                                        </p:attrNameLst>
                                      </p:cBhvr>
                                      <p:to>
                                        <p:strVal val="visible"/>
                                      </p:to>
                                    </p:set>
                                    <p:animEffect transition="in" filter="wipe(up)">
                                      <p:cBhvr>
                                        <p:cTn id="23" dur="500"/>
                                        <p:tgtEl>
                                          <p:spTgt spid="715818"/>
                                        </p:tgtEl>
                                      </p:cBhvr>
                                    </p:animEffect>
                                  </p:childTnLst>
                                </p:cTn>
                              </p:par>
                            </p:childTnLst>
                          </p:cTn>
                        </p:par>
                        <p:par>
                          <p:cTn id="24" fill="hold">
                            <p:stCondLst>
                              <p:cond delay="2000"/>
                            </p:stCondLst>
                            <p:childTnLst>
                              <p:par>
                                <p:cTn id="25" presetID="2" presetClass="entr" presetSubtype="8" fill="hold" nodeType="afterEffect">
                                  <p:stCondLst>
                                    <p:cond delay="0"/>
                                  </p:stCondLst>
                                  <p:childTnLst>
                                    <p:set>
                                      <p:cBhvr>
                                        <p:cTn id="26" dur="1" fill="hold">
                                          <p:stCondLst>
                                            <p:cond delay="0"/>
                                          </p:stCondLst>
                                        </p:cTn>
                                        <p:tgtEl>
                                          <p:spTgt spid="715779"/>
                                        </p:tgtEl>
                                        <p:attrNameLst>
                                          <p:attrName>style.visibility</p:attrName>
                                        </p:attrNameLst>
                                      </p:cBhvr>
                                      <p:to>
                                        <p:strVal val="visible"/>
                                      </p:to>
                                    </p:set>
                                    <p:anim calcmode="lin" valueType="num">
                                      <p:cBhvr additive="base">
                                        <p:cTn id="27" dur="500" fill="hold"/>
                                        <p:tgtEl>
                                          <p:spTgt spid="715779"/>
                                        </p:tgtEl>
                                        <p:attrNameLst>
                                          <p:attrName>ppt_x</p:attrName>
                                        </p:attrNameLst>
                                      </p:cBhvr>
                                      <p:tavLst>
                                        <p:tav tm="0">
                                          <p:val>
                                            <p:strVal val="0-#ppt_w/2"/>
                                          </p:val>
                                        </p:tav>
                                        <p:tav tm="100000">
                                          <p:val>
                                            <p:strVal val="#ppt_x"/>
                                          </p:val>
                                        </p:tav>
                                      </p:tavLst>
                                    </p:anim>
                                    <p:anim calcmode="lin" valueType="num">
                                      <p:cBhvr additive="base">
                                        <p:cTn id="28" dur="500" fill="hold"/>
                                        <p:tgtEl>
                                          <p:spTgt spid="7157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5778" grpId="0" build="p"/>
      <p:bldP spid="715821"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6802" name="Group 2"/>
          <p:cNvGraphicFramePr>
            <a:graphicFrameLocks noGrp="1"/>
          </p:cNvGraphicFramePr>
          <p:nvPr/>
        </p:nvGraphicFramePr>
        <p:xfrm>
          <a:off x="2208214" y="3929063"/>
          <a:ext cx="7769225" cy="1005840"/>
        </p:xfrm>
        <a:graphic>
          <a:graphicData uri="http://schemas.openxmlformats.org/drawingml/2006/table">
            <a:tbl>
              <a:tblPr/>
              <a:tblGrid>
                <a:gridCol w="935037">
                  <a:extLst>
                    <a:ext uri="{9D8B030D-6E8A-4147-A177-3AD203B41FA5}">
                      <a16:colId xmlns:a16="http://schemas.microsoft.com/office/drawing/2014/main" val="20000"/>
                    </a:ext>
                  </a:extLst>
                </a:gridCol>
                <a:gridCol w="833438">
                  <a:extLst>
                    <a:ext uri="{9D8B030D-6E8A-4147-A177-3AD203B41FA5}">
                      <a16:colId xmlns:a16="http://schemas.microsoft.com/office/drawing/2014/main" val="20001"/>
                    </a:ext>
                  </a:extLst>
                </a:gridCol>
                <a:gridCol w="857250">
                  <a:extLst>
                    <a:ext uri="{9D8B030D-6E8A-4147-A177-3AD203B41FA5}">
                      <a16:colId xmlns:a16="http://schemas.microsoft.com/office/drawing/2014/main" val="20002"/>
                    </a:ext>
                  </a:extLst>
                </a:gridCol>
                <a:gridCol w="857250">
                  <a:extLst>
                    <a:ext uri="{9D8B030D-6E8A-4147-A177-3AD203B41FA5}">
                      <a16:colId xmlns:a16="http://schemas.microsoft.com/office/drawing/2014/main" val="20003"/>
                    </a:ext>
                  </a:extLst>
                </a:gridCol>
                <a:gridCol w="857250">
                  <a:extLst>
                    <a:ext uri="{9D8B030D-6E8A-4147-A177-3AD203B41FA5}">
                      <a16:colId xmlns:a16="http://schemas.microsoft.com/office/drawing/2014/main" val="20004"/>
                    </a:ext>
                  </a:extLst>
                </a:gridCol>
                <a:gridCol w="857250">
                  <a:extLst>
                    <a:ext uri="{9D8B030D-6E8A-4147-A177-3AD203B41FA5}">
                      <a16:colId xmlns:a16="http://schemas.microsoft.com/office/drawing/2014/main" val="20005"/>
                    </a:ext>
                  </a:extLst>
                </a:gridCol>
                <a:gridCol w="857250">
                  <a:extLst>
                    <a:ext uri="{9D8B030D-6E8A-4147-A177-3AD203B41FA5}">
                      <a16:colId xmlns:a16="http://schemas.microsoft.com/office/drawing/2014/main" val="20006"/>
                    </a:ext>
                  </a:extLst>
                </a:gridCol>
                <a:gridCol w="857250">
                  <a:extLst>
                    <a:ext uri="{9D8B030D-6E8A-4147-A177-3AD203B41FA5}">
                      <a16:colId xmlns:a16="http://schemas.microsoft.com/office/drawing/2014/main" val="20007"/>
                    </a:ext>
                  </a:extLst>
                </a:gridCol>
                <a:gridCol w="857250">
                  <a:extLst>
                    <a:ext uri="{9D8B030D-6E8A-4147-A177-3AD203B41FA5}">
                      <a16:colId xmlns:a16="http://schemas.microsoft.com/office/drawing/2014/main" val="20008"/>
                    </a:ext>
                  </a:extLst>
                </a:gridCol>
              </a:tblGrid>
              <a:tr h="147638">
                <a:tc gridSpan="9">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UART</a:t>
                      </a:r>
                      <a:r>
                        <a:rPr kumimoji="1" lang="zh-CN" altLang="en-US" sz="1600" b="1" i="0" u="none" strike="noStrike" cap="none" normalizeH="0" baseline="0">
                          <a:ln>
                            <a:noFill/>
                          </a:ln>
                          <a:solidFill>
                            <a:schemeClr val="tx1"/>
                          </a:solidFill>
                          <a:effectLst/>
                          <a:latin typeface="宋体" pitchFamily="2" charset="-122"/>
                          <a:ea typeface="宋体" pitchFamily="2" charset="-122"/>
                        </a:rPr>
                        <a:t>线状态寄存器</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位</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168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功能</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RXFE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TEMT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THRE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BI</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FE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PE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OE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RDR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bl>
          </a:graphicData>
        </a:graphic>
      </p:graphicFrame>
      <p:sp>
        <p:nvSpPr>
          <p:cNvPr id="716836" name="Rectangle 36"/>
          <p:cNvSpPr>
            <a:spLocks noChangeArrowheads="1"/>
          </p:cNvSpPr>
          <p:nvPr/>
        </p:nvSpPr>
        <p:spPr bwMode="auto">
          <a:xfrm>
            <a:off x="2211388" y="1882775"/>
            <a:ext cx="777240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a:t>
            </a:r>
            <a:r>
              <a:rPr lang="zh-CN" altLang="en-US" sz="3200">
                <a:latin typeface="Times New Roman" pitchFamily="18" charset="0"/>
                <a:ea typeface="楷体_GB2312" pitchFamily="49" charset="-122"/>
              </a:rPr>
              <a:t>线状态寄存器</a:t>
            </a:r>
            <a:r>
              <a:rPr lang="en-US" altLang="zh-CN" sz="3200">
                <a:latin typeface="Arial" charset="0"/>
                <a:ea typeface="楷体_GB2312" pitchFamily="49" charset="-122"/>
              </a:rPr>
              <a:t>——</a:t>
            </a:r>
            <a:r>
              <a:rPr lang="en-US" altLang="zh-CN" sz="3200">
                <a:latin typeface="Times New Roman" pitchFamily="18" charset="0"/>
                <a:ea typeface="楷体_GB2312" pitchFamily="49" charset="-122"/>
              </a:rPr>
              <a:t>UnLSR</a:t>
            </a:r>
          </a:p>
        </p:txBody>
      </p:sp>
      <p:sp>
        <p:nvSpPr>
          <p:cNvPr id="716837" name="Text Box 37"/>
          <p:cNvSpPr txBox="1">
            <a:spLocks noChangeArrowheads="1"/>
          </p:cNvSpPr>
          <p:nvPr/>
        </p:nvSpPr>
        <p:spPr bwMode="auto">
          <a:xfrm>
            <a:off x="2495550" y="2822576"/>
            <a:ext cx="7200900" cy="830997"/>
          </a:xfrm>
          <a:prstGeom prst="rect">
            <a:avLst/>
          </a:prstGeom>
          <a:noFill/>
          <a:ln w="9525" algn="ctr">
            <a:noFill/>
            <a:miter lim="800000"/>
            <a:headEnd/>
            <a:tailEnd/>
          </a:ln>
          <a:effectLst/>
        </p:spPr>
        <p:txBody>
          <a:bodyPr>
            <a:spAutoFit/>
          </a:bodyPr>
          <a:lstStyle/>
          <a:p>
            <a:pPr algn="l">
              <a:spcBef>
                <a:spcPct val="50000"/>
              </a:spcBef>
            </a:pPr>
            <a:r>
              <a:rPr lang="en-US" altLang="zh-CN" sz="2400">
                <a:latin typeface="华文新魏" pitchFamily="2" charset="-122"/>
                <a:ea typeface="华文新魏" pitchFamily="2" charset="-122"/>
              </a:rPr>
              <a:t>         </a:t>
            </a:r>
            <a:r>
              <a:rPr lang="zh-CN" altLang="en-US" sz="2400">
                <a:latin typeface="华文新魏" pitchFamily="2" charset="-122"/>
                <a:ea typeface="华文新魏" pitchFamily="2" charset="-122"/>
              </a:rPr>
              <a:t>线状态寄存器（</a:t>
            </a:r>
            <a:r>
              <a:rPr lang="en-US" altLang="zh-CN" sz="2400">
                <a:latin typeface="华文新魏" pitchFamily="2" charset="-122"/>
                <a:ea typeface="华文新魏" pitchFamily="2" charset="-122"/>
              </a:rPr>
              <a:t>UnLSR</a:t>
            </a:r>
            <a:r>
              <a:rPr lang="zh-CN" altLang="en-US" sz="2400">
                <a:latin typeface="华文新魏" pitchFamily="2" charset="-122"/>
                <a:ea typeface="华文新魏" pitchFamily="2" charset="-122"/>
              </a:rPr>
              <a:t>）为只读寄存器，它提供</a:t>
            </a:r>
            <a:r>
              <a:rPr lang="en-US" altLang="zh-CN" sz="2400">
                <a:latin typeface="华文新魏" pitchFamily="2" charset="-122"/>
                <a:ea typeface="华文新魏" pitchFamily="2" charset="-122"/>
              </a:rPr>
              <a:t>UARTn</a:t>
            </a:r>
            <a:r>
              <a:rPr lang="zh-CN" altLang="en-US" sz="2400">
                <a:latin typeface="华文新魏" pitchFamily="2" charset="-122"/>
                <a:ea typeface="华文新魏" pitchFamily="2" charset="-122"/>
              </a:rPr>
              <a:t>发送和接收模块的状态信息 。 </a:t>
            </a:r>
          </a:p>
        </p:txBody>
      </p:sp>
      <p:sp>
        <p:nvSpPr>
          <p:cNvPr id="716838" name="Rectangle 38"/>
          <p:cNvSpPr>
            <a:spLocks noGrp="1" noChangeArrowheads="1"/>
          </p:cNvSpPr>
          <p:nvPr>
            <p:ph type="title"/>
          </p:nvPr>
        </p:nvSpPr>
        <p:spPr>
          <a:noFill/>
          <a:ln/>
        </p:spPr>
        <p:txBody>
          <a:bodyPr/>
          <a:lstStyle/>
          <a:p>
            <a:r>
              <a:rPr lang="en-US" altLang="zh-CN" dirty="0"/>
              <a:t>5.4.1  UART(0</a:t>
            </a:r>
            <a:r>
              <a:rPr lang="zh-CN" altLang="en-US" dirty="0"/>
              <a:t>、</a:t>
            </a:r>
            <a:r>
              <a:rPr lang="en-US" altLang="zh-CN" dirty="0"/>
              <a: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16836"/>
                                        </p:tgtEl>
                                        <p:attrNameLst>
                                          <p:attrName>style.visibility</p:attrName>
                                        </p:attrNameLst>
                                      </p:cBhvr>
                                      <p:to>
                                        <p:strVal val="visible"/>
                                      </p:to>
                                    </p:set>
                                    <p:anim calcmode="lin" valueType="num">
                                      <p:cBhvr additive="base">
                                        <p:cTn id="7" dur="500" fill="hold"/>
                                        <p:tgtEl>
                                          <p:spTgt spid="716836"/>
                                        </p:tgtEl>
                                        <p:attrNameLst>
                                          <p:attrName>ppt_x</p:attrName>
                                        </p:attrNameLst>
                                      </p:cBhvr>
                                      <p:tavLst>
                                        <p:tav tm="0">
                                          <p:val>
                                            <p:strVal val="1+#ppt_w/2"/>
                                          </p:val>
                                        </p:tav>
                                        <p:tav tm="100000">
                                          <p:val>
                                            <p:strVal val="#ppt_x"/>
                                          </p:val>
                                        </p:tav>
                                      </p:tavLst>
                                    </p:anim>
                                    <p:anim calcmode="lin" valueType="num">
                                      <p:cBhvr additive="base">
                                        <p:cTn id="8" dur="500" fill="hold"/>
                                        <p:tgtEl>
                                          <p:spTgt spid="71683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716837"/>
                                        </p:tgtEl>
                                        <p:attrNameLst>
                                          <p:attrName>style.visibility</p:attrName>
                                        </p:attrNameLst>
                                      </p:cBhvr>
                                      <p:to>
                                        <p:strVal val="visible"/>
                                      </p:to>
                                    </p:set>
                                    <p:animEffect transition="in" filter="box(in)">
                                      <p:cBhvr>
                                        <p:cTn id="12" dur="500"/>
                                        <p:tgtEl>
                                          <p:spTgt spid="716837"/>
                                        </p:tgtEl>
                                      </p:cBhvr>
                                    </p:animEffect>
                                  </p:childTnLst>
                                </p:cTn>
                              </p:par>
                            </p:childTnLst>
                          </p:cTn>
                        </p:par>
                        <p:par>
                          <p:cTn id="13" fill="hold">
                            <p:stCondLst>
                              <p:cond delay="1000"/>
                            </p:stCondLst>
                            <p:childTnLst>
                              <p:par>
                                <p:cTn id="14" presetID="2" presetClass="entr" presetSubtype="8" fill="hold" nodeType="afterEffect">
                                  <p:stCondLst>
                                    <p:cond delay="0"/>
                                  </p:stCondLst>
                                  <p:childTnLst>
                                    <p:set>
                                      <p:cBhvr>
                                        <p:cTn id="15" dur="1" fill="hold">
                                          <p:stCondLst>
                                            <p:cond delay="0"/>
                                          </p:stCondLst>
                                        </p:cTn>
                                        <p:tgtEl>
                                          <p:spTgt spid="716802"/>
                                        </p:tgtEl>
                                        <p:attrNameLst>
                                          <p:attrName>style.visibility</p:attrName>
                                        </p:attrNameLst>
                                      </p:cBhvr>
                                      <p:to>
                                        <p:strVal val="visible"/>
                                      </p:to>
                                    </p:set>
                                    <p:anim calcmode="lin" valueType="num">
                                      <p:cBhvr additive="base">
                                        <p:cTn id="16" dur="500" fill="hold"/>
                                        <p:tgtEl>
                                          <p:spTgt spid="716802"/>
                                        </p:tgtEl>
                                        <p:attrNameLst>
                                          <p:attrName>ppt_x</p:attrName>
                                        </p:attrNameLst>
                                      </p:cBhvr>
                                      <p:tavLst>
                                        <p:tav tm="0">
                                          <p:val>
                                            <p:strVal val="0-#ppt_w/2"/>
                                          </p:val>
                                        </p:tav>
                                        <p:tav tm="100000">
                                          <p:val>
                                            <p:strVal val="#ppt_x"/>
                                          </p:val>
                                        </p:tav>
                                      </p:tavLst>
                                    </p:anim>
                                    <p:anim calcmode="lin" valueType="num">
                                      <p:cBhvr additive="base">
                                        <p:cTn id="17" dur="500" fill="hold"/>
                                        <p:tgtEl>
                                          <p:spTgt spid="7168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6" grpId="0"/>
      <p:bldP spid="716837"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Rectangle 2"/>
          <p:cNvSpPr>
            <a:spLocks noChangeArrowheads="1"/>
          </p:cNvSpPr>
          <p:nvPr/>
        </p:nvSpPr>
        <p:spPr bwMode="auto">
          <a:xfrm>
            <a:off x="2211388" y="1882775"/>
            <a:ext cx="777240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a:t>
            </a:r>
            <a:r>
              <a:rPr lang="zh-CN" altLang="en-US" sz="3200">
                <a:latin typeface="Times New Roman" pitchFamily="18" charset="0"/>
              </a:rPr>
              <a:t>波特率发生器 </a:t>
            </a:r>
          </a:p>
        </p:txBody>
      </p:sp>
      <p:sp>
        <p:nvSpPr>
          <p:cNvPr id="717827" name="Text Box 3"/>
          <p:cNvSpPr txBox="1">
            <a:spLocks noChangeArrowheads="1"/>
          </p:cNvSpPr>
          <p:nvPr/>
        </p:nvSpPr>
        <p:spPr bwMode="auto">
          <a:xfrm>
            <a:off x="2495550" y="2636839"/>
            <a:ext cx="7200900" cy="830997"/>
          </a:xfrm>
          <a:prstGeom prst="rect">
            <a:avLst/>
          </a:prstGeom>
          <a:noFill/>
          <a:ln w="9525" algn="ctr">
            <a:noFill/>
            <a:miter lim="800000"/>
            <a:headEnd/>
            <a:tailEnd/>
          </a:ln>
          <a:effectLst/>
        </p:spPr>
        <p:txBody>
          <a:bodyPr>
            <a:spAutoFit/>
          </a:bodyPr>
          <a:lstStyle/>
          <a:p>
            <a:pPr algn="l">
              <a:spcBef>
                <a:spcPct val="50000"/>
              </a:spcBef>
            </a:pPr>
            <a:r>
              <a:rPr lang="en-US" altLang="zh-CN" sz="2400">
                <a:latin typeface="华文新魏" pitchFamily="2" charset="-122"/>
                <a:ea typeface="华文新魏" pitchFamily="2" charset="-122"/>
              </a:rPr>
              <a:t>         UART0</a:t>
            </a:r>
            <a:r>
              <a:rPr lang="zh-CN" altLang="en-US" sz="2400">
                <a:latin typeface="华文新魏" pitchFamily="2" charset="-122"/>
                <a:ea typeface="华文新魏" pitchFamily="2" charset="-122"/>
              </a:rPr>
              <a:t>和</a:t>
            </a:r>
            <a:r>
              <a:rPr lang="en-US" altLang="zh-CN" sz="2400">
                <a:latin typeface="华文新魏" pitchFamily="2" charset="-122"/>
                <a:ea typeface="华文新魏" pitchFamily="2" charset="-122"/>
              </a:rPr>
              <a:t>UART1</a:t>
            </a:r>
            <a:r>
              <a:rPr lang="zh-CN" altLang="en-US" sz="2400">
                <a:latin typeface="华文新魏" pitchFamily="2" charset="-122"/>
                <a:ea typeface="华文新魏" pitchFamily="2" charset="-122"/>
              </a:rPr>
              <a:t>各含有一个单独的波特率发生器，两者的功能相同，且相互独立。 </a:t>
            </a:r>
          </a:p>
        </p:txBody>
      </p:sp>
      <p:sp>
        <p:nvSpPr>
          <p:cNvPr id="717828" name="Rectangle 4"/>
          <p:cNvSpPr>
            <a:spLocks noGrp="1" noChangeArrowheads="1"/>
          </p:cNvSpPr>
          <p:nvPr>
            <p:ph type="title"/>
          </p:nvPr>
        </p:nvSpPr>
        <p:spPr>
          <a:noFill/>
          <a:ln/>
        </p:spPr>
        <p:txBody>
          <a:bodyPr/>
          <a:lstStyle/>
          <a:p>
            <a:r>
              <a:rPr lang="en-US" altLang="zh-CN" dirty="0"/>
              <a:t>5.4.1  UART(0</a:t>
            </a:r>
            <a:r>
              <a:rPr lang="zh-CN" altLang="en-US" dirty="0"/>
              <a:t>、</a:t>
            </a:r>
            <a:r>
              <a:rPr lang="en-US" altLang="zh-CN" dirty="0"/>
              <a:t>1)</a:t>
            </a:r>
          </a:p>
        </p:txBody>
      </p:sp>
      <p:graphicFrame>
        <p:nvGraphicFramePr>
          <p:cNvPr id="717829" name="Group 5"/>
          <p:cNvGraphicFramePr>
            <a:graphicFrameLocks noGrp="1"/>
          </p:cNvGraphicFramePr>
          <p:nvPr/>
        </p:nvGraphicFramePr>
        <p:xfrm>
          <a:off x="2208214" y="3644900"/>
          <a:ext cx="7704137" cy="1005840"/>
        </p:xfrm>
        <a:graphic>
          <a:graphicData uri="http://schemas.openxmlformats.org/drawingml/2006/table">
            <a:tbl>
              <a:tblPr/>
              <a:tblGrid>
                <a:gridCol w="1295400">
                  <a:extLst>
                    <a:ext uri="{9D8B030D-6E8A-4147-A177-3AD203B41FA5}">
                      <a16:colId xmlns:a16="http://schemas.microsoft.com/office/drawing/2014/main" val="20000"/>
                    </a:ext>
                  </a:extLst>
                </a:gridCol>
                <a:gridCol w="2303462">
                  <a:extLst>
                    <a:ext uri="{9D8B030D-6E8A-4147-A177-3AD203B41FA5}">
                      <a16:colId xmlns:a16="http://schemas.microsoft.com/office/drawing/2014/main" val="20001"/>
                    </a:ext>
                  </a:extLst>
                </a:gridCol>
                <a:gridCol w="3168650">
                  <a:extLst>
                    <a:ext uri="{9D8B030D-6E8A-4147-A177-3AD203B41FA5}">
                      <a16:colId xmlns:a16="http://schemas.microsoft.com/office/drawing/2014/main" val="20002"/>
                    </a:ext>
                  </a:extLst>
                </a:gridCol>
                <a:gridCol w="936625">
                  <a:extLst>
                    <a:ext uri="{9D8B030D-6E8A-4147-A177-3AD203B41FA5}">
                      <a16:colId xmlns:a16="http://schemas.microsoft.com/office/drawing/2014/main" val="20003"/>
                    </a:ext>
                  </a:extLst>
                </a:gridCol>
              </a:tblGrid>
              <a:tr h="2127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rPr>
                        <a:t>名称</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rPr>
                        <a:t>描述</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rPr>
                        <a:t>复位值</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3127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UnDLL[7:0]</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rPr>
                        <a:t>除数锁存寄存器低字节</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row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rPr>
                        <a:t>两个寄存器一起构成一个</a:t>
                      </a:r>
                      <a:r>
                        <a:rPr kumimoji="1" lang="en-US" altLang="zh-CN" sz="1600" b="0" i="0" u="none" strike="noStrike" cap="none" normalizeH="0" baseline="0">
                          <a:ln>
                            <a:noFill/>
                          </a:ln>
                          <a:solidFill>
                            <a:schemeClr val="tx1"/>
                          </a:solidFill>
                          <a:effectLst/>
                          <a:latin typeface="Times New Roman" pitchFamily="18" charset="0"/>
                          <a:ea typeface="宋体" pitchFamily="2" charset="-122"/>
                        </a:rPr>
                        <a:t>16</a:t>
                      </a:r>
                      <a:r>
                        <a:rPr kumimoji="1" lang="zh-CN" altLang="en-US" sz="1600" b="0" i="0" u="none" strike="noStrike" cap="none" normalizeH="0" baseline="0">
                          <a:ln>
                            <a:noFill/>
                          </a:ln>
                          <a:solidFill>
                            <a:schemeClr val="tx1"/>
                          </a:solidFill>
                          <a:effectLst/>
                          <a:latin typeface="Times New Roman" pitchFamily="18" charset="0"/>
                          <a:ea typeface="宋体" pitchFamily="2" charset="-122"/>
                        </a:rPr>
                        <a:t>位的除数，决定</a:t>
                      </a:r>
                      <a:r>
                        <a:rPr kumimoji="1" lang="en-US" altLang="zh-CN" sz="1600" b="0" i="0" u="none" strike="noStrike" cap="none" normalizeH="0" baseline="0">
                          <a:ln>
                            <a:noFill/>
                          </a:ln>
                          <a:solidFill>
                            <a:schemeClr val="tx1"/>
                          </a:solidFill>
                          <a:effectLst/>
                          <a:latin typeface="Times New Roman" pitchFamily="18" charset="0"/>
                          <a:ea typeface="宋体" pitchFamily="2" charset="-122"/>
                        </a:rPr>
                        <a:t>UARTn</a:t>
                      </a:r>
                      <a:r>
                        <a:rPr kumimoji="1" lang="zh-CN" altLang="en-US" sz="1600" b="0" i="0" u="none" strike="noStrike" cap="none" normalizeH="0" baseline="0">
                          <a:ln>
                            <a:noFill/>
                          </a:ln>
                          <a:solidFill>
                            <a:schemeClr val="tx1"/>
                          </a:solidFill>
                          <a:effectLst/>
                          <a:latin typeface="Times New Roman" pitchFamily="18" charset="0"/>
                          <a:ea typeface="宋体" pitchFamily="2" charset="-122"/>
                        </a:rPr>
                        <a:t>的波特率。</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rPr>
                        <a:t>未定义</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217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rPr>
                        <a:t>UnDLM[7:0]</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rPr>
                        <a:t>除数锁存寄存器高字节</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2"/>
                  </a:ext>
                </a:extLst>
              </a:tr>
            </a:tbl>
          </a:graphicData>
        </a:graphic>
      </p:graphicFrame>
      <p:sp>
        <p:nvSpPr>
          <p:cNvPr id="717856" name="Text Box 32"/>
          <p:cNvSpPr txBox="1">
            <a:spLocks noChangeArrowheads="1"/>
          </p:cNvSpPr>
          <p:nvPr/>
        </p:nvSpPr>
        <p:spPr bwMode="auto">
          <a:xfrm>
            <a:off x="2279650" y="4868863"/>
            <a:ext cx="7704138" cy="1292662"/>
          </a:xfrm>
          <a:prstGeom prst="rect">
            <a:avLst/>
          </a:prstGeom>
          <a:solidFill>
            <a:srgbClr val="DDDDDD">
              <a:alpha val="30000"/>
            </a:srgbClr>
          </a:solidFill>
          <a:ln w="9525">
            <a:noFill/>
            <a:miter lim="800000"/>
            <a:headEnd/>
            <a:tailEnd/>
          </a:ln>
          <a:effectLst/>
        </p:spPr>
        <p:txBody>
          <a:bodyPr>
            <a:spAutoFit/>
          </a:bodyPr>
          <a:lstStyle/>
          <a:p>
            <a:pPr algn="l">
              <a:spcBef>
                <a:spcPct val="50000"/>
              </a:spcBef>
            </a:pPr>
            <a:r>
              <a:rPr lang="en-US" altLang="zh-CN" sz="2000">
                <a:latin typeface="华文新魏" pitchFamily="2" charset="-122"/>
                <a:ea typeface="华文新魏" pitchFamily="2" charset="-122"/>
              </a:rPr>
              <a:t>        </a:t>
            </a:r>
            <a:r>
              <a:rPr lang="zh-CN" altLang="en-US" sz="2400">
                <a:latin typeface="华文新魏" pitchFamily="2" charset="-122"/>
                <a:ea typeface="华文新魏" pitchFamily="2" charset="-122"/>
              </a:rPr>
              <a:t>这两个寄存器决定波特率时钟的频率，而波特率时钟必须是波特率的</a:t>
            </a:r>
            <a:r>
              <a:rPr lang="en-US" altLang="zh-CN" sz="2400">
                <a:latin typeface="华文新魏" pitchFamily="2" charset="-122"/>
                <a:ea typeface="华文新魏" pitchFamily="2" charset="-122"/>
              </a:rPr>
              <a:t>16</a:t>
            </a:r>
            <a:r>
              <a:rPr lang="zh-CN" altLang="en-US" sz="2400">
                <a:latin typeface="华文新魏" pitchFamily="2" charset="-122"/>
                <a:ea typeface="华文新魏" pitchFamily="2" charset="-122"/>
              </a:rPr>
              <a:t>倍。波特率计算公式如下：</a:t>
            </a:r>
          </a:p>
          <a:p>
            <a:pPr>
              <a:spcBef>
                <a:spcPct val="50000"/>
              </a:spcBef>
            </a:pPr>
            <a:r>
              <a:rPr lang="en-US" altLang="zh-CN" sz="2000" b="1">
                <a:solidFill>
                  <a:srgbClr val="FF0000"/>
                </a:solidFill>
                <a:latin typeface="Arial" charset="0"/>
                <a:ea typeface="华文新魏" pitchFamily="2" charset="-122"/>
              </a:rPr>
              <a:t>BaudRate = F</a:t>
            </a:r>
            <a:r>
              <a:rPr lang="en-US" altLang="zh-CN" sz="2000" b="1" baseline="-25000">
                <a:solidFill>
                  <a:srgbClr val="FF0000"/>
                </a:solidFill>
                <a:latin typeface="Arial" charset="0"/>
                <a:ea typeface="华文新魏" pitchFamily="2" charset="-122"/>
              </a:rPr>
              <a:t>PCLK</a:t>
            </a:r>
            <a:r>
              <a:rPr lang="en-US" altLang="zh-CN" sz="2000" b="1">
                <a:solidFill>
                  <a:srgbClr val="FF0000"/>
                </a:solidFill>
                <a:latin typeface="Arial" charset="0"/>
                <a:ea typeface="华文新魏" pitchFamily="2" charset="-122"/>
              </a:rPr>
              <a:t> / ([U0DLM,U0DLL]×16)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17826"/>
                                        </p:tgtEl>
                                        <p:attrNameLst>
                                          <p:attrName>style.visibility</p:attrName>
                                        </p:attrNameLst>
                                      </p:cBhvr>
                                      <p:to>
                                        <p:strVal val="visible"/>
                                      </p:to>
                                    </p:set>
                                    <p:anim calcmode="lin" valueType="num">
                                      <p:cBhvr additive="base">
                                        <p:cTn id="7" dur="500" fill="hold"/>
                                        <p:tgtEl>
                                          <p:spTgt spid="717826"/>
                                        </p:tgtEl>
                                        <p:attrNameLst>
                                          <p:attrName>ppt_x</p:attrName>
                                        </p:attrNameLst>
                                      </p:cBhvr>
                                      <p:tavLst>
                                        <p:tav tm="0">
                                          <p:val>
                                            <p:strVal val="1+#ppt_w/2"/>
                                          </p:val>
                                        </p:tav>
                                        <p:tav tm="100000">
                                          <p:val>
                                            <p:strVal val="#ppt_x"/>
                                          </p:val>
                                        </p:tav>
                                      </p:tavLst>
                                    </p:anim>
                                    <p:anim calcmode="lin" valueType="num">
                                      <p:cBhvr additive="base">
                                        <p:cTn id="8" dur="500" fill="hold"/>
                                        <p:tgtEl>
                                          <p:spTgt spid="71782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717827"/>
                                        </p:tgtEl>
                                        <p:attrNameLst>
                                          <p:attrName>style.visibility</p:attrName>
                                        </p:attrNameLst>
                                      </p:cBhvr>
                                      <p:to>
                                        <p:strVal val="visible"/>
                                      </p:to>
                                    </p:set>
                                    <p:animEffect transition="in" filter="box(in)">
                                      <p:cBhvr>
                                        <p:cTn id="12" dur="500"/>
                                        <p:tgtEl>
                                          <p:spTgt spid="717827"/>
                                        </p:tgtEl>
                                      </p:cBhvr>
                                    </p:animEffect>
                                  </p:childTnLst>
                                </p:cTn>
                              </p:par>
                            </p:childTnLst>
                          </p:cTn>
                        </p:par>
                        <p:par>
                          <p:cTn id="13" fill="hold">
                            <p:stCondLst>
                              <p:cond delay="1000"/>
                            </p:stCondLst>
                            <p:childTnLst>
                              <p:par>
                                <p:cTn id="14" presetID="8" presetClass="entr" presetSubtype="16" fill="hold" nodeType="afterEffect">
                                  <p:stCondLst>
                                    <p:cond delay="0"/>
                                  </p:stCondLst>
                                  <p:childTnLst>
                                    <p:set>
                                      <p:cBhvr>
                                        <p:cTn id="15" dur="1" fill="hold">
                                          <p:stCondLst>
                                            <p:cond delay="0"/>
                                          </p:stCondLst>
                                        </p:cTn>
                                        <p:tgtEl>
                                          <p:spTgt spid="717829"/>
                                        </p:tgtEl>
                                        <p:attrNameLst>
                                          <p:attrName>style.visibility</p:attrName>
                                        </p:attrNameLst>
                                      </p:cBhvr>
                                      <p:to>
                                        <p:strVal val="visible"/>
                                      </p:to>
                                    </p:set>
                                    <p:animEffect transition="in" filter="diamond(in)">
                                      <p:cBhvr>
                                        <p:cTn id="16" dur="500"/>
                                        <p:tgtEl>
                                          <p:spTgt spid="717829"/>
                                        </p:tgtEl>
                                      </p:cBhvr>
                                    </p:animEffect>
                                  </p:childTnLst>
                                </p:cTn>
                              </p:par>
                            </p:childTnLst>
                          </p:cTn>
                        </p:par>
                        <p:par>
                          <p:cTn id="17" fill="hold">
                            <p:stCondLst>
                              <p:cond delay="1500"/>
                            </p:stCondLst>
                            <p:childTnLst>
                              <p:par>
                                <p:cTn id="18" presetID="12" presetClass="entr" presetSubtype="4" fill="hold" nodeType="afterEffect">
                                  <p:stCondLst>
                                    <p:cond delay="0"/>
                                  </p:stCondLst>
                                  <p:childTnLst>
                                    <p:set>
                                      <p:cBhvr>
                                        <p:cTn id="19" dur="1" fill="hold">
                                          <p:stCondLst>
                                            <p:cond delay="0"/>
                                          </p:stCondLst>
                                        </p:cTn>
                                        <p:tgtEl>
                                          <p:spTgt spid="717856"/>
                                        </p:tgtEl>
                                        <p:attrNameLst>
                                          <p:attrName>style.visibility</p:attrName>
                                        </p:attrNameLst>
                                      </p:cBhvr>
                                      <p:to>
                                        <p:strVal val="visible"/>
                                      </p:to>
                                    </p:set>
                                    <p:animEffect transition="in" filter="slide(fromBottom)">
                                      <p:cBhvr>
                                        <p:cTn id="20" dur="500"/>
                                        <p:tgtEl>
                                          <p:spTgt spid="7178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826" grpId="0"/>
      <p:bldP spid="717827"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50" name="Rectangle 2"/>
          <p:cNvSpPr>
            <a:spLocks noChangeArrowheads="1"/>
          </p:cNvSpPr>
          <p:nvPr/>
        </p:nvSpPr>
        <p:spPr bwMode="auto">
          <a:xfrm>
            <a:off x="2209800" y="1882775"/>
            <a:ext cx="777240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ea typeface="楷体_GB2312" pitchFamily="49" charset="-122"/>
              </a:rPr>
              <a:t>Modem</a:t>
            </a:r>
            <a:r>
              <a:rPr lang="zh-CN" altLang="en-US" sz="3200">
                <a:latin typeface="Times New Roman" pitchFamily="18" charset="0"/>
                <a:ea typeface="楷体_GB2312" pitchFamily="49" charset="-122"/>
              </a:rPr>
              <a:t>控制寄存器</a:t>
            </a:r>
            <a:r>
              <a:rPr lang="en-US" altLang="zh-CN" sz="3200">
                <a:latin typeface="Times New Roman" pitchFamily="18" charset="0"/>
                <a:ea typeface="楷体_GB2312" pitchFamily="49" charset="-122"/>
              </a:rPr>
              <a:t>——U1MCR</a:t>
            </a:r>
          </a:p>
        </p:txBody>
      </p:sp>
      <p:graphicFrame>
        <p:nvGraphicFramePr>
          <p:cNvPr id="718851" name="Group 3"/>
          <p:cNvGraphicFramePr>
            <a:graphicFrameLocks noGrp="1"/>
          </p:cNvGraphicFramePr>
          <p:nvPr>
            <p:ph/>
          </p:nvPr>
        </p:nvGraphicFramePr>
        <p:xfrm>
          <a:off x="2495551" y="3598863"/>
          <a:ext cx="7127875" cy="2596896"/>
        </p:xfrm>
        <a:graphic>
          <a:graphicData uri="http://schemas.openxmlformats.org/drawingml/2006/table">
            <a:tbl>
              <a:tblPr/>
              <a:tblGrid>
                <a:gridCol w="950913">
                  <a:extLst>
                    <a:ext uri="{9D8B030D-6E8A-4147-A177-3AD203B41FA5}">
                      <a16:colId xmlns:a16="http://schemas.microsoft.com/office/drawing/2014/main" val="20000"/>
                    </a:ext>
                  </a:extLst>
                </a:gridCol>
                <a:gridCol w="971550">
                  <a:extLst>
                    <a:ext uri="{9D8B030D-6E8A-4147-A177-3AD203B41FA5}">
                      <a16:colId xmlns:a16="http://schemas.microsoft.com/office/drawing/2014/main" val="20001"/>
                    </a:ext>
                  </a:extLst>
                </a:gridCol>
                <a:gridCol w="5205412">
                  <a:extLst>
                    <a:ext uri="{9D8B030D-6E8A-4147-A177-3AD203B41FA5}">
                      <a16:colId xmlns:a16="http://schemas.microsoft.com/office/drawing/2014/main" val="20002"/>
                    </a:ext>
                  </a:extLst>
                </a:gridCol>
              </a:tblGrid>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位</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功能</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功能描述</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rgbClr val="000000"/>
                          </a:solidFill>
                          <a:effectLst/>
                          <a:latin typeface="宋体" pitchFamily="2" charset="-122"/>
                          <a:ea typeface="宋体" pitchFamily="2" charset="-122"/>
                        </a:rPr>
                        <a:t>DTR</a:t>
                      </a:r>
                      <a:r>
                        <a:rPr kumimoji="1" lang="zh-CN" altLang="en-US" sz="1600" b="0" i="0" u="none" strike="noStrike" cap="none" normalizeH="0" baseline="0">
                          <a:ln>
                            <a:noFill/>
                          </a:ln>
                          <a:solidFill>
                            <a:srgbClr val="000000"/>
                          </a:solidFill>
                          <a:effectLst/>
                          <a:latin typeface="宋体" pitchFamily="2" charset="-122"/>
                          <a:ea typeface="宋体" pitchFamily="2" charset="-122"/>
                        </a:rPr>
                        <a:t>控制</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选择</a:t>
                      </a:r>
                      <a:r>
                        <a:rPr kumimoji="1" lang="en-US" altLang="zh-CN" sz="1600" b="0" i="0" u="none" strike="noStrike" cap="none" normalizeH="0" baseline="0">
                          <a:ln>
                            <a:noFill/>
                          </a:ln>
                          <a:solidFill>
                            <a:schemeClr val="tx1"/>
                          </a:solidFill>
                          <a:effectLst/>
                          <a:latin typeface="宋体" pitchFamily="2" charset="-122"/>
                          <a:ea typeface="宋体" pitchFamily="2" charset="-122"/>
                        </a:rPr>
                        <a:t>Modem</a:t>
                      </a:r>
                      <a:r>
                        <a:rPr kumimoji="1" lang="zh-CN" altLang="en-US" sz="1600" b="0" i="0" u="none" strike="noStrike" cap="none" normalizeH="0" baseline="0">
                          <a:ln>
                            <a:noFill/>
                          </a:ln>
                          <a:solidFill>
                            <a:schemeClr val="tx1"/>
                          </a:solidFill>
                          <a:effectLst/>
                          <a:latin typeface="宋体" pitchFamily="2" charset="-122"/>
                          <a:ea typeface="宋体" pitchFamily="2" charset="-122"/>
                        </a:rPr>
                        <a:t>输出引脚</a:t>
                      </a:r>
                      <a:r>
                        <a:rPr kumimoji="1" lang="en-US" altLang="zh-CN" sz="1600" b="0" i="0" u="none" strike="noStrike" cap="none" normalizeH="0" baseline="0">
                          <a:ln>
                            <a:noFill/>
                          </a:ln>
                          <a:solidFill>
                            <a:schemeClr val="tx1"/>
                          </a:solidFill>
                          <a:effectLst/>
                          <a:latin typeface="宋体" pitchFamily="2" charset="-122"/>
                          <a:ea typeface="宋体" pitchFamily="2" charset="-122"/>
                        </a:rPr>
                        <a:t>DTR</a:t>
                      </a:r>
                      <a:r>
                        <a:rPr kumimoji="1" lang="zh-CN" altLang="en-US" sz="1600" b="0" i="0" u="none" strike="noStrike" cap="none" normalizeH="0" baseline="0">
                          <a:ln>
                            <a:noFill/>
                          </a:ln>
                          <a:solidFill>
                            <a:schemeClr val="tx1"/>
                          </a:solidFill>
                          <a:effectLst/>
                          <a:latin typeface="宋体" pitchFamily="2" charset="-122"/>
                          <a:ea typeface="宋体" pitchFamily="2" charset="-122"/>
                        </a:rPr>
                        <a:t>。该位在回写模式激活时读出为</a:t>
                      </a:r>
                      <a:r>
                        <a:rPr kumimoji="1" lang="en-US" altLang="zh-CN" sz="1600" b="0" i="0" u="none" strike="noStrike" cap="none" normalizeH="0" baseline="0">
                          <a:ln>
                            <a:noFill/>
                          </a:ln>
                          <a:solidFill>
                            <a:schemeClr val="tx1"/>
                          </a:solidFill>
                          <a:effectLst/>
                          <a:latin typeface="宋体" pitchFamily="2" charset="-122"/>
                          <a:ea typeface="宋体" pitchFamily="2" charset="-122"/>
                        </a:rPr>
                        <a:t>0</a:t>
                      </a:r>
                      <a:r>
                        <a:rPr kumimoji="1" lang="zh-CN" altLang="en-US" sz="1600" b="0" i="0" u="none" strike="noStrike" cap="none" normalizeH="0" baseline="0">
                          <a:ln>
                            <a:noFill/>
                          </a:ln>
                          <a:solidFill>
                            <a:schemeClr val="tx1"/>
                          </a:solidFill>
                          <a:effectLst/>
                          <a:latin typeface="宋体" pitchFamily="2" charset="-122"/>
                          <a:ea typeface="宋体" pitchFamily="2" charset="-122"/>
                        </a:rPr>
                        <a:t>。</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rgbClr val="000000"/>
                          </a:solidFill>
                          <a:effectLst/>
                          <a:latin typeface="宋体" pitchFamily="2" charset="-122"/>
                          <a:ea typeface="宋体" pitchFamily="2" charset="-122"/>
                        </a:rPr>
                        <a:t>RTS</a:t>
                      </a:r>
                      <a:r>
                        <a:rPr kumimoji="1" lang="zh-CN" altLang="en-US" sz="1600" b="0" i="0" u="none" strike="noStrike" cap="none" normalizeH="0" baseline="0">
                          <a:ln>
                            <a:noFill/>
                          </a:ln>
                          <a:solidFill>
                            <a:srgbClr val="000000"/>
                          </a:solidFill>
                          <a:effectLst/>
                          <a:latin typeface="宋体" pitchFamily="2" charset="-122"/>
                          <a:ea typeface="宋体" pitchFamily="2" charset="-122"/>
                        </a:rPr>
                        <a:t>控制</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选择</a:t>
                      </a:r>
                      <a:r>
                        <a:rPr kumimoji="1" lang="en-US" altLang="zh-CN" sz="1600" b="0" i="0" u="none" strike="noStrike" cap="none" normalizeH="0" baseline="0">
                          <a:ln>
                            <a:noFill/>
                          </a:ln>
                          <a:solidFill>
                            <a:schemeClr val="tx1"/>
                          </a:solidFill>
                          <a:effectLst/>
                          <a:latin typeface="宋体" pitchFamily="2" charset="-122"/>
                          <a:ea typeface="宋体" pitchFamily="2" charset="-122"/>
                        </a:rPr>
                        <a:t>Modem</a:t>
                      </a:r>
                      <a:r>
                        <a:rPr kumimoji="1" lang="zh-CN" altLang="en-US" sz="1600" b="0" i="0" u="none" strike="noStrike" cap="none" normalizeH="0" baseline="0">
                          <a:ln>
                            <a:noFill/>
                          </a:ln>
                          <a:solidFill>
                            <a:schemeClr val="tx1"/>
                          </a:solidFill>
                          <a:effectLst/>
                          <a:latin typeface="宋体" pitchFamily="2" charset="-122"/>
                          <a:ea typeface="宋体" pitchFamily="2" charset="-122"/>
                        </a:rPr>
                        <a:t>输出引脚</a:t>
                      </a:r>
                      <a:r>
                        <a:rPr kumimoji="1" lang="en-US" altLang="zh-CN" sz="1600" b="0" i="0" u="none" strike="noStrike" cap="none" normalizeH="0" baseline="0">
                          <a:ln>
                            <a:noFill/>
                          </a:ln>
                          <a:solidFill>
                            <a:schemeClr val="tx1"/>
                          </a:solidFill>
                          <a:effectLst/>
                          <a:latin typeface="宋体" pitchFamily="2" charset="-122"/>
                          <a:ea typeface="宋体" pitchFamily="2" charset="-122"/>
                        </a:rPr>
                        <a:t>RTS</a:t>
                      </a:r>
                      <a:r>
                        <a:rPr kumimoji="1" lang="zh-CN" altLang="en-US" sz="1600" b="0" i="0" u="none" strike="noStrike" cap="none" normalizeH="0" baseline="0">
                          <a:ln>
                            <a:noFill/>
                          </a:ln>
                          <a:solidFill>
                            <a:schemeClr val="tx1"/>
                          </a:solidFill>
                          <a:effectLst/>
                          <a:latin typeface="宋体" pitchFamily="2" charset="-122"/>
                          <a:ea typeface="宋体" pitchFamily="2" charset="-122"/>
                        </a:rPr>
                        <a:t>。该位在回写模式激活时读出为</a:t>
                      </a:r>
                      <a:r>
                        <a:rPr kumimoji="1" lang="en-US" altLang="zh-CN" sz="1600" b="0" i="0" u="none" strike="noStrike" cap="none" normalizeH="0" baseline="0">
                          <a:ln>
                            <a:noFill/>
                          </a:ln>
                          <a:solidFill>
                            <a:schemeClr val="tx1"/>
                          </a:solidFill>
                          <a:effectLst/>
                          <a:latin typeface="宋体" pitchFamily="2" charset="-122"/>
                          <a:ea typeface="宋体" pitchFamily="2" charset="-122"/>
                        </a:rPr>
                        <a:t>0</a:t>
                      </a:r>
                      <a:r>
                        <a:rPr kumimoji="1" lang="zh-CN" altLang="en-US" sz="1600" b="0" i="0" u="none" strike="noStrike" cap="none" normalizeH="0" baseline="0">
                          <a:ln>
                            <a:noFill/>
                          </a:ln>
                          <a:solidFill>
                            <a:schemeClr val="tx1"/>
                          </a:solidFill>
                          <a:effectLst/>
                          <a:latin typeface="宋体" pitchFamily="2" charset="-122"/>
                          <a:ea typeface="宋体" pitchFamily="2" charset="-122"/>
                        </a:rPr>
                        <a:t>。</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3 : 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rgbClr val="000000"/>
                          </a:solidFill>
                          <a:effectLst/>
                          <a:latin typeface="宋体" pitchFamily="2" charset="-122"/>
                          <a:ea typeface="宋体" pitchFamily="2" charset="-122"/>
                        </a:rPr>
                        <a:t>保留</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用户软件不要向该位写入</a:t>
                      </a:r>
                      <a:r>
                        <a:rPr kumimoji="1" lang="en-US" altLang="zh-CN" sz="1600" b="0" i="0" u="none" strike="noStrike" cap="none" normalizeH="0" baseline="0">
                          <a:ln>
                            <a:noFill/>
                          </a:ln>
                          <a:solidFill>
                            <a:schemeClr val="tx1"/>
                          </a:solidFill>
                          <a:effectLst/>
                          <a:latin typeface="宋体" pitchFamily="2" charset="-122"/>
                          <a:ea typeface="宋体" pitchFamily="2" charset="-122"/>
                        </a:rPr>
                        <a:t>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r h="193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回写模式</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a:t>
                      </a:r>
                      <a:r>
                        <a:rPr kumimoji="1" lang="zh-CN" altLang="en-US" sz="1600" b="0" i="0" u="none" strike="noStrike" cap="none" normalizeH="0" baseline="0">
                          <a:ln>
                            <a:noFill/>
                          </a:ln>
                          <a:solidFill>
                            <a:schemeClr val="tx1"/>
                          </a:solidFill>
                          <a:effectLst/>
                          <a:latin typeface="宋体" pitchFamily="2" charset="-122"/>
                          <a:ea typeface="宋体" pitchFamily="2" charset="-122"/>
                        </a:rPr>
                        <a:t>：禁止</a:t>
                      </a:r>
                      <a:r>
                        <a:rPr kumimoji="1" lang="en-US" altLang="zh-CN" sz="1600" b="0" i="0" u="none" strike="noStrike" cap="none" normalizeH="0" baseline="0">
                          <a:ln>
                            <a:noFill/>
                          </a:ln>
                          <a:solidFill>
                            <a:schemeClr val="tx1"/>
                          </a:solidFill>
                          <a:effectLst/>
                          <a:latin typeface="宋体" pitchFamily="2" charset="-122"/>
                          <a:ea typeface="宋体" pitchFamily="2" charset="-122"/>
                        </a:rPr>
                        <a:t>modem</a:t>
                      </a:r>
                      <a:r>
                        <a:rPr kumimoji="1" lang="zh-CN" altLang="en-US" sz="1600" b="0" i="0" u="none" strike="noStrike" cap="none" normalizeH="0" baseline="0">
                          <a:ln>
                            <a:noFill/>
                          </a:ln>
                          <a:solidFill>
                            <a:schemeClr val="tx1"/>
                          </a:solidFill>
                          <a:effectLst/>
                          <a:latin typeface="宋体" pitchFamily="2" charset="-122"/>
                          <a:ea typeface="宋体" pitchFamily="2" charset="-122"/>
                        </a:rPr>
                        <a:t>回写模式</a:t>
                      </a:r>
                    </a:p>
                    <a:p>
                      <a:pPr marL="0" marR="0" lvl="0" indent="0" algn="just"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1</a:t>
                      </a:r>
                      <a:r>
                        <a:rPr kumimoji="1" lang="zh-CN" altLang="en-US" sz="1600" b="0" i="0" u="none" strike="noStrike" cap="none" normalizeH="0" baseline="0">
                          <a:ln>
                            <a:noFill/>
                          </a:ln>
                          <a:solidFill>
                            <a:schemeClr val="tx1"/>
                          </a:solidFill>
                          <a:effectLst/>
                          <a:latin typeface="宋体" pitchFamily="2" charset="-122"/>
                          <a:ea typeface="宋体" pitchFamily="2" charset="-122"/>
                        </a:rPr>
                        <a:t>：使能</a:t>
                      </a:r>
                      <a:r>
                        <a:rPr kumimoji="1" lang="en-US" altLang="zh-CN" sz="1600" b="0" i="0" u="none" strike="noStrike" cap="none" normalizeH="0" baseline="0">
                          <a:ln>
                            <a:noFill/>
                          </a:ln>
                          <a:solidFill>
                            <a:schemeClr val="tx1"/>
                          </a:solidFill>
                          <a:effectLst/>
                          <a:latin typeface="宋体" pitchFamily="2" charset="-122"/>
                          <a:ea typeface="宋体" pitchFamily="2" charset="-122"/>
                        </a:rPr>
                        <a:t>modem</a:t>
                      </a:r>
                      <a:r>
                        <a:rPr kumimoji="1" lang="zh-CN" altLang="en-US" sz="1600" b="0" i="0" u="none" strike="noStrike" cap="none" normalizeH="0" baseline="0">
                          <a:ln>
                            <a:noFill/>
                          </a:ln>
                          <a:solidFill>
                            <a:schemeClr val="tx1"/>
                          </a:solidFill>
                          <a:effectLst/>
                          <a:latin typeface="宋体" pitchFamily="2" charset="-122"/>
                          <a:ea typeface="宋体" pitchFamily="2" charset="-122"/>
                        </a:rPr>
                        <a:t>回写模式</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modem</a:t>
                      </a:r>
                      <a:r>
                        <a:rPr kumimoji="1" lang="zh-CN" altLang="en-US" sz="1600" b="0" i="0" u="none" strike="noStrike" cap="none" normalizeH="0" baseline="0">
                          <a:ln>
                            <a:noFill/>
                          </a:ln>
                          <a:solidFill>
                            <a:schemeClr val="tx1"/>
                          </a:solidFill>
                          <a:effectLst/>
                          <a:latin typeface="宋体" pitchFamily="2" charset="-122"/>
                          <a:ea typeface="宋体" pitchFamily="2" charset="-122"/>
                          <a:cs typeface="Times New Roman" pitchFamily="18" charset="0"/>
                        </a:rPr>
                        <a:t>回写模式提供了一个执行回写测试的诊断机制。</a:t>
                      </a:r>
                      <a:endParaRPr kumimoji="1" lang="zh-CN" altLang="en-US" sz="1600" b="0" i="0" u="none" strike="noStrike" cap="none" normalizeH="0" baseline="0">
                        <a:ln>
                          <a:noFill/>
                        </a:ln>
                        <a:solidFill>
                          <a:schemeClr val="tx1"/>
                        </a:solidFill>
                        <a:effectLst/>
                        <a:latin typeface="宋体" pitchFamily="2" charset="-122"/>
                        <a:ea typeface="宋体"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7 : 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rgbClr val="000000"/>
                          </a:solidFill>
                          <a:effectLst/>
                          <a:latin typeface="宋体" pitchFamily="2" charset="-122"/>
                          <a:ea typeface="宋体" pitchFamily="2" charset="-122"/>
                        </a:rPr>
                        <a:t>保留</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用户软件不要向该位写入</a:t>
                      </a:r>
                      <a:r>
                        <a:rPr kumimoji="1" lang="en-US" altLang="zh-CN" sz="1600" b="0" i="0" u="none" strike="noStrike" cap="none" normalizeH="0" baseline="0">
                          <a:ln>
                            <a:noFill/>
                          </a:ln>
                          <a:solidFill>
                            <a:schemeClr val="tx1"/>
                          </a:solidFill>
                          <a:effectLst/>
                          <a:latin typeface="宋体" pitchFamily="2" charset="-122"/>
                          <a:ea typeface="宋体" pitchFamily="2" charset="-122"/>
                        </a:rPr>
                        <a:t>1</a:t>
                      </a:r>
                      <a:endParaRPr kumimoji="1" lang="en-US" altLang="zh-CN" sz="1600" b="0" i="0" u="none" strike="noStrike" cap="none" normalizeH="0" baseline="0">
                        <a:ln>
                          <a:noFill/>
                        </a:ln>
                        <a:solidFill>
                          <a:srgbClr val="000000"/>
                        </a:solidFill>
                        <a:effectLst/>
                        <a:latin typeface="宋体" pitchFamily="2" charset="-122"/>
                        <a:ea typeface="宋体"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5"/>
                  </a:ext>
                </a:extLst>
              </a:tr>
            </a:tbl>
          </a:graphicData>
        </a:graphic>
      </p:graphicFrame>
      <p:sp>
        <p:nvSpPr>
          <p:cNvPr id="718881" name="Text Box 33"/>
          <p:cNvSpPr txBox="1">
            <a:spLocks noChangeArrowheads="1"/>
          </p:cNvSpPr>
          <p:nvPr/>
        </p:nvSpPr>
        <p:spPr bwMode="auto">
          <a:xfrm>
            <a:off x="2351088" y="2565401"/>
            <a:ext cx="7531100" cy="830997"/>
          </a:xfrm>
          <a:prstGeom prst="rect">
            <a:avLst/>
          </a:prstGeom>
          <a:noFill/>
          <a:ln w="9525">
            <a:noFill/>
            <a:miter lim="800000"/>
            <a:headEnd/>
            <a:tailEnd/>
          </a:ln>
          <a:effectLst/>
        </p:spPr>
        <p:txBody>
          <a:bodyPr>
            <a:spAutoFit/>
          </a:bodyPr>
          <a:lstStyle/>
          <a:p>
            <a:pPr algn="l">
              <a:spcBef>
                <a:spcPct val="50000"/>
              </a:spcBef>
            </a:pPr>
            <a:r>
              <a:rPr lang="en-US" altLang="zh-CN" sz="2400">
                <a:solidFill>
                  <a:schemeClr val="tx2"/>
                </a:solidFill>
                <a:latin typeface="华文新魏" pitchFamily="2" charset="-122"/>
                <a:ea typeface="华文新魏" pitchFamily="2" charset="-122"/>
              </a:rPr>
              <a:t>        </a:t>
            </a:r>
            <a:r>
              <a:rPr lang="zh-CN" altLang="en-US" sz="2400">
                <a:solidFill>
                  <a:schemeClr val="tx2"/>
                </a:solidFill>
                <a:latin typeface="华文新魏" pitchFamily="2" charset="-122"/>
                <a:ea typeface="华文新魏" pitchFamily="2" charset="-122"/>
              </a:rPr>
              <a:t>该寄存器使能</a:t>
            </a:r>
            <a:r>
              <a:rPr lang="en-US" altLang="zh-CN" sz="2400">
                <a:solidFill>
                  <a:schemeClr val="tx2"/>
                </a:solidFill>
                <a:latin typeface="华文新魏" pitchFamily="2" charset="-122"/>
                <a:ea typeface="华文新魏" pitchFamily="2" charset="-122"/>
              </a:rPr>
              <a:t>Modem</a:t>
            </a:r>
            <a:r>
              <a:rPr lang="zh-CN" altLang="en-US" sz="2400">
                <a:solidFill>
                  <a:schemeClr val="tx2"/>
                </a:solidFill>
                <a:latin typeface="华文新魏" pitchFamily="2" charset="-122"/>
                <a:ea typeface="华文新魏" pitchFamily="2" charset="-122"/>
              </a:rPr>
              <a:t>的回写模式，并控制</a:t>
            </a:r>
            <a:r>
              <a:rPr lang="en-US" altLang="zh-CN" sz="2400">
                <a:solidFill>
                  <a:schemeClr val="tx2"/>
                </a:solidFill>
                <a:latin typeface="华文新魏" pitchFamily="2" charset="-122"/>
                <a:ea typeface="华文新魏" pitchFamily="2" charset="-122"/>
              </a:rPr>
              <a:t>Modem</a:t>
            </a:r>
            <a:r>
              <a:rPr lang="zh-CN" altLang="en-US" sz="2400">
                <a:solidFill>
                  <a:schemeClr val="tx2"/>
                </a:solidFill>
                <a:latin typeface="华文新魏" pitchFamily="2" charset="-122"/>
                <a:ea typeface="华文新魏" pitchFamily="2" charset="-122"/>
              </a:rPr>
              <a:t>的输出信号。</a:t>
            </a:r>
          </a:p>
        </p:txBody>
      </p:sp>
      <p:sp>
        <p:nvSpPr>
          <p:cNvPr id="718882" name="Rectangle 34"/>
          <p:cNvSpPr>
            <a:spLocks noChangeArrowheads="1"/>
          </p:cNvSpPr>
          <p:nvPr/>
        </p:nvSpPr>
        <p:spPr bwMode="auto">
          <a:xfrm>
            <a:off x="2209800" y="609600"/>
            <a:ext cx="7772400" cy="1143000"/>
          </a:xfrm>
          <a:prstGeom prst="rect">
            <a:avLst/>
          </a:prstGeom>
          <a:noFill/>
          <a:ln w="9525">
            <a:noFill/>
            <a:miter lim="800000"/>
            <a:headEnd/>
            <a:tailEnd/>
          </a:ln>
          <a:effectLst/>
        </p:spPr>
        <p:txBody>
          <a:bodyPr anchor="ctr"/>
          <a:lstStyle/>
          <a:p>
            <a:r>
              <a:rPr lang="en-US" altLang="zh-CN" sz="4400" dirty="0"/>
              <a:t>5.4.1</a:t>
            </a:r>
            <a:r>
              <a:rPr lang="en-US" altLang="zh-CN" sz="4400" dirty="0">
                <a:solidFill>
                  <a:schemeClr val="tx2"/>
                </a:solidFill>
                <a:latin typeface="Times New Roman" pitchFamily="18" charset="0"/>
              </a:rPr>
              <a:t>  UART(0</a:t>
            </a:r>
            <a:r>
              <a:rPr lang="zh-CN" altLang="en-US" sz="4400" dirty="0">
                <a:solidFill>
                  <a:schemeClr val="tx2"/>
                </a:solidFill>
                <a:latin typeface="Times New Roman" pitchFamily="18" charset="0"/>
              </a:rPr>
              <a:t>、</a:t>
            </a:r>
            <a:r>
              <a:rPr lang="en-US" altLang="zh-CN" sz="4400" dirty="0">
                <a:solidFill>
                  <a:schemeClr val="tx2"/>
                </a:solidFill>
                <a:latin typeface="Times New Roman" pitchFamily="18" charset="0"/>
              </a:rPr>
              <a:t>1)</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18850"/>
                                        </p:tgtEl>
                                        <p:attrNameLst>
                                          <p:attrName>style.visibility</p:attrName>
                                        </p:attrNameLst>
                                      </p:cBhvr>
                                      <p:to>
                                        <p:strVal val="visible"/>
                                      </p:to>
                                    </p:set>
                                    <p:anim calcmode="lin" valueType="num">
                                      <p:cBhvr additive="base">
                                        <p:cTn id="7" dur="500" fill="hold"/>
                                        <p:tgtEl>
                                          <p:spTgt spid="718850"/>
                                        </p:tgtEl>
                                        <p:attrNameLst>
                                          <p:attrName>ppt_x</p:attrName>
                                        </p:attrNameLst>
                                      </p:cBhvr>
                                      <p:tavLst>
                                        <p:tav tm="0">
                                          <p:val>
                                            <p:strVal val="1+#ppt_w/2"/>
                                          </p:val>
                                        </p:tav>
                                        <p:tav tm="100000">
                                          <p:val>
                                            <p:strVal val="#ppt_x"/>
                                          </p:val>
                                        </p:tav>
                                      </p:tavLst>
                                    </p:anim>
                                    <p:anim calcmode="lin" valueType="num">
                                      <p:cBhvr additive="base">
                                        <p:cTn id="8" dur="500" fill="hold"/>
                                        <p:tgtEl>
                                          <p:spTgt spid="71885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718881"/>
                                        </p:tgtEl>
                                        <p:attrNameLst>
                                          <p:attrName>style.visibility</p:attrName>
                                        </p:attrNameLst>
                                      </p:cBhvr>
                                      <p:to>
                                        <p:strVal val="visible"/>
                                      </p:to>
                                    </p:set>
                                    <p:animEffect transition="in" filter="box(in)">
                                      <p:cBhvr>
                                        <p:cTn id="12" dur="500"/>
                                        <p:tgtEl>
                                          <p:spTgt spid="718881"/>
                                        </p:tgtEl>
                                      </p:cBhvr>
                                    </p:animEffect>
                                  </p:childTnLst>
                                </p:cTn>
                              </p:par>
                            </p:childTnLst>
                          </p:cTn>
                        </p:par>
                        <p:par>
                          <p:cTn id="13" fill="hold">
                            <p:stCondLst>
                              <p:cond delay="1000"/>
                            </p:stCondLst>
                            <p:childTnLst>
                              <p:par>
                                <p:cTn id="14" presetID="12" presetClass="entr" presetSubtype="1" fill="hold" nodeType="afterEffect">
                                  <p:stCondLst>
                                    <p:cond delay="0"/>
                                  </p:stCondLst>
                                  <p:childTnLst>
                                    <p:set>
                                      <p:cBhvr>
                                        <p:cTn id="15" dur="1" fill="hold">
                                          <p:stCondLst>
                                            <p:cond delay="0"/>
                                          </p:stCondLst>
                                        </p:cTn>
                                        <p:tgtEl>
                                          <p:spTgt spid="718851"/>
                                        </p:tgtEl>
                                        <p:attrNameLst>
                                          <p:attrName>style.visibility</p:attrName>
                                        </p:attrNameLst>
                                      </p:cBhvr>
                                      <p:to>
                                        <p:strVal val="visible"/>
                                      </p:to>
                                    </p:set>
                                    <p:animEffect transition="in" filter="slide(fromTop)">
                                      <p:cBhvr>
                                        <p:cTn id="16" dur="500"/>
                                        <p:tgtEl>
                                          <p:spTgt spid="7188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850" grpId="0"/>
      <p:bldP spid="718881"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4" name="Rectangle 2"/>
          <p:cNvSpPr>
            <a:spLocks noChangeArrowheads="1"/>
          </p:cNvSpPr>
          <p:nvPr/>
        </p:nvSpPr>
        <p:spPr bwMode="auto">
          <a:xfrm>
            <a:off x="2209800" y="609600"/>
            <a:ext cx="7772400" cy="1143000"/>
          </a:xfrm>
          <a:prstGeom prst="rect">
            <a:avLst/>
          </a:prstGeom>
          <a:noFill/>
          <a:ln w="9525">
            <a:noFill/>
            <a:miter lim="800000"/>
            <a:headEnd/>
            <a:tailEnd/>
          </a:ln>
          <a:effectLst/>
        </p:spPr>
        <p:txBody>
          <a:bodyPr anchor="ctr"/>
          <a:lstStyle/>
          <a:p>
            <a:r>
              <a:rPr lang="en-US" altLang="zh-CN" sz="4400" dirty="0"/>
              <a:t>5.4.1</a:t>
            </a:r>
            <a:r>
              <a:rPr lang="en-US" altLang="zh-CN" sz="4400" dirty="0">
                <a:solidFill>
                  <a:schemeClr val="tx2"/>
                </a:solidFill>
                <a:latin typeface="Times New Roman" pitchFamily="18" charset="0"/>
              </a:rPr>
              <a:t>  UART(0</a:t>
            </a:r>
            <a:r>
              <a:rPr lang="zh-CN" altLang="en-US" sz="4400" dirty="0">
                <a:solidFill>
                  <a:schemeClr val="tx2"/>
                </a:solidFill>
                <a:latin typeface="Times New Roman" pitchFamily="18" charset="0"/>
              </a:rPr>
              <a:t>、</a:t>
            </a:r>
            <a:r>
              <a:rPr lang="en-US" altLang="zh-CN" sz="4400" dirty="0">
                <a:solidFill>
                  <a:schemeClr val="tx2"/>
                </a:solidFill>
                <a:latin typeface="Times New Roman" pitchFamily="18" charset="0"/>
              </a:rPr>
              <a:t>1)</a:t>
            </a:r>
          </a:p>
        </p:txBody>
      </p:sp>
      <p:sp>
        <p:nvSpPr>
          <p:cNvPr id="719875" name="Rectangle 3"/>
          <p:cNvSpPr>
            <a:spLocks noChangeArrowheads="1"/>
          </p:cNvSpPr>
          <p:nvPr/>
        </p:nvSpPr>
        <p:spPr bwMode="auto">
          <a:xfrm>
            <a:off x="2209800" y="1882775"/>
            <a:ext cx="7772400" cy="609600"/>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ea typeface="楷体_GB2312" pitchFamily="49" charset="-122"/>
              </a:rPr>
              <a:t>回写模式</a:t>
            </a:r>
          </a:p>
        </p:txBody>
      </p:sp>
      <p:sp>
        <p:nvSpPr>
          <p:cNvPr id="719876" name="Text Box 4"/>
          <p:cNvSpPr txBox="1">
            <a:spLocks noChangeArrowheads="1"/>
          </p:cNvSpPr>
          <p:nvPr/>
        </p:nvSpPr>
        <p:spPr bwMode="auto">
          <a:xfrm>
            <a:off x="2205038" y="2571750"/>
            <a:ext cx="4538662" cy="3416320"/>
          </a:xfrm>
          <a:prstGeom prst="rect">
            <a:avLst/>
          </a:prstGeom>
          <a:noFill/>
          <a:ln w="9525">
            <a:noFill/>
            <a:miter lim="800000"/>
            <a:headEnd/>
            <a:tailEnd/>
          </a:ln>
          <a:effectLst/>
        </p:spPr>
        <p:txBody>
          <a:bodyPr>
            <a:spAutoFit/>
          </a:bodyPr>
          <a:lstStyle/>
          <a:p>
            <a:pPr algn="l">
              <a:spcBef>
                <a:spcPct val="50000"/>
              </a:spcBef>
            </a:pPr>
            <a:r>
              <a:rPr lang="en-US" altLang="zh-CN" sz="2400">
                <a:solidFill>
                  <a:schemeClr val="tx2"/>
                </a:solidFill>
                <a:latin typeface="华文新魏" pitchFamily="2" charset="-122"/>
                <a:ea typeface="华文新魏" pitchFamily="2" charset="-122"/>
              </a:rPr>
              <a:t>        </a:t>
            </a:r>
            <a:r>
              <a:rPr lang="zh-CN" altLang="en-US" sz="2400">
                <a:solidFill>
                  <a:schemeClr val="tx2"/>
                </a:solidFill>
                <a:latin typeface="华文新魏" pitchFamily="2" charset="-122"/>
                <a:ea typeface="华文新魏" pitchFamily="2" charset="-122"/>
              </a:rPr>
              <a:t>在</a:t>
            </a:r>
            <a:r>
              <a:rPr lang="en-US" altLang="zh-CN" sz="2400">
                <a:solidFill>
                  <a:schemeClr val="tx2"/>
                </a:solidFill>
                <a:latin typeface="华文新魏" pitchFamily="2" charset="-122"/>
                <a:ea typeface="华文新魏" pitchFamily="2" charset="-122"/>
              </a:rPr>
              <a:t>Modem</a:t>
            </a:r>
            <a:r>
              <a:rPr lang="zh-CN" altLang="en-US" sz="2400">
                <a:solidFill>
                  <a:schemeClr val="tx2"/>
                </a:solidFill>
                <a:latin typeface="华文新魏" pitchFamily="2" charset="-122"/>
                <a:ea typeface="华文新魏" pitchFamily="2" charset="-122"/>
              </a:rPr>
              <a:t>回写模式下，发送器输出的串行数据在内部连接到接收器的串行输入端。输入脚</a:t>
            </a:r>
            <a:r>
              <a:rPr lang="en-US" altLang="zh-CN" sz="2400">
                <a:solidFill>
                  <a:schemeClr val="tx2"/>
                </a:solidFill>
                <a:latin typeface="华文新魏" pitchFamily="2" charset="-122"/>
                <a:ea typeface="华文新魏" pitchFamily="2" charset="-122"/>
              </a:rPr>
              <a:t>RxD1</a:t>
            </a:r>
            <a:r>
              <a:rPr lang="zh-CN" altLang="en-US" sz="2400">
                <a:solidFill>
                  <a:schemeClr val="tx2"/>
                </a:solidFill>
                <a:latin typeface="华文新魏" pitchFamily="2" charset="-122"/>
                <a:ea typeface="华文新魏" pitchFamily="2" charset="-122"/>
              </a:rPr>
              <a:t>对回写模式无影响，输出脚</a:t>
            </a:r>
            <a:r>
              <a:rPr lang="en-US" altLang="zh-CN" sz="2400">
                <a:solidFill>
                  <a:schemeClr val="tx2"/>
                </a:solidFill>
                <a:latin typeface="华文新魏" pitchFamily="2" charset="-122"/>
                <a:ea typeface="华文新魏" pitchFamily="2" charset="-122"/>
              </a:rPr>
              <a:t>TxD1</a:t>
            </a:r>
            <a:r>
              <a:rPr lang="zh-CN" altLang="en-US" sz="2400">
                <a:solidFill>
                  <a:schemeClr val="tx2"/>
                </a:solidFill>
                <a:latin typeface="华文新魏" pitchFamily="2" charset="-122"/>
                <a:ea typeface="华文新魏" pitchFamily="2" charset="-122"/>
              </a:rPr>
              <a:t>保持总为</a:t>
            </a:r>
            <a:r>
              <a:rPr lang="en-US" altLang="zh-CN" sz="2400">
                <a:solidFill>
                  <a:schemeClr val="tx2"/>
                </a:solidFill>
                <a:latin typeface="华文新魏" pitchFamily="2" charset="-122"/>
                <a:ea typeface="华文新魏" pitchFamily="2" charset="-122"/>
              </a:rPr>
              <a:t>1</a:t>
            </a:r>
            <a:r>
              <a:rPr lang="zh-CN" altLang="en-US" sz="2400">
                <a:solidFill>
                  <a:schemeClr val="tx2"/>
                </a:solidFill>
                <a:latin typeface="华文新魏" pitchFamily="2" charset="-122"/>
                <a:ea typeface="华文新魏" pitchFamily="2" charset="-122"/>
              </a:rPr>
              <a:t>的状态。</a:t>
            </a:r>
            <a:r>
              <a:rPr lang="en-US" altLang="zh-CN" sz="2400">
                <a:solidFill>
                  <a:schemeClr val="tx2"/>
                </a:solidFill>
                <a:latin typeface="华文新魏" pitchFamily="2" charset="-122"/>
                <a:ea typeface="华文新魏" pitchFamily="2" charset="-122"/>
              </a:rPr>
              <a:t>4</a:t>
            </a:r>
            <a:r>
              <a:rPr lang="zh-CN" altLang="en-US" sz="2400">
                <a:solidFill>
                  <a:schemeClr val="tx2"/>
                </a:solidFill>
                <a:latin typeface="华文新魏" pitchFamily="2" charset="-122"/>
                <a:ea typeface="华文新魏" pitchFamily="2" charset="-122"/>
              </a:rPr>
              <a:t>个</a:t>
            </a:r>
            <a:r>
              <a:rPr lang="en-US" altLang="zh-CN" sz="2400">
                <a:solidFill>
                  <a:schemeClr val="tx2"/>
                </a:solidFill>
                <a:latin typeface="华文新魏" pitchFamily="2" charset="-122"/>
                <a:ea typeface="华文新魏" pitchFamily="2" charset="-122"/>
              </a:rPr>
              <a:t>Modem</a:t>
            </a:r>
            <a:r>
              <a:rPr lang="zh-CN" altLang="en-US" sz="2400">
                <a:solidFill>
                  <a:schemeClr val="tx2"/>
                </a:solidFill>
                <a:latin typeface="华文新魏" pitchFamily="2" charset="-122"/>
                <a:ea typeface="华文新魏" pitchFamily="2" charset="-122"/>
              </a:rPr>
              <a:t>输入（</a:t>
            </a:r>
            <a:r>
              <a:rPr lang="en-US" altLang="zh-CN" sz="2400">
                <a:solidFill>
                  <a:schemeClr val="tx2"/>
                </a:solidFill>
                <a:latin typeface="华文新魏" pitchFamily="2" charset="-122"/>
                <a:ea typeface="华文新魏" pitchFamily="2" charset="-122"/>
              </a:rPr>
              <a:t>CTS, DSR, RI</a:t>
            </a:r>
            <a:r>
              <a:rPr lang="zh-CN" altLang="en-US" sz="2400">
                <a:solidFill>
                  <a:schemeClr val="tx2"/>
                </a:solidFill>
                <a:latin typeface="华文新魏" pitchFamily="2" charset="-122"/>
                <a:ea typeface="华文新魏" pitchFamily="2" charset="-122"/>
              </a:rPr>
              <a:t>和</a:t>
            </a:r>
            <a:r>
              <a:rPr lang="en-US" altLang="zh-CN" sz="2400">
                <a:solidFill>
                  <a:schemeClr val="tx2"/>
                </a:solidFill>
                <a:latin typeface="华文新魏" pitchFamily="2" charset="-122"/>
                <a:ea typeface="华文新魏" pitchFamily="2" charset="-122"/>
              </a:rPr>
              <a:t>DCD</a:t>
            </a:r>
            <a:r>
              <a:rPr lang="zh-CN" altLang="en-US" sz="2400">
                <a:solidFill>
                  <a:schemeClr val="tx2"/>
                </a:solidFill>
                <a:latin typeface="华文新魏" pitchFamily="2" charset="-122"/>
                <a:ea typeface="华文新魏" pitchFamily="2" charset="-122"/>
              </a:rPr>
              <a:t>）与外部断开。此时，</a:t>
            </a:r>
            <a:r>
              <a:rPr lang="en-US" altLang="zh-CN" sz="2400">
                <a:solidFill>
                  <a:schemeClr val="tx2"/>
                </a:solidFill>
                <a:latin typeface="华文新魏" pitchFamily="2" charset="-122"/>
                <a:ea typeface="华文新魏" pitchFamily="2" charset="-122"/>
              </a:rPr>
              <a:t>U1MSR</a:t>
            </a:r>
            <a:r>
              <a:rPr lang="zh-CN" altLang="en-US" sz="2400">
                <a:solidFill>
                  <a:schemeClr val="tx2"/>
                </a:solidFill>
                <a:latin typeface="华文新魏" pitchFamily="2" charset="-122"/>
                <a:ea typeface="华文新魏" pitchFamily="2" charset="-122"/>
              </a:rPr>
              <a:t>的高</a:t>
            </a:r>
            <a:r>
              <a:rPr lang="en-US" altLang="zh-CN" sz="2400">
                <a:solidFill>
                  <a:schemeClr val="tx2"/>
                </a:solidFill>
                <a:latin typeface="华文新魏" pitchFamily="2" charset="-122"/>
                <a:ea typeface="华文新魏" pitchFamily="2" charset="-122"/>
              </a:rPr>
              <a:t>4</a:t>
            </a:r>
            <a:r>
              <a:rPr lang="zh-CN" altLang="en-US" sz="2400">
                <a:solidFill>
                  <a:schemeClr val="tx2"/>
                </a:solidFill>
                <a:latin typeface="华文新魏" pitchFamily="2" charset="-122"/>
                <a:ea typeface="华文新魏" pitchFamily="2" charset="-122"/>
              </a:rPr>
              <a:t>位分别由</a:t>
            </a:r>
            <a:r>
              <a:rPr lang="en-US" altLang="zh-CN" sz="2400">
                <a:solidFill>
                  <a:schemeClr val="tx2"/>
                </a:solidFill>
                <a:latin typeface="华文新魏" pitchFamily="2" charset="-122"/>
                <a:ea typeface="华文新魏" pitchFamily="2" charset="-122"/>
              </a:rPr>
              <a:t>U1MCR</a:t>
            </a:r>
            <a:r>
              <a:rPr lang="zh-CN" altLang="en-US" sz="2400">
                <a:solidFill>
                  <a:schemeClr val="tx2"/>
                </a:solidFill>
                <a:latin typeface="华文新魏" pitchFamily="2" charset="-122"/>
                <a:ea typeface="华文新魏" pitchFamily="2" charset="-122"/>
              </a:rPr>
              <a:t>的低</a:t>
            </a:r>
            <a:r>
              <a:rPr lang="en-US" altLang="zh-CN" sz="2400">
                <a:solidFill>
                  <a:schemeClr val="tx2"/>
                </a:solidFill>
                <a:latin typeface="华文新魏" pitchFamily="2" charset="-122"/>
                <a:ea typeface="华文新魏" pitchFamily="2" charset="-122"/>
              </a:rPr>
              <a:t>4</a:t>
            </a:r>
            <a:r>
              <a:rPr lang="zh-CN" altLang="en-US" sz="2400">
                <a:solidFill>
                  <a:schemeClr val="tx2"/>
                </a:solidFill>
                <a:latin typeface="华文新魏" pitchFamily="2" charset="-122"/>
                <a:ea typeface="华文新魏" pitchFamily="2" charset="-122"/>
              </a:rPr>
              <a:t>位驱动。</a:t>
            </a:r>
          </a:p>
        </p:txBody>
      </p:sp>
      <p:grpSp>
        <p:nvGrpSpPr>
          <p:cNvPr id="719877" name="Group 5"/>
          <p:cNvGrpSpPr>
            <a:grpSpLocks/>
          </p:cNvGrpSpPr>
          <p:nvPr/>
        </p:nvGrpSpPr>
        <p:grpSpPr bwMode="auto">
          <a:xfrm>
            <a:off x="7527925" y="3159125"/>
            <a:ext cx="431800" cy="2787650"/>
            <a:chOff x="3847" y="1601"/>
            <a:chExt cx="272" cy="1756"/>
          </a:xfrm>
        </p:grpSpPr>
        <p:sp>
          <p:nvSpPr>
            <p:cNvPr id="719878" name="Line 6"/>
            <p:cNvSpPr>
              <a:spLocks noChangeShapeType="1"/>
            </p:cNvSpPr>
            <p:nvPr/>
          </p:nvSpPr>
          <p:spPr bwMode="auto">
            <a:xfrm>
              <a:off x="3852" y="1601"/>
              <a:ext cx="262"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19879" name="Line 7"/>
            <p:cNvSpPr>
              <a:spLocks noChangeShapeType="1"/>
            </p:cNvSpPr>
            <p:nvPr/>
          </p:nvSpPr>
          <p:spPr bwMode="auto">
            <a:xfrm>
              <a:off x="3847" y="1872"/>
              <a:ext cx="262"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19880" name="Line 8"/>
            <p:cNvSpPr>
              <a:spLocks noChangeShapeType="1"/>
            </p:cNvSpPr>
            <p:nvPr/>
          </p:nvSpPr>
          <p:spPr bwMode="auto">
            <a:xfrm>
              <a:off x="3854" y="2103"/>
              <a:ext cx="262"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19881" name="Line 9"/>
            <p:cNvSpPr>
              <a:spLocks noChangeShapeType="1"/>
            </p:cNvSpPr>
            <p:nvPr/>
          </p:nvSpPr>
          <p:spPr bwMode="auto">
            <a:xfrm>
              <a:off x="3849" y="2353"/>
              <a:ext cx="262"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19882" name="Line 10"/>
            <p:cNvSpPr>
              <a:spLocks noChangeShapeType="1"/>
            </p:cNvSpPr>
            <p:nvPr/>
          </p:nvSpPr>
          <p:spPr bwMode="auto">
            <a:xfrm>
              <a:off x="3855" y="2598"/>
              <a:ext cx="262" cy="0"/>
            </a:xfrm>
            <a:prstGeom prst="line">
              <a:avLst/>
            </a:prstGeom>
            <a:noFill/>
            <a:ln w="9525">
              <a:solidFill>
                <a:schemeClr val="tx1"/>
              </a:solidFill>
              <a:round/>
              <a:headEnd type="triangle" w="med" len="med"/>
              <a:tailEnd/>
            </a:ln>
            <a:effectLst/>
          </p:spPr>
          <p:txBody>
            <a:bodyPr wrap="none" anchor="ctr"/>
            <a:lstStyle/>
            <a:p>
              <a:endParaRPr lang="zh-CN" altLang="en-US"/>
            </a:p>
          </p:txBody>
        </p:sp>
        <p:sp>
          <p:nvSpPr>
            <p:cNvPr id="719883" name="Line 11"/>
            <p:cNvSpPr>
              <a:spLocks noChangeShapeType="1"/>
            </p:cNvSpPr>
            <p:nvPr/>
          </p:nvSpPr>
          <p:spPr bwMode="auto">
            <a:xfrm>
              <a:off x="3850" y="2869"/>
              <a:ext cx="262" cy="0"/>
            </a:xfrm>
            <a:prstGeom prst="line">
              <a:avLst/>
            </a:prstGeom>
            <a:noFill/>
            <a:ln w="9525">
              <a:solidFill>
                <a:schemeClr val="tx1"/>
              </a:solidFill>
              <a:round/>
              <a:headEnd type="triangle" w="med" len="med"/>
              <a:tailEnd/>
            </a:ln>
            <a:effectLst/>
          </p:spPr>
          <p:txBody>
            <a:bodyPr wrap="none" anchor="ctr"/>
            <a:lstStyle/>
            <a:p>
              <a:endParaRPr lang="zh-CN" altLang="en-US"/>
            </a:p>
          </p:txBody>
        </p:sp>
        <p:sp>
          <p:nvSpPr>
            <p:cNvPr id="719884" name="Line 12"/>
            <p:cNvSpPr>
              <a:spLocks noChangeShapeType="1"/>
            </p:cNvSpPr>
            <p:nvPr/>
          </p:nvSpPr>
          <p:spPr bwMode="auto">
            <a:xfrm>
              <a:off x="3857" y="3100"/>
              <a:ext cx="262" cy="0"/>
            </a:xfrm>
            <a:prstGeom prst="line">
              <a:avLst/>
            </a:prstGeom>
            <a:noFill/>
            <a:ln w="9525">
              <a:solidFill>
                <a:schemeClr val="tx1"/>
              </a:solidFill>
              <a:round/>
              <a:headEnd type="triangle" w="med" len="med"/>
              <a:tailEnd/>
            </a:ln>
            <a:effectLst/>
          </p:spPr>
          <p:txBody>
            <a:bodyPr wrap="none" anchor="ctr"/>
            <a:lstStyle/>
            <a:p>
              <a:endParaRPr lang="zh-CN" altLang="en-US"/>
            </a:p>
          </p:txBody>
        </p:sp>
        <p:sp>
          <p:nvSpPr>
            <p:cNvPr id="719885" name="Line 13"/>
            <p:cNvSpPr>
              <a:spLocks noChangeShapeType="1"/>
            </p:cNvSpPr>
            <p:nvPr/>
          </p:nvSpPr>
          <p:spPr bwMode="auto">
            <a:xfrm>
              <a:off x="3852" y="3357"/>
              <a:ext cx="262" cy="0"/>
            </a:xfrm>
            <a:prstGeom prst="line">
              <a:avLst/>
            </a:prstGeom>
            <a:noFill/>
            <a:ln w="9525">
              <a:solidFill>
                <a:schemeClr val="tx1"/>
              </a:solidFill>
              <a:round/>
              <a:headEnd/>
              <a:tailEnd type="triangle" w="med" len="med"/>
            </a:ln>
            <a:effectLst/>
          </p:spPr>
          <p:txBody>
            <a:bodyPr wrap="none" anchor="ctr"/>
            <a:lstStyle/>
            <a:p>
              <a:endParaRPr lang="zh-CN" altLang="en-US"/>
            </a:p>
          </p:txBody>
        </p:sp>
      </p:grpSp>
      <p:grpSp>
        <p:nvGrpSpPr>
          <p:cNvPr id="719886" name="Group 14"/>
          <p:cNvGrpSpPr>
            <a:grpSpLocks/>
          </p:cNvGrpSpPr>
          <p:nvPr/>
        </p:nvGrpSpPr>
        <p:grpSpPr bwMode="auto">
          <a:xfrm>
            <a:off x="7948614" y="2568576"/>
            <a:ext cx="2035175" cy="3597275"/>
            <a:chOff x="4112" y="1229"/>
            <a:chExt cx="1282" cy="2266"/>
          </a:xfrm>
        </p:grpSpPr>
        <p:grpSp>
          <p:nvGrpSpPr>
            <p:cNvPr id="719887" name="Group 15"/>
            <p:cNvGrpSpPr>
              <a:grpSpLocks/>
            </p:cNvGrpSpPr>
            <p:nvPr/>
          </p:nvGrpSpPr>
          <p:grpSpPr bwMode="auto">
            <a:xfrm>
              <a:off x="4112" y="1229"/>
              <a:ext cx="1282" cy="2266"/>
              <a:chOff x="4112" y="1229"/>
              <a:chExt cx="1282" cy="2266"/>
            </a:xfrm>
          </p:grpSpPr>
          <p:sp>
            <p:nvSpPr>
              <p:cNvPr id="719888" name="Rectangle 16"/>
              <p:cNvSpPr>
                <a:spLocks noChangeArrowheads="1"/>
              </p:cNvSpPr>
              <p:nvPr/>
            </p:nvSpPr>
            <p:spPr bwMode="auto">
              <a:xfrm>
                <a:off x="4114" y="1229"/>
                <a:ext cx="1280" cy="2266"/>
              </a:xfrm>
              <a:prstGeom prst="rect">
                <a:avLst/>
              </a:prstGeom>
              <a:solidFill>
                <a:srgbClr val="FF9900"/>
              </a:solidFill>
              <a:ln w="9525" algn="ctr">
                <a:solidFill>
                  <a:schemeClr val="tx1"/>
                </a:solidFill>
                <a:miter lim="800000"/>
                <a:headEnd/>
                <a:tailEnd/>
              </a:ln>
              <a:effectLst/>
            </p:spPr>
            <p:txBody>
              <a:bodyPr wrap="none" anchor="ctr"/>
              <a:lstStyle/>
              <a:p>
                <a:endParaRPr lang="zh-CN" altLang="en-US"/>
              </a:p>
            </p:txBody>
          </p:sp>
          <p:sp>
            <p:nvSpPr>
              <p:cNvPr id="719889" name="Rectangle 17"/>
              <p:cNvSpPr>
                <a:spLocks noChangeArrowheads="1"/>
              </p:cNvSpPr>
              <p:nvPr/>
            </p:nvSpPr>
            <p:spPr bwMode="auto">
              <a:xfrm>
                <a:off x="4118" y="1511"/>
                <a:ext cx="363" cy="186"/>
              </a:xfrm>
              <a:prstGeom prst="rect">
                <a:avLst/>
              </a:prstGeom>
              <a:solidFill>
                <a:srgbClr val="FFFFFF"/>
              </a:solidFill>
              <a:ln w="9525" algn="ctr">
                <a:solidFill>
                  <a:schemeClr val="tx1"/>
                </a:solidFill>
                <a:miter lim="800000"/>
                <a:headEnd/>
                <a:tailEnd/>
              </a:ln>
              <a:effectLst/>
            </p:spPr>
            <p:txBody>
              <a:bodyPr wrap="none" anchor="ctr"/>
              <a:lstStyle/>
              <a:p>
                <a:r>
                  <a:rPr lang="en-US" altLang="zh-CN" sz="1400">
                    <a:latin typeface="Times New Roman" pitchFamily="18" charset="0"/>
                  </a:rPr>
                  <a:t>DSR</a:t>
                </a:r>
              </a:p>
            </p:txBody>
          </p:sp>
          <p:sp>
            <p:nvSpPr>
              <p:cNvPr id="719890" name="Rectangle 18"/>
              <p:cNvSpPr>
                <a:spLocks noChangeArrowheads="1"/>
              </p:cNvSpPr>
              <p:nvPr/>
            </p:nvSpPr>
            <p:spPr bwMode="auto">
              <a:xfrm>
                <a:off x="4113" y="1763"/>
                <a:ext cx="368" cy="187"/>
              </a:xfrm>
              <a:prstGeom prst="rect">
                <a:avLst/>
              </a:prstGeom>
              <a:solidFill>
                <a:srgbClr val="FFFFFF"/>
              </a:solidFill>
              <a:ln w="9525" algn="ctr">
                <a:solidFill>
                  <a:schemeClr val="tx1"/>
                </a:solidFill>
                <a:miter lim="800000"/>
                <a:headEnd/>
                <a:tailEnd/>
              </a:ln>
              <a:effectLst/>
            </p:spPr>
            <p:txBody>
              <a:bodyPr wrap="none" anchor="ctr"/>
              <a:lstStyle/>
              <a:p>
                <a:r>
                  <a:rPr lang="en-US" altLang="zh-CN" sz="1400">
                    <a:latin typeface="Times New Roman" pitchFamily="18" charset="0"/>
                  </a:rPr>
                  <a:t>CTS</a:t>
                </a:r>
              </a:p>
            </p:txBody>
          </p:sp>
          <p:sp>
            <p:nvSpPr>
              <p:cNvPr id="719891" name="Rectangle 19"/>
              <p:cNvSpPr>
                <a:spLocks noChangeArrowheads="1"/>
              </p:cNvSpPr>
              <p:nvPr/>
            </p:nvSpPr>
            <p:spPr bwMode="auto">
              <a:xfrm>
                <a:off x="4112" y="2006"/>
                <a:ext cx="363" cy="187"/>
              </a:xfrm>
              <a:prstGeom prst="rect">
                <a:avLst/>
              </a:prstGeom>
              <a:solidFill>
                <a:srgbClr val="FFFFFF"/>
              </a:solidFill>
              <a:ln w="9525" algn="ctr">
                <a:solidFill>
                  <a:schemeClr val="tx1"/>
                </a:solidFill>
                <a:miter lim="800000"/>
                <a:headEnd/>
                <a:tailEnd/>
              </a:ln>
              <a:effectLst/>
            </p:spPr>
            <p:txBody>
              <a:bodyPr wrap="none" anchor="ctr"/>
              <a:lstStyle/>
              <a:p>
                <a:r>
                  <a:rPr lang="en-US" altLang="zh-CN" sz="1400">
                    <a:latin typeface="Times New Roman" pitchFamily="18" charset="0"/>
                  </a:rPr>
                  <a:t>RI</a:t>
                </a:r>
              </a:p>
            </p:txBody>
          </p:sp>
          <p:sp>
            <p:nvSpPr>
              <p:cNvPr id="719892" name="Rectangle 20"/>
              <p:cNvSpPr>
                <a:spLocks noChangeArrowheads="1"/>
              </p:cNvSpPr>
              <p:nvPr/>
            </p:nvSpPr>
            <p:spPr bwMode="auto">
              <a:xfrm>
                <a:off x="4114" y="2252"/>
                <a:ext cx="368" cy="186"/>
              </a:xfrm>
              <a:prstGeom prst="rect">
                <a:avLst/>
              </a:prstGeom>
              <a:solidFill>
                <a:srgbClr val="FFFFFF"/>
              </a:solidFill>
              <a:ln w="9525" algn="ctr">
                <a:solidFill>
                  <a:schemeClr val="tx1"/>
                </a:solidFill>
                <a:miter lim="800000"/>
                <a:headEnd/>
                <a:tailEnd/>
              </a:ln>
              <a:effectLst/>
            </p:spPr>
            <p:txBody>
              <a:bodyPr wrap="none" anchor="ctr"/>
              <a:lstStyle/>
              <a:p>
                <a:r>
                  <a:rPr lang="en-US" altLang="zh-CN" sz="1400">
                    <a:latin typeface="Times New Roman" pitchFamily="18" charset="0"/>
                  </a:rPr>
                  <a:t>DCD</a:t>
                </a:r>
              </a:p>
            </p:txBody>
          </p:sp>
          <p:sp>
            <p:nvSpPr>
              <p:cNvPr id="719893" name="Rectangle 21"/>
              <p:cNvSpPr>
                <a:spLocks noChangeArrowheads="1"/>
              </p:cNvSpPr>
              <p:nvPr/>
            </p:nvSpPr>
            <p:spPr bwMode="auto">
              <a:xfrm>
                <a:off x="4113" y="2500"/>
                <a:ext cx="363" cy="187"/>
              </a:xfrm>
              <a:prstGeom prst="rect">
                <a:avLst/>
              </a:prstGeom>
              <a:solidFill>
                <a:srgbClr val="FFFFFF"/>
              </a:solidFill>
              <a:ln w="9525" algn="ctr">
                <a:solidFill>
                  <a:schemeClr val="tx1"/>
                </a:solidFill>
                <a:miter lim="800000"/>
                <a:headEnd/>
                <a:tailEnd/>
              </a:ln>
              <a:effectLst/>
            </p:spPr>
            <p:txBody>
              <a:bodyPr wrap="none" anchor="ctr"/>
              <a:lstStyle/>
              <a:p>
                <a:r>
                  <a:rPr lang="en-US" altLang="zh-CN" sz="1400">
                    <a:latin typeface="Times New Roman" pitchFamily="18" charset="0"/>
                  </a:rPr>
                  <a:t>DTR</a:t>
                </a:r>
              </a:p>
            </p:txBody>
          </p:sp>
          <p:sp>
            <p:nvSpPr>
              <p:cNvPr id="719894" name="Rectangle 22"/>
              <p:cNvSpPr>
                <a:spLocks noChangeArrowheads="1"/>
              </p:cNvSpPr>
              <p:nvPr/>
            </p:nvSpPr>
            <p:spPr bwMode="auto">
              <a:xfrm>
                <a:off x="4114" y="2746"/>
                <a:ext cx="369" cy="187"/>
              </a:xfrm>
              <a:prstGeom prst="rect">
                <a:avLst/>
              </a:prstGeom>
              <a:solidFill>
                <a:srgbClr val="FFFFFF"/>
              </a:solidFill>
              <a:ln w="9525" algn="ctr">
                <a:solidFill>
                  <a:schemeClr val="tx1"/>
                </a:solidFill>
                <a:miter lim="800000"/>
                <a:headEnd/>
                <a:tailEnd/>
              </a:ln>
              <a:effectLst/>
            </p:spPr>
            <p:txBody>
              <a:bodyPr wrap="none" anchor="ctr"/>
              <a:lstStyle/>
              <a:p>
                <a:r>
                  <a:rPr lang="en-US" altLang="zh-CN" sz="1400">
                    <a:latin typeface="Times New Roman" pitchFamily="18" charset="0"/>
                  </a:rPr>
                  <a:t>RTS</a:t>
                </a:r>
              </a:p>
            </p:txBody>
          </p:sp>
          <p:sp>
            <p:nvSpPr>
              <p:cNvPr id="719895" name="Rectangle 23"/>
              <p:cNvSpPr>
                <a:spLocks noChangeArrowheads="1"/>
              </p:cNvSpPr>
              <p:nvPr/>
            </p:nvSpPr>
            <p:spPr bwMode="auto">
              <a:xfrm>
                <a:off x="4114" y="2993"/>
                <a:ext cx="365" cy="186"/>
              </a:xfrm>
              <a:prstGeom prst="rect">
                <a:avLst/>
              </a:prstGeom>
              <a:solidFill>
                <a:srgbClr val="FFFFFF"/>
              </a:solidFill>
              <a:ln w="9525" algn="ctr">
                <a:solidFill>
                  <a:schemeClr val="tx1"/>
                </a:solidFill>
                <a:miter lim="800000"/>
                <a:headEnd/>
                <a:tailEnd/>
              </a:ln>
              <a:effectLst/>
            </p:spPr>
            <p:txBody>
              <a:bodyPr wrap="none" anchor="ctr"/>
              <a:lstStyle/>
              <a:p>
                <a:r>
                  <a:rPr lang="en-US" altLang="zh-CN" sz="1400">
                    <a:latin typeface="Times New Roman" pitchFamily="18" charset="0"/>
                  </a:rPr>
                  <a:t>TXD</a:t>
                </a:r>
              </a:p>
            </p:txBody>
          </p:sp>
          <p:sp>
            <p:nvSpPr>
              <p:cNvPr id="719896" name="Rectangle 24"/>
              <p:cNvSpPr>
                <a:spLocks noChangeArrowheads="1"/>
              </p:cNvSpPr>
              <p:nvPr/>
            </p:nvSpPr>
            <p:spPr bwMode="auto">
              <a:xfrm>
                <a:off x="4114" y="3238"/>
                <a:ext cx="372" cy="187"/>
              </a:xfrm>
              <a:prstGeom prst="rect">
                <a:avLst/>
              </a:prstGeom>
              <a:solidFill>
                <a:srgbClr val="FFFFFF"/>
              </a:solidFill>
              <a:ln w="9525" algn="ctr">
                <a:solidFill>
                  <a:schemeClr val="tx1"/>
                </a:solidFill>
                <a:miter lim="800000"/>
                <a:headEnd/>
                <a:tailEnd/>
              </a:ln>
              <a:effectLst/>
            </p:spPr>
            <p:txBody>
              <a:bodyPr wrap="none" anchor="ctr"/>
              <a:lstStyle/>
              <a:p>
                <a:r>
                  <a:rPr lang="en-US" altLang="zh-CN" sz="1400">
                    <a:latin typeface="Times New Roman" pitchFamily="18" charset="0"/>
                  </a:rPr>
                  <a:t>RXD</a:t>
                </a:r>
              </a:p>
            </p:txBody>
          </p:sp>
        </p:grpSp>
        <p:sp>
          <p:nvSpPr>
            <p:cNvPr id="719897" name="Text Box 25"/>
            <p:cNvSpPr txBox="1">
              <a:spLocks noChangeArrowheads="1"/>
            </p:cNvSpPr>
            <p:nvPr/>
          </p:nvSpPr>
          <p:spPr bwMode="auto">
            <a:xfrm>
              <a:off x="4322" y="1231"/>
              <a:ext cx="852" cy="231"/>
            </a:xfrm>
            <a:prstGeom prst="rect">
              <a:avLst/>
            </a:prstGeom>
            <a:noFill/>
            <a:ln w="9525" algn="ctr">
              <a:noFill/>
              <a:miter lim="800000"/>
              <a:headEnd/>
              <a:tailEnd/>
            </a:ln>
            <a:effectLst/>
          </p:spPr>
          <p:txBody>
            <a:bodyPr wrap="none">
              <a:spAutoFit/>
            </a:bodyPr>
            <a:lstStyle/>
            <a:p>
              <a:r>
                <a:rPr lang="en-US" altLang="zh-CN">
                  <a:latin typeface="Times New Roman" pitchFamily="18" charset="0"/>
                  <a:ea typeface="楷体_GB2312" pitchFamily="49" charset="-122"/>
                </a:rPr>
                <a:t>Modem</a:t>
              </a:r>
              <a:r>
                <a:rPr lang="zh-CN" altLang="en-US">
                  <a:latin typeface="Times New Roman" pitchFamily="18" charset="0"/>
                  <a:ea typeface="楷体_GB2312" pitchFamily="49" charset="-122"/>
                </a:rPr>
                <a:t>接口</a:t>
              </a:r>
            </a:p>
          </p:txBody>
        </p:sp>
      </p:grpSp>
      <p:grpSp>
        <p:nvGrpSpPr>
          <p:cNvPr id="719898" name="Group 26"/>
          <p:cNvGrpSpPr>
            <a:grpSpLocks/>
          </p:cNvGrpSpPr>
          <p:nvPr/>
        </p:nvGrpSpPr>
        <p:grpSpPr bwMode="auto">
          <a:xfrm>
            <a:off x="6681788" y="2595563"/>
            <a:ext cx="1098550" cy="3471862"/>
            <a:chOff x="3314" y="1246"/>
            <a:chExt cx="692" cy="2187"/>
          </a:xfrm>
        </p:grpSpPr>
        <p:sp>
          <p:nvSpPr>
            <p:cNvPr id="719899" name="Text Box 27"/>
            <p:cNvSpPr txBox="1">
              <a:spLocks noChangeArrowheads="1"/>
            </p:cNvSpPr>
            <p:nvPr/>
          </p:nvSpPr>
          <p:spPr bwMode="auto">
            <a:xfrm>
              <a:off x="3314" y="1246"/>
              <a:ext cx="692" cy="231"/>
            </a:xfrm>
            <a:prstGeom prst="rect">
              <a:avLst/>
            </a:prstGeom>
            <a:noFill/>
            <a:ln w="9525" algn="ctr">
              <a:noFill/>
              <a:miter lim="800000"/>
              <a:headEnd/>
              <a:tailEnd/>
            </a:ln>
            <a:effectLst/>
          </p:spPr>
          <p:txBody>
            <a:bodyPr wrap="none">
              <a:spAutoFit/>
            </a:bodyPr>
            <a:lstStyle/>
            <a:p>
              <a:r>
                <a:rPr lang="zh-CN" altLang="en-US">
                  <a:latin typeface="Times New Roman" pitchFamily="18" charset="0"/>
                  <a:ea typeface="楷体_GB2312" pitchFamily="49" charset="-122"/>
                </a:rPr>
                <a:t>芯片引脚</a:t>
              </a:r>
            </a:p>
          </p:txBody>
        </p:sp>
        <p:grpSp>
          <p:nvGrpSpPr>
            <p:cNvPr id="719900" name="Group 28"/>
            <p:cNvGrpSpPr>
              <a:grpSpLocks/>
            </p:cNvGrpSpPr>
            <p:nvPr/>
          </p:nvGrpSpPr>
          <p:grpSpPr bwMode="auto">
            <a:xfrm>
              <a:off x="3480" y="1516"/>
              <a:ext cx="371" cy="1917"/>
              <a:chOff x="3480" y="1516"/>
              <a:chExt cx="371" cy="1917"/>
            </a:xfrm>
          </p:grpSpPr>
          <p:sp>
            <p:nvSpPr>
              <p:cNvPr id="719901" name="Rectangle 29"/>
              <p:cNvSpPr>
                <a:spLocks noChangeArrowheads="1"/>
              </p:cNvSpPr>
              <p:nvPr/>
            </p:nvSpPr>
            <p:spPr bwMode="auto">
              <a:xfrm>
                <a:off x="3483" y="1516"/>
                <a:ext cx="368" cy="187"/>
              </a:xfrm>
              <a:prstGeom prst="rect">
                <a:avLst/>
              </a:prstGeom>
              <a:solidFill>
                <a:srgbClr val="C0C0C0"/>
              </a:solidFill>
              <a:ln w="9525" algn="ctr">
                <a:solidFill>
                  <a:schemeClr val="tx1"/>
                </a:solidFill>
                <a:miter lim="800000"/>
                <a:headEnd/>
                <a:tailEnd/>
              </a:ln>
              <a:effectLst/>
            </p:spPr>
            <p:txBody>
              <a:bodyPr wrap="none" anchor="ctr"/>
              <a:lstStyle/>
              <a:p>
                <a:r>
                  <a:rPr lang="en-US" altLang="zh-CN" sz="1400">
                    <a:latin typeface="Times New Roman" pitchFamily="18" charset="0"/>
                  </a:rPr>
                  <a:t>DSR</a:t>
                </a:r>
              </a:p>
            </p:txBody>
          </p:sp>
          <p:sp>
            <p:nvSpPr>
              <p:cNvPr id="719902" name="Rectangle 30"/>
              <p:cNvSpPr>
                <a:spLocks noChangeArrowheads="1"/>
              </p:cNvSpPr>
              <p:nvPr/>
            </p:nvSpPr>
            <p:spPr bwMode="auto">
              <a:xfrm>
                <a:off x="3484" y="1769"/>
                <a:ext cx="367" cy="187"/>
              </a:xfrm>
              <a:prstGeom prst="rect">
                <a:avLst/>
              </a:prstGeom>
              <a:solidFill>
                <a:srgbClr val="C0C0C0"/>
              </a:solidFill>
              <a:ln w="9525" algn="ctr">
                <a:solidFill>
                  <a:schemeClr val="tx1"/>
                </a:solidFill>
                <a:miter lim="800000"/>
                <a:headEnd/>
                <a:tailEnd/>
              </a:ln>
              <a:effectLst/>
            </p:spPr>
            <p:txBody>
              <a:bodyPr wrap="none" anchor="ctr"/>
              <a:lstStyle/>
              <a:p>
                <a:r>
                  <a:rPr lang="en-US" altLang="zh-CN" sz="1400">
                    <a:latin typeface="Times New Roman" pitchFamily="18" charset="0"/>
                  </a:rPr>
                  <a:t>CTS</a:t>
                </a:r>
              </a:p>
            </p:txBody>
          </p:sp>
          <p:sp>
            <p:nvSpPr>
              <p:cNvPr id="719903" name="Rectangle 31"/>
              <p:cNvSpPr>
                <a:spLocks noChangeArrowheads="1"/>
              </p:cNvSpPr>
              <p:nvPr/>
            </p:nvSpPr>
            <p:spPr bwMode="auto">
              <a:xfrm>
                <a:off x="3484" y="2012"/>
                <a:ext cx="361" cy="187"/>
              </a:xfrm>
              <a:prstGeom prst="rect">
                <a:avLst/>
              </a:prstGeom>
              <a:solidFill>
                <a:srgbClr val="C0C0C0"/>
              </a:solidFill>
              <a:ln w="9525" algn="ctr">
                <a:solidFill>
                  <a:schemeClr val="tx1"/>
                </a:solidFill>
                <a:miter lim="800000"/>
                <a:headEnd/>
                <a:tailEnd/>
              </a:ln>
              <a:effectLst/>
            </p:spPr>
            <p:txBody>
              <a:bodyPr wrap="none" anchor="ctr"/>
              <a:lstStyle/>
              <a:p>
                <a:r>
                  <a:rPr lang="en-US" altLang="zh-CN" sz="1400">
                    <a:latin typeface="Times New Roman" pitchFamily="18" charset="0"/>
                  </a:rPr>
                  <a:t>RI</a:t>
                </a:r>
              </a:p>
            </p:txBody>
          </p:sp>
          <p:sp>
            <p:nvSpPr>
              <p:cNvPr id="719904" name="Rectangle 32"/>
              <p:cNvSpPr>
                <a:spLocks noChangeArrowheads="1"/>
              </p:cNvSpPr>
              <p:nvPr/>
            </p:nvSpPr>
            <p:spPr bwMode="auto">
              <a:xfrm>
                <a:off x="3484" y="2258"/>
                <a:ext cx="367" cy="187"/>
              </a:xfrm>
              <a:prstGeom prst="rect">
                <a:avLst/>
              </a:prstGeom>
              <a:solidFill>
                <a:srgbClr val="C0C0C0"/>
              </a:solidFill>
              <a:ln w="9525" algn="ctr">
                <a:solidFill>
                  <a:schemeClr val="tx1"/>
                </a:solidFill>
                <a:miter lim="800000"/>
                <a:headEnd/>
                <a:tailEnd/>
              </a:ln>
              <a:effectLst/>
            </p:spPr>
            <p:txBody>
              <a:bodyPr wrap="none" anchor="ctr"/>
              <a:lstStyle/>
              <a:p>
                <a:r>
                  <a:rPr lang="en-US" altLang="zh-CN" sz="1400">
                    <a:latin typeface="Times New Roman" pitchFamily="18" charset="0"/>
                  </a:rPr>
                  <a:t>DCD</a:t>
                </a:r>
              </a:p>
            </p:txBody>
          </p:sp>
          <p:sp>
            <p:nvSpPr>
              <p:cNvPr id="719905" name="Rectangle 33"/>
              <p:cNvSpPr>
                <a:spLocks noChangeArrowheads="1"/>
              </p:cNvSpPr>
              <p:nvPr/>
            </p:nvSpPr>
            <p:spPr bwMode="auto">
              <a:xfrm>
                <a:off x="3484" y="2507"/>
                <a:ext cx="362" cy="187"/>
              </a:xfrm>
              <a:prstGeom prst="rect">
                <a:avLst/>
              </a:prstGeom>
              <a:solidFill>
                <a:srgbClr val="C0C0C0"/>
              </a:solidFill>
              <a:ln w="9525" algn="ctr">
                <a:solidFill>
                  <a:schemeClr val="tx1"/>
                </a:solidFill>
                <a:miter lim="800000"/>
                <a:headEnd/>
                <a:tailEnd/>
              </a:ln>
              <a:effectLst/>
            </p:spPr>
            <p:txBody>
              <a:bodyPr wrap="none" anchor="ctr"/>
              <a:lstStyle/>
              <a:p>
                <a:r>
                  <a:rPr lang="en-US" altLang="zh-CN" sz="1400">
                    <a:latin typeface="Times New Roman" pitchFamily="18" charset="0"/>
                  </a:rPr>
                  <a:t>DTR</a:t>
                </a:r>
              </a:p>
            </p:txBody>
          </p:sp>
          <p:sp>
            <p:nvSpPr>
              <p:cNvPr id="719906" name="Rectangle 34"/>
              <p:cNvSpPr>
                <a:spLocks noChangeArrowheads="1"/>
              </p:cNvSpPr>
              <p:nvPr/>
            </p:nvSpPr>
            <p:spPr bwMode="auto">
              <a:xfrm>
                <a:off x="3480" y="2753"/>
                <a:ext cx="371" cy="187"/>
              </a:xfrm>
              <a:prstGeom prst="rect">
                <a:avLst/>
              </a:prstGeom>
              <a:solidFill>
                <a:srgbClr val="C0C0C0"/>
              </a:solidFill>
              <a:ln w="9525" algn="ctr">
                <a:solidFill>
                  <a:schemeClr val="tx1"/>
                </a:solidFill>
                <a:miter lim="800000"/>
                <a:headEnd/>
                <a:tailEnd/>
              </a:ln>
              <a:effectLst/>
            </p:spPr>
            <p:txBody>
              <a:bodyPr wrap="none" anchor="ctr"/>
              <a:lstStyle/>
              <a:p>
                <a:r>
                  <a:rPr lang="en-US" altLang="zh-CN" sz="1400">
                    <a:latin typeface="Times New Roman" pitchFamily="18" charset="0"/>
                  </a:rPr>
                  <a:t>RTS</a:t>
                </a:r>
              </a:p>
            </p:txBody>
          </p:sp>
          <p:sp>
            <p:nvSpPr>
              <p:cNvPr id="719907" name="Rectangle 35"/>
              <p:cNvSpPr>
                <a:spLocks noChangeArrowheads="1"/>
              </p:cNvSpPr>
              <p:nvPr/>
            </p:nvSpPr>
            <p:spPr bwMode="auto">
              <a:xfrm>
                <a:off x="3481" y="3000"/>
                <a:ext cx="368" cy="187"/>
              </a:xfrm>
              <a:prstGeom prst="rect">
                <a:avLst/>
              </a:prstGeom>
              <a:solidFill>
                <a:srgbClr val="C0C0C0"/>
              </a:solidFill>
              <a:ln w="9525" algn="ctr">
                <a:solidFill>
                  <a:schemeClr val="tx1"/>
                </a:solidFill>
                <a:miter lim="800000"/>
                <a:headEnd/>
                <a:tailEnd/>
              </a:ln>
              <a:effectLst/>
            </p:spPr>
            <p:txBody>
              <a:bodyPr wrap="none" anchor="ctr"/>
              <a:lstStyle/>
              <a:p>
                <a:r>
                  <a:rPr lang="en-US" altLang="zh-CN" sz="1400">
                    <a:latin typeface="Times New Roman" pitchFamily="18" charset="0"/>
                  </a:rPr>
                  <a:t>TXD</a:t>
                </a:r>
              </a:p>
            </p:txBody>
          </p:sp>
          <p:sp>
            <p:nvSpPr>
              <p:cNvPr id="719908" name="Rectangle 36"/>
              <p:cNvSpPr>
                <a:spLocks noChangeArrowheads="1"/>
              </p:cNvSpPr>
              <p:nvPr/>
            </p:nvSpPr>
            <p:spPr bwMode="auto">
              <a:xfrm>
                <a:off x="3483" y="3246"/>
                <a:ext cx="368" cy="187"/>
              </a:xfrm>
              <a:prstGeom prst="rect">
                <a:avLst/>
              </a:prstGeom>
              <a:solidFill>
                <a:srgbClr val="C0C0C0"/>
              </a:solidFill>
              <a:ln w="9525" algn="ctr">
                <a:solidFill>
                  <a:schemeClr val="tx1"/>
                </a:solidFill>
                <a:miter lim="800000"/>
                <a:headEnd/>
                <a:tailEnd/>
              </a:ln>
              <a:effectLst/>
            </p:spPr>
            <p:txBody>
              <a:bodyPr wrap="none" anchor="ctr"/>
              <a:lstStyle/>
              <a:p>
                <a:r>
                  <a:rPr lang="en-US" altLang="zh-CN" sz="1400">
                    <a:latin typeface="Times New Roman" pitchFamily="18" charset="0"/>
                  </a:rPr>
                  <a:t>RXD</a:t>
                </a:r>
              </a:p>
            </p:txBody>
          </p:sp>
        </p:grpSp>
      </p:grpSp>
      <p:grpSp>
        <p:nvGrpSpPr>
          <p:cNvPr id="719909" name="Group 37"/>
          <p:cNvGrpSpPr>
            <a:grpSpLocks/>
          </p:cNvGrpSpPr>
          <p:nvPr/>
        </p:nvGrpSpPr>
        <p:grpSpPr bwMode="auto">
          <a:xfrm>
            <a:off x="8526463" y="2947989"/>
            <a:ext cx="1128712" cy="1868487"/>
            <a:chOff x="4476" y="1468"/>
            <a:chExt cx="711" cy="1177"/>
          </a:xfrm>
        </p:grpSpPr>
        <p:sp>
          <p:nvSpPr>
            <p:cNvPr id="719910" name="Line 38"/>
            <p:cNvSpPr>
              <a:spLocks noChangeShapeType="1"/>
            </p:cNvSpPr>
            <p:nvPr/>
          </p:nvSpPr>
          <p:spPr bwMode="auto">
            <a:xfrm>
              <a:off x="4487" y="1607"/>
              <a:ext cx="225" cy="0"/>
            </a:xfrm>
            <a:prstGeom prst="line">
              <a:avLst/>
            </a:prstGeom>
            <a:noFill/>
            <a:ln w="9525">
              <a:solidFill>
                <a:schemeClr val="tx1"/>
              </a:solidFill>
              <a:round/>
              <a:headEnd type="triangle" w="med" len="med"/>
              <a:tailEnd/>
            </a:ln>
            <a:effectLst/>
          </p:spPr>
          <p:txBody>
            <a:bodyPr wrap="none" anchor="ctr"/>
            <a:lstStyle/>
            <a:p>
              <a:endParaRPr lang="zh-CN" altLang="en-US"/>
            </a:p>
          </p:txBody>
        </p:sp>
        <p:sp>
          <p:nvSpPr>
            <p:cNvPr id="719911" name="Line 39"/>
            <p:cNvSpPr>
              <a:spLocks noChangeShapeType="1"/>
            </p:cNvSpPr>
            <p:nvPr/>
          </p:nvSpPr>
          <p:spPr bwMode="auto">
            <a:xfrm>
              <a:off x="4483" y="1862"/>
              <a:ext cx="225" cy="0"/>
            </a:xfrm>
            <a:prstGeom prst="line">
              <a:avLst/>
            </a:prstGeom>
            <a:noFill/>
            <a:ln w="9525">
              <a:solidFill>
                <a:schemeClr val="tx1"/>
              </a:solidFill>
              <a:round/>
              <a:headEnd type="triangle" w="med" len="med"/>
              <a:tailEnd/>
            </a:ln>
            <a:effectLst/>
          </p:spPr>
          <p:txBody>
            <a:bodyPr wrap="none" anchor="ctr"/>
            <a:lstStyle/>
            <a:p>
              <a:endParaRPr lang="zh-CN" altLang="en-US"/>
            </a:p>
          </p:txBody>
        </p:sp>
        <p:sp>
          <p:nvSpPr>
            <p:cNvPr id="719912" name="Line 40"/>
            <p:cNvSpPr>
              <a:spLocks noChangeShapeType="1"/>
            </p:cNvSpPr>
            <p:nvPr/>
          </p:nvSpPr>
          <p:spPr bwMode="auto">
            <a:xfrm>
              <a:off x="4476" y="2100"/>
              <a:ext cx="225" cy="0"/>
            </a:xfrm>
            <a:prstGeom prst="line">
              <a:avLst/>
            </a:prstGeom>
            <a:noFill/>
            <a:ln w="9525">
              <a:solidFill>
                <a:schemeClr val="tx1"/>
              </a:solidFill>
              <a:round/>
              <a:headEnd type="triangle" w="med" len="med"/>
              <a:tailEnd/>
            </a:ln>
            <a:effectLst/>
          </p:spPr>
          <p:txBody>
            <a:bodyPr wrap="none" anchor="ctr"/>
            <a:lstStyle/>
            <a:p>
              <a:endParaRPr lang="zh-CN" altLang="en-US"/>
            </a:p>
          </p:txBody>
        </p:sp>
        <p:sp>
          <p:nvSpPr>
            <p:cNvPr id="719913" name="Line 41"/>
            <p:cNvSpPr>
              <a:spLocks noChangeShapeType="1"/>
            </p:cNvSpPr>
            <p:nvPr/>
          </p:nvSpPr>
          <p:spPr bwMode="auto">
            <a:xfrm>
              <a:off x="4486" y="2348"/>
              <a:ext cx="225" cy="0"/>
            </a:xfrm>
            <a:prstGeom prst="line">
              <a:avLst/>
            </a:prstGeom>
            <a:noFill/>
            <a:ln w="9525">
              <a:solidFill>
                <a:schemeClr val="tx1"/>
              </a:solidFill>
              <a:round/>
              <a:headEnd type="triangle" w="med" len="med"/>
              <a:tailEnd/>
            </a:ln>
            <a:effectLst/>
          </p:spPr>
          <p:txBody>
            <a:bodyPr wrap="none" anchor="ctr"/>
            <a:lstStyle/>
            <a:p>
              <a:endParaRPr lang="zh-CN" altLang="en-US"/>
            </a:p>
          </p:txBody>
        </p:sp>
        <p:grpSp>
          <p:nvGrpSpPr>
            <p:cNvPr id="719914" name="Group 42"/>
            <p:cNvGrpSpPr>
              <a:grpSpLocks/>
            </p:cNvGrpSpPr>
            <p:nvPr/>
          </p:nvGrpSpPr>
          <p:grpSpPr bwMode="auto">
            <a:xfrm>
              <a:off x="4575" y="1468"/>
              <a:ext cx="612" cy="1177"/>
              <a:chOff x="4575" y="1468"/>
              <a:chExt cx="612" cy="1177"/>
            </a:xfrm>
          </p:grpSpPr>
          <p:sp>
            <p:nvSpPr>
              <p:cNvPr id="719915" name="Text Box 43"/>
              <p:cNvSpPr txBox="1">
                <a:spLocks noChangeArrowheads="1"/>
              </p:cNvSpPr>
              <p:nvPr/>
            </p:nvSpPr>
            <p:spPr bwMode="auto">
              <a:xfrm>
                <a:off x="4575" y="2414"/>
                <a:ext cx="612" cy="231"/>
              </a:xfrm>
              <a:prstGeom prst="rect">
                <a:avLst/>
              </a:prstGeom>
              <a:noFill/>
              <a:ln w="9525" algn="ctr">
                <a:noFill/>
                <a:miter lim="800000"/>
                <a:headEnd/>
                <a:tailEnd/>
              </a:ln>
              <a:effectLst/>
            </p:spPr>
            <p:txBody>
              <a:bodyPr wrap="none">
                <a:spAutoFit/>
              </a:bodyPr>
              <a:lstStyle/>
              <a:p>
                <a:r>
                  <a:rPr lang="en-US" altLang="zh-CN">
                    <a:latin typeface="Times New Roman" pitchFamily="18" charset="0"/>
                    <a:ea typeface="楷体_GB2312" pitchFamily="49" charset="-122"/>
                  </a:rPr>
                  <a:t>U1MCR</a:t>
                </a:r>
              </a:p>
            </p:txBody>
          </p:sp>
          <p:sp>
            <p:nvSpPr>
              <p:cNvPr id="719916" name="Rectangle 44"/>
              <p:cNvSpPr>
                <a:spLocks noChangeArrowheads="1"/>
              </p:cNvSpPr>
              <p:nvPr/>
            </p:nvSpPr>
            <p:spPr bwMode="auto">
              <a:xfrm>
                <a:off x="4703" y="1509"/>
                <a:ext cx="368" cy="187"/>
              </a:xfrm>
              <a:prstGeom prst="rect">
                <a:avLst/>
              </a:prstGeom>
              <a:solidFill>
                <a:srgbClr val="C0C0C0"/>
              </a:solidFill>
              <a:ln w="9525" algn="ctr">
                <a:solidFill>
                  <a:schemeClr val="tx1"/>
                </a:solidFill>
                <a:miter lim="800000"/>
                <a:headEnd/>
                <a:tailEnd/>
              </a:ln>
              <a:effectLst/>
            </p:spPr>
            <p:txBody>
              <a:bodyPr wrap="none" anchor="ctr"/>
              <a:lstStyle/>
              <a:p>
                <a:r>
                  <a:rPr lang="en-US" altLang="zh-CN" sz="1400">
                    <a:latin typeface="Times New Roman" pitchFamily="18" charset="0"/>
                  </a:rPr>
                  <a:t>Bit0</a:t>
                </a:r>
              </a:p>
            </p:txBody>
          </p:sp>
          <p:sp>
            <p:nvSpPr>
              <p:cNvPr id="719917" name="Rectangle 45"/>
              <p:cNvSpPr>
                <a:spLocks noChangeArrowheads="1"/>
              </p:cNvSpPr>
              <p:nvPr/>
            </p:nvSpPr>
            <p:spPr bwMode="auto">
              <a:xfrm>
                <a:off x="4704" y="1762"/>
                <a:ext cx="367" cy="187"/>
              </a:xfrm>
              <a:prstGeom prst="rect">
                <a:avLst/>
              </a:prstGeom>
              <a:solidFill>
                <a:srgbClr val="C0C0C0"/>
              </a:solidFill>
              <a:ln w="9525" algn="ctr">
                <a:solidFill>
                  <a:schemeClr val="tx1"/>
                </a:solidFill>
                <a:miter lim="800000"/>
                <a:headEnd/>
                <a:tailEnd/>
              </a:ln>
              <a:effectLst/>
            </p:spPr>
            <p:txBody>
              <a:bodyPr wrap="none" anchor="ctr"/>
              <a:lstStyle/>
              <a:p>
                <a:r>
                  <a:rPr lang="en-US" altLang="zh-CN" sz="1400">
                    <a:latin typeface="Times New Roman" pitchFamily="18" charset="0"/>
                  </a:rPr>
                  <a:t>Bit1</a:t>
                </a:r>
              </a:p>
            </p:txBody>
          </p:sp>
          <p:sp>
            <p:nvSpPr>
              <p:cNvPr id="719918" name="Rectangle 46"/>
              <p:cNvSpPr>
                <a:spLocks noChangeArrowheads="1"/>
              </p:cNvSpPr>
              <p:nvPr/>
            </p:nvSpPr>
            <p:spPr bwMode="auto">
              <a:xfrm>
                <a:off x="4704" y="2005"/>
                <a:ext cx="361" cy="187"/>
              </a:xfrm>
              <a:prstGeom prst="rect">
                <a:avLst/>
              </a:prstGeom>
              <a:solidFill>
                <a:srgbClr val="C0C0C0"/>
              </a:solidFill>
              <a:ln w="9525" algn="ctr">
                <a:solidFill>
                  <a:schemeClr val="tx1"/>
                </a:solidFill>
                <a:miter lim="800000"/>
                <a:headEnd/>
                <a:tailEnd/>
              </a:ln>
              <a:effectLst/>
            </p:spPr>
            <p:txBody>
              <a:bodyPr wrap="none" anchor="ctr"/>
              <a:lstStyle/>
              <a:p>
                <a:r>
                  <a:rPr lang="en-US" altLang="zh-CN" sz="1400">
                    <a:latin typeface="Times New Roman" pitchFamily="18" charset="0"/>
                  </a:rPr>
                  <a:t>Bit2</a:t>
                </a:r>
              </a:p>
            </p:txBody>
          </p:sp>
          <p:sp>
            <p:nvSpPr>
              <p:cNvPr id="719919" name="Rectangle 47"/>
              <p:cNvSpPr>
                <a:spLocks noChangeArrowheads="1"/>
              </p:cNvSpPr>
              <p:nvPr/>
            </p:nvSpPr>
            <p:spPr bwMode="auto">
              <a:xfrm>
                <a:off x="4704" y="2251"/>
                <a:ext cx="367" cy="187"/>
              </a:xfrm>
              <a:prstGeom prst="rect">
                <a:avLst/>
              </a:prstGeom>
              <a:solidFill>
                <a:srgbClr val="C0C0C0"/>
              </a:solidFill>
              <a:ln w="9525" algn="ctr">
                <a:solidFill>
                  <a:schemeClr val="tx1"/>
                </a:solidFill>
                <a:miter lim="800000"/>
                <a:headEnd/>
                <a:tailEnd/>
              </a:ln>
              <a:effectLst/>
            </p:spPr>
            <p:txBody>
              <a:bodyPr wrap="none" anchor="ctr"/>
              <a:lstStyle/>
              <a:p>
                <a:r>
                  <a:rPr lang="en-US" altLang="zh-CN" sz="1400">
                    <a:latin typeface="Times New Roman" pitchFamily="18" charset="0"/>
                  </a:rPr>
                  <a:t>Bit3</a:t>
                </a:r>
              </a:p>
            </p:txBody>
          </p:sp>
          <p:sp>
            <p:nvSpPr>
              <p:cNvPr id="719920" name="Rectangle 48"/>
              <p:cNvSpPr>
                <a:spLocks noChangeArrowheads="1"/>
              </p:cNvSpPr>
              <p:nvPr/>
            </p:nvSpPr>
            <p:spPr bwMode="auto">
              <a:xfrm>
                <a:off x="4593" y="1468"/>
                <a:ext cx="567" cy="1175"/>
              </a:xfrm>
              <a:prstGeom prst="rect">
                <a:avLst/>
              </a:prstGeom>
              <a:noFill/>
              <a:ln w="9525" algn="ctr">
                <a:solidFill>
                  <a:schemeClr val="tx1"/>
                </a:solidFill>
                <a:miter lim="800000"/>
                <a:headEnd/>
                <a:tailEnd/>
              </a:ln>
              <a:effectLst/>
            </p:spPr>
            <p:txBody>
              <a:bodyPr wrap="none" anchor="ctr"/>
              <a:lstStyle/>
              <a:p>
                <a:endParaRPr lang="zh-CN" altLang="en-US"/>
              </a:p>
            </p:txBody>
          </p:sp>
        </p:grpSp>
      </p:grpSp>
      <p:cxnSp>
        <p:nvCxnSpPr>
          <p:cNvPr id="719921" name="AutoShape 49"/>
          <p:cNvCxnSpPr>
            <a:cxnSpLocks noChangeShapeType="1"/>
            <a:stCxn id="719895" idx="3"/>
            <a:endCxn id="719896" idx="3"/>
          </p:cNvCxnSpPr>
          <p:nvPr/>
        </p:nvCxnSpPr>
        <p:spPr bwMode="auto">
          <a:xfrm>
            <a:off x="8531226" y="5516564"/>
            <a:ext cx="11113" cy="390525"/>
          </a:xfrm>
          <a:prstGeom prst="bentConnector3">
            <a:avLst>
              <a:gd name="adj1" fmla="val 2157144"/>
            </a:avLst>
          </a:prstGeom>
          <a:noFill/>
          <a:ln w="9525">
            <a:solidFill>
              <a:schemeClr val="tx1"/>
            </a:solidFill>
            <a:miter lim="800000"/>
            <a:headEnd/>
            <a:tailEnd type="triangle" w="med" len="med"/>
          </a:ln>
          <a:effectLst/>
        </p:spPr>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19875"/>
                                        </p:tgtEl>
                                        <p:attrNameLst>
                                          <p:attrName>style.visibility</p:attrName>
                                        </p:attrNameLst>
                                      </p:cBhvr>
                                      <p:to>
                                        <p:strVal val="visible"/>
                                      </p:to>
                                    </p:set>
                                    <p:anim calcmode="lin" valueType="num">
                                      <p:cBhvr additive="base">
                                        <p:cTn id="7" dur="500" fill="hold"/>
                                        <p:tgtEl>
                                          <p:spTgt spid="719875"/>
                                        </p:tgtEl>
                                        <p:attrNameLst>
                                          <p:attrName>ppt_x</p:attrName>
                                        </p:attrNameLst>
                                      </p:cBhvr>
                                      <p:tavLst>
                                        <p:tav tm="0">
                                          <p:val>
                                            <p:strVal val="1+#ppt_w/2"/>
                                          </p:val>
                                        </p:tav>
                                        <p:tav tm="100000">
                                          <p:val>
                                            <p:strVal val="#ppt_x"/>
                                          </p:val>
                                        </p:tav>
                                      </p:tavLst>
                                    </p:anim>
                                    <p:anim calcmode="lin" valueType="num">
                                      <p:cBhvr additive="base">
                                        <p:cTn id="8" dur="500" fill="hold"/>
                                        <p:tgtEl>
                                          <p:spTgt spid="71987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8" presetClass="entr" presetSubtype="6" fill="hold" nodeType="afterEffect">
                                  <p:stCondLst>
                                    <p:cond delay="0"/>
                                  </p:stCondLst>
                                  <p:childTnLst>
                                    <p:set>
                                      <p:cBhvr>
                                        <p:cTn id="11" dur="1" fill="hold">
                                          <p:stCondLst>
                                            <p:cond delay="0"/>
                                          </p:stCondLst>
                                        </p:cTn>
                                        <p:tgtEl>
                                          <p:spTgt spid="719898"/>
                                        </p:tgtEl>
                                        <p:attrNameLst>
                                          <p:attrName>style.visibility</p:attrName>
                                        </p:attrNameLst>
                                      </p:cBhvr>
                                      <p:to>
                                        <p:strVal val="visible"/>
                                      </p:to>
                                    </p:set>
                                    <p:animEffect transition="in" filter="strips(downRight)">
                                      <p:cBhvr>
                                        <p:cTn id="12" dur="500"/>
                                        <p:tgtEl>
                                          <p:spTgt spid="719898"/>
                                        </p:tgtEl>
                                      </p:cBhvr>
                                    </p:animEffect>
                                  </p:childTnLst>
                                </p:cTn>
                              </p:par>
                              <p:par>
                                <p:cTn id="13" presetID="18" presetClass="entr" presetSubtype="6" fill="hold" nodeType="withEffect">
                                  <p:stCondLst>
                                    <p:cond delay="0"/>
                                  </p:stCondLst>
                                  <p:childTnLst>
                                    <p:set>
                                      <p:cBhvr>
                                        <p:cTn id="14" dur="1" fill="hold">
                                          <p:stCondLst>
                                            <p:cond delay="0"/>
                                          </p:stCondLst>
                                        </p:cTn>
                                        <p:tgtEl>
                                          <p:spTgt spid="719886"/>
                                        </p:tgtEl>
                                        <p:attrNameLst>
                                          <p:attrName>style.visibility</p:attrName>
                                        </p:attrNameLst>
                                      </p:cBhvr>
                                      <p:to>
                                        <p:strVal val="visible"/>
                                      </p:to>
                                    </p:set>
                                    <p:animEffect transition="in" filter="strips(downRight)">
                                      <p:cBhvr>
                                        <p:cTn id="15" dur="500"/>
                                        <p:tgtEl>
                                          <p:spTgt spid="719886"/>
                                        </p:tgtEl>
                                      </p:cBhvr>
                                    </p:animEffect>
                                  </p:childTnLst>
                                </p:cTn>
                              </p:par>
                            </p:childTnLst>
                          </p:cTn>
                        </p:par>
                        <p:par>
                          <p:cTn id="16" fill="hold">
                            <p:stCondLst>
                              <p:cond delay="1000"/>
                            </p:stCondLst>
                            <p:childTnLst>
                              <p:par>
                                <p:cTn id="17" presetID="22" presetClass="entr" presetSubtype="1" fill="hold" nodeType="afterEffect">
                                  <p:stCondLst>
                                    <p:cond delay="0"/>
                                  </p:stCondLst>
                                  <p:childTnLst>
                                    <p:set>
                                      <p:cBhvr>
                                        <p:cTn id="18" dur="1" fill="hold">
                                          <p:stCondLst>
                                            <p:cond delay="0"/>
                                          </p:stCondLst>
                                        </p:cTn>
                                        <p:tgtEl>
                                          <p:spTgt spid="719877"/>
                                        </p:tgtEl>
                                        <p:attrNameLst>
                                          <p:attrName>style.visibility</p:attrName>
                                        </p:attrNameLst>
                                      </p:cBhvr>
                                      <p:to>
                                        <p:strVal val="visible"/>
                                      </p:to>
                                    </p:set>
                                    <p:animEffect transition="in" filter="wipe(up)">
                                      <p:cBhvr>
                                        <p:cTn id="19" dur="500"/>
                                        <p:tgtEl>
                                          <p:spTgt spid="719877"/>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719876"/>
                                        </p:tgtEl>
                                        <p:attrNameLst>
                                          <p:attrName>style.visibility</p:attrName>
                                        </p:attrNameLst>
                                      </p:cBhvr>
                                      <p:to>
                                        <p:strVal val="visible"/>
                                      </p:to>
                                    </p:set>
                                    <p:anim calcmode="lin" valueType="num">
                                      <p:cBhvr additive="base">
                                        <p:cTn id="24" dur="500" fill="hold"/>
                                        <p:tgtEl>
                                          <p:spTgt spid="719876"/>
                                        </p:tgtEl>
                                        <p:attrNameLst>
                                          <p:attrName>ppt_x</p:attrName>
                                        </p:attrNameLst>
                                      </p:cBhvr>
                                      <p:tavLst>
                                        <p:tav tm="0">
                                          <p:val>
                                            <p:strVal val="0-#ppt_w/2"/>
                                          </p:val>
                                        </p:tav>
                                        <p:tav tm="100000">
                                          <p:val>
                                            <p:strVal val="#ppt_x"/>
                                          </p:val>
                                        </p:tav>
                                      </p:tavLst>
                                    </p:anim>
                                    <p:anim calcmode="lin" valueType="num">
                                      <p:cBhvr additive="base">
                                        <p:cTn id="25" dur="500" fill="hold"/>
                                        <p:tgtEl>
                                          <p:spTgt spid="719876"/>
                                        </p:tgtEl>
                                        <p:attrNameLst>
                                          <p:attrName>ppt_y</p:attrName>
                                        </p:attrNameLst>
                                      </p:cBhvr>
                                      <p:tavLst>
                                        <p:tav tm="0">
                                          <p:val>
                                            <p:strVal val="#ppt_y"/>
                                          </p:val>
                                        </p:tav>
                                        <p:tav tm="100000">
                                          <p:val>
                                            <p:strVal val="#ppt_y"/>
                                          </p:val>
                                        </p:tav>
                                      </p:tavLst>
                                    </p:anim>
                                  </p:childTnLst>
                                </p:cTn>
                              </p:par>
                            </p:childTnLst>
                          </p:cTn>
                        </p:par>
                        <p:par>
                          <p:cTn id="26" fill="hold">
                            <p:stCondLst>
                              <p:cond delay="500"/>
                            </p:stCondLst>
                            <p:childTnLst>
                              <p:par>
                                <p:cTn id="27" presetID="11" presetClass="exit" presetSubtype="0" fill="hold" nodeType="afterEffect">
                                  <p:stCondLst>
                                    <p:cond delay="0"/>
                                  </p:stCondLst>
                                  <p:childTnLst>
                                    <p:anim calcmode="discrete" valueType="str">
                                      <p:cBhvr>
                                        <p:cTn id="28" dur="1000"/>
                                        <p:tgtEl>
                                          <p:spTgt spid="719877"/>
                                        </p:tgtEl>
                                        <p:attrNameLst>
                                          <p:attrName>style.visibility</p:attrName>
                                        </p:attrNameLst>
                                      </p:cBhvr>
                                      <p:tavLst>
                                        <p:tav tm="0">
                                          <p:val>
                                            <p:strVal val="hidden"/>
                                          </p:val>
                                        </p:tav>
                                        <p:tav tm="50000">
                                          <p:val>
                                            <p:strVal val="visible"/>
                                          </p:val>
                                        </p:tav>
                                      </p:tavLst>
                                    </p:anim>
                                    <p:set>
                                      <p:cBhvr>
                                        <p:cTn id="29" dur="1" fill="hold">
                                          <p:stCondLst>
                                            <p:cond delay="999"/>
                                          </p:stCondLst>
                                        </p:cTn>
                                        <p:tgtEl>
                                          <p:spTgt spid="719877"/>
                                        </p:tgtEl>
                                        <p:attrNameLst>
                                          <p:attrName>style.visibility</p:attrName>
                                        </p:attrNameLst>
                                      </p:cBhvr>
                                      <p:to>
                                        <p:strVal val="hidden"/>
                                      </p:to>
                                    </p:set>
                                  </p:childTnLst>
                                </p:cTn>
                              </p:par>
                            </p:childTnLst>
                          </p:cTn>
                        </p:par>
                        <p:par>
                          <p:cTn id="30" fill="hold">
                            <p:stCondLst>
                              <p:cond delay="1500"/>
                            </p:stCondLst>
                            <p:childTnLst>
                              <p:par>
                                <p:cTn id="31" presetID="22" presetClass="entr" presetSubtype="1" fill="hold" nodeType="afterEffect">
                                  <p:stCondLst>
                                    <p:cond delay="0"/>
                                  </p:stCondLst>
                                  <p:childTnLst>
                                    <p:set>
                                      <p:cBhvr>
                                        <p:cTn id="32" dur="1" fill="hold">
                                          <p:stCondLst>
                                            <p:cond delay="0"/>
                                          </p:stCondLst>
                                        </p:cTn>
                                        <p:tgtEl>
                                          <p:spTgt spid="719921"/>
                                        </p:tgtEl>
                                        <p:attrNameLst>
                                          <p:attrName>style.visibility</p:attrName>
                                        </p:attrNameLst>
                                      </p:cBhvr>
                                      <p:to>
                                        <p:strVal val="visible"/>
                                      </p:to>
                                    </p:set>
                                    <p:animEffect transition="in" filter="wipe(up)">
                                      <p:cBhvr>
                                        <p:cTn id="33" dur="500"/>
                                        <p:tgtEl>
                                          <p:spTgt spid="719921"/>
                                        </p:tgtEl>
                                      </p:cBhvr>
                                    </p:animEffect>
                                  </p:childTnLst>
                                </p:cTn>
                              </p:par>
                              <p:par>
                                <p:cTn id="34" presetID="22" presetClass="entr" presetSubtype="2" fill="hold" nodeType="withEffect">
                                  <p:stCondLst>
                                    <p:cond delay="0"/>
                                  </p:stCondLst>
                                  <p:childTnLst>
                                    <p:set>
                                      <p:cBhvr>
                                        <p:cTn id="35" dur="1" fill="hold">
                                          <p:stCondLst>
                                            <p:cond delay="0"/>
                                          </p:stCondLst>
                                        </p:cTn>
                                        <p:tgtEl>
                                          <p:spTgt spid="719909"/>
                                        </p:tgtEl>
                                        <p:attrNameLst>
                                          <p:attrName>style.visibility</p:attrName>
                                        </p:attrNameLst>
                                      </p:cBhvr>
                                      <p:to>
                                        <p:strVal val="visible"/>
                                      </p:to>
                                    </p:set>
                                    <p:animEffect transition="in" filter="wipe(right)">
                                      <p:cBhvr>
                                        <p:cTn id="36" dur="500"/>
                                        <p:tgtEl>
                                          <p:spTgt spid="7199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9875" grpId="0"/>
      <p:bldP spid="719876"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0898" name="Group 2"/>
          <p:cNvGraphicFramePr>
            <a:graphicFrameLocks noGrp="1"/>
          </p:cNvGraphicFramePr>
          <p:nvPr>
            <p:ph/>
          </p:nvPr>
        </p:nvGraphicFramePr>
        <p:xfrm>
          <a:off x="2495551" y="3579813"/>
          <a:ext cx="7127875" cy="2743200"/>
        </p:xfrm>
        <a:graphic>
          <a:graphicData uri="http://schemas.openxmlformats.org/drawingml/2006/table">
            <a:tbl>
              <a:tblPr/>
              <a:tblGrid>
                <a:gridCol w="646113">
                  <a:extLst>
                    <a:ext uri="{9D8B030D-6E8A-4147-A177-3AD203B41FA5}">
                      <a16:colId xmlns:a16="http://schemas.microsoft.com/office/drawing/2014/main" val="20000"/>
                    </a:ext>
                  </a:extLst>
                </a:gridCol>
                <a:gridCol w="1223962">
                  <a:extLst>
                    <a:ext uri="{9D8B030D-6E8A-4147-A177-3AD203B41FA5}">
                      <a16:colId xmlns:a16="http://schemas.microsoft.com/office/drawing/2014/main" val="20001"/>
                    </a:ext>
                  </a:extLst>
                </a:gridCol>
                <a:gridCol w="5257800">
                  <a:extLst>
                    <a:ext uri="{9D8B030D-6E8A-4147-A177-3AD203B41FA5}">
                      <a16:colId xmlns:a16="http://schemas.microsoft.com/office/drawing/2014/main" val="20002"/>
                    </a:ext>
                  </a:extLst>
                </a:gridCol>
              </a:tblGrid>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位</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功能</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功能描述</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0</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rgbClr val="000000"/>
                          </a:solidFill>
                          <a:effectLst/>
                          <a:latin typeface="宋体" pitchFamily="2" charset="-122"/>
                          <a:ea typeface="宋体" pitchFamily="2" charset="-122"/>
                        </a:rPr>
                        <a:t>Delta CTS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检测到</a:t>
                      </a:r>
                      <a:r>
                        <a:rPr kumimoji="1" lang="en-US" altLang="zh-CN" sz="1400" b="0" i="0" u="none" strike="noStrike" cap="none" normalizeH="0" baseline="0">
                          <a:ln>
                            <a:noFill/>
                          </a:ln>
                          <a:solidFill>
                            <a:schemeClr val="tx1"/>
                          </a:solidFill>
                          <a:effectLst/>
                          <a:latin typeface="宋体" pitchFamily="2" charset="-122"/>
                          <a:ea typeface="宋体" pitchFamily="2" charset="-122"/>
                        </a:rPr>
                        <a:t>CTS</a:t>
                      </a:r>
                      <a:r>
                        <a:rPr kumimoji="1" lang="zh-CN" altLang="en-US" sz="1400" b="0" i="0" u="none" strike="noStrike" cap="none" normalizeH="0" baseline="0">
                          <a:ln>
                            <a:noFill/>
                          </a:ln>
                          <a:solidFill>
                            <a:schemeClr val="tx1"/>
                          </a:solidFill>
                          <a:effectLst/>
                          <a:latin typeface="宋体" pitchFamily="2" charset="-122"/>
                          <a:ea typeface="宋体" pitchFamily="2" charset="-122"/>
                        </a:rPr>
                        <a:t>状态发生变化时，该位置位。读取</a:t>
                      </a:r>
                      <a:r>
                        <a:rPr kumimoji="1" lang="en-US" altLang="zh-CN" sz="1400" b="0" i="0" u="none" strike="noStrike" cap="none" normalizeH="0" baseline="0">
                          <a:ln>
                            <a:noFill/>
                          </a:ln>
                          <a:solidFill>
                            <a:schemeClr val="tx1"/>
                          </a:solidFill>
                          <a:effectLst/>
                          <a:latin typeface="宋体" pitchFamily="2" charset="-122"/>
                          <a:ea typeface="宋体" pitchFamily="2" charset="-122"/>
                        </a:rPr>
                        <a:t>U1MSR</a:t>
                      </a:r>
                      <a:r>
                        <a:rPr kumimoji="1" lang="zh-CN" altLang="en-US" sz="1400" b="0" i="0" u="none" strike="noStrike" cap="none" normalizeH="0" baseline="0">
                          <a:ln>
                            <a:noFill/>
                          </a:ln>
                          <a:solidFill>
                            <a:schemeClr val="tx1"/>
                          </a:solidFill>
                          <a:effectLst/>
                          <a:latin typeface="宋体" pitchFamily="2" charset="-122"/>
                          <a:ea typeface="宋体" pitchFamily="2" charset="-122"/>
                        </a:rPr>
                        <a:t>时清零。</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rgbClr val="000000"/>
                          </a:solidFill>
                          <a:effectLst/>
                          <a:latin typeface="宋体" pitchFamily="2" charset="-122"/>
                          <a:ea typeface="宋体" pitchFamily="2" charset="-122"/>
                        </a:rPr>
                        <a:t>Delta DSR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检测到</a:t>
                      </a:r>
                      <a:r>
                        <a:rPr kumimoji="1" lang="en-US" altLang="zh-CN" sz="1400" b="0" i="0" u="none" strike="noStrike" cap="none" normalizeH="0" baseline="0">
                          <a:ln>
                            <a:noFill/>
                          </a:ln>
                          <a:solidFill>
                            <a:schemeClr val="tx1"/>
                          </a:solidFill>
                          <a:effectLst/>
                          <a:latin typeface="宋体" pitchFamily="2" charset="-122"/>
                          <a:ea typeface="宋体" pitchFamily="2" charset="-122"/>
                        </a:rPr>
                        <a:t>DSR</a:t>
                      </a:r>
                      <a:r>
                        <a:rPr kumimoji="1" lang="zh-CN" altLang="en-US" sz="1400" b="0" i="0" u="none" strike="noStrike" cap="none" normalizeH="0" baseline="0">
                          <a:ln>
                            <a:noFill/>
                          </a:ln>
                          <a:solidFill>
                            <a:schemeClr val="tx1"/>
                          </a:solidFill>
                          <a:effectLst/>
                          <a:latin typeface="宋体" pitchFamily="2" charset="-122"/>
                          <a:ea typeface="宋体" pitchFamily="2" charset="-122"/>
                        </a:rPr>
                        <a:t>状态发生变化时，该位置位。读取</a:t>
                      </a:r>
                      <a:r>
                        <a:rPr kumimoji="1" lang="en-US" altLang="zh-CN" sz="1400" b="0" i="0" u="none" strike="noStrike" cap="none" normalizeH="0" baseline="0">
                          <a:ln>
                            <a:noFill/>
                          </a:ln>
                          <a:solidFill>
                            <a:schemeClr val="tx1"/>
                          </a:solidFill>
                          <a:effectLst/>
                          <a:latin typeface="宋体" pitchFamily="2" charset="-122"/>
                          <a:ea typeface="宋体" pitchFamily="2" charset="-122"/>
                        </a:rPr>
                        <a:t>U1MSR</a:t>
                      </a:r>
                      <a:r>
                        <a:rPr kumimoji="1" lang="zh-CN" altLang="en-US" sz="1400" b="0" i="0" u="none" strike="noStrike" cap="none" normalizeH="0" baseline="0">
                          <a:ln>
                            <a:noFill/>
                          </a:ln>
                          <a:solidFill>
                            <a:schemeClr val="tx1"/>
                          </a:solidFill>
                          <a:effectLst/>
                          <a:latin typeface="宋体" pitchFamily="2" charset="-122"/>
                          <a:ea typeface="宋体" pitchFamily="2" charset="-122"/>
                        </a:rPr>
                        <a:t>时清零。</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rgbClr val="000000"/>
                          </a:solidFill>
                          <a:effectLst/>
                          <a:latin typeface="宋体" pitchFamily="2" charset="-122"/>
                          <a:ea typeface="宋体" pitchFamily="2" charset="-122"/>
                        </a:rPr>
                        <a:t>后沿 </a:t>
                      </a:r>
                      <a:r>
                        <a:rPr kumimoji="1" lang="en-US" altLang="zh-CN" sz="1400" b="0" i="0" u="none" strike="noStrike" cap="none" normalizeH="0" baseline="0">
                          <a:ln>
                            <a:noFill/>
                          </a:ln>
                          <a:solidFill>
                            <a:srgbClr val="000000"/>
                          </a:solidFill>
                          <a:effectLst/>
                          <a:latin typeface="宋体" pitchFamily="2" charset="-122"/>
                          <a:ea typeface="宋体" pitchFamily="2" charset="-122"/>
                        </a:rPr>
                        <a:t>RI</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检测到</a:t>
                      </a:r>
                      <a:r>
                        <a:rPr kumimoji="1" lang="en-US" altLang="zh-CN" sz="1400" b="0" i="0" u="none" strike="noStrike" cap="none" normalizeH="0" baseline="0">
                          <a:ln>
                            <a:noFill/>
                          </a:ln>
                          <a:solidFill>
                            <a:schemeClr val="tx1"/>
                          </a:solidFill>
                          <a:effectLst/>
                          <a:latin typeface="宋体" pitchFamily="2" charset="-122"/>
                          <a:ea typeface="宋体" pitchFamily="2" charset="-122"/>
                        </a:rPr>
                        <a:t>RI</a:t>
                      </a:r>
                      <a:r>
                        <a:rPr kumimoji="1" lang="zh-CN" altLang="en-US" sz="1400" b="0" i="0" u="none" strike="noStrike" cap="none" normalizeH="0" baseline="0">
                          <a:ln>
                            <a:noFill/>
                          </a:ln>
                          <a:solidFill>
                            <a:schemeClr val="tx1"/>
                          </a:solidFill>
                          <a:effectLst/>
                          <a:latin typeface="宋体" pitchFamily="2" charset="-122"/>
                          <a:ea typeface="宋体" pitchFamily="2" charset="-122"/>
                        </a:rPr>
                        <a:t>状态发生变化时，该位置位。读取</a:t>
                      </a:r>
                      <a:r>
                        <a:rPr kumimoji="1" lang="en-US" altLang="zh-CN" sz="1400" b="0" i="0" u="none" strike="noStrike" cap="none" normalizeH="0" baseline="0">
                          <a:ln>
                            <a:noFill/>
                          </a:ln>
                          <a:solidFill>
                            <a:schemeClr val="tx1"/>
                          </a:solidFill>
                          <a:effectLst/>
                          <a:latin typeface="宋体" pitchFamily="2" charset="-122"/>
                          <a:ea typeface="宋体" pitchFamily="2" charset="-122"/>
                        </a:rPr>
                        <a:t>U1MSR</a:t>
                      </a:r>
                      <a:r>
                        <a:rPr kumimoji="1" lang="zh-CN" altLang="en-US" sz="1400" b="0" i="0" u="none" strike="noStrike" cap="none" normalizeH="0" baseline="0">
                          <a:ln>
                            <a:noFill/>
                          </a:ln>
                          <a:solidFill>
                            <a:schemeClr val="tx1"/>
                          </a:solidFill>
                          <a:effectLst/>
                          <a:latin typeface="宋体" pitchFamily="2" charset="-122"/>
                          <a:ea typeface="宋体" pitchFamily="2" charset="-122"/>
                        </a:rPr>
                        <a:t>时清零。</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Delta DCD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检测到</a:t>
                      </a:r>
                      <a:r>
                        <a:rPr kumimoji="1" lang="en-US" altLang="zh-CN" sz="1400" b="0" i="0" u="none" strike="noStrike" cap="none" normalizeH="0" baseline="0">
                          <a:ln>
                            <a:noFill/>
                          </a:ln>
                          <a:solidFill>
                            <a:schemeClr val="tx1"/>
                          </a:solidFill>
                          <a:effectLst/>
                          <a:latin typeface="宋体" pitchFamily="2" charset="-122"/>
                          <a:ea typeface="宋体" pitchFamily="2" charset="-122"/>
                        </a:rPr>
                        <a:t>DCD</a:t>
                      </a:r>
                      <a:r>
                        <a:rPr kumimoji="1" lang="zh-CN" altLang="en-US" sz="1400" b="0" i="0" u="none" strike="noStrike" cap="none" normalizeH="0" baseline="0">
                          <a:ln>
                            <a:noFill/>
                          </a:ln>
                          <a:solidFill>
                            <a:schemeClr val="tx1"/>
                          </a:solidFill>
                          <a:effectLst/>
                          <a:latin typeface="宋体" pitchFamily="2" charset="-122"/>
                          <a:ea typeface="宋体" pitchFamily="2" charset="-122"/>
                        </a:rPr>
                        <a:t>状态发生变化时，该位置位。读取</a:t>
                      </a:r>
                      <a:r>
                        <a:rPr kumimoji="1" lang="en-US" altLang="zh-CN" sz="1400" b="0" i="0" u="none" strike="noStrike" cap="none" normalizeH="0" baseline="0">
                          <a:ln>
                            <a:noFill/>
                          </a:ln>
                          <a:solidFill>
                            <a:schemeClr val="tx1"/>
                          </a:solidFill>
                          <a:effectLst/>
                          <a:latin typeface="宋体" pitchFamily="2" charset="-122"/>
                          <a:ea typeface="宋体" pitchFamily="2" charset="-122"/>
                        </a:rPr>
                        <a:t>U1MSR</a:t>
                      </a:r>
                      <a:r>
                        <a:rPr kumimoji="1" lang="zh-CN" altLang="en-US" sz="1400" b="0" i="0" u="none" strike="noStrike" cap="none" normalizeH="0" baseline="0">
                          <a:ln>
                            <a:noFill/>
                          </a:ln>
                          <a:solidFill>
                            <a:schemeClr val="tx1"/>
                          </a:solidFill>
                          <a:effectLst/>
                          <a:latin typeface="宋体" pitchFamily="2" charset="-122"/>
                          <a:ea typeface="宋体" pitchFamily="2" charset="-122"/>
                        </a:rPr>
                        <a:t>时清零。</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CTS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反映输入信号</a:t>
                      </a:r>
                      <a:r>
                        <a:rPr kumimoji="1" lang="en-US" altLang="zh-CN" sz="1400" b="0" i="0" u="none" strike="noStrike" cap="none" normalizeH="0" baseline="0">
                          <a:ln>
                            <a:noFill/>
                          </a:ln>
                          <a:solidFill>
                            <a:schemeClr val="tx1"/>
                          </a:solidFill>
                          <a:effectLst/>
                          <a:latin typeface="宋体" pitchFamily="2" charset="-122"/>
                          <a:ea typeface="宋体" pitchFamily="2" charset="-122"/>
                        </a:rPr>
                        <a:t>CTS</a:t>
                      </a:r>
                      <a:r>
                        <a:rPr kumimoji="1" lang="zh-CN" altLang="en-US" sz="1400" b="0" i="0" u="none" strike="noStrike" cap="none" normalizeH="0" baseline="0">
                          <a:ln>
                            <a:noFill/>
                          </a:ln>
                          <a:solidFill>
                            <a:schemeClr val="tx1"/>
                          </a:solidFill>
                          <a:effectLst/>
                          <a:latin typeface="宋体" pitchFamily="2" charset="-122"/>
                          <a:ea typeface="宋体" pitchFamily="2" charset="-122"/>
                        </a:rPr>
                        <a:t>的补码。回写模式下该位连接</a:t>
                      </a:r>
                      <a:r>
                        <a:rPr kumimoji="1" lang="en-US" altLang="zh-CN" sz="1400" b="0" i="0" u="none" strike="noStrike" cap="none" normalizeH="0" baseline="0">
                          <a:ln>
                            <a:noFill/>
                          </a:ln>
                          <a:solidFill>
                            <a:schemeClr val="tx1"/>
                          </a:solidFill>
                          <a:effectLst/>
                          <a:latin typeface="宋体" pitchFamily="2" charset="-122"/>
                          <a:ea typeface="宋体" pitchFamily="2" charset="-122"/>
                        </a:rPr>
                        <a:t>U1MCR</a:t>
                      </a:r>
                      <a:r>
                        <a:rPr kumimoji="1" lang="zh-CN" altLang="en-US" sz="1400" b="0" i="0" u="none" strike="noStrike" cap="none" normalizeH="0" baseline="0">
                          <a:ln>
                            <a:noFill/>
                          </a:ln>
                          <a:solidFill>
                            <a:schemeClr val="tx1"/>
                          </a:solidFill>
                          <a:effectLst/>
                          <a:latin typeface="宋体" pitchFamily="2" charset="-122"/>
                          <a:ea typeface="宋体" pitchFamily="2" charset="-122"/>
                        </a:rPr>
                        <a:t>的</a:t>
                      </a:r>
                      <a:r>
                        <a:rPr kumimoji="1" lang="en-US" altLang="zh-CN" sz="1400" b="0" i="0" u="none" strike="noStrike" cap="none" normalizeH="0" baseline="0">
                          <a:ln>
                            <a:noFill/>
                          </a:ln>
                          <a:solidFill>
                            <a:schemeClr val="tx1"/>
                          </a:solidFill>
                          <a:effectLst/>
                          <a:latin typeface="宋体" pitchFamily="2" charset="-122"/>
                          <a:ea typeface="宋体" pitchFamily="2" charset="-122"/>
                        </a:rPr>
                        <a:t>bit1</a:t>
                      </a:r>
                      <a:r>
                        <a:rPr kumimoji="1" lang="zh-CN" altLang="en-US" sz="1400" b="0" i="0" u="none" strike="noStrike" cap="none" normalizeH="0" baseline="0">
                          <a:ln>
                            <a:noFill/>
                          </a:ln>
                          <a:solidFill>
                            <a:schemeClr val="tx1"/>
                          </a:solidFill>
                          <a:effectLst/>
                          <a:latin typeface="宋体" pitchFamily="2" charset="-122"/>
                          <a:ea typeface="宋体" pitchFamily="2" charset="-122"/>
                        </a:rPr>
                        <a:t>。</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5"/>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DSR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反映输入信号</a:t>
                      </a:r>
                      <a:r>
                        <a:rPr kumimoji="1" lang="en-US" altLang="zh-CN" sz="1400" b="0" i="0" u="none" strike="noStrike" cap="none" normalizeH="0" baseline="0">
                          <a:ln>
                            <a:noFill/>
                          </a:ln>
                          <a:solidFill>
                            <a:schemeClr val="tx1"/>
                          </a:solidFill>
                          <a:effectLst/>
                          <a:latin typeface="宋体" pitchFamily="2" charset="-122"/>
                          <a:ea typeface="宋体" pitchFamily="2" charset="-122"/>
                        </a:rPr>
                        <a:t>DSR</a:t>
                      </a:r>
                      <a:r>
                        <a:rPr kumimoji="1" lang="zh-CN" altLang="en-US" sz="1400" b="0" i="0" u="none" strike="noStrike" cap="none" normalizeH="0" baseline="0">
                          <a:ln>
                            <a:noFill/>
                          </a:ln>
                          <a:solidFill>
                            <a:schemeClr val="tx1"/>
                          </a:solidFill>
                          <a:effectLst/>
                          <a:latin typeface="宋体" pitchFamily="2" charset="-122"/>
                          <a:ea typeface="宋体" pitchFamily="2" charset="-122"/>
                        </a:rPr>
                        <a:t>的补码。回写模式下该位连接</a:t>
                      </a:r>
                      <a:r>
                        <a:rPr kumimoji="1" lang="en-US" altLang="zh-CN" sz="1400" b="0" i="0" u="none" strike="noStrike" cap="none" normalizeH="0" baseline="0">
                          <a:ln>
                            <a:noFill/>
                          </a:ln>
                          <a:solidFill>
                            <a:schemeClr val="tx1"/>
                          </a:solidFill>
                          <a:effectLst/>
                          <a:latin typeface="宋体" pitchFamily="2" charset="-122"/>
                          <a:ea typeface="宋体" pitchFamily="2" charset="-122"/>
                        </a:rPr>
                        <a:t>U1MCR</a:t>
                      </a:r>
                      <a:r>
                        <a:rPr kumimoji="1" lang="zh-CN" altLang="en-US" sz="1400" b="0" i="0" u="none" strike="noStrike" cap="none" normalizeH="0" baseline="0">
                          <a:ln>
                            <a:noFill/>
                          </a:ln>
                          <a:solidFill>
                            <a:schemeClr val="tx1"/>
                          </a:solidFill>
                          <a:effectLst/>
                          <a:latin typeface="宋体" pitchFamily="2" charset="-122"/>
                          <a:ea typeface="宋体" pitchFamily="2" charset="-122"/>
                        </a:rPr>
                        <a:t>的</a:t>
                      </a:r>
                      <a:r>
                        <a:rPr kumimoji="1" lang="en-US" altLang="zh-CN" sz="1400" b="0" i="0" u="none" strike="noStrike" cap="none" normalizeH="0" baseline="0">
                          <a:ln>
                            <a:noFill/>
                          </a:ln>
                          <a:solidFill>
                            <a:schemeClr val="tx1"/>
                          </a:solidFill>
                          <a:effectLst/>
                          <a:latin typeface="宋体" pitchFamily="2" charset="-122"/>
                          <a:ea typeface="宋体" pitchFamily="2" charset="-122"/>
                        </a:rPr>
                        <a:t>bit0</a:t>
                      </a:r>
                      <a:r>
                        <a:rPr kumimoji="1" lang="zh-CN" altLang="en-US" sz="1400" b="0" i="0" u="none" strike="noStrike" cap="none" normalizeH="0" baseline="0">
                          <a:ln>
                            <a:noFill/>
                          </a:ln>
                          <a:solidFill>
                            <a:schemeClr val="tx1"/>
                          </a:solidFill>
                          <a:effectLst/>
                          <a:latin typeface="宋体" pitchFamily="2" charset="-122"/>
                          <a:ea typeface="宋体" pitchFamily="2" charset="-122"/>
                        </a:rPr>
                        <a:t>。</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6"/>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6</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RI</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反映输入信号</a:t>
                      </a:r>
                      <a:r>
                        <a:rPr kumimoji="1" lang="en-US" altLang="zh-CN" sz="1400" b="0" i="0" u="none" strike="noStrike" cap="none" normalizeH="0" baseline="0">
                          <a:ln>
                            <a:noFill/>
                          </a:ln>
                          <a:solidFill>
                            <a:schemeClr val="tx1"/>
                          </a:solidFill>
                          <a:effectLst/>
                          <a:latin typeface="宋体" pitchFamily="2" charset="-122"/>
                          <a:ea typeface="宋体" pitchFamily="2" charset="-122"/>
                        </a:rPr>
                        <a:t>RI</a:t>
                      </a:r>
                      <a:r>
                        <a:rPr kumimoji="1" lang="zh-CN" altLang="en-US" sz="1400" b="0" i="0" u="none" strike="noStrike" cap="none" normalizeH="0" baseline="0">
                          <a:ln>
                            <a:noFill/>
                          </a:ln>
                          <a:solidFill>
                            <a:schemeClr val="tx1"/>
                          </a:solidFill>
                          <a:effectLst/>
                          <a:latin typeface="宋体" pitchFamily="2" charset="-122"/>
                          <a:ea typeface="宋体" pitchFamily="2" charset="-122"/>
                        </a:rPr>
                        <a:t>的补码。回写模式下该位连接</a:t>
                      </a:r>
                      <a:r>
                        <a:rPr kumimoji="1" lang="en-US" altLang="zh-CN" sz="1400" b="0" i="0" u="none" strike="noStrike" cap="none" normalizeH="0" baseline="0">
                          <a:ln>
                            <a:noFill/>
                          </a:ln>
                          <a:solidFill>
                            <a:schemeClr val="tx1"/>
                          </a:solidFill>
                          <a:effectLst/>
                          <a:latin typeface="宋体" pitchFamily="2" charset="-122"/>
                          <a:ea typeface="宋体" pitchFamily="2" charset="-122"/>
                        </a:rPr>
                        <a:t>U1MCR</a:t>
                      </a:r>
                      <a:r>
                        <a:rPr kumimoji="1" lang="zh-CN" altLang="en-US" sz="1400" b="0" i="0" u="none" strike="noStrike" cap="none" normalizeH="0" baseline="0">
                          <a:ln>
                            <a:noFill/>
                          </a:ln>
                          <a:solidFill>
                            <a:schemeClr val="tx1"/>
                          </a:solidFill>
                          <a:effectLst/>
                          <a:latin typeface="宋体" pitchFamily="2" charset="-122"/>
                          <a:ea typeface="宋体" pitchFamily="2" charset="-122"/>
                        </a:rPr>
                        <a:t>的</a:t>
                      </a:r>
                      <a:r>
                        <a:rPr kumimoji="1" lang="en-US" altLang="zh-CN" sz="1400" b="0" i="0" u="none" strike="noStrike" cap="none" normalizeH="0" baseline="0">
                          <a:ln>
                            <a:noFill/>
                          </a:ln>
                          <a:solidFill>
                            <a:schemeClr val="tx1"/>
                          </a:solidFill>
                          <a:effectLst/>
                          <a:latin typeface="宋体" pitchFamily="2" charset="-122"/>
                          <a:ea typeface="宋体" pitchFamily="2" charset="-122"/>
                        </a:rPr>
                        <a:t>bit2</a:t>
                      </a:r>
                      <a:r>
                        <a:rPr kumimoji="1" lang="zh-CN" altLang="en-US" sz="1400" b="0" i="0" u="none" strike="noStrike" cap="none" normalizeH="0" baseline="0">
                          <a:ln>
                            <a:noFill/>
                          </a:ln>
                          <a:solidFill>
                            <a:schemeClr val="tx1"/>
                          </a:solidFill>
                          <a:effectLst/>
                          <a:latin typeface="宋体" pitchFamily="2" charset="-122"/>
                          <a:ea typeface="宋体" pitchFamily="2" charset="-122"/>
                        </a:rPr>
                        <a:t>。</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7"/>
                  </a:ext>
                </a:extLst>
              </a:tr>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7</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rPr>
                        <a:t>DCD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宋体" pitchFamily="2" charset="-122"/>
                          <a:ea typeface="宋体" pitchFamily="2" charset="-122"/>
                        </a:rPr>
                        <a:t>反映输入信号</a:t>
                      </a:r>
                      <a:r>
                        <a:rPr kumimoji="1" lang="en-US" altLang="zh-CN" sz="1400" b="0" i="0" u="none" strike="noStrike" cap="none" normalizeH="0" baseline="0">
                          <a:ln>
                            <a:noFill/>
                          </a:ln>
                          <a:solidFill>
                            <a:schemeClr val="tx1"/>
                          </a:solidFill>
                          <a:effectLst/>
                          <a:latin typeface="宋体" pitchFamily="2" charset="-122"/>
                          <a:ea typeface="宋体" pitchFamily="2" charset="-122"/>
                        </a:rPr>
                        <a:t>DCD</a:t>
                      </a:r>
                      <a:r>
                        <a:rPr kumimoji="1" lang="zh-CN" altLang="en-US" sz="1400" b="0" i="0" u="none" strike="noStrike" cap="none" normalizeH="0" baseline="0">
                          <a:ln>
                            <a:noFill/>
                          </a:ln>
                          <a:solidFill>
                            <a:schemeClr val="tx1"/>
                          </a:solidFill>
                          <a:effectLst/>
                          <a:latin typeface="宋体" pitchFamily="2" charset="-122"/>
                          <a:ea typeface="宋体" pitchFamily="2" charset="-122"/>
                        </a:rPr>
                        <a:t>的补码。回写模式下该位连接</a:t>
                      </a:r>
                      <a:r>
                        <a:rPr kumimoji="1" lang="en-US" altLang="zh-CN" sz="1400" b="0" i="0" u="none" strike="noStrike" cap="none" normalizeH="0" baseline="0">
                          <a:ln>
                            <a:noFill/>
                          </a:ln>
                          <a:solidFill>
                            <a:schemeClr val="tx1"/>
                          </a:solidFill>
                          <a:effectLst/>
                          <a:latin typeface="宋体" pitchFamily="2" charset="-122"/>
                          <a:ea typeface="宋体" pitchFamily="2" charset="-122"/>
                        </a:rPr>
                        <a:t>U1MCR</a:t>
                      </a:r>
                      <a:r>
                        <a:rPr kumimoji="1" lang="zh-CN" altLang="en-US" sz="1400" b="0" i="0" u="none" strike="noStrike" cap="none" normalizeH="0" baseline="0">
                          <a:ln>
                            <a:noFill/>
                          </a:ln>
                          <a:solidFill>
                            <a:schemeClr val="tx1"/>
                          </a:solidFill>
                          <a:effectLst/>
                          <a:latin typeface="宋体" pitchFamily="2" charset="-122"/>
                          <a:ea typeface="宋体" pitchFamily="2" charset="-122"/>
                        </a:rPr>
                        <a:t>的</a:t>
                      </a:r>
                      <a:r>
                        <a:rPr kumimoji="1" lang="en-US" altLang="zh-CN" sz="1400" b="0" i="0" u="none" strike="noStrike" cap="none" normalizeH="0" baseline="0">
                          <a:ln>
                            <a:noFill/>
                          </a:ln>
                          <a:solidFill>
                            <a:schemeClr val="tx1"/>
                          </a:solidFill>
                          <a:effectLst/>
                          <a:latin typeface="宋体" pitchFamily="2" charset="-122"/>
                          <a:ea typeface="宋体" pitchFamily="2" charset="-122"/>
                        </a:rPr>
                        <a:t>bit1</a:t>
                      </a:r>
                      <a:r>
                        <a:rPr kumimoji="1" lang="zh-CN" altLang="en-US" sz="1400" b="0" i="0" u="none" strike="noStrike" cap="none" normalizeH="0" baseline="0">
                          <a:ln>
                            <a:noFill/>
                          </a:ln>
                          <a:solidFill>
                            <a:schemeClr val="tx1"/>
                          </a:solidFill>
                          <a:effectLst/>
                          <a:latin typeface="宋体" pitchFamily="2" charset="-122"/>
                          <a:ea typeface="宋体" pitchFamily="2" charset="-122"/>
                        </a:rPr>
                        <a:t>。</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8"/>
                  </a:ext>
                </a:extLst>
              </a:tr>
            </a:tbl>
          </a:graphicData>
        </a:graphic>
      </p:graphicFrame>
      <p:sp>
        <p:nvSpPr>
          <p:cNvPr id="720940" name="Rectangle 44"/>
          <p:cNvSpPr>
            <a:spLocks noChangeArrowheads="1"/>
          </p:cNvSpPr>
          <p:nvPr/>
        </p:nvSpPr>
        <p:spPr bwMode="auto">
          <a:xfrm>
            <a:off x="2222500" y="1700213"/>
            <a:ext cx="768985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ea typeface="楷体_GB2312" pitchFamily="49" charset="-122"/>
              </a:rPr>
              <a:t>Modem</a:t>
            </a:r>
            <a:r>
              <a:rPr lang="zh-CN" altLang="en-US" sz="3200">
                <a:latin typeface="Times New Roman" pitchFamily="18" charset="0"/>
                <a:ea typeface="楷体_GB2312" pitchFamily="49" charset="-122"/>
              </a:rPr>
              <a:t>状态寄存器</a:t>
            </a:r>
            <a:endParaRPr lang="zh-CN" altLang="en-US" sz="3200">
              <a:solidFill>
                <a:srgbClr val="0000FF"/>
              </a:solidFill>
              <a:latin typeface="Times New Roman" pitchFamily="18" charset="0"/>
              <a:ea typeface="楷体_GB2312" pitchFamily="49" charset="-122"/>
            </a:endParaRPr>
          </a:p>
        </p:txBody>
      </p:sp>
      <p:sp>
        <p:nvSpPr>
          <p:cNvPr id="720941" name="Text Box 45"/>
          <p:cNvSpPr txBox="1">
            <a:spLocks noChangeArrowheads="1"/>
          </p:cNvSpPr>
          <p:nvPr/>
        </p:nvSpPr>
        <p:spPr bwMode="auto">
          <a:xfrm>
            <a:off x="2387600" y="2312989"/>
            <a:ext cx="7416800" cy="1200329"/>
          </a:xfrm>
          <a:prstGeom prst="rect">
            <a:avLst/>
          </a:prstGeom>
          <a:noFill/>
          <a:ln w="9525">
            <a:noFill/>
            <a:miter lim="800000"/>
            <a:headEnd/>
            <a:tailEnd/>
          </a:ln>
          <a:effectLst/>
        </p:spPr>
        <p:txBody>
          <a:bodyPr>
            <a:spAutoFit/>
          </a:bodyPr>
          <a:lstStyle/>
          <a:p>
            <a:pPr algn="l">
              <a:spcBef>
                <a:spcPct val="50000"/>
              </a:spcBef>
            </a:pPr>
            <a:r>
              <a:rPr lang="en-US" altLang="zh-CN" sz="2000">
                <a:solidFill>
                  <a:schemeClr val="tx2"/>
                </a:solidFill>
                <a:latin typeface="Times New Roman" pitchFamily="18" charset="0"/>
                <a:ea typeface="楷体_GB2312" pitchFamily="49" charset="-122"/>
              </a:rPr>
              <a:t>        </a:t>
            </a:r>
            <a:r>
              <a:rPr lang="zh-CN" altLang="en-US" sz="2400">
                <a:solidFill>
                  <a:schemeClr val="tx2"/>
                </a:solidFill>
                <a:latin typeface="华文新魏" pitchFamily="2" charset="-122"/>
                <a:ea typeface="华文新魏" pitchFamily="2" charset="-122"/>
              </a:rPr>
              <a:t>该寄存器为只读，它反映</a:t>
            </a:r>
            <a:r>
              <a:rPr lang="en-US" altLang="zh-CN" sz="2400">
                <a:solidFill>
                  <a:schemeClr val="tx2"/>
                </a:solidFill>
                <a:latin typeface="华文新魏" pitchFamily="2" charset="-122"/>
                <a:ea typeface="华文新魏" pitchFamily="2" charset="-122"/>
              </a:rPr>
              <a:t>Modem</a:t>
            </a:r>
            <a:r>
              <a:rPr lang="zh-CN" altLang="en-US" sz="2400">
                <a:solidFill>
                  <a:schemeClr val="tx2"/>
                </a:solidFill>
                <a:latin typeface="华文新魏" pitchFamily="2" charset="-122"/>
                <a:ea typeface="华文新魏" pitchFamily="2" charset="-122"/>
              </a:rPr>
              <a:t>输入信号的状态信息。需要注意的是，</a:t>
            </a:r>
            <a:r>
              <a:rPr lang="en-US" altLang="zh-CN" sz="2400">
                <a:solidFill>
                  <a:schemeClr val="tx2"/>
                </a:solidFill>
                <a:latin typeface="华文新魏" pitchFamily="2" charset="-122"/>
                <a:ea typeface="华文新魏" pitchFamily="2" charset="-122"/>
              </a:rPr>
              <a:t>Mdoem</a:t>
            </a:r>
            <a:r>
              <a:rPr lang="zh-CN" altLang="en-US" sz="2400">
                <a:solidFill>
                  <a:schemeClr val="tx2"/>
                </a:solidFill>
                <a:latin typeface="华文新魏" pitchFamily="2" charset="-122"/>
                <a:ea typeface="华文新魏" pitchFamily="2" charset="-122"/>
              </a:rPr>
              <a:t>信号对</a:t>
            </a:r>
            <a:r>
              <a:rPr lang="en-US" altLang="zh-CN" sz="2400">
                <a:solidFill>
                  <a:schemeClr val="tx2"/>
                </a:solidFill>
                <a:latin typeface="华文新魏" pitchFamily="2" charset="-122"/>
                <a:ea typeface="华文新魏" pitchFamily="2" charset="-122"/>
              </a:rPr>
              <a:t>UART1</a:t>
            </a:r>
            <a:r>
              <a:rPr lang="zh-CN" altLang="en-US" sz="2400">
                <a:solidFill>
                  <a:schemeClr val="tx2"/>
                </a:solidFill>
                <a:latin typeface="华文新魏" pitchFamily="2" charset="-122"/>
                <a:ea typeface="华文新魏" pitchFamily="2" charset="-122"/>
              </a:rPr>
              <a:t>的操作没有直接影响，</a:t>
            </a:r>
            <a:r>
              <a:rPr lang="en-US" altLang="zh-CN" sz="2400">
                <a:solidFill>
                  <a:schemeClr val="tx2"/>
                </a:solidFill>
                <a:latin typeface="华文新魏" pitchFamily="2" charset="-122"/>
                <a:ea typeface="华文新魏" pitchFamily="2" charset="-122"/>
              </a:rPr>
              <a:t>Modem</a:t>
            </a:r>
            <a:r>
              <a:rPr lang="zh-CN" altLang="en-US" sz="2400">
                <a:solidFill>
                  <a:schemeClr val="tx2"/>
                </a:solidFill>
                <a:latin typeface="华文新魏" pitchFamily="2" charset="-122"/>
                <a:ea typeface="华文新魏" pitchFamily="2" charset="-122"/>
              </a:rPr>
              <a:t>信号的操作是通过软件来实现的。</a:t>
            </a:r>
          </a:p>
        </p:txBody>
      </p:sp>
      <p:sp>
        <p:nvSpPr>
          <p:cNvPr id="720942" name="Rectangle 46"/>
          <p:cNvSpPr>
            <a:spLocks noChangeArrowheads="1"/>
          </p:cNvSpPr>
          <p:nvPr/>
        </p:nvSpPr>
        <p:spPr bwMode="auto">
          <a:xfrm>
            <a:off x="2209800" y="620713"/>
            <a:ext cx="7772400" cy="1143000"/>
          </a:xfrm>
          <a:prstGeom prst="rect">
            <a:avLst/>
          </a:prstGeom>
          <a:noFill/>
          <a:ln w="9525">
            <a:noFill/>
            <a:miter lim="800000"/>
            <a:headEnd/>
            <a:tailEnd/>
          </a:ln>
          <a:effectLst/>
        </p:spPr>
        <p:txBody>
          <a:bodyPr anchor="ctr"/>
          <a:lstStyle/>
          <a:p>
            <a:r>
              <a:rPr lang="en-US" altLang="zh-CN" sz="4400" dirty="0"/>
              <a:t>5.4.1</a:t>
            </a:r>
            <a:r>
              <a:rPr lang="en-US" altLang="zh-CN" sz="4400" dirty="0">
                <a:solidFill>
                  <a:schemeClr val="tx2"/>
                </a:solidFill>
                <a:latin typeface="Times New Roman" pitchFamily="18" charset="0"/>
              </a:rPr>
              <a:t>  UART(0</a:t>
            </a:r>
            <a:r>
              <a:rPr lang="zh-CN" altLang="en-US" sz="4400" dirty="0">
                <a:solidFill>
                  <a:schemeClr val="tx2"/>
                </a:solidFill>
                <a:latin typeface="Times New Roman" pitchFamily="18" charset="0"/>
              </a:rPr>
              <a:t>、</a:t>
            </a:r>
            <a:r>
              <a:rPr lang="en-US" altLang="zh-CN" sz="4400" dirty="0">
                <a:solidFill>
                  <a:schemeClr val="tx2"/>
                </a:solidFill>
                <a:latin typeface="Times New Roman" pitchFamily="18" charset="0"/>
              </a:rPr>
              <a:t>1)</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20940"/>
                                        </p:tgtEl>
                                        <p:attrNameLst>
                                          <p:attrName>style.visibility</p:attrName>
                                        </p:attrNameLst>
                                      </p:cBhvr>
                                      <p:to>
                                        <p:strVal val="visible"/>
                                      </p:to>
                                    </p:set>
                                    <p:anim calcmode="lin" valueType="num">
                                      <p:cBhvr additive="base">
                                        <p:cTn id="7" dur="500" fill="hold"/>
                                        <p:tgtEl>
                                          <p:spTgt spid="720940"/>
                                        </p:tgtEl>
                                        <p:attrNameLst>
                                          <p:attrName>ppt_x</p:attrName>
                                        </p:attrNameLst>
                                      </p:cBhvr>
                                      <p:tavLst>
                                        <p:tav tm="0">
                                          <p:val>
                                            <p:strVal val="#ppt_x"/>
                                          </p:val>
                                        </p:tav>
                                        <p:tav tm="100000">
                                          <p:val>
                                            <p:strVal val="#ppt_x"/>
                                          </p:val>
                                        </p:tav>
                                      </p:tavLst>
                                    </p:anim>
                                    <p:anim calcmode="lin" valueType="num">
                                      <p:cBhvr additive="base">
                                        <p:cTn id="8" dur="500" fill="hold"/>
                                        <p:tgtEl>
                                          <p:spTgt spid="72094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720941"/>
                                        </p:tgtEl>
                                        <p:attrNameLst>
                                          <p:attrName>style.visibility</p:attrName>
                                        </p:attrNameLst>
                                      </p:cBhvr>
                                      <p:to>
                                        <p:strVal val="visible"/>
                                      </p:to>
                                    </p:set>
                                    <p:animEffect transition="in" filter="box(in)">
                                      <p:cBhvr>
                                        <p:cTn id="12" dur="500"/>
                                        <p:tgtEl>
                                          <p:spTgt spid="720941"/>
                                        </p:tgtEl>
                                      </p:cBhvr>
                                    </p:animEffect>
                                  </p:childTnLst>
                                </p:cTn>
                              </p:par>
                            </p:childTnLst>
                          </p:cTn>
                        </p:par>
                        <p:par>
                          <p:cTn id="13" fill="hold">
                            <p:stCondLst>
                              <p:cond delay="1000"/>
                            </p:stCondLst>
                            <p:childTnLst>
                              <p:par>
                                <p:cTn id="14" presetID="12" presetClass="entr" presetSubtype="1" fill="hold" nodeType="afterEffect">
                                  <p:stCondLst>
                                    <p:cond delay="0"/>
                                  </p:stCondLst>
                                  <p:childTnLst>
                                    <p:set>
                                      <p:cBhvr>
                                        <p:cTn id="15" dur="1" fill="hold">
                                          <p:stCondLst>
                                            <p:cond delay="0"/>
                                          </p:stCondLst>
                                        </p:cTn>
                                        <p:tgtEl>
                                          <p:spTgt spid="720898"/>
                                        </p:tgtEl>
                                        <p:attrNameLst>
                                          <p:attrName>style.visibility</p:attrName>
                                        </p:attrNameLst>
                                      </p:cBhvr>
                                      <p:to>
                                        <p:strVal val="visible"/>
                                      </p:to>
                                    </p:set>
                                    <p:animEffect transition="in" filter="slide(fromTop)">
                                      <p:cBhvr>
                                        <p:cTn id="16" dur="500"/>
                                        <p:tgtEl>
                                          <p:spTgt spid="720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0940" grpId="0"/>
      <p:bldP spid="720941"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922" name="Rectangle 2"/>
          <p:cNvSpPr>
            <a:spLocks noGrp="1" noChangeArrowheads="1"/>
          </p:cNvSpPr>
          <p:nvPr>
            <p:ph type="title"/>
          </p:nvPr>
        </p:nvSpPr>
        <p:spPr/>
        <p:txBody>
          <a:bodyPr/>
          <a:lstStyle/>
          <a:p>
            <a:r>
              <a:rPr lang="en-US" altLang="zh-CN" dirty="0"/>
              <a:t>5.4.1  UART(0</a:t>
            </a:r>
            <a:r>
              <a:rPr lang="zh-CN" altLang="en-US" dirty="0"/>
              <a:t>、</a:t>
            </a:r>
            <a:r>
              <a:rPr lang="en-US" altLang="zh-CN" dirty="0"/>
              <a:t>1) </a:t>
            </a:r>
          </a:p>
        </p:txBody>
      </p:sp>
      <p:grpSp>
        <p:nvGrpSpPr>
          <p:cNvPr id="721923" name="Group 3"/>
          <p:cNvGrpSpPr>
            <a:grpSpLocks/>
          </p:cNvGrpSpPr>
          <p:nvPr/>
        </p:nvGrpSpPr>
        <p:grpSpPr bwMode="auto">
          <a:xfrm>
            <a:off x="7680326" y="3913189"/>
            <a:ext cx="1990725" cy="1603375"/>
            <a:chOff x="2484" y="2470"/>
            <a:chExt cx="1254" cy="1010"/>
          </a:xfrm>
        </p:grpSpPr>
        <p:sp>
          <p:nvSpPr>
            <p:cNvPr id="721924" name="Rectangle 4"/>
            <p:cNvSpPr>
              <a:spLocks noChangeArrowheads="1"/>
            </p:cNvSpPr>
            <p:nvPr/>
          </p:nvSpPr>
          <p:spPr bwMode="auto">
            <a:xfrm>
              <a:off x="2484" y="2481"/>
              <a:ext cx="1254" cy="999"/>
            </a:xfrm>
            <a:prstGeom prst="rect">
              <a:avLst/>
            </a:prstGeom>
            <a:solidFill>
              <a:srgbClr val="FFCC99"/>
            </a:solidFill>
            <a:ln w="9525" algn="ctr">
              <a:solidFill>
                <a:schemeClr val="tx1"/>
              </a:solidFill>
              <a:miter lim="800000"/>
              <a:headEnd/>
              <a:tailEnd/>
            </a:ln>
            <a:effectLst/>
          </p:spPr>
          <p:txBody>
            <a:bodyPr wrap="none" anchor="ctr"/>
            <a:lstStyle/>
            <a:p>
              <a:endParaRPr lang="zh-CN" altLang="en-US"/>
            </a:p>
          </p:txBody>
        </p:sp>
        <p:sp>
          <p:nvSpPr>
            <p:cNvPr id="721925" name="Text Box 5"/>
            <p:cNvSpPr txBox="1">
              <a:spLocks noChangeArrowheads="1"/>
            </p:cNvSpPr>
            <p:nvPr/>
          </p:nvSpPr>
          <p:spPr bwMode="auto">
            <a:xfrm>
              <a:off x="2491" y="2470"/>
              <a:ext cx="1235" cy="192"/>
            </a:xfrm>
            <a:prstGeom prst="rect">
              <a:avLst/>
            </a:prstGeom>
            <a:noFill/>
            <a:ln w="9525" algn="ctr">
              <a:noFill/>
              <a:miter lim="800000"/>
              <a:headEnd/>
              <a:tailEnd/>
            </a:ln>
            <a:effectLst/>
          </p:spPr>
          <p:txBody>
            <a:bodyPr>
              <a:spAutoFit/>
            </a:bodyPr>
            <a:lstStyle/>
            <a:p>
              <a:r>
                <a:rPr lang="zh-CN" altLang="en-US" sz="1400">
                  <a:latin typeface="Times New Roman" pitchFamily="18" charset="0"/>
                </a:rPr>
                <a:t>中断</a:t>
              </a:r>
            </a:p>
          </p:txBody>
        </p:sp>
        <p:sp>
          <p:nvSpPr>
            <p:cNvPr id="721926" name="Rectangle 6"/>
            <p:cNvSpPr>
              <a:spLocks noChangeArrowheads="1"/>
            </p:cNvSpPr>
            <p:nvPr/>
          </p:nvSpPr>
          <p:spPr bwMode="auto">
            <a:xfrm>
              <a:off x="2538" y="2673"/>
              <a:ext cx="1141" cy="356"/>
            </a:xfrm>
            <a:prstGeom prst="rect">
              <a:avLst/>
            </a:prstGeom>
            <a:solidFill>
              <a:srgbClr val="FFFFFF"/>
            </a:solidFill>
            <a:ln w="9525" algn="ctr">
              <a:solidFill>
                <a:schemeClr val="tx1"/>
              </a:solidFill>
              <a:miter lim="800000"/>
              <a:headEnd/>
              <a:tailEnd/>
            </a:ln>
            <a:effectLst/>
          </p:spPr>
          <p:txBody>
            <a:bodyPr wrap="none" anchor="ctr"/>
            <a:lstStyle/>
            <a:p>
              <a:r>
                <a:rPr lang="zh-CN" altLang="en-US" sz="1400">
                  <a:latin typeface="Times New Roman" pitchFamily="18" charset="0"/>
                </a:rPr>
                <a:t>中断使能寄存器</a:t>
              </a:r>
            </a:p>
            <a:p>
              <a:r>
                <a:rPr lang="en-US" altLang="zh-CN" sz="1400">
                  <a:latin typeface="Times New Roman" pitchFamily="18" charset="0"/>
                </a:rPr>
                <a:t>UnIER</a:t>
              </a:r>
            </a:p>
          </p:txBody>
        </p:sp>
        <p:sp>
          <p:nvSpPr>
            <p:cNvPr id="721927" name="Rectangle 7"/>
            <p:cNvSpPr>
              <a:spLocks noChangeArrowheads="1"/>
            </p:cNvSpPr>
            <p:nvPr/>
          </p:nvSpPr>
          <p:spPr bwMode="auto">
            <a:xfrm>
              <a:off x="2533" y="3071"/>
              <a:ext cx="1145" cy="356"/>
            </a:xfrm>
            <a:prstGeom prst="rect">
              <a:avLst/>
            </a:prstGeom>
            <a:solidFill>
              <a:srgbClr val="FFFFFF"/>
            </a:solidFill>
            <a:ln w="9525" algn="ctr">
              <a:solidFill>
                <a:schemeClr val="tx1"/>
              </a:solidFill>
              <a:miter lim="800000"/>
              <a:headEnd/>
              <a:tailEnd/>
            </a:ln>
            <a:effectLst/>
          </p:spPr>
          <p:txBody>
            <a:bodyPr wrap="none" lIns="90000" tIns="46800" rIns="90000" bIns="46800" anchor="ctr"/>
            <a:lstStyle/>
            <a:p>
              <a:r>
                <a:rPr lang="zh-CN" altLang="en-US" sz="1400">
                  <a:latin typeface="Times New Roman" pitchFamily="18" charset="0"/>
                </a:rPr>
                <a:t>中断标志寄存器</a:t>
              </a:r>
            </a:p>
            <a:p>
              <a:r>
                <a:rPr lang="en-US" altLang="zh-CN" sz="1400">
                  <a:latin typeface="Times New Roman" pitchFamily="18" charset="0"/>
                </a:rPr>
                <a:t>UnIIR</a:t>
              </a:r>
            </a:p>
          </p:txBody>
        </p:sp>
      </p:grpSp>
      <p:grpSp>
        <p:nvGrpSpPr>
          <p:cNvPr id="721928" name="Group 8"/>
          <p:cNvGrpSpPr>
            <a:grpSpLocks/>
          </p:cNvGrpSpPr>
          <p:nvPr/>
        </p:nvGrpSpPr>
        <p:grpSpPr bwMode="auto">
          <a:xfrm>
            <a:off x="2495550" y="3500438"/>
            <a:ext cx="1982788" cy="2647950"/>
            <a:chOff x="846" y="2192"/>
            <a:chExt cx="1249" cy="1668"/>
          </a:xfrm>
        </p:grpSpPr>
        <p:sp>
          <p:nvSpPr>
            <p:cNvPr id="721929" name="Rectangle 9"/>
            <p:cNvSpPr>
              <a:spLocks noChangeArrowheads="1"/>
            </p:cNvSpPr>
            <p:nvPr/>
          </p:nvSpPr>
          <p:spPr bwMode="auto">
            <a:xfrm>
              <a:off x="846" y="2192"/>
              <a:ext cx="1249" cy="1668"/>
            </a:xfrm>
            <a:prstGeom prst="rect">
              <a:avLst/>
            </a:prstGeom>
            <a:solidFill>
              <a:srgbClr val="FFFFCC"/>
            </a:solidFill>
            <a:ln w="9525" algn="ctr">
              <a:solidFill>
                <a:schemeClr val="tx1"/>
              </a:solidFill>
              <a:miter lim="800000"/>
              <a:headEnd/>
              <a:tailEnd/>
            </a:ln>
            <a:effectLst/>
          </p:spPr>
          <p:txBody>
            <a:bodyPr wrap="none" anchor="ctr"/>
            <a:lstStyle/>
            <a:p>
              <a:endParaRPr lang="zh-CN" altLang="en-US"/>
            </a:p>
          </p:txBody>
        </p:sp>
        <p:sp>
          <p:nvSpPr>
            <p:cNvPr id="721930" name="Text Box 10"/>
            <p:cNvSpPr txBox="1">
              <a:spLocks noChangeArrowheads="1"/>
            </p:cNvSpPr>
            <p:nvPr/>
          </p:nvSpPr>
          <p:spPr bwMode="auto">
            <a:xfrm>
              <a:off x="916" y="2259"/>
              <a:ext cx="1113" cy="250"/>
            </a:xfrm>
            <a:prstGeom prst="rect">
              <a:avLst/>
            </a:prstGeom>
            <a:noFill/>
            <a:ln w="9525" algn="ctr">
              <a:noFill/>
              <a:miter lim="800000"/>
              <a:headEnd/>
              <a:tailEnd/>
            </a:ln>
            <a:effectLst/>
          </p:spPr>
          <p:txBody>
            <a:bodyPr wrap="none">
              <a:spAutoFit/>
            </a:bodyPr>
            <a:lstStyle/>
            <a:p>
              <a:r>
                <a:rPr lang="en-US" altLang="zh-CN" sz="2000">
                  <a:latin typeface="Times New Roman" pitchFamily="18" charset="0"/>
                  <a:ea typeface="楷体_GB2312" pitchFamily="49" charset="-122"/>
                </a:rPr>
                <a:t>UART0</a:t>
              </a:r>
              <a:r>
                <a:rPr lang="zh-CN" altLang="en-US" sz="2000">
                  <a:latin typeface="Times New Roman" pitchFamily="18" charset="0"/>
                  <a:ea typeface="楷体_GB2312" pitchFamily="49" charset="-122"/>
                </a:rPr>
                <a:t>中断源</a:t>
              </a:r>
            </a:p>
          </p:txBody>
        </p:sp>
        <p:sp>
          <p:nvSpPr>
            <p:cNvPr id="721931" name="Rectangle 11"/>
            <p:cNvSpPr>
              <a:spLocks noChangeArrowheads="1"/>
            </p:cNvSpPr>
            <p:nvPr/>
          </p:nvSpPr>
          <p:spPr bwMode="auto">
            <a:xfrm>
              <a:off x="846" y="3077"/>
              <a:ext cx="1249" cy="344"/>
            </a:xfrm>
            <a:prstGeom prst="rect">
              <a:avLst/>
            </a:prstGeom>
            <a:solidFill>
              <a:srgbClr val="99CCFF"/>
            </a:solidFill>
            <a:ln w="9525" algn="ctr">
              <a:solidFill>
                <a:schemeClr val="tx1"/>
              </a:solidFill>
              <a:miter lim="800000"/>
              <a:headEnd/>
              <a:tailEnd/>
            </a:ln>
            <a:effectLst/>
          </p:spPr>
          <p:txBody>
            <a:bodyPr wrap="none" anchor="ctr"/>
            <a:lstStyle/>
            <a:p>
              <a:r>
                <a:rPr lang="en-US" altLang="zh-CN" sz="1600">
                  <a:latin typeface="Times New Roman" pitchFamily="18" charset="0"/>
                  <a:ea typeface="楷体_GB2312" pitchFamily="49" charset="-122"/>
                </a:rPr>
                <a:t>UART0</a:t>
              </a:r>
              <a:r>
                <a:rPr lang="zh-CN" altLang="en-US" sz="1600">
                  <a:latin typeface="Times New Roman" pitchFamily="18" charset="0"/>
                  <a:ea typeface="楷体_GB2312" pitchFamily="49" charset="-122"/>
                </a:rPr>
                <a:t>发送单元</a:t>
              </a:r>
            </a:p>
          </p:txBody>
        </p:sp>
        <p:sp>
          <p:nvSpPr>
            <p:cNvPr id="721932" name="Rectangle 12"/>
            <p:cNvSpPr>
              <a:spLocks noChangeArrowheads="1"/>
            </p:cNvSpPr>
            <p:nvPr/>
          </p:nvSpPr>
          <p:spPr bwMode="auto">
            <a:xfrm>
              <a:off x="846" y="2636"/>
              <a:ext cx="1249" cy="344"/>
            </a:xfrm>
            <a:prstGeom prst="rect">
              <a:avLst/>
            </a:prstGeom>
            <a:solidFill>
              <a:srgbClr val="CCFFFF"/>
            </a:solidFill>
            <a:ln w="9525" algn="ctr">
              <a:solidFill>
                <a:schemeClr val="tx1"/>
              </a:solidFill>
              <a:miter lim="800000"/>
              <a:headEnd/>
              <a:tailEnd/>
            </a:ln>
            <a:effectLst/>
          </p:spPr>
          <p:txBody>
            <a:bodyPr wrap="none" anchor="ctr"/>
            <a:lstStyle/>
            <a:p>
              <a:r>
                <a:rPr lang="en-US" altLang="zh-CN" sz="1600">
                  <a:latin typeface="Times New Roman" pitchFamily="18" charset="0"/>
                  <a:ea typeface="楷体_GB2312" pitchFamily="49" charset="-122"/>
                </a:rPr>
                <a:t>UART0</a:t>
              </a:r>
              <a:r>
                <a:rPr lang="zh-CN" altLang="en-US" sz="1600">
                  <a:latin typeface="Times New Roman" pitchFamily="18" charset="0"/>
                  <a:ea typeface="楷体_GB2312" pitchFamily="49" charset="-122"/>
                </a:rPr>
                <a:t>接收单元</a:t>
              </a:r>
            </a:p>
          </p:txBody>
        </p:sp>
      </p:grpSp>
      <p:grpSp>
        <p:nvGrpSpPr>
          <p:cNvPr id="721933" name="Group 13"/>
          <p:cNvGrpSpPr>
            <a:grpSpLocks/>
          </p:cNvGrpSpPr>
          <p:nvPr/>
        </p:nvGrpSpPr>
        <p:grpSpPr bwMode="auto">
          <a:xfrm>
            <a:off x="5159376" y="3511550"/>
            <a:ext cx="1984375" cy="2654300"/>
            <a:chOff x="2403" y="2201"/>
            <a:chExt cx="1250" cy="1672"/>
          </a:xfrm>
        </p:grpSpPr>
        <p:sp>
          <p:nvSpPr>
            <p:cNvPr id="721934" name="Rectangle 14"/>
            <p:cNvSpPr>
              <a:spLocks noChangeArrowheads="1"/>
            </p:cNvSpPr>
            <p:nvPr/>
          </p:nvSpPr>
          <p:spPr bwMode="auto">
            <a:xfrm>
              <a:off x="2403" y="2201"/>
              <a:ext cx="1249" cy="1668"/>
            </a:xfrm>
            <a:prstGeom prst="rect">
              <a:avLst/>
            </a:prstGeom>
            <a:solidFill>
              <a:srgbClr val="FFFFCC"/>
            </a:solidFill>
            <a:ln w="9525" algn="ctr">
              <a:solidFill>
                <a:schemeClr val="tx1"/>
              </a:solidFill>
              <a:miter lim="800000"/>
              <a:headEnd/>
              <a:tailEnd/>
            </a:ln>
            <a:effectLst/>
          </p:spPr>
          <p:txBody>
            <a:bodyPr wrap="none" anchor="ctr"/>
            <a:lstStyle/>
            <a:p>
              <a:endParaRPr lang="zh-CN" altLang="en-US"/>
            </a:p>
          </p:txBody>
        </p:sp>
        <p:sp>
          <p:nvSpPr>
            <p:cNvPr id="721935" name="Text Box 15"/>
            <p:cNvSpPr txBox="1">
              <a:spLocks noChangeArrowheads="1"/>
            </p:cNvSpPr>
            <p:nvPr/>
          </p:nvSpPr>
          <p:spPr bwMode="auto">
            <a:xfrm>
              <a:off x="2473" y="2268"/>
              <a:ext cx="1113" cy="250"/>
            </a:xfrm>
            <a:prstGeom prst="rect">
              <a:avLst/>
            </a:prstGeom>
            <a:noFill/>
            <a:ln w="9525" algn="ctr">
              <a:noFill/>
              <a:miter lim="800000"/>
              <a:headEnd/>
              <a:tailEnd/>
            </a:ln>
            <a:effectLst/>
          </p:spPr>
          <p:txBody>
            <a:bodyPr wrap="none">
              <a:spAutoFit/>
            </a:bodyPr>
            <a:lstStyle/>
            <a:p>
              <a:r>
                <a:rPr lang="en-US" altLang="zh-CN" sz="2000">
                  <a:latin typeface="Times New Roman" pitchFamily="18" charset="0"/>
                  <a:ea typeface="楷体_GB2312" pitchFamily="49" charset="-122"/>
                </a:rPr>
                <a:t>UART1</a:t>
              </a:r>
              <a:r>
                <a:rPr lang="zh-CN" altLang="en-US" sz="2000">
                  <a:latin typeface="Times New Roman" pitchFamily="18" charset="0"/>
                  <a:ea typeface="楷体_GB2312" pitchFamily="49" charset="-122"/>
                </a:rPr>
                <a:t>中断源</a:t>
              </a:r>
            </a:p>
          </p:txBody>
        </p:sp>
        <p:sp>
          <p:nvSpPr>
            <p:cNvPr id="721936" name="Rectangle 16"/>
            <p:cNvSpPr>
              <a:spLocks noChangeArrowheads="1"/>
            </p:cNvSpPr>
            <p:nvPr/>
          </p:nvSpPr>
          <p:spPr bwMode="auto">
            <a:xfrm>
              <a:off x="2403" y="3072"/>
              <a:ext cx="1249" cy="344"/>
            </a:xfrm>
            <a:prstGeom prst="rect">
              <a:avLst/>
            </a:prstGeom>
            <a:solidFill>
              <a:srgbClr val="99CCFF"/>
            </a:solidFill>
            <a:ln w="9525" algn="ctr">
              <a:solidFill>
                <a:schemeClr val="tx1"/>
              </a:solidFill>
              <a:miter lim="800000"/>
              <a:headEnd/>
              <a:tailEnd/>
            </a:ln>
            <a:effectLst/>
          </p:spPr>
          <p:txBody>
            <a:bodyPr wrap="none" anchor="ctr"/>
            <a:lstStyle/>
            <a:p>
              <a:r>
                <a:rPr lang="en-US" altLang="zh-CN" sz="1600">
                  <a:latin typeface="Times New Roman" pitchFamily="18" charset="0"/>
                  <a:ea typeface="楷体_GB2312" pitchFamily="49" charset="-122"/>
                </a:rPr>
                <a:t>UART1</a:t>
              </a:r>
              <a:r>
                <a:rPr lang="zh-CN" altLang="en-US" sz="1600">
                  <a:latin typeface="Times New Roman" pitchFamily="18" charset="0"/>
                  <a:ea typeface="楷体_GB2312" pitchFamily="49" charset="-122"/>
                </a:rPr>
                <a:t>发送单元</a:t>
              </a:r>
            </a:p>
          </p:txBody>
        </p:sp>
        <p:sp>
          <p:nvSpPr>
            <p:cNvPr id="721937" name="Rectangle 17"/>
            <p:cNvSpPr>
              <a:spLocks noChangeArrowheads="1"/>
            </p:cNvSpPr>
            <p:nvPr/>
          </p:nvSpPr>
          <p:spPr bwMode="auto">
            <a:xfrm>
              <a:off x="2403" y="2630"/>
              <a:ext cx="1249" cy="344"/>
            </a:xfrm>
            <a:prstGeom prst="rect">
              <a:avLst/>
            </a:prstGeom>
            <a:solidFill>
              <a:srgbClr val="CCFFFF"/>
            </a:solidFill>
            <a:ln w="9525" algn="ctr">
              <a:solidFill>
                <a:schemeClr val="tx1"/>
              </a:solidFill>
              <a:miter lim="800000"/>
              <a:headEnd/>
              <a:tailEnd/>
            </a:ln>
            <a:effectLst/>
          </p:spPr>
          <p:txBody>
            <a:bodyPr wrap="none" anchor="ctr"/>
            <a:lstStyle/>
            <a:p>
              <a:r>
                <a:rPr lang="en-US" altLang="zh-CN" sz="1600">
                  <a:latin typeface="Times New Roman" pitchFamily="18" charset="0"/>
                  <a:ea typeface="楷体_GB2312" pitchFamily="49" charset="-122"/>
                </a:rPr>
                <a:t>UART1</a:t>
              </a:r>
              <a:r>
                <a:rPr lang="zh-CN" altLang="en-US" sz="1600">
                  <a:latin typeface="Times New Roman" pitchFamily="18" charset="0"/>
                  <a:ea typeface="楷体_GB2312" pitchFamily="49" charset="-122"/>
                </a:rPr>
                <a:t>接收单元</a:t>
              </a:r>
            </a:p>
          </p:txBody>
        </p:sp>
        <p:sp>
          <p:nvSpPr>
            <p:cNvPr id="721938" name="Rectangle 18"/>
            <p:cNvSpPr>
              <a:spLocks noChangeArrowheads="1"/>
            </p:cNvSpPr>
            <p:nvPr/>
          </p:nvSpPr>
          <p:spPr bwMode="auto">
            <a:xfrm>
              <a:off x="2404" y="3529"/>
              <a:ext cx="1249" cy="344"/>
            </a:xfrm>
            <a:prstGeom prst="rect">
              <a:avLst/>
            </a:prstGeom>
            <a:solidFill>
              <a:srgbClr val="CC99FF"/>
            </a:solidFill>
            <a:ln w="9525" algn="ctr">
              <a:solidFill>
                <a:schemeClr val="tx1"/>
              </a:solidFill>
              <a:miter lim="800000"/>
              <a:headEnd/>
              <a:tailEnd/>
            </a:ln>
            <a:effectLst/>
          </p:spPr>
          <p:txBody>
            <a:bodyPr wrap="none" anchor="ctr"/>
            <a:lstStyle/>
            <a:p>
              <a:r>
                <a:rPr lang="en-US" altLang="zh-CN" sz="1600">
                  <a:latin typeface="Times New Roman" pitchFamily="18" charset="0"/>
                  <a:ea typeface="楷体_GB2312" pitchFamily="49" charset="-122"/>
                </a:rPr>
                <a:t>Modem</a:t>
              </a:r>
              <a:r>
                <a:rPr lang="zh-CN" altLang="en-US" sz="1600">
                  <a:latin typeface="Times New Roman" pitchFamily="18" charset="0"/>
                  <a:ea typeface="楷体_GB2312" pitchFamily="49" charset="-122"/>
                </a:rPr>
                <a:t>模块</a:t>
              </a:r>
            </a:p>
          </p:txBody>
        </p:sp>
      </p:grpSp>
      <p:sp>
        <p:nvSpPr>
          <p:cNvPr id="721939" name="Rectangle 19"/>
          <p:cNvSpPr>
            <a:spLocks noChangeArrowheads="1"/>
          </p:cNvSpPr>
          <p:nvPr/>
        </p:nvSpPr>
        <p:spPr bwMode="auto">
          <a:xfrm>
            <a:off x="2222500" y="1700213"/>
            <a:ext cx="7689850" cy="609600"/>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中断接口 </a:t>
            </a:r>
          </a:p>
        </p:txBody>
      </p:sp>
      <p:sp>
        <p:nvSpPr>
          <p:cNvPr id="721940" name="Text Box 20"/>
          <p:cNvSpPr txBox="1">
            <a:spLocks noChangeArrowheads="1"/>
          </p:cNvSpPr>
          <p:nvPr/>
        </p:nvSpPr>
        <p:spPr bwMode="auto">
          <a:xfrm>
            <a:off x="2387600" y="2420939"/>
            <a:ext cx="7524750" cy="830997"/>
          </a:xfrm>
          <a:prstGeom prst="rect">
            <a:avLst/>
          </a:prstGeom>
          <a:noFill/>
          <a:ln w="9525">
            <a:noFill/>
            <a:miter lim="800000"/>
            <a:headEnd/>
            <a:tailEnd/>
          </a:ln>
          <a:effectLst/>
        </p:spPr>
        <p:txBody>
          <a:bodyPr>
            <a:spAutoFit/>
          </a:bodyPr>
          <a:lstStyle/>
          <a:p>
            <a:pPr algn="l">
              <a:spcBef>
                <a:spcPct val="50000"/>
              </a:spcBef>
            </a:pPr>
            <a:r>
              <a:rPr lang="en-US" altLang="zh-CN" sz="2000">
                <a:solidFill>
                  <a:schemeClr val="tx2"/>
                </a:solidFill>
                <a:latin typeface="Times New Roman" pitchFamily="18" charset="0"/>
                <a:ea typeface="楷体_GB2312" pitchFamily="49" charset="-122"/>
              </a:rPr>
              <a:t>        </a:t>
            </a:r>
            <a:r>
              <a:rPr lang="en-US" altLang="zh-CN" sz="2400">
                <a:solidFill>
                  <a:schemeClr val="tx2"/>
                </a:solidFill>
                <a:latin typeface="华文新魏" pitchFamily="2" charset="-122"/>
                <a:ea typeface="华文新魏" pitchFamily="2" charset="-122"/>
              </a:rPr>
              <a:t>UART0</a:t>
            </a:r>
            <a:r>
              <a:rPr lang="zh-CN" altLang="en-US" sz="2400">
                <a:solidFill>
                  <a:schemeClr val="tx2"/>
                </a:solidFill>
                <a:latin typeface="华文新魏" pitchFamily="2" charset="-122"/>
                <a:ea typeface="华文新魏" pitchFamily="2" charset="-122"/>
              </a:rPr>
              <a:t>和</a:t>
            </a:r>
            <a:r>
              <a:rPr lang="en-US" altLang="zh-CN" sz="2400">
                <a:solidFill>
                  <a:schemeClr val="tx2"/>
                </a:solidFill>
                <a:latin typeface="华文新魏" pitchFamily="2" charset="-122"/>
                <a:ea typeface="华文新魏" pitchFamily="2" charset="-122"/>
              </a:rPr>
              <a:t>UART1</a:t>
            </a:r>
            <a:r>
              <a:rPr lang="zh-CN" altLang="en-US" sz="2400">
                <a:solidFill>
                  <a:schemeClr val="tx2"/>
                </a:solidFill>
                <a:latin typeface="华文新魏" pitchFamily="2" charset="-122"/>
                <a:ea typeface="华文新魏" pitchFamily="2" charset="-122"/>
              </a:rPr>
              <a:t>的中断接口包含中断使能寄存器（</a:t>
            </a:r>
            <a:r>
              <a:rPr lang="en-US" altLang="zh-CN" sz="2400">
                <a:solidFill>
                  <a:schemeClr val="tx2"/>
                </a:solidFill>
                <a:latin typeface="华文新魏" pitchFamily="2" charset="-122"/>
                <a:ea typeface="华文新魏" pitchFamily="2" charset="-122"/>
              </a:rPr>
              <a:t>UnIER</a:t>
            </a:r>
            <a:r>
              <a:rPr lang="zh-CN" altLang="en-US" sz="2400">
                <a:solidFill>
                  <a:schemeClr val="tx2"/>
                </a:solidFill>
                <a:latin typeface="华文新魏" pitchFamily="2" charset="-122"/>
                <a:ea typeface="华文新魏" pitchFamily="2" charset="-122"/>
              </a:rPr>
              <a:t>）和中断标识寄存器（</a:t>
            </a:r>
            <a:r>
              <a:rPr lang="en-US" altLang="zh-CN" sz="2400">
                <a:solidFill>
                  <a:schemeClr val="tx2"/>
                </a:solidFill>
                <a:latin typeface="华文新魏" pitchFamily="2" charset="-122"/>
                <a:ea typeface="华文新魏" pitchFamily="2" charset="-122"/>
              </a:rPr>
              <a:t>UnIIR</a:t>
            </a:r>
            <a:r>
              <a:rPr lang="zh-CN" altLang="en-US" sz="2400">
                <a:solidFill>
                  <a:schemeClr val="tx2"/>
                </a:solidFill>
                <a:latin typeface="华文新魏" pitchFamily="2" charset="-122"/>
                <a:ea typeface="华文新魏"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21939"/>
                                        </p:tgtEl>
                                        <p:attrNameLst>
                                          <p:attrName>style.visibility</p:attrName>
                                        </p:attrNameLst>
                                      </p:cBhvr>
                                      <p:to>
                                        <p:strVal val="visible"/>
                                      </p:to>
                                    </p:set>
                                    <p:anim calcmode="lin" valueType="num">
                                      <p:cBhvr additive="base">
                                        <p:cTn id="7" dur="500" fill="hold"/>
                                        <p:tgtEl>
                                          <p:spTgt spid="721939"/>
                                        </p:tgtEl>
                                        <p:attrNameLst>
                                          <p:attrName>ppt_x</p:attrName>
                                        </p:attrNameLst>
                                      </p:cBhvr>
                                      <p:tavLst>
                                        <p:tav tm="0">
                                          <p:val>
                                            <p:strVal val="1+#ppt_w/2"/>
                                          </p:val>
                                        </p:tav>
                                        <p:tav tm="100000">
                                          <p:val>
                                            <p:strVal val="#ppt_x"/>
                                          </p:val>
                                        </p:tav>
                                      </p:tavLst>
                                    </p:anim>
                                    <p:anim calcmode="lin" valueType="num">
                                      <p:cBhvr additive="base">
                                        <p:cTn id="8" dur="500" fill="hold"/>
                                        <p:tgtEl>
                                          <p:spTgt spid="72193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721940"/>
                                        </p:tgtEl>
                                        <p:attrNameLst>
                                          <p:attrName>style.visibility</p:attrName>
                                        </p:attrNameLst>
                                      </p:cBhvr>
                                      <p:to>
                                        <p:strVal val="visible"/>
                                      </p:to>
                                    </p:set>
                                    <p:animEffect transition="in" filter="box(in)">
                                      <p:cBhvr>
                                        <p:cTn id="12" dur="500"/>
                                        <p:tgtEl>
                                          <p:spTgt spid="721940"/>
                                        </p:tgtEl>
                                      </p:cBhvr>
                                    </p:animEffect>
                                  </p:childTnLst>
                                </p:cTn>
                              </p:par>
                            </p:childTnLst>
                          </p:cTn>
                        </p:par>
                        <p:par>
                          <p:cTn id="13" fill="hold">
                            <p:stCondLst>
                              <p:cond delay="1000"/>
                            </p:stCondLst>
                            <p:childTnLst>
                              <p:par>
                                <p:cTn id="14" presetID="8" presetClass="entr" presetSubtype="16" fill="hold" nodeType="afterEffect">
                                  <p:stCondLst>
                                    <p:cond delay="0"/>
                                  </p:stCondLst>
                                  <p:childTnLst>
                                    <p:set>
                                      <p:cBhvr>
                                        <p:cTn id="15" dur="1" fill="hold">
                                          <p:stCondLst>
                                            <p:cond delay="0"/>
                                          </p:stCondLst>
                                        </p:cTn>
                                        <p:tgtEl>
                                          <p:spTgt spid="721923"/>
                                        </p:tgtEl>
                                        <p:attrNameLst>
                                          <p:attrName>style.visibility</p:attrName>
                                        </p:attrNameLst>
                                      </p:cBhvr>
                                      <p:to>
                                        <p:strVal val="visible"/>
                                      </p:to>
                                    </p:set>
                                    <p:animEffect transition="in" filter="diamond(in)">
                                      <p:cBhvr>
                                        <p:cTn id="16" dur="500"/>
                                        <p:tgtEl>
                                          <p:spTgt spid="721923"/>
                                        </p:tgtEl>
                                      </p:cBhvr>
                                    </p:animEffect>
                                  </p:childTnLst>
                                </p:cTn>
                              </p:par>
                            </p:childTnLst>
                          </p:cTn>
                        </p:par>
                        <p:par>
                          <p:cTn id="17" fill="hold">
                            <p:stCondLst>
                              <p:cond delay="1500"/>
                            </p:stCondLst>
                            <p:childTnLst>
                              <p:par>
                                <p:cTn id="18" presetID="21" presetClass="entr" presetSubtype="8" fill="hold" nodeType="afterEffect">
                                  <p:stCondLst>
                                    <p:cond delay="0"/>
                                  </p:stCondLst>
                                  <p:childTnLst>
                                    <p:set>
                                      <p:cBhvr>
                                        <p:cTn id="19" dur="1" fill="hold">
                                          <p:stCondLst>
                                            <p:cond delay="0"/>
                                          </p:stCondLst>
                                        </p:cTn>
                                        <p:tgtEl>
                                          <p:spTgt spid="721928"/>
                                        </p:tgtEl>
                                        <p:attrNameLst>
                                          <p:attrName>style.visibility</p:attrName>
                                        </p:attrNameLst>
                                      </p:cBhvr>
                                      <p:to>
                                        <p:strVal val="visible"/>
                                      </p:to>
                                    </p:set>
                                    <p:animEffect transition="in" filter="wheel(8)">
                                      <p:cBhvr>
                                        <p:cTn id="20" dur="500"/>
                                        <p:tgtEl>
                                          <p:spTgt spid="721928"/>
                                        </p:tgtEl>
                                      </p:cBhvr>
                                    </p:animEffect>
                                  </p:childTnLst>
                                </p:cTn>
                              </p:par>
                              <p:par>
                                <p:cTn id="21" presetID="21" presetClass="entr" presetSubtype="8" fill="hold" nodeType="withEffect">
                                  <p:stCondLst>
                                    <p:cond delay="0"/>
                                  </p:stCondLst>
                                  <p:childTnLst>
                                    <p:set>
                                      <p:cBhvr>
                                        <p:cTn id="22" dur="1" fill="hold">
                                          <p:stCondLst>
                                            <p:cond delay="0"/>
                                          </p:stCondLst>
                                        </p:cTn>
                                        <p:tgtEl>
                                          <p:spTgt spid="721933"/>
                                        </p:tgtEl>
                                        <p:attrNameLst>
                                          <p:attrName>style.visibility</p:attrName>
                                        </p:attrNameLst>
                                      </p:cBhvr>
                                      <p:to>
                                        <p:strVal val="visible"/>
                                      </p:to>
                                    </p:set>
                                    <p:animEffect transition="in" filter="wheel(8)">
                                      <p:cBhvr>
                                        <p:cTn id="23" dur="500"/>
                                        <p:tgtEl>
                                          <p:spTgt spid="7219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1939" grpId="0"/>
      <p:bldP spid="721940"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2946" name="Rectangle 2"/>
          <p:cNvSpPr>
            <a:spLocks noGrp="1" noChangeArrowheads="1"/>
          </p:cNvSpPr>
          <p:nvPr>
            <p:ph type="title"/>
          </p:nvPr>
        </p:nvSpPr>
        <p:spPr/>
        <p:txBody>
          <a:bodyPr/>
          <a:lstStyle/>
          <a:p>
            <a:r>
              <a:rPr lang="en-US" altLang="zh-CN" dirty="0"/>
              <a:t>5.4.1  UART(0</a:t>
            </a:r>
            <a:r>
              <a:rPr lang="zh-CN" altLang="en-US" dirty="0"/>
              <a:t>、</a:t>
            </a:r>
            <a:r>
              <a:rPr lang="en-US" altLang="zh-CN" dirty="0"/>
              <a:t>1) </a:t>
            </a:r>
          </a:p>
        </p:txBody>
      </p:sp>
      <p:sp>
        <p:nvSpPr>
          <p:cNvPr id="722947" name="Rectangle 3"/>
          <p:cNvSpPr>
            <a:spLocks noChangeArrowheads="1"/>
          </p:cNvSpPr>
          <p:nvPr/>
        </p:nvSpPr>
        <p:spPr bwMode="auto">
          <a:xfrm>
            <a:off x="2222500" y="1739900"/>
            <a:ext cx="7689850" cy="609600"/>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中断使能寄存器</a:t>
            </a:r>
          </a:p>
        </p:txBody>
      </p:sp>
      <p:graphicFrame>
        <p:nvGraphicFramePr>
          <p:cNvPr id="722948" name="Group 4"/>
          <p:cNvGraphicFramePr>
            <a:graphicFrameLocks noGrp="1"/>
          </p:cNvGraphicFramePr>
          <p:nvPr/>
        </p:nvGraphicFramePr>
        <p:xfrm>
          <a:off x="2063750" y="2538414"/>
          <a:ext cx="8064500" cy="2619883"/>
        </p:xfrm>
        <a:graphic>
          <a:graphicData uri="http://schemas.openxmlformats.org/drawingml/2006/table">
            <a:tbl>
              <a:tblPr/>
              <a:tblGrid>
                <a:gridCol w="865188">
                  <a:extLst>
                    <a:ext uri="{9D8B030D-6E8A-4147-A177-3AD203B41FA5}">
                      <a16:colId xmlns:a16="http://schemas.microsoft.com/office/drawing/2014/main" val="20000"/>
                    </a:ext>
                  </a:extLst>
                </a:gridCol>
                <a:gridCol w="6334125">
                  <a:extLst>
                    <a:ext uri="{9D8B030D-6E8A-4147-A177-3AD203B41FA5}">
                      <a16:colId xmlns:a16="http://schemas.microsoft.com/office/drawing/2014/main" val="20001"/>
                    </a:ext>
                  </a:extLst>
                </a:gridCol>
                <a:gridCol w="865187">
                  <a:extLst>
                    <a:ext uri="{9D8B030D-6E8A-4147-A177-3AD203B41FA5}">
                      <a16:colId xmlns:a16="http://schemas.microsoft.com/office/drawing/2014/main" val="20002"/>
                    </a:ext>
                  </a:extLst>
                </a:gridCol>
              </a:tblGrid>
              <a:tr h="201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UnIER</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描述</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复位值</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217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rgbClr val="0000FF"/>
                          </a:solidFill>
                          <a:effectLst/>
                          <a:latin typeface="宋体" pitchFamily="2" charset="-122"/>
                          <a:ea typeface="宋体" pitchFamily="2" charset="-122"/>
                        </a:rPr>
                        <a:t>RBR</a:t>
                      </a:r>
                      <a:r>
                        <a:rPr kumimoji="1" lang="zh-CN" altLang="en-US" sz="1600" b="0" i="0" u="none" strike="noStrike" cap="none" normalizeH="0" baseline="0">
                          <a:ln>
                            <a:noFill/>
                          </a:ln>
                          <a:solidFill>
                            <a:srgbClr val="0000FF"/>
                          </a:solidFill>
                          <a:effectLst/>
                          <a:latin typeface="宋体" pitchFamily="2" charset="-122"/>
                          <a:ea typeface="宋体" pitchFamily="2" charset="-122"/>
                        </a:rPr>
                        <a:t>中断使能</a:t>
                      </a:r>
                      <a:r>
                        <a:rPr kumimoji="1" lang="zh-CN" altLang="en-US" sz="1600" b="0" i="0" u="none" strike="noStrike" cap="none" normalizeH="0" baseline="0">
                          <a:ln>
                            <a:noFill/>
                          </a:ln>
                          <a:solidFill>
                            <a:schemeClr val="tx1"/>
                          </a:solidFill>
                          <a:effectLst/>
                          <a:latin typeface="宋体" pitchFamily="2" charset="-122"/>
                          <a:ea typeface="宋体" pitchFamily="2" charset="-122"/>
                        </a:rPr>
                        <a:t>。</a:t>
                      </a:r>
                      <a:r>
                        <a:rPr kumimoji="1" lang="en-US" altLang="zh-CN" sz="1600" b="0" i="0" u="none" strike="noStrike" cap="none" normalizeH="0" baseline="0">
                          <a:ln>
                            <a:noFill/>
                          </a:ln>
                          <a:solidFill>
                            <a:schemeClr val="tx1"/>
                          </a:solidFill>
                          <a:effectLst/>
                          <a:latin typeface="宋体" pitchFamily="2" charset="-122"/>
                          <a:ea typeface="宋体" pitchFamily="2" charset="-122"/>
                        </a:rPr>
                        <a:t>1</a:t>
                      </a:r>
                      <a:r>
                        <a:rPr kumimoji="1" lang="zh-CN" altLang="en-US" sz="1600" b="0" i="0" u="none" strike="noStrike" cap="none" normalizeH="0" baseline="0">
                          <a:ln>
                            <a:noFill/>
                          </a:ln>
                          <a:solidFill>
                            <a:schemeClr val="tx1"/>
                          </a:solidFill>
                          <a:effectLst/>
                          <a:latin typeface="宋体" pitchFamily="2" charset="-122"/>
                          <a:ea typeface="宋体" pitchFamily="2" charset="-122"/>
                        </a:rPr>
                        <a:t>：使能</a:t>
                      </a:r>
                      <a:r>
                        <a:rPr kumimoji="1" lang="en-US" altLang="zh-CN" sz="1600" b="0" i="0" u="none" strike="noStrike" cap="none" normalizeH="0" baseline="0">
                          <a:ln>
                            <a:noFill/>
                          </a:ln>
                          <a:solidFill>
                            <a:schemeClr val="tx1"/>
                          </a:solidFill>
                          <a:effectLst/>
                          <a:latin typeface="宋体" pitchFamily="2" charset="-122"/>
                          <a:ea typeface="宋体" pitchFamily="2" charset="-122"/>
                        </a:rPr>
                        <a:t>RDA</a:t>
                      </a:r>
                      <a:r>
                        <a:rPr kumimoji="1" lang="zh-CN" altLang="en-US" sz="1600" b="0" i="0" u="none" strike="noStrike" cap="none" normalizeH="0" baseline="0">
                          <a:ln>
                            <a:noFill/>
                          </a:ln>
                          <a:solidFill>
                            <a:schemeClr val="tx1"/>
                          </a:solidFill>
                          <a:effectLst/>
                          <a:latin typeface="宋体" pitchFamily="2" charset="-122"/>
                          <a:ea typeface="宋体" pitchFamily="2" charset="-122"/>
                        </a:rPr>
                        <a:t>中断；</a:t>
                      </a:r>
                      <a:r>
                        <a:rPr kumimoji="1" lang="en-US" altLang="zh-CN" sz="1600" b="0" i="0" u="none" strike="noStrike" cap="none" normalizeH="0" baseline="0">
                          <a:ln>
                            <a:noFill/>
                          </a:ln>
                          <a:solidFill>
                            <a:schemeClr val="tx1"/>
                          </a:solidFill>
                          <a:effectLst/>
                          <a:latin typeface="宋体" pitchFamily="2" charset="-122"/>
                          <a:ea typeface="宋体" pitchFamily="2" charset="-122"/>
                        </a:rPr>
                        <a:t>0</a:t>
                      </a:r>
                      <a:r>
                        <a:rPr kumimoji="1" lang="zh-CN" altLang="en-US" sz="1600" b="0" i="0" u="none" strike="noStrike" cap="none" normalizeH="0" baseline="0">
                          <a:ln>
                            <a:noFill/>
                          </a:ln>
                          <a:solidFill>
                            <a:schemeClr val="tx1"/>
                          </a:solidFill>
                          <a:effectLst/>
                          <a:latin typeface="宋体" pitchFamily="2" charset="-122"/>
                          <a:ea typeface="宋体" pitchFamily="2" charset="-122"/>
                        </a:rPr>
                        <a:t>：禁止</a:t>
                      </a:r>
                      <a:r>
                        <a:rPr kumimoji="1" lang="en-US" altLang="zh-CN" sz="1600" b="0" i="0" u="none" strike="noStrike" cap="none" normalizeH="0" baseline="0">
                          <a:ln>
                            <a:noFill/>
                          </a:ln>
                          <a:solidFill>
                            <a:schemeClr val="tx1"/>
                          </a:solidFill>
                          <a:effectLst/>
                          <a:latin typeface="宋体" pitchFamily="2" charset="-122"/>
                          <a:ea typeface="宋体" pitchFamily="2" charset="-122"/>
                        </a:rPr>
                        <a:t>RDA</a:t>
                      </a:r>
                      <a:r>
                        <a:rPr kumimoji="1" lang="zh-CN" altLang="en-US" sz="1600" b="0" i="0" u="none" strike="noStrike" cap="none" normalizeH="0" baseline="0">
                          <a:ln>
                            <a:noFill/>
                          </a:ln>
                          <a:solidFill>
                            <a:schemeClr val="tx1"/>
                          </a:solidFill>
                          <a:effectLst/>
                          <a:latin typeface="宋体" pitchFamily="2" charset="-122"/>
                          <a:ea typeface="宋体" pitchFamily="2" charset="-122"/>
                        </a:rPr>
                        <a:t>中断。</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2936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rgbClr val="0000FF"/>
                          </a:solidFill>
                          <a:effectLst/>
                          <a:latin typeface="宋体" pitchFamily="2" charset="-122"/>
                          <a:ea typeface="宋体" pitchFamily="2" charset="-122"/>
                        </a:rPr>
                        <a:t>THRE</a:t>
                      </a:r>
                      <a:r>
                        <a:rPr kumimoji="1" lang="zh-CN" altLang="en-US" sz="1600" b="0" i="0" u="none" strike="noStrike" cap="none" normalizeH="0" baseline="0">
                          <a:ln>
                            <a:noFill/>
                          </a:ln>
                          <a:solidFill>
                            <a:srgbClr val="0000FF"/>
                          </a:solidFill>
                          <a:effectLst/>
                          <a:latin typeface="宋体" pitchFamily="2" charset="-122"/>
                          <a:ea typeface="宋体" pitchFamily="2" charset="-122"/>
                        </a:rPr>
                        <a:t>中断使能</a:t>
                      </a:r>
                      <a:r>
                        <a:rPr kumimoji="1" lang="zh-CN" altLang="en-US" sz="1600" b="0" i="0" u="none" strike="noStrike" cap="none" normalizeH="0" baseline="0">
                          <a:ln>
                            <a:noFill/>
                          </a:ln>
                          <a:solidFill>
                            <a:schemeClr val="tx1"/>
                          </a:solidFill>
                          <a:effectLst/>
                          <a:latin typeface="宋体" pitchFamily="2" charset="-122"/>
                          <a:ea typeface="宋体" pitchFamily="2" charset="-122"/>
                        </a:rPr>
                        <a:t>。</a:t>
                      </a:r>
                      <a:r>
                        <a:rPr kumimoji="1" lang="en-US" altLang="zh-CN" sz="1600" b="0" i="0" u="none" strike="noStrike" cap="none" normalizeH="0" baseline="0">
                          <a:ln>
                            <a:noFill/>
                          </a:ln>
                          <a:solidFill>
                            <a:schemeClr val="tx1"/>
                          </a:solidFill>
                          <a:effectLst/>
                          <a:latin typeface="宋体" pitchFamily="2" charset="-122"/>
                          <a:ea typeface="宋体" pitchFamily="2" charset="-122"/>
                        </a:rPr>
                        <a:t>1</a:t>
                      </a:r>
                      <a:r>
                        <a:rPr kumimoji="1" lang="zh-CN" altLang="en-US" sz="1600" b="0" i="0" u="none" strike="noStrike" cap="none" normalizeH="0" baseline="0">
                          <a:ln>
                            <a:noFill/>
                          </a:ln>
                          <a:solidFill>
                            <a:schemeClr val="tx1"/>
                          </a:solidFill>
                          <a:effectLst/>
                          <a:latin typeface="宋体" pitchFamily="2" charset="-122"/>
                          <a:ea typeface="宋体" pitchFamily="2" charset="-122"/>
                        </a:rPr>
                        <a:t>：使能</a:t>
                      </a:r>
                      <a:r>
                        <a:rPr kumimoji="1" lang="en-US" altLang="zh-CN" sz="1600" b="0" i="0" u="none" strike="noStrike" cap="none" normalizeH="0" baseline="0">
                          <a:ln>
                            <a:noFill/>
                          </a:ln>
                          <a:solidFill>
                            <a:schemeClr val="tx1"/>
                          </a:solidFill>
                          <a:effectLst/>
                          <a:latin typeface="宋体" pitchFamily="2" charset="-122"/>
                          <a:ea typeface="宋体" pitchFamily="2" charset="-122"/>
                        </a:rPr>
                        <a:t>THRE</a:t>
                      </a:r>
                      <a:r>
                        <a:rPr kumimoji="1" lang="zh-CN" altLang="en-US" sz="1600" b="0" i="0" u="none" strike="noStrike" cap="none" normalizeH="0" baseline="0">
                          <a:ln>
                            <a:noFill/>
                          </a:ln>
                          <a:solidFill>
                            <a:schemeClr val="tx1"/>
                          </a:solidFill>
                          <a:effectLst/>
                          <a:latin typeface="宋体" pitchFamily="2" charset="-122"/>
                          <a:ea typeface="宋体" pitchFamily="2" charset="-122"/>
                        </a:rPr>
                        <a:t>中断；</a:t>
                      </a:r>
                      <a:r>
                        <a:rPr kumimoji="1" lang="en-US" altLang="zh-CN" sz="1600" b="0" i="0" u="none" strike="noStrike" cap="none" normalizeH="0" baseline="0">
                          <a:ln>
                            <a:noFill/>
                          </a:ln>
                          <a:solidFill>
                            <a:schemeClr val="tx1"/>
                          </a:solidFill>
                          <a:effectLst/>
                          <a:latin typeface="宋体" pitchFamily="2" charset="-122"/>
                          <a:ea typeface="宋体" pitchFamily="2" charset="-122"/>
                        </a:rPr>
                        <a:t>0</a:t>
                      </a:r>
                      <a:r>
                        <a:rPr kumimoji="1" lang="zh-CN" altLang="en-US" sz="1600" b="0" i="0" u="none" strike="noStrike" cap="none" normalizeH="0" baseline="0">
                          <a:ln>
                            <a:noFill/>
                          </a:ln>
                          <a:solidFill>
                            <a:schemeClr val="tx1"/>
                          </a:solidFill>
                          <a:effectLst/>
                          <a:latin typeface="宋体" pitchFamily="2" charset="-122"/>
                          <a:ea typeface="宋体" pitchFamily="2" charset="-122"/>
                        </a:rPr>
                        <a:t>：禁止</a:t>
                      </a:r>
                      <a:r>
                        <a:rPr kumimoji="1" lang="en-US" altLang="zh-CN" sz="1600" b="0" i="0" u="none" strike="noStrike" cap="none" normalizeH="0" baseline="0">
                          <a:ln>
                            <a:noFill/>
                          </a:ln>
                          <a:solidFill>
                            <a:schemeClr val="tx1"/>
                          </a:solidFill>
                          <a:effectLst/>
                          <a:latin typeface="宋体" pitchFamily="2" charset="-122"/>
                          <a:ea typeface="宋体" pitchFamily="2" charset="-122"/>
                        </a:rPr>
                        <a:t>THRE</a:t>
                      </a:r>
                      <a:r>
                        <a:rPr kumimoji="1" lang="zh-CN" altLang="en-US" sz="1600" b="0" i="0" u="none" strike="noStrike" cap="none" normalizeH="0" baseline="0">
                          <a:ln>
                            <a:noFill/>
                          </a:ln>
                          <a:solidFill>
                            <a:schemeClr val="tx1"/>
                          </a:solidFill>
                          <a:effectLst/>
                          <a:latin typeface="宋体" pitchFamily="2" charset="-122"/>
                          <a:ea typeface="宋体" pitchFamily="2" charset="-122"/>
                        </a:rPr>
                        <a:t>中断。</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6508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rgbClr val="0000FF"/>
                          </a:solidFill>
                          <a:effectLst/>
                          <a:latin typeface="宋体" pitchFamily="2" charset="-122"/>
                          <a:ea typeface="宋体" pitchFamily="2" charset="-122"/>
                        </a:rPr>
                        <a:t>Rx</a:t>
                      </a:r>
                      <a:r>
                        <a:rPr kumimoji="1" lang="zh-CN" altLang="en-US" sz="1600" b="0" i="0" u="none" strike="noStrike" cap="none" normalizeH="0" baseline="0">
                          <a:ln>
                            <a:noFill/>
                          </a:ln>
                          <a:solidFill>
                            <a:srgbClr val="0000FF"/>
                          </a:solidFill>
                          <a:effectLst/>
                          <a:latin typeface="宋体" pitchFamily="2" charset="-122"/>
                          <a:ea typeface="宋体" pitchFamily="2" charset="-122"/>
                        </a:rPr>
                        <a:t>线状态中断使能。</a:t>
                      </a:r>
                      <a:r>
                        <a:rPr kumimoji="1" lang="en-US" altLang="zh-CN" sz="1600" b="0" i="0" u="none" strike="noStrike" cap="none" normalizeH="0" baseline="0">
                          <a:ln>
                            <a:noFill/>
                          </a:ln>
                          <a:solidFill>
                            <a:schemeClr val="tx1"/>
                          </a:solidFill>
                          <a:effectLst/>
                          <a:latin typeface="宋体" pitchFamily="2" charset="-122"/>
                          <a:ea typeface="宋体" pitchFamily="2" charset="-122"/>
                        </a:rPr>
                        <a:t>1</a:t>
                      </a:r>
                      <a:r>
                        <a:rPr kumimoji="1" lang="zh-CN" altLang="en-US" sz="1600" b="0" i="0" u="none" strike="noStrike" cap="none" normalizeH="0" baseline="0">
                          <a:ln>
                            <a:noFill/>
                          </a:ln>
                          <a:solidFill>
                            <a:schemeClr val="tx1"/>
                          </a:solidFill>
                          <a:effectLst/>
                          <a:latin typeface="宋体" pitchFamily="2" charset="-122"/>
                          <a:ea typeface="宋体" pitchFamily="2" charset="-122"/>
                        </a:rPr>
                        <a:t>：使能</a:t>
                      </a:r>
                      <a:r>
                        <a:rPr kumimoji="1" lang="en-US" altLang="zh-CN" sz="1600" b="0" i="0" u="none" strike="noStrike" cap="none" normalizeH="0" baseline="0">
                          <a:ln>
                            <a:noFill/>
                          </a:ln>
                          <a:solidFill>
                            <a:schemeClr val="tx1"/>
                          </a:solidFill>
                          <a:effectLst/>
                          <a:latin typeface="宋体" pitchFamily="2" charset="-122"/>
                          <a:ea typeface="宋体" pitchFamily="2" charset="-122"/>
                        </a:rPr>
                        <a:t>Rx</a:t>
                      </a:r>
                      <a:r>
                        <a:rPr kumimoji="1" lang="zh-CN" altLang="en-US" sz="1600" b="0" i="0" u="none" strike="noStrike" cap="none" normalizeH="0" baseline="0">
                          <a:ln>
                            <a:noFill/>
                          </a:ln>
                          <a:solidFill>
                            <a:schemeClr val="tx1"/>
                          </a:solidFill>
                          <a:effectLst/>
                          <a:latin typeface="宋体" pitchFamily="2" charset="-122"/>
                          <a:ea typeface="宋体" pitchFamily="2" charset="-122"/>
                        </a:rPr>
                        <a:t>线状态中断；</a:t>
                      </a:r>
                      <a:r>
                        <a:rPr kumimoji="1" lang="en-US" altLang="zh-CN" sz="1600" b="0" i="0" u="none" strike="noStrike" cap="none" normalizeH="0" baseline="0">
                          <a:ln>
                            <a:noFill/>
                          </a:ln>
                          <a:solidFill>
                            <a:schemeClr val="tx1"/>
                          </a:solidFill>
                          <a:effectLst/>
                          <a:latin typeface="宋体" pitchFamily="2" charset="-122"/>
                          <a:ea typeface="宋体" pitchFamily="2" charset="-122"/>
                        </a:rPr>
                        <a:t>0</a:t>
                      </a:r>
                      <a:r>
                        <a:rPr kumimoji="1" lang="zh-CN" altLang="en-US" sz="1600" b="0" i="0" u="none" strike="noStrike" cap="none" normalizeH="0" baseline="0">
                          <a:ln>
                            <a:noFill/>
                          </a:ln>
                          <a:solidFill>
                            <a:schemeClr val="tx1"/>
                          </a:solidFill>
                          <a:effectLst/>
                          <a:latin typeface="宋体" pitchFamily="2" charset="-122"/>
                          <a:ea typeface="宋体" pitchFamily="2" charset="-122"/>
                        </a:rPr>
                        <a:t>：禁止</a:t>
                      </a:r>
                      <a:r>
                        <a:rPr kumimoji="1" lang="en-US" altLang="zh-CN" sz="1600" b="0" i="0" u="none" strike="noStrike" cap="none" normalizeH="0" baseline="0">
                          <a:ln>
                            <a:noFill/>
                          </a:ln>
                          <a:solidFill>
                            <a:schemeClr val="tx1"/>
                          </a:solidFill>
                          <a:effectLst/>
                          <a:latin typeface="宋体" pitchFamily="2" charset="-122"/>
                          <a:ea typeface="宋体" pitchFamily="2" charset="-122"/>
                        </a:rPr>
                        <a:t>Rx</a:t>
                      </a:r>
                      <a:r>
                        <a:rPr kumimoji="1" lang="zh-CN" altLang="en-US" sz="1600" b="0" i="0" u="none" strike="noStrike" cap="none" normalizeH="0" baseline="0">
                          <a:ln>
                            <a:noFill/>
                          </a:ln>
                          <a:solidFill>
                            <a:schemeClr val="tx1"/>
                          </a:solidFill>
                          <a:effectLst/>
                          <a:latin typeface="宋体" pitchFamily="2" charset="-122"/>
                          <a:ea typeface="宋体" pitchFamily="2" charset="-122"/>
                        </a:rPr>
                        <a:t>线状态中断；</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该中断状态可从</a:t>
                      </a:r>
                      <a:r>
                        <a:rPr kumimoji="1" lang="en-US" altLang="zh-CN" sz="1600" b="0" i="0" u="none" strike="noStrike" cap="none" normalizeH="0" baseline="0">
                          <a:ln>
                            <a:noFill/>
                          </a:ln>
                          <a:solidFill>
                            <a:schemeClr val="tx1"/>
                          </a:solidFill>
                          <a:effectLst/>
                          <a:latin typeface="宋体" pitchFamily="2" charset="-122"/>
                          <a:ea typeface="宋体" pitchFamily="2" charset="-122"/>
                        </a:rPr>
                        <a:t>UnLSR[4:1]</a:t>
                      </a:r>
                      <a:r>
                        <a:rPr kumimoji="1" lang="zh-CN" altLang="en-US" sz="1600" b="0" i="0" u="none" strike="noStrike" cap="none" normalizeH="0" baseline="0">
                          <a:ln>
                            <a:noFill/>
                          </a:ln>
                          <a:solidFill>
                            <a:schemeClr val="tx1"/>
                          </a:solidFill>
                          <a:effectLst/>
                          <a:latin typeface="宋体" pitchFamily="2" charset="-122"/>
                          <a:ea typeface="宋体" pitchFamily="2" charset="-122"/>
                        </a:rPr>
                        <a:t>读出。</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3254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rgbClr val="0000FF"/>
                          </a:solidFill>
                          <a:effectLst/>
                          <a:latin typeface="宋体" pitchFamily="2" charset="-122"/>
                          <a:ea typeface="宋体" pitchFamily="2" charset="-122"/>
                        </a:rPr>
                        <a:t>Modem</a:t>
                      </a:r>
                      <a:r>
                        <a:rPr kumimoji="1" lang="zh-CN" altLang="en-US" sz="1600" b="0" i="0" u="none" strike="noStrike" cap="none" normalizeH="0" baseline="0">
                          <a:ln>
                            <a:noFill/>
                          </a:ln>
                          <a:solidFill>
                            <a:srgbClr val="0000FF"/>
                          </a:solidFill>
                          <a:effectLst/>
                          <a:latin typeface="宋体" pitchFamily="2" charset="-122"/>
                          <a:ea typeface="宋体" pitchFamily="2" charset="-122"/>
                        </a:rPr>
                        <a:t>中断使能。</a:t>
                      </a:r>
                      <a:r>
                        <a:rPr kumimoji="1" lang="zh-CN" altLang="en-US" sz="1600" b="0" i="0" u="none" strike="noStrike" cap="none" normalizeH="0" baseline="0">
                          <a:ln>
                            <a:noFill/>
                          </a:ln>
                          <a:solidFill>
                            <a:schemeClr val="tx1"/>
                          </a:solidFill>
                          <a:effectLst/>
                          <a:latin typeface="宋体" pitchFamily="2" charset="-122"/>
                          <a:ea typeface="宋体" pitchFamily="2" charset="-122"/>
                        </a:rPr>
                        <a:t> </a:t>
                      </a:r>
                      <a:r>
                        <a:rPr kumimoji="1" lang="en-US" altLang="zh-CN" sz="1600" b="0" i="0" u="none" strike="noStrike" cap="none" normalizeH="0" baseline="0">
                          <a:ln>
                            <a:noFill/>
                          </a:ln>
                          <a:solidFill>
                            <a:schemeClr val="tx1"/>
                          </a:solidFill>
                          <a:effectLst/>
                          <a:latin typeface="宋体" pitchFamily="2" charset="-122"/>
                          <a:ea typeface="宋体" pitchFamily="2" charset="-122"/>
                        </a:rPr>
                        <a:t>1</a:t>
                      </a:r>
                      <a:r>
                        <a:rPr kumimoji="1" lang="zh-CN" altLang="en-US" sz="1600" b="0" i="0" u="none" strike="noStrike" cap="none" normalizeH="0" baseline="0">
                          <a:ln>
                            <a:noFill/>
                          </a:ln>
                          <a:solidFill>
                            <a:schemeClr val="tx1"/>
                          </a:solidFill>
                          <a:effectLst/>
                          <a:latin typeface="宋体" pitchFamily="2" charset="-122"/>
                          <a:ea typeface="宋体" pitchFamily="2" charset="-122"/>
                        </a:rPr>
                        <a:t>：禁止</a:t>
                      </a:r>
                      <a:r>
                        <a:rPr kumimoji="1" lang="en-US" altLang="zh-CN" sz="1600" b="0" i="0" u="none" strike="noStrike" cap="none" normalizeH="0" baseline="0">
                          <a:ln>
                            <a:noFill/>
                          </a:ln>
                          <a:solidFill>
                            <a:schemeClr val="tx1"/>
                          </a:solidFill>
                          <a:effectLst/>
                          <a:latin typeface="宋体" pitchFamily="2" charset="-122"/>
                          <a:ea typeface="宋体" pitchFamily="2" charset="-122"/>
                        </a:rPr>
                        <a:t>Modem</a:t>
                      </a:r>
                      <a:r>
                        <a:rPr kumimoji="1" lang="zh-CN" altLang="en-US" sz="1600" b="0" i="0" u="none" strike="noStrike" cap="none" normalizeH="0" baseline="0">
                          <a:ln>
                            <a:noFill/>
                          </a:ln>
                          <a:solidFill>
                            <a:schemeClr val="tx1"/>
                          </a:solidFill>
                          <a:effectLst/>
                          <a:latin typeface="宋体" pitchFamily="2" charset="-122"/>
                          <a:ea typeface="宋体" pitchFamily="2" charset="-122"/>
                        </a:rPr>
                        <a:t>中断；</a:t>
                      </a:r>
                      <a:r>
                        <a:rPr kumimoji="1" lang="en-US" altLang="zh-CN" sz="1600" b="0" i="0" u="none" strike="noStrike" cap="none" normalizeH="0" baseline="0">
                          <a:ln>
                            <a:noFill/>
                          </a:ln>
                          <a:solidFill>
                            <a:schemeClr val="tx1"/>
                          </a:solidFill>
                          <a:effectLst/>
                          <a:latin typeface="宋体" pitchFamily="2" charset="-122"/>
                          <a:ea typeface="宋体" pitchFamily="2" charset="-122"/>
                        </a:rPr>
                        <a:t>0</a:t>
                      </a:r>
                      <a:r>
                        <a:rPr kumimoji="1" lang="zh-CN" altLang="en-US" sz="1600" b="0" i="0" u="none" strike="noStrike" cap="none" normalizeH="0" baseline="0">
                          <a:ln>
                            <a:noFill/>
                          </a:ln>
                          <a:solidFill>
                            <a:schemeClr val="tx1"/>
                          </a:solidFill>
                          <a:effectLst/>
                          <a:latin typeface="宋体" pitchFamily="2" charset="-122"/>
                          <a:ea typeface="宋体" pitchFamily="2" charset="-122"/>
                        </a:rPr>
                        <a:t>：禁止</a:t>
                      </a:r>
                      <a:r>
                        <a:rPr kumimoji="1" lang="en-US" altLang="zh-CN" sz="1600" b="0" i="0" u="none" strike="noStrike" cap="none" normalizeH="0" baseline="0">
                          <a:ln>
                            <a:noFill/>
                          </a:ln>
                          <a:solidFill>
                            <a:schemeClr val="tx1"/>
                          </a:solidFill>
                          <a:effectLst/>
                          <a:latin typeface="宋体" pitchFamily="2" charset="-122"/>
                          <a:ea typeface="宋体" pitchFamily="2" charset="-122"/>
                        </a:rPr>
                        <a:t>Rx</a:t>
                      </a:r>
                      <a:r>
                        <a:rPr kumimoji="1" lang="zh-CN" altLang="en-US" sz="1600" b="0" i="0" u="none" strike="noStrike" cap="none" normalizeH="0" baseline="0">
                          <a:ln>
                            <a:noFill/>
                          </a:ln>
                          <a:solidFill>
                            <a:schemeClr val="tx1"/>
                          </a:solidFill>
                          <a:effectLst/>
                          <a:latin typeface="宋体" pitchFamily="2" charset="-122"/>
                          <a:ea typeface="宋体" pitchFamily="2" charset="-122"/>
                        </a:rPr>
                        <a:t>线状态中断；</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该中断状态可从</a:t>
                      </a:r>
                      <a:r>
                        <a:rPr kumimoji="1" lang="en-US" altLang="zh-CN" sz="1600" b="0" i="0" u="none" strike="noStrike" cap="none" normalizeH="0" baseline="0">
                          <a:ln>
                            <a:noFill/>
                          </a:ln>
                          <a:solidFill>
                            <a:schemeClr val="tx1"/>
                          </a:solidFill>
                          <a:effectLst/>
                          <a:latin typeface="宋体" pitchFamily="2" charset="-122"/>
                          <a:ea typeface="宋体" pitchFamily="2" charset="-122"/>
                        </a:rPr>
                        <a:t>U1MSR[3:0]</a:t>
                      </a:r>
                      <a:r>
                        <a:rPr kumimoji="1" lang="zh-CN" altLang="en-US" sz="1600" b="0" i="0" u="none" strike="noStrike" cap="none" normalizeH="0" baseline="0">
                          <a:ln>
                            <a:noFill/>
                          </a:ln>
                          <a:solidFill>
                            <a:schemeClr val="tx1"/>
                          </a:solidFill>
                          <a:effectLst/>
                          <a:latin typeface="宋体" pitchFamily="2" charset="-122"/>
                          <a:ea typeface="宋体" pitchFamily="2" charset="-122"/>
                        </a:rPr>
                        <a:t>读取。</a:t>
                      </a:r>
                      <a:r>
                        <a:rPr kumimoji="1" lang="zh-CN" altLang="en-US" sz="1600" b="0" i="0" u="none" strike="noStrike" cap="none" normalizeH="0" baseline="0">
                          <a:ln>
                            <a:noFill/>
                          </a:ln>
                          <a:solidFill>
                            <a:srgbClr val="FF0000"/>
                          </a:solidFill>
                          <a:effectLst/>
                          <a:latin typeface="宋体" pitchFamily="2" charset="-122"/>
                          <a:ea typeface="宋体" pitchFamily="2" charset="-122"/>
                        </a:rPr>
                        <a:t>注：只有</a:t>
                      </a:r>
                      <a:r>
                        <a:rPr kumimoji="1" lang="en-US" altLang="zh-CN" sz="1600" b="0" i="0" u="none" strike="noStrike" cap="none" normalizeH="0" baseline="0">
                          <a:ln>
                            <a:noFill/>
                          </a:ln>
                          <a:solidFill>
                            <a:srgbClr val="FF0000"/>
                          </a:solidFill>
                          <a:effectLst/>
                          <a:latin typeface="宋体" pitchFamily="2" charset="-122"/>
                          <a:ea typeface="宋体" pitchFamily="2" charset="-122"/>
                        </a:rPr>
                        <a:t>UART1</a:t>
                      </a:r>
                      <a:r>
                        <a:rPr kumimoji="1" lang="zh-CN" altLang="en-US" sz="1600" b="0" i="0" u="none" strike="noStrike" cap="none" normalizeH="0" baseline="0">
                          <a:ln>
                            <a:noFill/>
                          </a:ln>
                          <a:solidFill>
                            <a:srgbClr val="FF0000"/>
                          </a:solidFill>
                          <a:effectLst/>
                          <a:latin typeface="宋体" pitchFamily="2" charset="-122"/>
                          <a:ea typeface="宋体" pitchFamily="2" charset="-122"/>
                        </a:rPr>
                        <a:t>具有。</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217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7 : 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保留，用户软件不要向这些位写入</a:t>
                      </a:r>
                      <a:r>
                        <a:rPr kumimoji="1" lang="en-US" altLang="zh-CN" sz="1600" b="0" i="0" u="none" strike="noStrike" cap="none" normalizeH="0" baseline="0">
                          <a:ln>
                            <a:noFill/>
                          </a:ln>
                          <a:solidFill>
                            <a:schemeClr val="tx1"/>
                          </a:solidFill>
                          <a:effectLst/>
                          <a:latin typeface="宋体" pitchFamily="2" charset="-122"/>
                          <a:ea typeface="宋体" pitchFamily="2" charset="-122"/>
                        </a:rPr>
                        <a:t>1</a:t>
                      </a:r>
                      <a:r>
                        <a:rPr kumimoji="1" lang="zh-CN" altLang="en-US" sz="1600" b="0" i="0" u="none" strike="noStrike" cap="none" normalizeH="0" baseline="0">
                          <a:ln>
                            <a:noFill/>
                          </a:ln>
                          <a:solidFill>
                            <a:schemeClr val="tx1"/>
                          </a:solidFill>
                          <a:effectLst/>
                          <a:latin typeface="宋体" pitchFamily="2" charset="-122"/>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未定义</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bl>
          </a:graphicData>
        </a:graphic>
      </p:graphicFrame>
      <p:sp>
        <p:nvSpPr>
          <p:cNvPr id="722998" name="Text Box 54"/>
          <p:cNvSpPr txBox="1">
            <a:spLocks noChangeArrowheads="1"/>
          </p:cNvSpPr>
          <p:nvPr/>
        </p:nvSpPr>
        <p:spPr bwMode="auto">
          <a:xfrm>
            <a:off x="2279650" y="5300664"/>
            <a:ext cx="7704138" cy="915987"/>
          </a:xfrm>
          <a:prstGeom prst="rect">
            <a:avLst/>
          </a:prstGeom>
          <a:solidFill>
            <a:srgbClr val="DDDDDD">
              <a:alpha val="30000"/>
            </a:srgbClr>
          </a:solidFill>
          <a:ln w="9525">
            <a:noFill/>
            <a:miter lim="800000"/>
            <a:headEnd/>
            <a:tailEnd/>
          </a:ln>
          <a:effectLst/>
        </p:spPr>
        <p:txBody>
          <a:bodyPr>
            <a:spAutoFit/>
          </a:bodyPr>
          <a:lstStyle/>
          <a:p>
            <a:pPr algn="l">
              <a:spcBef>
                <a:spcPct val="50000"/>
              </a:spcBef>
            </a:pPr>
            <a:r>
              <a:rPr lang="en-US" altLang="zh-CN">
                <a:latin typeface="宋体" pitchFamily="2" charset="-122"/>
              </a:rPr>
              <a:t>    UnIER</a:t>
            </a:r>
            <a:r>
              <a:rPr lang="zh-CN" altLang="en-US">
                <a:latin typeface="宋体" pitchFamily="2" charset="-122"/>
              </a:rPr>
              <a:t>可以控制</a:t>
            </a:r>
            <a:r>
              <a:rPr lang="en-US" altLang="zh-CN">
                <a:latin typeface="宋体" pitchFamily="2" charset="-122"/>
              </a:rPr>
              <a:t>UARTn</a:t>
            </a:r>
            <a:r>
              <a:rPr lang="zh-CN" altLang="en-US">
                <a:latin typeface="宋体" pitchFamily="2" charset="-122"/>
              </a:rPr>
              <a:t>的</a:t>
            </a:r>
            <a:r>
              <a:rPr lang="en-US" altLang="zh-CN">
                <a:latin typeface="宋体" pitchFamily="2" charset="-122"/>
              </a:rPr>
              <a:t>4</a:t>
            </a:r>
            <a:r>
              <a:rPr lang="zh-CN" altLang="en-US">
                <a:latin typeface="宋体" pitchFamily="2" charset="-122"/>
              </a:rPr>
              <a:t>个中断源。其中</a:t>
            </a:r>
            <a:r>
              <a:rPr lang="en-US" altLang="zh-CN">
                <a:latin typeface="宋体" pitchFamily="2" charset="-122"/>
              </a:rPr>
              <a:t>RBR</a:t>
            </a:r>
            <a:r>
              <a:rPr lang="zh-CN" altLang="en-US">
                <a:latin typeface="宋体" pitchFamily="2" charset="-122"/>
              </a:rPr>
              <a:t>中断使能包括两个中断，一个是接收数据可用（</a:t>
            </a:r>
            <a:r>
              <a:rPr lang="en-US" altLang="zh-CN">
                <a:latin typeface="宋体" pitchFamily="2" charset="-122"/>
              </a:rPr>
              <a:t>RDA</a:t>
            </a:r>
            <a:r>
              <a:rPr lang="zh-CN" altLang="en-US">
                <a:latin typeface="宋体" pitchFamily="2" charset="-122"/>
              </a:rPr>
              <a:t>）中断，一个是接收超时中断（</a:t>
            </a:r>
            <a:r>
              <a:rPr lang="en-US" altLang="zh-CN">
                <a:latin typeface="宋体" pitchFamily="2" charset="-122"/>
              </a:rPr>
              <a:t>CTI</a:t>
            </a:r>
            <a:r>
              <a:rPr lang="zh-CN" altLang="en-US">
                <a:latin typeface="宋体" pitchFamily="2" charset="-122"/>
              </a:rPr>
              <a:t>）。稍后将对各中断源作详细介绍。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22947"/>
                                        </p:tgtEl>
                                        <p:attrNameLst>
                                          <p:attrName>style.visibility</p:attrName>
                                        </p:attrNameLst>
                                      </p:cBhvr>
                                      <p:to>
                                        <p:strVal val="visible"/>
                                      </p:to>
                                    </p:set>
                                    <p:anim calcmode="lin" valueType="num">
                                      <p:cBhvr additive="base">
                                        <p:cTn id="7" dur="500" fill="hold"/>
                                        <p:tgtEl>
                                          <p:spTgt spid="722947"/>
                                        </p:tgtEl>
                                        <p:attrNameLst>
                                          <p:attrName>ppt_x</p:attrName>
                                        </p:attrNameLst>
                                      </p:cBhvr>
                                      <p:tavLst>
                                        <p:tav tm="0">
                                          <p:val>
                                            <p:strVal val="1+#ppt_w/2"/>
                                          </p:val>
                                        </p:tav>
                                        <p:tav tm="100000">
                                          <p:val>
                                            <p:strVal val="#ppt_x"/>
                                          </p:val>
                                        </p:tav>
                                      </p:tavLst>
                                    </p:anim>
                                    <p:anim calcmode="lin" valueType="num">
                                      <p:cBhvr additive="base">
                                        <p:cTn id="8" dur="500" fill="hold"/>
                                        <p:tgtEl>
                                          <p:spTgt spid="72294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722948"/>
                                        </p:tgtEl>
                                        <p:attrNameLst>
                                          <p:attrName>style.visibility</p:attrName>
                                        </p:attrNameLst>
                                      </p:cBhvr>
                                      <p:to>
                                        <p:strVal val="visible"/>
                                      </p:to>
                                    </p:set>
                                    <p:animEffect transition="in" filter="slide(fromTop)">
                                      <p:cBhvr>
                                        <p:cTn id="12" dur="500"/>
                                        <p:tgtEl>
                                          <p:spTgt spid="722948"/>
                                        </p:tgtEl>
                                      </p:cBhvr>
                                    </p:animEffect>
                                  </p:childTnLst>
                                </p:cTn>
                              </p:par>
                            </p:childTnLst>
                          </p:cTn>
                        </p:par>
                        <p:par>
                          <p:cTn id="13" fill="hold">
                            <p:stCondLst>
                              <p:cond delay="1000"/>
                            </p:stCondLst>
                            <p:childTnLst>
                              <p:par>
                                <p:cTn id="14" presetID="12" presetClass="entr" presetSubtype="4" fill="hold" nodeType="afterEffect">
                                  <p:stCondLst>
                                    <p:cond delay="0"/>
                                  </p:stCondLst>
                                  <p:childTnLst>
                                    <p:set>
                                      <p:cBhvr>
                                        <p:cTn id="15" dur="1" fill="hold">
                                          <p:stCondLst>
                                            <p:cond delay="0"/>
                                          </p:stCondLst>
                                        </p:cTn>
                                        <p:tgtEl>
                                          <p:spTgt spid="722998"/>
                                        </p:tgtEl>
                                        <p:attrNameLst>
                                          <p:attrName>style.visibility</p:attrName>
                                        </p:attrNameLst>
                                      </p:cBhvr>
                                      <p:to>
                                        <p:strVal val="visible"/>
                                      </p:to>
                                    </p:set>
                                    <p:animEffect transition="in" filter="slide(fromBottom)">
                                      <p:cBhvr>
                                        <p:cTn id="16" dur="500"/>
                                        <p:tgtEl>
                                          <p:spTgt spid="722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2947"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970" name="Rectangle 2"/>
          <p:cNvSpPr>
            <a:spLocks noGrp="1" noChangeArrowheads="1"/>
          </p:cNvSpPr>
          <p:nvPr>
            <p:ph type="title"/>
          </p:nvPr>
        </p:nvSpPr>
        <p:spPr/>
        <p:txBody>
          <a:bodyPr/>
          <a:lstStyle/>
          <a:p>
            <a:r>
              <a:rPr lang="en-US" altLang="zh-CN" dirty="0"/>
              <a:t>5.4.1 UART(0</a:t>
            </a:r>
            <a:r>
              <a:rPr lang="zh-CN" altLang="en-US" dirty="0"/>
              <a:t>、</a:t>
            </a:r>
            <a:r>
              <a:rPr lang="en-US" altLang="zh-CN" dirty="0"/>
              <a:t>1) </a:t>
            </a:r>
          </a:p>
        </p:txBody>
      </p:sp>
      <p:sp>
        <p:nvSpPr>
          <p:cNvPr id="723971" name="Rectangle 3"/>
          <p:cNvSpPr>
            <a:spLocks noChangeArrowheads="1"/>
          </p:cNvSpPr>
          <p:nvPr/>
        </p:nvSpPr>
        <p:spPr bwMode="auto">
          <a:xfrm>
            <a:off x="2222500" y="1739900"/>
            <a:ext cx="7689850" cy="609600"/>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中断标识寄存器</a:t>
            </a:r>
          </a:p>
        </p:txBody>
      </p:sp>
      <p:graphicFrame>
        <p:nvGraphicFramePr>
          <p:cNvPr id="723972" name="Group 4"/>
          <p:cNvGraphicFramePr>
            <a:graphicFrameLocks noGrp="1"/>
          </p:cNvGraphicFramePr>
          <p:nvPr/>
        </p:nvGraphicFramePr>
        <p:xfrm>
          <a:off x="1992314" y="2444750"/>
          <a:ext cx="8207375" cy="2974848"/>
        </p:xfrm>
        <a:graphic>
          <a:graphicData uri="http://schemas.openxmlformats.org/drawingml/2006/table">
            <a:tbl>
              <a:tblPr/>
              <a:tblGrid>
                <a:gridCol w="865187">
                  <a:extLst>
                    <a:ext uri="{9D8B030D-6E8A-4147-A177-3AD203B41FA5}">
                      <a16:colId xmlns:a16="http://schemas.microsoft.com/office/drawing/2014/main" val="20000"/>
                    </a:ext>
                  </a:extLst>
                </a:gridCol>
                <a:gridCol w="2878138">
                  <a:extLst>
                    <a:ext uri="{9D8B030D-6E8A-4147-A177-3AD203B41FA5}">
                      <a16:colId xmlns:a16="http://schemas.microsoft.com/office/drawing/2014/main" val="20001"/>
                    </a:ext>
                  </a:extLst>
                </a:gridCol>
                <a:gridCol w="3602037">
                  <a:extLst>
                    <a:ext uri="{9D8B030D-6E8A-4147-A177-3AD203B41FA5}">
                      <a16:colId xmlns:a16="http://schemas.microsoft.com/office/drawing/2014/main" val="20002"/>
                    </a:ext>
                  </a:extLst>
                </a:gridCol>
                <a:gridCol w="862013">
                  <a:extLst>
                    <a:ext uri="{9D8B030D-6E8A-4147-A177-3AD203B41FA5}">
                      <a16:colId xmlns:a16="http://schemas.microsoft.com/office/drawing/2014/main" val="20003"/>
                    </a:ext>
                  </a:extLst>
                </a:gridCol>
              </a:tblGrid>
              <a:tr h="127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UnIIR</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描述</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复位值</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127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rgbClr val="0000FF"/>
                          </a:solidFill>
                          <a:effectLst/>
                          <a:latin typeface="宋体" pitchFamily="2" charset="-122"/>
                          <a:ea typeface="宋体" pitchFamily="2" charset="-122"/>
                        </a:rPr>
                        <a:t>中断挂起。</a:t>
                      </a:r>
                      <a:r>
                        <a:rPr kumimoji="1" lang="en-US" altLang="zh-CN" sz="1600" b="0" i="0" u="none" strike="noStrike" cap="none" normalizeH="0" baseline="0">
                          <a:ln>
                            <a:noFill/>
                          </a:ln>
                          <a:solidFill>
                            <a:schemeClr val="tx1"/>
                          </a:solidFill>
                          <a:effectLst/>
                          <a:latin typeface="宋体" pitchFamily="2" charset="-122"/>
                          <a:ea typeface="宋体" pitchFamily="2" charset="-122"/>
                        </a:rPr>
                        <a:t>1</a:t>
                      </a:r>
                      <a:r>
                        <a:rPr kumimoji="1" lang="zh-CN" altLang="en-US" sz="1600" b="0" i="0" u="none" strike="noStrike" cap="none" normalizeH="0" baseline="0">
                          <a:ln>
                            <a:noFill/>
                          </a:ln>
                          <a:solidFill>
                            <a:schemeClr val="tx1"/>
                          </a:solidFill>
                          <a:effectLst/>
                          <a:latin typeface="宋体" pitchFamily="2" charset="-122"/>
                          <a:ea typeface="宋体" pitchFamily="2" charset="-122"/>
                        </a:rPr>
                        <a:t>：没有挂起的中断；</a:t>
                      </a:r>
                      <a:r>
                        <a:rPr kumimoji="1" lang="en-US" altLang="zh-CN" sz="1600" b="0" i="0" u="none" strike="noStrike" cap="none" normalizeH="0" baseline="0">
                          <a:ln>
                            <a:noFill/>
                          </a:ln>
                          <a:solidFill>
                            <a:schemeClr val="tx1"/>
                          </a:solidFill>
                          <a:effectLst/>
                          <a:latin typeface="宋体" pitchFamily="2" charset="-122"/>
                          <a:ea typeface="宋体" pitchFamily="2" charset="-122"/>
                        </a:rPr>
                        <a:t>0</a:t>
                      </a:r>
                      <a:r>
                        <a:rPr kumimoji="1" lang="zh-CN" altLang="en-US" sz="1600" b="0" i="0" u="none" strike="noStrike" cap="none" normalizeH="0" baseline="0">
                          <a:ln>
                            <a:noFill/>
                          </a:ln>
                          <a:solidFill>
                            <a:schemeClr val="tx1"/>
                          </a:solidFill>
                          <a:effectLst/>
                          <a:latin typeface="宋体" pitchFamily="2" charset="-122"/>
                          <a:ea typeface="宋体" pitchFamily="2" charset="-122"/>
                        </a:rPr>
                        <a:t>：至少有一个中断被挂起。</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127000">
                <a:tc rowSpan="5">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3 : 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rowSpan="5">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rgbClr val="0000FF"/>
                          </a:solidFill>
                          <a:effectLst/>
                          <a:latin typeface="宋体" pitchFamily="2" charset="-122"/>
                          <a:ea typeface="宋体" pitchFamily="2" charset="-122"/>
                        </a:rPr>
                        <a:t>中断标识。</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这</a:t>
                      </a:r>
                      <a:r>
                        <a:rPr kumimoji="1" lang="en-US" altLang="zh-CN" sz="1600" b="0" i="0" u="none" strike="noStrike" cap="none" normalizeH="0" baseline="0">
                          <a:ln>
                            <a:noFill/>
                          </a:ln>
                          <a:solidFill>
                            <a:schemeClr val="tx1"/>
                          </a:solidFill>
                          <a:effectLst/>
                          <a:latin typeface="宋体" pitchFamily="2" charset="-122"/>
                          <a:ea typeface="宋体" pitchFamily="2" charset="-122"/>
                        </a:rPr>
                        <a:t>3</a:t>
                      </a:r>
                      <a:r>
                        <a:rPr kumimoji="1" lang="zh-CN" altLang="en-US" sz="1600" b="0" i="0" u="none" strike="noStrike" cap="none" normalizeH="0" baseline="0">
                          <a:ln>
                            <a:noFill/>
                          </a:ln>
                          <a:solidFill>
                            <a:schemeClr val="tx1"/>
                          </a:solidFill>
                          <a:effectLst/>
                          <a:latin typeface="宋体" pitchFamily="2" charset="-122"/>
                          <a:ea typeface="宋体" pitchFamily="2" charset="-122"/>
                        </a:rPr>
                        <a:t>位表示了对应于</a:t>
                      </a:r>
                      <a:r>
                        <a:rPr kumimoji="1" lang="en-US" altLang="zh-CN" sz="1600" b="0" i="0" u="none" strike="noStrike" cap="none" normalizeH="0" baseline="0">
                          <a:ln>
                            <a:noFill/>
                          </a:ln>
                          <a:solidFill>
                            <a:schemeClr val="tx1"/>
                          </a:solidFill>
                          <a:effectLst/>
                          <a:latin typeface="宋体" pitchFamily="2" charset="-122"/>
                          <a:ea typeface="宋体" pitchFamily="2" charset="-122"/>
                        </a:rPr>
                        <a:t>UARTn Rx  FIFO</a:t>
                      </a:r>
                      <a:r>
                        <a:rPr kumimoji="1" lang="zh-CN" altLang="en-US" sz="1600" b="0" i="0" u="none" strike="noStrike" cap="none" normalizeH="0" baseline="0">
                          <a:ln>
                            <a:noFill/>
                          </a:ln>
                          <a:solidFill>
                            <a:schemeClr val="tx1"/>
                          </a:solidFill>
                          <a:effectLst/>
                          <a:latin typeface="宋体" pitchFamily="2" charset="-122"/>
                          <a:ea typeface="宋体" pitchFamily="2" charset="-122"/>
                        </a:rPr>
                        <a:t>的中断。未列出的其它组合作为保留值。</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011</a:t>
                      </a:r>
                      <a:r>
                        <a:rPr kumimoji="1" lang="zh-CN" altLang="en-US" sz="1600" b="0" i="0" u="none" strike="noStrike" cap="none" normalizeH="0" baseline="0">
                          <a:ln>
                            <a:noFill/>
                          </a:ln>
                          <a:solidFill>
                            <a:schemeClr val="tx1"/>
                          </a:solidFill>
                          <a:effectLst/>
                          <a:latin typeface="宋体" pitchFamily="2" charset="-122"/>
                          <a:ea typeface="宋体" pitchFamily="2" charset="-122"/>
                        </a:rPr>
                        <a:t>：</a:t>
                      </a:r>
                      <a:r>
                        <a:rPr kumimoji="1" lang="en-US" altLang="zh-CN" sz="1600" b="0" i="0" u="none" strike="noStrike" cap="none" normalizeH="0" baseline="0">
                          <a:ln>
                            <a:noFill/>
                          </a:ln>
                          <a:solidFill>
                            <a:schemeClr val="tx1"/>
                          </a:solidFill>
                          <a:effectLst/>
                          <a:latin typeface="宋体" pitchFamily="2" charset="-122"/>
                          <a:ea typeface="宋体" pitchFamily="2" charset="-122"/>
                        </a:rPr>
                        <a:t>1. </a:t>
                      </a:r>
                      <a:r>
                        <a:rPr kumimoji="1" lang="zh-CN" altLang="en-US" sz="1600" b="0" i="0" u="none" strike="noStrike" cap="none" normalizeH="0" baseline="0">
                          <a:ln>
                            <a:noFill/>
                          </a:ln>
                          <a:solidFill>
                            <a:schemeClr val="tx1"/>
                          </a:solidFill>
                          <a:effectLst/>
                          <a:latin typeface="宋体" pitchFamily="2" charset="-122"/>
                          <a:ea typeface="宋体" pitchFamily="2" charset="-122"/>
                        </a:rPr>
                        <a:t>接收线状态中断（</a:t>
                      </a:r>
                      <a:r>
                        <a:rPr kumimoji="1" lang="en-US" altLang="zh-CN" sz="1600" b="0" i="0" u="none" strike="noStrike" cap="none" normalizeH="0" baseline="0">
                          <a:ln>
                            <a:noFill/>
                          </a:ln>
                          <a:solidFill>
                            <a:schemeClr val="tx1"/>
                          </a:solidFill>
                          <a:effectLst/>
                          <a:latin typeface="宋体" pitchFamily="2" charset="-122"/>
                          <a:ea typeface="宋体" pitchFamily="2" charset="-122"/>
                        </a:rPr>
                        <a:t>RLS</a:t>
                      </a:r>
                      <a:r>
                        <a:rPr kumimoji="1" lang="zh-CN" altLang="en-US" sz="1600" b="0" i="0" u="none" strike="noStrike" cap="none" normalizeH="0" baseline="0">
                          <a:ln>
                            <a:noFill/>
                          </a:ln>
                          <a:solidFill>
                            <a:schemeClr val="tx1"/>
                          </a:solidFill>
                          <a:effectLst/>
                          <a:latin typeface="宋体" pitchFamily="2" charset="-122"/>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127000">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010</a:t>
                      </a:r>
                      <a:r>
                        <a:rPr kumimoji="1" lang="zh-CN" altLang="en-US" sz="1600" b="0" i="0" u="none" strike="noStrike" cap="none" normalizeH="0" baseline="0">
                          <a:ln>
                            <a:noFill/>
                          </a:ln>
                          <a:solidFill>
                            <a:schemeClr val="tx1"/>
                          </a:solidFill>
                          <a:effectLst/>
                          <a:latin typeface="宋体" pitchFamily="2" charset="-122"/>
                          <a:ea typeface="宋体" pitchFamily="2" charset="-122"/>
                        </a:rPr>
                        <a:t>：</a:t>
                      </a:r>
                      <a:r>
                        <a:rPr kumimoji="1" lang="en-US" altLang="zh-CN" sz="1600" b="0" i="0" u="none" strike="noStrike" cap="none" normalizeH="0" baseline="0">
                          <a:ln>
                            <a:noFill/>
                          </a:ln>
                          <a:solidFill>
                            <a:schemeClr val="tx1"/>
                          </a:solidFill>
                          <a:effectLst/>
                          <a:latin typeface="宋体" pitchFamily="2" charset="-122"/>
                          <a:ea typeface="宋体" pitchFamily="2" charset="-122"/>
                        </a:rPr>
                        <a:t>2a. </a:t>
                      </a:r>
                      <a:r>
                        <a:rPr kumimoji="1" lang="zh-CN" altLang="en-US" sz="1600" b="0" i="0" u="none" strike="noStrike" cap="none" normalizeH="0" baseline="0">
                          <a:ln>
                            <a:noFill/>
                          </a:ln>
                          <a:solidFill>
                            <a:schemeClr val="tx1"/>
                          </a:solidFill>
                          <a:effectLst/>
                          <a:latin typeface="宋体" pitchFamily="2" charset="-122"/>
                          <a:ea typeface="宋体" pitchFamily="2" charset="-122"/>
                        </a:rPr>
                        <a:t>接收数据可用中断（</a:t>
                      </a:r>
                      <a:r>
                        <a:rPr kumimoji="1" lang="en-US" altLang="zh-CN" sz="1600" b="0" i="0" u="none" strike="noStrike" cap="none" normalizeH="0" baseline="0">
                          <a:ln>
                            <a:noFill/>
                          </a:ln>
                          <a:solidFill>
                            <a:schemeClr val="tx1"/>
                          </a:solidFill>
                          <a:effectLst/>
                          <a:latin typeface="宋体" pitchFamily="2" charset="-122"/>
                          <a:ea typeface="宋体" pitchFamily="2" charset="-122"/>
                        </a:rPr>
                        <a:t>RDA</a:t>
                      </a:r>
                      <a:r>
                        <a:rPr kumimoji="1" lang="zh-CN" altLang="en-US" sz="1600" b="0" i="0" u="none" strike="noStrike" cap="none" normalizeH="0" baseline="0">
                          <a:ln>
                            <a:noFill/>
                          </a:ln>
                          <a:solidFill>
                            <a:schemeClr val="tx1"/>
                          </a:solidFill>
                          <a:effectLst/>
                          <a:latin typeface="宋体" pitchFamily="2" charset="-122"/>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row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127000">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110</a:t>
                      </a:r>
                      <a:r>
                        <a:rPr kumimoji="1" lang="zh-CN" altLang="en-US" sz="1600" b="0" i="0" u="none" strike="noStrike" cap="none" normalizeH="0" baseline="0">
                          <a:ln>
                            <a:noFill/>
                          </a:ln>
                          <a:solidFill>
                            <a:schemeClr val="tx1"/>
                          </a:solidFill>
                          <a:effectLst/>
                          <a:latin typeface="宋体" pitchFamily="2" charset="-122"/>
                          <a:ea typeface="宋体" pitchFamily="2" charset="-122"/>
                        </a:rPr>
                        <a:t>：</a:t>
                      </a:r>
                      <a:r>
                        <a:rPr kumimoji="1" lang="en-US" altLang="zh-CN" sz="1600" b="0" i="0" u="none" strike="noStrike" cap="none" normalizeH="0" baseline="0">
                          <a:ln>
                            <a:noFill/>
                          </a:ln>
                          <a:solidFill>
                            <a:schemeClr val="tx1"/>
                          </a:solidFill>
                          <a:effectLst/>
                          <a:latin typeface="宋体" pitchFamily="2" charset="-122"/>
                          <a:ea typeface="宋体" pitchFamily="2" charset="-122"/>
                        </a:rPr>
                        <a:t>2b. </a:t>
                      </a:r>
                      <a:r>
                        <a:rPr kumimoji="1" lang="zh-CN" altLang="en-US" sz="1600" b="0" i="0" u="none" strike="noStrike" cap="none" normalizeH="0" baseline="0">
                          <a:ln>
                            <a:noFill/>
                          </a:ln>
                          <a:solidFill>
                            <a:schemeClr val="tx1"/>
                          </a:solidFill>
                          <a:effectLst/>
                          <a:latin typeface="宋体" pitchFamily="2" charset="-122"/>
                          <a:ea typeface="宋体" pitchFamily="2" charset="-122"/>
                        </a:rPr>
                        <a:t>字符超时指示（</a:t>
                      </a:r>
                      <a:r>
                        <a:rPr kumimoji="1" lang="en-US" altLang="zh-CN" sz="1600" b="0" i="0" u="none" strike="noStrike" cap="none" normalizeH="0" baseline="0">
                          <a:ln>
                            <a:noFill/>
                          </a:ln>
                          <a:solidFill>
                            <a:schemeClr val="tx1"/>
                          </a:solidFill>
                          <a:effectLst/>
                          <a:latin typeface="宋体" pitchFamily="2" charset="-122"/>
                          <a:ea typeface="宋体" pitchFamily="2" charset="-122"/>
                        </a:rPr>
                        <a:t>CTI</a:t>
                      </a:r>
                      <a:r>
                        <a:rPr kumimoji="1" lang="zh-CN" altLang="en-US" sz="1600" b="0" i="0" u="none" strike="noStrike" cap="none" normalizeH="0" baseline="0">
                          <a:ln>
                            <a:noFill/>
                          </a:ln>
                          <a:solidFill>
                            <a:schemeClr val="tx1"/>
                          </a:solidFill>
                          <a:effectLst/>
                          <a:latin typeface="宋体" pitchFamily="2" charset="-122"/>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vMerge="1">
                  <a:txBody>
                    <a:bodyPr/>
                    <a:lstStyle/>
                    <a:p>
                      <a:endParaRPr lang="zh-CN" altLang="en-US"/>
                    </a:p>
                  </a:txBody>
                  <a:tcPr/>
                </a:tc>
                <a:extLst>
                  <a:ext uri="{0D108BD9-81ED-4DB2-BD59-A6C34878D82A}">
                    <a16:rowId xmlns:a16="http://schemas.microsoft.com/office/drawing/2014/main" val="10004"/>
                  </a:ext>
                </a:extLst>
              </a:tr>
              <a:tr h="128588">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001</a:t>
                      </a:r>
                      <a:r>
                        <a:rPr kumimoji="1" lang="zh-CN" altLang="en-US" sz="1600" b="0" i="0" u="none" strike="noStrike" cap="none" normalizeH="0" baseline="0">
                          <a:ln>
                            <a:noFill/>
                          </a:ln>
                          <a:solidFill>
                            <a:schemeClr val="tx1"/>
                          </a:solidFill>
                          <a:effectLst/>
                          <a:latin typeface="宋体" pitchFamily="2" charset="-122"/>
                          <a:ea typeface="宋体" pitchFamily="2" charset="-122"/>
                        </a:rPr>
                        <a:t>：</a:t>
                      </a:r>
                      <a:r>
                        <a:rPr kumimoji="1" lang="en-US" altLang="zh-CN" sz="1600" b="0" i="0" u="none" strike="noStrike" cap="none" normalizeH="0" baseline="0">
                          <a:ln>
                            <a:noFill/>
                          </a:ln>
                          <a:solidFill>
                            <a:schemeClr val="tx1"/>
                          </a:solidFill>
                          <a:effectLst/>
                          <a:latin typeface="宋体" pitchFamily="2" charset="-122"/>
                          <a:ea typeface="宋体" pitchFamily="2" charset="-122"/>
                        </a:rPr>
                        <a:t>3.  </a:t>
                      </a:r>
                      <a:r>
                        <a:rPr kumimoji="1" lang="zh-CN" altLang="en-US" sz="1600" b="0" i="0" u="none" strike="noStrike" cap="none" normalizeH="0" baseline="0">
                          <a:ln>
                            <a:noFill/>
                          </a:ln>
                          <a:solidFill>
                            <a:schemeClr val="tx1"/>
                          </a:solidFill>
                          <a:effectLst/>
                          <a:latin typeface="宋体" pitchFamily="2" charset="-122"/>
                          <a:ea typeface="宋体" pitchFamily="2" charset="-122"/>
                        </a:rPr>
                        <a:t>发送中断（</a:t>
                      </a:r>
                      <a:r>
                        <a:rPr kumimoji="1" lang="en-US" altLang="zh-CN" sz="1600" b="0" i="0" u="none" strike="noStrike" cap="none" normalizeH="0" baseline="0">
                          <a:ln>
                            <a:noFill/>
                          </a:ln>
                          <a:solidFill>
                            <a:schemeClr val="tx1"/>
                          </a:solidFill>
                          <a:effectLst/>
                          <a:latin typeface="宋体" pitchFamily="2" charset="-122"/>
                          <a:ea typeface="宋体" pitchFamily="2" charset="-122"/>
                        </a:rPr>
                        <a:t>THRE</a:t>
                      </a:r>
                      <a:r>
                        <a:rPr kumimoji="1" lang="zh-CN" altLang="en-US" sz="1600" b="0" i="0" u="none" strike="noStrike" cap="none" normalizeH="0" baseline="0">
                          <a:ln>
                            <a:noFill/>
                          </a:ln>
                          <a:solidFill>
                            <a:schemeClr val="tx1"/>
                          </a:solidFill>
                          <a:effectLst/>
                          <a:latin typeface="宋体" pitchFamily="2" charset="-122"/>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CC"/>
                    </a:solidFill>
                  </a:tcPr>
                </a:tc>
                <a:tc vMerge="1">
                  <a:txBody>
                    <a:bodyPr/>
                    <a:lstStyle/>
                    <a:p>
                      <a:endParaRPr lang="zh-CN" altLang="en-US"/>
                    </a:p>
                  </a:txBody>
                  <a:tcPr/>
                </a:tc>
                <a:extLst>
                  <a:ext uri="{0D108BD9-81ED-4DB2-BD59-A6C34878D82A}">
                    <a16:rowId xmlns:a16="http://schemas.microsoft.com/office/drawing/2014/main" val="10005"/>
                  </a:ext>
                </a:extLst>
              </a:tr>
              <a:tr h="225425">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000</a:t>
                      </a:r>
                      <a:r>
                        <a:rPr kumimoji="1" lang="zh-CN" altLang="en-US" sz="1600" b="0" i="0" u="none" strike="noStrike" cap="none" normalizeH="0" baseline="0">
                          <a:ln>
                            <a:noFill/>
                          </a:ln>
                          <a:solidFill>
                            <a:schemeClr val="tx1"/>
                          </a:solidFill>
                          <a:effectLst/>
                          <a:latin typeface="宋体" pitchFamily="2" charset="-122"/>
                          <a:ea typeface="宋体" pitchFamily="2" charset="-122"/>
                        </a:rPr>
                        <a:t>：</a:t>
                      </a:r>
                      <a:r>
                        <a:rPr kumimoji="1" lang="en-US" altLang="zh-CN" sz="1600" b="0" i="0" u="none" strike="noStrike" cap="none" normalizeH="0" baseline="0">
                          <a:ln>
                            <a:noFill/>
                          </a:ln>
                          <a:solidFill>
                            <a:schemeClr val="tx1"/>
                          </a:solidFill>
                          <a:effectLst/>
                          <a:latin typeface="宋体" pitchFamily="2" charset="-122"/>
                          <a:ea typeface="宋体" pitchFamily="2" charset="-122"/>
                        </a:rPr>
                        <a:t>4.  Modem</a:t>
                      </a:r>
                      <a:r>
                        <a:rPr kumimoji="1" lang="zh-CN" altLang="en-US" sz="1600" b="0" i="0" u="none" strike="noStrike" cap="none" normalizeH="0" baseline="0">
                          <a:ln>
                            <a:noFill/>
                          </a:ln>
                          <a:solidFill>
                            <a:schemeClr val="tx1"/>
                          </a:solidFill>
                          <a:effectLst/>
                          <a:latin typeface="宋体" pitchFamily="2" charset="-122"/>
                          <a:ea typeface="宋体" pitchFamily="2" charset="-122"/>
                        </a:rPr>
                        <a:t>中断  </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rgbClr val="FF0000"/>
                          </a:solidFill>
                          <a:effectLst/>
                          <a:latin typeface="宋体" pitchFamily="2" charset="-122"/>
                          <a:ea typeface="宋体" pitchFamily="2" charset="-122"/>
                        </a:rPr>
                        <a:t>注：只有</a:t>
                      </a:r>
                      <a:r>
                        <a:rPr kumimoji="1" lang="en-US" altLang="zh-CN" sz="1600" b="0" i="0" u="none" strike="noStrike" cap="none" normalizeH="0" baseline="0">
                          <a:ln>
                            <a:noFill/>
                          </a:ln>
                          <a:solidFill>
                            <a:srgbClr val="FF0000"/>
                          </a:solidFill>
                          <a:effectLst/>
                          <a:latin typeface="宋体" pitchFamily="2" charset="-122"/>
                          <a:ea typeface="宋体" pitchFamily="2" charset="-122"/>
                        </a:rPr>
                        <a:t>UART1</a:t>
                      </a:r>
                      <a:r>
                        <a:rPr kumimoji="1" lang="zh-CN" altLang="en-US" sz="1600" b="0" i="0" u="none" strike="noStrike" cap="none" normalizeH="0" baseline="0">
                          <a:ln>
                            <a:noFill/>
                          </a:ln>
                          <a:solidFill>
                            <a:srgbClr val="FF0000"/>
                          </a:solidFill>
                          <a:effectLst/>
                          <a:latin typeface="宋体" pitchFamily="2" charset="-122"/>
                          <a:ea typeface="宋体" pitchFamily="2" charset="-122"/>
                        </a:rPr>
                        <a:t>具有</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vMerge="1">
                  <a:txBody>
                    <a:bodyPr/>
                    <a:lstStyle/>
                    <a:p>
                      <a:endParaRPr lang="zh-CN" altLang="en-US"/>
                    </a:p>
                  </a:txBody>
                  <a:tcPr/>
                </a:tc>
                <a:extLst>
                  <a:ext uri="{0D108BD9-81ED-4DB2-BD59-A6C34878D82A}">
                    <a16:rowId xmlns:a16="http://schemas.microsoft.com/office/drawing/2014/main" val="10006"/>
                  </a:ext>
                </a:extLst>
              </a:tr>
              <a:tr h="127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宋体" pitchFamily="2" charset="-122"/>
                          <a:ea typeface="宋体" pitchFamily="2" charset="-122"/>
                        </a:rPr>
                        <a:t>7 : 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保留，用户软件不要向这些位写入</a:t>
                      </a:r>
                      <a:r>
                        <a:rPr kumimoji="1" lang="en-US" altLang="zh-CN" sz="1600" b="0" i="0" u="none" strike="noStrike" cap="none" normalizeH="0" baseline="0">
                          <a:ln>
                            <a:noFill/>
                          </a:ln>
                          <a:solidFill>
                            <a:schemeClr val="tx1"/>
                          </a:solidFill>
                          <a:effectLst/>
                          <a:latin typeface="宋体" pitchFamily="2" charset="-122"/>
                          <a:ea typeface="宋体" pitchFamily="2" charset="-122"/>
                        </a:rPr>
                        <a:t>1</a:t>
                      </a:r>
                      <a:r>
                        <a:rPr kumimoji="1" lang="zh-CN" altLang="en-US" sz="1600" b="0" i="0" u="none" strike="noStrike" cap="none" normalizeH="0" baseline="0">
                          <a:ln>
                            <a:noFill/>
                          </a:ln>
                          <a:solidFill>
                            <a:schemeClr val="tx1"/>
                          </a:solidFill>
                          <a:effectLst/>
                          <a:latin typeface="宋体" pitchFamily="2" charset="-122"/>
                          <a:ea typeface="宋体" pitchFamily="2"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未定义</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7"/>
                  </a:ext>
                </a:extLst>
              </a:tr>
            </a:tbl>
          </a:graphicData>
        </a:graphic>
      </p:graphicFrame>
      <p:sp>
        <p:nvSpPr>
          <p:cNvPr id="724017" name="Text Box 49"/>
          <p:cNvSpPr txBox="1">
            <a:spLocks noChangeArrowheads="1"/>
          </p:cNvSpPr>
          <p:nvPr/>
        </p:nvSpPr>
        <p:spPr bwMode="auto">
          <a:xfrm>
            <a:off x="2208214" y="5516564"/>
            <a:ext cx="7704137" cy="915987"/>
          </a:xfrm>
          <a:prstGeom prst="rect">
            <a:avLst/>
          </a:prstGeom>
          <a:solidFill>
            <a:srgbClr val="DDDDDD">
              <a:alpha val="30000"/>
            </a:srgbClr>
          </a:solidFill>
          <a:ln w="9525">
            <a:noFill/>
            <a:miter lim="800000"/>
            <a:headEnd/>
            <a:tailEnd/>
          </a:ln>
          <a:effectLst/>
        </p:spPr>
        <p:txBody>
          <a:bodyPr>
            <a:spAutoFit/>
          </a:bodyPr>
          <a:lstStyle/>
          <a:p>
            <a:pPr algn="l">
              <a:spcBef>
                <a:spcPct val="50000"/>
              </a:spcBef>
            </a:pPr>
            <a:r>
              <a:rPr lang="en-US" altLang="zh-CN">
                <a:latin typeface="宋体" pitchFamily="2" charset="-122"/>
              </a:rPr>
              <a:t>   UnIIR</a:t>
            </a:r>
            <a:r>
              <a:rPr lang="zh-CN" altLang="en-US">
                <a:latin typeface="宋体" pitchFamily="2" charset="-122"/>
              </a:rPr>
              <a:t>提供状态代码用于指示一个挂起中断的中断源和优先级。在访问</a:t>
            </a:r>
            <a:r>
              <a:rPr lang="en-US" altLang="zh-CN">
                <a:latin typeface="宋体" pitchFamily="2" charset="-122"/>
              </a:rPr>
              <a:t>UnIIR</a:t>
            </a:r>
            <a:r>
              <a:rPr lang="zh-CN" altLang="en-US">
                <a:latin typeface="宋体" pitchFamily="2" charset="-122"/>
              </a:rPr>
              <a:t>过程中，中断被冻结。如果在访问</a:t>
            </a:r>
            <a:r>
              <a:rPr lang="en-US" altLang="zh-CN">
                <a:latin typeface="宋体" pitchFamily="2" charset="-122"/>
              </a:rPr>
              <a:t>UnIIR</a:t>
            </a:r>
            <a:r>
              <a:rPr lang="zh-CN" altLang="en-US">
                <a:latin typeface="宋体" pitchFamily="2" charset="-122"/>
              </a:rPr>
              <a:t>时产生了中断，该中断将被记录，在下次访问</a:t>
            </a:r>
            <a:r>
              <a:rPr lang="en-US" altLang="zh-CN">
                <a:latin typeface="宋体" pitchFamily="2" charset="-122"/>
              </a:rPr>
              <a:t>UnIIR</a:t>
            </a:r>
            <a:r>
              <a:rPr lang="zh-CN" altLang="en-US">
                <a:latin typeface="宋体" pitchFamily="2" charset="-122"/>
              </a:rPr>
              <a:t>时可以读出，避免了中断的丢失。</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23971"/>
                                        </p:tgtEl>
                                        <p:attrNameLst>
                                          <p:attrName>style.visibility</p:attrName>
                                        </p:attrNameLst>
                                      </p:cBhvr>
                                      <p:to>
                                        <p:strVal val="visible"/>
                                      </p:to>
                                    </p:set>
                                    <p:anim calcmode="lin" valueType="num">
                                      <p:cBhvr additive="base">
                                        <p:cTn id="7" dur="500" fill="hold"/>
                                        <p:tgtEl>
                                          <p:spTgt spid="723971"/>
                                        </p:tgtEl>
                                        <p:attrNameLst>
                                          <p:attrName>ppt_x</p:attrName>
                                        </p:attrNameLst>
                                      </p:cBhvr>
                                      <p:tavLst>
                                        <p:tav tm="0">
                                          <p:val>
                                            <p:strVal val="1+#ppt_w/2"/>
                                          </p:val>
                                        </p:tav>
                                        <p:tav tm="100000">
                                          <p:val>
                                            <p:strVal val="#ppt_x"/>
                                          </p:val>
                                        </p:tav>
                                      </p:tavLst>
                                    </p:anim>
                                    <p:anim calcmode="lin" valueType="num">
                                      <p:cBhvr additive="base">
                                        <p:cTn id="8" dur="500" fill="hold"/>
                                        <p:tgtEl>
                                          <p:spTgt spid="72397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723972"/>
                                        </p:tgtEl>
                                        <p:attrNameLst>
                                          <p:attrName>style.visibility</p:attrName>
                                        </p:attrNameLst>
                                      </p:cBhvr>
                                      <p:to>
                                        <p:strVal val="visible"/>
                                      </p:to>
                                    </p:set>
                                    <p:animEffect transition="in" filter="slide(fromTop)">
                                      <p:cBhvr>
                                        <p:cTn id="12" dur="500"/>
                                        <p:tgtEl>
                                          <p:spTgt spid="723972"/>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724017"/>
                                        </p:tgtEl>
                                        <p:attrNameLst>
                                          <p:attrName>style.visibility</p:attrName>
                                        </p:attrNameLst>
                                      </p:cBhvr>
                                      <p:to>
                                        <p:strVal val="visible"/>
                                      </p:to>
                                    </p:set>
                                    <p:animEffect transition="in" filter="slide(fromBottom)">
                                      <p:cBhvr>
                                        <p:cTn id="16" dur="500"/>
                                        <p:tgtEl>
                                          <p:spTgt spid="724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3971" grpId="0"/>
      <p:bldP spid="724017" grpId="0" animBg="1"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4994" name="Group 2"/>
          <p:cNvGrpSpPr>
            <a:grpSpLocks/>
          </p:cNvGrpSpPr>
          <p:nvPr/>
        </p:nvGrpSpPr>
        <p:grpSpPr bwMode="auto">
          <a:xfrm>
            <a:off x="1827213" y="2492376"/>
            <a:ext cx="8439150" cy="3529013"/>
            <a:chOff x="191" y="1276"/>
            <a:chExt cx="5316" cy="2223"/>
          </a:xfrm>
        </p:grpSpPr>
        <p:sp>
          <p:nvSpPr>
            <p:cNvPr id="724995" name="Rectangle 3"/>
            <p:cNvSpPr>
              <a:spLocks noChangeArrowheads="1"/>
            </p:cNvSpPr>
            <p:nvPr/>
          </p:nvSpPr>
          <p:spPr bwMode="auto">
            <a:xfrm>
              <a:off x="2333" y="2861"/>
              <a:ext cx="453" cy="273"/>
            </a:xfrm>
            <a:prstGeom prst="rect">
              <a:avLst/>
            </a:prstGeom>
            <a:solidFill>
              <a:srgbClr val="FFFFCC"/>
            </a:solidFill>
            <a:ln w="12700" algn="ctr">
              <a:solidFill>
                <a:schemeClr val="tx1"/>
              </a:solidFill>
              <a:miter lim="800000"/>
              <a:headEnd/>
              <a:tailEnd/>
            </a:ln>
            <a:effectLst/>
          </p:spPr>
          <p:txBody>
            <a:bodyPr wrap="none" anchor="ctr"/>
            <a:lstStyle/>
            <a:p>
              <a:endParaRPr lang="zh-CN" altLang="en-US"/>
            </a:p>
          </p:txBody>
        </p:sp>
        <p:sp>
          <p:nvSpPr>
            <p:cNvPr id="724996" name="Rectangle 4"/>
            <p:cNvSpPr>
              <a:spLocks noChangeArrowheads="1"/>
            </p:cNvSpPr>
            <p:nvPr/>
          </p:nvSpPr>
          <p:spPr bwMode="auto">
            <a:xfrm>
              <a:off x="2333" y="2086"/>
              <a:ext cx="453" cy="683"/>
            </a:xfrm>
            <a:prstGeom prst="rect">
              <a:avLst/>
            </a:prstGeom>
            <a:solidFill>
              <a:srgbClr val="FFFFCC"/>
            </a:solidFill>
            <a:ln w="12700" algn="ctr">
              <a:solidFill>
                <a:schemeClr val="tx1"/>
              </a:solidFill>
              <a:miter lim="800000"/>
              <a:headEnd/>
              <a:tailEnd/>
            </a:ln>
            <a:effectLst/>
          </p:spPr>
          <p:txBody>
            <a:bodyPr wrap="none" anchor="ctr"/>
            <a:lstStyle/>
            <a:p>
              <a:endParaRPr lang="zh-CN" altLang="en-US"/>
            </a:p>
          </p:txBody>
        </p:sp>
        <p:sp>
          <p:nvSpPr>
            <p:cNvPr id="724997" name="Rectangle 5"/>
            <p:cNvSpPr>
              <a:spLocks noChangeArrowheads="1"/>
            </p:cNvSpPr>
            <p:nvPr/>
          </p:nvSpPr>
          <p:spPr bwMode="auto">
            <a:xfrm>
              <a:off x="2333" y="1722"/>
              <a:ext cx="453" cy="318"/>
            </a:xfrm>
            <a:prstGeom prst="rect">
              <a:avLst/>
            </a:prstGeom>
            <a:solidFill>
              <a:srgbClr val="FFFFCC"/>
            </a:solidFill>
            <a:ln w="12700" algn="ctr">
              <a:solidFill>
                <a:schemeClr val="tx1"/>
              </a:solidFill>
              <a:miter lim="800000"/>
              <a:headEnd/>
              <a:tailEnd/>
            </a:ln>
            <a:effectLst/>
          </p:spPr>
          <p:txBody>
            <a:bodyPr wrap="none" anchor="ctr"/>
            <a:lstStyle/>
            <a:p>
              <a:endParaRPr lang="zh-CN" altLang="en-US"/>
            </a:p>
          </p:txBody>
        </p:sp>
        <p:sp>
          <p:nvSpPr>
            <p:cNvPr id="724998" name="Rectangle 6"/>
            <p:cNvSpPr>
              <a:spLocks noChangeArrowheads="1"/>
            </p:cNvSpPr>
            <p:nvPr/>
          </p:nvSpPr>
          <p:spPr bwMode="auto">
            <a:xfrm>
              <a:off x="3693" y="1911"/>
              <a:ext cx="771" cy="1497"/>
            </a:xfrm>
            <a:prstGeom prst="rect">
              <a:avLst/>
            </a:prstGeom>
            <a:solidFill>
              <a:srgbClr val="CCFFFF"/>
            </a:solidFill>
            <a:ln w="12700" algn="ctr">
              <a:solidFill>
                <a:schemeClr val="tx1"/>
              </a:solidFill>
              <a:miter lim="800000"/>
              <a:headEnd/>
              <a:tailEnd/>
            </a:ln>
            <a:effectLst/>
          </p:spPr>
          <p:txBody>
            <a:bodyPr wrap="none" anchor="ctr"/>
            <a:lstStyle/>
            <a:p>
              <a:r>
                <a:rPr lang="en-US" altLang="zh-CN">
                  <a:solidFill>
                    <a:srgbClr val="0000FF"/>
                  </a:solidFill>
                  <a:ea typeface="黑体" pitchFamily="2" charset="-122"/>
                </a:rPr>
                <a:t>VIC</a:t>
              </a:r>
            </a:p>
            <a:p>
              <a:r>
                <a:rPr lang="zh-CN" altLang="en-US">
                  <a:solidFill>
                    <a:srgbClr val="0000FF"/>
                  </a:solidFill>
                  <a:ea typeface="黑体" pitchFamily="2" charset="-122"/>
                </a:rPr>
                <a:t>中断控制器</a:t>
              </a:r>
            </a:p>
          </p:txBody>
        </p:sp>
        <p:sp>
          <p:nvSpPr>
            <p:cNvPr id="724999" name="Rectangle 7"/>
            <p:cNvSpPr>
              <a:spLocks noChangeArrowheads="1"/>
            </p:cNvSpPr>
            <p:nvPr/>
          </p:nvSpPr>
          <p:spPr bwMode="auto">
            <a:xfrm>
              <a:off x="4736" y="1956"/>
              <a:ext cx="771" cy="1452"/>
            </a:xfrm>
            <a:prstGeom prst="rect">
              <a:avLst/>
            </a:prstGeom>
            <a:solidFill>
              <a:srgbClr val="CCFFFF"/>
            </a:solidFill>
            <a:ln w="12700" algn="ctr">
              <a:solidFill>
                <a:schemeClr val="tx1"/>
              </a:solidFill>
              <a:miter lim="800000"/>
              <a:headEnd/>
              <a:tailEnd/>
            </a:ln>
            <a:effectLst/>
          </p:spPr>
          <p:txBody>
            <a:bodyPr wrap="none" anchor="ctr"/>
            <a:lstStyle/>
            <a:p>
              <a:r>
                <a:rPr lang="en-US" altLang="zh-CN">
                  <a:solidFill>
                    <a:srgbClr val="0000FF"/>
                  </a:solidFill>
                  <a:ea typeface="黑体" pitchFamily="2" charset="-122"/>
                </a:rPr>
                <a:t>ARM7TDMI</a:t>
              </a:r>
            </a:p>
            <a:p>
              <a:r>
                <a:rPr lang="zh-CN" altLang="en-US">
                  <a:solidFill>
                    <a:srgbClr val="0000FF"/>
                  </a:solidFill>
                  <a:ea typeface="黑体" pitchFamily="2" charset="-122"/>
                </a:rPr>
                <a:t>内核</a:t>
              </a:r>
            </a:p>
          </p:txBody>
        </p:sp>
        <p:sp>
          <p:nvSpPr>
            <p:cNvPr id="725000" name="Line 8"/>
            <p:cNvSpPr>
              <a:spLocks noChangeShapeType="1"/>
            </p:cNvSpPr>
            <p:nvPr/>
          </p:nvSpPr>
          <p:spPr bwMode="auto">
            <a:xfrm flipV="1">
              <a:off x="4464" y="2681"/>
              <a:ext cx="272" cy="1"/>
            </a:xfrm>
            <a:prstGeom prst="line">
              <a:avLst/>
            </a:prstGeom>
            <a:noFill/>
            <a:ln w="25400">
              <a:solidFill>
                <a:schemeClr val="tx1"/>
              </a:solidFill>
              <a:round/>
              <a:headEnd/>
              <a:tailEnd type="triangle" w="med" len="med"/>
            </a:ln>
            <a:effectLst/>
          </p:spPr>
          <p:txBody>
            <a:bodyPr wrap="none" anchor="ctr"/>
            <a:lstStyle/>
            <a:p>
              <a:endParaRPr lang="zh-CN" altLang="en-US"/>
            </a:p>
          </p:txBody>
        </p:sp>
        <p:sp>
          <p:nvSpPr>
            <p:cNvPr id="725001" name="Line 9"/>
            <p:cNvSpPr>
              <a:spLocks noChangeShapeType="1"/>
            </p:cNvSpPr>
            <p:nvPr/>
          </p:nvSpPr>
          <p:spPr bwMode="auto">
            <a:xfrm>
              <a:off x="376" y="1955"/>
              <a:ext cx="2047" cy="0"/>
            </a:xfrm>
            <a:prstGeom prst="line">
              <a:avLst/>
            </a:prstGeom>
            <a:noFill/>
            <a:ln w="25400">
              <a:solidFill>
                <a:schemeClr val="tx1"/>
              </a:solidFill>
              <a:round/>
              <a:headEnd/>
              <a:tailEnd/>
            </a:ln>
            <a:effectLst/>
          </p:spPr>
          <p:txBody>
            <a:bodyPr wrap="none" anchor="ctr"/>
            <a:lstStyle/>
            <a:p>
              <a:endParaRPr lang="zh-CN" altLang="en-US"/>
            </a:p>
          </p:txBody>
        </p:sp>
        <p:sp>
          <p:nvSpPr>
            <p:cNvPr id="725002" name="Line 10"/>
            <p:cNvSpPr>
              <a:spLocks noChangeShapeType="1"/>
            </p:cNvSpPr>
            <p:nvPr/>
          </p:nvSpPr>
          <p:spPr bwMode="auto">
            <a:xfrm flipV="1">
              <a:off x="2419" y="1817"/>
              <a:ext cx="227" cy="137"/>
            </a:xfrm>
            <a:prstGeom prst="line">
              <a:avLst/>
            </a:prstGeom>
            <a:noFill/>
            <a:ln w="25400">
              <a:solidFill>
                <a:schemeClr val="tx1"/>
              </a:solidFill>
              <a:round/>
              <a:headEnd/>
              <a:tailEnd/>
            </a:ln>
            <a:effectLst/>
          </p:spPr>
          <p:txBody>
            <a:bodyPr wrap="none" anchor="ctr"/>
            <a:lstStyle/>
            <a:p>
              <a:endParaRPr lang="zh-CN" altLang="en-US"/>
            </a:p>
          </p:txBody>
        </p:sp>
        <p:sp>
          <p:nvSpPr>
            <p:cNvPr id="725003" name="Line 11"/>
            <p:cNvSpPr>
              <a:spLocks noChangeShapeType="1"/>
            </p:cNvSpPr>
            <p:nvPr/>
          </p:nvSpPr>
          <p:spPr bwMode="auto">
            <a:xfrm>
              <a:off x="2650" y="1950"/>
              <a:ext cx="635" cy="0"/>
            </a:xfrm>
            <a:prstGeom prst="line">
              <a:avLst/>
            </a:prstGeom>
            <a:noFill/>
            <a:ln w="25400">
              <a:solidFill>
                <a:schemeClr val="tx1"/>
              </a:solidFill>
              <a:round/>
              <a:headEnd/>
              <a:tailEnd/>
            </a:ln>
            <a:effectLst/>
          </p:spPr>
          <p:txBody>
            <a:bodyPr wrap="none" anchor="ctr"/>
            <a:lstStyle/>
            <a:p>
              <a:endParaRPr lang="zh-CN" altLang="en-US"/>
            </a:p>
          </p:txBody>
        </p:sp>
        <p:sp>
          <p:nvSpPr>
            <p:cNvPr id="725004" name="Line 12"/>
            <p:cNvSpPr>
              <a:spLocks noChangeShapeType="1"/>
            </p:cNvSpPr>
            <p:nvPr/>
          </p:nvSpPr>
          <p:spPr bwMode="auto">
            <a:xfrm flipV="1">
              <a:off x="2423" y="2177"/>
              <a:ext cx="227" cy="136"/>
            </a:xfrm>
            <a:prstGeom prst="line">
              <a:avLst/>
            </a:prstGeom>
            <a:noFill/>
            <a:ln w="25400">
              <a:solidFill>
                <a:schemeClr val="tx1"/>
              </a:solidFill>
              <a:round/>
              <a:headEnd/>
              <a:tailEnd/>
            </a:ln>
            <a:effectLst/>
          </p:spPr>
          <p:txBody>
            <a:bodyPr wrap="none" anchor="ctr"/>
            <a:lstStyle/>
            <a:p>
              <a:endParaRPr lang="zh-CN" altLang="en-US"/>
            </a:p>
          </p:txBody>
        </p:sp>
        <p:sp>
          <p:nvSpPr>
            <p:cNvPr id="725005" name="Line 13"/>
            <p:cNvSpPr>
              <a:spLocks noChangeShapeType="1"/>
            </p:cNvSpPr>
            <p:nvPr/>
          </p:nvSpPr>
          <p:spPr bwMode="auto">
            <a:xfrm>
              <a:off x="2650" y="2313"/>
              <a:ext cx="635" cy="0"/>
            </a:xfrm>
            <a:prstGeom prst="line">
              <a:avLst/>
            </a:prstGeom>
            <a:noFill/>
            <a:ln w="25400">
              <a:solidFill>
                <a:schemeClr val="tx1"/>
              </a:solidFill>
              <a:round/>
              <a:headEnd/>
              <a:tailEnd/>
            </a:ln>
            <a:effectLst/>
          </p:spPr>
          <p:txBody>
            <a:bodyPr wrap="none" anchor="ctr"/>
            <a:lstStyle/>
            <a:p>
              <a:endParaRPr lang="zh-CN" altLang="en-US"/>
            </a:p>
          </p:txBody>
        </p:sp>
        <p:sp>
          <p:nvSpPr>
            <p:cNvPr id="725006" name="Line 14"/>
            <p:cNvSpPr>
              <a:spLocks noChangeShapeType="1"/>
            </p:cNvSpPr>
            <p:nvPr/>
          </p:nvSpPr>
          <p:spPr bwMode="auto">
            <a:xfrm flipV="1">
              <a:off x="2423" y="2541"/>
              <a:ext cx="227" cy="137"/>
            </a:xfrm>
            <a:prstGeom prst="line">
              <a:avLst/>
            </a:prstGeom>
            <a:noFill/>
            <a:ln w="25400">
              <a:solidFill>
                <a:schemeClr val="tx1"/>
              </a:solidFill>
              <a:round/>
              <a:headEnd/>
              <a:tailEnd/>
            </a:ln>
            <a:effectLst/>
          </p:spPr>
          <p:txBody>
            <a:bodyPr wrap="none" anchor="ctr"/>
            <a:lstStyle/>
            <a:p>
              <a:endParaRPr lang="zh-CN" altLang="en-US"/>
            </a:p>
          </p:txBody>
        </p:sp>
        <p:sp>
          <p:nvSpPr>
            <p:cNvPr id="725007" name="Line 15"/>
            <p:cNvSpPr>
              <a:spLocks noChangeShapeType="1"/>
            </p:cNvSpPr>
            <p:nvPr/>
          </p:nvSpPr>
          <p:spPr bwMode="auto">
            <a:xfrm>
              <a:off x="2650" y="2682"/>
              <a:ext cx="635" cy="0"/>
            </a:xfrm>
            <a:prstGeom prst="line">
              <a:avLst/>
            </a:prstGeom>
            <a:noFill/>
            <a:ln w="25400">
              <a:solidFill>
                <a:schemeClr val="tx1"/>
              </a:solidFill>
              <a:round/>
              <a:headEnd/>
              <a:tailEnd/>
            </a:ln>
            <a:effectLst/>
          </p:spPr>
          <p:txBody>
            <a:bodyPr wrap="none" anchor="ctr"/>
            <a:lstStyle/>
            <a:p>
              <a:endParaRPr lang="zh-CN" altLang="en-US"/>
            </a:p>
          </p:txBody>
        </p:sp>
        <p:sp>
          <p:nvSpPr>
            <p:cNvPr id="725008" name="Line 16"/>
            <p:cNvSpPr>
              <a:spLocks noChangeShapeType="1"/>
            </p:cNvSpPr>
            <p:nvPr/>
          </p:nvSpPr>
          <p:spPr bwMode="auto">
            <a:xfrm flipV="1">
              <a:off x="2423" y="2906"/>
              <a:ext cx="227" cy="136"/>
            </a:xfrm>
            <a:prstGeom prst="line">
              <a:avLst/>
            </a:prstGeom>
            <a:noFill/>
            <a:ln w="25400">
              <a:solidFill>
                <a:schemeClr val="tx1"/>
              </a:solidFill>
              <a:round/>
              <a:headEnd/>
              <a:tailEnd/>
            </a:ln>
            <a:effectLst/>
          </p:spPr>
          <p:txBody>
            <a:bodyPr wrap="none" anchor="ctr"/>
            <a:lstStyle/>
            <a:p>
              <a:endParaRPr lang="zh-CN" altLang="en-US"/>
            </a:p>
          </p:txBody>
        </p:sp>
        <p:sp>
          <p:nvSpPr>
            <p:cNvPr id="725009" name="Line 17"/>
            <p:cNvSpPr>
              <a:spLocks noChangeShapeType="1"/>
            </p:cNvSpPr>
            <p:nvPr/>
          </p:nvSpPr>
          <p:spPr bwMode="auto">
            <a:xfrm>
              <a:off x="2650" y="3045"/>
              <a:ext cx="635" cy="0"/>
            </a:xfrm>
            <a:prstGeom prst="line">
              <a:avLst/>
            </a:prstGeom>
            <a:noFill/>
            <a:ln w="25400">
              <a:solidFill>
                <a:schemeClr val="tx1"/>
              </a:solidFill>
              <a:round/>
              <a:headEnd/>
              <a:tailEnd/>
            </a:ln>
            <a:effectLst/>
          </p:spPr>
          <p:txBody>
            <a:bodyPr wrap="none" anchor="ctr"/>
            <a:lstStyle/>
            <a:p>
              <a:endParaRPr lang="zh-CN" altLang="en-US"/>
            </a:p>
          </p:txBody>
        </p:sp>
        <p:sp>
          <p:nvSpPr>
            <p:cNvPr id="725010" name="Line 18"/>
            <p:cNvSpPr>
              <a:spLocks noChangeShapeType="1"/>
            </p:cNvSpPr>
            <p:nvPr/>
          </p:nvSpPr>
          <p:spPr bwMode="auto">
            <a:xfrm>
              <a:off x="3285" y="1950"/>
              <a:ext cx="0" cy="1458"/>
            </a:xfrm>
            <a:prstGeom prst="line">
              <a:avLst/>
            </a:prstGeom>
            <a:noFill/>
            <a:ln w="25400">
              <a:solidFill>
                <a:schemeClr val="tx1"/>
              </a:solidFill>
              <a:round/>
              <a:headEnd/>
              <a:tailEnd/>
            </a:ln>
            <a:effectLst/>
          </p:spPr>
          <p:txBody>
            <a:bodyPr wrap="none" anchor="ctr"/>
            <a:lstStyle/>
            <a:p>
              <a:endParaRPr lang="zh-CN" altLang="en-US"/>
            </a:p>
          </p:txBody>
        </p:sp>
        <p:sp>
          <p:nvSpPr>
            <p:cNvPr id="725011" name="Line 19"/>
            <p:cNvSpPr>
              <a:spLocks noChangeShapeType="1"/>
            </p:cNvSpPr>
            <p:nvPr/>
          </p:nvSpPr>
          <p:spPr bwMode="auto">
            <a:xfrm>
              <a:off x="3285" y="2682"/>
              <a:ext cx="408" cy="0"/>
            </a:xfrm>
            <a:prstGeom prst="line">
              <a:avLst/>
            </a:prstGeom>
            <a:noFill/>
            <a:ln w="25400">
              <a:solidFill>
                <a:schemeClr val="tx1"/>
              </a:solidFill>
              <a:round/>
              <a:headEnd/>
              <a:tailEnd type="triangle" w="med" len="med"/>
            </a:ln>
            <a:effectLst/>
          </p:spPr>
          <p:txBody>
            <a:bodyPr wrap="none" anchor="ctr"/>
            <a:lstStyle/>
            <a:p>
              <a:endParaRPr lang="zh-CN" altLang="en-US"/>
            </a:p>
          </p:txBody>
        </p:sp>
        <p:sp>
          <p:nvSpPr>
            <p:cNvPr id="725012" name="Line 20"/>
            <p:cNvSpPr>
              <a:spLocks noChangeShapeType="1"/>
            </p:cNvSpPr>
            <p:nvPr/>
          </p:nvSpPr>
          <p:spPr bwMode="auto">
            <a:xfrm>
              <a:off x="2559" y="2224"/>
              <a:ext cx="0" cy="364"/>
            </a:xfrm>
            <a:prstGeom prst="line">
              <a:avLst/>
            </a:prstGeom>
            <a:noFill/>
            <a:ln w="12700">
              <a:solidFill>
                <a:srgbClr val="FF0000"/>
              </a:solidFill>
              <a:round/>
              <a:headEnd type="triangle" w="med" len="med"/>
              <a:tailEnd type="triangle" w="med" len="med"/>
            </a:ln>
            <a:effectLst/>
          </p:spPr>
          <p:txBody>
            <a:bodyPr wrap="none" anchor="ctr"/>
            <a:lstStyle/>
            <a:p>
              <a:endParaRPr lang="zh-CN" altLang="en-US"/>
            </a:p>
          </p:txBody>
        </p:sp>
        <p:sp>
          <p:nvSpPr>
            <p:cNvPr id="725013" name="Line 21"/>
            <p:cNvSpPr>
              <a:spLocks noChangeShapeType="1"/>
            </p:cNvSpPr>
            <p:nvPr/>
          </p:nvSpPr>
          <p:spPr bwMode="auto">
            <a:xfrm>
              <a:off x="2559" y="2455"/>
              <a:ext cx="409" cy="0"/>
            </a:xfrm>
            <a:prstGeom prst="line">
              <a:avLst/>
            </a:prstGeom>
            <a:noFill/>
            <a:ln w="12700">
              <a:solidFill>
                <a:srgbClr val="FF0000"/>
              </a:solidFill>
              <a:round/>
              <a:headEnd/>
              <a:tailEnd/>
            </a:ln>
            <a:effectLst/>
          </p:spPr>
          <p:txBody>
            <a:bodyPr wrap="none" anchor="ctr"/>
            <a:lstStyle/>
            <a:p>
              <a:endParaRPr lang="zh-CN" altLang="en-US"/>
            </a:p>
          </p:txBody>
        </p:sp>
        <p:sp>
          <p:nvSpPr>
            <p:cNvPr id="725014" name="Line 22"/>
            <p:cNvSpPr>
              <a:spLocks noChangeShapeType="1"/>
            </p:cNvSpPr>
            <p:nvPr/>
          </p:nvSpPr>
          <p:spPr bwMode="auto">
            <a:xfrm flipV="1">
              <a:off x="2560" y="2815"/>
              <a:ext cx="0" cy="137"/>
            </a:xfrm>
            <a:prstGeom prst="line">
              <a:avLst/>
            </a:prstGeom>
            <a:noFill/>
            <a:ln w="12700">
              <a:solidFill>
                <a:srgbClr val="FF0000"/>
              </a:solidFill>
              <a:round/>
              <a:headEnd type="triangle" w="med" len="med"/>
              <a:tailEnd/>
            </a:ln>
            <a:effectLst/>
          </p:spPr>
          <p:txBody>
            <a:bodyPr wrap="none" anchor="ctr"/>
            <a:lstStyle/>
            <a:p>
              <a:endParaRPr lang="zh-CN" altLang="en-US"/>
            </a:p>
          </p:txBody>
        </p:sp>
        <p:sp>
          <p:nvSpPr>
            <p:cNvPr id="725015" name="Line 23"/>
            <p:cNvSpPr>
              <a:spLocks noChangeShapeType="1"/>
            </p:cNvSpPr>
            <p:nvPr/>
          </p:nvSpPr>
          <p:spPr bwMode="auto">
            <a:xfrm>
              <a:off x="2560" y="2815"/>
              <a:ext cx="907" cy="0"/>
            </a:xfrm>
            <a:prstGeom prst="line">
              <a:avLst/>
            </a:prstGeom>
            <a:noFill/>
            <a:ln w="12700">
              <a:solidFill>
                <a:srgbClr val="FF0000"/>
              </a:solidFill>
              <a:round/>
              <a:headEnd/>
              <a:tailEnd/>
            </a:ln>
            <a:effectLst/>
          </p:spPr>
          <p:txBody>
            <a:bodyPr wrap="none" anchor="ctr"/>
            <a:lstStyle/>
            <a:p>
              <a:endParaRPr lang="zh-CN" altLang="en-US"/>
            </a:p>
          </p:txBody>
        </p:sp>
        <p:sp>
          <p:nvSpPr>
            <p:cNvPr id="725016" name="Line 24"/>
            <p:cNvSpPr>
              <a:spLocks noChangeShapeType="1"/>
            </p:cNvSpPr>
            <p:nvPr/>
          </p:nvSpPr>
          <p:spPr bwMode="auto">
            <a:xfrm>
              <a:off x="376" y="2315"/>
              <a:ext cx="2051" cy="0"/>
            </a:xfrm>
            <a:prstGeom prst="line">
              <a:avLst/>
            </a:prstGeom>
            <a:noFill/>
            <a:ln w="25400">
              <a:solidFill>
                <a:schemeClr val="tx1"/>
              </a:solidFill>
              <a:round/>
              <a:headEnd/>
              <a:tailEnd/>
            </a:ln>
            <a:effectLst/>
          </p:spPr>
          <p:txBody>
            <a:bodyPr wrap="none" anchor="ctr"/>
            <a:lstStyle/>
            <a:p>
              <a:endParaRPr lang="zh-CN" altLang="en-US"/>
            </a:p>
          </p:txBody>
        </p:sp>
        <p:sp>
          <p:nvSpPr>
            <p:cNvPr id="725017" name="Line 25"/>
            <p:cNvSpPr>
              <a:spLocks noChangeShapeType="1"/>
            </p:cNvSpPr>
            <p:nvPr/>
          </p:nvSpPr>
          <p:spPr bwMode="auto">
            <a:xfrm flipV="1">
              <a:off x="376" y="2679"/>
              <a:ext cx="2051" cy="0"/>
            </a:xfrm>
            <a:prstGeom prst="line">
              <a:avLst/>
            </a:prstGeom>
            <a:noFill/>
            <a:ln w="25400">
              <a:solidFill>
                <a:schemeClr val="tx1"/>
              </a:solidFill>
              <a:round/>
              <a:headEnd/>
              <a:tailEnd/>
            </a:ln>
            <a:effectLst/>
          </p:spPr>
          <p:txBody>
            <a:bodyPr wrap="none" anchor="ctr"/>
            <a:lstStyle/>
            <a:p>
              <a:endParaRPr lang="zh-CN" altLang="en-US"/>
            </a:p>
          </p:txBody>
        </p:sp>
        <p:sp>
          <p:nvSpPr>
            <p:cNvPr id="725018" name="Line 26"/>
            <p:cNvSpPr>
              <a:spLocks noChangeShapeType="1"/>
            </p:cNvSpPr>
            <p:nvPr/>
          </p:nvSpPr>
          <p:spPr bwMode="auto">
            <a:xfrm>
              <a:off x="376" y="3043"/>
              <a:ext cx="2051" cy="0"/>
            </a:xfrm>
            <a:prstGeom prst="line">
              <a:avLst/>
            </a:prstGeom>
            <a:noFill/>
            <a:ln w="25400">
              <a:solidFill>
                <a:schemeClr val="tx1"/>
              </a:solidFill>
              <a:round/>
              <a:headEnd/>
              <a:tailEnd/>
            </a:ln>
            <a:effectLst/>
          </p:spPr>
          <p:txBody>
            <a:bodyPr wrap="none" anchor="ctr"/>
            <a:lstStyle/>
            <a:p>
              <a:endParaRPr lang="zh-CN" altLang="en-US"/>
            </a:p>
          </p:txBody>
        </p:sp>
        <p:sp>
          <p:nvSpPr>
            <p:cNvPr id="725019" name="Text Box 27"/>
            <p:cNvSpPr txBox="1">
              <a:spLocks noChangeArrowheads="1"/>
            </p:cNvSpPr>
            <p:nvPr/>
          </p:nvSpPr>
          <p:spPr bwMode="auto">
            <a:xfrm>
              <a:off x="346" y="3226"/>
              <a:ext cx="1728" cy="212"/>
            </a:xfrm>
            <a:prstGeom prst="rect">
              <a:avLst/>
            </a:prstGeom>
            <a:noFill/>
            <a:ln w="9525">
              <a:noFill/>
              <a:miter lim="800000"/>
              <a:headEnd/>
              <a:tailEnd/>
            </a:ln>
            <a:effectLst/>
          </p:spPr>
          <p:txBody>
            <a:bodyPr>
              <a:spAutoFit/>
            </a:bodyPr>
            <a:lstStyle/>
            <a:p>
              <a:pPr algn="l">
                <a:spcBef>
                  <a:spcPct val="50000"/>
                </a:spcBef>
              </a:pPr>
              <a:r>
                <a:rPr lang="en-US" altLang="zh-CN" sz="1600" b="1">
                  <a:solidFill>
                    <a:srgbClr val="0000FF"/>
                  </a:solidFill>
                  <a:latin typeface="Times New Roman" pitchFamily="18" charset="0"/>
                  <a:ea typeface="楷体_GB2312" pitchFamily="49" charset="-122"/>
                </a:rPr>
                <a:t>Modem</a:t>
              </a:r>
              <a:r>
                <a:rPr lang="zh-CN" altLang="en-US" sz="1600">
                  <a:solidFill>
                    <a:srgbClr val="0000FF"/>
                  </a:solidFill>
                  <a:latin typeface="Times New Roman" pitchFamily="18" charset="0"/>
                  <a:ea typeface="楷体_GB2312" pitchFamily="49" charset="-122"/>
                </a:rPr>
                <a:t>中断</a:t>
              </a:r>
              <a:r>
                <a:rPr lang="en-US" altLang="zh-CN" sz="1600">
                  <a:latin typeface="Times New Roman" pitchFamily="18" charset="0"/>
                  <a:ea typeface="楷体_GB2312" pitchFamily="49" charset="-122"/>
                </a:rPr>
                <a:t>(UnIIR[3:1]=001)</a:t>
              </a:r>
            </a:p>
          </p:txBody>
        </p:sp>
        <p:sp>
          <p:nvSpPr>
            <p:cNvPr id="725020" name="Rectangle 28"/>
            <p:cNvSpPr>
              <a:spLocks noChangeArrowheads="1"/>
            </p:cNvSpPr>
            <p:nvPr/>
          </p:nvSpPr>
          <p:spPr bwMode="auto">
            <a:xfrm>
              <a:off x="2333" y="3226"/>
              <a:ext cx="453" cy="273"/>
            </a:xfrm>
            <a:prstGeom prst="rect">
              <a:avLst/>
            </a:prstGeom>
            <a:solidFill>
              <a:srgbClr val="FFFFCC"/>
            </a:solidFill>
            <a:ln w="12700" algn="ctr">
              <a:solidFill>
                <a:schemeClr val="tx1"/>
              </a:solidFill>
              <a:miter lim="800000"/>
              <a:headEnd/>
              <a:tailEnd/>
            </a:ln>
            <a:effectLst/>
          </p:spPr>
          <p:txBody>
            <a:bodyPr wrap="none" anchor="ctr"/>
            <a:lstStyle/>
            <a:p>
              <a:endParaRPr lang="zh-CN" altLang="en-US"/>
            </a:p>
          </p:txBody>
        </p:sp>
        <p:sp>
          <p:nvSpPr>
            <p:cNvPr id="725021" name="Line 29"/>
            <p:cNvSpPr>
              <a:spLocks noChangeShapeType="1"/>
            </p:cNvSpPr>
            <p:nvPr/>
          </p:nvSpPr>
          <p:spPr bwMode="auto">
            <a:xfrm flipV="1">
              <a:off x="2423" y="3271"/>
              <a:ext cx="227" cy="136"/>
            </a:xfrm>
            <a:prstGeom prst="line">
              <a:avLst/>
            </a:prstGeom>
            <a:noFill/>
            <a:ln w="25400">
              <a:solidFill>
                <a:schemeClr val="tx1"/>
              </a:solidFill>
              <a:round/>
              <a:headEnd/>
              <a:tailEnd/>
            </a:ln>
            <a:effectLst/>
          </p:spPr>
          <p:txBody>
            <a:bodyPr wrap="none" anchor="ctr"/>
            <a:lstStyle/>
            <a:p>
              <a:endParaRPr lang="zh-CN" altLang="en-US"/>
            </a:p>
          </p:txBody>
        </p:sp>
        <p:sp>
          <p:nvSpPr>
            <p:cNvPr id="725022" name="Line 30"/>
            <p:cNvSpPr>
              <a:spLocks noChangeShapeType="1"/>
            </p:cNvSpPr>
            <p:nvPr/>
          </p:nvSpPr>
          <p:spPr bwMode="auto">
            <a:xfrm>
              <a:off x="2650" y="3408"/>
              <a:ext cx="635" cy="0"/>
            </a:xfrm>
            <a:prstGeom prst="line">
              <a:avLst/>
            </a:prstGeom>
            <a:noFill/>
            <a:ln w="25400">
              <a:solidFill>
                <a:schemeClr val="tx1"/>
              </a:solidFill>
              <a:round/>
              <a:headEnd/>
              <a:tailEnd/>
            </a:ln>
            <a:effectLst/>
          </p:spPr>
          <p:txBody>
            <a:bodyPr wrap="none" anchor="ctr"/>
            <a:lstStyle/>
            <a:p>
              <a:endParaRPr lang="zh-CN" altLang="en-US"/>
            </a:p>
          </p:txBody>
        </p:sp>
        <p:sp>
          <p:nvSpPr>
            <p:cNvPr id="725023" name="Line 31"/>
            <p:cNvSpPr>
              <a:spLocks noChangeShapeType="1"/>
            </p:cNvSpPr>
            <p:nvPr/>
          </p:nvSpPr>
          <p:spPr bwMode="auto">
            <a:xfrm>
              <a:off x="376" y="3407"/>
              <a:ext cx="2051" cy="1"/>
            </a:xfrm>
            <a:prstGeom prst="line">
              <a:avLst/>
            </a:prstGeom>
            <a:noFill/>
            <a:ln w="25400">
              <a:solidFill>
                <a:schemeClr val="tx1"/>
              </a:solidFill>
              <a:round/>
              <a:headEnd/>
              <a:tailEnd/>
            </a:ln>
            <a:effectLst/>
          </p:spPr>
          <p:txBody>
            <a:bodyPr wrap="none" anchor="ctr"/>
            <a:lstStyle/>
            <a:p>
              <a:endParaRPr lang="zh-CN" altLang="en-US"/>
            </a:p>
          </p:txBody>
        </p:sp>
        <p:sp>
          <p:nvSpPr>
            <p:cNvPr id="725024" name="Line 32"/>
            <p:cNvSpPr>
              <a:spLocks noChangeShapeType="1"/>
            </p:cNvSpPr>
            <p:nvPr/>
          </p:nvSpPr>
          <p:spPr bwMode="auto">
            <a:xfrm>
              <a:off x="2105" y="1502"/>
              <a:ext cx="0" cy="1679"/>
            </a:xfrm>
            <a:prstGeom prst="line">
              <a:avLst/>
            </a:prstGeom>
            <a:noFill/>
            <a:ln w="9525">
              <a:solidFill>
                <a:srgbClr val="FF0000"/>
              </a:solidFill>
              <a:round/>
              <a:headEnd/>
              <a:tailEnd/>
            </a:ln>
            <a:effectLst/>
          </p:spPr>
          <p:txBody>
            <a:bodyPr/>
            <a:lstStyle/>
            <a:p>
              <a:endParaRPr lang="zh-CN" altLang="en-US"/>
            </a:p>
          </p:txBody>
        </p:sp>
        <p:sp>
          <p:nvSpPr>
            <p:cNvPr id="725025" name="Line 33"/>
            <p:cNvSpPr>
              <a:spLocks noChangeShapeType="1"/>
            </p:cNvSpPr>
            <p:nvPr/>
          </p:nvSpPr>
          <p:spPr bwMode="auto">
            <a:xfrm>
              <a:off x="2559" y="1502"/>
              <a:ext cx="0" cy="318"/>
            </a:xfrm>
            <a:prstGeom prst="line">
              <a:avLst/>
            </a:prstGeom>
            <a:noFill/>
            <a:ln w="9525">
              <a:solidFill>
                <a:srgbClr val="FF0000"/>
              </a:solidFill>
              <a:round/>
              <a:headEnd/>
              <a:tailEnd type="triangle" w="med" len="med"/>
            </a:ln>
            <a:effectLst/>
          </p:spPr>
          <p:txBody>
            <a:bodyPr/>
            <a:lstStyle/>
            <a:p>
              <a:endParaRPr lang="zh-CN" altLang="en-US"/>
            </a:p>
          </p:txBody>
        </p:sp>
        <p:sp>
          <p:nvSpPr>
            <p:cNvPr id="725026" name="Line 34"/>
            <p:cNvSpPr>
              <a:spLocks noChangeShapeType="1"/>
            </p:cNvSpPr>
            <p:nvPr/>
          </p:nvSpPr>
          <p:spPr bwMode="auto">
            <a:xfrm flipV="1">
              <a:off x="2967" y="1457"/>
              <a:ext cx="0" cy="998"/>
            </a:xfrm>
            <a:prstGeom prst="line">
              <a:avLst/>
            </a:prstGeom>
            <a:noFill/>
            <a:ln w="9525">
              <a:solidFill>
                <a:srgbClr val="FF0000"/>
              </a:solidFill>
              <a:round/>
              <a:headEnd/>
              <a:tailEnd/>
            </a:ln>
            <a:effectLst/>
          </p:spPr>
          <p:txBody>
            <a:bodyPr/>
            <a:lstStyle/>
            <a:p>
              <a:endParaRPr lang="zh-CN" altLang="en-US"/>
            </a:p>
          </p:txBody>
        </p:sp>
        <p:sp>
          <p:nvSpPr>
            <p:cNvPr id="725027" name="Line 35"/>
            <p:cNvSpPr>
              <a:spLocks noChangeShapeType="1"/>
            </p:cNvSpPr>
            <p:nvPr/>
          </p:nvSpPr>
          <p:spPr bwMode="auto">
            <a:xfrm flipV="1">
              <a:off x="3466" y="1457"/>
              <a:ext cx="0" cy="1361"/>
            </a:xfrm>
            <a:prstGeom prst="line">
              <a:avLst/>
            </a:prstGeom>
            <a:noFill/>
            <a:ln w="9525">
              <a:solidFill>
                <a:srgbClr val="FF0000"/>
              </a:solidFill>
              <a:round/>
              <a:headEnd/>
              <a:tailEnd/>
            </a:ln>
            <a:effectLst/>
          </p:spPr>
          <p:txBody>
            <a:bodyPr/>
            <a:lstStyle/>
            <a:p>
              <a:endParaRPr lang="zh-CN" altLang="en-US"/>
            </a:p>
          </p:txBody>
        </p:sp>
        <p:sp>
          <p:nvSpPr>
            <p:cNvPr id="725028" name="Line 36"/>
            <p:cNvSpPr>
              <a:spLocks noChangeShapeType="1"/>
            </p:cNvSpPr>
            <p:nvPr/>
          </p:nvSpPr>
          <p:spPr bwMode="auto">
            <a:xfrm>
              <a:off x="2105" y="3181"/>
              <a:ext cx="454" cy="0"/>
            </a:xfrm>
            <a:prstGeom prst="line">
              <a:avLst/>
            </a:prstGeom>
            <a:noFill/>
            <a:ln w="9525">
              <a:solidFill>
                <a:srgbClr val="FF0000"/>
              </a:solidFill>
              <a:round/>
              <a:headEnd/>
              <a:tailEnd/>
            </a:ln>
            <a:effectLst/>
          </p:spPr>
          <p:txBody>
            <a:bodyPr/>
            <a:lstStyle/>
            <a:p>
              <a:endParaRPr lang="zh-CN" altLang="en-US"/>
            </a:p>
          </p:txBody>
        </p:sp>
        <p:sp>
          <p:nvSpPr>
            <p:cNvPr id="725029" name="Line 37"/>
            <p:cNvSpPr>
              <a:spLocks noChangeShapeType="1"/>
            </p:cNvSpPr>
            <p:nvPr/>
          </p:nvSpPr>
          <p:spPr bwMode="auto">
            <a:xfrm>
              <a:off x="2559" y="3181"/>
              <a:ext cx="0" cy="90"/>
            </a:xfrm>
            <a:prstGeom prst="line">
              <a:avLst/>
            </a:prstGeom>
            <a:noFill/>
            <a:ln w="9525">
              <a:solidFill>
                <a:srgbClr val="FF0000"/>
              </a:solidFill>
              <a:round/>
              <a:headEnd/>
              <a:tailEnd type="triangle" w="med" len="med"/>
            </a:ln>
            <a:effectLst/>
          </p:spPr>
          <p:txBody>
            <a:bodyPr/>
            <a:lstStyle/>
            <a:p>
              <a:endParaRPr lang="zh-CN" altLang="en-US"/>
            </a:p>
          </p:txBody>
        </p:sp>
        <p:sp>
          <p:nvSpPr>
            <p:cNvPr id="725030" name="Text Box 38"/>
            <p:cNvSpPr txBox="1">
              <a:spLocks noChangeArrowheads="1"/>
            </p:cNvSpPr>
            <p:nvPr/>
          </p:nvSpPr>
          <p:spPr bwMode="auto">
            <a:xfrm>
              <a:off x="1426" y="1276"/>
              <a:ext cx="544" cy="218"/>
            </a:xfrm>
            <a:prstGeom prst="rect">
              <a:avLst/>
            </a:prstGeom>
            <a:solidFill>
              <a:srgbClr val="CCFF99"/>
            </a:solidFill>
            <a:ln w="9525">
              <a:solidFill>
                <a:schemeClr val="accent2"/>
              </a:solidFill>
              <a:miter lim="800000"/>
              <a:headEnd/>
              <a:tailEnd/>
            </a:ln>
            <a:effectLst/>
          </p:spPr>
          <p:txBody>
            <a:bodyPr>
              <a:spAutoFit/>
            </a:bodyPr>
            <a:lstStyle/>
            <a:p>
              <a:pPr algn="l">
                <a:spcBef>
                  <a:spcPct val="50000"/>
                </a:spcBef>
              </a:pPr>
              <a:r>
                <a:rPr lang="en-US" altLang="zh-CN" sz="1600">
                  <a:ea typeface="华文新魏" pitchFamily="2" charset="-122"/>
                </a:rPr>
                <a:t>UnIER</a:t>
              </a:r>
            </a:p>
          </p:txBody>
        </p:sp>
        <p:sp>
          <p:nvSpPr>
            <p:cNvPr id="725031" name="Line 39"/>
            <p:cNvSpPr>
              <a:spLocks noChangeShapeType="1"/>
            </p:cNvSpPr>
            <p:nvPr/>
          </p:nvSpPr>
          <p:spPr bwMode="auto">
            <a:xfrm>
              <a:off x="2379" y="1495"/>
              <a:ext cx="453" cy="0"/>
            </a:xfrm>
            <a:prstGeom prst="line">
              <a:avLst/>
            </a:prstGeom>
            <a:noFill/>
            <a:ln w="12700">
              <a:solidFill>
                <a:schemeClr val="tx1"/>
              </a:solidFill>
              <a:round/>
              <a:headEnd/>
              <a:tailEnd/>
            </a:ln>
            <a:effectLst/>
          </p:spPr>
          <p:txBody>
            <a:bodyPr wrap="none" anchor="ctr"/>
            <a:lstStyle/>
            <a:p>
              <a:endParaRPr lang="zh-CN" altLang="en-US"/>
            </a:p>
          </p:txBody>
        </p:sp>
        <p:sp>
          <p:nvSpPr>
            <p:cNvPr id="725032" name="Text Box 40"/>
            <p:cNvSpPr txBox="1">
              <a:spLocks noChangeArrowheads="1"/>
            </p:cNvSpPr>
            <p:nvPr/>
          </p:nvSpPr>
          <p:spPr bwMode="auto">
            <a:xfrm>
              <a:off x="2333" y="1276"/>
              <a:ext cx="453" cy="219"/>
            </a:xfrm>
            <a:prstGeom prst="rect">
              <a:avLst/>
            </a:prstGeom>
            <a:solidFill>
              <a:schemeClr val="hlink"/>
            </a:solidFill>
            <a:ln w="9525">
              <a:solidFill>
                <a:schemeClr val="accent2"/>
              </a:solidFill>
              <a:miter lim="800000"/>
              <a:headEnd/>
              <a:tailEnd/>
            </a:ln>
            <a:effectLst/>
          </p:spPr>
          <p:txBody>
            <a:bodyPr>
              <a:spAutoFit/>
            </a:bodyPr>
            <a:lstStyle/>
            <a:p>
              <a:pPr>
                <a:spcBef>
                  <a:spcPct val="50000"/>
                </a:spcBef>
              </a:pPr>
              <a:r>
                <a:rPr lang="en-US" altLang="zh-CN" sz="1600">
                  <a:ea typeface="华文新魏" pitchFamily="2" charset="-122"/>
                </a:rPr>
                <a:t>bit2</a:t>
              </a:r>
            </a:p>
          </p:txBody>
        </p:sp>
        <p:sp>
          <p:nvSpPr>
            <p:cNvPr id="725033" name="Text Box 41"/>
            <p:cNvSpPr txBox="1">
              <a:spLocks noChangeArrowheads="1"/>
            </p:cNvSpPr>
            <p:nvPr/>
          </p:nvSpPr>
          <p:spPr bwMode="auto">
            <a:xfrm>
              <a:off x="2786" y="1276"/>
              <a:ext cx="453" cy="219"/>
            </a:xfrm>
            <a:prstGeom prst="rect">
              <a:avLst/>
            </a:prstGeom>
            <a:solidFill>
              <a:schemeClr val="hlink"/>
            </a:solidFill>
            <a:ln w="9525">
              <a:solidFill>
                <a:schemeClr val="accent2"/>
              </a:solidFill>
              <a:miter lim="800000"/>
              <a:headEnd/>
              <a:tailEnd/>
            </a:ln>
            <a:effectLst/>
          </p:spPr>
          <p:txBody>
            <a:bodyPr>
              <a:spAutoFit/>
            </a:bodyPr>
            <a:lstStyle/>
            <a:p>
              <a:pPr>
                <a:spcBef>
                  <a:spcPct val="50000"/>
                </a:spcBef>
              </a:pPr>
              <a:r>
                <a:rPr lang="en-US" altLang="zh-CN" sz="1600">
                  <a:ea typeface="华文新魏" pitchFamily="2" charset="-122"/>
                </a:rPr>
                <a:t>bit1</a:t>
              </a:r>
            </a:p>
          </p:txBody>
        </p:sp>
        <p:sp>
          <p:nvSpPr>
            <p:cNvPr id="725034" name="Text Box 42"/>
            <p:cNvSpPr txBox="1">
              <a:spLocks noChangeArrowheads="1"/>
            </p:cNvSpPr>
            <p:nvPr/>
          </p:nvSpPr>
          <p:spPr bwMode="auto">
            <a:xfrm>
              <a:off x="3240" y="1276"/>
              <a:ext cx="453" cy="219"/>
            </a:xfrm>
            <a:prstGeom prst="rect">
              <a:avLst/>
            </a:prstGeom>
            <a:solidFill>
              <a:schemeClr val="hlink"/>
            </a:solidFill>
            <a:ln w="9525">
              <a:solidFill>
                <a:schemeClr val="accent2"/>
              </a:solidFill>
              <a:miter lim="800000"/>
              <a:headEnd/>
              <a:tailEnd/>
            </a:ln>
            <a:effectLst/>
          </p:spPr>
          <p:txBody>
            <a:bodyPr>
              <a:spAutoFit/>
            </a:bodyPr>
            <a:lstStyle/>
            <a:p>
              <a:pPr>
                <a:spcBef>
                  <a:spcPct val="50000"/>
                </a:spcBef>
              </a:pPr>
              <a:r>
                <a:rPr lang="en-US" altLang="zh-CN" sz="1600">
                  <a:ea typeface="华文新魏" pitchFamily="2" charset="-122"/>
                </a:rPr>
                <a:t>bit0</a:t>
              </a:r>
            </a:p>
          </p:txBody>
        </p:sp>
        <p:sp>
          <p:nvSpPr>
            <p:cNvPr id="725035" name="Text Box 43"/>
            <p:cNvSpPr txBox="1">
              <a:spLocks noChangeArrowheads="1"/>
            </p:cNvSpPr>
            <p:nvPr/>
          </p:nvSpPr>
          <p:spPr bwMode="auto">
            <a:xfrm>
              <a:off x="1879" y="1276"/>
              <a:ext cx="453" cy="219"/>
            </a:xfrm>
            <a:prstGeom prst="rect">
              <a:avLst/>
            </a:prstGeom>
            <a:solidFill>
              <a:schemeClr val="hlink"/>
            </a:solidFill>
            <a:ln w="9525">
              <a:solidFill>
                <a:schemeClr val="accent2"/>
              </a:solidFill>
              <a:miter lim="800000"/>
              <a:headEnd/>
              <a:tailEnd/>
            </a:ln>
            <a:effectLst/>
          </p:spPr>
          <p:txBody>
            <a:bodyPr>
              <a:spAutoFit/>
            </a:bodyPr>
            <a:lstStyle/>
            <a:p>
              <a:pPr>
                <a:spcBef>
                  <a:spcPct val="50000"/>
                </a:spcBef>
              </a:pPr>
              <a:r>
                <a:rPr lang="en-US" altLang="zh-CN" sz="1600">
                  <a:ea typeface="华文新魏" pitchFamily="2" charset="-122"/>
                </a:rPr>
                <a:t>bit3</a:t>
              </a:r>
            </a:p>
          </p:txBody>
        </p:sp>
        <p:sp>
          <p:nvSpPr>
            <p:cNvPr id="725036" name="Text Box 44"/>
            <p:cNvSpPr txBox="1">
              <a:spLocks noChangeArrowheads="1"/>
            </p:cNvSpPr>
            <p:nvPr/>
          </p:nvSpPr>
          <p:spPr bwMode="auto">
            <a:xfrm>
              <a:off x="282" y="1732"/>
              <a:ext cx="1769" cy="212"/>
            </a:xfrm>
            <a:prstGeom prst="rect">
              <a:avLst/>
            </a:prstGeom>
            <a:noFill/>
            <a:ln w="9525">
              <a:noFill/>
              <a:miter lim="800000"/>
              <a:headEnd/>
              <a:tailEnd/>
            </a:ln>
            <a:effectLst/>
          </p:spPr>
          <p:txBody>
            <a:bodyPr>
              <a:spAutoFit/>
            </a:bodyPr>
            <a:lstStyle/>
            <a:p>
              <a:pPr algn="r">
                <a:spcBef>
                  <a:spcPct val="50000"/>
                </a:spcBef>
              </a:pPr>
              <a:r>
                <a:rPr lang="en-US" altLang="zh-CN" sz="1600" b="1">
                  <a:solidFill>
                    <a:srgbClr val="0000FF"/>
                  </a:solidFill>
                  <a:latin typeface="Times New Roman" pitchFamily="18" charset="0"/>
                  <a:ea typeface="楷体_GB2312" pitchFamily="49" charset="-122"/>
                </a:rPr>
                <a:t>RLS</a:t>
              </a:r>
              <a:r>
                <a:rPr lang="zh-CN" altLang="en-US" sz="1600">
                  <a:solidFill>
                    <a:srgbClr val="0000FF"/>
                  </a:solidFill>
                  <a:latin typeface="Times New Roman" pitchFamily="18" charset="0"/>
                  <a:ea typeface="楷体_GB2312" pitchFamily="49" charset="-122"/>
                </a:rPr>
                <a:t>中断</a:t>
              </a:r>
              <a:r>
                <a:rPr lang="en-US" altLang="zh-CN" sz="1600">
                  <a:latin typeface="Times New Roman" pitchFamily="18" charset="0"/>
                  <a:ea typeface="楷体_GB2312" pitchFamily="49" charset="-122"/>
                </a:rPr>
                <a:t>(UnIIR[3:1]=011)</a:t>
              </a:r>
            </a:p>
          </p:txBody>
        </p:sp>
        <p:sp>
          <p:nvSpPr>
            <p:cNvPr id="725037" name="Text Box 45"/>
            <p:cNvSpPr txBox="1">
              <a:spLocks noChangeArrowheads="1"/>
            </p:cNvSpPr>
            <p:nvPr/>
          </p:nvSpPr>
          <p:spPr bwMode="auto">
            <a:xfrm>
              <a:off x="282" y="2095"/>
              <a:ext cx="1769" cy="212"/>
            </a:xfrm>
            <a:prstGeom prst="rect">
              <a:avLst/>
            </a:prstGeom>
            <a:noFill/>
            <a:ln w="9525">
              <a:noFill/>
              <a:miter lim="800000"/>
              <a:headEnd/>
              <a:tailEnd/>
            </a:ln>
            <a:effectLst/>
          </p:spPr>
          <p:txBody>
            <a:bodyPr>
              <a:spAutoFit/>
            </a:bodyPr>
            <a:lstStyle/>
            <a:p>
              <a:pPr algn="r">
                <a:spcBef>
                  <a:spcPct val="50000"/>
                </a:spcBef>
              </a:pPr>
              <a:r>
                <a:rPr lang="en-US" altLang="zh-CN" sz="1600" b="1">
                  <a:solidFill>
                    <a:srgbClr val="0000FF"/>
                  </a:solidFill>
                  <a:latin typeface="Times New Roman" pitchFamily="18" charset="0"/>
                  <a:ea typeface="楷体_GB2312" pitchFamily="49" charset="-122"/>
                </a:rPr>
                <a:t>RDA</a:t>
              </a:r>
              <a:r>
                <a:rPr lang="zh-CN" altLang="en-US" sz="1600">
                  <a:solidFill>
                    <a:srgbClr val="0000FF"/>
                  </a:solidFill>
                  <a:latin typeface="Times New Roman" pitchFamily="18" charset="0"/>
                  <a:ea typeface="楷体_GB2312" pitchFamily="49" charset="-122"/>
                </a:rPr>
                <a:t>中断</a:t>
              </a:r>
              <a:r>
                <a:rPr lang="en-US" altLang="zh-CN" sz="1600">
                  <a:latin typeface="Times New Roman" pitchFamily="18" charset="0"/>
                  <a:ea typeface="楷体_GB2312" pitchFamily="49" charset="-122"/>
                </a:rPr>
                <a:t>(UnIIR[3:1]=010)</a:t>
              </a:r>
            </a:p>
          </p:txBody>
        </p:sp>
        <p:sp>
          <p:nvSpPr>
            <p:cNvPr id="725038" name="Text Box 46"/>
            <p:cNvSpPr txBox="1">
              <a:spLocks noChangeArrowheads="1"/>
            </p:cNvSpPr>
            <p:nvPr/>
          </p:nvSpPr>
          <p:spPr bwMode="auto">
            <a:xfrm>
              <a:off x="282" y="2458"/>
              <a:ext cx="1769" cy="212"/>
            </a:xfrm>
            <a:prstGeom prst="rect">
              <a:avLst/>
            </a:prstGeom>
            <a:noFill/>
            <a:ln w="9525">
              <a:noFill/>
              <a:miter lim="800000"/>
              <a:headEnd/>
              <a:tailEnd/>
            </a:ln>
            <a:effectLst/>
          </p:spPr>
          <p:txBody>
            <a:bodyPr>
              <a:spAutoFit/>
            </a:bodyPr>
            <a:lstStyle/>
            <a:p>
              <a:pPr algn="r">
                <a:spcBef>
                  <a:spcPct val="50000"/>
                </a:spcBef>
              </a:pPr>
              <a:r>
                <a:rPr lang="en-US" altLang="zh-CN" sz="1600" b="1">
                  <a:solidFill>
                    <a:srgbClr val="0000FF"/>
                  </a:solidFill>
                  <a:latin typeface="Times New Roman" pitchFamily="18" charset="0"/>
                  <a:ea typeface="楷体_GB2312" pitchFamily="49" charset="-122"/>
                </a:rPr>
                <a:t>CTI</a:t>
              </a:r>
              <a:r>
                <a:rPr lang="zh-CN" altLang="en-US" sz="1600">
                  <a:solidFill>
                    <a:srgbClr val="0000FF"/>
                  </a:solidFill>
                  <a:latin typeface="Times New Roman" pitchFamily="18" charset="0"/>
                  <a:ea typeface="楷体_GB2312" pitchFamily="49" charset="-122"/>
                </a:rPr>
                <a:t>中断</a:t>
              </a:r>
              <a:r>
                <a:rPr lang="en-US" altLang="zh-CN" sz="1600">
                  <a:latin typeface="Times New Roman" pitchFamily="18" charset="0"/>
                  <a:ea typeface="楷体_GB2312" pitchFamily="49" charset="-122"/>
                </a:rPr>
                <a:t>(UnIIR[3:1]=110)</a:t>
              </a:r>
            </a:p>
          </p:txBody>
        </p:sp>
        <p:sp>
          <p:nvSpPr>
            <p:cNvPr id="725039" name="Text Box 47"/>
            <p:cNvSpPr txBox="1">
              <a:spLocks noChangeArrowheads="1"/>
            </p:cNvSpPr>
            <p:nvPr/>
          </p:nvSpPr>
          <p:spPr bwMode="auto">
            <a:xfrm>
              <a:off x="191" y="2821"/>
              <a:ext cx="1860" cy="212"/>
            </a:xfrm>
            <a:prstGeom prst="rect">
              <a:avLst/>
            </a:prstGeom>
            <a:noFill/>
            <a:ln w="9525">
              <a:noFill/>
              <a:miter lim="800000"/>
              <a:headEnd/>
              <a:tailEnd/>
            </a:ln>
            <a:effectLst/>
          </p:spPr>
          <p:txBody>
            <a:bodyPr>
              <a:spAutoFit/>
            </a:bodyPr>
            <a:lstStyle/>
            <a:p>
              <a:pPr algn="r">
                <a:spcBef>
                  <a:spcPct val="50000"/>
                </a:spcBef>
              </a:pPr>
              <a:r>
                <a:rPr lang="en-US" altLang="zh-CN" sz="1600" b="1">
                  <a:solidFill>
                    <a:srgbClr val="0000FF"/>
                  </a:solidFill>
                  <a:latin typeface="Times New Roman" pitchFamily="18" charset="0"/>
                  <a:ea typeface="楷体_GB2312" pitchFamily="49" charset="-122"/>
                </a:rPr>
                <a:t>THRE</a:t>
              </a:r>
              <a:r>
                <a:rPr lang="zh-CN" altLang="en-US" sz="1600">
                  <a:solidFill>
                    <a:srgbClr val="0000FF"/>
                  </a:solidFill>
                  <a:latin typeface="Times New Roman" pitchFamily="18" charset="0"/>
                  <a:ea typeface="楷体_GB2312" pitchFamily="49" charset="-122"/>
                </a:rPr>
                <a:t>中断</a:t>
              </a:r>
              <a:r>
                <a:rPr lang="en-US" altLang="zh-CN" sz="1600">
                  <a:latin typeface="Times New Roman" pitchFamily="18" charset="0"/>
                  <a:ea typeface="楷体_GB2312" pitchFamily="49" charset="-122"/>
                </a:rPr>
                <a:t>(UnIIR[3:1]=001)</a:t>
              </a:r>
            </a:p>
          </p:txBody>
        </p:sp>
      </p:grpSp>
      <p:sp>
        <p:nvSpPr>
          <p:cNvPr id="725040" name="Text Box 48"/>
          <p:cNvSpPr txBox="1">
            <a:spLocks noChangeArrowheads="1"/>
          </p:cNvSpPr>
          <p:nvPr/>
        </p:nvSpPr>
        <p:spPr bwMode="auto">
          <a:xfrm>
            <a:off x="2640013" y="6070600"/>
            <a:ext cx="3541712" cy="336550"/>
          </a:xfrm>
          <a:prstGeom prst="rect">
            <a:avLst/>
          </a:prstGeom>
          <a:noFill/>
          <a:ln w="9525" algn="ctr">
            <a:noFill/>
            <a:miter lim="800000"/>
            <a:headEnd/>
            <a:tailEnd/>
          </a:ln>
          <a:effectLst/>
        </p:spPr>
        <p:txBody>
          <a:bodyPr wrap="none">
            <a:spAutoFit/>
          </a:bodyPr>
          <a:lstStyle/>
          <a:p>
            <a:r>
              <a:rPr lang="zh-CN" altLang="en-US" sz="1600">
                <a:solidFill>
                  <a:srgbClr val="FF0000"/>
                </a:solidFill>
                <a:latin typeface="华文新魏" pitchFamily="2" charset="-122"/>
                <a:ea typeface="华文新魏" pitchFamily="2" charset="-122"/>
              </a:rPr>
              <a:t>注意：只有</a:t>
            </a:r>
            <a:r>
              <a:rPr lang="en-US" altLang="zh-CN" sz="1600">
                <a:solidFill>
                  <a:srgbClr val="FF0000"/>
                </a:solidFill>
                <a:latin typeface="华文新魏" pitchFamily="2" charset="-122"/>
                <a:ea typeface="华文新魏" pitchFamily="2" charset="-122"/>
              </a:rPr>
              <a:t>UART1</a:t>
            </a:r>
            <a:r>
              <a:rPr lang="zh-CN" altLang="en-US" sz="1600">
                <a:solidFill>
                  <a:srgbClr val="FF0000"/>
                </a:solidFill>
                <a:latin typeface="华文新魏" pitchFamily="2" charset="-122"/>
                <a:ea typeface="华文新魏" pitchFamily="2" charset="-122"/>
              </a:rPr>
              <a:t>才有</a:t>
            </a:r>
            <a:r>
              <a:rPr lang="en-US" altLang="zh-CN" sz="1600">
                <a:solidFill>
                  <a:srgbClr val="FF0000"/>
                </a:solidFill>
                <a:latin typeface="华文新魏" pitchFamily="2" charset="-122"/>
                <a:ea typeface="华文新魏" pitchFamily="2" charset="-122"/>
              </a:rPr>
              <a:t>Modem</a:t>
            </a:r>
            <a:r>
              <a:rPr lang="zh-CN" altLang="en-US" sz="1600">
                <a:solidFill>
                  <a:srgbClr val="FF0000"/>
                </a:solidFill>
                <a:latin typeface="华文新魏" pitchFamily="2" charset="-122"/>
                <a:ea typeface="华文新魏" pitchFamily="2" charset="-122"/>
              </a:rPr>
              <a:t>中断。</a:t>
            </a:r>
          </a:p>
        </p:txBody>
      </p:sp>
      <p:sp>
        <p:nvSpPr>
          <p:cNvPr id="725041" name="Rectangle 49"/>
          <p:cNvSpPr>
            <a:spLocks noGrp="1" noChangeArrowheads="1"/>
          </p:cNvSpPr>
          <p:nvPr>
            <p:ph type="title"/>
          </p:nvPr>
        </p:nvSpPr>
        <p:spPr>
          <a:noFill/>
          <a:ln/>
        </p:spPr>
        <p:txBody>
          <a:bodyPr/>
          <a:lstStyle/>
          <a:p>
            <a:r>
              <a:rPr lang="en-US" altLang="zh-CN" dirty="0"/>
              <a:t>5.4.1  UART(0</a:t>
            </a:r>
            <a:r>
              <a:rPr lang="zh-CN" altLang="en-US" dirty="0"/>
              <a:t>、</a:t>
            </a:r>
            <a:r>
              <a:rPr lang="en-US" altLang="zh-CN" dirty="0"/>
              <a:t>1) </a:t>
            </a:r>
          </a:p>
        </p:txBody>
      </p:sp>
      <p:sp>
        <p:nvSpPr>
          <p:cNvPr id="725042" name="Rectangle 50"/>
          <p:cNvSpPr>
            <a:spLocks noChangeArrowheads="1"/>
          </p:cNvSpPr>
          <p:nvPr/>
        </p:nvSpPr>
        <p:spPr bwMode="auto">
          <a:xfrm>
            <a:off x="2222500" y="1811338"/>
            <a:ext cx="768985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a:t>
            </a:r>
            <a:r>
              <a:rPr lang="zh-CN" altLang="en-US" sz="3200">
                <a:latin typeface="Times New Roman" pitchFamily="18" charset="0"/>
              </a:rPr>
              <a:t>中断示意图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25042"/>
                                        </p:tgtEl>
                                        <p:attrNameLst>
                                          <p:attrName>style.visibility</p:attrName>
                                        </p:attrNameLst>
                                      </p:cBhvr>
                                      <p:to>
                                        <p:strVal val="visible"/>
                                      </p:to>
                                    </p:set>
                                    <p:anim calcmode="lin" valueType="num">
                                      <p:cBhvr additive="base">
                                        <p:cTn id="7" dur="500" fill="hold"/>
                                        <p:tgtEl>
                                          <p:spTgt spid="725042"/>
                                        </p:tgtEl>
                                        <p:attrNameLst>
                                          <p:attrName>ppt_x</p:attrName>
                                        </p:attrNameLst>
                                      </p:cBhvr>
                                      <p:tavLst>
                                        <p:tav tm="0">
                                          <p:val>
                                            <p:strVal val="1+#ppt_w/2"/>
                                          </p:val>
                                        </p:tav>
                                        <p:tav tm="100000">
                                          <p:val>
                                            <p:strVal val="#ppt_x"/>
                                          </p:val>
                                        </p:tav>
                                      </p:tavLst>
                                    </p:anim>
                                    <p:anim calcmode="lin" valueType="num">
                                      <p:cBhvr additive="base">
                                        <p:cTn id="8" dur="500" fill="hold"/>
                                        <p:tgtEl>
                                          <p:spTgt spid="72504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8" presetClass="entr" presetSubtype="16" fill="hold" nodeType="afterEffect">
                                  <p:stCondLst>
                                    <p:cond delay="0"/>
                                  </p:stCondLst>
                                  <p:childTnLst>
                                    <p:set>
                                      <p:cBhvr>
                                        <p:cTn id="11" dur="1" fill="hold">
                                          <p:stCondLst>
                                            <p:cond delay="0"/>
                                          </p:stCondLst>
                                        </p:cTn>
                                        <p:tgtEl>
                                          <p:spTgt spid="724994"/>
                                        </p:tgtEl>
                                        <p:attrNameLst>
                                          <p:attrName>style.visibility</p:attrName>
                                        </p:attrNameLst>
                                      </p:cBhvr>
                                      <p:to>
                                        <p:strVal val="visible"/>
                                      </p:to>
                                    </p:set>
                                    <p:animEffect transition="in" filter="diamond(in)">
                                      <p:cBhvr>
                                        <p:cTn id="12" dur="500"/>
                                        <p:tgtEl>
                                          <p:spTgt spid="724994"/>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725040"/>
                                        </p:tgtEl>
                                        <p:attrNameLst>
                                          <p:attrName>style.visibility</p:attrName>
                                        </p:attrNameLst>
                                      </p:cBhvr>
                                      <p:to>
                                        <p:strVal val="visible"/>
                                      </p:to>
                                    </p:set>
                                    <p:animEffect transition="in" filter="wipe(left)">
                                      <p:cBhvr>
                                        <p:cTn id="16" dur="500"/>
                                        <p:tgtEl>
                                          <p:spTgt spid="7250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5040" grpId="0"/>
      <p:bldP spid="725042"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6018" name="Group 2"/>
          <p:cNvGrpSpPr>
            <a:grpSpLocks/>
          </p:cNvGrpSpPr>
          <p:nvPr/>
        </p:nvGrpSpPr>
        <p:grpSpPr bwMode="auto">
          <a:xfrm>
            <a:off x="2063750" y="2492375"/>
            <a:ext cx="8135938" cy="3679826"/>
            <a:chOff x="431" y="981"/>
            <a:chExt cx="5125" cy="2318"/>
          </a:xfrm>
        </p:grpSpPr>
        <p:grpSp>
          <p:nvGrpSpPr>
            <p:cNvPr id="726019" name="Group 3"/>
            <p:cNvGrpSpPr>
              <a:grpSpLocks/>
            </p:cNvGrpSpPr>
            <p:nvPr/>
          </p:nvGrpSpPr>
          <p:grpSpPr bwMode="auto">
            <a:xfrm>
              <a:off x="1201" y="1291"/>
              <a:ext cx="590" cy="1457"/>
              <a:chOff x="1020" y="2614"/>
              <a:chExt cx="590" cy="1451"/>
            </a:xfrm>
          </p:grpSpPr>
          <p:sp>
            <p:nvSpPr>
              <p:cNvPr id="726020" name="Rectangle 4"/>
              <p:cNvSpPr>
                <a:spLocks noChangeArrowheads="1"/>
              </p:cNvSpPr>
              <p:nvPr/>
            </p:nvSpPr>
            <p:spPr bwMode="auto">
              <a:xfrm>
                <a:off x="1020" y="2614"/>
                <a:ext cx="590" cy="1360"/>
              </a:xfrm>
              <a:prstGeom prst="rect">
                <a:avLst/>
              </a:prstGeom>
              <a:solidFill>
                <a:srgbClr val="CCECFF"/>
              </a:solidFill>
              <a:ln w="12700" algn="ctr">
                <a:solidFill>
                  <a:schemeClr val="tx1"/>
                </a:solidFill>
                <a:miter lim="800000"/>
                <a:headEnd/>
                <a:tailEnd/>
              </a:ln>
              <a:effectLst/>
            </p:spPr>
            <p:txBody>
              <a:bodyPr wrap="none" anchor="ctr"/>
              <a:lstStyle/>
              <a:p>
                <a:r>
                  <a:rPr lang="zh-CN" altLang="en-US" sz="1600">
                    <a:solidFill>
                      <a:srgbClr val="0000FF"/>
                    </a:solidFill>
                    <a:latin typeface="Times New Roman" pitchFamily="18" charset="0"/>
                    <a:ea typeface="黑体" pitchFamily="2" charset="-122"/>
                  </a:rPr>
                  <a:t>优先级</a:t>
                </a:r>
              </a:p>
              <a:p>
                <a:endParaRPr lang="zh-CN" altLang="en-US" sz="1600">
                  <a:latin typeface="Times New Roman" pitchFamily="18" charset="0"/>
                  <a:ea typeface="黑体" pitchFamily="2" charset="-122"/>
                </a:endParaRPr>
              </a:p>
              <a:p>
                <a:endParaRPr lang="zh-CN" altLang="en-US" sz="1600">
                  <a:latin typeface="Times New Roman" pitchFamily="18" charset="0"/>
                  <a:ea typeface="黑体" pitchFamily="2" charset="-122"/>
                </a:endParaRPr>
              </a:p>
              <a:p>
                <a:endParaRPr lang="zh-CN" altLang="en-US" sz="1600">
                  <a:latin typeface="Times New Roman" pitchFamily="18" charset="0"/>
                  <a:ea typeface="黑体" pitchFamily="2" charset="-122"/>
                </a:endParaRPr>
              </a:p>
              <a:p>
                <a:endParaRPr lang="zh-CN" altLang="en-US" sz="1600">
                  <a:latin typeface="Times New Roman" pitchFamily="18" charset="0"/>
                  <a:ea typeface="黑体" pitchFamily="2" charset="-122"/>
                </a:endParaRPr>
              </a:p>
              <a:p>
                <a:endParaRPr lang="zh-CN" altLang="en-US" sz="1600">
                  <a:latin typeface="Times New Roman" pitchFamily="18" charset="0"/>
                  <a:ea typeface="黑体" pitchFamily="2" charset="-122"/>
                </a:endParaRPr>
              </a:p>
              <a:p>
                <a:endParaRPr lang="zh-CN" altLang="en-US" sz="1600">
                  <a:latin typeface="Times New Roman" pitchFamily="18" charset="0"/>
                  <a:ea typeface="黑体" pitchFamily="2" charset="-122"/>
                </a:endParaRPr>
              </a:p>
              <a:p>
                <a:endParaRPr lang="zh-CN" altLang="en-US" sz="1600">
                  <a:latin typeface="Times New Roman" pitchFamily="18" charset="0"/>
                  <a:ea typeface="黑体" pitchFamily="2" charset="-122"/>
                </a:endParaRPr>
              </a:p>
              <a:p>
                <a:endParaRPr lang="en-US" altLang="zh-CN" sz="1600">
                  <a:latin typeface="Times New Roman" pitchFamily="18" charset="0"/>
                  <a:ea typeface="黑体" pitchFamily="2" charset="-122"/>
                </a:endParaRPr>
              </a:p>
            </p:txBody>
          </p:sp>
          <p:sp>
            <p:nvSpPr>
              <p:cNvPr id="726021" name="Rectangle 5"/>
              <p:cNvSpPr>
                <a:spLocks noChangeArrowheads="1"/>
              </p:cNvSpPr>
              <p:nvPr/>
            </p:nvSpPr>
            <p:spPr bwMode="auto">
              <a:xfrm>
                <a:off x="1020" y="2795"/>
                <a:ext cx="590" cy="181"/>
              </a:xfrm>
              <a:prstGeom prst="rect">
                <a:avLst/>
              </a:prstGeom>
              <a:solidFill>
                <a:srgbClr val="FFFFCC"/>
              </a:solidFill>
              <a:ln w="12700" algn="ctr">
                <a:solidFill>
                  <a:schemeClr val="tx1"/>
                </a:solidFill>
                <a:miter lim="800000"/>
                <a:headEnd/>
                <a:tailEnd/>
              </a:ln>
              <a:effectLst/>
            </p:spPr>
            <p:txBody>
              <a:bodyPr wrap="none" anchor="ctr"/>
              <a:lstStyle/>
              <a:p>
                <a:r>
                  <a:rPr lang="zh-CN" altLang="en-US" sz="1600">
                    <a:latin typeface="Times New Roman" pitchFamily="18" charset="0"/>
                    <a:ea typeface="黑体" pitchFamily="2" charset="-122"/>
                  </a:rPr>
                  <a:t>最高</a:t>
                </a:r>
              </a:p>
            </p:txBody>
          </p:sp>
          <p:sp>
            <p:nvSpPr>
              <p:cNvPr id="726022" name="Rectangle 6"/>
              <p:cNvSpPr>
                <a:spLocks noChangeArrowheads="1"/>
              </p:cNvSpPr>
              <p:nvPr/>
            </p:nvSpPr>
            <p:spPr bwMode="auto">
              <a:xfrm>
                <a:off x="1020" y="3158"/>
                <a:ext cx="590" cy="181"/>
              </a:xfrm>
              <a:prstGeom prst="rect">
                <a:avLst/>
              </a:prstGeom>
              <a:solidFill>
                <a:srgbClr val="FFFFCC"/>
              </a:solidFill>
              <a:ln w="12700" algn="ctr">
                <a:solidFill>
                  <a:schemeClr val="tx1"/>
                </a:solidFill>
                <a:miter lim="800000"/>
                <a:headEnd/>
                <a:tailEnd/>
              </a:ln>
              <a:effectLst/>
            </p:spPr>
            <p:txBody>
              <a:bodyPr wrap="none" anchor="ctr"/>
              <a:lstStyle/>
              <a:p>
                <a:r>
                  <a:rPr lang="zh-CN" altLang="en-US" sz="1600">
                    <a:latin typeface="Times New Roman" pitchFamily="18" charset="0"/>
                    <a:ea typeface="黑体" pitchFamily="2" charset="-122"/>
                  </a:rPr>
                  <a:t>第二</a:t>
                </a:r>
              </a:p>
            </p:txBody>
          </p:sp>
          <p:sp>
            <p:nvSpPr>
              <p:cNvPr id="726023" name="Rectangle 7"/>
              <p:cNvSpPr>
                <a:spLocks noChangeArrowheads="1"/>
              </p:cNvSpPr>
              <p:nvPr/>
            </p:nvSpPr>
            <p:spPr bwMode="auto">
              <a:xfrm>
                <a:off x="1020" y="3521"/>
                <a:ext cx="590" cy="181"/>
              </a:xfrm>
              <a:prstGeom prst="rect">
                <a:avLst/>
              </a:prstGeom>
              <a:solidFill>
                <a:srgbClr val="FFFFCC"/>
              </a:solidFill>
              <a:ln w="12700" algn="ctr">
                <a:solidFill>
                  <a:schemeClr val="tx1"/>
                </a:solidFill>
                <a:miter lim="800000"/>
                <a:headEnd/>
                <a:tailEnd/>
              </a:ln>
              <a:effectLst/>
            </p:spPr>
            <p:txBody>
              <a:bodyPr wrap="none" anchor="ctr"/>
              <a:lstStyle/>
              <a:p>
                <a:r>
                  <a:rPr lang="zh-CN" altLang="en-US" sz="1600">
                    <a:latin typeface="Times New Roman" pitchFamily="18" charset="0"/>
                    <a:ea typeface="黑体" pitchFamily="2" charset="-122"/>
                  </a:rPr>
                  <a:t>第二</a:t>
                </a:r>
              </a:p>
            </p:txBody>
          </p:sp>
          <p:sp>
            <p:nvSpPr>
              <p:cNvPr id="726024" name="Rectangle 8"/>
              <p:cNvSpPr>
                <a:spLocks noChangeArrowheads="1"/>
              </p:cNvSpPr>
              <p:nvPr/>
            </p:nvSpPr>
            <p:spPr bwMode="auto">
              <a:xfrm>
                <a:off x="1020" y="3884"/>
                <a:ext cx="590" cy="181"/>
              </a:xfrm>
              <a:prstGeom prst="rect">
                <a:avLst/>
              </a:prstGeom>
              <a:solidFill>
                <a:srgbClr val="FFFFCC"/>
              </a:solidFill>
              <a:ln w="12700" algn="ctr">
                <a:solidFill>
                  <a:schemeClr val="tx1"/>
                </a:solidFill>
                <a:miter lim="800000"/>
                <a:headEnd/>
                <a:tailEnd/>
              </a:ln>
              <a:effectLst/>
            </p:spPr>
            <p:txBody>
              <a:bodyPr wrap="none" anchor="ctr"/>
              <a:lstStyle/>
              <a:p>
                <a:r>
                  <a:rPr lang="zh-CN" altLang="en-US" sz="1600">
                    <a:latin typeface="Times New Roman" pitchFamily="18" charset="0"/>
                    <a:ea typeface="黑体" pitchFamily="2" charset="-122"/>
                  </a:rPr>
                  <a:t>第三</a:t>
                </a:r>
              </a:p>
            </p:txBody>
          </p:sp>
        </p:grpSp>
        <p:sp>
          <p:nvSpPr>
            <p:cNvPr id="726025" name="AutoShape 9"/>
            <p:cNvSpPr>
              <a:spLocks noChangeArrowheads="1"/>
            </p:cNvSpPr>
            <p:nvPr/>
          </p:nvSpPr>
          <p:spPr bwMode="auto">
            <a:xfrm rot="5400000">
              <a:off x="1280" y="2104"/>
              <a:ext cx="1367" cy="198"/>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99CC">
                <a:alpha val="45000"/>
              </a:srgbClr>
            </a:solidFill>
            <a:ln w="1270" algn="ctr">
              <a:noFill/>
              <a:miter lim="800000"/>
              <a:headEnd/>
              <a:tailEnd/>
            </a:ln>
            <a:effectLst/>
          </p:spPr>
          <p:txBody>
            <a:bodyPr wrap="none" anchor="ctr"/>
            <a:lstStyle/>
            <a:p>
              <a:endParaRPr lang="zh-CN" altLang="en-US"/>
            </a:p>
          </p:txBody>
        </p:sp>
        <p:sp>
          <p:nvSpPr>
            <p:cNvPr id="726026" name="Text Box 10"/>
            <p:cNvSpPr txBox="1">
              <a:spLocks noChangeArrowheads="1"/>
            </p:cNvSpPr>
            <p:nvPr/>
          </p:nvSpPr>
          <p:spPr bwMode="auto">
            <a:xfrm>
              <a:off x="567" y="1472"/>
              <a:ext cx="634" cy="213"/>
            </a:xfrm>
            <a:prstGeom prst="rect">
              <a:avLst/>
            </a:prstGeom>
            <a:noFill/>
            <a:ln w="9525">
              <a:noFill/>
              <a:miter lim="800000"/>
              <a:headEnd/>
              <a:tailEnd/>
            </a:ln>
            <a:effectLst/>
          </p:spPr>
          <p:txBody>
            <a:bodyPr>
              <a:spAutoFit/>
            </a:bodyPr>
            <a:lstStyle/>
            <a:p>
              <a:pPr algn="l">
                <a:spcBef>
                  <a:spcPct val="50000"/>
                </a:spcBef>
              </a:pPr>
              <a:r>
                <a:rPr lang="en-US" altLang="zh-CN" sz="1600" b="1">
                  <a:solidFill>
                    <a:srgbClr val="0000FF"/>
                  </a:solidFill>
                  <a:ea typeface="华文新魏" pitchFamily="2" charset="-122"/>
                </a:rPr>
                <a:t>RLS</a:t>
              </a:r>
              <a:r>
                <a:rPr lang="zh-CN" altLang="en-US" sz="1600">
                  <a:solidFill>
                    <a:srgbClr val="0000FF"/>
                  </a:solidFill>
                  <a:ea typeface="华文新魏" pitchFamily="2" charset="-122"/>
                </a:rPr>
                <a:t>中断</a:t>
              </a:r>
              <a:endParaRPr lang="zh-CN" altLang="en-US" sz="1600">
                <a:ea typeface="华文新魏" pitchFamily="2" charset="-122"/>
              </a:endParaRPr>
            </a:p>
          </p:txBody>
        </p:sp>
        <p:sp>
          <p:nvSpPr>
            <p:cNvPr id="726027" name="Text Box 11"/>
            <p:cNvSpPr txBox="1">
              <a:spLocks noChangeArrowheads="1"/>
            </p:cNvSpPr>
            <p:nvPr/>
          </p:nvSpPr>
          <p:spPr bwMode="auto">
            <a:xfrm>
              <a:off x="567" y="1836"/>
              <a:ext cx="634" cy="213"/>
            </a:xfrm>
            <a:prstGeom prst="rect">
              <a:avLst/>
            </a:prstGeom>
            <a:noFill/>
            <a:ln w="9525">
              <a:noFill/>
              <a:miter lim="800000"/>
              <a:headEnd/>
              <a:tailEnd/>
            </a:ln>
            <a:effectLst/>
          </p:spPr>
          <p:txBody>
            <a:bodyPr>
              <a:spAutoFit/>
            </a:bodyPr>
            <a:lstStyle/>
            <a:p>
              <a:pPr algn="l">
                <a:spcBef>
                  <a:spcPct val="50000"/>
                </a:spcBef>
              </a:pPr>
              <a:r>
                <a:rPr lang="en-US" altLang="zh-CN" sz="1600" b="1">
                  <a:solidFill>
                    <a:srgbClr val="0000FF"/>
                  </a:solidFill>
                  <a:ea typeface="华文新魏" pitchFamily="2" charset="-122"/>
                </a:rPr>
                <a:t>RDA</a:t>
              </a:r>
              <a:r>
                <a:rPr lang="zh-CN" altLang="en-US" sz="1600">
                  <a:solidFill>
                    <a:srgbClr val="0000FF"/>
                  </a:solidFill>
                  <a:ea typeface="华文新魏" pitchFamily="2" charset="-122"/>
                </a:rPr>
                <a:t>中断</a:t>
              </a:r>
              <a:endParaRPr lang="zh-CN" altLang="en-US" sz="1600">
                <a:ea typeface="华文新魏" pitchFamily="2" charset="-122"/>
              </a:endParaRPr>
            </a:p>
          </p:txBody>
        </p:sp>
        <p:sp>
          <p:nvSpPr>
            <p:cNvPr id="726028" name="Text Box 12"/>
            <p:cNvSpPr txBox="1">
              <a:spLocks noChangeArrowheads="1"/>
            </p:cNvSpPr>
            <p:nvPr/>
          </p:nvSpPr>
          <p:spPr bwMode="auto">
            <a:xfrm>
              <a:off x="567" y="2201"/>
              <a:ext cx="634" cy="213"/>
            </a:xfrm>
            <a:prstGeom prst="rect">
              <a:avLst/>
            </a:prstGeom>
            <a:noFill/>
            <a:ln w="9525">
              <a:noFill/>
              <a:miter lim="800000"/>
              <a:headEnd/>
              <a:tailEnd/>
            </a:ln>
            <a:effectLst/>
          </p:spPr>
          <p:txBody>
            <a:bodyPr>
              <a:spAutoFit/>
            </a:bodyPr>
            <a:lstStyle/>
            <a:p>
              <a:pPr algn="l">
                <a:spcBef>
                  <a:spcPct val="50000"/>
                </a:spcBef>
              </a:pPr>
              <a:r>
                <a:rPr lang="en-US" altLang="zh-CN" sz="1600" b="1">
                  <a:solidFill>
                    <a:srgbClr val="0000FF"/>
                  </a:solidFill>
                  <a:ea typeface="华文新魏" pitchFamily="2" charset="-122"/>
                </a:rPr>
                <a:t>CTI</a:t>
              </a:r>
              <a:r>
                <a:rPr lang="zh-CN" altLang="en-US" sz="1600">
                  <a:solidFill>
                    <a:srgbClr val="0000FF"/>
                  </a:solidFill>
                  <a:ea typeface="华文新魏" pitchFamily="2" charset="-122"/>
                </a:rPr>
                <a:t>中断</a:t>
              </a:r>
              <a:endParaRPr lang="zh-CN" altLang="en-US" sz="1600">
                <a:ea typeface="华文新魏" pitchFamily="2" charset="-122"/>
              </a:endParaRPr>
            </a:p>
          </p:txBody>
        </p:sp>
        <p:sp>
          <p:nvSpPr>
            <p:cNvPr id="726029" name="Text Box 13"/>
            <p:cNvSpPr txBox="1">
              <a:spLocks noChangeArrowheads="1"/>
            </p:cNvSpPr>
            <p:nvPr/>
          </p:nvSpPr>
          <p:spPr bwMode="auto">
            <a:xfrm>
              <a:off x="476" y="2566"/>
              <a:ext cx="725" cy="213"/>
            </a:xfrm>
            <a:prstGeom prst="rect">
              <a:avLst/>
            </a:prstGeom>
            <a:noFill/>
            <a:ln w="9525">
              <a:noFill/>
              <a:miter lim="800000"/>
              <a:headEnd/>
              <a:tailEnd/>
            </a:ln>
            <a:effectLst/>
          </p:spPr>
          <p:txBody>
            <a:bodyPr>
              <a:spAutoFit/>
            </a:bodyPr>
            <a:lstStyle/>
            <a:p>
              <a:pPr algn="l">
                <a:spcBef>
                  <a:spcPct val="50000"/>
                </a:spcBef>
              </a:pPr>
              <a:r>
                <a:rPr lang="en-US" altLang="zh-CN" sz="1600" b="1">
                  <a:solidFill>
                    <a:srgbClr val="0000FF"/>
                  </a:solidFill>
                  <a:ea typeface="华文新魏" pitchFamily="2" charset="-122"/>
                </a:rPr>
                <a:t>THRE</a:t>
              </a:r>
              <a:r>
                <a:rPr lang="zh-CN" altLang="en-US" sz="1600">
                  <a:solidFill>
                    <a:srgbClr val="0000FF"/>
                  </a:solidFill>
                  <a:ea typeface="华文新魏" pitchFamily="2" charset="-122"/>
                </a:rPr>
                <a:t>中断</a:t>
              </a:r>
              <a:endParaRPr lang="zh-CN" altLang="en-US" sz="1600">
                <a:ea typeface="华文新魏" pitchFamily="2" charset="-122"/>
              </a:endParaRPr>
            </a:p>
          </p:txBody>
        </p:sp>
        <p:sp>
          <p:nvSpPr>
            <p:cNvPr id="726030" name="Rectangle 14"/>
            <p:cNvSpPr>
              <a:spLocks noChangeArrowheads="1"/>
            </p:cNvSpPr>
            <p:nvPr/>
          </p:nvSpPr>
          <p:spPr bwMode="auto">
            <a:xfrm>
              <a:off x="2382" y="2566"/>
              <a:ext cx="453" cy="273"/>
            </a:xfrm>
            <a:prstGeom prst="rect">
              <a:avLst/>
            </a:prstGeom>
            <a:solidFill>
              <a:srgbClr val="FFFFCC"/>
            </a:solidFill>
            <a:ln w="12700" algn="ctr">
              <a:solidFill>
                <a:schemeClr val="tx1"/>
              </a:solidFill>
              <a:miter lim="800000"/>
              <a:headEnd/>
              <a:tailEnd/>
            </a:ln>
            <a:effectLst/>
          </p:spPr>
          <p:txBody>
            <a:bodyPr wrap="none" anchor="ctr"/>
            <a:lstStyle/>
            <a:p>
              <a:endParaRPr lang="zh-CN" altLang="en-US"/>
            </a:p>
          </p:txBody>
        </p:sp>
        <p:sp>
          <p:nvSpPr>
            <p:cNvPr id="726031" name="Rectangle 15"/>
            <p:cNvSpPr>
              <a:spLocks noChangeArrowheads="1"/>
            </p:cNvSpPr>
            <p:nvPr/>
          </p:nvSpPr>
          <p:spPr bwMode="auto">
            <a:xfrm>
              <a:off x="2382" y="1791"/>
              <a:ext cx="453" cy="683"/>
            </a:xfrm>
            <a:prstGeom prst="rect">
              <a:avLst/>
            </a:prstGeom>
            <a:solidFill>
              <a:srgbClr val="FFFFCC"/>
            </a:solidFill>
            <a:ln w="12700" algn="ctr">
              <a:solidFill>
                <a:schemeClr val="tx1"/>
              </a:solidFill>
              <a:miter lim="800000"/>
              <a:headEnd/>
              <a:tailEnd/>
            </a:ln>
            <a:effectLst/>
          </p:spPr>
          <p:txBody>
            <a:bodyPr wrap="none" anchor="ctr"/>
            <a:lstStyle/>
            <a:p>
              <a:endParaRPr lang="zh-CN" altLang="en-US"/>
            </a:p>
          </p:txBody>
        </p:sp>
        <p:sp>
          <p:nvSpPr>
            <p:cNvPr id="726032" name="Rectangle 16"/>
            <p:cNvSpPr>
              <a:spLocks noChangeArrowheads="1"/>
            </p:cNvSpPr>
            <p:nvPr/>
          </p:nvSpPr>
          <p:spPr bwMode="auto">
            <a:xfrm>
              <a:off x="2382" y="1427"/>
              <a:ext cx="453" cy="318"/>
            </a:xfrm>
            <a:prstGeom prst="rect">
              <a:avLst/>
            </a:prstGeom>
            <a:solidFill>
              <a:srgbClr val="FFFFCC"/>
            </a:solidFill>
            <a:ln w="12700" algn="ctr">
              <a:solidFill>
                <a:schemeClr val="tx1"/>
              </a:solidFill>
              <a:miter lim="800000"/>
              <a:headEnd/>
              <a:tailEnd/>
            </a:ln>
            <a:effectLst/>
          </p:spPr>
          <p:txBody>
            <a:bodyPr wrap="none" anchor="ctr"/>
            <a:lstStyle/>
            <a:p>
              <a:endParaRPr lang="zh-CN" altLang="en-US"/>
            </a:p>
          </p:txBody>
        </p:sp>
        <p:sp>
          <p:nvSpPr>
            <p:cNvPr id="726033" name="Rectangle 17"/>
            <p:cNvSpPr>
              <a:spLocks noChangeArrowheads="1"/>
            </p:cNvSpPr>
            <p:nvPr/>
          </p:nvSpPr>
          <p:spPr bwMode="auto">
            <a:xfrm>
              <a:off x="3742" y="1616"/>
              <a:ext cx="771" cy="1497"/>
            </a:xfrm>
            <a:prstGeom prst="rect">
              <a:avLst/>
            </a:prstGeom>
            <a:solidFill>
              <a:srgbClr val="CCFFFF"/>
            </a:solidFill>
            <a:ln w="12700" algn="ctr">
              <a:solidFill>
                <a:schemeClr val="tx1"/>
              </a:solidFill>
              <a:miter lim="800000"/>
              <a:headEnd/>
              <a:tailEnd/>
            </a:ln>
            <a:effectLst/>
          </p:spPr>
          <p:txBody>
            <a:bodyPr wrap="none" anchor="ctr"/>
            <a:lstStyle/>
            <a:p>
              <a:r>
                <a:rPr lang="en-US" altLang="zh-CN">
                  <a:solidFill>
                    <a:srgbClr val="0000FF"/>
                  </a:solidFill>
                  <a:ea typeface="黑体" pitchFamily="2" charset="-122"/>
                </a:rPr>
                <a:t>VIC</a:t>
              </a:r>
            </a:p>
            <a:p>
              <a:r>
                <a:rPr lang="zh-CN" altLang="en-US">
                  <a:solidFill>
                    <a:srgbClr val="0000FF"/>
                  </a:solidFill>
                  <a:ea typeface="黑体" pitchFamily="2" charset="-122"/>
                </a:rPr>
                <a:t>中断控制器</a:t>
              </a:r>
            </a:p>
          </p:txBody>
        </p:sp>
        <p:sp>
          <p:nvSpPr>
            <p:cNvPr id="726034" name="Rectangle 18"/>
            <p:cNvSpPr>
              <a:spLocks noChangeArrowheads="1"/>
            </p:cNvSpPr>
            <p:nvPr/>
          </p:nvSpPr>
          <p:spPr bwMode="auto">
            <a:xfrm>
              <a:off x="4785" y="1661"/>
              <a:ext cx="771" cy="1452"/>
            </a:xfrm>
            <a:prstGeom prst="rect">
              <a:avLst/>
            </a:prstGeom>
            <a:solidFill>
              <a:srgbClr val="CCFFFF"/>
            </a:solidFill>
            <a:ln w="12700" algn="ctr">
              <a:solidFill>
                <a:schemeClr val="tx1"/>
              </a:solidFill>
              <a:miter lim="800000"/>
              <a:headEnd/>
              <a:tailEnd/>
            </a:ln>
            <a:effectLst/>
          </p:spPr>
          <p:txBody>
            <a:bodyPr wrap="none" anchor="ctr"/>
            <a:lstStyle/>
            <a:p>
              <a:r>
                <a:rPr lang="en-US" altLang="zh-CN">
                  <a:solidFill>
                    <a:srgbClr val="0000FF"/>
                  </a:solidFill>
                  <a:ea typeface="黑体" pitchFamily="2" charset="-122"/>
                </a:rPr>
                <a:t>ARM7TDMI</a:t>
              </a:r>
            </a:p>
            <a:p>
              <a:r>
                <a:rPr lang="zh-CN" altLang="en-US">
                  <a:solidFill>
                    <a:srgbClr val="0000FF"/>
                  </a:solidFill>
                  <a:ea typeface="黑体" pitchFamily="2" charset="-122"/>
                </a:rPr>
                <a:t>内核</a:t>
              </a:r>
            </a:p>
          </p:txBody>
        </p:sp>
        <p:sp>
          <p:nvSpPr>
            <p:cNvPr id="726035" name="Line 19"/>
            <p:cNvSpPr>
              <a:spLocks noChangeShapeType="1"/>
            </p:cNvSpPr>
            <p:nvPr/>
          </p:nvSpPr>
          <p:spPr bwMode="auto">
            <a:xfrm flipV="1">
              <a:off x="4513" y="2386"/>
              <a:ext cx="272" cy="1"/>
            </a:xfrm>
            <a:prstGeom prst="line">
              <a:avLst/>
            </a:prstGeom>
            <a:noFill/>
            <a:ln w="25400">
              <a:solidFill>
                <a:schemeClr val="tx1"/>
              </a:solidFill>
              <a:round/>
              <a:headEnd/>
              <a:tailEnd type="triangle" w="med" len="med"/>
            </a:ln>
            <a:effectLst/>
          </p:spPr>
          <p:txBody>
            <a:bodyPr wrap="none" anchor="ctr"/>
            <a:lstStyle/>
            <a:p>
              <a:endParaRPr lang="zh-CN" altLang="en-US"/>
            </a:p>
          </p:txBody>
        </p:sp>
        <p:sp>
          <p:nvSpPr>
            <p:cNvPr id="726036" name="Line 20"/>
            <p:cNvSpPr>
              <a:spLocks noChangeShapeType="1"/>
            </p:cNvSpPr>
            <p:nvPr/>
          </p:nvSpPr>
          <p:spPr bwMode="auto">
            <a:xfrm>
              <a:off x="567" y="1655"/>
              <a:ext cx="1905" cy="0"/>
            </a:xfrm>
            <a:prstGeom prst="line">
              <a:avLst/>
            </a:prstGeom>
            <a:noFill/>
            <a:ln w="25400">
              <a:solidFill>
                <a:schemeClr val="tx1"/>
              </a:solidFill>
              <a:round/>
              <a:headEnd/>
              <a:tailEnd/>
            </a:ln>
            <a:effectLst/>
          </p:spPr>
          <p:txBody>
            <a:bodyPr wrap="none" anchor="ctr"/>
            <a:lstStyle/>
            <a:p>
              <a:endParaRPr lang="zh-CN" altLang="en-US"/>
            </a:p>
          </p:txBody>
        </p:sp>
        <p:sp>
          <p:nvSpPr>
            <p:cNvPr id="726037" name="Line 21"/>
            <p:cNvSpPr>
              <a:spLocks noChangeShapeType="1"/>
            </p:cNvSpPr>
            <p:nvPr/>
          </p:nvSpPr>
          <p:spPr bwMode="auto">
            <a:xfrm flipV="1">
              <a:off x="2472" y="1518"/>
              <a:ext cx="227" cy="137"/>
            </a:xfrm>
            <a:prstGeom prst="line">
              <a:avLst/>
            </a:prstGeom>
            <a:noFill/>
            <a:ln w="25400">
              <a:solidFill>
                <a:schemeClr val="tx1"/>
              </a:solidFill>
              <a:round/>
              <a:headEnd/>
              <a:tailEnd/>
            </a:ln>
            <a:effectLst/>
          </p:spPr>
          <p:txBody>
            <a:bodyPr wrap="none" anchor="ctr"/>
            <a:lstStyle/>
            <a:p>
              <a:endParaRPr lang="zh-CN" altLang="en-US"/>
            </a:p>
          </p:txBody>
        </p:sp>
        <p:sp>
          <p:nvSpPr>
            <p:cNvPr id="726038" name="Line 22"/>
            <p:cNvSpPr>
              <a:spLocks noChangeShapeType="1"/>
            </p:cNvSpPr>
            <p:nvPr/>
          </p:nvSpPr>
          <p:spPr bwMode="auto">
            <a:xfrm>
              <a:off x="2699" y="1655"/>
              <a:ext cx="635" cy="0"/>
            </a:xfrm>
            <a:prstGeom prst="line">
              <a:avLst/>
            </a:prstGeom>
            <a:noFill/>
            <a:ln w="25400">
              <a:solidFill>
                <a:schemeClr val="tx1"/>
              </a:solidFill>
              <a:round/>
              <a:headEnd/>
              <a:tailEnd/>
            </a:ln>
            <a:effectLst/>
          </p:spPr>
          <p:txBody>
            <a:bodyPr wrap="none" anchor="ctr"/>
            <a:lstStyle/>
            <a:p>
              <a:endParaRPr lang="zh-CN" altLang="en-US"/>
            </a:p>
          </p:txBody>
        </p:sp>
        <p:sp>
          <p:nvSpPr>
            <p:cNvPr id="726039" name="Line 23"/>
            <p:cNvSpPr>
              <a:spLocks noChangeShapeType="1"/>
            </p:cNvSpPr>
            <p:nvPr/>
          </p:nvSpPr>
          <p:spPr bwMode="auto">
            <a:xfrm flipV="1">
              <a:off x="2472" y="1882"/>
              <a:ext cx="227" cy="136"/>
            </a:xfrm>
            <a:prstGeom prst="line">
              <a:avLst/>
            </a:prstGeom>
            <a:noFill/>
            <a:ln w="25400">
              <a:solidFill>
                <a:schemeClr val="tx1"/>
              </a:solidFill>
              <a:round/>
              <a:headEnd/>
              <a:tailEnd/>
            </a:ln>
            <a:effectLst/>
          </p:spPr>
          <p:txBody>
            <a:bodyPr wrap="none" anchor="ctr"/>
            <a:lstStyle/>
            <a:p>
              <a:endParaRPr lang="zh-CN" altLang="en-US"/>
            </a:p>
          </p:txBody>
        </p:sp>
        <p:sp>
          <p:nvSpPr>
            <p:cNvPr id="726040" name="Line 24"/>
            <p:cNvSpPr>
              <a:spLocks noChangeShapeType="1"/>
            </p:cNvSpPr>
            <p:nvPr/>
          </p:nvSpPr>
          <p:spPr bwMode="auto">
            <a:xfrm>
              <a:off x="2699" y="2018"/>
              <a:ext cx="635" cy="0"/>
            </a:xfrm>
            <a:prstGeom prst="line">
              <a:avLst/>
            </a:prstGeom>
            <a:noFill/>
            <a:ln w="25400">
              <a:solidFill>
                <a:schemeClr val="tx1"/>
              </a:solidFill>
              <a:round/>
              <a:headEnd/>
              <a:tailEnd/>
            </a:ln>
            <a:effectLst/>
          </p:spPr>
          <p:txBody>
            <a:bodyPr wrap="none" anchor="ctr"/>
            <a:lstStyle/>
            <a:p>
              <a:endParaRPr lang="zh-CN" altLang="en-US"/>
            </a:p>
          </p:txBody>
        </p:sp>
        <p:sp>
          <p:nvSpPr>
            <p:cNvPr id="726041" name="Line 25"/>
            <p:cNvSpPr>
              <a:spLocks noChangeShapeType="1"/>
            </p:cNvSpPr>
            <p:nvPr/>
          </p:nvSpPr>
          <p:spPr bwMode="auto">
            <a:xfrm flipV="1">
              <a:off x="2472" y="2246"/>
              <a:ext cx="227" cy="137"/>
            </a:xfrm>
            <a:prstGeom prst="line">
              <a:avLst/>
            </a:prstGeom>
            <a:noFill/>
            <a:ln w="25400">
              <a:solidFill>
                <a:schemeClr val="tx1"/>
              </a:solidFill>
              <a:round/>
              <a:headEnd/>
              <a:tailEnd/>
            </a:ln>
            <a:effectLst/>
          </p:spPr>
          <p:txBody>
            <a:bodyPr wrap="none" anchor="ctr"/>
            <a:lstStyle/>
            <a:p>
              <a:endParaRPr lang="zh-CN" altLang="en-US"/>
            </a:p>
          </p:txBody>
        </p:sp>
        <p:sp>
          <p:nvSpPr>
            <p:cNvPr id="726042" name="Line 26"/>
            <p:cNvSpPr>
              <a:spLocks noChangeShapeType="1"/>
            </p:cNvSpPr>
            <p:nvPr/>
          </p:nvSpPr>
          <p:spPr bwMode="auto">
            <a:xfrm>
              <a:off x="2699" y="2387"/>
              <a:ext cx="635" cy="0"/>
            </a:xfrm>
            <a:prstGeom prst="line">
              <a:avLst/>
            </a:prstGeom>
            <a:noFill/>
            <a:ln w="25400">
              <a:solidFill>
                <a:schemeClr val="tx1"/>
              </a:solidFill>
              <a:round/>
              <a:headEnd/>
              <a:tailEnd/>
            </a:ln>
            <a:effectLst/>
          </p:spPr>
          <p:txBody>
            <a:bodyPr wrap="none" anchor="ctr"/>
            <a:lstStyle/>
            <a:p>
              <a:endParaRPr lang="zh-CN" altLang="en-US"/>
            </a:p>
          </p:txBody>
        </p:sp>
        <p:sp>
          <p:nvSpPr>
            <p:cNvPr id="726043" name="Line 27"/>
            <p:cNvSpPr>
              <a:spLocks noChangeShapeType="1"/>
            </p:cNvSpPr>
            <p:nvPr/>
          </p:nvSpPr>
          <p:spPr bwMode="auto">
            <a:xfrm flipV="1">
              <a:off x="2472" y="2611"/>
              <a:ext cx="227" cy="136"/>
            </a:xfrm>
            <a:prstGeom prst="line">
              <a:avLst/>
            </a:prstGeom>
            <a:noFill/>
            <a:ln w="25400">
              <a:solidFill>
                <a:schemeClr val="tx1"/>
              </a:solidFill>
              <a:round/>
              <a:headEnd/>
              <a:tailEnd/>
            </a:ln>
            <a:effectLst/>
          </p:spPr>
          <p:txBody>
            <a:bodyPr wrap="none" anchor="ctr"/>
            <a:lstStyle/>
            <a:p>
              <a:endParaRPr lang="zh-CN" altLang="en-US"/>
            </a:p>
          </p:txBody>
        </p:sp>
        <p:sp>
          <p:nvSpPr>
            <p:cNvPr id="726044" name="Line 28"/>
            <p:cNvSpPr>
              <a:spLocks noChangeShapeType="1"/>
            </p:cNvSpPr>
            <p:nvPr/>
          </p:nvSpPr>
          <p:spPr bwMode="auto">
            <a:xfrm>
              <a:off x="2699" y="2750"/>
              <a:ext cx="635" cy="0"/>
            </a:xfrm>
            <a:prstGeom prst="line">
              <a:avLst/>
            </a:prstGeom>
            <a:noFill/>
            <a:ln w="25400">
              <a:solidFill>
                <a:schemeClr val="tx1"/>
              </a:solidFill>
              <a:round/>
              <a:headEnd/>
              <a:tailEnd/>
            </a:ln>
            <a:effectLst/>
          </p:spPr>
          <p:txBody>
            <a:bodyPr wrap="none" anchor="ctr"/>
            <a:lstStyle/>
            <a:p>
              <a:endParaRPr lang="zh-CN" altLang="en-US"/>
            </a:p>
          </p:txBody>
        </p:sp>
        <p:sp>
          <p:nvSpPr>
            <p:cNvPr id="726045" name="Line 29"/>
            <p:cNvSpPr>
              <a:spLocks noChangeShapeType="1"/>
            </p:cNvSpPr>
            <p:nvPr/>
          </p:nvSpPr>
          <p:spPr bwMode="auto">
            <a:xfrm>
              <a:off x="3334" y="1655"/>
              <a:ext cx="0" cy="1458"/>
            </a:xfrm>
            <a:prstGeom prst="line">
              <a:avLst/>
            </a:prstGeom>
            <a:noFill/>
            <a:ln w="25400">
              <a:solidFill>
                <a:schemeClr val="tx1"/>
              </a:solidFill>
              <a:round/>
              <a:headEnd/>
              <a:tailEnd/>
            </a:ln>
            <a:effectLst/>
          </p:spPr>
          <p:txBody>
            <a:bodyPr wrap="none" anchor="ctr"/>
            <a:lstStyle/>
            <a:p>
              <a:endParaRPr lang="zh-CN" altLang="en-US"/>
            </a:p>
          </p:txBody>
        </p:sp>
        <p:sp>
          <p:nvSpPr>
            <p:cNvPr id="726046" name="Line 30"/>
            <p:cNvSpPr>
              <a:spLocks noChangeShapeType="1"/>
            </p:cNvSpPr>
            <p:nvPr/>
          </p:nvSpPr>
          <p:spPr bwMode="auto">
            <a:xfrm>
              <a:off x="3334" y="2387"/>
              <a:ext cx="408" cy="0"/>
            </a:xfrm>
            <a:prstGeom prst="line">
              <a:avLst/>
            </a:prstGeom>
            <a:noFill/>
            <a:ln w="25400">
              <a:solidFill>
                <a:schemeClr val="tx1"/>
              </a:solidFill>
              <a:round/>
              <a:headEnd/>
              <a:tailEnd type="triangle" w="med" len="med"/>
            </a:ln>
            <a:effectLst/>
          </p:spPr>
          <p:txBody>
            <a:bodyPr wrap="none" anchor="ctr"/>
            <a:lstStyle/>
            <a:p>
              <a:endParaRPr lang="zh-CN" altLang="en-US"/>
            </a:p>
          </p:txBody>
        </p:sp>
        <p:sp>
          <p:nvSpPr>
            <p:cNvPr id="726047" name="Line 31"/>
            <p:cNvSpPr>
              <a:spLocks noChangeShapeType="1"/>
            </p:cNvSpPr>
            <p:nvPr/>
          </p:nvSpPr>
          <p:spPr bwMode="auto">
            <a:xfrm>
              <a:off x="2608" y="1929"/>
              <a:ext cx="0" cy="364"/>
            </a:xfrm>
            <a:prstGeom prst="line">
              <a:avLst/>
            </a:prstGeom>
            <a:noFill/>
            <a:ln w="12700">
              <a:solidFill>
                <a:srgbClr val="FF0000"/>
              </a:solidFill>
              <a:round/>
              <a:headEnd type="triangle" w="med" len="med"/>
              <a:tailEnd type="triangle" w="med" len="med"/>
            </a:ln>
            <a:effectLst/>
          </p:spPr>
          <p:txBody>
            <a:bodyPr wrap="none" anchor="ctr"/>
            <a:lstStyle/>
            <a:p>
              <a:endParaRPr lang="zh-CN" altLang="en-US"/>
            </a:p>
          </p:txBody>
        </p:sp>
        <p:sp>
          <p:nvSpPr>
            <p:cNvPr id="726048" name="Line 32"/>
            <p:cNvSpPr>
              <a:spLocks noChangeShapeType="1"/>
            </p:cNvSpPr>
            <p:nvPr/>
          </p:nvSpPr>
          <p:spPr bwMode="auto">
            <a:xfrm>
              <a:off x="2608" y="2160"/>
              <a:ext cx="409" cy="0"/>
            </a:xfrm>
            <a:prstGeom prst="line">
              <a:avLst/>
            </a:prstGeom>
            <a:noFill/>
            <a:ln w="12700">
              <a:solidFill>
                <a:srgbClr val="FF0000"/>
              </a:solidFill>
              <a:round/>
              <a:headEnd/>
              <a:tailEnd/>
            </a:ln>
            <a:effectLst/>
          </p:spPr>
          <p:txBody>
            <a:bodyPr wrap="none" anchor="ctr"/>
            <a:lstStyle/>
            <a:p>
              <a:endParaRPr lang="zh-CN" altLang="en-US"/>
            </a:p>
          </p:txBody>
        </p:sp>
        <p:sp>
          <p:nvSpPr>
            <p:cNvPr id="726049" name="Line 33"/>
            <p:cNvSpPr>
              <a:spLocks noChangeShapeType="1"/>
            </p:cNvSpPr>
            <p:nvPr/>
          </p:nvSpPr>
          <p:spPr bwMode="auto">
            <a:xfrm flipV="1">
              <a:off x="2609" y="2520"/>
              <a:ext cx="0" cy="137"/>
            </a:xfrm>
            <a:prstGeom prst="line">
              <a:avLst/>
            </a:prstGeom>
            <a:noFill/>
            <a:ln w="12700">
              <a:solidFill>
                <a:srgbClr val="FF0000"/>
              </a:solidFill>
              <a:round/>
              <a:headEnd type="triangle" w="med" len="med"/>
              <a:tailEnd/>
            </a:ln>
            <a:effectLst/>
          </p:spPr>
          <p:txBody>
            <a:bodyPr wrap="none" anchor="ctr"/>
            <a:lstStyle/>
            <a:p>
              <a:endParaRPr lang="zh-CN" altLang="en-US"/>
            </a:p>
          </p:txBody>
        </p:sp>
        <p:sp>
          <p:nvSpPr>
            <p:cNvPr id="726050" name="Line 34"/>
            <p:cNvSpPr>
              <a:spLocks noChangeShapeType="1"/>
            </p:cNvSpPr>
            <p:nvPr/>
          </p:nvSpPr>
          <p:spPr bwMode="auto">
            <a:xfrm>
              <a:off x="2609" y="2520"/>
              <a:ext cx="907" cy="0"/>
            </a:xfrm>
            <a:prstGeom prst="line">
              <a:avLst/>
            </a:prstGeom>
            <a:noFill/>
            <a:ln w="12700">
              <a:solidFill>
                <a:srgbClr val="FF0000"/>
              </a:solidFill>
              <a:round/>
              <a:headEnd/>
              <a:tailEnd/>
            </a:ln>
            <a:effectLst/>
          </p:spPr>
          <p:txBody>
            <a:bodyPr wrap="none" anchor="ctr"/>
            <a:lstStyle/>
            <a:p>
              <a:endParaRPr lang="zh-CN" altLang="en-US"/>
            </a:p>
          </p:txBody>
        </p:sp>
        <p:sp>
          <p:nvSpPr>
            <p:cNvPr id="726051" name="Line 35"/>
            <p:cNvSpPr>
              <a:spLocks noChangeShapeType="1"/>
            </p:cNvSpPr>
            <p:nvPr/>
          </p:nvSpPr>
          <p:spPr bwMode="auto">
            <a:xfrm>
              <a:off x="567" y="2019"/>
              <a:ext cx="1905" cy="0"/>
            </a:xfrm>
            <a:prstGeom prst="line">
              <a:avLst/>
            </a:prstGeom>
            <a:noFill/>
            <a:ln w="25400">
              <a:solidFill>
                <a:schemeClr val="tx1"/>
              </a:solidFill>
              <a:round/>
              <a:headEnd/>
              <a:tailEnd/>
            </a:ln>
            <a:effectLst/>
          </p:spPr>
          <p:txBody>
            <a:bodyPr wrap="none" anchor="ctr"/>
            <a:lstStyle/>
            <a:p>
              <a:endParaRPr lang="zh-CN" altLang="en-US"/>
            </a:p>
          </p:txBody>
        </p:sp>
        <p:sp>
          <p:nvSpPr>
            <p:cNvPr id="726052" name="Line 36"/>
            <p:cNvSpPr>
              <a:spLocks noChangeShapeType="1"/>
            </p:cNvSpPr>
            <p:nvPr/>
          </p:nvSpPr>
          <p:spPr bwMode="auto">
            <a:xfrm>
              <a:off x="567" y="2384"/>
              <a:ext cx="1905" cy="0"/>
            </a:xfrm>
            <a:prstGeom prst="line">
              <a:avLst/>
            </a:prstGeom>
            <a:noFill/>
            <a:ln w="25400">
              <a:solidFill>
                <a:schemeClr val="tx1"/>
              </a:solidFill>
              <a:round/>
              <a:headEnd/>
              <a:tailEnd/>
            </a:ln>
            <a:effectLst/>
          </p:spPr>
          <p:txBody>
            <a:bodyPr wrap="none" anchor="ctr"/>
            <a:lstStyle/>
            <a:p>
              <a:endParaRPr lang="zh-CN" altLang="en-US"/>
            </a:p>
          </p:txBody>
        </p:sp>
        <p:sp>
          <p:nvSpPr>
            <p:cNvPr id="726053" name="Line 37"/>
            <p:cNvSpPr>
              <a:spLocks noChangeShapeType="1"/>
            </p:cNvSpPr>
            <p:nvPr/>
          </p:nvSpPr>
          <p:spPr bwMode="auto">
            <a:xfrm>
              <a:off x="567" y="2748"/>
              <a:ext cx="1905" cy="0"/>
            </a:xfrm>
            <a:prstGeom prst="line">
              <a:avLst/>
            </a:prstGeom>
            <a:noFill/>
            <a:ln w="25400">
              <a:solidFill>
                <a:schemeClr val="tx1"/>
              </a:solidFill>
              <a:round/>
              <a:headEnd/>
              <a:tailEnd/>
            </a:ln>
            <a:effectLst/>
          </p:spPr>
          <p:txBody>
            <a:bodyPr wrap="none" anchor="ctr"/>
            <a:lstStyle/>
            <a:p>
              <a:endParaRPr lang="zh-CN" altLang="en-US"/>
            </a:p>
          </p:txBody>
        </p:sp>
        <p:sp>
          <p:nvSpPr>
            <p:cNvPr id="726054" name="Text Box 38"/>
            <p:cNvSpPr txBox="1">
              <a:spLocks noChangeArrowheads="1"/>
            </p:cNvSpPr>
            <p:nvPr/>
          </p:nvSpPr>
          <p:spPr bwMode="auto">
            <a:xfrm>
              <a:off x="431" y="2931"/>
              <a:ext cx="816" cy="368"/>
            </a:xfrm>
            <a:prstGeom prst="rect">
              <a:avLst/>
            </a:prstGeom>
            <a:noFill/>
            <a:ln w="9525">
              <a:noFill/>
              <a:miter lim="800000"/>
              <a:headEnd/>
              <a:tailEnd/>
            </a:ln>
            <a:effectLst/>
          </p:spPr>
          <p:txBody>
            <a:bodyPr>
              <a:spAutoFit/>
            </a:bodyPr>
            <a:lstStyle/>
            <a:p>
              <a:pPr algn="l">
                <a:spcBef>
                  <a:spcPct val="50000"/>
                </a:spcBef>
              </a:pPr>
              <a:r>
                <a:rPr lang="en-US" altLang="zh-CN" sz="1600" b="1">
                  <a:solidFill>
                    <a:srgbClr val="0000FF"/>
                  </a:solidFill>
                  <a:ea typeface="华文新魏" pitchFamily="2" charset="-122"/>
                </a:rPr>
                <a:t>Modem</a:t>
              </a:r>
              <a:r>
                <a:rPr lang="zh-CN" altLang="en-US" sz="1600">
                  <a:solidFill>
                    <a:srgbClr val="0000FF"/>
                  </a:solidFill>
                  <a:ea typeface="华文新魏" pitchFamily="2" charset="-122"/>
                </a:rPr>
                <a:t>中断</a:t>
              </a:r>
              <a:endParaRPr lang="zh-CN" altLang="en-US" sz="1600">
                <a:ea typeface="华文新魏" pitchFamily="2" charset="-122"/>
              </a:endParaRPr>
            </a:p>
          </p:txBody>
        </p:sp>
        <p:sp>
          <p:nvSpPr>
            <p:cNvPr id="726055" name="Rectangle 39"/>
            <p:cNvSpPr>
              <a:spLocks noChangeArrowheads="1"/>
            </p:cNvSpPr>
            <p:nvPr/>
          </p:nvSpPr>
          <p:spPr bwMode="auto">
            <a:xfrm>
              <a:off x="2382" y="2931"/>
              <a:ext cx="453" cy="273"/>
            </a:xfrm>
            <a:prstGeom prst="rect">
              <a:avLst/>
            </a:prstGeom>
            <a:solidFill>
              <a:srgbClr val="FFFFCC"/>
            </a:solidFill>
            <a:ln w="12700" algn="ctr">
              <a:solidFill>
                <a:schemeClr val="tx1"/>
              </a:solidFill>
              <a:miter lim="800000"/>
              <a:headEnd/>
              <a:tailEnd/>
            </a:ln>
            <a:effectLst/>
          </p:spPr>
          <p:txBody>
            <a:bodyPr wrap="none" anchor="ctr"/>
            <a:lstStyle/>
            <a:p>
              <a:endParaRPr lang="zh-CN" altLang="en-US"/>
            </a:p>
          </p:txBody>
        </p:sp>
        <p:sp>
          <p:nvSpPr>
            <p:cNvPr id="726056" name="Line 40"/>
            <p:cNvSpPr>
              <a:spLocks noChangeShapeType="1"/>
            </p:cNvSpPr>
            <p:nvPr/>
          </p:nvSpPr>
          <p:spPr bwMode="auto">
            <a:xfrm flipV="1">
              <a:off x="2472" y="2976"/>
              <a:ext cx="227" cy="136"/>
            </a:xfrm>
            <a:prstGeom prst="line">
              <a:avLst/>
            </a:prstGeom>
            <a:noFill/>
            <a:ln w="25400">
              <a:solidFill>
                <a:schemeClr val="tx1"/>
              </a:solidFill>
              <a:round/>
              <a:headEnd/>
              <a:tailEnd/>
            </a:ln>
            <a:effectLst/>
          </p:spPr>
          <p:txBody>
            <a:bodyPr wrap="none" anchor="ctr"/>
            <a:lstStyle/>
            <a:p>
              <a:endParaRPr lang="zh-CN" altLang="en-US"/>
            </a:p>
          </p:txBody>
        </p:sp>
        <p:sp>
          <p:nvSpPr>
            <p:cNvPr id="726057" name="Line 41"/>
            <p:cNvSpPr>
              <a:spLocks noChangeShapeType="1"/>
            </p:cNvSpPr>
            <p:nvPr/>
          </p:nvSpPr>
          <p:spPr bwMode="auto">
            <a:xfrm>
              <a:off x="2699" y="3113"/>
              <a:ext cx="635" cy="0"/>
            </a:xfrm>
            <a:prstGeom prst="line">
              <a:avLst/>
            </a:prstGeom>
            <a:noFill/>
            <a:ln w="25400">
              <a:solidFill>
                <a:schemeClr val="tx1"/>
              </a:solidFill>
              <a:round/>
              <a:headEnd/>
              <a:tailEnd/>
            </a:ln>
            <a:effectLst/>
          </p:spPr>
          <p:txBody>
            <a:bodyPr wrap="none" anchor="ctr"/>
            <a:lstStyle/>
            <a:p>
              <a:endParaRPr lang="zh-CN" altLang="en-US"/>
            </a:p>
          </p:txBody>
        </p:sp>
        <p:sp>
          <p:nvSpPr>
            <p:cNvPr id="726058" name="Line 42"/>
            <p:cNvSpPr>
              <a:spLocks noChangeShapeType="1"/>
            </p:cNvSpPr>
            <p:nvPr/>
          </p:nvSpPr>
          <p:spPr bwMode="auto">
            <a:xfrm>
              <a:off x="567" y="3113"/>
              <a:ext cx="1905" cy="0"/>
            </a:xfrm>
            <a:prstGeom prst="line">
              <a:avLst/>
            </a:prstGeom>
            <a:noFill/>
            <a:ln w="25400">
              <a:solidFill>
                <a:schemeClr val="tx1"/>
              </a:solidFill>
              <a:round/>
              <a:headEnd/>
              <a:tailEnd/>
            </a:ln>
            <a:effectLst/>
          </p:spPr>
          <p:txBody>
            <a:bodyPr wrap="none" anchor="ctr"/>
            <a:lstStyle/>
            <a:p>
              <a:endParaRPr lang="zh-CN" altLang="en-US"/>
            </a:p>
          </p:txBody>
        </p:sp>
        <p:sp>
          <p:nvSpPr>
            <p:cNvPr id="726059" name="Rectangle 43"/>
            <p:cNvSpPr>
              <a:spLocks noChangeArrowheads="1"/>
            </p:cNvSpPr>
            <p:nvPr/>
          </p:nvSpPr>
          <p:spPr bwMode="auto">
            <a:xfrm>
              <a:off x="1202" y="2750"/>
              <a:ext cx="590" cy="181"/>
            </a:xfrm>
            <a:prstGeom prst="rect">
              <a:avLst/>
            </a:prstGeom>
            <a:solidFill>
              <a:srgbClr val="CCECFF"/>
            </a:solidFill>
            <a:ln w="12700" algn="ctr">
              <a:solidFill>
                <a:schemeClr val="tx1"/>
              </a:solidFill>
              <a:miter lim="800000"/>
              <a:headEnd/>
              <a:tailEnd/>
            </a:ln>
            <a:effectLst/>
          </p:spPr>
          <p:txBody>
            <a:bodyPr wrap="none" anchor="ctr"/>
            <a:lstStyle/>
            <a:p>
              <a:endParaRPr lang="zh-CN" altLang="zh-CN" sz="1600">
                <a:latin typeface="Times New Roman" pitchFamily="18" charset="0"/>
                <a:ea typeface="黑体" pitchFamily="2" charset="-122"/>
              </a:endParaRPr>
            </a:p>
          </p:txBody>
        </p:sp>
        <p:sp>
          <p:nvSpPr>
            <p:cNvPr id="726060" name="Rectangle 44"/>
            <p:cNvSpPr>
              <a:spLocks noChangeArrowheads="1"/>
            </p:cNvSpPr>
            <p:nvPr/>
          </p:nvSpPr>
          <p:spPr bwMode="auto">
            <a:xfrm>
              <a:off x="1202" y="2931"/>
              <a:ext cx="590" cy="182"/>
            </a:xfrm>
            <a:prstGeom prst="rect">
              <a:avLst/>
            </a:prstGeom>
            <a:solidFill>
              <a:srgbClr val="FFFFCC"/>
            </a:solidFill>
            <a:ln w="12700" algn="ctr">
              <a:solidFill>
                <a:schemeClr val="tx1"/>
              </a:solidFill>
              <a:miter lim="800000"/>
              <a:headEnd/>
              <a:tailEnd/>
            </a:ln>
            <a:effectLst/>
          </p:spPr>
          <p:txBody>
            <a:bodyPr wrap="none" anchor="ctr"/>
            <a:lstStyle/>
            <a:p>
              <a:r>
                <a:rPr lang="zh-CN" altLang="en-US" sz="1600">
                  <a:latin typeface="Times New Roman" pitchFamily="18" charset="0"/>
                  <a:ea typeface="黑体" pitchFamily="2" charset="-122"/>
                </a:rPr>
                <a:t>第四</a:t>
              </a:r>
            </a:p>
          </p:txBody>
        </p:sp>
        <p:sp>
          <p:nvSpPr>
            <p:cNvPr id="726061" name="Line 45"/>
            <p:cNvSpPr>
              <a:spLocks noChangeShapeType="1"/>
            </p:cNvSpPr>
            <p:nvPr/>
          </p:nvSpPr>
          <p:spPr bwMode="auto">
            <a:xfrm>
              <a:off x="2154" y="1207"/>
              <a:ext cx="0" cy="1679"/>
            </a:xfrm>
            <a:prstGeom prst="line">
              <a:avLst/>
            </a:prstGeom>
            <a:noFill/>
            <a:ln w="9525">
              <a:solidFill>
                <a:srgbClr val="FF0000"/>
              </a:solidFill>
              <a:round/>
              <a:headEnd/>
              <a:tailEnd/>
            </a:ln>
            <a:effectLst/>
          </p:spPr>
          <p:txBody>
            <a:bodyPr/>
            <a:lstStyle/>
            <a:p>
              <a:endParaRPr lang="zh-CN" altLang="en-US"/>
            </a:p>
          </p:txBody>
        </p:sp>
        <p:sp>
          <p:nvSpPr>
            <p:cNvPr id="726062" name="Line 46"/>
            <p:cNvSpPr>
              <a:spLocks noChangeShapeType="1"/>
            </p:cNvSpPr>
            <p:nvPr/>
          </p:nvSpPr>
          <p:spPr bwMode="auto">
            <a:xfrm>
              <a:off x="2608" y="1207"/>
              <a:ext cx="0" cy="318"/>
            </a:xfrm>
            <a:prstGeom prst="line">
              <a:avLst/>
            </a:prstGeom>
            <a:noFill/>
            <a:ln w="9525">
              <a:solidFill>
                <a:srgbClr val="FF0000"/>
              </a:solidFill>
              <a:round/>
              <a:headEnd/>
              <a:tailEnd type="triangle" w="med" len="med"/>
            </a:ln>
            <a:effectLst/>
          </p:spPr>
          <p:txBody>
            <a:bodyPr/>
            <a:lstStyle/>
            <a:p>
              <a:endParaRPr lang="zh-CN" altLang="en-US"/>
            </a:p>
          </p:txBody>
        </p:sp>
        <p:sp>
          <p:nvSpPr>
            <p:cNvPr id="726063" name="Line 47"/>
            <p:cNvSpPr>
              <a:spLocks noChangeShapeType="1"/>
            </p:cNvSpPr>
            <p:nvPr/>
          </p:nvSpPr>
          <p:spPr bwMode="auto">
            <a:xfrm flipV="1">
              <a:off x="3016" y="1162"/>
              <a:ext cx="0" cy="998"/>
            </a:xfrm>
            <a:prstGeom prst="line">
              <a:avLst/>
            </a:prstGeom>
            <a:noFill/>
            <a:ln w="9525">
              <a:solidFill>
                <a:srgbClr val="FF0000"/>
              </a:solidFill>
              <a:round/>
              <a:headEnd/>
              <a:tailEnd/>
            </a:ln>
            <a:effectLst/>
          </p:spPr>
          <p:txBody>
            <a:bodyPr/>
            <a:lstStyle/>
            <a:p>
              <a:endParaRPr lang="zh-CN" altLang="en-US"/>
            </a:p>
          </p:txBody>
        </p:sp>
        <p:sp>
          <p:nvSpPr>
            <p:cNvPr id="726064" name="Line 48"/>
            <p:cNvSpPr>
              <a:spLocks noChangeShapeType="1"/>
            </p:cNvSpPr>
            <p:nvPr/>
          </p:nvSpPr>
          <p:spPr bwMode="auto">
            <a:xfrm flipV="1">
              <a:off x="3515" y="1162"/>
              <a:ext cx="0" cy="1361"/>
            </a:xfrm>
            <a:prstGeom prst="line">
              <a:avLst/>
            </a:prstGeom>
            <a:noFill/>
            <a:ln w="9525">
              <a:solidFill>
                <a:srgbClr val="FF0000"/>
              </a:solidFill>
              <a:round/>
              <a:headEnd/>
              <a:tailEnd/>
            </a:ln>
            <a:effectLst/>
          </p:spPr>
          <p:txBody>
            <a:bodyPr/>
            <a:lstStyle/>
            <a:p>
              <a:endParaRPr lang="zh-CN" altLang="en-US"/>
            </a:p>
          </p:txBody>
        </p:sp>
        <p:sp>
          <p:nvSpPr>
            <p:cNvPr id="726065" name="Line 49"/>
            <p:cNvSpPr>
              <a:spLocks noChangeShapeType="1"/>
            </p:cNvSpPr>
            <p:nvPr/>
          </p:nvSpPr>
          <p:spPr bwMode="auto">
            <a:xfrm>
              <a:off x="2154" y="2886"/>
              <a:ext cx="454" cy="0"/>
            </a:xfrm>
            <a:prstGeom prst="line">
              <a:avLst/>
            </a:prstGeom>
            <a:noFill/>
            <a:ln w="9525">
              <a:solidFill>
                <a:srgbClr val="FF0000"/>
              </a:solidFill>
              <a:round/>
              <a:headEnd/>
              <a:tailEnd/>
            </a:ln>
            <a:effectLst/>
          </p:spPr>
          <p:txBody>
            <a:bodyPr/>
            <a:lstStyle/>
            <a:p>
              <a:endParaRPr lang="zh-CN" altLang="en-US"/>
            </a:p>
          </p:txBody>
        </p:sp>
        <p:sp>
          <p:nvSpPr>
            <p:cNvPr id="726066" name="Line 50"/>
            <p:cNvSpPr>
              <a:spLocks noChangeShapeType="1"/>
            </p:cNvSpPr>
            <p:nvPr/>
          </p:nvSpPr>
          <p:spPr bwMode="auto">
            <a:xfrm>
              <a:off x="2608" y="2886"/>
              <a:ext cx="0" cy="90"/>
            </a:xfrm>
            <a:prstGeom prst="line">
              <a:avLst/>
            </a:prstGeom>
            <a:noFill/>
            <a:ln w="9525">
              <a:solidFill>
                <a:srgbClr val="FF0000"/>
              </a:solidFill>
              <a:round/>
              <a:headEnd/>
              <a:tailEnd type="triangle" w="med" len="med"/>
            </a:ln>
            <a:effectLst/>
          </p:spPr>
          <p:txBody>
            <a:bodyPr/>
            <a:lstStyle/>
            <a:p>
              <a:endParaRPr lang="zh-CN" altLang="en-US"/>
            </a:p>
          </p:txBody>
        </p:sp>
        <p:sp>
          <p:nvSpPr>
            <p:cNvPr id="726067" name="Text Box 51"/>
            <p:cNvSpPr txBox="1">
              <a:spLocks noChangeArrowheads="1"/>
            </p:cNvSpPr>
            <p:nvPr/>
          </p:nvSpPr>
          <p:spPr bwMode="auto">
            <a:xfrm>
              <a:off x="1475" y="981"/>
              <a:ext cx="544" cy="218"/>
            </a:xfrm>
            <a:prstGeom prst="rect">
              <a:avLst/>
            </a:prstGeom>
            <a:solidFill>
              <a:srgbClr val="CCFF99"/>
            </a:solidFill>
            <a:ln w="9525">
              <a:solidFill>
                <a:schemeClr val="accent2"/>
              </a:solidFill>
              <a:miter lim="800000"/>
              <a:headEnd/>
              <a:tailEnd/>
            </a:ln>
            <a:effectLst/>
          </p:spPr>
          <p:txBody>
            <a:bodyPr>
              <a:spAutoFit/>
            </a:bodyPr>
            <a:lstStyle/>
            <a:p>
              <a:pPr algn="l">
                <a:spcBef>
                  <a:spcPct val="50000"/>
                </a:spcBef>
              </a:pPr>
              <a:r>
                <a:rPr lang="en-US" altLang="zh-CN" sz="1600">
                  <a:ea typeface="华文新魏" pitchFamily="2" charset="-122"/>
                </a:rPr>
                <a:t>UnIER</a:t>
              </a:r>
            </a:p>
          </p:txBody>
        </p:sp>
        <p:sp>
          <p:nvSpPr>
            <p:cNvPr id="726068" name="Line 52"/>
            <p:cNvSpPr>
              <a:spLocks noChangeShapeType="1"/>
            </p:cNvSpPr>
            <p:nvPr/>
          </p:nvSpPr>
          <p:spPr bwMode="auto">
            <a:xfrm>
              <a:off x="2428" y="1200"/>
              <a:ext cx="453" cy="0"/>
            </a:xfrm>
            <a:prstGeom prst="line">
              <a:avLst/>
            </a:prstGeom>
            <a:noFill/>
            <a:ln w="12700">
              <a:solidFill>
                <a:schemeClr val="tx1"/>
              </a:solidFill>
              <a:round/>
              <a:headEnd/>
              <a:tailEnd/>
            </a:ln>
            <a:effectLst/>
          </p:spPr>
          <p:txBody>
            <a:bodyPr wrap="none" anchor="ctr"/>
            <a:lstStyle/>
            <a:p>
              <a:endParaRPr lang="zh-CN" altLang="en-US"/>
            </a:p>
          </p:txBody>
        </p:sp>
        <p:sp>
          <p:nvSpPr>
            <p:cNvPr id="726069" name="Text Box 53"/>
            <p:cNvSpPr txBox="1">
              <a:spLocks noChangeArrowheads="1"/>
            </p:cNvSpPr>
            <p:nvPr/>
          </p:nvSpPr>
          <p:spPr bwMode="auto">
            <a:xfrm>
              <a:off x="2382" y="981"/>
              <a:ext cx="453" cy="219"/>
            </a:xfrm>
            <a:prstGeom prst="rect">
              <a:avLst/>
            </a:prstGeom>
            <a:solidFill>
              <a:schemeClr val="hlink"/>
            </a:solidFill>
            <a:ln w="9525">
              <a:solidFill>
                <a:schemeClr val="accent2"/>
              </a:solidFill>
              <a:miter lim="800000"/>
              <a:headEnd/>
              <a:tailEnd/>
            </a:ln>
            <a:effectLst/>
          </p:spPr>
          <p:txBody>
            <a:bodyPr>
              <a:spAutoFit/>
            </a:bodyPr>
            <a:lstStyle/>
            <a:p>
              <a:pPr>
                <a:spcBef>
                  <a:spcPct val="50000"/>
                </a:spcBef>
              </a:pPr>
              <a:r>
                <a:rPr lang="en-US" altLang="zh-CN" sz="1600">
                  <a:ea typeface="华文新魏" pitchFamily="2" charset="-122"/>
                </a:rPr>
                <a:t>bit2</a:t>
              </a:r>
            </a:p>
          </p:txBody>
        </p:sp>
        <p:sp>
          <p:nvSpPr>
            <p:cNvPr id="726070" name="Text Box 54"/>
            <p:cNvSpPr txBox="1">
              <a:spLocks noChangeArrowheads="1"/>
            </p:cNvSpPr>
            <p:nvPr/>
          </p:nvSpPr>
          <p:spPr bwMode="auto">
            <a:xfrm>
              <a:off x="2835" y="981"/>
              <a:ext cx="453" cy="219"/>
            </a:xfrm>
            <a:prstGeom prst="rect">
              <a:avLst/>
            </a:prstGeom>
            <a:solidFill>
              <a:schemeClr val="hlink"/>
            </a:solidFill>
            <a:ln w="9525">
              <a:solidFill>
                <a:schemeClr val="accent2"/>
              </a:solidFill>
              <a:miter lim="800000"/>
              <a:headEnd/>
              <a:tailEnd/>
            </a:ln>
            <a:effectLst/>
          </p:spPr>
          <p:txBody>
            <a:bodyPr>
              <a:spAutoFit/>
            </a:bodyPr>
            <a:lstStyle/>
            <a:p>
              <a:pPr>
                <a:spcBef>
                  <a:spcPct val="50000"/>
                </a:spcBef>
              </a:pPr>
              <a:r>
                <a:rPr lang="en-US" altLang="zh-CN" sz="1600">
                  <a:ea typeface="华文新魏" pitchFamily="2" charset="-122"/>
                </a:rPr>
                <a:t>bit1</a:t>
              </a:r>
            </a:p>
          </p:txBody>
        </p:sp>
        <p:sp>
          <p:nvSpPr>
            <p:cNvPr id="726071" name="Text Box 55"/>
            <p:cNvSpPr txBox="1">
              <a:spLocks noChangeArrowheads="1"/>
            </p:cNvSpPr>
            <p:nvPr/>
          </p:nvSpPr>
          <p:spPr bwMode="auto">
            <a:xfrm>
              <a:off x="3289" y="981"/>
              <a:ext cx="453" cy="219"/>
            </a:xfrm>
            <a:prstGeom prst="rect">
              <a:avLst/>
            </a:prstGeom>
            <a:solidFill>
              <a:schemeClr val="hlink"/>
            </a:solidFill>
            <a:ln w="9525">
              <a:solidFill>
                <a:schemeClr val="accent2"/>
              </a:solidFill>
              <a:miter lim="800000"/>
              <a:headEnd/>
              <a:tailEnd/>
            </a:ln>
            <a:effectLst/>
          </p:spPr>
          <p:txBody>
            <a:bodyPr>
              <a:spAutoFit/>
            </a:bodyPr>
            <a:lstStyle/>
            <a:p>
              <a:pPr>
                <a:spcBef>
                  <a:spcPct val="50000"/>
                </a:spcBef>
              </a:pPr>
              <a:r>
                <a:rPr lang="en-US" altLang="zh-CN" sz="1600">
                  <a:ea typeface="华文新魏" pitchFamily="2" charset="-122"/>
                </a:rPr>
                <a:t>bit0</a:t>
              </a:r>
            </a:p>
          </p:txBody>
        </p:sp>
        <p:sp>
          <p:nvSpPr>
            <p:cNvPr id="726072" name="Text Box 56"/>
            <p:cNvSpPr txBox="1">
              <a:spLocks noChangeArrowheads="1"/>
            </p:cNvSpPr>
            <p:nvPr/>
          </p:nvSpPr>
          <p:spPr bwMode="auto">
            <a:xfrm>
              <a:off x="1928" y="981"/>
              <a:ext cx="453" cy="219"/>
            </a:xfrm>
            <a:prstGeom prst="rect">
              <a:avLst/>
            </a:prstGeom>
            <a:solidFill>
              <a:schemeClr val="hlink"/>
            </a:solidFill>
            <a:ln w="9525">
              <a:solidFill>
                <a:schemeClr val="accent2"/>
              </a:solidFill>
              <a:miter lim="800000"/>
              <a:headEnd/>
              <a:tailEnd/>
            </a:ln>
            <a:effectLst/>
          </p:spPr>
          <p:txBody>
            <a:bodyPr>
              <a:spAutoFit/>
            </a:bodyPr>
            <a:lstStyle/>
            <a:p>
              <a:pPr>
                <a:spcBef>
                  <a:spcPct val="50000"/>
                </a:spcBef>
              </a:pPr>
              <a:r>
                <a:rPr lang="en-US" altLang="zh-CN" sz="1600">
                  <a:ea typeface="华文新魏" pitchFamily="2" charset="-122"/>
                </a:rPr>
                <a:t>bit3</a:t>
              </a:r>
            </a:p>
          </p:txBody>
        </p:sp>
      </p:grpSp>
      <p:sp>
        <p:nvSpPr>
          <p:cNvPr id="726073" name="Text Box 57"/>
          <p:cNvSpPr txBox="1">
            <a:spLocks noChangeArrowheads="1"/>
          </p:cNvSpPr>
          <p:nvPr/>
        </p:nvSpPr>
        <p:spPr bwMode="auto">
          <a:xfrm>
            <a:off x="2625726" y="6045200"/>
            <a:ext cx="3541713" cy="336550"/>
          </a:xfrm>
          <a:prstGeom prst="rect">
            <a:avLst/>
          </a:prstGeom>
          <a:noFill/>
          <a:ln w="9525" algn="ctr">
            <a:noFill/>
            <a:miter lim="800000"/>
            <a:headEnd/>
            <a:tailEnd/>
          </a:ln>
          <a:effectLst/>
        </p:spPr>
        <p:txBody>
          <a:bodyPr wrap="none">
            <a:spAutoFit/>
          </a:bodyPr>
          <a:lstStyle/>
          <a:p>
            <a:r>
              <a:rPr lang="zh-CN" altLang="en-US" sz="1600">
                <a:solidFill>
                  <a:srgbClr val="FF0000"/>
                </a:solidFill>
                <a:latin typeface="华文新魏" pitchFamily="2" charset="-122"/>
                <a:ea typeface="华文新魏" pitchFamily="2" charset="-122"/>
              </a:rPr>
              <a:t>注意：只有</a:t>
            </a:r>
            <a:r>
              <a:rPr lang="en-US" altLang="zh-CN" sz="1600">
                <a:solidFill>
                  <a:srgbClr val="FF0000"/>
                </a:solidFill>
                <a:latin typeface="华文新魏" pitchFamily="2" charset="-122"/>
                <a:ea typeface="华文新魏" pitchFamily="2" charset="-122"/>
              </a:rPr>
              <a:t>UART1</a:t>
            </a:r>
            <a:r>
              <a:rPr lang="zh-CN" altLang="en-US" sz="1600">
                <a:solidFill>
                  <a:srgbClr val="FF0000"/>
                </a:solidFill>
                <a:latin typeface="华文新魏" pitchFamily="2" charset="-122"/>
                <a:ea typeface="华文新魏" pitchFamily="2" charset="-122"/>
              </a:rPr>
              <a:t>才有</a:t>
            </a:r>
            <a:r>
              <a:rPr lang="en-US" altLang="zh-CN" sz="1600">
                <a:solidFill>
                  <a:srgbClr val="FF0000"/>
                </a:solidFill>
                <a:latin typeface="华文新魏" pitchFamily="2" charset="-122"/>
                <a:ea typeface="华文新魏" pitchFamily="2" charset="-122"/>
              </a:rPr>
              <a:t>Modem</a:t>
            </a:r>
            <a:r>
              <a:rPr lang="zh-CN" altLang="en-US" sz="1600">
                <a:solidFill>
                  <a:srgbClr val="FF0000"/>
                </a:solidFill>
                <a:latin typeface="华文新魏" pitchFamily="2" charset="-122"/>
                <a:ea typeface="华文新魏" pitchFamily="2" charset="-122"/>
              </a:rPr>
              <a:t>中断。</a:t>
            </a:r>
          </a:p>
        </p:txBody>
      </p:sp>
      <p:sp>
        <p:nvSpPr>
          <p:cNvPr id="726074" name="Rectangle 58"/>
          <p:cNvSpPr>
            <a:spLocks noGrp="1" noChangeArrowheads="1"/>
          </p:cNvSpPr>
          <p:nvPr>
            <p:ph type="title"/>
          </p:nvPr>
        </p:nvSpPr>
        <p:spPr>
          <a:noFill/>
          <a:ln/>
        </p:spPr>
        <p:txBody>
          <a:bodyPr/>
          <a:lstStyle/>
          <a:p>
            <a:r>
              <a:rPr lang="en-US" altLang="zh-CN" dirty="0"/>
              <a:t>5.4.1  UART(0</a:t>
            </a:r>
            <a:r>
              <a:rPr lang="zh-CN" altLang="en-US" dirty="0"/>
              <a:t>、</a:t>
            </a:r>
            <a:r>
              <a:rPr lang="en-US" altLang="zh-CN" dirty="0"/>
              <a:t>1) </a:t>
            </a:r>
          </a:p>
        </p:txBody>
      </p:sp>
      <p:sp>
        <p:nvSpPr>
          <p:cNvPr id="726075" name="Rectangle 59"/>
          <p:cNvSpPr>
            <a:spLocks noChangeArrowheads="1"/>
          </p:cNvSpPr>
          <p:nvPr/>
        </p:nvSpPr>
        <p:spPr bwMode="auto">
          <a:xfrm>
            <a:off x="2222500" y="1811338"/>
            <a:ext cx="768985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a:t>
            </a:r>
            <a:r>
              <a:rPr lang="zh-CN" altLang="en-US" sz="3200">
                <a:latin typeface="Times New Roman" pitchFamily="18" charset="0"/>
              </a:rPr>
              <a:t>中断优先级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26075"/>
                                        </p:tgtEl>
                                        <p:attrNameLst>
                                          <p:attrName>style.visibility</p:attrName>
                                        </p:attrNameLst>
                                      </p:cBhvr>
                                      <p:to>
                                        <p:strVal val="visible"/>
                                      </p:to>
                                    </p:set>
                                    <p:anim calcmode="lin" valueType="num">
                                      <p:cBhvr additive="base">
                                        <p:cTn id="7" dur="500" fill="hold"/>
                                        <p:tgtEl>
                                          <p:spTgt spid="726075"/>
                                        </p:tgtEl>
                                        <p:attrNameLst>
                                          <p:attrName>ppt_x</p:attrName>
                                        </p:attrNameLst>
                                      </p:cBhvr>
                                      <p:tavLst>
                                        <p:tav tm="0">
                                          <p:val>
                                            <p:strVal val="1+#ppt_w/2"/>
                                          </p:val>
                                        </p:tav>
                                        <p:tav tm="100000">
                                          <p:val>
                                            <p:strVal val="#ppt_x"/>
                                          </p:val>
                                        </p:tav>
                                      </p:tavLst>
                                    </p:anim>
                                    <p:anim calcmode="lin" valueType="num">
                                      <p:cBhvr additive="base">
                                        <p:cTn id="8" dur="500" fill="hold"/>
                                        <p:tgtEl>
                                          <p:spTgt spid="72607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8" presetClass="entr" presetSubtype="16" fill="hold" nodeType="afterEffect">
                                  <p:stCondLst>
                                    <p:cond delay="0"/>
                                  </p:stCondLst>
                                  <p:childTnLst>
                                    <p:set>
                                      <p:cBhvr>
                                        <p:cTn id="11" dur="1" fill="hold">
                                          <p:stCondLst>
                                            <p:cond delay="0"/>
                                          </p:stCondLst>
                                        </p:cTn>
                                        <p:tgtEl>
                                          <p:spTgt spid="726018"/>
                                        </p:tgtEl>
                                        <p:attrNameLst>
                                          <p:attrName>style.visibility</p:attrName>
                                        </p:attrNameLst>
                                      </p:cBhvr>
                                      <p:to>
                                        <p:strVal val="visible"/>
                                      </p:to>
                                    </p:set>
                                    <p:animEffect transition="in" filter="diamond(in)">
                                      <p:cBhvr>
                                        <p:cTn id="12" dur="500"/>
                                        <p:tgtEl>
                                          <p:spTgt spid="726018"/>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726073"/>
                                        </p:tgtEl>
                                        <p:attrNameLst>
                                          <p:attrName>style.visibility</p:attrName>
                                        </p:attrNameLst>
                                      </p:cBhvr>
                                      <p:to>
                                        <p:strVal val="visible"/>
                                      </p:to>
                                    </p:set>
                                    <p:animEffect transition="in" filter="wipe(left)">
                                      <p:cBhvr>
                                        <p:cTn id="16" dur="500"/>
                                        <p:tgtEl>
                                          <p:spTgt spid="7260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6073" grpId="0"/>
      <p:bldP spid="726075"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42" name="Text Box 2"/>
          <p:cNvSpPr txBox="1">
            <a:spLocks noChangeArrowheads="1"/>
          </p:cNvSpPr>
          <p:nvPr/>
        </p:nvSpPr>
        <p:spPr bwMode="auto">
          <a:xfrm>
            <a:off x="2376488" y="2568576"/>
            <a:ext cx="7391400" cy="3637919"/>
          </a:xfrm>
          <a:prstGeom prst="rect">
            <a:avLst/>
          </a:prstGeom>
          <a:noFill/>
          <a:ln w="9525">
            <a:noFill/>
            <a:miter lim="800000"/>
            <a:headEnd/>
            <a:tailEnd/>
          </a:ln>
          <a:effectLst/>
        </p:spPr>
        <p:txBody>
          <a:bodyPr>
            <a:spAutoFit/>
          </a:bodyPr>
          <a:lstStyle/>
          <a:p>
            <a:pPr algn="l">
              <a:spcBef>
                <a:spcPct val="50000"/>
              </a:spcBef>
              <a:buClr>
                <a:srgbClr val="0000FF"/>
              </a:buClr>
              <a:buFont typeface="Wingdings" pitchFamily="2" charset="2"/>
              <a:buChar char="l"/>
            </a:pPr>
            <a:r>
              <a:rPr lang="en-US" altLang="zh-CN" sz="2400">
                <a:latin typeface="华文新魏" pitchFamily="2" charset="-122"/>
                <a:ea typeface="华文新魏" pitchFamily="2" charset="-122"/>
              </a:rPr>
              <a:t>   </a:t>
            </a:r>
            <a:r>
              <a:rPr lang="en-US" altLang="zh-CN" sz="2400">
                <a:solidFill>
                  <a:srgbClr val="FF0000"/>
                </a:solidFill>
                <a:latin typeface="华文新魏" pitchFamily="2" charset="-122"/>
                <a:ea typeface="华文新魏" pitchFamily="2" charset="-122"/>
              </a:rPr>
              <a:t>RLS</a:t>
            </a:r>
            <a:r>
              <a:rPr lang="zh-CN" altLang="en-US" sz="2400">
                <a:solidFill>
                  <a:srgbClr val="FF0000"/>
                </a:solidFill>
                <a:latin typeface="华文新魏" pitchFamily="2" charset="-122"/>
                <a:ea typeface="华文新魏" pitchFamily="2" charset="-122"/>
              </a:rPr>
              <a:t>中断</a:t>
            </a:r>
            <a:r>
              <a:rPr lang="zh-CN" altLang="en-US" sz="2400">
                <a:latin typeface="华文新魏" pitchFamily="2" charset="-122"/>
                <a:ea typeface="华文新魏" pitchFamily="2" charset="-122"/>
              </a:rPr>
              <a:t>：该中断为最高优先级。它在</a:t>
            </a:r>
            <a:r>
              <a:rPr lang="en-US" altLang="zh-CN" sz="2400">
                <a:latin typeface="华文新魏" pitchFamily="2" charset="-122"/>
                <a:ea typeface="华文新魏" pitchFamily="2" charset="-122"/>
              </a:rPr>
              <a:t>UARTn</a:t>
            </a:r>
            <a:r>
              <a:rPr lang="zh-CN" altLang="en-US" sz="2400">
                <a:latin typeface="华文新魏" pitchFamily="2" charset="-122"/>
                <a:ea typeface="华文新魏" pitchFamily="2" charset="-122"/>
              </a:rPr>
              <a:t>发生下面的错误时产生中断：</a:t>
            </a:r>
          </a:p>
          <a:p>
            <a:pPr marL="179388" lvl="1" indent="361950">
              <a:spcBef>
                <a:spcPct val="50000"/>
              </a:spcBef>
              <a:buClr>
                <a:srgbClr val="0000FF"/>
              </a:buClr>
            </a:pPr>
            <a:r>
              <a:rPr lang="en-US" altLang="zh-CN" sz="2400">
                <a:latin typeface="华文新魏" pitchFamily="2" charset="-122"/>
                <a:ea typeface="华文新魏" pitchFamily="2" charset="-122"/>
              </a:rPr>
              <a:t>1</a:t>
            </a:r>
            <a:r>
              <a:rPr lang="zh-CN" altLang="en-US" sz="2400">
                <a:latin typeface="华文新魏" pitchFamily="2" charset="-122"/>
                <a:ea typeface="华文新魏" pitchFamily="2" charset="-122"/>
              </a:rPr>
              <a:t>、溢出错误</a:t>
            </a:r>
            <a:r>
              <a:rPr lang="en-US" altLang="zh-CN" sz="2400">
                <a:latin typeface="华文新魏" pitchFamily="2" charset="-122"/>
                <a:ea typeface="华文新魏" pitchFamily="2" charset="-122"/>
              </a:rPr>
              <a:t>(OE)</a:t>
            </a:r>
          </a:p>
          <a:p>
            <a:pPr marL="179388" lvl="1" indent="361950">
              <a:spcBef>
                <a:spcPct val="20000"/>
              </a:spcBef>
              <a:buClr>
                <a:srgbClr val="0000FF"/>
              </a:buClr>
            </a:pPr>
            <a:r>
              <a:rPr lang="en-US" altLang="zh-CN" sz="2400">
                <a:latin typeface="华文新魏" pitchFamily="2" charset="-122"/>
                <a:ea typeface="华文新魏" pitchFamily="2" charset="-122"/>
              </a:rPr>
              <a:t>2</a:t>
            </a:r>
            <a:r>
              <a:rPr lang="zh-CN" altLang="en-US" sz="2400">
                <a:latin typeface="华文新魏" pitchFamily="2" charset="-122"/>
                <a:ea typeface="华文新魏" pitchFamily="2" charset="-122"/>
              </a:rPr>
              <a:t>、奇偶错误</a:t>
            </a:r>
            <a:r>
              <a:rPr lang="en-US" altLang="zh-CN" sz="2400">
                <a:latin typeface="华文新魏" pitchFamily="2" charset="-122"/>
                <a:ea typeface="华文新魏" pitchFamily="2" charset="-122"/>
              </a:rPr>
              <a:t>(PE)</a:t>
            </a:r>
          </a:p>
          <a:p>
            <a:pPr marL="179388" lvl="1" indent="361950">
              <a:spcBef>
                <a:spcPct val="20000"/>
              </a:spcBef>
              <a:buClr>
                <a:srgbClr val="0000FF"/>
              </a:buClr>
            </a:pPr>
            <a:r>
              <a:rPr lang="en-US" altLang="zh-CN" sz="2400">
                <a:latin typeface="华文新魏" pitchFamily="2" charset="-122"/>
                <a:ea typeface="华文新魏" pitchFamily="2" charset="-122"/>
              </a:rPr>
              <a:t>3</a:t>
            </a:r>
            <a:r>
              <a:rPr lang="zh-CN" altLang="en-US" sz="2400">
                <a:latin typeface="华文新魏" pitchFamily="2" charset="-122"/>
                <a:ea typeface="华文新魏" pitchFamily="2" charset="-122"/>
              </a:rPr>
              <a:t>、帧错误</a:t>
            </a:r>
            <a:r>
              <a:rPr lang="en-US" altLang="zh-CN" sz="2400">
                <a:latin typeface="华文新魏" pitchFamily="2" charset="-122"/>
                <a:ea typeface="华文新魏" pitchFamily="2" charset="-122"/>
              </a:rPr>
              <a:t>(FE)</a:t>
            </a:r>
          </a:p>
          <a:p>
            <a:pPr marL="179388" lvl="1" indent="361950">
              <a:spcBef>
                <a:spcPct val="20000"/>
              </a:spcBef>
              <a:buClr>
                <a:srgbClr val="0000FF"/>
              </a:buClr>
            </a:pPr>
            <a:r>
              <a:rPr lang="en-US" altLang="zh-CN" sz="2400">
                <a:latin typeface="华文新魏" pitchFamily="2" charset="-122"/>
                <a:ea typeface="华文新魏" pitchFamily="2" charset="-122"/>
              </a:rPr>
              <a:t>4</a:t>
            </a:r>
            <a:r>
              <a:rPr lang="zh-CN" altLang="en-US" sz="2400">
                <a:latin typeface="华文新魏" pitchFamily="2" charset="-122"/>
                <a:ea typeface="华文新魏" pitchFamily="2" charset="-122"/>
              </a:rPr>
              <a:t>、间隔中断</a:t>
            </a:r>
            <a:r>
              <a:rPr lang="en-US" altLang="zh-CN" sz="2400">
                <a:latin typeface="华文新魏" pitchFamily="2" charset="-122"/>
                <a:ea typeface="华文新魏" pitchFamily="2" charset="-122"/>
              </a:rPr>
              <a:t>(BI)	</a:t>
            </a:r>
          </a:p>
          <a:p>
            <a:pPr marL="179388" lvl="1" indent="361950">
              <a:spcBef>
                <a:spcPct val="50000"/>
              </a:spcBef>
              <a:buClr>
                <a:srgbClr val="0000FF"/>
              </a:buClr>
            </a:pPr>
            <a:r>
              <a:rPr lang="zh-CN" altLang="en-US" sz="2400">
                <a:latin typeface="华文新魏" pitchFamily="2" charset="-122"/>
                <a:ea typeface="华文新魏" pitchFamily="2" charset="-122"/>
              </a:rPr>
              <a:t>通过查看</a:t>
            </a:r>
            <a:r>
              <a:rPr lang="en-US" altLang="zh-CN" sz="2400">
                <a:latin typeface="华文新魏" pitchFamily="2" charset="-122"/>
                <a:ea typeface="华文新魏" pitchFamily="2" charset="-122"/>
              </a:rPr>
              <a:t>UnLSR[4:1]</a:t>
            </a:r>
            <a:r>
              <a:rPr lang="zh-CN" altLang="en-US" sz="2400">
                <a:latin typeface="华文新魏" pitchFamily="2" charset="-122"/>
                <a:ea typeface="华文新魏" pitchFamily="2" charset="-122"/>
              </a:rPr>
              <a:t>可以了解到产生该中断的错误条件。读取</a:t>
            </a:r>
            <a:r>
              <a:rPr lang="en-US" altLang="zh-CN" sz="2400">
                <a:latin typeface="华文新魏" pitchFamily="2" charset="-122"/>
                <a:ea typeface="华文新魏" pitchFamily="2" charset="-122"/>
              </a:rPr>
              <a:t>UnLSR</a:t>
            </a:r>
            <a:r>
              <a:rPr lang="zh-CN" altLang="en-US" sz="2400">
                <a:latin typeface="华文新魏" pitchFamily="2" charset="-122"/>
                <a:ea typeface="华文新魏" pitchFamily="2" charset="-122"/>
              </a:rPr>
              <a:t>时清除该中断；</a:t>
            </a:r>
          </a:p>
        </p:txBody>
      </p:sp>
      <p:sp>
        <p:nvSpPr>
          <p:cNvPr id="727043" name="Rectangle 3"/>
          <p:cNvSpPr>
            <a:spLocks noGrp="1" noChangeArrowheads="1"/>
          </p:cNvSpPr>
          <p:nvPr>
            <p:ph type="title"/>
          </p:nvPr>
        </p:nvSpPr>
        <p:spPr>
          <a:noFill/>
          <a:ln/>
        </p:spPr>
        <p:txBody>
          <a:bodyPr/>
          <a:lstStyle/>
          <a:p>
            <a:r>
              <a:rPr lang="en-US" altLang="zh-CN" dirty="0"/>
              <a:t>5.4.1  UART(0</a:t>
            </a:r>
            <a:r>
              <a:rPr lang="zh-CN" altLang="en-US" dirty="0"/>
              <a:t>、</a:t>
            </a:r>
            <a:r>
              <a:rPr lang="en-US" altLang="zh-CN" dirty="0"/>
              <a:t>1) </a:t>
            </a:r>
          </a:p>
        </p:txBody>
      </p:sp>
      <p:sp>
        <p:nvSpPr>
          <p:cNvPr id="727044" name="Rectangle 4"/>
          <p:cNvSpPr>
            <a:spLocks noChangeArrowheads="1"/>
          </p:cNvSpPr>
          <p:nvPr/>
        </p:nvSpPr>
        <p:spPr bwMode="auto">
          <a:xfrm>
            <a:off x="2222500" y="1811338"/>
            <a:ext cx="7689850" cy="609600"/>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中断源说明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27044"/>
                                        </p:tgtEl>
                                        <p:attrNameLst>
                                          <p:attrName>style.visibility</p:attrName>
                                        </p:attrNameLst>
                                      </p:cBhvr>
                                      <p:to>
                                        <p:strVal val="visible"/>
                                      </p:to>
                                    </p:set>
                                    <p:anim calcmode="lin" valueType="num">
                                      <p:cBhvr additive="base">
                                        <p:cTn id="7" dur="500" fill="hold"/>
                                        <p:tgtEl>
                                          <p:spTgt spid="727044"/>
                                        </p:tgtEl>
                                        <p:attrNameLst>
                                          <p:attrName>ppt_x</p:attrName>
                                        </p:attrNameLst>
                                      </p:cBhvr>
                                      <p:tavLst>
                                        <p:tav tm="0">
                                          <p:val>
                                            <p:strVal val="1+#ppt_w/2"/>
                                          </p:val>
                                        </p:tav>
                                        <p:tav tm="100000">
                                          <p:val>
                                            <p:strVal val="#ppt_x"/>
                                          </p:val>
                                        </p:tav>
                                      </p:tavLst>
                                    </p:anim>
                                    <p:anim calcmode="lin" valueType="num">
                                      <p:cBhvr additive="base">
                                        <p:cTn id="8" dur="500" fill="hold"/>
                                        <p:tgtEl>
                                          <p:spTgt spid="72704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727042"/>
                                        </p:tgtEl>
                                        <p:attrNameLst>
                                          <p:attrName>style.visibility</p:attrName>
                                        </p:attrNameLst>
                                      </p:cBhvr>
                                      <p:to>
                                        <p:strVal val="visible"/>
                                      </p:to>
                                    </p:set>
                                    <p:animEffect transition="in" filter="box(in)">
                                      <p:cBhvr>
                                        <p:cTn id="12" dur="500"/>
                                        <p:tgtEl>
                                          <p:spTgt spid="7270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42" grpId="0" autoUpdateAnimBg="0"/>
      <p:bldP spid="727044"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066" name="Rectangle 2"/>
          <p:cNvSpPr>
            <a:spLocks noChangeArrowheads="1"/>
          </p:cNvSpPr>
          <p:nvPr/>
        </p:nvSpPr>
        <p:spPr bwMode="auto">
          <a:xfrm>
            <a:off x="3863975" y="4729164"/>
            <a:ext cx="1079500" cy="1512887"/>
          </a:xfrm>
          <a:prstGeom prst="rect">
            <a:avLst/>
          </a:prstGeom>
          <a:solidFill>
            <a:srgbClr val="CCFF99"/>
          </a:solidFill>
          <a:ln w="12700" algn="ctr">
            <a:noFill/>
            <a:miter lim="800000"/>
            <a:headEnd/>
            <a:tailEnd/>
          </a:ln>
          <a:effectLst/>
        </p:spPr>
        <p:txBody>
          <a:bodyPr wrap="none" anchor="ctr"/>
          <a:lstStyle/>
          <a:p>
            <a:endParaRPr lang="zh-CN" altLang="en-US"/>
          </a:p>
        </p:txBody>
      </p:sp>
      <p:sp>
        <p:nvSpPr>
          <p:cNvPr id="728067" name="Rectangle 3"/>
          <p:cNvSpPr>
            <a:spLocks noChangeArrowheads="1"/>
          </p:cNvSpPr>
          <p:nvPr/>
        </p:nvSpPr>
        <p:spPr bwMode="auto">
          <a:xfrm>
            <a:off x="6024563" y="6026150"/>
            <a:ext cx="1079500" cy="215900"/>
          </a:xfrm>
          <a:prstGeom prst="rect">
            <a:avLst/>
          </a:prstGeom>
          <a:solidFill>
            <a:srgbClr val="CCFF99"/>
          </a:solidFill>
          <a:ln w="12700" algn="ctr">
            <a:noFill/>
            <a:miter lim="800000"/>
            <a:headEnd/>
            <a:tailEnd/>
          </a:ln>
          <a:effectLst/>
        </p:spPr>
        <p:txBody>
          <a:bodyPr wrap="none" anchor="ctr"/>
          <a:lstStyle/>
          <a:p>
            <a:endParaRPr lang="zh-CN" altLang="en-US"/>
          </a:p>
        </p:txBody>
      </p:sp>
      <p:sp>
        <p:nvSpPr>
          <p:cNvPr id="728068" name="Rectangle 4"/>
          <p:cNvSpPr>
            <a:spLocks noChangeArrowheads="1"/>
          </p:cNvSpPr>
          <p:nvPr/>
        </p:nvSpPr>
        <p:spPr bwMode="auto">
          <a:xfrm>
            <a:off x="3863975" y="4513264"/>
            <a:ext cx="1079500" cy="1728787"/>
          </a:xfrm>
          <a:prstGeom prst="rect">
            <a:avLst/>
          </a:prstGeom>
          <a:solidFill>
            <a:srgbClr val="CCFF99"/>
          </a:solidFill>
          <a:ln w="12700" algn="ctr">
            <a:noFill/>
            <a:miter lim="800000"/>
            <a:headEnd/>
            <a:tailEnd/>
          </a:ln>
          <a:effectLst/>
        </p:spPr>
        <p:txBody>
          <a:bodyPr wrap="none" anchor="ctr"/>
          <a:lstStyle/>
          <a:p>
            <a:endParaRPr lang="zh-CN" altLang="en-US"/>
          </a:p>
        </p:txBody>
      </p:sp>
      <p:sp>
        <p:nvSpPr>
          <p:cNvPr id="728069" name="Text Box 5"/>
          <p:cNvSpPr txBox="1">
            <a:spLocks noChangeArrowheads="1"/>
          </p:cNvSpPr>
          <p:nvPr/>
        </p:nvSpPr>
        <p:spPr bwMode="auto">
          <a:xfrm>
            <a:off x="2514600" y="1306514"/>
            <a:ext cx="7645400" cy="1006475"/>
          </a:xfrm>
          <a:prstGeom prst="rect">
            <a:avLst/>
          </a:prstGeom>
          <a:noFill/>
          <a:ln w="9525">
            <a:noFill/>
            <a:miter lim="800000"/>
            <a:headEnd/>
            <a:tailEnd/>
          </a:ln>
          <a:effectLst/>
        </p:spPr>
        <p:txBody>
          <a:bodyPr>
            <a:spAutoFit/>
          </a:bodyPr>
          <a:lstStyle/>
          <a:p>
            <a:pPr algn="l">
              <a:spcBef>
                <a:spcPct val="50000"/>
              </a:spcBef>
              <a:buClr>
                <a:srgbClr val="0000FF"/>
              </a:buClr>
              <a:buFont typeface="Wingdings" pitchFamily="2" charset="2"/>
              <a:buChar char="l"/>
            </a:pPr>
            <a:r>
              <a:rPr lang="en-US" altLang="zh-CN" sz="2000">
                <a:solidFill>
                  <a:srgbClr val="FF0000"/>
                </a:solidFill>
                <a:latin typeface="华文新魏" pitchFamily="2" charset="-122"/>
                <a:ea typeface="华文新魏" pitchFamily="2" charset="-122"/>
              </a:rPr>
              <a:t>  RDA</a:t>
            </a:r>
            <a:r>
              <a:rPr lang="zh-CN" altLang="en-US" sz="2000">
                <a:solidFill>
                  <a:srgbClr val="FF0000"/>
                </a:solidFill>
                <a:latin typeface="华文新魏" pitchFamily="2" charset="-122"/>
                <a:ea typeface="华文新魏" pitchFamily="2" charset="-122"/>
              </a:rPr>
              <a:t>中断</a:t>
            </a:r>
            <a:r>
              <a:rPr lang="zh-CN" altLang="en-US" sz="2000">
                <a:latin typeface="华文新魏" pitchFamily="2" charset="-122"/>
                <a:ea typeface="华文新魏" pitchFamily="2" charset="-122"/>
              </a:rPr>
              <a:t>：该中断与</a:t>
            </a:r>
            <a:r>
              <a:rPr lang="en-US" altLang="zh-CN" sz="2000">
                <a:latin typeface="华文新魏" pitchFamily="2" charset="-122"/>
                <a:ea typeface="华文新魏" pitchFamily="2" charset="-122"/>
              </a:rPr>
              <a:t>CTI</a:t>
            </a:r>
            <a:r>
              <a:rPr lang="zh-CN" altLang="en-US" sz="2000">
                <a:latin typeface="华文新魏" pitchFamily="2" charset="-122"/>
                <a:ea typeface="华文新魏" pitchFamily="2" charset="-122"/>
              </a:rPr>
              <a:t>中断并列为第二优先级。当接收的有效数据到达接收</a:t>
            </a:r>
            <a:r>
              <a:rPr lang="en-US" altLang="zh-CN" sz="2000">
                <a:latin typeface="华文新魏" pitchFamily="2" charset="-122"/>
                <a:ea typeface="华文新魏" pitchFamily="2" charset="-122"/>
              </a:rPr>
              <a:t>FIFO</a:t>
            </a:r>
            <a:r>
              <a:rPr lang="zh-CN" altLang="en-US" sz="2000">
                <a:latin typeface="华文新魏" pitchFamily="2" charset="-122"/>
                <a:ea typeface="华文新魏" pitchFamily="2" charset="-122"/>
              </a:rPr>
              <a:t>设置寄存器</a:t>
            </a:r>
            <a:r>
              <a:rPr lang="en-US" altLang="zh-CN" sz="2000">
                <a:latin typeface="华文新魏" pitchFamily="2" charset="-122"/>
                <a:ea typeface="华文新魏" pitchFamily="2" charset="-122"/>
              </a:rPr>
              <a:t>(UnFCR)</a:t>
            </a:r>
            <a:r>
              <a:rPr lang="zh-CN" altLang="en-US" sz="2000">
                <a:latin typeface="华文新魏" pitchFamily="2" charset="-122"/>
                <a:ea typeface="华文新魏" pitchFamily="2" charset="-122"/>
              </a:rPr>
              <a:t>中设置的触发点时，</a:t>
            </a:r>
            <a:r>
              <a:rPr lang="en-US" altLang="zh-CN" sz="2000">
                <a:latin typeface="华文新魏" pitchFamily="2" charset="-122"/>
                <a:ea typeface="华文新魏" pitchFamily="2" charset="-122"/>
              </a:rPr>
              <a:t>RDA</a:t>
            </a:r>
            <a:r>
              <a:rPr lang="zh-CN" altLang="en-US" sz="2000">
                <a:latin typeface="华文新魏" pitchFamily="2" charset="-122"/>
                <a:ea typeface="华文新魏" pitchFamily="2" charset="-122"/>
              </a:rPr>
              <a:t>被激活。当接收</a:t>
            </a:r>
            <a:r>
              <a:rPr lang="en-US" altLang="zh-CN" sz="2000">
                <a:latin typeface="华文新魏" pitchFamily="2" charset="-122"/>
                <a:ea typeface="华文新魏" pitchFamily="2" charset="-122"/>
              </a:rPr>
              <a:t>FIFO</a:t>
            </a:r>
            <a:r>
              <a:rPr lang="zh-CN" altLang="en-US" sz="2000">
                <a:latin typeface="华文新魏" pitchFamily="2" charset="-122"/>
                <a:ea typeface="华文新魏" pitchFamily="2" charset="-122"/>
              </a:rPr>
              <a:t>中的有效数据少于触发点时，</a:t>
            </a:r>
            <a:r>
              <a:rPr lang="en-US" altLang="zh-CN" sz="2000">
                <a:latin typeface="华文新魏" pitchFamily="2" charset="-122"/>
                <a:ea typeface="华文新魏" pitchFamily="2" charset="-122"/>
              </a:rPr>
              <a:t>RDA</a:t>
            </a:r>
            <a:r>
              <a:rPr lang="zh-CN" altLang="en-US" sz="2000">
                <a:latin typeface="华文新魏" pitchFamily="2" charset="-122"/>
                <a:ea typeface="华文新魏" pitchFamily="2" charset="-122"/>
              </a:rPr>
              <a:t>复位；</a:t>
            </a:r>
          </a:p>
        </p:txBody>
      </p:sp>
      <p:sp>
        <p:nvSpPr>
          <p:cNvPr id="728070" name="Text Box 6"/>
          <p:cNvSpPr txBox="1">
            <a:spLocks noChangeArrowheads="1"/>
          </p:cNvSpPr>
          <p:nvPr/>
        </p:nvSpPr>
        <p:spPr bwMode="auto">
          <a:xfrm>
            <a:off x="5448301" y="3073401"/>
            <a:ext cx="4392613" cy="701675"/>
          </a:xfrm>
          <a:prstGeom prst="rect">
            <a:avLst/>
          </a:prstGeom>
          <a:noFill/>
          <a:ln w="9525">
            <a:noFill/>
            <a:miter lim="800000"/>
            <a:headEnd/>
            <a:tailEnd/>
          </a:ln>
          <a:effectLst/>
        </p:spPr>
        <p:txBody>
          <a:bodyPr>
            <a:spAutoFit/>
          </a:bodyPr>
          <a:lstStyle/>
          <a:p>
            <a:pPr algn="l">
              <a:spcBef>
                <a:spcPct val="50000"/>
              </a:spcBef>
            </a:pPr>
            <a:r>
              <a:rPr lang="en-US" altLang="zh-CN" sz="2000">
                <a:ea typeface="华文新魏" pitchFamily="2" charset="-122"/>
              </a:rPr>
              <a:t>1.</a:t>
            </a:r>
            <a:r>
              <a:rPr lang="zh-CN" altLang="en-US" sz="2000">
                <a:ea typeface="华文新魏" pitchFamily="2" charset="-122"/>
              </a:rPr>
              <a:t>移位寄存器</a:t>
            </a:r>
            <a:r>
              <a:rPr lang="en-US" altLang="zh-CN" sz="2000">
                <a:ea typeface="华文新魏" pitchFamily="2" charset="-122"/>
              </a:rPr>
              <a:t>(UnRSR)</a:t>
            </a:r>
            <a:r>
              <a:rPr lang="zh-CN" altLang="en-US" sz="2000">
                <a:ea typeface="华文新魏" pitchFamily="2" charset="-122"/>
              </a:rPr>
              <a:t>从</a:t>
            </a:r>
            <a:r>
              <a:rPr lang="en-US" altLang="zh-CN" sz="2000">
                <a:ea typeface="华文新魏" pitchFamily="2" charset="-122"/>
              </a:rPr>
              <a:t>RxDn</a:t>
            </a:r>
            <a:r>
              <a:rPr lang="zh-CN" altLang="en-US" sz="2000">
                <a:ea typeface="华文新魏" pitchFamily="2" charset="-122"/>
              </a:rPr>
              <a:t>引脚接收串行数据后，送入接收</a:t>
            </a:r>
            <a:r>
              <a:rPr lang="en-US" altLang="zh-CN" sz="2000">
                <a:ea typeface="华文新魏" pitchFamily="2" charset="-122"/>
              </a:rPr>
              <a:t>FIFO</a:t>
            </a:r>
            <a:r>
              <a:rPr lang="zh-CN" altLang="en-US" sz="2000">
                <a:ea typeface="华文新魏" pitchFamily="2" charset="-122"/>
              </a:rPr>
              <a:t>中；</a:t>
            </a:r>
          </a:p>
        </p:txBody>
      </p:sp>
      <p:sp>
        <p:nvSpPr>
          <p:cNvPr id="728071" name="Text Box 7"/>
          <p:cNvSpPr txBox="1">
            <a:spLocks noChangeArrowheads="1"/>
          </p:cNvSpPr>
          <p:nvPr/>
        </p:nvSpPr>
        <p:spPr bwMode="auto">
          <a:xfrm>
            <a:off x="5448301" y="3865564"/>
            <a:ext cx="4392613" cy="701675"/>
          </a:xfrm>
          <a:prstGeom prst="rect">
            <a:avLst/>
          </a:prstGeom>
          <a:noFill/>
          <a:ln w="9525">
            <a:noFill/>
            <a:miter lim="800000"/>
            <a:headEnd/>
            <a:tailEnd/>
          </a:ln>
          <a:effectLst/>
        </p:spPr>
        <p:txBody>
          <a:bodyPr>
            <a:spAutoFit/>
          </a:bodyPr>
          <a:lstStyle/>
          <a:p>
            <a:pPr algn="l">
              <a:spcBef>
                <a:spcPct val="50000"/>
              </a:spcBef>
            </a:pPr>
            <a:r>
              <a:rPr lang="en-US" altLang="zh-CN" sz="2000">
                <a:ea typeface="华文新魏" pitchFamily="2" charset="-122"/>
              </a:rPr>
              <a:t>2.</a:t>
            </a:r>
            <a:r>
              <a:rPr lang="zh-CN" altLang="en-US" sz="2000">
                <a:ea typeface="华文新魏" pitchFamily="2" charset="-122"/>
              </a:rPr>
              <a:t>当接收</a:t>
            </a:r>
            <a:r>
              <a:rPr lang="en-US" altLang="zh-CN" sz="2000">
                <a:ea typeface="华文新魏" pitchFamily="2" charset="-122"/>
              </a:rPr>
              <a:t>FIFO</a:t>
            </a:r>
            <a:r>
              <a:rPr lang="zh-CN" altLang="en-US" sz="2000">
                <a:ea typeface="华文新魏" pitchFamily="2" charset="-122"/>
              </a:rPr>
              <a:t>中的有效数据数量到达预定的触发点时，置位</a:t>
            </a:r>
            <a:r>
              <a:rPr lang="en-US" altLang="zh-CN" sz="2000">
                <a:ea typeface="华文新魏" pitchFamily="2" charset="-122"/>
              </a:rPr>
              <a:t>RDA</a:t>
            </a:r>
            <a:r>
              <a:rPr lang="zh-CN" altLang="en-US" sz="2000">
                <a:ea typeface="华文新魏" pitchFamily="2" charset="-122"/>
              </a:rPr>
              <a:t>中断；</a:t>
            </a:r>
          </a:p>
        </p:txBody>
      </p:sp>
      <p:sp>
        <p:nvSpPr>
          <p:cNvPr id="728072" name="Text Box 8"/>
          <p:cNvSpPr txBox="1">
            <a:spLocks noChangeArrowheads="1"/>
          </p:cNvSpPr>
          <p:nvPr/>
        </p:nvSpPr>
        <p:spPr bwMode="auto">
          <a:xfrm>
            <a:off x="5448301" y="4656139"/>
            <a:ext cx="4392613" cy="1006475"/>
          </a:xfrm>
          <a:prstGeom prst="rect">
            <a:avLst/>
          </a:prstGeom>
          <a:noFill/>
          <a:ln w="9525">
            <a:noFill/>
            <a:miter lim="800000"/>
            <a:headEnd/>
            <a:tailEnd/>
          </a:ln>
          <a:effectLst/>
        </p:spPr>
        <p:txBody>
          <a:bodyPr>
            <a:spAutoFit/>
          </a:bodyPr>
          <a:lstStyle/>
          <a:p>
            <a:pPr algn="l">
              <a:spcBef>
                <a:spcPct val="50000"/>
              </a:spcBef>
            </a:pPr>
            <a:r>
              <a:rPr lang="en-US" altLang="zh-CN" sz="2000">
                <a:ea typeface="华文新魏" pitchFamily="2" charset="-122"/>
              </a:rPr>
              <a:t>3.</a:t>
            </a:r>
            <a:r>
              <a:rPr lang="zh-CN" altLang="en-US" sz="2000">
                <a:ea typeface="华文新魏" pitchFamily="2" charset="-122"/>
              </a:rPr>
              <a:t>从</a:t>
            </a:r>
            <a:r>
              <a:rPr lang="en-US" altLang="zh-CN" sz="2000">
                <a:ea typeface="华文新魏" pitchFamily="2" charset="-122"/>
              </a:rPr>
              <a:t>UnRBR</a:t>
            </a:r>
            <a:r>
              <a:rPr lang="zh-CN" altLang="en-US" sz="2000">
                <a:ea typeface="华文新魏" pitchFamily="2" charset="-122"/>
              </a:rPr>
              <a:t>寄存器中读取</a:t>
            </a:r>
            <a:r>
              <a:rPr lang="en-US" altLang="zh-CN" sz="2000">
                <a:ea typeface="华文新魏" pitchFamily="2" charset="-122"/>
              </a:rPr>
              <a:t>FIFO</a:t>
            </a:r>
            <a:r>
              <a:rPr lang="zh-CN" altLang="en-US" sz="2000">
                <a:ea typeface="华文新魏" pitchFamily="2" charset="-122"/>
              </a:rPr>
              <a:t>中最早到达的数据，当</a:t>
            </a:r>
            <a:r>
              <a:rPr lang="en-US" altLang="zh-CN" sz="2000">
                <a:ea typeface="华文新魏" pitchFamily="2" charset="-122"/>
              </a:rPr>
              <a:t>FIFO</a:t>
            </a:r>
            <a:r>
              <a:rPr lang="zh-CN" altLang="en-US" sz="2000">
                <a:ea typeface="华文新魏" pitchFamily="2" charset="-122"/>
              </a:rPr>
              <a:t>中的有效数据小于预定触发点时，清零</a:t>
            </a:r>
            <a:r>
              <a:rPr lang="en-US" altLang="zh-CN" sz="2000">
                <a:ea typeface="华文新魏" pitchFamily="2" charset="-122"/>
              </a:rPr>
              <a:t>RDA</a:t>
            </a:r>
            <a:r>
              <a:rPr lang="zh-CN" altLang="en-US" sz="2000">
                <a:ea typeface="华文新魏" pitchFamily="2" charset="-122"/>
              </a:rPr>
              <a:t>中断；</a:t>
            </a:r>
          </a:p>
        </p:txBody>
      </p:sp>
      <p:grpSp>
        <p:nvGrpSpPr>
          <p:cNvPr id="728073" name="Group 9"/>
          <p:cNvGrpSpPr>
            <a:grpSpLocks/>
          </p:cNvGrpSpPr>
          <p:nvPr/>
        </p:nvGrpSpPr>
        <p:grpSpPr bwMode="auto">
          <a:xfrm>
            <a:off x="7104063" y="2282825"/>
            <a:ext cx="1295400" cy="287338"/>
            <a:chOff x="295" y="1888"/>
            <a:chExt cx="816" cy="181"/>
          </a:xfrm>
        </p:grpSpPr>
        <p:sp>
          <p:nvSpPr>
            <p:cNvPr id="728074" name="Line 10"/>
            <p:cNvSpPr>
              <a:spLocks noChangeShapeType="1"/>
            </p:cNvSpPr>
            <p:nvPr/>
          </p:nvSpPr>
          <p:spPr bwMode="auto">
            <a:xfrm>
              <a:off x="385"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28075" name="Line 11"/>
            <p:cNvSpPr>
              <a:spLocks noChangeShapeType="1"/>
            </p:cNvSpPr>
            <p:nvPr/>
          </p:nvSpPr>
          <p:spPr bwMode="auto">
            <a:xfrm>
              <a:off x="385" y="1888"/>
              <a:ext cx="91" cy="0"/>
            </a:xfrm>
            <a:prstGeom prst="line">
              <a:avLst/>
            </a:prstGeom>
            <a:noFill/>
            <a:ln w="12700">
              <a:solidFill>
                <a:srgbClr val="FF0000"/>
              </a:solidFill>
              <a:round/>
              <a:headEnd/>
              <a:tailEnd/>
            </a:ln>
            <a:effectLst/>
          </p:spPr>
          <p:txBody>
            <a:bodyPr wrap="none" anchor="ctr"/>
            <a:lstStyle/>
            <a:p>
              <a:endParaRPr lang="zh-CN" altLang="en-US"/>
            </a:p>
          </p:txBody>
        </p:sp>
        <p:sp>
          <p:nvSpPr>
            <p:cNvPr id="728076" name="Line 12"/>
            <p:cNvSpPr>
              <a:spLocks noChangeShapeType="1"/>
            </p:cNvSpPr>
            <p:nvPr/>
          </p:nvSpPr>
          <p:spPr bwMode="auto">
            <a:xfrm>
              <a:off x="476"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28077" name="Line 13"/>
            <p:cNvSpPr>
              <a:spLocks noChangeShapeType="1"/>
            </p:cNvSpPr>
            <p:nvPr/>
          </p:nvSpPr>
          <p:spPr bwMode="auto">
            <a:xfrm>
              <a:off x="476" y="2069"/>
              <a:ext cx="181" cy="0"/>
            </a:xfrm>
            <a:prstGeom prst="line">
              <a:avLst/>
            </a:prstGeom>
            <a:noFill/>
            <a:ln w="12700">
              <a:solidFill>
                <a:srgbClr val="FF0000"/>
              </a:solidFill>
              <a:round/>
              <a:headEnd/>
              <a:tailEnd/>
            </a:ln>
            <a:effectLst/>
          </p:spPr>
          <p:txBody>
            <a:bodyPr wrap="none" anchor="ctr"/>
            <a:lstStyle/>
            <a:p>
              <a:endParaRPr lang="zh-CN" altLang="en-US"/>
            </a:p>
          </p:txBody>
        </p:sp>
        <p:sp>
          <p:nvSpPr>
            <p:cNvPr id="728078" name="Line 14"/>
            <p:cNvSpPr>
              <a:spLocks noChangeShapeType="1"/>
            </p:cNvSpPr>
            <p:nvPr/>
          </p:nvSpPr>
          <p:spPr bwMode="auto">
            <a:xfrm flipV="1">
              <a:off x="657"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28079" name="Line 15"/>
            <p:cNvSpPr>
              <a:spLocks noChangeShapeType="1"/>
            </p:cNvSpPr>
            <p:nvPr/>
          </p:nvSpPr>
          <p:spPr bwMode="auto">
            <a:xfrm>
              <a:off x="657" y="1888"/>
              <a:ext cx="91" cy="0"/>
            </a:xfrm>
            <a:prstGeom prst="line">
              <a:avLst/>
            </a:prstGeom>
            <a:noFill/>
            <a:ln w="12700">
              <a:solidFill>
                <a:srgbClr val="FF0000"/>
              </a:solidFill>
              <a:round/>
              <a:headEnd/>
              <a:tailEnd/>
            </a:ln>
            <a:effectLst/>
          </p:spPr>
          <p:txBody>
            <a:bodyPr wrap="none" anchor="ctr"/>
            <a:lstStyle/>
            <a:p>
              <a:endParaRPr lang="zh-CN" altLang="en-US"/>
            </a:p>
          </p:txBody>
        </p:sp>
        <p:sp>
          <p:nvSpPr>
            <p:cNvPr id="728080" name="Line 16"/>
            <p:cNvSpPr>
              <a:spLocks noChangeShapeType="1"/>
            </p:cNvSpPr>
            <p:nvPr/>
          </p:nvSpPr>
          <p:spPr bwMode="auto">
            <a:xfrm>
              <a:off x="748"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28081" name="Line 17"/>
            <p:cNvSpPr>
              <a:spLocks noChangeShapeType="1"/>
            </p:cNvSpPr>
            <p:nvPr/>
          </p:nvSpPr>
          <p:spPr bwMode="auto">
            <a:xfrm>
              <a:off x="748" y="2069"/>
              <a:ext cx="91" cy="0"/>
            </a:xfrm>
            <a:prstGeom prst="line">
              <a:avLst/>
            </a:prstGeom>
            <a:noFill/>
            <a:ln w="12700">
              <a:solidFill>
                <a:srgbClr val="FF0000"/>
              </a:solidFill>
              <a:round/>
              <a:headEnd/>
              <a:tailEnd/>
            </a:ln>
            <a:effectLst/>
          </p:spPr>
          <p:txBody>
            <a:bodyPr wrap="none" anchor="ctr"/>
            <a:lstStyle/>
            <a:p>
              <a:endParaRPr lang="zh-CN" altLang="en-US"/>
            </a:p>
          </p:txBody>
        </p:sp>
        <p:sp>
          <p:nvSpPr>
            <p:cNvPr id="728082" name="Line 18"/>
            <p:cNvSpPr>
              <a:spLocks noChangeShapeType="1"/>
            </p:cNvSpPr>
            <p:nvPr/>
          </p:nvSpPr>
          <p:spPr bwMode="auto">
            <a:xfrm flipV="1">
              <a:off x="839"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28083" name="Line 19"/>
            <p:cNvSpPr>
              <a:spLocks noChangeShapeType="1"/>
            </p:cNvSpPr>
            <p:nvPr/>
          </p:nvSpPr>
          <p:spPr bwMode="auto">
            <a:xfrm>
              <a:off x="839" y="1888"/>
              <a:ext cx="181" cy="0"/>
            </a:xfrm>
            <a:prstGeom prst="line">
              <a:avLst/>
            </a:prstGeom>
            <a:noFill/>
            <a:ln w="12700">
              <a:solidFill>
                <a:srgbClr val="FF0000"/>
              </a:solidFill>
              <a:round/>
              <a:headEnd/>
              <a:tailEnd/>
            </a:ln>
            <a:effectLst/>
          </p:spPr>
          <p:txBody>
            <a:bodyPr wrap="none" anchor="ctr"/>
            <a:lstStyle/>
            <a:p>
              <a:endParaRPr lang="zh-CN" altLang="en-US"/>
            </a:p>
          </p:txBody>
        </p:sp>
        <p:sp>
          <p:nvSpPr>
            <p:cNvPr id="728084" name="Line 20"/>
            <p:cNvSpPr>
              <a:spLocks noChangeShapeType="1"/>
            </p:cNvSpPr>
            <p:nvPr/>
          </p:nvSpPr>
          <p:spPr bwMode="auto">
            <a:xfrm>
              <a:off x="1020"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28085" name="Line 21"/>
            <p:cNvSpPr>
              <a:spLocks noChangeShapeType="1"/>
            </p:cNvSpPr>
            <p:nvPr/>
          </p:nvSpPr>
          <p:spPr bwMode="auto">
            <a:xfrm>
              <a:off x="295" y="2069"/>
              <a:ext cx="90" cy="0"/>
            </a:xfrm>
            <a:prstGeom prst="line">
              <a:avLst/>
            </a:prstGeom>
            <a:noFill/>
            <a:ln w="12700">
              <a:solidFill>
                <a:srgbClr val="FF0000"/>
              </a:solidFill>
              <a:round/>
              <a:headEnd/>
              <a:tailEnd/>
            </a:ln>
            <a:effectLst/>
          </p:spPr>
          <p:txBody>
            <a:bodyPr wrap="none" anchor="ctr"/>
            <a:lstStyle/>
            <a:p>
              <a:endParaRPr lang="zh-CN" altLang="en-US"/>
            </a:p>
          </p:txBody>
        </p:sp>
        <p:sp>
          <p:nvSpPr>
            <p:cNvPr id="728086" name="Line 22"/>
            <p:cNvSpPr>
              <a:spLocks noChangeShapeType="1"/>
            </p:cNvSpPr>
            <p:nvPr/>
          </p:nvSpPr>
          <p:spPr bwMode="auto">
            <a:xfrm>
              <a:off x="1020" y="2069"/>
              <a:ext cx="91" cy="0"/>
            </a:xfrm>
            <a:prstGeom prst="line">
              <a:avLst/>
            </a:prstGeom>
            <a:noFill/>
            <a:ln w="12700">
              <a:solidFill>
                <a:srgbClr val="FF0000"/>
              </a:solidFill>
              <a:round/>
              <a:headEnd/>
              <a:tailEnd/>
            </a:ln>
            <a:effectLst/>
          </p:spPr>
          <p:txBody>
            <a:bodyPr wrap="none" anchor="ctr"/>
            <a:lstStyle/>
            <a:p>
              <a:endParaRPr lang="zh-CN" altLang="en-US"/>
            </a:p>
          </p:txBody>
        </p:sp>
      </p:grpSp>
      <p:grpSp>
        <p:nvGrpSpPr>
          <p:cNvPr id="728087" name="Group 23"/>
          <p:cNvGrpSpPr>
            <a:grpSpLocks/>
          </p:cNvGrpSpPr>
          <p:nvPr/>
        </p:nvGrpSpPr>
        <p:grpSpPr bwMode="auto">
          <a:xfrm>
            <a:off x="2135189" y="2209801"/>
            <a:ext cx="4968875" cy="4392613"/>
            <a:chOff x="385" y="1480"/>
            <a:chExt cx="3130" cy="2767"/>
          </a:xfrm>
        </p:grpSpPr>
        <p:sp>
          <p:nvSpPr>
            <p:cNvPr id="728088" name="Text Box 24"/>
            <p:cNvSpPr txBox="1">
              <a:spLocks noChangeArrowheads="1"/>
            </p:cNvSpPr>
            <p:nvPr/>
          </p:nvSpPr>
          <p:spPr bwMode="auto">
            <a:xfrm>
              <a:off x="1429" y="4035"/>
              <a:ext cx="726" cy="212"/>
            </a:xfrm>
            <a:prstGeom prst="rect">
              <a:avLst/>
            </a:prstGeom>
            <a:noFill/>
            <a:ln w="9525">
              <a:noFill/>
              <a:miter lim="800000"/>
              <a:headEnd/>
              <a:tailEnd/>
            </a:ln>
            <a:effectLst/>
          </p:spPr>
          <p:txBody>
            <a:bodyPr>
              <a:spAutoFit/>
            </a:bodyPr>
            <a:lstStyle/>
            <a:p>
              <a:pPr>
                <a:spcBef>
                  <a:spcPct val="50000"/>
                </a:spcBef>
              </a:pPr>
              <a:r>
                <a:rPr lang="zh-CN" altLang="en-US" sz="1600">
                  <a:solidFill>
                    <a:srgbClr val="0000FF"/>
                  </a:solidFill>
                  <a:ea typeface="华文新魏" pitchFamily="2" charset="-122"/>
                </a:rPr>
                <a:t>接收</a:t>
              </a:r>
              <a:r>
                <a:rPr lang="en-US" altLang="zh-CN" sz="1600">
                  <a:solidFill>
                    <a:srgbClr val="0000FF"/>
                  </a:solidFill>
                  <a:ea typeface="华文新魏" pitchFamily="2" charset="-122"/>
                </a:rPr>
                <a:t>FIFO</a:t>
              </a:r>
            </a:p>
          </p:txBody>
        </p:sp>
        <p:grpSp>
          <p:nvGrpSpPr>
            <p:cNvPr id="728089" name="Group 25"/>
            <p:cNvGrpSpPr>
              <a:grpSpLocks/>
            </p:cNvGrpSpPr>
            <p:nvPr/>
          </p:nvGrpSpPr>
          <p:grpSpPr bwMode="auto">
            <a:xfrm>
              <a:off x="1474" y="1857"/>
              <a:ext cx="680" cy="2163"/>
              <a:chOff x="1474" y="1766"/>
              <a:chExt cx="680" cy="2178"/>
            </a:xfrm>
          </p:grpSpPr>
          <p:sp>
            <p:nvSpPr>
              <p:cNvPr id="728090" name="Rectangle 26"/>
              <p:cNvSpPr>
                <a:spLocks noChangeArrowheads="1"/>
              </p:cNvSpPr>
              <p:nvPr/>
            </p:nvSpPr>
            <p:spPr bwMode="auto">
              <a:xfrm>
                <a:off x="1474" y="3808"/>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a:t>
                </a:r>
              </a:p>
            </p:txBody>
          </p:sp>
          <p:sp>
            <p:nvSpPr>
              <p:cNvPr id="728091" name="Rectangle 27"/>
              <p:cNvSpPr>
                <a:spLocks noChangeArrowheads="1"/>
              </p:cNvSpPr>
              <p:nvPr/>
            </p:nvSpPr>
            <p:spPr bwMode="auto">
              <a:xfrm>
                <a:off x="1474" y="3672"/>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2</a:t>
                </a:r>
              </a:p>
            </p:txBody>
          </p:sp>
          <p:sp>
            <p:nvSpPr>
              <p:cNvPr id="728092" name="Rectangle 28"/>
              <p:cNvSpPr>
                <a:spLocks noChangeArrowheads="1"/>
              </p:cNvSpPr>
              <p:nvPr/>
            </p:nvSpPr>
            <p:spPr bwMode="auto">
              <a:xfrm>
                <a:off x="1474" y="3535"/>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3</a:t>
                </a:r>
              </a:p>
            </p:txBody>
          </p:sp>
          <p:sp>
            <p:nvSpPr>
              <p:cNvPr id="728093" name="Rectangle 29"/>
              <p:cNvSpPr>
                <a:spLocks noChangeArrowheads="1"/>
              </p:cNvSpPr>
              <p:nvPr/>
            </p:nvSpPr>
            <p:spPr bwMode="auto">
              <a:xfrm>
                <a:off x="1474" y="3399"/>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4</a:t>
                </a:r>
              </a:p>
            </p:txBody>
          </p:sp>
          <p:sp>
            <p:nvSpPr>
              <p:cNvPr id="728094" name="Rectangle 30"/>
              <p:cNvSpPr>
                <a:spLocks noChangeArrowheads="1"/>
              </p:cNvSpPr>
              <p:nvPr/>
            </p:nvSpPr>
            <p:spPr bwMode="auto">
              <a:xfrm>
                <a:off x="1474" y="3263"/>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5</a:t>
                </a:r>
              </a:p>
            </p:txBody>
          </p:sp>
          <p:sp>
            <p:nvSpPr>
              <p:cNvPr id="728095" name="Rectangle 31"/>
              <p:cNvSpPr>
                <a:spLocks noChangeArrowheads="1"/>
              </p:cNvSpPr>
              <p:nvPr/>
            </p:nvSpPr>
            <p:spPr bwMode="auto">
              <a:xfrm>
                <a:off x="1474" y="3127"/>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6</a:t>
                </a:r>
              </a:p>
            </p:txBody>
          </p:sp>
          <p:sp>
            <p:nvSpPr>
              <p:cNvPr id="728096" name="Rectangle 32"/>
              <p:cNvSpPr>
                <a:spLocks noChangeArrowheads="1"/>
              </p:cNvSpPr>
              <p:nvPr/>
            </p:nvSpPr>
            <p:spPr bwMode="auto">
              <a:xfrm>
                <a:off x="1474" y="2991"/>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7</a:t>
                </a:r>
              </a:p>
            </p:txBody>
          </p:sp>
          <p:sp>
            <p:nvSpPr>
              <p:cNvPr id="728097" name="Rectangle 33"/>
              <p:cNvSpPr>
                <a:spLocks noChangeArrowheads="1"/>
              </p:cNvSpPr>
              <p:nvPr/>
            </p:nvSpPr>
            <p:spPr bwMode="auto">
              <a:xfrm>
                <a:off x="1474" y="2719"/>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9</a:t>
                </a:r>
              </a:p>
            </p:txBody>
          </p:sp>
          <p:sp>
            <p:nvSpPr>
              <p:cNvPr id="728098" name="Rectangle 34"/>
              <p:cNvSpPr>
                <a:spLocks noChangeArrowheads="1"/>
              </p:cNvSpPr>
              <p:nvPr/>
            </p:nvSpPr>
            <p:spPr bwMode="auto">
              <a:xfrm>
                <a:off x="1474" y="2583"/>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10</a:t>
                </a:r>
              </a:p>
            </p:txBody>
          </p:sp>
          <p:sp>
            <p:nvSpPr>
              <p:cNvPr id="728099" name="Rectangle 35"/>
              <p:cNvSpPr>
                <a:spLocks noChangeArrowheads="1"/>
              </p:cNvSpPr>
              <p:nvPr/>
            </p:nvSpPr>
            <p:spPr bwMode="auto">
              <a:xfrm>
                <a:off x="1474" y="2447"/>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11</a:t>
                </a:r>
              </a:p>
            </p:txBody>
          </p:sp>
          <p:sp>
            <p:nvSpPr>
              <p:cNvPr id="728100" name="Rectangle 36"/>
              <p:cNvSpPr>
                <a:spLocks noChangeArrowheads="1"/>
              </p:cNvSpPr>
              <p:nvPr/>
            </p:nvSpPr>
            <p:spPr bwMode="auto">
              <a:xfrm>
                <a:off x="1474" y="2311"/>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12</a:t>
                </a:r>
              </a:p>
            </p:txBody>
          </p:sp>
          <p:sp>
            <p:nvSpPr>
              <p:cNvPr id="728101" name="Rectangle 37"/>
              <p:cNvSpPr>
                <a:spLocks noChangeArrowheads="1"/>
              </p:cNvSpPr>
              <p:nvPr/>
            </p:nvSpPr>
            <p:spPr bwMode="auto">
              <a:xfrm>
                <a:off x="1474" y="2175"/>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13</a:t>
                </a:r>
              </a:p>
            </p:txBody>
          </p:sp>
          <p:sp>
            <p:nvSpPr>
              <p:cNvPr id="728102" name="Rectangle 38"/>
              <p:cNvSpPr>
                <a:spLocks noChangeArrowheads="1"/>
              </p:cNvSpPr>
              <p:nvPr/>
            </p:nvSpPr>
            <p:spPr bwMode="auto">
              <a:xfrm>
                <a:off x="1474" y="2039"/>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14</a:t>
                </a:r>
              </a:p>
            </p:txBody>
          </p:sp>
          <p:sp>
            <p:nvSpPr>
              <p:cNvPr id="728103" name="Rectangle 39"/>
              <p:cNvSpPr>
                <a:spLocks noChangeArrowheads="1"/>
              </p:cNvSpPr>
              <p:nvPr/>
            </p:nvSpPr>
            <p:spPr bwMode="auto">
              <a:xfrm>
                <a:off x="1474" y="1902"/>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15</a:t>
                </a:r>
              </a:p>
            </p:txBody>
          </p:sp>
          <p:sp>
            <p:nvSpPr>
              <p:cNvPr id="728104" name="Rectangle 40"/>
              <p:cNvSpPr>
                <a:spLocks noChangeArrowheads="1"/>
              </p:cNvSpPr>
              <p:nvPr/>
            </p:nvSpPr>
            <p:spPr bwMode="auto">
              <a:xfrm>
                <a:off x="1474" y="1766"/>
                <a:ext cx="680" cy="136"/>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16</a:t>
                </a:r>
              </a:p>
            </p:txBody>
          </p:sp>
          <p:sp>
            <p:nvSpPr>
              <p:cNvPr id="728105" name="Rectangle 41"/>
              <p:cNvSpPr>
                <a:spLocks noChangeArrowheads="1"/>
              </p:cNvSpPr>
              <p:nvPr/>
            </p:nvSpPr>
            <p:spPr bwMode="auto">
              <a:xfrm>
                <a:off x="1474" y="1766"/>
                <a:ext cx="680" cy="2178"/>
              </a:xfrm>
              <a:prstGeom prst="rect">
                <a:avLst/>
              </a:prstGeom>
              <a:noFill/>
              <a:ln w="12700" algn="ctr">
                <a:solidFill>
                  <a:schemeClr val="tx1"/>
                </a:solidFill>
                <a:miter lim="800000"/>
                <a:headEnd/>
                <a:tailEnd/>
              </a:ln>
              <a:effectLst/>
            </p:spPr>
            <p:txBody>
              <a:bodyPr wrap="none" anchor="ctr"/>
              <a:lstStyle/>
              <a:p>
                <a:endParaRPr lang="zh-CN" altLang="en-US"/>
              </a:p>
            </p:txBody>
          </p:sp>
          <p:sp>
            <p:nvSpPr>
              <p:cNvPr id="728106" name="Rectangle 42"/>
              <p:cNvSpPr>
                <a:spLocks noChangeArrowheads="1"/>
              </p:cNvSpPr>
              <p:nvPr/>
            </p:nvSpPr>
            <p:spPr bwMode="auto">
              <a:xfrm>
                <a:off x="1474" y="2855"/>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8</a:t>
                </a:r>
              </a:p>
            </p:txBody>
          </p:sp>
        </p:grpSp>
        <p:sp>
          <p:nvSpPr>
            <p:cNvPr id="728107" name="AutoShape 43"/>
            <p:cNvSpPr>
              <a:spLocks noChangeArrowheads="1"/>
            </p:cNvSpPr>
            <p:nvPr/>
          </p:nvSpPr>
          <p:spPr bwMode="auto">
            <a:xfrm>
              <a:off x="476" y="2841"/>
              <a:ext cx="1089" cy="181"/>
            </a:xfrm>
            <a:prstGeom prst="homePlate">
              <a:avLst>
                <a:gd name="adj" fmla="val 150414"/>
              </a:avLst>
            </a:prstGeom>
            <a:solidFill>
              <a:srgbClr val="FFFFCC"/>
            </a:solidFill>
            <a:ln w="12700" algn="ctr">
              <a:solidFill>
                <a:schemeClr val="tx1"/>
              </a:solidFill>
              <a:miter lim="800000"/>
              <a:headEnd/>
              <a:tailEnd/>
            </a:ln>
            <a:effectLst/>
          </p:spPr>
          <p:txBody>
            <a:bodyPr wrap="none" anchor="ctr"/>
            <a:lstStyle/>
            <a:p>
              <a:pPr algn="l"/>
              <a:r>
                <a:rPr lang="zh-CN" altLang="en-US" sz="1600">
                  <a:solidFill>
                    <a:srgbClr val="0000FF"/>
                  </a:solidFill>
                  <a:latin typeface="华文新魏" pitchFamily="2" charset="-122"/>
                  <a:ea typeface="华文新魏" pitchFamily="2" charset="-122"/>
                </a:rPr>
                <a:t>触发点设置</a:t>
              </a:r>
              <a:r>
                <a:rPr lang="en-US" altLang="zh-CN" sz="1600">
                  <a:solidFill>
                    <a:srgbClr val="0000FF"/>
                  </a:solidFill>
                  <a:latin typeface="华文新魏" pitchFamily="2" charset="-122"/>
                  <a:ea typeface="华文新魏" pitchFamily="2" charset="-122"/>
                </a:rPr>
                <a:t>=8</a:t>
              </a:r>
            </a:p>
          </p:txBody>
        </p:sp>
        <p:sp>
          <p:nvSpPr>
            <p:cNvPr id="728108" name="Rectangle 44"/>
            <p:cNvSpPr>
              <a:spLocks noChangeArrowheads="1"/>
            </p:cNvSpPr>
            <p:nvPr/>
          </p:nvSpPr>
          <p:spPr bwMode="auto">
            <a:xfrm>
              <a:off x="2154" y="3884"/>
              <a:ext cx="680" cy="135"/>
            </a:xfrm>
            <a:prstGeom prst="rect">
              <a:avLst/>
            </a:prstGeom>
            <a:solidFill>
              <a:schemeClr val="hlink"/>
            </a:solidFill>
            <a:ln w="12700" algn="ctr">
              <a:solidFill>
                <a:schemeClr val="tx1"/>
              </a:solidFill>
              <a:miter lim="800000"/>
              <a:headEnd/>
              <a:tailEnd/>
            </a:ln>
            <a:effectLst/>
          </p:spPr>
          <p:txBody>
            <a:bodyPr wrap="none" anchor="ctr"/>
            <a:lstStyle/>
            <a:p>
              <a:r>
                <a:rPr lang="en-US" altLang="zh-CN" sz="1400">
                  <a:latin typeface="Times New Roman" pitchFamily="18" charset="0"/>
                </a:rPr>
                <a:t>UnRBR</a:t>
              </a:r>
            </a:p>
          </p:txBody>
        </p:sp>
        <p:sp>
          <p:nvSpPr>
            <p:cNvPr id="728109" name="Line 45"/>
            <p:cNvSpPr>
              <a:spLocks noChangeShapeType="1"/>
            </p:cNvSpPr>
            <p:nvPr/>
          </p:nvSpPr>
          <p:spPr bwMode="auto">
            <a:xfrm>
              <a:off x="2653" y="1661"/>
              <a:ext cx="862" cy="0"/>
            </a:xfrm>
            <a:prstGeom prst="line">
              <a:avLst/>
            </a:prstGeom>
            <a:noFill/>
            <a:ln w="12700">
              <a:solidFill>
                <a:schemeClr val="tx1"/>
              </a:solidFill>
              <a:round/>
              <a:headEnd/>
              <a:tailEnd/>
            </a:ln>
            <a:effectLst/>
          </p:spPr>
          <p:txBody>
            <a:bodyPr wrap="none" anchor="ctr"/>
            <a:lstStyle/>
            <a:p>
              <a:endParaRPr lang="zh-CN" altLang="en-US"/>
            </a:p>
          </p:txBody>
        </p:sp>
        <p:sp>
          <p:nvSpPr>
            <p:cNvPr id="728110" name="Rectangle 46"/>
            <p:cNvSpPr>
              <a:spLocks noChangeArrowheads="1"/>
            </p:cNvSpPr>
            <p:nvPr/>
          </p:nvSpPr>
          <p:spPr bwMode="auto">
            <a:xfrm>
              <a:off x="1972" y="1571"/>
              <a:ext cx="680" cy="181"/>
            </a:xfrm>
            <a:prstGeom prst="rect">
              <a:avLst/>
            </a:prstGeom>
            <a:solidFill>
              <a:schemeClr val="hlink"/>
            </a:solidFill>
            <a:ln w="12700" algn="ctr">
              <a:solidFill>
                <a:schemeClr val="tx1"/>
              </a:solidFill>
              <a:miter lim="800000"/>
              <a:headEnd/>
              <a:tailEnd/>
            </a:ln>
            <a:effectLst/>
          </p:spPr>
          <p:txBody>
            <a:bodyPr wrap="none" anchor="ctr"/>
            <a:lstStyle/>
            <a:p>
              <a:r>
                <a:rPr lang="en-US" altLang="zh-CN" sz="1400">
                  <a:latin typeface="Times New Roman" pitchFamily="18" charset="0"/>
                </a:rPr>
                <a:t>UnRSR</a:t>
              </a:r>
            </a:p>
          </p:txBody>
        </p:sp>
        <p:grpSp>
          <p:nvGrpSpPr>
            <p:cNvPr id="728111" name="Group 47"/>
            <p:cNvGrpSpPr>
              <a:grpSpLocks/>
            </p:cNvGrpSpPr>
            <p:nvPr/>
          </p:nvGrpSpPr>
          <p:grpSpPr bwMode="auto">
            <a:xfrm>
              <a:off x="1787" y="1633"/>
              <a:ext cx="177" cy="186"/>
              <a:chOff x="1787" y="1587"/>
              <a:chExt cx="177" cy="186"/>
            </a:xfrm>
          </p:grpSpPr>
          <p:sp>
            <p:nvSpPr>
              <p:cNvPr id="728112" name="Freeform 48"/>
              <p:cNvSpPr>
                <a:spLocks/>
              </p:cNvSpPr>
              <p:nvPr/>
            </p:nvSpPr>
            <p:spPr bwMode="auto">
              <a:xfrm>
                <a:off x="1787" y="1587"/>
                <a:ext cx="177" cy="186"/>
              </a:xfrm>
              <a:custGeom>
                <a:avLst/>
                <a:gdLst/>
                <a:ahLst/>
                <a:cxnLst>
                  <a:cxn ang="0">
                    <a:pos x="177" y="1"/>
                  </a:cxn>
                  <a:cxn ang="0">
                    <a:pos x="68" y="13"/>
                  </a:cxn>
                  <a:cxn ang="0">
                    <a:pos x="19" y="81"/>
                  </a:cxn>
                  <a:cxn ang="0">
                    <a:pos x="7" y="171"/>
                  </a:cxn>
                  <a:cxn ang="0">
                    <a:pos x="61" y="173"/>
                  </a:cxn>
                </a:cxnLst>
                <a:rect l="0" t="0" r="r" b="b"/>
                <a:pathLst>
                  <a:path w="177" h="186">
                    <a:moveTo>
                      <a:pt x="177" y="1"/>
                    </a:moveTo>
                    <a:cubicBezTo>
                      <a:pt x="159" y="4"/>
                      <a:pt x="94" y="0"/>
                      <a:pt x="68" y="13"/>
                    </a:cubicBezTo>
                    <a:cubicBezTo>
                      <a:pt x="42" y="26"/>
                      <a:pt x="29" y="55"/>
                      <a:pt x="19" y="81"/>
                    </a:cubicBezTo>
                    <a:cubicBezTo>
                      <a:pt x="9" y="107"/>
                      <a:pt x="0" y="156"/>
                      <a:pt x="7" y="171"/>
                    </a:cubicBezTo>
                    <a:cubicBezTo>
                      <a:pt x="14" y="186"/>
                      <a:pt x="50" y="173"/>
                      <a:pt x="61" y="173"/>
                    </a:cubicBezTo>
                  </a:path>
                </a:pathLst>
              </a:custGeom>
              <a:noFill/>
              <a:ln w="12700" cap="flat" cmpd="sng">
                <a:solidFill>
                  <a:schemeClr val="tx1"/>
                </a:solidFill>
                <a:prstDash val="solid"/>
                <a:round/>
                <a:headEnd/>
                <a:tailEnd/>
              </a:ln>
              <a:effectLst/>
            </p:spPr>
            <p:txBody>
              <a:bodyPr wrap="none" anchor="ctr"/>
              <a:lstStyle/>
              <a:p>
                <a:endParaRPr lang="zh-CN" altLang="en-US"/>
              </a:p>
            </p:txBody>
          </p:sp>
          <p:sp>
            <p:nvSpPr>
              <p:cNvPr id="728113" name="Freeform 49"/>
              <p:cNvSpPr>
                <a:spLocks/>
              </p:cNvSpPr>
              <p:nvPr/>
            </p:nvSpPr>
            <p:spPr bwMode="auto">
              <a:xfrm>
                <a:off x="1844" y="1630"/>
                <a:ext cx="120" cy="134"/>
              </a:xfrm>
              <a:custGeom>
                <a:avLst/>
                <a:gdLst/>
                <a:ahLst/>
                <a:cxnLst>
                  <a:cxn ang="0">
                    <a:pos x="120" y="2"/>
                  </a:cxn>
                  <a:cxn ang="0">
                    <a:pos x="20" y="22"/>
                  </a:cxn>
                  <a:cxn ang="0">
                    <a:pos x="0" y="134"/>
                  </a:cxn>
                </a:cxnLst>
                <a:rect l="0" t="0" r="r" b="b"/>
                <a:pathLst>
                  <a:path w="120" h="134">
                    <a:moveTo>
                      <a:pt x="120" y="2"/>
                    </a:moveTo>
                    <a:cubicBezTo>
                      <a:pt x="103" y="6"/>
                      <a:pt x="40" y="0"/>
                      <a:pt x="20" y="22"/>
                    </a:cubicBezTo>
                    <a:cubicBezTo>
                      <a:pt x="0" y="44"/>
                      <a:pt x="4" y="111"/>
                      <a:pt x="0" y="134"/>
                    </a:cubicBezTo>
                  </a:path>
                </a:pathLst>
              </a:custGeom>
              <a:noFill/>
              <a:ln w="12700" cap="flat" cmpd="sng">
                <a:solidFill>
                  <a:schemeClr val="tx1"/>
                </a:solidFill>
                <a:prstDash val="solid"/>
                <a:round/>
                <a:headEnd/>
                <a:tailEnd/>
              </a:ln>
              <a:effectLst/>
            </p:spPr>
            <p:txBody>
              <a:bodyPr wrap="none" anchor="ctr"/>
              <a:lstStyle/>
              <a:p>
                <a:endParaRPr lang="zh-CN" altLang="en-US"/>
              </a:p>
            </p:txBody>
          </p:sp>
        </p:grpSp>
        <p:sp>
          <p:nvSpPr>
            <p:cNvPr id="728114" name="Text Box 50"/>
            <p:cNvSpPr txBox="1">
              <a:spLocks noChangeArrowheads="1"/>
            </p:cNvSpPr>
            <p:nvPr/>
          </p:nvSpPr>
          <p:spPr bwMode="auto">
            <a:xfrm>
              <a:off x="2925" y="1480"/>
              <a:ext cx="545" cy="212"/>
            </a:xfrm>
            <a:prstGeom prst="rect">
              <a:avLst/>
            </a:prstGeom>
            <a:noFill/>
            <a:ln w="12700" algn="ctr">
              <a:noFill/>
              <a:miter lim="800000"/>
              <a:headEnd/>
              <a:tailEnd/>
            </a:ln>
            <a:effectLst/>
          </p:spPr>
          <p:txBody>
            <a:bodyPr>
              <a:spAutoFit/>
            </a:bodyPr>
            <a:lstStyle/>
            <a:p>
              <a:pPr>
                <a:spcBef>
                  <a:spcPct val="50000"/>
                </a:spcBef>
              </a:pPr>
              <a:r>
                <a:rPr lang="en-US" altLang="zh-CN" sz="1600">
                  <a:latin typeface="Times New Roman" pitchFamily="18" charset="0"/>
                </a:rPr>
                <a:t>RxDn</a:t>
              </a:r>
            </a:p>
          </p:txBody>
        </p:sp>
        <p:grpSp>
          <p:nvGrpSpPr>
            <p:cNvPr id="728115" name="Group 51"/>
            <p:cNvGrpSpPr>
              <a:grpSpLocks/>
            </p:cNvGrpSpPr>
            <p:nvPr/>
          </p:nvGrpSpPr>
          <p:grpSpPr bwMode="auto">
            <a:xfrm>
              <a:off x="385" y="2161"/>
              <a:ext cx="953" cy="362"/>
              <a:chOff x="385" y="2115"/>
              <a:chExt cx="953" cy="362"/>
            </a:xfrm>
          </p:grpSpPr>
          <p:sp>
            <p:nvSpPr>
              <p:cNvPr id="728116" name="Rectangle 52"/>
              <p:cNvSpPr>
                <a:spLocks noChangeArrowheads="1"/>
              </p:cNvSpPr>
              <p:nvPr/>
            </p:nvSpPr>
            <p:spPr bwMode="auto">
              <a:xfrm>
                <a:off x="385" y="2296"/>
                <a:ext cx="590" cy="181"/>
              </a:xfrm>
              <a:prstGeom prst="rect">
                <a:avLst/>
              </a:prstGeom>
              <a:solidFill>
                <a:schemeClr val="hlink"/>
              </a:solidFill>
              <a:ln w="12700" algn="ctr">
                <a:solidFill>
                  <a:schemeClr val="tx1"/>
                </a:solidFill>
                <a:miter lim="800000"/>
                <a:headEnd/>
                <a:tailEnd/>
              </a:ln>
              <a:effectLst/>
            </p:spPr>
            <p:txBody>
              <a:bodyPr wrap="none" anchor="ctr"/>
              <a:lstStyle/>
              <a:p>
                <a:r>
                  <a:rPr lang="en-US" altLang="zh-CN" sz="1400">
                    <a:latin typeface="Times New Roman" pitchFamily="18" charset="0"/>
                  </a:rPr>
                  <a:t>UnIIR[3:1]</a:t>
                </a:r>
              </a:p>
            </p:txBody>
          </p:sp>
          <p:sp>
            <p:nvSpPr>
              <p:cNvPr id="728117" name="Rectangle 53"/>
              <p:cNvSpPr>
                <a:spLocks noChangeArrowheads="1"/>
              </p:cNvSpPr>
              <p:nvPr/>
            </p:nvSpPr>
            <p:spPr bwMode="auto">
              <a:xfrm>
                <a:off x="975" y="2296"/>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latin typeface="Times New Roman" pitchFamily="18" charset="0"/>
                  </a:rPr>
                  <a:t>xxx</a:t>
                </a:r>
              </a:p>
            </p:txBody>
          </p:sp>
          <p:sp>
            <p:nvSpPr>
              <p:cNvPr id="728118" name="Rectangle 54"/>
              <p:cNvSpPr>
                <a:spLocks noChangeArrowheads="1"/>
              </p:cNvSpPr>
              <p:nvPr/>
            </p:nvSpPr>
            <p:spPr bwMode="auto">
              <a:xfrm>
                <a:off x="385" y="2115"/>
                <a:ext cx="590" cy="181"/>
              </a:xfrm>
              <a:prstGeom prst="rect">
                <a:avLst/>
              </a:prstGeom>
              <a:solidFill>
                <a:schemeClr val="hlink"/>
              </a:solidFill>
              <a:ln w="12700" algn="ctr">
                <a:solidFill>
                  <a:schemeClr val="tx1"/>
                </a:solidFill>
                <a:miter lim="800000"/>
                <a:headEnd/>
                <a:tailEnd/>
              </a:ln>
              <a:effectLst/>
            </p:spPr>
            <p:txBody>
              <a:bodyPr wrap="none" anchor="ctr"/>
              <a:lstStyle/>
              <a:p>
                <a:r>
                  <a:rPr lang="en-US" altLang="zh-CN" sz="1400">
                    <a:latin typeface="Times New Roman" pitchFamily="18" charset="0"/>
                  </a:rPr>
                  <a:t>UnIIR[0]</a:t>
                </a:r>
              </a:p>
            </p:txBody>
          </p:sp>
          <p:sp>
            <p:nvSpPr>
              <p:cNvPr id="728119" name="Rectangle 55"/>
              <p:cNvSpPr>
                <a:spLocks noChangeArrowheads="1"/>
              </p:cNvSpPr>
              <p:nvPr/>
            </p:nvSpPr>
            <p:spPr bwMode="auto">
              <a:xfrm>
                <a:off x="975" y="2115"/>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latin typeface="Times New Roman" pitchFamily="18" charset="0"/>
                  </a:rPr>
                  <a:t>1</a:t>
                </a:r>
              </a:p>
            </p:txBody>
          </p:sp>
        </p:grpSp>
      </p:grpSp>
      <p:grpSp>
        <p:nvGrpSpPr>
          <p:cNvPr id="728120" name="Group 56"/>
          <p:cNvGrpSpPr>
            <a:grpSpLocks/>
          </p:cNvGrpSpPr>
          <p:nvPr/>
        </p:nvGrpSpPr>
        <p:grpSpPr bwMode="auto">
          <a:xfrm>
            <a:off x="3071813" y="3289301"/>
            <a:ext cx="576262" cy="574675"/>
            <a:chOff x="839" y="2387"/>
            <a:chExt cx="363" cy="362"/>
          </a:xfrm>
        </p:grpSpPr>
        <p:sp>
          <p:nvSpPr>
            <p:cNvPr id="728121" name="Rectangle 57"/>
            <p:cNvSpPr>
              <a:spLocks noChangeArrowheads="1"/>
            </p:cNvSpPr>
            <p:nvPr/>
          </p:nvSpPr>
          <p:spPr bwMode="auto">
            <a:xfrm>
              <a:off x="839" y="2568"/>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solidFill>
                    <a:srgbClr val="FF0000"/>
                  </a:solidFill>
                  <a:latin typeface="Times New Roman" pitchFamily="18" charset="0"/>
                </a:rPr>
                <a:t>010</a:t>
              </a:r>
            </a:p>
          </p:txBody>
        </p:sp>
        <p:sp>
          <p:nvSpPr>
            <p:cNvPr id="728122" name="Rectangle 58"/>
            <p:cNvSpPr>
              <a:spLocks noChangeArrowheads="1"/>
            </p:cNvSpPr>
            <p:nvPr/>
          </p:nvSpPr>
          <p:spPr bwMode="auto">
            <a:xfrm>
              <a:off x="839" y="2387"/>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solidFill>
                    <a:srgbClr val="FF0000"/>
                  </a:solidFill>
                  <a:latin typeface="Times New Roman" pitchFamily="18" charset="0"/>
                </a:rPr>
                <a:t>0</a:t>
              </a:r>
            </a:p>
          </p:txBody>
        </p:sp>
      </p:grpSp>
      <p:grpSp>
        <p:nvGrpSpPr>
          <p:cNvPr id="728123" name="Group 59"/>
          <p:cNvGrpSpPr>
            <a:grpSpLocks/>
          </p:cNvGrpSpPr>
          <p:nvPr/>
        </p:nvGrpSpPr>
        <p:grpSpPr bwMode="auto">
          <a:xfrm>
            <a:off x="3071813" y="3289301"/>
            <a:ext cx="576262" cy="574675"/>
            <a:chOff x="839" y="2387"/>
            <a:chExt cx="363" cy="362"/>
          </a:xfrm>
        </p:grpSpPr>
        <p:sp>
          <p:nvSpPr>
            <p:cNvPr id="728124" name="Rectangle 60"/>
            <p:cNvSpPr>
              <a:spLocks noChangeArrowheads="1"/>
            </p:cNvSpPr>
            <p:nvPr/>
          </p:nvSpPr>
          <p:spPr bwMode="auto">
            <a:xfrm>
              <a:off x="839" y="2568"/>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solidFill>
                    <a:srgbClr val="FF0000"/>
                  </a:solidFill>
                  <a:latin typeface="Times New Roman" pitchFamily="18" charset="0"/>
                </a:rPr>
                <a:t>xxx</a:t>
              </a:r>
            </a:p>
          </p:txBody>
        </p:sp>
        <p:sp>
          <p:nvSpPr>
            <p:cNvPr id="728125" name="Rectangle 61"/>
            <p:cNvSpPr>
              <a:spLocks noChangeArrowheads="1"/>
            </p:cNvSpPr>
            <p:nvPr/>
          </p:nvSpPr>
          <p:spPr bwMode="auto">
            <a:xfrm>
              <a:off x="839" y="2387"/>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solidFill>
                    <a:srgbClr val="FF0000"/>
                  </a:solidFill>
                  <a:latin typeface="Times New Roman" pitchFamily="18" charset="0"/>
                </a:rPr>
                <a:t>1</a:t>
              </a:r>
            </a:p>
          </p:txBody>
        </p:sp>
      </p:grpSp>
      <p:sp>
        <p:nvSpPr>
          <p:cNvPr id="728126" name="Line 62"/>
          <p:cNvSpPr>
            <a:spLocks noChangeShapeType="1"/>
          </p:cNvSpPr>
          <p:nvPr/>
        </p:nvSpPr>
        <p:spPr bwMode="auto">
          <a:xfrm>
            <a:off x="4511676" y="6097589"/>
            <a:ext cx="720725" cy="1587"/>
          </a:xfrm>
          <a:prstGeom prst="line">
            <a:avLst/>
          </a:prstGeom>
          <a:noFill/>
          <a:ln w="28575">
            <a:solidFill>
              <a:srgbClr val="FF0000"/>
            </a:solidFill>
            <a:round/>
            <a:headEnd/>
            <a:tailEnd type="triangle" w="med" len="med"/>
          </a:ln>
          <a:effectLst/>
        </p:spPr>
        <p:txBody>
          <a:bodyPr wrap="none" anchor="ctr"/>
          <a:lstStyle/>
          <a:p>
            <a:endParaRPr lang="zh-CN" altLang="en-US"/>
          </a:p>
        </p:txBody>
      </p:sp>
      <p:sp>
        <p:nvSpPr>
          <p:cNvPr id="728127" name="Oval 63"/>
          <p:cNvSpPr>
            <a:spLocks noChangeArrowheads="1"/>
          </p:cNvSpPr>
          <p:nvPr/>
        </p:nvSpPr>
        <p:spPr bwMode="auto">
          <a:xfrm>
            <a:off x="4224338" y="2784475"/>
            <a:ext cx="360362" cy="647700"/>
          </a:xfrm>
          <a:prstGeom prst="ellipse">
            <a:avLst/>
          </a:prstGeom>
          <a:solidFill>
            <a:srgbClr val="CCFF99"/>
          </a:solidFill>
          <a:ln w="12700" algn="ctr">
            <a:solidFill>
              <a:schemeClr val="folHlink"/>
            </a:solidFill>
            <a:round/>
            <a:headEnd/>
            <a:tailEnd/>
          </a:ln>
          <a:effectLst/>
        </p:spPr>
        <p:txBody>
          <a:bodyPr vert="eaVert" wrap="none" anchor="ctr"/>
          <a:lstStyle/>
          <a:p>
            <a:r>
              <a:rPr lang="en-US" altLang="zh-CN" sz="1200">
                <a:latin typeface="Times New Roman" pitchFamily="18" charset="0"/>
              </a:rPr>
              <a:t>DATA</a:t>
            </a:r>
          </a:p>
        </p:txBody>
      </p:sp>
      <p:sp>
        <p:nvSpPr>
          <p:cNvPr id="728128" name="Rectangle 64"/>
          <p:cNvSpPr>
            <a:spLocks noChangeArrowheads="1"/>
          </p:cNvSpPr>
          <p:nvPr/>
        </p:nvSpPr>
        <p:spPr bwMode="auto">
          <a:xfrm>
            <a:off x="2222500" y="587375"/>
            <a:ext cx="7689850" cy="609600"/>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中断源说明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728069"/>
                                        </p:tgtEl>
                                        <p:attrNameLst>
                                          <p:attrName>style.visibility</p:attrName>
                                        </p:attrNameLst>
                                      </p:cBhvr>
                                      <p:to>
                                        <p:strVal val="visible"/>
                                      </p:to>
                                    </p:set>
                                    <p:animEffect transition="in" filter="box(in)">
                                      <p:cBhvr>
                                        <p:cTn id="7" dur="500"/>
                                        <p:tgtEl>
                                          <p:spTgt spid="728069"/>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728087"/>
                                        </p:tgtEl>
                                        <p:attrNameLst>
                                          <p:attrName>style.visibility</p:attrName>
                                        </p:attrNameLst>
                                      </p:cBhvr>
                                      <p:to>
                                        <p:strVal val="visible"/>
                                      </p:to>
                                    </p:set>
                                    <p:animEffect transition="in" filter="strips(downLeft)">
                                      <p:cBhvr>
                                        <p:cTn id="11" dur="500"/>
                                        <p:tgtEl>
                                          <p:spTgt spid="728087"/>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2" fill="hold" grpId="0" nodeType="clickEffect">
                                  <p:stCondLst>
                                    <p:cond delay="0"/>
                                  </p:stCondLst>
                                  <p:childTnLst>
                                    <p:set>
                                      <p:cBhvr>
                                        <p:cTn id="15" dur="1" fill="hold">
                                          <p:stCondLst>
                                            <p:cond delay="0"/>
                                          </p:stCondLst>
                                        </p:cTn>
                                        <p:tgtEl>
                                          <p:spTgt spid="728070"/>
                                        </p:tgtEl>
                                        <p:attrNameLst>
                                          <p:attrName>style.visibility</p:attrName>
                                        </p:attrNameLst>
                                      </p:cBhvr>
                                      <p:to>
                                        <p:strVal val="visible"/>
                                      </p:to>
                                    </p:set>
                                    <p:anim calcmode="lin" valueType="num">
                                      <p:cBhvr additive="base">
                                        <p:cTn id="16" dur="500" fill="hold"/>
                                        <p:tgtEl>
                                          <p:spTgt spid="728070"/>
                                        </p:tgtEl>
                                        <p:attrNameLst>
                                          <p:attrName>ppt_x</p:attrName>
                                        </p:attrNameLst>
                                      </p:cBhvr>
                                      <p:tavLst>
                                        <p:tav tm="0">
                                          <p:val>
                                            <p:strVal val="1+#ppt_w/2"/>
                                          </p:val>
                                        </p:tav>
                                        <p:tav tm="100000">
                                          <p:val>
                                            <p:strVal val="#ppt_x"/>
                                          </p:val>
                                        </p:tav>
                                      </p:tavLst>
                                    </p:anim>
                                    <p:anim calcmode="lin" valueType="num">
                                      <p:cBhvr additive="base">
                                        <p:cTn id="17" dur="500" fill="hold"/>
                                        <p:tgtEl>
                                          <p:spTgt spid="728070"/>
                                        </p:tgtEl>
                                        <p:attrNameLst>
                                          <p:attrName>ppt_y</p:attrName>
                                        </p:attrNameLst>
                                      </p:cBhvr>
                                      <p:tavLst>
                                        <p:tav tm="0">
                                          <p:val>
                                            <p:strVal val="#ppt_y"/>
                                          </p:val>
                                        </p:tav>
                                        <p:tav tm="100000">
                                          <p:val>
                                            <p:strVal val="#ppt_y"/>
                                          </p:val>
                                        </p:tav>
                                      </p:tavLst>
                                    </p:anim>
                                  </p:childTnLst>
                                </p:cTn>
                              </p:par>
                            </p:childTnLst>
                          </p:cTn>
                        </p:par>
                        <p:par>
                          <p:cTn id="18" fill="hold">
                            <p:stCondLst>
                              <p:cond delay="500"/>
                            </p:stCondLst>
                            <p:childTnLst>
                              <p:par>
                                <p:cTn id="19" presetID="22" presetClass="entr" presetSubtype="2" fill="hold" nodeType="afterEffect">
                                  <p:stCondLst>
                                    <p:cond delay="0"/>
                                  </p:stCondLst>
                                  <p:childTnLst>
                                    <p:set>
                                      <p:cBhvr>
                                        <p:cTn id="20" dur="1" fill="hold">
                                          <p:stCondLst>
                                            <p:cond delay="0"/>
                                          </p:stCondLst>
                                        </p:cTn>
                                        <p:tgtEl>
                                          <p:spTgt spid="728073"/>
                                        </p:tgtEl>
                                        <p:attrNameLst>
                                          <p:attrName>style.visibility</p:attrName>
                                        </p:attrNameLst>
                                      </p:cBhvr>
                                      <p:to>
                                        <p:strVal val="visible"/>
                                      </p:to>
                                    </p:set>
                                    <p:animEffect transition="in" filter="wipe(right)">
                                      <p:cBhvr>
                                        <p:cTn id="21" dur="500"/>
                                        <p:tgtEl>
                                          <p:spTgt spid="728073"/>
                                        </p:tgtEl>
                                      </p:cBhvr>
                                    </p:animEffect>
                                  </p:childTnLst>
                                </p:cTn>
                              </p:par>
                            </p:childTnLst>
                          </p:cTn>
                        </p:par>
                        <p:par>
                          <p:cTn id="22" fill="hold">
                            <p:stCondLst>
                              <p:cond delay="1000"/>
                            </p:stCondLst>
                            <p:childTnLst>
                              <p:par>
                                <p:cTn id="23" presetID="12" presetClass="entr" presetSubtype="1" fill="hold" grpId="0" nodeType="afterEffect">
                                  <p:stCondLst>
                                    <p:cond delay="0"/>
                                  </p:stCondLst>
                                  <p:childTnLst>
                                    <p:set>
                                      <p:cBhvr>
                                        <p:cTn id="24" dur="1" fill="hold">
                                          <p:stCondLst>
                                            <p:cond delay="0"/>
                                          </p:stCondLst>
                                        </p:cTn>
                                        <p:tgtEl>
                                          <p:spTgt spid="728127"/>
                                        </p:tgtEl>
                                        <p:attrNameLst>
                                          <p:attrName>style.visibility</p:attrName>
                                        </p:attrNameLst>
                                      </p:cBhvr>
                                      <p:to>
                                        <p:strVal val="visible"/>
                                      </p:to>
                                    </p:set>
                                    <p:animEffect transition="in" filter="slide(fromTop)">
                                      <p:cBhvr>
                                        <p:cTn id="25" dur="1000"/>
                                        <p:tgtEl>
                                          <p:spTgt spid="728127"/>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728071"/>
                                        </p:tgtEl>
                                        <p:attrNameLst>
                                          <p:attrName>style.visibility</p:attrName>
                                        </p:attrNameLst>
                                      </p:cBhvr>
                                      <p:to>
                                        <p:strVal val="visible"/>
                                      </p:to>
                                    </p:set>
                                    <p:anim calcmode="lin" valueType="num">
                                      <p:cBhvr additive="base">
                                        <p:cTn id="30" dur="500" fill="hold"/>
                                        <p:tgtEl>
                                          <p:spTgt spid="728071"/>
                                        </p:tgtEl>
                                        <p:attrNameLst>
                                          <p:attrName>ppt_x</p:attrName>
                                        </p:attrNameLst>
                                      </p:cBhvr>
                                      <p:tavLst>
                                        <p:tav tm="0">
                                          <p:val>
                                            <p:strVal val="1+#ppt_w/2"/>
                                          </p:val>
                                        </p:tav>
                                        <p:tav tm="100000">
                                          <p:val>
                                            <p:strVal val="#ppt_x"/>
                                          </p:val>
                                        </p:tav>
                                      </p:tavLst>
                                    </p:anim>
                                    <p:anim calcmode="lin" valueType="num">
                                      <p:cBhvr additive="base">
                                        <p:cTn id="31" dur="500" fill="hold"/>
                                        <p:tgtEl>
                                          <p:spTgt spid="728071"/>
                                        </p:tgtEl>
                                        <p:attrNameLst>
                                          <p:attrName>ppt_y</p:attrName>
                                        </p:attrNameLst>
                                      </p:cBhvr>
                                      <p:tavLst>
                                        <p:tav tm="0">
                                          <p:val>
                                            <p:strVal val="#ppt_y"/>
                                          </p:val>
                                        </p:tav>
                                        <p:tav tm="100000">
                                          <p:val>
                                            <p:strVal val="#ppt_y"/>
                                          </p:val>
                                        </p:tav>
                                      </p:tavLst>
                                    </p:anim>
                                  </p:childTnLst>
                                </p:cTn>
                              </p:par>
                            </p:childTnLst>
                          </p:cTn>
                        </p:par>
                        <p:par>
                          <p:cTn id="32" fill="hold">
                            <p:stCondLst>
                              <p:cond delay="500"/>
                            </p:stCondLst>
                            <p:childTnLst>
                              <p:par>
                                <p:cTn id="33" presetID="22" presetClass="entr" presetSubtype="4" fill="hold" grpId="0" nodeType="afterEffect">
                                  <p:stCondLst>
                                    <p:cond delay="0"/>
                                  </p:stCondLst>
                                  <p:childTnLst>
                                    <p:set>
                                      <p:cBhvr>
                                        <p:cTn id="34" dur="1" fill="hold">
                                          <p:stCondLst>
                                            <p:cond delay="0"/>
                                          </p:stCondLst>
                                        </p:cTn>
                                        <p:tgtEl>
                                          <p:spTgt spid="728068"/>
                                        </p:tgtEl>
                                        <p:attrNameLst>
                                          <p:attrName>style.visibility</p:attrName>
                                        </p:attrNameLst>
                                      </p:cBhvr>
                                      <p:to>
                                        <p:strVal val="visible"/>
                                      </p:to>
                                    </p:set>
                                    <p:animEffect transition="in" filter="wipe(down)">
                                      <p:cBhvr>
                                        <p:cTn id="35" dur="2000"/>
                                        <p:tgtEl>
                                          <p:spTgt spid="728068"/>
                                        </p:tgtEl>
                                      </p:cBhvr>
                                    </p:animEffect>
                                  </p:childTnLst>
                                </p:cTn>
                              </p:par>
                            </p:childTnLst>
                          </p:cTn>
                        </p:par>
                        <p:par>
                          <p:cTn id="36" fill="hold">
                            <p:stCondLst>
                              <p:cond delay="2500"/>
                            </p:stCondLst>
                            <p:childTnLst>
                              <p:par>
                                <p:cTn id="37" presetID="12" presetClass="entr" presetSubtype="2" fill="hold" nodeType="afterEffect">
                                  <p:stCondLst>
                                    <p:cond delay="0"/>
                                  </p:stCondLst>
                                  <p:childTnLst>
                                    <p:set>
                                      <p:cBhvr>
                                        <p:cTn id="38" dur="1" fill="hold">
                                          <p:stCondLst>
                                            <p:cond delay="0"/>
                                          </p:stCondLst>
                                        </p:cTn>
                                        <p:tgtEl>
                                          <p:spTgt spid="728120"/>
                                        </p:tgtEl>
                                        <p:attrNameLst>
                                          <p:attrName>style.visibility</p:attrName>
                                        </p:attrNameLst>
                                      </p:cBhvr>
                                      <p:to>
                                        <p:strVal val="visible"/>
                                      </p:to>
                                    </p:set>
                                    <p:animEffect transition="in" filter="slide(fromRight)">
                                      <p:cBhvr>
                                        <p:cTn id="39" dur="500"/>
                                        <p:tgtEl>
                                          <p:spTgt spid="728120"/>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grpId="0" nodeType="clickEffect">
                                  <p:stCondLst>
                                    <p:cond delay="0"/>
                                  </p:stCondLst>
                                  <p:childTnLst>
                                    <p:set>
                                      <p:cBhvr>
                                        <p:cTn id="43" dur="1" fill="hold">
                                          <p:stCondLst>
                                            <p:cond delay="0"/>
                                          </p:stCondLst>
                                        </p:cTn>
                                        <p:tgtEl>
                                          <p:spTgt spid="728072"/>
                                        </p:tgtEl>
                                        <p:attrNameLst>
                                          <p:attrName>style.visibility</p:attrName>
                                        </p:attrNameLst>
                                      </p:cBhvr>
                                      <p:to>
                                        <p:strVal val="visible"/>
                                      </p:to>
                                    </p:set>
                                    <p:anim calcmode="lin" valueType="num">
                                      <p:cBhvr additive="base">
                                        <p:cTn id="44" dur="500" fill="hold"/>
                                        <p:tgtEl>
                                          <p:spTgt spid="728072"/>
                                        </p:tgtEl>
                                        <p:attrNameLst>
                                          <p:attrName>ppt_x</p:attrName>
                                        </p:attrNameLst>
                                      </p:cBhvr>
                                      <p:tavLst>
                                        <p:tav tm="0">
                                          <p:val>
                                            <p:strVal val="1+#ppt_w/2"/>
                                          </p:val>
                                        </p:tav>
                                        <p:tav tm="100000">
                                          <p:val>
                                            <p:strVal val="#ppt_x"/>
                                          </p:val>
                                        </p:tav>
                                      </p:tavLst>
                                    </p:anim>
                                    <p:anim calcmode="lin" valueType="num">
                                      <p:cBhvr additive="base">
                                        <p:cTn id="45" dur="500" fill="hold"/>
                                        <p:tgtEl>
                                          <p:spTgt spid="728072"/>
                                        </p:tgtEl>
                                        <p:attrNameLst>
                                          <p:attrName>ppt_y</p:attrName>
                                        </p:attrNameLst>
                                      </p:cBhvr>
                                      <p:tavLst>
                                        <p:tav tm="0">
                                          <p:val>
                                            <p:strVal val="#ppt_y"/>
                                          </p:val>
                                        </p:tav>
                                        <p:tav tm="100000">
                                          <p:val>
                                            <p:strVal val="#ppt_y"/>
                                          </p:val>
                                        </p:tav>
                                      </p:tavLst>
                                    </p:anim>
                                  </p:childTnLst>
                                </p:cTn>
                              </p:par>
                            </p:childTnLst>
                          </p:cTn>
                        </p:par>
                        <p:par>
                          <p:cTn id="46" fill="hold">
                            <p:stCondLst>
                              <p:cond delay="500"/>
                            </p:stCondLst>
                            <p:childTnLst>
                              <p:par>
                                <p:cTn id="47" presetID="12" presetClass="entr" presetSubtype="8" fill="remove" grpId="0" nodeType="afterEffect">
                                  <p:stCondLst>
                                    <p:cond delay="0"/>
                                  </p:stCondLst>
                                  <p:childTnLst>
                                    <p:set>
                                      <p:cBhvr>
                                        <p:cTn id="48" dur="1" fill="hold">
                                          <p:stCondLst>
                                            <p:cond delay="0"/>
                                          </p:stCondLst>
                                        </p:cTn>
                                        <p:tgtEl>
                                          <p:spTgt spid="728126"/>
                                        </p:tgtEl>
                                        <p:attrNameLst>
                                          <p:attrName>style.visibility</p:attrName>
                                        </p:attrNameLst>
                                      </p:cBhvr>
                                      <p:to>
                                        <p:strVal val="visible"/>
                                      </p:to>
                                    </p:set>
                                    <p:animEffect transition="in" filter="slide(fromLeft)">
                                      <p:cBhvr>
                                        <p:cTn id="49" dur="500"/>
                                        <p:tgtEl>
                                          <p:spTgt spid="728126"/>
                                        </p:tgtEl>
                                      </p:cBhvr>
                                    </p:animEffect>
                                  </p:childTnLst>
                                </p:cTn>
                              </p:par>
                            </p:childTnLst>
                          </p:cTn>
                        </p:par>
                        <p:par>
                          <p:cTn id="50" fill="hold">
                            <p:stCondLst>
                              <p:cond delay="1000"/>
                            </p:stCondLst>
                            <p:childTnLst>
                              <p:par>
                                <p:cTn id="51" presetID="1" presetClass="entr" presetSubtype="0" fill="hold" grpId="0" nodeType="afterEffect">
                                  <p:stCondLst>
                                    <p:cond delay="0"/>
                                  </p:stCondLst>
                                  <p:childTnLst>
                                    <p:set>
                                      <p:cBhvr>
                                        <p:cTn id="52" dur="1" fill="hold">
                                          <p:stCondLst>
                                            <p:cond delay="0"/>
                                          </p:stCondLst>
                                        </p:cTn>
                                        <p:tgtEl>
                                          <p:spTgt spid="728067"/>
                                        </p:tgtEl>
                                        <p:attrNameLst>
                                          <p:attrName>style.visibility</p:attrName>
                                        </p:attrNameLst>
                                      </p:cBhvr>
                                      <p:to>
                                        <p:strVal val="visible"/>
                                      </p:to>
                                    </p:set>
                                  </p:childTnLst>
                                </p:cTn>
                              </p:par>
                            </p:childTnLst>
                          </p:cTn>
                        </p:par>
                        <p:par>
                          <p:cTn id="53" fill="hold">
                            <p:stCondLst>
                              <p:cond delay="1000"/>
                            </p:stCondLst>
                            <p:childTnLst>
                              <p:par>
                                <p:cTn id="54" presetID="1" presetClass="entr" presetSubtype="0" fill="hold" grpId="0" nodeType="afterEffect">
                                  <p:stCondLst>
                                    <p:cond delay="0"/>
                                  </p:stCondLst>
                                  <p:childTnLst>
                                    <p:set>
                                      <p:cBhvr>
                                        <p:cTn id="55" dur="1" fill="hold">
                                          <p:stCondLst>
                                            <p:cond delay="0"/>
                                          </p:stCondLst>
                                        </p:cTn>
                                        <p:tgtEl>
                                          <p:spTgt spid="728066"/>
                                        </p:tgtEl>
                                        <p:attrNameLst>
                                          <p:attrName>style.visibility</p:attrName>
                                        </p:attrNameLst>
                                      </p:cBhvr>
                                      <p:to>
                                        <p:strVal val="visible"/>
                                      </p:to>
                                    </p:set>
                                  </p:childTnLst>
                                </p:cTn>
                              </p:par>
                            </p:childTnLst>
                          </p:cTn>
                        </p:par>
                        <p:par>
                          <p:cTn id="56" fill="hold">
                            <p:stCondLst>
                              <p:cond delay="1000"/>
                            </p:stCondLst>
                            <p:childTnLst>
                              <p:par>
                                <p:cTn id="57" presetID="1" presetClass="exit" presetSubtype="0" fill="hold" grpId="1" nodeType="afterEffect">
                                  <p:stCondLst>
                                    <p:cond delay="0"/>
                                  </p:stCondLst>
                                  <p:childTnLst>
                                    <p:set>
                                      <p:cBhvr>
                                        <p:cTn id="58" dur="1" fill="hold">
                                          <p:stCondLst>
                                            <p:cond delay="0"/>
                                          </p:stCondLst>
                                        </p:cTn>
                                        <p:tgtEl>
                                          <p:spTgt spid="728068"/>
                                        </p:tgtEl>
                                        <p:attrNameLst>
                                          <p:attrName>style.visibility</p:attrName>
                                        </p:attrNameLst>
                                      </p:cBhvr>
                                      <p:to>
                                        <p:strVal val="hidden"/>
                                      </p:to>
                                    </p:set>
                                  </p:childTnLst>
                                </p:cTn>
                              </p:par>
                            </p:childTnLst>
                          </p:cTn>
                        </p:par>
                        <p:par>
                          <p:cTn id="59" fill="hold">
                            <p:stCondLst>
                              <p:cond delay="1000"/>
                            </p:stCondLst>
                            <p:childTnLst>
                              <p:par>
                                <p:cTn id="60" presetID="48" presetClass="exit" presetSubtype="0" decel="50000" fill="hold" grpId="1" nodeType="afterEffect">
                                  <p:stCondLst>
                                    <p:cond delay="0"/>
                                  </p:stCondLst>
                                  <p:childTnLst>
                                    <p:anim calcmode="lin" valueType="num">
                                      <p:cBhvr>
                                        <p:cTn id="61" dur="1000"/>
                                        <p:tgtEl>
                                          <p:spTgt spid="728067"/>
                                        </p:tgtEl>
                                        <p:attrNameLst>
                                          <p:attrName>style.rotation</p:attrName>
                                        </p:attrNameLst>
                                      </p:cBhvr>
                                      <p:tavLst>
                                        <p:tav tm="0">
                                          <p:val>
                                            <p:fltVal val="0"/>
                                          </p:val>
                                        </p:tav>
                                        <p:tav tm="20000">
                                          <p:val>
                                            <p:fltVal val="90"/>
                                          </p:val>
                                        </p:tav>
                                        <p:tav tm="20000">
                                          <p:val>
                                            <p:fltVal val="90"/>
                                          </p:val>
                                        </p:tav>
                                        <p:tav tm="100000">
                                          <p:val>
                                            <p:fltVal val="90"/>
                                          </p:val>
                                        </p:tav>
                                      </p:tavLst>
                                    </p:anim>
                                    <p:anim calcmode="lin" valueType="num">
                                      <p:cBhvr>
                                        <p:cTn id="62" dur="1000"/>
                                        <p:tgtEl>
                                          <p:spTgt spid="728067"/>
                                        </p:tgtEl>
                                        <p:attrNameLst>
                                          <p:attrName>ppt_x</p:attrName>
                                        </p:attrNameLst>
                                      </p:cBhvr>
                                      <p:tavLst>
                                        <p:tav tm="0">
                                          <p:val>
                                            <p:strVal val="ppt_x"/>
                                          </p:val>
                                        </p:tav>
                                        <p:tav tm="50000">
                                          <p:val>
                                            <p:fltVal val="0.95"/>
                                          </p:val>
                                        </p:tav>
                                        <p:tav tm="100000">
                                          <p:val>
                                            <p:fltVal val="-1"/>
                                          </p:val>
                                        </p:tav>
                                      </p:tavLst>
                                    </p:anim>
                                    <p:anim calcmode="lin" valueType="num">
                                      <p:cBhvr>
                                        <p:cTn id="63" dur="1000"/>
                                        <p:tgtEl>
                                          <p:spTgt spid="728067"/>
                                        </p:tgtEl>
                                        <p:attrNameLst>
                                          <p:attrName>ppt_y</p:attrName>
                                        </p:attrNameLst>
                                      </p:cBhvr>
                                      <p:tavLst>
                                        <p:tav tm="0">
                                          <p:val>
                                            <p:strVal val="ppt_y"/>
                                          </p:val>
                                        </p:tav>
                                        <p:tav tm="100000">
                                          <p:val>
                                            <p:strVal val="ppt_y"/>
                                          </p:val>
                                        </p:tav>
                                      </p:tavLst>
                                    </p:anim>
                                    <p:animEffect transition="out" filter="fade">
                                      <p:cBhvr>
                                        <p:cTn id="64" dur="1000"/>
                                        <p:tgtEl>
                                          <p:spTgt spid="728067"/>
                                        </p:tgtEl>
                                      </p:cBhvr>
                                    </p:animEffect>
                                    <p:set>
                                      <p:cBhvr>
                                        <p:cTn id="65" dur="1" fill="hold">
                                          <p:stCondLst>
                                            <p:cond delay="999"/>
                                          </p:stCondLst>
                                        </p:cTn>
                                        <p:tgtEl>
                                          <p:spTgt spid="728067"/>
                                        </p:tgtEl>
                                        <p:attrNameLst>
                                          <p:attrName>style.visibility</p:attrName>
                                        </p:attrNameLst>
                                      </p:cBhvr>
                                      <p:to>
                                        <p:strVal val="hidden"/>
                                      </p:to>
                                    </p:set>
                                  </p:childTnLst>
                                </p:cTn>
                              </p:par>
                            </p:childTnLst>
                          </p:cTn>
                        </p:par>
                        <p:par>
                          <p:cTn id="66" fill="hold">
                            <p:stCondLst>
                              <p:cond delay="2000"/>
                            </p:stCondLst>
                            <p:childTnLst>
                              <p:par>
                                <p:cTn id="67" presetID="12" presetClass="entr" presetSubtype="2" fill="hold" nodeType="afterEffect">
                                  <p:stCondLst>
                                    <p:cond delay="0"/>
                                  </p:stCondLst>
                                  <p:childTnLst>
                                    <p:set>
                                      <p:cBhvr>
                                        <p:cTn id="68" dur="1" fill="hold">
                                          <p:stCondLst>
                                            <p:cond delay="0"/>
                                          </p:stCondLst>
                                        </p:cTn>
                                        <p:tgtEl>
                                          <p:spTgt spid="728123"/>
                                        </p:tgtEl>
                                        <p:attrNameLst>
                                          <p:attrName>style.visibility</p:attrName>
                                        </p:attrNameLst>
                                      </p:cBhvr>
                                      <p:to>
                                        <p:strVal val="visible"/>
                                      </p:to>
                                    </p:set>
                                    <p:animEffect transition="in" filter="slide(fromRight)">
                                      <p:cBhvr>
                                        <p:cTn id="69" dur="500"/>
                                        <p:tgtEl>
                                          <p:spTgt spid="728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8066" grpId="0" animBg="1"/>
      <p:bldP spid="728067" grpId="0" animBg="1"/>
      <p:bldP spid="728067" grpId="1" animBg="1"/>
      <p:bldP spid="728068" grpId="0" animBg="1"/>
      <p:bldP spid="728068" grpId="1" animBg="1"/>
      <p:bldP spid="728069" grpId="0" autoUpdateAnimBg="0"/>
      <p:bldP spid="728070" grpId="0"/>
      <p:bldP spid="728071" grpId="0"/>
      <p:bldP spid="728072" grpId="0"/>
      <p:bldP spid="728126" grpId="0" animBg="1"/>
      <p:bldP spid="728127"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090" name="Rectangle 2"/>
          <p:cNvSpPr>
            <a:spLocks noChangeArrowheads="1"/>
          </p:cNvSpPr>
          <p:nvPr/>
        </p:nvSpPr>
        <p:spPr bwMode="auto">
          <a:xfrm>
            <a:off x="5014913" y="6038850"/>
            <a:ext cx="1079500" cy="217488"/>
          </a:xfrm>
          <a:prstGeom prst="rect">
            <a:avLst/>
          </a:prstGeom>
          <a:solidFill>
            <a:srgbClr val="CCFF99"/>
          </a:solidFill>
          <a:ln w="12700" algn="ctr">
            <a:noFill/>
            <a:miter lim="800000"/>
            <a:headEnd/>
            <a:tailEnd/>
          </a:ln>
          <a:effectLst/>
        </p:spPr>
        <p:txBody>
          <a:bodyPr wrap="none" anchor="ctr"/>
          <a:lstStyle/>
          <a:p>
            <a:endParaRPr lang="zh-CN" altLang="en-US"/>
          </a:p>
        </p:txBody>
      </p:sp>
      <p:sp>
        <p:nvSpPr>
          <p:cNvPr id="729091" name="Rectangle 3"/>
          <p:cNvSpPr>
            <a:spLocks noChangeArrowheads="1"/>
          </p:cNvSpPr>
          <p:nvPr/>
        </p:nvSpPr>
        <p:spPr bwMode="auto">
          <a:xfrm>
            <a:off x="3935413" y="5389564"/>
            <a:ext cx="1079500" cy="866775"/>
          </a:xfrm>
          <a:prstGeom prst="rect">
            <a:avLst/>
          </a:prstGeom>
          <a:solidFill>
            <a:srgbClr val="CCFF99"/>
          </a:solidFill>
          <a:ln w="12700" algn="ctr">
            <a:noFill/>
            <a:miter lim="800000"/>
            <a:headEnd/>
            <a:tailEnd/>
          </a:ln>
          <a:effectLst/>
        </p:spPr>
        <p:txBody>
          <a:bodyPr wrap="none" anchor="ctr"/>
          <a:lstStyle/>
          <a:p>
            <a:endParaRPr lang="zh-CN" altLang="en-US"/>
          </a:p>
        </p:txBody>
      </p:sp>
      <p:sp>
        <p:nvSpPr>
          <p:cNvPr id="729092" name="Text Box 4"/>
          <p:cNvSpPr txBox="1">
            <a:spLocks noChangeArrowheads="1"/>
          </p:cNvSpPr>
          <p:nvPr/>
        </p:nvSpPr>
        <p:spPr bwMode="auto">
          <a:xfrm>
            <a:off x="2201864" y="1301751"/>
            <a:ext cx="8116887" cy="1190625"/>
          </a:xfrm>
          <a:prstGeom prst="rect">
            <a:avLst/>
          </a:prstGeom>
          <a:noFill/>
          <a:ln w="9525">
            <a:noFill/>
            <a:miter lim="800000"/>
            <a:headEnd/>
            <a:tailEnd/>
          </a:ln>
          <a:effectLst/>
        </p:spPr>
        <p:txBody>
          <a:bodyPr>
            <a:spAutoFit/>
          </a:bodyPr>
          <a:lstStyle/>
          <a:p>
            <a:pPr algn="l">
              <a:spcBef>
                <a:spcPct val="50000"/>
              </a:spcBef>
              <a:buClr>
                <a:srgbClr val="0000FF"/>
              </a:buClr>
              <a:buFont typeface="Wingdings" pitchFamily="2" charset="2"/>
              <a:buChar char="l"/>
            </a:pPr>
            <a:r>
              <a:rPr lang="en-US" altLang="zh-CN">
                <a:solidFill>
                  <a:srgbClr val="FF0000"/>
                </a:solidFill>
                <a:latin typeface="华文新魏" pitchFamily="2" charset="-122"/>
                <a:ea typeface="华文新魏" pitchFamily="2" charset="-122"/>
              </a:rPr>
              <a:t>  CTI</a:t>
            </a:r>
            <a:r>
              <a:rPr lang="zh-CN" altLang="en-US">
                <a:solidFill>
                  <a:srgbClr val="FF0000"/>
                </a:solidFill>
                <a:latin typeface="华文新魏" pitchFamily="2" charset="-122"/>
                <a:ea typeface="华文新魏" pitchFamily="2" charset="-122"/>
              </a:rPr>
              <a:t>中断</a:t>
            </a:r>
            <a:r>
              <a:rPr lang="zh-CN" altLang="en-US">
                <a:latin typeface="华文新魏" pitchFamily="2" charset="-122"/>
                <a:ea typeface="华文新魏" pitchFamily="2" charset="-122"/>
              </a:rPr>
              <a:t>：当接收</a:t>
            </a:r>
            <a:r>
              <a:rPr lang="en-US" altLang="zh-CN">
                <a:latin typeface="华文新魏" pitchFamily="2" charset="-122"/>
                <a:ea typeface="华文新魏" pitchFamily="2" charset="-122"/>
              </a:rPr>
              <a:t>FIFO</a:t>
            </a:r>
            <a:r>
              <a:rPr lang="zh-CN" altLang="en-US">
                <a:latin typeface="华文新魏" pitchFamily="2" charset="-122"/>
                <a:ea typeface="华文新魏" pitchFamily="2" charset="-122"/>
              </a:rPr>
              <a:t>中的有效数据少于预定的触发点数量（</a:t>
            </a:r>
            <a:r>
              <a:rPr lang="zh-CN" altLang="en-US">
                <a:solidFill>
                  <a:srgbClr val="FF0000"/>
                </a:solidFill>
                <a:latin typeface="华文新魏" pitchFamily="2" charset="-122"/>
                <a:ea typeface="华文新魏" pitchFamily="2" charset="-122"/>
              </a:rPr>
              <a:t>至少有一个字节</a:t>
            </a:r>
            <a:r>
              <a:rPr lang="zh-CN" altLang="en-US">
                <a:latin typeface="华文新魏" pitchFamily="2" charset="-122"/>
                <a:ea typeface="华文新魏" pitchFamily="2" charset="-122"/>
              </a:rPr>
              <a:t>）时，如果在一定时间内仍然没有接收到新的数据，那将触发该中断。这个时间为：</a:t>
            </a:r>
            <a:r>
              <a:rPr lang="en-US" altLang="zh-CN">
                <a:latin typeface="华文新魏" pitchFamily="2" charset="-122"/>
                <a:ea typeface="华文新魏" pitchFamily="2" charset="-122"/>
              </a:rPr>
              <a:t>3.5</a:t>
            </a:r>
            <a:r>
              <a:rPr lang="zh-CN" altLang="en-US">
                <a:latin typeface="华文新魏" pitchFamily="2" charset="-122"/>
                <a:ea typeface="华文新魏" pitchFamily="2" charset="-122"/>
              </a:rPr>
              <a:t>～</a:t>
            </a:r>
            <a:r>
              <a:rPr lang="en-US" altLang="zh-CN">
                <a:latin typeface="华文新魏" pitchFamily="2" charset="-122"/>
                <a:ea typeface="华文新魏" pitchFamily="2" charset="-122"/>
              </a:rPr>
              <a:t>4.5</a:t>
            </a:r>
            <a:r>
              <a:rPr lang="zh-CN" altLang="en-US">
                <a:latin typeface="华文新魏" pitchFamily="2" charset="-122"/>
                <a:ea typeface="华文新魏" pitchFamily="2" charset="-122"/>
              </a:rPr>
              <a:t>个字节所需要的时间。</a:t>
            </a:r>
            <a:r>
              <a:rPr lang="zh-CN" altLang="en-US">
                <a:solidFill>
                  <a:srgbClr val="FF0000"/>
                </a:solidFill>
                <a:latin typeface="华文新魏" pitchFamily="2" charset="-122"/>
                <a:ea typeface="华文新魏" pitchFamily="2" charset="-122"/>
              </a:rPr>
              <a:t>注：对接收</a:t>
            </a:r>
            <a:r>
              <a:rPr lang="en-US" altLang="zh-CN">
                <a:solidFill>
                  <a:srgbClr val="FF0000"/>
                </a:solidFill>
                <a:latin typeface="华文新魏" pitchFamily="2" charset="-122"/>
                <a:ea typeface="华文新魏" pitchFamily="2" charset="-122"/>
              </a:rPr>
              <a:t>FIFO</a:t>
            </a:r>
            <a:r>
              <a:rPr lang="zh-CN" altLang="en-US">
                <a:solidFill>
                  <a:srgbClr val="FF0000"/>
                </a:solidFill>
                <a:latin typeface="华文新魏" pitchFamily="2" charset="-122"/>
                <a:ea typeface="华文新魏" pitchFamily="2" charset="-122"/>
              </a:rPr>
              <a:t>的任何操作都会清零该中断标志。</a:t>
            </a:r>
            <a:r>
              <a:rPr lang="zh-CN" altLang="en-US">
                <a:latin typeface="华文新魏" pitchFamily="2" charset="-122"/>
                <a:ea typeface="华文新魏" pitchFamily="2" charset="-122"/>
              </a:rPr>
              <a:t> </a:t>
            </a:r>
          </a:p>
        </p:txBody>
      </p:sp>
      <p:sp>
        <p:nvSpPr>
          <p:cNvPr id="729093" name="Text Box 5"/>
          <p:cNvSpPr txBox="1">
            <a:spLocks noChangeArrowheads="1"/>
          </p:cNvSpPr>
          <p:nvPr/>
        </p:nvSpPr>
        <p:spPr bwMode="auto">
          <a:xfrm>
            <a:off x="3863976" y="6278563"/>
            <a:ext cx="1152525" cy="336550"/>
          </a:xfrm>
          <a:prstGeom prst="rect">
            <a:avLst/>
          </a:prstGeom>
          <a:noFill/>
          <a:ln w="9525">
            <a:noFill/>
            <a:miter lim="800000"/>
            <a:headEnd/>
            <a:tailEnd/>
          </a:ln>
          <a:effectLst/>
        </p:spPr>
        <p:txBody>
          <a:bodyPr>
            <a:spAutoFit/>
          </a:bodyPr>
          <a:lstStyle/>
          <a:p>
            <a:pPr>
              <a:spcBef>
                <a:spcPct val="50000"/>
              </a:spcBef>
            </a:pPr>
            <a:r>
              <a:rPr lang="zh-CN" altLang="en-US" sz="1600">
                <a:solidFill>
                  <a:srgbClr val="0000FF"/>
                </a:solidFill>
                <a:ea typeface="华文新魏" pitchFamily="2" charset="-122"/>
              </a:rPr>
              <a:t>接收</a:t>
            </a:r>
            <a:r>
              <a:rPr lang="en-US" altLang="zh-CN" sz="1600">
                <a:solidFill>
                  <a:srgbClr val="0000FF"/>
                </a:solidFill>
                <a:ea typeface="华文新魏" pitchFamily="2" charset="-122"/>
              </a:rPr>
              <a:t>FIFO</a:t>
            </a:r>
          </a:p>
        </p:txBody>
      </p:sp>
      <p:grpSp>
        <p:nvGrpSpPr>
          <p:cNvPr id="729094" name="Group 6"/>
          <p:cNvGrpSpPr>
            <a:grpSpLocks/>
          </p:cNvGrpSpPr>
          <p:nvPr/>
        </p:nvGrpSpPr>
        <p:grpSpPr bwMode="auto">
          <a:xfrm>
            <a:off x="3935413" y="2820988"/>
            <a:ext cx="1079500" cy="3433762"/>
            <a:chOff x="1474" y="1766"/>
            <a:chExt cx="680" cy="2178"/>
          </a:xfrm>
        </p:grpSpPr>
        <p:sp>
          <p:nvSpPr>
            <p:cNvPr id="729095" name="Rectangle 7"/>
            <p:cNvSpPr>
              <a:spLocks noChangeArrowheads="1"/>
            </p:cNvSpPr>
            <p:nvPr/>
          </p:nvSpPr>
          <p:spPr bwMode="auto">
            <a:xfrm>
              <a:off x="1474" y="3808"/>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a:t>
              </a:r>
            </a:p>
          </p:txBody>
        </p:sp>
        <p:sp>
          <p:nvSpPr>
            <p:cNvPr id="729096" name="Rectangle 8"/>
            <p:cNvSpPr>
              <a:spLocks noChangeArrowheads="1"/>
            </p:cNvSpPr>
            <p:nvPr/>
          </p:nvSpPr>
          <p:spPr bwMode="auto">
            <a:xfrm>
              <a:off x="1474" y="3672"/>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2</a:t>
              </a:r>
            </a:p>
          </p:txBody>
        </p:sp>
        <p:sp>
          <p:nvSpPr>
            <p:cNvPr id="729097" name="Rectangle 9"/>
            <p:cNvSpPr>
              <a:spLocks noChangeArrowheads="1"/>
            </p:cNvSpPr>
            <p:nvPr/>
          </p:nvSpPr>
          <p:spPr bwMode="auto">
            <a:xfrm>
              <a:off x="1474" y="3535"/>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3</a:t>
              </a:r>
            </a:p>
          </p:txBody>
        </p:sp>
        <p:sp>
          <p:nvSpPr>
            <p:cNvPr id="729098" name="Rectangle 10"/>
            <p:cNvSpPr>
              <a:spLocks noChangeArrowheads="1"/>
            </p:cNvSpPr>
            <p:nvPr/>
          </p:nvSpPr>
          <p:spPr bwMode="auto">
            <a:xfrm>
              <a:off x="1474" y="3399"/>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4</a:t>
              </a:r>
            </a:p>
          </p:txBody>
        </p:sp>
        <p:sp>
          <p:nvSpPr>
            <p:cNvPr id="729099" name="Rectangle 11"/>
            <p:cNvSpPr>
              <a:spLocks noChangeArrowheads="1"/>
            </p:cNvSpPr>
            <p:nvPr/>
          </p:nvSpPr>
          <p:spPr bwMode="auto">
            <a:xfrm>
              <a:off x="1474" y="3263"/>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5</a:t>
              </a:r>
            </a:p>
          </p:txBody>
        </p:sp>
        <p:sp>
          <p:nvSpPr>
            <p:cNvPr id="729100" name="Rectangle 12"/>
            <p:cNvSpPr>
              <a:spLocks noChangeArrowheads="1"/>
            </p:cNvSpPr>
            <p:nvPr/>
          </p:nvSpPr>
          <p:spPr bwMode="auto">
            <a:xfrm>
              <a:off x="1474" y="3127"/>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6</a:t>
              </a:r>
            </a:p>
          </p:txBody>
        </p:sp>
        <p:sp>
          <p:nvSpPr>
            <p:cNvPr id="729101" name="Rectangle 13"/>
            <p:cNvSpPr>
              <a:spLocks noChangeArrowheads="1"/>
            </p:cNvSpPr>
            <p:nvPr/>
          </p:nvSpPr>
          <p:spPr bwMode="auto">
            <a:xfrm>
              <a:off x="1474" y="2991"/>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7</a:t>
              </a:r>
            </a:p>
          </p:txBody>
        </p:sp>
        <p:sp>
          <p:nvSpPr>
            <p:cNvPr id="729102" name="Rectangle 14"/>
            <p:cNvSpPr>
              <a:spLocks noChangeArrowheads="1"/>
            </p:cNvSpPr>
            <p:nvPr/>
          </p:nvSpPr>
          <p:spPr bwMode="auto">
            <a:xfrm>
              <a:off x="1474" y="2719"/>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9</a:t>
              </a:r>
            </a:p>
          </p:txBody>
        </p:sp>
        <p:sp>
          <p:nvSpPr>
            <p:cNvPr id="729103" name="Rectangle 15"/>
            <p:cNvSpPr>
              <a:spLocks noChangeArrowheads="1"/>
            </p:cNvSpPr>
            <p:nvPr/>
          </p:nvSpPr>
          <p:spPr bwMode="auto">
            <a:xfrm>
              <a:off x="1474" y="2583"/>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10</a:t>
              </a:r>
            </a:p>
          </p:txBody>
        </p:sp>
        <p:sp>
          <p:nvSpPr>
            <p:cNvPr id="729104" name="Rectangle 16"/>
            <p:cNvSpPr>
              <a:spLocks noChangeArrowheads="1"/>
            </p:cNvSpPr>
            <p:nvPr/>
          </p:nvSpPr>
          <p:spPr bwMode="auto">
            <a:xfrm>
              <a:off x="1474" y="2447"/>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11</a:t>
              </a:r>
            </a:p>
          </p:txBody>
        </p:sp>
        <p:sp>
          <p:nvSpPr>
            <p:cNvPr id="729105" name="Rectangle 17"/>
            <p:cNvSpPr>
              <a:spLocks noChangeArrowheads="1"/>
            </p:cNvSpPr>
            <p:nvPr/>
          </p:nvSpPr>
          <p:spPr bwMode="auto">
            <a:xfrm>
              <a:off x="1474" y="2311"/>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12</a:t>
              </a:r>
            </a:p>
          </p:txBody>
        </p:sp>
        <p:sp>
          <p:nvSpPr>
            <p:cNvPr id="729106" name="Rectangle 18"/>
            <p:cNvSpPr>
              <a:spLocks noChangeArrowheads="1"/>
            </p:cNvSpPr>
            <p:nvPr/>
          </p:nvSpPr>
          <p:spPr bwMode="auto">
            <a:xfrm>
              <a:off x="1474" y="2175"/>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13</a:t>
              </a:r>
            </a:p>
          </p:txBody>
        </p:sp>
        <p:sp>
          <p:nvSpPr>
            <p:cNvPr id="729107" name="Rectangle 19"/>
            <p:cNvSpPr>
              <a:spLocks noChangeArrowheads="1"/>
            </p:cNvSpPr>
            <p:nvPr/>
          </p:nvSpPr>
          <p:spPr bwMode="auto">
            <a:xfrm>
              <a:off x="1474" y="2039"/>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14</a:t>
              </a:r>
            </a:p>
          </p:txBody>
        </p:sp>
        <p:sp>
          <p:nvSpPr>
            <p:cNvPr id="729108" name="Rectangle 20"/>
            <p:cNvSpPr>
              <a:spLocks noChangeArrowheads="1"/>
            </p:cNvSpPr>
            <p:nvPr/>
          </p:nvSpPr>
          <p:spPr bwMode="auto">
            <a:xfrm>
              <a:off x="1474" y="1902"/>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15</a:t>
              </a:r>
            </a:p>
          </p:txBody>
        </p:sp>
        <p:sp>
          <p:nvSpPr>
            <p:cNvPr id="729109" name="Rectangle 21"/>
            <p:cNvSpPr>
              <a:spLocks noChangeArrowheads="1"/>
            </p:cNvSpPr>
            <p:nvPr/>
          </p:nvSpPr>
          <p:spPr bwMode="auto">
            <a:xfrm>
              <a:off x="1474" y="1766"/>
              <a:ext cx="680" cy="136"/>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16</a:t>
              </a:r>
            </a:p>
          </p:txBody>
        </p:sp>
        <p:sp>
          <p:nvSpPr>
            <p:cNvPr id="729110" name="Rectangle 22"/>
            <p:cNvSpPr>
              <a:spLocks noChangeArrowheads="1"/>
            </p:cNvSpPr>
            <p:nvPr/>
          </p:nvSpPr>
          <p:spPr bwMode="auto">
            <a:xfrm>
              <a:off x="1474" y="1766"/>
              <a:ext cx="680" cy="2178"/>
            </a:xfrm>
            <a:prstGeom prst="rect">
              <a:avLst/>
            </a:prstGeom>
            <a:noFill/>
            <a:ln w="12700" algn="ctr">
              <a:solidFill>
                <a:schemeClr val="tx1"/>
              </a:solidFill>
              <a:miter lim="800000"/>
              <a:headEnd/>
              <a:tailEnd/>
            </a:ln>
            <a:effectLst/>
          </p:spPr>
          <p:txBody>
            <a:bodyPr wrap="none" anchor="ctr"/>
            <a:lstStyle/>
            <a:p>
              <a:endParaRPr lang="zh-CN" altLang="en-US"/>
            </a:p>
          </p:txBody>
        </p:sp>
        <p:sp>
          <p:nvSpPr>
            <p:cNvPr id="729111" name="Rectangle 23"/>
            <p:cNvSpPr>
              <a:spLocks noChangeArrowheads="1"/>
            </p:cNvSpPr>
            <p:nvPr/>
          </p:nvSpPr>
          <p:spPr bwMode="auto">
            <a:xfrm>
              <a:off x="1474" y="2855"/>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8</a:t>
              </a:r>
            </a:p>
          </p:txBody>
        </p:sp>
      </p:grpSp>
      <p:sp>
        <p:nvSpPr>
          <p:cNvPr id="729112" name="AutoShape 24"/>
          <p:cNvSpPr>
            <a:spLocks noChangeArrowheads="1"/>
          </p:cNvSpPr>
          <p:nvPr/>
        </p:nvSpPr>
        <p:spPr bwMode="auto">
          <a:xfrm>
            <a:off x="2351089" y="4383089"/>
            <a:ext cx="1728787" cy="287337"/>
          </a:xfrm>
          <a:prstGeom prst="homePlate">
            <a:avLst>
              <a:gd name="adj" fmla="val 150415"/>
            </a:avLst>
          </a:prstGeom>
          <a:solidFill>
            <a:srgbClr val="FFFFCC"/>
          </a:solidFill>
          <a:ln w="12700" algn="ctr">
            <a:solidFill>
              <a:schemeClr val="tx1"/>
            </a:solidFill>
            <a:miter lim="800000"/>
            <a:headEnd/>
            <a:tailEnd/>
          </a:ln>
          <a:effectLst/>
        </p:spPr>
        <p:txBody>
          <a:bodyPr wrap="none" anchor="ctr"/>
          <a:lstStyle/>
          <a:p>
            <a:pPr algn="l"/>
            <a:r>
              <a:rPr lang="zh-CN" altLang="en-US" sz="1600">
                <a:solidFill>
                  <a:srgbClr val="0000FF"/>
                </a:solidFill>
                <a:latin typeface="华文新魏" pitchFamily="2" charset="-122"/>
                <a:ea typeface="华文新魏" pitchFamily="2" charset="-122"/>
              </a:rPr>
              <a:t>触发点设置</a:t>
            </a:r>
            <a:r>
              <a:rPr lang="en-US" altLang="zh-CN" sz="1600">
                <a:solidFill>
                  <a:srgbClr val="0000FF"/>
                </a:solidFill>
                <a:latin typeface="华文新魏" pitchFamily="2" charset="-122"/>
                <a:ea typeface="华文新魏" pitchFamily="2" charset="-122"/>
              </a:rPr>
              <a:t>=8</a:t>
            </a:r>
          </a:p>
        </p:txBody>
      </p:sp>
      <p:sp>
        <p:nvSpPr>
          <p:cNvPr id="729113" name="Rectangle 25"/>
          <p:cNvSpPr>
            <a:spLocks noChangeArrowheads="1"/>
          </p:cNvSpPr>
          <p:nvPr/>
        </p:nvSpPr>
        <p:spPr bwMode="auto">
          <a:xfrm>
            <a:off x="5014913" y="6038851"/>
            <a:ext cx="1079500" cy="214313"/>
          </a:xfrm>
          <a:prstGeom prst="rect">
            <a:avLst/>
          </a:prstGeom>
          <a:solidFill>
            <a:schemeClr val="hlink"/>
          </a:solidFill>
          <a:ln w="12700" algn="ctr">
            <a:solidFill>
              <a:schemeClr val="tx1"/>
            </a:solidFill>
            <a:miter lim="800000"/>
            <a:headEnd/>
            <a:tailEnd/>
          </a:ln>
          <a:effectLst/>
        </p:spPr>
        <p:txBody>
          <a:bodyPr wrap="none" anchor="ctr"/>
          <a:lstStyle/>
          <a:p>
            <a:r>
              <a:rPr lang="en-US" altLang="zh-CN" sz="1400">
                <a:latin typeface="Times New Roman" pitchFamily="18" charset="0"/>
              </a:rPr>
              <a:t>UnRBR</a:t>
            </a:r>
          </a:p>
        </p:txBody>
      </p:sp>
      <p:sp>
        <p:nvSpPr>
          <p:cNvPr id="729114" name="Text Box 26"/>
          <p:cNvSpPr txBox="1">
            <a:spLocks noChangeArrowheads="1"/>
          </p:cNvSpPr>
          <p:nvPr/>
        </p:nvSpPr>
        <p:spPr bwMode="auto">
          <a:xfrm>
            <a:off x="5519738" y="3086101"/>
            <a:ext cx="4392612" cy="701675"/>
          </a:xfrm>
          <a:prstGeom prst="rect">
            <a:avLst/>
          </a:prstGeom>
          <a:noFill/>
          <a:ln w="9525">
            <a:noFill/>
            <a:miter lim="800000"/>
            <a:headEnd/>
            <a:tailEnd/>
          </a:ln>
          <a:effectLst/>
        </p:spPr>
        <p:txBody>
          <a:bodyPr>
            <a:spAutoFit/>
          </a:bodyPr>
          <a:lstStyle/>
          <a:p>
            <a:pPr algn="l">
              <a:spcBef>
                <a:spcPct val="50000"/>
              </a:spcBef>
            </a:pPr>
            <a:r>
              <a:rPr lang="en-US" altLang="zh-CN" sz="2000">
                <a:ea typeface="华文新魏" pitchFamily="2" charset="-122"/>
              </a:rPr>
              <a:t>1.</a:t>
            </a:r>
            <a:r>
              <a:rPr lang="zh-CN" altLang="en-US" sz="2000">
                <a:ea typeface="华文新魏" pitchFamily="2" charset="-122"/>
              </a:rPr>
              <a:t>移位寄存器</a:t>
            </a:r>
            <a:r>
              <a:rPr lang="en-US" altLang="zh-CN" sz="2000">
                <a:ea typeface="华文新魏" pitchFamily="2" charset="-122"/>
              </a:rPr>
              <a:t>(UnRSR)</a:t>
            </a:r>
            <a:r>
              <a:rPr lang="zh-CN" altLang="en-US" sz="2000">
                <a:ea typeface="华文新魏" pitchFamily="2" charset="-122"/>
              </a:rPr>
              <a:t>从</a:t>
            </a:r>
            <a:r>
              <a:rPr lang="en-US" altLang="zh-CN" sz="2000">
                <a:ea typeface="华文新魏" pitchFamily="2" charset="-122"/>
              </a:rPr>
              <a:t>RxDn</a:t>
            </a:r>
            <a:r>
              <a:rPr lang="zh-CN" altLang="en-US" sz="2000">
                <a:ea typeface="华文新魏" pitchFamily="2" charset="-122"/>
              </a:rPr>
              <a:t>引脚接收串行数据后，送入接收</a:t>
            </a:r>
            <a:r>
              <a:rPr lang="en-US" altLang="zh-CN" sz="2000">
                <a:ea typeface="华文新魏" pitchFamily="2" charset="-122"/>
              </a:rPr>
              <a:t>FIFO</a:t>
            </a:r>
            <a:r>
              <a:rPr lang="zh-CN" altLang="en-US" sz="2000">
                <a:ea typeface="华文新魏" pitchFamily="2" charset="-122"/>
              </a:rPr>
              <a:t>中；</a:t>
            </a:r>
          </a:p>
        </p:txBody>
      </p:sp>
      <p:sp>
        <p:nvSpPr>
          <p:cNvPr id="729115" name="Text Box 27"/>
          <p:cNvSpPr txBox="1">
            <a:spLocks noChangeArrowheads="1"/>
          </p:cNvSpPr>
          <p:nvPr/>
        </p:nvSpPr>
        <p:spPr bwMode="auto">
          <a:xfrm>
            <a:off x="5519738" y="3878264"/>
            <a:ext cx="4392612" cy="1006475"/>
          </a:xfrm>
          <a:prstGeom prst="rect">
            <a:avLst/>
          </a:prstGeom>
          <a:noFill/>
          <a:ln w="9525">
            <a:noFill/>
            <a:miter lim="800000"/>
            <a:headEnd/>
            <a:tailEnd/>
          </a:ln>
          <a:effectLst/>
        </p:spPr>
        <p:txBody>
          <a:bodyPr>
            <a:spAutoFit/>
          </a:bodyPr>
          <a:lstStyle/>
          <a:p>
            <a:pPr algn="l">
              <a:spcBef>
                <a:spcPct val="50000"/>
              </a:spcBef>
            </a:pPr>
            <a:r>
              <a:rPr lang="en-US" altLang="zh-CN" sz="2000">
                <a:ea typeface="华文新魏" pitchFamily="2" charset="-122"/>
              </a:rPr>
              <a:t>2.</a:t>
            </a:r>
            <a:r>
              <a:rPr lang="zh-CN" altLang="en-US" sz="2000">
                <a:ea typeface="华文新魏" pitchFamily="2" charset="-122"/>
              </a:rPr>
              <a:t>当接收</a:t>
            </a:r>
            <a:r>
              <a:rPr lang="en-US" altLang="zh-CN" sz="2000">
                <a:ea typeface="华文新魏" pitchFamily="2" charset="-122"/>
              </a:rPr>
              <a:t>FIFO</a:t>
            </a:r>
            <a:r>
              <a:rPr lang="zh-CN" altLang="en-US" sz="2000">
                <a:ea typeface="华文新魏" pitchFamily="2" charset="-122"/>
              </a:rPr>
              <a:t>中的有效数据少于触发个数，但至少有一个时，如果长时间没有数据到达，将触发</a:t>
            </a:r>
            <a:r>
              <a:rPr lang="en-US" altLang="zh-CN" sz="2000">
                <a:ea typeface="华文新魏" pitchFamily="2" charset="-122"/>
              </a:rPr>
              <a:t>CTI</a:t>
            </a:r>
            <a:r>
              <a:rPr lang="zh-CN" altLang="en-US" sz="2000">
                <a:ea typeface="华文新魏" pitchFamily="2" charset="-122"/>
              </a:rPr>
              <a:t>中断；</a:t>
            </a:r>
          </a:p>
        </p:txBody>
      </p:sp>
      <p:sp>
        <p:nvSpPr>
          <p:cNvPr id="729116" name="Text Box 28"/>
          <p:cNvSpPr txBox="1">
            <a:spLocks noChangeArrowheads="1"/>
          </p:cNvSpPr>
          <p:nvPr/>
        </p:nvSpPr>
        <p:spPr bwMode="auto">
          <a:xfrm>
            <a:off x="5519738" y="4959351"/>
            <a:ext cx="4392612" cy="1006475"/>
          </a:xfrm>
          <a:prstGeom prst="rect">
            <a:avLst/>
          </a:prstGeom>
          <a:noFill/>
          <a:ln w="9525">
            <a:noFill/>
            <a:miter lim="800000"/>
            <a:headEnd/>
            <a:tailEnd/>
          </a:ln>
          <a:effectLst/>
        </p:spPr>
        <p:txBody>
          <a:bodyPr>
            <a:spAutoFit/>
          </a:bodyPr>
          <a:lstStyle/>
          <a:p>
            <a:pPr algn="l">
              <a:spcBef>
                <a:spcPct val="50000"/>
              </a:spcBef>
            </a:pPr>
            <a:r>
              <a:rPr lang="en-US" altLang="zh-CN" sz="2000">
                <a:ea typeface="华文新魏" pitchFamily="2" charset="-122"/>
              </a:rPr>
              <a:t>3.</a:t>
            </a:r>
            <a:r>
              <a:rPr lang="zh-CN" altLang="en-US" sz="2000">
                <a:ea typeface="华文新魏" pitchFamily="2" charset="-122"/>
              </a:rPr>
              <a:t>从</a:t>
            </a:r>
            <a:r>
              <a:rPr lang="en-US" altLang="zh-CN" sz="2000">
                <a:ea typeface="华文新魏" pitchFamily="2" charset="-122"/>
              </a:rPr>
              <a:t>UnRBR</a:t>
            </a:r>
            <a:r>
              <a:rPr lang="zh-CN" altLang="en-US" sz="2000">
                <a:ea typeface="华文新魏" pitchFamily="2" charset="-122"/>
              </a:rPr>
              <a:t>中读取接收</a:t>
            </a:r>
            <a:r>
              <a:rPr lang="en-US" altLang="zh-CN" sz="2000">
                <a:ea typeface="华文新魏" pitchFamily="2" charset="-122"/>
              </a:rPr>
              <a:t>FIFO</a:t>
            </a:r>
            <a:r>
              <a:rPr lang="zh-CN" altLang="en-US" sz="2000">
                <a:ea typeface="华文新魏" pitchFamily="2" charset="-122"/>
              </a:rPr>
              <a:t>中的数据，或者有新的数据送入接收</a:t>
            </a:r>
            <a:r>
              <a:rPr lang="en-US" altLang="zh-CN" sz="2000">
                <a:ea typeface="华文新魏" pitchFamily="2" charset="-122"/>
              </a:rPr>
              <a:t>FIFO</a:t>
            </a:r>
            <a:r>
              <a:rPr lang="zh-CN" altLang="en-US" sz="2000">
                <a:ea typeface="华文新魏" pitchFamily="2" charset="-122"/>
              </a:rPr>
              <a:t>，都将清零</a:t>
            </a:r>
            <a:r>
              <a:rPr lang="en-US" altLang="zh-CN" sz="2000">
                <a:ea typeface="华文新魏" pitchFamily="2" charset="-122"/>
              </a:rPr>
              <a:t>CTI</a:t>
            </a:r>
            <a:r>
              <a:rPr lang="zh-CN" altLang="en-US" sz="2000">
                <a:ea typeface="华文新魏" pitchFamily="2" charset="-122"/>
              </a:rPr>
              <a:t>中断；</a:t>
            </a:r>
          </a:p>
        </p:txBody>
      </p:sp>
      <p:sp>
        <p:nvSpPr>
          <p:cNvPr id="729117" name="Line 29"/>
          <p:cNvSpPr>
            <a:spLocks noChangeShapeType="1"/>
          </p:cNvSpPr>
          <p:nvPr/>
        </p:nvSpPr>
        <p:spPr bwMode="auto">
          <a:xfrm>
            <a:off x="5807076" y="2509838"/>
            <a:ext cx="1368425" cy="0"/>
          </a:xfrm>
          <a:prstGeom prst="line">
            <a:avLst/>
          </a:prstGeom>
          <a:noFill/>
          <a:ln w="12700">
            <a:solidFill>
              <a:schemeClr val="tx1"/>
            </a:solidFill>
            <a:round/>
            <a:headEnd/>
            <a:tailEnd/>
          </a:ln>
          <a:effectLst/>
        </p:spPr>
        <p:txBody>
          <a:bodyPr wrap="none" anchor="ctr"/>
          <a:lstStyle/>
          <a:p>
            <a:endParaRPr lang="zh-CN" altLang="en-US"/>
          </a:p>
        </p:txBody>
      </p:sp>
      <p:sp>
        <p:nvSpPr>
          <p:cNvPr id="729118" name="Rectangle 30"/>
          <p:cNvSpPr>
            <a:spLocks noChangeArrowheads="1"/>
          </p:cNvSpPr>
          <p:nvPr/>
        </p:nvSpPr>
        <p:spPr bwMode="auto">
          <a:xfrm>
            <a:off x="4725988" y="2366964"/>
            <a:ext cx="1079500" cy="287337"/>
          </a:xfrm>
          <a:prstGeom prst="rect">
            <a:avLst/>
          </a:prstGeom>
          <a:solidFill>
            <a:schemeClr val="hlink"/>
          </a:solidFill>
          <a:ln w="12700" algn="ctr">
            <a:solidFill>
              <a:schemeClr val="tx1"/>
            </a:solidFill>
            <a:miter lim="800000"/>
            <a:headEnd/>
            <a:tailEnd/>
          </a:ln>
          <a:effectLst/>
        </p:spPr>
        <p:txBody>
          <a:bodyPr wrap="none" anchor="ctr"/>
          <a:lstStyle/>
          <a:p>
            <a:r>
              <a:rPr lang="en-US" altLang="zh-CN" sz="1400">
                <a:latin typeface="Times New Roman" pitchFamily="18" charset="0"/>
              </a:rPr>
              <a:t>UnRSR</a:t>
            </a:r>
          </a:p>
        </p:txBody>
      </p:sp>
      <p:grpSp>
        <p:nvGrpSpPr>
          <p:cNvPr id="729119" name="Group 31"/>
          <p:cNvGrpSpPr>
            <a:grpSpLocks/>
          </p:cNvGrpSpPr>
          <p:nvPr/>
        </p:nvGrpSpPr>
        <p:grpSpPr bwMode="auto">
          <a:xfrm>
            <a:off x="4432300" y="2465389"/>
            <a:ext cx="280988" cy="295275"/>
            <a:chOff x="1787" y="1587"/>
            <a:chExt cx="177" cy="186"/>
          </a:xfrm>
        </p:grpSpPr>
        <p:sp>
          <p:nvSpPr>
            <p:cNvPr id="729120" name="Freeform 32"/>
            <p:cNvSpPr>
              <a:spLocks/>
            </p:cNvSpPr>
            <p:nvPr/>
          </p:nvSpPr>
          <p:spPr bwMode="auto">
            <a:xfrm>
              <a:off x="1787" y="1587"/>
              <a:ext cx="177" cy="186"/>
            </a:xfrm>
            <a:custGeom>
              <a:avLst/>
              <a:gdLst/>
              <a:ahLst/>
              <a:cxnLst>
                <a:cxn ang="0">
                  <a:pos x="177" y="1"/>
                </a:cxn>
                <a:cxn ang="0">
                  <a:pos x="68" y="13"/>
                </a:cxn>
                <a:cxn ang="0">
                  <a:pos x="19" y="81"/>
                </a:cxn>
                <a:cxn ang="0">
                  <a:pos x="7" y="171"/>
                </a:cxn>
                <a:cxn ang="0">
                  <a:pos x="61" y="173"/>
                </a:cxn>
              </a:cxnLst>
              <a:rect l="0" t="0" r="r" b="b"/>
              <a:pathLst>
                <a:path w="177" h="186">
                  <a:moveTo>
                    <a:pt x="177" y="1"/>
                  </a:moveTo>
                  <a:cubicBezTo>
                    <a:pt x="159" y="4"/>
                    <a:pt x="94" y="0"/>
                    <a:pt x="68" y="13"/>
                  </a:cubicBezTo>
                  <a:cubicBezTo>
                    <a:pt x="42" y="26"/>
                    <a:pt x="29" y="55"/>
                    <a:pt x="19" y="81"/>
                  </a:cubicBezTo>
                  <a:cubicBezTo>
                    <a:pt x="9" y="107"/>
                    <a:pt x="0" y="156"/>
                    <a:pt x="7" y="171"/>
                  </a:cubicBezTo>
                  <a:cubicBezTo>
                    <a:pt x="14" y="186"/>
                    <a:pt x="50" y="173"/>
                    <a:pt x="61" y="173"/>
                  </a:cubicBezTo>
                </a:path>
              </a:pathLst>
            </a:custGeom>
            <a:noFill/>
            <a:ln w="12700" cap="flat" cmpd="sng">
              <a:solidFill>
                <a:schemeClr val="tx1"/>
              </a:solidFill>
              <a:prstDash val="solid"/>
              <a:round/>
              <a:headEnd/>
              <a:tailEnd/>
            </a:ln>
            <a:effectLst/>
          </p:spPr>
          <p:txBody>
            <a:bodyPr wrap="none" anchor="ctr"/>
            <a:lstStyle/>
            <a:p>
              <a:endParaRPr lang="zh-CN" altLang="en-US"/>
            </a:p>
          </p:txBody>
        </p:sp>
        <p:sp>
          <p:nvSpPr>
            <p:cNvPr id="729121" name="Freeform 33"/>
            <p:cNvSpPr>
              <a:spLocks/>
            </p:cNvSpPr>
            <p:nvPr/>
          </p:nvSpPr>
          <p:spPr bwMode="auto">
            <a:xfrm>
              <a:off x="1844" y="1630"/>
              <a:ext cx="120" cy="134"/>
            </a:xfrm>
            <a:custGeom>
              <a:avLst/>
              <a:gdLst/>
              <a:ahLst/>
              <a:cxnLst>
                <a:cxn ang="0">
                  <a:pos x="120" y="2"/>
                </a:cxn>
                <a:cxn ang="0">
                  <a:pos x="20" y="22"/>
                </a:cxn>
                <a:cxn ang="0">
                  <a:pos x="0" y="134"/>
                </a:cxn>
              </a:cxnLst>
              <a:rect l="0" t="0" r="r" b="b"/>
              <a:pathLst>
                <a:path w="120" h="134">
                  <a:moveTo>
                    <a:pt x="120" y="2"/>
                  </a:moveTo>
                  <a:cubicBezTo>
                    <a:pt x="103" y="6"/>
                    <a:pt x="40" y="0"/>
                    <a:pt x="20" y="22"/>
                  </a:cubicBezTo>
                  <a:cubicBezTo>
                    <a:pt x="0" y="44"/>
                    <a:pt x="4" y="111"/>
                    <a:pt x="0" y="134"/>
                  </a:cubicBezTo>
                </a:path>
              </a:pathLst>
            </a:custGeom>
            <a:noFill/>
            <a:ln w="12700" cap="flat" cmpd="sng">
              <a:solidFill>
                <a:schemeClr val="tx1"/>
              </a:solidFill>
              <a:prstDash val="solid"/>
              <a:round/>
              <a:headEnd/>
              <a:tailEnd/>
            </a:ln>
            <a:effectLst/>
          </p:spPr>
          <p:txBody>
            <a:bodyPr wrap="none" anchor="ctr"/>
            <a:lstStyle/>
            <a:p>
              <a:endParaRPr lang="zh-CN" altLang="en-US"/>
            </a:p>
          </p:txBody>
        </p:sp>
      </p:grpSp>
      <p:sp>
        <p:nvSpPr>
          <p:cNvPr id="729122" name="Oval 34"/>
          <p:cNvSpPr>
            <a:spLocks noChangeArrowheads="1"/>
          </p:cNvSpPr>
          <p:nvPr/>
        </p:nvSpPr>
        <p:spPr bwMode="auto">
          <a:xfrm>
            <a:off x="4295776" y="2798763"/>
            <a:ext cx="360363" cy="647700"/>
          </a:xfrm>
          <a:prstGeom prst="ellipse">
            <a:avLst/>
          </a:prstGeom>
          <a:solidFill>
            <a:srgbClr val="CCFF99"/>
          </a:solidFill>
          <a:ln w="12700" algn="ctr">
            <a:solidFill>
              <a:schemeClr val="folHlink"/>
            </a:solidFill>
            <a:round/>
            <a:headEnd/>
            <a:tailEnd/>
          </a:ln>
          <a:effectLst/>
        </p:spPr>
        <p:txBody>
          <a:bodyPr vert="eaVert" wrap="none" anchor="ctr"/>
          <a:lstStyle/>
          <a:p>
            <a:r>
              <a:rPr lang="en-US" altLang="zh-CN" sz="1200">
                <a:latin typeface="Times New Roman" pitchFamily="18" charset="0"/>
              </a:rPr>
              <a:t>DATA</a:t>
            </a:r>
          </a:p>
        </p:txBody>
      </p:sp>
      <p:sp>
        <p:nvSpPr>
          <p:cNvPr id="729123" name="Text Box 35"/>
          <p:cNvSpPr txBox="1">
            <a:spLocks noChangeArrowheads="1"/>
          </p:cNvSpPr>
          <p:nvPr/>
        </p:nvSpPr>
        <p:spPr bwMode="auto">
          <a:xfrm>
            <a:off x="6238875" y="2222500"/>
            <a:ext cx="865188" cy="336550"/>
          </a:xfrm>
          <a:prstGeom prst="rect">
            <a:avLst/>
          </a:prstGeom>
          <a:noFill/>
          <a:ln w="12700" algn="ctr">
            <a:noFill/>
            <a:miter lim="800000"/>
            <a:headEnd/>
            <a:tailEnd/>
          </a:ln>
          <a:effectLst/>
        </p:spPr>
        <p:txBody>
          <a:bodyPr>
            <a:spAutoFit/>
          </a:bodyPr>
          <a:lstStyle/>
          <a:p>
            <a:pPr>
              <a:spcBef>
                <a:spcPct val="50000"/>
              </a:spcBef>
            </a:pPr>
            <a:r>
              <a:rPr lang="en-US" altLang="zh-CN" sz="1600">
                <a:latin typeface="Times New Roman" pitchFamily="18" charset="0"/>
              </a:rPr>
              <a:t>RxDn</a:t>
            </a:r>
          </a:p>
        </p:txBody>
      </p:sp>
      <p:grpSp>
        <p:nvGrpSpPr>
          <p:cNvPr id="729124" name="Group 36"/>
          <p:cNvGrpSpPr>
            <a:grpSpLocks/>
          </p:cNvGrpSpPr>
          <p:nvPr/>
        </p:nvGrpSpPr>
        <p:grpSpPr bwMode="auto">
          <a:xfrm>
            <a:off x="7175500" y="2295525"/>
            <a:ext cx="1295400" cy="287338"/>
            <a:chOff x="295" y="1888"/>
            <a:chExt cx="816" cy="181"/>
          </a:xfrm>
        </p:grpSpPr>
        <p:sp>
          <p:nvSpPr>
            <p:cNvPr id="729125" name="Line 37"/>
            <p:cNvSpPr>
              <a:spLocks noChangeShapeType="1"/>
            </p:cNvSpPr>
            <p:nvPr/>
          </p:nvSpPr>
          <p:spPr bwMode="auto">
            <a:xfrm>
              <a:off x="385"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29126" name="Line 38"/>
            <p:cNvSpPr>
              <a:spLocks noChangeShapeType="1"/>
            </p:cNvSpPr>
            <p:nvPr/>
          </p:nvSpPr>
          <p:spPr bwMode="auto">
            <a:xfrm>
              <a:off x="385" y="1888"/>
              <a:ext cx="91" cy="0"/>
            </a:xfrm>
            <a:prstGeom prst="line">
              <a:avLst/>
            </a:prstGeom>
            <a:noFill/>
            <a:ln w="12700">
              <a:solidFill>
                <a:srgbClr val="FF0000"/>
              </a:solidFill>
              <a:round/>
              <a:headEnd/>
              <a:tailEnd/>
            </a:ln>
            <a:effectLst/>
          </p:spPr>
          <p:txBody>
            <a:bodyPr wrap="none" anchor="ctr"/>
            <a:lstStyle/>
            <a:p>
              <a:endParaRPr lang="zh-CN" altLang="en-US"/>
            </a:p>
          </p:txBody>
        </p:sp>
        <p:sp>
          <p:nvSpPr>
            <p:cNvPr id="729127" name="Line 39"/>
            <p:cNvSpPr>
              <a:spLocks noChangeShapeType="1"/>
            </p:cNvSpPr>
            <p:nvPr/>
          </p:nvSpPr>
          <p:spPr bwMode="auto">
            <a:xfrm>
              <a:off x="476"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29128" name="Line 40"/>
            <p:cNvSpPr>
              <a:spLocks noChangeShapeType="1"/>
            </p:cNvSpPr>
            <p:nvPr/>
          </p:nvSpPr>
          <p:spPr bwMode="auto">
            <a:xfrm>
              <a:off x="476" y="2069"/>
              <a:ext cx="181" cy="0"/>
            </a:xfrm>
            <a:prstGeom prst="line">
              <a:avLst/>
            </a:prstGeom>
            <a:noFill/>
            <a:ln w="12700">
              <a:solidFill>
                <a:srgbClr val="FF0000"/>
              </a:solidFill>
              <a:round/>
              <a:headEnd/>
              <a:tailEnd/>
            </a:ln>
            <a:effectLst/>
          </p:spPr>
          <p:txBody>
            <a:bodyPr wrap="none" anchor="ctr"/>
            <a:lstStyle/>
            <a:p>
              <a:endParaRPr lang="zh-CN" altLang="en-US"/>
            </a:p>
          </p:txBody>
        </p:sp>
        <p:sp>
          <p:nvSpPr>
            <p:cNvPr id="729129" name="Line 41"/>
            <p:cNvSpPr>
              <a:spLocks noChangeShapeType="1"/>
            </p:cNvSpPr>
            <p:nvPr/>
          </p:nvSpPr>
          <p:spPr bwMode="auto">
            <a:xfrm flipV="1">
              <a:off x="657"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29130" name="Line 42"/>
            <p:cNvSpPr>
              <a:spLocks noChangeShapeType="1"/>
            </p:cNvSpPr>
            <p:nvPr/>
          </p:nvSpPr>
          <p:spPr bwMode="auto">
            <a:xfrm>
              <a:off x="657" y="1888"/>
              <a:ext cx="91" cy="0"/>
            </a:xfrm>
            <a:prstGeom prst="line">
              <a:avLst/>
            </a:prstGeom>
            <a:noFill/>
            <a:ln w="12700">
              <a:solidFill>
                <a:srgbClr val="FF0000"/>
              </a:solidFill>
              <a:round/>
              <a:headEnd/>
              <a:tailEnd/>
            </a:ln>
            <a:effectLst/>
          </p:spPr>
          <p:txBody>
            <a:bodyPr wrap="none" anchor="ctr"/>
            <a:lstStyle/>
            <a:p>
              <a:endParaRPr lang="zh-CN" altLang="en-US"/>
            </a:p>
          </p:txBody>
        </p:sp>
        <p:sp>
          <p:nvSpPr>
            <p:cNvPr id="729131" name="Line 43"/>
            <p:cNvSpPr>
              <a:spLocks noChangeShapeType="1"/>
            </p:cNvSpPr>
            <p:nvPr/>
          </p:nvSpPr>
          <p:spPr bwMode="auto">
            <a:xfrm>
              <a:off x="748"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29132" name="Line 44"/>
            <p:cNvSpPr>
              <a:spLocks noChangeShapeType="1"/>
            </p:cNvSpPr>
            <p:nvPr/>
          </p:nvSpPr>
          <p:spPr bwMode="auto">
            <a:xfrm>
              <a:off x="748" y="2069"/>
              <a:ext cx="91" cy="0"/>
            </a:xfrm>
            <a:prstGeom prst="line">
              <a:avLst/>
            </a:prstGeom>
            <a:noFill/>
            <a:ln w="12700">
              <a:solidFill>
                <a:srgbClr val="FF0000"/>
              </a:solidFill>
              <a:round/>
              <a:headEnd/>
              <a:tailEnd/>
            </a:ln>
            <a:effectLst/>
          </p:spPr>
          <p:txBody>
            <a:bodyPr wrap="none" anchor="ctr"/>
            <a:lstStyle/>
            <a:p>
              <a:endParaRPr lang="zh-CN" altLang="en-US"/>
            </a:p>
          </p:txBody>
        </p:sp>
        <p:sp>
          <p:nvSpPr>
            <p:cNvPr id="729133" name="Line 45"/>
            <p:cNvSpPr>
              <a:spLocks noChangeShapeType="1"/>
            </p:cNvSpPr>
            <p:nvPr/>
          </p:nvSpPr>
          <p:spPr bwMode="auto">
            <a:xfrm flipV="1">
              <a:off x="839"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29134" name="Line 46"/>
            <p:cNvSpPr>
              <a:spLocks noChangeShapeType="1"/>
            </p:cNvSpPr>
            <p:nvPr/>
          </p:nvSpPr>
          <p:spPr bwMode="auto">
            <a:xfrm>
              <a:off x="839" y="1888"/>
              <a:ext cx="181" cy="0"/>
            </a:xfrm>
            <a:prstGeom prst="line">
              <a:avLst/>
            </a:prstGeom>
            <a:noFill/>
            <a:ln w="12700">
              <a:solidFill>
                <a:srgbClr val="FF0000"/>
              </a:solidFill>
              <a:round/>
              <a:headEnd/>
              <a:tailEnd/>
            </a:ln>
            <a:effectLst/>
          </p:spPr>
          <p:txBody>
            <a:bodyPr wrap="none" anchor="ctr"/>
            <a:lstStyle/>
            <a:p>
              <a:endParaRPr lang="zh-CN" altLang="en-US"/>
            </a:p>
          </p:txBody>
        </p:sp>
        <p:sp>
          <p:nvSpPr>
            <p:cNvPr id="729135" name="Line 47"/>
            <p:cNvSpPr>
              <a:spLocks noChangeShapeType="1"/>
            </p:cNvSpPr>
            <p:nvPr/>
          </p:nvSpPr>
          <p:spPr bwMode="auto">
            <a:xfrm>
              <a:off x="1020"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29136" name="Line 48"/>
            <p:cNvSpPr>
              <a:spLocks noChangeShapeType="1"/>
            </p:cNvSpPr>
            <p:nvPr/>
          </p:nvSpPr>
          <p:spPr bwMode="auto">
            <a:xfrm>
              <a:off x="295" y="2069"/>
              <a:ext cx="90" cy="0"/>
            </a:xfrm>
            <a:prstGeom prst="line">
              <a:avLst/>
            </a:prstGeom>
            <a:noFill/>
            <a:ln w="12700">
              <a:solidFill>
                <a:srgbClr val="FF0000"/>
              </a:solidFill>
              <a:round/>
              <a:headEnd/>
              <a:tailEnd/>
            </a:ln>
            <a:effectLst/>
          </p:spPr>
          <p:txBody>
            <a:bodyPr wrap="none" anchor="ctr"/>
            <a:lstStyle/>
            <a:p>
              <a:endParaRPr lang="zh-CN" altLang="en-US"/>
            </a:p>
          </p:txBody>
        </p:sp>
        <p:sp>
          <p:nvSpPr>
            <p:cNvPr id="729137" name="Line 49"/>
            <p:cNvSpPr>
              <a:spLocks noChangeShapeType="1"/>
            </p:cNvSpPr>
            <p:nvPr/>
          </p:nvSpPr>
          <p:spPr bwMode="auto">
            <a:xfrm>
              <a:off x="1020" y="2069"/>
              <a:ext cx="91" cy="0"/>
            </a:xfrm>
            <a:prstGeom prst="line">
              <a:avLst/>
            </a:prstGeom>
            <a:noFill/>
            <a:ln w="12700">
              <a:solidFill>
                <a:srgbClr val="FF0000"/>
              </a:solidFill>
              <a:round/>
              <a:headEnd/>
              <a:tailEnd/>
            </a:ln>
            <a:effectLst/>
          </p:spPr>
          <p:txBody>
            <a:bodyPr wrap="none" anchor="ctr"/>
            <a:lstStyle/>
            <a:p>
              <a:endParaRPr lang="zh-CN" altLang="en-US"/>
            </a:p>
          </p:txBody>
        </p:sp>
      </p:grpSp>
      <p:grpSp>
        <p:nvGrpSpPr>
          <p:cNvPr id="729138" name="Group 50"/>
          <p:cNvGrpSpPr>
            <a:grpSpLocks/>
          </p:cNvGrpSpPr>
          <p:nvPr/>
        </p:nvGrpSpPr>
        <p:grpSpPr bwMode="auto">
          <a:xfrm>
            <a:off x="2206625" y="3303589"/>
            <a:ext cx="1512888" cy="574675"/>
            <a:chOff x="385" y="2115"/>
            <a:chExt cx="953" cy="362"/>
          </a:xfrm>
        </p:grpSpPr>
        <p:sp>
          <p:nvSpPr>
            <p:cNvPr id="729139" name="Rectangle 51"/>
            <p:cNvSpPr>
              <a:spLocks noChangeArrowheads="1"/>
            </p:cNvSpPr>
            <p:nvPr/>
          </p:nvSpPr>
          <p:spPr bwMode="auto">
            <a:xfrm>
              <a:off x="385" y="2296"/>
              <a:ext cx="590" cy="181"/>
            </a:xfrm>
            <a:prstGeom prst="rect">
              <a:avLst/>
            </a:prstGeom>
            <a:solidFill>
              <a:schemeClr val="hlink"/>
            </a:solidFill>
            <a:ln w="12700" algn="ctr">
              <a:solidFill>
                <a:schemeClr val="tx1"/>
              </a:solidFill>
              <a:miter lim="800000"/>
              <a:headEnd/>
              <a:tailEnd/>
            </a:ln>
            <a:effectLst/>
          </p:spPr>
          <p:txBody>
            <a:bodyPr wrap="none" anchor="ctr"/>
            <a:lstStyle/>
            <a:p>
              <a:r>
                <a:rPr lang="en-US" altLang="zh-CN" sz="1400">
                  <a:latin typeface="Times New Roman" pitchFamily="18" charset="0"/>
                </a:rPr>
                <a:t>UnIIR[3:1]</a:t>
              </a:r>
            </a:p>
          </p:txBody>
        </p:sp>
        <p:sp>
          <p:nvSpPr>
            <p:cNvPr id="729140" name="Rectangle 52"/>
            <p:cNvSpPr>
              <a:spLocks noChangeArrowheads="1"/>
            </p:cNvSpPr>
            <p:nvPr/>
          </p:nvSpPr>
          <p:spPr bwMode="auto">
            <a:xfrm>
              <a:off x="975" y="2296"/>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latin typeface="Times New Roman" pitchFamily="18" charset="0"/>
                </a:rPr>
                <a:t>xxx</a:t>
              </a:r>
            </a:p>
          </p:txBody>
        </p:sp>
        <p:sp>
          <p:nvSpPr>
            <p:cNvPr id="729141" name="Rectangle 53"/>
            <p:cNvSpPr>
              <a:spLocks noChangeArrowheads="1"/>
            </p:cNvSpPr>
            <p:nvPr/>
          </p:nvSpPr>
          <p:spPr bwMode="auto">
            <a:xfrm>
              <a:off x="385" y="2115"/>
              <a:ext cx="590" cy="181"/>
            </a:xfrm>
            <a:prstGeom prst="rect">
              <a:avLst/>
            </a:prstGeom>
            <a:solidFill>
              <a:schemeClr val="hlink"/>
            </a:solidFill>
            <a:ln w="12700" algn="ctr">
              <a:solidFill>
                <a:schemeClr val="tx1"/>
              </a:solidFill>
              <a:miter lim="800000"/>
              <a:headEnd/>
              <a:tailEnd/>
            </a:ln>
            <a:effectLst/>
          </p:spPr>
          <p:txBody>
            <a:bodyPr wrap="none" anchor="ctr"/>
            <a:lstStyle/>
            <a:p>
              <a:r>
                <a:rPr lang="en-US" altLang="zh-CN" sz="1400">
                  <a:latin typeface="Times New Roman" pitchFamily="18" charset="0"/>
                </a:rPr>
                <a:t>UnIIR[0]</a:t>
              </a:r>
            </a:p>
          </p:txBody>
        </p:sp>
        <p:sp>
          <p:nvSpPr>
            <p:cNvPr id="729142" name="Rectangle 54"/>
            <p:cNvSpPr>
              <a:spLocks noChangeArrowheads="1"/>
            </p:cNvSpPr>
            <p:nvPr/>
          </p:nvSpPr>
          <p:spPr bwMode="auto">
            <a:xfrm>
              <a:off x="975" y="2115"/>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latin typeface="Times New Roman" pitchFamily="18" charset="0"/>
                </a:rPr>
                <a:t>1</a:t>
              </a:r>
            </a:p>
          </p:txBody>
        </p:sp>
      </p:grpSp>
      <p:grpSp>
        <p:nvGrpSpPr>
          <p:cNvPr id="729143" name="Group 55"/>
          <p:cNvGrpSpPr>
            <a:grpSpLocks/>
          </p:cNvGrpSpPr>
          <p:nvPr/>
        </p:nvGrpSpPr>
        <p:grpSpPr bwMode="auto">
          <a:xfrm>
            <a:off x="3143251" y="3302001"/>
            <a:ext cx="576263" cy="574675"/>
            <a:chOff x="839" y="2387"/>
            <a:chExt cx="363" cy="362"/>
          </a:xfrm>
        </p:grpSpPr>
        <p:sp>
          <p:nvSpPr>
            <p:cNvPr id="729144" name="Rectangle 56"/>
            <p:cNvSpPr>
              <a:spLocks noChangeArrowheads="1"/>
            </p:cNvSpPr>
            <p:nvPr/>
          </p:nvSpPr>
          <p:spPr bwMode="auto">
            <a:xfrm>
              <a:off x="839" y="2568"/>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solidFill>
                    <a:srgbClr val="FF0000"/>
                  </a:solidFill>
                  <a:latin typeface="Times New Roman" pitchFamily="18" charset="0"/>
                </a:rPr>
                <a:t>110</a:t>
              </a:r>
            </a:p>
          </p:txBody>
        </p:sp>
        <p:sp>
          <p:nvSpPr>
            <p:cNvPr id="729145" name="Rectangle 57"/>
            <p:cNvSpPr>
              <a:spLocks noChangeArrowheads="1"/>
            </p:cNvSpPr>
            <p:nvPr/>
          </p:nvSpPr>
          <p:spPr bwMode="auto">
            <a:xfrm>
              <a:off x="839" y="2387"/>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solidFill>
                    <a:srgbClr val="FF0000"/>
                  </a:solidFill>
                  <a:latin typeface="Times New Roman" pitchFamily="18" charset="0"/>
                </a:rPr>
                <a:t>0</a:t>
              </a:r>
            </a:p>
          </p:txBody>
        </p:sp>
      </p:grpSp>
      <p:grpSp>
        <p:nvGrpSpPr>
          <p:cNvPr id="729146" name="Group 58"/>
          <p:cNvGrpSpPr>
            <a:grpSpLocks/>
          </p:cNvGrpSpPr>
          <p:nvPr/>
        </p:nvGrpSpPr>
        <p:grpSpPr bwMode="auto">
          <a:xfrm>
            <a:off x="3143251" y="3302001"/>
            <a:ext cx="576263" cy="574675"/>
            <a:chOff x="839" y="2387"/>
            <a:chExt cx="363" cy="362"/>
          </a:xfrm>
        </p:grpSpPr>
        <p:sp>
          <p:nvSpPr>
            <p:cNvPr id="729147" name="Rectangle 59"/>
            <p:cNvSpPr>
              <a:spLocks noChangeArrowheads="1"/>
            </p:cNvSpPr>
            <p:nvPr/>
          </p:nvSpPr>
          <p:spPr bwMode="auto">
            <a:xfrm>
              <a:off x="839" y="2568"/>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solidFill>
                    <a:srgbClr val="FF0000"/>
                  </a:solidFill>
                  <a:latin typeface="Times New Roman" pitchFamily="18" charset="0"/>
                </a:rPr>
                <a:t>xxx</a:t>
              </a:r>
            </a:p>
          </p:txBody>
        </p:sp>
        <p:sp>
          <p:nvSpPr>
            <p:cNvPr id="729148" name="Rectangle 60"/>
            <p:cNvSpPr>
              <a:spLocks noChangeArrowheads="1"/>
            </p:cNvSpPr>
            <p:nvPr/>
          </p:nvSpPr>
          <p:spPr bwMode="auto">
            <a:xfrm>
              <a:off x="839" y="2387"/>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solidFill>
                    <a:srgbClr val="FF0000"/>
                  </a:solidFill>
                  <a:latin typeface="Times New Roman" pitchFamily="18" charset="0"/>
                </a:rPr>
                <a:t>1</a:t>
              </a:r>
            </a:p>
          </p:txBody>
        </p:sp>
      </p:grpSp>
      <p:sp>
        <p:nvSpPr>
          <p:cNvPr id="729149" name="Line 61"/>
          <p:cNvSpPr>
            <a:spLocks noChangeShapeType="1"/>
          </p:cNvSpPr>
          <p:nvPr/>
        </p:nvSpPr>
        <p:spPr bwMode="auto">
          <a:xfrm>
            <a:off x="4583114" y="6111875"/>
            <a:ext cx="720725" cy="0"/>
          </a:xfrm>
          <a:prstGeom prst="line">
            <a:avLst/>
          </a:prstGeom>
          <a:noFill/>
          <a:ln w="28575">
            <a:solidFill>
              <a:srgbClr val="FF0000"/>
            </a:solidFill>
            <a:round/>
            <a:headEnd/>
            <a:tailEnd type="triangle" w="med" len="med"/>
          </a:ln>
          <a:effectLst/>
        </p:spPr>
        <p:txBody>
          <a:bodyPr wrap="none" anchor="ctr"/>
          <a:lstStyle/>
          <a:p>
            <a:endParaRPr lang="zh-CN" altLang="en-US"/>
          </a:p>
        </p:txBody>
      </p:sp>
      <p:grpSp>
        <p:nvGrpSpPr>
          <p:cNvPr id="729150" name="Group 62"/>
          <p:cNvGrpSpPr>
            <a:grpSpLocks/>
          </p:cNvGrpSpPr>
          <p:nvPr/>
        </p:nvGrpSpPr>
        <p:grpSpPr bwMode="auto">
          <a:xfrm>
            <a:off x="2279651" y="4884739"/>
            <a:ext cx="1014413" cy="1296987"/>
            <a:chOff x="340" y="3339"/>
            <a:chExt cx="639" cy="817"/>
          </a:xfrm>
        </p:grpSpPr>
        <p:pic>
          <p:nvPicPr>
            <p:cNvPr id="729151" name="Picture 63" descr="j0234131"/>
            <p:cNvPicPr>
              <a:picLocks noChangeAspect="1" noChangeArrowheads="1"/>
            </p:cNvPicPr>
            <p:nvPr/>
          </p:nvPicPr>
          <p:blipFill>
            <a:blip r:embed="rId2" cstate="print"/>
            <a:srcRect/>
            <a:stretch>
              <a:fillRect/>
            </a:stretch>
          </p:blipFill>
          <p:spPr bwMode="auto">
            <a:xfrm>
              <a:off x="340" y="3339"/>
              <a:ext cx="639" cy="680"/>
            </a:xfrm>
            <a:prstGeom prst="rect">
              <a:avLst/>
            </a:prstGeom>
            <a:noFill/>
          </p:spPr>
        </p:pic>
        <p:sp>
          <p:nvSpPr>
            <p:cNvPr id="729152" name="Rectangle 64"/>
            <p:cNvSpPr>
              <a:spLocks noChangeArrowheads="1"/>
            </p:cNvSpPr>
            <p:nvPr/>
          </p:nvSpPr>
          <p:spPr bwMode="auto">
            <a:xfrm>
              <a:off x="340" y="4065"/>
              <a:ext cx="635" cy="91"/>
            </a:xfrm>
            <a:prstGeom prst="rect">
              <a:avLst/>
            </a:prstGeom>
            <a:noFill/>
            <a:ln w="12700" algn="ctr">
              <a:solidFill>
                <a:schemeClr val="tx1"/>
              </a:solidFill>
              <a:miter lim="800000"/>
              <a:headEnd/>
              <a:tailEnd/>
            </a:ln>
            <a:effectLst/>
          </p:spPr>
          <p:txBody>
            <a:bodyPr wrap="none" anchor="ctr"/>
            <a:lstStyle/>
            <a:p>
              <a:endParaRPr lang="zh-CN" altLang="en-US"/>
            </a:p>
          </p:txBody>
        </p:sp>
      </p:grpSp>
      <p:sp>
        <p:nvSpPr>
          <p:cNvPr id="729153" name="Rectangle 65"/>
          <p:cNvSpPr>
            <a:spLocks noChangeArrowheads="1"/>
          </p:cNvSpPr>
          <p:nvPr/>
        </p:nvSpPr>
        <p:spPr bwMode="auto">
          <a:xfrm>
            <a:off x="2279651" y="6037263"/>
            <a:ext cx="1008063" cy="144462"/>
          </a:xfrm>
          <a:prstGeom prst="rect">
            <a:avLst/>
          </a:prstGeom>
          <a:solidFill>
            <a:srgbClr val="66CCFF"/>
          </a:solidFill>
          <a:ln w="12700" algn="ctr">
            <a:solidFill>
              <a:schemeClr val="tx1"/>
            </a:solidFill>
            <a:miter lim="800000"/>
            <a:headEnd/>
            <a:tailEnd/>
          </a:ln>
          <a:effectLst/>
        </p:spPr>
        <p:txBody>
          <a:bodyPr wrap="none" anchor="ctr"/>
          <a:lstStyle/>
          <a:p>
            <a:endParaRPr lang="zh-CN" altLang="en-US"/>
          </a:p>
        </p:txBody>
      </p:sp>
      <p:sp>
        <p:nvSpPr>
          <p:cNvPr id="729154" name="Rectangle 66"/>
          <p:cNvSpPr>
            <a:spLocks noChangeArrowheads="1"/>
          </p:cNvSpPr>
          <p:nvPr/>
        </p:nvSpPr>
        <p:spPr bwMode="auto">
          <a:xfrm>
            <a:off x="2222500" y="587375"/>
            <a:ext cx="7689850" cy="609600"/>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中断源说明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729092"/>
                                        </p:tgtEl>
                                        <p:attrNameLst>
                                          <p:attrName>style.visibility</p:attrName>
                                        </p:attrNameLst>
                                      </p:cBhvr>
                                      <p:to>
                                        <p:strVal val="visible"/>
                                      </p:to>
                                    </p:set>
                                    <p:animEffect transition="in" filter="box(in)">
                                      <p:cBhvr>
                                        <p:cTn id="7" dur="500"/>
                                        <p:tgtEl>
                                          <p:spTgt spid="72909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729114"/>
                                        </p:tgtEl>
                                        <p:attrNameLst>
                                          <p:attrName>style.visibility</p:attrName>
                                        </p:attrNameLst>
                                      </p:cBhvr>
                                      <p:to>
                                        <p:strVal val="visible"/>
                                      </p:to>
                                    </p:set>
                                    <p:anim calcmode="lin" valueType="num">
                                      <p:cBhvr additive="base">
                                        <p:cTn id="12" dur="500" fill="hold"/>
                                        <p:tgtEl>
                                          <p:spTgt spid="729114"/>
                                        </p:tgtEl>
                                        <p:attrNameLst>
                                          <p:attrName>ppt_x</p:attrName>
                                        </p:attrNameLst>
                                      </p:cBhvr>
                                      <p:tavLst>
                                        <p:tav tm="0">
                                          <p:val>
                                            <p:strVal val="1+#ppt_w/2"/>
                                          </p:val>
                                        </p:tav>
                                        <p:tav tm="100000">
                                          <p:val>
                                            <p:strVal val="#ppt_x"/>
                                          </p:val>
                                        </p:tav>
                                      </p:tavLst>
                                    </p:anim>
                                    <p:anim calcmode="lin" valueType="num">
                                      <p:cBhvr additive="base">
                                        <p:cTn id="13" dur="500" fill="hold"/>
                                        <p:tgtEl>
                                          <p:spTgt spid="729114"/>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22" presetClass="entr" presetSubtype="2" fill="hold" nodeType="afterEffect">
                                  <p:stCondLst>
                                    <p:cond delay="0"/>
                                  </p:stCondLst>
                                  <p:childTnLst>
                                    <p:set>
                                      <p:cBhvr>
                                        <p:cTn id="16" dur="1" fill="hold">
                                          <p:stCondLst>
                                            <p:cond delay="0"/>
                                          </p:stCondLst>
                                        </p:cTn>
                                        <p:tgtEl>
                                          <p:spTgt spid="729124"/>
                                        </p:tgtEl>
                                        <p:attrNameLst>
                                          <p:attrName>style.visibility</p:attrName>
                                        </p:attrNameLst>
                                      </p:cBhvr>
                                      <p:to>
                                        <p:strVal val="visible"/>
                                      </p:to>
                                    </p:set>
                                    <p:animEffect transition="in" filter="wipe(right)">
                                      <p:cBhvr>
                                        <p:cTn id="17" dur="500"/>
                                        <p:tgtEl>
                                          <p:spTgt spid="729124"/>
                                        </p:tgtEl>
                                      </p:cBhvr>
                                    </p:animEffect>
                                  </p:childTnLst>
                                </p:cTn>
                              </p:par>
                            </p:childTnLst>
                          </p:cTn>
                        </p:par>
                        <p:par>
                          <p:cTn id="18" fill="hold">
                            <p:stCondLst>
                              <p:cond delay="1000"/>
                            </p:stCondLst>
                            <p:childTnLst>
                              <p:par>
                                <p:cTn id="19" presetID="12" presetClass="entr" presetSubtype="1" fill="hold" grpId="0" nodeType="afterEffect">
                                  <p:stCondLst>
                                    <p:cond delay="0"/>
                                  </p:stCondLst>
                                  <p:childTnLst>
                                    <p:set>
                                      <p:cBhvr>
                                        <p:cTn id="20" dur="1" fill="hold">
                                          <p:stCondLst>
                                            <p:cond delay="0"/>
                                          </p:stCondLst>
                                        </p:cTn>
                                        <p:tgtEl>
                                          <p:spTgt spid="729122"/>
                                        </p:tgtEl>
                                        <p:attrNameLst>
                                          <p:attrName>style.visibility</p:attrName>
                                        </p:attrNameLst>
                                      </p:cBhvr>
                                      <p:to>
                                        <p:strVal val="visible"/>
                                      </p:to>
                                    </p:set>
                                    <p:animEffect transition="in" filter="slide(fromTop)">
                                      <p:cBhvr>
                                        <p:cTn id="21" dur="1000"/>
                                        <p:tgtEl>
                                          <p:spTgt spid="729122"/>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grpId="0" nodeType="clickEffect">
                                  <p:stCondLst>
                                    <p:cond delay="0"/>
                                  </p:stCondLst>
                                  <p:childTnLst>
                                    <p:set>
                                      <p:cBhvr>
                                        <p:cTn id="25" dur="1" fill="hold">
                                          <p:stCondLst>
                                            <p:cond delay="0"/>
                                          </p:stCondLst>
                                        </p:cTn>
                                        <p:tgtEl>
                                          <p:spTgt spid="729115"/>
                                        </p:tgtEl>
                                        <p:attrNameLst>
                                          <p:attrName>style.visibility</p:attrName>
                                        </p:attrNameLst>
                                      </p:cBhvr>
                                      <p:to>
                                        <p:strVal val="visible"/>
                                      </p:to>
                                    </p:set>
                                    <p:anim calcmode="lin" valueType="num">
                                      <p:cBhvr additive="base">
                                        <p:cTn id="26" dur="500" fill="hold"/>
                                        <p:tgtEl>
                                          <p:spTgt spid="729115"/>
                                        </p:tgtEl>
                                        <p:attrNameLst>
                                          <p:attrName>ppt_x</p:attrName>
                                        </p:attrNameLst>
                                      </p:cBhvr>
                                      <p:tavLst>
                                        <p:tav tm="0">
                                          <p:val>
                                            <p:strVal val="1+#ppt_w/2"/>
                                          </p:val>
                                        </p:tav>
                                        <p:tav tm="100000">
                                          <p:val>
                                            <p:strVal val="#ppt_x"/>
                                          </p:val>
                                        </p:tav>
                                      </p:tavLst>
                                    </p:anim>
                                    <p:anim calcmode="lin" valueType="num">
                                      <p:cBhvr additive="base">
                                        <p:cTn id="27" dur="500" fill="hold"/>
                                        <p:tgtEl>
                                          <p:spTgt spid="729115"/>
                                        </p:tgtEl>
                                        <p:attrNameLst>
                                          <p:attrName>ppt_y</p:attrName>
                                        </p:attrNameLst>
                                      </p:cBhvr>
                                      <p:tavLst>
                                        <p:tav tm="0">
                                          <p:val>
                                            <p:strVal val="#ppt_y"/>
                                          </p:val>
                                        </p:tav>
                                        <p:tav tm="100000">
                                          <p:val>
                                            <p:strVal val="#ppt_y"/>
                                          </p:val>
                                        </p:tav>
                                      </p:tavLst>
                                    </p:anim>
                                  </p:childTnLst>
                                </p:cTn>
                              </p:par>
                            </p:childTnLst>
                          </p:cTn>
                        </p:par>
                        <p:par>
                          <p:cTn id="28" fill="hold">
                            <p:stCondLst>
                              <p:cond delay="500"/>
                            </p:stCondLst>
                            <p:childTnLst>
                              <p:par>
                                <p:cTn id="29" presetID="22" presetClass="entr" presetSubtype="4" fill="hold" grpId="0" nodeType="afterEffect">
                                  <p:stCondLst>
                                    <p:cond delay="0"/>
                                  </p:stCondLst>
                                  <p:childTnLst>
                                    <p:set>
                                      <p:cBhvr>
                                        <p:cTn id="30" dur="1" fill="hold">
                                          <p:stCondLst>
                                            <p:cond delay="0"/>
                                          </p:stCondLst>
                                        </p:cTn>
                                        <p:tgtEl>
                                          <p:spTgt spid="729091"/>
                                        </p:tgtEl>
                                        <p:attrNameLst>
                                          <p:attrName>style.visibility</p:attrName>
                                        </p:attrNameLst>
                                      </p:cBhvr>
                                      <p:to>
                                        <p:strVal val="visible"/>
                                      </p:to>
                                    </p:set>
                                    <p:animEffect transition="in" filter="wipe(down)">
                                      <p:cBhvr>
                                        <p:cTn id="31" dur="2000"/>
                                        <p:tgtEl>
                                          <p:spTgt spid="729091"/>
                                        </p:tgtEl>
                                      </p:cBhvr>
                                    </p:animEffect>
                                  </p:childTnLst>
                                </p:cTn>
                              </p:par>
                            </p:childTnLst>
                          </p:cTn>
                        </p:par>
                        <p:par>
                          <p:cTn id="32" fill="hold">
                            <p:stCondLst>
                              <p:cond delay="2500"/>
                            </p:stCondLst>
                            <p:childTnLst>
                              <p:par>
                                <p:cTn id="33" presetID="2" presetClass="entr" presetSubtype="8" fill="hold" nodeType="afterEffect">
                                  <p:stCondLst>
                                    <p:cond delay="0"/>
                                  </p:stCondLst>
                                  <p:childTnLst>
                                    <p:set>
                                      <p:cBhvr>
                                        <p:cTn id="34" dur="1" fill="hold">
                                          <p:stCondLst>
                                            <p:cond delay="0"/>
                                          </p:stCondLst>
                                        </p:cTn>
                                        <p:tgtEl>
                                          <p:spTgt spid="729150"/>
                                        </p:tgtEl>
                                        <p:attrNameLst>
                                          <p:attrName>style.visibility</p:attrName>
                                        </p:attrNameLst>
                                      </p:cBhvr>
                                      <p:to>
                                        <p:strVal val="visible"/>
                                      </p:to>
                                    </p:set>
                                    <p:anim calcmode="lin" valueType="num">
                                      <p:cBhvr additive="base">
                                        <p:cTn id="35" dur="500" fill="hold"/>
                                        <p:tgtEl>
                                          <p:spTgt spid="729150"/>
                                        </p:tgtEl>
                                        <p:attrNameLst>
                                          <p:attrName>ppt_x</p:attrName>
                                        </p:attrNameLst>
                                      </p:cBhvr>
                                      <p:tavLst>
                                        <p:tav tm="0">
                                          <p:val>
                                            <p:strVal val="0-#ppt_w/2"/>
                                          </p:val>
                                        </p:tav>
                                        <p:tav tm="100000">
                                          <p:val>
                                            <p:strVal val="#ppt_x"/>
                                          </p:val>
                                        </p:tav>
                                      </p:tavLst>
                                    </p:anim>
                                    <p:anim calcmode="lin" valueType="num">
                                      <p:cBhvr additive="base">
                                        <p:cTn id="36" dur="500" fill="hold"/>
                                        <p:tgtEl>
                                          <p:spTgt spid="729150"/>
                                        </p:tgtEl>
                                        <p:attrNameLst>
                                          <p:attrName>ppt_y</p:attrName>
                                        </p:attrNameLst>
                                      </p:cBhvr>
                                      <p:tavLst>
                                        <p:tav tm="0">
                                          <p:val>
                                            <p:strVal val="#ppt_y"/>
                                          </p:val>
                                        </p:tav>
                                        <p:tav tm="100000">
                                          <p:val>
                                            <p:strVal val="#ppt_y"/>
                                          </p:val>
                                        </p:tav>
                                      </p:tavLst>
                                    </p:anim>
                                  </p:childTnLst>
                                </p:cTn>
                              </p:par>
                            </p:childTnLst>
                          </p:cTn>
                        </p:par>
                        <p:par>
                          <p:cTn id="37" fill="hold">
                            <p:stCondLst>
                              <p:cond delay="3000"/>
                            </p:stCondLst>
                            <p:childTnLst>
                              <p:par>
                                <p:cTn id="38" presetID="22" presetClass="entr" presetSubtype="8" fill="hold" grpId="0" nodeType="afterEffect">
                                  <p:stCondLst>
                                    <p:cond delay="0"/>
                                  </p:stCondLst>
                                  <p:childTnLst>
                                    <p:set>
                                      <p:cBhvr>
                                        <p:cTn id="39" dur="1" fill="hold">
                                          <p:stCondLst>
                                            <p:cond delay="0"/>
                                          </p:stCondLst>
                                        </p:cTn>
                                        <p:tgtEl>
                                          <p:spTgt spid="729153"/>
                                        </p:tgtEl>
                                        <p:attrNameLst>
                                          <p:attrName>style.visibility</p:attrName>
                                        </p:attrNameLst>
                                      </p:cBhvr>
                                      <p:to>
                                        <p:strVal val="visible"/>
                                      </p:to>
                                    </p:set>
                                    <p:animEffect transition="in" filter="wipe(left)">
                                      <p:cBhvr>
                                        <p:cTn id="40" dur="3000"/>
                                        <p:tgtEl>
                                          <p:spTgt spid="729153"/>
                                        </p:tgtEl>
                                      </p:cBhvr>
                                    </p:animEffect>
                                  </p:childTnLst>
                                </p:cTn>
                              </p:par>
                            </p:childTnLst>
                          </p:cTn>
                        </p:par>
                        <p:par>
                          <p:cTn id="41" fill="hold">
                            <p:stCondLst>
                              <p:cond delay="6000"/>
                            </p:stCondLst>
                            <p:childTnLst>
                              <p:par>
                                <p:cTn id="42" presetID="32" presetClass="emph" presetSubtype="0" repeatCount="3000" fill="hold" nodeType="afterEffect">
                                  <p:stCondLst>
                                    <p:cond delay="0"/>
                                  </p:stCondLst>
                                  <p:childTnLst>
                                    <p:animClr clrSpc="rgb" dir="cw">
                                      <p:cBhvr override="childStyle">
                                        <p:cTn id="43" dur="50" fill="hold"/>
                                        <p:tgtEl>
                                          <p:spTgt spid="729150"/>
                                        </p:tgtEl>
                                        <p:attrNameLst>
                                          <p:attrName>style.color</p:attrName>
                                        </p:attrNameLst>
                                      </p:cBhvr>
                                      <p:to>
                                        <a:schemeClr val="accent2"/>
                                      </p:to>
                                    </p:animClr>
                                    <p:animClr clrSpc="rgb" dir="cw">
                                      <p:cBhvr>
                                        <p:cTn id="44" dur="50" fill="hold"/>
                                        <p:tgtEl>
                                          <p:spTgt spid="729150"/>
                                        </p:tgtEl>
                                        <p:attrNameLst>
                                          <p:attrName>fillcolor</p:attrName>
                                        </p:attrNameLst>
                                      </p:cBhvr>
                                      <p:to>
                                        <a:schemeClr val="accent2"/>
                                      </p:to>
                                    </p:animClr>
                                    <p:set>
                                      <p:cBhvr>
                                        <p:cTn id="45" dur="50" fill="hold"/>
                                        <p:tgtEl>
                                          <p:spTgt spid="729150"/>
                                        </p:tgtEl>
                                        <p:attrNameLst>
                                          <p:attrName>fill.type</p:attrName>
                                        </p:attrNameLst>
                                      </p:cBhvr>
                                      <p:to>
                                        <p:strVal val="solid"/>
                                      </p:to>
                                    </p:set>
                                    <p:set>
                                      <p:cBhvr>
                                        <p:cTn id="46" dur="50" fill="hold"/>
                                        <p:tgtEl>
                                          <p:spTgt spid="729150"/>
                                        </p:tgtEl>
                                        <p:attrNameLst>
                                          <p:attrName>fill.on</p:attrName>
                                        </p:attrNameLst>
                                      </p:cBhvr>
                                      <p:to>
                                        <p:strVal val="true"/>
                                      </p:to>
                                    </p:set>
                                    <p:animRot by="120000">
                                      <p:cBhvr>
                                        <p:cTn id="47" dur="50" fill="hold">
                                          <p:stCondLst>
                                            <p:cond delay="0"/>
                                          </p:stCondLst>
                                        </p:cTn>
                                        <p:tgtEl>
                                          <p:spTgt spid="729150"/>
                                        </p:tgtEl>
                                        <p:attrNameLst>
                                          <p:attrName>r</p:attrName>
                                        </p:attrNameLst>
                                      </p:cBhvr>
                                    </p:animRot>
                                    <p:animRot by="-240000">
                                      <p:cBhvr>
                                        <p:cTn id="48" dur="100" fill="hold">
                                          <p:stCondLst>
                                            <p:cond delay="100"/>
                                          </p:stCondLst>
                                        </p:cTn>
                                        <p:tgtEl>
                                          <p:spTgt spid="729150"/>
                                        </p:tgtEl>
                                        <p:attrNameLst>
                                          <p:attrName>r</p:attrName>
                                        </p:attrNameLst>
                                      </p:cBhvr>
                                    </p:animRot>
                                    <p:animRot by="240000">
                                      <p:cBhvr>
                                        <p:cTn id="49" dur="100" fill="hold">
                                          <p:stCondLst>
                                            <p:cond delay="200"/>
                                          </p:stCondLst>
                                        </p:cTn>
                                        <p:tgtEl>
                                          <p:spTgt spid="729150"/>
                                        </p:tgtEl>
                                        <p:attrNameLst>
                                          <p:attrName>r</p:attrName>
                                        </p:attrNameLst>
                                      </p:cBhvr>
                                    </p:animRot>
                                    <p:animRot by="-240000">
                                      <p:cBhvr>
                                        <p:cTn id="50" dur="100" fill="hold">
                                          <p:stCondLst>
                                            <p:cond delay="300"/>
                                          </p:stCondLst>
                                        </p:cTn>
                                        <p:tgtEl>
                                          <p:spTgt spid="729150"/>
                                        </p:tgtEl>
                                        <p:attrNameLst>
                                          <p:attrName>r</p:attrName>
                                        </p:attrNameLst>
                                      </p:cBhvr>
                                    </p:animRot>
                                    <p:animRot by="120000">
                                      <p:cBhvr>
                                        <p:cTn id="51" dur="100" fill="hold">
                                          <p:stCondLst>
                                            <p:cond delay="400"/>
                                          </p:stCondLst>
                                        </p:cTn>
                                        <p:tgtEl>
                                          <p:spTgt spid="729150"/>
                                        </p:tgtEl>
                                        <p:attrNameLst>
                                          <p:attrName>r</p:attrName>
                                        </p:attrNameLst>
                                      </p:cBhvr>
                                    </p:animRot>
                                  </p:childTnLst>
                                </p:cTn>
                              </p:par>
                            </p:childTnLst>
                          </p:cTn>
                        </p:par>
                        <p:par>
                          <p:cTn id="52" fill="hold">
                            <p:stCondLst>
                              <p:cond delay="7500"/>
                            </p:stCondLst>
                            <p:childTnLst>
                              <p:par>
                                <p:cTn id="53" presetID="12" presetClass="entr" presetSubtype="2" fill="hold" nodeType="afterEffect">
                                  <p:stCondLst>
                                    <p:cond delay="0"/>
                                  </p:stCondLst>
                                  <p:childTnLst>
                                    <p:set>
                                      <p:cBhvr>
                                        <p:cTn id="54" dur="1" fill="hold">
                                          <p:stCondLst>
                                            <p:cond delay="0"/>
                                          </p:stCondLst>
                                        </p:cTn>
                                        <p:tgtEl>
                                          <p:spTgt spid="729143"/>
                                        </p:tgtEl>
                                        <p:attrNameLst>
                                          <p:attrName>style.visibility</p:attrName>
                                        </p:attrNameLst>
                                      </p:cBhvr>
                                      <p:to>
                                        <p:strVal val="visible"/>
                                      </p:to>
                                    </p:set>
                                    <p:animEffect transition="in" filter="slide(fromRight)">
                                      <p:cBhvr>
                                        <p:cTn id="55" dur="500"/>
                                        <p:tgtEl>
                                          <p:spTgt spid="729143"/>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2" fill="hold" grpId="0" nodeType="clickEffect">
                                  <p:stCondLst>
                                    <p:cond delay="0"/>
                                  </p:stCondLst>
                                  <p:childTnLst>
                                    <p:set>
                                      <p:cBhvr>
                                        <p:cTn id="59" dur="1" fill="hold">
                                          <p:stCondLst>
                                            <p:cond delay="0"/>
                                          </p:stCondLst>
                                        </p:cTn>
                                        <p:tgtEl>
                                          <p:spTgt spid="729116"/>
                                        </p:tgtEl>
                                        <p:attrNameLst>
                                          <p:attrName>style.visibility</p:attrName>
                                        </p:attrNameLst>
                                      </p:cBhvr>
                                      <p:to>
                                        <p:strVal val="visible"/>
                                      </p:to>
                                    </p:set>
                                    <p:anim calcmode="lin" valueType="num">
                                      <p:cBhvr additive="base">
                                        <p:cTn id="60" dur="500" fill="hold"/>
                                        <p:tgtEl>
                                          <p:spTgt spid="729116"/>
                                        </p:tgtEl>
                                        <p:attrNameLst>
                                          <p:attrName>ppt_x</p:attrName>
                                        </p:attrNameLst>
                                      </p:cBhvr>
                                      <p:tavLst>
                                        <p:tav tm="0">
                                          <p:val>
                                            <p:strVal val="1+#ppt_w/2"/>
                                          </p:val>
                                        </p:tav>
                                        <p:tav tm="100000">
                                          <p:val>
                                            <p:strVal val="#ppt_x"/>
                                          </p:val>
                                        </p:tav>
                                      </p:tavLst>
                                    </p:anim>
                                    <p:anim calcmode="lin" valueType="num">
                                      <p:cBhvr additive="base">
                                        <p:cTn id="61" dur="500" fill="hold"/>
                                        <p:tgtEl>
                                          <p:spTgt spid="729116"/>
                                        </p:tgtEl>
                                        <p:attrNameLst>
                                          <p:attrName>ppt_y</p:attrName>
                                        </p:attrNameLst>
                                      </p:cBhvr>
                                      <p:tavLst>
                                        <p:tav tm="0">
                                          <p:val>
                                            <p:strVal val="#ppt_y"/>
                                          </p:val>
                                        </p:tav>
                                        <p:tav tm="100000">
                                          <p:val>
                                            <p:strVal val="#ppt_y"/>
                                          </p:val>
                                        </p:tav>
                                      </p:tavLst>
                                    </p:anim>
                                  </p:childTnLst>
                                </p:cTn>
                              </p:par>
                            </p:childTnLst>
                          </p:cTn>
                        </p:par>
                        <p:par>
                          <p:cTn id="62" fill="hold">
                            <p:stCondLst>
                              <p:cond delay="500"/>
                            </p:stCondLst>
                            <p:childTnLst>
                              <p:par>
                                <p:cTn id="63" presetID="12" presetClass="entr" presetSubtype="1" fill="hold" grpId="1" nodeType="afterEffect">
                                  <p:stCondLst>
                                    <p:cond delay="0"/>
                                  </p:stCondLst>
                                  <p:childTnLst>
                                    <p:set>
                                      <p:cBhvr>
                                        <p:cTn id="64" dur="1" fill="hold">
                                          <p:stCondLst>
                                            <p:cond delay="0"/>
                                          </p:stCondLst>
                                        </p:cTn>
                                        <p:tgtEl>
                                          <p:spTgt spid="729122"/>
                                        </p:tgtEl>
                                        <p:attrNameLst>
                                          <p:attrName>style.visibility</p:attrName>
                                        </p:attrNameLst>
                                      </p:cBhvr>
                                      <p:to>
                                        <p:strVal val="visible"/>
                                      </p:to>
                                    </p:set>
                                    <p:animEffect transition="in" filter="slide(fromTop)">
                                      <p:cBhvr>
                                        <p:cTn id="65" dur="500"/>
                                        <p:tgtEl>
                                          <p:spTgt spid="729122"/>
                                        </p:tgtEl>
                                      </p:cBhvr>
                                    </p:animEffect>
                                  </p:childTnLst>
                                </p:cTn>
                              </p:par>
                            </p:childTnLst>
                          </p:cTn>
                        </p:par>
                        <p:par>
                          <p:cTn id="66" fill="hold">
                            <p:stCondLst>
                              <p:cond delay="1000"/>
                            </p:stCondLst>
                            <p:childTnLst>
                              <p:par>
                                <p:cTn id="67" presetID="1" presetClass="exit" presetSubtype="0" fill="hold" grpId="1" nodeType="afterEffect">
                                  <p:stCondLst>
                                    <p:cond delay="0"/>
                                  </p:stCondLst>
                                  <p:childTnLst>
                                    <p:set>
                                      <p:cBhvr>
                                        <p:cTn id="68" dur="1" fill="hold">
                                          <p:stCondLst>
                                            <p:cond delay="0"/>
                                          </p:stCondLst>
                                        </p:cTn>
                                        <p:tgtEl>
                                          <p:spTgt spid="729153"/>
                                        </p:tgtEl>
                                        <p:attrNameLst>
                                          <p:attrName>style.visibility</p:attrName>
                                        </p:attrNameLst>
                                      </p:cBhvr>
                                      <p:to>
                                        <p:strVal val="hidden"/>
                                      </p:to>
                                    </p:set>
                                  </p:childTnLst>
                                </p:cTn>
                              </p:par>
                            </p:childTnLst>
                          </p:cTn>
                        </p:par>
                        <p:par>
                          <p:cTn id="69" fill="hold">
                            <p:stCondLst>
                              <p:cond delay="1000"/>
                            </p:stCondLst>
                            <p:childTnLst>
                              <p:par>
                                <p:cTn id="70" presetID="12" presetClass="entr" presetSubtype="8" fill="remove" grpId="0" nodeType="afterEffect">
                                  <p:stCondLst>
                                    <p:cond delay="0"/>
                                  </p:stCondLst>
                                  <p:childTnLst>
                                    <p:set>
                                      <p:cBhvr>
                                        <p:cTn id="71" dur="1" fill="hold">
                                          <p:stCondLst>
                                            <p:cond delay="0"/>
                                          </p:stCondLst>
                                        </p:cTn>
                                        <p:tgtEl>
                                          <p:spTgt spid="729149"/>
                                        </p:tgtEl>
                                        <p:attrNameLst>
                                          <p:attrName>style.visibility</p:attrName>
                                        </p:attrNameLst>
                                      </p:cBhvr>
                                      <p:to>
                                        <p:strVal val="visible"/>
                                      </p:to>
                                    </p:set>
                                    <p:animEffect transition="in" filter="slide(fromLeft)">
                                      <p:cBhvr>
                                        <p:cTn id="72" dur="500"/>
                                        <p:tgtEl>
                                          <p:spTgt spid="729149"/>
                                        </p:tgtEl>
                                      </p:cBhvr>
                                    </p:animEffect>
                                  </p:childTnLst>
                                </p:cTn>
                              </p:par>
                            </p:childTnLst>
                          </p:cTn>
                        </p:par>
                        <p:par>
                          <p:cTn id="73" fill="hold">
                            <p:stCondLst>
                              <p:cond delay="1500"/>
                            </p:stCondLst>
                            <p:childTnLst>
                              <p:par>
                                <p:cTn id="74" presetID="48" presetClass="exit" presetSubtype="0" decel="50000" fill="hold" grpId="0" nodeType="afterEffect">
                                  <p:stCondLst>
                                    <p:cond delay="0"/>
                                  </p:stCondLst>
                                  <p:childTnLst>
                                    <p:anim calcmode="lin" valueType="num">
                                      <p:cBhvr>
                                        <p:cTn id="75" dur="2000"/>
                                        <p:tgtEl>
                                          <p:spTgt spid="729090"/>
                                        </p:tgtEl>
                                        <p:attrNameLst>
                                          <p:attrName>style.rotation</p:attrName>
                                        </p:attrNameLst>
                                      </p:cBhvr>
                                      <p:tavLst>
                                        <p:tav tm="0">
                                          <p:val>
                                            <p:fltVal val="0"/>
                                          </p:val>
                                        </p:tav>
                                        <p:tav tm="20000">
                                          <p:val>
                                            <p:fltVal val="90"/>
                                          </p:val>
                                        </p:tav>
                                        <p:tav tm="20000">
                                          <p:val>
                                            <p:fltVal val="90"/>
                                          </p:val>
                                        </p:tav>
                                        <p:tav tm="100000">
                                          <p:val>
                                            <p:fltVal val="90"/>
                                          </p:val>
                                        </p:tav>
                                      </p:tavLst>
                                    </p:anim>
                                    <p:anim calcmode="lin" valueType="num">
                                      <p:cBhvr>
                                        <p:cTn id="76" dur="2000"/>
                                        <p:tgtEl>
                                          <p:spTgt spid="729090"/>
                                        </p:tgtEl>
                                        <p:attrNameLst>
                                          <p:attrName>ppt_x</p:attrName>
                                        </p:attrNameLst>
                                      </p:cBhvr>
                                      <p:tavLst>
                                        <p:tav tm="0">
                                          <p:val>
                                            <p:strVal val="ppt_x"/>
                                          </p:val>
                                        </p:tav>
                                        <p:tav tm="50000">
                                          <p:val>
                                            <p:fltVal val="0.95"/>
                                          </p:val>
                                        </p:tav>
                                        <p:tav tm="100000">
                                          <p:val>
                                            <p:fltVal val="-1"/>
                                          </p:val>
                                        </p:tav>
                                      </p:tavLst>
                                    </p:anim>
                                    <p:anim calcmode="lin" valueType="num">
                                      <p:cBhvr>
                                        <p:cTn id="77" dur="2000"/>
                                        <p:tgtEl>
                                          <p:spTgt spid="729090"/>
                                        </p:tgtEl>
                                        <p:attrNameLst>
                                          <p:attrName>ppt_y</p:attrName>
                                        </p:attrNameLst>
                                      </p:cBhvr>
                                      <p:tavLst>
                                        <p:tav tm="0">
                                          <p:val>
                                            <p:strVal val="ppt_y"/>
                                          </p:val>
                                        </p:tav>
                                        <p:tav tm="100000">
                                          <p:val>
                                            <p:strVal val="ppt_y"/>
                                          </p:val>
                                        </p:tav>
                                      </p:tavLst>
                                    </p:anim>
                                    <p:animEffect transition="out" filter="fade">
                                      <p:cBhvr>
                                        <p:cTn id="78" dur="2000"/>
                                        <p:tgtEl>
                                          <p:spTgt spid="729090"/>
                                        </p:tgtEl>
                                      </p:cBhvr>
                                    </p:animEffect>
                                    <p:set>
                                      <p:cBhvr>
                                        <p:cTn id="79" dur="1" fill="hold">
                                          <p:stCondLst>
                                            <p:cond delay="1999"/>
                                          </p:stCondLst>
                                        </p:cTn>
                                        <p:tgtEl>
                                          <p:spTgt spid="729090"/>
                                        </p:tgtEl>
                                        <p:attrNameLst>
                                          <p:attrName>style.visibility</p:attrName>
                                        </p:attrNameLst>
                                      </p:cBhvr>
                                      <p:to>
                                        <p:strVal val="hidden"/>
                                      </p:to>
                                    </p:set>
                                  </p:childTnLst>
                                </p:cTn>
                              </p:par>
                            </p:childTnLst>
                          </p:cTn>
                        </p:par>
                        <p:par>
                          <p:cTn id="80" fill="hold">
                            <p:stCondLst>
                              <p:cond delay="3500"/>
                            </p:stCondLst>
                            <p:childTnLst>
                              <p:par>
                                <p:cTn id="81" presetID="12" presetClass="entr" presetSubtype="2" fill="hold" nodeType="afterEffect">
                                  <p:stCondLst>
                                    <p:cond delay="0"/>
                                  </p:stCondLst>
                                  <p:childTnLst>
                                    <p:set>
                                      <p:cBhvr>
                                        <p:cTn id="82" dur="1" fill="hold">
                                          <p:stCondLst>
                                            <p:cond delay="0"/>
                                          </p:stCondLst>
                                        </p:cTn>
                                        <p:tgtEl>
                                          <p:spTgt spid="729146"/>
                                        </p:tgtEl>
                                        <p:attrNameLst>
                                          <p:attrName>style.visibility</p:attrName>
                                        </p:attrNameLst>
                                      </p:cBhvr>
                                      <p:to>
                                        <p:strVal val="visible"/>
                                      </p:to>
                                    </p:set>
                                    <p:animEffect transition="in" filter="slide(fromRight)">
                                      <p:cBhvr>
                                        <p:cTn id="83" dur="500"/>
                                        <p:tgtEl>
                                          <p:spTgt spid="729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9090" grpId="0" animBg="1"/>
      <p:bldP spid="729091" grpId="0" animBg="1"/>
      <p:bldP spid="729092" grpId="0" autoUpdateAnimBg="0"/>
      <p:bldP spid="729114" grpId="0"/>
      <p:bldP spid="729115" grpId="0"/>
      <p:bldP spid="729116" grpId="0"/>
      <p:bldP spid="729122" grpId="0" animBg="1"/>
      <p:bldP spid="729122" grpId="1" animBg="1"/>
      <p:bldP spid="729149" grpId="0" animBg="1"/>
      <p:bldP spid="729153" grpId="0" animBg="1"/>
      <p:bldP spid="729153" grpId="1"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0114" name="Rectangle 2"/>
          <p:cNvSpPr>
            <a:spLocks noChangeArrowheads="1"/>
          </p:cNvSpPr>
          <p:nvPr/>
        </p:nvSpPr>
        <p:spPr bwMode="auto">
          <a:xfrm>
            <a:off x="5014913" y="6021389"/>
            <a:ext cx="1079500" cy="217487"/>
          </a:xfrm>
          <a:prstGeom prst="rect">
            <a:avLst/>
          </a:prstGeom>
          <a:solidFill>
            <a:srgbClr val="CCFF99"/>
          </a:solidFill>
          <a:ln w="12700" algn="ctr">
            <a:noFill/>
            <a:miter lim="800000"/>
            <a:headEnd/>
            <a:tailEnd/>
          </a:ln>
          <a:effectLst/>
        </p:spPr>
        <p:txBody>
          <a:bodyPr wrap="none" anchor="ctr"/>
          <a:lstStyle/>
          <a:p>
            <a:endParaRPr lang="zh-CN" altLang="en-US"/>
          </a:p>
        </p:txBody>
      </p:sp>
      <p:sp>
        <p:nvSpPr>
          <p:cNvPr id="730115" name="Rectangle 3"/>
          <p:cNvSpPr>
            <a:spLocks noChangeArrowheads="1"/>
          </p:cNvSpPr>
          <p:nvPr/>
        </p:nvSpPr>
        <p:spPr bwMode="auto">
          <a:xfrm>
            <a:off x="3935413" y="5372101"/>
            <a:ext cx="1079500" cy="866775"/>
          </a:xfrm>
          <a:prstGeom prst="rect">
            <a:avLst/>
          </a:prstGeom>
          <a:solidFill>
            <a:srgbClr val="CCFF99"/>
          </a:solidFill>
          <a:ln w="12700" algn="ctr">
            <a:noFill/>
            <a:miter lim="800000"/>
            <a:headEnd/>
            <a:tailEnd/>
          </a:ln>
          <a:effectLst/>
        </p:spPr>
        <p:txBody>
          <a:bodyPr wrap="none" anchor="ctr"/>
          <a:lstStyle/>
          <a:p>
            <a:endParaRPr lang="zh-CN" altLang="en-US"/>
          </a:p>
        </p:txBody>
      </p:sp>
      <p:sp>
        <p:nvSpPr>
          <p:cNvPr id="730116" name="Text Box 4"/>
          <p:cNvSpPr txBox="1">
            <a:spLocks noChangeArrowheads="1"/>
          </p:cNvSpPr>
          <p:nvPr/>
        </p:nvSpPr>
        <p:spPr bwMode="auto">
          <a:xfrm>
            <a:off x="3863976" y="6184900"/>
            <a:ext cx="1152525" cy="336550"/>
          </a:xfrm>
          <a:prstGeom prst="rect">
            <a:avLst/>
          </a:prstGeom>
          <a:noFill/>
          <a:ln w="9525">
            <a:noFill/>
            <a:miter lim="800000"/>
            <a:headEnd/>
            <a:tailEnd/>
          </a:ln>
          <a:effectLst/>
        </p:spPr>
        <p:txBody>
          <a:bodyPr>
            <a:spAutoFit/>
          </a:bodyPr>
          <a:lstStyle/>
          <a:p>
            <a:pPr>
              <a:spcBef>
                <a:spcPct val="50000"/>
              </a:spcBef>
            </a:pPr>
            <a:r>
              <a:rPr lang="zh-CN" altLang="en-US" sz="1600">
                <a:solidFill>
                  <a:srgbClr val="0000FF"/>
                </a:solidFill>
                <a:ea typeface="华文新魏" pitchFamily="2" charset="-122"/>
              </a:rPr>
              <a:t>接收</a:t>
            </a:r>
            <a:r>
              <a:rPr lang="en-US" altLang="zh-CN" sz="1600">
                <a:solidFill>
                  <a:srgbClr val="0000FF"/>
                </a:solidFill>
                <a:ea typeface="华文新魏" pitchFamily="2" charset="-122"/>
              </a:rPr>
              <a:t>FIFO</a:t>
            </a:r>
          </a:p>
        </p:txBody>
      </p:sp>
      <p:grpSp>
        <p:nvGrpSpPr>
          <p:cNvPr id="730117" name="Group 5"/>
          <p:cNvGrpSpPr>
            <a:grpSpLocks/>
          </p:cNvGrpSpPr>
          <p:nvPr/>
        </p:nvGrpSpPr>
        <p:grpSpPr bwMode="auto">
          <a:xfrm>
            <a:off x="3935413" y="2803526"/>
            <a:ext cx="1079500" cy="3433763"/>
            <a:chOff x="1474" y="1766"/>
            <a:chExt cx="680" cy="2178"/>
          </a:xfrm>
        </p:grpSpPr>
        <p:sp>
          <p:nvSpPr>
            <p:cNvPr id="730118" name="Rectangle 6"/>
            <p:cNvSpPr>
              <a:spLocks noChangeArrowheads="1"/>
            </p:cNvSpPr>
            <p:nvPr/>
          </p:nvSpPr>
          <p:spPr bwMode="auto">
            <a:xfrm>
              <a:off x="1474" y="3808"/>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a:t>
              </a:r>
            </a:p>
          </p:txBody>
        </p:sp>
        <p:sp>
          <p:nvSpPr>
            <p:cNvPr id="730119" name="Rectangle 7"/>
            <p:cNvSpPr>
              <a:spLocks noChangeArrowheads="1"/>
            </p:cNvSpPr>
            <p:nvPr/>
          </p:nvSpPr>
          <p:spPr bwMode="auto">
            <a:xfrm>
              <a:off x="1474" y="3672"/>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2</a:t>
              </a:r>
            </a:p>
          </p:txBody>
        </p:sp>
        <p:sp>
          <p:nvSpPr>
            <p:cNvPr id="730120" name="Rectangle 8"/>
            <p:cNvSpPr>
              <a:spLocks noChangeArrowheads="1"/>
            </p:cNvSpPr>
            <p:nvPr/>
          </p:nvSpPr>
          <p:spPr bwMode="auto">
            <a:xfrm>
              <a:off x="1474" y="3535"/>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3</a:t>
              </a:r>
            </a:p>
          </p:txBody>
        </p:sp>
        <p:sp>
          <p:nvSpPr>
            <p:cNvPr id="730121" name="Rectangle 9"/>
            <p:cNvSpPr>
              <a:spLocks noChangeArrowheads="1"/>
            </p:cNvSpPr>
            <p:nvPr/>
          </p:nvSpPr>
          <p:spPr bwMode="auto">
            <a:xfrm>
              <a:off x="1474" y="3399"/>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4</a:t>
              </a:r>
            </a:p>
          </p:txBody>
        </p:sp>
        <p:sp>
          <p:nvSpPr>
            <p:cNvPr id="730122" name="Rectangle 10"/>
            <p:cNvSpPr>
              <a:spLocks noChangeArrowheads="1"/>
            </p:cNvSpPr>
            <p:nvPr/>
          </p:nvSpPr>
          <p:spPr bwMode="auto">
            <a:xfrm>
              <a:off x="1474" y="3263"/>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5</a:t>
              </a:r>
            </a:p>
          </p:txBody>
        </p:sp>
        <p:sp>
          <p:nvSpPr>
            <p:cNvPr id="730123" name="Rectangle 11"/>
            <p:cNvSpPr>
              <a:spLocks noChangeArrowheads="1"/>
            </p:cNvSpPr>
            <p:nvPr/>
          </p:nvSpPr>
          <p:spPr bwMode="auto">
            <a:xfrm>
              <a:off x="1474" y="3127"/>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6</a:t>
              </a:r>
            </a:p>
          </p:txBody>
        </p:sp>
        <p:sp>
          <p:nvSpPr>
            <p:cNvPr id="730124" name="Rectangle 12"/>
            <p:cNvSpPr>
              <a:spLocks noChangeArrowheads="1"/>
            </p:cNvSpPr>
            <p:nvPr/>
          </p:nvSpPr>
          <p:spPr bwMode="auto">
            <a:xfrm>
              <a:off x="1474" y="2991"/>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7</a:t>
              </a:r>
            </a:p>
          </p:txBody>
        </p:sp>
        <p:sp>
          <p:nvSpPr>
            <p:cNvPr id="730125" name="Rectangle 13"/>
            <p:cNvSpPr>
              <a:spLocks noChangeArrowheads="1"/>
            </p:cNvSpPr>
            <p:nvPr/>
          </p:nvSpPr>
          <p:spPr bwMode="auto">
            <a:xfrm>
              <a:off x="1474" y="2719"/>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9</a:t>
              </a:r>
            </a:p>
          </p:txBody>
        </p:sp>
        <p:sp>
          <p:nvSpPr>
            <p:cNvPr id="730126" name="Rectangle 14"/>
            <p:cNvSpPr>
              <a:spLocks noChangeArrowheads="1"/>
            </p:cNvSpPr>
            <p:nvPr/>
          </p:nvSpPr>
          <p:spPr bwMode="auto">
            <a:xfrm>
              <a:off x="1474" y="2583"/>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10</a:t>
              </a:r>
            </a:p>
          </p:txBody>
        </p:sp>
        <p:sp>
          <p:nvSpPr>
            <p:cNvPr id="730127" name="Rectangle 15"/>
            <p:cNvSpPr>
              <a:spLocks noChangeArrowheads="1"/>
            </p:cNvSpPr>
            <p:nvPr/>
          </p:nvSpPr>
          <p:spPr bwMode="auto">
            <a:xfrm>
              <a:off x="1474" y="2447"/>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11</a:t>
              </a:r>
            </a:p>
          </p:txBody>
        </p:sp>
        <p:sp>
          <p:nvSpPr>
            <p:cNvPr id="730128" name="Rectangle 16"/>
            <p:cNvSpPr>
              <a:spLocks noChangeArrowheads="1"/>
            </p:cNvSpPr>
            <p:nvPr/>
          </p:nvSpPr>
          <p:spPr bwMode="auto">
            <a:xfrm>
              <a:off x="1474" y="2311"/>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12</a:t>
              </a:r>
            </a:p>
          </p:txBody>
        </p:sp>
        <p:sp>
          <p:nvSpPr>
            <p:cNvPr id="730129" name="Rectangle 17"/>
            <p:cNvSpPr>
              <a:spLocks noChangeArrowheads="1"/>
            </p:cNvSpPr>
            <p:nvPr/>
          </p:nvSpPr>
          <p:spPr bwMode="auto">
            <a:xfrm>
              <a:off x="1474" y="2175"/>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13</a:t>
              </a:r>
            </a:p>
          </p:txBody>
        </p:sp>
        <p:sp>
          <p:nvSpPr>
            <p:cNvPr id="730130" name="Rectangle 18"/>
            <p:cNvSpPr>
              <a:spLocks noChangeArrowheads="1"/>
            </p:cNvSpPr>
            <p:nvPr/>
          </p:nvSpPr>
          <p:spPr bwMode="auto">
            <a:xfrm>
              <a:off x="1474" y="2039"/>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14</a:t>
              </a:r>
            </a:p>
          </p:txBody>
        </p:sp>
        <p:sp>
          <p:nvSpPr>
            <p:cNvPr id="730131" name="Rectangle 19"/>
            <p:cNvSpPr>
              <a:spLocks noChangeArrowheads="1"/>
            </p:cNvSpPr>
            <p:nvPr/>
          </p:nvSpPr>
          <p:spPr bwMode="auto">
            <a:xfrm>
              <a:off x="1474" y="1902"/>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15</a:t>
              </a:r>
            </a:p>
          </p:txBody>
        </p:sp>
        <p:sp>
          <p:nvSpPr>
            <p:cNvPr id="730132" name="Rectangle 20"/>
            <p:cNvSpPr>
              <a:spLocks noChangeArrowheads="1"/>
            </p:cNvSpPr>
            <p:nvPr/>
          </p:nvSpPr>
          <p:spPr bwMode="auto">
            <a:xfrm>
              <a:off x="1474" y="1766"/>
              <a:ext cx="680" cy="136"/>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16</a:t>
              </a:r>
            </a:p>
          </p:txBody>
        </p:sp>
        <p:sp>
          <p:nvSpPr>
            <p:cNvPr id="730133" name="Rectangle 21"/>
            <p:cNvSpPr>
              <a:spLocks noChangeArrowheads="1"/>
            </p:cNvSpPr>
            <p:nvPr/>
          </p:nvSpPr>
          <p:spPr bwMode="auto">
            <a:xfrm>
              <a:off x="1474" y="1766"/>
              <a:ext cx="680" cy="2178"/>
            </a:xfrm>
            <a:prstGeom prst="rect">
              <a:avLst/>
            </a:prstGeom>
            <a:noFill/>
            <a:ln w="12700" algn="ctr">
              <a:solidFill>
                <a:schemeClr val="tx1"/>
              </a:solidFill>
              <a:miter lim="800000"/>
              <a:headEnd/>
              <a:tailEnd/>
            </a:ln>
            <a:effectLst/>
          </p:spPr>
          <p:txBody>
            <a:bodyPr wrap="none" anchor="ctr"/>
            <a:lstStyle/>
            <a:p>
              <a:endParaRPr lang="zh-CN" altLang="en-US"/>
            </a:p>
          </p:txBody>
        </p:sp>
        <p:sp>
          <p:nvSpPr>
            <p:cNvPr id="730134" name="Rectangle 22"/>
            <p:cNvSpPr>
              <a:spLocks noChangeArrowheads="1"/>
            </p:cNvSpPr>
            <p:nvPr/>
          </p:nvSpPr>
          <p:spPr bwMode="auto">
            <a:xfrm>
              <a:off x="1474" y="2855"/>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8</a:t>
              </a:r>
            </a:p>
          </p:txBody>
        </p:sp>
      </p:grpSp>
      <p:sp>
        <p:nvSpPr>
          <p:cNvPr id="730135" name="AutoShape 23"/>
          <p:cNvSpPr>
            <a:spLocks noChangeArrowheads="1"/>
          </p:cNvSpPr>
          <p:nvPr/>
        </p:nvSpPr>
        <p:spPr bwMode="auto">
          <a:xfrm>
            <a:off x="2351089" y="4365625"/>
            <a:ext cx="1728787" cy="287338"/>
          </a:xfrm>
          <a:prstGeom prst="homePlate">
            <a:avLst>
              <a:gd name="adj" fmla="val 150414"/>
            </a:avLst>
          </a:prstGeom>
          <a:solidFill>
            <a:srgbClr val="FFFFCC"/>
          </a:solidFill>
          <a:ln w="12700" algn="ctr">
            <a:solidFill>
              <a:schemeClr val="tx1"/>
            </a:solidFill>
            <a:miter lim="800000"/>
            <a:headEnd/>
            <a:tailEnd/>
          </a:ln>
          <a:effectLst/>
        </p:spPr>
        <p:txBody>
          <a:bodyPr wrap="none" anchor="ctr"/>
          <a:lstStyle/>
          <a:p>
            <a:pPr algn="l"/>
            <a:r>
              <a:rPr lang="zh-CN" altLang="en-US" sz="1600">
                <a:solidFill>
                  <a:srgbClr val="0000FF"/>
                </a:solidFill>
                <a:latin typeface="华文新魏" pitchFamily="2" charset="-122"/>
                <a:ea typeface="华文新魏" pitchFamily="2" charset="-122"/>
              </a:rPr>
              <a:t>触发点设置</a:t>
            </a:r>
            <a:r>
              <a:rPr lang="en-US" altLang="zh-CN" sz="1600">
                <a:solidFill>
                  <a:srgbClr val="0000FF"/>
                </a:solidFill>
                <a:latin typeface="华文新魏" pitchFamily="2" charset="-122"/>
                <a:ea typeface="华文新魏" pitchFamily="2" charset="-122"/>
              </a:rPr>
              <a:t>=8</a:t>
            </a:r>
          </a:p>
        </p:txBody>
      </p:sp>
      <p:sp>
        <p:nvSpPr>
          <p:cNvPr id="730136" name="Rectangle 24"/>
          <p:cNvSpPr>
            <a:spLocks noChangeArrowheads="1"/>
          </p:cNvSpPr>
          <p:nvPr/>
        </p:nvSpPr>
        <p:spPr bwMode="auto">
          <a:xfrm>
            <a:off x="5014913" y="6021388"/>
            <a:ext cx="1079500" cy="214312"/>
          </a:xfrm>
          <a:prstGeom prst="rect">
            <a:avLst/>
          </a:prstGeom>
          <a:solidFill>
            <a:schemeClr val="hlink"/>
          </a:solidFill>
          <a:ln w="12700" algn="ctr">
            <a:solidFill>
              <a:schemeClr val="tx1"/>
            </a:solidFill>
            <a:miter lim="800000"/>
            <a:headEnd/>
            <a:tailEnd/>
          </a:ln>
          <a:effectLst/>
        </p:spPr>
        <p:txBody>
          <a:bodyPr wrap="none" anchor="ctr"/>
          <a:lstStyle/>
          <a:p>
            <a:r>
              <a:rPr lang="en-US" altLang="zh-CN" sz="1400">
                <a:latin typeface="Times New Roman" pitchFamily="18" charset="0"/>
              </a:rPr>
              <a:t>UnRBR</a:t>
            </a:r>
          </a:p>
        </p:txBody>
      </p:sp>
      <p:sp>
        <p:nvSpPr>
          <p:cNvPr id="730137" name="Text Box 25"/>
          <p:cNvSpPr txBox="1">
            <a:spLocks noChangeArrowheads="1"/>
          </p:cNvSpPr>
          <p:nvPr/>
        </p:nvSpPr>
        <p:spPr bwMode="auto">
          <a:xfrm>
            <a:off x="5519738" y="3068639"/>
            <a:ext cx="4392612" cy="1006475"/>
          </a:xfrm>
          <a:prstGeom prst="rect">
            <a:avLst/>
          </a:prstGeom>
          <a:noFill/>
          <a:ln w="9525">
            <a:noFill/>
            <a:miter lim="800000"/>
            <a:headEnd/>
            <a:tailEnd/>
          </a:ln>
          <a:effectLst/>
        </p:spPr>
        <p:txBody>
          <a:bodyPr>
            <a:spAutoFit/>
          </a:bodyPr>
          <a:lstStyle/>
          <a:p>
            <a:pPr algn="l">
              <a:spcBef>
                <a:spcPct val="50000"/>
              </a:spcBef>
            </a:pPr>
            <a:r>
              <a:rPr lang="zh-CN" altLang="en-US" sz="2000">
                <a:solidFill>
                  <a:srgbClr val="0000FF"/>
                </a:solidFill>
                <a:ea typeface="华文新魏" pitchFamily="2" charset="-122"/>
              </a:rPr>
              <a:t>说明</a:t>
            </a:r>
            <a:r>
              <a:rPr lang="zh-CN" altLang="en-US" sz="2000">
                <a:ea typeface="华文新魏" pitchFamily="2" charset="-122"/>
              </a:rPr>
              <a:t>：“</a:t>
            </a:r>
            <a:r>
              <a:rPr lang="en-US" altLang="zh-CN" sz="2000">
                <a:solidFill>
                  <a:srgbClr val="0000FF"/>
                </a:solidFill>
                <a:ea typeface="华文新魏" pitchFamily="2" charset="-122"/>
              </a:rPr>
              <a:t>3.5</a:t>
            </a:r>
            <a:r>
              <a:rPr lang="zh-CN" altLang="en-US" sz="2000">
                <a:solidFill>
                  <a:srgbClr val="0000FF"/>
                </a:solidFill>
                <a:ea typeface="华文新魏" pitchFamily="2" charset="-122"/>
              </a:rPr>
              <a:t>～</a:t>
            </a:r>
            <a:r>
              <a:rPr lang="en-US" altLang="zh-CN" sz="2000">
                <a:solidFill>
                  <a:srgbClr val="0000FF"/>
                </a:solidFill>
                <a:ea typeface="华文新魏" pitchFamily="2" charset="-122"/>
              </a:rPr>
              <a:t>4.5</a:t>
            </a:r>
            <a:r>
              <a:rPr lang="zh-CN" altLang="en-US" sz="2000">
                <a:solidFill>
                  <a:srgbClr val="0000FF"/>
                </a:solidFill>
                <a:ea typeface="华文新魏" pitchFamily="2" charset="-122"/>
              </a:rPr>
              <a:t>个字节的时间</a:t>
            </a:r>
            <a:r>
              <a:rPr lang="zh-CN" altLang="en-US" sz="2000">
                <a:ea typeface="华文新魏" pitchFamily="2" charset="-122"/>
              </a:rPr>
              <a:t>”，其意思是在串口当前的波特率下，发送</a:t>
            </a:r>
            <a:r>
              <a:rPr lang="en-US" altLang="zh-CN" sz="2000">
                <a:ea typeface="华文新魏" pitchFamily="2" charset="-122"/>
              </a:rPr>
              <a:t>3.5</a:t>
            </a:r>
            <a:r>
              <a:rPr lang="zh-CN" altLang="en-US" sz="2000">
                <a:ea typeface="华文新魏" pitchFamily="2" charset="-122"/>
              </a:rPr>
              <a:t>～</a:t>
            </a:r>
            <a:r>
              <a:rPr lang="en-US" altLang="zh-CN" sz="2000">
                <a:ea typeface="华文新魏" pitchFamily="2" charset="-122"/>
              </a:rPr>
              <a:t>4.5</a:t>
            </a:r>
            <a:r>
              <a:rPr lang="zh-CN" altLang="en-US" sz="2000">
                <a:ea typeface="华文新魏" pitchFamily="2" charset="-122"/>
              </a:rPr>
              <a:t>个字节所需要的时间；</a:t>
            </a:r>
          </a:p>
        </p:txBody>
      </p:sp>
      <p:sp>
        <p:nvSpPr>
          <p:cNvPr id="730138" name="Line 26"/>
          <p:cNvSpPr>
            <a:spLocks noChangeShapeType="1"/>
          </p:cNvSpPr>
          <p:nvPr/>
        </p:nvSpPr>
        <p:spPr bwMode="auto">
          <a:xfrm>
            <a:off x="5807076" y="2492375"/>
            <a:ext cx="1368425" cy="0"/>
          </a:xfrm>
          <a:prstGeom prst="line">
            <a:avLst/>
          </a:prstGeom>
          <a:noFill/>
          <a:ln w="12700">
            <a:solidFill>
              <a:schemeClr val="tx1"/>
            </a:solidFill>
            <a:round/>
            <a:headEnd/>
            <a:tailEnd/>
          </a:ln>
          <a:effectLst/>
        </p:spPr>
        <p:txBody>
          <a:bodyPr wrap="none" anchor="ctr"/>
          <a:lstStyle/>
          <a:p>
            <a:endParaRPr lang="zh-CN" altLang="en-US"/>
          </a:p>
        </p:txBody>
      </p:sp>
      <p:sp>
        <p:nvSpPr>
          <p:cNvPr id="730139" name="Rectangle 27"/>
          <p:cNvSpPr>
            <a:spLocks noChangeArrowheads="1"/>
          </p:cNvSpPr>
          <p:nvPr/>
        </p:nvSpPr>
        <p:spPr bwMode="auto">
          <a:xfrm>
            <a:off x="4725988" y="2349500"/>
            <a:ext cx="1079500" cy="287338"/>
          </a:xfrm>
          <a:prstGeom prst="rect">
            <a:avLst/>
          </a:prstGeom>
          <a:solidFill>
            <a:schemeClr val="hlink"/>
          </a:solidFill>
          <a:ln w="12700" algn="ctr">
            <a:solidFill>
              <a:schemeClr val="tx1"/>
            </a:solidFill>
            <a:miter lim="800000"/>
            <a:headEnd/>
            <a:tailEnd/>
          </a:ln>
          <a:effectLst/>
        </p:spPr>
        <p:txBody>
          <a:bodyPr wrap="none" anchor="ctr"/>
          <a:lstStyle/>
          <a:p>
            <a:r>
              <a:rPr lang="en-US" altLang="zh-CN" sz="1400">
                <a:latin typeface="Times New Roman" pitchFamily="18" charset="0"/>
              </a:rPr>
              <a:t>UnRSR</a:t>
            </a:r>
          </a:p>
        </p:txBody>
      </p:sp>
      <p:grpSp>
        <p:nvGrpSpPr>
          <p:cNvPr id="730140" name="Group 28"/>
          <p:cNvGrpSpPr>
            <a:grpSpLocks/>
          </p:cNvGrpSpPr>
          <p:nvPr/>
        </p:nvGrpSpPr>
        <p:grpSpPr bwMode="auto">
          <a:xfrm>
            <a:off x="4432300" y="2447926"/>
            <a:ext cx="280988" cy="295275"/>
            <a:chOff x="1787" y="1587"/>
            <a:chExt cx="177" cy="186"/>
          </a:xfrm>
        </p:grpSpPr>
        <p:sp>
          <p:nvSpPr>
            <p:cNvPr id="730141" name="Freeform 29"/>
            <p:cNvSpPr>
              <a:spLocks/>
            </p:cNvSpPr>
            <p:nvPr/>
          </p:nvSpPr>
          <p:spPr bwMode="auto">
            <a:xfrm>
              <a:off x="1787" y="1587"/>
              <a:ext cx="177" cy="186"/>
            </a:xfrm>
            <a:custGeom>
              <a:avLst/>
              <a:gdLst/>
              <a:ahLst/>
              <a:cxnLst>
                <a:cxn ang="0">
                  <a:pos x="177" y="1"/>
                </a:cxn>
                <a:cxn ang="0">
                  <a:pos x="68" y="13"/>
                </a:cxn>
                <a:cxn ang="0">
                  <a:pos x="19" y="81"/>
                </a:cxn>
                <a:cxn ang="0">
                  <a:pos x="7" y="171"/>
                </a:cxn>
                <a:cxn ang="0">
                  <a:pos x="61" y="173"/>
                </a:cxn>
              </a:cxnLst>
              <a:rect l="0" t="0" r="r" b="b"/>
              <a:pathLst>
                <a:path w="177" h="186">
                  <a:moveTo>
                    <a:pt x="177" y="1"/>
                  </a:moveTo>
                  <a:cubicBezTo>
                    <a:pt x="159" y="4"/>
                    <a:pt x="94" y="0"/>
                    <a:pt x="68" y="13"/>
                  </a:cubicBezTo>
                  <a:cubicBezTo>
                    <a:pt x="42" y="26"/>
                    <a:pt x="29" y="55"/>
                    <a:pt x="19" y="81"/>
                  </a:cubicBezTo>
                  <a:cubicBezTo>
                    <a:pt x="9" y="107"/>
                    <a:pt x="0" y="156"/>
                    <a:pt x="7" y="171"/>
                  </a:cubicBezTo>
                  <a:cubicBezTo>
                    <a:pt x="14" y="186"/>
                    <a:pt x="50" y="173"/>
                    <a:pt x="61" y="173"/>
                  </a:cubicBezTo>
                </a:path>
              </a:pathLst>
            </a:custGeom>
            <a:noFill/>
            <a:ln w="12700" cap="flat" cmpd="sng">
              <a:solidFill>
                <a:schemeClr val="tx1"/>
              </a:solidFill>
              <a:prstDash val="solid"/>
              <a:round/>
              <a:headEnd/>
              <a:tailEnd/>
            </a:ln>
            <a:effectLst/>
          </p:spPr>
          <p:txBody>
            <a:bodyPr wrap="none" anchor="ctr"/>
            <a:lstStyle/>
            <a:p>
              <a:endParaRPr lang="zh-CN" altLang="en-US"/>
            </a:p>
          </p:txBody>
        </p:sp>
        <p:sp>
          <p:nvSpPr>
            <p:cNvPr id="730142" name="Freeform 30"/>
            <p:cNvSpPr>
              <a:spLocks/>
            </p:cNvSpPr>
            <p:nvPr/>
          </p:nvSpPr>
          <p:spPr bwMode="auto">
            <a:xfrm>
              <a:off x="1844" y="1630"/>
              <a:ext cx="120" cy="134"/>
            </a:xfrm>
            <a:custGeom>
              <a:avLst/>
              <a:gdLst/>
              <a:ahLst/>
              <a:cxnLst>
                <a:cxn ang="0">
                  <a:pos x="120" y="2"/>
                </a:cxn>
                <a:cxn ang="0">
                  <a:pos x="20" y="22"/>
                </a:cxn>
                <a:cxn ang="0">
                  <a:pos x="0" y="134"/>
                </a:cxn>
              </a:cxnLst>
              <a:rect l="0" t="0" r="r" b="b"/>
              <a:pathLst>
                <a:path w="120" h="134">
                  <a:moveTo>
                    <a:pt x="120" y="2"/>
                  </a:moveTo>
                  <a:cubicBezTo>
                    <a:pt x="103" y="6"/>
                    <a:pt x="40" y="0"/>
                    <a:pt x="20" y="22"/>
                  </a:cubicBezTo>
                  <a:cubicBezTo>
                    <a:pt x="0" y="44"/>
                    <a:pt x="4" y="111"/>
                    <a:pt x="0" y="134"/>
                  </a:cubicBezTo>
                </a:path>
              </a:pathLst>
            </a:custGeom>
            <a:noFill/>
            <a:ln w="12700" cap="flat" cmpd="sng">
              <a:solidFill>
                <a:schemeClr val="tx1"/>
              </a:solidFill>
              <a:prstDash val="solid"/>
              <a:round/>
              <a:headEnd/>
              <a:tailEnd/>
            </a:ln>
            <a:effectLst/>
          </p:spPr>
          <p:txBody>
            <a:bodyPr wrap="none" anchor="ctr"/>
            <a:lstStyle/>
            <a:p>
              <a:endParaRPr lang="zh-CN" altLang="en-US"/>
            </a:p>
          </p:txBody>
        </p:sp>
      </p:grpSp>
      <p:sp>
        <p:nvSpPr>
          <p:cNvPr id="730143" name="Oval 31"/>
          <p:cNvSpPr>
            <a:spLocks noChangeArrowheads="1"/>
          </p:cNvSpPr>
          <p:nvPr/>
        </p:nvSpPr>
        <p:spPr bwMode="auto">
          <a:xfrm>
            <a:off x="4295776" y="2781300"/>
            <a:ext cx="360363" cy="647700"/>
          </a:xfrm>
          <a:prstGeom prst="ellipse">
            <a:avLst/>
          </a:prstGeom>
          <a:solidFill>
            <a:srgbClr val="CCFF99"/>
          </a:solidFill>
          <a:ln w="12700" algn="ctr">
            <a:solidFill>
              <a:schemeClr val="folHlink"/>
            </a:solidFill>
            <a:round/>
            <a:headEnd/>
            <a:tailEnd/>
          </a:ln>
          <a:effectLst/>
        </p:spPr>
        <p:txBody>
          <a:bodyPr vert="eaVert" wrap="none" anchor="ctr"/>
          <a:lstStyle/>
          <a:p>
            <a:r>
              <a:rPr lang="en-US" altLang="zh-CN" sz="1200">
                <a:latin typeface="Times New Roman" pitchFamily="18" charset="0"/>
              </a:rPr>
              <a:t>DATA</a:t>
            </a:r>
          </a:p>
        </p:txBody>
      </p:sp>
      <p:sp>
        <p:nvSpPr>
          <p:cNvPr id="730144" name="Text Box 32"/>
          <p:cNvSpPr txBox="1">
            <a:spLocks noChangeArrowheads="1"/>
          </p:cNvSpPr>
          <p:nvPr/>
        </p:nvSpPr>
        <p:spPr bwMode="auto">
          <a:xfrm>
            <a:off x="6238875" y="2205038"/>
            <a:ext cx="865188" cy="336550"/>
          </a:xfrm>
          <a:prstGeom prst="rect">
            <a:avLst/>
          </a:prstGeom>
          <a:noFill/>
          <a:ln w="12700" algn="ctr">
            <a:noFill/>
            <a:miter lim="800000"/>
            <a:headEnd/>
            <a:tailEnd/>
          </a:ln>
          <a:effectLst/>
        </p:spPr>
        <p:txBody>
          <a:bodyPr>
            <a:spAutoFit/>
          </a:bodyPr>
          <a:lstStyle/>
          <a:p>
            <a:pPr>
              <a:spcBef>
                <a:spcPct val="50000"/>
              </a:spcBef>
            </a:pPr>
            <a:r>
              <a:rPr lang="en-US" altLang="zh-CN" sz="1600">
                <a:latin typeface="Times New Roman" pitchFamily="18" charset="0"/>
              </a:rPr>
              <a:t>RxDn</a:t>
            </a:r>
          </a:p>
        </p:txBody>
      </p:sp>
      <p:grpSp>
        <p:nvGrpSpPr>
          <p:cNvPr id="730145" name="Group 33"/>
          <p:cNvGrpSpPr>
            <a:grpSpLocks/>
          </p:cNvGrpSpPr>
          <p:nvPr/>
        </p:nvGrpSpPr>
        <p:grpSpPr bwMode="auto">
          <a:xfrm>
            <a:off x="7175500" y="2278064"/>
            <a:ext cx="1295400" cy="287337"/>
            <a:chOff x="295" y="1888"/>
            <a:chExt cx="816" cy="181"/>
          </a:xfrm>
        </p:grpSpPr>
        <p:sp>
          <p:nvSpPr>
            <p:cNvPr id="730146" name="Line 34"/>
            <p:cNvSpPr>
              <a:spLocks noChangeShapeType="1"/>
            </p:cNvSpPr>
            <p:nvPr/>
          </p:nvSpPr>
          <p:spPr bwMode="auto">
            <a:xfrm>
              <a:off x="385"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30147" name="Line 35"/>
            <p:cNvSpPr>
              <a:spLocks noChangeShapeType="1"/>
            </p:cNvSpPr>
            <p:nvPr/>
          </p:nvSpPr>
          <p:spPr bwMode="auto">
            <a:xfrm>
              <a:off x="385" y="1888"/>
              <a:ext cx="91" cy="0"/>
            </a:xfrm>
            <a:prstGeom prst="line">
              <a:avLst/>
            </a:prstGeom>
            <a:noFill/>
            <a:ln w="12700">
              <a:solidFill>
                <a:srgbClr val="FF0000"/>
              </a:solidFill>
              <a:round/>
              <a:headEnd/>
              <a:tailEnd/>
            </a:ln>
            <a:effectLst/>
          </p:spPr>
          <p:txBody>
            <a:bodyPr wrap="none" anchor="ctr"/>
            <a:lstStyle/>
            <a:p>
              <a:endParaRPr lang="zh-CN" altLang="en-US"/>
            </a:p>
          </p:txBody>
        </p:sp>
        <p:sp>
          <p:nvSpPr>
            <p:cNvPr id="730148" name="Line 36"/>
            <p:cNvSpPr>
              <a:spLocks noChangeShapeType="1"/>
            </p:cNvSpPr>
            <p:nvPr/>
          </p:nvSpPr>
          <p:spPr bwMode="auto">
            <a:xfrm>
              <a:off x="476"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30149" name="Line 37"/>
            <p:cNvSpPr>
              <a:spLocks noChangeShapeType="1"/>
            </p:cNvSpPr>
            <p:nvPr/>
          </p:nvSpPr>
          <p:spPr bwMode="auto">
            <a:xfrm>
              <a:off x="476" y="2069"/>
              <a:ext cx="181" cy="0"/>
            </a:xfrm>
            <a:prstGeom prst="line">
              <a:avLst/>
            </a:prstGeom>
            <a:noFill/>
            <a:ln w="12700">
              <a:solidFill>
                <a:srgbClr val="FF0000"/>
              </a:solidFill>
              <a:round/>
              <a:headEnd/>
              <a:tailEnd/>
            </a:ln>
            <a:effectLst/>
          </p:spPr>
          <p:txBody>
            <a:bodyPr wrap="none" anchor="ctr"/>
            <a:lstStyle/>
            <a:p>
              <a:endParaRPr lang="zh-CN" altLang="en-US"/>
            </a:p>
          </p:txBody>
        </p:sp>
        <p:sp>
          <p:nvSpPr>
            <p:cNvPr id="730150" name="Line 38"/>
            <p:cNvSpPr>
              <a:spLocks noChangeShapeType="1"/>
            </p:cNvSpPr>
            <p:nvPr/>
          </p:nvSpPr>
          <p:spPr bwMode="auto">
            <a:xfrm flipV="1">
              <a:off x="657"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30151" name="Line 39"/>
            <p:cNvSpPr>
              <a:spLocks noChangeShapeType="1"/>
            </p:cNvSpPr>
            <p:nvPr/>
          </p:nvSpPr>
          <p:spPr bwMode="auto">
            <a:xfrm>
              <a:off x="657" y="1888"/>
              <a:ext cx="91" cy="0"/>
            </a:xfrm>
            <a:prstGeom prst="line">
              <a:avLst/>
            </a:prstGeom>
            <a:noFill/>
            <a:ln w="12700">
              <a:solidFill>
                <a:srgbClr val="FF0000"/>
              </a:solidFill>
              <a:round/>
              <a:headEnd/>
              <a:tailEnd/>
            </a:ln>
            <a:effectLst/>
          </p:spPr>
          <p:txBody>
            <a:bodyPr wrap="none" anchor="ctr"/>
            <a:lstStyle/>
            <a:p>
              <a:endParaRPr lang="zh-CN" altLang="en-US"/>
            </a:p>
          </p:txBody>
        </p:sp>
        <p:sp>
          <p:nvSpPr>
            <p:cNvPr id="730152" name="Line 40"/>
            <p:cNvSpPr>
              <a:spLocks noChangeShapeType="1"/>
            </p:cNvSpPr>
            <p:nvPr/>
          </p:nvSpPr>
          <p:spPr bwMode="auto">
            <a:xfrm>
              <a:off x="748"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30153" name="Line 41"/>
            <p:cNvSpPr>
              <a:spLocks noChangeShapeType="1"/>
            </p:cNvSpPr>
            <p:nvPr/>
          </p:nvSpPr>
          <p:spPr bwMode="auto">
            <a:xfrm>
              <a:off x="748" y="2069"/>
              <a:ext cx="91" cy="0"/>
            </a:xfrm>
            <a:prstGeom prst="line">
              <a:avLst/>
            </a:prstGeom>
            <a:noFill/>
            <a:ln w="12700">
              <a:solidFill>
                <a:srgbClr val="FF0000"/>
              </a:solidFill>
              <a:round/>
              <a:headEnd/>
              <a:tailEnd/>
            </a:ln>
            <a:effectLst/>
          </p:spPr>
          <p:txBody>
            <a:bodyPr wrap="none" anchor="ctr"/>
            <a:lstStyle/>
            <a:p>
              <a:endParaRPr lang="zh-CN" altLang="en-US"/>
            </a:p>
          </p:txBody>
        </p:sp>
        <p:sp>
          <p:nvSpPr>
            <p:cNvPr id="730154" name="Line 42"/>
            <p:cNvSpPr>
              <a:spLocks noChangeShapeType="1"/>
            </p:cNvSpPr>
            <p:nvPr/>
          </p:nvSpPr>
          <p:spPr bwMode="auto">
            <a:xfrm flipV="1">
              <a:off x="839"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30155" name="Line 43"/>
            <p:cNvSpPr>
              <a:spLocks noChangeShapeType="1"/>
            </p:cNvSpPr>
            <p:nvPr/>
          </p:nvSpPr>
          <p:spPr bwMode="auto">
            <a:xfrm>
              <a:off x="839" y="1888"/>
              <a:ext cx="181" cy="0"/>
            </a:xfrm>
            <a:prstGeom prst="line">
              <a:avLst/>
            </a:prstGeom>
            <a:noFill/>
            <a:ln w="12700">
              <a:solidFill>
                <a:srgbClr val="FF0000"/>
              </a:solidFill>
              <a:round/>
              <a:headEnd/>
              <a:tailEnd/>
            </a:ln>
            <a:effectLst/>
          </p:spPr>
          <p:txBody>
            <a:bodyPr wrap="none" anchor="ctr"/>
            <a:lstStyle/>
            <a:p>
              <a:endParaRPr lang="zh-CN" altLang="en-US"/>
            </a:p>
          </p:txBody>
        </p:sp>
        <p:sp>
          <p:nvSpPr>
            <p:cNvPr id="730156" name="Line 44"/>
            <p:cNvSpPr>
              <a:spLocks noChangeShapeType="1"/>
            </p:cNvSpPr>
            <p:nvPr/>
          </p:nvSpPr>
          <p:spPr bwMode="auto">
            <a:xfrm>
              <a:off x="1020"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30157" name="Line 45"/>
            <p:cNvSpPr>
              <a:spLocks noChangeShapeType="1"/>
            </p:cNvSpPr>
            <p:nvPr/>
          </p:nvSpPr>
          <p:spPr bwMode="auto">
            <a:xfrm>
              <a:off x="295" y="2069"/>
              <a:ext cx="90" cy="0"/>
            </a:xfrm>
            <a:prstGeom prst="line">
              <a:avLst/>
            </a:prstGeom>
            <a:noFill/>
            <a:ln w="12700">
              <a:solidFill>
                <a:srgbClr val="FF0000"/>
              </a:solidFill>
              <a:round/>
              <a:headEnd/>
              <a:tailEnd/>
            </a:ln>
            <a:effectLst/>
          </p:spPr>
          <p:txBody>
            <a:bodyPr wrap="none" anchor="ctr"/>
            <a:lstStyle/>
            <a:p>
              <a:endParaRPr lang="zh-CN" altLang="en-US"/>
            </a:p>
          </p:txBody>
        </p:sp>
        <p:sp>
          <p:nvSpPr>
            <p:cNvPr id="730158" name="Line 46"/>
            <p:cNvSpPr>
              <a:spLocks noChangeShapeType="1"/>
            </p:cNvSpPr>
            <p:nvPr/>
          </p:nvSpPr>
          <p:spPr bwMode="auto">
            <a:xfrm>
              <a:off x="1020" y="2069"/>
              <a:ext cx="91" cy="0"/>
            </a:xfrm>
            <a:prstGeom prst="line">
              <a:avLst/>
            </a:prstGeom>
            <a:noFill/>
            <a:ln w="12700">
              <a:solidFill>
                <a:srgbClr val="FF0000"/>
              </a:solidFill>
              <a:round/>
              <a:headEnd/>
              <a:tailEnd/>
            </a:ln>
            <a:effectLst/>
          </p:spPr>
          <p:txBody>
            <a:bodyPr wrap="none" anchor="ctr"/>
            <a:lstStyle/>
            <a:p>
              <a:endParaRPr lang="zh-CN" altLang="en-US"/>
            </a:p>
          </p:txBody>
        </p:sp>
      </p:grpSp>
      <p:grpSp>
        <p:nvGrpSpPr>
          <p:cNvPr id="730159" name="Group 47"/>
          <p:cNvGrpSpPr>
            <a:grpSpLocks/>
          </p:cNvGrpSpPr>
          <p:nvPr/>
        </p:nvGrpSpPr>
        <p:grpSpPr bwMode="auto">
          <a:xfrm>
            <a:off x="2206625" y="3286126"/>
            <a:ext cx="1512888" cy="574675"/>
            <a:chOff x="385" y="2115"/>
            <a:chExt cx="953" cy="362"/>
          </a:xfrm>
        </p:grpSpPr>
        <p:sp>
          <p:nvSpPr>
            <p:cNvPr id="730160" name="Rectangle 48"/>
            <p:cNvSpPr>
              <a:spLocks noChangeArrowheads="1"/>
            </p:cNvSpPr>
            <p:nvPr/>
          </p:nvSpPr>
          <p:spPr bwMode="auto">
            <a:xfrm>
              <a:off x="385" y="2296"/>
              <a:ext cx="590" cy="181"/>
            </a:xfrm>
            <a:prstGeom prst="rect">
              <a:avLst/>
            </a:prstGeom>
            <a:solidFill>
              <a:schemeClr val="hlink"/>
            </a:solidFill>
            <a:ln w="12700" algn="ctr">
              <a:solidFill>
                <a:schemeClr val="tx1"/>
              </a:solidFill>
              <a:miter lim="800000"/>
              <a:headEnd/>
              <a:tailEnd/>
            </a:ln>
            <a:effectLst/>
          </p:spPr>
          <p:txBody>
            <a:bodyPr wrap="none" anchor="ctr"/>
            <a:lstStyle/>
            <a:p>
              <a:r>
                <a:rPr lang="en-US" altLang="zh-CN" sz="1400">
                  <a:latin typeface="Times New Roman" pitchFamily="18" charset="0"/>
                </a:rPr>
                <a:t>UnIIR[3:1]</a:t>
              </a:r>
            </a:p>
          </p:txBody>
        </p:sp>
        <p:sp>
          <p:nvSpPr>
            <p:cNvPr id="730161" name="Rectangle 49"/>
            <p:cNvSpPr>
              <a:spLocks noChangeArrowheads="1"/>
            </p:cNvSpPr>
            <p:nvPr/>
          </p:nvSpPr>
          <p:spPr bwMode="auto">
            <a:xfrm>
              <a:off x="975" y="2296"/>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latin typeface="Times New Roman" pitchFamily="18" charset="0"/>
                </a:rPr>
                <a:t>xxx</a:t>
              </a:r>
            </a:p>
          </p:txBody>
        </p:sp>
        <p:sp>
          <p:nvSpPr>
            <p:cNvPr id="730162" name="Rectangle 50"/>
            <p:cNvSpPr>
              <a:spLocks noChangeArrowheads="1"/>
            </p:cNvSpPr>
            <p:nvPr/>
          </p:nvSpPr>
          <p:spPr bwMode="auto">
            <a:xfrm>
              <a:off x="385" y="2115"/>
              <a:ext cx="590" cy="181"/>
            </a:xfrm>
            <a:prstGeom prst="rect">
              <a:avLst/>
            </a:prstGeom>
            <a:solidFill>
              <a:schemeClr val="hlink"/>
            </a:solidFill>
            <a:ln w="12700" algn="ctr">
              <a:solidFill>
                <a:schemeClr val="tx1"/>
              </a:solidFill>
              <a:miter lim="800000"/>
              <a:headEnd/>
              <a:tailEnd/>
            </a:ln>
            <a:effectLst/>
          </p:spPr>
          <p:txBody>
            <a:bodyPr wrap="none" anchor="ctr"/>
            <a:lstStyle/>
            <a:p>
              <a:r>
                <a:rPr lang="en-US" altLang="zh-CN" sz="1400">
                  <a:latin typeface="Times New Roman" pitchFamily="18" charset="0"/>
                </a:rPr>
                <a:t>UnIIR[0]</a:t>
              </a:r>
            </a:p>
          </p:txBody>
        </p:sp>
        <p:sp>
          <p:nvSpPr>
            <p:cNvPr id="730163" name="Rectangle 51"/>
            <p:cNvSpPr>
              <a:spLocks noChangeArrowheads="1"/>
            </p:cNvSpPr>
            <p:nvPr/>
          </p:nvSpPr>
          <p:spPr bwMode="auto">
            <a:xfrm>
              <a:off x="975" y="2115"/>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latin typeface="Times New Roman" pitchFamily="18" charset="0"/>
                </a:rPr>
                <a:t>1</a:t>
              </a:r>
            </a:p>
          </p:txBody>
        </p:sp>
      </p:grpSp>
      <p:grpSp>
        <p:nvGrpSpPr>
          <p:cNvPr id="730164" name="Group 52"/>
          <p:cNvGrpSpPr>
            <a:grpSpLocks/>
          </p:cNvGrpSpPr>
          <p:nvPr/>
        </p:nvGrpSpPr>
        <p:grpSpPr bwMode="auto">
          <a:xfrm>
            <a:off x="3143251" y="3284539"/>
            <a:ext cx="576263" cy="574675"/>
            <a:chOff x="839" y="2387"/>
            <a:chExt cx="363" cy="362"/>
          </a:xfrm>
        </p:grpSpPr>
        <p:sp>
          <p:nvSpPr>
            <p:cNvPr id="730165" name="Rectangle 53"/>
            <p:cNvSpPr>
              <a:spLocks noChangeArrowheads="1"/>
            </p:cNvSpPr>
            <p:nvPr/>
          </p:nvSpPr>
          <p:spPr bwMode="auto">
            <a:xfrm>
              <a:off x="839" y="2568"/>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solidFill>
                    <a:srgbClr val="FF0000"/>
                  </a:solidFill>
                  <a:latin typeface="Times New Roman" pitchFamily="18" charset="0"/>
                </a:rPr>
                <a:t>110</a:t>
              </a:r>
            </a:p>
          </p:txBody>
        </p:sp>
        <p:sp>
          <p:nvSpPr>
            <p:cNvPr id="730166" name="Rectangle 54"/>
            <p:cNvSpPr>
              <a:spLocks noChangeArrowheads="1"/>
            </p:cNvSpPr>
            <p:nvPr/>
          </p:nvSpPr>
          <p:spPr bwMode="auto">
            <a:xfrm>
              <a:off x="839" y="2387"/>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solidFill>
                    <a:srgbClr val="FF0000"/>
                  </a:solidFill>
                  <a:latin typeface="Times New Roman" pitchFamily="18" charset="0"/>
                </a:rPr>
                <a:t>0</a:t>
              </a:r>
            </a:p>
          </p:txBody>
        </p:sp>
      </p:grpSp>
      <p:grpSp>
        <p:nvGrpSpPr>
          <p:cNvPr id="730167" name="Group 55"/>
          <p:cNvGrpSpPr>
            <a:grpSpLocks/>
          </p:cNvGrpSpPr>
          <p:nvPr/>
        </p:nvGrpSpPr>
        <p:grpSpPr bwMode="auto">
          <a:xfrm>
            <a:off x="3143251" y="3284539"/>
            <a:ext cx="576263" cy="574675"/>
            <a:chOff x="839" y="2387"/>
            <a:chExt cx="363" cy="362"/>
          </a:xfrm>
        </p:grpSpPr>
        <p:sp>
          <p:nvSpPr>
            <p:cNvPr id="730168" name="Rectangle 56"/>
            <p:cNvSpPr>
              <a:spLocks noChangeArrowheads="1"/>
            </p:cNvSpPr>
            <p:nvPr/>
          </p:nvSpPr>
          <p:spPr bwMode="auto">
            <a:xfrm>
              <a:off x="839" y="2568"/>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solidFill>
                    <a:srgbClr val="FF0000"/>
                  </a:solidFill>
                  <a:latin typeface="Times New Roman" pitchFamily="18" charset="0"/>
                </a:rPr>
                <a:t>xxx</a:t>
              </a:r>
            </a:p>
          </p:txBody>
        </p:sp>
        <p:sp>
          <p:nvSpPr>
            <p:cNvPr id="730169" name="Rectangle 57"/>
            <p:cNvSpPr>
              <a:spLocks noChangeArrowheads="1"/>
            </p:cNvSpPr>
            <p:nvPr/>
          </p:nvSpPr>
          <p:spPr bwMode="auto">
            <a:xfrm>
              <a:off x="839" y="2387"/>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solidFill>
                    <a:srgbClr val="FF0000"/>
                  </a:solidFill>
                  <a:latin typeface="Times New Roman" pitchFamily="18" charset="0"/>
                </a:rPr>
                <a:t>1</a:t>
              </a:r>
            </a:p>
          </p:txBody>
        </p:sp>
      </p:grpSp>
      <p:grpSp>
        <p:nvGrpSpPr>
          <p:cNvPr id="730170" name="Group 58"/>
          <p:cNvGrpSpPr>
            <a:grpSpLocks/>
          </p:cNvGrpSpPr>
          <p:nvPr/>
        </p:nvGrpSpPr>
        <p:grpSpPr bwMode="auto">
          <a:xfrm>
            <a:off x="2279651" y="4867275"/>
            <a:ext cx="1014413" cy="1296988"/>
            <a:chOff x="340" y="3339"/>
            <a:chExt cx="639" cy="817"/>
          </a:xfrm>
        </p:grpSpPr>
        <p:pic>
          <p:nvPicPr>
            <p:cNvPr id="730171" name="Picture 59" descr="j0234131"/>
            <p:cNvPicPr>
              <a:picLocks noChangeAspect="1" noChangeArrowheads="1"/>
            </p:cNvPicPr>
            <p:nvPr/>
          </p:nvPicPr>
          <p:blipFill>
            <a:blip r:embed="rId2" cstate="print"/>
            <a:srcRect/>
            <a:stretch>
              <a:fillRect/>
            </a:stretch>
          </p:blipFill>
          <p:spPr bwMode="auto">
            <a:xfrm>
              <a:off x="340" y="3339"/>
              <a:ext cx="639" cy="680"/>
            </a:xfrm>
            <a:prstGeom prst="rect">
              <a:avLst/>
            </a:prstGeom>
            <a:noFill/>
          </p:spPr>
        </p:pic>
        <p:sp>
          <p:nvSpPr>
            <p:cNvPr id="730172" name="Rectangle 60"/>
            <p:cNvSpPr>
              <a:spLocks noChangeArrowheads="1"/>
            </p:cNvSpPr>
            <p:nvPr/>
          </p:nvSpPr>
          <p:spPr bwMode="auto">
            <a:xfrm>
              <a:off x="340" y="4065"/>
              <a:ext cx="635" cy="91"/>
            </a:xfrm>
            <a:prstGeom prst="rect">
              <a:avLst/>
            </a:prstGeom>
            <a:noFill/>
            <a:ln w="12700" algn="ctr">
              <a:solidFill>
                <a:schemeClr val="tx1"/>
              </a:solidFill>
              <a:miter lim="800000"/>
              <a:headEnd/>
              <a:tailEnd/>
            </a:ln>
            <a:effectLst/>
          </p:spPr>
          <p:txBody>
            <a:bodyPr wrap="none" anchor="ctr"/>
            <a:lstStyle/>
            <a:p>
              <a:endParaRPr lang="zh-CN" altLang="en-US"/>
            </a:p>
          </p:txBody>
        </p:sp>
      </p:grpSp>
      <p:sp>
        <p:nvSpPr>
          <p:cNvPr id="730173" name="Text Box 61"/>
          <p:cNvSpPr txBox="1">
            <a:spLocks noChangeArrowheads="1"/>
          </p:cNvSpPr>
          <p:nvPr/>
        </p:nvSpPr>
        <p:spPr bwMode="auto">
          <a:xfrm>
            <a:off x="5519738" y="4292601"/>
            <a:ext cx="4392612" cy="1311275"/>
          </a:xfrm>
          <a:prstGeom prst="rect">
            <a:avLst/>
          </a:prstGeom>
          <a:noFill/>
          <a:ln w="9525">
            <a:noFill/>
            <a:miter lim="800000"/>
            <a:headEnd/>
            <a:tailEnd/>
          </a:ln>
          <a:effectLst/>
        </p:spPr>
        <p:txBody>
          <a:bodyPr>
            <a:spAutoFit/>
          </a:bodyPr>
          <a:lstStyle/>
          <a:p>
            <a:pPr algn="l">
              <a:spcBef>
                <a:spcPct val="50000"/>
              </a:spcBef>
            </a:pPr>
            <a:r>
              <a:rPr lang="zh-CN" altLang="en-US" sz="2000">
                <a:solidFill>
                  <a:srgbClr val="0000FF"/>
                </a:solidFill>
                <a:ea typeface="华文新魏" pitchFamily="2" charset="-122"/>
              </a:rPr>
              <a:t>注意</a:t>
            </a:r>
            <a:r>
              <a:rPr lang="zh-CN" altLang="en-US" sz="2000">
                <a:ea typeface="华文新魏" pitchFamily="2" charset="-122"/>
              </a:rPr>
              <a:t>：当接收</a:t>
            </a:r>
            <a:r>
              <a:rPr lang="en-US" altLang="zh-CN" sz="2000">
                <a:ea typeface="华文新魏" pitchFamily="2" charset="-122"/>
              </a:rPr>
              <a:t>FIFO</a:t>
            </a:r>
            <a:r>
              <a:rPr lang="zh-CN" altLang="en-US" sz="2000">
                <a:ea typeface="华文新魏" pitchFamily="2" charset="-122"/>
              </a:rPr>
              <a:t>中存在多个数据，从</a:t>
            </a:r>
            <a:r>
              <a:rPr lang="en-US" altLang="zh-CN" sz="2000">
                <a:ea typeface="华文新魏" pitchFamily="2" charset="-122"/>
              </a:rPr>
              <a:t>UnRBR</a:t>
            </a:r>
            <a:r>
              <a:rPr lang="zh-CN" altLang="en-US" sz="2000">
                <a:ea typeface="华文新魏" pitchFamily="2" charset="-122"/>
              </a:rPr>
              <a:t>读取数据，但是没有读完所有数据，那么在经过</a:t>
            </a:r>
            <a:r>
              <a:rPr lang="en-US" altLang="zh-CN" sz="2000">
                <a:ea typeface="华文新魏" pitchFamily="2" charset="-122"/>
              </a:rPr>
              <a:t>3.5</a:t>
            </a:r>
            <a:r>
              <a:rPr lang="zh-CN" altLang="en-US" sz="2000">
                <a:ea typeface="华文新魏" pitchFamily="2" charset="-122"/>
              </a:rPr>
              <a:t>～</a:t>
            </a:r>
            <a:r>
              <a:rPr lang="en-US" altLang="zh-CN" sz="2000">
                <a:ea typeface="华文新魏" pitchFamily="2" charset="-122"/>
              </a:rPr>
              <a:t>4.5</a:t>
            </a:r>
            <a:r>
              <a:rPr lang="zh-CN" altLang="en-US" sz="2000">
                <a:ea typeface="华文新魏" pitchFamily="2" charset="-122"/>
              </a:rPr>
              <a:t>个字节的时间后将触发</a:t>
            </a:r>
            <a:r>
              <a:rPr lang="en-US" altLang="zh-CN" sz="2000">
                <a:ea typeface="华文新魏" pitchFamily="2" charset="-122"/>
              </a:rPr>
              <a:t>CTI</a:t>
            </a:r>
            <a:r>
              <a:rPr lang="zh-CN" altLang="en-US" sz="2000">
                <a:ea typeface="华文新魏" pitchFamily="2" charset="-122"/>
              </a:rPr>
              <a:t>中断；</a:t>
            </a:r>
          </a:p>
        </p:txBody>
      </p:sp>
      <p:sp>
        <p:nvSpPr>
          <p:cNvPr id="730174" name="Text Box 62"/>
          <p:cNvSpPr txBox="1">
            <a:spLocks noChangeArrowheads="1"/>
          </p:cNvSpPr>
          <p:nvPr/>
        </p:nvSpPr>
        <p:spPr bwMode="auto">
          <a:xfrm>
            <a:off x="2201864" y="1341439"/>
            <a:ext cx="8116887" cy="1190625"/>
          </a:xfrm>
          <a:prstGeom prst="rect">
            <a:avLst/>
          </a:prstGeom>
          <a:noFill/>
          <a:ln w="9525">
            <a:noFill/>
            <a:miter lim="800000"/>
            <a:headEnd/>
            <a:tailEnd/>
          </a:ln>
          <a:effectLst/>
        </p:spPr>
        <p:txBody>
          <a:bodyPr>
            <a:spAutoFit/>
          </a:bodyPr>
          <a:lstStyle/>
          <a:p>
            <a:pPr algn="l">
              <a:spcBef>
                <a:spcPct val="50000"/>
              </a:spcBef>
              <a:buClr>
                <a:srgbClr val="0000FF"/>
              </a:buClr>
              <a:buFont typeface="Wingdings" pitchFamily="2" charset="2"/>
              <a:buChar char="l"/>
            </a:pPr>
            <a:r>
              <a:rPr lang="en-US" altLang="zh-CN">
                <a:solidFill>
                  <a:srgbClr val="FF0000"/>
                </a:solidFill>
                <a:latin typeface="华文新魏" pitchFamily="2" charset="-122"/>
                <a:ea typeface="华文新魏" pitchFamily="2" charset="-122"/>
              </a:rPr>
              <a:t>  CTI</a:t>
            </a:r>
            <a:r>
              <a:rPr lang="zh-CN" altLang="en-US">
                <a:solidFill>
                  <a:srgbClr val="FF0000"/>
                </a:solidFill>
                <a:latin typeface="华文新魏" pitchFamily="2" charset="-122"/>
                <a:ea typeface="华文新魏" pitchFamily="2" charset="-122"/>
              </a:rPr>
              <a:t>中断</a:t>
            </a:r>
            <a:r>
              <a:rPr lang="zh-CN" altLang="en-US">
                <a:latin typeface="华文新魏" pitchFamily="2" charset="-122"/>
                <a:ea typeface="华文新魏" pitchFamily="2" charset="-122"/>
              </a:rPr>
              <a:t>：当接收</a:t>
            </a:r>
            <a:r>
              <a:rPr lang="en-US" altLang="zh-CN">
                <a:latin typeface="华文新魏" pitchFamily="2" charset="-122"/>
                <a:ea typeface="华文新魏" pitchFamily="2" charset="-122"/>
              </a:rPr>
              <a:t>FIFO</a:t>
            </a:r>
            <a:r>
              <a:rPr lang="zh-CN" altLang="en-US">
                <a:latin typeface="华文新魏" pitchFamily="2" charset="-122"/>
                <a:ea typeface="华文新魏" pitchFamily="2" charset="-122"/>
              </a:rPr>
              <a:t>中的有效数据少于预定的触发点数量（</a:t>
            </a:r>
            <a:r>
              <a:rPr lang="zh-CN" altLang="en-US">
                <a:solidFill>
                  <a:srgbClr val="FF0000"/>
                </a:solidFill>
                <a:latin typeface="华文新魏" pitchFamily="2" charset="-122"/>
                <a:ea typeface="华文新魏" pitchFamily="2" charset="-122"/>
              </a:rPr>
              <a:t>至少有一个字节</a:t>
            </a:r>
            <a:r>
              <a:rPr lang="zh-CN" altLang="en-US">
                <a:latin typeface="华文新魏" pitchFamily="2" charset="-122"/>
                <a:ea typeface="华文新魏" pitchFamily="2" charset="-122"/>
              </a:rPr>
              <a:t>）时，如果在一定时间内仍然没有接收到新的数据，那将触发该中断。这个时间为：</a:t>
            </a:r>
            <a:r>
              <a:rPr lang="en-US" altLang="zh-CN">
                <a:latin typeface="华文新魏" pitchFamily="2" charset="-122"/>
                <a:ea typeface="华文新魏" pitchFamily="2" charset="-122"/>
              </a:rPr>
              <a:t>3.5</a:t>
            </a:r>
            <a:r>
              <a:rPr lang="zh-CN" altLang="en-US">
                <a:latin typeface="华文新魏" pitchFamily="2" charset="-122"/>
                <a:ea typeface="华文新魏" pitchFamily="2" charset="-122"/>
              </a:rPr>
              <a:t>～</a:t>
            </a:r>
            <a:r>
              <a:rPr lang="en-US" altLang="zh-CN">
                <a:latin typeface="华文新魏" pitchFamily="2" charset="-122"/>
                <a:ea typeface="华文新魏" pitchFamily="2" charset="-122"/>
              </a:rPr>
              <a:t>4.5</a:t>
            </a:r>
            <a:r>
              <a:rPr lang="zh-CN" altLang="en-US">
                <a:latin typeface="华文新魏" pitchFamily="2" charset="-122"/>
                <a:ea typeface="华文新魏" pitchFamily="2" charset="-122"/>
              </a:rPr>
              <a:t>个字节所需要的时间。</a:t>
            </a:r>
            <a:r>
              <a:rPr lang="zh-CN" altLang="en-US">
                <a:solidFill>
                  <a:srgbClr val="FF0000"/>
                </a:solidFill>
                <a:latin typeface="华文新魏" pitchFamily="2" charset="-122"/>
                <a:ea typeface="华文新魏" pitchFamily="2" charset="-122"/>
              </a:rPr>
              <a:t>注：对接收</a:t>
            </a:r>
            <a:r>
              <a:rPr lang="en-US" altLang="zh-CN">
                <a:solidFill>
                  <a:srgbClr val="FF0000"/>
                </a:solidFill>
                <a:latin typeface="华文新魏" pitchFamily="2" charset="-122"/>
                <a:ea typeface="华文新魏" pitchFamily="2" charset="-122"/>
              </a:rPr>
              <a:t>FIFO</a:t>
            </a:r>
            <a:r>
              <a:rPr lang="zh-CN" altLang="en-US">
                <a:solidFill>
                  <a:srgbClr val="FF0000"/>
                </a:solidFill>
                <a:latin typeface="华文新魏" pitchFamily="2" charset="-122"/>
                <a:ea typeface="华文新魏" pitchFamily="2" charset="-122"/>
              </a:rPr>
              <a:t>的任何操作都会清零该中断标志。</a:t>
            </a:r>
            <a:r>
              <a:rPr lang="zh-CN" altLang="en-US">
                <a:latin typeface="华文新魏" pitchFamily="2" charset="-122"/>
                <a:ea typeface="华文新魏" pitchFamily="2" charset="-122"/>
              </a:rPr>
              <a:t> </a:t>
            </a:r>
          </a:p>
        </p:txBody>
      </p:sp>
      <p:sp>
        <p:nvSpPr>
          <p:cNvPr id="730175" name="Rectangle 63"/>
          <p:cNvSpPr>
            <a:spLocks noChangeArrowheads="1"/>
          </p:cNvSpPr>
          <p:nvPr/>
        </p:nvSpPr>
        <p:spPr bwMode="auto">
          <a:xfrm>
            <a:off x="2222500" y="587375"/>
            <a:ext cx="7689850" cy="609600"/>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中断源说明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30137"/>
                                        </p:tgtEl>
                                        <p:attrNameLst>
                                          <p:attrName>style.visibility</p:attrName>
                                        </p:attrNameLst>
                                      </p:cBhvr>
                                      <p:to>
                                        <p:strVal val="visible"/>
                                      </p:to>
                                    </p:set>
                                    <p:anim calcmode="lin" valueType="num">
                                      <p:cBhvr additive="base">
                                        <p:cTn id="7" dur="500" fill="hold"/>
                                        <p:tgtEl>
                                          <p:spTgt spid="730137"/>
                                        </p:tgtEl>
                                        <p:attrNameLst>
                                          <p:attrName>ppt_x</p:attrName>
                                        </p:attrNameLst>
                                      </p:cBhvr>
                                      <p:tavLst>
                                        <p:tav tm="0">
                                          <p:val>
                                            <p:strVal val="1+#ppt_w/2"/>
                                          </p:val>
                                        </p:tav>
                                        <p:tav tm="100000">
                                          <p:val>
                                            <p:strVal val="#ppt_x"/>
                                          </p:val>
                                        </p:tav>
                                      </p:tavLst>
                                    </p:anim>
                                    <p:anim calcmode="lin" valueType="num">
                                      <p:cBhvr additive="base">
                                        <p:cTn id="8" dur="500" fill="hold"/>
                                        <p:tgtEl>
                                          <p:spTgt spid="73013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30173"/>
                                        </p:tgtEl>
                                        <p:attrNameLst>
                                          <p:attrName>style.visibility</p:attrName>
                                        </p:attrNameLst>
                                      </p:cBhvr>
                                      <p:to>
                                        <p:strVal val="visible"/>
                                      </p:to>
                                    </p:set>
                                    <p:anim calcmode="lin" valueType="num">
                                      <p:cBhvr additive="base">
                                        <p:cTn id="13" dur="500" fill="hold"/>
                                        <p:tgtEl>
                                          <p:spTgt spid="730173"/>
                                        </p:tgtEl>
                                        <p:attrNameLst>
                                          <p:attrName>ppt_x</p:attrName>
                                        </p:attrNameLst>
                                      </p:cBhvr>
                                      <p:tavLst>
                                        <p:tav tm="0">
                                          <p:val>
                                            <p:strVal val="1+#ppt_w/2"/>
                                          </p:val>
                                        </p:tav>
                                        <p:tav tm="100000">
                                          <p:val>
                                            <p:strVal val="#ppt_x"/>
                                          </p:val>
                                        </p:tav>
                                      </p:tavLst>
                                    </p:anim>
                                    <p:anim calcmode="lin" valueType="num">
                                      <p:cBhvr additive="base">
                                        <p:cTn id="14" dur="500" fill="hold"/>
                                        <p:tgtEl>
                                          <p:spTgt spid="7301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0137" grpId="0"/>
      <p:bldP spid="730173"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38" name="Rectangle 2"/>
          <p:cNvSpPr>
            <a:spLocks noChangeArrowheads="1"/>
          </p:cNvSpPr>
          <p:nvPr/>
        </p:nvSpPr>
        <p:spPr bwMode="auto">
          <a:xfrm>
            <a:off x="3863975" y="5373689"/>
            <a:ext cx="1079500" cy="866775"/>
          </a:xfrm>
          <a:prstGeom prst="rect">
            <a:avLst/>
          </a:prstGeom>
          <a:solidFill>
            <a:srgbClr val="CCFF99"/>
          </a:solidFill>
          <a:ln w="12700" algn="ctr">
            <a:noFill/>
            <a:miter lim="800000"/>
            <a:headEnd/>
            <a:tailEnd/>
          </a:ln>
          <a:effectLst/>
        </p:spPr>
        <p:txBody>
          <a:bodyPr wrap="none" anchor="ctr"/>
          <a:lstStyle/>
          <a:p>
            <a:endParaRPr lang="zh-CN" altLang="en-US"/>
          </a:p>
        </p:txBody>
      </p:sp>
      <p:grpSp>
        <p:nvGrpSpPr>
          <p:cNvPr id="731139" name="Group 3"/>
          <p:cNvGrpSpPr>
            <a:grpSpLocks/>
          </p:cNvGrpSpPr>
          <p:nvPr/>
        </p:nvGrpSpPr>
        <p:grpSpPr bwMode="auto">
          <a:xfrm>
            <a:off x="1919288" y="2563814"/>
            <a:ext cx="4392612" cy="3889375"/>
            <a:chOff x="249" y="1524"/>
            <a:chExt cx="2767" cy="2450"/>
          </a:xfrm>
        </p:grpSpPr>
        <p:grpSp>
          <p:nvGrpSpPr>
            <p:cNvPr id="731140" name="Group 4"/>
            <p:cNvGrpSpPr>
              <a:grpSpLocks/>
            </p:cNvGrpSpPr>
            <p:nvPr/>
          </p:nvGrpSpPr>
          <p:grpSpPr bwMode="auto">
            <a:xfrm>
              <a:off x="1474" y="1524"/>
              <a:ext cx="1542" cy="2450"/>
              <a:chOff x="1474" y="1706"/>
              <a:chExt cx="1542" cy="2450"/>
            </a:xfrm>
          </p:grpSpPr>
          <p:grpSp>
            <p:nvGrpSpPr>
              <p:cNvPr id="731141" name="Group 5"/>
              <p:cNvGrpSpPr>
                <a:grpSpLocks/>
              </p:cNvGrpSpPr>
              <p:nvPr/>
            </p:nvGrpSpPr>
            <p:grpSpPr bwMode="auto">
              <a:xfrm>
                <a:off x="1474" y="1857"/>
                <a:ext cx="680" cy="2163"/>
                <a:chOff x="1474" y="1766"/>
                <a:chExt cx="680" cy="2178"/>
              </a:xfrm>
            </p:grpSpPr>
            <p:sp>
              <p:nvSpPr>
                <p:cNvPr id="731142" name="Rectangle 6"/>
                <p:cNvSpPr>
                  <a:spLocks noChangeArrowheads="1"/>
                </p:cNvSpPr>
                <p:nvPr/>
              </p:nvSpPr>
              <p:spPr bwMode="auto">
                <a:xfrm>
                  <a:off x="1474" y="3808"/>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a:t>
                  </a:r>
                </a:p>
              </p:txBody>
            </p:sp>
            <p:sp>
              <p:nvSpPr>
                <p:cNvPr id="731143" name="Rectangle 7"/>
                <p:cNvSpPr>
                  <a:spLocks noChangeArrowheads="1"/>
                </p:cNvSpPr>
                <p:nvPr/>
              </p:nvSpPr>
              <p:spPr bwMode="auto">
                <a:xfrm>
                  <a:off x="1474" y="3672"/>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2</a:t>
                  </a:r>
                </a:p>
              </p:txBody>
            </p:sp>
            <p:sp>
              <p:nvSpPr>
                <p:cNvPr id="731144" name="Rectangle 8"/>
                <p:cNvSpPr>
                  <a:spLocks noChangeArrowheads="1"/>
                </p:cNvSpPr>
                <p:nvPr/>
              </p:nvSpPr>
              <p:spPr bwMode="auto">
                <a:xfrm>
                  <a:off x="1474" y="3535"/>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3</a:t>
                  </a:r>
                </a:p>
              </p:txBody>
            </p:sp>
            <p:sp>
              <p:nvSpPr>
                <p:cNvPr id="731145" name="Rectangle 9"/>
                <p:cNvSpPr>
                  <a:spLocks noChangeArrowheads="1"/>
                </p:cNvSpPr>
                <p:nvPr/>
              </p:nvSpPr>
              <p:spPr bwMode="auto">
                <a:xfrm>
                  <a:off x="1474" y="3399"/>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4</a:t>
                  </a:r>
                </a:p>
              </p:txBody>
            </p:sp>
            <p:sp>
              <p:nvSpPr>
                <p:cNvPr id="731146" name="Rectangle 10"/>
                <p:cNvSpPr>
                  <a:spLocks noChangeArrowheads="1"/>
                </p:cNvSpPr>
                <p:nvPr/>
              </p:nvSpPr>
              <p:spPr bwMode="auto">
                <a:xfrm>
                  <a:off x="1474" y="3263"/>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5</a:t>
                  </a:r>
                </a:p>
              </p:txBody>
            </p:sp>
            <p:sp>
              <p:nvSpPr>
                <p:cNvPr id="731147" name="Rectangle 11"/>
                <p:cNvSpPr>
                  <a:spLocks noChangeArrowheads="1"/>
                </p:cNvSpPr>
                <p:nvPr/>
              </p:nvSpPr>
              <p:spPr bwMode="auto">
                <a:xfrm>
                  <a:off x="1474" y="3127"/>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6</a:t>
                  </a:r>
                </a:p>
              </p:txBody>
            </p:sp>
            <p:sp>
              <p:nvSpPr>
                <p:cNvPr id="731148" name="Rectangle 12"/>
                <p:cNvSpPr>
                  <a:spLocks noChangeArrowheads="1"/>
                </p:cNvSpPr>
                <p:nvPr/>
              </p:nvSpPr>
              <p:spPr bwMode="auto">
                <a:xfrm>
                  <a:off x="1474" y="2991"/>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7</a:t>
                  </a:r>
                </a:p>
              </p:txBody>
            </p:sp>
            <p:sp>
              <p:nvSpPr>
                <p:cNvPr id="731149" name="Rectangle 13"/>
                <p:cNvSpPr>
                  <a:spLocks noChangeArrowheads="1"/>
                </p:cNvSpPr>
                <p:nvPr/>
              </p:nvSpPr>
              <p:spPr bwMode="auto">
                <a:xfrm>
                  <a:off x="1474" y="2719"/>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9</a:t>
                  </a:r>
                </a:p>
              </p:txBody>
            </p:sp>
            <p:sp>
              <p:nvSpPr>
                <p:cNvPr id="731150" name="Rectangle 14"/>
                <p:cNvSpPr>
                  <a:spLocks noChangeArrowheads="1"/>
                </p:cNvSpPr>
                <p:nvPr/>
              </p:nvSpPr>
              <p:spPr bwMode="auto">
                <a:xfrm>
                  <a:off x="1474" y="2583"/>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10</a:t>
                  </a:r>
                </a:p>
              </p:txBody>
            </p:sp>
            <p:sp>
              <p:nvSpPr>
                <p:cNvPr id="731151" name="Rectangle 15"/>
                <p:cNvSpPr>
                  <a:spLocks noChangeArrowheads="1"/>
                </p:cNvSpPr>
                <p:nvPr/>
              </p:nvSpPr>
              <p:spPr bwMode="auto">
                <a:xfrm>
                  <a:off x="1474" y="2447"/>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11</a:t>
                  </a:r>
                </a:p>
              </p:txBody>
            </p:sp>
            <p:sp>
              <p:nvSpPr>
                <p:cNvPr id="731152" name="Rectangle 16"/>
                <p:cNvSpPr>
                  <a:spLocks noChangeArrowheads="1"/>
                </p:cNvSpPr>
                <p:nvPr/>
              </p:nvSpPr>
              <p:spPr bwMode="auto">
                <a:xfrm>
                  <a:off x="1474" y="2311"/>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12</a:t>
                  </a:r>
                </a:p>
              </p:txBody>
            </p:sp>
            <p:sp>
              <p:nvSpPr>
                <p:cNvPr id="731153" name="Rectangle 17"/>
                <p:cNvSpPr>
                  <a:spLocks noChangeArrowheads="1"/>
                </p:cNvSpPr>
                <p:nvPr/>
              </p:nvSpPr>
              <p:spPr bwMode="auto">
                <a:xfrm>
                  <a:off x="1474" y="2175"/>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13</a:t>
                  </a:r>
                </a:p>
              </p:txBody>
            </p:sp>
            <p:sp>
              <p:nvSpPr>
                <p:cNvPr id="731154" name="Rectangle 18"/>
                <p:cNvSpPr>
                  <a:spLocks noChangeArrowheads="1"/>
                </p:cNvSpPr>
                <p:nvPr/>
              </p:nvSpPr>
              <p:spPr bwMode="auto">
                <a:xfrm>
                  <a:off x="1474" y="2039"/>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14</a:t>
                  </a:r>
                </a:p>
              </p:txBody>
            </p:sp>
            <p:sp>
              <p:nvSpPr>
                <p:cNvPr id="731155" name="Rectangle 19"/>
                <p:cNvSpPr>
                  <a:spLocks noChangeArrowheads="1"/>
                </p:cNvSpPr>
                <p:nvPr/>
              </p:nvSpPr>
              <p:spPr bwMode="auto">
                <a:xfrm>
                  <a:off x="1474" y="1902"/>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15</a:t>
                  </a:r>
                </a:p>
              </p:txBody>
            </p:sp>
            <p:sp>
              <p:nvSpPr>
                <p:cNvPr id="731156" name="Rectangle 20"/>
                <p:cNvSpPr>
                  <a:spLocks noChangeArrowheads="1"/>
                </p:cNvSpPr>
                <p:nvPr/>
              </p:nvSpPr>
              <p:spPr bwMode="auto">
                <a:xfrm>
                  <a:off x="1474" y="1766"/>
                  <a:ext cx="680" cy="136"/>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16</a:t>
                  </a:r>
                </a:p>
              </p:txBody>
            </p:sp>
            <p:sp>
              <p:nvSpPr>
                <p:cNvPr id="731157" name="Rectangle 21"/>
                <p:cNvSpPr>
                  <a:spLocks noChangeArrowheads="1"/>
                </p:cNvSpPr>
                <p:nvPr/>
              </p:nvSpPr>
              <p:spPr bwMode="auto">
                <a:xfrm>
                  <a:off x="1474" y="1766"/>
                  <a:ext cx="680" cy="2178"/>
                </a:xfrm>
                <a:prstGeom prst="rect">
                  <a:avLst/>
                </a:prstGeom>
                <a:noFill/>
                <a:ln w="12700" algn="ctr">
                  <a:solidFill>
                    <a:schemeClr val="tx1"/>
                  </a:solidFill>
                  <a:miter lim="800000"/>
                  <a:headEnd/>
                  <a:tailEnd/>
                </a:ln>
                <a:effectLst/>
              </p:spPr>
              <p:txBody>
                <a:bodyPr wrap="none" anchor="ctr"/>
                <a:lstStyle/>
                <a:p>
                  <a:endParaRPr lang="zh-CN" altLang="en-US"/>
                </a:p>
              </p:txBody>
            </p:sp>
            <p:sp>
              <p:nvSpPr>
                <p:cNvPr id="731158" name="Rectangle 22"/>
                <p:cNvSpPr>
                  <a:spLocks noChangeArrowheads="1"/>
                </p:cNvSpPr>
                <p:nvPr/>
              </p:nvSpPr>
              <p:spPr bwMode="auto">
                <a:xfrm>
                  <a:off x="1474" y="2855"/>
                  <a:ext cx="680" cy="135"/>
                </a:xfrm>
                <a:prstGeom prst="rect">
                  <a:avLst/>
                </a:prstGeom>
                <a:noFill/>
                <a:ln w="12700" algn="ctr">
                  <a:solidFill>
                    <a:schemeClr val="tx1"/>
                  </a:solidFill>
                  <a:prstDash val="dash"/>
                  <a:miter lim="800000"/>
                  <a:headEnd/>
                  <a:tailEnd/>
                </a:ln>
                <a:effectLst/>
              </p:spPr>
              <p:txBody>
                <a:bodyPr wrap="none" anchor="ctr"/>
                <a:lstStyle/>
                <a:p>
                  <a:r>
                    <a:rPr lang="en-US" altLang="zh-CN" sz="1400">
                      <a:latin typeface="Times New Roman" pitchFamily="18" charset="0"/>
                    </a:rPr>
                    <a:t>8</a:t>
                  </a:r>
                </a:p>
              </p:txBody>
            </p:sp>
          </p:grpSp>
          <p:sp>
            <p:nvSpPr>
              <p:cNvPr id="731159" name="Rectangle 23"/>
              <p:cNvSpPr>
                <a:spLocks noChangeArrowheads="1"/>
              </p:cNvSpPr>
              <p:nvPr/>
            </p:nvSpPr>
            <p:spPr bwMode="auto">
              <a:xfrm>
                <a:off x="1474" y="1706"/>
                <a:ext cx="680" cy="136"/>
              </a:xfrm>
              <a:prstGeom prst="rect">
                <a:avLst/>
              </a:prstGeom>
              <a:solidFill>
                <a:schemeClr val="hlink"/>
              </a:solidFill>
              <a:ln w="12700" algn="ctr">
                <a:solidFill>
                  <a:schemeClr val="tx1"/>
                </a:solidFill>
                <a:miter lim="800000"/>
                <a:headEnd/>
                <a:tailEnd/>
              </a:ln>
              <a:effectLst/>
            </p:spPr>
            <p:txBody>
              <a:bodyPr wrap="none" anchor="ctr"/>
              <a:lstStyle/>
              <a:p>
                <a:r>
                  <a:rPr lang="en-US" altLang="zh-CN" sz="1400">
                    <a:latin typeface="Times New Roman" pitchFamily="18" charset="0"/>
                  </a:rPr>
                  <a:t>UnRBR</a:t>
                </a:r>
              </a:p>
            </p:txBody>
          </p:sp>
          <p:sp>
            <p:nvSpPr>
              <p:cNvPr id="731160" name="Line 24"/>
              <p:cNvSpPr>
                <a:spLocks noChangeShapeType="1"/>
              </p:cNvSpPr>
              <p:nvPr/>
            </p:nvSpPr>
            <p:spPr bwMode="auto">
              <a:xfrm>
                <a:off x="2154" y="4065"/>
                <a:ext cx="862" cy="0"/>
              </a:xfrm>
              <a:prstGeom prst="line">
                <a:avLst/>
              </a:prstGeom>
              <a:noFill/>
              <a:ln w="12700">
                <a:solidFill>
                  <a:schemeClr val="tx1"/>
                </a:solidFill>
                <a:round/>
                <a:headEnd/>
                <a:tailEnd type="triangle" w="med" len="med"/>
              </a:ln>
              <a:effectLst/>
            </p:spPr>
            <p:txBody>
              <a:bodyPr wrap="none" anchor="ctr"/>
              <a:lstStyle/>
              <a:p>
                <a:endParaRPr lang="zh-CN" altLang="en-US"/>
              </a:p>
            </p:txBody>
          </p:sp>
          <p:sp>
            <p:nvSpPr>
              <p:cNvPr id="731161" name="Rectangle 25"/>
              <p:cNvSpPr>
                <a:spLocks noChangeArrowheads="1"/>
              </p:cNvSpPr>
              <p:nvPr/>
            </p:nvSpPr>
            <p:spPr bwMode="auto">
              <a:xfrm>
                <a:off x="1474" y="4020"/>
                <a:ext cx="680" cy="136"/>
              </a:xfrm>
              <a:prstGeom prst="rect">
                <a:avLst/>
              </a:prstGeom>
              <a:noFill/>
              <a:ln w="12700" algn="ctr">
                <a:solidFill>
                  <a:schemeClr val="tx1"/>
                </a:solidFill>
                <a:miter lim="800000"/>
                <a:headEnd/>
                <a:tailEnd/>
              </a:ln>
              <a:effectLst/>
            </p:spPr>
            <p:txBody>
              <a:bodyPr wrap="none" anchor="ctr"/>
              <a:lstStyle/>
              <a:p>
                <a:r>
                  <a:rPr lang="en-US" altLang="zh-CN" sz="1400">
                    <a:latin typeface="Times New Roman" pitchFamily="18" charset="0"/>
                  </a:rPr>
                  <a:t>U0TSR</a:t>
                </a:r>
              </a:p>
            </p:txBody>
          </p:sp>
          <p:sp>
            <p:nvSpPr>
              <p:cNvPr id="731162" name="Text Box 26"/>
              <p:cNvSpPr txBox="1">
                <a:spLocks noChangeArrowheads="1"/>
              </p:cNvSpPr>
              <p:nvPr/>
            </p:nvSpPr>
            <p:spPr bwMode="auto">
              <a:xfrm>
                <a:off x="2290" y="3869"/>
                <a:ext cx="545" cy="212"/>
              </a:xfrm>
              <a:prstGeom prst="rect">
                <a:avLst/>
              </a:prstGeom>
              <a:noFill/>
              <a:ln w="12700" algn="ctr">
                <a:noFill/>
                <a:miter lim="800000"/>
                <a:headEnd/>
                <a:tailEnd/>
              </a:ln>
              <a:effectLst/>
            </p:spPr>
            <p:txBody>
              <a:bodyPr>
                <a:spAutoFit/>
              </a:bodyPr>
              <a:lstStyle/>
              <a:p>
                <a:pPr>
                  <a:spcBef>
                    <a:spcPct val="50000"/>
                  </a:spcBef>
                </a:pPr>
                <a:r>
                  <a:rPr lang="en-US" altLang="zh-CN" sz="1600">
                    <a:latin typeface="Times New Roman" pitchFamily="18" charset="0"/>
                  </a:rPr>
                  <a:t>TxDn</a:t>
                </a:r>
              </a:p>
            </p:txBody>
          </p:sp>
        </p:grpSp>
        <p:grpSp>
          <p:nvGrpSpPr>
            <p:cNvPr id="731163" name="Group 27"/>
            <p:cNvGrpSpPr>
              <a:grpSpLocks/>
            </p:cNvGrpSpPr>
            <p:nvPr/>
          </p:nvGrpSpPr>
          <p:grpSpPr bwMode="auto">
            <a:xfrm>
              <a:off x="249" y="3339"/>
              <a:ext cx="953" cy="362"/>
              <a:chOff x="385" y="2115"/>
              <a:chExt cx="953" cy="362"/>
            </a:xfrm>
          </p:grpSpPr>
          <p:sp>
            <p:nvSpPr>
              <p:cNvPr id="731164" name="Rectangle 28"/>
              <p:cNvSpPr>
                <a:spLocks noChangeArrowheads="1"/>
              </p:cNvSpPr>
              <p:nvPr/>
            </p:nvSpPr>
            <p:spPr bwMode="auto">
              <a:xfrm>
                <a:off x="385" y="2296"/>
                <a:ext cx="590" cy="181"/>
              </a:xfrm>
              <a:prstGeom prst="rect">
                <a:avLst/>
              </a:prstGeom>
              <a:solidFill>
                <a:schemeClr val="hlink"/>
              </a:solidFill>
              <a:ln w="12700" algn="ctr">
                <a:solidFill>
                  <a:schemeClr val="tx1"/>
                </a:solidFill>
                <a:miter lim="800000"/>
                <a:headEnd/>
                <a:tailEnd/>
              </a:ln>
              <a:effectLst/>
            </p:spPr>
            <p:txBody>
              <a:bodyPr wrap="none" anchor="ctr"/>
              <a:lstStyle/>
              <a:p>
                <a:r>
                  <a:rPr lang="en-US" altLang="zh-CN" sz="1400">
                    <a:latin typeface="Times New Roman" pitchFamily="18" charset="0"/>
                  </a:rPr>
                  <a:t>UnIIR[3:1]</a:t>
                </a:r>
              </a:p>
            </p:txBody>
          </p:sp>
          <p:sp>
            <p:nvSpPr>
              <p:cNvPr id="731165" name="Rectangle 29"/>
              <p:cNvSpPr>
                <a:spLocks noChangeArrowheads="1"/>
              </p:cNvSpPr>
              <p:nvPr/>
            </p:nvSpPr>
            <p:spPr bwMode="auto">
              <a:xfrm>
                <a:off x="975" y="2296"/>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latin typeface="Times New Roman" pitchFamily="18" charset="0"/>
                  </a:rPr>
                  <a:t>xxx</a:t>
                </a:r>
              </a:p>
            </p:txBody>
          </p:sp>
          <p:sp>
            <p:nvSpPr>
              <p:cNvPr id="731166" name="Rectangle 30"/>
              <p:cNvSpPr>
                <a:spLocks noChangeArrowheads="1"/>
              </p:cNvSpPr>
              <p:nvPr/>
            </p:nvSpPr>
            <p:spPr bwMode="auto">
              <a:xfrm>
                <a:off x="385" y="2115"/>
                <a:ext cx="590" cy="181"/>
              </a:xfrm>
              <a:prstGeom prst="rect">
                <a:avLst/>
              </a:prstGeom>
              <a:solidFill>
                <a:schemeClr val="hlink"/>
              </a:solidFill>
              <a:ln w="12700" algn="ctr">
                <a:solidFill>
                  <a:schemeClr val="tx1"/>
                </a:solidFill>
                <a:miter lim="800000"/>
                <a:headEnd/>
                <a:tailEnd/>
              </a:ln>
              <a:effectLst/>
            </p:spPr>
            <p:txBody>
              <a:bodyPr wrap="none" anchor="ctr"/>
              <a:lstStyle/>
              <a:p>
                <a:r>
                  <a:rPr lang="en-US" altLang="zh-CN" sz="1400">
                    <a:latin typeface="Times New Roman" pitchFamily="18" charset="0"/>
                  </a:rPr>
                  <a:t>UnIIR[0]</a:t>
                </a:r>
              </a:p>
            </p:txBody>
          </p:sp>
          <p:sp>
            <p:nvSpPr>
              <p:cNvPr id="731167" name="Rectangle 31"/>
              <p:cNvSpPr>
                <a:spLocks noChangeArrowheads="1"/>
              </p:cNvSpPr>
              <p:nvPr/>
            </p:nvSpPr>
            <p:spPr bwMode="auto">
              <a:xfrm>
                <a:off x="975" y="2115"/>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latin typeface="Times New Roman" pitchFamily="18" charset="0"/>
                  </a:rPr>
                  <a:t>1</a:t>
                </a:r>
              </a:p>
            </p:txBody>
          </p:sp>
        </p:grpSp>
      </p:grpSp>
      <p:sp>
        <p:nvSpPr>
          <p:cNvPr id="731168" name="Text Box 32"/>
          <p:cNvSpPr txBox="1">
            <a:spLocks noChangeArrowheads="1"/>
          </p:cNvSpPr>
          <p:nvPr/>
        </p:nvSpPr>
        <p:spPr bwMode="auto">
          <a:xfrm>
            <a:off x="2514600" y="1166814"/>
            <a:ext cx="7608888" cy="701675"/>
          </a:xfrm>
          <a:prstGeom prst="rect">
            <a:avLst/>
          </a:prstGeom>
          <a:noFill/>
          <a:ln w="9525">
            <a:noFill/>
            <a:miter lim="800000"/>
            <a:headEnd/>
            <a:tailEnd/>
          </a:ln>
          <a:effectLst/>
        </p:spPr>
        <p:txBody>
          <a:bodyPr>
            <a:spAutoFit/>
          </a:bodyPr>
          <a:lstStyle/>
          <a:p>
            <a:pPr algn="l">
              <a:spcBef>
                <a:spcPct val="50000"/>
              </a:spcBef>
              <a:buClr>
                <a:srgbClr val="0000FF"/>
              </a:buClr>
              <a:buFont typeface="Wingdings" pitchFamily="2" charset="2"/>
              <a:buChar char="l"/>
            </a:pPr>
            <a:r>
              <a:rPr lang="en-US" altLang="zh-CN" sz="2000">
                <a:solidFill>
                  <a:srgbClr val="FF0000"/>
                </a:solidFill>
                <a:latin typeface="华文新魏" pitchFamily="2" charset="-122"/>
                <a:ea typeface="华文新魏" pitchFamily="2" charset="-122"/>
              </a:rPr>
              <a:t>   THRE</a:t>
            </a:r>
            <a:r>
              <a:rPr lang="zh-CN" altLang="en-US" sz="2000">
                <a:solidFill>
                  <a:srgbClr val="FF0000"/>
                </a:solidFill>
                <a:latin typeface="华文新魏" pitchFamily="2" charset="-122"/>
                <a:ea typeface="华文新魏" pitchFamily="2" charset="-122"/>
              </a:rPr>
              <a:t>中断</a:t>
            </a:r>
            <a:r>
              <a:rPr lang="zh-CN" altLang="en-US" sz="2000">
                <a:latin typeface="华文新魏" pitchFamily="2" charset="-122"/>
                <a:ea typeface="华文新魏" pitchFamily="2" charset="-122"/>
              </a:rPr>
              <a:t>：该中断为第三优先级。当发送</a:t>
            </a:r>
            <a:r>
              <a:rPr lang="en-US" altLang="zh-CN" sz="2000">
                <a:latin typeface="华文新魏" pitchFamily="2" charset="-122"/>
                <a:ea typeface="华文新魏" pitchFamily="2" charset="-122"/>
              </a:rPr>
              <a:t>FIFO</a:t>
            </a:r>
            <a:r>
              <a:rPr lang="zh-CN" altLang="en-US" sz="2000">
                <a:latin typeface="华文新魏" pitchFamily="2" charset="-122"/>
                <a:ea typeface="华文新魏" pitchFamily="2" charset="-122"/>
              </a:rPr>
              <a:t>为空并且满足一定的条件时，该中断将被触发。这些条件是：</a:t>
            </a:r>
          </a:p>
        </p:txBody>
      </p:sp>
      <p:sp>
        <p:nvSpPr>
          <p:cNvPr id="731169" name="Text Box 33"/>
          <p:cNvSpPr txBox="1">
            <a:spLocks noChangeArrowheads="1"/>
          </p:cNvSpPr>
          <p:nvPr/>
        </p:nvSpPr>
        <p:spPr bwMode="auto">
          <a:xfrm>
            <a:off x="2279651" y="4365625"/>
            <a:ext cx="1152525" cy="336550"/>
          </a:xfrm>
          <a:prstGeom prst="rect">
            <a:avLst/>
          </a:prstGeom>
          <a:noFill/>
          <a:ln w="9525">
            <a:noFill/>
            <a:miter lim="800000"/>
            <a:headEnd/>
            <a:tailEnd/>
          </a:ln>
          <a:effectLst/>
        </p:spPr>
        <p:txBody>
          <a:bodyPr>
            <a:spAutoFit/>
          </a:bodyPr>
          <a:lstStyle/>
          <a:p>
            <a:pPr>
              <a:spcBef>
                <a:spcPct val="50000"/>
              </a:spcBef>
            </a:pPr>
            <a:r>
              <a:rPr lang="zh-CN" altLang="en-US" sz="1600">
                <a:solidFill>
                  <a:srgbClr val="0000FF"/>
                </a:solidFill>
                <a:ea typeface="华文新魏" pitchFamily="2" charset="-122"/>
              </a:rPr>
              <a:t>发送</a:t>
            </a:r>
            <a:r>
              <a:rPr lang="en-US" altLang="zh-CN" sz="1600">
                <a:solidFill>
                  <a:srgbClr val="0000FF"/>
                </a:solidFill>
                <a:ea typeface="华文新魏" pitchFamily="2" charset="-122"/>
              </a:rPr>
              <a:t>FIFO</a:t>
            </a:r>
          </a:p>
        </p:txBody>
      </p:sp>
      <p:sp>
        <p:nvSpPr>
          <p:cNvPr id="731170" name="Text Box 34"/>
          <p:cNvSpPr txBox="1">
            <a:spLocks noChangeArrowheads="1"/>
          </p:cNvSpPr>
          <p:nvPr/>
        </p:nvSpPr>
        <p:spPr bwMode="auto">
          <a:xfrm>
            <a:off x="5448300" y="1844676"/>
            <a:ext cx="4668838" cy="701675"/>
          </a:xfrm>
          <a:prstGeom prst="rect">
            <a:avLst/>
          </a:prstGeom>
          <a:noFill/>
          <a:ln w="9525">
            <a:noFill/>
            <a:miter lim="800000"/>
            <a:headEnd/>
            <a:tailEnd/>
          </a:ln>
          <a:effectLst/>
        </p:spPr>
        <p:txBody>
          <a:bodyPr>
            <a:spAutoFit/>
          </a:bodyPr>
          <a:lstStyle/>
          <a:p>
            <a:pPr algn="l">
              <a:spcBef>
                <a:spcPct val="50000"/>
              </a:spcBef>
            </a:pPr>
            <a:r>
              <a:rPr lang="en-US" altLang="zh-CN" sz="2000">
                <a:ea typeface="华文新魏" pitchFamily="2" charset="-122"/>
              </a:rPr>
              <a:t>1.</a:t>
            </a:r>
            <a:r>
              <a:rPr lang="zh-CN" altLang="en-US" sz="2000">
                <a:ea typeface="华文新魏" pitchFamily="2" charset="-122"/>
              </a:rPr>
              <a:t>系统启动时，虽然发送</a:t>
            </a:r>
            <a:r>
              <a:rPr lang="en-US" altLang="zh-CN" sz="2000">
                <a:ea typeface="华文新魏" pitchFamily="2" charset="-122"/>
              </a:rPr>
              <a:t>FIFO</a:t>
            </a:r>
            <a:r>
              <a:rPr lang="zh-CN" altLang="en-US" sz="2000">
                <a:ea typeface="华文新魏" pitchFamily="2" charset="-122"/>
              </a:rPr>
              <a:t>为空，但不会产生</a:t>
            </a:r>
            <a:r>
              <a:rPr lang="en-US" altLang="zh-CN" sz="2000">
                <a:ea typeface="华文新魏" pitchFamily="2" charset="-122"/>
              </a:rPr>
              <a:t>THRE</a:t>
            </a:r>
            <a:r>
              <a:rPr lang="zh-CN" altLang="en-US" sz="2000">
                <a:ea typeface="华文新魏" pitchFamily="2" charset="-122"/>
              </a:rPr>
              <a:t>中断。</a:t>
            </a:r>
          </a:p>
        </p:txBody>
      </p:sp>
      <p:sp>
        <p:nvSpPr>
          <p:cNvPr id="731171" name="Oval 35"/>
          <p:cNvSpPr>
            <a:spLocks noChangeArrowheads="1"/>
          </p:cNvSpPr>
          <p:nvPr/>
        </p:nvSpPr>
        <p:spPr bwMode="auto">
          <a:xfrm>
            <a:off x="4224338" y="2852738"/>
            <a:ext cx="360362" cy="647700"/>
          </a:xfrm>
          <a:prstGeom prst="ellipse">
            <a:avLst/>
          </a:prstGeom>
          <a:solidFill>
            <a:srgbClr val="CCFF99"/>
          </a:solidFill>
          <a:ln w="12700" algn="ctr">
            <a:solidFill>
              <a:schemeClr val="folHlink"/>
            </a:solidFill>
            <a:round/>
            <a:headEnd/>
            <a:tailEnd/>
          </a:ln>
          <a:effectLst/>
        </p:spPr>
        <p:txBody>
          <a:bodyPr vert="eaVert" wrap="none" anchor="ctr"/>
          <a:lstStyle/>
          <a:p>
            <a:r>
              <a:rPr lang="en-US" altLang="zh-CN" sz="1200">
                <a:latin typeface="Times New Roman" pitchFamily="18" charset="0"/>
              </a:rPr>
              <a:t>DATA</a:t>
            </a:r>
          </a:p>
        </p:txBody>
      </p:sp>
      <p:grpSp>
        <p:nvGrpSpPr>
          <p:cNvPr id="731172" name="Group 36"/>
          <p:cNvGrpSpPr>
            <a:grpSpLocks/>
          </p:cNvGrpSpPr>
          <p:nvPr/>
        </p:nvGrpSpPr>
        <p:grpSpPr bwMode="auto">
          <a:xfrm>
            <a:off x="6383338" y="6070600"/>
            <a:ext cx="1295400" cy="287338"/>
            <a:chOff x="295" y="1888"/>
            <a:chExt cx="816" cy="181"/>
          </a:xfrm>
        </p:grpSpPr>
        <p:sp>
          <p:nvSpPr>
            <p:cNvPr id="731173" name="Line 37"/>
            <p:cNvSpPr>
              <a:spLocks noChangeShapeType="1"/>
            </p:cNvSpPr>
            <p:nvPr/>
          </p:nvSpPr>
          <p:spPr bwMode="auto">
            <a:xfrm>
              <a:off x="385"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31174" name="Line 38"/>
            <p:cNvSpPr>
              <a:spLocks noChangeShapeType="1"/>
            </p:cNvSpPr>
            <p:nvPr/>
          </p:nvSpPr>
          <p:spPr bwMode="auto">
            <a:xfrm>
              <a:off x="385" y="1888"/>
              <a:ext cx="91" cy="0"/>
            </a:xfrm>
            <a:prstGeom prst="line">
              <a:avLst/>
            </a:prstGeom>
            <a:noFill/>
            <a:ln w="12700">
              <a:solidFill>
                <a:srgbClr val="FF0000"/>
              </a:solidFill>
              <a:round/>
              <a:headEnd/>
              <a:tailEnd/>
            </a:ln>
            <a:effectLst/>
          </p:spPr>
          <p:txBody>
            <a:bodyPr wrap="none" anchor="ctr"/>
            <a:lstStyle/>
            <a:p>
              <a:endParaRPr lang="zh-CN" altLang="en-US"/>
            </a:p>
          </p:txBody>
        </p:sp>
        <p:sp>
          <p:nvSpPr>
            <p:cNvPr id="731175" name="Line 39"/>
            <p:cNvSpPr>
              <a:spLocks noChangeShapeType="1"/>
            </p:cNvSpPr>
            <p:nvPr/>
          </p:nvSpPr>
          <p:spPr bwMode="auto">
            <a:xfrm>
              <a:off x="476"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31176" name="Line 40"/>
            <p:cNvSpPr>
              <a:spLocks noChangeShapeType="1"/>
            </p:cNvSpPr>
            <p:nvPr/>
          </p:nvSpPr>
          <p:spPr bwMode="auto">
            <a:xfrm>
              <a:off x="476" y="2069"/>
              <a:ext cx="181" cy="0"/>
            </a:xfrm>
            <a:prstGeom prst="line">
              <a:avLst/>
            </a:prstGeom>
            <a:noFill/>
            <a:ln w="12700">
              <a:solidFill>
                <a:srgbClr val="FF0000"/>
              </a:solidFill>
              <a:round/>
              <a:headEnd/>
              <a:tailEnd/>
            </a:ln>
            <a:effectLst/>
          </p:spPr>
          <p:txBody>
            <a:bodyPr wrap="none" anchor="ctr"/>
            <a:lstStyle/>
            <a:p>
              <a:endParaRPr lang="zh-CN" altLang="en-US"/>
            </a:p>
          </p:txBody>
        </p:sp>
        <p:sp>
          <p:nvSpPr>
            <p:cNvPr id="731177" name="Line 41"/>
            <p:cNvSpPr>
              <a:spLocks noChangeShapeType="1"/>
            </p:cNvSpPr>
            <p:nvPr/>
          </p:nvSpPr>
          <p:spPr bwMode="auto">
            <a:xfrm flipV="1">
              <a:off x="657"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31178" name="Line 42"/>
            <p:cNvSpPr>
              <a:spLocks noChangeShapeType="1"/>
            </p:cNvSpPr>
            <p:nvPr/>
          </p:nvSpPr>
          <p:spPr bwMode="auto">
            <a:xfrm>
              <a:off x="657" y="1888"/>
              <a:ext cx="91" cy="0"/>
            </a:xfrm>
            <a:prstGeom prst="line">
              <a:avLst/>
            </a:prstGeom>
            <a:noFill/>
            <a:ln w="12700">
              <a:solidFill>
                <a:srgbClr val="FF0000"/>
              </a:solidFill>
              <a:round/>
              <a:headEnd/>
              <a:tailEnd/>
            </a:ln>
            <a:effectLst/>
          </p:spPr>
          <p:txBody>
            <a:bodyPr wrap="none" anchor="ctr"/>
            <a:lstStyle/>
            <a:p>
              <a:endParaRPr lang="zh-CN" altLang="en-US"/>
            </a:p>
          </p:txBody>
        </p:sp>
        <p:sp>
          <p:nvSpPr>
            <p:cNvPr id="731179" name="Line 43"/>
            <p:cNvSpPr>
              <a:spLocks noChangeShapeType="1"/>
            </p:cNvSpPr>
            <p:nvPr/>
          </p:nvSpPr>
          <p:spPr bwMode="auto">
            <a:xfrm>
              <a:off x="748"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31180" name="Line 44"/>
            <p:cNvSpPr>
              <a:spLocks noChangeShapeType="1"/>
            </p:cNvSpPr>
            <p:nvPr/>
          </p:nvSpPr>
          <p:spPr bwMode="auto">
            <a:xfrm>
              <a:off x="748" y="2069"/>
              <a:ext cx="91" cy="0"/>
            </a:xfrm>
            <a:prstGeom prst="line">
              <a:avLst/>
            </a:prstGeom>
            <a:noFill/>
            <a:ln w="12700">
              <a:solidFill>
                <a:srgbClr val="FF0000"/>
              </a:solidFill>
              <a:round/>
              <a:headEnd/>
              <a:tailEnd/>
            </a:ln>
            <a:effectLst/>
          </p:spPr>
          <p:txBody>
            <a:bodyPr wrap="none" anchor="ctr"/>
            <a:lstStyle/>
            <a:p>
              <a:endParaRPr lang="zh-CN" altLang="en-US"/>
            </a:p>
          </p:txBody>
        </p:sp>
        <p:sp>
          <p:nvSpPr>
            <p:cNvPr id="731181" name="Line 45"/>
            <p:cNvSpPr>
              <a:spLocks noChangeShapeType="1"/>
            </p:cNvSpPr>
            <p:nvPr/>
          </p:nvSpPr>
          <p:spPr bwMode="auto">
            <a:xfrm flipV="1">
              <a:off x="839"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31182" name="Line 46"/>
            <p:cNvSpPr>
              <a:spLocks noChangeShapeType="1"/>
            </p:cNvSpPr>
            <p:nvPr/>
          </p:nvSpPr>
          <p:spPr bwMode="auto">
            <a:xfrm>
              <a:off x="839" y="1888"/>
              <a:ext cx="181" cy="0"/>
            </a:xfrm>
            <a:prstGeom prst="line">
              <a:avLst/>
            </a:prstGeom>
            <a:noFill/>
            <a:ln w="12700">
              <a:solidFill>
                <a:srgbClr val="FF0000"/>
              </a:solidFill>
              <a:round/>
              <a:headEnd/>
              <a:tailEnd/>
            </a:ln>
            <a:effectLst/>
          </p:spPr>
          <p:txBody>
            <a:bodyPr wrap="none" anchor="ctr"/>
            <a:lstStyle/>
            <a:p>
              <a:endParaRPr lang="zh-CN" altLang="en-US"/>
            </a:p>
          </p:txBody>
        </p:sp>
        <p:sp>
          <p:nvSpPr>
            <p:cNvPr id="731183" name="Line 47"/>
            <p:cNvSpPr>
              <a:spLocks noChangeShapeType="1"/>
            </p:cNvSpPr>
            <p:nvPr/>
          </p:nvSpPr>
          <p:spPr bwMode="auto">
            <a:xfrm>
              <a:off x="1020" y="1888"/>
              <a:ext cx="0" cy="181"/>
            </a:xfrm>
            <a:prstGeom prst="line">
              <a:avLst/>
            </a:prstGeom>
            <a:noFill/>
            <a:ln w="12700">
              <a:solidFill>
                <a:srgbClr val="FF0000"/>
              </a:solidFill>
              <a:round/>
              <a:headEnd/>
              <a:tailEnd/>
            </a:ln>
            <a:effectLst/>
          </p:spPr>
          <p:txBody>
            <a:bodyPr wrap="none" anchor="ctr"/>
            <a:lstStyle/>
            <a:p>
              <a:endParaRPr lang="zh-CN" altLang="en-US"/>
            </a:p>
          </p:txBody>
        </p:sp>
        <p:sp>
          <p:nvSpPr>
            <p:cNvPr id="731184" name="Line 48"/>
            <p:cNvSpPr>
              <a:spLocks noChangeShapeType="1"/>
            </p:cNvSpPr>
            <p:nvPr/>
          </p:nvSpPr>
          <p:spPr bwMode="auto">
            <a:xfrm>
              <a:off x="295" y="2069"/>
              <a:ext cx="90" cy="0"/>
            </a:xfrm>
            <a:prstGeom prst="line">
              <a:avLst/>
            </a:prstGeom>
            <a:noFill/>
            <a:ln w="12700">
              <a:solidFill>
                <a:srgbClr val="FF0000"/>
              </a:solidFill>
              <a:round/>
              <a:headEnd/>
              <a:tailEnd/>
            </a:ln>
            <a:effectLst/>
          </p:spPr>
          <p:txBody>
            <a:bodyPr wrap="none" anchor="ctr"/>
            <a:lstStyle/>
            <a:p>
              <a:endParaRPr lang="zh-CN" altLang="en-US"/>
            </a:p>
          </p:txBody>
        </p:sp>
        <p:sp>
          <p:nvSpPr>
            <p:cNvPr id="731185" name="Line 49"/>
            <p:cNvSpPr>
              <a:spLocks noChangeShapeType="1"/>
            </p:cNvSpPr>
            <p:nvPr/>
          </p:nvSpPr>
          <p:spPr bwMode="auto">
            <a:xfrm>
              <a:off x="1020" y="2069"/>
              <a:ext cx="91" cy="0"/>
            </a:xfrm>
            <a:prstGeom prst="line">
              <a:avLst/>
            </a:prstGeom>
            <a:noFill/>
            <a:ln w="12700">
              <a:solidFill>
                <a:srgbClr val="FF0000"/>
              </a:solidFill>
              <a:round/>
              <a:headEnd/>
              <a:tailEnd/>
            </a:ln>
            <a:effectLst/>
          </p:spPr>
          <p:txBody>
            <a:bodyPr wrap="none" anchor="ctr"/>
            <a:lstStyle/>
            <a:p>
              <a:endParaRPr lang="zh-CN" altLang="en-US"/>
            </a:p>
          </p:txBody>
        </p:sp>
      </p:grpSp>
      <p:grpSp>
        <p:nvGrpSpPr>
          <p:cNvPr id="731186" name="Group 50"/>
          <p:cNvGrpSpPr>
            <a:grpSpLocks/>
          </p:cNvGrpSpPr>
          <p:nvPr/>
        </p:nvGrpSpPr>
        <p:grpSpPr bwMode="auto">
          <a:xfrm>
            <a:off x="2855913" y="5445126"/>
            <a:ext cx="576262" cy="574675"/>
            <a:chOff x="839" y="2387"/>
            <a:chExt cx="363" cy="362"/>
          </a:xfrm>
        </p:grpSpPr>
        <p:sp>
          <p:nvSpPr>
            <p:cNvPr id="731187" name="Rectangle 51"/>
            <p:cNvSpPr>
              <a:spLocks noChangeArrowheads="1"/>
            </p:cNvSpPr>
            <p:nvPr/>
          </p:nvSpPr>
          <p:spPr bwMode="auto">
            <a:xfrm>
              <a:off x="839" y="2568"/>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solidFill>
                    <a:srgbClr val="FF0000"/>
                  </a:solidFill>
                  <a:latin typeface="Times New Roman" pitchFamily="18" charset="0"/>
                </a:rPr>
                <a:t>110</a:t>
              </a:r>
            </a:p>
          </p:txBody>
        </p:sp>
        <p:sp>
          <p:nvSpPr>
            <p:cNvPr id="731188" name="Rectangle 52"/>
            <p:cNvSpPr>
              <a:spLocks noChangeArrowheads="1"/>
            </p:cNvSpPr>
            <p:nvPr/>
          </p:nvSpPr>
          <p:spPr bwMode="auto">
            <a:xfrm>
              <a:off x="839" y="2387"/>
              <a:ext cx="363" cy="181"/>
            </a:xfrm>
            <a:prstGeom prst="rect">
              <a:avLst/>
            </a:prstGeom>
            <a:solidFill>
              <a:srgbClr val="FFFFCC"/>
            </a:solidFill>
            <a:ln w="12700" algn="ctr">
              <a:solidFill>
                <a:schemeClr val="tx1"/>
              </a:solidFill>
              <a:miter lim="800000"/>
              <a:headEnd/>
              <a:tailEnd/>
            </a:ln>
            <a:effectLst/>
          </p:spPr>
          <p:txBody>
            <a:bodyPr wrap="none" anchor="ctr"/>
            <a:lstStyle/>
            <a:p>
              <a:r>
                <a:rPr lang="en-US" altLang="zh-CN" sz="1400">
                  <a:solidFill>
                    <a:srgbClr val="FF0000"/>
                  </a:solidFill>
                  <a:latin typeface="Times New Roman" pitchFamily="18" charset="0"/>
                </a:rPr>
                <a:t>0</a:t>
              </a:r>
            </a:p>
          </p:txBody>
        </p:sp>
      </p:grpSp>
      <p:sp>
        <p:nvSpPr>
          <p:cNvPr id="731189" name="Line 53"/>
          <p:cNvSpPr>
            <a:spLocks noChangeShapeType="1"/>
          </p:cNvSpPr>
          <p:nvPr/>
        </p:nvSpPr>
        <p:spPr bwMode="auto">
          <a:xfrm>
            <a:off x="3143251" y="2636838"/>
            <a:ext cx="720725" cy="0"/>
          </a:xfrm>
          <a:prstGeom prst="line">
            <a:avLst/>
          </a:prstGeom>
          <a:noFill/>
          <a:ln w="28575">
            <a:solidFill>
              <a:srgbClr val="FF0000"/>
            </a:solidFill>
            <a:round/>
            <a:headEnd/>
            <a:tailEnd type="triangle" w="med" len="med"/>
          </a:ln>
          <a:effectLst/>
        </p:spPr>
        <p:txBody>
          <a:bodyPr wrap="none" anchor="ctr"/>
          <a:lstStyle/>
          <a:p>
            <a:endParaRPr lang="zh-CN" altLang="en-US"/>
          </a:p>
        </p:txBody>
      </p:sp>
      <p:sp>
        <p:nvSpPr>
          <p:cNvPr id="731190" name="Rectangle 54"/>
          <p:cNvSpPr>
            <a:spLocks noChangeArrowheads="1"/>
          </p:cNvSpPr>
          <p:nvPr/>
        </p:nvSpPr>
        <p:spPr bwMode="auto">
          <a:xfrm>
            <a:off x="3863975" y="6237288"/>
            <a:ext cx="1079500" cy="215900"/>
          </a:xfrm>
          <a:prstGeom prst="rect">
            <a:avLst/>
          </a:prstGeom>
          <a:solidFill>
            <a:srgbClr val="CCFF99"/>
          </a:solidFill>
          <a:ln w="12700" algn="ctr">
            <a:solidFill>
              <a:schemeClr val="tx1"/>
            </a:solidFill>
            <a:miter lim="800000"/>
            <a:headEnd/>
            <a:tailEnd/>
          </a:ln>
          <a:effectLst/>
        </p:spPr>
        <p:txBody>
          <a:bodyPr wrap="none" anchor="ctr"/>
          <a:lstStyle/>
          <a:p>
            <a:r>
              <a:rPr lang="en-US" altLang="zh-CN" sz="1400">
                <a:latin typeface="Times New Roman" pitchFamily="18" charset="0"/>
              </a:rPr>
              <a:t>UnTSR</a:t>
            </a:r>
          </a:p>
        </p:txBody>
      </p:sp>
      <p:sp>
        <p:nvSpPr>
          <p:cNvPr id="731191" name="Text Box 55"/>
          <p:cNvSpPr txBox="1">
            <a:spLocks noChangeArrowheads="1"/>
          </p:cNvSpPr>
          <p:nvPr/>
        </p:nvSpPr>
        <p:spPr bwMode="auto">
          <a:xfrm>
            <a:off x="5448301" y="2546351"/>
            <a:ext cx="4392613" cy="1311275"/>
          </a:xfrm>
          <a:prstGeom prst="rect">
            <a:avLst/>
          </a:prstGeom>
          <a:noFill/>
          <a:ln w="9525">
            <a:noFill/>
            <a:miter lim="800000"/>
            <a:headEnd/>
            <a:tailEnd/>
          </a:ln>
          <a:effectLst/>
        </p:spPr>
        <p:txBody>
          <a:bodyPr>
            <a:spAutoFit/>
          </a:bodyPr>
          <a:lstStyle/>
          <a:p>
            <a:pPr algn="l">
              <a:spcBef>
                <a:spcPct val="50000"/>
              </a:spcBef>
            </a:pPr>
            <a:r>
              <a:rPr lang="en-US" altLang="zh-CN" sz="2000">
                <a:ea typeface="华文新魏" pitchFamily="2" charset="-122"/>
              </a:rPr>
              <a:t>2.</a:t>
            </a:r>
            <a:r>
              <a:rPr lang="zh-CN" altLang="en-US" sz="2000">
                <a:ea typeface="华文新魏" pitchFamily="2" charset="-122"/>
              </a:rPr>
              <a:t>在上一次发生</a:t>
            </a:r>
            <a:r>
              <a:rPr lang="en-US" altLang="zh-CN" sz="2000">
                <a:ea typeface="华文新魏" pitchFamily="2" charset="-122"/>
              </a:rPr>
              <a:t>THRE</a:t>
            </a:r>
            <a:r>
              <a:rPr lang="zh-CN" altLang="en-US" sz="2000">
                <a:ea typeface="华文新魏" pitchFamily="2" charset="-122"/>
              </a:rPr>
              <a:t>中断后，向发送</a:t>
            </a:r>
            <a:r>
              <a:rPr lang="en-US" altLang="zh-CN" sz="2000">
                <a:ea typeface="华文新魏" pitchFamily="2" charset="-122"/>
              </a:rPr>
              <a:t>FIFO</a:t>
            </a:r>
            <a:r>
              <a:rPr lang="zh-CN" altLang="en-US" sz="2000">
                <a:ea typeface="华文新魏" pitchFamily="2" charset="-122"/>
              </a:rPr>
              <a:t>中写入</a:t>
            </a:r>
            <a:r>
              <a:rPr lang="en-US" altLang="zh-CN" sz="2000">
                <a:ea typeface="华文新魏" pitchFamily="2" charset="-122"/>
              </a:rPr>
              <a:t>1</a:t>
            </a:r>
            <a:r>
              <a:rPr lang="zh-CN" altLang="en-US" sz="2000">
                <a:ea typeface="华文新魏" pitchFamily="2" charset="-122"/>
              </a:rPr>
              <a:t>个字节数据，将在延时一个字节加上一个停止位后发生</a:t>
            </a:r>
            <a:r>
              <a:rPr lang="en-US" altLang="zh-CN" sz="2000">
                <a:ea typeface="华文新魏" pitchFamily="2" charset="-122"/>
              </a:rPr>
              <a:t>THRE</a:t>
            </a:r>
            <a:r>
              <a:rPr lang="zh-CN" altLang="en-US" sz="2000">
                <a:ea typeface="华文新魏" pitchFamily="2" charset="-122"/>
              </a:rPr>
              <a:t>中断。</a:t>
            </a:r>
          </a:p>
        </p:txBody>
      </p:sp>
      <p:sp>
        <p:nvSpPr>
          <p:cNvPr id="731192" name="Text Box 56"/>
          <p:cNvSpPr txBox="1">
            <a:spLocks noChangeArrowheads="1"/>
          </p:cNvSpPr>
          <p:nvPr/>
        </p:nvSpPr>
        <p:spPr bwMode="auto">
          <a:xfrm>
            <a:off x="5448300" y="3762375"/>
            <a:ext cx="4103688" cy="825500"/>
          </a:xfrm>
          <a:prstGeom prst="rect">
            <a:avLst/>
          </a:prstGeom>
          <a:noFill/>
          <a:ln w="9525">
            <a:noFill/>
            <a:miter lim="800000"/>
            <a:headEnd/>
            <a:tailEnd/>
          </a:ln>
          <a:effectLst/>
        </p:spPr>
        <p:txBody>
          <a:bodyPr>
            <a:spAutoFit/>
          </a:bodyPr>
          <a:lstStyle/>
          <a:p>
            <a:pPr algn="l">
              <a:spcBef>
                <a:spcPct val="50000"/>
              </a:spcBef>
            </a:pPr>
            <a:r>
              <a:rPr lang="en-US" altLang="zh-CN" sz="1600">
                <a:solidFill>
                  <a:srgbClr val="0000FF"/>
                </a:solidFill>
                <a:latin typeface="宋体" pitchFamily="2" charset="-122"/>
              </a:rPr>
              <a:t>    </a:t>
            </a:r>
            <a:r>
              <a:rPr lang="zh-CN" altLang="en-US" sz="1600">
                <a:solidFill>
                  <a:srgbClr val="0000FF"/>
                </a:solidFill>
                <a:latin typeface="宋体" pitchFamily="2" charset="-122"/>
              </a:rPr>
              <a:t>这是因为：如果发送移位寄存器为空，那么写入发送</a:t>
            </a:r>
            <a:r>
              <a:rPr lang="en-US" altLang="zh-CN" sz="1600">
                <a:solidFill>
                  <a:srgbClr val="0000FF"/>
                </a:solidFill>
                <a:latin typeface="宋体" pitchFamily="2" charset="-122"/>
              </a:rPr>
              <a:t>FIFO</a:t>
            </a:r>
            <a:r>
              <a:rPr lang="zh-CN" altLang="en-US" sz="1600">
                <a:solidFill>
                  <a:srgbClr val="0000FF"/>
                </a:solidFill>
                <a:latin typeface="宋体" pitchFamily="2" charset="-122"/>
              </a:rPr>
              <a:t>的数据将直接进入发送移位寄存器；</a:t>
            </a:r>
          </a:p>
        </p:txBody>
      </p:sp>
      <p:sp>
        <p:nvSpPr>
          <p:cNvPr id="731193" name="Text Box 57"/>
          <p:cNvSpPr txBox="1">
            <a:spLocks noChangeArrowheads="1"/>
          </p:cNvSpPr>
          <p:nvPr/>
        </p:nvSpPr>
        <p:spPr bwMode="auto">
          <a:xfrm>
            <a:off x="5448300" y="4602163"/>
            <a:ext cx="4103688" cy="825500"/>
          </a:xfrm>
          <a:prstGeom prst="rect">
            <a:avLst/>
          </a:prstGeom>
          <a:noFill/>
          <a:ln w="9525">
            <a:noFill/>
            <a:miter lim="800000"/>
            <a:headEnd/>
            <a:tailEnd/>
          </a:ln>
          <a:effectLst/>
        </p:spPr>
        <p:txBody>
          <a:bodyPr>
            <a:spAutoFit/>
          </a:bodyPr>
          <a:lstStyle/>
          <a:p>
            <a:pPr algn="l">
              <a:spcBef>
                <a:spcPct val="50000"/>
              </a:spcBef>
            </a:pPr>
            <a:r>
              <a:rPr lang="en-US" altLang="zh-CN" sz="1600">
                <a:solidFill>
                  <a:srgbClr val="0000FF"/>
                </a:solidFill>
                <a:latin typeface="宋体" pitchFamily="2" charset="-122"/>
              </a:rPr>
              <a:t>    </a:t>
            </a:r>
            <a:r>
              <a:rPr lang="zh-CN" altLang="en-US" sz="1600">
                <a:solidFill>
                  <a:srgbClr val="0000FF"/>
                </a:solidFill>
                <a:latin typeface="宋体" pitchFamily="2" charset="-122"/>
              </a:rPr>
              <a:t>此时发送</a:t>
            </a:r>
            <a:r>
              <a:rPr lang="en-US" altLang="zh-CN" sz="1600">
                <a:solidFill>
                  <a:srgbClr val="0000FF"/>
                </a:solidFill>
                <a:latin typeface="宋体" pitchFamily="2" charset="-122"/>
              </a:rPr>
              <a:t>FIFO</a:t>
            </a:r>
            <a:r>
              <a:rPr lang="zh-CN" altLang="en-US" sz="1600">
                <a:solidFill>
                  <a:srgbClr val="0000FF"/>
                </a:solidFill>
                <a:latin typeface="宋体" pitchFamily="2" charset="-122"/>
              </a:rPr>
              <a:t>仍然为空，如果立即产生</a:t>
            </a:r>
            <a:r>
              <a:rPr lang="en-US" altLang="zh-CN" sz="1600">
                <a:solidFill>
                  <a:srgbClr val="0000FF"/>
                </a:solidFill>
                <a:latin typeface="宋体" pitchFamily="2" charset="-122"/>
              </a:rPr>
              <a:t>THRE</a:t>
            </a:r>
            <a:r>
              <a:rPr lang="zh-CN" altLang="en-US" sz="1600">
                <a:solidFill>
                  <a:srgbClr val="0000FF"/>
                </a:solidFill>
                <a:latin typeface="宋体" pitchFamily="2" charset="-122"/>
              </a:rPr>
              <a:t>中断，就会影响紧接着要写入发送</a:t>
            </a:r>
            <a:r>
              <a:rPr lang="en-US" altLang="zh-CN" sz="1600">
                <a:solidFill>
                  <a:srgbClr val="0000FF"/>
                </a:solidFill>
                <a:latin typeface="宋体" pitchFamily="2" charset="-122"/>
              </a:rPr>
              <a:t>FIFO</a:t>
            </a:r>
            <a:r>
              <a:rPr lang="zh-CN" altLang="en-US" sz="1600">
                <a:solidFill>
                  <a:srgbClr val="0000FF"/>
                </a:solidFill>
                <a:latin typeface="宋体" pitchFamily="2" charset="-122"/>
              </a:rPr>
              <a:t>的数据；</a:t>
            </a:r>
          </a:p>
        </p:txBody>
      </p:sp>
      <p:sp>
        <p:nvSpPr>
          <p:cNvPr id="731194" name="Text Box 58"/>
          <p:cNvSpPr txBox="1">
            <a:spLocks noChangeArrowheads="1"/>
          </p:cNvSpPr>
          <p:nvPr/>
        </p:nvSpPr>
        <p:spPr bwMode="auto">
          <a:xfrm>
            <a:off x="5448300" y="5422901"/>
            <a:ext cx="4103688" cy="581025"/>
          </a:xfrm>
          <a:prstGeom prst="rect">
            <a:avLst/>
          </a:prstGeom>
          <a:noFill/>
          <a:ln w="9525">
            <a:noFill/>
            <a:miter lim="800000"/>
            <a:headEnd/>
            <a:tailEnd/>
          </a:ln>
          <a:effectLst/>
        </p:spPr>
        <p:txBody>
          <a:bodyPr>
            <a:spAutoFit/>
          </a:bodyPr>
          <a:lstStyle/>
          <a:p>
            <a:pPr algn="l">
              <a:spcBef>
                <a:spcPct val="50000"/>
              </a:spcBef>
            </a:pPr>
            <a:r>
              <a:rPr lang="en-US" altLang="zh-CN" sz="1600">
                <a:solidFill>
                  <a:srgbClr val="0000FF"/>
                </a:solidFill>
                <a:latin typeface="宋体" pitchFamily="2" charset="-122"/>
              </a:rPr>
              <a:t>    </a:t>
            </a:r>
            <a:r>
              <a:rPr lang="zh-CN" altLang="en-US" sz="1600">
                <a:solidFill>
                  <a:srgbClr val="0000FF"/>
                </a:solidFill>
                <a:latin typeface="宋体" pitchFamily="2" charset="-122"/>
              </a:rPr>
              <a:t>所以在发送完该字节以及一个停止位后，才产生</a:t>
            </a:r>
            <a:r>
              <a:rPr lang="en-US" altLang="zh-CN" sz="1600">
                <a:solidFill>
                  <a:srgbClr val="0000FF"/>
                </a:solidFill>
                <a:latin typeface="宋体" pitchFamily="2" charset="-122"/>
              </a:rPr>
              <a:t>THRE</a:t>
            </a:r>
            <a:r>
              <a:rPr lang="zh-CN" altLang="en-US" sz="1600">
                <a:solidFill>
                  <a:srgbClr val="0000FF"/>
                </a:solidFill>
                <a:latin typeface="宋体" pitchFamily="2" charset="-122"/>
              </a:rPr>
              <a:t>中断；</a:t>
            </a:r>
          </a:p>
        </p:txBody>
      </p:sp>
      <p:sp>
        <p:nvSpPr>
          <p:cNvPr id="731195" name="Text Box 59"/>
          <p:cNvSpPr txBox="1">
            <a:spLocks noChangeArrowheads="1"/>
          </p:cNvSpPr>
          <p:nvPr/>
        </p:nvSpPr>
        <p:spPr bwMode="auto">
          <a:xfrm>
            <a:off x="5448301" y="3860801"/>
            <a:ext cx="4392613" cy="1006475"/>
          </a:xfrm>
          <a:prstGeom prst="rect">
            <a:avLst/>
          </a:prstGeom>
          <a:noFill/>
          <a:ln w="9525">
            <a:noFill/>
            <a:miter lim="800000"/>
            <a:headEnd/>
            <a:tailEnd/>
          </a:ln>
          <a:effectLst/>
        </p:spPr>
        <p:txBody>
          <a:bodyPr>
            <a:spAutoFit/>
          </a:bodyPr>
          <a:lstStyle/>
          <a:p>
            <a:pPr algn="l">
              <a:spcBef>
                <a:spcPct val="50000"/>
              </a:spcBef>
            </a:pPr>
            <a:r>
              <a:rPr lang="en-US" altLang="zh-CN" sz="2000">
                <a:ea typeface="华文新魏" pitchFamily="2" charset="-122"/>
              </a:rPr>
              <a:t>3.</a:t>
            </a:r>
            <a:r>
              <a:rPr lang="zh-CN" altLang="en-US" sz="2000">
                <a:ea typeface="华文新魏" pitchFamily="2" charset="-122"/>
              </a:rPr>
              <a:t>如果在发送</a:t>
            </a:r>
            <a:r>
              <a:rPr lang="en-US" altLang="zh-CN" sz="2000">
                <a:ea typeface="华文新魏" pitchFamily="2" charset="-122"/>
              </a:rPr>
              <a:t>FIFO</a:t>
            </a:r>
            <a:r>
              <a:rPr lang="zh-CN" altLang="en-US" sz="2000">
                <a:ea typeface="华文新魏" pitchFamily="2" charset="-122"/>
              </a:rPr>
              <a:t>中有过两个字节以上的数据，但是现在发送</a:t>
            </a:r>
            <a:r>
              <a:rPr lang="en-US" altLang="zh-CN" sz="2000">
                <a:ea typeface="华文新魏" pitchFamily="2" charset="-122"/>
              </a:rPr>
              <a:t>FIFO</a:t>
            </a:r>
            <a:r>
              <a:rPr lang="zh-CN" altLang="en-US" sz="2000">
                <a:ea typeface="华文新魏" pitchFamily="2" charset="-122"/>
              </a:rPr>
              <a:t>为空时，将立即触发</a:t>
            </a:r>
            <a:r>
              <a:rPr lang="en-US" altLang="zh-CN" sz="2000">
                <a:ea typeface="华文新魏" pitchFamily="2" charset="-122"/>
              </a:rPr>
              <a:t>THRE</a:t>
            </a:r>
            <a:r>
              <a:rPr lang="zh-CN" altLang="en-US" sz="2000">
                <a:ea typeface="华文新魏" pitchFamily="2" charset="-122"/>
              </a:rPr>
              <a:t>中断。</a:t>
            </a:r>
          </a:p>
        </p:txBody>
      </p:sp>
      <p:sp>
        <p:nvSpPr>
          <p:cNvPr id="731196" name="Line 60"/>
          <p:cNvSpPr>
            <a:spLocks noChangeShapeType="1"/>
          </p:cNvSpPr>
          <p:nvPr/>
        </p:nvSpPr>
        <p:spPr bwMode="auto">
          <a:xfrm rot="5400000">
            <a:off x="4727576" y="5805488"/>
            <a:ext cx="720725" cy="0"/>
          </a:xfrm>
          <a:prstGeom prst="line">
            <a:avLst/>
          </a:prstGeom>
          <a:noFill/>
          <a:ln w="28575">
            <a:solidFill>
              <a:srgbClr val="FF0000"/>
            </a:solidFill>
            <a:round/>
            <a:headEnd/>
            <a:tailEnd type="triangle" w="med" len="med"/>
          </a:ln>
          <a:effectLst/>
        </p:spPr>
        <p:txBody>
          <a:bodyPr wrap="none" anchor="ctr"/>
          <a:lstStyle/>
          <a:p>
            <a:endParaRPr lang="zh-CN" altLang="en-US"/>
          </a:p>
        </p:txBody>
      </p:sp>
      <p:sp>
        <p:nvSpPr>
          <p:cNvPr id="731197" name="AutoShape 61"/>
          <p:cNvSpPr>
            <a:spLocks/>
          </p:cNvSpPr>
          <p:nvPr/>
        </p:nvSpPr>
        <p:spPr bwMode="auto">
          <a:xfrm>
            <a:off x="3432176" y="2852738"/>
            <a:ext cx="360363" cy="3384550"/>
          </a:xfrm>
          <a:prstGeom prst="leftBrace">
            <a:avLst>
              <a:gd name="adj1" fmla="val 66092"/>
              <a:gd name="adj2" fmla="val 50889"/>
            </a:avLst>
          </a:prstGeom>
          <a:noFill/>
          <a:ln w="12700">
            <a:solidFill>
              <a:srgbClr val="FF0000"/>
            </a:solidFill>
            <a:round/>
            <a:headEnd/>
            <a:tailEnd/>
          </a:ln>
          <a:effectLst/>
        </p:spPr>
        <p:txBody>
          <a:bodyPr wrap="none" anchor="ctr"/>
          <a:lstStyle/>
          <a:p>
            <a:endParaRPr lang="zh-CN" altLang="en-US"/>
          </a:p>
        </p:txBody>
      </p:sp>
      <p:sp>
        <p:nvSpPr>
          <p:cNvPr id="731198" name="Text Box 62"/>
          <p:cNvSpPr txBox="1">
            <a:spLocks noChangeArrowheads="1"/>
          </p:cNvSpPr>
          <p:nvPr/>
        </p:nvSpPr>
        <p:spPr bwMode="auto">
          <a:xfrm>
            <a:off x="5448301" y="4941888"/>
            <a:ext cx="4392613" cy="1016000"/>
          </a:xfrm>
          <a:prstGeom prst="rect">
            <a:avLst/>
          </a:prstGeom>
          <a:solidFill>
            <a:srgbClr val="CCFFCC"/>
          </a:solidFill>
          <a:ln w="9525">
            <a:solidFill>
              <a:schemeClr val="tx1"/>
            </a:solidFill>
            <a:miter lim="800000"/>
            <a:headEnd/>
            <a:tailEnd/>
          </a:ln>
          <a:effectLst/>
        </p:spPr>
        <p:txBody>
          <a:bodyPr>
            <a:spAutoFit/>
          </a:bodyPr>
          <a:lstStyle/>
          <a:p>
            <a:pPr algn="l">
              <a:spcBef>
                <a:spcPct val="50000"/>
              </a:spcBef>
            </a:pPr>
            <a:r>
              <a:rPr lang="zh-CN" altLang="en-US" sz="2000">
                <a:ea typeface="华文新魏" pitchFamily="2" charset="-122"/>
              </a:rPr>
              <a:t>当</a:t>
            </a:r>
            <a:r>
              <a:rPr lang="en-US" altLang="zh-CN" sz="2000">
                <a:ea typeface="华文新魏" pitchFamily="2" charset="-122"/>
              </a:rPr>
              <a:t>THRE</a:t>
            </a:r>
            <a:r>
              <a:rPr lang="zh-CN" altLang="en-US" sz="2000">
                <a:ea typeface="华文新魏" pitchFamily="2" charset="-122"/>
              </a:rPr>
              <a:t>中断为当前有效的最高优先级中断时，往</a:t>
            </a:r>
            <a:r>
              <a:rPr lang="en-US" altLang="zh-CN" sz="2000">
                <a:ea typeface="华文新魏" pitchFamily="2" charset="-122"/>
              </a:rPr>
              <a:t>UnTHR</a:t>
            </a:r>
            <a:r>
              <a:rPr lang="zh-CN" altLang="en-US" sz="2000">
                <a:ea typeface="华文新魏" pitchFamily="2" charset="-122"/>
              </a:rPr>
              <a:t>写数据，或者对</a:t>
            </a:r>
            <a:r>
              <a:rPr lang="en-US" altLang="zh-CN" sz="2000">
                <a:ea typeface="华文新魏" pitchFamily="2" charset="-122"/>
              </a:rPr>
              <a:t>UnIIR</a:t>
            </a:r>
            <a:r>
              <a:rPr lang="zh-CN" altLang="en-US" sz="2000">
                <a:ea typeface="华文新魏" pitchFamily="2" charset="-122"/>
              </a:rPr>
              <a:t>的读操作，将使</a:t>
            </a:r>
            <a:r>
              <a:rPr lang="en-US" altLang="zh-CN" sz="2000">
                <a:ea typeface="华文新魏" pitchFamily="2" charset="-122"/>
              </a:rPr>
              <a:t>THRE</a:t>
            </a:r>
            <a:r>
              <a:rPr lang="zh-CN" altLang="en-US" sz="2000">
                <a:ea typeface="华文新魏" pitchFamily="2" charset="-122"/>
              </a:rPr>
              <a:t>中断复位。</a:t>
            </a:r>
          </a:p>
        </p:txBody>
      </p:sp>
      <p:sp>
        <p:nvSpPr>
          <p:cNvPr id="731199" name="Rectangle 63"/>
          <p:cNvSpPr>
            <a:spLocks noChangeArrowheads="1"/>
          </p:cNvSpPr>
          <p:nvPr/>
        </p:nvSpPr>
        <p:spPr bwMode="auto">
          <a:xfrm>
            <a:off x="2222500" y="587375"/>
            <a:ext cx="7689850" cy="609600"/>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中断源说明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731168"/>
                                        </p:tgtEl>
                                        <p:attrNameLst>
                                          <p:attrName>style.visibility</p:attrName>
                                        </p:attrNameLst>
                                      </p:cBhvr>
                                      <p:to>
                                        <p:strVal val="visible"/>
                                      </p:to>
                                    </p:set>
                                    <p:animEffect transition="in" filter="box(in)">
                                      <p:cBhvr>
                                        <p:cTn id="7" dur="500"/>
                                        <p:tgtEl>
                                          <p:spTgt spid="731168"/>
                                        </p:tgtEl>
                                      </p:cBhvr>
                                    </p:animEffect>
                                  </p:childTnLst>
                                </p:cTn>
                              </p:par>
                            </p:childTnLst>
                          </p:cTn>
                        </p:par>
                        <p:par>
                          <p:cTn id="8" fill="hold">
                            <p:stCondLst>
                              <p:cond delay="500"/>
                            </p:stCondLst>
                            <p:childTnLst>
                              <p:par>
                                <p:cTn id="9" presetID="37" presetClass="entr" presetSubtype="0" fill="hold" nodeType="afterEffect">
                                  <p:stCondLst>
                                    <p:cond delay="0"/>
                                  </p:stCondLst>
                                  <p:childTnLst>
                                    <p:set>
                                      <p:cBhvr>
                                        <p:cTn id="10" dur="1" fill="hold">
                                          <p:stCondLst>
                                            <p:cond delay="0"/>
                                          </p:stCondLst>
                                        </p:cTn>
                                        <p:tgtEl>
                                          <p:spTgt spid="731139"/>
                                        </p:tgtEl>
                                        <p:attrNameLst>
                                          <p:attrName>style.visibility</p:attrName>
                                        </p:attrNameLst>
                                      </p:cBhvr>
                                      <p:to>
                                        <p:strVal val="visible"/>
                                      </p:to>
                                    </p:set>
                                    <p:animEffect transition="in" filter="fade">
                                      <p:cBhvr>
                                        <p:cTn id="11" dur="1000"/>
                                        <p:tgtEl>
                                          <p:spTgt spid="731139"/>
                                        </p:tgtEl>
                                      </p:cBhvr>
                                    </p:animEffect>
                                    <p:anim calcmode="lin" valueType="num">
                                      <p:cBhvr>
                                        <p:cTn id="12" dur="1000" fill="hold"/>
                                        <p:tgtEl>
                                          <p:spTgt spid="731139"/>
                                        </p:tgtEl>
                                        <p:attrNameLst>
                                          <p:attrName>ppt_x</p:attrName>
                                        </p:attrNameLst>
                                      </p:cBhvr>
                                      <p:tavLst>
                                        <p:tav tm="0">
                                          <p:val>
                                            <p:strVal val="#ppt_x"/>
                                          </p:val>
                                        </p:tav>
                                        <p:tav tm="100000">
                                          <p:val>
                                            <p:strVal val="#ppt_x"/>
                                          </p:val>
                                        </p:tav>
                                      </p:tavLst>
                                    </p:anim>
                                    <p:anim calcmode="lin" valueType="num">
                                      <p:cBhvr>
                                        <p:cTn id="13" dur="900" decel="100000" fill="hold"/>
                                        <p:tgtEl>
                                          <p:spTgt spid="731139"/>
                                        </p:tgtEl>
                                        <p:attrNameLst>
                                          <p:attrName>ppt_y</p:attrName>
                                        </p:attrNameLst>
                                      </p:cBhvr>
                                      <p:tavLst>
                                        <p:tav tm="0">
                                          <p:val>
                                            <p:strVal val="#ppt_y+1"/>
                                          </p:val>
                                        </p:tav>
                                        <p:tav tm="100000">
                                          <p:val>
                                            <p:strVal val="#ppt_y-.03"/>
                                          </p:val>
                                        </p:tav>
                                      </p:tavLst>
                                    </p:anim>
                                    <p:anim calcmode="lin" valueType="num">
                                      <p:cBhvr>
                                        <p:cTn id="14" dur="100" accel="100000" fill="hold">
                                          <p:stCondLst>
                                            <p:cond delay="900"/>
                                          </p:stCondLst>
                                        </p:cTn>
                                        <p:tgtEl>
                                          <p:spTgt spid="731139"/>
                                        </p:tgtEl>
                                        <p:attrNameLst>
                                          <p:attrName>ppt_y</p:attrName>
                                        </p:attrNameLst>
                                      </p:cBhvr>
                                      <p:tavLst>
                                        <p:tav tm="0">
                                          <p:val>
                                            <p:strVal val="#ppt_y-.03"/>
                                          </p:val>
                                        </p:tav>
                                        <p:tav tm="100000">
                                          <p:val>
                                            <p:strVal val="#ppt_y"/>
                                          </p:val>
                                        </p:tav>
                                      </p:tavLst>
                                    </p:anim>
                                  </p:childTnLst>
                                </p:cTn>
                              </p:par>
                            </p:childTnLst>
                          </p:cTn>
                        </p:par>
                        <p:par>
                          <p:cTn id="15" fill="hold">
                            <p:stCondLst>
                              <p:cond delay="1500"/>
                            </p:stCondLst>
                            <p:childTnLst>
                              <p:par>
                                <p:cTn id="16" presetID="12" presetClass="entr" presetSubtype="2" fill="hold" grpId="0" nodeType="afterEffect">
                                  <p:stCondLst>
                                    <p:cond delay="0"/>
                                  </p:stCondLst>
                                  <p:childTnLst>
                                    <p:set>
                                      <p:cBhvr>
                                        <p:cTn id="17" dur="1" fill="hold">
                                          <p:stCondLst>
                                            <p:cond delay="0"/>
                                          </p:stCondLst>
                                        </p:cTn>
                                        <p:tgtEl>
                                          <p:spTgt spid="731197"/>
                                        </p:tgtEl>
                                        <p:attrNameLst>
                                          <p:attrName>style.visibility</p:attrName>
                                        </p:attrNameLst>
                                      </p:cBhvr>
                                      <p:to>
                                        <p:strVal val="visible"/>
                                      </p:to>
                                    </p:set>
                                    <p:animEffect transition="in" filter="slide(fromRight)">
                                      <p:cBhvr>
                                        <p:cTn id="18" dur="500"/>
                                        <p:tgtEl>
                                          <p:spTgt spid="731197"/>
                                        </p:tgtEl>
                                      </p:cBhvr>
                                    </p:animEffect>
                                  </p:childTnLst>
                                </p:cTn>
                              </p:par>
                            </p:childTnLst>
                          </p:cTn>
                        </p:par>
                        <p:par>
                          <p:cTn id="19" fill="hold">
                            <p:stCondLst>
                              <p:cond delay="2000"/>
                            </p:stCondLst>
                            <p:childTnLst>
                              <p:par>
                                <p:cTn id="20" presetID="27" presetClass="entr" presetSubtype="0" fill="hold" grpId="0" nodeType="afterEffect">
                                  <p:stCondLst>
                                    <p:cond delay="0"/>
                                  </p:stCondLst>
                                  <p:iterate type="lt">
                                    <p:tmPct val="50000"/>
                                  </p:iterate>
                                  <p:childTnLst>
                                    <p:set>
                                      <p:cBhvr>
                                        <p:cTn id="21" dur="1" fill="hold">
                                          <p:stCondLst>
                                            <p:cond delay="0"/>
                                          </p:stCondLst>
                                        </p:cTn>
                                        <p:tgtEl>
                                          <p:spTgt spid="731169"/>
                                        </p:tgtEl>
                                        <p:attrNameLst>
                                          <p:attrName>style.visibility</p:attrName>
                                        </p:attrNameLst>
                                      </p:cBhvr>
                                      <p:to>
                                        <p:strVal val="visible"/>
                                      </p:to>
                                    </p:set>
                                    <p:anim calcmode="discrete" valueType="clr">
                                      <p:cBhvr override="childStyle">
                                        <p:cTn id="22" dur="80"/>
                                        <p:tgtEl>
                                          <p:spTgt spid="731169"/>
                                        </p:tgtEl>
                                        <p:attrNameLst>
                                          <p:attrName>style.color</p:attrName>
                                        </p:attrNameLst>
                                      </p:cBhvr>
                                      <p:tavLst>
                                        <p:tav tm="0">
                                          <p:val>
                                            <p:clrVal>
                                              <a:schemeClr val="accent2"/>
                                            </p:clrVal>
                                          </p:val>
                                        </p:tav>
                                        <p:tav tm="50000">
                                          <p:val>
                                            <p:clrVal>
                                              <a:schemeClr val="hlink"/>
                                            </p:clrVal>
                                          </p:val>
                                        </p:tav>
                                      </p:tavLst>
                                    </p:anim>
                                    <p:anim calcmode="discrete" valueType="clr">
                                      <p:cBhvr>
                                        <p:cTn id="23" dur="80"/>
                                        <p:tgtEl>
                                          <p:spTgt spid="731169"/>
                                        </p:tgtEl>
                                        <p:attrNameLst>
                                          <p:attrName>fillcolor</p:attrName>
                                        </p:attrNameLst>
                                      </p:cBhvr>
                                      <p:tavLst>
                                        <p:tav tm="0">
                                          <p:val>
                                            <p:clrVal>
                                              <a:schemeClr val="accent2"/>
                                            </p:clrVal>
                                          </p:val>
                                        </p:tav>
                                        <p:tav tm="50000">
                                          <p:val>
                                            <p:clrVal>
                                              <a:schemeClr val="hlink"/>
                                            </p:clrVal>
                                          </p:val>
                                        </p:tav>
                                      </p:tavLst>
                                    </p:anim>
                                    <p:set>
                                      <p:cBhvr>
                                        <p:cTn id="24" dur="80"/>
                                        <p:tgtEl>
                                          <p:spTgt spid="731169"/>
                                        </p:tgtEl>
                                        <p:attrNameLst>
                                          <p:attrName>fill.type</p:attrName>
                                        </p:attrNameLst>
                                      </p:cBhvr>
                                      <p:to>
                                        <p:strVal val="solid"/>
                                      </p:to>
                                    </p:set>
                                  </p:childTnLst>
                                </p:cTn>
                              </p:par>
                            </p:childTnLst>
                          </p:cTn>
                        </p:par>
                        <p:par>
                          <p:cTn id="25" fill="hold">
                            <p:stCondLst>
                              <p:cond delay="2280"/>
                            </p:stCondLst>
                            <p:childTnLst>
                              <p:par>
                                <p:cTn id="26" presetID="2" presetClass="entr" presetSubtype="2" fill="hold" grpId="0" nodeType="afterEffect">
                                  <p:stCondLst>
                                    <p:cond delay="0"/>
                                  </p:stCondLst>
                                  <p:childTnLst>
                                    <p:set>
                                      <p:cBhvr>
                                        <p:cTn id="27" dur="1" fill="hold">
                                          <p:stCondLst>
                                            <p:cond delay="0"/>
                                          </p:stCondLst>
                                        </p:cTn>
                                        <p:tgtEl>
                                          <p:spTgt spid="731170"/>
                                        </p:tgtEl>
                                        <p:attrNameLst>
                                          <p:attrName>style.visibility</p:attrName>
                                        </p:attrNameLst>
                                      </p:cBhvr>
                                      <p:to>
                                        <p:strVal val="visible"/>
                                      </p:to>
                                    </p:set>
                                    <p:anim calcmode="lin" valueType="num">
                                      <p:cBhvr additive="base">
                                        <p:cTn id="28" dur="500" fill="hold"/>
                                        <p:tgtEl>
                                          <p:spTgt spid="731170"/>
                                        </p:tgtEl>
                                        <p:attrNameLst>
                                          <p:attrName>ppt_x</p:attrName>
                                        </p:attrNameLst>
                                      </p:cBhvr>
                                      <p:tavLst>
                                        <p:tav tm="0">
                                          <p:val>
                                            <p:strVal val="1+#ppt_w/2"/>
                                          </p:val>
                                        </p:tav>
                                        <p:tav tm="100000">
                                          <p:val>
                                            <p:strVal val="#ppt_x"/>
                                          </p:val>
                                        </p:tav>
                                      </p:tavLst>
                                    </p:anim>
                                    <p:anim calcmode="lin" valueType="num">
                                      <p:cBhvr additive="base">
                                        <p:cTn id="29" dur="500" fill="hold"/>
                                        <p:tgtEl>
                                          <p:spTgt spid="731170"/>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731191"/>
                                        </p:tgtEl>
                                        <p:attrNameLst>
                                          <p:attrName>style.visibility</p:attrName>
                                        </p:attrNameLst>
                                      </p:cBhvr>
                                      <p:to>
                                        <p:strVal val="visible"/>
                                      </p:to>
                                    </p:set>
                                    <p:anim calcmode="lin" valueType="num">
                                      <p:cBhvr additive="base">
                                        <p:cTn id="34" dur="500" fill="hold"/>
                                        <p:tgtEl>
                                          <p:spTgt spid="731191"/>
                                        </p:tgtEl>
                                        <p:attrNameLst>
                                          <p:attrName>ppt_x</p:attrName>
                                        </p:attrNameLst>
                                      </p:cBhvr>
                                      <p:tavLst>
                                        <p:tav tm="0">
                                          <p:val>
                                            <p:strVal val="1+#ppt_w/2"/>
                                          </p:val>
                                        </p:tav>
                                        <p:tav tm="100000">
                                          <p:val>
                                            <p:strVal val="#ppt_x"/>
                                          </p:val>
                                        </p:tav>
                                      </p:tavLst>
                                    </p:anim>
                                    <p:anim calcmode="lin" valueType="num">
                                      <p:cBhvr additive="base">
                                        <p:cTn id="35" dur="500" fill="hold"/>
                                        <p:tgtEl>
                                          <p:spTgt spid="731191"/>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grpId="0" nodeType="clickEffect">
                                  <p:stCondLst>
                                    <p:cond delay="0"/>
                                  </p:stCondLst>
                                  <p:childTnLst>
                                    <p:set>
                                      <p:cBhvr>
                                        <p:cTn id="39" dur="1" fill="hold">
                                          <p:stCondLst>
                                            <p:cond delay="0"/>
                                          </p:stCondLst>
                                        </p:cTn>
                                        <p:tgtEl>
                                          <p:spTgt spid="731192"/>
                                        </p:tgtEl>
                                        <p:attrNameLst>
                                          <p:attrName>style.visibility</p:attrName>
                                        </p:attrNameLst>
                                      </p:cBhvr>
                                      <p:to>
                                        <p:strVal val="visible"/>
                                      </p:to>
                                    </p:set>
                                    <p:anim calcmode="lin" valueType="num">
                                      <p:cBhvr additive="base">
                                        <p:cTn id="40" dur="500" fill="hold"/>
                                        <p:tgtEl>
                                          <p:spTgt spid="731192"/>
                                        </p:tgtEl>
                                        <p:attrNameLst>
                                          <p:attrName>ppt_x</p:attrName>
                                        </p:attrNameLst>
                                      </p:cBhvr>
                                      <p:tavLst>
                                        <p:tav tm="0">
                                          <p:val>
                                            <p:strVal val="1+#ppt_w/2"/>
                                          </p:val>
                                        </p:tav>
                                        <p:tav tm="100000">
                                          <p:val>
                                            <p:strVal val="#ppt_x"/>
                                          </p:val>
                                        </p:tav>
                                      </p:tavLst>
                                    </p:anim>
                                    <p:anim calcmode="lin" valueType="num">
                                      <p:cBhvr additive="base">
                                        <p:cTn id="41" dur="500" fill="hold"/>
                                        <p:tgtEl>
                                          <p:spTgt spid="731192"/>
                                        </p:tgtEl>
                                        <p:attrNameLst>
                                          <p:attrName>ppt_y</p:attrName>
                                        </p:attrNameLst>
                                      </p:cBhvr>
                                      <p:tavLst>
                                        <p:tav tm="0">
                                          <p:val>
                                            <p:strVal val="#ppt_y"/>
                                          </p:val>
                                        </p:tav>
                                        <p:tav tm="100000">
                                          <p:val>
                                            <p:strVal val="#ppt_y"/>
                                          </p:val>
                                        </p:tav>
                                      </p:tavLst>
                                    </p:anim>
                                  </p:childTnLst>
                                </p:cTn>
                              </p:par>
                            </p:childTnLst>
                          </p:cTn>
                        </p:par>
                        <p:par>
                          <p:cTn id="42" fill="hold">
                            <p:stCondLst>
                              <p:cond delay="500"/>
                            </p:stCondLst>
                            <p:childTnLst>
                              <p:par>
                                <p:cTn id="43" presetID="12" presetClass="entr" presetSubtype="8" fill="hold" grpId="0" nodeType="afterEffect">
                                  <p:stCondLst>
                                    <p:cond delay="0"/>
                                  </p:stCondLst>
                                  <p:childTnLst>
                                    <p:set>
                                      <p:cBhvr>
                                        <p:cTn id="44" dur="1" fill="hold">
                                          <p:stCondLst>
                                            <p:cond delay="0"/>
                                          </p:stCondLst>
                                        </p:cTn>
                                        <p:tgtEl>
                                          <p:spTgt spid="731189"/>
                                        </p:tgtEl>
                                        <p:attrNameLst>
                                          <p:attrName>style.visibility</p:attrName>
                                        </p:attrNameLst>
                                      </p:cBhvr>
                                      <p:to>
                                        <p:strVal val="visible"/>
                                      </p:to>
                                    </p:set>
                                    <p:animEffect transition="in" filter="slide(fromLeft)">
                                      <p:cBhvr>
                                        <p:cTn id="45" dur="500"/>
                                        <p:tgtEl>
                                          <p:spTgt spid="731189"/>
                                        </p:tgtEl>
                                      </p:cBhvr>
                                    </p:animEffect>
                                  </p:childTnLst>
                                </p:cTn>
                              </p:par>
                            </p:childTnLst>
                          </p:cTn>
                        </p:par>
                        <p:par>
                          <p:cTn id="46" fill="hold">
                            <p:stCondLst>
                              <p:cond delay="1000"/>
                            </p:stCondLst>
                            <p:childTnLst>
                              <p:par>
                                <p:cTn id="47" presetID="12" presetClass="entr" presetSubtype="1" fill="hold" grpId="0" nodeType="afterEffect">
                                  <p:stCondLst>
                                    <p:cond delay="0"/>
                                  </p:stCondLst>
                                  <p:childTnLst>
                                    <p:set>
                                      <p:cBhvr>
                                        <p:cTn id="48" dur="1" fill="hold">
                                          <p:stCondLst>
                                            <p:cond delay="0"/>
                                          </p:stCondLst>
                                        </p:cTn>
                                        <p:tgtEl>
                                          <p:spTgt spid="731171"/>
                                        </p:tgtEl>
                                        <p:attrNameLst>
                                          <p:attrName>style.visibility</p:attrName>
                                        </p:attrNameLst>
                                      </p:cBhvr>
                                      <p:to>
                                        <p:strVal val="visible"/>
                                      </p:to>
                                    </p:set>
                                    <p:animEffect transition="in" filter="slide(fromTop)">
                                      <p:cBhvr>
                                        <p:cTn id="49" dur="500"/>
                                        <p:tgtEl>
                                          <p:spTgt spid="731171"/>
                                        </p:tgtEl>
                                      </p:cBhvr>
                                    </p:animEffect>
                                  </p:childTnLst>
                                </p:cTn>
                              </p:par>
                            </p:childTnLst>
                          </p:cTn>
                        </p:par>
                        <p:par>
                          <p:cTn id="50" fill="hold">
                            <p:stCondLst>
                              <p:cond delay="1500"/>
                            </p:stCondLst>
                            <p:childTnLst>
                              <p:par>
                                <p:cTn id="51" presetID="42" presetClass="exit" presetSubtype="0" fill="hold" grpId="1" nodeType="afterEffect">
                                  <p:stCondLst>
                                    <p:cond delay="0"/>
                                  </p:stCondLst>
                                  <p:childTnLst>
                                    <p:animEffect transition="out" filter="fade">
                                      <p:cBhvr>
                                        <p:cTn id="52" dur="1000"/>
                                        <p:tgtEl>
                                          <p:spTgt spid="731171"/>
                                        </p:tgtEl>
                                      </p:cBhvr>
                                    </p:animEffect>
                                    <p:anim calcmode="lin" valueType="num">
                                      <p:cBhvr>
                                        <p:cTn id="53" dur="1000"/>
                                        <p:tgtEl>
                                          <p:spTgt spid="731171"/>
                                        </p:tgtEl>
                                        <p:attrNameLst>
                                          <p:attrName>ppt_x</p:attrName>
                                        </p:attrNameLst>
                                      </p:cBhvr>
                                      <p:tavLst>
                                        <p:tav tm="0">
                                          <p:val>
                                            <p:strVal val="ppt_x"/>
                                          </p:val>
                                        </p:tav>
                                        <p:tav tm="100000">
                                          <p:val>
                                            <p:strVal val="ppt_x"/>
                                          </p:val>
                                        </p:tav>
                                      </p:tavLst>
                                    </p:anim>
                                    <p:anim calcmode="lin" valueType="num">
                                      <p:cBhvr>
                                        <p:cTn id="54" dur="1000"/>
                                        <p:tgtEl>
                                          <p:spTgt spid="731171"/>
                                        </p:tgtEl>
                                        <p:attrNameLst>
                                          <p:attrName>ppt_y</p:attrName>
                                        </p:attrNameLst>
                                      </p:cBhvr>
                                      <p:tavLst>
                                        <p:tav tm="0">
                                          <p:val>
                                            <p:strVal val="ppt_y"/>
                                          </p:val>
                                        </p:tav>
                                        <p:tav tm="100000">
                                          <p:val>
                                            <p:strVal val="ppt_y+.1"/>
                                          </p:val>
                                        </p:tav>
                                      </p:tavLst>
                                    </p:anim>
                                    <p:set>
                                      <p:cBhvr>
                                        <p:cTn id="55" dur="1" fill="hold">
                                          <p:stCondLst>
                                            <p:cond delay="999"/>
                                          </p:stCondLst>
                                        </p:cTn>
                                        <p:tgtEl>
                                          <p:spTgt spid="731171"/>
                                        </p:tgtEl>
                                        <p:attrNameLst>
                                          <p:attrName>style.visibility</p:attrName>
                                        </p:attrNameLst>
                                      </p:cBhvr>
                                      <p:to>
                                        <p:strVal val="hidden"/>
                                      </p:to>
                                    </p:set>
                                  </p:childTnLst>
                                </p:cTn>
                              </p:par>
                            </p:childTnLst>
                          </p:cTn>
                        </p:par>
                        <p:par>
                          <p:cTn id="56" fill="hold">
                            <p:stCondLst>
                              <p:cond delay="2500"/>
                            </p:stCondLst>
                            <p:childTnLst>
                              <p:par>
                                <p:cTn id="57" presetID="47" presetClass="entr" presetSubtype="0" fill="hold" grpId="0" nodeType="afterEffect">
                                  <p:stCondLst>
                                    <p:cond delay="0"/>
                                  </p:stCondLst>
                                  <p:childTnLst>
                                    <p:set>
                                      <p:cBhvr>
                                        <p:cTn id="58" dur="1" fill="hold">
                                          <p:stCondLst>
                                            <p:cond delay="0"/>
                                          </p:stCondLst>
                                        </p:cTn>
                                        <p:tgtEl>
                                          <p:spTgt spid="731190"/>
                                        </p:tgtEl>
                                        <p:attrNameLst>
                                          <p:attrName>style.visibility</p:attrName>
                                        </p:attrNameLst>
                                      </p:cBhvr>
                                      <p:to>
                                        <p:strVal val="visible"/>
                                      </p:to>
                                    </p:set>
                                    <p:animEffect transition="in" filter="fade">
                                      <p:cBhvr>
                                        <p:cTn id="59" dur="1000"/>
                                        <p:tgtEl>
                                          <p:spTgt spid="731190"/>
                                        </p:tgtEl>
                                      </p:cBhvr>
                                    </p:animEffect>
                                    <p:anim calcmode="lin" valueType="num">
                                      <p:cBhvr>
                                        <p:cTn id="60" dur="1000" fill="hold"/>
                                        <p:tgtEl>
                                          <p:spTgt spid="731190"/>
                                        </p:tgtEl>
                                        <p:attrNameLst>
                                          <p:attrName>ppt_x</p:attrName>
                                        </p:attrNameLst>
                                      </p:cBhvr>
                                      <p:tavLst>
                                        <p:tav tm="0">
                                          <p:val>
                                            <p:strVal val="#ppt_x"/>
                                          </p:val>
                                        </p:tav>
                                        <p:tav tm="100000">
                                          <p:val>
                                            <p:strVal val="#ppt_x"/>
                                          </p:val>
                                        </p:tav>
                                      </p:tavLst>
                                    </p:anim>
                                    <p:anim calcmode="lin" valueType="num">
                                      <p:cBhvr>
                                        <p:cTn id="61" dur="1000" fill="hold"/>
                                        <p:tgtEl>
                                          <p:spTgt spid="731190"/>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2" fill="hold" grpId="0" nodeType="clickEffect">
                                  <p:stCondLst>
                                    <p:cond delay="0"/>
                                  </p:stCondLst>
                                  <p:childTnLst>
                                    <p:set>
                                      <p:cBhvr>
                                        <p:cTn id="65" dur="1" fill="hold">
                                          <p:stCondLst>
                                            <p:cond delay="0"/>
                                          </p:stCondLst>
                                        </p:cTn>
                                        <p:tgtEl>
                                          <p:spTgt spid="731193"/>
                                        </p:tgtEl>
                                        <p:attrNameLst>
                                          <p:attrName>style.visibility</p:attrName>
                                        </p:attrNameLst>
                                      </p:cBhvr>
                                      <p:to>
                                        <p:strVal val="visible"/>
                                      </p:to>
                                    </p:set>
                                    <p:anim calcmode="lin" valueType="num">
                                      <p:cBhvr additive="base">
                                        <p:cTn id="66" dur="500" fill="hold"/>
                                        <p:tgtEl>
                                          <p:spTgt spid="731193"/>
                                        </p:tgtEl>
                                        <p:attrNameLst>
                                          <p:attrName>ppt_x</p:attrName>
                                        </p:attrNameLst>
                                      </p:cBhvr>
                                      <p:tavLst>
                                        <p:tav tm="0">
                                          <p:val>
                                            <p:strVal val="1+#ppt_w/2"/>
                                          </p:val>
                                        </p:tav>
                                        <p:tav tm="100000">
                                          <p:val>
                                            <p:strVal val="#ppt_x"/>
                                          </p:val>
                                        </p:tav>
                                      </p:tavLst>
                                    </p:anim>
                                    <p:anim calcmode="lin" valueType="num">
                                      <p:cBhvr additive="base">
                                        <p:cTn id="67" dur="500" fill="hold"/>
                                        <p:tgtEl>
                                          <p:spTgt spid="731193"/>
                                        </p:tgtEl>
                                        <p:attrNameLst>
                                          <p:attrName>ppt_y</p:attrName>
                                        </p:attrNameLst>
                                      </p:cBhvr>
                                      <p:tavLst>
                                        <p:tav tm="0">
                                          <p:val>
                                            <p:strVal val="#ppt_y"/>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2" fill="hold" grpId="0" nodeType="clickEffect">
                                  <p:stCondLst>
                                    <p:cond delay="0"/>
                                  </p:stCondLst>
                                  <p:childTnLst>
                                    <p:set>
                                      <p:cBhvr>
                                        <p:cTn id="71" dur="1" fill="hold">
                                          <p:stCondLst>
                                            <p:cond delay="0"/>
                                          </p:stCondLst>
                                        </p:cTn>
                                        <p:tgtEl>
                                          <p:spTgt spid="731194"/>
                                        </p:tgtEl>
                                        <p:attrNameLst>
                                          <p:attrName>style.visibility</p:attrName>
                                        </p:attrNameLst>
                                      </p:cBhvr>
                                      <p:to>
                                        <p:strVal val="visible"/>
                                      </p:to>
                                    </p:set>
                                    <p:anim calcmode="lin" valueType="num">
                                      <p:cBhvr additive="base">
                                        <p:cTn id="72" dur="500" fill="hold"/>
                                        <p:tgtEl>
                                          <p:spTgt spid="731194"/>
                                        </p:tgtEl>
                                        <p:attrNameLst>
                                          <p:attrName>ppt_x</p:attrName>
                                        </p:attrNameLst>
                                      </p:cBhvr>
                                      <p:tavLst>
                                        <p:tav tm="0">
                                          <p:val>
                                            <p:strVal val="1+#ppt_w/2"/>
                                          </p:val>
                                        </p:tav>
                                        <p:tav tm="100000">
                                          <p:val>
                                            <p:strVal val="#ppt_x"/>
                                          </p:val>
                                        </p:tav>
                                      </p:tavLst>
                                    </p:anim>
                                    <p:anim calcmode="lin" valueType="num">
                                      <p:cBhvr additive="base">
                                        <p:cTn id="73" dur="500" fill="hold"/>
                                        <p:tgtEl>
                                          <p:spTgt spid="731194"/>
                                        </p:tgtEl>
                                        <p:attrNameLst>
                                          <p:attrName>ppt_y</p:attrName>
                                        </p:attrNameLst>
                                      </p:cBhvr>
                                      <p:tavLst>
                                        <p:tav tm="0">
                                          <p:val>
                                            <p:strVal val="#ppt_y"/>
                                          </p:val>
                                        </p:tav>
                                        <p:tav tm="100000">
                                          <p:val>
                                            <p:strVal val="#ppt_y"/>
                                          </p:val>
                                        </p:tav>
                                      </p:tavLst>
                                    </p:anim>
                                  </p:childTnLst>
                                </p:cTn>
                              </p:par>
                            </p:childTnLst>
                          </p:cTn>
                        </p:par>
                        <p:par>
                          <p:cTn id="74" fill="hold">
                            <p:stCondLst>
                              <p:cond delay="500"/>
                            </p:stCondLst>
                            <p:childTnLst>
                              <p:par>
                                <p:cTn id="75" presetID="22" presetClass="exit" presetSubtype="8" fill="hold" grpId="1" nodeType="afterEffect">
                                  <p:stCondLst>
                                    <p:cond delay="0"/>
                                  </p:stCondLst>
                                  <p:childTnLst>
                                    <p:animEffect transition="out" filter="wipe(left)">
                                      <p:cBhvr>
                                        <p:cTn id="76" dur="500"/>
                                        <p:tgtEl>
                                          <p:spTgt spid="731190"/>
                                        </p:tgtEl>
                                      </p:cBhvr>
                                    </p:animEffect>
                                    <p:set>
                                      <p:cBhvr>
                                        <p:cTn id="77" dur="1" fill="hold">
                                          <p:stCondLst>
                                            <p:cond delay="499"/>
                                          </p:stCondLst>
                                        </p:cTn>
                                        <p:tgtEl>
                                          <p:spTgt spid="731190"/>
                                        </p:tgtEl>
                                        <p:attrNameLst>
                                          <p:attrName>style.visibility</p:attrName>
                                        </p:attrNameLst>
                                      </p:cBhvr>
                                      <p:to>
                                        <p:strVal val="hidden"/>
                                      </p:to>
                                    </p:set>
                                  </p:childTnLst>
                                </p:cTn>
                              </p:par>
                            </p:childTnLst>
                          </p:cTn>
                        </p:par>
                        <p:par>
                          <p:cTn id="78" fill="hold">
                            <p:stCondLst>
                              <p:cond delay="1000"/>
                            </p:stCondLst>
                            <p:childTnLst>
                              <p:par>
                                <p:cTn id="79" presetID="22" presetClass="entr" presetSubtype="8" fill="hold" nodeType="afterEffect">
                                  <p:stCondLst>
                                    <p:cond delay="0"/>
                                  </p:stCondLst>
                                  <p:childTnLst>
                                    <p:set>
                                      <p:cBhvr>
                                        <p:cTn id="80" dur="1" fill="hold">
                                          <p:stCondLst>
                                            <p:cond delay="0"/>
                                          </p:stCondLst>
                                        </p:cTn>
                                        <p:tgtEl>
                                          <p:spTgt spid="731172"/>
                                        </p:tgtEl>
                                        <p:attrNameLst>
                                          <p:attrName>style.visibility</p:attrName>
                                        </p:attrNameLst>
                                      </p:cBhvr>
                                      <p:to>
                                        <p:strVal val="visible"/>
                                      </p:to>
                                    </p:set>
                                    <p:animEffect transition="in" filter="wipe(left)">
                                      <p:cBhvr>
                                        <p:cTn id="81" dur="500"/>
                                        <p:tgtEl>
                                          <p:spTgt spid="731172"/>
                                        </p:tgtEl>
                                      </p:cBhvr>
                                    </p:animEffect>
                                  </p:childTnLst>
                                </p:cTn>
                              </p:par>
                            </p:childTnLst>
                          </p:cTn>
                        </p:par>
                        <p:par>
                          <p:cTn id="82" fill="hold">
                            <p:stCondLst>
                              <p:cond delay="1500"/>
                            </p:stCondLst>
                            <p:childTnLst>
                              <p:par>
                                <p:cTn id="83" presetID="12" presetClass="entr" presetSubtype="2" fill="hold" nodeType="afterEffect">
                                  <p:stCondLst>
                                    <p:cond delay="0"/>
                                  </p:stCondLst>
                                  <p:childTnLst>
                                    <p:set>
                                      <p:cBhvr>
                                        <p:cTn id="84" dur="1" fill="hold">
                                          <p:stCondLst>
                                            <p:cond delay="0"/>
                                          </p:stCondLst>
                                        </p:cTn>
                                        <p:tgtEl>
                                          <p:spTgt spid="731186"/>
                                        </p:tgtEl>
                                        <p:attrNameLst>
                                          <p:attrName>style.visibility</p:attrName>
                                        </p:attrNameLst>
                                      </p:cBhvr>
                                      <p:to>
                                        <p:strVal val="visible"/>
                                      </p:to>
                                    </p:set>
                                    <p:animEffect transition="in" filter="slide(fromRight)">
                                      <p:cBhvr>
                                        <p:cTn id="85" dur="500"/>
                                        <p:tgtEl>
                                          <p:spTgt spid="731186"/>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xit" presetSubtype="0" fill="hold" grpId="1" nodeType="clickEffect">
                                  <p:stCondLst>
                                    <p:cond delay="0"/>
                                  </p:stCondLst>
                                  <p:childTnLst>
                                    <p:set>
                                      <p:cBhvr>
                                        <p:cTn id="89" dur="1" fill="hold">
                                          <p:stCondLst>
                                            <p:cond delay="0"/>
                                          </p:stCondLst>
                                        </p:cTn>
                                        <p:tgtEl>
                                          <p:spTgt spid="731194"/>
                                        </p:tgtEl>
                                        <p:attrNameLst>
                                          <p:attrName>style.visibility</p:attrName>
                                        </p:attrNameLst>
                                      </p:cBhvr>
                                      <p:to>
                                        <p:strVal val="hidden"/>
                                      </p:to>
                                    </p:set>
                                  </p:childTnLst>
                                </p:cTn>
                              </p:par>
                            </p:childTnLst>
                          </p:cTn>
                        </p:par>
                        <p:par>
                          <p:cTn id="90" fill="hold">
                            <p:stCondLst>
                              <p:cond delay="0"/>
                            </p:stCondLst>
                            <p:childTnLst>
                              <p:par>
                                <p:cTn id="91" presetID="1" presetClass="exit" presetSubtype="0" fill="hold" grpId="1" nodeType="afterEffect">
                                  <p:stCondLst>
                                    <p:cond delay="0"/>
                                  </p:stCondLst>
                                  <p:childTnLst>
                                    <p:set>
                                      <p:cBhvr>
                                        <p:cTn id="92" dur="1" fill="hold">
                                          <p:stCondLst>
                                            <p:cond delay="0"/>
                                          </p:stCondLst>
                                        </p:cTn>
                                        <p:tgtEl>
                                          <p:spTgt spid="731192"/>
                                        </p:tgtEl>
                                        <p:attrNameLst>
                                          <p:attrName>style.visibility</p:attrName>
                                        </p:attrNameLst>
                                      </p:cBhvr>
                                      <p:to>
                                        <p:strVal val="hidden"/>
                                      </p:to>
                                    </p:set>
                                  </p:childTnLst>
                                </p:cTn>
                              </p:par>
                            </p:childTnLst>
                          </p:cTn>
                        </p:par>
                        <p:par>
                          <p:cTn id="93" fill="hold">
                            <p:stCondLst>
                              <p:cond delay="0"/>
                            </p:stCondLst>
                            <p:childTnLst>
                              <p:par>
                                <p:cTn id="94" presetID="1" presetClass="exit" presetSubtype="0" fill="hold" grpId="1" nodeType="afterEffect">
                                  <p:stCondLst>
                                    <p:cond delay="0"/>
                                  </p:stCondLst>
                                  <p:childTnLst>
                                    <p:set>
                                      <p:cBhvr>
                                        <p:cTn id="95" dur="1" fill="hold">
                                          <p:stCondLst>
                                            <p:cond delay="0"/>
                                          </p:stCondLst>
                                        </p:cTn>
                                        <p:tgtEl>
                                          <p:spTgt spid="731193"/>
                                        </p:tgtEl>
                                        <p:attrNameLst>
                                          <p:attrName>style.visibility</p:attrName>
                                        </p:attrNameLst>
                                      </p:cBhvr>
                                      <p:to>
                                        <p:strVal val="hidden"/>
                                      </p:to>
                                    </p:set>
                                  </p:childTnLst>
                                </p:cTn>
                              </p:par>
                            </p:childTnLst>
                          </p:cTn>
                        </p:par>
                        <p:par>
                          <p:cTn id="96" fill="hold">
                            <p:stCondLst>
                              <p:cond delay="0"/>
                            </p:stCondLst>
                            <p:childTnLst>
                              <p:par>
                                <p:cTn id="97" presetID="1" presetClass="exit" presetSubtype="0" fill="hold" nodeType="afterEffect">
                                  <p:stCondLst>
                                    <p:cond delay="0"/>
                                  </p:stCondLst>
                                  <p:childTnLst>
                                    <p:set>
                                      <p:cBhvr>
                                        <p:cTn id="98" dur="1" fill="hold">
                                          <p:stCondLst>
                                            <p:cond delay="0"/>
                                          </p:stCondLst>
                                        </p:cTn>
                                        <p:tgtEl>
                                          <p:spTgt spid="731186"/>
                                        </p:tgtEl>
                                        <p:attrNameLst>
                                          <p:attrName>style.visibility</p:attrName>
                                        </p:attrNameLst>
                                      </p:cBhvr>
                                      <p:to>
                                        <p:strVal val="hidden"/>
                                      </p:to>
                                    </p:set>
                                  </p:childTnLst>
                                </p:cTn>
                              </p:par>
                            </p:childTnLst>
                          </p:cTn>
                        </p:par>
                        <p:par>
                          <p:cTn id="99" fill="hold">
                            <p:stCondLst>
                              <p:cond delay="0"/>
                            </p:stCondLst>
                            <p:childTnLst>
                              <p:par>
                                <p:cTn id="100" presetID="2" presetClass="entr" presetSubtype="2" fill="hold" grpId="0" nodeType="afterEffect">
                                  <p:stCondLst>
                                    <p:cond delay="0"/>
                                  </p:stCondLst>
                                  <p:childTnLst>
                                    <p:set>
                                      <p:cBhvr>
                                        <p:cTn id="101" dur="1" fill="hold">
                                          <p:stCondLst>
                                            <p:cond delay="0"/>
                                          </p:stCondLst>
                                        </p:cTn>
                                        <p:tgtEl>
                                          <p:spTgt spid="731195"/>
                                        </p:tgtEl>
                                        <p:attrNameLst>
                                          <p:attrName>style.visibility</p:attrName>
                                        </p:attrNameLst>
                                      </p:cBhvr>
                                      <p:to>
                                        <p:strVal val="visible"/>
                                      </p:to>
                                    </p:set>
                                    <p:anim calcmode="lin" valueType="num">
                                      <p:cBhvr additive="base">
                                        <p:cTn id="102" dur="500" fill="hold"/>
                                        <p:tgtEl>
                                          <p:spTgt spid="731195"/>
                                        </p:tgtEl>
                                        <p:attrNameLst>
                                          <p:attrName>ppt_x</p:attrName>
                                        </p:attrNameLst>
                                      </p:cBhvr>
                                      <p:tavLst>
                                        <p:tav tm="0">
                                          <p:val>
                                            <p:strVal val="1+#ppt_w/2"/>
                                          </p:val>
                                        </p:tav>
                                        <p:tav tm="100000">
                                          <p:val>
                                            <p:strVal val="#ppt_x"/>
                                          </p:val>
                                        </p:tav>
                                      </p:tavLst>
                                    </p:anim>
                                    <p:anim calcmode="lin" valueType="num">
                                      <p:cBhvr additive="base">
                                        <p:cTn id="103" dur="500" fill="hold"/>
                                        <p:tgtEl>
                                          <p:spTgt spid="731195"/>
                                        </p:tgtEl>
                                        <p:attrNameLst>
                                          <p:attrName>ppt_y</p:attrName>
                                        </p:attrNameLst>
                                      </p:cBhvr>
                                      <p:tavLst>
                                        <p:tav tm="0">
                                          <p:val>
                                            <p:strVal val="#ppt_y"/>
                                          </p:val>
                                        </p:tav>
                                        <p:tav tm="100000">
                                          <p:val>
                                            <p:strVal val="#ppt_y"/>
                                          </p:val>
                                        </p:tav>
                                      </p:tavLst>
                                    </p:anim>
                                  </p:childTnLst>
                                </p:cTn>
                              </p:par>
                            </p:childTnLst>
                          </p:cTn>
                        </p:par>
                        <p:par>
                          <p:cTn id="104" fill="hold">
                            <p:stCondLst>
                              <p:cond delay="500"/>
                            </p:stCondLst>
                            <p:childTnLst>
                              <p:par>
                                <p:cTn id="105" presetID="1" presetClass="entr" presetSubtype="0" fill="hold" grpId="2" nodeType="afterEffect">
                                  <p:stCondLst>
                                    <p:cond delay="0"/>
                                  </p:stCondLst>
                                  <p:childTnLst>
                                    <p:set>
                                      <p:cBhvr>
                                        <p:cTn id="106" dur="1" fill="hold">
                                          <p:stCondLst>
                                            <p:cond delay="0"/>
                                          </p:stCondLst>
                                        </p:cTn>
                                        <p:tgtEl>
                                          <p:spTgt spid="731190"/>
                                        </p:tgtEl>
                                        <p:attrNameLst>
                                          <p:attrName>style.visibility</p:attrName>
                                        </p:attrNameLst>
                                      </p:cBhvr>
                                      <p:to>
                                        <p:strVal val="visible"/>
                                      </p:to>
                                    </p:set>
                                  </p:childTnLst>
                                </p:cTn>
                              </p:par>
                            </p:childTnLst>
                          </p:cTn>
                        </p:par>
                        <p:par>
                          <p:cTn id="107" fill="hold">
                            <p:stCondLst>
                              <p:cond delay="500"/>
                            </p:stCondLst>
                            <p:childTnLst>
                              <p:par>
                                <p:cTn id="108" presetID="1" presetClass="entr" presetSubtype="0" fill="hold" grpId="0" nodeType="afterEffect">
                                  <p:stCondLst>
                                    <p:cond delay="0"/>
                                  </p:stCondLst>
                                  <p:childTnLst>
                                    <p:set>
                                      <p:cBhvr>
                                        <p:cTn id="109" dur="1" fill="hold">
                                          <p:stCondLst>
                                            <p:cond delay="0"/>
                                          </p:stCondLst>
                                        </p:cTn>
                                        <p:tgtEl>
                                          <p:spTgt spid="731138"/>
                                        </p:tgtEl>
                                        <p:attrNameLst>
                                          <p:attrName>style.visibility</p:attrName>
                                        </p:attrNameLst>
                                      </p:cBhvr>
                                      <p:to>
                                        <p:strVal val="visible"/>
                                      </p:to>
                                    </p:set>
                                  </p:childTnLst>
                                </p:cTn>
                              </p:par>
                            </p:childTnLst>
                          </p:cTn>
                        </p:par>
                        <p:par>
                          <p:cTn id="110" fill="hold">
                            <p:stCondLst>
                              <p:cond delay="500"/>
                            </p:stCondLst>
                            <p:childTnLst>
                              <p:par>
                                <p:cTn id="111" presetID="12" presetClass="entr" presetSubtype="1" fill="hold" grpId="0" nodeType="afterEffect">
                                  <p:stCondLst>
                                    <p:cond delay="500"/>
                                  </p:stCondLst>
                                  <p:childTnLst>
                                    <p:set>
                                      <p:cBhvr>
                                        <p:cTn id="112" dur="1" fill="hold">
                                          <p:stCondLst>
                                            <p:cond delay="0"/>
                                          </p:stCondLst>
                                        </p:cTn>
                                        <p:tgtEl>
                                          <p:spTgt spid="731196"/>
                                        </p:tgtEl>
                                        <p:attrNameLst>
                                          <p:attrName>style.visibility</p:attrName>
                                        </p:attrNameLst>
                                      </p:cBhvr>
                                      <p:to>
                                        <p:strVal val="visible"/>
                                      </p:to>
                                    </p:set>
                                    <p:animEffect transition="in" filter="slide(fromTop)">
                                      <p:cBhvr>
                                        <p:cTn id="113" dur="500"/>
                                        <p:tgtEl>
                                          <p:spTgt spid="731196"/>
                                        </p:tgtEl>
                                      </p:cBhvr>
                                    </p:animEffect>
                                  </p:childTnLst>
                                </p:cTn>
                              </p:par>
                            </p:childTnLst>
                          </p:cTn>
                        </p:par>
                        <p:par>
                          <p:cTn id="114" fill="hold">
                            <p:stCondLst>
                              <p:cond delay="1500"/>
                            </p:stCondLst>
                            <p:childTnLst>
                              <p:par>
                                <p:cTn id="115" presetID="22" presetClass="exit" presetSubtype="1" fill="hold" grpId="1" nodeType="afterEffect">
                                  <p:stCondLst>
                                    <p:cond delay="0"/>
                                  </p:stCondLst>
                                  <p:childTnLst>
                                    <p:animEffect transition="out" filter="wipe(up)">
                                      <p:cBhvr>
                                        <p:cTn id="116" dur="2000"/>
                                        <p:tgtEl>
                                          <p:spTgt spid="731138"/>
                                        </p:tgtEl>
                                      </p:cBhvr>
                                    </p:animEffect>
                                    <p:set>
                                      <p:cBhvr>
                                        <p:cTn id="117" dur="1" fill="hold">
                                          <p:stCondLst>
                                            <p:cond delay="1999"/>
                                          </p:stCondLst>
                                        </p:cTn>
                                        <p:tgtEl>
                                          <p:spTgt spid="731138"/>
                                        </p:tgtEl>
                                        <p:attrNameLst>
                                          <p:attrName>style.visibility</p:attrName>
                                        </p:attrNameLst>
                                      </p:cBhvr>
                                      <p:to>
                                        <p:strVal val="hidden"/>
                                      </p:to>
                                    </p:set>
                                  </p:childTnLst>
                                </p:cTn>
                              </p:par>
                            </p:childTnLst>
                          </p:cTn>
                        </p:par>
                        <p:par>
                          <p:cTn id="118" fill="hold">
                            <p:stCondLst>
                              <p:cond delay="3500"/>
                            </p:stCondLst>
                            <p:childTnLst>
                              <p:par>
                                <p:cTn id="119" presetID="12" presetClass="entr" presetSubtype="2" fill="hold" nodeType="afterEffect">
                                  <p:stCondLst>
                                    <p:cond delay="0"/>
                                  </p:stCondLst>
                                  <p:childTnLst>
                                    <p:set>
                                      <p:cBhvr>
                                        <p:cTn id="120" dur="1" fill="hold">
                                          <p:stCondLst>
                                            <p:cond delay="0"/>
                                          </p:stCondLst>
                                        </p:cTn>
                                        <p:tgtEl>
                                          <p:spTgt spid="731186"/>
                                        </p:tgtEl>
                                        <p:attrNameLst>
                                          <p:attrName>style.visibility</p:attrName>
                                        </p:attrNameLst>
                                      </p:cBhvr>
                                      <p:to>
                                        <p:strVal val="visible"/>
                                      </p:to>
                                    </p:set>
                                    <p:animEffect transition="in" filter="slide(fromRight)">
                                      <p:cBhvr>
                                        <p:cTn id="121" dur="500"/>
                                        <p:tgtEl>
                                          <p:spTgt spid="731186"/>
                                        </p:tgtEl>
                                      </p:cBhvr>
                                    </p:animEffect>
                                  </p:childTnLst>
                                </p:cTn>
                              </p:par>
                            </p:childTnLst>
                          </p:cTn>
                        </p:par>
                      </p:childTnLst>
                    </p:cTn>
                  </p:par>
                  <p:par>
                    <p:cTn id="122" fill="hold">
                      <p:stCondLst>
                        <p:cond delay="indefinite"/>
                      </p:stCondLst>
                      <p:childTnLst>
                        <p:par>
                          <p:cTn id="123" fill="hold">
                            <p:stCondLst>
                              <p:cond delay="0"/>
                            </p:stCondLst>
                            <p:childTnLst>
                              <p:par>
                                <p:cTn id="124" presetID="2" presetClass="entr" presetSubtype="2" fill="hold" grpId="0" nodeType="clickEffect">
                                  <p:stCondLst>
                                    <p:cond delay="0"/>
                                  </p:stCondLst>
                                  <p:childTnLst>
                                    <p:set>
                                      <p:cBhvr>
                                        <p:cTn id="125" dur="1" fill="hold">
                                          <p:stCondLst>
                                            <p:cond delay="0"/>
                                          </p:stCondLst>
                                        </p:cTn>
                                        <p:tgtEl>
                                          <p:spTgt spid="731198"/>
                                        </p:tgtEl>
                                        <p:attrNameLst>
                                          <p:attrName>style.visibility</p:attrName>
                                        </p:attrNameLst>
                                      </p:cBhvr>
                                      <p:to>
                                        <p:strVal val="visible"/>
                                      </p:to>
                                    </p:set>
                                    <p:anim calcmode="lin" valueType="num">
                                      <p:cBhvr additive="base">
                                        <p:cTn id="126" dur="500" fill="hold"/>
                                        <p:tgtEl>
                                          <p:spTgt spid="731198"/>
                                        </p:tgtEl>
                                        <p:attrNameLst>
                                          <p:attrName>ppt_x</p:attrName>
                                        </p:attrNameLst>
                                      </p:cBhvr>
                                      <p:tavLst>
                                        <p:tav tm="0">
                                          <p:val>
                                            <p:strVal val="1+#ppt_w/2"/>
                                          </p:val>
                                        </p:tav>
                                        <p:tav tm="100000">
                                          <p:val>
                                            <p:strVal val="#ppt_x"/>
                                          </p:val>
                                        </p:tav>
                                      </p:tavLst>
                                    </p:anim>
                                    <p:anim calcmode="lin" valueType="num">
                                      <p:cBhvr additive="base">
                                        <p:cTn id="127" dur="500" fill="hold"/>
                                        <p:tgtEl>
                                          <p:spTgt spid="7311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1138" grpId="0" animBg="1"/>
      <p:bldP spid="731138" grpId="1" animBg="1"/>
      <p:bldP spid="731168" grpId="0" autoUpdateAnimBg="0"/>
      <p:bldP spid="731169" grpId="0"/>
      <p:bldP spid="731170" grpId="0"/>
      <p:bldP spid="731171" grpId="0" animBg="1"/>
      <p:bldP spid="731171" grpId="1" animBg="1"/>
      <p:bldP spid="731189" grpId="0" animBg="1"/>
      <p:bldP spid="731190" grpId="0" animBg="1"/>
      <p:bldP spid="731190" grpId="1" animBg="1"/>
      <p:bldP spid="731190" grpId="2" animBg="1"/>
      <p:bldP spid="731191" grpId="0"/>
      <p:bldP spid="731192" grpId="0"/>
      <p:bldP spid="731192" grpId="1"/>
      <p:bldP spid="731193" grpId="0"/>
      <p:bldP spid="731193" grpId="1"/>
      <p:bldP spid="731194" grpId="0"/>
      <p:bldP spid="731194" grpId="1"/>
      <p:bldP spid="731195" grpId="0"/>
      <p:bldP spid="731196" grpId="0" animBg="1"/>
      <p:bldP spid="731197" grpId="0" animBg="1"/>
      <p:bldP spid="731198"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2162" name="Group 2"/>
          <p:cNvGrpSpPr>
            <a:grpSpLocks/>
          </p:cNvGrpSpPr>
          <p:nvPr/>
        </p:nvGrpSpPr>
        <p:grpSpPr bwMode="auto">
          <a:xfrm>
            <a:off x="3000376" y="3068638"/>
            <a:ext cx="6137275" cy="3300412"/>
            <a:chOff x="1017" y="1714"/>
            <a:chExt cx="3866" cy="2079"/>
          </a:xfrm>
        </p:grpSpPr>
        <p:sp>
          <p:nvSpPr>
            <p:cNvPr id="732163" name="AutoShape 3"/>
            <p:cNvSpPr>
              <a:spLocks noChangeArrowheads="1"/>
            </p:cNvSpPr>
            <p:nvPr/>
          </p:nvSpPr>
          <p:spPr bwMode="auto">
            <a:xfrm>
              <a:off x="2729" y="2270"/>
              <a:ext cx="420" cy="162"/>
            </a:xfrm>
            <a:prstGeom prst="rightArrow">
              <a:avLst>
                <a:gd name="adj1" fmla="val 50000"/>
                <a:gd name="adj2" fmla="val 64815"/>
              </a:avLst>
            </a:prstGeom>
            <a:solidFill>
              <a:srgbClr val="FFFFFF"/>
            </a:solidFill>
            <a:ln w="9525" algn="ctr">
              <a:solidFill>
                <a:schemeClr val="tx1"/>
              </a:solidFill>
              <a:miter lim="800000"/>
              <a:headEnd/>
              <a:tailEnd/>
            </a:ln>
            <a:effectLst/>
          </p:spPr>
          <p:txBody>
            <a:bodyPr wrap="none" lIns="90000" tIns="46800" rIns="90000" bIns="46800" anchor="ctr"/>
            <a:lstStyle/>
            <a:p>
              <a:endParaRPr lang="zh-CN" altLang="en-US"/>
            </a:p>
          </p:txBody>
        </p:sp>
        <p:sp>
          <p:nvSpPr>
            <p:cNvPr id="732164" name="Rectangle 4"/>
            <p:cNvSpPr>
              <a:spLocks noChangeArrowheads="1"/>
            </p:cNvSpPr>
            <p:nvPr/>
          </p:nvSpPr>
          <p:spPr bwMode="auto">
            <a:xfrm>
              <a:off x="3144" y="2034"/>
              <a:ext cx="1404" cy="639"/>
            </a:xfrm>
            <a:prstGeom prst="rect">
              <a:avLst/>
            </a:prstGeom>
            <a:solidFill>
              <a:srgbClr val="CCFFCC"/>
            </a:solidFill>
            <a:ln w="9525" algn="ctr">
              <a:solidFill>
                <a:schemeClr val="tx1"/>
              </a:solidFill>
              <a:miter lim="800000"/>
              <a:headEnd/>
              <a:tailEnd/>
            </a:ln>
            <a:effectLst/>
          </p:spPr>
          <p:txBody>
            <a:bodyPr wrap="none" anchor="ctr"/>
            <a:lstStyle/>
            <a:p>
              <a:endParaRPr lang="en-US" altLang="zh-CN" sz="1600">
                <a:latin typeface="Times New Roman" pitchFamily="18" charset="0"/>
                <a:ea typeface="楷体_GB2312" pitchFamily="49" charset="-122"/>
              </a:endParaRPr>
            </a:p>
            <a:p>
              <a:endParaRPr lang="en-US" altLang="zh-CN" sz="1600">
                <a:latin typeface="Times New Roman" pitchFamily="18" charset="0"/>
                <a:ea typeface="楷体_GB2312" pitchFamily="49" charset="-122"/>
              </a:endParaRPr>
            </a:p>
            <a:p>
              <a:endParaRPr lang="en-US" altLang="zh-CN" sz="1600">
                <a:latin typeface="Times New Roman" pitchFamily="18" charset="0"/>
                <a:ea typeface="楷体_GB2312" pitchFamily="49" charset="-122"/>
              </a:endParaRPr>
            </a:p>
            <a:p>
              <a:endParaRPr lang="en-US" altLang="zh-CN" sz="1600">
                <a:latin typeface="Times New Roman" pitchFamily="18" charset="0"/>
                <a:ea typeface="楷体_GB2312" pitchFamily="49" charset="-122"/>
              </a:endParaRPr>
            </a:p>
            <a:p>
              <a:endParaRPr lang="en-US" altLang="zh-CN" sz="1600">
                <a:latin typeface="Times New Roman" pitchFamily="18" charset="0"/>
                <a:ea typeface="楷体_GB2312" pitchFamily="49" charset="-122"/>
              </a:endParaRPr>
            </a:p>
          </p:txBody>
        </p:sp>
        <p:sp>
          <p:nvSpPr>
            <p:cNvPr id="732165" name="Rectangle 5"/>
            <p:cNvSpPr>
              <a:spLocks noChangeArrowheads="1"/>
            </p:cNvSpPr>
            <p:nvPr/>
          </p:nvSpPr>
          <p:spPr bwMode="auto">
            <a:xfrm>
              <a:off x="3212" y="2285"/>
              <a:ext cx="1260" cy="355"/>
            </a:xfrm>
            <a:prstGeom prst="rect">
              <a:avLst/>
            </a:prstGeom>
            <a:solidFill>
              <a:srgbClr val="FFFFFF"/>
            </a:solidFill>
            <a:ln w="9525" algn="ctr">
              <a:solidFill>
                <a:schemeClr val="tx1"/>
              </a:solidFill>
              <a:miter lim="800000"/>
              <a:headEnd/>
              <a:tailEnd/>
            </a:ln>
            <a:effectLst/>
          </p:spPr>
          <p:txBody>
            <a:bodyPr wrap="none" anchor="ctr"/>
            <a:lstStyle/>
            <a:p>
              <a:r>
                <a:rPr lang="zh-CN" altLang="en-US" sz="1600">
                  <a:latin typeface="Times New Roman" pitchFamily="18" charset="0"/>
                  <a:ea typeface="楷体_GB2312" pitchFamily="49" charset="-122"/>
                </a:rPr>
                <a:t>除数锁存寄存器</a:t>
              </a:r>
            </a:p>
            <a:p>
              <a:r>
                <a:rPr lang="en-US" altLang="zh-CN" sz="1600">
                  <a:latin typeface="Times New Roman" pitchFamily="18" charset="0"/>
                  <a:ea typeface="楷体_GB2312" pitchFamily="49" charset="-122"/>
                </a:rPr>
                <a:t>UnDLL</a:t>
              </a:r>
              <a:r>
                <a:rPr lang="zh-CN" altLang="en-US" sz="1600">
                  <a:latin typeface="Times New Roman" pitchFamily="18" charset="0"/>
                  <a:ea typeface="楷体_GB2312" pitchFamily="49" charset="-122"/>
                </a:rPr>
                <a:t>、</a:t>
              </a:r>
              <a:r>
                <a:rPr lang="en-US" altLang="zh-CN" sz="1600">
                  <a:latin typeface="Times New Roman" pitchFamily="18" charset="0"/>
                  <a:ea typeface="楷体_GB2312" pitchFamily="49" charset="-122"/>
                </a:rPr>
                <a:t>UnDLM</a:t>
              </a:r>
            </a:p>
          </p:txBody>
        </p:sp>
        <p:sp>
          <p:nvSpPr>
            <p:cNvPr id="732166" name="Rectangle 6"/>
            <p:cNvSpPr>
              <a:spLocks noChangeArrowheads="1"/>
            </p:cNvSpPr>
            <p:nvPr/>
          </p:nvSpPr>
          <p:spPr bwMode="auto">
            <a:xfrm>
              <a:off x="3207" y="2064"/>
              <a:ext cx="1295" cy="212"/>
            </a:xfrm>
            <a:prstGeom prst="rect">
              <a:avLst/>
            </a:prstGeom>
            <a:noFill/>
            <a:ln w="9525" algn="ctr">
              <a:noFill/>
              <a:miter lim="800000"/>
              <a:headEnd/>
              <a:tailEnd/>
            </a:ln>
            <a:effectLst/>
          </p:spPr>
          <p:txBody>
            <a:bodyPr wrap="none">
              <a:spAutoFit/>
            </a:bodyPr>
            <a:lstStyle/>
            <a:p>
              <a:r>
                <a:rPr lang="en-US" altLang="zh-CN" sz="1600">
                  <a:latin typeface="Times New Roman" pitchFamily="18" charset="0"/>
                  <a:ea typeface="楷体_GB2312" pitchFamily="49" charset="-122"/>
                </a:rPr>
                <a:t>UARTn</a:t>
              </a:r>
              <a:r>
                <a:rPr lang="zh-CN" altLang="en-US" sz="1600">
                  <a:latin typeface="Times New Roman" pitchFamily="18" charset="0"/>
                  <a:ea typeface="楷体_GB2312" pitchFamily="49" charset="-122"/>
                </a:rPr>
                <a:t>波特率发生器</a:t>
              </a:r>
            </a:p>
          </p:txBody>
        </p:sp>
        <p:sp>
          <p:nvSpPr>
            <p:cNvPr id="732167" name="AutoShape 7"/>
            <p:cNvSpPr>
              <a:spLocks noChangeArrowheads="1"/>
            </p:cNvSpPr>
            <p:nvPr/>
          </p:nvSpPr>
          <p:spPr bwMode="auto">
            <a:xfrm>
              <a:off x="2776" y="3148"/>
              <a:ext cx="335" cy="162"/>
            </a:xfrm>
            <a:prstGeom prst="rightArrow">
              <a:avLst>
                <a:gd name="adj1" fmla="val 50000"/>
                <a:gd name="adj2" fmla="val 51698"/>
              </a:avLst>
            </a:prstGeom>
            <a:solidFill>
              <a:srgbClr val="FFFFFF"/>
            </a:solidFill>
            <a:ln w="9525" algn="ctr">
              <a:solidFill>
                <a:schemeClr val="tx1"/>
              </a:solidFill>
              <a:miter lim="800000"/>
              <a:headEnd/>
              <a:tailEnd/>
            </a:ln>
            <a:effectLst/>
          </p:spPr>
          <p:txBody>
            <a:bodyPr wrap="none" lIns="90000" tIns="46800" rIns="90000" bIns="46800" anchor="ctr"/>
            <a:lstStyle/>
            <a:p>
              <a:endParaRPr lang="zh-CN" altLang="en-US"/>
            </a:p>
          </p:txBody>
        </p:sp>
        <p:sp>
          <p:nvSpPr>
            <p:cNvPr id="732168" name="Rectangle 8"/>
            <p:cNvSpPr>
              <a:spLocks noChangeArrowheads="1"/>
            </p:cNvSpPr>
            <p:nvPr/>
          </p:nvSpPr>
          <p:spPr bwMode="auto">
            <a:xfrm>
              <a:off x="3116" y="3100"/>
              <a:ext cx="1767" cy="280"/>
            </a:xfrm>
            <a:prstGeom prst="rect">
              <a:avLst/>
            </a:prstGeom>
            <a:solidFill>
              <a:srgbClr val="FFCC66"/>
            </a:solidFill>
            <a:ln w="9525" algn="ctr">
              <a:solidFill>
                <a:schemeClr val="tx1"/>
              </a:solidFill>
              <a:miter lim="800000"/>
              <a:headEnd/>
              <a:tailEnd/>
            </a:ln>
            <a:effectLst/>
          </p:spPr>
          <p:txBody>
            <a:bodyPr wrap="none" anchor="ctr"/>
            <a:lstStyle/>
            <a:p>
              <a:r>
                <a:rPr lang="en-US" altLang="zh-CN" sz="1600">
                  <a:latin typeface="Times New Roman" pitchFamily="18" charset="0"/>
                  <a:ea typeface="楷体_GB2312" pitchFamily="49" charset="-122"/>
                </a:rPr>
                <a:t>UARTn</a:t>
              </a:r>
              <a:r>
                <a:rPr lang="zh-CN" altLang="en-US" sz="1600">
                  <a:latin typeface="Times New Roman" pitchFamily="18" charset="0"/>
                  <a:ea typeface="楷体_GB2312" pitchFamily="49" charset="-122"/>
                </a:rPr>
                <a:t>控制寄存器（</a:t>
              </a:r>
              <a:r>
                <a:rPr lang="en-US" altLang="zh-CN" sz="1600">
                  <a:latin typeface="Times New Roman" pitchFamily="18" charset="0"/>
                  <a:ea typeface="楷体_GB2312" pitchFamily="49" charset="-122"/>
                </a:rPr>
                <a:t>UnLCR</a:t>
              </a:r>
              <a:r>
                <a:rPr lang="zh-CN" altLang="en-US" sz="1600">
                  <a:latin typeface="Times New Roman" pitchFamily="18" charset="0"/>
                  <a:ea typeface="楷体_GB2312" pitchFamily="49" charset="-122"/>
                </a:rPr>
                <a:t>）</a:t>
              </a:r>
            </a:p>
          </p:txBody>
        </p:sp>
        <p:sp>
          <p:nvSpPr>
            <p:cNvPr id="732169" name="AutoShape 9"/>
            <p:cNvSpPr>
              <a:spLocks noChangeArrowheads="1"/>
            </p:cNvSpPr>
            <p:nvPr/>
          </p:nvSpPr>
          <p:spPr bwMode="auto">
            <a:xfrm>
              <a:off x="2781" y="2800"/>
              <a:ext cx="336" cy="162"/>
            </a:xfrm>
            <a:prstGeom prst="rightArrow">
              <a:avLst>
                <a:gd name="adj1" fmla="val 50000"/>
                <a:gd name="adj2" fmla="val 51852"/>
              </a:avLst>
            </a:prstGeom>
            <a:solidFill>
              <a:srgbClr val="FFFFFF"/>
            </a:solidFill>
            <a:ln w="9525" algn="ctr">
              <a:solidFill>
                <a:schemeClr val="tx1"/>
              </a:solidFill>
              <a:miter lim="800000"/>
              <a:headEnd/>
              <a:tailEnd/>
            </a:ln>
            <a:effectLst/>
          </p:spPr>
          <p:txBody>
            <a:bodyPr wrap="none" lIns="90000" tIns="46800" rIns="90000" bIns="46800" anchor="ctr"/>
            <a:lstStyle/>
            <a:p>
              <a:endParaRPr lang="zh-CN" altLang="en-US"/>
            </a:p>
          </p:txBody>
        </p:sp>
        <p:sp>
          <p:nvSpPr>
            <p:cNvPr id="732170" name="Rectangle 10"/>
            <p:cNvSpPr>
              <a:spLocks noChangeArrowheads="1"/>
            </p:cNvSpPr>
            <p:nvPr/>
          </p:nvSpPr>
          <p:spPr bwMode="auto">
            <a:xfrm>
              <a:off x="3118" y="2726"/>
              <a:ext cx="1765" cy="286"/>
            </a:xfrm>
            <a:prstGeom prst="rect">
              <a:avLst/>
            </a:prstGeom>
            <a:solidFill>
              <a:srgbClr val="FFCC00"/>
            </a:solidFill>
            <a:ln w="9525" algn="ctr">
              <a:solidFill>
                <a:schemeClr val="tx1"/>
              </a:solidFill>
              <a:miter lim="800000"/>
              <a:headEnd/>
              <a:tailEnd/>
            </a:ln>
            <a:effectLst/>
          </p:spPr>
          <p:txBody>
            <a:bodyPr wrap="none" anchor="ctr"/>
            <a:lstStyle/>
            <a:p>
              <a:r>
                <a:rPr lang="en-US" altLang="zh-CN" sz="1600">
                  <a:latin typeface="Times New Roman" pitchFamily="18" charset="0"/>
                  <a:ea typeface="楷体_GB2312" pitchFamily="49" charset="-122"/>
                </a:rPr>
                <a:t>FIFO</a:t>
              </a:r>
              <a:r>
                <a:rPr lang="zh-CN" altLang="en-US" sz="1600">
                  <a:latin typeface="Times New Roman" pitchFamily="18" charset="0"/>
                  <a:ea typeface="楷体_GB2312" pitchFamily="49" charset="-122"/>
                </a:rPr>
                <a:t>控制寄存器</a:t>
              </a:r>
              <a:r>
                <a:rPr lang="en-US" altLang="zh-CN" sz="1600">
                  <a:latin typeface="Times New Roman" pitchFamily="18" charset="0"/>
                  <a:ea typeface="楷体_GB2312" pitchFamily="49" charset="-122"/>
                </a:rPr>
                <a:t>(UnFCR)</a:t>
              </a:r>
            </a:p>
          </p:txBody>
        </p:sp>
        <p:sp>
          <p:nvSpPr>
            <p:cNvPr id="732171" name="Rectangle 11"/>
            <p:cNvSpPr>
              <a:spLocks noChangeArrowheads="1"/>
            </p:cNvSpPr>
            <p:nvPr/>
          </p:nvSpPr>
          <p:spPr bwMode="auto">
            <a:xfrm>
              <a:off x="1031" y="2849"/>
              <a:ext cx="1248" cy="602"/>
            </a:xfrm>
            <a:prstGeom prst="rect">
              <a:avLst/>
            </a:prstGeom>
            <a:solidFill>
              <a:srgbClr val="FFCC99"/>
            </a:solidFill>
            <a:ln w="9525" algn="ctr">
              <a:solidFill>
                <a:schemeClr val="tx1"/>
              </a:solidFill>
              <a:miter lim="800000"/>
              <a:headEnd/>
              <a:tailEnd/>
            </a:ln>
            <a:effectLst/>
          </p:spPr>
          <p:txBody>
            <a:bodyPr wrap="none" anchor="ctr"/>
            <a:lstStyle/>
            <a:p>
              <a:endParaRPr lang="zh-CN" altLang="en-US"/>
            </a:p>
          </p:txBody>
        </p:sp>
        <p:sp>
          <p:nvSpPr>
            <p:cNvPr id="732172" name="AutoShape 12"/>
            <p:cNvSpPr>
              <a:spLocks noChangeArrowheads="1"/>
            </p:cNvSpPr>
            <p:nvPr/>
          </p:nvSpPr>
          <p:spPr bwMode="auto">
            <a:xfrm>
              <a:off x="2220" y="3136"/>
              <a:ext cx="426" cy="186"/>
            </a:xfrm>
            <a:prstGeom prst="leftArrow">
              <a:avLst>
                <a:gd name="adj1" fmla="val 50000"/>
                <a:gd name="adj2" fmla="val 57258"/>
              </a:avLst>
            </a:prstGeom>
            <a:solidFill>
              <a:srgbClr val="FFFFFF"/>
            </a:solidFill>
            <a:ln w="9525" algn="ctr">
              <a:solidFill>
                <a:schemeClr val="tx1"/>
              </a:solidFill>
              <a:miter lim="800000"/>
              <a:headEnd/>
              <a:tailEnd/>
            </a:ln>
            <a:effectLst/>
          </p:spPr>
          <p:txBody>
            <a:bodyPr wrap="none" lIns="90000" tIns="46800" rIns="90000" bIns="46800" anchor="ctr"/>
            <a:lstStyle/>
            <a:p>
              <a:endParaRPr lang="zh-CN" altLang="en-US"/>
            </a:p>
          </p:txBody>
        </p:sp>
        <p:sp>
          <p:nvSpPr>
            <p:cNvPr id="732173" name="Text Box 13"/>
            <p:cNvSpPr txBox="1">
              <a:spLocks noChangeArrowheads="1"/>
            </p:cNvSpPr>
            <p:nvPr/>
          </p:nvSpPr>
          <p:spPr bwMode="auto">
            <a:xfrm>
              <a:off x="1018" y="2817"/>
              <a:ext cx="1235" cy="212"/>
            </a:xfrm>
            <a:prstGeom prst="rect">
              <a:avLst/>
            </a:prstGeom>
            <a:noFill/>
            <a:ln w="9525" algn="ctr">
              <a:noFill/>
              <a:miter lim="800000"/>
              <a:headEnd/>
              <a:tailEnd/>
            </a:ln>
            <a:effectLst/>
          </p:spPr>
          <p:txBody>
            <a:bodyPr>
              <a:spAutoFit/>
            </a:bodyPr>
            <a:lstStyle/>
            <a:p>
              <a:r>
                <a:rPr lang="zh-CN" altLang="en-US" sz="1600">
                  <a:latin typeface="Times New Roman" pitchFamily="18" charset="0"/>
                  <a:ea typeface="楷体_GB2312" pitchFamily="49" charset="-122"/>
                </a:rPr>
                <a:t>中断</a:t>
              </a:r>
            </a:p>
          </p:txBody>
        </p:sp>
        <p:sp>
          <p:nvSpPr>
            <p:cNvPr id="732174" name="Rectangle 14"/>
            <p:cNvSpPr>
              <a:spLocks noChangeArrowheads="1"/>
            </p:cNvSpPr>
            <p:nvPr/>
          </p:nvSpPr>
          <p:spPr bwMode="auto">
            <a:xfrm>
              <a:off x="1079" y="3048"/>
              <a:ext cx="1141" cy="356"/>
            </a:xfrm>
            <a:prstGeom prst="rect">
              <a:avLst/>
            </a:prstGeom>
            <a:solidFill>
              <a:srgbClr val="FFFFFF"/>
            </a:solidFill>
            <a:ln w="9525" algn="ctr">
              <a:solidFill>
                <a:schemeClr val="tx1"/>
              </a:solidFill>
              <a:miter lim="800000"/>
              <a:headEnd/>
              <a:tailEnd/>
            </a:ln>
            <a:effectLst/>
          </p:spPr>
          <p:txBody>
            <a:bodyPr wrap="none" anchor="ctr"/>
            <a:lstStyle/>
            <a:p>
              <a:r>
                <a:rPr lang="zh-CN" altLang="en-US" sz="1600">
                  <a:latin typeface="Times New Roman" pitchFamily="18" charset="0"/>
                  <a:ea typeface="楷体_GB2312" pitchFamily="49" charset="-122"/>
                </a:rPr>
                <a:t>中断使能寄存器</a:t>
              </a:r>
            </a:p>
            <a:p>
              <a:r>
                <a:rPr lang="en-US" altLang="zh-CN" sz="1600">
                  <a:latin typeface="Times New Roman" pitchFamily="18" charset="0"/>
                  <a:ea typeface="楷体_GB2312" pitchFamily="49" charset="-122"/>
                </a:rPr>
                <a:t>UnIER</a:t>
              </a:r>
            </a:p>
          </p:txBody>
        </p:sp>
        <p:sp>
          <p:nvSpPr>
            <p:cNvPr id="732175" name="Rectangle 15"/>
            <p:cNvSpPr>
              <a:spLocks noChangeArrowheads="1"/>
            </p:cNvSpPr>
            <p:nvPr/>
          </p:nvSpPr>
          <p:spPr bwMode="auto">
            <a:xfrm>
              <a:off x="1017" y="2021"/>
              <a:ext cx="1254" cy="658"/>
            </a:xfrm>
            <a:prstGeom prst="rect">
              <a:avLst/>
            </a:prstGeom>
            <a:solidFill>
              <a:srgbClr val="FF9900"/>
            </a:solidFill>
            <a:ln w="9525" algn="ctr">
              <a:solidFill>
                <a:schemeClr val="tx1"/>
              </a:solidFill>
              <a:miter lim="800000"/>
              <a:headEnd/>
              <a:tailEnd/>
            </a:ln>
            <a:effectLst/>
          </p:spPr>
          <p:txBody>
            <a:bodyPr wrap="none" anchor="ctr"/>
            <a:lstStyle/>
            <a:p>
              <a:endParaRPr lang="zh-CN" altLang="zh-CN" sz="1600" b="1">
                <a:latin typeface="Times New Roman" pitchFamily="18" charset="0"/>
                <a:ea typeface="楷体_GB2312" pitchFamily="49" charset="-122"/>
              </a:endParaRPr>
            </a:p>
          </p:txBody>
        </p:sp>
        <p:sp>
          <p:nvSpPr>
            <p:cNvPr id="732176" name="Text Box 16"/>
            <p:cNvSpPr txBox="1">
              <a:spLocks noChangeArrowheads="1"/>
            </p:cNvSpPr>
            <p:nvPr/>
          </p:nvSpPr>
          <p:spPr bwMode="auto">
            <a:xfrm>
              <a:off x="1048" y="2034"/>
              <a:ext cx="1217" cy="212"/>
            </a:xfrm>
            <a:prstGeom prst="rect">
              <a:avLst/>
            </a:prstGeom>
            <a:noFill/>
            <a:ln w="9525" algn="ctr">
              <a:noFill/>
              <a:miter lim="800000"/>
              <a:headEnd/>
              <a:tailEnd/>
            </a:ln>
            <a:effectLst/>
          </p:spPr>
          <p:txBody>
            <a:bodyPr>
              <a:spAutoFit/>
            </a:bodyPr>
            <a:lstStyle/>
            <a:p>
              <a:r>
                <a:rPr lang="en-US" altLang="zh-CN" sz="1600">
                  <a:latin typeface="Times New Roman" pitchFamily="18" charset="0"/>
                  <a:ea typeface="楷体_GB2312" pitchFamily="49" charset="-122"/>
                </a:rPr>
                <a:t>MODEM</a:t>
              </a:r>
            </a:p>
          </p:txBody>
        </p:sp>
        <p:sp>
          <p:nvSpPr>
            <p:cNvPr id="732177" name="Rectangle 17"/>
            <p:cNvSpPr>
              <a:spLocks noChangeArrowheads="1"/>
            </p:cNvSpPr>
            <p:nvPr/>
          </p:nvSpPr>
          <p:spPr bwMode="auto">
            <a:xfrm>
              <a:off x="1071" y="2269"/>
              <a:ext cx="1140" cy="356"/>
            </a:xfrm>
            <a:prstGeom prst="rect">
              <a:avLst/>
            </a:prstGeom>
            <a:solidFill>
              <a:srgbClr val="FFFFFF"/>
            </a:solidFill>
            <a:ln w="9525" algn="ctr">
              <a:solidFill>
                <a:schemeClr val="tx1"/>
              </a:solidFill>
              <a:miter lim="800000"/>
              <a:headEnd/>
              <a:tailEnd/>
            </a:ln>
            <a:effectLst/>
          </p:spPr>
          <p:txBody>
            <a:bodyPr wrap="none" anchor="ctr"/>
            <a:lstStyle/>
            <a:p>
              <a:r>
                <a:rPr lang="en-US" altLang="zh-CN" sz="1600">
                  <a:latin typeface="Times New Roman" pitchFamily="18" charset="0"/>
                  <a:ea typeface="楷体_GB2312" pitchFamily="49" charset="-122"/>
                </a:rPr>
                <a:t>Modem</a:t>
              </a:r>
              <a:r>
                <a:rPr lang="zh-CN" altLang="en-US" sz="1600">
                  <a:latin typeface="Times New Roman" pitchFamily="18" charset="0"/>
                  <a:ea typeface="楷体_GB2312" pitchFamily="49" charset="-122"/>
                </a:rPr>
                <a:t>控制寄存器</a:t>
              </a:r>
            </a:p>
            <a:p>
              <a:r>
                <a:rPr lang="en-US" altLang="zh-CN" sz="1600">
                  <a:latin typeface="Times New Roman" pitchFamily="18" charset="0"/>
                  <a:ea typeface="楷体_GB2312" pitchFamily="49" charset="-122"/>
                </a:rPr>
                <a:t>U1MCR</a:t>
              </a:r>
            </a:p>
          </p:txBody>
        </p:sp>
        <p:sp>
          <p:nvSpPr>
            <p:cNvPr id="732178" name="AutoShape 18"/>
            <p:cNvSpPr>
              <a:spLocks noChangeArrowheads="1"/>
            </p:cNvSpPr>
            <p:nvPr/>
          </p:nvSpPr>
          <p:spPr bwMode="auto">
            <a:xfrm>
              <a:off x="2214" y="2359"/>
              <a:ext cx="426" cy="186"/>
            </a:xfrm>
            <a:prstGeom prst="leftArrow">
              <a:avLst>
                <a:gd name="adj1" fmla="val 50000"/>
                <a:gd name="adj2" fmla="val 57258"/>
              </a:avLst>
            </a:prstGeom>
            <a:solidFill>
              <a:srgbClr val="FFFFFF"/>
            </a:solidFill>
            <a:ln w="9525" algn="ctr">
              <a:solidFill>
                <a:schemeClr val="tx1"/>
              </a:solidFill>
              <a:miter lim="800000"/>
              <a:headEnd/>
              <a:tailEnd/>
            </a:ln>
            <a:effectLst/>
          </p:spPr>
          <p:txBody>
            <a:bodyPr wrap="none" lIns="90000" tIns="46800" rIns="90000" bIns="46800" anchor="ctr"/>
            <a:lstStyle/>
            <a:p>
              <a:endParaRPr lang="zh-CN" altLang="en-US"/>
            </a:p>
          </p:txBody>
        </p:sp>
        <p:sp>
          <p:nvSpPr>
            <p:cNvPr id="732179" name="AutoShape 19"/>
            <p:cNvSpPr>
              <a:spLocks noChangeArrowheads="1"/>
            </p:cNvSpPr>
            <p:nvPr/>
          </p:nvSpPr>
          <p:spPr bwMode="auto">
            <a:xfrm>
              <a:off x="2534" y="1714"/>
              <a:ext cx="378" cy="2079"/>
            </a:xfrm>
            <a:prstGeom prst="upDownArrow">
              <a:avLst>
                <a:gd name="adj1" fmla="val 50269"/>
                <a:gd name="adj2" fmla="val 69819"/>
              </a:avLst>
            </a:prstGeom>
            <a:solidFill>
              <a:srgbClr val="CC99FF"/>
            </a:solidFill>
            <a:ln w="9525" algn="ctr">
              <a:solidFill>
                <a:schemeClr val="tx1"/>
              </a:solidFill>
              <a:miter lim="800000"/>
              <a:headEnd/>
              <a:tailEnd/>
            </a:ln>
            <a:effectLst>
              <a:outerShdw dist="107763" dir="2700000" algn="ctr" rotWithShape="0">
                <a:schemeClr val="bg2">
                  <a:alpha val="50000"/>
                </a:schemeClr>
              </a:outerShdw>
            </a:effectLst>
          </p:spPr>
          <p:txBody>
            <a:bodyPr wrap="none" anchor="ctr"/>
            <a:lstStyle/>
            <a:p>
              <a:r>
                <a:rPr lang="en-US" altLang="zh-CN" sz="1600" b="1">
                  <a:latin typeface="Times New Roman" pitchFamily="18" charset="0"/>
                </a:rPr>
                <a:t>V</a:t>
              </a:r>
            </a:p>
            <a:p>
              <a:r>
                <a:rPr lang="en-US" altLang="zh-CN" sz="1600" b="1">
                  <a:latin typeface="Times New Roman" pitchFamily="18" charset="0"/>
                </a:rPr>
                <a:t>P</a:t>
              </a:r>
            </a:p>
            <a:p>
              <a:r>
                <a:rPr lang="en-US" altLang="zh-CN" sz="1600" b="1">
                  <a:latin typeface="Times New Roman" pitchFamily="18" charset="0"/>
                </a:rPr>
                <a:t>B</a:t>
              </a:r>
            </a:p>
            <a:p>
              <a:r>
                <a:rPr lang="zh-CN" altLang="en-US" sz="1600" b="1">
                  <a:latin typeface="Times New Roman" pitchFamily="18" charset="0"/>
                </a:rPr>
                <a:t>总</a:t>
              </a:r>
            </a:p>
            <a:p>
              <a:r>
                <a:rPr lang="zh-CN" altLang="en-US" sz="1600" b="1">
                  <a:latin typeface="Times New Roman" pitchFamily="18" charset="0"/>
                </a:rPr>
                <a:t>线</a:t>
              </a:r>
            </a:p>
          </p:txBody>
        </p:sp>
      </p:grpSp>
      <p:sp>
        <p:nvSpPr>
          <p:cNvPr id="732180" name="Rectangle 20"/>
          <p:cNvSpPr>
            <a:spLocks noChangeArrowheads="1"/>
          </p:cNvSpPr>
          <p:nvPr/>
        </p:nvSpPr>
        <p:spPr bwMode="auto">
          <a:xfrm>
            <a:off x="2209800" y="609600"/>
            <a:ext cx="7772400" cy="1143000"/>
          </a:xfrm>
          <a:prstGeom prst="rect">
            <a:avLst/>
          </a:prstGeom>
          <a:noFill/>
          <a:ln w="9525">
            <a:noFill/>
            <a:miter lim="800000"/>
            <a:headEnd/>
            <a:tailEnd/>
          </a:ln>
          <a:effectLst/>
        </p:spPr>
        <p:txBody>
          <a:bodyPr anchor="ctr"/>
          <a:lstStyle/>
          <a:p>
            <a:r>
              <a:rPr lang="en-US" altLang="zh-CN" sz="4400" dirty="0"/>
              <a:t>5.4.1</a:t>
            </a:r>
            <a:r>
              <a:rPr lang="en-US" altLang="zh-CN" sz="4400" dirty="0">
                <a:solidFill>
                  <a:schemeClr val="tx2"/>
                </a:solidFill>
                <a:latin typeface="Times New Roman" pitchFamily="18" charset="0"/>
              </a:rPr>
              <a:t>  UART(0</a:t>
            </a:r>
            <a:r>
              <a:rPr lang="zh-CN" altLang="en-US" sz="4400" dirty="0">
                <a:solidFill>
                  <a:schemeClr val="tx2"/>
                </a:solidFill>
                <a:latin typeface="Times New Roman" pitchFamily="18" charset="0"/>
              </a:rPr>
              <a:t>、</a:t>
            </a:r>
            <a:r>
              <a:rPr lang="en-US" altLang="zh-CN" sz="4400" dirty="0">
                <a:solidFill>
                  <a:schemeClr val="tx2"/>
                </a:solidFill>
                <a:latin typeface="Times New Roman" pitchFamily="18" charset="0"/>
              </a:rPr>
              <a:t>1) </a:t>
            </a:r>
          </a:p>
        </p:txBody>
      </p:sp>
      <p:sp>
        <p:nvSpPr>
          <p:cNvPr id="732181" name="Rectangle 21"/>
          <p:cNvSpPr>
            <a:spLocks noChangeArrowheads="1"/>
          </p:cNvSpPr>
          <p:nvPr/>
        </p:nvSpPr>
        <p:spPr bwMode="auto">
          <a:xfrm>
            <a:off x="2222500" y="1811338"/>
            <a:ext cx="768985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a:t>
            </a:r>
            <a:r>
              <a:rPr lang="zh-CN" altLang="en-US" sz="3200">
                <a:latin typeface="Times New Roman" pitchFamily="18" charset="0"/>
              </a:rPr>
              <a:t>设置</a:t>
            </a:r>
          </a:p>
        </p:txBody>
      </p:sp>
      <p:sp>
        <p:nvSpPr>
          <p:cNvPr id="732182" name="Text Box 22"/>
          <p:cNvSpPr txBox="1">
            <a:spLocks noChangeArrowheads="1"/>
          </p:cNvSpPr>
          <p:nvPr/>
        </p:nvSpPr>
        <p:spPr bwMode="auto">
          <a:xfrm>
            <a:off x="2711450" y="2565400"/>
            <a:ext cx="4681538" cy="457200"/>
          </a:xfrm>
          <a:prstGeom prst="rect">
            <a:avLst/>
          </a:prstGeom>
          <a:noFill/>
          <a:ln w="9525" algn="ctr">
            <a:noFill/>
            <a:miter lim="800000"/>
            <a:headEnd/>
            <a:tailEnd/>
          </a:ln>
          <a:effectLst/>
        </p:spPr>
        <p:txBody>
          <a:bodyPr>
            <a:spAutoFit/>
          </a:bodyPr>
          <a:lstStyle/>
          <a:p>
            <a:pPr>
              <a:spcBef>
                <a:spcPct val="50000"/>
              </a:spcBef>
            </a:pPr>
            <a:r>
              <a:rPr lang="zh-CN" altLang="en-US" sz="2400">
                <a:latin typeface="华文新魏" pitchFamily="2" charset="-122"/>
                <a:ea typeface="华文新魏" pitchFamily="2" charset="-122"/>
              </a:rPr>
              <a:t>使用</a:t>
            </a:r>
            <a:r>
              <a:rPr lang="en-US" altLang="zh-CN" sz="2400">
                <a:latin typeface="华文新魏" pitchFamily="2" charset="-122"/>
                <a:ea typeface="华文新魏" pitchFamily="2" charset="-122"/>
              </a:rPr>
              <a:t>UART</a:t>
            </a:r>
            <a:r>
              <a:rPr lang="zh-CN" altLang="en-US" sz="2400">
                <a:latin typeface="华文新魏" pitchFamily="2" charset="-122"/>
                <a:ea typeface="华文新魏" pitchFamily="2" charset="-122"/>
              </a:rPr>
              <a:t>前需要设置的寄存器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32181"/>
                                        </p:tgtEl>
                                        <p:attrNameLst>
                                          <p:attrName>style.visibility</p:attrName>
                                        </p:attrNameLst>
                                      </p:cBhvr>
                                      <p:to>
                                        <p:strVal val="visible"/>
                                      </p:to>
                                    </p:set>
                                    <p:anim calcmode="lin" valueType="num">
                                      <p:cBhvr additive="base">
                                        <p:cTn id="7" dur="500" fill="hold"/>
                                        <p:tgtEl>
                                          <p:spTgt spid="732181"/>
                                        </p:tgtEl>
                                        <p:attrNameLst>
                                          <p:attrName>ppt_x</p:attrName>
                                        </p:attrNameLst>
                                      </p:cBhvr>
                                      <p:tavLst>
                                        <p:tav tm="0">
                                          <p:val>
                                            <p:strVal val="1+#ppt_w/2"/>
                                          </p:val>
                                        </p:tav>
                                        <p:tav tm="100000">
                                          <p:val>
                                            <p:strVal val="#ppt_x"/>
                                          </p:val>
                                        </p:tav>
                                      </p:tavLst>
                                    </p:anim>
                                    <p:anim calcmode="lin" valueType="num">
                                      <p:cBhvr additive="base">
                                        <p:cTn id="8" dur="500" fill="hold"/>
                                        <p:tgtEl>
                                          <p:spTgt spid="73218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732182"/>
                                        </p:tgtEl>
                                        <p:attrNameLst>
                                          <p:attrName>style.visibility</p:attrName>
                                        </p:attrNameLst>
                                      </p:cBhvr>
                                      <p:to>
                                        <p:strVal val="visible"/>
                                      </p:to>
                                    </p:set>
                                    <p:animEffect transition="in" filter="box(in)">
                                      <p:cBhvr>
                                        <p:cTn id="12" dur="500"/>
                                        <p:tgtEl>
                                          <p:spTgt spid="732182"/>
                                        </p:tgtEl>
                                      </p:cBhvr>
                                    </p:animEffect>
                                  </p:childTnLst>
                                </p:cTn>
                              </p:par>
                            </p:childTnLst>
                          </p:cTn>
                        </p:par>
                        <p:par>
                          <p:cTn id="13" fill="hold">
                            <p:stCondLst>
                              <p:cond delay="1000"/>
                            </p:stCondLst>
                            <p:childTnLst>
                              <p:par>
                                <p:cTn id="14" presetID="12" presetClass="entr" presetSubtype="1" fill="hold" nodeType="afterEffect">
                                  <p:stCondLst>
                                    <p:cond delay="0"/>
                                  </p:stCondLst>
                                  <p:childTnLst>
                                    <p:set>
                                      <p:cBhvr>
                                        <p:cTn id="15" dur="1" fill="hold">
                                          <p:stCondLst>
                                            <p:cond delay="0"/>
                                          </p:stCondLst>
                                        </p:cTn>
                                        <p:tgtEl>
                                          <p:spTgt spid="732162"/>
                                        </p:tgtEl>
                                        <p:attrNameLst>
                                          <p:attrName>style.visibility</p:attrName>
                                        </p:attrNameLst>
                                      </p:cBhvr>
                                      <p:to>
                                        <p:strVal val="visible"/>
                                      </p:to>
                                    </p:set>
                                    <p:animEffect transition="in" filter="slide(fromTop)">
                                      <p:cBhvr>
                                        <p:cTn id="16" dur="500"/>
                                        <p:tgtEl>
                                          <p:spTgt spid="732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2181" grpId="0"/>
      <p:bldP spid="732182"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186" name="Rectangle 2"/>
          <p:cNvSpPr>
            <a:spLocks noChangeArrowheads="1"/>
          </p:cNvSpPr>
          <p:nvPr/>
        </p:nvSpPr>
        <p:spPr bwMode="auto">
          <a:xfrm>
            <a:off x="2209800" y="609600"/>
            <a:ext cx="7772400" cy="1143000"/>
          </a:xfrm>
          <a:prstGeom prst="rect">
            <a:avLst/>
          </a:prstGeom>
          <a:noFill/>
          <a:ln w="9525">
            <a:noFill/>
            <a:miter lim="800000"/>
            <a:headEnd/>
            <a:tailEnd/>
          </a:ln>
          <a:effectLst/>
        </p:spPr>
        <p:txBody>
          <a:bodyPr anchor="ctr"/>
          <a:lstStyle/>
          <a:p>
            <a:r>
              <a:rPr lang="en-US" altLang="zh-CN" sz="4400" dirty="0"/>
              <a:t>5.4.1</a:t>
            </a:r>
            <a:r>
              <a:rPr lang="en-US" altLang="zh-CN" sz="4400" dirty="0">
                <a:solidFill>
                  <a:schemeClr val="tx2"/>
                </a:solidFill>
                <a:latin typeface="Times New Roman" pitchFamily="18" charset="0"/>
              </a:rPr>
              <a:t>  UART(0</a:t>
            </a:r>
            <a:r>
              <a:rPr lang="zh-CN" altLang="en-US" sz="4400" dirty="0">
                <a:solidFill>
                  <a:schemeClr val="tx2"/>
                </a:solidFill>
                <a:latin typeface="Times New Roman" pitchFamily="18" charset="0"/>
              </a:rPr>
              <a:t>、</a:t>
            </a:r>
            <a:r>
              <a:rPr lang="en-US" altLang="zh-CN" sz="4400" dirty="0">
                <a:solidFill>
                  <a:schemeClr val="tx2"/>
                </a:solidFill>
                <a:latin typeface="Times New Roman" pitchFamily="18" charset="0"/>
              </a:rPr>
              <a:t>1) </a:t>
            </a:r>
          </a:p>
        </p:txBody>
      </p:sp>
      <p:sp>
        <p:nvSpPr>
          <p:cNvPr id="733187" name="Rectangle 3"/>
          <p:cNvSpPr>
            <a:spLocks noChangeArrowheads="1"/>
          </p:cNvSpPr>
          <p:nvPr/>
        </p:nvSpPr>
        <p:spPr bwMode="auto">
          <a:xfrm>
            <a:off x="2222500" y="1811338"/>
            <a:ext cx="768985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a:t>
            </a:r>
            <a:r>
              <a:rPr lang="zh-CN" altLang="en-US" sz="3200">
                <a:latin typeface="Times New Roman" pitchFamily="18" charset="0"/>
              </a:rPr>
              <a:t>设置</a:t>
            </a:r>
          </a:p>
        </p:txBody>
      </p:sp>
      <p:sp>
        <p:nvSpPr>
          <p:cNvPr id="733188" name="Text Box 4"/>
          <p:cNvSpPr txBox="1">
            <a:spLocks noChangeArrowheads="1"/>
          </p:cNvSpPr>
          <p:nvPr/>
        </p:nvSpPr>
        <p:spPr bwMode="auto">
          <a:xfrm>
            <a:off x="2711450" y="2565400"/>
            <a:ext cx="4681538" cy="457200"/>
          </a:xfrm>
          <a:prstGeom prst="rect">
            <a:avLst/>
          </a:prstGeom>
          <a:noFill/>
          <a:ln w="9525" algn="ctr">
            <a:noFill/>
            <a:miter lim="800000"/>
            <a:headEnd/>
            <a:tailEnd/>
          </a:ln>
          <a:effectLst/>
        </p:spPr>
        <p:txBody>
          <a:bodyPr>
            <a:spAutoFit/>
          </a:bodyPr>
          <a:lstStyle/>
          <a:p>
            <a:pPr>
              <a:spcBef>
                <a:spcPct val="50000"/>
              </a:spcBef>
            </a:pPr>
            <a:r>
              <a:rPr lang="zh-CN" altLang="en-US" sz="2400">
                <a:latin typeface="华文新魏" pitchFamily="2" charset="-122"/>
                <a:ea typeface="华文新魏" pitchFamily="2" charset="-122"/>
              </a:rPr>
              <a:t>使用</a:t>
            </a:r>
            <a:r>
              <a:rPr lang="en-US" altLang="zh-CN" sz="2400">
                <a:latin typeface="华文新魏" pitchFamily="2" charset="-122"/>
                <a:ea typeface="华文新魏" pitchFamily="2" charset="-122"/>
              </a:rPr>
              <a:t>UART</a:t>
            </a:r>
            <a:r>
              <a:rPr lang="zh-CN" altLang="en-US" sz="2400">
                <a:latin typeface="华文新魏" pitchFamily="2" charset="-122"/>
                <a:ea typeface="华文新魏" pitchFamily="2" charset="-122"/>
              </a:rPr>
              <a:t>前需要设置的寄存器</a:t>
            </a:r>
          </a:p>
        </p:txBody>
      </p:sp>
      <p:graphicFrame>
        <p:nvGraphicFramePr>
          <p:cNvPr id="733189" name="Group 5"/>
          <p:cNvGraphicFramePr>
            <a:graphicFrameLocks noGrp="1"/>
          </p:cNvGraphicFramePr>
          <p:nvPr>
            <p:ph/>
          </p:nvPr>
        </p:nvGraphicFramePr>
        <p:xfrm>
          <a:off x="2855914" y="3357563"/>
          <a:ext cx="6478587" cy="2377440"/>
        </p:xfrm>
        <a:graphic>
          <a:graphicData uri="http://schemas.openxmlformats.org/drawingml/2006/table">
            <a:tbl>
              <a:tblPr/>
              <a:tblGrid>
                <a:gridCol w="2157412">
                  <a:extLst>
                    <a:ext uri="{9D8B030D-6E8A-4147-A177-3AD203B41FA5}">
                      <a16:colId xmlns:a16="http://schemas.microsoft.com/office/drawing/2014/main" val="20000"/>
                    </a:ext>
                  </a:extLst>
                </a:gridCol>
                <a:gridCol w="4321175">
                  <a:extLst>
                    <a:ext uri="{9D8B030D-6E8A-4147-A177-3AD203B41FA5}">
                      <a16:colId xmlns:a16="http://schemas.microsoft.com/office/drawing/2014/main" val="20001"/>
                    </a:ext>
                  </a:extLst>
                </a:gridCol>
              </a:tblGrid>
              <a:tr h="1301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a:ln>
                            <a:noFill/>
                          </a:ln>
                          <a:solidFill>
                            <a:schemeClr val="tx1"/>
                          </a:solidFill>
                          <a:effectLst/>
                          <a:latin typeface="宋体" pitchFamily="2" charset="-122"/>
                          <a:ea typeface="宋体" pitchFamily="2" charset="-122"/>
                        </a:rPr>
                        <a:t>寄存器名称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a:ln>
                            <a:noFill/>
                          </a:ln>
                          <a:solidFill>
                            <a:schemeClr val="tx1"/>
                          </a:solidFill>
                          <a:effectLst/>
                          <a:latin typeface="宋体" pitchFamily="2" charset="-122"/>
                          <a:ea typeface="宋体" pitchFamily="2" charset="-122"/>
                        </a:rPr>
                        <a:t>功能</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1285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itchFamily="2" charset="-122"/>
                          <a:ea typeface="宋体" pitchFamily="2" charset="-122"/>
                        </a:rPr>
                        <a:t>UnLCR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a:ln>
                            <a:noFill/>
                          </a:ln>
                          <a:solidFill>
                            <a:schemeClr val="tx1"/>
                          </a:solidFill>
                          <a:effectLst/>
                          <a:latin typeface="宋体" pitchFamily="2" charset="-122"/>
                          <a:ea typeface="宋体" pitchFamily="2" charset="-122"/>
                        </a:rPr>
                        <a:t>设置</a:t>
                      </a:r>
                      <a:r>
                        <a:rPr kumimoji="1" lang="en-US" altLang="zh-CN" sz="2000" b="0" i="0" u="none" strike="noStrike" cap="none" normalizeH="0" baseline="0">
                          <a:ln>
                            <a:noFill/>
                          </a:ln>
                          <a:solidFill>
                            <a:schemeClr val="tx1"/>
                          </a:solidFill>
                          <a:effectLst/>
                          <a:latin typeface="宋体" pitchFamily="2" charset="-122"/>
                          <a:ea typeface="宋体" pitchFamily="2" charset="-122"/>
                        </a:rPr>
                        <a:t>UARTn</a:t>
                      </a:r>
                      <a:r>
                        <a:rPr kumimoji="1" lang="zh-CN" altLang="en-US" sz="2000" b="0" i="0" u="none" strike="noStrike" cap="none" normalizeH="0" baseline="0">
                          <a:ln>
                            <a:noFill/>
                          </a:ln>
                          <a:solidFill>
                            <a:schemeClr val="tx1"/>
                          </a:solidFill>
                          <a:effectLst/>
                          <a:latin typeface="宋体" pitchFamily="2" charset="-122"/>
                          <a:ea typeface="宋体" pitchFamily="2" charset="-122"/>
                        </a:rPr>
                        <a:t>的通信格式。</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1476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itchFamily="2" charset="-122"/>
                          <a:ea typeface="宋体" pitchFamily="2" charset="-122"/>
                        </a:rPr>
                        <a:t>UnFCR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a:ln>
                            <a:noFill/>
                          </a:ln>
                          <a:solidFill>
                            <a:schemeClr val="tx1"/>
                          </a:solidFill>
                          <a:effectLst/>
                          <a:latin typeface="宋体" pitchFamily="2" charset="-122"/>
                          <a:ea typeface="宋体" pitchFamily="2" charset="-122"/>
                        </a:rPr>
                        <a:t>设置</a:t>
                      </a:r>
                      <a:r>
                        <a:rPr kumimoji="1" lang="en-US" altLang="zh-CN" sz="2000" b="0" i="0" u="none" strike="noStrike" cap="none" normalizeH="0" baseline="0">
                          <a:ln>
                            <a:noFill/>
                          </a:ln>
                          <a:solidFill>
                            <a:schemeClr val="tx1"/>
                          </a:solidFill>
                          <a:effectLst/>
                          <a:latin typeface="宋体" pitchFamily="2" charset="-122"/>
                          <a:ea typeface="宋体" pitchFamily="2" charset="-122"/>
                        </a:rPr>
                        <a:t>UARTn</a:t>
                      </a:r>
                      <a:r>
                        <a:rPr kumimoji="1" lang="zh-CN" altLang="en-US" sz="2000" b="0" i="0" u="none" strike="noStrike" cap="none" normalizeH="0" baseline="0">
                          <a:ln>
                            <a:noFill/>
                          </a:ln>
                          <a:solidFill>
                            <a:schemeClr val="tx1"/>
                          </a:solidFill>
                          <a:effectLst/>
                          <a:latin typeface="宋体" pitchFamily="2" charset="-122"/>
                          <a:ea typeface="宋体" pitchFamily="2" charset="-122"/>
                        </a:rPr>
                        <a:t>的接收</a:t>
                      </a:r>
                      <a:r>
                        <a:rPr kumimoji="1" lang="en-US" altLang="zh-CN" sz="2000" b="0" i="0" u="none" strike="noStrike" cap="none" normalizeH="0" baseline="0">
                          <a:ln>
                            <a:noFill/>
                          </a:ln>
                          <a:solidFill>
                            <a:schemeClr val="tx1"/>
                          </a:solidFill>
                          <a:effectLst/>
                          <a:latin typeface="宋体" pitchFamily="2" charset="-122"/>
                          <a:ea typeface="宋体" pitchFamily="2" charset="-122"/>
                        </a:rPr>
                        <a:t>FIFO</a:t>
                      </a:r>
                      <a:r>
                        <a:rPr kumimoji="1" lang="zh-CN" altLang="en-US" sz="2000" b="0" i="0" u="none" strike="noStrike" cap="none" normalizeH="0" baseline="0">
                          <a:ln>
                            <a:noFill/>
                          </a:ln>
                          <a:solidFill>
                            <a:schemeClr val="tx1"/>
                          </a:solidFill>
                          <a:effectLst/>
                          <a:latin typeface="宋体" pitchFamily="2" charset="-122"/>
                          <a:ea typeface="宋体" pitchFamily="2" charset="-122"/>
                        </a:rPr>
                        <a:t>缓冲区。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1301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itchFamily="2" charset="-122"/>
                          <a:ea typeface="宋体" pitchFamily="2" charset="-122"/>
                        </a:rPr>
                        <a:t>UnDLL</a:t>
                      </a:r>
                      <a:r>
                        <a:rPr kumimoji="0" lang="zh-CN" altLang="en-US" sz="2000" b="0" i="0" u="none" strike="noStrike" cap="none" normalizeH="0" baseline="0">
                          <a:ln>
                            <a:noFill/>
                          </a:ln>
                          <a:solidFill>
                            <a:schemeClr val="tx1"/>
                          </a:solidFill>
                          <a:effectLst/>
                          <a:latin typeface="宋体" pitchFamily="2" charset="-122"/>
                          <a:ea typeface="宋体" pitchFamily="2" charset="-122"/>
                        </a:rPr>
                        <a:t>、 </a:t>
                      </a:r>
                      <a:r>
                        <a:rPr kumimoji="0" lang="en-US" altLang="zh-CN" sz="2000" b="0" i="0" u="none" strike="noStrike" cap="none" normalizeH="0" baseline="0">
                          <a:ln>
                            <a:noFill/>
                          </a:ln>
                          <a:solidFill>
                            <a:schemeClr val="tx1"/>
                          </a:solidFill>
                          <a:effectLst/>
                          <a:latin typeface="宋体" pitchFamily="2" charset="-122"/>
                          <a:ea typeface="宋体" pitchFamily="2" charset="-122"/>
                        </a:rPr>
                        <a:t>UnDLM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a:ln>
                            <a:noFill/>
                          </a:ln>
                          <a:solidFill>
                            <a:schemeClr val="tx1"/>
                          </a:solidFill>
                          <a:effectLst/>
                          <a:latin typeface="宋体" pitchFamily="2" charset="-122"/>
                          <a:ea typeface="宋体" pitchFamily="2" charset="-122"/>
                        </a:rPr>
                        <a:t>设置</a:t>
                      </a:r>
                      <a:r>
                        <a:rPr kumimoji="1" lang="en-US" altLang="zh-CN" sz="2000" b="0" i="0" u="none" strike="noStrike" cap="none" normalizeH="0" baseline="0">
                          <a:ln>
                            <a:noFill/>
                          </a:ln>
                          <a:solidFill>
                            <a:schemeClr val="tx1"/>
                          </a:solidFill>
                          <a:effectLst/>
                          <a:latin typeface="宋体" pitchFamily="2" charset="-122"/>
                          <a:ea typeface="宋体" pitchFamily="2" charset="-122"/>
                        </a:rPr>
                        <a:t>UARTn</a:t>
                      </a:r>
                      <a:r>
                        <a:rPr kumimoji="1" lang="zh-CN" altLang="en-US" sz="2000" b="0" i="0" u="none" strike="noStrike" cap="none" normalizeH="0" baseline="0">
                          <a:ln>
                            <a:noFill/>
                          </a:ln>
                          <a:solidFill>
                            <a:schemeClr val="tx1"/>
                          </a:solidFill>
                          <a:effectLst/>
                          <a:latin typeface="宋体" pitchFamily="2" charset="-122"/>
                          <a:ea typeface="宋体" pitchFamily="2" charset="-122"/>
                        </a:rPr>
                        <a:t>的通信波特率。</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r h="1285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itchFamily="2" charset="-122"/>
                          <a:ea typeface="宋体" pitchFamily="2" charset="-122"/>
                        </a:rPr>
                        <a:t>UnIER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a:ln>
                            <a:noFill/>
                          </a:ln>
                          <a:solidFill>
                            <a:schemeClr val="tx1"/>
                          </a:solidFill>
                          <a:effectLst/>
                          <a:latin typeface="宋体" pitchFamily="2" charset="-122"/>
                          <a:ea typeface="宋体" pitchFamily="2" charset="-122"/>
                        </a:rPr>
                        <a:t>设置</a:t>
                      </a:r>
                      <a:r>
                        <a:rPr kumimoji="1" lang="en-US" altLang="zh-CN" sz="2000" b="0" i="0" u="none" strike="noStrike" cap="none" normalizeH="0" baseline="0">
                          <a:ln>
                            <a:noFill/>
                          </a:ln>
                          <a:solidFill>
                            <a:schemeClr val="tx1"/>
                          </a:solidFill>
                          <a:effectLst/>
                          <a:latin typeface="宋体" pitchFamily="2" charset="-122"/>
                          <a:ea typeface="宋体" pitchFamily="2" charset="-122"/>
                        </a:rPr>
                        <a:t>UARTn</a:t>
                      </a:r>
                      <a:r>
                        <a:rPr kumimoji="1" lang="zh-CN" altLang="en-US" sz="2000" b="0" i="0" u="none" strike="noStrike" cap="none" normalizeH="0" baseline="0">
                          <a:ln>
                            <a:noFill/>
                          </a:ln>
                          <a:solidFill>
                            <a:schemeClr val="tx1"/>
                          </a:solidFill>
                          <a:effectLst/>
                          <a:latin typeface="宋体" pitchFamily="2" charset="-122"/>
                          <a:ea typeface="宋体" pitchFamily="2" charset="-122"/>
                        </a:rPr>
                        <a:t>的中断。</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r h="1301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宋体" pitchFamily="2" charset="-122"/>
                          <a:ea typeface="宋体" pitchFamily="2" charset="-122"/>
                        </a:rPr>
                        <a:t>U1MCR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chemeClr val="tx1"/>
                          </a:solidFill>
                          <a:effectLst/>
                          <a:latin typeface="宋体" pitchFamily="2" charset="-122"/>
                          <a:ea typeface="宋体" pitchFamily="2" charset="-122"/>
                        </a:rPr>
                        <a:t>Modem</a:t>
                      </a:r>
                      <a:r>
                        <a:rPr kumimoji="1" lang="zh-CN" altLang="en-US" sz="2000" b="0" i="0" u="none" strike="noStrike" cap="none" normalizeH="0" baseline="0">
                          <a:ln>
                            <a:noFill/>
                          </a:ln>
                          <a:solidFill>
                            <a:schemeClr val="tx1"/>
                          </a:solidFill>
                          <a:effectLst/>
                          <a:latin typeface="宋体" pitchFamily="2" charset="-122"/>
                          <a:ea typeface="宋体" pitchFamily="2" charset="-122"/>
                        </a:rPr>
                        <a:t>接口设置（只有</a:t>
                      </a:r>
                      <a:r>
                        <a:rPr kumimoji="1" lang="en-US" altLang="zh-CN" sz="2000" b="0" i="0" u="none" strike="noStrike" cap="none" normalizeH="0" baseline="0">
                          <a:ln>
                            <a:noFill/>
                          </a:ln>
                          <a:solidFill>
                            <a:schemeClr val="tx1"/>
                          </a:solidFill>
                          <a:effectLst/>
                          <a:latin typeface="宋体" pitchFamily="2" charset="-122"/>
                          <a:ea typeface="宋体" pitchFamily="2" charset="-122"/>
                        </a:rPr>
                        <a:t>UART1</a:t>
                      </a:r>
                      <a:r>
                        <a:rPr kumimoji="1" lang="zh-CN" altLang="en-US" sz="2000" b="0" i="0" u="none" strike="noStrike" cap="none" normalizeH="0" baseline="0">
                          <a:ln>
                            <a:noFill/>
                          </a:ln>
                          <a:solidFill>
                            <a:schemeClr val="tx1"/>
                          </a:solidFill>
                          <a:effectLst/>
                          <a:latin typeface="宋体" pitchFamily="2" charset="-122"/>
                          <a:ea typeface="宋体" pitchFamily="2" charset="-122"/>
                        </a:rPr>
                        <a:t>具有）。</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5"/>
                  </a:ext>
                </a:extLst>
              </a:tr>
            </a:tbl>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733188"/>
                                        </p:tgtEl>
                                        <p:attrNameLst>
                                          <p:attrName>style.visibility</p:attrName>
                                        </p:attrNameLst>
                                      </p:cBhvr>
                                      <p:to>
                                        <p:strVal val="visible"/>
                                      </p:to>
                                    </p:set>
                                    <p:animEffect transition="in" filter="box(in)">
                                      <p:cBhvr>
                                        <p:cTn id="7" dur="500"/>
                                        <p:tgtEl>
                                          <p:spTgt spid="733188"/>
                                        </p:tgtEl>
                                      </p:cBhvr>
                                    </p:animEffect>
                                  </p:childTnLst>
                                </p:cTn>
                              </p:par>
                            </p:childTnLst>
                          </p:cTn>
                        </p:par>
                        <p:par>
                          <p:cTn id="8" fill="hold">
                            <p:stCondLst>
                              <p:cond delay="500"/>
                            </p:stCondLst>
                            <p:childTnLst>
                              <p:par>
                                <p:cTn id="9" presetID="12" presetClass="entr" presetSubtype="1" fill="hold" nodeType="afterEffect">
                                  <p:stCondLst>
                                    <p:cond delay="0"/>
                                  </p:stCondLst>
                                  <p:childTnLst>
                                    <p:set>
                                      <p:cBhvr>
                                        <p:cTn id="10" dur="1" fill="hold">
                                          <p:stCondLst>
                                            <p:cond delay="0"/>
                                          </p:stCondLst>
                                        </p:cTn>
                                        <p:tgtEl>
                                          <p:spTgt spid="733189"/>
                                        </p:tgtEl>
                                        <p:attrNameLst>
                                          <p:attrName>style.visibility</p:attrName>
                                        </p:attrNameLst>
                                      </p:cBhvr>
                                      <p:to>
                                        <p:strVal val="visible"/>
                                      </p:to>
                                    </p:set>
                                    <p:animEffect transition="in" filter="slide(fromTop)">
                                      <p:cBhvr>
                                        <p:cTn id="11" dur="500"/>
                                        <p:tgtEl>
                                          <p:spTgt spid="733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3188"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10" name="Rectangle 2"/>
          <p:cNvSpPr>
            <a:spLocks noChangeArrowheads="1"/>
          </p:cNvSpPr>
          <p:nvPr/>
        </p:nvSpPr>
        <p:spPr bwMode="auto">
          <a:xfrm>
            <a:off x="2209800" y="609600"/>
            <a:ext cx="7772400" cy="1143000"/>
          </a:xfrm>
          <a:prstGeom prst="rect">
            <a:avLst/>
          </a:prstGeom>
          <a:noFill/>
          <a:ln w="9525">
            <a:noFill/>
            <a:miter lim="800000"/>
            <a:headEnd/>
            <a:tailEnd/>
          </a:ln>
          <a:effectLst/>
        </p:spPr>
        <p:txBody>
          <a:bodyPr anchor="ctr"/>
          <a:lstStyle/>
          <a:p>
            <a:r>
              <a:rPr lang="en-US" altLang="zh-CN" sz="4400" dirty="0"/>
              <a:t>5.4.1</a:t>
            </a:r>
            <a:r>
              <a:rPr lang="en-US" altLang="zh-CN" sz="4400" dirty="0">
                <a:solidFill>
                  <a:schemeClr val="tx2"/>
                </a:solidFill>
                <a:latin typeface="Times New Roman" pitchFamily="18" charset="0"/>
              </a:rPr>
              <a:t>  UART(0</a:t>
            </a:r>
            <a:r>
              <a:rPr lang="zh-CN" altLang="en-US" sz="4400" dirty="0">
                <a:solidFill>
                  <a:schemeClr val="tx2"/>
                </a:solidFill>
                <a:latin typeface="Times New Roman" pitchFamily="18" charset="0"/>
              </a:rPr>
              <a:t>、</a:t>
            </a:r>
            <a:r>
              <a:rPr lang="en-US" altLang="zh-CN" sz="4400" dirty="0">
                <a:solidFill>
                  <a:schemeClr val="tx2"/>
                </a:solidFill>
                <a:latin typeface="Times New Roman" pitchFamily="18" charset="0"/>
              </a:rPr>
              <a:t>1) </a:t>
            </a:r>
          </a:p>
        </p:txBody>
      </p:sp>
      <p:sp>
        <p:nvSpPr>
          <p:cNvPr id="734211" name="Rectangle 3"/>
          <p:cNvSpPr>
            <a:spLocks noChangeArrowheads="1"/>
          </p:cNvSpPr>
          <p:nvPr/>
        </p:nvSpPr>
        <p:spPr bwMode="auto">
          <a:xfrm>
            <a:off x="2222500" y="1811338"/>
            <a:ext cx="768985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a:t>
            </a:r>
            <a:r>
              <a:rPr lang="zh-CN" altLang="en-US" sz="3200">
                <a:latin typeface="Times New Roman" pitchFamily="18" charset="0"/>
              </a:rPr>
              <a:t>设置</a:t>
            </a:r>
          </a:p>
        </p:txBody>
      </p:sp>
      <p:sp>
        <p:nvSpPr>
          <p:cNvPr id="734212" name="Text Box 4"/>
          <p:cNvSpPr txBox="1">
            <a:spLocks noChangeArrowheads="1"/>
          </p:cNvSpPr>
          <p:nvPr/>
        </p:nvSpPr>
        <p:spPr bwMode="auto">
          <a:xfrm>
            <a:off x="2568575" y="2673351"/>
            <a:ext cx="7056438" cy="1200329"/>
          </a:xfrm>
          <a:prstGeom prst="rect">
            <a:avLst/>
          </a:prstGeom>
          <a:noFill/>
          <a:ln w="9525" algn="ctr">
            <a:noFill/>
            <a:miter lim="800000"/>
            <a:headEnd/>
            <a:tailEnd/>
          </a:ln>
          <a:effectLst/>
        </p:spPr>
        <p:txBody>
          <a:bodyPr>
            <a:spAutoFit/>
          </a:bodyPr>
          <a:lstStyle/>
          <a:p>
            <a:pPr algn="l">
              <a:spcBef>
                <a:spcPct val="50000"/>
              </a:spcBef>
            </a:pPr>
            <a:r>
              <a:rPr lang="en-US" altLang="zh-CN" sz="2400">
                <a:latin typeface="Times New Roman" pitchFamily="18" charset="0"/>
                <a:ea typeface="华文新魏" pitchFamily="2" charset="-122"/>
              </a:rPr>
              <a:t>        </a:t>
            </a:r>
            <a:r>
              <a:rPr lang="zh-CN" altLang="en-US" sz="2400">
                <a:latin typeface="Times New Roman" pitchFamily="18" charset="0"/>
                <a:ea typeface="华文新魏" pitchFamily="2" charset="-122"/>
              </a:rPr>
              <a:t>使用</a:t>
            </a:r>
            <a:r>
              <a:rPr lang="en-US" altLang="zh-CN" sz="2400">
                <a:latin typeface="Times New Roman" pitchFamily="18" charset="0"/>
                <a:ea typeface="华文新魏" pitchFamily="2" charset="-122"/>
              </a:rPr>
              <a:t>UART</a:t>
            </a:r>
            <a:r>
              <a:rPr lang="zh-CN" altLang="en-US" sz="2400">
                <a:latin typeface="Times New Roman" pitchFamily="18" charset="0"/>
                <a:ea typeface="华文新魏" pitchFamily="2" charset="-122"/>
              </a:rPr>
              <a:t>前需要设置的寄存器</a:t>
            </a:r>
            <a:r>
              <a:rPr lang="en-US" altLang="zh-CN" sz="2400">
                <a:latin typeface="Times New Roman" pitchFamily="18" charset="0"/>
                <a:ea typeface="华文新魏" pitchFamily="2" charset="-122"/>
              </a:rPr>
              <a:t>——UnLCR</a:t>
            </a:r>
            <a:r>
              <a:rPr lang="zh-CN" altLang="en-US" sz="2400">
                <a:latin typeface="Times New Roman" pitchFamily="18" charset="0"/>
                <a:ea typeface="华文新魏" pitchFamily="2" charset="-122"/>
              </a:rPr>
              <a:t>，设置</a:t>
            </a:r>
            <a:r>
              <a:rPr lang="en-US" altLang="zh-CN" sz="2400">
                <a:latin typeface="Times New Roman" pitchFamily="18" charset="0"/>
                <a:ea typeface="华文新魏" pitchFamily="2" charset="-122"/>
              </a:rPr>
              <a:t>UART</a:t>
            </a:r>
            <a:r>
              <a:rPr lang="zh-CN" altLang="en-US" sz="2400">
                <a:latin typeface="Times New Roman" pitchFamily="18" charset="0"/>
                <a:ea typeface="华文新魏" pitchFamily="2" charset="-122"/>
              </a:rPr>
              <a:t>通信字符长度、停止位个数、奇偶校验位等参数。</a:t>
            </a:r>
          </a:p>
        </p:txBody>
      </p:sp>
      <p:graphicFrame>
        <p:nvGraphicFramePr>
          <p:cNvPr id="734213" name="Group 5"/>
          <p:cNvGraphicFramePr>
            <a:graphicFrameLocks noGrp="1"/>
          </p:cNvGraphicFramePr>
          <p:nvPr/>
        </p:nvGraphicFramePr>
        <p:xfrm>
          <a:off x="2320926" y="4292601"/>
          <a:ext cx="7624763" cy="1269683"/>
        </p:xfrm>
        <a:graphic>
          <a:graphicData uri="http://schemas.openxmlformats.org/drawingml/2006/table">
            <a:tbl>
              <a:tblPr/>
              <a:tblGrid>
                <a:gridCol w="1020763">
                  <a:extLst>
                    <a:ext uri="{9D8B030D-6E8A-4147-A177-3AD203B41FA5}">
                      <a16:colId xmlns:a16="http://schemas.microsoft.com/office/drawing/2014/main" val="20000"/>
                    </a:ext>
                  </a:extLst>
                </a:gridCol>
                <a:gridCol w="1098550">
                  <a:extLst>
                    <a:ext uri="{9D8B030D-6E8A-4147-A177-3AD203B41FA5}">
                      <a16:colId xmlns:a16="http://schemas.microsoft.com/office/drawing/2014/main" val="20001"/>
                    </a:ext>
                  </a:extLst>
                </a:gridCol>
                <a:gridCol w="877887">
                  <a:extLst>
                    <a:ext uri="{9D8B030D-6E8A-4147-A177-3AD203B41FA5}">
                      <a16:colId xmlns:a16="http://schemas.microsoft.com/office/drawing/2014/main" val="20002"/>
                    </a:ext>
                  </a:extLst>
                </a:gridCol>
                <a:gridCol w="1190625">
                  <a:extLst>
                    <a:ext uri="{9D8B030D-6E8A-4147-A177-3AD203B41FA5}">
                      <a16:colId xmlns:a16="http://schemas.microsoft.com/office/drawing/2014/main" val="20003"/>
                    </a:ext>
                  </a:extLst>
                </a:gridCol>
                <a:gridCol w="1176338">
                  <a:extLst>
                    <a:ext uri="{9D8B030D-6E8A-4147-A177-3AD203B41FA5}">
                      <a16:colId xmlns:a16="http://schemas.microsoft.com/office/drawing/2014/main" val="20004"/>
                    </a:ext>
                  </a:extLst>
                </a:gridCol>
                <a:gridCol w="1162050">
                  <a:extLst>
                    <a:ext uri="{9D8B030D-6E8A-4147-A177-3AD203B41FA5}">
                      <a16:colId xmlns:a16="http://schemas.microsoft.com/office/drawing/2014/main" val="20005"/>
                    </a:ext>
                  </a:extLst>
                </a:gridCol>
                <a:gridCol w="1098550">
                  <a:extLst>
                    <a:ext uri="{9D8B030D-6E8A-4147-A177-3AD203B41FA5}">
                      <a16:colId xmlns:a16="http://schemas.microsoft.com/office/drawing/2014/main" val="20006"/>
                    </a:ext>
                  </a:extLst>
                </a:gridCol>
              </a:tblGrid>
              <a:tr h="358775">
                <a:tc gridSpan="7">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宋体" pitchFamily="2" charset="-122"/>
                          <a:ea typeface="宋体" pitchFamily="2" charset="-122"/>
                        </a:rPr>
                        <a:t>UART</a:t>
                      </a:r>
                      <a:r>
                        <a:rPr kumimoji="1" lang="zh-CN" altLang="en-US" sz="1800" b="0" i="0" u="none" strike="noStrike" cap="none" normalizeH="0" baseline="0">
                          <a:ln>
                            <a:noFill/>
                          </a:ln>
                          <a:solidFill>
                            <a:schemeClr val="tx1"/>
                          </a:solidFill>
                          <a:effectLst/>
                          <a:latin typeface="宋体" pitchFamily="2" charset="-122"/>
                          <a:ea typeface="宋体" pitchFamily="2" charset="-122"/>
                        </a:rPr>
                        <a:t>控制寄存器</a:t>
                      </a:r>
                    </a:p>
                  </a:txBody>
                  <a:tcPr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EAEAEA"/>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54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宋体" pitchFamily="2" charset="-122"/>
                          <a:ea typeface="宋体" pitchFamily="2" charset="-122"/>
                        </a:rPr>
                        <a:t>位</a:t>
                      </a: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宋体" pitchFamily="2" charset="-122"/>
                          <a:ea typeface="宋体" pitchFamily="2" charset="-122"/>
                        </a:rPr>
                        <a:t>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宋体" pitchFamily="2" charset="-122"/>
                          <a:ea typeface="宋体" pitchFamily="2" charset="-122"/>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宋体" pitchFamily="2" charset="-122"/>
                          <a:ea typeface="宋体" pitchFamily="2" charset="-122"/>
                        </a:rPr>
                        <a:t>[5 : 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宋体" pitchFamily="2" charset="-122"/>
                          <a:ea typeface="宋体" pitchFamily="2" charset="-122"/>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宋体" pitchFamily="2" charset="-122"/>
                          <a:ea typeface="宋体" pitchFamily="2" charset="-122"/>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宋体" pitchFamily="2" charset="-122"/>
                          <a:ea typeface="宋体" pitchFamily="2" charset="-122"/>
                        </a:rPr>
                        <a:t>[1 :0]</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5381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宋体" pitchFamily="2" charset="-122"/>
                          <a:ea typeface="宋体" pitchFamily="2" charset="-122"/>
                        </a:rPr>
                        <a:t>功能</a:t>
                      </a: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宋体" pitchFamily="2" charset="-122"/>
                          <a:ea typeface="宋体" pitchFamily="2" charset="-122"/>
                        </a:rPr>
                        <a:t>除数锁存</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宋体" pitchFamily="2" charset="-122"/>
                          <a:ea typeface="宋体" pitchFamily="2" charset="-122"/>
                        </a:rPr>
                        <a:t>间隔</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宋体" pitchFamily="2" charset="-122"/>
                          <a:ea typeface="宋体" pitchFamily="2" charset="-122"/>
                        </a:rPr>
                        <a:t>奇偶选择</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宋体" pitchFamily="2" charset="-122"/>
                          <a:ea typeface="宋体" pitchFamily="2" charset="-122"/>
                        </a:rPr>
                        <a:t>奇偶设置</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宋体" pitchFamily="2" charset="-122"/>
                          <a:ea typeface="宋体" pitchFamily="2" charset="-122"/>
                        </a:rPr>
                        <a:t>停止位</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宋体" pitchFamily="2" charset="-122"/>
                          <a:ea typeface="宋体" pitchFamily="2" charset="-122"/>
                        </a:rPr>
                        <a:t>字长</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734212"/>
                                        </p:tgtEl>
                                        <p:attrNameLst>
                                          <p:attrName>style.visibility</p:attrName>
                                        </p:attrNameLst>
                                      </p:cBhvr>
                                      <p:to>
                                        <p:strVal val="visible"/>
                                      </p:to>
                                    </p:set>
                                    <p:animEffect transition="in" filter="box(in)">
                                      <p:cBhvr>
                                        <p:cTn id="7" dur="500"/>
                                        <p:tgtEl>
                                          <p:spTgt spid="734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4212" grpId="0"/>
    </p:bldLst>
  </p:timing>
</p:sld>
</file>

<file path=ppt/slides/slide1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735234" name="Group 2"/>
          <p:cNvGraphicFramePr>
            <a:graphicFrameLocks noGrp="1"/>
          </p:cNvGraphicFramePr>
          <p:nvPr>
            <p:ph sz="half" idx="2"/>
          </p:nvPr>
        </p:nvGraphicFramePr>
        <p:xfrm>
          <a:off x="2422526" y="2481263"/>
          <a:ext cx="7345363" cy="3688080"/>
        </p:xfrm>
        <a:graphic>
          <a:graphicData uri="http://schemas.openxmlformats.org/drawingml/2006/table">
            <a:tbl>
              <a:tblPr/>
              <a:tblGrid>
                <a:gridCol w="865188">
                  <a:extLst>
                    <a:ext uri="{9D8B030D-6E8A-4147-A177-3AD203B41FA5}">
                      <a16:colId xmlns:a16="http://schemas.microsoft.com/office/drawing/2014/main" val="20000"/>
                    </a:ext>
                  </a:extLst>
                </a:gridCol>
                <a:gridCol w="1044575">
                  <a:extLst>
                    <a:ext uri="{9D8B030D-6E8A-4147-A177-3AD203B41FA5}">
                      <a16:colId xmlns:a16="http://schemas.microsoft.com/office/drawing/2014/main" val="20001"/>
                    </a:ext>
                  </a:extLst>
                </a:gridCol>
                <a:gridCol w="1403350">
                  <a:extLst>
                    <a:ext uri="{9D8B030D-6E8A-4147-A177-3AD203B41FA5}">
                      <a16:colId xmlns:a16="http://schemas.microsoft.com/office/drawing/2014/main" val="20002"/>
                    </a:ext>
                  </a:extLst>
                </a:gridCol>
                <a:gridCol w="4032250">
                  <a:extLst>
                    <a:ext uri="{9D8B030D-6E8A-4147-A177-3AD203B41FA5}">
                      <a16:colId xmlns:a16="http://schemas.microsoft.com/office/drawing/2014/main" val="20003"/>
                    </a:ext>
                  </a:extLst>
                </a:gridCol>
              </a:tblGrid>
              <a:tr h="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UART</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000000"/>
                          </a:solidFill>
                          <a:effectLst/>
                          <a:latin typeface="宋体" pitchFamily="2" charset="-122"/>
                          <a:ea typeface="宋体" pitchFamily="2" charset="-122"/>
                        </a:rPr>
                        <a:t>寄存器</a:t>
                      </a:r>
                      <a:endParaRPr kumimoji="0" lang="zh-CN" altLang="en-US"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000000"/>
                          </a:solidFill>
                          <a:effectLst/>
                          <a:latin typeface="宋体" pitchFamily="2" charset="-122"/>
                          <a:ea typeface="宋体" pitchFamily="2" charset="-122"/>
                        </a:rPr>
                        <a:t>地址</a:t>
                      </a:r>
                      <a:endParaRPr kumimoji="0" lang="zh-CN" altLang="en-US"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000000"/>
                          </a:solidFill>
                          <a:effectLst/>
                          <a:latin typeface="宋体" pitchFamily="2" charset="-122"/>
                          <a:ea typeface="宋体" pitchFamily="2" charset="-122"/>
                        </a:rPr>
                        <a:t>访问方式</a:t>
                      </a:r>
                      <a:endParaRPr kumimoji="0" lang="zh-CN" altLang="en-US"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0">
                <a:tc rowSpan="5">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UART0</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U0RBR</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rowSpan="3">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0xE000 C000</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DLAB=0</a:t>
                      </a:r>
                      <a:r>
                        <a:rPr kumimoji="0" lang="zh-CN" altLang="en-US" sz="1600" b="0" i="0" u="none" strike="noStrike" cap="none" normalizeH="0" baseline="0">
                          <a:ln>
                            <a:noFill/>
                          </a:ln>
                          <a:solidFill>
                            <a:srgbClr val="000000"/>
                          </a:solidFill>
                          <a:effectLst/>
                          <a:latin typeface="宋体" pitchFamily="2" charset="-122"/>
                          <a:ea typeface="宋体" pitchFamily="2" charset="-122"/>
                        </a:rPr>
                        <a:t>，对地址：</a:t>
                      </a:r>
                      <a:r>
                        <a:rPr kumimoji="0" lang="en-US" altLang="zh-CN" sz="1600" b="0" i="0" u="none" strike="noStrike" cap="none" normalizeH="0" baseline="0">
                          <a:ln>
                            <a:noFill/>
                          </a:ln>
                          <a:solidFill>
                            <a:srgbClr val="000000"/>
                          </a:solidFill>
                          <a:effectLst/>
                          <a:latin typeface="宋体" pitchFamily="2" charset="-122"/>
                          <a:ea typeface="宋体" pitchFamily="2" charset="-122"/>
                        </a:rPr>
                        <a:t>0xE000 C000</a:t>
                      </a:r>
                      <a:r>
                        <a:rPr kumimoji="0" lang="zh-CN" altLang="en-US" sz="1600" b="0" i="0" u="none" strike="noStrike" cap="none" normalizeH="0" baseline="0">
                          <a:ln>
                            <a:noFill/>
                          </a:ln>
                          <a:solidFill>
                            <a:srgbClr val="000000"/>
                          </a:solidFill>
                          <a:effectLst/>
                          <a:latin typeface="宋体" pitchFamily="2" charset="-122"/>
                          <a:ea typeface="宋体" pitchFamily="2" charset="-122"/>
                        </a:rPr>
                        <a:t>进行</a:t>
                      </a:r>
                      <a:r>
                        <a:rPr kumimoji="0" lang="zh-CN" altLang="en-US" sz="1600" b="1" i="0" u="none" strike="noStrike" cap="none" normalizeH="0" baseline="0">
                          <a:ln>
                            <a:noFill/>
                          </a:ln>
                          <a:solidFill>
                            <a:srgbClr val="FF0000"/>
                          </a:solidFill>
                          <a:effectLst/>
                          <a:latin typeface="宋体" pitchFamily="2" charset="-122"/>
                          <a:ea typeface="宋体" pitchFamily="2" charset="-122"/>
                        </a:rPr>
                        <a:t>读</a:t>
                      </a:r>
                      <a:r>
                        <a:rPr kumimoji="0" lang="zh-CN" altLang="en-US" sz="1600" b="0" i="0" u="none" strike="noStrike" cap="none" normalizeH="0" baseline="0">
                          <a:ln>
                            <a:noFill/>
                          </a:ln>
                          <a:solidFill>
                            <a:srgbClr val="000000"/>
                          </a:solidFill>
                          <a:effectLst/>
                          <a:latin typeface="宋体" pitchFamily="2" charset="-122"/>
                          <a:ea typeface="宋体" pitchFamily="2" charset="-122"/>
                        </a:rPr>
                        <a:t>访问</a:t>
                      </a:r>
                      <a:endParaRPr kumimoji="0" lang="zh-CN" altLang="en-US"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0">
                <a:tc vMerge="1">
                  <a:txBody>
                    <a:bodyPr/>
                    <a:lstStyle/>
                    <a:p>
                      <a:endParaRPr lang="zh-CN" altLang="en-US"/>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U0THR</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vMerge="1">
                  <a:txBody>
                    <a:bodyPr/>
                    <a:lstStyle/>
                    <a:p>
                      <a:endParaRPr lang="zh-CN" altLang="en-US"/>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DLAB=0</a:t>
                      </a:r>
                      <a:r>
                        <a:rPr kumimoji="0" lang="zh-CN" altLang="en-US" sz="1600" b="0" i="0" u="none" strike="noStrike" cap="none" normalizeH="0" baseline="0">
                          <a:ln>
                            <a:noFill/>
                          </a:ln>
                          <a:solidFill>
                            <a:srgbClr val="000000"/>
                          </a:solidFill>
                          <a:effectLst/>
                          <a:latin typeface="宋体" pitchFamily="2" charset="-122"/>
                          <a:ea typeface="宋体" pitchFamily="2" charset="-122"/>
                        </a:rPr>
                        <a:t>，对地址：</a:t>
                      </a:r>
                      <a:r>
                        <a:rPr kumimoji="0" lang="en-US" altLang="zh-CN" sz="1600" b="0" i="0" u="none" strike="noStrike" cap="none" normalizeH="0" baseline="0">
                          <a:ln>
                            <a:noFill/>
                          </a:ln>
                          <a:solidFill>
                            <a:srgbClr val="000000"/>
                          </a:solidFill>
                          <a:effectLst/>
                          <a:latin typeface="宋体" pitchFamily="2" charset="-122"/>
                          <a:ea typeface="宋体" pitchFamily="2" charset="-122"/>
                        </a:rPr>
                        <a:t>0xE000 C000</a:t>
                      </a:r>
                      <a:r>
                        <a:rPr kumimoji="0" lang="zh-CN" altLang="en-US" sz="1600" b="0" i="0" u="none" strike="noStrike" cap="none" normalizeH="0" baseline="0">
                          <a:ln>
                            <a:noFill/>
                          </a:ln>
                          <a:solidFill>
                            <a:srgbClr val="000000"/>
                          </a:solidFill>
                          <a:effectLst/>
                          <a:latin typeface="宋体" pitchFamily="2" charset="-122"/>
                          <a:ea typeface="宋体" pitchFamily="2" charset="-122"/>
                        </a:rPr>
                        <a:t>进行</a:t>
                      </a:r>
                      <a:r>
                        <a:rPr kumimoji="0" lang="zh-CN" altLang="en-US" sz="1600" b="1" i="0" u="none" strike="noStrike" cap="none" normalizeH="0" baseline="0">
                          <a:ln>
                            <a:noFill/>
                          </a:ln>
                          <a:solidFill>
                            <a:srgbClr val="FF0000"/>
                          </a:solidFill>
                          <a:effectLst/>
                          <a:latin typeface="宋体" pitchFamily="2" charset="-122"/>
                          <a:ea typeface="宋体" pitchFamily="2" charset="-122"/>
                        </a:rPr>
                        <a:t>写</a:t>
                      </a:r>
                      <a:r>
                        <a:rPr kumimoji="0" lang="zh-CN" altLang="en-US" sz="1600" b="0" i="0" u="none" strike="noStrike" cap="none" normalizeH="0" baseline="0">
                          <a:ln>
                            <a:noFill/>
                          </a:ln>
                          <a:solidFill>
                            <a:srgbClr val="000000"/>
                          </a:solidFill>
                          <a:effectLst/>
                          <a:latin typeface="宋体" pitchFamily="2" charset="-122"/>
                          <a:ea typeface="宋体" pitchFamily="2" charset="-122"/>
                        </a:rPr>
                        <a:t>访问</a:t>
                      </a:r>
                      <a:endParaRPr kumimoji="0" lang="zh-CN" altLang="en-US"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0">
                <a:tc vMerge="1">
                  <a:txBody>
                    <a:bodyPr/>
                    <a:lstStyle/>
                    <a:p>
                      <a:endParaRPr lang="zh-CN" altLang="en-US"/>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U0DLL</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vMerge="1">
                  <a:txBody>
                    <a:bodyPr/>
                    <a:lstStyle/>
                    <a:p>
                      <a:endParaRPr lang="zh-CN" altLang="en-US"/>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DLAB=1</a:t>
                      </a:r>
                      <a:r>
                        <a:rPr kumimoji="0" lang="zh-CN" altLang="en-US" sz="1600" b="0" i="0" u="none" strike="noStrike" cap="none" normalizeH="0" baseline="0">
                          <a:ln>
                            <a:noFill/>
                          </a:ln>
                          <a:solidFill>
                            <a:srgbClr val="000000"/>
                          </a:solidFill>
                          <a:effectLst/>
                          <a:latin typeface="宋体" pitchFamily="2" charset="-122"/>
                          <a:ea typeface="宋体" pitchFamily="2" charset="-122"/>
                        </a:rPr>
                        <a:t>，对地址：</a:t>
                      </a:r>
                      <a:r>
                        <a:rPr kumimoji="0" lang="en-US" altLang="zh-CN" sz="1600" b="0" i="0" u="none" strike="noStrike" cap="none" normalizeH="0" baseline="0">
                          <a:ln>
                            <a:noFill/>
                          </a:ln>
                          <a:solidFill>
                            <a:srgbClr val="000000"/>
                          </a:solidFill>
                          <a:effectLst/>
                          <a:latin typeface="宋体" pitchFamily="2" charset="-122"/>
                          <a:ea typeface="宋体" pitchFamily="2" charset="-122"/>
                        </a:rPr>
                        <a:t>0xE000 C000</a:t>
                      </a:r>
                      <a:r>
                        <a:rPr kumimoji="0" lang="zh-CN" altLang="en-US" sz="1600" b="0" i="0" u="none" strike="noStrike" cap="none" normalizeH="0" baseline="0">
                          <a:ln>
                            <a:noFill/>
                          </a:ln>
                          <a:solidFill>
                            <a:srgbClr val="000000"/>
                          </a:solidFill>
                          <a:effectLst/>
                          <a:latin typeface="宋体" pitchFamily="2" charset="-122"/>
                          <a:ea typeface="宋体" pitchFamily="2" charset="-122"/>
                        </a:rPr>
                        <a:t>进行访问</a:t>
                      </a:r>
                      <a:endParaRPr kumimoji="0" lang="zh-CN" altLang="en-US"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r h="328613">
                <a:tc vMerge="1">
                  <a:txBody>
                    <a:bodyPr/>
                    <a:lstStyle/>
                    <a:p>
                      <a:endParaRPr lang="zh-CN" altLang="en-US"/>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U0IER</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0xE000 C004</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DLAB=0</a:t>
                      </a:r>
                      <a:r>
                        <a:rPr kumimoji="0" lang="zh-CN" altLang="en-US" sz="1600" b="0" i="0" u="none" strike="noStrike" cap="none" normalizeH="0" baseline="0">
                          <a:ln>
                            <a:noFill/>
                          </a:ln>
                          <a:solidFill>
                            <a:srgbClr val="000000"/>
                          </a:solidFill>
                          <a:effectLst/>
                          <a:latin typeface="宋体" pitchFamily="2" charset="-122"/>
                          <a:ea typeface="宋体" pitchFamily="2" charset="-122"/>
                        </a:rPr>
                        <a:t>，对地址：</a:t>
                      </a:r>
                      <a:r>
                        <a:rPr kumimoji="0" lang="en-US" altLang="zh-CN" sz="1600" b="0" i="0" u="none" strike="noStrike" cap="none" normalizeH="0" baseline="0">
                          <a:ln>
                            <a:noFill/>
                          </a:ln>
                          <a:solidFill>
                            <a:srgbClr val="000000"/>
                          </a:solidFill>
                          <a:effectLst/>
                          <a:latin typeface="宋体" pitchFamily="2" charset="-122"/>
                          <a:ea typeface="宋体" pitchFamily="2" charset="-122"/>
                        </a:rPr>
                        <a:t>0xE000 C004</a:t>
                      </a:r>
                      <a:r>
                        <a:rPr kumimoji="0" lang="zh-CN" altLang="en-US" sz="1600" b="0" i="0" u="none" strike="noStrike" cap="none" normalizeH="0" baseline="0">
                          <a:ln>
                            <a:noFill/>
                          </a:ln>
                          <a:solidFill>
                            <a:srgbClr val="000000"/>
                          </a:solidFill>
                          <a:effectLst/>
                          <a:latin typeface="宋体" pitchFamily="2" charset="-122"/>
                          <a:ea typeface="宋体" pitchFamily="2" charset="-122"/>
                        </a:rPr>
                        <a:t>进行访问</a:t>
                      </a:r>
                      <a:endParaRPr kumimoji="0" lang="zh-CN" altLang="en-US"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r h="0">
                <a:tc vMerge="1">
                  <a:txBody>
                    <a:bodyPr/>
                    <a:lstStyle/>
                    <a:p>
                      <a:endParaRPr lang="zh-CN" altLang="en-US"/>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U0DLM</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vMerge="1">
                  <a:txBody>
                    <a:bodyPr/>
                    <a:lstStyle/>
                    <a:p>
                      <a:endParaRPr lang="zh-CN" altLang="en-US"/>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DLAB=1</a:t>
                      </a:r>
                      <a:r>
                        <a:rPr kumimoji="0" lang="zh-CN" altLang="en-US" sz="1600" b="0" i="0" u="none" strike="noStrike" cap="none" normalizeH="0" baseline="0">
                          <a:ln>
                            <a:noFill/>
                          </a:ln>
                          <a:solidFill>
                            <a:srgbClr val="000000"/>
                          </a:solidFill>
                          <a:effectLst/>
                          <a:latin typeface="宋体" pitchFamily="2" charset="-122"/>
                          <a:ea typeface="宋体" pitchFamily="2" charset="-122"/>
                        </a:rPr>
                        <a:t>，对地址：</a:t>
                      </a:r>
                      <a:r>
                        <a:rPr kumimoji="0" lang="en-US" altLang="zh-CN" sz="1600" b="0" i="0" u="none" strike="noStrike" cap="none" normalizeH="0" baseline="0">
                          <a:ln>
                            <a:noFill/>
                          </a:ln>
                          <a:solidFill>
                            <a:srgbClr val="000000"/>
                          </a:solidFill>
                          <a:effectLst/>
                          <a:latin typeface="宋体" pitchFamily="2" charset="-122"/>
                          <a:ea typeface="宋体" pitchFamily="2" charset="-122"/>
                        </a:rPr>
                        <a:t>0xE000 C004</a:t>
                      </a:r>
                      <a:r>
                        <a:rPr kumimoji="0" lang="zh-CN" altLang="en-US" sz="1600" b="0" i="0" u="none" strike="noStrike" cap="none" normalizeH="0" baseline="0">
                          <a:ln>
                            <a:noFill/>
                          </a:ln>
                          <a:solidFill>
                            <a:srgbClr val="000000"/>
                          </a:solidFill>
                          <a:effectLst/>
                          <a:latin typeface="宋体" pitchFamily="2" charset="-122"/>
                          <a:ea typeface="宋体" pitchFamily="2" charset="-122"/>
                        </a:rPr>
                        <a:t>进行访问</a:t>
                      </a:r>
                      <a:endParaRPr kumimoji="0" lang="zh-CN" altLang="en-US"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5"/>
                  </a:ext>
                </a:extLst>
              </a:tr>
              <a:tr h="0">
                <a:tc rowSpan="5">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UART1</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U1RBR</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rowSpan="3">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0xE001 0000</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DLAB=0</a:t>
                      </a:r>
                      <a:r>
                        <a:rPr kumimoji="0" lang="zh-CN" altLang="en-US" sz="1600" b="0" i="0" u="none" strike="noStrike" cap="none" normalizeH="0" baseline="0">
                          <a:ln>
                            <a:noFill/>
                          </a:ln>
                          <a:solidFill>
                            <a:srgbClr val="000000"/>
                          </a:solidFill>
                          <a:effectLst/>
                          <a:latin typeface="宋体" pitchFamily="2" charset="-122"/>
                          <a:ea typeface="宋体" pitchFamily="2" charset="-122"/>
                        </a:rPr>
                        <a:t>，对地址：</a:t>
                      </a:r>
                      <a:r>
                        <a:rPr kumimoji="0" lang="en-US" altLang="zh-CN" sz="1600" b="0" i="0" u="none" strike="noStrike" cap="none" normalizeH="0" baseline="0">
                          <a:ln>
                            <a:noFill/>
                          </a:ln>
                          <a:solidFill>
                            <a:srgbClr val="000000"/>
                          </a:solidFill>
                          <a:effectLst/>
                          <a:latin typeface="宋体" pitchFamily="2" charset="-122"/>
                          <a:ea typeface="宋体" pitchFamily="2" charset="-122"/>
                        </a:rPr>
                        <a:t>0xE001 0000</a:t>
                      </a:r>
                      <a:r>
                        <a:rPr kumimoji="0" lang="zh-CN" altLang="en-US" sz="1600" b="0" i="0" u="none" strike="noStrike" cap="none" normalizeH="0" baseline="0">
                          <a:ln>
                            <a:noFill/>
                          </a:ln>
                          <a:solidFill>
                            <a:srgbClr val="000000"/>
                          </a:solidFill>
                          <a:effectLst/>
                          <a:latin typeface="宋体" pitchFamily="2" charset="-122"/>
                          <a:ea typeface="宋体" pitchFamily="2" charset="-122"/>
                        </a:rPr>
                        <a:t>进行</a:t>
                      </a:r>
                      <a:r>
                        <a:rPr kumimoji="0" lang="zh-CN" altLang="en-US" sz="1600" b="1" i="0" u="none" strike="noStrike" cap="none" normalizeH="0" baseline="0">
                          <a:ln>
                            <a:noFill/>
                          </a:ln>
                          <a:solidFill>
                            <a:srgbClr val="FF0000"/>
                          </a:solidFill>
                          <a:effectLst/>
                          <a:latin typeface="宋体" pitchFamily="2" charset="-122"/>
                          <a:ea typeface="宋体" pitchFamily="2" charset="-122"/>
                        </a:rPr>
                        <a:t>读</a:t>
                      </a:r>
                      <a:r>
                        <a:rPr kumimoji="0" lang="zh-CN" altLang="en-US" sz="1600" b="0" i="0" u="none" strike="noStrike" cap="none" normalizeH="0" baseline="0">
                          <a:ln>
                            <a:noFill/>
                          </a:ln>
                          <a:solidFill>
                            <a:srgbClr val="000000"/>
                          </a:solidFill>
                          <a:effectLst/>
                          <a:latin typeface="宋体" pitchFamily="2" charset="-122"/>
                          <a:ea typeface="宋体" pitchFamily="2" charset="-122"/>
                        </a:rPr>
                        <a:t>访问</a:t>
                      </a:r>
                      <a:endParaRPr kumimoji="0" lang="zh-CN" altLang="en-US"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6"/>
                  </a:ext>
                </a:extLst>
              </a:tr>
              <a:tr h="0">
                <a:tc vMerge="1">
                  <a:txBody>
                    <a:bodyPr/>
                    <a:lstStyle/>
                    <a:p>
                      <a:endParaRPr lang="zh-CN" altLang="en-US"/>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U1THR</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vMerge="1">
                  <a:txBody>
                    <a:bodyPr/>
                    <a:lstStyle/>
                    <a:p>
                      <a:endParaRPr lang="zh-CN" altLang="en-US"/>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DLAB=0</a:t>
                      </a:r>
                      <a:r>
                        <a:rPr kumimoji="0" lang="zh-CN" altLang="en-US" sz="1600" b="0" i="0" u="none" strike="noStrike" cap="none" normalizeH="0" baseline="0">
                          <a:ln>
                            <a:noFill/>
                          </a:ln>
                          <a:solidFill>
                            <a:srgbClr val="000000"/>
                          </a:solidFill>
                          <a:effectLst/>
                          <a:latin typeface="宋体" pitchFamily="2" charset="-122"/>
                          <a:ea typeface="宋体" pitchFamily="2" charset="-122"/>
                        </a:rPr>
                        <a:t>，对地址：</a:t>
                      </a:r>
                      <a:r>
                        <a:rPr kumimoji="0" lang="en-US" altLang="zh-CN" sz="1600" b="0" i="0" u="none" strike="noStrike" cap="none" normalizeH="0" baseline="0">
                          <a:ln>
                            <a:noFill/>
                          </a:ln>
                          <a:solidFill>
                            <a:srgbClr val="000000"/>
                          </a:solidFill>
                          <a:effectLst/>
                          <a:latin typeface="宋体" pitchFamily="2" charset="-122"/>
                          <a:ea typeface="宋体" pitchFamily="2" charset="-122"/>
                        </a:rPr>
                        <a:t>0xE001 0000</a:t>
                      </a:r>
                      <a:r>
                        <a:rPr kumimoji="0" lang="zh-CN" altLang="en-US" sz="1600" b="0" i="0" u="none" strike="noStrike" cap="none" normalizeH="0" baseline="0">
                          <a:ln>
                            <a:noFill/>
                          </a:ln>
                          <a:solidFill>
                            <a:srgbClr val="000000"/>
                          </a:solidFill>
                          <a:effectLst/>
                          <a:latin typeface="宋体" pitchFamily="2" charset="-122"/>
                          <a:ea typeface="宋体" pitchFamily="2" charset="-122"/>
                        </a:rPr>
                        <a:t>进行</a:t>
                      </a:r>
                      <a:r>
                        <a:rPr kumimoji="0" lang="zh-CN" altLang="en-US" sz="1600" b="1" i="0" u="none" strike="noStrike" cap="none" normalizeH="0" baseline="0">
                          <a:ln>
                            <a:noFill/>
                          </a:ln>
                          <a:solidFill>
                            <a:srgbClr val="FF0000"/>
                          </a:solidFill>
                          <a:effectLst/>
                          <a:latin typeface="宋体" pitchFamily="2" charset="-122"/>
                          <a:ea typeface="宋体" pitchFamily="2" charset="-122"/>
                        </a:rPr>
                        <a:t>写</a:t>
                      </a:r>
                      <a:r>
                        <a:rPr kumimoji="0" lang="zh-CN" altLang="en-US" sz="1600" b="0" i="0" u="none" strike="noStrike" cap="none" normalizeH="0" baseline="0">
                          <a:ln>
                            <a:noFill/>
                          </a:ln>
                          <a:solidFill>
                            <a:srgbClr val="000000"/>
                          </a:solidFill>
                          <a:effectLst/>
                          <a:latin typeface="宋体" pitchFamily="2" charset="-122"/>
                          <a:ea typeface="宋体" pitchFamily="2" charset="-122"/>
                        </a:rPr>
                        <a:t>访问</a:t>
                      </a:r>
                      <a:endParaRPr kumimoji="0" lang="zh-CN" altLang="en-US"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7"/>
                  </a:ext>
                </a:extLst>
              </a:tr>
              <a:tr h="0">
                <a:tc vMerge="1">
                  <a:txBody>
                    <a:bodyPr/>
                    <a:lstStyle/>
                    <a:p>
                      <a:endParaRPr lang="zh-CN" altLang="en-US"/>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U1DLL</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vMerge="1">
                  <a:txBody>
                    <a:bodyPr/>
                    <a:lstStyle/>
                    <a:p>
                      <a:endParaRPr lang="zh-CN" altLang="en-US"/>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DLAB=1</a:t>
                      </a:r>
                      <a:r>
                        <a:rPr kumimoji="0" lang="zh-CN" altLang="en-US" sz="1600" b="0" i="0" u="none" strike="noStrike" cap="none" normalizeH="0" baseline="0">
                          <a:ln>
                            <a:noFill/>
                          </a:ln>
                          <a:solidFill>
                            <a:srgbClr val="000000"/>
                          </a:solidFill>
                          <a:effectLst/>
                          <a:latin typeface="宋体" pitchFamily="2" charset="-122"/>
                          <a:ea typeface="宋体" pitchFamily="2" charset="-122"/>
                        </a:rPr>
                        <a:t>，对地址：</a:t>
                      </a:r>
                      <a:r>
                        <a:rPr kumimoji="0" lang="en-US" altLang="zh-CN" sz="1600" b="0" i="0" u="none" strike="noStrike" cap="none" normalizeH="0" baseline="0">
                          <a:ln>
                            <a:noFill/>
                          </a:ln>
                          <a:solidFill>
                            <a:srgbClr val="000000"/>
                          </a:solidFill>
                          <a:effectLst/>
                          <a:latin typeface="宋体" pitchFamily="2" charset="-122"/>
                          <a:ea typeface="宋体" pitchFamily="2" charset="-122"/>
                        </a:rPr>
                        <a:t>0xE001 0000</a:t>
                      </a:r>
                      <a:r>
                        <a:rPr kumimoji="0" lang="zh-CN" altLang="en-US" sz="1600" b="0" i="0" u="none" strike="noStrike" cap="none" normalizeH="0" baseline="0">
                          <a:ln>
                            <a:noFill/>
                          </a:ln>
                          <a:solidFill>
                            <a:srgbClr val="000000"/>
                          </a:solidFill>
                          <a:effectLst/>
                          <a:latin typeface="宋体" pitchFamily="2" charset="-122"/>
                          <a:ea typeface="宋体" pitchFamily="2" charset="-122"/>
                        </a:rPr>
                        <a:t>进行访问</a:t>
                      </a:r>
                      <a:endParaRPr kumimoji="0" lang="zh-CN" altLang="en-US"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8"/>
                  </a:ext>
                </a:extLst>
              </a:tr>
              <a:tr h="0">
                <a:tc vMerge="1">
                  <a:txBody>
                    <a:bodyPr/>
                    <a:lstStyle/>
                    <a:p>
                      <a:endParaRPr lang="zh-CN" altLang="en-US"/>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U1IER</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0xE001 0004</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DLAB=0</a:t>
                      </a:r>
                      <a:r>
                        <a:rPr kumimoji="0" lang="zh-CN" altLang="en-US" sz="1600" b="0" i="0" u="none" strike="noStrike" cap="none" normalizeH="0" baseline="0">
                          <a:ln>
                            <a:noFill/>
                          </a:ln>
                          <a:solidFill>
                            <a:srgbClr val="000000"/>
                          </a:solidFill>
                          <a:effectLst/>
                          <a:latin typeface="宋体" pitchFamily="2" charset="-122"/>
                          <a:ea typeface="宋体" pitchFamily="2" charset="-122"/>
                        </a:rPr>
                        <a:t>，对地址：</a:t>
                      </a:r>
                      <a:r>
                        <a:rPr kumimoji="0" lang="en-US" altLang="zh-CN" sz="1600" b="0" i="0" u="none" strike="noStrike" cap="none" normalizeH="0" baseline="0">
                          <a:ln>
                            <a:noFill/>
                          </a:ln>
                          <a:solidFill>
                            <a:srgbClr val="000000"/>
                          </a:solidFill>
                          <a:effectLst/>
                          <a:latin typeface="宋体" pitchFamily="2" charset="-122"/>
                          <a:ea typeface="宋体" pitchFamily="2" charset="-122"/>
                        </a:rPr>
                        <a:t>0xE001 0004</a:t>
                      </a:r>
                      <a:r>
                        <a:rPr kumimoji="0" lang="zh-CN" altLang="en-US" sz="1600" b="0" i="0" u="none" strike="noStrike" cap="none" normalizeH="0" baseline="0">
                          <a:ln>
                            <a:noFill/>
                          </a:ln>
                          <a:solidFill>
                            <a:srgbClr val="000000"/>
                          </a:solidFill>
                          <a:effectLst/>
                          <a:latin typeface="宋体" pitchFamily="2" charset="-122"/>
                          <a:ea typeface="宋体" pitchFamily="2" charset="-122"/>
                        </a:rPr>
                        <a:t>进行访问</a:t>
                      </a:r>
                      <a:endParaRPr kumimoji="0" lang="zh-CN" altLang="en-US"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9"/>
                  </a:ext>
                </a:extLst>
              </a:tr>
              <a:tr h="0">
                <a:tc vMerge="1">
                  <a:txBody>
                    <a:bodyPr/>
                    <a:lstStyle/>
                    <a:p>
                      <a:endParaRPr lang="zh-CN" altLang="en-US"/>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U1DLM</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vMerge="1">
                  <a:txBody>
                    <a:bodyPr/>
                    <a:lstStyle/>
                    <a:p>
                      <a:endParaRPr lang="zh-CN" altLang="en-US"/>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宋体" pitchFamily="2" charset="-122"/>
                          <a:ea typeface="宋体" pitchFamily="2" charset="-122"/>
                        </a:rPr>
                        <a:t>DLAB=1</a:t>
                      </a:r>
                      <a:r>
                        <a:rPr kumimoji="0" lang="zh-CN" altLang="en-US" sz="1600" b="0" i="0" u="none" strike="noStrike" cap="none" normalizeH="0" baseline="0">
                          <a:ln>
                            <a:noFill/>
                          </a:ln>
                          <a:solidFill>
                            <a:srgbClr val="000000"/>
                          </a:solidFill>
                          <a:effectLst/>
                          <a:latin typeface="宋体" pitchFamily="2" charset="-122"/>
                          <a:ea typeface="宋体" pitchFamily="2" charset="-122"/>
                        </a:rPr>
                        <a:t>，对地址：</a:t>
                      </a:r>
                      <a:r>
                        <a:rPr kumimoji="0" lang="en-US" altLang="zh-CN" sz="1600" b="0" i="0" u="none" strike="noStrike" cap="none" normalizeH="0" baseline="0">
                          <a:ln>
                            <a:noFill/>
                          </a:ln>
                          <a:solidFill>
                            <a:srgbClr val="000000"/>
                          </a:solidFill>
                          <a:effectLst/>
                          <a:latin typeface="宋体" pitchFamily="2" charset="-122"/>
                          <a:ea typeface="宋体" pitchFamily="2" charset="-122"/>
                        </a:rPr>
                        <a:t>0xE001 0004</a:t>
                      </a:r>
                      <a:r>
                        <a:rPr kumimoji="0" lang="zh-CN" altLang="en-US" sz="1600" b="0" i="0" u="none" strike="noStrike" cap="none" normalizeH="0" baseline="0">
                          <a:ln>
                            <a:noFill/>
                          </a:ln>
                          <a:solidFill>
                            <a:srgbClr val="000000"/>
                          </a:solidFill>
                          <a:effectLst/>
                          <a:latin typeface="宋体" pitchFamily="2" charset="-122"/>
                          <a:ea typeface="宋体" pitchFamily="2" charset="-122"/>
                        </a:rPr>
                        <a:t>进行访问</a:t>
                      </a:r>
                      <a:endParaRPr kumimoji="0" lang="zh-CN" altLang="en-US" sz="1600" b="0" i="0" u="none" strike="noStrike" cap="none" normalizeH="0" baseline="0">
                        <a:ln>
                          <a:noFill/>
                        </a:ln>
                        <a:solidFill>
                          <a:schemeClr val="tx1"/>
                        </a:solidFill>
                        <a:effectLst/>
                        <a:latin typeface="宋体" pitchFamily="2" charset="-122"/>
                        <a:ea typeface="宋体"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10"/>
                  </a:ext>
                </a:extLst>
              </a:tr>
            </a:tbl>
          </a:graphicData>
        </a:graphic>
      </p:graphicFrame>
      <p:sp>
        <p:nvSpPr>
          <p:cNvPr id="735288" name="Rectangle 56"/>
          <p:cNvSpPr>
            <a:spLocks noChangeArrowheads="1"/>
          </p:cNvSpPr>
          <p:nvPr/>
        </p:nvSpPr>
        <p:spPr bwMode="auto">
          <a:xfrm>
            <a:off x="2222500" y="874713"/>
            <a:ext cx="768985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a:t>
            </a:r>
            <a:r>
              <a:rPr lang="zh-CN" altLang="en-US" sz="3200">
                <a:latin typeface="Times New Roman" pitchFamily="18" charset="0"/>
              </a:rPr>
              <a:t>特殊寄存器</a:t>
            </a:r>
          </a:p>
        </p:txBody>
      </p:sp>
      <p:sp>
        <p:nvSpPr>
          <p:cNvPr id="735289" name="Text Box 57"/>
          <p:cNvSpPr txBox="1">
            <a:spLocks noChangeArrowheads="1"/>
          </p:cNvSpPr>
          <p:nvPr/>
        </p:nvSpPr>
        <p:spPr bwMode="auto">
          <a:xfrm>
            <a:off x="2640014" y="1747838"/>
            <a:ext cx="6624637" cy="457200"/>
          </a:xfrm>
          <a:prstGeom prst="rect">
            <a:avLst/>
          </a:prstGeom>
          <a:noFill/>
          <a:ln w="9525" algn="ctr">
            <a:noFill/>
            <a:miter lim="800000"/>
            <a:headEnd/>
            <a:tailEnd/>
          </a:ln>
          <a:effectLst/>
        </p:spPr>
        <p:txBody>
          <a:bodyPr>
            <a:spAutoFit/>
          </a:bodyPr>
          <a:lstStyle/>
          <a:p>
            <a:pPr algn="l">
              <a:spcBef>
                <a:spcPct val="50000"/>
              </a:spcBef>
            </a:pPr>
            <a:r>
              <a:rPr lang="zh-CN" altLang="en-US" sz="2400">
                <a:latin typeface="华文新魏" pitchFamily="2" charset="-122"/>
                <a:ea typeface="华文新魏" pitchFamily="2" charset="-122"/>
              </a:rPr>
              <a:t>位置相同的寄存器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35288"/>
                                        </p:tgtEl>
                                        <p:attrNameLst>
                                          <p:attrName>style.visibility</p:attrName>
                                        </p:attrNameLst>
                                      </p:cBhvr>
                                      <p:to>
                                        <p:strVal val="visible"/>
                                      </p:to>
                                    </p:set>
                                    <p:anim calcmode="lin" valueType="num">
                                      <p:cBhvr additive="base">
                                        <p:cTn id="7" dur="500" fill="hold"/>
                                        <p:tgtEl>
                                          <p:spTgt spid="735288"/>
                                        </p:tgtEl>
                                        <p:attrNameLst>
                                          <p:attrName>ppt_x</p:attrName>
                                        </p:attrNameLst>
                                      </p:cBhvr>
                                      <p:tavLst>
                                        <p:tav tm="0">
                                          <p:val>
                                            <p:strVal val="1+#ppt_w/2"/>
                                          </p:val>
                                        </p:tav>
                                        <p:tav tm="100000">
                                          <p:val>
                                            <p:strVal val="#ppt_x"/>
                                          </p:val>
                                        </p:tav>
                                      </p:tavLst>
                                    </p:anim>
                                    <p:anim calcmode="lin" valueType="num">
                                      <p:cBhvr additive="base">
                                        <p:cTn id="8" dur="500" fill="hold"/>
                                        <p:tgtEl>
                                          <p:spTgt spid="73528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735289"/>
                                        </p:tgtEl>
                                        <p:attrNameLst>
                                          <p:attrName>style.visibility</p:attrName>
                                        </p:attrNameLst>
                                      </p:cBhvr>
                                      <p:to>
                                        <p:strVal val="visible"/>
                                      </p:to>
                                    </p:set>
                                    <p:animEffect transition="in" filter="box(in)">
                                      <p:cBhvr>
                                        <p:cTn id="12" dur="500"/>
                                        <p:tgtEl>
                                          <p:spTgt spid="735289"/>
                                        </p:tgtEl>
                                      </p:cBhvr>
                                    </p:animEffect>
                                  </p:childTnLst>
                                </p:cTn>
                              </p:par>
                            </p:childTnLst>
                          </p:cTn>
                        </p:par>
                        <p:par>
                          <p:cTn id="13" fill="hold">
                            <p:stCondLst>
                              <p:cond delay="1000"/>
                            </p:stCondLst>
                            <p:childTnLst>
                              <p:par>
                                <p:cTn id="14" presetID="12" presetClass="entr" presetSubtype="1" fill="hold" nodeType="afterEffect">
                                  <p:stCondLst>
                                    <p:cond delay="0"/>
                                  </p:stCondLst>
                                  <p:childTnLst>
                                    <p:set>
                                      <p:cBhvr>
                                        <p:cTn id="15" dur="1" fill="hold">
                                          <p:stCondLst>
                                            <p:cond delay="0"/>
                                          </p:stCondLst>
                                        </p:cTn>
                                        <p:tgtEl>
                                          <p:spTgt spid="735234"/>
                                        </p:tgtEl>
                                        <p:attrNameLst>
                                          <p:attrName>style.visibility</p:attrName>
                                        </p:attrNameLst>
                                      </p:cBhvr>
                                      <p:to>
                                        <p:strVal val="visible"/>
                                      </p:to>
                                    </p:set>
                                    <p:animEffect transition="in" filter="slide(fromTop)">
                                      <p:cBhvr>
                                        <p:cTn id="16" dur="500"/>
                                        <p:tgtEl>
                                          <p:spTgt spid="735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5288" grpId="0"/>
      <p:bldP spid="735289" grpId="0"/>
    </p:bldLst>
  </p:timing>
</p:sld>
</file>

<file path=ppt/slides/slide1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6258" name="Rectangle 2"/>
          <p:cNvSpPr>
            <a:spLocks noChangeArrowheads="1"/>
          </p:cNvSpPr>
          <p:nvPr/>
        </p:nvSpPr>
        <p:spPr bwMode="auto">
          <a:xfrm>
            <a:off x="2209800" y="673100"/>
            <a:ext cx="777240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a:t>
            </a:r>
            <a:r>
              <a:rPr lang="zh-CN" altLang="en-US" sz="3200">
                <a:latin typeface="Times New Roman" pitchFamily="18" charset="0"/>
              </a:rPr>
              <a:t>应用示例</a:t>
            </a:r>
            <a:r>
              <a:rPr lang="en-US" altLang="zh-CN" sz="3200">
                <a:latin typeface="Times New Roman" pitchFamily="18" charset="0"/>
              </a:rPr>
              <a:t>——</a:t>
            </a:r>
            <a:r>
              <a:rPr lang="zh-CN" altLang="en-US" sz="3200">
                <a:solidFill>
                  <a:srgbClr val="FF0000"/>
                </a:solidFill>
                <a:latin typeface="Times New Roman" pitchFamily="18" charset="0"/>
              </a:rPr>
              <a:t>操作流程</a:t>
            </a:r>
          </a:p>
        </p:txBody>
      </p:sp>
      <p:grpSp>
        <p:nvGrpSpPr>
          <p:cNvPr id="736259" name="Group 3"/>
          <p:cNvGrpSpPr>
            <a:grpSpLocks/>
          </p:cNvGrpSpPr>
          <p:nvPr/>
        </p:nvGrpSpPr>
        <p:grpSpPr bwMode="auto">
          <a:xfrm>
            <a:off x="4995864" y="1844675"/>
            <a:ext cx="2395537" cy="4249738"/>
            <a:chOff x="1882" y="935"/>
            <a:chExt cx="1509" cy="2677"/>
          </a:xfrm>
        </p:grpSpPr>
        <p:sp>
          <p:nvSpPr>
            <p:cNvPr id="736260" name="Rectangle 4"/>
            <p:cNvSpPr>
              <a:spLocks noChangeArrowheads="1"/>
            </p:cNvSpPr>
            <p:nvPr/>
          </p:nvSpPr>
          <p:spPr bwMode="auto">
            <a:xfrm>
              <a:off x="1882" y="935"/>
              <a:ext cx="1361" cy="545"/>
            </a:xfrm>
            <a:prstGeom prst="rect">
              <a:avLst/>
            </a:prstGeom>
            <a:solidFill>
              <a:srgbClr val="CCFF99"/>
            </a:solidFill>
            <a:ln w="12700" algn="ctr">
              <a:solidFill>
                <a:srgbClr val="000000"/>
              </a:solidFill>
              <a:miter lim="800000"/>
              <a:headEnd/>
              <a:tailEnd/>
            </a:ln>
            <a:effectLst/>
          </p:spPr>
          <p:txBody>
            <a:bodyPr anchor="ctr"/>
            <a:lstStyle/>
            <a:p>
              <a:r>
                <a:rPr lang="zh-CN" altLang="en-US">
                  <a:latin typeface="Times New Roman" pitchFamily="18" charset="0"/>
                </a:rPr>
                <a:t>设置引脚连接模块将对应</a:t>
              </a:r>
              <a:r>
                <a:rPr lang="en-US" altLang="zh-CN">
                  <a:latin typeface="Times New Roman" pitchFamily="18" charset="0"/>
                </a:rPr>
                <a:t>IO</a:t>
              </a:r>
              <a:r>
                <a:rPr lang="zh-CN" altLang="en-US">
                  <a:latin typeface="Times New Roman" pitchFamily="18" charset="0"/>
                </a:rPr>
                <a:t>连接到</a:t>
              </a:r>
              <a:r>
                <a:rPr lang="en-US" altLang="zh-CN">
                  <a:latin typeface="Times New Roman" pitchFamily="18" charset="0"/>
                </a:rPr>
                <a:t>UARTn</a:t>
              </a:r>
            </a:p>
          </p:txBody>
        </p:sp>
        <p:sp>
          <p:nvSpPr>
            <p:cNvPr id="736261" name="Rectangle 5"/>
            <p:cNvSpPr>
              <a:spLocks noChangeArrowheads="1"/>
            </p:cNvSpPr>
            <p:nvPr/>
          </p:nvSpPr>
          <p:spPr bwMode="auto">
            <a:xfrm>
              <a:off x="1882" y="1707"/>
              <a:ext cx="1361" cy="272"/>
            </a:xfrm>
            <a:prstGeom prst="rect">
              <a:avLst/>
            </a:prstGeom>
            <a:solidFill>
              <a:srgbClr val="CCFF99"/>
            </a:solidFill>
            <a:ln w="12700" algn="ctr">
              <a:solidFill>
                <a:srgbClr val="000000"/>
              </a:solidFill>
              <a:miter lim="800000"/>
              <a:headEnd/>
              <a:tailEnd/>
            </a:ln>
            <a:effectLst/>
          </p:spPr>
          <p:txBody>
            <a:bodyPr anchor="ctr"/>
            <a:lstStyle/>
            <a:p>
              <a:r>
                <a:rPr lang="zh-CN" altLang="en-US">
                  <a:latin typeface="Times New Roman" pitchFamily="18" charset="0"/>
                </a:rPr>
                <a:t>设置串口波特率</a:t>
              </a:r>
            </a:p>
          </p:txBody>
        </p:sp>
        <p:sp>
          <p:nvSpPr>
            <p:cNvPr id="736262" name="Rectangle 6"/>
            <p:cNvSpPr>
              <a:spLocks noChangeArrowheads="1"/>
            </p:cNvSpPr>
            <p:nvPr/>
          </p:nvSpPr>
          <p:spPr bwMode="auto">
            <a:xfrm>
              <a:off x="1882" y="2206"/>
              <a:ext cx="1361" cy="272"/>
            </a:xfrm>
            <a:prstGeom prst="rect">
              <a:avLst/>
            </a:prstGeom>
            <a:solidFill>
              <a:srgbClr val="CCFF99"/>
            </a:solidFill>
            <a:ln w="12700" algn="ctr">
              <a:solidFill>
                <a:srgbClr val="000000"/>
              </a:solidFill>
              <a:miter lim="800000"/>
              <a:headEnd/>
              <a:tailEnd/>
            </a:ln>
            <a:effectLst/>
          </p:spPr>
          <p:txBody>
            <a:bodyPr anchor="ctr"/>
            <a:lstStyle/>
            <a:p>
              <a:r>
                <a:rPr lang="zh-CN" altLang="en-US">
                  <a:latin typeface="Times New Roman" pitchFamily="18" charset="0"/>
                </a:rPr>
                <a:t>设置串口工作模式</a:t>
              </a:r>
            </a:p>
          </p:txBody>
        </p:sp>
        <p:sp>
          <p:nvSpPr>
            <p:cNvPr id="736263" name="Rectangle 7"/>
            <p:cNvSpPr>
              <a:spLocks noChangeArrowheads="1"/>
            </p:cNvSpPr>
            <p:nvPr/>
          </p:nvSpPr>
          <p:spPr bwMode="auto">
            <a:xfrm>
              <a:off x="1882" y="2705"/>
              <a:ext cx="1361" cy="272"/>
            </a:xfrm>
            <a:prstGeom prst="rect">
              <a:avLst/>
            </a:prstGeom>
            <a:solidFill>
              <a:srgbClr val="CCFF99"/>
            </a:solidFill>
            <a:ln w="12700" algn="ctr">
              <a:solidFill>
                <a:srgbClr val="000000"/>
              </a:solidFill>
              <a:miter lim="800000"/>
              <a:headEnd/>
              <a:tailEnd/>
            </a:ln>
            <a:effectLst/>
          </p:spPr>
          <p:txBody>
            <a:bodyPr anchor="ctr"/>
            <a:lstStyle/>
            <a:p>
              <a:r>
                <a:rPr lang="zh-CN" altLang="en-US">
                  <a:latin typeface="Times New Roman" pitchFamily="18" charset="0"/>
                </a:rPr>
                <a:t>发送或接收数据</a:t>
              </a:r>
            </a:p>
          </p:txBody>
        </p:sp>
        <p:sp>
          <p:nvSpPr>
            <p:cNvPr id="736264" name="Rectangle 8"/>
            <p:cNvSpPr>
              <a:spLocks noChangeArrowheads="1"/>
            </p:cNvSpPr>
            <p:nvPr/>
          </p:nvSpPr>
          <p:spPr bwMode="auto">
            <a:xfrm>
              <a:off x="1882" y="3204"/>
              <a:ext cx="1361" cy="408"/>
            </a:xfrm>
            <a:prstGeom prst="rect">
              <a:avLst/>
            </a:prstGeom>
            <a:solidFill>
              <a:srgbClr val="CCFF99"/>
            </a:solidFill>
            <a:ln w="12700" algn="ctr">
              <a:solidFill>
                <a:srgbClr val="000000"/>
              </a:solidFill>
              <a:miter lim="800000"/>
              <a:headEnd/>
              <a:tailEnd/>
            </a:ln>
            <a:effectLst/>
          </p:spPr>
          <p:txBody>
            <a:bodyPr anchor="ctr"/>
            <a:lstStyle/>
            <a:p>
              <a:r>
                <a:rPr lang="zh-CN" altLang="en-US">
                  <a:latin typeface="Times New Roman" pitchFamily="18" charset="0"/>
                </a:rPr>
                <a:t>检查串口状态字或</a:t>
              </a:r>
            </a:p>
            <a:p>
              <a:r>
                <a:rPr lang="zh-CN" altLang="en-US">
                  <a:latin typeface="Times New Roman" pitchFamily="18" charset="0"/>
                </a:rPr>
                <a:t>等待串口中断</a:t>
              </a:r>
            </a:p>
          </p:txBody>
        </p:sp>
        <p:sp>
          <p:nvSpPr>
            <p:cNvPr id="736265" name="Line 9"/>
            <p:cNvSpPr>
              <a:spLocks noChangeShapeType="1"/>
            </p:cNvSpPr>
            <p:nvPr/>
          </p:nvSpPr>
          <p:spPr bwMode="auto">
            <a:xfrm>
              <a:off x="2562" y="1480"/>
              <a:ext cx="0" cy="227"/>
            </a:xfrm>
            <a:prstGeom prst="line">
              <a:avLst/>
            </a:prstGeom>
            <a:noFill/>
            <a:ln w="12700">
              <a:solidFill>
                <a:srgbClr val="000000"/>
              </a:solidFill>
              <a:round/>
              <a:headEnd/>
              <a:tailEnd type="triangle" w="med" len="med"/>
            </a:ln>
            <a:effectLst/>
          </p:spPr>
          <p:txBody>
            <a:bodyPr wrap="none" anchor="ctr"/>
            <a:lstStyle/>
            <a:p>
              <a:endParaRPr lang="zh-CN" altLang="en-US"/>
            </a:p>
          </p:txBody>
        </p:sp>
        <p:sp>
          <p:nvSpPr>
            <p:cNvPr id="736266" name="Line 10"/>
            <p:cNvSpPr>
              <a:spLocks noChangeShapeType="1"/>
            </p:cNvSpPr>
            <p:nvPr/>
          </p:nvSpPr>
          <p:spPr bwMode="auto">
            <a:xfrm>
              <a:off x="2562" y="1979"/>
              <a:ext cx="0" cy="227"/>
            </a:xfrm>
            <a:prstGeom prst="line">
              <a:avLst/>
            </a:prstGeom>
            <a:noFill/>
            <a:ln w="12700">
              <a:solidFill>
                <a:srgbClr val="000000"/>
              </a:solidFill>
              <a:round/>
              <a:headEnd/>
              <a:tailEnd type="triangle" w="med" len="med"/>
            </a:ln>
            <a:effectLst/>
          </p:spPr>
          <p:txBody>
            <a:bodyPr wrap="none" anchor="ctr"/>
            <a:lstStyle/>
            <a:p>
              <a:endParaRPr lang="zh-CN" altLang="en-US"/>
            </a:p>
          </p:txBody>
        </p:sp>
        <p:sp>
          <p:nvSpPr>
            <p:cNvPr id="736267" name="Line 11"/>
            <p:cNvSpPr>
              <a:spLocks noChangeShapeType="1"/>
            </p:cNvSpPr>
            <p:nvPr/>
          </p:nvSpPr>
          <p:spPr bwMode="auto">
            <a:xfrm>
              <a:off x="2562" y="2478"/>
              <a:ext cx="0" cy="227"/>
            </a:xfrm>
            <a:prstGeom prst="line">
              <a:avLst/>
            </a:prstGeom>
            <a:noFill/>
            <a:ln w="12700">
              <a:solidFill>
                <a:srgbClr val="000000"/>
              </a:solidFill>
              <a:round/>
              <a:headEnd/>
              <a:tailEnd type="triangle" w="med" len="med"/>
            </a:ln>
            <a:effectLst/>
          </p:spPr>
          <p:txBody>
            <a:bodyPr wrap="none" anchor="ctr"/>
            <a:lstStyle/>
            <a:p>
              <a:endParaRPr lang="zh-CN" altLang="en-US"/>
            </a:p>
          </p:txBody>
        </p:sp>
        <p:sp>
          <p:nvSpPr>
            <p:cNvPr id="736268" name="Line 12"/>
            <p:cNvSpPr>
              <a:spLocks noChangeShapeType="1"/>
            </p:cNvSpPr>
            <p:nvPr/>
          </p:nvSpPr>
          <p:spPr bwMode="auto">
            <a:xfrm>
              <a:off x="2562" y="2976"/>
              <a:ext cx="0" cy="227"/>
            </a:xfrm>
            <a:prstGeom prst="line">
              <a:avLst/>
            </a:prstGeom>
            <a:noFill/>
            <a:ln w="12700">
              <a:solidFill>
                <a:srgbClr val="000000"/>
              </a:solidFill>
              <a:round/>
              <a:headEnd/>
              <a:tailEnd type="triangle" w="med" len="med"/>
            </a:ln>
            <a:effectLst/>
          </p:spPr>
          <p:txBody>
            <a:bodyPr wrap="none" anchor="ctr"/>
            <a:lstStyle/>
            <a:p>
              <a:endParaRPr lang="zh-CN" altLang="en-US"/>
            </a:p>
          </p:txBody>
        </p:sp>
        <p:sp>
          <p:nvSpPr>
            <p:cNvPr id="736269" name="Line 13"/>
            <p:cNvSpPr>
              <a:spLocks noChangeShapeType="1"/>
            </p:cNvSpPr>
            <p:nvPr/>
          </p:nvSpPr>
          <p:spPr bwMode="auto">
            <a:xfrm>
              <a:off x="3243" y="3430"/>
              <a:ext cx="148" cy="0"/>
            </a:xfrm>
            <a:prstGeom prst="line">
              <a:avLst/>
            </a:prstGeom>
            <a:noFill/>
            <a:ln w="12700">
              <a:solidFill>
                <a:srgbClr val="000000"/>
              </a:solidFill>
              <a:round/>
              <a:headEnd/>
              <a:tailEnd/>
            </a:ln>
            <a:effectLst/>
          </p:spPr>
          <p:txBody>
            <a:bodyPr wrap="none" anchor="ctr"/>
            <a:lstStyle/>
            <a:p>
              <a:endParaRPr lang="zh-CN" altLang="en-US"/>
            </a:p>
          </p:txBody>
        </p:sp>
        <p:sp>
          <p:nvSpPr>
            <p:cNvPr id="736270" name="Line 14"/>
            <p:cNvSpPr>
              <a:spLocks noChangeShapeType="1"/>
            </p:cNvSpPr>
            <p:nvPr/>
          </p:nvSpPr>
          <p:spPr bwMode="auto">
            <a:xfrm flipV="1">
              <a:off x="3391" y="2841"/>
              <a:ext cx="0" cy="589"/>
            </a:xfrm>
            <a:prstGeom prst="line">
              <a:avLst/>
            </a:prstGeom>
            <a:noFill/>
            <a:ln w="12700">
              <a:solidFill>
                <a:srgbClr val="000000"/>
              </a:solidFill>
              <a:round/>
              <a:headEnd/>
              <a:tailEnd/>
            </a:ln>
            <a:effectLst/>
          </p:spPr>
          <p:txBody>
            <a:bodyPr wrap="none" anchor="ctr"/>
            <a:lstStyle/>
            <a:p>
              <a:endParaRPr lang="zh-CN" altLang="en-US"/>
            </a:p>
          </p:txBody>
        </p:sp>
        <p:sp>
          <p:nvSpPr>
            <p:cNvPr id="736271" name="Line 15"/>
            <p:cNvSpPr>
              <a:spLocks noChangeShapeType="1"/>
            </p:cNvSpPr>
            <p:nvPr/>
          </p:nvSpPr>
          <p:spPr bwMode="auto">
            <a:xfrm flipH="1">
              <a:off x="3243" y="2840"/>
              <a:ext cx="148" cy="1"/>
            </a:xfrm>
            <a:prstGeom prst="line">
              <a:avLst/>
            </a:prstGeom>
            <a:noFill/>
            <a:ln w="12700">
              <a:solidFill>
                <a:srgbClr val="000000"/>
              </a:solidFill>
              <a:round/>
              <a:headEnd/>
              <a:tailEnd type="triangle" w="med" len="med"/>
            </a:ln>
            <a:effec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36258">
                                            <p:txEl>
                                              <p:pRg st="0" end="0"/>
                                            </p:txEl>
                                          </p:spTgt>
                                        </p:tgtEl>
                                        <p:attrNameLst>
                                          <p:attrName>style.visibility</p:attrName>
                                        </p:attrNameLst>
                                      </p:cBhvr>
                                      <p:to>
                                        <p:strVal val="visible"/>
                                      </p:to>
                                    </p:set>
                                    <p:anim calcmode="lin" valueType="num">
                                      <p:cBhvr additive="base">
                                        <p:cTn id="7" dur="500" fill="hold"/>
                                        <p:tgtEl>
                                          <p:spTgt spid="73625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36258">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736259"/>
                                        </p:tgtEl>
                                        <p:attrNameLst>
                                          <p:attrName>style.visibility</p:attrName>
                                        </p:attrNameLst>
                                      </p:cBhvr>
                                      <p:to>
                                        <p:strVal val="visible"/>
                                      </p:to>
                                    </p:set>
                                    <p:animEffect transition="in" filter="wipe(up)">
                                      <p:cBhvr>
                                        <p:cTn id="12" dur="500"/>
                                        <p:tgtEl>
                                          <p:spTgt spid="736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6258" grpId="0" build="p"/>
    </p:bldLst>
  </p:timing>
</p:sld>
</file>

<file path=ppt/slides/slide1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282" name="Rectangle 2"/>
          <p:cNvSpPr>
            <a:spLocks noChangeArrowheads="1"/>
          </p:cNvSpPr>
          <p:nvPr/>
        </p:nvSpPr>
        <p:spPr bwMode="auto">
          <a:xfrm>
            <a:off x="2209800" y="647700"/>
            <a:ext cx="777240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a:t>
            </a:r>
            <a:r>
              <a:rPr lang="zh-CN" altLang="en-US" sz="3200">
                <a:latin typeface="Times New Roman" pitchFamily="18" charset="0"/>
              </a:rPr>
              <a:t>应用示例</a:t>
            </a:r>
            <a:r>
              <a:rPr lang="en-US" altLang="zh-CN" sz="3200">
                <a:latin typeface="Times New Roman" pitchFamily="18" charset="0"/>
              </a:rPr>
              <a:t>——</a:t>
            </a:r>
            <a:r>
              <a:rPr lang="zh-CN" altLang="en-US" sz="3200">
                <a:solidFill>
                  <a:srgbClr val="FF0000"/>
                </a:solidFill>
                <a:latin typeface="Times New Roman" pitchFamily="18" charset="0"/>
              </a:rPr>
              <a:t>初始化代码</a:t>
            </a:r>
          </a:p>
        </p:txBody>
      </p:sp>
      <p:sp>
        <p:nvSpPr>
          <p:cNvPr id="737283" name="Text Box 3"/>
          <p:cNvSpPr txBox="1">
            <a:spLocks noChangeArrowheads="1"/>
          </p:cNvSpPr>
          <p:nvPr/>
        </p:nvSpPr>
        <p:spPr bwMode="auto">
          <a:xfrm>
            <a:off x="2351089" y="1341439"/>
            <a:ext cx="3673475" cy="396875"/>
          </a:xfrm>
          <a:prstGeom prst="rect">
            <a:avLst/>
          </a:prstGeom>
          <a:noFill/>
          <a:ln w="9525">
            <a:noFill/>
            <a:miter lim="800000"/>
            <a:headEnd/>
            <a:tailEnd/>
          </a:ln>
          <a:effectLst/>
        </p:spPr>
        <p:txBody>
          <a:bodyPr>
            <a:spAutoFit/>
          </a:bodyPr>
          <a:lstStyle/>
          <a:p>
            <a:pPr algn="l">
              <a:spcBef>
                <a:spcPct val="50000"/>
              </a:spcBef>
            </a:pPr>
            <a:r>
              <a:rPr lang="en-US" altLang="zh-CN" sz="2000">
                <a:ea typeface="华文新魏" pitchFamily="2" charset="-122"/>
              </a:rPr>
              <a:t>UART0</a:t>
            </a:r>
            <a:r>
              <a:rPr lang="zh-CN" altLang="en-US" sz="2000">
                <a:ea typeface="华文新魏" pitchFamily="2" charset="-122"/>
              </a:rPr>
              <a:t>初始化代码：</a:t>
            </a:r>
          </a:p>
        </p:txBody>
      </p:sp>
      <p:sp>
        <p:nvSpPr>
          <p:cNvPr id="737284" name="Rectangle 4"/>
          <p:cNvSpPr>
            <a:spLocks noChangeArrowheads="1"/>
          </p:cNvSpPr>
          <p:nvPr/>
        </p:nvSpPr>
        <p:spPr bwMode="auto">
          <a:xfrm>
            <a:off x="2279650" y="1722438"/>
            <a:ext cx="4679950" cy="4443412"/>
          </a:xfrm>
          <a:prstGeom prst="rect">
            <a:avLst/>
          </a:prstGeom>
          <a:solidFill>
            <a:schemeClr val="bg1"/>
          </a:solidFill>
          <a:ln w="9525">
            <a:solidFill>
              <a:schemeClr val="tx1"/>
            </a:solidFill>
            <a:miter lim="800000"/>
            <a:headEnd/>
            <a:tailEnd/>
          </a:ln>
          <a:effectLst/>
        </p:spPr>
        <p:txBody>
          <a:bodyPr/>
          <a:lstStyle/>
          <a:p>
            <a:pPr algn="l">
              <a:spcBef>
                <a:spcPct val="50000"/>
              </a:spcBef>
            </a:pPr>
            <a:r>
              <a:rPr lang="en-US" altLang="zh-CN" sz="1600">
                <a:ea typeface="华文新魏" pitchFamily="2" charset="-122"/>
              </a:rPr>
              <a:t>#define  UART_BPS  115200</a:t>
            </a:r>
          </a:p>
          <a:p>
            <a:pPr algn="l">
              <a:spcBef>
                <a:spcPct val="50000"/>
              </a:spcBef>
            </a:pPr>
            <a:endParaRPr lang="en-US" altLang="zh-CN" sz="1600">
              <a:ea typeface="华文新魏" pitchFamily="2" charset="-122"/>
            </a:endParaRPr>
          </a:p>
          <a:p>
            <a:pPr algn="l">
              <a:spcBef>
                <a:spcPct val="50000"/>
              </a:spcBef>
            </a:pPr>
            <a:r>
              <a:rPr lang="en-US" altLang="zh-CN" sz="1600">
                <a:ea typeface="华文新魏" pitchFamily="2" charset="-122"/>
              </a:rPr>
              <a:t>Void UART0_Ini(void)</a:t>
            </a:r>
          </a:p>
          <a:p>
            <a:pPr algn="l">
              <a:spcBef>
                <a:spcPct val="50000"/>
              </a:spcBef>
            </a:pPr>
            <a:r>
              <a:rPr lang="en-US" altLang="zh-CN" sz="1600">
                <a:ea typeface="华文新魏" pitchFamily="2" charset="-122"/>
              </a:rPr>
              <a:t>{</a:t>
            </a:r>
          </a:p>
          <a:p>
            <a:pPr algn="l">
              <a:spcBef>
                <a:spcPct val="50000"/>
              </a:spcBef>
            </a:pPr>
            <a:r>
              <a:rPr lang="en-US" altLang="zh-CN" sz="1600">
                <a:ea typeface="华文新魏" pitchFamily="2" charset="-122"/>
              </a:rPr>
              <a:t>    uint16 Fdiv;</a:t>
            </a:r>
          </a:p>
          <a:p>
            <a:pPr algn="l">
              <a:spcBef>
                <a:spcPct val="50000"/>
              </a:spcBef>
            </a:pPr>
            <a:r>
              <a:rPr lang="en-US" altLang="zh-CN" sz="1600">
                <a:ea typeface="华文新魏" pitchFamily="2" charset="-122"/>
              </a:rPr>
              <a:t>    PINSEL0 = 0x00000005;</a:t>
            </a:r>
          </a:p>
          <a:p>
            <a:pPr algn="l">
              <a:spcBef>
                <a:spcPct val="50000"/>
              </a:spcBef>
            </a:pPr>
            <a:r>
              <a:rPr lang="en-US" altLang="zh-CN" sz="1600">
                <a:ea typeface="华文新魏" pitchFamily="2" charset="-122"/>
              </a:rPr>
              <a:t>    U0LCR = 0x83;</a:t>
            </a:r>
          </a:p>
          <a:p>
            <a:pPr algn="l">
              <a:spcBef>
                <a:spcPct val="50000"/>
              </a:spcBef>
            </a:pPr>
            <a:r>
              <a:rPr lang="en-US" altLang="zh-CN" sz="1600">
                <a:ea typeface="华文新魏" pitchFamily="2" charset="-122"/>
              </a:rPr>
              <a:t>    Fdiv = (Fpclk / 16) / UART_BPS;</a:t>
            </a:r>
          </a:p>
          <a:p>
            <a:pPr algn="l">
              <a:spcBef>
                <a:spcPct val="50000"/>
              </a:spcBef>
            </a:pPr>
            <a:r>
              <a:rPr lang="en-US" altLang="zh-CN" sz="1600">
                <a:ea typeface="华文新魏" pitchFamily="2" charset="-122"/>
              </a:rPr>
              <a:t>    U0DLM = Fdiv / 256;</a:t>
            </a:r>
          </a:p>
          <a:p>
            <a:pPr algn="l">
              <a:spcBef>
                <a:spcPct val="50000"/>
              </a:spcBef>
            </a:pPr>
            <a:r>
              <a:rPr lang="en-US" altLang="zh-CN" sz="1600">
                <a:ea typeface="华文新魏" pitchFamily="2" charset="-122"/>
              </a:rPr>
              <a:t>    U0DLL = Fdiv % 256;</a:t>
            </a:r>
          </a:p>
          <a:p>
            <a:pPr algn="l">
              <a:spcBef>
                <a:spcPct val="50000"/>
              </a:spcBef>
            </a:pPr>
            <a:r>
              <a:rPr lang="en-US" altLang="zh-CN" sz="1600">
                <a:ea typeface="华文新魏" pitchFamily="2" charset="-122"/>
              </a:rPr>
              <a:t>    U0LCR = 0x03;</a:t>
            </a:r>
          </a:p>
          <a:p>
            <a:pPr algn="l">
              <a:spcBef>
                <a:spcPct val="50000"/>
              </a:spcBef>
            </a:pPr>
            <a:r>
              <a:rPr lang="en-US" altLang="zh-CN" sz="1600">
                <a:ea typeface="华文新魏" pitchFamily="2" charset="-122"/>
              </a:rPr>
              <a:t>}</a:t>
            </a:r>
          </a:p>
        </p:txBody>
      </p:sp>
      <p:grpSp>
        <p:nvGrpSpPr>
          <p:cNvPr id="737285" name="Group 5"/>
          <p:cNvGrpSpPr>
            <a:grpSpLocks/>
          </p:cNvGrpSpPr>
          <p:nvPr/>
        </p:nvGrpSpPr>
        <p:grpSpPr bwMode="auto">
          <a:xfrm>
            <a:off x="2351088" y="1773238"/>
            <a:ext cx="7561262" cy="360362"/>
            <a:chOff x="748" y="1117"/>
            <a:chExt cx="4763" cy="227"/>
          </a:xfrm>
        </p:grpSpPr>
        <p:sp>
          <p:nvSpPr>
            <p:cNvPr id="737286" name="AutoShape 6"/>
            <p:cNvSpPr>
              <a:spLocks noChangeArrowheads="1"/>
            </p:cNvSpPr>
            <p:nvPr/>
          </p:nvSpPr>
          <p:spPr bwMode="auto">
            <a:xfrm>
              <a:off x="748" y="1117"/>
              <a:ext cx="4763" cy="227"/>
            </a:xfrm>
            <a:prstGeom prst="roundRect">
              <a:avLst>
                <a:gd name="adj" fmla="val 16667"/>
              </a:avLst>
            </a:prstGeom>
            <a:solidFill>
              <a:srgbClr val="FFCC99">
                <a:alpha val="20000"/>
              </a:srgbClr>
            </a:solidFill>
            <a:ln w="12700" algn="ctr">
              <a:solidFill>
                <a:srgbClr val="FF0000"/>
              </a:solidFill>
              <a:round/>
              <a:headEnd/>
              <a:tailEnd/>
            </a:ln>
            <a:effectLst/>
          </p:spPr>
          <p:txBody>
            <a:bodyPr wrap="none" anchor="ctr"/>
            <a:lstStyle/>
            <a:p>
              <a:endParaRPr lang="zh-CN" altLang="en-US"/>
            </a:p>
          </p:txBody>
        </p:sp>
        <p:sp>
          <p:nvSpPr>
            <p:cNvPr id="737287" name="AutoShape 7"/>
            <p:cNvSpPr>
              <a:spLocks noChangeArrowheads="1"/>
            </p:cNvSpPr>
            <p:nvPr/>
          </p:nvSpPr>
          <p:spPr bwMode="auto">
            <a:xfrm>
              <a:off x="3560" y="1117"/>
              <a:ext cx="1951" cy="227"/>
            </a:xfrm>
            <a:prstGeom prst="roundRect">
              <a:avLst>
                <a:gd name="adj" fmla="val 16667"/>
              </a:avLst>
            </a:prstGeom>
            <a:solidFill>
              <a:srgbClr val="FFCC99"/>
            </a:solidFill>
            <a:ln w="12700" algn="ctr">
              <a:solidFill>
                <a:srgbClr val="0000FF"/>
              </a:solidFill>
              <a:round/>
              <a:headEnd/>
              <a:tailEnd/>
            </a:ln>
            <a:effectLst/>
          </p:spPr>
          <p:txBody>
            <a:bodyPr wrap="none" anchor="ctr"/>
            <a:lstStyle/>
            <a:p>
              <a:r>
                <a:rPr lang="zh-CN" altLang="en-US" sz="1600">
                  <a:latin typeface="Times New Roman" pitchFamily="18" charset="0"/>
                </a:rPr>
                <a:t>定义表示波特率的宏，方便修改</a:t>
              </a:r>
            </a:p>
          </p:txBody>
        </p:sp>
      </p:grpSp>
      <p:grpSp>
        <p:nvGrpSpPr>
          <p:cNvPr id="737288" name="Group 8"/>
          <p:cNvGrpSpPr>
            <a:grpSpLocks/>
          </p:cNvGrpSpPr>
          <p:nvPr/>
        </p:nvGrpSpPr>
        <p:grpSpPr bwMode="auto">
          <a:xfrm>
            <a:off x="2351088" y="3573463"/>
            <a:ext cx="7561262" cy="360362"/>
            <a:chOff x="748" y="2251"/>
            <a:chExt cx="4763" cy="227"/>
          </a:xfrm>
        </p:grpSpPr>
        <p:sp>
          <p:nvSpPr>
            <p:cNvPr id="737289" name="AutoShape 9"/>
            <p:cNvSpPr>
              <a:spLocks noChangeArrowheads="1"/>
            </p:cNvSpPr>
            <p:nvPr/>
          </p:nvSpPr>
          <p:spPr bwMode="auto">
            <a:xfrm>
              <a:off x="748" y="2251"/>
              <a:ext cx="4763" cy="227"/>
            </a:xfrm>
            <a:prstGeom prst="roundRect">
              <a:avLst>
                <a:gd name="adj" fmla="val 16667"/>
              </a:avLst>
            </a:prstGeom>
            <a:solidFill>
              <a:srgbClr val="FFCC99">
                <a:alpha val="20000"/>
              </a:srgbClr>
            </a:solidFill>
            <a:ln w="12700" algn="ctr">
              <a:solidFill>
                <a:srgbClr val="FF0000"/>
              </a:solidFill>
              <a:round/>
              <a:headEnd/>
              <a:tailEnd/>
            </a:ln>
            <a:effectLst/>
          </p:spPr>
          <p:txBody>
            <a:bodyPr wrap="none" anchor="ctr"/>
            <a:lstStyle/>
            <a:p>
              <a:endParaRPr lang="zh-CN" altLang="en-US"/>
            </a:p>
          </p:txBody>
        </p:sp>
        <p:sp>
          <p:nvSpPr>
            <p:cNvPr id="737290" name="AutoShape 10"/>
            <p:cNvSpPr>
              <a:spLocks noChangeArrowheads="1"/>
            </p:cNvSpPr>
            <p:nvPr/>
          </p:nvSpPr>
          <p:spPr bwMode="auto">
            <a:xfrm>
              <a:off x="3560" y="2251"/>
              <a:ext cx="1951" cy="227"/>
            </a:xfrm>
            <a:prstGeom prst="roundRect">
              <a:avLst>
                <a:gd name="adj" fmla="val 16667"/>
              </a:avLst>
            </a:prstGeom>
            <a:solidFill>
              <a:srgbClr val="FFCC99"/>
            </a:solidFill>
            <a:ln w="12700" algn="ctr">
              <a:solidFill>
                <a:srgbClr val="0000FF"/>
              </a:solidFill>
              <a:round/>
              <a:headEnd/>
              <a:tailEnd/>
            </a:ln>
            <a:effectLst/>
          </p:spPr>
          <p:txBody>
            <a:bodyPr wrap="none" anchor="ctr"/>
            <a:lstStyle/>
            <a:p>
              <a:r>
                <a:rPr lang="zh-CN" altLang="en-US" sz="1600">
                  <a:latin typeface="Times New Roman" pitchFamily="18" charset="0"/>
                </a:rPr>
                <a:t>设置引脚连接模块</a:t>
              </a:r>
            </a:p>
          </p:txBody>
        </p:sp>
      </p:grpSp>
      <p:grpSp>
        <p:nvGrpSpPr>
          <p:cNvPr id="737291" name="Group 11"/>
          <p:cNvGrpSpPr>
            <a:grpSpLocks/>
          </p:cNvGrpSpPr>
          <p:nvPr/>
        </p:nvGrpSpPr>
        <p:grpSpPr bwMode="auto">
          <a:xfrm>
            <a:off x="2351088" y="3933826"/>
            <a:ext cx="7561262" cy="360363"/>
            <a:chOff x="748" y="2478"/>
            <a:chExt cx="4763" cy="227"/>
          </a:xfrm>
        </p:grpSpPr>
        <p:sp>
          <p:nvSpPr>
            <p:cNvPr id="737292" name="AutoShape 12"/>
            <p:cNvSpPr>
              <a:spLocks noChangeArrowheads="1"/>
            </p:cNvSpPr>
            <p:nvPr/>
          </p:nvSpPr>
          <p:spPr bwMode="auto">
            <a:xfrm>
              <a:off x="748" y="2478"/>
              <a:ext cx="4763" cy="227"/>
            </a:xfrm>
            <a:prstGeom prst="roundRect">
              <a:avLst>
                <a:gd name="adj" fmla="val 16667"/>
              </a:avLst>
            </a:prstGeom>
            <a:solidFill>
              <a:srgbClr val="99CCFF">
                <a:alpha val="20000"/>
              </a:srgbClr>
            </a:solidFill>
            <a:ln w="12700" algn="ctr">
              <a:solidFill>
                <a:srgbClr val="0000FF"/>
              </a:solidFill>
              <a:round/>
              <a:headEnd/>
              <a:tailEnd/>
            </a:ln>
            <a:effectLst/>
          </p:spPr>
          <p:txBody>
            <a:bodyPr wrap="none" anchor="ctr"/>
            <a:lstStyle/>
            <a:p>
              <a:endParaRPr lang="zh-CN" altLang="en-US"/>
            </a:p>
          </p:txBody>
        </p:sp>
        <p:sp>
          <p:nvSpPr>
            <p:cNvPr id="737293" name="AutoShape 13"/>
            <p:cNvSpPr>
              <a:spLocks noChangeArrowheads="1"/>
            </p:cNvSpPr>
            <p:nvPr/>
          </p:nvSpPr>
          <p:spPr bwMode="auto">
            <a:xfrm>
              <a:off x="3560" y="2478"/>
              <a:ext cx="1951" cy="227"/>
            </a:xfrm>
            <a:prstGeom prst="roundRect">
              <a:avLst>
                <a:gd name="adj" fmla="val 16667"/>
              </a:avLst>
            </a:prstGeom>
            <a:solidFill>
              <a:srgbClr val="99CCFF"/>
            </a:solidFill>
            <a:ln w="12700" algn="ctr">
              <a:solidFill>
                <a:srgbClr val="0000FF"/>
              </a:solidFill>
              <a:round/>
              <a:headEnd/>
              <a:tailEnd/>
            </a:ln>
            <a:effectLst/>
          </p:spPr>
          <p:txBody>
            <a:bodyPr wrap="none" anchor="ctr"/>
            <a:lstStyle/>
            <a:p>
              <a:r>
                <a:rPr lang="zh-CN" altLang="en-US" sz="1600">
                  <a:latin typeface="Times New Roman" pitchFamily="18" charset="0"/>
                </a:rPr>
                <a:t>置位除数锁存位</a:t>
              </a:r>
            </a:p>
          </p:txBody>
        </p:sp>
      </p:grpSp>
      <p:grpSp>
        <p:nvGrpSpPr>
          <p:cNvPr id="737294" name="Group 14"/>
          <p:cNvGrpSpPr>
            <a:grpSpLocks/>
          </p:cNvGrpSpPr>
          <p:nvPr/>
        </p:nvGrpSpPr>
        <p:grpSpPr bwMode="auto">
          <a:xfrm>
            <a:off x="2351088" y="4292601"/>
            <a:ext cx="7561262" cy="360363"/>
            <a:chOff x="748" y="2704"/>
            <a:chExt cx="4763" cy="227"/>
          </a:xfrm>
        </p:grpSpPr>
        <p:sp>
          <p:nvSpPr>
            <p:cNvPr id="737295" name="AutoShape 15"/>
            <p:cNvSpPr>
              <a:spLocks noChangeArrowheads="1"/>
            </p:cNvSpPr>
            <p:nvPr/>
          </p:nvSpPr>
          <p:spPr bwMode="auto">
            <a:xfrm>
              <a:off x="748" y="2704"/>
              <a:ext cx="4763" cy="227"/>
            </a:xfrm>
            <a:prstGeom prst="roundRect">
              <a:avLst>
                <a:gd name="adj" fmla="val 16667"/>
              </a:avLst>
            </a:prstGeom>
            <a:solidFill>
              <a:srgbClr val="FFCC99">
                <a:alpha val="20000"/>
              </a:srgbClr>
            </a:solidFill>
            <a:ln w="12700" algn="ctr">
              <a:solidFill>
                <a:srgbClr val="FF0000"/>
              </a:solidFill>
              <a:round/>
              <a:headEnd/>
              <a:tailEnd/>
            </a:ln>
            <a:effectLst/>
          </p:spPr>
          <p:txBody>
            <a:bodyPr wrap="none" anchor="ctr"/>
            <a:lstStyle/>
            <a:p>
              <a:endParaRPr lang="zh-CN" altLang="en-US"/>
            </a:p>
          </p:txBody>
        </p:sp>
        <p:sp>
          <p:nvSpPr>
            <p:cNvPr id="737296" name="AutoShape 16"/>
            <p:cNvSpPr>
              <a:spLocks noChangeArrowheads="1"/>
            </p:cNvSpPr>
            <p:nvPr/>
          </p:nvSpPr>
          <p:spPr bwMode="auto">
            <a:xfrm>
              <a:off x="3560" y="2704"/>
              <a:ext cx="1951" cy="227"/>
            </a:xfrm>
            <a:prstGeom prst="roundRect">
              <a:avLst>
                <a:gd name="adj" fmla="val 16667"/>
              </a:avLst>
            </a:prstGeom>
            <a:solidFill>
              <a:srgbClr val="FFCC99"/>
            </a:solidFill>
            <a:ln w="12700" algn="ctr">
              <a:solidFill>
                <a:srgbClr val="0000FF"/>
              </a:solidFill>
              <a:round/>
              <a:headEnd/>
              <a:tailEnd/>
            </a:ln>
            <a:effectLst/>
          </p:spPr>
          <p:txBody>
            <a:bodyPr wrap="none" anchor="ctr"/>
            <a:lstStyle/>
            <a:p>
              <a:r>
                <a:rPr lang="zh-CN" altLang="en-US" sz="1600">
                  <a:latin typeface="Times New Roman" pitchFamily="18" charset="0"/>
                </a:rPr>
                <a:t>根据波特率计算分频值</a:t>
              </a:r>
            </a:p>
          </p:txBody>
        </p:sp>
      </p:grpSp>
      <p:grpSp>
        <p:nvGrpSpPr>
          <p:cNvPr id="737297" name="Group 17"/>
          <p:cNvGrpSpPr>
            <a:grpSpLocks/>
          </p:cNvGrpSpPr>
          <p:nvPr/>
        </p:nvGrpSpPr>
        <p:grpSpPr bwMode="auto">
          <a:xfrm>
            <a:off x="2351088" y="4652964"/>
            <a:ext cx="7561262" cy="720725"/>
            <a:chOff x="748" y="2931"/>
            <a:chExt cx="4763" cy="454"/>
          </a:xfrm>
        </p:grpSpPr>
        <p:sp>
          <p:nvSpPr>
            <p:cNvPr id="737298" name="AutoShape 18"/>
            <p:cNvSpPr>
              <a:spLocks noChangeArrowheads="1"/>
            </p:cNvSpPr>
            <p:nvPr/>
          </p:nvSpPr>
          <p:spPr bwMode="auto">
            <a:xfrm>
              <a:off x="748" y="2931"/>
              <a:ext cx="4763" cy="454"/>
            </a:xfrm>
            <a:prstGeom prst="roundRect">
              <a:avLst>
                <a:gd name="adj" fmla="val 16667"/>
              </a:avLst>
            </a:prstGeom>
            <a:solidFill>
              <a:srgbClr val="99CCFF">
                <a:alpha val="20000"/>
              </a:srgbClr>
            </a:solidFill>
            <a:ln w="12700" algn="ctr">
              <a:solidFill>
                <a:srgbClr val="0000FF"/>
              </a:solidFill>
              <a:round/>
              <a:headEnd/>
              <a:tailEnd/>
            </a:ln>
            <a:effectLst/>
          </p:spPr>
          <p:txBody>
            <a:bodyPr wrap="none" anchor="ctr"/>
            <a:lstStyle/>
            <a:p>
              <a:endParaRPr lang="zh-CN" altLang="en-US"/>
            </a:p>
          </p:txBody>
        </p:sp>
        <p:sp>
          <p:nvSpPr>
            <p:cNvPr id="737299" name="AutoShape 19"/>
            <p:cNvSpPr>
              <a:spLocks noChangeArrowheads="1"/>
            </p:cNvSpPr>
            <p:nvPr/>
          </p:nvSpPr>
          <p:spPr bwMode="auto">
            <a:xfrm>
              <a:off x="3560" y="2931"/>
              <a:ext cx="1951" cy="454"/>
            </a:xfrm>
            <a:prstGeom prst="roundRect">
              <a:avLst>
                <a:gd name="adj" fmla="val 16667"/>
              </a:avLst>
            </a:prstGeom>
            <a:solidFill>
              <a:srgbClr val="99CCFF"/>
            </a:solidFill>
            <a:ln w="12700" algn="ctr">
              <a:solidFill>
                <a:srgbClr val="0000FF"/>
              </a:solidFill>
              <a:round/>
              <a:headEnd/>
              <a:tailEnd/>
            </a:ln>
            <a:effectLst/>
          </p:spPr>
          <p:txBody>
            <a:bodyPr wrap="none" anchor="ctr"/>
            <a:lstStyle/>
            <a:p>
              <a:r>
                <a:rPr lang="zh-CN" altLang="en-US" sz="1600">
                  <a:latin typeface="Times New Roman" pitchFamily="18" charset="0"/>
                </a:rPr>
                <a:t>设置除数寄存器</a:t>
              </a:r>
            </a:p>
            <a:p>
              <a:r>
                <a:rPr lang="zh-CN" altLang="en-US" sz="1600">
                  <a:latin typeface="Times New Roman" pitchFamily="18" charset="0"/>
                </a:rPr>
                <a:t>（</a:t>
              </a:r>
              <a:r>
                <a:rPr lang="zh-CN" altLang="en-US" sz="1600">
                  <a:solidFill>
                    <a:srgbClr val="0000FF"/>
                  </a:solidFill>
                  <a:latin typeface="Times New Roman" pitchFamily="18" charset="0"/>
                </a:rPr>
                <a:t>除数锁存访问位必须置位</a:t>
              </a:r>
              <a:r>
                <a:rPr lang="zh-CN" altLang="en-US" sz="1600">
                  <a:latin typeface="Times New Roman" pitchFamily="18" charset="0"/>
                </a:rPr>
                <a:t>）</a:t>
              </a:r>
            </a:p>
          </p:txBody>
        </p:sp>
      </p:grpSp>
      <p:grpSp>
        <p:nvGrpSpPr>
          <p:cNvPr id="737300" name="Group 20"/>
          <p:cNvGrpSpPr>
            <a:grpSpLocks/>
          </p:cNvGrpSpPr>
          <p:nvPr/>
        </p:nvGrpSpPr>
        <p:grpSpPr bwMode="auto">
          <a:xfrm>
            <a:off x="2351088" y="5373688"/>
            <a:ext cx="7561262" cy="360362"/>
            <a:chOff x="748" y="3385"/>
            <a:chExt cx="4763" cy="227"/>
          </a:xfrm>
        </p:grpSpPr>
        <p:sp>
          <p:nvSpPr>
            <p:cNvPr id="737301" name="AutoShape 21"/>
            <p:cNvSpPr>
              <a:spLocks noChangeArrowheads="1"/>
            </p:cNvSpPr>
            <p:nvPr/>
          </p:nvSpPr>
          <p:spPr bwMode="auto">
            <a:xfrm>
              <a:off x="748" y="3385"/>
              <a:ext cx="4763" cy="227"/>
            </a:xfrm>
            <a:prstGeom prst="roundRect">
              <a:avLst>
                <a:gd name="adj" fmla="val 16667"/>
              </a:avLst>
            </a:prstGeom>
            <a:solidFill>
              <a:srgbClr val="FFCC99">
                <a:alpha val="20000"/>
              </a:srgbClr>
            </a:solidFill>
            <a:ln w="12700" algn="ctr">
              <a:solidFill>
                <a:srgbClr val="FF0000"/>
              </a:solidFill>
              <a:round/>
              <a:headEnd/>
              <a:tailEnd/>
            </a:ln>
            <a:effectLst/>
          </p:spPr>
          <p:txBody>
            <a:bodyPr wrap="none" anchor="ctr"/>
            <a:lstStyle/>
            <a:p>
              <a:endParaRPr lang="zh-CN" altLang="en-US"/>
            </a:p>
          </p:txBody>
        </p:sp>
        <p:sp>
          <p:nvSpPr>
            <p:cNvPr id="737302" name="AutoShape 22"/>
            <p:cNvSpPr>
              <a:spLocks noChangeArrowheads="1"/>
            </p:cNvSpPr>
            <p:nvPr/>
          </p:nvSpPr>
          <p:spPr bwMode="auto">
            <a:xfrm>
              <a:off x="3560" y="3385"/>
              <a:ext cx="1951" cy="227"/>
            </a:xfrm>
            <a:prstGeom prst="roundRect">
              <a:avLst>
                <a:gd name="adj" fmla="val 16667"/>
              </a:avLst>
            </a:prstGeom>
            <a:solidFill>
              <a:srgbClr val="FFCC99"/>
            </a:solidFill>
            <a:ln w="12700" algn="ctr">
              <a:solidFill>
                <a:srgbClr val="0000FF"/>
              </a:solidFill>
              <a:round/>
              <a:headEnd/>
              <a:tailEnd/>
            </a:ln>
            <a:effectLst/>
          </p:spPr>
          <p:txBody>
            <a:bodyPr wrap="none" anchor="ctr"/>
            <a:lstStyle/>
            <a:p>
              <a:r>
                <a:rPr lang="zh-CN" altLang="en-US" sz="1600">
                  <a:latin typeface="Times New Roman" pitchFamily="18" charset="0"/>
                </a:rPr>
                <a:t>清除除数锁存位，并设置工作模式</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37282"/>
                                        </p:tgtEl>
                                        <p:attrNameLst>
                                          <p:attrName>style.visibility</p:attrName>
                                        </p:attrNameLst>
                                      </p:cBhvr>
                                      <p:to>
                                        <p:strVal val="visible"/>
                                      </p:to>
                                    </p:set>
                                    <p:anim calcmode="lin" valueType="num">
                                      <p:cBhvr additive="base">
                                        <p:cTn id="7" dur="500" fill="hold"/>
                                        <p:tgtEl>
                                          <p:spTgt spid="737282"/>
                                        </p:tgtEl>
                                        <p:attrNameLst>
                                          <p:attrName>ppt_x</p:attrName>
                                        </p:attrNameLst>
                                      </p:cBhvr>
                                      <p:tavLst>
                                        <p:tav tm="0">
                                          <p:val>
                                            <p:strVal val="1+#ppt_w/2"/>
                                          </p:val>
                                        </p:tav>
                                        <p:tav tm="100000">
                                          <p:val>
                                            <p:strVal val="#ppt_x"/>
                                          </p:val>
                                        </p:tav>
                                      </p:tavLst>
                                    </p:anim>
                                    <p:anim calcmode="lin" valueType="num">
                                      <p:cBhvr additive="base">
                                        <p:cTn id="8" dur="500" fill="hold"/>
                                        <p:tgtEl>
                                          <p:spTgt spid="73728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737283"/>
                                        </p:tgtEl>
                                        <p:attrNameLst>
                                          <p:attrName>style.visibility</p:attrName>
                                        </p:attrNameLst>
                                      </p:cBhvr>
                                      <p:to>
                                        <p:strVal val="visible"/>
                                      </p:to>
                                    </p:set>
                                    <p:anim calcmode="lin" valueType="num">
                                      <p:cBhvr additive="base">
                                        <p:cTn id="12" dur="500" fill="hold"/>
                                        <p:tgtEl>
                                          <p:spTgt spid="737283"/>
                                        </p:tgtEl>
                                        <p:attrNameLst>
                                          <p:attrName>ppt_x</p:attrName>
                                        </p:attrNameLst>
                                      </p:cBhvr>
                                      <p:tavLst>
                                        <p:tav tm="0">
                                          <p:val>
                                            <p:strVal val="1+#ppt_w/2"/>
                                          </p:val>
                                        </p:tav>
                                        <p:tav tm="100000">
                                          <p:val>
                                            <p:strVal val="#ppt_x"/>
                                          </p:val>
                                        </p:tav>
                                      </p:tavLst>
                                    </p:anim>
                                    <p:anim calcmode="lin" valueType="num">
                                      <p:cBhvr additive="base">
                                        <p:cTn id="13" dur="500" fill="hold"/>
                                        <p:tgtEl>
                                          <p:spTgt spid="73728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2" presetClass="entr" presetSubtype="1" fill="hold" grpId="0" nodeType="afterEffect">
                                  <p:stCondLst>
                                    <p:cond delay="0"/>
                                  </p:stCondLst>
                                  <p:childTnLst>
                                    <p:set>
                                      <p:cBhvr>
                                        <p:cTn id="16" dur="1" fill="hold">
                                          <p:stCondLst>
                                            <p:cond delay="0"/>
                                          </p:stCondLst>
                                        </p:cTn>
                                        <p:tgtEl>
                                          <p:spTgt spid="737284"/>
                                        </p:tgtEl>
                                        <p:attrNameLst>
                                          <p:attrName>style.visibility</p:attrName>
                                        </p:attrNameLst>
                                      </p:cBhvr>
                                      <p:to>
                                        <p:strVal val="visible"/>
                                      </p:to>
                                    </p:set>
                                    <p:animEffect transition="in" filter="slide(fromTop)">
                                      <p:cBhvr>
                                        <p:cTn id="17" dur="500"/>
                                        <p:tgtEl>
                                          <p:spTgt spid="73728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737285"/>
                                        </p:tgtEl>
                                        <p:attrNameLst>
                                          <p:attrName>style.visibility</p:attrName>
                                        </p:attrNameLst>
                                      </p:cBhvr>
                                      <p:to>
                                        <p:strVal val="visible"/>
                                      </p:to>
                                    </p:set>
                                    <p:animEffect transition="in" filter="wipe(right)">
                                      <p:cBhvr>
                                        <p:cTn id="22" dur="500"/>
                                        <p:tgtEl>
                                          <p:spTgt spid="73728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737288"/>
                                        </p:tgtEl>
                                        <p:attrNameLst>
                                          <p:attrName>style.visibility</p:attrName>
                                        </p:attrNameLst>
                                      </p:cBhvr>
                                      <p:to>
                                        <p:strVal val="visible"/>
                                      </p:to>
                                    </p:set>
                                    <p:animEffect transition="in" filter="wipe(right)">
                                      <p:cBhvr>
                                        <p:cTn id="27" dur="500"/>
                                        <p:tgtEl>
                                          <p:spTgt spid="73728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737291"/>
                                        </p:tgtEl>
                                        <p:attrNameLst>
                                          <p:attrName>style.visibility</p:attrName>
                                        </p:attrNameLst>
                                      </p:cBhvr>
                                      <p:to>
                                        <p:strVal val="visible"/>
                                      </p:to>
                                    </p:set>
                                    <p:animEffect transition="in" filter="wipe(right)">
                                      <p:cBhvr>
                                        <p:cTn id="32" dur="500"/>
                                        <p:tgtEl>
                                          <p:spTgt spid="73729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737294"/>
                                        </p:tgtEl>
                                        <p:attrNameLst>
                                          <p:attrName>style.visibility</p:attrName>
                                        </p:attrNameLst>
                                      </p:cBhvr>
                                      <p:to>
                                        <p:strVal val="visible"/>
                                      </p:to>
                                    </p:set>
                                    <p:animEffect transition="in" filter="wipe(right)">
                                      <p:cBhvr>
                                        <p:cTn id="37" dur="500"/>
                                        <p:tgtEl>
                                          <p:spTgt spid="73729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737297"/>
                                        </p:tgtEl>
                                        <p:attrNameLst>
                                          <p:attrName>style.visibility</p:attrName>
                                        </p:attrNameLst>
                                      </p:cBhvr>
                                      <p:to>
                                        <p:strVal val="visible"/>
                                      </p:to>
                                    </p:set>
                                    <p:animEffect transition="in" filter="wipe(right)">
                                      <p:cBhvr>
                                        <p:cTn id="42" dur="500"/>
                                        <p:tgtEl>
                                          <p:spTgt spid="73729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737300"/>
                                        </p:tgtEl>
                                        <p:attrNameLst>
                                          <p:attrName>style.visibility</p:attrName>
                                        </p:attrNameLst>
                                      </p:cBhvr>
                                      <p:to>
                                        <p:strVal val="visible"/>
                                      </p:to>
                                    </p:set>
                                    <p:animEffect transition="in" filter="wipe(right)">
                                      <p:cBhvr>
                                        <p:cTn id="47" dur="500"/>
                                        <p:tgtEl>
                                          <p:spTgt spid="737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282" grpId="0"/>
      <p:bldP spid="737283" grpId="0" autoUpdateAnimBg="0"/>
      <p:bldP spid="737284" grpId="0" animBg="1"/>
    </p:bldLst>
  </p:timing>
</p:sld>
</file>

<file path=ppt/slides/slide1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8306" name="Rectangle 2"/>
          <p:cNvSpPr>
            <a:spLocks noChangeArrowheads="1"/>
          </p:cNvSpPr>
          <p:nvPr/>
        </p:nvSpPr>
        <p:spPr bwMode="auto">
          <a:xfrm>
            <a:off x="2209800" y="584200"/>
            <a:ext cx="777240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a:t>
            </a:r>
            <a:r>
              <a:rPr lang="zh-CN" altLang="en-US" sz="3200">
                <a:latin typeface="Times New Roman" pitchFamily="18" charset="0"/>
              </a:rPr>
              <a:t>应用示例</a:t>
            </a:r>
            <a:r>
              <a:rPr lang="en-US" altLang="zh-CN" sz="3200">
                <a:latin typeface="Times New Roman" pitchFamily="18" charset="0"/>
              </a:rPr>
              <a:t>——</a:t>
            </a:r>
            <a:r>
              <a:rPr lang="zh-CN" altLang="en-US" sz="3200">
                <a:solidFill>
                  <a:srgbClr val="FF0000"/>
                </a:solidFill>
                <a:latin typeface="Times New Roman" pitchFamily="18" charset="0"/>
              </a:rPr>
              <a:t>初始化代码</a:t>
            </a:r>
          </a:p>
        </p:txBody>
      </p:sp>
      <p:sp>
        <p:nvSpPr>
          <p:cNvPr id="738307" name="Text Box 3"/>
          <p:cNvSpPr txBox="1">
            <a:spLocks noChangeArrowheads="1"/>
          </p:cNvSpPr>
          <p:nvPr/>
        </p:nvSpPr>
        <p:spPr bwMode="auto">
          <a:xfrm>
            <a:off x="2351089" y="1341439"/>
            <a:ext cx="3673475" cy="396875"/>
          </a:xfrm>
          <a:prstGeom prst="rect">
            <a:avLst/>
          </a:prstGeom>
          <a:noFill/>
          <a:ln w="9525">
            <a:noFill/>
            <a:miter lim="800000"/>
            <a:headEnd/>
            <a:tailEnd/>
          </a:ln>
          <a:effectLst/>
        </p:spPr>
        <p:txBody>
          <a:bodyPr>
            <a:spAutoFit/>
          </a:bodyPr>
          <a:lstStyle/>
          <a:p>
            <a:pPr algn="l">
              <a:spcBef>
                <a:spcPct val="50000"/>
              </a:spcBef>
            </a:pPr>
            <a:r>
              <a:rPr lang="en-US" altLang="zh-CN" sz="2000">
                <a:ea typeface="华文新魏" pitchFamily="2" charset="-122"/>
              </a:rPr>
              <a:t>UART0</a:t>
            </a:r>
            <a:r>
              <a:rPr lang="zh-CN" altLang="en-US" sz="2000">
                <a:ea typeface="华文新魏" pitchFamily="2" charset="-122"/>
              </a:rPr>
              <a:t>初始化代码：</a:t>
            </a:r>
          </a:p>
        </p:txBody>
      </p:sp>
      <p:sp>
        <p:nvSpPr>
          <p:cNvPr id="738308" name="Rectangle 4"/>
          <p:cNvSpPr>
            <a:spLocks noChangeArrowheads="1"/>
          </p:cNvSpPr>
          <p:nvPr/>
        </p:nvSpPr>
        <p:spPr bwMode="auto">
          <a:xfrm>
            <a:off x="2279650" y="1722438"/>
            <a:ext cx="4679950" cy="4443412"/>
          </a:xfrm>
          <a:prstGeom prst="rect">
            <a:avLst/>
          </a:prstGeom>
          <a:solidFill>
            <a:schemeClr val="bg1"/>
          </a:solidFill>
          <a:ln w="9525">
            <a:solidFill>
              <a:schemeClr val="tx1"/>
            </a:solidFill>
            <a:miter lim="800000"/>
            <a:headEnd/>
            <a:tailEnd/>
          </a:ln>
          <a:effectLst/>
        </p:spPr>
        <p:txBody>
          <a:bodyPr/>
          <a:lstStyle/>
          <a:p>
            <a:pPr algn="l">
              <a:spcBef>
                <a:spcPct val="50000"/>
              </a:spcBef>
            </a:pPr>
            <a:r>
              <a:rPr lang="en-US" altLang="zh-CN" sz="1600" dirty="0">
                <a:ea typeface="华文新魏" pitchFamily="2" charset="-122"/>
              </a:rPr>
              <a:t>#define  UART_BPS  115200</a:t>
            </a:r>
          </a:p>
          <a:p>
            <a:pPr algn="l">
              <a:spcBef>
                <a:spcPct val="50000"/>
              </a:spcBef>
            </a:pPr>
            <a:endParaRPr lang="en-US" altLang="zh-CN" sz="1600" dirty="0">
              <a:ea typeface="华文新魏" pitchFamily="2" charset="-122"/>
            </a:endParaRPr>
          </a:p>
          <a:p>
            <a:pPr algn="l">
              <a:spcBef>
                <a:spcPct val="50000"/>
              </a:spcBef>
            </a:pPr>
            <a:r>
              <a:rPr lang="en-US" altLang="zh-CN" sz="1600" dirty="0">
                <a:ea typeface="华文新魏" pitchFamily="2" charset="-122"/>
              </a:rPr>
              <a:t>Void UART0_Ini(void)</a:t>
            </a:r>
          </a:p>
          <a:p>
            <a:pPr algn="l">
              <a:spcBef>
                <a:spcPct val="50000"/>
              </a:spcBef>
            </a:pPr>
            <a:r>
              <a:rPr lang="en-US" altLang="zh-CN" sz="1600" dirty="0">
                <a:ea typeface="华文新魏" pitchFamily="2" charset="-122"/>
              </a:rPr>
              <a:t>{</a:t>
            </a:r>
          </a:p>
          <a:p>
            <a:pPr algn="l">
              <a:spcBef>
                <a:spcPct val="50000"/>
              </a:spcBef>
            </a:pPr>
            <a:r>
              <a:rPr lang="en-US" altLang="zh-CN" sz="1600" dirty="0">
                <a:ea typeface="华文新魏" pitchFamily="2" charset="-122"/>
              </a:rPr>
              <a:t>    uint16 </a:t>
            </a:r>
            <a:r>
              <a:rPr lang="en-US" altLang="zh-CN" sz="1600" dirty="0" err="1">
                <a:ea typeface="华文新魏" pitchFamily="2" charset="-122"/>
              </a:rPr>
              <a:t>Fdiv</a:t>
            </a:r>
            <a:r>
              <a:rPr lang="en-US" altLang="zh-CN" sz="1600" dirty="0">
                <a:ea typeface="华文新魏" pitchFamily="2" charset="-122"/>
              </a:rPr>
              <a:t>;</a:t>
            </a:r>
          </a:p>
          <a:p>
            <a:pPr algn="l">
              <a:spcBef>
                <a:spcPct val="50000"/>
              </a:spcBef>
            </a:pPr>
            <a:r>
              <a:rPr lang="en-US" altLang="zh-CN" sz="1600" dirty="0">
                <a:ea typeface="华文新魏" pitchFamily="2" charset="-122"/>
              </a:rPr>
              <a:t>    PINSEL0 = 0x00000005;</a:t>
            </a:r>
          </a:p>
          <a:p>
            <a:pPr algn="l">
              <a:spcBef>
                <a:spcPct val="50000"/>
              </a:spcBef>
            </a:pPr>
            <a:r>
              <a:rPr lang="en-US" altLang="zh-CN" sz="1600" dirty="0">
                <a:ea typeface="华文新魏" pitchFamily="2" charset="-122"/>
              </a:rPr>
              <a:t>    U0LCR = 0x83;</a:t>
            </a:r>
          </a:p>
          <a:p>
            <a:pPr algn="l">
              <a:spcBef>
                <a:spcPct val="50000"/>
              </a:spcBef>
            </a:pPr>
            <a:r>
              <a:rPr lang="en-US" altLang="zh-CN" sz="1600" dirty="0">
                <a:ea typeface="华文新魏" pitchFamily="2" charset="-122"/>
              </a:rPr>
              <a:t>    </a:t>
            </a:r>
            <a:r>
              <a:rPr lang="en-US" altLang="zh-CN" sz="1600" dirty="0" err="1">
                <a:ea typeface="华文新魏" pitchFamily="2" charset="-122"/>
              </a:rPr>
              <a:t>Fdiv</a:t>
            </a:r>
            <a:r>
              <a:rPr lang="en-US" altLang="zh-CN" sz="1600" dirty="0">
                <a:ea typeface="华文新魏" pitchFamily="2" charset="-122"/>
              </a:rPr>
              <a:t> = (</a:t>
            </a:r>
            <a:r>
              <a:rPr lang="en-US" altLang="zh-CN" sz="1600" dirty="0" err="1">
                <a:ea typeface="华文新魏" pitchFamily="2" charset="-122"/>
              </a:rPr>
              <a:t>Fpclk</a:t>
            </a:r>
            <a:r>
              <a:rPr lang="en-US" altLang="zh-CN" sz="1600" dirty="0">
                <a:ea typeface="华文新魏" pitchFamily="2" charset="-122"/>
              </a:rPr>
              <a:t> / 16) / UART_BPS;</a:t>
            </a:r>
          </a:p>
          <a:p>
            <a:pPr algn="l">
              <a:spcBef>
                <a:spcPct val="50000"/>
              </a:spcBef>
            </a:pPr>
            <a:r>
              <a:rPr lang="en-US" altLang="zh-CN" sz="1600" dirty="0">
                <a:ea typeface="华文新魏" pitchFamily="2" charset="-122"/>
              </a:rPr>
              <a:t>    U0DLM = </a:t>
            </a:r>
            <a:r>
              <a:rPr lang="en-US" altLang="zh-CN" sz="1600" dirty="0" err="1">
                <a:ea typeface="华文新魏" pitchFamily="2" charset="-122"/>
              </a:rPr>
              <a:t>Fdiv</a:t>
            </a:r>
            <a:r>
              <a:rPr lang="en-US" altLang="zh-CN" sz="1600" dirty="0">
                <a:ea typeface="华文新魏" pitchFamily="2" charset="-122"/>
              </a:rPr>
              <a:t> / 256;</a:t>
            </a:r>
          </a:p>
          <a:p>
            <a:pPr algn="l">
              <a:spcBef>
                <a:spcPct val="50000"/>
              </a:spcBef>
            </a:pPr>
            <a:r>
              <a:rPr lang="en-US" altLang="zh-CN" sz="1600" dirty="0">
                <a:ea typeface="华文新魏" pitchFamily="2" charset="-122"/>
              </a:rPr>
              <a:t>    U0DLL = </a:t>
            </a:r>
            <a:r>
              <a:rPr lang="en-US" altLang="zh-CN" sz="1600" dirty="0" err="1">
                <a:ea typeface="华文新魏" pitchFamily="2" charset="-122"/>
              </a:rPr>
              <a:t>Fdiv</a:t>
            </a:r>
            <a:r>
              <a:rPr lang="en-US" altLang="zh-CN" sz="1600" dirty="0">
                <a:ea typeface="华文新魏" pitchFamily="2" charset="-122"/>
              </a:rPr>
              <a:t> % 256;</a:t>
            </a:r>
          </a:p>
          <a:p>
            <a:pPr algn="l">
              <a:spcBef>
                <a:spcPct val="50000"/>
              </a:spcBef>
            </a:pPr>
            <a:r>
              <a:rPr lang="en-US" altLang="zh-CN" sz="1600" dirty="0">
                <a:ea typeface="华文新魏" pitchFamily="2" charset="-122"/>
              </a:rPr>
              <a:t>    U0LCR = 0x03;</a:t>
            </a:r>
          </a:p>
          <a:p>
            <a:pPr algn="l">
              <a:spcBef>
                <a:spcPct val="50000"/>
              </a:spcBef>
            </a:pPr>
            <a:r>
              <a:rPr lang="en-US" altLang="zh-CN" sz="1600" dirty="0">
                <a:ea typeface="华文新魏" pitchFamily="2" charset="-122"/>
              </a:rPr>
              <a:t>}</a:t>
            </a:r>
          </a:p>
        </p:txBody>
      </p:sp>
      <p:grpSp>
        <p:nvGrpSpPr>
          <p:cNvPr id="738309" name="Group 5"/>
          <p:cNvGrpSpPr>
            <a:grpSpLocks/>
          </p:cNvGrpSpPr>
          <p:nvPr/>
        </p:nvGrpSpPr>
        <p:grpSpPr bwMode="auto">
          <a:xfrm>
            <a:off x="7588250" y="1700214"/>
            <a:ext cx="2395538" cy="4249737"/>
            <a:chOff x="1882" y="935"/>
            <a:chExt cx="1509" cy="2677"/>
          </a:xfrm>
        </p:grpSpPr>
        <p:sp>
          <p:nvSpPr>
            <p:cNvPr id="738310" name="Rectangle 6"/>
            <p:cNvSpPr>
              <a:spLocks noChangeArrowheads="1"/>
            </p:cNvSpPr>
            <p:nvPr/>
          </p:nvSpPr>
          <p:spPr bwMode="auto">
            <a:xfrm>
              <a:off x="1882" y="935"/>
              <a:ext cx="1361" cy="545"/>
            </a:xfrm>
            <a:prstGeom prst="rect">
              <a:avLst/>
            </a:prstGeom>
            <a:solidFill>
              <a:srgbClr val="CCFF99"/>
            </a:solidFill>
            <a:ln w="12700" algn="ctr">
              <a:solidFill>
                <a:srgbClr val="000000"/>
              </a:solidFill>
              <a:miter lim="800000"/>
              <a:headEnd/>
              <a:tailEnd/>
            </a:ln>
            <a:effectLst/>
          </p:spPr>
          <p:txBody>
            <a:bodyPr anchor="ctr"/>
            <a:lstStyle/>
            <a:p>
              <a:r>
                <a:rPr lang="zh-CN" altLang="en-US">
                  <a:latin typeface="Times New Roman" pitchFamily="18" charset="0"/>
                </a:rPr>
                <a:t>设置引脚连接模块将对应</a:t>
              </a:r>
              <a:r>
                <a:rPr lang="en-US" altLang="zh-CN">
                  <a:latin typeface="Times New Roman" pitchFamily="18" charset="0"/>
                </a:rPr>
                <a:t>IO</a:t>
              </a:r>
              <a:r>
                <a:rPr lang="zh-CN" altLang="en-US">
                  <a:latin typeface="Times New Roman" pitchFamily="18" charset="0"/>
                </a:rPr>
                <a:t>连接到</a:t>
              </a:r>
              <a:r>
                <a:rPr lang="en-US" altLang="zh-CN">
                  <a:latin typeface="Times New Roman" pitchFamily="18" charset="0"/>
                </a:rPr>
                <a:t>UART0</a:t>
              </a:r>
            </a:p>
          </p:txBody>
        </p:sp>
        <p:sp>
          <p:nvSpPr>
            <p:cNvPr id="738311" name="Rectangle 7"/>
            <p:cNvSpPr>
              <a:spLocks noChangeArrowheads="1"/>
            </p:cNvSpPr>
            <p:nvPr/>
          </p:nvSpPr>
          <p:spPr bwMode="auto">
            <a:xfrm>
              <a:off x="1882" y="1707"/>
              <a:ext cx="1361" cy="272"/>
            </a:xfrm>
            <a:prstGeom prst="rect">
              <a:avLst/>
            </a:prstGeom>
            <a:solidFill>
              <a:srgbClr val="CCFF99"/>
            </a:solidFill>
            <a:ln w="12700" algn="ctr">
              <a:solidFill>
                <a:srgbClr val="000000"/>
              </a:solidFill>
              <a:miter lim="800000"/>
              <a:headEnd/>
              <a:tailEnd/>
            </a:ln>
            <a:effectLst/>
          </p:spPr>
          <p:txBody>
            <a:bodyPr anchor="ctr"/>
            <a:lstStyle/>
            <a:p>
              <a:r>
                <a:rPr lang="zh-CN" altLang="en-US">
                  <a:latin typeface="Times New Roman" pitchFamily="18" charset="0"/>
                </a:rPr>
                <a:t>设置串口波特率</a:t>
              </a:r>
            </a:p>
          </p:txBody>
        </p:sp>
        <p:sp>
          <p:nvSpPr>
            <p:cNvPr id="738312" name="Rectangle 8"/>
            <p:cNvSpPr>
              <a:spLocks noChangeArrowheads="1"/>
            </p:cNvSpPr>
            <p:nvPr/>
          </p:nvSpPr>
          <p:spPr bwMode="auto">
            <a:xfrm>
              <a:off x="1882" y="2206"/>
              <a:ext cx="1361" cy="272"/>
            </a:xfrm>
            <a:prstGeom prst="rect">
              <a:avLst/>
            </a:prstGeom>
            <a:solidFill>
              <a:srgbClr val="CCFF99"/>
            </a:solidFill>
            <a:ln w="12700" algn="ctr">
              <a:solidFill>
                <a:srgbClr val="000000"/>
              </a:solidFill>
              <a:miter lim="800000"/>
              <a:headEnd/>
              <a:tailEnd/>
            </a:ln>
            <a:effectLst/>
          </p:spPr>
          <p:txBody>
            <a:bodyPr anchor="ctr"/>
            <a:lstStyle/>
            <a:p>
              <a:r>
                <a:rPr lang="zh-CN" altLang="en-US">
                  <a:latin typeface="Times New Roman" pitchFamily="18" charset="0"/>
                </a:rPr>
                <a:t>设置串口工作模式</a:t>
              </a:r>
            </a:p>
          </p:txBody>
        </p:sp>
        <p:sp>
          <p:nvSpPr>
            <p:cNvPr id="738313" name="Rectangle 9"/>
            <p:cNvSpPr>
              <a:spLocks noChangeArrowheads="1"/>
            </p:cNvSpPr>
            <p:nvPr/>
          </p:nvSpPr>
          <p:spPr bwMode="auto">
            <a:xfrm>
              <a:off x="1882" y="2705"/>
              <a:ext cx="1361" cy="272"/>
            </a:xfrm>
            <a:prstGeom prst="rect">
              <a:avLst/>
            </a:prstGeom>
            <a:solidFill>
              <a:srgbClr val="CCFF99"/>
            </a:solidFill>
            <a:ln w="12700" algn="ctr">
              <a:solidFill>
                <a:srgbClr val="000000"/>
              </a:solidFill>
              <a:miter lim="800000"/>
              <a:headEnd/>
              <a:tailEnd/>
            </a:ln>
            <a:effectLst/>
          </p:spPr>
          <p:txBody>
            <a:bodyPr anchor="ctr"/>
            <a:lstStyle/>
            <a:p>
              <a:r>
                <a:rPr lang="zh-CN" altLang="en-US">
                  <a:latin typeface="Times New Roman" pitchFamily="18" charset="0"/>
                </a:rPr>
                <a:t>发送或接收数据</a:t>
              </a:r>
            </a:p>
          </p:txBody>
        </p:sp>
        <p:sp>
          <p:nvSpPr>
            <p:cNvPr id="738314" name="Rectangle 10"/>
            <p:cNvSpPr>
              <a:spLocks noChangeArrowheads="1"/>
            </p:cNvSpPr>
            <p:nvPr/>
          </p:nvSpPr>
          <p:spPr bwMode="auto">
            <a:xfrm>
              <a:off x="1882" y="3204"/>
              <a:ext cx="1361" cy="408"/>
            </a:xfrm>
            <a:prstGeom prst="rect">
              <a:avLst/>
            </a:prstGeom>
            <a:solidFill>
              <a:srgbClr val="CCFF99"/>
            </a:solidFill>
            <a:ln w="12700" algn="ctr">
              <a:solidFill>
                <a:srgbClr val="000000"/>
              </a:solidFill>
              <a:miter lim="800000"/>
              <a:headEnd/>
              <a:tailEnd/>
            </a:ln>
            <a:effectLst/>
          </p:spPr>
          <p:txBody>
            <a:bodyPr anchor="ctr"/>
            <a:lstStyle/>
            <a:p>
              <a:r>
                <a:rPr lang="zh-CN" altLang="en-US">
                  <a:latin typeface="Times New Roman" pitchFamily="18" charset="0"/>
                </a:rPr>
                <a:t>检查串口状态字或</a:t>
              </a:r>
            </a:p>
            <a:p>
              <a:r>
                <a:rPr lang="zh-CN" altLang="en-US">
                  <a:latin typeface="Times New Roman" pitchFamily="18" charset="0"/>
                </a:rPr>
                <a:t>等待串口中断</a:t>
              </a:r>
            </a:p>
          </p:txBody>
        </p:sp>
        <p:sp>
          <p:nvSpPr>
            <p:cNvPr id="738315" name="Line 11"/>
            <p:cNvSpPr>
              <a:spLocks noChangeShapeType="1"/>
            </p:cNvSpPr>
            <p:nvPr/>
          </p:nvSpPr>
          <p:spPr bwMode="auto">
            <a:xfrm>
              <a:off x="2562" y="1480"/>
              <a:ext cx="0" cy="227"/>
            </a:xfrm>
            <a:prstGeom prst="line">
              <a:avLst/>
            </a:prstGeom>
            <a:noFill/>
            <a:ln w="12700">
              <a:solidFill>
                <a:srgbClr val="000000"/>
              </a:solidFill>
              <a:round/>
              <a:headEnd/>
              <a:tailEnd type="triangle" w="med" len="med"/>
            </a:ln>
            <a:effectLst/>
          </p:spPr>
          <p:txBody>
            <a:bodyPr wrap="none" anchor="ctr"/>
            <a:lstStyle/>
            <a:p>
              <a:endParaRPr lang="zh-CN" altLang="en-US"/>
            </a:p>
          </p:txBody>
        </p:sp>
        <p:sp>
          <p:nvSpPr>
            <p:cNvPr id="738316" name="Line 12"/>
            <p:cNvSpPr>
              <a:spLocks noChangeShapeType="1"/>
            </p:cNvSpPr>
            <p:nvPr/>
          </p:nvSpPr>
          <p:spPr bwMode="auto">
            <a:xfrm>
              <a:off x="2562" y="1979"/>
              <a:ext cx="0" cy="227"/>
            </a:xfrm>
            <a:prstGeom prst="line">
              <a:avLst/>
            </a:prstGeom>
            <a:noFill/>
            <a:ln w="12700">
              <a:solidFill>
                <a:srgbClr val="000000"/>
              </a:solidFill>
              <a:round/>
              <a:headEnd/>
              <a:tailEnd type="triangle" w="med" len="med"/>
            </a:ln>
            <a:effectLst/>
          </p:spPr>
          <p:txBody>
            <a:bodyPr wrap="none" anchor="ctr"/>
            <a:lstStyle/>
            <a:p>
              <a:endParaRPr lang="zh-CN" altLang="en-US"/>
            </a:p>
          </p:txBody>
        </p:sp>
        <p:sp>
          <p:nvSpPr>
            <p:cNvPr id="738317" name="Line 13"/>
            <p:cNvSpPr>
              <a:spLocks noChangeShapeType="1"/>
            </p:cNvSpPr>
            <p:nvPr/>
          </p:nvSpPr>
          <p:spPr bwMode="auto">
            <a:xfrm>
              <a:off x="2562" y="2478"/>
              <a:ext cx="0" cy="227"/>
            </a:xfrm>
            <a:prstGeom prst="line">
              <a:avLst/>
            </a:prstGeom>
            <a:noFill/>
            <a:ln w="12700">
              <a:solidFill>
                <a:srgbClr val="000000"/>
              </a:solidFill>
              <a:round/>
              <a:headEnd/>
              <a:tailEnd type="triangle" w="med" len="med"/>
            </a:ln>
            <a:effectLst/>
          </p:spPr>
          <p:txBody>
            <a:bodyPr wrap="none" anchor="ctr"/>
            <a:lstStyle/>
            <a:p>
              <a:endParaRPr lang="zh-CN" altLang="en-US"/>
            </a:p>
          </p:txBody>
        </p:sp>
        <p:sp>
          <p:nvSpPr>
            <p:cNvPr id="738318" name="Line 14"/>
            <p:cNvSpPr>
              <a:spLocks noChangeShapeType="1"/>
            </p:cNvSpPr>
            <p:nvPr/>
          </p:nvSpPr>
          <p:spPr bwMode="auto">
            <a:xfrm>
              <a:off x="2562" y="2976"/>
              <a:ext cx="0" cy="227"/>
            </a:xfrm>
            <a:prstGeom prst="line">
              <a:avLst/>
            </a:prstGeom>
            <a:noFill/>
            <a:ln w="12700">
              <a:solidFill>
                <a:srgbClr val="000000"/>
              </a:solidFill>
              <a:round/>
              <a:headEnd/>
              <a:tailEnd type="triangle" w="med" len="med"/>
            </a:ln>
            <a:effectLst/>
          </p:spPr>
          <p:txBody>
            <a:bodyPr wrap="none" anchor="ctr"/>
            <a:lstStyle/>
            <a:p>
              <a:endParaRPr lang="zh-CN" altLang="en-US"/>
            </a:p>
          </p:txBody>
        </p:sp>
        <p:sp>
          <p:nvSpPr>
            <p:cNvPr id="738319" name="Line 15"/>
            <p:cNvSpPr>
              <a:spLocks noChangeShapeType="1"/>
            </p:cNvSpPr>
            <p:nvPr/>
          </p:nvSpPr>
          <p:spPr bwMode="auto">
            <a:xfrm>
              <a:off x="3243" y="3430"/>
              <a:ext cx="148" cy="0"/>
            </a:xfrm>
            <a:prstGeom prst="line">
              <a:avLst/>
            </a:prstGeom>
            <a:noFill/>
            <a:ln w="12700">
              <a:solidFill>
                <a:srgbClr val="000000"/>
              </a:solidFill>
              <a:round/>
              <a:headEnd/>
              <a:tailEnd/>
            </a:ln>
            <a:effectLst/>
          </p:spPr>
          <p:txBody>
            <a:bodyPr wrap="none" anchor="ctr"/>
            <a:lstStyle/>
            <a:p>
              <a:endParaRPr lang="zh-CN" altLang="en-US"/>
            </a:p>
          </p:txBody>
        </p:sp>
        <p:sp>
          <p:nvSpPr>
            <p:cNvPr id="738320" name="Line 16"/>
            <p:cNvSpPr>
              <a:spLocks noChangeShapeType="1"/>
            </p:cNvSpPr>
            <p:nvPr/>
          </p:nvSpPr>
          <p:spPr bwMode="auto">
            <a:xfrm flipV="1">
              <a:off x="3391" y="2841"/>
              <a:ext cx="0" cy="589"/>
            </a:xfrm>
            <a:prstGeom prst="line">
              <a:avLst/>
            </a:prstGeom>
            <a:noFill/>
            <a:ln w="12700">
              <a:solidFill>
                <a:srgbClr val="000000"/>
              </a:solidFill>
              <a:round/>
              <a:headEnd/>
              <a:tailEnd/>
            </a:ln>
            <a:effectLst/>
          </p:spPr>
          <p:txBody>
            <a:bodyPr wrap="none" anchor="ctr"/>
            <a:lstStyle/>
            <a:p>
              <a:endParaRPr lang="zh-CN" altLang="en-US"/>
            </a:p>
          </p:txBody>
        </p:sp>
        <p:sp>
          <p:nvSpPr>
            <p:cNvPr id="738321" name="Line 17"/>
            <p:cNvSpPr>
              <a:spLocks noChangeShapeType="1"/>
            </p:cNvSpPr>
            <p:nvPr/>
          </p:nvSpPr>
          <p:spPr bwMode="auto">
            <a:xfrm flipH="1">
              <a:off x="3243" y="2840"/>
              <a:ext cx="148" cy="1"/>
            </a:xfrm>
            <a:prstGeom prst="line">
              <a:avLst/>
            </a:prstGeom>
            <a:noFill/>
            <a:ln w="12700">
              <a:solidFill>
                <a:srgbClr val="000000"/>
              </a:solidFill>
              <a:round/>
              <a:headEnd/>
              <a:tailEnd type="triangle" w="med" len="med"/>
            </a:ln>
            <a:effectLst/>
          </p:spPr>
          <p:txBody>
            <a:bodyPr wrap="none" anchor="ctr"/>
            <a:lstStyle/>
            <a:p>
              <a:endParaRPr lang="zh-CN" altLang="en-US"/>
            </a:p>
          </p:txBody>
        </p:sp>
      </p:grpSp>
      <p:sp>
        <p:nvSpPr>
          <p:cNvPr id="738322" name="Freeform 18"/>
          <p:cNvSpPr>
            <a:spLocks/>
          </p:cNvSpPr>
          <p:nvPr/>
        </p:nvSpPr>
        <p:spPr bwMode="auto">
          <a:xfrm>
            <a:off x="5591176" y="2124076"/>
            <a:ext cx="1971675" cy="1603375"/>
          </a:xfrm>
          <a:custGeom>
            <a:avLst/>
            <a:gdLst/>
            <a:ahLst/>
            <a:cxnLst>
              <a:cxn ang="0">
                <a:pos x="0" y="1003"/>
              </a:cxn>
              <a:cxn ang="0">
                <a:pos x="368" y="867"/>
              </a:cxn>
              <a:cxn ang="0">
                <a:pos x="745" y="142"/>
              </a:cxn>
              <a:cxn ang="0">
                <a:pos x="1242" y="13"/>
              </a:cxn>
            </a:cxnLst>
            <a:rect l="0" t="0" r="r" b="b"/>
            <a:pathLst>
              <a:path w="1242" h="1010">
                <a:moveTo>
                  <a:pt x="0" y="1003"/>
                </a:moveTo>
                <a:cubicBezTo>
                  <a:pt x="61" y="980"/>
                  <a:pt x="244" y="1010"/>
                  <a:pt x="368" y="867"/>
                </a:cubicBezTo>
                <a:cubicBezTo>
                  <a:pt x="492" y="724"/>
                  <a:pt x="599" y="284"/>
                  <a:pt x="745" y="142"/>
                </a:cubicBezTo>
                <a:cubicBezTo>
                  <a:pt x="891" y="0"/>
                  <a:pt x="1139" y="40"/>
                  <a:pt x="1242" y="13"/>
                </a:cubicBezTo>
              </a:path>
            </a:pathLst>
          </a:custGeom>
          <a:noFill/>
          <a:ln w="12700" cap="flat" cmpd="sng">
            <a:solidFill>
              <a:srgbClr val="FF0000"/>
            </a:solidFill>
            <a:prstDash val="solid"/>
            <a:round/>
            <a:headEnd type="none" w="med" len="med"/>
            <a:tailEnd type="triangle" w="med" len="med"/>
          </a:ln>
          <a:effectLst/>
        </p:spPr>
        <p:txBody>
          <a:bodyPr wrap="none" anchor="ctr"/>
          <a:lstStyle/>
          <a:p>
            <a:endParaRPr lang="zh-CN" altLang="en-US"/>
          </a:p>
        </p:txBody>
      </p:sp>
      <p:sp>
        <p:nvSpPr>
          <p:cNvPr id="738323" name="Rectangle 19"/>
          <p:cNvSpPr>
            <a:spLocks noChangeArrowheads="1"/>
          </p:cNvSpPr>
          <p:nvPr/>
        </p:nvSpPr>
        <p:spPr bwMode="auto">
          <a:xfrm>
            <a:off x="2555631" y="4292600"/>
            <a:ext cx="4261095" cy="1081088"/>
          </a:xfrm>
          <a:prstGeom prst="rect">
            <a:avLst/>
          </a:prstGeom>
          <a:noFill/>
          <a:ln w="12700" algn="ctr">
            <a:solidFill>
              <a:srgbClr val="FF0000"/>
            </a:solidFill>
            <a:miter lim="800000"/>
            <a:headEnd/>
            <a:tailEnd/>
          </a:ln>
          <a:effectLst/>
        </p:spPr>
        <p:txBody>
          <a:bodyPr wrap="none" anchor="ctr"/>
          <a:lstStyle/>
          <a:p>
            <a:endParaRPr lang="zh-CN" altLang="en-US"/>
          </a:p>
        </p:txBody>
      </p:sp>
      <p:sp>
        <p:nvSpPr>
          <p:cNvPr id="738324" name="Freeform 20"/>
          <p:cNvSpPr>
            <a:spLocks/>
          </p:cNvSpPr>
          <p:nvPr/>
        </p:nvSpPr>
        <p:spPr bwMode="auto">
          <a:xfrm>
            <a:off x="6311901" y="3087688"/>
            <a:ext cx="1235075" cy="1204912"/>
          </a:xfrm>
          <a:custGeom>
            <a:avLst/>
            <a:gdLst/>
            <a:ahLst/>
            <a:cxnLst>
              <a:cxn ang="0">
                <a:pos x="0" y="759"/>
              </a:cxn>
              <a:cxn ang="0">
                <a:pos x="122" y="508"/>
              </a:cxn>
              <a:cxn ang="0">
                <a:pos x="450" y="81"/>
              </a:cxn>
              <a:cxn ang="0">
                <a:pos x="778" y="21"/>
              </a:cxn>
            </a:cxnLst>
            <a:rect l="0" t="0" r="r" b="b"/>
            <a:pathLst>
              <a:path w="778" h="759">
                <a:moveTo>
                  <a:pt x="0" y="759"/>
                </a:moveTo>
                <a:cubicBezTo>
                  <a:pt x="20" y="717"/>
                  <a:pt x="47" y="621"/>
                  <a:pt x="122" y="508"/>
                </a:cubicBezTo>
                <a:cubicBezTo>
                  <a:pt x="197" y="395"/>
                  <a:pt x="341" y="162"/>
                  <a:pt x="450" y="81"/>
                </a:cubicBezTo>
                <a:cubicBezTo>
                  <a:pt x="559" y="0"/>
                  <a:pt x="710" y="33"/>
                  <a:pt x="778" y="21"/>
                </a:cubicBezTo>
              </a:path>
            </a:pathLst>
          </a:custGeom>
          <a:noFill/>
          <a:ln w="12700" cap="flat" cmpd="sng">
            <a:solidFill>
              <a:srgbClr val="FF0000"/>
            </a:solidFill>
            <a:prstDash val="solid"/>
            <a:round/>
            <a:headEnd type="none" w="med" len="med"/>
            <a:tailEnd type="triangle" w="med" len="med"/>
          </a:ln>
          <a:effectLst/>
        </p:spPr>
        <p:txBody>
          <a:bodyPr wrap="none" anchor="ctr"/>
          <a:lstStyle/>
          <a:p>
            <a:endParaRPr lang="zh-CN" altLang="en-US"/>
          </a:p>
        </p:txBody>
      </p:sp>
      <p:sp>
        <p:nvSpPr>
          <p:cNvPr id="738325" name="Freeform 21"/>
          <p:cNvSpPr>
            <a:spLocks/>
          </p:cNvSpPr>
          <p:nvPr/>
        </p:nvSpPr>
        <p:spPr bwMode="auto">
          <a:xfrm>
            <a:off x="4727575" y="3971925"/>
            <a:ext cx="2819400" cy="1665288"/>
          </a:xfrm>
          <a:custGeom>
            <a:avLst/>
            <a:gdLst/>
            <a:ahLst/>
            <a:cxnLst>
              <a:cxn ang="0">
                <a:pos x="0" y="1019"/>
              </a:cxn>
              <a:cxn ang="0">
                <a:pos x="1368" y="904"/>
              </a:cxn>
              <a:cxn ang="0">
                <a:pos x="1547" y="150"/>
              </a:cxn>
              <a:cxn ang="0">
                <a:pos x="1776" y="1"/>
              </a:cxn>
            </a:cxnLst>
            <a:rect l="0" t="0" r="r" b="b"/>
            <a:pathLst>
              <a:path w="1776" h="1049">
                <a:moveTo>
                  <a:pt x="0" y="1019"/>
                </a:moveTo>
                <a:cubicBezTo>
                  <a:pt x="228" y="1000"/>
                  <a:pt x="1110" y="1049"/>
                  <a:pt x="1368" y="904"/>
                </a:cubicBezTo>
                <a:cubicBezTo>
                  <a:pt x="1626" y="759"/>
                  <a:pt x="1479" y="300"/>
                  <a:pt x="1547" y="150"/>
                </a:cubicBezTo>
                <a:cubicBezTo>
                  <a:pt x="1615" y="0"/>
                  <a:pt x="1728" y="32"/>
                  <a:pt x="1776" y="1"/>
                </a:cubicBezTo>
              </a:path>
            </a:pathLst>
          </a:custGeom>
          <a:noFill/>
          <a:ln w="12700" cap="flat" cmpd="sng">
            <a:solidFill>
              <a:srgbClr val="FF0000"/>
            </a:solidFill>
            <a:prstDash val="solid"/>
            <a:round/>
            <a:headEnd type="none" w="med" len="med"/>
            <a:tailEnd type="triangle" w="med" len="med"/>
          </a:ln>
          <a:effec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738309"/>
                                        </p:tgtEl>
                                        <p:attrNameLst>
                                          <p:attrName>style.visibility</p:attrName>
                                        </p:attrNameLst>
                                      </p:cBhvr>
                                      <p:to>
                                        <p:strVal val="visible"/>
                                      </p:to>
                                    </p:set>
                                    <p:animEffect transition="in" filter="wipe(up)">
                                      <p:cBhvr>
                                        <p:cTn id="7" dur="500"/>
                                        <p:tgtEl>
                                          <p:spTgt spid="73830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38322"/>
                                        </p:tgtEl>
                                        <p:attrNameLst>
                                          <p:attrName>style.visibility</p:attrName>
                                        </p:attrNameLst>
                                      </p:cBhvr>
                                      <p:to>
                                        <p:strVal val="visible"/>
                                      </p:to>
                                    </p:set>
                                    <p:animEffect transition="in" filter="wipe(left)">
                                      <p:cBhvr>
                                        <p:cTn id="11" dur="500"/>
                                        <p:tgtEl>
                                          <p:spTgt spid="73832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38323"/>
                                        </p:tgtEl>
                                        <p:attrNameLst>
                                          <p:attrName>style.visibility</p:attrName>
                                        </p:attrNameLst>
                                      </p:cBhvr>
                                      <p:to>
                                        <p:strVal val="visible"/>
                                      </p:to>
                                    </p:set>
                                    <p:animEffect transition="in" filter="wipe(left)">
                                      <p:cBhvr>
                                        <p:cTn id="15" dur="500"/>
                                        <p:tgtEl>
                                          <p:spTgt spid="738323"/>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38324"/>
                                        </p:tgtEl>
                                        <p:attrNameLst>
                                          <p:attrName>style.visibility</p:attrName>
                                        </p:attrNameLst>
                                      </p:cBhvr>
                                      <p:to>
                                        <p:strVal val="visible"/>
                                      </p:to>
                                    </p:set>
                                    <p:animEffect transition="in" filter="wipe(left)">
                                      <p:cBhvr>
                                        <p:cTn id="19" dur="500"/>
                                        <p:tgtEl>
                                          <p:spTgt spid="738324"/>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738325"/>
                                        </p:tgtEl>
                                        <p:attrNameLst>
                                          <p:attrName>style.visibility</p:attrName>
                                        </p:attrNameLst>
                                      </p:cBhvr>
                                      <p:to>
                                        <p:strVal val="visible"/>
                                      </p:to>
                                    </p:set>
                                    <p:animEffect transition="in" filter="wipe(left)">
                                      <p:cBhvr>
                                        <p:cTn id="23" dur="500"/>
                                        <p:tgtEl>
                                          <p:spTgt spid="738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8322" grpId="0" animBg="1"/>
      <p:bldP spid="738323" grpId="0" animBg="1"/>
      <p:bldP spid="738324" grpId="0" animBg="1"/>
      <p:bldP spid="738325" grpId="0" animBg="1"/>
    </p:bldLst>
  </p:timing>
</p:sld>
</file>

<file path=ppt/slides/slide1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9330" name="Rectangle 2"/>
          <p:cNvSpPr>
            <a:spLocks noChangeArrowheads="1"/>
          </p:cNvSpPr>
          <p:nvPr/>
        </p:nvSpPr>
        <p:spPr bwMode="auto">
          <a:xfrm>
            <a:off x="2209800" y="587375"/>
            <a:ext cx="7772400" cy="609600"/>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a:t>
            </a:r>
            <a:r>
              <a:rPr lang="zh-CN" altLang="en-US" sz="3200">
                <a:latin typeface="Times New Roman" pitchFamily="18" charset="0"/>
              </a:rPr>
              <a:t>应用示例</a:t>
            </a:r>
            <a:r>
              <a:rPr lang="en-US" altLang="zh-CN" sz="3200">
                <a:latin typeface="Times New Roman" pitchFamily="18" charset="0"/>
              </a:rPr>
              <a:t>——</a:t>
            </a:r>
            <a:r>
              <a:rPr lang="zh-CN" altLang="en-US" sz="3200">
                <a:solidFill>
                  <a:srgbClr val="FF0000"/>
                </a:solidFill>
                <a:latin typeface="Times New Roman" pitchFamily="18" charset="0"/>
              </a:rPr>
              <a:t>收发数据</a:t>
            </a:r>
          </a:p>
        </p:txBody>
      </p:sp>
      <p:sp>
        <p:nvSpPr>
          <p:cNvPr id="739331" name="Rectangle 3"/>
          <p:cNvSpPr>
            <a:spLocks noChangeArrowheads="1"/>
          </p:cNvSpPr>
          <p:nvPr/>
        </p:nvSpPr>
        <p:spPr bwMode="auto">
          <a:xfrm>
            <a:off x="2640013" y="1628776"/>
            <a:ext cx="4608512" cy="1812925"/>
          </a:xfrm>
          <a:prstGeom prst="rect">
            <a:avLst/>
          </a:prstGeom>
          <a:solidFill>
            <a:schemeClr val="bg1"/>
          </a:solidFill>
          <a:ln w="9525">
            <a:solidFill>
              <a:schemeClr val="tx1"/>
            </a:solidFill>
            <a:miter lim="800000"/>
            <a:headEnd/>
            <a:tailEnd/>
          </a:ln>
          <a:effectLst/>
        </p:spPr>
        <p:txBody>
          <a:bodyPr>
            <a:spAutoFit/>
          </a:bodyPr>
          <a:lstStyle/>
          <a:p>
            <a:pPr algn="l">
              <a:spcBef>
                <a:spcPct val="50000"/>
              </a:spcBef>
            </a:pPr>
            <a:r>
              <a:rPr lang="en-US" altLang="zh-CN" sz="1600">
                <a:ea typeface="华文新魏" pitchFamily="2" charset="-122"/>
              </a:rPr>
              <a:t>void UART0_SendByte(uint8 data)</a:t>
            </a:r>
          </a:p>
          <a:p>
            <a:pPr algn="l">
              <a:spcBef>
                <a:spcPct val="50000"/>
              </a:spcBef>
            </a:pPr>
            <a:r>
              <a:rPr lang="en-US" altLang="zh-CN" sz="1600">
                <a:ea typeface="华文新魏" pitchFamily="2" charset="-122"/>
              </a:rPr>
              <a:t>{</a:t>
            </a:r>
          </a:p>
          <a:p>
            <a:pPr algn="l">
              <a:spcBef>
                <a:spcPct val="50000"/>
              </a:spcBef>
            </a:pPr>
            <a:r>
              <a:rPr lang="en-US" altLang="zh-CN" sz="1600">
                <a:ea typeface="华文新魏" pitchFamily="2" charset="-122"/>
              </a:rPr>
              <a:t>    U0THR = data;</a:t>
            </a:r>
          </a:p>
          <a:p>
            <a:pPr algn="l">
              <a:spcBef>
                <a:spcPct val="50000"/>
              </a:spcBef>
            </a:pPr>
            <a:r>
              <a:rPr lang="en-US" altLang="zh-CN" sz="1600">
                <a:ea typeface="华文新魏" pitchFamily="2" charset="-122"/>
              </a:rPr>
              <a:t>    while((U0LSR &amp; 0x40) == 0);</a:t>
            </a:r>
          </a:p>
          <a:p>
            <a:pPr algn="l">
              <a:spcBef>
                <a:spcPct val="50000"/>
              </a:spcBef>
            </a:pPr>
            <a:r>
              <a:rPr lang="en-US" altLang="zh-CN" sz="1600">
                <a:ea typeface="华文新魏" pitchFamily="2" charset="-122"/>
              </a:rPr>
              <a:t>}</a:t>
            </a:r>
          </a:p>
        </p:txBody>
      </p:sp>
      <p:sp>
        <p:nvSpPr>
          <p:cNvPr id="739332" name="Rectangle 4"/>
          <p:cNvSpPr>
            <a:spLocks noChangeArrowheads="1"/>
          </p:cNvSpPr>
          <p:nvPr/>
        </p:nvSpPr>
        <p:spPr bwMode="auto">
          <a:xfrm>
            <a:off x="2640013" y="3840163"/>
            <a:ext cx="4608512" cy="2546350"/>
          </a:xfrm>
          <a:prstGeom prst="rect">
            <a:avLst/>
          </a:prstGeom>
          <a:solidFill>
            <a:schemeClr val="bg1"/>
          </a:solidFill>
          <a:ln w="9525">
            <a:solidFill>
              <a:schemeClr val="tx1"/>
            </a:solidFill>
            <a:miter lim="800000"/>
            <a:headEnd/>
            <a:tailEnd/>
          </a:ln>
          <a:effectLst/>
        </p:spPr>
        <p:txBody>
          <a:bodyPr>
            <a:spAutoFit/>
          </a:bodyPr>
          <a:lstStyle/>
          <a:p>
            <a:pPr algn="l">
              <a:spcBef>
                <a:spcPct val="50000"/>
              </a:spcBef>
            </a:pPr>
            <a:r>
              <a:rPr lang="en-US" altLang="zh-CN" sz="1600">
                <a:ea typeface="华文新魏" pitchFamily="2" charset="-122"/>
              </a:rPr>
              <a:t>uint8 UART0_RcvByte(void)</a:t>
            </a:r>
          </a:p>
          <a:p>
            <a:pPr algn="l">
              <a:spcBef>
                <a:spcPct val="50000"/>
              </a:spcBef>
            </a:pPr>
            <a:r>
              <a:rPr lang="en-US" altLang="zh-CN" sz="1600">
                <a:ea typeface="华文新魏" pitchFamily="2" charset="-122"/>
              </a:rPr>
              <a:t>{</a:t>
            </a:r>
          </a:p>
          <a:p>
            <a:pPr algn="l">
              <a:spcBef>
                <a:spcPct val="50000"/>
              </a:spcBef>
            </a:pPr>
            <a:r>
              <a:rPr lang="en-US" altLang="zh-CN" sz="1600">
                <a:ea typeface="华文新魏" pitchFamily="2" charset="-122"/>
              </a:rPr>
              <a:t>    uint8 rcv_data;    </a:t>
            </a:r>
          </a:p>
          <a:p>
            <a:pPr algn="l">
              <a:spcBef>
                <a:spcPct val="50000"/>
              </a:spcBef>
            </a:pPr>
            <a:r>
              <a:rPr lang="en-US" altLang="zh-CN" sz="1600">
                <a:ea typeface="华文新魏" pitchFamily="2" charset="-122"/>
              </a:rPr>
              <a:t>    while((U0LSR &amp; 0x01) == 0);</a:t>
            </a:r>
          </a:p>
          <a:p>
            <a:pPr algn="l">
              <a:spcBef>
                <a:spcPct val="50000"/>
              </a:spcBef>
            </a:pPr>
            <a:r>
              <a:rPr lang="en-US" altLang="zh-CN" sz="1600">
                <a:ea typeface="华文新魏" pitchFamily="2" charset="-122"/>
              </a:rPr>
              <a:t>    rcv_data = U0RBR;</a:t>
            </a:r>
          </a:p>
          <a:p>
            <a:pPr algn="l">
              <a:spcBef>
                <a:spcPct val="50000"/>
              </a:spcBef>
            </a:pPr>
            <a:r>
              <a:rPr lang="en-US" altLang="zh-CN" sz="1600">
                <a:ea typeface="华文新魏" pitchFamily="2" charset="-122"/>
              </a:rPr>
              <a:t>    return(rcv_data);</a:t>
            </a:r>
          </a:p>
          <a:p>
            <a:pPr algn="l">
              <a:spcBef>
                <a:spcPct val="50000"/>
              </a:spcBef>
            </a:pPr>
            <a:r>
              <a:rPr lang="en-US" altLang="zh-CN" sz="1600">
                <a:ea typeface="华文新魏" pitchFamily="2" charset="-122"/>
              </a:rPr>
              <a:t>}</a:t>
            </a:r>
          </a:p>
        </p:txBody>
      </p:sp>
      <p:sp>
        <p:nvSpPr>
          <p:cNvPr id="739333" name="Text Box 5"/>
          <p:cNvSpPr txBox="1">
            <a:spLocks noChangeArrowheads="1"/>
          </p:cNvSpPr>
          <p:nvPr/>
        </p:nvSpPr>
        <p:spPr bwMode="auto">
          <a:xfrm>
            <a:off x="2638426" y="1268414"/>
            <a:ext cx="3673475" cy="396875"/>
          </a:xfrm>
          <a:prstGeom prst="rect">
            <a:avLst/>
          </a:prstGeom>
          <a:noFill/>
          <a:ln w="9525">
            <a:noFill/>
            <a:miter lim="800000"/>
            <a:headEnd/>
            <a:tailEnd/>
          </a:ln>
          <a:effectLst/>
        </p:spPr>
        <p:txBody>
          <a:bodyPr>
            <a:spAutoFit/>
          </a:bodyPr>
          <a:lstStyle/>
          <a:p>
            <a:pPr algn="l">
              <a:spcBef>
                <a:spcPct val="50000"/>
              </a:spcBef>
            </a:pPr>
            <a:r>
              <a:rPr lang="zh-CN" altLang="en-US" sz="2000">
                <a:ea typeface="华文新魏" pitchFamily="2" charset="-122"/>
              </a:rPr>
              <a:t>查询方式发送一字节数据：</a:t>
            </a:r>
          </a:p>
        </p:txBody>
      </p:sp>
      <p:sp>
        <p:nvSpPr>
          <p:cNvPr id="739334" name="Text Box 6"/>
          <p:cNvSpPr txBox="1">
            <a:spLocks noChangeArrowheads="1"/>
          </p:cNvSpPr>
          <p:nvPr/>
        </p:nvSpPr>
        <p:spPr bwMode="auto">
          <a:xfrm>
            <a:off x="2638426" y="3500439"/>
            <a:ext cx="3673475" cy="396875"/>
          </a:xfrm>
          <a:prstGeom prst="rect">
            <a:avLst/>
          </a:prstGeom>
          <a:noFill/>
          <a:ln w="9525">
            <a:noFill/>
            <a:miter lim="800000"/>
            <a:headEnd/>
            <a:tailEnd/>
          </a:ln>
          <a:effectLst/>
        </p:spPr>
        <p:txBody>
          <a:bodyPr>
            <a:spAutoFit/>
          </a:bodyPr>
          <a:lstStyle/>
          <a:p>
            <a:pPr algn="l">
              <a:spcBef>
                <a:spcPct val="50000"/>
              </a:spcBef>
            </a:pPr>
            <a:r>
              <a:rPr lang="zh-CN" altLang="en-US" sz="2000">
                <a:ea typeface="华文新魏" pitchFamily="2" charset="-122"/>
              </a:rPr>
              <a:t>查询方式接收一字节数据：</a:t>
            </a:r>
          </a:p>
        </p:txBody>
      </p:sp>
      <p:grpSp>
        <p:nvGrpSpPr>
          <p:cNvPr id="739335" name="Group 7"/>
          <p:cNvGrpSpPr>
            <a:grpSpLocks/>
          </p:cNvGrpSpPr>
          <p:nvPr/>
        </p:nvGrpSpPr>
        <p:grpSpPr bwMode="auto">
          <a:xfrm>
            <a:off x="2844800" y="2349500"/>
            <a:ext cx="7354889" cy="719138"/>
            <a:chOff x="975" y="1480"/>
            <a:chExt cx="4490" cy="453"/>
          </a:xfrm>
        </p:grpSpPr>
        <p:grpSp>
          <p:nvGrpSpPr>
            <p:cNvPr id="739336" name="Group 8"/>
            <p:cNvGrpSpPr>
              <a:grpSpLocks/>
            </p:cNvGrpSpPr>
            <p:nvPr/>
          </p:nvGrpSpPr>
          <p:grpSpPr bwMode="auto">
            <a:xfrm>
              <a:off x="975" y="1480"/>
              <a:ext cx="4490" cy="227"/>
              <a:chOff x="975" y="1480"/>
              <a:chExt cx="4490" cy="227"/>
            </a:xfrm>
          </p:grpSpPr>
          <p:sp>
            <p:nvSpPr>
              <p:cNvPr id="739337" name="AutoShape 9"/>
              <p:cNvSpPr>
                <a:spLocks noChangeArrowheads="1"/>
              </p:cNvSpPr>
              <p:nvPr/>
            </p:nvSpPr>
            <p:spPr bwMode="auto">
              <a:xfrm>
                <a:off x="975" y="1480"/>
                <a:ext cx="4490" cy="227"/>
              </a:xfrm>
              <a:prstGeom prst="roundRect">
                <a:avLst>
                  <a:gd name="adj" fmla="val 16667"/>
                </a:avLst>
              </a:prstGeom>
              <a:solidFill>
                <a:srgbClr val="FFCC99">
                  <a:alpha val="20000"/>
                </a:srgbClr>
              </a:solidFill>
              <a:ln w="12700" algn="ctr">
                <a:solidFill>
                  <a:srgbClr val="FF0000"/>
                </a:solidFill>
                <a:round/>
                <a:headEnd/>
                <a:tailEnd/>
              </a:ln>
              <a:effectLst/>
            </p:spPr>
            <p:txBody>
              <a:bodyPr wrap="none" anchor="ctr"/>
              <a:lstStyle/>
              <a:p>
                <a:endParaRPr lang="zh-CN" altLang="en-US"/>
              </a:p>
            </p:txBody>
          </p:sp>
          <p:sp>
            <p:nvSpPr>
              <p:cNvPr id="739338" name="AutoShape 10"/>
              <p:cNvSpPr>
                <a:spLocks noChangeArrowheads="1"/>
              </p:cNvSpPr>
              <p:nvPr/>
            </p:nvSpPr>
            <p:spPr bwMode="auto">
              <a:xfrm>
                <a:off x="3334" y="1480"/>
                <a:ext cx="2131" cy="227"/>
              </a:xfrm>
              <a:prstGeom prst="roundRect">
                <a:avLst>
                  <a:gd name="adj" fmla="val 16667"/>
                </a:avLst>
              </a:prstGeom>
              <a:solidFill>
                <a:srgbClr val="FFCC99"/>
              </a:solidFill>
              <a:ln w="12700" algn="ctr">
                <a:solidFill>
                  <a:srgbClr val="0000FF"/>
                </a:solidFill>
                <a:round/>
                <a:headEnd/>
                <a:tailEnd/>
              </a:ln>
              <a:effectLst/>
            </p:spPr>
            <p:txBody>
              <a:bodyPr wrap="none" anchor="ctr"/>
              <a:lstStyle/>
              <a:p>
                <a:r>
                  <a:rPr lang="zh-CN" altLang="en-US" sz="1600">
                    <a:latin typeface="Times New Roman" pitchFamily="18" charset="0"/>
                  </a:rPr>
                  <a:t>将要发送的一字节数据写入</a:t>
                </a:r>
                <a:r>
                  <a:rPr lang="en-US" altLang="zh-CN" sz="1600">
                    <a:latin typeface="Times New Roman" pitchFamily="18" charset="0"/>
                  </a:rPr>
                  <a:t>U0THR</a:t>
                </a:r>
              </a:p>
            </p:txBody>
          </p:sp>
        </p:grpSp>
        <p:grpSp>
          <p:nvGrpSpPr>
            <p:cNvPr id="739339" name="Group 11"/>
            <p:cNvGrpSpPr>
              <a:grpSpLocks/>
            </p:cNvGrpSpPr>
            <p:nvPr/>
          </p:nvGrpSpPr>
          <p:grpSpPr bwMode="auto">
            <a:xfrm>
              <a:off x="975" y="1706"/>
              <a:ext cx="4490" cy="227"/>
              <a:chOff x="975" y="1706"/>
              <a:chExt cx="4490" cy="227"/>
            </a:xfrm>
          </p:grpSpPr>
          <p:sp>
            <p:nvSpPr>
              <p:cNvPr id="739340" name="AutoShape 12"/>
              <p:cNvSpPr>
                <a:spLocks noChangeArrowheads="1"/>
              </p:cNvSpPr>
              <p:nvPr/>
            </p:nvSpPr>
            <p:spPr bwMode="auto">
              <a:xfrm>
                <a:off x="975" y="1706"/>
                <a:ext cx="4490" cy="227"/>
              </a:xfrm>
              <a:prstGeom prst="roundRect">
                <a:avLst>
                  <a:gd name="adj" fmla="val 16667"/>
                </a:avLst>
              </a:prstGeom>
              <a:solidFill>
                <a:srgbClr val="99CCFF">
                  <a:alpha val="20000"/>
                </a:srgbClr>
              </a:solidFill>
              <a:ln w="12700" algn="ctr">
                <a:solidFill>
                  <a:srgbClr val="FF0000"/>
                </a:solidFill>
                <a:round/>
                <a:headEnd/>
                <a:tailEnd/>
              </a:ln>
              <a:effectLst/>
            </p:spPr>
            <p:txBody>
              <a:bodyPr wrap="none" anchor="ctr"/>
              <a:lstStyle/>
              <a:p>
                <a:endParaRPr lang="zh-CN" altLang="en-US"/>
              </a:p>
            </p:txBody>
          </p:sp>
          <p:sp>
            <p:nvSpPr>
              <p:cNvPr id="739341" name="AutoShape 13"/>
              <p:cNvSpPr>
                <a:spLocks noChangeArrowheads="1"/>
              </p:cNvSpPr>
              <p:nvPr/>
            </p:nvSpPr>
            <p:spPr bwMode="auto">
              <a:xfrm>
                <a:off x="3334" y="1706"/>
                <a:ext cx="2131" cy="227"/>
              </a:xfrm>
              <a:prstGeom prst="roundRect">
                <a:avLst>
                  <a:gd name="adj" fmla="val 16667"/>
                </a:avLst>
              </a:prstGeom>
              <a:solidFill>
                <a:srgbClr val="99CCFF"/>
              </a:solidFill>
              <a:ln w="12700" algn="ctr">
                <a:solidFill>
                  <a:srgbClr val="0000FF"/>
                </a:solidFill>
                <a:round/>
                <a:headEnd/>
                <a:tailEnd/>
              </a:ln>
              <a:effectLst/>
            </p:spPr>
            <p:txBody>
              <a:bodyPr wrap="none" anchor="ctr"/>
              <a:lstStyle/>
              <a:p>
                <a:r>
                  <a:rPr lang="zh-CN" altLang="en-US" sz="1600">
                    <a:latin typeface="Times New Roman" pitchFamily="18" charset="0"/>
                  </a:rPr>
                  <a:t>等待数据发送完毕</a:t>
                </a:r>
              </a:p>
            </p:txBody>
          </p:sp>
        </p:grpSp>
      </p:grpSp>
      <p:grpSp>
        <p:nvGrpSpPr>
          <p:cNvPr id="739342" name="Group 14"/>
          <p:cNvGrpSpPr>
            <a:grpSpLocks/>
          </p:cNvGrpSpPr>
          <p:nvPr/>
        </p:nvGrpSpPr>
        <p:grpSpPr bwMode="auto">
          <a:xfrm>
            <a:off x="2844800" y="4941888"/>
            <a:ext cx="7354889" cy="1079500"/>
            <a:chOff x="975" y="3249"/>
            <a:chExt cx="4490" cy="680"/>
          </a:xfrm>
        </p:grpSpPr>
        <p:grpSp>
          <p:nvGrpSpPr>
            <p:cNvPr id="739343" name="Group 15"/>
            <p:cNvGrpSpPr>
              <a:grpSpLocks/>
            </p:cNvGrpSpPr>
            <p:nvPr/>
          </p:nvGrpSpPr>
          <p:grpSpPr bwMode="auto">
            <a:xfrm>
              <a:off x="975" y="3249"/>
              <a:ext cx="4490" cy="227"/>
              <a:chOff x="975" y="3249"/>
              <a:chExt cx="4490" cy="227"/>
            </a:xfrm>
          </p:grpSpPr>
          <p:sp>
            <p:nvSpPr>
              <p:cNvPr id="739344" name="AutoShape 16"/>
              <p:cNvSpPr>
                <a:spLocks noChangeArrowheads="1"/>
              </p:cNvSpPr>
              <p:nvPr/>
            </p:nvSpPr>
            <p:spPr bwMode="auto">
              <a:xfrm>
                <a:off x="975" y="3249"/>
                <a:ext cx="4490" cy="227"/>
              </a:xfrm>
              <a:prstGeom prst="roundRect">
                <a:avLst>
                  <a:gd name="adj" fmla="val 16667"/>
                </a:avLst>
              </a:prstGeom>
              <a:solidFill>
                <a:srgbClr val="FFCC99">
                  <a:alpha val="20000"/>
                </a:srgbClr>
              </a:solidFill>
              <a:ln w="12700" algn="ctr">
                <a:solidFill>
                  <a:srgbClr val="FF0000"/>
                </a:solidFill>
                <a:round/>
                <a:headEnd/>
                <a:tailEnd/>
              </a:ln>
              <a:effectLst/>
            </p:spPr>
            <p:txBody>
              <a:bodyPr wrap="none" anchor="ctr"/>
              <a:lstStyle/>
              <a:p>
                <a:endParaRPr lang="zh-CN" altLang="en-US"/>
              </a:p>
            </p:txBody>
          </p:sp>
          <p:sp>
            <p:nvSpPr>
              <p:cNvPr id="739345" name="AutoShape 17"/>
              <p:cNvSpPr>
                <a:spLocks noChangeArrowheads="1"/>
              </p:cNvSpPr>
              <p:nvPr/>
            </p:nvSpPr>
            <p:spPr bwMode="auto">
              <a:xfrm>
                <a:off x="3334" y="3249"/>
                <a:ext cx="2131" cy="227"/>
              </a:xfrm>
              <a:prstGeom prst="roundRect">
                <a:avLst>
                  <a:gd name="adj" fmla="val 16667"/>
                </a:avLst>
              </a:prstGeom>
              <a:solidFill>
                <a:srgbClr val="FFCC99"/>
              </a:solidFill>
              <a:ln w="12700" algn="ctr">
                <a:solidFill>
                  <a:srgbClr val="0000FF"/>
                </a:solidFill>
                <a:round/>
                <a:headEnd/>
                <a:tailEnd/>
              </a:ln>
              <a:effectLst/>
            </p:spPr>
            <p:txBody>
              <a:bodyPr wrap="none" anchor="ctr"/>
              <a:lstStyle/>
              <a:p>
                <a:r>
                  <a:rPr lang="zh-CN" altLang="en-US" sz="1600">
                    <a:latin typeface="Times New Roman" pitchFamily="18" charset="0"/>
                  </a:rPr>
                  <a:t>等待数据到达</a:t>
                </a:r>
              </a:p>
            </p:txBody>
          </p:sp>
        </p:grpSp>
        <p:grpSp>
          <p:nvGrpSpPr>
            <p:cNvPr id="739346" name="Group 18"/>
            <p:cNvGrpSpPr>
              <a:grpSpLocks/>
            </p:cNvGrpSpPr>
            <p:nvPr/>
          </p:nvGrpSpPr>
          <p:grpSpPr bwMode="auto">
            <a:xfrm>
              <a:off x="975" y="3475"/>
              <a:ext cx="4490" cy="227"/>
              <a:chOff x="975" y="3475"/>
              <a:chExt cx="4490" cy="227"/>
            </a:xfrm>
          </p:grpSpPr>
          <p:sp>
            <p:nvSpPr>
              <p:cNvPr id="739347" name="AutoShape 19"/>
              <p:cNvSpPr>
                <a:spLocks noChangeArrowheads="1"/>
              </p:cNvSpPr>
              <p:nvPr/>
            </p:nvSpPr>
            <p:spPr bwMode="auto">
              <a:xfrm>
                <a:off x="975" y="3475"/>
                <a:ext cx="4490" cy="227"/>
              </a:xfrm>
              <a:prstGeom prst="roundRect">
                <a:avLst>
                  <a:gd name="adj" fmla="val 16667"/>
                </a:avLst>
              </a:prstGeom>
              <a:solidFill>
                <a:srgbClr val="99CCFF">
                  <a:alpha val="20000"/>
                </a:srgbClr>
              </a:solidFill>
              <a:ln w="12700" algn="ctr">
                <a:solidFill>
                  <a:srgbClr val="FF0000"/>
                </a:solidFill>
                <a:round/>
                <a:headEnd/>
                <a:tailEnd/>
              </a:ln>
              <a:effectLst/>
            </p:spPr>
            <p:txBody>
              <a:bodyPr wrap="none" anchor="ctr"/>
              <a:lstStyle/>
              <a:p>
                <a:endParaRPr lang="zh-CN" altLang="en-US"/>
              </a:p>
            </p:txBody>
          </p:sp>
          <p:sp>
            <p:nvSpPr>
              <p:cNvPr id="739348" name="AutoShape 20"/>
              <p:cNvSpPr>
                <a:spLocks noChangeArrowheads="1"/>
              </p:cNvSpPr>
              <p:nvPr/>
            </p:nvSpPr>
            <p:spPr bwMode="auto">
              <a:xfrm>
                <a:off x="3334" y="3475"/>
                <a:ext cx="2131" cy="227"/>
              </a:xfrm>
              <a:prstGeom prst="roundRect">
                <a:avLst>
                  <a:gd name="adj" fmla="val 16667"/>
                </a:avLst>
              </a:prstGeom>
              <a:solidFill>
                <a:srgbClr val="99CCFF"/>
              </a:solidFill>
              <a:ln w="12700" algn="ctr">
                <a:solidFill>
                  <a:srgbClr val="0000FF"/>
                </a:solidFill>
                <a:round/>
                <a:headEnd/>
                <a:tailEnd/>
              </a:ln>
              <a:effectLst/>
            </p:spPr>
            <p:txBody>
              <a:bodyPr wrap="none" anchor="ctr"/>
              <a:lstStyle/>
              <a:p>
                <a:r>
                  <a:rPr lang="zh-CN" altLang="en-US" sz="1600">
                    <a:latin typeface="Times New Roman" pitchFamily="18" charset="0"/>
                  </a:rPr>
                  <a:t>从</a:t>
                </a:r>
                <a:r>
                  <a:rPr lang="en-US" altLang="zh-CN" sz="1600">
                    <a:latin typeface="Times New Roman" pitchFamily="18" charset="0"/>
                  </a:rPr>
                  <a:t>U0RBR</a:t>
                </a:r>
                <a:r>
                  <a:rPr lang="zh-CN" altLang="en-US" sz="1600">
                    <a:latin typeface="Times New Roman" pitchFamily="18" charset="0"/>
                  </a:rPr>
                  <a:t>中读出接收的数据</a:t>
                </a:r>
              </a:p>
            </p:txBody>
          </p:sp>
        </p:grpSp>
        <p:grpSp>
          <p:nvGrpSpPr>
            <p:cNvPr id="739349" name="Group 21"/>
            <p:cNvGrpSpPr>
              <a:grpSpLocks/>
            </p:cNvGrpSpPr>
            <p:nvPr/>
          </p:nvGrpSpPr>
          <p:grpSpPr bwMode="auto">
            <a:xfrm>
              <a:off x="975" y="3702"/>
              <a:ext cx="4490" cy="227"/>
              <a:chOff x="975" y="3702"/>
              <a:chExt cx="4490" cy="227"/>
            </a:xfrm>
          </p:grpSpPr>
          <p:sp>
            <p:nvSpPr>
              <p:cNvPr id="739350" name="AutoShape 22"/>
              <p:cNvSpPr>
                <a:spLocks noChangeArrowheads="1"/>
              </p:cNvSpPr>
              <p:nvPr/>
            </p:nvSpPr>
            <p:spPr bwMode="auto">
              <a:xfrm>
                <a:off x="975" y="3702"/>
                <a:ext cx="4490" cy="227"/>
              </a:xfrm>
              <a:prstGeom prst="roundRect">
                <a:avLst>
                  <a:gd name="adj" fmla="val 16667"/>
                </a:avLst>
              </a:prstGeom>
              <a:solidFill>
                <a:srgbClr val="FFCC99">
                  <a:alpha val="20000"/>
                </a:srgbClr>
              </a:solidFill>
              <a:ln w="12700" algn="ctr">
                <a:solidFill>
                  <a:srgbClr val="FF0000"/>
                </a:solidFill>
                <a:round/>
                <a:headEnd/>
                <a:tailEnd/>
              </a:ln>
              <a:effectLst/>
            </p:spPr>
            <p:txBody>
              <a:bodyPr wrap="none" anchor="ctr"/>
              <a:lstStyle/>
              <a:p>
                <a:endParaRPr lang="zh-CN" altLang="en-US"/>
              </a:p>
            </p:txBody>
          </p:sp>
          <p:sp>
            <p:nvSpPr>
              <p:cNvPr id="739351" name="AutoShape 23"/>
              <p:cNvSpPr>
                <a:spLocks noChangeArrowheads="1"/>
              </p:cNvSpPr>
              <p:nvPr/>
            </p:nvSpPr>
            <p:spPr bwMode="auto">
              <a:xfrm>
                <a:off x="3334" y="3702"/>
                <a:ext cx="2131" cy="227"/>
              </a:xfrm>
              <a:prstGeom prst="roundRect">
                <a:avLst>
                  <a:gd name="adj" fmla="val 16667"/>
                </a:avLst>
              </a:prstGeom>
              <a:solidFill>
                <a:srgbClr val="FFCC99"/>
              </a:solidFill>
              <a:ln w="12700" algn="ctr">
                <a:solidFill>
                  <a:srgbClr val="0000FF"/>
                </a:solidFill>
                <a:round/>
                <a:headEnd/>
                <a:tailEnd/>
              </a:ln>
              <a:effectLst/>
            </p:spPr>
            <p:txBody>
              <a:bodyPr wrap="none" anchor="ctr"/>
              <a:lstStyle/>
              <a:p>
                <a:r>
                  <a:rPr lang="zh-CN" altLang="en-US" sz="1600">
                    <a:latin typeface="Times New Roman" pitchFamily="18" charset="0"/>
                  </a:rPr>
                  <a:t>返回接收的数据</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39330"/>
                                        </p:tgtEl>
                                        <p:attrNameLst>
                                          <p:attrName>style.visibility</p:attrName>
                                        </p:attrNameLst>
                                      </p:cBhvr>
                                      <p:to>
                                        <p:strVal val="visible"/>
                                      </p:to>
                                    </p:set>
                                    <p:anim calcmode="lin" valueType="num">
                                      <p:cBhvr additive="base">
                                        <p:cTn id="7" dur="500" fill="hold"/>
                                        <p:tgtEl>
                                          <p:spTgt spid="739330"/>
                                        </p:tgtEl>
                                        <p:attrNameLst>
                                          <p:attrName>ppt_x</p:attrName>
                                        </p:attrNameLst>
                                      </p:cBhvr>
                                      <p:tavLst>
                                        <p:tav tm="0">
                                          <p:val>
                                            <p:strVal val="1+#ppt_w/2"/>
                                          </p:val>
                                        </p:tav>
                                        <p:tav tm="100000">
                                          <p:val>
                                            <p:strVal val="#ppt_x"/>
                                          </p:val>
                                        </p:tav>
                                      </p:tavLst>
                                    </p:anim>
                                    <p:anim calcmode="lin" valueType="num">
                                      <p:cBhvr additive="base">
                                        <p:cTn id="8" dur="500" fill="hold"/>
                                        <p:tgtEl>
                                          <p:spTgt spid="73933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739333"/>
                                        </p:tgtEl>
                                        <p:attrNameLst>
                                          <p:attrName>style.visibility</p:attrName>
                                        </p:attrNameLst>
                                      </p:cBhvr>
                                      <p:to>
                                        <p:strVal val="visible"/>
                                      </p:to>
                                    </p:set>
                                    <p:anim calcmode="lin" valueType="num">
                                      <p:cBhvr additive="base">
                                        <p:cTn id="12" dur="500" fill="hold"/>
                                        <p:tgtEl>
                                          <p:spTgt spid="739333"/>
                                        </p:tgtEl>
                                        <p:attrNameLst>
                                          <p:attrName>ppt_x</p:attrName>
                                        </p:attrNameLst>
                                      </p:cBhvr>
                                      <p:tavLst>
                                        <p:tav tm="0">
                                          <p:val>
                                            <p:strVal val="0-#ppt_w/2"/>
                                          </p:val>
                                        </p:tav>
                                        <p:tav tm="100000">
                                          <p:val>
                                            <p:strVal val="#ppt_x"/>
                                          </p:val>
                                        </p:tav>
                                      </p:tavLst>
                                    </p:anim>
                                    <p:anim calcmode="lin" valueType="num">
                                      <p:cBhvr additive="base">
                                        <p:cTn id="13" dur="500" fill="hold"/>
                                        <p:tgtEl>
                                          <p:spTgt spid="73933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2" presetClass="entr" presetSubtype="1" fill="hold" grpId="0" nodeType="afterEffect">
                                  <p:stCondLst>
                                    <p:cond delay="0"/>
                                  </p:stCondLst>
                                  <p:childTnLst>
                                    <p:set>
                                      <p:cBhvr>
                                        <p:cTn id="16" dur="1" fill="hold">
                                          <p:stCondLst>
                                            <p:cond delay="0"/>
                                          </p:stCondLst>
                                        </p:cTn>
                                        <p:tgtEl>
                                          <p:spTgt spid="739331"/>
                                        </p:tgtEl>
                                        <p:attrNameLst>
                                          <p:attrName>style.visibility</p:attrName>
                                        </p:attrNameLst>
                                      </p:cBhvr>
                                      <p:to>
                                        <p:strVal val="visible"/>
                                      </p:to>
                                    </p:set>
                                    <p:animEffect transition="in" filter="slide(fromTop)">
                                      <p:cBhvr>
                                        <p:cTn id="17" dur="500"/>
                                        <p:tgtEl>
                                          <p:spTgt spid="739331"/>
                                        </p:tgtEl>
                                      </p:cBhvr>
                                    </p:animEffect>
                                  </p:childTnLst>
                                </p:cTn>
                              </p:par>
                            </p:childTnLst>
                          </p:cTn>
                        </p:par>
                        <p:par>
                          <p:cTn id="18" fill="hold">
                            <p:stCondLst>
                              <p:cond delay="1500"/>
                            </p:stCondLst>
                            <p:childTnLst>
                              <p:par>
                                <p:cTn id="19" presetID="2" presetClass="entr" presetSubtype="8" fill="hold" grpId="0" nodeType="afterEffect">
                                  <p:stCondLst>
                                    <p:cond delay="0"/>
                                  </p:stCondLst>
                                  <p:childTnLst>
                                    <p:set>
                                      <p:cBhvr>
                                        <p:cTn id="20" dur="1" fill="hold">
                                          <p:stCondLst>
                                            <p:cond delay="0"/>
                                          </p:stCondLst>
                                        </p:cTn>
                                        <p:tgtEl>
                                          <p:spTgt spid="739334"/>
                                        </p:tgtEl>
                                        <p:attrNameLst>
                                          <p:attrName>style.visibility</p:attrName>
                                        </p:attrNameLst>
                                      </p:cBhvr>
                                      <p:to>
                                        <p:strVal val="visible"/>
                                      </p:to>
                                    </p:set>
                                    <p:anim calcmode="lin" valueType="num">
                                      <p:cBhvr additive="base">
                                        <p:cTn id="21" dur="500" fill="hold"/>
                                        <p:tgtEl>
                                          <p:spTgt spid="739334"/>
                                        </p:tgtEl>
                                        <p:attrNameLst>
                                          <p:attrName>ppt_x</p:attrName>
                                        </p:attrNameLst>
                                      </p:cBhvr>
                                      <p:tavLst>
                                        <p:tav tm="0">
                                          <p:val>
                                            <p:strVal val="0-#ppt_w/2"/>
                                          </p:val>
                                        </p:tav>
                                        <p:tav tm="100000">
                                          <p:val>
                                            <p:strVal val="#ppt_x"/>
                                          </p:val>
                                        </p:tav>
                                      </p:tavLst>
                                    </p:anim>
                                    <p:anim calcmode="lin" valueType="num">
                                      <p:cBhvr additive="base">
                                        <p:cTn id="22" dur="500" fill="hold"/>
                                        <p:tgtEl>
                                          <p:spTgt spid="739334"/>
                                        </p:tgtEl>
                                        <p:attrNameLst>
                                          <p:attrName>ppt_y</p:attrName>
                                        </p:attrNameLst>
                                      </p:cBhvr>
                                      <p:tavLst>
                                        <p:tav tm="0">
                                          <p:val>
                                            <p:strVal val="#ppt_y"/>
                                          </p:val>
                                        </p:tav>
                                        <p:tav tm="100000">
                                          <p:val>
                                            <p:strVal val="#ppt_y"/>
                                          </p:val>
                                        </p:tav>
                                      </p:tavLst>
                                    </p:anim>
                                  </p:childTnLst>
                                </p:cTn>
                              </p:par>
                            </p:childTnLst>
                          </p:cTn>
                        </p:par>
                        <p:par>
                          <p:cTn id="23" fill="hold">
                            <p:stCondLst>
                              <p:cond delay="2000"/>
                            </p:stCondLst>
                            <p:childTnLst>
                              <p:par>
                                <p:cTn id="24" presetID="12" presetClass="entr" presetSubtype="1" fill="hold" grpId="0" nodeType="afterEffect">
                                  <p:stCondLst>
                                    <p:cond delay="0"/>
                                  </p:stCondLst>
                                  <p:childTnLst>
                                    <p:set>
                                      <p:cBhvr>
                                        <p:cTn id="25" dur="1" fill="hold">
                                          <p:stCondLst>
                                            <p:cond delay="0"/>
                                          </p:stCondLst>
                                        </p:cTn>
                                        <p:tgtEl>
                                          <p:spTgt spid="739332"/>
                                        </p:tgtEl>
                                        <p:attrNameLst>
                                          <p:attrName>style.visibility</p:attrName>
                                        </p:attrNameLst>
                                      </p:cBhvr>
                                      <p:to>
                                        <p:strVal val="visible"/>
                                      </p:to>
                                    </p:set>
                                    <p:animEffect transition="in" filter="slide(fromTop)">
                                      <p:cBhvr>
                                        <p:cTn id="26" dur="500"/>
                                        <p:tgtEl>
                                          <p:spTgt spid="73933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739335"/>
                                        </p:tgtEl>
                                        <p:attrNameLst>
                                          <p:attrName>style.visibility</p:attrName>
                                        </p:attrNameLst>
                                      </p:cBhvr>
                                      <p:to>
                                        <p:strVal val="visible"/>
                                      </p:to>
                                    </p:set>
                                    <p:animEffect transition="in" filter="wipe(right)">
                                      <p:cBhvr>
                                        <p:cTn id="31" dur="500"/>
                                        <p:tgtEl>
                                          <p:spTgt spid="739335"/>
                                        </p:tgtEl>
                                      </p:cBhvr>
                                    </p:animEffect>
                                  </p:childTnLst>
                                </p:cTn>
                              </p:par>
                            </p:childTnLst>
                          </p:cTn>
                        </p:par>
                        <p:par>
                          <p:cTn id="32" fill="hold">
                            <p:stCondLst>
                              <p:cond delay="500"/>
                            </p:stCondLst>
                            <p:childTnLst>
                              <p:par>
                                <p:cTn id="33" presetID="22" presetClass="entr" presetSubtype="2" fill="hold" nodeType="afterEffect">
                                  <p:stCondLst>
                                    <p:cond delay="0"/>
                                  </p:stCondLst>
                                  <p:childTnLst>
                                    <p:set>
                                      <p:cBhvr>
                                        <p:cTn id="34" dur="1" fill="hold">
                                          <p:stCondLst>
                                            <p:cond delay="0"/>
                                          </p:stCondLst>
                                        </p:cTn>
                                        <p:tgtEl>
                                          <p:spTgt spid="739342"/>
                                        </p:tgtEl>
                                        <p:attrNameLst>
                                          <p:attrName>style.visibility</p:attrName>
                                        </p:attrNameLst>
                                      </p:cBhvr>
                                      <p:to>
                                        <p:strVal val="visible"/>
                                      </p:to>
                                    </p:set>
                                    <p:animEffect transition="in" filter="wipe(right)">
                                      <p:cBhvr>
                                        <p:cTn id="35" dur="500"/>
                                        <p:tgtEl>
                                          <p:spTgt spid="739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9330" grpId="0"/>
      <p:bldP spid="739331" grpId="0" animBg="1"/>
      <p:bldP spid="739332" grpId="0" animBg="1"/>
      <p:bldP spid="739333" grpId="0"/>
      <p:bldP spid="739334"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354" name="Rectangle 2"/>
          <p:cNvSpPr>
            <a:spLocks noChangeArrowheads="1"/>
          </p:cNvSpPr>
          <p:nvPr/>
        </p:nvSpPr>
        <p:spPr bwMode="auto">
          <a:xfrm>
            <a:off x="2133600" y="647700"/>
            <a:ext cx="7772400" cy="1143000"/>
          </a:xfrm>
          <a:prstGeom prst="rect">
            <a:avLst/>
          </a:prstGeom>
          <a:noFill/>
          <a:ln w="9525">
            <a:noFill/>
            <a:miter lim="800000"/>
            <a:headEnd/>
            <a:tailEnd/>
          </a:ln>
          <a:effectLst/>
        </p:spPr>
        <p:txBody>
          <a:bodyPr anchor="ctr"/>
          <a:lstStyle/>
          <a:p>
            <a:r>
              <a:rPr lang="en-US" altLang="zh-CN" sz="4400">
                <a:solidFill>
                  <a:schemeClr val="tx2"/>
                </a:solidFill>
                <a:latin typeface="Times New Roman" pitchFamily="18" charset="0"/>
              </a:rPr>
              <a:t>UART</a:t>
            </a:r>
            <a:r>
              <a:rPr lang="zh-CN" altLang="en-US" sz="4400">
                <a:solidFill>
                  <a:schemeClr val="tx2"/>
                </a:solidFill>
                <a:latin typeface="Times New Roman" pitchFamily="18" charset="0"/>
              </a:rPr>
              <a:t>中断</a:t>
            </a:r>
          </a:p>
        </p:txBody>
      </p:sp>
      <p:sp>
        <p:nvSpPr>
          <p:cNvPr id="740355" name="Rectangle 3"/>
          <p:cNvSpPr>
            <a:spLocks noChangeArrowheads="1"/>
          </p:cNvSpPr>
          <p:nvPr/>
        </p:nvSpPr>
        <p:spPr bwMode="auto">
          <a:xfrm>
            <a:off x="2209800" y="17510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a:t>
            </a:r>
            <a:r>
              <a:rPr lang="zh-CN" altLang="en-US" sz="3200">
                <a:latin typeface="Times New Roman" pitchFamily="18" charset="0"/>
              </a:rPr>
              <a:t>与</a:t>
            </a:r>
            <a:r>
              <a:rPr lang="en-US" altLang="zh-CN" sz="3200">
                <a:latin typeface="Times New Roman" pitchFamily="18" charset="0"/>
              </a:rPr>
              <a:t>VIC</a:t>
            </a:r>
            <a:r>
              <a:rPr lang="zh-CN" altLang="en-US" sz="3200">
                <a:latin typeface="Times New Roman" pitchFamily="18" charset="0"/>
              </a:rPr>
              <a:t>的关系</a:t>
            </a:r>
          </a:p>
        </p:txBody>
      </p:sp>
      <p:sp>
        <p:nvSpPr>
          <p:cNvPr id="740356" name="Text Box 4"/>
          <p:cNvSpPr txBox="1">
            <a:spLocks noChangeArrowheads="1"/>
          </p:cNvSpPr>
          <p:nvPr/>
        </p:nvSpPr>
        <p:spPr bwMode="auto">
          <a:xfrm>
            <a:off x="1758951" y="2433639"/>
            <a:ext cx="8691563" cy="1200329"/>
          </a:xfrm>
          <a:prstGeom prst="rect">
            <a:avLst/>
          </a:prstGeom>
          <a:noFill/>
          <a:ln w="9525" algn="ctr">
            <a:noFill/>
            <a:miter lim="800000"/>
            <a:headEnd/>
            <a:tailEnd/>
          </a:ln>
          <a:effectLst/>
        </p:spPr>
        <p:txBody>
          <a:bodyPr>
            <a:spAutoFit/>
          </a:bodyPr>
          <a:lstStyle/>
          <a:p>
            <a:pPr algn="l"/>
            <a:r>
              <a:rPr lang="en-US" altLang="zh-CN" sz="2400">
                <a:latin typeface="Times New Roman" pitchFamily="18" charset="0"/>
                <a:ea typeface="华文新魏" pitchFamily="2" charset="-122"/>
              </a:rPr>
              <a:t>        UART0</a:t>
            </a:r>
            <a:r>
              <a:rPr lang="zh-CN" altLang="en-US" sz="2400">
                <a:latin typeface="Times New Roman" pitchFamily="18" charset="0"/>
                <a:ea typeface="华文新魏" pitchFamily="2" charset="-122"/>
              </a:rPr>
              <a:t>、</a:t>
            </a:r>
            <a:r>
              <a:rPr lang="en-US" altLang="zh-CN" sz="2400">
                <a:latin typeface="Times New Roman" pitchFamily="18" charset="0"/>
                <a:ea typeface="华文新魏" pitchFamily="2" charset="-122"/>
              </a:rPr>
              <a:t>UART1</a:t>
            </a:r>
            <a:r>
              <a:rPr lang="zh-CN" altLang="en-US" sz="2400">
                <a:latin typeface="Times New Roman" pitchFamily="18" charset="0"/>
                <a:ea typeface="华文新魏" pitchFamily="2" charset="-122"/>
              </a:rPr>
              <a:t>分别位于</a:t>
            </a:r>
            <a:r>
              <a:rPr lang="en-US" altLang="zh-CN" sz="2400">
                <a:latin typeface="Times New Roman" pitchFamily="18" charset="0"/>
                <a:ea typeface="华文新魏" pitchFamily="2" charset="-122"/>
              </a:rPr>
              <a:t>VIC</a:t>
            </a:r>
            <a:r>
              <a:rPr lang="zh-CN" altLang="en-US" sz="2400">
                <a:latin typeface="Times New Roman" pitchFamily="18" charset="0"/>
                <a:ea typeface="华文新魏" pitchFamily="2" charset="-122"/>
              </a:rPr>
              <a:t>的通道</a:t>
            </a:r>
            <a:r>
              <a:rPr lang="en-US" altLang="zh-CN" sz="2400">
                <a:latin typeface="Times New Roman" pitchFamily="18" charset="0"/>
                <a:ea typeface="华文新魏" pitchFamily="2" charset="-122"/>
              </a:rPr>
              <a:t>6</a:t>
            </a:r>
            <a:r>
              <a:rPr lang="zh-CN" altLang="en-US" sz="2400">
                <a:latin typeface="Times New Roman" pitchFamily="18" charset="0"/>
                <a:ea typeface="华文新魏" pitchFamily="2" charset="-122"/>
              </a:rPr>
              <a:t>和通道</a:t>
            </a:r>
            <a:r>
              <a:rPr lang="en-US" altLang="zh-CN" sz="2400">
                <a:latin typeface="Times New Roman" pitchFamily="18" charset="0"/>
                <a:ea typeface="华文新魏" pitchFamily="2" charset="-122"/>
              </a:rPr>
              <a:t>7</a:t>
            </a:r>
            <a:r>
              <a:rPr lang="zh-CN" altLang="en-US" sz="2400">
                <a:latin typeface="Times New Roman" pitchFamily="18" charset="0"/>
                <a:ea typeface="华文新魏" pitchFamily="2" charset="-122"/>
              </a:rPr>
              <a:t>。中断使能寄存器</a:t>
            </a:r>
            <a:r>
              <a:rPr lang="en-US" altLang="zh-CN" sz="2400">
                <a:latin typeface="Times New Roman" pitchFamily="18" charset="0"/>
                <a:ea typeface="华文新魏" pitchFamily="2" charset="-122"/>
              </a:rPr>
              <a:t>VICIntEnable</a:t>
            </a:r>
            <a:r>
              <a:rPr lang="zh-CN" altLang="en-US" sz="2400">
                <a:latin typeface="Times New Roman" pitchFamily="18" charset="0"/>
                <a:ea typeface="华文新魏" pitchFamily="2" charset="-122"/>
              </a:rPr>
              <a:t>的</a:t>
            </a:r>
            <a:r>
              <a:rPr lang="en-US" altLang="zh-CN" sz="2400">
                <a:latin typeface="Times New Roman" pitchFamily="18" charset="0"/>
                <a:ea typeface="华文新魏" pitchFamily="2" charset="-122"/>
              </a:rPr>
              <a:t>Bit6</a:t>
            </a:r>
            <a:r>
              <a:rPr lang="zh-CN" altLang="en-US" sz="2400">
                <a:latin typeface="Times New Roman" pitchFamily="18" charset="0"/>
                <a:ea typeface="华文新魏" pitchFamily="2" charset="-122"/>
              </a:rPr>
              <a:t>和</a:t>
            </a:r>
            <a:r>
              <a:rPr lang="en-US" altLang="zh-CN" sz="2400">
                <a:latin typeface="Times New Roman" pitchFamily="18" charset="0"/>
                <a:ea typeface="华文新魏" pitchFamily="2" charset="-122"/>
              </a:rPr>
              <a:t>Bit7</a:t>
            </a:r>
            <a:r>
              <a:rPr lang="zh-CN" altLang="en-US" sz="2400">
                <a:latin typeface="Times New Roman" pitchFamily="18" charset="0"/>
                <a:ea typeface="华文新魏" pitchFamily="2" charset="-122"/>
              </a:rPr>
              <a:t>分别用来控制通道</a:t>
            </a:r>
            <a:r>
              <a:rPr lang="en-US" altLang="zh-CN" sz="2400">
                <a:latin typeface="Times New Roman" pitchFamily="18" charset="0"/>
                <a:ea typeface="华文新魏" pitchFamily="2" charset="-122"/>
              </a:rPr>
              <a:t>6</a:t>
            </a:r>
            <a:r>
              <a:rPr lang="zh-CN" altLang="en-US" sz="2400">
                <a:latin typeface="Times New Roman" pitchFamily="18" charset="0"/>
                <a:ea typeface="华文新魏" pitchFamily="2" charset="-122"/>
              </a:rPr>
              <a:t>和通道</a:t>
            </a:r>
            <a:r>
              <a:rPr lang="en-US" altLang="zh-CN" sz="2400">
                <a:latin typeface="Times New Roman" pitchFamily="18" charset="0"/>
                <a:ea typeface="华文新魏" pitchFamily="2" charset="-122"/>
              </a:rPr>
              <a:t>7</a:t>
            </a:r>
            <a:r>
              <a:rPr lang="zh-CN" altLang="en-US" sz="2400">
                <a:latin typeface="Times New Roman" pitchFamily="18" charset="0"/>
                <a:ea typeface="华文新魏" pitchFamily="2" charset="-122"/>
              </a:rPr>
              <a:t>的使能。      </a:t>
            </a:r>
          </a:p>
        </p:txBody>
      </p:sp>
      <p:grpSp>
        <p:nvGrpSpPr>
          <p:cNvPr id="740357" name="Group 5"/>
          <p:cNvGrpSpPr>
            <a:grpSpLocks/>
          </p:cNvGrpSpPr>
          <p:nvPr/>
        </p:nvGrpSpPr>
        <p:grpSpPr bwMode="auto">
          <a:xfrm>
            <a:off x="2139951" y="3916363"/>
            <a:ext cx="7483475" cy="2106612"/>
            <a:chOff x="356" y="2483"/>
            <a:chExt cx="4714" cy="1327"/>
          </a:xfrm>
        </p:grpSpPr>
        <p:sp>
          <p:nvSpPr>
            <p:cNvPr id="740358" name="Rectangle 6"/>
            <p:cNvSpPr>
              <a:spLocks noChangeArrowheads="1"/>
            </p:cNvSpPr>
            <p:nvPr/>
          </p:nvSpPr>
          <p:spPr bwMode="auto">
            <a:xfrm>
              <a:off x="2235" y="2749"/>
              <a:ext cx="492" cy="33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740359" name="Rectangle 7"/>
            <p:cNvSpPr>
              <a:spLocks noChangeArrowheads="1"/>
            </p:cNvSpPr>
            <p:nvPr/>
          </p:nvSpPr>
          <p:spPr bwMode="auto">
            <a:xfrm>
              <a:off x="1599" y="2791"/>
              <a:ext cx="330" cy="264"/>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740360" name="Rectangle 8"/>
            <p:cNvSpPr>
              <a:spLocks noChangeArrowheads="1"/>
            </p:cNvSpPr>
            <p:nvPr/>
          </p:nvSpPr>
          <p:spPr bwMode="auto">
            <a:xfrm>
              <a:off x="1039" y="2816"/>
              <a:ext cx="432" cy="232"/>
            </a:xfrm>
            <a:prstGeom prst="rect">
              <a:avLst/>
            </a:prstGeom>
            <a:solidFill>
              <a:srgbClr val="FFCC99"/>
            </a:solidFill>
            <a:ln w="9525" algn="ctr">
              <a:solidFill>
                <a:schemeClr val="tx1"/>
              </a:solidFill>
              <a:miter lim="800000"/>
              <a:headEnd/>
              <a:tailEnd/>
            </a:ln>
            <a:effectLst/>
          </p:spPr>
          <p:txBody>
            <a:bodyPr wrap="none" anchor="ctr"/>
            <a:lstStyle/>
            <a:p>
              <a:r>
                <a:rPr lang="zh-CN" altLang="en-US" sz="1200">
                  <a:latin typeface="Arial" charset="0"/>
                </a:rPr>
                <a:t>通道</a:t>
              </a:r>
              <a:r>
                <a:rPr lang="en-US" altLang="zh-CN" sz="1200">
                  <a:latin typeface="Arial" charset="0"/>
                </a:rPr>
                <a:t>6</a:t>
              </a:r>
            </a:p>
          </p:txBody>
        </p:sp>
        <p:sp>
          <p:nvSpPr>
            <p:cNvPr id="740361" name="Text Box 9"/>
            <p:cNvSpPr txBox="1">
              <a:spLocks noChangeArrowheads="1"/>
            </p:cNvSpPr>
            <p:nvPr/>
          </p:nvSpPr>
          <p:spPr bwMode="auto">
            <a:xfrm>
              <a:off x="356" y="2840"/>
              <a:ext cx="497"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UART0</a:t>
              </a:r>
            </a:p>
          </p:txBody>
        </p:sp>
        <p:sp>
          <p:nvSpPr>
            <p:cNvPr id="740362" name="Text Box 10"/>
            <p:cNvSpPr txBox="1">
              <a:spLocks noChangeArrowheads="1"/>
            </p:cNvSpPr>
            <p:nvPr/>
          </p:nvSpPr>
          <p:spPr bwMode="auto">
            <a:xfrm>
              <a:off x="4191" y="2680"/>
              <a:ext cx="762" cy="173"/>
            </a:xfrm>
            <a:prstGeom prst="rect">
              <a:avLst/>
            </a:prstGeom>
            <a:noFill/>
            <a:ln w="9525" algn="ctr">
              <a:noFill/>
              <a:miter lim="800000"/>
              <a:headEnd/>
              <a:tailEnd/>
            </a:ln>
            <a:effectLst/>
          </p:spPr>
          <p:txBody>
            <a:bodyPr>
              <a:spAutoFit/>
            </a:bodyPr>
            <a:lstStyle/>
            <a:p>
              <a:r>
                <a:rPr lang="zh-CN" altLang="en-US" sz="1200">
                  <a:latin typeface="Times New Roman" pitchFamily="18" charset="0"/>
                </a:rPr>
                <a:t>向量</a:t>
              </a:r>
              <a:r>
                <a:rPr lang="en-US" altLang="zh-CN" sz="1200">
                  <a:latin typeface="Times New Roman" pitchFamily="18" charset="0"/>
                </a:rPr>
                <a:t>IRQ</a:t>
              </a:r>
              <a:r>
                <a:rPr lang="zh-CN" altLang="en-US" sz="1200">
                  <a:latin typeface="Times New Roman" pitchFamily="18" charset="0"/>
                </a:rPr>
                <a:t>通道</a:t>
              </a:r>
              <a:r>
                <a:rPr lang="en-US" altLang="zh-CN" sz="1200">
                  <a:latin typeface="Times New Roman" pitchFamily="18" charset="0"/>
                </a:rPr>
                <a:t>0</a:t>
              </a:r>
            </a:p>
          </p:txBody>
        </p:sp>
        <p:sp>
          <p:nvSpPr>
            <p:cNvPr id="740363" name="Text Box 11"/>
            <p:cNvSpPr txBox="1">
              <a:spLocks noChangeArrowheads="1"/>
            </p:cNvSpPr>
            <p:nvPr/>
          </p:nvSpPr>
          <p:spPr bwMode="auto">
            <a:xfrm>
              <a:off x="4191" y="3218"/>
              <a:ext cx="818" cy="173"/>
            </a:xfrm>
            <a:prstGeom prst="rect">
              <a:avLst/>
            </a:prstGeom>
            <a:noFill/>
            <a:ln w="9525" algn="ctr">
              <a:noFill/>
              <a:miter lim="800000"/>
              <a:headEnd/>
              <a:tailEnd/>
            </a:ln>
            <a:effectLst/>
          </p:spPr>
          <p:txBody>
            <a:bodyPr>
              <a:spAutoFit/>
            </a:bodyPr>
            <a:lstStyle/>
            <a:p>
              <a:r>
                <a:rPr lang="zh-CN" altLang="en-US" sz="1200">
                  <a:latin typeface="Times New Roman" pitchFamily="18" charset="0"/>
                </a:rPr>
                <a:t>向量</a:t>
              </a:r>
              <a:r>
                <a:rPr lang="en-US" altLang="zh-CN" sz="1200">
                  <a:latin typeface="Times New Roman" pitchFamily="18" charset="0"/>
                </a:rPr>
                <a:t>IRQ</a:t>
              </a:r>
              <a:r>
                <a:rPr lang="zh-CN" altLang="en-US" sz="1200">
                  <a:latin typeface="Times New Roman" pitchFamily="18" charset="0"/>
                </a:rPr>
                <a:t>通道</a:t>
              </a:r>
              <a:r>
                <a:rPr lang="en-US" altLang="zh-CN" sz="1200">
                  <a:latin typeface="Times New Roman" pitchFamily="18" charset="0"/>
                </a:rPr>
                <a:t>15</a:t>
              </a:r>
            </a:p>
          </p:txBody>
        </p:sp>
        <p:sp>
          <p:nvSpPr>
            <p:cNvPr id="740364" name="Text Box 12"/>
            <p:cNvSpPr txBox="1">
              <a:spLocks noChangeArrowheads="1"/>
            </p:cNvSpPr>
            <p:nvPr/>
          </p:nvSpPr>
          <p:spPr bwMode="auto">
            <a:xfrm>
              <a:off x="4191" y="3576"/>
              <a:ext cx="807" cy="173"/>
            </a:xfrm>
            <a:prstGeom prst="rect">
              <a:avLst/>
            </a:prstGeom>
            <a:noFill/>
            <a:ln w="9525" algn="ctr">
              <a:noFill/>
              <a:miter lim="800000"/>
              <a:headEnd/>
              <a:tailEnd/>
            </a:ln>
            <a:effectLst/>
          </p:spPr>
          <p:txBody>
            <a:bodyPr>
              <a:spAutoFit/>
            </a:bodyPr>
            <a:lstStyle/>
            <a:p>
              <a:r>
                <a:rPr lang="zh-CN" altLang="en-US" sz="1200">
                  <a:latin typeface="Times New Roman" pitchFamily="18" charset="0"/>
                </a:rPr>
                <a:t>非向量</a:t>
              </a:r>
              <a:r>
                <a:rPr lang="en-US" altLang="zh-CN" sz="1200">
                  <a:latin typeface="Times New Roman" pitchFamily="18" charset="0"/>
                </a:rPr>
                <a:t>IRQ</a:t>
              </a:r>
              <a:r>
                <a:rPr lang="zh-CN" altLang="en-US" sz="1200">
                  <a:latin typeface="Times New Roman" pitchFamily="18" charset="0"/>
                </a:rPr>
                <a:t>通道</a:t>
              </a:r>
            </a:p>
          </p:txBody>
        </p:sp>
        <p:sp>
          <p:nvSpPr>
            <p:cNvPr id="740365" name="Line 13"/>
            <p:cNvSpPr>
              <a:spLocks noChangeShapeType="1"/>
            </p:cNvSpPr>
            <p:nvPr/>
          </p:nvSpPr>
          <p:spPr bwMode="auto">
            <a:xfrm>
              <a:off x="4182" y="2849"/>
              <a:ext cx="88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0366" name="Line 14"/>
            <p:cNvSpPr>
              <a:spLocks noChangeShapeType="1"/>
            </p:cNvSpPr>
            <p:nvPr/>
          </p:nvSpPr>
          <p:spPr bwMode="auto">
            <a:xfrm>
              <a:off x="4192" y="3381"/>
              <a:ext cx="84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0367" name="Line 15"/>
            <p:cNvSpPr>
              <a:spLocks noChangeShapeType="1"/>
            </p:cNvSpPr>
            <p:nvPr/>
          </p:nvSpPr>
          <p:spPr bwMode="auto">
            <a:xfrm>
              <a:off x="4198" y="3727"/>
              <a:ext cx="842"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0368" name="Line 16"/>
            <p:cNvSpPr>
              <a:spLocks noChangeShapeType="1"/>
            </p:cNvSpPr>
            <p:nvPr/>
          </p:nvSpPr>
          <p:spPr bwMode="auto">
            <a:xfrm>
              <a:off x="4620" y="2951"/>
              <a:ext cx="0" cy="216"/>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740369" name="Line 17"/>
            <p:cNvSpPr>
              <a:spLocks noChangeShapeType="1"/>
            </p:cNvSpPr>
            <p:nvPr/>
          </p:nvSpPr>
          <p:spPr bwMode="auto">
            <a:xfrm>
              <a:off x="1478" y="2929"/>
              <a:ext cx="182"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740370" name="Line 18"/>
            <p:cNvSpPr>
              <a:spLocks noChangeShapeType="1"/>
            </p:cNvSpPr>
            <p:nvPr/>
          </p:nvSpPr>
          <p:spPr bwMode="auto">
            <a:xfrm>
              <a:off x="839" y="2929"/>
              <a:ext cx="2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0371" name="Line 19"/>
            <p:cNvSpPr>
              <a:spLocks noChangeShapeType="1"/>
            </p:cNvSpPr>
            <p:nvPr/>
          </p:nvSpPr>
          <p:spPr bwMode="auto">
            <a:xfrm>
              <a:off x="1843" y="2930"/>
              <a:ext cx="512" cy="0"/>
            </a:xfrm>
            <a:prstGeom prst="line">
              <a:avLst/>
            </a:prstGeom>
            <a:noFill/>
            <a:ln w="9525">
              <a:solidFill>
                <a:schemeClr val="tx1"/>
              </a:solidFill>
              <a:round/>
              <a:headEnd type="oval" w="sm" len="sm"/>
              <a:tailEnd type="oval" w="sm" len="sm"/>
            </a:ln>
            <a:effectLst/>
          </p:spPr>
          <p:txBody>
            <a:bodyPr wrap="none" anchor="ctr"/>
            <a:lstStyle/>
            <a:p>
              <a:endParaRPr lang="zh-CN" altLang="en-US"/>
            </a:p>
          </p:txBody>
        </p:sp>
        <p:sp>
          <p:nvSpPr>
            <p:cNvPr id="740372" name="Line 20"/>
            <p:cNvSpPr>
              <a:spLocks noChangeShapeType="1"/>
            </p:cNvSpPr>
            <p:nvPr/>
          </p:nvSpPr>
          <p:spPr bwMode="auto">
            <a:xfrm>
              <a:off x="2613" y="2821"/>
              <a:ext cx="558"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740373" name="Line 21"/>
            <p:cNvSpPr>
              <a:spLocks noChangeShapeType="1"/>
            </p:cNvSpPr>
            <p:nvPr/>
          </p:nvSpPr>
          <p:spPr bwMode="auto">
            <a:xfrm>
              <a:off x="2613" y="3025"/>
              <a:ext cx="420"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740374" name="Line 22"/>
            <p:cNvSpPr>
              <a:spLocks noChangeShapeType="1"/>
            </p:cNvSpPr>
            <p:nvPr/>
          </p:nvSpPr>
          <p:spPr bwMode="auto">
            <a:xfrm flipV="1">
              <a:off x="2361" y="2789"/>
              <a:ext cx="266" cy="140"/>
            </a:xfrm>
            <a:prstGeom prst="line">
              <a:avLst/>
            </a:prstGeom>
            <a:noFill/>
            <a:ln w="9525">
              <a:solidFill>
                <a:schemeClr val="tx1"/>
              </a:solidFill>
              <a:round/>
              <a:headEnd/>
              <a:tailEnd/>
            </a:ln>
            <a:effectLst/>
          </p:spPr>
          <p:txBody>
            <a:bodyPr wrap="none" anchor="ctr"/>
            <a:lstStyle/>
            <a:p>
              <a:endParaRPr lang="zh-CN" altLang="en-US"/>
            </a:p>
          </p:txBody>
        </p:sp>
        <p:sp>
          <p:nvSpPr>
            <p:cNvPr id="740375" name="Text Box 23"/>
            <p:cNvSpPr txBox="1">
              <a:spLocks noChangeArrowheads="1"/>
            </p:cNvSpPr>
            <p:nvPr/>
          </p:nvSpPr>
          <p:spPr bwMode="auto">
            <a:xfrm>
              <a:off x="2084" y="2483"/>
              <a:ext cx="798"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VICIntSelect[6]</a:t>
              </a:r>
            </a:p>
          </p:txBody>
        </p:sp>
        <p:sp>
          <p:nvSpPr>
            <p:cNvPr id="740376" name="Line 24"/>
            <p:cNvSpPr>
              <a:spLocks noChangeShapeType="1"/>
            </p:cNvSpPr>
            <p:nvPr/>
          </p:nvSpPr>
          <p:spPr bwMode="auto">
            <a:xfrm flipV="1">
              <a:off x="1659" y="2851"/>
              <a:ext cx="186" cy="78"/>
            </a:xfrm>
            <a:prstGeom prst="line">
              <a:avLst/>
            </a:prstGeom>
            <a:noFill/>
            <a:ln w="9525">
              <a:solidFill>
                <a:schemeClr val="tx1"/>
              </a:solidFill>
              <a:round/>
              <a:headEnd/>
              <a:tailEnd/>
            </a:ln>
            <a:effectLst/>
          </p:spPr>
          <p:txBody>
            <a:bodyPr wrap="none" anchor="ctr"/>
            <a:lstStyle/>
            <a:p>
              <a:endParaRPr lang="zh-CN" altLang="en-US"/>
            </a:p>
          </p:txBody>
        </p:sp>
        <p:sp>
          <p:nvSpPr>
            <p:cNvPr id="740377" name="Text Box 25"/>
            <p:cNvSpPr txBox="1">
              <a:spLocks noChangeArrowheads="1"/>
            </p:cNvSpPr>
            <p:nvPr/>
          </p:nvSpPr>
          <p:spPr bwMode="auto">
            <a:xfrm>
              <a:off x="1390" y="2483"/>
              <a:ext cx="76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VICIntEnable[6]</a:t>
              </a:r>
            </a:p>
          </p:txBody>
        </p:sp>
        <p:sp>
          <p:nvSpPr>
            <p:cNvPr id="740378" name="Text Box 26"/>
            <p:cNvSpPr txBox="1">
              <a:spLocks noChangeArrowheads="1"/>
            </p:cNvSpPr>
            <p:nvPr/>
          </p:nvSpPr>
          <p:spPr bwMode="auto">
            <a:xfrm>
              <a:off x="2771" y="2662"/>
              <a:ext cx="30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IRQ</a:t>
              </a:r>
            </a:p>
          </p:txBody>
        </p:sp>
        <p:sp>
          <p:nvSpPr>
            <p:cNvPr id="740379" name="Text Box 27"/>
            <p:cNvSpPr txBox="1">
              <a:spLocks noChangeArrowheads="1"/>
            </p:cNvSpPr>
            <p:nvPr/>
          </p:nvSpPr>
          <p:spPr bwMode="auto">
            <a:xfrm>
              <a:off x="2723" y="2872"/>
              <a:ext cx="30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FIQ</a:t>
              </a:r>
            </a:p>
          </p:txBody>
        </p:sp>
        <p:sp>
          <p:nvSpPr>
            <p:cNvPr id="740380" name="Rectangle 28"/>
            <p:cNvSpPr>
              <a:spLocks noChangeArrowheads="1"/>
            </p:cNvSpPr>
            <p:nvPr/>
          </p:nvSpPr>
          <p:spPr bwMode="auto">
            <a:xfrm>
              <a:off x="2235" y="3463"/>
              <a:ext cx="492" cy="33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740381" name="Rectangle 29"/>
            <p:cNvSpPr>
              <a:spLocks noChangeArrowheads="1"/>
            </p:cNvSpPr>
            <p:nvPr/>
          </p:nvSpPr>
          <p:spPr bwMode="auto">
            <a:xfrm>
              <a:off x="1599" y="3505"/>
              <a:ext cx="330" cy="264"/>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740382" name="Rectangle 30"/>
            <p:cNvSpPr>
              <a:spLocks noChangeArrowheads="1"/>
            </p:cNvSpPr>
            <p:nvPr/>
          </p:nvSpPr>
          <p:spPr bwMode="auto">
            <a:xfrm>
              <a:off x="1039" y="3530"/>
              <a:ext cx="432" cy="232"/>
            </a:xfrm>
            <a:prstGeom prst="rect">
              <a:avLst/>
            </a:prstGeom>
            <a:solidFill>
              <a:srgbClr val="FFCC99"/>
            </a:solidFill>
            <a:ln w="9525" algn="ctr">
              <a:solidFill>
                <a:schemeClr val="tx1"/>
              </a:solidFill>
              <a:miter lim="800000"/>
              <a:headEnd/>
              <a:tailEnd/>
            </a:ln>
            <a:effectLst/>
          </p:spPr>
          <p:txBody>
            <a:bodyPr wrap="none" anchor="ctr"/>
            <a:lstStyle/>
            <a:p>
              <a:r>
                <a:rPr lang="zh-CN" altLang="en-US" sz="1200">
                  <a:latin typeface="Arial" charset="0"/>
                </a:rPr>
                <a:t>通道</a:t>
              </a:r>
              <a:r>
                <a:rPr lang="en-US" altLang="zh-CN" sz="1200">
                  <a:latin typeface="Arial" charset="0"/>
                </a:rPr>
                <a:t>7</a:t>
              </a:r>
            </a:p>
          </p:txBody>
        </p:sp>
        <p:sp>
          <p:nvSpPr>
            <p:cNvPr id="740383" name="Text Box 31"/>
            <p:cNvSpPr txBox="1">
              <a:spLocks noChangeArrowheads="1"/>
            </p:cNvSpPr>
            <p:nvPr/>
          </p:nvSpPr>
          <p:spPr bwMode="auto">
            <a:xfrm>
              <a:off x="427" y="3554"/>
              <a:ext cx="425" cy="173"/>
            </a:xfrm>
            <a:prstGeom prst="rect">
              <a:avLst/>
            </a:prstGeom>
            <a:noFill/>
            <a:ln w="9525" algn="ctr">
              <a:noFill/>
              <a:miter lim="800000"/>
              <a:headEnd/>
              <a:tailEnd/>
            </a:ln>
            <a:effectLst/>
          </p:spPr>
          <p:txBody>
            <a:bodyPr wrap="none">
              <a:spAutoFit/>
            </a:bodyPr>
            <a:lstStyle/>
            <a:p>
              <a:r>
                <a:rPr lang="en-US" altLang="zh-CN" sz="1200">
                  <a:latin typeface="Times New Roman" pitchFamily="18" charset="0"/>
                </a:rPr>
                <a:t>UART1</a:t>
              </a:r>
            </a:p>
          </p:txBody>
        </p:sp>
        <p:sp>
          <p:nvSpPr>
            <p:cNvPr id="740384" name="Line 32"/>
            <p:cNvSpPr>
              <a:spLocks noChangeShapeType="1"/>
            </p:cNvSpPr>
            <p:nvPr/>
          </p:nvSpPr>
          <p:spPr bwMode="auto">
            <a:xfrm>
              <a:off x="1478" y="3643"/>
              <a:ext cx="182"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740385" name="Line 33"/>
            <p:cNvSpPr>
              <a:spLocks noChangeShapeType="1"/>
            </p:cNvSpPr>
            <p:nvPr/>
          </p:nvSpPr>
          <p:spPr bwMode="auto">
            <a:xfrm>
              <a:off x="839" y="3643"/>
              <a:ext cx="2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0386" name="Line 34"/>
            <p:cNvSpPr>
              <a:spLocks noChangeShapeType="1"/>
            </p:cNvSpPr>
            <p:nvPr/>
          </p:nvSpPr>
          <p:spPr bwMode="auto">
            <a:xfrm>
              <a:off x="1843" y="3644"/>
              <a:ext cx="512" cy="0"/>
            </a:xfrm>
            <a:prstGeom prst="line">
              <a:avLst/>
            </a:prstGeom>
            <a:noFill/>
            <a:ln w="9525">
              <a:solidFill>
                <a:schemeClr val="tx1"/>
              </a:solidFill>
              <a:round/>
              <a:headEnd type="oval" w="sm" len="sm"/>
              <a:tailEnd type="oval" w="sm" len="sm"/>
            </a:ln>
            <a:effectLst/>
          </p:spPr>
          <p:txBody>
            <a:bodyPr wrap="none" anchor="ctr"/>
            <a:lstStyle/>
            <a:p>
              <a:endParaRPr lang="zh-CN" altLang="en-US"/>
            </a:p>
          </p:txBody>
        </p:sp>
        <p:sp>
          <p:nvSpPr>
            <p:cNvPr id="740387" name="Line 35"/>
            <p:cNvSpPr>
              <a:spLocks noChangeShapeType="1"/>
            </p:cNvSpPr>
            <p:nvPr/>
          </p:nvSpPr>
          <p:spPr bwMode="auto">
            <a:xfrm>
              <a:off x="2613" y="3535"/>
              <a:ext cx="558"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740388" name="Line 36"/>
            <p:cNvSpPr>
              <a:spLocks noChangeShapeType="1"/>
            </p:cNvSpPr>
            <p:nvPr/>
          </p:nvSpPr>
          <p:spPr bwMode="auto">
            <a:xfrm>
              <a:off x="2613" y="3739"/>
              <a:ext cx="402"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740389" name="Line 37"/>
            <p:cNvSpPr>
              <a:spLocks noChangeShapeType="1"/>
            </p:cNvSpPr>
            <p:nvPr/>
          </p:nvSpPr>
          <p:spPr bwMode="auto">
            <a:xfrm flipV="1">
              <a:off x="2361" y="3503"/>
              <a:ext cx="266" cy="140"/>
            </a:xfrm>
            <a:prstGeom prst="line">
              <a:avLst/>
            </a:prstGeom>
            <a:noFill/>
            <a:ln w="9525">
              <a:solidFill>
                <a:schemeClr val="tx1"/>
              </a:solidFill>
              <a:round/>
              <a:headEnd/>
              <a:tailEnd/>
            </a:ln>
            <a:effectLst/>
          </p:spPr>
          <p:txBody>
            <a:bodyPr wrap="none" anchor="ctr"/>
            <a:lstStyle/>
            <a:p>
              <a:endParaRPr lang="zh-CN" altLang="en-US"/>
            </a:p>
          </p:txBody>
        </p:sp>
        <p:sp>
          <p:nvSpPr>
            <p:cNvPr id="740390" name="Text Box 38"/>
            <p:cNvSpPr txBox="1">
              <a:spLocks noChangeArrowheads="1"/>
            </p:cNvSpPr>
            <p:nvPr/>
          </p:nvSpPr>
          <p:spPr bwMode="auto">
            <a:xfrm>
              <a:off x="2074" y="3195"/>
              <a:ext cx="798"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VICIntSelect[7]</a:t>
              </a:r>
            </a:p>
          </p:txBody>
        </p:sp>
        <p:sp>
          <p:nvSpPr>
            <p:cNvPr id="740391" name="Line 39"/>
            <p:cNvSpPr>
              <a:spLocks noChangeShapeType="1"/>
            </p:cNvSpPr>
            <p:nvPr/>
          </p:nvSpPr>
          <p:spPr bwMode="auto">
            <a:xfrm flipV="1">
              <a:off x="1659" y="3565"/>
              <a:ext cx="186" cy="78"/>
            </a:xfrm>
            <a:prstGeom prst="line">
              <a:avLst/>
            </a:prstGeom>
            <a:noFill/>
            <a:ln w="9525">
              <a:solidFill>
                <a:schemeClr val="tx1"/>
              </a:solidFill>
              <a:round/>
              <a:headEnd/>
              <a:tailEnd/>
            </a:ln>
            <a:effectLst/>
          </p:spPr>
          <p:txBody>
            <a:bodyPr wrap="none" anchor="ctr"/>
            <a:lstStyle/>
            <a:p>
              <a:endParaRPr lang="zh-CN" altLang="en-US"/>
            </a:p>
          </p:txBody>
        </p:sp>
        <p:sp>
          <p:nvSpPr>
            <p:cNvPr id="740392" name="Text Box 40"/>
            <p:cNvSpPr txBox="1">
              <a:spLocks noChangeArrowheads="1"/>
            </p:cNvSpPr>
            <p:nvPr/>
          </p:nvSpPr>
          <p:spPr bwMode="auto">
            <a:xfrm>
              <a:off x="1362" y="3195"/>
              <a:ext cx="784"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VICIntEnable[7]</a:t>
              </a:r>
            </a:p>
          </p:txBody>
        </p:sp>
        <p:sp>
          <p:nvSpPr>
            <p:cNvPr id="740393" name="Text Box 41"/>
            <p:cNvSpPr txBox="1">
              <a:spLocks noChangeArrowheads="1"/>
            </p:cNvSpPr>
            <p:nvPr/>
          </p:nvSpPr>
          <p:spPr bwMode="auto">
            <a:xfrm>
              <a:off x="2771" y="3382"/>
              <a:ext cx="30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IRQ</a:t>
              </a:r>
            </a:p>
          </p:txBody>
        </p:sp>
        <p:sp>
          <p:nvSpPr>
            <p:cNvPr id="740394" name="Text Box 42"/>
            <p:cNvSpPr txBox="1">
              <a:spLocks noChangeArrowheads="1"/>
            </p:cNvSpPr>
            <p:nvPr/>
          </p:nvSpPr>
          <p:spPr bwMode="auto">
            <a:xfrm>
              <a:off x="2723" y="3586"/>
              <a:ext cx="30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FIQ</a:t>
              </a:r>
            </a:p>
          </p:txBody>
        </p:sp>
        <p:grpSp>
          <p:nvGrpSpPr>
            <p:cNvPr id="740395" name="Group 43"/>
            <p:cNvGrpSpPr>
              <a:grpSpLocks/>
            </p:cNvGrpSpPr>
            <p:nvPr/>
          </p:nvGrpSpPr>
          <p:grpSpPr bwMode="auto">
            <a:xfrm>
              <a:off x="3441" y="2646"/>
              <a:ext cx="756" cy="390"/>
              <a:chOff x="3492" y="1368"/>
              <a:chExt cx="714" cy="390"/>
            </a:xfrm>
          </p:grpSpPr>
          <p:sp>
            <p:nvSpPr>
              <p:cNvPr id="740396" name="Rectangle 44"/>
              <p:cNvSpPr>
                <a:spLocks noChangeArrowheads="1"/>
              </p:cNvSpPr>
              <p:nvPr/>
            </p:nvSpPr>
            <p:spPr bwMode="auto">
              <a:xfrm>
                <a:off x="3492" y="1368"/>
                <a:ext cx="714" cy="210"/>
              </a:xfrm>
              <a:prstGeom prst="rect">
                <a:avLst/>
              </a:prstGeom>
              <a:solidFill>
                <a:srgbClr val="99CCFF"/>
              </a:solidFill>
              <a:ln w="9525" algn="ctr">
                <a:solidFill>
                  <a:schemeClr val="tx1"/>
                </a:solidFill>
                <a:miter lim="800000"/>
                <a:headEnd/>
                <a:tailEnd/>
              </a:ln>
              <a:effectLst/>
            </p:spPr>
            <p:txBody>
              <a:bodyPr wrap="none" anchor="ctr"/>
              <a:lstStyle/>
              <a:p>
                <a:r>
                  <a:rPr lang="en-US" altLang="zh-CN" sz="1200">
                    <a:latin typeface="Times New Roman" pitchFamily="18" charset="0"/>
                  </a:rPr>
                  <a:t>VICVectAddr0</a:t>
                </a:r>
              </a:p>
            </p:txBody>
          </p:sp>
          <p:sp>
            <p:nvSpPr>
              <p:cNvPr id="740397" name="Rectangle 45"/>
              <p:cNvSpPr>
                <a:spLocks noChangeArrowheads="1"/>
              </p:cNvSpPr>
              <p:nvPr/>
            </p:nvSpPr>
            <p:spPr bwMode="auto">
              <a:xfrm>
                <a:off x="3492" y="1572"/>
                <a:ext cx="714" cy="186"/>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latin typeface="Times New Roman" pitchFamily="18" charset="0"/>
                  </a:rPr>
                  <a:t>VICVectCntl0</a:t>
                </a:r>
              </a:p>
            </p:txBody>
          </p:sp>
        </p:grpSp>
        <p:grpSp>
          <p:nvGrpSpPr>
            <p:cNvPr id="740398" name="Group 46"/>
            <p:cNvGrpSpPr>
              <a:grpSpLocks/>
            </p:cNvGrpSpPr>
            <p:nvPr/>
          </p:nvGrpSpPr>
          <p:grpSpPr bwMode="auto">
            <a:xfrm>
              <a:off x="3441" y="3175"/>
              <a:ext cx="756" cy="390"/>
              <a:chOff x="3492" y="1368"/>
              <a:chExt cx="714" cy="390"/>
            </a:xfrm>
          </p:grpSpPr>
          <p:sp>
            <p:nvSpPr>
              <p:cNvPr id="740399" name="Rectangle 47"/>
              <p:cNvSpPr>
                <a:spLocks noChangeArrowheads="1"/>
              </p:cNvSpPr>
              <p:nvPr/>
            </p:nvSpPr>
            <p:spPr bwMode="auto">
              <a:xfrm>
                <a:off x="3492" y="1368"/>
                <a:ext cx="714" cy="210"/>
              </a:xfrm>
              <a:prstGeom prst="rect">
                <a:avLst/>
              </a:prstGeom>
              <a:solidFill>
                <a:srgbClr val="99CCFF"/>
              </a:solidFill>
              <a:ln w="9525" algn="ctr">
                <a:solidFill>
                  <a:schemeClr val="tx1"/>
                </a:solidFill>
                <a:miter lim="800000"/>
                <a:headEnd/>
                <a:tailEnd/>
              </a:ln>
              <a:effectLst/>
            </p:spPr>
            <p:txBody>
              <a:bodyPr wrap="none" anchor="ctr"/>
              <a:lstStyle/>
              <a:p>
                <a:r>
                  <a:rPr lang="en-US" altLang="zh-CN" sz="1200">
                    <a:latin typeface="Times New Roman" pitchFamily="18" charset="0"/>
                  </a:rPr>
                  <a:t>VICVectAddr15</a:t>
                </a:r>
              </a:p>
            </p:txBody>
          </p:sp>
          <p:sp>
            <p:nvSpPr>
              <p:cNvPr id="740400" name="Rectangle 48"/>
              <p:cNvSpPr>
                <a:spLocks noChangeArrowheads="1"/>
              </p:cNvSpPr>
              <p:nvPr/>
            </p:nvSpPr>
            <p:spPr bwMode="auto">
              <a:xfrm>
                <a:off x="3492" y="1572"/>
                <a:ext cx="714" cy="186"/>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latin typeface="Times New Roman" pitchFamily="18" charset="0"/>
                  </a:rPr>
                  <a:t>VICVectCntl15</a:t>
                </a:r>
              </a:p>
            </p:txBody>
          </p:sp>
        </p:grpSp>
        <p:sp>
          <p:nvSpPr>
            <p:cNvPr id="740401" name="Rectangle 49"/>
            <p:cNvSpPr>
              <a:spLocks noChangeArrowheads="1"/>
            </p:cNvSpPr>
            <p:nvPr/>
          </p:nvSpPr>
          <p:spPr bwMode="auto">
            <a:xfrm>
              <a:off x="3441" y="3643"/>
              <a:ext cx="756" cy="167"/>
            </a:xfrm>
            <a:prstGeom prst="rect">
              <a:avLst/>
            </a:prstGeom>
            <a:solidFill>
              <a:srgbClr val="99CCFF"/>
            </a:solidFill>
            <a:ln w="9525" algn="ctr">
              <a:solidFill>
                <a:schemeClr val="tx1"/>
              </a:solidFill>
              <a:miter lim="800000"/>
              <a:headEnd/>
              <a:tailEnd/>
            </a:ln>
            <a:effectLst/>
          </p:spPr>
          <p:txBody>
            <a:bodyPr wrap="none" anchor="ctr"/>
            <a:lstStyle/>
            <a:p>
              <a:r>
                <a:rPr lang="en-US" altLang="zh-CN" sz="1200">
                  <a:latin typeface="Times New Roman" pitchFamily="18" charset="0"/>
                </a:rPr>
                <a:t>VICDefVectAddr</a:t>
              </a:r>
            </a:p>
          </p:txBody>
        </p:sp>
        <p:sp>
          <p:nvSpPr>
            <p:cNvPr id="740402" name="Line 50"/>
            <p:cNvSpPr>
              <a:spLocks noChangeShapeType="1"/>
            </p:cNvSpPr>
            <p:nvPr/>
          </p:nvSpPr>
          <p:spPr bwMode="auto">
            <a:xfrm>
              <a:off x="1767" y="2647"/>
              <a:ext cx="0" cy="138"/>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0403" name="Line 51"/>
            <p:cNvSpPr>
              <a:spLocks noChangeShapeType="1"/>
            </p:cNvSpPr>
            <p:nvPr/>
          </p:nvSpPr>
          <p:spPr bwMode="auto">
            <a:xfrm>
              <a:off x="2481" y="2629"/>
              <a:ext cx="0" cy="132"/>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0404" name="Line 52"/>
            <p:cNvSpPr>
              <a:spLocks noChangeShapeType="1"/>
            </p:cNvSpPr>
            <p:nvPr/>
          </p:nvSpPr>
          <p:spPr bwMode="auto">
            <a:xfrm>
              <a:off x="1755" y="3367"/>
              <a:ext cx="0" cy="138"/>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0405" name="Line 53"/>
            <p:cNvSpPr>
              <a:spLocks noChangeShapeType="1"/>
            </p:cNvSpPr>
            <p:nvPr/>
          </p:nvSpPr>
          <p:spPr bwMode="auto">
            <a:xfrm>
              <a:off x="2481" y="3349"/>
              <a:ext cx="0" cy="114"/>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0406" name="Rectangle 54"/>
            <p:cNvSpPr>
              <a:spLocks noChangeArrowheads="1"/>
            </p:cNvSpPr>
            <p:nvPr/>
          </p:nvSpPr>
          <p:spPr bwMode="auto">
            <a:xfrm>
              <a:off x="3174" y="2646"/>
              <a:ext cx="268" cy="1164"/>
            </a:xfrm>
            <a:prstGeom prst="rect">
              <a:avLst/>
            </a:prstGeom>
            <a:solidFill>
              <a:srgbClr val="CCFFFF"/>
            </a:solidFill>
            <a:ln w="9525" algn="ctr">
              <a:solidFill>
                <a:schemeClr val="tx1"/>
              </a:solidFill>
              <a:miter lim="800000"/>
              <a:headEnd/>
              <a:tailEnd/>
            </a:ln>
            <a:effectLst/>
          </p:spPr>
          <p:txBody>
            <a:bodyPr wrap="none" anchor="ctr"/>
            <a:lstStyle/>
            <a:p>
              <a:r>
                <a:rPr lang="en-US" altLang="zh-CN" sz="1200">
                  <a:latin typeface="Arial" charset="0"/>
                </a:rPr>
                <a:t>IRQ</a:t>
              </a:r>
            </a:p>
            <a:p>
              <a:r>
                <a:rPr lang="zh-CN" altLang="en-US" sz="1200">
                  <a:latin typeface="Arial" charset="0"/>
                </a:rPr>
                <a:t>通道</a:t>
              </a:r>
            </a:p>
            <a:p>
              <a:r>
                <a:rPr lang="zh-CN" altLang="en-US" sz="1200">
                  <a:latin typeface="Arial" charset="0"/>
                </a:rPr>
                <a:t>分配</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40355"/>
                                        </p:tgtEl>
                                        <p:attrNameLst>
                                          <p:attrName>style.visibility</p:attrName>
                                        </p:attrNameLst>
                                      </p:cBhvr>
                                      <p:to>
                                        <p:strVal val="visible"/>
                                      </p:to>
                                    </p:set>
                                    <p:anim calcmode="lin" valueType="num">
                                      <p:cBhvr additive="base">
                                        <p:cTn id="7" dur="500" fill="hold"/>
                                        <p:tgtEl>
                                          <p:spTgt spid="740355"/>
                                        </p:tgtEl>
                                        <p:attrNameLst>
                                          <p:attrName>ppt_x</p:attrName>
                                        </p:attrNameLst>
                                      </p:cBhvr>
                                      <p:tavLst>
                                        <p:tav tm="0">
                                          <p:val>
                                            <p:strVal val="1+#ppt_w/2"/>
                                          </p:val>
                                        </p:tav>
                                        <p:tav tm="100000">
                                          <p:val>
                                            <p:strVal val="#ppt_x"/>
                                          </p:val>
                                        </p:tav>
                                      </p:tavLst>
                                    </p:anim>
                                    <p:anim calcmode="lin" valueType="num">
                                      <p:cBhvr additive="base">
                                        <p:cTn id="8" dur="500" fill="hold"/>
                                        <p:tgtEl>
                                          <p:spTgt spid="74035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740356"/>
                                        </p:tgtEl>
                                        <p:attrNameLst>
                                          <p:attrName>style.visibility</p:attrName>
                                        </p:attrNameLst>
                                      </p:cBhvr>
                                      <p:to>
                                        <p:strVal val="visible"/>
                                      </p:to>
                                    </p:set>
                                    <p:animEffect transition="in" filter="wipe(up)">
                                      <p:cBhvr>
                                        <p:cTn id="12" dur="500"/>
                                        <p:tgtEl>
                                          <p:spTgt spid="740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0355" grpId="0"/>
      <p:bldP spid="740356"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378" name="Rectangle 2"/>
          <p:cNvSpPr>
            <a:spLocks noChangeArrowheads="1"/>
          </p:cNvSpPr>
          <p:nvPr/>
        </p:nvSpPr>
        <p:spPr bwMode="auto">
          <a:xfrm>
            <a:off x="2133600" y="698500"/>
            <a:ext cx="7772400" cy="1143000"/>
          </a:xfrm>
          <a:prstGeom prst="rect">
            <a:avLst/>
          </a:prstGeom>
          <a:noFill/>
          <a:ln w="9525">
            <a:noFill/>
            <a:miter lim="800000"/>
            <a:headEnd/>
            <a:tailEnd/>
          </a:ln>
          <a:effectLst/>
        </p:spPr>
        <p:txBody>
          <a:bodyPr anchor="ctr"/>
          <a:lstStyle/>
          <a:p>
            <a:r>
              <a:rPr lang="en-US" altLang="zh-CN" sz="4400">
                <a:solidFill>
                  <a:schemeClr val="tx2"/>
                </a:solidFill>
                <a:latin typeface="Times New Roman" pitchFamily="18" charset="0"/>
              </a:rPr>
              <a:t>UART</a:t>
            </a:r>
            <a:r>
              <a:rPr lang="zh-CN" altLang="en-US" sz="4400">
                <a:solidFill>
                  <a:schemeClr val="tx2"/>
                </a:solidFill>
                <a:latin typeface="Times New Roman" pitchFamily="18" charset="0"/>
              </a:rPr>
              <a:t>中断</a:t>
            </a:r>
          </a:p>
        </p:txBody>
      </p:sp>
      <p:sp>
        <p:nvSpPr>
          <p:cNvPr id="741379" name="Rectangle 3"/>
          <p:cNvSpPr>
            <a:spLocks noChangeArrowheads="1"/>
          </p:cNvSpPr>
          <p:nvPr/>
        </p:nvSpPr>
        <p:spPr bwMode="auto">
          <a:xfrm>
            <a:off x="2209800" y="19415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UART0</a:t>
            </a:r>
            <a:r>
              <a:rPr lang="zh-CN" altLang="en-US" sz="3200">
                <a:latin typeface="Times New Roman" pitchFamily="18" charset="0"/>
              </a:rPr>
              <a:t>与</a:t>
            </a:r>
            <a:r>
              <a:rPr lang="en-US" altLang="zh-CN" sz="3200">
                <a:latin typeface="Times New Roman" pitchFamily="18" charset="0"/>
              </a:rPr>
              <a:t>VIC</a:t>
            </a:r>
            <a:r>
              <a:rPr lang="zh-CN" altLang="en-US" sz="3200">
                <a:latin typeface="Times New Roman" pitchFamily="18" charset="0"/>
              </a:rPr>
              <a:t>的关系</a:t>
            </a:r>
          </a:p>
        </p:txBody>
      </p:sp>
      <p:sp>
        <p:nvSpPr>
          <p:cNvPr id="741380" name="Text Box 4"/>
          <p:cNvSpPr txBox="1">
            <a:spLocks noChangeArrowheads="1"/>
          </p:cNvSpPr>
          <p:nvPr/>
        </p:nvSpPr>
        <p:spPr bwMode="auto">
          <a:xfrm>
            <a:off x="2216151" y="2649538"/>
            <a:ext cx="6557963" cy="457200"/>
          </a:xfrm>
          <a:prstGeom prst="rect">
            <a:avLst/>
          </a:prstGeom>
          <a:noFill/>
          <a:ln w="9525" algn="ctr">
            <a:noFill/>
            <a:miter lim="800000"/>
            <a:headEnd/>
            <a:tailEnd/>
          </a:ln>
          <a:effectLst/>
        </p:spPr>
        <p:txBody>
          <a:bodyPr>
            <a:spAutoFit/>
          </a:bodyPr>
          <a:lstStyle/>
          <a:p>
            <a:pPr algn="l">
              <a:buFont typeface="Wingdings" pitchFamily="2" charset="2"/>
              <a:buChar char="Ø"/>
            </a:pPr>
            <a:r>
              <a:rPr lang="zh-CN" altLang="en-US" sz="2400">
                <a:solidFill>
                  <a:schemeClr val="accent2"/>
                </a:solidFill>
                <a:latin typeface="Times New Roman" pitchFamily="18" charset="0"/>
                <a:ea typeface="华文新魏" pitchFamily="2" charset="-122"/>
              </a:rPr>
              <a:t>当</a:t>
            </a:r>
            <a:r>
              <a:rPr lang="en-US" altLang="zh-CN" sz="2400">
                <a:solidFill>
                  <a:schemeClr val="accent2"/>
                </a:solidFill>
                <a:latin typeface="Times New Roman" pitchFamily="18" charset="0"/>
                <a:ea typeface="华文新魏" pitchFamily="2" charset="-122"/>
              </a:rPr>
              <a:t>VICIntEnable[6] = 0</a:t>
            </a:r>
            <a:r>
              <a:rPr lang="zh-CN" altLang="en-US" sz="2400">
                <a:solidFill>
                  <a:schemeClr val="accent2"/>
                </a:solidFill>
                <a:latin typeface="Times New Roman" pitchFamily="18" charset="0"/>
                <a:ea typeface="华文新魏" pitchFamily="2" charset="-122"/>
              </a:rPr>
              <a:t>时，通道</a:t>
            </a:r>
            <a:r>
              <a:rPr lang="en-US" altLang="zh-CN" sz="2400">
                <a:solidFill>
                  <a:schemeClr val="accent2"/>
                </a:solidFill>
                <a:latin typeface="Times New Roman" pitchFamily="18" charset="0"/>
                <a:ea typeface="华文新魏" pitchFamily="2" charset="-122"/>
              </a:rPr>
              <a:t>6</a:t>
            </a:r>
            <a:r>
              <a:rPr lang="zh-CN" altLang="en-US" sz="2400">
                <a:solidFill>
                  <a:schemeClr val="accent2"/>
                </a:solidFill>
                <a:latin typeface="Times New Roman" pitchFamily="18" charset="0"/>
                <a:ea typeface="华文新魏" pitchFamily="2" charset="-122"/>
              </a:rPr>
              <a:t>中断禁止；</a:t>
            </a:r>
          </a:p>
        </p:txBody>
      </p:sp>
      <p:grpSp>
        <p:nvGrpSpPr>
          <p:cNvPr id="741381" name="Group 5"/>
          <p:cNvGrpSpPr>
            <a:grpSpLocks/>
          </p:cNvGrpSpPr>
          <p:nvPr/>
        </p:nvGrpSpPr>
        <p:grpSpPr bwMode="auto">
          <a:xfrm>
            <a:off x="2165351" y="3802063"/>
            <a:ext cx="7699375" cy="2106612"/>
            <a:chOff x="476" y="2395"/>
            <a:chExt cx="4850" cy="1327"/>
          </a:xfrm>
        </p:grpSpPr>
        <p:sp>
          <p:nvSpPr>
            <p:cNvPr id="741382" name="Rectangle 6"/>
            <p:cNvSpPr>
              <a:spLocks noChangeArrowheads="1"/>
            </p:cNvSpPr>
            <p:nvPr/>
          </p:nvSpPr>
          <p:spPr bwMode="auto">
            <a:xfrm>
              <a:off x="2491" y="2661"/>
              <a:ext cx="492" cy="33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741383" name="Rectangle 7"/>
            <p:cNvSpPr>
              <a:spLocks noChangeArrowheads="1"/>
            </p:cNvSpPr>
            <p:nvPr/>
          </p:nvSpPr>
          <p:spPr bwMode="auto">
            <a:xfrm>
              <a:off x="1703" y="2703"/>
              <a:ext cx="330" cy="264"/>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741384" name="Rectangle 8"/>
            <p:cNvSpPr>
              <a:spLocks noChangeArrowheads="1"/>
            </p:cNvSpPr>
            <p:nvPr/>
          </p:nvSpPr>
          <p:spPr bwMode="auto">
            <a:xfrm>
              <a:off x="1143" y="2728"/>
              <a:ext cx="432" cy="232"/>
            </a:xfrm>
            <a:prstGeom prst="rect">
              <a:avLst/>
            </a:prstGeom>
            <a:solidFill>
              <a:srgbClr val="FFCC99"/>
            </a:solidFill>
            <a:ln w="9525" algn="ctr">
              <a:solidFill>
                <a:schemeClr val="tx1"/>
              </a:solidFill>
              <a:miter lim="800000"/>
              <a:headEnd/>
              <a:tailEnd/>
            </a:ln>
            <a:effectLst/>
          </p:spPr>
          <p:txBody>
            <a:bodyPr wrap="none" anchor="ctr"/>
            <a:lstStyle/>
            <a:p>
              <a:r>
                <a:rPr lang="zh-CN" altLang="en-US" sz="1200">
                  <a:latin typeface="Arial" charset="0"/>
                </a:rPr>
                <a:t>通道</a:t>
              </a:r>
              <a:r>
                <a:rPr lang="en-US" altLang="zh-CN" sz="1200">
                  <a:latin typeface="Arial" charset="0"/>
                </a:rPr>
                <a:t>6</a:t>
              </a:r>
            </a:p>
          </p:txBody>
        </p:sp>
        <p:sp>
          <p:nvSpPr>
            <p:cNvPr id="741385" name="Text Box 9"/>
            <p:cNvSpPr txBox="1">
              <a:spLocks noChangeArrowheads="1"/>
            </p:cNvSpPr>
            <p:nvPr/>
          </p:nvSpPr>
          <p:spPr bwMode="auto">
            <a:xfrm>
              <a:off x="476" y="2752"/>
              <a:ext cx="497"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UART0</a:t>
              </a:r>
            </a:p>
          </p:txBody>
        </p:sp>
        <p:sp>
          <p:nvSpPr>
            <p:cNvPr id="741386" name="Text Box 10"/>
            <p:cNvSpPr txBox="1">
              <a:spLocks noChangeArrowheads="1"/>
            </p:cNvSpPr>
            <p:nvPr/>
          </p:nvSpPr>
          <p:spPr bwMode="auto">
            <a:xfrm>
              <a:off x="4447" y="2592"/>
              <a:ext cx="762" cy="173"/>
            </a:xfrm>
            <a:prstGeom prst="rect">
              <a:avLst/>
            </a:prstGeom>
            <a:noFill/>
            <a:ln w="9525" algn="ctr">
              <a:noFill/>
              <a:miter lim="800000"/>
              <a:headEnd/>
              <a:tailEnd/>
            </a:ln>
            <a:effectLst/>
          </p:spPr>
          <p:txBody>
            <a:bodyPr>
              <a:spAutoFit/>
            </a:bodyPr>
            <a:lstStyle/>
            <a:p>
              <a:r>
                <a:rPr lang="zh-CN" altLang="en-US" sz="1200">
                  <a:latin typeface="Times New Roman" pitchFamily="18" charset="0"/>
                </a:rPr>
                <a:t>向量</a:t>
              </a:r>
              <a:r>
                <a:rPr lang="en-US" altLang="zh-CN" sz="1200">
                  <a:latin typeface="Times New Roman" pitchFamily="18" charset="0"/>
                </a:rPr>
                <a:t>IRQ</a:t>
              </a:r>
              <a:r>
                <a:rPr lang="zh-CN" altLang="en-US" sz="1200">
                  <a:latin typeface="Times New Roman" pitchFamily="18" charset="0"/>
                </a:rPr>
                <a:t>通道</a:t>
              </a:r>
              <a:r>
                <a:rPr lang="en-US" altLang="zh-CN" sz="1200">
                  <a:latin typeface="Times New Roman" pitchFamily="18" charset="0"/>
                </a:rPr>
                <a:t>0</a:t>
              </a:r>
            </a:p>
          </p:txBody>
        </p:sp>
        <p:sp>
          <p:nvSpPr>
            <p:cNvPr id="741387" name="Text Box 11"/>
            <p:cNvSpPr txBox="1">
              <a:spLocks noChangeArrowheads="1"/>
            </p:cNvSpPr>
            <p:nvPr/>
          </p:nvSpPr>
          <p:spPr bwMode="auto">
            <a:xfrm>
              <a:off x="4447" y="3130"/>
              <a:ext cx="818" cy="173"/>
            </a:xfrm>
            <a:prstGeom prst="rect">
              <a:avLst/>
            </a:prstGeom>
            <a:noFill/>
            <a:ln w="9525" algn="ctr">
              <a:noFill/>
              <a:miter lim="800000"/>
              <a:headEnd/>
              <a:tailEnd/>
            </a:ln>
            <a:effectLst/>
          </p:spPr>
          <p:txBody>
            <a:bodyPr>
              <a:spAutoFit/>
            </a:bodyPr>
            <a:lstStyle/>
            <a:p>
              <a:r>
                <a:rPr lang="zh-CN" altLang="en-US" sz="1200">
                  <a:latin typeface="Times New Roman" pitchFamily="18" charset="0"/>
                </a:rPr>
                <a:t>向量</a:t>
              </a:r>
              <a:r>
                <a:rPr lang="en-US" altLang="zh-CN" sz="1200">
                  <a:latin typeface="Times New Roman" pitchFamily="18" charset="0"/>
                </a:rPr>
                <a:t>IRQ</a:t>
              </a:r>
              <a:r>
                <a:rPr lang="zh-CN" altLang="en-US" sz="1200">
                  <a:latin typeface="Times New Roman" pitchFamily="18" charset="0"/>
                </a:rPr>
                <a:t>通道</a:t>
              </a:r>
              <a:r>
                <a:rPr lang="en-US" altLang="zh-CN" sz="1200">
                  <a:latin typeface="Times New Roman" pitchFamily="18" charset="0"/>
                </a:rPr>
                <a:t>15</a:t>
              </a:r>
            </a:p>
          </p:txBody>
        </p:sp>
        <p:sp>
          <p:nvSpPr>
            <p:cNvPr id="741388" name="Text Box 12"/>
            <p:cNvSpPr txBox="1">
              <a:spLocks noChangeArrowheads="1"/>
            </p:cNvSpPr>
            <p:nvPr/>
          </p:nvSpPr>
          <p:spPr bwMode="auto">
            <a:xfrm>
              <a:off x="4447" y="3488"/>
              <a:ext cx="807" cy="173"/>
            </a:xfrm>
            <a:prstGeom prst="rect">
              <a:avLst/>
            </a:prstGeom>
            <a:noFill/>
            <a:ln w="9525" algn="ctr">
              <a:noFill/>
              <a:miter lim="800000"/>
              <a:headEnd/>
              <a:tailEnd/>
            </a:ln>
            <a:effectLst/>
          </p:spPr>
          <p:txBody>
            <a:bodyPr>
              <a:spAutoFit/>
            </a:bodyPr>
            <a:lstStyle/>
            <a:p>
              <a:r>
                <a:rPr lang="zh-CN" altLang="en-US" sz="1200">
                  <a:latin typeface="Times New Roman" pitchFamily="18" charset="0"/>
                </a:rPr>
                <a:t>非向量</a:t>
              </a:r>
              <a:r>
                <a:rPr lang="en-US" altLang="zh-CN" sz="1200">
                  <a:latin typeface="Times New Roman" pitchFamily="18" charset="0"/>
                </a:rPr>
                <a:t>IRQ</a:t>
              </a:r>
              <a:r>
                <a:rPr lang="zh-CN" altLang="en-US" sz="1200">
                  <a:latin typeface="Times New Roman" pitchFamily="18" charset="0"/>
                </a:rPr>
                <a:t>通道</a:t>
              </a:r>
            </a:p>
          </p:txBody>
        </p:sp>
        <p:sp>
          <p:nvSpPr>
            <p:cNvPr id="741389" name="Line 13"/>
            <p:cNvSpPr>
              <a:spLocks noChangeShapeType="1"/>
            </p:cNvSpPr>
            <p:nvPr/>
          </p:nvSpPr>
          <p:spPr bwMode="auto">
            <a:xfrm>
              <a:off x="4438" y="2761"/>
              <a:ext cx="88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1390" name="Line 14"/>
            <p:cNvSpPr>
              <a:spLocks noChangeShapeType="1"/>
            </p:cNvSpPr>
            <p:nvPr/>
          </p:nvSpPr>
          <p:spPr bwMode="auto">
            <a:xfrm>
              <a:off x="4448" y="3293"/>
              <a:ext cx="84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1391" name="Line 15"/>
            <p:cNvSpPr>
              <a:spLocks noChangeShapeType="1"/>
            </p:cNvSpPr>
            <p:nvPr/>
          </p:nvSpPr>
          <p:spPr bwMode="auto">
            <a:xfrm>
              <a:off x="4454" y="3639"/>
              <a:ext cx="842"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1392" name="Line 16"/>
            <p:cNvSpPr>
              <a:spLocks noChangeShapeType="1"/>
            </p:cNvSpPr>
            <p:nvPr/>
          </p:nvSpPr>
          <p:spPr bwMode="auto">
            <a:xfrm>
              <a:off x="4876" y="2863"/>
              <a:ext cx="0" cy="216"/>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741393" name="Line 17"/>
            <p:cNvSpPr>
              <a:spLocks noChangeShapeType="1"/>
            </p:cNvSpPr>
            <p:nvPr/>
          </p:nvSpPr>
          <p:spPr bwMode="auto">
            <a:xfrm>
              <a:off x="1582" y="2841"/>
              <a:ext cx="182"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741394" name="Line 18"/>
            <p:cNvSpPr>
              <a:spLocks noChangeShapeType="1"/>
            </p:cNvSpPr>
            <p:nvPr/>
          </p:nvSpPr>
          <p:spPr bwMode="auto">
            <a:xfrm>
              <a:off x="943" y="2841"/>
              <a:ext cx="2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1395" name="Line 19"/>
            <p:cNvSpPr>
              <a:spLocks noChangeShapeType="1"/>
            </p:cNvSpPr>
            <p:nvPr/>
          </p:nvSpPr>
          <p:spPr bwMode="auto">
            <a:xfrm>
              <a:off x="1953" y="2842"/>
              <a:ext cx="658" cy="0"/>
            </a:xfrm>
            <a:prstGeom prst="line">
              <a:avLst/>
            </a:prstGeom>
            <a:noFill/>
            <a:ln w="9525">
              <a:solidFill>
                <a:schemeClr val="tx1"/>
              </a:solidFill>
              <a:round/>
              <a:headEnd type="oval" w="sm" len="sm"/>
              <a:tailEnd type="oval" w="sm" len="sm"/>
            </a:ln>
            <a:effectLst/>
          </p:spPr>
          <p:txBody>
            <a:bodyPr wrap="none" anchor="ctr"/>
            <a:lstStyle/>
            <a:p>
              <a:endParaRPr lang="zh-CN" altLang="en-US"/>
            </a:p>
          </p:txBody>
        </p:sp>
        <p:sp>
          <p:nvSpPr>
            <p:cNvPr id="741396" name="Line 20"/>
            <p:cNvSpPr>
              <a:spLocks noChangeShapeType="1"/>
            </p:cNvSpPr>
            <p:nvPr/>
          </p:nvSpPr>
          <p:spPr bwMode="auto">
            <a:xfrm>
              <a:off x="2869" y="2733"/>
              <a:ext cx="558"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741397" name="Line 21"/>
            <p:cNvSpPr>
              <a:spLocks noChangeShapeType="1"/>
            </p:cNvSpPr>
            <p:nvPr/>
          </p:nvSpPr>
          <p:spPr bwMode="auto">
            <a:xfrm>
              <a:off x="2869" y="2937"/>
              <a:ext cx="420"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741398" name="Line 22"/>
            <p:cNvSpPr>
              <a:spLocks noChangeShapeType="1"/>
            </p:cNvSpPr>
            <p:nvPr/>
          </p:nvSpPr>
          <p:spPr bwMode="auto">
            <a:xfrm flipV="1">
              <a:off x="2617" y="2701"/>
              <a:ext cx="266" cy="140"/>
            </a:xfrm>
            <a:prstGeom prst="line">
              <a:avLst/>
            </a:prstGeom>
            <a:noFill/>
            <a:ln w="9525">
              <a:solidFill>
                <a:schemeClr val="tx1"/>
              </a:solidFill>
              <a:round/>
              <a:headEnd/>
              <a:tailEnd/>
            </a:ln>
            <a:effectLst/>
          </p:spPr>
          <p:txBody>
            <a:bodyPr wrap="none" anchor="ctr"/>
            <a:lstStyle/>
            <a:p>
              <a:endParaRPr lang="zh-CN" altLang="en-US"/>
            </a:p>
          </p:txBody>
        </p:sp>
        <p:sp>
          <p:nvSpPr>
            <p:cNvPr id="741399" name="Text Box 23"/>
            <p:cNvSpPr txBox="1">
              <a:spLocks noChangeArrowheads="1"/>
            </p:cNvSpPr>
            <p:nvPr/>
          </p:nvSpPr>
          <p:spPr bwMode="auto">
            <a:xfrm>
              <a:off x="2340" y="2395"/>
              <a:ext cx="798"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VICIntSelect[6]</a:t>
              </a:r>
            </a:p>
          </p:txBody>
        </p:sp>
        <p:sp>
          <p:nvSpPr>
            <p:cNvPr id="741400" name="Line 24"/>
            <p:cNvSpPr>
              <a:spLocks noChangeShapeType="1"/>
            </p:cNvSpPr>
            <p:nvPr/>
          </p:nvSpPr>
          <p:spPr bwMode="auto">
            <a:xfrm flipV="1">
              <a:off x="1763" y="2754"/>
              <a:ext cx="192" cy="87"/>
            </a:xfrm>
            <a:prstGeom prst="line">
              <a:avLst/>
            </a:prstGeom>
            <a:noFill/>
            <a:ln w="9525">
              <a:solidFill>
                <a:srgbClr val="FF0000"/>
              </a:solidFill>
              <a:round/>
              <a:headEnd/>
              <a:tailEnd/>
            </a:ln>
            <a:effectLst/>
          </p:spPr>
          <p:txBody>
            <a:bodyPr wrap="none" anchor="ctr"/>
            <a:lstStyle/>
            <a:p>
              <a:endParaRPr lang="zh-CN" altLang="en-US"/>
            </a:p>
          </p:txBody>
        </p:sp>
        <p:sp>
          <p:nvSpPr>
            <p:cNvPr id="741401" name="Text Box 25"/>
            <p:cNvSpPr txBox="1">
              <a:spLocks noChangeArrowheads="1"/>
            </p:cNvSpPr>
            <p:nvPr/>
          </p:nvSpPr>
          <p:spPr bwMode="auto">
            <a:xfrm>
              <a:off x="1410" y="2395"/>
              <a:ext cx="928"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VICIntEnable[6] = 0</a:t>
              </a:r>
            </a:p>
          </p:txBody>
        </p:sp>
        <p:sp>
          <p:nvSpPr>
            <p:cNvPr id="741402" name="Text Box 26"/>
            <p:cNvSpPr txBox="1">
              <a:spLocks noChangeArrowheads="1"/>
            </p:cNvSpPr>
            <p:nvPr/>
          </p:nvSpPr>
          <p:spPr bwMode="auto">
            <a:xfrm>
              <a:off x="3027" y="2574"/>
              <a:ext cx="30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IRQ</a:t>
              </a:r>
            </a:p>
          </p:txBody>
        </p:sp>
        <p:sp>
          <p:nvSpPr>
            <p:cNvPr id="741403" name="Text Box 27"/>
            <p:cNvSpPr txBox="1">
              <a:spLocks noChangeArrowheads="1"/>
            </p:cNvSpPr>
            <p:nvPr/>
          </p:nvSpPr>
          <p:spPr bwMode="auto">
            <a:xfrm>
              <a:off x="2979" y="2784"/>
              <a:ext cx="30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FIQ</a:t>
              </a:r>
            </a:p>
          </p:txBody>
        </p:sp>
        <p:sp>
          <p:nvSpPr>
            <p:cNvPr id="741404" name="Rectangle 28"/>
            <p:cNvSpPr>
              <a:spLocks noChangeArrowheads="1"/>
            </p:cNvSpPr>
            <p:nvPr/>
          </p:nvSpPr>
          <p:spPr bwMode="auto">
            <a:xfrm>
              <a:off x="2491" y="3375"/>
              <a:ext cx="492" cy="33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741405" name="Rectangle 29"/>
            <p:cNvSpPr>
              <a:spLocks noChangeArrowheads="1"/>
            </p:cNvSpPr>
            <p:nvPr/>
          </p:nvSpPr>
          <p:spPr bwMode="auto">
            <a:xfrm>
              <a:off x="1703" y="3417"/>
              <a:ext cx="330" cy="264"/>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741406" name="Rectangle 30"/>
            <p:cNvSpPr>
              <a:spLocks noChangeArrowheads="1"/>
            </p:cNvSpPr>
            <p:nvPr/>
          </p:nvSpPr>
          <p:spPr bwMode="auto">
            <a:xfrm>
              <a:off x="1143" y="3442"/>
              <a:ext cx="432" cy="232"/>
            </a:xfrm>
            <a:prstGeom prst="rect">
              <a:avLst/>
            </a:prstGeom>
            <a:solidFill>
              <a:srgbClr val="FFCC99"/>
            </a:solidFill>
            <a:ln w="9525" algn="ctr">
              <a:solidFill>
                <a:schemeClr val="tx1"/>
              </a:solidFill>
              <a:miter lim="800000"/>
              <a:headEnd/>
              <a:tailEnd/>
            </a:ln>
            <a:effectLst/>
          </p:spPr>
          <p:txBody>
            <a:bodyPr wrap="none" anchor="ctr"/>
            <a:lstStyle/>
            <a:p>
              <a:r>
                <a:rPr lang="zh-CN" altLang="en-US" sz="1200">
                  <a:latin typeface="Arial" charset="0"/>
                </a:rPr>
                <a:t>通道</a:t>
              </a:r>
              <a:r>
                <a:rPr lang="en-US" altLang="zh-CN" sz="1200">
                  <a:latin typeface="Arial" charset="0"/>
                </a:rPr>
                <a:t>7</a:t>
              </a:r>
            </a:p>
          </p:txBody>
        </p:sp>
        <p:sp>
          <p:nvSpPr>
            <p:cNvPr id="741407" name="Text Box 31"/>
            <p:cNvSpPr txBox="1">
              <a:spLocks noChangeArrowheads="1"/>
            </p:cNvSpPr>
            <p:nvPr/>
          </p:nvSpPr>
          <p:spPr bwMode="auto">
            <a:xfrm>
              <a:off x="531" y="3466"/>
              <a:ext cx="425" cy="173"/>
            </a:xfrm>
            <a:prstGeom prst="rect">
              <a:avLst/>
            </a:prstGeom>
            <a:noFill/>
            <a:ln w="9525" algn="ctr">
              <a:noFill/>
              <a:miter lim="800000"/>
              <a:headEnd/>
              <a:tailEnd/>
            </a:ln>
            <a:effectLst/>
          </p:spPr>
          <p:txBody>
            <a:bodyPr wrap="none">
              <a:spAutoFit/>
            </a:bodyPr>
            <a:lstStyle/>
            <a:p>
              <a:r>
                <a:rPr lang="en-US" altLang="zh-CN" sz="1200">
                  <a:latin typeface="Times New Roman" pitchFamily="18" charset="0"/>
                </a:rPr>
                <a:t>UART1</a:t>
              </a:r>
            </a:p>
          </p:txBody>
        </p:sp>
        <p:sp>
          <p:nvSpPr>
            <p:cNvPr id="741408" name="Line 32"/>
            <p:cNvSpPr>
              <a:spLocks noChangeShapeType="1"/>
            </p:cNvSpPr>
            <p:nvPr/>
          </p:nvSpPr>
          <p:spPr bwMode="auto">
            <a:xfrm>
              <a:off x="1582" y="3555"/>
              <a:ext cx="182"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741409" name="Line 33"/>
            <p:cNvSpPr>
              <a:spLocks noChangeShapeType="1"/>
            </p:cNvSpPr>
            <p:nvPr/>
          </p:nvSpPr>
          <p:spPr bwMode="auto">
            <a:xfrm>
              <a:off x="943" y="3555"/>
              <a:ext cx="2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1410" name="Line 34"/>
            <p:cNvSpPr>
              <a:spLocks noChangeShapeType="1"/>
            </p:cNvSpPr>
            <p:nvPr/>
          </p:nvSpPr>
          <p:spPr bwMode="auto">
            <a:xfrm>
              <a:off x="1957" y="3556"/>
              <a:ext cx="654" cy="0"/>
            </a:xfrm>
            <a:prstGeom prst="line">
              <a:avLst/>
            </a:prstGeom>
            <a:noFill/>
            <a:ln w="9525">
              <a:solidFill>
                <a:schemeClr val="tx1"/>
              </a:solidFill>
              <a:round/>
              <a:headEnd type="oval" w="sm" len="sm"/>
              <a:tailEnd type="oval" w="sm" len="sm"/>
            </a:ln>
            <a:effectLst/>
          </p:spPr>
          <p:txBody>
            <a:bodyPr wrap="none" anchor="ctr"/>
            <a:lstStyle/>
            <a:p>
              <a:endParaRPr lang="zh-CN" altLang="en-US"/>
            </a:p>
          </p:txBody>
        </p:sp>
        <p:sp>
          <p:nvSpPr>
            <p:cNvPr id="741411" name="Line 35"/>
            <p:cNvSpPr>
              <a:spLocks noChangeShapeType="1"/>
            </p:cNvSpPr>
            <p:nvPr/>
          </p:nvSpPr>
          <p:spPr bwMode="auto">
            <a:xfrm>
              <a:off x="2869" y="3447"/>
              <a:ext cx="558"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741412" name="Line 36"/>
            <p:cNvSpPr>
              <a:spLocks noChangeShapeType="1"/>
            </p:cNvSpPr>
            <p:nvPr/>
          </p:nvSpPr>
          <p:spPr bwMode="auto">
            <a:xfrm>
              <a:off x="2869" y="3651"/>
              <a:ext cx="402"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741413" name="Line 37"/>
            <p:cNvSpPr>
              <a:spLocks noChangeShapeType="1"/>
            </p:cNvSpPr>
            <p:nvPr/>
          </p:nvSpPr>
          <p:spPr bwMode="auto">
            <a:xfrm flipV="1">
              <a:off x="2617" y="3415"/>
              <a:ext cx="266" cy="140"/>
            </a:xfrm>
            <a:prstGeom prst="line">
              <a:avLst/>
            </a:prstGeom>
            <a:noFill/>
            <a:ln w="9525">
              <a:solidFill>
                <a:schemeClr val="tx1"/>
              </a:solidFill>
              <a:round/>
              <a:headEnd/>
              <a:tailEnd/>
            </a:ln>
            <a:effectLst/>
          </p:spPr>
          <p:txBody>
            <a:bodyPr wrap="none" anchor="ctr"/>
            <a:lstStyle/>
            <a:p>
              <a:endParaRPr lang="zh-CN" altLang="en-US"/>
            </a:p>
          </p:txBody>
        </p:sp>
        <p:sp>
          <p:nvSpPr>
            <p:cNvPr id="741414" name="Text Box 38"/>
            <p:cNvSpPr txBox="1">
              <a:spLocks noChangeArrowheads="1"/>
            </p:cNvSpPr>
            <p:nvPr/>
          </p:nvSpPr>
          <p:spPr bwMode="auto">
            <a:xfrm>
              <a:off x="2330" y="3107"/>
              <a:ext cx="798"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VICIntSelect[7]</a:t>
              </a:r>
            </a:p>
          </p:txBody>
        </p:sp>
        <p:sp>
          <p:nvSpPr>
            <p:cNvPr id="741415" name="Line 39"/>
            <p:cNvSpPr>
              <a:spLocks noChangeShapeType="1"/>
            </p:cNvSpPr>
            <p:nvPr/>
          </p:nvSpPr>
          <p:spPr bwMode="auto">
            <a:xfrm flipV="1">
              <a:off x="1763" y="3475"/>
              <a:ext cx="186" cy="80"/>
            </a:xfrm>
            <a:prstGeom prst="line">
              <a:avLst/>
            </a:prstGeom>
            <a:noFill/>
            <a:ln w="9525">
              <a:solidFill>
                <a:schemeClr val="tx1"/>
              </a:solidFill>
              <a:round/>
              <a:headEnd/>
              <a:tailEnd/>
            </a:ln>
            <a:effectLst/>
          </p:spPr>
          <p:txBody>
            <a:bodyPr wrap="none" anchor="ctr"/>
            <a:lstStyle/>
            <a:p>
              <a:endParaRPr lang="zh-CN" altLang="en-US"/>
            </a:p>
          </p:txBody>
        </p:sp>
        <p:sp>
          <p:nvSpPr>
            <p:cNvPr id="741416" name="Text Box 40"/>
            <p:cNvSpPr txBox="1">
              <a:spLocks noChangeArrowheads="1"/>
            </p:cNvSpPr>
            <p:nvPr/>
          </p:nvSpPr>
          <p:spPr bwMode="auto">
            <a:xfrm>
              <a:off x="1391" y="3117"/>
              <a:ext cx="933"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VICIntEnable[7] = 0</a:t>
              </a:r>
            </a:p>
          </p:txBody>
        </p:sp>
        <p:sp>
          <p:nvSpPr>
            <p:cNvPr id="741417" name="Text Box 41"/>
            <p:cNvSpPr txBox="1">
              <a:spLocks noChangeArrowheads="1"/>
            </p:cNvSpPr>
            <p:nvPr/>
          </p:nvSpPr>
          <p:spPr bwMode="auto">
            <a:xfrm>
              <a:off x="3027" y="3294"/>
              <a:ext cx="30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IRQ</a:t>
              </a:r>
            </a:p>
          </p:txBody>
        </p:sp>
        <p:sp>
          <p:nvSpPr>
            <p:cNvPr id="741418" name="Text Box 42"/>
            <p:cNvSpPr txBox="1">
              <a:spLocks noChangeArrowheads="1"/>
            </p:cNvSpPr>
            <p:nvPr/>
          </p:nvSpPr>
          <p:spPr bwMode="auto">
            <a:xfrm>
              <a:off x="2979" y="3498"/>
              <a:ext cx="30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FIQ</a:t>
              </a:r>
            </a:p>
          </p:txBody>
        </p:sp>
        <p:grpSp>
          <p:nvGrpSpPr>
            <p:cNvPr id="741419" name="Group 43"/>
            <p:cNvGrpSpPr>
              <a:grpSpLocks/>
            </p:cNvGrpSpPr>
            <p:nvPr/>
          </p:nvGrpSpPr>
          <p:grpSpPr bwMode="auto">
            <a:xfrm>
              <a:off x="3697" y="2558"/>
              <a:ext cx="756" cy="390"/>
              <a:chOff x="3492" y="1368"/>
              <a:chExt cx="714" cy="390"/>
            </a:xfrm>
          </p:grpSpPr>
          <p:sp>
            <p:nvSpPr>
              <p:cNvPr id="741420" name="Rectangle 44"/>
              <p:cNvSpPr>
                <a:spLocks noChangeArrowheads="1"/>
              </p:cNvSpPr>
              <p:nvPr/>
            </p:nvSpPr>
            <p:spPr bwMode="auto">
              <a:xfrm>
                <a:off x="3492" y="1368"/>
                <a:ext cx="714" cy="210"/>
              </a:xfrm>
              <a:prstGeom prst="rect">
                <a:avLst/>
              </a:prstGeom>
              <a:solidFill>
                <a:srgbClr val="99CCFF"/>
              </a:solidFill>
              <a:ln w="9525" algn="ctr">
                <a:solidFill>
                  <a:schemeClr val="tx1"/>
                </a:solidFill>
                <a:miter lim="800000"/>
                <a:headEnd/>
                <a:tailEnd/>
              </a:ln>
              <a:effectLst/>
            </p:spPr>
            <p:txBody>
              <a:bodyPr wrap="none" anchor="ctr"/>
              <a:lstStyle/>
              <a:p>
                <a:r>
                  <a:rPr lang="en-US" altLang="zh-CN" sz="1200">
                    <a:latin typeface="Times New Roman" pitchFamily="18" charset="0"/>
                  </a:rPr>
                  <a:t>VICVectAddr0</a:t>
                </a:r>
              </a:p>
            </p:txBody>
          </p:sp>
          <p:sp>
            <p:nvSpPr>
              <p:cNvPr id="741421" name="Rectangle 45"/>
              <p:cNvSpPr>
                <a:spLocks noChangeArrowheads="1"/>
              </p:cNvSpPr>
              <p:nvPr/>
            </p:nvSpPr>
            <p:spPr bwMode="auto">
              <a:xfrm>
                <a:off x="3492" y="1572"/>
                <a:ext cx="714" cy="186"/>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latin typeface="Times New Roman" pitchFamily="18" charset="0"/>
                  </a:rPr>
                  <a:t>VICVectCntl0</a:t>
                </a:r>
              </a:p>
            </p:txBody>
          </p:sp>
        </p:grpSp>
        <p:grpSp>
          <p:nvGrpSpPr>
            <p:cNvPr id="741422" name="Group 46"/>
            <p:cNvGrpSpPr>
              <a:grpSpLocks/>
            </p:cNvGrpSpPr>
            <p:nvPr/>
          </p:nvGrpSpPr>
          <p:grpSpPr bwMode="auto">
            <a:xfrm>
              <a:off x="3697" y="3087"/>
              <a:ext cx="756" cy="390"/>
              <a:chOff x="3492" y="1368"/>
              <a:chExt cx="714" cy="390"/>
            </a:xfrm>
          </p:grpSpPr>
          <p:sp>
            <p:nvSpPr>
              <p:cNvPr id="741423" name="Rectangle 47"/>
              <p:cNvSpPr>
                <a:spLocks noChangeArrowheads="1"/>
              </p:cNvSpPr>
              <p:nvPr/>
            </p:nvSpPr>
            <p:spPr bwMode="auto">
              <a:xfrm>
                <a:off x="3492" y="1368"/>
                <a:ext cx="714" cy="210"/>
              </a:xfrm>
              <a:prstGeom prst="rect">
                <a:avLst/>
              </a:prstGeom>
              <a:solidFill>
                <a:srgbClr val="99CCFF"/>
              </a:solidFill>
              <a:ln w="9525" algn="ctr">
                <a:solidFill>
                  <a:schemeClr val="tx1"/>
                </a:solidFill>
                <a:miter lim="800000"/>
                <a:headEnd/>
                <a:tailEnd/>
              </a:ln>
              <a:effectLst/>
            </p:spPr>
            <p:txBody>
              <a:bodyPr wrap="none" anchor="ctr"/>
              <a:lstStyle/>
              <a:p>
                <a:r>
                  <a:rPr lang="en-US" altLang="zh-CN" sz="1200">
                    <a:latin typeface="Times New Roman" pitchFamily="18" charset="0"/>
                  </a:rPr>
                  <a:t>VICVectAddr15</a:t>
                </a:r>
              </a:p>
            </p:txBody>
          </p:sp>
          <p:sp>
            <p:nvSpPr>
              <p:cNvPr id="741424" name="Rectangle 48"/>
              <p:cNvSpPr>
                <a:spLocks noChangeArrowheads="1"/>
              </p:cNvSpPr>
              <p:nvPr/>
            </p:nvSpPr>
            <p:spPr bwMode="auto">
              <a:xfrm>
                <a:off x="3492" y="1572"/>
                <a:ext cx="714" cy="186"/>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latin typeface="Times New Roman" pitchFamily="18" charset="0"/>
                  </a:rPr>
                  <a:t>VICVectCntl15</a:t>
                </a:r>
              </a:p>
            </p:txBody>
          </p:sp>
        </p:grpSp>
        <p:sp>
          <p:nvSpPr>
            <p:cNvPr id="741425" name="Rectangle 49"/>
            <p:cNvSpPr>
              <a:spLocks noChangeArrowheads="1"/>
            </p:cNvSpPr>
            <p:nvPr/>
          </p:nvSpPr>
          <p:spPr bwMode="auto">
            <a:xfrm>
              <a:off x="3697" y="3555"/>
              <a:ext cx="756" cy="167"/>
            </a:xfrm>
            <a:prstGeom prst="rect">
              <a:avLst/>
            </a:prstGeom>
            <a:solidFill>
              <a:srgbClr val="99CCFF"/>
            </a:solidFill>
            <a:ln w="9525" algn="ctr">
              <a:solidFill>
                <a:schemeClr val="tx1"/>
              </a:solidFill>
              <a:miter lim="800000"/>
              <a:headEnd/>
              <a:tailEnd/>
            </a:ln>
            <a:effectLst/>
          </p:spPr>
          <p:txBody>
            <a:bodyPr wrap="none" anchor="ctr"/>
            <a:lstStyle/>
            <a:p>
              <a:r>
                <a:rPr lang="en-US" altLang="zh-CN" sz="1200">
                  <a:latin typeface="Times New Roman" pitchFamily="18" charset="0"/>
                </a:rPr>
                <a:t>VICDefVectAddr</a:t>
              </a:r>
            </a:p>
          </p:txBody>
        </p:sp>
        <p:sp>
          <p:nvSpPr>
            <p:cNvPr id="741426" name="Line 50"/>
            <p:cNvSpPr>
              <a:spLocks noChangeShapeType="1"/>
            </p:cNvSpPr>
            <p:nvPr/>
          </p:nvSpPr>
          <p:spPr bwMode="auto">
            <a:xfrm>
              <a:off x="1871" y="2559"/>
              <a:ext cx="0" cy="138"/>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1427" name="Line 51"/>
            <p:cNvSpPr>
              <a:spLocks noChangeShapeType="1"/>
            </p:cNvSpPr>
            <p:nvPr/>
          </p:nvSpPr>
          <p:spPr bwMode="auto">
            <a:xfrm>
              <a:off x="2737" y="2541"/>
              <a:ext cx="0" cy="132"/>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1428" name="Line 52"/>
            <p:cNvSpPr>
              <a:spLocks noChangeShapeType="1"/>
            </p:cNvSpPr>
            <p:nvPr/>
          </p:nvSpPr>
          <p:spPr bwMode="auto">
            <a:xfrm>
              <a:off x="1859" y="3279"/>
              <a:ext cx="0" cy="138"/>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1429" name="Line 53"/>
            <p:cNvSpPr>
              <a:spLocks noChangeShapeType="1"/>
            </p:cNvSpPr>
            <p:nvPr/>
          </p:nvSpPr>
          <p:spPr bwMode="auto">
            <a:xfrm>
              <a:off x="2737" y="3261"/>
              <a:ext cx="0" cy="114"/>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1430" name="Rectangle 54"/>
            <p:cNvSpPr>
              <a:spLocks noChangeArrowheads="1"/>
            </p:cNvSpPr>
            <p:nvPr/>
          </p:nvSpPr>
          <p:spPr bwMode="auto">
            <a:xfrm>
              <a:off x="3430" y="2558"/>
              <a:ext cx="268" cy="1164"/>
            </a:xfrm>
            <a:prstGeom prst="rect">
              <a:avLst/>
            </a:prstGeom>
            <a:solidFill>
              <a:srgbClr val="CCFFFF"/>
            </a:solidFill>
            <a:ln w="9525" algn="ctr">
              <a:solidFill>
                <a:schemeClr val="tx1"/>
              </a:solidFill>
              <a:miter lim="800000"/>
              <a:headEnd/>
              <a:tailEnd/>
            </a:ln>
            <a:effectLst/>
          </p:spPr>
          <p:txBody>
            <a:bodyPr wrap="none" anchor="ctr"/>
            <a:lstStyle/>
            <a:p>
              <a:r>
                <a:rPr lang="en-US" altLang="zh-CN" sz="1200">
                  <a:latin typeface="Arial" charset="0"/>
                </a:rPr>
                <a:t>IRQ</a:t>
              </a:r>
            </a:p>
            <a:p>
              <a:r>
                <a:rPr lang="zh-CN" altLang="en-US" sz="1200">
                  <a:latin typeface="Arial" charset="0"/>
                </a:rPr>
                <a:t>通道</a:t>
              </a:r>
            </a:p>
            <a:p>
              <a:r>
                <a:rPr lang="zh-CN" altLang="en-US" sz="1200">
                  <a:latin typeface="Arial" charset="0"/>
                </a:rPr>
                <a:t>分配</a:t>
              </a:r>
            </a:p>
          </p:txBody>
        </p:sp>
      </p:grpSp>
      <p:sp>
        <p:nvSpPr>
          <p:cNvPr id="741431" name="Oval 55"/>
          <p:cNvSpPr>
            <a:spLocks noChangeArrowheads="1"/>
          </p:cNvSpPr>
          <p:nvPr/>
        </p:nvSpPr>
        <p:spPr bwMode="auto">
          <a:xfrm>
            <a:off x="3621088" y="4202788"/>
            <a:ext cx="259766" cy="519351"/>
          </a:xfrm>
          <a:prstGeom prst="ellipse">
            <a:avLst/>
          </a:prstGeom>
          <a:noFill/>
          <a:ln w="19050" algn="ctr">
            <a:solidFill>
              <a:srgbClr val="FF0000"/>
            </a:solidFill>
            <a:round/>
            <a:headEnd/>
            <a:tailEnd/>
          </a:ln>
          <a:effectLst/>
        </p:spPr>
        <p:txBody>
          <a:bodyPr wrap="none" anchor="ctr">
            <a:spAutoFit/>
          </a:bodyPr>
          <a:lstStyle/>
          <a:p>
            <a:endParaRPr lang="zh-CN" altLang="en-US"/>
          </a:p>
        </p:txBody>
      </p:sp>
      <p:sp>
        <p:nvSpPr>
          <p:cNvPr id="741432" name="Freeform 56"/>
          <p:cNvSpPr>
            <a:spLocks/>
          </p:cNvSpPr>
          <p:nvPr/>
        </p:nvSpPr>
        <p:spPr bwMode="auto">
          <a:xfrm>
            <a:off x="1550989" y="2852738"/>
            <a:ext cx="2192337" cy="369332"/>
          </a:xfrm>
          <a:custGeom>
            <a:avLst/>
            <a:gdLst/>
            <a:ahLst/>
            <a:cxnLst>
              <a:cxn ang="0">
                <a:pos x="467" y="0"/>
              </a:cxn>
              <a:cxn ang="0">
                <a:pos x="152" y="207"/>
              </a:cxn>
              <a:cxn ang="0">
                <a:pos x="1381" y="899"/>
              </a:cxn>
            </a:cxnLst>
            <a:rect l="0" t="0" r="r" b="b"/>
            <a:pathLst>
              <a:path w="1381" h="899">
                <a:moveTo>
                  <a:pt x="467" y="0"/>
                </a:moveTo>
                <a:cubicBezTo>
                  <a:pt x="233" y="28"/>
                  <a:pt x="0" y="57"/>
                  <a:pt x="152" y="207"/>
                </a:cubicBezTo>
                <a:cubicBezTo>
                  <a:pt x="304" y="357"/>
                  <a:pt x="1130" y="784"/>
                  <a:pt x="1381" y="899"/>
                </a:cubicBezTo>
              </a:path>
            </a:pathLst>
          </a:custGeom>
          <a:noFill/>
          <a:ln w="19050" cap="flat" cmpd="sng">
            <a:solidFill>
              <a:srgbClr val="FF0000"/>
            </a:solidFill>
            <a:prstDash val="solid"/>
            <a:round/>
            <a:headEnd/>
            <a:tailEnd type="triangle" w="med" len="med"/>
          </a:ln>
          <a:effectLst/>
        </p:spPr>
        <p:txBody>
          <a:bodyP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41379"/>
                                        </p:tgtEl>
                                        <p:attrNameLst>
                                          <p:attrName>style.visibility</p:attrName>
                                        </p:attrNameLst>
                                      </p:cBhvr>
                                      <p:to>
                                        <p:strVal val="visible"/>
                                      </p:to>
                                    </p:set>
                                    <p:anim calcmode="lin" valueType="num">
                                      <p:cBhvr additive="base">
                                        <p:cTn id="7" dur="500" fill="hold"/>
                                        <p:tgtEl>
                                          <p:spTgt spid="741379"/>
                                        </p:tgtEl>
                                        <p:attrNameLst>
                                          <p:attrName>ppt_x</p:attrName>
                                        </p:attrNameLst>
                                      </p:cBhvr>
                                      <p:tavLst>
                                        <p:tav tm="0">
                                          <p:val>
                                            <p:strVal val="1+#ppt_w/2"/>
                                          </p:val>
                                        </p:tav>
                                        <p:tav tm="100000">
                                          <p:val>
                                            <p:strVal val="#ppt_x"/>
                                          </p:val>
                                        </p:tav>
                                      </p:tavLst>
                                    </p:anim>
                                    <p:anim calcmode="lin" valueType="num">
                                      <p:cBhvr additive="base">
                                        <p:cTn id="8" dur="500" fill="hold"/>
                                        <p:tgtEl>
                                          <p:spTgt spid="74137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741380"/>
                                        </p:tgtEl>
                                        <p:attrNameLst>
                                          <p:attrName>style.visibility</p:attrName>
                                        </p:attrNameLst>
                                      </p:cBhvr>
                                      <p:to>
                                        <p:strVal val="visible"/>
                                      </p:to>
                                    </p:set>
                                    <p:animEffect transition="in" filter="wipe(up)">
                                      <p:cBhvr>
                                        <p:cTn id="12" dur="500"/>
                                        <p:tgtEl>
                                          <p:spTgt spid="741380"/>
                                        </p:tgtEl>
                                      </p:cBhvr>
                                    </p:animEffect>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741381"/>
                                        </p:tgtEl>
                                        <p:attrNameLst>
                                          <p:attrName>style.visibility</p:attrName>
                                        </p:attrNameLst>
                                      </p:cBhvr>
                                      <p:to>
                                        <p:strVal val="visible"/>
                                      </p:to>
                                    </p:set>
                                    <p:animEffect transition="in" filter="wipe(up)">
                                      <p:cBhvr>
                                        <p:cTn id="16" dur="500"/>
                                        <p:tgtEl>
                                          <p:spTgt spid="741381"/>
                                        </p:tgtEl>
                                      </p:cBhvr>
                                    </p:animEffect>
                                  </p:childTnLst>
                                </p:cTn>
                              </p:par>
                            </p:childTnLst>
                          </p:cTn>
                        </p:par>
                        <p:par>
                          <p:cTn id="17" fill="hold">
                            <p:stCondLst>
                              <p:cond delay="1500"/>
                            </p:stCondLst>
                            <p:childTnLst>
                              <p:par>
                                <p:cTn id="18" presetID="3" presetClass="entr" presetSubtype="10" fill="hold" grpId="0" nodeType="afterEffect">
                                  <p:stCondLst>
                                    <p:cond delay="0"/>
                                  </p:stCondLst>
                                  <p:childTnLst>
                                    <p:set>
                                      <p:cBhvr>
                                        <p:cTn id="19" dur="1" fill="hold">
                                          <p:stCondLst>
                                            <p:cond delay="0"/>
                                          </p:stCondLst>
                                        </p:cTn>
                                        <p:tgtEl>
                                          <p:spTgt spid="741431"/>
                                        </p:tgtEl>
                                        <p:attrNameLst>
                                          <p:attrName>style.visibility</p:attrName>
                                        </p:attrNameLst>
                                      </p:cBhvr>
                                      <p:to>
                                        <p:strVal val="visible"/>
                                      </p:to>
                                    </p:set>
                                    <p:animEffect transition="in" filter="blinds(horizontal)">
                                      <p:cBhvr>
                                        <p:cTn id="20" dur="500"/>
                                        <p:tgtEl>
                                          <p:spTgt spid="741431"/>
                                        </p:tgtEl>
                                      </p:cBhvr>
                                    </p:animEffect>
                                  </p:childTnLst>
                                </p:cTn>
                              </p:par>
                            </p:childTnLst>
                          </p:cTn>
                        </p:par>
                        <p:par>
                          <p:cTn id="21" fill="hold">
                            <p:stCondLst>
                              <p:cond delay="2000"/>
                            </p:stCondLst>
                            <p:childTnLst>
                              <p:par>
                                <p:cTn id="22" presetID="22" presetClass="entr" presetSubtype="1" fill="hold" grpId="0" nodeType="afterEffect">
                                  <p:stCondLst>
                                    <p:cond delay="0"/>
                                  </p:stCondLst>
                                  <p:childTnLst>
                                    <p:set>
                                      <p:cBhvr>
                                        <p:cTn id="23" dur="1" fill="hold">
                                          <p:stCondLst>
                                            <p:cond delay="0"/>
                                          </p:stCondLst>
                                        </p:cTn>
                                        <p:tgtEl>
                                          <p:spTgt spid="741432"/>
                                        </p:tgtEl>
                                        <p:attrNameLst>
                                          <p:attrName>style.visibility</p:attrName>
                                        </p:attrNameLst>
                                      </p:cBhvr>
                                      <p:to>
                                        <p:strVal val="visible"/>
                                      </p:to>
                                    </p:set>
                                    <p:animEffect transition="in" filter="wipe(up)">
                                      <p:cBhvr>
                                        <p:cTn id="24" dur="500"/>
                                        <p:tgtEl>
                                          <p:spTgt spid="741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1379" grpId="0"/>
      <p:bldP spid="741380" grpId="0"/>
      <p:bldP spid="741431" grpId="0" animBg="1"/>
      <p:bldP spid="741432"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2402" name="Rectangle 2"/>
          <p:cNvSpPr>
            <a:spLocks noChangeArrowheads="1"/>
          </p:cNvSpPr>
          <p:nvPr/>
        </p:nvSpPr>
        <p:spPr bwMode="auto">
          <a:xfrm>
            <a:off x="2133600" y="698500"/>
            <a:ext cx="7772400" cy="1143000"/>
          </a:xfrm>
          <a:prstGeom prst="rect">
            <a:avLst/>
          </a:prstGeom>
          <a:noFill/>
          <a:ln w="9525">
            <a:noFill/>
            <a:miter lim="800000"/>
            <a:headEnd/>
            <a:tailEnd/>
          </a:ln>
          <a:effectLst/>
        </p:spPr>
        <p:txBody>
          <a:bodyPr anchor="ctr"/>
          <a:lstStyle/>
          <a:p>
            <a:r>
              <a:rPr lang="en-US" altLang="zh-CN" sz="4400">
                <a:solidFill>
                  <a:schemeClr val="tx2"/>
                </a:solidFill>
                <a:latin typeface="Times New Roman" pitchFamily="18" charset="0"/>
              </a:rPr>
              <a:t>UART</a:t>
            </a:r>
            <a:r>
              <a:rPr lang="zh-CN" altLang="en-US" sz="4400">
                <a:solidFill>
                  <a:schemeClr val="tx2"/>
                </a:solidFill>
                <a:latin typeface="Times New Roman" pitchFamily="18" charset="0"/>
              </a:rPr>
              <a:t>中断</a:t>
            </a:r>
          </a:p>
        </p:txBody>
      </p:sp>
      <p:sp>
        <p:nvSpPr>
          <p:cNvPr id="742403" name="Rectangle 3"/>
          <p:cNvSpPr>
            <a:spLocks noChangeArrowheads="1"/>
          </p:cNvSpPr>
          <p:nvPr/>
        </p:nvSpPr>
        <p:spPr bwMode="auto">
          <a:xfrm>
            <a:off x="2209800" y="19415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UART0</a:t>
            </a:r>
            <a:r>
              <a:rPr lang="zh-CN" altLang="en-US" sz="3200">
                <a:latin typeface="Times New Roman" pitchFamily="18" charset="0"/>
              </a:rPr>
              <a:t>与</a:t>
            </a:r>
            <a:r>
              <a:rPr lang="en-US" altLang="zh-CN" sz="3200">
                <a:latin typeface="Times New Roman" pitchFamily="18" charset="0"/>
              </a:rPr>
              <a:t>VIC</a:t>
            </a:r>
            <a:r>
              <a:rPr lang="zh-CN" altLang="en-US" sz="3200">
                <a:latin typeface="Times New Roman" pitchFamily="18" charset="0"/>
              </a:rPr>
              <a:t>的关系</a:t>
            </a:r>
          </a:p>
        </p:txBody>
      </p:sp>
      <p:sp>
        <p:nvSpPr>
          <p:cNvPr id="742404" name="Text Box 4"/>
          <p:cNvSpPr txBox="1">
            <a:spLocks noChangeArrowheads="1"/>
          </p:cNvSpPr>
          <p:nvPr/>
        </p:nvSpPr>
        <p:spPr bwMode="auto">
          <a:xfrm>
            <a:off x="2216151" y="2649538"/>
            <a:ext cx="6557963" cy="457200"/>
          </a:xfrm>
          <a:prstGeom prst="rect">
            <a:avLst/>
          </a:prstGeom>
          <a:noFill/>
          <a:ln w="9525" algn="ctr">
            <a:noFill/>
            <a:miter lim="800000"/>
            <a:headEnd/>
            <a:tailEnd/>
          </a:ln>
          <a:effectLst/>
        </p:spPr>
        <p:txBody>
          <a:bodyPr>
            <a:spAutoFit/>
          </a:bodyPr>
          <a:lstStyle/>
          <a:p>
            <a:pPr algn="l">
              <a:buFont typeface="Wingdings" pitchFamily="2" charset="2"/>
              <a:buChar char="Ø"/>
            </a:pPr>
            <a:r>
              <a:rPr lang="zh-CN" altLang="en-US" sz="2400">
                <a:solidFill>
                  <a:schemeClr val="accent2"/>
                </a:solidFill>
                <a:latin typeface="Times New Roman" pitchFamily="18" charset="0"/>
                <a:ea typeface="华文新魏" pitchFamily="2" charset="-122"/>
              </a:rPr>
              <a:t>当</a:t>
            </a:r>
            <a:r>
              <a:rPr lang="en-US" altLang="zh-CN" sz="2400">
                <a:solidFill>
                  <a:schemeClr val="accent2"/>
                </a:solidFill>
                <a:latin typeface="Times New Roman" pitchFamily="18" charset="0"/>
                <a:ea typeface="华文新魏" pitchFamily="2" charset="-122"/>
              </a:rPr>
              <a:t>VICIntEnable[6] = 0</a:t>
            </a:r>
            <a:r>
              <a:rPr lang="zh-CN" altLang="en-US" sz="2400">
                <a:solidFill>
                  <a:schemeClr val="accent2"/>
                </a:solidFill>
                <a:latin typeface="Times New Roman" pitchFamily="18" charset="0"/>
                <a:ea typeface="华文新魏" pitchFamily="2" charset="-122"/>
              </a:rPr>
              <a:t>时，通道</a:t>
            </a:r>
            <a:r>
              <a:rPr lang="en-US" altLang="zh-CN" sz="2400">
                <a:solidFill>
                  <a:schemeClr val="accent2"/>
                </a:solidFill>
                <a:latin typeface="Times New Roman" pitchFamily="18" charset="0"/>
                <a:ea typeface="华文新魏" pitchFamily="2" charset="-122"/>
              </a:rPr>
              <a:t>6</a:t>
            </a:r>
            <a:r>
              <a:rPr lang="zh-CN" altLang="en-US" sz="2400">
                <a:solidFill>
                  <a:schemeClr val="accent2"/>
                </a:solidFill>
                <a:latin typeface="Times New Roman" pitchFamily="18" charset="0"/>
                <a:ea typeface="华文新魏" pitchFamily="2" charset="-122"/>
              </a:rPr>
              <a:t>中断禁止；</a:t>
            </a:r>
          </a:p>
        </p:txBody>
      </p:sp>
      <p:grpSp>
        <p:nvGrpSpPr>
          <p:cNvPr id="742405" name="Group 5"/>
          <p:cNvGrpSpPr>
            <a:grpSpLocks/>
          </p:cNvGrpSpPr>
          <p:nvPr/>
        </p:nvGrpSpPr>
        <p:grpSpPr bwMode="auto">
          <a:xfrm>
            <a:off x="2165351" y="3802063"/>
            <a:ext cx="7699375" cy="2106612"/>
            <a:chOff x="404" y="2395"/>
            <a:chExt cx="4850" cy="1327"/>
          </a:xfrm>
        </p:grpSpPr>
        <p:sp>
          <p:nvSpPr>
            <p:cNvPr id="742406" name="Rectangle 6"/>
            <p:cNvSpPr>
              <a:spLocks noChangeArrowheads="1"/>
            </p:cNvSpPr>
            <p:nvPr/>
          </p:nvSpPr>
          <p:spPr bwMode="auto">
            <a:xfrm>
              <a:off x="2419" y="2661"/>
              <a:ext cx="492" cy="33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742407" name="Rectangle 7"/>
            <p:cNvSpPr>
              <a:spLocks noChangeArrowheads="1"/>
            </p:cNvSpPr>
            <p:nvPr/>
          </p:nvSpPr>
          <p:spPr bwMode="auto">
            <a:xfrm>
              <a:off x="1631" y="2703"/>
              <a:ext cx="330" cy="264"/>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742408" name="Rectangle 8"/>
            <p:cNvSpPr>
              <a:spLocks noChangeArrowheads="1"/>
            </p:cNvSpPr>
            <p:nvPr/>
          </p:nvSpPr>
          <p:spPr bwMode="auto">
            <a:xfrm>
              <a:off x="1071" y="2728"/>
              <a:ext cx="432" cy="232"/>
            </a:xfrm>
            <a:prstGeom prst="rect">
              <a:avLst/>
            </a:prstGeom>
            <a:solidFill>
              <a:srgbClr val="FFCC99"/>
            </a:solidFill>
            <a:ln w="9525" algn="ctr">
              <a:solidFill>
                <a:schemeClr val="tx1"/>
              </a:solidFill>
              <a:miter lim="800000"/>
              <a:headEnd/>
              <a:tailEnd/>
            </a:ln>
            <a:effectLst/>
          </p:spPr>
          <p:txBody>
            <a:bodyPr wrap="none" anchor="ctr"/>
            <a:lstStyle/>
            <a:p>
              <a:r>
                <a:rPr lang="zh-CN" altLang="en-US" sz="1200">
                  <a:latin typeface="Arial" charset="0"/>
                </a:rPr>
                <a:t>通道</a:t>
              </a:r>
              <a:r>
                <a:rPr lang="en-US" altLang="zh-CN" sz="1200">
                  <a:latin typeface="Arial" charset="0"/>
                </a:rPr>
                <a:t>6</a:t>
              </a:r>
            </a:p>
          </p:txBody>
        </p:sp>
        <p:sp>
          <p:nvSpPr>
            <p:cNvPr id="742409" name="Text Box 9"/>
            <p:cNvSpPr txBox="1">
              <a:spLocks noChangeArrowheads="1"/>
            </p:cNvSpPr>
            <p:nvPr/>
          </p:nvSpPr>
          <p:spPr bwMode="auto">
            <a:xfrm>
              <a:off x="404" y="2752"/>
              <a:ext cx="497"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UART0</a:t>
              </a:r>
            </a:p>
          </p:txBody>
        </p:sp>
        <p:sp>
          <p:nvSpPr>
            <p:cNvPr id="742410" name="Text Box 10"/>
            <p:cNvSpPr txBox="1">
              <a:spLocks noChangeArrowheads="1"/>
            </p:cNvSpPr>
            <p:nvPr/>
          </p:nvSpPr>
          <p:spPr bwMode="auto">
            <a:xfrm>
              <a:off x="4375" y="2592"/>
              <a:ext cx="762" cy="173"/>
            </a:xfrm>
            <a:prstGeom prst="rect">
              <a:avLst/>
            </a:prstGeom>
            <a:noFill/>
            <a:ln w="9525" algn="ctr">
              <a:noFill/>
              <a:miter lim="800000"/>
              <a:headEnd/>
              <a:tailEnd/>
            </a:ln>
            <a:effectLst/>
          </p:spPr>
          <p:txBody>
            <a:bodyPr>
              <a:spAutoFit/>
            </a:bodyPr>
            <a:lstStyle/>
            <a:p>
              <a:r>
                <a:rPr lang="zh-CN" altLang="en-US" sz="1200">
                  <a:latin typeface="Times New Roman" pitchFamily="18" charset="0"/>
                </a:rPr>
                <a:t>向量</a:t>
              </a:r>
              <a:r>
                <a:rPr lang="en-US" altLang="zh-CN" sz="1200">
                  <a:latin typeface="Times New Roman" pitchFamily="18" charset="0"/>
                </a:rPr>
                <a:t>IRQ</a:t>
              </a:r>
              <a:r>
                <a:rPr lang="zh-CN" altLang="en-US" sz="1200">
                  <a:latin typeface="Times New Roman" pitchFamily="18" charset="0"/>
                </a:rPr>
                <a:t>通道</a:t>
              </a:r>
              <a:r>
                <a:rPr lang="en-US" altLang="zh-CN" sz="1200">
                  <a:latin typeface="Times New Roman" pitchFamily="18" charset="0"/>
                </a:rPr>
                <a:t>0</a:t>
              </a:r>
            </a:p>
          </p:txBody>
        </p:sp>
        <p:sp>
          <p:nvSpPr>
            <p:cNvPr id="742411" name="Text Box 11"/>
            <p:cNvSpPr txBox="1">
              <a:spLocks noChangeArrowheads="1"/>
            </p:cNvSpPr>
            <p:nvPr/>
          </p:nvSpPr>
          <p:spPr bwMode="auto">
            <a:xfrm>
              <a:off x="4375" y="3130"/>
              <a:ext cx="818" cy="173"/>
            </a:xfrm>
            <a:prstGeom prst="rect">
              <a:avLst/>
            </a:prstGeom>
            <a:noFill/>
            <a:ln w="9525" algn="ctr">
              <a:noFill/>
              <a:miter lim="800000"/>
              <a:headEnd/>
              <a:tailEnd/>
            </a:ln>
            <a:effectLst/>
          </p:spPr>
          <p:txBody>
            <a:bodyPr>
              <a:spAutoFit/>
            </a:bodyPr>
            <a:lstStyle/>
            <a:p>
              <a:r>
                <a:rPr lang="zh-CN" altLang="en-US" sz="1200">
                  <a:latin typeface="Times New Roman" pitchFamily="18" charset="0"/>
                </a:rPr>
                <a:t>向量</a:t>
              </a:r>
              <a:r>
                <a:rPr lang="en-US" altLang="zh-CN" sz="1200">
                  <a:latin typeface="Times New Roman" pitchFamily="18" charset="0"/>
                </a:rPr>
                <a:t>IRQ</a:t>
              </a:r>
              <a:r>
                <a:rPr lang="zh-CN" altLang="en-US" sz="1200">
                  <a:latin typeface="Times New Roman" pitchFamily="18" charset="0"/>
                </a:rPr>
                <a:t>通道</a:t>
              </a:r>
              <a:r>
                <a:rPr lang="en-US" altLang="zh-CN" sz="1200">
                  <a:latin typeface="Times New Roman" pitchFamily="18" charset="0"/>
                </a:rPr>
                <a:t>15</a:t>
              </a:r>
            </a:p>
          </p:txBody>
        </p:sp>
        <p:sp>
          <p:nvSpPr>
            <p:cNvPr id="742412" name="Text Box 12"/>
            <p:cNvSpPr txBox="1">
              <a:spLocks noChangeArrowheads="1"/>
            </p:cNvSpPr>
            <p:nvPr/>
          </p:nvSpPr>
          <p:spPr bwMode="auto">
            <a:xfrm>
              <a:off x="4375" y="3488"/>
              <a:ext cx="807" cy="173"/>
            </a:xfrm>
            <a:prstGeom prst="rect">
              <a:avLst/>
            </a:prstGeom>
            <a:noFill/>
            <a:ln w="9525" algn="ctr">
              <a:noFill/>
              <a:miter lim="800000"/>
              <a:headEnd/>
              <a:tailEnd/>
            </a:ln>
            <a:effectLst/>
          </p:spPr>
          <p:txBody>
            <a:bodyPr>
              <a:spAutoFit/>
            </a:bodyPr>
            <a:lstStyle/>
            <a:p>
              <a:r>
                <a:rPr lang="zh-CN" altLang="en-US" sz="1200">
                  <a:latin typeface="Times New Roman" pitchFamily="18" charset="0"/>
                </a:rPr>
                <a:t>非向量</a:t>
              </a:r>
              <a:r>
                <a:rPr lang="en-US" altLang="zh-CN" sz="1200">
                  <a:latin typeface="Times New Roman" pitchFamily="18" charset="0"/>
                </a:rPr>
                <a:t>IRQ</a:t>
              </a:r>
              <a:r>
                <a:rPr lang="zh-CN" altLang="en-US" sz="1200">
                  <a:latin typeface="Times New Roman" pitchFamily="18" charset="0"/>
                </a:rPr>
                <a:t>通道</a:t>
              </a:r>
            </a:p>
          </p:txBody>
        </p:sp>
        <p:sp>
          <p:nvSpPr>
            <p:cNvPr id="742413" name="Line 13"/>
            <p:cNvSpPr>
              <a:spLocks noChangeShapeType="1"/>
            </p:cNvSpPr>
            <p:nvPr/>
          </p:nvSpPr>
          <p:spPr bwMode="auto">
            <a:xfrm>
              <a:off x="4366" y="2761"/>
              <a:ext cx="88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2414" name="Line 14"/>
            <p:cNvSpPr>
              <a:spLocks noChangeShapeType="1"/>
            </p:cNvSpPr>
            <p:nvPr/>
          </p:nvSpPr>
          <p:spPr bwMode="auto">
            <a:xfrm>
              <a:off x="4376" y="3293"/>
              <a:ext cx="84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2415" name="Line 15"/>
            <p:cNvSpPr>
              <a:spLocks noChangeShapeType="1"/>
            </p:cNvSpPr>
            <p:nvPr/>
          </p:nvSpPr>
          <p:spPr bwMode="auto">
            <a:xfrm>
              <a:off x="4382" y="3639"/>
              <a:ext cx="842"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2416" name="Line 16"/>
            <p:cNvSpPr>
              <a:spLocks noChangeShapeType="1"/>
            </p:cNvSpPr>
            <p:nvPr/>
          </p:nvSpPr>
          <p:spPr bwMode="auto">
            <a:xfrm>
              <a:off x="4804" y="2863"/>
              <a:ext cx="0" cy="216"/>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742417" name="Line 17"/>
            <p:cNvSpPr>
              <a:spLocks noChangeShapeType="1"/>
            </p:cNvSpPr>
            <p:nvPr/>
          </p:nvSpPr>
          <p:spPr bwMode="auto">
            <a:xfrm>
              <a:off x="1510" y="2841"/>
              <a:ext cx="182"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742418" name="Line 18"/>
            <p:cNvSpPr>
              <a:spLocks noChangeShapeType="1"/>
            </p:cNvSpPr>
            <p:nvPr/>
          </p:nvSpPr>
          <p:spPr bwMode="auto">
            <a:xfrm>
              <a:off x="871" y="2841"/>
              <a:ext cx="2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2419" name="Line 19"/>
            <p:cNvSpPr>
              <a:spLocks noChangeShapeType="1"/>
            </p:cNvSpPr>
            <p:nvPr/>
          </p:nvSpPr>
          <p:spPr bwMode="auto">
            <a:xfrm>
              <a:off x="1881" y="2842"/>
              <a:ext cx="658" cy="0"/>
            </a:xfrm>
            <a:prstGeom prst="line">
              <a:avLst/>
            </a:prstGeom>
            <a:noFill/>
            <a:ln w="9525">
              <a:solidFill>
                <a:schemeClr val="tx1"/>
              </a:solidFill>
              <a:round/>
              <a:headEnd type="oval" w="sm" len="sm"/>
              <a:tailEnd type="oval" w="sm" len="sm"/>
            </a:ln>
            <a:effectLst/>
          </p:spPr>
          <p:txBody>
            <a:bodyPr wrap="none" anchor="ctr"/>
            <a:lstStyle/>
            <a:p>
              <a:endParaRPr lang="zh-CN" altLang="en-US"/>
            </a:p>
          </p:txBody>
        </p:sp>
        <p:sp>
          <p:nvSpPr>
            <p:cNvPr id="742420" name="Line 20"/>
            <p:cNvSpPr>
              <a:spLocks noChangeShapeType="1"/>
            </p:cNvSpPr>
            <p:nvPr/>
          </p:nvSpPr>
          <p:spPr bwMode="auto">
            <a:xfrm>
              <a:off x="2797" y="2733"/>
              <a:ext cx="558"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742421" name="Line 21"/>
            <p:cNvSpPr>
              <a:spLocks noChangeShapeType="1"/>
            </p:cNvSpPr>
            <p:nvPr/>
          </p:nvSpPr>
          <p:spPr bwMode="auto">
            <a:xfrm>
              <a:off x="2797" y="2937"/>
              <a:ext cx="420"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742422" name="Line 22"/>
            <p:cNvSpPr>
              <a:spLocks noChangeShapeType="1"/>
            </p:cNvSpPr>
            <p:nvPr/>
          </p:nvSpPr>
          <p:spPr bwMode="auto">
            <a:xfrm flipV="1">
              <a:off x="2545" y="2701"/>
              <a:ext cx="266" cy="140"/>
            </a:xfrm>
            <a:prstGeom prst="line">
              <a:avLst/>
            </a:prstGeom>
            <a:noFill/>
            <a:ln w="9525">
              <a:solidFill>
                <a:schemeClr val="tx1"/>
              </a:solidFill>
              <a:round/>
              <a:headEnd/>
              <a:tailEnd/>
            </a:ln>
            <a:effectLst/>
          </p:spPr>
          <p:txBody>
            <a:bodyPr wrap="none" anchor="ctr"/>
            <a:lstStyle/>
            <a:p>
              <a:endParaRPr lang="zh-CN" altLang="en-US"/>
            </a:p>
          </p:txBody>
        </p:sp>
        <p:sp>
          <p:nvSpPr>
            <p:cNvPr id="742423" name="Text Box 23"/>
            <p:cNvSpPr txBox="1">
              <a:spLocks noChangeArrowheads="1"/>
            </p:cNvSpPr>
            <p:nvPr/>
          </p:nvSpPr>
          <p:spPr bwMode="auto">
            <a:xfrm>
              <a:off x="2268" y="2395"/>
              <a:ext cx="798"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VICIntSelect[6]</a:t>
              </a:r>
            </a:p>
          </p:txBody>
        </p:sp>
        <p:sp>
          <p:nvSpPr>
            <p:cNvPr id="742424" name="Line 24"/>
            <p:cNvSpPr>
              <a:spLocks noChangeShapeType="1"/>
            </p:cNvSpPr>
            <p:nvPr/>
          </p:nvSpPr>
          <p:spPr bwMode="auto">
            <a:xfrm flipV="1">
              <a:off x="1691" y="2823"/>
              <a:ext cx="192" cy="18"/>
            </a:xfrm>
            <a:prstGeom prst="line">
              <a:avLst/>
            </a:prstGeom>
            <a:noFill/>
            <a:ln w="9525">
              <a:solidFill>
                <a:srgbClr val="FF0000"/>
              </a:solidFill>
              <a:round/>
              <a:headEnd/>
              <a:tailEnd/>
            </a:ln>
            <a:effectLst/>
          </p:spPr>
          <p:txBody>
            <a:bodyPr wrap="none" anchor="ctr"/>
            <a:lstStyle/>
            <a:p>
              <a:endParaRPr lang="zh-CN" altLang="en-US"/>
            </a:p>
          </p:txBody>
        </p:sp>
        <p:sp>
          <p:nvSpPr>
            <p:cNvPr id="742425" name="Text Box 25"/>
            <p:cNvSpPr txBox="1">
              <a:spLocks noChangeArrowheads="1"/>
            </p:cNvSpPr>
            <p:nvPr/>
          </p:nvSpPr>
          <p:spPr bwMode="auto">
            <a:xfrm>
              <a:off x="1338" y="2395"/>
              <a:ext cx="928"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VICIntEnable[6] = 1</a:t>
              </a:r>
            </a:p>
          </p:txBody>
        </p:sp>
        <p:sp>
          <p:nvSpPr>
            <p:cNvPr id="742426" name="Text Box 26"/>
            <p:cNvSpPr txBox="1">
              <a:spLocks noChangeArrowheads="1"/>
            </p:cNvSpPr>
            <p:nvPr/>
          </p:nvSpPr>
          <p:spPr bwMode="auto">
            <a:xfrm>
              <a:off x="2955" y="2574"/>
              <a:ext cx="30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IRQ</a:t>
              </a:r>
            </a:p>
          </p:txBody>
        </p:sp>
        <p:sp>
          <p:nvSpPr>
            <p:cNvPr id="742427" name="Text Box 27"/>
            <p:cNvSpPr txBox="1">
              <a:spLocks noChangeArrowheads="1"/>
            </p:cNvSpPr>
            <p:nvPr/>
          </p:nvSpPr>
          <p:spPr bwMode="auto">
            <a:xfrm>
              <a:off x="2907" y="2784"/>
              <a:ext cx="30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FIQ</a:t>
              </a:r>
            </a:p>
          </p:txBody>
        </p:sp>
        <p:sp>
          <p:nvSpPr>
            <p:cNvPr id="742428" name="Rectangle 28"/>
            <p:cNvSpPr>
              <a:spLocks noChangeArrowheads="1"/>
            </p:cNvSpPr>
            <p:nvPr/>
          </p:nvSpPr>
          <p:spPr bwMode="auto">
            <a:xfrm>
              <a:off x="2419" y="3375"/>
              <a:ext cx="492" cy="33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742429" name="Rectangle 29"/>
            <p:cNvSpPr>
              <a:spLocks noChangeArrowheads="1"/>
            </p:cNvSpPr>
            <p:nvPr/>
          </p:nvSpPr>
          <p:spPr bwMode="auto">
            <a:xfrm>
              <a:off x="1631" y="3417"/>
              <a:ext cx="330" cy="264"/>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742430" name="Rectangle 30"/>
            <p:cNvSpPr>
              <a:spLocks noChangeArrowheads="1"/>
            </p:cNvSpPr>
            <p:nvPr/>
          </p:nvSpPr>
          <p:spPr bwMode="auto">
            <a:xfrm>
              <a:off x="1071" y="3442"/>
              <a:ext cx="432" cy="232"/>
            </a:xfrm>
            <a:prstGeom prst="rect">
              <a:avLst/>
            </a:prstGeom>
            <a:solidFill>
              <a:srgbClr val="FFCC99"/>
            </a:solidFill>
            <a:ln w="9525" algn="ctr">
              <a:solidFill>
                <a:schemeClr val="tx1"/>
              </a:solidFill>
              <a:miter lim="800000"/>
              <a:headEnd/>
              <a:tailEnd/>
            </a:ln>
            <a:effectLst/>
          </p:spPr>
          <p:txBody>
            <a:bodyPr wrap="none" anchor="ctr"/>
            <a:lstStyle/>
            <a:p>
              <a:r>
                <a:rPr lang="zh-CN" altLang="en-US" sz="1200">
                  <a:latin typeface="Arial" charset="0"/>
                </a:rPr>
                <a:t>通道</a:t>
              </a:r>
              <a:r>
                <a:rPr lang="en-US" altLang="zh-CN" sz="1200">
                  <a:latin typeface="Arial" charset="0"/>
                </a:rPr>
                <a:t>7</a:t>
              </a:r>
            </a:p>
          </p:txBody>
        </p:sp>
        <p:sp>
          <p:nvSpPr>
            <p:cNvPr id="742431" name="Text Box 31"/>
            <p:cNvSpPr txBox="1">
              <a:spLocks noChangeArrowheads="1"/>
            </p:cNvSpPr>
            <p:nvPr/>
          </p:nvSpPr>
          <p:spPr bwMode="auto">
            <a:xfrm>
              <a:off x="459" y="3466"/>
              <a:ext cx="425" cy="173"/>
            </a:xfrm>
            <a:prstGeom prst="rect">
              <a:avLst/>
            </a:prstGeom>
            <a:noFill/>
            <a:ln w="9525" algn="ctr">
              <a:noFill/>
              <a:miter lim="800000"/>
              <a:headEnd/>
              <a:tailEnd/>
            </a:ln>
            <a:effectLst/>
          </p:spPr>
          <p:txBody>
            <a:bodyPr wrap="none">
              <a:spAutoFit/>
            </a:bodyPr>
            <a:lstStyle/>
            <a:p>
              <a:r>
                <a:rPr lang="en-US" altLang="zh-CN" sz="1200">
                  <a:latin typeface="Times New Roman" pitchFamily="18" charset="0"/>
                </a:rPr>
                <a:t>UART1</a:t>
              </a:r>
            </a:p>
          </p:txBody>
        </p:sp>
        <p:sp>
          <p:nvSpPr>
            <p:cNvPr id="742432" name="Line 32"/>
            <p:cNvSpPr>
              <a:spLocks noChangeShapeType="1"/>
            </p:cNvSpPr>
            <p:nvPr/>
          </p:nvSpPr>
          <p:spPr bwMode="auto">
            <a:xfrm>
              <a:off x="1510" y="3555"/>
              <a:ext cx="182"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742433" name="Line 33"/>
            <p:cNvSpPr>
              <a:spLocks noChangeShapeType="1"/>
            </p:cNvSpPr>
            <p:nvPr/>
          </p:nvSpPr>
          <p:spPr bwMode="auto">
            <a:xfrm>
              <a:off x="871" y="3555"/>
              <a:ext cx="2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2434" name="Line 34"/>
            <p:cNvSpPr>
              <a:spLocks noChangeShapeType="1"/>
            </p:cNvSpPr>
            <p:nvPr/>
          </p:nvSpPr>
          <p:spPr bwMode="auto">
            <a:xfrm>
              <a:off x="1885" y="3556"/>
              <a:ext cx="654" cy="0"/>
            </a:xfrm>
            <a:prstGeom prst="line">
              <a:avLst/>
            </a:prstGeom>
            <a:noFill/>
            <a:ln w="9525">
              <a:solidFill>
                <a:schemeClr val="tx1"/>
              </a:solidFill>
              <a:round/>
              <a:headEnd type="oval" w="sm" len="sm"/>
              <a:tailEnd type="oval" w="sm" len="sm"/>
            </a:ln>
            <a:effectLst/>
          </p:spPr>
          <p:txBody>
            <a:bodyPr wrap="none" anchor="ctr"/>
            <a:lstStyle/>
            <a:p>
              <a:endParaRPr lang="zh-CN" altLang="en-US"/>
            </a:p>
          </p:txBody>
        </p:sp>
        <p:sp>
          <p:nvSpPr>
            <p:cNvPr id="742435" name="Line 35"/>
            <p:cNvSpPr>
              <a:spLocks noChangeShapeType="1"/>
            </p:cNvSpPr>
            <p:nvPr/>
          </p:nvSpPr>
          <p:spPr bwMode="auto">
            <a:xfrm>
              <a:off x="2797" y="3447"/>
              <a:ext cx="558"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742436" name="Line 36"/>
            <p:cNvSpPr>
              <a:spLocks noChangeShapeType="1"/>
            </p:cNvSpPr>
            <p:nvPr/>
          </p:nvSpPr>
          <p:spPr bwMode="auto">
            <a:xfrm>
              <a:off x="2797" y="3651"/>
              <a:ext cx="402"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742437" name="Line 37"/>
            <p:cNvSpPr>
              <a:spLocks noChangeShapeType="1"/>
            </p:cNvSpPr>
            <p:nvPr/>
          </p:nvSpPr>
          <p:spPr bwMode="auto">
            <a:xfrm flipV="1">
              <a:off x="2545" y="3415"/>
              <a:ext cx="266" cy="140"/>
            </a:xfrm>
            <a:prstGeom prst="line">
              <a:avLst/>
            </a:prstGeom>
            <a:noFill/>
            <a:ln w="9525">
              <a:solidFill>
                <a:schemeClr val="tx1"/>
              </a:solidFill>
              <a:round/>
              <a:headEnd/>
              <a:tailEnd/>
            </a:ln>
            <a:effectLst/>
          </p:spPr>
          <p:txBody>
            <a:bodyPr wrap="none" anchor="ctr"/>
            <a:lstStyle/>
            <a:p>
              <a:endParaRPr lang="zh-CN" altLang="en-US"/>
            </a:p>
          </p:txBody>
        </p:sp>
        <p:sp>
          <p:nvSpPr>
            <p:cNvPr id="742438" name="Text Box 38"/>
            <p:cNvSpPr txBox="1">
              <a:spLocks noChangeArrowheads="1"/>
            </p:cNvSpPr>
            <p:nvPr/>
          </p:nvSpPr>
          <p:spPr bwMode="auto">
            <a:xfrm>
              <a:off x="2258" y="3107"/>
              <a:ext cx="798"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VICIntSelect[7]</a:t>
              </a:r>
            </a:p>
          </p:txBody>
        </p:sp>
        <p:sp>
          <p:nvSpPr>
            <p:cNvPr id="742439" name="Line 39"/>
            <p:cNvSpPr>
              <a:spLocks noChangeShapeType="1"/>
            </p:cNvSpPr>
            <p:nvPr/>
          </p:nvSpPr>
          <p:spPr bwMode="auto">
            <a:xfrm flipV="1">
              <a:off x="1691" y="3475"/>
              <a:ext cx="186" cy="80"/>
            </a:xfrm>
            <a:prstGeom prst="line">
              <a:avLst/>
            </a:prstGeom>
            <a:noFill/>
            <a:ln w="9525">
              <a:solidFill>
                <a:schemeClr val="tx1"/>
              </a:solidFill>
              <a:round/>
              <a:headEnd/>
              <a:tailEnd/>
            </a:ln>
            <a:effectLst/>
          </p:spPr>
          <p:txBody>
            <a:bodyPr wrap="none" anchor="ctr"/>
            <a:lstStyle/>
            <a:p>
              <a:endParaRPr lang="zh-CN" altLang="en-US"/>
            </a:p>
          </p:txBody>
        </p:sp>
        <p:sp>
          <p:nvSpPr>
            <p:cNvPr id="742440" name="Text Box 40"/>
            <p:cNvSpPr txBox="1">
              <a:spLocks noChangeArrowheads="1"/>
            </p:cNvSpPr>
            <p:nvPr/>
          </p:nvSpPr>
          <p:spPr bwMode="auto">
            <a:xfrm>
              <a:off x="1319" y="3117"/>
              <a:ext cx="933"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VICIntEnable[7] = 0</a:t>
              </a:r>
            </a:p>
          </p:txBody>
        </p:sp>
        <p:sp>
          <p:nvSpPr>
            <p:cNvPr id="742441" name="Text Box 41"/>
            <p:cNvSpPr txBox="1">
              <a:spLocks noChangeArrowheads="1"/>
            </p:cNvSpPr>
            <p:nvPr/>
          </p:nvSpPr>
          <p:spPr bwMode="auto">
            <a:xfrm>
              <a:off x="2955" y="3294"/>
              <a:ext cx="30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IRQ</a:t>
              </a:r>
            </a:p>
          </p:txBody>
        </p:sp>
        <p:sp>
          <p:nvSpPr>
            <p:cNvPr id="742442" name="Text Box 42"/>
            <p:cNvSpPr txBox="1">
              <a:spLocks noChangeArrowheads="1"/>
            </p:cNvSpPr>
            <p:nvPr/>
          </p:nvSpPr>
          <p:spPr bwMode="auto">
            <a:xfrm>
              <a:off x="2907" y="3498"/>
              <a:ext cx="30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FIQ</a:t>
              </a:r>
            </a:p>
          </p:txBody>
        </p:sp>
        <p:grpSp>
          <p:nvGrpSpPr>
            <p:cNvPr id="742443" name="Group 43"/>
            <p:cNvGrpSpPr>
              <a:grpSpLocks/>
            </p:cNvGrpSpPr>
            <p:nvPr/>
          </p:nvGrpSpPr>
          <p:grpSpPr bwMode="auto">
            <a:xfrm>
              <a:off x="3625" y="2558"/>
              <a:ext cx="756" cy="390"/>
              <a:chOff x="3492" y="1368"/>
              <a:chExt cx="714" cy="390"/>
            </a:xfrm>
          </p:grpSpPr>
          <p:sp>
            <p:nvSpPr>
              <p:cNvPr id="742444" name="Rectangle 44"/>
              <p:cNvSpPr>
                <a:spLocks noChangeArrowheads="1"/>
              </p:cNvSpPr>
              <p:nvPr/>
            </p:nvSpPr>
            <p:spPr bwMode="auto">
              <a:xfrm>
                <a:off x="3492" y="1368"/>
                <a:ext cx="714" cy="210"/>
              </a:xfrm>
              <a:prstGeom prst="rect">
                <a:avLst/>
              </a:prstGeom>
              <a:solidFill>
                <a:srgbClr val="99CCFF"/>
              </a:solidFill>
              <a:ln w="9525" algn="ctr">
                <a:solidFill>
                  <a:schemeClr val="tx1"/>
                </a:solidFill>
                <a:miter lim="800000"/>
                <a:headEnd/>
                <a:tailEnd/>
              </a:ln>
              <a:effectLst/>
            </p:spPr>
            <p:txBody>
              <a:bodyPr wrap="none" anchor="ctr"/>
              <a:lstStyle/>
              <a:p>
                <a:r>
                  <a:rPr lang="en-US" altLang="zh-CN" sz="1200">
                    <a:latin typeface="Times New Roman" pitchFamily="18" charset="0"/>
                  </a:rPr>
                  <a:t>VICVectAddr0</a:t>
                </a:r>
              </a:p>
            </p:txBody>
          </p:sp>
          <p:sp>
            <p:nvSpPr>
              <p:cNvPr id="742445" name="Rectangle 45"/>
              <p:cNvSpPr>
                <a:spLocks noChangeArrowheads="1"/>
              </p:cNvSpPr>
              <p:nvPr/>
            </p:nvSpPr>
            <p:spPr bwMode="auto">
              <a:xfrm>
                <a:off x="3492" y="1572"/>
                <a:ext cx="714" cy="186"/>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latin typeface="Times New Roman" pitchFamily="18" charset="0"/>
                  </a:rPr>
                  <a:t>VICVectCntl0</a:t>
                </a:r>
              </a:p>
            </p:txBody>
          </p:sp>
        </p:grpSp>
        <p:grpSp>
          <p:nvGrpSpPr>
            <p:cNvPr id="742446" name="Group 46"/>
            <p:cNvGrpSpPr>
              <a:grpSpLocks/>
            </p:cNvGrpSpPr>
            <p:nvPr/>
          </p:nvGrpSpPr>
          <p:grpSpPr bwMode="auto">
            <a:xfrm>
              <a:off x="3625" y="3087"/>
              <a:ext cx="756" cy="390"/>
              <a:chOff x="3492" y="1368"/>
              <a:chExt cx="714" cy="390"/>
            </a:xfrm>
          </p:grpSpPr>
          <p:sp>
            <p:nvSpPr>
              <p:cNvPr id="742447" name="Rectangle 47"/>
              <p:cNvSpPr>
                <a:spLocks noChangeArrowheads="1"/>
              </p:cNvSpPr>
              <p:nvPr/>
            </p:nvSpPr>
            <p:spPr bwMode="auto">
              <a:xfrm>
                <a:off x="3492" y="1368"/>
                <a:ext cx="714" cy="210"/>
              </a:xfrm>
              <a:prstGeom prst="rect">
                <a:avLst/>
              </a:prstGeom>
              <a:solidFill>
                <a:srgbClr val="99CCFF"/>
              </a:solidFill>
              <a:ln w="9525" algn="ctr">
                <a:solidFill>
                  <a:schemeClr val="tx1"/>
                </a:solidFill>
                <a:miter lim="800000"/>
                <a:headEnd/>
                <a:tailEnd/>
              </a:ln>
              <a:effectLst/>
            </p:spPr>
            <p:txBody>
              <a:bodyPr wrap="none" anchor="ctr"/>
              <a:lstStyle/>
              <a:p>
                <a:r>
                  <a:rPr lang="en-US" altLang="zh-CN" sz="1200">
                    <a:latin typeface="Times New Roman" pitchFamily="18" charset="0"/>
                  </a:rPr>
                  <a:t>VICVectAddr15</a:t>
                </a:r>
              </a:p>
            </p:txBody>
          </p:sp>
          <p:sp>
            <p:nvSpPr>
              <p:cNvPr id="742448" name="Rectangle 48"/>
              <p:cNvSpPr>
                <a:spLocks noChangeArrowheads="1"/>
              </p:cNvSpPr>
              <p:nvPr/>
            </p:nvSpPr>
            <p:spPr bwMode="auto">
              <a:xfrm>
                <a:off x="3492" y="1572"/>
                <a:ext cx="714" cy="186"/>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latin typeface="Times New Roman" pitchFamily="18" charset="0"/>
                  </a:rPr>
                  <a:t>VICVectCntl15</a:t>
                </a:r>
              </a:p>
            </p:txBody>
          </p:sp>
        </p:grpSp>
        <p:sp>
          <p:nvSpPr>
            <p:cNvPr id="742449" name="Rectangle 49"/>
            <p:cNvSpPr>
              <a:spLocks noChangeArrowheads="1"/>
            </p:cNvSpPr>
            <p:nvPr/>
          </p:nvSpPr>
          <p:spPr bwMode="auto">
            <a:xfrm>
              <a:off x="3625" y="3555"/>
              <a:ext cx="756" cy="167"/>
            </a:xfrm>
            <a:prstGeom prst="rect">
              <a:avLst/>
            </a:prstGeom>
            <a:solidFill>
              <a:srgbClr val="99CCFF"/>
            </a:solidFill>
            <a:ln w="9525" algn="ctr">
              <a:solidFill>
                <a:schemeClr val="tx1"/>
              </a:solidFill>
              <a:miter lim="800000"/>
              <a:headEnd/>
              <a:tailEnd/>
            </a:ln>
            <a:effectLst/>
          </p:spPr>
          <p:txBody>
            <a:bodyPr wrap="none" anchor="ctr"/>
            <a:lstStyle/>
            <a:p>
              <a:r>
                <a:rPr lang="en-US" altLang="zh-CN" sz="1200">
                  <a:latin typeface="Times New Roman" pitchFamily="18" charset="0"/>
                </a:rPr>
                <a:t>VICDefVectAddr</a:t>
              </a:r>
            </a:p>
          </p:txBody>
        </p:sp>
        <p:sp>
          <p:nvSpPr>
            <p:cNvPr id="742450" name="Line 50"/>
            <p:cNvSpPr>
              <a:spLocks noChangeShapeType="1"/>
            </p:cNvSpPr>
            <p:nvPr/>
          </p:nvSpPr>
          <p:spPr bwMode="auto">
            <a:xfrm>
              <a:off x="1799" y="2559"/>
              <a:ext cx="0" cy="138"/>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2451" name="Line 51"/>
            <p:cNvSpPr>
              <a:spLocks noChangeShapeType="1"/>
            </p:cNvSpPr>
            <p:nvPr/>
          </p:nvSpPr>
          <p:spPr bwMode="auto">
            <a:xfrm>
              <a:off x="2665" y="2541"/>
              <a:ext cx="0" cy="132"/>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2452" name="Line 52"/>
            <p:cNvSpPr>
              <a:spLocks noChangeShapeType="1"/>
            </p:cNvSpPr>
            <p:nvPr/>
          </p:nvSpPr>
          <p:spPr bwMode="auto">
            <a:xfrm>
              <a:off x="1787" y="3279"/>
              <a:ext cx="0" cy="138"/>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2453" name="Line 53"/>
            <p:cNvSpPr>
              <a:spLocks noChangeShapeType="1"/>
            </p:cNvSpPr>
            <p:nvPr/>
          </p:nvSpPr>
          <p:spPr bwMode="auto">
            <a:xfrm>
              <a:off x="2665" y="3261"/>
              <a:ext cx="0" cy="114"/>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2454" name="Rectangle 54"/>
            <p:cNvSpPr>
              <a:spLocks noChangeArrowheads="1"/>
            </p:cNvSpPr>
            <p:nvPr/>
          </p:nvSpPr>
          <p:spPr bwMode="auto">
            <a:xfrm>
              <a:off x="3358" y="2558"/>
              <a:ext cx="268" cy="1164"/>
            </a:xfrm>
            <a:prstGeom prst="rect">
              <a:avLst/>
            </a:prstGeom>
            <a:solidFill>
              <a:srgbClr val="CCFFFF"/>
            </a:solidFill>
            <a:ln w="9525" algn="ctr">
              <a:solidFill>
                <a:schemeClr val="tx1"/>
              </a:solidFill>
              <a:miter lim="800000"/>
              <a:headEnd/>
              <a:tailEnd/>
            </a:ln>
            <a:effectLst/>
          </p:spPr>
          <p:txBody>
            <a:bodyPr wrap="none" anchor="ctr"/>
            <a:lstStyle/>
            <a:p>
              <a:r>
                <a:rPr lang="en-US" altLang="zh-CN" sz="1200">
                  <a:latin typeface="Arial" charset="0"/>
                </a:rPr>
                <a:t>IRQ</a:t>
              </a:r>
            </a:p>
            <a:p>
              <a:r>
                <a:rPr lang="zh-CN" altLang="en-US" sz="1200">
                  <a:latin typeface="Arial" charset="0"/>
                </a:rPr>
                <a:t>通道</a:t>
              </a:r>
            </a:p>
            <a:p>
              <a:r>
                <a:rPr lang="zh-CN" altLang="en-US" sz="1200">
                  <a:latin typeface="Arial" charset="0"/>
                </a:rPr>
                <a:t>分配</a:t>
              </a:r>
            </a:p>
          </p:txBody>
        </p:sp>
      </p:grpSp>
      <p:sp>
        <p:nvSpPr>
          <p:cNvPr id="742455" name="Text Box 55"/>
          <p:cNvSpPr txBox="1">
            <a:spLocks noChangeArrowheads="1"/>
          </p:cNvSpPr>
          <p:nvPr/>
        </p:nvSpPr>
        <p:spPr bwMode="auto">
          <a:xfrm>
            <a:off x="2206626" y="3136900"/>
            <a:ext cx="6557963" cy="457200"/>
          </a:xfrm>
          <a:prstGeom prst="rect">
            <a:avLst/>
          </a:prstGeom>
          <a:noFill/>
          <a:ln w="9525" algn="ctr">
            <a:noFill/>
            <a:miter lim="800000"/>
            <a:headEnd/>
            <a:tailEnd/>
          </a:ln>
          <a:effectLst/>
        </p:spPr>
        <p:txBody>
          <a:bodyPr>
            <a:spAutoFit/>
          </a:bodyPr>
          <a:lstStyle/>
          <a:p>
            <a:pPr algn="l">
              <a:buFont typeface="Wingdings" pitchFamily="2" charset="2"/>
              <a:buChar char="Ø"/>
            </a:pPr>
            <a:r>
              <a:rPr lang="zh-CN" altLang="en-US" sz="2400">
                <a:solidFill>
                  <a:schemeClr val="accent2"/>
                </a:solidFill>
                <a:latin typeface="Times New Roman" pitchFamily="18" charset="0"/>
                <a:ea typeface="华文新魏" pitchFamily="2" charset="-122"/>
              </a:rPr>
              <a:t>当</a:t>
            </a:r>
            <a:r>
              <a:rPr lang="en-US" altLang="zh-CN" sz="2400">
                <a:solidFill>
                  <a:schemeClr val="accent2"/>
                </a:solidFill>
                <a:latin typeface="Times New Roman" pitchFamily="18" charset="0"/>
                <a:ea typeface="华文新魏" pitchFamily="2" charset="-122"/>
              </a:rPr>
              <a:t>VICIntEnable[6] = 1</a:t>
            </a:r>
            <a:r>
              <a:rPr lang="zh-CN" altLang="en-US" sz="2400">
                <a:solidFill>
                  <a:schemeClr val="accent2"/>
                </a:solidFill>
                <a:latin typeface="Times New Roman" pitchFamily="18" charset="0"/>
                <a:ea typeface="华文新魏" pitchFamily="2" charset="-122"/>
              </a:rPr>
              <a:t>时，通道</a:t>
            </a:r>
            <a:r>
              <a:rPr lang="en-US" altLang="zh-CN" sz="2400">
                <a:solidFill>
                  <a:schemeClr val="accent2"/>
                </a:solidFill>
                <a:latin typeface="Times New Roman" pitchFamily="18" charset="0"/>
                <a:ea typeface="华文新魏" pitchFamily="2" charset="-122"/>
              </a:rPr>
              <a:t>6</a:t>
            </a:r>
            <a:r>
              <a:rPr lang="zh-CN" altLang="en-US" sz="2400">
                <a:solidFill>
                  <a:schemeClr val="accent2"/>
                </a:solidFill>
                <a:latin typeface="Times New Roman" pitchFamily="18" charset="0"/>
                <a:ea typeface="华文新魏" pitchFamily="2" charset="-122"/>
              </a:rPr>
              <a:t>中断使能。</a:t>
            </a:r>
          </a:p>
        </p:txBody>
      </p:sp>
      <p:sp>
        <p:nvSpPr>
          <p:cNvPr id="742456" name="Oval 56"/>
          <p:cNvSpPr>
            <a:spLocks noChangeArrowheads="1"/>
          </p:cNvSpPr>
          <p:nvPr/>
        </p:nvSpPr>
        <p:spPr bwMode="auto">
          <a:xfrm>
            <a:off x="3621088" y="4202788"/>
            <a:ext cx="259766" cy="519351"/>
          </a:xfrm>
          <a:prstGeom prst="ellipse">
            <a:avLst/>
          </a:prstGeom>
          <a:noFill/>
          <a:ln w="19050" algn="ctr">
            <a:solidFill>
              <a:srgbClr val="FF0000"/>
            </a:solidFill>
            <a:round/>
            <a:headEnd/>
            <a:tailEnd/>
          </a:ln>
          <a:effectLst/>
        </p:spPr>
        <p:txBody>
          <a:bodyPr wrap="none" anchor="ctr">
            <a:spAutoFit/>
          </a:bodyPr>
          <a:lstStyle/>
          <a:p>
            <a:endParaRPr lang="zh-CN" altLang="en-US"/>
          </a:p>
        </p:txBody>
      </p:sp>
      <p:sp>
        <p:nvSpPr>
          <p:cNvPr id="742457" name="Freeform 57"/>
          <p:cNvSpPr>
            <a:spLocks/>
          </p:cNvSpPr>
          <p:nvPr/>
        </p:nvSpPr>
        <p:spPr bwMode="auto">
          <a:xfrm>
            <a:off x="1716089" y="3389313"/>
            <a:ext cx="1990725" cy="369332"/>
          </a:xfrm>
          <a:custGeom>
            <a:avLst/>
            <a:gdLst/>
            <a:ahLst/>
            <a:cxnLst>
              <a:cxn ang="0">
                <a:pos x="363" y="0"/>
              </a:cxn>
              <a:cxn ang="0">
                <a:pos x="148" y="154"/>
              </a:cxn>
              <a:cxn ang="0">
                <a:pos x="1254" y="561"/>
              </a:cxn>
            </a:cxnLst>
            <a:rect l="0" t="0" r="r" b="b"/>
            <a:pathLst>
              <a:path w="1254" h="561">
                <a:moveTo>
                  <a:pt x="363" y="0"/>
                </a:moveTo>
                <a:cubicBezTo>
                  <a:pt x="181" y="30"/>
                  <a:pt x="0" y="61"/>
                  <a:pt x="148" y="154"/>
                </a:cubicBezTo>
                <a:cubicBezTo>
                  <a:pt x="296" y="247"/>
                  <a:pt x="775" y="404"/>
                  <a:pt x="1254" y="561"/>
                </a:cubicBezTo>
              </a:path>
            </a:pathLst>
          </a:custGeom>
          <a:noFill/>
          <a:ln w="19050" cap="flat" cmpd="sng">
            <a:solidFill>
              <a:srgbClr val="FF0000"/>
            </a:solidFill>
            <a:prstDash val="solid"/>
            <a:round/>
            <a:headEnd/>
            <a:tailEnd type="triangle" w="med" len="med"/>
          </a:ln>
          <a:effectLst/>
        </p:spPr>
        <p:txBody>
          <a:bodyP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4245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240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42456"/>
                                        </p:tgtEl>
                                        <p:attrNameLst>
                                          <p:attrName>style.visibility</p:attrName>
                                        </p:attrNameLst>
                                      </p:cBhvr>
                                      <p:to>
                                        <p:strVal val="visible"/>
                                      </p:to>
                                    </p:set>
                                  </p:childTnLst>
                                </p:cTn>
                              </p:par>
                            </p:childTnLst>
                          </p:cTn>
                        </p:par>
                        <p:par>
                          <p:cTn id="11" fill="hold">
                            <p:stCondLst>
                              <p:cond delay="0"/>
                            </p:stCondLst>
                            <p:childTnLst>
                              <p:par>
                                <p:cTn id="12" presetID="22" presetClass="entr" presetSubtype="1" fill="hold" grpId="0" nodeType="afterEffect">
                                  <p:stCondLst>
                                    <p:cond delay="0"/>
                                  </p:stCondLst>
                                  <p:childTnLst>
                                    <p:set>
                                      <p:cBhvr>
                                        <p:cTn id="13" dur="1" fill="hold">
                                          <p:stCondLst>
                                            <p:cond delay="0"/>
                                          </p:stCondLst>
                                        </p:cTn>
                                        <p:tgtEl>
                                          <p:spTgt spid="742457"/>
                                        </p:tgtEl>
                                        <p:attrNameLst>
                                          <p:attrName>style.visibility</p:attrName>
                                        </p:attrNameLst>
                                      </p:cBhvr>
                                      <p:to>
                                        <p:strVal val="visible"/>
                                      </p:to>
                                    </p:set>
                                    <p:animEffect transition="in" filter="wipe(up)">
                                      <p:cBhvr>
                                        <p:cTn id="14" dur="500"/>
                                        <p:tgtEl>
                                          <p:spTgt spid="742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2455" grpId="0"/>
      <p:bldP spid="742456" grpId="0" animBg="1"/>
      <p:bldP spid="742457"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426" name="Rectangle 2"/>
          <p:cNvSpPr>
            <a:spLocks noChangeArrowheads="1"/>
          </p:cNvSpPr>
          <p:nvPr/>
        </p:nvSpPr>
        <p:spPr bwMode="auto">
          <a:xfrm>
            <a:off x="2133600" y="698500"/>
            <a:ext cx="7772400" cy="1143000"/>
          </a:xfrm>
          <a:prstGeom prst="rect">
            <a:avLst/>
          </a:prstGeom>
          <a:noFill/>
          <a:ln w="9525">
            <a:noFill/>
            <a:miter lim="800000"/>
            <a:headEnd/>
            <a:tailEnd/>
          </a:ln>
          <a:effectLst/>
        </p:spPr>
        <p:txBody>
          <a:bodyPr anchor="ctr"/>
          <a:lstStyle/>
          <a:p>
            <a:r>
              <a:rPr lang="en-US" altLang="zh-CN" sz="4400">
                <a:solidFill>
                  <a:schemeClr val="tx2"/>
                </a:solidFill>
                <a:latin typeface="Times New Roman" pitchFamily="18" charset="0"/>
              </a:rPr>
              <a:t>UART</a:t>
            </a:r>
            <a:r>
              <a:rPr lang="zh-CN" altLang="en-US" sz="4400">
                <a:solidFill>
                  <a:schemeClr val="tx2"/>
                </a:solidFill>
                <a:latin typeface="Times New Roman" pitchFamily="18" charset="0"/>
              </a:rPr>
              <a:t>中断</a:t>
            </a:r>
          </a:p>
        </p:txBody>
      </p:sp>
      <p:sp>
        <p:nvSpPr>
          <p:cNvPr id="743427" name="Rectangle 3"/>
          <p:cNvSpPr>
            <a:spLocks noChangeArrowheads="1"/>
          </p:cNvSpPr>
          <p:nvPr/>
        </p:nvSpPr>
        <p:spPr bwMode="auto">
          <a:xfrm>
            <a:off x="2209800" y="19415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UART1</a:t>
            </a:r>
            <a:r>
              <a:rPr lang="zh-CN" altLang="en-US" sz="3200">
                <a:latin typeface="Times New Roman" pitchFamily="18" charset="0"/>
              </a:rPr>
              <a:t>与</a:t>
            </a:r>
            <a:r>
              <a:rPr lang="en-US" altLang="zh-CN" sz="3200">
                <a:latin typeface="Times New Roman" pitchFamily="18" charset="0"/>
              </a:rPr>
              <a:t>VIC</a:t>
            </a:r>
            <a:r>
              <a:rPr lang="zh-CN" altLang="en-US" sz="3200">
                <a:latin typeface="Times New Roman" pitchFamily="18" charset="0"/>
              </a:rPr>
              <a:t>的关系</a:t>
            </a:r>
          </a:p>
        </p:txBody>
      </p:sp>
      <p:sp>
        <p:nvSpPr>
          <p:cNvPr id="743428" name="Text Box 4"/>
          <p:cNvSpPr txBox="1">
            <a:spLocks noChangeArrowheads="1"/>
          </p:cNvSpPr>
          <p:nvPr/>
        </p:nvSpPr>
        <p:spPr bwMode="auto">
          <a:xfrm>
            <a:off x="2216151" y="2649538"/>
            <a:ext cx="6557963" cy="457200"/>
          </a:xfrm>
          <a:prstGeom prst="rect">
            <a:avLst/>
          </a:prstGeom>
          <a:noFill/>
          <a:ln w="9525" algn="ctr">
            <a:noFill/>
            <a:miter lim="800000"/>
            <a:headEnd/>
            <a:tailEnd/>
          </a:ln>
          <a:effectLst/>
        </p:spPr>
        <p:txBody>
          <a:bodyPr>
            <a:spAutoFit/>
          </a:bodyPr>
          <a:lstStyle/>
          <a:p>
            <a:pPr algn="l">
              <a:buFont typeface="Wingdings" pitchFamily="2" charset="2"/>
              <a:buChar char="Ø"/>
            </a:pPr>
            <a:r>
              <a:rPr lang="zh-CN" altLang="en-US" sz="2400">
                <a:solidFill>
                  <a:schemeClr val="accent2"/>
                </a:solidFill>
                <a:latin typeface="Times New Roman" pitchFamily="18" charset="0"/>
                <a:ea typeface="华文新魏" pitchFamily="2" charset="-122"/>
              </a:rPr>
              <a:t>当</a:t>
            </a:r>
            <a:r>
              <a:rPr lang="en-US" altLang="zh-CN" sz="2400">
                <a:solidFill>
                  <a:schemeClr val="accent2"/>
                </a:solidFill>
                <a:latin typeface="Times New Roman" pitchFamily="18" charset="0"/>
                <a:ea typeface="华文新魏" pitchFamily="2" charset="-122"/>
              </a:rPr>
              <a:t>VICIntEnable[7] = 0</a:t>
            </a:r>
            <a:r>
              <a:rPr lang="zh-CN" altLang="en-US" sz="2400">
                <a:solidFill>
                  <a:schemeClr val="accent2"/>
                </a:solidFill>
                <a:latin typeface="Times New Roman" pitchFamily="18" charset="0"/>
                <a:ea typeface="华文新魏" pitchFamily="2" charset="-122"/>
              </a:rPr>
              <a:t>时，通道</a:t>
            </a:r>
            <a:r>
              <a:rPr lang="en-US" altLang="zh-CN" sz="2400">
                <a:solidFill>
                  <a:schemeClr val="accent2"/>
                </a:solidFill>
                <a:latin typeface="Times New Roman" pitchFamily="18" charset="0"/>
                <a:ea typeface="华文新魏" pitchFamily="2" charset="-122"/>
              </a:rPr>
              <a:t>7</a:t>
            </a:r>
            <a:r>
              <a:rPr lang="zh-CN" altLang="en-US" sz="2400">
                <a:solidFill>
                  <a:schemeClr val="accent2"/>
                </a:solidFill>
                <a:latin typeface="Times New Roman" pitchFamily="18" charset="0"/>
                <a:ea typeface="华文新魏" pitchFamily="2" charset="-122"/>
              </a:rPr>
              <a:t>中断禁止；</a:t>
            </a:r>
          </a:p>
        </p:txBody>
      </p:sp>
      <p:grpSp>
        <p:nvGrpSpPr>
          <p:cNvPr id="743429" name="Group 5"/>
          <p:cNvGrpSpPr>
            <a:grpSpLocks/>
          </p:cNvGrpSpPr>
          <p:nvPr/>
        </p:nvGrpSpPr>
        <p:grpSpPr bwMode="auto">
          <a:xfrm>
            <a:off x="2165351" y="3802063"/>
            <a:ext cx="7699375" cy="2106612"/>
            <a:chOff x="476" y="2395"/>
            <a:chExt cx="4850" cy="1327"/>
          </a:xfrm>
        </p:grpSpPr>
        <p:sp>
          <p:nvSpPr>
            <p:cNvPr id="743430" name="Rectangle 6"/>
            <p:cNvSpPr>
              <a:spLocks noChangeArrowheads="1"/>
            </p:cNvSpPr>
            <p:nvPr/>
          </p:nvSpPr>
          <p:spPr bwMode="auto">
            <a:xfrm>
              <a:off x="2491" y="2661"/>
              <a:ext cx="492" cy="33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743431" name="Rectangle 7"/>
            <p:cNvSpPr>
              <a:spLocks noChangeArrowheads="1"/>
            </p:cNvSpPr>
            <p:nvPr/>
          </p:nvSpPr>
          <p:spPr bwMode="auto">
            <a:xfrm>
              <a:off x="1703" y="2703"/>
              <a:ext cx="330" cy="264"/>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743432" name="Rectangle 8"/>
            <p:cNvSpPr>
              <a:spLocks noChangeArrowheads="1"/>
            </p:cNvSpPr>
            <p:nvPr/>
          </p:nvSpPr>
          <p:spPr bwMode="auto">
            <a:xfrm>
              <a:off x="1143" y="2728"/>
              <a:ext cx="432" cy="232"/>
            </a:xfrm>
            <a:prstGeom prst="rect">
              <a:avLst/>
            </a:prstGeom>
            <a:solidFill>
              <a:srgbClr val="FFCC99"/>
            </a:solidFill>
            <a:ln w="9525" algn="ctr">
              <a:solidFill>
                <a:schemeClr val="tx1"/>
              </a:solidFill>
              <a:miter lim="800000"/>
              <a:headEnd/>
              <a:tailEnd/>
            </a:ln>
            <a:effectLst/>
          </p:spPr>
          <p:txBody>
            <a:bodyPr wrap="none" anchor="ctr"/>
            <a:lstStyle/>
            <a:p>
              <a:r>
                <a:rPr lang="zh-CN" altLang="en-US" sz="1200">
                  <a:latin typeface="Arial" charset="0"/>
                </a:rPr>
                <a:t>通道</a:t>
              </a:r>
              <a:r>
                <a:rPr lang="en-US" altLang="zh-CN" sz="1200">
                  <a:latin typeface="Arial" charset="0"/>
                </a:rPr>
                <a:t>6</a:t>
              </a:r>
            </a:p>
          </p:txBody>
        </p:sp>
        <p:sp>
          <p:nvSpPr>
            <p:cNvPr id="743433" name="Text Box 9"/>
            <p:cNvSpPr txBox="1">
              <a:spLocks noChangeArrowheads="1"/>
            </p:cNvSpPr>
            <p:nvPr/>
          </p:nvSpPr>
          <p:spPr bwMode="auto">
            <a:xfrm>
              <a:off x="476" y="2752"/>
              <a:ext cx="497"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UART0</a:t>
              </a:r>
            </a:p>
          </p:txBody>
        </p:sp>
        <p:sp>
          <p:nvSpPr>
            <p:cNvPr id="743434" name="Text Box 10"/>
            <p:cNvSpPr txBox="1">
              <a:spLocks noChangeArrowheads="1"/>
            </p:cNvSpPr>
            <p:nvPr/>
          </p:nvSpPr>
          <p:spPr bwMode="auto">
            <a:xfrm>
              <a:off x="4447" y="2592"/>
              <a:ext cx="762" cy="173"/>
            </a:xfrm>
            <a:prstGeom prst="rect">
              <a:avLst/>
            </a:prstGeom>
            <a:noFill/>
            <a:ln w="9525" algn="ctr">
              <a:noFill/>
              <a:miter lim="800000"/>
              <a:headEnd/>
              <a:tailEnd/>
            </a:ln>
            <a:effectLst/>
          </p:spPr>
          <p:txBody>
            <a:bodyPr>
              <a:spAutoFit/>
            </a:bodyPr>
            <a:lstStyle/>
            <a:p>
              <a:r>
                <a:rPr lang="zh-CN" altLang="en-US" sz="1200">
                  <a:latin typeface="Times New Roman" pitchFamily="18" charset="0"/>
                </a:rPr>
                <a:t>向量</a:t>
              </a:r>
              <a:r>
                <a:rPr lang="en-US" altLang="zh-CN" sz="1200">
                  <a:latin typeface="Times New Roman" pitchFamily="18" charset="0"/>
                </a:rPr>
                <a:t>IRQ</a:t>
              </a:r>
              <a:r>
                <a:rPr lang="zh-CN" altLang="en-US" sz="1200">
                  <a:latin typeface="Times New Roman" pitchFamily="18" charset="0"/>
                </a:rPr>
                <a:t>通道</a:t>
              </a:r>
              <a:r>
                <a:rPr lang="en-US" altLang="zh-CN" sz="1200">
                  <a:latin typeface="Times New Roman" pitchFamily="18" charset="0"/>
                </a:rPr>
                <a:t>0</a:t>
              </a:r>
            </a:p>
          </p:txBody>
        </p:sp>
        <p:sp>
          <p:nvSpPr>
            <p:cNvPr id="743435" name="Text Box 11"/>
            <p:cNvSpPr txBox="1">
              <a:spLocks noChangeArrowheads="1"/>
            </p:cNvSpPr>
            <p:nvPr/>
          </p:nvSpPr>
          <p:spPr bwMode="auto">
            <a:xfrm>
              <a:off x="4447" y="3130"/>
              <a:ext cx="818" cy="173"/>
            </a:xfrm>
            <a:prstGeom prst="rect">
              <a:avLst/>
            </a:prstGeom>
            <a:noFill/>
            <a:ln w="9525" algn="ctr">
              <a:noFill/>
              <a:miter lim="800000"/>
              <a:headEnd/>
              <a:tailEnd/>
            </a:ln>
            <a:effectLst/>
          </p:spPr>
          <p:txBody>
            <a:bodyPr>
              <a:spAutoFit/>
            </a:bodyPr>
            <a:lstStyle/>
            <a:p>
              <a:r>
                <a:rPr lang="zh-CN" altLang="en-US" sz="1200">
                  <a:latin typeface="Times New Roman" pitchFamily="18" charset="0"/>
                </a:rPr>
                <a:t>向量</a:t>
              </a:r>
              <a:r>
                <a:rPr lang="en-US" altLang="zh-CN" sz="1200">
                  <a:latin typeface="Times New Roman" pitchFamily="18" charset="0"/>
                </a:rPr>
                <a:t>IRQ</a:t>
              </a:r>
              <a:r>
                <a:rPr lang="zh-CN" altLang="en-US" sz="1200">
                  <a:latin typeface="Times New Roman" pitchFamily="18" charset="0"/>
                </a:rPr>
                <a:t>通道</a:t>
              </a:r>
              <a:r>
                <a:rPr lang="en-US" altLang="zh-CN" sz="1200">
                  <a:latin typeface="Times New Roman" pitchFamily="18" charset="0"/>
                </a:rPr>
                <a:t>15</a:t>
              </a:r>
            </a:p>
          </p:txBody>
        </p:sp>
        <p:sp>
          <p:nvSpPr>
            <p:cNvPr id="743436" name="Text Box 12"/>
            <p:cNvSpPr txBox="1">
              <a:spLocks noChangeArrowheads="1"/>
            </p:cNvSpPr>
            <p:nvPr/>
          </p:nvSpPr>
          <p:spPr bwMode="auto">
            <a:xfrm>
              <a:off x="4447" y="3488"/>
              <a:ext cx="807" cy="173"/>
            </a:xfrm>
            <a:prstGeom prst="rect">
              <a:avLst/>
            </a:prstGeom>
            <a:noFill/>
            <a:ln w="9525" algn="ctr">
              <a:noFill/>
              <a:miter lim="800000"/>
              <a:headEnd/>
              <a:tailEnd/>
            </a:ln>
            <a:effectLst/>
          </p:spPr>
          <p:txBody>
            <a:bodyPr>
              <a:spAutoFit/>
            </a:bodyPr>
            <a:lstStyle/>
            <a:p>
              <a:r>
                <a:rPr lang="zh-CN" altLang="en-US" sz="1200">
                  <a:latin typeface="Times New Roman" pitchFamily="18" charset="0"/>
                </a:rPr>
                <a:t>非向量</a:t>
              </a:r>
              <a:r>
                <a:rPr lang="en-US" altLang="zh-CN" sz="1200">
                  <a:latin typeface="Times New Roman" pitchFamily="18" charset="0"/>
                </a:rPr>
                <a:t>IRQ</a:t>
              </a:r>
              <a:r>
                <a:rPr lang="zh-CN" altLang="en-US" sz="1200">
                  <a:latin typeface="Times New Roman" pitchFamily="18" charset="0"/>
                </a:rPr>
                <a:t>通道</a:t>
              </a:r>
            </a:p>
          </p:txBody>
        </p:sp>
        <p:sp>
          <p:nvSpPr>
            <p:cNvPr id="743437" name="Line 13"/>
            <p:cNvSpPr>
              <a:spLocks noChangeShapeType="1"/>
            </p:cNvSpPr>
            <p:nvPr/>
          </p:nvSpPr>
          <p:spPr bwMode="auto">
            <a:xfrm>
              <a:off x="4438" y="2761"/>
              <a:ext cx="88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3438" name="Line 14"/>
            <p:cNvSpPr>
              <a:spLocks noChangeShapeType="1"/>
            </p:cNvSpPr>
            <p:nvPr/>
          </p:nvSpPr>
          <p:spPr bwMode="auto">
            <a:xfrm>
              <a:off x="4448" y="3293"/>
              <a:ext cx="84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3439" name="Line 15"/>
            <p:cNvSpPr>
              <a:spLocks noChangeShapeType="1"/>
            </p:cNvSpPr>
            <p:nvPr/>
          </p:nvSpPr>
          <p:spPr bwMode="auto">
            <a:xfrm>
              <a:off x="4454" y="3639"/>
              <a:ext cx="842"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3440" name="Line 16"/>
            <p:cNvSpPr>
              <a:spLocks noChangeShapeType="1"/>
            </p:cNvSpPr>
            <p:nvPr/>
          </p:nvSpPr>
          <p:spPr bwMode="auto">
            <a:xfrm>
              <a:off x="4876" y="2863"/>
              <a:ext cx="0" cy="216"/>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743441" name="Line 17"/>
            <p:cNvSpPr>
              <a:spLocks noChangeShapeType="1"/>
            </p:cNvSpPr>
            <p:nvPr/>
          </p:nvSpPr>
          <p:spPr bwMode="auto">
            <a:xfrm>
              <a:off x="1582" y="2841"/>
              <a:ext cx="182"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743442" name="Line 18"/>
            <p:cNvSpPr>
              <a:spLocks noChangeShapeType="1"/>
            </p:cNvSpPr>
            <p:nvPr/>
          </p:nvSpPr>
          <p:spPr bwMode="auto">
            <a:xfrm>
              <a:off x="943" y="2841"/>
              <a:ext cx="2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3443" name="Line 19"/>
            <p:cNvSpPr>
              <a:spLocks noChangeShapeType="1"/>
            </p:cNvSpPr>
            <p:nvPr/>
          </p:nvSpPr>
          <p:spPr bwMode="auto">
            <a:xfrm>
              <a:off x="1953" y="2842"/>
              <a:ext cx="658" cy="0"/>
            </a:xfrm>
            <a:prstGeom prst="line">
              <a:avLst/>
            </a:prstGeom>
            <a:noFill/>
            <a:ln w="9525">
              <a:solidFill>
                <a:schemeClr val="tx1"/>
              </a:solidFill>
              <a:round/>
              <a:headEnd type="oval" w="sm" len="sm"/>
              <a:tailEnd type="oval" w="sm" len="sm"/>
            </a:ln>
            <a:effectLst/>
          </p:spPr>
          <p:txBody>
            <a:bodyPr wrap="none" anchor="ctr"/>
            <a:lstStyle/>
            <a:p>
              <a:endParaRPr lang="zh-CN" altLang="en-US"/>
            </a:p>
          </p:txBody>
        </p:sp>
        <p:sp>
          <p:nvSpPr>
            <p:cNvPr id="743444" name="Line 20"/>
            <p:cNvSpPr>
              <a:spLocks noChangeShapeType="1"/>
            </p:cNvSpPr>
            <p:nvPr/>
          </p:nvSpPr>
          <p:spPr bwMode="auto">
            <a:xfrm>
              <a:off x="2869" y="2733"/>
              <a:ext cx="558"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743445" name="Line 21"/>
            <p:cNvSpPr>
              <a:spLocks noChangeShapeType="1"/>
            </p:cNvSpPr>
            <p:nvPr/>
          </p:nvSpPr>
          <p:spPr bwMode="auto">
            <a:xfrm>
              <a:off x="2869" y="2937"/>
              <a:ext cx="420"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743446" name="Line 22"/>
            <p:cNvSpPr>
              <a:spLocks noChangeShapeType="1"/>
            </p:cNvSpPr>
            <p:nvPr/>
          </p:nvSpPr>
          <p:spPr bwMode="auto">
            <a:xfrm flipV="1">
              <a:off x="2617" y="2701"/>
              <a:ext cx="266" cy="140"/>
            </a:xfrm>
            <a:prstGeom prst="line">
              <a:avLst/>
            </a:prstGeom>
            <a:noFill/>
            <a:ln w="9525">
              <a:solidFill>
                <a:schemeClr val="tx1"/>
              </a:solidFill>
              <a:round/>
              <a:headEnd/>
              <a:tailEnd/>
            </a:ln>
            <a:effectLst/>
          </p:spPr>
          <p:txBody>
            <a:bodyPr wrap="none" anchor="ctr"/>
            <a:lstStyle/>
            <a:p>
              <a:endParaRPr lang="zh-CN" altLang="en-US"/>
            </a:p>
          </p:txBody>
        </p:sp>
        <p:sp>
          <p:nvSpPr>
            <p:cNvPr id="743447" name="Text Box 23"/>
            <p:cNvSpPr txBox="1">
              <a:spLocks noChangeArrowheads="1"/>
            </p:cNvSpPr>
            <p:nvPr/>
          </p:nvSpPr>
          <p:spPr bwMode="auto">
            <a:xfrm>
              <a:off x="2340" y="2395"/>
              <a:ext cx="798"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VICIntSelect[6]</a:t>
              </a:r>
            </a:p>
          </p:txBody>
        </p:sp>
        <p:sp>
          <p:nvSpPr>
            <p:cNvPr id="743448" name="Line 24"/>
            <p:cNvSpPr>
              <a:spLocks noChangeShapeType="1"/>
            </p:cNvSpPr>
            <p:nvPr/>
          </p:nvSpPr>
          <p:spPr bwMode="auto">
            <a:xfrm flipV="1">
              <a:off x="1763" y="2754"/>
              <a:ext cx="192" cy="87"/>
            </a:xfrm>
            <a:prstGeom prst="line">
              <a:avLst/>
            </a:prstGeom>
            <a:noFill/>
            <a:ln w="9525">
              <a:solidFill>
                <a:schemeClr val="tx1"/>
              </a:solidFill>
              <a:round/>
              <a:headEnd/>
              <a:tailEnd/>
            </a:ln>
            <a:effectLst/>
          </p:spPr>
          <p:txBody>
            <a:bodyPr wrap="none" anchor="ctr"/>
            <a:lstStyle/>
            <a:p>
              <a:endParaRPr lang="zh-CN" altLang="en-US"/>
            </a:p>
          </p:txBody>
        </p:sp>
        <p:sp>
          <p:nvSpPr>
            <p:cNvPr id="743449" name="Text Box 25"/>
            <p:cNvSpPr txBox="1">
              <a:spLocks noChangeArrowheads="1"/>
            </p:cNvSpPr>
            <p:nvPr/>
          </p:nvSpPr>
          <p:spPr bwMode="auto">
            <a:xfrm>
              <a:off x="1410" y="2395"/>
              <a:ext cx="928"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VICIntEnable[6] = 0</a:t>
              </a:r>
            </a:p>
          </p:txBody>
        </p:sp>
        <p:sp>
          <p:nvSpPr>
            <p:cNvPr id="743450" name="Text Box 26"/>
            <p:cNvSpPr txBox="1">
              <a:spLocks noChangeArrowheads="1"/>
            </p:cNvSpPr>
            <p:nvPr/>
          </p:nvSpPr>
          <p:spPr bwMode="auto">
            <a:xfrm>
              <a:off x="3027" y="2574"/>
              <a:ext cx="30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IRQ</a:t>
              </a:r>
            </a:p>
          </p:txBody>
        </p:sp>
        <p:sp>
          <p:nvSpPr>
            <p:cNvPr id="743451" name="Text Box 27"/>
            <p:cNvSpPr txBox="1">
              <a:spLocks noChangeArrowheads="1"/>
            </p:cNvSpPr>
            <p:nvPr/>
          </p:nvSpPr>
          <p:spPr bwMode="auto">
            <a:xfrm>
              <a:off x="2979" y="2784"/>
              <a:ext cx="30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FIQ</a:t>
              </a:r>
            </a:p>
          </p:txBody>
        </p:sp>
        <p:sp>
          <p:nvSpPr>
            <p:cNvPr id="743452" name="Rectangle 28"/>
            <p:cNvSpPr>
              <a:spLocks noChangeArrowheads="1"/>
            </p:cNvSpPr>
            <p:nvPr/>
          </p:nvSpPr>
          <p:spPr bwMode="auto">
            <a:xfrm>
              <a:off x="2491" y="3375"/>
              <a:ext cx="492" cy="33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743453" name="Rectangle 29"/>
            <p:cNvSpPr>
              <a:spLocks noChangeArrowheads="1"/>
            </p:cNvSpPr>
            <p:nvPr/>
          </p:nvSpPr>
          <p:spPr bwMode="auto">
            <a:xfrm>
              <a:off x="1703" y="3417"/>
              <a:ext cx="330" cy="264"/>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743454" name="Rectangle 30"/>
            <p:cNvSpPr>
              <a:spLocks noChangeArrowheads="1"/>
            </p:cNvSpPr>
            <p:nvPr/>
          </p:nvSpPr>
          <p:spPr bwMode="auto">
            <a:xfrm>
              <a:off x="1143" y="3442"/>
              <a:ext cx="432" cy="232"/>
            </a:xfrm>
            <a:prstGeom prst="rect">
              <a:avLst/>
            </a:prstGeom>
            <a:solidFill>
              <a:srgbClr val="FFCC99"/>
            </a:solidFill>
            <a:ln w="9525" algn="ctr">
              <a:solidFill>
                <a:schemeClr val="tx1"/>
              </a:solidFill>
              <a:miter lim="800000"/>
              <a:headEnd/>
              <a:tailEnd/>
            </a:ln>
            <a:effectLst/>
          </p:spPr>
          <p:txBody>
            <a:bodyPr wrap="none" anchor="ctr"/>
            <a:lstStyle/>
            <a:p>
              <a:r>
                <a:rPr lang="zh-CN" altLang="en-US" sz="1200">
                  <a:latin typeface="Arial" charset="0"/>
                </a:rPr>
                <a:t>通道</a:t>
              </a:r>
              <a:r>
                <a:rPr lang="en-US" altLang="zh-CN" sz="1200">
                  <a:latin typeface="Arial" charset="0"/>
                </a:rPr>
                <a:t>7</a:t>
              </a:r>
            </a:p>
          </p:txBody>
        </p:sp>
        <p:sp>
          <p:nvSpPr>
            <p:cNvPr id="743455" name="Text Box 31"/>
            <p:cNvSpPr txBox="1">
              <a:spLocks noChangeArrowheads="1"/>
            </p:cNvSpPr>
            <p:nvPr/>
          </p:nvSpPr>
          <p:spPr bwMode="auto">
            <a:xfrm>
              <a:off x="531" y="3466"/>
              <a:ext cx="425" cy="173"/>
            </a:xfrm>
            <a:prstGeom prst="rect">
              <a:avLst/>
            </a:prstGeom>
            <a:noFill/>
            <a:ln w="9525" algn="ctr">
              <a:noFill/>
              <a:miter lim="800000"/>
              <a:headEnd/>
              <a:tailEnd/>
            </a:ln>
            <a:effectLst/>
          </p:spPr>
          <p:txBody>
            <a:bodyPr wrap="none">
              <a:spAutoFit/>
            </a:bodyPr>
            <a:lstStyle/>
            <a:p>
              <a:r>
                <a:rPr lang="en-US" altLang="zh-CN" sz="1200">
                  <a:latin typeface="Times New Roman" pitchFamily="18" charset="0"/>
                </a:rPr>
                <a:t>UART1</a:t>
              </a:r>
            </a:p>
          </p:txBody>
        </p:sp>
        <p:sp>
          <p:nvSpPr>
            <p:cNvPr id="743456" name="Line 32"/>
            <p:cNvSpPr>
              <a:spLocks noChangeShapeType="1"/>
            </p:cNvSpPr>
            <p:nvPr/>
          </p:nvSpPr>
          <p:spPr bwMode="auto">
            <a:xfrm>
              <a:off x="1582" y="3555"/>
              <a:ext cx="182"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743457" name="Line 33"/>
            <p:cNvSpPr>
              <a:spLocks noChangeShapeType="1"/>
            </p:cNvSpPr>
            <p:nvPr/>
          </p:nvSpPr>
          <p:spPr bwMode="auto">
            <a:xfrm>
              <a:off x="943" y="3555"/>
              <a:ext cx="2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3458" name="Line 34"/>
            <p:cNvSpPr>
              <a:spLocks noChangeShapeType="1"/>
            </p:cNvSpPr>
            <p:nvPr/>
          </p:nvSpPr>
          <p:spPr bwMode="auto">
            <a:xfrm>
              <a:off x="1957" y="3556"/>
              <a:ext cx="654" cy="0"/>
            </a:xfrm>
            <a:prstGeom prst="line">
              <a:avLst/>
            </a:prstGeom>
            <a:noFill/>
            <a:ln w="9525">
              <a:solidFill>
                <a:schemeClr val="tx1"/>
              </a:solidFill>
              <a:round/>
              <a:headEnd type="oval" w="sm" len="sm"/>
              <a:tailEnd type="oval" w="sm" len="sm"/>
            </a:ln>
            <a:effectLst/>
          </p:spPr>
          <p:txBody>
            <a:bodyPr wrap="none" anchor="ctr"/>
            <a:lstStyle/>
            <a:p>
              <a:endParaRPr lang="zh-CN" altLang="en-US"/>
            </a:p>
          </p:txBody>
        </p:sp>
        <p:sp>
          <p:nvSpPr>
            <p:cNvPr id="743459" name="Line 35"/>
            <p:cNvSpPr>
              <a:spLocks noChangeShapeType="1"/>
            </p:cNvSpPr>
            <p:nvPr/>
          </p:nvSpPr>
          <p:spPr bwMode="auto">
            <a:xfrm>
              <a:off x="2869" y="3447"/>
              <a:ext cx="558"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743460" name="Line 36"/>
            <p:cNvSpPr>
              <a:spLocks noChangeShapeType="1"/>
            </p:cNvSpPr>
            <p:nvPr/>
          </p:nvSpPr>
          <p:spPr bwMode="auto">
            <a:xfrm>
              <a:off x="2869" y="3651"/>
              <a:ext cx="402"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743461" name="Line 37"/>
            <p:cNvSpPr>
              <a:spLocks noChangeShapeType="1"/>
            </p:cNvSpPr>
            <p:nvPr/>
          </p:nvSpPr>
          <p:spPr bwMode="auto">
            <a:xfrm flipV="1">
              <a:off x="2617" y="3415"/>
              <a:ext cx="266" cy="140"/>
            </a:xfrm>
            <a:prstGeom prst="line">
              <a:avLst/>
            </a:prstGeom>
            <a:noFill/>
            <a:ln w="9525">
              <a:solidFill>
                <a:schemeClr val="tx1"/>
              </a:solidFill>
              <a:round/>
              <a:headEnd/>
              <a:tailEnd/>
            </a:ln>
            <a:effectLst/>
          </p:spPr>
          <p:txBody>
            <a:bodyPr wrap="none" anchor="ctr"/>
            <a:lstStyle/>
            <a:p>
              <a:endParaRPr lang="zh-CN" altLang="en-US"/>
            </a:p>
          </p:txBody>
        </p:sp>
        <p:sp>
          <p:nvSpPr>
            <p:cNvPr id="743462" name="Text Box 38"/>
            <p:cNvSpPr txBox="1">
              <a:spLocks noChangeArrowheads="1"/>
            </p:cNvSpPr>
            <p:nvPr/>
          </p:nvSpPr>
          <p:spPr bwMode="auto">
            <a:xfrm>
              <a:off x="2330" y="3107"/>
              <a:ext cx="798"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VICIntSelect[7]</a:t>
              </a:r>
            </a:p>
          </p:txBody>
        </p:sp>
        <p:sp>
          <p:nvSpPr>
            <p:cNvPr id="743463" name="Line 39"/>
            <p:cNvSpPr>
              <a:spLocks noChangeShapeType="1"/>
            </p:cNvSpPr>
            <p:nvPr/>
          </p:nvSpPr>
          <p:spPr bwMode="auto">
            <a:xfrm flipV="1">
              <a:off x="1763" y="3475"/>
              <a:ext cx="186" cy="80"/>
            </a:xfrm>
            <a:prstGeom prst="line">
              <a:avLst/>
            </a:prstGeom>
            <a:noFill/>
            <a:ln w="9525">
              <a:solidFill>
                <a:srgbClr val="FF0000"/>
              </a:solidFill>
              <a:round/>
              <a:headEnd/>
              <a:tailEnd/>
            </a:ln>
            <a:effectLst/>
          </p:spPr>
          <p:txBody>
            <a:bodyPr wrap="none" anchor="ctr"/>
            <a:lstStyle/>
            <a:p>
              <a:endParaRPr lang="zh-CN" altLang="en-US"/>
            </a:p>
          </p:txBody>
        </p:sp>
        <p:sp>
          <p:nvSpPr>
            <p:cNvPr id="743464" name="Text Box 40"/>
            <p:cNvSpPr txBox="1">
              <a:spLocks noChangeArrowheads="1"/>
            </p:cNvSpPr>
            <p:nvPr/>
          </p:nvSpPr>
          <p:spPr bwMode="auto">
            <a:xfrm>
              <a:off x="1391" y="3117"/>
              <a:ext cx="933"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VICIntEnable[7] = 0</a:t>
              </a:r>
            </a:p>
          </p:txBody>
        </p:sp>
        <p:sp>
          <p:nvSpPr>
            <p:cNvPr id="743465" name="Text Box 41"/>
            <p:cNvSpPr txBox="1">
              <a:spLocks noChangeArrowheads="1"/>
            </p:cNvSpPr>
            <p:nvPr/>
          </p:nvSpPr>
          <p:spPr bwMode="auto">
            <a:xfrm>
              <a:off x="3027" y="3294"/>
              <a:ext cx="30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IRQ</a:t>
              </a:r>
            </a:p>
          </p:txBody>
        </p:sp>
        <p:sp>
          <p:nvSpPr>
            <p:cNvPr id="743466" name="Text Box 42"/>
            <p:cNvSpPr txBox="1">
              <a:spLocks noChangeArrowheads="1"/>
            </p:cNvSpPr>
            <p:nvPr/>
          </p:nvSpPr>
          <p:spPr bwMode="auto">
            <a:xfrm>
              <a:off x="2979" y="3498"/>
              <a:ext cx="30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FIQ</a:t>
              </a:r>
            </a:p>
          </p:txBody>
        </p:sp>
        <p:grpSp>
          <p:nvGrpSpPr>
            <p:cNvPr id="743467" name="Group 43"/>
            <p:cNvGrpSpPr>
              <a:grpSpLocks/>
            </p:cNvGrpSpPr>
            <p:nvPr/>
          </p:nvGrpSpPr>
          <p:grpSpPr bwMode="auto">
            <a:xfrm>
              <a:off x="3697" y="2558"/>
              <a:ext cx="756" cy="390"/>
              <a:chOff x="3492" y="1368"/>
              <a:chExt cx="714" cy="390"/>
            </a:xfrm>
          </p:grpSpPr>
          <p:sp>
            <p:nvSpPr>
              <p:cNvPr id="743468" name="Rectangle 44"/>
              <p:cNvSpPr>
                <a:spLocks noChangeArrowheads="1"/>
              </p:cNvSpPr>
              <p:nvPr/>
            </p:nvSpPr>
            <p:spPr bwMode="auto">
              <a:xfrm>
                <a:off x="3492" y="1368"/>
                <a:ext cx="714" cy="210"/>
              </a:xfrm>
              <a:prstGeom prst="rect">
                <a:avLst/>
              </a:prstGeom>
              <a:solidFill>
                <a:srgbClr val="99CCFF"/>
              </a:solidFill>
              <a:ln w="9525" algn="ctr">
                <a:solidFill>
                  <a:schemeClr val="tx1"/>
                </a:solidFill>
                <a:miter lim="800000"/>
                <a:headEnd/>
                <a:tailEnd/>
              </a:ln>
              <a:effectLst/>
            </p:spPr>
            <p:txBody>
              <a:bodyPr wrap="none" anchor="ctr"/>
              <a:lstStyle/>
              <a:p>
                <a:r>
                  <a:rPr lang="en-US" altLang="zh-CN" sz="1200">
                    <a:latin typeface="Times New Roman" pitchFamily="18" charset="0"/>
                  </a:rPr>
                  <a:t>VICVectAddr0</a:t>
                </a:r>
              </a:p>
            </p:txBody>
          </p:sp>
          <p:sp>
            <p:nvSpPr>
              <p:cNvPr id="743469" name="Rectangle 45"/>
              <p:cNvSpPr>
                <a:spLocks noChangeArrowheads="1"/>
              </p:cNvSpPr>
              <p:nvPr/>
            </p:nvSpPr>
            <p:spPr bwMode="auto">
              <a:xfrm>
                <a:off x="3492" y="1572"/>
                <a:ext cx="714" cy="186"/>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latin typeface="Times New Roman" pitchFamily="18" charset="0"/>
                  </a:rPr>
                  <a:t>VICVectCntl0</a:t>
                </a:r>
              </a:p>
            </p:txBody>
          </p:sp>
        </p:grpSp>
        <p:grpSp>
          <p:nvGrpSpPr>
            <p:cNvPr id="743470" name="Group 46"/>
            <p:cNvGrpSpPr>
              <a:grpSpLocks/>
            </p:cNvGrpSpPr>
            <p:nvPr/>
          </p:nvGrpSpPr>
          <p:grpSpPr bwMode="auto">
            <a:xfrm>
              <a:off x="3697" y="3087"/>
              <a:ext cx="756" cy="390"/>
              <a:chOff x="3492" y="1368"/>
              <a:chExt cx="714" cy="390"/>
            </a:xfrm>
          </p:grpSpPr>
          <p:sp>
            <p:nvSpPr>
              <p:cNvPr id="743471" name="Rectangle 47"/>
              <p:cNvSpPr>
                <a:spLocks noChangeArrowheads="1"/>
              </p:cNvSpPr>
              <p:nvPr/>
            </p:nvSpPr>
            <p:spPr bwMode="auto">
              <a:xfrm>
                <a:off x="3492" y="1368"/>
                <a:ext cx="714" cy="210"/>
              </a:xfrm>
              <a:prstGeom prst="rect">
                <a:avLst/>
              </a:prstGeom>
              <a:solidFill>
                <a:srgbClr val="99CCFF"/>
              </a:solidFill>
              <a:ln w="9525" algn="ctr">
                <a:solidFill>
                  <a:schemeClr val="tx1"/>
                </a:solidFill>
                <a:miter lim="800000"/>
                <a:headEnd/>
                <a:tailEnd/>
              </a:ln>
              <a:effectLst/>
            </p:spPr>
            <p:txBody>
              <a:bodyPr wrap="none" anchor="ctr"/>
              <a:lstStyle/>
              <a:p>
                <a:r>
                  <a:rPr lang="en-US" altLang="zh-CN" sz="1200">
                    <a:latin typeface="Times New Roman" pitchFamily="18" charset="0"/>
                  </a:rPr>
                  <a:t>VICVectAddr15</a:t>
                </a:r>
              </a:p>
            </p:txBody>
          </p:sp>
          <p:sp>
            <p:nvSpPr>
              <p:cNvPr id="743472" name="Rectangle 48"/>
              <p:cNvSpPr>
                <a:spLocks noChangeArrowheads="1"/>
              </p:cNvSpPr>
              <p:nvPr/>
            </p:nvSpPr>
            <p:spPr bwMode="auto">
              <a:xfrm>
                <a:off x="3492" y="1572"/>
                <a:ext cx="714" cy="186"/>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latin typeface="Times New Roman" pitchFamily="18" charset="0"/>
                  </a:rPr>
                  <a:t>VICVectCntl15</a:t>
                </a:r>
              </a:p>
            </p:txBody>
          </p:sp>
        </p:grpSp>
        <p:sp>
          <p:nvSpPr>
            <p:cNvPr id="743473" name="Rectangle 49"/>
            <p:cNvSpPr>
              <a:spLocks noChangeArrowheads="1"/>
            </p:cNvSpPr>
            <p:nvPr/>
          </p:nvSpPr>
          <p:spPr bwMode="auto">
            <a:xfrm>
              <a:off x="3697" y="3555"/>
              <a:ext cx="756" cy="167"/>
            </a:xfrm>
            <a:prstGeom prst="rect">
              <a:avLst/>
            </a:prstGeom>
            <a:solidFill>
              <a:srgbClr val="99CCFF"/>
            </a:solidFill>
            <a:ln w="9525" algn="ctr">
              <a:solidFill>
                <a:schemeClr val="tx1"/>
              </a:solidFill>
              <a:miter lim="800000"/>
              <a:headEnd/>
              <a:tailEnd/>
            </a:ln>
            <a:effectLst/>
          </p:spPr>
          <p:txBody>
            <a:bodyPr wrap="none" anchor="ctr"/>
            <a:lstStyle/>
            <a:p>
              <a:r>
                <a:rPr lang="en-US" altLang="zh-CN" sz="1200">
                  <a:latin typeface="Times New Roman" pitchFamily="18" charset="0"/>
                </a:rPr>
                <a:t>VICDefVectAddr</a:t>
              </a:r>
            </a:p>
          </p:txBody>
        </p:sp>
        <p:sp>
          <p:nvSpPr>
            <p:cNvPr id="743474" name="Line 50"/>
            <p:cNvSpPr>
              <a:spLocks noChangeShapeType="1"/>
            </p:cNvSpPr>
            <p:nvPr/>
          </p:nvSpPr>
          <p:spPr bwMode="auto">
            <a:xfrm>
              <a:off x="1871" y="2559"/>
              <a:ext cx="0" cy="138"/>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3475" name="Line 51"/>
            <p:cNvSpPr>
              <a:spLocks noChangeShapeType="1"/>
            </p:cNvSpPr>
            <p:nvPr/>
          </p:nvSpPr>
          <p:spPr bwMode="auto">
            <a:xfrm>
              <a:off x="2737" y="2541"/>
              <a:ext cx="0" cy="132"/>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3476" name="Line 52"/>
            <p:cNvSpPr>
              <a:spLocks noChangeShapeType="1"/>
            </p:cNvSpPr>
            <p:nvPr/>
          </p:nvSpPr>
          <p:spPr bwMode="auto">
            <a:xfrm>
              <a:off x="1859" y="3279"/>
              <a:ext cx="0" cy="138"/>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3477" name="Line 53"/>
            <p:cNvSpPr>
              <a:spLocks noChangeShapeType="1"/>
            </p:cNvSpPr>
            <p:nvPr/>
          </p:nvSpPr>
          <p:spPr bwMode="auto">
            <a:xfrm>
              <a:off x="2737" y="3261"/>
              <a:ext cx="0" cy="114"/>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3478" name="Rectangle 54"/>
            <p:cNvSpPr>
              <a:spLocks noChangeArrowheads="1"/>
            </p:cNvSpPr>
            <p:nvPr/>
          </p:nvSpPr>
          <p:spPr bwMode="auto">
            <a:xfrm>
              <a:off x="3430" y="2558"/>
              <a:ext cx="268" cy="1164"/>
            </a:xfrm>
            <a:prstGeom prst="rect">
              <a:avLst/>
            </a:prstGeom>
            <a:solidFill>
              <a:srgbClr val="CCFFFF"/>
            </a:solidFill>
            <a:ln w="9525" algn="ctr">
              <a:solidFill>
                <a:schemeClr val="tx1"/>
              </a:solidFill>
              <a:miter lim="800000"/>
              <a:headEnd/>
              <a:tailEnd/>
            </a:ln>
            <a:effectLst/>
          </p:spPr>
          <p:txBody>
            <a:bodyPr wrap="none" anchor="ctr"/>
            <a:lstStyle/>
            <a:p>
              <a:r>
                <a:rPr lang="en-US" altLang="zh-CN" sz="1200">
                  <a:latin typeface="Arial" charset="0"/>
                </a:rPr>
                <a:t>IRQ</a:t>
              </a:r>
            </a:p>
            <a:p>
              <a:r>
                <a:rPr lang="zh-CN" altLang="en-US" sz="1200">
                  <a:latin typeface="Arial" charset="0"/>
                </a:rPr>
                <a:t>通道</a:t>
              </a:r>
            </a:p>
            <a:p>
              <a:r>
                <a:rPr lang="zh-CN" altLang="en-US" sz="1200">
                  <a:latin typeface="Arial" charset="0"/>
                </a:rPr>
                <a:t>分配</a:t>
              </a:r>
            </a:p>
          </p:txBody>
        </p:sp>
      </p:grpSp>
      <p:sp>
        <p:nvSpPr>
          <p:cNvPr id="743479" name="Oval 55"/>
          <p:cNvSpPr>
            <a:spLocks noChangeArrowheads="1"/>
          </p:cNvSpPr>
          <p:nvPr/>
        </p:nvSpPr>
        <p:spPr bwMode="auto">
          <a:xfrm>
            <a:off x="3595688" y="5383888"/>
            <a:ext cx="259766" cy="519351"/>
          </a:xfrm>
          <a:prstGeom prst="ellipse">
            <a:avLst/>
          </a:prstGeom>
          <a:noFill/>
          <a:ln w="19050" algn="ctr">
            <a:solidFill>
              <a:srgbClr val="FF0000"/>
            </a:solidFill>
            <a:round/>
            <a:headEnd/>
            <a:tailEnd/>
          </a:ln>
          <a:effectLst/>
        </p:spPr>
        <p:txBody>
          <a:bodyPr wrap="none" anchor="ctr">
            <a:spAutoFit/>
          </a:bodyPr>
          <a:lstStyle/>
          <a:p>
            <a:endParaRPr lang="zh-CN" altLang="en-US"/>
          </a:p>
        </p:txBody>
      </p:sp>
      <p:sp>
        <p:nvSpPr>
          <p:cNvPr id="743480" name="Freeform 56"/>
          <p:cNvSpPr>
            <a:spLocks/>
          </p:cNvSpPr>
          <p:nvPr/>
        </p:nvSpPr>
        <p:spPr bwMode="auto">
          <a:xfrm>
            <a:off x="1538289" y="2852738"/>
            <a:ext cx="2205037" cy="369332"/>
          </a:xfrm>
          <a:custGeom>
            <a:avLst/>
            <a:gdLst/>
            <a:ahLst/>
            <a:cxnLst>
              <a:cxn ang="0">
                <a:pos x="475" y="0"/>
              </a:cxn>
              <a:cxn ang="0">
                <a:pos x="152" y="651"/>
              </a:cxn>
              <a:cxn ang="0">
                <a:pos x="1389" y="1642"/>
              </a:cxn>
            </a:cxnLst>
            <a:rect l="0" t="0" r="r" b="b"/>
            <a:pathLst>
              <a:path w="1389" h="1642">
                <a:moveTo>
                  <a:pt x="475" y="0"/>
                </a:moveTo>
                <a:cubicBezTo>
                  <a:pt x="421" y="108"/>
                  <a:pt x="0" y="377"/>
                  <a:pt x="152" y="651"/>
                </a:cubicBezTo>
                <a:cubicBezTo>
                  <a:pt x="304" y="925"/>
                  <a:pt x="1131" y="1436"/>
                  <a:pt x="1389" y="1642"/>
                </a:cubicBezTo>
              </a:path>
            </a:pathLst>
          </a:custGeom>
          <a:noFill/>
          <a:ln w="19050" cap="flat" cmpd="sng">
            <a:solidFill>
              <a:srgbClr val="FF0000"/>
            </a:solidFill>
            <a:prstDash val="solid"/>
            <a:round/>
            <a:headEnd/>
            <a:tailEnd type="triangle" w="med" len="med"/>
          </a:ln>
          <a:effectLst/>
        </p:spPr>
        <p:txBody>
          <a:bodyP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743427"/>
                                        </p:tgtEl>
                                        <p:attrNameLst>
                                          <p:attrName>style.visibility</p:attrName>
                                        </p:attrNameLst>
                                      </p:cBhvr>
                                      <p:to>
                                        <p:strVal val="visible"/>
                                      </p:to>
                                    </p:set>
                                    <p:anim calcmode="lin" valueType="num">
                                      <p:cBhvr additive="base">
                                        <p:cTn id="7" dur="500" fill="hold"/>
                                        <p:tgtEl>
                                          <p:spTgt spid="743427"/>
                                        </p:tgtEl>
                                        <p:attrNameLst>
                                          <p:attrName>ppt_x</p:attrName>
                                        </p:attrNameLst>
                                      </p:cBhvr>
                                      <p:tavLst>
                                        <p:tav tm="0">
                                          <p:val>
                                            <p:strVal val="1+#ppt_w/2"/>
                                          </p:val>
                                        </p:tav>
                                        <p:tav tm="100000">
                                          <p:val>
                                            <p:strVal val="#ppt_x"/>
                                          </p:val>
                                        </p:tav>
                                      </p:tavLst>
                                    </p:anim>
                                    <p:anim calcmode="lin" valueType="num">
                                      <p:cBhvr additive="base">
                                        <p:cTn id="8" dur="500" fill="hold"/>
                                        <p:tgtEl>
                                          <p:spTgt spid="74342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743428"/>
                                        </p:tgtEl>
                                        <p:attrNameLst>
                                          <p:attrName>style.visibility</p:attrName>
                                        </p:attrNameLst>
                                      </p:cBhvr>
                                      <p:to>
                                        <p:strVal val="visible"/>
                                      </p:to>
                                    </p:set>
                                    <p:animEffect transition="in" filter="wipe(up)">
                                      <p:cBhvr>
                                        <p:cTn id="12" dur="500"/>
                                        <p:tgtEl>
                                          <p:spTgt spid="743428"/>
                                        </p:tgtEl>
                                      </p:cBhvr>
                                    </p:animEffect>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743429"/>
                                        </p:tgtEl>
                                        <p:attrNameLst>
                                          <p:attrName>style.visibility</p:attrName>
                                        </p:attrNameLst>
                                      </p:cBhvr>
                                      <p:to>
                                        <p:strVal val="visible"/>
                                      </p:to>
                                    </p:set>
                                    <p:animEffect transition="in" filter="wipe(up)">
                                      <p:cBhvr>
                                        <p:cTn id="16" dur="500"/>
                                        <p:tgtEl>
                                          <p:spTgt spid="743429"/>
                                        </p:tgtEl>
                                      </p:cBhvr>
                                    </p:animEffect>
                                  </p:childTnLst>
                                </p:cTn>
                              </p:par>
                            </p:childTnLst>
                          </p:cTn>
                        </p:par>
                        <p:par>
                          <p:cTn id="17" fill="hold">
                            <p:stCondLst>
                              <p:cond delay="1500"/>
                            </p:stCondLst>
                            <p:childTnLst>
                              <p:par>
                                <p:cTn id="18" presetID="3" presetClass="entr" presetSubtype="10" fill="hold" grpId="0" nodeType="afterEffect">
                                  <p:stCondLst>
                                    <p:cond delay="0"/>
                                  </p:stCondLst>
                                  <p:childTnLst>
                                    <p:set>
                                      <p:cBhvr>
                                        <p:cTn id="19" dur="1" fill="hold">
                                          <p:stCondLst>
                                            <p:cond delay="0"/>
                                          </p:stCondLst>
                                        </p:cTn>
                                        <p:tgtEl>
                                          <p:spTgt spid="743479"/>
                                        </p:tgtEl>
                                        <p:attrNameLst>
                                          <p:attrName>style.visibility</p:attrName>
                                        </p:attrNameLst>
                                      </p:cBhvr>
                                      <p:to>
                                        <p:strVal val="visible"/>
                                      </p:to>
                                    </p:set>
                                    <p:animEffect transition="in" filter="blinds(horizontal)">
                                      <p:cBhvr>
                                        <p:cTn id="20" dur="500"/>
                                        <p:tgtEl>
                                          <p:spTgt spid="743479"/>
                                        </p:tgtEl>
                                      </p:cBhvr>
                                    </p:animEffect>
                                  </p:childTnLst>
                                </p:cTn>
                              </p:par>
                            </p:childTnLst>
                          </p:cTn>
                        </p:par>
                        <p:par>
                          <p:cTn id="21" fill="hold">
                            <p:stCondLst>
                              <p:cond delay="2000"/>
                            </p:stCondLst>
                            <p:childTnLst>
                              <p:par>
                                <p:cTn id="22" presetID="22" presetClass="entr" presetSubtype="1" fill="hold" grpId="0" nodeType="afterEffect">
                                  <p:stCondLst>
                                    <p:cond delay="0"/>
                                  </p:stCondLst>
                                  <p:childTnLst>
                                    <p:set>
                                      <p:cBhvr>
                                        <p:cTn id="23" dur="1" fill="hold">
                                          <p:stCondLst>
                                            <p:cond delay="0"/>
                                          </p:stCondLst>
                                        </p:cTn>
                                        <p:tgtEl>
                                          <p:spTgt spid="743480"/>
                                        </p:tgtEl>
                                        <p:attrNameLst>
                                          <p:attrName>style.visibility</p:attrName>
                                        </p:attrNameLst>
                                      </p:cBhvr>
                                      <p:to>
                                        <p:strVal val="visible"/>
                                      </p:to>
                                    </p:set>
                                    <p:animEffect transition="in" filter="wipe(up)">
                                      <p:cBhvr>
                                        <p:cTn id="24" dur="500"/>
                                        <p:tgtEl>
                                          <p:spTgt spid="7434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3427" grpId="0"/>
      <p:bldP spid="743428" grpId="0"/>
      <p:bldP spid="743479" grpId="0" animBg="1"/>
      <p:bldP spid="743480"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450" name="Rectangle 2"/>
          <p:cNvSpPr>
            <a:spLocks noChangeArrowheads="1"/>
          </p:cNvSpPr>
          <p:nvPr/>
        </p:nvSpPr>
        <p:spPr bwMode="auto">
          <a:xfrm>
            <a:off x="2133600" y="698500"/>
            <a:ext cx="7772400" cy="1143000"/>
          </a:xfrm>
          <a:prstGeom prst="rect">
            <a:avLst/>
          </a:prstGeom>
          <a:noFill/>
          <a:ln w="9525">
            <a:noFill/>
            <a:miter lim="800000"/>
            <a:headEnd/>
            <a:tailEnd/>
          </a:ln>
          <a:effectLst/>
        </p:spPr>
        <p:txBody>
          <a:bodyPr anchor="ctr"/>
          <a:lstStyle/>
          <a:p>
            <a:r>
              <a:rPr lang="en-US" altLang="zh-CN" sz="4400">
                <a:solidFill>
                  <a:schemeClr val="tx2"/>
                </a:solidFill>
                <a:latin typeface="Times New Roman" pitchFamily="18" charset="0"/>
              </a:rPr>
              <a:t>UART</a:t>
            </a:r>
            <a:r>
              <a:rPr lang="zh-CN" altLang="en-US" sz="4400">
                <a:solidFill>
                  <a:schemeClr val="tx2"/>
                </a:solidFill>
                <a:latin typeface="Times New Roman" pitchFamily="18" charset="0"/>
              </a:rPr>
              <a:t>中断</a:t>
            </a:r>
          </a:p>
        </p:txBody>
      </p:sp>
      <p:sp>
        <p:nvSpPr>
          <p:cNvPr id="744451" name="Rectangle 3"/>
          <p:cNvSpPr>
            <a:spLocks noChangeArrowheads="1"/>
          </p:cNvSpPr>
          <p:nvPr/>
        </p:nvSpPr>
        <p:spPr bwMode="auto">
          <a:xfrm>
            <a:off x="2209800" y="19415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UART1</a:t>
            </a:r>
            <a:r>
              <a:rPr lang="zh-CN" altLang="en-US" sz="3200">
                <a:latin typeface="Times New Roman" pitchFamily="18" charset="0"/>
              </a:rPr>
              <a:t>与</a:t>
            </a:r>
            <a:r>
              <a:rPr lang="en-US" altLang="zh-CN" sz="3200">
                <a:latin typeface="Times New Roman" pitchFamily="18" charset="0"/>
              </a:rPr>
              <a:t>VIC</a:t>
            </a:r>
            <a:r>
              <a:rPr lang="zh-CN" altLang="en-US" sz="3200">
                <a:latin typeface="Times New Roman" pitchFamily="18" charset="0"/>
              </a:rPr>
              <a:t>的关系</a:t>
            </a:r>
          </a:p>
        </p:txBody>
      </p:sp>
      <p:sp>
        <p:nvSpPr>
          <p:cNvPr id="744452" name="Text Box 4"/>
          <p:cNvSpPr txBox="1">
            <a:spLocks noChangeArrowheads="1"/>
          </p:cNvSpPr>
          <p:nvPr/>
        </p:nvSpPr>
        <p:spPr bwMode="auto">
          <a:xfrm>
            <a:off x="2216151" y="2649538"/>
            <a:ext cx="6557963" cy="457200"/>
          </a:xfrm>
          <a:prstGeom prst="rect">
            <a:avLst/>
          </a:prstGeom>
          <a:noFill/>
          <a:ln w="9525" algn="ctr">
            <a:noFill/>
            <a:miter lim="800000"/>
            <a:headEnd/>
            <a:tailEnd/>
          </a:ln>
          <a:effectLst/>
        </p:spPr>
        <p:txBody>
          <a:bodyPr>
            <a:spAutoFit/>
          </a:bodyPr>
          <a:lstStyle/>
          <a:p>
            <a:pPr algn="l">
              <a:buFont typeface="Wingdings" pitchFamily="2" charset="2"/>
              <a:buChar char="Ø"/>
            </a:pPr>
            <a:r>
              <a:rPr lang="zh-CN" altLang="en-US" sz="2400">
                <a:solidFill>
                  <a:schemeClr val="accent2"/>
                </a:solidFill>
                <a:latin typeface="Times New Roman" pitchFamily="18" charset="0"/>
                <a:ea typeface="华文新魏" pitchFamily="2" charset="-122"/>
              </a:rPr>
              <a:t>当</a:t>
            </a:r>
            <a:r>
              <a:rPr lang="en-US" altLang="zh-CN" sz="2400">
                <a:solidFill>
                  <a:schemeClr val="accent2"/>
                </a:solidFill>
                <a:latin typeface="Times New Roman" pitchFamily="18" charset="0"/>
                <a:ea typeface="华文新魏" pitchFamily="2" charset="-122"/>
              </a:rPr>
              <a:t>VICIntEnable[7] = 0</a:t>
            </a:r>
            <a:r>
              <a:rPr lang="zh-CN" altLang="en-US" sz="2400">
                <a:solidFill>
                  <a:schemeClr val="accent2"/>
                </a:solidFill>
                <a:latin typeface="Times New Roman" pitchFamily="18" charset="0"/>
                <a:ea typeface="华文新魏" pitchFamily="2" charset="-122"/>
              </a:rPr>
              <a:t>时，通道</a:t>
            </a:r>
            <a:r>
              <a:rPr lang="en-US" altLang="zh-CN" sz="2400">
                <a:solidFill>
                  <a:schemeClr val="accent2"/>
                </a:solidFill>
                <a:latin typeface="Times New Roman" pitchFamily="18" charset="0"/>
                <a:ea typeface="华文新魏" pitchFamily="2" charset="-122"/>
              </a:rPr>
              <a:t>7</a:t>
            </a:r>
            <a:r>
              <a:rPr lang="zh-CN" altLang="en-US" sz="2400">
                <a:solidFill>
                  <a:schemeClr val="accent2"/>
                </a:solidFill>
                <a:latin typeface="Times New Roman" pitchFamily="18" charset="0"/>
                <a:ea typeface="华文新魏" pitchFamily="2" charset="-122"/>
              </a:rPr>
              <a:t>中断禁止；</a:t>
            </a:r>
          </a:p>
        </p:txBody>
      </p:sp>
      <p:grpSp>
        <p:nvGrpSpPr>
          <p:cNvPr id="744453" name="Group 5"/>
          <p:cNvGrpSpPr>
            <a:grpSpLocks/>
          </p:cNvGrpSpPr>
          <p:nvPr/>
        </p:nvGrpSpPr>
        <p:grpSpPr bwMode="auto">
          <a:xfrm>
            <a:off x="2165351" y="3802063"/>
            <a:ext cx="7699375" cy="2106612"/>
            <a:chOff x="404" y="2395"/>
            <a:chExt cx="4850" cy="1327"/>
          </a:xfrm>
        </p:grpSpPr>
        <p:sp>
          <p:nvSpPr>
            <p:cNvPr id="744454" name="Rectangle 6"/>
            <p:cNvSpPr>
              <a:spLocks noChangeArrowheads="1"/>
            </p:cNvSpPr>
            <p:nvPr/>
          </p:nvSpPr>
          <p:spPr bwMode="auto">
            <a:xfrm>
              <a:off x="2419" y="2661"/>
              <a:ext cx="492" cy="33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744455" name="Rectangle 7"/>
            <p:cNvSpPr>
              <a:spLocks noChangeArrowheads="1"/>
            </p:cNvSpPr>
            <p:nvPr/>
          </p:nvSpPr>
          <p:spPr bwMode="auto">
            <a:xfrm>
              <a:off x="1631" y="2703"/>
              <a:ext cx="330" cy="264"/>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744456" name="Rectangle 8"/>
            <p:cNvSpPr>
              <a:spLocks noChangeArrowheads="1"/>
            </p:cNvSpPr>
            <p:nvPr/>
          </p:nvSpPr>
          <p:spPr bwMode="auto">
            <a:xfrm>
              <a:off x="1071" y="2728"/>
              <a:ext cx="432" cy="232"/>
            </a:xfrm>
            <a:prstGeom prst="rect">
              <a:avLst/>
            </a:prstGeom>
            <a:solidFill>
              <a:srgbClr val="FFCC99"/>
            </a:solidFill>
            <a:ln w="9525" algn="ctr">
              <a:solidFill>
                <a:schemeClr val="tx1"/>
              </a:solidFill>
              <a:miter lim="800000"/>
              <a:headEnd/>
              <a:tailEnd/>
            </a:ln>
            <a:effectLst/>
          </p:spPr>
          <p:txBody>
            <a:bodyPr wrap="none" anchor="ctr"/>
            <a:lstStyle/>
            <a:p>
              <a:r>
                <a:rPr lang="zh-CN" altLang="en-US" sz="1200">
                  <a:latin typeface="Arial" charset="0"/>
                </a:rPr>
                <a:t>通道</a:t>
              </a:r>
              <a:r>
                <a:rPr lang="en-US" altLang="zh-CN" sz="1200">
                  <a:latin typeface="Arial" charset="0"/>
                </a:rPr>
                <a:t>6</a:t>
              </a:r>
            </a:p>
          </p:txBody>
        </p:sp>
        <p:sp>
          <p:nvSpPr>
            <p:cNvPr id="744457" name="Text Box 9"/>
            <p:cNvSpPr txBox="1">
              <a:spLocks noChangeArrowheads="1"/>
            </p:cNvSpPr>
            <p:nvPr/>
          </p:nvSpPr>
          <p:spPr bwMode="auto">
            <a:xfrm>
              <a:off x="404" y="2752"/>
              <a:ext cx="497"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UART0</a:t>
              </a:r>
            </a:p>
          </p:txBody>
        </p:sp>
        <p:sp>
          <p:nvSpPr>
            <p:cNvPr id="744458" name="Text Box 10"/>
            <p:cNvSpPr txBox="1">
              <a:spLocks noChangeArrowheads="1"/>
            </p:cNvSpPr>
            <p:nvPr/>
          </p:nvSpPr>
          <p:spPr bwMode="auto">
            <a:xfrm>
              <a:off x="4375" y="2592"/>
              <a:ext cx="762" cy="173"/>
            </a:xfrm>
            <a:prstGeom prst="rect">
              <a:avLst/>
            </a:prstGeom>
            <a:noFill/>
            <a:ln w="9525" algn="ctr">
              <a:noFill/>
              <a:miter lim="800000"/>
              <a:headEnd/>
              <a:tailEnd/>
            </a:ln>
            <a:effectLst/>
          </p:spPr>
          <p:txBody>
            <a:bodyPr>
              <a:spAutoFit/>
            </a:bodyPr>
            <a:lstStyle/>
            <a:p>
              <a:r>
                <a:rPr lang="zh-CN" altLang="en-US" sz="1200">
                  <a:latin typeface="Times New Roman" pitchFamily="18" charset="0"/>
                </a:rPr>
                <a:t>向量</a:t>
              </a:r>
              <a:r>
                <a:rPr lang="en-US" altLang="zh-CN" sz="1200">
                  <a:latin typeface="Times New Roman" pitchFamily="18" charset="0"/>
                </a:rPr>
                <a:t>IRQ</a:t>
              </a:r>
              <a:r>
                <a:rPr lang="zh-CN" altLang="en-US" sz="1200">
                  <a:latin typeface="Times New Roman" pitchFamily="18" charset="0"/>
                </a:rPr>
                <a:t>通道</a:t>
              </a:r>
              <a:r>
                <a:rPr lang="en-US" altLang="zh-CN" sz="1200">
                  <a:latin typeface="Times New Roman" pitchFamily="18" charset="0"/>
                </a:rPr>
                <a:t>0</a:t>
              </a:r>
            </a:p>
          </p:txBody>
        </p:sp>
        <p:sp>
          <p:nvSpPr>
            <p:cNvPr id="744459" name="Text Box 11"/>
            <p:cNvSpPr txBox="1">
              <a:spLocks noChangeArrowheads="1"/>
            </p:cNvSpPr>
            <p:nvPr/>
          </p:nvSpPr>
          <p:spPr bwMode="auto">
            <a:xfrm>
              <a:off x="4375" y="3130"/>
              <a:ext cx="818" cy="173"/>
            </a:xfrm>
            <a:prstGeom prst="rect">
              <a:avLst/>
            </a:prstGeom>
            <a:noFill/>
            <a:ln w="9525" algn="ctr">
              <a:noFill/>
              <a:miter lim="800000"/>
              <a:headEnd/>
              <a:tailEnd/>
            </a:ln>
            <a:effectLst/>
          </p:spPr>
          <p:txBody>
            <a:bodyPr>
              <a:spAutoFit/>
            </a:bodyPr>
            <a:lstStyle/>
            <a:p>
              <a:r>
                <a:rPr lang="zh-CN" altLang="en-US" sz="1200">
                  <a:latin typeface="Times New Roman" pitchFamily="18" charset="0"/>
                </a:rPr>
                <a:t>向量</a:t>
              </a:r>
              <a:r>
                <a:rPr lang="en-US" altLang="zh-CN" sz="1200">
                  <a:latin typeface="Times New Roman" pitchFamily="18" charset="0"/>
                </a:rPr>
                <a:t>IRQ</a:t>
              </a:r>
              <a:r>
                <a:rPr lang="zh-CN" altLang="en-US" sz="1200">
                  <a:latin typeface="Times New Roman" pitchFamily="18" charset="0"/>
                </a:rPr>
                <a:t>通道</a:t>
              </a:r>
              <a:r>
                <a:rPr lang="en-US" altLang="zh-CN" sz="1200">
                  <a:latin typeface="Times New Roman" pitchFamily="18" charset="0"/>
                </a:rPr>
                <a:t>15</a:t>
              </a:r>
            </a:p>
          </p:txBody>
        </p:sp>
        <p:sp>
          <p:nvSpPr>
            <p:cNvPr id="744460" name="Text Box 12"/>
            <p:cNvSpPr txBox="1">
              <a:spLocks noChangeArrowheads="1"/>
            </p:cNvSpPr>
            <p:nvPr/>
          </p:nvSpPr>
          <p:spPr bwMode="auto">
            <a:xfrm>
              <a:off x="4375" y="3488"/>
              <a:ext cx="807" cy="173"/>
            </a:xfrm>
            <a:prstGeom prst="rect">
              <a:avLst/>
            </a:prstGeom>
            <a:noFill/>
            <a:ln w="9525" algn="ctr">
              <a:noFill/>
              <a:miter lim="800000"/>
              <a:headEnd/>
              <a:tailEnd/>
            </a:ln>
            <a:effectLst/>
          </p:spPr>
          <p:txBody>
            <a:bodyPr>
              <a:spAutoFit/>
            </a:bodyPr>
            <a:lstStyle/>
            <a:p>
              <a:r>
                <a:rPr lang="zh-CN" altLang="en-US" sz="1200">
                  <a:latin typeface="Times New Roman" pitchFamily="18" charset="0"/>
                </a:rPr>
                <a:t>非向量</a:t>
              </a:r>
              <a:r>
                <a:rPr lang="en-US" altLang="zh-CN" sz="1200">
                  <a:latin typeface="Times New Roman" pitchFamily="18" charset="0"/>
                </a:rPr>
                <a:t>IRQ</a:t>
              </a:r>
              <a:r>
                <a:rPr lang="zh-CN" altLang="en-US" sz="1200">
                  <a:latin typeface="Times New Roman" pitchFamily="18" charset="0"/>
                </a:rPr>
                <a:t>通道</a:t>
              </a:r>
            </a:p>
          </p:txBody>
        </p:sp>
        <p:sp>
          <p:nvSpPr>
            <p:cNvPr id="744461" name="Line 13"/>
            <p:cNvSpPr>
              <a:spLocks noChangeShapeType="1"/>
            </p:cNvSpPr>
            <p:nvPr/>
          </p:nvSpPr>
          <p:spPr bwMode="auto">
            <a:xfrm>
              <a:off x="4366" y="2761"/>
              <a:ext cx="88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4462" name="Line 14"/>
            <p:cNvSpPr>
              <a:spLocks noChangeShapeType="1"/>
            </p:cNvSpPr>
            <p:nvPr/>
          </p:nvSpPr>
          <p:spPr bwMode="auto">
            <a:xfrm>
              <a:off x="4376" y="3293"/>
              <a:ext cx="848"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4463" name="Line 15"/>
            <p:cNvSpPr>
              <a:spLocks noChangeShapeType="1"/>
            </p:cNvSpPr>
            <p:nvPr/>
          </p:nvSpPr>
          <p:spPr bwMode="auto">
            <a:xfrm>
              <a:off x="4382" y="3639"/>
              <a:ext cx="842"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4464" name="Line 16"/>
            <p:cNvSpPr>
              <a:spLocks noChangeShapeType="1"/>
            </p:cNvSpPr>
            <p:nvPr/>
          </p:nvSpPr>
          <p:spPr bwMode="auto">
            <a:xfrm>
              <a:off x="4804" y="2863"/>
              <a:ext cx="0" cy="216"/>
            </a:xfrm>
            <a:prstGeom prst="line">
              <a:avLst/>
            </a:prstGeom>
            <a:noFill/>
            <a:ln w="9525">
              <a:solidFill>
                <a:schemeClr val="tx1"/>
              </a:solidFill>
              <a:prstDash val="dash"/>
              <a:round/>
              <a:headEnd/>
              <a:tailEnd/>
            </a:ln>
            <a:effectLst/>
          </p:spPr>
          <p:txBody>
            <a:bodyPr wrap="none" anchor="ctr"/>
            <a:lstStyle/>
            <a:p>
              <a:endParaRPr lang="zh-CN" altLang="en-US"/>
            </a:p>
          </p:txBody>
        </p:sp>
        <p:sp>
          <p:nvSpPr>
            <p:cNvPr id="744465" name="Line 17"/>
            <p:cNvSpPr>
              <a:spLocks noChangeShapeType="1"/>
            </p:cNvSpPr>
            <p:nvPr/>
          </p:nvSpPr>
          <p:spPr bwMode="auto">
            <a:xfrm>
              <a:off x="1510" y="2841"/>
              <a:ext cx="182"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744466" name="Line 18"/>
            <p:cNvSpPr>
              <a:spLocks noChangeShapeType="1"/>
            </p:cNvSpPr>
            <p:nvPr/>
          </p:nvSpPr>
          <p:spPr bwMode="auto">
            <a:xfrm>
              <a:off x="871" y="2841"/>
              <a:ext cx="2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4467" name="Line 19"/>
            <p:cNvSpPr>
              <a:spLocks noChangeShapeType="1"/>
            </p:cNvSpPr>
            <p:nvPr/>
          </p:nvSpPr>
          <p:spPr bwMode="auto">
            <a:xfrm>
              <a:off x="1881" y="2842"/>
              <a:ext cx="658" cy="0"/>
            </a:xfrm>
            <a:prstGeom prst="line">
              <a:avLst/>
            </a:prstGeom>
            <a:noFill/>
            <a:ln w="9525">
              <a:solidFill>
                <a:schemeClr val="tx1"/>
              </a:solidFill>
              <a:round/>
              <a:headEnd type="oval" w="sm" len="sm"/>
              <a:tailEnd type="oval" w="sm" len="sm"/>
            </a:ln>
            <a:effectLst/>
          </p:spPr>
          <p:txBody>
            <a:bodyPr wrap="none" anchor="ctr"/>
            <a:lstStyle/>
            <a:p>
              <a:endParaRPr lang="zh-CN" altLang="en-US"/>
            </a:p>
          </p:txBody>
        </p:sp>
        <p:sp>
          <p:nvSpPr>
            <p:cNvPr id="744468" name="Line 20"/>
            <p:cNvSpPr>
              <a:spLocks noChangeShapeType="1"/>
            </p:cNvSpPr>
            <p:nvPr/>
          </p:nvSpPr>
          <p:spPr bwMode="auto">
            <a:xfrm>
              <a:off x="2797" y="2733"/>
              <a:ext cx="558"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744469" name="Line 21"/>
            <p:cNvSpPr>
              <a:spLocks noChangeShapeType="1"/>
            </p:cNvSpPr>
            <p:nvPr/>
          </p:nvSpPr>
          <p:spPr bwMode="auto">
            <a:xfrm>
              <a:off x="2797" y="2937"/>
              <a:ext cx="420"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744470" name="Line 22"/>
            <p:cNvSpPr>
              <a:spLocks noChangeShapeType="1"/>
            </p:cNvSpPr>
            <p:nvPr/>
          </p:nvSpPr>
          <p:spPr bwMode="auto">
            <a:xfrm flipV="1">
              <a:off x="2545" y="2701"/>
              <a:ext cx="266" cy="140"/>
            </a:xfrm>
            <a:prstGeom prst="line">
              <a:avLst/>
            </a:prstGeom>
            <a:noFill/>
            <a:ln w="9525">
              <a:solidFill>
                <a:schemeClr val="tx1"/>
              </a:solidFill>
              <a:round/>
              <a:headEnd/>
              <a:tailEnd/>
            </a:ln>
            <a:effectLst/>
          </p:spPr>
          <p:txBody>
            <a:bodyPr wrap="none" anchor="ctr"/>
            <a:lstStyle/>
            <a:p>
              <a:endParaRPr lang="zh-CN" altLang="en-US"/>
            </a:p>
          </p:txBody>
        </p:sp>
        <p:sp>
          <p:nvSpPr>
            <p:cNvPr id="744471" name="Text Box 23"/>
            <p:cNvSpPr txBox="1">
              <a:spLocks noChangeArrowheads="1"/>
            </p:cNvSpPr>
            <p:nvPr/>
          </p:nvSpPr>
          <p:spPr bwMode="auto">
            <a:xfrm>
              <a:off x="2268" y="2395"/>
              <a:ext cx="798"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VICIntSelect[6]</a:t>
              </a:r>
            </a:p>
          </p:txBody>
        </p:sp>
        <p:sp>
          <p:nvSpPr>
            <p:cNvPr id="744472" name="Line 24"/>
            <p:cNvSpPr>
              <a:spLocks noChangeShapeType="1"/>
            </p:cNvSpPr>
            <p:nvPr/>
          </p:nvSpPr>
          <p:spPr bwMode="auto">
            <a:xfrm flipV="1">
              <a:off x="1691" y="2751"/>
              <a:ext cx="174" cy="90"/>
            </a:xfrm>
            <a:prstGeom prst="line">
              <a:avLst/>
            </a:prstGeom>
            <a:noFill/>
            <a:ln w="9525">
              <a:solidFill>
                <a:schemeClr val="tx1"/>
              </a:solidFill>
              <a:round/>
              <a:headEnd/>
              <a:tailEnd/>
            </a:ln>
            <a:effectLst/>
          </p:spPr>
          <p:txBody>
            <a:bodyPr wrap="none" anchor="ctr"/>
            <a:lstStyle/>
            <a:p>
              <a:endParaRPr lang="zh-CN" altLang="en-US"/>
            </a:p>
          </p:txBody>
        </p:sp>
        <p:sp>
          <p:nvSpPr>
            <p:cNvPr id="744473" name="Text Box 25"/>
            <p:cNvSpPr txBox="1">
              <a:spLocks noChangeArrowheads="1"/>
            </p:cNvSpPr>
            <p:nvPr/>
          </p:nvSpPr>
          <p:spPr bwMode="auto">
            <a:xfrm>
              <a:off x="1338" y="2395"/>
              <a:ext cx="928"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VICIntEnable[6] = 0</a:t>
              </a:r>
            </a:p>
          </p:txBody>
        </p:sp>
        <p:sp>
          <p:nvSpPr>
            <p:cNvPr id="744474" name="Text Box 26"/>
            <p:cNvSpPr txBox="1">
              <a:spLocks noChangeArrowheads="1"/>
            </p:cNvSpPr>
            <p:nvPr/>
          </p:nvSpPr>
          <p:spPr bwMode="auto">
            <a:xfrm>
              <a:off x="2955" y="2574"/>
              <a:ext cx="30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IRQ</a:t>
              </a:r>
            </a:p>
          </p:txBody>
        </p:sp>
        <p:sp>
          <p:nvSpPr>
            <p:cNvPr id="744475" name="Text Box 27"/>
            <p:cNvSpPr txBox="1">
              <a:spLocks noChangeArrowheads="1"/>
            </p:cNvSpPr>
            <p:nvPr/>
          </p:nvSpPr>
          <p:spPr bwMode="auto">
            <a:xfrm>
              <a:off x="2907" y="2784"/>
              <a:ext cx="30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FIQ</a:t>
              </a:r>
            </a:p>
          </p:txBody>
        </p:sp>
        <p:sp>
          <p:nvSpPr>
            <p:cNvPr id="744476" name="Rectangle 28"/>
            <p:cNvSpPr>
              <a:spLocks noChangeArrowheads="1"/>
            </p:cNvSpPr>
            <p:nvPr/>
          </p:nvSpPr>
          <p:spPr bwMode="auto">
            <a:xfrm>
              <a:off x="2419" y="3375"/>
              <a:ext cx="492" cy="330"/>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744477" name="Rectangle 29"/>
            <p:cNvSpPr>
              <a:spLocks noChangeArrowheads="1"/>
            </p:cNvSpPr>
            <p:nvPr/>
          </p:nvSpPr>
          <p:spPr bwMode="auto">
            <a:xfrm>
              <a:off x="1631" y="3417"/>
              <a:ext cx="330" cy="264"/>
            </a:xfrm>
            <a:prstGeom prst="rect">
              <a:avLst/>
            </a:prstGeom>
            <a:solidFill>
              <a:schemeClr val="bg1"/>
            </a:solidFill>
            <a:ln w="9525" algn="ctr">
              <a:solidFill>
                <a:schemeClr val="tx1"/>
              </a:solidFill>
              <a:prstDash val="dash"/>
              <a:miter lim="800000"/>
              <a:headEnd/>
              <a:tailEnd/>
            </a:ln>
            <a:effectLst/>
          </p:spPr>
          <p:txBody>
            <a:bodyPr wrap="none" anchor="ctr"/>
            <a:lstStyle/>
            <a:p>
              <a:endParaRPr lang="zh-CN" altLang="en-US"/>
            </a:p>
          </p:txBody>
        </p:sp>
        <p:sp>
          <p:nvSpPr>
            <p:cNvPr id="744478" name="Rectangle 30"/>
            <p:cNvSpPr>
              <a:spLocks noChangeArrowheads="1"/>
            </p:cNvSpPr>
            <p:nvPr/>
          </p:nvSpPr>
          <p:spPr bwMode="auto">
            <a:xfrm>
              <a:off x="1071" y="3442"/>
              <a:ext cx="432" cy="232"/>
            </a:xfrm>
            <a:prstGeom prst="rect">
              <a:avLst/>
            </a:prstGeom>
            <a:solidFill>
              <a:srgbClr val="FFCC99"/>
            </a:solidFill>
            <a:ln w="9525" algn="ctr">
              <a:solidFill>
                <a:schemeClr val="tx1"/>
              </a:solidFill>
              <a:miter lim="800000"/>
              <a:headEnd/>
              <a:tailEnd/>
            </a:ln>
            <a:effectLst/>
          </p:spPr>
          <p:txBody>
            <a:bodyPr wrap="none" anchor="ctr"/>
            <a:lstStyle/>
            <a:p>
              <a:r>
                <a:rPr lang="zh-CN" altLang="en-US" sz="1200">
                  <a:latin typeface="Arial" charset="0"/>
                </a:rPr>
                <a:t>通道</a:t>
              </a:r>
              <a:r>
                <a:rPr lang="en-US" altLang="zh-CN" sz="1200">
                  <a:latin typeface="Arial" charset="0"/>
                </a:rPr>
                <a:t>7</a:t>
              </a:r>
            </a:p>
          </p:txBody>
        </p:sp>
        <p:sp>
          <p:nvSpPr>
            <p:cNvPr id="744479" name="Text Box 31"/>
            <p:cNvSpPr txBox="1">
              <a:spLocks noChangeArrowheads="1"/>
            </p:cNvSpPr>
            <p:nvPr/>
          </p:nvSpPr>
          <p:spPr bwMode="auto">
            <a:xfrm>
              <a:off x="459" y="3466"/>
              <a:ext cx="425" cy="173"/>
            </a:xfrm>
            <a:prstGeom prst="rect">
              <a:avLst/>
            </a:prstGeom>
            <a:noFill/>
            <a:ln w="9525" algn="ctr">
              <a:noFill/>
              <a:miter lim="800000"/>
              <a:headEnd/>
              <a:tailEnd/>
            </a:ln>
            <a:effectLst/>
          </p:spPr>
          <p:txBody>
            <a:bodyPr wrap="none">
              <a:spAutoFit/>
            </a:bodyPr>
            <a:lstStyle/>
            <a:p>
              <a:r>
                <a:rPr lang="en-US" altLang="zh-CN" sz="1200">
                  <a:latin typeface="Times New Roman" pitchFamily="18" charset="0"/>
                </a:rPr>
                <a:t>UART1</a:t>
              </a:r>
            </a:p>
          </p:txBody>
        </p:sp>
        <p:sp>
          <p:nvSpPr>
            <p:cNvPr id="744480" name="Line 32"/>
            <p:cNvSpPr>
              <a:spLocks noChangeShapeType="1"/>
            </p:cNvSpPr>
            <p:nvPr/>
          </p:nvSpPr>
          <p:spPr bwMode="auto">
            <a:xfrm>
              <a:off x="1510" y="3555"/>
              <a:ext cx="182"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744481" name="Line 33"/>
            <p:cNvSpPr>
              <a:spLocks noChangeShapeType="1"/>
            </p:cNvSpPr>
            <p:nvPr/>
          </p:nvSpPr>
          <p:spPr bwMode="auto">
            <a:xfrm>
              <a:off x="871" y="3555"/>
              <a:ext cx="2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4482" name="Line 34"/>
            <p:cNvSpPr>
              <a:spLocks noChangeShapeType="1"/>
            </p:cNvSpPr>
            <p:nvPr/>
          </p:nvSpPr>
          <p:spPr bwMode="auto">
            <a:xfrm>
              <a:off x="1885" y="3556"/>
              <a:ext cx="654" cy="0"/>
            </a:xfrm>
            <a:prstGeom prst="line">
              <a:avLst/>
            </a:prstGeom>
            <a:noFill/>
            <a:ln w="9525">
              <a:solidFill>
                <a:schemeClr val="tx1"/>
              </a:solidFill>
              <a:round/>
              <a:headEnd type="oval" w="sm" len="sm"/>
              <a:tailEnd type="oval" w="sm" len="sm"/>
            </a:ln>
            <a:effectLst/>
          </p:spPr>
          <p:txBody>
            <a:bodyPr wrap="none" anchor="ctr"/>
            <a:lstStyle/>
            <a:p>
              <a:endParaRPr lang="zh-CN" altLang="en-US"/>
            </a:p>
          </p:txBody>
        </p:sp>
        <p:sp>
          <p:nvSpPr>
            <p:cNvPr id="744483" name="Line 35"/>
            <p:cNvSpPr>
              <a:spLocks noChangeShapeType="1"/>
            </p:cNvSpPr>
            <p:nvPr/>
          </p:nvSpPr>
          <p:spPr bwMode="auto">
            <a:xfrm>
              <a:off x="2797" y="3447"/>
              <a:ext cx="558"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744484" name="Line 36"/>
            <p:cNvSpPr>
              <a:spLocks noChangeShapeType="1"/>
            </p:cNvSpPr>
            <p:nvPr/>
          </p:nvSpPr>
          <p:spPr bwMode="auto">
            <a:xfrm>
              <a:off x="2797" y="3651"/>
              <a:ext cx="402" cy="0"/>
            </a:xfrm>
            <a:prstGeom prst="line">
              <a:avLst/>
            </a:prstGeom>
            <a:noFill/>
            <a:ln w="9525">
              <a:solidFill>
                <a:schemeClr val="tx1"/>
              </a:solidFill>
              <a:round/>
              <a:headEnd type="oval" w="sm" len="sm"/>
              <a:tailEnd type="triangle" w="med" len="med"/>
            </a:ln>
            <a:effectLst/>
          </p:spPr>
          <p:txBody>
            <a:bodyPr wrap="none" anchor="ctr"/>
            <a:lstStyle/>
            <a:p>
              <a:endParaRPr lang="zh-CN" altLang="en-US"/>
            </a:p>
          </p:txBody>
        </p:sp>
        <p:sp>
          <p:nvSpPr>
            <p:cNvPr id="744485" name="Line 37"/>
            <p:cNvSpPr>
              <a:spLocks noChangeShapeType="1"/>
            </p:cNvSpPr>
            <p:nvPr/>
          </p:nvSpPr>
          <p:spPr bwMode="auto">
            <a:xfrm flipV="1">
              <a:off x="2545" y="3415"/>
              <a:ext cx="266" cy="140"/>
            </a:xfrm>
            <a:prstGeom prst="line">
              <a:avLst/>
            </a:prstGeom>
            <a:noFill/>
            <a:ln w="9525">
              <a:solidFill>
                <a:schemeClr val="tx1"/>
              </a:solidFill>
              <a:round/>
              <a:headEnd/>
              <a:tailEnd/>
            </a:ln>
            <a:effectLst/>
          </p:spPr>
          <p:txBody>
            <a:bodyPr wrap="none" anchor="ctr"/>
            <a:lstStyle/>
            <a:p>
              <a:endParaRPr lang="zh-CN" altLang="en-US"/>
            </a:p>
          </p:txBody>
        </p:sp>
        <p:sp>
          <p:nvSpPr>
            <p:cNvPr id="744486" name="Text Box 38"/>
            <p:cNvSpPr txBox="1">
              <a:spLocks noChangeArrowheads="1"/>
            </p:cNvSpPr>
            <p:nvPr/>
          </p:nvSpPr>
          <p:spPr bwMode="auto">
            <a:xfrm>
              <a:off x="2258" y="3107"/>
              <a:ext cx="798"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VICIntSelect[7]</a:t>
              </a:r>
            </a:p>
          </p:txBody>
        </p:sp>
        <p:sp>
          <p:nvSpPr>
            <p:cNvPr id="744487" name="Line 39"/>
            <p:cNvSpPr>
              <a:spLocks noChangeShapeType="1"/>
            </p:cNvSpPr>
            <p:nvPr/>
          </p:nvSpPr>
          <p:spPr bwMode="auto">
            <a:xfrm flipV="1">
              <a:off x="1691" y="3535"/>
              <a:ext cx="203" cy="20"/>
            </a:xfrm>
            <a:prstGeom prst="line">
              <a:avLst/>
            </a:prstGeom>
            <a:noFill/>
            <a:ln w="9525">
              <a:solidFill>
                <a:srgbClr val="FF0000"/>
              </a:solidFill>
              <a:round/>
              <a:headEnd/>
              <a:tailEnd/>
            </a:ln>
            <a:effectLst/>
          </p:spPr>
          <p:txBody>
            <a:bodyPr wrap="none" anchor="ctr"/>
            <a:lstStyle/>
            <a:p>
              <a:endParaRPr lang="zh-CN" altLang="en-US"/>
            </a:p>
          </p:txBody>
        </p:sp>
        <p:sp>
          <p:nvSpPr>
            <p:cNvPr id="744488" name="Text Box 40"/>
            <p:cNvSpPr txBox="1">
              <a:spLocks noChangeArrowheads="1"/>
            </p:cNvSpPr>
            <p:nvPr/>
          </p:nvSpPr>
          <p:spPr bwMode="auto">
            <a:xfrm>
              <a:off x="1319" y="3117"/>
              <a:ext cx="933"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VICIntEnable[7] = 1</a:t>
              </a:r>
            </a:p>
          </p:txBody>
        </p:sp>
        <p:sp>
          <p:nvSpPr>
            <p:cNvPr id="744489" name="Text Box 41"/>
            <p:cNvSpPr txBox="1">
              <a:spLocks noChangeArrowheads="1"/>
            </p:cNvSpPr>
            <p:nvPr/>
          </p:nvSpPr>
          <p:spPr bwMode="auto">
            <a:xfrm>
              <a:off x="2955" y="3294"/>
              <a:ext cx="30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IRQ</a:t>
              </a:r>
            </a:p>
          </p:txBody>
        </p:sp>
        <p:sp>
          <p:nvSpPr>
            <p:cNvPr id="744490" name="Text Box 42"/>
            <p:cNvSpPr txBox="1">
              <a:spLocks noChangeArrowheads="1"/>
            </p:cNvSpPr>
            <p:nvPr/>
          </p:nvSpPr>
          <p:spPr bwMode="auto">
            <a:xfrm>
              <a:off x="2907" y="3498"/>
              <a:ext cx="300" cy="173"/>
            </a:xfrm>
            <a:prstGeom prst="rect">
              <a:avLst/>
            </a:prstGeom>
            <a:noFill/>
            <a:ln w="9525" algn="ctr">
              <a:noFill/>
              <a:miter lim="800000"/>
              <a:headEnd/>
              <a:tailEnd/>
            </a:ln>
            <a:effectLst/>
          </p:spPr>
          <p:txBody>
            <a:bodyPr>
              <a:spAutoFit/>
            </a:bodyPr>
            <a:lstStyle/>
            <a:p>
              <a:r>
                <a:rPr lang="en-US" altLang="zh-CN" sz="1200">
                  <a:latin typeface="Times New Roman" pitchFamily="18" charset="0"/>
                </a:rPr>
                <a:t>FIQ</a:t>
              </a:r>
            </a:p>
          </p:txBody>
        </p:sp>
        <p:grpSp>
          <p:nvGrpSpPr>
            <p:cNvPr id="744491" name="Group 43"/>
            <p:cNvGrpSpPr>
              <a:grpSpLocks/>
            </p:cNvGrpSpPr>
            <p:nvPr/>
          </p:nvGrpSpPr>
          <p:grpSpPr bwMode="auto">
            <a:xfrm>
              <a:off x="3625" y="2558"/>
              <a:ext cx="756" cy="390"/>
              <a:chOff x="3492" y="1368"/>
              <a:chExt cx="714" cy="390"/>
            </a:xfrm>
          </p:grpSpPr>
          <p:sp>
            <p:nvSpPr>
              <p:cNvPr id="744492" name="Rectangle 44"/>
              <p:cNvSpPr>
                <a:spLocks noChangeArrowheads="1"/>
              </p:cNvSpPr>
              <p:nvPr/>
            </p:nvSpPr>
            <p:spPr bwMode="auto">
              <a:xfrm>
                <a:off x="3492" y="1368"/>
                <a:ext cx="714" cy="210"/>
              </a:xfrm>
              <a:prstGeom prst="rect">
                <a:avLst/>
              </a:prstGeom>
              <a:solidFill>
                <a:srgbClr val="99CCFF"/>
              </a:solidFill>
              <a:ln w="9525" algn="ctr">
                <a:solidFill>
                  <a:schemeClr val="tx1"/>
                </a:solidFill>
                <a:miter lim="800000"/>
                <a:headEnd/>
                <a:tailEnd/>
              </a:ln>
              <a:effectLst/>
            </p:spPr>
            <p:txBody>
              <a:bodyPr wrap="none" anchor="ctr"/>
              <a:lstStyle/>
              <a:p>
                <a:r>
                  <a:rPr lang="en-US" altLang="zh-CN" sz="1200">
                    <a:latin typeface="Times New Roman" pitchFamily="18" charset="0"/>
                  </a:rPr>
                  <a:t>VICVectAddr0</a:t>
                </a:r>
              </a:p>
            </p:txBody>
          </p:sp>
          <p:sp>
            <p:nvSpPr>
              <p:cNvPr id="744493" name="Rectangle 45"/>
              <p:cNvSpPr>
                <a:spLocks noChangeArrowheads="1"/>
              </p:cNvSpPr>
              <p:nvPr/>
            </p:nvSpPr>
            <p:spPr bwMode="auto">
              <a:xfrm>
                <a:off x="3492" y="1572"/>
                <a:ext cx="714" cy="186"/>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latin typeface="Times New Roman" pitchFamily="18" charset="0"/>
                  </a:rPr>
                  <a:t>VICVectCntl0</a:t>
                </a:r>
              </a:p>
            </p:txBody>
          </p:sp>
        </p:grpSp>
        <p:grpSp>
          <p:nvGrpSpPr>
            <p:cNvPr id="744494" name="Group 46"/>
            <p:cNvGrpSpPr>
              <a:grpSpLocks/>
            </p:cNvGrpSpPr>
            <p:nvPr/>
          </p:nvGrpSpPr>
          <p:grpSpPr bwMode="auto">
            <a:xfrm>
              <a:off x="3625" y="3087"/>
              <a:ext cx="756" cy="390"/>
              <a:chOff x="3492" y="1368"/>
              <a:chExt cx="714" cy="390"/>
            </a:xfrm>
          </p:grpSpPr>
          <p:sp>
            <p:nvSpPr>
              <p:cNvPr id="744495" name="Rectangle 47"/>
              <p:cNvSpPr>
                <a:spLocks noChangeArrowheads="1"/>
              </p:cNvSpPr>
              <p:nvPr/>
            </p:nvSpPr>
            <p:spPr bwMode="auto">
              <a:xfrm>
                <a:off x="3492" y="1368"/>
                <a:ext cx="714" cy="210"/>
              </a:xfrm>
              <a:prstGeom prst="rect">
                <a:avLst/>
              </a:prstGeom>
              <a:solidFill>
                <a:srgbClr val="99CCFF"/>
              </a:solidFill>
              <a:ln w="9525" algn="ctr">
                <a:solidFill>
                  <a:schemeClr val="tx1"/>
                </a:solidFill>
                <a:miter lim="800000"/>
                <a:headEnd/>
                <a:tailEnd/>
              </a:ln>
              <a:effectLst/>
            </p:spPr>
            <p:txBody>
              <a:bodyPr wrap="none" anchor="ctr"/>
              <a:lstStyle/>
              <a:p>
                <a:r>
                  <a:rPr lang="en-US" altLang="zh-CN" sz="1200">
                    <a:latin typeface="Times New Roman" pitchFamily="18" charset="0"/>
                  </a:rPr>
                  <a:t>VICVectAddr15</a:t>
                </a:r>
              </a:p>
            </p:txBody>
          </p:sp>
          <p:sp>
            <p:nvSpPr>
              <p:cNvPr id="744496" name="Rectangle 48"/>
              <p:cNvSpPr>
                <a:spLocks noChangeArrowheads="1"/>
              </p:cNvSpPr>
              <p:nvPr/>
            </p:nvSpPr>
            <p:spPr bwMode="auto">
              <a:xfrm>
                <a:off x="3492" y="1572"/>
                <a:ext cx="714" cy="186"/>
              </a:xfrm>
              <a:prstGeom prst="rect">
                <a:avLst/>
              </a:prstGeom>
              <a:solidFill>
                <a:srgbClr val="CCFFCC"/>
              </a:solidFill>
              <a:ln w="9525" algn="ctr">
                <a:solidFill>
                  <a:schemeClr val="tx1"/>
                </a:solidFill>
                <a:miter lim="800000"/>
                <a:headEnd/>
                <a:tailEnd/>
              </a:ln>
              <a:effectLst/>
            </p:spPr>
            <p:txBody>
              <a:bodyPr wrap="none" anchor="ctr"/>
              <a:lstStyle/>
              <a:p>
                <a:r>
                  <a:rPr lang="en-US" altLang="zh-CN" sz="1200">
                    <a:latin typeface="Times New Roman" pitchFamily="18" charset="0"/>
                  </a:rPr>
                  <a:t>VICVectCntl15</a:t>
                </a:r>
              </a:p>
            </p:txBody>
          </p:sp>
        </p:grpSp>
        <p:sp>
          <p:nvSpPr>
            <p:cNvPr id="744497" name="Rectangle 49"/>
            <p:cNvSpPr>
              <a:spLocks noChangeArrowheads="1"/>
            </p:cNvSpPr>
            <p:nvPr/>
          </p:nvSpPr>
          <p:spPr bwMode="auto">
            <a:xfrm>
              <a:off x="3625" y="3555"/>
              <a:ext cx="756" cy="167"/>
            </a:xfrm>
            <a:prstGeom prst="rect">
              <a:avLst/>
            </a:prstGeom>
            <a:solidFill>
              <a:srgbClr val="99CCFF"/>
            </a:solidFill>
            <a:ln w="9525" algn="ctr">
              <a:solidFill>
                <a:schemeClr val="tx1"/>
              </a:solidFill>
              <a:miter lim="800000"/>
              <a:headEnd/>
              <a:tailEnd/>
            </a:ln>
            <a:effectLst/>
          </p:spPr>
          <p:txBody>
            <a:bodyPr wrap="none" anchor="ctr"/>
            <a:lstStyle/>
            <a:p>
              <a:r>
                <a:rPr lang="en-US" altLang="zh-CN" sz="1200">
                  <a:latin typeface="Times New Roman" pitchFamily="18" charset="0"/>
                </a:rPr>
                <a:t>VICDefVectAddr</a:t>
              </a:r>
            </a:p>
          </p:txBody>
        </p:sp>
        <p:sp>
          <p:nvSpPr>
            <p:cNvPr id="744498" name="Line 50"/>
            <p:cNvSpPr>
              <a:spLocks noChangeShapeType="1"/>
            </p:cNvSpPr>
            <p:nvPr/>
          </p:nvSpPr>
          <p:spPr bwMode="auto">
            <a:xfrm>
              <a:off x="1799" y="2559"/>
              <a:ext cx="0" cy="138"/>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4499" name="Line 51"/>
            <p:cNvSpPr>
              <a:spLocks noChangeShapeType="1"/>
            </p:cNvSpPr>
            <p:nvPr/>
          </p:nvSpPr>
          <p:spPr bwMode="auto">
            <a:xfrm>
              <a:off x="2665" y="2541"/>
              <a:ext cx="0" cy="132"/>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4500" name="Line 52"/>
            <p:cNvSpPr>
              <a:spLocks noChangeShapeType="1"/>
            </p:cNvSpPr>
            <p:nvPr/>
          </p:nvSpPr>
          <p:spPr bwMode="auto">
            <a:xfrm>
              <a:off x="1787" y="3279"/>
              <a:ext cx="0" cy="138"/>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4501" name="Line 53"/>
            <p:cNvSpPr>
              <a:spLocks noChangeShapeType="1"/>
            </p:cNvSpPr>
            <p:nvPr/>
          </p:nvSpPr>
          <p:spPr bwMode="auto">
            <a:xfrm>
              <a:off x="2665" y="3261"/>
              <a:ext cx="0" cy="114"/>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4502" name="Rectangle 54"/>
            <p:cNvSpPr>
              <a:spLocks noChangeArrowheads="1"/>
            </p:cNvSpPr>
            <p:nvPr/>
          </p:nvSpPr>
          <p:spPr bwMode="auto">
            <a:xfrm>
              <a:off x="3358" y="2558"/>
              <a:ext cx="268" cy="1164"/>
            </a:xfrm>
            <a:prstGeom prst="rect">
              <a:avLst/>
            </a:prstGeom>
            <a:solidFill>
              <a:srgbClr val="CCFFFF"/>
            </a:solidFill>
            <a:ln w="9525" algn="ctr">
              <a:solidFill>
                <a:schemeClr val="tx1"/>
              </a:solidFill>
              <a:miter lim="800000"/>
              <a:headEnd/>
              <a:tailEnd/>
            </a:ln>
            <a:effectLst/>
          </p:spPr>
          <p:txBody>
            <a:bodyPr wrap="none" anchor="ctr"/>
            <a:lstStyle/>
            <a:p>
              <a:r>
                <a:rPr lang="en-US" altLang="zh-CN" sz="1200">
                  <a:latin typeface="Arial" charset="0"/>
                </a:rPr>
                <a:t>IRQ</a:t>
              </a:r>
            </a:p>
            <a:p>
              <a:r>
                <a:rPr lang="zh-CN" altLang="en-US" sz="1200">
                  <a:latin typeface="Arial" charset="0"/>
                </a:rPr>
                <a:t>通道</a:t>
              </a:r>
            </a:p>
            <a:p>
              <a:r>
                <a:rPr lang="zh-CN" altLang="en-US" sz="1200">
                  <a:latin typeface="Arial" charset="0"/>
                </a:rPr>
                <a:t>分配</a:t>
              </a:r>
            </a:p>
          </p:txBody>
        </p:sp>
      </p:grpSp>
      <p:sp>
        <p:nvSpPr>
          <p:cNvPr id="744503" name="Text Box 55"/>
          <p:cNvSpPr txBox="1">
            <a:spLocks noChangeArrowheads="1"/>
          </p:cNvSpPr>
          <p:nvPr/>
        </p:nvSpPr>
        <p:spPr bwMode="auto">
          <a:xfrm>
            <a:off x="2206626" y="3136900"/>
            <a:ext cx="6557963" cy="457200"/>
          </a:xfrm>
          <a:prstGeom prst="rect">
            <a:avLst/>
          </a:prstGeom>
          <a:noFill/>
          <a:ln w="9525" algn="ctr">
            <a:noFill/>
            <a:miter lim="800000"/>
            <a:headEnd/>
            <a:tailEnd/>
          </a:ln>
          <a:effectLst/>
        </p:spPr>
        <p:txBody>
          <a:bodyPr>
            <a:spAutoFit/>
          </a:bodyPr>
          <a:lstStyle/>
          <a:p>
            <a:pPr algn="l">
              <a:buFont typeface="Wingdings" pitchFamily="2" charset="2"/>
              <a:buChar char="Ø"/>
            </a:pPr>
            <a:r>
              <a:rPr lang="zh-CN" altLang="en-US" sz="2400">
                <a:solidFill>
                  <a:schemeClr val="accent2"/>
                </a:solidFill>
                <a:latin typeface="Times New Roman" pitchFamily="18" charset="0"/>
                <a:ea typeface="华文新魏" pitchFamily="2" charset="-122"/>
              </a:rPr>
              <a:t>当</a:t>
            </a:r>
            <a:r>
              <a:rPr lang="en-US" altLang="zh-CN" sz="2400">
                <a:solidFill>
                  <a:schemeClr val="accent2"/>
                </a:solidFill>
                <a:latin typeface="Times New Roman" pitchFamily="18" charset="0"/>
                <a:ea typeface="华文新魏" pitchFamily="2" charset="-122"/>
              </a:rPr>
              <a:t>VICIntEnable[7] = 1</a:t>
            </a:r>
            <a:r>
              <a:rPr lang="zh-CN" altLang="en-US" sz="2400">
                <a:solidFill>
                  <a:schemeClr val="accent2"/>
                </a:solidFill>
                <a:latin typeface="Times New Roman" pitchFamily="18" charset="0"/>
                <a:ea typeface="华文新魏" pitchFamily="2" charset="-122"/>
              </a:rPr>
              <a:t>时，通道</a:t>
            </a:r>
            <a:r>
              <a:rPr lang="en-US" altLang="zh-CN" sz="2400">
                <a:solidFill>
                  <a:schemeClr val="accent2"/>
                </a:solidFill>
                <a:latin typeface="Times New Roman" pitchFamily="18" charset="0"/>
                <a:ea typeface="华文新魏" pitchFamily="2" charset="-122"/>
              </a:rPr>
              <a:t>7</a:t>
            </a:r>
            <a:r>
              <a:rPr lang="zh-CN" altLang="en-US" sz="2400">
                <a:solidFill>
                  <a:schemeClr val="accent2"/>
                </a:solidFill>
                <a:latin typeface="Times New Roman" pitchFamily="18" charset="0"/>
                <a:ea typeface="华文新魏" pitchFamily="2" charset="-122"/>
              </a:rPr>
              <a:t>中断使能。</a:t>
            </a:r>
          </a:p>
        </p:txBody>
      </p:sp>
      <p:sp>
        <p:nvSpPr>
          <p:cNvPr id="744504" name="Oval 56"/>
          <p:cNvSpPr>
            <a:spLocks noChangeArrowheads="1"/>
          </p:cNvSpPr>
          <p:nvPr/>
        </p:nvSpPr>
        <p:spPr bwMode="auto">
          <a:xfrm>
            <a:off x="3595688" y="5383888"/>
            <a:ext cx="259766" cy="519351"/>
          </a:xfrm>
          <a:prstGeom prst="ellipse">
            <a:avLst/>
          </a:prstGeom>
          <a:noFill/>
          <a:ln w="19050" algn="ctr">
            <a:solidFill>
              <a:srgbClr val="FF0000"/>
            </a:solidFill>
            <a:round/>
            <a:headEnd/>
            <a:tailEnd/>
          </a:ln>
          <a:effectLst/>
        </p:spPr>
        <p:txBody>
          <a:bodyPr wrap="none" anchor="ctr">
            <a:spAutoFit/>
          </a:bodyPr>
          <a:lstStyle/>
          <a:p>
            <a:endParaRPr lang="zh-CN" altLang="en-US"/>
          </a:p>
        </p:txBody>
      </p:sp>
      <p:sp>
        <p:nvSpPr>
          <p:cNvPr id="744505" name="Freeform 57"/>
          <p:cNvSpPr>
            <a:spLocks/>
          </p:cNvSpPr>
          <p:nvPr/>
        </p:nvSpPr>
        <p:spPr bwMode="auto">
          <a:xfrm>
            <a:off x="1500187" y="3362325"/>
            <a:ext cx="2270126" cy="369332"/>
          </a:xfrm>
          <a:custGeom>
            <a:avLst/>
            <a:gdLst/>
            <a:ahLst/>
            <a:cxnLst>
              <a:cxn ang="0">
                <a:pos x="523" y="0"/>
              </a:cxn>
              <a:cxn ang="0">
                <a:pos x="151" y="508"/>
              </a:cxn>
              <a:cxn ang="0">
                <a:pos x="1430" y="1304"/>
              </a:cxn>
            </a:cxnLst>
            <a:rect l="0" t="0" r="r" b="b"/>
            <a:pathLst>
              <a:path w="1430" h="1304">
                <a:moveTo>
                  <a:pt x="523" y="0"/>
                </a:moveTo>
                <a:cubicBezTo>
                  <a:pt x="461" y="85"/>
                  <a:pt x="0" y="291"/>
                  <a:pt x="151" y="508"/>
                </a:cubicBezTo>
                <a:cubicBezTo>
                  <a:pt x="302" y="725"/>
                  <a:pt x="1164" y="1138"/>
                  <a:pt x="1430" y="1304"/>
                </a:cubicBezTo>
              </a:path>
            </a:pathLst>
          </a:custGeom>
          <a:noFill/>
          <a:ln w="19050" cap="flat" cmpd="sng">
            <a:solidFill>
              <a:srgbClr val="FF0000"/>
            </a:solidFill>
            <a:prstDash val="solid"/>
            <a:round/>
            <a:headEnd/>
            <a:tailEnd type="triangle" w="med" len="med"/>
          </a:ln>
          <a:effectLst/>
        </p:spPr>
        <p:txBody>
          <a:bodyP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4450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4504"/>
                                        </p:tgtEl>
                                        <p:attrNameLst>
                                          <p:attrName>style.visibility</p:attrName>
                                        </p:attrNameLst>
                                      </p:cBhvr>
                                      <p:to>
                                        <p:strVal val="visible"/>
                                      </p:to>
                                    </p:set>
                                  </p:childTnLst>
                                </p:cTn>
                              </p:par>
                            </p:childTnLst>
                          </p:cTn>
                        </p:par>
                        <p:par>
                          <p:cTn id="9" fill="hold">
                            <p:stCondLst>
                              <p:cond delay="0"/>
                            </p:stCondLst>
                            <p:childTnLst>
                              <p:par>
                                <p:cTn id="10" presetID="22" presetClass="entr" presetSubtype="1" fill="hold" grpId="0" nodeType="afterEffect">
                                  <p:stCondLst>
                                    <p:cond delay="0"/>
                                  </p:stCondLst>
                                  <p:childTnLst>
                                    <p:set>
                                      <p:cBhvr>
                                        <p:cTn id="11" dur="1" fill="hold">
                                          <p:stCondLst>
                                            <p:cond delay="0"/>
                                          </p:stCondLst>
                                        </p:cTn>
                                        <p:tgtEl>
                                          <p:spTgt spid="744505"/>
                                        </p:tgtEl>
                                        <p:attrNameLst>
                                          <p:attrName>style.visibility</p:attrName>
                                        </p:attrNameLst>
                                      </p:cBhvr>
                                      <p:to>
                                        <p:strVal val="visible"/>
                                      </p:to>
                                    </p:set>
                                    <p:animEffect transition="in" filter="wipe(up)">
                                      <p:cBhvr>
                                        <p:cTn id="12" dur="500"/>
                                        <p:tgtEl>
                                          <p:spTgt spid="7445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4503" grpId="0"/>
      <p:bldP spid="744504" grpId="0" animBg="1"/>
      <p:bldP spid="744505"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474" name="Rectangle 2"/>
          <p:cNvSpPr>
            <a:spLocks noChangeArrowheads="1"/>
          </p:cNvSpPr>
          <p:nvPr/>
        </p:nvSpPr>
        <p:spPr bwMode="auto">
          <a:xfrm>
            <a:off x="2133600" y="698500"/>
            <a:ext cx="7772400" cy="1143000"/>
          </a:xfrm>
          <a:prstGeom prst="rect">
            <a:avLst/>
          </a:prstGeom>
          <a:noFill/>
          <a:ln w="9525">
            <a:noFill/>
            <a:miter lim="800000"/>
            <a:headEnd/>
            <a:tailEnd/>
          </a:ln>
          <a:effectLst/>
        </p:spPr>
        <p:txBody>
          <a:bodyPr anchor="ctr"/>
          <a:lstStyle/>
          <a:p>
            <a:r>
              <a:rPr lang="en-US" altLang="zh-CN" sz="4400">
                <a:solidFill>
                  <a:schemeClr val="tx2"/>
                </a:solidFill>
                <a:latin typeface="Times New Roman" pitchFamily="18" charset="0"/>
              </a:rPr>
              <a:t>UART</a:t>
            </a:r>
            <a:r>
              <a:rPr lang="zh-CN" altLang="en-US" sz="4400">
                <a:solidFill>
                  <a:schemeClr val="tx2"/>
                </a:solidFill>
                <a:latin typeface="Times New Roman" pitchFamily="18" charset="0"/>
              </a:rPr>
              <a:t>中断</a:t>
            </a:r>
          </a:p>
        </p:txBody>
      </p:sp>
      <p:sp>
        <p:nvSpPr>
          <p:cNvPr id="745475" name="Rectangle 3"/>
          <p:cNvSpPr>
            <a:spLocks noChangeArrowheads="1"/>
          </p:cNvSpPr>
          <p:nvPr/>
        </p:nvSpPr>
        <p:spPr bwMode="auto">
          <a:xfrm>
            <a:off x="2209800" y="1776413"/>
            <a:ext cx="3079750" cy="576262"/>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ea typeface="华文新魏" pitchFamily="2" charset="-122"/>
              </a:rPr>
              <a:t>UART</a:t>
            </a:r>
            <a:r>
              <a:rPr lang="zh-CN" altLang="en-US" sz="3200">
                <a:latin typeface="Times New Roman" pitchFamily="18" charset="0"/>
                <a:ea typeface="华文新魏" pitchFamily="2" charset="-122"/>
              </a:rPr>
              <a:t>中断</a:t>
            </a:r>
          </a:p>
        </p:txBody>
      </p:sp>
      <p:sp>
        <p:nvSpPr>
          <p:cNvPr id="745476" name="Text Box 4"/>
          <p:cNvSpPr txBox="1">
            <a:spLocks noChangeArrowheads="1"/>
          </p:cNvSpPr>
          <p:nvPr/>
        </p:nvSpPr>
        <p:spPr bwMode="auto">
          <a:xfrm>
            <a:off x="2603501" y="2649538"/>
            <a:ext cx="5783263" cy="457200"/>
          </a:xfrm>
          <a:prstGeom prst="rect">
            <a:avLst/>
          </a:prstGeom>
          <a:noFill/>
          <a:ln w="9525" algn="ctr">
            <a:noFill/>
            <a:miter lim="800000"/>
            <a:headEnd/>
            <a:tailEnd/>
          </a:ln>
          <a:effectLst/>
        </p:spPr>
        <p:txBody>
          <a:bodyPr>
            <a:spAutoFit/>
          </a:bodyPr>
          <a:lstStyle/>
          <a:p>
            <a:pPr algn="l">
              <a:buFont typeface="Wingdings" pitchFamily="2" charset="2"/>
              <a:buNone/>
            </a:pPr>
            <a:r>
              <a:rPr lang="en-US" altLang="zh-CN" sz="2400">
                <a:latin typeface="Times New Roman" pitchFamily="18" charset="0"/>
                <a:ea typeface="华文新魏" pitchFamily="2" charset="-122"/>
              </a:rPr>
              <a:t>LPC2000</a:t>
            </a:r>
            <a:r>
              <a:rPr lang="zh-CN" altLang="en-US" sz="2400">
                <a:latin typeface="Times New Roman" pitchFamily="18" charset="0"/>
                <a:ea typeface="华文新魏" pitchFamily="2" charset="-122"/>
              </a:rPr>
              <a:t>系列</a:t>
            </a:r>
            <a:r>
              <a:rPr lang="en-US" altLang="zh-CN" sz="2400">
                <a:latin typeface="Times New Roman" pitchFamily="18" charset="0"/>
                <a:ea typeface="华文新魏" pitchFamily="2" charset="-122"/>
              </a:rPr>
              <a:t>ARM UART</a:t>
            </a:r>
            <a:r>
              <a:rPr lang="zh-CN" altLang="en-US" sz="2400">
                <a:latin typeface="Times New Roman" pitchFamily="18" charset="0"/>
                <a:ea typeface="华文新魏" pitchFamily="2" charset="-122"/>
              </a:rPr>
              <a:t>中断分为 四类：</a:t>
            </a:r>
          </a:p>
        </p:txBody>
      </p:sp>
      <p:sp>
        <p:nvSpPr>
          <p:cNvPr id="745477" name="Text Box 5"/>
          <p:cNvSpPr txBox="1">
            <a:spLocks noChangeArrowheads="1"/>
          </p:cNvSpPr>
          <p:nvPr/>
        </p:nvSpPr>
        <p:spPr bwMode="auto">
          <a:xfrm>
            <a:off x="2765426" y="3251200"/>
            <a:ext cx="3751263" cy="2308324"/>
          </a:xfrm>
          <a:prstGeom prst="rect">
            <a:avLst/>
          </a:prstGeom>
          <a:noFill/>
          <a:ln w="9525" algn="ctr">
            <a:noFill/>
            <a:miter lim="800000"/>
            <a:headEnd/>
            <a:tailEnd/>
          </a:ln>
          <a:effectLst/>
        </p:spPr>
        <p:txBody>
          <a:bodyPr>
            <a:spAutoFit/>
          </a:bodyPr>
          <a:lstStyle/>
          <a:p>
            <a:pPr algn="l">
              <a:buFont typeface="Wingdings" pitchFamily="2" charset="2"/>
              <a:buChar char="Ø"/>
            </a:pPr>
            <a:r>
              <a:rPr lang="en-US" altLang="zh-CN" sz="2400">
                <a:solidFill>
                  <a:srgbClr val="CC3300"/>
                </a:solidFill>
                <a:latin typeface="Times New Roman" pitchFamily="18" charset="0"/>
                <a:ea typeface="华文新魏" pitchFamily="2" charset="-122"/>
              </a:rPr>
              <a:t> </a:t>
            </a:r>
            <a:r>
              <a:rPr lang="zh-CN" altLang="en-US" sz="2400">
                <a:solidFill>
                  <a:srgbClr val="CC3300"/>
                </a:solidFill>
                <a:latin typeface="Times New Roman" pitchFamily="18" charset="0"/>
                <a:ea typeface="华文新魏" pitchFamily="2" charset="-122"/>
              </a:rPr>
              <a:t>接收中断</a:t>
            </a:r>
          </a:p>
          <a:p>
            <a:pPr algn="l">
              <a:buFont typeface="Wingdings" pitchFamily="2" charset="2"/>
              <a:buChar char="Ø"/>
            </a:pPr>
            <a:endParaRPr lang="zh-CN" altLang="en-US" sz="2400">
              <a:solidFill>
                <a:srgbClr val="CC3300"/>
              </a:solidFill>
              <a:latin typeface="Times New Roman" pitchFamily="18" charset="0"/>
              <a:ea typeface="华文新魏" pitchFamily="2" charset="-122"/>
            </a:endParaRPr>
          </a:p>
          <a:p>
            <a:pPr algn="l">
              <a:buFont typeface="Wingdings" pitchFamily="2" charset="2"/>
              <a:buChar char="Ø"/>
            </a:pPr>
            <a:endParaRPr lang="zh-CN" altLang="en-US" sz="2400">
              <a:solidFill>
                <a:srgbClr val="CC3300"/>
              </a:solidFill>
              <a:latin typeface="Times New Roman" pitchFamily="18" charset="0"/>
              <a:ea typeface="华文新魏" pitchFamily="2" charset="-122"/>
            </a:endParaRPr>
          </a:p>
          <a:p>
            <a:pPr algn="l">
              <a:buFont typeface="Wingdings" pitchFamily="2" charset="2"/>
              <a:buChar char="Ø"/>
            </a:pPr>
            <a:r>
              <a:rPr lang="zh-CN" altLang="en-US" sz="2400">
                <a:solidFill>
                  <a:srgbClr val="CC3300"/>
                </a:solidFill>
                <a:latin typeface="Times New Roman" pitchFamily="18" charset="0"/>
                <a:ea typeface="华文新魏" pitchFamily="2" charset="-122"/>
              </a:rPr>
              <a:t> 发送中断（</a:t>
            </a:r>
            <a:r>
              <a:rPr lang="en-US" altLang="zh-CN" sz="2400">
                <a:solidFill>
                  <a:srgbClr val="CC3300"/>
                </a:solidFill>
                <a:latin typeface="Times New Roman" pitchFamily="18" charset="0"/>
                <a:ea typeface="华文新魏" pitchFamily="2" charset="-122"/>
              </a:rPr>
              <a:t>THRE</a:t>
            </a:r>
            <a:r>
              <a:rPr lang="zh-CN" altLang="en-US" sz="2400">
                <a:solidFill>
                  <a:srgbClr val="CC3300"/>
                </a:solidFill>
                <a:latin typeface="Times New Roman" pitchFamily="18" charset="0"/>
                <a:ea typeface="华文新魏" pitchFamily="2" charset="-122"/>
              </a:rPr>
              <a:t>）</a:t>
            </a:r>
          </a:p>
          <a:p>
            <a:pPr algn="l">
              <a:buFont typeface="Wingdings" pitchFamily="2" charset="2"/>
              <a:buChar char="Ø"/>
            </a:pPr>
            <a:r>
              <a:rPr lang="zh-CN" altLang="en-US" sz="2400">
                <a:solidFill>
                  <a:srgbClr val="CC3300"/>
                </a:solidFill>
                <a:latin typeface="Times New Roman" pitchFamily="18" charset="0"/>
                <a:ea typeface="华文新魏" pitchFamily="2" charset="-122"/>
              </a:rPr>
              <a:t> 接收状态中断（</a:t>
            </a:r>
            <a:r>
              <a:rPr lang="en-US" altLang="zh-CN" sz="2400">
                <a:solidFill>
                  <a:srgbClr val="CC3300"/>
                </a:solidFill>
                <a:latin typeface="Times New Roman" pitchFamily="18" charset="0"/>
                <a:ea typeface="华文新魏" pitchFamily="2" charset="-122"/>
              </a:rPr>
              <a:t>RLS</a:t>
            </a:r>
            <a:r>
              <a:rPr lang="zh-CN" altLang="en-US" sz="2400">
                <a:solidFill>
                  <a:srgbClr val="CC3300"/>
                </a:solidFill>
                <a:latin typeface="Times New Roman" pitchFamily="18" charset="0"/>
                <a:ea typeface="华文新魏" pitchFamily="2" charset="-122"/>
              </a:rPr>
              <a:t>）</a:t>
            </a:r>
          </a:p>
          <a:p>
            <a:pPr algn="l">
              <a:buFont typeface="Wingdings" pitchFamily="2" charset="2"/>
              <a:buChar char="Ø"/>
            </a:pPr>
            <a:r>
              <a:rPr lang="zh-CN" altLang="en-US" sz="2400">
                <a:solidFill>
                  <a:srgbClr val="CC3300"/>
                </a:solidFill>
                <a:latin typeface="Times New Roman" pitchFamily="18" charset="0"/>
                <a:ea typeface="华文新魏" pitchFamily="2" charset="-122"/>
              </a:rPr>
              <a:t> </a:t>
            </a:r>
            <a:r>
              <a:rPr lang="en-US" altLang="zh-CN" sz="2400">
                <a:solidFill>
                  <a:srgbClr val="CC3300"/>
                </a:solidFill>
                <a:latin typeface="Times New Roman" pitchFamily="18" charset="0"/>
                <a:ea typeface="华文新魏" pitchFamily="2" charset="-122"/>
              </a:rPr>
              <a:t>Modem</a:t>
            </a:r>
            <a:r>
              <a:rPr lang="zh-CN" altLang="en-US" sz="2400">
                <a:solidFill>
                  <a:srgbClr val="CC3300"/>
                </a:solidFill>
                <a:latin typeface="Times New Roman" pitchFamily="18" charset="0"/>
                <a:ea typeface="华文新魏" pitchFamily="2" charset="-122"/>
              </a:rPr>
              <a:t>中断 （</a:t>
            </a:r>
            <a:r>
              <a:rPr lang="en-US" altLang="zh-CN" sz="2400">
                <a:solidFill>
                  <a:srgbClr val="CC3300"/>
                </a:solidFill>
                <a:latin typeface="Times New Roman" pitchFamily="18" charset="0"/>
                <a:ea typeface="华文新魏" pitchFamily="2" charset="-122"/>
              </a:rPr>
              <a:t>Modem</a:t>
            </a:r>
            <a:r>
              <a:rPr lang="zh-CN" altLang="en-US" sz="2400">
                <a:solidFill>
                  <a:srgbClr val="CC3300"/>
                </a:solidFill>
                <a:latin typeface="Times New Roman" pitchFamily="18" charset="0"/>
                <a:ea typeface="华文新魏" pitchFamily="2" charset="-122"/>
              </a:rPr>
              <a:t>）</a:t>
            </a:r>
          </a:p>
        </p:txBody>
      </p:sp>
      <p:sp>
        <p:nvSpPr>
          <p:cNvPr id="745478" name="Rectangle 6"/>
          <p:cNvSpPr>
            <a:spLocks noChangeArrowheads="1"/>
          </p:cNvSpPr>
          <p:nvPr/>
        </p:nvSpPr>
        <p:spPr bwMode="auto">
          <a:xfrm>
            <a:off x="3187700" y="3598864"/>
            <a:ext cx="6883400" cy="830997"/>
          </a:xfrm>
          <a:prstGeom prst="rect">
            <a:avLst/>
          </a:prstGeom>
          <a:noFill/>
          <a:ln w="19050" algn="ctr">
            <a:noFill/>
            <a:miter lim="800000"/>
            <a:headEnd/>
            <a:tailEnd/>
          </a:ln>
          <a:effectLst/>
        </p:spPr>
        <p:txBody>
          <a:bodyPr>
            <a:spAutoFit/>
          </a:bodyPr>
          <a:lstStyle/>
          <a:p>
            <a:pPr lvl="1" algn="l">
              <a:buFont typeface="Wingdings" pitchFamily="2" charset="2"/>
              <a:buChar char="ü"/>
            </a:pPr>
            <a:r>
              <a:rPr lang="en-US" altLang="zh-CN" sz="2400">
                <a:solidFill>
                  <a:schemeClr val="accent2"/>
                </a:solidFill>
              </a:rPr>
              <a:t> </a:t>
            </a:r>
            <a:r>
              <a:rPr lang="zh-CN" altLang="en-US" sz="2400">
                <a:solidFill>
                  <a:schemeClr val="accent2"/>
                </a:solidFill>
                <a:latin typeface="Times New Roman" pitchFamily="18" charset="0"/>
                <a:ea typeface="华文新魏" pitchFamily="2" charset="-122"/>
              </a:rPr>
              <a:t>接收超时中断（</a:t>
            </a:r>
            <a:r>
              <a:rPr lang="en-US" altLang="zh-CN" sz="2400">
                <a:solidFill>
                  <a:schemeClr val="accent2"/>
                </a:solidFill>
                <a:latin typeface="Times New Roman" pitchFamily="18" charset="0"/>
                <a:ea typeface="华文新魏" pitchFamily="2" charset="-122"/>
              </a:rPr>
              <a:t>CTI</a:t>
            </a:r>
            <a:r>
              <a:rPr lang="zh-CN" altLang="en-US" sz="2400">
                <a:solidFill>
                  <a:schemeClr val="accent2"/>
                </a:solidFill>
                <a:latin typeface="Times New Roman" pitchFamily="18" charset="0"/>
                <a:ea typeface="华文新魏" pitchFamily="2" charset="-122"/>
              </a:rPr>
              <a:t>）</a:t>
            </a:r>
          </a:p>
          <a:p>
            <a:pPr lvl="1" algn="l">
              <a:buFont typeface="Wingdings" pitchFamily="2" charset="2"/>
              <a:buChar char="ü"/>
            </a:pPr>
            <a:r>
              <a:rPr lang="zh-CN" altLang="en-US" sz="2400">
                <a:solidFill>
                  <a:schemeClr val="accent2"/>
                </a:solidFill>
                <a:latin typeface="Times New Roman" pitchFamily="18" charset="0"/>
                <a:ea typeface="华文新魏" pitchFamily="2" charset="-122"/>
              </a:rPr>
              <a:t> 接收数据可用中断（</a:t>
            </a:r>
            <a:r>
              <a:rPr lang="en-US" altLang="zh-CN" sz="2400">
                <a:solidFill>
                  <a:schemeClr val="accent2"/>
                </a:solidFill>
                <a:latin typeface="Times New Roman" pitchFamily="18" charset="0"/>
                <a:ea typeface="华文新魏" pitchFamily="2" charset="-122"/>
              </a:rPr>
              <a:t>RDA</a:t>
            </a:r>
            <a:r>
              <a:rPr lang="zh-CN" altLang="en-US" sz="2400">
                <a:solidFill>
                  <a:schemeClr val="accent2"/>
                </a:solidFill>
                <a:latin typeface="Times New Roman" pitchFamily="18" charset="0"/>
                <a:ea typeface="华文新魏"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745475"/>
                                        </p:tgtEl>
                                        <p:attrNameLst>
                                          <p:attrName>style.visibility</p:attrName>
                                        </p:attrNameLst>
                                      </p:cBhvr>
                                      <p:to>
                                        <p:strVal val="visible"/>
                                      </p:to>
                                    </p:set>
                                    <p:animEffect transition="in" filter="strips(downRight)">
                                      <p:cBhvr>
                                        <p:cTn id="7" dur="500"/>
                                        <p:tgtEl>
                                          <p:spTgt spid="74547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45476"/>
                                        </p:tgtEl>
                                        <p:attrNameLst>
                                          <p:attrName>style.visibility</p:attrName>
                                        </p:attrNameLst>
                                      </p:cBhvr>
                                      <p:to>
                                        <p:strVal val="visible"/>
                                      </p:to>
                                    </p:set>
                                    <p:animEffect transition="in" filter="wipe(up)">
                                      <p:cBhvr>
                                        <p:cTn id="11" dur="500"/>
                                        <p:tgtEl>
                                          <p:spTgt spid="745476"/>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745477"/>
                                        </p:tgtEl>
                                        <p:attrNameLst>
                                          <p:attrName>style.visibility</p:attrName>
                                        </p:attrNameLst>
                                      </p:cBhvr>
                                      <p:to>
                                        <p:strVal val="visible"/>
                                      </p:to>
                                    </p:set>
                                    <p:animEffect transition="in" filter="wipe(up)">
                                      <p:cBhvr>
                                        <p:cTn id="15" dur="500"/>
                                        <p:tgtEl>
                                          <p:spTgt spid="745477"/>
                                        </p:tgtEl>
                                      </p:cBhvr>
                                    </p:animEffect>
                                  </p:childTnLst>
                                </p:cTn>
                              </p:par>
                            </p:childTnLst>
                          </p:cTn>
                        </p:par>
                        <p:par>
                          <p:cTn id="16" fill="hold">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745478"/>
                                        </p:tgtEl>
                                        <p:attrNameLst>
                                          <p:attrName>style.visibility</p:attrName>
                                        </p:attrNameLst>
                                      </p:cBhvr>
                                      <p:to>
                                        <p:strVal val="visible"/>
                                      </p:to>
                                    </p:set>
                                    <p:animEffect transition="in" filter="checkerboard(across)">
                                      <p:cBhvr>
                                        <p:cTn id="19" dur="500"/>
                                        <p:tgtEl>
                                          <p:spTgt spid="745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5475" grpId="0"/>
      <p:bldP spid="745476" grpId="0"/>
      <p:bldP spid="745477" grpId="0"/>
      <p:bldP spid="745478"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8" name="Rectangle 2"/>
          <p:cNvSpPr>
            <a:spLocks noChangeArrowheads="1"/>
          </p:cNvSpPr>
          <p:nvPr/>
        </p:nvSpPr>
        <p:spPr bwMode="auto">
          <a:xfrm>
            <a:off x="2133600" y="698500"/>
            <a:ext cx="7772400" cy="1143000"/>
          </a:xfrm>
          <a:prstGeom prst="rect">
            <a:avLst/>
          </a:prstGeom>
          <a:noFill/>
          <a:ln w="9525">
            <a:noFill/>
            <a:miter lim="800000"/>
            <a:headEnd/>
            <a:tailEnd/>
          </a:ln>
          <a:effectLst/>
        </p:spPr>
        <p:txBody>
          <a:bodyPr anchor="ctr"/>
          <a:lstStyle/>
          <a:p>
            <a:r>
              <a:rPr lang="en-US" altLang="zh-CN" sz="4400">
                <a:solidFill>
                  <a:schemeClr val="tx2"/>
                </a:solidFill>
                <a:latin typeface="Times New Roman" pitchFamily="18" charset="0"/>
              </a:rPr>
              <a:t>UART</a:t>
            </a:r>
            <a:r>
              <a:rPr lang="zh-CN" altLang="en-US" sz="4400">
                <a:solidFill>
                  <a:schemeClr val="tx2"/>
                </a:solidFill>
                <a:latin typeface="Times New Roman" pitchFamily="18" charset="0"/>
              </a:rPr>
              <a:t>中断</a:t>
            </a:r>
          </a:p>
        </p:txBody>
      </p:sp>
      <p:sp>
        <p:nvSpPr>
          <p:cNvPr id="746499" name="Rectangle 3"/>
          <p:cNvSpPr>
            <a:spLocks noChangeArrowheads="1"/>
          </p:cNvSpPr>
          <p:nvPr/>
        </p:nvSpPr>
        <p:spPr bwMode="auto">
          <a:xfrm>
            <a:off x="2209800" y="17764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UART</a:t>
            </a:r>
            <a:r>
              <a:rPr lang="zh-CN" altLang="en-US" sz="3200">
                <a:latin typeface="Times New Roman" pitchFamily="18" charset="0"/>
              </a:rPr>
              <a:t>中断示意图</a:t>
            </a:r>
          </a:p>
        </p:txBody>
      </p:sp>
      <p:grpSp>
        <p:nvGrpSpPr>
          <p:cNvPr id="746500" name="Group 4"/>
          <p:cNvGrpSpPr>
            <a:grpSpLocks/>
          </p:cNvGrpSpPr>
          <p:nvPr/>
        </p:nvGrpSpPr>
        <p:grpSpPr bwMode="auto">
          <a:xfrm>
            <a:off x="2817813" y="2333625"/>
            <a:ext cx="6538912" cy="3638550"/>
            <a:chOff x="815" y="1470"/>
            <a:chExt cx="4119" cy="2292"/>
          </a:xfrm>
        </p:grpSpPr>
        <p:sp>
          <p:nvSpPr>
            <p:cNvPr id="746501" name="Rectangle 5"/>
            <p:cNvSpPr>
              <a:spLocks noChangeArrowheads="1"/>
            </p:cNvSpPr>
            <p:nvPr/>
          </p:nvSpPr>
          <p:spPr bwMode="auto">
            <a:xfrm>
              <a:off x="3726" y="2014"/>
              <a:ext cx="1169" cy="1748"/>
            </a:xfrm>
            <a:prstGeom prst="rect">
              <a:avLst/>
            </a:prstGeom>
            <a:solidFill>
              <a:schemeClr val="bg1"/>
            </a:solidFill>
            <a:ln w="9525" algn="ctr">
              <a:solidFill>
                <a:schemeClr val="tx1"/>
              </a:solidFill>
              <a:miter lim="800000"/>
              <a:headEnd/>
              <a:tailEnd/>
            </a:ln>
            <a:effectLst/>
          </p:spPr>
          <p:txBody>
            <a:bodyPr wrap="none" anchor="ctr"/>
            <a:lstStyle/>
            <a:p>
              <a:endParaRPr lang="zh-CN" altLang="en-US"/>
            </a:p>
          </p:txBody>
        </p:sp>
        <p:sp>
          <p:nvSpPr>
            <p:cNvPr id="746502" name="Rectangle 6"/>
            <p:cNvSpPr>
              <a:spLocks noChangeArrowheads="1"/>
            </p:cNvSpPr>
            <p:nvPr/>
          </p:nvSpPr>
          <p:spPr bwMode="auto">
            <a:xfrm flipH="1">
              <a:off x="1819" y="1838"/>
              <a:ext cx="1770" cy="1924"/>
            </a:xfrm>
            <a:prstGeom prst="rect">
              <a:avLst/>
            </a:prstGeom>
            <a:solidFill>
              <a:schemeClr val="bg1"/>
            </a:solidFill>
            <a:ln w="9525" algn="ctr">
              <a:solidFill>
                <a:schemeClr val="tx1"/>
              </a:solidFill>
              <a:miter lim="800000"/>
              <a:headEnd/>
              <a:tailEnd/>
            </a:ln>
            <a:effectLst/>
          </p:spPr>
          <p:txBody>
            <a:bodyPr wrap="none" anchor="ctr"/>
            <a:lstStyle/>
            <a:p>
              <a:endParaRPr lang="zh-CN" altLang="en-US"/>
            </a:p>
          </p:txBody>
        </p:sp>
        <p:sp>
          <p:nvSpPr>
            <p:cNvPr id="746503" name="Text Box 7"/>
            <p:cNvSpPr txBox="1">
              <a:spLocks noChangeArrowheads="1"/>
            </p:cNvSpPr>
            <p:nvPr/>
          </p:nvSpPr>
          <p:spPr bwMode="auto">
            <a:xfrm>
              <a:off x="2008" y="1470"/>
              <a:ext cx="1359" cy="366"/>
            </a:xfrm>
            <a:prstGeom prst="rect">
              <a:avLst/>
            </a:prstGeom>
            <a:noFill/>
            <a:ln w="9525" algn="ctr">
              <a:noFill/>
              <a:miter lim="800000"/>
              <a:headEnd/>
              <a:tailEnd/>
            </a:ln>
            <a:effectLst/>
          </p:spPr>
          <p:txBody>
            <a:bodyPr wrap="none">
              <a:spAutoFit/>
            </a:bodyPr>
            <a:lstStyle/>
            <a:p>
              <a:r>
                <a:rPr lang="en-US" altLang="zh-CN" sz="1600">
                  <a:latin typeface="Times New Roman" pitchFamily="18" charset="0"/>
                  <a:ea typeface="华文新魏" pitchFamily="2" charset="-122"/>
                </a:rPr>
                <a:t>UART</a:t>
              </a:r>
              <a:r>
                <a:rPr lang="zh-CN" altLang="en-US" sz="1600">
                  <a:latin typeface="Times New Roman" pitchFamily="18" charset="0"/>
                  <a:ea typeface="华文新魏" pitchFamily="2" charset="-122"/>
                </a:rPr>
                <a:t>中断使能寄存器</a:t>
              </a:r>
            </a:p>
            <a:p>
              <a:r>
                <a:rPr lang="en-US" altLang="zh-CN" sz="1600">
                  <a:latin typeface="Times New Roman" pitchFamily="18" charset="0"/>
                  <a:ea typeface="华文新魏" pitchFamily="2" charset="-122"/>
                </a:rPr>
                <a:t>UnIER</a:t>
              </a:r>
            </a:p>
          </p:txBody>
        </p:sp>
        <p:sp>
          <p:nvSpPr>
            <p:cNvPr id="746504" name="Text Box 8"/>
            <p:cNvSpPr txBox="1">
              <a:spLocks noChangeArrowheads="1"/>
            </p:cNvSpPr>
            <p:nvPr/>
          </p:nvSpPr>
          <p:spPr bwMode="auto">
            <a:xfrm>
              <a:off x="3575" y="1605"/>
              <a:ext cx="1359" cy="366"/>
            </a:xfrm>
            <a:prstGeom prst="rect">
              <a:avLst/>
            </a:prstGeom>
            <a:noFill/>
            <a:ln w="9525" algn="ctr">
              <a:noFill/>
              <a:miter lim="800000"/>
              <a:headEnd/>
              <a:tailEnd/>
            </a:ln>
            <a:effectLst/>
          </p:spPr>
          <p:txBody>
            <a:bodyPr wrap="none">
              <a:spAutoFit/>
            </a:bodyPr>
            <a:lstStyle/>
            <a:p>
              <a:r>
                <a:rPr lang="en-US" altLang="zh-CN" sz="1600">
                  <a:latin typeface="Times New Roman" pitchFamily="18" charset="0"/>
                  <a:ea typeface="华文新魏" pitchFamily="2" charset="-122"/>
                </a:rPr>
                <a:t>UART</a:t>
              </a:r>
              <a:r>
                <a:rPr lang="zh-CN" altLang="en-US" sz="1600">
                  <a:latin typeface="Times New Roman" pitchFamily="18" charset="0"/>
                  <a:ea typeface="华文新魏" pitchFamily="2" charset="-122"/>
                </a:rPr>
                <a:t>中断标志寄存器</a:t>
              </a:r>
            </a:p>
            <a:p>
              <a:r>
                <a:rPr lang="en-US" altLang="zh-CN" sz="1600">
                  <a:latin typeface="Times New Roman" pitchFamily="18" charset="0"/>
                  <a:ea typeface="华文新魏" pitchFamily="2" charset="-122"/>
                </a:rPr>
                <a:t>UnIIR[3:1]</a:t>
              </a:r>
            </a:p>
          </p:txBody>
        </p:sp>
        <p:grpSp>
          <p:nvGrpSpPr>
            <p:cNvPr id="746505" name="Group 9"/>
            <p:cNvGrpSpPr>
              <a:grpSpLocks/>
            </p:cNvGrpSpPr>
            <p:nvPr/>
          </p:nvGrpSpPr>
          <p:grpSpPr bwMode="auto">
            <a:xfrm>
              <a:off x="815" y="1892"/>
              <a:ext cx="3960" cy="507"/>
              <a:chOff x="815" y="1892"/>
              <a:chExt cx="3960" cy="507"/>
            </a:xfrm>
          </p:grpSpPr>
          <p:sp>
            <p:nvSpPr>
              <p:cNvPr id="746506" name="Rectangle 10"/>
              <p:cNvSpPr>
                <a:spLocks noChangeArrowheads="1"/>
              </p:cNvSpPr>
              <p:nvPr/>
            </p:nvSpPr>
            <p:spPr bwMode="auto">
              <a:xfrm>
                <a:off x="1863" y="1892"/>
                <a:ext cx="1636" cy="212"/>
              </a:xfrm>
              <a:prstGeom prst="rect">
                <a:avLst/>
              </a:prstGeom>
              <a:noFill/>
              <a:ln w="9525" algn="ctr">
                <a:noFill/>
                <a:miter lim="800000"/>
                <a:headEnd/>
                <a:tailEnd/>
              </a:ln>
              <a:effectLst/>
            </p:spPr>
            <p:txBody>
              <a:bodyPr anchor="ctr">
                <a:spAutoFit/>
              </a:bodyPr>
              <a:lstStyle/>
              <a:p>
                <a:pPr algn="l"/>
                <a:r>
                  <a:rPr lang="en-US" altLang="zh-CN" sz="1600">
                    <a:latin typeface="Times New Roman" pitchFamily="18" charset="0"/>
                    <a:ea typeface="华文新魏" pitchFamily="2" charset="-122"/>
                  </a:rPr>
                  <a:t>Bit0</a:t>
                </a:r>
                <a:r>
                  <a:rPr lang="zh-CN" altLang="en-US" sz="1600">
                    <a:latin typeface="Times New Roman" pitchFamily="18" charset="0"/>
                    <a:ea typeface="华文新魏" pitchFamily="2" charset="-122"/>
                  </a:rPr>
                  <a:t>：</a:t>
                </a:r>
                <a:r>
                  <a:rPr lang="en-US" altLang="zh-CN" sz="1600">
                    <a:latin typeface="Times New Roman" pitchFamily="18" charset="0"/>
                    <a:ea typeface="华文新魏" pitchFamily="2" charset="-122"/>
                  </a:rPr>
                  <a:t>RBR</a:t>
                </a:r>
                <a:r>
                  <a:rPr lang="zh-CN" altLang="en-US" sz="1600">
                    <a:latin typeface="Times New Roman" pitchFamily="18" charset="0"/>
                    <a:ea typeface="华文新魏" pitchFamily="2" charset="-122"/>
                  </a:rPr>
                  <a:t>中断使能 </a:t>
                </a:r>
              </a:p>
            </p:txBody>
          </p:sp>
          <p:sp>
            <p:nvSpPr>
              <p:cNvPr id="746507" name="Rectangle 11"/>
              <p:cNvSpPr>
                <a:spLocks noChangeArrowheads="1"/>
              </p:cNvSpPr>
              <p:nvPr/>
            </p:nvSpPr>
            <p:spPr bwMode="auto">
              <a:xfrm>
                <a:off x="2432" y="2133"/>
                <a:ext cx="432" cy="173"/>
              </a:xfrm>
              <a:prstGeom prst="rect">
                <a:avLst/>
              </a:prstGeom>
              <a:solidFill>
                <a:schemeClr val="bg1"/>
              </a:solidFill>
              <a:ln w="9525" algn="ctr">
                <a:solidFill>
                  <a:srgbClr val="FF0000"/>
                </a:solidFill>
                <a:prstDash val="dash"/>
                <a:miter lim="800000"/>
                <a:headEnd/>
                <a:tailEnd/>
              </a:ln>
              <a:effectLst/>
            </p:spPr>
            <p:txBody>
              <a:bodyPr wrap="none" anchor="ctr"/>
              <a:lstStyle/>
              <a:p>
                <a:endParaRPr lang="zh-CN" altLang="en-US"/>
              </a:p>
            </p:txBody>
          </p:sp>
          <p:sp>
            <p:nvSpPr>
              <p:cNvPr id="746508" name="Line 12"/>
              <p:cNvSpPr>
                <a:spLocks noChangeShapeType="1"/>
              </p:cNvSpPr>
              <p:nvPr/>
            </p:nvSpPr>
            <p:spPr bwMode="auto">
              <a:xfrm>
                <a:off x="1425" y="2262"/>
                <a:ext cx="1140"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746509" name="Line 13"/>
              <p:cNvSpPr>
                <a:spLocks noChangeShapeType="1"/>
              </p:cNvSpPr>
              <p:nvPr/>
            </p:nvSpPr>
            <p:spPr bwMode="auto">
              <a:xfrm>
                <a:off x="2765" y="2262"/>
                <a:ext cx="1267" cy="0"/>
              </a:xfrm>
              <a:prstGeom prst="line">
                <a:avLst/>
              </a:prstGeom>
              <a:noFill/>
              <a:ln w="9525">
                <a:solidFill>
                  <a:schemeClr val="tx1"/>
                </a:solidFill>
                <a:round/>
                <a:headEnd type="oval" w="sm" len="sm"/>
                <a:tailEnd/>
              </a:ln>
              <a:effectLst/>
            </p:spPr>
            <p:txBody>
              <a:bodyPr wrap="none" anchor="ctr"/>
              <a:lstStyle/>
              <a:p>
                <a:endParaRPr lang="zh-CN" altLang="en-US"/>
              </a:p>
            </p:txBody>
          </p:sp>
          <p:sp>
            <p:nvSpPr>
              <p:cNvPr id="746510" name="Line 14"/>
              <p:cNvSpPr>
                <a:spLocks noChangeShapeType="1"/>
              </p:cNvSpPr>
              <p:nvPr/>
            </p:nvSpPr>
            <p:spPr bwMode="auto">
              <a:xfrm flipV="1">
                <a:off x="2562" y="2183"/>
                <a:ext cx="199" cy="77"/>
              </a:xfrm>
              <a:prstGeom prst="line">
                <a:avLst/>
              </a:prstGeom>
              <a:noFill/>
              <a:ln w="9525">
                <a:solidFill>
                  <a:schemeClr val="tx1"/>
                </a:solidFill>
                <a:round/>
                <a:headEnd/>
                <a:tailEnd/>
              </a:ln>
              <a:effectLst/>
            </p:spPr>
            <p:txBody>
              <a:bodyPr wrap="none" anchor="ctr"/>
              <a:lstStyle/>
              <a:p>
                <a:endParaRPr lang="zh-CN" altLang="en-US"/>
              </a:p>
            </p:txBody>
          </p:sp>
          <p:sp>
            <p:nvSpPr>
              <p:cNvPr id="746511" name="Line 15"/>
              <p:cNvSpPr>
                <a:spLocks noChangeShapeType="1"/>
              </p:cNvSpPr>
              <p:nvPr/>
            </p:nvSpPr>
            <p:spPr bwMode="auto">
              <a:xfrm>
                <a:off x="2653" y="2058"/>
                <a:ext cx="0" cy="153"/>
              </a:xfrm>
              <a:prstGeom prst="line">
                <a:avLst/>
              </a:prstGeom>
              <a:noFill/>
              <a:ln w="9525">
                <a:solidFill>
                  <a:schemeClr val="tx1"/>
                </a:solidFill>
                <a:round/>
                <a:headEnd/>
                <a:tailEnd type="triangle" w="sm" len="sm"/>
              </a:ln>
              <a:effectLst/>
            </p:spPr>
            <p:txBody>
              <a:bodyPr wrap="none" anchor="ctr"/>
              <a:lstStyle/>
              <a:p>
                <a:endParaRPr lang="zh-CN" altLang="en-US"/>
              </a:p>
            </p:txBody>
          </p:sp>
          <p:sp>
            <p:nvSpPr>
              <p:cNvPr id="746512" name="Rectangle 16"/>
              <p:cNvSpPr>
                <a:spLocks noChangeArrowheads="1"/>
              </p:cNvSpPr>
              <p:nvPr/>
            </p:nvSpPr>
            <p:spPr bwMode="auto">
              <a:xfrm>
                <a:off x="815" y="2137"/>
                <a:ext cx="873" cy="227"/>
              </a:xfrm>
              <a:prstGeom prst="rect">
                <a:avLst/>
              </a:prstGeom>
              <a:solidFill>
                <a:srgbClr val="CCFFFF"/>
              </a:solidFill>
              <a:ln w="9525" algn="ctr">
                <a:solidFill>
                  <a:schemeClr val="tx1"/>
                </a:solidFill>
                <a:miter lim="800000"/>
                <a:headEnd/>
                <a:tailEnd/>
              </a:ln>
              <a:effectLst/>
            </p:spPr>
            <p:txBody>
              <a:bodyPr wrap="none" anchor="ctr"/>
              <a:lstStyle/>
              <a:p>
                <a:r>
                  <a:rPr lang="zh-CN" altLang="en-US" sz="1600">
                    <a:latin typeface="Times New Roman" pitchFamily="18" charset="0"/>
                    <a:ea typeface="华文新魏" pitchFamily="2" charset="-122"/>
                  </a:rPr>
                  <a:t>接收中断 </a:t>
                </a:r>
              </a:p>
            </p:txBody>
          </p:sp>
          <p:sp>
            <p:nvSpPr>
              <p:cNvPr id="746513" name="Rectangle 17"/>
              <p:cNvSpPr>
                <a:spLocks noChangeArrowheads="1"/>
              </p:cNvSpPr>
              <p:nvPr/>
            </p:nvSpPr>
            <p:spPr bwMode="auto">
              <a:xfrm>
                <a:off x="3859" y="2107"/>
                <a:ext cx="916" cy="292"/>
              </a:xfrm>
              <a:prstGeom prst="rect">
                <a:avLst/>
              </a:prstGeom>
              <a:solidFill>
                <a:srgbClr val="CCFFFF"/>
              </a:solidFill>
              <a:ln w="9525" algn="ctr">
                <a:solidFill>
                  <a:schemeClr val="tx1"/>
                </a:solidFill>
                <a:miter lim="800000"/>
                <a:headEnd/>
                <a:tailEnd/>
              </a:ln>
              <a:effectLst/>
            </p:spPr>
            <p:txBody>
              <a:bodyPr wrap="none" anchor="ctr"/>
              <a:lstStyle/>
              <a:p>
                <a:pPr algn="l"/>
                <a:r>
                  <a:rPr lang="en-US" altLang="zh-CN" sz="1600">
                    <a:latin typeface="Times New Roman" pitchFamily="18" charset="0"/>
                    <a:ea typeface="华文新魏" pitchFamily="2" charset="-122"/>
                  </a:rPr>
                  <a:t>010 </a:t>
                </a:r>
                <a:r>
                  <a:rPr lang="zh-CN" altLang="en-US" sz="1600">
                    <a:latin typeface="Times New Roman" pitchFamily="18" charset="0"/>
                    <a:ea typeface="华文新魏" pitchFamily="2" charset="-122"/>
                  </a:rPr>
                  <a:t>：</a:t>
                </a:r>
                <a:r>
                  <a:rPr lang="en-US" altLang="zh-CN" sz="1600">
                    <a:latin typeface="Times New Roman" pitchFamily="18" charset="0"/>
                    <a:ea typeface="华文新魏" pitchFamily="2" charset="-122"/>
                  </a:rPr>
                  <a:t>RDA</a:t>
                </a:r>
              </a:p>
              <a:p>
                <a:pPr algn="l"/>
                <a:r>
                  <a:rPr lang="en-US" altLang="zh-CN" sz="1600">
                    <a:latin typeface="Times New Roman" pitchFamily="18" charset="0"/>
                    <a:ea typeface="华文新魏" pitchFamily="2" charset="-122"/>
                  </a:rPr>
                  <a:t>110 </a:t>
                </a:r>
                <a:r>
                  <a:rPr lang="zh-CN" altLang="en-US" sz="1600">
                    <a:latin typeface="Times New Roman" pitchFamily="18" charset="0"/>
                    <a:ea typeface="华文新魏" pitchFamily="2" charset="-122"/>
                  </a:rPr>
                  <a:t>：</a:t>
                </a:r>
                <a:r>
                  <a:rPr lang="en-US" altLang="zh-CN" sz="1600">
                    <a:latin typeface="Times New Roman" pitchFamily="18" charset="0"/>
                    <a:ea typeface="华文新魏" pitchFamily="2" charset="-122"/>
                  </a:rPr>
                  <a:t>CTI</a:t>
                </a:r>
              </a:p>
            </p:txBody>
          </p:sp>
        </p:grpSp>
        <p:grpSp>
          <p:nvGrpSpPr>
            <p:cNvPr id="746514" name="Group 18"/>
            <p:cNvGrpSpPr>
              <a:grpSpLocks/>
            </p:cNvGrpSpPr>
            <p:nvPr/>
          </p:nvGrpSpPr>
          <p:grpSpPr bwMode="auto">
            <a:xfrm>
              <a:off x="815" y="2315"/>
              <a:ext cx="3960" cy="492"/>
              <a:chOff x="815" y="2315"/>
              <a:chExt cx="3960" cy="492"/>
            </a:xfrm>
          </p:grpSpPr>
          <p:sp>
            <p:nvSpPr>
              <p:cNvPr id="746515" name="Rectangle 19"/>
              <p:cNvSpPr>
                <a:spLocks noChangeArrowheads="1"/>
              </p:cNvSpPr>
              <p:nvPr/>
            </p:nvSpPr>
            <p:spPr bwMode="auto">
              <a:xfrm>
                <a:off x="1863" y="2315"/>
                <a:ext cx="1617" cy="212"/>
              </a:xfrm>
              <a:prstGeom prst="rect">
                <a:avLst/>
              </a:prstGeom>
              <a:noFill/>
              <a:ln w="9525" algn="ctr">
                <a:noFill/>
                <a:miter lim="800000"/>
                <a:headEnd/>
                <a:tailEnd/>
              </a:ln>
              <a:effectLst/>
            </p:spPr>
            <p:txBody>
              <a:bodyPr anchor="ctr">
                <a:spAutoFit/>
              </a:bodyPr>
              <a:lstStyle/>
              <a:p>
                <a:pPr algn="l"/>
                <a:r>
                  <a:rPr lang="en-US" altLang="zh-CN" sz="1600">
                    <a:latin typeface="Times New Roman" pitchFamily="18" charset="0"/>
                    <a:ea typeface="华文新魏" pitchFamily="2" charset="-122"/>
                  </a:rPr>
                  <a:t>Bit1</a:t>
                </a:r>
                <a:r>
                  <a:rPr lang="zh-CN" altLang="en-US" sz="1600">
                    <a:latin typeface="Times New Roman" pitchFamily="18" charset="0"/>
                    <a:ea typeface="华文新魏" pitchFamily="2" charset="-122"/>
                  </a:rPr>
                  <a:t>：</a:t>
                </a:r>
                <a:r>
                  <a:rPr lang="en-US" altLang="zh-CN" sz="1600">
                    <a:latin typeface="Times New Roman" pitchFamily="18" charset="0"/>
                    <a:ea typeface="华文新魏" pitchFamily="2" charset="-122"/>
                  </a:rPr>
                  <a:t>THRE</a:t>
                </a:r>
                <a:r>
                  <a:rPr lang="zh-CN" altLang="en-US" sz="1600">
                    <a:latin typeface="Times New Roman" pitchFamily="18" charset="0"/>
                    <a:ea typeface="华文新魏" pitchFamily="2" charset="-122"/>
                  </a:rPr>
                  <a:t>中断使能 </a:t>
                </a:r>
              </a:p>
            </p:txBody>
          </p:sp>
          <p:sp>
            <p:nvSpPr>
              <p:cNvPr id="746516" name="Rectangle 20"/>
              <p:cNvSpPr>
                <a:spLocks noChangeArrowheads="1"/>
              </p:cNvSpPr>
              <p:nvPr/>
            </p:nvSpPr>
            <p:spPr bwMode="auto">
              <a:xfrm>
                <a:off x="2432" y="2579"/>
                <a:ext cx="432" cy="173"/>
              </a:xfrm>
              <a:prstGeom prst="rect">
                <a:avLst/>
              </a:prstGeom>
              <a:solidFill>
                <a:schemeClr val="bg1"/>
              </a:solidFill>
              <a:ln w="9525" algn="ctr">
                <a:solidFill>
                  <a:srgbClr val="FF0000"/>
                </a:solidFill>
                <a:prstDash val="dash"/>
                <a:miter lim="800000"/>
                <a:headEnd/>
                <a:tailEnd/>
              </a:ln>
              <a:effectLst/>
            </p:spPr>
            <p:txBody>
              <a:bodyPr wrap="none" anchor="ctr"/>
              <a:lstStyle/>
              <a:p>
                <a:endParaRPr lang="zh-CN" altLang="en-US"/>
              </a:p>
            </p:txBody>
          </p:sp>
          <p:sp>
            <p:nvSpPr>
              <p:cNvPr id="746517" name="Line 21"/>
              <p:cNvSpPr>
                <a:spLocks noChangeShapeType="1"/>
              </p:cNvSpPr>
              <p:nvPr/>
            </p:nvSpPr>
            <p:spPr bwMode="auto">
              <a:xfrm>
                <a:off x="1409" y="2708"/>
                <a:ext cx="1156"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746518" name="Line 22"/>
              <p:cNvSpPr>
                <a:spLocks noChangeShapeType="1"/>
              </p:cNvSpPr>
              <p:nvPr/>
            </p:nvSpPr>
            <p:spPr bwMode="auto">
              <a:xfrm>
                <a:off x="2765" y="2708"/>
                <a:ext cx="1361" cy="0"/>
              </a:xfrm>
              <a:prstGeom prst="line">
                <a:avLst/>
              </a:prstGeom>
              <a:noFill/>
              <a:ln w="9525">
                <a:solidFill>
                  <a:schemeClr val="tx1"/>
                </a:solidFill>
                <a:round/>
                <a:headEnd type="oval" w="sm" len="sm"/>
                <a:tailEnd/>
              </a:ln>
              <a:effectLst/>
            </p:spPr>
            <p:txBody>
              <a:bodyPr wrap="none" anchor="ctr"/>
              <a:lstStyle/>
              <a:p>
                <a:endParaRPr lang="zh-CN" altLang="en-US"/>
              </a:p>
            </p:txBody>
          </p:sp>
          <p:sp>
            <p:nvSpPr>
              <p:cNvPr id="746519" name="Line 23"/>
              <p:cNvSpPr>
                <a:spLocks noChangeShapeType="1"/>
              </p:cNvSpPr>
              <p:nvPr/>
            </p:nvSpPr>
            <p:spPr bwMode="auto">
              <a:xfrm flipV="1">
                <a:off x="2562" y="2629"/>
                <a:ext cx="199" cy="77"/>
              </a:xfrm>
              <a:prstGeom prst="line">
                <a:avLst/>
              </a:prstGeom>
              <a:noFill/>
              <a:ln w="9525">
                <a:solidFill>
                  <a:schemeClr val="tx1"/>
                </a:solidFill>
                <a:round/>
                <a:headEnd/>
                <a:tailEnd/>
              </a:ln>
              <a:effectLst/>
            </p:spPr>
            <p:txBody>
              <a:bodyPr wrap="none" anchor="ctr"/>
              <a:lstStyle/>
              <a:p>
                <a:endParaRPr lang="zh-CN" altLang="en-US"/>
              </a:p>
            </p:txBody>
          </p:sp>
          <p:sp>
            <p:nvSpPr>
              <p:cNvPr id="746520" name="Line 24"/>
              <p:cNvSpPr>
                <a:spLocks noChangeShapeType="1"/>
              </p:cNvSpPr>
              <p:nvPr/>
            </p:nvSpPr>
            <p:spPr bwMode="auto">
              <a:xfrm>
                <a:off x="2653" y="2504"/>
                <a:ext cx="0" cy="153"/>
              </a:xfrm>
              <a:prstGeom prst="line">
                <a:avLst/>
              </a:prstGeom>
              <a:noFill/>
              <a:ln w="9525">
                <a:solidFill>
                  <a:schemeClr val="tx1"/>
                </a:solidFill>
                <a:round/>
                <a:headEnd/>
                <a:tailEnd type="triangle" w="sm" len="sm"/>
              </a:ln>
              <a:effectLst/>
            </p:spPr>
            <p:txBody>
              <a:bodyPr wrap="none" anchor="ctr"/>
              <a:lstStyle/>
              <a:p>
                <a:endParaRPr lang="zh-CN" altLang="en-US"/>
              </a:p>
            </p:txBody>
          </p:sp>
          <p:sp>
            <p:nvSpPr>
              <p:cNvPr id="746521" name="Rectangle 25"/>
              <p:cNvSpPr>
                <a:spLocks noChangeArrowheads="1"/>
              </p:cNvSpPr>
              <p:nvPr/>
            </p:nvSpPr>
            <p:spPr bwMode="auto">
              <a:xfrm>
                <a:off x="815" y="2580"/>
                <a:ext cx="874" cy="227"/>
              </a:xfrm>
              <a:prstGeom prst="rect">
                <a:avLst/>
              </a:prstGeom>
              <a:solidFill>
                <a:srgbClr val="B9DCFF"/>
              </a:solidFill>
              <a:ln w="9525" algn="ctr">
                <a:solidFill>
                  <a:schemeClr val="tx1"/>
                </a:solidFill>
                <a:miter lim="800000"/>
                <a:headEnd/>
                <a:tailEnd/>
              </a:ln>
              <a:effectLst/>
            </p:spPr>
            <p:txBody>
              <a:bodyPr wrap="none" anchor="ctr"/>
              <a:lstStyle/>
              <a:p>
                <a:r>
                  <a:rPr lang="zh-CN" altLang="en-US" sz="1600">
                    <a:latin typeface="Times New Roman" pitchFamily="18" charset="0"/>
                    <a:ea typeface="华文新魏" pitchFamily="2" charset="-122"/>
                  </a:rPr>
                  <a:t>发送中断 </a:t>
                </a:r>
              </a:p>
            </p:txBody>
          </p:sp>
          <p:sp>
            <p:nvSpPr>
              <p:cNvPr id="746522" name="Rectangle 26"/>
              <p:cNvSpPr>
                <a:spLocks noChangeArrowheads="1"/>
              </p:cNvSpPr>
              <p:nvPr/>
            </p:nvSpPr>
            <p:spPr bwMode="auto">
              <a:xfrm>
                <a:off x="3859" y="2612"/>
                <a:ext cx="916" cy="181"/>
              </a:xfrm>
              <a:prstGeom prst="rect">
                <a:avLst/>
              </a:prstGeom>
              <a:solidFill>
                <a:srgbClr val="B9DCFF"/>
              </a:solidFill>
              <a:ln w="9525" algn="ctr">
                <a:solidFill>
                  <a:schemeClr val="tx1"/>
                </a:solidFill>
                <a:miter lim="800000"/>
                <a:headEnd/>
                <a:tailEnd/>
              </a:ln>
              <a:effectLst/>
            </p:spPr>
            <p:txBody>
              <a:bodyPr wrap="none" anchor="ctr"/>
              <a:lstStyle/>
              <a:p>
                <a:pPr algn="l"/>
                <a:r>
                  <a:rPr lang="en-US" altLang="zh-CN" sz="1600">
                    <a:latin typeface="Times New Roman" pitchFamily="18" charset="0"/>
                    <a:ea typeface="华文新魏" pitchFamily="2" charset="-122"/>
                  </a:rPr>
                  <a:t>001 </a:t>
                </a:r>
                <a:r>
                  <a:rPr lang="zh-CN" altLang="en-US" sz="1600">
                    <a:latin typeface="Times New Roman" pitchFamily="18" charset="0"/>
                    <a:ea typeface="华文新魏" pitchFamily="2" charset="-122"/>
                  </a:rPr>
                  <a:t>：</a:t>
                </a:r>
                <a:r>
                  <a:rPr lang="en-US" altLang="zh-CN" sz="1600">
                    <a:latin typeface="Times New Roman" pitchFamily="18" charset="0"/>
                    <a:ea typeface="华文新魏" pitchFamily="2" charset="-122"/>
                  </a:rPr>
                  <a:t>THRE </a:t>
                </a:r>
              </a:p>
            </p:txBody>
          </p:sp>
        </p:grpSp>
        <p:grpSp>
          <p:nvGrpSpPr>
            <p:cNvPr id="746523" name="Group 27"/>
            <p:cNvGrpSpPr>
              <a:grpSpLocks/>
            </p:cNvGrpSpPr>
            <p:nvPr/>
          </p:nvGrpSpPr>
          <p:grpSpPr bwMode="auto">
            <a:xfrm>
              <a:off x="815" y="2772"/>
              <a:ext cx="3960" cy="500"/>
              <a:chOff x="815" y="2772"/>
              <a:chExt cx="3960" cy="500"/>
            </a:xfrm>
          </p:grpSpPr>
          <p:sp>
            <p:nvSpPr>
              <p:cNvPr id="746524" name="Rectangle 28"/>
              <p:cNvSpPr>
                <a:spLocks noChangeArrowheads="1"/>
              </p:cNvSpPr>
              <p:nvPr/>
            </p:nvSpPr>
            <p:spPr bwMode="auto">
              <a:xfrm>
                <a:off x="1863" y="2772"/>
                <a:ext cx="1705" cy="212"/>
              </a:xfrm>
              <a:prstGeom prst="rect">
                <a:avLst/>
              </a:prstGeom>
              <a:noFill/>
              <a:ln w="9525" algn="ctr">
                <a:noFill/>
                <a:miter lim="800000"/>
                <a:headEnd/>
                <a:tailEnd/>
              </a:ln>
              <a:effectLst/>
            </p:spPr>
            <p:txBody>
              <a:bodyPr anchor="ctr">
                <a:spAutoFit/>
              </a:bodyPr>
              <a:lstStyle/>
              <a:p>
                <a:pPr algn="l"/>
                <a:r>
                  <a:rPr lang="en-US" altLang="zh-CN" sz="1600">
                    <a:latin typeface="Times New Roman" pitchFamily="18" charset="0"/>
                    <a:ea typeface="华文新魏" pitchFamily="2" charset="-122"/>
                  </a:rPr>
                  <a:t>Bit2</a:t>
                </a:r>
                <a:r>
                  <a:rPr lang="zh-CN" altLang="en-US" sz="1600">
                    <a:latin typeface="Times New Roman" pitchFamily="18" charset="0"/>
                    <a:ea typeface="华文新魏" pitchFamily="2" charset="-122"/>
                  </a:rPr>
                  <a:t>：接收状态中断使能 </a:t>
                </a:r>
              </a:p>
            </p:txBody>
          </p:sp>
          <p:sp>
            <p:nvSpPr>
              <p:cNvPr id="746525" name="Rectangle 29"/>
              <p:cNvSpPr>
                <a:spLocks noChangeArrowheads="1"/>
              </p:cNvSpPr>
              <p:nvPr/>
            </p:nvSpPr>
            <p:spPr bwMode="auto">
              <a:xfrm>
                <a:off x="2417" y="3034"/>
                <a:ext cx="432" cy="173"/>
              </a:xfrm>
              <a:prstGeom prst="rect">
                <a:avLst/>
              </a:prstGeom>
              <a:solidFill>
                <a:schemeClr val="bg1"/>
              </a:solidFill>
              <a:ln w="9525" algn="ctr">
                <a:solidFill>
                  <a:srgbClr val="FF0000"/>
                </a:solidFill>
                <a:prstDash val="dash"/>
                <a:miter lim="800000"/>
                <a:headEnd/>
                <a:tailEnd/>
              </a:ln>
              <a:effectLst/>
            </p:spPr>
            <p:txBody>
              <a:bodyPr wrap="none" anchor="ctr"/>
              <a:lstStyle/>
              <a:p>
                <a:endParaRPr lang="zh-CN" altLang="en-US"/>
              </a:p>
            </p:txBody>
          </p:sp>
          <p:sp>
            <p:nvSpPr>
              <p:cNvPr id="746526" name="Line 30"/>
              <p:cNvSpPr>
                <a:spLocks noChangeShapeType="1"/>
              </p:cNvSpPr>
              <p:nvPr/>
            </p:nvSpPr>
            <p:spPr bwMode="auto">
              <a:xfrm>
                <a:off x="1356" y="3163"/>
                <a:ext cx="1194"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746527" name="Line 31"/>
              <p:cNvSpPr>
                <a:spLocks noChangeShapeType="1"/>
              </p:cNvSpPr>
              <p:nvPr/>
            </p:nvSpPr>
            <p:spPr bwMode="auto">
              <a:xfrm>
                <a:off x="2726" y="3163"/>
                <a:ext cx="1399" cy="0"/>
              </a:xfrm>
              <a:prstGeom prst="line">
                <a:avLst/>
              </a:prstGeom>
              <a:noFill/>
              <a:ln w="9525">
                <a:solidFill>
                  <a:schemeClr val="tx1"/>
                </a:solidFill>
                <a:round/>
                <a:headEnd type="oval" w="sm" len="sm"/>
                <a:tailEnd/>
              </a:ln>
              <a:effectLst/>
            </p:spPr>
            <p:txBody>
              <a:bodyPr wrap="none" anchor="ctr"/>
              <a:lstStyle/>
              <a:p>
                <a:endParaRPr lang="zh-CN" altLang="en-US"/>
              </a:p>
            </p:txBody>
          </p:sp>
          <p:sp>
            <p:nvSpPr>
              <p:cNvPr id="746528" name="Line 32"/>
              <p:cNvSpPr>
                <a:spLocks noChangeShapeType="1"/>
              </p:cNvSpPr>
              <p:nvPr/>
            </p:nvSpPr>
            <p:spPr bwMode="auto">
              <a:xfrm flipV="1">
                <a:off x="2547" y="3084"/>
                <a:ext cx="199" cy="77"/>
              </a:xfrm>
              <a:prstGeom prst="line">
                <a:avLst/>
              </a:prstGeom>
              <a:noFill/>
              <a:ln w="9525">
                <a:solidFill>
                  <a:schemeClr val="tx1"/>
                </a:solidFill>
                <a:round/>
                <a:headEnd/>
                <a:tailEnd/>
              </a:ln>
              <a:effectLst/>
            </p:spPr>
            <p:txBody>
              <a:bodyPr wrap="none" anchor="ctr"/>
              <a:lstStyle/>
              <a:p>
                <a:endParaRPr lang="zh-CN" altLang="en-US"/>
              </a:p>
            </p:txBody>
          </p:sp>
          <p:sp>
            <p:nvSpPr>
              <p:cNvPr id="746529" name="Line 33"/>
              <p:cNvSpPr>
                <a:spLocks noChangeShapeType="1"/>
              </p:cNvSpPr>
              <p:nvPr/>
            </p:nvSpPr>
            <p:spPr bwMode="auto">
              <a:xfrm>
                <a:off x="2638" y="2959"/>
                <a:ext cx="0" cy="153"/>
              </a:xfrm>
              <a:prstGeom prst="line">
                <a:avLst/>
              </a:prstGeom>
              <a:noFill/>
              <a:ln w="9525">
                <a:solidFill>
                  <a:schemeClr val="tx1"/>
                </a:solidFill>
                <a:round/>
                <a:headEnd/>
                <a:tailEnd type="triangle" w="sm" len="sm"/>
              </a:ln>
              <a:effectLst/>
            </p:spPr>
            <p:txBody>
              <a:bodyPr wrap="none" anchor="ctr"/>
              <a:lstStyle/>
              <a:p>
                <a:endParaRPr lang="zh-CN" altLang="en-US"/>
              </a:p>
            </p:txBody>
          </p:sp>
          <p:sp>
            <p:nvSpPr>
              <p:cNvPr id="746530" name="Rectangle 34"/>
              <p:cNvSpPr>
                <a:spLocks noChangeArrowheads="1"/>
              </p:cNvSpPr>
              <p:nvPr/>
            </p:nvSpPr>
            <p:spPr bwMode="auto">
              <a:xfrm>
                <a:off x="815" y="3045"/>
                <a:ext cx="874" cy="227"/>
              </a:xfrm>
              <a:prstGeom prst="rect">
                <a:avLst/>
              </a:prstGeom>
              <a:solidFill>
                <a:srgbClr val="CDE6FF"/>
              </a:solidFill>
              <a:ln w="9525" algn="ctr">
                <a:solidFill>
                  <a:schemeClr val="tx1"/>
                </a:solidFill>
                <a:miter lim="800000"/>
                <a:headEnd/>
                <a:tailEnd/>
              </a:ln>
              <a:effectLst/>
            </p:spPr>
            <p:txBody>
              <a:bodyPr wrap="none" anchor="ctr"/>
              <a:lstStyle/>
              <a:p>
                <a:r>
                  <a:rPr lang="zh-CN" altLang="en-US" sz="1600">
                    <a:latin typeface="Times New Roman" pitchFamily="18" charset="0"/>
                    <a:ea typeface="华文新魏" pitchFamily="2" charset="-122"/>
                  </a:rPr>
                  <a:t>接收状态中断 </a:t>
                </a:r>
              </a:p>
            </p:txBody>
          </p:sp>
          <p:sp>
            <p:nvSpPr>
              <p:cNvPr id="746531" name="Rectangle 35"/>
              <p:cNvSpPr>
                <a:spLocks noChangeArrowheads="1"/>
              </p:cNvSpPr>
              <p:nvPr/>
            </p:nvSpPr>
            <p:spPr bwMode="auto">
              <a:xfrm>
                <a:off x="3859" y="3069"/>
                <a:ext cx="916" cy="181"/>
              </a:xfrm>
              <a:prstGeom prst="rect">
                <a:avLst/>
              </a:prstGeom>
              <a:solidFill>
                <a:srgbClr val="CDE6FF"/>
              </a:solidFill>
              <a:ln w="9525" algn="ctr">
                <a:solidFill>
                  <a:schemeClr val="tx1"/>
                </a:solidFill>
                <a:miter lim="800000"/>
                <a:headEnd/>
                <a:tailEnd/>
              </a:ln>
              <a:effectLst/>
            </p:spPr>
            <p:txBody>
              <a:bodyPr wrap="none" anchor="ctr"/>
              <a:lstStyle/>
              <a:p>
                <a:pPr algn="l"/>
                <a:r>
                  <a:rPr lang="en-US" altLang="zh-CN" sz="1600">
                    <a:latin typeface="Times New Roman" pitchFamily="18" charset="0"/>
                    <a:ea typeface="华文新魏" pitchFamily="2" charset="-122"/>
                  </a:rPr>
                  <a:t>011 </a:t>
                </a:r>
                <a:r>
                  <a:rPr lang="zh-CN" altLang="en-US" sz="1600">
                    <a:latin typeface="Times New Roman" pitchFamily="18" charset="0"/>
                    <a:ea typeface="华文新魏" pitchFamily="2" charset="-122"/>
                  </a:rPr>
                  <a:t>：</a:t>
                </a:r>
                <a:r>
                  <a:rPr lang="en-US" altLang="zh-CN" sz="1600">
                    <a:latin typeface="Times New Roman" pitchFamily="18" charset="0"/>
                    <a:ea typeface="华文新魏" pitchFamily="2" charset="-122"/>
                  </a:rPr>
                  <a:t>RLS</a:t>
                </a:r>
              </a:p>
            </p:txBody>
          </p:sp>
        </p:grpSp>
        <p:grpSp>
          <p:nvGrpSpPr>
            <p:cNvPr id="746532" name="Group 36"/>
            <p:cNvGrpSpPr>
              <a:grpSpLocks/>
            </p:cNvGrpSpPr>
            <p:nvPr/>
          </p:nvGrpSpPr>
          <p:grpSpPr bwMode="auto">
            <a:xfrm>
              <a:off x="815" y="3236"/>
              <a:ext cx="3960" cy="491"/>
              <a:chOff x="815" y="3236"/>
              <a:chExt cx="3960" cy="491"/>
            </a:xfrm>
          </p:grpSpPr>
          <p:sp>
            <p:nvSpPr>
              <p:cNvPr id="746533" name="Rectangle 37"/>
              <p:cNvSpPr>
                <a:spLocks noChangeArrowheads="1"/>
              </p:cNvSpPr>
              <p:nvPr/>
            </p:nvSpPr>
            <p:spPr bwMode="auto">
              <a:xfrm>
                <a:off x="1863" y="3236"/>
                <a:ext cx="1739" cy="212"/>
              </a:xfrm>
              <a:prstGeom prst="rect">
                <a:avLst/>
              </a:prstGeom>
              <a:noFill/>
              <a:ln w="9525" algn="ctr">
                <a:noFill/>
                <a:miter lim="800000"/>
                <a:headEnd/>
                <a:tailEnd/>
              </a:ln>
              <a:effectLst/>
            </p:spPr>
            <p:txBody>
              <a:bodyPr anchor="ctr">
                <a:spAutoFit/>
              </a:bodyPr>
              <a:lstStyle/>
              <a:p>
                <a:pPr algn="l"/>
                <a:r>
                  <a:rPr lang="en-US" altLang="zh-CN" sz="1600">
                    <a:latin typeface="Times New Roman" pitchFamily="18" charset="0"/>
                    <a:ea typeface="华文新魏" pitchFamily="2" charset="-122"/>
                  </a:rPr>
                  <a:t>Bit3</a:t>
                </a:r>
                <a:r>
                  <a:rPr lang="zh-CN" altLang="en-US" sz="1600">
                    <a:latin typeface="Times New Roman" pitchFamily="18" charset="0"/>
                    <a:ea typeface="华文新魏" pitchFamily="2" charset="-122"/>
                  </a:rPr>
                  <a:t>：</a:t>
                </a:r>
                <a:r>
                  <a:rPr lang="en-US" altLang="zh-CN" sz="1600">
                    <a:latin typeface="Times New Roman" pitchFamily="18" charset="0"/>
                    <a:ea typeface="华文新魏" pitchFamily="2" charset="-122"/>
                  </a:rPr>
                  <a:t>Modem</a:t>
                </a:r>
                <a:r>
                  <a:rPr lang="zh-CN" altLang="en-US" sz="1600">
                    <a:latin typeface="Times New Roman" pitchFamily="18" charset="0"/>
                    <a:ea typeface="华文新魏" pitchFamily="2" charset="-122"/>
                  </a:rPr>
                  <a:t>状态中断使能 </a:t>
                </a:r>
              </a:p>
            </p:txBody>
          </p:sp>
          <p:sp>
            <p:nvSpPr>
              <p:cNvPr id="746534" name="Rectangle 38"/>
              <p:cNvSpPr>
                <a:spLocks noChangeArrowheads="1"/>
              </p:cNvSpPr>
              <p:nvPr/>
            </p:nvSpPr>
            <p:spPr bwMode="auto">
              <a:xfrm>
                <a:off x="2436" y="3493"/>
                <a:ext cx="432" cy="173"/>
              </a:xfrm>
              <a:prstGeom prst="rect">
                <a:avLst/>
              </a:prstGeom>
              <a:solidFill>
                <a:schemeClr val="bg1"/>
              </a:solidFill>
              <a:ln w="9525" algn="ctr">
                <a:solidFill>
                  <a:srgbClr val="FF0000"/>
                </a:solidFill>
                <a:prstDash val="dash"/>
                <a:miter lim="800000"/>
                <a:headEnd/>
                <a:tailEnd/>
              </a:ln>
              <a:effectLst/>
            </p:spPr>
            <p:txBody>
              <a:bodyPr wrap="none" anchor="ctr"/>
              <a:lstStyle/>
              <a:p>
                <a:endParaRPr lang="zh-CN" altLang="en-US"/>
              </a:p>
            </p:txBody>
          </p:sp>
          <p:sp>
            <p:nvSpPr>
              <p:cNvPr id="746535" name="Line 39"/>
              <p:cNvSpPr>
                <a:spLocks noChangeShapeType="1"/>
              </p:cNvSpPr>
              <p:nvPr/>
            </p:nvSpPr>
            <p:spPr bwMode="auto">
              <a:xfrm>
                <a:off x="1004" y="3622"/>
                <a:ext cx="1573"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746536" name="Line 40"/>
              <p:cNvSpPr>
                <a:spLocks noChangeShapeType="1"/>
              </p:cNvSpPr>
              <p:nvPr/>
            </p:nvSpPr>
            <p:spPr bwMode="auto">
              <a:xfrm>
                <a:off x="2745" y="3622"/>
                <a:ext cx="1347" cy="0"/>
              </a:xfrm>
              <a:prstGeom prst="line">
                <a:avLst/>
              </a:prstGeom>
              <a:noFill/>
              <a:ln w="9525">
                <a:solidFill>
                  <a:schemeClr val="tx1"/>
                </a:solidFill>
                <a:round/>
                <a:headEnd type="oval" w="sm" len="sm"/>
                <a:tailEnd/>
              </a:ln>
              <a:effectLst/>
            </p:spPr>
            <p:txBody>
              <a:bodyPr wrap="none" anchor="ctr"/>
              <a:lstStyle/>
              <a:p>
                <a:endParaRPr lang="zh-CN" altLang="en-US"/>
              </a:p>
            </p:txBody>
          </p:sp>
          <p:sp>
            <p:nvSpPr>
              <p:cNvPr id="746537" name="Line 41"/>
              <p:cNvSpPr>
                <a:spLocks noChangeShapeType="1"/>
              </p:cNvSpPr>
              <p:nvPr/>
            </p:nvSpPr>
            <p:spPr bwMode="auto">
              <a:xfrm flipV="1">
                <a:off x="2566" y="3543"/>
                <a:ext cx="199" cy="77"/>
              </a:xfrm>
              <a:prstGeom prst="line">
                <a:avLst/>
              </a:prstGeom>
              <a:noFill/>
              <a:ln w="9525">
                <a:solidFill>
                  <a:schemeClr val="tx1"/>
                </a:solidFill>
                <a:round/>
                <a:headEnd/>
                <a:tailEnd/>
              </a:ln>
              <a:effectLst/>
            </p:spPr>
            <p:txBody>
              <a:bodyPr wrap="none" anchor="ctr"/>
              <a:lstStyle/>
              <a:p>
                <a:endParaRPr lang="zh-CN" altLang="en-US"/>
              </a:p>
            </p:txBody>
          </p:sp>
          <p:sp>
            <p:nvSpPr>
              <p:cNvPr id="746538" name="Line 42"/>
              <p:cNvSpPr>
                <a:spLocks noChangeShapeType="1"/>
              </p:cNvSpPr>
              <p:nvPr/>
            </p:nvSpPr>
            <p:spPr bwMode="auto">
              <a:xfrm>
                <a:off x="2657" y="3418"/>
                <a:ext cx="0" cy="153"/>
              </a:xfrm>
              <a:prstGeom prst="line">
                <a:avLst/>
              </a:prstGeom>
              <a:noFill/>
              <a:ln w="9525">
                <a:solidFill>
                  <a:schemeClr val="tx1"/>
                </a:solidFill>
                <a:round/>
                <a:headEnd/>
                <a:tailEnd type="triangle" w="sm" len="sm"/>
              </a:ln>
              <a:effectLst/>
            </p:spPr>
            <p:txBody>
              <a:bodyPr wrap="none" anchor="ctr"/>
              <a:lstStyle/>
              <a:p>
                <a:endParaRPr lang="zh-CN" altLang="en-US"/>
              </a:p>
            </p:txBody>
          </p:sp>
          <p:sp>
            <p:nvSpPr>
              <p:cNvPr id="746539" name="Rectangle 43"/>
              <p:cNvSpPr>
                <a:spLocks noChangeArrowheads="1"/>
              </p:cNvSpPr>
              <p:nvPr/>
            </p:nvSpPr>
            <p:spPr bwMode="auto">
              <a:xfrm>
                <a:off x="815" y="3500"/>
                <a:ext cx="874" cy="227"/>
              </a:xfrm>
              <a:prstGeom prst="rect">
                <a:avLst/>
              </a:prstGeom>
              <a:solidFill>
                <a:srgbClr val="CCCCFF"/>
              </a:solidFill>
              <a:ln w="9525" algn="ctr">
                <a:solidFill>
                  <a:schemeClr val="tx1"/>
                </a:solidFill>
                <a:miter lim="800000"/>
                <a:headEnd/>
                <a:tailEnd/>
              </a:ln>
              <a:effectLst/>
            </p:spPr>
            <p:txBody>
              <a:bodyPr wrap="none" anchor="ctr"/>
              <a:lstStyle/>
              <a:p>
                <a:r>
                  <a:rPr lang="en-US" altLang="zh-CN" sz="1600">
                    <a:latin typeface="Times New Roman" pitchFamily="18" charset="0"/>
                    <a:ea typeface="华文新魏" pitchFamily="2" charset="-122"/>
                  </a:rPr>
                  <a:t>Modem</a:t>
                </a:r>
                <a:r>
                  <a:rPr lang="zh-CN" altLang="en-US" sz="1600">
                    <a:latin typeface="Times New Roman" pitchFamily="18" charset="0"/>
                    <a:ea typeface="华文新魏" pitchFamily="2" charset="-122"/>
                  </a:rPr>
                  <a:t>中断 </a:t>
                </a:r>
              </a:p>
            </p:txBody>
          </p:sp>
          <p:sp>
            <p:nvSpPr>
              <p:cNvPr id="746540" name="Rectangle 44"/>
              <p:cNvSpPr>
                <a:spLocks noChangeArrowheads="1"/>
              </p:cNvSpPr>
              <p:nvPr/>
            </p:nvSpPr>
            <p:spPr bwMode="auto">
              <a:xfrm>
                <a:off x="3859" y="3528"/>
                <a:ext cx="916" cy="181"/>
              </a:xfrm>
              <a:prstGeom prst="rect">
                <a:avLst/>
              </a:prstGeom>
              <a:solidFill>
                <a:srgbClr val="CCCCFF"/>
              </a:solidFill>
              <a:ln w="9525" algn="ctr">
                <a:solidFill>
                  <a:schemeClr val="tx1"/>
                </a:solidFill>
                <a:miter lim="800000"/>
                <a:headEnd/>
                <a:tailEnd/>
              </a:ln>
              <a:effectLst/>
            </p:spPr>
            <p:txBody>
              <a:bodyPr wrap="none" anchor="ctr"/>
              <a:lstStyle/>
              <a:p>
                <a:pPr algn="l"/>
                <a:r>
                  <a:rPr lang="en-US" altLang="zh-CN" sz="1600">
                    <a:latin typeface="Times New Roman" pitchFamily="18" charset="0"/>
                    <a:ea typeface="华文新魏" pitchFamily="2" charset="-122"/>
                  </a:rPr>
                  <a:t>000 </a:t>
                </a:r>
                <a:r>
                  <a:rPr lang="zh-CN" altLang="en-US" sz="1600">
                    <a:latin typeface="Times New Roman" pitchFamily="18" charset="0"/>
                    <a:ea typeface="华文新魏" pitchFamily="2" charset="-122"/>
                  </a:rPr>
                  <a:t>：</a:t>
                </a:r>
                <a:r>
                  <a:rPr lang="en-US" altLang="zh-CN" sz="1600">
                    <a:latin typeface="Times New Roman" pitchFamily="18" charset="0"/>
                    <a:ea typeface="华文新魏" pitchFamily="2" charset="-122"/>
                  </a:rPr>
                  <a:t>Modem </a:t>
                </a:r>
              </a:p>
            </p:txBody>
          </p:sp>
        </p:grpSp>
      </p:grpSp>
      <p:sp>
        <p:nvSpPr>
          <p:cNvPr id="746541" name="Text Box 45"/>
          <p:cNvSpPr txBox="1">
            <a:spLocks noChangeArrowheads="1"/>
          </p:cNvSpPr>
          <p:nvPr/>
        </p:nvSpPr>
        <p:spPr bwMode="auto">
          <a:xfrm>
            <a:off x="1924051" y="6075364"/>
            <a:ext cx="4333875" cy="396875"/>
          </a:xfrm>
          <a:prstGeom prst="rect">
            <a:avLst/>
          </a:prstGeom>
          <a:noFill/>
          <a:ln w="19050" algn="ctr">
            <a:noFill/>
            <a:miter lim="800000"/>
            <a:headEnd/>
            <a:tailEnd/>
          </a:ln>
          <a:effectLst/>
        </p:spPr>
        <p:txBody>
          <a:bodyPr wrap="none">
            <a:spAutoFit/>
          </a:bodyPr>
          <a:lstStyle/>
          <a:p>
            <a:r>
              <a:rPr lang="zh-CN" altLang="en-US" sz="2000">
                <a:solidFill>
                  <a:srgbClr val="FF0000"/>
                </a:solidFill>
                <a:latin typeface="Times New Roman" pitchFamily="18" charset="0"/>
                <a:ea typeface="华文新魏" pitchFamily="2" charset="-122"/>
              </a:rPr>
              <a:t>注意：</a:t>
            </a:r>
            <a:r>
              <a:rPr lang="zh-CN" altLang="en-US" sz="2000">
                <a:latin typeface="Times New Roman" pitchFamily="18" charset="0"/>
                <a:ea typeface="华文新魏" pitchFamily="2" charset="-122"/>
              </a:rPr>
              <a:t>只有</a:t>
            </a:r>
            <a:r>
              <a:rPr lang="en-US" altLang="zh-CN" sz="2000">
                <a:latin typeface="Times New Roman" pitchFamily="18" charset="0"/>
                <a:ea typeface="华文新魏" pitchFamily="2" charset="-122"/>
              </a:rPr>
              <a:t>UART1</a:t>
            </a:r>
            <a:r>
              <a:rPr lang="zh-CN" altLang="en-US" sz="2000">
                <a:latin typeface="Times New Roman" pitchFamily="18" charset="0"/>
                <a:ea typeface="华文新魏" pitchFamily="2" charset="-122"/>
              </a:rPr>
              <a:t>具有</a:t>
            </a:r>
            <a:r>
              <a:rPr lang="en-US" altLang="zh-CN" sz="2000">
                <a:latin typeface="Times New Roman" pitchFamily="18" charset="0"/>
                <a:ea typeface="华文新魏" pitchFamily="2" charset="-122"/>
              </a:rPr>
              <a:t>Modem</a:t>
            </a:r>
            <a:r>
              <a:rPr lang="zh-CN" altLang="en-US" sz="2000">
                <a:latin typeface="Times New Roman" pitchFamily="18" charset="0"/>
                <a:ea typeface="华文新魏" pitchFamily="2" charset="-122"/>
              </a:rPr>
              <a:t>中断。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746499"/>
                                        </p:tgtEl>
                                        <p:attrNameLst>
                                          <p:attrName>style.visibility</p:attrName>
                                        </p:attrNameLst>
                                      </p:cBhvr>
                                      <p:to>
                                        <p:strVal val="visible"/>
                                      </p:to>
                                    </p:set>
                                    <p:animEffect transition="in" filter="strips(downRight)">
                                      <p:cBhvr>
                                        <p:cTn id="7" dur="500"/>
                                        <p:tgtEl>
                                          <p:spTgt spid="746499"/>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746500"/>
                                        </p:tgtEl>
                                        <p:attrNameLst>
                                          <p:attrName>style.visibility</p:attrName>
                                        </p:attrNameLst>
                                      </p:cBhvr>
                                      <p:to>
                                        <p:strVal val="visible"/>
                                      </p:to>
                                    </p:set>
                                    <p:animEffect transition="in" filter="strips(downRight)">
                                      <p:cBhvr>
                                        <p:cTn id="11" dur="500"/>
                                        <p:tgtEl>
                                          <p:spTgt spid="746500"/>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46541"/>
                                        </p:tgtEl>
                                        <p:attrNameLst>
                                          <p:attrName>style.visibility</p:attrName>
                                        </p:attrNameLst>
                                      </p:cBhvr>
                                      <p:to>
                                        <p:strVal val="visible"/>
                                      </p:to>
                                    </p:set>
                                    <p:animEffect transition="in" filter="wipe(left)">
                                      <p:cBhvr>
                                        <p:cTn id="15" dur="500"/>
                                        <p:tgtEl>
                                          <p:spTgt spid="7465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6499" grpId="0"/>
      <p:bldP spid="746541"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22" name="Rectangle 2"/>
          <p:cNvSpPr>
            <a:spLocks noChangeArrowheads="1"/>
          </p:cNvSpPr>
          <p:nvPr/>
        </p:nvSpPr>
        <p:spPr bwMode="auto">
          <a:xfrm>
            <a:off x="2133600" y="698500"/>
            <a:ext cx="7772400" cy="1143000"/>
          </a:xfrm>
          <a:prstGeom prst="rect">
            <a:avLst/>
          </a:prstGeom>
          <a:noFill/>
          <a:ln w="9525">
            <a:noFill/>
            <a:miter lim="800000"/>
            <a:headEnd/>
            <a:tailEnd/>
          </a:ln>
          <a:effectLst/>
        </p:spPr>
        <p:txBody>
          <a:bodyPr anchor="ctr"/>
          <a:lstStyle/>
          <a:p>
            <a:r>
              <a:rPr lang="en-US" altLang="zh-CN" sz="4400">
                <a:solidFill>
                  <a:schemeClr val="tx2"/>
                </a:solidFill>
                <a:latin typeface="Times New Roman" pitchFamily="18" charset="0"/>
              </a:rPr>
              <a:t>UART</a:t>
            </a:r>
            <a:r>
              <a:rPr lang="zh-CN" altLang="en-US" sz="4400">
                <a:solidFill>
                  <a:schemeClr val="tx2"/>
                </a:solidFill>
                <a:latin typeface="Times New Roman" pitchFamily="18" charset="0"/>
              </a:rPr>
              <a:t>中断</a:t>
            </a:r>
          </a:p>
        </p:txBody>
      </p:sp>
      <p:sp>
        <p:nvSpPr>
          <p:cNvPr id="747523" name="Rectangle 3"/>
          <p:cNvSpPr>
            <a:spLocks noChangeArrowheads="1"/>
          </p:cNvSpPr>
          <p:nvPr/>
        </p:nvSpPr>
        <p:spPr bwMode="auto">
          <a:xfrm>
            <a:off x="2209800" y="1776413"/>
            <a:ext cx="5060950" cy="576262"/>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ea typeface="华文新魏" pitchFamily="2" charset="-122"/>
              </a:rPr>
              <a:t>UART</a:t>
            </a:r>
            <a:r>
              <a:rPr lang="zh-CN" altLang="en-US" sz="3200">
                <a:latin typeface="Times New Roman" pitchFamily="18" charset="0"/>
                <a:ea typeface="华文新魏" pitchFamily="2" charset="-122"/>
              </a:rPr>
              <a:t>中断示意图</a:t>
            </a:r>
          </a:p>
        </p:txBody>
      </p:sp>
      <p:sp>
        <p:nvSpPr>
          <p:cNvPr id="747524" name="Text Box 4"/>
          <p:cNvSpPr txBox="1">
            <a:spLocks noChangeArrowheads="1"/>
          </p:cNvSpPr>
          <p:nvPr/>
        </p:nvSpPr>
        <p:spPr bwMode="auto">
          <a:xfrm>
            <a:off x="1924051" y="6075364"/>
            <a:ext cx="4333875" cy="396875"/>
          </a:xfrm>
          <a:prstGeom prst="rect">
            <a:avLst/>
          </a:prstGeom>
          <a:noFill/>
          <a:ln w="19050" algn="ctr">
            <a:noFill/>
            <a:miter lim="800000"/>
            <a:headEnd/>
            <a:tailEnd/>
          </a:ln>
          <a:effectLst/>
        </p:spPr>
        <p:txBody>
          <a:bodyPr wrap="none">
            <a:spAutoFit/>
          </a:bodyPr>
          <a:lstStyle/>
          <a:p>
            <a:r>
              <a:rPr lang="zh-CN" altLang="en-US" sz="2000">
                <a:solidFill>
                  <a:srgbClr val="FF0000"/>
                </a:solidFill>
                <a:latin typeface="Times New Roman" pitchFamily="18" charset="0"/>
                <a:ea typeface="华文新魏" pitchFamily="2" charset="-122"/>
              </a:rPr>
              <a:t>注意：</a:t>
            </a:r>
            <a:r>
              <a:rPr lang="zh-CN" altLang="en-US" sz="2000">
                <a:latin typeface="Times New Roman" pitchFamily="18" charset="0"/>
                <a:ea typeface="华文新魏" pitchFamily="2" charset="-122"/>
              </a:rPr>
              <a:t>只有</a:t>
            </a:r>
            <a:r>
              <a:rPr lang="en-US" altLang="zh-CN" sz="2000">
                <a:latin typeface="Times New Roman" pitchFamily="18" charset="0"/>
                <a:ea typeface="华文新魏" pitchFamily="2" charset="-122"/>
              </a:rPr>
              <a:t>UART1</a:t>
            </a:r>
            <a:r>
              <a:rPr lang="zh-CN" altLang="en-US" sz="2000">
                <a:latin typeface="Times New Roman" pitchFamily="18" charset="0"/>
                <a:ea typeface="华文新魏" pitchFamily="2" charset="-122"/>
              </a:rPr>
              <a:t>具有</a:t>
            </a:r>
            <a:r>
              <a:rPr lang="en-US" altLang="zh-CN" sz="2000">
                <a:latin typeface="Times New Roman" pitchFamily="18" charset="0"/>
                <a:ea typeface="华文新魏" pitchFamily="2" charset="-122"/>
              </a:rPr>
              <a:t>Modem</a:t>
            </a:r>
            <a:r>
              <a:rPr lang="zh-CN" altLang="en-US" sz="2000">
                <a:latin typeface="Times New Roman" pitchFamily="18" charset="0"/>
                <a:ea typeface="华文新魏" pitchFamily="2" charset="-122"/>
              </a:rPr>
              <a:t>中断。</a:t>
            </a:r>
          </a:p>
        </p:txBody>
      </p:sp>
      <p:grpSp>
        <p:nvGrpSpPr>
          <p:cNvPr id="747525" name="Group 5"/>
          <p:cNvGrpSpPr>
            <a:grpSpLocks/>
          </p:cNvGrpSpPr>
          <p:nvPr/>
        </p:nvGrpSpPr>
        <p:grpSpPr bwMode="auto">
          <a:xfrm>
            <a:off x="2817813" y="2333625"/>
            <a:ext cx="6538912" cy="3638550"/>
            <a:chOff x="815" y="1470"/>
            <a:chExt cx="4119" cy="2292"/>
          </a:xfrm>
        </p:grpSpPr>
        <p:sp>
          <p:nvSpPr>
            <p:cNvPr id="747526" name="Rectangle 6"/>
            <p:cNvSpPr>
              <a:spLocks noChangeArrowheads="1"/>
            </p:cNvSpPr>
            <p:nvPr/>
          </p:nvSpPr>
          <p:spPr bwMode="auto">
            <a:xfrm>
              <a:off x="3726" y="2014"/>
              <a:ext cx="1169" cy="1748"/>
            </a:xfrm>
            <a:prstGeom prst="rect">
              <a:avLst/>
            </a:prstGeom>
            <a:solidFill>
              <a:schemeClr val="bg1"/>
            </a:solidFill>
            <a:ln w="9525" algn="ctr">
              <a:solidFill>
                <a:schemeClr val="tx1"/>
              </a:solidFill>
              <a:miter lim="800000"/>
              <a:headEnd/>
              <a:tailEnd/>
            </a:ln>
            <a:effectLst/>
          </p:spPr>
          <p:txBody>
            <a:bodyPr wrap="none" anchor="ctr"/>
            <a:lstStyle/>
            <a:p>
              <a:endParaRPr lang="zh-CN" altLang="en-US"/>
            </a:p>
          </p:txBody>
        </p:sp>
        <p:sp>
          <p:nvSpPr>
            <p:cNvPr id="747527" name="Rectangle 7"/>
            <p:cNvSpPr>
              <a:spLocks noChangeArrowheads="1"/>
            </p:cNvSpPr>
            <p:nvPr/>
          </p:nvSpPr>
          <p:spPr bwMode="auto">
            <a:xfrm flipH="1">
              <a:off x="1819" y="1838"/>
              <a:ext cx="1770" cy="1924"/>
            </a:xfrm>
            <a:prstGeom prst="rect">
              <a:avLst/>
            </a:prstGeom>
            <a:solidFill>
              <a:schemeClr val="bg1"/>
            </a:solidFill>
            <a:ln w="9525" algn="ctr">
              <a:solidFill>
                <a:schemeClr val="tx1"/>
              </a:solidFill>
              <a:miter lim="800000"/>
              <a:headEnd/>
              <a:tailEnd/>
            </a:ln>
            <a:effectLst/>
          </p:spPr>
          <p:txBody>
            <a:bodyPr wrap="none" anchor="ctr"/>
            <a:lstStyle/>
            <a:p>
              <a:endParaRPr lang="zh-CN" altLang="en-US"/>
            </a:p>
          </p:txBody>
        </p:sp>
        <p:sp>
          <p:nvSpPr>
            <p:cNvPr id="747528" name="Text Box 8"/>
            <p:cNvSpPr txBox="1">
              <a:spLocks noChangeArrowheads="1"/>
            </p:cNvSpPr>
            <p:nvPr/>
          </p:nvSpPr>
          <p:spPr bwMode="auto">
            <a:xfrm>
              <a:off x="2008" y="1470"/>
              <a:ext cx="1359" cy="366"/>
            </a:xfrm>
            <a:prstGeom prst="rect">
              <a:avLst/>
            </a:prstGeom>
            <a:noFill/>
            <a:ln w="9525" algn="ctr">
              <a:noFill/>
              <a:miter lim="800000"/>
              <a:headEnd/>
              <a:tailEnd/>
            </a:ln>
            <a:effectLst/>
          </p:spPr>
          <p:txBody>
            <a:bodyPr wrap="none">
              <a:spAutoFit/>
            </a:bodyPr>
            <a:lstStyle/>
            <a:p>
              <a:r>
                <a:rPr lang="en-US" altLang="zh-CN" sz="1600">
                  <a:latin typeface="Times New Roman" pitchFamily="18" charset="0"/>
                  <a:ea typeface="华文新魏" pitchFamily="2" charset="-122"/>
                </a:rPr>
                <a:t>UART</a:t>
              </a:r>
              <a:r>
                <a:rPr lang="zh-CN" altLang="en-US" sz="1600">
                  <a:latin typeface="Times New Roman" pitchFamily="18" charset="0"/>
                  <a:ea typeface="华文新魏" pitchFamily="2" charset="-122"/>
                </a:rPr>
                <a:t>中断使能寄存器</a:t>
              </a:r>
            </a:p>
            <a:p>
              <a:r>
                <a:rPr lang="en-US" altLang="zh-CN" sz="1600">
                  <a:latin typeface="Times New Roman" pitchFamily="18" charset="0"/>
                  <a:ea typeface="华文新魏" pitchFamily="2" charset="-122"/>
                </a:rPr>
                <a:t>UnIER</a:t>
              </a:r>
            </a:p>
          </p:txBody>
        </p:sp>
        <p:sp>
          <p:nvSpPr>
            <p:cNvPr id="747529" name="Text Box 9"/>
            <p:cNvSpPr txBox="1">
              <a:spLocks noChangeArrowheads="1"/>
            </p:cNvSpPr>
            <p:nvPr/>
          </p:nvSpPr>
          <p:spPr bwMode="auto">
            <a:xfrm>
              <a:off x="3575" y="1605"/>
              <a:ext cx="1359" cy="366"/>
            </a:xfrm>
            <a:prstGeom prst="rect">
              <a:avLst/>
            </a:prstGeom>
            <a:noFill/>
            <a:ln w="9525" algn="ctr">
              <a:noFill/>
              <a:miter lim="800000"/>
              <a:headEnd/>
              <a:tailEnd/>
            </a:ln>
            <a:effectLst/>
          </p:spPr>
          <p:txBody>
            <a:bodyPr wrap="none">
              <a:spAutoFit/>
            </a:bodyPr>
            <a:lstStyle/>
            <a:p>
              <a:r>
                <a:rPr lang="en-US" altLang="zh-CN" sz="1600">
                  <a:latin typeface="Times New Roman" pitchFamily="18" charset="0"/>
                  <a:ea typeface="华文新魏" pitchFamily="2" charset="-122"/>
                </a:rPr>
                <a:t>UART</a:t>
              </a:r>
              <a:r>
                <a:rPr lang="zh-CN" altLang="en-US" sz="1600">
                  <a:latin typeface="Times New Roman" pitchFamily="18" charset="0"/>
                  <a:ea typeface="华文新魏" pitchFamily="2" charset="-122"/>
                </a:rPr>
                <a:t>中断标志寄存器</a:t>
              </a:r>
            </a:p>
            <a:p>
              <a:r>
                <a:rPr lang="en-US" altLang="zh-CN" sz="1600">
                  <a:latin typeface="Times New Roman" pitchFamily="18" charset="0"/>
                  <a:ea typeface="华文新魏" pitchFamily="2" charset="-122"/>
                </a:rPr>
                <a:t>UnIIR[3:1]</a:t>
              </a:r>
            </a:p>
          </p:txBody>
        </p:sp>
        <p:sp>
          <p:nvSpPr>
            <p:cNvPr id="747530" name="Rectangle 10"/>
            <p:cNvSpPr>
              <a:spLocks noChangeArrowheads="1"/>
            </p:cNvSpPr>
            <p:nvPr/>
          </p:nvSpPr>
          <p:spPr bwMode="auto">
            <a:xfrm>
              <a:off x="1863" y="1892"/>
              <a:ext cx="1636" cy="212"/>
            </a:xfrm>
            <a:prstGeom prst="rect">
              <a:avLst/>
            </a:prstGeom>
            <a:noFill/>
            <a:ln w="9525" algn="ctr">
              <a:noFill/>
              <a:miter lim="800000"/>
              <a:headEnd/>
              <a:tailEnd/>
            </a:ln>
            <a:effectLst/>
          </p:spPr>
          <p:txBody>
            <a:bodyPr anchor="ctr">
              <a:spAutoFit/>
            </a:bodyPr>
            <a:lstStyle/>
            <a:p>
              <a:pPr algn="l"/>
              <a:r>
                <a:rPr lang="en-US" altLang="zh-CN" sz="1600">
                  <a:latin typeface="Times New Roman" pitchFamily="18" charset="0"/>
                  <a:ea typeface="华文新魏" pitchFamily="2" charset="-122"/>
                </a:rPr>
                <a:t>Bit0</a:t>
              </a:r>
              <a:r>
                <a:rPr lang="zh-CN" altLang="en-US" sz="1600">
                  <a:latin typeface="Times New Roman" pitchFamily="18" charset="0"/>
                  <a:ea typeface="华文新魏" pitchFamily="2" charset="-122"/>
                </a:rPr>
                <a:t>：</a:t>
              </a:r>
              <a:r>
                <a:rPr lang="en-US" altLang="zh-CN" sz="1600">
                  <a:latin typeface="Times New Roman" pitchFamily="18" charset="0"/>
                  <a:ea typeface="华文新魏" pitchFamily="2" charset="-122"/>
                </a:rPr>
                <a:t>RBR</a:t>
              </a:r>
              <a:r>
                <a:rPr lang="zh-CN" altLang="en-US" sz="1600">
                  <a:latin typeface="Times New Roman" pitchFamily="18" charset="0"/>
                  <a:ea typeface="华文新魏" pitchFamily="2" charset="-122"/>
                </a:rPr>
                <a:t>中断使能 </a:t>
              </a:r>
            </a:p>
          </p:txBody>
        </p:sp>
        <p:sp>
          <p:nvSpPr>
            <p:cNvPr id="747531" name="Rectangle 11"/>
            <p:cNvSpPr>
              <a:spLocks noChangeArrowheads="1"/>
            </p:cNvSpPr>
            <p:nvPr/>
          </p:nvSpPr>
          <p:spPr bwMode="auto">
            <a:xfrm>
              <a:off x="2432" y="2133"/>
              <a:ext cx="432" cy="173"/>
            </a:xfrm>
            <a:prstGeom prst="rect">
              <a:avLst/>
            </a:prstGeom>
            <a:solidFill>
              <a:schemeClr val="bg1"/>
            </a:solidFill>
            <a:ln w="9525" algn="ctr">
              <a:solidFill>
                <a:srgbClr val="FF0000"/>
              </a:solidFill>
              <a:prstDash val="dash"/>
              <a:miter lim="800000"/>
              <a:headEnd/>
              <a:tailEnd/>
            </a:ln>
            <a:effectLst/>
          </p:spPr>
          <p:txBody>
            <a:bodyPr wrap="none" anchor="ctr"/>
            <a:lstStyle/>
            <a:p>
              <a:endParaRPr lang="zh-CN" altLang="en-US"/>
            </a:p>
          </p:txBody>
        </p:sp>
        <p:sp>
          <p:nvSpPr>
            <p:cNvPr id="747532" name="Line 12"/>
            <p:cNvSpPr>
              <a:spLocks noChangeShapeType="1"/>
            </p:cNvSpPr>
            <p:nvPr/>
          </p:nvSpPr>
          <p:spPr bwMode="auto">
            <a:xfrm>
              <a:off x="1425" y="2262"/>
              <a:ext cx="1140" cy="0"/>
            </a:xfrm>
            <a:prstGeom prst="line">
              <a:avLst/>
            </a:prstGeom>
            <a:noFill/>
            <a:ln w="9525">
              <a:solidFill>
                <a:schemeClr val="tx1"/>
              </a:solidFill>
              <a:round/>
              <a:headEnd/>
              <a:tailEnd type="oval" w="sm" len="sm"/>
            </a:ln>
            <a:effectLst/>
          </p:spPr>
          <p:txBody>
            <a:bodyPr wrap="none" anchor="ctr"/>
            <a:lstStyle/>
            <a:p>
              <a:endParaRPr lang="zh-CN" altLang="en-US"/>
            </a:p>
          </p:txBody>
        </p:sp>
        <p:sp>
          <p:nvSpPr>
            <p:cNvPr id="747533" name="Line 13"/>
            <p:cNvSpPr>
              <a:spLocks noChangeShapeType="1"/>
            </p:cNvSpPr>
            <p:nvPr/>
          </p:nvSpPr>
          <p:spPr bwMode="auto">
            <a:xfrm>
              <a:off x="2765" y="2262"/>
              <a:ext cx="1267" cy="0"/>
            </a:xfrm>
            <a:prstGeom prst="line">
              <a:avLst/>
            </a:prstGeom>
            <a:noFill/>
            <a:ln w="9525">
              <a:solidFill>
                <a:schemeClr val="tx1"/>
              </a:solidFill>
              <a:round/>
              <a:headEnd type="oval" w="sm" len="sm"/>
              <a:tailEnd/>
            </a:ln>
            <a:effectLst/>
          </p:spPr>
          <p:txBody>
            <a:bodyPr wrap="none" anchor="ctr"/>
            <a:lstStyle/>
            <a:p>
              <a:endParaRPr lang="zh-CN" altLang="en-US"/>
            </a:p>
          </p:txBody>
        </p:sp>
        <p:sp>
          <p:nvSpPr>
            <p:cNvPr id="747534" name="Line 14"/>
            <p:cNvSpPr>
              <a:spLocks noChangeShapeType="1"/>
            </p:cNvSpPr>
            <p:nvPr/>
          </p:nvSpPr>
          <p:spPr bwMode="auto">
            <a:xfrm flipV="1">
              <a:off x="2562" y="2241"/>
              <a:ext cx="223" cy="19"/>
            </a:xfrm>
            <a:prstGeom prst="line">
              <a:avLst/>
            </a:prstGeom>
            <a:noFill/>
            <a:ln w="9525">
              <a:solidFill>
                <a:srgbClr val="FF0000"/>
              </a:solidFill>
              <a:round/>
              <a:headEnd/>
              <a:tailEnd/>
            </a:ln>
            <a:effectLst/>
          </p:spPr>
          <p:txBody>
            <a:bodyPr wrap="none" anchor="ctr"/>
            <a:lstStyle/>
            <a:p>
              <a:endParaRPr lang="zh-CN" altLang="en-US"/>
            </a:p>
          </p:txBody>
        </p:sp>
        <p:sp>
          <p:nvSpPr>
            <p:cNvPr id="747535" name="Line 15"/>
            <p:cNvSpPr>
              <a:spLocks noChangeShapeType="1"/>
            </p:cNvSpPr>
            <p:nvPr/>
          </p:nvSpPr>
          <p:spPr bwMode="auto">
            <a:xfrm>
              <a:off x="2653" y="2058"/>
              <a:ext cx="0" cy="153"/>
            </a:xfrm>
            <a:prstGeom prst="line">
              <a:avLst/>
            </a:prstGeom>
            <a:noFill/>
            <a:ln w="9525">
              <a:solidFill>
                <a:schemeClr val="tx1"/>
              </a:solidFill>
              <a:round/>
              <a:headEnd/>
              <a:tailEnd type="triangle" w="sm" len="sm"/>
            </a:ln>
            <a:effectLst/>
          </p:spPr>
          <p:txBody>
            <a:bodyPr wrap="none" anchor="ctr"/>
            <a:lstStyle/>
            <a:p>
              <a:endParaRPr lang="zh-CN" altLang="en-US"/>
            </a:p>
          </p:txBody>
        </p:sp>
        <p:sp>
          <p:nvSpPr>
            <p:cNvPr id="747536" name="Rectangle 16"/>
            <p:cNvSpPr>
              <a:spLocks noChangeArrowheads="1"/>
            </p:cNvSpPr>
            <p:nvPr/>
          </p:nvSpPr>
          <p:spPr bwMode="auto">
            <a:xfrm>
              <a:off x="815" y="2137"/>
              <a:ext cx="873" cy="227"/>
            </a:xfrm>
            <a:prstGeom prst="rect">
              <a:avLst/>
            </a:prstGeom>
            <a:solidFill>
              <a:srgbClr val="CCFFFF"/>
            </a:solidFill>
            <a:ln w="9525" algn="ctr">
              <a:solidFill>
                <a:schemeClr val="tx1"/>
              </a:solidFill>
              <a:miter lim="800000"/>
              <a:headEnd/>
              <a:tailEnd/>
            </a:ln>
            <a:effectLst/>
          </p:spPr>
          <p:txBody>
            <a:bodyPr wrap="none" anchor="ctr"/>
            <a:lstStyle/>
            <a:p>
              <a:r>
                <a:rPr lang="zh-CN" altLang="en-US" sz="1600">
                  <a:latin typeface="Times New Roman" pitchFamily="18" charset="0"/>
                  <a:ea typeface="华文新魏" pitchFamily="2" charset="-122"/>
                </a:rPr>
                <a:t>接收中断 </a:t>
              </a:r>
            </a:p>
          </p:txBody>
        </p:sp>
        <p:sp>
          <p:nvSpPr>
            <p:cNvPr id="747537" name="Rectangle 17"/>
            <p:cNvSpPr>
              <a:spLocks noChangeArrowheads="1"/>
            </p:cNvSpPr>
            <p:nvPr/>
          </p:nvSpPr>
          <p:spPr bwMode="auto">
            <a:xfrm>
              <a:off x="3859" y="2107"/>
              <a:ext cx="916" cy="292"/>
            </a:xfrm>
            <a:prstGeom prst="rect">
              <a:avLst/>
            </a:prstGeom>
            <a:solidFill>
              <a:srgbClr val="CCFFFF"/>
            </a:solidFill>
            <a:ln w="9525" algn="ctr">
              <a:solidFill>
                <a:schemeClr val="tx1"/>
              </a:solidFill>
              <a:miter lim="800000"/>
              <a:headEnd/>
              <a:tailEnd/>
            </a:ln>
            <a:effectLst/>
          </p:spPr>
          <p:txBody>
            <a:bodyPr wrap="none" anchor="ctr"/>
            <a:lstStyle/>
            <a:p>
              <a:pPr algn="l"/>
              <a:r>
                <a:rPr lang="en-US" altLang="zh-CN" sz="1600">
                  <a:latin typeface="Times New Roman" pitchFamily="18" charset="0"/>
                  <a:ea typeface="华文新魏" pitchFamily="2" charset="-122"/>
                </a:rPr>
                <a:t>010 </a:t>
              </a:r>
              <a:r>
                <a:rPr lang="zh-CN" altLang="en-US" sz="1600">
                  <a:latin typeface="Times New Roman" pitchFamily="18" charset="0"/>
                  <a:ea typeface="华文新魏" pitchFamily="2" charset="-122"/>
                </a:rPr>
                <a:t>：</a:t>
              </a:r>
              <a:r>
                <a:rPr lang="en-US" altLang="zh-CN" sz="1600">
                  <a:latin typeface="Times New Roman" pitchFamily="18" charset="0"/>
                  <a:ea typeface="华文新魏" pitchFamily="2" charset="-122"/>
                </a:rPr>
                <a:t>RDA</a:t>
              </a:r>
            </a:p>
            <a:p>
              <a:pPr algn="l"/>
              <a:r>
                <a:rPr lang="en-US" altLang="zh-CN" sz="1600">
                  <a:latin typeface="Times New Roman" pitchFamily="18" charset="0"/>
                  <a:ea typeface="华文新魏" pitchFamily="2" charset="-122"/>
                </a:rPr>
                <a:t>110 </a:t>
              </a:r>
              <a:r>
                <a:rPr lang="zh-CN" altLang="en-US" sz="1600">
                  <a:latin typeface="Times New Roman" pitchFamily="18" charset="0"/>
                  <a:ea typeface="华文新魏" pitchFamily="2" charset="-122"/>
                </a:rPr>
                <a:t>：</a:t>
              </a:r>
              <a:r>
                <a:rPr lang="en-US" altLang="zh-CN" sz="1600">
                  <a:latin typeface="Times New Roman" pitchFamily="18" charset="0"/>
                  <a:ea typeface="华文新魏" pitchFamily="2" charset="-122"/>
                </a:rPr>
                <a:t>CTI</a:t>
              </a:r>
            </a:p>
          </p:txBody>
        </p:sp>
        <p:sp>
          <p:nvSpPr>
            <p:cNvPr id="747538" name="Rectangle 18"/>
            <p:cNvSpPr>
              <a:spLocks noChangeArrowheads="1"/>
            </p:cNvSpPr>
            <p:nvPr/>
          </p:nvSpPr>
          <p:spPr bwMode="auto">
            <a:xfrm>
              <a:off x="1863" y="2315"/>
              <a:ext cx="1617" cy="212"/>
            </a:xfrm>
            <a:prstGeom prst="rect">
              <a:avLst/>
            </a:prstGeom>
            <a:noFill/>
            <a:ln w="9525" algn="ctr">
              <a:noFill/>
              <a:miter lim="800000"/>
              <a:headEnd/>
              <a:tailEnd/>
            </a:ln>
            <a:effectLst/>
          </p:spPr>
          <p:txBody>
            <a:bodyPr anchor="ctr">
              <a:spAutoFit/>
            </a:bodyPr>
            <a:lstStyle/>
            <a:p>
              <a:pPr algn="l"/>
              <a:r>
                <a:rPr lang="en-US" altLang="zh-CN" sz="1600">
                  <a:latin typeface="Times New Roman" pitchFamily="18" charset="0"/>
                  <a:ea typeface="华文新魏" pitchFamily="2" charset="-122"/>
                </a:rPr>
                <a:t>Bit1</a:t>
              </a:r>
              <a:r>
                <a:rPr lang="zh-CN" altLang="en-US" sz="1600">
                  <a:latin typeface="Times New Roman" pitchFamily="18" charset="0"/>
                  <a:ea typeface="华文新魏" pitchFamily="2" charset="-122"/>
                </a:rPr>
                <a:t>：</a:t>
              </a:r>
              <a:r>
                <a:rPr lang="en-US" altLang="zh-CN" sz="1600">
                  <a:latin typeface="Times New Roman" pitchFamily="18" charset="0"/>
                  <a:ea typeface="华文新魏" pitchFamily="2" charset="-122"/>
                </a:rPr>
                <a:t>THRE</a:t>
              </a:r>
              <a:r>
                <a:rPr lang="zh-CN" altLang="en-US" sz="1600">
                  <a:latin typeface="Times New Roman" pitchFamily="18" charset="0"/>
                  <a:ea typeface="华文新魏" pitchFamily="2" charset="-122"/>
                </a:rPr>
                <a:t>中断使能 </a:t>
              </a:r>
            </a:p>
          </p:txBody>
        </p:sp>
        <p:sp>
          <p:nvSpPr>
            <p:cNvPr id="747539" name="Rectangle 19"/>
            <p:cNvSpPr>
              <a:spLocks noChangeArrowheads="1"/>
            </p:cNvSpPr>
            <p:nvPr/>
          </p:nvSpPr>
          <p:spPr bwMode="auto">
            <a:xfrm>
              <a:off x="2432" y="2579"/>
              <a:ext cx="432" cy="173"/>
            </a:xfrm>
            <a:prstGeom prst="rect">
              <a:avLst/>
            </a:prstGeom>
            <a:solidFill>
              <a:schemeClr val="bg1"/>
            </a:solidFill>
            <a:ln w="9525" algn="ctr">
              <a:solidFill>
                <a:srgbClr val="FF0000"/>
              </a:solidFill>
              <a:prstDash val="dash"/>
              <a:miter lim="800000"/>
              <a:headEnd/>
              <a:tailEnd/>
            </a:ln>
            <a:effectLst/>
          </p:spPr>
          <p:txBody>
            <a:bodyPr wrap="none" anchor="ctr"/>
            <a:lstStyle/>
            <a:p>
              <a:endParaRPr lang="zh-CN" altLang="en-US"/>
            </a:p>
          </p:txBody>
        </p:sp>
        <p:sp>
          <p:nvSpPr>
            <p:cNvPr id="747540" name="Line 20"/>
            <p:cNvSpPr>
              <a:spLocks noChangeShapeType="1"/>
            </p:cNvSpPr>
            <p:nvPr/>
          </p:nvSpPr>
          <p:spPr bwMode="auto">
            <a:xfrm>
              <a:off x="2765" y="2708"/>
              <a:ext cx="1361" cy="0"/>
            </a:xfrm>
            <a:prstGeom prst="line">
              <a:avLst/>
            </a:prstGeom>
            <a:noFill/>
            <a:ln w="9525">
              <a:solidFill>
                <a:schemeClr val="tx1"/>
              </a:solidFill>
              <a:round/>
              <a:headEnd type="oval" w="sm" len="sm"/>
              <a:tailEnd/>
            </a:ln>
            <a:effectLst/>
          </p:spPr>
          <p:txBody>
            <a:bodyPr wrap="none" anchor="ctr"/>
            <a:lstStyle/>
            <a:p>
              <a:endParaRPr lang="zh-CN" altLang="en-US"/>
            </a:p>
          </p:txBody>
        </p:sp>
        <p:sp>
          <p:nvSpPr>
            <p:cNvPr id="747541" name="Line 21"/>
            <p:cNvSpPr>
              <a:spLocks noChangeShapeType="1"/>
            </p:cNvSpPr>
            <p:nvPr/>
          </p:nvSpPr>
          <p:spPr bwMode="auto">
            <a:xfrm flipV="1">
              <a:off x="2567" y="2692"/>
              <a:ext cx="218" cy="14"/>
            </a:xfrm>
            <a:prstGeom prst="line">
              <a:avLst/>
            </a:prstGeom>
            <a:noFill/>
            <a:ln w="9525">
              <a:solidFill>
                <a:srgbClr val="FF0000"/>
              </a:solidFill>
              <a:round/>
              <a:headEnd type="none" w="sm" len="sm"/>
              <a:tailEnd/>
            </a:ln>
            <a:effectLst/>
          </p:spPr>
          <p:txBody>
            <a:bodyPr wrap="none" anchor="ctr"/>
            <a:lstStyle/>
            <a:p>
              <a:endParaRPr lang="zh-CN" altLang="en-US"/>
            </a:p>
          </p:txBody>
        </p:sp>
        <p:sp>
          <p:nvSpPr>
            <p:cNvPr id="747542" name="Line 22"/>
            <p:cNvSpPr>
              <a:spLocks noChangeShapeType="1"/>
            </p:cNvSpPr>
            <p:nvPr/>
          </p:nvSpPr>
          <p:spPr bwMode="auto">
            <a:xfrm>
              <a:off x="2653" y="2504"/>
              <a:ext cx="0" cy="153"/>
            </a:xfrm>
            <a:prstGeom prst="line">
              <a:avLst/>
            </a:prstGeom>
            <a:noFill/>
            <a:ln w="9525">
              <a:solidFill>
                <a:schemeClr val="tx1"/>
              </a:solidFill>
              <a:round/>
              <a:headEnd type="oval" w="sm" len="sm"/>
              <a:tailEnd type="triangle" w="sm" len="sm"/>
            </a:ln>
            <a:effectLst/>
          </p:spPr>
          <p:txBody>
            <a:bodyPr wrap="none" anchor="ctr"/>
            <a:lstStyle/>
            <a:p>
              <a:endParaRPr lang="zh-CN" altLang="en-US"/>
            </a:p>
          </p:txBody>
        </p:sp>
        <p:sp>
          <p:nvSpPr>
            <p:cNvPr id="747543" name="Rectangle 23"/>
            <p:cNvSpPr>
              <a:spLocks noChangeArrowheads="1"/>
            </p:cNvSpPr>
            <p:nvPr/>
          </p:nvSpPr>
          <p:spPr bwMode="auto">
            <a:xfrm>
              <a:off x="3859" y="2612"/>
              <a:ext cx="916" cy="181"/>
            </a:xfrm>
            <a:prstGeom prst="rect">
              <a:avLst/>
            </a:prstGeom>
            <a:solidFill>
              <a:srgbClr val="B9DCFF"/>
            </a:solidFill>
            <a:ln w="9525" algn="ctr">
              <a:solidFill>
                <a:schemeClr val="tx1"/>
              </a:solidFill>
              <a:miter lim="800000"/>
              <a:headEnd/>
              <a:tailEnd/>
            </a:ln>
            <a:effectLst/>
          </p:spPr>
          <p:txBody>
            <a:bodyPr wrap="none" anchor="ctr"/>
            <a:lstStyle/>
            <a:p>
              <a:pPr algn="l"/>
              <a:r>
                <a:rPr lang="en-US" altLang="zh-CN" sz="1600">
                  <a:latin typeface="Times New Roman" pitchFamily="18" charset="0"/>
                  <a:ea typeface="华文新魏" pitchFamily="2" charset="-122"/>
                </a:rPr>
                <a:t>001 </a:t>
              </a:r>
              <a:r>
                <a:rPr lang="zh-CN" altLang="en-US" sz="1600">
                  <a:latin typeface="Times New Roman" pitchFamily="18" charset="0"/>
                  <a:ea typeface="华文新魏" pitchFamily="2" charset="-122"/>
                </a:rPr>
                <a:t>：</a:t>
              </a:r>
              <a:r>
                <a:rPr lang="en-US" altLang="zh-CN" sz="1600">
                  <a:latin typeface="Times New Roman" pitchFamily="18" charset="0"/>
                  <a:ea typeface="华文新魏" pitchFamily="2" charset="-122"/>
                </a:rPr>
                <a:t>THRE </a:t>
              </a:r>
            </a:p>
          </p:txBody>
        </p:sp>
        <p:sp>
          <p:nvSpPr>
            <p:cNvPr id="747544" name="Rectangle 24"/>
            <p:cNvSpPr>
              <a:spLocks noChangeArrowheads="1"/>
            </p:cNvSpPr>
            <p:nvPr/>
          </p:nvSpPr>
          <p:spPr bwMode="auto">
            <a:xfrm>
              <a:off x="1863" y="2772"/>
              <a:ext cx="1705" cy="212"/>
            </a:xfrm>
            <a:prstGeom prst="rect">
              <a:avLst/>
            </a:prstGeom>
            <a:noFill/>
            <a:ln w="9525" algn="ctr">
              <a:noFill/>
              <a:miter lim="800000"/>
              <a:headEnd/>
              <a:tailEnd/>
            </a:ln>
            <a:effectLst/>
          </p:spPr>
          <p:txBody>
            <a:bodyPr anchor="ctr">
              <a:spAutoFit/>
            </a:bodyPr>
            <a:lstStyle/>
            <a:p>
              <a:pPr algn="l"/>
              <a:r>
                <a:rPr lang="en-US" altLang="zh-CN" sz="1600">
                  <a:latin typeface="Times New Roman" pitchFamily="18" charset="0"/>
                  <a:ea typeface="华文新魏" pitchFamily="2" charset="-122"/>
                </a:rPr>
                <a:t>Bit2</a:t>
              </a:r>
              <a:r>
                <a:rPr lang="zh-CN" altLang="en-US" sz="1600">
                  <a:latin typeface="Times New Roman" pitchFamily="18" charset="0"/>
                  <a:ea typeface="华文新魏" pitchFamily="2" charset="-122"/>
                </a:rPr>
                <a:t>：接收状态中断使能 </a:t>
              </a:r>
            </a:p>
          </p:txBody>
        </p:sp>
        <p:sp>
          <p:nvSpPr>
            <p:cNvPr id="747545" name="Rectangle 25"/>
            <p:cNvSpPr>
              <a:spLocks noChangeArrowheads="1"/>
            </p:cNvSpPr>
            <p:nvPr/>
          </p:nvSpPr>
          <p:spPr bwMode="auto">
            <a:xfrm>
              <a:off x="2417" y="3034"/>
              <a:ext cx="432" cy="173"/>
            </a:xfrm>
            <a:prstGeom prst="rect">
              <a:avLst/>
            </a:prstGeom>
            <a:solidFill>
              <a:schemeClr val="bg1"/>
            </a:solidFill>
            <a:ln w="9525" algn="ctr">
              <a:solidFill>
                <a:srgbClr val="FF0000"/>
              </a:solidFill>
              <a:prstDash val="dash"/>
              <a:miter lim="800000"/>
              <a:headEnd/>
              <a:tailEnd/>
            </a:ln>
            <a:effectLst/>
          </p:spPr>
          <p:txBody>
            <a:bodyPr wrap="none" anchor="ctr"/>
            <a:lstStyle/>
            <a:p>
              <a:endParaRPr lang="zh-CN" altLang="en-US"/>
            </a:p>
          </p:txBody>
        </p:sp>
        <p:sp>
          <p:nvSpPr>
            <p:cNvPr id="747546" name="Line 26"/>
            <p:cNvSpPr>
              <a:spLocks noChangeShapeType="1"/>
            </p:cNvSpPr>
            <p:nvPr/>
          </p:nvSpPr>
          <p:spPr bwMode="auto">
            <a:xfrm>
              <a:off x="2726" y="3163"/>
              <a:ext cx="1399" cy="0"/>
            </a:xfrm>
            <a:prstGeom prst="line">
              <a:avLst/>
            </a:prstGeom>
            <a:noFill/>
            <a:ln w="9525">
              <a:solidFill>
                <a:schemeClr val="tx1"/>
              </a:solidFill>
              <a:round/>
              <a:headEnd type="oval" w="sm" len="sm"/>
              <a:tailEnd/>
            </a:ln>
            <a:effectLst/>
          </p:spPr>
          <p:txBody>
            <a:bodyPr wrap="none" anchor="ctr"/>
            <a:lstStyle/>
            <a:p>
              <a:endParaRPr lang="zh-CN" altLang="en-US"/>
            </a:p>
          </p:txBody>
        </p:sp>
        <p:sp>
          <p:nvSpPr>
            <p:cNvPr id="747547" name="Line 27"/>
            <p:cNvSpPr>
              <a:spLocks noChangeShapeType="1"/>
            </p:cNvSpPr>
            <p:nvPr/>
          </p:nvSpPr>
          <p:spPr bwMode="auto">
            <a:xfrm flipV="1">
              <a:off x="2561" y="3137"/>
              <a:ext cx="176" cy="28"/>
            </a:xfrm>
            <a:prstGeom prst="line">
              <a:avLst/>
            </a:prstGeom>
            <a:noFill/>
            <a:ln w="9525">
              <a:solidFill>
                <a:srgbClr val="FF0000"/>
              </a:solidFill>
              <a:round/>
              <a:headEnd type="none" w="sm" len="sm"/>
              <a:tailEnd/>
            </a:ln>
            <a:effectLst/>
          </p:spPr>
          <p:txBody>
            <a:bodyPr wrap="none" anchor="ctr"/>
            <a:lstStyle/>
            <a:p>
              <a:endParaRPr lang="zh-CN" altLang="en-US"/>
            </a:p>
          </p:txBody>
        </p:sp>
        <p:sp>
          <p:nvSpPr>
            <p:cNvPr id="747548" name="Line 28"/>
            <p:cNvSpPr>
              <a:spLocks noChangeShapeType="1"/>
            </p:cNvSpPr>
            <p:nvPr/>
          </p:nvSpPr>
          <p:spPr bwMode="auto">
            <a:xfrm>
              <a:off x="2638" y="2959"/>
              <a:ext cx="0" cy="153"/>
            </a:xfrm>
            <a:prstGeom prst="line">
              <a:avLst/>
            </a:prstGeom>
            <a:noFill/>
            <a:ln w="9525">
              <a:solidFill>
                <a:schemeClr val="tx1"/>
              </a:solidFill>
              <a:round/>
              <a:headEnd type="oval" w="sm" len="sm"/>
              <a:tailEnd type="triangle" w="sm" len="sm"/>
            </a:ln>
            <a:effectLst/>
          </p:spPr>
          <p:txBody>
            <a:bodyPr wrap="none" anchor="ctr"/>
            <a:lstStyle/>
            <a:p>
              <a:endParaRPr lang="zh-CN" altLang="en-US"/>
            </a:p>
          </p:txBody>
        </p:sp>
        <p:sp>
          <p:nvSpPr>
            <p:cNvPr id="747549" name="Rectangle 29"/>
            <p:cNvSpPr>
              <a:spLocks noChangeArrowheads="1"/>
            </p:cNvSpPr>
            <p:nvPr/>
          </p:nvSpPr>
          <p:spPr bwMode="auto">
            <a:xfrm>
              <a:off x="3859" y="3069"/>
              <a:ext cx="916" cy="181"/>
            </a:xfrm>
            <a:prstGeom prst="rect">
              <a:avLst/>
            </a:prstGeom>
            <a:solidFill>
              <a:srgbClr val="CDE6FF"/>
            </a:solidFill>
            <a:ln w="9525" algn="ctr">
              <a:solidFill>
                <a:schemeClr val="tx1"/>
              </a:solidFill>
              <a:miter lim="800000"/>
              <a:headEnd/>
              <a:tailEnd/>
            </a:ln>
            <a:effectLst/>
          </p:spPr>
          <p:txBody>
            <a:bodyPr wrap="none" anchor="ctr"/>
            <a:lstStyle/>
            <a:p>
              <a:pPr algn="l"/>
              <a:r>
                <a:rPr lang="en-US" altLang="zh-CN" sz="1600">
                  <a:latin typeface="Times New Roman" pitchFamily="18" charset="0"/>
                  <a:ea typeface="华文新魏" pitchFamily="2" charset="-122"/>
                </a:rPr>
                <a:t>011 </a:t>
              </a:r>
              <a:r>
                <a:rPr lang="zh-CN" altLang="en-US" sz="1600">
                  <a:latin typeface="Times New Roman" pitchFamily="18" charset="0"/>
                  <a:ea typeface="华文新魏" pitchFamily="2" charset="-122"/>
                </a:rPr>
                <a:t>：</a:t>
              </a:r>
              <a:r>
                <a:rPr lang="en-US" altLang="zh-CN" sz="1600">
                  <a:latin typeface="Times New Roman" pitchFamily="18" charset="0"/>
                  <a:ea typeface="华文新魏" pitchFamily="2" charset="-122"/>
                </a:rPr>
                <a:t>RLS</a:t>
              </a:r>
            </a:p>
          </p:txBody>
        </p:sp>
        <p:sp>
          <p:nvSpPr>
            <p:cNvPr id="747550" name="Rectangle 30"/>
            <p:cNvSpPr>
              <a:spLocks noChangeArrowheads="1"/>
            </p:cNvSpPr>
            <p:nvPr/>
          </p:nvSpPr>
          <p:spPr bwMode="auto">
            <a:xfrm>
              <a:off x="1863" y="3236"/>
              <a:ext cx="1739" cy="212"/>
            </a:xfrm>
            <a:prstGeom prst="rect">
              <a:avLst/>
            </a:prstGeom>
            <a:noFill/>
            <a:ln w="9525" algn="ctr">
              <a:noFill/>
              <a:miter lim="800000"/>
              <a:headEnd/>
              <a:tailEnd/>
            </a:ln>
            <a:effectLst/>
          </p:spPr>
          <p:txBody>
            <a:bodyPr anchor="ctr">
              <a:spAutoFit/>
            </a:bodyPr>
            <a:lstStyle/>
            <a:p>
              <a:pPr algn="l"/>
              <a:r>
                <a:rPr lang="en-US" altLang="zh-CN" sz="1600">
                  <a:latin typeface="Times New Roman" pitchFamily="18" charset="0"/>
                  <a:ea typeface="华文新魏" pitchFamily="2" charset="-122"/>
                </a:rPr>
                <a:t>Bit3</a:t>
              </a:r>
              <a:r>
                <a:rPr lang="zh-CN" altLang="en-US" sz="1600">
                  <a:latin typeface="Times New Roman" pitchFamily="18" charset="0"/>
                  <a:ea typeface="华文新魏" pitchFamily="2" charset="-122"/>
                </a:rPr>
                <a:t>：</a:t>
              </a:r>
              <a:r>
                <a:rPr lang="en-US" altLang="zh-CN" sz="1600">
                  <a:latin typeface="Times New Roman" pitchFamily="18" charset="0"/>
                  <a:ea typeface="华文新魏" pitchFamily="2" charset="-122"/>
                </a:rPr>
                <a:t>Modem</a:t>
              </a:r>
              <a:r>
                <a:rPr lang="zh-CN" altLang="en-US" sz="1600">
                  <a:latin typeface="Times New Roman" pitchFamily="18" charset="0"/>
                  <a:ea typeface="华文新魏" pitchFamily="2" charset="-122"/>
                </a:rPr>
                <a:t>状态中断使能 </a:t>
              </a:r>
            </a:p>
          </p:txBody>
        </p:sp>
        <p:sp>
          <p:nvSpPr>
            <p:cNvPr id="747551" name="Rectangle 31"/>
            <p:cNvSpPr>
              <a:spLocks noChangeArrowheads="1"/>
            </p:cNvSpPr>
            <p:nvPr/>
          </p:nvSpPr>
          <p:spPr bwMode="auto">
            <a:xfrm>
              <a:off x="2436" y="3493"/>
              <a:ext cx="432" cy="173"/>
            </a:xfrm>
            <a:prstGeom prst="rect">
              <a:avLst/>
            </a:prstGeom>
            <a:solidFill>
              <a:schemeClr val="bg1"/>
            </a:solidFill>
            <a:ln w="9525" algn="ctr">
              <a:solidFill>
                <a:srgbClr val="FF0000"/>
              </a:solidFill>
              <a:prstDash val="dash"/>
              <a:miter lim="800000"/>
              <a:headEnd/>
              <a:tailEnd/>
            </a:ln>
            <a:effectLst/>
          </p:spPr>
          <p:txBody>
            <a:bodyPr wrap="none" anchor="ctr"/>
            <a:lstStyle/>
            <a:p>
              <a:endParaRPr lang="zh-CN" altLang="en-US"/>
            </a:p>
          </p:txBody>
        </p:sp>
        <p:sp>
          <p:nvSpPr>
            <p:cNvPr id="747552" name="Line 32"/>
            <p:cNvSpPr>
              <a:spLocks noChangeShapeType="1"/>
            </p:cNvSpPr>
            <p:nvPr/>
          </p:nvSpPr>
          <p:spPr bwMode="auto">
            <a:xfrm>
              <a:off x="2745" y="3622"/>
              <a:ext cx="1347" cy="0"/>
            </a:xfrm>
            <a:prstGeom prst="line">
              <a:avLst/>
            </a:prstGeom>
            <a:noFill/>
            <a:ln w="9525">
              <a:solidFill>
                <a:schemeClr val="tx1"/>
              </a:solidFill>
              <a:round/>
              <a:headEnd type="oval" w="sm" len="sm"/>
              <a:tailEnd/>
            </a:ln>
            <a:effectLst/>
          </p:spPr>
          <p:txBody>
            <a:bodyPr wrap="none" anchor="ctr"/>
            <a:lstStyle/>
            <a:p>
              <a:endParaRPr lang="zh-CN" altLang="en-US"/>
            </a:p>
          </p:txBody>
        </p:sp>
        <p:sp>
          <p:nvSpPr>
            <p:cNvPr id="747553" name="Line 33"/>
            <p:cNvSpPr>
              <a:spLocks noChangeShapeType="1"/>
            </p:cNvSpPr>
            <p:nvPr/>
          </p:nvSpPr>
          <p:spPr bwMode="auto">
            <a:xfrm flipV="1">
              <a:off x="2566" y="3605"/>
              <a:ext cx="190" cy="15"/>
            </a:xfrm>
            <a:prstGeom prst="line">
              <a:avLst/>
            </a:prstGeom>
            <a:noFill/>
            <a:ln w="9525">
              <a:solidFill>
                <a:srgbClr val="FF0000"/>
              </a:solidFill>
              <a:round/>
              <a:headEnd type="none" w="sm" len="sm"/>
              <a:tailEnd/>
            </a:ln>
            <a:effectLst/>
          </p:spPr>
          <p:txBody>
            <a:bodyPr wrap="none" anchor="ctr"/>
            <a:lstStyle/>
            <a:p>
              <a:endParaRPr lang="zh-CN" altLang="en-US"/>
            </a:p>
          </p:txBody>
        </p:sp>
        <p:sp>
          <p:nvSpPr>
            <p:cNvPr id="747554" name="Line 34"/>
            <p:cNvSpPr>
              <a:spLocks noChangeShapeType="1"/>
            </p:cNvSpPr>
            <p:nvPr/>
          </p:nvSpPr>
          <p:spPr bwMode="auto">
            <a:xfrm>
              <a:off x="2657" y="3418"/>
              <a:ext cx="0" cy="153"/>
            </a:xfrm>
            <a:prstGeom prst="line">
              <a:avLst/>
            </a:prstGeom>
            <a:noFill/>
            <a:ln w="9525">
              <a:solidFill>
                <a:schemeClr val="tx1"/>
              </a:solidFill>
              <a:round/>
              <a:headEnd type="oval" w="sm" len="sm"/>
              <a:tailEnd type="triangle" w="sm" len="sm"/>
            </a:ln>
            <a:effectLst/>
          </p:spPr>
          <p:txBody>
            <a:bodyPr wrap="none" anchor="ctr"/>
            <a:lstStyle/>
            <a:p>
              <a:endParaRPr lang="zh-CN" altLang="en-US"/>
            </a:p>
          </p:txBody>
        </p:sp>
        <p:sp>
          <p:nvSpPr>
            <p:cNvPr id="747555" name="Rectangle 35"/>
            <p:cNvSpPr>
              <a:spLocks noChangeArrowheads="1"/>
            </p:cNvSpPr>
            <p:nvPr/>
          </p:nvSpPr>
          <p:spPr bwMode="auto">
            <a:xfrm>
              <a:off x="3859" y="3528"/>
              <a:ext cx="916" cy="181"/>
            </a:xfrm>
            <a:prstGeom prst="rect">
              <a:avLst/>
            </a:prstGeom>
            <a:solidFill>
              <a:srgbClr val="CCCCFF"/>
            </a:solidFill>
            <a:ln w="9525" algn="ctr">
              <a:solidFill>
                <a:schemeClr val="tx1"/>
              </a:solidFill>
              <a:miter lim="800000"/>
              <a:headEnd/>
              <a:tailEnd/>
            </a:ln>
            <a:effectLst/>
          </p:spPr>
          <p:txBody>
            <a:bodyPr wrap="none" anchor="ctr"/>
            <a:lstStyle/>
            <a:p>
              <a:pPr algn="l"/>
              <a:r>
                <a:rPr lang="en-US" altLang="zh-CN" sz="1600">
                  <a:latin typeface="Times New Roman" pitchFamily="18" charset="0"/>
                  <a:ea typeface="华文新魏" pitchFamily="2" charset="-122"/>
                </a:rPr>
                <a:t>000 </a:t>
              </a:r>
              <a:r>
                <a:rPr lang="zh-CN" altLang="en-US" sz="1600">
                  <a:latin typeface="Times New Roman" pitchFamily="18" charset="0"/>
                  <a:ea typeface="华文新魏" pitchFamily="2" charset="-122"/>
                </a:rPr>
                <a:t>：</a:t>
              </a:r>
              <a:r>
                <a:rPr lang="en-US" altLang="zh-CN" sz="1600">
                  <a:latin typeface="Times New Roman" pitchFamily="18" charset="0"/>
                  <a:ea typeface="华文新魏" pitchFamily="2" charset="-122"/>
                </a:rPr>
                <a:t>Modem </a:t>
              </a:r>
            </a:p>
          </p:txBody>
        </p:sp>
        <p:sp>
          <p:nvSpPr>
            <p:cNvPr id="747556" name="Text Box 36"/>
            <p:cNvSpPr txBox="1">
              <a:spLocks noChangeArrowheads="1"/>
            </p:cNvSpPr>
            <p:nvPr/>
          </p:nvSpPr>
          <p:spPr bwMode="auto">
            <a:xfrm>
              <a:off x="2854" y="2087"/>
              <a:ext cx="180" cy="212"/>
            </a:xfrm>
            <a:prstGeom prst="rect">
              <a:avLst/>
            </a:prstGeom>
            <a:noFill/>
            <a:ln w="19050" algn="ctr">
              <a:noFill/>
              <a:miter lim="800000"/>
              <a:headEnd/>
              <a:tailEnd/>
            </a:ln>
            <a:effectLst/>
          </p:spPr>
          <p:txBody>
            <a:bodyPr wrap="none">
              <a:spAutoFit/>
            </a:bodyPr>
            <a:lstStyle/>
            <a:p>
              <a:r>
                <a:rPr lang="en-US" altLang="zh-CN" sz="1600" b="1">
                  <a:solidFill>
                    <a:srgbClr val="FF0000"/>
                  </a:solidFill>
                  <a:latin typeface="Times New Roman" pitchFamily="18" charset="0"/>
                </a:rPr>
                <a:t>1</a:t>
              </a:r>
            </a:p>
          </p:txBody>
        </p:sp>
        <p:sp>
          <p:nvSpPr>
            <p:cNvPr id="747557" name="Text Box 37"/>
            <p:cNvSpPr txBox="1">
              <a:spLocks noChangeArrowheads="1"/>
            </p:cNvSpPr>
            <p:nvPr/>
          </p:nvSpPr>
          <p:spPr bwMode="auto">
            <a:xfrm>
              <a:off x="2846" y="2535"/>
              <a:ext cx="180" cy="212"/>
            </a:xfrm>
            <a:prstGeom prst="rect">
              <a:avLst/>
            </a:prstGeom>
            <a:noFill/>
            <a:ln w="19050" algn="ctr">
              <a:noFill/>
              <a:miter lim="800000"/>
              <a:headEnd/>
              <a:tailEnd/>
            </a:ln>
            <a:effectLst/>
          </p:spPr>
          <p:txBody>
            <a:bodyPr wrap="none">
              <a:spAutoFit/>
            </a:bodyPr>
            <a:lstStyle/>
            <a:p>
              <a:r>
                <a:rPr lang="en-US" altLang="zh-CN" sz="1600" b="1">
                  <a:solidFill>
                    <a:srgbClr val="FF0000"/>
                  </a:solidFill>
                  <a:latin typeface="Times New Roman" pitchFamily="18" charset="0"/>
                </a:rPr>
                <a:t>1</a:t>
              </a:r>
            </a:p>
          </p:txBody>
        </p:sp>
        <p:sp>
          <p:nvSpPr>
            <p:cNvPr id="747558" name="Text Box 38"/>
            <p:cNvSpPr txBox="1">
              <a:spLocks noChangeArrowheads="1"/>
            </p:cNvSpPr>
            <p:nvPr/>
          </p:nvSpPr>
          <p:spPr bwMode="auto">
            <a:xfrm>
              <a:off x="2846" y="2983"/>
              <a:ext cx="180" cy="212"/>
            </a:xfrm>
            <a:prstGeom prst="rect">
              <a:avLst/>
            </a:prstGeom>
            <a:noFill/>
            <a:ln w="19050" algn="ctr">
              <a:noFill/>
              <a:miter lim="800000"/>
              <a:headEnd/>
              <a:tailEnd/>
            </a:ln>
            <a:effectLst/>
          </p:spPr>
          <p:txBody>
            <a:bodyPr wrap="none">
              <a:spAutoFit/>
            </a:bodyPr>
            <a:lstStyle/>
            <a:p>
              <a:r>
                <a:rPr lang="en-US" altLang="zh-CN" sz="1600" b="1">
                  <a:solidFill>
                    <a:srgbClr val="FF0000"/>
                  </a:solidFill>
                  <a:latin typeface="Times New Roman" pitchFamily="18" charset="0"/>
                </a:rPr>
                <a:t>1</a:t>
              </a:r>
            </a:p>
          </p:txBody>
        </p:sp>
        <p:sp>
          <p:nvSpPr>
            <p:cNvPr id="747559" name="Text Box 39"/>
            <p:cNvSpPr txBox="1">
              <a:spLocks noChangeArrowheads="1"/>
            </p:cNvSpPr>
            <p:nvPr/>
          </p:nvSpPr>
          <p:spPr bwMode="auto">
            <a:xfrm>
              <a:off x="2846" y="3447"/>
              <a:ext cx="180" cy="212"/>
            </a:xfrm>
            <a:prstGeom prst="rect">
              <a:avLst/>
            </a:prstGeom>
            <a:noFill/>
            <a:ln w="19050" algn="ctr">
              <a:noFill/>
              <a:miter lim="800000"/>
              <a:headEnd/>
              <a:tailEnd/>
            </a:ln>
            <a:effectLst/>
          </p:spPr>
          <p:txBody>
            <a:bodyPr wrap="none">
              <a:spAutoFit/>
            </a:bodyPr>
            <a:lstStyle/>
            <a:p>
              <a:r>
                <a:rPr lang="en-US" altLang="zh-CN" sz="1600" b="1">
                  <a:solidFill>
                    <a:srgbClr val="FF0000"/>
                  </a:solidFill>
                  <a:latin typeface="Times New Roman" pitchFamily="18" charset="0"/>
                </a:rPr>
                <a:t>1</a:t>
              </a:r>
            </a:p>
          </p:txBody>
        </p:sp>
        <p:sp>
          <p:nvSpPr>
            <p:cNvPr id="747560" name="Line 40"/>
            <p:cNvSpPr>
              <a:spLocks noChangeShapeType="1"/>
            </p:cNvSpPr>
            <p:nvPr/>
          </p:nvSpPr>
          <p:spPr bwMode="auto">
            <a:xfrm>
              <a:off x="1004" y="3622"/>
              <a:ext cx="1573" cy="0"/>
            </a:xfrm>
            <a:prstGeom prst="line">
              <a:avLst/>
            </a:prstGeom>
            <a:noFill/>
            <a:ln w="9525">
              <a:solidFill>
                <a:schemeClr val="tx1"/>
              </a:solidFill>
              <a:round/>
              <a:headEnd type="oval" w="sm" len="sm"/>
              <a:tailEnd type="oval" w="sm" len="sm"/>
            </a:ln>
            <a:effectLst/>
          </p:spPr>
          <p:txBody>
            <a:bodyPr wrap="none" anchor="ctr"/>
            <a:lstStyle/>
            <a:p>
              <a:endParaRPr lang="zh-CN" altLang="en-US"/>
            </a:p>
          </p:txBody>
        </p:sp>
        <p:sp>
          <p:nvSpPr>
            <p:cNvPr id="747561" name="Line 41"/>
            <p:cNvSpPr>
              <a:spLocks noChangeShapeType="1"/>
            </p:cNvSpPr>
            <p:nvPr/>
          </p:nvSpPr>
          <p:spPr bwMode="auto">
            <a:xfrm>
              <a:off x="1409" y="2708"/>
              <a:ext cx="1156" cy="0"/>
            </a:xfrm>
            <a:prstGeom prst="line">
              <a:avLst/>
            </a:prstGeom>
            <a:noFill/>
            <a:ln w="9525">
              <a:solidFill>
                <a:schemeClr val="tx1"/>
              </a:solidFill>
              <a:round/>
              <a:headEnd type="oval" w="sm" len="sm"/>
              <a:tailEnd type="oval" w="sm" len="sm"/>
            </a:ln>
            <a:effectLst/>
          </p:spPr>
          <p:txBody>
            <a:bodyPr wrap="none" anchor="ctr"/>
            <a:lstStyle/>
            <a:p>
              <a:endParaRPr lang="zh-CN" altLang="en-US"/>
            </a:p>
          </p:txBody>
        </p:sp>
        <p:sp>
          <p:nvSpPr>
            <p:cNvPr id="747562" name="Line 42"/>
            <p:cNvSpPr>
              <a:spLocks noChangeShapeType="1"/>
            </p:cNvSpPr>
            <p:nvPr/>
          </p:nvSpPr>
          <p:spPr bwMode="auto">
            <a:xfrm>
              <a:off x="1356" y="3163"/>
              <a:ext cx="1194" cy="0"/>
            </a:xfrm>
            <a:prstGeom prst="line">
              <a:avLst/>
            </a:prstGeom>
            <a:noFill/>
            <a:ln w="9525">
              <a:solidFill>
                <a:schemeClr val="tx1"/>
              </a:solidFill>
              <a:round/>
              <a:headEnd type="oval" w="sm" len="sm"/>
              <a:tailEnd type="oval" w="sm" len="sm"/>
            </a:ln>
            <a:effectLst/>
          </p:spPr>
          <p:txBody>
            <a:bodyPr wrap="none" anchor="ctr"/>
            <a:lstStyle/>
            <a:p>
              <a:endParaRPr lang="zh-CN" altLang="en-US"/>
            </a:p>
          </p:txBody>
        </p:sp>
        <p:sp>
          <p:nvSpPr>
            <p:cNvPr id="747563" name="Rectangle 43"/>
            <p:cNvSpPr>
              <a:spLocks noChangeArrowheads="1"/>
            </p:cNvSpPr>
            <p:nvPr/>
          </p:nvSpPr>
          <p:spPr bwMode="auto">
            <a:xfrm>
              <a:off x="815" y="2580"/>
              <a:ext cx="874" cy="227"/>
            </a:xfrm>
            <a:prstGeom prst="rect">
              <a:avLst/>
            </a:prstGeom>
            <a:solidFill>
              <a:srgbClr val="B9DCFF"/>
            </a:solidFill>
            <a:ln w="9525" algn="ctr">
              <a:solidFill>
                <a:schemeClr val="tx1"/>
              </a:solidFill>
              <a:miter lim="800000"/>
              <a:headEnd/>
              <a:tailEnd/>
            </a:ln>
            <a:effectLst/>
          </p:spPr>
          <p:txBody>
            <a:bodyPr wrap="none" anchor="ctr"/>
            <a:lstStyle/>
            <a:p>
              <a:r>
                <a:rPr lang="zh-CN" altLang="en-US" sz="1600">
                  <a:latin typeface="Times New Roman" pitchFamily="18" charset="0"/>
                  <a:ea typeface="华文新魏" pitchFamily="2" charset="-122"/>
                </a:rPr>
                <a:t>发送中断 </a:t>
              </a:r>
            </a:p>
          </p:txBody>
        </p:sp>
        <p:sp>
          <p:nvSpPr>
            <p:cNvPr id="747564" name="Rectangle 44"/>
            <p:cNvSpPr>
              <a:spLocks noChangeArrowheads="1"/>
            </p:cNvSpPr>
            <p:nvPr/>
          </p:nvSpPr>
          <p:spPr bwMode="auto">
            <a:xfrm>
              <a:off x="815" y="3045"/>
              <a:ext cx="874" cy="227"/>
            </a:xfrm>
            <a:prstGeom prst="rect">
              <a:avLst/>
            </a:prstGeom>
            <a:solidFill>
              <a:srgbClr val="CDE6FF"/>
            </a:solidFill>
            <a:ln w="9525" algn="ctr">
              <a:solidFill>
                <a:schemeClr val="tx1"/>
              </a:solidFill>
              <a:miter lim="800000"/>
              <a:headEnd/>
              <a:tailEnd/>
            </a:ln>
            <a:effectLst/>
          </p:spPr>
          <p:txBody>
            <a:bodyPr wrap="none" anchor="ctr"/>
            <a:lstStyle/>
            <a:p>
              <a:r>
                <a:rPr lang="zh-CN" altLang="en-US" sz="1600">
                  <a:latin typeface="Times New Roman" pitchFamily="18" charset="0"/>
                  <a:ea typeface="华文新魏" pitchFamily="2" charset="-122"/>
                </a:rPr>
                <a:t>接收状态中断 </a:t>
              </a:r>
            </a:p>
          </p:txBody>
        </p:sp>
        <p:sp>
          <p:nvSpPr>
            <p:cNvPr id="747565" name="Rectangle 45"/>
            <p:cNvSpPr>
              <a:spLocks noChangeArrowheads="1"/>
            </p:cNvSpPr>
            <p:nvPr/>
          </p:nvSpPr>
          <p:spPr bwMode="auto">
            <a:xfrm>
              <a:off x="815" y="3500"/>
              <a:ext cx="874" cy="227"/>
            </a:xfrm>
            <a:prstGeom prst="rect">
              <a:avLst/>
            </a:prstGeom>
            <a:solidFill>
              <a:srgbClr val="CCCCFF"/>
            </a:solidFill>
            <a:ln w="9525" algn="ctr">
              <a:solidFill>
                <a:schemeClr val="tx1"/>
              </a:solidFill>
              <a:miter lim="800000"/>
              <a:headEnd/>
              <a:tailEnd/>
            </a:ln>
            <a:effectLst/>
          </p:spPr>
          <p:txBody>
            <a:bodyPr wrap="none" anchor="ctr"/>
            <a:lstStyle/>
            <a:p>
              <a:r>
                <a:rPr lang="en-US" altLang="zh-CN" sz="1600">
                  <a:latin typeface="Times New Roman" pitchFamily="18" charset="0"/>
                  <a:ea typeface="华文新魏" pitchFamily="2" charset="-122"/>
                </a:rPr>
                <a:t>Modem</a:t>
              </a:r>
              <a:r>
                <a:rPr lang="zh-CN" altLang="en-US" sz="1600">
                  <a:latin typeface="Times New Roman" pitchFamily="18" charset="0"/>
                  <a:ea typeface="华文新魏" pitchFamily="2" charset="-122"/>
                </a:rPr>
                <a:t>中断 </a:t>
              </a:r>
            </a:p>
          </p:txBody>
        </p:sp>
      </p:grpSp>
      <p:sp>
        <p:nvSpPr>
          <p:cNvPr id="747566" name="Text Box 46"/>
          <p:cNvSpPr txBox="1">
            <a:spLocks noChangeArrowheads="1"/>
          </p:cNvSpPr>
          <p:nvPr/>
        </p:nvSpPr>
        <p:spPr bwMode="auto">
          <a:xfrm>
            <a:off x="9696134" y="1978025"/>
            <a:ext cx="492443" cy="4212050"/>
          </a:xfrm>
          <a:prstGeom prst="rect">
            <a:avLst/>
          </a:prstGeom>
          <a:noFill/>
          <a:ln w="19050" algn="ctr">
            <a:noFill/>
            <a:miter lim="800000"/>
            <a:headEnd/>
            <a:tailEnd/>
          </a:ln>
          <a:effectLst/>
        </p:spPr>
        <p:txBody>
          <a:bodyPr vert="eaVert" wrap="none">
            <a:spAutoFit/>
          </a:bodyPr>
          <a:lstStyle/>
          <a:p>
            <a:r>
              <a:rPr lang="zh-CN" altLang="en-US" sz="2000">
                <a:latin typeface="Times New Roman" pitchFamily="18" charset="0"/>
                <a:ea typeface="华文新魏" pitchFamily="2" charset="-122"/>
              </a:rPr>
              <a:t>中断使能位为</a:t>
            </a:r>
            <a:r>
              <a:rPr lang="en-US" altLang="zh-CN" sz="2000">
                <a:latin typeface="Times New Roman" pitchFamily="18" charset="0"/>
                <a:ea typeface="华文新魏" pitchFamily="2" charset="-122"/>
              </a:rPr>
              <a:t>1</a:t>
            </a:r>
            <a:r>
              <a:rPr lang="zh-CN" altLang="en-US" sz="2000">
                <a:latin typeface="Times New Roman" pitchFamily="18" charset="0"/>
                <a:ea typeface="华文新魏" pitchFamily="2" charset="-122"/>
              </a:rPr>
              <a:t>时，对应的中断使能</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546" name="Rectangle 2"/>
          <p:cNvSpPr>
            <a:spLocks noChangeArrowheads="1"/>
          </p:cNvSpPr>
          <p:nvPr/>
        </p:nvSpPr>
        <p:spPr bwMode="auto">
          <a:xfrm>
            <a:off x="3962400" y="5905500"/>
            <a:ext cx="1168400" cy="261938"/>
          </a:xfrm>
          <a:prstGeom prst="rect">
            <a:avLst/>
          </a:prstGeom>
          <a:solidFill>
            <a:srgbClr val="FFCC99"/>
          </a:solidFill>
          <a:ln w="9525" algn="ctr">
            <a:noFill/>
            <a:miter lim="800000"/>
            <a:headEnd/>
            <a:tailEnd/>
          </a:ln>
          <a:effectLst/>
        </p:spPr>
        <p:txBody>
          <a:bodyPr wrap="none" lIns="90000" tIns="46800" rIns="90000" bIns="46800" anchor="ctr"/>
          <a:lstStyle/>
          <a:p>
            <a:endParaRPr lang="zh-CN" altLang="en-US"/>
          </a:p>
        </p:txBody>
      </p:sp>
      <p:sp>
        <p:nvSpPr>
          <p:cNvPr id="748547" name="Rectangle 3"/>
          <p:cNvSpPr>
            <a:spLocks noChangeArrowheads="1"/>
          </p:cNvSpPr>
          <p:nvPr/>
        </p:nvSpPr>
        <p:spPr bwMode="auto">
          <a:xfrm>
            <a:off x="3962400" y="5613400"/>
            <a:ext cx="1168400" cy="261938"/>
          </a:xfrm>
          <a:prstGeom prst="rect">
            <a:avLst/>
          </a:prstGeom>
          <a:solidFill>
            <a:srgbClr val="FFCC99"/>
          </a:solidFill>
          <a:ln w="9525" algn="ctr">
            <a:noFill/>
            <a:miter lim="800000"/>
            <a:headEnd/>
            <a:tailEnd/>
          </a:ln>
          <a:effectLst/>
        </p:spPr>
        <p:txBody>
          <a:bodyPr wrap="none" lIns="90000" tIns="46800" rIns="90000" bIns="46800" anchor="ctr"/>
          <a:lstStyle/>
          <a:p>
            <a:endParaRPr lang="zh-CN" altLang="en-US"/>
          </a:p>
        </p:txBody>
      </p:sp>
      <p:sp>
        <p:nvSpPr>
          <p:cNvPr id="748548" name="Rectangle 4"/>
          <p:cNvSpPr>
            <a:spLocks noChangeArrowheads="1"/>
          </p:cNvSpPr>
          <p:nvPr/>
        </p:nvSpPr>
        <p:spPr bwMode="auto">
          <a:xfrm>
            <a:off x="3962400" y="5270500"/>
            <a:ext cx="1168400" cy="300038"/>
          </a:xfrm>
          <a:prstGeom prst="rect">
            <a:avLst/>
          </a:prstGeom>
          <a:solidFill>
            <a:srgbClr val="FFCC99"/>
          </a:solidFill>
          <a:ln w="9525" algn="ctr">
            <a:noFill/>
            <a:miter lim="800000"/>
            <a:headEnd/>
            <a:tailEnd/>
          </a:ln>
          <a:effectLst/>
        </p:spPr>
        <p:txBody>
          <a:bodyPr wrap="none" lIns="90000" tIns="46800" rIns="90000" bIns="46800" anchor="ctr"/>
          <a:lstStyle/>
          <a:p>
            <a:endParaRPr lang="zh-CN" altLang="en-US"/>
          </a:p>
        </p:txBody>
      </p:sp>
      <p:sp>
        <p:nvSpPr>
          <p:cNvPr id="748549" name="Rectangle 5"/>
          <p:cNvSpPr>
            <a:spLocks noChangeArrowheads="1"/>
          </p:cNvSpPr>
          <p:nvPr/>
        </p:nvSpPr>
        <p:spPr bwMode="auto">
          <a:xfrm>
            <a:off x="3962400" y="4978400"/>
            <a:ext cx="1168400" cy="261938"/>
          </a:xfrm>
          <a:prstGeom prst="rect">
            <a:avLst/>
          </a:prstGeom>
          <a:solidFill>
            <a:srgbClr val="FFCC99"/>
          </a:solidFill>
          <a:ln w="9525" algn="ctr">
            <a:noFill/>
            <a:miter lim="800000"/>
            <a:headEnd/>
            <a:tailEnd/>
          </a:ln>
          <a:effectLst/>
        </p:spPr>
        <p:txBody>
          <a:bodyPr wrap="none" lIns="90000" tIns="46800" rIns="90000" bIns="46800" anchor="ctr"/>
          <a:lstStyle/>
          <a:p>
            <a:endParaRPr lang="zh-CN" altLang="en-US"/>
          </a:p>
        </p:txBody>
      </p:sp>
      <p:sp>
        <p:nvSpPr>
          <p:cNvPr id="748550" name="Rectangle 6"/>
          <p:cNvSpPr>
            <a:spLocks noChangeArrowheads="1"/>
          </p:cNvSpPr>
          <p:nvPr/>
        </p:nvSpPr>
        <p:spPr bwMode="auto">
          <a:xfrm>
            <a:off x="2133600" y="698500"/>
            <a:ext cx="7772400" cy="1143000"/>
          </a:xfrm>
          <a:prstGeom prst="rect">
            <a:avLst/>
          </a:prstGeom>
          <a:noFill/>
          <a:ln w="9525">
            <a:noFill/>
            <a:miter lim="800000"/>
            <a:headEnd/>
            <a:tailEnd/>
          </a:ln>
          <a:effectLst/>
        </p:spPr>
        <p:txBody>
          <a:bodyPr anchor="ctr"/>
          <a:lstStyle/>
          <a:p>
            <a:r>
              <a:rPr lang="en-US" altLang="zh-CN" sz="4400">
                <a:solidFill>
                  <a:schemeClr val="tx2"/>
                </a:solidFill>
                <a:latin typeface="Times New Roman" pitchFamily="18" charset="0"/>
              </a:rPr>
              <a:t>UART</a:t>
            </a:r>
            <a:r>
              <a:rPr lang="zh-CN" altLang="en-US" sz="4400">
                <a:solidFill>
                  <a:schemeClr val="tx2"/>
                </a:solidFill>
                <a:latin typeface="Times New Roman" pitchFamily="18" charset="0"/>
              </a:rPr>
              <a:t>中断总结</a:t>
            </a:r>
          </a:p>
        </p:txBody>
      </p:sp>
      <p:sp>
        <p:nvSpPr>
          <p:cNvPr id="748551" name="Rectangle 7"/>
          <p:cNvSpPr>
            <a:spLocks noChangeArrowheads="1"/>
          </p:cNvSpPr>
          <p:nvPr/>
        </p:nvSpPr>
        <p:spPr bwMode="auto">
          <a:xfrm>
            <a:off x="2209800" y="17764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ea typeface="华文新魏" pitchFamily="2" charset="-122"/>
              </a:rPr>
              <a:t>接收中断</a:t>
            </a:r>
            <a:r>
              <a:rPr lang="en-US" altLang="zh-CN" sz="3200">
                <a:latin typeface="Times New Roman" pitchFamily="18" charset="0"/>
                <a:ea typeface="华文新魏" pitchFamily="2" charset="-122"/>
              </a:rPr>
              <a:t>——</a:t>
            </a:r>
            <a:r>
              <a:rPr lang="zh-CN" altLang="en-US" sz="3200">
                <a:latin typeface="Times New Roman" pitchFamily="18" charset="0"/>
                <a:ea typeface="华文新魏" pitchFamily="2" charset="-122"/>
              </a:rPr>
              <a:t>数据可用中断（</a:t>
            </a:r>
            <a:r>
              <a:rPr lang="en-US" altLang="zh-CN" sz="3200">
                <a:latin typeface="Times New Roman" pitchFamily="18" charset="0"/>
                <a:ea typeface="华文新魏" pitchFamily="2" charset="-122"/>
              </a:rPr>
              <a:t>RDA</a:t>
            </a:r>
            <a:r>
              <a:rPr lang="zh-CN" altLang="en-US" sz="3200">
                <a:latin typeface="Times New Roman" pitchFamily="18" charset="0"/>
                <a:ea typeface="华文新魏" pitchFamily="2" charset="-122"/>
              </a:rPr>
              <a:t>）</a:t>
            </a:r>
          </a:p>
        </p:txBody>
      </p:sp>
      <p:sp>
        <p:nvSpPr>
          <p:cNvPr id="748552" name="Rectangle 8"/>
          <p:cNvSpPr>
            <a:spLocks noChangeArrowheads="1"/>
          </p:cNvSpPr>
          <p:nvPr/>
        </p:nvSpPr>
        <p:spPr bwMode="auto">
          <a:xfrm>
            <a:off x="2133600" y="2295437"/>
            <a:ext cx="8142288" cy="1200329"/>
          </a:xfrm>
          <a:prstGeom prst="rect">
            <a:avLst/>
          </a:prstGeom>
          <a:noFill/>
          <a:ln w="19050" algn="ctr">
            <a:noFill/>
            <a:miter lim="800000"/>
            <a:headEnd/>
            <a:tailEnd/>
          </a:ln>
          <a:effectLst/>
        </p:spPr>
        <p:txBody>
          <a:bodyPr anchor="ctr">
            <a:spAutoFit/>
          </a:bodyPr>
          <a:lstStyle/>
          <a:p>
            <a:pPr algn="l"/>
            <a:r>
              <a:rPr lang="en-US" altLang="zh-CN" sz="2400">
                <a:latin typeface="Times New Roman" pitchFamily="18" charset="0"/>
                <a:ea typeface="华文新魏" pitchFamily="2" charset="-122"/>
              </a:rPr>
              <a:t>       LPC2000</a:t>
            </a:r>
            <a:r>
              <a:rPr lang="zh-CN" altLang="en-US" sz="2400">
                <a:latin typeface="Times New Roman" pitchFamily="18" charset="0"/>
                <a:ea typeface="华文新魏" pitchFamily="2" charset="-122"/>
              </a:rPr>
              <a:t>系列</a:t>
            </a:r>
            <a:r>
              <a:rPr lang="en-US" altLang="zh-CN" sz="2400">
                <a:latin typeface="Times New Roman" pitchFamily="18" charset="0"/>
                <a:ea typeface="华文新魏" pitchFamily="2" charset="-122"/>
              </a:rPr>
              <a:t>ARM UART</a:t>
            </a:r>
            <a:r>
              <a:rPr lang="zh-CN" altLang="en-US" sz="2400">
                <a:latin typeface="Times New Roman" pitchFamily="18" charset="0"/>
                <a:ea typeface="华文新魏" pitchFamily="2" charset="-122"/>
              </a:rPr>
              <a:t>接口具有</a:t>
            </a:r>
            <a:r>
              <a:rPr lang="en-US" altLang="zh-CN" sz="2400">
                <a:latin typeface="Times New Roman" pitchFamily="18" charset="0"/>
                <a:ea typeface="华文新魏" pitchFamily="2" charset="-122"/>
              </a:rPr>
              <a:t>16</a:t>
            </a:r>
            <a:r>
              <a:rPr lang="zh-CN" altLang="en-US" sz="2400">
                <a:latin typeface="Times New Roman" pitchFamily="18" charset="0"/>
                <a:ea typeface="华文新魏" pitchFamily="2" charset="-122"/>
              </a:rPr>
              <a:t>字节的接收</a:t>
            </a:r>
            <a:r>
              <a:rPr lang="en-US" altLang="zh-CN" sz="2400">
                <a:latin typeface="Times New Roman" pitchFamily="18" charset="0"/>
                <a:ea typeface="华文新魏" pitchFamily="2" charset="-122"/>
              </a:rPr>
              <a:t>FIFO</a:t>
            </a:r>
            <a:r>
              <a:rPr lang="zh-CN" altLang="en-US" sz="2400">
                <a:latin typeface="Times New Roman" pitchFamily="18" charset="0"/>
                <a:ea typeface="华文新魏" pitchFamily="2" charset="-122"/>
              </a:rPr>
              <a:t>，接收触发点可以设置为</a:t>
            </a:r>
            <a:r>
              <a:rPr lang="en-US" altLang="zh-CN" sz="2400">
                <a:latin typeface="Times New Roman" pitchFamily="18" charset="0"/>
                <a:ea typeface="华文新魏" pitchFamily="2" charset="-122"/>
              </a:rPr>
              <a:t>1</a:t>
            </a:r>
            <a:r>
              <a:rPr lang="zh-CN" altLang="en-US" sz="2400">
                <a:latin typeface="Times New Roman" pitchFamily="18" charset="0"/>
                <a:ea typeface="华文新魏" pitchFamily="2" charset="-122"/>
              </a:rPr>
              <a:t>、</a:t>
            </a:r>
            <a:r>
              <a:rPr lang="en-US" altLang="zh-CN" sz="2400">
                <a:latin typeface="Times New Roman" pitchFamily="18" charset="0"/>
                <a:ea typeface="华文新魏" pitchFamily="2" charset="-122"/>
              </a:rPr>
              <a:t>4</a:t>
            </a:r>
            <a:r>
              <a:rPr lang="zh-CN" altLang="en-US" sz="2400">
                <a:latin typeface="Times New Roman" pitchFamily="18" charset="0"/>
                <a:ea typeface="华文新魏" pitchFamily="2" charset="-122"/>
              </a:rPr>
              <a:t>、</a:t>
            </a:r>
            <a:r>
              <a:rPr lang="en-US" altLang="zh-CN" sz="2400">
                <a:latin typeface="Times New Roman" pitchFamily="18" charset="0"/>
                <a:ea typeface="华文新魏" pitchFamily="2" charset="-122"/>
              </a:rPr>
              <a:t>8</a:t>
            </a:r>
            <a:r>
              <a:rPr lang="zh-CN" altLang="en-US" sz="2400">
                <a:latin typeface="Times New Roman" pitchFamily="18" charset="0"/>
                <a:ea typeface="华文新魏" pitchFamily="2" charset="-122"/>
              </a:rPr>
              <a:t>、</a:t>
            </a:r>
            <a:r>
              <a:rPr lang="en-US" altLang="zh-CN" sz="2400">
                <a:latin typeface="Times New Roman" pitchFamily="18" charset="0"/>
                <a:ea typeface="华文新魏" pitchFamily="2" charset="-122"/>
              </a:rPr>
              <a:t>14</a:t>
            </a:r>
            <a:r>
              <a:rPr lang="zh-CN" altLang="en-US" sz="2400">
                <a:latin typeface="Times New Roman" pitchFamily="18" charset="0"/>
                <a:ea typeface="华文新魏" pitchFamily="2" charset="-122"/>
              </a:rPr>
              <a:t>字节，当接收到的字节数达到接收触发点时，便会触发中断。 </a:t>
            </a:r>
          </a:p>
        </p:txBody>
      </p:sp>
      <p:grpSp>
        <p:nvGrpSpPr>
          <p:cNvPr id="748553" name="Group 9"/>
          <p:cNvGrpSpPr>
            <a:grpSpLocks/>
          </p:cNvGrpSpPr>
          <p:nvPr/>
        </p:nvGrpSpPr>
        <p:grpSpPr bwMode="auto">
          <a:xfrm>
            <a:off x="2457450" y="3471864"/>
            <a:ext cx="4076700" cy="3038475"/>
            <a:chOff x="292" y="2251"/>
            <a:chExt cx="2568" cy="1914"/>
          </a:xfrm>
        </p:grpSpPr>
        <p:sp>
          <p:nvSpPr>
            <p:cNvPr id="748554" name="Line 10"/>
            <p:cNvSpPr>
              <a:spLocks noChangeShapeType="1"/>
            </p:cNvSpPr>
            <p:nvPr/>
          </p:nvSpPr>
          <p:spPr bwMode="auto">
            <a:xfrm>
              <a:off x="1976" y="3870"/>
              <a:ext cx="2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8555" name="Rectangle 11"/>
            <p:cNvSpPr>
              <a:spLocks noChangeArrowheads="1"/>
            </p:cNvSpPr>
            <p:nvPr/>
          </p:nvSpPr>
          <p:spPr bwMode="auto">
            <a:xfrm>
              <a:off x="2180" y="3769"/>
              <a:ext cx="680" cy="181"/>
            </a:xfrm>
            <a:prstGeom prst="rect">
              <a:avLst/>
            </a:prstGeom>
            <a:solidFill>
              <a:srgbClr val="FFFF99"/>
            </a:solidFill>
            <a:ln w="12700" algn="ctr">
              <a:solidFill>
                <a:schemeClr val="tx1"/>
              </a:solidFill>
              <a:miter lim="800000"/>
              <a:headEnd/>
              <a:tailEnd/>
            </a:ln>
            <a:effectLst/>
          </p:spPr>
          <p:txBody>
            <a:bodyPr wrap="none" anchor="ctr"/>
            <a:lstStyle/>
            <a:p>
              <a:r>
                <a:rPr lang="en-US" altLang="zh-CN" sz="1400">
                  <a:latin typeface="Times New Roman" pitchFamily="18" charset="0"/>
                </a:rPr>
                <a:t>UnRBR</a:t>
              </a:r>
            </a:p>
          </p:txBody>
        </p:sp>
        <p:sp>
          <p:nvSpPr>
            <p:cNvPr id="748556" name="AutoShape 12"/>
            <p:cNvSpPr>
              <a:spLocks noChangeArrowheads="1"/>
            </p:cNvSpPr>
            <p:nvPr/>
          </p:nvSpPr>
          <p:spPr bwMode="auto">
            <a:xfrm>
              <a:off x="1520" y="2368"/>
              <a:ext cx="184" cy="224"/>
            </a:xfrm>
            <a:prstGeom prst="downArrow">
              <a:avLst>
                <a:gd name="adj1" fmla="val 50000"/>
                <a:gd name="adj2" fmla="val 30435"/>
              </a:avLst>
            </a:prstGeom>
            <a:solidFill>
              <a:schemeClr val="bg1"/>
            </a:solidFill>
            <a:ln w="9525" algn="ctr">
              <a:solidFill>
                <a:schemeClr val="tx1"/>
              </a:solidFill>
              <a:miter lim="800000"/>
              <a:headEnd/>
              <a:tailEnd/>
            </a:ln>
            <a:effectLst/>
          </p:spPr>
          <p:txBody>
            <a:bodyPr wrap="none" anchor="ctr"/>
            <a:lstStyle/>
            <a:p>
              <a:endParaRPr lang="zh-CN" altLang="en-US"/>
            </a:p>
          </p:txBody>
        </p:sp>
        <p:sp>
          <p:nvSpPr>
            <p:cNvPr id="748557" name="Rectangle 13"/>
            <p:cNvSpPr>
              <a:spLocks noChangeArrowheads="1"/>
            </p:cNvSpPr>
            <p:nvPr/>
          </p:nvSpPr>
          <p:spPr bwMode="auto">
            <a:xfrm>
              <a:off x="1156" y="2251"/>
              <a:ext cx="904" cy="181"/>
            </a:xfrm>
            <a:prstGeom prst="rect">
              <a:avLst/>
            </a:prstGeom>
            <a:solidFill>
              <a:srgbClr val="CCFFFF"/>
            </a:solidFill>
            <a:ln w="12700"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接收移位寄存器</a:t>
              </a:r>
            </a:p>
          </p:txBody>
        </p:sp>
        <p:sp>
          <p:nvSpPr>
            <p:cNvPr id="748558" name="AutoShape 14"/>
            <p:cNvSpPr>
              <a:spLocks noChangeArrowheads="1"/>
            </p:cNvSpPr>
            <p:nvPr/>
          </p:nvSpPr>
          <p:spPr bwMode="auto">
            <a:xfrm>
              <a:off x="292" y="3106"/>
              <a:ext cx="1089" cy="181"/>
            </a:xfrm>
            <a:prstGeom prst="homePlate">
              <a:avLst>
                <a:gd name="adj" fmla="val 150414"/>
              </a:avLst>
            </a:prstGeom>
            <a:solidFill>
              <a:srgbClr val="CCFFCC"/>
            </a:solidFill>
            <a:ln w="12700" algn="ctr">
              <a:solidFill>
                <a:schemeClr val="tx1"/>
              </a:solidFill>
              <a:miter lim="800000"/>
              <a:headEnd/>
              <a:tailEnd/>
            </a:ln>
            <a:effectLst/>
          </p:spPr>
          <p:txBody>
            <a:bodyPr wrap="none" anchor="ctr"/>
            <a:lstStyle/>
            <a:p>
              <a:pPr algn="l"/>
              <a:r>
                <a:rPr lang="zh-CN" altLang="en-US" sz="1600">
                  <a:solidFill>
                    <a:srgbClr val="0000FF"/>
                  </a:solidFill>
                  <a:latin typeface="Times New Roman" pitchFamily="18" charset="0"/>
                  <a:ea typeface="华文新魏" pitchFamily="2" charset="-122"/>
                </a:rPr>
                <a:t>触发点设置</a:t>
              </a:r>
              <a:r>
                <a:rPr lang="en-US" altLang="zh-CN" sz="1600">
                  <a:solidFill>
                    <a:srgbClr val="0000FF"/>
                  </a:solidFill>
                  <a:latin typeface="Times New Roman" pitchFamily="18" charset="0"/>
                  <a:ea typeface="华文新魏" pitchFamily="2" charset="-122"/>
                </a:rPr>
                <a:t>=8</a:t>
              </a:r>
            </a:p>
          </p:txBody>
        </p:sp>
        <p:sp>
          <p:nvSpPr>
            <p:cNvPr id="748559" name="Text Box 15"/>
            <p:cNvSpPr txBox="1">
              <a:spLocks noChangeArrowheads="1"/>
            </p:cNvSpPr>
            <p:nvPr/>
          </p:nvSpPr>
          <p:spPr bwMode="auto">
            <a:xfrm rot="5400000">
              <a:off x="1522" y="2816"/>
              <a:ext cx="212" cy="173"/>
            </a:xfrm>
            <a:prstGeom prst="rect">
              <a:avLst/>
            </a:prstGeom>
            <a:noFill/>
            <a:ln w="9525" algn="ctr">
              <a:noFill/>
              <a:miter lim="800000"/>
              <a:headEnd/>
              <a:tailEnd/>
            </a:ln>
            <a:effectLst/>
          </p:spPr>
          <p:txBody>
            <a:bodyPr wrap="none">
              <a:spAutoFit/>
            </a:bodyPr>
            <a:lstStyle/>
            <a:p>
              <a:r>
                <a:rPr lang="en-US" altLang="zh-CN" sz="1200">
                  <a:latin typeface="宋体"/>
                </a:rPr>
                <a:t>…</a:t>
              </a:r>
              <a:endParaRPr lang="en-US" altLang="zh-CN" sz="1200">
                <a:latin typeface="Times New Roman" pitchFamily="18" charset="0"/>
              </a:endParaRPr>
            </a:p>
          </p:txBody>
        </p:sp>
        <p:sp>
          <p:nvSpPr>
            <p:cNvPr id="748560" name="Text Box 16"/>
            <p:cNvSpPr txBox="1">
              <a:spLocks noChangeArrowheads="1"/>
            </p:cNvSpPr>
            <p:nvPr/>
          </p:nvSpPr>
          <p:spPr bwMode="auto">
            <a:xfrm rot="5400000">
              <a:off x="1522" y="3400"/>
              <a:ext cx="212" cy="173"/>
            </a:xfrm>
            <a:prstGeom prst="rect">
              <a:avLst/>
            </a:prstGeom>
            <a:noFill/>
            <a:ln w="9525" algn="ctr">
              <a:noFill/>
              <a:miter lim="800000"/>
              <a:headEnd/>
              <a:tailEnd/>
            </a:ln>
            <a:effectLst/>
          </p:spPr>
          <p:txBody>
            <a:bodyPr wrap="none">
              <a:spAutoFit/>
            </a:bodyPr>
            <a:lstStyle/>
            <a:p>
              <a:r>
                <a:rPr lang="en-US" altLang="zh-CN" sz="1200">
                  <a:latin typeface="宋体"/>
                </a:rPr>
                <a:t>…</a:t>
              </a:r>
              <a:endParaRPr lang="en-US" altLang="zh-CN" sz="1200">
                <a:latin typeface="Times New Roman" pitchFamily="18" charset="0"/>
              </a:endParaRPr>
            </a:p>
          </p:txBody>
        </p:sp>
        <p:sp>
          <p:nvSpPr>
            <p:cNvPr id="748561" name="Text Box 17"/>
            <p:cNvSpPr txBox="1">
              <a:spLocks noChangeArrowheads="1"/>
            </p:cNvSpPr>
            <p:nvPr/>
          </p:nvSpPr>
          <p:spPr bwMode="auto">
            <a:xfrm>
              <a:off x="1237" y="3953"/>
              <a:ext cx="726" cy="212"/>
            </a:xfrm>
            <a:prstGeom prst="rect">
              <a:avLst/>
            </a:prstGeom>
            <a:noFill/>
            <a:ln w="9525">
              <a:noFill/>
              <a:miter lim="800000"/>
              <a:headEnd/>
              <a:tailEnd/>
            </a:ln>
            <a:effectLst/>
          </p:spPr>
          <p:txBody>
            <a:bodyPr>
              <a:spAutoFit/>
            </a:bodyPr>
            <a:lstStyle/>
            <a:p>
              <a:pPr>
                <a:spcBef>
                  <a:spcPct val="50000"/>
                </a:spcBef>
              </a:pPr>
              <a:r>
                <a:rPr lang="zh-CN" altLang="en-US" sz="1600">
                  <a:solidFill>
                    <a:srgbClr val="0000FF"/>
                  </a:solidFill>
                  <a:latin typeface="Times New Roman" pitchFamily="18" charset="0"/>
                </a:rPr>
                <a:t>接收</a:t>
              </a:r>
              <a:r>
                <a:rPr lang="en-US" altLang="zh-CN" sz="1600">
                  <a:solidFill>
                    <a:srgbClr val="0000FF"/>
                  </a:solidFill>
                  <a:latin typeface="Times New Roman" pitchFamily="18" charset="0"/>
                </a:rPr>
                <a:t>FIFO</a:t>
              </a:r>
            </a:p>
          </p:txBody>
        </p:sp>
        <p:sp>
          <p:nvSpPr>
            <p:cNvPr id="748562" name="Rectangle 18"/>
            <p:cNvSpPr>
              <a:spLocks noChangeArrowheads="1"/>
            </p:cNvSpPr>
            <p:nvPr/>
          </p:nvSpPr>
          <p:spPr bwMode="auto">
            <a:xfrm>
              <a:off x="1232" y="3775"/>
              <a:ext cx="748" cy="181"/>
            </a:xfrm>
            <a:prstGeom prst="rect">
              <a:avLst/>
            </a:prstGeom>
            <a:noFill/>
            <a:ln w="9525" algn="ctr">
              <a:solidFill>
                <a:schemeClr val="tx1"/>
              </a:solidFill>
              <a:miter lim="800000"/>
              <a:headEnd/>
              <a:tailEnd/>
            </a:ln>
            <a:effectLst/>
          </p:spPr>
          <p:txBody>
            <a:bodyPr wrap="none" lIns="90000" tIns="46800" rIns="90000" bIns="46800" anchor="ctr"/>
            <a:lstStyle/>
            <a:p>
              <a:r>
                <a:rPr lang="en-US" altLang="zh-CN" sz="1600">
                  <a:latin typeface="Times New Roman" pitchFamily="18" charset="0"/>
                </a:rPr>
                <a:t>1</a:t>
              </a:r>
            </a:p>
          </p:txBody>
        </p:sp>
        <p:sp>
          <p:nvSpPr>
            <p:cNvPr id="748563" name="Rectangle 19"/>
            <p:cNvSpPr>
              <a:spLocks noChangeArrowheads="1"/>
            </p:cNvSpPr>
            <p:nvPr/>
          </p:nvSpPr>
          <p:spPr bwMode="auto">
            <a:xfrm>
              <a:off x="1232" y="3587"/>
              <a:ext cx="748" cy="181"/>
            </a:xfrm>
            <a:prstGeom prst="rect">
              <a:avLst/>
            </a:prstGeom>
            <a:noFill/>
            <a:ln w="9525" algn="ctr">
              <a:solidFill>
                <a:schemeClr val="tx1"/>
              </a:solidFill>
              <a:miter lim="800000"/>
              <a:headEnd/>
              <a:tailEnd/>
            </a:ln>
            <a:effectLst/>
          </p:spPr>
          <p:txBody>
            <a:bodyPr wrap="none" lIns="90000" tIns="46800" rIns="90000" bIns="46800" anchor="ctr"/>
            <a:lstStyle/>
            <a:p>
              <a:r>
                <a:rPr lang="en-US" altLang="zh-CN" sz="1600">
                  <a:latin typeface="Times New Roman" pitchFamily="18" charset="0"/>
                </a:rPr>
                <a:t>2</a:t>
              </a:r>
            </a:p>
          </p:txBody>
        </p:sp>
        <p:sp>
          <p:nvSpPr>
            <p:cNvPr id="748564" name="Rectangle 20"/>
            <p:cNvSpPr>
              <a:spLocks noChangeArrowheads="1"/>
            </p:cNvSpPr>
            <p:nvPr/>
          </p:nvSpPr>
          <p:spPr bwMode="auto">
            <a:xfrm>
              <a:off x="1232" y="3193"/>
              <a:ext cx="748" cy="181"/>
            </a:xfrm>
            <a:prstGeom prst="rect">
              <a:avLst/>
            </a:prstGeom>
            <a:noFill/>
            <a:ln w="9525" algn="ctr">
              <a:solidFill>
                <a:schemeClr val="tx1"/>
              </a:solidFill>
              <a:miter lim="800000"/>
              <a:headEnd/>
              <a:tailEnd/>
            </a:ln>
            <a:effectLst/>
          </p:spPr>
          <p:txBody>
            <a:bodyPr wrap="none" lIns="90000" tIns="46800" rIns="90000" bIns="46800" anchor="ctr"/>
            <a:lstStyle/>
            <a:p>
              <a:r>
                <a:rPr lang="en-US" altLang="zh-CN" sz="1600">
                  <a:latin typeface="Times New Roman" pitchFamily="18" charset="0"/>
                </a:rPr>
                <a:t>8</a:t>
              </a:r>
            </a:p>
          </p:txBody>
        </p:sp>
        <p:sp>
          <p:nvSpPr>
            <p:cNvPr id="748565" name="Rectangle 21"/>
            <p:cNvSpPr>
              <a:spLocks noChangeArrowheads="1"/>
            </p:cNvSpPr>
            <p:nvPr/>
          </p:nvSpPr>
          <p:spPr bwMode="auto">
            <a:xfrm>
              <a:off x="1232" y="3013"/>
              <a:ext cx="748" cy="181"/>
            </a:xfrm>
            <a:prstGeom prst="rect">
              <a:avLst/>
            </a:prstGeom>
            <a:noFill/>
            <a:ln w="9525" algn="ctr">
              <a:solidFill>
                <a:schemeClr val="tx1"/>
              </a:solidFill>
              <a:miter lim="800000"/>
              <a:headEnd/>
              <a:tailEnd/>
            </a:ln>
            <a:effectLst/>
          </p:spPr>
          <p:txBody>
            <a:bodyPr wrap="none" lIns="90000" tIns="46800" rIns="90000" bIns="46800" anchor="ctr"/>
            <a:lstStyle/>
            <a:p>
              <a:r>
                <a:rPr lang="en-US" altLang="zh-CN" sz="1600">
                  <a:latin typeface="Times New Roman" pitchFamily="18" charset="0"/>
                </a:rPr>
                <a:t>9</a:t>
              </a:r>
            </a:p>
          </p:txBody>
        </p:sp>
        <p:sp>
          <p:nvSpPr>
            <p:cNvPr id="748566" name="Rectangle 22"/>
            <p:cNvSpPr>
              <a:spLocks noChangeArrowheads="1"/>
            </p:cNvSpPr>
            <p:nvPr/>
          </p:nvSpPr>
          <p:spPr bwMode="auto">
            <a:xfrm>
              <a:off x="1233" y="2606"/>
              <a:ext cx="748" cy="181"/>
            </a:xfrm>
            <a:prstGeom prst="rect">
              <a:avLst/>
            </a:prstGeom>
            <a:noFill/>
            <a:ln w="9525" algn="ctr">
              <a:solidFill>
                <a:schemeClr val="tx1"/>
              </a:solidFill>
              <a:miter lim="800000"/>
              <a:headEnd/>
              <a:tailEnd/>
            </a:ln>
            <a:effectLst/>
          </p:spPr>
          <p:txBody>
            <a:bodyPr wrap="none" lIns="90000" tIns="46800" rIns="90000" bIns="46800" anchor="ctr"/>
            <a:lstStyle/>
            <a:p>
              <a:r>
                <a:rPr lang="en-US" altLang="zh-CN" sz="1600">
                  <a:latin typeface="Times New Roman" pitchFamily="18" charset="0"/>
                </a:rPr>
                <a:t>16</a:t>
              </a:r>
            </a:p>
          </p:txBody>
        </p:sp>
        <p:sp>
          <p:nvSpPr>
            <p:cNvPr id="748567" name="Rectangle 23"/>
            <p:cNvSpPr>
              <a:spLocks noChangeArrowheads="1"/>
            </p:cNvSpPr>
            <p:nvPr/>
          </p:nvSpPr>
          <p:spPr bwMode="auto">
            <a:xfrm>
              <a:off x="1232" y="2785"/>
              <a:ext cx="748" cy="224"/>
            </a:xfrm>
            <a:prstGeom prst="rect">
              <a:avLst/>
            </a:prstGeom>
            <a:noFill/>
            <a:ln w="9525" algn="ctr">
              <a:solidFill>
                <a:schemeClr val="tx1"/>
              </a:solidFill>
              <a:miter lim="800000"/>
              <a:headEnd/>
              <a:tailEnd/>
            </a:ln>
            <a:effectLst/>
          </p:spPr>
          <p:txBody>
            <a:bodyPr wrap="none" lIns="90000" tIns="46800" rIns="90000" bIns="46800" anchor="ctr"/>
            <a:lstStyle/>
            <a:p>
              <a:endParaRPr lang="zh-CN" altLang="zh-CN" sz="1600">
                <a:latin typeface="Times New Roman" pitchFamily="18" charset="0"/>
              </a:endParaRPr>
            </a:p>
          </p:txBody>
        </p:sp>
        <p:sp>
          <p:nvSpPr>
            <p:cNvPr id="748568" name="Rectangle 24"/>
            <p:cNvSpPr>
              <a:spLocks noChangeArrowheads="1"/>
            </p:cNvSpPr>
            <p:nvPr/>
          </p:nvSpPr>
          <p:spPr bwMode="auto">
            <a:xfrm>
              <a:off x="1232" y="3375"/>
              <a:ext cx="748" cy="216"/>
            </a:xfrm>
            <a:prstGeom prst="rect">
              <a:avLst/>
            </a:prstGeom>
            <a:noFill/>
            <a:ln w="9525" algn="ctr">
              <a:solidFill>
                <a:schemeClr val="tx1"/>
              </a:solidFill>
              <a:miter lim="800000"/>
              <a:headEnd/>
              <a:tailEnd/>
            </a:ln>
            <a:effectLst/>
          </p:spPr>
          <p:txBody>
            <a:bodyPr wrap="none" lIns="90000" tIns="46800" rIns="90000" bIns="46800" anchor="ctr"/>
            <a:lstStyle/>
            <a:p>
              <a:endParaRPr lang="zh-CN" altLang="zh-CN" sz="1600">
                <a:latin typeface="Times New Roman" pitchFamily="18" charset="0"/>
              </a:endParaRPr>
            </a:p>
          </p:txBody>
        </p:sp>
      </p:grpSp>
      <p:sp>
        <p:nvSpPr>
          <p:cNvPr id="748569" name="Rectangle 25"/>
          <p:cNvSpPr>
            <a:spLocks noChangeArrowheads="1"/>
          </p:cNvSpPr>
          <p:nvPr/>
        </p:nvSpPr>
        <p:spPr bwMode="auto">
          <a:xfrm>
            <a:off x="7137400" y="4648200"/>
            <a:ext cx="2273300" cy="647700"/>
          </a:xfrm>
          <a:prstGeom prst="rect">
            <a:avLst/>
          </a:prstGeom>
          <a:gradFill rotWithShape="0">
            <a:gsLst>
              <a:gs pos="0">
                <a:srgbClr val="FBFEE6"/>
              </a:gs>
              <a:gs pos="100000">
                <a:srgbClr val="FBFEE6">
                  <a:gamma/>
                  <a:shade val="89804"/>
                  <a:invGamma/>
                </a:srgbClr>
              </a:gs>
            </a:gsLst>
            <a:path path="shape">
              <a:fillToRect l="50000" t="50000" r="50000" b="50000"/>
            </a:path>
          </a:gradFill>
          <a:ln w="9525" algn="ctr">
            <a:solidFill>
              <a:schemeClr val="tx1"/>
            </a:solidFill>
            <a:miter lim="800000"/>
            <a:headEnd/>
            <a:tailEnd/>
          </a:ln>
          <a:effectLst>
            <a:outerShdw dist="107763" dir="2700000" algn="ctr" rotWithShape="0">
              <a:schemeClr val="bg2">
                <a:alpha val="50000"/>
              </a:schemeClr>
            </a:outerShdw>
          </a:effectLst>
        </p:spPr>
        <p:txBody>
          <a:bodyPr wrap="none" lIns="90000" tIns="46800" rIns="90000" bIns="46800" anchor="ctr"/>
          <a:lstStyle/>
          <a:p>
            <a:r>
              <a:rPr lang="zh-CN" altLang="en-US" sz="2400" b="1">
                <a:latin typeface="Times New Roman" pitchFamily="18" charset="0"/>
                <a:ea typeface="华文新魏" pitchFamily="2" charset="-122"/>
              </a:rPr>
              <a:t>触发</a:t>
            </a:r>
            <a:r>
              <a:rPr lang="en-US" altLang="zh-CN" sz="2400" b="1">
                <a:latin typeface="Times New Roman" pitchFamily="18" charset="0"/>
                <a:ea typeface="华文新魏" pitchFamily="2" charset="-122"/>
              </a:rPr>
              <a:t>RDA</a:t>
            </a:r>
            <a:r>
              <a:rPr lang="zh-CN" altLang="en-US" sz="2400" b="1">
                <a:latin typeface="Times New Roman" pitchFamily="18" charset="0"/>
                <a:ea typeface="华文新魏" pitchFamily="2" charset="-122"/>
              </a:rPr>
              <a:t>中断</a:t>
            </a:r>
          </a:p>
        </p:txBody>
      </p:sp>
      <p:sp>
        <p:nvSpPr>
          <p:cNvPr id="748570" name="AutoShape 26"/>
          <p:cNvSpPr>
            <a:spLocks noChangeArrowheads="1"/>
          </p:cNvSpPr>
          <p:nvPr/>
        </p:nvSpPr>
        <p:spPr bwMode="auto">
          <a:xfrm>
            <a:off x="5575301" y="4826001"/>
            <a:ext cx="1090613" cy="320675"/>
          </a:xfrm>
          <a:prstGeom prst="rightArrow">
            <a:avLst>
              <a:gd name="adj1" fmla="val 50000"/>
              <a:gd name="adj2" fmla="val 85025"/>
            </a:avLst>
          </a:prstGeom>
          <a:solidFill>
            <a:srgbClr val="0000FF"/>
          </a:solidFill>
          <a:ln w="9525" algn="ctr">
            <a:solidFill>
              <a:schemeClr val="tx1"/>
            </a:solidFill>
            <a:miter lim="800000"/>
            <a:headEnd/>
            <a:tailEnd/>
          </a:ln>
          <a:effectLst/>
        </p:spPr>
        <p:txBody>
          <a:bodyPr wrap="none" lIns="90000" tIns="46800" rIns="90000" bIns="46800"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48552"/>
                                        </p:tgtEl>
                                        <p:attrNameLst>
                                          <p:attrName>style.visibility</p:attrName>
                                        </p:attrNameLst>
                                      </p:cBhvr>
                                      <p:to>
                                        <p:strVal val="visible"/>
                                      </p:to>
                                    </p:set>
                                    <p:animEffect transition="in" filter="blinds(horizontal)">
                                      <p:cBhvr>
                                        <p:cTn id="7" dur="500"/>
                                        <p:tgtEl>
                                          <p:spTgt spid="748552"/>
                                        </p:tgtEl>
                                      </p:cBhvr>
                                    </p:animEffect>
                                  </p:childTnLst>
                                </p:cTn>
                              </p:par>
                            </p:childTnLst>
                          </p:cTn>
                        </p:par>
                        <p:par>
                          <p:cTn id="8" fill="hold">
                            <p:stCondLst>
                              <p:cond delay="500"/>
                            </p:stCondLst>
                            <p:childTnLst>
                              <p:par>
                                <p:cTn id="9" presetID="5" presetClass="entr" presetSubtype="10" fill="hold" nodeType="afterEffect">
                                  <p:stCondLst>
                                    <p:cond delay="0"/>
                                  </p:stCondLst>
                                  <p:childTnLst>
                                    <p:set>
                                      <p:cBhvr>
                                        <p:cTn id="10" dur="1" fill="hold">
                                          <p:stCondLst>
                                            <p:cond delay="0"/>
                                          </p:stCondLst>
                                        </p:cTn>
                                        <p:tgtEl>
                                          <p:spTgt spid="748553"/>
                                        </p:tgtEl>
                                        <p:attrNameLst>
                                          <p:attrName>style.visibility</p:attrName>
                                        </p:attrNameLst>
                                      </p:cBhvr>
                                      <p:to>
                                        <p:strVal val="visible"/>
                                      </p:to>
                                    </p:set>
                                    <p:animEffect transition="in" filter="checkerboard(across)">
                                      <p:cBhvr>
                                        <p:cTn id="11" dur="500"/>
                                        <p:tgtEl>
                                          <p:spTgt spid="74855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748546"/>
                                        </p:tgtEl>
                                        <p:attrNameLst>
                                          <p:attrName>style.visibility</p:attrName>
                                        </p:attrNameLst>
                                      </p:cBhvr>
                                      <p:to>
                                        <p:strVal val="visible"/>
                                      </p:to>
                                    </p:set>
                                    <p:animEffect transition="in" filter="wipe(down)">
                                      <p:cBhvr>
                                        <p:cTn id="16" dur="1000"/>
                                        <p:tgtEl>
                                          <p:spTgt spid="748546"/>
                                        </p:tgtEl>
                                      </p:cBhvr>
                                    </p:animEffect>
                                  </p:childTnLst>
                                </p:cTn>
                              </p:par>
                            </p:childTnLst>
                          </p:cTn>
                        </p:par>
                        <p:par>
                          <p:cTn id="17" fill="hold">
                            <p:stCondLst>
                              <p:cond delay="1000"/>
                            </p:stCondLst>
                            <p:childTnLst>
                              <p:par>
                                <p:cTn id="18" presetID="22" presetClass="entr" presetSubtype="4" fill="hold" grpId="0" nodeType="afterEffect">
                                  <p:stCondLst>
                                    <p:cond delay="0"/>
                                  </p:stCondLst>
                                  <p:childTnLst>
                                    <p:set>
                                      <p:cBhvr>
                                        <p:cTn id="19" dur="1" fill="hold">
                                          <p:stCondLst>
                                            <p:cond delay="0"/>
                                          </p:stCondLst>
                                        </p:cTn>
                                        <p:tgtEl>
                                          <p:spTgt spid="748547"/>
                                        </p:tgtEl>
                                        <p:attrNameLst>
                                          <p:attrName>style.visibility</p:attrName>
                                        </p:attrNameLst>
                                      </p:cBhvr>
                                      <p:to>
                                        <p:strVal val="visible"/>
                                      </p:to>
                                    </p:set>
                                    <p:animEffect transition="in" filter="wipe(down)">
                                      <p:cBhvr>
                                        <p:cTn id="20" dur="1000"/>
                                        <p:tgtEl>
                                          <p:spTgt spid="748547"/>
                                        </p:tgtEl>
                                      </p:cBhvr>
                                    </p:animEffect>
                                  </p:childTnLst>
                                </p:cTn>
                              </p:par>
                            </p:childTnLst>
                          </p:cTn>
                        </p:par>
                        <p:par>
                          <p:cTn id="21" fill="hold">
                            <p:stCondLst>
                              <p:cond delay="2000"/>
                            </p:stCondLst>
                            <p:childTnLst>
                              <p:par>
                                <p:cTn id="22" presetID="22" presetClass="entr" presetSubtype="4" fill="hold" grpId="0" nodeType="afterEffect">
                                  <p:stCondLst>
                                    <p:cond delay="0"/>
                                  </p:stCondLst>
                                  <p:childTnLst>
                                    <p:set>
                                      <p:cBhvr>
                                        <p:cTn id="23" dur="1" fill="hold">
                                          <p:stCondLst>
                                            <p:cond delay="0"/>
                                          </p:stCondLst>
                                        </p:cTn>
                                        <p:tgtEl>
                                          <p:spTgt spid="748548"/>
                                        </p:tgtEl>
                                        <p:attrNameLst>
                                          <p:attrName>style.visibility</p:attrName>
                                        </p:attrNameLst>
                                      </p:cBhvr>
                                      <p:to>
                                        <p:strVal val="visible"/>
                                      </p:to>
                                    </p:set>
                                    <p:animEffect transition="in" filter="wipe(down)">
                                      <p:cBhvr>
                                        <p:cTn id="24" dur="1000"/>
                                        <p:tgtEl>
                                          <p:spTgt spid="748548"/>
                                        </p:tgtEl>
                                      </p:cBhvr>
                                    </p:animEffect>
                                  </p:childTnLst>
                                </p:cTn>
                              </p:par>
                            </p:childTnLst>
                          </p:cTn>
                        </p:par>
                        <p:par>
                          <p:cTn id="25" fill="hold">
                            <p:stCondLst>
                              <p:cond delay="3000"/>
                            </p:stCondLst>
                            <p:childTnLst>
                              <p:par>
                                <p:cTn id="26" presetID="22" presetClass="entr" presetSubtype="4" fill="hold" grpId="0" nodeType="afterEffect">
                                  <p:stCondLst>
                                    <p:cond delay="0"/>
                                  </p:stCondLst>
                                  <p:childTnLst>
                                    <p:set>
                                      <p:cBhvr>
                                        <p:cTn id="27" dur="1" fill="hold">
                                          <p:stCondLst>
                                            <p:cond delay="0"/>
                                          </p:stCondLst>
                                        </p:cTn>
                                        <p:tgtEl>
                                          <p:spTgt spid="748549"/>
                                        </p:tgtEl>
                                        <p:attrNameLst>
                                          <p:attrName>style.visibility</p:attrName>
                                        </p:attrNameLst>
                                      </p:cBhvr>
                                      <p:to>
                                        <p:strVal val="visible"/>
                                      </p:to>
                                    </p:set>
                                    <p:animEffect transition="in" filter="wipe(down)">
                                      <p:cBhvr>
                                        <p:cTn id="28" dur="1000"/>
                                        <p:tgtEl>
                                          <p:spTgt spid="748549"/>
                                        </p:tgtEl>
                                      </p:cBhvr>
                                    </p:animEffect>
                                  </p:childTnLst>
                                </p:cTn>
                              </p:par>
                            </p:childTnLst>
                          </p:cTn>
                        </p:par>
                        <p:par>
                          <p:cTn id="29" fill="hold">
                            <p:stCondLst>
                              <p:cond delay="4000"/>
                            </p:stCondLst>
                            <p:childTnLst>
                              <p:par>
                                <p:cTn id="30" presetID="22" presetClass="entr" presetSubtype="8" fill="hold" grpId="0" nodeType="afterEffect">
                                  <p:stCondLst>
                                    <p:cond delay="0"/>
                                  </p:stCondLst>
                                  <p:childTnLst>
                                    <p:set>
                                      <p:cBhvr>
                                        <p:cTn id="31" dur="1" fill="hold">
                                          <p:stCondLst>
                                            <p:cond delay="0"/>
                                          </p:stCondLst>
                                        </p:cTn>
                                        <p:tgtEl>
                                          <p:spTgt spid="748570"/>
                                        </p:tgtEl>
                                        <p:attrNameLst>
                                          <p:attrName>style.visibility</p:attrName>
                                        </p:attrNameLst>
                                      </p:cBhvr>
                                      <p:to>
                                        <p:strVal val="visible"/>
                                      </p:to>
                                    </p:set>
                                    <p:animEffect transition="in" filter="wipe(left)">
                                      <p:cBhvr>
                                        <p:cTn id="32" dur="500"/>
                                        <p:tgtEl>
                                          <p:spTgt spid="748570"/>
                                        </p:tgtEl>
                                      </p:cBhvr>
                                    </p:animEffect>
                                  </p:childTnLst>
                                </p:cTn>
                              </p:par>
                            </p:childTnLst>
                          </p:cTn>
                        </p:par>
                        <p:par>
                          <p:cTn id="33" fill="hold">
                            <p:stCondLst>
                              <p:cond delay="4500"/>
                            </p:stCondLst>
                            <p:childTnLst>
                              <p:par>
                                <p:cTn id="34" presetID="22" presetClass="entr" presetSubtype="8" fill="hold" grpId="0" nodeType="afterEffect">
                                  <p:stCondLst>
                                    <p:cond delay="0"/>
                                  </p:stCondLst>
                                  <p:childTnLst>
                                    <p:set>
                                      <p:cBhvr>
                                        <p:cTn id="35" dur="1" fill="hold">
                                          <p:stCondLst>
                                            <p:cond delay="0"/>
                                          </p:stCondLst>
                                        </p:cTn>
                                        <p:tgtEl>
                                          <p:spTgt spid="748569"/>
                                        </p:tgtEl>
                                        <p:attrNameLst>
                                          <p:attrName>style.visibility</p:attrName>
                                        </p:attrNameLst>
                                      </p:cBhvr>
                                      <p:to>
                                        <p:strVal val="visible"/>
                                      </p:to>
                                    </p:set>
                                    <p:animEffect transition="in" filter="wipe(left)">
                                      <p:cBhvr>
                                        <p:cTn id="36" dur="500"/>
                                        <p:tgtEl>
                                          <p:spTgt spid="7485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546" grpId="0" animBg="1"/>
      <p:bldP spid="748547" grpId="0" animBg="1"/>
      <p:bldP spid="748548" grpId="0" animBg="1"/>
      <p:bldP spid="748549" grpId="0" animBg="1"/>
      <p:bldP spid="748552" grpId="0"/>
      <p:bldP spid="748569" grpId="0" animBg="1"/>
      <p:bldP spid="748570"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9570" name="Rectangle 2"/>
          <p:cNvSpPr>
            <a:spLocks noChangeArrowheads="1"/>
          </p:cNvSpPr>
          <p:nvPr/>
        </p:nvSpPr>
        <p:spPr bwMode="auto">
          <a:xfrm>
            <a:off x="2133600" y="698500"/>
            <a:ext cx="7772400" cy="1143000"/>
          </a:xfrm>
          <a:prstGeom prst="rect">
            <a:avLst/>
          </a:prstGeom>
          <a:noFill/>
          <a:ln w="9525">
            <a:noFill/>
            <a:miter lim="800000"/>
            <a:headEnd/>
            <a:tailEnd/>
          </a:ln>
          <a:effectLst/>
        </p:spPr>
        <p:txBody>
          <a:bodyPr anchor="ctr"/>
          <a:lstStyle/>
          <a:p>
            <a:r>
              <a:rPr lang="en-US" altLang="zh-CN" sz="4400">
                <a:solidFill>
                  <a:schemeClr val="tx2"/>
                </a:solidFill>
                <a:latin typeface="Times New Roman" pitchFamily="18" charset="0"/>
              </a:rPr>
              <a:t>UART</a:t>
            </a:r>
            <a:r>
              <a:rPr lang="zh-CN" altLang="en-US" sz="4400">
                <a:solidFill>
                  <a:schemeClr val="tx2"/>
                </a:solidFill>
                <a:latin typeface="Times New Roman" pitchFamily="18" charset="0"/>
              </a:rPr>
              <a:t>中断总结</a:t>
            </a:r>
          </a:p>
        </p:txBody>
      </p:sp>
      <p:sp>
        <p:nvSpPr>
          <p:cNvPr id="749571" name="Rectangle 3"/>
          <p:cNvSpPr>
            <a:spLocks noChangeArrowheads="1"/>
          </p:cNvSpPr>
          <p:nvPr/>
        </p:nvSpPr>
        <p:spPr bwMode="auto">
          <a:xfrm>
            <a:off x="2209800" y="17764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ea typeface="华文新魏" pitchFamily="2" charset="-122"/>
              </a:rPr>
              <a:t>接收中断</a:t>
            </a:r>
            <a:r>
              <a:rPr lang="en-US" altLang="zh-CN" sz="3200">
                <a:latin typeface="Times New Roman" pitchFamily="18" charset="0"/>
                <a:ea typeface="华文新魏" pitchFamily="2" charset="-122"/>
              </a:rPr>
              <a:t>——</a:t>
            </a:r>
            <a:r>
              <a:rPr lang="zh-CN" altLang="en-US" sz="3200">
                <a:latin typeface="Times New Roman" pitchFamily="18" charset="0"/>
                <a:ea typeface="华文新魏" pitchFamily="2" charset="-122"/>
              </a:rPr>
              <a:t>接收超时中断（</a:t>
            </a:r>
            <a:r>
              <a:rPr lang="en-US" altLang="zh-CN" sz="3200">
                <a:latin typeface="Times New Roman" pitchFamily="18" charset="0"/>
                <a:ea typeface="华文新魏" pitchFamily="2" charset="-122"/>
              </a:rPr>
              <a:t>CTI</a:t>
            </a:r>
            <a:r>
              <a:rPr lang="zh-CN" altLang="en-US" sz="3200">
                <a:latin typeface="Times New Roman" pitchFamily="18" charset="0"/>
                <a:ea typeface="华文新魏" pitchFamily="2" charset="-122"/>
              </a:rPr>
              <a:t>）</a:t>
            </a:r>
          </a:p>
        </p:txBody>
      </p:sp>
      <p:sp>
        <p:nvSpPr>
          <p:cNvPr id="749572" name="Rectangle 4"/>
          <p:cNvSpPr>
            <a:spLocks noChangeArrowheads="1"/>
          </p:cNvSpPr>
          <p:nvPr/>
        </p:nvSpPr>
        <p:spPr bwMode="auto">
          <a:xfrm>
            <a:off x="2119314" y="2308137"/>
            <a:ext cx="8029575" cy="1200329"/>
          </a:xfrm>
          <a:prstGeom prst="rect">
            <a:avLst/>
          </a:prstGeom>
          <a:noFill/>
          <a:ln w="19050" algn="ctr">
            <a:noFill/>
            <a:miter lim="800000"/>
            <a:headEnd/>
            <a:tailEnd/>
          </a:ln>
          <a:effectLst/>
        </p:spPr>
        <p:txBody>
          <a:bodyPr anchor="ctr">
            <a:spAutoFit/>
          </a:bodyPr>
          <a:lstStyle/>
          <a:p>
            <a:pPr algn="l"/>
            <a:r>
              <a:rPr lang="en-US" altLang="zh-CN" sz="2400">
                <a:latin typeface="Times New Roman" pitchFamily="18" charset="0"/>
                <a:ea typeface="华文新魏" pitchFamily="2" charset="-122"/>
              </a:rPr>
              <a:t>       </a:t>
            </a:r>
            <a:r>
              <a:rPr lang="zh-CN" altLang="en-US" sz="2400">
                <a:latin typeface="Times New Roman" pitchFamily="18" charset="0"/>
                <a:ea typeface="华文新魏" pitchFamily="2" charset="-122"/>
              </a:rPr>
              <a:t>当接收</a:t>
            </a:r>
            <a:r>
              <a:rPr lang="en-US" altLang="zh-CN" sz="2400">
                <a:latin typeface="Times New Roman" pitchFamily="18" charset="0"/>
                <a:ea typeface="华文新魏" pitchFamily="2" charset="-122"/>
              </a:rPr>
              <a:t>FIFO</a:t>
            </a:r>
            <a:r>
              <a:rPr lang="zh-CN" altLang="en-US" sz="2400">
                <a:latin typeface="Times New Roman" pitchFamily="18" charset="0"/>
                <a:ea typeface="华文新魏" pitchFamily="2" charset="-122"/>
              </a:rPr>
              <a:t>中的有效数据个数少于触发个数时（注：接收</a:t>
            </a:r>
            <a:r>
              <a:rPr lang="en-US" altLang="zh-CN" sz="2400">
                <a:latin typeface="Times New Roman" pitchFamily="18" charset="0"/>
                <a:ea typeface="华文新魏" pitchFamily="2" charset="-122"/>
              </a:rPr>
              <a:t>FIFO</a:t>
            </a:r>
            <a:r>
              <a:rPr lang="zh-CN" altLang="en-US" sz="2400">
                <a:latin typeface="Times New Roman" pitchFamily="18" charset="0"/>
                <a:ea typeface="华文新魏" pitchFamily="2" charset="-122"/>
              </a:rPr>
              <a:t>中至少有一个字节），如果在</a:t>
            </a:r>
            <a:r>
              <a:rPr lang="en-US" altLang="zh-CN" sz="2400">
                <a:latin typeface="Times New Roman" pitchFamily="18" charset="0"/>
                <a:ea typeface="华文新魏" pitchFamily="2" charset="-122"/>
              </a:rPr>
              <a:t>3.5</a:t>
            </a:r>
            <a:r>
              <a:rPr lang="zh-CN" altLang="en-US" sz="2400">
                <a:latin typeface="Times New Roman" pitchFamily="18" charset="0"/>
                <a:ea typeface="华文新魏" pitchFamily="2" charset="-122"/>
              </a:rPr>
              <a:t>到</a:t>
            </a:r>
            <a:r>
              <a:rPr lang="en-US" altLang="zh-CN" sz="2400">
                <a:latin typeface="Times New Roman" pitchFamily="18" charset="0"/>
                <a:ea typeface="华文新魏" pitchFamily="2" charset="-122"/>
              </a:rPr>
              <a:t>4.5</a:t>
            </a:r>
            <a:r>
              <a:rPr lang="zh-CN" altLang="en-US" sz="2400">
                <a:latin typeface="Times New Roman" pitchFamily="18" charset="0"/>
                <a:ea typeface="华文新魏" pitchFamily="2" charset="-122"/>
              </a:rPr>
              <a:t>个字符的时间内，没有收到其它数据，将触发</a:t>
            </a:r>
            <a:r>
              <a:rPr lang="en-US" altLang="zh-CN" sz="2400">
                <a:latin typeface="Times New Roman" pitchFamily="18" charset="0"/>
                <a:ea typeface="华文新魏" pitchFamily="2" charset="-122"/>
              </a:rPr>
              <a:t>CTI</a:t>
            </a:r>
            <a:r>
              <a:rPr lang="zh-CN" altLang="en-US" sz="2400">
                <a:latin typeface="Times New Roman" pitchFamily="18" charset="0"/>
                <a:ea typeface="华文新魏" pitchFamily="2" charset="-122"/>
              </a:rPr>
              <a:t>中断。</a:t>
            </a:r>
          </a:p>
        </p:txBody>
      </p:sp>
      <p:sp>
        <p:nvSpPr>
          <p:cNvPr id="749573" name="Rectangle 5"/>
          <p:cNvSpPr>
            <a:spLocks noChangeArrowheads="1"/>
          </p:cNvSpPr>
          <p:nvPr/>
        </p:nvSpPr>
        <p:spPr bwMode="auto">
          <a:xfrm>
            <a:off x="3962400" y="5905500"/>
            <a:ext cx="1168400" cy="261938"/>
          </a:xfrm>
          <a:prstGeom prst="rect">
            <a:avLst/>
          </a:prstGeom>
          <a:solidFill>
            <a:srgbClr val="FFCC99"/>
          </a:solidFill>
          <a:ln w="9525" algn="ctr">
            <a:noFill/>
            <a:miter lim="800000"/>
            <a:headEnd/>
            <a:tailEnd/>
          </a:ln>
          <a:effectLst/>
        </p:spPr>
        <p:txBody>
          <a:bodyPr wrap="none" lIns="90000" tIns="46800" rIns="90000" bIns="46800" anchor="ctr"/>
          <a:lstStyle/>
          <a:p>
            <a:endParaRPr lang="zh-CN" altLang="en-US"/>
          </a:p>
        </p:txBody>
      </p:sp>
      <p:sp>
        <p:nvSpPr>
          <p:cNvPr id="749574" name="Rectangle 6"/>
          <p:cNvSpPr>
            <a:spLocks noChangeArrowheads="1"/>
          </p:cNvSpPr>
          <p:nvPr/>
        </p:nvSpPr>
        <p:spPr bwMode="auto">
          <a:xfrm>
            <a:off x="3962400" y="5613400"/>
            <a:ext cx="1168400" cy="261938"/>
          </a:xfrm>
          <a:prstGeom prst="rect">
            <a:avLst/>
          </a:prstGeom>
          <a:solidFill>
            <a:srgbClr val="FFCC99"/>
          </a:solidFill>
          <a:ln w="9525" algn="ctr">
            <a:noFill/>
            <a:miter lim="800000"/>
            <a:headEnd/>
            <a:tailEnd/>
          </a:ln>
          <a:effectLst/>
        </p:spPr>
        <p:txBody>
          <a:bodyPr wrap="none" lIns="90000" tIns="46800" rIns="90000" bIns="46800" anchor="ctr"/>
          <a:lstStyle/>
          <a:p>
            <a:endParaRPr lang="zh-CN" altLang="en-US"/>
          </a:p>
        </p:txBody>
      </p:sp>
      <p:grpSp>
        <p:nvGrpSpPr>
          <p:cNvPr id="749575" name="Group 7"/>
          <p:cNvGrpSpPr>
            <a:grpSpLocks/>
          </p:cNvGrpSpPr>
          <p:nvPr/>
        </p:nvGrpSpPr>
        <p:grpSpPr bwMode="auto">
          <a:xfrm>
            <a:off x="2457450" y="3471864"/>
            <a:ext cx="4076700" cy="3038475"/>
            <a:chOff x="292" y="2251"/>
            <a:chExt cx="2568" cy="1914"/>
          </a:xfrm>
        </p:grpSpPr>
        <p:sp>
          <p:nvSpPr>
            <p:cNvPr id="749576" name="Line 8"/>
            <p:cNvSpPr>
              <a:spLocks noChangeShapeType="1"/>
            </p:cNvSpPr>
            <p:nvPr/>
          </p:nvSpPr>
          <p:spPr bwMode="auto">
            <a:xfrm>
              <a:off x="1976" y="3870"/>
              <a:ext cx="2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49577" name="Rectangle 9"/>
            <p:cNvSpPr>
              <a:spLocks noChangeArrowheads="1"/>
            </p:cNvSpPr>
            <p:nvPr/>
          </p:nvSpPr>
          <p:spPr bwMode="auto">
            <a:xfrm>
              <a:off x="2180" y="3769"/>
              <a:ext cx="680" cy="181"/>
            </a:xfrm>
            <a:prstGeom prst="rect">
              <a:avLst/>
            </a:prstGeom>
            <a:solidFill>
              <a:srgbClr val="FFFF99"/>
            </a:solidFill>
            <a:ln w="12700" algn="ctr">
              <a:solidFill>
                <a:schemeClr val="tx1"/>
              </a:solidFill>
              <a:miter lim="800000"/>
              <a:headEnd/>
              <a:tailEnd/>
            </a:ln>
            <a:effectLst/>
          </p:spPr>
          <p:txBody>
            <a:bodyPr wrap="none" anchor="ctr"/>
            <a:lstStyle/>
            <a:p>
              <a:r>
                <a:rPr lang="en-US" altLang="zh-CN" sz="1400">
                  <a:latin typeface="Times New Roman" pitchFamily="18" charset="0"/>
                </a:rPr>
                <a:t>UnRBR</a:t>
              </a:r>
            </a:p>
          </p:txBody>
        </p:sp>
        <p:sp>
          <p:nvSpPr>
            <p:cNvPr id="749578" name="AutoShape 10"/>
            <p:cNvSpPr>
              <a:spLocks noChangeArrowheads="1"/>
            </p:cNvSpPr>
            <p:nvPr/>
          </p:nvSpPr>
          <p:spPr bwMode="auto">
            <a:xfrm>
              <a:off x="1520" y="2368"/>
              <a:ext cx="184" cy="224"/>
            </a:xfrm>
            <a:prstGeom prst="downArrow">
              <a:avLst>
                <a:gd name="adj1" fmla="val 50000"/>
                <a:gd name="adj2" fmla="val 30435"/>
              </a:avLst>
            </a:prstGeom>
            <a:solidFill>
              <a:schemeClr val="bg1"/>
            </a:solidFill>
            <a:ln w="9525" algn="ctr">
              <a:solidFill>
                <a:schemeClr val="tx1"/>
              </a:solidFill>
              <a:miter lim="800000"/>
              <a:headEnd/>
              <a:tailEnd/>
            </a:ln>
            <a:effectLst/>
          </p:spPr>
          <p:txBody>
            <a:bodyPr wrap="none" anchor="ctr"/>
            <a:lstStyle/>
            <a:p>
              <a:endParaRPr lang="zh-CN" altLang="en-US"/>
            </a:p>
          </p:txBody>
        </p:sp>
        <p:sp>
          <p:nvSpPr>
            <p:cNvPr id="749579" name="Rectangle 11"/>
            <p:cNvSpPr>
              <a:spLocks noChangeArrowheads="1"/>
            </p:cNvSpPr>
            <p:nvPr/>
          </p:nvSpPr>
          <p:spPr bwMode="auto">
            <a:xfrm>
              <a:off x="1156" y="2251"/>
              <a:ext cx="904" cy="181"/>
            </a:xfrm>
            <a:prstGeom prst="rect">
              <a:avLst/>
            </a:prstGeom>
            <a:solidFill>
              <a:srgbClr val="CCFFFF"/>
            </a:solidFill>
            <a:ln w="12700"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接收移位寄存器</a:t>
              </a:r>
            </a:p>
          </p:txBody>
        </p:sp>
        <p:sp>
          <p:nvSpPr>
            <p:cNvPr id="749580" name="AutoShape 12"/>
            <p:cNvSpPr>
              <a:spLocks noChangeArrowheads="1"/>
            </p:cNvSpPr>
            <p:nvPr/>
          </p:nvSpPr>
          <p:spPr bwMode="auto">
            <a:xfrm>
              <a:off x="292" y="3106"/>
              <a:ext cx="1089" cy="181"/>
            </a:xfrm>
            <a:prstGeom prst="homePlate">
              <a:avLst>
                <a:gd name="adj" fmla="val 150414"/>
              </a:avLst>
            </a:prstGeom>
            <a:solidFill>
              <a:srgbClr val="CCFFCC"/>
            </a:solidFill>
            <a:ln w="12700" algn="ctr">
              <a:solidFill>
                <a:schemeClr val="tx1"/>
              </a:solidFill>
              <a:miter lim="800000"/>
              <a:headEnd/>
              <a:tailEnd/>
            </a:ln>
            <a:effectLst/>
          </p:spPr>
          <p:txBody>
            <a:bodyPr wrap="none" anchor="ctr"/>
            <a:lstStyle/>
            <a:p>
              <a:pPr algn="l"/>
              <a:r>
                <a:rPr lang="zh-CN" altLang="en-US" sz="1600">
                  <a:solidFill>
                    <a:srgbClr val="0000FF"/>
                  </a:solidFill>
                  <a:latin typeface="Times New Roman" pitchFamily="18" charset="0"/>
                  <a:ea typeface="华文新魏" pitchFamily="2" charset="-122"/>
                </a:rPr>
                <a:t>触发点设置</a:t>
              </a:r>
              <a:r>
                <a:rPr lang="en-US" altLang="zh-CN" sz="1600">
                  <a:solidFill>
                    <a:srgbClr val="0000FF"/>
                  </a:solidFill>
                  <a:latin typeface="Times New Roman" pitchFamily="18" charset="0"/>
                  <a:ea typeface="华文新魏" pitchFamily="2" charset="-122"/>
                </a:rPr>
                <a:t>=8</a:t>
              </a:r>
            </a:p>
          </p:txBody>
        </p:sp>
        <p:sp>
          <p:nvSpPr>
            <p:cNvPr id="749581" name="Text Box 13"/>
            <p:cNvSpPr txBox="1">
              <a:spLocks noChangeArrowheads="1"/>
            </p:cNvSpPr>
            <p:nvPr/>
          </p:nvSpPr>
          <p:spPr bwMode="auto">
            <a:xfrm rot="5400000">
              <a:off x="1522" y="2816"/>
              <a:ext cx="212" cy="173"/>
            </a:xfrm>
            <a:prstGeom prst="rect">
              <a:avLst/>
            </a:prstGeom>
            <a:noFill/>
            <a:ln w="9525" algn="ctr">
              <a:noFill/>
              <a:miter lim="800000"/>
              <a:headEnd/>
              <a:tailEnd/>
            </a:ln>
            <a:effectLst/>
          </p:spPr>
          <p:txBody>
            <a:bodyPr wrap="none">
              <a:spAutoFit/>
            </a:bodyPr>
            <a:lstStyle/>
            <a:p>
              <a:r>
                <a:rPr lang="en-US" altLang="zh-CN" sz="1200">
                  <a:latin typeface="宋体"/>
                </a:rPr>
                <a:t>…</a:t>
              </a:r>
              <a:endParaRPr lang="en-US" altLang="zh-CN" sz="1200">
                <a:latin typeface="Times New Roman" pitchFamily="18" charset="0"/>
              </a:endParaRPr>
            </a:p>
          </p:txBody>
        </p:sp>
        <p:sp>
          <p:nvSpPr>
            <p:cNvPr id="749582" name="Text Box 14"/>
            <p:cNvSpPr txBox="1">
              <a:spLocks noChangeArrowheads="1"/>
            </p:cNvSpPr>
            <p:nvPr/>
          </p:nvSpPr>
          <p:spPr bwMode="auto">
            <a:xfrm rot="5400000">
              <a:off x="1522" y="3400"/>
              <a:ext cx="212" cy="173"/>
            </a:xfrm>
            <a:prstGeom prst="rect">
              <a:avLst/>
            </a:prstGeom>
            <a:noFill/>
            <a:ln w="9525" algn="ctr">
              <a:noFill/>
              <a:miter lim="800000"/>
              <a:headEnd/>
              <a:tailEnd/>
            </a:ln>
            <a:effectLst/>
          </p:spPr>
          <p:txBody>
            <a:bodyPr wrap="none">
              <a:spAutoFit/>
            </a:bodyPr>
            <a:lstStyle/>
            <a:p>
              <a:r>
                <a:rPr lang="en-US" altLang="zh-CN" sz="1200">
                  <a:latin typeface="宋体"/>
                </a:rPr>
                <a:t>…</a:t>
              </a:r>
              <a:endParaRPr lang="en-US" altLang="zh-CN" sz="1200">
                <a:latin typeface="Times New Roman" pitchFamily="18" charset="0"/>
              </a:endParaRPr>
            </a:p>
          </p:txBody>
        </p:sp>
        <p:sp>
          <p:nvSpPr>
            <p:cNvPr id="749583" name="Text Box 15"/>
            <p:cNvSpPr txBox="1">
              <a:spLocks noChangeArrowheads="1"/>
            </p:cNvSpPr>
            <p:nvPr/>
          </p:nvSpPr>
          <p:spPr bwMode="auto">
            <a:xfrm>
              <a:off x="1237" y="3953"/>
              <a:ext cx="726" cy="212"/>
            </a:xfrm>
            <a:prstGeom prst="rect">
              <a:avLst/>
            </a:prstGeom>
            <a:noFill/>
            <a:ln w="9525">
              <a:noFill/>
              <a:miter lim="800000"/>
              <a:headEnd/>
              <a:tailEnd/>
            </a:ln>
            <a:effectLst/>
          </p:spPr>
          <p:txBody>
            <a:bodyPr>
              <a:spAutoFit/>
            </a:bodyPr>
            <a:lstStyle/>
            <a:p>
              <a:pPr>
                <a:spcBef>
                  <a:spcPct val="50000"/>
                </a:spcBef>
              </a:pPr>
              <a:r>
                <a:rPr lang="zh-CN" altLang="en-US" sz="1600">
                  <a:solidFill>
                    <a:srgbClr val="0000FF"/>
                  </a:solidFill>
                  <a:latin typeface="Times New Roman" pitchFamily="18" charset="0"/>
                </a:rPr>
                <a:t>接收</a:t>
              </a:r>
              <a:r>
                <a:rPr lang="en-US" altLang="zh-CN" sz="1600">
                  <a:solidFill>
                    <a:srgbClr val="0000FF"/>
                  </a:solidFill>
                  <a:latin typeface="Times New Roman" pitchFamily="18" charset="0"/>
                </a:rPr>
                <a:t>FIFO</a:t>
              </a:r>
            </a:p>
          </p:txBody>
        </p:sp>
        <p:sp>
          <p:nvSpPr>
            <p:cNvPr id="749584" name="Rectangle 16"/>
            <p:cNvSpPr>
              <a:spLocks noChangeArrowheads="1"/>
            </p:cNvSpPr>
            <p:nvPr/>
          </p:nvSpPr>
          <p:spPr bwMode="auto">
            <a:xfrm>
              <a:off x="1232" y="3775"/>
              <a:ext cx="748" cy="181"/>
            </a:xfrm>
            <a:prstGeom prst="rect">
              <a:avLst/>
            </a:prstGeom>
            <a:noFill/>
            <a:ln w="9525" algn="ctr">
              <a:solidFill>
                <a:schemeClr val="tx1"/>
              </a:solidFill>
              <a:miter lim="800000"/>
              <a:headEnd/>
              <a:tailEnd/>
            </a:ln>
            <a:effectLst/>
          </p:spPr>
          <p:txBody>
            <a:bodyPr wrap="none" lIns="90000" tIns="46800" rIns="90000" bIns="46800" anchor="ctr"/>
            <a:lstStyle/>
            <a:p>
              <a:r>
                <a:rPr lang="en-US" altLang="zh-CN" sz="1600">
                  <a:latin typeface="Times New Roman" pitchFamily="18" charset="0"/>
                </a:rPr>
                <a:t>1</a:t>
              </a:r>
            </a:p>
          </p:txBody>
        </p:sp>
        <p:sp>
          <p:nvSpPr>
            <p:cNvPr id="749585" name="Rectangle 17"/>
            <p:cNvSpPr>
              <a:spLocks noChangeArrowheads="1"/>
            </p:cNvSpPr>
            <p:nvPr/>
          </p:nvSpPr>
          <p:spPr bwMode="auto">
            <a:xfrm>
              <a:off x="1232" y="3587"/>
              <a:ext cx="748" cy="181"/>
            </a:xfrm>
            <a:prstGeom prst="rect">
              <a:avLst/>
            </a:prstGeom>
            <a:noFill/>
            <a:ln w="9525" algn="ctr">
              <a:solidFill>
                <a:schemeClr val="tx1"/>
              </a:solidFill>
              <a:miter lim="800000"/>
              <a:headEnd/>
              <a:tailEnd/>
            </a:ln>
            <a:effectLst/>
          </p:spPr>
          <p:txBody>
            <a:bodyPr wrap="none" lIns="90000" tIns="46800" rIns="90000" bIns="46800" anchor="ctr"/>
            <a:lstStyle/>
            <a:p>
              <a:r>
                <a:rPr lang="en-US" altLang="zh-CN" sz="1600">
                  <a:latin typeface="Times New Roman" pitchFamily="18" charset="0"/>
                </a:rPr>
                <a:t>2</a:t>
              </a:r>
            </a:p>
          </p:txBody>
        </p:sp>
        <p:sp>
          <p:nvSpPr>
            <p:cNvPr id="749586" name="Rectangle 18"/>
            <p:cNvSpPr>
              <a:spLocks noChangeArrowheads="1"/>
            </p:cNvSpPr>
            <p:nvPr/>
          </p:nvSpPr>
          <p:spPr bwMode="auto">
            <a:xfrm>
              <a:off x="1232" y="3193"/>
              <a:ext cx="748" cy="181"/>
            </a:xfrm>
            <a:prstGeom prst="rect">
              <a:avLst/>
            </a:prstGeom>
            <a:noFill/>
            <a:ln w="9525" algn="ctr">
              <a:solidFill>
                <a:schemeClr val="tx1"/>
              </a:solidFill>
              <a:miter lim="800000"/>
              <a:headEnd/>
              <a:tailEnd/>
            </a:ln>
            <a:effectLst/>
          </p:spPr>
          <p:txBody>
            <a:bodyPr wrap="none" lIns="90000" tIns="46800" rIns="90000" bIns="46800" anchor="ctr"/>
            <a:lstStyle/>
            <a:p>
              <a:r>
                <a:rPr lang="en-US" altLang="zh-CN" sz="1600">
                  <a:latin typeface="Times New Roman" pitchFamily="18" charset="0"/>
                </a:rPr>
                <a:t>8</a:t>
              </a:r>
            </a:p>
          </p:txBody>
        </p:sp>
        <p:sp>
          <p:nvSpPr>
            <p:cNvPr id="749587" name="Rectangle 19"/>
            <p:cNvSpPr>
              <a:spLocks noChangeArrowheads="1"/>
            </p:cNvSpPr>
            <p:nvPr/>
          </p:nvSpPr>
          <p:spPr bwMode="auto">
            <a:xfrm>
              <a:off x="1232" y="3013"/>
              <a:ext cx="748" cy="181"/>
            </a:xfrm>
            <a:prstGeom prst="rect">
              <a:avLst/>
            </a:prstGeom>
            <a:noFill/>
            <a:ln w="9525" algn="ctr">
              <a:solidFill>
                <a:schemeClr val="tx1"/>
              </a:solidFill>
              <a:miter lim="800000"/>
              <a:headEnd/>
              <a:tailEnd/>
            </a:ln>
            <a:effectLst/>
          </p:spPr>
          <p:txBody>
            <a:bodyPr wrap="none" lIns="90000" tIns="46800" rIns="90000" bIns="46800" anchor="ctr"/>
            <a:lstStyle/>
            <a:p>
              <a:r>
                <a:rPr lang="en-US" altLang="zh-CN" sz="1600">
                  <a:latin typeface="Times New Roman" pitchFamily="18" charset="0"/>
                </a:rPr>
                <a:t>9</a:t>
              </a:r>
            </a:p>
          </p:txBody>
        </p:sp>
        <p:sp>
          <p:nvSpPr>
            <p:cNvPr id="749588" name="Rectangle 20"/>
            <p:cNvSpPr>
              <a:spLocks noChangeArrowheads="1"/>
            </p:cNvSpPr>
            <p:nvPr/>
          </p:nvSpPr>
          <p:spPr bwMode="auto">
            <a:xfrm>
              <a:off x="1233" y="2606"/>
              <a:ext cx="748" cy="181"/>
            </a:xfrm>
            <a:prstGeom prst="rect">
              <a:avLst/>
            </a:prstGeom>
            <a:noFill/>
            <a:ln w="9525" algn="ctr">
              <a:solidFill>
                <a:schemeClr val="tx1"/>
              </a:solidFill>
              <a:miter lim="800000"/>
              <a:headEnd/>
              <a:tailEnd/>
            </a:ln>
            <a:effectLst/>
          </p:spPr>
          <p:txBody>
            <a:bodyPr wrap="none" lIns="90000" tIns="46800" rIns="90000" bIns="46800" anchor="ctr"/>
            <a:lstStyle/>
            <a:p>
              <a:r>
                <a:rPr lang="en-US" altLang="zh-CN" sz="1600">
                  <a:latin typeface="Times New Roman" pitchFamily="18" charset="0"/>
                </a:rPr>
                <a:t>16</a:t>
              </a:r>
            </a:p>
          </p:txBody>
        </p:sp>
        <p:sp>
          <p:nvSpPr>
            <p:cNvPr id="749589" name="Rectangle 21"/>
            <p:cNvSpPr>
              <a:spLocks noChangeArrowheads="1"/>
            </p:cNvSpPr>
            <p:nvPr/>
          </p:nvSpPr>
          <p:spPr bwMode="auto">
            <a:xfrm>
              <a:off x="1232" y="2785"/>
              <a:ext cx="748" cy="224"/>
            </a:xfrm>
            <a:prstGeom prst="rect">
              <a:avLst/>
            </a:prstGeom>
            <a:noFill/>
            <a:ln w="9525" algn="ctr">
              <a:solidFill>
                <a:schemeClr val="tx1"/>
              </a:solidFill>
              <a:miter lim="800000"/>
              <a:headEnd/>
              <a:tailEnd/>
            </a:ln>
            <a:effectLst/>
          </p:spPr>
          <p:txBody>
            <a:bodyPr wrap="none" lIns="90000" tIns="46800" rIns="90000" bIns="46800" anchor="ctr"/>
            <a:lstStyle/>
            <a:p>
              <a:endParaRPr lang="zh-CN" altLang="zh-CN" sz="1600">
                <a:latin typeface="Times New Roman" pitchFamily="18" charset="0"/>
                <a:ea typeface="华文新魏" pitchFamily="2" charset="-122"/>
              </a:endParaRPr>
            </a:p>
          </p:txBody>
        </p:sp>
        <p:sp>
          <p:nvSpPr>
            <p:cNvPr id="749590" name="Rectangle 22"/>
            <p:cNvSpPr>
              <a:spLocks noChangeArrowheads="1"/>
            </p:cNvSpPr>
            <p:nvPr/>
          </p:nvSpPr>
          <p:spPr bwMode="auto">
            <a:xfrm>
              <a:off x="1232" y="3375"/>
              <a:ext cx="748" cy="216"/>
            </a:xfrm>
            <a:prstGeom prst="rect">
              <a:avLst/>
            </a:prstGeom>
            <a:noFill/>
            <a:ln w="9525" algn="ctr">
              <a:solidFill>
                <a:schemeClr val="tx1"/>
              </a:solidFill>
              <a:miter lim="800000"/>
              <a:headEnd/>
              <a:tailEnd/>
            </a:ln>
            <a:effectLst/>
          </p:spPr>
          <p:txBody>
            <a:bodyPr wrap="none" lIns="90000" tIns="46800" rIns="90000" bIns="46800" anchor="ctr"/>
            <a:lstStyle/>
            <a:p>
              <a:endParaRPr lang="zh-CN" altLang="zh-CN" sz="1600">
                <a:latin typeface="Times New Roman" pitchFamily="18" charset="0"/>
              </a:endParaRPr>
            </a:p>
          </p:txBody>
        </p:sp>
      </p:grpSp>
      <p:sp>
        <p:nvSpPr>
          <p:cNvPr id="749591" name="Rectangle 23"/>
          <p:cNvSpPr>
            <a:spLocks noChangeArrowheads="1"/>
          </p:cNvSpPr>
          <p:nvPr/>
        </p:nvSpPr>
        <p:spPr bwMode="auto">
          <a:xfrm>
            <a:off x="7137400" y="4648200"/>
            <a:ext cx="2273300" cy="647700"/>
          </a:xfrm>
          <a:prstGeom prst="rect">
            <a:avLst/>
          </a:prstGeom>
          <a:gradFill rotWithShape="0">
            <a:gsLst>
              <a:gs pos="0">
                <a:srgbClr val="FBFEE6"/>
              </a:gs>
              <a:gs pos="100000">
                <a:srgbClr val="FBFEE6">
                  <a:gamma/>
                  <a:shade val="89804"/>
                  <a:invGamma/>
                </a:srgbClr>
              </a:gs>
            </a:gsLst>
            <a:path path="shape">
              <a:fillToRect l="50000" t="50000" r="50000" b="50000"/>
            </a:path>
          </a:gradFill>
          <a:ln w="9525" algn="ctr">
            <a:solidFill>
              <a:schemeClr val="tx1"/>
            </a:solidFill>
            <a:miter lim="800000"/>
            <a:headEnd/>
            <a:tailEnd/>
          </a:ln>
          <a:effectLst>
            <a:outerShdw dist="107763" dir="2700000" algn="ctr" rotWithShape="0">
              <a:schemeClr val="bg2">
                <a:alpha val="50000"/>
              </a:schemeClr>
            </a:outerShdw>
          </a:effectLst>
        </p:spPr>
        <p:txBody>
          <a:bodyPr wrap="none" lIns="90000" tIns="46800" rIns="90000" bIns="46800" anchor="ctr"/>
          <a:lstStyle/>
          <a:p>
            <a:r>
              <a:rPr lang="zh-CN" altLang="en-US" sz="2400" b="1">
                <a:latin typeface="Times New Roman" pitchFamily="18" charset="0"/>
                <a:ea typeface="华文新魏" pitchFamily="2" charset="-122"/>
              </a:rPr>
              <a:t>触发</a:t>
            </a:r>
            <a:r>
              <a:rPr lang="en-US" altLang="zh-CN" sz="2400" b="1">
                <a:latin typeface="Times New Roman" pitchFamily="18" charset="0"/>
                <a:ea typeface="华文新魏" pitchFamily="2" charset="-122"/>
              </a:rPr>
              <a:t>CTI</a:t>
            </a:r>
            <a:r>
              <a:rPr lang="zh-CN" altLang="en-US" sz="2400" b="1">
                <a:latin typeface="Times New Roman" pitchFamily="18" charset="0"/>
                <a:ea typeface="华文新魏" pitchFamily="2" charset="-122"/>
              </a:rPr>
              <a:t>中断</a:t>
            </a:r>
          </a:p>
        </p:txBody>
      </p:sp>
      <p:sp>
        <p:nvSpPr>
          <p:cNvPr id="749592" name="AutoShape 24"/>
          <p:cNvSpPr>
            <a:spLocks noChangeArrowheads="1"/>
          </p:cNvSpPr>
          <p:nvPr/>
        </p:nvSpPr>
        <p:spPr bwMode="auto">
          <a:xfrm>
            <a:off x="5575301" y="4826001"/>
            <a:ext cx="1090613" cy="320675"/>
          </a:xfrm>
          <a:prstGeom prst="rightArrow">
            <a:avLst>
              <a:gd name="adj1" fmla="val 50000"/>
              <a:gd name="adj2" fmla="val 85025"/>
            </a:avLst>
          </a:prstGeom>
          <a:solidFill>
            <a:srgbClr val="0000FF"/>
          </a:solidFill>
          <a:ln w="9525" algn="ctr">
            <a:solidFill>
              <a:schemeClr val="tx1"/>
            </a:solidFill>
            <a:miter lim="800000"/>
            <a:headEnd/>
            <a:tailEnd/>
          </a:ln>
          <a:effectLst/>
        </p:spPr>
        <p:txBody>
          <a:bodyPr wrap="none" lIns="90000" tIns="46800" rIns="90000" bIns="46800" anchor="ctr"/>
          <a:lstStyle/>
          <a:p>
            <a:endParaRPr lang="zh-CN" altLang="en-US"/>
          </a:p>
        </p:txBody>
      </p:sp>
      <p:grpSp>
        <p:nvGrpSpPr>
          <p:cNvPr id="749593" name="Group 25"/>
          <p:cNvGrpSpPr>
            <a:grpSpLocks/>
          </p:cNvGrpSpPr>
          <p:nvPr/>
        </p:nvGrpSpPr>
        <p:grpSpPr bwMode="auto">
          <a:xfrm>
            <a:off x="1962151" y="5164139"/>
            <a:ext cx="1014413" cy="1296987"/>
            <a:chOff x="340" y="3339"/>
            <a:chExt cx="639" cy="817"/>
          </a:xfrm>
        </p:grpSpPr>
        <p:pic>
          <p:nvPicPr>
            <p:cNvPr id="749594" name="Picture 26" descr="j0234131"/>
            <p:cNvPicPr>
              <a:picLocks noChangeAspect="1" noChangeArrowheads="1"/>
            </p:cNvPicPr>
            <p:nvPr/>
          </p:nvPicPr>
          <p:blipFill>
            <a:blip r:embed="rId2" cstate="print"/>
            <a:srcRect/>
            <a:stretch>
              <a:fillRect/>
            </a:stretch>
          </p:blipFill>
          <p:spPr bwMode="auto">
            <a:xfrm>
              <a:off x="340" y="3339"/>
              <a:ext cx="639" cy="680"/>
            </a:xfrm>
            <a:prstGeom prst="rect">
              <a:avLst/>
            </a:prstGeom>
            <a:noFill/>
          </p:spPr>
        </p:pic>
        <p:sp>
          <p:nvSpPr>
            <p:cNvPr id="749595" name="Rectangle 27"/>
            <p:cNvSpPr>
              <a:spLocks noChangeArrowheads="1"/>
            </p:cNvSpPr>
            <p:nvPr/>
          </p:nvSpPr>
          <p:spPr bwMode="auto">
            <a:xfrm>
              <a:off x="340" y="4065"/>
              <a:ext cx="635" cy="91"/>
            </a:xfrm>
            <a:prstGeom prst="rect">
              <a:avLst/>
            </a:prstGeom>
            <a:noFill/>
            <a:ln w="12700" algn="ctr">
              <a:solidFill>
                <a:schemeClr val="tx1"/>
              </a:solidFill>
              <a:miter lim="800000"/>
              <a:headEnd/>
              <a:tailEnd/>
            </a:ln>
            <a:effectLst/>
          </p:spPr>
          <p:txBody>
            <a:bodyPr wrap="none" anchor="ctr"/>
            <a:lstStyle/>
            <a:p>
              <a:endParaRPr lang="zh-CN" altLang="en-US"/>
            </a:p>
          </p:txBody>
        </p:sp>
      </p:grpSp>
      <p:sp>
        <p:nvSpPr>
          <p:cNvPr id="749596" name="Rectangle 28"/>
          <p:cNvSpPr>
            <a:spLocks noChangeArrowheads="1"/>
          </p:cNvSpPr>
          <p:nvPr/>
        </p:nvSpPr>
        <p:spPr bwMode="auto">
          <a:xfrm>
            <a:off x="1962151" y="6316663"/>
            <a:ext cx="1008063" cy="144462"/>
          </a:xfrm>
          <a:prstGeom prst="rect">
            <a:avLst/>
          </a:prstGeom>
          <a:solidFill>
            <a:srgbClr val="66CCFF"/>
          </a:solidFill>
          <a:ln w="12700" algn="ctr">
            <a:solidFill>
              <a:schemeClr val="tx1"/>
            </a:solidFill>
            <a:miter lim="800000"/>
            <a:headEnd/>
            <a:tailEnd/>
          </a:ln>
          <a:effec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749575"/>
                                        </p:tgtEl>
                                        <p:attrNameLst>
                                          <p:attrName>style.visibility</p:attrName>
                                        </p:attrNameLst>
                                      </p:cBhvr>
                                      <p:to>
                                        <p:strVal val="visible"/>
                                      </p:to>
                                    </p:set>
                                    <p:animEffect transition="in" filter="checkerboard(across)">
                                      <p:cBhvr>
                                        <p:cTn id="7" dur="500"/>
                                        <p:tgtEl>
                                          <p:spTgt spid="7495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49573"/>
                                        </p:tgtEl>
                                        <p:attrNameLst>
                                          <p:attrName>style.visibility</p:attrName>
                                        </p:attrNameLst>
                                      </p:cBhvr>
                                      <p:to>
                                        <p:strVal val="visible"/>
                                      </p:to>
                                    </p:set>
                                    <p:animEffect transition="in" filter="wipe(down)">
                                      <p:cBhvr>
                                        <p:cTn id="12" dur="1000"/>
                                        <p:tgtEl>
                                          <p:spTgt spid="749573"/>
                                        </p:tgtEl>
                                      </p:cBhvr>
                                    </p:animEffect>
                                  </p:childTnLst>
                                </p:cTn>
                              </p:par>
                            </p:childTnLst>
                          </p:cTn>
                        </p:par>
                        <p:par>
                          <p:cTn id="13" fill="hold">
                            <p:stCondLst>
                              <p:cond delay="1000"/>
                            </p:stCondLst>
                            <p:childTnLst>
                              <p:par>
                                <p:cTn id="14" presetID="22" presetClass="entr" presetSubtype="4" fill="hold" grpId="0" nodeType="afterEffect">
                                  <p:stCondLst>
                                    <p:cond delay="0"/>
                                  </p:stCondLst>
                                  <p:childTnLst>
                                    <p:set>
                                      <p:cBhvr>
                                        <p:cTn id="15" dur="1" fill="hold">
                                          <p:stCondLst>
                                            <p:cond delay="0"/>
                                          </p:stCondLst>
                                        </p:cTn>
                                        <p:tgtEl>
                                          <p:spTgt spid="749574"/>
                                        </p:tgtEl>
                                        <p:attrNameLst>
                                          <p:attrName>style.visibility</p:attrName>
                                        </p:attrNameLst>
                                      </p:cBhvr>
                                      <p:to>
                                        <p:strVal val="visible"/>
                                      </p:to>
                                    </p:set>
                                    <p:animEffect transition="in" filter="wipe(down)">
                                      <p:cBhvr>
                                        <p:cTn id="16" dur="1000"/>
                                        <p:tgtEl>
                                          <p:spTgt spid="749574"/>
                                        </p:tgtEl>
                                      </p:cBhvr>
                                    </p:animEffect>
                                  </p:childTnLst>
                                </p:cTn>
                              </p:par>
                            </p:childTnLst>
                          </p:cTn>
                        </p:par>
                        <p:par>
                          <p:cTn id="17" fill="hold">
                            <p:stCondLst>
                              <p:cond delay="3000"/>
                            </p:stCondLst>
                            <p:childTnLst>
                              <p:par>
                                <p:cTn id="18" presetID="2" presetClass="entr" presetSubtype="8" fill="hold" nodeType="afterEffect">
                                  <p:stCondLst>
                                    <p:cond delay="0"/>
                                  </p:stCondLst>
                                  <p:childTnLst>
                                    <p:set>
                                      <p:cBhvr>
                                        <p:cTn id="19" dur="1" fill="hold">
                                          <p:stCondLst>
                                            <p:cond delay="0"/>
                                          </p:stCondLst>
                                        </p:cTn>
                                        <p:tgtEl>
                                          <p:spTgt spid="749593"/>
                                        </p:tgtEl>
                                        <p:attrNameLst>
                                          <p:attrName>style.visibility</p:attrName>
                                        </p:attrNameLst>
                                      </p:cBhvr>
                                      <p:to>
                                        <p:strVal val="visible"/>
                                      </p:to>
                                    </p:set>
                                    <p:anim calcmode="lin" valueType="num">
                                      <p:cBhvr additive="base">
                                        <p:cTn id="20" dur="500" fill="hold"/>
                                        <p:tgtEl>
                                          <p:spTgt spid="749593"/>
                                        </p:tgtEl>
                                        <p:attrNameLst>
                                          <p:attrName>ppt_x</p:attrName>
                                        </p:attrNameLst>
                                      </p:cBhvr>
                                      <p:tavLst>
                                        <p:tav tm="0">
                                          <p:val>
                                            <p:strVal val="0-#ppt_w/2"/>
                                          </p:val>
                                        </p:tav>
                                        <p:tav tm="100000">
                                          <p:val>
                                            <p:strVal val="#ppt_x"/>
                                          </p:val>
                                        </p:tav>
                                      </p:tavLst>
                                    </p:anim>
                                    <p:anim calcmode="lin" valueType="num">
                                      <p:cBhvr additive="base">
                                        <p:cTn id="21" dur="500" fill="hold"/>
                                        <p:tgtEl>
                                          <p:spTgt spid="749593"/>
                                        </p:tgtEl>
                                        <p:attrNameLst>
                                          <p:attrName>ppt_y</p:attrName>
                                        </p:attrNameLst>
                                      </p:cBhvr>
                                      <p:tavLst>
                                        <p:tav tm="0">
                                          <p:val>
                                            <p:strVal val="#ppt_y"/>
                                          </p:val>
                                        </p:tav>
                                        <p:tav tm="100000">
                                          <p:val>
                                            <p:strVal val="#ppt_y"/>
                                          </p:val>
                                        </p:tav>
                                      </p:tavLst>
                                    </p:anim>
                                  </p:childTnLst>
                                </p:cTn>
                              </p:par>
                            </p:childTnLst>
                          </p:cTn>
                        </p:par>
                        <p:par>
                          <p:cTn id="22" fill="hold">
                            <p:stCondLst>
                              <p:cond delay="3500"/>
                            </p:stCondLst>
                            <p:childTnLst>
                              <p:par>
                                <p:cTn id="23" presetID="22" presetClass="entr" presetSubtype="8" fill="hold" grpId="0" nodeType="afterEffect">
                                  <p:stCondLst>
                                    <p:cond delay="0"/>
                                  </p:stCondLst>
                                  <p:childTnLst>
                                    <p:set>
                                      <p:cBhvr>
                                        <p:cTn id="24" dur="1" fill="hold">
                                          <p:stCondLst>
                                            <p:cond delay="0"/>
                                          </p:stCondLst>
                                        </p:cTn>
                                        <p:tgtEl>
                                          <p:spTgt spid="749596"/>
                                        </p:tgtEl>
                                        <p:attrNameLst>
                                          <p:attrName>style.visibility</p:attrName>
                                        </p:attrNameLst>
                                      </p:cBhvr>
                                      <p:to>
                                        <p:strVal val="visible"/>
                                      </p:to>
                                    </p:set>
                                    <p:animEffect transition="in" filter="wipe(left)">
                                      <p:cBhvr>
                                        <p:cTn id="25" dur="3000"/>
                                        <p:tgtEl>
                                          <p:spTgt spid="749596"/>
                                        </p:tgtEl>
                                      </p:cBhvr>
                                    </p:animEffect>
                                  </p:childTnLst>
                                </p:cTn>
                              </p:par>
                            </p:childTnLst>
                          </p:cTn>
                        </p:par>
                        <p:par>
                          <p:cTn id="26" fill="hold">
                            <p:stCondLst>
                              <p:cond delay="6500"/>
                            </p:stCondLst>
                            <p:childTnLst>
                              <p:par>
                                <p:cTn id="27" presetID="32" presetClass="emph" presetSubtype="0" repeatCount="3000" fill="hold" nodeType="afterEffect">
                                  <p:stCondLst>
                                    <p:cond delay="0"/>
                                  </p:stCondLst>
                                  <p:childTnLst>
                                    <p:animClr clrSpc="rgb" dir="cw">
                                      <p:cBhvr override="childStyle">
                                        <p:cTn id="28" dur="50" fill="hold"/>
                                        <p:tgtEl>
                                          <p:spTgt spid="749593"/>
                                        </p:tgtEl>
                                        <p:attrNameLst>
                                          <p:attrName>style.color</p:attrName>
                                        </p:attrNameLst>
                                      </p:cBhvr>
                                      <p:to>
                                        <a:schemeClr val="accent2"/>
                                      </p:to>
                                    </p:animClr>
                                    <p:animClr clrSpc="rgb" dir="cw">
                                      <p:cBhvr>
                                        <p:cTn id="29" dur="50" fill="hold"/>
                                        <p:tgtEl>
                                          <p:spTgt spid="749593"/>
                                        </p:tgtEl>
                                        <p:attrNameLst>
                                          <p:attrName>fillcolor</p:attrName>
                                        </p:attrNameLst>
                                      </p:cBhvr>
                                      <p:to>
                                        <a:schemeClr val="accent2"/>
                                      </p:to>
                                    </p:animClr>
                                    <p:set>
                                      <p:cBhvr>
                                        <p:cTn id="30" dur="50" fill="hold"/>
                                        <p:tgtEl>
                                          <p:spTgt spid="749593"/>
                                        </p:tgtEl>
                                        <p:attrNameLst>
                                          <p:attrName>fill.type</p:attrName>
                                        </p:attrNameLst>
                                      </p:cBhvr>
                                      <p:to>
                                        <p:strVal val="solid"/>
                                      </p:to>
                                    </p:set>
                                    <p:set>
                                      <p:cBhvr>
                                        <p:cTn id="31" dur="50" fill="hold"/>
                                        <p:tgtEl>
                                          <p:spTgt spid="749593"/>
                                        </p:tgtEl>
                                        <p:attrNameLst>
                                          <p:attrName>fill.on</p:attrName>
                                        </p:attrNameLst>
                                      </p:cBhvr>
                                      <p:to>
                                        <p:strVal val="true"/>
                                      </p:to>
                                    </p:set>
                                    <p:animRot by="120000">
                                      <p:cBhvr>
                                        <p:cTn id="32" dur="50" fill="hold">
                                          <p:stCondLst>
                                            <p:cond delay="0"/>
                                          </p:stCondLst>
                                        </p:cTn>
                                        <p:tgtEl>
                                          <p:spTgt spid="749593"/>
                                        </p:tgtEl>
                                        <p:attrNameLst>
                                          <p:attrName>r</p:attrName>
                                        </p:attrNameLst>
                                      </p:cBhvr>
                                    </p:animRot>
                                    <p:animRot by="-240000">
                                      <p:cBhvr>
                                        <p:cTn id="33" dur="100" fill="hold">
                                          <p:stCondLst>
                                            <p:cond delay="100"/>
                                          </p:stCondLst>
                                        </p:cTn>
                                        <p:tgtEl>
                                          <p:spTgt spid="749593"/>
                                        </p:tgtEl>
                                        <p:attrNameLst>
                                          <p:attrName>r</p:attrName>
                                        </p:attrNameLst>
                                      </p:cBhvr>
                                    </p:animRot>
                                    <p:animRot by="240000">
                                      <p:cBhvr>
                                        <p:cTn id="34" dur="100" fill="hold">
                                          <p:stCondLst>
                                            <p:cond delay="200"/>
                                          </p:stCondLst>
                                        </p:cTn>
                                        <p:tgtEl>
                                          <p:spTgt spid="749593"/>
                                        </p:tgtEl>
                                        <p:attrNameLst>
                                          <p:attrName>r</p:attrName>
                                        </p:attrNameLst>
                                      </p:cBhvr>
                                    </p:animRot>
                                    <p:animRot by="-240000">
                                      <p:cBhvr>
                                        <p:cTn id="35" dur="100" fill="hold">
                                          <p:stCondLst>
                                            <p:cond delay="300"/>
                                          </p:stCondLst>
                                        </p:cTn>
                                        <p:tgtEl>
                                          <p:spTgt spid="749593"/>
                                        </p:tgtEl>
                                        <p:attrNameLst>
                                          <p:attrName>r</p:attrName>
                                        </p:attrNameLst>
                                      </p:cBhvr>
                                    </p:animRot>
                                    <p:animRot by="120000">
                                      <p:cBhvr>
                                        <p:cTn id="36" dur="100" fill="hold">
                                          <p:stCondLst>
                                            <p:cond delay="400"/>
                                          </p:stCondLst>
                                        </p:cTn>
                                        <p:tgtEl>
                                          <p:spTgt spid="749593"/>
                                        </p:tgtEl>
                                        <p:attrNameLst>
                                          <p:attrName>r</p:attrName>
                                        </p:attrNameLst>
                                      </p:cBhvr>
                                    </p:animRot>
                                  </p:childTnLst>
                                </p:cTn>
                              </p:par>
                            </p:childTnLst>
                          </p:cTn>
                        </p:par>
                        <p:par>
                          <p:cTn id="37" fill="hold">
                            <p:stCondLst>
                              <p:cond delay="8000"/>
                            </p:stCondLst>
                            <p:childTnLst>
                              <p:par>
                                <p:cTn id="38" presetID="1" presetClass="exit" presetSubtype="0" fill="hold" grpId="1" nodeType="afterEffect">
                                  <p:stCondLst>
                                    <p:cond delay="0"/>
                                  </p:stCondLst>
                                  <p:childTnLst>
                                    <p:set>
                                      <p:cBhvr>
                                        <p:cTn id="39" dur="1" fill="hold">
                                          <p:stCondLst>
                                            <p:cond delay="0"/>
                                          </p:stCondLst>
                                        </p:cTn>
                                        <p:tgtEl>
                                          <p:spTgt spid="749596"/>
                                        </p:tgtEl>
                                        <p:attrNameLst>
                                          <p:attrName>style.visibility</p:attrName>
                                        </p:attrNameLst>
                                      </p:cBhvr>
                                      <p:to>
                                        <p:strVal val="hidden"/>
                                      </p:to>
                                    </p:set>
                                  </p:childTnLst>
                                </p:cTn>
                              </p:par>
                            </p:childTnLst>
                          </p:cTn>
                        </p:par>
                        <p:par>
                          <p:cTn id="40" fill="hold">
                            <p:stCondLst>
                              <p:cond delay="8000"/>
                            </p:stCondLst>
                            <p:childTnLst>
                              <p:par>
                                <p:cTn id="41" presetID="22" presetClass="entr" presetSubtype="8" fill="hold" grpId="0" nodeType="afterEffect">
                                  <p:stCondLst>
                                    <p:cond delay="0"/>
                                  </p:stCondLst>
                                  <p:childTnLst>
                                    <p:set>
                                      <p:cBhvr>
                                        <p:cTn id="42" dur="1" fill="hold">
                                          <p:stCondLst>
                                            <p:cond delay="0"/>
                                          </p:stCondLst>
                                        </p:cTn>
                                        <p:tgtEl>
                                          <p:spTgt spid="749592"/>
                                        </p:tgtEl>
                                        <p:attrNameLst>
                                          <p:attrName>style.visibility</p:attrName>
                                        </p:attrNameLst>
                                      </p:cBhvr>
                                      <p:to>
                                        <p:strVal val="visible"/>
                                      </p:to>
                                    </p:set>
                                    <p:animEffect transition="in" filter="wipe(left)">
                                      <p:cBhvr>
                                        <p:cTn id="43" dur="500"/>
                                        <p:tgtEl>
                                          <p:spTgt spid="749592"/>
                                        </p:tgtEl>
                                      </p:cBhvr>
                                    </p:animEffect>
                                  </p:childTnLst>
                                </p:cTn>
                              </p:par>
                            </p:childTnLst>
                          </p:cTn>
                        </p:par>
                        <p:par>
                          <p:cTn id="44" fill="hold">
                            <p:stCondLst>
                              <p:cond delay="8500"/>
                            </p:stCondLst>
                            <p:childTnLst>
                              <p:par>
                                <p:cTn id="45" presetID="22" presetClass="entr" presetSubtype="8" fill="hold" grpId="0" nodeType="afterEffect">
                                  <p:stCondLst>
                                    <p:cond delay="0"/>
                                  </p:stCondLst>
                                  <p:childTnLst>
                                    <p:set>
                                      <p:cBhvr>
                                        <p:cTn id="46" dur="1" fill="hold">
                                          <p:stCondLst>
                                            <p:cond delay="0"/>
                                          </p:stCondLst>
                                        </p:cTn>
                                        <p:tgtEl>
                                          <p:spTgt spid="749591"/>
                                        </p:tgtEl>
                                        <p:attrNameLst>
                                          <p:attrName>style.visibility</p:attrName>
                                        </p:attrNameLst>
                                      </p:cBhvr>
                                      <p:to>
                                        <p:strVal val="visible"/>
                                      </p:to>
                                    </p:set>
                                    <p:animEffect transition="in" filter="wipe(left)">
                                      <p:cBhvr>
                                        <p:cTn id="47" dur="500"/>
                                        <p:tgtEl>
                                          <p:spTgt spid="749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9573" grpId="0" animBg="1"/>
      <p:bldP spid="749574" grpId="0" animBg="1"/>
      <p:bldP spid="749591" grpId="0" animBg="1"/>
      <p:bldP spid="749592" grpId="0" animBg="1"/>
      <p:bldP spid="749596" grpId="0" animBg="1"/>
      <p:bldP spid="749596" grpId="1"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594" name="Rectangle 2"/>
          <p:cNvSpPr>
            <a:spLocks noChangeArrowheads="1"/>
          </p:cNvSpPr>
          <p:nvPr/>
        </p:nvSpPr>
        <p:spPr bwMode="auto">
          <a:xfrm>
            <a:off x="2133600" y="698500"/>
            <a:ext cx="7772400" cy="1143000"/>
          </a:xfrm>
          <a:prstGeom prst="rect">
            <a:avLst/>
          </a:prstGeom>
          <a:noFill/>
          <a:ln w="9525">
            <a:noFill/>
            <a:miter lim="800000"/>
            <a:headEnd/>
            <a:tailEnd/>
          </a:ln>
          <a:effectLst/>
        </p:spPr>
        <p:txBody>
          <a:bodyPr anchor="ctr"/>
          <a:lstStyle/>
          <a:p>
            <a:r>
              <a:rPr lang="en-US" altLang="zh-CN" sz="4400">
                <a:solidFill>
                  <a:schemeClr val="tx2"/>
                </a:solidFill>
                <a:latin typeface="Times New Roman" pitchFamily="18" charset="0"/>
              </a:rPr>
              <a:t>UART</a:t>
            </a:r>
            <a:r>
              <a:rPr lang="zh-CN" altLang="en-US" sz="4400">
                <a:solidFill>
                  <a:schemeClr val="tx2"/>
                </a:solidFill>
                <a:latin typeface="Times New Roman" pitchFamily="18" charset="0"/>
              </a:rPr>
              <a:t>中断总结</a:t>
            </a:r>
          </a:p>
        </p:txBody>
      </p:sp>
      <p:sp>
        <p:nvSpPr>
          <p:cNvPr id="750595" name="Rectangle 3"/>
          <p:cNvSpPr>
            <a:spLocks noChangeArrowheads="1"/>
          </p:cNvSpPr>
          <p:nvPr/>
        </p:nvSpPr>
        <p:spPr bwMode="auto">
          <a:xfrm>
            <a:off x="2209800" y="17764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发送中断</a:t>
            </a:r>
          </a:p>
        </p:txBody>
      </p:sp>
      <p:sp>
        <p:nvSpPr>
          <p:cNvPr id="750596" name="Rectangle 4"/>
          <p:cNvSpPr>
            <a:spLocks noChangeArrowheads="1"/>
          </p:cNvSpPr>
          <p:nvPr/>
        </p:nvSpPr>
        <p:spPr bwMode="auto">
          <a:xfrm>
            <a:off x="1941513" y="2440912"/>
            <a:ext cx="8342312" cy="833178"/>
          </a:xfrm>
          <a:prstGeom prst="rect">
            <a:avLst/>
          </a:prstGeom>
          <a:noFill/>
          <a:ln w="9525" algn="ctr">
            <a:noFill/>
            <a:miter lim="800000"/>
            <a:headEnd/>
            <a:tailEnd/>
          </a:ln>
          <a:effectLst/>
        </p:spPr>
        <p:txBody>
          <a:bodyPr lIns="90000" tIns="46800" rIns="90000" bIns="46800" anchor="ctr">
            <a:spAutoFit/>
          </a:bodyPr>
          <a:lstStyle/>
          <a:p>
            <a:pPr algn="l"/>
            <a:r>
              <a:rPr lang="en-US" altLang="zh-CN" sz="2400">
                <a:latin typeface="Times New Roman" pitchFamily="18" charset="0"/>
                <a:ea typeface="华文新魏" pitchFamily="2" charset="-122"/>
              </a:rPr>
              <a:t>         LPC2000</a:t>
            </a:r>
            <a:r>
              <a:rPr lang="zh-CN" altLang="en-US" sz="2400">
                <a:latin typeface="Times New Roman" pitchFamily="18" charset="0"/>
                <a:ea typeface="华文新魏" pitchFamily="2" charset="-122"/>
              </a:rPr>
              <a:t>系列</a:t>
            </a:r>
            <a:r>
              <a:rPr lang="en-US" altLang="zh-CN" sz="2400">
                <a:latin typeface="Times New Roman" pitchFamily="18" charset="0"/>
                <a:ea typeface="华文新魏" pitchFamily="2" charset="-122"/>
              </a:rPr>
              <a:t>ARM UART</a:t>
            </a:r>
            <a:r>
              <a:rPr lang="zh-CN" altLang="en-US" sz="2400">
                <a:latin typeface="Times New Roman" pitchFamily="18" charset="0"/>
                <a:ea typeface="华文新魏" pitchFamily="2" charset="-122"/>
              </a:rPr>
              <a:t>接口具有</a:t>
            </a:r>
            <a:r>
              <a:rPr lang="en-US" altLang="zh-CN" sz="2400">
                <a:latin typeface="Times New Roman" pitchFamily="18" charset="0"/>
                <a:ea typeface="华文新魏" pitchFamily="2" charset="-122"/>
              </a:rPr>
              <a:t>16</a:t>
            </a:r>
            <a:r>
              <a:rPr lang="zh-CN" altLang="en-US" sz="2400">
                <a:latin typeface="Times New Roman" pitchFamily="18" charset="0"/>
                <a:ea typeface="华文新魏" pitchFamily="2" charset="-122"/>
              </a:rPr>
              <a:t>字节的发送</a:t>
            </a:r>
            <a:r>
              <a:rPr lang="en-US" altLang="zh-CN" sz="2400">
                <a:latin typeface="Times New Roman" pitchFamily="18" charset="0"/>
                <a:ea typeface="华文新魏" pitchFamily="2" charset="-122"/>
              </a:rPr>
              <a:t>FIFO</a:t>
            </a:r>
            <a:r>
              <a:rPr lang="zh-CN" altLang="en-US" sz="2400">
                <a:latin typeface="Times New Roman" pitchFamily="18" charset="0"/>
                <a:ea typeface="华文新魏" pitchFamily="2" charset="-122"/>
              </a:rPr>
              <a:t>，当发送</a:t>
            </a:r>
            <a:r>
              <a:rPr lang="en-US" altLang="zh-CN" sz="2400">
                <a:latin typeface="Times New Roman" pitchFamily="18" charset="0"/>
                <a:ea typeface="华文新魏" pitchFamily="2" charset="-122"/>
              </a:rPr>
              <a:t>FIFO</a:t>
            </a:r>
            <a:r>
              <a:rPr lang="zh-CN" altLang="en-US" sz="2400">
                <a:latin typeface="Times New Roman" pitchFamily="18" charset="0"/>
                <a:ea typeface="华文新魏" pitchFamily="2" charset="-122"/>
              </a:rPr>
              <a:t>由非空变为空时，便会触发“发送中断”。 </a:t>
            </a:r>
          </a:p>
        </p:txBody>
      </p:sp>
      <p:sp>
        <p:nvSpPr>
          <p:cNvPr id="750597" name="Rectangle 5"/>
          <p:cNvSpPr>
            <a:spLocks noChangeArrowheads="1"/>
          </p:cNvSpPr>
          <p:nvPr/>
        </p:nvSpPr>
        <p:spPr bwMode="auto">
          <a:xfrm>
            <a:off x="2311400" y="5905500"/>
            <a:ext cx="1168400" cy="261938"/>
          </a:xfrm>
          <a:prstGeom prst="rect">
            <a:avLst/>
          </a:prstGeom>
          <a:solidFill>
            <a:srgbClr val="FFCC99"/>
          </a:solidFill>
          <a:ln w="9525" algn="ctr">
            <a:noFill/>
            <a:miter lim="800000"/>
            <a:headEnd/>
            <a:tailEnd/>
          </a:ln>
          <a:effectLst/>
        </p:spPr>
        <p:txBody>
          <a:bodyPr wrap="none" lIns="90000" tIns="46800" rIns="90000" bIns="46800" anchor="ctr"/>
          <a:lstStyle/>
          <a:p>
            <a:endParaRPr lang="zh-CN" altLang="en-US"/>
          </a:p>
        </p:txBody>
      </p:sp>
      <p:sp>
        <p:nvSpPr>
          <p:cNvPr id="750598" name="Rectangle 6"/>
          <p:cNvSpPr>
            <a:spLocks noChangeArrowheads="1"/>
          </p:cNvSpPr>
          <p:nvPr/>
        </p:nvSpPr>
        <p:spPr bwMode="auto">
          <a:xfrm>
            <a:off x="2311400" y="5613400"/>
            <a:ext cx="1168400" cy="261938"/>
          </a:xfrm>
          <a:prstGeom prst="rect">
            <a:avLst/>
          </a:prstGeom>
          <a:solidFill>
            <a:srgbClr val="FFCC99"/>
          </a:solidFill>
          <a:ln w="9525" algn="ctr">
            <a:noFill/>
            <a:miter lim="800000"/>
            <a:headEnd/>
            <a:tailEnd/>
          </a:ln>
          <a:effectLst/>
        </p:spPr>
        <p:txBody>
          <a:bodyPr wrap="none" lIns="90000" tIns="46800" rIns="90000" bIns="46800" anchor="ctr"/>
          <a:lstStyle/>
          <a:p>
            <a:endParaRPr lang="zh-CN" altLang="en-US"/>
          </a:p>
        </p:txBody>
      </p:sp>
      <p:sp>
        <p:nvSpPr>
          <p:cNvPr id="750599" name="Rectangle 7"/>
          <p:cNvSpPr>
            <a:spLocks noChangeArrowheads="1"/>
          </p:cNvSpPr>
          <p:nvPr/>
        </p:nvSpPr>
        <p:spPr bwMode="auto">
          <a:xfrm>
            <a:off x="2311400" y="5270500"/>
            <a:ext cx="1168400" cy="300038"/>
          </a:xfrm>
          <a:prstGeom prst="rect">
            <a:avLst/>
          </a:prstGeom>
          <a:solidFill>
            <a:srgbClr val="FFCC99"/>
          </a:solidFill>
          <a:ln w="9525" algn="ctr">
            <a:noFill/>
            <a:miter lim="800000"/>
            <a:headEnd/>
            <a:tailEnd/>
          </a:ln>
          <a:effectLst/>
        </p:spPr>
        <p:txBody>
          <a:bodyPr wrap="none" lIns="90000" tIns="46800" rIns="90000" bIns="46800" anchor="ctr"/>
          <a:lstStyle/>
          <a:p>
            <a:endParaRPr lang="zh-CN" altLang="en-US"/>
          </a:p>
        </p:txBody>
      </p:sp>
      <p:sp>
        <p:nvSpPr>
          <p:cNvPr id="750600" name="Rectangle 8"/>
          <p:cNvSpPr>
            <a:spLocks noChangeArrowheads="1"/>
          </p:cNvSpPr>
          <p:nvPr/>
        </p:nvSpPr>
        <p:spPr bwMode="auto">
          <a:xfrm>
            <a:off x="2311400" y="4978400"/>
            <a:ext cx="1168400" cy="261938"/>
          </a:xfrm>
          <a:prstGeom prst="rect">
            <a:avLst/>
          </a:prstGeom>
          <a:solidFill>
            <a:srgbClr val="FFCC99"/>
          </a:solidFill>
          <a:ln w="9525" algn="ctr">
            <a:noFill/>
            <a:miter lim="800000"/>
            <a:headEnd/>
            <a:tailEnd/>
          </a:ln>
          <a:effectLst/>
        </p:spPr>
        <p:txBody>
          <a:bodyPr wrap="none" lIns="90000" tIns="46800" rIns="90000" bIns="46800" anchor="ctr"/>
          <a:lstStyle/>
          <a:p>
            <a:endParaRPr lang="zh-CN" altLang="en-US"/>
          </a:p>
        </p:txBody>
      </p:sp>
      <p:grpSp>
        <p:nvGrpSpPr>
          <p:cNvPr id="750601" name="Group 9"/>
          <p:cNvGrpSpPr>
            <a:grpSpLocks/>
          </p:cNvGrpSpPr>
          <p:nvPr/>
        </p:nvGrpSpPr>
        <p:grpSpPr bwMode="auto">
          <a:xfrm>
            <a:off x="2178050" y="3471864"/>
            <a:ext cx="3086100" cy="3038475"/>
            <a:chOff x="1452" y="2187"/>
            <a:chExt cx="1944" cy="1914"/>
          </a:xfrm>
        </p:grpSpPr>
        <p:sp>
          <p:nvSpPr>
            <p:cNvPr id="750602" name="Line 10"/>
            <p:cNvSpPr>
              <a:spLocks noChangeShapeType="1"/>
            </p:cNvSpPr>
            <p:nvPr/>
          </p:nvSpPr>
          <p:spPr bwMode="auto">
            <a:xfrm>
              <a:off x="2272" y="3806"/>
              <a:ext cx="200" cy="0"/>
            </a:xfrm>
            <a:prstGeom prst="line">
              <a:avLst/>
            </a:prstGeom>
            <a:noFill/>
            <a:ln w="9525">
              <a:solidFill>
                <a:schemeClr val="tx1"/>
              </a:solidFill>
              <a:round/>
              <a:headEnd/>
              <a:tailEnd type="triangle" w="med" len="med"/>
            </a:ln>
            <a:effectLst/>
          </p:spPr>
          <p:txBody>
            <a:bodyPr wrap="none" anchor="ctr"/>
            <a:lstStyle/>
            <a:p>
              <a:endParaRPr lang="zh-CN" altLang="en-US"/>
            </a:p>
          </p:txBody>
        </p:sp>
        <p:sp>
          <p:nvSpPr>
            <p:cNvPr id="750603" name="Rectangle 11"/>
            <p:cNvSpPr>
              <a:spLocks noChangeArrowheads="1"/>
            </p:cNvSpPr>
            <p:nvPr/>
          </p:nvSpPr>
          <p:spPr bwMode="auto">
            <a:xfrm>
              <a:off x="2476" y="3705"/>
              <a:ext cx="920" cy="181"/>
            </a:xfrm>
            <a:prstGeom prst="rect">
              <a:avLst/>
            </a:prstGeom>
            <a:solidFill>
              <a:srgbClr val="FFFF99"/>
            </a:solidFill>
            <a:ln w="12700" algn="ctr">
              <a:solidFill>
                <a:schemeClr val="tx1"/>
              </a:solidFill>
              <a:miter lim="800000"/>
              <a:headEnd/>
              <a:tailEnd/>
            </a:ln>
            <a:effectLst/>
          </p:spPr>
          <p:txBody>
            <a:bodyPr wrap="none" anchor="ctr"/>
            <a:lstStyle/>
            <a:p>
              <a:r>
                <a:rPr lang="zh-CN" altLang="en-US" sz="1400">
                  <a:latin typeface="Times New Roman" pitchFamily="18" charset="0"/>
                  <a:ea typeface="华文新魏" pitchFamily="2" charset="-122"/>
                </a:rPr>
                <a:t>发送移位寄存器</a:t>
              </a:r>
            </a:p>
          </p:txBody>
        </p:sp>
        <p:sp>
          <p:nvSpPr>
            <p:cNvPr id="750604" name="AutoShape 12"/>
            <p:cNvSpPr>
              <a:spLocks noChangeArrowheads="1"/>
            </p:cNvSpPr>
            <p:nvPr/>
          </p:nvSpPr>
          <p:spPr bwMode="auto">
            <a:xfrm>
              <a:off x="1816" y="2304"/>
              <a:ext cx="184" cy="224"/>
            </a:xfrm>
            <a:prstGeom prst="downArrow">
              <a:avLst>
                <a:gd name="adj1" fmla="val 50000"/>
                <a:gd name="adj2" fmla="val 30435"/>
              </a:avLst>
            </a:prstGeom>
            <a:solidFill>
              <a:schemeClr val="bg1"/>
            </a:solidFill>
            <a:ln w="9525" algn="ctr">
              <a:solidFill>
                <a:schemeClr val="tx1"/>
              </a:solidFill>
              <a:miter lim="800000"/>
              <a:headEnd/>
              <a:tailEnd/>
            </a:ln>
            <a:effectLst/>
          </p:spPr>
          <p:txBody>
            <a:bodyPr wrap="none" anchor="ctr"/>
            <a:lstStyle/>
            <a:p>
              <a:endParaRPr lang="zh-CN" altLang="en-US"/>
            </a:p>
          </p:txBody>
        </p:sp>
        <p:sp>
          <p:nvSpPr>
            <p:cNvPr id="750605" name="Rectangle 13"/>
            <p:cNvSpPr>
              <a:spLocks noChangeArrowheads="1"/>
            </p:cNvSpPr>
            <p:nvPr/>
          </p:nvSpPr>
          <p:spPr bwMode="auto">
            <a:xfrm>
              <a:off x="1452" y="2187"/>
              <a:ext cx="904" cy="181"/>
            </a:xfrm>
            <a:prstGeom prst="rect">
              <a:avLst/>
            </a:prstGeom>
            <a:solidFill>
              <a:srgbClr val="CCFFFF"/>
            </a:solidFill>
            <a:ln w="12700" algn="ctr">
              <a:solidFill>
                <a:schemeClr val="tx1"/>
              </a:solidFill>
              <a:miter lim="800000"/>
              <a:headEnd/>
              <a:tailEnd/>
            </a:ln>
            <a:effectLst/>
          </p:spPr>
          <p:txBody>
            <a:bodyPr wrap="none" anchor="ctr"/>
            <a:lstStyle/>
            <a:p>
              <a:r>
                <a:rPr lang="en-US" altLang="zh-CN" sz="1400">
                  <a:latin typeface="Times New Roman" pitchFamily="18" charset="0"/>
                  <a:ea typeface="华文新魏" pitchFamily="2" charset="-122"/>
                </a:rPr>
                <a:t>UnTHR</a:t>
              </a:r>
            </a:p>
          </p:txBody>
        </p:sp>
        <p:sp>
          <p:nvSpPr>
            <p:cNvPr id="750606" name="Text Box 14"/>
            <p:cNvSpPr txBox="1">
              <a:spLocks noChangeArrowheads="1"/>
            </p:cNvSpPr>
            <p:nvPr/>
          </p:nvSpPr>
          <p:spPr bwMode="auto">
            <a:xfrm rot="5400000">
              <a:off x="1818" y="2752"/>
              <a:ext cx="212" cy="173"/>
            </a:xfrm>
            <a:prstGeom prst="rect">
              <a:avLst/>
            </a:prstGeom>
            <a:noFill/>
            <a:ln w="9525" algn="ctr">
              <a:noFill/>
              <a:miter lim="800000"/>
              <a:headEnd/>
              <a:tailEnd/>
            </a:ln>
            <a:effectLst/>
          </p:spPr>
          <p:txBody>
            <a:bodyPr wrap="none">
              <a:spAutoFit/>
            </a:bodyPr>
            <a:lstStyle/>
            <a:p>
              <a:r>
                <a:rPr lang="en-US" altLang="zh-CN" sz="1200">
                  <a:latin typeface="宋体"/>
                </a:rPr>
                <a:t>…</a:t>
              </a:r>
              <a:endParaRPr lang="en-US" altLang="zh-CN" sz="1200">
                <a:latin typeface="Times New Roman" pitchFamily="18" charset="0"/>
              </a:endParaRPr>
            </a:p>
          </p:txBody>
        </p:sp>
        <p:sp>
          <p:nvSpPr>
            <p:cNvPr id="750607" name="Text Box 15"/>
            <p:cNvSpPr txBox="1">
              <a:spLocks noChangeArrowheads="1"/>
            </p:cNvSpPr>
            <p:nvPr/>
          </p:nvSpPr>
          <p:spPr bwMode="auto">
            <a:xfrm rot="5400000">
              <a:off x="1818" y="3336"/>
              <a:ext cx="212" cy="173"/>
            </a:xfrm>
            <a:prstGeom prst="rect">
              <a:avLst/>
            </a:prstGeom>
            <a:noFill/>
            <a:ln w="9525" algn="ctr">
              <a:noFill/>
              <a:miter lim="800000"/>
              <a:headEnd/>
              <a:tailEnd/>
            </a:ln>
            <a:effectLst/>
          </p:spPr>
          <p:txBody>
            <a:bodyPr wrap="none">
              <a:spAutoFit/>
            </a:bodyPr>
            <a:lstStyle/>
            <a:p>
              <a:r>
                <a:rPr lang="en-US" altLang="zh-CN" sz="1200">
                  <a:latin typeface="宋体"/>
                </a:rPr>
                <a:t>…</a:t>
              </a:r>
              <a:endParaRPr lang="en-US" altLang="zh-CN" sz="1200">
                <a:latin typeface="Times New Roman" pitchFamily="18" charset="0"/>
              </a:endParaRPr>
            </a:p>
          </p:txBody>
        </p:sp>
        <p:sp>
          <p:nvSpPr>
            <p:cNvPr id="750608" name="Text Box 16"/>
            <p:cNvSpPr txBox="1">
              <a:spLocks noChangeArrowheads="1"/>
            </p:cNvSpPr>
            <p:nvPr/>
          </p:nvSpPr>
          <p:spPr bwMode="auto">
            <a:xfrm>
              <a:off x="1533" y="3889"/>
              <a:ext cx="726" cy="212"/>
            </a:xfrm>
            <a:prstGeom prst="rect">
              <a:avLst/>
            </a:prstGeom>
            <a:noFill/>
            <a:ln w="9525">
              <a:noFill/>
              <a:miter lim="800000"/>
              <a:headEnd/>
              <a:tailEnd/>
            </a:ln>
            <a:effectLst/>
          </p:spPr>
          <p:txBody>
            <a:bodyPr>
              <a:spAutoFit/>
            </a:bodyPr>
            <a:lstStyle/>
            <a:p>
              <a:pPr>
                <a:spcBef>
                  <a:spcPct val="50000"/>
                </a:spcBef>
              </a:pPr>
              <a:r>
                <a:rPr lang="zh-CN" altLang="en-US" sz="1600">
                  <a:solidFill>
                    <a:srgbClr val="0000FF"/>
                  </a:solidFill>
                  <a:latin typeface="Times New Roman" pitchFamily="18" charset="0"/>
                  <a:ea typeface="华文新魏" pitchFamily="2" charset="-122"/>
                </a:rPr>
                <a:t>接收</a:t>
              </a:r>
              <a:r>
                <a:rPr lang="en-US" altLang="zh-CN" sz="1600">
                  <a:solidFill>
                    <a:srgbClr val="0000FF"/>
                  </a:solidFill>
                  <a:latin typeface="Times New Roman" pitchFamily="18" charset="0"/>
                  <a:ea typeface="华文新魏" pitchFamily="2" charset="-122"/>
                </a:rPr>
                <a:t>FIFO</a:t>
              </a:r>
            </a:p>
          </p:txBody>
        </p:sp>
        <p:sp>
          <p:nvSpPr>
            <p:cNvPr id="750609" name="Rectangle 17"/>
            <p:cNvSpPr>
              <a:spLocks noChangeArrowheads="1"/>
            </p:cNvSpPr>
            <p:nvPr/>
          </p:nvSpPr>
          <p:spPr bwMode="auto">
            <a:xfrm>
              <a:off x="1528" y="3711"/>
              <a:ext cx="748" cy="181"/>
            </a:xfrm>
            <a:prstGeom prst="rect">
              <a:avLst/>
            </a:prstGeom>
            <a:noFill/>
            <a:ln w="9525" algn="ctr">
              <a:solidFill>
                <a:schemeClr val="tx1"/>
              </a:solidFill>
              <a:miter lim="800000"/>
              <a:headEnd/>
              <a:tailEnd/>
            </a:ln>
            <a:effectLst/>
          </p:spPr>
          <p:txBody>
            <a:bodyPr wrap="none" lIns="90000" tIns="46800" rIns="90000" bIns="46800" anchor="ctr"/>
            <a:lstStyle/>
            <a:p>
              <a:r>
                <a:rPr lang="en-US" altLang="zh-CN" sz="1600">
                  <a:latin typeface="Times New Roman" pitchFamily="18" charset="0"/>
                </a:rPr>
                <a:t>1</a:t>
              </a:r>
            </a:p>
          </p:txBody>
        </p:sp>
        <p:sp>
          <p:nvSpPr>
            <p:cNvPr id="750610" name="Rectangle 18"/>
            <p:cNvSpPr>
              <a:spLocks noChangeArrowheads="1"/>
            </p:cNvSpPr>
            <p:nvPr/>
          </p:nvSpPr>
          <p:spPr bwMode="auto">
            <a:xfrm>
              <a:off x="1528" y="3523"/>
              <a:ext cx="748" cy="181"/>
            </a:xfrm>
            <a:prstGeom prst="rect">
              <a:avLst/>
            </a:prstGeom>
            <a:noFill/>
            <a:ln w="9525" algn="ctr">
              <a:solidFill>
                <a:schemeClr val="tx1"/>
              </a:solidFill>
              <a:miter lim="800000"/>
              <a:headEnd/>
              <a:tailEnd/>
            </a:ln>
            <a:effectLst/>
          </p:spPr>
          <p:txBody>
            <a:bodyPr wrap="none" lIns="90000" tIns="46800" rIns="90000" bIns="46800" anchor="ctr"/>
            <a:lstStyle/>
            <a:p>
              <a:r>
                <a:rPr lang="en-US" altLang="zh-CN" sz="1600">
                  <a:latin typeface="Times New Roman" pitchFamily="18" charset="0"/>
                </a:rPr>
                <a:t>2</a:t>
              </a:r>
            </a:p>
          </p:txBody>
        </p:sp>
        <p:sp>
          <p:nvSpPr>
            <p:cNvPr id="750611" name="Rectangle 19"/>
            <p:cNvSpPr>
              <a:spLocks noChangeArrowheads="1"/>
            </p:cNvSpPr>
            <p:nvPr/>
          </p:nvSpPr>
          <p:spPr bwMode="auto">
            <a:xfrm>
              <a:off x="1528" y="3129"/>
              <a:ext cx="748" cy="181"/>
            </a:xfrm>
            <a:prstGeom prst="rect">
              <a:avLst/>
            </a:prstGeom>
            <a:noFill/>
            <a:ln w="9525" algn="ctr">
              <a:solidFill>
                <a:schemeClr val="tx1"/>
              </a:solidFill>
              <a:miter lim="800000"/>
              <a:headEnd/>
              <a:tailEnd/>
            </a:ln>
            <a:effectLst/>
          </p:spPr>
          <p:txBody>
            <a:bodyPr wrap="none" lIns="90000" tIns="46800" rIns="90000" bIns="46800" anchor="ctr"/>
            <a:lstStyle/>
            <a:p>
              <a:r>
                <a:rPr lang="en-US" altLang="zh-CN" sz="1600">
                  <a:latin typeface="Times New Roman" pitchFamily="18" charset="0"/>
                </a:rPr>
                <a:t>8</a:t>
              </a:r>
            </a:p>
          </p:txBody>
        </p:sp>
        <p:sp>
          <p:nvSpPr>
            <p:cNvPr id="750612" name="Rectangle 20"/>
            <p:cNvSpPr>
              <a:spLocks noChangeArrowheads="1"/>
            </p:cNvSpPr>
            <p:nvPr/>
          </p:nvSpPr>
          <p:spPr bwMode="auto">
            <a:xfrm>
              <a:off x="1528" y="2949"/>
              <a:ext cx="748" cy="181"/>
            </a:xfrm>
            <a:prstGeom prst="rect">
              <a:avLst/>
            </a:prstGeom>
            <a:noFill/>
            <a:ln w="9525" algn="ctr">
              <a:solidFill>
                <a:schemeClr val="tx1"/>
              </a:solidFill>
              <a:miter lim="800000"/>
              <a:headEnd/>
              <a:tailEnd/>
            </a:ln>
            <a:effectLst/>
          </p:spPr>
          <p:txBody>
            <a:bodyPr wrap="none" lIns="90000" tIns="46800" rIns="90000" bIns="46800" anchor="ctr"/>
            <a:lstStyle/>
            <a:p>
              <a:r>
                <a:rPr lang="en-US" altLang="zh-CN" sz="1600">
                  <a:latin typeface="Times New Roman" pitchFamily="18" charset="0"/>
                </a:rPr>
                <a:t>9</a:t>
              </a:r>
            </a:p>
          </p:txBody>
        </p:sp>
        <p:sp>
          <p:nvSpPr>
            <p:cNvPr id="750613" name="Rectangle 21"/>
            <p:cNvSpPr>
              <a:spLocks noChangeArrowheads="1"/>
            </p:cNvSpPr>
            <p:nvPr/>
          </p:nvSpPr>
          <p:spPr bwMode="auto">
            <a:xfrm>
              <a:off x="1529" y="2542"/>
              <a:ext cx="748" cy="181"/>
            </a:xfrm>
            <a:prstGeom prst="rect">
              <a:avLst/>
            </a:prstGeom>
            <a:noFill/>
            <a:ln w="9525" algn="ctr">
              <a:solidFill>
                <a:schemeClr val="tx1"/>
              </a:solidFill>
              <a:miter lim="800000"/>
              <a:headEnd/>
              <a:tailEnd/>
            </a:ln>
            <a:effectLst/>
          </p:spPr>
          <p:txBody>
            <a:bodyPr wrap="none" lIns="90000" tIns="46800" rIns="90000" bIns="46800" anchor="ctr"/>
            <a:lstStyle/>
            <a:p>
              <a:r>
                <a:rPr lang="en-US" altLang="zh-CN" sz="1600">
                  <a:latin typeface="Times New Roman" pitchFamily="18" charset="0"/>
                </a:rPr>
                <a:t>16</a:t>
              </a:r>
            </a:p>
          </p:txBody>
        </p:sp>
        <p:sp>
          <p:nvSpPr>
            <p:cNvPr id="750614" name="Rectangle 22"/>
            <p:cNvSpPr>
              <a:spLocks noChangeArrowheads="1"/>
            </p:cNvSpPr>
            <p:nvPr/>
          </p:nvSpPr>
          <p:spPr bwMode="auto">
            <a:xfrm>
              <a:off x="1528" y="2721"/>
              <a:ext cx="748" cy="224"/>
            </a:xfrm>
            <a:prstGeom prst="rect">
              <a:avLst/>
            </a:prstGeom>
            <a:noFill/>
            <a:ln w="9525" algn="ctr">
              <a:solidFill>
                <a:schemeClr val="tx1"/>
              </a:solidFill>
              <a:miter lim="800000"/>
              <a:headEnd/>
              <a:tailEnd/>
            </a:ln>
            <a:effectLst/>
          </p:spPr>
          <p:txBody>
            <a:bodyPr wrap="none" lIns="90000" tIns="46800" rIns="90000" bIns="46800" anchor="ctr"/>
            <a:lstStyle/>
            <a:p>
              <a:endParaRPr lang="zh-CN" altLang="zh-CN" sz="1600">
                <a:latin typeface="Times New Roman" pitchFamily="18" charset="0"/>
              </a:endParaRPr>
            </a:p>
          </p:txBody>
        </p:sp>
        <p:sp>
          <p:nvSpPr>
            <p:cNvPr id="750615" name="Rectangle 23"/>
            <p:cNvSpPr>
              <a:spLocks noChangeArrowheads="1"/>
            </p:cNvSpPr>
            <p:nvPr/>
          </p:nvSpPr>
          <p:spPr bwMode="auto">
            <a:xfrm>
              <a:off x="1528" y="3311"/>
              <a:ext cx="748" cy="216"/>
            </a:xfrm>
            <a:prstGeom prst="rect">
              <a:avLst/>
            </a:prstGeom>
            <a:noFill/>
            <a:ln w="9525" algn="ctr">
              <a:solidFill>
                <a:schemeClr val="tx1"/>
              </a:solidFill>
              <a:miter lim="800000"/>
              <a:headEnd/>
              <a:tailEnd/>
            </a:ln>
            <a:effectLst/>
          </p:spPr>
          <p:txBody>
            <a:bodyPr wrap="none" lIns="90000" tIns="46800" rIns="90000" bIns="46800" anchor="ctr"/>
            <a:lstStyle/>
            <a:p>
              <a:endParaRPr lang="zh-CN" altLang="zh-CN" sz="1600">
                <a:latin typeface="Times New Roman" pitchFamily="18" charset="0"/>
              </a:endParaRPr>
            </a:p>
          </p:txBody>
        </p:sp>
      </p:grpSp>
      <p:sp>
        <p:nvSpPr>
          <p:cNvPr id="750616" name="Rectangle 24"/>
          <p:cNvSpPr>
            <a:spLocks noChangeArrowheads="1"/>
          </p:cNvSpPr>
          <p:nvPr/>
        </p:nvSpPr>
        <p:spPr bwMode="auto">
          <a:xfrm>
            <a:off x="5486400" y="4648200"/>
            <a:ext cx="2273300" cy="647700"/>
          </a:xfrm>
          <a:prstGeom prst="rect">
            <a:avLst/>
          </a:prstGeom>
          <a:gradFill rotWithShape="0">
            <a:gsLst>
              <a:gs pos="0">
                <a:srgbClr val="FBFEE6"/>
              </a:gs>
              <a:gs pos="100000">
                <a:srgbClr val="FBFEE6">
                  <a:gamma/>
                  <a:shade val="89804"/>
                  <a:invGamma/>
                </a:srgbClr>
              </a:gs>
            </a:gsLst>
            <a:path path="shape">
              <a:fillToRect l="50000" t="50000" r="50000" b="50000"/>
            </a:path>
          </a:gradFill>
          <a:ln w="9525" algn="ctr">
            <a:solidFill>
              <a:schemeClr val="tx1"/>
            </a:solidFill>
            <a:miter lim="800000"/>
            <a:headEnd/>
            <a:tailEnd/>
          </a:ln>
          <a:effectLst>
            <a:outerShdw dist="107763" dir="2700000" algn="ctr" rotWithShape="0">
              <a:schemeClr val="bg2">
                <a:alpha val="50000"/>
              </a:schemeClr>
            </a:outerShdw>
          </a:effectLst>
        </p:spPr>
        <p:txBody>
          <a:bodyPr wrap="none" lIns="90000" tIns="46800" rIns="90000" bIns="46800" anchor="ctr"/>
          <a:lstStyle/>
          <a:p>
            <a:r>
              <a:rPr lang="zh-CN" altLang="en-US" sz="2400" b="1">
                <a:latin typeface="Times New Roman" pitchFamily="18" charset="0"/>
                <a:ea typeface="华文新魏" pitchFamily="2" charset="-122"/>
              </a:rPr>
              <a:t>触发发送中断</a:t>
            </a:r>
          </a:p>
        </p:txBody>
      </p:sp>
      <p:sp>
        <p:nvSpPr>
          <p:cNvPr id="750617" name="AutoShape 25"/>
          <p:cNvSpPr>
            <a:spLocks noChangeArrowheads="1"/>
          </p:cNvSpPr>
          <p:nvPr/>
        </p:nvSpPr>
        <p:spPr bwMode="auto">
          <a:xfrm>
            <a:off x="3924301" y="4826001"/>
            <a:ext cx="1090613" cy="320675"/>
          </a:xfrm>
          <a:prstGeom prst="rightArrow">
            <a:avLst>
              <a:gd name="adj1" fmla="val 50000"/>
              <a:gd name="adj2" fmla="val 85025"/>
            </a:avLst>
          </a:prstGeom>
          <a:solidFill>
            <a:srgbClr val="0000FF"/>
          </a:solidFill>
          <a:ln w="9525" algn="ctr">
            <a:solidFill>
              <a:schemeClr val="tx1"/>
            </a:solidFill>
            <a:miter lim="800000"/>
            <a:headEnd/>
            <a:tailEnd/>
          </a:ln>
          <a:effectLst/>
        </p:spPr>
        <p:txBody>
          <a:bodyPr wrap="none" lIns="90000" tIns="46800" rIns="90000" bIns="46800" anchor="ctr"/>
          <a:lstStyle/>
          <a:p>
            <a:endParaRPr lang="zh-CN" altLang="en-US"/>
          </a:p>
        </p:txBody>
      </p:sp>
      <p:sp>
        <p:nvSpPr>
          <p:cNvPr id="750618" name="Text Box 26"/>
          <p:cNvSpPr txBox="1">
            <a:spLocks noChangeArrowheads="1"/>
          </p:cNvSpPr>
          <p:nvPr/>
        </p:nvSpPr>
        <p:spPr bwMode="auto">
          <a:xfrm>
            <a:off x="4508501" y="3370263"/>
            <a:ext cx="5241925" cy="1017844"/>
          </a:xfrm>
          <a:prstGeom prst="rect">
            <a:avLst/>
          </a:prstGeom>
          <a:noFill/>
          <a:ln w="9525" algn="ctr">
            <a:noFill/>
            <a:miter lim="800000"/>
            <a:headEnd/>
            <a:tailEnd/>
          </a:ln>
          <a:effectLst/>
        </p:spPr>
        <p:txBody>
          <a:bodyPr lIns="90000" tIns="46800" rIns="90000" bIns="46800">
            <a:spAutoFit/>
          </a:bodyPr>
          <a:lstStyle/>
          <a:p>
            <a:pPr algn="l"/>
            <a:r>
              <a:rPr lang="zh-CN" altLang="en-US" sz="2000">
                <a:solidFill>
                  <a:srgbClr val="FF0000"/>
                </a:solidFill>
                <a:latin typeface="Times New Roman" pitchFamily="18" charset="0"/>
                <a:ea typeface="华文新魏" pitchFamily="2" charset="-122"/>
              </a:rPr>
              <a:t>注意：</a:t>
            </a:r>
            <a:r>
              <a:rPr lang="zh-CN" altLang="en-US" sz="2000">
                <a:latin typeface="Times New Roman" pitchFamily="18" charset="0"/>
                <a:ea typeface="华文新魏" pitchFamily="2" charset="-122"/>
              </a:rPr>
              <a:t>前面对“发送中断”做了详细的描述，在这里，为了描述方便，将发送中断简单表示成“发送</a:t>
            </a:r>
            <a:r>
              <a:rPr lang="en-US" altLang="zh-CN" sz="2000">
                <a:latin typeface="Times New Roman" pitchFamily="18" charset="0"/>
                <a:ea typeface="华文新魏" pitchFamily="2" charset="-122"/>
              </a:rPr>
              <a:t>FIFO</a:t>
            </a:r>
            <a:r>
              <a:rPr lang="zh-CN" altLang="en-US" sz="2000">
                <a:latin typeface="Times New Roman" pitchFamily="18" charset="0"/>
                <a:ea typeface="华文新魏" pitchFamily="2" charset="-122"/>
              </a:rPr>
              <a:t>由非空变为空”。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50595"/>
                                        </p:tgtEl>
                                        <p:attrNameLst>
                                          <p:attrName>style.visibility</p:attrName>
                                        </p:attrNameLst>
                                      </p:cBhvr>
                                      <p:to>
                                        <p:strVal val="visible"/>
                                      </p:to>
                                    </p:set>
                                  </p:childTnLst>
                                </p:cTn>
                              </p:par>
                            </p:childTnLst>
                          </p:cTn>
                        </p:par>
                        <p:par>
                          <p:cTn id="7" fill="hold">
                            <p:stCondLst>
                              <p:cond delay="0"/>
                            </p:stCondLst>
                            <p:childTnLst>
                              <p:par>
                                <p:cTn id="8" presetID="8" presetClass="entr" presetSubtype="16" fill="hold" grpId="0" nodeType="afterEffect">
                                  <p:stCondLst>
                                    <p:cond delay="0"/>
                                  </p:stCondLst>
                                  <p:childTnLst>
                                    <p:set>
                                      <p:cBhvr>
                                        <p:cTn id="9" dur="1" fill="hold">
                                          <p:stCondLst>
                                            <p:cond delay="0"/>
                                          </p:stCondLst>
                                        </p:cTn>
                                        <p:tgtEl>
                                          <p:spTgt spid="750596"/>
                                        </p:tgtEl>
                                        <p:attrNameLst>
                                          <p:attrName>style.visibility</p:attrName>
                                        </p:attrNameLst>
                                      </p:cBhvr>
                                      <p:to>
                                        <p:strVal val="visible"/>
                                      </p:to>
                                    </p:set>
                                    <p:animEffect transition="in" filter="diamond(in)">
                                      <p:cBhvr>
                                        <p:cTn id="10" dur="500"/>
                                        <p:tgtEl>
                                          <p:spTgt spid="750596"/>
                                        </p:tgtEl>
                                      </p:cBhvr>
                                    </p:animEffect>
                                  </p:childTnLst>
                                </p:cTn>
                              </p:par>
                            </p:childTnLst>
                          </p:cTn>
                        </p:par>
                        <p:par>
                          <p:cTn id="11" fill="hold">
                            <p:stCondLst>
                              <p:cond delay="500"/>
                            </p:stCondLst>
                            <p:childTnLst>
                              <p:par>
                                <p:cTn id="12" presetID="8" presetClass="entr" presetSubtype="16" fill="hold" grpId="0" nodeType="afterEffect">
                                  <p:stCondLst>
                                    <p:cond delay="0"/>
                                  </p:stCondLst>
                                  <p:childTnLst>
                                    <p:set>
                                      <p:cBhvr>
                                        <p:cTn id="13" dur="1" fill="hold">
                                          <p:stCondLst>
                                            <p:cond delay="0"/>
                                          </p:stCondLst>
                                        </p:cTn>
                                        <p:tgtEl>
                                          <p:spTgt spid="750618"/>
                                        </p:tgtEl>
                                        <p:attrNameLst>
                                          <p:attrName>style.visibility</p:attrName>
                                        </p:attrNameLst>
                                      </p:cBhvr>
                                      <p:to>
                                        <p:strVal val="visible"/>
                                      </p:to>
                                    </p:set>
                                    <p:animEffect transition="in" filter="diamond(in)">
                                      <p:cBhvr>
                                        <p:cTn id="14" dur="500"/>
                                        <p:tgtEl>
                                          <p:spTgt spid="75061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xit" presetSubtype="1" fill="hold" grpId="0" nodeType="clickEffect">
                                  <p:stCondLst>
                                    <p:cond delay="0"/>
                                  </p:stCondLst>
                                  <p:childTnLst>
                                    <p:animEffect transition="out" filter="wipe(up)">
                                      <p:cBhvr>
                                        <p:cTn id="18" dur="500"/>
                                        <p:tgtEl>
                                          <p:spTgt spid="750600"/>
                                        </p:tgtEl>
                                      </p:cBhvr>
                                    </p:animEffect>
                                    <p:set>
                                      <p:cBhvr>
                                        <p:cTn id="19" dur="1" fill="hold">
                                          <p:stCondLst>
                                            <p:cond delay="499"/>
                                          </p:stCondLst>
                                        </p:cTn>
                                        <p:tgtEl>
                                          <p:spTgt spid="750600"/>
                                        </p:tgtEl>
                                        <p:attrNameLst>
                                          <p:attrName>style.visibility</p:attrName>
                                        </p:attrNameLst>
                                      </p:cBhvr>
                                      <p:to>
                                        <p:strVal val="hidden"/>
                                      </p:to>
                                    </p:set>
                                  </p:childTnLst>
                                </p:cTn>
                              </p:par>
                            </p:childTnLst>
                          </p:cTn>
                        </p:par>
                        <p:par>
                          <p:cTn id="20" fill="hold">
                            <p:stCondLst>
                              <p:cond delay="500"/>
                            </p:stCondLst>
                            <p:childTnLst>
                              <p:par>
                                <p:cTn id="21" presetID="22" presetClass="exit" presetSubtype="1" fill="hold" grpId="0" nodeType="afterEffect">
                                  <p:stCondLst>
                                    <p:cond delay="0"/>
                                  </p:stCondLst>
                                  <p:childTnLst>
                                    <p:animEffect transition="out" filter="wipe(up)">
                                      <p:cBhvr>
                                        <p:cTn id="22" dur="500"/>
                                        <p:tgtEl>
                                          <p:spTgt spid="750599"/>
                                        </p:tgtEl>
                                      </p:cBhvr>
                                    </p:animEffect>
                                    <p:set>
                                      <p:cBhvr>
                                        <p:cTn id="23" dur="1" fill="hold">
                                          <p:stCondLst>
                                            <p:cond delay="499"/>
                                          </p:stCondLst>
                                        </p:cTn>
                                        <p:tgtEl>
                                          <p:spTgt spid="750599"/>
                                        </p:tgtEl>
                                        <p:attrNameLst>
                                          <p:attrName>style.visibility</p:attrName>
                                        </p:attrNameLst>
                                      </p:cBhvr>
                                      <p:to>
                                        <p:strVal val="hidden"/>
                                      </p:to>
                                    </p:set>
                                  </p:childTnLst>
                                </p:cTn>
                              </p:par>
                            </p:childTnLst>
                          </p:cTn>
                        </p:par>
                        <p:par>
                          <p:cTn id="24" fill="hold">
                            <p:stCondLst>
                              <p:cond delay="1000"/>
                            </p:stCondLst>
                            <p:childTnLst>
                              <p:par>
                                <p:cTn id="25" presetID="22" presetClass="exit" presetSubtype="1" fill="hold" grpId="0" nodeType="afterEffect">
                                  <p:stCondLst>
                                    <p:cond delay="0"/>
                                  </p:stCondLst>
                                  <p:childTnLst>
                                    <p:animEffect transition="out" filter="wipe(up)">
                                      <p:cBhvr>
                                        <p:cTn id="26" dur="500"/>
                                        <p:tgtEl>
                                          <p:spTgt spid="750598"/>
                                        </p:tgtEl>
                                      </p:cBhvr>
                                    </p:animEffect>
                                    <p:set>
                                      <p:cBhvr>
                                        <p:cTn id="27" dur="1" fill="hold">
                                          <p:stCondLst>
                                            <p:cond delay="499"/>
                                          </p:stCondLst>
                                        </p:cTn>
                                        <p:tgtEl>
                                          <p:spTgt spid="750598"/>
                                        </p:tgtEl>
                                        <p:attrNameLst>
                                          <p:attrName>style.visibility</p:attrName>
                                        </p:attrNameLst>
                                      </p:cBhvr>
                                      <p:to>
                                        <p:strVal val="hidden"/>
                                      </p:to>
                                    </p:set>
                                  </p:childTnLst>
                                </p:cTn>
                              </p:par>
                            </p:childTnLst>
                          </p:cTn>
                        </p:par>
                        <p:par>
                          <p:cTn id="28" fill="hold">
                            <p:stCondLst>
                              <p:cond delay="1500"/>
                            </p:stCondLst>
                            <p:childTnLst>
                              <p:par>
                                <p:cTn id="29" presetID="22" presetClass="exit" presetSubtype="1" fill="hold" grpId="0" nodeType="afterEffect">
                                  <p:stCondLst>
                                    <p:cond delay="0"/>
                                  </p:stCondLst>
                                  <p:childTnLst>
                                    <p:animEffect transition="out" filter="wipe(up)">
                                      <p:cBhvr>
                                        <p:cTn id="30" dur="500"/>
                                        <p:tgtEl>
                                          <p:spTgt spid="750597"/>
                                        </p:tgtEl>
                                      </p:cBhvr>
                                    </p:animEffect>
                                    <p:set>
                                      <p:cBhvr>
                                        <p:cTn id="31" dur="1" fill="hold">
                                          <p:stCondLst>
                                            <p:cond delay="499"/>
                                          </p:stCondLst>
                                        </p:cTn>
                                        <p:tgtEl>
                                          <p:spTgt spid="750597"/>
                                        </p:tgtEl>
                                        <p:attrNameLst>
                                          <p:attrName>style.visibility</p:attrName>
                                        </p:attrNameLst>
                                      </p:cBhvr>
                                      <p:to>
                                        <p:strVal val="hidden"/>
                                      </p:to>
                                    </p:set>
                                  </p:childTnLst>
                                </p:cTn>
                              </p:par>
                            </p:childTnLst>
                          </p:cTn>
                        </p:par>
                        <p:par>
                          <p:cTn id="32" fill="hold">
                            <p:stCondLst>
                              <p:cond delay="2000"/>
                            </p:stCondLst>
                            <p:childTnLst>
                              <p:par>
                                <p:cTn id="33" presetID="22" presetClass="entr" presetSubtype="8" fill="hold" grpId="0" nodeType="afterEffect">
                                  <p:stCondLst>
                                    <p:cond delay="0"/>
                                  </p:stCondLst>
                                  <p:childTnLst>
                                    <p:set>
                                      <p:cBhvr>
                                        <p:cTn id="34" dur="1" fill="hold">
                                          <p:stCondLst>
                                            <p:cond delay="0"/>
                                          </p:stCondLst>
                                        </p:cTn>
                                        <p:tgtEl>
                                          <p:spTgt spid="750617"/>
                                        </p:tgtEl>
                                        <p:attrNameLst>
                                          <p:attrName>style.visibility</p:attrName>
                                        </p:attrNameLst>
                                      </p:cBhvr>
                                      <p:to>
                                        <p:strVal val="visible"/>
                                      </p:to>
                                    </p:set>
                                    <p:animEffect transition="in" filter="wipe(left)">
                                      <p:cBhvr>
                                        <p:cTn id="35" dur="500"/>
                                        <p:tgtEl>
                                          <p:spTgt spid="750617"/>
                                        </p:tgtEl>
                                      </p:cBhvr>
                                    </p:animEffect>
                                  </p:childTnLst>
                                </p:cTn>
                              </p:par>
                            </p:childTnLst>
                          </p:cTn>
                        </p:par>
                        <p:par>
                          <p:cTn id="36" fill="hold">
                            <p:stCondLst>
                              <p:cond delay="2500"/>
                            </p:stCondLst>
                            <p:childTnLst>
                              <p:par>
                                <p:cTn id="37" presetID="22" presetClass="entr" presetSubtype="8" fill="hold" grpId="0" nodeType="afterEffect">
                                  <p:stCondLst>
                                    <p:cond delay="0"/>
                                  </p:stCondLst>
                                  <p:childTnLst>
                                    <p:set>
                                      <p:cBhvr>
                                        <p:cTn id="38" dur="1" fill="hold">
                                          <p:stCondLst>
                                            <p:cond delay="0"/>
                                          </p:stCondLst>
                                        </p:cTn>
                                        <p:tgtEl>
                                          <p:spTgt spid="750616"/>
                                        </p:tgtEl>
                                        <p:attrNameLst>
                                          <p:attrName>style.visibility</p:attrName>
                                        </p:attrNameLst>
                                      </p:cBhvr>
                                      <p:to>
                                        <p:strVal val="visible"/>
                                      </p:to>
                                    </p:set>
                                    <p:animEffect transition="in" filter="wipe(left)">
                                      <p:cBhvr>
                                        <p:cTn id="39" dur="500"/>
                                        <p:tgtEl>
                                          <p:spTgt spid="7506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0595" grpId="0"/>
      <p:bldP spid="750596" grpId="0"/>
      <p:bldP spid="750597" grpId="0" animBg="1"/>
      <p:bldP spid="750598" grpId="0" animBg="1"/>
      <p:bldP spid="750599" grpId="0" animBg="1"/>
      <p:bldP spid="750600" grpId="0" animBg="1"/>
      <p:bldP spid="750616" grpId="0" animBg="1"/>
      <p:bldP spid="750617" grpId="0" animBg="1"/>
      <p:bldP spid="750618"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18" name="Rectangle 2"/>
          <p:cNvSpPr>
            <a:spLocks noChangeArrowheads="1"/>
          </p:cNvSpPr>
          <p:nvPr/>
        </p:nvSpPr>
        <p:spPr bwMode="auto">
          <a:xfrm>
            <a:off x="2133600" y="698500"/>
            <a:ext cx="7772400" cy="1143000"/>
          </a:xfrm>
          <a:prstGeom prst="rect">
            <a:avLst/>
          </a:prstGeom>
          <a:noFill/>
          <a:ln w="9525">
            <a:noFill/>
            <a:miter lim="800000"/>
            <a:headEnd/>
            <a:tailEnd/>
          </a:ln>
          <a:effectLst/>
        </p:spPr>
        <p:txBody>
          <a:bodyPr anchor="ctr"/>
          <a:lstStyle/>
          <a:p>
            <a:r>
              <a:rPr lang="en-US" altLang="zh-CN" sz="4400">
                <a:solidFill>
                  <a:schemeClr val="tx2"/>
                </a:solidFill>
                <a:latin typeface="Times New Roman" pitchFamily="18" charset="0"/>
              </a:rPr>
              <a:t>UART</a:t>
            </a:r>
            <a:r>
              <a:rPr lang="zh-CN" altLang="en-US" sz="4400">
                <a:solidFill>
                  <a:schemeClr val="tx2"/>
                </a:solidFill>
                <a:latin typeface="Times New Roman" pitchFamily="18" charset="0"/>
              </a:rPr>
              <a:t>中断总结</a:t>
            </a:r>
          </a:p>
        </p:txBody>
      </p:sp>
      <p:sp>
        <p:nvSpPr>
          <p:cNvPr id="751619" name="Rectangle 3"/>
          <p:cNvSpPr>
            <a:spLocks noChangeArrowheads="1"/>
          </p:cNvSpPr>
          <p:nvPr/>
        </p:nvSpPr>
        <p:spPr bwMode="auto">
          <a:xfrm>
            <a:off x="2209800" y="17764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zh-CN" altLang="en-US" sz="3200">
                <a:latin typeface="Times New Roman" pitchFamily="18" charset="0"/>
              </a:rPr>
              <a:t>接收状态中断</a:t>
            </a:r>
          </a:p>
        </p:txBody>
      </p:sp>
      <p:sp>
        <p:nvSpPr>
          <p:cNvPr id="751620" name="Rectangle 4"/>
          <p:cNvSpPr>
            <a:spLocks noChangeArrowheads="1"/>
          </p:cNvSpPr>
          <p:nvPr/>
        </p:nvSpPr>
        <p:spPr bwMode="auto">
          <a:xfrm>
            <a:off x="1954214" y="2414995"/>
            <a:ext cx="8080375" cy="1202510"/>
          </a:xfrm>
          <a:prstGeom prst="rect">
            <a:avLst/>
          </a:prstGeom>
          <a:noFill/>
          <a:ln w="9525" algn="ctr">
            <a:noFill/>
            <a:miter lim="800000"/>
            <a:headEnd/>
            <a:tailEnd/>
          </a:ln>
          <a:effectLst/>
        </p:spPr>
        <p:txBody>
          <a:bodyPr lIns="90000" tIns="46800" rIns="90000" bIns="46800" anchor="ctr">
            <a:spAutoFit/>
          </a:bodyPr>
          <a:lstStyle/>
          <a:p>
            <a:pPr algn="l"/>
            <a:r>
              <a:rPr lang="en-US" altLang="zh-CN" sz="2400">
                <a:latin typeface="Times New Roman" pitchFamily="18" charset="0"/>
                <a:ea typeface="华文新魏" pitchFamily="2" charset="-122"/>
              </a:rPr>
              <a:t>        </a:t>
            </a:r>
            <a:r>
              <a:rPr lang="zh-CN" altLang="en-US" sz="2400">
                <a:latin typeface="Times New Roman" pitchFamily="18" charset="0"/>
                <a:ea typeface="华文新魏" pitchFamily="2" charset="-122"/>
              </a:rPr>
              <a:t>在</a:t>
            </a:r>
            <a:r>
              <a:rPr lang="en-US" altLang="zh-CN" sz="2400">
                <a:latin typeface="Times New Roman" pitchFamily="18" charset="0"/>
                <a:ea typeface="华文新魏" pitchFamily="2" charset="-122"/>
              </a:rPr>
              <a:t>UART</a:t>
            </a:r>
            <a:r>
              <a:rPr lang="zh-CN" altLang="en-US" sz="2400">
                <a:latin typeface="Times New Roman" pitchFamily="18" charset="0"/>
                <a:ea typeface="华文新魏" pitchFamily="2" charset="-122"/>
              </a:rPr>
              <a:t>接收数据时，如果出现：溢出错误（</a:t>
            </a:r>
            <a:r>
              <a:rPr lang="en-US" altLang="zh-CN" sz="2400">
                <a:latin typeface="Times New Roman" pitchFamily="18" charset="0"/>
                <a:ea typeface="华文新魏" pitchFamily="2" charset="-122"/>
              </a:rPr>
              <a:t>OE</a:t>
            </a:r>
            <a:r>
              <a:rPr lang="zh-CN" altLang="en-US" sz="2400">
                <a:latin typeface="Times New Roman" pitchFamily="18" charset="0"/>
                <a:ea typeface="华文新魏" pitchFamily="2" charset="-122"/>
              </a:rPr>
              <a:t>）、奇偶错误（</a:t>
            </a:r>
            <a:r>
              <a:rPr lang="en-US" altLang="zh-CN" sz="2400">
                <a:latin typeface="Times New Roman" pitchFamily="18" charset="0"/>
                <a:ea typeface="华文新魏" pitchFamily="2" charset="-122"/>
              </a:rPr>
              <a:t>PE</a:t>
            </a:r>
            <a:r>
              <a:rPr lang="zh-CN" altLang="en-US" sz="2400">
                <a:latin typeface="Times New Roman" pitchFamily="18" charset="0"/>
                <a:ea typeface="华文新魏" pitchFamily="2" charset="-122"/>
              </a:rPr>
              <a:t>）、帧错误（</a:t>
            </a:r>
            <a:r>
              <a:rPr lang="en-US" altLang="zh-CN" sz="2400">
                <a:latin typeface="Times New Roman" pitchFamily="18" charset="0"/>
                <a:ea typeface="华文新魏" pitchFamily="2" charset="-122"/>
              </a:rPr>
              <a:t>FE</a:t>
            </a:r>
            <a:r>
              <a:rPr lang="zh-CN" altLang="en-US" sz="2400">
                <a:latin typeface="Times New Roman" pitchFamily="18" charset="0"/>
                <a:ea typeface="华文新魏" pitchFamily="2" charset="-122"/>
              </a:rPr>
              <a:t>）和间隔中断（</a:t>
            </a:r>
            <a:r>
              <a:rPr lang="en-US" altLang="zh-CN" sz="2400">
                <a:latin typeface="Times New Roman" pitchFamily="18" charset="0"/>
                <a:ea typeface="华文新魏" pitchFamily="2" charset="-122"/>
              </a:rPr>
              <a:t>BI</a:t>
            </a:r>
            <a:r>
              <a:rPr lang="zh-CN" altLang="en-US" sz="2400">
                <a:latin typeface="Times New Roman" pitchFamily="18" charset="0"/>
                <a:ea typeface="华文新魏" pitchFamily="2" charset="-122"/>
              </a:rPr>
              <a:t>）中的任意一个错误时，都会触发接收状态中断。 </a:t>
            </a:r>
          </a:p>
        </p:txBody>
      </p:sp>
      <p:sp>
        <p:nvSpPr>
          <p:cNvPr id="751621" name="Oval 5"/>
          <p:cNvSpPr>
            <a:spLocks noChangeArrowheads="1"/>
          </p:cNvSpPr>
          <p:nvPr/>
        </p:nvSpPr>
        <p:spPr bwMode="auto">
          <a:xfrm>
            <a:off x="5600700" y="4546600"/>
            <a:ext cx="914400" cy="914400"/>
          </a:xfrm>
          <a:prstGeom prst="ellipse">
            <a:avLst/>
          </a:prstGeom>
          <a:solidFill>
            <a:srgbClr val="CCCCFF"/>
          </a:solidFill>
          <a:ln w="9525" algn="ctr">
            <a:solidFill>
              <a:schemeClr val="tx1"/>
            </a:solidFill>
            <a:round/>
            <a:headEnd/>
            <a:tailEnd/>
          </a:ln>
          <a:effectLst/>
        </p:spPr>
        <p:txBody>
          <a:bodyPr wrap="none" lIns="90000" tIns="46800" rIns="90000" bIns="46800" anchor="ctr"/>
          <a:lstStyle/>
          <a:p>
            <a:r>
              <a:rPr lang="en-US" altLang="zh-CN" sz="2400" b="1">
                <a:latin typeface="Times New Roman" pitchFamily="18" charset="0"/>
              </a:rPr>
              <a:t>+</a:t>
            </a:r>
          </a:p>
        </p:txBody>
      </p:sp>
      <p:sp>
        <p:nvSpPr>
          <p:cNvPr id="751622" name="Rectangle 6"/>
          <p:cNvSpPr>
            <a:spLocks noChangeArrowheads="1"/>
          </p:cNvSpPr>
          <p:nvPr/>
        </p:nvSpPr>
        <p:spPr bwMode="auto">
          <a:xfrm>
            <a:off x="7531100" y="4660900"/>
            <a:ext cx="2654300" cy="647700"/>
          </a:xfrm>
          <a:prstGeom prst="rect">
            <a:avLst/>
          </a:prstGeom>
          <a:gradFill rotWithShape="0">
            <a:gsLst>
              <a:gs pos="0">
                <a:srgbClr val="FBFEE6"/>
              </a:gs>
              <a:gs pos="100000">
                <a:srgbClr val="FBFEE6">
                  <a:gamma/>
                  <a:shade val="89804"/>
                  <a:invGamma/>
                </a:srgbClr>
              </a:gs>
            </a:gsLst>
            <a:path path="shape">
              <a:fillToRect l="50000" t="50000" r="50000" b="50000"/>
            </a:path>
          </a:gradFill>
          <a:ln w="9525" algn="ctr">
            <a:solidFill>
              <a:schemeClr val="tx1"/>
            </a:solidFill>
            <a:miter lim="800000"/>
            <a:headEnd/>
            <a:tailEnd/>
          </a:ln>
          <a:effectLst>
            <a:outerShdw dist="107763" dir="2700000" algn="ctr" rotWithShape="0">
              <a:schemeClr val="bg2">
                <a:alpha val="50000"/>
              </a:schemeClr>
            </a:outerShdw>
          </a:effectLst>
        </p:spPr>
        <p:txBody>
          <a:bodyPr wrap="none" lIns="90000" tIns="46800" rIns="90000" bIns="46800" anchor="ctr"/>
          <a:lstStyle/>
          <a:p>
            <a:r>
              <a:rPr lang="zh-CN" altLang="en-US" sz="2400" b="1">
                <a:latin typeface="Times New Roman" pitchFamily="18" charset="0"/>
                <a:ea typeface="华文新魏" pitchFamily="2" charset="-122"/>
              </a:rPr>
              <a:t>触发接收状态中断</a:t>
            </a:r>
          </a:p>
        </p:txBody>
      </p:sp>
      <p:sp>
        <p:nvSpPr>
          <p:cNvPr id="751623" name="AutoShape 7"/>
          <p:cNvSpPr>
            <a:spLocks noChangeArrowheads="1"/>
          </p:cNvSpPr>
          <p:nvPr/>
        </p:nvSpPr>
        <p:spPr bwMode="auto">
          <a:xfrm>
            <a:off x="6654801" y="4826001"/>
            <a:ext cx="798513" cy="320675"/>
          </a:xfrm>
          <a:prstGeom prst="rightArrow">
            <a:avLst>
              <a:gd name="adj1" fmla="val 50000"/>
              <a:gd name="adj2" fmla="val 62253"/>
            </a:avLst>
          </a:prstGeom>
          <a:solidFill>
            <a:srgbClr val="0000FF"/>
          </a:solidFill>
          <a:ln w="9525" algn="ctr">
            <a:solidFill>
              <a:schemeClr val="tx1"/>
            </a:solidFill>
            <a:miter lim="800000"/>
            <a:headEnd/>
            <a:tailEnd/>
          </a:ln>
          <a:effectLst/>
        </p:spPr>
        <p:txBody>
          <a:bodyPr wrap="none" lIns="90000" tIns="46800" rIns="90000" bIns="46800" anchor="ctr"/>
          <a:lstStyle/>
          <a:p>
            <a:endParaRPr lang="zh-CN" altLang="en-US"/>
          </a:p>
        </p:txBody>
      </p:sp>
      <p:grpSp>
        <p:nvGrpSpPr>
          <p:cNvPr id="751624" name="Group 8"/>
          <p:cNvGrpSpPr>
            <a:grpSpLocks/>
          </p:cNvGrpSpPr>
          <p:nvPr/>
        </p:nvGrpSpPr>
        <p:grpSpPr bwMode="auto">
          <a:xfrm>
            <a:off x="2386014" y="3721100"/>
            <a:ext cx="3659187" cy="2578100"/>
            <a:chOff x="543" y="2344"/>
            <a:chExt cx="2305" cy="1624"/>
          </a:xfrm>
        </p:grpSpPr>
        <p:sp>
          <p:nvSpPr>
            <p:cNvPr id="751625" name="Line 9"/>
            <p:cNvSpPr>
              <a:spLocks noChangeShapeType="1"/>
            </p:cNvSpPr>
            <p:nvPr/>
          </p:nvSpPr>
          <p:spPr bwMode="auto">
            <a:xfrm>
              <a:off x="1775" y="2510"/>
              <a:ext cx="472" cy="0"/>
            </a:xfrm>
            <a:prstGeom prst="line">
              <a:avLst/>
            </a:prstGeom>
            <a:noFill/>
            <a:ln w="9525">
              <a:solidFill>
                <a:schemeClr val="tx1"/>
              </a:solidFill>
              <a:round/>
              <a:headEnd/>
              <a:tailEnd/>
            </a:ln>
            <a:effectLst/>
          </p:spPr>
          <p:txBody>
            <a:bodyPr wrap="none" lIns="90000" tIns="46800" rIns="90000" bIns="46800" anchor="ctr"/>
            <a:lstStyle/>
            <a:p>
              <a:endParaRPr lang="zh-CN" altLang="en-US"/>
            </a:p>
          </p:txBody>
        </p:sp>
        <p:sp>
          <p:nvSpPr>
            <p:cNvPr id="751626" name="Line 10"/>
            <p:cNvSpPr>
              <a:spLocks noChangeShapeType="1"/>
            </p:cNvSpPr>
            <p:nvPr/>
          </p:nvSpPr>
          <p:spPr bwMode="auto">
            <a:xfrm>
              <a:off x="1775" y="3809"/>
              <a:ext cx="472" cy="0"/>
            </a:xfrm>
            <a:prstGeom prst="line">
              <a:avLst/>
            </a:prstGeom>
            <a:noFill/>
            <a:ln w="9525">
              <a:solidFill>
                <a:schemeClr val="tx1"/>
              </a:solidFill>
              <a:round/>
              <a:headEnd/>
              <a:tailEnd/>
            </a:ln>
            <a:effectLst/>
          </p:spPr>
          <p:txBody>
            <a:bodyPr wrap="none" lIns="90000" tIns="46800" rIns="90000" bIns="46800" anchor="ctr"/>
            <a:lstStyle/>
            <a:p>
              <a:endParaRPr lang="zh-CN" altLang="en-US"/>
            </a:p>
          </p:txBody>
        </p:sp>
        <p:sp>
          <p:nvSpPr>
            <p:cNvPr id="751627" name="Line 11"/>
            <p:cNvSpPr>
              <a:spLocks noChangeShapeType="1"/>
            </p:cNvSpPr>
            <p:nvPr/>
          </p:nvSpPr>
          <p:spPr bwMode="auto">
            <a:xfrm>
              <a:off x="1775" y="3384"/>
              <a:ext cx="472" cy="0"/>
            </a:xfrm>
            <a:prstGeom prst="line">
              <a:avLst/>
            </a:prstGeom>
            <a:noFill/>
            <a:ln w="9525">
              <a:solidFill>
                <a:schemeClr val="tx1"/>
              </a:solidFill>
              <a:round/>
              <a:headEnd/>
              <a:tailEnd/>
            </a:ln>
            <a:effectLst/>
          </p:spPr>
          <p:txBody>
            <a:bodyPr wrap="none" lIns="90000" tIns="46800" rIns="90000" bIns="46800" anchor="ctr"/>
            <a:lstStyle/>
            <a:p>
              <a:endParaRPr lang="zh-CN" altLang="en-US"/>
            </a:p>
          </p:txBody>
        </p:sp>
        <p:sp>
          <p:nvSpPr>
            <p:cNvPr id="751628" name="Line 12"/>
            <p:cNvSpPr>
              <a:spLocks noChangeShapeType="1"/>
            </p:cNvSpPr>
            <p:nvPr/>
          </p:nvSpPr>
          <p:spPr bwMode="auto">
            <a:xfrm>
              <a:off x="1775" y="2944"/>
              <a:ext cx="472" cy="0"/>
            </a:xfrm>
            <a:prstGeom prst="line">
              <a:avLst/>
            </a:prstGeom>
            <a:noFill/>
            <a:ln w="9525">
              <a:solidFill>
                <a:schemeClr val="tx1"/>
              </a:solidFill>
              <a:round/>
              <a:headEnd/>
              <a:tailEnd/>
            </a:ln>
            <a:effectLst/>
          </p:spPr>
          <p:txBody>
            <a:bodyPr wrap="none" lIns="90000" tIns="46800" rIns="90000" bIns="46800" anchor="ctr"/>
            <a:lstStyle/>
            <a:p>
              <a:endParaRPr lang="zh-CN" altLang="en-US"/>
            </a:p>
          </p:txBody>
        </p:sp>
        <p:sp>
          <p:nvSpPr>
            <p:cNvPr id="751629" name="Line 13"/>
            <p:cNvSpPr>
              <a:spLocks noChangeShapeType="1"/>
            </p:cNvSpPr>
            <p:nvPr/>
          </p:nvSpPr>
          <p:spPr bwMode="auto">
            <a:xfrm>
              <a:off x="2247" y="2512"/>
              <a:ext cx="601" cy="347"/>
            </a:xfrm>
            <a:prstGeom prst="line">
              <a:avLst/>
            </a:prstGeom>
            <a:noFill/>
            <a:ln w="9525">
              <a:solidFill>
                <a:schemeClr val="tx1"/>
              </a:solidFill>
              <a:round/>
              <a:headEnd/>
              <a:tailEnd/>
            </a:ln>
            <a:effectLst/>
          </p:spPr>
          <p:txBody>
            <a:bodyPr wrap="none" lIns="90000" tIns="46800" rIns="90000" bIns="46800" anchor="ctr"/>
            <a:lstStyle/>
            <a:p>
              <a:endParaRPr lang="zh-CN" altLang="en-US"/>
            </a:p>
          </p:txBody>
        </p:sp>
        <p:sp>
          <p:nvSpPr>
            <p:cNvPr id="751630" name="Line 14"/>
            <p:cNvSpPr>
              <a:spLocks noChangeShapeType="1"/>
            </p:cNvSpPr>
            <p:nvPr/>
          </p:nvSpPr>
          <p:spPr bwMode="auto">
            <a:xfrm>
              <a:off x="2247" y="2944"/>
              <a:ext cx="337" cy="90"/>
            </a:xfrm>
            <a:prstGeom prst="line">
              <a:avLst/>
            </a:prstGeom>
            <a:noFill/>
            <a:ln w="9525">
              <a:solidFill>
                <a:schemeClr val="tx1"/>
              </a:solidFill>
              <a:round/>
              <a:headEnd/>
              <a:tailEnd/>
            </a:ln>
            <a:effectLst/>
          </p:spPr>
          <p:txBody>
            <a:bodyPr wrap="none" lIns="90000" tIns="46800" rIns="90000" bIns="46800" anchor="ctr"/>
            <a:lstStyle/>
            <a:p>
              <a:endParaRPr lang="zh-CN" altLang="en-US"/>
            </a:p>
          </p:txBody>
        </p:sp>
        <p:sp>
          <p:nvSpPr>
            <p:cNvPr id="751631" name="Line 15"/>
            <p:cNvSpPr>
              <a:spLocks noChangeShapeType="1"/>
            </p:cNvSpPr>
            <p:nvPr/>
          </p:nvSpPr>
          <p:spPr bwMode="auto">
            <a:xfrm flipV="1">
              <a:off x="2247" y="3272"/>
              <a:ext cx="352" cy="112"/>
            </a:xfrm>
            <a:prstGeom prst="line">
              <a:avLst/>
            </a:prstGeom>
            <a:noFill/>
            <a:ln w="9525">
              <a:solidFill>
                <a:schemeClr val="tx1"/>
              </a:solidFill>
              <a:round/>
              <a:headEnd/>
              <a:tailEnd/>
            </a:ln>
            <a:effectLst/>
          </p:spPr>
          <p:txBody>
            <a:bodyPr wrap="none" lIns="90000" tIns="46800" rIns="90000" bIns="46800" anchor="ctr"/>
            <a:lstStyle/>
            <a:p>
              <a:endParaRPr lang="zh-CN" altLang="en-US"/>
            </a:p>
          </p:txBody>
        </p:sp>
        <p:sp>
          <p:nvSpPr>
            <p:cNvPr id="751632" name="Line 16"/>
            <p:cNvSpPr>
              <a:spLocks noChangeShapeType="1"/>
            </p:cNvSpPr>
            <p:nvPr/>
          </p:nvSpPr>
          <p:spPr bwMode="auto">
            <a:xfrm flipV="1">
              <a:off x="2247" y="3440"/>
              <a:ext cx="600" cy="368"/>
            </a:xfrm>
            <a:prstGeom prst="line">
              <a:avLst/>
            </a:prstGeom>
            <a:noFill/>
            <a:ln w="9525">
              <a:solidFill>
                <a:schemeClr val="tx1"/>
              </a:solidFill>
              <a:round/>
              <a:headEnd/>
              <a:tailEnd/>
            </a:ln>
            <a:effectLst/>
          </p:spPr>
          <p:txBody>
            <a:bodyPr wrap="none" lIns="90000" tIns="46800" rIns="90000" bIns="46800" anchor="ctr"/>
            <a:lstStyle/>
            <a:p>
              <a:endParaRPr lang="zh-CN" altLang="en-US"/>
            </a:p>
          </p:txBody>
        </p:sp>
        <p:sp>
          <p:nvSpPr>
            <p:cNvPr id="751633" name="Rectangle 17"/>
            <p:cNvSpPr>
              <a:spLocks noChangeArrowheads="1"/>
            </p:cNvSpPr>
            <p:nvPr/>
          </p:nvSpPr>
          <p:spPr bwMode="auto">
            <a:xfrm>
              <a:off x="543" y="2344"/>
              <a:ext cx="1264" cy="320"/>
            </a:xfrm>
            <a:prstGeom prst="rect">
              <a:avLst/>
            </a:prstGeom>
            <a:solidFill>
              <a:srgbClr val="FFCC99"/>
            </a:solidFill>
            <a:ln w="9525" algn="ctr">
              <a:solidFill>
                <a:schemeClr val="tx1"/>
              </a:solidFill>
              <a:miter lim="800000"/>
              <a:headEnd/>
              <a:tailEnd/>
            </a:ln>
            <a:effectLst/>
          </p:spPr>
          <p:txBody>
            <a:bodyPr wrap="none" lIns="90000" tIns="46800" rIns="90000" bIns="46800" anchor="ctr"/>
            <a:lstStyle/>
            <a:p>
              <a:r>
                <a:rPr lang="zh-CN" altLang="en-US" sz="2000">
                  <a:latin typeface="Times New Roman" pitchFamily="18" charset="0"/>
                  <a:ea typeface="华文新魏" pitchFamily="2" charset="-122"/>
                </a:rPr>
                <a:t>溢出错误（</a:t>
              </a:r>
              <a:r>
                <a:rPr lang="en-US" altLang="zh-CN" sz="2000">
                  <a:latin typeface="Times New Roman" pitchFamily="18" charset="0"/>
                  <a:ea typeface="华文新魏" pitchFamily="2" charset="-122"/>
                </a:rPr>
                <a:t>OE</a:t>
              </a:r>
              <a:r>
                <a:rPr lang="zh-CN" altLang="en-US" sz="2000">
                  <a:latin typeface="Times New Roman" pitchFamily="18" charset="0"/>
                  <a:ea typeface="华文新魏" pitchFamily="2" charset="-122"/>
                </a:rPr>
                <a:t>）</a:t>
              </a:r>
            </a:p>
          </p:txBody>
        </p:sp>
        <p:sp>
          <p:nvSpPr>
            <p:cNvPr id="751634" name="Rectangle 18"/>
            <p:cNvSpPr>
              <a:spLocks noChangeArrowheads="1"/>
            </p:cNvSpPr>
            <p:nvPr/>
          </p:nvSpPr>
          <p:spPr bwMode="auto">
            <a:xfrm>
              <a:off x="543" y="2784"/>
              <a:ext cx="1264" cy="320"/>
            </a:xfrm>
            <a:prstGeom prst="rect">
              <a:avLst/>
            </a:prstGeom>
            <a:solidFill>
              <a:srgbClr val="FFCC99"/>
            </a:solidFill>
            <a:ln w="9525" algn="ctr">
              <a:solidFill>
                <a:schemeClr val="tx1"/>
              </a:solidFill>
              <a:miter lim="800000"/>
              <a:headEnd/>
              <a:tailEnd/>
            </a:ln>
            <a:effectLst/>
          </p:spPr>
          <p:txBody>
            <a:bodyPr wrap="none" lIns="90000" tIns="46800" rIns="90000" bIns="46800" anchor="ctr"/>
            <a:lstStyle/>
            <a:p>
              <a:r>
                <a:rPr lang="zh-CN" altLang="en-US" sz="2000">
                  <a:latin typeface="Times New Roman" pitchFamily="18" charset="0"/>
                  <a:ea typeface="华文新魏" pitchFamily="2" charset="-122"/>
                </a:rPr>
                <a:t>奇偶错误（</a:t>
              </a:r>
              <a:r>
                <a:rPr lang="en-US" altLang="zh-CN" sz="2000">
                  <a:latin typeface="Times New Roman" pitchFamily="18" charset="0"/>
                  <a:ea typeface="华文新魏" pitchFamily="2" charset="-122"/>
                </a:rPr>
                <a:t>PE</a:t>
              </a:r>
              <a:r>
                <a:rPr lang="zh-CN" altLang="en-US" sz="2000">
                  <a:latin typeface="Times New Roman" pitchFamily="18" charset="0"/>
                  <a:ea typeface="华文新魏" pitchFamily="2" charset="-122"/>
                </a:rPr>
                <a:t>）</a:t>
              </a:r>
            </a:p>
          </p:txBody>
        </p:sp>
        <p:sp>
          <p:nvSpPr>
            <p:cNvPr id="751635" name="Rectangle 19"/>
            <p:cNvSpPr>
              <a:spLocks noChangeArrowheads="1"/>
            </p:cNvSpPr>
            <p:nvPr/>
          </p:nvSpPr>
          <p:spPr bwMode="auto">
            <a:xfrm>
              <a:off x="543" y="3224"/>
              <a:ext cx="1264" cy="320"/>
            </a:xfrm>
            <a:prstGeom prst="rect">
              <a:avLst/>
            </a:prstGeom>
            <a:solidFill>
              <a:srgbClr val="FFCC99"/>
            </a:solidFill>
            <a:ln w="9525" algn="ctr">
              <a:solidFill>
                <a:schemeClr val="tx1"/>
              </a:solidFill>
              <a:miter lim="800000"/>
              <a:headEnd/>
              <a:tailEnd/>
            </a:ln>
            <a:effectLst/>
          </p:spPr>
          <p:txBody>
            <a:bodyPr wrap="none" lIns="90000" tIns="46800" rIns="90000" bIns="46800" anchor="ctr"/>
            <a:lstStyle/>
            <a:p>
              <a:r>
                <a:rPr lang="zh-CN" altLang="en-US" sz="2000">
                  <a:latin typeface="Times New Roman" pitchFamily="18" charset="0"/>
                  <a:ea typeface="华文新魏" pitchFamily="2" charset="-122"/>
                </a:rPr>
                <a:t>帧错误（</a:t>
              </a:r>
              <a:r>
                <a:rPr lang="en-US" altLang="zh-CN" sz="2000">
                  <a:latin typeface="Times New Roman" pitchFamily="18" charset="0"/>
                  <a:ea typeface="华文新魏" pitchFamily="2" charset="-122"/>
                </a:rPr>
                <a:t>FE</a:t>
              </a:r>
              <a:r>
                <a:rPr lang="zh-CN" altLang="en-US" sz="2000">
                  <a:latin typeface="Times New Roman" pitchFamily="18" charset="0"/>
                  <a:ea typeface="华文新魏" pitchFamily="2" charset="-122"/>
                </a:rPr>
                <a:t>）</a:t>
              </a:r>
            </a:p>
          </p:txBody>
        </p:sp>
        <p:sp>
          <p:nvSpPr>
            <p:cNvPr id="751636" name="Rectangle 20"/>
            <p:cNvSpPr>
              <a:spLocks noChangeArrowheads="1"/>
            </p:cNvSpPr>
            <p:nvPr/>
          </p:nvSpPr>
          <p:spPr bwMode="auto">
            <a:xfrm>
              <a:off x="543" y="3648"/>
              <a:ext cx="1264" cy="320"/>
            </a:xfrm>
            <a:prstGeom prst="rect">
              <a:avLst/>
            </a:prstGeom>
            <a:solidFill>
              <a:srgbClr val="FFCC99"/>
            </a:solidFill>
            <a:ln w="9525" algn="ctr">
              <a:solidFill>
                <a:schemeClr val="tx1"/>
              </a:solidFill>
              <a:miter lim="800000"/>
              <a:headEnd/>
              <a:tailEnd/>
            </a:ln>
            <a:effectLst/>
          </p:spPr>
          <p:txBody>
            <a:bodyPr wrap="none" lIns="90000" tIns="46800" rIns="90000" bIns="46800" anchor="ctr"/>
            <a:lstStyle/>
            <a:p>
              <a:r>
                <a:rPr lang="zh-CN" altLang="en-US" sz="2000">
                  <a:latin typeface="Times New Roman" pitchFamily="18" charset="0"/>
                  <a:ea typeface="华文新魏" pitchFamily="2" charset="-122"/>
                </a:rPr>
                <a:t>间隔中断（</a:t>
              </a:r>
              <a:r>
                <a:rPr lang="en-US" altLang="zh-CN" sz="2000">
                  <a:latin typeface="Times New Roman" pitchFamily="18" charset="0"/>
                  <a:ea typeface="华文新魏" pitchFamily="2" charset="-122"/>
                </a:rPr>
                <a:t>BI</a:t>
              </a:r>
              <a:r>
                <a:rPr lang="zh-CN" altLang="en-US" sz="2000">
                  <a:latin typeface="Times New Roman" pitchFamily="18" charset="0"/>
                  <a:ea typeface="华文新魏" pitchFamily="2" charset="-122"/>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751619"/>
                                        </p:tgtEl>
                                        <p:attrNameLst>
                                          <p:attrName>style.visibility</p:attrName>
                                        </p:attrNameLst>
                                      </p:cBhvr>
                                      <p:to>
                                        <p:strVal val="visible"/>
                                      </p:to>
                                    </p:set>
                                    <p:animEffect transition="in" filter="strips(downRight)">
                                      <p:cBhvr>
                                        <p:cTn id="7" dur="500"/>
                                        <p:tgtEl>
                                          <p:spTgt spid="751619"/>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751620"/>
                                        </p:tgtEl>
                                        <p:attrNameLst>
                                          <p:attrName>style.visibility</p:attrName>
                                        </p:attrNameLst>
                                      </p:cBhvr>
                                      <p:to>
                                        <p:strVal val="visible"/>
                                      </p:to>
                                    </p:set>
                                    <p:animEffect transition="in" filter="strips(downRight)">
                                      <p:cBhvr>
                                        <p:cTn id="11" dur="500"/>
                                        <p:tgtEl>
                                          <p:spTgt spid="75162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51624"/>
                                        </p:tgtEl>
                                        <p:attrNameLst>
                                          <p:attrName>style.visibility</p:attrName>
                                        </p:attrNameLst>
                                      </p:cBhvr>
                                      <p:to>
                                        <p:strVal val="visible"/>
                                      </p:to>
                                    </p:set>
                                    <p:animEffect transition="in" filter="wipe(left)">
                                      <p:cBhvr>
                                        <p:cTn id="16" dur="500"/>
                                        <p:tgtEl>
                                          <p:spTgt spid="751624"/>
                                        </p:tgtEl>
                                      </p:cBhvr>
                                    </p:animEffec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0"/>
                                          </p:stCondLst>
                                        </p:cTn>
                                        <p:tgtEl>
                                          <p:spTgt spid="751621"/>
                                        </p:tgtEl>
                                        <p:attrNameLst>
                                          <p:attrName>style.visibility</p:attrName>
                                        </p:attrNameLst>
                                      </p:cBhvr>
                                      <p:to>
                                        <p:strVal val="visible"/>
                                      </p:to>
                                    </p:se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751623"/>
                                        </p:tgtEl>
                                        <p:attrNameLst>
                                          <p:attrName>style.visibility</p:attrName>
                                        </p:attrNameLst>
                                      </p:cBhvr>
                                      <p:to>
                                        <p:strVal val="visible"/>
                                      </p:to>
                                    </p:set>
                                    <p:animEffect transition="in" filter="wipe(left)">
                                      <p:cBhvr>
                                        <p:cTn id="23" dur="500"/>
                                        <p:tgtEl>
                                          <p:spTgt spid="751623"/>
                                        </p:tgtEl>
                                      </p:cBhvr>
                                    </p:animEffect>
                                  </p:childTnLst>
                                </p:cTn>
                              </p:par>
                            </p:childTnLst>
                          </p:cTn>
                        </p:par>
                        <p:par>
                          <p:cTn id="24" fill="hold">
                            <p:stCondLst>
                              <p:cond delay="1000"/>
                            </p:stCondLst>
                            <p:childTnLst>
                              <p:par>
                                <p:cTn id="25" presetID="22" presetClass="entr" presetSubtype="8" fill="hold" grpId="0" nodeType="afterEffect">
                                  <p:stCondLst>
                                    <p:cond delay="0"/>
                                  </p:stCondLst>
                                  <p:childTnLst>
                                    <p:set>
                                      <p:cBhvr>
                                        <p:cTn id="26" dur="1" fill="hold">
                                          <p:stCondLst>
                                            <p:cond delay="0"/>
                                          </p:stCondLst>
                                        </p:cTn>
                                        <p:tgtEl>
                                          <p:spTgt spid="751622"/>
                                        </p:tgtEl>
                                        <p:attrNameLst>
                                          <p:attrName>style.visibility</p:attrName>
                                        </p:attrNameLst>
                                      </p:cBhvr>
                                      <p:to>
                                        <p:strVal val="visible"/>
                                      </p:to>
                                    </p:set>
                                    <p:animEffect transition="in" filter="wipe(left)">
                                      <p:cBhvr>
                                        <p:cTn id="27" dur="500"/>
                                        <p:tgtEl>
                                          <p:spTgt spid="7516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1619" grpId="0"/>
      <p:bldP spid="751620" grpId="0"/>
      <p:bldP spid="751621" grpId="0" animBg="1"/>
      <p:bldP spid="751622" grpId="0" animBg="1"/>
      <p:bldP spid="751623"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2" name="Rectangle 2"/>
          <p:cNvSpPr>
            <a:spLocks noChangeArrowheads="1"/>
          </p:cNvSpPr>
          <p:nvPr/>
        </p:nvSpPr>
        <p:spPr bwMode="auto">
          <a:xfrm>
            <a:off x="2133600" y="698500"/>
            <a:ext cx="7772400" cy="1143000"/>
          </a:xfrm>
          <a:prstGeom prst="rect">
            <a:avLst/>
          </a:prstGeom>
          <a:noFill/>
          <a:ln w="9525">
            <a:noFill/>
            <a:miter lim="800000"/>
            <a:headEnd/>
            <a:tailEnd/>
          </a:ln>
          <a:effectLst/>
        </p:spPr>
        <p:txBody>
          <a:bodyPr anchor="ctr"/>
          <a:lstStyle/>
          <a:p>
            <a:r>
              <a:rPr lang="en-US" altLang="zh-CN" sz="4400">
                <a:solidFill>
                  <a:schemeClr val="tx2"/>
                </a:solidFill>
                <a:latin typeface="Times New Roman" pitchFamily="18" charset="0"/>
              </a:rPr>
              <a:t>UART</a:t>
            </a:r>
            <a:r>
              <a:rPr lang="zh-CN" altLang="en-US" sz="4400">
                <a:solidFill>
                  <a:schemeClr val="tx2"/>
                </a:solidFill>
                <a:latin typeface="Times New Roman" pitchFamily="18" charset="0"/>
              </a:rPr>
              <a:t>中断总结</a:t>
            </a:r>
          </a:p>
        </p:txBody>
      </p:sp>
      <p:sp>
        <p:nvSpPr>
          <p:cNvPr id="752643" name="Rectangle 3"/>
          <p:cNvSpPr>
            <a:spLocks noChangeArrowheads="1"/>
          </p:cNvSpPr>
          <p:nvPr/>
        </p:nvSpPr>
        <p:spPr bwMode="auto">
          <a:xfrm>
            <a:off x="2209800" y="1776413"/>
            <a:ext cx="7702550" cy="576262"/>
          </a:xfrm>
          <a:prstGeom prst="rect">
            <a:avLst/>
          </a:prstGeom>
          <a:noFill/>
          <a:ln w="9525">
            <a:noFill/>
            <a:miter lim="800000"/>
            <a:headEnd/>
            <a:tailEnd/>
          </a:ln>
          <a:effectLst/>
        </p:spPr>
        <p:txBody>
          <a:bodyPr/>
          <a:lstStyle/>
          <a:p>
            <a:pPr marL="342900" indent="-342900">
              <a:spcBef>
                <a:spcPct val="20000"/>
              </a:spcBef>
              <a:buFontTx/>
              <a:buChar char="•"/>
            </a:pPr>
            <a:r>
              <a:rPr lang="en-US" altLang="zh-CN" sz="3200">
                <a:latin typeface="Times New Roman" pitchFamily="18" charset="0"/>
              </a:rPr>
              <a:t>Modem</a:t>
            </a:r>
            <a:r>
              <a:rPr lang="zh-CN" altLang="en-US" sz="3200">
                <a:latin typeface="Times New Roman" pitchFamily="18" charset="0"/>
              </a:rPr>
              <a:t>中断</a:t>
            </a:r>
          </a:p>
        </p:txBody>
      </p:sp>
      <p:sp>
        <p:nvSpPr>
          <p:cNvPr id="752644" name="Rectangle 4"/>
          <p:cNvSpPr>
            <a:spLocks noChangeArrowheads="1"/>
          </p:cNvSpPr>
          <p:nvPr/>
        </p:nvSpPr>
        <p:spPr bwMode="auto">
          <a:xfrm>
            <a:off x="1992314" y="2472145"/>
            <a:ext cx="8389937" cy="1202510"/>
          </a:xfrm>
          <a:prstGeom prst="rect">
            <a:avLst/>
          </a:prstGeom>
          <a:noFill/>
          <a:ln w="9525" algn="ctr">
            <a:noFill/>
            <a:miter lim="800000"/>
            <a:headEnd/>
            <a:tailEnd/>
          </a:ln>
          <a:effectLst/>
        </p:spPr>
        <p:txBody>
          <a:bodyPr lIns="90000" tIns="46800" rIns="90000" bIns="46800" anchor="ctr">
            <a:spAutoFit/>
          </a:bodyPr>
          <a:lstStyle/>
          <a:p>
            <a:pPr algn="l"/>
            <a:r>
              <a:rPr lang="en-US" altLang="zh-CN" sz="2400">
                <a:latin typeface="Times New Roman" pitchFamily="18" charset="0"/>
                <a:ea typeface="华文新魏" pitchFamily="2" charset="-122"/>
              </a:rPr>
              <a:t>        UART1</a:t>
            </a:r>
            <a:r>
              <a:rPr lang="zh-CN" altLang="en-US" sz="2400">
                <a:latin typeface="Times New Roman" pitchFamily="18" charset="0"/>
                <a:ea typeface="华文新魏" pitchFamily="2" charset="-122"/>
              </a:rPr>
              <a:t>接口具有</a:t>
            </a:r>
            <a:r>
              <a:rPr lang="en-US" altLang="zh-CN" sz="2400">
                <a:latin typeface="Times New Roman" pitchFamily="18" charset="0"/>
                <a:ea typeface="华文新魏" pitchFamily="2" charset="-122"/>
              </a:rPr>
              <a:t>Modem</a:t>
            </a:r>
            <a:r>
              <a:rPr lang="zh-CN" altLang="en-US" sz="2400">
                <a:latin typeface="Times New Roman" pitchFamily="18" charset="0"/>
                <a:ea typeface="华文新魏" pitchFamily="2" charset="-122"/>
              </a:rPr>
              <a:t>中断，当引脚</a:t>
            </a:r>
            <a:r>
              <a:rPr lang="en-US" altLang="zh-CN" sz="2400">
                <a:latin typeface="Times New Roman" pitchFamily="18" charset="0"/>
                <a:ea typeface="华文新魏" pitchFamily="2" charset="-122"/>
              </a:rPr>
              <a:t>DCD</a:t>
            </a:r>
            <a:r>
              <a:rPr lang="zh-CN" altLang="en-US" sz="2400">
                <a:latin typeface="Times New Roman" pitchFamily="18" charset="0"/>
                <a:ea typeface="华文新魏" pitchFamily="2" charset="-122"/>
              </a:rPr>
              <a:t>、</a:t>
            </a:r>
            <a:r>
              <a:rPr lang="en-US" altLang="zh-CN" sz="2400">
                <a:latin typeface="Times New Roman" pitchFamily="18" charset="0"/>
                <a:ea typeface="华文新魏" pitchFamily="2" charset="-122"/>
              </a:rPr>
              <a:t>DSR</a:t>
            </a:r>
            <a:r>
              <a:rPr lang="zh-CN" altLang="en-US" sz="2400">
                <a:latin typeface="Times New Roman" pitchFamily="18" charset="0"/>
                <a:ea typeface="华文新魏" pitchFamily="2" charset="-122"/>
              </a:rPr>
              <a:t>或</a:t>
            </a:r>
            <a:r>
              <a:rPr lang="en-US" altLang="zh-CN" sz="2400">
                <a:latin typeface="Times New Roman" pitchFamily="18" charset="0"/>
                <a:ea typeface="华文新魏" pitchFamily="2" charset="-122"/>
              </a:rPr>
              <a:t>CTS</a:t>
            </a:r>
            <a:r>
              <a:rPr lang="zh-CN" altLang="en-US" sz="2400">
                <a:latin typeface="Times New Roman" pitchFamily="18" charset="0"/>
                <a:ea typeface="华文新魏" pitchFamily="2" charset="-122"/>
              </a:rPr>
              <a:t>上发生状态变化时，都会触发</a:t>
            </a:r>
            <a:r>
              <a:rPr lang="en-US" altLang="zh-CN" sz="2400">
                <a:latin typeface="Times New Roman" pitchFamily="18" charset="0"/>
                <a:ea typeface="华文新魏" pitchFamily="2" charset="-122"/>
              </a:rPr>
              <a:t>Modem</a:t>
            </a:r>
            <a:r>
              <a:rPr lang="zh-CN" altLang="en-US" sz="2400">
                <a:latin typeface="Times New Roman" pitchFamily="18" charset="0"/>
                <a:ea typeface="华文新魏" pitchFamily="2" charset="-122"/>
              </a:rPr>
              <a:t>中断。此外，</a:t>
            </a:r>
            <a:r>
              <a:rPr lang="en-US" altLang="zh-CN" sz="2400">
                <a:latin typeface="Times New Roman" pitchFamily="18" charset="0"/>
                <a:ea typeface="华文新魏" pitchFamily="2" charset="-122"/>
              </a:rPr>
              <a:t>Modem</a:t>
            </a:r>
            <a:r>
              <a:rPr lang="zh-CN" altLang="en-US" sz="2400">
                <a:latin typeface="Times New Roman" pitchFamily="18" charset="0"/>
                <a:ea typeface="华文新魏" pitchFamily="2" charset="-122"/>
              </a:rPr>
              <a:t>输入引脚</a:t>
            </a:r>
            <a:r>
              <a:rPr lang="en-US" altLang="zh-CN" sz="2400">
                <a:latin typeface="Times New Roman" pitchFamily="18" charset="0"/>
                <a:ea typeface="华文新魏" pitchFamily="2" charset="-122"/>
              </a:rPr>
              <a:t>RI</a:t>
            </a:r>
            <a:r>
              <a:rPr lang="zh-CN" altLang="en-US" sz="2400">
                <a:latin typeface="Times New Roman" pitchFamily="18" charset="0"/>
                <a:ea typeface="华文新魏" pitchFamily="2" charset="-122"/>
              </a:rPr>
              <a:t>上低到高电平的跳变也会产生一个</a:t>
            </a:r>
            <a:r>
              <a:rPr lang="en-US" altLang="zh-CN" sz="2400">
                <a:latin typeface="Times New Roman" pitchFamily="18" charset="0"/>
                <a:ea typeface="华文新魏" pitchFamily="2" charset="-122"/>
              </a:rPr>
              <a:t>Modem</a:t>
            </a:r>
            <a:r>
              <a:rPr lang="zh-CN" altLang="en-US" sz="2400">
                <a:latin typeface="Times New Roman" pitchFamily="18" charset="0"/>
                <a:ea typeface="华文新魏" pitchFamily="2" charset="-122"/>
              </a:rPr>
              <a:t>中断。 </a:t>
            </a:r>
          </a:p>
        </p:txBody>
      </p:sp>
      <p:sp>
        <p:nvSpPr>
          <p:cNvPr id="752645" name="Oval 5"/>
          <p:cNvSpPr>
            <a:spLocks noChangeArrowheads="1"/>
          </p:cNvSpPr>
          <p:nvPr/>
        </p:nvSpPr>
        <p:spPr bwMode="auto">
          <a:xfrm>
            <a:off x="5753100" y="4648200"/>
            <a:ext cx="914400" cy="914400"/>
          </a:xfrm>
          <a:prstGeom prst="ellipse">
            <a:avLst/>
          </a:prstGeom>
          <a:solidFill>
            <a:srgbClr val="CCCCFF"/>
          </a:solidFill>
          <a:ln w="9525" algn="ctr">
            <a:solidFill>
              <a:schemeClr val="tx1"/>
            </a:solidFill>
            <a:round/>
            <a:headEnd/>
            <a:tailEnd/>
          </a:ln>
          <a:effectLst/>
        </p:spPr>
        <p:txBody>
          <a:bodyPr wrap="none" lIns="90000" tIns="46800" rIns="90000" bIns="46800" anchor="ctr"/>
          <a:lstStyle/>
          <a:p>
            <a:r>
              <a:rPr lang="en-US" altLang="zh-CN" sz="2400" b="1">
                <a:latin typeface="Times New Roman" pitchFamily="18" charset="0"/>
              </a:rPr>
              <a:t>+</a:t>
            </a:r>
          </a:p>
        </p:txBody>
      </p:sp>
      <p:sp>
        <p:nvSpPr>
          <p:cNvPr id="752646" name="Rectangle 6"/>
          <p:cNvSpPr>
            <a:spLocks noChangeArrowheads="1"/>
          </p:cNvSpPr>
          <p:nvPr/>
        </p:nvSpPr>
        <p:spPr bwMode="auto">
          <a:xfrm>
            <a:off x="7683500" y="4762500"/>
            <a:ext cx="2654300" cy="647700"/>
          </a:xfrm>
          <a:prstGeom prst="rect">
            <a:avLst/>
          </a:prstGeom>
          <a:gradFill rotWithShape="0">
            <a:gsLst>
              <a:gs pos="0">
                <a:srgbClr val="FBFEE6"/>
              </a:gs>
              <a:gs pos="100000">
                <a:srgbClr val="FBFEE6">
                  <a:gamma/>
                  <a:shade val="89804"/>
                  <a:invGamma/>
                </a:srgbClr>
              </a:gs>
            </a:gsLst>
            <a:path path="shape">
              <a:fillToRect l="50000" t="50000" r="50000" b="50000"/>
            </a:path>
          </a:gradFill>
          <a:ln w="9525" algn="ctr">
            <a:solidFill>
              <a:schemeClr val="tx1"/>
            </a:solidFill>
            <a:miter lim="800000"/>
            <a:headEnd/>
            <a:tailEnd/>
          </a:ln>
          <a:effectLst>
            <a:outerShdw dist="107763" dir="2700000" algn="ctr" rotWithShape="0">
              <a:schemeClr val="bg2">
                <a:alpha val="50000"/>
              </a:schemeClr>
            </a:outerShdw>
          </a:effectLst>
        </p:spPr>
        <p:txBody>
          <a:bodyPr wrap="none" lIns="90000" tIns="46800" rIns="90000" bIns="46800" anchor="ctr"/>
          <a:lstStyle/>
          <a:p>
            <a:r>
              <a:rPr lang="zh-CN" altLang="en-US" sz="2400" b="1">
                <a:latin typeface="Times New Roman" pitchFamily="18" charset="0"/>
                <a:ea typeface="华文新魏" pitchFamily="2" charset="-122"/>
              </a:rPr>
              <a:t>触发</a:t>
            </a:r>
            <a:r>
              <a:rPr lang="en-US" altLang="zh-CN" sz="2400" b="1">
                <a:latin typeface="Times New Roman" pitchFamily="18" charset="0"/>
                <a:ea typeface="华文新魏" pitchFamily="2" charset="-122"/>
              </a:rPr>
              <a:t>Modem</a:t>
            </a:r>
            <a:r>
              <a:rPr lang="zh-CN" altLang="en-US" sz="2400" b="1">
                <a:latin typeface="Times New Roman" pitchFamily="18" charset="0"/>
                <a:ea typeface="华文新魏" pitchFamily="2" charset="-122"/>
              </a:rPr>
              <a:t>中断</a:t>
            </a:r>
          </a:p>
        </p:txBody>
      </p:sp>
      <p:sp>
        <p:nvSpPr>
          <p:cNvPr id="752647" name="AutoShape 7"/>
          <p:cNvSpPr>
            <a:spLocks noChangeArrowheads="1"/>
          </p:cNvSpPr>
          <p:nvPr/>
        </p:nvSpPr>
        <p:spPr bwMode="auto">
          <a:xfrm>
            <a:off x="6807201" y="4927601"/>
            <a:ext cx="798513" cy="320675"/>
          </a:xfrm>
          <a:prstGeom prst="rightArrow">
            <a:avLst>
              <a:gd name="adj1" fmla="val 50000"/>
              <a:gd name="adj2" fmla="val 62253"/>
            </a:avLst>
          </a:prstGeom>
          <a:solidFill>
            <a:srgbClr val="0000FF"/>
          </a:solidFill>
          <a:ln w="9525" algn="ctr">
            <a:solidFill>
              <a:schemeClr val="tx1"/>
            </a:solidFill>
            <a:miter lim="800000"/>
            <a:headEnd/>
            <a:tailEnd/>
          </a:ln>
          <a:effectLst/>
        </p:spPr>
        <p:txBody>
          <a:bodyPr wrap="none" lIns="90000" tIns="46800" rIns="90000" bIns="46800" anchor="ctr"/>
          <a:lstStyle/>
          <a:p>
            <a:endParaRPr lang="zh-CN" altLang="en-US"/>
          </a:p>
        </p:txBody>
      </p:sp>
      <p:grpSp>
        <p:nvGrpSpPr>
          <p:cNvPr id="752648" name="Group 8"/>
          <p:cNvGrpSpPr>
            <a:grpSpLocks/>
          </p:cNvGrpSpPr>
          <p:nvPr/>
        </p:nvGrpSpPr>
        <p:grpSpPr bwMode="auto">
          <a:xfrm>
            <a:off x="1878014" y="3822700"/>
            <a:ext cx="4319587" cy="2578100"/>
            <a:chOff x="127" y="2456"/>
            <a:chExt cx="2721" cy="1624"/>
          </a:xfrm>
        </p:grpSpPr>
        <p:sp>
          <p:nvSpPr>
            <p:cNvPr id="752649" name="Line 9"/>
            <p:cNvSpPr>
              <a:spLocks noChangeShapeType="1"/>
            </p:cNvSpPr>
            <p:nvPr/>
          </p:nvSpPr>
          <p:spPr bwMode="auto">
            <a:xfrm>
              <a:off x="1775" y="2622"/>
              <a:ext cx="472" cy="0"/>
            </a:xfrm>
            <a:prstGeom prst="line">
              <a:avLst/>
            </a:prstGeom>
            <a:noFill/>
            <a:ln w="9525">
              <a:solidFill>
                <a:schemeClr val="tx1"/>
              </a:solidFill>
              <a:round/>
              <a:headEnd/>
              <a:tailEnd/>
            </a:ln>
            <a:effectLst/>
          </p:spPr>
          <p:txBody>
            <a:bodyPr wrap="none" lIns="90000" tIns="46800" rIns="90000" bIns="46800" anchor="ctr"/>
            <a:lstStyle/>
            <a:p>
              <a:endParaRPr lang="zh-CN" altLang="en-US"/>
            </a:p>
          </p:txBody>
        </p:sp>
        <p:sp>
          <p:nvSpPr>
            <p:cNvPr id="752650" name="Line 10"/>
            <p:cNvSpPr>
              <a:spLocks noChangeShapeType="1"/>
            </p:cNvSpPr>
            <p:nvPr/>
          </p:nvSpPr>
          <p:spPr bwMode="auto">
            <a:xfrm>
              <a:off x="1775" y="3921"/>
              <a:ext cx="472" cy="0"/>
            </a:xfrm>
            <a:prstGeom prst="line">
              <a:avLst/>
            </a:prstGeom>
            <a:noFill/>
            <a:ln w="9525">
              <a:solidFill>
                <a:schemeClr val="tx1"/>
              </a:solidFill>
              <a:round/>
              <a:headEnd/>
              <a:tailEnd/>
            </a:ln>
            <a:effectLst/>
          </p:spPr>
          <p:txBody>
            <a:bodyPr wrap="none" lIns="90000" tIns="46800" rIns="90000" bIns="46800" anchor="ctr"/>
            <a:lstStyle/>
            <a:p>
              <a:endParaRPr lang="zh-CN" altLang="en-US"/>
            </a:p>
          </p:txBody>
        </p:sp>
        <p:sp>
          <p:nvSpPr>
            <p:cNvPr id="752651" name="Line 11"/>
            <p:cNvSpPr>
              <a:spLocks noChangeShapeType="1"/>
            </p:cNvSpPr>
            <p:nvPr/>
          </p:nvSpPr>
          <p:spPr bwMode="auto">
            <a:xfrm>
              <a:off x="1775" y="3496"/>
              <a:ext cx="472" cy="0"/>
            </a:xfrm>
            <a:prstGeom prst="line">
              <a:avLst/>
            </a:prstGeom>
            <a:noFill/>
            <a:ln w="9525">
              <a:solidFill>
                <a:schemeClr val="tx1"/>
              </a:solidFill>
              <a:round/>
              <a:headEnd/>
              <a:tailEnd/>
            </a:ln>
            <a:effectLst/>
          </p:spPr>
          <p:txBody>
            <a:bodyPr wrap="none" lIns="90000" tIns="46800" rIns="90000" bIns="46800" anchor="ctr"/>
            <a:lstStyle/>
            <a:p>
              <a:endParaRPr lang="zh-CN" altLang="en-US"/>
            </a:p>
          </p:txBody>
        </p:sp>
        <p:sp>
          <p:nvSpPr>
            <p:cNvPr id="752652" name="Line 12"/>
            <p:cNvSpPr>
              <a:spLocks noChangeShapeType="1"/>
            </p:cNvSpPr>
            <p:nvPr/>
          </p:nvSpPr>
          <p:spPr bwMode="auto">
            <a:xfrm>
              <a:off x="1775" y="3056"/>
              <a:ext cx="472" cy="0"/>
            </a:xfrm>
            <a:prstGeom prst="line">
              <a:avLst/>
            </a:prstGeom>
            <a:noFill/>
            <a:ln w="9525">
              <a:solidFill>
                <a:schemeClr val="tx1"/>
              </a:solidFill>
              <a:round/>
              <a:headEnd/>
              <a:tailEnd/>
            </a:ln>
            <a:effectLst/>
          </p:spPr>
          <p:txBody>
            <a:bodyPr wrap="none" lIns="90000" tIns="46800" rIns="90000" bIns="46800" anchor="ctr"/>
            <a:lstStyle/>
            <a:p>
              <a:endParaRPr lang="zh-CN" altLang="en-US"/>
            </a:p>
          </p:txBody>
        </p:sp>
        <p:sp>
          <p:nvSpPr>
            <p:cNvPr id="752653" name="Line 13"/>
            <p:cNvSpPr>
              <a:spLocks noChangeShapeType="1"/>
            </p:cNvSpPr>
            <p:nvPr/>
          </p:nvSpPr>
          <p:spPr bwMode="auto">
            <a:xfrm>
              <a:off x="2247" y="2624"/>
              <a:ext cx="601" cy="347"/>
            </a:xfrm>
            <a:prstGeom prst="line">
              <a:avLst/>
            </a:prstGeom>
            <a:noFill/>
            <a:ln w="9525">
              <a:solidFill>
                <a:schemeClr val="tx1"/>
              </a:solidFill>
              <a:round/>
              <a:headEnd/>
              <a:tailEnd/>
            </a:ln>
            <a:effectLst/>
          </p:spPr>
          <p:txBody>
            <a:bodyPr wrap="none" lIns="90000" tIns="46800" rIns="90000" bIns="46800" anchor="ctr"/>
            <a:lstStyle/>
            <a:p>
              <a:endParaRPr lang="zh-CN" altLang="en-US"/>
            </a:p>
          </p:txBody>
        </p:sp>
        <p:sp>
          <p:nvSpPr>
            <p:cNvPr id="752654" name="Line 14"/>
            <p:cNvSpPr>
              <a:spLocks noChangeShapeType="1"/>
            </p:cNvSpPr>
            <p:nvPr/>
          </p:nvSpPr>
          <p:spPr bwMode="auto">
            <a:xfrm>
              <a:off x="2247" y="3056"/>
              <a:ext cx="337" cy="90"/>
            </a:xfrm>
            <a:prstGeom prst="line">
              <a:avLst/>
            </a:prstGeom>
            <a:noFill/>
            <a:ln w="9525">
              <a:solidFill>
                <a:schemeClr val="tx1"/>
              </a:solidFill>
              <a:round/>
              <a:headEnd/>
              <a:tailEnd/>
            </a:ln>
            <a:effectLst/>
          </p:spPr>
          <p:txBody>
            <a:bodyPr wrap="none" lIns="90000" tIns="46800" rIns="90000" bIns="46800" anchor="ctr"/>
            <a:lstStyle/>
            <a:p>
              <a:endParaRPr lang="zh-CN" altLang="en-US"/>
            </a:p>
          </p:txBody>
        </p:sp>
        <p:sp>
          <p:nvSpPr>
            <p:cNvPr id="752655" name="Line 15"/>
            <p:cNvSpPr>
              <a:spLocks noChangeShapeType="1"/>
            </p:cNvSpPr>
            <p:nvPr/>
          </p:nvSpPr>
          <p:spPr bwMode="auto">
            <a:xfrm flipV="1">
              <a:off x="2247" y="3384"/>
              <a:ext cx="352" cy="112"/>
            </a:xfrm>
            <a:prstGeom prst="line">
              <a:avLst/>
            </a:prstGeom>
            <a:noFill/>
            <a:ln w="9525">
              <a:solidFill>
                <a:schemeClr val="tx1"/>
              </a:solidFill>
              <a:round/>
              <a:headEnd/>
              <a:tailEnd/>
            </a:ln>
            <a:effectLst/>
          </p:spPr>
          <p:txBody>
            <a:bodyPr wrap="none" lIns="90000" tIns="46800" rIns="90000" bIns="46800" anchor="ctr"/>
            <a:lstStyle/>
            <a:p>
              <a:endParaRPr lang="zh-CN" altLang="en-US"/>
            </a:p>
          </p:txBody>
        </p:sp>
        <p:sp>
          <p:nvSpPr>
            <p:cNvPr id="752656" name="Line 16"/>
            <p:cNvSpPr>
              <a:spLocks noChangeShapeType="1"/>
            </p:cNvSpPr>
            <p:nvPr/>
          </p:nvSpPr>
          <p:spPr bwMode="auto">
            <a:xfrm flipV="1">
              <a:off x="2247" y="3552"/>
              <a:ext cx="600" cy="368"/>
            </a:xfrm>
            <a:prstGeom prst="line">
              <a:avLst/>
            </a:prstGeom>
            <a:noFill/>
            <a:ln w="9525">
              <a:solidFill>
                <a:schemeClr val="tx1"/>
              </a:solidFill>
              <a:round/>
              <a:headEnd/>
              <a:tailEnd/>
            </a:ln>
            <a:effectLst/>
          </p:spPr>
          <p:txBody>
            <a:bodyPr wrap="none" lIns="90000" tIns="46800" rIns="90000" bIns="46800" anchor="ctr"/>
            <a:lstStyle/>
            <a:p>
              <a:endParaRPr lang="zh-CN" altLang="en-US"/>
            </a:p>
          </p:txBody>
        </p:sp>
        <p:sp>
          <p:nvSpPr>
            <p:cNvPr id="752657" name="Rectangle 17"/>
            <p:cNvSpPr>
              <a:spLocks noChangeArrowheads="1"/>
            </p:cNvSpPr>
            <p:nvPr/>
          </p:nvSpPr>
          <p:spPr bwMode="auto">
            <a:xfrm>
              <a:off x="127" y="2456"/>
              <a:ext cx="1776" cy="320"/>
            </a:xfrm>
            <a:prstGeom prst="rect">
              <a:avLst/>
            </a:prstGeom>
            <a:solidFill>
              <a:srgbClr val="FFCC99"/>
            </a:solidFill>
            <a:ln w="9525" algn="ctr">
              <a:solidFill>
                <a:schemeClr val="tx1"/>
              </a:solidFill>
              <a:miter lim="800000"/>
              <a:headEnd/>
              <a:tailEnd/>
            </a:ln>
            <a:effectLst/>
          </p:spPr>
          <p:txBody>
            <a:bodyPr wrap="none" lIns="90000" tIns="46800" rIns="90000" bIns="46800" anchor="ctr"/>
            <a:lstStyle/>
            <a:p>
              <a:r>
                <a:rPr lang="en-US" altLang="zh-CN" sz="2000">
                  <a:latin typeface="Times New Roman" pitchFamily="18" charset="0"/>
                  <a:ea typeface="华文新魏" pitchFamily="2" charset="-122"/>
                </a:rPr>
                <a:t>DCD</a:t>
              </a:r>
              <a:r>
                <a:rPr lang="zh-CN" altLang="en-US" sz="2000">
                  <a:latin typeface="Times New Roman" pitchFamily="18" charset="0"/>
                  <a:ea typeface="华文新魏" pitchFamily="2" charset="-122"/>
                </a:rPr>
                <a:t>引脚状态发生变化</a:t>
              </a:r>
            </a:p>
          </p:txBody>
        </p:sp>
        <p:sp>
          <p:nvSpPr>
            <p:cNvPr id="752658" name="Rectangle 18"/>
            <p:cNvSpPr>
              <a:spLocks noChangeArrowheads="1"/>
            </p:cNvSpPr>
            <p:nvPr/>
          </p:nvSpPr>
          <p:spPr bwMode="auto">
            <a:xfrm>
              <a:off x="127" y="2896"/>
              <a:ext cx="1776" cy="320"/>
            </a:xfrm>
            <a:prstGeom prst="rect">
              <a:avLst/>
            </a:prstGeom>
            <a:solidFill>
              <a:srgbClr val="FFCC99"/>
            </a:solidFill>
            <a:ln w="9525" algn="ctr">
              <a:solidFill>
                <a:schemeClr val="tx1"/>
              </a:solidFill>
              <a:miter lim="800000"/>
              <a:headEnd/>
              <a:tailEnd/>
            </a:ln>
            <a:effectLst/>
          </p:spPr>
          <p:txBody>
            <a:bodyPr wrap="none" lIns="90000" tIns="46800" rIns="90000" bIns="46800" anchor="ctr"/>
            <a:lstStyle/>
            <a:p>
              <a:r>
                <a:rPr lang="en-US" altLang="zh-CN" sz="2000">
                  <a:latin typeface="Times New Roman" pitchFamily="18" charset="0"/>
                  <a:ea typeface="华文新魏" pitchFamily="2" charset="-122"/>
                </a:rPr>
                <a:t>DSR</a:t>
              </a:r>
              <a:r>
                <a:rPr lang="zh-CN" altLang="en-US" sz="2000">
                  <a:latin typeface="Times New Roman" pitchFamily="18" charset="0"/>
                  <a:ea typeface="华文新魏" pitchFamily="2" charset="-122"/>
                </a:rPr>
                <a:t>引脚状态发生变化</a:t>
              </a:r>
            </a:p>
          </p:txBody>
        </p:sp>
        <p:sp>
          <p:nvSpPr>
            <p:cNvPr id="752659" name="Rectangle 19"/>
            <p:cNvSpPr>
              <a:spLocks noChangeArrowheads="1"/>
            </p:cNvSpPr>
            <p:nvPr/>
          </p:nvSpPr>
          <p:spPr bwMode="auto">
            <a:xfrm>
              <a:off x="127" y="3336"/>
              <a:ext cx="1776" cy="320"/>
            </a:xfrm>
            <a:prstGeom prst="rect">
              <a:avLst/>
            </a:prstGeom>
            <a:solidFill>
              <a:srgbClr val="FFCC99"/>
            </a:solidFill>
            <a:ln w="9525" algn="ctr">
              <a:solidFill>
                <a:schemeClr val="tx1"/>
              </a:solidFill>
              <a:miter lim="800000"/>
              <a:headEnd/>
              <a:tailEnd/>
            </a:ln>
            <a:effectLst/>
          </p:spPr>
          <p:txBody>
            <a:bodyPr wrap="none" lIns="90000" tIns="46800" rIns="90000" bIns="46800" anchor="ctr"/>
            <a:lstStyle/>
            <a:p>
              <a:r>
                <a:rPr lang="en-US" altLang="zh-CN" sz="2000">
                  <a:latin typeface="Times New Roman" pitchFamily="18" charset="0"/>
                  <a:ea typeface="华文新魏" pitchFamily="2" charset="-122"/>
                </a:rPr>
                <a:t>CTS</a:t>
              </a:r>
              <a:r>
                <a:rPr lang="zh-CN" altLang="en-US" sz="2000">
                  <a:latin typeface="Times New Roman" pitchFamily="18" charset="0"/>
                  <a:ea typeface="华文新魏" pitchFamily="2" charset="-122"/>
                </a:rPr>
                <a:t>引脚状态发生变化</a:t>
              </a:r>
            </a:p>
          </p:txBody>
        </p:sp>
        <p:sp>
          <p:nvSpPr>
            <p:cNvPr id="752660" name="Rectangle 20"/>
            <p:cNvSpPr>
              <a:spLocks noChangeArrowheads="1"/>
            </p:cNvSpPr>
            <p:nvPr/>
          </p:nvSpPr>
          <p:spPr bwMode="auto">
            <a:xfrm>
              <a:off x="127" y="3760"/>
              <a:ext cx="1776" cy="320"/>
            </a:xfrm>
            <a:prstGeom prst="rect">
              <a:avLst/>
            </a:prstGeom>
            <a:solidFill>
              <a:srgbClr val="FFCC99"/>
            </a:solidFill>
            <a:ln w="9525" algn="ctr">
              <a:solidFill>
                <a:schemeClr val="tx1"/>
              </a:solidFill>
              <a:miter lim="800000"/>
              <a:headEnd/>
              <a:tailEnd/>
            </a:ln>
            <a:effectLst/>
          </p:spPr>
          <p:txBody>
            <a:bodyPr wrap="none" lIns="90000" tIns="46800" rIns="90000" bIns="46800" anchor="ctr"/>
            <a:lstStyle/>
            <a:p>
              <a:r>
                <a:rPr lang="en-US" altLang="zh-CN" sz="2000">
                  <a:latin typeface="Times New Roman" pitchFamily="18" charset="0"/>
                  <a:ea typeface="华文新魏" pitchFamily="2" charset="-122"/>
                </a:rPr>
                <a:t>RI</a:t>
              </a:r>
              <a:r>
                <a:rPr lang="zh-CN" altLang="en-US" sz="2000">
                  <a:latin typeface="Times New Roman" pitchFamily="18" charset="0"/>
                  <a:ea typeface="华文新魏" pitchFamily="2" charset="-122"/>
                </a:rPr>
                <a:t>引脚上升沿</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752643"/>
                                        </p:tgtEl>
                                        <p:attrNameLst>
                                          <p:attrName>style.visibility</p:attrName>
                                        </p:attrNameLst>
                                      </p:cBhvr>
                                      <p:to>
                                        <p:strVal val="visible"/>
                                      </p:to>
                                    </p:set>
                                    <p:animEffect transition="in" filter="strips(downRight)">
                                      <p:cBhvr>
                                        <p:cTn id="7" dur="500"/>
                                        <p:tgtEl>
                                          <p:spTgt spid="752643"/>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752644"/>
                                        </p:tgtEl>
                                        <p:attrNameLst>
                                          <p:attrName>style.visibility</p:attrName>
                                        </p:attrNameLst>
                                      </p:cBhvr>
                                      <p:to>
                                        <p:strVal val="visible"/>
                                      </p:to>
                                    </p:set>
                                    <p:animEffect transition="in" filter="strips(downRight)">
                                      <p:cBhvr>
                                        <p:cTn id="11" dur="500"/>
                                        <p:tgtEl>
                                          <p:spTgt spid="752644"/>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752648"/>
                                        </p:tgtEl>
                                        <p:attrNameLst>
                                          <p:attrName>style.visibility</p:attrName>
                                        </p:attrNameLst>
                                      </p:cBhvr>
                                      <p:to>
                                        <p:strVal val="visible"/>
                                      </p:to>
                                    </p:set>
                                    <p:animEffect transition="in" filter="wipe(left)">
                                      <p:cBhvr>
                                        <p:cTn id="15" dur="500"/>
                                        <p:tgtEl>
                                          <p:spTgt spid="752648"/>
                                        </p:tgtEl>
                                      </p:cBhvr>
                                    </p:animEffect>
                                  </p:childTnLst>
                                </p:cTn>
                              </p:par>
                            </p:childTnLst>
                          </p:cTn>
                        </p:par>
                        <p:par>
                          <p:cTn id="16" fill="hold">
                            <p:stCondLst>
                              <p:cond delay="1500"/>
                            </p:stCondLst>
                            <p:childTnLst>
                              <p:par>
                                <p:cTn id="17" presetID="1" presetClass="entr" presetSubtype="0" fill="hold" grpId="0" nodeType="afterEffect">
                                  <p:stCondLst>
                                    <p:cond delay="0"/>
                                  </p:stCondLst>
                                  <p:childTnLst>
                                    <p:set>
                                      <p:cBhvr>
                                        <p:cTn id="18" dur="1" fill="hold">
                                          <p:stCondLst>
                                            <p:cond delay="0"/>
                                          </p:stCondLst>
                                        </p:cTn>
                                        <p:tgtEl>
                                          <p:spTgt spid="752645"/>
                                        </p:tgtEl>
                                        <p:attrNameLst>
                                          <p:attrName>style.visibility</p:attrName>
                                        </p:attrNameLst>
                                      </p:cBhvr>
                                      <p:to>
                                        <p:strVal val="visible"/>
                                      </p:to>
                                    </p:se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752647"/>
                                        </p:tgtEl>
                                        <p:attrNameLst>
                                          <p:attrName>style.visibility</p:attrName>
                                        </p:attrNameLst>
                                      </p:cBhvr>
                                      <p:to>
                                        <p:strVal val="visible"/>
                                      </p:to>
                                    </p:set>
                                    <p:animEffect transition="in" filter="wipe(left)">
                                      <p:cBhvr>
                                        <p:cTn id="22" dur="500"/>
                                        <p:tgtEl>
                                          <p:spTgt spid="752647"/>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752646"/>
                                        </p:tgtEl>
                                        <p:attrNameLst>
                                          <p:attrName>style.visibility</p:attrName>
                                        </p:attrNameLst>
                                      </p:cBhvr>
                                      <p:to>
                                        <p:strVal val="visible"/>
                                      </p:to>
                                    </p:set>
                                    <p:animEffect transition="in" filter="wipe(left)">
                                      <p:cBhvr>
                                        <p:cTn id="26" dur="500"/>
                                        <p:tgtEl>
                                          <p:spTgt spid="7526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2643" grpId="0"/>
      <p:bldP spid="752644" grpId="0"/>
      <p:bldP spid="752645" grpId="0" animBg="1"/>
      <p:bldP spid="752646" grpId="0" animBg="1"/>
      <p:bldP spid="752647"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5.4.2   Exynos4412-UART</a:t>
            </a:r>
            <a:r>
              <a:rPr lang="zh-CN" altLang="zh-CN" dirty="0"/>
              <a:t>控制器 </a:t>
            </a:r>
            <a:endParaRPr kumimoji="1" lang="zh-CN" altLang="en-US" dirty="0"/>
          </a:p>
        </p:txBody>
      </p:sp>
      <p:sp>
        <p:nvSpPr>
          <p:cNvPr id="3" name="文本占位符 2"/>
          <p:cNvSpPr>
            <a:spLocks noGrp="1"/>
          </p:cNvSpPr>
          <p:nvPr>
            <p:ph type="body" sz="quarter" idx="10"/>
          </p:nvPr>
        </p:nvSpPr>
        <p:spPr/>
        <p:txBody>
          <a:bodyPr/>
          <a:lstStyle/>
          <a:p>
            <a:r>
              <a:rPr lang="en-US" altLang="zh-CN" dirty="0"/>
              <a:t>UART</a:t>
            </a:r>
            <a:r>
              <a:rPr lang="zh-CN" altLang="zh-CN" dirty="0"/>
              <a:t>控制器框架图</a:t>
            </a:r>
          </a:p>
          <a:p>
            <a:endParaRPr kumimoji="1" lang="zh-CN" altLang="en-US" dirty="0"/>
          </a:p>
        </p:txBody>
      </p:sp>
      <p:pic>
        <p:nvPicPr>
          <p:cNvPr id="4" name="图片 3"/>
          <p:cNvPicPr/>
          <p:nvPr/>
        </p:nvPicPr>
        <p:blipFill>
          <a:blip r:embed="rId2"/>
          <a:srcRect/>
          <a:stretch>
            <a:fillRect/>
          </a:stretch>
        </p:blipFill>
        <p:spPr>
          <a:xfrm>
            <a:off x="3215680" y="1892829"/>
            <a:ext cx="4608512" cy="4128459"/>
          </a:xfrm>
          <a:prstGeom prst="rect">
            <a:avLst/>
          </a:prstGeom>
          <a:noFill/>
          <a:ln w="9525">
            <a:noFill/>
            <a:miter lim="800000"/>
            <a:headEnd/>
            <a:tailEnd/>
          </a:ln>
        </p:spPr>
      </p:pic>
    </p:spTree>
    <p:extLst>
      <p:ext uri="{BB962C8B-B14F-4D97-AF65-F5344CB8AC3E}">
        <p14:creationId xmlns:p14="http://schemas.microsoft.com/office/powerpoint/2010/main" val="72648357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UART</a:t>
            </a:r>
            <a:r>
              <a:rPr lang="zh-CN" altLang="zh-CN" dirty="0"/>
              <a:t>寄存器</a:t>
            </a:r>
            <a:br>
              <a:rPr lang="zh-CN" altLang="zh-CN" dirty="0"/>
            </a:br>
            <a:endParaRPr kumimoji="1" lang="zh-CN" altLang="en-US" dirty="0"/>
          </a:p>
        </p:txBody>
      </p:sp>
      <p:sp>
        <p:nvSpPr>
          <p:cNvPr id="3" name="文本占位符 2"/>
          <p:cNvSpPr>
            <a:spLocks noGrp="1"/>
          </p:cNvSpPr>
          <p:nvPr>
            <p:ph type="body" sz="quarter" idx="10"/>
          </p:nvPr>
        </p:nvSpPr>
        <p:spPr/>
        <p:txBody>
          <a:bodyPr/>
          <a:lstStyle/>
          <a:p>
            <a:r>
              <a:rPr lang="en-US" altLang="zh-CN" dirty="0"/>
              <a:t>1.</a:t>
            </a:r>
            <a:r>
              <a:rPr lang="zh-CN" altLang="en-US" dirty="0"/>
              <a:t> </a:t>
            </a:r>
            <a:r>
              <a:rPr lang="en-US" altLang="zh-CN" dirty="0"/>
              <a:t>UART</a:t>
            </a:r>
            <a:r>
              <a:rPr lang="zh-CN" altLang="zh-CN" dirty="0"/>
              <a:t>行控制寄存器</a:t>
            </a:r>
            <a:r>
              <a:rPr lang="en-US" altLang="zh-CN" dirty="0" err="1"/>
              <a:t>ULCONn</a:t>
            </a:r>
            <a:endParaRPr lang="en-US" altLang="zh-CN" dirty="0"/>
          </a:p>
          <a:p>
            <a:r>
              <a:rPr lang="en-US" altLang="zh-CN" dirty="0"/>
              <a:t>2.</a:t>
            </a:r>
            <a:r>
              <a:rPr lang="zh-CN" altLang="en-US" dirty="0"/>
              <a:t> </a:t>
            </a:r>
            <a:r>
              <a:rPr lang="en-US" altLang="zh-CN" dirty="0"/>
              <a:t>UART</a:t>
            </a:r>
            <a:r>
              <a:rPr lang="zh-CN" altLang="zh-CN" dirty="0"/>
              <a:t>控制寄存器</a:t>
            </a:r>
            <a:r>
              <a:rPr lang="en-US" altLang="zh-CN" dirty="0" err="1"/>
              <a:t>UCONn</a:t>
            </a:r>
            <a:endParaRPr lang="en-US" altLang="zh-CN" dirty="0"/>
          </a:p>
          <a:p>
            <a:r>
              <a:rPr lang="en-US" altLang="zh-CN" dirty="0"/>
              <a:t>3.</a:t>
            </a:r>
            <a:r>
              <a:rPr lang="zh-CN" altLang="en-US" dirty="0"/>
              <a:t> </a:t>
            </a:r>
            <a:r>
              <a:rPr lang="en-US" altLang="zh-CN" dirty="0"/>
              <a:t>UART FIFO</a:t>
            </a:r>
            <a:r>
              <a:rPr lang="zh-CN" altLang="zh-CN" dirty="0"/>
              <a:t>控制寄存器</a:t>
            </a:r>
            <a:r>
              <a:rPr lang="en-US" altLang="zh-CN" dirty="0" err="1"/>
              <a:t>UFCONn</a:t>
            </a:r>
            <a:endParaRPr lang="en-US" altLang="zh-CN" dirty="0"/>
          </a:p>
          <a:p>
            <a:r>
              <a:rPr lang="en-US" altLang="zh-CN" dirty="0"/>
              <a:t>4.</a:t>
            </a:r>
            <a:r>
              <a:rPr lang="zh-CN" altLang="en-US" dirty="0"/>
              <a:t> </a:t>
            </a:r>
            <a:r>
              <a:rPr lang="en-US" altLang="zh-CN" dirty="0"/>
              <a:t>UART MODEM</a:t>
            </a:r>
            <a:r>
              <a:rPr lang="zh-CN" altLang="zh-CN" dirty="0"/>
              <a:t>控制寄存器</a:t>
            </a:r>
            <a:r>
              <a:rPr lang="en-US" altLang="zh-CN" dirty="0" err="1"/>
              <a:t>UMCONn</a:t>
            </a:r>
            <a:endParaRPr lang="en-US" altLang="zh-CN" dirty="0"/>
          </a:p>
          <a:p>
            <a:r>
              <a:rPr lang="en-US" altLang="zh-CN" dirty="0"/>
              <a:t>5.</a:t>
            </a:r>
            <a:r>
              <a:rPr lang="zh-CN" altLang="en-US" dirty="0"/>
              <a:t> </a:t>
            </a:r>
            <a:r>
              <a:rPr lang="zh-CN" altLang="zh-CN" dirty="0"/>
              <a:t>发送寄存器</a:t>
            </a:r>
            <a:r>
              <a:rPr lang="en-US" altLang="zh-CN" dirty="0"/>
              <a:t>UTXHn</a:t>
            </a:r>
            <a:r>
              <a:rPr lang="zh-CN" altLang="zh-CN" dirty="0"/>
              <a:t>和接收寄存器</a:t>
            </a:r>
            <a:r>
              <a:rPr lang="en-US" altLang="zh-CN" dirty="0" err="1"/>
              <a:t>URXHn</a:t>
            </a:r>
            <a:endParaRPr lang="en-US" altLang="zh-CN" dirty="0"/>
          </a:p>
          <a:p>
            <a:r>
              <a:rPr lang="en-US" altLang="zh-CN" dirty="0"/>
              <a:t>6.</a:t>
            </a:r>
            <a:r>
              <a:rPr lang="zh-CN" altLang="en-US" dirty="0"/>
              <a:t> </a:t>
            </a:r>
            <a:r>
              <a:rPr lang="zh-CN" altLang="zh-CN" dirty="0"/>
              <a:t>波特率设置寄存器</a:t>
            </a:r>
            <a:r>
              <a:rPr lang="en-US" altLang="zh-CN" dirty="0"/>
              <a:t>UBRDIVn</a:t>
            </a:r>
            <a:r>
              <a:rPr lang="zh-CN" altLang="zh-CN" dirty="0"/>
              <a:t>和</a:t>
            </a:r>
            <a:r>
              <a:rPr lang="en-US" altLang="zh-CN" dirty="0" err="1"/>
              <a:t>UFRACVALn</a:t>
            </a:r>
            <a:endParaRPr lang="en-US" altLang="zh-CN" dirty="0"/>
          </a:p>
          <a:p>
            <a:r>
              <a:rPr lang="en-US" altLang="zh-CN" dirty="0"/>
              <a:t>7.</a:t>
            </a:r>
            <a:r>
              <a:rPr lang="zh-CN" altLang="en-US" dirty="0"/>
              <a:t> </a:t>
            </a:r>
            <a:r>
              <a:rPr lang="zh-CN" altLang="zh-CN" dirty="0"/>
              <a:t>串口状态寄存器</a:t>
            </a:r>
            <a:r>
              <a:rPr lang="en-US" altLang="zh-CN" dirty="0"/>
              <a:t>UTRSTATn</a:t>
            </a:r>
            <a:endParaRPr lang="zh-CN" altLang="zh-CN" dirty="0"/>
          </a:p>
          <a:p>
            <a:endParaRPr lang="zh-CN" altLang="zh-CN" dirty="0"/>
          </a:p>
          <a:p>
            <a:endParaRPr lang="zh-CN" altLang="zh-CN" dirty="0"/>
          </a:p>
          <a:p>
            <a:endParaRPr lang="en-US" altLang="zh-CN" dirty="0"/>
          </a:p>
          <a:p>
            <a:endParaRPr lang="zh-CN" altLang="zh-CN" dirty="0"/>
          </a:p>
          <a:p>
            <a:endParaRPr lang="zh-CN" altLang="zh-CN" dirty="0"/>
          </a:p>
          <a:p>
            <a:endParaRPr lang="zh-CN" altLang="zh-CN" dirty="0"/>
          </a:p>
          <a:p>
            <a:endParaRPr lang="zh-CN" altLang="zh-CN" dirty="0"/>
          </a:p>
          <a:p>
            <a:endParaRPr kumimoji="1" lang="zh-CN" altLang="en-US" dirty="0"/>
          </a:p>
        </p:txBody>
      </p:sp>
    </p:spTree>
    <p:extLst>
      <p:ext uri="{BB962C8B-B14F-4D97-AF65-F5344CB8AC3E}">
        <p14:creationId xmlns:p14="http://schemas.microsoft.com/office/powerpoint/2010/main" val="156492863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UART</a:t>
            </a:r>
            <a:r>
              <a:rPr lang="zh-CN" altLang="zh-CN" dirty="0"/>
              <a:t>实例硬件连接 </a:t>
            </a:r>
            <a:endParaRPr kumimoji="1" lang="zh-CN" altLang="en-US" dirty="0"/>
          </a:p>
        </p:txBody>
      </p:sp>
      <p:sp>
        <p:nvSpPr>
          <p:cNvPr id="3" name="文本占位符 2"/>
          <p:cNvSpPr>
            <a:spLocks noGrp="1"/>
          </p:cNvSpPr>
          <p:nvPr>
            <p:ph type="body" sz="quarter" idx="10"/>
          </p:nvPr>
        </p:nvSpPr>
        <p:spPr/>
        <p:txBody>
          <a:bodyPr/>
          <a:lstStyle/>
          <a:p>
            <a:endParaRPr kumimoji="1" lang="zh-CN" altLang="en-US" dirty="0"/>
          </a:p>
        </p:txBody>
      </p:sp>
      <p:pic>
        <p:nvPicPr>
          <p:cNvPr id="4" name="图片 3"/>
          <p:cNvPicPr/>
          <p:nvPr/>
        </p:nvPicPr>
        <p:blipFill>
          <a:blip r:embed="rId2"/>
          <a:srcRect/>
          <a:stretch>
            <a:fillRect/>
          </a:stretch>
        </p:blipFill>
        <p:spPr>
          <a:xfrm>
            <a:off x="2351584" y="1892829"/>
            <a:ext cx="6624736" cy="3840427"/>
          </a:xfrm>
          <a:prstGeom prst="rect">
            <a:avLst/>
          </a:prstGeom>
          <a:noFill/>
          <a:ln w="9525">
            <a:noFill/>
            <a:miter lim="800000"/>
            <a:headEnd/>
            <a:tailEnd/>
          </a:ln>
        </p:spPr>
      </p:pic>
    </p:spTree>
    <p:extLst>
      <p:ext uri="{BB962C8B-B14F-4D97-AF65-F5344CB8AC3E}">
        <p14:creationId xmlns:p14="http://schemas.microsoft.com/office/powerpoint/2010/main" val="31155938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UATR</a:t>
            </a:r>
            <a:r>
              <a:rPr lang="zh-CN" altLang="zh-CN" dirty="0"/>
              <a:t>实例软件编写</a:t>
            </a:r>
            <a:br>
              <a:rPr lang="zh-CN" altLang="zh-CN" dirty="0"/>
            </a:br>
            <a:endParaRPr kumimoji="1" lang="zh-CN" altLang="en-US" dirty="0"/>
          </a:p>
        </p:txBody>
      </p:sp>
      <p:sp>
        <p:nvSpPr>
          <p:cNvPr id="3" name="文本占位符 2"/>
          <p:cNvSpPr>
            <a:spLocks noGrp="1"/>
          </p:cNvSpPr>
          <p:nvPr>
            <p:ph type="body" sz="quarter" idx="10"/>
          </p:nvPr>
        </p:nvSpPr>
        <p:spPr/>
        <p:txBody>
          <a:bodyPr/>
          <a:lstStyle/>
          <a:p>
            <a:r>
              <a:rPr lang="zh-CN" altLang="zh-CN"/>
              <a:t>完成</a:t>
            </a:r>
            <a:r>
              <a:rPr lang="zh-CN" altLang="zh-CN" dirty="0"/>
              <a:t>简单的</a:t>
            </a:r>
            <a:r>
              <a:rPr lang="en-GB" altLang="zh-CN" dirty="0"/>
              <a:t>UART</a:t>
            </a:r>
            <a:r>
              <a:rPr lang="zh-CN" altLang="zh-CN" dirty="0"/>
              <a:t>驱动，并实现打印字符串到终端。 </a:t>
            </a:r>
            <a:endParaRPr kumimoji="1" lang="zh-CN" altLang="en-US" dirty="0"/>
          </a:p>
        </p:txBody>
      </p:sp>
      <p:pic>
        <p:nvPicPr>
          <p:cNvPr id="4" name="图片 3"/>
          <p:cNvPicPr/>
          <p:nvPr/>
        </p:nvPicPr>
        <p:blipFill>
          <a:blip r:embed="rId2"/>
          <a:srcRect/>
          <a:stretch>
            <a:fillRect/>
          </a:stretch>
        </p:blipFill>
        <p:spPr>
          <a:xfrm>
            <a:off x="4165632" y="2084851"/>
            <a:ext cx="3928533" cy="3728720"/>
          </a:xfrm>
          <a:prstGeom prst="rect">
            <a:avLst/>
          </a:prstGeom>
          <a:noFill/>
          <a:ln w="9525">
            <a:noFill/>
            <a:miter lim="800000"/>
            <a:headEnd/>
            <a:tailEnd/>
          </a:ln>
        </p:spPr>
      </p:pic>
    </p:spTree>
    <p:extLst>
      <p:ext uri="{BB962C8B-B14F-4D97-AF65-F5344CB8AC3E}">
        <p14:creationId xmlns:p14="http://schemas.microsoft.com/office/powerpoint/2010/main" val="813469116"/>
      </p:ext>
    </p:extLst>
  </p:cSld>
  <p:clrMapOvr>
    <a:masterClrMapping/>
  </p:clrMapOvr>
</p:sld>
</file>

<file path=ppt/theme/theme1.xml><?xml version="1.0" encoding="utf-8"?>
<a:theme xmlns:a="http://schemas.openxmlformats.org/drawingml/2006/main" name="丝状">
  <a:themeElements>
    <a:clrScheme name="丝状">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丝状">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丝状">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1524</TotalTime>
  <Words>12838</Words>
  <Application>Microsoft Office PowerPoint</Application>
  <PresentationFormat>宽屏</PresentationFormat>
  <Paragraphs>2646</Paragraphs>
  <Slides>141</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141</vt:i4>
      </vt:variant>
    </vt:vector>
  </HeadingPairs>
  <TitlesOfParts>
    <vt:vector size="154" baseType="lpstr">
      <vt:lpstr>黑体</vt:lpstr>
      <vt:lpstr>华文新魏</vt:lpstr>
      <vt:lpstr>楷体_GB2312</vt:lpstr>
      <vt:lpstr>宋体</vt:lpstr>
      <vt:lpstr>Arial</vt:lpstr>
      <vt:lpstr>Arial Black</vt:lpstr>
      <vt:lpstr>Century Gothic</vt:lpstr>
      <vt:lpstr>Courier New</vt:lpstr>
      <vt:lpstr>Times New Roman</vt:lpstr>
      <vt:lpstr>Wingdings</vt:lpstr>
      <vt:lpstr>Wingdings 3</vt:lpstr>
      <vt:lpstr>丝状</vt:lpstr>
      <vt:lpstr>Visio</vt:lpstr>
      <vt:lpstr>第五章    ARM接口技术 </vt:lpstr>
      <vt:lpstr>PowerPoint 演示文稿</vt:lpstr>
      <vt:lpstr>LPC2000系列ARM硬件结构</vt:lpstr>
      <vt:lpstr>5.1.1 引脚描述</vt:lpstr>
      <vt:lpstr>5.2  引脚连接模块</vt:lpstr>
      <vt:lpstr>5.2.1  引脚连接模块</vt:lpstr>
      <vt:lpstr>5.2.2  引脚连接模块</vt:lpstr>
      <vt:lpstr>5.2.3  GPIO</vt:lpstr>
      <vt:lpstr>PowerPoint 演示文稿</vt:lpstr>
      <vt:lpstr>PowerPoint 演示文稿</vt:lpstr>
      <vt:lpstr>PowerPoint 演示文稿</vt:lpstr>
      <vt:lpstr>PowerPoint 演示文稿</vt:lpstr>
      <vt:lpstr>PowerPoint 演示文稿</vt:lpstr>
      <vt:lpstr>5.2.4  GPIO</vt:lpstr>
      <vt:lpstr>PowerPoint 演示文稿</vt:lpstr>
      <vt:lpstr>PowerPoint 演示文稿</vt:lpstr>
      <vt:lpstr>PowerPoint 演示文稿</vt:lpstr>
      <vt:lpstr>PowerPoint 演示文稿</vt:lpstr>
      <vt:lpstr>Exynos4412-GPIO控制器详解 </vt:lpstr>
      <vt:lpstr>Exynos4412-GPIO控制器详解 </vt:lpstr>
      <vt:lpstr>Exynos4412-GPIO控制器详解 </vt:lpstr>
      <vt:lpstr>Exynos4412-GPIO控制器详解 </vt:lpstr>
      <vt:lpstr> GPIO寄存器封装 </vt:lpstr>
      <vt:lpstr> GPIO寄存器封装 </vt:lpstr>
      <vt:lpstr>Exynos4412 I/O接口常用寄存器详解 </vt:lpstr>
      <vt:lpstr>GPIO数据寄存器 </vt:lpstr>
      <vt:lpstr>PowerPoint 演示文稿</vt:lpstr>
      <vt:lpstr> GPIO实例硬件连接 </vt:lpstr>
      <vt:lpstr>PowerPoint 演示文稿</vt:lpstr>
      <vt:lpstr>PowerPoint 演示文稿</vt:lpstr>
      <vt:lpstr>PowerPoint 演示文稿</vt:lpstr>
      <vt:lpstr>PowerPoint 演示文稿</vt:lpstr>
      <vt:lpstr>PowerPoint 演示文稿</vt:lpstr>
      <vt:lpstr>LPC2000系列ARM硬件结构</vt:lpstr>
      <vt:lpstr>5.3  向量中断控制器</vt:lpstr>
      <vt:lpstr>5.3.1  向量中断控制器</vt:lpstr>
      <vt:lpstr>5.3.1  向量中断控制器</vt:lpstr>
      <vt:lpstr>5.3.1  向量中断控制器</vt:lpstr>
      <vt:lpstr>5.3.2  向量中断控制器</vt:lpstr>
      <vt:lpstr>5.3.2向量中断控制器</vt:lpstr>
      <vt:lpstr>5.3.3  向量中断控制器</vt:lpstr>
      <vt:lpstr>PowerPoint 演示文稿</vt:lpstr>
      <vt:lpstr>PowerPoint 演示文稿</vt:lpstr>
      <vt:lpstr>5.3.3  向量中断控制器</vt:lpstr>
      <vt:lpstr>PowerPoint 演示文稿</vt:lpstr>
      <vt:lpstr>5.3.4  向量中断控制器</vt:lpstr>
      <vt:lpstr>5.3.4  向量中断控制器</vt:lpstr>
      <vt:lpstr>5.3.4  向量中断控制器</vt:lpstr>
      <vt:lpstr>PowerPoint 演示文稿</vt:lpstr>
      <vt:lpstr>5.3.4  向量中断控制器</vt:lpstr>
      <vt:lpstr>5.3.4  向量中断控制器</vt:lpstr>
      <vt:lpstr>5.3.4  向量中断控制器</vt:lpstr>
      <vt:lpstr>5.3.4  向量中断控制器</vt:lpstr>
      <vt:lpstr>5.3.4  向量中断控制器</vt:lpstr>
      <vt:lpstr>PowerPoint 演示文稿</vt:lpstr>
      <vt:lpstr>PowerPoint 演示文稿</vt:lpstr>
      <vt:lpstr>PowerPoint 演示文稿</vt:lpstr>
      <vt:lpstr>5.3.4  向量中断控制器</vt:lpstr>
      <vt:lpstr>PowerPoint 演示文稿</vt:lpstr>
      <vt:lpstr>PowerPoint 演示文稿</vt:lpstr>
      <vt:lpstr>5.3.5  外部中断输入</vt:lpstr>
      <vt:lpstr>5.3.5  外部中断输入</vt:lpstr>
      <vt:lpstr>5.3.5  外部中断输入</vt:lpstr>
      <vt:lpstr>PowerPoint 演示文稿</vt:lpstr>
      <vt:lpstr>PowerPoint 演示文稿</vt:lpstr>
      <vt:lpstr>PowerPoint 演示文稿</vt:lpstr>
      <vt:lpstr>PowerPoint 演示文稿</vt:lpstr>
      <vt:lpstr>5.3.6  外部中断输入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5.3.7 GIC中断系统</vt:lpstr>
      <vt:lpstr>NVIC</vt:lpstr>
      <vt:lpstr>VIC</vt:lpstr>
      <vt:lpstr>GIC</vt:lpstr>
      <vt:lpstr>GIC功能模块</vt:lpstr>
      <vt:lpstr>GIC功能模块</vt:lpstr>
      <vt:lpstr>GIC中断控制器中断类型 </vt:lpstr>
      <vt:lpstr>GIC中断控制器中断状态</vt:lpstr>
      <vt:lpstr>Exynos4412中断源</vt:lpstr>
      <vt:lpstr>Exynos4412-GIC寄存器 </vt:lpstr>
      <vt:lpstr>GIC中断实例硬件连接 </vt:lpstr>
      <vt:lpstr>GIC中断实例软件设计</vt:lpstr>
      <vt:lpstr>GIC中断实例软件设计</vt:lpstr>
      <vt:lpstr>GIC中断实例软件设计</vt:lpstr>
      <vt:lpstr>5.4.1  UART(0、1)</vt:lpstr>
      <vt:lpstr>PowerPoint 演示文稿</vt:lpstr>
      <vt:lpstr>PowerPoint 演示文稿</vt:lpstr>
      <vt:lpstr>PowerPoint 演示文稿</vt:lpstr>
      <vt:lpstr>PowerPoint 演示文稿</vt:lpstr>
      <vt:lpstr>PowerPoint 演示文稿</vt:lpstr>
      <vt:lpstr>PowerPoint 演示文稿</vt:lpstr>
      <vt:lpstr>5.4.1  UART(0、1)</vt:lpstr>
      <vt:lpstr>5.4.1  UART(0、1)</vt:lpstr>
      <vt:lpstr>PowerPoint 演示文稿</vt:lpstr>
      <vt:lpstr>PowerPoint 演示文稿</vt:lpstr>
      <vt:lpstr>PowerPoint 演示文稿</vt:lpstr>
      <vt:lpstr>5.4.1  UART(0、1) </vt:lpstr>
      <vt:lpstr>5.4.1  UART(0、1) </vt:lpstr>
      <vt:lpstr>5.4.1 UART(0、1) </vt:lpstr>
      <vt:lpstr>5.4.1  UART(0、1) </vt:lpstr>
      <vt:lpstr>5.4.1  UART(0、1) </vt:lpstr>
      <vt:lpstr>5.4.1  UART(0、1)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5.4.2   Exynos4412-UART控制器 </vt:lpstr>
      <vt:lpstr>UART寄存器 </vt:lpstr>
      <vt:lpstr>UART实例硬件连接 </vt:lpstr>
      <vt:lpstr>UATR实例软件编写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4.1  LPC2100/2200系列简介</dc:title>
  <dc:creator>shishoudong@nbu.edu.cn</dc:creator>
  <cp:lastModifiedBy>YR Wang</cp:lastModifiedBy>
  <cp:revision>63</cp:revision>
  <dcterms:created xsi:type="dcterms:W3CDTF">2020-02-16T06:37:34Z</dcterms:created>
  <dcterms:modified xsi:type="dcterms:W3CDTF">2024-04-15T09:41:54Z</dcterms:modified>
</cp:coreProperties>
</file>