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  <p:sldMasterId id="2147483889" r:id="rId2"/>
  </p:sldMasterIdLst>
  <p:notesMasterIdLst>
    <p:notesMasterId r:id="rId21"/>
  </p:notesMasterIdLst>
  <p:sldIdLst>
    <p:sldId id="278" r:id="rId3"/>
    <p:sldId id="259" r:id="rId4"/>
    <p:sldId id="264" r:id="rId5"/>
    <p:sldId id="263" r:id="rId6"/>
    <p:sldId id="260" r:id="rId7"/>
    <p:sldId id="262" r:id="rId8"/>
    <p:sldId id="261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5143500" type="screen16x9"/>
  <p:notesSz cx="7099300" cy="102346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1pPr>
    <a:lvl2pPr marL="4572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2pPr>
    <a:lvl3pPr marL="9144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3pPr>
    <a:lvl4pPr marL="13716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4pPr>
    <a:lvl5pPr marL="1828800" algn="l" defTabSz="449263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01" autoAdjust="0"/>
    <p:restoredTop sz="95402" autoAdjust="0"/>
  </p:normalViewPr>
  <p:slideViewPr>
    <p:cSldViewPr>
      <p:cViewPr varScale="1">
        <p:scale>
          <a:sx n="130" d="100"/>
          <a:sy n="130" d="100"/>
        </p:scale>
        <p:origin x="187" y="77"/>
      </p:cViewPr>
      <p:guideLst>
        <p:guide orient="horz" pos="162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910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8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7488" tIns="50694" rIns="97488" bIns="50694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7488" tIns="50694" rIns="97488" bIns="50694" numCol="1" anchor="b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84128" algn="l"/>
                <a:tab pos="1568257" algn="l"/>
                <a:tab pos="2352385" algn="l"/>
                <a:tab pos="3136514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551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1371600" y="3829050"/>
            <a:ext cx="640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  <a:buFont typeface="Wingdings 3" pitchFamily="18" charset="2"/>
              <a:buNone/>
              <a:defRPr/>
            </a:pPr>
            <a:endParaRPr lang="zh-CN" altLang="zh-CN" sz="28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154" name="标题占位符 21"/>
          <p:cNvSpPr>
            <a:spLocks noGrp="1"/>
          </p:cNvSpPr>
          <p:nvPr>
            <p:ph type="ctrTitle" hasCustomPrompt="1"/>
          </p:nvPr>
        </p:nvSpPr>
        <p:spPr>
          <a:xfrm>
            <a:off x="1043608" y="1851670"/>
            <a:ext cx="6264696" cy="800100"/>
          </a:xfrm>
        </p:spPr>
        <p:txBody>
          <a:bodyPr anchor="t"/>
          <a:lstStyle>
            <a:lvl1pPr algn="ctr">
              <a:defRPr kumimoji="0" lang="zh-CN" altLang="en-US" sz="4400" b="0"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 algn="ctr" defTabSz="514350" eaLnBrk="1" latinLnBrk="0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/>
              <a:t>编辑母版标题样式</a:t>
            </a:r>
          </a:p>
        </p:txBody>
      </p:sp>
      <p:sp>
        <p:nvSpPr>
          <p:cNvPr id="2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707904" y="3003798"/>
            <a:ext cx="2880200" cy="1008112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000" kern="12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pic>
        <p:nvPicPr>
          <p:cNvPr id="18" name="Picture 2" descr="C:\Users\Administrator\Desktop\华清远见logo 副本副本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83518"/>
            <a:ext cx="2160240" cy="57606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 userDrawn="1"/>
        </p:nvSpPr>
        <p:spPr>
          <a:xfrm>
            <a:off x="2714612" y="576426"/>
            <a:ext cx="25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高端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就业培训专家</a:t>
            </a: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目录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>
            <a:lvl1pPr marL="720000" indent="-285750">
              <a:buFont typeface="Wingdings" charset="2"/>
              <a:buChar char="l"/>
              <a:defRPr b="1" baseline="0">
                <a:solidFill>
                  <a:srgbClr val="C00000"/>
                </a:solidFill>
                <a:ea typeface="微软雅黑" charset="-122"/>
              </a:defRPr>
            </a:lvl1pPr>
            <a:lvl5pPr marL="1371600" indent="-228600">
              <a:buFont typeface="Wingdings" charset="2"/>
              <a:buChar char="l"/>
              <a:defRPr/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6645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/>
        </p:nvGrpSpPr>
        <p:grpSpPr>
          <a:xfrm>
            <a:off x="0" y="2510"/>
            <a:ext cx="9144000" cy="5140990"/>
            <a:chOff x="0" y="2510"/>
            <a:chExt cx="9144000" cy="5140990"/>
          </a:xfrm>
        </p:grpSpPr>
        <p:pic>
          <p:nvPicPr>
            <p:cNvPr id="8" name="图片 7" descr="pp内容页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0" y="2510"/>
              <a:ext cx="9144000" cy="514099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7637" y="267494"/>
              <a:ext cx="4988859" cy="4437413"/>
            </a:xfrm>
            <a:prstGeom prst="rect">
              <a:avLst/>
            </a:prstGeom>
          </p:spPr>
        </p:pic>
        <p:sp>
          <p:nvSpPr>
            <p:cNvPr id="4" name="文本框 9"/>
            <p:cNvSpPr txBox="1"/>
            <p:nvPr userDrawn="1"/>
          </p:nvSpPr>
          <p:spPr>
            <a:xfrm>
              <a:off x="3275856" y="4111434"/>
              <a:ext cx="3771900" cy="5485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扫描大树或关注（微信号：</a:t>
              </a:r>
              <a:r>
                <a: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farsight2013</a:t>
              </a: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buFont typeface="Arial" charset="0"/>
                <a:buNone/>
                <a:defRPr/>
              </a:pPr>
              <a:r>
                <a: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第一时间获取更多华清远见课程信息。</a:t>
              </a:r>
            </a:p>
          </p:txBody>
        </p:sp>
        <p:sp>
          <p:nvSpPr>
            <p:cNvPr id="5" name="文本框 2"/>
            <p:cNvSpPr txBox="1"/>
            <p:nvPr userDrawn="1"/>
          </p:nvSpPr>
          <p:spPr>
            <a:xfrm>
              <a:off x="755576" y="2211710"/>
              <a:ext cx="5553075" cy="4001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  <a:defRPr/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/>
            <p:cNvSpPr txBox="1"/>
            <p:nvPr userDrawn="1"/>
          </p:nvSpPr>
          <p:spPr>
            <a:xfrm>
              <a:off x="1043608" y="1923678"/>
              <a:ext cx="20002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谢 谢！</a:t>
              </a:r>
            </a:p>
          </p:txBody>
        </p:sp>
        <p:pic>
          <p:nvPicPr>
            <p:cNvPr id="11" name="Picture 2" descr="C:\Users\Administrator\Desktop\华清远见logo 副本副本.png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83568" y="483518"/>
              <a:ext cx="2160240" cy="576064"/>
            </a:xfrm>
            <a:prstGeom prst="rect">
              <a:avLst/>
            </a:prstGeom>
            <a:noFill/>
          </p:spPr>
        </p:pic>
        <p:pic>
          <p:nvPicPr>
            <p:cNvPr id="17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 l="6525" t="91431" r="76123"/>
            <a:stretch>
              <a:fillRect/>
            </a:stretch>
          </p:blipFill>
          <p:spPr bwMode="auto">
            <a:xfrm>
              <a:off x="4211961" y="4702175"/>
              <a:ext cx="1872484" cy="44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 l="6525" t="91431" r="76123"/>
            <a:stretch>
              <a:fillRect/>
            </a:stretch>
          </p:blipFill>
          <p:spPr bwMode="auto">
            <a:xfrm>
              <a:off x="4932040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 l="6525" t="91431" r="76123"/>
            <a:stretch>
              <a:fillRect/>
            </a:stretch>
          </p:blipFill>
          <p:spPr bwMode="auto">
            <a:xfrm>
              <a:off x="2123728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 l="6525" t="91431" r="76123"/>
            <a:stretch>
              <a:fillRect/>
            </a:stretch>
          </p:blipFill>
          <p:spPr bwMode="auto">
            <a:xfrm>
              <a:off x="2484187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Box 18"/>
            <p:cNvSpPr txBox="1"/>
            <p:nvPr userDrawn="1"/>
          </p:nvSpPr>
          <p:spPr bwMode="auto">
            <a:xfrm>
              <a:off x="2195736" y="4752305"/>
              <a:ext cx="26638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1400" b="1" kern="1200" spc="200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华清远见教育集团</a:t>
              </a:r>
            </a:p>
          </p:txBody>
        </p:sp>
        <p:sp>
          <p:nvSpPr>
            <p:cNvPr id="18" name="TextBox 17"/>
            <p:cNvSpPr txBox="1"/>
            <p:nvPr userDrawn="1"/>
          </p:nvSpPr>
          <p:spPr bwMode="auto">
            <a:xfrm>
              <a:off x="4572695" y="4752305"/>
              <a:ext cx="2663825" cy="3231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500" b="1" kern="1500" spc="100" dirty="0">
                  <a:solidFill>
                    <a:schemeClr val="bg1"/>
                  </a:solidFill>
                  <a:latin typeface="Arial" pitchFamily="34" charset="0"/>
                </a:rPr>
                <a:t>www.embedu.org</a:t>
              </a:r>
              <a:endParaRPr lang="zh-CN" altLang="en-US" sz="1500" b="1" kern="1500" spc="1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3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3093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272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2221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02963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69155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87954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97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8038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7307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8327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896982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6906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0805934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02412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865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88721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411510"/>
            <a:ext cx="5997352" cy="432048"/>
          </a:xfrm>
        </p:spPr>
        <p:txBody>
          <a:bodyPr/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8014048" cy="36724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8344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7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21"/>
          <p:cNvSpPr>
            <a:spLocks noGrp="1"/>
          </p:cNvSpPr>
          <p:nvPr>
            <p:ph type="title"/>
          </p:nvPr>
        </p:nvSpPr>
        <p:spPr bwMode="auto">
          <a:xfrm>
            <a:off x="590872" y="411510"/>
            <a:ext cx="5997352" cy="432048"/>
          </a:xfrm>
          <a:prstGeom prst="rect">
            <a:avLst/>
          </a:prstGeom>
        </p:spPr>
        <p:txBody>
          <a:bodyPr/>
          <a:lstStyle/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590872" y="914401"/>
            <a:ext cx="8013576" cy="368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12" name="组合 32"/>
          <p:cNvGrpSpPr/>
          <p:nvPr/>
        </p:nvGrpSpPr>
        <p:grpSpPr>
          <a:xfrm>
            <a:off x="2123728" y="4702175"/>
            <a:ext cx="5112792" cy="399132"/>
            <a:chOff x="2123728" y="4702175"/>
            <a:chExt cx="5112792" cy="399132"/>
          </a:xfrm>
        </p:grpSpPr>
        <p:pic>
          <p:nvPicPr>
            <p:cNvPr id="14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8" cstate="print"/>
            <a:srcRect l="6525" t="91431" r="76123"/>
            <a:stretch>
              <a:fillRect/>
            </a:stretch>
          </p:blipFill>
          <p:spPr bwMode="auto">
            <a:xfrm>
              <a:off x="4211961" y="4702175"/>
              <a:ext cx="1872484" cy="389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8" cstate="print"/>
            <a:srcRect l="6525" t="91431" r="76123"/>
            <a:stretch>
              <a:fillRect/>
            </a:stretch>
          </p:blipFill>
          <p:spPr bwMode="auto">
            <a:xfrm>
              <a:off x="4932040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8" cstate="print"/>
            <a:srcRect l="6525" t="91431" r="76123"/>
            <a:stretch>
              <a:fillRect/>
            </a:stretch>
          </p:blipFill>
          <p:spPr bwMode="auto">
            <a:xfrm>
              <a:off x="2123728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图片 10" descr="ppt内页模板图.jpg"/>
            <p:cNvPicPr>
              <a:picLocks noChangeAspect="1" noChangeArrowheads="1"/>
            </p:cNvPicPr>
            <p:nvPr userDrawn="1"/>
          </p:nvPicPr>
          <p:blipFill>
            <a:blip r:embed="rId8" cstate="print"/>
            <a:srcRect l="6525" t="91431" r="76123"/>
            <a:stretch>
              <a:fillRect/>
            </a:stretch>
          </p:blipFill>
          <p:spPr bwMode="auto">
            <a:xfrm>
              <a:off x="2484187" y="4731990"/>
              <a:ext cx="1799781" cy="369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30"/>
            <p:cNvSpPr txBox="1"/>
            <p:nvPr userDrawn="1"/>
          </p:nvSpPr>
          <p:spPr bwMode="auto">
            <a:xfrm>
              <a:off x="2195736" y="4752305"/>
              <a:ext cx="26638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zh-CN" altLang="en-US" sz="1400" b="1" kern="1200" spc="200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华清远见教育集团</a:t>
              </a:r>
            </a:p>
          </p:txBody>
        </p:sp>
        <p:sp>
          <p:nvSpPr>
            <p:cNvPr id="19" name="TextBox 31"/>
            <p:cNvSpPr txBox="1"/>
            <p:nvPr userDrawn="1"/>
          </p:nvSpPr>
          <p:spPr bwMode="auto">
            <a:xfrm>
              <a:off x="4572695" y="4752305"/>
              <a:ext cx="2663825" cy="3231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None/>
                <a:defRPr/>
              </a:pPr>
              <a:r>
                <a:rPr lang="en-US" altLang="zh-CN" sz="1500" b="1" kern="1500" spc="100" dirty="0">
                  <a:solidFill>
                    <a:schemeClr val="bg1"/>
                  </a:solidFill>
                  <a:latin typeface="Arial" pitchFamily="34" charset="0"/>
                </a:rPr>
                <a:t>www.embedu.org</a:t>
              </a:r>
              <a:endParaRPr lang="zh-CN" altLang="en-US" sz="1500" b="1" kern="1500" spc="1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pic>
        <p:nvPicPr>
          <p:cNvPr id="13" name="Picture 2" descr="C:\Users\Administrator\Desktop\华清远见logo 副本副本.png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660232" y="267494"/>
            <a:ext cx="2160240" cy="57606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88" r:id="rId3"/>
    <p:sldLayoutId id="2147483882" r:id="rId4"/>
    <p:sldLayoutId id="214748388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000" b="1" i="0" u="none" strike="noStrike" kern="1200" cap="none" spc="0" normalizeH="0" baseline="0" noProof="0" dirty="0" smtClean="0">
          <a:ln>
            <a:noFill/>
          </a:ln>
          <a:solidFill>
            <a:srgbClr val="C00000"/>
          </a:solidFill>
          <a:effectLst/>
          <a:uLnTx/>
          <a:uFillTx/>
          <a:latin typeface="华文细黑" pitchFamily="2" charset="-122"/>
          <a:ea typeface="微软雅黑"/>
          <a:cs typeface="+mj-cs"/>
          <a:sym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73050" indent="-273050" algn="l" rtl="0" eaLnBrk="1" fontAlgn="base" hangingPunct="1">
        <a:spcBef>
          <a:spcPts val="600"/>
        </a:spcBef>
        <a:spcAft>
          <a:spcPts val="600"/>
        </a:spcAft>
        <a:buClr>
          <a:schemeClr val="tx1"/>
        </a:buClr>
        <a:buSzPct val="76000"/>
        <a:buFont typeface="Wingdings" pitchFamily="2" charset="2"/>
        <a:buChar char=""/>
        <a:defRPr lang="zh-CN" altLang="en-US" sz="1800" kern="1200" dirty="0" smtClean="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547688" indent="-27305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1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1" fontAlgn="base" hangingPunct="1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12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1" fontAlgn="base" hangingPunct="1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11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9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1" fontAlgn="base" hangingPunct="1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Picture 2" descr="C:\Users\Administrator\Desktop\华清远见logo 副本副本.png">
            <a:extLst>
              <a:ext uri="{FF2B5EF4-FFF2-40B4-BE49-F238E27FC236}">
                <a16:creationId xmlns:a16="http://schemas.microsoft.com/office/drawing/2014/main" id="{037E9245-9013-4173-B455-D7EEEEC228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6660232" y="267494"/>
            <a:ext cx="2160240" cy="5760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459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7" r:id="rId17"/>
  </p:sldLayoutIdLst>
  <p:hf hd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5EF52-AD9F-4359-B20E-6B6D401DC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8971" y="699542"/>
            <a:ext cx="6686549" cy="169708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开发及环境搭建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6619B5-0F39-4C2D-BC6D-BBB6B506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8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仿真器简介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90400" y="915566"/>
            <a:ext cx="3477544" cy="3672408"/>
          </a:xfrm>
        </p:spPr>
        <p:txBody>
          <a:bodyPr/>
          <a:lstStyle/>
          <a:p>
            <a:r>
              <a:rPr lang="en-US" altLang="zh-CN" dirty="0"/>
              <a:t>FS-JTAG</a:t>
            </a:r>
            <a:r>
              <a:rPr lang="zh-CN" altLang="zh-CN" dirty="0"/>
              <a:t>仿真器介绍 </a:t>
            </a:r>
            <a:endParaRPr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 descr="说明: C:\Documents and Settings\Administrator\桌面\2012-04-28_094233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43609" y="1491631"/>
            <a:ext cx="2736304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占位符 2"/>
          <p:cNvSpPr txBox="1">
            <a:spLocks/>
          </p:cNvSpPr>
          <p:nvPr/>
        </p:nvSpPr>
        <p:spPr bwMode="auto">
          <a:xfrm>
            <a:off x="4521153" y="925130"/>
            <a:ext cx="347754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76000"/>
              <a:buFont typeface="Wingdings" pitchFamily="2" charset="2"/>
              <a:buChar char=""/>
              <a:defRPr lang="zh-CN" altLang="en-US" sz="1800" kern="12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547688" indent="-27305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1400">
                <a:solidFill>
                  <a:schemeClr val="tx1"/>
                </a:solidFill>
                <a:latin typeface="+mn-lt"/>
                <a:ea typeface="+mn-ea"/>
              </a:defRPr>
            </a:lvl2pPr>
            <a:lvl3pPr marL="822325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1096963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1100">
                <a:solidFill>
                  <a:schemeClr val="tx1"/>
                </a:solidFill>
                <a:latin typeface="+mn-lt"/>
                <a:ea typeface="+mn-ea"/>
              </a:defRPr>
            </a:lvl4pPr>
            <a:lvl5pPr marL="1371600" indent="-228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900">
                <a:solidFill>
                  <a:schemeClr val="tx1"/>
                </a:solidFill>
                <a:latin typeface="+mn-lt"/>
                <a:ea typeface="+mn-ea"/>
              </a:defRPr>
            </a:lvl5pPr>
            <a:lvl6pPr marL="1828800" indent="-228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286000" indent="-228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2743200" indent="-228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200400" indent="-228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400"/>
            <a:r>
              <a:rPr lang="en-US" altLang="zh-CN" dirty="0"/>
              <a:t> ULINK</a:t>
            </a:r>
            <a:r>
              <a:rPr lang="zh-CN" altLang="zh-CN" dirty="0"/>
              <a:t>介绍 </a:t>
            </a:r>
            <a:endParaRPr kumimoji="1" lang="en-US" dirty="0"/>
          </a:p>
        </p:txBody>
      </p:sp>
      <p:pic>
        <p:nvPicPr>
          <p:cNvPr id="6" name="图片 5"/>
          <p:cNvPicPr/>
          <p:nvPr/>
        </p:nvPicPr>
        <p:blipFill>
          <a:blip r:embed="rId3"/>
          <a:srcRect t="513"/>
          <a:stretch>
            <a:fillRect/>
          </a:stretch>
        </p:blipFill>
        <p:spPr>
          <a:xfrm>
            <a:off x="4818157" y="1491631"/>
            <a:ext cx="2778179" cy="1728192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8417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XP</a:t>
            </a:r>
            <a:r>
              <a:rPr lang="zh-CN" altLang="zh-CN" dirty="0"/>
              <a:t>环境安装</a:t>
            </a:r>
            <a:r>
              <a:rPr lang="en-US" altLang="zh-CN" dirty="0"/>
              <a:t>FS-JTAG</a:t>
            </a:r>
            <a:r>
              <a:rPr lang="zh-CN" altLang="zh-CN" dirty="0"/>
              <a:t>工具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zh-CN" dirty="0"/>
              <a:t>进入</a:t>
            </a:r>
            <a:r>
              <a:rPr lang="en-US" altLang="zh-CN" dirty="0"/>
              <a:t>Yagarto</a:t>
            </a:r>
            <a:r>
              <a:rPr lang="zh-CN" altLang="zh-CN" dirty="0"/>
              <a:t>工具包目录，安装以下软件：</a:t>
            </a:r>
          </a:p>
          <a:p>
            <a:pPr lvl="2"/>
            <a:r>
              <a:rPr lang="zh-CN" altLang="zh-CN" dirty="0"/>
              <a:t>安装</a:t>
            </a:r>
            <a:r>
              <a:rPr lang="en-US" altLang="zh-CN" dirty="0"/>
              <a:t>gcc</a:t>
            </a:r>
            <a:r>
              <a:rPr lang="zh-CN" altLang="zh-CN" dirty="0"/>
              <a:t>编译工具：</a:t>
            </a:r>
            <a:r>
              <a:rPr lang="en-US" altLang="zh-CN" dirty="0"/>
              <a:t>yagarto-bu-2.21_gcc-4.6.2-c-c++_nl-1.19.0_gdb-7.3.1_eabi_</a:t>
            </a:r>
            <a:br>
              <a:rPr lang="en-US" altLang="zh-CN" dirty="0"/>
            </a:br>
            <a:r>
              <a:rPr lang="en-US" altLang="zh-CN" dirty="0"/>
              <a:t>20111119.exe</a:t>
            </a:r>
            <a:r>
              <a:rPr lang="zh-CN" altLang="zh-CN" dirty="0"/>
              <a:t>。</a:t>
            </a:r>
          </a:p>
          <a:p>
            <a:pPr lvl="2"/>
            <a:r>
              <a:rPr lang="zh-CN" altLang="zh-CN" dirty="0"/>
              <a:t>安装</a:t>
            </a:r>
            <a:r>
              <a:rPr lang="en-US" altLang="zh-CN" dirty="0"/>
              <a:t>tools</a:t>
            </a:r>
            <a:r>
              <a:rPr lang="zh-CN" altLang="zh-CN" dirty="0"/>
              <a:t>工具：</a:t>
            </a:r>
            <a:r>
              <a:rPr lang="en-US" altLang="zh-CN" dirty="0"/>
              <a:t>yagarto-tools-20100703-setup.exe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dirty="0"/>
              <a:t>进入</a:t>
            </a:r>
            <a:r>
              <a:rPr lang="en-US" altLang="zh-CN" dirty="0"/>
              <a:t>FS-JTAG</a:t>
            </a:r>
            <a:r>
              <a:rPr lang="zh-CN" altLang="zh-CN" dirty="0"/>
              <a:t>安装包目录，安装以下软件（请关掉杀毒软件）：</a:t>
            </a:r>
          </a:p>
          <a:p>
            <a:pPr lvl="2"/>
            <a:r>
              <a:rPr lang="zh-CN" altLang="zh-CN" dirty="0"/>
              <a:t>安装</a:t>
            </a:r>
            <a:r>
              <a:rPr lang="en-US" altLang="zh-CN" dirty="0"/>
              <a:t>FS-JTAG</a:t>
            </a:r>
            <a:r>
              <a:rPr lang="zh-CN" altLang="zh-CN" dirty="0"/>
              <a:t>工具：</a:t>
            </a:r>
            <a:r>
              <a:rPr lang="en-US" altLang="zh-CN" dirty="0"/>
              <a:t>setup.exe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  <p:pic>
        <p:nvPicPr>
          <p:cNvPr id="4" name="图片 3" descr="说明: C:\Documents and Settings\Administrator\桌面\2012-04-28_09302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47664" y="2448911"/>
            <a:ext cx="3702561" cy="2216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991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XP</a:t>
            </a:r>
            <a:r>
              <a:rPr lang="zh-CN" altLang="zh-CN" dirty="0"/>
              <a:t>环境安装</a:t>
            </a:r>
            <a:r>
              <a:rPr lang="en-US" altLang="zh-CN" dirty="0"/>
              <a:t>FS-JTAG</a:t>
            </a:r>
            <a:r>
              <a:rPr lang="zh-CN" altLang="zh-CN" dirty="0"/>
              <a:t>工具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zh-CN" dirty="0"/>
              <a:t>进入</a:t>
            </a:r>
            <a:r>
              <a:rPr lang="en-US" altLang="zh-CN" dirty="0"/>
              <a:t>JRE</a:t>
            </a:r>
            <a:r>
              <a:rPr lang="zh-CN" altLang="zh-CN" dirty="0"/>
              <a:t>目录，安装以下软件（请关掉杀毒软件） </a:t>
            </a:r>
            <a:endParaRPr lang="en-US" altLang="zh-CN" dirty="0"/>
          </a:p>
          <a:p>
            <a:pPr lvl="1"/>
            <a:r>
              <a:rPr lang="zh-CN" altLang="zh-CN" dirty="0"/>
              <a:t>安装</a:t>
            </a:r>
            <a:r>
              <a:rPr lang="en-US" altLang="zh-CN" dirty="0"/>
              <a:t>jre-6u7-windows-i586-p-s.exe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dirty="0"/>
              <a:t>进入</a:t>
            </a:r>
            <a:r>
              <a:rPr lang="en-US" altLang="zh-CN" dirty="0"/>
              <a:t>Eclipse</a:t>
            </a:r>
            <a:r>
              <a:rPr lang="zh-CN" altLang="zh-CN" dirty="0"/>
              <a:t>目录，解压压缩包：</a:t>
            </a:r>
            <a:r>
              <a:rPr lang="en-US" altLang="zh-CN" dirty="0"/>
              <a:t>		</a:t>
            </a:r>
            <a:endParaRPr lang="zh-CN" altLang="zh-CN" dirty="0"/>
          </a:p>
          <a:p>
            <a:pPr lvl="1"/>
            <a:r>
              <a:rPr lang="zh-CN" altLang="zh-CN" dirty="0"/>
              <a:t>解压</a:t>
            </a:r>
            <a:r>
              <a:rPr lang="en-US" altLang="zh-CN" dirty="0"/>
              <a:t>Eclipse</a:t>
            </a:r>
            <a:r>
              <a:rPr lang="zh-CN" altLang="zh-CN" dirty="0"/>
              <a:t>压缩包（</a:t>
            </a:r>
            <a:r>
              <a:rPr lang="en-US" altLang="zh-CN" dirty="0"/>
              <a:t>05.eclipse-cpp-helios-SR1-win32.zip</a:t>
            </a:r>
            <a:r>
              <a:rPr lang="zh-CN" altLang="zh-CN" dirty="0"/>
              <a:t>）。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08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XP</a:t>
            </a:r>
            <a:r>
              <a:rPr lang="zh-CN" altLang="zh-CN" dirty="0"/>
              <a:t>环境安装</a:t>
            </a:r>
            <a:r>
              <a:rPr lang="en-US" altLang="zh-CN" dirty="0"/>
              <a:t>FS-JTAG</a:t>
            </a:r>
            <a:r>
              <a:rPr lang="zh-CN" altLang="zh-CN" dirty="0"/>
              <a:t>工具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安装</a:t>
            </a:r>
            <a:r>
              <a:rPr lang="en-US" altLang="zh-CN" dirty="0"/>
              <a:t>FS-JTAG</a:t>
            </a:r>
            <a:r>
              <a:rPr lang="zh-CN" altLang="zh-CN" dirty="0"/>
              <a:t>驱动：</a:t>
            </a:r>
            <a:endParaRPr lang="en-US" altLang="zh-CN" dirty="0"/>
          </a:p>
          <a:p>
            <a:pPr lvl="1"/>
            <a:r>
              <a:rPr lang="zh-CN" altLang="zh-CN" dirty="0"/>
              <a:t>把</a:t>
            </a:r>
            <a:r>
              <a:rPr lang="en-US" altLang="zh-CN" dirty="0"/>
              <a:t>FS-JTAG </a:t>
            </a:r>
            <a:r>
              <a:rPr lang="zh-CN" altLang="zh-CN" dirty="0"/>
              <a:t>接入计算机的</a:t>
            </a:r>
            <a:r>
              <a:rPr lang="en-US" altLang="zh-CN" dirty="0"/>
              <a:t>USB</a:t>
            </a:r>
            <a:r>
              <a:rPr lang="zh-CN" altLang="zh-CN" dirty="0"/>
              <a:t>接口，会提示发现新硬件 </a:t>
            </a:r>
            <a:r>
              <a:rPr lang="zh-CN" altLang="en-US" dirty="0"/>
              <a:t>，</a:t>
            </a:r>
            <a:r>
              <a:rPr lang="zh-CN" altLang="zh-CN" dirty="0"/>
              <a:t>择“从列表或指定位置安装（高级）”，然后单击“下一步”按钮。单击“下一步”按钮后会出现选择驱动安装目录（如图</a:t>
            </a:r>
            <a:r>
              <a:rPr lang="en-US" altLang="zh-CN" dirty="0"/>
              <a:t>5-6</a:t>
            </a:r>
            <a:r>
              <a:rPr lang="zh-CN" altLang="zh-CN" dirty="0"/>
              <a:t>所示），单击“浏览”按钮找到</a:t>
            </a:r>
            <a:r>
              <a:rPr lang="en-US" altLang="zh-CN" dirty="0"/>
              <a:t>DRIVER</a:t>
            </a:r>
            <a:r>
              <a:rPr lang="zh-CN" altLang="zh-CN" dirty="0"/>
              <a:t>所在的目录 </a:t>
            </a:r>
            <a:r>
              <a:rPr lang="zh-CN" altLang="en-US" dirty="0"/>
              <a:t>。</a:t>
            </a:r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483768" y="2283718"/>
            <a:ext cx="2016224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56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开发板硬件连接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5656" y="1419622"/>
            <a:ext cx="403244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9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USB</a:t>
            </a:r>
            <a:r>
              <a:rPr lang="zh-CN" altLang="zh-CN" dirty="0"/>
              <a:t>转串口驱动安装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如果用的是华清远见标配的</a:t>
            </a:r>
            <a:r>
              <a:rPr lang="en-US" altLang="zh-CN" dirty="0"/>
              <a:t>CH340</a:t>
            </a:r>
            <a:r>
              <a:rPr lang="zh-CN" altLang="zh-CN" dirty="0"/>
              <a:t>，运行“工具软件</a:t>
            </a:r>
            <a:r>
              <a:rPr lang="en-US" altLang="zh-CN" dirty="0"/>
              <a:t>\USB</a:t>
            </a:r>
            <a:r>
              <a:rPr lang="zh-CN" altLang="zh-CN" dirty="0"/>
              <a:t>串口驱动</a:t>
            </a:r>
            <a:r>
              <a:rPr lang="en-US" altLang="zh-CN" dirty="0"/>
              <a:t>\CH340\ CH341SER.EXE</a:t>
            </a:r>
            <a:r>
              <a:rPr lang="zh-CN" altLang="zh-CN" dirty="0"/>
              <a:t>”，如图。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760" y="1865310"/>
            <a:ext cx="2760980" cy="177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13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Putty</a:t>
            </a:r>
            <a:r>
              <a:rPr lang="zh-CN" altLang="zh-CN" dirty="0"/>
              <a:t>串口终端配置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zh-CN" dirty="0"/>
              <a:t>运行“工具软件</a:t>
            </a:r>
            <a:r>
              <a:rPr lang="en-US" altLang="zh-CN" dirty="0"/>
              <a:t>\PUTTY.EXE</a:t>
            </a:r>
            <a:r>
              <a:rPr lang="zh-CN" altLang="zh-CN" dirty="0"/>
              <a:t>”。在</a:t>
            </a:r>
            <a:r>
              <a:rPr lang="en-US" altLang="zh-CN" dirty="0"/>
              <a:t>Putty</a:t>
            </a:r>
            <a:r>
              <a:rPr lang="zh-CN" altLang="zh-CN" dirty="0"/>
              <a:t>设置界面上，选择“</a:t>
            </a:r>
            <a:r>
              <a:rPr lang="en-US" altLang="zh-CN" dirty="0"/>
              <a:t>Serial</a:t>
            </a:r>
            <a:r>
              <a:rPr lang="zh-CN" altLang="zh-CN" dirty="0"/>
              <a:t>” </a:t>
            </a:r>
            <a:endParaRPr lang="en-US" altLang="zh-CN" dirty="0"/>
          </a:p>
          <a:p>
            <a:pPr lvl="1"/>
            <a:r>
              <a:rPr lang="zh-CN" altLang="zh-CN" dirty="0"/>
              <a:t>在右边栏选择</a:t>
            </a:r>
            <a:r>
              <a:rPr lang="en-US" altLang="zh-CN" dirty="0"/>
              <a:t>Serial</a:t>
            </a:r>
            <a:r>
              <a:rPr lang="zh-CN" altLang="zh-CN" dirty="0"/>
              <a:t>，设置串口参数，设置串口号为</a:t>
            </a:r>
            <a:r>
              <a:rPr lang="en-US" altLang="zh-CN" dirty="0"/>
              <a:t>COM7</a:t>
            </a:r>
            <a:r>
              <a:rPr lang="zh-CN" altLang="zh-CN" dirty="0"/>
              <a:t>、波特率为</a:t>
            </a:r>
            <a:r>
              <a:rPr lang="en-US" altLang="zh-CN" dirty="0"/>
              <a:t>115200</a:t>
            </a:r>
            <a:r>
              <a:rPr lang="zh-CN" altLang="zh-CN" dirty="0"/>
              <a:t>、数据位</a:t>
            </a:r>
            <a:r>
              <a:rPr lang="en-US" altLang="zh-CN" dirty="0"/>
              <a:t>8</a:t>
            </a:r>
            <a:r>
              <a:rPr lang="zh-CN" altLang="zh-CN" dirty="0"/>
              <a:t>位、停止位</a:t>
            </a:r>
            <a:r>
              <a:rPr lang="en-US" altLang="zh-CN" dirty="0"/>
              <a:t>1</a:t>
            </a:r>
            <a:r>
              <a:rPr lang="zh-CN" altLang="zh-CN" dirty="0"/>
              <a:t>位、无校验、无硬件流控。 </a:t>
            </a:r>
            <a:r>
              <a:rPr lang="en-US" altLang="zh-CN" dirty="0"/>
              <a:t>COM7</a:t>
            </a:r>
            <a:r>
              <a:rPr lang="zh-CN" altLang="zh-CN" dirty="0"/>
              <a:t>是串口号，不同机器、不同接口都有差异</a:t>
            </a:r>
            <a:r>
              <a:rPr lang="zh-CN" altLang="en-US" dirty="0"/>
              <a:t>。</a:t>
            </a:r>
            <a:r>
              <a:rPr lang="zh-CN" altLang="zh-CN" dirty="0"/>
              <a:t> </a:t>
            </a:r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600" y="1779662"/>
            <a:ext cx="2784475" cy="268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7984" y="1932404"/>
            <a:ext cx="2754630" cy="2655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187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Eclipse for ARM </a:t>
            </a:r>
            <a:r>
              <a:rPr lang="zh-CN" altLang="zh-CN" dirty="0"/>
              <a:t>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zh-CN" dirty="0"/>
              <a:t>．指定一个工程存放目录</a:t>
            </a:r>
          </a:p>
          <a:p>
            <a:pPr lvl="1"/>
            <a:r>
              <a:rPr lang="en-US" altLang="zh-CN" dirty="0"/>
              <a:t>Eclipse for ARM </a:t>
            </a:r>
            <a:r>
              <a:rPr lang="zh-CN" altLang="zh-CN" dirty="0"/>
              <a:t>是一个标准的窗口应用程序，可以单击程序按钮开始运行。打开后必须先指定一个工程存放路径，如图。 </a:t>
            </a:r>
          </a:p>
          <a:p>
            <a:endParaRPr kumimoji="1" lang="zh-CN" altLang="en-US" dirty="0"/>
          </a:p>
        </p:txBody>
      </p:sp>
      <p:pic>
        <p:nvPicPr>
          <p:cNvPr id="4" name="图片 3" descr="说明: C:\Documents and Settings\Administrator\桌面\未命名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699792" y="2116135"/>
            <a:ext cx="3045460" cy="1271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211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Eclipse for ARM </a:t>
            </a:r>
            <a:r>
              <a:rPr lang="zh-CN" altLang="zh-CN"/>
              <a:t>使用</a:t>
            </a:r>
            <a:endParaRPr lang="zh-CN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 </a:t>
            </a:r>
            <a:r>
              <a:rPr lang="en-US" altLang="zh-CN" dirty="0"/>
              <a:t>2.</a:t>
            </a:r>
            <a:r>
              <a:rPr lang="zh-CN" altLang="en-US" dirty="0"/>
              <a:t>创建一个工程</a:t>
            </a:r>
            <a:endParaRPr lang="zh-CN" altLang="zh-CN" dirty="0"/>
          </a:p>
          <a:p>
            <a:pPr lvl="1"/>
            <a:r>
              <a:rPr lang="zh-CN" altLang="zh-CN" dirty="0"/>
              <a:t>进入主界面后，选择“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</a:t>
            </a:r>
            <a:r>
              <a:rPr lang="zh-CN" altLang="zh-CN" dirty="0"/>
              <a:t>→</a:t>
            </a:r>
            <a:r>
              <a:rPr lang="en-US" altLang="zh-CN" dirty="0"/>
              <a:t>C Project</a:t>
            </a:r>
            <a:r>
              <a:rPr lang="zh-CN" altLang="zh-CN" dirty="0"/>
              <a:t>”命令，</a:t>
            </a:r>
            <a:r>
              <a:rPr lang="en-US" altLang="zh-CN" dirty="0"/>
              <a:t>Eclipse</a:t>
            </a:r>
            <a:r>
              <a:rPr lang="zh-CN" altLang="zh-CN" dirty="0"/>
              <a:t>将打开一个标准对话框，输入希望新建工程的名字并单击“</a:t>
            </a:r>
            <a:r>
              <a:rPr lang="en-US" altLang="zh-CN" dirty="0"/>
              <a:t>Finish</a:t>
            </a:r>
            <a:r>
              <a:rPr lang="zh-CN" altLang="zh-CN" dirty="0"/>
              <a:t>”按钮即可创建一个新的工程，建议对每个新建工程使用独立的文件夹。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．新建一个</a:t>
            </a:r>
            <a:r>
              <a:rPr lang="en-US" altLang="zh-CN" dirty="0"/>
              <a:t>MakeFile</a:t>
            </a:r>
            <a:r>
              <a:rPr lang="zh-CN" altLang="zh-CN" dirty="0"/>
              <a:t>文件</a:t>
            </a:r>
          </a:p>
          <a:p>
            <a:pPr lvl="1"/>
            <a:r>
              <a:rPr lang="zh-CN" altLang="zh-CN" dirty="0"/>
              <a:t>在创建一个新的工程后，选择“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</a:t>
            </a:r>
            <a:r>
              <a:rPr lang="zh-CN" altLang="zh-CN" dirty="0"/>
              <a:t>→</a:t>
            </a:r>
            <a:r>
              <a:rPr lang="en-US" altLang="zh-CN" dirty="0"/>
              <a:t>Other</a:t>
            </a:r>
            <a:r>
              <a:rPr lang="zh-CN" altLang="zh-CN" dirty="0"/>
              <a:t>”命令，在弹出的对话框中的</a:t>
            </a:r>
            <a:r>
              <a:rPr lang="en-US" altLang="zh-CN" dirty="0"/>
              <a:t>General</a:t>
            </a:r>
            <a:r>
              <a:rPr lang="zh-CN" altLang="zh-CN" dirty="0"/>
              <a:t>下单击“</a:t>
            </a:r>
            <a:r>
              <a:rPr lang="en-US" altLang="zh-CN" dirty="0"/>
              <a:t>File</a:t>
            </a:r>
            <a:r>
              <a:rPr lang="zh-CN" altLang="zh-CN" dirty="0"/>
              <a:t>”按钮，然后单击“</a:t>
            </a:r>
            <a:r>
              <a:rPr lang="en-US" altLang="zh-CN" dirty="0"/>
              <a:t>Next</a:t>
            </a:r>
            <a:r>
              <a:rPr lang="zh-CN" altLang="zh-CN" dirty="0"/>
              <a:t>”按钮；然后选择所要指定的工程后，在文件名文本框中输入文件名</a:t>
            </a:r>
            <a:r>
              <a:rPr lang="en-US" altLang="zh-CN" dirty="0"/>
              <a:t>MakeFile</a:t>
            </a:r>
            <a:r>
              <a:rPr lang="zh-CN" altLang="zh-CN" dirty="0"/>
              <a:t>，单击“</a:t>
            </a:r>
            <a:r>
              <a:rPr lang="en-US" altLang="zh-CN" dirty="0"/>
              <a:t>Finish</a:t>
            </a:r>
            <a:r>
              <a:rPr lang="zh-CN" altLang="zh-CN" dirty="0"/>
              <a:t>”按钮。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zh-CN" dirty="0"/>
              <a:t>．新建一个脚本文件</a:t>
            </a:r>
          </a:p>
          <a:p>
            <a:pPr lvl="1"/>
            <a:r>
              <a:rPr lang="zh-CN" altLang="zh-CN" dirty="0"/>
              <a:t>选择“</a:t>
            </a:r>
            <a:r>
              <a:rPr lang="en-US" altLang="zh-CN" dirty="0"/>
              <a:t>File </a:t>
            </a:r>
            <a:r>
              <a:rPr lang="zh-CN" altLang="zh-CN" dirty="0"/>
              <a:t>→</a:t>
            </a:r>
            <a:r>
              <a:rPr lang="en-US" altLang="zh-CN" dirty="0"/>
              <a:t>New</a:t>
            </a:r>
            <a:r>
              <a:rPr lang="zh-CN" altLang="zh-CN" dirty="0"/>
              <a:t>→</a:t>
            </a:r>
            <a:r>
              <a:rPr lang="en-US" altLang="zh-CN" dirty="0"/>
              <a:t>Other</a:t>
            </a:r>
            <a:r>
              <a:rPr lang="zh-CN" altLang="zh-CN" dirty="0"/>
              <a:t>”命令，在弹出的对话框中的</a:t>
            </a:r>
            <a:r>
              <a:rPr lang="en-US" altLang="zh-CN" dirty="0"/>
              <a:t>General</a:t>
            </a:r>
            <a:r>
              <a:rPr lang="zh-CN" altLang="zh-CN" dirty="0"/>
              <a:t>下单击“</a:t>
            </a:r>
            <a:r>
              <a:rPr lang="en-US" altLang="zh-CN" dirty="0"/>
              <a:t>File</a:t>
            </a:r>
            <a:r>
              <a:rPr lang="zh-CN" altLang="zh-CN" dirty="0"/>
              <a:t>”，然后单击“</a:t>
            </a:r>
            <a:r>
              <a:rPr lang="en-US" altLang="zh-CN" dirty="0"/>
              <a:t>Next</a:t>
            </a:r>
            <a:r>
              <a:rPr lang="zh-CN" altLang="zh-CN" dirty="0"/>
              <a:t>”按钮；然后选择所要指定的工程后，在文件名文本框中输入文件名</a:t>
            </a:r>
            <a:r>
              <a:rPr lang="en-US" altLang="zh-CN" dirty="0"/>
              <a:t>s5pc210.init</a:t>
            </a:r>
            <a:r>
              <a:rPr lang="zh-CN" altLang="zh-CN" dirty="0"/>
              <a:t>，单击“</a:t>
            </a:r>
            <a:r>
              <a:rPr lang="en-US" altLang="zh-CN" dirty="0"/>
              <a:t>Finish</a:t>
            </a:r>
            <a:r>
              <a:rPr lang="zh-CN" altLang="zh-CN" dirty="0"/>
              <a:t>”按钮。</a:t>
            </a:r>
          </a:p>
          <a:p>
            <a:pPr lvl="1"/>
            <a:endParaRPr lang="zh-CN" altLang="zh-CN" dirty="0"/>
          </a:p>
          <a:p>
            <a:pPr lvl="1"/>
            <a:endParaRPr lang="en-US" altLang="zh-CN" dirty="0"/>
          </a:p>
          <a:p>
            <a:pPr lvl="1"/>
            <a:endParaRPr lang="zh-C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202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Eclipse for ARM </a:t>
            </a:r>
            <a:r>
              <a:rPr lang="zh-CN" altLang="zh-CN" dirty="0"/>
              <a:t>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zh-CN" dirty="0"/>
              <a:t>．新建一个连接脚本文件</a:t>
            </a:r>
          </a:p>
          <a:p>
            <a:pPr lvl="1"/>
            <a:r>
              <a:rPr lang="zh-CN" altLang="zh-CN" dirty="0"/>
              <a:t>选择“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</a:t>
            </a:r>
            <a:r>
              <a:rPr lang="zh-CN" altLang="zh-CN" dirty="0"/>
              <a:t>→</a:t>
            </a:r>
            <a:r>
              <a:rPr lang="en-US" altLang="zh-CN" dirty="0"/>
              <a:t>Other</a:t>
            </a:r>
            <a:r>
              <a:rPr lang="zh-CN" altLang="zh-CN" dirty="0"/>
              <a:t>”命令，在弹出的对话框中的</a:t>
            </a:r>
            <a:r>
              <a:rPr lang="en-US" altLang="zh-CN" dirty="0"/>
              <a:t>General</a:t>
            </a:r>
            <a:r>
              <a:rPr lang="zh-CN" altLang="zh-CN" dirty="0"/>
              <a:t>下单击“</a:t>
            </a:r>
            <a:r>
              <a:rPr lang="en-US" altLang="zh-CN" dirty="0"/>
              <a:t>File</a:t>
            </a:r>
            <a:r>
              <a:rPr lang="zh-CN" altLang="zh-CN" dirty="0"/>
              <a:t>”按钮，然后单击“</a:t>
            </a:r>
            <a:r>
              <a:rPr lang="en-US" altLang="zh-CN" dirty="0"/>
              <a:t>Next</a:t>
            </a:r>
            <a:r>
              <a:rPr lang="zh-CN" altLang="zh-CN" dirty="0"/>
              <a:t>”按钮；然后选择所要指定的工程后，在文件名文本框中输入文件名</a:t>
            </a:r>
            <a:r>
              <a:rPr lang="en-US" altLang="zh-CN" dirty="0"/>
              <a:t>map.lds</a:t>
            </a:r>
            <a:r>
              <a:rPr lang="zh-CN" altLang="zh-CN" dirty="0"/>
              <a:t>，单击“</a:t>
            </a:r>
            <a:r>
              <a:rPr lang="en-US" altLang="zh-CN" dirty="0"/>
              <a:t>Finish</a:t>
            </a:r>
            <a:r>
              <a:rPr lang="zh-CN" altLang="zh-CN" dirty="0"/>
              <a:t>”按钮。</a:t>
            </a:r>
            <a:endParaRPr lang="en-US" altLang="zh-CN" dirty="0"/>
          </a:p>
          <a:p>
            <a:pPr lvl="1"/>
            <a:endParaRPr lang="zh-CN" altLang="zh-CN" dirty="0"/>
          </a:p>
          <a:p>
            <a:r>
              <a:rPr lang="en-US" altLang="zh-CN" dirty="0"/>
              <a:t>6</a:t>
            </a:r>
            <a:r>
              <a:rPr lang="zh-CN" altLang="zh-CN" dirty="0"/>
              <a:t>．新建一个汇编源文件</a:t>
            </a:r>
          </a:p>
          <a:p>
            <a:pPr lvl="1"/>
            <a:r>
              <a:rPr lang="zh-CN" altLang="zh-CN" dirty="0"/>
              <a:t>选择“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</a:t>
            </a:r>
            <a:r>
              <a:rPr lang="zh-CN" altLang="zh-CN" dirty="0"/>
              <a:t>→</a:t>
            </a:r>
            <a:r>
              <a:rPr lang="en-US" altLang="zh-CN" dirty="0"/>
              <a:t>Other</a:t>
            </a:r>
            <a:r>
              <a:rPr lang="zh-CN" altLang="zh-CN" dirty="0"/>
              <a:t>”命令，在弹出的对话框中的</a:t>
            </a:r>
            <a:r>
              <a:rPr lang="en-US" altLang="zh-CN" dirty="0"/>
              <a:t>General</a:t>
            </a:r>
            <a:r>
              <a:rPr lang="zh-CN" altLang="zh-CN" dirty="0"/>
              <a:t>下单击“</a:t>
            </a:r>
            <a:r>
              <a:rPr lang="en-US" altLang="zh-CN" dirty="0"/>
              <a:t>File</a:t>
            </a:r>
            <a:r>
              <a:rPr lang="zh-CN" altLang="zh-CN" dirty="0"/>
              <a:t>”按钮，然后单击“</a:t>
            </a:r>
            <a:r>
              <a:rPr lang="en-US" altLang="zh-CN" dirty="0"/>
              <a:t>Next</a:t>
            </a:r>
            <a:r>
              <a:rPr lang="zh-CN" altLang="zh-CN" dirty="0"/>
              <a:t>”按钮；然后选择所要指定的工程后，在文件名文本框中输入文件名</a:t>
            </a:r>
            <a:r>
              <a:rPr lang="en-US" altLang="zh-CN" dirty="0"/>
              <a:t>start.s</a:t>
            </a:r>
            <a:r>
              <a:rPr lang="zh-CN" altLang="zh-CN" dirty="0"/>
              <a:t>，单击“</a:t>
            </a:r>
            <a:r>
              <a:rPr lang="en-US" altLang="zh-CN" dirty="0"/>
              <a:t>Finish</a:t>
            </a:r>
            <a:r>
              <a:rPr lang="zh-CN" altLang="zh-CN" dirty="0"/>
              <a:t>”按钮。</a:t>
            </a:r>
          </a:p>
        </p:txBody>
      </p:sp>
    </p:spTree>
    <p:extLst>
      <p:ext uri="{BB962C8B-B14F-4D97-AF65-F5344CB8AC3E}">
        <p14:creationId xmlns:p14="http://schemas.microsoft.com/office/powerpoint/2010/main" val="1873983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工程，我们以添加</a:t>
            </a:r>
            <a:r>
              <a:rPr lang="en-US" altLang="zh-CN" dirty="0"/>
              <a:t>LED_GPIO</a:t>
            </a:r>
            <a:r>
              <a:rPr lang="zh-CN" altLang="zh-CN" dirty="0"/>
              <a:t>工程为例，步骤如下：</a:t>
            </a:r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）拷贝</a:t>
            </a:r>
            <a:r>
              <a:rPr lang="en-US" altLang="zh-CN" dirty="0"/>
              <a:t>LED_GPIO</a:t>
            </a:r>
            <a:r>
              <a:rPr lang="zh-CN" altLang="zh-CN" dirty="0"/>
              <a:t>工程源代码“实验代码</a:t>
            </a:r>
            <a:r>
              <a:rPr lang="en-US" altLang="zh-CN" dirty="0"/>
              <a:t>\1.LED_GPIO</a:t>
            </a:r>
            <a:r>
              <a:rPr lang="zh-CN" altLang="zh-CN" dirty="0"/>
              <a:t>”到</a:t>
            </a:r>
            <a:r>
              <a:rPr lang="en-US" altLang="zh-CN" dirty="0"/>
              <a:t>Eclipse </a:t>
            </a:r>
            <a:r>
              <a:rPr lang="zh-CN" altLang="zh-CN" dirty="0"/>
              <a:t>工作目录下。如：</a:t>
            </a:r>
            <a:r>
              <a:rPr lang="en-US" altLang="zh-CN" dirty="0"/>
              <a:t>D:\eclipse_projects</a:t>
            </a:r>
            <a:r>
              <a:rPr lang="zh-CN" altLang="zh-CN" dirty="0"/>
              <a:t>目录（注意：工程要放在英文路径下）。</a:t>
            </a:r>
          </a:p>
          <a:p>
            <a:pPr lvl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）打开</a:t>
            </a:r>
            <a:r>
              <a:rPr lang="en-US" altLang="zh-CN" dirty="0"/>
              <a:t>Eclipse</a:t>
            </a:r>
            <a:r>
              <a:rPr lang="zh-CN" altLang="zh-CN" dirty="0"/>
              <a:t>开发工具，在</a:t>
            </a:r>
            <a:r>
              <a:rPr lang="en-US" altLang="zh-CN" dirty="0"/>
              <a:t>Project Explorer</a:t>
            </a:r>
            <a:r>
              <a:rPr lang="zh-CN" altLang="zh-CN" dirty="0"/>
              <a:t>中添加</a:t>
            </a:r>
            <a:r>
              <a:rPr lang="en-US" altLang="zh-CN" dirty="0"/>
              <a:t>LED_GPIO</a:t>
            </a:r>
            <a:r>
              <a:rPr lang="zh-CN" altLang="zh-CN" dirty="0"/>
              <a:t>工程，在</a:t>
            </a:r>
            <a:r>
              <a:rPr lang="en-US" altLang="zh-CN" dirty="0"/>
              <a:t>Project Explorer</a:t>
            </a:r>
            <a:r>
              <a:rPr lang="zh-CN" altLang="zh-CN" dirty="0"/>
              <a:t>窗口中右击鼠标，选择“</a:t>
            </a:r>
            <a:r>
              <a:rPr lang="en-US" altLang="zh-CN" dirty="0"/>
              <a:t>Import…</a:t>
            </a:r>
            <a:r>
              <a:rPr lang="zh-CN" altLang="zh-CN" dirty="0"/>
              <a:t>”，如图所示：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3768" y="2389604"/>
            <a:ext cx="3552190" cy="2198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67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选择“</a:t>
            </a:r>
            <a:r>
              <a:rPr lang="en-US" altLang="zh-CN" dirty="0"/>
              <a:t>Import…</a:t>
            </a:r>
            <a:r>
              <a:rPr lang="zh-CN" altLang="zh-CN" dirty="0"/>
              <a:t>”后，出现如下图</a:t>
            </a:r>
            <a:r>
              <a:rPr lang="en-US" altLang="zh-CN" dirty="0"/>
              <a:t>5-20</a:t>
            </a:r>
            <a:r>
              <a:rPr lang="zh-CN" altLang="zh-CN" dirty="0"/>
              <a:t>所示的窗口，选中“</a:t>
            </a:r>
            <a:r>
              <a:rPr lang="en-US" altLang="zh-CN" dirty="0"/>
              <a:t>Existing Projects into Workspace</a:t>
            </a:r>
            <a:r>
              <a:rPr lang="zh-CN" altLang="zh-CN" dirty="0"/>
              <a:t>”然后点击“</a:t>
            </a:r>
            <a:r>
              <a:rPr lang="en-US" altLang="zh-CN" dirty="0"/>
              <a:t>Next</a:t>
            </a:r>
            <a:r>
              <a:rPr lang="zh-CN" altLang="zh-CN" dirty="0"/>
              <a:t>”按钮，如图</a:t>
            </a:r>
            <a:r>
              <a:rPr lang="en-US" altLang="zh-CN" dirty="0"/>
              <a:t>5-20</a:t>
            </a:r>
            <a:r>
              <a:rPr lang="zh-CN" altLang="zh-CN" dirty="0"/>
              <a:t>所示。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1800" y="1563638"/>
            <a:ext cx="2654935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39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zh-CN" dirty="0"/>
              <a:t>选择“</a:t>
            </a:r>
            <a:r>
              <a:rPr lang="en-US" altLang="zh-CN" dirty="0"/>
              <a:t>Next</a:t>
            </a:r>
            <a:r>
              <a:rPr lang="zh-CN" altLang="zh-CN" dirty="0"/>
              <a:t>”后出现如图</a:t>
            </a:r>
            <a:r>
              <a:rPr lang="en-US" altLang="zh-CN" dirty="0"/>
              <a:t>5-21</a:t>
            </a:r>
            <a:r>
              <a:rPr lang="zh-CN" altLang="zh-CN" dirty="0"/>
              <a:t>所示的窗口，点击“</a:t>
            </a:r>
            <a:r>
              <a:rPr lang="en-US" altLang="zh-CN" dirty="0"/>
              <a:t>Browse…</a:t>
            </a:r>
            <a:r>
              <a:rPr lang="zh-CN" altLang="zh-CN" dirty="0"/>
              <a:t>”按钮，弹出出现“浏览文件夹”窗口，在“浏览文件夹”窗口中选中实验“</a:t>
            </a:r>
            <a:r>
              <a:rPr lang="en-US" altLang="zh-CN" dirty="0"/>
              <a:t>1.LED_GPIO</a:t>
            </a:r>
            <a:r>
              <a:rPr lang="zh-CN" altLang="zh-CN" dirty="0"/>
              <a:t>”后点击“确定”按钮，如图所示 </a:t>
            </a:r>
            <a:endParaRPr kumimoji="1"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3728" y="1563638"/>
            <a:ext cx="3805555" cy="2839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7509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zh-CN" dirty="0"/>
              <a:t>点击“确定”按钮后出现如下图</a:t>
            </a:r>
            <a:r>
              <a:rPr lang="en-US" altLang="zh-CN" dirty="0"/>
              <a:t>5-22</a:t>
            </a:r>
            <a:r>
              <a:rPr lang="zh-CN" altLang="zh-CN" dirty="0"/>
              <a:t>所示的窗口，直接点击“</a:t>
            </a:r>
            <a:r>
              <a:rPr lang="en-US" altLang="zh-CN" dirty="0"/>
              <a:t>Finish</a:t>
            </a:r>
            <a:r>
              <a:rPr lang="zh-CN" altLang="zh-CN" dirty="0"/>
              <a:t>”按钮即可，如图</a:t>
            </a:r>
            <a:endParaRPr kumimoji="1"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3808" y="1563638"/>
            <a:ext cx="2503805" cy="2642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8686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在开发环境中添加</a:t>
            </a:r>
            <a:r>
              <a:rPr lang="en-US" altLang="zh-CN" dirty="0"/>
              <a:t>FS4412</a:t>
            </a:r>
            <a:r>
              <a:rPr lang="zh-CN" altLang="zh-CN" dirty="0"/>
              <a:t>工程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zh-CN" altLang="zh-CN" dirty="0"/>
              <a:t>添加成功后可以在“</a:t>
            </a:r>
            <a:r>
              <a:rPr lang="en-US" altLang="zh-CN" dirty="0"/>
              <a:t>Project Explorer</a:t>
            </a:r>
            <a:r>
              <a:rPr lang="zh-CN" altLang="zh-CN" dirty="0"/>
              <a:t>”中看到“</a:t>
            </a:r>
            <a:r>
              <a:rPr lang="en-US" altLang="zh-CN" dirty="0"/>
              <a:t>1.LED_GPIO</a:t>
            </a:r>
            <a:r>
              <a:rPr lang="zh-CN" altLang="zh-CN" dirty="0"/>
              <a:t>”工程成功导入，如图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0070" y="1491630"/>
            <a:ext cx="1798955" cy="928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9525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编译工程</a:t>
            </a:r>
            <a:br>
              <a:rPr lang="zh-CN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zh-CN" dirty="0"/>
              <a:t>工程导入成功后，可以点击如下图</a:t>
            </a:r>
            <a:r>
              <a:rPr lang="en-US" altLang="zh-CN" dirty="0"/>
              <a:t>5-24</a:t>
            </a:r>
            <a:r>
              <a:rPr lang="zh-CN" altLang="zh-CN" dirty="0"/>
              <a:t>所示的编译图标（或者按快捷键“</a:t>
            </a:r>
            <a:r>
              <a:rPr lang="en-US" altLang="zh-CN" dirty="0"/>
              <a:t>Ctrl + B</a:t>
            </a:r>
            <a:r>
              <a:rPr lang="zh-CN" altLang="zh-CN" dirty="0"/>
              <a:t>”）。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zh-CN" dirty="0"/>
              <a:t>编译成功后，界面如图 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7784" y="1419622"/>
            <a:ext cx="1656184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6558" y="3003798"/>
            <a:ext cx="4274820" cy="1205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776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调试工程</a:t>
            </a:r>
            <a:br>
              <a:rPr lang="zh-CN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5F4097-969C-9886-51A8-7FC1E4C30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779662"/>
            <a:ext cx="3168352" cy="177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54833"/>
      </p:ext>
    </p:extLst>
  </p:cSld>
  <p:clrMapOvr>
    <a:masterClrMapping/>
  </p:clrMapOvr>
</p:sld>
</file>

<file path=ppt/theme/theme1.xml><?xml version="1.0" encoding="utf-8"?>
<a:theme xmlns:a="http://schemas.openxmlformats.org/drawingml/2006/main" name="华清远见PPT模板（宽屏）-嵌入式（我修改-2016年12月25日）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225</TotalTime>
  <Words>1011</Words>
  <Application>Microsoft Office PowerPoint</Application>
  <PresentationFormat>全屏显示(16:9)</PresentationFormat>
  <Paragraphs>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 PL UMing CN</vt:lpstr>
      <vt:lpstr>华文细黑</vt:lpstr>
      <vt:lpstr>宋体</vt:lpstr>
      <vt:lpstr>微软雅黑</vt:lpstr>
      <vt:lpstr>Arial</vt:lpstr>
      <vt:lpstr>Century Gothic</vt:lpstr>
      <vt:lpstr>Times New Roman</vt:lpstr>
      <vt:lpstr>Wingdings</vt:lpstr>
      <vt:lpstr>Wingdings 3</vt:lpstr>
      <vt:lpstr>华清远见PPT模板（宽屏）-嵌入式（我修改-2016年12月25日）</vt:lpstr>
      <vt:lpstr>丝状</vt:lpstr>
      <vt:lpstr>ARM开发及环境搭建</vt:lpstr>
      <vt:lpstr>仿真器简介 </vt:lpstr>
      <vt:lpstr>XP环境安装FS-JTAG工具 </vt:lpstr>
      <vt:lpstr>XP环境安装FS-JTAG工具 </vt:lpstr>
      <vt:lpstr>XP环境安装FS-JTAG工具 </vt:lpstr>
      <vt:lpstr>开发板硬件连接</vt:lpstr>
      <vt:lpstr>USB转串口驱动安装 </vt:lpstr>
      <vt:lpstr>Putty串口终端配置 </vt:lpstr>
      <vt:lpstr>Eclipse for ARM 使用</vt:lpstr>
      <vt:lpstr>Eclipse for ARM 使用</vt:lpstr>
      <vt:lpstr>Eclipse for ARM 使用</vt:lpstr>
      <vt:lpstr>在开发环境中添加FS4412工程 </vt:lpstr>
      <vt:lpstr>在开发环境中添加FS4412工程 </vt:lpstr>
      <vt:lpstr>在开发环境中添加FS4412工程 </vt:lpstr>
      <vt:lpstr>在开发环境中添加FS4412工程 </vt:lpstr>
      <vt:lpstr>在开发环境中添加FS4412工程 </vt:lpstr>
      <vt:lpstr>编译工程 </vt:lpstr>
      <vt:lpstr>调试工程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YR Wang</cp:lastModifiedBy>
  <cp:revision>127</cp:revision>
  <cp:lastPrinted>2011-09-16T06:19:42Z</cp:lastPrinted>
  <dcterms:created xsi:type="dcterms:W3CDTF">2016-04-14T04:36:35Z</dcterms:created>
  <dcterms:modified xsi:type="dcterms:W3CDTF">2025-02-23T10:32:04Z</dcterms:modified>
</cp:coreProperties>
</file>