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0"/>
  </p:notesMasterIdLst>
  <p:handoutMasterIdLst>
    <p:handoutMasterId r:id="rId71"/>
  </p:handoutMasterIdLst>
  <p:sldIdLst>
    <p:sldId id="256" r:id="rId2"/>
    <p:sldId id="415" r:id="rId3"/>
    <p:sldId id="416" r:id="rId4"/>
    <p:sldId id="417" r:id="rId5"/>
    <p:sldId id="418" r:id="rId6"/>
    <p:sldId id="419" r:id="rId7"/>
    <p:sldId id="421" r:id="rId8"/>
    <p:sldId id="420" r:id="rId9"/>
    <p:sldId id="422" r:id="rId10"/>
    <p:sldId id="424" r:id="rId11"/>
    <p:sldId id="423" r:id="rId12"/>
    <p:sldId id="425" r:id="rId13"/>
    <p:sldId id="426" r:id="rId14"/>
    <p:sldId id="427" r:id="rId15"/>
    <p:sldId id="428" r:id="rId16"/>
    <p:sldId id="429" r:id="rId17"/>
    <p:sldId id="430" r:id="rId18"/>
    <p:sldId id="431" r:id="rId19"/>
    <p:sldId id="432" r:id="rId20"/>
    <p:sldId id="433" r:id="rId21"/>
    <p:sldId id="434" r:id="rId22"/>
    <p:sldId id="435" r:id="rId23"/>
    <p:sldId id="436" r:id="rId24"/>
    <p:sldId id="437" r:id="rId25"/>
    <p:sldId id="438" r:id="rId26"/>
    <p:sldId id="439" r:id="rId27"/>
    <p:sldId id="440" r:id="rId28"/>
    <p:sldId id="441" r:id="rId29"/>
    <p:sldId id="442" r:id="rId30"/>
    <p:sldId id="443" r:id="rId31"/>
    <p:sldId id="445" r:id="rId32"/>
    <p:sldId id="444" r:id="rId33"/>
    <p:sldId id="446" r:id="rId34"/>
    <p:sldId id="480" r:id="rId35"/>
    <p:sldId id="481" r:id="rId36"/>
    <p:sldId id="447" r:id="rId37"/>
    <p:sldId id="448" r:id="rId38"/>
    <p:sldId id="469" r:id="rId39"/>
    <p:sldId id="471" r:id="rId40"/>
    <p:sldId id="472" r:id="rId41"/>
    <p:sldId id="470" r:id="rId42"/>
    <p:sldId id="473" r:id="rId43"/>
    <p:sldId id="474" r:id="rId44"/>
    <p:sldId id="449" r:id="rId45"/>
    <p:sldId id="450" r:id="rId46"/>
    <p:sldId id="451" r:id="rId47"/>
    <p:sldId id="452" r:id="rId48"/>
    <p:sldId id="454" r:id="rId49"/>
    <p:sldId id="453" r:id="rId50"/>
    <p:sldId id="455" r:id="rId51"/>
    <p:sldId id="456" r:id="rId52"/>
    <p:sldId id="457" r:id="rId53"/>
    <p:sldId id="458" r:id="rId54"/>
    <p:sldId id="459" r:id="rId55"/>
    <p:sldId id="460" r:id="rId56"/>
    <p:sldId id="461" r:id="rId57"/>
    <p:sldId id="462" r:id="rId58"/>
    <p:sldId id="463" r:id="rId59"/>
    <p:sldId id="464" r:id="rId60"/>
    <p:sldId id="465" r:id="rId61"/>
    <p:sldId id="466" r:id="rId62"/>
    <p:sldId id="467" r:id="rId63"/>
    <p:sldId id="468" r:id="rId64"/>
    <p:sldId id="475" r:id="rId65"/>
    <p:sldId id="476" r:id="rId66"/>
    <p:sldId id="477" r:id="rId67"/>
    <p:sldId id="478" r:id="rId68"/>
    <p:sldId id="479"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5B0"/>
    <a:srgbClr val="FF0505"/>
    <a:srgbClr val="EA0000"/>
    <a:srgbClr val="444444"/>
    <a:srgbClr val="0FCED3"/>
    <a:srgbClr val="D60093"/>
    <a:srgbClr val="CC3399"/>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78" autoAdjust="0"/>
    <p:restoredTop sz="83972" autoAdjust="0"/>
  </p:normalViewPr>
  <p:slideViewPr>
    <p:cSldViewPr>
      <p:cViewPr varScale="1">
        <p:scale>
          <a:sx n="134" d="100"/>
          <a:sy n="134" d="100"/>
        </p:scale>
        <p:origin x="3088" y="168"/>
      </p:cViewPr>
      <p:guideLst>
        <p:guide orient="horz" pos="2160"/>
        <p:guide pos="2880"/>
      </p:guideLst>
    </p:cSldViewPr>
  </p:slideViewPr>
  <p:notesTextViewPr>
    <p:cViewPr>
      <p:scale>
        <a:sx n="3" d="2"/>
        <a:sy n="3" d="2"/>
      </p:scale>
      <p:origin x="0" y="0"/>
    </p:cViewPr>
  </p:notesTextViewPr>
  <p:sorterViewPr>
    <p:cViewPr>
      <p:scale>
        <a:sx n="70" d="100"/>
        <a:sy n="70" d="100"/>
      </p:scale>
      <p:origin x="0" y="0"/>
    </p:cViewPr>
  </p:sorterViewPr>
  <p:notesViewPr>
    <p:cSldViewPr>
      <p:cViewPr varScale="1">
        <p:scale>
          <a:sx n="53" d="100"/>
          <a:sy n="53" d="100"/>
        </p:scale>
        <p:origin x="-294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2BABB2A-1528-4AAF-9A21-F4370666C7B2}" type="datetimeFigureOut">
              <a:rPr lang="en-JM" smtClean="0"/>
              <a:pPr/>
              <a:t>14/05/2025</a:t>
            </a:fld>
            <a:endParaRPr lang="en-JM"/>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38927C-AB49-450F-8967-4AD52E2DC3DA}" type="slidenum">
              <a:rPr lang="en-JM" smtClean="0"/>
              <a:pPr/>
              <a:t>‹#›</a:t>
            </a:fld>
            <a:endParaRPr lang="en-JM"/>
          </a:p>
        </p:txBody>
      </p:sp>
    </p:spTree>
    <p:extLst>
      <p:ext uri="{BB962C8B-B14F-4D97-AF65-F5344CB8AC3E}">
        <p14:creationId xmlns:p14="http://schemas.microsoft.com/office/powerpoint/2010/main" val="352751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190015-6979-4CAF-87BC-D33F74A1F261}" type="datetimeFigureOut">
              <a:rPr lang="en-JM" smtClean="0"/>
              <a:pPr/>
              <a:t>14/05/2025</a:t>
            </a:fld>
            <a:endParaRPr lang="en-JM"/>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9CA0D8-6577-48B2-BA77-88519BAFBFDA}" type="slidenum">
              <a:rPr lang="en-JM" smtClean="0"/>
              <a:pPr/>
              <a:t>‹#›</a:t>
            </a:fld>
            <a:endParaRPr lang="en-JM"/>
          </a:p>
        </p:txBody>
      </p:sp>
    </p:spTree>
    <p:extLst>
      <p:ext uri="{BB962C8B-B14F-4D97-AF65-F5344CB8AC3E}">
        <p14:creationId xmlns:p14="http://schemas.microsoft.com/office/powerpoint/2010/main" val="1591203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Linux</a:t>
            </a:r>
            <a:r>
              <a:rPr kumimoji="1" lang="zh-CN" altLang="en-US" dirty="0"/>
              <a:t>是一种开源电脑操作系统内核。它是一个用</a:t>
            </a:r>
            <a:r>
              <a:rPr kumimoji="1" lang="en" altLang="zh-CN" dirty="0"/>
              <a:t>C</a:t>
            </a:r>
            <a:r>
              <a:rPr kumimoji="1" lang="zh-CN" altLang="en-US" dirty="0"/>
              <a:t>语言写成，符合</a:t>
            </a:r>
            <a:r>
              <a:rPr kumimoji="1" lang="en" altLang="zh-CN" dirty="0"/>
              <a:t>POSIX</a:t>
            </a:r>
            <a:r>
              <a:rPr kumimoji="1" lang="zh-CN" altLang="en-US" dirty="0"/>
              <a:t>标准的类</a:t>
            </a:r>
            <a:r>
              <a:rPr kumimoji="1" lang="en" altLang="zh-CN" dirty="0"/>
              <a:t>Unix</a:t>
            </a:r>
            <a:r>
              <a:rPr kumimoji="1" lang="zh-CN" altLang="en-US" dirty="0"/>
              <a:t>操作系统。 </a:t>
            </a:r>
            <a:r>
              <a:rPr kumimoji="1" lang="en" altLang="zh-CN" dirty="0"/>
              <a:t>Linux</a:t>
            </a:r>
            <a:r>
              <a:rPr kumimoji="1" lang="zh-CN" altLang="en-US" dirty="0"/>
              <a:t>内核是一个用来和硬件打交道并为用户程序提供一个有限服务集的低级支撑软件。一个计算机系统是一个硬件和软件的共生体，它们互相依赖，不可分割。计算机的硬件，含有外围设备、处理器、内存、硬盘和其他的电子设备组成计算机的发动机。但是没有软件来操作和控制它，自身是不能工作的。完成这个控制工作的软件就称为操作系统，在</a:t>
            </a:r>
            <a:r>
              <a:rPr kumimoji="1" lang="en" altLang="zh-CN" dirty="0"/>
              <a:t>Linux</a:t>
            </a:r>
            <a:r>
              <a:rPr kumimoji="1" lang="zh-CN" altLang="en-US" dirty="0"/>
              <a:t>的术语中被称为“内核”，也可以称为“核心”。</a:t>
            </a:r>
            <a:r>
              <a:rPr kumimoji="1" lang="en" altLang="zh-CN" dirty="0"/>
              <a:t>Linux</a:t>
            </a:r>
            <a:r>
              <a:rPr kumimoji="1" lang="zh-CN" altLang="en-US" dirty="0"/>
              <a:t>内核的主要模块（或组件）分以下几个部分：进程管理子系统、内存管理子系统、文件子系统、网络子系统、设备子系统等。</a:t>
            </a:r>
          </a:p>
          <a:p>
            <a:endParaRPr kumimoji="1" lang="zh-CN" altLang="en-US" dirty="0"/>
          </a:p>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5</a:t>
            </a:fld>
            <a:endParaRPr lang="en-JM"/>
          </a:p>
        </p:txBody>
      </p:sp>
    </p:spTree>
    <p:extLst>
      <p:ext uri="{BB962C8B-B14F-4D97-AF65-F5344CB8AC3E}">
        <p14:creationId xmlns:p14="http://schemas.microsoft.com/office/powerpoint/2010/main" val="1474010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Linux</a:t>
            </a:r>
            <a:r>
              <a:rPr kumimoji="1" lang="zh-CN" altLang="en-US" dirty="0"/>
              <a:t>是一种开源电脑操作系统内核。它是一个用</a:t>
            </a:r>
            <a:r>
              <a:rPr kumimoji="1" lang="en" altLang="zh-CN" dirty="0"/>
              <a:t>C</a:t>
            </a:r>
            <a:r>
              <a:rPr kumimoji="1" lang="zh-CN" altLang="en-US" dirty="0"/>
              <a:t>语言写成，符合</a:t>
            </a:r>
            <a:r>
              <a:rPr kumimoji="1" lang="en" altLang="zh-CN" dirty="0"/>
              <a:t>POSIX</a:t>
            </a:r>
            <a:r>
              <a:rPr kumimoji="1" lang="zh-CN" altLang="en-US" dirty="0"/>
              <a:t>标准的类</a:t>
            </a:r>
            <a:r>
              <a:rPr kumimoji="1" lang="en" altLang="zh-CN" dirty="0"/>
              <a:t>Unix</a:t>
            </a:r>
            <a:r>
              <a:rPr kumimoji="1" lang="zh-CN" altLang="en-US" dirty="0"/>
              <a:t>操作系统。 </a:t>
            </a:r>
            <a:r>
              <a:rPr kumimoji="1" lang="en" altLang="zh-CN" dirty="0"/>
              <a:t>Linux</a:t>
            </a:r>
            <a:r>
              <a:rPr kumimoji="1" lang="zh-CN" altLang="en-US" dirty="0"/>
              <a:t>内核是一个用来和硬件打交道并为用户程序提供一个有限服务集的低级支撑软件。一个计算机系统是一个硬件和软件的共生体，它们互相依赖，不可分割。计算机的硬件，含有外围设备、处理器、内存、硬盘和其他的电子设备组成计算机的发动机。但是没有软件来操作和控制它，自身是不能工作的。完成这个控制工作的软件就称为操作系统，在</a:t>
            </a:r>
            <a:r>
              <a:rPr kumimoji="1" lang="en" altLang="zh-CN" dirty="0"/>
              <a:t>Linux</a:t>
            </a:r>
            <a:r>
              <a:rPr kumimoji="1" lang="zh-CN" altLang="en-US" dirty="0"/>
              <a:t>的术语中被称为“内核”，也可以称为“核心”。</a:t>
            </a:r>
            <a:r>
              <a:rPr kumimoji="1" lang="en" altLang="zh-CN" dirty="0"/>
              <a:t>Linux</a:t>
            </a:r>
            <a:r>
              <a:rPr kumimoji="1" lang="zh-CN" altLang="en-US" dirty="0"/>
              <a:t>内核的主要模块（或组件）分以下几个部分：进程管理子系统、内存管理子系统、文件子系统、网络子系统、设备子系统等。</a:t>
            </a:r>
          </a:p>
          <a:p>
            <a:endParaRPr kumimoji="1" lang="zh-CN" altLang="en-US" dirty="0"/>
          </a:p>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6</a:t>
            </a:fld>
            <a:endParaRPr lang="en-JM"/>
          </a:p>
        </p:txBody>
      </p:sp>
    </p:spTree>
    <p:extLst>
      <p:ext uri="{BB962C8B-B14F-4D97-AF65-F5344CB8AC3E}">
        <p14:creationId xmlns:p14="http://schemas.microsoft.com/office/powerpoint/2010/main" val="3999179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Linux</a:t>
            </a:r>
            <a:r>
              <a:rPr kumimoji="1" lang="zh-CN" altLang="en-US" dirty="0"/>
              <a:t>是一种开源电脑操作系统内核。它是一个用</a:t>
            </a:r>
            <a:r>
              <a:rPr kumimoji="1" lang="en" altLang="zh-CN" dirty="0"/>
              <a:t>C</a:t>
            </a:r>
            <a:r>
              <a:rPr kumimoji="1" lang="zh-CN" altLang="en-US" dirty="0"/>
              <a:t>语言写成，符合</a:t>
            </a:r>
            <a:r>
              <a:rPr kumimoji="1" lang="en" altLang="zh-CN" dirty="0"/>
              <a:t>POSIX</a:t>
            </a:r>
            <a:r>
              <a:rPr kumimoji="1" lang="zh-CN" altLang="en-US" dirty="0"/>
              <a:t>标准的类</a:t>
            </a:r>
            <a:r>
              <a:rPr kumimoji="1" lang="en" altLang="zh-CN" dirty="0"/>
              <a:t>Unix</a:t>
            </a:r>
            <a:r>
              <a:rPr kumimoji="1" lang="zh-CN" altLang="en-US" dirty="0"/>
              <a:t>操作系统。 </a:t>
            </a:r>
            <a:r>
              <a:rPr kumimoji="1" lang="en" altLang="zh-CN" dirty="0"/>
              <a:t>Linux</a:t>
            </a:r>
            <a:r>
              <a:rPr kumimoji="1" lang="zh-CN" altLang="en-US" dirty="0"/>
              <a:t>内核是一个用来和硬件打交道并为用户程序提供一个有限服务集的低级支撑软件。一个计算机系统是一个硬件和软件的共生体，它们互相依赖，不可分割。计算机的硬件，含有外围设备、处理器、内存、硬盘和其他的电子设备组成计算机的发动机。但是没有软件来操作和控制它，自身是不能工作的。完成这个控制工作的软件就称为操作系统，在</a:t>
            </a:r>
            <a:r>
              <a:rPr kumimoji="1" lang="en" altLang="zh-CN" dirty="0"/>
              <a:t>Linux</a:t>
            </a:r>
            <a:r>
              <a:rPr kumimoji="1" lang="zh-CN" altLang="en-US" dirty="0"/>
              <a:t>的术语中被称为“内核”，也可以称为“核心”。</a:t>
            </a:r>
            <a:r>
              <a:rPr kumimoji="1" lang="en" altLang="zh-CN" dirty="0"/>
              <a:t>Linux</a:t>
            </a:r>
            <a:r>
              <a:rPr kumimoji="1" lang="zh-CN" altLang="en-US" dirty="0"/>
              <a:t>内核的主要模块（或组件）分以下几个部分：进程管理子系统、内存管理子系统、文件子系统、网络子系统、设备子系统等。</a:t>
            </a:r>
          </a:p>
          <a:p>
            <a:endParaRPr kumimoji="1" lang="zh-CN" altLang="en-US" dirty="0"/>
          </a:p>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7</a:t>
            </a:fld>
            <a:endParaRPr lang="en-JM"/>
          </a:p>
        </p:txBody>
      </p:sp>
    </p:spTree>
    <p:extLst>
      <p:ext uri="{BB962C8B-B14F-4D97-AF65-F5344CB8AC3E}">
        <p14:creationId xmlns:p14="http://schemas.microsoft.com/office/powerpoint/2010/main" val="4267812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Linux</a:t>
            </a:r>
            <a:r>
              <a:rPr kumimoji="1" lang="zh-CN" altLang="en-US" dirty="0"/>
              <a:t>是一种开源电脑操作系统内核。它是一个用</a:t>
            </a:r>
            <a:r>
              <a:rPr kumimoji="1" lang="en" altLang="zh-CN" dirty="0"/>
              <a:t>C</a:t>
            </a:r>
            <a:r>
              <a:rPr kumimoji="1" lang="zh-CN" altLang="en-US" dirty="0"/>
              <a:t>语言写成，符合</a:t>
            </a:r>
            <a:r>
              <a:rPr kumimoji="1" lang="en" altLang="zh-CN" dirty="0"/>
              <a:t>POSIX</a:t>
            </a:r>
            <a:r>
              <a:rPr kumimoji="1" lang="zh-CN" altLang="en-US" dirty="0"/>
              <a:t>标准的类</a:t>
            </a:r>
            <a:r>
              <a:rPr kumimoji="1" lang="en" altLang="zh-CN" dirty="0"/>
              <a:t>Unix</a:t>
            </a:r>
            <a:r>
              <a:rPr kumimoji="1" lang="zh-CN" altLang="en-US" dirty="0"/>
              <a:t>操作系统。 </a:t>
            </a:r>
            <a:r>
              <a:rPr kumimoji="1" lang="en" altLang="zh-CN" dirty="0"/>
              <a:t>Linux</a:t>
            </a:r>
            <a:r>
              <a:rPr kumimoji="1" lang="zh-CN" altLang="en-US" dirty="0"/>
              <a:t>内核是一个用来和硬件打交道并为用户程序提供一个有限服务集的低级支撑软件。一个计算机系统是一个硬件和软件的共生体，它们互相依赖，不可分割。计算机的硬件，含有外围设备、处理器、内存、硬盘和其他的电子设备组成计算机的发动机。但是没有软件来操作和控制它，自身是不能工作的。完成这个控制工作的软件就称为操作系统，在</a:t>
            </a:r>
            <a:r>
              <a:rPr kumimoji="1" lang="en" altLang="zh-CN" dirty="0"/>
              <a:t>Linux</a:t>
            </a:r>
            <a:r>
              <a:rPr kumimoji="1" lang="zh-CN" altLang="en-US" dirty="0"/>
              <a:t>的术语中被称为“内核”，也可以称为“核心”。</a:t>
            </a:r>
            <a:r>
              <a:rPr kumimoji="1" lang="en" altLang="zh-CN" dirty="0"/>
              <a:t>Linux</a:t>
            </a:r>
            <a:r>
              <a:rPr kumimoji="1" lang="zh-CN" altLang="en-US" dirty="0"/>
              <a:t>内核的主要模块（或组件）分以下几个部分：进程管理子系统、内存管理子系统、文件子系统、网络子系统、设备子系统等。</a:t>
            </a:r>
          </a:p>
          <a:p>
            <a:endParaRPr kumimoji="1" lang="zh-CN" altLang="en-US" dirty="0"/>
          </a:p>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8</a:t>
            </a:fld>
            <a:endParaRPr lang="en-JM"/>
          </a:p>
        </p:txBody>
      </p:sp>
    </p:spTree>
    <p:extLst>
      <p:ext uri="{BB962C8B-B14F-4D97-AF65-F5344CB8AC3E}">
        <p14:creationId xmlns:p14="http://schemas.microsoft.com/office/powerpoint/2010/main" val="1756682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Linux</a:t>
            </a:r>
            <a:r>
              <a:rPr kumimoji="1" lang="zh-CN" altLang="en-US" dirty="0"/>
              <a:t>是一种开源电脑操作系统内核。它是一个用</a:t>
            </a:r>
            <a:r>
              <a:rPr kumimoji="1" lang="en" altLang="zh-CN" dirty="0"/>
              <a:t>C</a:t>
            </a:r>
            <a:r>
              <a:rPr kumimoji="1" lang="zh-CN" altLang="en-US" dirty="0"/>
              <a:t>语言写成，符合</a:t>
            </a:r>
            <a:r>
              <a:rPr kumimoji="1" lang="en" altLang="zh-CN" dirty="0"/>
              <a:t>POSIX</a:t>
            </a:r>
            <a:r>
              <a:rPr kumimoji="1" lang="zh-CN" altLang="en-US" dirty="0"/>
              <a:t>标准的类</a:t>
            </a:r>
            <a:r>
              <a:rPr kumimoji="1" lang="en" altLang="zh-CN" dirty="0"/>
              <a:t>Unix</a:t>
            </a:r>
            <a:r>
              <a:rPr kumimoji="1" lang="zh-CN" altLang="en-US" dirty="0"/>
              <a:t>操作系统。 </a:t>
            </a:r>
            <a:r>
              <a:rPr kumimoji="1" lang="en" altLang="zh-CN" dirty="0"/>
              <a:t>Linux</a:t>
            </a:r>
            <a:r>
              <a:rPr kumimoji="1" lang="zh-CN" altLang="en-US" dirty="0"/>
              <a:t>内核是一个用来和硬件打交道并为用户程序提供一个有限服务集的低级支撑软件。一个计算机系统是一个硬件和软件的共生体，它们互相依赖，不可分割。计算机的硬件，含有外围设备、处理器、内存、硬盘和其他的电子设备组成计算机的发动机。但是没有软件来操作和控制它，自身是不能工作的。完成这个控制工作的软件就称为操作系统，在</a:t>
            </a:r>
            <a:r>
              <a:rPr kumimoji="1" lang="en" altLang="zh-CN" dirty="0"/>
              <a:t>Linux</a:t>
            </a:r>
            <a:r>
              <a:rPr kumimoji="1" lang="zh-CN" altLang="en-US" dirty="0"/>
              <a:t>的术语中被称为“内核”，也可以称为“核心”。</a:t>
            </a:r>
            <a:r>
              <a:rPr kumimoji="1" lang="en" altLang="zh-CN" dirty="0"/>
              <a:t>Linux</a:t>
            </a:r>
            <a:r>
              <a:rPr kumimoji="1" lang="zh-CN" altLang="en-US" dirty="0"/>
              <a:t>内核的主要模块（或组件）分以下几个部分：进程管理子系统、内存管理子系统、文件子系统、网络子系统、设备子系统等。</a:t>
            </a:r>
          </a:p>
          <a:p>
            <a:endParaRPr kumimoji="1" lang="zh-CN" altLang="en-US" dirty="0"/>
          </a:p>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9</a:t>
            </a:fld>
            <a:endParaRPr lang="en-JM"/>
          </a:p>
        </p:txBody>
      </p:sp>
    </p:spTree>
    <p:extLst>
      <p:ext uri="{BB962C8B-B14F-4D97-AF65-F5344CB8AC3E}">
        <p14:creationId xmlns:p14="http://schemas.microsoft.com/office/powerpoint/2010/main" val="2401544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10</a:t>
            </a:fld>
            <a:endParaRPr lang="en-JM"/>
          </a:p>
        </p:txBody>
      </p:sp>
    </p:spTree>
    <p:extLst>
      <p:ext uri="{BB962C8B-B14F-4D97-AF65-F5344CB8AC3E}">
        <p14:creationId xmlns:p14="http://schemas.microsoft.com/office/powerpoint/2010/main" val="3627203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11</a:t>
            </a:fld>
            <a:endParaRPr lang="en-JM"/>
          </a:p>
        </p:txBody>
      </p:sp>
    </p:spTree>
    <p:extLst>
      <p:ext uri="{BB962C8B-B14F-4D97-AF65-F5344CB8AC3E}">
        <p14:creationId xmlns:p14="http://schemas.microsoft.com/office/powerpoint/2010/main" val="135838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12</a:t>
            </a:fld>
            <a:endParaRPr lang="en-JM"/>
          </a:p>
        </p:txBody>
      </p:sp>
    </p:spTree>
    <p:extLst>
      <p:ext uri="{BB962C8B-B14F-4D97-AF65-F5344CB8AC3E}">
        <p14:creationId xmlns:p14="http://schemas.microsoft.com/office/powerpoint/2010/main" val="1276501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lumMod val="50000"/>
                  </a:schemeClr>
                </a:solidFill>
                <a:latin typeface="-apple-system"/>
              </a:rPr>
              <a:t>一般环境变量是存放在外部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中的，</a:t>
            </a:r>
            <a:r>
              <a:rPr lang="en-US" altLang="zh-CN" sz="1200" dirty="0" err="1">
                <a:solidFill>
                  <a:schemeClr val="bg1">
                    <a:lumMod val="50000"/>
                  </a:schemeClr>
                </a:solidFill>
                <a:latin typeface="-apple-system"/>
              </a:rPr>
              <a:t>uboot</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启动的时候会将环境变量从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读取到 </a:t>
            </a:r>
            <a:r>
              <a:rPr lang="en-US" altLang="zh-CN" sz="1200" dirty="0">
                <a:solidFill>
                  <a:schemeClr val="bg1">
                    <a:lumMod val="50000"/>
                  </a:schemeClr>
                </a:solidFill>
                <a:latin typeface="-apple-system"/>
              </a:rPr>
              <a:t>DRAM </a:t>
            </a:r>
            <a:r>
              <a:rPr lang="zh-CN" altLang="en-US" sz="1200" dirty="0">
                <a:solidFill>
                  <a:schemeClr val="bg1">
                    <a:lumMod val="50000"/>
                  </a:schemeClr>
                </a:solidFill>
                <a:latin typeface="-apple-system"/>
              </a:rPr>
              <a:t>中。所以使用命令 </a:t>
            </a:r>
            <a:r>
              <a:rPr lang="en-US" altLang="zh-CN" sz="1200" dirty="0" err="1">
                <a:solidFill>
                  <a:schemeClr val="bg1">
                    <a:lumMod val="50000"/>
                  </a:schemeClr>
                </a:solidFill>
                <a:latin typeface="-apple-system"/>
              </a:rPr>
              <a:t>setenv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修改的是 </a:t>
            </a:r>
            <a:r>
              <a:rPr lang="en-US" altLang="zh-CN" sz="1200" dirty="0">
                <a:solidFill>
                  <a:schemeClr val="bg1">
                    <a:lumMod val="50000"/>
                  </a:schemeClr>
                </a:solidFill>
                <a:latin typeface="-apple-system"/>
              </a:rPr>
              <a:t>DRAM</a:t>
            </a:r>
            <a:r>
              <a:rPr lang="zh-CN" altLang="en-US" sz="1200" dirty="0">
                <a:solidFill>
                  <a:schemeClr val="bg1">
                    <a:lumMod val="50000"/>
                  </a:schemeClr>
                </a:solidFill>
                <a:latin typeface="-apple-system"/>
              </a:rPr>
              <a:t>中的环境变量值，修改以后要使用 </a:t>
            </a:r>
            <a:r>
              <a:rPr lang="en-US" altLang="zh-CN" sz="1200" dirty="0" err="1">
                <a:solidFill>
                  <a:schemeClr val="bg1">
                    <a:lumMod val="50000"/>
                  </a:schemeClr>
                </a:solidFill>
                <a:latin typeface="-apple-system"/>
              </a:rPr>
              <a:t>saveenv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命令将修改后的环境变量保存到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中，否则的话</a:t>
            </a:r>
            <a:r>
              <a:rPr lang="en-US" altLang="zh-CN" sz="1200" dirty="0" err="1">
                <a:solidFill>
                  <a:schemeClr val="bg1">
                    <a:lumMod val="50000"/>
                  </a:schemeClr>
                </a:solidFill>
                <a:latin typeface="-apple-system"/>
              </a:rPr>
              <a:t>uboot</a:t>
            </a:r>
            <a:r>
              <a:rPr lang="zh-CN" altLang="en-US" sz="1200" dirty="0">
                <a:solidFill>
                  <a:schemeClr val="bg1">
                    <a:lumMod val="50000"/>
                  </a:schemeClr>
                </a:solidFill>
                <a:latin typeface="-apple-system"/>
              </a:rPr>
              <a:t>下一次重启会继续使用以前的环境变量值</a:t>
            </a:r>
            <a:endParaRPr kumimoji="1" lang="zh-CN" altLang="en-US" dirty="0">
              <a:solidFill>
                <a:schemeClr val="bg1">
                  <a:lumMod val="50000"/>
                </a:schemeClr>
              </a:solidFill>
            </a:endParaRP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26</a:t>
            </a:fld>
            <a:endParaRPr lang="en-JM"/>
          </a:p>
        </p:txBody>
      </p:sp>
    </p:spTree>
    <p:extLst>
      <p:ext uri="{BB962C8B-B14F-4D97-AF65-F5344CB8AC3E}">
        <p14:creationId xmlns:p14="http://schemas.microsoft.com/office/powerpoint/2010/main" val="1916076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lumMod val="50000"/>
                  </a:schemeClr>
                </a:solidFill>
                <a:latin typeface="-apple-system"/>
              </a:rPr>
              <a:t>一般环境变量是存放在外部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中的，</a:t>
            </a:r>
            <a:r>
              <a:rPr lang="en-US" altLang="zh-CN" sz="1200" dirty="0" err="1">
                <a:solidFill>
                  <a:schemeClr val="bg1">
                    <a:lumMod val="50000"/>
                  </a:schemeClr>
                </a:solidFill>
                <a:latin typeface="-apple-system"/>
              </a:rPr>
              <a:t>uboot</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启动的时候会将环境变量从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读取到 </a:t>
            </a:r>
            <a:r>
              <a:rPr lang="en-US" altLang="zh-CN" sz="1200" dirty="0">
                <a:solidFill>
                  <a:schemeClr val="bg1">
                    <a:lumMod val="50000"/>
                  </a:schemeClr>
                </a:solidFill>
                <a:latin typeface="-apple-system"/>
              </a:rPr>
              <a:t>DRAM </a:t>
            </a:r>
            <a:r>
              <a:rPr lang="zh-CN" altLang="en-US" sz="1200" dirty="0">
                <a:solidFill>
                  <a:schemeClr val="bg1">
                    <a:lumMod val="50000"/>
                  </a:schemeClr>
                </a:solidFill>
                <a:latin typeface="-apple-system"/>
              </a:rPr>
              <a:t>中。所以使用命令 </a:t>
            </a:r>
            <a:r>
              <a:rPr lang="en-US" altLang="zh-CN" sz="1200" dirty="0" err="1">
                <a:solidFill>
                  <a:schemeClr val="bg1">
                    <a:lumMod val="50000"/>
                  </a:schemeClr>
                </a:solidFill>
                <a:latin typeface="-apple-system"/>
              </a:rPr>
              <a:t>setenv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修改的是 </a:t>
            </a:r>
            <a:r>
              <a:rPr lang="en-US" altLang="zh-CN" sz="1200" dirty="0">
                <a:solidFill>
                  <a:schemeClr val="bg1">
                    <a:lumMod val="50000"/>
                  </a:schemeClr>
                </a:solidFill>
                <a:latin typeface="-apple-system"/>
              </a:rPr>
              <a:t>DRAM</a:t>
            </a:r>
            <a:r>
              <a:rPr lang="zh-CN" altLang="en-US" sz="1200" dirty="0">
                <a:solidFill>
                  <a:schemeClr val="bg1">
                    <a:lumMod val="50000"/>
                  </a:schemeClr>
                </a:solidFill>
                <a:latin typeface="-apple-system"/>
              </a:rPr>
              <a:t>中的环境变量值，修改以后要使用 </a:t>
            </a:r>
            <a:r>
              <a:rPr lang="en-US" altLang="zh-CN" sz="1200" dirty="0" err="1">
                <a:solidFill>
                  <a:schemeClr val="bg1">
                    <a:lumMod val="50000"/>
                  </a:schemeClr>
                </a:solidFill>
                <a:latin typeface="-apple-system"/>
              </a:rPr>
              <a:t>saveenv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命令将修改后的环境变量保存到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中，否则的话</a:t>
            </a:r>
            <a:r>
              <a:rPr lang="en-US" altLang="zh-CN" sz="1200" dirty="0" err="1">
                <a:solidFill>
                  <a:schemeClr val="bg1">
                    <a:lumMod val="50000"/>
                  </a:schemeClr>
                </a:solidFill>
                <a:latin typeface="-apple-system"/>
              </a:rPr>
              <a:t>uboot</a:t>
            </a:r>
            <a:r>
              <a:rPr lang="zh-CN" altLang="en-US" sz="1200">
                <a:solidFill>
                  <a:schemeClr val="bg1">
                    <a:lumMod val="50000"/>
                  </a:schemeClr>
                </a:solidFill>
                <a:latin typeface="-apple-system"/>
              </a:rPr>
              <a:t>下一次重启会继续使用以前的环境变量值</a:t>
            </a:r>
            <a:endParaRPr kumimoji="1" lang="zh-CN" altLang="en-US">
              <a:solidFill>
                <a:schemeClr val="bg1">
                  <a:lumMod val="50000"/>
                </a:schemeClr>
              </a:solidFill>
            </a:endParaRP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27</a:t>
            </a:fld>
            <a:endParaRPr lang="en-JM"/>
          </a:p>
        </p:txBody>
      </p:sp>
    </p:spTree>
    <p:extLst>
      <p:ext uri="{BB962C8B-B14F-4D97-AF65-F5344CB8AC3E}">
        <p14:creationId xmlns:p14="http://schemas.microsoft.com/office/powerpoint/2010/main" val="535139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lumMod val="50000"/>
                  </a:schemeClr>
                </a:solidFill>
                <a:latin typeface="-apple-system"/>
              </a:rPr>
              <a:t>一般环境变量是存放在外部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中的，</a:t>
            </a:r>
            <a:r>
              <a:rPr lang="en-US" altLang="zh-CN" sz="1200" dirty="0" err="1">
                <a:solidFill>
                  <a:schemeClr val="bg1">
                    <a:lumMod val="50000"/>
                  </a:schemeClr>
                </a:solidFill>
                <a:latin typeface="-apple-system"/>
              </a:rPr>
              <a:t>uboot</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启动的时候会将环境变量从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读取到 </a:t>
            </a:r>
            <a:r>
              <a:rPr lang="en-US" altLang="zh-CN" sz="1200" dirty="0">
                <a:solidFill>
                  <a:schemeClr val="bg1">
                    <a:lumMod val="50000"/>
                  </a:schemeClr>
                </a:solidFill>
                <a:latin typeface="-apple-system"/>
              </a:rPr>
              <a:t>DRAM </a:t>
            </a:r>
            <a:r>
              <a:rPr lang="zh-CN" altLang="en-US" sz="1200" dirty="0">
                <a:solidFill>
                  <a:schemeClr val="bg1">
                    <a:lumMod val="50000"/>
                  </a:schemeClr>
                </a:solidFill>
                <a:latin typeface="-apple-system"/>
              </a:rPr>
              <a:t>中。所以使用命令 </a:t>
            </a:r>
            <a:r>
              <a:rPr lang="en-US" altLang="zh-CN" sz="1200" dirty="0" err="1">
                <a:solidFill>
                  <a:schemeClr val="bg1">
                    <a:lumMod val="50000"/>
                  </a:schemeClr>
                </a:solidFill>
                <a:latin typeface="-apple-system"/>
              </a:rPr>
              <a:t>setenv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修改的是 </a:t>
            </a:r>
            <a:r>
              <a:rPr lang="en-US" altLang="zh-CN" sz="1200" dirty="0">
                <a:solidFill>
                  <a:schemeClr val="bg1">
                    <a:lumMod val="50000"/>
                  </a:schemeClr>
                </a:solidFill>
                <a:latin typeface="-apple-system"/>
              </a:rPr>
              <a:t>DRAM</a:t>
            </a:r>
            <a:r>
              <a:rPr lang="zh-CN" altLang="en-US" sz="1200" dirty="0">
                <a:solidFill>
                  <a:schemeClr val="bg1">
                    <a:lumMod val="50000"/>
                  </a:schemeClr>
                </a:solidFill>
                <a:latin typeface="-apple-system"/>
              </a:rPr>
              <a:t>中的环境变量值，修改以后要使用 </a:t>
            </a:r>
            <a:r>
              <a:rPr lang="en-US" altLang="zh-CN" sz="1200" dirty="0" err="1">
                <a:solidFill>
                  <a:schemeClr val="bg1">
                    <a:lumMod val="50000"/>
                  </a:schemeClr>
                </a:solidFill>
                <a:latin typeface="-apple-system"/>
              </a:rPr>
              <a:t>saveenv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命令将修改后的环境变量保存到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中，否则的话</a:t>
            </a:r>
            <a:r>
              <a:rPr lang="en-US" altLang="zh-CN" sz="1200" dirty="0" err="1">
                <a:solidFill>
                  <a:schemeClr val="bg1">
                    <a:lumMod val="50000"/>
                  </a:schemeClr>
                </a:solidFill>
                <a:latin typeface="-apple-system"/>
              </a:rPr>
              <a:t>uboot</a:t>
            </a:r>
            <a:r>
              <a:rPr lang="zh-CN" altLang="en-US" sz="1200">
                <a:solidFill>
                  <a:schemeClr val="bg1">
                    <a:lumMod val="50000"/>
                  </a:schemeClr>
                </a:solidFill>
                <a:latin typeface="-apple-system"/>
              </a:rPr>
              <a:t>下一次重启会继续使用以前的环境变量值</a:t>
            </a:r>
            <a:endParaRPr kumimoji="1" lang="zh-CN" altLang="en-US">
              <a:solidFill>
                <a:schemeClr val="bg1">
                  <a:lumMod val="50000"/>
                </a:schemeClr>
              </a:solidFill>
            </a:endParaRP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28</a:t>
            </a:fld>
            <a:endParaRPr lang="en-JM"/>
          </a:p>
        </p:txBody>
      </p:sp>
    </p:spTree>
    <p:extLst>
      <p:ext uri="{BB962C8B-B14F-4D97-AF65-F5344CB8AC3E}">
        <p14:creationId xmlns:p14="http://schemas.microsoft.com/office/powerpoint/2010/main" val="1950632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lumMod val="50000"/>
                  </a:schemeClr>
                </a:solidFill>
                <a:latin typeface="-apple-system"/>
              </a:rPr>
              <a:t>一般环境变量是存放在外部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中的，</a:t>
            </a:r>
            <a:r>
              <a:rPr lang="en-US" altLang="zh-CN" sz="1200" dirty="0" err="1">
                <a:solidFill>
                  <a:schemeClr val="bg1">
                    <a:lumMod val="50000"/>
                  </a:schemeClr>
                </a:solidFill>
                <a:latin typeface="-apple-system"/>
              </a:rPr>
              <a:t>uboot</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启动的时候会将环境变量从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读取到 </a:t>
            </a:r>
            <a:r>
              <a:rPr lang="en-US" altLang="zh-CN" sz="1200" dirty="0">
                <a:solidFill>
                  <a:schemeClr val="bg1">
                    <a:lumMod val="50000"/>
                  </a:schemeClr>
                </a:solidFill>
                <a:latin typeface="-apple-system"/>
              </a:rPr>
              <a:t>DRAM </a:t>
            </a:r>
            <a:r>
              <a:rPr lang="zh-CN" altLang="en-US" sz="1200" dirty="0">
                <a:solidFill>
                  <a:schemeClr val="bg1">
                    <a:lumMod val="50000"/>
                  </a:schemeClr>
                </a:solidFill>
                <a:latin typeface="-apple-system"/>
              </a:rPr>
              <a:t>中。所以使用命令 </a:t>
            </a:r>
            <a:r>
              <a:rPr lang="en-US" altLang="zh-CN" sz="1200" dirty="0" err="1">
                <a:solidFill>
                  <a:schemeClr val="bg1">
                    <a:lumMod val="50000"/>
                  </a:schemeClr>
                </a:solidFill>
                <a:latin typeface="-apple-system"/>
              </a:rPr>
              <a:t>setenv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修改的是 </a:t>
            </a:r>
            <a:r>
              <a:rPr lang="en-US" altLang="zh-CN" sz="1200" dirty="0">
                <a:solidFill>
                  <a:schemeClr val="bg1">
                    <a:lumMod val="50000"/>
                  </a:schemeClr>
                </a:solidFill>
                <a:latin typeface="-apple-system"/>
              </a:rPr>
              <a:t>DRAM</a:t>
            </a:r>
            <a:r>
              <a:rPr lang="zh-CN" altLang="en-US" sz="1200" dirty="0">
                <a:solidFill>
                  <a:schemeClr val="bg1">
                    <a:lumMod val="50000"/>
                  </a:schemeClr>
                </a:solidFill>
                <a:latin typeface="-apple-system"/>
              </a:rPr>
              <a:t>中的环境变量值，修改以后要使用 </a:t>
            </a:r>
            <a:r>
              <a:rPr lang="en-US" altLang="zh-CN" sz="1200" dirty="0" err="1">
                <a:solidFill>
                  <a:schemeClr val="bg1">
                    <a:lumMod val="50000"/>
                  </a:schemeClr>
                </a:solidFill>
                <a:latin typeface="-apple-system"/>
              </a:rPr>
              <a:t>saveenv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命令将修改后的环境变量保存到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中，否则的话</a:t>
            </a:r>
            <a:r>
              <a:rPr lang="en-US" altLang="zh-CN" sz="1200" dirty="0" err="1">
                <a:solidFill>
                  <a:schemeClr val="bg1">
                    <a:lumMod val="50000"/>
                  </a:schemeClr>
                </a:solidFill>
                <a:latin typeface="-apple-system"/>
              </a:rPr>
              <a:t>uboot</a:t>
            </a:r>
            <a:r>
              <a:rPr lang="zh-CN" altLang="en-US" sz="1200">
                <a:solidFill>
                  <a:schemeClr val="bg1">
                    <a:lumMod val="50000"/>
                  </a:schemeClr>
                </a:solidFill>
                <a:latin typeface="-apple-system"/>
              </a:rPr>
              <a:t>下一次重启会继续使用以前的环境变量值</a:t>
            </a:r>
            <a:endParaRPr kumimoji="1" lang="zh-CN" altLang="en-US">
              <a:solidFill>
                <a:schemeClr val="bg1">
                  <a:lumMod val="50000"/>
                </a:schemeClr>
              </a:solidFill>
            </a:endParaRP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29</a:t>
            </a:fld>
            <a:endParaRPr lang="en-JM"/>
          </a:p>
        </p:txBody>
      </p:sp>
    </p:spTree>
    <p:extLst>
      <p:ext uri="{BB962C8B-B14F-4D97-AF65-F5344CB8AC3E}">
        <p14:creationId xmlns:p14="http://schemas.microsoft.com/office/powerpoint/2010/main" val="964607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lumMod val="50000"/>
                  </a:schemeClr>
                </a:solidFill>
                <a:latin typeface="-apple-system"/>
              </a:rPr>
              <a:t>一般环境变量是存放在外部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中的，</a:t>
            </a:r>
            <a:r>
              <a:rPr lang="en-US" altLang="zh-CN" sz="1200" dirty="0" err="1">
                <a:solidFill>
                  <a:schemeClr val="bg1">
                    <a:lumMod val="50000"/>
                  </a:schemeClr>
                </a:solidFill>
                <a:latin typeface="-apple-system"/>
              </a:rPr>
              <a:t>uboot</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启动的时候会将环境变量从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读取到 </a:t>
            </a:r>
            <a:r>
              <a:rPr lang="en-US" altLang="zh-CN" sz="1200" dirty="0">
                <a:solidFill>
                  <a:schemeClr val="bg1">
                    <a:lumMod val="50000"/>
                  </a:schemeClr>
                </a:solidFill>
                <a:latin typeface="-apple-system"/>
              </a:rPr>
              <a:t>DRAM </a:t>
            </a:r>
            <a:r>
              <a:rPr lang="zh-CN" altLang="en-US" sz="1200" dirty="0">
                <a:solidFill>
                  <a:schemeClr val="bg1">
                    <a:lumMod val="50000"/>
                  </a:schemeClr>
                </a:solidFill>
                <a:latin typeface="-apple-system"/>
              </a:rPr>
              <a:t>中。所以使用命令 </a:t>
            </a:r>
            <a:r>
              <a:rPr lang="en-US" altLang="zh-CN" sz="1200" dirty="0" err="1">
                <a:solidFill>
                  <a:schemeClr val="bg1">
                    <a:lumMod val="50000"/>
                  </a:schemeClr>
                </a:solidFill>
                <a:latin typeface="-apple-system"/>
              </a:rPr>
              <a:t>setenv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修改的是 </a:t>
            </a:r>
            <a:r>
              <a:rPr lang="en-US" altLang="zh-CN" sz="1200" dirty="0">
                <a:solidFill>
                  <a:schemeClr val="bg1">
                    <a:lumMod val="50000"/>
                  </a:schemeClr>
                </a:solidFill>
                <a:latin typeface="-apple-system"/>
              </a:rPr>
              <a:t>DRAM</a:t>
            </a:r>
            <a:r>
              <a:rPr lang="zh-CN" altLang="en-US" sz="1200" dirty="0">
                <a:solidFill>
                  <a:schemeClr val="bg1">
                    <a:lumMod val="50000"/>
                  </a:schemeClr>
                </a:solidFill>
                <a:latin typeface="-apple-system"/>
              </a:rPr>
              <a:t>中的环境变量值，修改以后要使用 </a:t>
            </a:r>
            <a:r>
              <a:rPr lang="en-US" altLang="zh-CN" sz="1200" dirty="0" err="1">
                <a:solidFill>
                  <a:schemeClr val="bg1">
                    <a:lumMod val="50000"/>
                  </a:schemeClr>
                </a:solidFill>
                <a:latin typeface="-apple-system"/>
              </a:rPr>
              <a:t>saveenv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命令将修改后的环境变量保存到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中，否则的话</a:t>
            </a:r>
            <a:r>
              <a:rPr lang="en-US" altLang="zh-CN" sz="1200" dirty="0" err="1">
                <a:solidFill>
                  <a:schemeClr val="bg1">
                    <a:lumMod val="50000"/>
                  </a:schemeClr>
                </a:solidFill>
                <a:latin typeface="-apple-system"/>
              </a:rPr>
              <a:t>uboot</a:t>
            </a:r>
            <a:r>
              <a:rPr lang="zh-CN" altLang="en-US" sz="1200">
                <a:solidFill>
                  <a:schemeClr val="bg1">
                    <a:lumMod val="50000"/>
                  </a:schemeClr>
                </a:solidFill>
                <a:latin typeface="-apple-system"/>
              </a:rPr>
              <a:t>下一次重启会继续使用以前的环境变量值</a:t>
            </a:r>
            <a:endParaRPr kumimoji="1" lang="zh-CN" altLang="en-US">
              <a:solidFill>
                <a:schemeClr val="bg1">
                  <a:lumMod val="50000"/>
                </a:schemeClr>
              </a:solidFill>
            </a:endParaRP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30</a:t>
            </a:fld>
            <a:endParaRPr lang="en-JM"/>
          </a:p>
        </p:txBody>
      </p:sp>
    </p:spTree>
    <p:extLst>
      <p:ext uri="{BB962C8B-B14F-4D97-AF65-F5344CB8AC3E}">
        <p14:creationId xmlns:p14="http://schemas.microsoft.com/office/powerpoint/2010/main" val="2944049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lumMod val="50000"/>
                  </a:schemeClr>
                </a:solidFill>
                <a:latin typeface="-apple-system"/>
              </a:rPr>
              <a:t>一般环境变量是存放在外部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中的，</a:t>
            </a:r>
            <a:r>
              <a:rPr lang="en-US" altLang="zh-CN" sz="1200" dirty="0" err="1">
                <a:solidFill>
                  <a:schemeClr val="bg1">
                    <a:lumMod val="50000"/>
                  </a:schemeClr>
                </a:solidFill>
                <a:latin typeface="-apple-system"/>
              </a:rPr>
              <a:t>uboot</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启动的时候会将环境变量从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读取到 </a:t>
            </a:r>
            <a:r>
              <a:rPr lang="en-US" altLang="zh-CN" sz="1200" dirty="0">
                <a:solidFill>
                  <a:schemeClr val="bg1">
                    <a:lumMod val="50000"/>
                  </a:schemeClr>
                </a:solidFill>
                <a:latin typeface="-apple-system"/>
              </a:rPr>
              <a:t>DRAM </a:t>
            </a:r>
            <a:r>
              <a:rPr lang="zh-CN" altLang="en-US" sz="1200" dirty="0">
                <a:solidFill>
                  <a:schemeClr val="bg1">
                    <a:lumMod val="50000"/>
                  </a:schemeClr>
                </a:solidFill>
                <a:latin typeface="-apple-system"/>
              </a:rPr>
              <a:t>中。所以使用命令 </a:t>
            </a:r>
            <a:r>
              <a:rPr lang="en-US" altLang="zh-CN" sz="1200" dirty="0" err="1">
                <a:solidFill>
                  <a:schemeClr val="bg1">
                    <a:lumMod val="50000"/>
                  </a:schemeClr>
                </a:solidFill>
                <a:latin typeface="-apple-system"/>
              </a:rPr>
              <a:t>setenv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修改的是 </a:t>
            </a:r>
            <a:r>
              <a:rPr lang="en-US" altLang="zh-CN" sz="1200" dirty="0">
                <a:solidFill>
                  <a:schemeClr val="bg1">
                    <a:lumMod val="50000"/>
                  </a:schemeClr>
                </a:solidFill>
                <a:latin typeface="-apple-system"/>
              </a:rPr>
              <a:t>DRAM</a:t>
            </a:r>
            <a:r>
              <a:rPr lang="zh-CN" altLang="en-US" sz="1200" dirty="0">
                <a:solidFill>
                  <a:schemeClr val="bg1">
                    <a:lumMod val="50000"/>
                  </a:schemeClr>
                </a:solidFill>
                <a:latin typeface="-apple-system"/>
              </a:rPr>
              <a:t>中的环境变量值，修改以后要使用 </a:t>
            </a:r>
            <a:r>
              <a:rPr lang="en-US" altLang="zh-CN" sz="1200" dirty="0" err="1">
                <a:solidFill>
                  <a:schemeClr val="bg1">
                    <a:lumMod val="50000"/>
                  </a:schemeClr>
                </a:solidFill>
                <a:latin typeface="-apple-system"/>
              </a:rPr>
              <a:t>saveenv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命令将修改后的环境变量保存到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中，否则的话</a:t>
            </a:r>
            <a:r>
              <a:rPr lang="en-US" altLang="zh-CN" sz="1200" dirty="0" err="1">
                <a:solidFill>
                  <a:schemeClr val="bg1">
                    <a:lumMod val="50000"/>
                  </a:schemeClr>
                </a:solidFill>
                <a:latin typeface="-apple-system"/>
              </a:rPr>
              <a:t>uboot</a:t>
            </a:r>
            <a:r>
              <a:rPr lang="zh-CN" altLang="en-US" sz="1200">
                <a:solidFill>
                  <a:schemeClr val="bg1">
                    <a:lumMod val="50000"/>
                  </a:schemeClr>
                </a:solidFill>
                <a:latin typeface="-apple-system"/>
              </a:rPr>
              <a:t>下一次重启会继续使用以前的环境变量值</a:t>
            </a:r>
            <a:endParaRPr kumimoji="1" lang="zh-CN" altLang="en-US">
              <a:solidFill>
                <a:schemeClr val="bg1">
                  <a:lumMod val="50000"/>
                </a:schemeClr>
              </a:solidFill>
            </a:endParaRP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31</a:t>
            </a:fld>
            <a:endParaRPr lang="en-JM"/>
          </a:p>
        </p:txBody>
      </p:sp>
    </p:spTree>
    <p:extLst>
      <p:ext uri="{BB962C8B-B14F-4D97-AF65-F5344CB8AC3E}">
        <p14:creationId xmlns:p14="http://schemas.microsoft.com/office/powerpoint/2010/main" val="42261636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lumMod val="50000"/>
                  </a:schemeClr>
                </a:solidFill>
                <a:latin typeface="-apple-system"/>
              </a:rPr>
              <a:t>一般环境变量是存放在外部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中的，</a:t>
            </a:r>
            <a:r>
              <a:rPr lang="en-US" altLang="zh-CN" sz="1200" dirty="0" err="1">
                <a:solidFill>
                  <a:schemeClr val="bg1">
                    <a:lumMod val="50000"/>
                  </a:schemeClr>
                </a:solidFill>
                <a:latin typeface="-apple-system"/>
              </a:rPr>
              <a:t>uboot</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启动的时候会将环境变量从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读取到 </a:t>
            </a:r>
            <a:r>
              <a:rPr lang="en-US" altLang="zh-CN" sz="1200" dirty="0">
                <a:solidFill>
                  <a:schemeClr val="bg1">
                    <a:lumMod val="50000"/>
                  </a:schemeClr>
                </a:solidFill>
                <a:latin typeface="-apple-system"/>
              </a:rPr>
              <a:t>DRAM </a:t>
            </a:r>
            <a:r>
              <a:rPr lang="zh-CN" altLang="en-US" sz="1200" dirty="0">
                <a:solidFill>
                  <a:schemeClr val="bg1">
                    <a:lumMod val="50000"/>
                  </a:schemeClr>
                </a:solidFill>
                <a:latin typeface="-apple-system"/>
              </a:rPr>
              <a:t>中。所以使用命令 </a:t>
            </a:r>
            <a:r>
              <a:rPr lang="en-US" altLang="zh-CN" sz="1200" dirty="0" err="1">
                <a:solidFill>
                  <a:schemeClr val="bg1">
                    <a:lumMod val="50000"/>
                  </a:schemeClr>
                </a:solidFill>
                <a:latin typeface="-apple-system"/>
              </a:rPr>
              <a:t>setenv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修改的是 </a:t>
            </a:r>
            <a:r>
              <a:rPr lang="en-US" altLang="zh-CN" sz="1200" dirty="0">
                <a:solidFill>
                  <a:schemeClr val="bg1">
                    <a:lumMod val="50000"/>
                  </a:schemeClr>
                </a:solidFill>
                <a:latin typeface="-apple-system"/>
              </a:rPr>
              <a:t>DRAM</a:t>
            </a:r>
            <a:r>
              <a:rPr lang="zh-CN" altLang="en-US" sz="1200" dirty="0">
                <a:solidFill>
                  <a:schemeClr val="bg1">
                    <a:lumMod val="50000"/>
                  </a:schemeClr>
                </a:solidFill>
                <a:latin typeface="-apple-system"/>
              </a:rPr>
              <a:t>中的环境变量值，修改以后要使用 </a:t>
            </a:r>
            <a:r>
              <a:rPr lang="en-US" altLang="zh-CN" sz="1200" dirty="0" err="1">
                <a:solidFill>
                  <a:schemeClr val="bg1">
                    <a:lumMod val="50000"/>
                  </a:schemeClr>
                </a:solidFill>
                <a:latin typeface="-apple-system"/>
              </a:rPr>
              <a:t>saveenv</a:t>
            </a:r>
            <a:r>
              <a:rPr lang="en-US" altLang="zh-CN" sz="1200" dirty="0">
                <a:solidFill>
                  <a:schemeClr val="bg1">
                    <a:lumMod val="50000"/>
                  </a:schemeClr>
                </a:solidFill>
                <a:latin typeface="-apple-system"/>
              </a:rPr>
              <a:t> </a:t>
            </a:r>
            <a:r>
              <a:rPr lang="zh-CN" altLang="en-US" sz="1200" dirty="0">
                <a:solidFill>
                  <a:schemeClr val="bg1">
                    <a:lumMod val="50000"/>
                  </a:schemeClr>
                </a:solidFill>
                <a:latin typeface="-apple-system"/>
              </a:rPr>
              <a:t>命令将修改后的环境变量保存到 </a:t>
            </a:r>
            <a:r>
              <a:rPr lang="en-US" altLang="zh-CN" sz="1200" dirty="0">
                <a:solidFill>
                  <a:schemeClr val="bg1">
                    <a:lumMod val="50000"/>
                  </a:schemeClr>
                </a:solidFill>
                <a:latin typeface="-apple-system"/>
              </a:rPr>
              <a:t>flash </a:t>
            </a:r>
            <a:r>
              <a:rPr lang="zh-CN" altLang="en-US" sz="1200" dirty="0">
                <a:solidFill>
                  <a:schemeClr val="bg1">
                    <a:lumMod val="50000"/>
                  </a:schemeClr>
                </a:solidFill>
                <a:latin typeface="-apple-system"/>
              </a:rPr>
              <a:t>中，否则的话</a:t>
            </a:r>
            <a:r>
              <a:rPr lang="en-US" altLang="zh-CN" sz="1200" dirty="0" err="1">
                <a:solidFill>
                  <a:schemeClr val="bg1">
                    <a:lumMod val="50000"/>
                  </a:schemeClr>
                </a:solidFill>
                <a:latin typeface="-apple-system"/>
              </a:rPr>
              <a:t>uboot</a:t>
            </a:r>
            <a:r>
              <a:rPr lang="zh-CN" altLang="en-US" sz="1200">
                <a:solidFill>
                  <a:schemeClr val="bg1">
                    <a:lumMod val="50000"/>
                  </a:schemeClr>
                </a:solidFill>
                <a:latin typeface="-apple-system"/>
              </a:rPr>
              <a:t>下一次重启会继续使用以前的环境变量值</a:t>
            </a:r>
            <a:endParaRPr kumimoji="1" lang="zh-CN" altLang="en-US">
              <a:solidFill>
                <a:schemeClr val="bg1">
                  <a:lumMod val="50000"/>
                </a:schemeClr>
              </a:solidFill>
            </a:endParaRP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32</a:t>
            </a:fld>
            <a:endParaRPr lang="en-JM"/>
          </a:p>
        </p:txBody>
      </p:sp>
    </p:spTree>
    <p:extLst>
      <p:ext uri="{BB962C8B-B14F-4D97-AF65-F5344CB8AC3E}">
        <p14:creationId xmlns:p14="http://schemas.microsoft.com/office/powerpoint/2010/main" val="2141248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可以看出，此时 </a:t>
            </a:r>
            <a:r>
              <a:rPr lang="en" altLang="zh-CN" b="0" i="0" u="none" strike="noStrike" dirty="0">
                <a:effectLst/>
                <a:latin typeface="-apple-system"/>
              </a:rPr>
              <a:t>EMMC </a:t>
            </a:r>
            <a:r>
              <a:rPr lang="zh-CN" altLang="en-US" b="0" i="0" u="none" strike="noStrike" dirty="0">
                <a:effectLst/>
                <a:latin typeface="-apple-system"/>
              </a:rPr>
              <a:t>有两个分区， 第一个分区起始扇区为 </a:t>
            </a:r>
            <a:r>
              <a:rPr lang="en-US" altLang="zh-CN" b="0" i="0" u="none" strike="noStrike" dirty="0">
                <a:effectLst/>
                <a:latin typeface="-apple-system"/>
              </a:rPr>
              <a:t>8192</a:t>
            </a:r>
            <a:r>
              <a:rPr lang="zh-CN" altLang="en-US" b="0" i="0" u="none" strike="noStrike" dirty="0">
                <a:effectLst/>
                <a:latin typeface="-apple-system"/>
              </a:rPr>
              <a:t>，长度</a:t>
            </a:r>
            <a:br>
              <a:rPr lang="zh-CN" altLang="en-US" dirty="0"/>
            </a:br>
            <a:r>
              <a:rPr lang="zh-CN" altLang="en-US" b="0" i="0" u="none" strike="noStrike" dirty="0">
                <a:effectLst/>
                <a:latin typeface="-apple-system"/>
              </a:rPr>
              <a:t>为 </a:t>
            </a:r>
            <a:r>
              <a:rPr lang="en-US" altLang="zh-CN" b="0" i="0" u="none" strike="noStrike" dirty="0">
                <a:effectLst/>
                <a:latin typeface="-apple-system"/>
              </a:rPr>
              <a:t>81920</a:t>
            </a:r>
            <a:r>
              <a:rPr lang="zh-CN" altLang="en-US" b="0" i="0" u="none" strike="noStrike" dirty="0">
                <a:effectLst/>
                <a:latin typeface="-apple-system"/>
              </a:rPr>
              <a:t>个扇区； 第二个分区起始扇区为 </a:t>
            </a:r>
            <a:r>
              <a:rPr lang="en-US" altLang="zh-CN" b="0" i="0" u="none" strike="noStrike" dirty="0">
                <a:effectLst/>
                <a:latin typeface="-apple-system"/>
              </a:rPr>
              <a:t>90112</a:t>
            </a:r>
            <a:r>
              <a:rPr lang="zh-CN" altLang="en-US" b="0" i="0" u="none" strike="noStrike" dirty="0">
                <a:effectLst/>
                <a:latin typeface="-apple-system"/>
              </a:rPr>
              <a:t>，长度为 </a:t>
            </a:r>
            <a:r>
              <a:rPr lang="en-US" altLang="zh-CN" b="0" i="0" u="none" strike="noStrike" dirty="0">
                <a:effectLst/>
                <a:latin typeface="-apple-system"/>
              </a:rPr>
              <a:t>15179776</a:t>
            </a:r>
            <a:r>
              <a:rPr lang="zh-CN" altLang="en-US" b="0" i="0" u="none" strike="noStrike" dirty="0">
                <a:effectLst/>
                <a:latin typeface="-apple-system"/>
              </a:rPr>
              <a:t>个扇区。</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33</a:t>
            </a:fld>
            <a:endParaRPr lang="en-JM"/>
          </a:p>
        </p:txBody>
      </p:sp>
    </p:spTree>
    <p:extLst>
      <p:ext uri="{BB962C8B-B14F-4D97-AF65-F5344CB8AC3E}">
        <p14:creationId xmlns:p14="http://schemas.microsoft.com/office/powerpoint/2010/main" val="3092732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可以看出，此时 </a:t>
            </a:r>
            <a:r>
              <a:rPr lang="en" altLang="zh-CN" b="0" i="0" u="none" strike="noStrike" dirty="0">
                <a:effectLst/>
                <a:latin typeface="-apple-system"/>
              </a:rPr>
              <a:t>EMMC </a:t>
            </a:r>
            <a:r>
              <a:rPr lang="zh-CN" altLang="en-US" b="0" i="0" u="none" strike="noStrike" dirty="0">
                <a:effectLst/>
                <a:latin typeface="-apple-system"/>
              </a:rPr>
              <a:t>有两个分区， 第一个分区起始扇区为 </a:t>
            </a:r>
            <a:r>
              <a:rPr lang="en-US" altLang="zh-CN" b="0" i="0" u="none" strike="noStrike" dirty="0">
                <a:effectLst/>
                <a:latin typeface="-apple-system"/>
              </a:rPr>
              <a:t>8192</a:t>
            </a:r>
            <a:r>
              <a:rPr lang="zh-CN" altLang="en-US" b="0" i="0" u="none" strike="noStrike" dirty="0">
                <a:effectLst/>
                <a:latin typeface="-apple-system"/>
              </a:rPr>
              <a:t>，长度</a:t>
            </a:r>
            <a:br>
              <a:rPr lang="zh-CN" altLang="en-US" dirty="0"/>
            </a:br>
            <a:r>
              <a:rPr lang="zh-CN" altLang="en-US" b="0" i="0" u="none" strike="noStrike" dirty="0">
                <a:effectLst/>
                <a:latin typeface="-apple-system"/>
              </a:rPr>
              <a:t>为 </a:t>
            </a:r>
            <a:r>
              <a:rPr lang="en-US" altLang="zh-CN" b="0" i="0" u="none" strike="noStrike" dirty="0">
                <a:effectLst/>
                <a:latin typeface="-apple-system"/>
              </a:rPr>
              <a:t>81920</a:t>
            </a:r>
            <a:r>
              <a:rPr lang="zh-CN" altLang="en-US" b="0" i="0" u="none" strike="noStrike" dirty="0">
                <a:effectLst/>
                <a:latin typeface="-apple-system"/>
              </a:rPr>
              <a:t>个扇区； 第二个分区起始扇区为 </a:t>
            </a:r>
            <a:r>
              <a:rPr lang="en-US" altLang="zh-CN" b="0" i="0" u="none" strike="noStrike" dirty="0">
                <a:effectLst/>
                <a:latin typeface="-apple-system"/>
              </a:rPr>
              <a:t>90112</a:t>
            </a:r>
            <a:r>
              <a:rPr lang="zh-CN" altLang="en-US" b="0" i="0" u="none" strike="noStrike" dirty="0">
                <a:effectLst/>
                <a:latin typeface="-apple-system"/>
              </a:rPr>
              <a:t>，长度为 </a:t>
            </a:r>
            <a:r>
              <a:rPr lang="en-US" altLang="zh-CN" b="0" i="0" u="none" strike="noStrike" dirty="0">
                <a:effectLst/>
                <a:latin typeface="-apple-system"/>
              </a:rPr>
              <a:t>15179776</a:t>
            </a:r>
            <a:r>
              <a:rPr lang="zh-CN" altLang="en-US" b="0" i="0" u="none" strike="noStrike">
                <a:effectLst/>
                <a:latin typeface="-apple-system"/>
              </a:rPr>
              <a:t>个扇区。</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36</a:t>
            </a:fld>
            <a:endParaRPr lang="en-JM"/>
          </a:p>
        </p:txBody>
      </p:sp>
    </p:spTree>
    <p:extLst>
      <p:ext uri="{BB962C8B-B14F-4D97-AF65-F5344CB8AC3E}">
        <p14:creationId xmlns:p14="http://schemas.microsoft.com/office/powerpoint/2010/main" val="1391310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用于从路由器获取 </a:t>
            </a:r>
            <a:r>
              <a:rPr lang="en" altLang="zh-CN" b="0" i="0" u="none" strike="noStrike" dirty="0">
                <a:effectLst/>
                <a:latin typeface="-apple-system"/>
              </a:rPr>
              <a:t>IP </a:t>
            </a:r>
            <a:r>
              <a:rPr lang="zh-CN" altLang="en-US" b="0" i="0" u="none" strike="noStrike" dirty="0">
                <a:effectLst/>
                <a:latin typeface="-apple-system"/>
              </a:rPr>
              <a:t>地址，前提得开发板连接到路由器上的，如果开发板是和电脑直连的，那么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命令就会失效。直接输入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命令即可通过路由器获取到 </a:t>
            </a:r>
            <a:r>
              <a:rPr lang="en" altLang="zh-CN" b="0" i="0" u="none" strike="noStrike" dirty="0">
                <a:effectLst/>
                <a:latin typeface="-apple-system"/>
              </a:rPr>
              <a:t>IP </a:t>
            </a:r>
            <a:r>
              <a:rPr lang="zh-CN" altLang="en-US" b="0" i="0" u="none" strike="noStrike" dirty="0">
                <a:effectLst/>
                <a:latin typeface="-apple-system"/>
              </a:rPr>
              <a:t>地址</a:t>
            </a:r>
            <a:r>
              <a:rPr lang="en-US" altLang="zh-CN" b="0" i="0" u="none" strike="noStrike" dirty="0">
                <a:effectLst/>
                <a:latin typeface="-apple-system"/>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ping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开发板的网络能否使用，是否可以和服务器</a:t>
            </a:r>
            <a:r>
              <a:rPr lang="en-US" altLang="zh-CN" b="0" i="0" u="none" strike="noStrike" dirty="0">
                <a:effectLst/>
                <a:latin typeface="-apple-system"/>
              </a:rPr>
              <a:t>(</a:t>
            </a:r>
            <a:r>
              <a:rPr lang="en" altLang="zh-CN" b="0" i="0" u="none" strike="noStrike" dirty="0">
                <a:effectLst/>
                <a:latin typeface="-apple-system"/>
              </a:rPr>
              <a:t>Ubuntu </a:t>
            </a:r>
            <a:r>
              <a:rPr lang="zh-CN" altLang="en-US" b="0" i="0" u="none" strike="noStrike" dirty="0">
                <a:effectLst/>
                <a:latin typeface="-apple-system"/>
              </a:rPr>
              <a:t>主机</a:t>
            </a:r>
            <a:r>
              <a:rPr lang="en-US" altLang="zh-CN" b="0" i="0" u="none" strike="noStrike" dirty="0">
                <a:effectLst/>
                <a:latin typeface="-apple-system"/>
              </a:rPr>
              <a:t>)</a:t>
            </a:r>
            <a:r>
              <a:rPr lang="zh-CN" altLang="en-US" b="0" i="0" u="none" strike="noStrike" dirty="0">
                <a:effectLst/>
                <a:latin typeface="-apple-system"/>
              </a:rPr>
              <a:t>进行通信，通过 </a:t>
            </a:r>
            <a:r>
              <a:rPr lang="en" altLang="zh-CN" b="0" i="0" u="none" strike="noStrike" dirty="0">
                <a:effectLst/>
                <a:latin typeface="-apple-system"/>
              </a:rPr>
              <a:t>ping </a:t>
            </a:r>
            <a:r>
              <a:rPr lang="zh-CN" altLang="en-US" b="0" i="0" u="none" strike="noStrike" dirty="0">
                <a:effectLst/>
                <a:latin typeface="-apple-system"/>
              </a:rPr>
              <a:t>命令就可以验证，直接 </a:t>
            </a:r>
            <a:r>
              <a:rPr lang="en" altLang="zh-CN" b="0" i="0" u="none" strike="noStrike" dirty="0">
                <a:effectLst/>
                <a:latin typeface="-apple-system"/>
              </a:rPr>
              <a:t>ping </a:t>
            </a:r>
            <a:r>
              <a:rPr lang="zh-CN" altLang="en-US" b="0" i="0" u="none" strike="noStrike" dirty="0">
                <a:effectLst/>
                <a:latin typeface="-apple-system"/>
              </a:rPr>
              <a:t>服务器的 </a:t>
            </a:r>
            <a:r>
              <a:rPr lang="en" altLang="zh-CN" b="0" i="0" u="none" strike="noStrike" dirty="0">
                <a:effectLst/>
                <a:latin typeface="-apple-system"/>
              </a:rPr>
              <a:t>IP </a:t>
            </a:r>
            <a:r>
              <a:rPr lang="zh-CN" altLang="en-US" b="0" i="0" u="none" strike="noStrike" dirty="0">
                <a:effectLst/>
                <a:latin typeface="-apple-system"/>
              </a:rPr>
              <a:t>地址即可，</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可以看出， </a:t>
            </a:r>
            <a:r>
              <a:rPr lang="en-US" altLang="zh-CN" b="0" i="0" u="none" strike="noStrike" dirty="0">
                <a:effectLst/>
                <a:latin typeface="-apple-system"/>
              </a:rPr>
              <a:t>192.168.1.6 </a:t>
            </a:r>
            <a:r>
              <a:rPr lang="zh-CN" altLang="en-US" b="0" i="0" u="none" strike="noStrike" dirty="0">
                <a:effectLst/>
                <a:latin typeface="-apple-system"/>
              </a:rPr>
              <a:t>这个主机存在，说明 </a:t>
            </a:r>
            <a:r>
              <a:rPr lang="en" altLang="zh-CN" b="0" i="0" u="none" strike="noStrike" dirty="0">
                <a:effectLst/>
                <a:latin typeface="-apple-system"/>
              </a:rPr>
              <a:t>ping </a:t>
            </a:r>
            <a:r>
              <a:rPr lang="zh-CN" altLang="en-US" b="0" i="0" u="none" strike="noStrike" dirty="0">
                <a:effectLst/>
                <a:latin typeface="-apple-system"/>
              </a:rPr>
              <a:t>成功，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的网络工作正</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常。注意！只能在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 </a:t>
            </a:r>
            <a:r>
              <a:rPr lang="en" altLang="zh-CN" b="0" i="0" u="none" strike="noStrike" dirty="0">
                <a:effectLst/>
                <a:latin typeface="-apple-system"/>
              </a:rPr>
              <a:t>ping </a:t>
            </a:r>
            <a:r>
              <a:rPr lang="zh-CN" altLang="en-US" b="0" i="0" u="none" strike="noStrike" dirty="0">
                <a:effectLst/>
                <a:latin typeface="-apple-system"/>
              </a:rPr>
              <a:t>其他的机器，其他机器不能 </a:t>
            </a:r>
            <a:r>
              <a:rPr lang="en" altLang="zh-CN" b="0" i="0" u="none" strike="noStrike" dirty="0">
                <a:effectLst/>
                <a:latin typeface="-apple-system"/>
              </a:rPr>
              <a:t>ping </a:t>
            </a:r>
            <a:r>
              <a:rPr lang="en" altLang="zh-CN" b="0" i="0" u="none" strike="noStrike" dirty="0" err="1">
                <a:effectLst/>
                <a:latin typeface="-apple-system"/>
              </a:rPr>
              <a:t>uboot</a:t>
            </a:r>
            <a:r>
              <a:rPr lang="zh-CN" altLang="en" b="0" i="0" u="none" strike="noStrike" dirty="0">
                <a:effectLst/>
                <a:latin typeface="-apple-system"/>
              </a:rPr>
              <a:t>，</a:t>
            </a:r>
            <a:r>
              <a:rPr lang="zh-CN" altLang="en-US" b="0" i="0" u="none" strike="noStrike" dirty="0">
                <a:effectLst/>
                <a:latin typeface="-apple-system"/>
              </a:rPr>
              <a:t>因为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没有对 </a:t>
            </a:r>
            <a:r>
              <a:rPr lang="en" altLang="zh-CN" b="0" i="0" u="none" strike="noStrike" dirty="0">
                <a:effectLst/>
                <a:latin typeface="-apple-system"/>
              </a:rPr>
              <a:t>ping</a:t>
            </a:r>
            <a:r>
              <a:rPr lang="zh-CN" altLang="en-US" b="0" i="0" u="none" strike="noStrike" dirty="0">
                <a:effectLst/>
                <a:latin typeface="-apple-system"/>
              </a:rPr>
              <a:t>命令做处理，如果用其他的机器 </a:t>
            </a:r>
            <a:r>
              <a:rPr lang="en" altLang="zh-CN" b="0" i="0" u="none" strike="noStrike" dirty="0">
                <a:effectLst/>
                <a:latin typeface="-apple-system"/>
              </a:rPr>
              <a:t>ping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的话会失败！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(Network File System)</a:t>
            </a:r>
            <a:r>
              <a:rPr lang="zh-CN" altLang="en-US" b="0" i="0" u="none" strike="noStrike" dirty="0">
                <a:effectLst/>
                <a:latin typeface="-apple-system"/>
              </a:rPr>
              <a:t>网络文件系统，通过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可以在计算机之间通过网络来分享资源，比如我们将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镜像和设备树文件放到 </a:t>
            </a:r>
            <a:r>
              <a:rPr lang="en" altLang="zh-CN" b="0" i="0" u="none" strike="noStrike" dirty="0">
                <a:effectLst/>
                <a:latin typeface="-apple-system"/>
              </a:rPr>
              <a:t>Ubuntu </a:t>
            </a:r>
            <a:r>
              <a:rPr lang="zh-CN" altLang="en-US" b="0" i="0" u="none" strike="noStrike" dirty="0">
                <a:effectLst/>
                <a:latin typeface="-apple-system"/>
              </a:rPr>
              <a:t>中，然后在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中使用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命令将 </a:t>
            </a:r>
            <a:r>
              <a:rPr lang="en" altLang="zh-CN" b="0" i="0" u="none" strike="noStrike" dirty="0">
                <a:effectLst/>
                <a:latin typeface="-apple-system"/>
              </a:rPr>
              <a:t>Ubuntu </a:t>
            </a:r>
            <a:r>
              <a:rPr lang="zh-CN" altLang="en-US" b="0" i="0" u="none" strike="noStrike" dirty="0">
                <a:effectLst/>
                <a:latin typeface="-apple-system"/>
              </a:rPr>
              <a:t>中的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镜像和设备树下载到开发板的 </a:t>
            </a:r>
            <a:r>
              <a:rPr lang="en" altLang="zh-CN" b="0" i="0" u="none" strike="noStrike" dirty="0">
                <a:effectLst/>
                <a:latin typeface="-apple-system"/>
              </a:rPr>
              <a:t>DRAM </a:t>
            </a:r>
            <a:r>
              <a:rPr lang="zh-CN" altLang="en-US" b="0" i="0" u="none" strike="noStrike" dirty="0">
                <a:effectLst/>
                <a:latin typeface="-apple-system"/>
              </a:rPr>
              <a:t>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在使用之前需要开启 </a:t>
            </a:r>
            <a:r>
              <a:rPr lang="en" altLang="zh-CN" b="0" i="0" u="none" strike="noStrike" dirty="0">
                <a:effectLst/>
                <a:latin typeface="-apple-system"/>
              </a:rPr>
              <a:t>Ubuntu </a:t>
            </a:r>
            <a:r>
              <a:rPr lang="zh-CN" altLang="en-US" b="0" i="0" u="none" strike="noStrike" dirty="0">
                <a:effectLst/>
                <a:latin typeface="-apple-system"/>
              </a:rPr>
              <a:t>主机的 </a:t>
            </a:r>
            <a:r>
              <a:rPr lang="en" altLang="zh-CN" b="0" i="0" u="none" strike="noStrike" dirty="0">
                <a:effectLst/>
                <a:latin typeface="-apple-system"/>
              </a:rPr>
              <a:t>NFS </a:t>
            </a:r>
            <a:r>
              <a:rPr lang="zh-CN" altLang="en-US" b="0" i="0" u="none" strike="noStrike" dirty="0">
                <a:effectLst/>
                <a:latin typeface="-apple-system"/>
              </a:rPr>
              <a:t>服务，并且要新建一个 </a:t>
            </a:r>
            <a:r>
              <a:rPr lang="en" altLang="zh-CN" b="0" i="0" u="none" strike="noStrike" dirty="0">
                <a:effectLst/>
                <a:latin typeface="-apple-system"/>
              </a:rPr>
              <a:t>NFS </a:t>
            </a:r>
            <a:r>
              <a:rPr lang="zh-CN" altLang="en-US" b="0" i="0" u="none" strike="noStrike" dirty="0">
                <a:effectLst/>
                <a:latin typeface="-apple-system"/>
              </a:rPr>
              <a:t>使用的目录，以后所有要通过</a:t>
            </a:r>
            <a:r>
              <a:rPr lang="en" altLang="zh-CN" b="0" i="0" u="none" strike="noStrike" dirty="0">
                <a:effectLst/>
                <a:latin typeface="-apple-system"/>
              </a:rPr>
              <a:t>NFS </a:t>
            </a:r>
            <a:r>
              <a:rPr lang="zh-CN" altLang="en-US" b="0" i="0" u="none" strike="noStrike" dirty="0">
                <a:effectLst/>
                <a:latin typeface="-apple-system"/>
              </a:rPr>
              <a:t>访问的文件都需要放到这个 </a:t>
            </a:r>
            <a:r>
              <a:rPr lang="en" altLang="zh-CN" b="0" i="0" u="none" strike="noStrike" dirty="0">
                <a:effectLst/>
                <a:latin typeface="-apple-system"/>
              </a:rPr>
              <a:t>NFS </a:t>
            </a:r>
            <a:r>
              <a:rPr lang="zh-CN" altLang="en-US" b="0" i="0" u="none" strike="noStrike" dirty="0">
                <a:effectLst/>
                <a:latin typeface="-apple-system"/>
              </a:rPr>
              <a:t>目录中。</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使用如下命令安装 </a:t>
            </a:r>
            <a:r>
              <a:rPr lang="en" altLang="zh-CN" b="0" i="0" u="none" strike="noStrike" dirty="0">
                <a:effectLst/>
                <a:latin typeface="-apple-system"/>
              </a:rPr>
              <a:t>NFS </a:t>
            </a:r>
            <a:r>
              <a:rPr lang="zh-CN" altLang="en-US" b="0" i="0" u="none" strike="noStrike" dirty="0">
                <a:effectLst/>
                <a:latin typeface="-apple-system"/>
              </a:rPr>
              <a:t>服务：</a:t>
            </a: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命令的作用和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命令一样，都是用于通过网络下载东西到 </a:t>
            </a:r>
            <a:r>
              <a:rPr lang="en" altLang="zh-CN" b="0" i="0" u="none" strike="noStrike" dirty="0">
                <a:effectLst/>
                <a:latin typeface="-apple-system"/>
              </a:rPr>
              <a:t>DRAM </a:t>
            </a:r>
            <a:r>
              <a:rPr lang="zh-CN" altLang="en-US" b="0" i="0" u="none" strike="noStrike" dirty="0">
                <a:effectLst/>
                <a:latin typeface="-apple-system"/>
              </a:rPr>
              <a:t>中，只是 </a:t>
            </a: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命令使用的 </a:t>
            </a:r>
            <a:r>
              <a:rPr lang="en" altLang="zh-CN" b="0" i="0" u="none" strike="noStrike" dirty="0">
                <a:effectLst/>
                <a:latin typeface="-apple-system"/>
              </a:rPr>
              <a:t>TFTP </a:t>
            </a:r>
            <a:r>
              <a:rPr lang="zh-CN" altLang="en-US" b="0" i="0" u="none" strike="noStrike" dirty="0">
                <a:effectLst/>
                <a:latin typeface="-apple-system"/>
              </a:rPr>
              <a:t>协议， </a:t>
            </a:r>
            <a:r>
              <a:rPr lang="en" altLang="zh-CN" b="0" i="0" u="none" strike="noStrike" dirty="0">
                <a:effectLst/>
                <a:latin typeface="-apple-system"/>
              </a:rPr>
              <a:t>Ubuntu </a:t>
            </a:r>
            <a:r>
              <a:rPr lang="zh-CN" altLang="en-US" b="0" i="0" u="none" strike="noStrike" dirty="0">
                <a:effectLst/>
                <a:latin typeface="-apple-system"/>
              </a:rPr>
              <a:t>主机作为 </a:t>
            </a:r>
            <a:r>
              <a:rPr lang="en" altLang="zh-CN" b="0" i="0" u="none" strike="noStrike" dirty="0">
                <a:effectLst/>
                <a:latin typeface="-apple-system"/>
              </a:rPr>
              <a:t>TFTP </a:t>
            </a:r>
            <a:r>
              <a:rPr lang="zh-CN" altLang="en-US" b="0" i="0" u="none" strike="noStrike" dirty="0">
                <a:effectLst/>
                <a:latin typeface="-apple-system"/>
              </a:rPr>
              <a:t>服务器。</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上搭建 </a:t>
            </a:r>
            <a:r>
              <a:rPr lang="en" altLang="zh-CN" b="0" i="0" u="none" strike="noStrike" dirty="0">
                <a:effectLst/>
                <a:latin typeface="-apple-system"/>
              </a:rPr>
              <a:t>TFTP </a:t>
            </a:r>
            <a:r>
              <a:rPr lang="zh-CN" altLang="en-US" b="0" i="0" u="none" strike="noStrike" dirty="0">
                <a:effectLst/>
                <a:latin typeface="-apple-system"/>
              </a:rPr>
              <a:t>服务器，需要安装 </a:t>
            </a:r>
            <a:r>
              <a:rPr lang="en" altLang="zh-CN" b="0" i="0" u="none" strike="noStrike" dirty="0" err="1">
                <a:effectLst/>
                <a:latin typeface="-apple-system"/>
              </a:rPr>
              <a:t>tftp-hpa</a:t>
            </a:r>
            <a:r>
              <a:rPr lang="en" altLang="zh-CN" b="0" i="0" u="none" strike="noStrike" dirty="0">
                <a:effectLst/>
                <a:latin typeface="-apple-system"/>
              </a:rPr>
              <a:t> </a:t>
            </a:r>
            <a:r>
              <a:rPr lang="zh-CN" altLang="en-US" b="0" i="0" u="none" strike="noStrike" dirty="0">
                <a:effectLst/>
                <a:latin typeface="-apple-system"/>
              </a:rPr>
              <a:t>和 </a:t>
            </a:r>
            <a:r>
              <a:rPr lang="en" altLang="zh-CN" b="0" i="0" u="none" strike="noStrike" dirty="0" err="1">
                <a:effectLst/>
                <a:latin typeface="-apple-system"/>
              </a:rPr>
              <a:t>tftpd-hpa</a:t>
            </a:r>
            <a:r>
              <a:rPr lang="zh-CN" altLang="en" b="0" i="0" u="none" strike="noStrike" dirty="0">
                <a:effectLst/>
                <a:latin typeface="-apple-system"/>
              </a:rPr>
              <a:t>，</a:t>
            </a:r>
            <a:r>
              <a:rPr lang="zh-CN" altLang="en-US" b="0" i="0" u="none" strike="noStrike" dirty="0">
                <a:effectLst/>
                <a:latin typeface="-apple-system"/>
              </a:rPr>
              <a:t>命令如下：</a:t>
            </a:r>
          </a:p>
        </p:txBody>
      </p:sp>
      <p:sp>
        <p:nvSpPr>
          <p:cNvPr id="4" name="灯片编号占位符 3"/>
          <p:cNvSpPr>
            <a:spLocks noGrp="1"/>
          </p:cNvSpPr>
          <p:nvPr>
            <p:ph type="sldNum" sz="quarter" idx="5"/>
          </p:nvPr>
        </p:nvSpPr>
        <p:spPr/>
        <p:txBody>
          <a:bodyPr/>
          <a:lstStyle/>
          <a:p>
            <a:fld id="{379CA0D8-6577-48B2-BA77-88519BAFBFDA}" type="slidenum">
              <a:rPr lang="en-JM" smtClean="0"/>
              <a:pPr/>
              <a:t>37</a:t>
            </a:fld>
            <a:endParaRPr lang="en-JM"/>
          </a:p>
        </p:txBody>
      </p:sp>
    </p:spTree>
    <p:extLst>
      <p:ext uri="{BB962C8B-B14F-4D97-AF65-F5344CB8AC3E}">
        <p14:creationId xmlns:p14="http://schemas.microsoft.com/office/powerpoint/2010/main" val="3857413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用于从路由器获取 </a:t>
            </a:r>
            <a:r>
              <a:rPr lang="en" altLang="zh-CN" b="0" i="0" u="none" strike="noStrike" dirty="0">
                <a:effectLst/>
                <a:latin typeface="-apple-system"/>
              </a:rPr>
              <a:t>IP </a:t>
            </a:r>
            <a:r>
              <a:rPr lang="zh-CN" altLang="en-US" b="0" i="0" u="none" strike="noStrike" dirty="0">
                <a:effectLst/>
                <a:latin typeface="-apple-system"/>
              </a:rPr>
              <a:t>地址，前提得开发板连接到路由器上的，如果开发板是和电脑直连的，那么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命令就会失效。直接输入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命令即可通过路由器获取到 </a:t>
            </a:r>
            <a:r>
              <a:rPr lang="en" altLang="zh-CN" b="0" i="0" u="none" strike="noStrike" dirty="0">
                <a:effectLst/>
                <a:latin typeface="-apple-system"/>
              </a:rPr>
              <a:t>IP </a:t>
            </a:r>
            <a:r>
              <a:rPr lang="zh-CN" altLang="en-US" b="0" i="0" u="none" strike="noStrike" dirty="0">
                <a:effectLst/>
                <a:latin typeface="-apple-system"/>
              </a:rPr>
              <a:t>地址</a:t>
            </a:r>
            <a:r>
              <a:rPr lang="en-US" altLang="zh-CN" b="0" i="0" u="none" strike="noStrike" dirty="0">
                <a:effectLst/>
                <a:latin typeface="-apple-system"/>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ping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开发板的网络能否使用，是否可以和服务器</a:t>
            </a:r>
            <a:r>
              <a:rPr lang="en-US" altLang="zh-CN" b="0" i="0" u="none" strike="noStrike" dirty="0">
                <a:effectLst/>
                <a:latin typeface="-apple-system"/>
              </a:rPr>
              <a:t>(</a:t>
            </a:r>
            <a:r>
              <a:rPr lang="en" altLang="zh-CN" b="0" i="0" u="none" strike="noStrike" dirty="0">
                <a:effectLst/>
                <a:latin typeface="-apple-system"/>
              </a:rPr>
              <a:t>Ubuntu </a:t>
            </a:r>
            <a:r>
              <a:rPr lang="zh-CN" altLang="en-US" b="0" i="0" u="none" strike="noStrike" dirty="0">
                <a:effectLst/>
                <a:latin typeface="-apple-system"/>
              </a:rPr>
              <a:t>主机</a:t>
            </a:r>
            <a:r>
              <a:rPr lang="en-US" altLang="zh-CN" b="0" i="0" u="none" strike="noStrike" dirty="0">
                <a:effectLst/>
                <a:latin typeface="-apple-system"/>
              </a:rPr>
              <a:t>)</a:t>
            </a:r>
            <a:r>
              <a:rPr lang="zh-CN" altLang="en-US" b="0" i="0" u="none" strike="noStrike" dirty="0">
                <a:effectLst/>
                <a:latin typeface="-apple-system"/>
              </a:rPr>
              <a:t>进行通信，通过 </a:t>
            </a:r>
            <a:r>
              <a:rPr lang="en" altLang="zh-CN" b="0" i="0" u="none" strike="noStrike" dirty="0">
                <a:effectLst/>
                <a:latin typeface="-apple-system"/>
              </a:rPr>
              <a:t>ping </a:t>
            </a:r>
            <a:r>
              <a:rPr lang="zh-CN" altLang="en-US" b="0" i="0" u="none" strike="noStrike" dirty="0">
                <a:effectLst/>
                <a:latin typeface="-apple-system"/>
              </a:rPr>
              <a:t>命令就可以验证，直接 </a:t>
            </a:r>
            <a:r>
              <a:rPr lang="en" altLang="zh-CN" b="0" i="0" u="none" strike="noStrike" dirty="0">
                <a:effectLst/>
                <a:latin typeface="-apple-system"/>
              </a:rPr>
              <a:t>ping </a:t>
            </a:r>
            <a:r>
              <a:rPr lang="zh-CN" altLang="en-US" b="0" i="0" u="none" strike="noStrike" dirty="0">
                <a:effectLst/>
                <a:latin typeface="-apple-system"/>
              </a:rPr>
              <a:t>服务器的 </a:t>
            </a:r>
            <a:r>
              <a:rPr lang="en" altLang="zh-CN" b="0" i="0" u="none" strike="noStrike" dirty="0">
                <a:effectLst/>
                <a:latin typeface="-apple-system"/>
              </a:rPr>
              <a:t>IP </a:t>
            </a:r>
            <a:r>
              <a:rPr lang="zh-CN" altLang="en-US" b="0" i="0" u="none" strike="noStrike" dirty="0">
                <a:effectLst/>
                <a:latin typeface="-apple-system"/>
              </a:rPr>
              <a:t>地址即可，</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可以看出， </a:t>
            </a:r>
            <a:r>
              <a:rPr lang="en-US" altLang="zh-CN" b="0" i="0" u="none" strike="noStrike" dirty="0">
                <a:effectLst/>
                <a:latin typeface="-apple-system"/>
              </a:rPr>
              <a:t>192.168.1.6 </a:t>
            </a:r>
            <a:r>
              <a:rPr lang="zh-CN" altLang="en-US" b="0" i="0" u="none" strike="noStrike" dirty="0">
                <a:effectLst/>
                <a:latin typeface="-apple-system"/>
              </a:rPr>
              <a:t>这个主机存在，说明 </a:t>
            </a:r>
            <a:r>
              <a:rPr lang="en" altLang="zh-CN" b="0" i="0" u="none" strike="noStrike" dirty="0">
                <a:effectLst/>
                <a:latin typeface="-apple-system"/>
              </a:rPr>
              <a:t>ping </a:t>
            </a:r>
            <a:r>
              <a:rPr lang="zh-CN" altLang="en-US" b="0" i="0" u="none" strike="noStrike" dirty="0">
                <a:effectLst/>
                <a:latin typeface="-apple-system"/>
              </a:rPr>
              <a:t>成功，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的网络工作正</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常。注意！只能在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 </a:t>
            </a:r>
            <a:r>
              <a:rPr lang="en" altLang="zh-CN" b="0" i="0" u="none" strike="noStrike" dirty="0">
                <a:effectLst/>
                <a:latin typeface="-apple-system"/>
              </a:rPr>
              <a:t>ping </a:t>
            </a:r>
            <a:r>
              <a:rPr lang="zh-CN" altLang="en-US" b="0" i="0" u="none" strike="noStrike" dirty="0">
                <a:effectLst/>
                <a:latin typeface="-apple-system"/>
              </a:rPr>
              <a:t>其他的机器，其他机器不能 </a:t>
            </a:r>
            <a:r>
              <a:rPr lang="en" altLang="zh-CN" b="0" i="0" u="none" strike="noStrike" dirty="0">
                <a:effectLst/>
                <a:latin typeface="-apple-system"/>
              </a:rPr>
              <a:t>ping </a:t>
            </a:r>
            <a:r>
              <a:rPr lang="en" altLang="zh-CN" b="0" i="0" u="none" strike="noStrike" dirty="0" err="1">
                <a:effectLst/>
                <a:latin typeface="-apple-system"/>
              </a:rPr>
              <a:t>uboot</a:t>
            </a:r>
            <a:r>
              <a:rPr lang="zh-CN" altLang="en" b="0" i="0" u="none" strike="noStrike" dirty="0">
                <a:effectLst/>
                <a:latin typeface="-apple-system"/>
              </a:rPr>
              <a:t>，</a:t>
            </a:r>
            <a:r>
              <a:rPr lang="zh-CN" altLang="en-US" b="0" i="0" u="none" strike="noStrike" dirty="0">
                <a:effectLst/>
                <a:latin typeface="-apple-system"/>
              </a:rPr>
              <a:t>因为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没有对 </a:t>
            </a:r>
            <a:r>
              <a:rPr lang="en" altLang="zh-CN" b="0" i="0" u="none" strike="noStrike" dirty="0">
                <a:effectLst/>
                <a:latin typeface="-apple-system"/>
              </a:rPr>
              <a:t>ping</a:t>
            </a:r>
            <a:r>
              <a:rPr lang="zh-CN" altLang="en-US" b="0" i="0" u="none" strike="noStrike" dirty="0">
                <a:effectLst/>
                <a:latin typeface="-apple-system"/>
              </a:rPr>
              <a:t>命令做处理，如果用其他的机器 </a:t>
            </a:r>
            <a:r>
              <a:rPr lang="en" altLang="zh-CN" b="0" i="0" u="none" strike="noStrike" dirty="0">
                <a:effectLst/>
                <a:latin typeface="-apple-system"/>
              </a:rPr>
              <a:t>ping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的话会失败！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(Network File System)</a:t>
            </a:r>
            <a:r>
              <a:rPr lang="zh-CN" altLang="en-US" b="0" i="0" u="none" strike="noStrike" dirty="0">
                <a:effectLst/>
                <a:latin typeface="-apple-system"/>
              </a:rPr>
              <a:t>网络文件系统，通过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可以在计算机之间通过网络来分享资源，比如我们将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镜像和设备树文件放到 </a:t>
            </a:r>
            <a:r>
              <a:rPr lang="en" altLang="zh-CN" b="0" i="0" u="none" strike="noStrike" dirty="0">
                <a:effectLst/>
                <a:latin typeface="-apple-system"/>
              </a:rPr>
              <a:t>Ubuntu </a:t>
            </a:r>
            <a:r>
              <a:rPr lang="zh-CN" altLang="en-US" b="0" i="0" u="none" strike="noStrike" dirty="0">
                <a:effectLst/>
                <a:latin typeface="-apple-system"/>
              </a:rPr>
              <a:t>中，然后在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中使用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命令将 </a:t>
            </a:r>
            <a:r>
              <a:rPr lang="en" altLang="zh-CN" b="0" i="0" u="none" strike="noStrike" dirty="0">
                <a:effectLst/>
                <a:latin typeface="-apple-system"/>
              </a:rPr>
              <a:t>Ubuntu </a:t>
            </a:r>
            <a:r>
              <a:rPr lang="zh-CN" altLang="en-US" b="0" i="0" u="none" strike="noStrike" dirty="0">
                <a:effectLst/>
                <a:latin typeface="-apple-system"/>
              </a:rPr>
              <a:t>中的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镜像和设备树下载到开发板的 </a:t>
            </a:r>
            <a:r>
              <a:rPr lang="en" altLang="zh-CN" b="0" i="0" u="none" strike="noStrike" dirty="0">
                <a:effectLst/>
                <a:latin typeface="-apple-system"/>
              </a:rPr>
              <a:t>DRAM </a:t>
            </a:r>
            <a:r>
              <a:rPr lang="zh-CN" altLang="en-US" b="0" i="0" u="none" strike="noStrike" dirty="0">
                <a:effectLst/>
                <a:latin typeface="-apple-system"/>
              </a:rPr>
              <a:t>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在使用之前需要开启 </a:t>
            </a:r>
            <a:r>
              <a:rPr lang="en" altLang="zh-CN" b="0" i="0" u="none" strike="noStrike" dirty="0">
                <a:effectLst/>
                <a:latin typeface="-apple-system"/>
              </a:rPr>
              <a:t>Ubuntu </a:t>
            </a:r>
            <a:r>
              <a:rPr lang="zh-CN" altLang="en-US" b="0" i="0" u="none" strike="noStrike" dirty="0">
                <a:effectLst/>
                <a:latin typeface="-apple-system"/>
              </a:rPr>
              <a:t>主机的 </a:t>
            </a:r>
            <a:r>
              <a:rPr lang="en" altLang="zh-CN" b="0" i="0" u="none" strike="noStrike" dirty="0">
                <a:effectLst/>
                <a:latin typeface="-apple-system"/>
              </a:rPr>
              <a:t>NFS </a:t>
            </a:r>
            <a:r>
              <a:rPr lang="zh-CN" altLang="en-US" b="0" i="0" u="none" strike="noStrike" dirty="0">
                <a:effectLst/>
                <a:latin typeface="-apple-system"/>
              </a:rPr>
              <a:t>服务，并且要新建一个 </a:t>
            </a:r>
            <a:r>
              <a:rPr lang="en" altLang="zh-CN" b="0" i="0" u="none" strike="noStrike" dirty="0">
                <a:effectLst/>
                <a:latin typeface="-apple-system"/>
              </a:rPr>
              <a:t>NFS </a:t>
            </a:r>
            <a:r>
              <a:rPr lang="zh-CN" altLang="en-US" b="0" i="0" u="none" strike="noStrike" dirty="0">
                <a:effectLst/>
                <a:latin typeface="-apple-system"/>
              </a:rPr>
              <a:t>使用的目录，以后所有要通过</a:t>
            </a:r>
            <a:r>
              <a:rPr lang="en" altLang="zh-CN" b="0" i="0" u="none" strike="noStrike" dirty="0">
                <a:effectLst/>
                <a:latin typeface="-apple-system"/>
              </a:rPr>
              <a:t>NFS </a:t>
            </a:r>
            <a:r>
              <a:rPr lang="zh-CN" altLang="en-US" b="0" i="0" u="none" strike="noStrike" dirty="0">
                <a:effectLst/>
                <a:latin typeface="-apple-system"/>
              </a:rPr>
              <a:t>访问的文件都需要放到这个 </a:t>
            </a:r>
            <a:r>
              <a:rPr lang="en" altLang="zh-CN" b="0" i="0" u="none" strike="noStrike" dirty="0">
                <a:effectLst/>
                <a:latin typeface="-apple-system"/>
              </a:rPr>
              <a:t>NFS </a:t>
            </a:r>
            <a:r>
              <a:rPr lang="zh-CN" altLang="en-US" b="0" i="0" u="none" strike="noStrike" dirty="0">
                <a:effectLst/>
                <a:latin typeface="-apple-system"/>
              </a:rPr>
              <a:t>目录中。</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使用如下命令安装 </a:t>
            </a:r>
            <a:r>
              <a:rPr lang="en" altLang="zh-CN" b="0" i="0" u="none" strike="noStrike" dirty="0">
                <a:effectLst/>
                <a:latin typeface="-apple-system"/>
              </a:rPr>
              <a:t>NFS </a:t>
            </a:r>
            <a:r>
              <a:rPr lang="zh-CN" altLang="en-US" b="0" i="0" u="none" strike="noStrike" dirty="0">
                <a:effectLst/>
                <a:latin typeface="-apple-system"/>
              </a:rPr>
              <a:t>服务：</a:t>
            </a: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命令的作用和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命令一样，都是用于通过网络下载东西到 </a:t>
            </a:r>
            <a:r>
              <a:rPr lang="en" altLang="zh-CN" b="0" i="0" u="none" strike="noStrike" dirty="0">
                <a:effectLst/>
                <a:latin typeface="-apple-system"/>
              </a:rPr>
              <a:t>DRAM </a:t>
            </a:r>
            <a:r>
              <a:rPr lang="zh-CN" altLang="en-US" b="0" i="0" u="none" strike="noStrike" dirty="0">
                <a:effectLst/>
                <a:latin typeface="-apple-system"/>
              </a:rPr>
              <a:t>中，只是 </a:t>
            </a: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命令使用的 </a:t>
            </a:r>
            <a:r>
              <a:rPr lang="en" altLang="zh-CN" b="0" i="0" u="none" strike="noStrike" dirty="0">
                <a:effectLst/>
                <a:latin typeface="-apple-system"/>
              </a:rPr>
              <a:t>TFTP </a:t>
            </a:r>
            <a:r>
              <a:rPr lang="zh-CN" altLang="en-US" b="0" i="0" u="none" strike="noStrike" dirty="0">
                <a:effectLst/>
                <a:latin typeface="-apple-system"/>
              </a:rPr>
              <a:t>协议， </a:t>
            </a:r>
            <a:r>
              <a:rPr lang="en" altLang="zh-CN" b="0" i="0" u="none" strike="noStrike" dirty="0">
                <a:effectLst/>
                <a:latin typeface="-apple-system"/>
              </a:rPr>
              <a:t>Ubuntu </a:t>
            </a:r>
            <a:r>
              <a:rPr lang="zh-CN" altLang="en-US" b="0" i="0" u="none" strike="noStrike" dirty="0">
                <a:effectLst/>
                <a:latin typeface="-apple-system"/>
              </a:rPr>
              <a:t>主机作为 </a:t>
            </a:r>
            <a:r>
              <a:rPr lang="en" altLang="zh-CN" b="0" i="0" u="none" strike="noStrike" dirty="0">
                <a:effectLst/>
                <a:latin typeface="-apple-system"/>
              </a:rPr>
              <a:t>TFTP </a:t>
            </a:r>
            <a:r>
              <a:rPr lang="zh-CN" altLang="en-US" b="0" i="0" u="none" strike="noStrike" dirty="0">
                <a:effectLst/>
                <a:latin typeface="-apple-system"/>
              </a:rPr>
              <a:t>服务器。</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上搭建 </a:t>
            </a:r>
            <a:r>
              <a:rPr lang="en" altLang="zh-CN" b="0" i="0" u="none" strike="noStrike" dirty="0">
                <a:effectLst/>
                <a:latin typeface="-apple-system"/>
              </a:rPr>
              <a:t>TFTP </a:t>
            </a:r>
            <a:r>
              <a:rPr lang="zh-CN" altLang="en-US" b="0" i="0" u="none" strike="noStrike" dirty="0">
                <a:effectLst/>
                <a:latin typeface="-apple-system"/>
              </a:rPr>
              <a:t>服务器，需要安装 </a:t>
            </a:r>
            <a:r>
              <a:rPr lang="en" altLang="zh-CN" b="0" i="0" u="none" strike="noStrike" dirty="0" err="1">
                <a:effectLst/>
                <a:latin typeface="-apple-system"/>
              </a:rPr>
              <a:t>tftp-hpa</a:t>
            </a:r>
            <a:r>
              <a:rPr lang="en" altLang="zh-CN" b="0" i="0" u="none" strike="noStrike" dirty="0">
                <a:effectLst/>
                <a:latin typeface="-apple-system"/>
              </a:rPr>
              <a:t> </a:t>
            </a:r>
            <a:r>
              <a:rPr lang="zh-CN" altLang="en-US" b="0" i="0" u="none" strike="noStrike" dirty="0">
                <a:effectLst/>
                <a:latin typeface="-apple-system"/>
              </a:rPr>
              <a:t>和 </a:t>
            </a:r>
            <a:r>
              <a:rPr lang="en" altLang="zh-CN" b="0" i="0" u="none" strike="noStrike" dirty="0" err="1">
                <a:effectLst/>
                <a:latin typeface="-apple-system"/>
              </a:rPr>
              <a:t>tftpd-hpa</a:t>
            </a:r>
            <a:r>
              <a:rPr lang="zh-CN" altLang="en" b="0" i="0" u="none" strike="noStrike" dirty="0">
                <a:effectLst/>
                <a:latin typeface="-apple-system"/>
              </a:rPr>
              <a:t>，</a:t>
            </a:r>
            <a:r>
              <a:rPr lang="zh-CN" altLang="en-US" b="0" i="0" u="none" strike="noStrike" dirty="0">
                <a:effectLst/>
                <a:latin typeface="-apple-system"/>
              </a:rPr>
              <a:t>命令如下：</a:t>
            </a:r>
          </a:p>
        </p:txBody>
      </p:sp>
      <p:sp>
        <p:nvSpPr>
          <p:cNvPr id="4" name="灯片编号占位符 3"/>
          <p:cNvSpPr>
            <a:spLocks noGrp="1"/>
          </p:cNvSpPr>
          <p:nvPr>
            <p:ph type="sldNum" sz="quarter" idx="5"/>
          </p:nvPr>
        </p:nvSpPr>
        <p:spPr/>
        <p:txBody>
          <a:bodyPr/>
          <a:lstStyle/>
          <a:p>
            <a:fld id="{379CA0D8-6577-48B2-BA77-88519BAFBFDA}" type="slidenum">
              <a:rPr lang="en-JM" smtClean="0"/>
              <a:pPr/>
              <a:t>38</a:t>
            </a:fld>
            <a:endParaRPr lang="en-JM"/>
          </a:p>
        </p:txBody>
      </p:sp>
    </p:spTree>
    <p:extLst>
      <p:ext uri="{BB962C8B-B14F-4D97-AF65-F5344CB8AC3E}">
        <p14:creationId xmlns:p14="http://schemas.microsoft.com/office/powerpoint/2010/main" val="14611237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solidFill>
                  <a:srgbClr val="4D4D4D"/>
                </a:solidFill>
                <a:effectLst/>
                <a:latin typeface="-apple-system"/>
              </a:rPr>
              <a:t>loadAddress</a:t>
            </a:r>
            <a:r>
              <a:rPr lang="en" altLang="zh-CN" b="0" i="0" u="none" strike="noStrike" dirty="0">
                <a:solidFill>
                  <a:srgbClr val="4D4D4D"/>
                </a:solidFill>
                <a:effectLst/>
                <a:latin typeface="-apple-system"/>
              </a:rPr>
              <a:t> </a:t>
            </a:r>
            <a:r>
              <a:rPr lang="zh-CN" altLang="en-US" b="0" i="0" u="none" strike="noStrike" dirty="0">
                <a:solidFill>
                  <a:srgbClr val="4D4D4D"/>
                </a:solidFill>
                <a:effectLst/>
                <a:latin typeface="-apple-system"/>
              </a:rPr>
              <a:t>是要保存的 </a:t>
            </a:r>
            <a:r>
              <a:rPr lang="en" altLang="zh-CN" b="0" i="0" u="none" strike="noStrike" dirty="0">
                <a:solidFill>
                  <a:srgbClr val="4D4D4D"/>
                </a:solidFill>
                <a:effectLst/>
                <a:latin typeface="-apple-system"/>
              </a:rPr>
              <a:t>DRAM </a:t>
            </a:r>
            <a:r>
              <a:rPr lang="zh-CN" altLang="en-US" b="0" i="0" u="none" strike="noStrike" dirty="0">
                <a:solidFill>
                  <a:srgbClr val="4D4D4D"/>
                </a:solidFill>
                <a:effectLst/>
                <a:latin typeface="-apple-system"/>
              </a:rPr>
              <a:t>地址， </a:t>
            </a:r>
            <a:r>
              <a:rPr lang="en-US" altLang="zh-CN" b="0" i="0" u="none" strike="noStrike" dirty="0">
                <a:solidFill>
                  <a:srgbClr val="4D4D4D"/>
                </a:solidFill>
                <a:effectLst/>
                <a:latin typeface="-apple-system"/>
              </a:rPr>
              <a:t>[[</a:t>
            </a:r>
            <a:r>
              <a:rPr lang="en" altLang="zh-CN" b="0" i="0" u="none" strike="noStrike" dirty="0" err="1">
                <a:solidFill>
                  <a:srgbClr val="4D4D4D"/>
                </a:solidFill>
                <a:effectLst/>
                <a:latin typeface="-apple-system"/>
              </a:rPr>
              <a:t>hostIPaddr</a:t>
            </a:r>
            <a:r>
              <a:rPr lang="en" altLang="zh-CN" b="0" i="0" u="none" strike="noStrike" dirty="0">
                <a:solidFill>
                  <a:srgbClr val="4D4D4D"/>
                </a:solidFill>
                <a:effectLst/>
                <a:latin typeface="-apple-system"/>
              </a:rPr>
              <a:t>:]</a:t>
            </a:r>
            <a:r>
              <a:rPr lang="en" altLang="zh-CN" b="0" i="0" u="none" strike="noStrike" dirty="0" err="1">
                <a:solidFill>
                  <a:srgbClr val="4D4D4D"/>
                </a:solidFill>
                <a:effectLst/>
                <a:latin typeface="-apple-system"/>
              </a:rPr>
              <a:t>bootfilename</a:t>
            </a:r>
            <a:r>
              <a:rPr lang="en"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是要下载的文件地址。</a:t>
            </a:r>
            <a:br>
              <a:rPr lang="zh-CN" altLang="en-US" dirty="0"/>
            </a:br>
            <a:r>
              <a:rPr lang="zh-CN" altLang="en-US" b="0" i="0" u="none" strike="noStrike" dirty="0">
                <a:solidFill>
                  <a:srgbClr val="4D4D4D"/>
                </a:solidFill>
                <a:effectLst/>
                <a:latin typeface="-apple-system"/>
              </a:rPr>
              <a:t>比如我们将在下一节编译出的</a:t>
            </a:r>
            <a:r>
              <a:rPr lang="en" altLang="zh-CN" b="0" i="0" u="none" strike="noStrike" dirty="0" err="1">
                <a:solidFill>
                  <a:srgbClr val="4D4D4D"/>
                </a:solidFill>
                <a:effectLst/>
                <a:latin typeface="-apple-system"/>
              </a:rPr>
              <a:t>linux</a:t>
            </a:r>
            <a:r>
              <a:rPr lang="zh-CN" altLang="en-US" b="0" i="0" u="none" strike="noStrike" dirty="0">
                <a:solidFill>
                  <a:srgbClr val="4D4D4D"/>
                </a:solidFill>
                <a:effectLst/>
                <a:latin typeface="-apple-system"/>
              </a:rPr>
              <a:t>内核文件 </a:t>
            </a:r>
            <a:r>
              <a:rPr lang="en" altLang="zh-CN" b="0" i="0" u="none" strike="noStrike" dirty="0" err="1">
                <a:solidFill>
                  <a:srgbClr val="4D4D4D"/>
                </a:solidFill>
                <a:effectLst/>
                <a:latin typeface="-apple-system"/>
              </a:rPr>
              <a:t>zImage</a:t>
            </a:r>
            <a:r>
              <a:rPr lang="en" altLang="zh-CN" b="0" i="0" u="none" strike="noStrike" dirty="0">
                <a:solidFill>
                  <a:srgbClr val="4D4D4D"/>
                </a:solidFill>
                <a:effectLst/>
                <a:latin typeface="-apple-system"/>
              </a:rPr>
              <a:t> </a:t>
            </a:r>
            <a:r>
              <a:rPr lang="zh-CN" altLang="en-US" b="0" i="0" u="none" strike="noStrike" dirty="0">
                <a:solidFill>
                  <a:srgbClr val="4D4D4D"/>
                </a:solidFill>
                <a:effectLst/>
                <a:latin typeface="-apple-system"/>
              </a:rPr>
              <a:t>下载到开发板 </a:t>
            </a:r>
            <a:r>
              <a:rPr lang="en" altLang="zh-CN" b="0" i="0" u="none" strike="noStrike" dirty="0">
                <a:solidFill>
                  <a:srgbClr val="4D4D4D"/>
                </a:solidFill>
                <a:effectLst/>
                <a:latin typeface="-apple-system"/>
              </a:rPr>
              <a:t>DRAM </a:t>
            </a:r>
            <a:r>
              <a:rPr lang="zh-CN" altLang="en-US" b="0" i="0" u="none" strike="noStrike" dirty="0">
                <a:solidFill>
                  <a:srgbClr val="4D4D4D"/>
                </a:solidFill>
                <a:effectLst/>
                <a:latin typeface="-apple-system"/>
              </a:rPr>
              <a:t>的 </a:t>
            </a:r>
            <a:r>
              <a:rPr lang="en-US" altLang="zh-CN" b="0" i="0" u="none" strike="noStrike" dirty="0">
                <a:solidFill>
                  <a:srgbClr val="4D4D4D"/>
                </a:solidFill>
                <a:effectLst/>
                <a:latin typeface="-apple-system"/>
              </a:rPr>
              <a:t>0</a:t>
            </a:r>
            <a:r>
              <a:rPr lang="en" altLang="zh-CN" b="0" i="0" u="none" strike="noStrike" dirty="0">
                <a:solidFill>
                  <a:srgbClr val="4D4D4D"/>
                </a:solidFill>
                <a:effectLst/>
                <a:latin typeface="-apple-system"/>
              </a:rPr>
              <a:t>X80800000 </a:t>
            </a:r>
            <a:r>
              <a:rPr lang="zh-CN" altLang="en-US" b="0" i="0" u="none" strike="noStrike" dirty="0">
                <a:solidFill>
                  <a:srgbClr val="4D4D4D"/>
                </a:solidFill>
                <a:effectLst/>
                <a:latin typeface="-apple-system"/>
              </a:rPr>
              <a:t>地址处，命令如下：</a:t>
            </a: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39</a:t>
            </a:fld>
            <a:endParaRPr lang="en-JM"/>
          </a:p>
        </p:txBody>
      </p:sp>
    </p:spTree>
    <p:extLst>
      <p:ext uri="{BB962C8B-B14F-4D97-AF65-F5344CB8AC3E}">
        <p14:creationId xmlns:p14="http://schemas.microsoft.com/office/powerpoint/2010/main" val="42839752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solidFill>
                  <a:srgbClr val="4D4D4D"/>
                </a:solidFill>
                <a:effectLst/>
                <a:latin typeface="-apple-system"/>
              </a:rPr>
              <a:t>loadAddress</a:t>
            </a:r>
            <a:r>
              <a:rPr lang="en" altLang="zh-CN" b="0" i="0" u="none" strike="noStrike" dirty="0">
                <a:solidFill>
                  <a:srgbClr val="4D4D4D"/>
                </a:solidFill>
                <a:effectLst/>
                <a:latin typeface="-apple-system"/>
              </a:rPr>
              <a:t> </a:t>
            </a:r>
            <a:r>
              <a:rPr lang="zh-CN" altLang="en-US" b="0" i="0" u="none" strike="noStrike" dirty="0">
                <a:solidFill>
                  <a:srgbClr val="4D4D4D"/>
                </a:solidFill>
                <a:effectLst/>
                <a:latin typeface="-apple-system"/>
              </a:rPr>
              <a:t>是要保存的 </a:t>
            </a:r>
            <a:r>
              <a:rPr lang="en" altLang="zh-CN" b="0" i="0" u="none" strike="noStrike" dirty="0">
                <a:solidFill>
                  <a:srgbClr val="4D4D4D"/>
                </a:solidFill>
                <a:effectLst/>
                <a:latin typeface="-apple-system"/>
              </a:rPr>
              <a:t>DRAM </a:t>
            </a:r>
            <a:r>
              <a:rPr lang="zh-CN" altLang="en-US" b="0" i="0" u="none" strike="noStrike" dirty="0">
                <a:solidFill>
                  <a:srgbClr val="4D4D4D"/>
                </a:solidFill>
                <a:effectLst/>
                <a:latin typeface="-apple-system"/>
              </a:rPr>
              <a:t>地址， </a:t>
            </a:r>
            <a:r>
              <a:rPr lang="en-US" altLang="zh-CN" b="0" i="0" u="none" strike="noStrike" dirty="0">
                <a:solidFill>
                  <a:srgbClr val="4D4D4D"/>
                </a:solidFill>
                <a:effectLst/>
                <a:latin typeface="-apple-system"/>
              </a:rPr>
              <a:t>[[</a:t>
            </a:r>
            <a:r>
              <a:rPr lang="en" altLang="zh-CN" b="0" i="0" u="none" strike="noStrike" dirty="0" err="1">
                <a:solidFill>
                  <a:srgbClr val="4D4D4D"/>
                </a:solidFill>
                <a:effectLst/>
                <a:latin typeface="-apple-system"/>
              </a:rPr>
              <a:t>hostIPaddr</a:t>
            </a:r>
            <a:r>
              <a:rPr lang="en" altLang="zh-CN" b="0" i="0" u="none" strike="noStrike" dirty="0">
                <a:solidFill>
                  <a:srgbClr val="4D4D4D"/>
                </a:solidFill>
                <a:effectLst/>
                <a:latin typeface="-apple-system"/>
              </a:rPr>
              <a:t>:]</a:t>
            </a:r>
            <a:r>
              <a:rPr lang="en" altLang="zh-CN" b="0" i="0" u="none" strike="noStrike" dirty="0" err="1">
                <a:solidFill>
                  <a:srgbClr val="4D4D4D"/>
                </a:solidFill>
                <a:effectLst/>
                <a:latin typeface="-apple-system"/>
              </a:rPr>
              <a:t>bootfilename</a:t>
            </a:r>
            <a:r>
              <a:rPr lang="en"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是要下载的文件地址。</a:t>
            </a:r>
            <a:br>
              <a:rPr lang="zh-CN" altLang="en-US" dirty="0"/>
            </a:br>
            <a:r>
              <a:rPr lang="zh-CN" altLang="en-US" b="0" i="0" u="none" strike="noStrike" dirty="0">
                <a:solidFill>
                  <a:srgbClr val="4D4D4D"/>
                </a:solidFill>
                <a:effectLst/>
                <a:latin typeface="-apple-system"/>
              </a:rPr>
              <a:t>比如我们将在下一节编译出的</a:t>
            </a:r>
            <a:r>
              <a:rPr lang="en" altLang="zh-CN" b="0" i="0" u="none" strike="noStrike" dirty="0" err="1">
                <a:solidFill>
                  <a:srgbClr val="4D4D4D"/>
                </a:solidFill>
                <a:effectLst/>
                <a:latin typeface="-apple-system"/>
              </a:rPr>
              <a:t>linux</a:t>
            </a:r>
            <a:r>
              <a:rPr lang="zh-CN" altLang="en-US" b="0" i="0" u="none" strike="noStrike" dirty="0">
                <a:solidFill>
                  <a:srgbClr val="4D4D4D"/>
                </a:solidFill>
                <a:effectLst/>
                <a:latin typeface="-apple-system"/>
              </a:rPr>
              <a:t>内核文件 </a:t>
            </a:r>
            <a:r>
              <a:rPr lang="en" altLang="zh-CN" b="0" i="0" u="none" strike="noStrike" dirty="0" err="1">
                <a:solidFill>
                  <a:srgbClr val="4D4D4D"/>
                </a:solidFill>
                <a:effectLst/>
                <a:latin typeface="-apple-system"/>
              </a:rPr>
              <a:t>zImage</a:t>
            </a:r>
            <a:r>
              <a:rPr lang="en" altLang="zh-CN" b="0" i="0" u="none" strike="noStrike" dirty="0">
                <a:solidFill>
                  <a:srgbClr val="4D4D4D"/>
                </a:solidFill>
                <a:effectLst/>
                <a:latin typeface="-apple-system"/>
              </a:rPr>
              <a:t> </a:t>
            </a:r>
            <a:r>
              <a:rPr lang="zh-CN" altLang="en-US" b="0" i="0" u="none" strike="noStrike" dirty="0">
                <a:solidFill>
                  <a:srgbClr val="4D4D4D"/>
                </a:solidFill>
                <a:effectLst/>
                <a:latin typeface="-apple-system"/>
              </a:rPr>
              <a:t>下载到开发板 </a:t>
            </a:r>
            <a:r>
              <a:rPr lang="en" altLang="zh-CN" b="0" i="0" u="none" strike="noStrike" dirty="0">
                <a:solidFill>
                  <a:srgbClr val="4D4D4D"/>
                </a:solidFill>
                <a:effectLst/>
                <a:latin typeface="-apple-system"/>
              </a:rPr>
              <a:t>DRAM </a:t>
            </a:r>
            <a:r>
              <a:rPr lang="zh-CN" altLang="en-US" b="0" i="0" u="none" strike="noStrike" dirty="0">
                <a:solidFill>
                  <a:srgbClr val="4D4D4D"/>
                </a:solidFill>
                <a:effectLst/>
                <a:latin typeface="-apple-system"/>
              </a:rPr>
              <a:t>的 </a:t>
            </a:r>
            <a:r>
              <a:rPr lang="en-US" altLang="zh-CN" b="0" i="0" u="none" strike="noStrike" dirty="0">
                <a:solidFill>
                  <a:srgbClr val="4D4D4D"/>
                </a:solidFill>
                <a:effectLst/>
                <a:latin typeface="-apple-system"/>
              </a:rPr>
              <a:t>0</a:t>
            </a:r>
            <a:r>
              <a:rPr lang="en" altLang="zh-CN" b="0" i="0" u="none" strike="noStrike" dirty="0">
                <a:solidFill>
                  <a:srgbClr val="4D4D4D"/>
                </a:solidFill>
                <a:effectLst/>
                <a:latin typeface="-apple-system"/>
              </a:rPr>
              <a:t>X80800000 </a:t>
            </a:r>
            <a:r>
              <a:rPr lang="zh-CN" altLang="en-US" b="0" i="0" u="none" strike="noStrike" dirty="0">
                <a:solidFill>
                  <a:srgbClr val="4D4D4D"/>
                </a:solidFill>
                <a:effectLst/>
                <a:latin typeface="-apple-system"/>
              </a:rPr>
              <a:t>地址处，命令如下：</a:t>
            </a: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40</a:t>
            </a:fld>
            <a:endParaRPr lang="en-JM"/>
          </a:p>
        </p:txBody>
      </p:sp>
    </p:spTree>
    <p:extLst>
      <p:ext uri="{BB962C8B-B14F-4D97-AF65-F5344CB8AC3E}">
        <p14:creationId xmlns:p14="http://schemas.microsoft.com/office/powerpoint/2010/main" val="2594229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用于从路由器获取 </a:t>
            </a:r>
            <a:r>
              <a:rPr lang="en" altLang="zh-CN" b="0" i="0" u="none" strike="noStrike" dirty="0">
                <a:effectLst/>
                <a:latin typeface="-apple-system"/>
              </a:rPr>
              <a:t>IP </a:t>
            </a:r>
            <a:r>
              <a:rPr lang="zh-CN" altLang="en-US" b="0" i="0" u="none" strike="noStrike" dirty="0">
                <a:effectLst/>
                <a:latin typeface="-apple-system"/>
              </a:rPr>
              <a:t>地址，前提得开发板连接到路由器上的，如果开发板是和电脑直连的，那么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命令就会失效。直接输入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命令即可通过路由器获取到 </a:t>
            </a:r>
            <a:r>
              <a:rPr lang="en" altLang="zh-CN" b="0" i="0" u="none" strike="noStrike" dirty="0">
                <a:effectLst/>
                <a:latin typeface="-apple-system"/>
              </a:rPr>
              <a:t>IP </a:t>
            </a:r>
            <a:r>
              <a:rPr lang="zh-CN" altLang="en-US" b="0" i="0" u="none" strike="noStrike" dirty="0">
                <a:effectLst/>
                <a:latin typeface="-apple-system"/>
              </a:rPr>
              <a:t>地址</a:t>
            </a:r>
            <a:r>
              <a:rPr lang="en-US" altLang="zh-CN" b="0" i="0" u="none" strike="noStrike" dirty="0">
                <a:effectLst/>
                <a:latin typeface="-apple-system"/>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ping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开发板的网络能否使用，是否可以和服务器</a:t>
            </a:r>
            <a:r>
              <a:rPr lang="en-US" altLang="zh-CN" b="0" i="0" u="none" strike="noStrike" dirty="0">
                <a:effectLst/>
                <a:latin typeface="-apple-system"/>
              </a:rPr>
              <a:t>(</a:t>
            </a:r>
            <a:r>
              <a:rPr lang="en" altLang="zh-CN" b="0" i="0" u="none" strike="noStrike" dirty="0">
                <a:effectLst/>
                <a:latin typeface="-apple-system"/>
              </a:rPr>
              <a:t>Ubuntu </a:t>
            </a:r>
            <a:r>
              <a:rPr lang="zh-CN" altLang="en-US" b="0" i="0" u="none" strike="noStrike" dirty="0">
                <a:effectLst/>
                <a:latin typeface="-apple-system"/>
              </a:rPr>
              <a:t>主机</a:t>
            </a:r>
            <a:r>
              <a:rPr lang="en-US" altLang="zh-CN" b="0" i="0" u="none" strike="noStrike" dirty="0">
                <a:effectLst/>
                <a:latin typeface="-apple-system"/>
              </a:rPr>
              <a:t>)</a:t>
            </a:r>
            <a:r>
              <a:rPr lang="zh-CN" altLang="en-US" b="0" i="0" u="none" strike="noStrike" dirty="0">
                <a:effectLst/>
                <a:latin typeface="-apple-system"/>
              </a:rPr>
              <a:t>进行通信，通过 </a:t>
            </a:r>
            <a:r>
              <a:rPr lang="en" altLang="zh-CN" b="0" i="0" u="none" strike="noStrike" dirty="0">
                <a:effectLst/>
                <a:latin typeface="-apple-system"/>
              </a:rPr>
              <a:t>ping </a:t>
            </a:r>
            <a:r>
              <a:rPr lang="zh-CN" altLang="en-US" b="0" i="0" u="none" strike="noStrike" dirty="0">
                <a:effectLst/>
                <a:latin typeface="-apple-system"/>
              </a:rPr>
              <a:t>命令就可以验证，直接 </a:t>
            </a:r>
            <a:r>
              <a:rPr lang="en" altLang="zh-CN" b="0" i="0" u="none" strike="noStrike" dirty="0">
                <a:effectLst/>
                <a:latin typeface="-apple-system"/>
              </a:rPr>
              <a:t>ping </a:t>
            </a:r>
            <a:r>
              <a:rPr lang="zh-CN" altLang="en-US" b="0" i="0" u="none" strike="noStrike" dirty="0">
                <a:effectLst/>
                <a:latin typeface="-apple-system"/>
              </a:rPr>
              <a:t>服务器的 </a:t>
            </a:r>
            <a:r>
              <a:rPr lang="en" altLang="zh-CN" b="0" i="0" u="none" strike="noStrike" dirty="0">
                <a:effectLst/>
                <a:latin typeface="-apple-system"/>
              </a:rPr>
              <a:t>IP </a:t>
            </a:r>
            <a:r>
              <a:rPr lang="zh-CN" altLang="en-US" b="0" i="0" u="none" strike="noStrike" dirty="0">
                <a:effectLst/>
                <a:latin typeface="-apple-system"/>
              </a:rPr>
              <a:t>地址即可，</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可以看出， </a:t>
            </a:r>
            <a:r>
              <a:rPr lang="en-US" altLang="zh-CN" b="0" i="0" u="none" strike="noStrike" dirty="0">
                <a:effectLst/>
                <a:latin typeface="-apple-system"/>
              </a:rPr>
              <a:t>192.168.1.6 </a:t>
            </a:r>
            <a:r>
              <a:rPr lang="zh-CN" altLang="en-US" b="0" i="0" u="none" strike="noStrike" dirty="0">
                <a:effectLst/>
                <a:latin typeface="-apple-system"/>
              </a:rPr>
              <a:t>这个主机存在，说明 </a:t>
            </a:r>
            <a:r>
              <a:rPr lang="en" altLang="zh-CN" b="0" i="0" u="none" strike="noStrike" dirty="0">
                <a:effectLst/>
                <a:latin typeface="-apple-system"/>
              </a:rPr>
              <a:t>ping </a:t>
            </a:r>
            <a:r>
              <a:rPr lang="zh-CN" altLang="en-US" b="0" i="0" u="none" strike="noStrike" dirty="0">
                <a:effectLst/>
                <a:latin typeface="-apple-system"/>
              </a:rPr>
              <a:t>成功，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的网络工作正</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常。注意！只能在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 </a:t>
            </a:r>
            <a:r>
              <a:rPr lang="en" altLang="zh-CN" b="0" i="0" u="none" strike="noStrike" dirty="0">
                <a:effectLst/>
                <a:latin typeface="-apple-system"/>
              </a:rPr>
              <a:t>ping </a:t>
            </a:r>
            <a:r>
              <a:rPr lang="zh-CN" altLang="en-US" b="0" i="0" u="none" strike="noStrike" dirty="0">
                <a:effectLst/>
                <a:latin typeface="-apple-system"/>
              </a:rPr>
              <a:t>其他的机器，其他机器不能 </a:t>
            </a:r>
            <a:r>
              <a:rPr lang="en" altLang="zh-CN" b="0" i="0" u="none" strike="noStrike" dirty="0">
                <a:effectLst/>
                <a:latin typeface="-apple-system"/>
              </a:rPr>
              <a:t>ping </a:t>
            </a:r>
            <a:r>
              <a:rPr lang="en" altLang="zh-CN" b="0" i="0" u="none" strike="noStrike" dirty="0" err="1">
                <a:effectLst/>
                <a:latin typeface="-apple-system"/>
              </a:rPr>
              <a:t>uboot</a:t>
            </a:r>
            <a:r>
              <a:rPr lang="zh-CN" altLang="en" b="0" i="0" u="none" strike="noStrike" dirty="0">
                <a:effectLst/>
                <a:latin typeface="-apple-system"/>
              </a:rPr>
              <a:t>，</a:t>
            </a:r>
            <a:r>
              <a:rPr lang="zh-CN" altLang="en-US" b="0" i="0" u="none" strike="noStrike" dirty="0">
                <a:effectLst/>
                <a:latin typeface="-apple-system"/>
              </a:rPr>
              <a:t>因为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没有对 </a:t>
            </a:r>
            <a:r>
              <a:rPr lang="en" altLang="zh-CN" b="0" i="0" u="none" strike="noStrike" dirty="0">
                <a:effectLst/>
                <a:latin typeface="-apple-system"/>
              </a:rPr>
              <a:t>ping</a:t>
            </a:r>
            <a:r>
              <a:rPr lang="zh-CN" altLang="en-US" b="0" i="0" u="none" strike="noStrike" dirty="0">
                <a:effectLst/>
                <a:latin typeface="-apple-system"/>
              </a:rPr>
              <a:t>命令做处理，如果用其他的机器 </a:t>
            </a:r>
            <a:r>
              <a:rPr lang="en" altLang="zh-CN" b="0" i="0" u="none" strike="noStrike" dirty="0">
                <a:effectLst/>
                <a:latin typeface="-apple-system"/>
              </a:rPr>
              <a:t>ping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的话会失败！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(Network File System)</a:t>
            </a:r>
            <a:r>
              <a:rPr lang="zh-CN" altLang="en-US" b="0" i="0" u="none" strike="noStrike" dirty="0">
                <a:effectLst/>
                <a:latin typeface="-apple-system"/>
              </a:rPr>
              <a:t>网络文件系统，通过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可以在计算机之间通过网络来分享资源，比如我们将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镜像和设备树文件放到 </a:t>
            </a:r>
            <a:r>
              <a:rPr lang="en" altLang="zh-CN" b="0" i="0" u="none" strike="noStrike" dirty="0">
                <a:effectLst/>
                <a:latin typeface="-apple-system"/>
              </a:rPr>
              <a:t>Ubuntu </a:t>
            </a:r>
            <a:r>
              <a:rPr lang="zh-CN" altLang="en-US" b="0" i="0" u="none" strike="noStrike" dirty="0">
                <a:effectLst/>
                <a:latin typeface="-apple-system"/>
              </a:rPr>
              <a:t>中，然后在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中使用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命令将 </a:t>
            </a:r>
            <a:r>
              <a:rPr lang="en" altLang="zh-CN" b="0" i="0" u="none" strike="noStrike" dirty="0">
                <a:effectLst/>
                <a:latin typeface="-apple-system"/>
              </a:rPr>
              <a:t>Ubuntu </a:t>
            </a:r>
            <a:r>
              <a:rPr lang="zh-CN" altLang="en-US" b="0" i="0" u="none" strike="noStrike" dirty="0">
                <a:effectLst/>
                <a:latin typeface="-apple-system"/>
              </a:rPr>
              <a:t>中的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镜像和设备树下载到开发板的 </a:t>
            </a:r>
            <a:r>
              <a:rPr lang="en" altLang="zh-CN" b="0" i="0" u="none" strike="noStrike" dirty="0">
                <a:effectLst/>
                <a:latin typeface="-apple-system"/>
              </a:rPr>
              <a:t>DRAM </a:t>
            </a:r>
            <a:r>
              <a:rPr lang="zh-CN" altLang="en-US" b="0" i="0" u="none" strike="noStrike" dirty="0">
                <a:effectLst/>
                <a:latin typeface="-apple-system"/>
              </a:rPr>
              <a:t>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在使用之前需要开启 </a:t>
            </a:r>
            <a:r>
              <a:rPr lang="en" altLang="zh-CN" b="0" i="0" u="none" strike="noStrike" dirty="0">
                <a:effectLst/>
                <a:latin typeface="-apple-system"/>
              </a:rPr>
              <a:t>Ubuntu </a:t>
            </a:r>
            <a:r>
              <a:rPr lang="zh-CN" altLang="en-US" b="0" i="0" u="none" strike="noStrike" dirty="0">
                <a:effectLst/>
                <a:latin typeface="-apple-system"/>
              </a:rPr>
              <a:t>主机的 </a:t>
            </a:r>
            <a:r>
              <a:rPr lang="en" altLang="zh-CN" b="0" i="0" u="none" strike="noStrike" dirty="0">
                <a:effectLst/>
                <a:latin typeface="-apple-system"/>
              </a:rPr>
              <a:t>NFS </a:t>
            </a:r>
            <a:r>
              <a:rPr lang="zh-CN" altLang="en-US" b="0" i="0" u="none" strike="noStrike" dirty="0">
                <a:effectLst/>
                <a:latin typeface="-apple-system"/>
              </a:rPr>
              <a:t>服务，并且要新建一个 </a:t>
            </a:r>
            <a:r>
              <a:rPr lang="en" altLang="zh-CN" b="0" i="0" u="none" strike="noStrike" dirty="0">
                <a:effectLst/>
                <a:latin typeface="-apple-system"/>
              </a:rPr>
              <a:t>NFS </a:t>
            </a:r>
            <a:r>
              <a:rPr lang="zh-CN" altLang="en-US" b="0" i="0" u="none" strike="noStrike" dirty="0">
                <a:effectLst/>
                <a:latin typeface="-apple-system"/>
              </a:rPr>
              <a:t>使用的目录，以后所有要通过</a:t>
            </a:r>
            <a:r>
              <a:rPr lang="en" altLang="zh-CN" b="0" i="0" u="none" strike="noStrike" dirty="0">
                <a:effectLst/>
                <a:latin typeface="-apple-system"/>
              </a:rPr>
              <a:t>NFS </a:t>
            </a:r>
            <a:r>
              <a:rPr lang="zh-CN" altLang="en-US" b="0" i="0" u="none" strike="noStrike" dirty="0">
                <a:effectLst/>
                <a:latin typeface="-apple-system"/>
              </a:rPr>
              <a:t>访问的文件都需要放到这个 </a:t>
            </a:r>
            <a:r>
              <a:rPr lang="en" altLang="zh-CN" b="0" i="0" u="none" strike="noStrike" dirty="0">
                <a:effectLst/>
                <a:latin typeface="-apple-system"/>
              </a:rPr>
              <a:t>NFS </a:t>
            </a:r>
            <a:r>
              <a:rPr lang="zh-CN" altLang="en-US" b="0" i="0" u="none" strike="noStrike" dirty="0">
                <a:effectLst/>
                <a:latin typeface="-apple-system"/>
              </a:rPr>
              <a:t>目录中。</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使用如下命令安装 </a:t>
            </a:r>
            <a:r>
              <a:rPr lang="en" altLang="zh-CN" b="0" i="0" u="none" strike="noStrike" dirty="0">
                <a:effectLst/>
                <a:latin typeface="-apple-system"/>
              </a:rPr>
              <a:t>NFS </a:t>
            </a:r>
            <a:r>
              <a:rPr lang="zh-CN" altLang="en-US" b="0" i="0" u="none" strike="noStrike" dirty="0">
                <a:effectLst/>
                <a:latin typeface="-apple-system"/>
              </a:rPr>
              <a:t>服务：</a:t>
            </a: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命令的作用和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命令一样，都是用于通过网络下载东西到 </a:t>
            </a:r>
            <a:r>
              <a:rPr lang="en" altLang="zh-CN" b="0" i="0" u="none" strike="noStrike" dirty="0">
                <a:effectLst/>
                <a:latin typeface="-apple-system"/>
              </a:rPr>
              <a:t>DRAM </a:t>
            </a:r>
            <a:r>
              <a:rPr lang="zh-CN" altLang="en-US" b="0" i="0" u="none" strike="noStrike" dirty="0">
                <a:effectLst/>
                <a:latin typeface="-apple-system"/>
              </a:rPr>
              <a:t>中，只是 </a:t>
            </a: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命令使用的 </a:t>
            </a:r>
            <a:r>
              <a:rPr lang="en" altLang="zh-CN" b="0" i="0" u="none" strike="noStrike" dirty="0">
                <a:effectLst/>
                <a:latin typeface="-apple-system"/>
              </a:rPr>
              <a:t>TFTP </a:t>
            </a:r>
            <a:r>
              <a:rPr lang="zh-CN" altLang="en-US" b="0" i="0" u="none" strike="noStrike" dirty="0">
                <a:effectLst/>
                <a:latin typeface="-apple-system"/>
              </a:rPr>
              <a:t>协议， </a:t>
            </a:r>
            <a:r>
              <a:rPr lang="en" altLang="zh-CN" b="0" i="0" u="none" strike="noStrike" dirty="0">
                <a:effectLst/>
                <a:latin typeface="-apple-system"/>
              </a:rPr>
              <a:t>Ubuntu </a:t>
            </a:r>
            <a:r>
              <a:rPr lang="zh-CN" altLang="en-US" b="0" i="0" u="none" strike="noStrike" dirty="0">
                <a:effectLst/>
                <a:latin typeface="-apple-system"/>
              </a:rPr>
              <a:t>主机作为 </a:t>
            </a:r>
            <a:r>
              <a:rPr lang="en" altLang="zh-CN" b="0" i="0" u="none" strike="noStrike" dirty="0">
                <a:effectLst/>
                <a:latin typeface="-apple-system"/>
              </a:rPr>
              <a:t>TFTP </a:t>
            </a:r>
            <a:r>
              <a:rPr lang="zh-CN" altLang="en-US" b="0" i="0" u="none" strike="noStrike" dirty="0">
                <a:effectLst/>
                <a:latin typeface="-apple-system"/>
              </a:rPr>
              <a:t>服务器。</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上搭建 </a:t>
            </a:r>
            <a:r>
              <a:rPr lang="en" altLang="zh-CN" b="0" i="0" u="none" strike="noStrike" dirty="0">
                <a:effectLst/>
                <a:latin typeface="-apple-system"/>
              </a:rPr>
              <a:t>TFTP </a:t>
            </a:r>
            <a:r>
              <a:rPr lang="zh-CN" altLang="en-US" b="0" i="0" u="none" strike="noStrike" dirty="0">
                <a:effectLst/>
                <a:latin typeface="-apple-system"/>
              </a:rPr>
              <a:t>服务器，需要安装 </a:t>
            </a:r>
            <a:r>
              <a:rPr lang="en" altLang="zh-CN" b="0" i="0" u="none" strike="noStrike" dirty="0" err="1">
                <a:effectLst/>
                <a:latin typeface="-apple-system"/>
              </a:rPr>
              <a:t>tftp-hpa</a:t>
            </a:r>
            <a:r>
              <a:rPr lang="en" altLang="zh-CN" b="0" i="0" u="none" strike="noStrike" dirty="0">
                <a:effectLst/>
                <a:latin typeface="-apple-system"/>
              </a:rPr>
              <a:t> </a:t>
            </a:r>
            <a:r>
              <a:rPr lang="zh-CN" altLang="en-US" b="0" i="0" u="none" strike="noStrike" dirty="0">
                <a:effectLst/>
                <a:latin typeface="-apple-system"/>
              </a:rPr>
              <a:t>和 </a:t>
            </a:r>
            <a:r>
              <a:rPr lang="en" altLang="zh-CN" b="0" i="0" u="none" strike="noStrike" dirty="0" err="1">
                <a:effectLst/>
                <a:latin typeface="-apple-system"/>
              </a:rPr>
              <a:t>tftpd-hpa</a:t>
            </a:r>
            <a:r>
              <a:rPr lang="zh-CN" altLang="en" b="0" i="0" u="none" strike="noStrike" dirty="0">
                <a:effectLst/>
                <a:latin typeface="-apple-system"/>
              </a:rPr>
              <a:t>，</a:t>
            </a:r>
            <a:r>
              <a:rPr lang="zh-CN" altLang="en-US" b="0" i="0" u="none" strike="noStrike" dirty="0">
                <a:effectLst/>
                <a:latin typeface="-apple-system"/>
              </a:rPr>
              <a:t>命令如下：</a:t>
            </a:r>
          </a:p>
        </p:txBody>
      </p:sp>
      <p:sp>
        <p:nvSpPr>
          <p:cNvPr id="4" name="灯片编号占位符 3"/>
          <p:cNvSpPr>
            <a:spLocks noGrp="1"/>
          </p:cNvSpPr>
          <p:nvPr>
            <p:ph type="sldNum" sz="quarter" idx="5"/>
          </p:nvPr>
        </p:nvSpPr>
        <p:spPr/>
        <p:txBody>
          <a:bodyPr/>
          <a:lstStyle/>
          <a:p>
            <a:fld id="{379CA0D8-6577-48B2-BA77-88519BAFBFDA}" type="slidenum">
              <a:rPr lang="en-JM" smtClean="0"/>
              <a:pPr/>
              <a:t>41</a:t>
            </a:fld>
            <a:endParaRPr lang="en-JM"/>
          </a:p>
        </p:txBody>
      </p:sp>
    </p:spTree>
    <p:extLst>
      <p:ext uri="{BB962C8B-B14F-4D97-AF65-F5344CB8AC3E}">
        <p14:creationId xmlns:p14="http://schemas.microsoft.com/office/powerpoint/2010/main" val="36896982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用于从路由器获取 </a:t>
            </a:r>
            <a:r>
              <a:rPr lang="en" altLang="zh-CN" b="0" i="0" u="none" strike="noStrike" dirty="0">
                <a:effectLst/>
                <a:latin typeface="-apple-system"/>
              </a:rPr>
              <a:t>IP </a:t>
            </a:r>
            <a:r>
              <a:rPr lang="zh-CN" altLang="en-US" b="0" i="0" u="none" strike="noStrike" dirty="0">
                <a:effectLst/>
                <a:latin typeface="-apple-system"/>
              </a:rPr>
              <a:t>地址，前提得开发板连接到路由器上的，如果开发板是和电脑直连的，那么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命令就会失效。直接输入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命令即可通过路由器获取到 </a:t>
            </a:r>
            <a:r>
              <a:rPr lang="en" altLang="zh-CN" b="0" i="0" u="none" strike="noStrike" dirty="0">
                <a:effectLst/>
                <a:latin typeface="-apple-system"/>
              </a:rPr>
              <a:t>IP </a:t>
            </a:r>
            <a:r>
              <a:rPr lang="zh-CN" altLang="en-US" b="0" i="0" u="none" strike="noStrike" dirty="0">
                <a:effectLst/>
                <a:latin typeface="-apple-system"/>
              </a:rPr>
              <a:t>地址</a:t>
            </a:r>
            <a:r>
              <a:rPr lang="en-US" altLang="zh-CN" b="0" i="0" u="none" strike="noStrike" dirty="0">
                <a:effectLst/>
                <a:latin typeface="-apple-system"/>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ping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开发板的网络能否使用，是否可以和服务器</a:t>
            </a:r>
            <a:r>
              <a:rPr lang="en-US" altLang="zh-CN" b="0" i="0" u="none" strike="noStrike" dirty="0">
                <a:effectLst/>
                <a:latin typeface="-apple-system"/>
              </a:rPr>
              <a:t>(</a:t>
            </a:r>
            <a:r>
              <a:rPr lang="en" altLang="zh-CN" b="0" i="0" u="none" strike="noStrike" dirty="0">
                <a:effectLst/>
                <a:latin typeface="-apple-system"/>
              </a:rPr>
              <a:t>Ubuntu </a:t>
            </a:r>
            <a:r>
              <a:rPr lang="zh-CN" altLang="en-US" b="0" i="0" u="none" strike="noStrike" dirty="0">
                <a:effectLst/>
                <a:latin typeface="-apple-system"/>
              </a:rPr>
              <a:t>主机</a:t>
            </a:r>
            <a:r>
              <a:rPr lang="en-US" altLang="zh-CN" b="0" i="0" u="none" strike="noStrike" dirty="0">
                <a:effectLst/>
                <a:latin typeface="-apple-system"/>
              </a:rPr>
              <a:t>)</a:t>
            </a:r>
            <a:r>
              <a:rPr lang="zh-CN" altLang="en-US" b="0" i="0" u="none" strike="noStrike" dirty="0">
                <a:effectLst/>
                <a:latin typeface="-apple-system"/>
              </a:rPr>
              <a:t>进行通信，通过 </a:t>
            </a:r>
            <a:r>
              <a:rPr lang="en" altLang="zh-CN" b="0" i="0" u="none" strike="noStrike" dirty="0">
                <a:effectLst/>
                <a:latin typeface="-apple-system"/>
              </a:rPr>
              <a:t>ping </a:t>
            </a:r>
            <a:r>
              <a:rPr lang="zh-CN" altLang="en-US" b="0" i="0" u="none" strike="noStrike" dirty="0">
                <a:effectLst/>
                <a:latin typeface="-apple-system"/>
              </a:rPr>
              <a:t>命令就可以验证，直接 </a:t>
            </a:r>
            <a:r>
              <a:rPr lang="en" altLang="zh-CN" b="0" i="0" u="none" strike="noStrike" dirty="0">
                <a:effectLst/>
                <a:latin typeface="-apple-system"/>
              </a:rPr>
              <a:t>ping </a:t>
            </a:r>
            <a:r>
              <a:rPr lang="zh-CN" altLang="en-US" b="0" i="0" u="none" strike="noStrike" dirty="0">
                <a:effectLst/>
                <a:latin typeface="-apple-system"/>
              </a:rPr>
              <a:t>服务器的 </a:t>
            </a:r>
            <a:r>
              <a:rPr lang="en" altLang="zh-CN" b="0" i="0" u="none" strike="noStrike" dirty="0">
                <a:effectLst/>
                <a:latin typeface="-apple-system"/>
              </a:rPr>
              <a:t>IP </a:t>
            </a:r>
            <a:r>
              <a:rPr lang="zh-CN" altLang="en-US" b="0" i="0" u="none" strike="noStrike" dirty="0">
                <a:effectLst/>
                <a:latin typeface="-apple-system"/>
              </a:rPr>
              <a:t>地址即可，</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可以看出， </a:t>
            </a:r>
            <a:r>
              <a:rPr lang="en-US" altLang="zh-CN" b="0" i="0" u="none" strike="noStrike" dirty="0">
                <a:effectLst/>
                <a:latin typeface="-apple-system"/>
              </a:rPr>
              <a:t>192.168.1.6 </a:t>
            </a:r>
            <a:r>
              <a:rPr lang="zh-CN" altLang="en-US" b="0" i="0" u="none" strike="noStrike" dirty="0">
                <a:effectLst/>
                <a:latin typeface="-apple-system"/>
              </a:rPr>
              <a:t>这个主机存在，说明 </a:t>
            </a:r>
            <a:r>
              <a:rPr lang="en" altLang="zh-CN" b="0" i="0" u="none" strike="noStrike" dirty="0">
                <a:effectLst/>
                <a:latin typeface="-apple-system"/>
              </a:rPr>
              <a:t>ping </a:t>
            </a:r>
            <a:r>
              <a:rPr lang="zh-CN" altLang="en-US" b="0" i="0" u="none" strike="noStrike" dirty="0">
                <a:effectLst/>
                <a:latin typeface="-apple-system"/>
              </a:rPr>
              <a:t>成功，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的网络工作正</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常。注意！只能在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 </a:t>
            </a:r>
            <a:r>
              <a:rPr lang="en" altLang="zh-CN" b="0" i="0" u="none" strike="noStrike" dirty="0">
                <a:effectLst/>
                <a:latin typeface="-apple-system"/>
              </a:rPr>
              <a:t>ping </a:t>
            </a:r>
            <a:r>
              <a:rPr lang="zh-CN" altLang="en-US" b="0" i="0" u="none" strike="noStrike" dirty="0">
                <a:effectLst/>
                <a:latin typeface="-apple-system"/>
              </a:rPr>
              <a:t>其他的机器，其他机器不能 </a:t>
            </a:r>
            <a:r>
              <a:rPr lang="en" altLang="zh-CN" b="0" i="0" u="none" strike="noStrike" dirty="0">
                <a:effectLst/>
                <a:latin typeface="-apple-system"/>
              </a:rPr>
              <a:t>ping </a:t>
            </a:r>
            <a:r>
              <a:rPr lang="en" altLang="zh-CN" b="0" i="0" u="none" strike="noStrike" dirty="0" err="1">
                <a:effectLst/>
                <a:latin typeface="-apple-system"/>
              </a:rPr>
              <a:t>uboot</a:t>
            </a:r>
            <a:r>
              <a:rPr lang="zh-CN" altLang="en" b="0" i="0" u="none" strike="noStrike" dirty="0">
                <a:effectLst/>
                <a:latin typeface="-apple-system"/>
              </a:rPr>
              <a:t>，</a:t>
            </a:r>
            <a:r>
              <a:rPr lang="zh-CN" altLang="en-US" b="0" i="0" u="none" strike="noStrike" dirty="0">
                <a:effectLst/>
                <a:latin typeface="-apple-system"/>
              </a:rPr>
              <a:t>因为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没有对 </a:t>
            </a:r>
            <a:r>
              <a:rPr lang="en" altLang="zh-CN" b="0" i="0" u="none" strike="noStrike" dirty="0">
                <a:effectLst/>
                <a:latin typeface="-apple-system"/>
              </a:rPr>
              <a:t>ping</a:t>
            </a:r>
            <a:r>
              <a:rPr lang="zh-CN" altLang="en-US" b="0" i="0" u="none" strike="noStrike" dirty="0">
                <a:effectLst/>
                <a:latin typeface="-apple-system"/>
              </a:rPr>
              <a:t>命令做处理，如果用其他的机器 </a:t>
            </a:r>
            <a:r>
              <a:rPr lang="en" altLang="zh-CN" b="0" i="0" u="none" strike="noStrike" dirty="0">
                <a:effectLst/>
                <a:latin typeface="-apple-system"/>
              </a:rPr>
              <a:t>ping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的话会失败！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(Network File System)</a:t>
            </a:r>
            <a:r>
              <a:rPr lang="zh-CN" altLang="en-US" b="0" i="0" u="none" strike="noStrike" dirty="0">
                <a:effectLst/>
                <a:latin typeface="-apple-system"/>
              </a:rPr>
              <a:t>网络文件系统，通过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可以在计算机之间通过网络来分享资源，比如我们将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镜像和设备树文件放到 </a:t>
            </a:r>
            <a:r>
              <a:rPr lang="en" altLang="zh-CN" b="0" i="0" u="none" strike="noStrike" dirty="0">
                <a:effectLst/>
                <a:latin typeface="-apple-system"/>
              </a:rPr>
              <a:t>Ubuntu </a:t>
            </a:r>
            <a:r>
              <a:rPr lang="zh-CN" altLang="en-US" b="0" i="0" u="none" strike="noStrike" dirty="0">
                <a:effectLst/>
                <a:latin typeface="-apple-system"/>
              </a:rPr>
              <a:t>中，然后在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中使用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命令将 </a:t>
            </a:r>
            <a:r>
              <a:rPr lang="en" altLang="zh-CN" b="0" i="0" u="none" strike="noStrike" dirty="0">
                <a:effectLst/>
                <a:latin typeface="-apple-system"/>
              </a:rPr>
              <a:t>Ubuntu </a:t>
            </a:r>
            <a:r>
              <a:rPr lang="zh-CN" altLang="en-US" b="0" i="0" u="none" strike="noStrike" dirty="0">
                <a:effectLst/>
                <a:latin typeface="-apple-system"/>
              </a:rPr>
              <a:t>中的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镜像和设备树下载到开发板的 </a:t>
            </a:r>
            <a:r>
              <a:rPr lang="en" altLang="zh-CN" b="0" i="0" u="none" strike="noStrike" dirty="0">
                <a:effectLst/>
                <a:latin typeface="-apple-system"/>
              </a:rPr>
              <a:t>DRAM </a:t>
            </a:r>
            <a:r>
              <a:rPr lang="zh-CN" altLang="en-US" b="0" i="0" u="none" strike="noStrike" dirty="0">
                <a:effectLst/>
                <a:latin typeface="-apple-system"/>
              </a:rPr>
              <a:t>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在使用之前需要开启 </a:t>
            </a:r>
            <a:r>
              <a:rPr lang="en" altLang="zh-CN" b="0" i="0" u="none" strike="noStrike" dirty="0">
                <a:effectLst/>
                <a:latin typeface="-apple-system"/>
              </a:rPr>
              <a:t>Ubuntu </a:t>
            </a:r>
            <a:r>
              <a:rPr lang="zh-CN" altLang="en-US" b="0" i="0" u="none" strike="noStrike" dirty="0">
                <a:effectLst/>
                <a:latin typeface="-apple-system"/>
              </a:rPr>
              <a:t>主机的 </a:t>
            </a:r>
            <a:r>
              <a:rPr lang="en" altLang="zh-CN" b="0" i="0" u="none" strike="noStrike" dirty="0">
                <a:effectLst/>
                <a:latin typeface="-apple-system"/>
              </a:rPr>
              <a:t>NFS </a:t>
            </a:r>
            <a:r>
              <a:rPr lang="zh-CN" altLang="en-US" b="0" i="0" u="none" strike="noStrike" dirty="0">
                <a:effectLst/>
                <a:latin typeface="-apple-system"/>
              </a:rPr>
              <a:t>服务，并且要新建一个 </a:t>
            </a:r>
            <a:r>
              <a:rPr lang="en" altLang="zh-CN" b="0" i="0" u="none" strike="noStrike" dirty="0">
                <a:effectLst/>
                <a:latin typeface="-apple-system"/>
              </a:rPr>
              <a:t>NFS </a:t>
            </a:r>
            <a:r>
              <a:rPr lang="zh-CN" altLang="en-US" b="0" i="0" u="none" strike="noStrike" dirty="0">
                <a:effectLst/>
                <a:latin typeface="-apple-system"/>
              </a:rPr>
              <a:t>使用的目录，以后所有要通过</a:t>
            </a:r>
            <a:r>
              <a:rPr lang="en" altLang="zh-CN" b="0" i="0" u="none" strike="noStrike" dirty="0">
                <a:effectLst/>
                <a:latin typeface="-apple-system"/>
              </a:rPr>
              <a:t>NFS </a:t>
            </a:r>
            <a:r>
              <a:rPr lang="zh-CN" altLang="en-US" b="0" i="0" u="none" strike="noStrike" dirty="0">
                <a:effectLst/>
                <a:latin typeface="-apple-system"/>
              </a:rPr>
              <a:t>访问的文件都需要放到这个 </a:t>
            </a:r>
            <a:r>
              <a:rPr lang="en" altLang="zh-CN" b="0" i="0" u="none" strike="noStrike" dirty="0">
                <a:effectLst/>
                <a:latin typeface="-apple-system"/>
              </a:rPr>
              <a:t>NFS </a:t>
            </a:r>
            <a:r>
              <a:rPr lang="zh-CN" altLang="en-US" b="0" i="0" u="none" strike="noStrike" dirty="0">
                <a:effectLst/>
                <a:latin typeface="-apple-system"/>
              </a:rPr>
              <a:t>目录中。</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使用如下命令安装 </a:t>
            </a:r>
            <a:r>
              <a:rPr lang="en" altLang="zh-CN" b="0" i="0" u="none" strike="noStrike" dirty="0">
                <a:effectLst/>
                <a:latin typeface="-apple-system"/>
              </a:rPr>
              <a:t>NFS </a:t>
            </a:r>
            <a:r>
              <a:rPr lang="zh-CN" altLang="en-US" b="0" i="0" u="none" strike="noStrike" dirty="0">
                <a:effectLst/>
                <a:latin typeface="-apple-system"/>
              </a:rPr>
              <a:t>服务：</a:t>
            </a: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命令的作用和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命令一样，都是用于通过网络下载东西到 </a:t>
            </a:r>
            <a:r>
              <a:rPr lang="en" altLang="zh-CN" b="0" i="0" u="none" strike="noStrike" dirty="0">
                <a:effectLst/>
                <a:latin typeface="-apple-system"/>
              </a:rPr>
              <a:t>DRAM </a:t>
            </a:r>
            <a:r>
              <a:rPr lang="zh-CN" altLang="en-US" b="0" i="0" u="none" strike="noStrike" dirty="0">
                <a:effectLst/>
                <a:latin typeface="-apple-system"/>
              </a:rPr>
              <a:t>中，只是 </a:t>
            </a: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命令使用的 </a:t>
            </a:r>
            <a:r>
              <a:rPr lang="en" altLang="zh-CN" b="0" i="0" u="none" strike="noStrike" dirty="0">
                <a:effectLst/>
                <a:latin typeface="-apple-system"/>
              </a:rPr>
              <a:t>TFTP </a:t>
            </a:r>
            <a:r>
              <a:rPr lang="zh-CN" altLang="en-US" b="0" i="0" u="none" strike="noStrike" dirty="0">
                <a:effectLst/>
                <a:latin typeface="-apple-system"/>
              </a:rPr>
              <a:t>协议， </a:t>
            </a:r>
            <a:r>
              <a:rPr lang="en" altLang="zh-CN" b="0" i="0" u="none" strike="noStrike" dirty="0">
                <a:effectLst/>
                <a:latin typeface="-apple-system"/>
              </a:rPr>
              <a:t>Ubuntu </a:t>
            </a:r>
            <a:r>
              <a:rPr lang="zh-CN" altLang="en-US" b="0" i="0" u="none" strike="noStrike" dirty="0">
                <a:effectLst/>
                <a:latin typeface="-apple-system"/>
              </a:rPr>
              <a:t>主机作为 </a:t>
            </a:r>
            <a:r>
              <a:rPr lang="en" altLang="zh-CN" b="0" i="0" u="none" strike="noStrike" dirty="0">
                <a:effectLst/>
                <a:latin typeface="-apple-system"/>
              </a:rPr>
              <a:t>TFTP </a:t>
            </a:r>
            <a:r>
              <a:rPr lang="zh-CN" altLang="en-US" b="0" i="0" u="none" strike="noStrike" dirty="0">
                <a:effectLst/>
                <a:latin typeface="-apple-system"/>
              </a:rPr>
              <a:t>服务器。</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上搭建 </a:t>
            </a:r>
            <a:r>
              <a:rPr lang="en" altLang="zh-CN" b="0" i="0" u="none" strike="noStrike" dirty="0">
                <a:effectLst/>
                <a:latin typeface="-apple-system"/>
              </a:rPr>
              <a:t>TFTP </a:t>
            </a:r>
            <a:r>
              <a:rPr lang="zh-CN" altLang="en-US" b="0" i="0" u="none" strike="noStrike" dirty="0">
                <a:effectLst/>
                <a:latin typeface="-apple-system"/>
              </a:rPr>
              <a:t>服务器，需要安装 </a:t>
            </a:r>
            <a:r>
              <a:rPr lang="en" altLang="zh-CN" b="0" i="0" u="none" strike="noStrike" dirty="0" err="1">
                <a:effectLst/>
                <a:latin typeface="-apple-system"/>
              </a:rPr>
              <a:t>tftp-hpa</a:t>
            </a:r>
            <a:r>
              <a:rPr lang="en" altLang="zh-CN" b="0" i="0" u="none" strike="noStrike" dirty="0">
                <a:effectLst/>
                <a:latin typeface="-apple-system"/>
              </a:rPr>
              <a:t> </a:t>
            </a:r>
            <a:r>
              <a:rPr lang="zh-CN" altLang="en-US" b="0" i="0" u="none" strike="noStrike" dirty="0">
                <a:effectLst/>
                <a:latin typeface="-apple-system"/>
              </a:rPr>
              <a:t>和 </a:t>
            </a:r>
            <a:r>
              <a:rPr lang="en" altLang="zh-CN" b="0" i="0" u="none" strike="noStrike" dirty="0" err="1">
                <a:effectLst/>
                <a:latin typeface="-apple-system"/>
              </a:rPr>
              <a:t>tftpd-hpa</a:t>
            </a:r>
            <a:r>
              <a:rPr lang="zh-CN" altLang="en" b="0" i="0" u="none" strike="noStrike" dirty="0">
                <a:effectLst/>
                <a:latin typeface="-apple-system"/>
              </a:rPr>
              <a:t>，</a:t>
            </a:r>
            <a:r>
              <a:rPr lang="zh-CN" altLang="en-US" b="0" i="0" u="none" strike="noStrike" dirty="0">
                <a:effectLst/>
                <a:latin typeface="-apple-system"/>
              </a:rPr>
              <a:t>命令如下：</a:t>
            </a:r>
          </a:p>
        </p:txBody>
      </p:sp>
      <p:sp>
        <p:nvSpPr>
          <p:cNvPr id="4" name="灯片编号占位符 3"/>
          <p:cNvSpPr>
            <a:spLocks noGrp="1"/>
          </p:cNvSpPr>
          <p:nvPr>
            <p:ph type="sldNum" sz="quarter" idx="5"/>
          </p:nvPr>
        </p:nvSpPr>
        <p:spPr/>
        <p:txBody>
          <a:bodyPr/>
          <a:lstStyle/>
          <a:p>
            <a:fld id="{379CA0D8-6577-48B2-BA77-88519BAFBFDA}" type="slidenum">
              <a:rPr lang="en-JM" smtClean="0"/>
              <a:pPr/>
              <a:t>42</a:t>
            </a:fld>
            <a:endParaRPr lang="en-JM"/>
          </a:p>
        </p:txBody>
      </p:sp>
    </p:spTree>
    <p:extLst>
      <p:ext uri="{BB962C8B-B14F-4D97-AF65-F5344CB8AC3E}">
        <p14:creationId xmlns:p14="http://schemas.microsoft.com/office/powerpoint/2010/main" val="5132109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用于从路由器获取 </a:t>
            </a:r>
            <a:r>
              <a:rPr lang="en" altLang="zh-CN" b="0" i="0" u="none" strike="noStrike" dirty="0">
                <a:effectLst/>
                <a:latin typeface="-apple-system"/>
              </a:rPr>
              <a:t>IP </a:t>
            </a:r>
            <a:r>
              <a:rPr lang="zh-CN" altLang="en-US" b="0" i="0" u="none" strike="noStrike" dirty="0">
                <a:effectLst/>
                <a:latin typeface="-apple-system"/>
              </a:rPr>
              <a:t>地址，前提得开发板连接到路由器上的，如果开发板是和电脑直连的，那么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命令就会失效。直接输入 </a:t>
            </a:r>
            <a:r>
              <a:rPr lang="en" altLang="zh-CN" b="0" i="0" u="none" strike="noStrike" dirty="0" err="1">
                <a:effectLst/>
                <a:latin typeface="-apple-system"/>
              </a:rPr>
              <a:t>dhcp</a:t>
            </a:r>
            <a:r>
              <a:rPr lang="en" altLang="zh-CN" b="0" i="0" u="none" strike="noStrike" dirty="0">
                <a:effectLst/>
                <a:latin typeface="-apple-system"/>
              </a:rPr>
              <a:t> </a:t>
            </a:r>
            <a:r>
              <a:rPr lang="zh-CN" altLang="en-US" b="0" i="0" u="none" strike="noStrike" dirty="0">
                <a:effectLst/>
                <a:latin typeface="-apple-system"/>
              </a:rPr>
              <a:t>命令即可通过路由器获取到 </a:t>
            </a:r>
            <a:r>
              <a:rPr lang="en" altLang="zh-CN" b="0" i="0" u="none" strike="noStrike" dirty="0">
                <a:effectLst/>
                <a:latin typeface="-apple-system"/>
              </a:rPr>
              <a:t>IP </a:t>
            </a:r>
            <a:r>
              <a:rPr lang="zh-CN" altLang="en-US" b="0" i="0" u="none" strike="noStrike" dirty="0">
                <a:effectLst/>
                <a:latin typeface="-apple-system"/>
              </a:rPr>
              <a:t>地址</a:t>
            </a:r>
            <a:r>
              <a:rPr lang="en-US" altLang="zh-CN" b="0" i="0" u="none" strike="noStrike" dirty="0">
                <a:effectLst/>
                <a:latin typeface="-apple-system"/>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ping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开发板的网络能否使用，是否可以和服务器</a:t>
            </a:r>
            <a:r>
              <a:rPr lang="en-US" altLang="zh-CN" b="0" i="0" u="none" strike="noStrike" dirty="0">
                <a:effectLst/>
                <a:latin typeface="-apple-system"/>
              </a:rPr>
              <a:t>(</a:t>
            </a:r>
            <a:r>
              <a:rPr lang="en" altLang="zh-CN" b="0" i="0" u="none" strike="noStrike" dirty="0">
                <a:effectLst/>
                <a:latin typeface="-apple-system"/>
              </a:rPr>
              <a:t>Ubuntu </a:t>
            </a:r>
            <a:r>
              <a:rPr lang="zh-CN" altLang="en-US" b="0" i="0" u="none" strike="noStrike" dirty="0">
                <a:effectLst/>
                <a:latin typeface="-apple-system"/>
              </a:rPr>
              <a:t>主机</a:t>
            </a:r>
            <a:r>
              <a:rPr lang="en-US" altLang="zh-CN" b="0" i="0" u="none" strike="noStrike" dirty="0">
                <a:effectLst/>
                <a:latin typeface="-apple-system"/>
              </a:rPr>
              <a:t>)</a:t>
            </a:r>
            <a:r>
              <a:rPr lang="zh-CN" altLang="en-US" b="0" i="0" u="none" strike="noStrike" dirty="0">
                <a:effectLst/>
                <a:latin typeface="-apple-system"/>
              </a:rPr>
              <a:t>进行通信，通过 </a:t>
            </a:r>
            <a:r>
              <a:rPr lang="en" altLang="zh-CN" b="0" i="0" u="none" strike="noStrike" dirty="0">
                <a:effectLst/>
                <a:latin typeface="-apple-system"/>
              </a:rPr>
              <a:t>ping </a:t>
            </a:r>
            <a:r>
              <a:rPr lang="zh-CN" altLang="en-US" b="0" i="0" u="none" strike="noStrike" dirty="0">
                <a:effectLst/>
                <a:latin typeface="-apple-system"/>
              </a:rPr>
              <a:t>命令就可以验证，直接 </a:t>
            </a:r>
            <a:r>
              <a:rPr lang="en" altLang="zh-CN" b="0" i="0" u="none" strike="noStrike" dirty="0">
                <a:effectLst/>
                <a:latin typeface="-apple-system"/>
              </a:rPr>
              <a:t>ping </a:t>
            </a:r>
            <a:r>
              <a:rPr lang="zh-CN" altLang="en-US" b="0" i="0" u="none" strike="noStrike" dirty="0">
                <a:effectLst/>
                <a:latin typeface="-apple-system"/>
              </a:rPr>
              <a:t>服务器的 </a:t>
            </a:r>
            <a:r>
              <a:rPr lang="en" altLang="zh-CN" b="0" i="0" u="none" strike="noStrike" dirty="0">
                <a:effectLst/>
                <a:latin typeface="-apple-system"/>
              </a:rPr>
              <a:t>IP </a:t>
            </a:r>
            <a:r>
              <a:rPr lang="zh-CN" altLang="en-US" b="0" i="0" u="none" strike="noStrike" dirty="0">
                <a:effectLst/>
                <a:latin typeface="-apple-system"/>
              </a:rPr>
              <a:t>地址即可，</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可以看出， </a:t>
            </a:r>
            <a:r>
              <a:rPr lang="en-US" altLang="zh-CN" b="0" i="0" u="none" strike="noStrike" dirty="0">
                <a:effectLst/>
                <a:latin typeface="-apple-system"/>
              </a:rPr>
              <a:t>192.168.1.6 </a:t>
            </a:r>
            <a:r>
              <a:rPr lang="zh-CN" altLang="en-US" b="0" i="0" u="none" strike="noStrike" dirty="0">
                <a:effectLst/>
                <a:latin typeface="-apple-system"/>
              </a:rPr>
              <a:t>这个主机存在，说明 </a:t>
            </a:r>
            <a:r>
              <a:rPr lang="en" altLang="zh-CN" b="0" i="0" u="none" strike="noStrike" dirty="0">
                <a:effectLst/>
                <a:latin typeface="-apple-system"/>
              </a:rPr>
              <a:t>ping </a:t>
            </a:r>
            <a:r>
              <a:rPr lang="zh-CN" altLang="en-US" b="0" i="0" u="none" strike="noStrike" dirty="0">
                <a:effectLst/>
                <a:latin typeface="-apple-system"/>
              </a:rPr>
              <a:t>成功，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的网络工作正</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常。注意！只能在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 </a:t>
            </a:r>
            <a:r>
              <a:rPr lang="en" altLang="zh-CN" b="0" i="0" u="none" strike="noStrike" dirty="0">
                <a:effectLst/>
                <a:latin typeface="-apple-system"/>
              </a:rPr>
              <a:t>ping </a:t>
            </a:r>
            <a:r>
              <a:rPr lang="zh-CN" altLang="en-US" b="0" i="0" u="none" strike="noStrike" dirty="0">
                <a:effectLst/>
                <a:latin typeface="-apple-system"/>
              </a:rPr>
              <a:t>其他的机器，其他机器不能 </a:t>
            </a:r>
            <a:r>
              <a:rPr lang="en" altLang="zh-CN" b="0" i="0" u="none" strike="noStrike" dirty="0">
                <a:effectLst/>
                <a:latin typeface="-apple-system"/>
              </a:rPr>
              <a:t>ping </a:t>
            </a:r>
            <a:r>
              <a:rPr lang="en" altLang="zh-CN" b="0" i="0" u="none" strike="noStrike" dirty="0" err="1">
                <a:effectLst/>
                <a:latin typeface="-apple-system"/>
              </a:rPr>
              <a:t>uboot</a:t>
            </a:r>
            <a:r>
              <a:rPr lang="zh-CN" altLang="en" b="0" i="0" u="none" strike="noStrike" dirty="0">
                <a:effectLst/>
                <a:latin typeface="-apple-system"/>
              </a:rPr>
              <a:t>，</a:t>
            </a:r>
            <a:r>
              <a:rPr lang="zh-CN" altLang="en-US" b="0" i="0" u="none" strike="noStrike" dirty="0">
                <a:effectLst/>
                <a:latin typeface="-apple-system"/>
              </a:rPr>
              <a:t>因为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没有对 </a:t>
            </a:r>
            <a:r>
              <a:rPr lang="en" altLang="zh-CN" b="0" i="0" u="none" strike="noStrike" dirty="0">
                <a:effectLst/>
                <a:latin typeface="-apple-system"/>
              </a:rPr>
              <a:t>ping</a:t>
            </a:r>
            <a:r>
              <a:rPr lang="zh-CN" altLang="en-US" b="0" i="0" u="none" strike="noStrike" dirty="0">
                <a:effectLst/>
                <a:latin typeface="-apple-system"/>
              </a:rPr>
              <a:t>命令做处理，如果用其他的机器 </a:t>
            </a:r>
            <a:r>
              <a:rPr lang="en" altLang="zh-CN" b="0" i="0" u="none" strike="noStrike" dirty="0">
                <a:effectLst/>
                <a:latin typeface="-apple-system"/>
              </a:rPr>
              <a:t>ping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的话会失败！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nfs</a:t>
            </a:r>
            <a:r>
              <a:rPr lang="en" altLang="zh-CN" b="0" i="0" u="none" strike="noStrike" dirty="0">
                <a:effectLst/>
                <a:latin typeface="-apple-system"/>
              </a:rPr>
              <a:t>(Network File System)</a:t>
            </a:r>
            <a:r>
              <a:rPr lang="zh-CN" altLang="en-US" b="0" i="0" u="none" strike="noStrike" dirty="0">
                <a:effectLst/>
                <a:latin typeface="-apple-system"/>
              </a:rPr>
              <a:t>网络文件系统，通过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可以在计算机之间通过网络来分享资源，比如我们将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镜像和设备树文件放到 </a:t>
            </a:r>
            <a:r>
              <a:rPr lang="en" altLang="zh-CN" b="0" i="0" u="none" strike="noStrike" dirty="0">
                <a:effectLst/>
                <a:latin typeface="-apple-system"/>
              </a:rPr>
              <a:t>Ubuntu </a:t>
            </a:r>
            <a:r>
              <a:rPr lang="zh-CN" altLang="en-US" b="0" i="0" u="none" strike="noStrike" dirty="0">
                <a:effectLst/>
                <a:latin typeface="-apple-system"/>
              </a:rPr>
              <a:t>中，然后在 </a:t>
            </a:r>
            <a:r>
              <a:rPr lang="en" altLang="zh-CN" b="0" i="0" u="none" strike="noStrike" dirty="0" err="1">
                <a:effectLst/>
                <a:latin typeface="-apple-system"/>
              </a:rPr>
              <a:t>uboot</a:t>
            </a:r>
            <a:r>
              <a:rPr lang="en" altLang="zh-CN" b="0" i="0" u="none" strike="noStrike" dirty="0">
                <a:effectLst/>
                <a:latin typeface="-apple-system"/>
              </a:rPr>
              <a:t> </a:t>
            </a:r>
            <a:r>
              <a:rPr lang="zh-CN" altLang="en-US" b="0" i="0" u="none" strike="noStrike" dirty="0">
                <a:effectLst/>
                <a:latin typeface="-apple-system"/>
              </a:rPr>
              <a:t>中使用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命令将 </a:t>
            </a:r>
            <a:r>
              <a:rPr lang="en" altLang="zh-CN" b="0" i="0" u="none" strike="noStrike" dirty="0">
                <a:effectLst/>
                <a:latin typeface="-apple-system"/>
              </a:rPr>
              <a:t>Ubuntu </a:t>
            </a:r>
            <a:r>
              <a:rPr lang="zh-CN" altLang="en-US" b="0" i="0" u="none" strike="noStrike" dirty="0">
                <a:effectLst/>
                <a:latin typeface="-apple-system"/>
              </a:rPr>
              <a:t>中的 </a:t>
            </a:r>
            <a:r>
              <a:rPr lang="en" altLang="zh-CN" b="0" i="0" u="none" strike="noStrike" dirty="0" err="1">
                <a:effectLst/>
                <a:latin typeface="-apple-system"/>
              </a:rPr>
              <a:t>linux</a:t>
            </a:r>
            <a:r>
              <a:rPr lang="en" altLang="zh-CN" b="0" i="0" u="none" strike="noStrike" dirty="0">
                <a:effectLst/>
                <a:latin typeface="-apple-system"/>
              </a:rPr>
              <a:t> </a:t>
            </a:r>
            <a:r>
              <a:rPr lang="zh-CN" altLang="en-US" b="0" i="0" u="none" strike="noStrike" dirty="0">
                <a:effectLst/>
                <a:latin typeface="-apple-system"/>
              </a:rPr>
              <a:t>镜像和设备树下载到开发板的 </a:t>
            </a:r>
            <a:r>
              <a:rPr lang="en" altLang="zh-CN" b="0" i="0" u="none" strike="noStrike" dirty="0">
                <a:effectLst/>
                <a:latin typeface="-apple-system"/>
              </a:rPr>
              <a:t>DRAM </a:t>
            </a:r>
            <a:r>
              <a:rPr lang="zh-CN" altLang="en-US" b="0" i="0" u="none" strike="noStrike" dirty="0">
                <a:effectLst/>
                <a:latin typeface="-apple-system"/>
              </a:rPr>
              <a:t>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latin typeface="-apple-system"/>
              </a:rPr>
              <a:t>在使用之前需要开启 </a:t>
            </a:r>
            <a:r>
              <a:rPr lang="en" altLang="zh-CN" b="0" i="0" u="none" strike="noStrike" dirty="0">
                <a:effectLst/>
                <a:latin typeface="-apple-system"/>
              </a:rPr>
              <a:t>Ubuntu </a:t>
            </a:r>
            <a:r>
              <a:rPr lang="zh-CN" altLang="en-US" b="0" i="0" u="none" strike="noStrike" dirty="0">
                <a:effectLst/>
                <a:latin typeface="-apple-system"/>
              </a:rPr>
              <a:t>主机的 </a:t>
            </a:r>
            <a:r>
              <a:rPr lang="en" altLang="zh-CN" b="0" i="0" u="none" strike="noStrike" dirty="0">
                <a:effectLst/>
                <a:latin typeface="-apple-system"/>
              </a:rPr>
              <a:t>NFS </a:t>
            </a:r>
            <a:r>
              <a:rPr lang="zh-CN" altLang="en-US" b="0" i="0" u="none" strike="noStrike" dirty="0">
                <a:effectLst/>
                <a:latin typeface="-apple-system"/>
              </a:rPr>
              <a:t>服务，并且要新建一个 </a:t>
            </a:r>
            <a:r>
              <a:rPr lang="en" altLang="zh-CN" b="0" i="0" u="none" strike="noStrike" dirty="0">
                <a:effectLst/>
                <a:latin typeface="-apple-system"/>
              </a:rPr>
              <a:t>NFS </a:t>
            </a:r>
            <a:r>
              <a:rPr lang="zh-CN" altLang="en-US" b="0" i="0" u="none" strike="noStrike" dirty="0">
                <a:effectLst/>
                <a:latin typeface="-apple-system"/>
              </a:rPr>
              <a:t>使用的目录，以后所有要通过</a:t>
            </a:r>
            <a:r>
              <a:rPr lang="en" altLang="zh-CN" b="0" i="0" u="none" strike="noStrike" dirty="0">
                <a:effectLst/>
                <a:latin typeface="-apple-system"/>
              </a:rPr>
              <a:t>NFS </a:t>
            </a:r>
            <a:r>
              <a:rPr lang="zh-CN" altLang="en-US" b="0" i="0" u="none" strike="noStrike" dirty="0">
                <a:effectLst/>
                <a:latin typeface="-apple-system"/>
              </a:rPr>
              <a:t>访问的文件都需要放到这个 </a:t>
            </a:r>
            <a:r>
              <a:rPr lang="en" altLang="zh-CN" b="0" i="0" u="none" strike="noStrike" dirty="0">
                <a:effectLst/>
                <a:latin typeface="-apple-system"/>
              </a:rPr>
              <a:t>NFS </a:t>
            </a:r>
            <a:r>
              <a:rPr lang="zh-CN" altLang="en-US" b="0" i="0" u="none" strike="noStrike" dirty="0">
                <a:effectLst/>
                <a:latin typeface="-apple-system"/>
              </a:rPr>
              <a:t>目录中。</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使用如下命令安装 </a:t>
            </a:r>
            <a:r>
              <a:rPr lang="en" altLang="zh-CN" b="0" i="0" u="none" strike="noStrike" dirty="0">
                <a:effectLst/>
                <a:latin typeface="-apple-system"/>
              </a:rPr>
              <a:t>NFS </a:t>
            </a:r>
            <a:r>
              <a:rPr lang="zh-CN" altLang="en-US" b="0" i="0" u="none" strike="noStrike" dirty="0">
                <a:effectLst/>
                <a:latin typeface="-apple-system"/>
              </a:rPr>
              <a:t>服务：</a:t>
            </a: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zh-CN" altLang="en-US" b="0" i="0" u="none" strike="noStrike" dirty="0">
                <a:effectLst/>
                <a:latin typeface="-apple-system"/>
              </a:rPr>
              <a:t>命令</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命令的作用和 </a:t>
            </a:r>
            <a:r>
              <a:rPr lang="en" altLang="zh-CN" b="0" i="0" u="none" strike="noStrike" dirty="0" err="1">
                <a:effectLst/>
                <a:latin typeface="-apple-system"/>
              </a:rPr>
              <a:t>nfs</a:t>
            </a:r>
            <a:r>
              <a:rPr lang="en" altLang="zh-CN" b="0" i="0" u="none" strike="noStrike" dirty="0">
                <a:effectLst/>
                <a:latin typeface="-apple-system"/>
              </a:rPr>
              <a:t> </a:t>
            </a:r>
            <a:r>
              <a:rPr lang="zh-CN" altLang="en-US" b="0" i="0" u="none" strike="noStrike" dirty="0">
                <a:effectLst/>
                <a:latin typeface="-apple-system"/>
              </a:rPr>
              <a:t>命令一样，都是用于通过网络下载东西到 </a:t>
            </a:r>
            <a:r>
              <a:rPr lang="en" altLang="zh-CN" b="0" i="0" u="none" strike="noStrike" dirty="0">
                <a:effectLst/>
                <a:latin typeface="-apple-system"/>
              </a:rPr>
              <a:t>DRAM </a:t>
            </a:r>
            <a:r>
              <a:rPr lang="zh-CN" altLang="en-US" b="0" i="0" u="none" strike="noStrike" dirty="0">
                <a:effectLst/>
                <a:latin typeface="-apple-system"/>
              </a:rPr>
              <a:t>中，只是 </a:t>
            </a:r>
            <a:r>
              <a:rPr lang="en" altLang="zh-CN" b="0" i="0" u="none" strike="noStrike" dirty="0" err="1">
                <a:effectLst/>
                <a:latin typeface="-apple-system"/>
              </a:rPr>
              <a:t>tftp</a:t>
            </a:r>
            <a:r>
              <a:rPr lang="en" altLang="zh-CN" b="0" i="0" u="none" strike="noStrike" dirty="0">
                <a:effectLst/>
                <a:latin typeface="-apple-system"/>
              </a:rPr>
              <a:t> </a:t>
            </a:r>
            <a:r>
              <a:rPr lang="zh-CN" altLang="en-US" b="0" i="0" u="none" strike="noStrike" dirty="0">
                <a:effectLst/>
                <a:latin typeface="-apple-system"/>
              </a:rPr>
              <a:t>命令使用的 </a:t>
            </a:r>
            <a:r>
              <a:rPr lang="en" altLang="zh-CN" b="0" i="0" u="none" strike="noStrike" dirty="0">
                <a:effectLst/>
                <a:latin typeface="-apple-system"/>
              </a:rPr>
              <a:t>TFTP </a:t>
            </a:r>
            <a:r>
              <a:rPr lang="zh-CN" altLang="en-US" b="0" i="0" u="none" strike="noStrike" dirty="0">
                <a:effectLst/>
                <a:latin typeface="-apple-system"/>
              </a:rPr>
              <a:t>协议， </a:t>
            </a:r>
            <a:r>
              <a:rPr lang="en" altLang="zh-CN" b="0" i="0" u="none" strike="noStrike" dirty="0">
                <a:effectLst/>
                <a:latin typeface="-apple-system"/>
              </a:rPr>
              <a:t>Ubuntu </a:t>
            </a:r>
            <a:r>
              <a:rPr lang="zh-CN" altLang="en-US" b="0" i="0" u="none" strike="noStrike" dirty="0">
                <a:effectLst/>
                <a:latin typeface="-apple-system"/>
              </a:rPr>
              <a:t>主机作为 </a:t>
            </a:r>
            <a:r>
              <a:rPr lang="en" altLang="zh-CN" b="0" i="0" u="none" strike="noStrike" dirty="0">
                <a:effectLst/>
                <a:latin typeface="-apple-system"/>
              </a:rPr>
              <a:t>TFTP </a:t>
            </a:r>
            <a:r>
              <a:rPr lang="zh-CN" altLang="en-US" b="0" i="0" u="none" strike="noStrike" dirty="0">
                <a:effectLst/>
                <a:latin typeface="-apple-system"/>
              </a:rPr>
              <a:t>服务器。</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u="none" strike="noStrike" dirty="0">
                <a:effectLst/>
                <a:latin typeface="-apple-system"/>
              </a:rPr>
              <a:t>Ubuntu </a:t>
            </a:r>
            <a:r>
              <a:rPr lang="zh-CN" altLang="en-US" b="0" i="0" u="none" strike="noStrike" dirty="0">
                <a:effectLst/>
                <a:latin typeface="-apple-system"/>
              </a:rPr>
              <a:t>上搭建 </a:t>
            </a:r>
            <a:r>
              <a:rPr lang="en" altLang="zh-CN" b="0" i="0" u="none" strike="noStrike" dirty="0">
                <a:effectLst/>
                <a:latin typeface="-apple-system"/>
              </a:rPr>
              <a:t>TFTP </a:t>
            </a:r>
            <a:r>
              <a:rPr lang="zh-CN" altLang="en-US" b="0" i="0" u="none" strike="noStrike" dirty="0">
                <a:effectLst/>
                <a:latin typeface="-apple-system"/>
              </a:rPr>
              <a:t>服务器，需要安装 </a:t>
            </a:r>
            <a:r>
              <a:rPr lang="en" altLang="zh-CN" b="0" i="0" u="none" strike="noStrike" dirty="0" err="1">
                <a:effectLst/>
                <a:latin typeface="-apple-system"/>
              </a:rPr>
              <a:t>tftp-hpa</a:t>
            </a:r>
            <a:r>
              <a:rPr lang="en" altLang="zh-CN" b="0" i="0" u="none" strike="noStrike" dirty="0">
                <a:effectLst/>
                <a:latin typeface="-apple-system"/>
              </a:rPr>
              <a:t> </a:t>
            </a:r>
            <a:r>
              <a:rPr lang="zh-CN" altLang="en-US" b="0" i="0" u="none" strike="noStrike" dirty="0">
                <a:effectLst/>
                <a:latin typeface="-apple-system"/>
              </a:rPr>
              <a:t>和 </a:t>
            </a:r>
            <a:r>
              <a:rPr lang="en" altLang="zh-CN" b="0" i="0" u="none" strike="noStrike" dirty="0" err="1">
                <a:effectLst/>
                <a:latin typeface="-apple-system"/>
              </a:rPr>
              <a:t>tftpd-hpa</a:t>
            </a:r>
            <a:r>
              <a:rPr lang="zh-CN" altLang="en" b="0" i="0" u="none" strike="noStrike" dirty="0">
                <a:effectLst/>
                <a:latin typeface="-apple-system"/>
              </a:rPr>
              <a:t>，</a:t>
            </a:r>
            <a:r>
              <a:rPr lang="zh-CN" altLang="en-US" b="0" i="0" u="none" strike="noStrike" dirty="0">
                <a:effectLst/>
                <a:latin typeface="-apple-system"/>
              </a:rPr>
              <a:t>命令如下：</a:t>
            </a:r>
          </a:p>
        </p:txBody>
      </p:sp>
      <p:sp>
        <p:nvSpPr>
          <p:cNvPr id="4" name="灯片编号占位符 3"/>
          <p:cNvSpPr>
            <a:spLocks noGrp="1"/>
          </p:cNvSpPr>
          <p:nvPr>
            <p:ph type="sldNum" sz="quarter" idx="5"/>
          </p:nvPr>
        </p:nvSpPr>
        <p:spPr/>
        <p:txBody>
          <a:bodyPr/>
          <a:lstStyle/>
          <a:p>
            <a:fld id="{379CA0D8-6577-48B2-BA77-88519BAFBFDA}" type="slidenum">
              <a:rPr lang="en-JM" smtClean="0"/>
              <a:pPr/>
              <a:t>43</a:t>
            </a:fld>
            <a:endParaRPr lang="en-JM"/>
          </a:p>
        </p:txBody>
      </p:sp>
    </p:spTree>
    <p:extLst>
      <p:ext uri="{BB962C8B-B14F-4D97-AF65-F5344CB8AC3E}">
        <p14:creationId xmlns:p14="http://schemas.microsoft.com/office/powerpoint/2010/main" val="29276238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44</a:t>
            </a:fld>
            <a:endParaRPr lang="en-JM"/>
          </a:p>
        </p:txBody>
      </p:sp>
    </p:spTree>
    <p:extLst>
      <p:ext uri="{BB962C8B-B14F-4D97-AF65-F5344CB8AC3E}">
        <p14:creationId xmlns:p14="http://schemas.microsoft.com/office/powerpoint/2010/main" val="24853281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45</a:t>
            </a:fld>
            <a:endParaRPr lang="en-JM"/>
          </a:p>
        </p:txBody>
      </p:sp>
    </p:spTree>
    <p:extLst>
      <p:ext uri="{BB962C8B-B14F-4D97-AF65-F5344CB8AC3E}">
        <p14:creationId xmlns:p14="http://schemas.microsoft.com/office/powerpoint/2010/main" val="23653533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46</a:t>
            </a:fld>
            <a:endParaRPr lang="en-JM"/>
          </a:p>
        </p:txBody>
      </p:sp>
    </p:spTree>
    <p:extLst>
      <p:ext uri="{BB962C8B-B14F-4D97-AF65-F5344CB8AC3E}">
        <p14:creationId xmlns:p14="http://schemas.microsoft.com/office/powerpoint/2010/main" val="35589833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47</a:t>
            </a:fld>
            <a:endParaRPr lang="en-JM"/>
          </a:p>
        </p:txBody>
      </p:sp>
    </p:spTree>
    <p:extLst>
      <p:ext uri="{BB962C8B-B14F-4D97-AF65-F5344CB8AC3E}">
        <p14:creationId xmlns:p14="http://schemas.microsoft.com/office/powerpoint/2010/main" val="814391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48</a:t>
            </a:fld>
            <a:endParaRPr lang="en-JM"/>
          </a:p>
        </p:txBody>
      </p:sp>
    </p:spTree>
    <p:extLst>
      <p:ext uri="{BB962C8B-B14F-4D97-AF65-F5344CB8AC3E}">
        <p14:creationId xmlns:p14="http://schemas.microsoft.com/office/powerpoint/2010/main" val="1946537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49</a:t>
            </a:fld>
            <a:endParaRPr lang="en-JM"/>
          </a:p>
        </p:txBody>
      </p:sp>
    </p:spTree>
    <p:extLst>
      <p:ext uri="{BB962C8B-B14F-4D97-AF65-F5344CB8AC3E}">
        <p14:creationId xmlns:p14="http://schemas.microsoft.com/office/powerpoint/2010/main" val="669127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50</a:t>
            </a:fld>
            <a:endParaRPr lang="en-JM"/>
          </a:p>
        </p:txBody>
      </p:sp>
    </p:spTree>
    <p:extLst>
      <p:ext uri="{BB962C8B-B14F-4D97-AF65-F5344CB8AC3E}">
        <p14:creationId xmlns:p14="http://schemas.microsoft.com/office/powerpoint/2010/main" val="1215666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51</a:t>
            </a:fld>
            <a:endParaRPr lang="en-JM"/>
          </a:p>
        </p:txBody>
      </p:sp>
    </p:spTree>
    <p:extLst>
      <p:ext uri="{BB962C8B-B14F-4D97-AF65-F5344CB8AC3E}">
        <p14:creationId xmlns:p14="http://schemas.microsoft.com/office/powerpoint/2010/main" val="25942318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52</a:t>
            </a:fld>
            <a:endParaRPr lang="en-JM"/>
          </a:p>
        </p:txBody>
      </p:sp>
    </p:spTree>
    <p:extLst>
      <p:ext uri="{BB962C8B-B14F-4D97-AF65-F5344CB8AC3E}">
        <p14:creationId xmlns:p14="http://schemas.microsoft.com/office/powerpoint/2010/main" val="14347444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dirty="0">
                <a:solidFill>
                  <a:srgbClr val="4D4D4D"/>
                </a:solidFill>
                <a:effectLst/>
                <a:latin typeface="-apple-system"/>
              </a:rPr>
              <a:t>。但是新的 </a:t>
            </a:r>
            <a:r>
              <a:rPr lang="en-US" altLang="zh-CN" sz="1200" b="0" i="0" u="none" strike="noStrike" dirty="0" err="1">
                <a:solidFill>
                  <a:srgbClr val="4D4D4D"/>
                </a:solidFill>
                <a:effectLst/>
                <a:latin typeface="-apple-system"/>
              </a:rPr>
              <a:t>uboot</a:t>
            </a:r>
            <a:r>
              <a:rPr lang="en-US" altLang="zh-CN" sz="1200" b="0" i="0" u="none" strike="noStrike" dirty="0">
                <a:solidFill>
                  <a:srgbClr val="4D4D4D"/>
                </a:solidFill>
                <a:effectLst/>
                <a:latin typeface="-apple-system"/>
              </a:rPr>
              <a:t> </a:t>
            </a:r>
            <a:r>
              <a:rPr lang="zh-CN" altLang="en-US" sz="1200" b="0" i="0" u="none" strike="noStrike" dirty="0">
                <a:solidFill>
                  <a:srgbClr val="4D4D4D"/>
                </a:solidFill>
                <a:effectLst/>
                <a:latin typeface="-apple-system"/>
              </a:rPr>
              <a:t>已经支持了 </a:t>
            </a:r>
            <a:r>
              <a:rPr lang="en-US" altLang="zh-CN" sz="1200" b="0" i="0" u="none" strike="noStrike" dirty="0" err="1">
                <a:solidFill>
                  <a:srgbClr val="4D4D4D"/>
                </a:solidFill>
                <a:effectLst/>
                <a:latin typeface="-apple-system"/>
              </a:rPr>
              <a:t>zImage</a:t>
            </a:r>
            <a:r>
              <a:rPr lang="en-US" altLang="zh-CN" sz="1200" b="0" i="0" u="none" strike="noStrike" dirty="0">
                <a:solidFill>
                  <a:srgbClr val="4D4D4D"/>
                </a:solidFill>
                <a:effectLst/>
                <a:latin typeface="-apple-system"/>
              </a:rPr>
              <a:t> </a:t>
            </a:r>
            <a:r>
              <a:rPr lang="zh-CN" altLang="en-US" sz="1200" b="0" i="0" u="none" strike="noStrike" dirty="0">
                <a:solidFill>
                  <a:srgbClr val="4D4D4D"/>
                </a:solidFill>
                <a:effectLst/>
                <a:latin typeface="-apple-system"/>
              </a:rPr>
              <a:t>启动！所以已经很少用到 </a:t>
            </a:r>
            <a:r>
              <a:rPr lang="en-US" altLang="zh-CN" sz="1200" b="0" i="0" u="none" strike="noStrike" dirty="0" err="1">
                <a:solidFill>
                  <a:srgbClr val="4D4D4D"/>
                </a:solidFill>
                <a:effectLst/>
                <a:latin typeface="-apple-system"/>
              </a:rPr>
              <a:t>uImage</a:t>
            </a:r>
            <a:r>
              <a:rPr lang="en-US" altLang="zh-CN" sz="1200" b="0" i="0" u="none" strike="noStrike" dirty="0">
                <a:solidFill>
                  <a:srgbClr val="4D4D4D"/>
                </a:solidFill>
                <a:effectLst/>
                <a:latin typeface="-apple-system"/>
              </a:rPr>
              <a:t> </a:t>
            </a:r>
            <a:r>
              <a:rPr lang="zh-CN" altLang="en-US" sz="1200" b="0" i="0" u="none" strike="noStrike" dirty="0">
                <a:solidFill>
                  <a:srgbClr val="4D4D4D"/>
                </a:solidFill>
                <a:effectLst/>
                <a:latin typeface="-apple-system"/>
              </a:rPr>
              <a:t>了</a:t>
            </a:r>
            <a:endParaRPr lang="zh-CN" altLang="en-US" b="0" i="0" u="none" strike="noStrike" dirty="0">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53</a:t>
            </a:fld>
            <a:endParaRPr lang="en-JM"/>
          </a:p>
        </p:txBody>
      </p:sp>
    </p:spTree>
    <p:extLst>
      <p:ext uri="{BB962C8B-B14F-4D97-AF65-F5344CB8AC3E}">
        <p14:creationId xmlns:p14="http://schemas.microsoft.com/office/powerpoint/2010/main" val="26795110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u="none" strike="noStrike" dirty="0">
                <a:solidFill>
                  <a:srgbClr val="4D4D4D"/>
                </a:solidFill>
                <a:effectLst/>
                <a:latin typeface="-apple-system"/>
              </a:rPr>
              <a:t>Linux </a:t>
            </a:r>
            <a:r>
              <a:rPr lang="zh-CN" altLang="en-US" sz="1200" b="0" i="0" u="none" strike="noStrike" dirty="0">
                <a:solidFill>
                  <a:srgbClr val="4D4D4D"/>
                </a:solidFill>
                <a:effectLst/>
                <a:latin typeface="-apple-system"/>
              </a:rPr>
              <a:t>内核启动以后是需要根文件系统的，根文件系统存在哪里是由 </a:t>
            </a:r>
            <a:r>
              <a:rPr lang="en" altLang="zh-CN" sz="1200" b="0" i="0" u="none" strike="noStrike" dirty="0" err="1">
                <a:solidFill>
                  <a:srgbClr val="4D4D4D"/>
                </a:solidFill>
                <a:effectLst/>
                <a:latin typeface="-apple-system"/>
              </a:rPr>
              <a:t>uboot</a:t>
            </a:r>
            <a:r>
              <a:rPr lang="en" altLang="zh-CN" sz="1200" b="0" i="0" u="none" strike="noStrike" dirty="0">
                <a:solidFill>
                  <a:srgbClr val="4D4D4D"/>
                </a:solidFill>
                <a:effectLst/>
                <a:latin typeface="-apple-system"/>
              </a:rPr>
              <a:t> </a:t>
            </a:r>
            <a:r>
              <a:rPr lang="zh-CN" altLang="en-US" sz="1200" b="0" i="0" u="none" strike="noStrike" dirty="0">
                <a:solidFill>
                  <a:srgbClr val="4D4D4D"/>
                </a:solidFill>
                <a:effectLst/>
                <a:latin typeface="-apple-system"/>
              </a:rPr>
              <a:t>的 </a:t>
            </a:r>
            <a:r>
              <a:rPr lang="en" altLang="zh-CN" sz="1200" b="0" i="0" u="none" strike="noStrike" dirty="0" err="1">
                <a:solidFill>
                  <a:srgbClr val="4D4D4D"/>
                </a:solidFill>
                <a:effectLst/>
                <a:latin typeface="-apple-system"/>
              </a:rPr>
              <a:t>bootargs</a:t>
            </a:r>
            <a:r>
              <a:rPr lang="en" altLang="zh-CN" sz="1200" b="0" i="0" u="none" strike="noStrike" dirty="0">
                <a:solidFill>
                  <a:srgbClr val="4D4D4D"/>
                </a:solidFill>
                <a:effectLst/>
                <a:latin typeface="-apple-system"/>
              </a:rPr>
              <a:t> </a:t>
            </a:r>
            <a:r>
              <a:rPr lang="zh-CN" altLang="en-US" sz="1200" b="0" i="0" u="none" strike="noStrike" dirty="0">
                <a:solidFill>
                  <a:srgbClr val="4D4D4D"/>
                </a:solidFill>
                <a:effectLst/>
                <a:latin typeface="-apple-system"/>
              </a:rPr>
              <a:t>环境变量指定 ， </a:t>
            </a:r>
            <a:r>
              <a:rPr lang="en" altLang="zh-CN" sz="1200" b="0" i="0" u="none" strike="noStrike" dirty="0" err="1">
                <a:solidFill>
                  <a:srgbClr val="4D4D4D"/>
                </a:solidFill>
                <a:effectLst/>
                <a:latin typeface="-apple-system"/>
              </a:rPr>
              <a:t>bootargs</a:t>
            </a:r>
            <a:r>
              <a:rPr lang="zh-CN" altLang="en-US" sz="1200" b="0" i="0" u="none" strike="noStrike" dirty="0">
                <a:solidFill>
                  <a:srgbClr val="4D4D4D"/>
                </a:solidFill>
                <a:effectLst/>
                <a:latin typeface="-apple-system"/>
              </a:rPr>
              <a:t>会传递给</a:t>
            </a:r>
            <a:r>
              <a:rPr lang="en" altLang="zh-CN" sz="1200" b="0" i="0" u="none" strike="noStrike" dirty="0" err="1">
                <a:solidFill>
                  <a:srgbClr val="4D4D4D"/>
                </a:solidFill>
                <a:effectLst/>
                <a:latin typeface="-apple-system"/>
              </a:rPr>
              <a:t>Linu</a:t>
            </a:r>
            <a:r>
              <a:rPr lang="en" altLang="zh-CN" sz="1200" b="0" i="0" u="none" strike="noStrike" dirty="0">
                <a:solidFill>
                  <a:srgbClr val="4D4D4D"/>
                </a:solidFill>
                <a:effectLst/>
                <a:latin typeface="-apple-system"/>
              </a:rPr>
              <a:t> </a:t>
            </a:r>
            <a:r>
              <a:rPr lang="zh-CN" altLang="en-US" sz="1200" b="0" i="0" u="none" strike="noStrike" dirty="0">
                <a:solidFill>
                  <a:srgbClr val="4D4D4D"/>
                </a:solidFill>
                <a:effectLst/>
                <a:latin typeface="-apple-system"/>
              </a:rPr>
              <a:t>内核作为命令行参数 。</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dirty="0">
                <a:solidFill>
                  <a:srgbClr val="4D4D4D"/>
                </a:solidFill>
                <a:effectLst/>
                <a:latin typeface="-apple-system"/>
              </a:rPr>
              <a:t>在构建出对应的根文件系统之前 </a:t>
            </a:r>
            <a:r>
              <a:rPr lang="en" altLang="zh-CN" sz="1200" b="0" i="0" u="none" strike="noStrike" dirty="0">
                <a:solidFill>
                  <a:srgbClr val="4D4D4D"/>
                </a:solidFill>
                <a:effectLst/>
                <a:latin typeface="-apple-system"/>
              </a:rPr>
              <a:t>Linux </a:t>
            </a:r>
            <a:r>
              <a:rPr lang="zh-CN" altLang="en-US" sz="1200" b="0" i="0" u="none" strike="noStrike" dirty="0">
                <a:solidFill>
                  <a:srgbClr val="4D4D4D"/>
                </a:solidFill>
                <a:effectLst/>
                <a:latin typeface="-apple-system"/>
              </a:rPr>
              <a:t>内核是没有根文件系统可用的，所以提示内核崩溃，因为 </a:t>
            </a:r>
            <a:r>
              <a:rPr lang="en" altLang="zh-CN" sz="1200" b="0" i="0" u="none" strike="noStrike" dirty="0">
                <a:solidFill>
                  <a:srgbClr val="4D4D4D"/>
                </a:solidFill>
                <a:effectLst/>
                <a:latin typeface="-apple-system"/>
              </a:rPr>
              <a:t>VFS(</a:t>
            </a:r>
            <a:r>
              <a:rPr lang="zh-CN" altLang="en-US" sz="1200" b="0" i="0" u="none" strike="noStrike" dirty="0">
                <a:solidFill>
                  <a:srgbClr val="4D4D4D"/>
                </a:solidFill>
                <a:effectLst/>
                <a:latin typeface="-apple-system"/>
              </a:rPr>
              <a:t>虚拟文件系统</a:t>
            </a:r>
            <a:r>
              <a:rPr lang="en-US" altLang="zh-CN" sz="1200" b="0" i="0" u="none" strike="noStrike" dirty="0">
                <a:solidFill>
                  <a:srgbClr val="4D4D4D"/>
                </a:solidFill>
                <a:effectLst/>
                <a:latin typeface="-apple-system"/>
              </a:rPr>
              <a:t>)</a:t>
            </a:r>
            <a:r>
              <a:rPr lang="zh-CN" altLang="en-US" sz="1200" b="0" i="0" u="none" strike="noStrike" dirty="0">
                <a:solidFill>
                  <a:srgbClr val="4D4D4D"/>
                </a:solidFill>
                <a:effectLst/>
                <a:latin typeface="-apple-system"/>
              </a:rPr>
              <a:t>不能挂载根文件系统，因为根文件系统目录不存在。</a:t>
            </a:r>
          </a:p>
        </p:txBody>
      </p:sp>
      <p:sp>
        <p:nvSpPr>
          <p:cNvPr id="4" name="灯片编号占位符 3"/>
          <p:cNvSpPr>
            <a:spLocks noGrp="1"/>
          </p:cNvSpPr>
          <p:nvPr>
            <p:ph type="sldNum" sz="quarter" idx="5"/>
          </p:nvPr>
        </p:nvSpPr>
        <p:spPr/>
        <p:txBody>
          <a:bodyPr/>
          <a:lstStyle/>
          <a:p>
            <a:fld id="{379CA0D8-6577-48B2-BA77-88519BAFBFDA}" type="slidenum">
              <a:rPr lang="en-JM" smtClean="0"/>
              <a:pPr/>
              <a:t>54</a:t>
            </a:fld>
            <a:endParaRPr lang="en-JM"/>
          </a:p>
        </p:txBody>
      </p:sp>
    </p:spTree>
    <p:extLst>
      <p:ext uri="{BB962C8B-B14F-4D97-AF65-F5344CB8AC3E}">
        <p14:creationId xmlns:p14="http://schemas.microsoft.com/office/powerpoint/2010/main" val="39883214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55</a:t>
            </a:fld>
            <a:endParaRPr lang="en-JM"/>
          </a:p>
        </p:txBody>
      </p:sp>
    </p:spTree>
    <p:extLst>
      <p:ext uri="{BB962C8B-B14F-4D97-AF65-F5344CB8AC3E}">
        <p14:creationId xmlns:p14="http://schemas.microsoft.com/office/powerpoint/2010/main" val="19121120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56</a:t>
            </a:fld>
            <a:endParaRPr lang="en-JM"/>
          </a:p>
        </p:txBody>
      </p:sp>
    </p:spTree>
    <p:extLst>
      <p:ext uri="{BB962C8B-B14F-4D97-AF65-F5344CB8AC3E}">
        <p14:creationId xmlns:p14="http://schemas.microsoft.com/office/powerpoint/2010/main" val="27971553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57</a:t>
            </a:fld>
            <a:endParaRPr lang="en-JM"/>
          </a:p>
        </p:txBody>
      </p:sp>
    </p:spTree>
    <p:extLst>
      <p:ext uri="{BB962C8B-B14F-4D97-AF65-F5344CB8AC3E}">
        <p14:creationId xmlns:p14="http://schemas.microsoft.com/office/powerpoint/2010/main" val="10118944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Linux</a:t>
            </a:r>
            <a:r>
              <a:rPr kumimoji="1" lang="zh-CN" altLang="en-US" dirty="0"/>
              <a:t>是一种开源电脑操作系统内核。它是一个用</a:t>
            </a:r>
            <a:r>
              <a:rPr kumimoji="1" lang="en" altLang="zh-CN" dirty="0"/>
              <a:t>C</a:t>
            </a:r>
            <a:r>
              <a:rPr kumimoji="1" lang="zh-CN" altLang="en-US" dirty="0"/>
              <a:t>语言写成，符合</a:t>
            </a:r>
            <a:r>
              <a:rPr kumimoji="1" lang="en" altLang="zh-CN" dirty="0"/>
              <a:t>POSIX</a:t>
            </a:r>
            <a:r>
              <a:rPr kumimoji="1" lang="zh-CN" altLang="en-US" dirty="0"/>
              <a:t>标准的类</a:t>
            </a:r>
            <a:r>
              <a:rPr kumimoji="1" lang="en" altLang="zh-CN" dirty="0"/>
              <a:t>Unix</a:t>
            </a:r>
            <a:r>
              <a:rPr kumimoji="1" lang="zh-CN" altLang="en-US" dirty="0"/>
              <a:t>操作系统。 </a:t>
            </a:r>
            <a:r>
              <a:rPr kumimoji="1" lang="en" altLang="zh-CN" dirty="0"/>
              <a:t>Linux</a:t>
            </a:r>
            <a:r>
              <a:rPr kumimoji="1" lang="zh-CN" altLang="en-US" dirty="0"/>
              <a:t>内核是一个用来和硬件打交道并为用户程序提供一个有限服务集的低级支撑软件。一个计算机系统是一个硬件和软件的共生体，它们互相依赖，不可分割。计算机的硬件，含有外围设备、处理器、内存、硬盘和其他的电子设备组成计算机的发动机。但是没有软件来操作和控制它，自身是不能工作的。完成这个控制工作的软件就称为操作系统，在</a:t>
            </a:r>
            <a:r>
              <a:rPr kumimoji="1" lang="en" altLang="zh-CN" dirty="0"/>
              <a:t>Linux</a:t>
            </a:r>
            <a:r>
              <a:rPr kumimoji="1" lang="zh-CN" altLang="en-US" dirty="0"/>
              <a:t>的术语中被称为“内核”，也可以称为“核心”。</a:t>
            </a:r>
            <a:r>
              <a:rPr kumimoji="1" lang="en" altLang="zh-CN" dirty="0"/>
              <a:t>Linux</a:t>
            </a:r>
            <a:r>
              <a:rPr kumimoji="1" lang="zh-CN" altLang="en-US" dirty="0"/>
              <a:t>内核的主要模块（或组件）分以下几个部分：进程管理子系统、内存管理子系统、文件子系统、网络子系统、设备子系统等。</a:t>
            </a:r>
          </a:p>
          <a:p>
            <a:endParaRPr kumimoji="1" lang="zh-CN" altLang="en-US" dirty="0"/>
          </a:p>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58</a:t>
            </a:fld>
            <a:endParaRPr lang="en-JM"/>
          </a:p>
        </p:txBody>
      </p:sp>
    </p:spTree>
    <p:extLst>
      <p:ext uri="{BB962C8B-B14F-4D97-AF65-F5344CB8AC3E}">
        <p14:creationId xmlns:p14="http://schemas.microsoft.com/office/powerpoint/2010/main" val="13168733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59</a:t>
            </a:fld>
            <a:endParaRPr lang="en-JM"/>
          </a:p>
        </p:txBody>
      </p:sp>
    </p:spTree>
    <p:extLst>
      <p:ext uri="{BB962C8B-B14F-4D97-AF65-F5344CB8AC3E}">
        <p14:creationId xmlns:p14="http://schemas.microsoft.com/office/powerpoint/2010/main" val="12229578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60</a:t>
            </a:fld>
            <a:endParaRPr lang="en-JM"/>
          </a:p>
        </p:txBody>
      </p:sp>
    </p:spTree>
    <p:extLst>
      <p:ext uri="{BB962C8B-B14F-4D97-AF65-F5344CB8AC3E}">
        <p14:creationId xmlns:p14="http://schemas.microsoft.com/office/powerpoint/2010/main" val="11362452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61</a:t>
            </a:fld>
            <a:endParaRPr lang="en-JM"/>
          </a:p>
        </p:txBody>
      </p:sp>
    </p:spTree>
    <p:extLst>
      <p:ext uri="{BB962C8B-B14F-4D97-AF65-F5344CB8AC3E}">
        <p14:creationId xmlns:p14="http://schemas.microsoft.com/office/powerpoint/2010/main" val="14882719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62</a:t>
            </a:fld>
            <a:endParaRPr lang="en-JM"/>
          </a:p>
        </p:txBody>
      </p:sp>
    </p:spTree>
    <p:extLst>
      <p:ext uri="{BB962C8B-B14F-4D97-AF65-F5344CB8AC3E}">
        <p14:creationId xmlns:p14="http://schemas.microsoft.com/office/powerpoint/2010/main" val="1965641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63</a:t>
            </a:fld>
            <a:endParaRPr lang="en-JM"/>
          </a:p>
        </p:txBody>
      </p:sp>
    </p:spTree>
    <p:extLst>
      <p:ext uri="{BB962C8B-B14F-4D97-AF65-F5344CB8AC3E}">
        <p14:creationId xmlns:p14="http://schemas.microsoft.com/office/powerpoint/2010/main" val="15743270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64</a:t>
            </a:fld>
            <a:endParaRPr lang="en-JM"/>
          </a:p>
        </p:txBody>
      </p:sp>
    </p:spTree>
    <p:extLst>
      <p:ext uri="{BB962C8B-B14F-4D97-AF65-F5344CB8AC3E}">
        <p14:creationId xmlns:p14="http://schemas.microsoft.com/office/powerpoint/2010/main" val="36349428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solidFill>
                  <a:srgbClr val="4D4D4D"/>
                </a:solidFill>
                <a:effectLst/>
                <a:latin typeface="-apple-system"/>
              </a:rPr>
              <a:t>，根文件系统的目录名字为‘</a:t>
            </a:r>
            <a:r>
              <a:rPr lang="en-US" altLang="zh-CN" b="0" i="0" u="none" strike="noStrike" dirty="0">
                <a:solidFill>
                  <a:srgbClr val="4D4D4D"/>
                </a:solidFill>
                <a:effectLst/>
                <a:latin typeface="-apple-system"/>
              </a:rPr>
              <a:t>/’</a:t>
            </a:r>
            <a:r>
              <a:rPr lang="zh-CN" altLang="en-US" b="0" i="0" u="none" strike="noStrike" dirty="0">
                <a:solidFill>
                  <a:srgbClr val="4D4D4D"/>
                </a:solidFill>
                <a:effectLst/>
                <a:latin typeface="-apple-system"/>
              </a:rPr>
              <a:t>，所以输入如下命令就可以进入根目录中：</a:t>
            </a: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65</a:t>
            </a:fld>
            <a:endParaRPr lang="en-JM"/>
          </a:p>
        </p:txBody>
      </p:sp>
    </p:spTree>
    <p:extLst>
      <p:ext uri="{BB962C8B-B14F-4D97-AF65-F5344CB8AC3E}">
        <p14:creationId xmlns:p14="http://schemas.microsoft.com/office/powerpoint/2010/main" val="12314936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setenv args_mmc_old 'setenv  bootargs console=ttymxc0,115200 root=/dev/nfs nfsroot=192.168.1.7:/home/kk/imx6ull/nfs/rootfs,v3 rw ip=192.168.1.5:192.168.1.7:192.168.1.1:255.255.255.0::eth0:off'</a:t>
            </a:r>
          </a:p>
          <a:p>
            <a:r>
              <a:rPr lang="zh-CN" altLang="en-US" dirty="0"/>
              <a:t>saveenv</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66</a:t>
            </a:fld>
            <a:endParaRPr lang="en-JM"/>
          </a:p>
        </p:txBody>
      </p:sp>
    </p:spTree>
    <p:extLst>
      <p:ext uri="{BB962C8B-B14F-4D97-AF65-F5344CB8AC3E}">
        <p14:creationId xmlns:p14="http://schemas.microsoft.com/office/powerpoint/2010/main" val="34589009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67</a:t>
            </a:fld>
            <a:endParaRPr lang="en-JM"/>
          </a:p>
        </p:txBody>
      </p:sp>
    </p:spTree>
    <p:extLst>
      <p:ext uri="{BB962C8B-B14F-4D97-AF65-F5344CB8AC3E}">
        <p14:creationId xmlns:p14="http://schemas.microsoft.com/office/powerpoint/2010/main" val="25971934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i="0"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68</a:t>
            </a:fld>
            <a:endParaRPr lang="en-JM"/>
          </a:p>
        </p:txBody>
      </p:sp>
    </p:spTree>
    <p:extLst>
      <p:ext uri="{BB962C8B-B14F-4D97-AF65-F5344CB8AC3E}">
        <p14:creationId xmlns:p14="http://schemas.microsoft.com/office/powerpoint/2010/main" val="3243463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2" name="Title 1"/>
          <p:cNvSpPr>
            <a:spLocks noGrp="1"/>
          </p:cNvSpPr>
          <p:nvPr>
            <p:ph type="ctrTitle"/>
          </p:nvPr>
        </p:nvSpPr>
        <p:spPr>
          <a:xfrm>
            <a:off x="685800" y="2130428"/>
            <a:ext cx="7772400" cy="1470025"/>
          </a:xfrm>
        </p:spPr>
        <p:txBody>
          <a:bodyPr/>
          <a:lstStyle>
            <a:lvl1pPr algn="ctr">
              <a:defRPr/>
            </a:lvl1pPr>
          </a:lstStyle>
          <a:p>
            <a:r>
              <a:rPr lang="en-US" dirty="0"/>
              <a:t>Click to edit Master title style</a:t>
            </a:r>
            <a:endParaRPr lang="en-JM" dirty="0"/>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1800">
                <a:solidFill>
                  <a:srgbClr val="7F7F7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JM" dirty="0"/>
          </a:p>
        </p:txBody>
      </p:sp>
      <p:sp>
        <p:nvSpPr>
          <p:cNvPr id="5" name="Footer Placeholder 4"/>
          <p:cNvSpPr>
            <a:spLocks noGrp="1"/>
          </p:cNvSpPr>
          <p:nvPr>
            <p:ph type="ftr" sz="quarter" idx="11"/>
          </p:nvPr>
        </p:nvSpPr>
        <p:spPr/>
        <p:txBody>
          <a:bodyPr/>
          <a:lstStyle/>
          <a:p>
            <a:r>
              <a:rPr lang="en-JM"/>
              <a:t>PUT THE NAME OF YOUR COMPANY HERE</a:t>
            </a:r>
            <a:endParaRPr lang="en-JM" dirty="0"/>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Footer Placeholder 4"/>
          <p:cNvSpPr>
            <a:spLocks noGrp="1"/>
          </p:cNvSpPr>
          <p:nvPr>
            <p:ph type="ftr" sz="quarter" idx="11"/>
          </p:nvPr>
        </p:nvSpPr>
        <p:spPr/>
        <p:txBody>
          <a:bodyPr/>
          <a:lstStyle/>
          <a:p>
            <a:r>
              <a:rPr lang="en-JM"/>
              <a:t>PUT THE NAME OF YOUR COMPANY HERE</a:t>
            </a:r>
            <a:endParaRPr lang="en-JM" dirty="0"/>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600" b="0" cap="all"/>
            </a:lvl1pPr>
          </a:lstStyle>
          <a:p>
            <a:r>
              <a:rPr lang="en-US"/>
              <a:t>Click to edit Master title style</a:t>
            </a:r>
            <a:endParaRPr lang="en-JM"/>
          </a:p>
        </p:txBody>
      </p:sp>
      <p:sp>
        <p:nvSpPr>
          <p:cNvPr id="3" name="Text Placeholder 2"/>
          <p:cNvSpPr>
            <a:spLocks noGrp="1"/>
          </p:cNvSpPr>
          <p:nvPr>
            <p:ph type="body" idx="1"/>
          </p:nvPr>
        </p:nvSpPr>
        <p:spPr>
          <a:xfrm>
            <a:off x="722313" y="2906713"/>
            <a:ext cx="7772400" cy="1500187"/>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JM"/>
              <a:t>PUT THE NAME OF YOUR COMPANY HERE</a:t>
            </a:r>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3" name="Content Placeholder 2"/>
          <p:cNvSpPr>
            <a:spLocks noGrp="1"/>
          </p:cNvSpPr>
          <p:nvPr>
            <p:ph sz="half" idx="1"/>
          </p:nvPr>
        </p:nvSpPr>
        <p:spPr>
          <a:xfrm>
            <a:off x="457200" y="1397000"/>
            <a:ext cx="4038600" cy="45259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4" name="Content Placeholder 3"/>
          <p:cNvSpPr>
            <a:spLocks noGrp="1"/>
          </p:cNvSpPr>
          <p:nvPr>
            <p:ph sz="half" idx="2"/>
          </p:nvPr>
        </p:nvSpPr>
        <p:spPr>
          <a:xfrm>
            <a:off x="4648200" y="1397000"/>
            <a:ext cx="4038600" cy="45259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Footer Placeholder 5"/>
          <p:cNvSpPr>
            <a:spLocks noGrp="1"/>
          </p:cNvSpPr>
          <p:nvPr>
            <p:ph type="ftr" sz="quarter" idx="11"/>
          </p:nvPr>
        </p:nvSpPr>
        <p:spPr/>
        <p:txBody>
          <a:bodyPr/>
          <a:lstStyle/>
          <a:p>
            <a:r>
              <a:rPr lang="en-JM"/>
              <a:t>PUT THE NAME OF YOUR COMPANY HERE</a:t>
            </a:r>
          </a:p>
        </p:txBody>
      </p:sp>
      <p:sp>
        <p:nvSpPr>
          <p:cNvPr id="7" name="Slide Number Placeholder 6"/>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JM"/>
          </a:p>
        </p:txBody>
      </p:sp>
      <p:sp>
        <p:nvSpPr>
          <p:cNvPr id="3" name="Text Placeholder 2"/>
          <p:cNvSpPr>
            <a:spLocks noGrp="1"/>
          </p:cNvSpPr>
          <p:nvPr>
            <p:ph type="body" idx="1"/>
          </p:nvPr>
        </p:nvSpPr>
        <p:spPr>
          <a:xfrm>
            <a:off x="457200" y="1295400"/>
            <a:ext cx="4040188" cy="639763"/>
          </a:xfrm>
        </p:spPr>
        <p:txBody>
          <a:bodyPr anchor="b">
            <a:normAutofit/>
          </a:bodyPr>
          <a:lstStyle>
            <a:lvl1pPr marL="0" indent="0">
              <a:buNone/>
              <a:defRPr sz="2000" b="0">
                <a:solidFill>
                  <a:srgbClr val="0070C0"/>
                </a:solidFill>
                <a:latin typeface="Bebas Neu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35161"/>
            <a:ext cx="4040188" cy="395128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Text Placeholder 4"/>
          <p:cNvSpPr>
            <a:spLocks noGrp="1"/>
          </p:cNvSpPr>
          <p:nvPr>
            <p:ph type="body" sz="quarter" idx="3"/>
          </p:nvPr>
        </p:nvSpPr>
        <p:spPr>
          <a:xfrm>
            <a:off x="4645029" y="1295400"/>
            <a:ext cx="4041775" cy="639763"/>
          </a:xfrm>
        </p:spPr>
        <p:txBody>
          <a:bodyPr anchor="b">
            <a:normAutofit/>
          </a:bodyPr>
          <a:lstStyle>
            <a:lvl1pPr marL="0" indent="0">
              <a:buNone/>
              <a:defRPr sz="2000" b="0">
                <a:solidFill>
                  <a:srgbClr val="0070C0"/>
                </a:solidFill>
                <a:latin typeface="Bebas Neu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9" y="1935161"/>
            <a:ext cx="4041775" cy="395128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8" name="Footer Placeholder 7"/>
          <p:cNvSpPr>
            <a:spLocks noGrp="1"/>
          </p:cNvSpPr>
          <p:nvPr>
            <p:ph type="ftr" sz="quarter" idx="11"/>
          </p:nvPr>
        </p:nvSpPr>
        <p:spPr/>
        <p:txBody>
          <a:bodyPr/>
          <a:lstStyle/>
          <a:p>
            <a:r>
              <a:rPr lang="en-JM"/>
              <a:t>PUT THE NAME OF YOUR COMPANY HERE</a:t>
            </a:r>
          </a:p>
        </p:txBody>
      </p:sp>
      <p:sp>
        <p:nvSpPr>
          <p:cNvPr id="9" name="Slide Number Placeholder 8"/>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2" name="Text Placeholder 18"/>
          <p:cNvSpPr>
            <a:spLocks noGrp="1"/>
          </p:cNvSpPr>
          <p:nvPr>
            <p:ph type="body" sz="quarter" idx="15"/>
          </p:nvPr>
        </p:nvSpPr>
        <p:spPr>
          <a:xfrm>
            <a:off x="533400" y="18034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3" name="Text Placeholder 20"/>
          <p:cNvSpPr>
            <a:spLocks noGrp="1"/>
          </p:cNvSpPr>
          <p:nvPr>
            <p:ph type="body" sz="quarter" idx="16"/>
          </p:nvPr>
        </p:nvSpPr>
        <p:spPr>
          <a:xfrm>
            <a:off x="533400" y="21082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18"/>
          <p:cNvSpPr>
            <a:spLocks noGrp="1"/>
          </p:cNvSpPr>
          <p:nvPr>
            <p:ph type="body" sz="quarter" idx="17"/>
          </p:nvPr>
        </p:nvSpPr>
        <p:spPr>
          <a:xfrm>
            <a:off x="533400" y="32258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5" name="Text Placeholder 20"/>
          <p:cNvSpPr>
            <a:spLocks noGrp="1"/>
          </p:cNvSpPr>
          <p:nvPr>
            <p:ph type="body" sz="quarter" idx="18"/>
          </p:nvPr>
        </p:nvSpPr>
        <p:spPr>
          <a:xfrm>
            <a:off x="533400" y="35306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6" name="Text Placeholder 18"/>
          <p:cNvSpPr>
            <a:spLocks noGrp="1"/>
          </p:cNvSpPr>
          <p:nvPr>
            <p:ph type="body" sz="quarter" idx="19"/>
          </p:nvPr>
        </p:nvSpPr>
        <p:spPr>
          <a:xfrm>
            <a:off x="533400" y="46482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7" name="Text Placeholder 20"/>
          <p:cNvSpPr>
            <a:spLocks noGrp="1"/>
          </p:cNvSpPr>
          <p:nvPr>
            <p:ph type="body" sz="quarter" idx="20"/>
          </p:nvPr>
        </p:nvSpPr>
        <p:spPr>
          <a:xfrm>
            <a:off x="533400" y="49530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Tree>
    <p:extLst>
      <p:ext uri="{BB962C8B-B14F-4D97-AF65-F5344CB8AC3E}">
        <p14:creationId xmlns:p14="http://schemas.microsoft.com/office/powerpoint/2010/main" val="154460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6" name="Text Placeholder 12"/>
          <p:cNvSpPr>
            <a:spLocks noGrp="1"/>
          </p:cNvSpPr>
          <p:nvPr>
            <p:ph type="body" sz="quarter" idx="16"/>
          </p:nvPr>
        </p:nvSpPr>
        <p:spPr>
          <a:xfrm>
            <a:off x="838200" y="2510117"/>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7" name="Text Placeholder 12"/>
          <p:cNvSpPr>
            <a:spLocks noGrp="1"/>
          </p:cNvSpPr>
          <p:nvPr>
            <p:ph type="body" sz="quarter" idx="17"/>
          </p:nvPr>
        </p:nvSpPr>
        <p:spPr>
          <a:xfrm>
            <a:off x="3733800" y="2518025"/>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8" name="Text Placeholder 12"/>
          <p:cNvSpPr>
            <a:spLocks noGrp="1"/>
          </p:cNvSpPr>
          <p:nvPr>
            <p:ph type="body" sz="quarter" idx="18"/>
          </p:nvPr>
        </p:nvSpPr>
        <p:spPr>
          <a:xfrm>
            <a:off x="6629400" y="2518025"/>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9" name="Text Placeholder 27"/>
          <p:cNvSpPr>
            <a:spLocks noGrp="1"/>
          </p:cNvSpPr>
          <p:nvPr>
            <p:ph type="body" sz="quarter" idx="19"/>
          </p:nvPr>
        </p:nvSpPr>
        <p:spPr>
          <a:xfrm>
            <a:off x="5842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0" name="Text Placeholder 27"/>
          <p:cNvSpPr>
            <a:spLocks noGrp="1"/>
          </p:cNvSpPr>
          <p:nvPr>
            <p:ph type="body" sz="quarter" idx="20"/>
          </p:nvPr>
        </p:nvSpPr>
        <p:spPr>
          <a:xfrm>
            <a:off x="35052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1" name="Text Placeholder 27"/>
          <p:cNvSpPr>
            <a:spLocks noGrp="1"/>
          </p:cNvSpPr>
          <p:nvPr>
            <p:ph type="body" sz="quarter" idx="21"/>
          </p:nvPr>
        </p:nvSpPr>
        <p:spPr>
          <a:xfrm>
            <a:off x="63754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2" name="Content Placeholder 21"/>
          <p:cNvSpPr>
            <a:spLocks noGrp="1"/>
          </p:cNvSpPr>
          <p:nvPr>
            <p:ph sz="quarter" idx="13"/>
          </p:nvPr>
        </p:nvSpPr>
        <p:spPr>
          <a:xfrm>
            <a:off x="457200" y="1320800"/>
            <a:ext cx="8229600" cy="685800"/>
          </a:xfrm>
        </p:spPr>
        <p:txBody>
          <a:bodyPr>
            <a:normAutofit/>
          </a:bodyPr>
          <a:lstStyle>
            <a:lvl1pPr>
              <a:buNone/>
              <a:defRPr sz="1400">
                <a:solidFill>
                  <a:schemeClr val="tx1">
                    <a:lumMod val="65000"/>
                    <a:lumOff val="35000"/>
                  </a:schemeClr>
                </a:solidFill>
              </a:defRPr>
            </a:lvl1pPr>
          </a:lstStyle>
          <a:p>
            <a:pPr lvl="0"/>
            <a:endParaRPr lang="en-JM" dirty="0"/>
          </a:p>
        </p:txBody>
      </p:sp>
    </p:spTree>
    <p:extLst>
      <p:ext uri="{BB962C8B-B14F-4D97-AF65-F5344CB8AC3E}">
        <p14:creationId xmlns:p14="http://schemas.microsoft.com/office/powerpoint/2010/main" val="2506707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4321" y="1835900"/>
            <a:ext cx="2286001" cy="3327400"/>
          </a:xfrm>
          <a:prstGeom prst="rect">
            <a:avLst/>
          </a:prstGeom>
        </p:spPr>
      </p:pic>
      <p:sp>
        <p:nvSpPr>
          <p:cNvPr id="7" name="Picture Placeholder 12"/>
          <p:cNvSpPr>
            <a:spLocks noGrp="1"/>
          </p:cNvSpPr>
          <p:nvPr>
            <p:ph type="pic" sz="quarter" idx="16"/>
          </p:nvPr>
        </p:nvSpPr>
        <p:spPr>
          <a:xfrm>
            <a:off x="794399" y="2229600"/>
            <a:ext cx="1725845" cy="2540000"/>
          </a:xfrm>
        </p:spPr>
        <p:txBody>
          <a:bodyPr/>
          <a:lstStyle/>
          <a:p>
            <a:endParaRPr lang="en-JM"/>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76600" y="1805348"/>
            <a:ext cx="2286001" cy="3327400"/>
          </a:xfrm>
          <a:prstGeom prst="rect">
            <a:avLst/>
          </a:prstGeom>
        </p:spPr>
      </p:pic>
      <p:sp>
        <p:nvSpPr>
          <p:cNvPr id="9" name="Picture Placeholder 12"/>
          <p:cNvSpPr>
            <a:spLocks noGrp="1"/>
          </p:cNvSpPr>
          <p:nvPr>
            <p:ph type="pic" sz="quarter" idx="17"/>
          </p:nvPr>
        </p:nvSpPr>
        <p:spPr>
          <a:xfrm>
            <a:off x="3556678" y="2199048"/>
            <a:ext cx="1725845" cy="2540000"/>
          </a:xfrm>
        </p:spPr>
        <p:txBody>
          <a:bodyPr/>
          <a:lstStyle/>
          <a:p>
            <a:endParaRPr lang="en-JM"/>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1805348"/>
            <a:ext cx="2286001" cy="3327400"/>
          </a:xfrm>
          <a:prstGeom prst="rect">
            <a:avLst/>
          </a:prstGeom>
        </p:spPr>
      </p:pic>
      <p:sp>
        <p:nvSpPr>
          <p:cNvPr id="11" name="Picture Placeholder 12"/>
          <p:cNvSpPr>
            <a:spLocks noGrp="1"/>
          </p:cNvSpPr>
          <p:nvPr>
            <p:ph type="pic" sz="quarter" idx="18"/>
          </p:nvPr>
        </p:nvSpPr>
        <p:spPr>
          <a:xfrm>
            <a:off x="6376078" y="2199048"/>
            <a:ext cx="1725845" cy="2540000"/>
          </a:xfrm>
        </p:spPr>
        <p:txBody>
          <a:bodyPr/>
          <a:lstStyle/>
          <a:p>
            <a:endParaRPr lang="en-JM"/>
          </a:p>
        </p:txBody>
      </p:sp>
      <p:sp>
        <p:nvSpPr>
          <p:cNvPr id="12" name="Text Placeholder 11"/>
          <p:cNvSpPr>
            <a:spLocks noGrp="1"/>
          </p:cNvSpPr>
          <p:nvPr>
            <p:ph type="body" sz="quarter" idx="19" hasCustomPrompt="1"/>
          </p:nvPr>
        </p:nvSpPr>
        <p:spPr>
          <a:xfrm>
            <a:off x="6096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
        <p:nvSpPr>
          <p:cNvPr id="13" name="Text Placeholder 11"/>
          <p:cNvSpPr>
            <a:spLocks noGrp="1"/>
          </p:cNvSpPr>
          <p:nvPr>
            <p:ph type="body" sz="quarter" idx="20" hasCustomPrompt="1"/>
          </p:nvPr>
        </p:nvSpPr>
        <p:spPr>
          <a:xfrm>
            <a:off x="34290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
        <p:nvSpPr>
          <p:cNvPr id="14" name="Text Placeholder 11"/>
          <p:cNvSpPr>
            <a:spLocks noGrp="1"/>
          </p:cNvSpPr>
          <p:nvPr>
            <p:ph type="body" sz="quarter" idx="21" hasCustomPrompt="1"/>
          </p:nvPr>
        </p:nvSpPr>
        <p:spPr>
          <a:xfrm>
            <a:off x="62484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Tree>
    <p:extLst>
      <p:ext uri="{BB962C8B-B14F-4D97-AF65-F5344CB8AC3E}">
        <p14:creationId xmlns:p14="http://schemas.microsoft.com/office/powerpoint/2010/main" val="121861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7200" y="1752600"/>
            <a:ext cx="4419600" cy="4010501"/>
          </a:xfrm>
          <a:prstGeom prst="rect">
            <a:avLst/>
          </a:prstGeom>
        </p:spPr>
      </p:pic>
      <p:sp>
        <p:nvSpPr>
          <p:cNvPr id="7" name="Text Placeholder 18"/>
          <p:cNvSpPr>
            <a:spLocks noGrp="1"/>
          </p:cNvSpPr>
          <p:nvPr>
            <p:ph type="body" sz="quarter" idx="15"/>
          </p:nvPr>
        </p:nvSpPr>
        <p:spPr>
          <a:xfrm>
            <a:off x="1295400" y="18034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8" name="Text Placeholder 20"/>
          <p:cNvSpPr>
            <a:spLocks noGrp="1"/>
          </p:cNvSpPr>
          <p:nvPr>
            <p:ph type="body" sz="quarter" idx="16"/>
          </p:nvPr>
        </p:nvSpPr>
        <p:spPr>
          <a:xfrm>
            <a:off x="1295400" y="2108200"/>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9" name="Text Placeholder 18"/>
          <p:cNvSpPr>
            <a:spLocks noGrp="1"/>
          </p:cNvSpPr>
          <p:nvPr>
            <p:ph type="body" sz="quarter" idx="17"/>
          </p:nvPr>
        </p:nvSpPr>
        <p:spPr>
          <a:xfrm>
            <a:off x="1295400" y="30226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0" name="Text Placeholder 20"/>
          <p:cNvSpPr>
            <a:spLocks noGrp="1"/>
          </p:cNvSpPr>
          <p:nvPr>
            <p:ph type="body" sz="quarter" idx="18"/>
          </p:nvPr>
        </p:nvSpPr>
        <p:spPr>
          <a:xfrm>
            <a:off x="1295400" y="3327400"/>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1" name="Text Placeholder 18"/>
          <p:cNvSpPr>
            <a:spLocks noGrp="1"/>
          </p:cNvSpPr>
          <p:nvPr>
            <p:ph type="body" sz="quarter" idx="19"/>
          </p:nvPr>
        </p:nvSpPr>
        <p:spPr>
          <a:xfrm>
            <a:off x="1295400" y="4267200"/>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2" name="Text Placeholder 20"/>
          <p:cNvSpPr>
            <a:spLocks noGrp="1"/>
          </p:cNvSpPr>
          <p:nvPr>
            <p:ph type="body" sz="quarter" idx="20"/>
          </p:nvPr>
        </p:nvSpPr>
        <p:spPr>
          <a:xfrm>
            <a:off x="1295400" y="4571999"/>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3" name="Picture Placeholder 24"/>
          <p:cNvSpPr>
            <a:spLocks noGrp="1"/>
          </p:cNvSpPr>
          <p:nvPr>
            <p:ph type="pic" sz="quarter" idx="28"/>
          </p:nvPr>
        </p:nvSpPr>
        <p:spPr>
          <a:xfrm>
            <a:off x="4544096" y="2072664"/>
            <a:ext cx="3860269" cy="2423136"/>
          </a:xfrm>
        </p:spPr>
        <p:txBody>
          <a:bodyPr/>
          <a:lstStyle/>
          <a:p>
            <a:endParaRPr lang="en-JM"/>
          </a:p>
        </p:txBody>
      </p:sp>
    </p:spTree>
    <p:extLst>
      <p:ext uri="{BB962C8B-B14F-4D97-AF65-F5344CB8AC3E}">
        <p14:creationId xmlns:p14="http://schemas.microsoft.com/office/powerpoint/2010/main" val="3738919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6" name="Text Placeholder 18"/>
          <p:cNvSpPr>
            <a:spLocks noGrp="1"/>
          </p:cNvSpPr>
          <p:nvPr>
            <p:ph type="body" sz="quarter" idx="15"/>
          </p:nvPr>
        </p:nvSpPr>
        <p:spPr>
          <a:xfrm>
            <a:off x="5791200" y="1830917"/>
            <a:ext cx="2667000" cy="886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8" name="Text Placeholder 18"/>
          <p:cNvSpPr>
            <a:spLocks noGrp="1"/>
          </p:cNvSpPr>
          <p:nvPr>
            <p:ph type="body" sz="quarter" idx="17"/>
          </p:nvPr>
        </p:nvSpPr>
        <p:spPr>
          <a:xfrm>
            <a:off x="5791200" y="3022601"/>
            <a:ext cx="2533650" cy="378884"/>
          </a:xfrm>
          <a:solidFill>
            <a:srgbClr val="0070C0"/>
          </a:solidFill>
          <a:ln>
            <a:noFill/>
          </a:ln>
        </p:spPr>
        <p:txBody>
          <a:bodyPr>
            <a:noAutofit/>
          </a:bodyPr>
          <a:lstStyle>
            <a:lvl1pPr marL="0" indent="0">
              <a:buFontTx/>
              <a:buNone/>
              <a:defRPr sz="1600" b="0">
                <a:solidFill>
                  <a:schemeClr val="bg1"/>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9" name="Text Placeholder 20"/>
          <p:cNvSpPr>
            <a:spLocks noGrp="1"/>
          </p:cNvSpPr>
          <p:nvPr>
            <p:ph type="body" sz="quarter" idx="18"/>
          </p:nvPr>
        </p:nvSpPr>
        <p:spPr>
          <a:xfrm>
            <a:off x="5791200" y="3401484"/>
            <a:ext cx="2819400" cy="7112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0" name="Text Placeholder 18"/>
          <p:cNvSpPr>
            <a:spLocks noGrp="1"/>
          </p:cNvSpPr>
          <p:nvPr>
            <p:ph type="body" sz="quarter" idx="19"/>
          </p:nvPr>
        </p:nvSpPr>
        <p:spPr>
          <a:xfrm>
            <a:off x="5791200" y="4472517"/>
            <a:ext cx="2514600" cy="378884"/>
          </a:xfrm>
          <a:solidFill>
            <a:srgbClr val="0070C0"/>
          </a:solidFill>
          <a:ln>
            <a:noFill/>
          </a:ln>
        </p:spPr>
        <p:txBody>
          <a:bodyPr>
            <a:noAutofit/>
          </a:bodyPr>
          <a:lstStyle>
            <a:lvl1pPr marL="0" indent="0">
              <a:buFontTx/>
              <a:buNone/>
              <a:defRPr sz="1600" b="0">
                <a:solidFill>
                  <a:schemeClr val="bg1"/>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1" name="Text Placeholder 20"/>
          <p:cNvSpPr>
            <a:spLocks noGrp="1"/>
          </p:cNvSpPr>
          <p:nvPr>
            <p:ph type="body" sz="quarter" idx="20"/>
          </p:nvPr>
        </p:nvSpPr>
        <p:spPr>
          <a:xfrm>
            <a:off x="5791200" y="4851400"/>
            <a:ext cx="2971800" cy="7112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2169082"/>
            <a:ext cx="5257800" cy="3012518"/>
          </a:xfrm>
          <a:prstGeom prst="rect">
            <a:avLst/>
          </a:prstGeom>
        </p:spPr>
      </p:pic>
      <p:sp>
        <p:nvSpPr>
          <p:cNvPr id="13" name="Picture Placeholder 16"/>
          <p:cNvSpPr>
            <a:spLocks noGrp="1"/>
          </p:cNvSpPr>
          <p:nvPr>
            <p:ph type="pic" sz="quarter" idx="21"/>
          </p:nvPr>
        </p:nvSpPr>
        <p:spPr>
          <a:xfrm>
            <a:off x="1176793" y="2514600"/>
            <a:ext cx="3666213" cy="2120030"/>
          </a:xfrm>
        </p:spPr>
        <p:txBody>
          <a:bodyPr/>
          <a:lstStyle/>
          <a:p>
            <a:endParaRPr lang="en-JM"/>
          </a:p>
        </p:txBody>
      </p:sp>
    </p:spTree>
    <p:extLst>
      <p:ext uri="{BB962C8B-B14F-4D97-AF65-F5344CB8AC3E}">
        <p14:creationId xmlns:p14="http://schemas.microsoft.com/office/powerpoint/2010/main" val="2096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cxnSp>
        <p:nvCxnSpPr>
          <p:cNvPr id="7" name="Straight Connector 6"/>
          <p:cNvCxnSpPr/>
          <p:nvPr userDrawn="1"/>
        </p:nvCxnSpPr>
        <p:spPr>
          <a:xfrm>
            <a:off x="3200400" y="1585079"/>
            <a:ext cx="0" cy="3581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6096000" y="1585079"/>
            <a:ext cx="0" cy="3581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572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6" name="Text Placeholder 14"/>
          <p:cNvSpPr>
            <a:spLocks noGrp="1"/>
          </p:cNvSpPr>
          <p:nvPr>
            <p:ph type="body" sz="quarter" idx="14"/>
          </p:nvPr>
        </p:nvSpPr>
        <p:spPr>
          <a:xfrm>
            <a:off x="33528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7" name="Text Placeholder 14"/>
          <p:cNvSpPr>
            <a:spLocks noGrp="1"/>
          </p:cNvSpPr>
          <p:nvPr>
            <p:ph type="body" sz="quarter" idx="15"/>
          </p:nvPr>
        </p:nvSpPr>
        <p:spPr>
          <a:xfrm>
            <a:off x="62484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8" name="Content Placeholder 38"/>
          <p:cNvSpPr>
            <a:spLocks noGrp="1"/>
          </p:cNvSpPr>
          <p:nvPr>
            <p:ph sz="quarter" idx="37"/>
          </p:nvPr>
        </p:nvSpPr>
        <p:spPr>
          <a:xfrm>
            <a:off x="4572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1" name="Content Placeholder 38"/>
          <p:cNvSpPr>
            <a:spLocks noGrp="1"/>
          </p:cNvSpPr>
          <p:nvPr>
            <p:ph sz="quarter" idx="38"/>
          </p:nvPr>
        </p:nvSpPr>
        <p:spPr>
          <a:xfrm>
            <a:off x="33528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3" name="Content Placeholder 38"/>
          <p:cNvSpPr>
            <a:spLocks noGrp="1"/>
          </p:cNvSpPr>
          <p:nvPr>
            <p:ph sz="quarter" idx="39"/>
          </p:nvPr>
        </p:nvSpPr>
        <p:spPr>
          <a:xfrm>
            <a:off x="62484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Tree>
    <p:extLst>
      <p:ext uri="{BB962C8B-B14F-4D97-AF65-F5344CB8AC3E}">
        <p14:creationId xmlns:p14="http://schemas.microsoft.com/office/powerpoint/2010/main" val="2263622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
        <p:nvSpPr>
          <p:cNvPr id="5" name="Picture Placeholder 4"/>
          <p:cNvSpPr>
            <a:spLocks noGrp="1"/>
          </p:cNvSpPr>
          <p:nvPr>
            <p:ph type="pic" sz="quarter" idx="13"/>
          </p:nvPr>
        </p:nvSpPr>
        <p:spPr>
          <a:xfrm>
            <a:off x="0" y="0"/>
            <a:ext cx="9144000" cy="6883400"/>
          </a:xfrm>
        </p:spPr>
        <p:txBody>
          <a:bodyPr/>
          <a:lstStyle/>
          <a:p>
            <a:endParaRPr lang="en-JM"/>
          </a:p>
        </p:txBody>
      </p:sp>
    </p:spTree>
    <p:extLst>
      <p:ext uri="{BB962C8B-B14F-4D97-AF65-F5344CB8AC3E}">
        <p14:creationId xmlns:p14="http://schemas.microsoft.com/office/powerpoint/2010/main" val="666670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dirty="0"/>
          </a:p>
        </p:txBody>
      </p:sp>
      <p:sp>
        <p:nvSpPr>
          <p:cNvPr id="30" name="Picture Placeholder 29"/>
          <p:cNvSpPr>
            <a:spLocks noGrp="1"/>
          </p:cNvSpPr>
          <p:nvPr>
            <p:ph type="pic" sz="quarter" idx="13"/>
          </p:nvPr>
        </p:nvSpPr>
        <p:spPr>
          <a:xfrm>
            <a:off x="533400" y="1828800"/>
            <a:ext cx="1828800" cy="1796288"/>
          </a:xfrm>
        </p:spPr>
        <p:txBody>
          <a:bodyPr>
            <a:normAutofit/>
          </a:bodyPr>
          <a:lstStyle>
            <a:lvl1pPr marL="0" indent="0" algn="ctr">
              <a:buFontTx/>
              <a:buNone/>
              <a:defRPr sz="1400"/>
            </a:lvl1pPr>
          </a:lstStyle>
          <a:p>
            <a:endParaRPr lang="en-JM" dirty="0"/>
          </a:p>
        </p:txBody>
      </p:sp>
      <p:sp>
        <p:nvSpPr>
          <p:cNvPr id="32" name="Picture Placeholder 29"/>
          <p:cNvSpPr>
            <a:spLocks noGrp="1"/>
          </p:cNvSpPr>
          <p:nvPr>
            <p:ph type="pic" sz="quarter" idx="14"/>
          </p:nvPr>
        </p:nvSpPr>
        <p:spPr>
          <a:xfrm>
            <a:off x="2590800" y="1828800"/>
            <a:ext cx="1828800" cy="1796288"/>
          </a:xfrm>
        </p:spPr>
        <p:txBody>
          <a:bodyPr>
            <a:normAutofit/>
          </a:bodyPr>
          <a:lstStyle>
            <a:lvl1pPr marL="0" indent="0" algn="ctr">
              <a:buFontTx/>
              <a:buNone/>
              <a:defRPr sz="1400"/>
            </a:lvl1pPr>
          </a:lstStyle>
          <a:p>
            <a:endParaRPr lang="en-JM"/>
          </a:p>
        </p:txBody>
      </p:sp>
      <p:sp>
        <p:nvSpPr>
          <p:cNvPr id="34" name="Picture Placeholder 29"/>
          <p:cNvSpPr>
            <a:spLocks noGrp="1"/>
          </p:cNvSpPr>
          <p:nvPr>
            <p:ph type="pic" sz="quarter" idx="15"/>
          </p:nvPr>
        </p:nvSpPr>
        <p:spPr>
          <a:xfrm>
            <a:off x="4648200" y="1828800"/>
            <a:ext cx="1828800" cy="1796288"/>
          </a:xfrm>
        </p:spPr>
        <p:txBody>
          <a:bodyPr>
            <a:normAutofit/>
          </a:bodyPr>
          <a:lstStyle>
            <a:lvl1pPr marL="0" indent="0" algn="ctr">
              <a:buFontTx/>
              <a:buNone/>
              <a:defRPr sz="1400"/>
            </a:lvl1pPr>
          </a:lstStyle>
          <a:p>
            <a:endParaRPr lang="en-JM"/>
          </a:p>
        </p:txBody>
      </p:sp>
      <p:sp>
        <p:nvSpPr>
          <p:cNvPr id="36" name="Picture Placeholder 29"/>
          <p:cNvSpPr>
            <a:spLocks noGrp="1"/>
          </p:cNvSpPr>
          <p:nvPr>
            <p:ph type="pic" sz="quarter" idx="16"/>
          </p:nvPr>
        </p:nvSpPr>
        <p:spPr>
          <a:xfrm>
            <a:off x="6705600" y="1828800"/>
            <a:ext cx="1828800" cy="1796288"/>
          </a:xfrm>
        </p:spPr>
        <p:txBody>
          <a:bodyPr>
            <a:normAutofit/>
          </a:bodyPr>
          <a:lstStyle>
            <a:lvl1pPr marL="0" indent="0" algn="ctr">
              <a:buFontTx/>
              <a:buNone/>
              <a:defRPr sz="1400"/>
            </a:lvl1pPr>
          </a:lstStyle>
          <a:p>
            <a:endParaRPr lang="en-JM"/>
          </a:p>
        </p:txBody>
      </p:sp>
      <p:sp>
        <p:nvSpPr>
          <p:cNvPr id="39" name="Content Placeholder 37"/>
          <p:cNvSpPr>
            <a:spLocks noGrp="1"/>
          </p:cNvSpPr>
          <p:nvPr>
            <p:ph sz="quarter" idx="18"/>
          </p:nvPr>
        </p:nvSpPr>
        <p:spPr>
          <a:xfrm>
            <a:off x="25146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40" name="Content Placeholder 37"/>
          <p:cNvSpPr>
            <a:spLocks noGrp="1"/>
          </p:cNvSpPr>
          <p:nvPr>
            <p:ph sz="quarter" idx="19"/>
          </p:nvPr>
        </p:nvSpPr>
        <p:spPr>
          <a:xfrm>
            <a:off x="45720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41" name="Content Placeholder 37"/>
          <p:cNvSpPr>
            <a:spLocks noGrp="1"/>
          </p:cNvSpPr>
          <p:nvPr>
            <p:ph sz="quarter" idx="20"/>
          </p:nvPr>
        </p:nvSpPr>
        <p:spPr>
          <a:xfrm>
            <a:off x="66294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37" name="Content Placeholder 37"/>
          <p:cNvSpPr>
            <a:spLocks noGrp="1"/>
          </p:cNvSpPr>
          <p:nvPr>
            <p:ph sz="quarter" idx="21"/>
          </p:nvPr>
        </p:nvSpPr>
        <p:spPr>
          <a:xfrm>
            <a:off x="4572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25" name="Content Placeholder 37"/>
          <p:cNvSpPr>
            <a:spLocks noGrp="1"/>
          </p:cNvSpPr>
          <p:nvPr>
            <p:ph sz="quarter" idx="26"/>
          </p:nvPr>
        </p:nvSpPr>
        <p:spPr>
          <a:xfrm>
            <a:off x="25146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28" name="Content Placeholder 37"/>
          <p:cNvSpPr>
            <a:spLocks noGrp="1"/>
          </p:cNvSpPr>
          <p:nvPr>
            <p:ph sz="quarter" idx="27"/>
          </p:nvPr>
        </p:nvSpPr>
        <p:spPr>
          <a:xfrm>
            <a:off x="45720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29" name="Content Placeholder 37"/>
          <p:cNvSpPr>
            <a:spLocks noGrp="1"/>
          </p:cNvSpPr>
          <p:nvPr>
            <p:ph sz="quarter" idx="28"/>
          </p:nvPr>
        </p:nvSpPr>
        <p:spPr>
          <a:xfrm>
            <a:off x="66294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31" name="Content Placeholder 37"/>
          <p:cNvSpPr>
            <a:spLocks noGrp="1"/>
          </p:cNvSpPr>
          <p:nvPr>
            <p:ph sz="quarter" idx="29"/>
          </p:nvPr>
        </p:nvSpPr>
        <p:spPr>
          <a:xfrm>
            <a:off x="4572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46" name="Text Placeholder 42"/>
          <p:cNvSpPr>
            <a:spLocks noGrp="1"/>
          </p:cNvSpPr>
          <p:nvPr>
            <p:ph type="body" sz="quarter" idx="25"/>
          </p:nvPr>
        </p:nvSpPr>
        <p:spPr>
          <a:xfrm>
            <a:off x="5334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2" name="Text Placeholder 42"/>
          <p:cNvSpPr>
            <a:spLocks noGrp="1"/>
          </p:cNvSpPr>
          <p:nvPr>
            <p:ph type="body" sz="quarter" idx="30"/>
          </p:nvPr>
        </p:nvSpPr>
        <p:spPr>
          <a:xfrm>
            <a:off x="25908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7" name="Text Placeholder 42"/>
          <p:cNvSpPr>
            <a:spLocks noGrp="1"/>
          </p:cNvSpPr>
          <p:nvPr>
            <p:ph type="body" sz="quarter" idx="31"/>
          </p:nvPr>
        </p:nvSpPr>
        <p:spPr>
          <a:xfrm>
            <a:off x="46482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8" name="Text Placeholder 42"/>
          <p:cNvSpPr>
            <a:spLocks noGrp="1"/>
          </p:cNvSpPr>
          <p:nvPr>
            <p:ph type="body" sz="quarter" idx="32"/>
          </p:nvPr>
        </p:nvSpPr>
        <p:spPr>
          <a:xfrm>
            <a:off x="67056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dirty="0"/>
          </a:p>
        </p:txBody>
      </p:sp>
      <p:sp>
        <p:nvSpPr>
          <p:cNvPr id="22" name="Content Placeholder 21"/>
          <p:cNvSpPr>
            <a:spLocks noGrp="1"/>
          </p:cNvSpPr>
          <p:nvPr>
            <p:ph sz="quarter" idx="13"/>
          </p:nvPr>
        </p:nvSpPr>
        <p:spPr>
          <a:xfrm>
            <a:off x="457200" y="1320800"/>
            <a:ext cx="8229600" cy="685800"/>
          </a:xfrm>
        </p:spPr>
        <p:txBody>
          <a:bodyPr>
            <a:normAutofit/>
          </a:bodyPr>
          <a:lstStyle>
            <a:lvl1pPr>
              <a:lnSpc>
                <a:spcPct val="110000"/>
              </a:lnSpc>
              <a:spcBef>
                <a:spcPts val="0"/>
              </a:spcBef>
              <a:buNone/>
              <a:defRPr sz="1400"/>
            </a:lvl1pPr>
          </a:lstStyle>
          <a:p>
            <a:pPr lvl="0"/>
            <a:endParaRPr lang="en-JM" dirty="0"/>
          </a:p>
        </p:txBody>
      </p:sp>
      <p:sp>
        <p:nvSpPr>
          <p:cNvPr id="26" name="Chart Placeholder 25"/>
          <p:cNvSpPr>
            <a:spLocks noGrp="1"/>
          </p:cNvSpPr>
          <p:nvPr>
            <p:ph type="chart" sz="quarter" idx="14"/>
          </p:nvPr>
        </p:nvSpPr>
        <p:spPr>
          <a:xfrm>
            <a:off x="304800" y="2209800"/>
            <a:ext cx="4572000" cy="3429000"/>
          </a:xfrm>
        </p:spPr>
        <p:txBody>
          <a:bodyPr>
            <a:normAutofit/>
          </a:bodyPr>
          <a:lstStyle>
            <a:lvl1pPr>
              <a:defRPr sz="1400"/>
            </a:lvl1pPr>
          </a:lstStyle>
          <a:p>
            <a:endParaRPr lang="en-JM"/>
          </a:p>
        </p:txBody>
      </p:sp>
      <p:sp>
        <p:nvSpPr>
          <p:cNvPr id="10" name="Text Placeholder 9"/>
          <p:cNvSpPr>
            <a:spLocks noGrp="1"/>
          </p:cNvSpPr>
          <p:nvPr>
            <p:ph type="body" sz="quarter" idx="15"/>
          </p:nvPr>
        </p:nvSpPr>
        <p:spPr>
          <a:xfrm>
            <a:off x="5562600" y="3022600"/>
            <a:ext cx="2667000" cy="2336800"/>
          </a:xfrm>
        </p:spPr>
        <p:txBody>
          <a:bodyPr>
            <a:normAutofit/>
          </a:bodyPr>
          <a:lstStyle>
            <a:lvl1pPr>
              <a:lnSpc>
                <a:spcPct val="110000"/>
              </a:lnSpc>
              <a:spcBef>
                <a:spcPts val="0"/>
              </a:spcBef>
              <a:buNone/>
              <a:defRPr sz="1300"/>
            </a:lvl1pPr>
            <a:lvl2pPr>
              <a:defRPr sz="1300"/>
            </a:lvl2pPr>
            <a:lvl3pPr>
              <a:defRPr sz="1300"/>
            </a:lvl3pPr>
            <a:lvl4pPr>
              <a:defRPr sz="1300"/>
            </a:lvl4pPr>
            <a:lvl5pPr>
              <a:defRPr sz="1300"/>
            </a:lvl5pPr>
          </a:lstStyle>
          <a:p>
            <a:pPr lvl="0"/>
            <a:endParaRPr lang="en-JM" dirty="0"/>
          </a:p>
        </p:txBody>
      </p:sp>
      <p:sp>
        <p:nvSpPr>
          <p:cNvPr id="11" name="Content Placeholder 38"/>
          <p:cNvSpPr>
            <a:spLocks noGrp="1"/>
          </p:cNvSpPr>
          <p:nvPr>
            <p:ph sz="quarter" idx="37"/>
          </p:nvPr>
        </p:nvSpPr>
        <p:spPr>
          <a:xfrm>
            <a:off x="5562600" y="2514600"/>
            <a:ext cx="2438400" cy="381000"/>
          </a:xfrm>
          <a:solidFill>
            <a:srgbClr val="0070C0"/>
          </a:solidFill>
        </p:spPr>
        <p:txBody>
          <a:bodyPr anchor="ctr">
            <a:noAutofit/>
          </a:bodyPr>
          <a:lstStyle>
            <a:lvl1pPr algn="l">
              <a:buNone/>
              <a:defRPr sz="16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 Layout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6" name="Chart Placeholder 25"/>
          <p:cNvSpPr>
            <a:spLocks noGrp="1"/>
          </p:cNvSpPr>
          <p:nvPr>
            <p:ph type="chart" sz="quarter" idx="14"/>
          </p:nvPr>
        </p:nvSpPr>
        <p:spPr>
          <a:xfrm>
            <a:off x="4343400" y="1498600"/>
            <a:ext cx="4343400" cy="4140200"/>
          </a:xfrm>
        </p:spPr>
        <p:txBody>
          <a:bodyPr>
            <a:normAutofit/>
          </a:bodyPr>
          <a:lstStyle>
            <a:lvl1pPr>
              <a:defRPr sz="1400"/>
            </a:lvl1pPr>
          </a:lstStyle>
          <a:p>
            <a:endParaRPr lang="en-JM" dirty="0"/>
          </a:p>
        </p:txBody>
      </p:sp>
      <p:sp>
        <p:nvSpPr>
          <p:cNvPr id="10" name="Text Placeholder 18"/>
          <p:cNvSpPr>
            <a:spLocks noGrp="1"/>
          </p:cNvSpPr>
          <p:nvPr>
            <p:ph type="body" sz="quarter" idx="15"/>
          </p:nvPr>
        </p:nvSpPr>
        <p:spPr>
          <a:xfrm>
            <a:off x="533400" y="18034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1" name="Text Placeholder 20"/>
          <p:cNvSpPr>
            <a:spLocks noGrp="1"/>
          </p:cNvSpPr>
          <p:nvPr>
            <p:ph type="body" sz="quarter" idx="16"/>
          </p:nvPr>
        </p:nvSpPr>
        <p:spPr>
          <a:xfrm>
            <a:off x="533400" y="21082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2" name="Text Placeholder 18"/>
          <p:cNvSpPr>
            <a:spLocks noGrp="1"/>
          </p:cNvSpPr>
          <p:nvPr>
            <p:ph type="body" sz="quarter" idx="17"/>
          </p:nvPr>
        </p:nvSpPr>
        <p:spPr>
          <a:xfrm>
            <a:off x="533400" y="32258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3" name="Text Placeholder 20"/>
          <p:cNvSpPr>
            <a:spLocks noGrp="1"/>
          </p:cNvSpPr>
          <p:nvPr>
            <p:ph type="body" sz="quarter" idx="18"/>
          </p:nvPr>
        </p:nvSpPr>
        <p:spPr>
          <a:xfrm>
            <a:off x="533400" y="35306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18"/>
          <p:cNvSpPr>
            <a:spLocks noGrp="1"/>
          </p:cNvSpPr>
          <p:nvPr>
            <p:ph type="body" sz="quarter" idx="19"/>
          </p:nvPr>
        </p:nvSpPr>
        <p:spPr>
          <a:xfrm>
            <a:off x="533400" y="46482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5" name="Text Placeholder 20"/>
          <p:cNvSpPr>
            <a:spLocks noGrp="1"/>
          </p:cNvSpPr>
          <p:nvPr>
            <p:ph type="body" sz="quarter" idx="20"/>
          </p:nvPr>
        </p:nvSpPr>
        <p:spPr>
          <a:xfrm>
            <a:off x="533400" y="49530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ph Layout Option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2" name="Content Placeholder 21"/>
          <p:cNvSpPr>
            <a:spLocks noGrp="1"/>
          </p:cNvSpPr>
          <p:nvPr>
            <p:ph sz="quarter" idx="13"/>
          </p:nvPr>
        </p:nvSpPr>
        <p:spPr>
          <a:xfrm>
            <a:off x="457200" y="1219200"/>
            <a:ext cx="8229600" cy="685800"/>
          </a:xfrm>
        </p:spPr>
        <p:txBody>
          <a:bodyPr>
            <a:normAutofit/>
          </a:bodyPr>
          <a:lstStyle>
            <a:lvl1pPr>
              <a:lnSpc>
                <a:spcPct val="110000"/>
              </a:lnSpc>
              <a:spcBef>
                <a:spcPts val="0"/>
              </a:spcBef>
              <a:buNone/>
              <a:defRPr sz="1400"/>
            </a:lvl1pPr>
          </a:lstStyle>
          <a:p>
            <a:pPr lvl="0"/>
            <a:endParaRPr lang="en-JM" dirty="0"/>
          </a:p>
        </p:txBody>
      </p:sp>
      <p:sp>
        <p:nvSpPr>
          <p:cNvPr id="26" name="Chart Placeholder 25"/>
          <p:cNvSpPr>
            <a:spLocks noGrp="1"/>
          </p:cNvSpPr>
          <p:nvPr>
            <p:ph type="chart" sz="quarter" idx="14"/>
          </p:nvPr>
        </p:nvSpPr>
        <p:spPr>
          <a:xfrm>
            <a:off x="304800" y="2209800"/>
            <a:ext cx="4572000" cy="3429000"/>
          </a:xfrm>
        </p:spPr>
        <p:txBody>
          <a:bodyPr>
            <a:normAutofit/>
          </a:bodyPr>
          <a:lstStyle>
            <a:lvl1pPr>
              <a:defRPr sz="1400"/>
            </a:lvl1pPr>
          </a:lstStyle>
          <a:p>
            <a:endParaRPr lang="en-JM"/>
          </a:p>
        </p:txBody>
      </p:sp>
      <p:sp>
        <p:nvSpPr>
          <p:cNvPr id="23" name="Text Placeholder 22"/>
          <p:cNvSpPr>
            <a:spLocks noGrp="1"/>
          </p:cNvSpPr>
          <p:nvPr>
            <p:ph type="body" sz="quarter" idx="15"/>
          </p:nvPr>
        </p:nvSpPr>
        <p:spPr>
          <a:xfrm>
            <a:off x="5867400" y="24130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4" name="Text Placeholder 22"/>
          <p:cNvSpPr>
            <a:spLocks noGrp="1"/>
          </p:cNvSpPr>
          <p:nvPr>
            <p:ph type="body" sz="quarter" idx="16"/>
          </p:nvPr>
        </p:nvSpPr>
        <p:spPr>
          <a:xfrm>
            <a:off x="5867400" y="32258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5" name="Text Placeholder 22"/>
          <p:cNvSpPr>
            <a:spLocks noGrp="1"/>
          </p:cNvSpPr>
          <p:nvPr>
            <p:ph type="body" sz="quarter" idx="17"/>
          </p:nvPr>
        </p:nvSpPr>
        <p:spPr>
          <a:xfrm>
            <a:off x="5867400" y="40386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7" name="Text Placeholder 22"/>
          <p:cNvSpPr>
            <a:spLocks noGrp="1"/>
          </p:cNvSpPr>
          <p:nvPr>
            <p:ph type="body" sz="quarter" idx="18"/>
          </p:nvPr>
        </p:nvSpPr>
        <p:spPr>
          <a:xfrm>
            <a:off x="5867400" y="48514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8" name="Content Placeholder 38"/>
          <p:cNvSpPr>
            <a:spLocks noGrp="1"/>
          </p:cNvSpPr>
          <p:nvPr>
            <p:ph sz="quarter" idx="37"/>
          </p:nvPr>
        </p:nvSpPr>
        <p:spPr>
          <a:xfrm>
            <a:off x="5029200" y="25809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29" name="Content Placeholder 38"/>
          <p:cNvSpPr>
            <a:spLocks noGrp="1"/>
          </p:cNvSpPr>
          <p:nvPr>
            <p:ph sz="quarter" idx="38"/>
          </p:nvPr>
        </p:nvSpPr>
        <p:spPr>
          <a:xfrm>
            <a:off x="5029200" y="3419197"/>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30" name="Content Placeholder 38"/>
          <p:cNvSpPr>
            <a:spLocks noGrp="1"/>
          </p:cNvSpPr>
          <p:nvPr>
            <p:ph sz="quarter" idx="39"/>
          </p:nvPr>
        </p:nvSpPr>
        <p:spPr>
          <a:xfrm>
            <a:off x="5029200" y="42319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31" name="Content Placeholder 38"/>
          <p:cNvSpPr>
            <a:spLocks noGrp="1"/>
          </p:cNvSpPr>
          <p:nvPr>
            <p:ph sz="quarter" idx="40"/>
          </p:nvPr>
        </p:nvSpPr>
        <p:spPr>
          <a:xfrm>
            <a:off x="5029200" y="50447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mart Ar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2" name="Content Placeholder 21"/>
          <p:cNvSpPr>
            <a:spLocks noGrp="1"/>
          </p:cNvSpPr>
          <p:nvPr>
            <p:ph sz="quarter" idx="13"/>
          </p:nvPr>
        </p:nvSpPr>
        <p:spPr>
          <a:xfrm>
            <a:off x="457200" y="1219200"/>
            <a:ext cx="8229600" cy="685800"/>
          </a:xfrm>
        </p:spPr>
        <p:txBody>
          <a:bodyPr>
            <a:normAutofit/>
          </a:bodyPr>
          <a:lstStyle>
            <a:lvl1pPr>
              <a:lnSpc>
                <a:spcPct val="110000"/>
              </a:lnSpc>
              <a:spcBef>
                <a:spcPts val="0"/>
              </a:spcBef>
              <a:buNone/>
              <a:defRPr sz="1400"/>
            </a:lvl1pPr>
          </a:lstStyle>
          <a:p>
            <a:pPr lvl="0"/>
            <a:endParaRPr lang="en-JM" dirty="0"/>
          </a:p>
        </p:txBody>
      </p:sp>
      <p:sp>
        <p:nvSpPr>
          <p:cNvPr id="9" name="SmartArt Placeholder 8"/>
          <p:cNvSpPr>
            <a:spLocks noGrp="1"/>
          </p:cNvSpPr>
          <p:nvPr>
            <p:ph type="dgm" sz="quarter" idx="15"/>
          </p:nvPr>
        </p:nvSpPr>
        <p:spPr>
          <a:xfrm>
            <a:off x="381000" y="2133600"/>
            <a:ext cx="4419600" cy="3505200"/>
          </a:xfrm>
        </p:spPr>
        <p:txBody>
          <a:bodyPr>
            <a:normAutofit/>
          </a:bodyPr>
          <a:lstStyle>
            <a:lvl1pPr>
              <a:defRPr sz="1400"/>
            </a:lvl1pPr>
          </a:lstStyle>
          <a:p>
            <a:endParaRPr lang="en-JM"/>
          </a:p>
        </p:txBody>
      </p:sp>
      <p:sp>
        <p:nvSpPr>
          <p:cNvPr id="8" name="Text Placeholder 22"/>
          <p:cNvSpPr>
            <a:spLocks noGrp="1"/>
          </p:cNvSpPr>
          <p:nvPr>
            <p:ph type="body" sz="quarter" idx="16"/>
          </p:nvPr>
        </p:nvSpPr>
        <p:spPr>
          <a:xfrm>
            <a:off x="5867400" y="24130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0" name="Text Placeholder 22"/>
          <p:cNvSpPr>
            <a:spLocks noGrp="1"/>
          </p:cNvSpPr>
          <p:nvPr>
            <p:ph type="body" sz="quarter" idx="17"/>
          </p:nvPr>
        </p:nvSpPr>
        <p:spPr>
          <a:xfrm>
            <a:off x="5867400" y="32258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1" name="Text Placeholder 22"/>
          <p:cNvSpPr>
            <a:spLocks noGrp="1"/>
          </p:cNvSpPr>
          <p:nvPr>
            <p:ph type="body" sz="quarter" idx="18"/>
          </p:nvPr>
        </p:nvSpPr>
        <p:spPr>
          <a:xfrm>
            <a:off x="5867400" y="40386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2" name="Text Placeholder 22"/>
          <p:cNvSpPr>
            <a:spLocks noGrp="1"/>
          </p:cNvSpPr>
          <p:nvPr>
            <p:ph type="body" sz="quarter" idx="19"/>
          </p:nvPr>
        </p:nvSpPr>
        <p:spPr>
          <a:xfrm>
            <a:off x="5867400" y="48514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3" name="Content Placeholder 38"/>
          <p:cNvSpPr>
            <a:spLocks noGrp="1"/>
          </p:cNvSpPr>
          <p:nvPr>
            <p:ph sz="quarter" idx="37"/>
          </p:nvPr>
        </p:nvSpPr>
        <p:spPr>
          <a:xfrm>
            <a:off x="5105400" y="25809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4" name="Content Placeholder 38"/>
          <p:cNvSpPr>
            <a:spLocks noGrp="1"/>
          </p:cNvSpPr>
          <p:nvPr>
            <p:ph sz="quarter" idx="38"/>
          </p:nvPr>
        </p:nvSpPr>
        <p:spPr>
          <a:xfrm>
            <a:off x="5105400" y="3419197"/>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5" name="Content Placeholder 38"/>
          <p:cNvSpPr>
            <a:spLocks noGrp="1"/>
          </p:cNvSpPr>
          <p:nvPr>
            <p:ph sz="quarter" idx="39"/>
          </p:nvPr>
        </p:nvSpPr>
        <p:spPr>
          <a:xfrm>
            <a:off x="5105400" y="42319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6" name="Content Placeholder 38"/>
          <p:cNvSpPr>
            <a:spLocks noGrp="1"/>
          </p:cNvSpPr>
          <p:nvPr>
            <p:ph sz="quarter" idx="40"/>
          </p:nvPr>
        </p:nvSpPr>
        <p:spPr>
          <a:xfrm>
            <a:off x="5105400" y="50447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omething About Us">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533400" y="1320800"/>
            <a:ext cx="8001000" cy="3327400"/>
          </a:xfrm>
          <a:ln w="38100">
            <a:solidFill>
              <a:schemeClr val="bg1">
                <a:lumMod val="95000"/>
              </a:schemeClr>
            </a:solidFill>
            <a:miter lim="800000"/>
          </a:ln>
          <a:effectLst/>
        </p:spPr>
        <p:txBody>
          <a:bodyPr>
            <a:normAutofit/>
          </a:bodyPr>
          <a:lstStyle>
            <a:lvl1pPr>
              <a:defRPr sz="1400"/>
            </a:lvl1pPr>
          </a:lstStyle>
          <a:p>
            <a:endParaRPr lang="en-JM"/>
          </a:p>
        </p:txBody>
      </p:sp>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a:xfrm>
            <a:off x="457200" y="6375400"/>
            <a:ext cx="6019800" cy="390525"/>
          </a:xfrm>
        </p:spPr>
        <p:txBody>
          <a:bodyPr/>
          <a:lstStyle>
            <a:lvl1pPr>
              <a:defRPr sz="1400"/>
            </a:lvl1pPr>
          </a:lstStyle>
          <a:p>
            <a:r>
              <a:rPr lang="en-JM"/>
              <a:t>PUT THE NAME OF YOUR COMPANY HERE</a:t>
            </a:r>
            <a:endParaRPr lang="en-JM" dirty="0"/>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4800600" y="4953000"/>
            <a:ext cx="3810000" cy="914400"/>
          </a:xfrm>
        </p:spPr>
        <p:txBody>
          <a:bodyPr>
            <a:noAutofit/>
          </a:bodyPr>
          <a:lstStyle>
            <a:lvl1pPr algn="r">
              <a:lnSpc>
                <a:spcPct val="110000"/>
              </a:lnSpc>
              <a:spcBef>
                <a:spcPts val="0"/>
              </a:spcBef>
              <a:buNone/>
              <a:defRPr sz="1300"/>
            </a:lvl1pPr>
            <a:lvl2pPr>
              <a:defRPr sz="1600"/>
            </a:lvl2pPr>
            <a:lvl3pPr>
              <a:defRPr sz="1600"/>
            </a:lvl3pPr>
            <a:lvl4pPr>
              <a:defRPr sz="1600"/>
            </a:lvl4pPr>
            <a:lvl5pPr>
              <a:buNone/>
              <a:defRPr sz="1600"/>
            </a:lvl5pPr>
          </a:lstStyle>
          <a:p>
            <a:pPr lvl="0"/>
            <a:endParaRPr lang="en-JM" dirty="0"/>
          </a:p>
        </p:txBody>
      </p:sp>
      <p:sp>
        <p:nvSpPr>
          <p:cNvPr id="14" name="Content Placeholder 38"/>
          <p:cNvSpPr>
            <a:spLocks noGrp="1"/>
          </p:cNvSpPr>
          <p:nvPr>
            <p:ph sz="quarter" idx="36"/>
          </p:nvPr>
        </p:nvSpPr>
        <p:spPr>
          <a:xfrm>
            <a:off x="533400" y="4978400"/>
            <a:ext cx="2438400" cy="381000"/>
          </a:xfrm>
          <a:solidFill>
            <a:schemeClr val="tx1">
              <a:lumMod val="85000"/>
              <a:lumOff val="15000"/>
            </a:schemeClr>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5" name="Content Placeholder 38"/>
          <p:cNvSpPr>
            <a:spLocks noGrp="1"/>
          </p:cNvSpPr>
          <p:nvPr>
            <p:ph sz="quarter" idx="37"/>
          </p:nvPr>
        </p:nvSpPr>
        <p:spPr>
          <a:xfrm>
            <a:off x="533400" y="5359400"/>
            <a:ext cx="2971800" cy="381000"/>
          </a:xfrm>
          <a:solidFill>
            <a:srgbClr val="0070C0"/>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Gallery">
    <p:spTree>
      <p:nvGrpSpPr>
        <p:cNvPr id="1" name=""/>
        <p:cNvGrpSpPr/>
        <p:nvPr/>
      </p:nvGrpSpPr>
      <p:grpSpPr>
        <a:xfrm>
          <a:off x="0" y="0"/>
          <a:ext cx="0" cy="0"/>
          <a:chOff x="0" y="0"/>
          <a:chExt cx="0" cy="0"/>
        </a:xfrm>
      </p:grpSpPr>
      <p:sp>
        <p:nvSpPr>
          <p:cNvPr id="20" name="Picture Placeholder 19"/>
          <p:cNvSpPr>
            <a:spLocks noGrp="1"/>
          </p:cNvSpPr>
          <p:nvPr>
            <p:ph type="pic" sz="quarter" idx="13"/>
          </p:nvPr>
        </p:nvSpPr>
        <p:spPr>
          <a:xfrm>
            <a:off x="5334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4" name="Picture Placeholder 19"/>
          <p:cNvSpPr>
            <a:spLocks noGrp="1"/>
          </p:cNvSpPr>
          <p:nvPr>
            <p:ph type="pic" sz="quarter" idx="26"/>
          </p:nvPr>
        </p:nvSpPr>
        <p:spPr>
          <a:xfrm>
            <a:off x="31242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5" name="Picture Placeholder 19"/>
          <p:cNvSpPr>
            <a:spLocks noGrp="1"/>
          </p:cNvSpPr>
          <p:nvPr>
            <p:ph type="pic" sz="quarter" idx="27"/>
          </p:nvPr>
        </p:nvSpPr>
        <p:spPr>
          <a:xfrm>
            <a:off x="57150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6" name="Picture Placeholder 19"/>
          <p:cNvSpPr>
            <a:spLocks noGrp="1"/>
          </p:cNvSpPr>
          <p:nvPr>
            <p:ph type="pic" sz="quarter" idx="28"/>
          </p:nvPr>
        </p:nvSpPr>
        <p:spPr>
          <a:xfrm>
            <a:off x="533400" y="38354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7" name="Picture Placeholder 19"/>
          <p:cNvSpPr>
            <a:spLocks noGrp="1"/>
          </p:cNvSpPr>
          <p:nvPr>
            <p:ph type="pic" sz="quarter" idx="29"/>
          </p:nvPr>
        </p:nvSpPr>
        <p:spPr>
          <a:xfrm>
            <a:off x="3124200" y="3835400"/>
            <a:ext cx="2286000" cy="1524000"/>
          </a:xfrm>
          <a:ln w="28575">
            <a:noFill/>
            <a:miter lim="800000"/>
          </a:ln>
          <a:effectLst/>
        </p:spPr>
        <p:txBody>
          <a:bodyPr>
            <a:normAutofit/>
          </a:bodyPr>
          <a:lstStyle>
            <a:lvl1pPr marL="0" indent="0" algn="ctr">
              <a:buFontTx/>
              <a:buNone/>
              <a:defRPr sz="1400"/>
            </a:lvl1pPr>
          </a:lstStyle>
          <a:p>
            <a:endParaRPr lang="en-JM" dirty="0"/>
          </a:p>
        </p:txBody>
      </p:sp>
      <p:sp>
        <p:nvSpPr>
          <p:cNvPr id="18" name="Picture Placeholder 19"/>
          <p:cNvSpPr>
            <a:spLocks noGrp="1"/>
          </p:cNvSpPr>
          <p:nvPr>
            <p:ph type="pic" sz="quarter" idx="30"/>
          </p:nvPr>
        </p:nvSpPr>
        <p:spPr>
          <a:xfrm>
            <a:off x="5715000" y="38354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9" name="Text Placeholder 28"/>
          <p:cNvSpPr>
            <a:spLocks noGrp="1"/>
          </p:cNvSpPr>
          <p:nvPr>
            <p:ph type="body" sz="quarter" idx="31"/>
          </p:nvPr>
        </p:nvSpPr>
        <p:spPr>
          <a:xfrm>
            <a:off x="5334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30" name="Text Placeholder 28"/>
          <p:cNvSpPr>
            <a:spLocks noGrp="1"/>
          </p:cNvSpPr>
          <p:nvPr>
            <p:ph type="body" sz="quarter" idx="37"/>
          </p:nvPr>
        </p:nvSpPr>
        <p:spPr>
          <a:xfrm>
            <a:off x="31242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31" name="Text Placeholder 28"/>
          <p:cNvSpPr>
            <a:spLocks noGrp="1"/>
          </p:cNvSpPr>
          <p:nvPr>
            <p:ph type="body" sz="quarter" idx="38"/>
          </p:nvPr>
        </p:nvSpPr>
        <p:spPr>
          <a:xfrm>
            <a:off x="57150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7" name="Text Placeholder 28"/>
          <p:cNvSpPr>
            <a:spLocks noGrp="1"/>
          </p:cNvSpPr>
          <p:nvPr>
            <p:ph type="body" sz="quarter" idx="39"/>
          </p:nvPr>
        </p:nvSpPr>
        <p:spPr>
          <a:xfrm>
            <a:off x="5334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8" name="Text Placeholder 28"/>
          <p:cNvSpPr>
            <a:spLocks noGrp="1"/>
          </p:cNvSpPr>
          <p:nvPr>
            <p:ph type="body" sz="quarter" idx="40"/>
          </p:nvPr>
        </p:nvSpPr>
        <p:spPr>
          <a:xfrm>
            <a:off x="31242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9" name="Text Placeholder 28"/>
          <p:cNvSpPr>
            <a:spLocks noGrp="1"/>
          </p:cNvSpPr>
          <p:nvPr>
            <p:ph type="body" sz="quarter" idx="41"/>
          </p:nvPr>
        </p:nvSpPr>
        <p:spPr>
          <a:xfrm>
            <a:off x="57150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ur Servi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7" name="Rectangle 6"/>
          <p:cNvSpPr/>
          <p:nvPr/>
        </p:nvSpPr>
        <p:spPr>
          <a:xfrm>
            <a:off x="533400" y="1372815"/>
            <a:ext cx="7772400" cy="532187"/>
          </a:xfrm>
          <a:prstGeom prst="rect">
            <a:avLst/>
          </a:prstGeom>
          <a:solidFill>
            <a:schemeClr val="bg1">
              <a:lumMod val="95000"/>
            </a:schemeClr>
          </a:solidFill>
          <a:ln w="6350">
            <a:solidFill>
              <a:schemeClr val="bg1">
                <a:lumMod val="85000"/>
              </a:schemeClr>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p>
        </p:txBody>
      </p:sp>
      <p:sp>
        <p:nvSpPr>
          <p:cNvPr id="28" name="Picture Placeholder 27"/>
          <p:cNvSpPr>
            <a:spLocks noGrp="1"/>
          </p:cNvSpPr>
          <p:nvPr userDrawn="1">
            <p:ph type="pic" sz="quarter" idx="13"/>
          </p:nvPr>
        </p:nvSpPr>
        <p:spPr>
          <a:xfrm>
            <a:off x="533400" y="24384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29" name="Picture Placeholder 27"/>
          <p:cNvSpPr>
            <a:spLocks noGrp="1"/>
          </p:cNvSpPr>
          <p:nvPr userDrawn="1">
            <p:ph type="pic" sz="quarter" idx="14"/>
          </p:nvPr>
        </p:nvSpPr>
        <p:spPr>
          <a:xfrm>
            <a:off x="533400" y="42672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0" name="Picture Placeholder 27"/>
          <p:cNvSpPr>
            <a:spLocks noGrp="1"/>
          </p:cNvSpPr>
          <p:nvPr userDrawn="1">
            <p:ph type="pic" sz="quarter" idx="15"/>
          </p:nvPr>
        </p:nvSpPr>
        <p:spPr>
          <a:xfrm>
            <a:off x="4724400" y="42672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1" name="Picture Placeholder 27"/>
          <p:cNvSpPr>
            <a:spLocks noGrp="1"/>
          </p:cNvSpPr>
          <p:nvPr userDrawn="1">
            <p:ph type="pic" sz="quarter" idx="16"/>
          </p:nvPr>
        </p:nvSpPr>
        <p:spPr>
          <a:xfrm>
            <a:off x="4724400" y="24384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3" name="Text Placeholder 32"/>
          <p:cNvSpPr>
            <a:spLocks noGrp="1"/>
          </p:cNvSpPr>
          <p:nvPr userDrawn="1">
            <p:ph type="body" sz="quarter" idx="17"/>
          </p:nvPr>
        </p:nvSpPr>
        <p:spPr>
          <a:xfrm>
            <a:off x="1600200" y="24130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5" name="Content Placeholder 34"/>
          <p:cNvSpPr>
            <a:spLocks noGrp="1"/>
          </p:cNvSpPr>
          <p:nvPr userDrawn="1">
            <p:ph sz="quarter" idx="18"/>
          </p:nvPr>
        </p:nvSpPr>
        <p:spPr>
          <a:xfrm>
            <a:off x="1600200" y="2768600"/>
            <a:ext cx="2667000" cy="1066800"/>
          </a:xfrm>
        </p:spPr>
        <p:txBody>
          <a:bodyPr>
            <a:noAutofit/>
          </a:bodyPr>
          <a:lstStyle>
            <a:lvl1pPr marL="342900" marR="0" indent="-342900" algn="l" defTabSz="914400" rtl="0" eaLnBrk="1" fontAlgn="auto" latinLnBrk="0" hangingPunct="1">
              <a:lnSpc>
                <a:spcPct val="110000"/>
              </a:lnSpc>
              <a:spcBef>
                <a:spcPts val="0"/>
              </a:spcBef>
              <a:spcAft>
                <a:spcPts val="0"/>
              </a:spcAft>
              <a:buClrTx/>
              <a:buSzTx/>
              <a:buFont typeface="Arial" pitchFamily="34" charset="0"/>
              <a:buNone/>
              <a:tabLst/>
              <a:defRPr sz="1300"/>
            </a:lvl1pPr>
            <a:lvl2pPr>
              <a:defRPr sz="1600"/>
            </a:lvl2pPr>
            <a:lvl3pPr>
              <a:defRPr sz="1600"/>
            </a:lvl3pPr>
            <a:lvl4pPr>
              <a:defRPr sz="1600"/>
            </a:lvl4pPr>
            <a:lvl5pPr>
              <a:defRPr sz="1600"/>
            </a:lvl5pPr>
          </a:lstStyle>
          <a:p>
            <a:pPr lvl="0"/>
            <a:endParaRPr lang="en-JM" dirty="0"/>
          </a:p>
        </p:txBody>
      </p:sp>
      <p:sp>
        <p:nvSpPr>
          <p:cNvPr id="36" name="Text Placeholder 32"/>
          <p:cNvSpPr>
            <a:spLocks noGrp="1"/>
          </p:cNvSpPr>
          <p:nvPr userDrawn="1">
            <p:ph type="body" sz="quarter" idx="19"/>
          </p:nvPr>
        </p:nvSpPr>
        <p:spPr>
          <a:xfrm>
            <a:off x="5791200" y="24130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7" name="Content Placeholder 34"/>
          <p:cNvSpPr>
            <a:spLocks noGrp="1"/>
          </p:cNvSpPr>
          <p:nvPr userDrawn="1">
            <p:ph sz="quarter" idx="20"/>
          </p:nvPr>
        </p:nvSpPr>
        <p:spPr>
          <a:xfrm>
            <a:off x="5791200" y="27686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38" name="Text Placeholder 32"/>
          <p:cNvSpPr>
            <a:spLocks noGrp="1"/>
          </p:cNvSpPr>
          <p:nvPr userDrawn="1">
            <p:ph type="body" sz="quarter" idx="21"/>
          </p:nvPr>
        </p:nvSpPr>
        <p:spPr>
          <a:xfrm>
            <a:off x="1600200" y="42418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9" name="Content Placeholder 34"/>
          <p:cNvSpPr>
            <a:spLocks noGrp="1"/>
          </p:cNvSpPr>
          <p:nvPr userDrawn="1">
            <p:ph sz="quarter" idx="22"/>
          </p:nvPr>
        </p:nvSpPr>
        <p:spPr>
          <a:xfrm>
            <a:off x="1600200" y="45974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40" name="Text Placeholder 32"/>
          <p:cNvSpPr>
            <a:spLocks noGrp="1"/>
          </p:cNvSpPr>
          <p:nvPr userDrawn="1">
            <p:ph type="body" sz="quarter" idx="23"/>
          </p:nvPr>
        </p:nvSpPr>
        <p:spPr>
          <a:xfrm>
            <a:off x="5791200" y="42418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41" name="Content Placeholder 34"/>
          <p:cNvSpPr>
            <a:spLocks noGrp="1"/>
          </p:cNvSpPr>
          <p:nvPr userDrawn="1">
            <p:ph sz="quarter" idx="24"/>
          </p:nvPr>
        </p:nvSpPr>
        <p:spPr>
          <a:xfrm>
            <a:off x="5791200" y="45974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6" name="Text Placeholder 25"/>
          <p:cNvSpPr>
            <a:spLocks noGrp="1"/>
          </p:cNvSpPr>
          <p:nvPr>
            <p:ph type="body" sz="quarter" idx="25"/>
          </p:nvPr>
        </p:nvSpPr>
        <p:spPr>
          <a:xfrm>
            <a:off x="533400" y="1397000"/>
            <a:ext cx="1905000" cy="508000"/>
          </a:xfrm>
        </p:spPr>
        <p:txBody>
          <a:bodyPr anchor="ctr">
            <a:normAutofit/>
          </a:bodyPr>
          <a:lstStyle>
            <a:lvl1pPr algn="ctr">
              <a:buNone/>
              <a:defRPr sz="1700">
                <a:latin typeface="Bebas Neue" pitchFamily="34" charset="0"/>
              </a:defRPr>
            </a:lvl1pPr>
          </a:lstStyle>
          <a:p>
            <a:pPr lvl="0"/>
            <a:endParaRPr lang="en-JM" dirty="0"/>
          </a:p>
        </p:txBody>
      </p:sp>
      <p:sp>
        <p:nvSpPr>
          <p:cNvPr id="27" name="Text Placeholder 25"/>
          <p:cNvSpPr>
            <a:spLocks noGrp="1"/>
          </p:cNvSpPr>
          <p:nvPr>
            <p:ph type="body" sz="quarter" idx="26"/>
          </p:nvPr>
        </p:nvSpPr>
        <p:spPr>
          <a:xfrm>
            <a:off x="2590800" y="1397000"/>
            <a:ext cx="2057400" cy="508000"/>
          </a:xfrm>
        </p:spPr>
        <p:txBody>
          <a:bodyPr anchor="ctr">
            <a:normAutofit/>
          </a:bodyPr>
          <a:lstStyle>
            <a:lvl1pPr algn="ctr">
              <a:buNone/>
              <a:defRPr sz="1700">
                <a:latin typeface="Bebas Neue" pitchFamily="34" charset="0"/>
              </a:defRPr>
            </a:lvl1pPr>
          </a:lstStyle>
          <a:p>
            <a:pPr lvl="0"/>
            <a:endParaRPr lang="en-JM" dirty="0"/>
          </a:p>
        </p:txBody>
      </p:sp>
      <p:sp>
        <p:nvSpPr>
          <p:cNvPr id="32" name="Text Placeholder 25"/>
          <p:cNvSpPr>
            <a:spLocks noGrp="1"/>
          </p:cNvSpPr>
          <p:nvPr>
            <p:ph type="body" sz="quarter" idx="27"/>
          </p:nvPr>
        </p:nvSpPr>
        <p:spPr>
          <a:xfrm>
            <a:off x="4724400" y="1397000"/>
            <a:ext cx="1524000" cy="508000"/>
          </a:xfrm>
        </p:spPr>
        <p:txBody>
          <a:bodyPr anchor="ctr">
            <a:normAutofit/>
          </a:bodyPr>
          <a:lstStyle>
            <a:lvl1pPr algn="ctr">
              <a:buNone/>
              <a:defRPr sz="1700">
                <a:latin typeface="Bebas Neue" pitchFamily="34" charset="0"/>
              </a:defRPr>
            </a:lvl1pPr>
          </a:lstStyle>
          <a:p>
            <a:pPr lvl="0"/>
            <a:endParaRPr lang="en-JM" dirty="0"/>
          </a:p>
        </p:txBody>
      </p:sp>
      <p:sp>
        <p:nvSpPr>
          <p:cNvPr id="34" name="Text Placeholder 25"/>
          <p:cNvSpPr>
            <a:spLocks noGrp="1"/>
          </p:cNvSpPr>
          <p:nvPr>
            <p:ph type="body" sz="quarter" idx="28"/>
          </p:nvPr>
        </p:nvSpPr>
        <p:spPr>
          <a:xfrm>
            <a:off x="6400800" y="1397000"/>
            <a:ext cx="1828800" cy="508000"/>
          </a:xfrm>
        </p:spPr>
        <p:txBody>
          <a:bodyPr anchor="ctr">
            <a:normAutofit/>
          </a:bodyPr>
          <a:lstStyle>
            <a:lvl1pPr algn="ctr">
              <a:buNone/>
              <a:defRPr sz="1700">
                <a:latin typeface="Bebas Neue" pitchFamily="34" charset="0"/>
              </a:defRPr>
            </a:lvl1pPr>
          </a:lstStyle>
          <a:p>
            <a:pPr lvl="0"/>
            <a:endParaRPr lang="en-JM"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4" name="Content Placeholder 13"/>
          <p:cNvSpPr>
            <a:spLocks noGrp="1"/>
          </p:cNvSpPr>
          <p:nvPr>
            <p:ph sz="quarter" idx="13"/>
          </p:nvPr>
        </p:nvSpPr>
        <p:spPr>
          <a:xfrm>
            <a:off x="533400" y="2057400"/>
            <a:ext cx="2514600" cy="3733800"/>
          </a:xfrm>
        </p:spPr>
        <p:txBody>
          <a:bodyPr>
            <a:normAutofit/>
          </a:bodyPr>
          <a:lstStyle>
            <a:lvl1pPr>
              <a:lnSpc>
                <a:spcPct val="110000"/>
              </a:lnSpc>
              <a:spcBef>
                <a:spcPts val="0"/>
              </a:spcBef>
              <a:buNone/>
              <a:defRPr sz="1300"/>
            </a:lvl1pPr>
          </a:lstStyle>
          <a:p>
            <a:pPr lvl="0"/>
            <a:endParaRPr lang="en-JM" dirty="0"/>
          </a:p>
        </p:txBody>
      </p:sp>
      <p:sp>
        <p:nvSpPr>
          <p:cNvPr id="12" name="Content Placeholder 38"/>
          <p:cNvSpPr>
            <a:spLocks noGrp="1"/>
          </p:cNvSpPr>
          <p:nvPr>
            <p:ph sz="quarter" idx="39"/>
          </p:nvPr>
        </p:nvSpPr>
        <p:spPr>
          <a:xfrm>
            <a:off x="533400" y="1549400"/>
            <a:ext cx="210312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17" name="Content Placeholder 38"/>
          <p:cNvSpPr>
            <a:spLocks noGrp="1"/>
          </p:cNvSpPr>
          <p:nvPr>
            <p:ph sz="quarter" idx="40"/>
          </p:nvPr>
        </p:nvSpPr>
        <p:spPr>
          <a:xfrm>
            <a:off x="3352800" y="1549400"/>
            <a:ext cx="213360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18" name="Content Placeholder 38"/>
          <p:cNvSpPr>
            <a:spLocks noGrp="1"/>
          </p:cNvSpPr>
          <p:nvPr>
            <p:ph sz="quarter" idx="41"/>
          </p:nvPr>
        </p:nvSpPr>
        <p:spPr>
          <a:xfrm>
            <a:off x="6248400" y="1549400"/>
            <a:ext cx="213360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0" name="Content Placeholder 13"/>
          <p:cNvSpPr>
            <a:spLocks noGrp="1"/>
          </p:cNvSpPr>
          <p:nvPr>
            <p:ph sz="quarter" idx="42"/>
          </p:nvPr>
        </p:nvSpPr>
        <p:spPr>
          <a:xfrm>
            <a:off x="3352800" y="2057400"/>
            <a:ext cx="2514600" cy="3733800"/>
          </a:xfrm>
        </p:spPr>
        <p:txBody>
          <a:bodyPr>
            <a:normAutofit/>
          </a:bodyPr>
          <a:lstStyle>
            <a:lvl1pPr>
              <a:lnSpc>
                <a:spcPct val="110000"/>
              </a:lnSpc>
              <a:spcBef>
                <a:spcPts val="0"/>
              </a:spcBef>
              <a:buNone/>
              <a:defRPr sz="1300"/>
            </a:lvl1pPr>
          </a:lstStyle>
          <a:p>
            <a:pPr lvl="0"/>
            <a:endParaRPr lang="en-JM" dirty="0"/>
          </a:p>
        </p:txBody>
      </p:sp>
      <p:sp>
        <p:nvSpPr>
          <p:cNvPr id="21" name="Content Placeholder 13"/>
          <p:cNvSpPr>
            <a:spLocks noGrp="1"/>
          </p:cNvSpPr>
          <p:nvPr>
            <p:ph sz="quarter" idx="43"/>
          </p:nvPr>
        </p:nvSpPr>
        <p:spPr>
          <a:xfrm>
            <a:off x="6248400" y="2057400"/>
            <a:ext cx="2514600" cy="3733800"/>
          </a:xfrm>
        </p:spPr>
        <p:txBody>
          <a:bodyPr>
            <a:normAutofit/>
          </a:bodyPr>
          <a:lstStyle>
            <a:lvl1pPr>
              <a:lnSpc>
                <a:spcPct val="110000"/>
              </a:lnSpc>
              <a:spcBef>
                <a:spcPts val="0"/>
              </a:spcBef>
              <a:buNone/>
              <a:defRPr sz="1300"/>
            </a:lvl1pPr>
          </a:lstStyle>
          <a:p>
            <a:pPr lvl="0"/>
            <a:endParaRPr lang="en-JM"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609600" y="2006600"/>
            <a:ext cx="3654357" cy="3937000"/>
          </a:xfrm>
        </p:spPr>
        <p:txBody>
          <a:bodyPr>
            <a:norm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12" name="Content Placeholder 10"/>
          <p:cNvSpPr>
            <a:spLocks noGrp="1"/>
          </p:cNvSpPr>
          <p:nvPr>
            <p:ph sz="quarter" idx="14"/>
          </p:nvPr>
        </p:nvSpPr>
        <p:spPr>
          <a:xfrm>
            <a:off x="4800600" y="2006600"/>
            <a:ext cx="3733800" cy="3962400"/>
          </a:xfrm>
        </p:spPr>
        <p:txBody>
          <a:bodyPr>
            <a:norm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19" name="Content Placeholder 38"/>
          <p:cNvSpPr>
            <a:spLocks noGrp="1"/>
          </p:cNvSpPr>
          <p:nvPr>
            <p:ph sz="quarter" idx="39"/>
          </p:nvPr>
        </p:nvSpPr>
        <p:spPr>
          <a:xfrm>
            <a:off x="609600" y="1508760"/>
            <a:ext cx="2819400" cy="320040"/>
          </a:xfr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JM" dirty="0"/>
          </a:p>
        </p:txBody>
      </p:sp>
      <p:sp>
        <p:nvSpPr>
          <p:cNvPr id="14" name="Content Placeholder 38"/>
          <p:cNvSpPr>
            <a:spLocks noGrp="1"/>
          </p:cNvSpPr>
          <p:nvPr>
            <p:ph sz="quarter" idx="40"/>
          </p:nvPr>
        </p:nvSpPr>
        <p:spPr>
          <a:xfrm>
            <a:off x="4800600" y="1508760"/>
            <a:ext cx="2819400" cy="320040"/>
          </a:xfr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0" name="Text Placeholder 9"/>
          <p:cNvSpPr>
            <a:spLocks noGrp="1"/>
          </p:cNvSpPr>
          <p:nvPr>
            <p:ph type="body" sz="quarter" idx="13"/>
          </p:nvPr>
        </p:nvSpPr>
        <p:spPr>
          <a:xfrm>
            <a:off x="457200" y="1320800"/>
            <a:ext cx="8229600" cy="685800"/>
          </a:xfrm>
        </p:spPr>
        <p:txBody>
          <a:bodyPr>
            <a:noAutofit/>
          </a:bodyPr>
          <a:lstStyle>
            <a:lvl1pPr>
              <a:lnSpc>
                <a:spcPct val="110000"/>
              </a:lnSpc>
              <a:spcBef>
                <a:spcPts val="0"/>
              </a:spcBef>
              <a:buNone/>
              <a:defRPr sz="1400"/>
            </a:lvl1pPr>
            <a:lvl2pPr>
              <a:defRPr sz="1600"/>
            </a:lvl2pPr>
            <a:lvl3pPr>
              <a:defRPr sz="1600"/>
            </a:lvl3pPr>
            <a:lvl4pPr>
              <a:defRPr sz="1600"/>
            </a:lvl4pPr>
            <a:lvl5pPr>
              <a:defRPr sz="1600"/>
            </a:lvl5pPr>
          </a:lstStyle>
          <a:p>
            <a:pPr lvl="0"/>
            <a:endParaRPr lang="en-JM" dirty="0"/>
          </a:p>
        </p:txBody>
      </p:sp>
      <p:sp>
        <p:nvSpPr>
          <p:cNvPr id="12" name="Picture Placeholder 11"/>
          <p:cNvSpPr>
            <a:spLocks noGrp="1"/>
          </p:cNvSpPr>
          <p:nvPr>
            <p:ph type="pic" sz="quarter" idx="14"/>
          </p:nvPr>
        </p:nvSpPr>
        <p:spPr>
          <a:xfrm>
            <a:off x="533400" y="2387600"/>
            <a:ext cx="4419600" cy="3276600"/>
          </a:xfrm>
          <a:ln w="38100">
            <a:solidFill>
              <a:schemeClr val="bg1"/>
            </a:solidFill>
            <a:miter lim="800000"/>
          </a:ln>
          <a:effectLst/>
        </p:spPr>
        <p:txBody>
          <a:bodyPr>
            <a:normAutofit/>
          </a:bodyPr>
          <a:lstStyle>
            <a:lvl1pPr>
              <a:defRPr sz="1400"/>
            </a:lvl1pPr>
          </a:lstStyle>
          <a:p>
            <a:endParaRPr lang="en-JM"/>
          </a:p>
        </p:txBody>
      </p:sp>
      <p:sp>
        <p:nvSpPr>
          <p:cNvPr id="16" name="Text Placeholder 13"/>
          <p:cNvSpPr>
            <a:spLocks noGrp="1"/>
          </p:cNvSpPr>
          <p:nvPr>
            <p:ph type="body" sz="quarter" idx="17"/>
          </p:nvPr>
        </p:nvSpPr>
        <p:spPr>
          <a:xfrm>
            <a:off x="5257800" y="50546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
        <p:nvSpPr>
          <p:cNvPr id="17" name="Text Placeholder 13"/>
          <p:cNvSpPr>
            <a:spLocks noGrp="1"/>
          </p:cNvSpPr>
          <p:nvPr>
            <p:ph type="body" sz="quarter" idx="18"/>
          </p:nvPr>
        </p:nvSpPr>
        <p:spPr>
          <a:xfrm>
            <a:off x="5257800" y="3225800"/>
            <a:ext cx="3429000" cy="1625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lnSpc>
                <a:spcPct val="110000"/>
              </a:lnSpc>
              <a:spcBef>
                <a:spcPts val="0"/>
              </a:spcBef>
              <a:buNone/>
              <a:defRPr sz="1300"/>
            </a:lvl1pPr>
          </a:lstStyle>
          <a:p>
            <a:pPr lvl="0"/>
            <a:endParaRPr lang="en-JM" dirty="0"/>
          </a:p>
        </p:txBody>
      </p:sp>
      <p:sp>
        <p:nvSpPr>
          <p:cNvPr id="18" name="Text Placeholder 13"/>
          <p:cNvSpPr>
            <a:spLocks noGrp="1"/>
          </p:cNvSpPr>
          <p:nvPr>
            <p:ph type="body" sz="quarter" idx="19"/>
          </p:nvPr>
        </p:nvSpPr>
        <p:spPr>
          <a:xfrm>
            <a:off x="5257800" y="23114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nd Bullet List">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0" y="1397000"/>
            <a:ext cx="9144000" cy="3759200"/>
          </a:xfrm>
        </p:spPr>
        <p:txBody>
          <a:bodyPr>
            <a:normAutofit/>
          </a:bodyPr>
          <a:lstStyle>
            <a:lvl1pPr>
              <a:defRPr sz="1400"/>
            </a:lvl1pPr>
          </a:lstStyle>
          <a:p>
            <a:endParaRPr lang="en-JM"/>
          </a:p>
        </p:txBody>
      </p:sp>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304800" y="5359400"/>
            <a:ext cx="8534400" cy="711200"/>
          </a:xfrm>
        </p:spPr>
        <p:txBody>
          <a:bodyPr>
            <a:normAutofit/>
          </a:bodyPr>
          <a:lstStyle>
            <a:lvl1pPr>
              <a:lnSpc>
                <a:spcPct val="110000"/>
              </a:lnSpc>
              <a:spcBef>
                <a:spcPts val="0"/>
              </a:spcBef>
              <a:buClr>
                <a:srgbClr val="0FCED3"/>
              </a:buClr>
              <a:buFontTx/>
              <a:buNone/>
              <a:defRPr sz="1300"/>
            </a:lvl1pPr>
          </a:lstStyle>
          <a:p>
            <a:pPr lvl="0"/>
            <a:endParaRPr lang="en-JM"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oject Layout">
    <p:spTree>
      <p:nvGrpSpPr>
        <p:cNvPr id="1" name=""/>
        <p:cNvGrpSpPr/>
        <p:nvPr/>
      </p:nvGrpSpPr>
      <p:grpSpPr>
        <a:xfrm>
          <a:off x="0" y="0"/>
          <a:ext cx="0" cy="0"/>
          <a:chOff x="0" y="0"/>
          <a:chExt cx="0" cy="0"/>
        </a:xfrm>
      </p:grpSpPr>
      <p:sp>
        <p:nvSpPr>
          <p:cNvPr id="14" name="Picture Placeholder 13"/>
          <p:cNvSpPr>
            <a:spLocks noGrp="1"/>
          </p:cNvSpPr>
          <p:nvPr>
            <p:ph type="pic" sz="quarter" idx="13"/>
          </p:nvPr>
        </p:nvSpPr>
        <p:spPr>
          <a:xfrm>
            <a:off x="0" y="1498600"/>
            <a:ext cx="5181600" cy="4368800"/>
          </a:xfrm>
          <a:effectLst/>
        </p:spPr>
        <p:txBody>
          <a:bodyPr>
            <a:normAutofit/>
          </a:bodyPr>
          <a:lstStyle>
            <a:lvl1pPr>
              <a:defRPr sz="1400"/>
            </a:lvl1pPr>
          </a:lstStyle>
          <a:p>
            <a:endParaRPr lang="en-JM"/>
          </a:p>
        </p:txBody>
      </p:sp>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dirty="0"/>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38"/>
          <p:cNvSpPr>
            <a:spLocks noGrp="1"/>
          </p:cNvSpPr>
          <p:nvPr>
            <p:ph sz="quarter" idx="37"/>
          </p:nvPr>
        </p:nvSpPr>
        <p:spPr>
          <a:xfrm>
            <a:off x="5410200" y="1998472"/>
            <a:ext cx="2971800" cy="414528"/>
          </a:xfrm>
          <a:solidFill>
            <a:srgbClr val="0070C0"/>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0" name="Content Placeholder 38"/>
          <p:cNvSpPr>
            <a:spLocks noGrp="1"/>
          </p:cNvSpPr>
          <p:nvPr>
            <p:ph sz="quarter" idx="36"/>
          </p:nvPr>
        </p:nvSpPr>
        <p:spPr>
          <a:xfrm>
            <a:off x="5410200" y="1524000"/>
            <a:ext cx="2438400" cy="482600"/>
          </a:xfrm>
          <a:solidFill>
            <a:schemeClr val="tx1">
              <a:lumMod val="85000"/>
              <a:lumOff val="15000"/>
            </a:schemeClr>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7" name="Text Placeholder 13"/>
          <p:cNvSpPr>
            <a:spLocks noGrp="1"/>
          </p:cNvSpPr>
          <p:nvPr>
            <p:ph type="body" sz="quarter" idx="19"/>
          </p:nvPr>
        </p:nvSpPr>
        <p:spPr>
          <a:xfrm>
            <a:off x="5410200" y="28194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
        <p:nvSpPr>
          <p:cNvPr id="18" name="Text Placeholder 13"/>
          <p:cNvSpPr>
            <a:spLocks noGrp="1"/>
          </p:cNvSpPr>
          <p:nvPr>
            <p:ph type="body" sz="quarter" idx="41"/>
          </p:nvPr>
        </p:nvSpPr>
        <p:spPr>
          <a:xfrm>
            <a:off x="5410200" y="3632200"/>
            <a:ext cx="3429000" cy="15240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lnSpc>
                <a:spcPct val="110000"/>
              </a:lnSpc>
              <a:spcBef>
                <a:spcPts val="0"/>
              </a:spcBef>
              <a:buNone/>
              <a:defRPr sz="1300"/>
            </a:lvl1pPr>
          </a:lstStyle>
          <a:p>
            <a:pPr lvl="0"/>
            <a:endParaRPr lang="en-JM" dirty="0"/>
          </a:p>
        </p:txBody>
      </p:sp>
      <p:sp>
        <p:nvSpPr>
          <p:cNvPr id="19" name="Text Placeholder 13"/>
          <p:cNvSpPr>
            <a:spLocks noGrp="1"/>
          </p:cNvSpPr>
          <p:nvPr>
            <p:ph type="body" sz="quarter" idx="42"/>
          </p:nvPr>
        </p:nvSpPr>
        <p:spPr>
          <a:xfrm>
            <a:off x="5410200" y="52578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0" name="Table Placeholder 9"/>
          <p:cNvSpPr>
            <a:spLocks noGrp="1"/>
          </p:cNvSpPr>
          <p:nvPr>
            <p:ph type="tbl" sz="quarter" idx="13"/>
          </p:nvPr>
        </p:nvSpPr>
        <p:spPr>
          <a:xfrm>
            <a:off x="533400" y="2159000"/>
            <a:ext cx="7848600" cy="3048000"/>
          </a:xfrm>
        </p:spPr>
        <p:txBody>
          <a:bodyPr>
            <a:normAutofit/>
          </a:bodyPr>
          <a:lstStyle>
            <a:lvl1pPr>
              <a:defRPr sz="1400"/>
            </a:lvl1pPr>
          </a:lstStyle>
          <a:p>
            <a:endParaRPr lang="en-JM"/>
          </a:p>
        </p:txBody>
      </p:sp>
      <p:sp>
        <p:nvSpPr>
          <p:cNvPr id="12" name="Text Placeholder 11"/>
          <p:cNvSpPr>
            <a:spLocks noGrp="1"/>
          </p:cNvSpPr>
          <p:nvPr>
            <p:ph type="body" sz="quarter" idx="14"/>
          </p:nvPr>
        </p:nvSpPr>
        <p:spPr>
          <a:xfrm>
            <a:off x="457200" y="1447800"/>
            <a:ext cx="8229600" cy="381000"/>
          </a:xfrm>
        </p:spPr>
        <p:txBody>
          <a:bodyPr>
            <a:noAutofit/>
          </a:bodyPr>
          <a:lstStyle>
            <a:lvl1pPr algn="l">
              <a:buNone/>
              <a:defRPr sz="1600" b="0">
                <a:latin typeface="Bebas Neue"/>
                <a:cs typeface="Bebas Neue"/>
              </a:defRPr>
            </a:lvl1pPr>
            <a:lvl2pPr>
              <a:defRPr sz="1800" b="1"/>
            </a:lvl2pPr>
            <a:lvl3pPr>
              <a:defRPr sz="1800" b="1"/>
            </a:lvl3pPr>
            <a:lvl4pPr>
              <a:defRPr sz="1800" b="1"/>
            </a:lvl4pPr>
            <a:lvl5pPr>
              <a:defRPr sz="1800" b="1"/>
            </a:lvl5pPr>
          </a:lstStyle>
          <a:p>
            <a:pPr lvl="0"/>
            <a:endParaRPr lang="en-JM" dirty="0"/>
          </a:p>
        </p:txBody>
      </p:sp>
      <p:sp>
        <p:nvSpPr>
          <p:cNvPr id="14" name="Text Placeholder 13"/>
          <p:cNvSpPr>
            <a:spLocks noGrp="1"/>
          </p:cNvSpPr>
          <p:nvPr>
            <p:ph type="body" sz="quarter" idx="15"/>
          </p:nvPr>
        </p:nvSpPr>
        <p:spPr>
          <a:xfrm>
            <a:off x="533400" y="5359400"/>
            <a:ext cx="7924800" cy="6096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Area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1" name="Text Placeholder 20"/>
          <p:cNvSpPr>
            <a:spLocks noGrp="1"/>
          </p:cNvSpPr>
          <p:nvPr userDrawn="1">
            <p:ph type="body" sz="quarter" idx="13"/>
          </p:nvPr>
        </p:nvSpPr>
        <p:spPr>
          <a:xfrm>
            <a:off x="533400" y="19050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2" name="Text Placeholder 20"/>
          <p:cNvSpPr>
            <a:spLocks noGrp="1"/>
          </p:cNvSpPr>
          <p:nvPr userDrawn="1">
            <p:ph type="body" sz="quarter" idx="14"/>
          </p:nvPr>
        </p:nvSpPr>
        <p:spPr>
          <a:xfrm>
            <a:off x="4343400" y="19050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3" name="Text Placeholder 20"/>
          <p:cNvSpPr>
            <a:spLocks noGrp="1"/>
          </p:cNvSpPr>
          <p:nvPr userDrawn="1">
            <p:ph type="body" sz="quarter" idx="15"/>
          </p:nvPr>
        </p:nvSpPr>
        <p:spPr>
          <a:xfrm>
            <a:off x="533400" y="43434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4" name="Text Placeholder 20"/>
          <p:cNvSpPr>
            <a:spLocks noGrp="1"/>
          </p:cNvSpPr>
          <p:nvPr userDrawn="1">
            <p:ph type="body" sz="quarter" idx="16"/>
          </p:nvPr>
        </p:nvSpPr>
        <p:spPr>
          <a:xfrm>
            <a:off x="4343400" y="43434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6" name="Text Placeholder 25"/>
          <p:cNvSpPr>
            <a:spLocks noGrp="1"/>
          </p:cNvSpPr>
          <p:nvPr userDrawn="1">
            <p:ph type="body" sz="quarter" idx="17"/>
          </p:nvPr>
        </p:nvSpPr>
        <p:spPr>
          <a:xfrm>
            <a:off x="533400" y="1498600"/>
            <a:ext cx="24384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7" name="Text Placeholder 25"/>
          <p:cNvSpPr>
            <a:spLocks noGrp="1"/>
          </p:cNvSpPr>
          <p:nvPr userDrawn="1">
            <p:ph type="body" sz="quarter" idx="18"/>
          </p:nvPr>
        </p:nvSpPr>
        <p:spPr>
          <a:xfrm>
            <a:off x="4343400" y="1498600"/>
            <a:ext cx="25146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9" name="Text Placeholder 25"/>
          <p:cNvSpPr>
            <a:spLocks noGrp="1"/>
          </p:cNvSpPr>
          <p:nvPr userDrawn="1">
            <p:ph type="body" sz="quarter" idx="20"/>
          </p:nvPr>
        </p:nvSpPr>
        <p:spPr>
          <a:xfrm>
            <a:off x="533400" y="3962400"/>
            <a:ext cx="25908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8" name="Text Placeholder 25"/>
          <p:cNvSpPr>
            <a:spLocks noGrp="1"/>
          </p:cNvSpPr>
          <p:nvPr userDrawn="1">
            <p:ph type="body" sz="quarter" idx="19"/>
          </p:nvPr>
        </p:nvSpPr>
        <p:spPr>
          <a:xfrm>
            <a:off x="4343400" y="3962400"/>
            <a:ext cx="25146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9" name="Picture Placeholder 8"/>
          <p:cNvSpPr>
            <a:spLocks noGrp="1"/>
          </p:cNvSpPr>
          <p:nvPr>
            <p:ph type="pic" sz="quarter" idx="13"/>
          </p:nvPr>
        </p:nvSpPr>
        <p:spPr>
          <a:xfrm>
            <a:off x="533400" y="2159000"/>
            <a:ext cx="4343400" cy="3302000"/>
          </a:xfrm>
          <a:ln w="38100">
            <a:solidFill>
              <a:schemeClr val="bg1"/>
            </a:solidFill>
            <a:miter lim="800000"/>
          </a:ln>
          <a:effectLst/>
        </p:spPr>
        <p:txBody>
          <a:bodyPr>
            <a:normAutofit/>
          </a:bodyPr>
          <a:lstStyle>
            <a:lvl1pPr>
              <a:defRPr sz="1400"/>
            </a:lvl1pPr>
          </a:lstStyle>
          <a:p>
            <a:endParaRPr lang="en-JM"/>
          </a:p>
        </p:txBody>
      </p:sp>
      <p:sp>
        <p:nvSpPr>
          <p:cNvPr id="11" name="Text Placeholder 10"/>
          <p:cNvSpPr>
            <a:spLocks noGrp="1"/>
          </p:cNvSpPr>
          <p:nvPr>
            <p:ph type="body" sz="quarter" idx="14"/>
          </p:nvPr>
        </p:nvSpPr>
        <p:spPr>
          <a:xfrm>
            <a:off x="457200" y="1346200"/>
            <a:ext cx="8077200" cy="457200"/>
          </a:xfrm>
        </p:spPr>
        <p:txBody>
          <a:bodyPr>
            <a:noAutofit/>
          </a:bodyPr>
          <a:lstStyle>
            <a:lvl1pPr>
              <a:lnSpc>
                <a:spcPct val="110000"/>
              </a:lnSpc>
              <a:spcBef>
                <a:spcPts val="0"/>
              </a:spcBef>
              <a:buNone/>
              <a:defRPr sz="1400">
                <a:solidFill>
                  <a:schemeClr val="tx1">
                    <a:lumMod val="65000"/>
                    <a:lumOff val="35000"/>
                  </a:schemeClr>
                </a:solidFill>
              </a:defRPr>
            </a:lvl1pPr>
            <a:lvl2pPr>
              <a:defRPr sz="1600"/>
            </a:lvl2pPr>
            <a:lvl3pPr>
              <a:defRPr sz="1600"/>
            </a:lvl3pPr>
            <a:lvl4pPr>
              <a:defRPr sz="1600"/>
            </a:lvl4pPr>
            <a:lvl5pPr>
              <a:defRPr sz="1600"/>
            </a:lvl5pPr>
          </a:lstStyle>
          <a:p>
            <a:pPr lvl="0"/>
            <a:endParaRPr lang="en-JM" dirty="0"/>
          </a:p>
        </p:txBody>
      </p:sp>
      <p:sp>
        <p:nvSpPr>
          <p:cNvPr id="8" name="Text Placeholder 7"/>
          <p:cNvSpPr>
            <a:spLocks noGrp="1"/>
          </p:cNvSpPr>
          <p:nvPr>
            <p:ph type="body" sz="quarter" idx="15"/>
          </p:nvPr>
        </p:nvSpPr>
        <p:spPr>
          <a:xfrm>
            <a:off x="6172200" y="2311400"/>
            <a:ext cx="2438400" cy="406400"/>
          </a:xfrm>
        </p:spPr>
        <p:txBody>
          <a:bodyPr>
            <a:normAutofit/>
          </a:bodyPr>
          <a:lstStyle>
            <a:lvl1pPr>
              <a:buNone/>
              <a:defRPr sz="1300"/>
            </a:lvl1pPr>
          </a:lstStyle>
          <a:p>
            <a:pPr lvl="0"/>
            <a:endParaRPr lang="en-JM" dirty="0"/>
          </a:p>
        </p:txBody>
      </p:sp>
      <p:sp>
        <p:nvSpPr>
          <p:cNvPr id="10" name="Text Placeholder 7"/>
          <p:cNvSpPr>
            <a:spLocks noGrp="1"/>
          </p:cNvSpPr>
          <p:nvPr>
            <p:ph type="body" sz="quarter" idx="16"/>
          </p:nvPr>
        </p:nvSpPr>
        <p:spPr>
          <a:xfrm>
            <a:off x="6172200" y="2717800"/>
            <a:ext cx="2438400" cy="406400"/>
          </a:xfrm>
        </p:spPr>
        <p:txBody>
          <a:bodyPr>
            <a:normAutofit/>
          </a:bodyPr>
          <a:lstStyle>
            <a:lvl1pPr>
              <a:buNone/>
              <a:defRPr sz="1300"/>
            </a:lvl1pPr>
          </a:lstStyle>
          <a:p>
            <a:pPr lvl="0"/>
            <a:endParaRPr lang="en-JM" dirty="0"/>
          </a:p>
        </p:txBody>
      </p:sp>
      <p:sp>
        <p:nvSpPr>
          <p:cNvPr id="12" name="Text Placeholder 7"/>
          <p:cNvSpPr>
            <a:spLocks noGrp="1"/>
          </p:cNvSpPr>
          <p:nvPr>
            <p:ph type="body" sz="quarter" idx="17"/>
          </p:nvPr>
        </p:nvSpPr>
        <p:spPr>
          <a:xfrm>
            <a:off x="6172200" y="3124200"/>
            <a:ext cx="2438400" cy="406400"/>
          </a:xfrm>
        </p:spPr>
        <p:txBody>
          <a:bodyPr>
            <a:normAutofit/>
          </a:bodyPr>
          <a:lstStyle>
            <a:lvl1pPr>
              <a:buNone/>
              <a:defRPr sz="1300"/>
            </a:lvl1pPr>
          </a:lstStyle>
          <a:p>
            <a:pPr lvl="0"/>
            <a:endParaRPr lang="en-JM" dirty="0"/>
          </a:p>
        </p:txBody>
      </p:sp>
      <p:sp>
        <p:nvSpPr>
          <p:cNvPr id="13" name="Text Placeholder 7"/>
          <p:cNvSpPr>
            <a:spLocks noGrp="1"/>
          </p:cNvSpPr>
          <p:nvPr>
            <p:ph type="body" sz="quarter" idx="18"/>
          </p:nvPr>
        </p:nvSpPr>
        <p:spPr>
          <a:xfrm>
            <a:off x="6172200" y="3530600"/>
            <a:ext cx="2438400" cy="406400"/>
          </a:xfrm>
        </p:spPr>
        <p:txBody>
          <a:bodyPr>
            <a:normAutofit/>
          </a:bodyPr>
          <a:lstStyle>
            <a:lvl1pPr>
              <a:buNone/>
              <a:defRPr sz="1300"/>
            </a:lvl1pPr>
          </a:lstStyle>
          <a:p>
            <a:pPr lvl="0"/>
            <a:endParaRPr lang="en-JM" dirty="0"/>
          </a:p>
        </p:txBody>
      </p:sp>
      <p:sp>
        <p:nvSpPr>
          <p:cNvPr id="14" name="Text Placeholder 7"/>
          <p:cNvSpPr>
            <a:spLocks noGrp="1"/>
          </p:cNvSpPr>
          <p:nvPr>
            <p:ph type="body" sz="quarter" idx="19"/>
          </p:nvPr>
        </p:nvSpPr>
        <p:spPr>
          <a:xfrm>
            <a:off x="5867400" y="4241800"/>
            <a:ext cx="2743200" cy="406400"/>
          </a:xfrm>
        </p:spPr>
        <p:txBody>
          <a:bodyPr>
            <a:normAutofit/>
          </a:bodyPr>
          <a:lstStyle>
            <a:lvl1pPr>
              <a:buNone/>
              <a:defRPr sz="1300"/>
            </a:lvl1pPr>
          </a:lstStyle>
          <a:p>
            <a:pPr lvl="0"/>
            <a:endParaRPr lang="en-JM" dirty="0"/>
          </a:p>
        </p:txBody>
      </p:sp>
      <p:sp>
        <p:nvSpPr>
          <p:cNvPr id="15" name="Text Placeholder 7"/>
          <p:cNvSpPr>
            <a:spLocks noGrp="1"/>
          </p:cNvSpPr>
          <p:nvPr>
            <p:ph type="body" sz="quarter" idx="20"/>
          </p:nvPr>
        </p:nvSpPr>
        <p:spPr>
          <a:xfrm>
            <a:off x="5867400" y="4648200"/>
            <a:ext cx="2743200" cy="406400"/>
          </a:xfrm>
        </p:spPr>
        <p:txBody>
          <a:bodyPr>
            <a:normAutofit/>
          </a:bodyPr>
          <a:lstStyle>
            <a:lvl1pPr>
              <a:buNone/>
              <a:defRPr sz="1300"/>
            </a:lvl1pPr>
          </a:lstStyle>
          <a:p>
            <a:pPr lvl="0"/>
            <a:endParaRPr lang="en-JM" dirty="0"/>
          </a:p>
        </p:txBody>
      </p:sp>
      <p:sp>
        <p:nvSpPr>
          <p:cNvPr id="16" name="Text Placeholder 7"/>
          <p:cNvSpPr>
            <a:spLocks noGrp="1"/>
          </p:cNvSpPr>
          <p:nvPr>
            <p:ph type="body" sz="quarter" idx="21"/>
          </p:nvPr>
        </p:nvSpPr>
        <p:spPr>
          <a:xfrm>
            <a:off x="5105400" y="23114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7" name="Text Placeholder 7"/>
          <p:cNvSpPr>
            <a:spLocks noGrp="1"/>
          </p:cNvSpPr>
          <p:nvPr>
            <p:ph type="body" sz="quarter" idx="22"/>
          </p:nvPr>
        </p:nvSpPr>
        <p:spPr>
          <a:xfrm>
            <a:off x="5105400" y="27178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8" name="Text Placeholder 7"/>
          <p:cNvSpPr>
            <a:spLocks noGrp="1"/>
          </p:cNvSpPr>
          <p:nvPr>
            <p:ph type="body" sz="quarter" idx="23"/>
          </p:nvPr>
        </p:nvSpPr>
        <p:spPr>
          <a:xfrm>
            <a:off x="5105400" y="31242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9" name="Text Placeholder 7"/>
          <p:cNvSpPr>
            <a:spLocks noGrp="1"/>
          </p:cNvSpPr>
          <p:nvPr>
            <p:ph type="body" sz="quarter" idx="24"/>
          </p:nvPr>
        </p:nvSpPr>
        <p:spPr>
          <a:xfrm>
            <a:off x="5105400" y="35306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2" name="Text Placeholder 8"/>
          <p:cNvSpPr>
            <a:spLocks noGrp="1"/>
          </p:cNvSpPr>
          <p:nvPr>
            <p:ph type="body" sz="quarter" idx="13"/>
          </p:nvPr>
        </p:nvSpPr>
        <p:spPr>
          <a:xfrm>
            <a:off x="381000" y="2209800"/>
            <a:ext cx="8153400" cy="1625600"/>
          </a:xfrm>
        </p:spPr>
        <p:txBody>
          <a:bodyPr>
            <a:normAutofit/>
          </a:bodyPr>
          <a:lstStyle>
            <a:lvl1pPr algn="l">
              <a:buNone/>
              <a:defRPr sz="7200">
                <a:latin typeface="Bebas Neue" pitchFamily="34" charset="0"/>
              </a:defRPr>
            </a:lvl1pPr>
          </a:lstStyle>
          <a:p>
            <a:pPr lvl="0"/>
            <a:endParaRPr lang="en-JM" dirty="0"/>
          </a:p>
        </p:txBody>
      </p:sp>
      <p:sp>
        <p:nvSpPr>
          <p:cNvPr id="16" name="Text Placeholder 10"/>
          <p:cNvSpPr>
            <a:spLocks noGrp="1"/>
          </p:cNvSpPr>
          <p:nvPr>
            <p:ph type="body" sz="quarter" idx="14"/>
          </p:nvPr>
        </p:nvSpPr>
        <p:spPr>
          <a:xfrm>
            <a:off x="457200" y="3937000"/>
            <a:ext cx="6477000" cy="762000"/>
          </a:xfrm>
        </p:spPr>
        <p:txBody>
          <a:bodyPr>
            <a:noAutofit/>
          </a:bodyPr>
          <a:lstStyle>
            <a:lvl1pPr algn="l">
              <a:buNone/>
              <a:defRPr sz="1600"/>
            </a:lvl1pPr>
            <a:lvl2pPr>
              <a:defRPr sz="1800"/>
            </a:lvl2pPr>
            <a:lvl3pPr>
              <a:defRPr sz="1800"/>
            </a:lvl3pPr>
            <a:lvl4pPr>
              <a:defRPr sz="1800"/>
            </a:lvl4pPr>
            <a:lvl5pPr>
              <a:defRPr sz="1800"/>
            </a:lvl5pPr>
          </a:lstStyle>
          <a:p>
            <a:pPr lvl="0"/>
            <a:endParaRPr lang="en-JM" dirty="0"/>
          </a:p>
        </p:txBody>
      </p:sp>
      <p:sp>
        <p:nvSpPr>
          <p:cNvPr id="17" name="Rectangle 16"/>
          <p:cNvSpPr/>
          <p:nvPr userDrawn="1"/>
        </p:nvSpPr>
        <p:spPr>
          <a:xfrm>
            <a:off x="0" y="2260600"/>
            <a:ext cx="228600" cy="1727200"/>
          </a:xfrm>
          <a:prstGeom prst="rect">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600" dirty="0">
              <a:solidFill>
                <a:schemeClr val="tx1">
                  <a:lumMod val="95000"/>
                  <a:lumOff val="5000"/>
                </a:schemeClr>
              </a:solidFill>
              <a:latin typeface="Bebas Neue" pitchFamily="34" charset="0"/>
            </a:endParaRPr>
          </a:p>
        </p:txBody>
      </p:sp>
      <p:cxnSp>
        <p:nvCxnSpPr>
          <p:cNvPr id="18" name="Straight Connector 17"/>
          <p:cNvCxnSpPr/>
          <p:nvPr userDrawn="1"/>
        </p:nvCxnSpPr>
        <p:spPr bwMode="auto">
          <a:xfrm>
            <a:off x="0" y="30628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bwMode="auto">
          <a:xfrm>
            <a:off x="0" y="31242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9" name="Text Placeholder 8"/>
          <p:cNvSpPr>
            <a:spLocks noGrp="1"/>
          </p:cNvSpPr>
          <p:nvPr>
            <p:ph type="body" sz="quarter" idx="13"/>
          </p:nvPr>
        </p:nvSpPr>
        <p:spPr>
          <a:xfrm>
            <a:off x="381000" y="2209800"/>
            <a:ext cx="8153400" cy="1625600"/>
          </a:xfrm>
        </p:spPr>
        <p:txBody>
          <a:bodyPr>
            <a:normAutofit/>
          </a:bodyPr>
          <a:lstStyle>
            <a:lvl1pPr algn="l">
              <a:buNone/>
              <a:defRPr sz="7200">
                <a:latin typeface="Bebas Neue" pitchFamily="34" charset="0"/>
              </a:defRPr>
            </a:lvl1pPr>
          </a:lstStyle>
          <a:p>
            <a:pPr lvl="0"/>
            <a:endParaRPr lang="en-JM" dirty="0"/>
          </a:p>
        </p:txBody>
      </p:sp>
      <p:sp>
        <p:nvSpPr>
          <p:cNvPr id="11" name="Text Placeholder 10"/>
          <p:cNvSpPr>
            <a:spLocks noGrp="1"/>
          </p:cNvSpPr>
          <p:nvPr>
            <p:ph type="body" sz="quarter" idx="14"/>
          </p:nvPr>
        </p:nvSpPr>
        <p:spPr>
          <a:xfrm>
            <a:off x="457200" y="3937000"/>
            <a:ext cx="6477000" cy="762000"/>
          </a:xfrm>
        </p:spPr>
        <p:txBody>
          <a:bodyPr>
            <a:noAutofit/>
          </a:bodyPr>
          <a:lstStyle>
            <a:lvl1pPr algn="l">
              <a:buNone/>
              <a:defRPr sz="1600"/>
            </a:lvl1pPr>
            <a:lvl2pPr>
              <a:defRPr sz="1800"/>
            </a:lvl2pPr>
            <a:lvl3pPr>
              <a:defRPr sz="1800"/>
            </a:lvl3pPr>
            <a:lvl4pPr>
              <a:defRPr sz="1800"/>
            </a:lvl4pPr>
            <a:lvl5pPr>
              <a:defRPr sz="1800"/>
            </a:lvl5pPr>
          </a:lstStyle>
          <a:p>
            <a:pPr lvl="0"/>
            <a:endParaRPr lang="en-JM" dirty="0"/>
          </a:p>
        </p:txBody>
      </p:sp>
      <p:sp>
        <p:nvSpPr>
          <p:cNvPr id="15" name="Rectangle 14"/>
          <p:cNvSpPr/>
          <p:nvPr userDrawn="1"/>
        </p:nvSpPr>
        <p:spPr>
          <a:xfrm>
            <a:off x="0" y="2260600"/>
            <a:ext cx="228600" cy="1727200"/>
          </a:xfrm>
          <a:prstGeom prst="rect">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600" dirty="0">
              <a:solidFill>
                <a:schemeClr val="tx1">
                  <a:lumMod val="95000"/>
                  <a:lumOff val="5000"/>
                </a:schemeClr>
              </a:solidFill>
              <a:latin typeface="Bebas Neue" pitchFamily="34" charset="0"/>
            </a:endParaRPr>
          </a:p>
        </p:txBody>
      </p:sp>
      <p:cxnSp>
        <p:nvCxnSpPr>
          <p:cNvPr id="13" name="Straight Connector 12"/>
          <p:cNvCxnSpPr/>
          <p:nvPr userDrawn="1"/>
        </p:nvCxnSpPr>
        <p:spPr bwMode="auto">
          <a:xfrm>
            <a:off x="0" y="30628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bwMode="auto">
          <a:xfrm>
            <a:off x="0" y="31242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Oval 20">
            <a:hlinkClick r:id="" action="ppaction://hlinkshowjump?jump=nextslide" highlightClick="1"/>
          </p:cNvPr>
          <p:cNvSpPr/>
          <p:nvPr userDrawn="1"/>
        </p:nvSpPr>
        <p:spPr>
          <a:xfrm>
            <a:off x="8382000" y="6248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22" name="Oval 21">
            <a:hlinkClick r:id="" action="ppaction://hlinkshowjump?jump=previousslide" highlightClick="1"/>
          </p:cNvPr>
          <p:cNvSpPr/>
          <p:nvPr userDrawn="1"/>
        </p:nvSpPr>
        <p:spPr>
          <a:xfrm>
            <a:off x="7924800" y="6248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23" name="Chevron 22"/>
          <p:cNvSpPr/>
          <p:nvPr userDrawn="1"/>
        </p:nvSpPr>
        <p:spPr>
          <a:xfrm flipH="1">
            <a:off x="8066532" y="6364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24" name="Chevron 23"/>
          <p:cNvSpPr/>
          <p:nvPr userDrawn="1"/>
        </p:nvSpPr>
        <p:spPr>
          <a:xfrm>
            <a:off x="8523732" y="6364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Tree>
    <p:extLst>
      <p:ext uri="{BB962C8B-B14F-4D97-AF65-F5344CB8AC3E}">
        <p14:creationId xmlns:p14="http://schemas.microsoft.com/office/powerpoint/2010/main" val="21777134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5">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2" name="Title Placeholder 1"/>
          <p:cNvSpPr>
            <a:spLocks noGrp="1"/>
          </p:cNvSpPr>
          <p:nvPr>
            <p:ph type="title"/>
          </p:nvPr>
        </p:nvSpPr>
        <p:spPr>
          <a:xfrm>
            <a:off x="457200" y="584200"/>
            <a:ext cx="7620000" cy="563563"/>
          </a:xfrm>
          <a:prstGeom prst="rect">
            <a:avLst/>
          </a:prstGeom>
        </p:spPr>
        <p:txBody>
          <a:bodyPr vert="horz" lIns="91440" tIns="45720" rIns="91440" bIns="45720" rtlCol="0" anchor="ctr">
            <a:noAutofit/>
          </a:bodyPr>
          <a:lstStyle/>
          <a:p>
            <a:r>
              <a:rPr lang="en-US" dirty="0"/>
              <a:t>Click to edit Master title style</a:t>
            </a:r>
            <a:endParaRPr lang="en-JM" dirty="0"/>
          </a:p>
        </p:txBody>
      </p:sp>
      <p:sp>
        <p:nvSpPr>
          <p:cNvPr id="3" name="Text Placeholder 2"/>
          <p:cNvSpPr>
            <a:spLocks noGrp="1"/>
          </p:cNvSpPr>
          <p:nvPr>
            <p:ph type="body" idx="1"/>
          </p:nvPr>
        </p:nvSpPr>
        <p:spPr>
          <a:xfrm>
            <a:off x="457200" y="13716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Slide Number Placeholder 5"/>
          <p:cNvSpPr>
            <a:spLocks noGrp="1"/>
          </p:cNvSpPr>
          <p:nvPr>
            <p:ph type="sldNum" sz="quarter" idx="4"/>
          </p:nvPr>
        </p:nvSpPr>
        <p:spPr>
          <a:xfrm>
            <a:off x="8305800" y="381000"/>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F5134D-7C6B-4A7B-B28B-A8C75F870448}" type="slidenum">
              <a:rPr lang="en-JM" smtClean="0"/>
              <a:pPr/>
              <a:t>‹#›</a:t>
            </a:fld>
            <a:endParaRPr lang="en-JM"/>
          </a:p>
        </p:txBody>
      </p:sp>
      <p:sp>
        <p:nvSpPr>
          <p:cNvPr id="8" name="Rectangle 7"/>
          <p:cNvSpPr/>
          <p:nvPr/>
        </p:nvSpPr>
        <p:spPr>
          <a:xfrm>
            <a:off x="0" y="558800"/>
            <a:ext cx="152400"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p>
        </p:txBody>
      </p:sp>
      <p:cxnSp>
        <p:nvCxnSpPr>
          <p:cNvPr id="16" name="Straight Connector 15"/>
          <p:cNvCxnSpPr/>
          <p:nvPr userDrawn="1"/>
        </p:nvCxnSpPr>
        <p:spPr bwMode="auto">
          <a:xfrm>
            <a:off x="0" y="8022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bwMode="auto">
          <a:xfrm>
            <a:off x="0" y="8636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p:cNvSpPr/>
          <p:nvPr userDrawn="1"/>
        </p:nvSpPr>
        <p:spPr>
          <a:xfrm>
            <a:off x="0" y="6259402"/>
            <a:ext cx="9144000" cy="62399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a:hlinkClick r:id="" action="ppaction://hlinkshowjump?jump=nextslide" highlightClick="1"/>
          </p:cNvPr>
          <p:cNvSpPr/>
          <p:nvPr/>
        </p:nvSpPr>
        <p:spPr>
          <a:xfrm>
            <a:off x="8382000" y="6375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15" name="Oval 14">
            <a:hlinkClick r:id="" action="ppaction://hlinkshowjump?jump=previousslide" highlightClick="1"/>
          </p:cNvPr>
          <p:cNvSpPr/>
          <p:nvPr/>
        </p:nvSpPr>
        <p:spPr>
          <a:xfrm>
            <a:off x="7924800" y="6375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18" name="Chevron 17"/>
          <p:cNvSpPr/>
          <p:nvPr userDrawn="1"/>
        </p:nvSpPr>
        <p:spPr>
          <a:xfrm flipH="1">
            <a:off x="8066532" y="6491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19" name="Chevron 18"/>
          <p:cNvSpPr/>
          <p:nvPr userDrawn="1"/>
        </p:nvSpPr>
        <p:spPr>
          <a:xfrm>
            <a:off x="8523732" y="6491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5" name="Footer Placeholder 4"/>
          <p:cNvSpPr>
            <a:spLocks noGrp="1"/>
          </p:cNvSpPr>
          <p:nvPr>
            <p:ph type="ftr" sz="quarter" idx="3"/>
          </p:nvPr>
        </p:nvSpPr>
        <p:spPr>
          <a:xfrm>
            <a:off x="457200" y="6375400"/>
            <a:ext cx="6629400" cy="390525"/>
          </a:xfrm>
          <a:prstGeom prst="rect">
            <a:avLst/>
          </a:prstGeom>
        </p:spPr>
        <p:txBody>
          <a:bodyPr vert="horz" lIns="91440" tIns="45720" rIns="91440" bIns="45720" rtlCol="0" anchor="ctr"/>
          <a:lstStyle>
            <a:lvl1pPr algn="l">
              <a:defRPr sz="1400" b="0">
                <a:solidFill>
                  <a:srgbClr val="7F7F7F"/>
                </a:solidFill>
                <a:latin typeface="Bebas Neue" pitchFamily="34" charset="0"/>
              </a:defRPr>
            </a:lvl1pPr>
          </a:lstStyle>
          <a:p>
            <a:r>
              <a:rPr lang="en-JM" dirty="0"/>
              <a:t>PUT THE NAME OF YOUR COMPANY HERE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86" r:id="rId7"/>
    <p:sldLayoutId id="2147483685" r:id="rId8"/>
    <p:sldLayoutId id="2147483682" r:id="rId9"/>
    <p:sldLayoutId id="2147483681" r:id="rId10"/>
    <p:sldLayoutId id="2147483680" r:id="rId11"/>
    <p:sldLayoutId id="2147483677" r:id="rId12"/>
    <p:sldLayoutId id="2147483655" r:id="rId13"/>
    <p:sldLayoutId id="2147483688" r:id="rId14"/>
    <p:sldLayoutId id="2147483683" r:id="rId15"/>
    <p:sldLayoutId id="2147483661" r:id="rId16"/>
    <p:sldLayoutId id="2147483662" r:id="rId17"/>
    <p:sldLayoutId id="2147483679" r:id="rId18"/>
    <p:sldLayoutId id="2147483678" r:id="rId19"/>
    <p:sldLayoutId id="2147483670" r:id="rId20"/>
    <p:sldLayoutId id="2147483663" r:id="rId21"/>
    <p:sldLayoutId id="2147483664" r:id="rId22"/>
    <p:sldLayoutId id="2147483666" r:id="rId23"/>
    <p:sldLayoutId id="2147483667" r:id="rId24"/>
    <p:sldLayoutId id="2147483668" r:id="rId25"/>
    <p:sldLayoutId id="2147483669" r:id="rId26"/>
    <p:sldLayoutId id="2147483671" r:id="rId27"/>
    <p:sldLayoutId id="2147483672" r:id="rId28"/>
    <p:sldLayoutId id="2147483673" r:id="rId29"/>
    <p:sldLayoutId id="2147483674" r:id="rId30"/>
    <p:sldLayoutId id="2147483675" r:id="rId31"/>
    <p:sldLayoutId id="2147483676" r:id="rId32"/>
    <p:sldLayoutId id="2147483687" r:id="rId33"/>
  </p:sldLayoutIdLst>
  <p:hf sldNum="0" hdr="0" dt="0"/>
  <p:txStyles>
    <p:titleStyle>
      <a:lvl1pPr algn="l" defTabSz="914400" rtl="0" eaLnBrk="1" latinLnBrk="0" hangingPunct="1">
        <a:spcBef>
          <a:spcPct val="0"/>
        </a:spcBef>
        <a:buNone/>
        <a:defRPr sz="4400" kern="1200">
          <a:solidFill>
            <a:schemeClr val="tx1">
              <a:lumMod val="85000"/>
              <a:lumOff val="15000"/>
            </a:schemeClr>
          </a:solidFill>
          <a:latin typeface="Bebas Neue"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6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6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4343400"/>
            <a:ext cx="6400800" cy="457200"/>
          </a:xfrm>
        </p:spPr>
        <p:txBody>
          <a:bodyPr>
            <a:normAutofit/>
          </a:bodyPr>
          <a:lstStyle/>
          <a:p>
            <a:r>
              <a:rPr lang="zh-CN" altLang="en-US" sz="2200" dirty="0">
                <a:solidFill>
                  <a:schemeClr val="tx1">
                    <a:lumMod val="75000"/>
                    <a:lumOff val="25000"/>
                  </a:schemeClr>
                </a:solidFill>
                <a:latin typeface="+mj-lt"/>
                <a:cs typeface="Helvetica" panose="020B0604020202020204" pitchFamily="34" charset="0"/>
              </a:rPr>
              <a:t>教师</a:t>
            </a:r>
            <a:r>
              <a:rPr lang="en-JM" sz="2200" dirty="0">
                <a:solidFill>
                  <a:schemeClr val="tx1">
                    <a:lumMod val="75000"/>
                    <a:lumOff val="25000"/>
                  </a:schemeClr>
                </a:solidFill>
                <a:latin typeface="+mj-lt"/>
                <a:cs typeface="Helvetica" panose="020B0604020202020204" pitchFamily="34" charset="0"/>
              </a:rPr>
              <a:t>: </a:t>
            </a:r>
            <a:r>
              <a:rPr lang="zh-CN" altLang="en-US" sz="2200" dirty="0">
                <a:solidFill>
                  <a:schemeClr val="tx1">
                    <a:lumMod val="75000"/>
                    <a:lumOff val="25000"/>
                  </a:schemeClr>
                </a:solidFill>
                <a:latin typeface="+mj-lt"/>
                <a:cs typeface="Helvetica" panose="020B0604020202020204" pitchFamily="34" charset="0"/>
              </a:rPr>
              <a:t>王翀</a:t>
            </a:r>
            <a:endParaRPr lang="en-JM" sz="2200" b="1" dirty="0">
              <a:solidFill>
                <a:schemeClr val="tx1">
                  <a:lumMod val="75000"/>
                  <a:lumOff val="25000"/>
                </a:schemeClr>
              </a:solidFill>
              <a:latin typeface="+mj-lt"/>
              <a:cs typeface="Helvetica" panose="020B0604020202020204" pitchFamily="34" charset="0"/>
            </a:endParaRPr>
          </a:p>
        </p:txBody>
      </p:sp>
      <p:sp>
        <p:nvSpPr>
          <p:cNvPr id="5" name="Oval 4">
            <a:hlinkClick r:id="" action="ppaction://hlinkshowjump?jump=nextslide" highlightClick="1"/>
          </p:cNvPr>
          <p:cNvSpPr/>
          <p:nvPr/>
        </p:nvSpPr>
        <p:spPr>
          <a:xfrm>
            <a:off x="4343400" y="5430520"/>
            <a:ext cx="457200" cy="45720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solidFill>
                <a:schemeClr val="bg1">
                  <a:lumMod val="75000"/>
                </a:schemeClr>
              </a:solidFill>
              <a:latin typeface="+mj-lt"/>
              <a:cs typeface="Helvetica" panose="020B0604020202020204" pitchFamily="34" charset="0"/>
            </a:endParaRPr>
          </a:p>
        </p:txBody>
      </p:sp>
      <p:grpSp>
        <p:nvGrpSpPr>
          <p:cNvPr id="16" name="Group 15"/>
          <p:cNvGrpSpPr/>
          <p:nvPr/>
        </p:nvGrpSpPr>
        <p:grpSpPr>
          <a:xfrm>
            <a:off x="381001" y="1752600"/>
            <a:ext cx="8381999" cy="1676400"/>
            <a:chOff x="2209800" y="1981200"/>
            <a:chExt cx="4876800" cy="1371600"/>
          </a:xfrm>
        </p:grpSpPr>
        <p:sp>
          <p:nvSpPr>
            <p:cNvPr id="12" name="Rectangle 11"/>
            <p:cNvSpPr/>
            <p:nvPr/>
          </p:nvSpPr>
          <p:spPr>
            <a:xfrm>
              <a:off x="2209800" y="1981200"/>
              <a:ext cx="4876800" cy="1371600"/>
            </a:xfrm>
            <a:prstGeom prst="rect">
              <a:avLst/>
            </a:prstGeom>
            <a:solidFill>
              <a:schemeClr val="bg1">
                <a:lumMod val="95000"/>
              </a:schemeClr>
            </a:solidFill>
            <a:ln w="6350">
              <a:solidFill>
                <a:schemeClr val="bg1"/>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sp>
          <p:nvSpPr>
            <p:cNvPr id="13" name="Rectangle 12"/>
            <p:cNvSpPr/>
            <p:nvPr/>
          </p:nvSpPr>
          <p:spPr>
            <a:xfrm>
              <a:off x="2209801" y="2286000"/>
              <a:ext cx="108065" cy="60960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sp>
          <p:nvSpPr>
            <p:cNvPr id="14" name="Rectangle 13"/>
            <p:cNvSpPr/>
            <p:nvPr/>
          </p:nvSpPr>
          <p:spPr>
            <a:xfrm>
              <a:off x="6978534" y="2286000"/>
              <a:ext cx="108066" cy="60960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grpSp>
      <p:sp>
        <p:nvSpPr>
          <p:cNvPr id="15" name="Rectangle 14"/>
          <p:cNvSpPr/>
          <p:nvPr/>
        </p:nvSpPr>
        <p:spPr>
          <a:xfrm>
            <a:off x="2743200" y="4851400"/>
            <a:ext cx="3810000" cy="457200"/>
          </a:xfrm>
          <a:prstGeom prst="rect">
            <a:avLst/>
          </a:prstGeom>
          <a:solidFill>
            <a:schemeClr val="bg1">
              <a:lumMod val="95000"/>
            </a:schemeClr>
          </a:solidFill>
          <a:ln w="6350">
            <a:solidFill>
              <a:schemeClr val="bg1"/>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latin typeface="+mj-lt"/>
                <a:cs typeface="Helvetica" panose="020B0604020202020204" pitchFamily="34" charset="0"/>
              </a:rPr>
              <a:t>信息学院 计算机系</a:t>
            </a:r>
            <a:endParaRPr lang="en-JM" dirty="0">
              <a:solidFill>
                <a:srgbClr val="0070C0"/>
              </a:solidFill>
              <a:latin typeface="+mj-lt"/>
              <a:cs typeface="Helvetica" panose="020B0604020202020204" pitchFamily="34" charset="0"/>
            </a:endParaRPr>
          </a:p>
        </p:txBody>
      </p:sp>
      <p:sp>
        <p:nvSpPr>
          <p:cNvPr id="2" name="Title 1"/>
          <p:cNvSpPr>
            <a:spLocks noGrp="1"/>
          </p:cNvSpPr>
          <p:nvPr>
            <p:ph type="ctrTitle"/>
          </p:nvPr>
        </p:nvSpPr>
        <p:spPr>
          <a:xfrm>
            <a:off x="642939" y="1447800"/>
            <a:ext cx="7858124" cy="2285999"/>
          </a:xfrm>
        </p:spPr>
        <p:txBody>
          <a:bodyPr/>
          <a:lstStyle/>
          <a:p>
            <a:r>
              <a:rPr lang="en-US" altLang="zh-CN"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Linux</a:t>
            </a:r>
            <a:r>
              <a:rPr lang="zh-CN" altLang="en-US"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系统移植</a:t>
            </a:r>
            <a:endParaRPr lang="en-JM" sz="6000" dirty="0">
              <a:solidFill>
                <a:srgbClr val="0065B0"/>
              </a:solidFill>
              <a:effectLst>
                <a:outerShdw blurRad="38100" dist="38100" dir="2700000" algn="tl">
                  <a:srgbClr val="000000">
                    <a:alpha val="43137"/>
                  </a:srgbClr>
                </a:outerShdw>
              </a:effectLst>
              <a:latin typeface="+mj-lt"/>
              <a:cs typeface="Helvetica" panose="020B0604020202020204" pitchFamily="34" charset="0"/>
            </a:endParaRPr>
          </a:p>
        </p:txBody>
      </p:sp>
      <p:sp>
        <p:nvSpPr>
          <p:cNvPr id="6" name="Chevron 5"/>
          <p:cNvSpPr/>
          <p:nvPr/>
        </p:nvSpPr>
        <p:spPr>
          <a:xfrm>
            <a:off x="4536000" y="5580000"/>
            <a:ext cx="107653" cy="164592"/>
          </a:xfrm>
          <a:prstGeom prst="chevron">
            <a:avLst>
              <a:gd name="adj" fmla="val 79255"/>
            </a:avLst>
          </a:prstGeom>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latin typeface="+mj-lt"/>
              <a:cs typeface="Helvetica" panose="020B0604020202020204" pitchFamily="34" charset="0"/>
            </a:endParaRPr>
          </a:p>
        </p:txBody>
      </p:sp>
      <p:cxnSp>
        <p:nvCxnSpPr>
          <p:cNvPr id="11" name="Straight Connector 10"/>
          <p:cNvCxnSpPr/>
          <p:nvPr/>
        </p:nvCxnSpPr>
        <p:spPr bwMode="auto">
          <a:xfrm>
            <a:off x="381000" y="24384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381000" y="2499784"/>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8661400" y="24532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8661400" y="25146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animEffect transition="in" filter="fade">
                                      <p:cBhvr>
                                        <p:cTn id="39" dur="500"/>
                                        <p:tgtEl>
                                          <p:spTgt spid="17"/>
                                        </p:tgtEl>
                                      </p:cBhvr>
                                    </p:animEffect>
                                  </p:childTnLst>
                                </p:cTn>
                              </p:par>
                              <p:par>
                                <p:cTn id="40" presetID="53" presetClass="entr" presetSubtype="16"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par>
                                <p:cTn id="45" presetID="53" presetClass="entr" presetSubtype="16"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
                                            <p:txEl>
                                              <p:pRg st="0" end="0"/>
                                            </p:txEl>
                                          </p:spTgt>
                                        </p:tgtEl>
                                        <p:attrNameLst>
                                          <p:attrName>style.visibility</p:attrName>
                                        </p:attrNameLst>
                                      </p:cBhvr>
                                      <p:to>
                                        <p:strVal val="visible"/>
                                      </p:to>
                                    </p:set>
                                    <p:anim calcmode="lin" valueType="num">
                                      <p:cBhvr>
                                        <p:cTn id="5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5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5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5" grpId="0" animBg="1"/>
      <p:bldP spid="2" grpId="0"/>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err="1">
                <a:solidFill>
                  <a:srgbClr val="4F4F4F"/>
                </a:solidFill>
                <a:effectLst/>
                <a:latin typeface="PingFang SC" panose="020B0400000000000000" pitchFamily="34" charset="-122"/>
                <a:ea typeface="PingFang SC" panose="020B0400000000000000" pitchFamily="34" charset="-122"/>
              </a:rPr>
              <a:t>linux</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系统组成</a:t>
            </a:r>
            <a:endParaRPr lang="zh-CN" altLang="en-US" dirty="0"/>
          </a:p>
        </p:txBody>
      </p:sp>
      <p:sp>
        <p:nvSpPr>
          <p:cNvPr id="9219" name="Rectangle 5"/>
          <p:cNvSpPr>
            <a:spLocks noGrp="1" noChangeArrowheads="1"/>
          </p:cNvSpPr>
          <p:nvPr>
            <p:ph idx="1"/>
          </p:nvPr>
        </p:nvSpPr>
        <p:spPr/>
        <p:txBody>
          <a:bodyPr>
            <a:normAutofit/>
          </a:bodyPr>
          <a:lstStyle/>
          <a:p>
            <a:pPr marL="0" indent="0">
              <a:lnSpc>
                <a:spcPct val="150000"/>
              </a:lnSpc>
              <a:buNone/>
            </a:pPr>
            <a:r>
              <a:rPr lang="zh-CN" altLang="en-US" sz="2400" b="0" i="0" u="none" strike="noStrike" dirty="0">
                <a:solidFill>
                  <a:srgbClr val="4D4D4D"/>
                </a:solidFill>
                <a:effectLst/>
                <a:latin typeface="-apple-system"/>
              </a:rPr>
              <a:t>在移植 </a:t>
            </a:r>
            <a:r>
              <a:rPr lang="en" altLang="zh-CN" sz="2400" b="0" i="0" u="none" strike="noStrike" dirty="0">
                <a:solidFill>
                  <a:srgbClr val="4D4D4D"/>
                </a:solidFill>
                <a:effectLst/>
                <a:latin typeface="-apple-system"/>
              </a:rPr>
              <a:t>Linux</a:t>
            </a:r>
            <a:r>
              <a:rPr lang="zh-CN" altLang="en-US" sz="2400" b="0" i="0" u="none" strike="noStrike" dirty="0">
                <a:solidFill>
                  <a:srgbClr val="4D4D4D"/>
                </a:solidFill>
                <a:effectLst/>
                <a:latin typeface="-apple-system"/>
              </a:rPr>
              <a:t>之前我们需要先移植一个 </a:t>
            </a:r>
            <a:r>
              <a:rPr lang="en" altLang="zh-CN" sz="2400" b="0" i="0" u="none" strike="noStrike" dirty="0">
                <a:solidFill>
                  <a:srgbClr val="4D4D4D"/>
                </a:solidFill>
                <a:effectLst/>
                <a:latin typeface="-apple-system"/>
              </a:rPr>
              <a:t>bootloader </a:t>
            </a:r>
            <a:r>
              <a:rPr lang="zh-CN" altLang="en-US" sz="2400" b="0" i="0" u="none" strike="noStrike" dirty="0">
                <a:solidFill>
                  <a:srgbClr val="4D4D4D"/>
                </a:solidFill>
                <a:effectLst/>
                <a:latin typeface="-apple-system"/>
              </a:rPr>
              <a:t>代码，这个 </a:t>
            </a:r>
            <a:r>
              <a:rPr lang="en" altLang="zh-CN" sz="2400" b="0" i="0" u="none" strike="noStrike" dirty="0">
                <a:solidFill>
                  <a:srgbClr val="4D4D4D"/>
                </a:solidFill>
                <a:effectLst/>
                <a:latin typeface="-apple-system"/>
              </a:rPr>
              <a:t>bootloader </a:t>
            </a:r>
            <a:r>
              <a:rPr lang="zh-CN" altLang="en-US" sz="2400" b="0" i="0" u="none" strike="noStrike" dirty="0">
                <a:solidFill>
                  <a:srgbClr val="4D4D4D"/>
                </a:solidFill>
                <a:effectLst/>
                <a:latin typeface="-apple-system"/>
              </a:rPr>
              <a:t>代码用于启动 </a:t>
            </a:r>
            <a:r>
              <a:rPr lang="en" altLang="zh-CN" sz="2400" b="0" i="0" u="none" strike="noStrike" dirty="0">
                <a:solidFill>
                  <a:srgbClr val="4D4D4D"/>
                </a:solidFill>
                <a:effectLst/>
                <a:latin typeface="-apple-system"/>
              </a:rPr>
              <a:t>Linux </a:t>
            </a:r>
            <a:r>
              <a:rPr lang="zh-CN" altLang="en-US" sz="2400" b="0" i="0" u="none" strike="noStrike" dirty="0">
                <a:solidFill>
                  <a:srgbClr val="4D4D4D"/>
                </a:solidFill>
                <a:effectLst/>
                <a:latin typeface="-apple-system"/>
              </a:rPr>
              <a:t>内核， </a:t>
            </a:r>
            <a:r>
              <a:rPr lang="en" altLang="zh-CN" sz="2400" b="0" i="0" u="none" strike="noStrike" dirty="0">
                <a:solidFill>
                  <a:srgbClr val="4D4D4D"/>
                </a:solidFill>
                <a:effectLst/>
                <a:latin typeface="-apple-system"/>
              </a:rPr>
              <a:t>bootloader</a:t>
            </a:r>
            <a:r>
              <a:rPr lang="zh-CN" altLang="en-US" sz="2400" b="0" i="0" u="none" strike="noStrike" dirty="0">
                <a:solidFill>
                  <a:srgbClr val="4D4D4D"/>
                </a:solidFill>
                <a:effectLst/>
                <a:latin typeface="-apple-system"/>
              </a:rPr>
              <a:t>有很多，常用的就是 </a:t>
            </a:r>
            <a:r>
              <a:rPr lang="en" altLang="zh-CN" sz="2400" b="0" i="0" u="none" strike="noStrike" dirty="0">
                <a:solidFill>
                  <a:srgbClr val="4D4D4D"/>
                </a:solidFill>
                <a:effectLst/>
                <a:latin typeface="-apple-system"/>
              </a:rPr>
              <a:t>U-Boot</a:t>
            </a:r>
            <a:r>
              <a:rPr lang="zh-CN" altLang="e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移植好 </a:t>
            </a:r>
            <a:r>
              <a:rPr lang="en" altLang="zh-CN" sz="2400" b="0" i="0" u="none" strike="noStrike" dirty="0">
                <a:solidFill>
                  <a:srgbClr val="4D4D4D"/>
                </a:solidFill>
                <a:effectLst/>
                <a:latin typeface="-apple-system"/>
              </a:rPr>
              <a:t>U-Boot </a:t>
            </a:r>
            <a:r>
              <a:rPr lang="zh-CN" altLang="en-US" sz="2400" b="0" i="0" u="none" strike="noStrike" dirty="0">
                <a:solidFill>
                  <a:srgbClr val="4D4D4D"/>
                </a:solidFill>
                <a:effectLst/>
                <a:latin typeface="-apple-system"/>
              </a:rPr>
              <a:t>以后再移植 </a:t>
            </a:r>
            <a:r>
              <a:rPr lang="en" altLang="zh-CN" sz="2400" b="0" i="0" u="none" strike="noStrike" dirty="0">
                <a:solidFill>
                  <a:srgbClr val="4D4D4D"/>
                </a:solidFill>
                <a:effectLst/>
                <a:latin typeface="-apple-system"/>
              </a:rPr>
              <a:t>Linux </a:t>
            </a:r>
            <a:r>
              <a:rPr lang="zh-CN" altLang="en-US" sz="2400" b="0" i="0" u="none" strike="noStrike" dirty="0">
                <a:solidFill>
                  <a:srgbClr val="4D4D4D"/>
                </a:solidFill>
                <a:effectLst/>
                <a:latin typeface="-apple-system"/>
              </a:rPr>
              <a:t>内核，移植完 </a:t>
            </a:r>
            <a:r>
              <a:rPr lang="en" altLang="zh-CN" sz="2400" b="0" i="0" u="none" strike="noStrike" dirty="0">
                <a:solidFill>
                  <a:srgbClr val="4D4D4D"/>
                </a:solidFill>
                <a:effectLst/>
                <a:latin typeface="-apple-system"/>
              </a:rPr>
              <a:t>Linux </a:t>
            </a:r>
            <a:r>
              <a:rPr lang="zh-CN" altLang="en-US" sz="2400" b="0" i="0" u="none" strike="noStrike" dirty="0">
                <a:solidFill>
                  <a:srgbClr val="4D4D4D"/>
                </a:solidFill>
                <a:effectLst/>
                <a:latin typeface="-apple-system"/>
              </a:rPr>
              <a:t>内核以后</a:t>
            </a:r>
            <a:r>
              <a:rPr lang="en" altLang="zh-CN" sz="2400" b="0" i="0" u="none" strike="noStrike" dirty="0">
                <a:solidFill>
                  <a:srgbClr val="4D4D4D"/>
                </a:solidFill>
                <a:effectLst/>
                <a:latin typeface="-apple-system"/>
              </a:rPr>
              <a:t>Linux </a:t>
            </a:r>
            <a:r>
              <a:rPr lang="zh-CN" altLang="en-US" sz="2400" b="0" i="0" u="none" strike="noStrike" dirty="0">
                <a:solidFill>
                  <a:srgbClr val="4D4D4D"/>
                </a:solidFill>
                <a:effectLst/>
                <a:latin typeface="-apple-system"/>
              </a:rPr>
              <a:t>还不能正常启动，还需要再移植一个根文件系统</a:t>
            </a:r>
            <a:r>
              <a:rPr lang="en-US" altLang="zh-CN" sz="2400" b="0" i="0" u="none" strike="noStrike" dirty="0">
                <a:solidFill>
                  <a:srgbClr val="4D4D4D"/>
                </a:solidFill>
                <a:effectLst/>
                <a:latin typeface="-apple-system"/>
              </a:rPr>
              <a:t>(</a:t>
            </a:r>
            <a:r>
              <a:rPr lang="en" altLang="zh-CN" sz="2400" b="0" i="0" u="none" strike="noStrike" dirty="0" err="1">
                <a:solidFill>
                  <a:srgbClr val="4D4D4D"/>
                </a:solidFill>
                <a:effectLst/>
                <a:latin typeface="-apple-system"/>
              </a:rPr>
              <a:t>rootfs</a:t>
            </a:r>
            <a:r>
              <a:rPr lang="en" altLang="zh-CN" sz="2400" b="0" i="0" u="none" strike="noStrike" dirty="0">
                <a:solidFill>
                  <a:srgbClr val="4D4D4D"/>
                </a:solidFill>
                <a:effectLst/>
                <a:latin typeface="-apple-system"/>
              </a:rPr>
              <a:t>)</a:t>
            </a:r>
            <a:r>
              <a:rPr lang="zh-CN" altLang="e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根文件系统里面包含了一些最常用的命令和文件。</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 </a:t>
            </a:r>
            <a:r>
              <a:rPr lang="en" altLang="zh-CN" sz="2400" b="0" i="0" u="none" strike="noStrike" dirty="0">
                <a:solidFill>
                  <a:srgbClr val="4D4D4D"/>
                </a:solidFill>
                <a:effectLst/>
                <a:latin typeface="-apple-system"/>
              </a:rPr>
              <a:t>U-Boot</a:t>
            </a:r>
            <a:r>
              <a:rPr lang="zh-CN" altLang="en" sz="2400" b="0" i="0" u="none" strike="noStrike" dirty="0">
                <a:solidFill>
                  <a:srgbClr val="4D4D4D"/>
                </a:solidFill>
                <a:effectLst/>
                <a:latin typeface="-apple-system"/>
              </a:rPr>
              <a:t>、 </a:t>
            </a:r>
            <a:r>
              <a:rPr lang="en" altLang="zh-CN" sz="2400" b="0" i="0" u="none" strike="noStrike" dirty="0">
                <a:solidFill>
                  <a:srgbClr val="4D4D4D"/>
                </a:solidFill>
                <a:effectLst/>
                <a:latin typeface="-apple-system"/>
              </a:rPr>
              <a:t>Linux kernel </a:t>
            </a:r>
            <a:r>
              <a:rPr lang="zh-CN" altLang="en-US" sz="2400" b="0" i="0" u="none" strike="noStrike" dirty="0">
                <a:solidFill>
                  <a:srgbClr val="4D4D4D"/>
                </a:solidFill>
                <a:effectLst/>
                <a:latin typeface="-apple-system"/>
              </a:rPr>
              <a:t>和 </a:t>
            </a:r>
            <a:r>
              <a:rPr lang="en" altLang="zh-CN" sz="2400" b="0" i="0" u="none" strike="noStrike" dirty="0" err="1">
                <a:solidFill>
                  <a:srgbClr val="4D4D4D"/>
                </a:solidFill>
                <a:effectLst/>
                <a:latin typeface="-apple-system"/>
              </a:rPr>
              <a:t>rootfs</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这三者一起构成了一个完整的 </a:t>
            </a:r>
            <a:r>
              <a:rPr lang="en" altLang="zh-CN" sz="2400" b="0" i="0" u="none" strike="noStrike" dirty="0">
                <a:solidFill>
                  <a:srgbClr val="4D4D4D"/>
                </a:solidFill>
                <a:effectLst/>
                <a:latin typeface="-apple-system"/>
              </a:rPr>
              <a:t>Linux </a:t>
            </a:r>
            <a:r>
              <a:rPr lang="zh-CN" altLang="en-US" sz="2400" b="0" i="0" u="none" strike="noStrike" dirty="0">
                <a:solidFill>
                  <a:srgbClr val="4D4D4D"/>
                </a:solidFill>
                <a:effectLst/>
                <a:latin typeface="-apple-system"/>
              </a:rPr>
              <a:t>系统</a:t>
            </a:r>
          </a:p>
        </p:txBody>
      </p:sp>
      <p:sp>
        <p:nvSpPr>
          <p:cNvPr id="5" name="文本框 4">
            <a:extLst>
              <a:ext uri="{FF2B5EF4-FFF2-40B4-BE49-F238E27FC236}">
                <a16:creationId xmlns:a16="http://schemas.microsoft.com/office/drawing/2014/main" id="{FE32372B-C8D3-1F4D-AB6E-71DCB76DD5CE}"/>
              </a:ext>
            </a:extLst>
          </p:cNvPr>
          <p:cNvSpPr txBox="1"/>
          <p:nvPr/>
        </p:nvSpPr>
        <p:spPr>
          <a:xfrm>
            <a:off x="0" y="6253922"/>
            <a:ext cx="9982200" cy="646331"/>
          </a:xfrm>
          <a:prstGeom prst="rect">
            <a:avLst/>
          </a:prstGeom>
          <a:noFill/>
        </p:spPr>
        <p:txBody>
          <a:bodyPr wrap="square">
            <a:spAutoFit/>
          </a:bodyPr>
          <a:lstStyle/>
          <a:p>
            <a:r>
              <a:rPr lang="zh-CN" altLang="en-US" sz="1800" b="0" i="0" u="none" strike="noStrike" dirty="0">
                <a:solidFill>
                  <a:schemeClr val="bg1">
                    <a:lumMod val="50000"/>
                  </a:schemeClr>
                </a:solidFill>
                <a:effectLst/>
                <a:latin typeface="-apple-system"/>
              </a:rPr>
              <a:t>版权声明：本文为博主原创文章，遵循 </a:t>
            </a:r>
            <a:r>
              <a:rPr lang="en" altLang="zh-CN" sz="1800" b="0" i="0" u="none" strike="noStrike" dirty="0">
                <a:solidFill>
                  <a:schemeClr val="bg1">
                    <a:lumMod val="50000"/>
                  </a:schemeClr>
                </a:solidFill>
                <a:effectLst/>
                <a:latin typeface="-apple-system"/>
              </a:rPr>
              <a:t>CC 4.0 BY-SA </a:t>
            </a:r>
            <a:r>
              <a:rPr lang="zh-CN" altLang="en-US" sz="1800" b="0" i="0" u="none" strike="noStrike" dirty="0">
                <a:solidFill>
                  <a:schemeClr val="bg1">
                    <a:lumMod val="50000"/>
                  </a:schemeClr>
                </a:solidFill>
                <a:effectLst/>
                <a:latin typeface="-apple-system"/>
              </a:rPr>
              <a:t>版权协议。</a:t>
            </a:r>
            <a:endParaRPr lang="en-US" altLang="zh-CN" sz="1800" b="0" i="0" u="none" strike="noStrike" dirty="0">
              <a:solidFill>
                <a:schemeClr val="bg1">
                  <a:lumMod val="50000"/>
                </a:schemeClr>
              </a:solidFill>
              <a:effectLst/>
              <a:latin typeface="-apple-system"/>
            </a:endParaRPr>
          </a:p>
          <a:p>
            <a:r>
              <a:rPr lang="zh-CN" altLang="en-US" sz="1800" b="0" i="0" u="none" strike="noStrike" dirty="0">
                <a:solidFill>
                  <a:schemeClr val="bg1">
                    <a:lumMod val="50000"/>
                  </a:schemeClr>
                </a:solidFill>
                <a:effectLst/>
                <a:latin typeface="-apple-system"/>
              </a:rPr>
              <a:t>原文链接：</a:t>
            </a:r>
            <a:r>
              <a:rPr lang="en" altLang="zh-CN" sz="1800" b="0" i="0" u="none" strike="noStrike" dirty="0">
                <a:solidFill>
                  <a:schemeClr val="bg1">
                    <a:lumMod val="50000"/>
                  </a:schemeClr>
                </a:solidFill>
                <a:effectLst/>
                <a:latin typeface="-apple-system"/>
              </a:rPr>
              <a:t>https://</a:t>
            </a:r>
            <a:r>
              <a:rPr lang="en" altLang="zh-CN" sz="1800" b="0" i="0" u="none" strike="noStrike" dirty="0" err="1">
                <a:solidFill>
                  <a:schemeClr val="bg1">
                    <a:lumMod val="50000"/>
                  </a:schemeClr>
                </a:solidFill>
                <a:effectLst/>
                <a:latin typeface="-apple-system"/>
              </a:rPr>
              <a:t>blog.csdn.net</a:t>
            </a:r>
            <a:r>
              <a:rPr lang="en" altLang="zh-CN" sz="1800" b="0" i="0" u="none" strike="noStrike" dirty="0">
                <a:solidFill>
                  <a:schemeClr val="bg1">
                    <a:lumMod val="50000"/>
                  </a:schemeClr>
                </a:solidFill>
                <a:effectLst/>
                <a:latin typeface="-apple-system"/>
              </a:rPr>
              <a:t>/sinat_31039061/article/details/98885275</a:t>
            </a:r>
            <a:endParaRPr lang="en-US" altLang="zh-CN" sz="1800" b="0" i="0" u="none" strike="noStrike" dirty="0">
              <a:solidFill>
                <a:schemeClr val="bg1">
                  <a:lumMod val="50000"/>
                </a:schemeClr>
              </a:solidFill>
              <a:effectLst/>
              <a:latin typeface="-apple-system"/>
            </a:endParaRPr>
          </a:p>
        </p:txBody>
      </p:sp>
    </p:spTree>
    <p:extLst>
      <p:ext uri="{BB962C8B-B14F-4D97-AF65-F5344CB8AC3E}">
        <p14:creationId xmlns:p14="http://schemas.microsoft.com/office/powerpoint/2010/main" val="1464135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F4F4F"/>
                </a:solidFill>
                <a:effectLst/>
                <a:latin typeface="PingFang SC" panose="020B0400000000000000" pitchFamily="34" charset="-122"/>
                <a:ea typeface="PingFang SC" panose="020B0400000000000000" pitchFamily="34" charset="-122"/>
              </a:rPr>
              <a:t>U</a:t>
            </a:r>
            <a:r>
              <a:rPr lang="en-US" altLang="zh-CN" b="1" i="0" u="none" strike="noStrike" dirty="0">
                <a:solidFill>
                  <a:srgbClr val="4F4F4F"/>
                </a:solidFill>
                <a:effectLst/>
                <a:latin typeface="PingFang SC" panose="020B0400000000000000" pitchFamily="34" charset="-122"/>
                <a:ea typeface="PingFang SC" panose="020B0400000000000000" pitchFamily="34" charset="-122"/>
              </a:rPr>
              <a:t>-</a:t>
            </a:r>
            <a:r>
              <a:rPr lang="en" altLang="zh-CN" b="1" i="0" u="none" strike="noStrike" dirty="0">
                <a:solidFill>
                  <a:srgbClr val="4F4F4F"/>
                </a:solidFill>
                <a:effectLst/>
                <a:latin typeface="PingFang SC" panose="020B0400000000000000" pitchFamily="34" charset="-122"/>
                <a:ea typeface="PingFang SC" panose="020B0400000000000000" pitchFamily="34" charset="-122"/>
              </a:rPr>
              <a:t>boot</a:t>
            </a:r>
          </a:p>
        </p:txBody>
      </p:sp>
      <p:sp>
        <p:nvSpPr>
          <p:cNvPr id="9219" name="Rectangle 5"/>
          <p:cNvSpPr>
            <a:spLocks noGrp="1" noChangeArrowheads="1"/>
          </p:cNvSpPr>
          <p:nvPr>
            <p:ph idx="1"/>
          </p:nvPr>
        </p:nvSpPr>
        <p:spPr>
          <a:xfrm>
            <a:off x="457200" y="1371601"/>
            <a:ext cx="8229600" cy="5486399"/>
          </a:xfrm>
        </p:spPr>
        <p:txBody>
          <a:bodyPr>
            <a:normAutofit/>
          </a:bodyPr>
          <a:lstStyle/>
          <a:p>
            <a:pPr marL="0" indent="0">
              <a:lnSpc>
                <a:spcPct val="150000"/>
              </a:lnSpc>
              <a:buNone/>
            </a:pPr>
            <a:r>
              <a:rPr lang="en" altLang="zh-CN" sz="2000" b="0" i="0" u="none" strike="noStrike" dirty="0">
                <a:solidFill>
                  <a:srgbClr val="4D4D4D"/>
                </a:solidFill>
                <a:effectLst/>
                <a:latin typeface="-apple-system"/>
              </a:rPr>
              <a:t>U-Boot </a:t>
            </a:r>
            <a:r>
              <a:rPr lang="zh-CN" altLang="en-US" sz="2000" b="0" i="0" u="none" strike="noStrike" dirty="0">
                <a:solidFill>
                  <a:srgbClr val="4D4D4D"/>
                </a:solidFill>
                <a:effectLst/>
                <a:latin typeface="-apple-system"/>
              </a:rPr>
              <a:t>是一个主要用于嵌入式系统的引导加载程序，可以支持多种不同的计算机系统结构，包括</a:t>
            </a:r>
            <a:r>
              <a:rPr lang="en" altLang="zh-CN" sz="2000" b="0" i="0" u="none" strike="noStrike" dirty="0">
                <a:solidFill>
                  <a:srgbClr val="4D4D4D"/>
                </a:solidFill>
                <a:effectLst/>
                <a:latin typeface="-apple-system"/>
              </a:rPr>
              <a:t>PPC</a:t>
            </a:r>
            <a:r>
              <a:rPr lang="zh-CN" altLang="e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ARM</a:t>
            </a:r>
            <a:r>
              <a:rPr lang="zh-CN" altLang="e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AVR32</a:t>
            </a:r>
            <a:r>
              <a:rPr lang="zh-CN" altLang="e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MIPS</a:t>
            </a:r>
            <a:r>
              <a:rPr lang="zh-CN" altLang="e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x86</a:t>
            </a:r>
            <a:r>
              <a:rPr lang="zh-CN" altLang="e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68k</a:t>
            </a:r>
            <a:r>
              <a:rPr lang="zh-CN" altLang="e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Nios</a:t>
            </a:r>
            <a:r>
              <a:rPr lang="zh-CN" altLang="en-US" sz="2000" b="0" i="0" u="none" strike="noStrike" dirty="0">
                <a:solidFill>
                  <a:srgbClr val="4D4D4D"/>
                </a:solidFill>
                <a:effectLst/>
                <a:latin typeface="-apple-system"/>
              </a:rPr>
              <a:t>与</a:t>
            </a:r>
            <a:r>
              <a:rPr lang="en" altLang="zh-CN" sz="2000" b="0" i="0" u="none" strike="noStrike" dirty="0" err="1">
                <a:solidFill>
                  <a:srgbClr val="4D4D4D"/>
                </a:solidFill>
                <a:effectLst/>
                <a:latin typeface="-apple-system"/>
              </a:rPr>
              <a:t>MicroBlaze</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这也是一套在</a:t>
            </a:r>
            <a:r>
              <a:rPr lang="en" altLang="zh-CN" sz="2000" b="0" i="0" u="none" strike="noStrike" dirty="0">
                <a:solidFill>
                  <a:srgbClr val="4D4D4D"/>
                </a:solidFill>
                <a:effectLst/>
                <a:latin typeface="-apple-system"/>
              </a:rPr>
              <a:t>GNU</a:t>
            </a:r>
            <a:r>
              <a:rPr lang="zh-CN" altLang="en-US" sz="2000" b="0" i="0" u="none" strike="noStrike" dirty="0">
                <a:solidFill>
                  <a:srgbClr val="4D4D4D"/>
                </a:solidFill>
                <a:effectLst/>
                <a:latin typeface="-apple-system"/>
              </a:rPr>
              <a:t>通用公共许可证之下发布的自由软件。 </a:t>
            </a:r>
            <a:endParaRPr lang="en-US" altLang="zh-CN" sz="2000" b="0" i="0" u="none" strike="noStrike" dirty="0">
              <a:solidFill>
                <a:srgbClr val="4D4D4D"/>
              </a:solidFill>
              <a:effectLst/>
              <a:latin typeface="-apple-system"/>
            </a:endParaRPr>
          </a:p>
          <a:p>
            <a:pPr marL="0" indent="0">
              <a:lnSpc>
                <a:spcPct val="150000"/>
              </a:lnSpc>
              <a:buNone/>
            </a:pPr>
            <a:r>
              <a:rPr lang="en" altLang="zh-CN" sz="2000" b="0" i="0" u="none" strike="noStrike" dirty="0">
                <a:solidFill>
                  <a:srgbClr val="4D4D4D"/>
                </a:solidFill>
                <a:effectLst/>
                <a:latin typeface="-apple-system"/>
              </a:rPr>
              <a:t>U</a:t>
            </a:r>
            <a:r>
              <a:rPr lang="en-US" altLang="zh-C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boot</a:t>
            </a:r>
            <a:r>
              <a:rPr lang="zh-CN" altLang="en-US" sz="2000" b="0" i="0" u="none" strike="noStrike" dirty="0">
                <a:solidFill>
                  <a:srgbClr val="4D4D4D"/>
                </a:solidFill>
                <a:effectLst/>
                <a:latin typeface="-apple-system"/>
              </a:rPr>
              <a:t>的全称 </a:t>
            </a:r>
            <a:r>
              <a:rPr lang="en" altLang="zh-CN" sz="2000" b="0" i="0" u="none" strike="noStrike" dirty="0">
                <a:solidFill>
                  <a:srgbClr val="4D4D4D"/>
                </a:solidFill>
                <a:effectLst/>
                <a:latin typeface="-apple-system"/>
              </a:rPr>
              <a:t>Universal Boot Loader</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是遵循</a:t>
            </a:r>
            <a:r>
              <a:rPr lang="en" altLang="zh-CN" sz="2000" b="0" i="0" u="none" strike="noStrike" dirty="0">
                <a:solidFill>
                  <a:srgbClr val="4D4D4D"/>
                </a:solidFill>
                <a:effectLst/>
                <a:latin typeface="-apple-system"/>
              </a:rPr>
              <a:t>GPL</a:t>
            </a:r>
            <a:r>
              <a:rPr lang="zh-CN" altLang="en-US" sz="2000" b="0" i="0" u="none" strike="noStrike" dirty="0">
                <a:solidFill>
                  <a:srgbClr val="4D4D4D"/>
                </a:solidFill>
                <a:effectLst/>
                <a:latin typeface="-apple-system"/>
              </a:rPr>
              <a:t>条款的开源项目， 主要作用是用来启动操作系统内核，它分为两个阶段</a:t>
            </a:r>
            <a:endParaRPr lang="en-US" altLang="zh-CN" sz="2000" b="0" i="0" u="none" strike="noStrike" dirty="0">
              <a:solidFill>
                <a:srgbClr val="4D4D4D"/>
              </a:solidFill>
              <a:effectLst/>
              <a:latin typeface="-apple-system"/>
            </a:endParaRPr>
          </a:p>
          <a:p>
            <a:pPr>
              <a:lnSpc>
                <a:spcPct val="150000"/>
              </a:lnSpc>
            </a:pPr>
            <a:r>
              <a:rPr lang="en" altLang="zh-CN" sz="2000" b="1" i="0" u="none" strike="noStrike" dirty="0">
                <a:solidFill>
                  <a:srgbClr val="4D4D4D"/>
                </a:solidFill>
                <a:effectLst/>
                <a:latin typeface="-apple-system"/>
              </a:rPr>
              <a:t>boot</a:t>
            </a:r>
            <a:r>
              <a:rPr lang="zh-CN" altLang="en-US" sz="2000" b="1" i="0" u="none" strike="noStrike" dirty="0">
                <a:solidFill>
                  <a:srgbClr val="4D4D4D"/>
                </a:solidFill>
                <a:effectLst/>
                <a:latin typeface="-apple-system"/>
              </a:rPr>
              <a:t>阶段</a:t>
            </a:r>
            <a:r>
              <a:rPr lang="zh-CN" altLang="en-US" sz="2000" b="0" i="0" u="none" strike="noStrike" dirty="0">
                <a:solidFill>
                  <a:srgbClr val="4D4D4D"/>
                </a:solidFill>
                <a:effectLst/>
                <a:latin typeface="-apple-system"/>
              </a:rPr>
              <a:t>启动系统，初始化硬件设备，建立内存空间映射图，将系统的软硬件带到一个合适的状态， </a:t>
            </a:r>
            <a:endParaRPr lang="en-US" altLang="zh-CN" sz="2000" b="0" i="0" u="none" strike="noStrike" dirty="0">
              <a:solidFill>
                <a:srgbClr val="4D4D4D"/>
              </a:solidFill>
              <a:effectLst/>
              <a:latin typeface="-apple-system"/>
            </a:endParaRPr>
          </a:p>
          <a:p>
            <a:pPr>
              <a:lnSpc>
                <a:spcPct val="150000"/>
              </a:lnSpc>
            </a:pPr>
            <a:r>
              <a:rPr lang="en" altLang="zh-CN" sz="2000" b="1" i="0" u="none" strike="noStrike" dirty="0">
                <a:solidFill>
                  <a:srgbClr val="4D4D4D"/>
                </a:solidFill>
                <a:effectLst/>
                <a:latin typeface="-apple-system"/>
              </a:rPr>
              <a:t>loader</a:t>
            </a:r>
            <a:r>
              <a:rPr lang="zh-CN" altLang="en-US" sz="2000" b="1" i="0" u="none" strike="noStrike" dirty="0">
                <a:solidFill>
                  <a:srgbClr val="4D4D4D"/>
                </a:solidFill>
                <a:effectLst/>
                <a:latin typeface="-apple-system"/>
              </a:rPr>
              <a:t>阶段</a:t>
            </a:r>
            <a:r>
              <a:rPr lang="zh-CN" altLang="en-US" sz="2000" b="0" i="0" u="none" strike="noStrike" dirty="0">
                <a:solidFill>
                  <a:srgbClr val="4D4D4D"/>
                </a:solidFill>
                <a:effectLst/>
                <a:latin typeface="-apple-system"/>
              </a:rPr>
              <a:t>将操作系统内核文件加载至内存，之后跳转到内核所在地址运行</a:t>
            </a:r>
          </a:p>
        </p:txBody>
      </p:sp>
    </p:spTree>
    <p:extLst>
      <p:ext uri="{BB962C8B-B14F-4D97-AF65-F5344CB8AC3E}">
        <p14:creationId xmlns:p14="http://schemas.microsoft.com/office/powerpoint/2010/main" val="1432609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F4F4F"/>
                </a:solidFill>
                <a:effectLst/>
                <a:latin typeface="PingFang SC" panose="020B0400000000000000" pitchFamily="34" charset="-122"/>
                <a:ea typeface="PingFang SC" panose="020B0400000000000000" pitchFamily="34" charset="-122"/>
              </a:rPr>
              <a:t>U</a:t>
            </a:r>
            <a:r>
              <a:rPr lang="en-US" altLang="zh-CN" b="1" i="0" u="none" strike="noStrike" dirty="0">
                <a:solidFill>
                  <a:srgbClr val="4F4F4F"/>
                </a:solidFill>
                <a:effectLst/>
                <a:latin typeface="PingFang SC" panose="020B0400000000000000" pitchFamily="34" charset="-122"/>
                <a:ea typeface="PingFang SC" panose="020B0400000000000000" pitchFamily="34" charset="-122"/>
              </a:rPr>
              <a:t>-</a:t>
            </a:r>
            <a:r>
              <a:rPr lang="en" altLang="zh-CN" b="1" i="0" u="none" strike="noStrike" dirty="0">
                <a:solidFill>
                  <a:srgbClr val="4F4F4F"/>
                </a:solidFill>
                <a:effectLst/>
                <a:latin typeface="PingFang SC" panose="020B0400000000000000" pitchFamily="34" charset="-122"/>
                <a:ea typeface="PingFang SC" panose="020B0400000000000000" pitchFamily="34" charset="-122"/>
              </a:rPr>
              <a:t>boot</a:t>
            </a:r>
          </a:p>
        </p:txBody>
      </p:sp>
      <p:sp>
        <p:nvSpPr>
          <p:cNvPr id="9219" name="Rectangle 5"/>
          <p:cNvSpPr>
            <a:spLocks noGrp="1" noChangeArrowheads="1"/>
          </p:cNvSpPr>
          <p:nvPr>
            <p:ph idx="1"/>
          </p:nvPr>
        </p:nvSpPr>
        <p:spPr>
          <a:xfrm>
            <a:off x="457200" y="1371601"/>
            <a:ext cx="8229600" cy="5486399"/>
          </a:xfrm>
        </p:spPr>
        <p:txBody>
          <a:bodyPr>
            <a:normAutofit/>
          </a:bodyPr>
          <a:lstStyle/>
          <a:p>
            <a:pPr marL="0" indent="0">
              <a:lnSpc>
                <a:spcPct val="150000"/>
              </a:lnSpc>
              <a:buNone/>
            </a:pPr>
            <a:r>
              <a:rPr lang="zh-CN" altLang="en-US" sz="2000" b="0" i="0" u="none" strike="noStrike" dirty="0">
                <a:solidFill>
                  <a:srgbClr val="4D4D4D"/>
                </a:solidFill>
                <a:effectLst/>
                <a:latin typeface="-apple-system"/>
              </a:rPr>
              <a:t>某些</a:t>
            </a:r>
            <a:r>
              <a:rPr lang="en" altLang="zh-CN" sz="2000" b="0" i="0" u="none" strike="noStrike" dirty="0" err="1">
                <a:solidFill>
                  <a:srgbClr val="4D4D4D"/>
                </a:solidFill>
                <a:effectLst/>
                <a:latin typeface="-apple-system"/>
              </a:rPr>
              <a:t>BootLoader</a:t>
            </a:r>
            <a:r>
              <a:rPr lang="zh-CN" altLang="en-US" sz="2000" b="0" i="0" u="none" strike="noStrike" dirty="0">
                <a:solidFill>
                  <a:srgbClr val="4D4D4D"/>
                </a:solidFill>
                <a:effectLst/>
                <a:latin typeface="-apple-system"/>
              </a:rPr>
              <a:t>可能含有一些高级特性，如校验操作系统镜像，从多个操作系统镜像中选择引导合适的操作系统， 或者添加网络功能，让系统自主从网上寻找合适的镜像并且进行引导等等</a:t>
            </a:r>
            <a:endParaRPr lang="zh-CN" altLang="en-US" sz="1800" b="0" i="0" u="none" strike="noStrike" dirty="0">
              <a:solidFill>
                <a:srgbClr val="4D4D4D"/>
              </a:solidFill>
              <a:effectLst/>
              <a:latin typeface="-apple-system"/>
            </a:endParaRPr>
          </a:p>
        </p:txBody>
      </p:sp>
      <p:pic>
        <p:nvPicPr>
          <p:cNvPr id="1026" name="Picture 2">
            <a:extLst>
              <a:ext uri="{FF2B5EF4-FFF2-40B4-BE49-F238E27FC236}">
                <a16:creationId xmlns:a16="http://schemas.microsoft.com/office/drawing/2014/main" id="{79107A20-A449-9343-9419-CBE276A81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907" y="2895600"/>
            <a:ext cx="7848600" cy="3871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756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F4F4F"/>
                </a:solidFill>
                <a:effectLst/>
                <a:latin typeface="PingFang SC" panose="020B0400000000000000" pitchFamily="34" charset="-122"/>
                <a:ea typeface="PingFang SC" panose="020B0400000000000000" pitchFamily="34" charset="-122"/>
              </a:rPr>
              <a:t>Linux</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pic>
        <p:nvPicPr>
          <p:cNvPr id="2050" name="Picture 2">
            <a:extLst>
              <a:ext uri="{FF2B5EF4-FFF2-40B4-BE49-F238E27FC236}">
                <a16:creationId xmlns:a16="http://schemas.microsoft.com/office/drawing/2014/main" id="{9D0B39FC-C90D-2549-89BE-11E780B9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285802"/>
            <a:ext cx="5951538" cy="556748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521608E5-73C6-DA49-9DF4-420C6D5A526C}"/>
              </a:ext>
            </a:extLst>
          </p:cNvPr>
          <p:cNvSpPr txBox="1"/>
          <p:nvPr/>
        </p:nvSpPr>
        <p:spPr>
          <a:xfrm>
            <a:off x="-23567" y="1285802"/>
            <a:ext cx="2995367" cy="4193520"/>
          </a:xfrm>
          <a:prstGeom prst="rect">
            <a:avLst/>
          </a:prstGeom>
          <a:noFill/>
        </p:spPr>
        <p:txBody>
          <a:bodyPr wrap="square">
            <a:spAutoFit/>
          </a:bodyPr>
          <a:lstStyle/>
          <a:p>
            <a:pPr>
              <a:lnSpc>
                <a:spcPct val="150000"/>
              </a:lnSpc>
            </a:pPr>
            <a:r>
              <a:rPr kumimoji="1" lang="en" altLang="zh-CN" dirty="0"/>
              <a:t>Linux</a:t>
            </a:r>
            <a:r>
              <a:rPr kumimoji="1" lang="zh-CN" altLang="en-US" dirty="0"/>
              <a:t>内核是一个用来和硬件打交道并为用户程序提供一个有限服务集的低级支撑软件。</a:t>
            </a:r>
            <a:endParaRPr kumimoji="1" lang="en-US" altLang="zh-CN" dirty="0"/>
          </a:p>
          <a:p>
            <a:pPr>
              <a:lnSpc>
                <a:spcPct val="150000"/>
              </a:lnSpc>
            </a:pPr>
            <a:r>
              <a:rPr kumimoji="1" lang="zh-CN" altLang="en-US" dirty="0"/>
              <a:t>主要模块（或组件）：</a:t>
            </a:r>
            <a:endParaRPr kumimoji="1" lang="en-US" altLang="zh-CN" dirty="0"/>
          </a:p>
          <a:p>
            <a:pPr marL="285750" indent="-285750">
              <a:lnSpc>
                <a:spcPct val="150000"/>
              </a:lnSpc>
              <a:buFont typeface="Arial" panose="020B0604020202020204" pitchFamily="34" charset="0"/>
              <a:buChar char="•"/>
            </a:pPr>
            <a:r>
              <a:rPr kumimoji="1" lang="zh-CN" altLang="en-US" dirty="0"/>
              <a:t>进程管理子系统</a:t>
            </a:r>
            <a:endParaRPr kumimoji="1" lang="en-US" altLang="zh-CN" dirty="0"/>
          </a:p>
          <a:p>
            <a:pPr marL="285750" indent="-285750">
              <a:lnSpc>
                <a:spcPct val="150000"/>
              </a:lnSpc>
              <a:buFont typeface="Arial" panose="020B0604020202020204" pitchFamily="34" charset="0"/>
              <a:buChar char="•"/>
            </a:pPr>
            <a:r>
              <a:rPr kumimoji="1" lang="zh-CN" altLang="en-US" dirty="0"/>
              <a:t>内存管理子系统</a:t>
            </a:r>
            <a:endParaRPr kumimoji="1" lang="en-US" altLang="zh-CN" dirty="0"/>
          </a:p>
          <a:p>
            <a:pPr marL="285750" indent="-285750">
              <a:lnSpc>
                <a:spcPct val="150000"/>
              </a:lnSpc>
              <a:buFont typeface="Arial" panose="020B0604020202020204" pitchFamily="34" charset="0"/>
              <a:buChar char="•"/>
            </a:pPr>
            <a:r>
              <a:rPr kumimoji="1" lang="zh-CN" altLang="en-US" dirty="0"/>
              <a:t>文件子系统</a:t>
            </a:r>
            <a:endParaRPr kumimoji="1" lang="en-US" altLang="zh-CN" dirty="0"/>
          </a:p>
          <a:p>
            <a:pPr marL="285750" indent="-285750">
              <a:lnSpc>
                <a:spcPct val="150000"/>
              </a:lnSpc>
              <a:buFont typeface="Arial" panose="020B0604020202020204" pitchFamily="34" charset="0"/>
              <a:buChar char="•"/>
            </a:pPr>
            <a:r>
              <a:rPr kumimoji="1" lang="zh-CN" altLang="en-US" dirty="0"/>
              <a:t>网络子系统</a:t>
            </a:r>
            <a:endParaRPr kumimoji="1" lang="en-US" altLang="zh-CN" dirty="0"/>
          </a:p>
          <a:p>
            <a:pPr marL="285750" indent="-285750">
              <a:lnSpc>
                <a:spcPct val="150000"/>
              </a:lnSpc>
              <a:buFont typeface="Arial" panose="020B0604020202020204" pitchFamily="34" charset="0"/>
              <a:buChar char="•"/>
            </a:pPr>
            <a:r>
              <a:rPr kumimoji="1" lang="zh-CN" altLang="en-US" dirty="0"/>
              <a:t>设备子系统等。</a:t>
            </a:r>
          </a:p>
        </p:txBody>
      </p:sp>
    </p:spTree>
    <p:extLst>
      <p:ext uri="{BB962C8B-B14F-4D97-AF65-F5344CB8AC3E}">
        <p14:creationId xmlns:p14="http://schemas.microsoft.com/office/powerpoint/2010/main" val="3208428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zh-CN" altLang="en" b="1" i="0" u="none" strike="noStrike" dirty="0">
                <a:solidFill>
                  <a:srgbClr val="4F4F4F"/>
                </a:solidFill>
                <a:effectLst/>
                <a:latin typeface="PingFang SC" panose="020B0400000000000000" pitchFamily="34" charset="-122"/>
                <a:ea typeface="PingFang SC" panose="020B0400000000000000" pitchFamily="34" charset="-122"/>
              </a:rPr>
              <a:t>设备</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树</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9" name="文本框 8">
            <a:extLst>
              <a:ext uri="{FF2B5EF4-FFF2-40B4-BE49-F238E27FC236}">
                <a16:creationId xmlns:a16="http://schemas.microsoft.com/office/drawing/2014/main" id="{521608E5-73C6-DA49-9DF4-420C6D5A526C}"/>
              </a:ext>
            </a:extLst>
          </p:cNvPr>
          <p:cNvSpPr txBox="1"/>
          <p:nvPr/>
        </p:nvSpPr>
        <p:spPr>
          <a:xfrm>
            <a:off x="30637" y="1342542"/>
            <a:ext cx="8656163" cy="1200329"/>
          </a:xfrm>
          <a:prstGeom prst="rect">
            <a:avLst/>
          </a:prstGeom>
          <a:noFill/>
        </p:spPr>
        <p:txBody>
          <a:bodyPr wrap="square">
            <a:spAutoFit/>
          </a:bodyPr>
          <a:lstStyle/>
          <a:p>
            <a:r>
              <a:rPr kumimoji="1" lang="zh-CN" altLang="en-US" dirty="0"/>
              <a:t>设备树是一种描述硬件的数据结构，它把这些硬件设备的信息， 而这个文件，就是</a:t>
            </a:r>
            <a:r>
              <a:rPr kumimoji="1" lang="en" altLang="zh-CN" dirty="0"/>
              <a:t>Device Tree</a:t>
            </a:r>
            <a:r>
              <a:rPr kumimoji="1" lang="zh-CN" altLang="en" dirty="0"/>
              <a:t>（</a:t>
            </a:r>
            <a:r>
              <a:rPr kumimoji="1" lang="zh-CN" altLang="en-US" dirty="0"/>
              <a:t>设备树），设备树包括设备树源码（</a:t>
            </a:r>
            <a:r>
              <a:rPr kumimoji="1" lang="en" altLang="zh-CN" dirty="0"/>
              <a:t>Device Tree Source</a:t>
            </a:r>
            <a:r>
              <a:rPr kumimoji="1" lang="zh-CN" altLang="en" dirty="0"/>
              <a:t>，</a:t>
            </a:r>
            <a:r>
              <a:rPr kumimoji="1" lang="en" altLang="zh-CN" dirty="0"/>
              <a:t>DTS</a:t>
            </a:r>
            <a:r>
              <a:rPr kumimoji="1" lang="zh-CN" altLang="en" dirty="0"/>
              <a:t>）</a:t>
            </a:r>
            <a:r>
              <a:rPr kumimoji="1" lang="zh-CN" altLang="en-US" dirty="0"/>
              <a:t>文件、 设备树编译工具（</a:t>
            </a:r>
            <a:r>
              <a:rPr kumimoji="1" lang="en" altLang="zh-CN" dirty="0"/>
              <a:t>Device Tree Compiler</a:t>
            </a:r>
            <a:r>
              <a:rPr kumimoji="1" lang="zh-CN" altLang="en" dirty="0"/>
              <a:t>，</a:t>
            </a:r>
            <a:r>
              <a:rPr kumimoji="1" lang="en" altLang="zh-CN" dirty="0"/>
              <a:t>DTC</a:t>
            </a:r>
            <a:r>
              <a:rPr kumimoji="1" lang="zh-CN" altLang="en" dirty="0"/>
              <a:t>）</a:t>
            </a:r>
            <a:r>
              <a:rPr kumimoji="1" lang="zh-CN" altLang="en-US" dirty="0"/>
              <a:t>与二进制格式设备树（</a:t>
            </a:r>
            <a:r>
              <a:rPr kumimoji="1" lang="en" altLang="zh-CN" dirty="0"/>
              <a:t>Device Tree Blob</a:t>
            </a:r>
            <a:r>
              <a:rPr kumimoji="1" lang="zh-CN" altLang="en" dirty="0"/>
              <a:t>，</a:t>
            </a:r>
            <a:r>
              <a:rPr kumimoji="1" lang="en" altLang="zh-CN" dirty="0"/>
              <a:t>DTB</a:t>
            </a:r>
            <a:r>
              <a:rPr kumimoji="1" lang="zh-CN" altLang="en" dirty="0"/>
              <a:t>）， </a:t>
            </a:r>
            <a:r>
              <a:rPr kumimoji="1" lang="en" altLang="zh-CN" dirty="0"/>
              <a:t>DTS</a:t>
            </a:r>
            <a:r>
              <a:rPr kumimoji="1" lang="zh-CN" altLang="en-US" dirty="0"/>
              <a:t>包含的头文件格式为</a:t>
            </a:r>
            <a:r>
              <a:rPr kumimoji="1" lang="en" altLang="zh-CN" dirty="0"/>
              <a:t>DTSI</a:t>
            </a:r>
            <a:r>
              <a:rPr kumimoji="1" lang="zh-CN" altLang="en" dirty="0"/>
              <a:t>。</a:t>
            </a:r>
          </a:p>
        </p:txBody>
      </p:sp>
      <p:pic>
        <p:nvPicPr>
          <p:cNvPr id="2" name="图片 1">
            <a:extLst>
              <a:ext uri="{FF2B5EF4-FFF2-40B4-BE49-F238E27FC236}">
                <a16:creationId xmlns:a16="http://schemas.microsoft.com/office/drawing/2014/main" id="{AB9E4252-E295-6E45-931D-2B0FDDA332AC}"/>
              </a:ext>
            </a:extLst>
          </p:cNvPr>
          <p:cNvPicPr>
            <a:picLocks noChangeAspect="1"/>
          </p:cNvPicPr>
          <p:nvPr/>
        </p:nvPicPr>
        <p:blipFill>
          <a:blip r:embed="rId3"/>
          <a:stretch>
            <a:fillRect/>
          </a:stretch>
        </p:blipFill>
        <p:spPr>
          <a:xfrm>
            <a:off x="1446897" y="2578222"/>
            <a:ext cx="5823641" cy="2431322"/>
          </a:xfrm>
          <a:prstGeom prst="rect">
            <a:avLst/>
          </a:prstGeom>
        </p:spPr>
      </p:pic>
      <p:sp>
        <p:nvSpPr>
          <p:cNvPr id="7" name="文本框 6">
            <a:extLst>
              <a:ext uri="{FF2B5EF4-FFF2-40B4-BE49-F238E27FC236}">
                <a16:creationId xmlns:a16="http://schemas.microsoft.com/office/drawing/2014/main" id="{C4DE0949-77D2-5B45-BE33-01451202FD66}"/>
              </a:ext>
            </a:extLst>
          </p:cNvPr>
          <p:cNvSpPr txBox="1"/>
          <p:nvPr/>
        </p:nvSpPr>
        <p:spPr>
          <a:xfrm>
            <a:off x="152400" y="5053793"/>
            <a:ext cx="8656162" cy="646331"/>
          </a:xfrm>
          <a:prstGeom prst="rect">
            <a:avLst/>
          </a:prstGeom>
          <a:noFill/>
        </p:spPr>
        <p:txBody>
          <a:bodyPr wrap="square">
            <a:spAutoFit/>
          </a:bodyPr>
          <a:lstStyle/>
          <a:p>
            <a:r>
              <a:rPr lang="zh-CN" altLang="en-US" b="0" i="0" u="none" strike="noStrike" dirty="0">
                <a:solidFill>
                  <a:srgbClr val="4D4D4D"/>
                </a:solidFill>
                <a:effectLst/>
                <a:latin typeface="-apple-system"/>
              </a:rPr>
              <a:t>在</a:t>
            </a:r>
            <a:r>
              <a:rPr lang="en" altLang="zh-CN" b="0" i="0" u="none" strike="noStrike" dirty="0" err="1">
                <a:solidFill>
                  <a:srgbClr val="4D4D4D"/>
                </a:solidFill>
                <a:effectLst/>
                <a:latin typeface="-apple-system"/>
              </a:rPr>
              <a:t>Uboot</a:t>
            </a:r>
            <a:r>
              <a:rPr lang="zh-CN" altLang="en-US" b="0" i="0" u="none" strike="noStrike" dirty="0">
                <a:solidFill>
                  <a:srgbClr val="4D4D4D"/>
                </a:solidFill>
                <a:effectLst/>
                <a:latin typeface="-apple-system"/>
              </a:rPr>
              <a:t>启动内核时，会先读取</a:t>
            </a:r>
            <a:r>
              <a:rPr lang="en" altLang="zh-CN" b="0" i="0" u="none" strike="noStrike" dirty="0">
                <a:solidFill>
                  <a:srgbClr val="4D4D4D"/>
                </a:solidFill>
                <a:effectLst/>
                <a:latin typeface="-apple-system"/>
              </a:rPr>
              <a:t>DTB</a:t>
            </a:r>
            <a:r>
              <a:rPr lang="zh-CN" altLang="en-US" b="0" i="0" u="none" strike="noStrike" dirty="0">
                <a:solidFill>
                  <a:srgbClr val="4D4D4D"/>
                </a:solidFill>
                <a:effectLst/>
                <a:latin typeface="-apple-system"/>
              </a:rPr>
              <a:t>到内存，然后再启动内核，内核可以从设备树中获取硬件信息</a:t>
            </a:r>
            <a:endParaRPr lang="zh-CN" altLang="en-US" dirty="0"/>
          </a:p>
        </p:txBody>
      </p:sp>
      <p:pic>
        <p:nvPicPr>
          <p:cNvPr id="3074" name="Picture 2">
            <a:extLst>
              <a:ext uri="{FF2B5EF4-FFF2-40B4-BE49-F238E27FC236}">
                <a16:creationId xmlns:a16="http://schemas.microsoft.com/office/drawing/2014/main" id="{1B2AA0D5-A071-334D-8931-3C41A528AA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6908" y="5678934"/>
            <a:ext cx="6310184" cy="1189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86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根文件系统</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C4DE0949-77D2-5B45-BE33-01451202FD66}"/>
              </a:ext>
            </a:extLst>
          </p:cNvPr>
          <p:cNvSpPr txBox="1"/>
          <p:nvPr/>
        </p:nvSpPr>
        <p:spPr>
          <a:xfrm>
            <a:off x="243919" y="1371600"/>
            <a:ext cx="8656162" cy="3271280"/>
          </a:xfrm>
          <a:prstGeom prst="rect">
            <a:avLst/>
          </a:prstGeom>
          <a:noFill/>
        </p:spPr>
        <p:txBody>
          <a:bodyPr wrap="square">
            <a:spAutoFit/>
          </a:bodyPr>
          <a:lstStyle/>
          <a:p>
            <a:pPr>
              <a:lnSpc>
                <a:spcPct val="150000"/>
              </a:lnSpc>
            </a:pPr>
            <a:r>
              <a:rPr lang="zh-CN" altLang="en-US" sz="2000" b="0" i="0" u="none" strike="noStrike" dirty="0">
                <a:solidFill>
                  <a:srgbClr val="4D4D4D"/>
                </a:solidFill>
                <a:effectLst/>
                <a:latin typeface="-apple-system"/>
              </a:rPr>
              <a:t>根文件系统（</a:t>
            </a:r>
            <a:r>
              <a:rPr lang="en" altLang="zh-CN" sz="2000" b="0" i="0" u="none" strike="noStrike" dirty="0" err="1">
                <a:solidFill>
                  <a:srgbClr val="4D4D4D"/>
                </a:solidFill>
                <a:effectLst/>
                <a:latin typeface="-apple-system"/>
              </a:rPr>
              <a:t>rootfs</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是</a:t>
            </a:r>
            <a:r>
              <a:rPr lang="en" altLang="zh-CN" sz="2000" b="0" i="0" u="none" strike="noStrike" dirty="0" err="1">
                <a:solidFill>
                  <a:srgbClr val="4D4D4D"/>
                </a:solidFill>
                <a:effectLst/>
                <a:latin typeface="-apple-system"/>
              </a:rPr>
              <a:t>linux</a:t>
            </a:r>
            <a:r>
              <a:rPr lang="zh-CN" altLang="en-US" sz="2000" b="0" i="0" u="none" strike="noStrike" dirty="0">
                <a:solidFill>
                  <a:srgbClr val="4D4D4D"/>
                </a:solidFill>
                <a:effectLst/>
                <a:latin typeface="-apple-system"/>
              </a:rPr>
              <a:t>在初始化时加载的第一个文件系统，</a:t>
            </a:r>
            <a:endParaRPr lang="en-US" altLang="zh-CN" sz="2000" b="0" i="0" u="none" strike="noStrike" dirty="0">
              <a:solidFill>
                <a:srgbClr val="4D4D4D"/>
              </a:solidFill>
              <a:effectLst/>
              <a:latin typeface="-apple-system"/>
            </a:endParaRPr>
          </a:p>
          <a:p>
            <a:pPr marL="285750" indent="-285750">
              <a:lnSpc>
                <a:spcPct val="150000"/>
              </a:lnSpc>
              <a:buFont typeface="Arial" panose="020B0604020202020204" pitchFamily="34" charset="0"/>
              <a:buChar char="•"/>
            </a:pPr>
            <a:r>
              <a:rPr lang="zh-CN" altLang="en-US" sz="2000" b="0" i="0" u="none" strike="noStrike" dirty="0">
                <a:solidFill>
                  <a:srgbClr val="4D4D4D"/>
                </a:solidFill>
                <a:effectLst/>
                <a:latin typeface="-apple-system"/>
              </a:rPr>
              <a:t>包括根目录和真实文件系统，它包含系统引导和使其他文件系统得以挂载（</a:t>
            </a:r>
            <a:r>
              <a:rPr lang="en" altLang="zh-CN" sz="2000" b="0" i="0" u="none" strike="noStrike" dirty="0">
                <a:solidFill>
                  <a:srgbClr val="4D4D4D"/>
                </a:solidFill>
                <a:effectLst/>
                <a:latin typeface="-apple-system"/>
              </a:rPr>
              <a:t>mount</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所必要的文件。 </a:t>
            </a:r>
            <a:endParaRPr lang="en-US" altLang="zh-CN" sz="2000" b="0" i="0" u="none" strike="noStrike" dirty="0">
              <a:solidFill>
                <a:srgbClr val="4D4D4D"/>
              </a:solidFill>
              <a:effectLst/>
              <a:latin typeface="-apple-system"/>
            </a:endParaRPr>
          </a:p>
          <a:p>
            <a:pPr marL="285750" indent="-285750">
              <a:lnSpc>
                <a:spcPct val="150000"/>
              </a:lnSpc>
              <a:buFont typeface="Arial" panose="020B0604020202020204" pitchFamily="34" charset="0"/>
              <a:buChar char="•"/>
            </a:pPr>
            <a:r>
              <a:rPr lang="zh-CN" altLang="en-US" sz="2000" b="0" i="0" u="none" strike="noStrike" dirty="0">
                <a:solidFill>
                  <a:srgbClr val="4D4D4D"/>
                </a:solidFill>
                <a:effectLst/>
                <a:latin typeface="-apple-system"/>
              </a:rPr>
              <a:t>包含</a:t>
            </a:r>
            <a:r>
              <a:rPr lang="en" altLang="zh-CN" sz="2000" b="0" i="0" u="none" strike="noStrike" dirty="0">
                <a:solidFill>
                  <a:srgbClr val="4D4D4D"/>
                </a:solidFill>
                <a:effectLst/>
                <a:latin typeface="-apple-system"/>
              </a:rPr>
              <a:t>Linux</a:t>
            </a:r>
            <a:r>
              <a:rPr lang="zh-CN" altLang="en-US" sz="2000" b="0" i="0" u="none" strike="noStrike" dirty="0">
                <a:solidFill>
                  <a:srgbClr val="4D4D4D"/>
                </a:solidFill>
                <a:effectLst/>
                <a:latin typeface="-apple-system"/>
              </a:rPr>
              <a:t>启动时所必须的目录和关键性的文件，例如</a:t>
            </a:r>
            <a:r>
              <a:rPr lang="en" altLang="zh-CN" sz="2000" b="0" i="0" u="none" strike="noStrike" dirty="0">
                <a:solidFill>
                  <a:srgbClr val="4D4D4D"/>
                </a:solidFill>
                <a:effectLst/>
                <a:latin typeface="-apple-system"/>
              </a:rPr>
              <a:t>Linux</a:t>
            </a:r>
            <a:r>
              <a:rPr lang="zh-CN" altLang="en-US" sz="2000" b="0" i="0" u="none" strike="noStrike" dirty="0">
                <a:solidFill>
                  <a:srgbClr val="4D4D4D"/>
                </a:solidFill>
                <a:effectLst/>
                <a:latin typeface="-apple-system"/>
              </a:rPr>
              <a:t>启动时必要的初始化文件， 它在</a:t>
            </a:r>
            <a:r>
              <a:rPr lang="en" altLang="zh-CN" sz="2000" b="0" i="0" u="none" strike="noStrike" dirty="0" err="1">
                <a:solidFill>
                  <a:srgbClr val="4D4D4D"/>
                </a:solidFill>
                <a:effectLst/>
                <a:latin typeface="-apple-system"/>
              </a:rPr>
              <a:t>init</a:t>
            </a:r>
            <a:r>
              <a:rPr lang="zh-CN" altLang="en-US" sz="2000" b="0" i="0" u="none" strike="noStrike" dirty="0">
                <a:solidFill>
                  <a:srgbClr val="4D4D4D"/>
                </a:solidFill>
                <a:effectLst/>
                <a:latin typeface="-apple-system"/>
              </a:rPr>
              <a:t>目录下，</a:t>
            </a:r>
            <a:endParaRPr lang="en-US" altLang="zh-CN" sz="2000" b="0" i="0" u="none" strike="noStrike" dirty="0">
              <a:solidFill>
                <a:srgbClr val="4D4D4D"/>
              </a:solidFill>
              <a:effectLst/>
              <a:latin typeface="-apple-system"/>
            </a:endParaRPr>
          </a:p>
          <a:p>
            <a:pPr marL="285750" indent="-285750">
              <a:lnSpc>
                <a:spcPct val="150000"/>
              </a:lnSpc>
              <a:buFont typeface="Arial" panose="020B0604020202020204" pitchFamily="34" charset="0"/>
              <a:buChar char="•"/>
            </a:pPr>
            <a:r>
              <a:rPr lang="zh-CN" altLang="en-US" sz="2000" b="0" i="0" u="none" strike="noStrike" dirty="0">
                <a:solidFill>
                  <a:srgbClr val="4D4D4D"/>
                </a:solidFill>
                <a:effectLst/>
                <a:latin typeface="-apple-system"/>
              </a:rPr>
              <a:t>还包括了许多的应用程序</a:t>
            </a:r>
            <a:r>
              <a:rPr lang="en" altLang="zh-CN" sz="2000" b="0" i="0" u="none" strike="noStrike" dirty="0">
                <a:solidFill>
                  <a:srgbClr val="4D4D4D"/>
                </a:solidFill>
                <a:effectLst/>
                <a:latin typeface="-apple-system"/>
              </a:rPr>
              <a:t>bin</a:t>
            </a:r>
            <a:r>
              <a:rPr lang="zh-CN" altLang="en-US" sz="2000" b="0" i="0" u="none" strike="noStrike" dirty="0">
                <a:solidFill>
                  <a:srgbClr val="4D4D4D"/>
                </a:solidFill>
                <a:effectLst/>
                <a:latin typeface="-apple-system"/>
              </a:rPr>
              <a:t>目录等</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任何包括这些</a:t>
            </a:r>
            <a:r>
              <a:rPr lang="en" altLang="zh-CN" sz="2000" b="0" i="0" u="none" strike="noStrike" dirty="0">
                <a:solidFill>
                  <a:srgbClr val="4D4D4D"/>
                </a:solidFill>
                <a:effectLst/>
                <a:latin typeface="-apple-system"/>
              </a:rPr>
              <a:t>Linux </a:t>
            </a:r>
            <a:r>
              <a:rPr lang="zh-CN" altLang="en-US" sz="2000" b="0" i="0" u="none" strike="noStrike" dirty="0">
                <a:solidFill>
                  <a:srgbClr val="4D4D4D"/>
                </a:solidFill>
                <a:effectLst/>
                <a:latin typeface="-apple-system"/>
              </a:rPr>
              <a:t>系统启动所必须的文件都可以成为根文件系统。</a:t>
            </a:r>
          </a:p>
        </p:txBody>
      </p:sp>
    </p:spTree>
    <p:extLst>
      <p:ext uri="{BB962C8B-B14F-4D97-AF65-F5344CB8AC3E}">
        <p14:creationId xmlns:p14="http://schemas.microsoft.com/office/powerpoint/2010/main" val="2034976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根文件系统</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C4DE0949-77D2-5B45-BE33-01451202FD66}"/>
              </a:ext>
            </a:extLst>
          </p:cNvPr>
          <p:cNvSpPr txBox="1"/>
          <p:nvPr/>
        </p:nvSpPr>
        <p:spPr>
          <a:xfrm>
            <a:off x="243919" y="1371600"/>
            <a:ext cx="8656162" cy="4286943"/>
          </a:xfrm>
          <a:prstGeom prst="rect">
            <a:avLst/>
          </a:prstGeom>
          <a:noFill/>
        </p:spPr>
        <p:txBody>
          <a:bodyPr wrap="square">
            <a:spAutoFit/>
          </a:bodyPr>
          <a:lstStyle/>
          <a:p>
            <a:pPr>
              <a:lnSpc>
                <a:spcPct val="150000"/>
              </a:lnSpc>
            </a:pPr>
            <a:r>
              <a:rPr lang="zh-CN" altLang="en-US" sz="2400" b="0" i="0" u="none" strike="noStrike" dirty="0">
                <a:solidFill>
                  <a:srgbClr val="4D4D4D"/>
                </a:solidFill>
                <a:effectLst/>
                <a:latin typeface="-apple-system"/>
              </a:rPr>
              <a:t>在</a:t>
            </a:r>
            <a:r>
              <a:rPr lang="en" altLang="zh-CN" sz="2400" b="0" i="0" u="none" strike="noStrike" dirty="0">
                <a:solidFill>
                  <a:srgbClr val="4D4D4D"/>
                </a:solidFill>
                <a:effectLst/>
                <a:latin typeface="-apple-system"/>
              </a:rPr>
              <a:t>Linux</a:t>
            </a:r>
            <a:r>
              <a:rPr lang="zh-CN" altLang="en-US" sz="2400" b="0" i="0" u="none" strike="noStrike" dirty="0">
                <a:solidFill>
                  <a:srgbClr val="4D4D4D"/>
                </a:solidFill>
                <a:effectLst/>
                <a:latin typeface="-apple-system"/>
              </a:rPr>
              <a:t>内核启动的初始阶段，</a:t>
            </a:r>
            <a:endParaRPr lang="en-US" altLang="zh-CN" sz="2400" b="0" i="0" u="none" strike="noStrike" dirty="0">
              <a:solidFill>
                <a:srgbClr val="4D4D4D"/>
              </a:solidFill>
              <a:effectLst/>
              <a:latin typeface="-apple-system"/>
            </a:endParaRPr>
          </a:p>
          <a:p>
            <a:pPr marL="342900" indent="-342900">
              <a:lnSpc>
                <a:spcPct val="150000"/>
              </a:lnSpc>
              <a:buFont typeface="Arial" panose="020B0604020202020204" pitchFamily="34" charset="0"/>
              <a:buChar char="•"/>
            </a:pPr>
            <a:r>
              <a:rPr lang="zh-CN" altLang="en-US" sz="2000" b="0" i="0" u="none" strike="noStrike" dirty="0">
                <a:solidFill>
                  <a:srgbClr val="4D4D4D"/>
                </a:solidFill>
                <a:effectLst/>
                <a:latin typeface="-apple-system"/>
              </a:rPr>
              <a:t>首先内核会初始化一个基于内存的文件系统，如</a:t>
            </a:r>
            <a:r>
              <a:rPr lang="en" altLang="zh-CN" sz="2000" b="0" i="0" u="none" strike="noStrike" dirty="0" err="1">
                <a:solidFill>
                  <a:srgbClr val="4D4D4D"/>
                </a:solidFill>
                <a:effectLst/>
                <a:latin typeface="-apple-system"/>
              </a:rPr>
              <a:t>initramfs</a:t>
            </a:r>
            <a:r>
              <a:rPr lang="zh-CN" altLang="e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initrd</a:t>
            </a:r>
            <a:r>
              <a:rPr lang="zh-CN" altLang="en-US" sz="2000" b="0" i="0" u="none" strike="noStrike" dirty="0">
                <a:solidFill>
                  <a:srgbClr val="4D4D4D"/>
                </a:solidFill>
                <a:effectLst/>
                <a:latin typeface="-apple-system"/>
              </a:rPr>
              <a:t>等，</a:t>
            </a:r>
            <a:endParaRPr lang="en-US" altLang="zh-CN" sz="2000" b="0" i="0" u="none" strike="noStrike" dirty="0">
              <a:solidFill>
                <a:srgbClr val="4D4D4D"/>
              </a:solidFill>
              <a:effectLst/>
              <a:latin typeface="-apple-system"/>
            </a:endParaRPr>
          </a:p>
          <a:p>
            <a:pPr marL="342900" indent="-342900">
              <a:lnSpc>
                <a:spcPct val="150000"/>
              </a:lnSpc>
              <a:buFont typeface="Arial" panose="020B0604020202020204" pitchFamily="34" charset="0"/>
              <a:buChar char="•"/>
            </a:pPr>
            <a:r>
              <a:rPr lang="zh-CN" altLang="en-US" sz="2000" b="0" i="0" u="none" strike="noStrike" dirty="0">
                <a:solidFill>
                  <a:srgbClr val="4D4D4D"/>
                </a:solidFill>
                <a:effectLst/>
                <a:latin typeface="-apple-system"/>
              </a:rPr>
              <a:t>然后以只读的方式去加载根文件系统（</a:t>
            </a:r>
            <a:r>
              <a:rPr lang="en" altLang="zh-CN" sz="2000" b="0" i="0" u="none" strike="noStrike" dirty="0">
                <a:solidFill>
                  <a:srgbClr val="4D4D4D"/>
                </a:solidFill>
                <a:effectLst/>
                <a:latin typeface="-apple-system"/>
              </a:rPr>
              <a:t>load </a:t>
            </a:r>
            <a:r>
              <a:rPr lang="en" altLang="zh-CN" sz="2000" b="0" i="0" u="none" strike="noStrike" dirty="0" err="1">
                <a:solidFill>
                  <a:srgbClr val="4D4D4D"/>
                </a:solidFill>
                <a:effectLst/>
                <a:latin typeface="-apple-system"/>
              </a:rPr>
              <a:t>rootfs</a:t>
            </a:r>
            <a:r>
              <a:rPr lang="zh-CN" altLang="e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读取并且运行</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sbin</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init</a:t>
            </a:r>
            <a:r>
              <a:rPr lang="zh-CN" altLang="en-US" sz="2000" b="0" i="0" u="none" strike="noStrike" dirty="0">
                <a:solidFill>
                  <a:srgbClr val="4D4D4D"/>
                </a:solidFill>
                <a:effectLst/>
                <a:latin typeface="-apple-system"/>
              </a:rPr>
              <a:t>初始化文件，根据</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etc</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inittab</a:t>
            </a:r>
            <a:r>
              <a:rPr lang="zh-CN" altLang="en-US" sz="2000" b="0" i="0" u="none" strike="noStrike" dirty="0">
                <a:solidFill>
                  <a:srgbClr val="4D4D4D"/>
                </a:solidFill>
                <a:effectLst/>
                <a:latin typeface="-apple-system"/>
              </a:rPr>
              <a:t>配置文件完成系统的初始化工作 （提示：</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sbin</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init</a:t>
            </a:r>
            <a:r>
              <a:rPr lang="zh-CN" altLang="en-US" sz="2000" b="0" i="0" u="none" strike="noStrike" dirty="0">
                <a:solidFill>
                  <a:srgbClr val="4D4D4D"/>
                </a:solidFill>
                <a:effectLst/>
                <a:latin typeface="-apple-system"/>
              </a:rPr>
              <a:t>是一个二进制可执行文件，为系统的初始化程序，而</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etc</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inittab</a:t>
            </a:r>
            <a:r>
              <a:rPr lang="zh-CN" altLang="en-US" sz="2000" b="0" i="0" u="none" strike="noStrike" dirty="0">
                <a:solidFill>
                  <a:srgbClr val="4D4D4D"/>
                </a:solidFill>
                <a:effectLst/>
                <a:latin typeface="-apple-system"/>
              </a:rPr>
              <a:t>是它的配置文件），</a:t>
            </a:r>
            <a:endParaRPr lang="en-US" altLang="zh-CN" sz="2000" b="0" i="0" u="none" strike="noStrike" dirty="0">
              <a:solidFill>
                <a:srgbClr val="4D4D4D"/>
              </a:solidFill>
              <a:effectLst/>
              <a:latin typeface="-apple-system"/>
            </a:endParaRPr>
          </a:p>
          <a:p>
            <a:pPr marL="342900" indent="-342900">
              <a:lnSpc>
                <a:spcPct val="150000"/>
              </a:lnSpc>
              <a:buFont typeface="Arial" panose="020B0604020202020204" pitchFamily="34" charset="0"/>
              <a:buChar char="•"/>
            </a:pPr>
            <a:r>
              <a:rPr lang="zh-CN" altLang="en-US" sz="2000" b="0" i="0" u="none" strike="noStrike" dirty="0">
                <a:solidFill>
                  <a:srgbClr val="4D4D4D"/>
                </a:solidFill>
                <a:effectLst/>
                <a:latin typeface="-apple-system"/>
              </a:rPr>
              <a:t>在初始化的过程中，还会以读写的方式重新挂载根文件系统，在系统启动后， 根文件系统就可用于存储数据了</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存在根文件系统是</a:t>
            </a:r>
            <a:r>
              <a:rPr lang="en" altLang="zh-CN" sz="2000" b="0" i="0" u="none" strike="noStrike" dirty="0">
                <a:solidFill>
                  <a:srgbClr val="4D4D4D"/>
                </a:solidFill>
                <a:effectLst/>
                <a:latin typeface="-apple-system"/>
              </a:rPr>
              <a:t>Linux</a:t>
            </a:r>
            <a:r>
              <a:rPr lang="zh-CN" altLang="en-US" sz="2000" b="0" i="0" u="none" strike="noStrike" dirty="0">
                <a:solidFill>
                  <a:srgbClr val="4D4D4D"/>
                </a:solidFill>
                <a:effectLst/>
                <a:latin typeface="-apple-system"/>
              </a:rPr>
              <a:t>启动时的必要条件。</a:t>
            </a:r>
            <a:endParaRPr lang="zh-CN" altLang="en-US" sz="2400" b="0" i="0" u="none" strike="noStrike" dirty="0">
              <a:solidFill>
                <a:srgbClr val="4D4D4D"/>
              </a:solidFill>
              <a:effectLst/>
              <a:latin typeface="-apple-system"/>
            </a:endParaRPr>
          </a:p>
        </p:txBody>
      </p:sp>
    </p:spTree>
    <p:extLst>
      <p:ext uri="{BB962C8B-B14F-4D97-AF65-F5344CB8AC3E}">
        <p14:creationId xmlns:p14="http://schemas.microsoft.com/office/powerpoint/2010/main" val="886318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根文件系统</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C4DE0949-77D2-5B45-BE33-01451202FD66}"/>
              </a:ext>
            </a:extLst>
          </p:cNvPr>
          <p:cNvSpPr txBox="1"/>
          <p:nvPr/>
        </p:nvSpPr>
        <p:spPr>
          <a:xfrm>
            <a:off x="243919" y="1371600"/>
            <a:ext cx="8656162" cy="1697068"/>
          </a:xfrm>
          <a:prstGeom prst="rect">
            <a:avLst/>
          </a:prstGeom>
          <a:noFill/>
        </p:spPr>
        <p:txBody>
          <a:bodyPr wrap="square">
            <a:spAutoFit/>
          </a:bodyPr>
          <a:lstStyle/>
          <a:p>
            <a:pPr>
              <a:lnSpc>
                <a:spcPct val="150000"/>
              </a:lnSpc>
            </a:pPr>
            <a:r>
              <a:rPr lang="zh-CN" altLang="en-US" sz="2400" b="0" i="0" u="none" strike="noStrike" dirty="0">
                <a:solidFill>
                  <a:srgbClr val="4D4D4D"/>
                </a:solidFill>
                <a:effectLst/>
                <a:latin typeface="-apple-system"/>
              </a:rPr>
              <a:t>常见的根文件系统制作工具有 </a:t>
            </a:r>
            <a:r>
              <a:rPr lang="en" altLang="zh-CN" sz="2400" b="0" i="0" u="none" strike="noStrike" dirty="0" err="1">
                <a:solidFill>
                  <a:srgbClr val="4D4D4D"/>
                </a:solidFill>
                <a:effectLst/>
                <a:latin typeface="-apple-system"/>
              </a:rPr>
              <a:t>buildroot</a:t>
            </a:r>
            <a:r>
              <a:rPr lang="zh-CN" altLang="en" sz="2400" b="0" i="0" u="none" strike="noStrike" dirty="0">
                <a:solidFill>
                  <a:srgbClr val="4D4D4D"/>
                </a:solidFill>
                <a:effectLst/>
                <a:latin typeface="-apple-system"/>
              </a:rPr>
              <a:t>、</a:t>
            </a:r>
            <a:r>
              <a:rPr lang="en" altLang="zh-CN" sz="2400" b="0" i="0" u="none" strike="noStrike" dirty="0">
                <a:solidFill>
                  <a:srgbClr val="4D4D4D"/>
                </a:solidFill>
                <a:effectLst/>
                <a:latin typeface="-apple-system"/>
              </a:rPr>
              <a:t>Ubuntu</a:t>
            </a:r>
            <a:r>
              <a:rPr lang="zh-CN" altLang="en" sz="2400" b="0" i="0" u="none" strike="noStrike" dirty="0">
                <a:solidFill>
                  <a:srgbClr val="4D4D4D"/>
                </a:solidFill>
                <a:effectLst/>
                <a:latin typeface="-apple-system"/>
              </a:rPr>
              <a:t>、</a:t>
            </a:r>
            <a:r>
              <a:rPr lang="en" altLang="zh-CN" sz="2400" b="0" i="0" u="none" strike="noStrike" dirty="0">
                <a:solidFill>
                  <a:srgbClr val="4D4D4D"/>
                </a:solidFill>
                <a:effectLst/>
                <a:latin typeface="-apple-system"/>
              </a:rPr>
              <a:t>Debian</a:t>
            </a:r>
            <a:r>
              <a:rPr lang="zh-CN" altLang="en" sz="2400" b="0" i="0" u="none" strike="noStrike" dirty="0">
                <a:solidFill>
                  <a:srgbClr val="4D4D4D"/>
                </a:solidFill>
                <a:effectLst/>
                <a:latin typeface="-apple-system"/>
              </a:rPr>
              <a:t>、</a:t>
            </a:r>
            <a:r>
              <a:rPr lang="en" altLang="zh-CN" sz="2400" b="0" i="0" u="none" strike="noStrike" dirty="0" err="1">
                <a:solidFill>
                  <a:srgbClr val="4D4D4D"/>
                </a:solidFill>
                <a:effectLst/>
                <a:latin typeface="-apple-system"/>
              </a:rPr>
              <a:t>yocto</a:t>
            </a:r>
            <a:r>
              <a:rPr lang="zh-CN" altLang="en" sz="2400" b="0" i="0" u="none" strike="noStrike" dirty="0">
                <a:solidFill>
                  <a:srgbClr val="4D4D4D"/>
                </a:solidFill>
                <a:effectLst/>
                <a:latin typeface="-apple-system"/>
              </a:rPr>
              <a:t>、</a:t>
            </a:r>
            <a:r>
              <a:rPr lang="en" altLang="zh-CN" sz="2400" b="0" i="0" u="none" strike="noStrike" dirty="0" err="1">
                <a:solidFill>
                  <a:srgbClr val="4D4D4D"/>
                </a:solidFill>
                <a:effectLst/>
                <a:latin typeface="-apple-system"/>
              </a:rPr>
              <a:t>busybox</a:t>
            </a:r>
            <a:endParaRPr lang="en-US" altLang="zh-CN" sz="2400" b="0" i="0" u="none" strike="noStrike" dirty="0">
              <a:solidFill>
                <a:srgbClr val="4D4D4D"/>
              </a:solidFill>
              <a:effectLst/>
              <a:latin typeface="-apple-system"/>
            </a:endParaRPr>
          </a:p>
          <a:p>
            <a:pPr marL="342900" indent="-342900">
              <a:lnSpc>
                <a:spcPct val="150000"/>
              </a:lnSpc>
              <a:buFont typeface="Arial" panose="020B0604020202020204" pitchFamily="34" charset="0"/>
              <a:buChar char="•"/>
            </a:pPr>
            <a:endParaRPr lang="zh-CN" altLang="en-US" sz="2400" b="0" i="0" u="none" strike="noStrike" dirty="0">
              <a:solidFill>
                <a:srgbClr val="4D4D4D"/>
              </a:solidFill>
              <a:effectLst/>
              <a:latin typeface="-apple-system"/>
            </a:endParaRPr>
          </a:p>
        </p:txBody>
      </p:sp>
      <p:pic>
        <p:nvPicPr>
          <p:cNvPr id="6146" name="Picture 2">
            <a:extLst>
              <a:ext uri="{FF2B5EF4-FFF2-40B4-BE49-F238E27FC236}">
                <a16:creationId xmlns:a16="http://schemas.microsoft.com/office/drawing/2014/main" id="{B99E888A-B341-5944-8A69-3A1919548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2" y="2743200"/>
            <a:ext cx="9144000"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542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A2B8A3-B6DF-864D-82D5-7B9AC30BFF39}"/>
              </a:ext>
            </a:extLst>
          </p:cNvPr>
          <p:cNvSpPr>
            <a:spLocks noGrp="1"/>
          </p:cNvSpPr>
          <p:nvPr>
            <p:ph type="title"/>
          </p:nvPr>
        </p:nvSpPr>
        <p:spPr/>
        <p:txBody>
          <a:bodyPr/>
          <a:lstStyle/>
          <a:p>
            <a:r>
              <a:rPr kumimoji="1" lang="en" altLang="zh-CN" dirty="0" err="1"/>
              <a:t>Uboot</a:t>
            </a:r>
            <a:r>
              <a:rPr kumimoji="1" lang="zh-CN" altLang="en-US" dirty="0"/>
              <a:t>介绍</a:t>
            </a:r>
          </a:p>
        </p:txBody>
      </p:sp>
      <p:sp>
        <p:nvSpPr>
          <p:cNvPr id="3" name="内容占位符 2">
            <a:extLst>
              <a:ext uri="{FF2B5EF4-FFF2-40B4-BE49-F238E27FC236}">
                <a16:creationId xmlns:a16="http://schemas.microsoft.com/office/drawing/2014/main" id="{67B52456-1990-284D-B998-9B397DB8C00A}"/>
              </a:ext>
            </a:extLst>
          </p:cNvPr>
          <p:cNvSpPr>
            <a:spLocks noGrp="1"/>
          </p:cNvSpPr>
          <p:nvPr>
            <p:ph idx="1"/>
          </p:nvPr>
        </p:nvSpPr>
        <p:spPr>
          <a:xfrm>
            <a:off x="457200" y="1371601"/>
            <a:ext cx="8229600" cy="5105399"/>
          </a:xfrm>
        </p:spPr>
        <p:txBody>
          <a:bodyPr>
            <a:normAutofit/>
          </a:bodyPr>
          <a:lstStyle/>
          <a:p>
            <a:pPr marL="0" indent="0">
              <a:lnSpc>
                <a:spcPct val="150000"/>
              </a:lnSpc>
              <a:buNone/>
            </a:pPr>
            <a:r>
              <a:rPr kumimoji="1" lang="en" altLang="zh-CN" sz="2000" dirty="0"/>
              <a:t>Linux </a:t>
            </a:r>
            <a:r>
              <a:rPr kumimoji="1" lang="zh-CN" altLang="en-US" sz="2000" dirty="0"/>
              <a:t>系统要启动就必须</a:t>
            </a:r>
            <a:r>
              <a:rPr kumimoji="1" lang="en" altLang="zh-CN" sz="2000" dirty="0"/>
              <a:t>bootloader</a:t>
            </a:r>
            <a:r>
              <a:rPr kumimoji="1" lang="zh-CN" altLang="en-US" sz="2000" dirty="0"/>
              <a:t>，芯片上电后先运行</a:t>
            </a:r>
            <a:r>
              <a:rPr kumimoji="1" lang="en" altLang="zh-CN" sz="2000" dirty="0"/>
              <a:t>bootloader </a:t>
            </a:r>
            <a:r>
              <a:rPr kumimoji="1" lang="zh-CN" altLang="en-US" sz="2000" dirty="0"/>
              <a:t>程序：</a:t>
            </a:r>
            <a:endParaRPr kumimoji="1" lang="en-US" altLang="zh-CN" sz="2000" dirty="0"/>
          </a:p>
          <a:p>
            <a:pPr marL="457200" indent="-457200">
              <a:lnSpc>
                <a:spcPct val="150000"/>
              </a:lnSpc>
              <a:buFont typeface="+mj-lt"/>
              <a:buAutoNum type="arabicPeriod"/>
            </a:pPr>
            <a:r>
              <a:rPr kumimoji="1" lang="zh-CN" altLang="en-US" sz="2000" dirty="0"/>
              <a:t>先初始化 </a:t>
            </a:r>
            <a:r>
              <a:rPr kumimoji="1" lang="en" altLang="zh-CN" sz="2000" dirty="0"/>
              <a:t>DDR </a:t>
            </a:r>
            <a:r>
              <a:rPr kumimoji="1" lang="zh-CN" altLang="en-US" sz="2000" dirty="0"/>
              <a:t>等外设</a:t>
            </a:r>
            <a:endParaRPr kumimoji="1" lang="en-US" altLang="zh-CN" sz="2000" dirty="0"/>
          </a:p>
          <a:p>
            <a:pPr marL="457200" indent="-457200">
              <a:lnSpc>
                <a:spcPct val="150000"/>
              </a:lnSpc>
              <a:buFont typeface="+mj-lt"/>
              <a:buAutoNum type="arabicPeriod"/>
            </a:pPr>
            <a:r>
              <a:rPr kumimoji="1" lang="zh-CN" altLang="en-US" sz="2000" dirty="0"/>
              <a:t>将 </a:t>
            </a:r>
            <a:r>
              <a:rPr kumimoji="1" lang="en" altLang="zh-CN" sz="2000" dirty="0"/>
              <a:t>Linux </a:t>
            </a:r>
            <a:r>
              <a:rPr kumimoji="1" lang="zh-CN" altLang="en-US" sz="2000" dirty="0"/>
              <a:t>内核从 </a:t>
            </a:r>
            <a:r>
              <a:rPr kumimoji="1" lang="en" altLang="zh-CN" sz="2000" dirty="0"/>
              <a:t>flash(NAND</a:t>
            </a:r>
            <a:r>
              <a:rPr kumimoji="1" lang="en-US" altLang="zh-CN" sz="2000" dirty="0"/>
              <a:t>/</a:t>
            </a:r>
            <a:r>
              <a:rPr kumimoji="1" lang="en" altLang="zh-CN" sz="2000" dirty="0"/>
              <a:t>SD</a:t>
            </a:r>
            <a:r>
              <a:rPr kumimoji="1" lang="en-US" altLang="zh-CN" sz="2000" dirty="0"/>
              <a:t>/</a:t>
            </a:r>
            <a:r>
              <a:rPr kumimoji="1" lang="en" altLang="zh-CN" sz="2000" dirty="0"/>
              <a:t>MMC </a:t>
            </a:r>
            <a:r>
              <a:rPr kumimoji="1" lang="zh-CN" altLang="en-US" sz="2000" dirty="0"/>
              <a:t>等</a:t>
            </a:r>
            <a:r>
              <a:rPr kumimoji="1" lang="en-US" altLang="zh-CN" sz="2000" dirty="0"/>
              <a:t>) </a:t>
            </a:r>
            <a:r>
              <a:rPr kumimoji="1" lang="zh-CN" altLang="en-US" sz="2000" dirty="0"/>
              <a:t>拷贝到 </a:t>
            </a:r>
            <a:r>
              <a:rPr kumimoji="1" lang="en" altLang="zh-CN" sz="2000" dirty="0"/>
              <a:t>DDR </a:t>
            </a:r>
            <a:r>
              <a:rPr kumimoji="1" lang="zh-CN" altLang="en-US" sz="2000" dirty="0"/>
              <a:t>中</a:t>
            </a:r>
            <a:endParaRPr kumimoji="1" lang="en-US" altLang="zh-CN" sz="2000" dirty="0"/>
          </a:p>
          <a:p>
            <a:pPr marL="457200" indent="-457200">
              <a:lnSpc>
                <a:spcPct val="150000"/>
              </a:lnSpc>
              <a:buFont typeface="+mj-lt"/>
              <a:buAutoNum type="arabicPeriod"/>
            </a:pPr>
            <a:r>
              <a:rPr kumimoji="1" lang="zh-CN" altLang="en-US" sz="2000" dirty="0"/>
              <a:t>启动 </a:t>
            </a:r>
            <a:r>
              <a:rPr kumimoji="1" lang="en" altLang="zh-CN" sz="2000" dirty="0"/>
              <a:t>Linux </a:t>
            </a:r>
            <a:r>
              <a:rPr kumimoji="1" lang="zh-CN" altLang="en-US" sz="2000" dirty="0"/>
              <a:t>内核（最主要工作）</a:t>
            </a:r>
            <a:endParaRPr kumimoji="1" lang="en-US" altLang="zh-CN" sz="2000" dirty="0"/>
          </a:p>
          <a:p>
            <a:pPr marL="0" indent="0">
              <a:lnSpc>
                <a:spcPct val="150000"/>
              </a:lnSpc>
              <a:buNone/>
            </a:pPr>
            <a:endParaRPr kumimoji="1" lang="en" altLang="zh-CN" sz="2000" dirty="0"/>
          </a:p>
          <a:p>
            <a:pPr marL="0" indent="0">
              <a:lnSpc>
                <a:spcPct val="150000"/>
              </a:lnSpc>
              <a:buNone/>
            </a:pPr>
            <a:r>
              <a:rPr kumimoji="1" lang="en" altLang="zh-CN" sz="2000" dirty="0"/>
              <a:t>bootloader </a:t>
            </a:r>
            <a:r>
              <a:rPr kumimoji="1" lang="zh-CN" altLang="en-US" sz="2000" dirty="0"/>
              <a:t>和 </a:t>
            </a:r>
            <a:r>
              <a:rPr kumimoji="1" lang="en" altLang="zh-CN" sz="2000" dirty="0"/>
              <a:t>Linux </a:t>
            </a:r>
            <a:r>
              <a:rPr kumimoji="1" lang="zh-CN" altLang="en-US" sz="2000" dirty="0"/>
              <a:t>内核的关系： </a:t>
            </a:r>
            <a:r>
              <a:rPr kumimoji="1" lang="en" altLang="zh-CN" sz="2000" dirty="0"/>
              <a:t>PC </a:t>
            </a:r>
            <a:r>
              <a:rPr kumimoji="1" lang="zh-CN" altLang="en-US" sz="2000" dirty="0"/>
              <a:t>上的 </a:t>
            </a:r>
            <a:r>
              <a:rPr kumimoji="1" lang="en" altLang="zh-CN" sz="2000" dirty="0"/>
              <a:t>BIOS </a:t>
            </a:r>
            <a:r>
              <a:rPr kumimoji="1" lang="zh-CN" altLang="en-US" sz="2000" dirty="0"/>
              <a:t>和</a:t>
            </a:r>
            <a:r>
              <a:rPr kumimoji="1" lang="en" altLang="zh-CN" sz="2000" dirty="0"/>
              <a:t>Windows </a:t>
            </a:r>
            <a:r>
              <a:rPr kumimoji="1" lang="zh-CN" altLang="en-US" sz="2000" dirty="0"/>
              <a:t>的关系</a:t>
            </a:r>
            <a:endParaRPr kumimoji="1" lang="en-US" altLang="zh-CN" sz="2000" dirty="0"/>
          </a:p>
          <a:p>
            <a:pPr marL="0" indent="0">
              <a:lnSpc>
                <a:spcPct val="150000"/>
              </a:lnSpc>
              <a:buNone/>
            </a:pPr>
            <a:endParaRPr kumimoji="1" lang="en-US" altLang="zh-CN" sz="2000" dirty="0"/>
          </a:p>
          <a:p>
            <a:pPr marL="0" indent="0">
              <a:lnSpc>
                <a:spcPct val="150000"/>
              </a:lnSpc>
              <a:buNone/>
            </a:pPr>
            <a:r>
              <a:rPr kumimoji="1" lang="zh-CN" altLang="en-US" sz="2000" dirty="0"/>
              <a:t>有很多现成的 </a:t>
            </a:r>
            <a:r>
              <a:rPr kumimoji="1" lang="en" altLang="zh-CN" sz="2000" dirty="0"/>
              <a:t>bootloader </a:t>
            </a:r>
            <a:r>
              <a:rPr kumimoji="1" lang="zh-CN" altLang="en-US" sz="2000" dirty="0"/>
              <a:t>软件可以使用：</a:t>
            </a:r>
            <a:endParaRPr kumimoji="1" lang="en-US" altLang="zh-CN" sz="2000" dirty="0"/>
          </a:p>
          <a:p>
            <a:pPr>
              <a:lnSpc>
                <a:spcPct val="150000"/>
              </a:lnSpc>
            </a:pPr>
            <a:r>
              <a:rPr kumimoji="1" lang="en" altLang="zh-CN" sz="2000" dirty="0"/>
              <a:t>U-Boot</a:t>
            </a:r>
            <a:r>
              <a:rPr kumimoji="1" lang="zh-CN" altLang="en-US" sz="2000" dirty="0"/>
              <a:t>（最为广泛）</a:t>
            </a:r>
            <a:r>
              <a:rPr kumimoji="1" lang="zh-CN" altLang="en" sz="2000" dirty="0"/>
              <a:t>、 </a:t>
            </a:r>
            <a:r>
              <a:rPr kumimoji="1" lang="en" altLang="zh-CN" sz="2000" dirty="0" err="1"/>
              <a:t>vivi</a:t>
            </a:r>
            <a:r>
              <a:rPr kumimoji="1" lang="zh-CN" altLang="en" sz="2000" dirty="0"/>
              <a:t>、 </a:t>
            </a:r>
            <a:r>
              <a:rPr kumimoji="1" lang="en" altLang="zh-CN" sz="2000" dirty="0" err="1"/>
              <a:t>RedBoot</a:t>
            </a:r>
            <a:r>
              <a:rPr kumimoji="1" lang="en" altLang="zh-CN" sz="2000" dirty="0"/>
              <a:t> </a:t>
            </a:r>
            <a:r>
              <a:rPr kumimoji="1" lang="zh-CN" altLang="en-US" sz="2000" dirty="0"/>
              <a:t>等等</a:t>
            </a:r>
          </a:p>
        </p:txBody>
      </p:sp>
      <p:sp>
        <p:nvSpPr>
          <p:cNvPr id="4" name="页脚占位符 3">
            <a:extLst>
              <a:ext uri="{FF2B5EF4-FFF2-40B4-BE49-F238E27FC236}">
                <a16:creationId xmlns:a16="http://schemas.microsoft.com/office/drawing/2014/main" id="{8E6075DF-8AB7-7840-8B53-54E61AC215E1}"/>
              </a:ext>
            </a:extLst>
          </p:cNvPr>
          <p:cNvSpPr>
            <a:spLocks noGrp="1"/>
          </p:cNvSpPr>
          <p:nvPr>
            <p:ph type="ftr" sz="quarter" idx="11"/>
          </p:nvPr>
        </p:nvSpPr>
        <p:spPr/>
        <p:txBody>
          <a:bodyPr/>
          <a:lstStyle/>
          <a:p>
            <a:r>
              <a:rPr lang="en-JM"/>
              <a:t>PUT THE NAME OF YOUR COMPANY HERE</a:t>
            </a:r>
            <a:endParaRPr lang="en-JM" dirty="0"/>
          </a:p>
        </p:txBody>
      </p:sp>
    </p:spTree>
    <p:extLst>
      <p:ext uri="{BB962C8B-B14F-4D97-AF65-F5344CB8AC3E}">
        <p14:creationId xmlns:p14="http://schemas.microsoft.com/office/powerpoint/2010/main" val="1790184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A2B8A3-B6DF-864D-82D5-7B9AC30BFF39}"/>
              </a:ext>
            </a:extLst>
          </p:cNvPr>
          <p:cNvSpPr>
            <a:spLocks noGrp="1"/>
          </p:cNvSpPr>
          <p:nvPr>
            <p:ph type="title"/>
          </p:nvPr>
        </p:nvSpPr>
        <p:spPr/>
        <p:txBody>
          <a:bodyPr/>
          <a:lstStyle/>
          <a:p>
            <a:r>
              <a:rPr kumimoji="1" lang="en" altLang="zh-CN" dirty="0" err="1"/>
              <a:t>Uboot</a:t>
            </a:r>
            <a:r>
              <a:rPr kumimoji="1" lang="zh-CN" altLang="en-US" dirty="0"/>
              <a:t>介绍</a:t>
            </a:r>
          </a:p>
        </p:txBody>
      </p:sp>
      <p:sp>
        <p:nvSpPr>
          <p:cNvPr id="3" name="内容占位符 2">
            <a:extLst>
              <a:ext uri="{FF2B5EF4-FFF2-40B4-BE49-F238E27FC236}">
                <a16:creationId xmlns:a16="http://schemas.microsoft.com/office/drawing/2014/main" id="{67B52456-1990-284D-B998-9B397DB8C00A}"/>
              </a:ext>
            </a:extLst>
          </p:cNvPr>
          <p:cNvSpPr>
            <a:spLocks noGrp="1"/>
          </p:cNvSpPr>
          <p:nvPr>
            <p:ph idx="1"/>
          </p:nvPr>
        </p:nvSpPr>
        <p:spPr/>
        <p:txBody>
          <a:bodyPr>
            <a:normAutofit/>
          </a:bodyPr>
          <a:lstStyle/>
          <a:p>
            <a:pPr marL="0" indent="0">
              <a:lnSpc>
                <a:spcPct val="150000"/>
              </a:lnSpc>
              <a:buNone/>
            </a:pPr>
            <a:r>
              <a:rPr kumimoji="1" lang="en" altLang="zh-CN" sz="2000" dirty="0" err="1"/>
              <a:t>uboot</a:t>
            </a:r>
            <a:r>
              <a:rPr kumimoji="1" lang="en" altLang="zh-CN" sz="2000" dirty="0"/>
              <a:t> </a:t>
            </a:r>
            <a:r>
              <a:rPr kumimoji="1" lang="zh-CN" altLang="en-US" sz="2000" dirty="0"/>
              <a:t>的全称是 </a:t>
            </a:r>
            <a:r>
              <a:rPr kumimoji="1" lang="en" altLang="zh-CN" sz="2000" dirty="0"/>
              <a:t>Universal Boot Loader</a:t>
            </a:r>
            <a:endParaRPr kumimoji="1" lang="en-US" altLang="zh-CN" sz="2000" dirty="0"/>
          </a:p>
          <a:p>
            <a:pPr>
              <a:lnSpc>
                <a:spcPct val="150000"/>
              </a:lnSpc>
            </a:pPr>
            <a:r>
              <a:rPr kumimoji="1" lang="zh-CN" altLang="en-US" sz="2000" dirty="0"/>
              <a:t>遵循 </a:t>
            </a:r>
            <a:r>
              <a:rPr kumimoji="1" lang="en" altLang="zh-CN" sz="2000" dirty="0"/>
              <a:t>GPL </a:t>
            </a:r>
            <a:r>
              <a:rPr kumimoji="1" lang="zh-CN" altLang="en-US" sz="2000" dirty="0"/>
              <a:t>协议的开源软件</a:t>
            </a:r>
            <a:endParaRPr kumimoji="1" lang="en-US" altLang="zh-CN" sz="2000" dirty="0"/>
          </a:p>
          <a:p>
            <a:pPr>
              <a:lnSpc>
                <a:spcPct val="150000"/>
              </a:lnSpc>
            </a:pPr>
            <a:r>
              <a:rPr kumimoji="1" lang="zh-CN" altLang="en-US" sz="2000" dirty="0"/>
              <a:t>是一个裸机代码，可以看作是一个裸机综合例程</a:t>
            </a:r>
            <a:endParaRPr kumimoji="1" lang="en-US" altLang="zh-CN" sz="2000" dirty="0"/>
          </a:p>
          <a:p>
            <a:pPr>
              <a:lnSpc>
                <a:spcPct val="150000"/>
              </a:lnSpc>
            </a:pPr>
            <a:r>
              <a:rPr kumimoji="1" lang="zh-CN" altLang="en-US" sz="2000" dirty="0"/>
              <a:t>已经支持液晶屏、网络、 </a:t>
            </a:r>
            <a:r>
              <a:rPr kumimoji="1" lang="en" altLang="zh-CN" sz="2000" dirty="0"/>
              <a:t>USB </a:t>
            </a:r>
            <a:r>
              <a:rPr kumimoji="1" lang="zh-CN" altLang="en-US" sz="2000" dirty="0"/>
              <a:t>等高级功能</a:t>
            </a:r>
            <a:endParaRPr kumimoji="1" lang="en-US" altLang="zh-CN" sz="2000" dirty="0"/>
          </a:p>
          <a:p>
            <a:pPr marL="0" indent="0">
              <a:lnSpc>
                <a:spcPct val="150000"/>
              </a:lnSpc>
              <a:buNone/>
            </a:pPr>
            <a:r>
              <a:rPr kumimoji="1" lang="zh-CN" altLang="en-US" sz="2000" dirty="0"/>
              <a:t>官网：</a:t>
            </a:r>
            <a:endParaRPr kumimoji="1" lang="en-US" altLang="zh-CN" sz="2000" dirty="0"/>
          </a:p>
          <a:p>
            <a:pPr marL="0" indent="0">
              <a:lnSpc>
                <a:spcPct val="150000"/>
              </a:lnSpc>
              <a:buNone/>
            </a:pPr>
            <a:r>
              <a:rPr kumimoji="1" lang="en" altLang="zh-CN" sz="2000" dirty="0" err="1"/>
              <a:t>docs.u-boot.org</a:t>
            </a:r>
            <a:endParaRPr kumimoji="1" lang="en" altLang="zh-CN" sz="2000" dirty="0"/>
          </a:p>
        </p:txBody>
      </p:sp>
      <p:sp>
        <p:nvSpPr>
          <p:cNvPr id="4" name="页脚占位符 3">
            <a:extLst>
              <a:ext uri="{FF2B5EF4-FFF2-40B4-BE49-F238E27FC236}">
                <a16:creationId xmlns:a16="http://schemas.microsoft.com/office/drawing/2014/main" id="{8E6075DF-8AB7-7840-8B53-54E61AC215E1}"/>
              </a:ext>
            </a:extLst>
          </p:cNvPr>
          <p:cNvSpPr>
            <a:spLocks noGrp="1"/>
          </p:cNvSpPr>
          <p:nvPr>
            <p:ph type="ftr" sz="quarter" idx="11"/>
          </p:nvPr>
        </p:nvSpPr>
        <p:spPr/>
        <p:txBody>
          <a:bodyPr/>
          <a:lstStyle/>
          <a:p>
            <a:r>
              <a:rPr lang="en-JM"/>
              <a:t>PUT THE NAME OF YOUR COMPANY HERE</a:t>
            </a:r>
            <a:endParaRPr lang="en-JM" dirty="0"/>
          </a:p>
        </p:txBody>
      </p:sp>
      <p:pic>
        <p:nvPicPr>
          <p:cNvPr id="5" name="图片 4">
            <a:extLst>
              <a:ext uri="{FF2B5EF4-FFF2-40B4-BE49-F238E27FC236}">
                <a16:creationId xmlns:a16="http://schemas.microsoft.com/office/drawing/2014/main" id="{4817D104-8E3A-3D47-A1F3-7D51501792C2}"/>
              </a:ext>
            </a:extLst>
          </p:cNvPr>
          <p:cNvPicPr>
            <a:picLocks noChangeAspect="1"/>
          </p:cNvPicPr>
          <p:nvPr/>
        </p:nvPicPr>
        <p:blipFill>
          <a:blip r:embed="rId3"/>
          <a:stretch>
            <a:fillRect/>
          </a:stretch>
        </p:blipFill>
        <p:spPr>
          <a:xfrm>
            <a:off x="2699790" y="3461657"/>
            <a:ext cx="6444210" cy="3396343"/>
          </a:xfrm>
          <a:prstGeom prst="rect">
            <a:avLst/>
          </a:prstGeom>
        </p:spPr>
      </p:pic>
    </p:spTree>
    <p:extLst>
      <p:ext uri="{BB962C8B-B14F-4D97-AF65-F5344CB8AC3E}">
        <p14:creationId xmlns:p14="http://schemas.microsoft.com/office/powerpoint/2010/main" val="923856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A2B8A3-B6DF-864D-82D5-7B9AC30BFF39}"/>
              </a:ext>
            </a:extLst>
          </p:cNvPr>
          <p:cNvSpPr>
            <a:spLocks noGrp="1"/>
          </p:cNvSpPr>
          <p:nvPr>
            <p:ph type="title"/>
          </p:nvPr>
        </p:nvSpPr>
        <p:spPr/>
        <p:txBody>
          <a:bodyPr/>
          <a:lstStyle/>
          <a:p>
            <a:r>
              <a:rPr kumimoji="1" lang="en" altLang="zh-CN" dirty="0" err="1"/>
              <a:t>Uboot</a:t>
            </a:r>
            <a:r>
              <a:rPr kumimoji="1" lang="zh-CN" altLang="en-US" dirty="0"/>
              <a:t>介绍</a:t>
            </a:r>
          </a:p>
        </p:txBody>
      </p:sp>
      <p:sp>
        <p:nvSpPr>
          <p:cNvPr id="3" name="内容占位符 2">
            <a:extLst>
              <a:ext uri="{FF2B5EF4-FFF2-40B4-BE49-F238E27FC236}">
                <a16:creationId xmlns:a16="http://schemas.microsoft.com/office/drawing/2014/main" id="{67B52456-1990-284D-B998-9B397DB8C00A}"/>
              </a:ext>
            </a:extLst>
          </p:cNvPr>
          <p:cNvSpPr>
            <a:spLocks noGrp="1"/>
          </p:cNvSpPr>
          <p:nvPr>
            <p:ph idx="1"/>
          </p:nvPr>
        </p:nvSpPr>
        <p:spPr/>
        <p:txBody>
          <a:bodyPr>
            <a:normAutofit/>
          </a:bodyPr>
          <a:lstStyle/>
          <a:p>
            <a:pPr marL="0" indent="0">
              <a:lnSpc>
                <a:spcPct val="150000"/>
              </a:lnSpc>
              <a:buNone/>
            </a:pPr>
            <a:r>
              <a:rPr kumimoji="1" lang="zh-CN" altLang="en-US" sz="2000" dirty="0"/>
              <a:t>一般不会直接用 </a:t>
            </a:r>
            <a:r>
              <a:rPr kumimoji="1" lang="en" altLang="zh-CN" sz="2000" dirty="0" err="1"/>
              <a:t>uboot</a:t>
            </a:r>
            <a:r>
              <a:rPr kumimoji="1" lang="en" altLang="zh-CN" sz="2000" dirty="0"/>
              <a:t> </a:t>
            </a:r>
            <a:r>
              <a:rPr kumimoji="1" lang="zh-CN" altLang="en-US" sz="2000" dirty="0"/>
              <a:t>官方的 </a:t>
            </a:r>
            <a:r>
              <a:rPr kumimoji="1" lang="en" altLang="zh-CN" sz="2000" dirty="0"/>
              <a:t>U-Boot </a:t>
            </a:r>
            <a:r>
              <a:rPr kumimoji="1" lang="zh-CN" altLang="en-US" sz="2000" dirty="0"/>
              <a:t>源码，是给半导体厂商准备的</a:t>
            </a:r>
            <a:endParaRPr kumimoji="1" lang="en-US" altLang="zh-CN" sz="2000" dirty="0"/>
          </a:p>
          <a:p>
            <a:pPr marL="0" indent="0">
              <a:lnSpc>
                <a:spcPct val="150000"/>
              </a:lnSpc>
              <a:buNone/>
            </a:pPr>
            <a:r>
              <a:rPr kumimoji="1" lang="zh-CN" altLang="en-US" sz="2000" dirty="0"/>
              <a:t>半导体厂商会下载 </a:t>
            </a:r>
            <a:r>
              <a:rPr kumimoji="1" lang="en" altLang="zh-CN" sz="2000" dirty="0" err="1"/>
              <a:t>uboot</a:t>
            </a:r>
            <a:r>
              <a:rPr kumimoji="1" lang="en" altLang="zh-CN" sz="2000" dirty="0"/>
              <a:t> </a:t>
            </a:r>
            <a:r>
              <a:rPr kumimoji="1" lang="zh-CN" altLang="en-US" sz="2000" dirty="0"/>
              <a:t>官方的 </a:t>
            </a:r>
            <a:r>
              <a:rPr kumimoji="1" lang="en" altLang="zh-CN" sz="2000" dirty="0" err="1"/>
              <a:t>uboot</a:t>
            </a:r>
            <a:r>
              <a:rPr kumimoji="1" lang="en" altLang="zh-CN" sz="2000" dirty="0"/>
              <a:t> </a:t>
            </a:r>
            <a:r>
              <a:rPr kumimoji="1" lang="zh-CN" altLang="en-US" sz="2000" dirty="0"/>
              <a:t>源码，然后将自家相应的芯片移植进去。也就是说半导体厂商会自己维护一个版本的 </a:t>
            </a:r>
            <a:r>
              <a:rPr kumimoji="1" lang="en" altLang="zh-CN" sz="2000" dirty="0" err="1"/>
              <a:t>uboot</a:t>
            </a:r>
            <a:r>
              <a:rPr kumimoji="1" lang="zh-CN" altLang="en" sz="2000" dirty="0"/>
              <a:t>，</a:t>
            </a:r>
            <a:r>
              <a:rPr kumimoji="1" lang="zh-CN" altLang="en-US" sz="2000" dirty="0"/>
              <a:t>这个版本的 </a:t>
            </a:r>
            <a:r>
              <a:rPr kumimoji="1" lang="en" altLang="zh-CN" sz="2000" dirty="0" err="1"/>
              <a:t>uboot</a:t>
            </a:r>
            <a:r>
              <a:rPr kumimoji="1" lang="en" altLang="zh-CN" sz="2000" dirty="0"/>
              <a:t> </a:t>
            </a:r>
            <a:r>
              <a:rPr kumimoji="1" lang="zh-CN" altLang="en-US" sz="2000" dirty="0"/>
              <a:t>相当于是他们定制的</a:t>
            </a:r>
            <a:endParaRPr kumimoji="1" lang="en-US" altLang="zh-CN" sz="2000" dirty="0"/>
          </a:p>
          <a:p>
            <a:pPr marL="0" indent="0">
              <a:lnSpc>
                <a:spcPct val="150000"/>
              </a:lnSpc>
              <a:buNone/>
            </a:pPr>
            <a:r>
              <a:rPr kumimoji="1" lang="zh-CN" altLang="en-US" sz="2000" dirty="0"/>
              <a:t>如果是我们自己做的板子就需要修改 </a:t>
            </a:r>
            <a:r>
              <a:rPr kumimoji="1" lang="en" altLang="zh-CN" sz="2000" dirty="0"/>
              <a:t>NXP </a:t>
            </a:r>
            <a:r>
              <a:rPr kumimoji="1" lang="zh-CN" altLang="en-US" sz="2000" dirty="0"/>
              <a:t>官方的 </a:t>
            </a:r>
            <a:r>
              <a:rPr kumimoji="1" lang="en" altLang="zh-CN" sz="2000" dirty="0" err="1"/>
              <a:t>uboot</a:t>
            </a:r>
            <a:r>
              <a:rPr kumimoji="1" lang="zh-CN" altLang="en" sz="2000" dirty="0"/>
              <a:t>，</a:t>
            </a:r>
            <a:r>
              <a:rPr kumimoji="1" lang="zh-CN" altLang="en-US" sz="2000" dirty="0"/>
              <a:t>使其支持我们自己做的板子，这三种 </a:t>
            </a:r>
            <a:r>
              <a:rPr kumimoji="1" lang="en" altLang="zh-CN" sz="2000" dirty="0" err="1"/>
              <a:t>uboot</a:t>
            </a:r>
            <a:r>
              <a:rPr kumimoji="1" lang="zh-CN" altLang="en-US" sz="2000" dirty="0"/>
              <a:t>的区别如表所示</a:t>
            </a:r>
          </a:p>
        </p:txBody>
      </p:sp>
      <p:sp>
        <p:nvSpPr>
          <p:cNvPr id="4" name="页脚占位符 3">
            <a:extLst>
              <a:ext uri="{FF2B5EF4-FFF2-40B4-BE49-F238E27FC236}">
                <a16:creationId xmlns:a16="http://schemas.microsoft.com/office/drawing/2014/main" id="{8E6075DF-8AB7-7840-8B53-54E61AC215E1}"/>
              </a:ext>
            </a:extLst>
          </p:cNvPr>
          <p:cNvSpPr>
            <a:spLocks noGrp="1"/>
          </p:cNvSpPr>
          <p:nvPr>
            <p:ph type="ftr" sz="quarter" idx="11"/>
          </p:nvPr>
        </p:nvSpPr>
        <p:spPr/>
        <p:txBody>
          <a:bodyPr/>
          <a:lstStyle/>
          <a:p>
            <a:r>
              <a:rPr lang="en-JM"/>
              <a:t>PUT THE NAME OF YOUR COMPANY HERE</a:t>
            </a:r>
            <a:endParaRPr lang="en-JM" dirty="0"/>
          </a:p>
        </p:txBody>
      </p:sp>
      <p:pic>
        <p:nvPicPr>
          <p:cNvPr id="1026" name="Picture 2">
            <a:extLst>
              <a:ext uri="{FF2B5EF4-FFF2-40B4-BE49-F238E27FC236}">
                <a16:creationId xmlns:a16="http://schemas.microsoft.com/office/drawing/2014/main" id="{734F5D83-53C0-F748-9B92-9025E7A808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73575"/>
            <a:ext cx="9144000" cy="238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624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烧录与启动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p:txBody>
          <a:bodyPr>
            <a:normAutofit/>
          </a:bodyPr>
          <a:lstStyle/>
          <a:p>
            <a:pPr marL="0" indent="0">
              <a:lnSpc>
                <a:spcPct val="150000"/>
              </a:lnSpc>
              <a:buNone/>
            </a:pPr>
            <a:r>
              <a:rPr kumimoji="1" lang="en-US" altLang="zh-CN" sz="2000" dirty="0"/>
              <a:t>1. </a:t>
            </a:r>
            <a:r>
              <a:rPr kumimoji="1" lang="zh-CN" altLang="en-US" sz="2000" dirty="0"/>
              <a:t>获取</a:t>
            </a:r>
            <a:r>
              <a:rPr kumimoji="1" lang="en" altLang="zh-CN" sz="2000" dirty="0" err="1"/>
              <a:t>uboot</a:t>
            </a:r>
            <a:r>
              <a:rPr kumimoji="1" lang="en" altLang="zh-CN" sz="2000" dirty="0"/>
              <a:t> </a:t>
            </a:r>
          </a:p>
          <a:p>
            <a:pPr>
              <a:lnSpc>
                <a:spcPct val="150000"/>
              </a:lnSpc>
            </a:pPr>
            <a:r>
              <a:rPr kumimoji="1" lang="zh-CN" altLang="en-US" sz="2000" dirty="0"/>
              <a:t>第三方提供的 </a:t>
            </a:r>
            <a:r>
              <a:rPr kumimoji="1" lang="en" altLang="zh-CN" sz="2000" dirty="0" err="1"/>
              <a:t>uboot</a:t>
            </a:r>
            <a:r>
              <a:rPr kumimoji="1" lang="en" altLang="zh-CN" sz="2000" dirty="0"/>
              <a:t> </a:t>
            </a:r>
            <a:r>
              <a:rPr kumimoji="1" lang="zh-CN" altLang="en-US" sz="2000" dirty="0"/>
              <a:t>下载链接： </a:t>
            </a:r>
            <a:r>
              <a:rPr kumimoji="1" lang="en" altLang="zh-CN" sz="2000" dirty="0"/>
              <a:t>https://</a:t>
            </a:r>
            <a:r>
              <a:rPr kumimoji="1" lang="en" altLang="zh-CN" sz="2000" dirty="0" err="1"/>
              <a:t>gitee.com</a:t>
            </a:r>
            <a:r>
              <a:rPr kumimoji="1" lang="en" altLang="zh-CN" sz="2000" dirty="0"/>
              <a:t>/</a:t>
            </a:r>
            <a:r>
              <a:rPr kumimoji="1" lang="en" altLang="zh-CN" sz="2000" dirty="0" err="1"/>
              <a:t>Embedfire</a:t>
            </a:r>
            <a:r>
              <a:rPr kumimoji="1" lang="en" altLang="zh-CN" sz="2000" dirty="0"/>
              <a:t>/</a:t>
            </a:r>
            <a:r>
              <a:rPr kumimoji="1" lang="en" altLang="zh-CN" sz="2000" dirty="0" err="1"/>
              <a:t>ebf_linux_uboot</a:t>
            </a:r>
            <a:endParaRPr kumimoji="1" lang="zh-CN" altLang="en-US" sz="2000" dirty="0"/>
          </a:p>
        </p:txBody>
      </p:sp>
      <p:sp>
        <p:nvSpPr>
          <p:cNvPr id="4" name="页脚占位符 3">
            <a:extLst>
              <a:ext uri="{FF2B5EF4-FFF2-40B4-BE49-F238E27FC236}">
                <a16:creationId xmlns:a16="http://schemas.microsoft.com/office/drawing/2014/main" id="{5FDEA482-4F76-694D-9763-AC222C30487F}"/>
              </a:ext>
            </a:extLst>
          </p:cNvPr>
          <p:cNvSpPr>
            <a:spLocks noGrp="1"/>
          </p:cNvSpPr>
          <p:nvPr>
            <p:ph type="ftr" sz="quarter" idx="11"/>
          </p:nvPr>
        </p:nvSpPr>
        <p:spPr/>
        <p:txBody>
          <a:bodyPr/>
          <a:lstStyle/>
          <a:p>
            <a:r>
              <a:rPr lang="en-JM"/>
              <a:t>PUT THE NAME OF YOUR COMPANY HERE</a:t>
            </a:r>
            <a:endParaRPr lang="en-JM" dirty="0"/>
          </a:p>
        </p:txBody>
      </p:sp>
      <p:pic>
        <p:nvPicPr>
          <p:cNvPr id="5" name="图片 4">
            <a:extLst>
              <a:ext uri="{FF2B5EF4-FFF2-40B4-BE49-F238E27FC236}">
                <a16:creationId xmlns:a16="http://schemas.microsoft.com/office/drawing/2014/main" id="{3376B5DD-6903-3D40-9305-8F9F704A030A}"/>
              </a:ext>
            </a:extLst>
          </p:cNvPr>
          <p:cNvPicPr>
            <a:picLocks noChangeAspect="1"/>
          </p:cNvPicPr>
          <p:nvPr/>
        </p:nvPicPr>
        <p:blipFill>
          <a:blip r:embed="rId2"/>
          <a:stretch>
            <a:fillRect/>
          </a:stretch>
        </p:blipFill>
        <p:spPr>
          <a:xfrm>
            <a:off x="812800" y="3601367"/>
            <a:ext cx="7518400" cy="1016000"/>
          </a:xfrm>
          <a:prstGeom prst="rect">
            <a:avLst/>
          </a:prstGeom>
        </p:spPr>
      </p:pic>
    </p:spTree>
    <p:extLst>
      <p:ext uri="{BB962C8B-B14F-4D97-AF65-F5344CB8AC3E}">
        <p14:creationId xmlns:p14="http://schemas.microsoft.com/office/powerpoint/2010/main" val="3414169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烧录与启动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p:txBody>
          <a:bodyPr>
            <a:normAutofit/>
          </a:bodyPr>
          <a:lstStyle/>
          <a:p>
            <a:pPr marL="0" indent="0">
              <a:lnSpc>
                <a:spcPct val="150000"/>
              </a:lnSpc>
              <a:buNone/>
            </a:pPr>
            <a:r>
              <a:rPr kumimoji="1" lang="en-US" altLang="zh-CN" sz="2000" dirty="0"/>
              <a:t>2. </a:t>
            </a:r>
            <a:r>
              <a:rPr kumimoji="1" lang="en-US" altLang="zh-CN" sz="2000" dirty="0" err="1"/>
              <a:t>uboot</a:t>
            </a:r>
            <a:r>
              <a:rPr kumimoji="1" lang="zh-CN" altLang="en-US" sz="2000" dirty="0"/>
              <a:t>目录结构</a:t>
            </a:r>
            <a:endParaRPr kumimoji="1" lang="en" altLang="zh-CN" sz="2000" dirty="0"/>
          </a:p>
        </p:txBody>
      </p:sp>
      <p:sp>
        <p:nvSpPr>
          <p:cNvPr id="4" name="页脚占位符 3">
            <a:extLst>
              <a:ext uri="{FF2B5EF4-FFF2-40B4-BE49-F238E27FC236}">
                <a16:creationId xmlns:a16="http://schemas.microsoft.com/office/drawing/2014/main" id="{5FDEA482-4F76-694D-9763-AC222C30487F}"/>
              </a:ext>
            </a:extLst>
          </p:cNvPr>
          <p:cNvSpPr>
            <a:spLocks noGrp="1"/>
          </p:cNvSpPr>
          <p:nvPr>
            <p:ph type="ftr" sz="quarter" idx="11"/>
          </p:nvPr>
        </p:nvSpPr>
        <p:spPr/>
        <p:txBody>
          <a:bodyPr/>
          <a:lstStyle/>
          <a:p>
            <a:r>
              <a:rPr lang="en-JM"/>
              <a:t>PUT THE NAME OF YOUR COMPANY HERE</a:t>
            </a:r>
            <a:endParaRPr lang="en-JM" dirty="0"/>
          </a:p>
        </p:txBody>
      </p:sp>
      <p:pic>
        <p:nvPicPr>
          <p:cNvPr id="3074" name="Picture 2">
            <a:extLst>
              <a:ext uri="{FF2B5EF4-FFF2-40B4-BE49-F238E27FC236}">
                <a16:creationId xmlns:a16="http://schemas.microsoft.com/office/drawing/2014/main" id="{5C5DD56B-E236-5D4F-B5EC-E5BA99C28E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981201"/>
            <a:ext cx="6579578" cy="4855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560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烧录与启动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1"/>
            <a:ext cx="8229600" cy="5394324"/>
          </a:xfrm>
        </p:spPr>
        <p:txBody>
          <a:bodyPr>
            <a:normAutofit lnSpcReduction="10000"/>
          </a:bodyPr>
          <a:lstStyle/>
          <a:p>
            <a:pPr marL="0" indent="0">
              <a:lnSpc>
                <a:spcPct val="150000"/>
              </a:lnSpc>
              <a:buNone/>
            </a:pPr>
            <a:r>
              <a:rPr kumimoji="1" lang="zh-CN" altLang="en-US" sz="2000" dirty="0"/>
              <a:t>移植官方</a:t>
            </a:r>
            <a:r>
              <a:rPr kumimoji="1" lang="en-US" altLang="zh-CN" sz="2000" dirty="0" err="1"/>
              <a:t>uboot</a:t>
            </a:r>
            <a:r>
              <a:rPr kumimoji="1" lang="zh-CN" altLang="en-US" sz="2000" dirty="0"/>
              <a:t>需要修改的文件夹有：</a:t>
            </a:r>
            <a:endParaRPr kumimoji="1" lang="en-US" altLang="zh-CN" sz="2000" dirty="0"/>
          </a:p>
          <a:p>
            <a:pPr>
              <a:lnSpc>
                <a:spcPct val="150000"/>
              </a:lnSpc>
            </a:pPr>
            <a:r>
              <a:rPr kumimoji="1" lang="en" altLang="zh-CN" sz="2000" b="1" dirty="0">
                <a:solidFill>
                  <a:schemeClr val="accent1"/>
                </a:solidFill>
              </a:rPr>
              <a:t>board</a:t>
            </a:r>
            <a:r>
              <a:rPr kumimoji="1" lang="en" altLang="zh-CN" sz="2000" dirty="0"/>
              <a:t> </a:t>
            </a:r>
            <a:r>
              <a:rPr kumimoji="1" lang="zh-CN" altLang="en-US" sz="2000" dirty="0"/>
              <a:t>：不同开发板的代码，移植</a:t>
            </a:r>
            <a:r>
              <a:rPr kumimoji="1" lang="en" altLang="zh-CN" sz="2000" dirty="0" err="1"/>
              <a:t>uboot</a:t>
            </a:r>
            <a:r>
              <a:rPr kumimoji="1" lang="zh-CN" altLang="en-US" sz="2000" dirty="0"/>
              <a:t>的时候新建开发板</a:t>
            </a:r>
            <a:r>
              <a:rPr kumimoji="1" lang="en" altLang="zh-CN" sz="2000" dirty="0"/>
              <a:t>BSP</a:t>
            </a:r>
            <a:r>
              <a:rPr kumimoji="1" lang="zh-CN" altLang="en-US" sz="2000" dirty="0"/>
              <a:t>（</a:t>
            </a:r>
            <a:r>
              <a:rPr kumimoji="1" lang="en" altLang="zh-CN" sz="2000" dirty="0"/>
              <a:t> Board Support Package </a:t>
            </a:r>
            <a:r>
              <a:rPr kumimoji="1" lang="zh-CN" altLang="en-US" sz="2000" dirty="0"/>
              <a:t>）是在这里对应的芯片厂商下面新建</a:t>
            </a:r>
            <a:endParaRPr kumimoji="1" lang="en-US" altLang="zh-CN" sz="2000" dirty="0"/>
          </a:p>
          <a:p>
            <a:pPr>
              <a:lnSpc>
                <a:spcPct val="150000"/>
              </a:lnSpc>
            </a:pPr>
            <a:endParaRPr kumimoji="1" lang="en-US" altLang="zh-CN" sz="2000" dirty="0"/>
          </a:p>
          <a:p>
            <a:pPr>
              <a:lnSpc>
                <a:spcPct val="150000"/>
              </a:lnSpc>
            </a:pPr>
            <a:endParaRPr kumimoji="1" lang="en-US" altLang="zh-CN" sz="2000" dirty="0"/>
          </a:p>
          <a:p>
            <a:pPr>
              <a:lnSpc>
                <a:spcPct val="150000"/>
              </a:lnSpc>
            </a:pPr>
            <a:endParaRPr kumimoji="1" lang="en-US" altLang="zh-CN" sz="2000" dirty="0"/>
          </a:p>
          <a:p>
            <a:pPr>
              <a:lnSpc>
                <a:spcPct val="150000"/>
              </a:lnSpc>
            </a:pPr>
            <a:endParaRPr kumimoji="1" lang="en-US" altLang="zh-CN" sz="2000" dirty="0"/>
          </a:p>
          <a:p>
            <a:pPr>
              <a:lnSpc>
                <a:spcPct val="150000"/>
              </a:lnSpc>
            </a:pPr>
            <a:endParaRPr kumimoji="1" lang="en-US" altLang="zh-CN" sz="2000" dirty="0"/>
          </a:p>
          <a:p>
            <a:pPr>
              <a:lnSpc>
                <a:spcPct val="150000"/>
              </a:lnSpc>
            </a:pPr>
            <a:endParaRPr kumimoji="1" lang="en-US" altLang="zh-CN" sz="2000" dirty="0"/>
          </a:p>
          <a:p>
            <a:pPr>
              <a:lnSpc>
                <a:spcPct val="150000"/>
              </a:lnSpc>
            </a:pPr>
            <a:endParaRPr kumimoji="1" lang="en-US" altLang="zh-CN" sz="2000" dirty="0"/>
          </a:p>
          <a:p>
            <a:pPr>
              <a:lnSpc>
                <a:spcPct val="150000"/>
              </a:lnSpc>
            </a:pPr>
            <a:r>
              <a:rPr kumimoji="1" lang="zh-CN" altLang="en-US" sz="2000" dirty="0"/>
              <a:t>其中的</a:t>
            </a:r>
            <a:r>
              <a:rPr kumimoji="1" lang="en" altLang="zh-CN" sz="2000" dirty="0"/>
              <a:t>mx6ullfire</a:t>
            </a:r>
            <a:r>
              <a:rPr kumimoji="1" lang="zh-CN" altLang="en-US" sz="2000" dirty="0"/>
              <a:t>就是野火开发板的文件</a:t>
            </a:r>
            <a:endParaRPr kumimoji="1" lang="en" altLang="zh-CN" sz="2000" dirty="0"/>
          </a:p>
        </p:txBody>
      </p:sp>
      <p:pic>
        <p:nvPicPr>
          <p:cNvPr id="4098" name="Picture 2">
            <a:extLst>
              <a:ext uri="{FF2B5EF4-FFF2-40B4-BE49-F238E27FC236}">
                <a16:creationId xmlns:a16="http://schemas.microsoft.com/office/drawing/2014/main" id="{CD3FA245-6220-9E49-B2F2-DDACD91250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 y="2811462"/>
            <a:ext cx="8902700" cy="334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568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烧录与启动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1"/>
            <a:ext cx="8229600" cy="5394324"/>
          </a:xfrm>
        </p:spPr>
        <p:txBody>
          <a:bodyPr>
            <a:normAutofit/>
          </a:bodyPr>
          <a:lstStyle/>
          <a:p>
            <a:pPr marL="0" indent="0">
              <a:lnSpc>
                <a:spcPct val="150000"/>
              </a:lnSpc>
              <a:buNone/>
            </a:pPr>
            <a:r>
              <a:rPr kumimoji="1" lang="zh-CN" altLang="en-US" sz="2000" dirty="0"/>
              <a:t>移植官方</a:t>
            </a:r>
            <a:r>
              <a:rPr kumimoji="1" lang="en-US" altLang="zh-CN" sz="2000" dirty="0" err="1"/>
              <a:t>uboot</a:t>
            </a:r>
            <a:r>
              <a:rPr kumimoji="1" lang="zh-CN" altLang="en-US" sz="2000" dirty="0"/>
              <a:t>需要修改的文件夹有：</a:t>
            </a:r>
            <a:endParaRPr kumimoji="1" lang="en-US" altLang="zh-CN" sz="2000" dirty="0"/>
          </a:p>
          <a:p>
            <a:pPr>
              <a:lnSpc>
                <a:spcPct val="150000"/>
              </a:lnSpc>
            </a:pPr>
            <a:r>
              <a:rPr kumimoji="1" lang="en" altLang="zh-CN" sz="2000" b="1" dirty="0">
                <a:solidFill>
                  <a:schemeClr val="accent1"/>
                </a:solidFill>
              </a:rPr>
              <a:t>configs</a:t>
            </a:r>
            <a:r>
              <a:rPr kumimoji="1" lang="en" altLang="zh-CN" sz="2000" dirty="0"/>
              <a:t> </a:t>
            </a:r>
            <a:r>
              <a:rPr kumimoji="1" lang="zh-CN" altLang="en-US" sz="2000" dirty="0"/>
              <a:t>：存放不同开发板的</a:t>
            </a:r>
            <a:r>
              <a:rPr kumimoji="1" lang="en" altLang="zh-CN" sz="2000" dirty="0" err="1"/>
              <a:t>uboot</a:t>
            </a:r>
            <a:r>
              <a:rPr kumimoji="1" lang="zh-CN" altLang="en-US" sz="2000" dirty="0"/>
              <a:t>配置文件，命名规则统一为</a:t>
            </a:r>
            <a:r>
              <a:rPr kumimoji="1" lang="en" altLang="zh-CN" sz="2000" dirty="0" err="1"/>
              <a:t>xxx_defconfig</a:t>
            </a:r>
            <a:r>
              <a:rPr kumimoji="1" lang="zh-CN" altLang="en" sz="2000" dirty="0"/>
              <a:t>，</a:t>
            </a:r>
            <a:r>
              <a:rPr kumimoji="1" lang="en" altLang="zh-CN" sz="2000" dirty="0"/>
              <a:t>xxx</a:t>
            </a:r>
            <a:r>
              <a:rPr kumimoji="1" lang="zh-CN" altLang="en-US" sz="2000" dirty="0"/>
              <a:t>表示为开发板名称。</a:t>
            </a:r>
            <a:endParaRPr kumimoji="1" lang="en-US" altLang="zh-CN" sz="2000" dirty="0"/>
          </a:p>
          <a:p>
            <a:pPr>
              <a:lnSpc>
                <a:spcPct val="150000"/>
              </a:lnSpc>
            </a:pPr>
            <a:endParaRPr kumimoji="1" lang="en-US" altLang="zh-CN" sz="2000" dirty="0"/>
          </a:p>
          <a:p>
            <a:pPr>
              <a:lnSpc>
                <a:spcPct val="150000"/>
              </a:lnSpc>
            </a:pPr>
            <a:endParaRPr kumimoji="1" lang="en-US" altLang="zh-CN" sz="2000" dirty="0"/>
          </a:p>
          <a:p>
            <a:pPr>
              <a:lnSpc>
                <a:spcPct val="150000"/>
              </a:lnSpc>
            </a:pPr>
            <a:endParaRPr kumimoji="1" lang="en-US" altLang="zh-CN" sz="2000" dirty="0"/>
          </a:p>
          <a:p>
            <a:pPr>
              <a:lnSpc>
                <a:spcPct val="150000"/>
              </a:lnSpc>
            </a:pPr>
            <a:r>
              <a:rPr kumimoji="1" lang="zh-CN" altLang="en-US" sz="2000" dirty="0"/>
              <a:t>其中</a:t>
            </a:r>
            <a:r>
              <a:rPr kumimoji="1" lang="en" altLang="zh-CN" sz="2000" dirty="0"/>
              <a:t>mx6ull_fire_mmc_defconfig</a:t>
            </a:r>
            <a:r>
              <a:rPr kumimoji="1" lang="zh-CN" altLang="en-US" sz="2000" dirty="0"/>
              <a:t>就是野火开发板的配置文件</a:t>
            </a:r>
            <a:endParaRPr kumimoji="1" lang="en" altLang="zh-CN" sz="2000" dirty="0"/>
          </a:p>
        </p:txBody>
      </p:sp>
      <p:pic>
        <p:nvPicPr>
          <p:cNvPr id="5122" name="Picture 2">
            <a:extLst>
              <a:ext uri="{FF2B5EF4-FFF2-40B4-BE49-F238E27FC236}">
                <a16:creationId xmlns:a16="http://schemas.microsoft.com/office/drawing/2014/main" id="{8DC31D8F-672C-304E-9712-CCE4765463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3200400"/>
            <a:ext cx="7112000" cy="80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475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zh-CN" altLang="en-US" dirty="0"/>
              <a:t>编译</a:t>
            </a:r>
            <a:r>
              <a:rPr kumimoji="1" lang="en" altLang="zh-CN" dirty="0" err="1"/>
              <a:t>uboot</a:t>
            </a:r>
            <a:endParaRPr kumimoji="1" lang="zh-CN" altLang="en-US" dirty="0"/>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1"/>
            <a:ext cx="8229600" cy="4190999"/>
          </a:xfrm>
        </p:spPr>
        <p:txBody>
          <a:bodyPr>
            <a:normAutofit/>
          </a:bodyPr>
          <a:lstStyle/>
          <a:p>
            <a:pPr marL="0" indent="0">
              <a:lnSpc>
                <a:spcPct val="150000"/>
              </a:lnSpc>
              <a:buNone/>
            </a:pPr>
            <a:r>
              <a:rPr kumimoji="1" lang="en-US" altLang="zh-CN" sz="2000" dirty="0"/>
              <a:t>1.</a:t>
            </a:r>
            <a:r>
              <a:rPr kumimoji="1" lang="zh-CN" altLang="en-US" sz="2000" dirty="0"/>
              <a:t> 安装编译工具和依赖：</a:t>
            </a:r>
            <a:endParaRPr kumimoji="1" lang="en-US" altLang="zh-CN" sz="2000" dirty="0"/>
          </a:p>
          <a:p>
            <a:pPr marL="0" indent="0">
              <a:lnSpc>
                <a:spcPct val="150000"/>
              </a:lnSpc>
              <a:buNone/>
            </a:pPr>
            <a:r>
              <a:rPr kumimoji="1" lang="en" altLang="zh-CN" sz="2000" b="1" dirty="0" err="1">
                <a:solidFill>
                  <a:schemeClr val="accent1"/>
                </a:solidFill>
              </a:rPr>
              <a:t>sudo</a:t>
            </a:r>
            <a:r>
              <a:rPr kumimoji="1" lang="en" altLang="zh-CN" sz="2000" b="1" dirty="0">
                <a:solidFill>
                  <a:schemeClr val="accent1"/>
                </a:solidFill>
              </a:rPr>
              <a:t> apt install make git </a:t>
            </a:r>
            <a:r>
              <a:rPr kumimoji="1" lang="en" altLang="zh-CN" sz="2000" b="1" dirty="0" err="1">
                <a:solidFill>
                  <a:schemeClr val="accent1"/>
                </a:solidFill>
              </a:rPr>
              <a:t>gcc</a:t>
            </a:r>
            <a:r>
              <a:rPr kumimoji="1" lang="en" altLang="zh-CN" sz="2000" b="1" dirty="0">
                <a:solidFill>
                  <a:schemeClr val="accent1"/>
                </a:solidFill>
              </a:rPr>
              <a:t>-arm-none-</a:t>
            </a:r>
            <a:r>
              <a:rPr kumimoji="1" lang="en" altLang="zh-CN" sz="2000" b="1" dirty="0" err="1">
                <a:solidFill>
                  <a:schemeClr val="accent1"/>
                </a:solidFill>
              </a:rPr>
              <a:t>eabi</a:t>
            </a:r>
            <a:r>
              <a:rPr kumimoji="1" lang="en" altLang="zh-CN" sz="2000" b="1" dirty="0">
                <a:solidFill>
                  <a:schemeClr val="accent1"/>
                </a:solidFill>
              </a:rPr>
              <a:t> </a:t>
            </a:r>
            <a:r>
              <a:rPr kumimoji="1" lang="en" altLang="zh-CN" sz="2000" b="1" dirty="0" err="1">
                <a:solidFill>
                  <a:schemeClr val="accent1"/>
                </a:solidFill>
              </a:rPr>
              <a:t>gcc</a:t>
            </a:r>
            <a:r>
              <a:rPr kumimoji="1" lang="en" altLang="zh-CN" sz="2000" b="1" dirty="0">
                <a:solidFill>
                  <a:schemeClr val="accent1"/>
                </a:solidFill>
              </a:rPr>
              <a:t> bison flex </a:t>
            </a:r>
            <a:r>
              <a:rPr kumimoji="1" lang="en" altLang="zh-CN" sz="2000" b="1" dirty="0" err="1">
                <a:solidFill>
                  <a:schemeClr val="accent1"/>
                </a:solidFill>
              </a:rPr>
              <a:t>libssl</a:t>
            </a:r>
            <a:r>
              <a:rPr kumimoji="1" lang="en" altLang="zh-CN" sz="2000" b="1" dirty="0">
                <a:solidFill>
                  <a:schemeClr val="accent1"/>
                </a:solidFill>
              </a:rPr>
              <a:t>-dev </a:t>
            </a:r>
            <a:r>
              <a:rPr kumimoji="1" lang="en" altLang="zh-CN" sz="2000" b="1" dirty="0" err="1">
                <a:solidFill>
                  <a:schemeClr val="accent1"/>
                </a:solidFill>
              </a:rPr>
              <a:t>dpkg</a:t>
            </a:r>
            <a:r>
              <a:rPr kumimoji="1" lang="en" altLang="zh-CN" sz="2000" b="1" dirty="0">
                <a:solidFill>
                  <a:schemeClr val="accent1"/>
                </a:solidFill>
              </a:rPr>
              <a:t>-dev </a:t>
            </a:r>
            <a:r>
              <a:rPr kumimoji="1" lang="en" altLang="zh-CN" sz="2000" b="1" dirty="0" err="1">
                <a:solidFill>
                  <a:schemeClr val="accent1"/>
                </a:solidFill>
              </a:rPr>
              <a:t>lzop</a:t>
            </a:r>
            <a:r>
              <a:rPr kumimoji="1" lang="en" altLang="zh-CN" sz="2000" b="1" dirty="0">
                <a:solidFill>
                  <a:schemeClr val="accent1"/>
                </a:solidFill>
              </a:rPr>
              <a:t> libncurses5-dev</a:t>
            </a:r>
          </a:p>
          <a:p>
            <a:pPr marL="0" indent="0">
              <a:lnSpc>
                <a:spcPct val="150000"/>
              </a:lnSpc>
              <a:buNone/>
            </a:pPr>
            <a:endParaRPr kumimoji="1" lang="en" altLang="zh-CN" sz="2000" b="1" dirty="0">
              <a:solidFill>
                <a:schemeClr val="accent1"/>
              </a:solidFill>
            </a:endParaRPr>
          </a:p>
          <a:p>
            <a:pPr marL="0" indent="0">
              <a:lnSpc>
                <a:spcPct val="150000"/>
              </a:lnSpc>
              <a:buNone/>
            </a:pPr>
            <a:r>
              <a:rPr kumimoji="1" lang="en-US" altLang="zh-CN" sz="2000" dirty="0"/>
              <a:t>2.</a:t>
            </a:r>
            <a:r>
              <a:rPr kumimoji="1" lang="zh-CN" altLang="en-US" sz="2000" dirty="0"/>
              <a:t> 编译：</a:t>
            </a:r>
            <a:endParaRPr kumimoji="1" lang="en-US" altLang="zh-CN" sz="2000" dirty="0"/>
          </a:p>
          <a:p>
            <a:pPr>
              <a:lnSpc>
                <a:spcPct val="150000"/>
              </a:lnSpc>
            </a:pPr>
            <a:endParaRPr kumimoji="1" lang="en-US" altLang="zh-CN" sz="2000" dirty="0"/>
          </a:p>
        </p:txBody>
      </p:sp>
      <p:pic>
        <p:nvPicPr>
          <p:cNvPr id="5" name="图片 4">
            <a:extLst>
              <a:ext uri="{FF2B5EF4-FFF2-40B4-BE49-F238E27FC236}">
                <a16:creationId xmlns:a16="http://schemas.microsoft.com/office/drawing/2014/main" id="{97376EB8-4EFF-9A4F-8B80-AB85C3EEEC35}"/>
              </a:ext>
            </a:extLst>
          </p:cNvPr>
          <p:cNvPicPr>
            <a:picLocks noChangeAspect="1"/>
          </p:cNvPicPr>
          <p:nvPr/>
        </p:nvPicPr>
        <p:blipFill>
          <a:blip r:embed="rId2"/>
          <a:stretch>
            <a:fillRect/>
          </a:stretch>
        </p:blipFill>
        <p:spPr>
          <a:xfrm>
            <a:off x="234950" y="3971088"/>
            <a:ext cx="8674100" cy="1866900"/>
          </a:xfrm>
          <a:prstGeom prst="rect">
            <a:avLst/>
          </a:prstGeom>
        </p:spPr>
      </p:pic>
    </p:spTree>
    <p:extLst>
      <p:ext uri="{BB962C8B-B14F-4D97-AF65-F5344CB8AC3E}">
        <p14:creationId xmlns:p14="http://schemas.microsoft.com/office/powerpoint/2010/main" val="645015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zh-CN" altLang="en-US" dirty="0"/>
              <a:t>编译</a:t>
            </a:r>
            <a:r>
              <a:rPr kumimoji="1" lang="en" altLang="zh-CN" dirty="0" err="1"/>
              <a:t>uboot</a:t>
            </a:r>
            <a:endParaRPr kumimoji="1" lang="zh-CN" altLang="en-US" dirty="0"/>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1"/>
            <a:ext cx="8229600" cy="4902199"/>
          </a:xfrm>
        </p:spPr>
        <p:txBody>
          <a:bodyPr>
            <a:normAutofit fontScale="92500"/>
          </a:bodyPr>
          <a:lstStyle/>
          <a:p>
            <a:pPr marL="0" indent="0">
              <a:lnSpc>
                <a:spcPct val="150000"/>
              </a:lnSpc>
              <a:buNone/>
            </a:pPr>
            <a:r>
              <a:rPr kumimoji="1" lang="zh-CN" altLang="en-US" sz="2000" dirty="0"/>
              <a:t>编译出的文件：</a:t>
            </a:r>
            <a:endParaRPr kumimoji="1" lang="en-US" altLang="zh-CN" sz="2000" dirty="0"/>
          </a:p>
          <a:p>
            <a:pPr>
              <a:lnSpc>
                <a:spcPct val="150000"/>
              </a:lnSpc>
            </a:pPr>
            <a:r>
              <a:rPr kumimoji="1" lang="en-US" altLang="zh-CN" sz="2000" b="1" dirty="0">
                <a:solidFill>
                  <a:schemeClr val="accent1"/>
                </a:solidFill>
              </a:rPr>
              <a:t>u-boot</a:t>
            </a:r>
            <a:r>
              <a:rPr kumimoji="1" lang="zh-CN" altLang="en-US" sz="2000" dirty="0"/>
              <a:t>：编译出的</a:t>
            </a:r>
            <a:r>
              <a:rPr kumimoji="1" lang="en-US" altLang="zh-CN" sz="2000" dirty="0"/>
              <a:t>ELF</a:t>
            </a:r>
            <a:r>
              <a:rPr kumimoji="1" lang="zh-CN" altLang="en-US" sz="2000" dirty="0"/>
              <a:t>格式的</a:t>
            </a:r>
            <a:r>
              <a:rPr kumimoji="1" lang="en-US" altLang="zh-CN" sz="2000" dirty="0" err="1"/>
              <a:t>uboot</a:t>
            </a:r>
            <a:r>
              <a:rPr kumimoji="1" lang="zh-CN" altLang="en-US" sz="2000" dirty="0"/>
              <a:t>镜像文件</a:t>
            </a:r>
          </a:p>
          <a:p>
            <a:pPr>
              <a:lnSpc>
                <a:spcPct val="150000"/>
              </a:lnSpc>
            </a:pPr>
            <a:r>
              <a:rPr kumimoji="1" lang="en-US" altLang="zh-CN" sz="2100" b="1" dirty="0">
                <a:solidFill>
                  <a:schemeClr val="accent1"/>
                </a:solidFill>
              </a:rPr>
              <a:t>u-</a:t>
            </a:r>
            <a:r>
              <a:rPr kumimoji="1" lang="en-US" altLang="zh-CN" sz="2100" b="1" dirty="0" err="1">
                <a:solidFill>
                  <a:schemeClr val="accent1"/>
                </a:solidFill>
              </a:rPr>
              <a:t>boot.bin</a:t>
            </a:r>
            <a:r>
              <a:rPr kumimoji="1" lang="zh-CN" altLang="en-US" sz="2000" dirty="0"/>
              <a:t>：编译出来的二进制格式的</a:t>
            </a:r>
            <a:r>
              <a:rPr kumimoji="1" lang="en-US" altLang="zh-CN" sz="2000" dirty="0" err="1"/>
              <a:t>uboot</a:t>
            </a:r>
            <a:r>
              <a:rPr kumimoji="1" lang="zh-CN" altLang="en-US" sz="2000" dirty="0"/>
              <a:t>可执行镜像文件</a:t>
            </a:r>
          </a:p>
          <a:p>
            <a:pPr>
              <a:lnSpc>
                <a:spcPct val="150000"/>
              </a:lnSpc>
            </a:pPr>
            <a:r>
              <a:rPr kumimoji="1" lang="en-US" altLang="zh-CN" sz="2100" b="1" dirty="0">
                <a:solidFill>
                  <a:schemeClr val="accent1"/>
                </a:solidFill>
              </a:rPr>
              <a:t>u-</a:t>
            </a:r>
            <a:r>
              <a:rPr kumimoji="1" lang="en-US" altLang="zh-CN" sz="2100" b="1" dirty="0" err="1">
                <a:solidFill>
                  <a:schemeClr val="accent1"/>
                </a:solidFill>
              </a:rPr>
              <a:t>boot.cfg</a:t>
            </a:r>
            <a:r>
              <a:rPr kumimoji="1" lang="zh-CN" altLang="en-US" sz="2000" dirty="0"/>
              <a:t>：</a:t>
            </a:r>
            <a:r>
              <a:rPr kumimoji="1" lang="en-US" altLang="zh-CN" sz="2000" dirty="0" err="1"/>
              <a:t>uboot</a:t>
            </a:r>
            <a:r>
              <a:rPr kumimoji="1" lang="zh-CN" altLang="en-US" sz="2000" dirty="0"/>
              <a:t>的另一种配置文件</a:t>
            </a:r>
          </a:p>
          <a:p>
            <a:pPr>
              <a:lnSpc>
                <a:spcPct val="150000"/>
              </a:lnSpc>
            </a:pPr>
            <a:r>
              <a:rPr kumimoji="1" lang="en-US" altLang="zh-CN" sz="2100" b="1" dirty="0">
                <a:solidFill>
                  <a:schemeClr val="accent1"/>
                </a:solidFill>
              </a:rPr>
              <a:t>u-</a:t>
            </a:r>
            <a:r>
              <a:rPr kumimoji="1" lang="en-US" altLang="zh-CN" sz="2100" b="1" dirty="0" err="1">
                <a:solidFill>
                  <a:schemeClr val="accent1"/>
                </a:solidFill>
              </a:rPr>
              <a:t>boot.imx</a:t>
            </a:r>
            <a:r>
              <a:rPr kumimoji="1" lang="zh-CN" altLang="en-US" sz="2000" dirty="0"/>
              <a:t>：</a:t>
            </a:r>
            <a:r>
              <a:rPr kumimoji="1" lang="en-US" altLang="zh-CN" sz="2000" dirty="0"/>
              <a:t>u-</a:t>
            </a:r>
            <a:r>
              <a:rPr kumimoji="1" lang="en-US" altLang="zh-CN" sz="2000" dirty="0" err="1"/>
              <a:t>boot.bin</a:t>
            </a:r>
            <a:r>
              <a:rPr kumimoji="1" lang="zh-CN" altLang="en-US" sz="2000" dirty="0"/>
              <a:t>添加头部信息以后的文件，</a:t>
            </a:r>
            <a:r>
              <a:rPr kumimoji="1" lang="en-US" altLang="zh-CN" sz="2000" dirty="0"/>
              <a:t>NXP</a:t>
            </a:r>
            <a:r>
              <a:rPr kumimoji="1" lang="zh-CN" altLang="en-US" sz="2000" dirty="0"/>
              <a:t>的</a:t>
            </a:r>
            <a:r>
              <a:rPr kumimoji="1" lang="en-US" altLang="zh-CN" sz="2000" dirty="0"/>
              <a:t>CPU</a:t>
            </a:r>
            <a:r>
              <a:rPr kumimoji="1" lang="zh-CN" altLang="en-US" sz="2000" dirty="0"/>
              <a:t>专用文件</a:t>
            </a:r>
          </a:p>
          <a:p>
            <a:pPr>
              <a:lnSpc>
                <a:spcPct val="150000"/>
              </a:lnSpc>
            </a:pPr>
            <a:r>
              <a:rPr kumimoji="1" lang="en-US" altLang="zh-CN" sz="2100" b="1" dirty="0">
                <a:solidFill>
                  <a:schemeClr val="accent1"/>
                </a:solidFill>
              </a:rPr>
              <a:t>u-</a:t>
            </a:r>
            <a:r>
              <a:rPr kumimoji="1" lang="en-US" altLang="zh-CN" sz="2100" b="1" dirty="0" err="1">
                <a:solidFill>
                  <a:schemeClr val="accent1"/>
                </a:solidFill>
              </a:rPr>
              <a:t>boot.lds</a:t>
            </a:r>
            <a:r>
              <a:rPr kumimoji="1" lang="zh-CN" altLang="en-US" sz="2000" dirty="0"/>
              <a:t>：链接脚本</a:t>
            </a:r>
          </a:p>
          <a:p>
            <a:pPr>
              <a:lnSpc>
                <a:spcPct val="150000"/>
              </a:lnSpc>
            </a:pPr>
            <a:r>
              <a:rPr kumimoji="1" lang="en-US" altLang="zh-CN" sz="2100" b="1" dirty="0">
                <a:solidFill>
                  <a:schemeClr val="accent1"/>
                </a:solidFill>
              </a:rPr>
              <a:t>u-</a:t>
            </a:r>
            <a:r>
              <a:rPr kumimoji="1" lang="en-US" altLang="zh-CN" sz="2100" b="1" dirty="0" err="1">
                <a:solidFill>
                  <a:schemeClr val="accent1"/>
                </a:solidFill>
              </a:rPr>
              <a:t>boot.map</a:t>
            </a:r>
            <a:r>
              <a:rPr kumimoji="1" lang="zh-CN" altLang="en-US" sz="2000" dirty="0"/>
              <a:t>：</a:t>
            </a:r>
            <a:r>
              <a:rPr kumimoji="1" lang="en-US" altLang="zh-CN" sz="2000" dirty="0" err="1"/>
              <a:t>uboot</a:t>
            </a:r>
            <a:r>
              <a:rPr kumimoji="1" lang="zh-CN" altLang="en-US" sz="2000" dirty="0"/>
              <a:t>映射文件</a:t>
            </a:r>
          </a:p>
          <a:p>
            <a:pPr>
              <a:lnSpc>
                <a:spcPct val="150000"/>
              </a:lnSpc>
            </a:pPr>
            <a:r>
              <a:rPr kumimoji="1" lang="en-US" altLang="zh-CN" sz="2100" b="1" dirty="0">
                <a:solidFill>
                  <a:schemeClr val="accent1"/>
                </a:solidFill>
              </a:rPr>
              <a:t>u-</a:t>
            </a:r>
            <a:r>
              <a:rPr kumimoji="1" lang="en-US" altLang="zh-CN" sz="2100" b="1" dirty="0" err="1">
                <a:solidFill>
                  <a:schemeClr val="accent1"/>
                </a:solidFill>
              </a:rPr>
              <a:t>boot.srec</a:t>
            </a:r>
            <a:r>
              <a:rPr kumimoji="1" lang="zh-CN" altLang="en-US" sz="2000" dirty="0"/>
              <a:t>：</a:t>
            </a:r>
            <a:r>
              <a:rPr kumimoji="1" lang="en-US" altLang="zh-CN" sz="2000" dirty="0"/>
              <a:t>S-Record</a:t>
            </a:r>
            <a:r>
              <a:rPr kumimoji="1" lang="zh-CN" altLang="en-US" sz="2000" dirty="0"/>
              <a:t>格式的镜像文件</a:t>
            </a:r>
          </a:p>
          <a:p>
            <a:pPr>
              <a:lnSpc>
                <a:spcPct val="150000"/>
              </a:lnSpc>
            </a:pPr>
            <a:r>
              <a:rPr kumimoji="1" lang="en-US" altLang="zh-CN" sz="2100" b="1" dirty="0">
                <a:solidFill>
                  <a:schemeClr val="accent1"/>
                </a:solidFill>
              </a:rPr>
              <a:t>u-</a:t>
            </a:r>
            <a:r>
              <a:rPr kumimoji="1" lang="en-US" altLang="zh-CN" sz="2100" b="1" dirty="0" err="1">
                <a:solidFill>
                  <a:schemeClr val="accent1"/>
                </a:solidFill>
              </a:rPr>
              <a:t>boot.sym</a:t>
            </a:r>
            <a:r>
              <a:rPr kumimoji="1" lang="zh-CN" altLang="en-US" sz="2000" dirty="0"/>
              <a:t>：</a:t>
            </a:r>
            <a:r>
              <a:rPr kumimoji="1" lang="en-US" altLang="zh-CN" sz="2000" dirty="0" err="1"/>
              <a:t>uboot</a:t>
            </a:r>
            <a:r>
              <a:rPr kumimoji="1" lang="zh-CN" altLang="en-US" sz="2000" dirty="0"/>
              <a:t>符号文件</a:t>
            </a:r>
          </a:p>
          <a:p>
            <a:pPr>
              <a:lnSpc>
                <a:spcPct val="150000"/>
              </a:lnSpc>
            </a:pPr>
            <a:r>
              <a:rPr kumimoji="1" lang="en-US" altLang="zh-CN" sz="2100" b="1" dirty="0">
                <a:solidFill>
                  <a:schemeClr val="accent1"/>
                </a:solidFill>
              </a:rPr>
              <a:t>u-boot-</a:t>
            </a:r>
            <a:r>
              <a:rPr kumimoji="1" lang="en-US" altLang="zh-CN" sz="2100" b="1" dirty="0" err="1">
                <a:solidFill>
                  <a:schemeClr val="accent1"/>
                </a:solidFill>
              </a:rPr>
              <a:t>nodtb.bin</a:t>
            </a:r>
            <a:r>
              <a:rPr kumimoji="1" lang="zh-CN" altLang="en-US" sz="2000" dirty="0"/>
              <a:t>：和</a:t>
            </a:r>
            <a:r>
              <a:rPr kumimoji="1" lang="en-US" altLang="zh-CN" sz="2000" dirty="0"/>
              <a:t>u-</a:t>
            </a:r>
            <a:r>
              <a:rPr kumimoji="1" lang="en-US" altLang="zh-CN" sz="2000" dirty="0" err="1"/>
              <a:t>boot.bin</a:t>
            </a:r>
            <a:r>
              <a:rPr kumimoji="1" lang="zh-CN" altLang="en-US" sz="2000" dirty="0"/>
              <a:t>一样，</a:t>
            </a:r>
            <a:r>
              <a:rPr kumimoji="1" lang="en-US" altLang="zh-CN" sz="2000" dirty="0"/>
              <a:t>u-boot-</a:t>
            </a:r>
            <a:r>
              <a:rPr kumimoji="1" lang="en-US" altLang="zh-CN" sz="2000" dirty="0" err="1"/>
              <a:t>nodtb.bin</a:t>
            </a:r>
            <a:r>
              <a:rPr kumimoji="1" lang="zh-CN" altLang="en-US" sz="2000" dirty="0"/>
              <a:t>的复制文件</a:t>
            </a:r>
          </a:p>
        </p:txBody>
      </p:sp>
    </p:spTree>
    <p:extLst>
      <p:ext uri="{BB962C8B-B14F-4D97-AF65-F5344CB8AC3E}">
        <p14:creationId xmlns:p14="http://schemas.microsoft.com/office/powerpoint/2010/main" val="2150402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zh-CN" altLang="en-US" dirty="0"/>
              <a:t>烧写</a:t>
            </a:r>
            <a:r>
              <a:rPr kumimoji="1" lang="en" altLang="zh-CN" dirty="0" err="1"/>
              <a:t>uboot</a:t>
            </a:r>
            <a:r>
              <a:rPr kumimoji="1" lang="zh-CN" altLang="en-US" dirty="0"/>
              <a:t>到 </a:t>
            </a:r>
            <a:r>
              <a:rPr kumimoji="1" lang="en" altLang="zh-CN" dirty="0"/>
              <a:t>SD </a:t>
            </a:r>
            <a:r>
              <a:rPr kumimoji="1" lang="zh-CN" altLang="en-US" dirty="0"/>
              <a:t>卡</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1"/>
            <a:ext cx="8229600" cy="4902199"/>
          </a:xfrm>
        </p:spPr>
        <p:txBody>
          <a:bodyPr>
            <a:normAutofit/>
          </a:bodyPr>
          <a:lstStyle/>
          <a:p>
            <a:pPr marL="0" indent="0">
              <a:lnSpc>
                <a:spcPct val="150000"/>
              </a:lnSpc>
              <a:buNone/>
            </a:pPr>
            <a:r>
              <a:rPr kumimoji="1" lang="zh-CN" altLang="en-US" sz="2000" dirty="0"/>
              <a:t>插上读卡器，使用 </a:t>
            </a:r>
            <a:r>
              <a:rPr kumimoji="1" lang="en" altLang="zh-CN" sz="2000" dirty="0" err="1"/>
              <a:t>lsblk</a:t>
            </a:r>
            <a:r>
              <a:rPr kumimoji="1" lang="en" altLang="zh-CN" sz="2000" dirty="0"/>
              <a:t> </a:t>
            </a:r>
            <a:r>
              <a:rPr kumimoji="1" lang="zh-CN" altLang="en-US" sz="2000" dirty="0"/>
              <a:t>命令查看磁盘设备：</a:t>
            </a:r>
            <a:endParaRPr kumimoji="1" lang="en-US" altLang="zh-CN" sz="2000" dirty="0"/>
          </a:p>
          <a:p>
            <a:pPr>
              <a:lnSpc>
                <a:spcPct val="150000"/>
              </a:lnSpc>
            </a:pPr>
            <a:endParaRPr kumimoji="1" lang="zh-CN" altLang="en-US" sz="2000" dirty="0"/>
          </a:p>
        </p:txBody>
      </p:sp>
      <p:pic>
        <p:nvPicPr>
          <p:cNvPr id="8194" name="Picture 2">
            <a:extLst>
              <a:ext uri="{FF2B5EF4-FFF2-40B4-BE49-F238E27FC236}">
                <a16:creationId xmlns:a16="http://schemas.microsoft.com/office/drawing/2014/main" id="{CC77731B-0B79-C441-B2B2-42B5C7A173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1981200"/>
            <a:ext cx="70485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831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zh-CN" altLang="en-US" dirty="0"/>
              <a:t>烧写</a:t>
            </a:r>
            <a:r>
              <a:rPr kumimoji="1" lang="en" altLang="zh-CN" dirty="0" err="1"/>
              <a:t>uboot</a:t>
            </a:r>
            <a:r>
              <a:rPr kumimoji="1" lang="zh-CN" altLang="en-US" dirty="0"/>
              <a:t>到 </a:t>
            </a:r>
            <a:r>
              <a:rPr kumimoji="1" lang="en" altLang="zh-CN" dirty="0"/>
              <a:t>SD </a:t>
            </a:r>
            <a:r>
              <a:rPr kumimoji="1" lang="zh-CN" altLang="en-US" dirty="0"/>
              <a:t>卡</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1"/>
            <a:ext cx="8229600" cy="4902199"/>
          </a:xfrm>
        </p:spPr>
        <p:txBody>
          <a:bodyPr>
            <a:normAutofit/>
          </a:bodyPr>
          <a:lstStyle/>
          <a:p>
            <a:pPr marL="0" indent="0">
              <a:lnSpc>
                <a:spcPct val="150000"/>
              </a:lnSpc>
              <a:buNone/>
            </a:pPr>
            <a:r>
              <a:rPr kumimoji="1" lang="zh-CN" altLang="en-US" sz="2000" dirty="0"/>
              <a:t>执行以下烧录命令，将 </a:t>
            </a:r>
            <a:r>
              <a:rPr kumimoji="1" lang="en" altLang="zh-CN" sz="2000" dirty="0"/>
              <a:t>u-boot-</a:t>
            </a:r>
            <a:r>
              <a:rPr kumimoji="1" lang="en" altLang="zh-CN" sz="2000" dirty="0" err="1"/>
              <a:t>dtb.imx</a:t>
            </a:r>
            <a:r>
              <a:rPr kumimoji="1" lang="en" altLang="zh-CN" sz="2000" dirty="0"/>
              <a:t> </a:t>
            </a:r>
            <a:r>
              <a:rPr kumimoji="1" lang="zh-CN" altLang="en-US" sz="2000" dirty="0"/>
              <a:t>烧写到</a:t>
            </a:r>
            <a:r>
              <a:rPr kumimoji="1" lang="en-US" altLang="zh-CN" sz="2000" dirty="0"/>
              <a:t>/</a:t>
            </a:r>
            <a:r>
              <a:rPr kumimoji="1" lang="en" altLang="zh-CN" sz="2000" dirty="0"/>
              <a:t>dev/</a:t>
            </a:r>
            <a:r>
              <a:rPr kumimoji="1" lang="en" altLang="zh-CN" sz="2000" dirty="0" err="1"/>
              <a:t>sdb</a:t>
            </a:r>
            <a:r>
              <a:rPr kumimoji="1" lang="en" altLang="zh-CN" sz="2000" dirty="0"/>
              <a:t> </a:t>
            </a:r>
            <a:r>
              <a:rPr kumimoji="1" lang="zh-CN" altLang="en-US" sz="2000" dirty="0"/>
              <a:t>中：</a:t>
            </a:r>
            <a:endParaRPr kumimoji="1" lang="en-US" altLang="zh-CN" sz="2000" dirty="0"/>
          </a:p>
          <a:p>
            <a:pPr marL="0" indent="0">
              <a:lnSpc>
                <a:spcPct val="150000"/>
              </a:lnSpc>
              <a:buNone/>
            </a:pPr>
            <a:endParaRPr kumimoji="1" lang="en-US" altLang="zh-CN" sz="2000" dirty="0"/>
          </a:p>
          <a:p>
            <a:pPr marL="0" indent="0">
              <a:lnSpc>
                <a:spcPct val="150000"/>
              </a:lnSpc>
              <a:buNone/>
            </a:pPr>
            <a:endParaRPr kumimoji="1" lang="en-US" altLang="zh-CN" sz="2000" dirty="0"/>
          </a:p>
          <a:p>
            <a:pPr marL="0" indent="0">
              <a:lnSpc>
                <a:spcPct val="150000"/>
              </a:lnSpc>
              <a:buNone/>
            </a:pPr>
            <a:r>
              <a:rPr kumimoji="1" lang="zh-CN" altLang="en-US" sz="2000" dirty="0"/>
              <a:t>烧录成功提示：</a:t>
            </a:r>
            <a:endParaRPr kumimoji="1" lang="en-US" altLang="zh-CN" sz="2000" dirty="0"/>
          </a:p>
          <a:p>
            <a:pPr>
              <a:lnSpc>
                <a:spcPct val="150000"/>
              </a:lnSpc>
            </a:pPr>
            <a:endParaRPr kumimoji="1" lang="zh-CN" altLang="en-US" sz="2000" dirty="0"/>
          </a:p>
        </p:txBody>
      </p:sp>
      <p:pic>
        <p:nvPicPr>
          <p:cNvPr id="5" name="图片 4">
            <a:extLst>
              <a:ext uri="{FF2B5EF4-FFF2-40B4-BE49-F238E27FC236}">
                <a16:creationId xmlns:a16="http://schemas.microsoft.com/office/drawing/2014/main" id="{AFA29F73-03AC-594A-BF7C-A4421D7D1438}"/>
              </a:ext>
            </a:extLst>
          </p:cNvPr>
          <p:cNvPicPr>
            <a:picLocks noChangeAspect="1"/>
          </p:cNvPicPr>
          <p:nvPr/>
        </p:nvPicPr>
        <p:blipFill>
          <a:blip r:embed="rId2"/>
          <a:stretch>
            <a:fillRect/>
          </a:stretch>
        </p:blipFill>
        <p:spPr>
          <a:xfrm>
            <a:off x="279400" y="2057400"/>
            <a:ext cx="8585200" cy="444500"/>
          </a:xfrm>
          <a:prstGeom prst="rect">
            <a:avLst/>
          </a:prstGeom>
        </p:spPr>
      </p:pic>
      <p:pic>
        <p:nvPicPr>
          <p:cNvPr id="9218" name="Picture 2">
            <a:extLst>
              <a:ext uri="{FF2B5EF4-FFF2-40B4-BE49-F238E27FC236}">
                <a16:creationId xmlns:a16="http://schemas.microsoft.com/office/drawing/2014/main" id="{A91C2576-15BE-2949-95AD-FD2A8E3CA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22" y="3657600"/>
            <a:ext cx="9144000" cy="1154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891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1"/>
            <a:ext cx="8229600" cy="4902199"/>
          </a:xfrm>
        </p:spPr>
        <p:txBody>
          <a:bodyPr>
            <a:normAutofit/>
          </a:bodyPr>
          <a:lstStyle/>
          <a:p>
            <a:pPr marL="0" indent="0">
              <a:lnSpc>
                <a:spcPct val="150000"/>
              </a:lnSpc>
              <a:buNone/>
            </a:pPr>
            <a:r>
              <a:rPr kumimoji="1" lang="zh-CN" altLang="en-US" sz="2000" dirty="0"/>
              <a:t>将</a:t>
            </a:r>
            <a:r>
              <a:rPr kumimoji="1" lang="en" altLang="zh-CN" sz="2000" dirty="0"/>
              <a:t>SD</a:t>
            </a:r>
            <a:r>
              <a:rPr kumimoji="1" lang="zh-CN" altLang="en-US" sz="2000" dirty="0"/>
              <a:t>卡插入板子，选择从</a:t>
            </a:r>
            <a:r>
              <a:rPr kumimoji="1" lang="en" altLang="zh-CN" sz="2000" dirty="0"/>
              <a:t>SD</a:t>
            </a:r>
            <a:r>
              <a:rPr kumimoji="1" lang="zh-CN" altLang="en-US" sz="2000" dirty="0"/>
              <a:t>卡启动，查看串口日志：</a:t>
            </a:r>
            <a:endParaRPr kumimoji="1" lang="en-US" altLang="zh-CN" sz="2000" dirty="0"/>
          </a:p>
          <a:p>
            <a:pPr>
              <a:lnSpc>
                <a:spcPct val="150000"/>
              </a:lnSpc>
            </a:pPr>
            <a:endParaRPr kumimoji="1" lang="zh-CN" altLang="en-US" sz="2000" dirty="0"/>
          </a:p>
        </p:txBody>
      </p:sp>
      <p:pic>
        <p:nvPicPr>
          <p:cNvPr id="10242" name="Picture 2">
            <a:extLst>
              <a:ext uri="{FF2B5EF4-FFF2-40B4-BE49-F238E27FC236}">
                <a16:creationId xmlns:a16="http://schemas.microsoft.com/office/drawing/2014/main" id="{965DA0D1-F8A4-8C41-8F1C-ED164898F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101850"/>
            <a:ext cx="8039100" cy="344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185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1"/>
            <a:ext cx="8229600" cy="5257799"/>
          </a:xfrm>
        </p:spPr>
        <p:txBody>
          <a:bodyPr>
            <a:normAutofit/>
          </a:bodyPr>
          <a:lstStyle/>
          <a:p>
            <a:pPr marL="0" indent="0">
              <a:lnSpc>
                <a:spcPct val="150000"/>
              </a:lnSpc>
              <a:buNone/>
            </a:pPr>
            <a:r>
              <a:rPr kumimoji="1" lang="zh-CN" altLang="en-US" sz="2400" dirty="0"/>
              <a:t>将</a:t>
            </a:r>
            <a:r>
              <a:rPr kumimoji="1" lang="en" altLang="zh-CN" sz="2400" dirty="0"/>
              <a:t>SD</a:t>
            </a:r>
            <a:r>
              <a:rPr kumimoji="1" lang="zh-CN" altLang="en-US" sz="2400" dirty="0"/>
              <a:t>卡插入板子，选择从</a:t>
            </a:r>
            <a:r>
              <a:rPr kumimoji="1" lang="en" altLang="zh-CN" sz="2400" dirty="0"/>
              <a:t>SD</a:t>
            </a:r>
            <a:r>
              <a:rPr kumimoji="1" lang="zh-CN" altLang="en-US" sz="2400" dirty="0"/>
              <a:t>卡启动，查看串口日志：</a:t>
            </a:r>
            <a:endParaRPr kumimoji="1" lang="en-US" altLang="zh-CN" sz="2400" dirty="0"/>
          </a:p>
          <a:p>
            <a:pPr>
              <a:lnSpc>
                <a:spcPct val="150000"/>
              </a:lnSpc>
            </a:pPr>
            <a:endParaRPr kumimoji="1" lang="en-US" altLang="zh-CN" sz="1800" dirty="0"/>
          </a:p>
          <a:p>
            <a:pPr>
              <a:lnSpc>
                <a:spcPct val="150000"/>
              </a:lnSpc>
            </a:pPr>
            <a:endParaRPr kumimoji="1" lang="en-US" altLang="zh-CN" sz="1800" dirty="0"/>
          </a:p>
          <a:p>
            <a:pPr>
              <a:lnSpc>
                <a:spcPct val="150000"/>
              </a:lnSpc>
            </a:pPr>
            <a:endParaRPr kumimoji="1" lang="en-US" altLang="zh-CN" sz="1800" dirty="0"/>
          </a:p>
          <a:p>
            <a:pPr>
              <a:lnSpc>
                <a:spcPct val="150000"/>
              </a:lnSpc>
            </a:pPr>
            <a:endParaRPr kumimoji="1" lang="en-US" altLang="zh-CN" sz="1800" dirty="0"/>
          </a:p>
          <a:p>
            <a:pPr>
              <a:lnSpc>
                <a:spcPct val="150000"/>
              </a:lnSpc>
            </a:pPr>
            <a:endParaRPr kumimoji="1" lang="en-US" altLang="zh-CN" sz="1800" dirty="0"/>
          </a:p>
          <a:p>
            <a:pPr>
              <a:lnSpc>
                <a:spcPct val="150000"/>
              </a:lnSpc>
            </a:pPr>
            <a:endParaRPr kumimoji="1" lang="en-US" altLang="zh-CN" sz="1800" dirty="0"/>
          </a:p>
          <a:p>
            <a:pPr>
              <a:lnSpc>
                <a:spcPct val="150000"/>
              </a:lnSpc>
            </a:pPr>
            <a:endParaRPr kumimoji="1" lang="en-US" altLang="zh-CN" sz="1800" dirty="0"/>
          </a:p>
          <a:p>
            <a:pPr>
              <a:lnSpc>
                <a:spcPct val="150000"/>
              </a:lnSpc>
            </a:pPr>
            <a:endParaRPr kumimoji="1" lang="en-US" altLang="zh-CN" sz="1800" dirty="0"/>
          </a:p>
          <a:p>
            <a:pPr marL="0" indent="0">
              <a:lnSpc>
                <a:spcPct val="150000"/>
              </a:lnSpc>
              <a:buNone/>
            </a:pPr>
            <a:r>
              <a:rPr lang="zh-CN" altLang="en-US" sz="2000" b="0" i="0" u="none" strike="noStrike" dirty="0">
                <a:solidFill>
                  <a:srgbClr val="4D4D4D"/>
                </a:solidFill>
                <a:effectLst/>
                <a:latin typeface="-apple-system"/>
              </a:rPr>
              <a:t>打印出了板子的一些基本信息，包括 </a:t>
            </a:r>
            <a:r>
              <a:rPr lang="en" altLang="zh-CN" sz="2000" b="0" i="0" u="none" strike="noStrike" dirty="0">
                <a:solidFill>
                  <a:srgbClr val="4D4D4D"/>
                </a:solidFill>
                <a:effectLst/>
                <a:latin typeface="-apple-system"/>
              </a:rPr>
              <a:t>CPU</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内存等信息</a:t>
            </a:r>
            <a:endParaRPr kumimoji="1" lang="en-US" altLang="zh-CN" sz="1800" dirty="0"/>
          </a:p>
        </p:txBody>
      </p:sp>
      <p:pic>
        <p:nvPicPr>
          <p:cNvPr id="10242" name="Picture 2">
            <a:extLst>
              <a:ext uri="{FF2B5EF4-FFF2-40B4-BE49-F238E27FC236}">
                <a16:creationId xmlns:a16="http://schemas.microsoft.com/office/drawing/2014/main" id="{965DA0D1-F8A4-8C41-8F1C-ED164898F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101850"/>
            <a:ext cx="8039100" cy="344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875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206829" y="1371600"/>
            <a:ext cx="4038600" cy="5257799"/>
          </a:xfrm>
        </p:spPr>
        <p:txBody>
          <a:bodyPr>
            <a:normAutofit/>
          </a:bodyPr>
          <a:lstStyle/>
          <a:p>
            <a:pPr>
              <a:lnSpc>
                <a:spcPct val="150000"/>
              </a:lnSpc>
            </a:pPr>
            <a:r>
              <a:rPr kumimoji="1" lang="en" altLang="zh-CN" sz="2000" dirty="0" err="1"/>
              <a:t>uboot</a:t>
            </a:r>
            <a:r>
              <a:rPr kumimoji="1" lang="en" altLang="zh-CN" sz="2000" dirty="0"/>
              <a:t> </a:t>
            </a:r>
            <a:r>
              <a:rPr kumimoji="1" lang="zh-CN" altLang="en-US" sz="2000" dirty="0"/>
              <a:t>支持很多的命令，功能十分强大，</a:t>
            </a:r>
            <a:endParaRPr kumimoji="1" lang="en-US" altLang="zh-CN" sz="2000" dirty="0"/>
          </a:p>
          <a:p>
            <a:pPr>
              <a:lnSpc>
                <a:spcPct val="150000"/>
              </a:lnSpc>
            </a:pPr>
            <a:r>
              <a:rPr kumimoji="1" lang="zh-CN" altLang="en-US" sz="2000" dirty="0"/>
              <a:t>与 </a:t>
            </a:r>
            <a:r>
              <a:rPr kumimoji="1" lang="en" altLang="zh-CN" sz="2000" dirty="0" err="1"/>
              <a:t>linux</a:t>
            </a:r>
            <a:r>
              <a:rPr kumimoji="1" lang="en" altLang="zh-CN" sz="2000" dirty="0"/>
              <a:t> </a:t>
            </a:r>
            <a:r>
              <a:rPr kumimoji="1" lang="zh-CN" altLang="en-US" sz="2000" dirty="0"/>
              <a:t>类似，在执行某条 </a:t>
            </a:r>
            <a:r>
              <a:rPr kumimoji="1" lang="en" altLang="zh-CN" sz="2000" dirty="0" err="1"/>
              <a:t>uboot</a:t>
            </a:r>
            <a:r>
              <a:rPr kumimoji="1" lang="en" altLang="zh-CN" sz="2000" dirty="0"/>
              <a:t> </a:t>
            </a:r>
            <a:r>
              <a:rPr kumimoji="1" lang="zh-CN" altLang="en-US" sz="2000" dirty="0"/>
              <a:t>命令时，可使用</a:t>
            </a:r>
            <a:r>
              <a:rPr kumimoji="1" lang="en" altLang="zh-CN" sz="2000" dirty="0"/>
              <a:t>tab </a:t>
            </a:r>
            <a:r>
              <a:rPr kumimoji="1" lang="zh-CN" altLang="en-US" sz="2000" dirty="0"/>
              <a:t>自动补全命令，</a:t>
            </a:r>
            <a:endParaRPr kumimoji="1" lang="en-US" altLang="zh-CN" sz="2000" dirty="0"/>
          </a:p>
          <a:p>
            <a:pPr>
              <a:lnSpc>
                <a:spcPct val="150000"/>
              </a:lnSpc>
            </a:pPr>
            <a:r>
              <a:rPr kumimoji="1" lang="zh-CN" altLang="en-US" sz="2000" dirty="0"/>
              <a:t>在没有命令名冲突的情况下可以使用命令的前几个字母作为命令的输入，例如执行 </a:t>
            </a:r>
            <a:r>
              <a:rPr kumimoji="1" lang="en" altLang="zh-CN" sz="2000" dirty="0"/>
              <a:t>reset </a:t>
            </a:r>
            <a:r>
              <a:rPr kumimoji="1" lang="zh-CN" altLang="en-US" sz="2000" dirty="0"/>
              <a:t>命令，输入 </a:t>
            </a:r>
            <a:r>
              <a:rPr kumimoji="1" lang="en" altLang="zh-CN" sz="2000" dirty="0"/>
              <a:t>res </a:t>
            </a:r>
            <a:r>
              <a:rPr kumimoji="1" lang="zh-CN" altLang="en-US" sz="2000" dirty="0"/>
              <a:t>或 </a:t>
            </a:r>
            <a:r>
              <a:rPr kumimoji="1" lang="en" altLang="zh-CN" sz="2000" dirty="0"/>
              <a:t>re </a:t>
            </a:r>
            <a:r>
              <a:rPr kumimoji="1" lang="zh-CN" altLang="en-US" sz="2000" dirty="0"/>
              <a:t>即可</a:t>
            </a:r>
            <a:endParaRPr kumimoji="1" lang="en-US" altLang="zh-CN" dirty="0"/>
          </a:p>
        </p:txBody>
      </p:sp>
      <p:pic>
        <p:nvPicPr>
          <p:cNvPr id="12290" name="Picture 2">
            <a:extLst>
              <a:ext uri="{FF2B5EF4-FFF2-40B4-BE49-F238E27FC236}">
                <a16:creationId xmlns:a16="http://schemas.microsoft.com/office/drawing/2014/main" id="{D40E5C7F-9B26-C24E-B759-C63596F31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5429" y="1524000"/>
            <a:ext cx="4838061" cy="453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732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257799"/>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1.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帮助命令</a:t>
            </a:r>
          </a:p>
          <a:p>
            <a:pPr algn="l"/>
            <a:r>
              <a:rPr lang="zh-CN" altLang="en-US" sz="2000" b="0" i="0" u="none" strike="noStrike" dirty="0">
                <a:solidFill>
                  <a:srgbClr val="4D4D4D"/>
                </a:solidFill>
                <a:effectLst/>
                <a:latin typeface="-apple-system"/>
              </a:rPr>
              <a:t>当不清楚 </a:t>
            </a:r>
            <a:r>
              <a:rPr lang="en" altLang="zh-CN" sz="2000" b="0" i="0" u="none" strike="noStrike" dirty="0" err="1">
                <a:solidFill>
                  <a:srgbClr val="4D4D4D"/>
                </a:solidFill>
                <a:effectLst/>
                <a:latin typeface="-apple-system"/>
              </a:rPr>
              <a:t>uboot</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支持什么命令时，可输入 </a:t>
            </a:r>
            <a:r>
              <a:rPr lang="en" altLang="zh-CN" sz="2000" b="0" i="0" u="none" strike="noStrike" dirty="0">
                <a:solidFill>
                  <a:srgbClr val="4D4D4D"/>
                </a:solidFill>
                <a:effectLst/>
                <a:latin typeface="-apple-system"/>
              </a:rPr>
              <a:t>help </a:t>
            </a:r>
            <a:r>
              <a:rPr lang="zh-CN" altLang="en-US" sz="2000" b="0" i="0" u="none" strike="noStrike" dirty="0">
                <a:solidFill>
                  <a:srgbClr val="4D4D4D"/>
                </a:solidFill>
                <a:effectLst/>
                <a:latin typeface="-apple-system"/>
              </a:rPr>
              <a:t>或 </a:t>
            </a:r>
            <a:r>
              <a:rPr lang="en-US"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可查看 </a:t>
            </a:r>
            <a:r>
              <a:rPr lang="en" altLang="zh-CN" sz="2000" b="0" i="0" u="none" strike="noStrike" dirty="0" err="1">
                <a:solidFill>
                  <a:srgbClr val="4D4D4D"/>
                </a:solidFill>
                <a:effectLst/>
                <a:latin typeface="-apple-system"/>
              </a:rPr>
              <a:t>uboot</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支持的命令列表</a:t>
            </a:r>
          </a:p>
        </p:txBody>
      </p:sp>
      <p:pic>
        <p:nvPicPr>
          <p:cNvPr id="13314" name="Picture 2">
            <a:extLst>
              <a:ext uri="{FF2B5EF4-FFF2-40B4-BE49-F238E27FC236}">
                <a16:creationId xmlns:a16="http://schemas.microsoft.com/office/drawing/2014/main" id="{DAB25ED0-8DFB-F74D-980F-54BAA5D2D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67000"/>
            <a:ext cx="9144000" cy="4094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8574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257799"/>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1.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帮助命令</a:t>
            </a:r>
          </a:p>
          <a:p>
            <a:pPr algn="l"/>
            <a:r>
              <a:rPr lang="zh-CN" altLang="en-US" sz="2000" b="0" i="0" u="none" strike="noStrike" dirty="0">
                <a:solidFill>
                  <a:srgbClr val="4D4D4D"/>
                </a:solidFill>
                <a:effectLst/>
                <a:latin typeface="-apple-system"/>
              </a:rPr>
              <a:t>当不清楚 </a:t>
            </a:r>
            <a:r>
              <a:rPr lang="en" altLang="zh-CN" sz="2000" b="0" i="0" u="none" strike="noStrike" dirty="0" err="1">
                <a:solidFill>
                  <a:srgbClr val="4D4D4D"/>
                </a:solidFill>
                <a:effectLst/>
                <a:latin typeface="-apple-system"/>
              </a:rPr>
              <a:t>uboot</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支持什么命令时，可输入 </a:t>
            </a:r>
            <a:r>
              <a:rPr lang="en" altLang="zh-CN" sz="2000" b="0" i="0" u="none" strike="noStrike" dirty="0">
                <a:solidFill>
                  <a:srgbClr val="4D4D4D"/>
                </a:solidFill>
                <a:effectLst/>
                <a:latin typeface="-apple-system"/>
              </a:rPr>
              <a:t>help </a:t>
            </a:r>
            <a:r>
              <a:rPr lang="zh-CN" altLang="en-US" sz="2000" b="0" i="0" u="none" strike="noStrike" dirty="0">
                <a:solidFill>
                  <a:srgbClr val="4D4D4D"/>
                </a:solidFill>
                <a:effectLst/>
                <a:latin typeface="-apple-system"/>
              </a:rPr>
              <a:t>或 </a:t>
            </a:r>
            <a:r>
              <a:rPr lang="en-US"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可查看 </a:t>
            </a:r>
            <a:r>
              <a:rPr lang="en" altLang="zh-CN" sz="2000" b="0" i="0" u="none" strike="noStrike" dirty="0" err="1">
                <a:solidFill>
                  <a:srgbClr val="4D4D4D"/>
                </a:solidFill>
                <a:effectLst/>
                <a:latin typeface="-apple-system"/>
              </a:rPr>
              <a:t>uboot</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支持的命令列表</a:t>
            </a:r>
            <a:endParaRPr lang="en-US" altLang="zh-CN" sz="2000" b="0" i="0" u="none" strike="noStrike" dirty="0">
              <a:solidFill>
                <a:srgbClr val="4D4D4D"/>
              </a:solidFill>
              <a:effectLst/>
              <a:latin typeface="-apple-system"/>
            </a:endParaRPr>
          </a:p>
          <a:p>
            <a:pPr algn="l"/>
            <a:r>
              <a:rPr lang="zh-CN" altLang="en-US" sz="2000" dirty="0">
                <a:solidFill>
                  <a:srgbClr val="4D4D4D"/>
                </a:solidFill>
                <a:latin typeface="-apple-system"/>
              </a:rPr>
              <a:t>当需要具体使用哪个命令时，可使用 “</a:t>
            </a:r>
            <a:r>
              <a:rPr lang="en" altLang="zh-CN" sz="2000" dirty="0">
                <a:solidFill>
                  <a:srgbClr val="4D4D4D"/>
                </a:solidFill>
                <a:latin typeface="-apple-system"/>
              </a:rPr>
              <a:t>help </a:t>
            </a:r>
            <a:r>
              <a:rPr lang="zh-CN" altLang="en-US" sz="2000" dirty="0">
                <a:solidFill>
                  <a:srgbClr val="4D4D4D"/>
                </a:solidFill>
                <a:latin typeface="-apple-system"/>
              </a:rPr>
              <a:t>命令” 或 “</a:t>
            </a:r>
            <a:r>
              <a:rPr lang="en-US" altLang="zh-CN" sz="2000" dirty="0">
                <a:solidFill>
                  <a:srgbClr val="4D4D4D"/>
                </a:solidFill>
                <a:latin typeface="-apple-system"/>
              </a:rPr>
              <a:t>? </a:t>
            </a:r>
            <a:r>
              <a:rPr lang="zh-CN" altLang="en-US" sz="2000" dirty="0">
                <a:solidFill>
                  <a:srgbClr val="4D4D4D"/>
                </a:solidFill>
                <a:latin typeface="-apple-system"/>
              </a:rPr>
              <a:t>命令” 的方式查看具体命令的使用说明</a:t>
            </a:r>
            <a:endParaRPr lang="en-US" altLang="zh-CN" sz="2000" dirty="0">
              <a:solidFill>
                <a:srgbClr val="4D4D4D"/>
              </a:solidFill>
              <a:latin typeface="-apple-system"/>
            </a:endParaRPr>
          </a:p>
        </p:txBody>
      </p:sp>
      <p:pic>
        <p:nvPicPr>
          <p:cNvPr id="13314" name="Picture 2">
            <a:extLst>
              <a:ext uri="{FF2B5EF4-FFF2-40B4-BE49-F238E27FC236}">
                <a16:creationId xmlns:a16="http://schemas.microsoft.com/office/drawing/2014/main" id="{DAB25ED0-8DFB-F74D-980F-54BAA5D2D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505" y="3276600"/>
            <a:ext cx="7598990" cy="3402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197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257799"/>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2.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信息查询命令</a:t>
            </a:r>
          </a:p>
          <a:p>
            <a:pPr marL="0" indent="0" algn="l">
              <a:lnSpc>
                <a:spcPct val="150000"/>
              </a:lnSpc>
              <a:buNone/>
            </a:pPr>
            <a:r>
              <a:rPr lang="zh-CN" altLang="en-US" sz="2000" b="0" i="0" u="none" strike="noStrike" dirty="0">
                <a:solidFill>
                  <a:srgbClr val="4D4D4D"/>
                </a:solidFill>
                <a:effectLst/>
                <a:latin typeface="-apple-system"/>
              </a:rPr>
              <a:t>常用的和信息查询有关的命令有 </a:t>
            </a:r>
            <a:r>
              <a:rPr lang="en-US" altLang="zh-CN" sz="2000" b="0" i="0" u="none" strike="noStrike" dirty="0">
                <a:solidFill>
                  <a:srgbClr val="4D4D4D"/>
                </a:solidFill>
                <a:effectLst/>
                <a:latin typeface="-apple-system"/>
              </a:rPr>
              <a:t>3 </a:t>
            </a:r>
            <a:r>
              <a:rPr lang="zh-CN" altLang="en-US" sz="2000" b="0" i="0" u="none" strike="noStrike" dirty="0">
                <a:solidFill>
                  <a:srgbClr val="4D4D4D"/>
                </a:solidFill>
                <a:effectLst/>
                <a:latin typeface="-apple-system"/>
              </a:rPr>
              <a:t>个： </a:t>
            </a:r>
            <a:r>
              <a:rPr lang="en" altLang="zh-CN" sz="2000" b="1" i="0" u="none" strike="noStrike" dirty="0" err="1">
                <a:solidFill>
                  <a:schemeClr val="accent1"/>
                </a:solidFill>
                <a:effectLst/>
                <a:latin typeface="-apple-system"/>
              </a:rPr>
              <a:t>bdinfo</a:t>
            </a:r>
            <a:r>
              <a:rPr lang="zh-CN" altLang="en" sz="2000" b="1" i="0" u="none" strike="noStrike" dirty="0">
                <a:solidFill>
                  <a:schemeClr val="accent1"/>
                </a:solidFill>
                <a:effectLst/>
                <a:latin typeface="-apple-system"/>
              </a:rPr>
              <a:t>、 </a:t>
            </a:r>
            <a:r>
              <a:rPr lang="en" altLang="zh-CN" sz="2000" b="1" i="0" u="none" strike="noStrike" dirty="0" err="1">
                <a:solidFill>
                  <a:schemeClr val="accent1"/>
                </a:solidFill>
                <a:effectLst/>
                <a:latin typeface="-apple-system"/>
              </a:rPr>
              <a:t>printenv</a:t>
            </a:r>
            <a:r>
              <a:rPr lang="en" altLang="zh-CN" sz="2000" b="1" i="0" u="none" strike="noStrike" dirty="0">
                <a:solidFill>
                  <a:schemeClr val="accent1"/>
                </a:solidFill>
                <a:effectLst/>
                <a:latin typeface="-apple-system"/>
              </a:rPr>
              <a:t> </a:t>
            </a:r>
            <a:r>
              <a:rPr lang="zh-CN" altLang="en-US" sz="2000" b="0" i="0" u="none" strike="noStrike" dirty="0">
                <a:solidFill>
                  <a:srgbClr val="4D4D4D"/>
                </a:solidFill>
                <a:effectLst/>
                <a:latin typeface="-apple-system"/>
              </a:rPr>
              <a:t>和 </a:t>
            </a:r>
            <a:r>
              <a:rPr lang="en" altLang="zh-CN" sz="2000" b="1" i="0" u="none" strike="noStrike" dirty="0">
                <a:solidFill>
                  <a:schemeClr val="accent1"/>
                </a:solidFill>
                <a:effectLst/>
                <a:latin typeface="-apple-system"/>
              </a:rPr>
              <a:t>version</a:t>
            </a:r>
          </a:p>
          <a:p>
            <a:pPr algn="l">
              <a:lnSpc>
                <a:spcPct val="150000"/>
              </a:lnSpc>
            </a:pPr>
            <a:r>
              <a:rPr lang="en" altLang="zh-CN" sz="2000" dirty="0" err="1">
                <a:solidFill>
                  <a:srgbClr val="4D4D4D"/>
                </a:solidFill>
                <a:latin typeface="-apple-system"/>
              </a:rPr>
              <a:t>bdinfo</a:t>
            </a:r>
            <a:r>
              <a:rPr lang="en" altLang="zh-CN" sz="2000" dirty="0">
                <a:solidFill>
                  <a:srgbClr val="4D4D4D"/>
                </a:solidFill>
                <a:latin typeface="-apple-system"/>
              </a:rPr>
              <a:t> </a:t>
            </a:r>
            <a:r>
              <a:rPr lang="zh-CN" altLang="en-US" sz="2000" dirty="0">
                <a:solidFill>
                  <a:srgbClr val="4D4D4D"/>
                </a:solidFill>
                <a:latin typeface="-apple-system"/>
              </a:rPr>
              <a:t>命令，用于查看板子信息</a:t>
            </a:r>
            <a:endParaRPr lang="en-US" altLang="zh-CN" sz="2000" dirty="0">
              <a:solidFill>
                <a:srgbClr val="4D4D4D"/>
              </a:solidFill>
              <a:latin typeface="-apple-system"/>
            </a:endParaRPr>
          </a:p>
          <a:p>
            <a:pPr>
              <a:lnSpc>
                <a:spcPct val="150000"/>
              </a:lnSpc>
            </a:pPr>
            <a:r>
              <a:rPr lang="en-US" altLang="zh-CN" sz="2000" dirty="0" err="1">
                <a:solidFill>
                  <a:srgbClr val="4D4D4D"/>
                </a:solidFill>
                <a:latin typeface="-apple-system"/>
              </a:rPr>
              <a:t>printenv</a:t>
            </a:r>
            <a:r>
              <a:rPr lang="en-US" altLang="zh-CN" sz="2000" dirty="0">
                <a:solidFill>
                  <a:srgbClr val="4D4D4D"/>
                </a:solidFill>
                <a:latin typeface="-apple-system"/>
              </a:rPr>
              <a:t> </a:t>
            </a:r>
            <a:r>
              <a:rPr lang="zh-CN" altLang="en-US" sz="2000" dirty="0">
                <a:solidFill>
                  <a:srgbClr val="4D4D4D"/>
                </a:solidFill>
                <a:latin typeface="-apple-system"/>
              </a:rPr>
              <a:t>命令，用于输出环境变量信息 </a:t>
            </a:r>
            <a:endParaRPr lang="en-US" altLang="zh-CN" sz="2000" dirty="0">
              <a:solidFill>
                <a:srgbClr val="4D4D4D"/>
              </a:solidFill>
              <a:latin typeface="-apple-system"/>
            </a:endParaRPr>
          </a:p>
          <a:p>
            <a:pPr>
              <a:lnSpc>
                <a:spcPct val="150000"/>
              </a:lnSpc>
            </a:pPr>
            <a:r>
              <a:rPr lang="en-US" altLang="zh-CN" sz="2000" dirty="0" err="1">
                <a:solidFill>
                  <a:srgbClr val="4D4D4D"/>
                </a:solidFill>
                <a:latin typeface="-apple-system"/>
              </a:rPr>
              <a:t>setenv</a:t>
            </a:r>
            <a:r>
              <a:rPr lang="zh-CN" altLang="en-US" sz="2000" dirty="0">
                <a:solidFill>
                  <a:srgbClr val="4D4D4D"/>
                </a:solidFill>
                <a:latin typeface="-apple-system"/>
              </a:rPr>
              <a:t>命令，用于设置或者修改环境变量的值</a:t>
            </a:r>
            <a:endParaRPr lang="en-US" altLang="zh-CN" sz="2000" dirty="0">
              <a:solidFill>
                <a:srgbClr val="4D4D4D"/>
              </a:solidFill>
              <a:latin typeface="-apple-system"/>
            </a:endParaRPr>
          </a:p>
          <a:p>
            <a:pPr>
              <a:lnSpc>
                <a:spcPct val="150000"/>
              </a:lnSpc>
            </a:pPr>
            <a:r>
              <a:rPr lang="en-US" altLang="zh-CN" sz="2000" dirty="0" err="1">
                <a:solidFill>
                  <a:srgbClr val="4D4D4D"/>
                </a:solidFill>
                <a:latin typeface="-apple-system"/>
              </a:rPr>
              <a:t>saveenv</a:t>
            </a:r>
            <a:r>
              <a:rPr lang="zh-CN" altLang="en-US" sz="2000" dirty="0">
                <a:solidFill>
                  <a:srgbClr val="4D4D4D"/>
                </a:solidFill>
                <a:latin typeface="-apple-system"/>
              </a:rPr>
              <a:t>命令，用于保存修改后的环境变量</a:t>
            </a:r>
            <a:endParaRPr lang="en-US" altLang="zh-CN" sz="2000" dirty="0">
              <a:solidFill>
                <a:srgbClr val="4D4D4D"/>
              </a:solidFill>
              <a:latin typeface="-apple-system"/>
            </a:endParaRPr>
          </a:p>
          <a:p>
            <a:pPr>
              <a:lnSpc>
                <a:spcPct val="150000"/>
              </a:lnSpc>
            </a:pPr>
            <a:r>
              <a:rPr lang="en-US" altLang="zh-CN" sz="2000" dirty="0">
                <a:solidFill>
                  <a:srgbClr val="4D4D4D"/>
                </a:solidFill>
                <a:latin typeface="-apple-system"/>
              </a:rPr>
              <a:t>version</a:t>
            </a:r>
            <a:r>
              <a:rPr lang="zh-CN" altLang="en-US" sz="2000" dirty="0">
                <a:solidFill>
                  <a:srgbClr val="4D4D4D"/>
                </a:solidFill>
                <a:latin typeface="-apple-system"/>
              </a:rPr>
              <a:t>命令，用于查看 </a:t>
            </a:r>
            <a:r>
              <a:rPr lang="en-US" altLang="zh-CN" sz="2000" dirty="0" err="1">
                <a:solidFill>
                  <a:srgbClr val="4D4D4D"/>
                </a:solidFill>
                <a:latin typeface="-apple-system"/>
              </a:rPr>
              <a:t>uboot</a:t>
            </a:r>
            <a:r>
              <a:rPr lang="en-US" altLang="zh-CN" sz="2000" dirty="0">
                <a:solidFill>
                  <a:srgbClr val="4D4D4D"/>
                </a:solidFill>
                <a:latin typeface="-apple-system"/>
              </a:rPr>
              <a:t> </a:t>
            </a:r>
            <a:r>
              <a:rPr lang="zh-CN" altLang="en-US" sz="2000" dirty="0">
                <a:solidFill>
                  <a:srgbClr val="4D4D4D"/>
                </a:solidFill>
                <a:latin typeface="-apple-system"/>
              </a:rPr>
              <a:t>的版本号</a:t>
            </a:r>
            <a:endParaRPr lang="en-US" altLang="zh-CN" sz="2000" dirty="0">
              <a:solidFill>
                <a:srgbClr val="4D4D4D"/>
              </a:solidFill>
              <a:latin typeface="-apple-system"/>
            </a:endParaRPr>
          </a:p>
        </p:txBody>
      </p:sp>
      <p:pic>
        <p:nvPicPr>
          <p:cNvPr id="15362" name="Picture 2">
            <a:extLst>
              <a:ext uri="{FF2B5EF4-FFF2-40B4-BE49-F238E27FC236}">
                <a16:creationId xmlns:a16="http://schemas.microsoft.com/office/drawing/2014/main" id="{1E1B7434-593D-654C-9536-72FC5501D4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362200"/>
            <a:ext cx="2895600" cy="4383005"/>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D79F7D3E-63B9-C543-973C-7415B63100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99" y="5088600"/>
            <a:ext cx="5257801" cy="80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3995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257799"/>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3.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内存操作命令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gn="l">
              <a:lnSpc>
                <a:spcPct val="150000"/>
              </a:lnSpc>
              <a:buNone/>
            </a:pPr>
            <a:r>
              <a:rPr lang="zh-CN" altLang="en-US" sz="2000" b="0" i="0" u="none" strike="noStrike" dirty="0">
                <a:solidFill>
                  <a:srgbClr val="4D4D4D"/>
                </a:solidFill>
                <a:effectLst/>
                <a:latin typeface="-apple-system"/>
              </a:rPr>
              <a:t>内存操作命令就是用于直接对 </a:t>
            </a:r>
            <a:r>
              <a:rPr lang="en" altLang="zh-CN" sz="2000" b="0" i="0" u="none" strike="noStrike" dirty="0">
                <a:solidFill>
                  <a:srgbClr val="4D4D4D"/>
                </a:solidFill>
                <a:effectLst/>
                <a:latin typeface="-apple-system"/>
              </a:rPr>
              <a:t>DRAM </a:t>
            </a:r>
            <a:r>
              <a:rPr lang="zh-CN" altLang="en-US" sz="2000" b="0" i="0" u="none" strike="noStrike" dirty="0">
                <a:solidFill>
                  <a:srgbClr val="4D4D4D"/>
                </a:solidFill>
                <a:effectLst/>
                <a:latin typeface="-apple-system"/>
              </a:rPr>
              <a:t>进行读写操作的，</a:t>
            </a:r>
            <a:endParaRPr lang="en-US" altLang="zh-CN" sz="2000" b="0" i="0" u="none" strike="noStrike" dirty="0">
              <a:solidFill>
                <a:srgbClr val="4D4D4D"/>
              </a:solidFill>
              <a:effectLst/>
              <a:latin typeface="-apple-system"/>
            </a:endParaRPr>
          </a:p>
          <a:p>
            <a:pPr marL="0" indent="0" algn="l">
              <a:lnSpc>
                <a:spcPct val="150000"/>
              </a:lnSpc>
              <a:buNone/>
            </a:pPr>
            <a:r>
              <a:rPr lang="zh-CN" altLang="en-US" sz="2000" b="0" i="0" u="none" strike="noStrike" dirty="0">
                <a:solidFill>
                  <a:srgbClr val="4D4D4D"/>
                </a:solidFill>
                <a:effectLst/>
                <a:latin typeface="-apple-system"/>
              </a:rPr>
              <a:t>常用的内存操作命令有 </a:t>
            </a:r>
            <a:r>
              <a:rPr lang="en" altLang="zh-CN" sz="2000" b="1" i="0" u="none" strike="noStrike" dirty="0">
                <a:solidFill>
                  <a:schemeClr val="accent1"/>
                </a:solidFill>
                <a:effectLst/>
                <a:latin typeface="-apple-system"/>
              </a:rPr>
              <a:t>md</a:t>
            </a:r>
            <a:r>
              <a:rPr lang="zh-CN" altLang="en" sz="2000" b="1" i="0" u="none" strike="noStrike" dirty="0">
                <a:solidFill>
                  <a:schemeClr val="accent1"/>
                </a:solidFill>
                <a:effectLst/>
                <a:latin typeface="-apple-system"/>
              </a:rPr>
              <a:t>、 </a:t>
            </a:r>
            <a:r>
              <a:rPr lang="en" altLang="zh-CN" sz="2000" b="1" i="0" u="none" strike="noStrike" dirty="0">
                <a:solidFill>
                  <a:schemeClr val="accent1"/>
                </a:solidFill>
                <a:effectLst/>
                <a:latin typeface="-apple-system"/>
              </a:rPr>
              <a:t>nm</a:t>
            </a:r>
            <a:r>
              <a:rPr lang="zh-CN" altLang="en" sz="2000" b="1" i="0" u="none" strike="noStrike" dirty="0">
                <a:solidFill>
                  <a:schemeClr val="accent1"/>
                </a:solidFill>
                <a:effectLst/>
                <a:latin typeface="-apple-system"/>
              </a:rPr>
              <a:t>、</a:t>
            </a:r>
            <a:r>
              <a:rPr lang="en" altLang="zh-CN" sz="2000" b="1" i="0" u="none" strike="noStrike" dirty="0">
                <a:solidFill>
                  <a:schemeClr val="accent1"/>
                </a:solidFill>
                <a:effectLst/>
                <a:latin typeface="-apple-system"/>
              </a:rPr>
              <a:t>mm</a:t>
            </a:r>
            <a:r>
              <a:rPr lang="zh-CN" altLang="en" sz="2000" b="1" i="0" u="none" strike="noStrike" dirty="0">
                <a:solidFill>
                  <a:schemeClr val="accent1"/>
                </a:solidFill>
                <a:effectLst/>
                <a:latin typeface="-apple-system"/>
              </a:rPr>
              <a:t>、 </a:t>
            </a:r>
            <a:r>
              <a:rPr lang="en" altLang="zh-CN" sz="2000" b="1" i="0" u="none" strike="noStrike" dirty="0">
                <a:solidFill>
                  <a:schemeClr val="accent1"/>
                </a:solidFill>
                <a:effectLst/>
                <a:latin typeface="-apple-system"/>
              </a:rPr>
              <a:t>mw</a:t>
            </a:r>
            <a:r>
              <a:rPr lang="zh-CN" altLang="en" sz="2000" b="1" i="0" u="none" strike="noStrike" dirty="0">
                <a:solidFill>
                  <a:schemeClr val="accent1"/>
                </a:solidFill>
                <a:effectLst/>
                <a:latin typeface="-apple-system"/>
              </a:rPr>
              <a:t>、 </a:t>
            </a:r>
            <a:r>
              <a:rPr lang="en" altLang="zh-CN" sz="2000" b="1" i="0" u="none" strike="noStrike" dirty="0">
                <a:solidFill>
                  <a:schemeClr val="accent1"/>
                </a:solidFill>
                <a:effectLst/>
                <a:latin typeface="-apple-system"/>
              </a:rPr>
              <a:t>cp </a:t>
            </a:r>
            <a:r>
              <a:rPr lang="zh-CN" altLang="en-US" sz="2000" b="1" i="0" u="none" strike="noStrike" dirty="0">
                <a:solidFill>
                  <a:schemeClr val="accent1"/>
                </a:solidFill>
                <a:effectLst/>
                <a:latin typeface="-apple-system"/>
              </a:rPr>
              <a:t>和 </a:t>
            </a:r>
            <a:r>
              <a:rPr lang="en" altLang="zh-CN" sz="2000" b="1" i="0" u="none" strike="noStrike" dirty="0" err="1">
                <a:solidFill>
                  <a:schemeClr val="accent1"/>
                </a:solidFill>
                <a:effectLst/>
                <a:latin typeface="-apple-system"/>
              </a:rPr>
              <a:t>cmp</a:t>
            </a:r>
            <a:endParaRPr lang="en-US" altLang="zh-CN" sz="2000" b="1" i="0" u="none" strike="noStrike" dirty="0">
              <a:solidFill>
                <a:schemeClr val="accent1"/>
              </a:solidFill>
              <a:effectLst/>
              <a:latin typeface="-apple-system"/>
            </a:endParaRPr>
          </a:p>
          <a:p>
            <a:pPr>
              <a:lnSpc>
                <a:spcPct val="150000"/>
              </a:lnSpc>
            </a:pPr>
            <a:r>
              <a:rPr lang="en" altLang="zh-CN" sz="2000" b="0" i="0" u="none" strike="noStrike" dirty="0">
                <a:effectLst/>
                <a:latin typeface="-apple-system"/>
              </a:rPr>
              <a:t>md </a:t>
            </a:r>
            <a:r>
              <a:rPr lang="zh-CN" altLang="en-US" sz="2000" b="0" i="0" u="none" strike="noStrike" dirty="0">
                <a:effectLst/>
                <a:latin typeface="-apple-system"/>
              </a:rPr>
              <a:t>命令用于显示内存值</a:t>
            </a:r>
            <a:endParaRPr lang="en-US" altLang="zh-CN" sz="2000" b="0" i="0" u="none" strike="noStrike" dirty="0">
              <a:effectLst/>
              <a:latin typeface="-apple-system"/>
            </a:endParaRPr>
          </a:p>
          <a:p>
            <a:pPr>
              <a:lnSpc>
                <a:spcPct val="150000"/>
              </a:lnSpc>
            </a:pPr>
            <a:endParaRPr lang="en-US" altLang="zh-CN" sz="2000" b="0" i="0" u="none" strike="noStrike" dirty="0">
              <a:effectLst/>
              <a:latin typeface="-apple-system"/>
            </a:endParaRPr>
          </a:p>
          <a:p>
            <a:pPr>
              <a:lnSpc>
                <a:spcPct val="150000"/>
              </a:lnSpc>
            </a:pPr>
            <a:endParaRPr lang="en-US" altLang="zh-CN" sz="2000" dirty="0">
              <a:solidFill>
                <a:srgbClr val="4D4D4D"/>
              </a:solidFill>
              <a:latin typeface="-apple-system"/>
            </a:endParaRPr>
          </a:p>
          <a:p>
            <a:pPr marL="0" indent="0">
              <a:lnSpc>
                <a:spcPct val="150000"/>
              </a:lnSpc>
              <a:buNone/>
            </a:pPr>
            <a:r>
              <a:rPr lang="zh-CN" altLang="en-US" sz="2000" b="0" i="0" u="none" strike="noStrike" dirty="0">
                <a:solidFill>
                  <a:srgbClr val="4D4D4D"/>
                </a:solidFill>
                <a:effectLst/>
                <a:latin typeface="-apple-system"/>
              </a:rPr>
              <a:t>命令中的</a:t>
            </a:r>
            <a:r>
              <a:rPr lang="en-US" altLang="zh-C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b .w .l]</a:t>
            </a:r>
            <a:r>
              <a:rPr lang="zh-CN" altLang="en-US" sz="2000" b="0" i="0" u="none" strike="noStrike" dirty="0">
                <a:solidFill>
                  <a:srgbClr val="4D4D4D"/>
                </a:solidFill>
                <a:effectLst/>
                <a:latin typeface="-apple-system"/>
              </a:rPr>
              <a:t>对应 </a:t>
            </a:r>
            <a:r>
              <a:rPr lang="en" altLang="zh-CN" sz="2000" b="0" i="0" u="none" strike="noStrike" dirty="0">
                <a:solidFill>
                  <a:srgbClr val="4D4D4D"/>
                </a:solidFill>
                <a:effectLst/>
                <a:latin typeface="-apple-system"/>
              </a:rPr>
              <a:t>byte</a:t>
            </a:r>
            <a:r>
              <a:rPr lang="zh-CN" altLang="en" sz="2000" b="0" i="0" u="none" strike="noStrike" dirty="0">
                <a:solidFill>
                  <a:srgbClr val="4D4D4D"/>
                </a:solidFill>
                <a:effectLst/>
                <a:latin typeface="-apple-system"/>
              </a:rPr>
              <a:t>、 </a:t>
            </a:r>
            <a:r>
              <a:rPr lang="en" altLang="zh-CN" sz="2000" b="0" i="0" u="none" strike="noStrike" dirty="0">
                <a:solidFill>
                  <a:srgbClr val="4D4D4D"/>
                </a:solidFill>
                <a:effectLst/>
                <a:latin typeface="-apple-system"/>
              </a:rPr>
              <a:t>word </a:t>
            </a:r>
            <a:r>
              <a:rPr lang="zh-CN" altLang="en-US" sz="2000" b="0" i="0" u="none" strike="noStrike" dirty="0">
                <a:solidFill>
                  <a:srgbClr val="4D4D4D"/>
                </a:solidFill>
                <a:effectLst/>
                <a:latin typeface="-apple-system"/>
              </a:rPr>
              <a:t>和 </a:t>
            </a:r>
            <a:r>
              <a:rPr lang="en" altLang="zh-CN" sz="2000" b="0" i="0" u="none" strike="noStrike" dirty="0">
                <a:solidFill>
                  <a:srgbClr val="4D4D4D"/>
                </a:solidFill>
                <a:effectLst/>
                <a:latin typeface="-apple-system"/>
              </a:rPr>
              <a:t>long</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也就是分别以 </a:t>
            </a:r>
            <a:r>
              <a:rPr lang="en-US" altLang="zh-CN" sz="2000" b="0" i="0" u="none" strike="noStrike" dirty="0">
                <a:solidFill>
                  <a:srgbClr val="4D4D4D"/>
                </a:solidFill>
                <a:effectLst/>
                <a:latin typeface="-apple-system"/>
              </a:rPr>
              <a:t>1 </a:t>
            </a:r>
            <a:r>
              <a:rPr lang="zh-CN" altLang="en-US" sz="2000" b="0" i="0" u="none" strike="noStrike" dirty="0">
                <a:solidFill>
                  <a:srgbClr val="4D4D4D"/>
                </a:solidFill>
                <a:effectLst/>
                <a:latin typeface="-apple-system"/>
              </a:rPr>
              <a:t>个字节、 </a:t>
            </a:r>
            <a:r>
              <a:rPr lang="en-US" altLang="zh-CN" sz="2000" b="0" i="0" u="none" strike="noStrike" dirty="0">
                <a:solidFill>
                  <a:srgbClr val="4D4D4D"/>
                </a:solidFill>
                <a:effectLst/>
                <a:latin typeface="-apple-system"/>
              </a:rPr>
              <a:t>2 </a:t>
            </a:r>
            <a:r>
              <a:rPr lang="zh-CN" altLang="en-US" sz="2000" b="0" i="0" u="none" strike="noStrike" dirty="0">
                <a:solidFill>
                  <a:srgbClr val="4D4D4D"/>
                </a:solidFill>
                <a:effectLst/>
                <a:latin typeface="-apple-system"/>
              </a:rPr>
              <a:t>个字节、 </a:t>
            </a:r>
            <a:r>
              <a:rPr lang="en-US" altLang="zh-CN" sz="2000" b="0" i="0" u="none" strike="noStrike" dirty="0">
                <a:solidFill>
                  <a:srgbClr val="4D4D4D"/>
                </a:solidFill>
                <a:effectLst/>
                <a:latin typeface="-apple-system"/>
              </a:rPr>
              <a:t>4 </a:t>
            </a:r>
            <a:r>
              <a:rPr lang="zh-CN" altLang="en-US" sz="2000" b="0" i="0" u="none" strike="noStrike" dirty="0">
                <a:solidFill>
                  <a:srgbClr val="4D4D4D"/>
                </a:solidFill>
                <a:effectLst/>
                <a:latin typeface="-apple-system"/>
              </a:rPr>
              <a:t>个字节来显示内存值。 </a:t>
            </a:r>
            <a:r>
              <a:rPr lang="en" altLang="zh-CN" sz="2000" b="0" i="0" u="none" strike="noStrike" dirty="0">
                <a:solidFill>
                  <a:srgbClr val="4D4D4D"/>
                </a:solidFill>
                <a:effectLst/>
                <a:latin typeface="-apple-system"/>
              </a:rPr>
              <a:t>address </a:t>
            </a:r>
            <a:r>
              <a:rPr lang="zh-CN" altLang="en-US" sz="2000" b="0" i="0" u="none" strike="noStrike" dirty="0">
                <a:solidFill>
                  <a:srgbClr val="4D4D4D"/>
                </a:solidFill>
                <a:effectLst/>
                <a:latin typeface="-apple-system"/>
              </a:rPr>
              <a:t>就是要查看的内存起始地址， </a:t>
            </a:r>
            <a:r>
              <a:rPr lang="en-US" altLang="zh-CN" sz="2000" b="0" i="0" u="none" strike="noStrike" dirty="0">
                <a:solidFill>
                  <a:srgbClr val="4D4D4D"/>
                </a:solidFill>
                <a:effectLst/>
                <a:latin typeface="-apple-system"/>
              </a:rPr>
              <a:t>[# </a:t>
            </a:r>
            <a:r>
              <a:rPr lang="en" altLang="zh-CN" sz="2000" b="0" i="0" u="none" strike="noStrike" dirty="0">
                <a:solidFill>
                  <a:srgbClr val="4D4D4D"/>
                </a:solidFill>
                <a:effectLst/>
                <a:latin typeface="-apple-system"/>
              </a:rPr>
              <a:t>of objects]</a:t>
            </a:r>
            <a:r>
              <a:rPr lang="zh-CN" altLang="en-US" sz="2000" b="0" i="0" u="none" strike="noStrike" dirty="0">
                <a:solidFill>
                  <a:srgbClr val="4D4D4D"/>
                </a:solidFill>
                <a:effectLst/>
                <a:latin typeface="-apple-system"/>
              </a:rPr>
              <a:t>表示要查看的数据长度</a:t>
            </a:r>
            <a:endParaRPr lang="en-US" altLang="zh-CN" sz="1800" dirty="0">
              <a:solidFill>
                <a:srgbClr val="4D4D4D"/>
              </a:solidFill>
              <a:latin typeface="-apple-system"/>
            </a:endParaRPr>
          </a:p>
        </p:txBody>
      </p:sp>
      <p:pic>
        <p:nvPicPr>
          <p:cNvPr id="4" name="图片 3">
            <a:extLst>
              <a:ext uri="{FF2B5EF4-FFF2-40B4-BE49-F238E27FC236}">
                <a16:creationId xmlns:a16="http://schemas.microsoft.com/office/drawing/2014/main" id="{6E2DD6C1-A05A-0F42-9007-DABCAFC6A8B2}"/>
              </a:ext>
            </a:extLst>
          </p:cNvPr>
          <p:cNvPicPr>
            <a:picLocks noChangeAspect="1"/>
          </p:cNvPicPr>
          <p:nvPr/>
        </p:nvPicPr>
        <p:blipFill>
          <a:blip r:embed="rId3"/>
          <a:stretch>
            <a:fillRect/>
          </a:stretch>
        </p:blipFill>
        <p:spPr>
          <a:xfrm>
            <a:off x="838200" y="3577631"/>
            <a:ext cx="5359400" cy="457200"/>
          </a:xfrm>
          <a:prstGeom prst="rect">
            <a:avLst/>
          </a:prstGeom>
        </p:spPr>
      </p:pic>
    </p:spTree>
    <p:extLst>
      <p:ext uri="{BB962C8B-B14F-4D97-AF65-F5344CB8AC3E}">
        <p14:creationId xmlns:p14="http://schemas.microsoft.com/office/powerpoint/2010/main" val="3493126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257799"/>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3.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内存操作命令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gn="l">
              <a:lnSpc>
                <a:spcPct val="150000"/>
              </a:lnSpc>
              <a:buNone/>
            </a:pPr>
            <a:r>
              <a:rPr lang="zh-CN" altLang="en-US" sz="2000" b="0" i="0" u="none" strike="noStrike" dirty="0">
                <a:solidFill>
                  <a:srgbClr val="4D4D4D"/>
                </a:solidFill>
                <a:effectLst/>
                <a:latin typeface="-apple-system"/>
              </a:rPr>
              <a:t>内存操作命令就是用于直接对 </a:t>
            </a:r>
            <a:r>
              <a:rPr lang="en" altLang="zh-CN" sz="2000" b="0" i="0" u="none" strike="noStrike" dirty="0">
                <a:solidFill>
                  <a:srgbClr val="4D4D4D"/>
                </a:solidFill>
                <a:effectLst/>
                <a:latin typeface="-apple-system"/>
              </a:rPr>
              <a:t>DRAM </a:t>
            </a:r>
            <a:r>
              <a:rPr lang="zh-CN" altLang="en-US" sz="2000" b="0" i="0" u="none" strike="noStrike" dirty="0">
                <a:solidFill>
                  <a:srgbClr val="4D4D4D"/>
                </a:solidFill>
                <a:effectLst/>
                <a:latin typeface="-apple-system"/>
              </a:rPr>
              <a:t>进行读写操作的，</a:t>
            </a:r>
            <a:endParaRPr lang="en-US" altLang="zh-CN" sz="2000" b="0" i="0" u="none" strike="noStrike" dirty="0">
              <a:solidFill>
                <a:srgbClr val="4D4D4D"/>
              </a:solidFill>
              <a:effectLst/>
              <a:latin typeface="-apple-system"/>
            </a:endParaRPr>
          </a:p>
          <a:p>
            <a:pPr marL="0" indent="0" algn="l">
              <a:lnSpc>
                <a:spcPct val="150000"/>
              </a:lnSpc>
              <a:buNone/>
            </a:pPr>
            <a:r>
              <a:rPr lang="zh-CN" altLang="en-US" sz="2000" b="0" i="0" u="none" strike="noStrike" dirty="0">
                <a:solidFill>
                  <a:srgbClr val="4D4D4D"/>
                </a:solidFill>
                <a:effectLst/>
                <a:latin typeface="-apple-system"/>
              </a:rPr>
              <a:t>常用的内存操作命令有 </a:t>
            </a:r>
            <a:r>
              <a:rPr lang="en" altLang="zh-CN" sz="2000" b="1" i="0" u="none" strike="noStrike" dirty="0">
                <a:solidFill>
                  <a:schemeClr val="accent1"/>
                </a:solidFill>
                <a:effectLst/>
                <a:latin typeface="-apple-system"/>
              </a:rPr>
              <a:t>md</a:t>
            </a:r>
            <a:r>
              <a:rPr lang="zh-CN" altLang="en" sz="2000" b="1" i="0" u="none" strike="noStrike" dirty="0">
                <a:solidFill>
                  <a:schemeClr val="accent1"/>
                </a:solidFill>
                <a:effectLst/>
                <a:latin typeface="-apple-system"/>
              </a:rPr>
              <a:t>、 </a:t>
            </a:r>
            <a:r>
              <a:rPr lang="en" altLang="zh-CN" sz="2000" b="1" i="0" u="none" strike="noStrike" dirty="0">
                <a:solidFill>
                  <a:schemeClr val="accent1"/>
                </a:solidFill>
                <a:effectLst/>
                <a:latin typeface="-apple-system"/>
              </a:rPr>
              <a:t>nm</a:t>
            </a:r>
            <a:r>
              <a:rPr lang="zh-CN" altLang="en" sz="2000" b="1" i="0" u="none" strike="noStrike" dirty="0">
                <a:solidFill>
                  <a:schemeClr val="accent1"/>
                </a:solidFill>
                <a:effectLst/>
                <a:latin typeface="-apple-system"/>
              </a:rPr>
              <a:t>、</a:t>
            </a:r>
            <a:r>
              <a:rPr lang="en" altLang="zh-CN" sz="2000" b="1" i="0" u="none" strike="noStrike" dirty="0">
                <a:solidFill>
                  <a:schemeClr val="accent1"/>
                </a:solidFill>
                <a:effectLst/>
                <a:latin typeface="-apple-system"/>
              </a:rPr>
              <a:t>mm</a:t>
            </a:r>
            <a:r>
              <a:rPr lang="zh-CN" altLang="en" sz="2000" b="1" i="0" u="none" strike="noStrike" dirty="0">
                <a:solidFill>
                  <a:schemeClr val="accent1"/>
                </a:solidFill>
                <a:effectLst/>
                <a:latin typeface="-apple-system"/>
              </a:rPr>
              <a:t>、 </a:t>
            </a:r>
            <a:r>
              <a:rPr lang="en" altLang="zh-CN" sz="2000" b="1" i="0" u="none" strike="noStrike" dirty="0">
                <a:solidFill>
                  <a:schemeClr val="accent1"/>
                </a:solidFill>
                <a:effectLst/>
                <a:latin typeface="-apple-system"/>
              </a:rPr>
              <a:t>mw</a:t>
            </a:r>
            <a:r>
              <a:rPr lang="zh-CN" altLang="en" sz="2000" b="1" i="0" u="none" strike="noStrike" dirty="0">
                <a:solidFill>
                  <a:schemeClr val="accent1"/>
                </a:solidFill>
                <a:effectLst/>
                <a:latin typeface="-apple-system"/>
              </a:rPr>
              <a:t>、 </a:t>
            </a:r>
            <a:r>
              <a:rPr lang="en" altLang="zh-CN" sz="2000" b="1" i="0" u="none" strike="noStrike" dirty="0">
                <a:solidFill>
                  <a:schemeClr val="accent1"/>
                </a:solidFill>
                <a:effectLst/>
                <a:latin typeface="-apple-system"/>
              </a:rPr>
              <a:t>cp </a:t>
            </a:r>
            <a:r>
              <a:rPr lang="zh-CN" altLang="en-US" sz="2000" b="1" i="0" u="none" strike="noStrike" dirty="0">
                <a:solidFill>
                  <a:schemeClr val="accent1"/>
                </a:solidFill>
                <a:effectLst/>
                <a:latin typeface="-apple-system"/>
              </a:rPr>
              <a:t>和 </a:t>
            </a:r>
            <a:r>
              <a:rPr lang="en" altLang="zh-CN" sz="2000" b="1" i="0" u="none" strike="noStrike" dirty="0" err="1">
                <a:solidFill>
                  <a:schemeClr val="accent1"/>
                </a:solidFill>
                <a:effectLst/>
                <a:latin typeface="-apple-system"/>
              </a:rPr>
              <a:t>cmp</a:t>
            </a:r>
            <a:endParaRPr lang="en-US" altLang="zh-CN" sz="2000" b="1" i="0" u="none" strike="noStrike" dirty="0">
              <a:solidFill>
                <a:schemeClr val="accent1"/>
              </a:solidFill>
              <a:effectLst/>
              <a:latin typeface="-apple-system"/>
            </a:endParaRPr>
          </a:p>
          <a:p>
            <a:pPr>
              <a:lnSpc>
                <a:spcPct val="150000"/>
              </a:lnSpc>
            </a:pPr>
            <a:r>
              <a:rPr lang="en" altLang="zh-CN" sz="2000" b="0" i="0" u="none" strike="noStrike" dirty="0">
                <a:effectLst/>
                <a:latin typeface="-apple-system"/>
              </a:rPr>
              <a:t>nm </a:t>
            </a:r>
            <a:r>
              <a:rPr lang="zh-CN" altLang="en-US" sz="2000" b="0" i="0" u="none" strike="noStrike" dirty="0">
                <a:effectLst/>
                <a:latin typeface="-apple-system"/>
              </a:rPr>
              <a:t>命令用于修改指定地址的内存值</a:t>
            </a:r>
            <a:endParaRPr lang="en-US" altLang="zh-CN" sz="2000" b="0" i="0" u="none" strike="noStrike" dirty="0">
              <a:effectLst/>
              <a:latin typeface="-apple-system"/>
            </a:endParaRPr>
          </a:p>
          <a:p>
            <a:pPr marL="0" indent="0">
              <a:lnSpc>
                <a:spcPct val="150000"/>
              </a:lnSpc>
              <a:buNone/>
            </a:pPr>
            <a:endParaRPr lang="en-US" altLang="zh-CN" sz="2000" b="0" i="0" u="none" strike="noStrike" dirty="0">
              <a:effectLst/>
              <a:latin typeface="-apple-system"/>
            </a:endParaRPr>
          </a:p>
          <a:p>
            <a:pPr>
              <a:lnSpc>
                <a:spcPct val="150000"/>
              </a:lnSpc>
            </a:pPr>
            <a:r>
              <a:rPr lang="en" altLang="zh-CN" sz="2000" dirty="0">
                <a:latin typeface="-apple-system"/>
              </a:rPr>
              <a:t>mm </a:t>
            </a:r>
            <a:r>
              <a:rPr lang="zh-CN" altLang="en-US" sz="2000" dirty="0">
                <a:latin typeface="-apple-system"/>
              </a:rPr>
              <a:t>命令也是修改指定地址内存值，地址会自增</a:t>
            </a:r>
            <a:endParaRPr lang="en-US" altLang="zh-CN" sz="2000" dirty="0">
              <a:latin typeface="-apple-system"/>
            </a:endParaRPr>
          </a:p>
          <a:p>
            <a:pPr>
              <a:lnSpc>
                <a:spcPct val="150000"/>
              </a:lnSpc>
            </a:pPr>
            <a:r>
              <a:rPr lang="en" altLang="zh-CN" sz="2000" dirty="0">
                <a:latin typeface="-apple-system"/>
              </a:rPr>
              <a:t>mw</a:t>
            </a:r>
            <a:r>
              <a:rPr lang="zh-CN" altLang="en-US" sz="2000" dirty="0">
                <a:latin typeface="-apple-system"/>
              </a:rPr>
              <a:t>命令用于使用一个指定的数据填充一段内存</a:t>
            </a:r>
            <a:endParaRPr lang="en-US" altLang="zh-CN" sz="2000" dirty="0">
              <a:latin typeface="-apple-system"/>
            </a:endParaRPr>
          </a:p>
        </p:txBody>
      </p:sp>
      <p:pic>
        <p:nvPicPr>
          <p:cNvPr id="7" name="图片 6">
            <a:extLst>
              <a:ext uri="{FF2B5EF4-FFF2-40B4-BE49-F238E27FC236}">
                <a16:creationId xmlns:a16="http://schemas.microsoft.com/office/drawing/2014/main" id="{6300B934-FE7E-0641-994D-02C275CBB7FE}"/>
              </a:ext>
            </a:extLst>
          </p:cNvPr>
          <p:cNvPicPr>
            <a:picLocks noChangeAspect="1"/>
          </p:cNvPicPr>
          <p:nvPr/>
        </p:nvPicPr>
        <p:blipFill>
          <a:blip r:embed="rId3"/>
          <a:stretch>
            <a:fillRect/>
          </a:stretch>
        </p:blipFill>
        <p:spPr>
          <a:xfrm>
            <a:off x="838200" y="3429000"/>
            <a:ext cx="4152900" cy="444500"/>
          </a:xfrm>
          <a:prstGeom prst="rect">
            <a:avLst/>
          </a:prstGeom>
        </p:spPr>
      </p:pic>
      <p:pic>
        <p:nvPicPr>
          <p:cNvPr id="10" name="图片 9">
            <a:extLst>
              <a:ext uri="{FF2B5EF4-FFF2-40B4-BE49-F238E27FC236}">
                <a16:creationId xmlns:a16="http://schemas.microsoft.com/office/drawing/2014/main" id="{2863DAE9-DD84-EF4A-925F-BF113879B52B}"/>
              </a:ext>
            </a:extLst>
          </p:cNvPr>
          <p:cNvPicPr>
            <a:picLocks noChangeAspect="1"/>
          </p:cNvPicPr>
          <p:nvPr/>
        </p:nvPicPr>
        <p:blipFill>
          <a:blip r:embed="rId4"/>
          <a:stretch>
            <a:fillRect/>
          </a:stretch>
        </p:blipFill>
        <p:spPr>
          <a:xfrm>
            <a:off x="838200" y="5012732"/>
            <a:ext cx="5511800" cy="508000"/>
          </a:xfrm>
          <a:prstGeom prst="rect">
            <a:avLst/>
          </a:prstGeom>
        </p:spPr>
      </p:pic>
    </p:spTree>
    <p:extLst>
      <p:ext uri="{BB962C8B-B14F-4D97-AF65-F5344CB8AC3E}">
        <p14:creationId xmlns:p14="http://schemas.microsoft.com/office/powerpoint/2010/main" val="3911673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3.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内存操作命令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 altLang="zh-CN" sz="2000" b="0" i="0" u="none" strike="noStrike" dirty="0">
                <a:effectLst/>
                <a:latin typeface="-apple-system"/>
              </a:rPr>
              <a:t>cp </a:t>
            </a:r>
            <a:r>
              <a:rPr lang="zh-CN" altLang="en-US" sz="2000" b="0" i="0" u="none" strike="noStrike" dirty="0">
                <a:effectLst/>
                <a:latin typeface="-apple-system"/>
              </a:rPr>
              <a:t>是数据拷贝命令，用于将 </a:t>
            </a:r>
            <a:r>
              <a:rPr lang="en" altLang="zh-CN" sz="2000" b="0" i="0" u="none" strike="noStrike" dirty="0">
                <a:effectLst/>
                <a:latin typeface="-apple-system"/>
              </a:rPr>
              <a:t>DRAM </a:t>
            </a:r>
            <a:r>
              <a:rPr lang="zh-CN" altLang="en-US" sz="2000" b="0" i="0" u="none" strike="noStrike" dirty="0">
                <a:effectLst/>
                <a:latin typeface="-apple-system"/>
              </a:rPr>
              <a:t>中的数据从一段内存拷贝到另一段内存中，或者把 </a:t>
            </a:r>
            <a:r>
              <a:rPr lang="en" altLang="zh-CN" sz="2000" b="0" i="0" u="none" strike="noStrike" dirty="0" err="1">
                <a:effectLst/>
                <a:latin typeface="-apple-system"/>
              </a:rPr>
              <a:t>NorFlash</a:t>
            </a:r>
            <a:r>
              <a:rPr lang="en" altLang="zh-CN" sz="2000" b="0" i="0" u="none" strike="noStrike" dirty="0">
                <a:effectLst/>
                <a:latin typeface="-apple-system"/>
              </a:rPr>
              <a:t> </a:t>
            </a:r>
            <a:r>
              <a:rPr lang="zh-CN" altLang="en-US" sz="2000" b="0" i="0" u="none" strike="noStrike" dirty="0">
                <a:effectLst/>
                <a:latin typeface="-apple-system"/>
              </a:rPr>
              <a:t>中的数据拷贝到 </a:t>
            </a:r>
            <a:r>
              <a:rPr lang="en" altLang="zh-CN" sz="2000" b="0" i="0" u="none" strike="noStrike" dirty="0">
                <a:effectLst/>
                <a:latin typeface="-apple-system"/>
              </a:rPr>
              <a:t>DRAM </a:t>
            </a:r>
            <a:r>
              <a:rPr lang="zh-CN" altLang="en-US" sz="2000" b="0" i="0" u="none" strike="noStrike" dirty="0">
                <a:effectLst/>
                <a:latin typeface="-apple-system"/>
              </a:rPr>
              <a:t>中</a:t>
            </a:r>
            <a:endParaRPr lang="en-US" altLang="zh-CN" sz="2000" b="0" i="0" u="none" strike="noStrike" dirty="0">
              <a:effectLst/>
              <a:latin typeface="-apple-system"/>
            </a:endParaRPr>
          </a:p>
          <a:p>
            <a:pPr>
              <a:lnSpc>
                <a:spcPct val="150000"/>
              </a:lnSpc>
            </a:pPr>
            <a:endParaRPr lang="en-US" altLang="zh-CN" sz="2000" dirty="0">
              <a:latin typeface="-apple-system"/>
            </a:endParaRPr>
          </a:p>
          <a:p>
            <a:pPr>
              <a:lnSpc>
                <a:spcPct val="150000"/>
              </a:lnSpc>
            </a:pPr>
            <a:endParaRPr lang="en-US" altLang="zh-CN" sz="2000" dirty="0">
              <a:latin typeface="-apple-system"/>
            </a:endParaRPr>
          </a:p>
          <a:p>
            <a:pPr marL="0" indent="0">
              <a:buNone/>
            </a:pPr>
            <a:r>
              <a:rPr lang="en" altLang="zh-CN" sz="2000" b="0" i="1" u="none" strike="noStrike" dirty="0">
                <a:solidFill>
                  <a:srgbClr val="4D4D4D"/>
                </a:solidFill>
                <a:effectLst/>
                <a:latin typeface="-apple-system"/>
              </a:rPr>
              <a:t>cp </a:t>
            </a:r>
            <a:r>
              <a:rPr lang="zh-CN" altLang="en-US" sz="2000" b="0" i="1" u="none" strike="noStrike" dirty="0">
                <a:solidFill>
                  <a:srgbClr val="4D4D4D"/>
                </a:solidFill>
                <a:effectLst/>
                <a:latin typeface="-apple-system"/>
              </a:rPr>
              <a:t>命令同样可以以</a:t>
            </a:r>
            <a:r>
              <a:rPr lang="en-US" altLang="zh-CN" sz="2000" b="0" i="1" u="none" strike="noStrike" dirty="0">
                <a:solidFill>
                  <a:srgbClr val="4D4D4D"/>
                </a:solidFill>
                <a:effectLst/>
                <a:latin typeface="-apple-system"/>
              </a:rPr>
              <a:t>.</a:t>
            </a:r>
            <a:r>
              <a:rPr lang="en" altLang="zh-CN" sz="2000" b="0" i="1" u="none" strike="noStrike" dirty="0">
                <a:solidFill>
                  <a:srgbClr val="4D4D4D"/>
                </a:solidFill>
                <a:effectLst/>
                <a:latin typeface="-apple-system"/>
              </a:rPr>
              <a:t>b</a:t>
            </a:r>
            <a:r>
              <a:rPr lang="zh-CN" altLang="en" sz="2000" b="0" i="1" u="none" strike="noStrike" dirty="0">
                <a:solidFill>
                  <a:srgbClr val="4D4D4D"/>
                </a:solidFill>
                <a:effectLst/>
                <a:latin typeface="-apple-system"/>
              </a:rPr>
              <a:t>、 </a:t>
            </a:r>
            <a:r>
              <a:rPr lang="en" altLang="zh-CN" sz="2000" b="0" i="1" u="none" strike="noStrike" dirty="0">
                <a:solidFill>
                  <a:srgbClr val="4D4D4D"/>
                </a:solidFill>
                <a:effectLst/>
                <a:latin typeface="-apple-system"/>
              </a:rPr>
              <a:t>.w </a:t>
            </a:r>
            <a:r>
              <a:rPr lang="zh-CN" altLang="en-US" sz="2000" b="0" i="1" u="none" strike="noStrike" dirty="0">
                <a:solidFill>
                  <a:srgbClr val="4D4D4D"/>
                </a:solidFill>
                <a:effectLst/>
                <a:latin typeface="-apple-system"/>
              </a:rPr>
              <a:t>和</a:t>
            </a:r>
            <a:r>
              <a:rPr lang="en-US" altLang="zh-CN" sz="2000" b="0" i="1" u="none" strike="noStrike" dirty="0">
                <a:solidFill>
                  <a:srgbClr val="4D4D4D"/>
                </a:solidFill>
                <a:effectLst/>
                <a:latin typeface="-apple-system"/>
              </a:rPr>
              <a:t>.</a:t>
            </a:r>
            <a:r>
              <a:rPr lang="en" altLang="zh-CN" sz="2000" b="0" i="1" u="none" strike="noStrike" dirty="0">
                <a:solidFill>
                  <a:srgbClr val="4D4D4D"/>
                </a:solidFill>
                <a:effectLst/>
                <a:latin typeface="-apple-system"/>
              </a:rPr>
              <a:t>l </a:t>
            </a:r>
            <a:r>
              <a:rPr lang="zh-CN" altLang="en-US" sz="2000" b="0" i="1" u="none" strike="noStrike" dirty="0">
                <a:solidFill>
                  <a:srgbClr val="4D4D4D"/>
                </a:solidFill>
                <a:effectLst/>
                <a:latin typeface="-apple-system"/>
              </a:rPr>
              <a:t>来指定操作格式， </a:t>
            </a:r>
            <a:r>
              <a:rPr lang="en" altLang="zh-CN" sz="2000" b="0" i="1" u="none" strike="noStrike" dirty="0">
                <a:solidFill>
                  <a:srgbClr val="4D4D4D"/>
                </a:solidFill>
                <a:effectLst/>
                <a:latin typeface="-apple-system"/>
              </a:rPr>
              <a:t>source </a:t>
            </a:r>
            <a:r>
              <a:rPr lang="zh-CN" altLang="en-US" sz="2000" b="0" i="1" u="none" strike="noStrike" dirty="0">
                <a:solidFill>
                  <a:srgbClr val="4D4D4D"/>
                </a:solidFill>
                <a:effectLst/>
                <a:latin typeface="-apple-system"/>
              </a:rPr>
              <a:t>为源地址， </a:t>
            </a:r>
            <a:r>
              <a:rPr lang="en" altLang="zh-CN" sz="2000" b="0" i="1" u="none" strike="noStrike" dirty="0">
                <a:solidFill>
                  <a:srgbClr val="4D4D4D"/>
                </a:solidFill>
                <a:effectLst/>
                <a:latin typeface="-apple-system"/>
              </a:rPr>
              <a:t>target </a:t>
            </a:r>
            <a:r>
              <a:rPr lang="zh-CN" altLang="en-US" sz="2000" b="0" i="1" u="none" strike="noStrike" dirty="0">
                <a:solidFill>
                  <a:srgbClr val="4D4D4D"/>
                </a:solidFill>
                <a:effectLst/>
                <a:latin typeface="-apple-system"/>
              </a:rPr>
              <a:t>为目的地址， </a:t>
            </a:r>
            <a:r>
              <a:rPr lang="en" altLang="zh-CN" sz="2000" b="0" i="1" u="none" strike="noStrike" dirty="0">
                <a:solidFill>
                  <a:srgbClr val="4D4D4D"/>
                </a:solidFill>
                <a:effectLst/>
                <a:latin typeface="-apple-system"/>
              </a:rPr>
              <a:t>count</a:t>
            </a:r>
            <a:r>
              <a:rPr lang="zh-CN" altLang="en-US" sz="2000" b="0" i="1" u="none" strike="noStrike" dirty="0">
                <a:solidFill>
                  <a:srgbClr val="4D4D4D"/>
                </a:solidFill>
                <a:effectLst/>
                <a:latin typeface="-apple-system"/>
              </a:rPr>
              <a:t>为拷贝的长度</a:t>
            </a:r>
            <a:endParaRPr lang="en-US" altLang="zh-CN" sz="2000" b="0" i="1" u="none" strike="noStrike" dirty="0">
              <a:solidFill>
                <a:srgbClr val="4D4D4D"/>
              </a:solidFill>
              <a:effectLst/>
              <a:latin typeface="-apple-system"/>
            </a:endParaRPr>
          </a:p>
          <a:p>
            <a:pPr>
              <a:lnSpc>
                <a:spcPct val="150000"/>
              </a:lnSpc>
            </a:pPr>
            <a:r>
              <a:rPr lang="en-US" altLang="zh-CN" sz="2000" dirty="0" err="1">
                <a:latin typeface="-apple-system"/>
              </a:rPr>
              <a:t>cmp</a:t>
            </a:r>
            <a:r>
              <a:rPr lang="en-US" altLang="zh-CN" sz="2000" dirty="0">
                <a:latin typeface="-apple-system"/>
              </a:rPr>
              <a:t> </a:t>
            </a:r>
            <a:r>
              <a:rPr lang="zh-CN" altLang="en-US" sz="2000" dirty="0">
                <a:latin typeface="-apple-system"/>
              </a:rPr>
              <a:t>是比较命令，用于比较两段内存的数据是否相等</a:t>
            </a:r>
            <a:endParaRPr lang="en-US" altLang="zh-CN" sz="2000" dirty="0">
              <a:latin typeface="-apple-system"/>
            </a:endParaRPr>
          </a:p>
          <a:p>
            <a:pPr marL="0" indent="0">
              <a:lnSpc>
                <a:spcPct val="150000"/>
              </a:lnSpc>
              <a:buNone/>
            </a:pPr>
            <a:endParaRPr lang="en-US" altLang="zh-CN" sz="2000" dirty="0">
              <a:latin typeface="-apple-system"/>
            </a:endParaRPr>
          </a:p>
          <a:p>
            <a:pPr marL="0" indent="0">
              <a:buNone/>
            </a:pPr>
            <a:r>
              <a:rPr lang="en" altLang="zh-CN" sz="2000" b="0" i="1" u="none" strike="noStrike" dirty="0" err="1">
                <a:solidFill>
                  <a:srgbClr val="4D4D4D"/>
                </a:solidFill>
                <a:effectLst/>
                <a:latin typeface="-apple-system"/>
              </a:rPr>
              <a:t>cmp</a:t>
            </a:r>
            <a:r>
              <a:rPr lang="en" altLang="zh-CN" sz="2000" b="0" i="1" u="none" strike="noStrike" dirty="0">
                <a:solidFill>
                  <a:srgbClr val="4D4D4D"/>
                </a:solidFill>
                <a:effectLst/>
                <a:latin typeface="-apple-system"/>
              </a:rPr>
              <a:t> </a:t>
            </a:r>
            <a:r>
              <a:rPr lang="zh-CN" altLang="en-US" sz="2000" b="0" i="1" u="none" strike="noStrike" dirty="0">
                <a:solidFill>
                  <a:srgbClr val="4D4D4D"/>
                </a:solidFill>
                <a:effectLst/>
                <a:latin typeface="-apple-system"/>
              </a:rPr>
              <a:t>命令同样可以以</a:t>
            </a:r>
            <a:r>
              <a:rPr lang="en-US" altLang="zh-CN" sz="2000" b="0" i="1" u="none" strike="noStrike" dirty="0">
                <a:solidFill>
                  <a:srgbClr val="4D4D4D"/>
                </a:solidFill>
                <a:effectLst/>
                <a:latin typeface="-apple-system"/>
              </a:rPr>
              <a:t>.</a:t>
            </a:r>
            <a:r>
              <a:rPr lang="en" altLang="zh-CN" sz="2000" b="0" i="1" u="none" strike="noStrike" dirty="0">
                <a:solidFill>
                  <a:srgbClr val="4D4D4D"/>
                </a:solidFill>
                <a:effectLst/>
                <a:latin typeface="-apple-system"/>
              </a:rPr>
              <a:t>b</a:t>
            </a:r>
            <a:r>
              <a:rPr lang="zh-CN" altLang="en" sz="2000" b="0" i="1" u="none" strike="noStrike" dirty="0">
                <a:solidFill>
                  <a:srgbClr val="4D4D4D"/>
                </a:solidFill>
                <a:effectLst/>
                <a:latin typeface="-apple-system"/>
              </a:rPr>
              <a:t>、 </a:t>
            </a:r>
            <a:r>
              <a:rPr lang="en" altLang="zh-CN" sz="2000" b="0" i="1" u="none" strike="noStrike" dirty="0">
                <a:solidFill>
                  <a:srgbClr val="4D4D4D"/>
                </a:solidFill>
                <a:effectLst/>
                <a:latin typeface="-apple-system"/>
              </a:rPr>
              <a:t>.w </a:t>
            </a:r>
            <a:r>
              <a:rPr lang="zh-CN" altLang="en-US" sz="2000" b="0" i="1" u="none" strike="noStrike" dirty="0">
                <a:solidFill>
                  <a:srgbClr val="4D4D4D"/>
                </a:solidFill>
                <a:effectLst/>
                <a:latin typeface="-apple-system"/>
              </a:rPr>
              <a:t>和</a:t>
            </a:r>
            <a:r>
              <a:rPr lang="en-US" altLang="zh-CN" sz="2000" b="0" i="1" u="none" strike="noStrike" dirty="0">
                <a:solidFill>
                  <a:srgbClr val="4D4D4D"/>
                </a:solidFill>
                <a:effectLst/>
                <a:latin typeface="-apple-system"/>
              </a:rPr>
              <a:t>.</a:t>
            </a:r>
            <a:r>
              <a:rPr lang="en" altLang="zh-CN" sz="2000" b="0" i="1" u="none" strike="noStrike" dirty="0">
                <a:solidFill>
                  <a:srgbClr val="4D4D4D"/>
                </a:solidFill>
                <a:effectLst/>
                <a:latin typeface="-apple-system"/>
              </a:rPr>
              <a:t>l </a:t>
            </a:r>
            <a:r>
              <a:rPr lang="zh-CN" altLang="en-US" sz="2000" b="0" i="1" u="none" strike="noStrike" dirty="0">
                <a:solidFill>
                  <a:srgbClr val="4D4D4D"/>
                </a:solidFill>
                <a:effectLst/>
                <a:latin typeface="-apple-system"/>
              </a:rPr>
              <a:t>来指定操作格式， </a:t>
            </a:r>
            <a:r>
              <a:rPr lang="en" altLang="zh-CN" sz="2000" b="0" i="1" u="none" strike="noStrike" dirty="0">
                <a:solidFill>
                  <a:srgbClr val="4D4D4D"/>
                </a:solidFill>
                <a:effectLst/>
                <a:latin typeface="-apple-system"/>
              </a:rPr>
              <a:t>addr1 </a:t>
            </a:r>
            <a:r>
              <a:rPr lang="zh-CN" altLang="en-US" sz="2000" b="0" i="1" u="none" strike="noStrike" dirty="0">
                <a:solidFill>
                  <a:srgbClr val="4D4D4D"/>
                </a:solidFill>
                <a:effectLst/>
                <a:latin typeface="-apple-system"/>
              </a:rPr>
              <a:t>为第一段内存首地址， </a:t>
            </a:r>
            <a:r>
              <a:rPr lang="en" altLang="zh-CN" sz="2000" b="0" i="1" u="none" strike="noStrike" dirty="0">
                <a:solidFill>
                  <a:srgbClr val="4D4D4D"/>
                </a:solidFill>
                <a:effectLst/>
                <a:latin typeface="-apple-system"/>
              </a:rPr>
              <a:t>addr2 </a:t>
            </a:r>
            <a:r>
              <a:rPr lang="zh-CN" altLang="en-US" sz="2000" b="0" i="1" u="none" strike="noStrike" dirty="0">
                <a:solidFill>
                  <a:srgbClr val="4D4D4D"/>
                </a:solidFill>
                <a:effectLst/>
                <a:latin typeface="-apple-system"/>
              </a:rPr>
              <a:t>为第二段内存首地址， </a:t>
            </a:r>
            <a:r>
              <a:rPr lang="en" altLang="zh-CN" sz="2000" b="0" i="1" u="none" strike="noStrike" dirty="0">
                <a:solidFill>
                  <a:srgbClr val="4D4D4D"/>
                </a:solidFill>
                <a:effectLst/>
                <a:latin typeface="-apple-system"/>
              </a:rPr>
              <a:t>count </a:t>
            </a:r>
            <a:r>
              <a:rPr lang="zh-CN" altLang="en-US" sz="2000" b="0" i="1" u="none" strike="noStrike" dirty="0">
                <a:solidFill>
                  <a:srgbClr val="4D4D4D"/>
                </a:solidFill>
                <a:effectLst/>
                <a:latin typeface="-apple-system"/>
              </a:rPr>
              <a:t>为要比较的长度</a:t>
            </a:r>
            <a:endParaRPr lang="en-US" altLang="zh-CN" sz="2000" i="1" dirty="0">
              <a:latin typeface="-apple-system"/>
            </a:endParaRPr>
          </a:p>
        </p:txBody>
      </p:sp>
      <p:pic>
        <p:nvPicPr>
          <p:cNvPr id="4" name="图片 3">
            <a:extLst>
              <a:ext uri="{FF2B5EF4-FFF2-40B4-BE49-F238E27FC236}">
                <a16:creationId xmlns:a16="http://schemas.microsoft.com/office/drawing/2014/main" id="{11808B0F-B79A-EC4E-99F7-C61DA188447D}"/>
              </a:ext>
            </a:extLst>
          </p:cNvPr>
          <p:cNvPicPr>
            <a:picLocks noChangeAspect="1"/>
          </p:cNvPicPr>
          <p:nvPr/>
        </p:nvPicPr>
        <p:blipFill>
          <a:blip r:embed="rId3"/>
          <a:stretch>
            <a:fillRect/>
          </a:stretch>
        </p:blipFill>
        <p:spPr>
          <a:xfrm>
            <a:off x="914400" y="2971800"/>
            <a:ext cx="5384800" cy="508000"/>
          </a:xfrm>
          <a:prstGeom prst="rect">
            <a:avLst/>
          </a:prstGeom>
        </p:spPr>
      </p:pic>
      <p:pic>
        <p:nvPicPr>
          <p:cNvPr id="5" name="图片 4">
            <a:extLst>
              <a:ext uri="{FF2B5EF4-FFF2-40B4-BE49-F238E27FC236}">
                <a16:creationId xmlns:a16="http://schemas.microsoft.com/office/drawing/2014/main" id="{37F6D0B0-8DAF-A54F-8EC0-9348FAC69345}"/>
              </a:ext>
            </a:extLst>
          </p:cNvPr>
          <p:cNvPicPr>
            <a:picLocks noChangeAspect="1"/>
          </p:cNvPicPr>
          <p:nvPr/>
        </p:nvPicPr>
        <p:blipFill>
          <a:blip r:embed="rId4"/>
          <a:stretch>
            <a:fillRect/>
          </a:stretch>
        </p:blipFill>
        <p:spPr>
          <a:xfrm>
            <a:off x="914400" y="5032829"/>
            <a:ext cx="5181600" cy="431800"/>
          </a:xfrm>
          <a:prstGeom prst="rect">
            <a:avLst/>
          </a:prstGeom>
        </p:spPr>
      </p:pic>
    </p:spTree>
    <p:extLst>
      <p:ext uri="{BB962C8B-B14F-4D97-AF65-F5344CB8AC3E}">
        <p14:creationId xmlns:p14="http://schemas.microsoft.com/office/powerpoint/2010/main" val="1027461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4. </a:t>
            </a:r>
            <a:r>
              <a:rPr lang="en" altLang="zh-CN" sz="2400" b="1" i="0" u="none" strike="noStrike" dirty="0">
                <a:solidFill>
                  <a:srgbClr val="4F4F4F"/>
                </a:solidFill>
                <a:effectLst/>
                <a:latin typeface="PingFang SC" panose="020B0400000000000000" pitchFamily="34" charset="-122"/>
                <a:ea typeface="PingFang SC" panose="020B0400000000000000" pitchFamily="34" charset="-122"/>
              </a:rPr>
              <a:t>EMMC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和 </a:t>
            </a:r>
            <a:r>
              <a:rPr lang="en" altLang="zh-CN" sz="2400" b="1" i="0" u="none" strike="noStrike" dirty="0">
                <a:solidFill>
                  <a:srgbClr val="4F4F4F"/>
                </a:solidFill>
                <a:effectLst/>
                <a:latin typeface="PingFang SC" panose="020B0400000000000000" pitchFamily="34" charset="-122"/>
                <a:ea typeface="PingFang SC" panose="020B0400000000000000" pitchFamily="34" charset="-122"/>
              </a:rPr>
              <a:t>SD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卡操作命令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 altLang="zh-CN" sz="2000" b="0" i="0" u="none" strike="noStrike" dirty="0">
                <a:solidFill>
                  <a:srgbClr val="4D4D4D"/>
                </a:solidFill>
                <a:effectLst/>
                <a:latin typeface="-apple-system"/>
              </a:rPr>
              <a:t>mmc </a:t>
            </a:r>
            <a:r>
              <a:rPr lang="zh-CN" altLang="en-US" sz="2000" b="0" i="0" u="none" strike="noStrike" dirty="0">
                <a:solidFill>
                  <a:srgbClr val="4D4D4D"/>
                </a:solidFill>
                <a:effectLst/>
                <a:latin typeface="-apple-system"/>
              </a:rPr>
              <a:t>命令能够对如 </a:t>
            </a:r>
            <a:r>
              <a:rPr lang="en" altLang="zh-CN" sz="2000" b="0" i="0" u="none" strike="noStrike" dirty="0" err="1">
                <a:solidFill>
                  <a:srgbClr val="4D4D4D"/>
                </a:solidFill>
                <a:effectLst/>
                <a:latin typeface="-apple-system"/>
              </a:rPr>
              <a:t>sd</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卡以及 </a:t>
            </a:r>
            <a:r>
              <a:rPr lang="en" altLang="zh-CN" sz="2000" b="0" i="0" u="none" strike="noStrike" dirty="0" err="1">
                <a:solidFill>
                  <a:srgbClr val="4D4D4D"/>
                </a:solidFill>
                <a:effectLst/>
                <a:latin typeface="-apple-system"/>
              </a:rPr>
              <a:t>emmc</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类的存储介质进行操作</a:t>
            </a:r>
            <a:endParaRPr lang="en-US" altLang="zh-CN" sz="2000" b="0" i="0" u="none" strike="noStrike" dirty="0">
              <a:solidFill>
                <a:srgbClr val="4D4D4D"/>
              </a:solidFill>
              <a:effectLst/>
              <a:latin typeface="-apple-system"/>
            </a:endParaRPr>
          </a:p>
          <a:p>
            <a:pPr>
              <a:lnSpc>
                <a:spcPct val="150000"/>
              </a:lnSpc>
            </a:pPr>
            <a:r>
              <a:rPr lang="zh-CN" altLang="en-US" sz="2000" dirty="0">
                <a:latin typeface="-apple-system"/>
              </a:rPr>
              <a:t>对于 </a:t>
            </a:r>
            <a:r>
              <a:rPr lang="en-US" altLang="zh-CN" sz="2000" dirty="0">
                <a:latin typeface="-apple-system"/>
              </a:rPr>
              <a:t>mmc </a:t>
            </a:r>
            <a:r>
              <a:rPr lang="zh-CN" altLang="en-US" sz="2000" dirty="0">
                <a:latin typeface="-apple-system"/>
              </a:rPr>
              <a:t>命令不熟悉可使用 </a:t>
            </a:r>
            <a:r>
              <a:rPr lang="en-US" altLang="zh-CN" sz="2000" dirty="0">
                <a:latin typeface="-apple-system"/>
              </a:rPr>
              <a:t>help mmc </a:t>
            </a:r>
            <a:r>
              <a:rPr lang="zh-CN" altLang="en-US" sz="2000" dirty="0">
                <a:latin typeface="-apple-system"/>
              </a:rPr>
              <a:t>查看相关命令的帮助</a:t>
            </a:r>
            <a:endParaRPr lang="en-US" altLang="zh-CN" sz="2000" dirty="0">
              <a:latin typeface="-apple-system"/>
            </a:endParaRPr>
          </a:p>
          <a:p>
            <a:pPr marL="0" indent="0">
              <a:lnSpc>
                <a:spcPct val="150000"/>
              </a:lnSpc>
              <a:buNone/>
            </a:pPr>
            <a:endParaRPr lang="en-US" altLang="zh-CN" sz="2000" dirty="0">
              <a:latin typeface="-apple-system"/>
            </a:endParaRPr>
          </a:p>
        </p:txBody>
      </p:sp>
      <p:pic>
        <p:nvPicPr>
          <p:cNvPr id="19458" name="Picture 2">
            <a:extLst>
              <a:ext uri="{FF2B5EF4-FFF2-40B4-BE49-F238E27FC236}">
                <a16:creationId xmlns:a16="http://schemas.microsoft.com/office/drawing/2014/main" id="{6007D99B-E0FD-3245-9AEF-F1DDE4A7B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899" y="3124200"/>
            <a:ext cx="8470900" cy="264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942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4. </a:t>
            </a:r>
            <a:r>
              <a:rPr lang="en" altLang="zh-CN" sz="2400" b="1" i="0" u="none" strike="noStrike" dirty="0">
                <a:solidFill>
                  <a:srgbClr val="4F4F4F"/>
                </a:solidFill>
                <a:effectLst/>
                <a:latin typeface="PingFang SC" panose="020B0400000000000000" pitchFamily="34" charset="-122"/>
                <a:ea typeface="PingFang SC" panose="020B0400000000000000" pitchFamily="34" charset="-122"/>
              </a:rPr>
              <a:t>EMMC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和 </a:t>
            </a:r>
            <a:r>
              <a:rPr lang="en" altLang="zh-CN" sz="2400" b="1" i="0" u="none" strike="noStrike" dirty="0">
                <a:solidFill>
                  <a:srgbClr val="4F4F4F"/>
                </a:solidFill>
                <a:effectLst/>
                <a:latin typeface="PingFang SC" panose="020B0400000000000000" pitchFamily="34" charset="-122"/>
                <a:ea typeface="PingFang SC" panose="020B0400000000000000" pitchFamily="34" charset="-122"/>
              </a:rPr>
              <a:t>SD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卡操作命令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 altLang="zh-CN" sz="2000" b="0" i="0" u="none" strike="noStrike" dirty="0">
                <a:solidFill>
                  <a:srgbClr val="4D4D4D"/>
                </a:solidFill>
                <a:effectLst/>
                <a:latin typeface="-apple-system"/>
              </a:rPr>
              <a:t>mmc list </a:t>
            </a:r>
            <a:r>
              <a:rPr lang="zh-CN" altLang="en-US" sz="2000" b="0" i="0" u="none" strike="noStrike" dirty="0">
                <a:solidFill>
                  <a:srgbClr val="4D4D4D"/>
                </a:solidFill>
                <a:effectLst/>
                <a:latin typeface="-apple-system"/>
              </a:rPr>
              <a:t>命令用于来查看当前开发板一共有几个 </a:t>
            </a:r>
            <a:r>
              <a:rPr lang="en" altLang="zh-CN" sz="2000" b="0" i="0" u="none" strike="noStrike" dirty="0">
                <a:solidFill>
                  <a:srgbClr val="4D4D4D"/>
                </a:solidFill>
                <a:effectLst/>
                <a:latin typeface="-apple-system"/>
              </a:rPr>
              <a:t>MMC </a:t>
            </a:r>
            <a:r>
              <a:rPr lang="zh-CN" altLang="en-US" sz="2000" b="0" i="0" u="none" strike="noStrike" dirty="0">
                <a:solidFill>
                  <a:srgbClr val="4D4D4D"/>
                </a:solidFill>
                <a:effectLst/>
                <a:latin typeface="-apple-system"/>
              </a:rPr>
              <a:t>设备</a:t>
            </a:r>
            <a:endParaRPr lang="en-US" altLang="zh-CN" sz="2000" b="0" i="0" u="none" strike="noStrike" dirty="0">
              <a:solidFill>
                <a:srgbClr val="4D4D4D"/>
              </a:solidFill>
              <a:effectLst/>
              <a:latin typeface="-apple-system"/>
            </a:endParaRPr>
          </a:p>
          <a:p>
            <a:pPr>
              <a:lnSpc>
                <a:spcPct val="150000"/>
              </a:lnSpc>
            </a:pPr>
            <a:endParaRPr lang="en-US" altLang="zh-CN" sz="2000" dirty="0">
              <a:solidFill>
                <a:srgbClr val="4D4D4D"/>
              </a:solidFill>
              <a:latin typeface="-apple-system"/>
            </a:endParaRPr>
          </a:p>
          <a:p>
            <a:pPr>
              <a:lnSpc>
                <a:spcPct val="150000"/>
              </a:lnSpc>
            </a:pPr>
            <a:endParaRPr lang="en-US" altLang="zh-CN" sz="2000" dirty="0">
              <a:solidFill>
                <a:srgbClr val="4D4D4D"/>
              </a:solidFill>
              <a:latin typeface="-apple-system"/>
            </a:endParaRPr>
          </a:p>
          <a:p>
            <a:pPr marL="0" indent="0">
              <a:lnSpc>
                <a:spcPct val="150000"/>
              </a:lnSpc>
              <a:buNone/>
            </a:pPr>
            <a:r>
              <a:rPr lang="zh-CN" altLang="en-US" sz="1800" b="0" i="1" u="none" strike="noStrike" dirty="0">
                <a:solidFill>
                  <a:srgbClr val="4D4D4D"/>
                </a:solidFill>
                <a:effectLst/>
                <a:latin typeface="-apple-system"/>
              </a:rPr>
              <a:t>当前开发板有两个 </a:t>
            </a:r>
            <a:r>
              <a:rPr lang="en" altLang="zh-CN" sz="1800" b="0" i="1" u="none" strike="noStrike" dirty="0">
                <a:solidFill>
                  <a:srgbClr val="4D4D4D"/>
                </a:solidFill>
                <a:effectLst/>
                <a:latin typeface="-apple-system"/>
              </a:rPr>
              <a:t>MMC </a:t>
            </a:r>
            <a:r>
              <a:rPr lang="zh-CN" altLang="en-US" sz="1800" b="0" i="1" u="none" strike="noStrike" dirty="0">
                <a:solidFill>
                  <a:srgbClr val="4D4D4D"/>
                </a:solidFill>
                <a:effectLst/>
                <a:latin typeface="-apple-system"/>
              </a:rPr>
              <a:t>设备： </a:t>
            </a:r>
            <a:r>
              <a:rPr lang="en" altLang="zh-CN" sz="1800" b="0" i="1" u="none" strike="noStrike" dirty="0">
                <a:solidFill>
                  <a:srgbClr val="4D4D4D"/>
                </a:solidFill>
                <a:effectLst/>
                <a:latin typeface="-apple-system"/>
              </a:rPr>
              <a:t>FSL_SDHC:0</a:t>
            </a:r>
            <a:r>
              <a:rPr lang="zh-CN" altLang="en" sz="1800" b="0" i="1" u="none" strike="noStrike" dirty="0">
                <a:solidFill>
                  <a:srgbClr val="4D4D4D"/>
                </a:solidFill>
                <a:effectLst/>
                <a:latin typeface="-apple-system"/>
              </a:rPr>
              <a:t>（</a:t>
            </a:r>
            <a:r>
              <a:rPr lang="en" altLang="zh-CN" sz="1800" b="0" i="1" u="none" strike="noStrike" dirty="0">
                <a:solidFill>
                  <a:srgbClr val="4D4D4D"/>
                </a:solidFill>
                <a:effectLst/>
                <a:latin typeface="-apple-system"/>
              </a:rPr>
              <a:t>SD</a:t>
            </a:r>
            <a:r>
              <a:rPr lang="zh-CN" altLang="en-US" sz="1800" b="0" i="1" u="none" strike="noStrike" dirty="0">
                <a:solidFill>
                  <a:srgbClr val="4D4D4D"/>
                </a:solidFill>
                <a:effectLst/>
                <a:latin typeface="-apple-system"/>
              </a:rPr>
              <a:t>卡） 和 </a:t>
            </a:r>
            <a:r>
              <a:rPr lang="en" altLang="zh-CN" sz="1800" b="0" i="1" u="none" strike="noStrike" dirty="0">
                <a:solidFill>
                  <a:srgbClr val="4D4D4D"/>
                </a:solidFill>
                <a:effectLst/>
                <a:latin typeface="-apple-system"/>
              </a:rPr>
              <a:t>FSL_SDHC:1 (eMMC)</a:t>
            </a:r>
            <a:endParaRPr lang="en-US" altLang="zh-CN" sz="1800" i="1" dirty="0">
              <a:solidFill>
                <a:srgbClr val="4D4D4D"/>
              </a:solidFill>
              <a:latin typeface="-apple-system"/>
            </a:endParaRPr>
          </a:p>
          <a:p>
            <a:pPr>
              <a:lnSpc>
                <a:spcPct val="150000"/>
              </a:lnSpc>
            </a:pPr>
            <a:r>
              <a:rPr lang="en" altLang="zh-CN" sz="2000" dirty="0">
                <a:solidFill>
                  <a:srgbClr val="4D4D4D"/>
                </a:solidFill>
                <a:latin typeface="-apple-system"/>
              </a:rPr>
              <a:t>mmc info </a:t>
            </a:r>
            <a:r>
              <a:rPr lang="zh-CN" altLang="en-US" sz="2000" dirty="0">
                <a:solidFill>
                  <a:srgbClr val="4D4D4D"/>
                </a:solidFill>
                <a:latin typeface="-apple-system"/>
              </a:rPr>
              <a:t>命令用于输出当前选中的 </a:t>
            </a:r>
            <a:r>
              <a:rPr lang="en" altLang="zh-CN" sz="2000" dirty="0">
                <a:solidFill>
                  <a:srgbClr val="4D4D4D"/>
                </a:solidFill>
                <a:latin typeface="-apple-system"/>
              </a:rPr>
              <a:t>mmc info </a:t>
            </a:r>
            <a:r>
              <a:rPr lang="zh-CN" altLang="en-US" sz="2000" dirty="0">
                <a:solidFill>
                  <a:srgbClr val="4D4D4D"/>
                </a:solidFill>
                <a:latin typeface="-apple-system"/>
              </a:rPr>
              <a:t>设备的信息</a:t>
            </a:r>
            <a:endParaRPr lang="en-US" altLang="zh-CN" sz="2000" dirty="0">
              <a:solidFill>
                <a:srgbClr val="4D4D4D"/>
              </a:solidFill>
              <a:latin typeface="-apple-system"/>
            </a:endParaRPr>
          </a:p>
          <a:p>
            <a:pPr marL="0" indent="0">
              <a:lnSpc>
                <a:spcPct val="150000"/>
              </a:lnSpc>
              <a:buNone/>
            </a:pPr>
            <a:endParaRPr lang="en-US" altLang="zh-CN" sz="2000" dirty="0">
              <a:solidFill>
                <a:srgbClr val="4D4D4D"/>
              </a:solidFill>
              <a:latin typeface="-apple-system"/>
            </a:endParaRPr>
          </a:p>
          <a:p>
            <a:pPr marL="0" indent="0">
              <a:lnSpc>
                <a:spcPct val="150000"/>
              </a:lnSpc>
              <a:buNone/>
            </a:pPr>
            <a:endParaRPr lang="en-US" altLang="zh-CN" sz="2000" dirty="0">
              <a:latin typeface="-apple-system"/>
            </a:endParaRPr>
          </a:p>
        </p:txBody>
      </p:sp>
      <p:pic>
        <p:nvPicPr>
          <p:cNvPr id="20482" name="Picture 2">
            <a:extLst>
              <a:ext uri="{FF2B5EF4-FFF2-40B4-BE49-F238E27FC236}">
                <a16:creationId xmlns:a16="http://schemas.microsoft.com/office/drawing/2014/main" id="{9ED6F87B-EEE2-DA4B-9548-738DE1491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298700"/>
            <a:ext cx="3149600" cy="1130300"/>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C354DB79-9864-1D4C-BB15-7F56CD0E77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356100"/>
            <a:ext cx="2984500" cy="24892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EBCA3854-5881-434E-B229-D1B840F10FD5}"/>
              </a:ext>
            </a:extLst>
          </p:cNvPr>
          <p:cNvSpPr txBox="1"/>
          <p:nvPr/>
        </p:nvSpPr>
        <p:spPr>
          <a:xfrm>
            <a:off x="3913485" y="6446660"/>
            <a:ext cx="4612192" cy="369332"/>
          </a:xfrm>
          <a:prstGeom prst="rect">
            <a:avLst/>
          </a:prstGeom>
          <a:noFill/>
        </p:spPr>
        <p:txBody>
          <a:bodyPr wrap="square">
            <a:spAutoFit/>
          </a:bodyPr>
          <a:lstStyle/>
          <a:p>
            <a:r>
              <a:rPr lang="zh-CN" altLang="en-US" b="0" i="0" u="none" strike="noStrike" dirty="0">
                <a:solidFill>
                  <a:srgbClr val="4D4D4D"/>
                </a:solidFill>
                <a:effectLst/>
                <a:latin typeface="-apple-system"/>
              </a:rPr>
              <a:t>当前选中的 </a:t>
            </a:r>
            <a:r>
              <a:rPr lang="en" altLang="zh-CN" b="0" i="0" u="none" strike="noStrike" dirty="0">
                <a:solidFill>
                  <a:srgbClr val="4D4D4D"/>
                </a:solidFill>
                <a:effectLst/>
                <a:latin typeface="-apple-system"/>
              </a:rPr>
              <a:t>MMC</a:t>
            </a:r>
            <a:r>
              <a:rPr lang="zh-CN" altLang="en-US" b="0" i="0" u="none" strike="noStrike" dirty="0">
                <a:solidFill>
                  <a:srgbClr val="4D4D4D"/>
                </a:solidFill>
                <a:effectLst/>
                <a:latin typeface="-apple-system"/>
              </a:rPr>
              <a:t>设备是</a:t>
            </a:r>
            <a:r>
              <a:rPr lang="en" altLang="zh-CN" b="0" i="0" u="none" strike="noStrike" dirty="0">
                <a:solidFill>
                  <a:srgbClr val="4D4D4D"/>
                </a:solidFill>
                <a:effectLst/>
                <a:latin typeface="-apple-system"/>
              </a:rPr>
              <a:t>SD</a:t>
            </a:r>
            <a:r>
              <a:rPr lang="zh-CN" altLang="en-US" b="0" i="0" u="none" strike="noStrike" dirty="0">
                <a:solidFill>
                  <a:srgbClr val="4D4D4D"/>
                </a:solidFill>
                <a:effectLst/>
                <a:latin typeface="-apple-system"/>
              </a:rPr>
              <a:t>卡，容量为</a:t>
            </a:r>
            <a:r>
              <a:rPr lang="en-US" altLang="zh-CN" b="0" i="0" u="none" strike="noStrike" dirty="0">
                <a:solidFill>
                  <a:srgbClr val="4D4D4D"/>
                </a:solidFill>
                <a:effectLst/>
                <a:latin typeface="-apple-system"/>
              </a:rPr>
              <a:t>7.4</a:t>
            </a:r>
            <a:r>
              <a:rPr lang="en" altLang="zh-CN" b="0" i="0" u="none" strike="noStrike" dirty="0">
                <a:solidFill>
                  <a:srgbClr val="4D4D4D"/>
                </a:solidFill>
                <a:effectLst/>
                <a:latin typeface="-apple-system"/>
              </a:rPr>
              <a:t>G</a:t>
            </a:r>
            <a:endParaRPr lang="zh-CN" altLang="en-US" dirty="0"/>
          </a:p>
        </p:txBody>
      </p:sp>
    </p:spTree>
    <p:extLst>
      <p:ext uri="{BB962C8B-B14F-4D97-AF65-F5344CB8AC3E}">
        <p14:creationId xmlns:p14="http://schemas.microsoft.com/office/powerpoint/2010/main" val="13917958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4. </a:t>
            </a:r>
            <a:r>
              <a:rPr lang="en" altLang="zh-CN" sz="2400" b="1" i="0" u="none" strike="noStrike" dirty="0">
                <a:solidFill>
                  <a:srgbClr val="4F4F4F"/>
                </a:solidFill>
                <a:effectLst/>
                <a:latin typeface="PingFang SC" panose="020B0400000000000000" pitchFamily="34" charset="-122"/>
                <a:ea typeface="PingFang SC" panose="020B0400000000000000" pitchFamily="34" charset="-122"/>
              </a:rPr>
              <a:t>EMMC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和 </a:t>
            </a:r>
            <a:r>
              <a:rPr lang="en" altLang="zh-CN" sz="2400" b="1" i="0" u="none" strike="noStrike" dirty="0">
                <a:solidFill>
                  <a:srgbClr val="4F4F4F"/>
                </a:solidFill>
                <a:effectLst/>
                <a:latin typeface="PingFang SC" panose="020B0400000000000000" pitchFamily="34" charset="-122"/>
                <a:ea typeface="PingFang SC" panose="020B0400000000000000" pitchFamily="34" charset="-122"/>
              </a:rPr>
              <a:t>SD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卡操作命令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 altLang="zh-CN" sz="2000" b="0" i="0" u="none" strike="noStrike" dirty="0">
                <a:solidFill>
                  <a:srgbClr val="4D4D4D"/>
                </a:solidFill>
                <a:effectLst/>
                <a:latin typeface="-apple-system"/>
              </a:rPr>
              <a:t>mmc dev </a:t>
            </a:r>
            <a:r>
              <a:rPr lang="zh-CN" altLang="en-US" sz="2000" b="0" i="0" u="none" strike="noStrike" dirty="0">
                <a:solidFill>
                  <a:srgbClr val="4D4D4D"/>
                </a:solidFill>
                <a:effectLst/>
                <a:latin typeface="-apple-system"/>
              </a:rPr>
              <a:t>命令用于切换当前 </a:t>
            </a:r>
            <a:r>
              <a:rPr lang="en" altLang="zh-CN" sz="2000" b="0" i="0" u="none" strike="noStrike" dirty="0">
                <a:solidFill>
                  <a:srgbClr val="4D4D4D"/>
                </a:solidFill>
                <a:effectLst/>
                <a:latin typeface="-apple-system"/>
              </a:rPr>
              <a:t>MMC </a:t>
            </a:r>
            <a:r>
              <a:rPr lang="zh-CN" altLang="en-US" sz="2000" b="0" i="0" u="none" strike="noStrike" dirty="0">
                <a:solidFill>
                  <a:srgbClr val="4D4D4D"/>
                </a:solidFill>
                <a:effectLst/>
                <a:latin typeface="-apple-system"/>
              </a:rPr>
              <a:t>设备</a:t>
            </a:r>
            <a:endParaRPr lang="en-US" altLang="zh-CN" sz="2000" b="0" i="0" u="none" strike="noStrike" dirty="0">
              <a:solidFill>
                <a:srgbClr val="4D4D4D"/>
              </a:solidFill>
              <a:effectLst/>
              <a:latin typeface="-apple-system"/>
            </a:endParaRPr>
          </a:p>
          <a:p>
            <a:pPr>
              <a:lnSpc>
                <a:spcPct val="150000"/>
              </a:lnSpc>
            </a:pPr>
            <a:endParaRPr lang="en-US" altLang="zh-CN" sz="2000" dirty="0">
              <a:solidFill>
                <a:srgbClr val="4D4D4D"/>
              </a:solidFill>
              <a:latin typeface="-apple-system"/>
            </a:endParaRPr>
          </a:p>
          <a:p>
            <a:pPr>
              <a:lnSpc>
                <a:spcPct val="150000"/>
              </a:lnSpc>
            </a:pPr>
            <a:endParaRPr lang="en-US" altLang="zh-CN" sz="2000" dirty="0">
              <a:solidFill>
                <a:srgbClr val="4D4D4D"/>
              </a:solidFill>
              <a:latin typeface="-apple-system"/>
            </a:endParaRPr>
          </a:p>
          <a:p>
            <a:pPr>
              <a:lnSpc>
                <a:spcPct val="150000"/>
              </a:lnSpc>
            </a:pPr>
            <a:endParaRPr lang="en-US" altLang="zh-CN" sz="2000" dirty="0">
              <a:solidFill>
                <a:srgbClr val="4D4D4D"/>
              </a:solidFill>
              <a:latin typeface="-apple-system"/>
            </a:endParaRPr>
          </a:p>
          <a:p>
            <a:pPr>
              <a:lnSpc>
                <a:spcPct val="150000"/>
              </a:lnSpc>
            </a:pPr>
            <a:r>
              <a:rPr lang="zh-CN" altLang="en-US" sz="2000" b="0" i="0" u="none" strike="noStrike" dirty="0">
                <a:solidFill>
                  <a:srgbClr val="4D4D4D"/>
                </a:solidFill>
                <a:effectLst/>
                <a:latin typeface="-apple-system"/>
              </a:rPr>
              <a:t>使用如下命令切换到 </a:t>
            </a:r>
            <a:r>
              <a:rPr lang="en" altLang="zh-CN" sz="2000" b="0" i="0" u="none" strike="noStrike" dirty="0" err="1">
                <a:solidFill>
                  <a:srgbClr val="4D4D4D"/>
                </a:solidFill>
                <a:effectLst/>
                <a:latin typeface="-apple-system"/>
              </a:rPr>
              <a:t>emmc</a:t>
            </a:r>
            <a:endParaRPr lang="en" altLang="zh-CN" sz="2000" b="0" i="0" u="none" strike="noStrike" dirty="0">
              <a:solidFill>
                <a:srgbClr val="4D4D4D"/>
              </a:solidFill>
              <a:effectLst/>
              <a:latin typeface="-apple-system"/>
            </a:endParaRPr>
          </a:p>
          <a:p>
            <a:pPr>
              <a:lnSpc>
                <a:spcPct val="150000"/>
              </a:lnSpc>
            </a:pPr>
            <a:endParaRPr lang="en" altLang="zh-CN" sz="2000" dirty="0">
              <a:solidFill>
                <a:srgbClr val="4D4D4D"/>
              </a:solidFill>
              <a:latin typeface="-apple-system"/>
            </a:endParaRPr>
          </a:p>
          <a:p>
            <a:pPr>
              <a:lnSpc>
                <a:spcPct val="150000"/>
              </a:lnSpc>
            </a:pPr>
            <a:endParaRPr lang="en" altLang="zh-CN" sz="2000" dirty="0">
              <a:solidFill>
                <a:srgbClr val="4D4D4D"/>
              </a:solidFill>
              <a:latin typeface="-apple-system"/>
            </a:endParaRPr>
          </a:p>
          <a:p>
            <a:pPr>
              <a:lnSpc>
                <a:spcPct val="150000"/>
              </a:lnSpc>
            </a:pPr>
            <a:endParaRPr lang="en" altLang="zh-CN" sz="2000" dirty="0">
              <a:solidFill>
                <a:srgbClr val="4D4D4D"/>
              </a:solidFill>
              <a:latin typeface="-apple-system"/>
            </a:endParaRPr>
          </a:p>
          <a:p>
            <a:pPr>
              <a:lnSpc>
                <a:spcPct val="150000"/>
              </a:lnSpc>
            </a:pPr>
            <a:r>
              <a:rPr lang="zh-CN" altLang="en-US" sz="2000" b="0" i="0" u="none" strike="noStrike" dirty="0">
                <a:solidFill>
                  <a:srgbClr val="4D4D4D"/>
                </a:solidFill>
                <a:effectLst/>
                <a:latin typeface="-apple-system"/>
              </a:rPr>
              <a:t>切换到</a:t>
            </a:r>
            <a:r>
              <a:rPr lang="en" altLang="zh-CN" sz="2000" b="0" i="0" u="none" strike="noStrike" dirty="0">
                <a:solidFill>
                  <a:srgbClr val="4D4D4D"/>
                </a:solidFill>
                <a:effectLst/>
                <a:latin typeface="-apple-system"/>
              </a:rPr>
              <a:t>mmc1</a:t>
            </a:r>
            <a:r>
              <a:rPr lang="zh-CN" altLang="en-US" sz="2000" b="0" i="0" u="none" strike="noStrike" dirty="0">
                <a:solidFill>
                  <a:srgbClr val="4D4D4D"/>
                </a:solidFill>
                <a:effectLst/>
                <a:latin typeface="-apple-system"/>
              </a:rPr>
              <a:t>的分区</a:t>
            </a:r>
            <a:r>
              <a:rPr lang="en-US" altLang="zh-CN" sz="2000" b="0" i="0" u="none" strike="noStrike" dirty="0">
                <a:solidFill>
                  <a:srgbClr val="4D4D4D"/>
                </a:solidFill>
                <a:effectLst/>
                <a:latin typeface="-apple-system"/>
              </a:rPr>
              <a:t>0</a:t>
            </a:r>
            <a:r>
              <a:rPr lang="zh-CN" altLang="en-US" sz="2000" b="0" i="0" u="none" strike="noStrike" dirty="0">
                <a:solidFill>
                  <a:srgbClr val="4D4D4D"/>
                </a:solidFill>
                <a:effectLst/>
                <a:latin typeface="-apple-system"/>
              </a:rPr>
              <a:t>，输入命令“</a:t>
            </a:r>
            <a:r>
              <a:rPr lang="en" altLang="zh-CN" sz="2000" b="0" i="0" u="none" strike="noStrike" dirty="0" err="1">
                <a:solidFill>
                  <a:srgbClr val="4D4D4D"/>
                </a:solidFill>
                <a:effectLst/>
                <a:latin typeface="-apple-system"/>
              </a:rPr>
              <a:t>mmcinfo</a:t>
            </a:r>
            <a:r>
              <a:rPr lang="en" altLang="zh-C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即可查看</a:t>
            </a:r>
            <a:r>
              <a:rPr lang="en" altLang="zh-CN" sz="2000" b="0" i="0" u="none" strike="noStrike" dirty="0" err="1">
                <a:solidFill>
                  <a:srgbClr val="4D4D4D"/>
                </a:solidFill>
                <a:effectLst/>
                <a:latin typeface="-apple-system"/>
              </a:rPr>
              <a:t>emmc</a:t>
            </a:r>
            <a:r>
              <a:rPr lang="zh-CN" altLang="en-US" sz="2000" b="0" i="0" u="none" strike="noStrike" dirty="0">
                <a:solidFill>
                  <a:srgbClr val="4D4D4D"/>
                </a:solidFill>
                <a:effectLst/>
                <a:latin typeface="-apple-system"/>
              </a:rPr>
              <a:t>的信息</a:t>
            </a:r>
            <a:endParaRPr lang="en-US" altLang="zh-CN" sz="2000" dirty="0">
              <a:solidFill>
                <a:srgbClr val="4D4D4D"/>
              </a:solidFill>
              <a:latin typeface="-apple-system"/>
            </a:endParaRPr>
          </a:p>
          <a:p>
            <a:pPr marL="0" indent="0">
              <a:lnSpc>
                <a:spcPct val="150000"/>
              </a:lnSpc>
              <a:buNone/>
            </a:pPr>
            <a:endParaRPr lang="en-US" altLang="zh-CN" sz="2000" dirty="0">
              <a:latin typeface="-apple-system"/>
            </a:endParaRPr>
          </a:p>
        </p:txBody>
      </p:sp>
      <p:pic>
        <p:nvPicPr>
          <p:cNvPr id="4" name="图片 3">
            <a:extLst>
              <a:ext uri="{FF2B5EF4-FFF2-40B4-BE49-F238E27FC236}">
                <a16:creationId xmlns:a16="http://schemas.microsoft.com/office/drawing/2014/main" id="{F0337D46-1781-4D4D-AF9C-5AA0F96B021F}"/>
              </a:ext>
            </a:extLst>
          </p:cNvPr>
          <p:cNvPicPr>
            <a:picLocks noChangeAspect="1"/>
          </p:cNvPicPr>
          <p:nvPr/>
        </p:nvPicPr>
        <p:blipFill>
          <a:blip r:embed="rId3"/>
          <a:stretch>
            <a:fillRect/>
          </a:stretch>
        </p:blipFill>
        <p:spPr>
          <a:xfrm>
            <a:off x="914400" y="2362200"/>
            <a:ext cx="3911600" cy="469900"/>
          </a:xfrm>
          <a:prstGeom prst="rect">
            <a:avLst/>
          </a:prstGeom>
        </p:spPr>
      </p:pic>
      <p:sp>
        <p:nvSpPr>
          <p:cNvPr id="9" name="文本框 8">
            <a:extLst>
              <a:ext uri="{FF2B5EF4-FFF2-40B4-BE49-F238E27FC236}">
                <a16:creationId xmlns:a16="http://schemas.microsoft.com/office/drawing/2014/main" id="{B3AC890D-F516-EE42-9ACB-A2B26154D21F}"/>
              </a:ext>
            </a:extLst>
          </p:cNvPr>
          <p:cNvSpPr txBox="1"/>
          <p:nvPr/>
        </p:nvSpPr>
        <p:spPr>
          <a:xfrm>
            <a:off x="914400" y="2971800"/>
            <a:ext cx="5887496" cy="646331"/>
          </a:xfrm>
          <a:prstGeom prst="rect">
            <a:avLst/>
          </a:prstGeom>
          <a:noFill/>
        </p:spPr>
        <p:txBody>
          <a:bodyPr wrap="square">
            <a:spAutoFit/>
          </a:bodyPr>
          <a:lstStyle/>
          <a:p>
            <a:r>
              <a:rPr lang="en" altLang="zh-CN" b="0" i="0" u="none" strike="noStrike" dirty="0">
                <a:solidFill>
                  <a:srgbClr val="4D4D4D"/>
                </a:solidFill>
                <a:effectLst/>
                <a:latin typeface="-apple-system"/>
              </a:rPr>
              <a:t>[dev]</a:t>
            </a:r>
            <a:r>
              <a:rPr lang="zh-CN" altLang="en-US" b="0" i="0" u="none" strike="noStrike" dirty="0">
                <a:solidFill>
                  <a:srgbClr val="4D4D4D"/>
                </a:solidFill>
                <a:effectLst/>
                <a:latin typeface="-apple-system"/>
              </a:rPr>
              <a:t>用来设置要切换的 </a:t>
            </a:r>
            <a:r>
              <a:rPr lang="en" altLang="zh-CN" b="0" i="0" u="none" strike="noStrike" dirty="0">
                <a:solidFill>
                  <a:srgbClr val="4D4D4D"/>
                </a:solidFill>
                <a:effectLst/>
                <a:latin typeface="-apple-system"/>
              </a:rPr>
              <a:t>MMC </a:t>
            </a:r>
            <a:r>
              <a:rPr lang="zh-CN" altLang="en-US" b="0" i="0" u="none" strike="noStrike" dirty="0">
                <a:solidFill>
                  <a:srgbClr val="4D4D4D"/>
                </a:solidFill>
                <a:effectLst/>
                <a:latin typeface="-apple-system"/>
              </a:rPr>
              <a:t>设备号， </a:t>
            </a:r>
            <a:r>
              <a:rPr lang="en-US" altLang="zh-CN" b="0" i="0" u="none" strike="noStrike" dirty="0">
                <a:solidFill>
                  <a:srgbClr val="4D4D4D"/>
                </a:solidFill>
                <a:effectLst/>
                <a:latin typeface="-apple-system"/>
              </a:rPr>
              <a:t>[</a:t>
            </a:r>
            <a:r>
              <a:rPr lang="en" altLang="zh-CN" b="0" i="0" u="none" strike="noStrike" dirty="0">
                <a:solidFill>
                  <a:srgbClr val="4D4D4D"/>
                </a:solidFill>
                <a:effectLst/>
                <a:latin typeface="-apple-system"/>
              </a:rPr>
              <a:t>part]</a:t>
            </a:r>
            <a:r>
              <a:rPr lang="zh-CN" altLang="en-US" b="0" i="0" u="none" strike="noStrike" dirty="0">
                <a:solidFill>
                  <a:srgbClr val="4D4D4D"/>
                </a:solidFill>
                <a:effectLst/>
                <a:latin typeface="-apple-system"/>
              </a:rPr>
              <a:t>是分区号。如果不写分区号的话默认为分区 </a:t>
            </a:r>
            <a:r>
              <a:rPr lang="en-US" altLang="zh-CN" b="0" i="0" u="none" strike="noStrike" dirty="0">
                <a:solidFill>
                  <a:srgbClr val="4D4D4D"/>
                </a:solidFill>
                <a:effectLst/>
                <a:latin typeface="-apple-system"/>
              </a:rPr>
              <a:t>0</a:t>
            </a:r>
            <a:endParaRPr lang="zh-CN" altLang="en-US" dirty="0"/>
          </a:p>
        </p:txBody>
      </p:sp>
      <p:pic>
        <p:nvPicPr>
          <p:cNvPr id="7" name="图片 6">
            <a:extLst>
              <a:ext uri="{FF2B5EF4-FFF2-40B4-BE49-F238E27FC236}">
                <a16:creationId xmlns:a16="http://schemas.microsoft.com/office/drawing/2014/main" id="{65902156-0C0A-5247-BDD6-28E0CE48F647}"/>
              </a:ext>
            </a:extLst>
          </p:cNvPr>
          <p:cNvPicPr>
            <a:picLocks noChangeAspect="1"/>
          </p:cNvPicPr>
          <p:nvPr/>
        </p:nvPicPr>
        <p:blipFill>
          <a:blip r:embed="rId4"/>
          <a:stretch>
            <a:fillRect/>
          </a:stretch>
        </p:blipFill>
        <p:spPr>
          <a:xfrm>
            <a:off x="914400" y="4491696"/>
            <a:ext cx="3568700" cy="1041400"/>
          </a:xfrm>
          <a:prstGeom prst="rect">
            <a:avLst/>
          </a:prstGeom>
        </p:spPr>
      </p:pic>
      <p:pic>
        <p:nvPicPr>
          <p:cNvPr id="20486" name="Picture 6">
            <a:extLst>
              <a:ext uri="{FF2B5EF4-FFF2-40B4-BE49-F238E27FC236}">
                <a16:creationId xmlns:a16="http://schemas.microsoft.com/office/drawing/2014/main" id="{4AA38B32-782C-5445-8776-D3E3B3A186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4787" y="3429837"/>
            <a:ext cx="3172012"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097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4. </a:t>
            </a:r>
            <a:r>
              <a:rPr lang="en" altLang="zh-CN" sz="2400" b="1" i="0" u="none" strike="noStrike" dirty="0">
                <a:solidFill>
                  <a:srgbClr val="4F4F4F"/>
                </a:solidFill>
                <a:effectLst/>
                <a:latin typeface="PingFang SC" panose="020B0400000000000000" pitchFamily="34" charset="-122"/>
                <a:ea typeface="PingFang SC" panose="020B0400000000000000" pitchFamily="34" charset="-122"/>
              </a:rPr>
              <a:t>EMMC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和 </a:t>
            </a:r>
            <a:r>
              <a:rPr lang="en" altLang="zh-CN" sz="2400" b="1" i="0" u="none" strike="noStrike" dirty="0">
                <a:solidFill>
                  <a:srgbClr val="4F4F4F"/>
                </a:solidFill>
                <a:effectLst/>
                <a:latin typeface="PingFang SC" panose="020B0400000000000000" pitchFamily="34" charset="-122"/>
                <a:ea typeface="PingFang SC" panose="020B0400000000000000" pitchFamily="34" charset="-122"/>
              </a:rPr>
              <a:t>SD </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卡操作命令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 altLang="zh-CN" sz="2400" b="0" i="0" u="none" strike="noStrike" dirty="0">
                <a:effectLst/>
                <a:latin typeface="-apple-system"/>
              </a:rPr>
              <a:t>mmc part </a:t>
            </a:r>
            <a:r>
              <a:rPr lang="zh-CN" altLang="en-US" sz="2400" b="0" i="0" u="none" strike="noStrike" dirty="0">
                <a:effectLst/>
                <a:latin typeface="-apple-system"/>
              </a:rPr>
              <a:t>命令，查看其分区</a:t>
            </a:r>
            <a:endParaRPr lang="en-US" altLang="zh-CN" sz="2400" b="0" i="0" u="none" strike="noStrike" dirty="0">
              <a:effectLst/>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dirty="0">
              <a:solidFill>
                <a:srgbClr val="4D4D4D"/>
              </a:solidFill>
              <a:latin typeface="-apple-system"/>
            </a:endParaRPr>
          </a:p>
          <a:p>
            <a:pPr>
              <a:lnSpc>
                <a:spcPct val="150000"/>
              </a:lnSpc>
            </a:pPr>
            <a:r>
              <a:rPr lang="zh-CN" altLang="en-US" sz="2000" b="0" i="0" u="none" strike="noStrike" dirty="0">
                <a:effectLst/>
                <a:latin typeface="-apple-system"/>
              </a:rPr>
              <a:t>可使用</a:t>
            </a:r>
            <a:r>
              <a:rPr lang="en" altLang="zh-CN" sz="2000" b="0" i="0" u="none" strike="noStrike" dirty="0">
                <a:effectLst/>
                <a:latin typeface="-apple-system"/>
              </a:rPr>
              <a:t>read</a:t>
            </a:r>
            <a:r>
              <a:rPr lang="zh-CN" altLang="en" sz="2000" b="0" i="0" u="none" strike="noStrike" dirty="0">
                <a:effectLst/>
                <a:latin typeface="-apple-system"/>
              </a:rPr>
              <a:t>、</a:t>
            </a:r>
            <a:r>
              <a:rPr lang="en" altLang="zh-CN" sz="2000" b="0" i="0" u="none" strike="noStrike" dirty="0">
                <a:effectLst/>
                <a:latin typeface="-apple-system"/>
              </a:rPr>
              <a:t>write</a:t>
            </a:r>
            <a:r>
              <a:rPr lang="zh-CN" altLang="en" sz="2000" b="0" i="0" u="none" strike="noStrike" dirty="0">
                <a:effectLst/>
                <a:latin typeface="-apple-system"/>
              </a:rPr>
              <a:t>、</a:t>
            </a:r>
            <a:r>
              <a:rPr lang="en" altLang="zh-CN" sz="2000" b="0" i="0" u="none" strike="noStrike" dirty="0">
                <a:effectLst/>
                <a:latin typeface="-apple-system"/>
              </a:rPr>
              <a:t>erase</a:t>
            </a:r>
            <a:r>
              <a:rPr lang="zh-CN" altLang="en-US" sz="2000" b="0" i="0" u="none" strike="noStrike" dirty="0">
                <a:effectLst/>
                <a:latin typeface="-apple-system"/>
              </a:rPr>
              <a:t>指令对 </a:t>
            </a:r>
            <a:r>
              <a:rPr lang="en" altLang="zh-CN" sz="2000" b="0" i="0" u="none" strike="noStrike" dirty="0">
                <a:effectLst/>
                <a:latin typeface="-apple-system"/>
              </a:rPr>
              <a:t>mmc </a:t>
            </a:r>
            <a:r>
              <a:rPr lang="zh-CN" altLang="en-US" sz="2000" b="0" i="0" u="none" strike="noStrike" dirty="0">
                <a:effectLst/>
                <a:latin typeface="-apple-system"/>
              </a:rPr>
              <a:t>存储介质以 </a:t>
            </a:r>
            <a:r>
              <a:rPr lang="en" altLang="zh-CN" sz="2000" b="0" i="0" u="none" strike="noStrike" dirty="0">
                <a:effectLst/>
                <a:latin typeface="-apple-system"/>
              </a:rPr>
              <a:t>block </a:t>
            </a:r>
            <a:r>
              <a:rPr lang="zh-CN" altLang="en-US" sz="2000" b="0" i="0" u="none" strike="noStrike" dirty="0">
                <a:effectLst/>
                <a:latin typeface="-apple-system"/>
              </a:rPr>
              <a:t>为操作单位进行读、写、擦除操作</a:t>
            </a:r>
            <a:endParaRPr lang="en-US" altLang="zh-CN" sz="2000" dirty="0">
              <a:solidFill>
                <a:srgbClr val="4D4D4D"/>
              </a:solidFill>
              <a:latin typeface="-apple-system"/>
            </a:endParaRPr>
          </a:p>
          <a:p>
            <a:pPr marL="0" indent="0">
              <a:lnSpc>
                <a:spcPct val="150000"/>
              </a:lnSpc>
              <a:buNone/>
            </a:pPr>
            <a:endParaRPr lang="en-US" altLang="zh-CN" sz="2000" dirty="0">
              <a:latin typeface="-apple-system"/>
            </a:endParaRPr>
          </a:p>
        </p:txBody>
      </p:sp>
      <p:pic>
        <p:nvPicPr>
          <p:cNvPr id="22530" name="Picture 2">
            <a:extLst>
              <a:ext uri="{FF2B5EF4-FFF2-40B4-BE49-F238E27FC236}">
                <a16:creationId xmlns:a16="http://schemas.microsoft.com/office/drawing/2014/main" id="{584408E6-24FD-5647-9832-6C08630D7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0" y="2485711"/>
            <a:ext cx="694690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C3587811-10E7-6649-9570-36C903986FE4}"/>
              </a:ext>
            </a:extLst>
          </p:cNvPr>
          <p:cNvPicPr>
            <a:picLocks noChangeAspect="1"/>
          </p:cNvPicPr>
          <p:nvPr/>
        </p:nvPicPr>
        <p:blipFill>
          <a:blip r:embed="rId4"/>
          <a:stretch>
            <a:fillRect/>
          </a:stretch>
        </p:blipFill>
        <p:spPr>
          <a:xfrm>
            <a:off x="793750" y="5334000"/>
            <a:ext cx="4864100" cy="1054100"/>
          </a:xfrm>
          <a:prstGeom prst="rect">
            <a:avLst/>
          </a:prstGeom>
        </p:spPr>
      </p:pic>
    </p:spTree>
    <p:extLst>
      <p:ext uri="{BB962C8B-B14F-4D97-AF65-F5344CB8AC3E}">
        <p14:creationId xmlns:p14="http://schemas.microsoft.com/office/powerpoint/2010/main" val="4284831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272A8A-7902-EF4E-BA81-14C477D412E9}"/>
              </a:ext>
            </a:extLst>
          </p:cNvPr>
          <p:cNvSpPr>
            <a:spLocks noGrp="1"/>
          </p:cNvSpPr>
          <p:nvPr>
            <p:ph type="title"/>
          </p:nvPr>
        </p:nvSpPr>
        <p:spPr/>
        <p:txBody>
          <a:bodyPr/>
          <a:lstStyle/>
          <a:p>
            <a:r>
              <a:rPr kumimoji="1" lang="en-US" altLang="zh-CN" dirty="0"/>
              <a:t>e</a:t>
            </a:r>
            <a:r>
              <a:rPr kumimoji="1" lang="en" altLang="zh-CN" dirty="0"/>
              <a:t>MMC</a:t>
            </a:r>
            <a:r>
              <a:rPr kumimoji="1" lang="zh-CN" altLang="en-US" dirty="0"/>
              <a:t>与</a:t>
            </a:r>
            <a:r>
              <a:rPr kumimoji="1" lang="en" altLang="zh-CN" dirty="0"/>
              <a:t>SD</a:t>
            </a:r>
            <a:r>
              <a:rPr kumimoji="1" lang="zh-CN" altLang="en-US" dirty="0"/>
              <a:t>卡的异同</a:t>
            </a:r>
          </a:p>
        </p:txBody>
      </p:sp>
      <p:sp>
        <p:nvSpPr>
          <p:cNvPr id="3" name="内容占位符 2">
            <a:extLst>
              <a:ext uri="{FF2B5EF4-FFF2-40B4-BE49-F238E27FC236}">
                <a16:creationId xmlns:a16="http://schemas.microsoft.com/office/drawing/2014/main" id="{0FEF01DC-E8DB-8B4D-93B0-9384028D8CBD}"/>
              </a:ext>
            </a:extLst>
          </p:cNvPr>
          <p:cNvSpPr>
            <a:spLocks noGrp="1"/>
          </p:cNvSpPr>
          <p:nvPr>
            <p:ph idx="1"/>
          </p:nvPr>
        </p:nvSpPr>
        <p:spPr/>
        <p:txBody>
          <a:bodyPr>
            <a:normAutofit fontScale="92500" lnSpcReduction="10000"/>
          </a:bodyPr>
          <a:lstStyle/>
          <a:p>
            <a:pPr marL="0" indent="0">
              <a:lnSpc>
                <a:spcPct val="150000"/>
              </a:lnSpc>
              <a:buNone/>
            </a:pPr>
            <a:r>
              <a:rPr kumimoji="1" lang="zh-CN" altLang="en-US" sz="1800" b="1" dirty="0"/>
              <a:t>物理尺寸和接口：</a:t>
            </a:r>
          </a:p>
          <a:p>
            <a:pPr>
              <a:lnSpc>
                <a:spcPct val="150000"/>
              </a:lnSpc>
            </a:pPr>
            <a:r>
              <a:rPr kumimoji="1" lang="en" altLang="zh-CN" sz="1800" dirty="0" err="1"/>
              <a:t>eMMC:eMMC</a:t>
            </a:r>
            <a:r>
              <a:rPr kumimoji="1" lang="zh-CN" altLang="en-US" sz="1800" dirty="0"/>
              <a:t>是一种嵌入式存储解決方案，通常采用</a:t>
            </a:r>
            <a:r>
              <a:rPr kumimoji="1" lang="en" altLang="zh-CN" sz="1800" dirty="0"/>
              <a:t>BGA</a:t>
            </a:r>
            <a:r>
              <a:rPr kumimoji="1" lang="zh-CN" altLang="en" sz="1800" dirty="0"/>
              <a:t>（</a:t>
            </a:r>
            <a:r>
              <a:rPr kumimoji="1" lang="en" altLang="zh-CN" sz="1800" dirty="0"/>
              <a:t>Ball Grid Array</a:t>
            </a:r>
            <a:r>
              <a:rPr kumimoji="1" lang="zh-CN" altLang="en" sz="1800" dirty="0"/>
              <a:t>）</a:t>
            </a:r>
            <a:r>
              <a:rPr kumimoji="1" lang="zh-CN" altLang="en-US" sz="1800" dirty="0"/>
              <a:t>封装，焊接在电路板上。它没有标准的物理尺寸，而是以芯片的形式存在。</a:t>
            </a:r>
          </a:p>
          <a:p>
            <a:pPr>
              <a:lnSpc>
                <a:spcPct val="150000"/>
              </a:lnSpc>
            </a:pPr>
            <a:r>
              <a:rPr kumimoji="1" lang="zh-CN" altLang="en-US" sz="1800" dirty="0"/>
              <a:t> </a:t>
            </a:r>
            <a:r>
              <a:rPr kumimoji="1" lang="en" altLang="zh-CN" sz="1800" dirty="0"/>
              <a:t>SD</a:t>
            </a:r>
            <a:r>
              <a:rPr kumimoji="1" lang="zh-CN" altLang="en-US" sz="1800" dirty="0"/>
              <a:t>卡：</a:t>
            </a:r>
            <a:r>
              <a:rPr kumimoji="1" lang="en" altLang="zh-CN" sz="1800" dirty="0"/>
              <a:t>SD</a:t>
            </a:r>
            <a:r>
              <a:rPr kumimoji="1" lang="zh-CN" altLang="en-US" sz="1800" dirty="0"/>
              <a:t>卡是一种可插拔存储介质，具有标准的物理尺寸和接口，如标准</a:t>
            </a:r>
            <a:r>
              <a:rPr kumimoji="1" lang="en" altLang="zh-CN" sz="1800" dirty="0"/>
              <a:t>SD</a:t>
            </a:r>
            <a:r>
              <a:rPr kumimoji="1" lang="zh-CN" altLang="en-US" sz="1800" dirty="0"/>
              <a:t>卡、</a:t>
            </a:r>
            <a:r>
              <a:rPr kumimoji="1" lang="en" altLang="zh-CN" sz="1800" dirty="0"/>
              <a:t>microSD</a:t>
            </a:r>
            <a:r>
              <a:rPr kumimoji="1" lang="zh-CN" altLang="en-US" sz="1800" dirty="0"/>
              <a:t>卡等。</a:t>
            </a:r>
            <a:r>
              <a:rPr kumimoji="1" lang="en" altLang="zh-CN" sz="1800" dirty="0"/>
              <a:t>SD</a:t>
            </a:r>
            <a:r>
              <a:rPr kumimoji="1" lang="zh-CN" altLang="en-US" sz="1800" dirty="0"/>
              <a:t>卡可以插入和拔出支持相应接口的设备。</a:t>
            </a:r>
          </a:p>
          <a:p>
            <a:pPr marL="0" indent="0">
              <a:lnSpc>
                <a:spcPct val="150000"/>
              </a:lnSpc>
              <a:buNone/>
            </a:pPr>
            <a:r>
              <a:rPr kumimoji="1" lang="zh-CN" altLang="en-US" sz="1800" b="1" dirty="0"/>
              <a:t>性能：</a:t>
            </a:r>
          </a:p>
          <a:p>
            <a:pPr>
              <a:lnSpc>
                <a:spcPct val="150000"/>
              </a:lnSpc>
            </a:pPr>
            <a:r>
              <a:rPr kumimoji="1" lang="zh-CN" altLang="en-US" sz="1800" dirty="0"/>
              <a:t>读取速度：一般而言，</a:t>
            </a:r>
            <a:r>
              <a:rPr kumimoji="1" lang="en" altLang="zh-CN" sz="1800" dirty="0"/>
              <a:t>eMMC</a:t>
            </a:r>
            <a:r>
              <a:rPr kumimoji="1" lang="zh-CN" altLang="en-US" sz="1800" dirty="0"/>
              <a:t>的读取速度相对于</a:t>
            </a:r>
            <a:r>
              <a:rPr kumimoji="1" lang="en" altLang="zh-CN" sz="1800" dirty="0"/>
              <a:t>SD</a:t>
            </a:r>
            <a:r>
              <a:rPr kumimoji="1" lang="zh-CN" altLang="en-US" sz="1800" dirty="0"/>
              <a:t>卡更快。</a:t>
            </a:r>
            <a:r>
              <a:rPr kumimoji="1" lang="en" altLang="zh-CN" sz="1800" dirty="0" err="1"/>
              <a:t>eMIMC</a:t>
            </a:r>
            <a:r>
              <a:rPr kumimoji="1" lang="zh-CN" altLang="en-US" sz="1800" dirty="0"/>
              <a:t>采用了更快的接口和协议，例如高速的</a:t>
            </a:r>
            <a:r>
              <a:rPr kumimoji="1" lang="en" altLang="zh-CN" sz="1800" dirty="0"/>
              <a:t>MMC</a:t>
            </a:r>
            <a:r>
              <a:rPr kumimoji="1" lang="zh-CN" altLang="en" sz="1800" dirty="0"/>
              <a:t>（</a:t>
            </a:r>
            <a:r>
              <a:rPr kumimoji="1" lang="en" altLang="zh-CN" sz="1800" dirty="0" err="1"/>
              <a:t>MultiMediaCard</a:t>
            </a:r>
            <a:r>
              <a:rPr kumimoji="1" lang="zh-CN" altLang="en" sz="1800" dirty="0"/>
              <a:t>）</a:t>
            </a:r>
            <a:r>
              <a:rPr kumimoji="1" lang="zh-CN" altLang="en-US" sz="1800" dirty="0"/>
              <a:t>协议或</a:t>
            </a:r>
            <a:r>
              <a:rPr kumimoji="1" lang="en" altLang="zh-CN" sz="1800" dirty="0"/>
              <a:t>eMMC5.1/5.2</a:t>
            </a:r>
            <a:r>
              <a:rPr kumimoji="1" lang="zh-CN" altLang="en-US" sz="1800" dirty="0"/>
              <a:t>标准，从而实现更快的数据传输。</a:t>
            </a:r>
          </a:p>
          <a:p>
            <a:pPr>
              <a:lnSpc>
                <a:spcPct val="150000"/>
              </a:lnSpc>
            </a:pPr>
            <a:r>
              <a:rPr kumimoji="1" lang="zh-CN" altLang="en-US" sz="1800" dirty="0"/>
              <a:t>写入速度：</a:t>
            </a:r>
            <a:r>
              <a:rPr kumimoji="1" lang="en" altLang="zh-CN" sz="1800" dirty="0"/>
              <a:t>eMMC</a:t>
            </a:r>
            <a:r>
              <a:rPr kumimoji="1" lang="zh-CN" altLang="en-US" sz="1800" dirty="0"/>
              <a:t>的写入速度通常也比</a:t>
            </a:r>
            <a:r>
              <a:rPr kumimoji="1" lang="en" altLang="zh-CN" sz="1800" dirty="0"/>
              <a:t>SD</a:t>
            </a:r>
            <a:r>
              <a:rPr kumimoji="1" lang="zh-CN" altLang="en-US" sz="1800" dirty="0"/>
              <a:t>卡快。</a:t>
            </a:r>
            <a:r>
              <a:rPr kumimoji="1" lang="en" altLang="zh-CN" sz="1800" dirty="0" err="1"/>
              <a:t>eMIMC</a:t>
            </a:r>
            <a:r>
              <a:rPr kumimoji="1" lang="zh-CN" altLang="en-US" sz="1800" dirty="0"/>
              <a:t>内置了更高级的控制器和缓存机制，可以更高效地处理写入操作。</a:t>
            </a:r>
          </a:p>
        </p:txBody>
      </p:sp>
      <p:sp>
        <p:nvSpPr>
          <p:cNvPr id="4" name="页脚占位符 3">
            <a:extLst>
              <a:ext uri="{FF2B5EF4-FFF2-40B4-BE49-F238E27FC236}">
                <a16:creationId xmlns:a16="http://schemas.microsoft.com/office/drawing/2014/main" id="{F4E8A245-57BD-2045-870D-42CB52753D59}"/>
              </a:ext>
            </a:extLst>
          </p:cNvPr>
          <p:cNvSpPr>
            <a:spLocks noGrp="1"/>
          </p:cNvSpPr>
          <p:nvPr>
            <p:ph type="ftr" sz="quarter" idx="11"/>
          </p:nvPr>
        </p:nvSpPr>
        <p:spPr/>
        <p:txBody>
          <a:bodyPr/>
          <a:lstStyle/>
          <a:p>
            <a:r>
              <a:rPr lang="en-JM"/>
              <a:t>PUT THE NAME OF YOUR COMPANY HERE</a:t>
            </a:r>
            <a:endParaRPr lang="en-JM" dirty="0"/>
          </a:p>
        </p:txBody>
      </p:sp>
    </p:spTree>
    <p:extLst>
      <p:ext uri="{BB962C8B-B14F-4D97-AF65-F5344CB8AC3E}">
        <p14:creationId xmlns:p14="http://schemas.microsoft.com/office/powerpoint/2010/main" val="29007035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272A8A-7902-EF4E-BA81-14C477D412E9}"/>
              </a:ext>
            </a:extLst>
          </p:cNvPr>
          <p:cNvSpPr>
            <a:spLocks noGrp="1"/>
          </p:cNvSpPr>
          <p:nvPr>
            <p:ph type="title"/>
          </p:nvPr>
        </p:nvSpPr>
        <p:spPr/>
        <p:txBody>
          <a:bodyPr/>
          <a:lstStyle/>
          <a:p>
            <a:r>
              <a:rPr kumimoji="1" lang="en" altLang="zh-CN" dirty="0"/>
              <a:t>eMMC</a:t>
            </a:r>
            <a:r>
              <a:rPr kumimoji="1" lang="zh-CN" altLang="en-US" dirty="0"/>
              <a:t>与</a:t>
            </a:r>
            <a:r>
              <a:rPr kumimoji="1" lang="en" altLang="zh-CN" dirty="0"/>
              <a:t>SD</a:t>
            </a:r>
            <a:r>
              <a:rPr kumimoji="1" lang="zh-CN" altLang="en-US" dirty="0"/>
              <a:t>卡的异同</a:t>
            </a:r>
          </a:p>
        </p:txBody>
      </p:sp>
      <p:sp>
        <p:nvSpPr>
          <p:cNvPr id="3" name="内容占位符 2">
            <a:extLst>
              <a:ext uri="{FF2B5EF4-FFF2-40B4-BE49-F238E27FC236}">
                <a16:creationId xmlns:a16="http://schemas.microsoft.com/office/drawing/2014/main" id="{0FEF01DC-E8DB-8B4D-93B0-9384028D8CBD}"/>
              </a:ext>
            </a:extLst>
          </p:cNvPr>
          <p:cNvSpPr>
            <a:spLocks noGrp="1"/>
          </p:cNvSpPr>
          <p:nvPr>
            <p:ph idx="1"/>
          </p:nvPr>
        </p:nvSpPr>
        <p:spPr/>
        <p:txBody>
          <a:bodyPr>
            <a:normAutofit fontScale="92500" lnSpcReduction="20000"/>
          </a:bodyPr>
          <a:lstStyle/>
          <a:p>
            <a:pPr marL="0" indent="0">
              <a:lnSpc>
                <a:spcPct val="150000"/>
              </a:lnSpc>
              <a:buNone/>
            </a:pPr>
            <a:r>
              <a:rPr kumimoji="1" lang="zh-CN" altLang="en-US" sz="1800" b="1" dirty="0"/>
              <a:t>容量选择：</a:t>
            </a:r>
          </a:p>
          <a:p>
            <a:pPr>
              <a:lnSpc>
                <a:spcPct val="150000"/>
              </a:lnSpc>
            </a:pPr>
            <a:r>
              <a:rPr kumimoji="1" lang="en" altLang="zh-CN" sz="1800" dirty="0"/>
              <a:t>eMMC</a:t>
            </a:r>
            <a:r>
              <a:rPr kumimoji="1" lang="zh-CN" altLang="en" sz="1800" dirty="0"/>
              <a:t>：</a:t>
            </a:r>
            <a:r>
              <a:rPr kumimoji="1" lang="en" altLang="zh-CN" sz="1800" dirty="0"/>
              <a:t>eMMC</a:t>
            </a:r>
            <a:r>
              <a:rPr kumimoji="1" lang="zh-CN" altLang="en-US" sz="1800" dirty="0"/>
              <a:t>的容量通常较低，一般在几</a:t>
            </a:r>
            <a:r>
              <a:rPr kumimoji="1" lang="en" altLang="zh-CN" sz="1800" dirty="0"/>
              <a:t>GB</a:t>
            </a:r>
            <a:r>
              <a:rPr kumimoji="1" lang="zh-CN" altLang="en-US" sz="1800" dirty="0"/>
              <a:t>到几十</a:t>
            </a:r>
            <a:r>
              <a:rPr kumimoji="1" lang="en" altLang="zh-CN" sz="1800" dirty="0"/>
              <a:t>GB</a:t>
            </a:r>
            <a:r>
              <a:rPr kumimoji="1" lang="zh-CN" altLang="en-US" sz="1800" dirty="0"/>
              <a:t>之间。</a:t>
            </a:r>
          </a:p>
          <a:p>
            <a:pPr>
              <a:lnSpc>
                <a:spcPct val="150000"/>
              </a:lnSpc>
            </a:pPr>
            <a:r>
              <a:rPr kumimoji="1" lang="en" altLang="zh-CN" sz="1800" dirty="0"/>
              <a:t>SD</a:t>
            </a:r>
            <a:r>
              <a:rPr kumimoji="1" lang="zh-CN" altLang="en-US" sz="1800" dirty="0"/>
              <a:t>卡：</a:t>
            </a:r>
            <a:r>
              <a:rPr kumimoji="1" lang="en" altLang="zh-CN" sz="1800" dirty="0"/>
              <a:t>SD</a:t>
            </a:r>
            <a:r>
              <a:rPr kumimoji="1" lang="zh-CN" altLang="en-US" sz="1800" dirty="0"/>
              <a:t>卡提供了更广泛的容量选择范围，从几</a:t>
            </a:r>
            <a:r>
              <a:rPr kumimoji="1" lang="en" altLang="zh-CN" sz="1800" dirty="0"/>
              <a:t>GB</a:t>
            </a:r>
            <a:r>
              <a:rPr kumimoji="1" lang="zh-CN" altLang="en-US" sz="1800" dirty="0"/>
              <a:t>到数</a:t>
            </a:r>
            <a:r>
              <a:rPr kumimoji="1" lang="en" altLang="zh-CN" sz="1800" dirty="0"/>
              <a:t>TB</a:t>
            </a:r>
            <a:r>
              <a:rPr kumimoji="1" lang="zh-CN" altLang="en-US" sz="1800" dirty="0"/>
              <a:t>不等。</a:t>
            </a:r>
          </a:p>
          <a:p>
            <a:pPr marL="0" indent="0">
              <a:lnSpc>
                <a:spcPct val="150000"/>
              </a:lnSpc>
              <a:buNone/>
            </a:pPr>
            <a:r>
              <a:rPr kumimoji="1" lang="zh-CN" altLang="en-US" sz="1800" b="1" dirty="0"/>
              <a:t>兼容性：</a:t>
            </a:r>
          </a:p>
          <a:p>
            <a:pPr>
              <a:lnSpc>
                <a:spcPct val="150000"/>
              </a:lnSpc>
            </a:pPr>
            <a:r>
              <a:rPr kumimoji="1" lang="en" altLang="zh-CN" sz="1800" dirty="0" err="1"/>
              <a:t>eMMC:eMMC</a:t>
            </a:r>
            <a:r>
              <a:rPr kumimoji="1" lang="zh-CN" altLang="en-US" sz="1800" dirty="0"/>
              <a:t>是一种通用存储标准，被广泛支持和使用。几乎所有支持相应接口的设备都可以与其兼容。</a:t>
            </a:r>
          </a:p>
          <a:p>
            <a:pPr>
              <a:lnSpc>
                <a:spcPct val="150000"/>
              </a:lnSpc>
            </a:pPr>
            <a:r>
              <a:rPr kumimoji="1" lang="en" altLang="zh-CN" sz="1800" dirty="0"/>
              <a:t>SD</a:t>
            </a:r>
            <a:r>
              <a:rPr kumimoji="1" lang="zh-CN" altLang="en-US" sz="1800" dirty="0"/>
              <a:t>卡：</a:t>
            </a:r>
            <a:r>
              <a:rPr kumimoji="1" lang="en" altLang="zh-CN" sz="1800" dirty="0"/>
              <a:t>SD</a:t>
            </a:r>
            <a:r>
              <a:rPr kumimoji="1" lang="zh-CN" altLang="en-US" sz="1800" dirty="0"/>
              <a:t>卡也是一种通用存储标准，被广泛支持和使用。它在各种消费电子设备中具有广泛的兼容性，如相机、音频播放器等。</a:t>
            </a:r>
          </a:p>
          <a:p>
            <a:pPr marL="0" indent="0">
              <a:lnSpc>
                <a:spcPct val="150000"/>
              </a:lnSpc>
              <a:buNone/>
            </a:pPr>
            <a:r>
              <a:rPr kumimoji="1" lang="zh-CN" altLang="en-US" sz="1800" b="1" dirty="0"/>
              <a:t>应用领域：</a:t>
            </a:r>
          </a:p>
          <a:p>
            <a:pPr>
              <a:lnSpc>
                <a:spcPct val="150000"/>
              </a:lnSpc>
            </a:pPr>
            <a:r>
              <a:rPr kumimoji="1" lang="en" altLang="zh-CN" sz="1800" dirty="0"/>
              <a:t>eMMC</a:t>
            </a:r>
            <a:r>
              <a:rPr kumimoji="1" lang="zh-CN" altLang="en" sz="1800" dirty="0"/>
              <a:t>：</a:t>
            </a:r>
            <a:r>
              <a:rPr kumimoji="1" lang="en" altLang="zh-CN" sz="1800" dirty="0"/>
              <a:t>eMMC</a:t>
            </a:r>
            <a:r>
              <a:rPr kumimoji="1" lang="zh-CN" altLang="en-US" sz="1800" dirty="0"/>
              <a:t>主要用于嵌入式系统，例如智能手机、平板电脑、嵌入式计算设备等。</a:t>
            </a:r>
          </a:p>
          <a:p>
            <a:pPr>
              <a:lnSpc>
                <a:spcPct val="150000"/>
              </a:lnSpc>
            </a:pPr>
            <a:r>
              <a:rPr kumimoji="1" lang="en" altLang="zh-CN" sz="1800" dirty="0"/>
              <a:t>SD</a:t>
            </a:r>
            <a:r>
              <a:rPr kumimoji="1" lang="zh-CN" altLang="en-US" sz="1800" dirty="0"/>
              <a:t>卡：</a:t>
            </a:r>
            <a:r>
              <a:rPr kumimoji="1" lang="en" altLang="zh-CN" sz="1800" dirty="0"/>
              <a:t>SD</a:t>
            </a:r>
            <a:r>
              <a:rPr kumimoji="1" lang="zh-CN" altLang="en-US" sz="1800" dirty="0"/>
              <a:t>卡广泛应用于各种消费电子设备，包括相机、音频播放器、导航仪等。</a:t>
            </a:r>
          </a:p>
        </p:txBody>
      </p:sp>
      <p:sp>
        <p:nvSpPr>
          <p:cNvPr id="4" name="页脚占位符 3">
            <a:extLst>
              <a:ext uri="{FF2B5EF4-FFF2-40B4-BE49-F238E27FC236}">
                <a16:creationId xmlns:a16="http://schemas.microsoft.com/office/drawing/2014/main" id="{F4E8A245-57BD-2045-870D-42CB52753D59}"/>
              </a:ext>
            </a:extLst>
          </p:cNvPr>
          <p:cNvSpPr>
            <a:spLocks noGrp="1"/>
          </p:cNvSpPr>
          <p:nvPr>
            <p:ph type="ftr" sz="quarter" idx="11"/>
          </p:nvPr>
        </p:nvSpPr>
        <p:spPr/>
        <p:txBody>
          <a:bodyPr/>
          <a:lstStyle/>
          <a:p>
            <a:r>
              <a:rPr lang="en-JM"/>
              <a:t>PUT THE NAME OF YOUR COMPANY HERE</a:t>
            </a:r>
            <a:endParaRPr lang="en-JM" dirty="0"/>
          </a:p>
        </p:txBody>
      </p:sp>
    </p:spTree>
    <p:extLst>
      <p:ext uri="{BB962C8B-B14F-4D97-AF65-F5344CB8AC3E}">
        <p14:creationId xmlns:p14="http://schemas.microsoft.com/office/powerpoint/2010/main" val="3676886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5.</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 文件系统操作命令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zh-CN" altLang="en-US" sz="2800" b="0" i="0" u="none" strike="noStrike" dirty="0">
                <a:solidFill>
                  <a:srgbClr val="4D4D4D"/>
                </a:solidFill>
                <a:effectLst/>
                <a:latin typeface="-apple-system"/>
              </a:rPr>
              <a:t>在 </a:t>
            </a:r>
            <a:r>
              <a:rPr lang="en" altLang="zh-CN" sz="2800" b="0" i="0" u="none" strike="noStrike" dirty="0" err="1">
                <a:solidFill>
                  <a:srgbClr val="4D4D4D"/>
                </a:solidFill>
                <a:effectLst/>
                <a:latin typeface="-apple-system"/>
              </a:rPr>
              <a:t>uboot</a:t>
            </a:r>
            <a:r>
              <a:rPr lang="en" altLang="zh-CN" sz="2800" b="0" i="0" u="none" strike="noStrike" dirty="0">
                <a:solidFill>
                  <a:srgbClr val="4D4D4D"/>
                </a:solidFill>
                <a:effectLst/>
                <a:latin typeface="-apple-system"/>
              </a:rPr>
              <a:t> </a:t>
            </a:r>
            <a:r>
              <a:rPr lang="zh-CN" altLang="en-US" sz="2800" b="0" i="0" u="none" strike="noStrike" dirty="0">
                <a:solidFill>
                  <a:srgbClr val="4D4D4D"/>
                </a:solidFill>
                <a:effectLst/>
                <a:latin typeface="-apple-system"/>
              </a:rPr>
              <a:t>中对 </a:t>
            </a:r>
            <a:r>
              <a:rPr lang="en" altLang="zh-CN" sz="2800" b="0" i="0" u="none" strike="noStrike" dirty="0">
                <a:solidFill>
                  <a:srgbClr val="4D4D4D"/>
                </a:solidFill>
                <a:effectLst/>
                <a:latin typeface="-apple-system"/>
              </a:rPr>
              <a:t>SD </a:t>
            </a:r>
            <a:r>
              <a:rPr lang="zh-CN" altLang="en-US" sz="2800" b="0" i="0" u="none" strike="noStrike" dirty="0">
                <a:solidFill>
                  <a:srgbClr val="4D4D4D"/>
                </a:solidFill>
                <a:effectLst/>
                <a:latin typeface="-apple-system"/>
              </a:rPr>
              <a:t>卡或者 </a:t>
            </a:r>
            <a:r>
              <a:rPr lang="en" altLang="zh-CN" sz="2800" b="0" i="0" u="none" strike="noStrike" dirty="0">
                <a:solidFill>
                  <a:srgbClr val="4D4D4D"/>
                </a:solidFill>
                <a:effectLst/>
                <a:latin typeface="-apple-system"/>
              </a:rPr>
              <a:t>EMMC </a:t>
            </a:r>
            <a:r>
              <a:rPr lang="zh-CN" altLang="en-US" sz="2800" b="0" i="0" u="none" strike="noStrike" dirty="0">
                <a:solidFill>
                  <a:srgbClr val="4D4D4D"/>
                </a:solidFill>
                <a:effectLst/>
                <a:latin typeface="-apple-system"/>
              </a:rPr>
              <a:t>中存储的文件进行操作</a:t>
            </a:r>
            <a:endParaRPr lang="en-US" altLang="zh-CN" sz="2800" b="0" i="0" u="none" strike="noStrike" dirty="0">
              <a:solidFill>
                <a:srgbClr val="4D4D4D"/>
              </a:solidFill>
              <a:effectLst/>
              <a:latin typeface="-apple-system"/>
            </a:endParaRPr>
          </a:p>
          <a:p>
            <a:pPr>
              <a:lnSpc>
                <a:spcPct val="150000"/>
              </a:lnSpc>
            </a:pPr>
            <a:r>
              <a:rPr lang="zh-CN" altLang="en-US" sz="2800" b="0" i="0" u="none" strike="noStrike" dirty="0">
                <a:solidFill>
                  <a:srgbClr val="4D4D4D"/>
                </a:solidFill>
                <a:effectLst/>
                <a:latin typeface="-apple-system"/>
              </a:rPr>
              <a:t>文件操作相关的命令有</a:t>
            </a:r>
            <a:r>
              <a:rPr lang="zh-CN" altLang="en-US" sz="2800" b="1" i="0" u="none" strike="noStrike" dirty="0">
                <a:solidFill>
                  <a:schemeClr val="tx1"/>
                </a:solidFill>
                <a:effectLst/>
                <a:latin typeface="-apple-system"/>
              </a:rPr>
              <a:t>： </a:t>
            </a:r>
            <a:r>
              <a:rPr lang="en" altLang="zh-CN" sz="2800" b="1" i="0" u="none" strike="noStrike" dirty="0" err="1">
                <a:solidFill>
                  <a:schemeClr val="accent1"/>
                </a:solidFill>
                <a:effectLst/>
                <a:latin typeface="-apple-system"/>
              </a:rPr>
              <a:t>fatinfo</a:t>
            </a:r>
            <a:r>
              <a:rPr lang="zh-CN" altLang="en" sz="2800" b="1" i="0" u="none" strike="noStrike" dirty="0">
                <a:solidFill>
                  <a:schemeClr val="accent1"/>
                </a:solidFill>
                <a:effectLst/>
                <a:latin typeface="-apple-system"/>
              </a:rPr>
              <a:t>、 </a:t>
            </a:r>
            <a:r>
              <a:rPr lang="en" altLang="zh-CN" sz="2800" b="1" i="0" u="none" strike="noStrike" dirty="0" err="1">
                <a:solidFill>
                  <a:schemeClr val="accent1"/>
                </a:solidFill>
                <a:effectLst/>
                <a:latin typeface="-apple-system"/>
              </a:rPr>
              <a:t>fatls</a:t>
            </a:r>
            <a:r>
              <a:rPr lang="zh-CN" altLang="en" sz="2800" b="1" i="0" u="none" strike="noStrike" dirty="0">
                <a:solidFill>
                  <a:schemeClr val="accent1"/>
                </a:solidFill>
                <a:effectLst/>
                <a:latin typeface="-apple-system"/>
              </a:rPr>
              <a:t>、 </a:t>
            </a:r>
            <a:r>
              <a:rPr lang="en" altLang="zh-CN" sz="2800" b="1" i="0" u="none" strike="noStrike" dirty="0" err="1">
                <a:solidFill>
                  <a:schemeClr val="accent1"/>
                </a:solidFill>
                <a:effectLst/>
                <a:latin typeface="-apple-system"/>
              </a:rPr>
              <a:t>fstype</a:t>
            </a:r>
            <a:r>
              <a:rPr lang="zh-CN" altLang="en" sz="2800" b="1" i="0" u="none" strike="noStrike" dirty="0">
                <a:solidFill>
                  <a:schemeClr val="accent1"/>
                </a:solidFill>
                <a:effectLst/>
                <a:latin typeface="-apple-system"/>
              </a:rPr>
              <a:t>、 </a:t>
            </a:r>
            <a:r>
              <a:rPr lang="en" altLang="zh-CN" sz="2800" b="1" i="0" u="none" strike="noStrike" dirty="0" err="1">
                <a:solidFill>
                  <a:schemeClr val="accent1"/>
                </a:solidFill>
                <a:effectLst/>
                <a:latin typeface="-apple-system"/>
              </a:rPr>
              <a:t>fatload</a:t>
            </a:r>
            <a:r>
              <a:rPr lang="en" altLang="zh-CN" sz="2800" b="1" i="0" u="none" strike="noStrike" dirty="0">
                <a:solidFill>
                  <a:schemeClr val="accent1"/>
                </a:solidFill>
                <a:effectLst/>
                <a:latin typeface="-apple-system"/>
              </a:rPr>
              <a:t> </a:t>
            </a:r>
            <a:r>
              <a:rPr lang="zh-CN" altLang="en-US" sz="2800" b="1" i="0" u="none" strike="noStrike" dirty="0">
                <a:solidFill>
                  <a:schemeClr val="accent1"/>
                </a:solidFill>
                <a:effectLst/>
                <a:latin typeface="-apple-system"/>
              </a:rPr>
              <a:t>和 </a:t>
            </a:r>
            <a:r>
              <a:rPr lang="en" altLang="zh-CN" sz="2800" b="1" i="0" u="none" strike="noStrike" dirty="0" err="1">
                <a:solidFill>
                  <a:schemeClr val="accent1"/>
                </a:solidFill>
                <a:effectLst/>
                <a:latin typeface="-apple-system"/>
              </a:rPr>
              <a:t>fatwrite</a:t>
            </a:r>
            <a:endParaRPr lang="en-US" altLang="zh-CN" sz="2000" dirty="0">
              <a:latin typeface="-apple-system"/>
            </a:endParaRPr>
          </a:p>
        </p:txBody>
      </p:sp>
    </p:spTree>
    <p:extLst>
      <p:ext uri="{BB962C8B-B14F-4D97-AF65-F5344CB8AC3E}">
        <p14:creationId xmlns:p14="http://schemas.microsoft.com/office/powerpoint/2010/main" val="1632616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lnSpcReduction="10000"/>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6.</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 网络操作命令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zh-CN" altLang="en-US" sz="2000" b="0" i="0" u="none" strike="noStrike" dirty="0">
                <a:solidFill>
                  <a:srgbClr val="4D4D4D"/>
                </a:solidFill>
                <a:effectLst/>
                <a:latin typeface="-apple-system"/>
              </a:rPr>
              <a:t>网络相关命令，比如 </a:t>
            </a:r>
            <a:r>
              <a:rPr lang="en" altLang="zh-CN" sz="2000" b="1" i="0" u="none" strike="noStrike" dirty="0" err="1">
                <a:solidFill>
                  <a:srgbClr val="0065B0"/>
                </a:solidFill>
                <a:effectLst/>
                <a:latin typeface="-apple-system"/>
              </a:rPr>
              <a:t>dhcp</a:t>
            </a:r>
            <a:r>
              <a:rPr lang="zh-CN" altLang="en" sz="2000" b="1" i="0" u="none" strike="noStrike" dirty="0">
                <a:solidFill>
                  <a:srgbClr val="0065B0"/>
                </a:solidFill>
                <a:effectLst/>
                <a:latin typeface="-apple-system"/>
              </a:rPr>
              <a:t>、</a:t>
            </a:r>
            <a:r>
              <a:rPr lang="en" altLang="zh-CN" sz="2000" b="1" i="0" u="none" strike="noStrike" dirty="0">
                <a:solidFill>
                  <a:srgbClr val="0065B0"/>
                </a:solidFill>
                <a:effectLst/>
                <a:latin typeface="-apple-system"/>
              </a:rPr>
              <a:t>ping</a:t>
            </a:r>
            <a:r>
              <a:rPr lang="zh-CN" altLang="en" sz="2000" b="1" i="0" u="none" strike="noStrike" dirty="0">
                <a:solidFill>
                  <a:srgbClr val="0065B0"/>
                </a:solidFill>
                <a:effectLst/>
                <a:latin typeface="-apple-system"/>
              </a:rPr>
              <a:t>、 </a:t>
            </a:r>
            <a:r>
              <a:rPr lang="en" altLang="zh-CN" sz="2000" b="1" i="0" u="none" strike="noStrike" dirty="0" err="1">
                <a:solidFill>
                  <a:srgbClr val="0065B0"/>
                </a:solidFill>
                <a:effectLst/>
                <a:latin typeface="-apple-system"/>
              </a:rPr>
              <a:t>nfs</a:t>
            </a:r>
            <a:r>
              <a:rPr lang="en" altLang="zh-CN" sz="2000" b="1" i="0" u="none" strike="noStrike" dirty="0">
                <a:solidFill>
                  <a:srgbClr val="0065B0"/>
                </a:solidFill>
                <a:effectLst/>
                <a:latin typeface="-apple-system"/>
              </a:rPr>
              <a:t> </a:t>
            </a:r>
            <a:r>
              <a:rPr lang="zh-CN" altLang="en-US" sz="2000" b="1" i="0" u="none" strike="noStrike" dirty="0">
                <a:solidFill>
                  <a:srgbClr val="0065B0"/>
                </a:solidFill>
                <a:effectLst/>
                <a:latin typeface="-apple-system"/>
              </a:rPr>
              <a:t>和 </a:t>
            </a:r>
            <a:r>
              <a:rPr lang="en" altLang="zh-CN" sz="2000" b="1" i="0" u="none" strike="noStrike" dirty="0" err="1">
                <a:solidFill>
                  <a:srgbClr val="0065B0"/>
                </a:solidFill>
                <a:effectLst/>
                <a:latin typeface="-apple-system"/>
              </a:rPr>
              <a:t>tftp</a:t>
            </a:r>
            <a:endParaRPr lang="en" altLang="zh-CN" sz="2000" b="1" i="0" u="none" strike="noStrike" dirty="0">
              <a:solidFill>
                <a:srgbClr val="0065B0"/>
              </a:solidFill>
              <a:effectLst/>
              <a:latin typeface="-apple-system"/>
            </a:endParaRPr>
          </a:p>
          <a:p>
            <a:pPr>
              <a:lnSpc>
                <a:spcPct val="150000"/>
              </a:lnSpc>
            </a:pPr>
            <a:r>
              <a:rPr lang="zh-CN" altLang="en" sz="2000" b="1" dirty="0">
                <a:solidFill>
                  <a:schemeClr val="tx1"/>
                </a:solidFill>
                <a:latin typeface="-apple-system"/>
              </a:rPr>
              <a:t>网络</a:t>
            </a:r>
            <a:r>
              <a:rPr lang="zh-CN" altLang="en-US" sz="2000" b="1" dirty="0">
                <a:solidFill>
                  <a:schemeClr val="tx1"/>
                </a:solidFill>
                <a:latin typeface="-apple-system"/>
              </a:rPr>
              <a:t>相关环境变量</a:t>
            </a:r>
            <a:endParaRPr lang="en-US" altLang="zh-CN" sz="2000" b="1" dirty="0">
              <a:solidFill>
                <a:schemeClr val="tx1"/>
              </a:solidFill>
              <a:latin typeface="-apple-system"/>
            </a:endParaRPr>
          </a:p>
          <a:p>
            <a:pPr>
              <a:lnSpc>
                <a:spcPct val="150000"/>
              </a:lnSpc>
            </a:pPr>
            <a:endParaRPr lang="en-US" altLang="zh-CN" sz="2000" b="1" dirty="0">
              <a:solidFill>
                <a:schemeClr val="tx1"/>
              </a:solidFill>
              <a:latin typeface="-apple-system"/>
            </a:endParaRPr>
          </a:p>
          <a:p>
            <a:pPr>
              <a:lnSpc>
                <a:spcPct val="150000"/>
              </a:lnSpc>
            </a:pPr>
            <a:endParaRPr lang="en-US" altLang="zh-CN" sz="2000" b="1" dirty="0">
              <a:solidFill>
                <a:schemeClr val="tx1"/>
              </a:solidFill>
              <a:latin typeface="-apple-system"/>
            </a:endParaRPr>
          </a:p>
          <a:p>
            <a:pPr>
              <a:lnSpc>
                <a:spcPct val="150000"/>
              </a:lnSpc>
            </a:pPr>
            <a:endParaRPr lang="en-US" altLang="zh-CN" sz="2000" b="1" dirty="0">
              <a:solidFill>
                <a:schemeClr val="tx1"/>
              </a:solidFill>
              <a:latin typeface="-apple-system"/>
            </a:endParaRPr>
          </a:p>
          <a:p>
            <a:pPr>
              <a:lnSpc>
                <a:spcPct val="150000"/>
              </a:lnSpc>
            </a:pPr>
            <a:endParaRPr lang="en-US" altLang="zh-CN" sz="2000" b="1" dirty="0">
              <a:solidFill>
                <a:schemeClr val="tx1"/>
              </a:solidFill>
              <a:latin typeface="-apple-system"/>
            </a:endParaRPr>
          </a:p>
          <a:p>
            <a:pPr>
              <a:lnSpc>
                <a:spcPct val="150000"/>
              </a:lnSpc>
            </a:pPr>
            <a:endParaRPr lang="en-US" altLang="zh-CN" sz="2000" b="1" dirty="0">
              <a:solidFill>
                <a:schemeClr val="tx1"/>
              </a:solidFill>
              <a:latin typeface="-apple-system"/>
            </a:endParaRPr>
          </a:p>
          <a:p>
            <a:pPr>
              <a:lnSpc>
                <a:spcPct val="150000"/>
              </a:lnSpc>
            </a:pPr>
            <a:r>
              <a:rPr lang="zh-CN" altLang="en-US" b="1" dirty="0">
                <a:solidFill>
                  <a:schemeClr val="tx1"/>
                </a:solidFill>
                <a:latin typeface="-apple-system"/>
              </a:rPr>
              <a:t>网络地址环境变量的设置要根据自己的实际情况，确保 </a:t>
            </a:r>
            <a:r>
              <a:rPr lang="en-US" altLang="zh-CN" b="1" dirty="0">
                <a:solidFill>
                  <a:schemeClr val="tx1"/>
                </a:solidFill>
                <a:latin typeface="-apple-system"/>
              </a:rPr>
              <a:t>Ubuntu </a:t>
            </a:r>
            <a:r>
              <a:rPr lang="zh-CN" altLang="en-US" b="1" dirty="0">
                <a:solidFill>
                  <a:schemeClr val="tx1"/>
                </a:solidFill>
                <a:latin typeface="-apple-system"/>
              </a:rPr>
              <a:t>主机和开发板的 </a:t>
            </a:r>
            <a:r>
              <a:rPr lang="en-US" altLang="zh-CN" b="1" dirty="0">
                <a:solidFill>
                  <a:schemeClr val="tx1"/>
                </a:solidFill>
                <a:latin typeface="-apple-system"/>
              </a:rPr>
              <a:t>IP</a:t>
            </a:r>
            <a:r>
              <a:rPr lang="zh-CN" altLang="en-US" b="1" dirty="0">
                <a:solidFill>
                  <a:schemeClr val="tx1"/>
                </a:solidFill>
                <a:latin typeface="-apple-system"/>
              </a:rPr>
              <a:t>地址在同一个网段内</a:t>
            </a:r>
            <a:endParaRPr lang="en-US" altLang="zh-CN" b="1" dirty="0">
              <a:solidFill>
                <a:schemeClr val="tx1"/>
              </a:solidFill>
              <a:latin typeface="-apple-system"/>
            </a:endParaRPr>
          </a:p>
          <a:p>
            <a:pPr>
              <a:lnSpc>
                <a:spcPct val="150000"/>
              </a:lnSpc>
            </a:pPr>
            <a:r>
              <a:rPr lang="en-US" altLang="zh-CN" b="1" dirty="0" err="1">
                <a:solidFill>
                  <a:schemeClr val="tx1"/>
                </a:solidFill>
                <a:latin typeface="-apple-system"/>
              </a:rPr>
              <a:t>ethaddr</a:t>
            </a:r>
            <a:r>
              <a:rPr lang="en-US" altLang="zh-CN" b="1" dirty="0">
                <a:solidFill>
                  <a:schemeClr val="tx1"/>
                </a:solidFill>
                <a:latin typeface="-apple-system"/>
              </a:rPr>
              <a:t> </a:t>
            </a:r>
            <a:r>
              <a:rPr lang="zh-CN" altLang="en-US" b="1" dirty="0">
                <a:solidFill>
                  <a:schemeClr val="tx1"/>
                </a:solidFill>
                <a:latin typeface="-apple-system"/>
              </a:rPr>
              <a:t>为网络 </a:t>
            </a:r>
            <a:r>
              <a:rPr lang="en-US" altLang="zh-CN" b="1" dirty="0">
                <a:solidFill>
                  <a:schemeClr val="tx1"/>
                </a:solidFill>
                <a:latin typeface="-apple-system"/>
              </a:rPr>
              <a:t>MAC </a:t>
            </a:r>
            <a:r>
              <a:rPr lang="zh-CN" altLang="en-US" b="1" dirty="0">
                <a:solidFill>
                  <a:schemeClr val="tx1"/>
                </a:solidFill>
                <a:latin typeface="-apple-system"/>
              </a:rPr>
              <a:t>地址，是一个 </a:t>
            </a:r>
            <a:r>
              <a:rPr lang="en-US" altLang="zh-CN" b="1" dirty="0">
                <a:solidFill>
                  <a:schemeClr val="tx1"/>
                </a:solidFill>
                <a:latin typeface="-apple-system"/>
              </a:rPr>
              <a:t>48bit </a:t>
            </a:r>
            <a:r>
              <a:rPr lang="zh-CN" altLang="en-US" b="1" dirty="0">
                <a:solidFill>
                  <a:schemeClr val="tx1"/>
                </a:solidFill>
                <a:latin typeface="-apple-system"/>
              </a:rPr>
              <a:t>的地址，如果在同一个网段内有多个开发板的话一定要保证每个开发板的 </a:t>
            </a:r>
            <a:r>
              <a:rPr lang="en-US" altLang="zh-CN" b="1" dirty="0" err="1">
                <a:solidFill>
                  <a:schemeClr val="tx1"/>
                </a:solidFill>
                <a:latin typeface="-apple-system"/>
              </a:rPr>
              <a:t>ethaddr</a:t>
            </a:r>
            <a:r>
              <a:rPr lang="en-US" altLang="zh-CN" b="1" dirty="0">
                <a:solidFill>
                  <a:schemeClr val="tx1"/>
                </a:solidFill>
                <a:latin typeface="-apple-system"/>
              </a:rPr>
              <a:t> </a:t>
            </a:r>
            <a:r>
              <a:rPr lang="zh-CN" altLang="en-US" b="1" dirty="0">
                <a:solidFill>
                  <a:schemeClr val="tx1"/>
                </a:solidFill>
                <a:latin typeface="-apple-system"/>
              </a:rPr>
              <a:t>是不同的，否则通信会有问题</a:t>
            </a:r>
            <a:endParaRPr lang="en-US" altLang="zh-CN" b="1" dirty="0">
              <a:solidFill>
                <a:schemeClr val="tx1"/>
              </a:solidFill>
              <a:latin typeface="-apple-system"/>
            </a:endParaRPr>
          </a:p>
        </p:txBody>
      </p:sp>
      <p:pic>
        <p:nvPicPr>
          <p:cNvPr id="24578" name="Picture 2">
            <a:extLst>
              <a:ext uri="{FF2B5EF4-FFF2-40B4-BE49-F238E27FC236}">
                <a16:creationId xmlns:a16="http://schemas.microsoft.com/office/drawing/2014/main" id="{173FBEF7-3BE3-CA46-8ADE-EA776AA06C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6" y="2895600"/>
            <a:ext cx="9144000" cy="2170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7181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6.</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 网络操作命令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US" altLang="zh-CN" sz="2000" b="1" dirty="0" err="1">
                <a:solidFill>
                  <a:srgbClr val="0065B0"/>
                </a:solidFill>
                <a:latin typeface="-apple-system"/>
              </a:rPr>
              <a:t>nfs</a:t>
            </a:r>
            <a:r>
              <a:rPr lang="en-US" altLang="zh-CN" sz="2000" b="1" dirty="0">
                <a:solidFill>
                  <a:srgbClr val="0065B0"/>
                </a:solidFill>
                <a:latin typeface="-apple-system"/>
              </a:rPr>
              <a:t> </a:t>
            </a:r>
            <a:r>
              <a:rPr lang="zh-CN" altLang="en-US" sz="2000" b="1" dirty="0">
                <a:solidFill>
                  <a:srgbClr val="0065B0"/>
                </a:solidFill>
                <a:latin typeface="-apple-system"/>
              </a:rPr>
              <a:t>命令</a:t>
            </a:r>
            <a:r>
              <a:rPr lang="zh-CN" altLang="en-US" sz="2000" b="1" dirty="0">
                <a:solidFill>
                  <a:schemeClr val="tx1"/>
                </a:solidFill>
                <a:latin typeface="-apple-system"/>
              </a:rPr>
              <a:t>，</a:t>
            </a:r>
            <a:r>
              <a:rPr lang="en-US" altLang="zh-CN" sz="2000" dirty="0" err="1">
                <a:solidFill>
                  <a:schemeClr val="tx1"/>
                </a:solidFill>
                <a:latin typeface="-apple-system"/>
              </a:rPr>
              <a:t>nfs</a:t>
            </a:r>
            <a:r>
              <a:rPr lang="en-US" altLang="zh-CN" sz="2000" dirty="0">
                <a:solidFill>
                  <a:schemeClr val="tx1"/>
                </a:solidFill>
                <a:latin typeface="-apple-system"/>
              </a:rPr>
              <a:t>(Network File System)</a:t>
            </a:r>
            <a:r>
              <a:rPr lang="zh-CN" altLang="en-US" sz="2000" dirty="0">
                <a:solidFill>
                  <a:schemeClr val="tx1"/>
                </a:solidFill>
                <a:latin typeface="-apple-system"/>
              </a:rPr>
              <a:t>网络文件系统，通过 </a:t>
            </a:r>
            <a:r>
              <a:rPr lang="en-US" altLang="zh-CN" sz="2000" dirty="0" err="1">
                <a:solidFill>
                  <a:schemeClr val="tx1"/>
                </a:solidFill>
                <a:latin typeface="-apple-system"/>
              </a:rPr>
              <a:t>nfs</a:t>
            </a:r>
            <a:r>
              <a:rPr lang="en-US" altLang="zh-CN" sz="2000" dirty="0">
                <a:solidFill>
                  <a:schemeClr val="tx1"/>
                </a:solidFill>
                <a:latin typeface="-apple-system"/>
              </a:rPr>
              <a:t> </a:t>
            </a:r>
            <a:r>
              <a:rPr lang="zh-CN" altLang="en-US" sz="2000" dirty="0">
                <a:solidFill>
                  <a:schemeClr val="tx1"/>
                </a:solidFill>
                <a:latin typeface="-apple-system"/>
              </a:rPr>
              <a:t>可以在计算机之间通过网络来分享资源，比如我们将 </a:t>
            </a:r>
            <a:r>
              <a:rPr lang="en-US" altLang="zh-CN" sz="2000" dirty="0" err="1">
                <a:solidFill>
                  <a:schemeClr val="tx1"/>
                </a:solidFill>
                <a:latin typeface="-apple-system"/>
              </a:rPr>
              <a:t>linux</a:t>
            </a:r>
            <a:r>
              <a:rPr lang="en-US" altLang="zh-CN" sz="2000" dirty="0">
                <a:solidFill>
                  <a:schemeClr val="tx1"/>
                </a:solidFill>
                <a:latin typeface="-apple-system"/>
              </a:rPr>
              <a:t> </a:t>
            </a:r>
            <a:r>
              <a:rPr lang="zh-CN" altLang="en-US" sz="2000" dirty="0">
                <a:solidFill>
                  <a:schemeClr val="tx1"/>
                </a:solidFill>
                <a:latin typeface="-apple-system"/>
              </a:rPr>
              <a:t>镜像和设备树文件放到 </a:t>
            </a:r>
            <a:r>
              <a:rPr lang="en-US" altLang="zh-CN" sz="2000" dirty="0">
                <a:solidFill>
                  <a:schemeClr val="tx1"/>
                </a:solidFill>
                <a:latin typeface="-apple-system"/>
              </a:rPr>
              <a:t>Ubuntu </a:t>
            </a:r>
            <a:r>
              <a:rPr lang="zh-CN" altLang="en-US" sz="2000" dirty="0">
                <a:solidFill>
                  <a:schemeClr val="tx1"/>
                </a:solidFill>
                <a:latin typeface="-apple-system"/>
              </a:rPr>
              <a:t>中，然后在 </a:t>
            </a:r>
            <a:r>
              <a:rPr lang="en-US" altLang="zh-CN" sz="2000" dirty="0" err="1">
                <a:solidFill>
                  <a:schemeClr val="tx1"/>
                </a:solidFill>
                <a:latin typeface="-apple-system"/>
              </a:rPr>
              <a:t>uboot</a:t>
            </a:r>
            <a:r>
              <a:rPr lang="en-US" altLang="zh-CN" sz="2000" dirty="0">
                <a:solidFill>
                  <a:schemeClr val="tx1"/>
                </a:solidFill>
                <a:latin typeface="-apple-system"/>
              </a:rPr>
              <a:t> </a:t>
            </a:r>
            <a:r>
              <a:rPr lang="zh-CN" altLang="en-US" sz="2000" dirty="0">
                <a:solidFill>
                  <a:schemeClr val="tx1"/>
                </a:solidFill>
                <a:latin typeface="-apple-system"/>
              </a:rPr>
              <a:t>中使用 </a:t>
            </a:r>
            <a:r>
              <a:rPr lang="en-US" altLang="zh-CN" sz="2000" dirty="0" err="1">
                <a:solidFill>
                  <a:schemeClr val="tx1"/>
                </a:solidFill>
                <a:latin typeface="-apple-system"/>
              </a:rPr>
              <a:t>nfs</a:t>
            </a:r>
            <a:r>
              <a:rPr lang="en-US" altLang="zh-CN" sz="2000" dirty="0">
                <a:solidFill>
                  <a:schemeClr val="tx1"/>
                </a:solidFill>
                <a:latin typeface="-apple-system"/>
              </a:rPr>
              <a:t> </a:t>
            </a:r>
            <a:r>
              <a:rPr lang="zh-CN" altLang="en-US" sz="2000" dirty="0">
                <a:solidFill>
                  <a:schemeClr val="tx1"/>
                </a:solidFill>
                <a:latin typeface="-apple-system"/>
              </a:rPr>
              <a:t>命令将 </a:t>
            </a:r>
            <a:r>
              <a:rPr lang="en-US" altLang="zh-CN" sz="2000" dirty="0">
                <a:solidFill>
                  <a:schemeClr val="tx1"/>
                </a:solidFill>
                <a:latin typeface="-apple-system"/>
              </a:rPr>
              <a:t>Ubuntu </a:t>
            </a:r>
            <a:r>
              <a:rPr lang="zh-CN" altLang="en-US" sz="2000" dirty="0">
                <a:solidFill>
                  <a:schemeClr val="tx1"/>
                </a:solidFill>
                <a:latin typeface="-apple-system"/>
              </a:rPr>
              <a:t>中的 </a:t>
            </a:r>
            <a:r>
              <a:rPr lang="en-US" altLang="zh-CN" sz="2000" dirty="0" err="1">
                <a:solidFill>
                  <a:schemeClr val="tx1"/>
                </a:solidFill>
                <a:latin typeface="-apple-system"/>
              </a:rPr>
              <a:t>linux</a:t>
            </a:r>
            <a:r>
              <a:rPr lang="en-US" altLang="zh-CN" sz="2000" dirty="0">
                <a:solidFill>
                  <a:schemeClr val="tx1"/>
                </a:solidFill>
                <a:latin typeface="-apple-system"/>
              </a:rPr>
              <a:t> </a:t>
            </a:r>
            <a:r>
              <a:rPr lang="zh-CN" altLang="en-US" sz="2000" dirty="0">
                <a:solidFill>
                  <a:schemeClr val="tx1"/>
                </a:solidFill>
                <a:latin typeface="-apple-system"/>
              </a:rPr>
              <a:t>镜像和设备树下载到开发板的 </a:t>
            </a:r>
            <a:r>
              <a:rPr lang="en-US" altLang="zh-CN" sz="2000" dirty="0">
                <a:solidFill>
                  <a:schemeClr val="tx1"/>
                </a:solidFill>
                <a:latin typeface="-apple-system"/>
              </a:rPr>
              <a:t>DRAM </a:t>
            </a:r>
            <a:r>
              <a:rPr lang="zh-CN" altLang="en-US" sz="2000" dirty="0">
                <a:solidFill>
                  <a:schemeClr val="tx1"/>
                </a:solidFill>
                <a:latin typeface="-apple-system"/>
              </a:rPr>
              <a:t>中。</a:t>
            </a:r>
          </a:p>
          <a:p>
            <a:pPr>
              <a:lnSpc>
                <a:spcPct val="150000"/>
              </a:lnSpc>
            </a:pPr>
            <a:r>
              <a:rPr lang="zh-CN" altLang="en-US" sz="2000" dirty="0">
                <a:solidFill>
                  <a:schemeClr val="tx1"/>
                </a:solidFill>
                <a:latin typeface="-apple-system"/>
              </a:rPr>
              <a:t>在使用之前需要开启 </a:t>
            </a:r>
            <a:r>
              <a:rPr lang="en-US" altLang="zh-CN" sz="2000" dirty="0">
                <a:solidFill>
                  <a:schemeClr val="tx1"/>
                </a:solidFill>
                <a:latin typeface="-apple-system"/>
              </a:rPr>
              <a:t>Ubuntu </a:t>
            </a:r>
            <a:r>
              <a:rPr lang="zh-CN" altLang="en-US" sz="2000" dirty="0">
                <a:solidFill>
                  <a:schemeClr val="tx1"/>
                </a:solidFill>
                <a:latin typeface="-apple-system"/>
              </a:rPr>
              <a:t>主机的 </a:t>
            </a:r>
            <a:r>
              <a:rPr lang="en-US" altLang="zh-CN" sz="2000" dirty="0">
                <a:solidFill>
                  <a:schemeClr val="tx1"/>
                </a:solidFill>
                <a:latin typeface="-apple-system"/>
              </a:rPr>
              <a:t>NFS </a:t>
            </a:r>
            <a:r>
              <a:rPr lang="zh-CN" altLang="en-US" sz="2000" dirty="0">
                <a:solidFill>
                  <a:schemeClr val="tx1"/>
                </a:solidFill>
                <a:latin typeface="-apple-system"/>
              </a:rPr>
              <a:t>服务，并且要新建一个 </a:t>
            </a:r>
            <a:r>
              <a:rPr lang="en-US" altLang="zh-CN" sz="2000" dirty="0">
                <a:solidFill>
                  <a:schemeClr val="tx1"/>
                </a:solidFill>
                <a:latin typeface="-apple-system"/>
              </a:rPr>
              <a:t>NFS </a:t>
            </a:r>
            <a:r>
              <a:rPr lang="zh-CN" altLang="en-US" sz="2000" dirty="0">
                <a:solidFill>
                  <a:schemeClr val="tx1"/>
                </a:solidFill>
                <a:latin typeface="-apple-system"/>
              </a:rPr>
              <a:t>使用的目录，以后所有要通过</a:t>
            </a:r>
            <a:r>
              <a:rPr lang="en-US" altLang="zh-CN" sz="2000" dirty="0">
                <a:solidFill>
                  <a:schemeClr val="tx1"/>
                </a:solidFill>
                <a:latin typeface="-apple-system"/>
              </a:rPr>
              <a:t>NFS </a:t>
            </a:r>
            <a:r>
              <a:rPr lang="zh-CN" altLang="en-US" sz="2000" dirty="0">
                <a:solidFill>
                  <a:schemeClr val="tx1"/>
                </a:solidFill>
                <a:latin typeface="-apple-system"/>
              </a:rPr>
              <a:t>访问的文件都需要放到这个 </a:t>
            </a:r>
            <a:r>
              <a:rPr lang="en-US" altLang="zh-CN" sz="2000" dirty="0">
                <a:solidFill>
                  <a:schemeClr val="tx1"/>
                </a:solidFill>
                <a:latin typeface="-apple-system"/>
              </a:rPr>
              <a:t>NFS </a:t>
            </a:r>
            <a:r>
              <a:rPr lang="zh-CN" altLang="en-US" sz="2000" dirty="0">
                <a:solidFill>
                  <a:schemeClr val="tx1"/>
                </a:solidFill>
                <a:latin typeface="-apple-system"/>
              </a:rPr>
              <a:t>目录中。</a:t>
            </a:r>
          </a:p>
          <a:p>
            <a:pPr>
              <a:lnSpc>
                <a:spcPct val="150000"/>
              </a:lnSpc>
            </a:pPr>
            <a:r>
              <a:rPr lang="en-US" altLang="zh-CN" sz="2000" dirty="0">
                <a:solidFill>
                  <a:schemeClr val="tx1"/>
                </a:solidFill>
                <a:latin typeface="-apple-system"/>
              </a:rPr>
              <a:t>Ubuntu </a:t>
            </a:r>
            <a:r>
              <a:rPr lang="zh-CN" altLang="en-US" sz="2000" dirty="0">
                <a:solidFill>
                  <a:schemeClr val="tx1"/>
                </a:solidFill>
                <a:latin typeface="-apple-system"/>
              </a:rPr>
              <a:t>使用如下命令安装 </a:t>
            </a:r>
            <a:r>
              <a:rPr lang="en-US" altLang="zh-CN" sz="2000" dirty="0">
                <a:solidFill>
                  <a:schemeClr val="tx1"/>
                </a:solidFill>
                <a:latin typeface="-apple-system"/>
              </a:rPr>
              <a:t>NFS </a:t>
            </a:r>
            <a:r>
              <a:rPr lang="zh-CN" altLang="en-US" sz="2000" dirty="0">
                <a:solidFill>
                  <a:schemeClr val="tx1"/>
                </a:solidFill>
                <a:latin typeface="-apple-system"/>
              </a:rPr>
              <a:t>服务：</a:t>
            </a:r>
          </a:p>
          <a:p>
            <a:pPr marL="0" indent="0">
              <a:lnSpc>
                <a:spcPct val="150000"/>
              </a:lnSpc>
              <a:buNone/>
            </a:pPr>
            <a:endParaRPr lang="en-US" altLang="zh-CN" sz="2000" b="1" dirty="0">
              <a:solidFill>
                <a:schemeClr val="tx1"/>
              </a:solidFill>
              <a:latin typeface="-apple-system"/>
            </a:endParaRPr>
          </a:p>
        </p:txBody>
      </p:sp>
      <p:pic>
        <p:nvPicPr>
          <p:cNvPr id="4" name="图片 3">
            <a:extLst>
              <a:ext uri="{FF2B5EF4-FFF2-40B4-BE49-F238E27FC236}">
                <a16:creationId xmlns:a16="http://schemas.microsoft.com/office/drawing/2014/main" id="{ED494C0A-5FE5-0E40-8291-5235CE3C401E}"/>
              </a:ext>
            </a:extLst>
          </p:cNvPr>
          <p:cNvPicPr>
            <a:picLocks noChangeAspect="1"/>
          </p:cNvPicPr>
          <p:nvPr/>
        </p:nvPicPr>
        <p:blipFill>
          <a:blip r:embed="rId3"/>
          <a:stretch>
            <a:fillRect/>
          </a:stretch>
        </p:blipFill>
        <p:spPr>
          <a:xfrm>
            <a:off x="876300" y="5715000"/>
            <a:ext cx="6781800" cy="457200"/>
          </a:xfrm>
          <a:prstGeom prst="rect">
            <a:avLst/>
          </a:prstGeom>
        </p:spPr>
      </p:pic>
    </p:spTree>
    <p:extLst>
      <p:ext uri="{BB962C8B-B14F-4D97-AF65-F5344CB8AC3E}">
        <p14:creationId xmlns:p14="http://schemas.microsoft.com/office/powerpoint/2010/main" val="9935660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6.</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 网络操作命令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zh-CN" altLang="en-US" sz="2400" b="0" i="0" u="none" strike="noStrike" dirty="0">
                <a:solidFill>
                  <a:srgbClr val="4D4D4D"/>
                </a:solidFill>
                <a:effectLst/>
                <a:latin typeface="-apple-system"/>
              </a:rPr>
              <a:t>自行创建 </a:t>
            </a:r>
            <a:r>
              <a:rPr lang="en" altLang="zh-CN" sz="2400" b="0" i="0" u="none" strike="noStrike" dirty="0" err="1">
                <a:solidFill>
                  <a:srgbClr val="4D4D4D"/>
                </a:solidFill>
                <a:effectLst/>
                <a:latin typeface="-apple-system"/>
              </a:rPr>
              <a:t>linux_nfs</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文件夹供 </a:t>
            </a:r>
            <a:r>
              <a:rPr lang="en" altLang="zh-CN" sz="2400" b="0" i="0" u="none" strike="noStrike" dirty="0" err="1">
                <a:solidFill>
                  <a:srgbClr val="4D4D4D"/>
                </a:solidFill>
                <a:effectLst/>
                <a:latin typeface="-apple-system"/>
              </a:rPr>
              <a:t>nfs</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服务器使用，以后我们可以在开发板上通过网络文件系统来访问 </a:t>
            </a:r>
            <a:r>
              <a:rPr lang="en" altLang="zh-CN" sz="2400" b="0" i="0" u="none" strike="noStrike" dirty="0" err="1">
                <a:solidFill>
                  <a:srgbClr val="4D4D4D"/>
                </a:solidFill>
                <a:effectLst/>
                <a:latin typeface="-apple-system"/>
              </a:rPr>
              <a:t>nfs</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文件夹。</a:t>
            </a:r>
            <a:br>
              <a:rPr lang="zh-CN" altLang="en-US" sz="2400" dirty="0"/>
            </a:br>
            <a:r>
              <a:rPr lang="zh-CN" altLang="en-US" sz="2400" b="0" i="0" u="none" strike="noStrike" dirty="0">
                <a:solidFill>
                  <a:srgbClr val="4D4D4D"/>
                </a:solidFill>
                <a:effectLst/>
                <a:latin typeface="-apple-system"/>
              </a:rPr>
              <a:t>配置 </a:t>
            </a:r>
            <a:r>
              <a:rPr lang="en" altLang="zh-CN" sz="2400" b="0" i="0" u="none" strike="noStrike" dirty="0" err="1">
                <a:solidFill>
                  <a:srgbClr val="4D4D4D"/>
                </a:solidFill>
                <a:effectLst/>
                <a:latin typeface="-apple-system"/>
              </a:rPr>
              <a:t>nfs</a:t>
            </a:r>
            <a:r>
              <a:rPr lang="zh-CN" altLang="e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使用如下命令打开 </a:t>
            </a:r>
            <a:r>
              <a:rPr lang="en" altLang="zh-CN" sz="2400" b="0" i="0" u="none" strike="noStrike" dirty="0" err="1">
                <a:solidFill>
                  <a:srgbClr val="4D4D4D"/>
                </a:solidFill>
                <a:effectLst/>
                <a:latin typeface="-apple-system"/>
              </a:rPr>
              <a:t>nfs</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配置文件</a:t>
            </a:r>
            <a:r>
              <a:rPr lang="en-US" altLang="zh-CN" sz="2400" b="0" i="0" u="none" strike="noStrike" dirty="0">
                <a:solidFill>
                  <a:srgbClr val="4D4D4D"/>
                </a:solidFill>
                <a:effectLst/>
                <a:latin typeface="-apple-system"/>
              </a:rPr>
              <a:t>/</a:t>
            </a:r>
            <a:r>
              <a:rPr lang="en" altLang="zh-CN" sz="2400" b="0" i="0" u="none" strike="noStrike" dirty="0" err="1">
                <a:solidFill>
                  <a:srgbClr val="4D4D4D"/>
                </a:solidFill>
                <a:effectLst/>
                <a:latin typeface="-apple-system"/>
              </a:rPr>
              <a:t>etc</a:t>
            </a:r>
            <a:r>
              <a:rPr lang="en" altLang="zh-CN" sz="2400" b="0" i="0" u="none" strike="noStrike" dirty="0">
                <a:solidFill>
                  <a:srgbClr val="4D4D4D"/>
                </a:solidFill>
                <a:effectLst/>
                <a:latin typeface="-apple-system"/>
              </a:rPr>
              <a:t>/exports</a:t>
            </a:r>
            <a:r>
              <a:rPr lang="zh-CN" altLang="en" sz="2400" b="0" i="0" u="none" strike="noStrike" dirty="0">
                <a:solidFill>
                  <a:srgbClr val="4D4D4D"/>
                </a:solidFill>
                <a:effectLst/>
                <a:latin typeface="-apple-system"/>
              </a:rPr>
              <a:t>：</a:t>
            </a:r>
            <a:br>
              <a:rPr lang="en" altLang="zh-CN" sz="2400" dirty="0"/>
            </a:br>
            <a:r>
              <a:rPr lang="en" altLang="zh-CN" sz="2400" b="0" i="0" u="none" strike="noStrike" dirty="0" err="1">
                <a:solidFill>
                  <a:srgbClr val="4D4D4D"/>
                </a:solidFill>
                <a:effectLst/>
                <a:latin typeface="-apple-system"/>
              </a:rPr>
              <a:t>sudo</a:t>
            </a:r>
            <a:r>
              <a:rPr lang="en" altLang="zh-CN" sz="2400" b="0" i="0" u="none" strike="noStrike" dirty="0">
                <a:solidFill>
                  <a:srgbClr val="4D4D4D"/>
                </a:solidFill>
                <a:effectLst/>
                <a:latin typeface="-apple-system"/>
              </a:rPr>
              <a:t> vim /</a:t>
            </a:r>
            <a:r>
              <a:rPr lang="en" altLang="zh-CN" sz="2400" b="0" i="0" u="none" strike="noStrike" dirty="0" err="1">
                <a:solidFill>
                  <a:srgbClr val="4D4D4D"/>
                </a:solidFill>
                <a:effectLst/>
                <a:latin typeface="-apple-system"/>
              </a:rPr>
              <a:t>etc</a:t>
            </a:r>
            <a:r>
              <a:rPr lang="en" altLang="zh-CN" sz="2400" b="0" i="0" u="none" strike="noStrike" dirty="0">
                <a:solidFill>
                  <a:srgbClr val="4D4D4D"/>
                </a:solidFill>
                <a:effectLst/>
                <a:latin typeface="-apple-system"/>
              </a:rPr>
              <a:t>/exports</a:t>
            </a:r>
          </a:p>
          <a:p>
            <a:pPr>
              <a:lnSpc>
                <a:spcPct val="150000"/>
              </a:lnSpc>
            </a:pPr>
            <a:r>
              <a:rPr lang="zh-CN" altLang="en-US" sz="2400" b="0" i="0" u="none" strike="noStrike" dirty="0">
                <a:solidFill>
                  <a:srgbClr val="4D4D4D"/>
                </a:solidFill>
                <a:effectLst/>
                <a:latin typeface="-apple-system"/>
              </a:rPr>
              <a:t>重启 </a:t>
            </a:r>
            <a:r>
              <a:rPr lang="en" altLang="zh-CN" sz="2400" b="0" i="0" u="none" strike="noStrike" dirty="0">
                <a:solidFill>
                  <a:srgbClr val="4D4D4D"/>
                </a:solidFill>
                <a:effectLst/>
                <a:latin typeface="-apple-system"/>
              </a:rPr>
              <a:t>NFS </a:t>
            </a:r>
            <a:r>
              <a:rPr lang="zh-CN" altLang="en-US" sz="2400" b="0" i="0" u="none" strike="noStrike" dirty="0">
                <a:solidFill>
                  <a:srgbClr val="4D4D4D"/>
                </a:solidFill>
                <a:effectLst/>
                <a:latin typeface="-apple-system"/>
              </a:rPr>
              <a:t>服务，</a:t>
            </a:r>
            <a:endParaRPr lang="en" altLang="zh-CN" sz="2400" dirty="0">
              <a:solidFill>
                <a:srgbClr val="4D4D4D"/>
              </a:solidFill>
              <a:latin typeface="-apple-system"/>
            </a:endParaRPr>
          </a:p>
          <a:p>
            <a:pPr>
              <a:lnSpc>
                <a:spcPct val="150000"/>
              </a:lnSpc>
            </a:pPr>
            <a:endParaRPr lang="en" altLang="zh-CN" sz="2400" b="1" dirty="0">
              <a:solidFill>
                <a:srgbClr val="4D4D4D"/>
              </a:solidFill>
              <a:latin typeface="-apple-system"/>
            </a:endParaRPr>
          </a:p>
          <a:p>
            <a:pPr>
              <a:lnSpc>
                <a:spcPct val="150000"/>
              </a:lnSpc>
            </a:pPr>
            <a:r>
              <a:rPr lang="en" altLang="zh-CN" sz="2400" b="0" i="0" u="none" strike="noStrike" dirty="0" err="1">
                <a:solidFill>
                  <a:srgbClr val="4D4D4D"/>
                </a:solidFill>
                <a:effectLst/>
                <a:latin typeface="-apple-system"/>
              </a:rPr>
              <a:t>uboot</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中的 </a:t>
            </a:r>
            <a:r>
              <a:rPr lang="en" altLang="zh-CN" sz="2400" b="0" i="0" u="none" strike="noStrike" dirty="0" err="1">
                <a:solidFill>
                  <a:srgbClr val="4D4D4D"/>
                </a:solidFill>
                <a:effectLst/>
                <a:latin typeface="-apple-system"/>
              </a:rPr>
              <a:t>nfs</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命令格式如下</a:t>
            </a:r>
            <a:endParaRPr lang="en-US" altLang="zh-CN" sz="2000" b="1" dirty="0">
              <a:solidFill>
                <a:schemeClr val="tx1"/>
              </a:solidFill>
              <a:latin typeface="-apple-system"/>
            </a:endParaRPr>
          </a:p>
        </p:txBody>
      </p:sp>
      <p:pic>
        <p:nvPicPr>
          <p:cNvPr id="5" name="图片 4">
            <a:extLst>
              <a:ext uri="{FF2B5EF4-FFF2-40B4-BE49-F238E27FC236}">
                <a16:creationId xmlns:a16="http://schemas.microsoft.com/office/drawing/2014/main" id="{A082C4AE-3371-7B48-99FC-DEB1E6A6A304}"/>
              </a:ext>
            </a:extLst>
          </p:cNvPr>
          <p:cNvPicPr>
            <a:picLocks noChangeAspect="1"/>
          </p:cNvPicPr>
          <p:nvPr/>
        </p:nvPicPr>
        <p:blipFill>
          <a:blip r:embed="rId3"/>
          <a:stretch>
            <a:fillRect/>
          </a:stretch>
        </p:blipFill>
        <p:spPr>
          <a:xfrm>
            <a:off x="914400" y="4800600"/>
            <a:ext cx="5765800" cy="457200"/>
          </a:xfrm>
          <a:prstGeom prst="rect">
            <a:avLst/>
          </a:prstGeom>
        </p:spPr>
      </p:pic>
      <p:pic>
        <p:nvPicPr>
          <p:cNvPr id="6" name="图片 5">
            <a:extLst>
              <a:ext uri="{FF2B5EF4-FFF2-40B4-BE49-F238E27FC236}">
                <a16:creationId xmlns:a16="http://schemas.microsoft.com/office/drawing/2014/main" id="{E14A4765-2E61-5146-AD76-ACFF55ABD393}"/>
              </a:ext>
            </a:extLst>
          </p:cNvPr>
          <p:cNvPicPr>
            <a:picLocks noChangeAspect="1"/>
          </p:cNvPicPr>
          <p:nvPr/>
        </p:nvPicPr>
        <p:blipFill>
          <a:blip r:embed="rId4"/>
          <a:stretch>
            <a:fillRect/>
          </a:stretch>
        </p:blipFill>
        <p:spPr>
          <a:xfrm>
            <a:off x="914400" y="6038850"/>
            <a:ext cx="5765800" cy="469900"/>
          </a:xfrm>
          <a:prstGeom prst="rect">
            <a:avLst/>
          </a:prstGeom>
        </p:spPr>
      </p:pic>
    </p:spTree>
    <p:extLst>
      <p:ext uri="{BB962C8B-B14F-4D97-AF65-F5344CB8AC3E}">
        <p14:creationId xmlns:p14="http://schemas.microsoft.com/office/powerpoint/2010/main" val="660878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6.</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 网络操作命令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zh-CN" altLang="en-US" sz="2400" b="0" i="0" u="none" strike="noStrike" dirty="0">
                <a:solidFill>
                  <a:srgbClr val="4D4D4D"/>
                </a:solidFill>
                <a:effectLst/>
                <a:latin typeface="-apple-system"/>
              </a:rPr>
              <a:t>将出的</a:t>
            </a:r>
            <a:r>
              <a:rPr lang="en" altLang="zh-CN" sz="2400" b="0" i="0" u="none" strike="noStrike" dirty="0" err="1">
                <a:solidFill>
                  <a:srgbClr val="4D4D4D"/>
                </a:solidFill>
                <a:effectLst/>
                <a:latin typeface="-apple-system"/>
              </a:rPr>
              <a:t>linux</a:t>
            </a:r>
            <a:r>
              <a:rPr lang="zh-CN" altLang="en-US" sz="2400" b="0" i="0" u="none" strike="noStrike" dirty="0">
                <a:solidFill>
                  <a:srgbClr val="4D4D4D"/>
                </a:solidFill>
                <a:effectLst/>
                <a:latin typeface="-apple-system"/>
              </a:rPr>
              <a:t>内核文件 </a:t>
            </a:r>
            <a:r>
              <a:rPr lang="en" altLang="zh-CN" sz="2400" b="0" i="0" u="none" strike="noStrike" dirty="0" err="1">
                <a:solidFill>
                  <a:srgbClr val="4D4D4D"/>
                </a:solidFill>
                <a:effectLst/>
                <a:latin typeface="-apple-system"/>
              </a:rPr>
              <a:t>zImage</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下载到开发板 </a:t>
            </a:r>
            <a:r>
              <a:rPr lang="en" altLang="zh-CN" sz="2400" b="0" i="0" u="none" strike="noStrike" dirty="0">
                <a:solidFill>
                  <a:srgbClr val="4D4D4D"/>
                </a:solidFill>
                <a:effectLst/>
                <a:latin typeface="-apple-system"/>
              </a:rPr>
              <a:t>DRAM </a:t>
            </a:r>
            <a:r>
              <a:rPr lang="zh-CN" altLang="en-US" sz="2400" b="0" i="0" u="none" strike="noStrike" dirty="0">
                <a:solidFill>
                  <a:srgbClr val="4D4D4D"/>
                </a:solidFill>
                <a:effectLst/>
                <a:latin typeface="-apple-system"/>
              </a:rPr>
              <a:t>的 </a:t>
            </a:r>
            <a:r>
              <a:rPr lang="en-US" altLang="zh-CN" sz="2400" b="0" i="0" u="none" strike="noStrike" dirty="0">
                <a:solidFill>
                  <a:srgbClr val="4D4D4D"/>
                </a:solidFill>
                <a:effectLst/>
                <a:latin typeface="-apple-system"/>
              </a:rPr>
              <a:t>0</a:t>
            </a:r>
            <a:r>
              <a:rPr lang="en" altLang="zh-CN" sz="2400" b="0" i="0" u="none" strike="noStrike" dirty="0">
                <a:solidFill>
                  <a:srgbClr val="4D4D4D"/>
                </a:solidFill>
                <a:effectLst/>
                <a:latin typeface="-apple-system"/>
              </a:rPr>
              <a:t>X80800000 </a:t>
            </a:r>
            <a:r>
              <a:rPr lang="zh-CN" altLang="en-US" sz="2400" b="0" i="0" u="none" strike="noStrike" dirty="0">
                <a:solidFill>
                  <a:srgbClr val="4D4D4D"/>
                </a:solidFill>
                <a:effectLst/>
                <a:latin typeface="-apple-system"/>
              </a:rPr>
              <a:t>地址处，命令如下：</a:t>
            </a:r>
            <a:endParaRPr lang="en-US" altLang="zh-CN" sz="1800" b="1" dirty="0">
              <a:solidFill>
                <a:schemeClr val="tx1"/>
              </a:solidFill>
              <a:latin typeface="-apple-system"/>
            </a:endParaRPr>
          </a:p>
        </p:txBody>
      </p:sp>
      <p:pic>
        <p:nvPicPr>
          <p:cNvPr id="48130" name="Picture 2">
            <a:extLst>
              <a:ext uri="{FF2B5EF4-FFF2-40B4-BE49-F238E27FC236}">
                <a16:creationId xmlns:a16="http://schemas.microsoft.com/office/drawing/2014/main" id="{B0CE7594-5940-FC4B-85BF-9490C25A3F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982355"/>
            <a:ext cx="5638800" cy="3896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29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6.</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 网络操作命令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US" altLang="zh-CN" sz="2000" b="1" dirty="0" err="1">
                <a:solidFill>
                  <a:srgbClr val="0065B0"/>
                </a:solidFill>
                <a:latin typeface="-apple-system"/>
              </a:rPr>
              <a:t>tftp</a:t>
            </a:r>
            <a:r>
              <a:rPr lang="zh-CN" altLang="en-US" sz="2000" b="1" dirty="0">
                <a:solidFill>
                  <a:srgbClr val="0065B0"/>
                </a:solidFill>
                <a:latin typeface="-apple-system"/>
              </a:rPr>
              <a:t>命令</a:t>
            </a:r>
          </a:p>
          <a:p>
            <a:pPr>
              <a:lnSpc>
                <a:spcPct val="150000"/>
              </a:lnSpc>
            </a:pPr>
            <a:r>
              <a:rPr lang="en-US" altLang="zh-CN" sz="2000" dirty="0" err="1">
                <a:solidFill>
                  <a:schemeClr val="tx1"/>
                </a:solidFill>
                <a:latin typeface="-apple-system"/>
              </a:rPr>
              <a:t>tftp</a:t>
            </a:r>
            <a:r>
              <a:rPr lang="en-US" altLang="zh-CN" sz="2000" dirty="0">
                <a:solidFill>
                  <a:schemeClr val="tx1"/>
                </a:solidFill>
                <a:latin typeface="-apple-system"/>
              </a:rPr>
              <a:t> </a:t>
            </a:r>
            <a:r>
              <a:rPr lang="zh-CN" altLang="en-US" sz="2000" dirty="0">
                <a:solidFill>
                  <a:schemeClr val="tx1"/>
                </a:solidFill>
                <a:latin typeface="-apple-system"/>
              </a:rPr>
              <a:t>命令的作用和 </a:t>
            </a:r>
            <a:r>
              <a:rPr lang="en-US" altLang="zh-CN" sz="2000" dirty="0" err="1">
                <a:solidFill>
                  <a:schemeClr val="tx1"/>
                </a:solidFill>
                <a:latin typeface="-apple-system"/>
              </a:rPr>
              <a:t>nfs</a:t>
            </a:r>
            <a:r>
              <a:rPr lang="en-US" altLang="zh-CN" sz="2000" dirty="0">
                <a:solidFill>
                  <a:schemeClr val="tx1"/>
                </a:solidFill>
                <a:latin typeface="-apple-system"/>
              </a:rPr>
              <a:t> </a:t>
            </a:r>
            <a:r>
              <a:rPr lang="zh-CN" altLang="en-US" sz="2000" dirty="0">
                <a:solidFill>
                  <a:schemeClr val="tx1"/>
                </a:solidFill>
                <a:latin typeface="-apple-system"/>
              </a:rPr>
              <a:t>命令一样，都是用于通过网络下载东西到 </a:t>
            </a:r>
            <a:r>
              <a:rPr lang="en-US" altLang="zh-CN" sz="2000" dirty="0">
                <a:solidFill>
                  <a:schemeClr val="tx1"/>
                </a:solidFill>
                <a:latin typeface="-apple-system"/>
              </a:rPr>
              <a:t>DRAM </a:t>
            </a:r>
            <a:r>
              <a:rPr lang="zh-CN" altLang="en-US" sz="2000" dirty="0">
                <a:solidFill>
                  <a:schemeClr val="tx1"/>
                </a:solidFill>
                <a:latin typeface="-apple-system"/>
              </a:rPr>
              <a:t>中，只是 </a:t>
            </a:r>
            <a:r>
              <a:rPr lang="en-US" altLang="zh-CN" sz="2000" dirty="0" err="1">
                <a:solidFill>
                  <a:schemeClr val="tx1"/>
                </a:solidFill>
                <a:latin typeface="-apple-system"/>
              </a:rPr>
              <a:t>tftp</a:t>
            </a:r>
            <a:r>
              <a:rPr lang="en-US" altLang="zh-CN" sz="2000" dirty="0">
                <a:solidFill>
                  <a:schemeClr val="tx1"/>
                </a:solidFill>
                <a:latin typeface="-apple-system"/>
              </a:rPr>
              <a:t> </a:t>
            </a:r>
            <a:r>
              <a:rPr lang="zh-CN" altLang="en-US" sz="2000" dirty="0">
                <a:solidFill>
                  <a:schemeClr val="tx1"/>
                </a:solidFill>
                <a:latin typeface="-apple-system"/>
              </a:rPr>
              <a:t>命令使用的 </a:t>
            </a:r>
            <a:r>
              <a:rPr lang="en-US" altLang="zh-CN" sz="2000" dirty="0">
                <a:solidFill>
                  <a:schemeClr val="tx1"/>
                </a:solidFill>
                <a:latin typeface="-apple-system"/>
              </a:rPr>
              <a:t>TFTP </a:t>
            </a:r>
            <a:r>
              <a:rPr lang="zh-CN" altLang="en-US" sz="2000" dirty="0">
                <a:solidFill>
                  <a:schemeClr val="tx1"/>
                </a:solidFill>
                <a:latin typeface="-apple-system"/>
              </a:rPr>
              <a:t>协议， </a:t>
            </a:r>
            <a:r>
              <a:rPr lang="en-US" altLang="zh-CN" sz="2000" dirty="0">
                <a:solidFill>
                  <a:schemeClr val="tx1"/>
                </a:solidFill>
                <a:latin typeface="-apple-system"/>
              </a:rPr>
              <a:t>Ubuntu </a:t>
            </a:r>
            <a:r>
              <a:rPr lang="zh-CN" altLang="en-US" sz="2000" dirty="0">
                <a:solidFill>
                  <a:schemeClr val="tx1"/>
                </a:solidFill>
                <a:latin typeface="-apple-system"/>
              </a:rPr>
              <a:t>主机作为 </a:t>
            </a:r>
            <a:r>
              <a:rPr lang="en-US" altLang="zh-CN" sz="2000" dirty="0">
                <a:solidFill>
                  <a:schemeClr val="tx1"/>
                </a:solidFill>
                <a:latin typeface="-apple-system"/>
              </a:rPr>
              <a:t>TFTP </a:t>
            </a:r>
            <a:r>
              <a:rPr lang="zh-CN" altLang="en-US" sz="2000" dirty="0">
                <a:solidFill>
                  <a:schemeClr val="tx1"/>
                </a:solidFill>
                <a:latin typeface="-apple-system"/>
              </a:rPr>
              <a:t>服务器。</a:t>
            </a:r>
          </a:p>
          <a:p>
            <a:pPr>
              <a:lnSpc>
                <a:spcPct val="150000"/>
              </a:lnSpc>
            </a:pPr>
            <a:r>
              <a:rPr lang="en-US" altLang="zh-CN" sz="2000" dirty="0">
                <a:solidFill>
                  <a:schemeClr val="tx1"/>
                </a:solidFill>
                <a:latin typeface="-apple-system"/>
              </a:rPr>
              <a:t>Ubuntu </a:t>
            </a:r>
            <a:r>
              <a:rPr lang="zh-CN" altLang="en-US" sz="2000" dirty="0">
                <a:solidFill>
                  <a:schemeClr val="tx1"/>
                </a:solidFill>
                <a:latin typeface="-apple-system"/>
              </a:rPr>
              <a:t>上搭建 </a:t>
            </a:r>
            <a:r>
              <a:rPr lang="en-US" altLang="zh-CN" sz="2000" dirty="0">
                <a:solidFill>
                  <a:schemeClr val="tx1"/>
                </a:solidFill>
                <a:latin typeface="-apple-system"/>
              </a:rPr>
              <a:t>TFTP </a:t>
            </a:r>
            <a:r>
              <a:rPr lang="zh-CN" altLang="en-US" sz="2000" dirty="0">
                <a:solidFill>
                  <a:schemeClr val="tx1"/>
                </a:solidFill>
                <a:latin typeface="-apple-system"/>
              </a:rPr>
              <a:t>服务器，需要安装 </a:t>
            </a:r>
            <a:r>
              <a:rPr lang="en-US" altLang="zh-CN" sz="2000" dirty="0" err="1">
                <a:solidFill>
                  <a:schemeClr val="tx1"/>
                </a:solidFill>
                <a:latin typeface="-apple-system"/>
              </a:rPr>
              <a:t>tftp-hpa</a:t>
            </a:r>
            <a:r>
              <a:rPr lang="en-US" altLang="zh-CN" sz="2000" dirty="0">
                <a:solidFill>
                  <a:schemeClr val="tx1"/>
                </a:solidFill>
                <a:latin typeface="-apple-system"/>
              </a:rPr>
              <a:t> </a:t>
            </a:r>
            <a:r>
              <a:rPr lang="zh-CN" altLang="en-US" sz="2000" dirty="0">
                <a:solidFill>
                  <a:schemeClr val="tx1"/>
                </a:solidFill>
                <a:latin typeface="-apple-system"/>
              </a:rPr>
              <a:t>和 </a:t>
            </a:r>
            <a:r>
              <a:rPr lang="en-US" altLang="zh-CN" sz="2000" dirty="0" err="1">
                <a:solidFill>
                  <a:schemeClr val="tx1"/>
                </a:solidFill>
                <a:latin typeface="-apple-system"/>
              </a:rPr>
              <a:t>tftpd-hpa</a:t>
            </a:r>
            <a:r>
              <a:rPr lang="zh-CN" altLang="en-US" sz="2000" dirty="0">
                <a:solidFill>
                  <a:schemeClr val="tx1"/>
                </a:solidFill>
                <a:latin typeface="-apple-system"/>
              </a:rPr>
              <a:t>，命令如下：</a:t>
            </a:r>
            <a:endParaRPr lang="en-US" altLang="zh-CN" sz="2000" dirty="0">
              <a:solidFill>
                <a:schemeClr val="tx1"/>
              </a:solidFill>
              <a:latin typeface="-apple-system"/>
            </a:endParaRPr>
          </a:p>
          <a:p>
            <a:pPr>
              <a:lnSpc>
                <a:spcPct val="150000"/>
              </a:lnSpc>
            </a:pPr>
            <a:endParaRPr lang="en-US" altLang="zh-CN" sz="2000" dirty="0">
              <a:solidFill>
                <a:schemeClr val="tx1"/>
              </a:solidFill>
              <a:latin typeface="-apple-system"/>
            </a:endParaRPr>
          </a:p>
          <a:p>
            <a:pPr>
              <a:lnSpc>
                <a:spcPct val="150000"/>
              </a:lnSpc>
            </a:pPr>
            <a:r>
              <a:rPr lang="zh-CN" altLang="en-US" sz="2000" dirty="0">
                <a:solidFill>
                  <a:schemeClr val="tx1"/>
                </a:solidFill>
                <a:latin typeface="-apple-system"/>
              </a:rPr>
              <a:t>和 </a:t>
            </a:r>
            <a:r>
              <a:rPr lang="en" altLang="zh-CN" sz="2000" dirty="0">
                <a:solidFill>
                  <a:schemeClr val="tx1"/>
                </a:solidFill>
                <a:latin typeface="-apple-system"/>
              </a:rPr>
              <a:t>NFS </a:t>
            </a:r>
            <a:r>
              <a:rPr lang="zh-CN" altLang="en-US" sz="2000" dirty="0">
                <a:solidFill>
                  <a:schemeClr val="tx1"/>
                </a:solidFill>
                <a:latin typeface="-apple-system"/>
              </a:rPr>
              <a:t>一样， </a:t>
            </a:r>
            <a:r>
              <a:rPr lang="en" altLang="zh-CN" sz="2000" dirty="0">
                <a:solidFill>
                  <a:schemeClr val="tx1"/>
                </a:solidFill>
                <a:latin typeface="-apple-system"/>
              </a:rPr>
              <a:t>TFTP </a:t>
            </a:r>
            <a:r>
              <a:rPr lang="zh-CN" altLang="en-US" sz="2000" dirty="0">
                <a:solidFill>
                  <a:schemeClr val="tx1"/>
                </a:solidFill>
                <a:latin typeface="-apple-system"/>
              </a:rPr>
              <a:t>也需要一个文件夹来存放文件，在用户目录下新建一个目录</a:t>
            </a:r>
          </a:p>
        </p:txBody>
      </p:sp>
      <p:pic>
        <p:nvPicPr>
          <p:cNvPr id="5" name="图片 4">
            <a:extLst>
              <a:ext uri="{FF2B5EF4-FFF2-40B4-BE49-F238E27FC236}">
                <a16:creationId xmlns:a16="http://schemas.microsoft.com/office/drawing/2014/main" id="{DFD52A93-DBA5-E947-81D1-0FD6CFFD7B30}"/>
              </a:ext>
            </a:extLst>
          </p:cNvPr>
          <p:cNvPicPr>
            <a:picLocks noChangeAspect="1"/>
          </p:cNvPicPr>
          <p:nvPr/>
        </p:nvPicPr>
        <p:blipFill>
          <a:blip r:embed="rId3"/>
          <a:stretch>
            <a:fillRect/>
          </a:stretch>
        </p:blipFill>
        <p:spPr>
          <a:xfrm>
            <a:off x="1524000" y="3962400"/>
            <a:ext cx="5194300" cy="749300"/>
          </a:xfrm>
          <a:prstGeom prst="rect">
            <a:avLst/>
          </a:prstGeom>
        </p:spPr>
      </p:pic>
      <p:pic>
        <p:nvPicPr>
          <p:cNvPr id="6" name="图片 5">
            <a:extLst>
              <a:ext uri="{FF2B5EF4-FFF2-40B4-BE49-F238E27FC236}">
                <a16:creationId xmlns:a16="http://schemas.microsoft.com/office/drawing/2014/main" id="{38465D80-5F28-9C47-A9F6-9B81727212B0}"/>
              </a:ext>
            </a:extLst>
          </p:cNvPr>
          <p:cNvPicPr>
            <a:picLocks noChangeAspect="1"/>
          </p:cNvPicPr>
          <p:nvPr/>
        </p:nvPicPr>
        <p:blipFill>
          <a:blip r:embed="rId4"/>
          <a:stretch>
            <a:fillRect/>
          </a:stretch>
        </p:blipFill>
        <p:spPr>
          <a:xfrm>
            <a:off x="2286000" y="5334000"/>
            <a:ext cx="5016500" cy="749300"/>
          </a:xfrm>
          <a:prstGeom prst="rect">
            <a:avLst/>
          </a:prstGeom>
        </p:spPr>
      </p:pic>
    </p:spTree>
    <p:extLst>
      <p:ext uri="{BB962C8B-B14F-4D97-AF65-F5344CB8AC3E}">
        <p14:creationId xmlns:p14="http://schemas.microsoft.com/office/powerpoint/2010/main" val="35105631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6.</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 网络操作命令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US" altLang="zh-CN" sz="2000" b="1" dirty="0" err="1">
                <a:solidFill>
                  <a:srgbClr val="0065B0"/>
                </a:solidFill>
                <a:latin typeface="-apple-system"/>
              </a:rPr>
              <a:t>tftp</a:t>
            </a:r>
            <a:r>
              <a:rPr lang="zh-CN" altLang="en-US" sz="2000" b="1" dirty="0">
                <a:solidFill>
                  <a:srgbClr val="0065B0"/>
                </a:solidFill>
                <a:latin typeface="-apple-system"/>
              </a:rPr>
              <a:t>命令</a:t>
            </a:r>
          </a:p>
          <a:p>
            <a:pPr>
              <a:lnSpc>
                <a:spcPct val="150000"/>
              </a:lnSpc>
            </a:pPr>
            <a:r>
              <a:rPr lang="zh-CN" altLang="en-US" sz="2000" b="0" i="0" u="none" strike="noStrike" dirty="0">
                <a:solidFill>
                  <a:srgbClr val="4D4D4D"/>
                </a:solidFill>
                <a:effectLst/>
                <a:latin typeface="-apple-system"/>
              </a:rPr>
              <a:t>最后配置 </a:t>
            </a:r>
            <a:r>
              <a:rPr lang="en" altLang="zh-CN" sz="2000" b="0" i="0" u="none" strike="noStrike" dirty="0" err="1">
                <a:solidFill>
                  <a:srgbClr val="4D4D4D"/>
                </a:solidFill>
                <a:effectLst/>
                <a:latin typeface="-apple-system"/>
              </a:rPr>
              <a:t>tftp</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安装完成以后新建文件</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etc</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xinetd.d</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tftp</a:t>
            </a:r>
            <a:r>
              <a:rPr lang="zh-CN" altLang="e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如果没有</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etc</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xinetd.d</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目录的话自行创建， 然后在里面输入如下内容：</a:t>
            </a:r>
            <a:endParaRPr lang="en-US" altLang="zh-CN" sz="2000" dirty="0">
              <a:solidFill>
                <a:schemeClr val="tx1"/>
              </a:solidFill>
              <a:latin typeface="-apple-system"/>
            </a:endParaRPr>
          </a:p>
        </p:txBody>
      </p:sp>
      <p:pic>
        <p:nvPicPr>
          <p:cNvPr id="4" name="图片 3">
            <a:extLst>
              <a:ext uri="{FF2B5EF4-FFF2-40B4-BE49-F238E27FC236}">
                <a16:creationId xmlns:a16="http://schemas.microsoft.com/office/drawing/2014/main" id="{A1E2A07D-32FF-4A43-88B4-ACD1B24656FF}"/>
              </a:ext>
            </a:extLst>
          </p:cNvPr>
          <p:cNvPicPr>
            <a:picLocks noChangeAspect="1"/>
          </p:cNvPicPr>
          <p:nvPr/>
        </p:nvPicPr>
        <p:blipFill>
          <a:blip r:embed="rId3"/>
          <a:stretch>
            <a:fillRect/>
          </a:stretch>
        </p:blipFill>
        <p:spPr>
          <a:xfrm>
            <a:off x="1447800" y="3283800"/>
            <a:ext cx="5638800" cy="3574200"/>
          </a:xfrm>
          <a:prstGeom prst="rect">
            <a:avLst/>
          </a:prstGeom>
        </p:spPr>
      </p:pic>
    </p:spTree>
    <p:extLst>
      <p:ext uri="{BB962C8B-B14F-4D97-AF65-F5344CB8AC3E}">
        <p14:creationId xmlns:p14="http://schemas.microsoft.com/office/powerpoint/2010/main" val="9304313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lgn="l">
              <a:buNone/>
            </a:pPr>
            <a:r>
              <a:rPr lang="en-US" altLang="zh-CN" sz="2400" b="1" i="0" u="none" strike="noStrike" dirty="0">
                <a:solidFill>
                  <a:srgbClr val="4F4F4F"/>
                </a:solidFill>
                <a:effectLst/>
                <a:latin typeface="PingFang SC" panose="020B0400000000000000" pitchFamily="34" charset="-122"/>
                <a:ea typeface="PingFang SC" panose="020B0400000000000000" pitchFamily="34" charset="-122"/>
              </a:rPr>
              <a:t>6.</a:t>
            </a:r>
            <a:r>
              <a:rPr lang="zh-CN" altLang="en-US" sz="2400" b="1" i="0" u="none" strike="noStrike" dirty="0">
                <a:solidFill>
                  <a:srgbClr val="4F4F4F"/>
                </a:solidFill>
                <a:effectLst/>
                <a:latin typeface="PingFang SC" panose="020B0400000000000000" pitchFamily="34" charset="-122"/>
                <a:ea typeface="PingFang SC" panose="020B0400000000000000" pitchFamily="34" charset="-122"/>
              </a:rPr>
              <a:t> 网络操作命令</a:t>
            </a:r>
            <a:endParaRPr lang="en-US" altLang="zh-CN" sz="2400" b="1"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50000"/>
              </a:lnSpc>
            </a:pPr>
            <a:r>
              <a:rPr lang="en-US" altLang="zh-CN" sz="2000" b="1" dirty="0" err="1">
                <a:solidFill>
                  <a:srgbClr val="0065B0"/>
                </a:solidFill>
                <a:latin typeface="-apple-system"/>
              </a:rPr>
              <a:t>tftp</a:t>
            </a:r>
            <a:r>
              <a:rPr lang="zh-CN" altLang="en-US" sz="2000" b="1" dirty="0">
                <a:solidFill>
                  <a:srgbClr val="0065B0"/>
                </a:solidFill>
                <a:latin typeface="-apple-system"/>
              </a:rPr>
              <a:t>命令</a:t>
            </a:r>
          </a:p>
          <a:p>
            <a:pPr>
              <a:lnSpc>
                <a:spcPct val="150000"/>
              </a:lnSpc>
            </a:pPr>
            <a:r>
              <a:rPr lang="zh-CN" altLang="en-US" sz="2000" b="0" i="0" u="none" strike="noStrike" dirty="0">
                <a:solidFill>
                  <a:srgbClr val="4D4D4D"/>
                </a:solidFill>
                <a:effectLst/>
                <a:latin typeface="-apple-system"/>
              </a:rPr>
              <a:t>最后配置 </a:t>
            </a:r>
            <a:r>
              <a:rPr lang="en" altLang="zh-CN" sz="2000" b="0" i="0" u="none" strike="noStrike" dirty="0" err="1">
                <a:solidFill>
                  <a:srgbClr val="4D4D4D"/>
                </a:solidFill>
                <a:effectLst/>
                <a:latin typeface="-apple-system"/>
              </a:rPr>
              <a:t>tftp</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安装完成以后新建文件</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etc</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xinetd.d</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tftp</a:t>
            </a:r>
            <a:r>
              <a:rPr lang="zh-CN" altLang="e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如果没有</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etc</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xinetd.d</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目录的话自行创建， 然后在里面输入如下内容：</a:t>
            </a:r>
            <a:endParaRPr lang="en-US" altLang="zh-CN" sz="2000" dirty="0">
              <a:solidFill>
                <a:schemeClr val="tx1"/>
              </a:solidFill>
              <a:latin typeface="-apple-system"/>
            </a:endParaRPr>
          </a:p>
        </p:txBody>
      </p:sp>
      <p:pic>
        <p:nvPicPr>
          <p:cNvPr id="4" name="图片 3">
            <a:extLst>
              <a:ext uri="{FF2B5EF4-FFF2-40B4-BE49-F238E27FC236}">
                <a16:creationId xmlns:a16="http://schemas.microsoft.com/office/drawing/2014/main" id="{A1E2A07D-32FF-4A43-88B4-ACD1B24656FF}"/>
              </a:ext>
            </a:extLst>
          </p:cNvPr>
          <p:cNvPicPr>
            <a:picLocks noChangeAspect="1"/>
          </p:cNvPicPr>
          <p:nvPr/>
        </p:nvPicPr>
        <p:blipFill>
          <a:blip r:embed="rId3"/>
          <a:stretch>
            <a:fillRect/>
          </a:stretch>
        </p:blipFill>
        <p:spPr>
          <a:xfrm>
            <a:off x="1447800" y="3283800"/>
            <a:ext cx="5638800" cy="3574200"/>
          </a:xfrm>
          <a:prstGeom prst="rect">
            <a:avLst/>
          </a:prstGeom>
        </p:spPr>
      </p:pic>
    </p:spTree>
    <p:extLst>
      <p:ext uri="{BB962C8B-B14F-4D97-AF65-F5344CB8AC3E}">
        <p14:creationId xmlns:p14="http://schemas.microsoft.com/office/powerpoint/2010/main" val="41112808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7</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a:t>
            </a:r>
            <a:r>
              <a:rPr lang="en" altLang="zh-CN" sz="2600" b="1" i="0" u="none" strike="noStrike" dirty="0">
                <a:solidFill>
                  <a:srgbClr val="4F4F4F"/>
                </a:solidFill>
                <a:effectLst/>
                <a:latin typeface="PingFang SC" panose="020B0400000000000000" pitchFamily="34" charset="-122"/>
                <a:ea typeface="PingFang SC" panose="020B0400000000000000" pitchFamily="34" charset="-122"/>
              </a:rPr>
              <a:t>BOOT </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操作命令</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r>
              <a:rPr lang="en" altLang="zh-CN" sz="2400" b="0" i="0" u="none" strike="noStrike" dirty="0">
                <a:solidFill>
                  <a:srgbClr val="4D4D4D"/>
                </a:solidFill>
                <a:effectLst/>
                <a:latin typeface="-apple-system"/>
              </a:rPr>
              <a:t>boot(</a:t>
            </a:r>
            <a:r>
              <a:rPr lang="zh-CN" altLang="en-US" sz="2400" b="0" i="0" u="none" strike="noStrike" dirty="0">
                <a:solidFill>
                  <a:srgbClr val="4D4D4D"/>
                </a:solidFill>
                <a:effectLst/>
                <a:latin typeface="-apple-system"/>
              </a:rPr>
              <a:t>引导</a:t>
            </a:r>
            <a:r>
              <a:rPr lang="en-US" altLang="zh-C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命令来启动 </a:t>
            </a:r>
            <a:r>
              <a:rPr lang="en" altLang="zh-CN" sz="2400" b="0" i="0" u="none" strike="noStrike" dirty="0">
                <a:solidFill>
                  <a:srgbClr val="4D4D4D"/>
                </a:solidFill>
                <a:effectLst/>
                <a:latin typeface="-apple-system"/>
              </a:rPr>
              <a:t>Linux</a:t>
            </a:r>
            <a:r>
              <a:rPr lang="zh-CN" altLang="en-US" sz="2400" b="0" i="0" u="none" strike="noStrike" dirty="0">
                <a:solidFill>
                  <a:srgbClr val="4D4D4D"/>
                </a:solidFill>
                <a:effectLst/>
                <a:latin typeface="-apple-system"/>
              </a:rPr>
              <a:t>： </a:t>
            </a:r>
            <a:r>
              <a:rPr lang="en" altLang="zh-CN" sz="2400" b="1" i="0" u="none" strike="noStrike" dirty="0" err="1">
                <a:solidFill>
                  <a:srgbClr val="0065B0"/>
                </a:solidFill>
                <a:effectLst/>
                <a:latin typeface="-apple-system"/>
              </a:rPr>
              <a:t>bootz</a:t>
            </a:r>
            <a:r>
              <a:rPr lang="zh-CN" altLang="en" sz="2400" b="1" i="0" u="none" strike="noStrike" dirty="0">
                <a:solidFill>
                  <a:srgbClr val="0065B0"/>
                </a:solidFill>
                <a:effectLst/>
                <a:latin typeface="-apple-system"/>
              </a:rPr>
              <a:t>、 </a:t>
            </a:r>
            <a:r>
              <a:rPr lang="en" altLang="zh-CN" sz="2400" b="1" i="0" u="none" strike="noStrike" dirty="0" err="1">
                <a:solidFill>
                  <a:srgbClr val="0065B0"/>
                </a:solidFill>
                <a:effectLst/>
                <a:latin typeface="-apple-system"/>
              </a:rPr>
              <a:t>bootm</a:t>
            </a:r>
            <a:r>
              <a:rPr lang="en" altLang="zh-CN" sz="2400" b="1" i="0" u="none" strike="noStrike" dirty="0">
                <a:solidFill>
                  <a:srgbClr val="0065B0"/>
                </a:solidFill>
                <a:effectLst/>
                <a:latin typeface="-apple-system"/>
              </a:rPr>
              <a:t> </a:t>
            </a:r>
            <a:r>
              <a:rPr lang="zh-CN" altLang="en-US" sz="2400" b="1" i="0" u="none" strike="noStrike" dirty="0">
                <a:solidFill>
                  <a:srgbClr val="0065B0"/>
                </a:solidFill>
                <a:effectLst/>
                <a:latin typeface="-apple-system"/>
              </a:rPr>
              <a:t>和 </a:t>
            </a:r>
            <a:r>
              <a:rPr lang="en" altLang="zh-CN" sz="2400" b="1" i="0" u="none" strike="noStrike" dirty="0">
                <a:solidFill>
                  <a:srgbClr val="0065B0"/>
                </a:solidFill>
                <a:effectLst/>
                <a:latin typeface="-apple-system"/>
              </a:rPr>
              <a:t>boot</a:t>
            </a:r>
          </a:p>
          <a:p>
            <a:pPr>
              <a:lnSpc>
                <a:spcPct val="150000"/>
              </a:lnSpc>
            </a:pPr>
            <a:r>
              <a:rPr lang="en" altLang="zh-CN" sz="2400" b="0" i="0" u="none" strike="noStrike" dirty="0" err="1">
                <a:effectLst/>
                <a:latin typeface="-apple-system"/>
              </a:rPr>
              <a:t>bootz</a:t>
            </a:r>
            <a:r>
              <a:rPr lang="en" altLang="zh-CN" sz="2400" b="0" i="0" u="none" strike="noStrike" dirty="0">
                <a:effectLst/>
                <a:latin typeface="-apple-system"/>
              </a:rPr>
              <a:t> </a:t>
            </a:r>
            <a:r>
              <a:rPr lang="zh-CN" altLang="en-US" sz="2400" b="0" i="0" u="none" strike="noStrike" dirty="0">
                <a:effectLst/>
                <a:latin typeface="-apple-system"/>
              </a:rPr>
              <a:t>命令用于启动 </a:t>
            </a:r>
            <a:r>
              <a:rPr lang="en" altLang="zh-CN" sz="2400" b="0" i="0" u="none" strike="noStrike" dirty="0" err="1">
                <a:effectLst/>
                <a:latin typeface="-apple-system"/>
              </a:rPr>
              <a:t>zImage</a:t>
            </a:r>
            <a:r>
              <a:rPr lang="en" altLang="zh-CN" sz="2400" b="0" i="0" u="none" strike="noStrike" dirty="0">
                <a:effectLst/>
                <a:latin typeface="-apple-system"/>
              </a:rPr>
              <a:t> </a:t>
            </a:r>
            <a:r>
              <a:rPr lang="zh-CN" altLang="en-US" sz="2400" b="0" i="0" u="none" strike="noStrike" dirty="0">
                <a:effectLst/>
                <a:latin typeface="-apple-system"/>
              </a:rPr>
              <a:t>镜像文件</a:t>
            </a:r>
            <a:endParaRPr lang="en" altLang="zh-CN" sz="2400" b="1" dirty="0">
              <a:solidFill>
                <a:srgbClr val="0065B0"/>
              </a:solidFill>
              <a:latin typeface="-apple-system"/>
            </a:endParaRPr>
          </a:p>
          <a:p>
            <a:pPr marL="0" indent="0">
              <a:lnSpc>
                <a:spcPct val="150000"/>
              </a:lnSpc>
              <a:buNone/>
            </a:pPr>
            <a:endParaRPr lang="en" altLang="zh-CN" sz="2400" b="1" i="0" u="none" strike="noStrike" dirty="0">
              <a:solidFill>
                <a:srgbClr val="0065B0"/>
              </a:solidFill>
              <a:effectLst/>
              <a:latin typeface="-apple-system"/>
              <a:ea typeface="PingFang SC" panose="020B0400000000000000" pitchFamily="34" charset="-122"/>
            </a:endParaRPr>
          </a:p>
          <a:p>
            <a:pPr marL="0" indent="0">
              <a:lnSpc>
                <a:spcPct val="150000"/>
              </a:lnSpc>
              <a:buNone/>
            </a:pPr>
            <a:endParaRPr lang="en-US" altLang="zh-CN" sz="2000" b="0" i="0" u="none" strike="noStrike" dirty="0">
              <a:solidFill>
                <a:srgbClr val="4D4D4D"/>
              </a:solidFill>
              <a:effectLst/>
              <a:latin typeface="-apple-system"/>
            </a:endParaRPr>
          </a:p>
          <a:p>
            <a:pPr marL="0" indent="0">
              <a:lnSpc>
                <a:spcPct val="150000"/>
              </a:lnSpc>
              <a:buNone/>
            </a:pPr>
            <a:r>
              <a:rPr lang="zh-CN" altLang="en-US" sz="2000" b="0" i="0" u="none" strike="noStrike" dirty="0">
                <a:solidFill>
                  <a:srgbClr val="4D4D4D"/>
                </a:solidFill>
                <a:effectLst/>
                <a:latin typeface="-apple-system"/>
              </a:rPr>
              <a:t>命令 </a:t>
            </a:r>
            <a:r>
              <a:rPr lang="en" altLang="zh-CN" sz="2000" b="0" i="0" u="none" strike="noStrike" dirty="0" err="1">
                <a:solidFill>
                  <a:srgbClr val="4D4D4D"/>
                </a:solidFill>
                <a:effectLst/>
                <a:latin typeface="-apple-system"/>
              </a:rPr>
              <a:t>bootz</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有三个参数， </a:t>
            </a:r>
            <a:r>
              <a:rPr lang="en" altLang="zh-CN" sz="2000" b="0" i="0" u="none" strike="noStrike" dirty="0" err="1">
                <a:solidFill>
                  <a:srgbClr val="4D4D4D"/>
                </a:solidFill>
                <a:effectLst/>
                <a:latin typeface="-apple-system"/>
              </a:rPr>
              <a:t>addr</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是 </a:t>
            </a:r>
            <a:r>
              <a:rPr lang="en" altLang="zh-CN" sz="2000" b="0" i="0" u="none" strike="noStrike" dirty="0">
                <a:solidFill>
                  <a:srgbClr val="4D4D4D"/>
                </a:solidFill>
                <a:effectLst/>
                <a:latin typeface="-apple-system"/>
              </a:rPr>
              <a:t>Linux </a:t>
            </a:r>
            <a:r>
              <a:rPr lang="zh-CN" altLang="en-US" sz="2000" b="0" i="0" u="none" strike="noStrike" dirty="0">
                <a:solidFill>
                  <a:srgbClr val="4D4D4D"/>
                </a:solidFill>
                <a:effectLst/>
                <a:latin typeface="-apple-system"/>
              </a:rPr>
              <a:t>镜像文件在 </a:t>
            </a:r>
            <a:r>
              <a:rPr lang="en" altLang="zh-CN" sz="2000" b="0" i="0" u="none" strike="noStrike" dirty="0">
                <a:solidFill>
                  <a:srgbClr val="4D4D4D"/>
                </a:solidFill>
                <a:effectLst/>
                <a:latin typeface="-apple-system"/>
              </a:rPr>
              <a:t>DRAM </a:t>
            </a:r>
            <a:r>
              <a:rPr lang="zh-CN" altLang="en-US" sz="2000" b="0" i="0" u="none" strike="noStrike" dirty="0">
                <a:solidFill>
                  <a:srgbClr val="4D4D4D"/>
                </a:solidFill>
                <a:effectLst/>
                <a:latin typeface="-apple-system"/>
              </a:rPr>
              <a:t>中的位置， </a:t>
            </a:r>
            <a:r>
              <a:rPr lang="en" altLang="zh-CN" sz="2000" b="0" i="0" u="none" strike="noStrike" dirty="0" err="1">
                <a:solidFill>
                  <a:srgbClr val="4D4D4D"/>
                </a:solidFill>
                <a:effectLst/>
                <a:latin typeface="-apple-system"/>
              </a:rPr>
              <a:t>initrd</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是 </a:t>
            </a:r>
            <a:r>
              <a:rPr lang="en" altLang="zh-CN" sz="2000" b="0" i="0" u="none" strike="noStrike" dirty="0" err="1">
                <a:solidFill>
                  <a:srgbClr val="4D4D4D"/>
                </a:solidFill>
                <a:effectLst/>
                <a:latin typeface="-apple-system"/>
              </a:rPr>
              <a:t>initrd</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文件在</a:t>
            </a:r>
            <a:r>
              <a:rPr lang="en" altLang="zh-CN" sz="2000" b="0" i="0" u="none" strike="noStrike" dirty="0">
                <a:solidFill>
                  <a:srgbClr val="4D4D4D"/>
                </a:solidFill>
                <a:effectLst/>
                <a:latin typeface="-apple-system"/>
              </a:rPr>
              <a:t>DRAM </a:t>
            </a:r>
            <a:r>
              <a:rPr lang="zh-CN" altLang="en-US" sz="2000" b="0" i="0" u="none" strike="noStrike" dirty="0">
                <a:solidFill>
                  <a:srgbClr val="4D4D4D"/>
                </a:solidFill>
                <a:effectLst/>
                <a:latin typeface="-apple-system"/>
              </a:rPr>
              <a:t>中的地址，如果不使用 </a:t>
            </a:r>
            <a:r>
              <a:rPr lang="en" altLang="zh-CN" sz="2000" b="0" i="0" u="none" strike="noStrike" dirty="0" err="1">
                <a:solidFill>
                  <a:srgbClr val="4D4D4D"/>
                </a:solidFill>
                <a:effectLst/>
                <a:latin typeface="-apple-system"/>
              </a:rPr>
              <a:t>initrd</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的话使用‘</a:t>
            </a:r>
            <a:r>
              <a:rPr lang="en-US" altLang="zh-C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代替即可， </a:t>
            </a:r>
            <a:r>
              <a:rPr lang="en" altLang="zh-CN" sz="2000" b="0" i="0" u="none" strike="noStrike" dirty="0" err="1">
                <a:solidFill>
                  <a:srgbClr val="4D4D4D"/>
                </a:solidFill>
                <a:effectLst/>
                <a:latin typeface="-apple-system"/>
              </a:rPr>
              <a:t>fdt</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就是设备树文件在</a:t>
            </a:r>
            <a:r>
              <a:rPr lang="en" altLang="zh-CN" sz="2000" b="0" i="0" u="none" strike="noStrike" dirty="0">
                <a:solidFill>
                  <a:srgbClr val="4D4D4D"/>
                </a:solidFill>
                <a:effectLst/>
                <a:latin typeface="-apple-system"/>
              </a:rPr>
              <a:t>DRAM </a:t>
            </a:r>
            <a:r>
              <a:rPr lang="zh-CN" altLang="en-US" sz="2000" b="0" i="0" u="none" strike="noStrike" dirty="0">
                <a:solidFill>
                  <a:srgbClr val="4D4D4D"/>
                </a:solidFill>
                <a:effectLst/>
                <a:latin typeface="-apple-system"/>
              </a:rPr>
              <a:t>中的地址。</a:t>
            </a:r>
            <a:endParaRPr lang="en-US" altLang="zh-CN" sz="2600" b="1" i="0" u="none" strike="noStrike" dirty="0">
              <a:solidFill>
                <a:srgbClr val="0065B0"/>
              </a:solidFill>
              <a:effectLst/>
              <a:latin typeface="PingFang SC" panose="020B0400000000000000" pitchFamily="34" charset="-122"/>
              <a:ea typeface="PingFang SC" panose="020B0400000000000000" pitchFamily="34" charset="-122"/>
            </a:endParaRPr>
          </a:p>
        </p:txBody>
      </p:sp>
      <p:pic>
        <p:nvPicPr>
          <p:cNvPr id="4" name="图片 3">
            <a:extLst>
              <a:ext uri="{FF2B5EF4-FFF2-40B4-BE49-F238E27FC236}">
                <a16:creationId xmlns:a16="http://schemas.microsoft.com/office/drawing/2014/main" id="{29AD980C-7C8C-C940-B16E-8EFCB63FC94B}"/>
              </a:ext>
            </a:extLst>
          </p:cNvPr>
          <p:cNvPicPr>
            <a:picLocks noChangeAspect="1"/>
          </p:cNvPicPr>
          <p:nvPr/>
        </p:nvPicPr>
        <p:blipFill>
          <a:blip r:embed="rId3"/>
          <a:stretch>
            <a:fillRect/>
          </a:stretch>
        </p:blipFill>
        <p:spPr>
          <a:xfrm>
            <a:off x="914400" y="3399692"/>
            <a:ext cx="5156200" cy="457200"/>
          </a:xfrm>
          <a:prstGeom prst="rect">
            <a:avLst/>
          </a:prstGeom>
        </p:spPr>
      </p:pic>
    </p:spTree>
    <p:extLst>
      <p:ext uri="{BB962C8B-B14F-4D97-AF65-F5344CB8AC3E}">
        <p14:creationId xmlns:p14="http://schemas.microsoft.com/office/powerpoint/2010/main" val="3711302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7</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a:t>
            </a:r>
            <a:r>
              <a:rPr lang="en" altLang="zh-CN" sz="2600" b="1" i="0" u="none" strike="noStrike" dirty="0">
                <a:solidFill>
                  <a:srgbClr val="4F4F4F"/>
                </a:solidFill>
                <a:effectLst/>
                <a:latin typeface="PingFang SC" panose="020B0400000000000000" pitchFamily="34" charset="-122"/>
                <a:ea typeface="PingFang SC" panose="020B0400000000000000" pitchFamily="34" charset="-122"/>
              </a:rPr>
              <a:t>BOOT </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操作命令</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r>
              <a:rPr lang="en" altLang="zh-CN" sz="2400" b="0" i="0" u="none" strike="noStrike" dirty="0">
                <a:solidFill>
                  <a:srgbClr val="4D4D4D"/>
                </a:solidFill>
                <a:effectLst/>
                <a:latin typeface="-apple-system"/>
              </a:rPr>
              <a:t>boot(</a:t>
            </a:r>
            <a:r>
              <a:rPr lang="zh-CN" altLang="en-US" sz="2400" b="0" i="0" u="none" strike="noStrike" dirty="0">
                <a:solidFill>
                  <a:srgbClr val="4D4D4D"/>
                </a:solidFill>
                <a:effectLst/>
                <a:latin typeface="-apple-system"/>
              </a:rPr>
              <a:t>引导</a:t>
            </a:r>
            <a:r>
              <a:rPr lang="en-US" altLang="zh-C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命令来启动 </a:t>
            </a:r>
            <a:r>
              <a:rPr lang="en" altLang="zh-CN" sz="2400" b="0" i="0" u="none" strike="noStrike" dirty="0">
                <a:solidFill>
                  <a:srgbClr val="4D4D4D"/>
                </a:solidFill>
                <a:effectLst/>
                <a:latin typeface="-apple-system"/>
              </a:rPr>
              <a:t>Linux</a:t>
            </a:r>
            <a:r>
              <a:rPr lang="zh-CN" altLang="en-US" sz="2400" b="0" i="0" u="none" strike="noStrike" dirty="0">
                <a:solidFill>
                  <a:srgbClr val="4D4D4D"/>
                </a:solidFill>
                <a:effectLst/>
                <a:latin typeface="-apple-system"/>
              </a:rPr>
              <a:t>： </a:t>
            </a:r>
            <a:r>
              <a:rPr lang="en" altLang="zh-CN" sz="2400" b="1" i="0" u="none" strike="noStrike" dirty="0" err="1">
                <a:solidFill>
                  <a:srgbClr val="0065B0"/>
                </a:solidFill>
                <a:effectLst/>
                <a:latin typeface="-apple-system"/>
              </a:rPr>
              <a:t>bootz</a:t>
            </a:r>
            <a:r>
              <a:rPr lang="zh-CN" altLang="en" sz="2400" b="1" i="0" u="none" strike="noStrike" dirty="0">
                <a:solidFill>
                  <a:srgbClr val="0065B0"/>
                </a:solidFill>
                <a:effectLst/>
                <a:latin typeface="-apple-system"/>
              </a:rPr>
              <a:t>、 </a:t>
            </a:r>
            <a:r>
              <a:rPr lang="en" altLang="zh-CN" sz="2400" b="1" i="0" u="none" strike="noStrike" dirty="0" err="1">
                <a:solidFill>
                  <a:srgbClr val="0065B0"/>
                </a:solidFill>
                <a:effectLst/>
                <a:latin typeface="-apple-system"/>
              </a:rPr>
              <a:t>bootm</a:t>
            </a:r>
            <a:r>
              <a:rPr lang="en" altLang="zh-CN" sz="2400" b="1" i="0" u="none" strike="noStrike" dirty="0">
                <a:solidFill>
                  <a:srgbClr val="0065B0"/>
                </a:solidFill>
                <a:effectLst/>
                <a:latin typeface="-apple-system"/>
              </a:rPr>
              <a:t> </a:t>
            </a:r>
            <a:r>
              <a:rPr lang="zh-CN" altLang="en-US" sz="2400" b="1" i="0" u="none" strike="noStrike" dirty="0">
                <a:solidFill>
                  <a:srgbClr val="0065B0"/>
                </a:solidFill>
                <a:effectLst/>
                <a:latin typeface="-apple-system"/>
              </a:rPr>
              <a:t>和 </a:t>
            </a:r>
            <a:r>
              <a:rPr lang="en" altLang="zh-CN" sz="2400" b="1" i="0" u="none" strike="noStrike" dirty="0">
                <a:solidFill>
                  <a:srgbClr val="0065B0"/>
                </a:solidFill>
                <a:effectLst/>
                <a:latin typeface="-apple-system"/>
              </a:rPr>
              <a:t>boot</a:t>
            </a:r>
          </a:p>
          <a:p>
            <a:pPr>
              <a:lnSpc>
                <a:spcPct val="150000"/>
              </a:lnSpc>
            </a:pPr>
            <a:r>
              <a:rPr lang="en" altLang="zh-CN" sz="2000" b="0" i="0" u="none" strike="noStrike" dirty="0" err="1">
                <a:effectLst/>
                <a:latin typeface="-apple-system"/>
              </a:rPr>
              <a:t>bootm</a:t>
            </a:r>
            <a:r>
              <a:rPr lang="en" altLang="zh-CN" sz="2000" b="0" i="0" u="none" strike="noStrike" dirty="0">
                <a:effectLst/>
                <a:latin typeface="-apple-system"/>
              </a:rPr>
              <a:t> </a:t>
            </a:r>
            <a:r>
              <a:rPr lang="zh-CN" altLang="en-US" sz="2000" b="0" i="0" u="none" strike="noStrike" dirty="0">
                <a:effectLst/>
                <a:latin typeface="-apple-system"/>
              </a:rPr>
              <a:t>和 </a:t>
            </a:r>
            <a:r>
              <a:rPr lang="en" altLang="zh-CN" sz="2000" b="0" i="0" u="none" strike="noStrike" dirty="0" err="1">
                <a:effectLst/>
                <a:latin typeface="-apple-system"/>
              </a:rPr>
              <a:t>bootz</a:t>
            </a:r>
            <a:r>
              <a:rPr lang="en" altLang="zh-CN" sz="2000" b="0" i="0" u="none" strike="noStrike" dirty="0">
                <a:effectLst/>
                <a:latin typeface="-apple-system"/>
              </a:rPr>
              <a:t> </a:t>
            </a:r>
            <a:r>
              <a:rPr lang="zh-CN" altLang="en-US" sz="2000" b="0" i="0" u="none" strike="noStrike" dirty="0">
                <a:effectLst/>
                <a:latin typeface="-apple-system"/>
              </a:rPr>
              <a:t>功能类似，但是 </a:t>
            </a:r>
            <a:r>
              <a:rPr lang="en" altLang="zh-CN" sz="2000" b="0" i="0" u="none" strike="noStrike" dirty="0" err="1">
                <a:effectLst/>
                <a:latin typeface="-apple-system"/>
              </a:rPr>
              <a:t>bootm</a:t>
            </a:r>
            <a:r>
              <a:rPr lang="en" altLang="zh-CN" sz="2000" b="0" i="0" u="none" strike="noStrike" dirty="0">
                <a:effectLst/>
                <a:latin typeface="-apple-system"/>
              </a:rPr>
              <a:t> </a:t>
            </a:r>
            <a:r>
              <a:rPr lang="zh-CN" altLang="en-US" sz="2000" b="0" i="0" u="none" strike="noStrike" dirty="0">
                <a:effectLst/>
                <a:latin typeface="-apple-system"/>
              </a:rPr>
              <a:t>用于启动 </a:t>
            </a:r>
            <a:r>
              <a:rPr lang="en" altLang="zh-CN" sz="2000" b="0" i="0" u="none" strike="noStrike" dirty="0" err="1">
                <a:effectLst/>
                <a:latin typeface="-apple-system"/>
              </a:rPr>
              <a:t>uImage</a:t>
            </a:r>
            <a:r>
              <a:rPr lang="en" altLang="zh-CN" sz="2000" b="0" i="0" u="none" strike="noStrike" dirty="0">
                <a:effectLst/>
                <a:latin typeface="-apple-system"/>
              </a:rPr>
              <a:t> </a:t>
            </a:r>
            <a:r>
              <a:rPr lang="zh-CN" altLang="en-US" sz="2000" b="0" i="0" u="none" strike="noStrike" dirty="0">
                <a:effectLst/>
                <a:latin typeface="-apple-system"/>
              </a:rPr>
              <a:t>镜像文件</a:t>
            </a:r>
            <a:endParaRPr lang="en-US" altLang="zh-CN" sz="2000" b="0" i="0" u="none" strike="noStrike" dirty="0">
              <a:effectLst/>
              <a:latin typeface="-apple-system"/>
            </a:endParaRPr>
          </a:p>
          <a:p>
            <a:pPr>
              <a:lnSpc>
                <a:spcPct val="150000"/>
              </a:lnSpc>
            </a:pPr>
            <a:r>
              <a:rPr lang="zh-CN" altLang="en-US" sz="2000" b="0" i="0" u="none" strike="noStrike" dirty="0">
                <a:effectLst/>
                <a:latin typeface="-apple-system"/>
              </a:rPr>
              <a:t>用设备树启动 </a:t>
            </a:r>
            <a:r>
              <a:rPr lang="en" altLang="zh-CN" sz="2000" b="0" i="0" u="none" strike="noStrike" dirty="0">
                <a:effectLst/>
                <a:latin typeface="-apple-system"/>
              </a:rPr>
              <a:t>Linux </a:t>
            </a:r>
            <a:r>
              <a:rPr lang="zh-CN" altLang="en-US" sz="2000" b="0" i="0" u="none" strike="noStrike" dirty="0">
                <a:effectLst/>
                <a:latin typeface="-apple-system"/>
              </a:rPr>
              <a:t>内核：</a:t>
            </a:r>
            <a:endParaRPr lang="en" altLang="zh-CN" sz="2400" b="1" i="0" u="none" strike="noStrike" dirty="0">
              <a:solidFill>
                <a:srgbClr val="0065B0"/>
              </a:solidFill>
              <a:effectLst/>
              <a:latin typeface="-apple-system"/>
              <a:ea typeface="PingFang SC" panose="020B0400000000000000" pitchFamily="34" charset="-122"/>
            </a:endParaRPr>
          </a:p>
          <a:p>
            <a:pPr marL="0" indent="0">
              <a:lnSpc>
                <a:spcPct val="150000"/>
              </a:lnSpc>
              <a:buNone/>
            </a:pPr>
            <a:endParaRPr lang="en-US" altLang="zh-CN" sz="2000" b="0" i="0" u="none" strike="noStrike" dirty="0">
              <a:solidFill>
                <a:srgbClr val="4D4D4D"/>
              </a:solidFill>
              <a:effectLst/>
              <a:latin typeface="-apple-system"/>
            </a:endParaRPr>
          </a:p>
          <a:p>
            <a:pPr marL="0" indent="0">
              <a:lnSpc>
                <a:spcPct val="150000"/>
              </a:lnSpc>
              <a:buNone/>
            </a:pPr>
            <a:r>
              <a:rPr lang="en" altLang="zh-CN" sz="2000" b="0" i="0" u="none" strike="noStrike" dirty="0" err="1">
                <a:solidFill>
                  <a:srgbClr val="4D4D4D"/>
                </a:solidFill>
                <a:effectLst/>
                <a:latin typeface="-apple-system"/>
              </a:rPr>
              <a:t>addr</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是 </a:t>
            </a:r>
            <a:r>
              <a:rPr lang="en" altLang="zh-CN" sz="2000" b="0" i="0" u="none" strike="noStrike" dirty="0" err="1">
                <a:solidFill>
                  <a:srgbClr val="4D4D4D"/>
                </a:solidFill>
                <a:effectLst/>
                <a:latin typeface="-apple-system"/>
              </a:rPr>
              <a:t>uImage</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镜像在 </a:t>
            </a:r>
            <a:r>
              <a:rPr lang="en" altLang="zh-CN" sz="2000" b="0" i="0" u="none" strike="noStrike" dirty="0">
                <a:solidFill>
                  <a:srgbClr val="4D4D4D"/>
                </a:solidFill>
                <a:effectLst/>
                <a:latin typeface="-apple-system"/>
              </a:rPr>
              <a:t>DRAM </a:t>
            </a:r>
            <a:r>
              <a:rPr lang="zh-CN" altLang="en-US" sz="2000" b="0" i="0" u="none" strike="noStrike" dirty="0">
                <a:solidFill>
                  <a:srgbClr val="4D4D4D"/>
                </a:solidFill>
                <a:effectLst/>
                <a:latin typeface="-apple-system"/>
              </a:rPr>
              <a:t>中的首地址</a:t>
            </a:r>
            <a:endParaRPr lang="en-US" altLang="zh-CN" sz="2000" dirty="0">
              <a:solidFill>
                <a:srgbClr val="4D4D4D"/>
              </a:solidFill>
              <a:latin typeface="-apple-system"/>
            </a:endParaRPr>
          </a:p>
          <a:p>
            <a:pPr>
              <a:lnSpc>
                <a:spcPct val="150000"/>
              </a:lnSpc>
            </a:pPr>
            <a:r>
              <a:rPr lang="zh-CN" altLang="en-US" sz="2000" dirty="0">
                <a:latin typeface="-apple-system"/>
              </a:rPr>
              <a:t>使用设备树，那么 </a:t>
            </a:r>
            <a:r>
              <a:rPr lang="en" altLang="zh-CN" sz="2000" dirty="0" err="1">
                <a:latin typeface="-apple-system"/>
              </a:rPr>
              <a:t>bootm</a:t>
            </a:r>
            <a:r>
              <a:rPr lang="en" altLang="zh-CN" sz="2000" dirty="0">
                <a:latin typeface="-apple-system"/>
              </a:rPr>
              <a:t> </a:t>
            </a:r>
            <a:r>
              <a:rPr lang="zh-CN" altLang="en-US" sz="2000" dirty="0">
                <a:latin typeface="-apple-system"/>
              </a:rPr>
              <a:t>命令和 </a:t>
            </a:r>
            <a:r>
              <a:rPr lang="en" altLang="zh-CN" sz="2000" dirty="0" err="1">
                <a:latin typeface="-apple-system"/>
              </a:rPr>
              <a:t>bootz</a:t>
            </a:r>
            <a:r>
              <a:rPr lang="en" altLang="zh-CN" sz="2000" dirty="0">
                <a:latin typeface="-apple-system"/>
              </a:rPr>
              <a:t> </a:t>
            </a:r>
            <a:r>
              <a:rPr lang="zh-CN" altLang="en-US" sz="2000" dirty="0">
                <a:latin typeface="-apple-system"/>
              </a:rPr>
              <a:t>一样</a:t>
            </a:r>
            <a:endParaRPr lang="en-US" altLang="zh-CN" sz="2000" dirty="0">
              <a:latin typeface="-apple-system"/>
            </a:endParaRPr>
          </a:p>
          <a:p>
            <a:pPr>
              <a:lnSpc>
                <a:spcPct val="150000"/>
              </a:lnSpc>
            </a:pPr>
            <a:endParaRPr lang="en-US" altLang="zh-CN" sz="2000" dirty="0">
              <a:latin typeface="-apple-system"/>
            </a:endParaRPr>
          </a:p>
          <a:p>
            <a:pPr marL="0" indent="0">
              <a:lnSpc>
                <a:spcPct val="150000"/>
              </a:lnSpc>
              <a:buNone/>
            </a:pPr>
            <a:r>
              <a:rPr lang="zh-CN" altLang="en-US" sz="1800" b="0" i="0" u="none" strike="noStrike" dirty="0">
                <a:solidFill>
                  <a:srgbClr val="4D4D4D"/>
                </a:solidFill>
                <a:effectLst/>
                <a:latin typeface="-apple-system"/>
              </a:rPr>
              <a:t>其中 </a:t>
            </a:r>
            <a:r>
              <a:rPr lang="en" altLang="zh-CN" sz="1800" b="0" i="0" u="none" strike="noStrike" dirty="0" err="1">
                <a:solidFill>
                  <a:srgbClr val="4D4D4D"/>
                </a:solidFill>
                <a:effectLst/>
                <a:latin typeface="-apple-system"/>
              </a:rPr>
              <a:t>addr</a:t>
            </a:r>
            <a:r>
              <a:rPr lang="en"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是 </a:t>
            </a:r>
            <a:r>
              <a:rPr lang="en" altLang="zh-CN" sz="1800" b="0" i="0" u="none" strike="noStrike" dirty="0" err="1">
                <a:solidFill>
                  <a:srgbClr val="4D4D4D"/>
                </a:solidFill>
                <a:effectLst/>
                <a:latin typeface="-apple-system"/>
              </a:rPr>
              <a:t>uImage</a:t>
            </a:r>
            <a:r>
              <a:rPr lang="en"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在 </a:t>
            </a:r>
            <a:r>
              <a:rPr lang="en" altLang="zh-CN" sz="1800" b="0" i="0" u="none" strike="noStrike" dirty="0">
                <a:solidFill>
                  <a:srgbClr val="4D4D4D"/>
                </a:solidFill>
                <a:effectLst/>
                <a:latin typeface="-apple-system"/>
              </a:rPr>
              <a:t>DRAM </a:t>
            </a:r>
            <a:r>
              <a:rPr lang="zh-CN" altLang="en-US" sz="1800" b="0" i="0" u="none" strike="noStrike" dirty="0">
                <a:solidFill>
                  <a:srgbClr val="4D4D4D"/>
                </a:solidFill>
                <a:effectLst/>
                <a:latin typeface="-apple-system"/>
              </a:rPr>
              <a:t>中的首地址， </a:t>
            </a:r>
            <a:r>
              <a:rPr lang="en" altLang="zh-CN" sz="1800" b="0" i="0" u="none" strike="noStrike" dirty="0" err="1">
                <a:solidFill>
                  <a:srgbClr val="4D4D4D"/>
                </a:solidFill>
                <a:effectLst/>
                <a:latin typeface="-apple-system"/>
              </a:rPr>
              <a:t>initrd</a:t>
            </a:r>
            <a:r>
              <a:rPr lang="en"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是 </a:t>
            </a:r>
            <a:r>
              <a:rPr lang="en" altLang="zh-CN" sz="1800" b="0" i="0" u="none" strike="noStrike" dirty="0" err="1">
                <a:solidFill>
                  <a:srgbClr val="4D4D4D"/>
                </a:solidFill>
                <a:effectLst/>
                <a:latin typeface="-apple-system"/>
              </a:rPr>
              <a:t>initrd</a:t>
            </a:r>
            <a:r>
              <a:rPr lang="en"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的地址， </a:t>
            </a:r>
            <a:r>
              <a:rPr lang="en" altLang="zh-CN" sz="1800" b="0" i="0" u="none" strike="noStrike" dirty="0" err="1">
                <a:solidFill>
                  <a:srgbClr val="4D4D4D"/>
                </a:solidFill>
                <a:effectLst/>
                <a:latin typeface="-apple-system"/>
              </a:rPr>
              <a:t>fdt</a:t>
            </a:r>
            <a:r>
              <a:rPr lang="en"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是设备树</a:t>
            </a:r>
            <a:r>
              <a:rPr lang="en-US" altLang="zh-CN" sz="1800" b="0" i="0" u="none" strike="noStrike" dirty="0">
                <a:solidFill>
                  <a:srgbClr val="4D4D4D"/>
                </a:solidFill>
                <a:effectLst/>
                <a:latin typeface="-apple-system"/>
              </a:rPr>
              <a:t>(.</a:t>
            </a:r>
            <a:r>
              <a:rPr lang="en" altLang="zh-CN" sz="1800" b="0" i="0" u="none" strike="noStrike" dirty="0" err="1">
                <a:solidFill>
                  <a:srgbClr val="4D4D4D"/>
                </a:solidFill>
                <a:effectLst/>
                <a:latin typeface="-apple-system"/>
              </a:rPr>
              <a:t>dtb</a:t>
            </a:r>
            <a:r>
              <a:rPr lang="en" altLang="zh-CN" sz="1800" b="0" i="0" u="none" strike="noStrike" dirty="0">
                <a:solidFill>
                  <a:srgbClr val="4D4D4D"/>
                </a:solidFill>
                <a:effectLst/>
                <a:latin typeface="-apple-system"/>
              </a:rPr>
              <a:t>)</a:t>
            </a:r>
            <a:r>
              <a:rPr lang="zh-CN" altLang="en-US" sz="1800" b="0" i="0" u="none" strike="noStrike" dirty="0">
                <a:solidFill>
                  <a:srgbClr val="4D4D4D"/>
                </a:solidFill>
                <a:effectLst/>
                <a:latin typeface="-apple-system"/>
              </a:rPr>
              <a:t>文件在 </a:t>
            </a:r>
            <a:r>
              <a:rPr lang="en" altLang="zh-CN" sz="1800" b="0" i="0" u="none" strike="noStrike" dirty="0">
                <a:solidFill>
                  <a:srgbClr val="4D4D4D"/>
                </a:solidFill>
                <a:effectLst/>
                <a:latin typeface="-apple-system"/>
              </a:rPr>
              <a:t>DRAM </a:t>
            </a:r>
            <a:r>
              <a:rPr lang="zh-CN" altLang="en-US" sz="1800" b="0" i="0" u="none" strike="noStrike" dirty="0">
                <a:solidFill>
                  <a:srgbClr val="4D4D4D"/>
                </a:solidFill>
                <a:effectLst/>
                <a:latin typeface="-apple-system"/>
              </a:rPr>
              <a:t>中的首地址，如果 </a:t>
            </a:r>
            <a:r>
              <a:rPr lang="en" altLang="zh-CN" sz="1800" b="0" i="0" u="none" strike="noStrike" dirty="0" err="1">
                <a:solidFill>
                  <a:srgbClr val="4D4D4D"/>
                </a:solidFill>
                <a:effectLst/>
                <a:latin typeface="-apple-system"/>
              </a:rPr>
              <a:t>initrd</a:t>
            </a:r>
            <a:r>
              <a:rPr lang="en"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为空的话，同样是用“</a:t>
            </a:r>
            <a:r>
              <a:rPr lang="en-US" altLang="zh-CN" sz="1800" b="0" i="0" u="none" strike="noStrike" dirty="0">
                <a:solidFill>
                  <a:srgbClr val="4D4D4D"/>
                </a:solidFill>
                <a:effectLst/>
                <a:latin typeface="-apple-system"/>
              </a:rPr>
              <a:t>-”</a:t>
            </a:r>
            <a:r>
              <a:rPr lang="zh-CN" altLang="en-US" sz="1800" b="0" i="0" u="none" strike="noStrike" dirty="0">
                <a:solidFill>
                  <a:srgbClr val="4D4D4D"/>
                </a:solidFill>
                <a:effectLst/>
                <a:latin typeface="-apple-system"/>
              </a:rPr>
              <a:t>来替代</a:t>
            </a:r>
            <a:endParaRPr lang="en-US" altLang="zh-CN" sz="2000" dirty="0">
              <a:latin typeface="-apple-system"/>
            </a:endParaRPr>
          </a:p>
        </p:txBody>
      </p:sp>
      <p:pic>
        <p:nvPicPr>
          <p:cNvPr id="5" name="图片 4">
            <a:extLst>
              <a:ext uri="{FF2B5EF4-FFF2-40B4-BE49-F238E27FC236}">
                <a16:creationId xmlns:a16="http://schemas.microsoft.com/office/drawing/2014/main" id="{66DBEAEC-2902-EA43-B8A0-4E9218473C95}"/>
              </a:ext>
            </a:extLst>
          </p:cNvPr>
          <p:cNvPicPr>
            <a:picLocks noChangeAspect="1"/>
          </p:cNvPicPr>
          <p:nvPr/>
        </p:nvPicPr>
        <p:blipFill>
          <a:blip r:embed="rId3"/>
          <a:stretch>
            <a:fillRect/>
          </a:stretch>
        </p:blipFill>
        <p:spPr>
          <a:xfrm>
            <a:off x="914400" y="3599822"/>
            <a:ext cx="2870200" cy="457200"/>
          </a:xfrm>
          <a:prstGeom prst="rect">
            <a:avLst/>
          </a:prstGeom>
        </p:spPr>
      </p:pic>
      <p:pic>
        <p:nvPicPr>
          <p:cNvPr id="6" name="图片 5">
            <a:extLst>
              <a:ext uri="{FF2B5EF4-FFF2-40B4-BE49-F238E27FC236}">
                <a16:creationId xmlns:a16="http://schemas.microsoft.com/office/drawing/2014/main" id="{817868C7-29D1-6340-A7A0-CCD0A7FF701C}"/>
              </a:ext>
            </a:extLst>
          </p:cNvPr>
          <p:cNvPicPr>
            <a:picLocks noChangeAspect="1"/>
          </p:cNvPicPr>
          <p:nvPr/>
        </p:nvPicPr>
        <p:blipFill>
          <a:blip r:embed="rId4"/>
          <a:stretch>
            <a:fillRect/>
          </a:stretch>
        </p:blipFill>
        <p:spPr>
          <a:xfrm>
            <a:off x="890116" y="5105400"/>
            <a:ext cx="5321300" cy="444500"/>
          </a:xfrm>
          <a:prstGeom prst="rect">
            <a:avLst/>
          </a:prstGeom>
        </p:spPr>
      </p:pic>
    </p:spTree>
    <p:extLst>
      <p:ext uri="{BB962C8B-B14F-4D97-AF65-F5344CB8AC3E}">
        <p14:creationId xmlns:p14="http://schemas.microsoft.com/office/powerpoint/2010/main" val="1213702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7</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a:t>
            </a:r>
            <a:r>
              <a:rPr lang="en" altLang="zh-CN" sz="2600" b="1" i="0" u="none" strike="noStrike" dirty="0">
                <a:solidFill>
                  <a:srgbClr val="4F4F4F"/>
                </a:solidFill>
                <a:effectLst/>
                <a:latin typeface="PingFang SC" panose="020B0400000000000000" pitchFamily="34" charset="-122"/>
                <a:ea typeface="PingFang SC" panose="020B0400000000000000" pitchFamily="34" charset="-122"/>
              </a:rPr>
              <a:t>BOOT </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操作命令</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r>
              <a:rPr lang="en" altLang="zh-CN" sz="2400" b="0" i="0" u="none" strike="noStrike" dirty="0">
                <a:solidFill>
                  <a:srgbClr val="4D4D4D"/>
                </a:solidFill>
                <a:effectLst/>
                <a:latin typeface="-apple-system"/>
              </a:rPr>
              <a:t>boot(</a:t>
            </a:r>
            <a:r>
              <a:rPr lang="zh-CN" altLang="en-US" sz="2400" b="0" i="0" u="none" strike="noStrike" dirty="0">
                <a:solidFill>
                  <a:srgbClr val="4D4D4D"/>
                </a:solidFill>
                <a:effectLst/>
                <a:latin typeface="-apple-system"/>
              </a:rPr>
              <a:t>引导</a:t>
            </a:r>
            <a:r>
              <a:rPr lang="en-US" altLang="zh-C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命令来启动 </a:t>
            </a:r>
            <a:r>
              <a:rPr lang="en" altLang="zh-CN" sz="2400" b="0" i="0" u="none" strike="noStrike" dirty="0">
                <a:solidFill>
                  <a:srgbClr val="4D4D4D"/>
                </a:solidFill>
                <a:effectLst/>
                <a:latin typeface="-apple-system"/>
              </a:rPr>
              <a:t>Linux</a:t>
            </a:r>
            <a:r>
              <a:rPr lang="zh-CN" altLang="en-US" sz="2400" b="0" i="0" u="none" strike="noStrike" dirty="0">
                <a:solidFill>
                  <a:srgbClr val="4D4D4D"/>
                </a:solidFill>
                <a:effectLst/>
                <a:latin typeface="-apple-system"/>
              </a:rPr>
              <a:t>： </a:t>
            </a:r>
            <a:r>
              <a:rPr lang="en" altLang="zh-CN" sz="2400" b="1" i="0" u="none" strike="noStrike" dirty="0" err="1">
                <a:solidFill>
                  <a:srgbClr val="0065B0"/>
                </a:solidFill>
                <a:effectLst/>
                <a:latin typeface="-apple-system"/>
              </a:rPr>
              <a:t>bootz</a:t>
            </a:r>
            <a:r>
              <a:rPr lang="zh-CN" altLang="en" sz="2400" b="1" i="0" u="none" strike="noStrike" dirty="0">
                <a:solidFill>
                  <a:srgbClr val="0065B0"/>
                </a:solidFill>
                <a:effectLst/>
                <a:latin typeface="-apple-system"/>
              </a:rPr>
              <a:t>、 </a:t>
            </a:r>
            <a:r>
              <a:rPr lang="en" altLang="zh-CN" sz="2400" b="1" i="0" u="none" strike="noStrike" dirty="0" err="1">
                <a:solidFill>
                  <a:srgbClr val="0065B0"/>
                </a:solidFill>
                <a:effectLst/>
                <a:latin typeface="-apple-system"/>
              </a:rPr>
              <a:t>bootm</a:t>
            </a:r>
            <a:r>
              <a:rPr lang="en" altLang="zh-CN" sz="2400" b="1" i="0" u="none" strike="noStrike" dirty="0">
                <a:solidFill>
                  <a:srgbClr val="0065B0"/>
                </a:solidFill>
                <a:effectLst/>
                <a:latin typeface="-apple-system"/>
              </a:rPr>
              <a:t> </a:t>
            </a:r>
            <a:r>
              <a:rPr lang="zh-CN" altLang="en-US" sz="2400" b="1" i="0" u="none" strike="noStrike" dirty="0">
                <a:solidFill>
                  <a:srgbClr val="0065B0"/>
                </a:solidFill>
                <a:effectLst/>
                <a:latin typeface="-apple-system"/>
              </a:rPr>
              <a:t>和 </a:t>
            </a:r>
            <a:r>
              <a:rPr lang="en" altLang="zh-CN" sz="2400" b="1" i="0" u="none" strike="noStrike" dirty="0">
                <a:solidFill>
                  <a:srgbClr val="0065B0"/>
                </a:solidFill>
                <a:effectLst/>
                <a:latin typeface="-apple-system"/>
              </a:rPr>
              <a:t>boot</a:t>
            </a:r>
          </a:p>
          <a:p>
            <a:pPr>
              <a:lnSpc>
                <a:spcPct val="150000"/>
              </a:lnSpc>
            </a:pPr>
            <a:r>
              <a:rPr lang="en" altLang="zh-CN" sz="2400" b="0" i="0" u="none" strike="noStrike" dirty="0">
                <a:effectLst/>
                <a:latin typeface="-apple-system"/>
              </a:rPr>
              <a:t>boot </a:t>
            </a:r>
            <a:r>
              <a:rPr lang="zh-CN" altLang="en-US" sz="2400" b="0" i="0" u="none" strike="noStrike" dirty="0">
                <a:effectLst/>
                <a:latin typeface="-apple-system"/>
              </a:rPr>
              <a:t>命令，</a:t>
            </a:r>
            <a:r>
              <a:rPr lang="zh-CN" altLang="en-US" sz="2400" dirty="0">
                <a:latin typeface="-apple-system"/>
              </a:rPr>
              <a:t>读取环境变量 </a:t>
            </a:r>
            <a:r>
              <a:rPr lang="en-US" altLang="zh-CN" sz="2400" dirty="0" err="1">
                <a:latin typeface="-apple-system"/>
              </a:rPr>
              <a:t>bootcmd</a:t>
            </a:r>
            <a:r>
              <a:rPr lang="en-US" altLang="zh-CN" sz="2400" dirty="0">
                <a:latin typeface="-apple-system"/>
              </a:rPr>
              <a:t> </a:t>
            </a:r>
            <a:r>
              <a:rPr lang="zh-CN" altLang="en-US" sz="2400" dirty="0">
                <a:latin typeface="-apple-system"/>
              </a:rPr>
              <a:t>来启动 </a:t>
            </a:r>
            <a:r>
              <a:rPr lang="en-US" altLang="zh-CN" sz="2400" dirty="0">
                <a:latin typeface="-apple-system"/>
              </a:rPr>
              <a:t>Linux </a:t>
            </a:r>
            <a:r>
              <a:rPr lang="zh-CN" altLang="en-US" sz="2400" dirty="0">
                <a:latin typeface="-apple-system"/>
              </a:rPr>
              <a:t>系统</a:t>
            </a:r>
            <a:endParaRPr lang="en-US" altLang="zh-CN" sz="2400" dirty="0">
              <a:latin typeface="-apple-system"/>
            </a:endParaRPr>
          </a:p>
          <a:p>
            <a:pPr>
              <a:lnSpc>
                <a:spcPct val="150000"/>
              </a:lnSpc>
            </a:pPr>
            <a:r>
              <a:rPr lang="en-US" altLang="zh-CN" sz="2400" dirty="0" err="1">
                <a:latin typeface="-apple-system"/>
              </a:rPr>
              <a:t>bootcmd</a:t>
            </a:r>
            <a:r>
              <a:rPr lang="en-US" altLang="zh-CN" sz="2400" dirty="0">
                <a:latin typeface="-apple-system"/>
              </a:rPr>
              <a:t> </a:t>
            </a:r>
            <a:r>
              <a:rPr lang="zh-CN" altLang="en-US" sz="2400" dirty="0">
                <a:latin typeface="-apple-system"/>
              </a:rPr>
              <a:t>是一个很重要的环境变量，其名字分为“</a:t>
            </a:r>
            <a:r>
              <a:rPr lang="en-US" altLang="zh-CN" sz="2400" dirty="0">
                <a:latin typeface="-apple-system"/>
              </a:rPr>
              <a:t>boot”</a:t>
            </a:r>
            <a:r>
              <a:rPr lang="zh-CN" altLang="en-US" sz="2400" dirty="0">
                <a:latin typeface="-apple-system"/>
              </a:rPr>
              <a:t>和“</a:t>
            </a:r>
            <a:r>
              <a:rPr lang="en-US" altLang="zh-CN" sz="2400" dirty="0" err="1">
                <a:latin typeface="-apple-system"/>
              </a:rPr>
              <a:t>cmd</a:t>
            </a:r>
            <a:r>
              <a:rPr lang="en-US" altLang="zh-CN" sz="2400" dirty="0">
                <a:latin typeface="-apple-system"/>
              </a:rPr>
              <a:t>”</a:t>
            </a:r>
            <a:r>
              <a:rPr lang="zh-CN" altLang="en-US" sz="2400" dirty="0">
                <a:latin typeface="-apple-system"/>
              </a:rPr>
              <a:t>，也就是“引导”和“命令”，说明这个环境变量保存着引导命令，其实就是启动的命令集合，具体的引导命令内容是可以修改的。</a:t>
            </a:r>
            <a:endParaRPr lang="en-US" altLang="zh-CN" sz="2400" dirty="0">
              <a:latin typeface="-apple-system"/>
            </a:endParaRPr>
          </a:p>
          <a:p>
            <a:pPr>
              <a:lnSpc>
                <a:spcPct val="150000"/>
              </a:lnSpc>
            </a:pPr>
            <a:r>
              <a:rPr lang="en-US" altLang="zh-CN" sz="2400" dirty="0" err="1">
                <a:latin typeface="-apple-system"/>
              </a:rPr>
              <a:t>bootargs</a:t>
            </a:r>
            <a:r>
              <a:rPr lang="en-US" altLang="zh-CN" sz="2400" dirty="0">
                <a:latin typeface="-apple-system"/>
              </a:rPr>
              <a:t> </a:t>
            </a:r>
            <a:r>
              <a:rPr lang="zh-CN" altLang="en-US" sz="2400" dirty="0">
                <a:latin typeface="-apple-system"/>
              </a:rPr>
              <a:t>环境变量用来存储根文件系统的路径</a:t>
            </a:r>
          </a:p>
        </p:txBody>
      </p:sp>
    </p:spTree>
    <p:extLst>
      <p:ext uri="{BB962C8B-B14F-4D97-AF65-F5344CB8AC3E}">
        <p14:creationId xmlns:p14="http://schemas.microsoft.com/office/powerpoint/2010/main" val="4198161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uboot</a:t>
            </a:r>
            <a:r>
              <a:rPr kumimoji="1" lang="zh-CN" altLang="en-US" dirty="0"/>
              <a:t>常用命令使用</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7</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其他常用命令</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r>
              <a:rPr lang="zh-CN" altLang="en-US" sz="2400" b="0" i="0" u="none" strike="noStrike" dirty="0">
                <a:solidFill>
                  <a:srgbClr val="4D4D4D"/>
                </a:solidFill>
                <a:effectLst/>
                <a:latin typeface="-apple-system"/>
              </a:rPr>
              <a:t>其他一些常用的命令，比如 </a:t>
            </a:r>
            <a:r>
              <a:rPr lang="en" altLang="zh-CN" sz="2400" b="1" i="0" u="none" strike="noStrike" dirty="0">
                <a:solidFill>
                  <a:srgbClr val="0065B0"/>
                </a:solidFill>
                <a:effectLst/>
                <a:latin typeface="-apple-system"/>
              </a:rPr>
              <a:t>reset</a:t>
            </a:r>
            <a:r>
              <a:rPr lang="zh-CN" altLang="en" sz="2400" b="1" i="0" u="none" strike="noStrike" dirty="0">
                <a:solidFill>
                  <a:srgbClr val="0065B0"/>
                </a:solidFill>
                <a:effectLst/>
                <a:latin typeface="-apple-system"/>
              </a:rPr>
              <a:t>、 </a:t>
            </a:r>
            <a:r>
              <a:rPr lang="en" altLang="zh-CN" sz="2400" b="1" i="0" u="none" strike="noStrike" dirty="0">
                <a:solidFill>
                  <a:srgbClr val="0065B0"/>
                </a:solidFill>
                <a:effectLst/>
                <a:latin typeface="-apple-system"/>
              </a:rPr>
              <a:t>go</a:t>
            </a:r>
            <a:r>
              <a:rPr lang="zh-CN" altLang="en" sz="2400" b="1" i="0" u="none" strike="noStrike" dirty="0">
                <a:solidFill>
                  <a:srgbClr val="0065B0"/>
                </a:solidFill>
                <a:effectLst/>
                <a:latin typeface="-apple-system"/>
              </a:rPr>
              <a:t>、 </a:t>
            </a:r>
            <a:r>
              <a:rPr lang="en" altLang="zh-CN" sz="2400" b="1" i="0" u="none" strike="noStrike" dirty="0">
                <a:solidFill>
                  <a:srgbClr val="0065B0"/>
                </a:solidFill>
                <a:effectLst/>
                <a:latin typeface="-apple-system"/>
              </a:rPr>
              <a:t>run </a:t>
            </a:r>
            <a:r>
              <a:rPr lang="zh-CN" altLang="en-US" sz="2400" b="1" i="0" u="none" strike="noStrike" dirty="0">
                <a:solidFill>
                  <a:srgbClr val="0065B0"/>
                </a:solidFill>
                <a:effectLst/>
                <a:latin typeface="-apple-system"/>
              </a:rPr>
              <a:t>和 </a:t>
            </a:r>
            <a:r>
              <a:rPr lang="en" altLang="zh-CN" sz="2400" b="1" i="0" u="none" strike="noStrike" dirty="0" err="1">
                <a:solidFill>
                  <a:srgbClr val="0065B0"/>
                </a:solidFill>
                <a:effectLst/>
                <a:latin typeface="-apple-system"/>
              </a:rPr>
              <a:t>mtest</a:t>
            </a:r>
            <a:r>
              <a:rPr lang="en" altLang="zh-CN" sz="2400" b="1" i="0" u="none" strike="noStrike" dirty="0">
                <a:solidFill>
                  <a:srgbClr val="0065B0"/>
                </a:solidFill>
                <a:effectLst/>
                <a:latin typeface="-apple-system"/>
              </a:rPr>
              <a:t> </a:t>
            </a:r>
            <a:r>
              <a:rPr lang="zh-CN" altLang="en-US" sz="2400" b="0" i="0" u="none" strike="noStrike" dirty="0">
                <a:solidFill>
                  <a:srgbClr val="4D4D4D"/>
                </a:solidFill>
                <a:effectLst/>
                <a:latin typeface="-apple-system"/>
              </a:rPr>
              <a:t>等</a:t>
            </a:r>
            <a:endParaRPr lang="en-US" altLang="zh-CN" sz="2400" b="0" i="0" u="none" strike="noStrike" dirty="0">
              <a:solidFill>
                <a:srgbClr val="4D4D4D"/>
              </a:solidFill>
              <a:effectLst/>
              <a:latin typeface="-apple-system"/>
            </a:endParaRPr>
          </a:p>
          <a:p>
            <a:pPr>
              <a:lnSpc>
                <a:spcPct val="150000"/>
              </a:lnSpc>
            </a:pPr>
            <a:r>
              <a:rPr lang="en" altLang="zh-CN" sz="2000" b="0" i="0" u="none" strike="noStrike" dirty="0">
                <a:effectLst/>
                <a:latin typeface="-apple-system"/>
              </a:rPr>
              <a:t>reset </a:t>
            </a:r>
            <a:r>
              <a:rPr lang="zh-CN" altLang="en-US" sz="2000" b="0" i="0" u="none" strike="noStrike" dirty="0">
                <a:effectLst/>
                <a:latin typeface="-apple-system"/>
              </a:rPr>
              <a:t>命令顾名思义就是复位的，输入“</a:t>
            </a:r>
            <a:r>
              <a:rPr lang="en" altLang="zh-CN" sz="2000" b="0" i="0" u="none" strike="noStrike" dirty="0">
                <a:effectLst/>
                <a:latin typeface="-apple-system"/>
              </a:rPr>
              <a:t>reset”</a:t>
            </a:r>
            <a:r>
              <a:rPr lang="zh-CN" altLang="en-US" sz="2000" b="0" i="0" u="none" strike="noStrike" dirty="0">
                <a:effectLst/>
                <a:latin typeface="-apple-system"/>
              </a:rPr>
              <a:t>即可复位重启。</a:t>
            </a:r>
          </a:p>
          <a:p>
            <a:pPr>
              <a:lnSpc>
                <a:spcPct val="150000"/>
              </a:lnSpc>
            </a:pPr>
            <a:r>
              <a:rPr lang="en" altLang="zh-CN" sz="2000" b="0" i="0" u="none" strike="noStrike" dirty="0">
                <a:effectLst/>
                <a:latin typeface="-apple-system"/>
              </a:rPr>
              <a:t>go </a:t>
            </a:r>
            <a:r>
              <a:rPr lang="zh-CN" altLang="en-US" sz="2000" b="0" i="0" u="none" strike="noStrike" dirty="0">
                <a:effectLst/>
                <a:latin typeface="-apple-system"/>
              </a:rPr>
              <a:t>命令用于跳到指定的地址处执行应用，命令格式如下：</a:t>
            </a:r>
          </a:p>
          <a:p>
            <a:pPr>
              <a:lnSpc>
                <a:spcPct val="150000"/>
              </a:lnSpc>
            </a:pPr>
            <a:r>
              <a:rPr lang="en" altLang="zh-CN" sz="2000" b="0" i="0" u="none" strike="noStrike" dirty="0">
                <a:effectLst/>
                <a:latin typeface="-apple-system"/>
              </a:rPr>
              <a:t>go </a:t>
            </a:r>
            <a:r>
              <a:rPr lang="en" altLang="zh-CN" sz="2000" b="0" i="0" u="none" strike="noStrike" dirty="0" err="1">
                <a:effectLst/>
                <a:latin typeface="-apple-system"/>
              </a:rPr>
              <a:t>addr</a:t>
            </a:r>
            <a:r>
              <a:rPr lang="en" altLang="zh-CN" sz="2000" b="0" i="0" u="none" strike="noStrike" dirty="0">
                <a:effectLst/>
                <a:latin typeface="-apple-system"/>
              </a:rPr>
              <a:t> [</a:t>
            </a:r>
            <a:r>
              <a:rPr lang="en" altLang="zh-CN" sz="2000" b="0" i="0" u="none" strike="noStrike" dirty="0" err="1">
                <a:effectLst/>
                <a:latin typeface="-apple-system"/>
              </a:rPr>
              <a:t>arg</a:t>
            </a:r>
            <a:r>
              <a:rPr lang="en" altLang="zh-CN" sz="2000" b="0" i="0" u="none" strike="noStrike" dirty="0">
                <a:effectLst/>
                <a:latin typeface="-apple-system"/>
              </a:rPr>
              <a:t> …]</a:t>
            </a:r>
          </a:p>
          <a:p>
            <a:pPr>
              <a:lnSpc>
                <a:spcPct val="150000"/>
              </a:lnSpc>
            </a:pPr>
            <a:r>
              <a:rPr lang="en" altLang="zh-CN" sz="2000" b="0" i="0" u="none" strike="noStrike" dirty="0">
                <a:effectLst/>
                <a:latin typeface="-apple-system"/>
              </a:rPr>
              <a:t>run </a:t>
            </a:r>
            <a:r>
              <a:rPr lang="zh-CN" altLang="en-US" sz="2000" b="0" i="0" u="none" strike="noStrike" dirty="0">
                <a:effectLst/>
                <a:latin typeface="-apple-system"/>
              </a:rPr>
              <a:t>命令用于运行环境变量中定义的命令，比如可以通过“</a:t>
            </a:r>
            <a:r>
              <a:rPr lang="en" altLang="zh-CN" sz="2000" b="0" i="0" u="none" strike="noStrike" dirty="0">
                <a:effectLst/>
                <a:latin typeface="-apple-system"/>
              </a:rPr>
              <a:t>run </a:t>
            </a:r>
            <a:r>
              <a:rPr lang="en" altLang="zh-CN" sz="2000" b="0" i="0" u="none" strike="noStrike" dirty="0" err="1">
                <a:effectLst/>
                <a:latin typeface="-apple-system"/>
              </a:rPr>
              <a:t>bootcmd</a:t>
            </a:r>
            <a:r>
              <a:rPr lang="en" altLang="zh-CN" sz="2000" b="0" i="0" u="none" strike="noStrike" dirty="0">
                <a:effectLst/>
                <a:latin typeface="-apple-system"/>
              </a:rPr>
              <a:t>”</a:t>
            </a:r>
            <a:r>
              <a:rPr lang="zh-CN" altLang="en-US" sz="2000" b="0" i="0" u="none" strike="noStrike" dirty="0">
                <a:effectLst/>
                <a:latin typeface="-apple-system"/>
              </a:rPr>
              <a:t>来运行 </a:t>
            </a:r>
            <a:r>
              <a:rPr lang="en" altLang="zh-CN" sz="2000" b="0" i="0" u="none" strike="noStrike" dirty="0" err="1">
                <a:effectLst/>
                <a:latin typeface="-apple-system"/>
              </a:rPr>
              <a:t>bootcmd</a:t>
            </a:r>
            <a:r>
              <a:rPr lang="en" altLang="zh-CN" sz="2000" b="0" i="0" u="none" strike="noStrike" dirty="0">
                <a:effectLst/>
                <a:latin typeface="-apple-system"/>
              </a:rPr>
              <a:t> </a:t>
            </a:r>
            <a:r>
              <a:rPr lang="zh-CN" altLang="en-US" sz="2000" b="0" i="0" u="none" strike="noStrike" dirty="0">
                <a:effectLst/>
                <a:latin typeface="-apple-system"/>
              </a:rPr>
              <a:t>中的启动命令，但是 </a:t>
            </a:r>
            <a:r>
              <a:rPr lang="en" altLang="zh-CN" sz="2000" b="0" i="0" u="none" strike="noStrike" dirty="0">
                <a:effectLst/>
                <a:latin typeface="-apple-system"/>
              </a:rPr>
              <a:t>run </a:t>
            </a:r>
            <a:r>
              <a:rPr lang="zh-CN" altLang="en-US" sz="2000" b="0" i="0" u="none" strike="noStrike" dirty="0">
                <a:effectLst/>
                <a:latin typeface="-apple-system"/>
              </a:rPr>
              <a:t>命令最大的作用在于运行我们自定义的环境变量。</a:t>
            </a:r>
          </a:p>
        </p:txBody>
      </p:sp>
    </p:spTree>
    <p:extLst>
      <p:ext uri="{BB962C8B-B14F-4D97-AF65-F5344CB8AC3E}">
        <p14:creationId xmlns:p14="http://schemas.microsoft.com/office/powerpoint/2010/main" val="26448706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pPr algn="l"/>
            <a:r>
              <a:rPr lang="en" altLang="zh-CN" b="1" i="0" u="none" strike="noStrike" dirty="0">
                <a:solidFill>
                  <a:srgbClr val="0F0F0F"/>
                </a:solidFill>
                <a:effectLst/>
                <a:latin typeface="Roboto" panose="02000000000000000000" pitchFamily="2" charset="0"/>
              </a:rPr>
              <a:t>Recent Advances in U-Boot</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 altLang="zh-CN" sz="2000" b="1" i="0" u="none" strike="noStrike" dirty="0">
                <a:solidFill>
                  <a:srgbClr val="0F0F0F"/>
                </a:solidFill>
                <a:effectLst/>
                <a:latin typeface="Roboto" panose="02000000000000000000" pitchFamily="2" charset="0"/>
              </a:rPr>
              <a:t>By</a:t>
            </a:r>
            <a:r>
              <a:rPr lang="zh-CN" altLang="en-US" sz="2000" b="1" i="0" u="none" strike="noStrike" dirty="0">
                <a:solidFill>
                  <a:srgbClr val="0F0F0F"/>
                </a:solidFill>
                <a:effectLst/>
                <a:latin typeface="Roboto" panose="02000000000000000000" pitchFamily="2" charset="0"/>
              </a:rPr>
              <a:t> </a:t>
            </a:r>
            <a:r>
              <a:rPr lang="en" altLang="zh-CN" sz="2000" b="1" i="0" u="none" strike="noStrike" dirty="0">
                <a:solidFill>
                  <a:srgbClr val="0F0F0F"/>
                </a:solidFill>
                <a:effectLst/>
                <a:latin typeface="Roboto" panose="02000000000000000000" pitchFamily="2" charset="0"/>
              </a:rPr>
              <a:t>Simon Glass, Google Inc.</a:t>
            </a:r>
          </a:p>
          <a:p>
            <a:pPr marL="0" indent="0">
              <a:buNone/>
            </a:pPr>
            <a:endParaRPr lang="en" altLang="zh-CN" sz="2000" b="1" dirty="0">
              <a:solidFill>
                <a:srgbClr val="0F0F0F"/>
              </a:solidFill>
              <a:latin typeface="Roboto" panose="02000000000000000000" pitchFamily="2" charset="0"/>
            </a:endParaRPr>
          </a:p>
          <a:p>
            <a:pPr marL="0" indent="0">
              <a:lnSpc>
                <a:spcPct val="150000"/>
              </a:lnSpc>
              <a:buNone/>
            </a:pPr>
            <a:r>
              <a:rPr lang="en" altLang="zh-CN" sz="1800" b="0" i="0" u="none" strike="noStrike" dirty="0">
                <a:solidFill>
                  <a:srgbClr val="131313"/>
                </a:solidFill>
                <a:effectLst/>
                <a:latin typeface="Roboto" panose="02000000000000000000" pitchFamily="2" charset="0"/>
              </a:rPr>
              <a:t>There has been a lot of development in U-Boot in the last 2-3 years, much of it under the hood. This talk aims to bring you up to date, </a:t>
            </a:r>
            <a:r>
              <a:rPr lang="en" altLang="zh-CN" sz="1800" b="0" i="0" u="none" strike="noStrike" dirty="0" err="1">
                <a:solidFill>
                  <a:srgbClr val="131313"/>
                </a:solidFill>
                <a:effectLst/>
                <a:latin typeface="Roboto" panose="02000000000000000000" pitchFamily="2" charset="0"/>
              </a:rPr>
              <a:t>focussing</a:t>
            </a:r>
            <a:r>
              <a:rPr lang="en" altLang="zh-CN" sz="1800" b="0" i="0" u="none" strike="noStrike" dirty="0">
                <a:solidFill>
                  <a:srgbClr val="131313"/>
                </a:solidFill>
                <a:effectLst/>
                <a:latin typeface="Roboto" panose="02000000000000000000" pitchFamily="2" charset="0"/>
              </a:rPr>
              <a:t> on several major new features but also touching on many smaller ones that together advance the state of the art in firmware development. This talk covers major areas like </a:t>
            </a:r>
            <a:r>
              <a:rPr lang="en" altLang="zh-CN" sz="1800" b="0" i="0" u="none" strike="noStrike" dirty="0" err="1">
                <a:solidFill>
                  <a:srgbClr val="131313"/>
                </a:solidFill>
                <a:effectLst/>
                <a:latin typeface="Roboto" panose="02000000000000000000" pitchFamily="2" charset="0"/>
              </a:rPr>
              <a:t>Kconfig</a:t>
            </a:r>
            <a:r>
              <a:rPr lang="en" altLang="zh-CN" sz="1800" b="0" i="0" u="none" strike="noStrike" dirty="0">
                <a:solidFill>
                  <a:srgbClr val="131313"/>
                </a:solidFill>
                <a:effectLst/>
                <a:latin typeface="Roboto" panose="02000000000000000000" pitchFamily="2" charset="0"/>
              </a:rPr>
              <a:t> migration, standard boot, UEFI support, binman, documentation and testing. Minor topics covered include VBE, IPv6, cyclic, RISC-V, x86, tracing, events, live tree, device tree schema, CI, text environment, </a:t>
            </a:r>
            <a:r>
              <a:rPr lang="en" altLang="zh-CN" sz="1800" b="0" i="0" u="none" strike="noStrike" dirty="0" err="1">
                <a:solidFill>
                  <a:srgbClr val="131313"/>
                </a:solidFill>
                <a:effectLst/>
                <a:latin typeface="Roboto" panose="02000000000000000000" pitchFamily="2" charset="0"/>
              </a:rPr>
              <a:t>pinctrl</a:t>
            </a:r>
            <a:r>
              <a:rPr lang="en" altLang="zh-CN" sz="1800" b="0" i="0" u="none" strike="noStrike" dirty="0">
                <a:solidFill>
                  <a:srgbClr val="131313"/>
                </a:solidFill>
                <a:effectLst/>
                <a:latin typeface="Roboto" panose="02000000000000000000" pitchFamily="2" charset="0"/>
              </a:rPr>
              <a:t> and GUI. The talk ends with a demo.</a:t>
            </a:r>
            <a:br>
              <a:rPr lang="en" altLang="zh-CN" sz="1800" b="0" i="0" u="none" strike="noStrike" dirty="0">
                <a:solidFill>
                  <a:srgbClr val="131313"/>
                </a:solidFill>
                <a:effectLst/>
                <a:latin typeface="Roboto" panose="02000000000000000000" pitchFamily="2" charset="0"/>
              </a:rPr>
            </a:br>
            <a:r>
              <a:rPr lang="en" altLang="zh-CN" sz="2400" b="1" i="0" u="none" strike="noStrike" dirty="0">
                <a:solidFill>
                  <a:srgbClr val="0065B0"/>
                </a:solidFill>
                <a:effectLst/>
                <a:latin typeface="Roboto" panose="02000000000000000000" pitchFamily="2" charset="0"/>
              </a:rPr>
              <a:t>Vi</a:t>
            </a:r>
            <a:r>
              <a:rPr lang="en-US" altLang="zh-CN" sz="2400" b="1" dirty="0">
                <a:solidFill>
                  <a:srgbClr val="0065B0"/>
                </a:solidFill>
                <a:latin typeface="Roboto" panose="02000000000000000000" pitchFamily="2" charset="0"/>
              </a:rPr>
              <a:t>deo</a:t>
            </a:r>
            <a:r>
              <a:rPr lang="zh-CN" altLang="en-US" sz="2400" b="1" dirty="0">
                <a:solidFill>
                  <a:srgbClr val="0065B0"/>
                </a:solidFill>
                <a:latin typeface="Roboto" panose="02000000000000000000" pitchFamily="2" charset="0"/>
              </a:rPr>
              <a:t>！</a:t>
            </a:r>
            <a:endParaRPr lang="en" altLang="zh-CN" sz="2400" b="1" i="0" u="none" strike="noStrike" dirty="0">
              <a:solidFill>
                <a:srgbClr val="0065B0"/>
              </a:solidFill>
              <a:effectLst/>
              <a:latin typeface="Roboto" panose="02000000000000000000" pitchFamily="2" charset="0"/>
            </a:endParaRPr>
          </a:p>
          <a:p>
            <a:pPr marL="0" indent="0">
              <a:buNone/>
            </a:pPr>
            <a:endParaRPr lang="zh-CN" altLang="en-US" sz="700" b="0" i="0" u="none" strike="noStrike" dirty="0">
              <a:effectLst/>
              <a:latin typeface="-apple-system"/>
            </a:endParaRPr>
          </a:p>
        </p:txBody>
      </p:sp>
    </p:spTree>
    <p:extLst>
      <p:ext uri="{BB962C8B-B14F-4D97-AF65-F5344CB8AC3E}">
        <p14:creationId xmlns:p14="http://schemas.microsoft.com/office/powerpoint/2010/main" val="2272298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a:t>Linux </a:t>
            </a:r>
            <a:r>
              <a:rPr kumimoji="1" lang="zh-CN" altLang="en-US" dirty="0"/>
              <a:t>内核的编译与烧录</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1</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获取</a:t>
            </a:r>
            <a:r>
              <a:rPr lang="en" altLang="zh-CN" sz="2600" b="1" i="0" u="none" strike="noStrike" dirty="0">
                <a:solidFill>
                  <a:srgbClr val="4F4F4F"/>
                </a:solidFill>
                <a:effectLst/>
                <a:latin typeface="PingFang SC" panose="020B0400000000000000" pitchFamily="34" charset="-122"/>
                <a:ea typeface="PingFang SC" panose="020B0400000000000000" pitchFamily="34" charset="-122"/>
              </a:rPr>
              <a:t>Linux kernel</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r>
              <a:rPr lang="zh-CN" altLang="en-US" sz="2400" b="0" i="0" u="none" strike="noStrike" dirty="0">
                <a:solidFill>
                  <a:srgbClr val="4D4D4D"/>
                </a:solidFill>
                <a:effectLst/>
                <a:latin typeface="-apple-system"/>
              </a:rPr>
              <a:t>有三个方法获取 </a:t>
            </a:r>
            <a:r>
              <a:rPr lang="en" altLang="zh-CN" sz="2400" b="0" i="0" u="none" strike="noStrike" dirty="0">
                <a:solidFill>
                  <a:srgbClr val="4D4D4D"/>
                </a:solidFill>
                <a:effectLst/>
                <a:latin typeface="-apple-system"/>
              </a:rPr>
              <a:t>Kernel </a:t>
            </a:r>
            <a:r>
              <a:rPr lang="zh-CN" altLang="en-US" sz="2400" b="0" i="0" u="none" strike="noStrike" dirty="0">
                <a:solidFill>
                  <a:srgbClr val="4D4D4D"/>
                </a:solidFill>
                <a:effectLst/>
                <a:latin typeface="-apple-system"/>
              </a:rPr>
              <a:t>源码</a:t>
            </a:r>
            <a:endParaRPr lang="en-US" altLang="zh-CN" sz="2400" b="0" i="0" u="none" strike="noStrike" dirty="0">
              <a:solidFill>
                <a:srgbClr val="4D4D4D"/>
              </a:solidFill>
              <a:effectLst/>
              <a:latin typeface="-apple-system"/>
            </a:endParaRPr>
          </a:p>
          <a:p>
            <a:pPr>
              <a:lnSpc>
                <a:spcPct val="150000"/>
              </a:lnSpc>
            </a:pPr>
            <a:r>
              <a:rPr lang="en-US" altLang="zh-CN" sz="2400" b="1" i="0" u="none" strike="noStrike" dirty="0">
                <a:solidFill>
                  <a:srgbClr val="0065B0"/>
                </a:solidFill>
                <a:effectLst/>
                <a:latin typeface="-apple-system"/>
              </a:rPr>
              <a:t>Kernel </a:t>
            </a:r>
            <a:r>
              <a:rPr lang="zh-CN" altLang="en-US" sz="2400" b="1" i="0" u="none" strike="noStrike" dirty="0">
                <a:solidFill>
                  <a:srgbClr val="0065B0"/>
                </a:solidFill>
                <a:effectLst/>
                <a:latin typeface="-apple-system"/>
              </a:rPr>
              <a:t>官方内核源码</a:t>
            </a:r>
            <a:endParaRPr lang="en-US" altLang="zh-CN" sz="2400" b="1" i="0" u="none" strike="noStrike" dirty="0">
              <a:solidFill>
                <a:srgbClr val="0065B0"/>
              </a:solidFill>
              <a:effectLst/>
              <a:latin typeface="-apple-system"/>
            </a:endParaRPr>
          </a:p>
          <a:p>
            <a:pPr>
              <a:lnSpc>
                <a:spcPct val="150000"/>
              </a:lnSpc>
            </a:pPr>
            <a:r>
              <a:rPr lang="en-US" altLang="zh-CN" sz="2400" b="1" i="0" u="none" strike="noStrike" dirty="0">
                <a:solidFill>
                  <a:srgbClr val="0065B0"/>
                </a:solidFill>
                <a:effectLst/>
                <a:latin typeface="-apple-system"/>
              </a:rPr>
              <a:t>NXP </a:t>
            </a:r>
            <a:r>
              <a:rPr lang="zh-CN" altLang="en-US" sz="2400" b="1" i="0" u="none" strike="noStrike" dirty="0">
                <a:solidFill>
                  <a:srgbClr val="0065B0"/>
                </a:solidFill>
                <a:effectLst/>
                <a:latin typeface="-apple-system"/>
              </a:rPr>
              <a:t>官方的 </a:t>
            </a:r>
            <a:r>
              <a:rPr lang="en-US" altLang="zh-CN" sz="2400" b="1" i="0" u="none" strike="noStrike" dirty="0">
                <a:solidFill>
                  <a:srgbClr val="0065B0"/>
                </a:solidFill>
                <a:effectLst/>
                <a:latin typeface="-apple-system"/>
              </a:rPr>
              <a:t>kernel </a:t>
            </a:r>
            <a:r>
              <a:rPr lang="zh-CN" altLang="en-US" sz="2400" b="1" i="0" u="none" strike="noStrike" dirty="0">
                <a:solidFill>
                  <a:srgbClr val="0065B0"/>
                </a:solidFill>
                <a:effectLst/>
                <a:latin typeface="-apple-system"/>
              </a:rPr>
              <a:t>源码</a:t>
            </a:r>
            <a:endParaRPr lang="en-US" altLang="zh-CN" sz="2400" b="1" i="0" u="none" strike="noStrike" dirty="0">
              <a:solidFill>
                <a:srgbClr val="0065B0"/>
              </a:solidFill>
              <a:effectLst/>
              <a:latin typeface="-apple-system"/>
            </a:endParaRPr>
          </a:p>
          <a:p>
            <a:pPr marL="0" indent="0">
              <a:lnSpc>
                <a:spcPct val="150000"/>
              </a:lnSpc>
              <a:buNone/>
            </a:pPr>
            <a:r>
              <a:rPr lang="en" altLang="zh-CN" sz="2000" b="0" i="0" u="none" strike="noStrike" dirty="0">
                <a:solidFill>
                  <a:srgbClr val="4D4D4D"/>
                </a:solidFill>
                <a:effectLst/>
                <a:latin typeface="-apple-system"/>
              </a:rPr>
              <a:t>NXP </a:t>
            </a:r>
            <a:r>
              <a:rPr lang="zh-CN" altLang="en-US" sz="2000" b="0" i="0" u="none" strike="noStrike" dirty="0">
                <a:solidFill>
                  <a:srgbClr val="4D4D4D"/>
                </a:solidFill>
                <a:effectLst/>
                <a:latin typeface="-apple-system"/>
              </a:rPr>
              <a:t>的 </a:t>
            </a:r>
            <a:r>
              <a:rPr lang="en" altLang="zh-CN" sz="2000" b="0" i="0" u="none" strike="noStrike" dirty="0">
                <a:solidFill>
                  <a:srgbClr val="4D4D4D"/>
                </a:solidFill>
                <a:effectLst/>
                <a:latin typeface="-apple-system"/>
              </a:rPr>
              <a:t>kernel </a:t>
            </a:r>
            <a:r>
              <a:rPr lang="zh-CN" altLang="en-US" sz="2000" b="0" i="0" u="none" strike="noStrike" dirty="0">
                <a:solidFill>
                  <a:srgbClr val="4D4D4D"/>
                </a:solidFill>
                <a:effectLst/>
                <a:latin typeface="-apple-system"/>
              </a:rPr>
              <a:t>是根据 </a:t>
            </a:r>
            <a:r>
              <a:rPr lang="en" altLang="zh-CN" sz="2000" b="0" i="0" u="none" strike="noStrike" dirty="0">
                <a:solidFill>
                  <a:srgbClr val="4D4D4D"/>
                </a:solidFill>
                <a:effectLst/>
                <a:latin typeface="-apple-system"/>
              </a:rPr>
              <a:t>kernel </a:t>
            </a:r>
            <a:r>
              <a:rPr lang="zh-CN" altLang="en-US" sz="2000" b="0" i="0" u="none" strike="noStrike" dirty="0">
                <a:solidFill>
                  <a:srgbClr val="4D4D4D"/>
                </a:solidFill>
                <a:effectLst/>
                <a:latin typeface="-apple-system"/>
              </a:rPr>
              <a:t>官方某一版本进行芯片适配的</a:t>
            </a:r>
            <a:endParaRPr lang="en-US" altLang="zh-CN" sz="2000" b="0" i="0" u="none" strike="noStrike" dirty="0">
              <a:solidFill>
                <a:srgbClr val="4D4D4D"/>
              </a:solidFill>
              <a:effectLst/>
              <a:latin typeface="-apple-system"/>
            </a:endParaRPr>
          </a:p>
          <a:p>
            <a:pPr>
              <a:lnSpc>
                <a:spcPct val="150000"/>
              </a:lnSpc>
            </a:pPr>
            <a:r>
              <a:rPr lang="zh-CN" altLang="en-US" sz="2400" b="1" i="0" u="none" strike="noStrike" dirty="0">
                <a:solidFill>
                  <a:srgbClr val="0065B0"/>
                </a:solidFill>
                <a:effectLst/>
                <a:latin typeface="-apple-system"/>
              </a:rPr>
              <a:t>经过开发板厂商修改适配好板子的 </a:t>
            </a:r>
            <a:r>
              <a:rPr lang="en-US" altLang="zh-CN" sz="2400" b="1" i="0" u="none" strike="noStrike" dirty="0">
                <a:solidFill>
                  <a:srgbClr val="0065B0"/>
                </a:solidFill>
                <a:effectLst/>
                <a:latin typeface="-apple-system"/>
              </a:rPr>
              <a:t>kernel </a:t>
            </a:r>
            <a:r>
              <a:rPr lang="zh-CN" altLang="en-US" sz="2400" b="1" i="0" u="none" strike="noStrike" dirty="0">
                <a:solidFill>
                  <a:srgbClr val="0065B0"/>
                </a:solidFill>
                <a:effectLst/>
                <a:latin typeface="-apple-system"/>
              </a:rPr>
              <a:t>源码</a:t>
            </a:r>
            <a:endParaRPr lang="en-US" altLang="zh-CN" sz="2000" b="1" dirty="0">
              <a:solidFill>
                <a:srgbClr val="0065B0"/>
              </a:solidFill>
              <a:latin typeface="-apple-system"/>
            </a:endParaRPr>
          </a:p>
          <a:p>
            <a:pPr marL="0" indent="0">
              <a:lnSpc>
                <a:spcPct val="150000"/>
              </a:lnSpc>
              <a:buNone/>
            </a:pPr>
            <a:r>
              <a:rPr lang="zh-CN" altLang="en-US" sz="2000" b="0" i="0" u="none" strike="noStrike" dirty="0">
                <a:solidFill>
                  <a:srgbClr val="4D4D4D"/>
                </a:solidFill>
                <a:effectLst/>
                <a:latin typeface="-apple-system"/>
              </a:rPr>
              <a:t>一般只需要使用芯片厂商适配好的 </a:t>
            </a:r>
            <a:r>
              <a:rPr lang="en" altLang="zh-CN" sz="2000" b="0" i="0" u="none" strike="noStrike" dirty="0">
                <a:solidFill>
                  <a:srgbClr val="4D4D4D"/>
                </a:solidFill>
                <a:effectLst/>
                <a:latin typeface="-apple-system"/>
              </a:rPr>
              <a:t>kernel </a:t>
            </a:r>
            <a:r>
              <a:rPr lang="zh-CN" altLang="en-US" sz="2000" b="0" i="0" u="none" strike="noStrike" dirty="0">
                <a:solidFill>
                  <a:srgbClr val="4D4D4D"/>
                </a:solidFill>
                <a:effectLst/>
                <a:latin typeface="-apple-system"/>
              </a:rPr>
              <a:t>进行开发即可</a:t>
            </a:r>
            <a:endParaRPr lang="en-US" altLang="zh-CN" sz="1800" b="0" i="0" u="none" strike="noStrike" dirty="0">
              <a:solidFill>
                <a:srgbClr val="4D4D4D"/>
              </a:solidFill>
              <a:effectLst/>
              <a:latin typeface="-apple-system"/>
            </a:endParaRPr>
          </a:p>
        </p:txBody>
      </p:sp>
    </p:spTree>
    <p:extLst>
      <p:ext uri="{BB962C8B-B14F-4D97-AF65-F5344CB8AC3E}">
        <p14:creationId xmlns:p14="http://schemas.microsoft.com/office/powerpoint/2010/main" val="15050122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a:t>Linux </a:t>
            </a:r>
            <a:r>
              <a:rPr kumimoji="1" lang="zh-CN" altLang="en-US" dirty="0"/>
              <a:t>内核的编译与烧录</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1</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获取</a:t>
            </a:r>
            <a:r>
              <a:rPr lang="en" altLang="zh-CN" sz="2600" b="1" i="0" u="none" strike="noStrike" dirty="0">
                <a:solidFill>
                  <a:srgbClr val="4F4F4F"/>
                </a:solidFill>
                <a:effectLst/>
                <a:latin typeface="PingFang SC" panose="020B0400000000000000" pitchFamily="34" charset="-122"/>
                <a:ea typeface="PingFang SC" panose="020B0400000000000000" pitchFamily="34" charset="-122"/>
              </a:rPr>
              <a:t>Linux kernel</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r>
              <a:rPr lang="zh-CN" altLang="en-US" sz="2400" b="0" i="0" u="none" strike="noStrike" dirty="0">
                <a:solidFill>
                  <a:srgbClr val="4D4D4D"/>
                </a:solidFill>
                <a:effectLst/>
                <a:latin typeface="-apple-system"/>
              </a:rPr>
              <a:t>使用厂商提供的适配好板子的 </a:t>
            </a:r>
            <a:r>
              <a:rPr lang="en" altLang="zh-CN" sz="2400" b="0" i="0" u="none" strike="noStrike" dirty="0">
                <a:solidFill>
                  <a:srgbClr val="4D4D4D"/>
                </a:solidFill>
                <a:effectLst/>
                <a:latin typeface="-apple-system"/>
              </a:rPr>
              <a:t>kernel </a:t>
            </a:r>
            <a:r>
              <a:rPr lang="zh-CN" altLang="en-US" sz="2400" b="0" i="0" u="none" strike="noStrike" dirty="0">
                <a:solidFill>
                  <a:srgbClr val="4D4D4D"/>
                </a:solidFill>
                <a:effectLst/>
                <a:latin typeface="-apple-system"/>
              </a:rPr>
              <a:t>源码：</a:t>
            </a:r>
            <a:endParaRPr lang="en-US" altLang="zh-CN" sz="2400" b="0" i="0" u="none" strike="noStrike" dirty="0">
              <a:solidFill>
                <a:srgbClr val="4D4D4D"/>
              </a:solidFill>
              <a:effectLst/>
              <a:latin typeface="-apple-system"/>
            </a:endParaRPr>
          </a:p>
          <a:p>
            <a:pPr marL="0" indent="0">
              <a:lnSpc>
                <a:spcPct val="150000"/>
              </a:lnSpc>
              <a:buNone/>
            </a:pPr>
            <a:endParaRPr lang="en-US" altLang="zh-CN" sz="1800" b="0" i="0" u="none" strike="noStrike" dirty="0">
              <a:solidFill>
                <a:srgbClr val="4D4D4D"/>
              </a:solidFill>
              <a:effectLst/>
              <a:latin typeface="-apple-system"/>
            </a:endParaRPr>
          </a:p>
        </p:txBody>
      </p:sp>
      <p:pic>
        <p:nvPicPr>
          <p:cNvPr id="31746" name="Picture 2">
            <a:extLst>
              <a:ext uri="{FF2B5EF4-FFF2-40B4-BE49-F238E27FC236}">
                <a16:creationId xmlns:a16="http://schemas.microsoft.com/office/drawing/2014/main" id="{BE05863A-6017-4E4A-A33F-70104B671A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514600"/>
            <a:ext cx="7467600" cy="3869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1796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a:t>Linux </a:t>
            </a:r>
            <a:r>
              <a:rPr kumimoji="1" lang="zh-CN" altLang="en-US" dirty="0"/>
              <a:t>内核的编译与烧录</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2</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a:t>
            </a:r>
            <a:r>
              <a:rPr lang="en" altLang="zh-CN" sz="2600" b="1" i="0" u="none" strike="noStrike" dirty="0">
                <a:solidFill>
                  <a:srgbClr val="4F4F4F"/>
                </a:solidFill>
                <a:effectLst/>
                <a:latin typeface="PingFang SC" panose="020B0400000000000000" pitchFamily="34" charset="-122"/>
                <a:ea typeface="PingFang SC" panose="020B0400000000000000" pitchFamily="34" charset="-122"/>
              </a:rPr>
              <a:t>Linux </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内核目录分析</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endParaRPr lang="en-US" altLang="zh-CN" sz="1800" b="0" i="0" u="none" strike="noStrike" dirty="0">
              <a:solidFill>
                <a:srgbClr val="4D4D4D"/>
              </a:solidFill>
              <a:effectLst/>
              <a:latin typeface="-apple-system"/>
            </a:endParaRPr>
          </a:p>
        </p:txBody>
      </p:sp>
      <p:pic>
        <p:nvPicPr>
          <p:cNvPr id="32770" name="Picture 2">
            <a:extLst>
              <a:ext uri="{FF2B5EF4-FFF2-40B4-BE49-F238E27FC236}">
                <a16:creationId xmlns:a16="http://schemas.microsoft.com/office/drawing/2014/main" id="{7E00E211-91E9-0347-B2BB-8D450B117E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33600"/>
            <a:ext cx="9144000" cy="668337"/>
          </a:xfrm>
          <a:prstGeom prst="rect">
            <a:avLst/>
          </a:prstGeom>
          <a:noFill/>
          <a:extLst>
            <a:ext uri="{909E8E84-426E-40DD-AFC4-6F175D3DCCD1}">
              <a14:hiddenFill xmlns:a14="http://schemas.microsoft.com/office/drawing/2010/main">
                <a:solidFill>
                  <a:srgbClr val="FFFFFF"/>
                </a:solidFill>
              </a14:hiddenFill>
            </a:ext>
          </a:extLst>
        </p:spPr>
      </p:pic>
      <p:pic>
        <p:nvPicPr>
          <p:cNvPr id="32772" name="Picture 4">
            <a:extLst>
              <a:ext uri="{FF2B5EF4-FFF2-40B4-BE49-F238E27FC236}">
                <a16:creationId xmlns:a16="http://schemas.microsoft.com/office/drawing/2014/main" id="{9EF2717A-2781-594A-853D-F2F96F2216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43558"/>
            <a:ext cx="4432021" cy="3829760"/>
          </a:xfrm>
          <a:prstGeom prst="rect">
            <a:avLst/>
          </a:prstGeom>
          <a:noFill/>
          <a:extLst>
            <a:ext uri="{909E8E84-426E-40DD-AFC4-6F175D3DCCD1}">
              <a14:hiddenFill xmlns:a14="http://schemas.microsoft.com/office/drawing/2010/main">
                <a:solidFill>
                  <a:srgbClr val="FFFFFF"/>
                </a:solidFill>
              </a14:hiddenFill>
            </a:ext>
          </a:extLst>
        </p:spPr>
      </p:pic>
      <p:pic>
        <p:nvPicPr>
          <p:cNvPr id="32774" name="Picture 6">
            <a:extLst>
              <a:ext uri="{FF2B5EF4-FFF2-40B4-BE49-F238E27FC236}">
                <a16:creationId xmlns:a16="http://schemas.microsoft.com/office/drawing/2014/main" id="{941C9F2C-AB74-704E-86FD-F720B52E2A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2087" y="2943558"/>
            <a:ext cx="4691913" cy="2813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75574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a:t>Linux </a:t>
            </a:r>
            <a:r>
              <a:rPr kumimoji="1" lang="zh-CN" altLang="en-US" dirty="0"/>
              <a:t>内核的编译与烧录</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fontScale="62500" lnSpcReduction="20000"/>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2</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a:t>
            </a:r>
            <a:r>
              <a:rPr lang="en" altLang="zh-CN" sz="2600" b="1" i="0" u="none" strike="noStrike" dirty="0">
                <a:solidFill>
                  <a:srgbClr val="4F4F4F"/>
                </a:solidFill>
                <a:effectLst/>
                <a:latin typeface="PingFang SC" panose="020B0400000000000000" pitchFamily="34" charset="-122"/>
                <a:ea typeface="PingFang SC" panose="020B0400000000000000" pitchFamily="34" charset="-122"/>
              </a:rPr>
              <a:t>Linux </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内核目录分析</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70000"/>
              </a:lnSpc>
              <a:buNone/>
            </a:pPr>
            <a:r>
              <a:rPr lang="en-US" altLang="zh-CN" sz="2600" b="1" i="0" u="none" strike="noStrike" dirty="0">
                <a:solidFill>
                  <a:srgbClr val="0065B0"/>
                </a:solidFill>
                <a:effectLst/>
                <a:latin typeface="PingFang SC" panose="020B0400000000000000" pitchFamily="34" charset="-122"/>
                <a:ea typeface="PingFang SC" panose="020B0400000000000000" pitchFamily="34" charset="-122"/>
              </a:rPr>
              <a:t>arch </a:t>
            </a:r>
            <a:r>
              <a:rPr lang="zh-CN" altLang="en-US" sz="2600" b="1" i="0" u="none" strike="noStrike" dirty="0">
                <a:solidFill>
                  <a:srgbClr val="0065B0"/>
                </a:solidFill>
                <a:effectLst/>
                <a:latin typeface="PingFang SC" panose="020B0400000000000000" pitchFamily="34" charset="-122"/>
                <a:ea typeface="PingFang SC" panose="020B0400000000000000" pitchFamily="34" charset="-122"/>
              </a:rPr>
              <a:t>目录</a:t>
            </a:r>
          </a:p>
          <a:p>
            <a:pPr>
              <a:lnSpc>
                <a:spcPct val="170000"/>
              </a:lnSpc>
            </a:pP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和架构有关的目录，比如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arm</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arm64</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avr32</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x86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等等</a:t>
            </a:r>
            <a:r>
              <a:rPr lang="zh-CN" altLang="en-US" sz="2600" dirty="0">
                <a:solidFill>
                  <a:srgbClr val="4F4F4F"/>
                </a:solidFill>
                <a:latin typeface="PingFang SC" panose="020B0400000000000000" pitchFamily="34" charset="-122"/>
                <a:ea typeface="PingFang SC" panose="020B0400000000000000" pitchFamily="34" charset="-122"/>
              </a:rPr>
              <a:t>，</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每种架构对应一个目录</a:t>
            </a:r>
            <a:endParaRPr lang="en-US" altLang="zh-CN" sz="2600"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70000"/>
              </a:lnSpc>
            </a:pP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子目录比如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boot</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common</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configs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等等，用于控制系统引导、系统调用、动态调频、主频设置等。</a:t>
            </a:r>
            <a:endParaRPr lang="en-US" altLang="zh-CN" sz="2600"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70000"/>
              </a:lnSpc>
            </a:pP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arch/arm/configs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目录是不同平台的默认配置文件： </a:t>
            </a:r>
            <a:r>
              <a:rPr lang="en-US" altLang="zh-CN" sz="2600" i="0" u="none" strike="noStrike" dirty="0" err="1">
                <a:solidFill>
                  <a:srgbClr val="4F4F4F"/>
                </a:solidFill>
                <a:effectLst/>
                <a:latin typeface="PingFang SC" panose="020B0400000000000000" pitchFamily="34" charset="-122"/>
                <a:ea typeface="PingFang SC" panose="020B0400000000000000" pitchFamily="34" charset="-122"/>
              </a:rPr>
              <a:t>xxx_defconfig</a:t>
            </a:r>
            <a:endParaRPr lang="zh-CN" altLang="en-US" sz="2600"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70000"/>
              </a:lnSpc>
            </a:pP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arch/arm/boot/</a:t>
            </a:r>
            <a:r>
              <a:rPr lang="en-US" altLang="zh-CN" sz="2600" i="0" u="none" strike="noStrike" dirty="0" err="1">
                <a:solidFill>
                  <a:srgbClr val="4F4F4F"/>
                </a:solidFill>
                <a:effectLst/>
                <a:latin typeface="PingFang SC" panose="020B0400000000000000" pitchFamily="34" charset="-122"/>
                <a:ea typeface="PingFang SC" panose="020B0400000000000000" pitchFamily="34" charset="-122"/>
              </a:rPr>
              <a:t>dts</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目录里面是对应开发平台的设备树文件</a:t>
            </a:r>
            <a:endParaRPr lang="en-US" altLang="zh-CN" sz="2600"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70000"/>
              </a:lnSpc>
            </a:pP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arch/arm/boot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目录下会保存编译出来的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Image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和 </a:t>
            </a:r>
            <a:r>
              <a:rPr lang="en-US" altLang="zh-CN" sz="2600" i="0" u="none" strike="noStrike" dirty="0" err="1">
                <a:solidFill>
                  <a:srgbClr val="4F4F4F"/>
                </a:solidFill>
                <a:effectLst/>
                <a:latin typeface="PingFang SC" panose="020B0400000000000000" pitchFamily="34" charset="-122"/>
                <a:ea typeface="PingFang SC" panose="020B0400000000000000" pitchFamily="34" charset="-122"/>
              </a:rPr>
              <a:t>zImage</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镜像文件</a:t>
            </a:r>
            <a:endParaRPr lang="en-US" altLang="zh-CN" sz="2600" i="0" u="none" strike="noStrike" dirty="0">
              <a:solidFill>
                <a:srgbClr val="4F4F4F"/>
              </a:solidFill>
              <a:effectLst/>
              <a:latin typeface="PingFang SC" panose="020B0400000000000000" pitchFamily="34" charset="-122"/>
              <a:ea typeface="PingFang SC" panose="020B0400000000000000" pitchFamily="34" charset="-122"/>
            </a:endParaRPr>
          </a:p>
          <a:p>
            <a:pPr>
              <a:lnSpc>
                <a:spcPct val="170000"/>
              </a:lnSpc>
            </a:pP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arch/arm/</a:t>
            </a:r>
            <a:r>
              <a:rPr lang="en-US" altLang="zh-CN" sz="2600" i="0" u="none" strike="noStrike" dirty="0" err="1">
                <a:solidFill>
                  <a:srgbClr val="4F4F4F"/>
                </a:solidFill>
                <a:effectLst/>
                <a:latin typeface="PingFang SC" panose="020B0400000000000000" pitchFamily="34" charset="-122"/>
                <a:ea typeface="PingFang SC" panose="020B0400000000000000" pitchFamily="34" charset="-122"/>
              </a:rPr>
              <a:t>mach</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-xxx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目录分别为相应平台的驱动和初始化文件，比如 </a:t>
            </a:r>
            <a:r>
              <a:rPr lang="en-US" altLang="zh-CN" sz="2600" i="0" u="none" strike="noStrike" dirty="0" err="1">
                <a:solidFill>
                  <a:srgbClr val="4F4F4F"/>
                </a:solidFill>
                <a:effectLst/>
                <a:latin typeface="PingFang SC" panose="020B0400000000000000" pitchFamily="34" charset="-122"/>
                <a:ea typeface="PingFang SC" panose="020B0400000000000000" pitchFamily="34" charset="-122"/>
              </a:rPr>
              <a:t>mach-imx</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目录里面就是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I.MX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系列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CPU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的驱动和初始化文件。</a:t>
            </a:r>
          </a:p>
          <a:p>
            <a:pPr marL="0" indent="0">
              <a:lnSpc>
                <a:spcPct val="170000"/>
              </a:lnSpc>
              <a:buNone/>
            </a:pPr>
            <a:r>
              <a:rPr lang="en-US" altLang="zh-CN" sz="2600" b="1" i="0" u="none" strike="noStrike" dirty="0">
                <a:solidFill>
                  <a:srgbClr val="0065B0"/>
                </a:solidFill>
                <a:effectLst/>
                <a:latin typeface="PingFang SC" panose="020B0400000000000000" pitchFamily="34" charset="-122"/>
                <a:ea typeface="PingFang SC" panose="020B0400000000000000" pitchFamily="34" charset="-122"/>
              </a:rPr>
              <a:t>drivers </a:t>
            </a:r>
            <a:r>
              <a:rPr lang="zh-CN" altLang="en-US" sz="2600" b="1" i="0" u="none" strike="noStrike" dirty="0">
                <a:solidFill>
                  <a:srgbClr val="0065B0"/>
                </a:solidFill>
                <a:effectLst/>
                <a:latin typeface="PingFang SC" panose="020B0400000000000000" pitchFamily="34" charset="-122"/>
                <a:ea typeface="PingFang SC" panose="020B0400000000000000" pitchFamily="34" charset="-122"/>
              </a:rPr>
              <a:t>目录</a:t>
            </a:r>
          </a:p>
          <a:p>
            <a:pPr marL="0" indent="0">
              <a:lnSpc>
                <a:spcPct val="170000"/>
              </a:lnSpc>
              <a:buNone/>
            </a:pP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设备驱动程序，里面列出了 </a:t>
            </a:r>
            <a:r>
              <a:rPr lang="en-US" altLang="zh-CN" sz="2600" i="0" u="none" strike="noStrike" dirty="0" err="1">
                <a:solidFill>
                  <a:srgbClr val="4F4F4F"/>
                </a:solidFill>
                <a:effectLst/>
                <a:latin typeface="PingFang SC" panose="020B0400000000000000" pitchFamily="34" charset="-122"/>
                <a:ea typeface="PingFang SC" panose="020B0400000000000000" pitchFamily="34" charset="-122"/>
              </a:rPr>
              <a:t>linux</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内核支持的所有硬件设备的驱动源代码，每个不同的驱动占用一个子目录，如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char</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block</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net</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 </a:t>
            </a:r>
            <a:r>
              <a:rPr lang="en-US" altLang="zh-CN" sz="2600" i="0" u="none" strike="noStrike" dirty="0" err="1">
                <a:solidFill>
                  <a:srgbClr val="4F4F4F"/>
                </a:solidFill>
                <a:effectLst/>
                <a:latin typeface="PingFang SC" panose="020B0400000000000000" pitchFamily="34" charset="-122"/>
                <a:ea typeface="PingFang SC" panose="020B0400000000000000" pitchFamily="34" charset="-122"/>
              </a:rPr>
              <a:t>mtd</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 </a:t>
            </a:r>
            <a:r>
              <a:rPr lang="en-US" altLang="zh-CN" sz="2600" i="0" u="none" strike="noStrike" dirty="0">
                <a:solidFill>
                  <a:srgbClr val="4F4F4F"/>
                </a:solidFill>
                <a:effectLst/>
                <a:latin typeface="PingFang SC" panose="020B0400000000000000" pitchFamily="34" charset="-122"/>
                <a:ea typeface="PingFang SC" panose="020B0400000000000000" pitchFamily="34" charset="-122"/>
              </a:rPr>
              <a:t>i2c </a:t>
            </a:r>
            <a:r>
              <a:rPr lang="zh-CN" altLang="en-US" sz="2600" i="0" u="none" strike="noStrike" dirty="0">
                <a:solidFill>
                  <a:srgbClr val="4F4F4F"/>
                </a:solidFill>
                <a:effectLst/>
                <a:latin typeface="PingFang SC" panose="020B0400000000000000" pitchFamily="34" charset="-122"/>
                <a:ea typeface="PingFang SC" panose="020B0400000000000000" pitchFamily="34" charset="-122"/>
              </a:rPr>
              <a:t>等</a:t>
            </a:r>
          </a:p>
          <a:p>
            <a:pPr marL="0" indent="0">
              <a:lnSpc>
                <a:spcPct val="150000"/>
              </a:lnSpc>
              <a:buNone/>
            </a:pPr>
            <a:endParaRPr lang="en-US" altLang="zh-CN" sz="1800" b="0" i="0" u="none" strike="noStrike" dirty="0">
              <a:solidFill>
                <a:srgbClr val="4D4D4D"/>
              </a:solidFill>
              <a:effectLst/>
              <a:latin typeface="-apple-system"/>
            </a:endParaRPr>
          </a:p>
        </p:txBody>
      </p:sp>
    </p:spTree>
    <p:extLst>
      <p:ext uri="{BB962C8B-B14F-4D97-AF65-F5344CB8AC3E}">
        <p14:creationId xmlns:p14="http://schemas.microsoft.com/office/powerpoint/2010/main" val="41211324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a:t>Linux </a:t>
            </a:r>
            <a:r>
              <a:rPr kumimoji="1" lang="zh-CN" altLang="en-US" dirty="0"/>
              <a:t>内核的编译与烧录</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fontScale="85000" lnSpcReduction="10000"/>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3</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编译内核</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endParaRPr lang="en-US" altLang="zh-CN" sz="1800" dirty="0">
              <a:solidFill>
                <a:srgbClr val="4D4D4D"/>
              </a:solidFill>
              <a:latin typeface="-apple-system"/>
            </a:endParaRPr>
          </a:p>
          <a:p>
            <a:pPr marL="0" indent="0">
              <a:lnSpc>
                <a:spcPct val="150000"/>
              </a:lnSpc>
              <a:buNone/>
            </a:pPr>
            <a:endParaRPr lang="en-US" altLang="zh-CN" sz="1800" b="0" i="0" u="none" strike="noStrike" dirty="0">
              <a:solidFill>
                <a:srgbClr val="4D4D4D"/>
              </a:solidFill>
              <a:effectLst/>
              <a:latin typeface="-apple-system"/>
            </a:endParaRPr>
          </a:p>
          <a:p>
            <a:pPr marL="0" indent="0">
              <a:lnSpc>
                <a:spcPct val="150000"/>
              </a:lnSpc>
              <a:buNone/>
            </a:pPr>
            <a:endParaRPr lang="en-US" altLang="zh-CN" sz="1800" dirty="0">
              <a:solidFill>
                <a:srgbClr val="4D4D4D"/>
              </a:solidFill>
              <a:latin typeface="-apple-system"/>
            </a:endParaRPr>
          </a:p>
          <a:p>
            <a:pPr marL="0" indent="0">
              <a:lnSpc>
                <a:spcPct val="150000"/>
              </a:lnSpc>
              <a:buNone/>
            </a:pPr>
            <a:endParaRPr lang="en-US" altLang="zh-CN" sz="1800" b="0" i="0" u="none" strike="noStrike" dirty="0">
              <a:solidFill>
                <a:srgbClr val="4D4D4D"/>
              </a:solidFill>
              <a:effectLst/>
              <a:latin typeface="-apple-system"/>
            </a:endParaRPr>
          </a:p>
          <a:p>
            <a:pPr marL="0" indent="0">
              <a:lnSpc>
                <a:spcPct val="150000"/>
              </a:lnSpc>
              <a:buNone/>
            </a:pPr>
            <a:endParaRPr lang="en-US" altLang="zh-CN" sz="1800" b="0" i="0" u="none" strike="noStrike" dirty="0">
              <a:solidFill>
                <a:srgbClr val="4D4D4D"/>
              </a:solidFill>
              <a:effectLst/>
              <a:latin typeface="-apple-system"/>
            </a:endParaRPr>
          </a:p>
          <a:p>
            <a:pPr marL="0" indent="0">
              <a:lnSpc>
                <a:spcPct val="150000"/>
              </a:lnSpc>
              <a:buNone/>
            </a:pPr>
            <a:r>
              <a:rPr lang="zh-CN" altLang="en-US" sz="1800" b="0" i="0" u="none" strike="noStrike" dirty="0">
                <a:solidFill>
                  <a:srgbClr val="4D4D4D"/>
                </a:solidFill>
                <a:effectLst/>
                <a:latin typeface="-apple-system"/>
              </a:rPr>
              <a:t>编译得到的 </a:t>
            </a:r>
            <a:r>
              <a:rPr lang="en-US" altLang="zh-CN" sz="1800" b="0" i="0" u="none" strike="noStrike" dirty="0" err="1">
                <a:solidFill>
                  <a:srgbClr val="4D4D4D"/>
                </a:solidFill>
                <a:effectLst/>
                <a:latin typeface="-apple-system"/>
              </a:rPr>
              <a:t>zImage</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内核在 </a:t>
            </a:r>
            <a:r>
              <a:rPr lang="en-US" altLang="zh-CN" sz="1800" b="0" i="0" u="none" strike="noStrike" dirty="0">
                <a:solidFill>
                  <a:srgbClr val="4D4D4D"/>
                </a:solidFill>
                <a:effectLst/>
                <a:latin typeface="-apple-system"/>
              </a:rPr>
              <a:t>arch/arm/boot </a:t>
            </a:r>
            <a:r>
              <a:rPr lang="zh-CN" altLang="en-US" sz="1800" b="0" i="0" u="none" strike="noStrike" dirty="0">
                <a:solidFill>
                  <a:srgbClr val="4D4D4D"/>
                </a:solidFill>
                <a:effectLst/>
                <a:latin typeface="-apple-system"/>
              </a:rPr>
              <a:t>目录下，设备树在 </a:t>
            </a:r>
            <a:r>
              <a:rPr lang="en-US" altLang="zh-CN" sz="1800" b="0" i="0" u="none" strike="noStrike" dirty="0">
                <a:solidFill>
                  <a:srgbClr val="4D4D4D"/>
                </a:solidFill>
                <a:effectLst/>
                <a:latin typeface="-apple-system"/>
              </a:rPr>
              <a:t>arch/arm/boot/</a:t>
            </a:r>
            <a:r>
              <a:rPr lang="en-US" altLang="zh-CN" sz="1800" b="0" i="0" u="none" strike="noStrike" dirty="0" err="1">
                <a:solidFill>
                  <a:srgbClr val="4D4D4D"/>
                </a:solidFill>
                <a:effectLst/>
                <a:latin typeface="-apple-system"/>
              </a:rPr>
              <a:t>dts</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目录下，设备树分为</a:t>
            </a:r>
            <a:r>
              <a:rPr lang="en-US" altLang="zh-CN" sz="1800" b="0" i="0" u="none" strike="noStrike" dirty="0" err="1">
                <a:solidFill>
                  <a:srgbClr val="4D4D4D"/>
                </a:solidFill>
                <a:effectLst/>
                <a:latin typeface="-apple-system"/>
              </a:rPr>
              <a:t>emmc</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版本 </a:t>
            </a:r>
            <a:r>
              <a:rPr lang="en-US" altLang="zh-CN" sz="1800" b="0" i="0" u="none" strike="noStrike" dirty="0">
                <a:solidFill>
                  <a:srgbClr val="4D4D4D"/>
                </a:solidFill>
                <a:effectLst/>
                <a:latin typeface="-apple-system"/>
              </a:rPr>
              <a:t>imx6ull-mmc-npi.dtb </a:t>
            </a:r>
            <a:r>
              <a:rPr lang="zh-CN" altLang="en-US" sz="1800" b="0" i="0" u="none" strike="noStrike" dirty="0">
                <a:solidFill>
                  <a:srgbClr val="4D4D4D"/>
                </a:solidFill>
                <a:effectLst/>
                <a:latin typeface="-apple-system"/>
              </a:rPr>
              <a:t>以及 </a:t>
            </a:r>
            <a:r>
              <a:rPr lang="en-US" altLang="zh-CN" sz="1800" b="0" i="0" u="none" strike="noStrike" dirty="0" err="1">
                <a:solidFill>
                  <a:srgbClr val="4D4D4D"/>
                </a:solidFill>
                <a:effectLst/>
                <a:latin typeface="-apple-system"/>
              </a:rPr>
              <a:t>nand</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版本 </a:t>
            </a:r>
            <a:r>
              <a:rPr lang="en-US" altLang="zh-CN" sz="1800" b="0" i="0" u="none" strike="noStrike" dirty="0">
                <a:solidFill>
                  <a:srgbClr val="4D4D4D"/>
                </a:solidFill>
                <a:effectLst/>
                <a:latin typeface="-apple-system"/>
              </a:rPr>
              <a:t>imx6ull-nand-npi.dtb </a:t>
            </a:r>
            <a:r>
              <a:rPr lang="zh-CN" altLang="en-US" sz="1800" b="0" i="0" u="none" strike="noStrike" dirty="0">
                <a:solidFill>
                  <a:srgbClr val="4D4D4D"/>
                </a:solidFill>
                <a:effectLst/>
                <a:latin typeface="-apple-system"/>
              </a:rPr>
              <a:t>。</a:t>
            </a:r>
          </a:p>
          <a:p>
            <a:pPr marL="0" indent="0">
              <a:lnSpc>
                <a:spcPct val="150000"/>
              </a:lnSpc>
              <a:buNone/>
            </a:pPr>
            <a:r>
              <a:rPr lang="en-US" altLang="zh-CN" sz="1800" b="0" i="0" u="none" strike="noStrike" dirty="0" err="1">
                <a:solidFill>
                  <a:srgbClr val="4D4D4D"/>
                </a:solidFill>
                <a:effectLst/>
                <a:latin typeface="-apple-system"/>
              </a:rPr>
              <a:t>vmlinux</a:t>
            </a:r>
            <a:r>
              <a:rPr lang="zh-CN" altLang="en-US" sz="1800" b="0" i="0" u="none" strike="noStrike" dirty="0">
                <a:solidFill>
                  <a:srgbClr val="4D4D4D"/>
                </a:solidFill>
                <a:effectLst/>
                <a:latin typeface="-apple-system"/>
              </a:rPr>
              <a:t>、 </a:t>
            </a:r>
            <a:r>
              <a:rPr lang="en-US" altLang="zh-CN" sz="1800" b="0" i="0" u="none" strike="noStrike" dirty="0">
                <a:solidFill>
                  <a:srgbClr val="4D4D4D"/>
                </a:solidFill>
                <a:effectLst/>
                <a:latin typeface="-apple-system"/>
              </a:rPr>
              <a:t>Image</a:t>
            </a:r>
            <a:r>
              <a:rPr lang="zh-CN" altLang="en-US" sz="1800" b="0" i="0" u="none" strike="noStrike" dirty="0">
                <a:solidFill>
                  <a:srgbClr val="4D4D4D"/>
                </a:solidFill>
                <a:effectLst/>
                <a:latin typeface="-apple-system"/>
              </a:rPr>
              <a:t>， </a:t>
            </a:r>
            <a:r>
              <a:rPr lang="en-US" altLang="zh-CN" sz="1800" b="0" i="0" u="none" strike="noStrike" dirty="0" err="1">
                <a:solidFill>
                  <a:srgbClr val="4D4D4D"/>
                </a:solidFill>
                <a:effectLst/>
                <a:latin typeface="-apple-system"/>
              </a:rPr>
              <a:t>zImage</a:t>
            </a:r>
            <a:r>
              <a:rPr lang="zh-CN" altLang="en-US" sz="1800" b="0" i="0" u="none" strike="noStrike" dirty="0">
                <a:solidFill>
                  <a:srgbClr val="4D4D4D"/>
                </a:solidFill>
                <a:effectLst/>
                <a:latin typeface="-apple-system"/>
              </a:rPr>
              <a:t>、 </a:t>
            </a:r>
            <a:r>
              <a:rPr lang="en-US" altLang="zh-CN" sz="1800" b="0" i="0" u="none" strike="noStrike" dirty="0" err="1">
                <a:solidFill>
                  <a:srgbClr val="4D4D4D"/>
                </a:solidFill>
                <a:effectLst/>
                <a:latin typeface="-apple-system"/>
              </a:rPr>
              <a:t>uImage</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的区别：</a:t>
            </a:r>
          </a:p>
          <a:p>
            <a:pPr marL="0" indent="0">
              <a:lnSpc>
                <a:spcPct val="150000"/>
              </a:lnSpc>
              <a:buNone/>
            </a:pPr>
            <a:r>
              <a:rPr lang="zh-CN" altLang="en-US" sz="1800" b="0" i="0" u="none" strike="noStrike" dirty="0">
                <a:solidFill>
                  <a:srgbClr val="4D4D4D"/>
                </a:solidFill>
                <a:effectLst/>
                <a:latin typeface="-apple-system"/>
              </a:rPr>
              <a:t>① </a:t>
            </a:r>
            <a:r>
              <a:rPr lang="en-US" altLang="zh-CN" sz="1800" b="0" i="0" u="none" strike="noStrike" dirty="0" err="1">
                <a:solidFill>
                  <a:srgbClr val="4D4D4D"/>
                </a:solidFill>
                <a:effectLst/>
                <a:latin typeface="-apple-system"/>
              </a:rPr>
              <a:t>vmlinux</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是 </a:t>
            </a:r>
            <a:r>
              <a:rPr lang="en-US" altLang="zh-CN" sz="1800" b="0" i="0" u="none" strike="noStrike" dirty="0">
                <a:solidFill>
                  <a:srgbClr val="4D4D4D"/>
                </a:solidFill>
                <a:effectLst/>
                <a:latin typeface="-apple-system"/>
              </a:rPr>
              <a:t>ELF </a:t>
            </a:r>
            <a:r>
              <a:rPr lang="zh-CN" altLang="en-US" sz="1800" b="0" i="0" u="none" strike="noStrike" dirty="0">
                <a:solidFill>
                  <a:srgbClr val="4D4D4D"/>
                </a:solidFill>
                <a:effectLst/>
                <a:latin typeface="-apple-system"/>
              </a:rPr>
              <a:t>格式的文件，</a:t>
            </a:r>
            <a:r>
              <a:rPr lang="en-US" altLang="zh-CN" sz="1800" b="0" i="0" u="none" strike="noStrike" dirty="0" err="1">
                <a:solidFill>
                  <a:srgbClr val="4D4D4D"/>
                </a:solidFill>
                <a:effectLst/>
                <a:latin typeface="-apple-system"/>
              </a:rPr>
              <a:t>vmlinux</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是编译出来的最原始的内核文件，是未压缩的。</a:t>
            </a:r>
          </a:p>
          <a:p>
            <a:pPr marL="0" indent="0">
              <a:lnSpc>
                <a:spcPct val="150000"/>
              </a:lnSpc>
              <a:buNone/>
            </a:pPr>
            <a:r>
              <a:rPr lang="zh-CN" altLang="en-US" sz="1800" b="0" i="0" u="none" strike="noStrike" dirty="0">
                <a:solidFill>
                  <a:srgbClr val="4D4D4D"/>
                </a:solidFill>
                <a:effectLst/>
                <a:latin typeface="-apple-system"/>
              </a:rPr>
              <a:t>② </a:t>
            </a:r>
            <a:r>
              <a:rPr lang="en-US" altLang="zh-CN" sz="1800" b="0" i="0" u="none" strike="noStrike" dirty="0">
                <a:solidFill>
                  <a:srgbClr val="4D4D4D"/>
                </a:solidFill>
                <a:effectLst/>
                <a:latin typeface="-apple-system"/>
              </a:rPr>
              <a:t>Image </a:t>
            </a:r>
            <a:r>
              <a:rPr lang="zh-CN" altLang="en-US" sz="1800" b="0" i="0" u="none" strike="noStrike" dirty="0">
                <a:solidFill>
                  <a:srgbClr val="4D4D4D"/>
                </a:solidFill>
                <a:effectLst/>
                <a:latin typeface="-apple-system"/>
              </a:rPr>
              <a:t>是 </a:t>
            </a:r>
            <a:r>
              <a:rPr lang="en-US" altLang="zh-CN" sz="1800" b="0" i="0" u="none" strike="noStrike" dirty="0">
                <a:solidFill>
                  <a:srgbClr val="4D4D4D"/>
                </a:solidFill>
                <a:effectLst/>
                <a:latin typeface="-apple-system"/>
              </a:rPr>
              <a:t>Linux </a:t>
            </a:r>
            <a:r>
              <a:rPr lang="zh-CN" altLang="en-US" sz="1800" b="0" i="0" u="none" strike="noStrike" dirty="0">
                <a:solidFill>
                  <a:srgbClr val="4D4D4D"/>
                </a:solidFill>
                <a:effectLst/>
                <a:latin typeface="-apple-system"/>
              </a:rPr>
              <a:t>内核镜像文件，但是 </a:t>
            </a:r>
            <a:r>
              <a:rPr lang="en-US" altLang="zh-CN" sz="1800" b="0" i="0" u="none" strike="noStrike" dirty="0">
                <a:solidFill>
                  <a:srgbClr val="4D4D4D"/>
                </a:solidFill>
                <a:effectLst/>
                <a:latin typeface="-apple-system"/>
              </a:rPr>
              <a:t>Image </a:t>
            </a:r>
            <a:r>
              <a:rPr lang="zh-CN" altLang="en-US" sz="1800" b="0" i="0" u="none" strike="noStrike" dirty="0">
                <a:solidFill>
                  <a:srgbClr val="4D4D4D"/>
                </a:solidFill>
                <a:effectLst/>
                <a:latin typeface="-apple-system"/>
              </a:rPr>
              <a:t>仅包含可执行的二进制数据。 </a:t>
            </a:r>
            <a:r>
              <a:rPr lang="en-US" altLang="zh-CN" sz="1800" b="0" i="0" u="none" strike="noStrike" dirty="0">
                <a:solidFill>
                  <a:srgbClr val="4D4D4D"/>
                </a:solidFill>
                <a:effectLst/>
                <a:latin typeface="-apple-system"/>
              </a:rPr>
              <a:t>Image </a:t>
            </a:r>
            <a:r>
              <a:rPr lang="zh-CN" altLang="en-US" sz="1800" b="0" i="0" u="none" strike="noStrike" dirty="0">
                <a:solidFill>
                  <a:srgbClr val="4D4D4D"/>
                </a:solidFill>
                <a:effectLst/>
                <a:latin typeface="-apple-system"/>
              </a:rPr>
              <a:t>就是使用 </a:t>
            </a:r>
            <a:r>
              <a:rPr lang="en-US" altLang="zh-CN" sz="1800" b="0" i="0" u="none" strike="noStrike" dirty="0" err="1">
                <a:solidFill>
                  <a:srgbClr val="4D4D4D"/>
                </a:solidFill>
                <a:effectLst/>
                <a:latin typeface="-apple-system"/>
              </a:rPr>
              <a:t>objcopy</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取消掉 </a:t>
            </a:r>
            <a:r>
              <a:rPr lang="en-US" altLang="zh-CN" sz="1800" b="0" i="0" u="none" strike="noStrike" dirty="0" err="1">
                <a:solidFill>
                  <a:srgbClr val="4D4D4D"/>
                </a:solidFill>
                <a:effectLst/>
                <a:latin typeface="-apple-system"/>
              </a:rPr>
              <a:t>vmlinux</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中的一些其他信息，比如符号表什么的，也是未压缩的。</a:t>
            </a:r>
          </a:p>
          <a:p>
            <a:pPr marL="0" indent="0">
              <a:lnSpc>
                <a:spcPct val="150000"/>
              </a:lnSpc>
              <a:buNone/>
            </a:pPr>
            <a:r>
              <a:rPr lang="zh-CN" altLang="en-US" sz="1800" b="0" i="0" u="none" strike="noStrike" dirty="0">
                <a:solidFill>
                  <a:srgbClr val="4D4D4D"/>
                </a:solidFill>
                <a:effectLst/>
                <a:latin typeface="-apple-system"/>
              </a:rPr>
              <a:t>③ </a:t>
            </a:r>
            <a:r>
              <a:rPr lang="en-US" altLang="zh-CN" sz="1800" b="0" i="0" u="none" strike="noStrike" dirty="0" err="1">
                <a:solidFill>
                  <a:srgbClr val="4D4D4D"/>
                </a:solidFill>
                <a:effectLst/>
                <a:latin typeface="-apple-system"/>
              </a:rPr>
              <a:t>zImage</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是经过 </a:t>
            </a:r>
            <a:r>
              <a:rPr lang="en-US" altLang="zh-CN" sz="1800" b="0" i="0" u="none" strike="noStrike" dirty="0" err="1">
                <a:solidFill>
                  <a:srgbClr val="4D4D4D"/>
                </a:solidFill>
                <a:effectLst/>
                <a:latin typeface="-apple-system"/>
              </a:rPr>
              <a:t>gzip</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压缩后的 </a:t>
            </a:r>
            <a:r>
              <a:rPr lang="en-US" altLang="zh-CN" sz="1800" b="0" i="0" u="none" strike="noStrike" dirty="0">
                <a:solidFill>
                  <a:srgbClr val="4D4D4D"/>
                </a:solidFill>
                <a:effectLst/>
                <a:latin typeface="-apple-system"/>
              </a:rPr>
              <a:t>Image</a:t>
            </a:r>
            <a:r>
              <a:rPr lang="zh-CN" altLang="en-US" sz="1800" b="0" i="0" u="none" strike="noStrike" dirty="0">
                <a:solidFill>
                  <a:srgbClr val="4D4D4D"/>
                </a:solidFill>
                <a:effectLst/>
                <a:latin typeface="-apple-system"/>
              </a:rPr>
              <a:t>。</a:t>
            </a:r>
          </a:p>
          <a:p>
            <a:pPr marL="0" indent="0">
              <a:lnSpc>
                <a:spcPct val="150000"/>
              </a:lnSpc>
              <a:buNone/>
            </a:pPr>
            <a:r>
              <a:rPr lang="zh-CN" altLang="en-US" sz="1800" b="0" i="0" u="none" strike="noStrike" dirty="0">
                <a:solidFill>
                  <a:srgbClr val="4D4D4D"/>
                </a:solidFill>
                <a:effectLst/>
                <a:latin typeface="-apple-system"/>
              </a:rPr>
              <a:t>④ </a:t>
            </a:r>
            <a:r>
              <a:rPr lang="en-US" altLang="zh-CN" sz="1800" b="0" i="0" u="none" strike="noStrike" dirty="0" err="1">
                <a:solidFill>
                  <a:srgbClr val="4D4D4D"/>
                </a:solidFill>
                <a:effectLst/>
                <a:latin typeface="-apple-system"/>
              </a:rPr>
              <a:t>uImage</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是老版本 </a:t>
            </a:r>
            <a:r>
              <a:rPr lang="en-US" altLang="zh-CN" sz="1800" b="0" i="0" u="none" strike="noStrike" dirty="0" err="1">
                <a:solidFill>
                  <a:srgbClr val="4D4D4D"/>
                </a:solidFill>
                <a:effectLst/>
                <a:latin typeface="-apple-system"/>
              </a:rPr>
              <a:t>uboot</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专用的镜像文件， </a:t>
            </a:r>
            <a:r>
              <a:rPr lang="en-US" altLang="zh-CN" sz="1800" b="0" i="0" u="none" strike="noStrike" dirty="0" err="1">
                <a:solidFill>
                  <a:srgbClr val="4D4D4D"/>
                </a:solidFill>
                <a:effectLst/>
                <a:latin typeface="-apple-system"/>
              </a:rPr>
              <a:t>uImag</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是在 </a:t>
            </a:r>
            <a:r>
              <a:rPr lang="en-US" altLang="zh-CN" sz="1800" b="0" i="0" u="none" strike="noStrike" dirty="0" err="1">
                <a:solidFill>
                  <a:srgbClr val="4D4D4D"/>
                </a:solidFill>
                <a:effectLst/>
                <a:latin typeface="-apple-system"/>
              </a:rPr>
              <a:t>zImage</a:t>
            </a:r>
            <a:r>
              <a:rPr lang="en-US" altLang="zh-CN" sz="1800" b="0" i="0" u="none" strike="noStrike" dirty="0">
                <a:solidFill>
                  <a:srgbClr val="4D4D4D"/>
                </a:solidFill>
                <a:effectLst/>
                <a:latin typeface="-apple-system"/>
              </a:rPr>
              <a:t> </a:t>
            </a:r>
            <a:r>
              <a:rPr lang="zh-CN" altLang="en-US" sz="1800" b="0" i="0" u="none" strike="noStrike" dirty="0">
                <a:solidFill>
                  <a:srgbClr val="4D4D4D"/>
                </a:solidFill>
                <a:effectLst/>
                <a:latin typeface="-apple-system"/>
              </a:rPr>
              <a:t>前面加了一个长度为 </a:t>
            </a:r>
            <a:r>
              <a:rPr lang="en-US" altLang="zh-CN" sz="1800" b="0" i="0" u="none" strike="noStrike" dirty="0">
                <a:solidFill>
                  <a:srgbClr val="4D4D4D"/>
                </a:solidFill>
                <a:effectLst/>
                <a:latin typeface="-apple-system"/>
              </a:rPr>
              <a:t>64</a:t>
            </a:r>
            <a:r>
              <a:rPr lang="zh-CN" altLang="en-US" sz="1800" b="0" i="0" u="none" strike="noStrike" dirty="0">
                <a:solidFill>
                  <a:srgbClr val="4D4D4D"/>
                </a:solidFill>
                <a:effectLst/>
                <a:latin typeface="-apple-system"/>
              </a:rPr>
              <a:t>字节的“头”，这个头信息描述了该镜像文件的类型、加载位置、生成时间、大小等信息</a:t>
            </a:r>
          </a:p>
        </p:txBody>
      </p:sp>
      <p:pic>
        <p:nvPicPr>
          <p:cNvPr id="4" name="图片 3">
            <a:extLst>
              <a:ext uri="{FF2B5EF4-FFF2-40B4-BE49-F238E27FC236}">
                <a16:creationId xmlns:a16="http://schemas.microsoft.com/office/drawing/2014/main" id="{CB42C96A-E3ED-E140-9769-C21D441F4B9F}"/>
              </a:ext>
            </a:extLst>
          </p:cNvPr>
          <p:cNvPicPr>
            <a:picLocks noChangeAspect="1"/>
          </p:cNvPicPr>
          <p:nvPr/>
        </p:nvPicPr>
        <p:blipFill>
          <a:blip r:embed="rId3"/>
          <a:stretch>
            <a:fillRect/>
          </a:stretch>
        </p:blipFill>
        <p:spPr>
          <a:xfrm>
            <a:off x="685800" y="1841500"/>
            <a:ext cx="7556500" cy="1587500"/>
          </a:xfrm>
          <a:prstGeom prst="rect">
            <a:avLst/>
          </a:prstGeom>
        </p:spPr>
      </p:pic>
    </p:spTree>
    <p:extLst>
      <p:ext uri="{BB962C8B-B14F-4D97-AF65-F5344CB8AC3E}">
        <p14:creationId xmlns:p14="http://schemas.microsoft.com/office/powerpoint/2010/main" val="41399813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a:t>Linux </a:t>
            </a:r>
            <a:r>
              <a:rPr kumimoji="1" lang="zh-CN" altLang="en-US" dirty="0"/>
              <a:t>内核的编译与烧录</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1" y="1371600"/>
            <a:ext cx="8229600" cy="5486400"/>
          </a:xfrm>
        </p:spPr>
        <p:txBody>
          <a:bodyPr>
            <a:normAutofit/>
          </a:bodyPr>
          <a:lstStyle/>
          <a:p>
            <a:pPr marL="0" indent="0">
              <a:buNone/>
            </a:pPr>
            <a:r>
              <a:rPr lang="en-US" altLang="zh-CN" sz="2600" b="1" dirty="0">
                <a:solidFill>
                  <a:srgbClr val="4F4F4F"/>
                </a:solidFill>
                <a:latin typeface="PingFang SC" panose="020B0400000000000000" pitchFamily="34" charset="-122"/>
                <a:ea typeface="PingFang SC" panose="020B0400000000000000" pitchFamily="34" charset="-122"/>
              </a:rPr>
              <a:t>4</a:t>
            </a:r>
            <a:r>
              <a:rPr lang="en-US" altLang="zh-CN" sz="2600" b="1"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600" b="1" i="0" u="none" strike="noStrike" dirty="0">
                <a:solidFill>
                  <a:srgbClr val="4F4F4F"/>
                </a:solidFill>
                <a:effectLst/>
                <a:latin typeface="PingFang SC" panose="020B0400000000000000" pitchFamily="34" charset="-122"/>
                <a:ea typeface="PingFang SC" panose="020B0400000000000000" pitchFamily="34" charset="-122"/>
              </a:rPr>
              <a:t> 下载到开发板</a:t>
            </a:r>
            <a:endParaRPr lang="en-US" altLang="zh-CN" sz="26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r>
              <a:rPr lang="zh-CN" altLang="en-US" sz="2000" b="0" i="0" u="none" strike="noStrike" dirty="0">
                <a:solidFill>
                  <a:srgbClr val="4D4D4D"/>
                </a:solidFill>
                <a:effectLst/>
                <a:latin typeface="-apple-system"/>
              </a:rPr>
              <a:t>将内核镜像和设备树文件拷贝到</a:t>
            </a:r>
            <a:r>
              <a:rPr lang="en" altLang="zh-CN" sz="2000" b="0" i="0" u="none" strike="noStrike" dirty="0" err="1">
                <a:solidFill>
                  <a:srgbClr val="4D4D4D"/>
                </a:solidFill>
                <a:effectLst/>
                <a:latin typeface="-apple-system"/>
              </a:rPr>
              <a:t>tftp</a:t>
            </a:r>
            <a:r>
              <a:rPr lang="zh-CN" altLang="en-US" sz="2000" b="0" i="0" u="none" strike="noStrike" dirty="0">
                <a:solidFill>
                  <a:srgbClr val="4D4D4D"/>
                </a:solidFill>
                <a:effectLst/>
                <a:latin typeface="-apple-system"/>
              </a:rPr>
              <a:t>根目录中，然后使用</a:t>
            </a:r>
            <a:r>
              <a:rPr lang="en" altLang="zh-CN" sz="2000" b="0" i="0" u="none" strike="noStrike" dirty="0" err="1">
                <a:solidFill>
                  <a:srgbClr val="4D4D4D"/>
                </a:solidFill>
                <a:effectLst/>
                <a:latin typeface="-apple-system"/>
              </a:rPr>
              <a:t>tftp</a:t>
            </a:r>
            <a:r>
              <a:rPr lang="zh-CN" altLang="en-US" sz="2000" b="0" i="0" u="none" strike="noStrike" dirty="0">
                <a:solidFill>
                  <a:srgbClr val="4D4D4D"/>
                </a:solidFill>
                <a:effectLst/>
                <a:latin typeface="-apple-system"/>
              </a:rPr>
              <a:t>加载并启动</a:t>
            </a:r>
            <a:endParaRPr lang="en-US" altLang="zh-CN" sz="1800" dirty="0">
              <a:solidFill>
                <a:srgbClr val="4D4D4D"/>
              </a:solidFill>
              <a:latin typeface="-apple-system"/>
            </a:endParaRPr>
          </a:p>
          <a:p>
            <a:pPr marL="0" indent="0">
              <a:lnSpc>
                <a:spcPct val="150000"/>
              </a:lnSpc>
              <a:buNone/>
            </a:pPr>
            <a:endParaRPr lang="en-US" altLang="zh-CN" sz="1800" b="0" i="0" u="none" strike="noStrike" dirty="0">
              <a:solidFill>
                <a:srgbClr val="4D4D4D"/>
              </a:solidFill>
              <a:effectLst/>
              <a:latin typeface="-apple-system"/>
            </a:endParaRPr>
          </a:p>
          <a:p>
            <a:pPr marL="0" indent="0">
              <a:lnSpc>
                <a:spcPct val="150000"/>
              </a:lnSpc>
              <a:buNone/>
            </a:pPr>
            <a:endParaRPr lang="en-US" altLang="zh-CN" sz="1800" dirty="0">
              <a:solidFill>
                <a:srgbClr val="4D4D4D"/>
              </a:solidFill>
              <a:latin typeface="-apple-system"/>
            </a:endParaRPr>
          </a:p>
          <a:p>
            <a:pPr marL="0" indent="0">
              <a:lnSpc>
                <a:spcPct val="150000"/>
              </a:lnSpc>
              <a:buNone/>
            </a:pPr>
            <a:endParaRPr lang="en-US" altLang="zh-CN" sz="1800" b="0" i="0" u="none" strike="noStrike" dirty="0">
              <a:solidFill>
                <a:srgbClr val="4D4D4D"/>
              </a:solidFill>
              <a:effectLst/>
              <a:latin typeface="-apple-system"/>
            </a:endParaRPr>
          </a:p>
        </p:txBody>
      </p:sp>
      <p:pic>
        <p:nvPicPr>
          <p:cNvPr id="5" name="图片 4">
            <a:extLst>
              <a:ext uri="{FF2B5EF4-FFF2-40B4-BE49-F238E27FC236}">
                <a16:creationId xmlns:a16="http://schemas.microsoft.com/office/drawing/2014/main" id="{E461D827-605D-D945-B8BC-F5540D3ED749}"/>
              </a:ext>
            </a:extLst>
          </p:cNvPr>
          <p:cNvPicPr>
            <a:picLocks noChangeAspect="1"/>
          </p:cNvPicPr>
          <p:nvPr/>
        </p:nvPicPr>
        <p:blipFill>
          <a:blip r:embed="rId3"/>
          <a:stretch>
            <a:fillRect/>
          </a:stretch>
        </p:blipFill>
        <p:spPr>
          <a:xfrm>
            <a:off x="1244600" y="2514600"/>
            <a:ext cx="6045200" cy="1016000"/>
          </a:xfrm>
          <a:prstGeom prst="rect">
            <a:avLst/>
          </a:prstGeom>
        </p:spPr>
      </p:pic>
      <p:pic>
        <p:nvPicPr>
          <p:cNvPr id="6" name="图片 5">
            <a:extLst>
              <a:ext uri="{FF2B5EF4-FFF2-40B4-BE49-F238E27FC236}">
                <a16:creationId xmlns:a16="http://schemas.microsoft.com/office/drawing/2014/main" id="{F7D158F0-F428-AD47-BF3B-27C3AE639C98}"/>
              </a:ext>
            </a:extLst>
          </p:cNvPr>
          <p:cNvPicPr>
            <a:picLocks noChangeAspect="1"/>
          </p:cNvPicPr>
          <p:nvPr/>
        </p:nvPicPr>
        <p:blipFill>
          <a:blip r:embed="rId4"/>
          <a:stretch>
            <a:fillRect/>
          </a:stretch>
        </p:blipFill>
        <p:spPr>
          <a:xfrm>
            <a:off x="304800" y="3754437"/>
            <a:ext cx="8636000" cy="2044700"/>
          </a:xfrm>
          <a:prstGeom prst="rect">
            <a:avLst/>
          </a:prstGeom>
        </p:spPr>
      </p:pic>
      <p:sp>
        <p:nvSpPr>
          <p:cNvPr id="8" name="文本框 7">
            <a:extLst>
              <a:ext uri="{FF2B5EF4-FFF2-40B4-BE49-F238E27FC236}">
                <a16:creationId xmlns:a16="http://schemas.microsoft.com/office/drawing/2014/main" id="{4FB73085-8CB1-FA45-BB5B-596C2280CDA1}"/>
              </a:ext>
            </a:extLst>
          </p:cNvPr>
          <p:cNvSpPr txBox="1"/>
          <p:nvPr/>
        </p:nvSpPr>
        <p:spPr>
          <a:xfrm>
            <a:off x="299776" y="5934670"/>
            <a:ext cx="7244024" cy="646331"/>
          </a:xfrm>
          <a:prstGeom prst="rect">
            <a:avLst/>
          </a:prstGeom>
          <a:noFill/>
        </p:spPr>
        <p:txBody>
          <a:bodyPr wrap="square">
            <a:spAutoFit/>
          </a:bodyPr>
          <a:lstStyle/>
          <a:p>
            <a:r>
              <a:rPr lang="zh-CN" altLang="en-US" sz="1800" b="0" i="0" u="none" strike="noStrike" dirty="0">
                <a:solidFill>
                  <a:srgbClr val="4D4D4D"/>
                </a:solidFill>
                <a:effectLst/>
                <a:latin typeface="-apple-system"/>
              </a:rPr>
              <a:t>在构建出对应的根文件系统之前 </a:t>
            </a:r>
            <a:r>
              <a:rPr lang="en" altLang="zh-CN" sz="1800" b="0" i="0" u="none" strike="noStrike" dirty="0">
                <a:solidFill>
                  <a:srgbClr val="4D4D4D"/>
                </a:solidFill>
                <a:effectLst/>
                <a:latin typeface="-apple-system"/>
              </a:rPr>
              <a:t>Linux </a:t>
            </a:r>
            <a:r>
              <a:rPr lang="zh-CN" altLang="en-US" sz="1800" b="0" i="0" u="none" strike="noStrike" dirty="0">
                <a:solidFill>
                  <a:srgbClr val="4D4D4D"/>
                </a:solidFill>
                <a:effectLst/>
                <a:latin typeface="-apple-system"/>
              </a:rPr>
              <a:t>内核是没有根文件系统可用的，所以提示内核崩溃</a:t>
            </a:r>
            <a:endParaRPr lang="zh-CN" altLang="en-US" dirty="0"/>
          </a:p>
        </p:txBody>
      </p:sp>
    </p:spTree>
    <p:extLst>
      <p:ext uri="{BB962C8B-B14F-4D97-AF65-F5344CB8AC3E}">
        <p14:creationId xmlns:p14="http://schemas.microsoft.com/office/powerpoint/2010/main" val="1829362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zh-CN" altLang="en-US" dirty="0"/>
              <a:t>根文件系统的介绍</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a:lnSpc>
                <a:spcPct val="150000"/>
              </a:lnSpc>
            </a:pPr>
            <a:r>
              <a:rPr lang="zh-CN" altLang="en-US" sz="2400" b="0" i="0" u="none" strike="noStrike" dirty="0">
                <a:solidFill>
                  <a:srgbClr val="4D4D4D"/>
                </a:solidFill>
                <a:effectLst/>
                <a:latin typeface="-apple-system"/>
              </a:rPr>
              <a:t>根文件系统是内核启动时所 </a:t>
            </a:r>
            <a:r>
              <a:rPr lang="en" altLang="zh-CN" sz="2400" b="0" i="0" u="none" strike="noStrike" dirty="0">
                <a:solidFill>
                  <a:srgbClr val="4D4D4D"/>
                </a:solidFill>
                <a:effectLst/>
                <a:latin typeface="-apple-system"/>
              </a:rPr>
              <a:t>mount(</a:t>
            </a:r>
            <a:r>
              <a:rPr lang="zh-CN" altLang="en-US" sz="2400" b="0" i="0" u="none" strike="noStrike" dirty="0">
                <a:solidFill>
                  <a:srgbClr val="4D4D4D"/>
                </a:solidFill>
                <a:effectLst/>
                <a:latin typeface="-apple-system"/>
              </a:rPr>
              <a:t>挂载</a:t>
            </a:r>
            <a:r>
              <a:rPr lang="en-US" altLang="zh-C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的第一个文件系统</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内核代码映像文件保存在根文件系统中</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系统引导启动程序会在根文件系统挂载之后从中把一些基本的初始化脚本和服务等加载到内存中去运行</a:t>
            </a:r>
            <a:endParaRPr lang="en-US" altLang="zh-CN" sz="2400" b="0" i="0" u="none" strike="noStrike" dirty="0">
              <a:solidFill>
                <a:srgbClr val="4D4D4D"/>
              </a:solidFill>
              <a:effectLst/>
              <a:latin typeface="-apple-system"/>
            </a:endParaRPr>
          </a:p>
          <a:p>
            <a:pPr marL="0" indent="0">
              <a:lnSpc>
                <a:spcPct val="150000"/>
              </a:lnSpc>
              <a:buNone/>
            </a:pPr>
            <a:endParaRPr lang="en-US" altLang="zh-CN" sz="2400" dirty="0">
              <a:solidFill>
                <a:srgbClr val="4D4D4D"/>
              </a:solidFill>
              <a:latin typeface="-apple-system"/>
            </a:endParaRPr>
          </a:p>
          <a:p>
            <a:pPr marL="0" indent="0">
              <a:lnSpc>
                <a:spcPct val="150000"/>
              </a:lnSpc>
              <a:buNone/>
            </a:pPr>
            <a:r>
              <a:rPr lang="zh-CN" altLang="en-US" sz="2000" b="0" i="0" u="none" strike="noStrike" dirty="0">
                <a:solidFill>
                  <a:srgbClr val="4D4D4D"/>
                </a:solidFill>
                <a:effectLst/>
                <a:latin typeface="-apple-system"/>
              </a:rPr>
              <a:t>根文件系统里有些什么内容（以 </a:t>
            </a:r>
            <a:r>
              <a:rPr lang="en" altLang="zh-CN" sz="2000" b="0" i="0" u="none" strike="noStrike" dirty="0">
                <a:solidFill>
                  <a:srgbClr val="4D4D4D"/>
                </a:solidFill>
                <a:effectLst/>
                <a:latin typeface="-apple-system"/>
              </a:rPr>
              <a:t>Ubuntu</a:t>
            </a:r>
            <a:r>
              <a:rPr lang="zh-CN" altLang="en-US" sz="2000" b="0" i="0" u="none" strike="noStrike" dirty="0">
                <a:solidFill>
                  <a:srgbClr val="4D4D4D"/>
                </a:solidFill>
                <a:effectLst/>
                <a:latin typeface="-apple-system"/>
              </a:rPr>
              <a:t>为例）？</a:t>
            </a:r>
            <a:endParaRPr lang="en-US" altLang="zh-CN" sz="2000" b="0" i="0" u="none" strike="noStrike" dirty="0">
              <a:solidFill>
                <a:srgbClr val="4D4D4D"/>
              </a:solidFill>
              <a:effectLst/>
              <a:latin typeface="-apple-system"/>
            </a:endParaRPr>
          </a:p>
          <a:p>
            <a:pPr marL="0" indent="0">
              <a:lnSpc>
                <a:spcPct val="150000"/>
              </a:lnSpc>
              <a:buNone/>
            </a:pPr>
            <a:endParaRPr lang="en-US" altLang="zh-CN" sz="1400" b="0" i="0" u="none" strike="noStrike" dirty="0">
              <a:solidFill>
                <a:srgbClr val="4D4D4D"/>
              </a:solidFill>
              <a:effectLst/>
              <a:latin typeface="-apple-system"/>
            </a:endParaRPr>
          </a:p>
        </p:txBody>
      </p:sp>
      <p:pic>
        <p:nvPicPr>
          <p:cNvPr id="36866" name="Picture 2">
            <a:extLst>
              <a:ext uri="{FF2B5EF4-FFF2-40B4-BE49-F238E27FC236}">
                <a16:creationId xmlns:a16="http://schemas.microsoft.com/office/drawing/2014/main" id="{2627893D-0F11-5A49-BFAB-3D83303E5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60" y="5172075"/>
            <a:ext cx="9144000" cy="62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9457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zh-CN" altLang="en-US" dirty="0"/>
              <a:t>根文件系统的介绍</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marL="0" indent="0">
              <a:lnSpc>
                <a:spcPct val="150000"/>
              </a:lnSpc>
              <a:buNone/>
            </a:pPr>
            <a:endParaRPr lang="en-US" altLang="zh-CN" sz="1400" b="0" i="0" u="none" strike="noStrike" dirty="0">
              <a:solidFill>
                <a:srgbClr val="4D4D4D"/>
              </a:solidFill>
              <a:effectLst/>
              <a:latin typeface="-apple-system"/>
            </a:endParaRPr>
          </a:p>
        </p:txBody>
      </p:sp>
      <p:pic>
        <p:nvPicPr>
          <p:cNvPr id="36866" name="Picture 2">
            <a:extLst>
              <a:ext uri="{FF2B5EF4-FFF2-40B4-BE49-F238E27FC236}">
                <a16:creationId xmlns:a16="http://schemas.microsoft.com/office/drawing/2014/main" id="{2627893D-0F11-5A49-BFAB-3D83303E5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00150"/>
            <a:ext cx="9144000" cy="62865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CB3ABB29-ADB0-F042-87D3-0B1263C84564}"/>
              </a:ext>
            </a:extLst>
          </p:cNvPr>
          <p:cNvSpPr txBox="1"/>
          <p:nvPr/>
        </p:nvSpPr>
        <p:spPr>
          <a:xfrm>
            <a:off x="304800" y="1905000"/>
            <a:ext cx="8610600" cy="4712893"/>
          </a:xfrm>
          <a:prstGeom prst="rect">
            <a:avLst/>
          </a:prstGeom>
          <a:noFill/>
        </p:spPr>
        <p:txBody>
          <a:bodyPr wrap="square">
            <a:spAutoFit/>
          </a:bodyPr>
          <a:lstStyle/>
          <a:p>
            <a:pPr>
              <a:lnSpc>
                <a:spcPct val="120000"/>
              </a:lnSpc>
            </a:pPr>
            <a:r>
              <a:rPr lang="zh-CN" altLang="en-US" b="1" dirty="0">
                <a:solidFill>
                  <a:srgbClr val="0065B0"/>
                </a:solidFill>
              </a:rPr>
              <a:t>/bin 目录</a:t>
            </a:r>
          </a:p>
          <a:p>
            <a:pPr marL="285750" indent="-285750">
              <a:lnSpc>
                <a:spcPct val="120000"/>
              </a:lnSpc>
              <a:buFont typeface="Arial" panose="020B0604020202020204" pitchFamily="34" charset="0"/>
              <a:buChar char="•"/>
            </a:pPr>
            <a:r>
              <a:rPr lang="zh-CN" altLang="en-US" dirty="0"/>
              <a:t>此目录下存放着系统需要的可执行文件，一般都是一些命令，比如 ls、 mv 等命令。</a:t>
            </a:r>
          </a:p>
          <a:p>
            <a:pPr>
              <a:lnSpc>
                <a:spcPct val="120000"/>
              </a:lnSpc>
            </a:pPr>
            <a:r>
              <a:rPr lang="zh-CN" altLang="en-US" b="1" dirty="0">
                <a:solidFill>
                  <a:srgbClr val="0065B0"/>
                </a:solidFill>
              </a:rPr>
              <a:t>/dev 目录</a:t>
            </a:r>
          </a:p>
          <a:p>
            <a:pPr marL="285750" indent="-285750">
              <a:lnSpc>
                <a:spcPct val="120000"/>
              </a:lnSpc>
              <a:buFont typeface="Arial" panose="020B0604020202020204" pitchFamily="34" charset="0"/>
              <a:buChar char="•"/>
            </a:pPr>
            <a:r>
              <a:rPr lang="zh-CN" altLang="en-US" dirty="0"/>
              <a:t>dev 是 device 的缩写，所以此目录下的文件都是和设备有关的，此目录下的文件都是设备文件。</a:t>
            </a:r>
          </a:p>
          <a:p>
            <a:pPr>
              <a:lnSpc>
                <a:spcPct val="120000"/>
              </a:lnSpc>
            </a:pPr>
            <a:r>
              <a:rPr lang="zh-CN" altLang="en-US" b="1" dirty="0">
                <a:solidFill>
                  <a:srgbClr val="0065B0"/>
                </a:solidFill>
              </a:rPr>
              <a:t>/etc 目录</a:t>
            </a:r>
          </a:p>
          <a:p>
            <a:pPr marL="285750" indent="-285750">
              <a:lnSpc>
                <a:spcPct val="120000"/>
              </a:lnSpc>
              <a:buFont typeface="Arial" panose="020B0604020202020204" pitchFamily="34" charset="0"/>
              <a:buChar char="•"/>
            </a:pPr>
            <a:r>
              <a:rPr lang="zh-CN" altLang="en-US" dirty="0"/>
              <a:t>此目录下存放着各种配置文件。</a:t>
            </a:r>
          </a:p>
          <a:p>
            <a:pPr>
              <a:lnSpc>
                <a:spcPct val="120000"/>
              </a:lnSpc>
            </a:pPr>
            <a:r>
              <a:rPr lang="zh-CN" altLang="en-US" b="1" dirty="0">
                <a:solidFill>
                  <a:srgbClr val="0065B0"/>
                </a:solidFill>
              </a:rPr>
              <a:t>/lib 目录</a:t>
            </a:r>
          </a:p>
          <a:p>
            <a:pPr marL="285750" indent="-285750">
              <a:lnSpc>
                <a:spcPct val="120000"/>
              </a:lnSpc>
              <a:buFont typeface="Arial" panose="020B0604020202020204" pitchFamily="34" charset="0"/>
              <a:buChar char="•"/>
            </a:pPr>
            <a:r>
              <a:rPr lang="zh-CN" altLang="en-US" dirty="0"/>
              <a:t>lib 是 library 的简称，也就是库的意思，因此此目录下存放着 Linux 所必须的库文件。这些库文件是共享库，命令和用户编写的应用程序要使用这些库文件。</a:t>
            </a:r>
          </a:p>
          <a:p>
            <a:pPr>
              <a:lnSpc>
                <a:spcPct val="120000"/>
              </a:lnSpc>
            </a:pPr>
            <a:r>
              <a:rPr lang="zh-CN" altLang="en-US" b="1" dirty="0">
                <a:solidFill>
                  <a:srgbClr val="0065B0"/>
                </a:solidFill>
              </a:rPr>
              <a:t>/mnt 目录</a:t>
            </a:r>
          </a:p>
          <a:p>
            <a:pPr marL="285750" indent="-285750">
              <a:lnSpc>
                <a:spcPct val="120000"/>
              </a:lnSpc>
              <a:buFont typeface="Arial" panose="020B0604020202020204" pitchFamily="34" charset="0"/>
              <a:buChar char="•"/>
            </a:pPr>
            <a:r>
              <a:rPr lang="zh-CN" altLang="en-US" dirty="0"/>
              <a:t>临时挂载目录，一般是空目录，可以在此目录下创建空的子目录，比如/mnt/sd、 /mnt/usb，这样就可以将 SD 卡或者 U 盘挂载到/mnt/sd 或者/mnt/usb 目录中。</a:t>
            </a:r>
          </a:p>
        </p:txBody>
      </p:sp>
    </p:spTree>
    <p:extLst>
      <p:ext uri="{BB962C8B-B14F-4D97-AF65-F5344CB8AC3E}">
        <p14:creationId xmlns:p14="http://schemas.microsoft.com/office/powerpoint/2010/main" val="37526172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zh-CN" altLang="en-US" dirty="0"/>
              <a:t>根文件系统的介绍</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marL="0" indent="0">
              <a:lnSpc>
                <a:spcPct val="150000"/>
              </a:lnSpc>
              <a:buNone/>
            </a:pPr>
            <a:endParaRPr lang="en-US" altLang="zh-CN" sz="1400" b="0" i="0" u="none" strike="noStrike" dirty="0">
              <a:solidFill>
                <a:srgbClr val="4D4D4D"/>
              </a:solidFill>
              <a:effectLst/>
              <a:latin typeface="-apple-system"/>
            </a:endParaRPr>
          </a:p>
        </p:txBody>
      </p:sp>
      <p:sp>
        <p:nvSpPr>
          <p:cNvPr id="6" name="文本框 5">
            <a:extLst>
              <a:ext uri="{FF2B5EF4-FFF2-40B4-BE49-F238E27FC236}">
                <a16:creationId xmlns:a16="http://schemas.microsoft.com/office/drawing/2014/main" id="{CB3ABB29-ADB0-F042-87D3-0B1263C84564}"/>
              </a:ext>
            </a:extLst>
          </p:cNvPr>
          <p:cNvSpPr txBox="1"/>
          <p:nvPr/>
        </p:nvSpPr>
        <p:spPr>
          <a:xfrm>
            <a:off x="0" y="1219200"/>
            <a:ext cx="9067800" cy="5710089"/>
          </a:xfrm>
          <a:prstGeom prst="rect">
            <a:avLst/>
          </a:prstGeom>
          <a:noFill/>
        </p:spPr>
        <p:txBody>
          <a:bodyPr wrap="square">
            <a:spAutoFit/>
          </a:bodyPr>
          <a:lstStyle/>
          <a:p>
            <a:pPr>
              <a:lnSpc>
                <a:spcPct val="120000"/>
              </a:lnSpc>
            </a:pPr>
            <a:r>
              <a:rPr lang="en" altLang="zh-CN" b="1" dirty="0">
                <a:solidFill>
                  <a:srgbClr val="0065B0"/>
                </a:solidFill>
              </a:rPr>
              <a:t>/proc </a:t>
            </a:r>
            <a:r>
              <a:rPr lang="zh-CN" altLang="en-US" b="1" dirty="0">
                <a:solidFill>
                  <a:srgbClr val="0065B0"/>
                </a:solidFill>
              </a:rPr>
              <a:t>目录</a:t>
            </a:r>
          </a:p>
          <a:p>
            <a:pPr marL="285750" indent="-285750">
              <a:lnSpc>
                <a:spcPct val="120000"/>
              </a:lnSpc>
              <a:buFont typeface="Arial" panose="020B0604020202020204" pitchFamily="34" charset="0"/>
              <a:buChar char="•"/>
            </a:pPr>
            <a:r>
              <a:rPr lang="zh-CN" altLang="en-US" dirty="0"/>
              <a:t>此目录一般是空的，当 </a:t>
            </a:r>
            <a:r>
              <a:rPr lang="en" altLang="zh-CN" dirty="0"/>
              <a:t>Linux </a:t>
            </a:r>
            <a:r>
              <a:rPr lang="zh-CN" altLang="en-US" dirty="0"/>
              <a:t>系统启动以后会将此目录作为 </a:t>
            </a:r>
            <a:r>
              <a:rPr lang="en" altLang="zh-CN" dirty="0"/>
              <a:t>proc </a:t>
            </a:r>
            <a:r>
              <a:rPr lang="zh-CN" altLang="en-US" dirty="0"/>
              <a:t>文件系统的挂载点， </a:t>
            </a:r>
            <a:r>
              <a:rPr lang="en" altLang="zh-CN" dirty="0"/>
              <a:t>proc</a:t>
            </a:r>
            <a:r>
              <a:rPr lang="zh-CN" altLang="en-US" dirty="0"/>
              <a:t>是个虚拟文件系统，没有实际的存储设备。 </a:t>
            </a:r>
            <a:r>
              <a:rPr lang="en" altLang="zh-CN" dirty="0"/>
              <a:t>proc </a:t>
            </a:r>
            <a:r>
              <a:rPr lang="zh-CN" altLang="en-US" dirty="0"/>
              <a:t>里面的文件都是临时存在的，一般用来存储系统运行信息文件。</a:t>
            </a:r>
          </a:p>
          <a:p>
            <a:pPr>
              <a:lnSpc>
                <a:spcPct val="120000"/>
              </a:lnSpc>
            </a:pPr>
            <a:r>
              <a:rPr lang="en-US" altLang="zh-CN" b="1" dirty="0">
                <a:solidFill>
                  <a:srgbClr val="0065B0"/>
                </a:solidFill>
              </a:rPr>
              <a:t>/</a:t>
            </a:r>
            <a:r>
              <a:rPr lang="en" altLang="zh-CN" b="1" dirty="0" err="1">
                <a:solidFill>
                  <a:srgbClr val="0065B0"/>
                </a:solidFill>
              </a:rPr>
              <a:t>usr</a:t>
            </a:r>
            <a:r>
              <a:rPr lang="en" altLang="zh-CN" b="1" dirty="0">
                <a:solidFill>
                  <a:srgbClr val="0065B0"/>
                </a:solidFill>
              </a:rPr>
              <a:t> </a:t>
            </a:r>
            <a:r>
              <a:rPr lang="zh-CN" altLang="en-US" b="1" dirty="0">
                <a:solidFill>
                  <a:srgbClr val="0065B0"/>
                </a:solidFill>
              </a:rPr>
              <a:t>目录</a:t>
            </a:r>
          </a:p>
          <a:p>
            <a:pPr marL="285750" indent="-285750">
              <a:lnSpc>
                <a:spcPct val="120000"/>
              </a:lnSpc>
              <a:buFont typeface="Arial" panose="020B0604020202020204" pitchFamily="34" charset="0"/>
              <a:buChar char="•"/>
            </a:pPr>
            <a:r>
              <a:rPr lang="en" altLang="zh-CN" dirty="0" err="1"/>
              <a:t>usr</a:t>
            </a:r>
            <a:r>
              <a:rPr lang="en" altLang="zh-CN" dirty="0"/>
              <a:t> </a:t>
            </a:r>
            <a:r>
              <a:rPr lang="zh-CN" altLang="en-US" dirty="0"/>
              <a:t>不是 </a:t>
            </a:r>
            <a:r>
              <a:rPr lang="en" altLang="zh-CN" dirty="0"/>
              <a:t>user </a:t>
            </a:r>
            <a:r>
              <a:rPr lang="zh-CN" altLang="en-US" dirty="0"/>
              <a:t>的缩写，而是 </a:t>
            </a:r>
            <a:r>
              <a:rPr lang="en" altLang="zh-CN" dirty="0"/>
              <a:t>Unix Software Resource </a:t>
            </a:r>
            <a:r>
              <a:rPr lang="zh-CN" altLang="en-US" dirty="0"/>
              <a:t>的缩写，也就是 </a:t>
            </a:r>
            <a:r>
              <a:rPr lang="en" altLang="zh-CN" dirty="0"/>
              <a:t>Unix </a:t>
            </a:r>
            <a:r>
              <a:rPr lang="zh-CN" altLang="en-US" dirty="0"/>
              <a:t>操作系统软件资源目录。</a:t>
            </a:r>
          </a:p>
          <a:p>
            <a:pPr>
              <a:lnSpc>
                <a:spcPct val="120000"/>
              </a:lnSpc>
            </a:pPr>
            <a:r>
              <a:rPr lang="en-US" altLang="zh-CN" b="1" dirty="0">
                <a:solidFill>
                  <a:srgbClr val="0065B0"/>
                </a:solidFill>
              </a:rPr>
              <a:t>/</a:t>
            </a:r>
            <a:r>
              <a:rPr lang="en" altLang="zh-CN" b="1" dirty="0">
                <a:solidFill>
                  <a:srgbClr val="0065B0"/>
                </a:solidFill>
              </a:rPr>
              <a:t>var </a:t>
            </a:r>
            <a:r>
              <a:rPr lang="zh-CN" altLang="en-US" b="1" dirty="0">
                <a:solidFill>
                  <a:srgbClr val="0065B0"/>
                </a:solidFill>
              </a:rPr>
              <a:t>目录</a:t>
            </a:r>
          </a:p>
          <a:p>
            <a:pPr marL="285750" indent="-285750">
              <a:lnSpc>
                <a:spcPct val="120000"/>
              </a:lnSpc>
              <a:buFont typeface="Arial" panose="020B0604020202020204" pitchFamily="34" charset="0"/>
              <a:buChar char="•"/>
            </a:pPr>
            <a:r>
              <a:rPr lang="zh-CN" altLang="en-US" dirty="0"/>
              <a:t>此目录存放一些可以改变的数据</a:t>
            </a:r>
          </a:p>
          <a:p>
            <a:pPr>
              <a:lnSpc>
                <a:spcPct val="120000"/>
              </a:lnSpc>
            </a:pPr>
            <a:r>
              <a:rPr lang="en-US" altLang="zh-CN" b="1" dirty="0">
                <a:solidFill>
                  <a:srgbClr val="0065B0"/>
                </a:solidFill>
              </a:rPr>
              <a:t>/</a:t>
            </a:r>
            <a:r>
              <a:rPr lang="en" altLang="zh-CN" b="1" dirty="0" err="1">
                <a:solidFill>
                  <a:srgbClr val="0065B0"/>
                </a:solidFill>
              </a:rPr>
              <a:t>sbin</a:t>
            </a:r>
            <a:r>
              <a:rPr lang="en" altLang="zh-CN" b="1" dirty="0">
                <a:solidFill>
                  <a:srgbClr val="0065B0"/>
                </a:solidFill>
              </a:rPr>
              <a:t> </a:t>
            </a:r>
            <a:r>
              <a:rPr lang="zh-CN" altLang="en-US" b="1" dirty="0">
                <a:solidFill>
                  <a:srgbClr val="0065B0"/>
                </a:solidFill>
              </a:rPr>
              <a:t>目录</a:t>
            </a:r>
          </a:p>
          <a:p>
            <a:pPr marL="285750" indent="-285750">
              <a:lnSpc>
                <a:spcPct val="120000"/>
              </a:lnSpc>
              <a:buFont typeface="Arial" panose="020B0604020202020204" pitchFamily="34" charset="0"/>
              <a:buChar char="•"/>
            </a:pPr>
            <a:r>
              <a:rPr lang="zh-CN" altLang="en-US" dirty="0"/>
              <a:t>此目录页用户存放一些可执行文件，但是此目录下的文件或者说命令只有管理员才能使用，主要用户系统管理。</a:t>
            </a:r>
          </a:p>
          <a:p>
            <a:pPr>
              <a:lnSpc>
                <a:spcPct val="120000"/>
              </a:lnSpc>
            </a:pPr>
            <a:r>
              <a:rPr lang="en-US" altLang="zh-CN" b="1" dirty="0">
                <a:solidFill>
                  <a:srgbClr val="0065B0"/>
                </a:solidFill>
              </a:rPr>
              <a:t>/</a:t>
            </a:r>
            <a:r>
              <a:rPr lang="en" altLang="zh-CN" b="1" dirty="0">
                <a:solidFill>
                  <a:srgbClr val="0065B0"/>
                </a:solidFill>
              </a:rPr>
              <a:t>sys </a:t>
            </a:r>
            <a:r>
              <a:rPr lang="zh-CN" altLang="en-US" b="1" dirty="0">
                <a:solidFill>
                  <a:srgbClr val="0065B0"/>
                </a:solidFill>
              </a:rPr>
              <a:t>目录</a:t>
            </a:r>
          </a:p>
          <a:p>
            <a:pPr marL="285750" indent="-285750">
              <a:lnSpc>
                <a:spcPct val="120000"/>
              </a:lnSpc>
              <a:buFont typeface="Arial" panose="020B0604020202020204" pitchFamily="34" charset="0"/>
              <a:buChar char="•"/>
            </a:pPr>
            <a:r>
              <a:rPr lang="zh-CN" altLang="en-US" dirty="0"/>
              <a:t>系统启动以后此目录作为 </a:t>
            </a:r>
            <a:r>
              <a:rPr lang="en" altLang="zh-CN" dirty="0" err="1"/>
              <a:t>sysfs</a:t>
            </a:r>
            <a:r>
              <a:rPr lang="en" altLang="zh-CN" dirty="0"/>
              <a:t> </a:t>
            </a:r>
            <a:r>
              <a:rPr lang="zh-CN" altLang="en-US" dirty="0"/>
              <a:t>文件系统的挂载点， </a:t>
            </a:r>
            <a:r>
              <a:rPr lang="en" altLang="zh-CN" dirty="0" err="1"/>
              <a:t>sysfs</a:t>
            </a:r>
            <a:r>
              <a:rPr lang="en" altLang="zh-CN" dirty="0"/>
              <a:t> </a:t>
            </a:r>
            <a:r>
              <a:rPr lang="zh-CN" altLang="en-US" dirty="0"/>
              <a:t>是一个类似于 </a:t>
            </a:r>
            <a:r>
              <a:rPr lang="en" altLang="zh-CN" dirty="0"/>
              <a:t>proc </a:t>
            </a:r>
            <a:r>
              <a:rPr lang="zh-CN" altLang="en-US" dirty="0"/>
              <a:t>文件系统的特殊文件系统， </a:t>
            </a:r>
            <a:r>
              <a:rPr lang="en" altLang="zh-CN" dirty="0" err="1"/>
              <a:t>sysfs</a:t>
            </a:r>
            <a:r>
              <a:rPr lang="en" altLang="zh-CN" dirty="0"/>
              <a:t> </a:t>
            </a:r>
            <a:r>
              <a:rPr lang="zh-CN" altLang="en-US" dirty="0"/>
              <a:t>也是基于 </a:t>
            </a:r>
            <a:r>
              <a:rPr lang="en" altLang="zh-CN" dirty="0"/>
              <a:t>ram </a:t>
            </a:r>
            <a:r>
              <a:rPr lang="zh-CN" altLang="en-US" dirty="0"/>
              <a:t>的文件系统，它没有实际的存储设备。</a:t>
            </a:r>
          </a:p>
          <a:p>
            <a:pPr>
              <a:lnSpc>
                <a:spcPct val="120000"/>
              </a:lnSpc>
            </a:pPr>
            <a:r>
              <a:rPr lang="en-US" altLang="zh-CN" b="1" dirty="0">
                <a:solidFill>
                  <a:srgbClr val="0065B0"/>
                </a:solidFill>
              </a:rPr>
              <a:t>/</a:t>
            </a:r>
            <a:r>
              <a:rPr lang="en" altLang="zh-CN" b="1" dirty="0">
                <a:solidFill>
                  <a:srgbClr val="0065B0"/>
                </a:solidFill>
              </a:rPr>
              <a:t>opt</a:t>
            </a:r>
          </a:p>
          <a:p>
            <a:pPr marL="285750" indent="-285750">
              <a:lnSpc>
                <a:spcPct val="120000"/>
              </a:lnSpc>
              <a:buFont typeface="Arial" panose="020B0604020202020204" pitchFamily="34" charset="0"/>
              <a:buChar char="•"/>
            </a:pPr>
            <a:r>
              <a:rPr lang="zh-CN" altLang="en-US" dirty="0"/>
              <a:t>可选的文件、软件存放区，由用户选择将哪些文件或软件放到此目录中。</a:t>
            </a:r>
          </a:p>
        </p:txBody>
      </p:sp>
    </p:spTree>
    <p:extLst>
      <p:ext uri="{BB962C8B-B14F-4D97-AF65-F5344CB8AC3E}">
        <p14:creationId xmlns:p14="http://schemas.microsoft.com/office/powerpoint/2010/main" val="5191437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根文件系统</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C4DE0949-77D2-5B45-BE33-01451202FD66}"/>
              </a:ext>
            </a:extLst>
          </p:cNvPr>
          <p:cNvSpPr txBox="1"/>
          <p:nvPr/>
        </p:nvSpPr>
        <p:spPr>
          <a:xfrm>
            <a:off x="243919" y="1371600"/>
            <a:ext cx="8656162" cy="1697068"/>
          </a:xfrm>
          <a:prstGeom prst="rect">
            <a:avLst/>
          </a:prstGeom>
          <a:noFill/>
        </p:spPr>
        <p:txBody>
          <a:bodyPr wrap="square">
            <a:spAutoFit/>
          </a:bodyPr>
          <a:lstStyle/>
          <a:p>
            <a:pPr>
              <a:lnSpc>
                <a:spcPct val="150000"/>
              </a:lnSpc>
            </a:pPr>
            <a:r>
              <a:rPr lang="zh-CN" altLang="en-US" sz="2400" b="0" i="0" u="none" strike="noStrike" dirty="0">
                <a:solidFill>
                  <a:srgbClr val="4D4D4D"/>
                </a:solidFill>
                <a:effectLst/>
                <a:latin typeface="-apple-system"/>
              </a:rPr>
              <a:t>常见的根文件系统制作工具有 </a:t>
            </a:r>
            <a:r>
              <a:rPr lang="en" altLang="zh-CN" sz="2400" b="0" i="0" u="none" strike="noStrike" dirty="0" err="1">
                <a:solidFill>
                  <a:srgbClr val="4D4D4D"/>
                </a:solidFill>
                <a:effectLst/>
                <a:latin typeface="-apple-system"/>
              </a:rPr>
              <a:t>buildroot</a:t>
            </a:r>
            <a:r>
              <a:rPr lang="zh-CN" altLang="en" sz="2400" b="0" i="0" u="none" strike="noStrike" dirty="0">
                <a:solidFill>
                  <a:srgbClr val="4D4D4D"/>
                </a:solidFill>
                <a:effectLst/>
                <a:latin typeface="-apple-system"/>
              </a:rPr>
              <a:t>、</a:t>
            </a:r>
            <a:r>
              <a:rPr lang="en" altLang="zh-CN" sz="2400" b="0" i="0" u="none" strike="noStrike" dirty="0">
                <a:solidFill>
                  <a:srgbClr val="4D4D4D"/>
                </a:solidFill>
                <a:effectLst/>
                <a:latin typeface="-apple-system"/>
              </a:rPr>
              <a:t>Ubuntu</a:t>
            </a:r>
            <a:r>
              <a:rPr lang="zh-CN" altLang="en" sz="2400" b="0" i="0" u="none" strike="noStrike" dirty="0">
                <a:solidFill>
                  <a:srgbClr val="4D4D4D"/>
                </a:solidFill>
                <a:effectLst/>
                <a:latin typeface="-apple-system"/>
              </a:rPr>
              <a:t>、</a:t>
            </a:r>
            <a:r>
              <a:rPr lang="en" altLang="zh-CN" sz="2400" b="0" i="0" u="none" strike="noStrike" dirty="0">
                <a:solidFill>
                  <a:srgbClr val="4D4D4D"/>
                </a:solidFill>
                <a:effectLst/>
                <a:latin typeface="-apple-system"/>
              </a:rPr>
              <a:t>Debian</a:t>
            </a:r>
            <a:r>
              <a:rPr lang="zh-CN" altLang="en" sz="2400" b="0" i="0" u="none" strike="noStrike" dirty="0">
                <a:solidFill>
                  <a:srgbClr val="4D4D4D"/>
                </a:solidFill>
                <a:effectLst/>
                <a:latin typeface="-apple-system"/>
              </a:rPr>
              <a:t>、</a:t>
            </a:r>
            <a:r>
              <a:rPr lang="en" altLang="zh-CN" sz="2400" b="0" i="0" u="none" strike="noStrike" dirty="0" err="1">
                <a:solidFill>
                  <a:srgbClr val="4D4D4D"/>
                </a:solidFill>
                <a:effectLst/>
                <a:latin typeface="-apple-system"/>
              </a:rPr>
              <a:t>yocto</a:t>
            </a:r>
            <a:r>
              <a:rPr lang="zh-CN" altLang="en" sz="2400" b="0" i="0" u="none" strike="noStrike" dirty="0">
                <a:solidFill>
                  <a:srgbClr val="4D4D4D"/>
                </a:solidFill>
                <a:effectLst/>
                <a:latin typeface="-apple-system"/>
              </a:rPr>
              <a:t>、</a:t>
            </a:r>
            <a:r>
              <a:rPr lang="en" altLang="zh-CN" sz="2400" b="0" i="0" u="none" strike="noStrike" dirty="0" err="1">
                <a:solidFill>
                  <a:srgbClr val="4D4D4D"/>
                </a:solidFill>
                <a:effectLst/>
                <a:latin typeface="-apple-system"/>
              </a:rPr>
              <a:t>busybox</a:t>
            </a:r>
            <a:endParaRPr lang="en-US" altLang="zh-CN" sz="2400" b="0" i="0" u="none" strike="noStrike" dirty="0">
              <a:solidFill>
                <a:srgbClr val="4D4D4D"/>
              </a:solidFill>
              <a:effectLst/>
              <a:latin typeface="-apple-system"/>
            </a:endParaRPr>
          </a:p>
          <a:p>
            <a:pPr marL="342900" indent="-342900">
              <a:lnSpc>
                <a:spcPct val="150000"/>
              </a:lnSpc>
              <a:buFont typeface="Arial" panose="020B0604020202020204" pitchFamily="34" charset="0"/>
              <a:buChar char="•"/>
            </a:pPr>
            <a:endParaRPr lang="zh-CN" altLang="en-US" sz="2400" b="0" i="0" u="none" strike="noStrike" dirty="0">
              <a:solidFill>
                <a:srgbClr val="4D4D4D"/>
              </a:solidFill>
              <a:effectLst/>
              <a:latin typeface="-apple-system"/>
            </a:endParaRPr>
          </a:p>
        </p:txBody>
      </p:sp>
      <p:pic>
        <p:nvPicPr>
          <p:cNvPr id="6146" name="Picture 2">
            <a:extLst>
              <a:ext uri="{FF2B5EF4-FFF2-40B4-BE49-F238E27FC236}">
                <a16:creationId xmlns:a16="http://schemas.microsoft.com/office/drawing/2014/main" id="{B99E888A-B341-5944-8A69-3A1919548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2" y="2743200"/>
            <a:ext cx="9144000"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7768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marL="0" indent="0">
              <a:lnSpc>
                <a:spcPct val="150000"/>
              </a:lnSpc>
              <a:buNone/>
            </a:pPr>
            <a:r>
              <a:rPr lang="zh-CN" altLang="en-US" sz="2400" b="1" i="0" u="none" strike="noStrike" dirty="0">
                <a:solidFill>
                  <a:srgbClr val="0065B0"/>
                </a:solidFill>
                <a:effectLst/>
                <a:latin typeface="-apple-system"/>
              </a:rPr>
              <a:t> </a:t>
            </a:r>
            <a:r>
              <a:rPr lang="en" altLang="zh-CN" sz="2400" b="1" i="0" u="none" strike="noStrike" dirty="0" err="1">
                <a:solidFill>
                  <a:srgbClr val="0065B0"/>
                </a:solidFill>
                <a:effectLst/>
                <a:latin typeface="PingFang SC" panose="020B0400000000000000" pitchFamily="34" charset="-122"/>
                <a:ea typeface="PingFang SC" panose="020B0400000000000000" pitchFamily="34" charset="-122"/>
              </a:rPr>
              <a:t>BusyBox</a:t>
            </a:r>
            <a:r>
              <a:rPr lang="en" altLang="zh-CN" sz="2400" b="1" i="0" u="none" strike="noStrike" dirty="0">
                <a:solidFill>
                  <a:srgbClr val="0065B0"/>
                </a:solidFill>
                <a:effectLst/>
                <a:latin typeface="PingFang SC" panose="020B0400000000000000" pitchFamily="34" charset="-122"/>
                <a:ea typeface="PingFang SC" panose="020B0400000000000000" pitchFamily="34" charset="-122"/>
              </a:rPr>
              <a:t> </a:t>
            </a:r>
            <a:r>
              <a:rPr lang="zh-CN" altLang="en-US" sz="2400" b="1" i="0" u="none" strike="noStrike" dirty="0">
                <a:solidFill>
                  <a:srgbClr val="0065B0"/>
                </a:solidFill>
                <a:effectLst/>
                <a:latin typeface="PingFang SC" panose="020B0400000000000000" pitchFamily="34" charset="-122"/>
                <a:ea typeface="PingFang SC" panose="020B0400000000000000" pitchFamily="34" charset="-122"/>
              </a:rPr>
              <a:t>简介</a:t>
            </a:r>
            <a:endParaRPr lang="en-US" altLang="zh-CN" sz="2400" b="1" i="0" u="none" strike="noStrike" dirty="0">
              <a:solidFill>
                <a:srgbClr val="0065B0"/>
              </a:solidFill>
              <a:effectLst/>
              <a:latin typeface="PingFang SC" panose="020B0400000000000000" pitchFamily="34" charset="-122"/>
              <a:ea typeface="PingFang SC" panose="020B0400000000000000" pitchFamily="34" charset="-122"/>
            </a:endParaRPr>
          </a:p>
          <a:p>
            <a:pPr>
              <a:lnSpc>
                <a:spcPct val="150000"/>
              </a:lnSpc>
            </a:pP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一个集成了三百多个最常用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Linux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命令和工具的软件。</a:t>
            </a:r>
            <a:endParaRPr lang="en-US" altLang="zh-CN" sz="2400" i="0" u="none" strike="noStrike" dirty="0">
              <a:solidFill>
                <a:schemeClr val="tx1"/>
              </a:solidFill>
              <a:effectLst/>
              <a:latin typeface="PingFang SC" panose="020B0400000000000000" pitchFamily="34" charset="-122"/>
              <a:ea typeface="PingFang SC" panose="020B0400000000000000" pitchFamily="34" charset="-122"/>
            </a:endParaRPr>
          </a:p>
          <a:p>
            <a:pPr>
              <a:lnSpc>
                <a:spcPct val="150000"/>
              </a:lnSpc>
            </a:pP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包含了一些简单的工具，例如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ls</a:t>
            </a:r>
            <a:r>
              <a:rPr lang="zh-CN" altLang="en" sz="2400" i="0" u="none" strike="noStrike" dirty="0">
                <a:solidFill>
                  <a:schemeClr val="tx1"/>
                </a:solidFill>
                <a:effectLst/>
                <a:latin typeface="PingFang SC" panose="020B0400000000000000" pitchFamily="34" charset="-122"/>
                <a:ea typeface="PingFang SC" panose="020B0400000000000000" pitchFamily="34" charset="-122"/>
              </a:rPr>
              <a:t>、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cat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和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echo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等</a:t>
            </a:r>
            <a:endParaRPr lang="en-US" altLang="zh-CN" sz="2400" i="0" u="none" strike="noStrike" dirty="0">
              <a:solidFill>
                <a:schemeClr val="tx1"/>
              </a:solidFill>
              <a:effectLst/>
              <a:latin typeface="PingFang SC" panose="020B0400000000000000" pitchFamily="34" charset="-122"/>
              <a:ea typeface="PingFang SC" panose="020B0400000000000000" pitchFamily="34" charset="-122"/>
            </a:endParaRPr>
          </a:p>
          <a:p>
            <a:pPr>
              <a:lnSpc>
                <a:spcPct val="150000"/>
              </a:lnSpc>
            </a:pP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还包含了一些更大、更复杂的工具，例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grep</a:t>
            </a:r>
            <a:r>
              <a:rPr lang="zh-CN" altLang="en" sz="2400" i="0" u="none" strike="noStrike" dirty="0">
                <a:solidFill>
                  <a:schemeClr val="tx1"/>
                </a:solidFill>
                <a:effectLst/>
                <a:latin typeface="PingFang SC" panose="020B0400000000000000" pitchFamily="34" charset="-122"/>
                <a:ea typeface="PingFang SC" panose="020B0400000000000000" pitchFamily="34" charset="-122"/>
              </a:rPr>
              <a:t>、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find</a:t>
            </a:r>
            <a:r>
              <a:rPr lang="zh-CN" altLang="en" sz="2400" i="0" u="none" strike="noStrike" dirty="0">
                <a:solidFill>
                  <a:schemeClr val="tx1"/>
                </a:solidFill>
                <a:effectLst/>
                <a:latin typeface="PingFang SC" panose="020B0400000000000000" pitchFamily="34" charset="-122"/>
                <a:ea typeface="PingFang SC" panose="020B0400000000000000" pitchFamily="34" charset="-122"/>
              </a:rPr>
              <a:t>、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mount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以及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telnet</a:t>
            </a:r>
            <a:r>
              <a:rPr lang="zh-CN" altLang="en" sz="2400" i="0" u="none" strike="noStrike" dirty="0">
                <a:solidFill>
                  <a:schemeClr val="tx1"/>
                </a:solidFill>
                <a:effectLst/>
                <a:latin typeface="PingFang SC" panose="020B0400000000000000" pitchFamily="34" charset="-122"/>
                <a:ea typeface="PingFang SC" panose="020B0400000000000000" pitchFamily="34" charset="-122"/>
              </a:rPr>
              <a:t>。</a:t>
            </a:r>
            <a:endParaRPr lang="en-US" altLang="zh-CN" sz="2400" i="0" u="none" strike="noStrike" dirty="0">
              <a:solidFill>
                <a:schemeClr val="tx1"/>
              </a:solidFill>
              <a:effectLst/>
              <a:latin typeface="PingFang SC" panose="020B0400000000000000" pitchFamily="34" charset="-122"/>
              <a:ea typeface="PingFang SC" panose="020B0400000000000000" pitchFamily="34" charset="-122"/>
            </a:endParaRPr>
          </a:p>
          <a:p>
            <a:pPr marL="0" indent="0">
              <a:lnSpc>
                <a:spcPct val="150000"/>
              </a:lnSpc>
              <a:buNone/>
            </a:pP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有些人将 </a:t>
            </a:r>
            <a:r>
              <a:rPr lang="en" altLang="zh-CN" sz="2400" i="0" u="none" strike="noStrike" dirty="0" err="1">
                <a:solidFill>
                  <a:schemeClr val="tx1"/>
                </a:solidFill>
                <a:effectLst/>
                <a:latin typeface="PingFang SC" panose="020B0400000000000000" pitchFamily="34" charset="-122"/>
                <a:ea typeface="PingFang SC" panose="020B0400000000000000" pitchFamily="34" charset="-122"/>
              </a:rPr>
              <a:t>BusyBox</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称为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Linux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工具里的瑞士军刀。简单的说 </a:t>
            </a:r>
            <a:r>
              <a:rPr lang="en" altLang="zh-CN" sz="2400" i="0" u="none" strike="noStrike" dirty="0" err="1">
                <a:solidFill>
                  <a:schemeClr val="tx1"/>
                </a:solidFill>
                <a:effectLst/>
                <a:latin typeface="PingFang SC" panose="020B0400000000000000" pitchFamily="34" charset="-122"/>
                <a:ea typeface="PingFang SC" panose="020B0400000000000000" pitchFamily="34" charset="-122"/>
              </a:rPr>
              <a:t>BusyBox</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就好像是个大工具箱，它集成压缩了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Linux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的许多工具和命令，也包含了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Linux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系统的自带的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shell</a:t>
            </a:r>
            <a:r>
              <a:rPr lang="zh-CN" altLang="en" sz="2400" i="0" u="none" strike="noStrike" dirty="0">
                <a:solidFill>
                  <a:schemeClr val="tx1"/>
                </a:solidFill>
                <a:effectLst/>
                <a:latin typeface="PingFang SC" panose="020B0400000000000000" pitchFamily="34" charset="-122"/>
                <a:ea typeface="PingFang SC" panose="020B0400000000000000" pitchFamily="34" charset="-122"/>
              </a:rPr>
              <a:t>。</a:t>
            </a:r>
          </a:p>
          <a:p>
            <a:pPr marL="0" indent="0">
              <a:lnSpc>
                <a:spcPct val="150000"/>
              </a:lnSpc>
              <a:buNone/>
            </a:pPr>
            <a:endParaRPr lang="en-US" altLang="zh-CN" sz="1400" b="0" i="0" u="none" strike="noStrike" dirty="0">
              <a:solidFill>
                <a:srgbClr val="4D4D4D"/>
              </a:solidFill>
              <a:effectLst/>
              <a:latin typeface="-apple-system"/>
            </a:endParaRPr>
          </a:p>
        </p:txBody>
      </p:sp>
    </p:spTree>
    <p:extLst>
      <p:ext uri="{BB962C8B-B14F-4D97-AF65-F5344CB8AC3E}">
        <p14:creationId xmlns:p14="http://schemas.microsoft.com/office/powerpoint/2010/main" val="5383007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marL="0" indent="0">
              <a:lnSpc>
                <a:spcPct val="150000"/>
              </a:lnSpc>
              <a:buNone/>
            </a:pPr>
            <a:r>
              <a:rPr lang="zh-CN" altLang="en-US" sz="2400" b="1" i="0" u="none" strike="noStrike" dirty="0">
                <a:solidFill>
                  <a:srgbClr val="0065B0"/>
                </a:solidFill>
                <a:effectLst/>
                <a:latin typeface="-apple-system"/>
              </a:rPr>
              <a:t> </a:t>
            </a:r>
            <a:r>
              <a:rPr lang="en" altLang="zh-CN" sz="2400" b="1" i="0" u="none" strike="noStrike" dirty="0" err="1">
                <a:solidFill>
                  <a:srgbClr val="0065B0"/>
                </a:solidFill>
                <a:effectLst/>
                <a:latin typeface="PingFang SC" panose="020B0400000000000000" pitchFamily="34" charset="-122"/>
                <a:ea typeface="PingFang SC" panose="020B0400000000000000" pitchFamily="34" charset="-122"/>
              </a:rPr>
              <a:t>BusyBox</a:t>
            </a:r>
            <a:endParaRPr lang="en-US" altLang="zh-CN" sz="2400" b="1" i="0" u="none" strike="noStrike" dirty="0">
              <a:solidFill>
                <a:srgbClr val="0065B0"/>
              </a:solidFill>
              <a:effectLst/>
              <a:latin typeface="PingFang SC" panose="020B0400000000000000" pitchFamily="34" charset="-122"/>
              <a:ea typeface="PingFang SC" panose="020B0400000000000000" pitchFamily="34" charset="-122"/>
            </a:endParaRPr>
          </a:p>
          <a:p>
            <a:pPr>
              <a:lnSpc>
                <a:spcPct val="150000"/>
              </a:lnSpc>
            </a:pPr>
            <a:r>
              <a:rPr lang="en" altLang="zh-CN" sz="2400" i="0" u="none" strike="noStrike" dirty="0" err="1">
                <a:solidFill>
                  <a:schemeClr val="tx1"/>
                </a:solidFill>
                <a:effectLst/>
                <a:latin typeface="PingFang SC" panose="020B0400000000000000" pitchFamily="34" charset="-122"/>
                <a:ea typeface="PingFang SC" panose="020B0400000000000000" pitchFamily="34" charset="-122"/>
              </a:rPr>
              <a:t>BusyBox</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可在官网下载：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https://</a:t>
            </a:r>
            <a:r>
              <a:rPr lang="en" altLang="zh-CN" sz="2400" i="0" u="none" strike="noStrike" dirty="0" err="1">
                <a:solidFill>
                  <a:schemeClr val="tx1"/>
                </a:solidFill>
                <a:effectLst/>
                <a:latin typeface="PingFang SC" panose="020B0400000000000000" pitchFamily="34" charset="-122"/>
                <a:ea typeface="PingFang SC" panose="020B0400000000000000" pitchFamily="34" charset="-122"/>
              </a:rPr>
              <a:t>busybox.net</a:t>
            </a:r>
            <a:endParaRPr lang="en-US" altLang="zh-CN" sz="1400" b="0" i="0" u="none" strike="noStrike" dirty="0">
              <a:solidFill>
                <a:srgbClr val="4D4D4D"/>
              </a:solidFill>
              <a:effectLst/>
              <a:latin typeface="-apple-system"/>
            </a:endParaRPr>
          </a:p>
        </p:txBody>
      </p:sp>
      <p:pic>
        <p:nvPicPr>
          <p:cNvPr id="40962" name="Picture 2">
            <a:extLst>
              <a:ext uri="{FF2B5EF4-FFF2-40B4-BE49-F238E27FC236}">
                <a16:creationId xmlns:a16="http://schemas.microsoft.com/office/drawing/2014/main" id="{42B6F1BB-6696-7A4F-B202-EC94346C5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19400"/>
            <a:ext cx="9144000" cy="377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9723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marL="0" indent="0">
              <a:lnSpc>
                <a:spcPct val="150000"/>
              </a:lnSpc>
              <a:buNone/>
            </a:pPr>
            <a:r>
              <a:rPr lang="zh-CN" altLang="en-US" sz="2800" b="1" i="0" u="none" strike="noStrike" dirty="0">
                <a:solidFill>
                  <a:srgbClr val="4F4F4F"/>
                </a:solidFill>
                <a:effectLst/>
                <a:latin typeface="PingFang SC" panose="020B0400000000000000" pitchFamily="34" charset="-122"/>
                <a:ea typeface="PingFang SC" panose="020B0400000000000000" pitchFamily="34" charset="-122"/>
              </a:rPr>
              <a:t>编译 </a:t>
            </a:r>
            <a:r>
              <a:rPr lang="en" altLang="zh-CN" sz="2800" b="1" i="0" u="none" strike="noStrike" dirty="0" err="1">
                <a:solidFill>
                  <a:srgbClr val="4F4F4F"/>
                </a:solidFill>
                <a:effectLst/>
                <a:latin typeface="PingFang SC" panose="020B0400000000000000" pitchFamily="34" charset="-122"/>
                <a:ea typeface="PingFang SC" panose="020B0400000000000000" pitchFamily="34" charset="-122"/>
              </a:rPr>
              <a:t>BusyBox</a:t>
            </a:r>
            <a:r>
              <a:rPr lang="en" altLang="zh-CN" sz="2800" b="1" i="0" u="none" strike="noStrike" dirty="0">
                <a:solidFill>
                  <a:srgbClr val="4F4F4F"/>
                </a:solidFill>
                <a:effectLst/>
                <a:latin typeface="PingFang SC" panose="020B0400000000000000" pitchFamily="34" charset="-122"/>
                <a:ea typeface="PingFang SC" panose="020B0400000000000000" pitchFamily="34" charset="-122"/>
              </a:rPr>
              <a:t> </a:t>
            </a:r>
            <a:r>
              <a:rPr lang="zh-CN" altLang="en-US" sz="2800" b="1" i="0" u="none" strike="noStrike" dirty="0">
                <a:solidFill>
                  <a:srgbClr val="4F4F4F"/>
                </a:solidFill>
                <a:effectLst/>
                <a:latin typeface="PingFang SC" panose="020B0400000000000000" pitchFamily="34" charset="-122"/>
                <a:ea typeface="PingFang SC" panose="020B0400000000000000" pitchFamily="34" charset="-122"/>
              </a:rPr>
              <a:t>构建根文件系统</a:t>
            </a:r>
            <a:endParaRPr lang="en-US" altLang="zh-CN" sz="2400" b="1" i="0" u="none" strike="noStrike" dirty="0">
              <a:solidFill>
                <a:srgbClr val="0065B0"/>
              </a:solidFill>
              <a:effectLst/>
              <a:latin typeface="PingFang SC" panose="020B0400000000000000" pitchFamily="34" charset="-122"/>
              <a:ea typeface="PingFang SC" panose="020B0400000000000000" pitchFamily="34" charset="-122"/>
            </a:endParaRPr>
          </a:p>
          <a:p>
            <a:pPr>
              <a:lnSpc>
                <a:spcPct val="150000"/>
              </a:lnSpc>
            </a:pP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将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busybox-1.29.0.tar.bz2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发送到 </a:t>
            </a:r>
            <a:r>
              <a:rPr lang="en" altLang="zh-CN" sz="2400" i="0" u="none" strike="noStrike" dirty="0">
                <a:solidFill>
                  <a:schemeClr val="tx1"/>
                </a:solidFill>
                <a:effectLst/>
                <a:latin typeface="PingFang SC" panose="020B0400000000000000" pitchFamily="34" charset="-122"/>
                <a:ea typeface="PingFang SC" panose="020B0400000000000000" pitchFamily="34" charset="-122"/>
              </a:rPr>
              <a:t>Ubuntu </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中，使用如下命令将其解压</a:t>
            </a:r>
            <a:endParaRPr lang="en-US" altLang="zh-CN" sz="2400" i="0" u="none" strike="noStrike" dirty="0">
              <a:solidFill>
                <a:schemeClr val="tx1"/>
              </a:solidFill>
              <a:effectLst/>
              <a:latin typeface="PingFang SC" panose="020B0400000000000000" pitchFamily="34" charset="-122"/>
              <a:ea typeface="PingFang SC" panose="020B0400000000000000" pitchFamily="34" charset="-122"/>
            </a:endParaRPr>
          </a:p>
          <a:p>
            <a:pPr>
              <a:lnSpc>
                <a:spcPct val="150000"/>
              </a:lnSpc>
            </a:pP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解压后目录如下：</a:t>
            </a:r>
            <a:endParaRPr lang="en-US" altLang="zh-CN" sz="1400" b="0" i="0" u="none" strike="noStrike" dirty="0">
              <a:solidFill>
                <a:srgbClr val="4D4D4D"/>
              </a:solidFill>
              <a:effectLst/>
              <a:latin typeface="-apple-system"/>
            </a:endParaRPr>
          </a:p>
        </p:txBody>
      </p:sp>
      <p:pic>
        <p:nvPicPr>
          <p:cNvPr id="4" name="图片 3">
            <a:extLst>
              <a:ext uri="{FF2B5EF4-FFF2-40B4-BE49-F238E27FC236}">
                <a16:creationId xmlns:a16="http://schemas.microsoft.com/office/drawing/2014/main" id="{760782D4-D406-7E41-BF39-0B7FC08B1D1D}"/>
              </a:ext>
            </a:extLst>
          </p:cNvPr>
          <p:cNvPicPr>
            <a:picLocks noChangeAspect="1"/>
          </p:cNvPicPr>
          <p:nvPr/>
        </p:nvPicPr>
        <p:blipFill>
          <a:blip r:embed="rId3"/>
          <a:stretch>
            <a:fillRect/>
          </a:stretch>
        </p:blipFill>
        <p:spPr>
          <a:xfrm>
            <a:off x="3096707" y="2743200"/>
            <a:ext cx="5626100" cy="520700"/>
          </a:xfrm>
          <a:prstGeom prst="rect">
            <a:avLst/>
          </a:prstGeom>
        </p:spPr>
      </p:pic>
      <p:pic>
        <p:nvPicPr>
          <p:cNvPr id="41986" name="Picture 2">
            <a:extLst>
              <a:ext uri="{FF2B5EF4-FFF2-40B4-BE49-F238E27FC236}">
                <a16:creationId xmlns:a16="http://schemas.microsoft.com/office/drawing/2014/main" id="{D787E4C9-6494-784D-A9BA-E56033F2CD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 y="3886200"/>
            <a:ext cx="7848600" cy="252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5647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lnSpcReduction="10000"/>
          </a:bodyPr>
          <a:lstStyle/>
          <a:p>
            <a:pPr marL="0" indent="0">
              <a:lnSpc>
                <a:spcPct val="150000"/>
              </a:lnSpc>
              <a:buNone/>
            </a:pPr>
            <a:r>
              <a:rPr lang="zh-CN" altLang="en-US" sz="2800" b="1" i="0" u="none" strike="noStrike" dirty="0">
                <a:solidFill>
                  <a:srgbClr val="4F4F4F"/>
                </a:solidFill>
                <a:effectLst/>
                <a:latin typeface="PingFang SC" panose="020B0400000000000000" pitchFamily="34" charset="-122"/>
                <a:ea typeface="PingFang SC" panose="020B0400000000000000" pitchFamily="34" charset="-122"/>
              </a:rPr>
              <a:t>编译 </a:t>
            </a:r>
            <a:r>
              <a:rPr lang="en" altLang="zh-CN" sz="2800" b="1" i="0" u="none" strike="noStrike" dirty="0" err="1">
                <a:solidFill>
                  <a:srgbClr val="4F4F4F"/>
                </a:solidFill>
                <a:effectLst/>
                <a:latin typeface="PingFang SC" panose="020B0400000000000000" pitchFamily="34" charset="-122"/>
                <a:ea typeface="PingFang SC" panose="020B0400000000000000" pitchFamily="34" charset="-122"/>
              </a:rPr>
              <a:t>BusyBox</a:t>
            </a:r>
            <a:r>
              <a:rPr lang="en" altLang="zh-CN" sz="2800" b="1" i="0" u="none" strike="noStrike" dirty="0">
                <a:solidFill>
                  <a:srgbClr val="4F4F4F"/>
                </a:solidFill>
                <a:effectLst/>
                <a:latin typeface="PingFang SC" panose="020B0400000000000000" pitchFamily="34" charset="-122"/>
                <a:ea typeface="PingFang SC" panose="020B0400000000000000" pitchFamily="34" charset="-122"/>
              </a:rPr>
              <a:t> </a:t>
            </a:r>
            <a:r>
              <a:rPr lang="zh-CN" altLang="en-US" sz="2800" b="1" i="0" u="none" strike="noStrike" dirty="0">
                <a:solidFill>
                  <a:srgbClr val="4F4F4F"/>
                </a:solidFill>
                <a:effectLst/>
                <a:latin typeface="PingFang SC" panose="020B0400000000000000" pitchFamily="34" charset="-122"/>
                <a:ea typeface="PingFang SC" panose="020B0400000000000000" pitchFamily="34" charset="-122"/>
              </a:rPr>
              <a:t>构建根文件系统</a:t>
            </a:r>
            <a:endParaRPr lang="en-US" altLang="zh-CN" sz="2400" b="1" i="0" u="none" strike="noStrike" dirty="0">
              <a:solidFill>
                <a:srgbClr val="0065B0"/>
              </a:solidFill>
              <a:effectLst/>
              <a:latin typeface="PingFang SC" panose="020B0400000000000000" pitchFamily="34" charset="-122"/>
              <a:ea typeface="PingFang SC" panose="020B0400000000000000" pitchFamily="34" charset="-122"/>
            </a:endParaRPr>
          </a:p>
          <a:p>
            <a:pPr>
              <a:lnSpc>
                <a:spcPct val="150000"/>
              </a:lnSpc>
            </a:pP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配置</a:t>
            </a:r>
            <a:r>
              <a:rPr lang="en-US" altLang="zh-CN" sz="2400" i="0" u="none" strike="noStrike" dirty="0" err="1">
                <a:solidFill>
                  <a:schemeClr val="tx1"/>
                </a:solidFill>
                <a:effectLst/>
                <a:latin typeface="PingFang SC" panose="020B0400000000000000" pitchFamily="34" charset="-122"/>
                <a:ea typeface="PingFang SC" panose="020B0400000000000000" pitchFamily="34" charset="-122"/>
              </a:rPr>
              <a:t>BusyBox</a:t>
            </a:r>
            <a:r>
              <a:rPr lang="zh-CN" altLang="en-US" sz="2400" i="0" u="none" strike="noStrike" dirty="0">
                <a:solidFill>
                  <a:schemeClr val="tx1"/>
                </a:solidFill>
                <a:effectLst/>
                <a:latin typeface="PingFang SC" panose="020B0400000000000000" pitchFamily="34" charset="-122"/>
                <a:ea typeface="PingFang SC" panose="020B0400000000000000" pitchFamily="34" charset="-122"/>
              </a:rPr>
              <a:t>：</a:t>
            </a:r>
            <a:endParaRPr lang="en-US" altLang="zh-CN" sz="2400" i="0" u="none" strike="noStrike" dirty="0">
              <a:solidFill>
                <a:schemeClr val="tx1"/>
              </a:solidFill>
              <a:effectLst/>
              <a:latin typeface="PingFang SC" panose="020B0400000000000000" pitchFamily="34" charset="-122"/>
              <a:ea typeface="PingFang SC" panose="020B0400000000000000" pitchFamily="34" charset="-122"/>
            </a:endParaRPr>
          </a:p>
          <a:p>
            <a:pPr algn="l">
              <a:lnSpc>
                <a:spcPct val="150000"/>
              </a:lnSpc>
              <a:buFont typeface="+mj-lt"/>
              <a:buAutoNum type="arabicPeriod"/>
            </a:pPr>
            <a:r>
              <a:rPr lang="zh-CN" altLang="en-US" sz="2000" b="0" i="0" u="none" strike="noStrike" dirty="0">
                <a:effectLst/>
                <a:latin typeface="-apple-system"/>
              </a:rPr>
              <a:t>选择使用</a:t>
            </a:r>
            <a:r>
              <a:rPr lang="en" altLang="zh-CN" sz="2000" b="0" i="0" u="none" strike="noStrike" dirty="0">
                <a:effectLst/>
                <a:latin typeface="-apple-system"/>
              </a:rPr>
              <a:t>arm-</a:t>
            </a:r>
            <a:r>
              <a:rPr lang="en" altLang="zh-CN" sz="2000" b="0" i="0" u="none" strike="noStrike" dirty="0" err="1">
                <a:effectLst/>
                <a:latin typeface="-apple-system"/>
              </a:rPr>
              <a:t>linux</a:t>
            </a:r>
            <a:r>
              <a:rPr lang="en" altLang="zh-CN" sz="2000" b="0" i="0" u="none" strike="noStrike" dirty="0">
                <a:effectLst/>
                <a:latin typeface="-apple-system"/>
              </a:rPr>
              <a:t>-</a:t>
            </a:r>
            <a:r>
              <a:rPr lang="en" altLang="zh-CN" sz="2000" b="0" i="0" u="none" strike="noStrike" dirty="0" err="1">
                <a:effectLst/>
                <a:latin typeface="-apple-system"/>
              </a:rPr>
              <a:t>gnueabihf</a:t>
            </a:r>
            <a:r>
              <a:rPr lang="en" altLang="zh-CN" sz="2000" b="0" i="0" u="none" strike="noStrike" dirty="0">
                <a:effectLst/>
                <a:latin typeface="-apple-system"/>
              </a:rPr>
              <a:t>-</a:t>
            </a:r>
            <a:r>
              <a:rPr lang="zh-CN" altLang="en-US" sz="2000" b="0" i="0" u="none" strike="noStrike" dirty="0">
                <a:effectLst/>
                <a:latin typeface="-apple-system"/>
              </a:rPr>
              <a:t>编译工程</a:t>
            </a:r>
          </a:p>
          <a:p>
            <a:pPr algn="l">
              <a:lnSpc>
                <a:spcPct val="150000"/>
              </a:lnSpc>
              <a:buFont typeface="+mj-lt"/>
              <a:buAutoNum type="arabicPeriod"/>
            </a:pPr>
            <a:r>
              <a:rPr lang="zh-CN" altLang="en-US" sz="2000" b="0" i="0" u="none" strike="noStrike" dirty="0">
                <a:effectLst/>
                <a:latin typeface="-apple-system"/>
              </a:rPr>
              <a:t>选中静态编译，便于调用的文件不会因为库文件的更改和报错</a:t>
            </a:r>
            <a:endParaRPr lang="en-US" altLang="zh-CN" sz="2000" b="0" i="0" u="none" strike="noStrike" dirty="0">
              <a:effectLst/>
              <a:latin typeface="-apple-system"/>
            </a:endParaRPr>
          </a:p>
          <a:p>
            <a:pPr algn="l">
              <a:lnSpc>
                <a:spcPct val="150000"/>
              </a:lnSpc>
              <a:buFont typeface="+mj-lt"/>
              <a:buAutoNum type="arabicPeriod"/>
            </a:pPr>
            <a:endParaRPr lang="en-US" altLang="zh-CN" sz="2000" dirty="0">
              <a:latin typeface="-apple-system"/>
            </a:endParaRPr>
          </a:p>
          <a:p>
            <a:pPr algn="l">
              <a:lnSpc>
                <a:spcPct val="150000"/>
              </a:lnSpc>
              <a:buFont typeface="+mj-lt"/>
              <a:buAutoNum type="arabicPeriod"/>
            </a:pPr>
            <a:endParaRPr lang="en-US" altLang="zh-CN" sz="2000" dirty="0">
              <a:latin typeface="-apple-system"/>
            </a:endParaRPr>
          </a:p>
          <a:p>
            <a:pPr algn="l">
              <a:lnSpc>
                <a:spcPct val="150000"/>
              </a:lnSpc>
              <a:buFont typeface="+mj-lt"/>
              <a:buAutoNum type="arabicPeriod"/>
            </a:pPr>
            <a:endParaRPr lang="en-US" altLang="zh-CN" sz="2000" dirty="0">
              <a:latin typeface="-apple-system"/>
            </a:endParaRPr>
          </a:p>
          <a:p>
            <a:pPr algn="l">
              <a:lnSpc>
                <a:spcPct val="150000"/>
              </a:lnSpc>
              <a:buFont typeface="+mj-lt"/>
              <a:buAutoNum type="arabicPeriod"/>
            </a:pPr>
            <a:endParaRPr lang="en-US" altLang="zh-CN" sz="2000" dirty="0">
              <a:latin typeface="-apple-system"/>
            </a:endParaRPr>
          </a:p>
          <a:p>
            <a:pPr algn="l">
              <a:lnSpc>
                <a:spcPct val="150000"/>
              </a:lnSpc>
              <a:buFont typeface="+mj-lt"/>
              <a:buAutoNum type="arabicPeriod"/>
            </a:pPr>
            <a:endParaRPr lang="en-US" altLang="zh-CN" sz="2000" dirty="0">
              <a:latin typeface="-apple-system"/>
            </a:endParaRPr>
          </a:p>
          <a:p>
            <a:pPr>
              <a:lnSpc>
                <a:spcPct val="150000"/>
              </a:lnSpc>
            </a:pPr>
            <a:r>
              <a:rPr lang="zh-CN" altLang="en-US" sz="2400" dirty="0">
                <a:solidFill>
                  <a:schemeClr val="tx1"/>
                </a:solidFill>
                <a:latin typeface="PingFang SC" panose="020B0400000000000000" pitchFamily="34" charset="-122"/>
                <a:ea typeface="PingFang SC" panose="020B0400000000000000" pitchFamily="34" charset="-122"/>
              </a:rPr>
              <a:t>编译 </a:t>
            </a:r>
            <a:r>
              <a:rPr lang="en" altLang="zh-CN" sz="2400" dirty="0" err="1">
                <a:solidFill>
                  <a:schemeClr val="tx1"/>
                </a:solidFill>
                <a:latin typeface="PingFang SC" panose="020B0400000000000000" pitchFamily="34" charset="-122"/>
                <a:ea typeface="PingFang SC" panose="020B0400000000000000" pitchFamily="34" charset="-122"/>
              </a:rPr>
              <a:t>busybox</a:t>
            </a:r>
            <a:r>
              <a:rPr lang="zh-CN" altLang="en" sz="2400" dirty="0">
                <a:solidFill>
                  <a:schemeClr val="tx1"/>
                </a:solidFill>
                <a:latin typeface="PingFang SC" panose="020B0400000000000000" pitchFamily="34" charset="-122"/>
                <a:ea typeface="PingFang SC" panose="020B0400000000000000" pitchFamily="34" charset="-122"/>
              </a:rPr>
              <a:t>：</a:t>
            </a:r>
            <a:endParaRPr lang="zh-CN" altLang="en-US" sz="2400" dirty="0">
              <a:solidFill>
                <a:schemeClr val="tx1"/>
              </a:solidFill>
              <a:latin typeface="PingFang SC" panose="020B0400000000000000" pitchFamily="34" charset="-122"/>
              <a:ea typeface="PingFang SC" panose="020B0400000000000000" pitchFamily="34" charset="-122"/>
            </a:endParaRPr>
          </a:p>
          <a:p>
            <a:pPr>
              <a:lnSpc>
                <a:spcPct val="150000"/>
              </a:lnSpc>
            </a:pPr>
            <a:endParaRPr lang="en-US" altLang="zh-CN" sz="1400" b="0" i="0" u="none" strike="noStrike" dirty="0">
              <a:solidFill>
                <a:srgbClr val="4D4D4D"/>
              </a:solidFill>
              <a:effectLst/>
              <a:latin typeface="-apple-system"/>
            </a:endParaRPr>
          </a:p>
        </p:txBody>
      </p:sp>
      <p:pic>
        <p:nvPicPr>
          <p:cNvPr id="5" name="图片 4">
            <a:extLst>
              <a:ext uri="{FF2B5EF4-FFF2-40B4-BE49-F238E27FC236}">
                <a16:creationId xmlns:a16="http://schemas.microsoft.com/office/drawing/2014/main" id="{D515ED1C-72E5-094A-9C32-BF622CC66ED3}"/>
              </a:ext>
            </a:extLst>
          </p:cNvPr>
          <p:cNvPicPr>
            <a:picLocks noChangeAspect="1"/>
          </p:cNvPicPr>
          <p:nvPr/>
        </p:nvPicPr>
        <p:blipFill>
          <a:blip r:embed="rId3"/>
          <a:stretch>
            <a:fillRect/>
          </a:stretch>
        </p:blipFill>
        <p:spPr>
          <a:xfrm>
            <a:off x="2940050" y="2133600"/>
            <a:ext cx="3263900" cy="482600"/>
          </a:xfrm>
          <a:prstGeom prst="rect">
            <a:avLst/>
          </a:prstGeom>
        </p:spPr>
      </p:pic>
      <p:pic>
        <p:nvPicPr>
          <p:cNvPr id="6" name="图片 5">
            <a:extLst>
              <a:ext uri="{FF2B5EF4-FFF2-40B4-BE49-F238E27FC236}">
                <a16:creationId xmlns:a16="http://schemas.microsoft.com/office/drawing/2014/main" id="{D5E97701-FE22-974E-8A99-8E7DC1438DD2}"/>
              </a:ext>
            </a:extLst>
          </p:cNvPr>
          <p:cNvPicPr>
            <a:picLocks noChangeAspect="1"/>
          </p:cNvPicPr>
          <p:nvPr/>
        </p:nvPicPr>
        <p:blipFill>
          <a:blip r:embed="rId4"/>
          <a:stretch>
            <a:fillRect/>
          </a:stretch>
        </p:blipFill>
        <p:spPr>
          <a:xfrm>
            <a:off x="3013738" y="6172200"/>
            <a:ext cx="2095500" cy="457200"/>
          </a:xfrm>
          <a:prstGeom prst="rect">
            <a:avLst/>
          </a:prstGeom>
        </p:spPr>
      </p:pic>
      <p:pic>
        <p:nvPicPr>
          <p:cNvPr id="9" name="Picture 2">
            <a:extLst>
              <a:ext uri="{FF2B5EF4-FFF2-40B4-BE49-F238E27FC236}">
                <a16:creationId xmlns:a16="http://schemas.microsoft.com/office/drawing/2014/main" id="{C1CAC44B-E339-7C40-A25A-7B76C1BEC2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667000"/>
            <a:ext cx="6232578"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96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marL="0" indent="0">
              <a:lnSpc>
                <a:spcPct val="150000"/>
              </a:lnSpc>
              <a:buNone/>
            </a:pPr>
            <a:r>
              <a:rPr lang="zh-CN" altLang="en-US" sz="2800" b="1" dirty="0">
                <a:solidFill>
                  <a:srgbClr val="4F4F4F"/>
                </a:solidFill>
                <a:latin typeface="PingFang SC" panose="020B0400000000000000" pitchFamily="34" charset="-122"/>
                <a:ea typeface="PingFang SC" panose="020B0400000000000000" pitchFamily="34" charset="-122"/>
              </a:rPr>
              <a:t>安装</a:t>
            </a:r>
            <a:r>
              <a:rPr lang="en" altLang="zh-CN" sz="2800" b="1" dirty="0" err="1">
                <a:solidFill>
                  <a:srgbClr val="4F4F4F"/>
                </a:solidFill>
                <a:latin typeface="PingFang SC" panose="020B0400000000000000" pitchFamily="34" charset="-122"/>
                <a:ea typeface="PingFang SC" panose="020B0400000000000000" pitchFamily="34" charset="-122"/>
              </a:rPr>
              <a:t>busybox</a:t>
            </a:r>
            <a:r>
              <a:rPr lang="zh-CN" altLang="en-US" sz="2800" b="1" dirty="0">
                <a:solidFill>
                  <a:srgbClr val="4F4F4F"/>
                </a:solidFill>
                <a:latin typeface="PingFang SC" panose="020B0400000000000000" pitchFamily="34" charset="-122"/>
                <a:ea typeface="PingFang SC" panose="020B0400000000000000" pitchFamily="34" charset="-122"/>
              </a:rPr>
              <a:t>：</a:t>
            </a:r>
            <a:endParaRPr lang="en-US" altLang="zh-CN" sz="2800" b="1" dirty="0">
              <a:solidFill>
                <a:srgbClr val="4F4F4F"/>
              </a:solidFill>
              <a:latin typeface="PingFang SC" panose="020B0400000000000000" pitchFamily="34" charset="-122"/>
              <a:ea typeface="PingFang SC" panose="020B0400000000000000" pitchFamily="34" charset="-122"/>
            </a:endParaRPr>
          </a:p>
          <a:p>
            <a:pPr marL="0" indent="0">
              <a:lnSpc>
                <a:spcPct val="150000"/>
              </a:lnSpc>
              <a:buNone/>
            </a:pPr>
            <a:r>
              <a:rPr lang="zh-CN" altLang="en-US" sz="2000" b="0" i="0" u="none" strike="noStrike" dirty="0">
                <a:solidFill>
                  <a:srgbClr val="4D4D4D"/>
                </a:solidFill>
                <a:effectLst/>
                <a:latin typeface="-apple-system"/>
              </a:rPr>
              <a:t>一般</a:t>
            </a:r>
            <a:r>
              <a:rPr lang="zh-CN" altLang="en-US" sz="2000" dirty="0">
                <a:solidFill>
                  <a:srgbClr val="4D4D4D"/>
                </a:solidFill>
                <a:latin typeface="-apple-system"/>
              </a:rPr>
              <a:t>在 </a:t>
            </a:r>
            <a:r>
              <a:rPr lang="en" altLang="zh-CN" sz="2000" dirty="0">
                <a:solidFill>
                  <a:srgbClr val="4D4D4D"/>
                </a:solidFill>
                <a:latin typeface="-apple-system"/>
              </a:rPr>
              <a:t>Linux </a:t>
            </a:r>
            <a:r>
              <a:rPr lang="zh-CN" altLang="en-US" sz="2000" dirty="0">
                <a:solidFill>
                  <a:srgbClr val="4D4D4D"/>
                </a:solidFill>
                <a:latin typeface="-apple-system"/>
              </a:rPr>
              <a:t>驱动开发的时候</a:t>
            </a:r>
            <a:r>
              <a:rPr lang="zh-CN" altLang="en-US" sz="2000" b="0" i="0" u="none" strike="noStrike" dirty="0">
                <a:solidFill>
                  <a:srgbClr val="4D4D4D"/>
                </a:solidFill>
                <a:effectLst/>
                <a:latin typeface="-apple-system"/>
              </a:rPr>
              <a:t>通过 </a:t>
            </a:r>
            <a:r>
              <a:rPr lang="en" altLang="zh-CN" sz="2000" b="0" i="0" u="none" strike="noStrike" dirty="0" err="1">
                <a:solidFill>
                  <a:srgbClr val="4D4D4D"/>
                </a:solidFill>
                <a:effectLst/>
                <a:latin typeface="-apple-system"/>
              </a:rPr>
              <a:t>nfs</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挂载根文件系统会更加方便</a:t>
            </a:r>
            <a:endParaRPr lang="en-US" altLang="zh-CN" sz="2000" b="0" i="0" u="none" strike="noStrike" dirty="0">
              <a:solidFill>
                <a:srgbClr val="4D4D4D"/>
              </a:solidFill>
              <a:effectLst/>
              <a:latin typeface="-apple-system"/>
            </a:endParaRPr>
          </a:p>
          <a:p>
            <a:pPr marL="457200" indent="-457200">
              <a:lnSpc>
                <a:spcPct val="150000"/>
              </a:lnSpc>
              <a:buFont typeface="+mj-lt"/>
              <a:buAutoNum type="arabicPeriod"/>
            </a:pPr>
            <a:r>
              <a:rPr lang="zh-CN" altLang="en-US" sz="2000" b="0" i="0" u="none" strike="noStrike" dirty="0">
                <a:solidFill>
                  <a:srgbClr val="4D4D4D"/>
                </a:solidFill>
                <a:effectLst/>
                <a:latin typeface="-apple-system"/>
              </a:rPr>
              <a:t>在</a:t>
            </a:r>
            <a:r>
              <a:rPr lang="en" altLang="zh-CN" sz="2000" b="0" i="0" u="none" strike="noStrike" dirty="0" err="1">
                <a:solidFill>
                  <a:srgbClr val="4D4D4D"/>
                </a:solidFill>
                <a:effectLst/>
                <a:latin typeface="-apple-system"/>
              </a:rPr>
              <a:t>nfs</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服务器目录中新建一个安装目录 </a:t>
            </a:r>
            <a:r>
              <a:rPr lang="en" altLang="zh-CN" sz="2000" b="0" i="0" u="none" strike="noStrike" dirty="0" err="1">
                <a:solidFill>
                  <a:srgbClr val="4D4D4D"/>
                </a:solidFill>
                <a:effectLst/>
                <a:latin typeface="-apple-system"/>
              </a:rPr>
              <a:t>rootfs</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用于安装</a:t>
            </a:r>
            <a:r>
              <a:rPr lang="en" altLang="zh-CN" sz="2000" b="0" i="0" u="none" strike="noStrike" dirty="0" err="1">
                <a:solidFill>
                  <a:srgbClr val="4D4D4D"/>
                </a:solidFill>
                <a:effectLst/>
                <a:latin typeface="-apple-system"/>
              </a:rPr>
              <a:t>busybox</a:t>
            </a:r>
            <a:endParaRPr lang="en-US" altLang="zh-CN" sz="2000" b="0" i="0" u="none" strike="noStrike" dirty="0">
              <a:solidFill>
                <a:srgbClr val="4D4D4D"/>
              </a:solidFill>
              <a:effectLst/>
              <a:latin typeface="-apple-system"/>
            </a:endParaRPr>
          </a:p>
          <a:p>
            <a:pPr marL="457200" indent="-457200">
              <a:lnSpc>
                <a:spcPct val="150000"/>
              </a:lnSpc>
              <a:buFont typeface="+mj-lt"/>
              <a:buAutoNum type="arabicPeriod"/>
            </a:pPr>
            <a:r>
              <a:rPr lang="zh-CN" altLang="en-US" sz="2000" b="0" i="0" u="none" strike="noStrike" dirty="0">
                <a:solidFill>
                  <a:srgbClr val="4D4D4D"/>
                </a:solidFill>
                <a:effectLst/>
                <a:latin typeface="-apple-system"/>
              </a:rPr>
              <a:t>使用 </a:t>
            </a:r>
            <a:r>
              <a:rPr lang="en" altLang="zh-CN" sz="2000" b="0" i="0" u="none" strike="noStrike" dirty="0">
                <a:solidFill>
                  <a:srgbClr val="4D4D4D"/>
                </a:solidFill>
                <a:effectLst/>
                <a:latin typeface="-apple-system"/>
              </a:rPr>
              <a:t>CONFIG_PREFIX </a:t>
            </a:r>
            <a:r>
              <a:rPr lang="zh-CN" altLang="en-US" sz="2000" b="0" i="0" u="none" strike="noStrike" dirty="0">
                <a:solidFill>
                  <a:srgbClr val="4D4D4D"/>
                </a:solidFill>
                <a:effectLst/>
                <a:latin typeface="-apple-system"/>
              </a:rPr>
              <a:t>环境变量指定该目录进行安装：</a:t>
            </a:r>
            <a:endParaRPr lang="en-US" altLang="zh-CN" sz="2000" b="0" i="0" u="none" strike="noStrike" dirty="0">
              <a:solidFill>
                <a:srgbClr val="4D4D4D"/>
              </a:solidFill>
              <a:effectLst/>
              <a:latin typeface="-apple-system"/>
            </a:endParaRPr>
          </a:p>
          <a:p>
            <a:pPr marL="457200" indent="-457200">
              <a:lnSpc>
                <a:spcPct val="150000"/>
              </a:lnSpc>
              <a:buFont typeface="+mj-lt"/>
              <a:buAutoNum type="arabicPeriod"/>
            </a:pPr>
            <a:endParaRPr lang="en-US" altLang="zh-CN" sz="2000" dirty="0">
              <a:solidFill>
                <a:srgbClr val="4D4D4D"/>
              </a:solidFill>
              <a:latin typeface="-apple-system"/>
            </a:endParaRPr>
          </a:p>
          <a:p>
            <a:pPr marL="0" indent="0">
              <a:lnSpc>
                <a:spcPct val="150000"/>
              </a:lnSpc>
              <a:buNone/>
            </a:pPr>
            <a:r>
              <a:rPr lang="zh-CN" altLang="en-US" sz="2000" b="0" i="0" u="none" strike="noStrike" dirty="0">
                <a:solidFill>
                  <a:srgbClr val="4D4D4D"/>
                </a:solidFill>
                <a:effectLst/>
                <a:latin typeface="-apple-system"/>
              </a:rPr>
              <a:t>安装完成以后，</a:t>
            </a:r>
            <a:r>
              <a:rPr lang="en" altLang="zh-CN" sz="2000" b="0" i="0" u="none" strike="noStrike" dirty="0" err="1">
                <a:solidFill>
                  <a:srgbClr val="4D4D4D"/>
                </a:solidFill>
                <a:effectLst/>
                <a:latin typeface="-apple-system"/>
              </a:rPr>
              <a:t>busybox</a:t>
            </a:r>
            <a:r>
              <a:rPr lang="zh-CN" altLang="en-US" sz="2000" b="0" i="0" u="none" strike="noStrike" dirty="0">
                <a:solidFill>
                  <a:srgbClr val="4D4D4D"/>
                </a:solidFill>
                <a:effectLst/>
                <a:latin typeface="-apple-system"/>
              </a:rPr>
              <a:t>的所有工具和文件就会被安装到目录</a:t>
            </a:r>
            <a:r>
              <a:rPr lang="en" altLang="zh-CN" sz="2000" b="0" i="0" u="none" strike="noStrike" dirty="0" err="1">
                <a:solidFill>
                  <a:srgbClr val="4D4D4D"/>
                </a:solidFill>
                <a:effectLst/>
                <a:latin typeface="-apple-system"/>
              </a:rPr>
              <a:t>rootfs</a:t>
            </a:r>
            <a:r>
              <a:rPr lang="zh-CN" altLang="en-US" sz="2000" b="0" i="0" u="none" strike="noStrike" dirty="0">
                <a:solidFill>
                  <a:srgbClr val="4D4D4D"/>
                </a:solidFill>
                <a:effectLst/>
                <a:latin typeface="-apple-system"/>
              </a:rPr>
              <a:t>中：</a:t>
            </a:r>
            <a:endParaRPr lang="en-US" altLang="zh-CN" sz="2000" b="0" i="0" u="none" strike="noStrike" dirty="0">
              <a:solidFill>
                <a:srgbClr val="4D4D4D"/>
              </a:solidFill>
              <a:effectLst/>
              <a:latin typeface="-apple-system"/>
            </a:endParaRPr>
          </a:p>
          <a:p>
            <a:pPr marL="457200" indent="-457200">
              <a:lnSpc>
                <a:spcPct val="150000"/>
              </a:lnSpc>
              <a:buFont typeface="+mj-lt"/>
              <a:buAutoNum type="arabicPeriod"/>
            </a:pPr>
            <a:endParaRPr lang="en-US" altLang="zh-CN" sz="2000" dirty="0">
              <a:solidFill>
                <a:srgbClr val="4D4D4D"/>
              </a:solidFill>
              <a:latin typeface="-apple-system"/>
              <a:ea typeface="PingFang SC" panose="020B0400000000000000" pitchFamily="34" charset="-122"/>
            </a:endParaRPr>
          </a:p>
          <a:p>
            <a:pPr marL="0" indent="0">
              <a:lnSpc>
                <a:spcPct val="150000"/>
              </a:lnSpc>
              <a:buNone/>
            </a:pPr>
            <a:endParaRPr lang="en-US" altLang="zh-CN" sz="2000" i="0" u="none" strike="noStrike" dirty="0">
              <a:solidFill>
                <a:schemeClr val="tx1"/>
              </a:solidFill>
              <a:effectLst/>
              <a:latin typeface="PingFang SC" panose="020B0400000000000000" pitchFamily="34" charset="-122"/>
              <a:ea typeface="PingFang SC" panose="020B0400000000000000" pitchFamily="34" charset="-122"/>
            </a:endParaRPr>
          </a:p>
          <a:p>
            <a:pPr>
              <a:lnSpc>
                <a:spcPct val="150000"/>
              </a:lnSpc>
            </a:pPr>
            <a:endParaRPr lang="en-US" altLang="zh-CN" sz="1400" b="0" i="0" u="none" strike="noStrike" dirty="0">
              <a:solidFill>
                <a:srgbClr val="4D4D4D"/>
              </a:solidFill>
              <a:effectLst/>
              <a:latin typeface="-apple-system"/>
            </a:endParaRPr>
          </a:p>
        </p:txBody>
      </p:sp>
      <p:pic>
        <p:nvPicPr>
          <p:cNvPr id="5" name="图片 4">
            <a:extLst>
              <a:ext uri="{FF2B5EF4-FFF2-40B4-BE49-F238E27FC236}">
                <a16:creationId xmlns:a16="http://schemas.microsoft.com/office/drawing/2014/main" id="{6368EC15-625C-0C4A-9CFA-8C33B7937DBF}"/>
              </a:ext>
            </a:extLst>
          </p:cNvPr>
          <p:cNvPicPr>
            <a:picLocks noChangeAspect="1"/>
          </p:cNvPicPr>
          <p:nvPr/>
        </p:nvPicPr>
        <p:blipFill>
          <a:blip r:embed="rId3"/>
          <a:stretch>
            <a:fillRect/>
          </a:stretch>
        </p:blipFill>
        <p:spPr>
          <a:xfrm>
            <a:off x="1016000" y="3657600"/>
            <a:ext cx="7061200" cy="469900"/>
          </a:xfrm>
          <a:prstGeom prst="rect">
            <a:avLst/>
          </a:prstGeom>
        </p:spPr>
      </p:pic>
      <p:pic>
        <p:nvPicPr>
          <p:cNvPr id="1026" name="Picture 2">
            <a:extLst>
              <a:ext uri="{FF2B5EF4-FFF2-40B4-BE49-F238E27FC236}">
                <a16:creationId xmlns:a16="http://schemas.microsoft.com/office/drawing/2014/main" id="{C9BE2E4D-0473-1041-AAA3-15981F7B104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4869"/>
          <a:stretch/>
        </p:blipFill>
        <p:spPr bwMode="auto">
          <a:xfrm>
            <a:off x="990600" y="4876800"/>
            <a:ext cx="5029200" cy="68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5175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a:lnSpc>
                <a:spcPct val="150000"/>
              </a:lnSpc>
            </a:pP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rootfs</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目录下：</a:t>
            </a:r>
            <a:endParaRPr lang="en-US" altLang="zh-CN" sz="2000" i="0" u="none" strike="noStrike" dirty="0">
              <a:solidFill>
                <a:schemeClr val="tx1"/>
              </a:solidFill>
              <a:effectLst/>
              <a:latin typeface="PingFang SC" panose="020B0400000000000000" pitchFamily="34" charset="-122"/>
              <a:ea typeface="PingFang SC" panose="020B0400000000000000" pitchFamily="34" charset="-122"/>
            </a:endParaRPr>
          </a:p>
          <a:p>
            <a:pPr marL="0" indent="0">
              <a:lnSpc>
                <a:spcPct val="150000"/>
              </a:lnSpc>
              <a:buNone/>
            </a:pP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目录： </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bin</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 </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sbin</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和 </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usr</a:t>
            </a:r>
            <a:endParaRPr lang="en-US" altLang="zh-CN" sz="2000" i="0" u="none" strike="noStrike" dirty="0">
              <a:solidFill>
                <a:schemeClr val="tx1"/>
              </a:solidFill>
              <a:effectLst/>
              <a:latin typeface="PingFang SC" panose="020B0400000000000000" pitchFamily="34" charset="-122"/>
              <a:ea typeface="PingFang SC" panose="020B0400000000000000" pitchFamily="34" charset="-122"/>
            </a:endParaRPr>
          </a:p>
          <a:p>
            <a:pPr marL="0" indent="0">
              <a:lnSpc>
                <a:spcPct val="150000"/>
              </a:lnSpc>
              <a:buNone/>
            </a:pP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文件：</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linuxrc</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（用户空间的</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init</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程序）</a:t>
            </a:r>
            <a:endParaRPr lang="en-US" altLang="zh-CN" sz="2000" i="0" u="none" strike="noStrike" dirty="0">
              <a:solidFill>
                <a:schemeClr val="tx1"/>
              </a:solidFill>
              <a:effectLst/>
              <a:latin typeface="PingFang SC" panose="020B0400000000000000" pitchFamily="34" charset="-122"/>
              <a:ea typeface="PingFang SC" panose="020B0400000000000000" pitchFamily="34" charset="-122"/>
            </a:endParaRPr>
          </a:p>
          <a:p>
            <a:pPr>
              <a:lnSpc>
                <a:spcPct val="150000"/>
              </a:lnSpc>
            </a:pP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Linux</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内核</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init</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进程会查找用户空间的</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init</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程序，找到后运行这个用户空间的</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init</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程序，从而切换到用户态</a:t>
            </a:r>
            <a:endParaRPr lang="en-US" altLang="zh-CN" sz="2000" i="0" u="none" strike="noStrike" dirty="0">
              <a:solidFill>
                <a:schemeClr val="tx1"/>
              </a:solidFill>
              <a:effectLst/>
              <a:latin typeface="PingFang SC" panose="020B0400000000000000" pitchFamily="34" charset="-122"/>
              <a:ea typeface="PingFang SC" panose="020B0400000000000000" pitchFamily="34" charset="-122"/>
            </a:endParaRPr>
          </a:p>
          <a:p>
            <a:pPr>
              <a:lnSpc>
                <a:spcPct val="150000"/>
              </a:lnSpc>
            </a:pP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bootargs</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设置 </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init</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linuxrc</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，将 </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linuxrc</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作为用户空间的 </a:t>
            </a: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init</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程序</a:t>
            </a:r>
            <a:endParaRPr lang="en-US" altLang="zh-CN" sz="2000" i="0" u="none" strike="noStrike" dirty="0">
              <a:solidFill>
                <a:schemeClr val="tx1"/>
              </a:solidFill>
              <a:effectLst/>
              <a:latin typeface="PingFang SC" panose="020B0400000000000000" pitchFamily="34" charset="-122"/>
              <a:ea typeface="PingFang SC" panose="020B0400000000000000" pitchFamily="34" charset="-122"/>
            </a:endParaRPr>
          </a:p>
          <a:p>
            <a:pPr marL="0" indent="0">
              <a:lnSpc>
                <a:spcPct val="150000"/>
              </a:lnSpc>
              <a:buNone/>
            </a:pPr>
            <a:endParaRPr lang="en-US" altLang="zh-CN" sz="2000" i="0" u="none" strike="noStrike" dirty="0">
              <a:solidFill>
                <a:schemeClr val="tx1"/>
              </a:solidFill>
              <a:effectLst/>
              <a:latin typeface="PingFang SC" panose="020B0400000000000000" pitchFamily="34" charset="-122"/>
              <a:ea typeface="PingFang SC" panose="020B0400000000000000" pitchFamily="34" charset="-122"/>
            </a:endParaRPr>
          </a:p>
          <a:p>
            <a:pPr marL="0" indent="0">
              <a:lnSpc>
                <a:spcPct val="150000"/>
              </a:lnSpc>
              <a:buNone/>
            </a:pPr>
            <a:r>
              <a:rPr lang="en-US" altLang="zh-CN" sz="2000" i="0" u="none" strike="noStrike" dirty="0" err="1">
                <a:solidFill>
                  <a:schemeClr val="tx1"/>
                </a:solidFill>
                <a:effectLst/>
                <a:latin typeface="PingFang SC" panose="020B0400000000000000" pitchFamily="34" charset="-122"/>
                <a:ea typeface="PingFang SC" panose="020B0400000000000000" pitchFamily="34" charset="-122"/>
              </a:rPr>
              <a:t>busybox</a:t>
            </a:r>
            <a:r>
              <a:rPr lang="en-US" altLang="zh-CN" sz="2000" i="0" u="none" strike="noStrike" dirty="0">
                <a:solidFill>
                  <a:schemeClr val="tx1"/>
                </a:solidFill>
                <a:effectLst/>
                <a:latin typeface="PingFang SC" panose="020B0400000000000000" pitchFamily="34" charset="-122"/>
                <a:ea typeface="PingFang SC" panose="020B0400000000000000" pitchFamily="34" charset="-122"/>
              </a:rPr>
              <a:t> </a:t>
            </a:r>
            <a:r>
              <a:rPr lang="zh-CN" altLang="en-US" sz="2000" i="0" u="none" strike="noStrike" dirty="0">
                <a:solidFill>
                  <a:schemeClr val="tx1"/>
                </a:solidFill>
                <a:effectLst/>
                <a:latin typeface="PingFang SC" panose="020B0400000000000000" pitchFamily="34" charset="-122"/>
                <a:ea typeface="PingFang SC" panose="020B0400000000000000" pitchFamily="34" charset="-122"/>
              </a:rPr>
              <a:t>的工作就完成了，但是此时的根文件系统还不能使用，还需要一些其他的文件。</a:t>
            </a:r>
          </a:p>
          <a:p>
            <a:pPr>
              <a:lnSpc>
                <a:spcPct val="150000"/>
              </a:lnSpc>
            </a:pPr>
            <a:endParaRPr lang="en-US" altLang="zh-CN" sz="1400" b="0" i="0" u="none" strike="noStrike" dirty="0">
              <a:solidFill>
                <a:srgbClr val="4D4D4D"/>
              </a:solidFill>
              <a:effectLst/>
              <a:latin typeface="-apple-system"/>
            </a:endParaRPr>
          </a:p>
        </p:txBody>
      </p:sp>
    </p:spTree>
    <p:extLst>
      <p:ext uri="{BB962C8B-B14F-4D97-AF65-F5344CB8AC3E}">
        <p14:creationId xmlns:p14="http://schemas.microsoft.com/office/powerpoint/2010/main" val="18280192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a:lnSpc>
                <a:spcPct val="150000"/>
              </a:lnSpc>
            </a:pPr>
            <a:r>
              <a:rPr lang="zh-CN" altLang="en-US" sz="2400" b="0" i="0" u="none" strike="noStrike" dirty="0">
                <a:solidFill>
                  <a:srgbClr val="4D4D4D"/>
                </a:solidFill>
                <a:effectLst/>
                <a:latin typeface="-apple-system"/>
              </a:rPr>
              <a:t>在</a:t>
            </a:r>
            <a:r>
              <a:rPr lang="en" altLang="zh-CN" sz="2400" b="0" i="0" u="none" strike="noStrike" dirty="0" err="1">
                <a:solidFill>
                  <a:srgbClr val="4D4D4D"/>
                </a:solidFill>
                <a:effectLst/>
                <a:latin typeface="-apple-system"/>
              </a:rPr>
              <a:t>rootfs</a:t>
            </a:r>
            <a:r>
              <a:rPr lang="zh-CN" altLang="en-US" sz="2400" b="0" i="0" u="none" strike="noStrike" dirty="0">
                <a:solidFill>
                  <a:srgbClr val="4D4D4D"/>
                </a:solidFill>
                <a:effectLst/>
                <a:latin typeface="-apple-system"/>
              </a:rPr>
              <a:t>目录下新建以下目录：</a:t>
            </a:r>
            <a:endParaRPr lang="en-US" altLang="zh-CN" sz="2400" b="0" i="0" u="none" strike="noStrike" dirty="0">
              <a:solidFill>
                <a:srgbClr val="4D4D4D"/>
              </a:solidFill>
              <a:effectLst/>
              <a:latin typeface="-apple-system"/>
            </a:endParaRPr>
          </a:p>
          <a:p>
            <a:pPr>
              <a:lnSpc>
                <a:spcPct val="150000"/>
              </a:lnSpc>
            </a:pPr>
            <a:endParaRPr lang="en-US" altLang="zh-CN" sz="2400" dirty="0">
              <a:solidFill>
                <a:srgbClr val="4D4D4D"/>
              </a:solidFill>
              <a:latin typeface="-apple-system"/>
            </a:endParaRPr>
          </a:p>
          <a:p>
            <a:pPr>
              <a:lnSpc>
                <a:spcPct val="150000"/>
              </a:lnSpc>
            </a:pPr>
            <a:r>
              <a:rPr lang="zh-CN" altLang="en-US" sz="2400" b="0" i="0" u="none" strike="noStrike" dirty="0">
                <a:solidFill>
                  <a:srgbClr val="4D4D4D"/>
                </a:solidFill>
                <a:effectLst/>
                <a:latin typeface="-apple-system"/>
              </a:rPr>
              <a:t>新建以下文件：</a:t>
            </a:r>
            <a:endParaRPr lang="en-US" altLang="zh-CN" sz="2400" b="0" i="0" u="none" strike="noStrike" dirty="0">
              <a:solidFill>
                <a:srgbClr val="4D4D4D"/>
              </a:solidFill>
              <a:effectLst/>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b="0" i="0" u="none" strike="noStrike" dirty="0">
              <a:solidFill>
                <a:srgbClr val="4D4D4D"/>
              </a:solidFill>
              <a:effectLst/>
              <a:latin typeface="-apple-system"/>
            </a:endParaRPr>
          </a:p>
          <a:p>
            <a:pPr>
              <a:lnSpc>
                <a:spcPct val="150000"/>
              </a:lnSpc>
            </a:pPr>
            <a:r>
              <a:rPr lang="zh-CN" altLang="en-US" sz="2400" dirty="0">
                <a:solidFill>
                  <a:srgbClr val="4D4D4D"/>
                </a:solidFill>
                <a:latin typeface="-apple-system"/>
              </a:rPr>
              <a:t>在</a:t>
            </a:r>
            <a:r>
              <a:rPr lang="en" altLang="zh-CN" sz="2400" dirty="0" err="1">
                <a:solidFill>
                  <a:srgbClr val="4D4D4D"/>
                </a:solidFill>
                <a:latin typeface="-apple-system"/>
              </a:rPr>
              <a:t>inittab</a:t>
            </a:r>
            <a:r>
              <a:rPr lang="zh-CN" altLang="en-US" sz="2400" dirty="0">
                <a:solidFill>
                  <a:srgbClr val="4D4D4D"/>
                </a:solidFill>
                <a:latin typeface="-apple-system"/>
              </a:rPr>
              <a:t>中添加以下内容：</a:t>
            </a:r>
            <a:endParaRPr lang="en-US" altLang="zh-CN" sz="2400" dirty="0">
              <a:solidFill>
                <a:srgbClr val="4D4D4D"/>
              </a:solidFill>
              <a:latin typeface="-apple-system"/>
            </a:endParaRPr>
          </a:p>
          <a:p>
            <a:pPr marL="0" indent="0">
              <a:lnSpc>
                <a:spcPct val="150000"/>
              </a:lnSpc>
              <a:buNone/>
            </a:pPr>
            <a:endParaRPr lang="en-US" altLang="zh-CN" sz="2400" dirty="0">
              <a:solidFill>
                <a:srgbClr val="4D4D4D"/>
              </a:solidFill>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b="0" i="0" u="none" strike="noStrike" dirty="0">
              <a:solidFill>
                <a:srgbClr val="4D4D4D"/>
              </a:solidFill>
              <a:effectLst/>
              <a:latin typeface="-apple-system"/>
            </a:endParaRPr>
          </a:p>
          <a:p>
            <a:pPr marL="0" indent="0">
              <a:lnSpc>
                <a:spcPct val="150000"/>
              </a:lnSpc>
              <a:buNone/>
            </a:pPr>
            <a:endParaRPr lang="en-US" altLang="zh-CN" sz="1400" b="0" i="0" u="none" strike="noStrike" dirty="0">
              <a:solidFill>
                <a:srgbClr val="4D4D4D"/>
              </a:solidFill>
              <a:effectLst/>
              <a:latin typeface="-apple-system"/>
            </a:endParaRPr>
          </a:p>
        </p:txBody>
      </p:sp>
      <p:pic>
        <p:nvPicPr>
          <p:cNvPr id="5" name="图片 4">
            <a:extLst>
              <a:ext uri="{FF2B5EF4-FFF2-40B4-BE49-F238E27FC236}">
                <a16:creationId xmlns:a16="http://schemas.microsoft.com/office/drawing/2014/main" id="{156A6ED5-BC69-1848-8E49-4D33E69541BD}"/>
              </a:ext>
            </a:extLst>
          </p:cNvPr>
          <p:cNvPicPr>
            <a:picLocks noChangeAspect="1"/>
          </p:cNvPicPr>
          <p:nvPr/>
        </p:nvPicPr>
        <p:blipFill>
          <a:blip r:embed="rId3"/>
          <a:stretch>
            <a:fillRect/>
          </a:stretch>
        </p:blipFill>
        <p:spPr>
          <a:xfrm>
            <a:off x="914400" y="2061131"/>
            <a:ext cx="6565900" cy="469900"/>
          </a:xfrm>
          <a:prstGeom prst="rect">
            <a:avLst/>
          </a:prstGeom>
        </p:spPr>
      </p:pic>
      <p:sp>
        <p:nvSpPr>
          <p:cNvPr id="6" name="文本框 5">
            <a:extLst>
              <a:ext uri="{FF2B5EF4-FFF2-40B4-BE49-F238E27FC236}">
                <a16:creationId xmlns:a16="http://schemas.microsoft.com/office/drawing/2014/main" id="{8028E129-CDA2-6148-BDDF-1E0D3C1DE208}"/>
              </a:ext>
            </a:extLst>
          </p:cNvPr>
          <p:cNvSpPr txBox="1"/>
          <p:nvPr/>
        </p:nvSpPr>
        <p:spPr>
          <a:xfrm>
            <a:off x="1854200" y="-635000"/>
            <a:ext cx="184731" cy="369332"/>
          </a:xfrm>
          <a:prstGeom prst="rect">
            <a:avLst/>
          </a:prstGeom>
          <a:noFill/>
        </p:spPr>
        <p:txBody>
          <a:bodyPr wrap="none" rtlCol="0">
            <a:spAutoFit/>
          </a:bodyPr>
          <a:lstStyle/>
          <a:p>
            <a:endParaRPr kumimoji="1" lang="zh-CN" altLang="en-US" dirty="0"/>
          </a:p>
        </p:txBody>
      </p:sp>
      <p:pic>
        <p:nvPicPr>
          <p:cNvPr id="7" name="图片 6">
            <a:extLst>
              <a:ext uri="{FF2B5EF4-FFF2-40B4-BE49-F238E27FC236}">
                <a16:creationId xmlns:a16="http://schemas.microsoft.com/office/drawing/2014/main" id="{121191BA-E12E-AE4B-9714-180D3B34C3A6}"/>
              </a:ext>
            </a:extLst>
          </p:cNvPr>
          <p:cNvPicPr>
            <a:picLocks noChangeAspect="1"/>
          </p:cNvPicPr>
          <p:nvPr/>
        </p:nvPicPr>
        <p:blipFill>
          <a:blip r:embed="rId4"/>
          <a:stretch>
            <a:fillRect/>
          </a:stretch>
        </p:blipFill>
        <p:spPr>
          <a:xfrm>
            <a:off x="914400" y="3285570"/>
            <a:ext cx="4127500" cy="1041400"/>
          </a:xfrm>
          <a:prstGeom prst="rect">
            <a:avLst/>
          </a:prstGeom>
        </p:spPr>
      </p:pic>
      <p:pic>
        <p:nvPicPr>
          <p:cNvPr id="10" name="图片 9">
            <a:extLst>
              <a:ext uri="{FF2B5EF4-FFF2-40B4-BE49-F238E27FC236}">
                <a16:creationId xmlns:a16="http://schemas.microsoft.com/office/drawing/2014/main" id="{A423411F-ED9B-5C43-A967-3726D1780BD4}"/>
              </a:ext>
            </a:extLst>
          </p:cNvPr>
          <p:cNvPicPr>
            <a:picLocks noChangeAspect="1"/>
          </p:cNvPicPr>
          <p:nvPr/>
        </p:nvPicPr>
        <p:blipFill>
          <a:blip r:embed="rId5"/>
          <a:stretch>
            <a:fillRect/>
          </a:stretch>
        </p:blipFill>
        <p:spPr>
          <a:xfrm>
            <a:off x="914400" y="5173637"/>
            <a:ext cx="4368800" cy="1041400"/>
          </a:xfrm>
          <a:prstGeom prst="rect">
            <a:avLst/>
          </a:prstGeom>
        </p:spPr>
      </p:pic>
    </p:spTree>
    <p:extLst>
      <p:ext uri="{BB962C8B-B14F-4D97-AF65-F5344CB8AC3E}">
        <p14:creationId xmlns:p14="http://schemas.microsoft.com/office/powerpoint/2010/main" val="33011903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a:lnSpc>
                <a:spcPct val="150000"/>
              </a:lnSpc>
            </a:pPr>
            <a:r>
              <a:rPr lang="zh-CN" altLang="en-US" sz="2400" b="0" i="0" u="none" strike="noStrike" dirty="0">
                <a:solidFill>
                  <a:srgbClr val="4D4D4D"/>
                </a:solidFill>
                <a:effectLst/>
                <a:latin typeface="-apple-system"/>
              </a:rPr>
              <a:t>保存后，在</a:t>
            </a:r>
            <a:r>
              <a:rPr lang="en" altLang="zh-CN" sz="2400" b="0" i="0" u="none" strike="noStrike" dirty="0" err="1">
                <a:solidFill>
                  <a:srgbClr val="4D4D4D"/>
                </a:solidFill>
                <a:effectLst/>
                <a:latin typeface="-apple-system"/>
              </a:rPr>
              <a:t>uboot</a:t>
            </a:r>
            <a:r>
              <a:rPr lang="zh-CN" altLang="en-US" sz="2400" b="0" i="0" u="none" strike="noStrike" dirty="0">
                <a:solidFill>
                  <a:srgbClr val="4D4D4D"/>
                </a:solidFill>
                <a:effectLst/>
                <a:latin typeface="-apple-system"/>
              </a:rPr>
              <a:t>中根据开发板的</a:t>
            </a:r>
            <a:r>
              <a:rPr lang="en" altLang="zh-CN" sz="2400" b="0" i="0" u="none" strike="noStrike" dirty="0">
                <a:solidFill>
                  <a:srgbClr val="4D4D4D"/>
                </a:solidFill>
                <a:effectLst/>
                <a:latin typeface="-apple-system"/>
              </a:rPr>
              <a:t>IP</a:t>
            </a:r>
            <a:r>
              <a:rPr lang="zh-CN" altLang="en-US" sz="2400" b="0" i="0" u="none" strike="noStrike" dirty="0">
                <a:solidFill>
                  <a:srgbClr val="4D4D4D"/>
                </a:solidFill>
                <a:effectLst/>
                <a:latin typeface="-apple-system"/>
              </a:rPr>
              <a:t>，设置网络：</a:t>
            </a:r>
            <a:endParaRPr lang="en-US" altLang="zh-CN" sz="2400" dirty="0">
              <a:solidFill>
                <a:srgbClr val="4D4D4D"/>
              </a:solidFill>
              <a:latin typeface="-apple-system"/>
            </a:endParaRPr>
          </a:p>
          <a:p>
            <a:pPr>
              <a:lnSpc>
                <a:spcPct val="150000"/>
              </a:lnSpc>
            </a:pPr>
            <a:endParaRPr lang="en-US" altLang="zh-CN" sz="2400" b="0" i="0" u="none" strike="noStrike" dirty="0">
              <a:solidFill>
                <a:srgbClr val="4D4D4D"/>
              </a:solidFill>
              <a:effectLst/>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b="0" i="0" u="none" strike="noStrike" dirty="0">
              <a:solidFill>
                <a:srgbClr val="4D4D4D"/>
              </a:solidFill>
              <a:effectLst/>
              <a:latin typeface="-apple-system"/>
            </a:endParaRPr>
          </a:p>
          <a:p>
            <a:pPr>
              <a:lnSpc>
                <a:spcPct val="150000"/>
              </a:lnSpc>
            </a:pPr>
            <a:r>
              <a:rPr lang="zh-CN" altLang="en-US" sz="2400" dirty="0">
                <a:solidFill>
                  <a:srgbClr val="4D4D4D"/>
                </a:solidFill>
                <a:latin typeface="-apple-system"/>
              </a:rPr>
              <a:t>设置</a:t>
            </a:r>
            <a:r>
              <a:rPr lang="en" altLang="zh-CN" sz="2400" dirty="0" err="1">
                <a:solidFill>
                  <a:srgbClr val="4D4D4D"/>
                </a:solidFill>
                <a:latin typeface="-apple-system"/>
              </a:rPr>
              <a:t>bootargs</a:t>
            </a:r>
            <a:r>
              <a:rPr lang="en" altLang="zh-CN" sz="2400" dirty="0">
                <a:solidFill>
                  <a:srgbClr val="4D4D4D"/>
                </a:solidFill>
                <a:latin typeface="-apple-system"/>
              </a:rPr>
              <a:t> </a:t>
            </a:r>
            <a:r>
              <a:rPr lang="zh-CN" altLang="en" sz="2400" dirty="0">
                <a:solidFill>
                  <a:srgbClr val="4D4D4D"/>
                </a:solidFill>
                <a:latin typeface="-apple-system"/>
              </a:rPr>
              <a:t>，</a:t>
            </a:r>
            <a:r>
              <a:rPr lang="zh-CN" altLang="en-US" sz="2400" dirty="0">
                <a:solidFill>
                  <a:srgbClr val="4D4D4D"/>
                </a:solidFill>
                <a:latin typeface="-apple-system"/>
              </a:rPr>
              <a:t>从</a:t>
            </a:r>
            <a:r>
              <a:rPr lang="en" altLang="zh-CN" sz="2400" dirty="0" err="1">
                <a:solidFill>
                  <a:srgbClr val="4D4D4D"/>
                </a:solidFill>
                <a:latin typeface="-apple-system"/>
              </a:rPr>
              <a:t>nfs</a:t>
            </a:r>
            <a:r>
              <a:rPr lang="zh-CN" altLang="en-US" sz="2400" dirty="0">
                <a:solidFill>
                  <a:srgbClr val="4D4D4D"/>
                </a:solidFill>
                <a:latin typeface="-apple-system"/>
              </a:rPr>
              <a:t>启动根文件系统：</a:t>
            </a:r>
            <a:endParaRPr lang="en-US" altLang="zh-CN" sz="2400" b="0" i="0" u="none" strike="noStrike" dirty="0">
              <a:solidFill>
                <a:srgbClr val="4D4D4D"/>
              </a:solidFill>
              <a:effectLst/>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b="0" i="0" u="none" strike="noStrike" dirty="0">
              <a:solidFill>
                <a:srgbClr val="4D4D4D"/>
              </a:solidFill>
              <a:effectLst/>
              <a:latin typeface="-apple-system"/>
            </a:endParaRPr>
          </a:p>
          <a:p>
            <a:pPr marL="0" indent="0">
              <a:lnSpc>
                <a:spcPct val="150000"/>
              </a:lnSpc>
              <a:buNone/>
            </a:pPr>
            <a:endParaRPr lang="en-US" altLang="zh-CN" sz="1400" b="0" i="0" u="none" strike="noStrike" dirty="0">
              <a:solidFill>
                <a:srgbClr val="4D4D4D"/>
              </a:solidFill>
              <a:effectLst/>
              <a:latin typeface="-apple-system"/>
            </a:endParaRPr>
          </a:p>
        </p:txBody>
      </p:sp>
      <p:sp>
        <p:nvSpPr>
          <p:cNvPr id="6" name="文本框 5">
            <a:extLst>
              <a:ext uri="{FF2B5EF4-FFF2-40B4-BE49-F238E27FC236}">
                <a16:creationId xmlns:a16="http://schemas.microsoft.com/office/drawing/2014/main" id="{8028E129-CDA2-6148-BDDF-1E0D3C1DE208}"/>
              </a:ext>
            </a:extLst>
          </p:cNvPr>
          <p:cNvSpPr txBox="1"/>
          <p:nvPr/>
        </p:nvSpPr>
        <p:spPr>
          <a:xfrm>
            <a:off x="1854200" y="-635000"/>
            <a:ext cx="184731" cy="369332"/>
          </a:xfrm>
          <a:prstGeom prst="rect">
            <a:avLst/>
          </a:prstGeom>
          <a:noFill/>
        </p:spPr>
        <p:txBody>
          <a:bodyPr wrap="none" rtlCol="0">
            <a:spAutoFit/>
          </a:bodyPr>
          <a:lstStyle/>
          <a:p>
            <a:endParaRPr kumimoji="1" lang="zh-CN" altLang="en-US" dirty="0"/>
          </a:p>
        </p:txBody>
      </p:sp>
      <p:pic>
        <p:nvPicPr>
          <p:cNvPr id="4" name="图片 3">
            <a:extLst>
              <a:ext uri="{FF2B5EF4-FFF2-40B4-BE49-F238E27FC236}">
                <a16:creationId xmlns:a16="http://schemas.microsoft.com/office/drawing/2014/main" id="{E13D671D-DF0B-9242-B560-820C8AC36859}"/>
              </a:ext>
            </a:extLst>
          </p:cNvPr>
          <p:cNvPicPr>
            <a:picLocks noChangeAspect="1"/>
          </p:cNvPicPr>
          <p:nvPr/>
        </p:nvPicPr>
        <p:blipFill>
          <a:blip r:embed="rId3"/>
          <a:stretch>
            <a:fillRect/>
          </a:stretch>
        </p:blipFill>
        <p:spPr>
          <a:xfrm>
            <a:off x="914400" y="1997631"/>
            <a:ext cx="4660900" cy="1828800"/>
          </a:xfrm>
          <a:prstGeom prst="rect">
            <a:avLst/>
          </a:prstGeom>
        </p:spPr>
      </p:pic>
      <p:pic>
        <p:nvPicPr>
          <p:cNvPr id="15" name="图片 14">
            <a:extLst>
              <a:ext uri="{FF2B5EF4-FFF2-40B4-BE49-F238E27FC236}">
                <a16:creationId xmlns:a16="http://schemas.microsoft.com/office/drawing/2014/main" id="{670319F0-33C0-8142-8BE7-35C6EBD02050}"/>
              </a:ext>
            </a:extLst>
          </p:cNvPr>
          <p:cNvPicPr>
            <a:picLocks noChangeAspect="1"/>
          </p:cNvPicPr>
          <p:nvPr/>
        </p:nvPicPr>
        <p:blipFill>
          <a:blip r:embed="rId4"/>
          <a:stretch>
            <a:fillRect/>
          </a:stretch>
        </p:blipFill>
        <p:spPr>
          <a:xfrm>
            <a:off x="914400" y="4572000"/>
            <a:ext cx="12823688" cy="840679"/>
          </a:xfrm>
          <a:prstGeom prst="rect">
            <a:avLst/>
          </a:prstGeom>
        </p:spPr>
      </p:pic>
    </p:spTree>
    <p:extLst>
      <p:ext uri="{BB962C8B-B14F-4D97-AF65-F5344CB8AC3E}">
        <p14:creationId xmlns:p14="http://schemas.microsoft.com/office/powerpoint/2010/main" val="16212191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a:lnSpc>
                <a:spcPct val="150000"/>
              </a:lnSpc>
            </a:pPr>
            <a:r>
              <a:rPr lang="zh-CN" altLang="en-US" sz="2400" b="0" i="0" u="none" strike="noStrike" dirty="0">
                <a:solidFill>
                  <a:srgbClr val="4D4D4D"/>
                </a:solidFill>
                <a:effectLst/>
                <a:latin typeface="-apple-system"/>
              </a:rPr>
              <a:t>重启开发板，进入编译好的 </a:t>
            </a:r>
            <a:r>
              <a:rPr lang="en" altLang="zh-CN" sz="2400" b="0" i="0" u="none" strike="noStrike" dirty="0" err="1">
                <a:solidFill>
                  <a:srgbClr val="4D4D4D"/>
                </a:solidFill>
                <a:effectLst/>
                <a:latin typeface="-apple-system"/>
              </a:rPr>
              <a:t>busybox</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根文件系统</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查看根文件系统整体大小 </a:t>
            </a:r>
            <a:r>
              <a:rPr lang="en" altLang="zh-CN" sz="2400" b="0" i="0" u="none" strike="noStrike" dirty="0">
                <a:solidFill>
                  <a:srgbClr val="4D4D4D"/>
                </a:solidFill>
                <a:effectLst/>
                <a:latin typeface="-apple-system"/>
              </a:rPr>
              <a:t>du -</a:t>
            </a:r>
            <a:r>
              <a:rPr lang="en" altLang="zh-CN" sz="2400" b="0" i="0" u="none" strike="noStrike" dirty="0" err="1">
                <a:solidFill>
                  <a:srgbClr val="4D4D4D"/>
                </a:solidFill>
                <a:effectLst/>
                <a:latin typeface="-apple-system"/>
              </a:rPr>
              <a:t>sh</a:t>
            </a:r>
            <a:r>
              <a:rPr lang="zh-CN" altLang="en-US" sz="2400" b="0" i="0" u="none" strike="noStrike" dirty="0">
                <a:solidFill>
                  <a:srgbClr val="4D4D4D"/>
                </a:solidFill>
                <a:effectLst/>
                <a:latin typeface="-apple-system"/>
              </a:rPr>
              <a:t>：</a:t>
            </a:r>
            <a:endParaRPr lang="en-US" altLang="zh-CN" sz="2400" dirty="0">
              <a:solidFill>
                <a:srgbClr val="4D4D4D"/>
              </a:solidFill>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b="0" i="0" u="none" strike="noStrike" dirty="0">
              <a:solidFill>
                <a:srgbClr val="4D4D4D"/>
              </a:solidFill>
              <a:effectLst/>
              <a:latin typeface="-apple-system"/>
            </a:endParaRPr>
          </a:p>
          <a:p>
            <a:pPr marL="0" indent="0">
              <a:lnSpc>
                <a:spcPct val="150000"/>
              </a:lnSpc>
              <a:buNone/>
            </a:pPr>
            <a:endParaRPr lang="en-US" altLang="zh-CN" sz="1400" b="0" i="0" u="none" strike="noStrike" dirty="0">
              <a:solidFill>
                <a:srgbClr val="4D4D4D"/>
              </a:solidFill>
              <a:effectLst/>
              <a:latin typeface="-apple-system"/>
            </a:endParaRPr>
          </a:p>
        </p:txBody>
      </p:sp>
      <p:sp>
        <p:nvSpPr>
          <p:cNvPr id="16" name="文本框 15">
            <a:extLst>
              <a:ext uri="{FF2B5EF4-FFF2-40B4-BE49-F238E27FC236}">
                <a16:creationId xmlns:a16="http://schemas.microsoft.com/office/drawing/2014/main" id="{57A54468-3812-8A48-82CD-ED8B086E4CD5}"/>
              </a:ext>
            </a:extLst>
          </p:cNvPr>
          <p:cNvSpPr txBox="1"/>
          <p:nvPr/>
        </p:nvSpPr>
        <p:spPr>
          <a:xfrm>
            <a:off x="5164667" y="8128000"/>
            <a:ext cx="184731" cy="369332"/>
          </a:xfrm>
          <a:prstGeom prst="rect">
            <a:avLst/>
          </a:prstGeom>
          <a:noFill/>
        </p:spPr>
        <p:txBody>
          <a:bodyPr wrap="none" rtlCol="0">
            <a:spAutoFit/>
          </a:bodyPr>
          <a:lstStyle/>
          <a:p>
            <a:endParaRPr kumimoji="1" lang="zh-CN" altLang="en-US" dirty="0"/>
          </a:p>
        </p:txBody>
      </p:sp>
      <p:pic>
        <p:nvPicPr>
          <p:cNvPr id="5122" name="Picture 2">
            <a:extLst>
              <a:ext uri="{FF2B5EF4-FFF2-40B4-BE49-F238E27FC236}">
                <a16:creationId xmlns:a16="http://schemas.microsoft.com/office/drawing/2014/main" id="{F27B155D-439F-C746-945A-4D6082EAB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2895600"/>
            <a:ext cx="9093200" cy="386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1983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5720F-DAF6-784F-A24E-98C6208271AE}"/>
              </a:ext>
            </a:extLst>
          </p:cNvPr>
          <p:cNvSpPr>
            <a:spLocks noGrp="1"/>
          </p:cNvSpPr>
          <p:nvPr>
            <p:ph type="title"/>
          </p:nvPr>
        </p:nvSpPr>
        <p:spPr/>
        <p:txBody>
          <a:bodyPr/>
          <a:lstStyle/>
          <a:p>
            <a:r>
              <a:rPr kumimoji="1" lang="en" altLang="zh-CN" dirty="0" err="1"/>
              <a:t>BusyBox</a:t>
            </a:r>
            <a:r>
              <a:rPr kumimoji="1" lang="en" altLang="zh-CN" dirty="0"/>
              <a:t> </a:t>
            </a:r>
            <a:r>
              <a:rPr kumimoji="1" lang="zh-CN" altLang="en-US" dirty="0"/>
              <a:t>构建根文件系统</a:t>
            </a:r>
          </a:p>
        </p:txBody>
      </p:sp>
      <p:sp>
        <p:nvSpPr>
          <p:cNvPr id="3" name="内容占位符 2">
            <a:extLst>
              <a:ext uri="{FF2B5EF4-FFF2-40B4-BE49-F238E27FC236}">
                <a16:creationId xmlns:a16="http://schemas.microsoft.com/office/drawing/2014/main" id="{387ED5D3-A63D-124F-8F85-60BAB216A9D0}"/>
              </a:ext>
            </a:extLst>
          </p:cNvPr>
          <p:cNvSpPr>
            <a:spLocks noGrp="1"/>
          </p:cNvSpPr>
          <p:nvPr>
            <p:ph idx="1"/>
          </p:nvPr>
        </p:nvSpPr>
        <p:spPr>
          <a:xfrm>
            <a:off x="457200" y="1371600"/>
            <a:ext cx="8382000" cy="5486400"/>
          </a:xfrm>
        </p:spPr>
        <p:txBody>
          <a:bodyPr>
            <a:normAutofit/>
          </a:bodyPr>
          <a:lstStyle/>
          <a:p>
            <a:pPr>
              <a:lnSpc>
                <a:spcPct val="150000"/>
              </a:lnSpc>
            </a:pPr>
            <a:r>
              <a:rPr lang="zh-CN" altLang="en-US" sz="2400" b="0" i="0" u="none" strike="noStrike" dirty="0">
                <a:solidFill>
                  <a:srgbClr val="4D4D4D"/>
                </a:solidFill>
                <a:effectLst/>
                <a:latin typeface="-apple-system"/>
              </a:rPr>
              <a:t>文件系统仅占 </a:t>
            </a:r>
            <a:r>
              <a:rPr lang="en-US" altLang="zh-CN" sz="2400" b="0" i="0" u="none" strike="noStrike" dirty="0">
                <a:solidFill>
                  <a:srgbClr val="4D4D4D"/>
                </a:solidFill>
                <a:effectLst/>
                <a:latin typeface="-apple-system"/>
              </a:rPr>
              <a:t>1.5</a:t>
            </a:r>
            <a:r>
              <a:rPr lang="en" altLang="zh-CN" sz="2400" b="0" i="0" u="none" strike="noStrike" dirty="0">
                <a:solidFill>
                  <a:srgbClr val="4D4D4D"/>
                </a:solidFill>
                <a:effectLst/>
                <a:latin typeface="-apple-system"/>
              </a:rPr>
              <a:t>M</a:t>
            </a:r>
            <a:endParaRPr lang="en-US" altLang="zh-CN" sz="2400" dirty="0">
              <a:solidFill>
                <a:srgbClr val="4D4D4D"/>
              </a:solidFill>
              <a:latin typeface="-apple-system"/>
            </a:endParaRPr>
          </a:p>
          <a:p>
            <a:pPr>
              <a:lnSpc>
                <a:spcPct val="150000"/>
              </a:lnSpc>
            </a:pPr>
            <a:r>
              <a:rPr lang="zh-CN" altLang="en-US" sz="2400" b="0" i="0" u="none" strike="noStrike" dirty="0">
                <a:solidFill>
                  <a:srgbClr val="4D4D4D"/>
                </a:solidFill>
                <a:effectLst/>
                <a:latin typeface="-apple-system"/>
              </a:rPr>
              <a:t>虽然占用空间是小了，但是功能也非常少</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若要编译其他程序的话需要手工下载、编译</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如果需要某些依赖库，还需要手工下载、编译这些依赖库</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如果想做一个极简的文件系统，可以使用</a:t>
            </a:r>
            <a:r>
              <a:rPr lang="en" altLang="zh-CN" sz="2400" b="0" i="0" u="none" strike="noStrike" dirty="0" err="1">
                <a:solidFill>
                  <a:srgbClr val="4D4D4D"/>
                </a:solidFill>
                <a:effectLst/>
                <a:latin typeface="-apple-system"/>
              </a:rPr>
              <a:t>Busybox</a:t>
            </a:r>
            <a:r>
              <a:rPr lang="zh-CN" altLang="en-US" sz="2400" b="0" i="0" u="none" strike="noStrike" dirty="0">
                <a:solidFill>
                  <a:srgbClr val="4D4D4D"/>
                </a:solidFill>
                <a:effectLst/>
                <a:latin typeface="-apple-system"/>
              </a:rPr>
              <a:t>手工制作</a:t>
            </a:r>
            <a:endParaRPr lang="en-US" altLang="zh-CN" sz="2400" b="0" i="0" u="none" strike="noStrike" dirty="0">
              <a:solidFill>
                <a:srgbClr val="4D4D4D"/>
              </a:solidFill>
              <a:effectLst/>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2400" b="0" i="0" u="none" strike="noStrike" dirty="0">
              <a:solidFill>
                <a:srgbClr val="4D4D4D"/>
              </a:solidFill>
              <a:effectLst/>
              <a:latin typeface="-apple-system"/>
            </a:endParaRPr>
          </a:p>
          <a:p>
            <a:pPr marL="0" indent="0">
              <a:lnSpc>
                <a:spcPct val="150000"/>
              </a:lnSpc>
              <a:buNone/>
            </a:pPr>
            <a:endParaRPr lang="en-US" altLang="zh-CN" sz="1400" b="0" i="0" u="none" strike="noStrike" dirty="0">
              <a:solidFill>
                <a:srgbClr val="4D4D4D"/>
              </a:solidFill>
              <a:effectLst/>
              <a:latin typeface="-apple-system"/>
            </a:endParaRPr>
          </a:p>
        </p:txBody>
      </p:sp>
      <p:sp>
        <p:nvSpPr>
          <p:cNvPr id="16" name="文本框 15">
            <a:extLst>
              <a:ext uri="{FF2B5EF4-FFF2-40B4-BE49-F238E27FC236}">
                <a16:creationId xmlns:a16="http://schemas.microsoft.com/office/drawing/2014/main" id="{57A54468-3812-8A48-82CD-ED8B086E4CD5}"/>
              </a:ext>
            </a:extLst>
          </p:cNvPr>
          <p:cNvSpPr txBox="1"/>
          <p:nvPr/>
        </p:nvSpPr>
        <p:spPr>
          <a:xfrm>
            <a:off x="5164667" y="8128000"/>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4100834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14530</TotalTime>
  <Words>8779</Words>
  <Application>Microsoft Macintosh PowerPoint</Application>
  <PresentationFormat>全屏显示(4:3)</PresentationFormat>
  <Paragraphs>612</Paragraphs>
  <Slides>68</Slides>
  <Notes>49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68</vt:i4>
      </vt:variant>
    </vt:vector>
  </HeadingPairs>
  <TitlesOfParts>
    <vt:vector size="76" baseType="lpstr">
      <vt:lpstr>-apple-system</vt:lpstr>
      <vt:lpstr>PingFang SC</vt:lpstr>
      <vt:lpstr>Arial</vt:lpstr>
      <vt:lpstr>Bebas Neue</vt:lpstr>
      <vt:lpstr>Calibri</vt:lpstr>
      <vt:lpstr>Courier New</vt:lpstr>
      <vt:lpstr>Roboto</vt:lpstr>
      <vt:lpstr>Office Theme</vt:lpstr>
      <vt:lpstr>Linux系统移植</vt:lpstr>
      <vt:lpstr>linux系统组成</vt:lpstr>
      <vt:lpstr>U-boot</vt:lpstr>
      <vt:lpstr>U-boot</vt:lpstr>
      <vt:lpstr>Linux内核</vt:lpstr>
      <vt:lpstr>设备树</vt:lpstr>
      <vt:lpstr>根文件系统</vt:lpstr>
      <vt:lpstr>根文件系统</vt:lpstr>
      <vt:lpstr>根文件系统</vt:lpstr>
      <vt:lpstr>Uboot介绍</vt:lpstr>
      <vt:lpstr>Uboot介绍</vt:lpstr>
      <vt:lpstr>Uboot介绍</vt:lpstr>
      <vt:lpstr>uboot烧录与启动</vt:lpstr>
      <vt:lpstr>uboot烧录与启动</vt:lpstr>
      <vt:lpstr>uboot烧录与启动</vt:lpstr>
      <vt:lpstr>uboot烧录与启动</vt:lpstr>
      <vt:lpstr>编译uboot</vt:lpstr>
      <vt:lpstr>编译uboot</vt:lpstr>
      <vt:lpstr>烧写uboot到 SD 卡</vt:lpstr>
      <vt:lpstr>烧写uboot到 SD 卡</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eMMC与SD卡的异同</vt:lpstr>
      <vt:lpstr>eMMC与SD卡的异同</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uboot常用命令使用</vt:lpstr>
      <vt:lpstr>Recent Advances in U-Boot</vt:lpstr>
      <vt:lpstr>Linux 内核的编译与烧录</vt:lpstr>
      <vt:lpstr>Linux 内核的编译与烧录</vt:lpstr>
      <vt:lpstr>Linux 内核的编译与烧录</vt:lpstr>
      <vt:lpstr>Linux 内核的编译与烧录</vt:lpstr>
      <vt:lpstr>Linux 内核的编译与烧录</vt:lpstr>
      <vt:lpstr>Linux 内核的编译与烧录</vt:lpstr>
      <vt:lpstr>根文件系统的介绍</vt:lpstr>
      <vt:lpstr>根文件系统的介绍</vt:lpstr>
      <vt:lpstr>根文件系统的介绍</vt:lpstr>
      <vt:lpstr>根文件系统</vt:lpstr>
      <vt:lpstr>BusyBox 构建根文件系统</vt:lpstr>
      <vt:lpstr>BusyBox 构建根文件系统</vt:lpstr>
      <vt:lpstr>BusyBox 构建根文件系统</vt:lpstr>
      <vt:lpstr>BusyBox 构建根文件系统</vt:lpstr>
      <vt:lpstr>BusyBox 构建根文件系统</vt:lpstr>
      <vt:lpstr>BusyBox 构建根文件系统</vt:lpstr>
      <vt:lpstr>BusyBox 构建根文件系统</vt:lpstr>
      <vt:lpstr>BusyBox 构建根文件系统</vt:lpstr>
      <vt:lpstr>BusyBox 构建根文件系统</vt:lpstr>
      <vt:lpstr>BusyBox 构建根文件系统</vt:lpstr>
    </vt:vector>
  </TitlesOfParts>
  <Company>LIME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adrienne.reynolds</dc:creator>
  <cp:lastModifiedBy>CWang-NBU</cp:lastModifiedBy>
  <cp:revision>886</cp:revision>
  <dcterms:created xsi:type="dcterms:W3CDTF">2011-12-26T17:46:32Z</dcterms:created>
  <dcterms:modified xsi:type="dcterms:W3CDTF">2025-05-14T08:44:52Z</dcterms:modified>
</cp:coreProperties>
</file>