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62" r:id="rId3"/>
    <p:sldId id="257" r:id="rId4"/>
    <p:sldId id="279" r:id="rId5"/>
    <p:sldId id="260" r:id="rId6"/>
    <p:sldId id="261" r:id="rId7"/>
    <p:sldId id="278" r:id="rId8"/>
    <p:sldId id="263" r:id="rId9"/>
    <p:sldId id="265" r:id="rId10"/>
    <p:sldId id="268" r:id="rId11"/>
    <p:sldId id="269" r:id="rId12"/>
    <p:sldId id="270" r:id="rId13"/>
    <p:sldId id="271" r:id="rId14"/>
    <p:sldId id="276" r:id="rId15"/>
    <p:sldId id="277" r:id="rId16"/>
  </p:sldIdLst>
  <p:sldSz cx="12192000" cy="6858000"/>
  <p:notesSz cx="12192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kq2414774255@163.com" initials="g" lastIdx="1" clrIdx="0">
    <p:extLst>
      <p:ext uri="{19B8F6BF-5375-455C-9EA6-DF929625EA0E}">
        <p15:presenceInfo xmlns:p15="http://schemas.microsoft.com/office/powerpoint/2012/main" userId="61d2b259bd0f37f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716" autoAdjust="0"/>
  </p:normalViewPr>
  <p:slideViewPr>
    <p:cSldViewPr>
      <p:cViewPr varScale="1">
        <p:scale>
          <a:sx n="69" d="100"/>
          <a:sy n="69" d="100"/>
        </p:scale>
        <p:origin x="1620" y="4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094C6CE-78F6-4B64-BB6B-599AD6AFABD9}" type="datetimeFigureOut">
              <a:rPr lang="zh-CN" altLang="en-US" smtClean="0"/>
              <a:t>2024/12/8</a:t>
            </a:fld>
            <a:endParaRPr lang="zh-CN" altLang="en-US"/>
          </a:p>
        </p:txBody>
      </p:sp>
      <p:sp>
        <p:nvSpPr>
          <p:cNvPr id="4" name="幻灯片图像占位符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319B138-A142-4EBE-801C-88E8015F9F28}" type="slidenum">
              <a:rPr lang="zh-CN" altLang="en-US" smtClean="0"/>
              <a:t>‹#›</a:t>
            </a:fld>
            <a:endParaRPr lang="zh-CN" altLang="en-US"/>
          </a:p>
        </p:txBody>
      </p:sp>
    </p:spTree>
    <p:extLst>
      <p:ext uri="{BB962C8B-B14F-4D97-AF65-F5344CB8AC3E}">
        <p14:creationId xmlns:p14="http://schemas.microsoft.com/office/powerpoint/2010/main" val="4027394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微软雅黑" panose="020B0503020204020204" pitchFamily="34" charset="-122"/>
                <a:ea typeface="微软雅黑" panose="020B0503020204020204" pitchFamily="34" charset="-122"/>
              </a:rPr>
              <a:t>例如，当试图修复在绿色田野上吃草的棕色马的图像时</a:t>
            </a:r>
            <a:r>
              <a:rPr lang="en-US" altLang="zh-CN" b="0" i="0" dirty="0">
                <a:solidFill>
                  <a:srgbClr val="000000"/>
                </a:solidFill>
                <a:effectLst/>
                <a:latin typeface="微软雅黑" panose="020B0503020204020204" pitchFamily="34" charset="-122"/>
                <a:ea typeface="微软雅黑" panose="020B0503020204020204" pitchFamily="34" charset="-122"/>
              </a:rPr>
              <a:t>K = 10</a:t>
            </a:r>
            <a:r>
              <a:rPr lang="zh-CN" altLang="en-US" b="0" i="0" dirty="0">
                <a:solidFill>
                  <a:srgbClr val="000000"/>
                </a:solidFill>
                <a:effectLst/>
                <a:latin typeface="微软雅黑" panose="020B0503020204020204" pitchFamily="34" charset="-122"/>
                <a:ea typeface="微软雅黑" panose="020B0503020204020204" pitchFamily="34" charset="-122"/>
              </a:rPr>
              <a:t>后可以修改颜色，但</a:t>
            </a:r>
            <a:r>
              <a:rPr lang="en-US" altLang="zh-CN" b="0" i="0" dirty="0">
                <a:solidFill>
                  <a:srgbClr val="000000"/>
                </a:solidFill>
                <a:effectLst/>
                <a:latin typeface="微软雅黑" panose="020B0503020204020204" pitchFamily="34" charset="-122"/>
                <a:ea typeface="微软雅黑" panose="020B0503020204020204" pitchFamily="34" charset="-122"/>
              </a:rPr>
              <a:t>K = 15</a:t>
            </a:r>
            <a:r>
              <a:rPr lang="zh-CN" altLang="en-US" b="0" i="0" dirty="0">
                <a:solidFill>
                  <a:srgbClr val="000000"/>
                </a:solidFill>
                <a:effectLst/>
                <a:latin typeface="微软雅黑" panose="020B0503020204020204" pitchFamily="34" charset="-122"/>
                <a:ea typeface="微软雅黑" panose="020B0503020204020204" pitchFamily="34" charset="-122"/>
              </a:rPr>
              <a:t>后不能修改颜色。同样，动作、对象和背景也只能修改到特定的步骤</a:t>
            </a:r>
            <a:endParaRPr lang="zh-CN" altLang="en-US" dirty="0"/>
          </a:p>
        </p:txBody>
      </p:sp>
      <p:sp>
        <p:nvSpPr>
          <p:cNvPr id="4" name="灯片编号占位符 3"/>
          <p:cNvSpPr>
            <a:spLocks noGrp="1"/>
          </p:cNvSpPr>
          <p:nvPr>
            <p:ph type="sldNum" sz="quarter" idx="5"/>
          </p:nvPr>
        </p:nvSpPr>
        <p:spPr/>
        <p:txBody>
          <a:bodyPr/>
          <a:lstStyle/>
          <a:p>
            <a:fld id="{4319B138-A142-4EBE-801C-88E8015F9F28}" type="slidenum">
              <a:rPr lang="zh-CN" altLang="en-US" smtClean="0"/>
              <a:t>4</a:t>
            </a:fld>
            <a:endParaRPr lang="zh-CN" altLang="en-US"/>
          </a:p>
        </p:txBody>
      </p:sp>
    </p:spTree>
    <p:extLst>
      <p:ext uri="{BB962C8B-B14F-4D97-AF65-F5344CB8AC3E}">
        <p14:creationId xmlns:p14="http://schemas.microsoft.com/office/powerpoint/2010/main" val="2976626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pc="140" dirty="0">
                <a:latin typeface="Microsoft YaHei"/>
                <a:cs typeface="Microsoft YaHei"/>
              </a:rPr>
              <a:t>扩散模型在推理阶段（即从文本生成图像）的本质是从高斯噪声出发，通过迭代去噪的方式生成目标图像。传统的扩散模型通常需要进行多达</a:t>
            </a:r>
            <a:r>
              <a:rPr lang="en-US" altLang="zh-CN" spc="140" dirty="0">
                <a:latin typeface="Microsoft YaHei"/>
                <a:cs typeface="Microsoft YaHei"/>
              </a:rPr>
              <a:t>1000</a:t>
            </a:r>
            <a:r>
              <a:rPr lang="zh-CN" altLang="en-US" spc="140" dirty="0">
                <a:latin typeface="Microsoft YaHei"/>
                <a:cs typeface="Microsoft YaHei"/>
              </a:rPr>
              <a:t>次迭代，而后续优化则将这一过程缩短至约</a:t>
            </a:r>
            <a:r>
              <a:rPr lang="en-US" altLang="zh-CN" spc="140" dirty="0">
                <a:latin typeface="Microsoft YaHei"/>
                <a:cs typeface="Microsoft YaHei"/>
              </a:rPr>
              <a:t>50</a:t>
            </a:r>
            <a:r>
              <a:rPr lang="zh-CN" altLang="en-US" spc="140" dirty="0">
                <a:latin typeface="Microsoft YaHei"/>
                <a:cs typeface="Microsoft YaHei"/>
              </a:rPr>
              <a:t>至</a:t>
            </a:r>
            <a:r>
              <a:rPr lang="en-US" altLang="zh-CN" spc="140" dirty="0">
                <a:latin typeface="Microsoft YaHei"/>
                <a:cs typeface="Microsoft YaHei"/>
              </a:rPr>
              <a:t>100</a:t>
            </a:r>
            <a:r>
              <a:rPr lang="zh-CN" altLang="en-US" spc="140" dirty="0">
                <a:latin typeface="Microsoft YaHei"/>
                <a:cs typeface="Microsoft YaHei"/>
              </a:rPr>
              <a:t>步。尽管优化显著减少了迭代次数，</a:t>
            </a:r>
            <a:r>
              <a:rPr lang="en-US" altLang="zh-CN" spc="140" dirty="0">
                <a:latin typeface="Microsoft YaHei"/>
                <a:cs typeface="Microsoft YaHei"/>
              </a:rPr>
              <a:t>50</a:t>
            </a:r>
            <a:r>
              <a:rPr lang="zh-CN" altLang="en-US" spc="140" dirty="0">
                <a:latin typeface="Microsoft YaHei"/>
                <a:cs typeface="Microsoft YaHei"/>
              </a:rPr>
              <a:t>步的去噪过程依然对计算资源要求较高，导致图像生成任务非常耗时，并在昂贵的</a:t>
            </a:r>
            <a:r>
              <a:rPr lang="en-US" altLang="zh-CN" spc="140" dirty="0">
                <a:latin typeface="Microsoft YaHei"/>
                <a:cs typeface="Microsoft YaHei"/>
              </a:rPr>
              <a:t>GPU</a:t>
            </a:r>
            <a:r>
              <a:rPr lang="zh-CN" altLang="en-US" spc="140" dirty="0">
                <a:latin typeface="Microsoft YaHei"/>
                <a:cs typeface="Microsoft YaHei"/>
              </a:rPr>
              <a:t>硬件上增加了巨大的成本，同时也显著影响了用户的交互体验。</a:t>
            </a:r>
            <a:endParaRPr lang="zh-CN" altLang="en-US" dirty="0">
              <a:latin typeface="Microsoft YaHei"/>
              <a:cs typeface="Microsoft YaHei"/>
            </a:endParaRPr>
          </a:p>
          <a:p>
            <a:endParaRPr lang="zh-CN" altLang="en-US" dirty="0"/>
          </a:p>
        </p:txBody>
      </p:sp>
      <p:sp>
        <p:nvSpPr>
          <p:cNvPr id="4" name="灯片编号占位符 3"/>
          <p:cNvSpPr>
            <a:spLocks noGrp="1"/>
          </p:cNvSpPr>
          <p:nvPr>
            <p:ph type="sldNum" sz="quarter" idx="5"/>
          </p:nvPr>
        </p:nvSpPr>
        <p:spPr/>
        <p:txBody>
          <a:bodyPr/>
          <a:lstStyle/>
          <a:p>
            <a:fld id="{4319B138-A142-4EBE-801C-88E8015F9F28}" type="slidenum">
              <a:rPr lang="zh-CN" altLang="en-US" smtClean="0"/>
              <a:t>5</a:t>
            </a:fld>
            <a:endParaRPr lang="zh-CN" altLang="en-US"/>
          </a:p>
        </p:txBody>
      </p:sp>
    </p:spTree>
    <p:extLst>
      <p:ext uri="{BB962C8B-B14F-4D97-AF65-F5344CB8AC3E}">
        <p14:creationId xmlns:p14="http://schemas.microsoft.com/office/powerpoint/2010/main" val="2449999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dirty="0"/>
              <a:t>工作主要贡献有三点</a:t>
            </a:r>
            <a:endParaRPr lang="en-US" altLang="zh-CN" dirty="0"/>
          </a:p>
          <a:p>
            <a:pPr marL="228600" indent="-228600">
              <a:buAutoNum type="arabicPeriod"/>
            </a:pPr>
            <a:r>
              <a:rPr lang="zh-CN" altLang="en-US" dirty="0"/>
              <a:t>为扩散模型的生成提供显著的计算节省</a:t>
            </a:r>
            <a:endParaRPr lang="en-US" altLang="zh-CN" dirty="0"/>
          </a:p>
          <a:p>
            <a:pPr marL="228600" indent="-228600">
              <a:buAutoNum type="arabicPeriod"/>
            </a:pPr>
            <a:r>
              <a:rPr lang="zh-CN" altLang="en-US" dirty="0"/>
              <a:t>提出了</a:t>
            </a:r>
            <a:r>
              <a:rPr lang="en-US" altLang="zh-CN" dirty="0"/>
              <a:t>LCBFU</a:t>
            </a:r>
            <a:r>
              <a:rPr lang="zh-CN" altLang="en-US" dirty="0"/>
              <a:t>，即</a:t>
            </a:r>
            <a:r>
              <a:rPr lang="zh-CN" altLang="en-US" b="0" i="0" dirty="0">
                <a:solidFill>
                  <a:srgbClr val="000000"/>
                </a:solidFill>
                <a:effectLst/>
                <a:latin typeface="微软雅黑" panose="020B0503020204020204" pitchFamily="34" charset="-122"/>
                <a:ea typeface="微软雅黑" panose="020B0503020204020204" pitchFamily="34" charset="-122"/>
              </a:rPr>
              <a:t>最小计算效益和最经常使用</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228600" indent="-228600">
              <a:buAutoNum type="arabicPeriod"/>
            </a:pPr>
            <a:r>
              <a:rPr lang="zh-CN" altLang="en-US" b="0" i="0" dirty="0">
                <a:solidFill>
                  <a:srgbClr val="000000"/>
                </a:solidFill>
                <a:effectLst/>
                <a:latin typeface="微软雅黑" panose="020B0503020204020204" pitchFamily="34" charset="-122"/>
                <a:ea typeface="微软雅黑" panose="020B0503020204020204" pitchFamily="34" charset="-122"/>
              </a:rPr>
              <a:t>为其提供了边云协同部署策略</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pPr marL="0" indent="0">
              <a:buNone/>
            </a:pPr>
            <a:endParaRPr lang="en-US" altLang="zh-CN" dirty="0"/>
          </a:p>
        </p:txBody>
      </p:sp>
      <p:sp>
        <p:nvSpPr>
          <p:cNvPr id="4" name="灯片编号占位符 3"/>
          <p:cNvSpPr>
            <a:spLocks noGrp="1"/>
          </p:cNvSpPr>
          <p:nvPr>
            <p:ph type="sldNum" sz="quarter" idx="5"/>
          </p:nvPr>
        </p:nvSpPr>
        <p:spPr/>
        <p:txBody>
          <a:bodyPr/>
          <a:lstStyle/>
          <a:p>
            <a:fld id="{4319B138-A142-4EBE-801C-88E8015F9F28}" type="slidenum">
              <a:rPr lang="zh-CN" altLang="en-US" smtClean="0"/>
              <a:t>7</a:t>
            </a:fld>
            <a:endParaRPr lang="zh-CN" altLang="en-US"/>
          </a:p>
        </p:txBody>
      </p:sp>
    </p:spTree>
    <p:extLst>
      <p:ext uri="{BB962C8B-B14F-4D97-AF65-F5344CB8AC3E}">
        <p14:creationId xmlns:p14="http://schemas.microsoft.com/office/powerpoint/2010/main" val="770568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b="0" i="0" dirty="0">
                <a:solidFill>
                  <a:srgbClr val="000000"/>
                </a:solidFill>
                <a:effectLst/>
                <a:latin typeface="微软雅黑" panose="020B0503020204020204" pitchFamily="34" charset="-122"/>
                <a:ea typeface="微软雅黑" panose="020B0503020204020204" pitchFamily="34" charset="-122"/>
              </a:rPr>
              <a:t>该图显示了</a:t>
            </a:r>
            <a:r>
              <a:rPr lang="en-US" altLang="zh-CN" b="0" i="0" dirty="0">
                <a:solidFill>
                  <a:srgbClr val="000000"/>
                </a:solidFill>
                <a:effectLst/>
                <a:latin typeface="微软雅黑" panose="020B0503020204020204" pitchFamily="34" charset="-122"/>
                <a:ea typeface="微软雅黑" panose="020B0503020204020204" pitchFamily="34" charset="-122"/>
              </a:rPr>
              <a:t>NIRVANA</a:t>
            </a:r>
            <a:r>
              <a:rPr lang="zh-CN" altLang="en-US" b="0" i="0" dirty="0">
                <a:solidFill>
                  <a:srgbClr val="000000"/>
                </a:solidFill>
                <a:effectLst/>
                <a:latin typeface="微软雅黑" panose="020B0503020204020204" pitchFamily="34" charset="-122"/>
                <a:ea typeface="微软雅黑" panose="020B0503020204020204" pitchFamily="34" charset="-122"/>
              </a:rPr>
              <a:t>的主要组件执行路径。首先，使用嵌入生成器</a:t>
            </a:r>
            <a:r>
              <a:rPr lang="en-US" altLang="zh-CN" b="0" i="0" dirty="0">
                <a:solidFill>
                  <a:srgbClr val="000000"/>
                </a:solidFill>
                <a:effectLst/>
                <a:latin typeface="微软雅黑" panose="020B0503020204020204" pitchFamily="34" charset="-122"/>
                <a:ea typeface="微软雅黑" panose="020B0503020204020204" pitchFamily="34" charset="-122"/>
              </a:rPr>
              <a:t>A</a:t>
            </a:r>
            <a:r>
              <a:rPr lang="zh-CN" altLang="en-US" b="0" i="0" dirty="0">
                <a:solidFill>
                  <a:srgbClr val="000000"/>
                </a:solidFill>
                <a:effectLst/>
                <a:latin typeface="微软雅黑" panose="020B0503020204020204" pitchFamily="34" charset="-122"/>
                <a:ea typeface="微软雅黑" panose="020B0503020204020204" pitchFamily="34" charset="-122"/>
              </a:rPr>
              <a:t>为当前输入提示符</a:t>
            </a:r>
            <a:r>
              <a:rPr lang="en-US" altLang="zh-CN" b="0" i="0" dirty="0">
                <a:solidFill>
                  <a:srgbClr val="000000"/>
                </a:solidFill>
                <a:effectLst/>
                <a:latin typeface="微软雅黑" panose="020B0503020204020204" pitchFamily="34" charset="-122"/>
                <a:ea typeface="微软雅黑" panose="020B0503020204020204" pitchFamily="34" charset="-122"/>
              </a:rPr>
              <a:t>PQ</a:t>
            </a:r>
            <a:r>
              <a:rPr lang="zh-CN" altLang="en-US" b="0" i="0" dirty="0">
                <a:solidFill>
                  <a:srgbClr val="000000"/>
                </a:solidFill>
                <a:effectLst/>
                <a:latin typeface="微软雅黑" panose="020B0503020204020204" pitchFamily="34" charset="-122"/>
                <a:ea typeface="微软雅黑" panose="020B0503020204020204" pitchFamily="34" charset="-122"/>
              </a:rPr>
              <a:t>生成嵌入向量</a:t>
            </a:r>
            <a:r>
              <a:rPr lang="en-US" altLang="zh-CN" b="0" i="0" dirty="0">
                <a:solidFill>
                  <a:srgbClr val="000000"/>
                </a:solidFill>
                <a:effectLst/>
                <a:latin typeface="微软雅黑" panose="020B0503020204020204" pitchFamily="34" charset="-122"/>
                <a:ea typeface="微软雅黑" panose="020B0503020204020204" pitchFamily="34" charset="-122"/>
              </a:rPr>
              <a:t>ep</a:t>
            </a:r>
            <a:r>
              <a:rPr lang="zh-CN" altLang="en-US" b="0" i="0" dirty="0">
                <a:solidFill>
                  <a:srgbClr val="000000"/>
                </a:solidFill>
                <a:effectLst/>
                <a:latin typeface="微软雅黑" panose="020B0503020204020204" pitchFamily="34" charset="-122"/>
                <a:ea typeface="微软雅黑" panose="020B0503020204020204" pitchFamily="34" charset="-122"/>
              </a:rPr>
              <a:t>。然后，一个可选的匹配预测模块</a:t>
            </a:r>
            <a:r>
              <a:rPr lang="en-US" altLang="zh-CN" b="0" i="0" dirty="0">
                <a:solidFill>
                  <a:srgbClr val="000000"/>
                </a:solidFill>
                <a:effectLst/>
                <a:latin typeface="微软雅黑" panose="020B0503020204020204" pitchFamily="34" charset="-122"/>
                <a:ea typeface="微软雅黑" panose="020B0503020204020204" pitchFamily="34" charset="-122"/>
              </a:rPr>
              <a:t>B</a:t>
            </a:r>
            <a:r>
              <a:rPr lang="zh-CN" altLang="en-US" b="0" i="0" dirty="0">
                <a:solidFill>
                  <a:srgbClr val="000000"/>
                </a:solidFill>
                <a:effectLst/>
                <a:latin typeface="微软雅黑" panose="020B0503020204020204" pitchFamily="34" charset="-122"/>
                <a:ea typeface="微软雅黑" panose="020B0503020204020204" pitchFamily="34" charset="-122"/>
              </a:rPr>
              <a:t>，预测向量数据库（</a:t>
            </a:r>
            <a:r>
              <a:rPr lang="en-US" altLang="zh-CN" b="0" i="0" dirty="0">
                <a:solidFill>
                  <a:srgbClr val="000000"/>
                </a:solidFill>
                <a:effectLst/>
                <a:latin typeface="微软雅黑" panose="020B0503020204020204" pitchFamily="34" charset="-122"/>
                <a:ea typeface="微软雅黑" panose="020B0503020204020204" pitchFamily="34" charset="-122"/>
              </a:rPr>
              <a:t>VDB</a:t>
            </a:r>
            <a:r>
              <a:rPr lang="zh-CN" altLang="en-US" b="0" i="0" dirty="0">
                <a:solidFill>
                  <a:srgbClr val="000000"/>
                </a:solidFill>
                <a:effectLst/>
                <a:latin typeface="微软雅黑" panose="020B0503020204020204" pitchFamily="34" charset="-122"/>
                <a:ea typeface="微软雅黑" panose="020B0503020204020204" pitchFamily="34" charset="-122"/>
              </a:rPr>
              <a:t>）即图中的</a:t>
            </a:r>
            <a:r>
              <a:rPr lang="en-US" altLang="zh-CN" b="0" i="0" dirty="0">
                <a:solidFill>
                  <a:srgbClr val="000000"/>
                </a:solidFill>
                <a:effectLst/>
                <a:latin typeface="微软雅黑" panose="020B0503020204020204" pitchFamily="34" charset="-122"/>
                <a:ea typeface="微软雅黑" panose="020B0503020204020204" pitchFamily="34" charset="-122"/>
              </a:rPr>
              <a:t>C</a:t>
            </a:r>
            <a:r>
              <a:rPr lang="zh-CN" altLang="en-US" b="0" i="0" dirty="0">
                <a:solidFill>
                  <a:srgbClr val="000000"/>
                </a:solidFill>
                <a:effectLst/>
                <a:latin typeface="微软雅黑" panose="020B0503020204020204" pitchFamily="34" charset="-122"/>
                <a:ea typeface="微软雅黑" panose="020B0503020204020204" pitchFamily="34" charset="-122"/>
              </a:rPr>
              <a:t>中的嵌入是否有足够接近的匹配。</a:t>
            </a:r>
          </a:p>
          <a:p>
            <a:pPr algn="just"/>
            <a:r>
              <a:rPr lang="zh-CN" altLang="en-US" b="0" i="0" dirty="0">
                <a:solidFill>
                  <a:srgbClr val="000000"/>
                </a:solidFill>
                <a:effectLst/>
                <a:latin typeface="微软雅黑" panose="020B0503020204020204" pitchFamily="34" charset="-122"/>
                <a:ea typeface="微软雅黑" panose="020B0503020204020204" pitchFamily="34" charset="-122"/>
              </a:rPr>
              <a:t>如果可能存在足够相似的缓存条目，那么</a:t>
            </a:r>
            <a:r>
              <a:rPr lang="en-US" altLang="zh-CN" b="0" i="0" dirty="0">
                <a:solidFill>
                  <a:srgbClr val="000000"/>
                </a:solidFill>
                <a:effectLst/>
                <a:latin typeface="微软雅黑" panose="020B0503020204020204" pitchFamily="34" charset="-122"/>
                <a:ea typeface="微软雅黑" panose="020B0503020204020204" pitchFamily="34" charset="-122"/>
              </a:rPr>
              <a:t>NIRVANA</a:t>
            </a:r>
            <a:r>
              <a:rPr lang="zh-CN" altLang="en-US" b="0" i="0" dirty="0">
                <a:solidFill>
                  <a:srgbClr val="000000"/>
                </a:solidFill>
                <a:effectLst/>
                <a:latin typeface="微软雅黑" panose="020B0503020204020204" pitchFamily="34" charset="-122"/>
                <a:ea typeface="微软雅黑" panose="020B0503020204020204" pitchFamily="34" charset="-122"/>
              </a:rPr>
              <a:t>将启动从缓存中检索中间状态的过程。首先，向</a:t>
            </a:r>
            <a:r>
              <a:rPr lang="en-US" altLang="zh-CN" b="0" i="0" dirty="0">
                <a:solidFill>
                  <a:srgbClr val="000000"/>
                </a:solidFill>
                <a:effectLst/>
                <a:latin typeface="微软雅黑" panose="020B0503020204020204" pitchFamily="34" charset="-122"/>
                <a:ea typeface="微软雅黑" panose="020B0503020204020204" pitchFamily="34" charset="-122"/>
              </a:rPr>
              <a:t>VDB</a:t>
            </a:r>
            <a:r>
              <a:rPr lang="zh-CN" altLang="en-US" b="0" i="0" dirty="0">
                <a:solidFill>
                  <a:srgbClr val="000000"/>
                </a:solidFill>
                <a:effectLst/>
                <a:latin typeface="微软雅黑" panose="020B0503020204020204" pitchFamily="34" charset="-122"/>
                <a:ea typeface="微软雅黑" panose="020B0503020204020204" pitchFamily="34" charset="-122"/>
              </a:rPr>
              <a:t>发送一个搜索查询，以查找最近的</a:t>
            </a:r>
            <a:r>
              <a:rPr lang="en-US" altLang="zh-CN" b="0" i="0" dirty="0">
                <a:solidFill>
                  <a:srgbClr val="000000"/>
                </a:solidFill>
                <a:effectLst/>
                <a:latin typeface="微软雅黑" panose="020B0503020204020204" pitchFamily="34" charset="-122"/>
                <a:ea typeface="微软雅黑" panose="020B0503020204020204" pitchFamily="34" charset="-122"/>
              </a:rPr>
              <a:t>ep</a:t>
            </a:r>
            <a:r>
              <a:rPr lang="zh-CN" altLang="en-US" b="0" i="0" dirty="0">
                <a:solidFill>
                  <a:srgbClr val="000000"/>
                </a:solidFill>
                <a:effectLst/>
                <a:latin typeface="微软雅黑" panose="020B0503020204020204" pitchFamily="34" charset="-122"/>
                <a:ea typeface="微软雅黑" panose="020B0503020204020204" pitchFamily="34" charset="-122"/>
              </a:rPr>
              <a:t>缓存嵌入，用</a:t>
            </a:r>
            <a:r>
              <a:rPr lang="en-US" altLang="zh-CN" b="0" i="0" dirty="0" err="1">
                <a:solidFill>
                  <a:srgbClr val="000000"/>
                </a:solidFill>
                <a:effectLst/>
                <a:latin typeface="微软雅黑" panose="020B0503020204020204" pitchFamily="34" charset="-122"/>
                <a:ea typeface="微软雅黑" panose="020B0503020204020204" pitchFamily="34" charset="-122"/>
              </a:rPr>
              <a:t>ec</a:t>
            </a:r>
            <a:r>
              <a:rPr lang="zh-CN" altLang="en-US" b="0" i="0" dirty="0">
                <a:solidFill>
                  <a:srgbClr val="000000"/>
                </a:solidFill>
                <a:effectLst/>
                <a:latin typeface="微软雅黑" panose="020B0503020204020204" pitchFamily="34" charset="-122"/>
                <a:ea typeface="微软雅黑" panose="020B0503020204020204" pitchFamily="34" charset="-122"/>
              </a:rPr>
              <a:t>表示。对于</a:t>
            </a:r>
            <a:r>
              <a:rPr lang="en-US" altLang="zh-CN" b="0" i="0" dirty="0">
                <a:solidFill>
                  <a:srgbClr val="000000"/>
                </a:solidFill>
                <a:effectLst/>
                <a:latin typeface="微软雅黑" panose="020B0503020204020204" pitchFamily="34" charset="-122"/>
                <a:ea typeface="微软雅黑" panose="020B0503020204020204" pitchFamily="34" charset="-122"/>
              </a:rPr>
              <a:t>VDB</a:t>
            </a:r>
            <a:r>
              <a:rPr lang="zh-CN" altLang="en-US" b="0" i="0" dirty="0">
                <a:solidFill>
                  <a:srgbClr val="000000"/>
                </a:solidFill>
                <a:effectLst/>
                <a:latin typeface="微软雅黑" panose="020B0503020204020204" pitchFamily="34" charset="-122"/>
                <a:ea typeface="微软雅黑" panose="020B0503020204020204" pitchFamily="34" charset="-122"/>
              </a:rPr>
              <a:t>中缓存的每个历史提示，</a:t>
            </a:r>
            <a:r>
              <a:rPr lang="en-US" altLang="zh-CN" b="0" i="0" dirty="0">
                <a:solidFill>
                  <a:srgbClr val="000000"/>
                </a:solidFill>
                <a:effectLst/>
                <a:latin typeface="微软雅黑" panose="020B0503020204020204" pitchFamily="34" charset="-122"/>
                <a:ea typeface="微软雅黑" panose="020B0503020204020204" pitchFamily="34" charset="-122"/>
              </a:rPr>
              <a:t>NIRVANA</a:t>
            </a:r>
            <a:r>
              <a:rPr lang="zh-CN" altLang="en-US" b="0" i="0" dirty="0">
                <a:solidFill>
                  <a:srgbClr val="000000"/>
                </a:solidFill>
                <a:effectLst/>
                <a:latin typeface="微软雅黑" panose="020B0503020204020204" pitchFamily="34" charset="-122"/>
                <a:ea typeface="微软雅黑" panose="020B0503020204020204" pitchFamily="34" charset="-122"/>
              </a:rPr>
              <a:t>在普通扩散过程中存储几个中间状态。</a:t>
            </a:r>
          </a:p>
          <a:p>
            <a:pPr algn="just"/>
            <a:r>
              <a:rPr lang="zh-CN" altLang="en-US" b="0" i="0" dirty="0">
                <a:solidFill>
                  <a:srgbClr val="000000"/>
                </a:solidFill>
                <a:effectLst/>
                <a:latin typeface="微软雅黑" panose="020B0503020204020204" pitchFamily="34" charset="-122"/>
                <a:ea typeface="微软雅黑" panose="020B0503020204020204" pitchFamily="34" charset="-122"/>
              </a:rPr>
              <a:t>对于匹配提示符</a:t>
            </a:r>
            <a:r>
              <a:rPr lang="en-US" altLang="zh-CN" b="0" i="0" dirty="0" err="1">
                <a:solidFill>
                  <a:srgbClr val="000000"/>
                </a:solidFill>
                <a:effectLst/>
                <a:latin typeface="微软雅黑" panose="020B0503020204020204" pitchFamily="34" charset="-122"/>
                <a:ea typeface="微软雅黑" panose="020B0503020204020204" pitchFamily="34" charset="-122"/>
              </a:rPr>
              <a:t>ec</a:t>
            </a:r>
            <a:r>
              <a:rPr lang="zh-CN" altLang="en-US" b="0" i="0" dirty="0">
                <a:solidFill>
                  <a:srgbClr val="000000"/>
                </a:solidFill>
                <a:effectLst/>
                <a:latin typeface="微软雅黑" panose="020B0503020204020204" pitchFamily="34" charset="-122"/>
                <a:ea typeface="微软雅黑" panose="020B0503020204020204" pitchFamily="34" charset="-122"/>
              </a:rPr>
              <a:t>的这些中间状态中，哪一个对于新的提示向量</a:t>
            </a:r>
            <a:r>
              <a:rPr lang="en-US" altLang="zh-CN" b="0" i="0" dirty="0">
                <a:solidFill>
                  <a:srgbClr val="000000"/>
                </a:solidFill>
                <a:effectLst/>
                <a:latin typeface="微软雅黑" panose="020B0503020204020204" pitchFamily="34" charset="-122"/>
                <a:ea typeface="微软雅黑" panose="020B0503020204020204" pitchFamily="34" charset="-122"/>
              </a:rPr>
              <a:t>ep</a:t>
            </a:r>
            <a:r>
              <a:rPr lang="zh-CN" altLang="en-US" b="0" i="0" dirty="0">
                <a:solidFill>
                  <a:srgbClr val="000000"/>
                </a:solidFill>
                <a:effectLst/>
                <a:latin typeface="微软雅黑" panose="020B0503020204020204" pitchFamily="34" charset="-122"/>
                <a:ea typeface="微软雅黑" panose="020B0503020204020204" pitchFamily="34" charset="-122"/>
              </a:rPr>
              <a:t>是最优的，由缓存选择器模块</a:t>
            </a:r>
            <a:r>
              <a:rPr lang="en-US" altLang="zh-CN" b="0" i="0" dirty="0">
                <a:solidFill>
                  <a:srgbClr val="000000"/>
                </a:solidFill>
                <a:effectLst/>
                <a:latin typeface="微软雅黑" panose="020B0503020204020204" pitchFamily="34" charset="-122"/>
                <a:ea typeface="微软雅黑" panose="020B0503020204020204" pitchFamily="34" charset="-122"/>
              </a:rPr>
              <a:t>D</a:t>
            </a:r>
            <a:r>
              <a:rPr lang="zh-CN" altLang="en-US" b="0" i="0" dirty="0">
                <a:solidFill>
                  <a:srgbClr val="000000"/>
                </a:solidFill>
                <a:effectLst/>
                <a:latin typeface="微软雅黑" panose="020B0503020204020204" pitchFamily="34" charset="-122"/>
                <a:ea typeface="微软雅黑" panose="020B0503020204020204" pitchFamily="34" charset="-122"/>
              </a:rPr>
              <a:t>使用启发式方法计算。</a:t>
            </a:r>
          </a:p>
          <a:p>
            <a:pPr algn="just"/>
            <a:r>
              <a:rPr lang="zh-CN" altLang="en-US" b="0" i="0" dirty="0">
                <a:solidFill>
                  <a:srgbClr val="000000"/>
                </a:solidFill>
                <a:effectLst/>
                <a:latin typeface="微软雅黑" panose="020B0503020204020204" pitchFamily="34" charset="-122"/>
                <a:ea typeface="微软雅黑" panose="020B0503020204020204" pitchFamily="34" charset="-122"/>
              </a:rPr>
              <a:t>然后，使用</a:t>
            </a:r>
            <a:r>
              <a:rPr lang="en-US" altLang="zh-CN" b="0" i="0" dirty="0">
                <a:solidFill>
                  <a:srgbClr val="000000"/>
                </a:solidFill>
                <a:effectLst/>
                <a:latin typeface="微软雅黑" panose="020B0503020204020204" pitchFamily="34" charset="-122"/>
                <a:ea typeface="微软雅黑" panose="020B0503020204020204" pitchFamily="34" charset="-122"/>
              </a:rPr>
              <a:t>VDB</a:t>
            </a:r>
            <a:r>
              <a:rPr lang="zh-CN" altLang="en-US" b="0" i="0" dirty="0">
                <a:solidFill>
                  <a:srgbClr val="000000"/>
                </a:solidFill>
                <a:effectLst/>
                <a:latin typeface="微软雅黑" panose="020B0503020204020204" pitchFamily="34" charset="-122"/>
                <a:ea typeface="微软雅黑" panose="020B0503020204020204" pitchFamily="34" charset="-122"/>
              </a:rPr>
              <a:t>查询的搜索结果所指向的存储位置指针和</a:t>
            </a:r>
            <a:r>
              <a:rPr lang="en-US" altLang="zh-CN" b="0" i="0" dirty="0">
                <a:solidFill>
                  <a:srgbClr val="000000"/>
                </a:solidFill>
                <a:effectLst/>
                <a:latin typeface="微软雅黑" panose="020B0503020204020204" pitchFamily="34" charset="-122"/>
                <a:ea typeface="微软雅黑" panose="020B0503020204020204" pitchFamily="34" charset="-122"/>
              </a:rPr>
              <a:t>cache-selector</a:t>
            </a:r>
            <a:r>
              <a:rPr lang="zh-CN" altLang="en-US" b="0" i="0" dirty="0">
                <a:solidFill>
                  <a:srgbClr val="000000"/>
                </a:solidFill>
                <a:effectLst/>
                <a:latin typeface="微软雅黑" panose="020B0503020204020204" pitchFamily="34" charset="-122"/>
                <a:ea typeface="微软雅黑" panose="020B0503020204020204" pitchFamily="34" charset="-122"/>
              </a:rPr>
              <a:t>模块计算出的特定中间状态编号（即</a:t>
            </a:r>
            <a:r>
              <a:rPr lang="en-US" altLang="zh-CN" b="0" i="0" dirty="0">
                <a:solidFill>
                  <a:srgbClr val="000000"/>
                </a:solidFill>
                <a:effectLst/>
                <a:latin typeface="微软雅黑" panose="020B0503020204020204" pitchFamily="34" charset="-122"/>
                <a:ea typeface="微软雅黑" panose="020B0503020204020204" pitchFamily="34" charset="-122"/>
              </a:rPr>
              <a:t>K</a:t>
            </a:r>
            <a:r>
              <a:rPr lang="zh-CN" altLang="en-US" b="0" i="0" dirty="0">
                <a:solidFill>
                  <a:srgbClr val="000000"/>
                </a:solidFill>
                <a:effectLst/>
                <a:latin typeface="微软雅黑" panose="020B0503020204020204" pitchFamily="34" charset="-122"/>
                <a:ea typeface="微软雅黑" panose="020B0503020204020204" pitchFamily="34" charset="-122"/>
              </a:rPr>
              <a:t>），从存储器</a:t>
            </a:r>
            <a:r>
              <a:rPr lang="en-US" altLang="zh-CN" b="0" i="0" dirty="0">
                <a:solidFill>
                  <a:srgbClr val="000000"/>
                </a:solidFill>
                <a:effectLst/>
                <a:latin typeface="微软雅黑" panose="020B0503020204020204" pitchFamily="34" charset="-122"/>
                <a:ea typeface="微软雅黑" panose="020B0503020204020204" pitchFamily="34" charset="-122"/>
              </a:rPr>
              <a:t>E</a:t>
            </a:r>
            <a:r>
              <a:rPr lang="zh-CN" altLang="en-US" b="0" i="0" dirty="0">
                <a:solidFill>
                  <a:srgbClr val="000000"/>
                </a:solidFill>
                <a:effectLst/>
                <a:latin typeface="微软雅黑" panose="020B0503020204020204" pitchFamily="34" charset="-122"/>
                <a:ea typeface="微软雅黑" panose="020B0503020204020204" pitchFamily="34" charset="-122"/>
              </a:rPr>
              <a:t>（即</a:t>
            </a:r>
            <a:r>
              <a:rPr lang="en-US" altLang="zh-CN" b="0" i="0" dirty="0">
                <a:solidFill>
                  <a:srgbClr val="000000"/>
                </a:solidFill>
                <a:effectLst/>
                <a:latin typeface="微软雅黑" panose="020B0503020204020204" pitchFamily="34" charset="-122"/>
                <a:ea typeface="微软雅黑" panose="020B0503020204020204" pitchFamily="34" charset="-122"/>
              </a:rPr>
              <a:t>NIRVANA</a:t>
            </a:r>
            <a:r>
              <a:rPr lang="zh-CN" altLang="en-US" b="0" i="0" dirty="0">
                <a:solidFill>
                  <a:srgbClr val="000000"/>
                </a:solidFill>
                <a:effectLst/>
                <a:latin typeface="微软雅黑" panose="020B0503020204020204" pitchFamily="34" charset="-122"/>
                <a:ea typeface="微软雅黑" panose="020B0503020204020204" pitchFamily="34" charset="-122"/>
              </a:rPr>
              <a:t>的弹性文件系统）中检索到这个特定的中间状态。中间状态</a:t>
            </a:r>
            <a:r>
              <a:rPr lang="en-US" altLang="zh-CN" b="0" i="0" dirty="0" err="1">
                <a:solidFill>
                  <a:srgbClr val="000000"/>
                </a:solidFill>
                <a:effectLst/>
                <a:latin typeface="微软雅黑" panose="020B0503020204020204" pitchFamily="34" charset="-122"/>
                <a:ea typeface="微软雅黑" panose="020B0503020204020204" pitchFamily="34" charset="-122"/>
              </a:rPr>
              <a:t>IcK</a:t>
            </a:r>
            <a:r>
              <a:rPr lang="zh-CN" altLang="en-US" b="0" i="0" dirty="0">
                <a:solidFill>
                  <a:srgbClr val="000000"/>
                </a:solidFill>
                <a:effectLst/>
                <a:latin typeface="微软雅黑" panose="020B0503020204020204" pitchFamily="34" charset="-122"/>
                <a:ea typeface="微软雅黑" panose="020B0503020204020204" pitchFamily="34" charset="-122"/>
              </a:rPr>
              <a:t>是在</a:t>
            </a:r>
            <a:r>
              <a:rPr lang="en-US" altLang="zh-CN" b="0" i="0" dirty="0" err="1">
                <a:solidFill>
                  <a:srgbClr val="000000"/>
                </a:solidFill>
                <a:effectLst/>
                <a:latin typeface="微软雅黑" panose="020B0503020204020204" pitchFamily="34" charset="-122"/>
                <a:ea typeface="微软雅黑" panose="020B0503020204020204" pitchFamily="34" charset="-122"/>
              </a:rPr>
              <a:t>ec</a:t>
            </a:r>
            <a:r>
              <a:rPr lang="zh-CN" altLang="en-US" b="0" i="0" dirty="0">
                <a:solidFill>
                  <a:srgbClr val="000000"/>
                </a:solidFill>
                <a:effectLst/>
                <a:latin typeface="微软雅黑" panose="020B0503020204020204" pitchFamily="34" charset="-122"/>
                <a:ea typeface="微软雅黑" panose="020B0503020204020204" pitchFamily="34" charset="-122"/>
              </a:rPr>
              <a:t>的去噪过程中捕获的潜在表示。最后，这个检索到的中间状态</a:t>
            </a:r>
            <a:r>
              <a:rPr lang="en-US" altLang="zh-CN" b="0" i="0" dirty="0">
                <a:solidFill>
                  <a:srgbClr val="000000"/>
                </a:solidFill>
                <a:effectLst/>
                <a:latin typeface="微软雅黑" panose="020B0503020204020204" pitchFamily="34" charset="-122"/>
                <a:ea typeface="微软雅黑" panose="020B0503020204020204" pitchFamily="34" charset="-122"/>
              </a:rPr>
              <a:t>I c K</a:t>
            </a:r>
            <a:r>
              <a:rPr lang="zh-CN" altLang="en-US" b="0" i="0" dirty="0">
                <a:solidFill>
                  <a:srgbClr val="000000"/>
                </a:solidFill>
                <a:effectLst/>
                <a:latin typeface="微软雅黑" panose="020B0503020204020204" pitchFamily="34" charset="-122"/>
                <a:ea typeface="微软雅黑" panose="020B0503020204020204" pitchFamily="34" charset="-122"/>
              </a:rPr>
              <a:t>与</a:t>
            </a:r>
            <a:r>
              <a:rPr lang="en-US" altLang="zh-CN" b="0" i="0" dirty="0">
                <a:solidFill>
                  <a:srgbClr val="000000"/>
                </a:solidFill>
                <a:effectLst/>
                <a:latin typeface="微软雅黑" panose="020B0503020204020204" pitchFamily="34" charset="-122"/>
                <a:ea typeface="微软雅黑" panose="020B0503020204020204" pitchFamily="34" charset="-122"/>
              </a:rPr>
              <a:t>ep</a:t>
            </a:r>
            <a:r>
              <a:rPr lang="zh-CN" altLang="en-US" b="0" i="0" dirty="0">
                <a:solidFill>
                  <a:srgbClr val="000000"/>
                </a:solidFill>
                <a:effectLst/>
                <a:latin typeface="微软雅黑" panose="020B0503020204020204" pitchFamily="34" charset="-122"/>
                <a:ea typeface="微软雅黑" panose="020B0503020204020204" pitchFamily="34" charset="-122"/>
              </a:rPr>
              <a:t>一起传递给扩散模型</a:t>
            </a:r>
            <a:r>
              <a:rPr lang="en-US" altLang="zh-CN" b="0" i="0" dirty="0">
                <a:solidFill>
                  <a:srgbClr val="000000"/>
                </a:solidFill>
                <a:effectLst/>
                <a:latin typeface="微软雅黑" panose="020B0503020204020204" pitchFamily="34" charset="-122"/>
                <a:ea typeface="微软雅黑" panose="020B0503020204020204" pitchFamily="34" charset="-122"/>
              </a:rPr>
              <a:t>F</a:t>
            </a:r>
            <a:r>
              <a:rPr lang="zh-CN" altLang="en-US" b="0" i="0" dirty="0">
                <a:solidFill>
                  <a:srgbClr val="000000"/>
                </a:solidFill>
                <a:effectLst/>
                <a:latin typeface="微软雅黑" panose="020B0503020204020204" pitchFamily="34" charset="-122"/>
                <a:ea typeface="微软雅黑" panose="020B0503020204020204" pitchFamily="34" charset="-122"/>
              </a:rPr>
              <a:t>，以便对其进行修复，用剩余的去噪步骤生成图像。然而，在两种情况下，</a:t>
            </a:r>
            <a:r>
              <a:rPr lang="en-US" altLang="zh-CN" b="0" i="0" dirty="0">
                <a:solidFill>
                  <a:srgbClr val="000000"/>
                </a:solidFill>
                <a:effectLst/>
                <a:latin typeface="微软雅黑" panose="020B0503020204020204" pitchFamily="34" charset="-122"/>
                <a:ea typeface="微软雅黑" panose="020B0503020204020204" pitchFamily="34" charset="-122"/>
              </a:rPr>
              <a:t>NIRVANA</a:t>
            </a:r>
            <a:r>
              <a:rPr lang="zh-CN" altLang="en-US" b="0" i="0" dirty="0">
                <a:solidFill>
                  <a:srgbClr val="000000"/>
                </a:solidFill>
                <a:effectLst/>
                <a:latin typeface="微软雅黑" panose="020B0503020204020204" pitchFamily="34" charset="-122"/>
                <a:ea typeface="微软雅黑" panose="020B0503020204020204" pitchFamily="34" charset="-122"/>
              </a:rPr>
              <a:t>会直接返回到普通扩散模型来从头开始生成图像，从而牺牲任何优化：</a:t>
            </a:r>
            <a:r>
              <a:rPr lang="en-US" altLang="zh-CN" b="0" i="0" dirty="0">
                <a:solidFill>
                  <a:srgbClr val="000000"/>
                </a:solidFill>
                <a:effectLst/>
                <a:latin typeface="微软雅黑" panose="020B0503020204020204" pitchFamily="34" charset="-122"/>
                <a:ea typeface="微软雅黑" panose="020B0503020204020204" pitchFamily="34" charset="-122"/>
              </a:rPr>
              <a:t>(</a:t>
            </a:r>
            <a:r>
              <a:rPr lang="en-US" altLang="zh-CN" b="0" i="0" dirty="0" err="1">
                <a:solidFill>
                  <a:srgbClr val="000000"/>
                </a:solidFill>
                <a:effectLst/>
                <a:latin typeface="微软雅黑" panose="020B0503020204020204" pitchFamily="34" charset="-122"/>
                <a:ea typeface="微软雅黑" panose="020B0503020204020204" pitchFamily="34" charset="-122"/>
              </a:rPr>
              <a:t>i</a:t>
            </a:r>
            <a:r>
              <a:rPr lang="en-US" altLang="zh-CN" b="0" i="0" dirty="0">
                <a:solidFill>
                  <a:srgbClr val="000000"/>
                </a:solidFill>
                <a:effectLst/>
                <a:latin typeface="微软雅黑" panose="020B0503020204020204" pitchFamily="34" charset="-122"/>
                <a:ea typeface="微软雅黑" panose="020B0503020204020204" pitchFamily="34" charset="-122"/>
              </a:rPr>
              <a:t>)</a:t>
            </a:r>
            <a:r>
              <a:rPr lang="zh-CN" altLang="en-US" b="0" i="0" dirty="0">
                <a:solidFill>
                  <a:srgbClr val="000000"/>
                </a:solidFill>
                <a:effectLst/>
                <a:latin typeface="微软雅黑" panose="020B0503020204020204" pitchFamily="34" charset="-122"/>
                <a:ea typeface="微软雅黑" panose="020B0503020204020204" pitchFamily="34" charset="-122"/>
              </a:rPr>
              <a:t>当</a:t>
            </a:r>
            <a:r>
              <a:rPr lang="en-US" altLang="zh-CN" b="0" i="0" dirty="0">
                <a:solidFill>
                  <a:srgbClr val="000000"/>
                </a:solidFill>
                <a:effectLst/>
                <a:latin typeface="微软雅黑" panose="020B0503020204020204" pitchFamily="34" charset="-122"/>
                <a:ea typeface="微软雅黑" panose="020B0503020204020204" pitchFamily="34" charset="-122"/>
              </a:rPr>
              <a:t>match-predictor</a:t>
            </a:r>
            <a:r>
              <a:rPr lang="zh-CN" altLang="en-US" b="0" i="0" dirty="0">
                <a:solidFill>
                  <a:srgbClr val="000000"/>
                </a:solidFill>
                <a:effectLst/>
                <a:latin typeface="微软雅黑" panose="020B0503020204020204" pitchFamily="34" charset="-122"/>
                <a:ea typeface="微软雅黑" panose="020B0503020204020204" pitchFamily="34" charset="-122"/>
              </a:rPr>
              <a:t>模块预测</a:t>
            </a:r>
            <a:r>
              <a:rPr lang="en-US" altLang="zh-CN" b="0" i="0" dirty="0">
                <a:solidFill>
                  <a:srgbClr val="000000"/>
                </a:solidFill>
                <a:effectLst/>
                <a:latin typeface="微软雅黑" panose="020B0503020204020204" pitchFamily="34" charset="-122"/>
                <a:ea typeface="微软雅黑" panose="020B0503020204020204" pitchFamily="34" charset="-122"/>
              </a:rPr>
              <a:t>VDB</a:t>
            </a:r>
            <a:r>
              <a:rPr lang="zh-CN" altLang="en-US" b="0" i="0" dirty="0">
                <a:solidFill>
                  <a:srgbClr val="000000"/>
                </a:solidFill>
                <a:effectLst/>
                <a:latin typeface="微软雅黑" panose="020B0503020204020204" pitchFamily="34" charset="-122"/>
                <a:ea typeface="微软雅黑" panose="020B0503020204020204" pitchFamily="34" charset="-122"/>
              </a:rPr>
              <a:t>中不太可能有接近的条目时（箭头</a:t>
            </a:r>
            <a:r>
              <a:rPr lang="en-US" altLang="zh-CN" b="0" i="0" dirty="0">
                <a:solidFill>
                  <a:srgbClr val="000000"/>
                </a:solidFill>
                <a:effectLst/>
                <a:latin typeface="微软雅黑" panose="020B0503020204020204" pitchFamily="34" charset="-122"/>
                <a:ea typeface="微软雅黑" panose="020B0503020204020204" pitchFamily="34" charset="-122"/>
              </a:rPr>
              <a:t>1</a:t>
            </a:r>
            <a:r>
              <a:rPr lang="zh-CN" altLang="en-US" b="0" i="0" dirty="0">
                <a:solidFill>
                  <a:srgbClr val="000000"/>
                </a:solidFill>
                <a:effectLst/>
                <a:latin typeface="微软雅黑" panose="020B0503020204020204" pitchFamily="34" charset="-122"/>
                <a:ea typeface="微软雅黑" panose="020B0503020204020204" pitchFamily="34" charset="-122"/>
              </a:rPr>
              <a:t>），以及（</a:t>
            </a:r>
            <a:r>
              <a:rPr lang="en-US" altLang="zh-CN" b="0" i="0" dirty="0">
                <a:solidFill>
                  <a:srgbClr val="000000"/>
                </a:solidFill>
                <a:effectLst/>
                <a:latin typeface="微软雅黑" panose="020B0503020204020204" pitchFamily="34" charset="-122"/>
                <a:ea typeface="微软雅黑" panose="020B0503020204020204" pitchFamily="34" charset="-122"/>
              </a:rPr>
              <a:t>ii</a:t>
            </a:r>
            <a:r>
              <a:rPr lang="zh-CN" altLang="en-US" b="0" i="0" dirty="0">
                <a:solidFill>
                  <a:srgbClr val="000000"/>
                </a:solidFill>
                <a:effectLst/>
                <a:latin typeface="微软雅黑" panose="020B0503020204020204" pitchFamily="34" charset="-122"/>
                <a:ea typeface="微软雅黑" panose="020B0503020204020204" pitchFamily="34" charset="-122"/>
              </a:rPr>
              <a:t>）当</a:t>
            </a:r>
            <a:r>
              <a:rPr lang="en-US" altLang="zh-CN" b="0" i="0" dirty="0">
                <a:solidFill>
                  <a:srgbClr val="000000"/>
                </a:solidFill>
                <a:effectLst/>
                <a:latin typeface="微软雅黑" panose="020B0503020204020204" pitchFamily="34" charset="-122"/>
                <a:ea typeface="微软雅黑" panose="020B0503020204020204" pitchFamily="34" charset="-122"/>
              </a:rPr>
              <a:t>VDB</a:t>
            </a:r>
            <a:r>
              <a:rPr lang="zh-CN" altLang="en-US" b="0" i="0" dirty="0">
                <a:solidFill>
                  <a:srgbClr val="000000"/>
                </a:solidFill>
                <a:effectLst/>
                <a:latin typeface="微软雅黑" panose="020B0503020204020204" pitchFamily="34" charset="-122"/>
                <a:ea typeface="微软雅黑" panose="020B0503020204020204" pitchFamily="34" charset="-122"/>
              </a:rPr>
              <a:t>查询返回与</a:t>
            </a:r>
            <a:r>
              <a:rPr lang="en-US" altLang="zh-CN" b="0" i="0" dirty="0">
                <a:solidFill>
                  <a:srgbClr val="000000"/>
                </a:solidFill>
                <a:effectLst/>
                <a:latin typeface="微软雅黑" panose="020B0503020204020204" pitchFamily="34" charset="-122"/>
                <a:ea typeface="微软雅黑" panose="020B0503020204020204" pitchFamily="34" charset="-122"/>
              </a:rPr>
              <a:t>ep</a:t>
            </a:r>
            <a:r>
              <a:rPr lang="zh-CN" altLang="en-US" b="0" i="0" dirty="0">
                <a:solidFill>
                  <a:srgbClr val="000000"/>
                </a:solidFill>
                <a:effectLst/>
                <a:latin typeface="微软雅黑" panose="020B0503020204020204" pitchFamily="34" charset="-122"/>
                <a:ea typeface="微软雅黑" panose="020B0503020204020204" pitchFamily="34" charset="-122"/>
              </a:rPr>
              <a:t>非常不同的匹配</a:t>
            </a:r>
            <a:r>
              <a:rPr lang="en-US" altLang="zh-CN" b="0" i="0" dirty="0" err="1">
                <a:solidFill>
                  <a:srgbClr val="000000"/>
                </a:solidFill>
                <a:effectLst/>
                <a:latin typeface="微软雅黑" panose="020B0503020204020204" pitchFamily="34" charset="-122"/>
                <a:ea typeface="微软雅黑" panose="020B0503020204020204" pitchFamily="34" charset="-122"/>
              </a:rPr>
              <a:t>ec</a:t>
            </a:r>
            <a:r>
              <a:rPr lang="zh-CN" altLang="en-US" b="0" i="0" dirty="0">
                <a:solidFill>
                  <a:srgbClr val="000000"/>
                </a:solidFill>
                <a:effectLst/>
                <a:latin typeface="微软雅黑" panose="020B0503020204020204" pitchFamily="34" charset="-122"/>
                <a:ea typeface="微软雅黑" panose="020B0503020204020204" pitchFamily="34" charset="-122"/>
              </a:rPr>
              <a:t>时（箭头</a:t>
            </a:r>
            <a:r>
              <a:rPr lang="en-US" altLang="zh-CN" b="0" i="0" dirty="0">
                <a:solidFill>
                  <a:srgbClr val="000000"/>
                </a:solidFill>
                <a:effectLst/>
                <a:latin typeface="微软雅黑" panose="020B0503020204020204" pitchFamily="34" charset="-122"/>
                <a:ea typeface="微软雅黑" panose="020B0503020204020204" pitchFamily="34" charset="-122"/>
              </a:rPr>
              <a:t>2</a:t>
            </a:r>
            <a:r>
              <a:rPr lang="zh-CN" altLang="en-US" b="0" i="0" dirty="0">
                <a:solidFill>
                  <a:srgbClr val="000000"/>
                </a:solidFill>
                <a:effectLst/>
                <a:latin typeface="微软雅黑" panose="020B0503020204020204" pitchFamily="34" charset="-122"/>
                <a:ea typeface="微软雅黑" panose="020B0503020204020204" pitchFamily="34" charset="-122"/>
              </a:rPr>
              <a:t>）。</a:t>
            </a:r>
          </a:p>
          <a:p>
            <a:pPr algn="just"/>
            <a:r>
              <a:rPr lang="zh-CN" altLang="en-US" b="0" i="0" dirty="0">
                <a:solidFill>
                  <a:srgbClr val="000000"/>
                </a:solidFill>
                <a:effectLst/>
                <a:latin typeface="微软雅黑" panose="020B0503020204020204" pitchFamily="34" charset="-122"/>
                <a:ea typeface="微软雅黑" panose="020B0503020204020204" pitchFamily="34" charset="-122"/>
              </a:rPr>
              <a:t>为了在固定大小的存储下维护缓存，防止</a:t>
            </a:r>
            <a:r>
              <a:rPr lang="en-US" altLang="zh-CN" b="0" i="0" dirty="0">
                <a:solidFill>
                  <a:srgbClr val="000000"/>
                </a:solidFill>
                <a:effectLst/>
                <a:latin typeface="微软雅黑" panose="020B0503020204020204" pitchFamily="34" charset="-122"/>
                <a:ea typeface="微软雅黑" panose="020B0503020204020204" pitchFamily="34" charset="-122"/>
              </a:rPr>
              <a:t>VDB</a:t>
            </a:r>
            <a:r>
              <a:rPr lang="zh-CN" altLang="en-US" b="0" i="0" dirty="0">
                <a:solidFill>
                  <a:srgbClr val="000000"/>
                </a:solidFill>
                <a:effectLst/>
                <a:latin typeface="微软雅黑" panose="020B0503020204020204" pitchFamily="34" charset="-122"/>
                <a:ea typeface="微软雅黑" panose="020B0503020204020204" pitchFamily="34" charset="-122"/>
              </a:rPr>
              <a:t>任意增长并继续存储过时的条目，缓存维护模块</a:t>
            </a:r>
            <a:r>
              <a:rPr lang="en-US" altLang="zh-CN" b="0" i="0" dirty="0">
                <a:solidFill>
                  <a:srgbClr val="000000"/>
                </a:solidFill>
                <a:effectLst/>
                <a:latin typeface="微软雅黑" panose="020B0503020204020204" pitchFamily="34" charset="-122"/>
                <a:ea typeface="微软雅黑" panose="020B0503020204020204" pitchFamily="34" charset="-122"/>
              </a:rPr>
              <a:t>G</a:t>
            </a:r>
            <a:r>
              <a:rPr lang="zh-CN" altLang="en-US" b="0" i="0" dirty="0">
                <a:solidFill>
                  <a:srgbClr val="000000"/>
                </a:solidFill>
                <a:effectLst/>
                <a:latin typeface="微软雅黑" panose="020B0503020204020204" pitchFamily="34" charset="-122"/>
                <a:ea typeface="微软雅黑" panose="020B0503020204020204" pitchFamily="34" charset="-122"/>
              </a:rPr>
              <a:t>在脱机模式下工作，并实现了新的</a:t>
            </a:r>
            <a:r>
              <a:rPr lang="en-US" altLang="zh-CN" b="0" i="0" dirty="0">
                <a:solidFill>
                  <a:srgbClr val="000000"/>
                </a:solidFill>
                <a:effectLst/>
                <a:latin typeface="微软雅黑" panose="020B0503020204020204" pitchFamily="34" charset="-122"/>
                <a:ea typeface="微软雅黑" panose="020B0503020204020204" pitchFamily="34" charset="-122"/>
              </a:rPr>
              <a:t>LCBFU</a:t>
            </a:r>
            <a:r>
              <a:rPr lang="zh-CN" altLang="en-US" b="0" i="0" dirty="0">
                <a:solidFill>
                  <a:srgbClr val="000000"/>
                </a:solidFill>
                <a:effectLst/>
                <a:latin typeface="微软雅黑" panose="020B0503020204020204" pitchFamily="34" charset="-122"/>
                <a:ea typeface="微软雅黑" panose="020B0503020204020204" pitchFamily="34" charset="-122"/>
              </a:rPr>
              <a:t>协议，以保持缓存和</a:t>
            </a:r>
            <a:r>
              <a:rPr lang="en-US" altLang="zh-CN" b="0" i="0" dirty="0">
                <a:solidFill>
                  <a:srgbClr val="000000"/>
                </a:solidFill>
                <a:effectLst/>
                <a:latin typeface="微软雅黑" panose="020B0503020204020204" pitchFamily="34" charset="-122"/>
                <a:ea typeface="微软雅黑" panose="020B0503020204020204" pitchFamily="34" charset="-122"/>
              </a:rPr>
              <a:t>VDB</a:t>
            </a:r>
            <a:r>
              <a:rPr lang="zh-CN" altLang="en-US" b="0" i="0" dirty="0">
                <a:solidFill>
                  <a:srgbClr val="000000"/>
                </a:solidFill>
                <a:effectLst/>
                <a:latin typeface="微软雅黑" panose="020B0503020204020204" pitchFamily="34" charset="-122"/>
                <a:ea typeface="微软雅黑" panose="020B0503020204020204" pitchFamily="34" charset="-122"/>
              </a:rPr>
              <a:t>条目的新鲜度。</a:t>
            </a:r>
          </a:p>
          <a:p>
            <a:endParaRPr lang="zh-CN" altLang="en-US" dirty="0"/>
          </a:p>
        </p:txBody>
      </p:sp>
      <p:sp>
        <p:nvSpPr>
          <p:cNvPr id="4" name="灯片编号占位符 3"/>
          <p:cNvSpPr>
            <a:spLocks noGrp="1"/>
          </p:cNvSpPr>
          <p:nvPr>
            <p:ph type="sldNum" sz="quarter" idx="5"/>
          </p:nvPr>
        </p:nvSpPr>
        <p:spPr/>
        <p:txBody>
          <a:bodyPr/>
          <a:lstStyle/>
          <a:p>
            <a:fld id="{4319B138-A142-4EBE-801C-88E8015F9F28}" type="slidenum">
              <a:rPr lang="zh-CN" altLang="en-US" smtClean="0"/>
              <a:t>8</a:t>
            </a:fld>
            <a:endParaRPr lang="zh-CN" altLang="en-US"/>
          </a:p>
        </p:txBody>
      </p:sp>
    </p:spTree>
    <p:extLst>
      <p:ext uri="{BB962C8B-B14F-4D97-AF65-F5344CB8AC3E}">
        <p14:creationId xmlns:p14="http://schemas.microsoft.com/office/powerpoint/2010/main" val="80509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FID</a:t>
            </a:r>
            <a:r>
              <a:rPr lang="zh-CN" altLang="en-US" b="1" dirty="0"/>
              <a:t>（</a:t>
            </a:r>
            <a:r>
              <a:rPr lang="en-US" altLang="zh-CN" b="1" dirty="0"/>
              <a:t>Fréchet Inception Distance</a:t>
            </a:r>
            <a:r>
              <a:rPr lang="zh-CN" altLang="en-US" b="1" dirty="0"/>
              <a:t>，弗雷歇特初始距离）</a:t>
            </a:r>
          </a:p>
          <a:p>
            <a:pPr>
              <a:buFont typeface="Arial" panose="020B0604020202020204" pitchFamily="34" charset="0"/>
              <a:buChar char="•"/>
            </a:pPr>
            <a:r>
              <a:rPr lang="zh-CN" altLang="en-US" b="1" dirty="0"/>
              <a:t>含义</a:t>
            </a:r>
            <a:r>
              <a:rPr lang="zh-CN" altLang="en-US" dirty="0"/>
              <a:t>：</a:t>
            </a:r>
          </a:p>
          <a:p>
            <a:pPr marL="742950" lvl="1" indent="-285750">
              <a:buFont typeface="Arial" panose="020B0604020202020204" pitchFamily="34" charset="0"/>
              <a:buChar char="•"/>
            </a:pPr>
            <a:r>
              <a:rPr lang="zh-CN" altLang="en-US" dirty="0"/>
              <a:t>用于衡量生成图像分布与真实图像分布之间的差异。</a:t>
            </a:r>
          </a:p>
          <a:p>
            <a:pPr>
              <a:buFont typeface="Arial" panose="020B0604020202020204" pitchFamily="34" charset="0"/>
              <a:buChar char="•"/>
            </a:pPr>
            <a:r>
              <a:rPr lang="zh-CN" altLang="en-US" b="1" dirty="0"/>
              <a:t>特点</a:t>
            </a:r>
            <a:r>
              <a:rPr lang="zh-CN" altLang="en-US" dirty="0"/>
              <a:t>：</a:t>
            </a:r>
          </a:p>
          <a:p>
            <a:pPr marL="742950" lvl="1" indent="-285750">
              <a:buFont typeface="Arial" panose="020B0604020202020204" pitchFamily="34" charset="0"/>
              <a:buChar char="•"/>
            </a:pPr>
            <a:r>
              <a:rPr lang="zh-CN" altLang="en-US" dirty="0"/>
              <a:t>值越小，生成图像与真实图像的质量越接近。</a:t>
            </a:r>
          </a:p>
          <a:p>
            <a:pPr marL="742950" lvl="1" indent="-285750">
              <a:buFont typeface="Arial" panose="020B0604020202020204" pitchFamily="34" charset="0"/>
              <a:buChar char="•"/>
            </a:pPr>
            <a:r>
              <a:rPr lang="en-US" altLang="zh-CN" dirty="0"/>
              <a:t>FID </a:t>
            </a:r>
            <a:r>
              <a:rPr lang="zh-CN" altLang="en-US" dirty="0"/>
              <a:t>对生成图像的多样性和视觉质量都敏感。</a:t>
            </a:r>
          </a:p>
          <a:p>
            <a:pPr>
              <a:buFont typeface="Arial" panose="020B0604020202020204" pitchFamily="34" charset="0"/>
              <a:buChar char="•"/>
            </a:pPr>
            <a:r>
              <a:rPr lang="zh-CN" altLang="en-US" b="1" dirty="0"/>
              <a:t>目标</a:t>
            </a:r>
            <a:r>
              <a:rPr lang="zh-CN" altLang="en-US" dirty="0"/>
              <a:t>：</a:t>
            </a:r>
            <a:r>
              <a:rPr lang="en-US" altLang="zh-CN" b="1" dirty="0"/>
              <a:t>FID </a:t>
            </a:r>
            <a:r>
              <a:rPr lang="zh-CN" altLang="en-US" b="1" dirty="0"/>
              <a:t>越低越好</a:t>
            </a:r>
            <a:r>
              <a:rPr lang="zh-CN" altLang="en-US" dirty="0"/>
              <a:t>。</a:t>
            </a:r>
          </a:p>
          <a:p>
            <a:endParaRPr lang="en-US" altLang="zh-CN" dirty="0"/>
          </a:p>
          <a:p>
            <a:r>
              <a:rPr lang="en-US" altLang="zh-CN" b="1" dirty="0"/>
              <a:t>CLIP Score</a:t>
            </a:r>
          </a:p>
          <a:p>
            <a:pPr>
              <a:buFont typeface="Arial" panose="020B0604020202020204" pitchFamily="34" charset="0"/>
              <a:buChar char="•"/>
            </a:pPr>
            <a:r>
              <a:rPr lang="zh-CN" altLang="en-US" b="1" dirty="0"/>
              <a:t>含义</a:t>
            </a:r>
            <a:r>
              <a:rPr lang="zh-CN" altLang="en-US" dirty="0"/>
              <a:t>：</a:t>
            </a:r>
          </a:p>
          <a:p>
            <a:pPr marL="742950" lvl="1" indent="-285750">
              <a:buFont typeface="Arial" panose="020B0604020202020204" pitchFamily="34" charset="0"/>
              <a:buChar char="•"/>
            </a:pPr>
            <a:r>
              <a:rPr lang="zh-CN" altLang="en-US" dirty="0"/>
              <a:t>用于衡量生成图像与输入文本之间的语义一致性。</a:t>
            </a:r>
          </a:p>
          <a:p>
            <a:pPr>
              <a:buFont typeface="Arial" panose="020B0604020202020204" pitchFamily="34" charset="0"/>
              <a:buChar char="•"/>
            </a:pPr>
            <a:r>
              <a:rPr lang="zh-CN" altLang="en-US" b="1" dirty="0"/>
              <a:t>特点</a:t>
            </a:r>
            <a:r>
              <a:rPr lang="zh-CN" altLang="en-US" dirty="0"/>
              <a:t>：</a:t>
            </a:r>
          </a:p>
          <a:p>
            <a:pPr marL="742950" lvl="1" indent="-285750">
              <a:buFont typeface="Arial" panose="020B0604020202020204" pitchFamily="34" charset="0"/>
              <a:buChar char="•"/>
            </a:pPr>
            <a:r>
              <a:rPr lang="zh-CN" altLang="en-US" dirty="0"/>
              <a:t>值越高，表示生成图像与文本的语义匹配程度越高。</a:t>
            </a:r>
          </a:p>
          <a:p>
            <a:pPr>
              <a:buFont typeface="Arial" panose="020B0604020202020204" pitchFamily="34" charset="0"/>
              <a:buChar char="•"/>
            </a:pPr>
            <a:r>
              <a:rPr lang="zh-CN" altLang="en-US" b="1" dirty="0"/>
              <a:t>目标</a:t>
            </a:r>
            <a:r>
              <a:rPr lang="zh-CN" altLang="en-US" dirty="0"/>
              <a:t>：</a:t>
            </a:r>
            <a:r>
              <a:rPr lang="en-US" altLang="zh-CN" b="1" dirty="0"/>
              <a:t>CLIP Score </a:t>
            </a:r>
            <a:r>
              <a:rPr lang="zh-CN" altLang="en-US" b="1" dirty="0"/>
              <a:t>越高越好</a:t>
            </a:r>
            <a:r>
              <a:rPr lang="zh-CN" altLang="en-US" dirty="0"/>
              <a:t>。</a:t>
            </a:r>
          </a:p>
          <a:p>
            <a:endParaRPr lang="en-US" altLang="zh-CN" dirty="0"/>
          </a:p>
          <a:p>
            <a:r>
              <a:rPr lang="en-US" altLang="zh-CN" b="1" dirty="0" err="1"/>
              <a:t>PickScore</a:t>
            </a:r>
            <a:endParaRPr lang="en-US" altLang="zh-CN" b="1" dirty="0"/>
          </a:p>
          <a:p>
            <a:pPr>
              <a:buFont typeface="Arial" panose="020B0604020202020204" pitchFamily="34" charset="0"/>
              <a:buChar char="•"/>
            </a:pPr>
            <a:r>
              <a:rPr lang="zh-CN" altLang="en-US" b="1" dirty="0"/>
              <a:t>含义</a:t>
            </a:r>
            <a:r>
              <a:rPr lang="zh-CN" altLang="en-US" dirty="0"/>
              <a:t>：</a:t>
            </a:r>
          </a:p>
          <a:p>
            <a:pPr marL="742950" lvl="1" indent="-285750">
              <a:buFont typeface="Arial" panose="020B0604020202020204" pitchFamily="34" charset="0"/>
              <a:buChar char="•"/>
            </a:pPr>
            <a:r>
              <a:rPr lang="zh-CN" altLang="en-US" dirty="0"/>
              <a:t>一种新兴的评估指标，结合了图像质量和文本语义相关性。</a:t>
            </a:r>
          </a:p>
          <a:p>
            <a:pPr marL="742950" lvl="1" indent="-285750">
              <a:buFont typeface="Arial" panose="020B0604020202020204" pitchFamily="34" charset="0"/>
              <a:buChar char="•"/>
            </a:pPr>
            <a:r>
              <a:rPr lang="zh-CN" altLang="en-US" dirty="0"/>
              <a:t>由 </a:t>
            </a:r>
            <a:r>
              <a:rPr lang="en-US" altLang="zh-CN" dirty="0" err="1"/>
              <a:t>OpenAI</a:t>
            </a:r>
            <a:r>
              <a:rPr lang="en-US" altLang="zh-CN" dirty="0"/>
              <a:t> </a:t>
            </a:r>
            <a:r>
              <a:rPr lang="zh-CN" altLang="en-US" dirty="0"/>
              <a:t>或其他研究团队提出，用于更全面评估图像生成模型的效果。</a:t>
            </a:r>
          </a:p>
          <a:p>
            <a:pPr>
              <a:buFont typeface="Arial" panose="020B0604020202020204" pitchFamily="34" charset="0"/>
              <a:buChar char="•"/>
            </a:pPr>
            <a:r>
              <a:rPr lang="zh-CN" altLang="en-US" b="1" dirty="0"/>
              <a:t>目标</a:t>
            </a:r>
            <a:r>
              <a:rPr lang="zh-CN" altLang="en-US" dirty="0"/>
              <a:t>：</a:t>
            </a:r>
            <a:r>
              <a:rPr lang="en-US" altLang="zh-CN" b="1" dirty="0" err="1"/>
              <a:t>PickScore</a:t>
            </a:r>
            <a:r>
              <a:rPr lang="en-US" altLang="zh-CN" b="1" dirty="0"/>
              <a:t> </a:t>
            </a:r>
            <a:r>
              <a:rPr lang="zh-CN" altLang="en-US" b="1" dirty="0"/>
              <a:t>越高越好</a:t>
            </a:r>
            <a:r>
              <a:rPr lang="zh-CN" altLang="en-US" dirty="0"/>
              <a:t>。</a:t>
            </a:r>
          </a:p>
          <a:p>
            <a:endParaRPr lang="zh-CN" altLang="en-US" dirty="0"/>
          </a:p>
        </p:txBody>
      </p:sp>
      <p:sp>
        <p:nvSpPr>
          <p:cNvPr id="4" name="灯片编号占位符 3"/>
          <p:cNvSpPr>
            <a:spLocks noGrp="1"/>
          </p:cNvSpPr>
          <p:nvPr>
            <p:ph type="sldNum" sz="quarter" idx="5"/>
          </p:nvPr>
        </p:nvSpPr>
        <p:spPr/>
        <p:txBody>
          <a:bodyPr/>
          <a:lstStyle/>
          <a:p>
            <a:fld id="{4319B138-A142-4EBE-801C-88E8015F9F28}" type="slidenum">
              <a:rPr lang="zh-CN" altLang="en-US" smtClean="0"/>
              <a:t>11</a:t>
            </a:fld>
            <a:endParaRPr lang="zh-CN" altLang="en-US"/>
          </a:p>
        </p:txBody>
      </p:sp>
    </p:spTree>
    <p:extLst>
      <p:ext uri="{BB962C8B-B14F-4D97-AF65-F5344CB8AC3E}">
        <p14:creationId xmlns:p14="http://schemas.microsoft.com/office/powerpoint/2010/main" val="4167619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600" b="0" i="0">
                <a:solidFill>
                  <a:schemeClr val="tx1"/>
                </a:solidFill>
                <a:latin typeface="SimSun"/>
                <a:cs typeface="SimSu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Microsoft YaHei"/>
                <a:cs typeface="Microsoft YaHe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600" b="0" i="0">
                <a:solidFill>
                  <a:schemeClr val="tx1"/>
                </a:solidFill>
                <a:latin typeface="SimSun"/>
                <a:cs typeface="SimSun"/>
              </a:defRPr>
            </a:lvl1pPr>
          </a:lstStyle>
          <a:p>
            <a:endParaRPr/>
          </a:p>
        </p:txBody>
      </p:sp>
      <p:sp>
        <p:nvSpPr>
          <p:cNvPr id="3" name="Holder 3"/>
          <p:cNvSpPr>
            <a:spLocks noGrp="1"/>
          </p:cNvSpPr>
          <p:nvPr>
            <p:ph sz="half" idx="2"/>
          </p:nvPr>
        </p:nvSpPr>
        <p:spPr>
          <a:xfrm>
            <a:off x="1134262" y="1301915"/>
            <a:ext cx="4130040" cy="4304665"/>
          </a:xfrm>
          <a:prstGeom prst="rect">
            <a:avLst/>
          </a:prstGeom>
        </p:spPr>
        <p:txBody>
          <a:bodyPr wrap="square" lIns="0" tIns="0" rIns="0" bIns="0">
            <a:spAutoFit/>
          </a:bodyPr>
          <a:lstStyle>
            <a:lvl1pPr>
              <a:defRPr sz="1800" b="1" i="0">
                <a:solidFill>
                  <a:schemeClr val="tx1"/>
                </a:solidFill>
                <a:latin typeface="Microsoft YaHei"/>
                <a:cs typeface="Microsoft YaHei"/>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600" b="0" i="0">
                <a:solidFill>
                  <a:schemeClr val="tx1"/>
                </a:solidFill>
                <a:latin typeface="SimSun"/>
                <a:cs typeface="SimSu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285875"/>
            <a:ext cx="10001250" cy="2540"/>
          </a:xfrm>
          <a:custGeom>
            <a:avLst/>
            <a:gdLst/>
            <a:ahLst/>
            <a:cxnLst/>
            <a:rect l="l" t="t" r="r" b="b"/>
            <a:pathLst>
              <a:path w="10001250" h="2540">
                <a:moveTo>
                  <a:pt x="0" y="0"/>
                </a:moveTo>
                <a:lnTo>
                  <a:pt x="10001250" y="2032"/>
                </a:lnTo>
              </a:path>
            </a:pathLst>
          </a:custGeom>
          <a:ln w="38100">
            <a:solidFill>
              <a:srgbClr val="C00000"/>
            </a:solidFill>
          </a:ln>
        </p:spPr>
        <p:txBody>
          <a:bodyPr wrap="square" lIns="0" tIns="0" rIns="0" bIns="0" rtlCol="0"/>
          <a:lstStyle/>
          <a:p>
            <a:endParaRPr/>
          </a:p>
        </p:txBody>
      </p:sp>
      <p:sp>
        <p:nvSpPr>
          <p:cNvPr id="17" name="bg object 17"/>
          <p:cNvSpPr/>
          <p:nvPr/>
        </p:nvSpPr>
        <p:spPr>
          <a:xfrm>
            <a:off x="0" y="6143637"/>
            <a:ext cx="12192000" cy="1905"/>
          </a:xfrm>
          <a:custGeom>
            <a:avLst/>
            <a:gdLst/>
            <a:ahLst/>
            <a:cxnLst/>
            <a:rect l="l" t="t" r="r" b="b"/>
            <a:pathLst>
              <a:path w="12192000" h="1904">
                <a:moveTo>
                  <a:pt x="0" y="0"/>
                </a:moveTo>
                <a:lnTo>
                  <a:pt x="12192000" y="1587"/>
                </a:lnTo>
              </a:path>
            </a:pathLst>
          </a:custGeom>
          <a:ln w="57150">
            <a:solidFill>
              <a:srgbClr val="C00000"/>
            </a:solidFill>
          </a:ln>
        </p:spPr>
        <p:txBody>
          <a:bodyPr wrap="square" lIns="0" tIns="0" rIns="0" bIns="0" rtlCol="0"/>
          <a:lstStyle/>
          <a:p>
            <a:endParaRPr/>
          </a:p>
        </p:txBody>
      </p:sp>
      <p:pic>
        <p:nvPicPr>
          <p:cNvPr id="18" name="bg object 18"/>
          <p:cNvPicPr/>
          <p:nvPr/>
        </p:nvPicPr>
        <p:blipFill>
          <a:blip r:embed="rId7" cstate="print"/>
          <a:stretch>
            <a:fillRect/>
          </a:stretch>
        </p:blipFill>
        <p:spPr>
          <a:xfrm>
            <a:off x="10488548" y="50673"/>
            <a:ext cx="1513077" cy="1500124"/>
          </a:xfrm>
          <a:prstGeom prst="rect">
            <a:avLst/>
          </a:prstGeom>
        </p:spPr>
      </p:pic>
      <p:sp>
        <p:nvSpPr>
          <p:cNvPr id="2" name="Holder 2"/>
          <p:cNvSpPr>
            <a:spLocks noGrp="1"/>
          </p:cNvSpPr>
          <p:nvPr>
            <p:ph type="title"/>
          </p:nvPr>
        </p:nvSpPr>
        <p:spPr>
          <a:xfrm>
            <a:off x="3643883" y="2622880"/>
            <a:ext cx="4904232" cy="1489075"/>
          </a:xfrm>
          <a:prstGeom prst="rect">
            <a:avLst/>
          </a:prstGeom>
        </p:spPr>
        <p:txBody>
          <a:bodyPr wrap="square" lIns="0" tIns="0" rIns="0" bIns="0">
            <a:spAutoFit/>
          </a:bodyPr>
          <a:lstStyle>
            <a:lvl1pPr>
              <a:defRPr sz="9600" b="0" i="0">
                <a:solidFill>
                  <a:schemeClr val="tx1"/>
                </a:solidFill>
                <a:latin typeface="SimSun"/>
                <a:cs typeface="SimSun"/>
              </a:defRPr>
            </a:lvl1pPr>
          </a:lstStyle>
          <a:p>
            <a:endParaRPr/>
          </a:p>
        </p:txBody>
      </p:sp>
      <p:sp>
        <p:nvSpPr>
          <p:cNvPr id="3" name="Holder 3"/>
          <p:cNvSpPr>
            <a:spLocks noGrp="1"/>
          </p:cNvSpPr>
          <p:nvPr>
            <p:ph type="body" idx="1"/>
          </p:nvPr>
        </p:nvSpPr>
        <p:spPr>
          <a:xfrm>
            <a:off x="651154" y="2504008"/>
            <a:ext cx="10889691" cy="1754504"/>
          </a:xfrm>
          <a:prstGeom prst="rect">
            <a:avLst/>
          </a:prstGeom>
        </p:spPr>
        <p:txBody>
          <a:bodyPr wrap="square" lIns="0" tIns="0" rIns="0" bIns="0">
            <a:spAutoFit/>
          </a:bodyPr>
          <a:lstStyle>
            <a:lvl1pPr>
              <a:defRPr sz="1800" b="0" i="0">
                <a:solidFill>
                  <a:schemeClr val="tx1"/>
                </a:solidFill>
                <a:latin typeface="Microsoft YaHei"/>
                <a:cs typeface="Microsoft YaHe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12/8/2024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5.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5.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285875"/>
            <a:ext cx="10001250" cy="2540"/>
          </a:xfrm>
          <a:custGeom>
            <a:avLst/>
            <a:gdLst/>
            <a:ahLst/>
            <a:cxnLst/>
            <a:rect l="l" t="t" r="r" b="b"/>
            <a:pathLst>
              <a:path w="10001250" h="2540">
                <a:moveTo>
                  <a:pt x="0" y="0"/>
                </a:moveTo>
                <a:lnTo>
                  <a:pt x="10001250" y="2032"/>
                </a:lnTo>
              </a:path>
            </a:pathLst>
          </a:custGeom>
          <a:ln w="38100">
            <a:solidFill>
              <a:srgbClr val="C00000"/>
            </a:solidFill>
          </a:ln>
        </p:spPr>
        <p:txBody>
          <a:bodyPr wrap="square" lIns="0" tIns="0" rIns="0" bIns="0" rtlCol="0"/>
          <a:lstStyle/>
          <a:p>
            <a:endParaRPr/>
          </a:p>
        </p:txBody>
      </p:sp>
      <p:sp>
        <p:nvSpPr>
          <p:cNvPr id="3" name="object 3"/>
          <p:cNvSpPr/>
          <p:nvPr/>
        </p:nvSpPr>
        <p:spPr>
          <a:xfrm>
            <a:off x="0" y="6143637"/>
            <a:ext cx="12192000" cy="1905"/>
          </a:xfrm>
          <a:custGeom>
            <a:avLst/>
            <a:gdLst/>
            <a:ahLst/>
            <a:cxnLst/>
            <a:rect l="l" t="t" r="r" b="b"/>
            <a:pathLst>
              <a:path w="12192000" h="1904">
                <a:moveTo>
                  <a:pt x="0" y="0"/>
                </a:moveTo>
                <a:lnTo>
                  <a:pt x="12192000" y="1587"/>
                </a:lnTo>
              </a:path>
            </a:pathLst>
          </a:custGeom>
          <a:ln w="57150">
            <a:solidFill>
              <a:srgbClr val="C00000"/>
            </a:solidFill>
          </a:ln>
        </p:spPr>
        <p:txBody>
          <a:bodyPr wrap="square" lIns="0" tIns="0" rIns="0" bIns="0" rtlCol="0"/>
          <a:lstStyle/>
          <a:p>
            <a:endParaRPr/>
          </a:p>
        </p:txBody>
      </p:sp>
      <p:pic>
        <p:nvPicPr>
          <p:cNvPr id="4" name="object 4"/>
          <p:cNvPicPr/>
          <p:nvPr/>
        </p:nvPicPr>
        <p:blipFill>
          <a:blip r:embed="rId2" cstate="print"/>
          <a:stretch>
            <a:fillRect/>
          </a:stretch>
        </p:blipFill>
        <p:spPr>
          <a:xfrm>
            <a:off x="8832342" y="214236"/>
            <a:ext cx="3359657" cy="1143012"/>
          </a:xfrm>
          <a:prstGeom prst="rect">
            <a:avLst/>
          </a:prstGeom>
        </p:spPr>
      </p:pic>
      <p:sp>
        <p:nvSpPr>
          <p:cNvPr id="5" name="object 5"/>
          <p:cNvSpPr txBox="1"/>
          <p:nvPr/>
        </p:nvSpPr>
        <p:spPr>
          <a:xfrm>
            <a:off x="11362690" y="6375298"/>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888888"/>
                </a:solidFill>
                <a:latin typeface="Calibri"/>
                <a:cs typeface="Calibri"/>
              </a:rPr>
              <a:t>1</a:t>
            </a:r>
            <a:endParaRPr sz="1800">
              <a:latin typeface="Calibri"/>
              <a:cs typeface="Calibri"/>
            </a:endParaRPr>
          </a:p>
        </p:txBody>
      </p:sp>
      <p:sp>
        <p:nvSpPr>
          <p:cNvPr id="6" name="object 6"/>
          <p:cNvSpPr txBox="1"/>
          <p:nvPr/>
        </p:nvSpPr>
        <p:spPr>
          <a:xfrm>
            <a:off x="983437" y="430898"/>
            <a:ext cx="3551554" cy="662940"/>
          </a:xfrm>
          <a:prstGeom prst="rect">
            <a:avLst/>
          </a:prstGeom>
          <a:solidFill>
            <a:srgbClr val="B52B20"/>
          </a:solidFill>
        </p:spPr>
        <p:txBody>
          <a:bodyPr vert="horz" wrap="square" lIns="0" tIns="174625" rIns="0" bIns="0" rtlCol="0">
            <a:spAutoFit/>
          </a:bodyPr>
          <a:lstStyle/>
          <a:p>
            <a:pPr marL="1270" algn="ctr">
              <a:lnSpc>
                <a:spcPct val="100000"/>
              </a:lnSpc>
              <a:spcBef>
                <a:spcPts val="1375"/>
              </a:spcBef>
            </a:pPr>
            <a:r>
              <a:rPr sz="2000" dirty="0">
                <a:solidFill>
                  <a:srgbClr val="FFFFFF"/>
                </a:solidFill>
                <a:latin typeface="SimSun"/>
                <a:cs typeface="SimSun"/>
              </a:rPr>
              <a:t>论文汇报</a:t>
            </a:r>
            <a:endParaRPr sz="2000" dirty="0">
              <a:latin typeface="SimSun"/>
              <a:cs typeface="SimSun"/>
            </a:endParaRPr>
          </a:p>
        </p:txBody>
      </p:sp>
      <p:sp>
        <p:nvSpPr>
          <p:cNvPr id="7" name="object 7"/>
          <p:cNvSpPr txBox="1">
            <a:spLocks noGrp="1"/>
          </p:cNvSpPr>
          <p:nvPr>
            <p:ph type="title"/>
          </p:nvPr>
        </p:nvSpPr>
        <p:spPr>
          <a:xfrm>
            <a:off x="930351" y="1639950"/>
            <a:ext cx="9122410" cy="1244600"/>
          </a:xfrm>
          <a:prstGeom prst="rect">
            <a:avLst/>
          </a:prstGeom>
        </p:spPr>
        <p:txBody>
          <a:bodyPr vert="horz" wrap="square" lIns="0" tIns="12065" rIns="0" bIns="0" rtlCol="0">
            <a:spAutoFit/>
          </a:bodyPr>
          <a:lstStyle/>
          <a:p>
            <a:pPr marL="12700" marR="5080">
              <a:lnSpc>
                <a:spcPct val="100000"/>
              </a:lnSpc>
              <a:spcBef>
                <a:spcPts val="95"/>
              </a:spcBef>
            </a:pPr>
            <a:r>
              <a:rPr lang="en-US" sz="4000" spc="-30" dirty="0">
                <a:latin typeface="Calibri"/>
                <a:cs typeface="Calibri"/>
              </a:rPr>
              <a:t>Approximate Caching for Efficiently Serving Diffusion Models</a:t>
            </a:r>
            <a:endParaRPr sz="4000" dirty="0">
              <a:latin typeface="Calibri"/>
              <a:cs typeface="Calibri"/>
            </a:endParaRPr>
          </a:p>
        </p:txBody>
      </p:sp>
      <p:sp>
        <p:nvSpPr>
          <p:cNvPr id="8" name="object 8"/>
          <p:cNvSpPr txBox="1"/>
          <p:nvPr/>
        </p:nvSpPr>
        <p:spPr>
          <a:xfrm>
            <a:off x="9128252" y="4790643"/>
            <a:ext cx="2159000" cy="382156"/>
          </a:xfrm>
          <a:prstGeom prst="rect">
            <a:avLst/>
          </a:prstGeom>
        </p:spPr>
        <p:txBody>
          <a:bodyPr vert="horz" wrap="square" lIns="0" tIns="12700" rIns="0" bIns="0" rtlCol="0">
            <a:spAutoFit/>
          </a:bodyPr>
          <a:lstStyle/>
          <a:p>
            <a:pPr marL="12700">
              <a:lnSpc>
                <a:spcPct val="100000"/>
              </a:lnSpc>
              <a:spcBef>
                <a:spcPts val="100"/>
              </a:spcBef>
            </a:pPr>
            <a:r>
              <a:rPr sz="2400" spc="-5" dirty="0" err="1">
                <a:latin typeface="SimSun"/>
                <a:cs typeface="SimSun"/>
              </a:rPr>
              <a:t>汇报人</a:t>
            </a:r>
            <a:r>
              <a:rPr sz="2400" spc="-5" dirty="0">
                <a:latin typeface="SimSun"/>
                <a:cs typeface="SimSun"/>
              </a:rPr>
              <a:t>：</a:t>
            </a:r>
            <a:r>
              <a:rPr lang="zh-CN" altLang="en-US" sz="2400" spc="-5" dirty="0">
                <a:latin typeface="SimSun"/>
                <a:cs typeface="SimSun"/>
              </a:rPr>
              <a:t>顾凯琪</a:t>
            </a:r>
            <a:endParaRPr sz="2400" dirty="0">
              <a:latin typeface="SimSun"/>
              <a:cs typeface="SimSun"/>
            </a:endParaRPr>
          </a:p>
        </p:txBody>
      </p:sp>
      <p:sp>
        <p:nvSpPr>
          <p:cNvPr id="9" name="object 9"/>
          <p:cNvSpPr txBox="1"/>
          <p:nvPr/>
        </p:nvSpPr>
        <p:spPr>
          <a:xfrm>
            <a:off x="918159" y="3132582"/>
            <a:ext cx="10283825" cy="843821"/>
          </a:xfrm>
          <a:prstGeom prst="rect">
            <a:avLst/>
          </a:prstGeom>
        </p:spPr>
        <p:txBody>
          <a:bodyPr vert="horz" wrap="square" lIns="0" tIns="12700" rIns="0" bIns="0" rtlCol="0">
            <a:spAutoFit/>
          </a:bodyPr>
          <a:lstStyle/>
          <a:p>
            <a:pPr marL="12700">
              <a:lnSpc>
                <a:spcPct val="100000"/>
              </a:lnSpc>
              <a:spcBef>
                <a:spcPts val="100"/>
              </a:spcBef>
            </a:pPr>
            <a:r>
              <a:rPr lang="en-US" sz="1800" spc="-5" dirty="0">
                <a:latin typeface="Calibri"/>
                <a:cs typeface="Calibri"/>
              </a:rPr>
              <a:t>Shubham Agarwal and Subrata Mitra, Adobe Research; Sarthak Chakraborty, UIUC; </a:t>
            </a:r>
            <a:r>
              <a:rPr lang="en-US" sz="1800" spc="-5" dirty="0" err="1">
                <a:latin typeface="Calibri"/>
                <a:cs typeface="Calibri"/>
              </a:rPr>
              <a:t>Srikrishna</a:t>
            </a:r>
            <a:r>
              <a:rPr lang="en-US" sz="1800" spc="-5" dirty="0">
                <a:latin typeface="Calibri"/>
                <a:cs typeface="Calibri"/>
              </a:rPr>
              <a:t> Karanam, </a:t>
            </a:r>
            <a:r>
              <a:rPr lang="en-US" sz="1800" spc="-5" dirty="0" err="1">
                <a:latin typeface="Calibri"/>
                <a:cs typeface="Calibri"/>
              </a:rPr>
              <a:t>Koyel</a:t>
            </a:r>
            <a:r>
              <a:rPr lang="en-US" sz="1800" spc="-5" dirty="0">
                <a:latin typeface="Calibri"/>
                <a:cs typeface="Calibri"/>
              </a:rPr>
              <a:t> Mukherjee, and Shiv Kumar Saini, Adobe Research</a:t>
            </a:r>
            <a:endParaRPr sz="1550" dirty="0">
              <a:latin typeface="Calibri"/>
              <a:cs typeface="Calibri"/>
            </a:endParaRPr>
          </a:p>
          <a:p>
            <a:pPr marL="12700">
              <a:lnSpc>
                <a:spcPct val="100000"/>
              </a:lnSpc>
            </a:pPr>
            <a:r>
              <a:rPr lang="en-US" altLang="zh-CN" dirty="0"/>
              <a:t>USENIX Symposium on Networked Systems Design and Implementation</a:t>
            </a:r>
            <a:r>
              <a:rPr sz="1800" spc="-10" dirty="0">
                <a:latin typeface="Calibri"/>
                <a:cs typeface="Calibri"/>
              </a:rPr>
              <a:t>,</a:t>
            </a:r>
            <a:r>
              <a:rPr sz="1800" spc="-20" dirty="0">
                <a:latin typeface="Calibri"/>
                <a:cs typeface="Calibri"/>
              </a:rPr>
              <a:t> </a:t>
            </a:r>
            <a:r>
              <a:rPr lang="en-US" sz="1800" spc="-10" dirty="0">
                <a:latin typeface="Calibri"/>
                <a:cs typeface="Calibri"/>
              </a:rPr>
              <a:t>arXiv:2312.04429</a:t>
            </a:r>
            <a:r>
              <a:rPr sz="1800" dirty="0">
                <a:latin typeface="Calibri"/>
                <a:cs typeface="Calibri"/>
              </a:rPr>
              <a:t>, </a:t>
            </a:r>
            <a:r>
              <a:rPr lang="en-US" altLang="zh-CN" b="0" i="0" dirty="0">
                <a:solidFill>
                  <a:srgbClr val="000000"/>
                </a:solidFill>
                <a:effectLst/>
                <a:latin typeface="Lucida Grande"/>
              </a:rPr>
              <a:t>Dec 2023</a:t>
            </a:r>
            <a:endParaRPr sz="18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53787" y="317017"/>
            <a:ext cx="4897120" cy="721360"/>
            <a:chOff x="653787" y="317017"/>
            <a:chExt cx="4897120" cy="721360"/>
          </a:xfrm>
        </p:grpSpPr>
        <p:pic>
          <p:nvPicPr>
            <p:cNvPr id="4" name="object 4"/>
            <p:cNvPicPr/>
            <p:nvPr/>
          </p:nvPicPr>
          <p:blipFill>
            <a:blip r:embed="rId2" cstate="print"/>
            <a:stretch>
              <a:fillRect/>
            </a:stretch>
          </p:blipFill>
          <p:spPr>
            <a:xfrm>
              <a:off x="653787" y="388545"/>
              <a:ext cx="4896628" cy="535073"/>
            </a:xfrm>
            <a:prstGeom prst="rect">
              <a:avLst/>
            </a:prstGeom>
          </p:spPr>
        </p:pic>
        <p:pic>
          <p:nvPicPr>
            <p:cNvPr id="5" name="object 5"/>
            <p:cNvPicPr/>
            <p:nvPr/>
          </p:nvPicPr>
          <p:blipFill>
            <a:blip r:embed="rId3" cstate="print"/>
            <a:stretch>
              <a:fillRect/>
            </a:stretch>
          </p:blipFill>
          <p:spPr>
            <a:xfrm>
              <a:off x="2269236" y="317017"/>
              <a:ext cx="1665732" cy="720826"/>
            </a:xfrm>
            <a:prstGeom prst="rect">
              <a:avLst/>
            </a:prstGeom>
          </p:spPr>
        </p:pic>
        <p:pic>
          <p:nvPicPr>
            <p:cNvPr id="6" name="object 6"/>
            <p:cNvPicPr/>
            <p:nvPr/>
          </p:nvPicPr>
          <p:blipFill>
            <a:blip r:embed="rId4" cstate="print"/>
            <a:stretch>
              <a:fillRect/>
            </a:stretch>
          </p:blipFill>
          <p:spPr>
            <a:xfrm>
              <a:off x="692429" y="404596"/>
              <a:ext cx="4824476" cy="461670"/>
            </a:xfrm>
            <a:prstGeom prst="rect">
              <a:avLst/>
            </a:prstGeom>
          </p:spPr>
        </p:pic>
      </p:grpSp>
      <p:sp>
        <p:nvSpPr>
          <p:cNvPr id="7" name="object 7"/>
          <p:cNvSpPr txBox="1">
            <a:spLocks noGrp="1"/>
          </p:cNvSpPr>
          <p:nvPr>
            <p:ph type="title"/>
          </p:nvPr>
        </p:nvSpPr>
        <p:spPr>
          <a:xfrm>
            <a:off x="692429" y="404596"/>
            <a:ext cx="4824730" cy="401392"/>
          </a:xfrm>
          <a:prstGeom prst="rect">
            <a:avLst/>
          </a:prstGeom>
          <a:ln w="9525">
            <a:solidFill>
              <a:srgbClr val="BD4A47"/>
            </a:solidFill>
          </a:ln>
        </p:spPr>
        <p:txBody>
          <a:bodyPr vert="horz" wrap="square" lIns="0" tIns="31750" rIns="0" bIns="0" rtlCol="0">
            <a:spAutoFit/>
          </a:bodyPr>
          <a:lstStyle/>
          <a:p>
            <a:pPr algn="ctr">
              <a:lnSpc>
                <a:spcPct val="100000"/>
              </a:lnSpc>
              <a:spcBef>
                <a:spcPts val="250"/>
              </a:spcBef>
            </a:pPr>
            <a:r>
              <a:rPr lang="zh-CN" altLang="en-US" sz="2400" dirty="0">
                <a:solidFill>
                  <a:srgbClr val="FFFFFF"/>
                </a:solidFill>
              </a:rPr>
              <a:t>背景及</a:t>
            </a:r>
            <a:r>
              <a:rPr sz="2400" dirty="0" err="1">
                <a:solidFill>
                  <a:srgbClr val="FFFFFF"/>
                </a:solidFill>
              </a:rPr>
              <a:t>相关工作</a:t>
            </a:r>
            <a:endParaRPr sz="2400" dirty="0"/>
          </a:p>
        </p:txBody>
      </p:sp>
      <p:sp>
        <p:nvSpPr>
          <p:cNvPr id="12" name="文本框 11">
            <a:extLst>
              <a:ext uri="{FF2B5EF4-FFF2-40B4-BE49-F238E27FC236}">
                <a16:creationId xmlns:a16="http://schemas.microsoft.com/office/drawing/2014/main" id="{84B70036-4F1A-416A-9821-654301A27369}"/>
              </a:ext>
            </a:extLst>
          </p:cNvPr>
          <p:cNvSpPr txBox="1"/>
          <p:nvPr/>
        </p:nvSpPr>
        <p:spPr>
          <a:xfrm>
            <a:off x="692429" y="2819400"/>
            <a:ext cx="10395213" cy="1754326"/>
          </a:xfrm>
          <a:prstGeom prst="rect">
            <a:avLst/>
          </a:prstGeom>
          <a:noFill/>
        </p:spPr>
        <p:txBody>
          <a:bodyPr wrap="square" rtlCol="0">
            <a:spAutoFit/>
          </a:bodyPr>
          <a:lstStyle/>
          <a:p>
            <a:pPr marL="342900" indent="-342900">
              <a:buAutoNum type="arabicPeriod"/>
            </a:pPr>
            <a:r>
              <a:rPr lang="en-US" altLang="zh-CN" dirty="0"/>
              <a:t>Diffusion Models </a:t>
            </a:r>
            <a:r>
              <a:rPr lang="zh-CN" altLang="en-US" dirty="0"/>
              <a:t>扩散模型</a:t>
            </a:r>
            <a:endParaRPr lang="en-US" altLang="zh-CN"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r>
              <a:rPr lang="en-US" altLang="zh-CN" dirty="0"/>
              <a:t>Dynamics of Image Generation</a:t>
            </a:r>
            <a:r>
              <a:rPr lang="zh-CN" altLang="en-US" dirty="0"/>
              <a:t> 图像生成动力学</a:t>
            </a:r>
            <a:endParaRPr lang="en-US" altLang="zh-CN" dirty="0"/>
          </a:p>
          <a:p>
            <a:pPr marL="342900" indent="-342900">
              <a:buAutoNum type="arabicPeriod"/>
            </a:pPr>
            <a:endParaRPr lang="en-US" altLang="zh-CN" dirty="0"/>
          </a:p>
          <a:p>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086600" y="2312599"/>
            <a:ext cx="3916679" cy="2025363"/>
          </a:xfrm>
          <a:prstGeom prst="rect">
            <a:avLst/>
          </a:prstGeom>
        </p:spPr>
        <p:txBody>
          <a:bodyPr vert="horz" wrap="square" lIns="0" tIns="12700" rIns="0" bIns="0" rtlCol="0">
            <a:spAutoFit/>
          </a:bodyPr>
          <a:lstStyle/>
          <a:p>
            <a:pPr marL="12700" marR="5080" indent="431165">
              <a:lnSpc>
                <a:spcPct val="150000"/>
              </a:lnSpc>
              <a:spcBef>
                <a:spcPts val="100"/>
              </a:spcBef>
            </a:pPr>
            <a:r>
              <a:rPr lang="zh-CN" altLang="en-US" dirty="0">
                <a:latin typeface="SimSun"/>
                <a:cs typeface="SimSun"/>
              </a:rPr>
              <a:t>利用两个过程生成数据：前向过程逐步向数据添加高斯噪声，使其最终变为纯噪声；反向过程通过神经网络学习去噪的逆过程，从纯噪声逐步还原数据样本，最终实现生成高质量样本的目标。</a:t>
            </a:r>
          </a:p>
        </p:txBody>
      </p:sp>
      <p:grpSp>
        <p:nvGrpSpPr>
          <p:cNvPr id="3" name="object 3"/>
          <p:cNvGrpSpPr/>
          <p:nvPr/>
        </p:nvGrpSpPr>
        <p:grpSpPr>
          <a:xfrm>
            <a:off x="801614" y="245338"/>
            <a:ext cx="6589124" cy="821350"/>
            <a:chOff x="801615" y="245338"/>
            <a:chExt cx="4896628" cy="749833"/>
          </a:xfrm>
        </p:grpSpPr>
        <p:pic>
          <p:nvPicPr>
            <p:cNvPr id="4" name="object 4"/>
            <p:cNvPicPr/>
            <p:nvPr/>
          </p:nvPicPr>
          <p:blipFill>
            <a:blip r:embed="rId2" cstate="print"/>
            <a:stretch>
              <a:fillRect/>
            </a:stretch>
          </p:blipFill>
          <p:spPr>
            <a:xfrm>
              <a:off x="801615" y="318403"/>
              <a:ext cx="4896628" cy="533612"/>
            </a:xfrm>
            <a:prstGeom prst="rect">
              <a:avLst/>
            </a:prstGeom>
          </p:spPr>
        </p:pic>
        <p:pic>
          <p:nvPicPr>
            <p:cNvPr id="5" name="object 5"/>
            <p:cNvPicPr/>
            <p:nvPr/>
          </p:nvPicPr>
          <p:blipFill>
            <a:blip r:embed="rId3" cstate="print"/>
            <a:stretch>
              <a:fillRect/>
            </a:stretch>
          </p:blipFill>
          <p:spPr>
            <a:xfrm>
              <a:off x="960120" y="245338"/>
              <a:ext cx="4578096" cy="749833"/>
            </a:xfrm>
            <a:prstGeom prst="rect">
              <a:avLst/>
            </a:prstGeom>
          </p:spPr>
        </p:pic>
        <p:pic>
          <p:nvPicPr>
            <p:cNvPr id="6" name="object 6"/>
            <p:cNvPicPr/>
            <p:nvPr/>
          </p:nvPicPr>
          <p:blipFill>
            <a:blip r:embed="rId4" cstate="print"/>
            <a:stretch>
              <a:fillRect/>
            </a:stretch>
          </p:blipFill>
          <p:spPr>
            <a:xfrm>
              <a:off x="839419" y="333857"/>
              <a:ext cx="4858824" cy="461670"/>
            </a:xfrm>
            <a:prstGeom prst="rect">
              <a:avLst/>
            </a:prstGeom>
          </p:spPr>
        </p:pic>
      </p:grpSp>
      <p:sp>
        <p:nvSpPr>
          <p:cNvPr id="7" name="object 7"/>
          <p:cNvSpPr txBox="1">
            <a:spLocks noGrp="1"/>
          </p:cNvSpPr>
          <p:nvPr>
            <p:ph type="title"/>
          </p:nvPr>
        </p:nvSpPr>
        <p:spPr>
          <a:xfrm>
            <a:off x="839418" y="333857"/>
            <a:ext cx="6399582" cy="401392"/>
          </a:xfrm>
          <a:prstGeom prst="rect">
            <a:avLst/>
          </a:prstGeom>
          <a:ln w="9525">
            <a:solidFill>
              <a:srgbClr val="BD4A47"/>
            </a:solidFill>
          </a:ln>
        </p:spPr>
        <p:txBody>
          <a:bodyPr vert="horz" wrap="square" lIns="0" tIns="31750" rIns="0" bIns="0" rtlCol="0">
            <a:spAutoFit/>
          </a:bodyPr>
          <a:lstStyle/>
          <a:p>
            <a:pPr marL="346710">
              <a:lnSpc>
                <a:spcPct val="100000"/>
              </a:lnSpc>
              <a:spcBef>
                <a:spcPts val="250"/>
              </a:spcBef>
            </a:pPr>
            <a:r>
              <a:rPr lang="en-US" altLang="zh-CN" sz="2400" dirty="0">
                <a:solidFill>
                  <a:srgbClr val="FFFFFF"/>
                </a:solidFill>
              </a:rPr>
              <a:t>Vanilla Diffusion Model</a:t>
            </a:r>
            <a:r>
              <a:rPr lang="zh-CN" altLang="en-US" sz="2400" dirty="0">
                <a:solidFill>
                  <a:srgbClr val="FFFFFF"/>
                </a:solidFill>
              </a:rPr>
              <a:t>（基础扩散模型）</a:t>
            </a:r>
            <a:endParaRPr lang="en-US" sz="2400" dirty="0">
              <a:latin typeface="Calibri"/>
              <a:cs typeface="Calibri"/>
            </a:endParaRPr>
          </a:p>
        </p:txBody>
      </p:sp>
      <p:pic>
        <p:nvPicPr>
          <p:cNvPr id="12" name="图片 11">
            <a:extLst>
              <a:ext uri="{FF2B5EF4-FFF2-40B4-BE49-F238E27FC236}">
                <a16:creationId xmlns:a16="http://schemas.microsoft.com/office/drawing/2014/main" id="{2BF2CA25-EA86-4A60-BD50-DE9FD35BE149}"/>
              </a:ext>
            </a:extLst>
          </p:cNvPr>
          <p:cNvPicPr>
            <a:picLocks noChangeAspect="1"/>
          </p:cNvPicPr>
          <p:nvPr/>
        </p:nvPicPr>
        <p:blipFill>
          <a:blip r:embed="rId5"/>
          <a:stretch>
            <a:fillRect/>
          </a:stretch>
        </p:blipFill>
        <p:spPr>
          <a:xfrm>
            <a:off x="304800" y="2743200"/>
            <a:ext cx="6160493" cy="115018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086600" y="2590800"/>
            <a:ext cx="4419600" cy="2025363"/>
          </a:xfrm>
          <a:prstGeom prst="rect">
            <a:avLst/>
          </a:prstGeom>
        </p:spPr>
        <p:txBody>
          <a:bodyPr vert="horz" wrap="square" lIns="0" tIns="12700" rIns="0" bIns="0" rtlCol="0">
            <a:spAutoFit/>
          </a:bodyPr>
          <a:lstStyle/>
          <a:p>
            <a:pPr marL="12700" marR="5080" indent="431165">
              <a:lnSpc>
                <a:spcPct val="150000"/>
              </a:lnSpc>
              <a:spcBef>
                <a:spcPts val="100"/>
              </a:spcBef>
            </a:pPr>
            <a:r>
              <a:rPr lang="zh-CN" altLang="en-US" dirty="0">
                <a:latin typeface="SimSun"/>
                <a:cs typeface="SimSun"/>
              </a:rPr>
              <a:t>图像生成动力学是指在生成式模型中，描述图像如何从随机初始状态逐渐演化为目标图像的数学过程和机制。在本工作中图像的各种概念</a:t>
            </a:r>
            <a:r>
              <a:rPr lang="en-US" altLang="zh-CN" dirty="0">
                <a:latin typeface="SimSun"/>
                <a:cs typeface="SimSun"/>
              </a:rPr>
              <a:t>/</a:t>
            </a:r>
            <a:r>
              <a:rPr lang="zh-CN" altLang="en-US" dirty="0">
                <a:latin typeface="SimSun"/>
                <a:cs typeface="SimSun"/>
              </a:rPr>
              <a:t>特征，如布局、颜色、形状或对象、风格等，在超过一定</a:t>
            </a:r>
            <a:r>
              <a:rPr lang="en-US" altLang="zh-CN" dirty="0">
                <a:latin typeface="SimSun"/>
                <a:cs typeface="SimSun"/>
              </a:rPr>
              <a:t>K</a:t>
            </a:r>
            <a:r>
              <a:rPr lang="zh-CN" altLang="en-US" dirty="0">
                <a:latin typeface="SimSun"/>
                <a:cs typeface="SimSun"/>
              </a:rPr>
              <a:t>后不容易修改。</a:t>
            </a:r>
          </a:p>
        </p:txBody>
      </p:sp>
      <p:grpSp>
        <p:nvGrpSpPr>
          <p:cNvPr id="3" name="object 3"/>
          <p:cNvGrpSpPr/>
          <p:nvPr/>
        </p:nvGrpSpPr>
        <p:grpSpPr>
          <a:xfrm>
            <a:off x="801614" y="245338"/>
            <a:ext cx="7580386" cy="821350"/>
            <a:chOff x="801615" y="245338"/>
            <a:chExt cx="4896628" cy="749833"/>
          </a:xfrm>
        </p:grpSpPr>
        <p:pic>
          <p:nvPicPr>
            <p:cNvPr id="4" name="object 4"/>
            <p:cNvPicPr/>
            <p:nvPr/>
          </p:nvPicPr>
          <p:blipFill>
            <a:blip r:embed="rId3" cstate="print"/>
            <a:stretch>
              <a:fillRect/>
            </a:stretch>
          </p:blipFill>
          <p:spPr>
            <a:xfrm>
              <a:off x="801615" y="318403"/>
              <a:ext cx="4896628" cy="533612"/>
            </a:xfrm>
            <a:prstGeom prst="rect">
              <a:avLst/>
            </a:prstGeom>
          </p:spPr>
        </p:pic>
        <p:pic>
          <p:nvPicPr>
            <p:cNvPr id="5" name="object 5"/>
            <p:cNvPicPr/>
            <p:nvPr/>
          </p:nvPicPr>
          <p:blipFill>
            <a:blip r:embed="rId4" cstate="print"/>
            <a:stretch>
              <a:fillRect/>
            </a:stretch>
          </p:blipFill>
          <p:spPr>
            <a:xfrm>
              <a:off x="960120" y="245338"/>
              <a:ext cx="4578096" cy="749833"/>
            </a:xfrm>
            <a:prstGeom prst="rect">
              <a:avLst/>
            </a:prstGeom>
          </p:spPr>
        </p:pic>
        <p:pic>
          <p:nvPicPr>
            <p:cNvPr id="6" name="object 6"/>
            <p:cNvPicPr/>
            <p:nvPr/>
          </p:nvPicPr>
          <p:blipFill>
            <a:blip r:embed="rId5" cstate="print"/>
            <a:stretch>
              <a:fillRect/>
            </a:stretch>
          </p:blipFill>
          <p:spPr>
            <a:xfrm>
              <a:off x="839419" y="333857"/>
              <a:ext cx="4858824" cy="461670"/>
            </a:xfrm>
            <a:prstGeom prst="rect">
              <a:avLst/>
            </a:prstGeom>
          </p:spPr>
        </p:pic>
      </p:grpSp>
      <p:sp>
        <p:nvSpPr>
          <p:cNvPr id="7" name="object 7"/>
          <p:cNvSpPr txBox="1">
            <a:spLocks noGrp="1"/>
          </p:cNvSpPr>
          <p:nvPr>
            <p:ph type="title"/>
          </p:nvPr>
        </p:nvSpPr>
        <p:spPr>
          <a:xfrm>
            <a:off x="839418" y="333857"/>
            <a:ext cx="7313982" cy="401392"/>
          </a:xfrm>
          <a:prstGeom prst="rect">
            <a:avLst/>
          </a:prstGeom>
          <a:ln w="9525">
            <a:solidFill>
              <a:srgbClr val="BD4A47"/>
            </a:solidFill>
          </a:ln>
        </p:spPr>
        <p:txBody>
          <a:bodyPr vert="horz" wrap="square" lIns="0" tIns="31750" rIns="0" bIns="0" rtlCol="0">
            <a:spAutoFit/>
          </a:bodyPr>
          <a:lstStyle/>
          <a:p>
            <a:pPr marL="346710">
              <a:lnSpc>
                <a:spcPct val="100000"/>
              </a:lnSpc>
              <a:spcBef>
                <a:spcPts val="250"/>
              </a:spcBef>
            </a:pPr>
            <a:r>
              <a:rPr lang="en-US" altLang="zh-CN" sz="2400" dirty="0">
                <a:solidFill>
                  <a:srgbClr val="FFFFFF"/>
                </a:solidFill>
              </a:rPr>
              <a:t>Dynamics of Image Generation</a:t>
            </a:r>
            <a:r>
              <a:rPr lang="zh-CN" altLang="en-US" sz="2400" dirty="0">
                <a:solidFill>
                  <a:srgbClr val="FFFFFF"/>
                </a:solidFill>
              </a:rPr>
              <a:t>（图像生成动力学）</a:t>
            </a:r>
          </a:p>
        </p:txBody>
      </p:sp>
      <p:pic>
        <p:nvPicPr>
          <p:cNvPr id="9" name="图片 8">
            <a:extLst>
              <a:ext uri="{FF2B5EF4-FFF2-40B4-BE49-F238E27FC236}">
                <a16:creationId xmlns:a16="http://schemas.microsoft.com/office/drawing/2014/main" id="{B735D8F8-534B-4CCB-8DB8-470CAD3168EB}"/>
              </a:ext>
            </a:extLst>
          </p:cNvPr>
          <p:cNvPicPr>
            <a:picLocks noChangeAspect="1"/>
          </p:cNvPicPr>
          <p:nvPr/>
        </p:nvPicPr>
        <p:blipFill>
          <a:blip r:embed="rId6"/>
          <a:stretch>
            <a:fillRect/>
          </a:stretch>
        </p:blipFill>
        <p:spPr>
          <a:xfrm>
            <a:off x="533400" y="1828800"/>
            <a:ext cx="4967642" cy="4038600"/>
          </a:xfrm>
          <a:prstGeom prst="rect">
            <a:avLst/>
          </a:prstGeom>
        </p:spPr>
      </p:pic>
    </p:spTree>
    <p:extLst>
      <p:ext uri="{BB962C8B-B14F-4D97-AF65-F5344CB8AC3E}">
        <p14:creationId xmlns:p14="http://schemas.microsoft.com/office/powerpoint/2010/main" val="2801810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53787" y="317017"/>
            <a:ext cx="4897120" cy="721360"/>
            <a:chOff x="653787" y="317017"/>
            <a:chExt cx="4897120" cy="721360"/>
          </a:xfrm>
        </p:grpSpPr>
        <p:pic>
          <p:nvPicPr>
            <p:cNvPr id="4" name="object 4"/>
            <p:cNvPicPr/>
            <p:nvPr/>
          </p:nvPicPr>
          <p:blipFill>
            <a:blip r:embed="rId3" cstate="print"/>
            <a:stretch>
              <a:fillRect/>
            </a:stretch>
          </p:blipFill>
          <p:spPr>
            <a:xfrm>
              <a:off x="653787" y="388545"/>
              <a:ext cx="4896628" cy="535073"/>
            </a:xfrm>
            <a:prstGeom prst="rect">
              <a:avLst/>
            </a:prstGeom>
          </p:spPr>
        </p:pic>
        <p:pic>
          <p:nvPicPr>
            <p:cNvPr id="5" name="object 5"/>
            <p:cNvPicPr/>
            <p:nvPr/>
          </p:nvPicPr>
          <p:blipFill>
            <a:blip r:embed="rId4" cstate="print"/>
            <a:stretch>
              <a:fillRect/>
            </a:stretch>
          </p:blipFill>
          <p:spPr>
            <a:xfrm>
              <a:off x="2269236" y="317017"/>
              <a:ext cx="1665732" cy="720826"/>
            </a:xfrm>
            <a:prstGeom prst="rect">
              <a:avLst/>
            </a:prstGeom>
          </p:spPr>
        </p:pic>
        <p:pic>
          <p:nvPicPr>
            <p:cNvPr id="6" name="object 6"/>
            <p:cNvPicPr/>
            <p:nvPr/>
          </p:nvPicPr>
          <p:blipFill>
            <a:blip r:embed="rId5" cstate="print"/>
            <a:stretch>
              <a:fillRect/>
            </a:stretch>
          </p:blipFill>
          <p:spPr>
            <a:xfrm>
              <a:off x="692429" y="404596"/>
              <a:ext cx="4824476" cy="461670"/>
            </a:xfrm>
            <a:prstGeom prst="rect">
              <a:avLst/>
            </a:prstGeom>
          </p:spPr>
        </p:pic>
      </p:grpSp>
      <p:sp>
        <p:nvSpPr>
          <p:cNvPr id="7" name="object 7"/>
          <p:cNvSpPr txBox="1">
            <a:spLocks noGrp="1"/>
          </p:cNvSpPr>
          <p:nvPr>
            <p:ph type="title"/>
          </p:nvPr>
        </p:nvSpPr>
        <p:spPr>
          <a:xfrm>
            <a:off x="692429" y="404596"/>
            <a:ext cx="4824730" cy="462280"/>
          </a:xfrm>
          <a:prstGeom prst="rect">
            <a:avLst/>
          </a:prstGeom>
          <a:ln w="9525">
            <a:solidFill>
              <a:srgbClr val="BD4A47"/>
            </a:solidFill>
          </a:ln>
        </p:spPr>
        <p:txBody>
          <a:bodyPr vert="horz" wrap="square" lIns="0" tIns="31750" rIns="0" bIns="0" rtlCol="0">
            <a:spAutoFit/>
          </a:bodyPr>
          <a:lstStyle/>
          <a:p>
            <a:pPr algn="ctr">
              <a:lnSpc>
                <a:spcPct val="100000"/>
              </a:lnSpc>
              <a:spcBef>
                <a:spcPts val="250"/>
              </a:spcBef>
            </a:pPr>
            <a:r>
              <a:rPr sz="2400" dirty="0">
                <a:solidFill>
                  <a:srgbClr val="FFFFFF"/>
                </a:solidFill>
              </a:rPr>
              <a:t>问题陈述</a:t>
            </a:r>
            <a:endParaRPr sz="2400"/>
          </a:p>
        </p:txBody>
      </p:sp>
      <p:sp>
        <p:nvSpPr>
          <p:cNvPr id="9" name="object 9"/>
          <p:cNvSpPr txBox="1"/>
          <p:nvPr/>
        </p:nvSpPr>
        <p:spPr>
          <a:xfrm>
            <a:off x="449316" y="4906262"/>
            <a:ext cx="7311475" cy="843821"/>
          </a:xfrm>
          <a:prstGeom prst="rect">
            <a:avLst/>
          </a:prstGeom>
        </p:spPr>
        <p:txBody>
          <a:bodyPr vert="horz" wrap="square" lIns="0" tIns="12700" rIns="0" bIns="0" rtlCol="0">
            <a:spAutoFit/>
          </a:bodyPr>
          <a:lstStyle/>
          <a:p>
            <a:pPr marL="12700">
              <a:lnSpc>
                <a:spcPct val="100000"/>
              </a:lnSpc>
              <a:spcBef>
                <a:spcPts val="100"/>
              </a:spcBef>
            </a:pPr>
            <a:r>
              <a:rPr lang="en-US" altLang="zh-CN" spc="140" dirty="0">
                <a:latin typeface="Microsoft YaHei"/>
              </a:rPr>
              <a:t>(a)</a:t>
            </a:r>
            <a:r>
              <a:rPr lang="zh-CN" altLang="en-US" spc="140" dirty="0">
                <a:latin typeface="Microsoft YaHei"/>
              </a:rPr>
              <a:t>显示了在扩散数据库中工作负载在</a:t>
            </a:r>
            <a:r>
              <a:rPr lang="en-US" altLang="zh-CN" spc="140" dirty="0">
                <a:latin typeface="Microsoft YaHei"/>
              </a:rPr>
              <a:t>5</a:t>
            </a:r>
            <a:r>
              <a:rPr lang="zh-CN" altLang="en-US" spc="140" dirty="0">
                <a:latin typeface="Microsoft YaHei"/>
              </a:rPr>
              <a:t>周内的正常增长。</a:t>
            </a:r>
            <a:r>
              <a:rPr lang="en-US" altLang="zh-CN" spc="140" dirty="0">
                <a:latin typeface="Microsoft YaHei"/>
              </a:rPr>
              <a:t>(b)</a:t>
            </a:r>
            <a:r>
              <a:rPr lang="zh-CN" altLang="en-US" spc="140" dirty="0">
                <a:latin typeface="Microsoft YaHei"/>
              </a:rPr>
              <a:t>来自</a:t>
            </a:r>
            <a:r>
              <a:rPr lang="en-US" altLang="zh-CN" spc="140" dirty="0">
                <a:latin typeface="Microsoft YaHei"/>
              </a:rPr>
              <a:t>hugs Face</a:t>
            </a:r>
            <a:r>
              <a:rPr lang="zh-CN" altLang="en-US" spc="140" dirty="0">
                <a:latin typeface="Microsoft YaHei"/>
              </a:rPr>
              <a:t>存储库的微型、标准和超大尺寸稳定扩散模型在</a:t>
            </a:r>
            <a:r>
              <a:rPr lang="en-US" altLang="zh-CN" spc="140" dirty="0">
                <a:latin typeface="Microsoft YaHei"/>
              </a:rPr>
              <a:t>AWS</a:t>
            </a:r>
            <a:r>
              <a:rPr lang="zh-CN" altLang="en-US" spc="140" dirty="0">
                <a:latin typeface="Microsoft YaHei"/>
              </a:rPr>
              <a:t>中三种不同</a:t>
            </a:r>
            <a:r>
              <a:rPr lang="en-US" altLang="zh-CN" spc="140" dirty="0">
                <a:latin typeface="Microsoft YaHei"/>
              </a:rPr>
              <a:t>GPU</a:t>
            </a:r>
            <a:r>
              <a:rPr lang="zh-CN" altLang="en-US" spc="140" dirty="0">
                <a:latin typeface="Microsoft YaHei"/>
              </a:rPr>
              <a:t>架构上的延迟</a:t>
            </a:r>
            <a:r>
              <a:rPr lang="en-US" altLang="zh-CN" spc="140" dirty="0">
                <a:latin typeface="Microsoft YaHei"/>
              </a:rPr>
              <a:t>(</a:t>
            </a:r>
            <a:r>
              <a:rPr lang="zh-CN" altLang="en-US" spc="140" dirty="0">
                <a:latin typeface="Microsoft YaHei"/>
              </a:rPr>
              <a:t>秒</a:t>
            </a:r>
            <a:r>
              <a:rPr lang="en-US" altLang="zh-CN" spc="140" dirty="0">
                <a:latin typeface="Microsoft YaHei"/>
              </a:rPr>
              <a:t>)</a:t>
            </a:r>
            <a:r>
              <a:rPr lang="zh-CN" altLang="en-US" spc="140" dirty="0">
                <a:latin typeface="Microsoft YaHei"/>
              </a:rPr>
              <a:t>。</a:t>
            </a:r>
            <a:endParaRPr spc="140" dirty="0">
              <a:latin typeface="Microsoft YaHei"/>
            </a:endParaRPr>
          </a:p>
        </p:txBody>
      </p:sp>
      <p:pic>
        <p:nvPicPr>
          <p:cNvPr id="11" name="图片 10">
            <a:extLst>
              <a:ext uri="{FF2B5EF4-FFF2-40B4-BE49-F238E27FC236}">
                <a16:creationId xmlns:a16="http://schemas.microsoft.com/office/drawing/2014/main" id="{029A063E-1CAB-486C-8F83-AF8227071B84}"/>
              </a:ext>
            </a:extLst>
          </p:cNvPr>
          <p:cNvPicPr>
            <a:picLocks noChangeAspect="1"/>
          </p:cNvPicPr>
          <p:nvPr/>
        </p:nvPicPr>
        <p:blipFill>
          <a:blip r:embed="rId6"/>
          <a:stretch>
            <a:fillRect/>
          </a:stretch>
        </p:blipFill>
        <p:spPr>
          <a:xfrm>
            <a:off x="445592" y="1676400"/>
            <a:ext cx="6978751" cy="2797106"/>
          </a:xfrm>
          <a:prstGeom prst="rect">
            <a:avLst/>
          </a:prstGeom>
        </p:spPr>
      </p:pic>
      <p:sp>
        <p:nvSpPr>
          <p:cNvPr id="12" name="文本框 11">
            <a:extLst>
              <a:ext uri="{FF2B5EF4-FFF2-40B4-BE49-F238E27FC236}">
                <a16:creationId xmlns:a16="http://schemas.microsoft.com/office/drawing/2014/main" id="{FCC278E2-1070-4B8A-87CE-65916F29889D}"/>
              </a:ext>
            </a:extLst>
          </p:cNvPr>
          <p:cNvSpPr txBox="1"/>
          <p:nvPr/>
        </p:nvSpPr>
        <p:spPr>
          <a:xfrm>
            <a:off x="8077200" y="2362200"/>
            <a:ext cx="3810000" cy="1706878"/>
          </a:xfrm>
          <a:prstGeom prst="rect">
            <a:avLst/>
          </a:prstGeom>
          <a:noFill/>
        </p:spPr>
        <p:txBody>
          <a:bodyPr wrap="square" rtlCol="0">
            <a:spAutoFit/>
          </a:bodyPr>
          <a:lstStyle/>
          <a:p>
            <a:pPr>
              <a:lnSpc>
                <a:spcPct val="150000"/>
              </a:lnSpc>
            </a:pPr>
            <a:r>
              <a:rPr lang="zh-CN" altLang="en-US" b="1" dirty="0"/>
              <a:t>（</a:t>
            </a:r>
            <a:r>
              <a:rPr lang="en-US" altLang="zh-CN" b="1" dirty="0"/>
              <a:t>a</a:t>
            </a:r>
            <a:r>
              <a:rPr lang="zh-CN" altLang="en-US" b="1" dirty="0"/>
              <a:t>）表明扩散模型的使用频率正在激增，而（</a:t>
            </a:r>
            <a:r>
              <a:rPr lang="en-US" altLang="zh-CN" b="1" dirty="0"/>
              <a:t>b</a:t>
            </a:r>
            <a:r>
              <a:rPr lang="zh-CN" altLang="en-US" b="1" dirty="0"/>
              <a:t>）则反映了质量更好的模型对应着更高的延迟，并且显卡的算力差距也同样显著</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380998" y="1601151"/>
            <a:ext cx="10889691" cy="2285049"/>
          </a:xfrm>
          <a:prstGeom prst="rect">
            <a:avLst/>
          </a:prstGeom>
        </p:spPr>
        <p:txBody>
          <a:bodyPr vert="horz" wrap="square" lIns="0" tIns="12700" rIns="0" bIns="0" rtlCol="0">
            <a:spAutoFit/>
          </a:bodyPr>
          <a:lstStyle/>
          <a:p>
            <a:pPr marL="132715">
              <a:lnSpc>
                <a:spcPct val="150000"/>
              </a:lnSpc>
              <a:spcBef>
                <a:spcPts val="100"/>
              </a:spcBef>
            </a:pPr>
            <a:r>
              <a:rPr lang="zh-CN" altLang="en-US" spc="-5" dirty="0"/>
              <a:t>在本文中，介绍了一个称为</a:t>
            </a:r>
            <a:r>
              <a:rPr lang="en-US" altLang="zh-CN" spc="-5" dirty="0"/>
              <a:t>NIRVANA</a:t>
            </a:r>
            <a:r>
              <a:rPr lang="zh-CN" altLang="en-US" spc="-5" dirty="0"/>
              <a:t>的高效文本到图像生成系统，该系统使用一种称为近似缓存的新技术，通过智能地重用在图像生成过程中为先前提示创建的中间状态来显着降低计算成本和延迟。</a:t>
            </a:r>
            <a:endParaRPr lang="zh-CN" altLang="en-US" dirty="0"/>
          </a:p>
          <a:p>
            <a:pPr marL="132715">
              <a:lnSpc>
                <a:spcPct val="150000"/>
              </a:lnSpc>
              <a:spcBef>
                <a:spcPts val="1945"/>
              </a:spcBef>
            </a:pPr>
            <a:r>
              <a:rPr lang="en-US" altLang="zh-CN" spc="-5" dirty="0"/>
              <a:t>NIRVANA</a:t>
            </a:r>
            <a:r>
              <a:rPr lang="zh-CN" altLang="en-US" spc="-5" dirty="0"/>
              <a:t>的工作原理是：</a:t>
            </a:r>
            <a:r>
              <a:rPr lang="zh-CN" altLang="en-US" b="1" spc="-5" dirty="0"/>
              <a:t>使用来自不同提示符的噪声在近似缓存中跳过前</a:t>
            </a:r>
            <a:r>
              <a:rPr lang="en-US" altLang="zh-CN" b="1" spc="-5" dirty="0"/>
              <a:t>K</a:t>
            </a:r>
            <a:r>
              <a:rPr lang="zh-CN" altLang="en-US" b="1" spc="-5" dirty="0"/>
              <a:t>步并直接检索合适的中间步骤</a:t>
            </a:r>
            <a:r>
              <a:rPr lang="zh-CN" altLang="en-US" spc="-5" dirty="0"/>
              <a:t>。</a:t>
            </a:r>
            <a:r>
              <a:rPr lang="en-US" altLang="zh-CN" spc="-5" dirty="0"/>
              <a:t>K</a:t>
            </a:r>
            <a:r>
              <a:rPr lang="zh-CN" altLang="en-US" spc="-5" dirty="0"/>
              <a:t>的值取决于新输入提示符和从中提取噪声的提示符之间的相似性。</a:t>
            </a:r>
            <a:r>
              <a:rPr lang="zh-CN" altLang="en-US" b="1" spc="-5" dirty="0"/>
              <a:t>并非复用已经产生的对象，而是检索一个中间状态，进一步计算。</a:t>
            </a:r>
            <a:endParaRPr b="1" spc="-5" dirty="0"/>
          </a:p>
        </p:txBody>
      </p:sp>
      <p:grpSp>
        <p:nvGrpSpPr>
          <p:cNvPr id="3" name="object 3"/>
          <p:cNvGrpSpPr/>
          <p:nvPr/>
        </p:nvGrpSpPr>
        <p:grpSpPr>
          <a:xfrm>
            <a:off x="653787" y="317017"/>
            <a:ext cx="4897120" cy="721360"/>
            <a:chOff x="653787" y="317017"/>
            <a:chExt cx="4897120" cy="721360"/>
          </a:xfrm>
        </p:grpSpPr>
        <p:pic>
          <p:nvPicPr>
            <p:cNvPr id="4" name="object 4"/>
            <p:cNvPicPr/>
            <p:nvPr/>
          </p:nvPicPr>
          <p:blipFill>
            <a:blip r:embed="rId2" cstate="print"/>
            <a:stretch>
              <a:fillRect/>
            </a:stretch>
          </p:blipFill>
          <p:spPr>
            <a:xfrm>
              <a:off x="653787" y="388545"/>
              <a:ext cx="4896628" cy="535073"/>
            </a:xfrm>
            <a:prstGeom prst="rect">
              <a:avLst/>
            </a:prstGeom>
          </p:spPr>
        </p:pic>
        <p:pic>
          <p:nvPicPr>
            <p:cNvPr id="5" name="object 5"/>
            <p:cNvPicPr/>
            <p:nvPr/>
          </p:nvPicPr>
          <p:blipFill>
            <a:blip r:embed="rId3" cstate="print"/>
            <a:stretch>
              <a:fillRect/>
            </a:stretch>
          </p:blipFill>
          <p:spPr>
            <a:xfrm>
              <a:off x="2269236" y="317017"/>
              <a:ext cx="1665732" cy="720826"/>
            </a:xfrm>
            <a:prstGeom prst="rect">
              <a:avLst/>
            </a:prstGeom>
          </p:spPr>
        </p:pic>
        <p:pic>
          <p:nvPicPr>
            <p:cNvPr id="6" name="object 6"/>
            <p:cNvPicPr/>
            <p:nvPr/>
          </p:nvPicPr>
          <p:blipFill>
            <a:blip r:embed="rId4" cstate="print"/>
            <a:stretch>
              <a:fillRect/>
            </a:stretch>
          </p:blipFill>
          <p:spPr>
            <a:xfrm>
              <a:off x="692429" y="404596"/>
              <a:ext cx="4824476" cy="461670"/>
            </a:xfrm>
            <a:prstGeom prst="rect">
              <a:avLst/>
            </a:prstGeom>
          </p:spPr>
        </p:pic>
      </p:grpSp>
      <p:sp>
        <p:nvSpPr>
          <p:cNvPr id="7" name="object 7"/>
          <p:cNvSpPr txBox="1">
            <a:spLocks noGrp="1"/>
          </p:cNvSpPr>
          <p:nvPr>
            <p:ph type="title"/>
          </p:nvPr>
        </p:nvSpPr>
        <p:spPr>
          <a:xfrm>
            <a:off x="692429" y="404596"/>
            <a:ext cx="4824730" cy="462280"/>
          </a:xfrm>
          <a:prstGeom prst="rect">
            <a:avLst/>
          </a:prstGeom>
          <a:ln w="9525">
            <a:solidFill>
              <a:srgbClr val="BD4A47"/>
            </a:solidFill>
          </a:ln>
        </p:spPr>
        <p:txBody>
          <a:bodyPr vert="horz" wrap="square" lIns="0" tIns="31750" rIns="0" bIns="0" rtlCol="0">
            <a:spAutoFit/>
          </a:bodyPr>
          <a:lstStyle/>
          <a:p>
            <a:pPr algn="ctr">
              <a:lnSpc>
                <a:spcPct val="100000"/>
              </a:lnSpc>
              <a:spcBef>
                <a:spcPts val="250"/>
              </a:spcBef>
            </a:pPr>
            <a:r>
              <a:rPr sz="2400" dirty="0">
                <a:solidFill>
                  <a:srgbClr val="FFFFFF"/>
                </a:solidFill>
              </a:rPr>
              <a:t>本文工作</a:t>
            </a:r>
            <a:endParaRPr sz="2400"/>
          </a:p>
        </p:txBody>
      </p:sp>
      <p:pic>
        <p:nvPicPr>
          <p:cNvPr id="9" name="图片 8">
            <a:extLst>
              <a:ext uri="{FF2B5EF4-FFF2-40B4-BE49-F238E27FC236}">
                <a16:creationId xmlns:a16="http://schemas.microsoft.com/office/drawing/2014/main" id="{B3224EA3-36AE-4792-A603-FC2FDFD68435}"/>
              </a:ext>
            </a:extLst>
          </p:cNvPr>
          <p:cNvPicPr>
            <a:picLocks noChangeAspect="1"/>
          </p:cNvPicPr>
          <p:nvPr/>
        </p:nvPicPr>
        <p:blipFill>
          <a:blip r:embed="rId5"/>
          <a:stretch>
            <a:fillRect/>
          </a:stretch>
        </p:blipFill>
        <p:spPr>
          <a:xfrm>
            <a:off x="2065851" y="3886200"/>
            <a:ext cx="7519987" cy="20569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380998" y="1601151"/>
            <a:ext cx="10889691" cy="4218463"/>
          </a:xfrm>
          <a:prstGeom prst="rect">
            <a:avLst/>
          </a:prstGeom>
        </p:spPr>
        <p:txBody>
          <a:bodyPr vert="horz" wrap="square" lIns="0" tIns="12700" rIns="0" bIns="0" rtlCol="0">
            <a:spAutoFit/>
          </a:bodyPr>
          <a:lstStyle/>
          <a:p>
            <a:pPr marL="132715">
              <a:lnSpc>
                <a:spcPct val="150000"/>
              </a:lnSpc>
              <a:spcBef>
                <a:spcPts val="100"/>
              </a:spcBef>
            </a:pPr>
            <a:r>
              <a:rPr lang="en-US" altLang="zh-CN" spc="-5" dirty="0"/>
              <a:t>1. </a:t>
            </a:r>
            <a:r>
              <a:rPr lang="zh-CN" altLang="en-US" spc="-5" dirty="0"/>
              <a:t>引入了近似缓存的新思想，为文本到图像生成的</a:t>
            </a:r>
            <a:r>
              <a:rPr lang="zh-CN" altLang="en-US" b="1" spc="-5" dirty="0"/>
              <a:t>扩散模型的生产流程提供了显著的计算节省。</a:t>
            </a:r>
          </a:p>
          <a:p>
            <a:pPr marL="132715">
              <a:lnSpc>
                <a:spcPct val="150000"/>
              </a:lnSpc>
              <a:spcBef>
                <a:spcPts val="100"/>
              </a:spcBef>
            </a:pPr>
            <a:endParaRPr lang="zh-CN" altLang="en-US" spc="-5" dirty="0"/>
          </a:p>
          <a:p>
            <a:pPr marL="132715">
              <a:lnSpc>
                <a:spcPct val="150000"/>
              </a:lnSpc>
              <a:spcBef>
                <a:spcPts val="100"/>
              </a:spcBef>
            </a:pPr>
            <a:r>
              <a:rPr lang="en-US" altLang="zh-CN" spc="-5" dirty="0"/>
              <a:t>2. </a:t>
            </a:r>
            <a:r>
              <a:rPr lang="zh-CN" altLang="en-US" spc="-5" dirty="0"/>
              <a:t>提出了一种有效的缓存管理机制</a:t>
            </a:r>
            <a:r>
              <a:rPr lang="en-US" altLang="zh-CN" spc="-5" dirty="0"/>
              <a:t>LCBFU</a:t>
            </a:r>
            <a:r>
              <a:rPr lang="zh-CN" altLang="en-US" spc="-5" dirty="0"/>
              <a:t>（</a:t>
            </a:r>
            <a:r>
              <a:rPr lang="en-US" altLang="zh-CN" spc="-5" dirty="0"/>
              <a:t> Least Computationally Beneficial and Frequently Used </a:t>
            </a:r>
            <a:r>
              <a:rPr lang="zh-CN" altLang="en-US" spc="-5" dirty="0"/>
              <a:t>），它可以优化计算状态的重用和计算节省。</a:t>
            </a:r>
          </a:p>
          <a:p>
            <a:pPr marL="132715">
              <a:lnSpc>
                <a:spcPct val="150000"/>
              </a:lnSpc>
              <a:spcBef>
                <a:spcPts val="100"/>
              </a:spcBef>
            </a:pPr>
            <a:endParaRPr lang="zh-CN" altLang="en-US" spc="-5" dirty="0"/>
          </a:p>
          <a:p>
            <a:pPr marL="132715">
              <a:lnSpc>
                <a:spcPct val="150000"/>
              </a:lnSpc>
              <a:spcBef>
                <a:spcPts val="100"/>
              </a:spcBef>
            </a:pPr>
            <a:r>
              <a:rPr lang="en-US" altLang="zh-CN" spc="-5" dirty="0"/>
              <a:t>3. </a:t>
            </a:r>
            <a:r>
              <a:rPr lang="zh-CN" altLang="en-US" spc="-5" dirty="0"/>
              <a:t>为</a:t>
            </a:r>
            <a:r>
              <a:rPr lang="en-US" altLang="zh-CN" spc="-5" dirty="0"/>
              <a:t>NIRVANA</a:t>
            </a:r>
            <a:r>
              <a:rPr lang="zh-CN" altLang="en-US" spc="-5" dirty="0"/>
              <a:t>提供了端到端的设计细节和原理，</a:t>
            </a:r>
            <a:r>
              <a:rPr lang="en-US" altLang="zh-CN" spc="-5" dirty="0"/>
              <a:t>NIRVANA</a:t>
            </a:r>
            <a:r>
              <a:rPr lang="zh-CN" altLang="en-US" spc="-5" dirty="0"/>
              <a:t>是我们优化的云上文本到图像部署系统。</a:t>
            </a:r>
          </a:p>
          <a:p>
            <a:pPr marL="132715">
              <a:lnSpc>
                <a:spcPct val="150000"/>
              </a:lnSpc>
              <a:spcBef>
                <a:spcPts val="100"/>
              </a:spcBef>
            </a:pPr>
            <a:endParaRPr lang="zh-CN" altLang="en-US" spc="-5" dirty="0"/>
          </a:p>
          <a:p>
            <a:pPr marL="132715">
              <a:lnSpc>
                <a:spcPct val="150000"/>
              </a:lnSpc>
              <a:spcBef>
                <a:spcPts val="100"/>
              </a:spcBef>
            </a:pPr>
            <a:r>
              <a:rPr lang="en-US" altLang="zh-CN" spc="-5" dirty="0"/>
              <a:t>4. </a:t>
            </a:r>
            <a:r>
              <a:rPr lang="zh-CN" altLang="en-US" spc="-5" dirty="0"/>
              <a:t>从可重用性和缓存的角度描述了文本到图像模型的实际生产提示。</a:t>
            </a:r>
          </a:p>
          <a:p>
            <a:pPr marL="132715">
              <a:lnSpc>
                <a:spcPct val="150000"/>
              </a:lnSpc>
              <a:spcBef>
                <a:spcPts val="100"/>
              </a:spcBef>
            </a:pPr>
            <a:endParaRPr lang="zh-CN" altLang="en-US" spc="-5" dirty="0"/>
          </a:p>
          <a:p>
            <a:pPr marL="132715">
              <a:lnSpc>
                <a:spcPct val="150000"/>
              </a:lnSpc>
              <a:spcBef>
                <a:spcPts val="100"/>
              </a:spcBef>
            </a:pPr>
            <a:r>
              <a:rPr lang="en-US" altLang="zh-CN" spc="-5" dirty="0"/>
              <a:t>5. </a:t>
            </a:r>
            <a:r>
              <a:rPr lang="zh-CN" altLang="en-US" spc="-5" dirty="0"/>
              <a:t>提出了广泛的评估，从文本到图像模型的两个真实和大型生产提示，以及人类评估和几个敏感性研究</a:t>
            </a:r>
            <a:endParaRPr b="1" spc="-5" dirty="0"/>
          </a:p>
        </p:txBody>
      </p:sp>
      <p:grpSp>
        <p:nvGrpSpPr>
          <p:cNvPr id="3" name="object 3"/>
          <p:cNvGrpSpPr/>
          <p:nvPr/>
        </p:nvGrpSpPr>
        <p:grpSpPr>
          <a:xfrm>
            <a:off x="653787" y="317017"/>
            <a:ext cx="4897120" cy="721360"/>
            <a:chOff x="653787" y="317017"/>
            <a:chExt cx="4897120" cy="721360"/>
          </a:xfrm>
        </p:grpSpPr>
        <p:pic>
          <p:nvPicPr>
            <p:cNvPr id="4" name="object 4"/>
            <p:cNvPicPr/>
            <p:nvPr/>
          </p:nvPicPr>
          <p:blipFill>
            <a:blip r:embed="rId3" cstate="print"/>
            <a:stretch>
              <a:fillRect/>
            </a:stretch>
          </p:blipFill>
          <p:spPr>
            <a:xfrm>
              <a:off x="653787" y="388545"/>
              <a:ext cx="4896628" cy="535073"/>
            </a:xfrm>
            <a:prstGeom prst="rect">
              <a:avLst/>
            </a:prstGeom>
          </p:spPr>
        </p:pic>
        <p:pic>
          <p:nvPicPr>
            <p:cNvPr id="5" name="object 5"/>
            <p:cNvPicPr/>
            <p:nvPr/>
          </p:nvPicPr>
          <p:blipFill>
            <a:blip r:embed="rId4" cstate="print"/>
            <a:stretch>
              <a:fillRect/>
            </a:stretch>
          </p:blipFill>
          <p:spPr>
            <a:xfrm>
              <a:off x="2269236" y="317017"/>
              <a:ext cx="1665732" cy="720826"/>
            </a:xfrm>
            <a:prstGeom prst="rect">
              <a:avLst/>
            </a:prstGeom>
          </p:spPr>
        </p:pic>
        <p:pic>
          <p:nvPicPr>
            <p:cNvPr id="6" name="object 6"/>
            <p:cNvPicPr/>
            <p:nvPr/>
          </p:nvPicPr>
          <p:blipFill>
            <a:blip r:embed="rId5" cstate="print"/>
            <a:stretch>
              <a:fillRect/>
            </a:stretch>
          </p:blipFill>
          <p:spPr>
            <a:xfrm>
              <a:off x="692429" y="404596"/>
              <a:ext cx="4824476" cy="461670"/>
            </a:xfrm>
            <a:prstGeom prst="rect">
              <a:avLst/>
            </a:prstGeom>
          </p:spPr>
        </p:pic>
      </p:grpSp>
      <p:sp>
        <p:nvSpPr>
          <p:cNvPr id="7" name="object 7"/>
          <p:cNvSpPr txBox="1">
            <a:spLocks noGrp="1"/>
          </p:cNvSpPr>
          <p:nvPr>
            <p:ph type="title"/>
          </p:nvPr>
        </p:nvSpPr>
        <p:spPr>
          <a:xfrm>
            <a:off x="692429" y="404596"/>
            <a:ext cx="4824730" cy="401392"/>
          </a:xfrm>
          <a:prstGeom prst="rect">
            <a:avLst/>
          </a:prstGeom>
          <a:ln w="9525">
            <a:solidFill>
              <a:srgbClr val="BD4A47"/>
            </a:solidFill>
          </a:ln>
        </p:spPr>
        <p:txBody>
          <a:bodyPr vert="horz" wrap="square" lIns="0" tIns="31750" rIns="0" bIns="0" rtlCol="0">
            <a:spAutoFit/>
          </a:bodyPr>
          <a:lstStyle/>
          <a:p>
            <a:pPr algn="ctr">
              <a:lnSpc>
                <a:spcPct val="100000"/>
              </a:lnSpc>
              <a:spcBef>
                <a:spcPts val="250"/>
              </a:spcBef>
            </a:pPr>
            <a:r>
              <a:rPr lang="zh-CN" altLang="en-US" sz="2400" dirty="0">
                <a:solidFill>
                  <a:srgbClr val="FFFFFF"/>
                </a:solidFill>
              </a:rPr>
              <a:t>工作贡献</a:t>
            </a:r>
            <a:endParaRPr sz="2400" dirty="0"/>
          </a:p>
        </p:txBody>
      </p:sp>
    </p:spTree>
    <p:extLst>
      <p:ext uri="{BB962C8B-B14F-4D97-AF65-F5344CB8AC3E}">
        <p14:creationId xmlns:p14="http://schemas.microsoft.com/office/powerpoint/2010/main" val="2112966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53787" y="317017"/>
            <a:ext cx="4897120" cy="721360"/>
            <a:chOff x="653787" y="317017"/>
            <a:chExt cx="4897120" cy="721360"/>
          </a:xfrm>
        </p:grpSpPr>
        <p:pic>
          <p:nvPicPr>
            <p:cNvPr id="3" name="object 3"/>
            <p:cNvPicPr/>
            <p:nvPr/>
          </p:nvPicPr>
          <p:blipFill>
            <a:blip r:embed="rId3" cstate="print"/>
            <a:stretch>
              <a:fillRect/>
            </a:stretch>
          </p:blipFill>
          <p:spPr>
            <a:xfrm>
              <a:off x="653787" y="388545"/>
              <a:ext cx="4896628" cy="535073"/>
            </a:xfrm>
            <a:prstGeom prst="rect">
              <a:avLst/>
            </a:prstGeom>
          </p:spPr>
        </p:pic>
        <p:pic>
          <p:nvPicPr>
            <p:cNvPr id="4" name="object 4"/>
            <p:cNvPicPr/>
            <p:nvPr/>
          </p:nvPicPr>
          <p:blipFill>
            <a:blip r:embed="rId4" cstate="print"/>
            <a:stretch>
              <a:fillRect/>
            </a:stretch>
          </p:blipFill>
          <p:spPr>
            <a:xfrm>
              <a:off x="2269236" y="317017"/>
              <a:ext cx="1665732" cy="720826"/>
            </a:xfrm>
            <a:prstGeom prst="rect">
              <a:avLst/>
            </a:prstGeom>
          </p:spPr>
        </p:pic>
        <p:pic>
          <p:nvPicPr>
            <p:cNvPr id="5" name="object 5"/>
            <p:cNvPicPr/>
            <p:nvPr/>
          </p:nvPicPr>
          <p:blipFill>
            <a:blip r:embed="rId5" cstate="print"/>
            <a:stretch>
              <a:fillRect/>
            </a:stretch>
          </p:blipFill>
          <p:spPr>
            <a:xfrm>
              <a:off x="692429" y="404596"/>
              <a:ext cx="4824476" cy="461670"/>
            </a:xfrm>
            <a:prstGeom prst="rect">
              <a:avLst/>
            </a:prstGeom>
          </p:spPr>
        </p:pic>
      </p:grpSp>
      <p:sp>
        <p:nvSpPr>
          <p:cNvPr id="6" name="object 6"/>
          <p:cNvSpPr txBox="1">
            <a:spLocks noGrp="1"/>
          </p:cNvSpPr>
          <p:nvPr>
            <p:ph type="title"/>
          </p:nvPr>
        </p:nvSpPr>
        <p:spPr>
          <a:xfrm>
            <a:off x="692429" y="404596"/>
            <a:ext cx="4824730" cy="462280"/>
          </a:xfrm>
          <a:prstGeom prst="rect">
            <a:avLst/>
          </a:prstGeom>
          <a:ln w="9525">
            <a:solidFill>
              <a:srgbClr val="BD4A47"/>
            </a:solidFill>
          </a:ln>
        </p:spPr>
        <p:txBody>
          <a:bodyPr vert="horz" wrap="square" lIns="0" tIns="31750" rIns="0" bIns="0" rtlCol="0">
            <a:spAutoFit/>
          </a:bodyPr>
          <a:lstStyle/>
          <a:p>
            <a:pPr algn="ctr">
              <a:lnSpc>
                <a:spcPct val="100000"/>
              </a:lnSpc>
              <a:spcBef>
                <a:spcPts val="250"/>
              </a:spcBef>
            </a:pPr>
            <a:r>
              <a:rPr sz="2400" dirty="0">
                <a:solidFill>
                  <a:srgbClr val="FFFFFF"/>
                </a:solidFill>
              </a:rPr>
              <a:t>模型构建</a:t>
            </a:r>
            <a:endParaRPr sz="2400"/>
          </a:p>
        </p:txBody>
      </p:sp>
      <p:sp>
        <p:nvSpPr>
          <p:cNvPr id="8" name="object 8"/>
          <p:cNvSpPr txBox="1"/>
          <p:nvPr/>
        </p:nvSpPr>
        <p:spPr>
          <a:xfrm>
            <a:off x="5334000" y="5601114"/>
            <a:ext cx="2628139" cy="289823"/>
          </a:xfrm>
          <a:prstGeom prst="rect">
            <a:avLst/>
          </a:prstGeom>
        </p:spPr>
        <p:txBody>
          <a:bodyPr vert="horz" wrap="square" lIns="0" tIns="12700" rIns="0" bIns="0" rtlCol="0">
            <a:spAutoFit/>
          </a:bodyPr>
          <a:lstStyle/>
          <a:p>
            <a:pPr marL="12700">
              <a:lnSpc>
                <a:spcPct val="100000"/>
              </a:lnSpc>
              <a:spcBef>
                <a:spcPts val="100"/>
              </a:spcBef>
            </a:pPr>
            <a:r>
              <a:rPr lang="en-US" sz="1800" b="1" spc="-5" dirty="0">
                <a:latin typeface="Calibri"/>
                <a:cs typeface="Calibri"/>
              </a:rPr>
              <a:t>NIRVANA</a:t>
            </a:r>
            <a:r>
              <a:rPr lang="zh-CN" altLang="en-US" b="1" spc="10" dirty="0">
                <a:latin typeface="SimSun"/>
                <a:cs typeface="Calibri"/>
              </a:rPr>
              <a:t>概述</a:t>
            </a:r>
            <a:endParaRPr sz="1800" dirty="0">
              <a:latin typeface="SimSun"/>
              <a:cs typeface="SimSun"/>
            </a:endParaRPr>
          </a:p>
        </p:txBody>
      </p:sp>
      <p:pic>
        <p:nvPicPr>
          <p:cNvPr id="10" name="图片 9">
            <a:extLst>
              <a:ext uri="{FF2B5EF4-FFF2-40B4-BE49-F238E27FC236}">
                <a16:creationId xmlns:a16="http://schemas.microsoft.com/office/drawing/2014/main" id="{A7CCF270-0C63-4932-A419-9A4DC31BF415}"/>
              </a:ext>
            </a:extLst>
          </p:cNvPr>
          <p:cNvPicPr>
            <a:picLocks noChangeAspect="1"/>
          </p:cNvPicPr>
          <p:nvPr/>
        </p:nvPicPr>
        <p:blipFill>
          <a:blip r:embed="rId6"/>
          <a:stretch>
            <a:fillRect/>
          </a:stretch>
        </p:blipFill>
        <p:spPr>
          <a:xfrm>
            <a:off x="3505200" y="1318366"/>
            <a:ext cx="5526741" cy="41778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53787" y="317017"/>
            <a:ext cx="4897120" cy="721360"/>
            <a:chOff x="653787" y="317017"/>
            <a:chExt cx="4897120" cy="721360"/>
          </a:xfrm>
        </p:grpSpPr>
        <p:pic>
          <p:nvPicPr>
            <p:cNvPr id="3" name="object 3"/>
            <p:cNvPicPr/>
            <p:nvPr/>
          </p:nvPicPr>
          <p:blipFill>
            <a:blip r:embed="rId2" cstate="print"/>
            <a:stretch>
              <a:fillRect/>
            </a:stretch>
          </p:blipFill>
          <p:spPr>
            <a:xfrm>
              <a:off x="653787" y="388545"/>
              <a:ext cx="4896628" cy="535073"/>
            </a:xfrm>
            <a:prstGeom prst="rect">
              <a:avLst/>
            </a:prstGeom>
          </p:spPr>
        </p:pic>
        <p:pic>
          <p:nvPicPr>
            <p:cNvPr id="4" name="object 4"/>
            <p:cNvPicPr/>
            <p:nvPr/>
          </p:nvPicPr>
          <p:blipFill>
            <a:blip r:embed="rId3" cstate="print"/>
            <a:stretch>
              <a:fillRect/>
            </a:stretch>
          </p:blipFill>
          <p:spPr>
            <a:xfrm>
              <a:off x="2269236" y="317017"/>
              <a:ext cx="1665732" cy="720826"/>
            </a:xfrm>
            <a:prstGeom prst="rect">
              <a:avLst/>
            </a:prstGeom>
          </p:spPr>
        </p:pic>
        <p:pic>
          <p:nvPicPr>
            <p:cNvPr id="5" name="object 5"/>
            <p:cNvPicPr/>
            <p:nvPr/>
          </p:nvPicPr>
          <p:blipFill>
            <a:blip r:embed="rId4" cstate="print"/>
            <a:stretch>
              <a:fillRect/>
            </a:stretch>
          </p:blipFill>
          <p:spPr>
            <a:xfrm>
              <a:off x="692429" y="404596"/>
              <a:ext cx="4824476" cy="461670"/>
            </a:xfrm>
            <a:prstGeom prst="rect">
              <a:avLst/>
            </a:prstGeom>
          </p:spPr>
        </p:pic>
      </p:grpSp>
      <p:sp>
        <p:nvSpPr>
          <p:cNvPr id="6" name="object 6"/>
          <p:cNvSpPr txBox="1">
            <a:spLocks noGrp="1"/>
          </p:cNvSpPr>
          <p:nvPr>
            <p:ph type="title"/>
          </p:nvPr>
        </p:nvSpPr>
        <p:spPr>
          <a:xfrm>
            <a:off x="692429" y="404596"/>
            <a:ext cx="4824730" cy="462280"/>
          </a:xfrm>
          <a:prstGeom prst="rect">
            <a:avLst/>
          </a:prstGeom>
          <a:ln w="9525">
            <a:solidFill>
              <a:srgbClr val="BD4A47"/>
            </a:solidFill>
          </a:ln>
        </p:spPr>
        <p:txBody>
          <a:bodyPr vert="horz" wrap="square" lIns="0" tIns="31750" rIns="0" bIns="0" rtlCol="0">
            <a:spAutoFit/>
          </a:bodyPr>
          <a:lstStyle/>
          <a:p>
            <a:pPr algn="ctr">
              <a:lnSpc>
                <a:spcPct val="100000"/>
              </a:lnSpc>
              <a:spcBef>
                <a:spcPts val="250"/>
              </a:spcBef>
            </a:pPr>
            <a:r>
              <a:rPr sz="2400" dirty="0">
                <a:solidFill>
                  <a:srgbClr val="FFFFFF"/>
                </a:solidFill>
              </a:rPr>
              <a:t>算法实现</a:t>
            </a:r>
            <a:endParaRPr sz="2400"/>
          </a:p>
        </p:txBody>
      </p:sp>
      <p:sp>
        <p:nvSpPr>
          <p:cNvPr id="9" name="object 9"/>
          <p:cNvSpPr txBox="1"/>
          <p:nvPr/>
        </p:nvSpPr>
        <p:spPr>
          <a:xfrm>
            <a:off x="838200" y="1575061"/>
            <a:ext cx="1952143" cy="289823"/>
          </a:xfrm>
          <a:prstGeom prst="rect">
            <a:avLst/>
          </a:prstGeom>
        </p:spPr>
        <p:txBody>
          <a:bodyPr vert="horz" wrap="square" lIns="0" tIns="12700" rIns="0" bIns="0" rtlCol="0">
            <a:spAutoFit/>
          </a:bodyPr>
          <a:lstStyle/>
          <a:p>
            <a:pPr marL="12700">
              <a:lnSpc>
                <a:spcPct val="100000"/>
              </a:lnSpc>
              <a:spcBef>
                <a:spcPts val="100"/>
              </a:spcBef>
            </a:pPr>
            <a:r>
              <a:rPr lang="zh-CN" altLang="en-US" spc="-5" dirty="0">
                <a:latin typeface="SimSun"/>
                <a:cs typeface="SimSun"/>
              </a:rPr>
              <a:t>整体推导流程算法</a:t>
            </a:r>
            <a:endParaRPr sz="1800" dirty="0">
              <a:latin typeface="SimSun"/>
              <a:cs typeface="SimSun"/>
            </a:endParaRPr>
          </a:p>
        </p:txBody>
      </p:sp>
      <p:sp>
        <p:nvSpPr>
          <p:cNvPr id="10" name="object 10"/>
          <p:cNvSpPr txBox="1"/>
          <p:nvPr/>
        </p:nvSpPr>
        <p:spPr>
          <a:xfrm>
            <a:off x="6410003" y="1575061"/>
            <a:ext cx="1576071" cy="289823"/>
          </a:xfrm>
          <a:prstGeom prst="rect">
            <a:avLst/>
          </a:prstGeom>
        </p:spPr>
        <p:txBody>
          <a:bodyPr vert="horz" wrap="square" lIns="0" tIns="12700" rIns="0" bIns="0" rtlCol="0">
            <a:spAutoFit/>
          </a:bodyPr>
          <a:lstStyle/>
          <a:p>
            <a:pPr marL="12700">
              <a:lnSpc>
                <a:spcPct val="100000"/>
              </a:lnSpc>
              <a:spcBef>
                <a:spcPts val="100"/>
              </a:spcBef>
            </a:pPr>
            <a:r>
              <a:rPr lang="zh-CN" altLang="en-US" spc="-5" dirty="0">
                <a:latin typeface="SimSun"/>
                <a:cs typeface="SimSun"/>
              </a:rPr>
              <a:t>状态选择算法</a:t>
            </a:r>
            <a:endParaRPr sz="1800" dirty="0">
              <a:latin typeface="SimSun"/>
              <a:cs typeface="SimSun"/>
            </a:endParaRPr>
          </a:p>
        </p:txBody>
      </p:sp>
      <p:pic>
        <p:nvPicPr>
          <p:cNvPr id="12" name="图片 11">
            <a:extLst>
              <a:ext uri="{FF2B5EF4-FFF2-40B4-BE49-F238E27FC236}">
                <a16:creationId xmlns:a16="http://schemas.microsoft.com/office/drawing/2014/main" id="{31E70917-72C6-4FAF-9CF8-5A263EC6A31B}"/>
              </a:ext>
            </a:extLst>
          </p:cNvPr>
          <p:cNvPicPr>
            <a:picLocks noChangeAspect="1"/>
          </p:cNvPicPr>
          <p:nvPr/>
        </p:nvPicPr>
        <p:blipFill>
          <a:blip r:embed="rId5"/>
          <a:stretch>
            <a:fillRect/>
          </a:stretch>
        </p:blipFill>
        <p:spPr>
          <a:xfrm>
            <a:off x="228600" y="1988202"/>
            <a:ext cx="4235017" cy="4041258"/>
          </a:xfrm>
          <a:prstGeom prst="rect">
            <a:avLst/>
          </a:prstGeom>
        </p:spPr>
      </p:pic>
      <p:pic>
        <p:nvPicPr>
          <p:cNvPr id="14" name="图片 13">
            <a:extLst>
              <a:ext uri="{FF2B5EF4-FFF2-40B4-BE49-F238E27FC236}">
                <a16:creationId xmlns:a16="http://schemas.microsoft.com/office/drawing/2014/main" id="{7C8321B7-D95E-4411-B34E-FCC31C7BC489}"/>
              </a:ext>
            </a:extLst>
          </p:cNvPr>
          <p:cNvPicPr>
            <a:picLocks noChangeAspect="1"/>
          </p:cNvPicPr>
          <p:nvPr/>
        </p:nvPicPr>
        <p:blipFill>
          <a:blip r:embed="rId6"/>
          <a:stretch>
            <a:fillRect/>
          </a:stretch>
        </p:blipFill>
        <p:spPr>
          <a:xfrm>
            <a:off x="5105400" y="1989365"/>
            <a:ext cx="5505450" cy="1994100"/>
          </a:xfrm>
          <a:prstGeom prst="rect">
            <a:avLst/>
          </a:prstGeom>
        </p:spPr>
      </p:pic>
      <p:pic>
        <p:nvPicPr>
          <p:cNvPr id="16" name="图片 15">
            <a:extLst>
              <a:ext uri="{FF2B5EF4-FFF2-40B4-BE49-F238E27FC236}">
                <a16:creationId xmlns:a16="http://schemas.microsoft.com/office/drawing/2014/main" id="{E79977DD-9A27-4496-B43F-4BE6A5265C6E}"/>
              </a:ext>
            </a:extLst>
          </p:cNvPr>
          <p:cNvPicPr>
            <a:picLocks noChangeAspect="1"/>
          </p:cNvPicPr>
          <p:nvPr/>
        </p:nvPicPr>
        <p:blipFill>
          <a:blip r:embed="rId7"/>
          <a:stretch>
            <a:fillRect/>
          </a:stretch>
        </p:blipFill>
        <p:spPr>
          <a:xfrm>
            <a:off x="5127504" y="4035588"/>
            <a:ext cx="2070535" cy="1952593"/>
          </a:xfrm>
          <a:prstGeom prst="rect">
            <a:avLst/>
          </a:prstGeom>
        </p:spPr>
      </p:pic>
      <p:sp>
        <p:nvSpPr>
          <p:cNvPr id="17" name="文本框 16">
            <a:extLst>
              <a:ext uri="{FF2B5EF4-FFF2-40B4-BE49-F238E27FC236}">
                <a16:creationId xmlns:a16="http://schemas.microsoft.com/office/drawing/2014/main" id="{058DC3B8-5AB9-44B0-8F39-B11340CAD08D}"/>
              </a:ext>
            </a:extLst>
          </p:cNvPr>
          <p:cNvSpPr txBox="1"/>
          <p:nvPr/>
        </p:nvSpPr>
        <p:spPr>
          <a:xfrm>
            <a:off x="7620000" y="4800600"/>
            <a:ext cx="2990850" cy="923330"/>
          </a:xfrm>
          <a:prstGeom prst="rect">
            <a:avLst/>
          </a:prstGeom>
          <a:noFill/>
        </p:spPr>
        <p:txBody>
          <a:bodyPr wrap="square" rtlCol="0">
            <a:spAutoFit/>
          </a:bodyPr>
          <a:lstStyle/>
          <a:p>
            <a:pPr algn="just"/>
            <a:r>
              <a:rPr lang="zh-CN" altLang="en-US" b="0" i="0" dirty="0">
                <a:solidFill>
                  <a:srgbClr val="000000"/>
                </a:solidFill>
                <a:effectLst/>
                <a:latin typeface="+mj-ea"/>
                <a:ea typeface="+mj-ea"/>
              </a:rPr>
              <a:t>根据相似度评分确定</a:t>
            </a:r>
            <a:r>
              <a:rPr lang="en-US" altLang="zh-CN" b="0" i="0" dirty="0">
                <a:solidFill>
                  <a:srgbClr val="000000"/>
                </a:solidFill>
                <a:effectLst/>
                <a:latin typeface="+mj-ea"/>
                <a:ea typeface="+mj-ea"/>
              </a:rPr>
              <a:t>K</a:t>
            </a:r>
            <a:r>
              <a:rPr lang="zh-CN" altLang="en-US" b="0" i="0" dirty="0">
                <a:solidFill>
                  <a:srgbClr val="000000"/>
                </a:solidFill>
                <a:effectLst/>
                <a:latin typeface="+mj-ea"/>
                <a:ea typeface="+mj-ea"/>
              </a:rPr>
              <a:t>。</a:t>
            </a:r>
          </a:p>
          <a:p>
            <a:br>
              <a:rPr lang="zh-CN" altLang="en-US" dirty="0"/>
            </a:b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5013159"/>
            <a:ext cx="12192000" cy="1584325"/>
          </a:xfrm>
          <a:custGeom>
            <a:avLst/>
            <a:gdLst/>
            <a:ahLst/>
            <a:cxnLst/>
            <a:rect l="l" t="t" r="r" b="b"/>
            <a:pathLst>
              <a:path w="12192000" h="1584325">
                <a:moveTo>
                  <a:pt x="12192000" y="0"/>
                </a:moveTo>
                <a:lnTo>
                  <a:pt x="0" y="0"/>
                </a:lnTo>
                <a:lnTo>
                  <a:pt x="0" y="1584198"/>
                </a:lnTo>
                <a:lnTo>
                  <a:pt x="12192000" y="1584198"/>
                </a:lnTo>
                <a:lnTo>
                  <a:pt x="12192000" y="0"/>
                </a:lnTo>
                <a:close/>
              </a:path>
            </a:pathLst>
          </a:custGeom>
          <a:solidFill>
            <a:srgbClr val="FFFFFF"/>
          </a:solidFill>
        </p:spPr>
        <p:txBody>
          <a:bodyPr wrap="square" lIns="0" tIns="0" rIns="0" bIns="0" rtlCol="0"/>
          <a:lstStyle/>
          <a:p>
            <a:endParaRPr/>
          </a:p>
        </p:txBody>
      </p:sp>
      <p:grpSp>
        <p:nvGrpSpPr>
          <p:cNvPr id="3" name="object 3"/>
          <p:cNvGrpSpPr/>
          <p:nvPr/>
        </p:nvGrpSpPr>
        <p:grpSpPr>
          <a:xfrm>
            <a:off x="0" y="0"/>
            <a:ext cx="12192000" cy="2625725"/>
            <a:chOff x="0" y="0"/>
            <a:chExt cx="12192000" cy="2625725"/>
          </a:xfrm>
        </p:grpSpPr>
        <p:sp>
          <p:nvSpPr>
            <p:cNvPr id="4" name="object 4"/>
            <p:cNvSpPr/>
            <p:nvPr/>
          </p:nvSpPr>
          <p:spPr>
            <a:xfrm>
              <a:off x="0" y="0"/>
              <a:ext cx="12192000" cy="2625725"/>
            </a:xfrm>
            <a:custGeom>
              <a:avLst/>
              <a:gdLst/>
              <a:ahLst/>
              <a:cxnLst/>
              <a:rect l="l" t="t" r="r" b="b"/>
              <a:pathLst>
                <a:path w="12192000" h="2625725">
                  <a:moveTo>
                    <a:pt x="12192000" y="0"/>
                  </a:moveTo>
                  <a:lnTo>
                    <a:pt x="7262114" y="0"/>
                  </a:lnTo>
                  <a:lnTo>
                    <a:pt x="7262114" y="1041273"/>
                  </a:lnTo>
                  <a:lnTo>
                    <a:pt x="0" y="1041273"/>
                  </a:lnTo>
                  <a:lnTo>
                    <a:pt x="0" y="2625471"/>
                  </a:lnTo>
                  <a:lnTo>
                    <a:pt x="10200513" y="2625471"/>
                  </a:lnTo>
                  <a:lnTo>
                    <a:pt x="10200513" y="1541272"/>
                  </a:lnTo>
                  <a:lnTo>
                    <a:pt x="12192000" y="1541272"/>
                  </a:lnTo>
                  <a:lnTo>
                    <a:pt x="12192000" y="0"/>
                  </a:lnTo>
                  <a:close/>
                </a:path>
              </a:pathLst>
            </a:custGeom>
            <a:solidFill>
              <a:srgbClr val="FFFFFF"/>
            </a:solidFill>
          </p:spPr>
          <p:txBody>
            <a:bodyPr wrap="square" lIns="0" tIns="0" rIns="0" bIns="0" rtlCol="0"/>
            <a:lstStyle/>
            <a:p>
              <a:endParaRPr/>
            </a:p>
          </p:txBody>
        </p:sp>
        <p:pic>
          <p:nvPicPr>
            <p:cNvPr id="5" name="object 5"/>
            <p:cNvPicPr/>
            <p:nvPr/>
          </p:nvPicPr>
          <p:blipFill>
            <a:blip r:embed="rId2" cstate="print"/>
            <a:stretch>
              <a:fillRect/>
            </a:stretch>
          </p:blipFill>
          <p:spPr>
            <a:xfrm>
              <a:off x="297171" y="272683"/>
              <a:ext cx="4896628" cy="533612"/>
            </a:xfrm>
            <a:prstGeom prst="rect">
              <a:avLst/>
            </a:prstGeom>
          </p:spPr>
        </p:pic>
        <p:pic>
          <p:nvPicPr>
            <p:cNvPr id="6" name="object 6"/>
            <p:cNvPicPr/>
            <p:nvPr/>
          </p:nvPicPr>
          <p:blipFill>
            <a:blip r:embed="rId3" cstate="print"/>
            <a:stretch>
              <a:fillRect/>
            </a:stretch>
          </p:blipFill>
          <p:spPr>
            <a:xfrm>
              <a:off x="1760220" y="199669"/>
              <a:ext cx="1970532" cy="720826"/>
            </a:xfrm>
            <a:prstGeom prst="rect">
              <a:avLst/>
            </a:prstGeom>
          </p:spPr>
        </p:pic>
        <p:pic>
          <p:nvPicPr>
            <p:cNvPr id="7" name="object 7"/>
            <p:cNvPicPr/>
            <p:nvPr/>
          </p:nvPicPr>
          <p:blipFill>
            <a:blip r:embed="rId4" cstate="print"/>
            <a:stretch>
              <a:fillRect/>
            </a:stretch>
          </p:blipFill>
          <p:spPr>
            <a:xfrm>
              <a:off x="335356" y="287629"/>
              <a:ext cx="4824476" cy="461670"/>
            </a:xfrm>
            <a:prstGeom prst="rect">
              <a:avLst/>
            </a:prstGeom>
          </p:spPr>
        </p:pic>
      </p:grpSp>
      <p:sp>
        <p:nvSpPr>
          <p:cNvPr id="8" name="object 8"/>
          <p:cNvSpPr txBox="1">
            <a:spLocks noGrp="1"/>
          </p:cNvSpPr>
          <p:nvPr>
            <p:ph type="title"/>
          </p:nvPr>
        </p:nvSpPr>
        <p:spPr>
          <a:xfrm>
            <a:off x="335356" y="287629"/>
            <a:ext cx="4824730" cy="462280"/>
          </a:xfrm>
          <a:prstGeom prst="rect">
            <a:avLst/>
          </a:prstGeom>
          <a:ln w="9525">
            <a:solidFill>
              <a:srgbClr val="BD4A47"/>
            </a:solidFill>
          </a:ln>
        </p:spPr>
        <p:txBody>
          <a:bodyPr vert="horz" wrap="square" lIns="0" tIns="31750" rIns="0" bIns="0" rtlCol="0">
            <a:spAutoFit/>
          </a:bodyPr>
          <a:lstStyle/>
          <a:p>
            <a:pPr algn="ctr">
              <a:lnSpc>
                <a:spcPct val="100000"/>
              </a:lnSpc>
              <a:spcBef>
                <a:spcPts val="250"/>
              </a:spcBef>
            </a:pPr>
            <a:r>
              <a:rPr sz="2400" dirty="0">
                <a:solidFill>
                  <a:srgbClr val="FFFFFF"/>
                </a:solidFill>
              </a:rPr>
              <a:t>数据集介绍</a:t>
            </a:r>
            <a:endParaRPr sz="2400"/>
          </a:p>
        </p:txBody>
      </p:sp>
      <p:pic>
        <p:nvPicPr>
          <p:cNvPr id="22" name="图片 21">
            <a:extLst>
              <a:ext uri="{FF2B5EF4-FFF2-40B4-BE49-F238E27FC236}">
                <a16:creationId xmlns:a16="http://schemas.microsoft.com/office/drawing/2014/main" id="{7747874F-0107-4D8A-BF4D-48AB74B3014C}"/>
              </a:ext>
            </a:extLst>
          </p:cNvPr>
          <p:cNvPicPr>
            <a:picLocks noChangeAspect="1"/>
          </p:cNvPicPr>
          <p:nvPr/>
        </p:nvPicPr>
        <p:blipFill>
          <a:blip r:embed="rId5"/>
          <a:stretch>
            <a:fillRect/>
          </a:stretch>
        </p:blipFill>
        <p:spPr>
          <a:xfrm>
            <a:off x="533400" y="1686902"/>
            <a:ext cx="5243918" cy="2423011"/>
          </a:xfrm>
          <a:prstGeom prst="rect">
            <a:avLst/>
          </a:prstGeom>
        </p:spPr>
      </p:pic>
      <p:sp>
        <p:nvSpPr>
          <p:cNvPr id="23" name="文本框 22">
            <a:extLst>
              <a:ext uri="{FF2B5EF4-FFF2-40B4-BE49-F238E27FC236}">
                <a16:creationId xmlns:a16="http://schemas.microsoft.com/office/drawing/2014/main" id="{DDBD9827-E063-42BB-A405-74A76ECF5A9A}"/>
              </a:ext>
            </a:extLst>
          </p:cNvPr>
          <p:cNvSpPr txBox="1"/>
          <p:nvPr/>
        </p:nvSpPr>
        <p:spPr>
          <a:xfrm>
            <a:off x="457200" y="4659086"/>
            <a:ext cx="5562600" cy="923330"/>
          </a:xfrm>
          <a:prstGeom prst="rect">
            <a:avLst/>
          </a:prstGeom>
          <a:noFill/>
        </p:spPr>
        <p:txBody>
          <a:bodyPr wrap="square" rtlCol="0">
            <a:spAutoFit/>
          </a:bodyPr>
          <a:lstStyle/>
          <a:p>
            <a:r>
              <a:rPr lang="en-US" altLang="zh-CN" dirty="0" err="1"/>
              <a:t>DiffusionDB</a:t>
            </a:r>
            <a:r>
              <a:rPr lang="zh-CN" altLang="en-US" dirty="0"/>
              <a:t>：总共</a:t>
            </a:r>
            <a:r>
              <a:rPr lang="en-US" altLang="zh-CN" dirty="0"/>
              <a:t>2M</a:t>
            </a:r>
            <a:r>
              <a:rPr lang="zh-CN" altLang="en-US" dirty="0"/>
              <a:t>张图片，</a:t>
            </a:r>
            <a:r>
              <a:rPr lang="en-US" altLang="zh-CN" dirty="0"/>
              <a:t>1.5M</a:t>
            </a:r>
            <a:r>
              <a:rPr lang="zh-CN" altLang="en-US" dirty="0"/>
              <a:t>个唯一提示，总数据集大小约为</a:t>
            </a:r>
            <a:r>
              <a:rPr lang="en-US" altLang="zh-CN" dirty="0"/>
              <a:t>1.6 tb</a:t>
            </a:r>
            <a:r>
              <a:rPr lang="zh-CN" altLang="en-US" dirty="0"/>
              <a:t>，我们对数据集进行过滤，去除</a:t>
            </a:r>
            <a:r>
              <a:rPr lang="en-US" altLang="zh-CN" dirty="0"/>
              <a:t>NSFW</a:t>
            </a:r>
            <a:r>
              <a:rPr lang="zh-CN" altLang="en-US" dirty="0"/>
              <a:t>图像</a:t>
            </a:r>
          </a:p>
        </p:txBody>
      </p:sp>
      <p:sp>
        <p:nvSpPr>
          <p:cNvPr id="24" name="文本框 23">
            <a:extLst>
              <a:ext uri="{FF2B5EF4-FFF2-40B4-BE49-F238E27FC236}">
                <a16:creationId xmlns:a16="http://schemas.microsoft.com/office/drawing/2014/main" id="{7BCDE4C6-DF36-4DF5-8E25-07EFF12D1BED}"/>
              </a:ext>
            </a:extLst>
          </p:cNvPr>
          <p:cNvSpPr txBox="1"/>
          <p:nvPr/>
        </p:nvSpPr>
        <p:spPr>
          <a:xfrm>
            <a:off x="6477000" y="4659086"/>
            <a:ext cx="5562600" cy="923330"/>
          </a:xfrm>
          <a:prstGeom prst="rect">
            <a:avLst/>
          </a:prstGeom>
          <a:noFill/>
        </p:spPr>
        <p:txBody>
          <a:bodyPr wrap="square" rtlCol="0">
            <a:spAutoFit/>
          </a:bodyPr>
          <a:lstStyle/>
          <a:p>
            <a:r>
              <a:rPr lang="en-US" altLang="zh-CN" dirty="0"/>
              <a:t>SYSTEM-X</a:t>
            </a:r>
            <a:r>
              <a:rPr lang="zh-CN" altLang="en-US" dirty="0"/>
              <a:t>：来自生产设置系统</a:t>
            </a:r>
            <a:r>
              <a:rPr lang="en-US" altLang="zh-CN" dirty="0"/>
              <a:t>- x</a:t>
            </a:r>
            <a:r>
              <a:rPr lang="zh-CN" altLang="en-US" dirty="0"/>
              <a:t>的提示，跨度超过</a:t>
            </a:r>
            <a:r>
              <a:rPr lang="en-US" altLang="zh-CN" dirty="0"/>
              <a:t>8</a:t>
            </a:r>
            <a:r>
              <a:rPr lang="zh-CN" altLang="en-US" dirty="0"/>
              <a:t>周，包含超过</a:t>
            </a:r>
            <a:r>
              <a:rPr lang="en-US" altLang="zh-CN" dirty="0"/>
              <a:t>7M</a:t>
            </a:r>
            <a:r>
              <a:rPr lang="zh-CN" altLang="en-US" dirty="0"/>
              <a:t>个图像，</a:t>
            </a:r>
            <a:r>
              <a:rPr lang="en-US" altLang="zh-CN" dirty="0"/>
              <a:t>6.2M</a:t>
            </a:r>
            <a:r>
              <a:rPr lang="zh-CN" altLang="en-US" dirty="0"/>
              <a:t>个唯一提示，总大小约为</a:t>
            </a:r>
            <a:r>
              <a:rPr lang="en-US" altLang="zh-CN" dirty="0"/>
              <a:t>5tb</a:t>
            </a:r>
            <a:r>
              <a:rPr lang="zh-CN" altLang="en-US"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95299"/>
            <a:ext cx="10344785" cy="1584325"/>
          </a:xfrm>
          <a:custGeom>
            <a:avLst/>
            <a:gdLst/>
            <a:ahLst/>
            <a:cxnLst/>
            <a:rect l="l" t="t" r="r" b="b"/>
            <a:pathLst>
              <a:path w="10344785" h="1584325">
                <a:moveTo>
                  <a:pt x="10344531" y="0"/>
                </a:moveTo>
                <a:lnTo>
                  <a:pt x="0" y="0"/>
                </a:lnTo>
                <a:lnTo>
                  <a:pt x="0" y="1584198"/>
                </a:lnTo>
                <a:lnTo>
                  <a:pt x="10344531" y="1584198"/>
                </a:lnTo>
                <a:lnTo>
                  <a:pt x="10344531" y="0"/>
                </a:lnTo>
                <a:close/>
              </a:path>
            </a:pathLst>
          </a:custGeom>
          <a:solidFill>
            <a:srgbClr val="FFFFFF"/>
          </a:solidFill>
        </p:spPr>
        <p:txBody>
          <a:bodyPr wrap="square" lIns="0" tIns="0" rIns="0" bIns="0" rtlCol="0"/>
          <a:lstStyle/>
          <a:p>
            <a:endParaRPr/>
          </a:p>
        </p:txBody>
      </p:sp>
      <p:sp>
        <p:nvSpPr>
          <p:cNvPr id="3" name="object 3"/>
          <p:cNvSpPr/>
          <p:nvPr/>
        </p:nvSpPr>
        <p:spPr>
          <a:xfrm>
            <a:off x="0" y="5013159"/>
            <a:ext cx="12192000" cy="1584325"/>
          </a:xfrm>
          <a:custGeom>
            <a:avLst/>
            <a:gdLst/>
            <a:ahLst/>
            <a:cxnLst/>
            <a:rect l="l" t="t" r="r" b="b"/>
            <a:pathLst>
              <a:path w="12192000" h="1584325">
                <a:moveTo>
                  <a:pt x="12192000" y="0"/>
                </a:moveTo>
                <a:lnTo>
                  <a:pt x="0" y="0"/>
                </a:lnTo>
                <a:lnTo>
                  <a:pt x="0" y="1584198"/>
                </a:lnTo>
                <a:lnTo>
                  <a:pt x="12192000" y="1584198"/>
                </a:lnTo>
                <a:lnTo>
                  <a:pt x="12192000" y="0"/>
                </a:lnTo>
                <a:close/>
              </a:path>
            </a:pathLst>
          </a:custGeom>
          <a:solidFill>
            <a:srgbClr val="FFFFFF"/>
          </a:solidFill>
        </p:spPr>
        <p:txBody>
          <a:bodyPr wrap="square" lIns="0" tIns="0" rIns="0" bIns="0" rtlCol="0"/>
          <a:lstStyle/>
          <a:p>
            <a:endParaRPr/>
          </a:p>
        </p:txBody>
      </p:sp>
      <p:grpSp>
        <p:nvGrpSpPr>
          <p:cNvPr id="7" name="object 7"/>
          <p:cNvGrpSpPr/>
          <p:nvPr/>
        </p:nvGrpSpPr>
        <p:grpSpPr>
          <a:xfrm>
            <a:off x="653787" y="317017"/>
            <a:ext cx="4897120" cy="721360"/>
            <a:chOff x="653787" y="317017"/>
            <a:chExt cx="4897120" cy="721360"/>
          </a:xfrm>
        </p:grpSpPr>
        <p:pic>
          <p:nvPicPr>
            <p:cNvPr id="8" name="object 8"/>
            <p:cNvPicPr/>
            <p:nvPr/>
          </p:nvPicPr>
          <p:blipFill>
            <a:blip r:embed="rId3" cstate="print"/>
            <a:stretch>
              <a:fillRect/>
            </a:stretch>
          </p:blipFill>
          <p:spPr>
            <a:xfrm>
              <a:off x="653787" y="388545"/>
              <a:ext cx="4896628" cy="535073"/>
            </a:xfrm>
            <a:prstGeom prst="rect">
              <a:avLst/>
            </a:prstGeom>
          </p:spPr>
        </p:pic>
        <p:pic>
          <p:nvPicPr>
            <p:cNvPr id="9" name="object 9"/>
            <p:cNvPicPr/>
            <p:nvPr/>
          </p:nvPicPr>
          <p:blipFill>
            <a:blip r:embed="rId4" cstate="print"/>
            <a:stretch>
              <a:fillRect/>
            </a:stretch>
          </p:blipFill>
          <p:spPr>
            <a:xfrm>
              <a:off x="2116836" y="317017"/>
              <a:ext cx="1970532" cy="720826"/>
            </a:xfrm>
            <a:prstGeom prst="rect">
              <a:avLst/>
            </a:prstGeom>
          </p:spPr>
        </p:pic>
        <p:pic>
          <p:nvPicPr>
            <p:cNvPr id="10" name="object 10"/>
            <p:cNvPicPr/>
            <p:nvPr/>
          </p:nvPicPr>
          <p:blipFill>
            <a:blip r:embed="rId5" cstate="print"/>
            <a:stretch>
              <a:fillRect/>
            </a:stretch>
          </p:blipFill>
          <p:spPr>
            <a:xfrm>
              <a:off x="692429" y="404596"/>
              <a:ext cx="4824476" cy="461670"/>
            </a:xfrm>
            <a:prstGeom prst="rect">
              <a:avLst/>
            </a:prstGeom>
          </p:spPr>
        </p:pic>
      </p:grpSp>
      <p:sp>
        <p:nvSpPr>
          <p:cNvPr id="11" name="object 11"/>
          <p:cNvSpPr txBox="1">
            <a:spLocks noGrp="1"/>
          </p:cNvSpPr>
          <p:nvPr>
            <p:ph type="title"/>
          </p:nvPr>
        </p:nvSpPr>
        <p:spPr>
          <a:xfrm>
            <a:off x="692429" y="404596"/>
            <a:ext cx="4824730" cy="401392"/>
          </a:xfrm>
          <a:prstGeom prst="rect">
            <a:avLst/>
          </a:prstGeom>
          <a:ln w="9525">
            <a:solidFill>
              <a:srgbClr val="BD4A47"/>
            </a:solidFill>
          </a:ln>
        </p:spPr>
        <p:txBody>
          <a:bodyPr vert="horz" wrap="square" lIns="0" tIns="31750" rIns="0" bIns="0" rtlCol="0">
            <a:spAutoFit/>
          </a:bodyPr>
          <a:lstStyle/>
          <a:p>
            <a:pPr algn="ctr">
              <a:lnSpc>
                <a:spcPct val="100000"/>
              </a:lnSpc>
              <a:spcBef>
                <a:spcPts val="250"/>
              </a:spcBef>
            </a:pPr>
            <a:r>
              <a:rPr lang="zh-CN" altLang="en-US" sz="2400" dirty="0">
                <a:solidFill>
                  <a:srgbClr val="FFFFFF"/>
                </a:solidFill>
              </a:rPr>
              <a:t>模型精度对比</a:t>
            </a:r>
            <a:endParaRPr sz="2400" dirty="0"/>
          </a:p>
        </p:txBody>
      </p:sp>
      <p:pic>
        <p:nvPicPr>
          <p:cNvPr id="13" name="图片 12">
            <a:extLst>
              <a:ext uri="{FF2B5EF4-FFF2-40B4-BE49-F238E27FC236}">
                <a16:creationId xmlns:a16="http://schemas.microsoft.com/office/drawing/2014/main" id="{79885F3B-B8A3-4DCE-8BF1-5F80350B9FB4}"/>
              </a:ext>
            </a:extLst>
          </p:cNvPr>
          <p:cNvPicPr>
            <a:picLocks noChangeAspect="1"/>
          </p:cNvPicPr>
          <p:nvPr/>
        </p:nvPicPr>
        <p:blipFill>
          <a:blip r:embed="rId6"/>
          <a:stretch>
            <a:fillRect/>
          </a:stretch>
        </p:blipFill>
        <p:spPr>
          <a:xfrm>
            <a:off x="2590800" y="1142028"/>
            <a:ext cx="6188338" cy="500363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53787" y="317017"/>
            <a:ext cx="4897120" cy="721360"/>
            <a:chOff x="653787" y="317017"/>
            <a:chExt cx="4897120" cy="721360"/>
          </a:xfrm>
        </p:grpSpPr>
        <p:pic>
          <p:nvPicPr>
            <p:cNvPr id="4" name="object 4"/>
            <p:cNvPicPr/>
            <p:nvPr/>
          </p:nvPicPr>
          <p:blipFill>
            <a:blip r:embed="rId2" cstate="print"/>
            <a:stretch>
              <a:fillRect/>
            </a:stretch>
          </p:blipFill>
          <p:spPr>
            <a:xfrm>
              <a:off x="653787" y="388545"/>
              <a:ext cx="4896628" cy="535073"/>
            </a:xfrm>
            <a:prstGeom prst="rect">
              <a:avLst/>
            </a:prstGeom>
          </p:spPr>
        </p:pic>
        <p:pic>
          <p:nvPicPr>
            <p:cNvPr id="5" name="object 5"/>
            <p:cNvPicPr/>
            <p:nvPr/>
          </p:nvPicPr>
          <p:blipFill>
            <a:blip r:embed="rId3" cstate="print"/>
            <a:stretch>
              <a:fillRect/>
            </a:stretch>
          </p:blipFill>
          <p:spPr>
            <a:xfrm>
              <a:off x="1050036" y="317017"/>
              <a:ext cx="4104132" cy="720826"/>
            </a:xfrm>
            <a:prstGeom prst="rect">
              <a:avLst/>
            </a:prstGeom>
          </p:spPr>
        </p:pic>
        <p:pic>
          <p:nvPicPr>
            <p:cNvPr id="6" name="object 6"/>
            <p:cNvPicPr/>
            <p:nvPr/>
          </p:nvPicPr>
          <p:blipFill>
            <a:blip r:embed="rId4" cstate="print"/>
            <a:stretch>
              <a:fillRect/>
            </a:stretch>
          </p:blipFill>
          <p:spPr>
            <a:xfrm>
              <a:off x="692429" y="404596"/>
              <a:ext cx="4824476" cy="461670"/>
            </a:xfrm>
            <a:prstGeom prst="rect">
              <a:avLst/>
            </a:prstGeom>
          </p:spPr>
        </p:pic>
      </p:grpSp>
      <p:sp>
        <p:nvSpPr>
          <p:cNvPr id="7" name="object 7"/>
          <p:cNvSpPr txBox="1">
            <a:spLocks noGrp="1"/>
          </p:cNvSpPr>
          <p:nvPr>
            <p:ph type="title"/>
          </p:nvPr>
        </p:nvSpPr>
        <p:spPr>
          <a:xfrm>
            <a:off x="692429" y="404596"/>
            <a:ext cx="4824730" cy="401392"/>
          </a:xfrm>
          <a:prstGeom prst="rect">
            <a:avLst/>
          </a:prstGeom>
          <a:ln w="9525">
            <a:solidFill>
              <a:srgbClr val="BD4A47"/>
            </a:solidFill>
          </a:ln>
        </p:spPr>
        <p:txBody>
          <a:bodyPr vert="horz" wrap="square" lIns="0" tIns="31750" rIns="0" bIns="0" rtlCol="0">
            <a:spAutoFit/>
          </a:bodyPr>
          <a:lstStyle/>
          <a:p>
            <a:pPr algn="ctr">
              <a:lnSpc>
                <a:spcPct val="100000"/>
              </a:lnSpc>
              <a:spcBef>
                <a:spcPts val="250"/>
              </a:spcBef>
            </a:pPr>
            <a:r>
              <a:rPr lang="zh-CN" altLang="en-US" sz="2400" dirty="0">
                <a:solidFill>
                  <a:srgbClr val="FFFFFF"/>
                </a:solidFill>
              </a:rPr>
              <a:t>消融实验（成本）</a:t>
            </a:r>
            <a:endParaRPr sz="2400" dirty="0"/>
          </a:p>
        </p:txBody>
      </p:sp>
      <p:pic>
        <p:nvPicPr>
          <p:cNvPr id="9" name="图片 8">
            <a:extLst>
              <a:ext uri="{FF2B5EF4-FFF2-40B4-BE49-F238E27FC236}">
                <a16:creationId xmlns:a16="http://schemas.microsoft.com/office/drawing/2014/main" id="{5E1CD45A-7628-4427-A10D-EB13A0545CB1}"/>
              </a:ext>
            </a:extLst>
          </p:cNvPr>
          <p:cNvPicPr>
            <a:picLocks noChangeAspect="1"/>
          </p:cNvPicPr>
          <p:nvPr/>
        </p:nvPicPr>
        <p:blipFill>
          <a:blip r:embed="rId5"/>
          <a:stretch>
            <a:fillRect/>
          </a:stretch>
        </p:blipFill>
        <p:spPr>
          <a:xfrm>
            <a:off x="2639568" y="1524000"/>
            <a:ext cx="6629400" cy="42628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5"/>
          <p:cNvGrpSpPr/>
          <p:nvPr/>
        </p:nvGrpSpPr>
        <p:grpSpPr>
          <a:xfrm>
            <a:off x="653787" y="317017"/>
            <a:ext cx="4897120" cy="721360"/>
            <a:chOff x="653787" y="317017"/>
            <a:chExt cx="4897120" cy="721360"/>
          </a:xfrm>
        </p:grpSpPr>
        <p:pic>
          <p:nvPicPr>
            <p:cNvPr id="6" name="object 6"/>
            <p:cNvPicPr/>
            <p:nvPr/>
          </p:nvPicPr>
          <p:blipFill>
            <a:blip r:embed="rId2" cstate="print"/>
            <a:stretch>
              <a:fillRect/>
            </a:stretch>
          </p:blipFill>
          <p:spPr>
            <a:xfrm>
              <a:off x="653787" y="388545"/>
              <a:ext cx="4896628" cy="535073"/>
            </a:xfrm>
            <a:prstGeom prst="rect">
              <a:avLst/>
            </a:prstGeom>
          </p:spPr>
        </p:pic>
        <p:pic>
          <p:nvPicPr>
            <p:cNvPr id="7" name="object 7"/>
            <p:cNvPicPr/>
            <p:nvPr/>
          </p:nvPicPr>
          <p:blipFill>
            <a:blip r:embed="rId3" cstate="print"/>
            <a:stretch>
              <a:fillRect/>
            </a:stretch>
          </p:blipFill>
          <p:spPr>
            <a:xfrm>
              <a:off x="1202436" y="317017"/>
              <a:ext cx="3799332" cy="720826"/>
            </a:xfrm>
            <a:prstGeom prst="rect">
              <a:avLst/>
            </a:prstGeom>
          </p:spPr>
        </p:pic>
        <p:pic>
          <p:nvPicPr>
            <p:cNvPr id="8" name="object 8"/>
            <p:cNvPicPr/>
            <p:nvPr/>
          </p:nvPicPr>
          <p:blipFill>
            <a:blip r:embed="rId4" cstate="print"/>
            <a:stretch>
              <a:fillRect/>
            </a:stretch>
          </p:blipFill>
          <p:spPr>
            <a:xfrm>
              <a:off x="692429" y="404596"/>
              <a:ext cx="4824476" cy="461670"/>
            </a:xfrm>
            <a:prstGeom prst="rect">
              <a:avLst/>
            </a:prstGeom>
          </p:spPr>
        </p:pic>
      </p:grpSp>
      <p:sp>
        <p:nvSpPr>
          <p:cNvPr id="9" name="object 9"/>
          <p:cNvSpPr txBox="1">
            <a:spLocks noGrp="1"/>
          </p:cNvSpPr>
          <p:nvPr>
            <p:ph type="title"/>
          </p:nvPr>
        </p:nvSpPr>
        <p:spPr>
          <a:xfrm>
            <a:off x="692429" y="404596"/>
            <a:ext cx="4824730" cy="401392"/>
          </a:xfrm>
          <a:prstGeom prst="rect">
            <a:avLst/>
          </a:prstGeom>
          <a:ln w="9525">
            <a:solidFill>
              <a:srgbClr val="BD4A47"/>
            </a:solidFill>
          </a:ln>
        </p:spPr>
        <p:txBody>
          <a:bodyPr vert="horz" wrap="square" lIns="0" tIns="31750" rIns="0" bIns="0" rtlCol="0">
            <a:spAutoFit/>
          </a:bodyPr>
          <a:lstStyle/>
          <a:p>
            <a:pPr algn="ctr">
              <a:lnSpc>
                <a:spcPct val="100000"/>
              </a:lnSpc>
              <a:spcBef>
                <a:spcPts val="250"/>
              </a:spcBef>
            </a:pPr>
            <a:r>
              <a:rPr lang="zh-CN" altLang="en-US" sz="2400" dirty="0">
                <a:solidFill>
                  <a:srgbClr val="FFFFFF"/>
                </a:solidFill>
              </a:rPr>
              <a:t>命中率和</a:t>
            </a:r>
            <a:r>
              <a:rPr lang="en-US" altLang="zh-CN" sz="2400" dirty="0">
                <a:solidFill>
                  <a:srgbClr val="FFFFFF"/>
                </a:solidFill>
              </a:rPr>
              <a:t>K</a:t>
            </a:r>
            <a:r>
              <a:rPr lang="zh-CN" altLang="en-US" sz="2400" dirty="0">
                <a:solidFill>
                  <a:srgbClr val="FFFFFF"/>
                </a:solidFill>
              </a:rPr>
              <a:t>的计算量</a:t>
            </a:r>
            <a:endParaRPr lang="zh-CN" altLang="en-US" sz="2400" dirty="0"/>
          </a:p>
        </p:txBody>
      </p:sp>
      <p:pic>
        <p:nvPicPr>
          <p:cNvPr id="11" name="图片 10">
            <a:extLst>
              <a:ext uri="{FF2B5EF4-FFF2-40B4-BE49-F238E27FC236}">
                <a16:creationId xmlns:a16="http://schemas.microsoft.com/office/drawing/2014/main" id="{9AAB514B-38BF-4908-A6AA-79025A1AF844}"/>
              </a:ext>
            </a:extLst>
          </p:cNvPr>
          <p:cNvPicPr>
            <a:picLocks noChangeAspect="1"/>
          </p:cNvPicPr>
          <p:nvPr/>
        </p:nvPicPr>
        <p:blipFill>
          <a:blip r:embed="rId5"/>
          <a:stretch>
            <a:fillRect/>
          </a:stretch>
        </p:blipFill>
        <p:spPr>
          <a:xfrm>
            <a:off x="2861526" y="1386104"/>
            <a:ext cx="5404150" cy="356145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53787" y="317017"/>
            <a:ext cx="4897120" cy="721360"/>
            <a:chOff x="653787" y="317017"/>
            <a:chExt cx="4897120" cy="721360"/>
          </a:xfrm>
        </p:grpSpPr>
        <p:pic>
          <p:nvPicPr>
            <p:cNvPr id="3" name="object 3"/>
            <p:cNvPicPr/>
            <p:nvPr/>
          </p:nvPicPr>
          <p:blipFill>
            <a:blip r:embed="rId2" cstate="print"/>
            <a:stretch>
              <a:fillRect/>
            </a:stretch>
          </p:blipFill>
          <p:spPr>
            <a:xfrm>
              <a:off x="653787" y="388545"/>
              <a:ext cx="4896628" cy="535073"/>
            </a:xfrm>
            <a:prstGeom prst="rect">
              <a:avLst/>
            </a:prstGeom>
          </p:spPr>
        </p:pic>
        <p:pic>
          <p:nvPicPr>
            <p:cNvPr id="4" name="object 4"/>
            <p:cNvPicPr/>
            <p:nvPr/>
          </p:nvPicPr>
          <p:blipFill>
            <a:blip r:embed="rId3" cstate="print"/>
            <a:stretch>
              <a:fillRect/>
            </a:stretch>
          </p:blipFill>
          <p:spPr>
            <a:xfrm>
              <a:off x="2574036" y="317017"/>
              <a:ext cx="1056132" cy="720826"/>
            </a:xfrm>
            <a:prstGeom prst="rect">
              <a:avLst/>
            </a:prstGeom>
          </p:spPr>
        </p:pic>
        <p:pic>
          <p:nvPicPr>
            <p:cNvPr id="5" name="object 5"/>
            <p:cNvPicPr/>
            <p:nvPr/>
          </p:nvPicPr>
          <p:blipFill>
            <a:blip r:embed="rId4" cstate="print"/>
            <a:stretch>
              <a:fillRect/>
            </a:stretch>
          </p:blipFill>
          <p:spPr>
            <a:xfrm>
              <a:off x="692429" y="404596"/>
              <a:ext cx="4824476" cy="461670"/>
            </a:xfrm>
            <a:prstGeom prst="rect">
              <a:avLst/>
            </a:prstGeom>
          </p:spPr>
        </p:pic>
      </p:grpSp>
      <p:sp>
        <p:nvSpPr>
          <p:cNvPr id="6" name="object 6"/>
          <p:cNvSpPr txBox="1"/>
          <p:nvPr/>
        </p:nvSpPr>
        <p:spPr>
          <a:xfrm>
            <a:off x="692429" y="404596"/>
            <a:ext cx="4824730" cy="462280"/>
          </a:xfrm>
          <a:prstGeom prst="rect">
            <a:avLst/>
          </a:prstGeom>
          <a:ln w="9525">
            <a:solidFill>
              <a:srgbClr val="BD4A47"/>
            </a:solidFill>
          </a:ln>
        </p:spPr>
        <p:txBody>
          <a:bodyPr vert="horz" wrap="square" lIns="0" tIns="31750" rIns="0" bIns="0" rtlCol="0">
            <a:spAutoFit/>
          </a:bodyPr>
          <a:lstStyle/>
          <a:p>
            <a:pPr algn="ctr">
              <a:lnSpc>
                <a:spcPct val="100000"/>
              </a:lnSpc>
              <a:spcBef>
                <a:spcPts val="250"/>
              </a:spcBef>
            </a:pPr>
            <a:r>
              <a:rPr sz="2400" dirty="0">
                <a:solidFill>
                  <a:srgbClr val="FFFFFF"/>
                </a:solidFill>
                <a:latin typeface="SimSun"/>
                <a:cs typeface="SimSun"/>
              </a:rPr>
              <a:t>感想</a:t>
            </a:r>
            <a:endParaRPr sz="2400">
              <a:latin typeface="SimSun"/>
              <a:cs typeface="SimSun"/>
            </a:endParaRPr>
          </a:p>
        </p:txBody>
      </p:sp>
      <p:sp>
        <p:nvSpPr>
          <p:cNvPr id="7" name="object 7"/>
          <p:cNvSpPr txBox="1"/>
          <p:nvPr/>
        </p:nvSpPr>
        <p:spPr>
          <a:xfrm>
            <a:off x="762000" y="1787492"/>
            <a:ext cx="9740900" cy="3283015"/>
          </a:xfrm>
          <a:prstGeom prst="rect">
            <a:avLst/>
          </a:prstGeom>
        </p:spPr>
        <p:txBody>
          <a:bodyPr vert="horz" wrap="square" lIns="0" tIns="12700" rIns="0" bIns="0" rtlCol="0">
            <a:spAutoFit/>
          </a:bodyPr>
          <a:lstStyle/>
          <a:p>
            <a:pPr marL="429895">
              <a:lnSpc>
                <a:spcPct val="150000"/>
              </a:lnSpc>
              <a:spcBef>
                <a:spcPts val="100"/>
              </a:spcBef>
            </a:pPr>
            <a:r>
              <a:rPr lang="en-US" altLang="zh-CN" sz="1800" spc="35" dirty="0">
                <a:latin typeface="+mj-ea"/>
                <a:ea typeface="+mj-ea"/>
                <a:cs typeface="SimSun"/>
              </a:rPr>
              <a:t>	</a:t>
            </a:r>
            <a:r>
              <a:rPr lang="zh-CN" altLang="en-US" sz="1800" spc="35" dirty="0">
                <a:latin typeface="+mj-ea"/>
                <a:ea typeface="+mj-ea"/>
                <a:cs typeface="SimSun"/>
              </a:rPr>
              <a:t>这篇文章将近似缓存技术与扩散模型的迭代降噪过程创新性地结合在一起，通过对中间状态的重用来减少计算资源消耗和延迟。这一技术突破性地在保留生成图像质量的同时，实现了显著的计算效率提升，特别是在生成高质量图像的生产环境中节约了约</a:t>
            </a:r>
            <a:r>
              <a:rPr lang="en-US" altLang="zh-CN" sz="1800" spc="35" dirty="0">
                <a:latin typeface="+mj-ea"/>
                <a:ea typeface="+mj-ea"/>
                <a:cs typeface="SimSun"/>
              </a:rPr>
              <a:t>21%</a:t>
            </a:r>
            <a:r>
              <a:rPr lang="zh-CN" altLang="en-US" sz="1800" spc="35" dirty="0">
                <a:latin typeface="+mj-ea"/>
                <a:ea typeface="+mj-ea"/>
                <a:cs typeface="SimSun"/>
              </a:rPr>
              <a:t>的</a:t>
            </a:r>
            <a:r>
              <a:rPr lang="en-US" altLang="zh-CN" sz="1800" spc="35" dirty="0">
                <a:latin typeface="+mj-ea"/>
                <a:ea typeface="+mj-ea"/>
                <a:cs typeface="SimSun"/>
              </a:rPr>
              <a:t>GPU</a:t>
            </a:r>
            <a:r>
              <a:rPr lang="zh-CN" altLang="en-US" sz="1800" spc="35" dirty="0">
                <a:latin typeface="+mj-ea"/>
                <a:ea typeface="+mj-ea"/>
                <a:cs typeface="SimSun"/>
              </a:rPr>
              <a:t>计算时间和</a:t>
            </a:r>
            <a:r>
              <a:rPr lang="en-US" altLang="zh-CN" sz="1800" spc="35" dirty="0">
                <a:latin typeface="+mj-ea"/>
                <a:ea typeface="+mj-ea"/>
                <a:cs typeface="SimSun"/>
              </a:rPr>
              <a:t>19%</a:t>
            </a:r>
            <a:r>
              <a:rPr lang="zh-CN" altLang="en-US" sz="1800" spc="35" dirty="0">
                <a:latin typeface="+mj-ea"/>
                <a:ea typeface="+mj-ea"/>
                <a:cs typeface="SimSun"/>
              </a:rPr>
              <a:t>的成本。这使我对生成模型优化以及扩散模型的实际应用有了更深的理解。</a:t>
            </a:r>
            <a:endParaRPr lang="en-US" altLang="zh-CN" sz="1800" spc="35" dirty="0">
              <a:latin typeface="+mj-ea"/>
              <a:ea typeface="+mj-ea"/>
              <a:cs typeface="SimSun"/>
            </a:endParaRPr>
          </a:p>
          <a:p>
            <a:pPr marL="429895">
              <a:lnSpc>
                <a:spcPct val="150000"/>
              </a:lnSpc>
              <a:spcBef>
                <a:spcPts val="100"/>
              </a:spcBef>
            </a:pPr>
            <a:r>
              <a:rPr lang="en-US" altLang="zh-CN" spc="35" dirty="0">
                <a:latin typeface="+mj-ea"/>
                <a:ea typeface="+mj-ea"/>
                <a:cs typeface="SimSun"/>
              </a:rPr>
              <a:t>	</a:t>
            </a:r>
            <a:r>
              <a:rPr lang="zh-CN" altLang="en-US" sz="1800" spc="35" dirty="0">
                <a:latin typeface="+mj-ea"/>
                <a:ea typeface="+mj-ea"/>
                <a:cs typeface="SimSun"/>
              </a:rPr>
              <a:t>从原始扩散模型到引入近似缓存的进化让我认识到问题提出和解决的思路：不仅要从模型设计本身优化性能，还需结合实际系统需求开发新机制，如</a:t>
            </a:r>
            <a:r>
              <a:rPr lang="en-US" altLang="zh-CN" sz="1800" spc="35" dirty="0">
                <a:latin typeface="+mj-ea"/>
                <a:ea typeface="+mj-ea"/>
                <a:cs typeface="SimSun"/>
              </a:rPr>
              <a:t>NIRVANA</a:t>
            </a:r>
            <a:r>
              <a:rPr lang="zh-CN" altLang="en-US" sz="1800" spc="35" dirty="0">
                <a:latin typeface="+mj-ea"/>
                <a:ea typeface="+mj-ea"/>
                <a:cs typeface="SimSun"/>
              </a:rPr>
              <a:t>中优化的缓存管理策略（</a:t>
            </a:r>
            <a:r>
              <a:rPr lang="en-US" altLang="zh-CN" sz="1800" spc="35" dirty="0">
                <a:latin typeface="+mj-ea"/>
                <a:ea typeface="+mj-ea"/>
                <a:cs typeface="SimSun"/>
              </a:rPr>
              <a:t>LCBFU</a:t>
            </a:r>
            <a:r>
              <a:rPr lang="zh-CN" altLang="en-US" sz="1800" spc="35" dirty="0">
                <a:latin typeface="+mj-ea"/>
                <a:ea typeface="+mj-ea"/>
                <a:cs typeface="SimSun"/>
              </a:rPr>
              <a:t>）。更重要的是，这篇文章启示了如何通过实验评估和用户调查证明技术的有效性，从发现问题、提出创新，到验证成果，整个过程值得深入学习和借鉴。</a:t>
            </a:r>
            <a:endParaRPr sz="1800" dirty="0">
              <a:latin typeface="+mj-ea"/>
              <a:ea typeface="+mj-ea"/>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3335">
              <a:lnSpc>
                <a:spcPct val="100000"/>
              </a:lnSpc>
              <a:spcBef>
                <a:spcPts val="100"/>
              </a:spcBef>
            </a:pPr>
            <a:r>
              <a:rPr dirty="0"/>
              <a:t>感谢聆听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1000</TotalTime>
  <Words>1539</Words>
  <Application>Microsoft Office PowerPoint</Application>
  <PresentationFormat>宽屏</PresentationFormat>
  <Paragraphs>84</Paragraphs>
  <Slides>15</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Lucida Grande</vt:lpstr>
      <vt:lpstr>等线</vt:lpstr>
      <vt:lpstr>宋体</vt:lpstr>
      <vt:lpstr>宋体</vt:lpstr>
      <vt:lpstr>Microsoft YaHei</vt:lpstr>
      <vt:lpstr>Microsoft YaHei</vt:lpstr>
      <vt:lpstr>Arial</vt:lpstr>
      <vt:lpstr>Calibri</vt:lpstr>
      <vt:lpstr>Office Theme</vt:lpstr>
      <vt:lpstr>Approximate Caching for Efficiently Serving Diffusion Models</vt:lpstr>
      <vt:lpstr>背景及相关工作</vt:lpstr>
      <vt:lpstr>Vanilla Diffusion Model（基础扩散模型）</vt:lpstr>
      <vt:lpstr>Dynamics of Image Generation（图像生成动力学）</vt:lpstr>
      <vt:lpstr>问题陈述</vt:lpstr>
      <vt:lpstr>本文工作</vt:lpstr>
      <vt:lpstr>工作贡献</vt:lpstr>
      <vt:lpstr>模型构建</vt:lpstr>
      <vt:lpstr>算法实现</vt:lpstr>
      <vt:lpstr>数据集介绍</vt:lpstr>
      <vt:lpstr>模型精度对比</vt:lpstr>
      <vt:lpstr>消融实验（成本）</vt:lpstr>
      <vt:lpstr>命中率和K的计算量</vt:lpstr>
      <vt:lpstr>PowerPoint 演示文稿</vt:lpstr>
      <vt:lpstr>感谢聆听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are we doing?</dc:title>
  <dc:creator>CHM</dc:creator>
  <cp:lastModifiedBy>gkq2414774255@163.com</cp:lastModifiedBy>
  <cp:revision>77</cp:revision>
  <dcterms:created xsi:type="dcterms:W3CDTF">2024-11-21T11:03:23Z</dcterms:created>
  <dcterms:modified xsi:type="dcterms:W3CDTF">2024-12-08T14:47:31Z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2024-11-20T00:00:00Z</vt:filetime>
  </property>
  <property fmtid="{D5CDD505-2E9C-101B-9397-08002B2CF9AE}" pid="3" name="Creator">
    <vt:lpwstr>Microsoft® PowerPoint® 适用于 Microsoft 365</vt:lpwstr>
  </property>
  <property fmtid="{D5CDD505-2E9C-101B-9397-08002B2CF9AE}" pid="4" name="LastSaved">
    <vt:filetime>2024-11-21T00:00:00Z</vt:filetime>
  </property>
</Properties>
</file>