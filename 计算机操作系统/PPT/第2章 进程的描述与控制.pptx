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70"/>
  </p:notesMasterIdLst>
  <p:sldIdLst>
    <p:sldId id="1252" r:id="rId2"/>
    <p:sldId id="1253" r:id="rId3"/>
    <p:sldId id="1254" r:id="rId4"/>
    <p:sldId id="1255" r:id="rId5"/>
    <p:sldId id="1256" r:id="rId6"/>
    <p:sldId id="1261" r:id="rId7"/>
    <p:sldId id="1262" r:id="rId8"/>
    <p:sldId id="1263" r:id="rId9"/>
    <p:sldId id="1264" r:id="rId10"/>
    <p:sldId id="1257" r:id="rId11"/>
    <p:sldId id="1272" r:id="rId12"/>
    <p:sldId id="1273" r:id="rId13"/>
    <p:sldId id="1275" r:id="rId14"/>
    <p:sldId id="1274" r:id="rId15"/>
    <p:sldId id="1276" r:id="rId16"/>
    <p:sldId id="1259" r:id="rId17"/>
    <p:sldId id="1321" r:id="rId18"/>
    <p:sldId id="1277" r:id="rId19"/>
    <p:sldId id="1278" r:id="rId20"/>
    <p:sldId id="1317" r:id="rId21"/>
    <p:sldId id="1279" r:id="rId22"/>
    <p:sldId id="1280" r:id="rId23"/>
    <p:sldId id="1281" r:id="rId24"/>
    <p:sldId id="1282" r:id="rId25"/>
    <p:sldId id="1287" r:id="rId26"/>
    <p:sldId id="1288" r:id="rId27"/>
    <p:sldId id="1289" r:id="rId28"/>
    <p:sldId id="1290" r:id="rId29"/>
    <p:sldId id="1338" r:id="rId30"/>
    <p:sldId id="1291" r:id="rId31"/>
    <p:sldId id="1292" r:id="rId32"/>
    <p:sldId id="1293" r:id="rId33"/>
    <p:sldId id="1294" r:id="rId34"/>
    <p:sldId id="1295" r:id="rId35"/>
    <p:sldId id="1296" r:id="rId36"/>
    <p:sldId id="1297" r:id="rId37"/>
    <p:sldId id="1298" r:id="rId38"/>
    <p:sldId id="1299" r:id="rId39"/>
    <p:sldId id="1300" r:id="rId40"/>
    <p:sldId id="1301" r:id="rId41"/>
    <p:sldId id="1302" r:id="rId42"/>
    <p:sldId id="1303" r:id="rId43"/>
    <p:sldId id="1304" r:id="rId44"/>
    <p:sldId id="1305" r:id="rId45"/>
    <p:sldId id="1306" r:id="rId46"/>
    <p:sldId id="1311" r:id="rId47"/>
    <p:sldId id="1307" r:id="rId48"/>
    <p:sldId id="1334" r:id="rId49"/>
    <p:sldId id="1308" r:id="rId50"/>
    <p:sldId id="1310" r:id="rId51"/>
    <p:sldId id="1309" r:id="rId52"/>
    <p:sldId id="1285" r:id="rId53"/>
    <p:sldId id="1312" r:id="rId54"/>
    <p:sldId id="1313" r:id="rId55"/>
    <p:sldId id="1314" r:id="rId56"/>
    <p:sldId id="1315" r:id="rId57"/>
    <p:sldId id="1318" r:id="rId58"/>
    <p:sldId id="1319" r:id="rId59"/>
    <p:sldId id="1322" r:id="rId60"/>
    <p:sldId id="1324" r:id="rId61"/>
    <p:sldId id="1323" r:id="rId62"/>
    <p:sldId id="1325" r:id="rId63"/>
    <p:sldId id="1326" r:id="rId64"/>
    <p:sldId id="1330" r:id="rId65"/>
    <p:sldId id="1329" r:id="rId66"/>
    <p:sldId id="1331" r:id="rId67"/>
    <p:sldId id="1332" r:id="rId68"/>
    <p:sldId id="1333" r:id="rId6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 jr" initials="zj"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307E"/>
    <a:srgbClr val="FDCB0B"/>
    <a:srgbClr val="FFD700"/>
    <a:srgbClr val="F9BC12"/>
    <a:srgbClr val="FFD801"/>
    <a:srgbClr val="EFB914"/>
    <a:srgbClr val="F5BD15"/>
    <a:srgbClr val="F8BF15"/>
    <a:srgbClr val="FEC60D"/>
    <a:srgbClr val="FFC2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861"/>
    <p:restoredTop sz="73613" autoAdjust="0"/>
  </p:normalViewPr>
  <p:slideViewPr>
    <p:cSldViewPr snapToGrid="0" snapToObjects="1">
      <p:cViewPr varScale="1">
        <p:scale>
          <a:sx n="82" d="100"/>
          <a:sy n="82" d="100"/>
        </p:scale>
        <p:origin x="1434" y="84"/>
      </p:cViewPr>
      <p:guideLst/>
    </p:cSldViewPr>
  </p:slideViewPr>
  <p:outlineViewPr>
    <p:cViewPr>
      <p:scale>
        <a:sx n="33" d="100"/>
        <a:sy n="33" d="100"/>
      </p:scale>
      <p:origin x="0" y="-26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2024/9/23</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使用信号量机制时，互斥和同步都属于进程自己的责任，同步代码</a:t>
            </a:r>
            <a:r>
              <a:rPr lang="en-US" altLang="zh-CN" dirty="0"/>
              <a:t>(PV</a:t>
            </a:r>
            <a:r>
              <a:rPr lang="zh-CN" altLang="en-US" dirty="0"/>
              <a:t>操作等</a:t>
            </a:r>
            <a:r>
              <a:rPr lang="en-US" altLang="zh-CN" dirty="0"/>
              <a:t>)</a:t>
            </a:r>
            <a:r>
              <a:rPr lang="zh-CN" altLang="en-US" dirty="0"/>
              <a:t>分散在进程各处；各进程还要仔细安排</a:t>
            </a:r>
            <a:r>
              <a:rPr lang="en-US" altLang="zh-CN" dirty="0"/>
              <a:t>PV</a:t>
            </a:r>
            <a:r>
              <a:rPr lang="zh-CN" altLang="en-US" dirty="0"/>
              <a:t>操作的顺序，谨慎定义信号量的数值，遗漏一个</a:t>
            </a:r>
            <a:r>
              <a:rPr lang="en-US" altLang="zh-CN" dirty="0"/>
              <a:t>V</a:t>
            </a:r>
            <a:r>
              <a:rPr lang="zh-CN" altLang="en-US" dirty="0"/>
              <a:t>操作都有可能时其他进程永远挂起。</a:t>
            </a:r>
          </a:p>
          <a:p>
            <a:endParaRPr lang="zh-CN" altLang="en-US" dirty="0"/>
          </a:p>
          <a:p>
            <a:r>
              <a:rPr lang="zh-CN" altLang="en-US" dirty="0"/>
              <a:t>而管程构造了自己的互斥机制，由编译器实现，通常使用信号量机制。管程优于信号量之处在于所有同步机制都被限制在管程内部，因此易于验证同步的正确性，易于检查出错误。</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42</a:t>
            </a:fld>
            <a:endParaRPr kumimoji="1" lang="zh-CN" altLang="en-US"/>
          </a:p>
        </p:txBody>
      </p:sp>
    </p:spTree>
    <p:extLst>
      <p:ext uri="{BB962C8B-B14F-4D97-AF65-F5344CB8AC3E}">
        <p14:creationId xmlns:p14="http://schemas.microsoft.com/office/powerpoint/2010/main" val="4199754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122363"/>
            <a:ext cx="9144000" cy="2387600"/>
          </a:xfrm>
        </p:spPr>
        <p:txBody>
          <a:bodyPr anchor="b">
            <a:normAutofit/>
          </a:bodyPr>
          <a:lstStyle>
            <a:lvl1pPr algn="ctr">
              <a:defRPr sz="5400">
                <a:latin typeface="Times New Roman" panose="02020603050405020304" pitchFamily="18" charset="0"/>
                <a:ea typeface="宋体" panose="02010600030101010101" pitchFamily="2" charset="-122"/>
                <a:cs typeface="Times New Roman" panose="02020603050405020304" pitchFamily="18" charset="0"/>
              </a:defRPr>
            </a:lvl1pPr>
          </a:lstStyle>
          <a:p>
            <a:r>
              <a:rPr kumimoji="1" lang="zh-CN" altLang="en-US" dirty="0"/>
              <a:t>单击此处编辑母版标题样式</a:t>
            </a:r>
            <a:br>
              <a:rPr kumimoji="1" lang="en-US" altLang="zh-CN" dirty="0"/>
            </a:br>
            <a:endParaRPr kumimoji="1" lang="zh-CN" altLang="en-US" dirty="0"/>
          </a:p>
        </p:txBody>
      </p:sp>
      <p:sp>
        <p:nvSpPr>
          <p:cNvPr id="3" name="副标题 2"/>
          <p:cNvSpPr>
            <a:spLocks noGrp="1"/>
          </p:cNvSpPr>
          <p:nvPr>
            <p:ph type="subTitle" idx="1" hasCustomPrompt="1"/>
          </p:nvPr>
        </p:nvSpPr>
        <p:spPr>
          <a:xfrm>
            <a:off x="1524000" y="3602038"/>
            <a:ext cx="9144000" cy="1655762"/>
          </a:xfrm>
          <a:ln>
            <a:noFill/>
          </a:ln>
        </p:spPr>
        <p:txBody>
          <a:bodyPr/>
          <a:lstStyle>
            <a:lvl1pPr marL="0" indent="0" algn="ctr">
              <a:buNone/>
              <a:defRPr sz="2400">
                <a:latin typeface="Times New Roman" panose="02020603050405020304" pitchFamily="18" charset="0"/>
                <a:ea typeface="宋体" panose="02010600030101010101" pitchFamily="2" charset="-122"/>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kumimoji="1" lang="en-US" altLang="zh-CN" dirty="0"/>
          </a:p>
          <a:p>
            <a:r>
              <a:rPr kumimoji="1" lang="zh-CN" altLang="en-US" dirty="0"/>
              <a:t>单击此处编辑母版副标题样式</a:t>
            </a:r>
          </a:p>
        </p:txBody>
      </p:sp>
      <p:sp>
        <p:nvSpPr>
          <p:cNvPr id="4" name="日期占位符 3"/>
          <p:cNvSpPr>
            <a:spLocks noGrp="1"/>
          </p:cNvSpPr>
          <p:nvPr>
            <p:ph type="dt" sz="half" idx="10"/>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E6C9AC36-F551-8142-B918-8641B516A611}" type="datetime1">
              <a:rPr kumimoji="1" lang="zh-CN" altLang="en-US" smtClean="0"/>
              <a:pPr/>
              <a:t>2024/9/23</a:t>
            </a:fld>
            <a:endParaRPr kumimoji="1" lang="zh-CN" altLang="en-US"/>
          </a:p>
        </p:txBody>
      </p:sp>
      <p:sp>
        <p:nvSpPr>
          <p:cNvPr id="5" name="页脚占位符 4"/>
          <p:cNvSpPr>
            <a:spLocks noGrp="1"/>
          </p:cNvSpPr>
          <p:nvPr>
            <p:ph type="ftr" sz="quarter" idx="11"/>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endParaRPr kumimoji="1" lang="zh-CN" altLang="en-US"/>
          </a:p>
        </p:txBody>
      </p:sp>
      <p:sp>
        <p:nvSpPr>
          <p:cNvPr id="7" name="矩形 6"/>
          <p:cNvSpPr/>
          <p:nvPr userDrawn="1"/>
        </p:nvSpPr>
        <p:spPr>
          <a:xfrm>
            <a:off x="-9939" y="-8627"/>
            <a:ext cx="9307502" cy="56781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0" spc="600">
                <a:solidFill>
                  <a:schemeClr val="bg1"/>
                </a:solidFill>
                <a:latin typeface="Times New Roman" panose="02020603050405020304" pitchFamily="18" charset="0"/>
                <a:ea typeface="宋体" panose="02010600030101010101" pitchFamily="2" charset="-122"/>
                <a:cs typeface="Times New Roman" panose="02020603050405020304" pitchFamily="18" charset="0"/>
              </a:rPr>
              <a:t>操作系统讲义</a:t>
            </a:r>
          </a:p>
        </p:txBody>
      </p:sp>
      <p:sp>
        <p:nvSpPr>
          <p:cNvPr id="9" name="文本框 8"/>
          <p:cNvSpPr txBox="1"/>
          <p:nvPr userDrawn="1"/>
        </p:nvSpPr>
        <p:spPr>
          <a:xfrm>
            <a:off x="9488849" y="123270"/>
            <a:ext cx="2509020" cy="400110"/>
          </a:xfrm>
          <a:prstGeom prst="rect">
            <a:avLst/>
          </a:prstGeom>
          <a:noFill/>
        </p:spPr>
        <p:txBody>
          <a:bodyPr wrap="none" rtlCol="0">
            <a:spAutoFit/>
          </a:bodyPr>
          <a:lstStyle/>
          <a:p>
            <a:pPr algn="r"/>
            <a:r>
              <a:rPr lang="zh-CN" altLang="en-US" sz="2000" spc="600">
                <a:solidFill>
                  <a:srgbClr val="5B307E"/>
                </a:solidFill>
                <a:latin typeface="Times New Roman" panose="02020603050405020304" pitchFamily="18" charset="0"/>
                <a:ea typeface="宋体" panose="02010600030101010101" pitchFamily="2" charset="-122"/>
                <a:cs typeface="Times New Roman" panose="02020603050405020304" pitchFamily="18" charset="0"/>
              </a:rPr>
              <a:t>分享</a:t>
            </a:r>
            <a:r>
              <a:rPr lang="en-US" altLang="zh-CN" sz="2000" spc="600">
                <a:solidFill>
                  <a:srgbClr val="5B307E"/>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spc="600">
                <a:solidFill>
                  <a:srgbClr val="5B307E"/>
                </a:solidFill>
                <a:latin typeface="Times New Roman" panose="02020603050405020304" pitchFamily="18" charset="0"/>
                <a:ea typeface="宋体" panose="02010600030101010101" pitchFamily="2" charset="-122"/>
                <a:cs typeface="Times New Roman" panose="02020603050405020304" pitchFamily="18" charset="0"/>
              </a:rPr>
              <a:t>开源</a:t>
            </a:r>
            <a:r>
              <a:rPr lang="en-US" altLang="zh-CN" sz="2000" spc="600">
                <a:solidFill>
                  <a:srgbClr val="5B307E"/>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spc="600">
                <a:solidFill>
                  <a:srgbClr val="5B307E"/>
                </a:solidFill>
                <a:latin typeface="Times New Roman" panose="02020603050405020304" pitchFamily="18" charset="0"/>
                <a:ea typeface="宋体" panose="02010600030101010101" pitchFamily="2" charset="-122"/>
                <a:cs typeface="Times New Roman" panose="02020603050405020304" pitchFamily="18" charset="0"/>
              </a:rPr>
              <a:t>系统</a:t>
            </a:r>
          </a:p>
        </p:txBody>
      </p:sp>
      <p:sp>
        <p:nvSpPr>
          <p:cNvPr id="10" name="文本框 9"/>
          <p:cNvSpPr txBox="1"/>
          <p:nvPr userDrawn="1"/>
        </p:nvSpPr>
        <p:spPr>
          <a:xfrm>
            <a:off x="9831318" y="6365398"/>
            <a:ext cx="2166551" cy="369332"/>
          </a:xfrm>
          <a:prstGeom prst="rect">
            <a:avLst/>
          </a:prstGeom>
          <a:noFill/>
        </p:spPr>
        <p:txBody>
          <a:bodyPr wrap="square">
            <a:spAutoFit/>
          </a:bodyPr>
          <a:lstStyle/>
          <a:p>
            <a:r>
              <a:rPr lang="en-US" altLang="zh-CN" b="0" i="0">
                <a:solidFill>
                  <a:schemeClr val="accent1">
                    <a:lumMod val="60000"/>
                    <a:lumOff val="40000"/>
                  </a:schemeClr>
                </a:solidFill>
                <a:effectLst/>
                <a:latin typeface="Times New Roman" panose="02020603050405020304" pitchFamily="18" charset="0"/>
                <a:ea typeface="宋体" panose="02010600030101010101" pitchFamily="2" charset="-122"/>
                <a:cs typeface="Times New Roman" panose="02020603050405020304" pitchFamily="18" charset="0"/>
              </a:rPr>
              <a:t>Contributor: </a:t>
            </a:r>
            <a:r>
              <a:rPr lang="zh-CN" altLang="en-US" b="0" i="0">
                <a:solidFill>
                  <a:schemeClr val="accent1">
                    <a:lumMod val="60000"/>
                    <a:lumOff val="40000"/>
                  </a:schemeClr>
                </a:solidFill>
                <a:effectLst/>
                <a:latin typeface="Times New Roman" panose="02020603050405020304" pitchFamily="18" charset="0"/>
                <a:ea typeface="宋体" panose="02010600030101010101" pitchFamily="2" charset="-122"/>
                <a:cs typeface="Times New Roman" panose="02020603050405020304" pitchFamily="18" charset="0"/>
              </a:rPr>
              <a:t>江先亮</a:t>
            </a:r>
            <a:endParaRPr lang="en-US" altLang="zh-CN">
              <a:solidFill>
                <a:schemeClr val="accent1">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000">
                <a:latin typeface="Times New Roman" panose="02020603050405020304" pitchFamily="18" charset="0"/>
                <a:ea typeface="宋体" panose="02010600030101010101" pitchFamily="2" charset="-122"/>
                <a:cs typeface="Times New Roman" panose="02020603050405020304" pitchFamily="18" charset="0"/>
              </a:defRPr>
            </a:lvl1pPr>
          </a:lstStyle>
          <a:p>
            <a:r>
              <a:rPr kumimoji="1" lang="zh-CN" altLang="en-US" dirty="0"/>
              <a:t>单击此处编辑母版标题样式</a:t>
            </a:r>
          </a:p>
        </p:txBody>
      </p:sp>
      <p:sp>
        <p:nvSpPr>
          <p:cNvPr id="3" name="内容占位符 2"/>
          <p:cNvSpPr>
            <a:spLocks noGrp="1"/>
          </p:cNvSpPr>
          <p:nvPr>
            <p:ph idx="1"/>
          </p:nvPr>
        </p:nvSpPr>
        <p:spPr>
          <a:xfrm>
            <a:off x="838200" y="1510758"/>
            <a:ext cx="10515600" cy="4586694"/>
          </a:xfrm>
        </p:spPr>
        <p:txBody>
          <a:bodyPr/>
          <a:lstStyle>
            <a:lvl1pPr marL="360680" indent="-360680">
              <a:lnSpc>
                <a:spcPct val="120000"/>
              </a:lnSpc>
              <a:spcBef>
                <a:spcPts val="600"/>
              </a:spcBef>
              <a:buFont typeface="Wingdings" panose="05000000000000000000" pitchFamily="2" charset="2"/>
              <a:buChar char="Ø"/>
              <a:defRPr>
                <a:latin typeface="Times New Roman" panose="02020603050405020304" pitchFamily="18" charset="0"/>
                <a:ea typeface="宋体" panose="02010600030101010101" pitchFamily="2" charset="-122"/>
                <a:cs typeface="Times New Roman" panose="02020603050405020304" pitchFamily="18" charset="0"/>
              </a:defRPr>
            </a:lvl1pPr>
            <a:lvl2pPr>
              <a:lnSpc>
                <a:spcPct val="120000"/>
              </a:lnSpc>
              <a:spcBef>
                <a:spcPts val="600"/>
              </a:spcBef>
              <a:buFont typeface="Arial" panose="020B0604020202020204" pitchFamily="34" charset="0"/>
              <a:buChar char="•"/>
              <a:defRPr>
                <a:latin typeface="Times New Roman" panose="02020603050405020304" pitchFamily="18" charset="0"/>
                <a:ea typeface="宋体" panose="02010600030101010101" pitchFamily="2" charset="-122"/>
                <a:cs typeface="Times New Roman" panose="02020603050405020304" pitchFamily="18" charset="0"/>
              </a:defRPr>
            </a:lvl2pPr>
            <a:lvl3pPr>
              <a:lnSpc>
                <a:spcPct val="120000"/>
              </a:lnSpc>
              <a:spcBef>
                <a:spcPts val="600"/>
              </a:spcBef>
              <a:defRPr>
                <a:latin typeface="Times New Roman" panose="02020603050405020304" pitchFamily="18" charset="0"/>
                <a:ea typeface="宋体" panose="02010600030101010101" pitchFamily="2" charset="-122"/>
                <a:cs typeface="Times New Roman" panose="02020603050405020304" pitchFamily="18" charset="0"/>
              </a:defRPr>
            </a:lvl3pPr>
            <a:lvl4pPr>
              <a:lnSpc>
                <a:spcPct val="120000"/>
              </a:lnSpc>
              <a:spcBef>
                <a:spcPts val="600"/>
              </a:spcBef>
              <a:defRPr>
                <a:latin typeface="Times New Roman" panose="02020603050405020304" pitchFamily="18" charset="0"/>
                <a:ea typeface="宋体" panose="02010600030101010101" pitchFamily="2" charset="-122"/>
                <a:cs typeface="Times New Roman" panose="02020603050405020304" pitchFamily="18" charset="0"/>
              </a:defRPr>
            </a:lvl4pPr>
            <a:lvl5pPr>
              <a:lnSpc>
                <a:spcPct val="120000"/>
              </a:lnSpc>
              <a:spcBef>
                <a:spcPts val="600"/>
              </a:spcBef>
              <a:defRPr>
                <a:latin typeface="Times New Roman" panose="02020603050405020304" pitchFamily="18" charset="0"/>
                <a:ea typeface="宋体" panose="02010600030101010101" pitchFamily="2" charset="-122"/>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10"/>
          </p:nvPr>
        </p:nvSpPr>
        <p:spPr/>
        <p:txBody>
          <a:bodyPr/>
          <a:lstStyle/>
          <a:p>
            <a:fld id="{D9F44458-A3AD-7248-AB3A-A80099144E2A}" type="datetime1">
              <a:rPr kumimoji="1" lang="zh-CN" altLang="en-US" smtClean="0"/>
              <a:t>2024/9/23</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cxnSp>
        <p:nvCxnSpPr>
          <p:cNvPr id="40"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p:cNvGrpSpPr/>
          <p:nvPr userDrawn="1"/>
        </p:nvGrpSpPr>
        <p:grpSpPr>
          <a:xfrm>
            <a:off x="715452" y="634525"/>
            <a:ext cx="403039" cy="321898"/>
            <a:chOff x="1368170" y="664579"/>
            <a:chExt cx="550582" cy="439737"/>
          </a:xfrm>
          <a:solidFill>
            <a:schemeClr val="bg1"/>
          </a:solidFill>
        </p:grpSpPr>
        <p:sp>
          <p:nvSpPr>
            <p:cNvPr id="7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8" name="图片 7"/>
          <p:cNvPicPr>
            <a:picLocks noChangeAspect="1"/>
          </p:cNvPicPr>
          <p:nvPr userDrawn="1"/>
        </p:nvPicPr>
        <p:blipFill>
          <a:blip r:embed="rId2"/>
          <a:stretch>
            <a:fillRect/>
          </a:stretch>
        </p:blipFill>
        <p:spPr>
          <a:xfrm>
            <a:off x="9745897" y="497386"/>
            <a:ext cx="2172649" cy="665946"/>
          </a:xfrm>
          <a:prstGeom prst="rect">
            <a:avLst/>
          </a:prstGeom>
        </p:spPr>
      </p:pic>
      <p:sp>
        <p:nvSpPr>
          <p:cNvPr id="7" name="AutoShape 4" descr="华为 openEuler 开源社区如约而至，上千个代码仓库已开放！"/>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10" name="图片 9"/>
          <p:cNvPicPr>
            <a:picLocks noChangeAspect="1"/>
          </p:cNvPicPr>
          <p:nvPr userDrawn="1"/>
        </p:nvPicPr>
        <p:blipFill rotWithShape="1">
          <a:blip r:embed="rId3"/>
          <a:srcRect l="14829" r="13965"/>
          <a:stretch>
            <a:fillRect/>
          </a:stretch>
        </p:blipFill>
        <p:spPr>
          <a:xfrm>
            <a:off x="369018" y="485954"/>
            <a:ext cx="803904" cy="67737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8200" y="1825625"/>
            <a:ext cx="5181600" cy="4351338"/>
          </a:xfrm>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vl2pPr>
              <a:defRPr>
                <a:latin typeface="Times New Roman" panose="02020603050405020304" pitchFamily="18" charset="0"/>
                <a:ea typeface="宋体" panose="02010600030101010101" pitchFamily="2" charset="-122"/>
                <a:cs typeface="Times New Roman" panose="02020603050405020304" pitchFamily="18" charset="0"/>
              </a:defRPr>
            </a:lvl2pPr>
            <a:lvl3pPr>
              <a:defRPr>
                <a:latin typeface="Times New Roman" panose="02020603050405020304" pitchFamily="18" charset="0"/>
                <a:ea typeface="宋体" panose="02010600030101010101" pitchFamily="2" charset="-122"/>
                <a:cs typeface="Times New Roman" panose="02020603050405020304" pitchFamily="18" charset="0"/>
              </a:defRPr>
            </a:lvl3pPr>
            <a:lvl4pPr>
              <a:defRPr>
                <a:latin typeface="Times New Roman" panose="02020603050405020304" pitchFamily="18" charset="0"/>
                <a:ea typeface="宋体" panose="02010600030101010101" pitchFamily="2" charset="-122"/>
                <a:cs typeface="Times New Roman" panose="02020603050405020304" pitchFamily="18" charset="0"/>
              </a:defRPr>
            </a:lvl4pPr>
            <a:lvl5pPr>
              <a:defRPr>
                <a:latin typeface="Times New Roman" panose="02020603050405020304" pitchFamily="18" charset="0"/>
                <a:ea typeface="宋体" panose="02010600030101010101" pitchFamily="2" charset="-122"/>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72200" y="1825625"/>
            <a:ext cx="5181600" cy="4351338"/>
          </a:xfrm>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vl2pPr>
              <a:defRPr>
                <a:latin typeface="Times New Roman" panose="02020603050405020304" pitchFamily="18" charset="0"/>
                <a:ea typeface="宋体" panose="02010600030101010101" pitchFamily="2" charset="-122"/>
                <a:cs typeface="Times New Roman" panose="02020603050405020304" pitchFamily="18" charset="0"/>
              </a:defRPr>
            </a:lvl2pPr>
            <a:lvl3pPr>
              <a:defRPr>
                <a:latin typeface="Times New Roman" panose="02020603050405020304" pitchFamily="18" charset="0"/>
                <a:ea typeface="宋体" panose="02010600030101010101" pitchFamily="2" charset="-122"/>
                <a:cs typeface="Times New Roman" panose="02020603050405020304" pitchFamily="18" charset="0"/>
              </a:defRPr>
            </a:lvl3pPr>
            <a:lvl4pPr>
              <a:defRPr>
                <a:latin typeface="Times New Roman" panose="02020603050405020304" pitchFamily="18" charset="0"/>
                <a:ea typeface="宋体" panose="02010600030101010101" pitchFamily="2" charset="-122"/>
                <a:cs typeface="Times New Roman" panose="02020603050405020304" pitchFamily="18" charset="0"/>
              </a:defRPr>
            </a:lvl4pPr>
            <a:lvl5pPr>
              <a:defRPr>
                <a:latin typeface="Times New Roman" panose="02020603050405020304" pitchFamily="18" charset="0"/>
                <a:ea typeface="宋体" panose="02010600030101010101" pitchFamily="2" charset="-122"/>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p:cNvSpPr>
            <a:spLocks noGrp="1"/>
          </p:cNvSpPr>
          <p:nvPr>
            <p:ph type="dt" sz="half" idx="10"/>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4290EBB2-4D7C-084A-BE30-AC939B671EC1}" type="datetime1">
              <a:rPr kumimoji="1" lang="zh-CN" altLang="en-US" smtClean="0"/>
              <a:pPr/>
              <a:t>2024/9/23</a:t>
            </a:fld>
            <a:endParaRPr kumimoji="1" lang="zh-CN" altLang="en-US"/>
          </a:p>
        </p:txBody>
      </p:sp>
      <p:sp>
        <p:nvSpPr>
          <p:cNvPr id="6" name="页脚占位符 5"/>
          <p:cNvSpPr>
            <a:spLocks noGrp="1"/>
          </p:cNvSpPr>
          <p:nvPr>
            <p:ph type="ftr" sz="quarter" idx="11"/>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endParaRPr kumimoji="1" lang="zh-CN" altLang="en-US"/>
          </a:p>
        </p:txBody>
      </p:sp>
      <p:sp>
        <p:nvSpPr>
          <p:cNvPr id="7" name="灯片编号占位符 6"/>
          <p:cNvSpPr>
            <a:spLocks noGrp="1"/>
          </p:cNvSpPr>
          <p:nvPr>
            <p:ph type="sldNum" sz="quarter" idx="12"/>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8D4D1E41-7A09-AB4A-A4E1-09765ADA2698}" type="slidenum">
              <a:rPr kumimoji="1" lang="zh-CN" altLang="en-US" smtClean="0"/>
              <a:pPr/>
              <a:t>‹#›</a:t>
            </a:fld>
            <a:endParaRPr kumimoji="1" lang="zh-CN" altLang="en-US"/>
          </a:p>
        </p:txBody>
      </p:sp>
      <p:sp>
        <p:nvSpPr>
          <p:cNvPr id="76" name="标题 1"/>
          <p:cNvSpPr>
            <a:spLocks noGrp="1"/>
          </p:cNvSpPr>
          <p:nvPr>
            <p:ph type="title"/>
          </p:nvPr>
        </p:nvSpPr>
        <p:spPr>
          <a:xfrm>
            <a:off x="1307508" y="365126"/>
            <a:ext cx="8220812" cy="879086"/>
          </a:xfrm>
        </p:spPr>
        <p:txBody>
          <a:bodyPr>
            <a:normAutofit/>
          </a:bodyPr>
          <a:lstStyle>
            <a:lvl1pPr>
              <a:defRPr sz="4000">
                <a:latin typeface="Times New Roman" panose="02020603050405020304" pitchFamily="18" charset="0"/>
                <a:ea typeface="宋体" panose="02010600030101010101" pitchFamily="2" charset="-122"/>
                <a:cs typeface="Times New Roman" panose="02020603050405020304" pitchFamily="18" charset="0"/>
              </a:defRPr>
            </a:lvl1pPr>
          </a:lstStyle>
          <a:p>
            <a:r>
              <a:rPr kumimoji="1" lang="zh-CN" altLang="en-US" dirty="0"/>
              <a:t>单击此处编辑母版标题样式</a:t>
            </a:r>
          </a:p>
        </p:txBody>
      </p:sp>
      <p:cxnSp>
        <p:nvCxnSpPr>
          <p:cNvPr id="77"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78" name="直线连接符 63"/>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9" name="组合 78"/>
          <p:cNvGrpSpPr/>
          <p:nvPr userDrawn="1"/>
        </p:nvGrpSpPr>
        <p:grpSpPr>
          <a:xfrm>
            <a:off x="715452" y="634525"/>
            <a:ext cx="403039" cy="321898"/>
            <a:chOff x="1368170" y="664579"/>
            <a:chExt cx="550582" cy="439737"/>
          </a:xfrm>
          <a:solidFill>
            <a:schemeClr val="bg1"/>
          </a:solidFill>
        </p:grpSpPr>
        <p:sp>
          <p:nvSpPr>
            <p:cNvPr id="80"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3"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4"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5"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9"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0"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91" name="图片 90"/>
          <p:cNvPicPr>
            <a:picLocks noChangeAspect="1"/>
          </p:cNvPicPr>
          <p:nvPr userDrawn="1"/>
        </p:nvPicPr>
        <p:blipFill>
          <a:blip r:embed="rId2"/>
          <a:stretch>
            <a:fillRect/>
          </a:stretch>
        </p:blipFill>
        <p:spPr>
          <a:xfrm>
            <a:off x="9745897" y="497386"/>
            <a:ext cx="2172649" cy="665946"/>
          </a:xfrm>
          <a:prstGeom prst="rect">
            <a:avLst/>
          </a:prstGeom>
        </p:spPr>
      </p:pic>
      <p:pic>
        <p:nvPicPr>
          <p:cNvPr id="24" name="图片 23"/>
          <p:cNvPicPr>
            <a:picLocks noChangeAspect="1"/>
          </p:cNvPicPr>
          <p:nvPr userDrawn="1"/>
        </p:nvPicPr>
        <p:blipFill rotWithShape="1">
          <a:blip r:embed="rId3"/>
          <a:srcRect l="14829" r="13965"/>
          <a:stretch>
            <a:fillRect/>
          </a:stretch>
        </p:blipFill>
        <p:spPr>
          <a:xfrm>
            <a:off x="369018" y="485954"/>
            <a:ext cx="803904" cy="67737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a:t>单击此处编辑母版标题样式</a:t>
            </a:r>
          </a:p>
        </p:txBody>
      </p:sp>
      <p:sp>
        <p:nvSpPr>
          <p:cNvPr id="3" name="Rectangle 6"/>
          <p:cNvSpPr>
            <a:spLocks noGrp="1" noChangeArrowheads="1"/>
          </p:cNvSpPr>
          <p:nvPr>
            <p:ph type="dt" sz="half" idx="10"/>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pPr>
              <a:defRPr/>
            </a:pPr>
            <a:fld id="{45C7992C-DF72-7644-B12E-329898B62496}" type="datetime1">
              <a:rPr lang="zh-CN" altLang="en-US" smtClean="0"/>
              <a:pPr>
                <a:defRPr/>
              </a:pPr>
              <a:t>2024/9/23</a:t>
            </a:fld>
            <a:endParaRPr lang="en-US" altLang="zh-CN"/>
          </a:p>
        </p:txBody>
      </p:sp>
      <p:sp>
        <p:nvSpPr>
          <p:cNvPr id="4" name="Rectangle 7"/>
          <p:cNvSpPr>
            <a:spLocks noGrp="1" noChangeArrowheads="1"/>
          </p:cNvSpPr>
          <p:nvPr>
            <p:ph type="ftr" sz="quarter" idx="11"/>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pPr>
              <a:defRPr/>
            </a:pPr>
            <a:endParaRPr lang="en-US" altLang="zh-CN"/>
          </a:p>
        </p:txBody>
      </p:sp>
      <p:sp>
        <p:nvSpPr>
          <p:cNvPr id="5" name="Rectangle 8"/>
          <p:cNvSpPr>
            <a:spLocks noGrp="1" noChangeArrowheads="1"/>
          </p:cNvSpPr>
          <p:nvPr>
            <p:ph type="sldNum" sz="quarter" idx="12"/>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07279A2F-85B5-794E-ADF1-0805CD3C44B7}" type="slidenum">
              <a:rPr lang="en-US" altLang="zh-CN" smtClean="0"/>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fld id="{6B5948C6-0782-6042-A859-FD82FD45C478}" type="datetime1">
              <a:rPr kumimoji="1" lang="zh-CN" altLang="en-US" smtClean="0"/>
              <a:pPr/>
              <a:t>2024/9/23</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endParaRPr kumimoji="1" lang="zh-CN" altLang="en-US"/>
          </a:p>
        </p:txBody>
      </p:sp>
      <p:sp>
        <p:nvSpPr>
          <p:cNvPr id="6" name="灯片编号占位符 5"/>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fld id="{8D4D1E41-7A09-AB4A-A4E1-09765ADA2698}" type="slidenum">
              <a:rPr kumimoji="1" lang="zh-CN" altLang="en-US" smtClean="0"/>
              <a:pPr/>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yang-docs.readthedocs.io/en/latest/linux/contextswitch.html"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chor="ctr" anchorCtr="0"/>
          <a:lstStyle/>
          <a:p>
            <a:pPr eaLnBrk="1" hangingPunct="1">
              <a:spcBef>
                <a:spcPct val="50000"/>
              </a:spcBef>
            </a:pPr>
            <a:r>
              <a:rPr lang="zh-CN" altLang="en-US" sz="5400" b="1">
                <a:solidFill>
                  <a:srgbClr val="CC0099"/>
                </a:solidFill>
                <a:latin typeface="方正琥珀简体" pitchFamily="65" charset="-122"/>
                <a:ea typeface="方正琥珀简体" pitchFamily="65" charset="-122"/>
              </a:rPr>
              <a:t>第</a:t>
            </a:r>
            <a:r>
              <a:rPr lang="en-US" altLang="zh-CN" sz="5400" b="1">
                <a:solidFill>
                  <a:srgbClr val="CC0099"/>
                </a:solidFill>
                <a:latin typeface="方正琥珀简体" pitchFamily="65" charset="-122"/>
                <a:ea typeface="方正琥珀简体" pitchFamily="65" charset="-122"/>
              </a:rPr>
              <a:t>2</a:t>
            </a:r>
            <a:r>
              <a:rPr lang="zh-CN" altLang="en-US" sz="5400" b="1">
                <a:solidFill>
                  <a:srgbClr val="CC0099"/>
                </a:solidFill>
                <a:latin typeface="方正琥珀简体" pitchFamily="65" charset="-122"/>
                <a:ea typeface="方正琥珀简体" pitchFamily="65" charset="-122"/>
              </a:rPr>
              <a:t>章  </a:t>
            </a:r>
            <a:r>
              <a:rPr lang="zh-CN" altLang="en-US" sz="5400" b="1">
                <a:solidFill>
                  <a:schemeClr val="hlink"/>
                </a:solidFill>
                <a:ea typeface="方正琥珀简体" pitchFamily="65" charset="-122"/>
              </a:rPr>
              <a:t>进程的描述与控制</a:t>
            </a:r>
            <a:r>
              <a:rPr lang="zh-CN" altLang="en-US" sz="5400">
                <a:solidFill>
                  <a:schemeClr val="tx2"/>
                </a:solidFill>
              </a:rPr>
              <a:t> </a:t>
            </a:r>
          </a:p>
        </p:txBody>
      </p:sp>
      <p:sp>
        <p:nvSpPr>
          <p:cNvPr id="3" name="副标题 2"/>
          <p:cNvSpPr>
            <a:spLocks noGrp="1"/>
          </p:cNvSpPr>
          <p:nvPr>
            <p:ph type="subTitle" idx="1"/>
          </p:nvPr>
        </p:nvSpPr>
        <p:spPr>
          <a:xfrm>
            <a:off x="1524000" y="3693376"/>
            <a:ext cx="9144000" cy="1655762"/>
          </a:xfrm>
        </p:spPr>
        <p:txBody>
          <a:bodyPr/>
          <a:lstStyle/>
          <a:p>
            <a:endParaRPr lang="en-US" altLang="zh-CN"/>
          </a:p>
          <a:p>
            <a:r>
              <a:rPr lang="zh-CN" altLang="en-US" sz="2800" b="1">
                <a:solidFill>
                  <a:srgbClr val="002060"/>
                </a:solidFill>
                <a:ea typeface="方正琥珀简体"/>
              </a:rPr>
              <a:t>教师：江先亮</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前趋图和程序执行</a:t>
            </a:r>
          </a:p>
        </p:txBody>
      </p:sp>
      <p:sp>
        <p:nvSpPr>
          <p:cNvPr id="3" name="内容占位符 2"/>
          <p:cNvSpPr>
            <a:spLocks noGrp="1"/>
          </p:cNvSpPr>
          <p:nvPr>
            <p:ph idx="1"/>
          </p:nvPr>
        </p:nvSpPr>
        <p:spPr/>
        <p:txBody>
          <a:bodyPr/>
          <a:lstStyle/>
          <a:p>
            <a:pPr marL="0" indent="0" algn="just">
              <a:buNone/>
            </a:pPr>
            <a:r>
              <a:rPr lang="zh-CN" altLang="en-US">
                <a:solidFill>
                  <a:schemeClr val="accent6">
                    <a:lumMod val="50000"/>
                  </a:schemeClr>
                </a:solidFill>
              </a:rPr>
              <a:t>       </a:t>
            </a:r>
            <a:r>
              <a:rPr lang="zh-CN" altLang="en-US" sz="2400">
                <a:solidFill>
                  <a:schemeClr val="accent6">
                    <a:lumMod val="50000"/>
                  </a:schemeClr>
                </a:solidFill>
              </a:rPr>
              <a:t>在早期未配置</a:t>
            </a:r>
            <a:r>
              <a:rPr lang="en-US" altLang="zh-CN" sz="2400">
                <a:solidFill>
                  <a:schemeClr val="accent6">
                    <a:lumMod val="50000"/>
                  </a:schemeClr>
                </a:solidFill>
              </a:rPr>
              <a:t>OS</a:t>
            </a:r>
            <a:r>
              <a:rPr lang="zh-CN" altLang="en-US" sz="2400">
                <a:solidFill>
                  <a:schemeClr val="accent6">
                    <a:lumMod val="50000"/>
                  </a:schemeClr>
                </a:solidFill>
              </a:rPr>
              <a:t>的系统和单道批处理系统中，程序的执行方式是顺序执行，即在内存中仅装入一道用户程序，由它独占系统中的所有资源，只有在一个用户程序执行完成后，才允许装入另一个程序并执行。可见，这种方式浪费资源、系统运行效率低等缺点</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a:t>
            </a:fld>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前趋图和程序执行</a:t>
            </a:r>
          </a:p>
        </p:txBody>
      </p:sp>
      <p:sp>
        <p:nvSpPr>
          <p:cNvPr id="3" name="内容占位符 2"/>
          <p:cNvSpPr>
            <a:spLocks noGrp="1"/>
          </p:cNvSpPr>
          <p:nvPr>
            <p:ph idx="1"/>
          </p:nvPr>
        </p:nvSpPr>
        <p:spPr>
          <a:xfrm>
            <a:off x="838200" y="1510758"/>
            <a:ext cx="10515600" cy="5347242"/>
          </a:xfrm>
        </p:spPr>
        <p:txBody>
          <a:bodyPr>
            <a:normAutofit/>
          </a:bodyPr>
          <a:lstStyle/>
          <a:p>
            <a:r>
              <a:rPr lang="zh-CN" altLang="en-US">
                <a:solidFill>
                  <a:srgbClr val="0070C0"/>
                </a:solidFill>
              </a:rPr>
              <a:t>前趋图</a:t>
            </a:r>
            <a:endParaRPr lang="en-US" altLang="zh-CN">
              <a:solidFill>
                <a:srgbClr val="0070C0"/>
              </a:solidFill>
            </a:endParaRPr>
          </a:p>
          <a:p>
            <a:pPr lvl="1" algn="just">
              <a:buFont typeface="Wingdings" panose="05000000000000000000" pitchFamily="2" charset="2"/>
              <a:buChar char="ü"/>
            </a:pPr>
            <a:r>
              <a:rPr lang="zh-CN" altLang="en-US"/>
              <a:t>前趋图是指一个有向无循环图，可记为</a:t>
            </a:r>
            <a:r>
              <a:rPr lang="en-US" altLang="zh-CN"/>
              <a:t>DAG(Directed Acyclic Graph)</a:t>
            </a:r>
            <a:r>
              <a:rPr lang="zh-CN" altLang="en-US"/>
              <a:t>，用于描述进程之间执行的先后顺序。图中结点表示一个进程或程序段，乃至一条语句，结点间的有向边则表示两个结点间存在的偏序或前趋关系。</a:t>
            </a:r>
            <a:endParaRPr lang="en-US" altLang="zh-CN"/>
          </a:p>
          <a:p>
            <a:pPr lvl="1" algn="just">
              <a:buFont typeface="Wingdings" panose="05000000000000000000" pitchFamily="2" charset="2"/>
              <a:buChar char="ü"/>
            </a:pPr>
            <a:r>
              <a:rPr lang="zh-CN" altLang="en-US"/>
              <a:t>进程</a:t>
            </a:r>
            <a:r>
              <a:rPr lang="en-US" altLang="zh-CN"/>
              <a:t>(</a:t>
            </a:r>
            <a:r>
              <a:rPr lang="zh-CN" altLang="en-US"/>
              <a:t>或程序</a:t>
            </a:r>
            <a:r>
              <a:rPr lang="en-US" altLang="zh-CN"/>
              <a:t>)</a:t>
            </a:r>
            <a:r>
              <a:rPr lang="zh-CN" altLang="en-US"/>
              <a:t>间的前趋关系可用“→”表示。若进程</a:t>
            </a:r>
            <a:r>
              <a:rPr lang="en-US" altLang="zh-CN"/>
              <a:t>P</a:t>
            </a:r>
            <a:r>
              <a:rPr lang="en-US" altLang="zh-CN" baseline="-25000"/>
              <a:t>i</a:t>
            </a:r>
            <a:r>
              <a:rPr lang="zh-CN" altLang="en-US"/>
              <a:t>和</a:t>
            </a:r>
            <a:r>
              <a:rPr lang="en-US" altLang="zh-CN" err="1"/>
              <a:t>P</a:t>
            </a:r>
            <a:r>
              <a:rPr lang="en-US" altLang="zh-CN" baseline="-25000" err="1"/>
              <a:t>j</a:t>
            </a:r>
            <a:r>
              <a:rPr lang="zh-CN" altLang="en-US"/>
              <a:t>存在前趋关系，可表示为</a:t>
            </a:r>
            <a:r>
              <a:rPr lang="en-US" altLang="zh-CN"/>
              <a:t>(P</a:t>
            </a:r>
            <a:r>
              <a:rPr lang="en-US" altLang="zh-CN" baseline="-25000"/>
              <a:t>i</a:t>
            </a:r>
            <a:r>
              <a:rPr lang="zh-CN" altLang="en-US"/>
              <a:t>，</a:t>
            </a:r>
            <a:r>
              <a:rPr lang="en-US" altLang="zh-CN" err="1"/>
              <a:t>P</a:t>
            </a:r>
            <a:r>
              <a:rPr lang="en-US" altLang="zh-CN" baseline="-25000" err="1"/>
              <a:t>j</a:t>
            </a:r>
            <a:r>
              <a:rPr lang="en-US" altLang="zh-CN"/>
              <a:t>)∈→</a:t>
            </a:r>
            <a:r>
              <a:rPr lang="zh-CN" altLang="en-US"/>
              <a:t>，也可写成</a:t>
            </a:r>
            <a:r>
              <a:rPr lang="en-US" altLang="zh-CN" err="1"/>
              <a:t>P</a:t>
            </a:r>
            <a:r>
              <a:rPr lang="en-US" altLang="zh-CN" baseline="-25000" err="1"/>
              <a:t>i</a:t>
            </a:r>
            <a:r>
              <a:rPr lang="en-US" altLang="zh-CN" err="1"/>
              <a:t>→P</a:t>
            </a:r>
            <a:r>
              <a:rPr lang="en-US" altLang="zh-CN" baseline="-25000" err="1"/>
              <a:t>j</a:t>
            </a:r>
            <a:r>
              <a:rPr lang="zh-CN" altLang="en-US"/>
              <a:t>，表示在</a:t>
            </a:r>
            <a:r>
              <a:rPr lang="en-US" altLang="zh-CN" err="1"/>
              <a:t>P</a:t>
            </a:r>
            <a:r>
              <a:rPr lang="en-US" altLang="zh-CN" baseline="-25000" err="1"/>
              <a:t>j</a:t>
            </a:r>
            <a:r>
              <a:rPr lang="zh-CN" altLang="en-US"/>
              <a:t>开始执行之前</a:t>
            </a:r>
            <a:r>
              <a:rPr lang="en-US" altLang="zh-CN"/>
              <a:t>P</a:t>
            </a:r>
            <a:r>
              <a:rPr lang="en-US" altLang="zh-CN" baseline="-25000"/>
              <a:t>i</a:t>
            </a:r>
            <a:r>
              <a:rPr lang="en-US" altLang="zh-CN"/>
              <a:t> </a:t>
            </a:r>
            <a:r>
              <a:rPr lang="zh-CN" altLang="en-US"/>
              <a:t>必须完成。此时称</a:t>
            </a:r>
            <a:r>
              <a:rPr lang="en-US" altLang="zh-CN"/>
              <a:t>P</a:t>
            </a:r>
            <a:r>
              <a:rPr lang="en-US" altLang="zh-CN" baseline="-25000"/>
              <a:t>i</a:t>
            </a:r>
            <a:r>
              <a:rPr lang="zh-CN" altLang="en-US"/>
              <a:t>是</a:t>
            </a:r>
            <a:r>
              <a:rPr lang="en-US" altLang="zh-CN" err="1"/>
              <a:t>P</a:t>
            </a:r>
            <a:r>
              <a:rPr lang="en-US" altLang="zh-CN" baseline="-25000" err="1"/>
              <a:t>j</a:t>
            </a:r>
            <a:r>
              <a:rPr lang="zh-CN" altLang="en-US"/>
              <a:t>的直接前趋，而称</a:t>
            </a:r>
            <a:r>
              <a:rPr lang="en-US" altLang="zh-CN" err="1"/>
              <a:t>P</a:t>
            </a:r>
            <a:r>
              <a:rPr lang="en-US" altLang="zh-CN" baseline="-25000" err="1"/>
              <a:t>j</a:t>
            </a:r>
            <a:r>
              <a:rPr lang="zh-CN" altLang="en-US"/>
              <a:t>是</a:t>
            </a:r>
            <a:r>
              <a:rPr lang="en-US" altLang="zh-CN"/>
              <a:t>P</a:t>
            </a:r>
            <a:r>
              <a:rPr lang="en-US" altLang="zh-CN" baseline="-25000"/>
              <a:t>i</a:t>
            </a:r>
            <a:r>
              <a:rPr lang="zh-CN" altLang="en-US"/>
              <a:t>的直接后继。</a:t>
            </a:r>
            <a:endParaRPr lang="en-US" altLang="zh-CN"/>
          </a:p>
          <a:p>
            <a:pPr lvl="1" algn="just">
              <a:buFont typeface="Wingdings" panose="05000000000000000000" pitchFamily="2" charset="2"/>
              <a:buChar char="ü"/>
            </a:pPr>
            <a:r>
              <a:rPr lang="zh-CN" altLang="en-US"/>
              <a:t>在前趋图中，把没有前趋的结点称为初始结点，把没有后继的结点称为终止结点。此外，每个结点还具有一个权重，用于表示该结点所含有的程序量或程序的执行时间。</a:t>
            </a:r>
            <a:endParaRPr lang="en-US" altLang="zh-CN"/>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a:t>
            </a:fld>
            <a:endParaRPr kumimoji="1"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前趋图和程序执行</a:t>
            </a:r>
          </a:p>
        </p:txBody>
      </p:sp>
      <p:sp>
        <p:nvSpPr>
          <p:cNvPr id="3" name="内容占位符 2"/>
          <p:cNvSpPr>
            <a:spLocks noGrp="1"/>
          </p:cNvSpPr>
          <p:nvPr>
            <p:ph idx="1"/>
          </p:nvPr>
        </p:nvSpPr>
        <p:spPr>
          <a:xfrm>
            <a:off x="838200" y="1510758"/>
            <a:ext cx="8058147" cy="4586694"/>
          </a:xfrm>
        </p:spPr>
        <p:txBody>
          <a:bodyPr>
            <a:normAutofit/>
          </a:bodyPr>
          <a:lstStyle/>
          <a:p>
            <a:pPr marL="0" indent="0" algn="just">
              <a:buNone/>
            </a:pPr>
            <a:r>
              <a:rPr lang="zh-CN" altLang="en-US" sz="2400"/>
              <a:t>    在下图所示的前趋图中，存在着如下前趋关系：</a:t>
            </a:r>
            <a:endParaRPr lang="en-US" altLang="zh-CN" sz="2400"/>
          </a:p>
          <a:p>
            <a:pPr marL="0" indent="0">
              <a:buNone/>
            </a:pPr>
            <a:r>
              <a:rPr lang="en-US" altLang="zh-CN" sz="2400"/>
              <a:t>        P1→P2</a:t>
            </a:r>
            <a:r>
              <a:rPr lang="zh-CN" altLang="en-US" sz="2400"/>
              <a:t>，</a:t>
            </a:r>
            <a:r>
              <a:rPr lang="en-US" altLang="zh-CN" sz="2400"/>
              <a:t>P1→P3</a:t>
            </a:r>
            <a:r>
              <a:rPr lang="zh-CN" altLang="en-US" sz="2400"/>
              <a:t>，</a:t>
            </a:r>
            <a:r>
              <a:rPr lang="en-US" altLang="zh-CN" sz="2400"/>
              <a:t>P1→P4</a:t>
            </a:r>
            <a:r>
              <a:rPr lang="zh-CN" altLang="en-US" sz="2400"/>
              <a:t>，</a:t>
            </a:r>
            <a:r>
              <a:rPr lang="en-US" altLang="zh-CN" sz="2400"/>
              <a:t>P2→P5</a:t>
            </a:r>
            <a:r>
              <a:rPr lang="zh-CN" altLang="en-US" sz="2400"/>
              <a:t>，</a:t>
            </a:r>
            <a:r>
              <a:rPr lang="en-US" altLang="zh-CN" sz="2400"/>
              <a:t>P3→P5</a:t>
            </a:r>
            <a:r>
              <a:rPr lang="zh-CN" altLang="en-US" sz="2400"/>
              <a:t>，</a:t>
            </a:r>
            <a:r>
              <a:rPr lang="en-US" altLang="zh-CN" sz="2400"/>
              <a:t>P4→P6</a:t>
            </a:r>
            <a:r>
              <a:rPr lang="zh-CN" altLang="en-US" sz="2400"/>
              <a:t>，</a:t>
            </a:r>
            <a:r>
              <a:rPr lang="en-US" altLang="zh-CN" sz="2400"/>
              <a:t>P4→P7</a:t>
            </a:r>
            <a:r>
              <a:rPr lang="zh-CN" altLang="en-US" sz="2400"/>
              <a:t>，</a:t>
            </a:r>
            <a:r>
              <a:rPr lang="en-US" altLang="zh-CN" sz="2400"/>
              <a:t>P5→P8</a:t>
            </a:r>
            <a:r>
              <a:rPr lang="zh-CN" altLang="en-US" sz="2400"/>
              <a:t>，</a:t>
            </a:r>
            <a:r>
              <a:rPr lang="en-US" altLang="zh-CN" sz="2400"/>
              <a:t>P6→P8</a:t>
            </a:r>
            <a:r>
              <a:rPr lang="zh-CN" altLang="en-US" sz="2400"/>
              <a:t>，</a:t>
            </a:r>
            <a:r>
              <a:rPr lang="en-US" altLang="zh-CN" sz="2400"/>
              <a:t>P7→P9</a:t>
            </a:r>
            <a:r>
              <a:rPr lang="zh-CN" altLang="en-US" sz="2400"/>
              <a:t>，</a:t>
            </a:r>
            <a:r>
              <a:rPr lang="en-US" altLang="zh-CN" sz="2400"/>
              <a:t>P8→P9</a:t>
            </a:r>
            <a:br>
              <a:rPr lang="en-US" altLang="zh-CN" sz="2400"/>
            </a:br>
            <a:r>
              <a:rPr lang="en-US" altLang="zh-CN" sz="2400"/>
              <a:t>    </a:t>
            </a:r>
            <a:r>
              <a:rPr lang="zh-CN" altLang="en-US" sz="2400"/>
              <a:t>或表示为：</a:t>
            </a:r>
            <a:endParaRPr lang="en-US" altLang="zh-CN" sz="2400"/>
          </a:p>
          <a:p>
            <a:pPr marL="0" indent="0" algn="just">
              <a:buNone/>
            </a:pPr>
            <a:r>
              <a:rPr lang="en-US" altLang="zh-CN" sz="2400"/>
              <a:t>        P={P1, P2, P3, P4, P5, P6, P7, P8, P9}</a:t>
            </a:r>
            <a:br>
              <a:rPr lang="en-US" altLang="zh-CN" sz="2400"/>
            </a:br>
            <a:r>
              <a:rPr lang="zh-CN" altLang="en-US" sz="2400"/>
              <a:t>　      </a:t>
            </a:r>
            <a:r>
              <a:rPr lang="en-US" altLang="zh-CN" sz="2400"/>
              <a:t>={(P1, P2), (P1, P3), (P1, P4), (P2, P5), (P3, P5), (P4, P6), (P4, P7), (P5, P8), (P6, P8), (P7, P9), (P8, P9)}</a:t>
            </a:r>
            <a:endParaRPr lang="zh-CN" altLang="en-US" sz="240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a:t>
            </a:fld>
            <a:endParaRPr kumimoji="1" lang="zh-CN" altLang="en-US"/>
          </a:p>
        </p:txBody>
      </p:sp>
      <p:pic>
        <p:nvPicPr>
          <p:cNvPr id="5" name="图片 4"/>
          <p:cNvPicPr>
            <a:picLocks noChangeAspect="1"/>
          </p:cNvPicPr>
          <p:nvPr/>
        </p:nvPicPr>
        <p:blipFill rotWithShape="1">
          <a:blip r:embed="rId2"/>
          <a:srcRect r="39726" b="11179"/>
          <a:stretch>
            <a:fillRect/>
          </a:stretch>
        </p:blipFill>
        <p:spPr>
          <a:xfrm>
            <a:off x="7249443" y="4485657"/>
            <a:ext cx="3369396" cy="23723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前趋图和程序执行</a:t>
            </a:r>
          </a:p>
        </p:txBody>
      </p:sp>
      <p:sp>
        <p:nvSpPr>
          <p:cNvPr id="3" name="内容占位符 2"/>
          <p:cNvSpPr>
            <a:spLocks noGrp="1"/>
          </p:cNvSpPr>
          <p:nvPr>
            <p:ph idx="1"/>
          </p:nvPr>
        </p:nvSpPr>
        <p:spPr>
          <a:xfrm>
            <a:off x="838200" y="1510758"/>
            <a:ext cx="10512287" cy="4586694"/>
          </a:xfrm>
        </p:spPr>
        <p:txBody>
          <a:bodyPr>
            <a:normAutofit/>
          </a:bodyPr>
          <a:lstStyle/>
          <a:p>
            <a:pPr marL="0" indent="0" algn="just">
              <a:buNone/>
            </a:pPr>
            <a:r>
              <a:rPr lang="zh-CN" altLang="en-US" sz="2400"/>
              <a:t>        应当注意，前趋图中是不允许有循环的，否则必然会产生不可能实现的前趋关系。如下图所示的前趋关系中就存在着循环。它一方面要求在</a:t>
            </a:r>
            <a:r>
              <a:rPr lang="en-US" altLang="zh-CN" sz="2400"/>
              <a:t>S</a:t>
            </a:r>
            <a:r>
              <a:rPr lang="en-US" altLang="zh-CN" sz="2400" baseline="-25000"/>
              <a:t>3</a:t>
            </a:r>
            <a:r>
              <a:rPr lang="zh-CN" altLang="en-US" sz="2400"/>
              <a:t>开始执行之前，</a:t>
            </a:r>
            <a:r>
              <a:rPr lang="en-US" altLang="zh-CN" sz="2400"/>
              <a:t>S</a:t>
            </a:r>
            <a:r>
              <a:rPr lang="en-US" altLang="zh-CN" sz="2400" baseline="-25000"/>
              <a:t>2</a:t>
            </a:r>
            <a:r>
              <a:rPr lang="zh-CN" altLang="en-US" sz="2400"/>
              <a:t>必须完成，另一方面又要求在</a:t>
            </a:r>
            <a:r>
              <a:rPr lang="en-US" altLang="zh-CN" sz="2400"/>
              <a:t>S</a:t>
            </a:r>
            <a:r>
              <a:rPr lang="en-US" altLang="zh-CN" sz="2400" baseline="-25000"/>
              <a:t>2</a:t>
            </a:r>
            <a:r>
              <a:rPr lang="zh-CN" altLang="en-US" sz="2400"/>
              <a:t>开始执行之前，</a:t>
            </a:r>
            <a:r>
              <a:rPr lang="en-US" altLang="zh-CN" sz="2400"/>
              <a:t>S</a:t>
            </a:r>
            <a:r>
              <a:rPr lang="en-US" altLang="zh-CN" sz="2400" baseline="-25000"/>
              <a:t>3</a:t>
            </a:r>
            <a:r>
              <a:rPr lang="zh-CN" altLang="en-US" sz="2400"/>
              <a:t>必须完成。显然，这种关系是不可能实现的。　　　　</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a:t>
            </a:fld>
            <a:endParaRPr kumimoji="1" lang="zh-CN" altLang="en-US"/>
          </a:p>
        </p:txBody>
      </p:sp>
      <p:pic>
        <p:nvPicPr>
          <p:cNvPr id="5" name="Picture 4" descr="2-1"/>
          <p:cNvPicPr>
            <a:picLocks noChangeAspect="1" noChangeArrowheads="1"/>
          </p:cNvPicPr>
          <p:nvPr/>
        </p:nvPicPr>
        <p:blipFill rotWithShape="1">
          <a:blip r:embed="rId2">
            <a:extLst>
              <a:ext uri="{28A0092B-C50C-407E-A947-70E740481C1C}">
                <a14:useLocalDpi xmlns:a14="http://schemas.microsoft.com/office/drawing/2010/main" val="0"/>
              </a:ext>
            </a:extLst>
          </a:blip>
          <a:srcRect l="77795" t="15564" r="12705" b="18984"/>
          <a:stretch>
            <a:fillRect/>
          </a:stretch>
        </p:blipFill>
        <p:spPr bwMode="auto">
          <a:xfrm>
            <a:off x="6310667" y="3348685"/>
            <a:ext cx="718379" cy="2367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前趋图和程序执行</a:t>
            </a:r>
          </a:p>
        </p:txBody>
      </p:sp>
      <p:sp>
        <p:nvSpPr>
          <p:cNvPr id="3" name="内容占位符 2"/>
          <p:cNvSpPr>
            <a:spLocks noGrp="1"/>
          </p:cNvSpPr>
          <p:nvPr>
            <p:ph idx="1"/>
          </p:nvPr>
        </p:nvSpPr>
        <p:spPr>
          <a:xfrm>
            <a:off x="838200" y="1510758"/>
            <a:ext cx="10515600" cy="5347242"/>
          </a:xfrm>
        </p:spPr>
        <p:txBody>
          <a:bodyPr>
            <a:normAutofit/>
          </a:bodyPr>
          <a:lstStyle/>
          <a:p>
            <a:r>
              <a:rPr lang="zh-CN" altLang="en-US">
                <a:solidFill>
                  <a:srgbClr val="0070C0"/>
                </a:solidFill>
              </a:rPr>
              <a:t>程序顺序执行</a:t>
            </a:r>
            <a:endParaRPr lang="en-US" altLang="zh-CN">
              <a:solidFill>
                <a:srgbClr val="0070C0"/>
              </a:solidFill>
            </a:endParaRPr>
          </a:p>
          <a:p>
            <a:pPr lvl="1" algn="just">
              <a:buFont typeface="Wingdings" panose="05000000000000000000" pitchFamily="2" charset="2"/>
              <a:buChar char="ü"/>
            </a:pPr>
            <a:r>
              <a:rPr lang="zh-CN" altLang="en-US"/>
              <a:t>程序的顺序执行</a:t>
            </a:r>
            <a:endParaRPr lang="en-US" altLang="zh-CN"/>
          </a:p>
          <a:p>
            <a:pPr marL="914400" lvl="2" indent="0" algn="just">
              <a:buNone/>
            </a:pPr>
            <a:r>
              <a:rPr lang="zh-CN" altLang="en-US"/>
              <a:t>一个应用程序由若干个程序段组成，每一个程序段完成特定功能。执行时，它们都需按照某种先后次序顺序执行，仅当前一程序段执行完后，才运行后一程序段。例如，在进行计算时，应先运行输入程序，用于输入用户的程序和数据；然后运行计算程序，对所输入的数据进行计算；最后才是运行打印程序，打印计算结果。我们用结点代表各程序段的操作，其中</a:t>
            </a:r>
            <a:r>
              <a:rPr lang="en-US" altLang="zh-CN"/>
              <a:t>I</a:t>
            </a:r>
            <a:r>
              <a:rPr lang="zh-CN" altLang="en-US"/>
              <a:t>代表输入操作，</a:t>
            </a:r>
            <a:r>
              <a:rPr lang="en-US" altLang="zh-CN"/>
              <a:t>C</a:t>
            </a:r>
            <a:r>
              <a:rPr lang="zh-CN" altLang="en-US"/>
              <a:t>代表计算操作，</a:t>
            </a:r>
            <a:r>
              <a:rPr lang="en-US" altLang="zh-CN"/>
              <a:t>P</a:t>
            </a:r>
            <a:r>
              <a:rPr lang="zh-CN" altLang="en-US"/>
              <a:t>为打印操作，用箭头指示操作的先后次序。</a:t>
            </a:r>
            <a:endParaRPr lang="en-US" altLang="zh-CN"/>
          </a:p>
          <a:p>
            <a:pPr lvl="1" algn="just">
              <a:buFont typeface="Wingdings" panose="05000000000000000000" pitchFamily="2" charset="2"/>
              <a:buChar char="ü"/>
            </a:pPr>
            <a:endParaRPr lang="en-US" altLang="zh-CN"/>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a:t>
            </a:fld>
            <a:endParaRPr kumimoji="1" lang="zh-CN" altLang="en-US"/>
          </a:p>
        </p:txBody>
      </p:sp>
      <p:pic>
        <p:nvPicPr>
          <p:cNvPr id="5" name="Picture 4" descr="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2075" y="5070706"/>
            <a:ext cx="7908441" cy="1014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前趋图和程序执行</a:t>
            </a:r>
          </a:p>
        </p:txBody>
      </p:sp>
      <p:sp>
        <p:nvSpPr>
          <p:cNvPr id="3" name="内容占位符 2"/>
          <p:cNvSpPr>
            <a:spLocks noGrp="1"/>
          </p:cNvSpPr>
          <p:nvPr>
            <p:ph idx="1"/>
          </p:nvPr>
        </p:nvSpPr>
        <p:spPr>
          <a:xfrm>
            <a:off x="838200" y="1510758"/>
            <a:ext cx="10515600" cy="5347242"/>
          </a:xfrm>
        </p:spPr>
        <p:txBody>
          <a:bodyPr>
            <a:normAutofit/>
          </a:bodyPr>
          <a:lstStyle/>
          <a:p>
            <a:r>
              <a:rPr lang="zh-CN" altLang="en-US">
                <a:solidFill>
                  <a:srgbClr val="0070C0"/>
                </a:solidFill>
              </a:rPr>
              <a:t>程序顺序执行</a:t>
            </a:r>
            <a:endParaRPr lang="en-US" altLang="zh-CN">
              <a:solidFill>
                <a:srgbClr val="0070C0"/>
              </a:solidFill>
            </a:endParaRPr>
          </a:p>
          <a:p>
            <a:pPr lvl="1" algn="just">
              <a:buFont typeface="Wingdings" panose="05000000000000000000" pitchFamily="2" charset="2"/>
              <a:buChar char="ü"/>
            </a:pPr>
            <a:r>
              <a:rPr lang="zh-CN" altLang="en-US"/>
              <a:t>程序的顺序执行</a:t>
            </a:r>
            <a:endParaRPr lang="en-US" altLang="zh-CN"/>
          </a:p>
          <a:p>
            <a:pPr marL="914400" lvl="2" indent="0" algn="just">
              <a:buNone/>
            </a:pPr>
            <a:r>
              <a:rPr lang="zh-CN" altLang="en-US"/>
              <a:t>上述的三个程序段间就存在着这样的前趋关系：</a:t>
            </a:r>
            <a:r>
              <a:rPr lang="en-US" altLang="zh-CN" err="1"/>
              <a:t>I</a:t>
            </a:r>
            <a:r>
              <a:rPr lang="en-US" altLang="zh-CN" baseline="-25000" err="1"/>
              <a:t>i</a:t>
            </a:r>
            <a:r>
              <a:rPr lang="en-US" altLang="zh-CN" err="1"/>
              <a:t>→C</a:t>
            </a:r>
            <a:r>
              <a:rPr lang="en-US" altLang="zh-CN" baseline="-25000" err="1"/>
              <a:t>i</a:t>
            </a:r>
            <a:r>
              <a:rPr lang="en-US" altLang="zh-CN" err="1"/>
              <a:t>→P</a:t>
            </a:r>
            <a:r>
              <a:rPr lang="en-US" altLang="zh-CN" baseline="-25000" err="1"/>
              <a:t>i</a:t>
            </a:r>
            <a:r>
              <a:rPr lang="zh-CN" altLang="en-US"/>
              <a:t>，其执行的顺序可用前趋图描述。即使是一个程序段，也可能存在着执行顺序问题，下面为一个包含了三条语句的程序段：</a:t>
            </a:r>
            <a:endParaRPr lang="en-US" altLang="zh-CN"/>
          </a:p>
          <a:p>
            <a:pPr marL="914400" lvl="2" indent="0" algn="just">
              <a:buNone/>
            </a:pPr>
            <a:r>
              <a:rPr lang="zh-CN" altLang="en-US"/>
              <a:t>　　</a:t>
            </a:r>
            <a:r>
              <a:rPr lang="en-US" altLang="zh-CN"/>
              <a:t>S</a:t>
            </a:r>
            <a:r>
              <a:rPr lang="en-US" altLang="zh-CN" baseline="-25000"/>
              <a:t>1</a:t>
            </a:r>
            <a:r>
              <a:rPr lang="en-US" altLang="zh-CN"/>
              <a:t>: a :=</a:t>
            </a:r>
            <a:r>
              <a:rPr lang="en-US" altLang="zh-CN" err="1"/>
              <a:t>x+y</a:t>
            </a:r>
            <a:r>
              <a:rPr lang="zh-CN" altLang="en-US"/>
              <a:t>；</a:t>
            </a:r>
            <a:endParaRPr lang="en-US" altLang="zh-CN"/>
          </a:p>
          <a:p>
            <a:pPr marL="914400" lvl="2" indent="0" algn="just">
              <a:buNone/>
            </a:pPr>
            <a:r>
              <a:rPr lang="zh-CN" altLang="en-US"/>
              <a:t>　　</a:t>
            </a:r>
            <a:r>
              <a:rPr lang="en-US" altLang="zh-CN"/>
              <a:t>S</a:t>
            </a:r>
            <a:r>
              <a:rPr lang="en-US" altLang="zh-CN" baseline="-25000"/>
              <a:t>2</a:t>
            </a:r>
            <a:r>
              <a:rPr lang="en-US" altLang="zh-CN"/>
              <a:t>: b :=a-5</a:t>
            </a:r>
            <a:r>
              <a:rPr lang="zh-CN" altLang="en-US"/>
              <a:t>；</a:t>
            </a:r>
            <a:endParaRPr lang="en-US" altLang="zh-CN"/>
          </a:p>
          <a:p>
            <a:pPr marL="914400" lvl="2" indent="0" algn="just">
              <a:buNone/>
            </a:pPr>
            <a:r>
              <a:rPr lang="zh-CN" altLang="en-US"/>
              <a:t>　　</a:t>
            </a:r>
            <a:r>
              <a:rPr lang="en-US" altLang="zh-CN"/>
              <a:t>S</a:t>
            </a:r>
            <a:r>
              <a:rPr lang="en-US" altLang="zh-CN" baseline="-25000"/>
              <a:t>3</a:t>
            </a:r>
            <a:r>
              <a:rPr lang="en-US" altLang="zh-CN"/>
              <a:t>: c :=b+1</a:t>
            </a:r>
            <a:r>
              <a:rPr lang="zh-CN" altLang="en-US"/>
              <a:t>；</a:t>
            </a:r>
            <a:endParaRPr lang="en-US" altLang="zh-CN"/>
          </a:p>
          <a:p>
            <a:pPr marL="914400" lvl="2" indent="0" algn="just">
              <a:buNone/>
            </a:pPr>
            <a:r>
              <a:rPr lang="zh-CN" altLang="en-US"/>
              <a:t>其中，语句</a:t>
            </a:r>
            <a:r>
              <a:rPr lang="en-US" altLang="zh-CN"/>
              <a:t>S</a:t>
            </a:r>
            <a:r>
              <a:rPr lang="en-US" altLang="zh-CN" baseline="-25000"/>
              <a:t>2</a:t>
            </a:r>
            <a:r>
              <a:rPr lang="zh-CN" altLang="en-US"/>
              <a:t>必须在语句</a:t>
            </a:r>
            <a:r>
              <a:rPr lang="en-US" altLang="zh-CN"/>
              <a:t>S</a:t>
            </a:r>
            <a:r>
              <a:rPr lang="en-US" altLang="zh-CN" baseline="-25000"/>
              <a:t>1</a:t>
            </a:r>
            <a:r>
              <a:rPr lang="zh-CN" altLang="en-US"/>
              <a:t>后</a:t>
            </a:r>
            <a:r>
              <a:rPr lang="en-US" altLang="zh-CN"/>
              <a:t>(</a:t>
            </a:r>
            <a:r>
              <a:rPr lang="zh-CN" altLang="en-US"/>
              <a:t>即</a:t>
            </a:r>
            <a:r>
              <a:rPr lang="en-US" altLang="zh-CN"/>
              <a:t>a</a:t>
            </a:r>
            <a:r>
              <a:rPr lang="zh-CN" altLang="en-US"/>
              <a:t>被赋值</a:t>
            </a:r>
            <a:r>
              <a:rPr lang="en-US" altLang="zh-CN"/>
              <a:t>)</a:t>
            </a:r>
            <a:r>
              <a:rPr lang="zh-CN" altLang="en-US"/>
              <a:t>才能执行，语句</a:t>
            </a:r>
            <a:r>
              <a:rPr lang="en-US" altLang="zh-CN"/>
              <a:t>S</a:t>
            </a:r>
            <a:r>
              <a:rPr lang="en-US" altLang="zh-CN" baseline="-25000"/>
              <a:t>3</a:t>
            </a:r>
            <a:r>
              <a:rPr lang="zh-CN" altLang="en-US"/>
              <a:t>也只能在</a:t>
            </a:r>
            <a:r>
              <a:rPr lang="en-US" altLang="zh-CN"/>
              <a:t>b</a:t>
            </a:r>
            <a:r>
              <a:rPr lang="zh-CN" altLang="en-US"/>
              <a:t>被赋值后才能执行。因此，三条语句存在着这样的前趋关系：</a:t>
            </a:r>
            <a:r>
              <a:rPr lang="en-US" altLang="zh-CN"/>
              <a:t>S</a:t>
            </a:r>
            <a:r>
              <a:rPr lang="en-US" altLang="zh-CN" baseline="-25000"/>
              <a:t>1</a:t>
            </a:r>
            <a:r>
              <a:rPr lang="en-US" altLang="zh-CN"/>
              <a:t>→S</a:t>
            </a:r>
            <a:r>
              <a:rPr lang="en-US" altLang="zh-CN" baseline="-25000"/>
              <a:t>2</a:t>
            </a:r>
            <a:r>
              <a:rPr lang="en-US" altLang="zh-CN"/>
              <a:t>→S</a:t>
            </a:r>
            <a:r>
              <a:rPr lang="en-US" altLang="zh-CN" baseline="-25000"/>
              <a:t>3</a:t>
            </a:r>
            <a:r>
              <a:rPr lang="zh-CN" altLang="en-US"/>
              <a:t>。</a:t>
            </a:r>
            <a:endParaRPr lang="en-US" altLang="zh-CN"/>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7</a:t>
            </a:fld>
            <a:endParaRPr kumimoji="1"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前趋图和程序执行</a:t>
            </a:r>
          </a:p>
        </p:txBody>
      </p:sp>
      <p:sp>
        <p:nvSpPr>
          <p:cNvPr id="3" name="内容占位符 2"/>
          <p:cNvSpPr>
            <a:spLocks noGrp="1"/>
          </p:cNvSpPr>
          <p:nvPr>
            <p:ph idx="1"/>
          </p:nvPr>
        </p:nvSpPr>
        <p:spPr>
          <a:xfrm>
            <a:off x="838200" y="1510758"/>
            <a:ext cx="10515600" cy="5347242"/>
          </a:xfrm>
        </p:spPr>
        <p:txBody>
          <a:bodyPr>
            <a:normAutofit/>
          </a:bodyPr>
          <a:lstStyle/>
          <a:p>
            <a:r>
              <a:rPr lang="zh-CN" altLang="en-US">
                <a:solidFill>
                  <a:srgbClr val="0070C0"/>
                </a:solidFill>
              </a:rPr>
              <a:t>程序顺序执行</a:t>
            </a:r>
            <a:endParaRPr lang="en-US" altLang="zh-CN">
              <a:solidFill>
                <a:srgbClr val="0070C0"/>
              </a:solidFill>
            </a:endParaRPr>
          </a:p>
          <a:p>
            <a:pPr lvl="1" algn="just">
              <a:buFont typeface="Wingdings" panose="05000000000000000000" pitchFamily="2" charset="2"/>
              <a:buChar char="ü"/>
            </a:pPr>
            <a:r>
              <a:rPr lang="zh-CN" altLang="en-US"/>
              <a:t>程序顺序执行时的特征</a:t>
            </a:r>
            <a:endParaRPr lang="en-US" altLang="zh-CN"/>
          </a:p>
          <a:p>
            <a:pPr marL="914400" lvl="2" indent="0" algn="just">
              <a:buNone/>
            </a:pPr>
            <a:r>
              <a:rPr lang="zh-CN" altLang="en-US"/>
              <a:t>由前述可知，程序顺序执行时具有三个特征：①顺序性：指处理机严格地按照程序所规定的顺序执行，即每一操作必须在下一个操作开始之前结束；②封闭性：指程序在封闭的环境下运行，即程序运行时独占全机资源，资源的状态</a:t>
            </a:r>
            <a:r>
              <a:rPr lang="en-US" altLang="zh-CN"/>
              <a:t>(</a:t>
            </a:r>
            <a:r>
              <a:rPr lang="zh-CN" altLang="en-US"/>
              <a:t>除初始状态外</a:t>
            </a:r>
            <a:r>
              <a:rPr lang="en-US" altLang="zh-CN"/>
              <a:t>)</a:t>
            </a:r>
            <a:r>
              <a:rPr lang="zh-CN" altLang="en-US"/>
              <a:t>只有本程序才能改变它，程序一旦开始执行，其执行结果不受外界因素影响；③可再现性：指只要程序执行时的环境和初始条件相同，当程序重复执行时，不论它是从头到尾不停顿地执行，还是“停停走走”地执行，都可获得相同的结果。程序顺序执行时的这种特性，为程序员检测和校正程序的错误带来了很大的方便。</a:t>
            </a:r>
            <a:endParaRPr lang="en-US" altLang="zh-CN"/>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a:t>
            </a:fld>
            <a:endParaRPr kumimoji="1"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前趋图和程序执行</a:t>
            </a:r>
          </a:p>
        </p:txBody>
      </p:sp>
      <p:sp>
        <p:nvSpPr>
          <p:cNvPr id="3" name="内容占位符 2"/>
          <p:cNvSpPr>
            <a:spLocks noGrp="1"/>
          </p:cNvSpPr>
          <p:nvPr>
            <p:ph idx="1"/>
          </p:nvPr>
        </p:nvSpPr>
        <p:spPr>
          <a:xfrm>
            <a:off x="838200" y="1510758"/>
            <a:ext cx="10515600" cy="5347242"/>
          </a:xfrm>
        </p:spPr>
        <p:txBody>
          <a:bodyPr>
            <a:normAutofit/>
          </a:bodyPr>
          <a:lstStyle/>
          <a:p>
            <a:r>
              <a:rPr lang="zh-CN" altLang="en-US">
                <a:solidFill>
                  <a:srgbClr val="0070C0"/>
                </a:solidFill>
              </a:rPr>
              <a:t>程序并发执行</a:t>
            </a:r>
            <a:endParaRPr lang="en-US" altLang="zh-CN">
              <a:solidFill>
                <a:srgbClr val="0070C0"/>
              </a:solidFill>
            </a:endParaRPr>
          </a:p>
          <a:p>
            <a:pPr lvl="1" algn="just">
              <a:buFont typeface="Wingdings" panose="05000000000000000000" pitchFamily="2" charset="2"/>
              <a:buChar char="ü"/>
            </a:pPr>
            <a:r>
              <a:rPr lang="zh-CN" altLang="en-US"/>
              <a:t>程序的并发执行</a:t>
            </a:r>
            <a:endParaRPr lang="en-US" altLang="zh-CN"/>
          </a:p>
          <a:p>
            <a:pPr marL="914400" lvl="2" indent="0" algn="just">
              <a:buNone/>
            </a:pPr>
            <a:r>
              <a:t>在</a:t>
            </a:r>
            <a:r>
              <a:rPr lang="zh-CN"/>
              <a:t>顺序执行时，</a:t>
            </a:r>
            <a:r>
              <a:t>输入程序、计算程序和打印程序间存在着</a:t>
            </a:r>
            <a:r>
              <a:rPr lang="en-US"/>
              <a:t>“</a:t>
            </a:r>
            <a:r>
              <a:t>I</a:t>
            </a:r>
            <a:r>
              <a:rPr baseline="-25000">
                <a:solidFill>
                  <a:schemeClr val="tx1"/>
                </a:solidFill>
                <a:uFillTx/>
              </a:rPr>
              <a:t>i</a:t>
            </a:r>
            <a:r>
              <a:t>→C</a:t>
            </a:r>
            <a:r>
              <a:rPr baseline="-25000">
                <a:uFillTx/>
              </a:rPr>
              <a:t>i</a:t>
            </a:r>
            <a:r>
              <a:t>→P</a:t>
            </a:r>
            <a:r>
              <a:rPr baseline="-25000">
                <a:uFillTx/>
              </a:rPr>
              <a:t>i</a:t>
            </a:r>
            <a:r>
              <a:rPr lang="en-US"/>
              <a:t>”</a:t>
            </a:r>
            <a:r>
              <a:rPr lang="zh-CN" altLang="en-US"/>
              <a:t>的</a:t>
            </a:r>
            <a:r>
              <a:t>前趋关系，以至对一个作业的输入、计算和打印三个程序段必须顺序执行。但对一批作业进行处理时，每道作业的输入、计算和打印程序段</a:t>
            </a:r>
            <a:r>
              <a:rPr lang="zh-CN"/>
              <a:t>可按</a:t>
            </a:r>
            <a:r>
              <a:rPr lang="zh-CN">
                <a:sym typeface="+mn-ea"/>
              </a:rPr>
              <a:t>下</a:t>
            </a:r>
            <a:r>
              <a:rPr>
                <a:sym typeface="+mn-ea"/>
              </a:rPr>
              <a:t>图所示</a:t>
            </a:r>
            <a:r>
              <a:t>执行</a:t>
            </a:r>
            <a:r>
              <a:rPr lang="zh-CN" altLang="en-US"/>
              <a:t>。</a:t>
            </a:r>
            <a:endParaRPr lang="en-US" altLang="zh-CN"/>
          </a:p>
          <a:p>
            <a:pPr lvl="1" algn="just">
              <a:buFont typeface="Wingdings" panose="05000000000000000000" pitchFamily="2" charset="2"/>
              <a:buChar char="ü"/>
            </a:pPr>
            <a:endParaRPr lang="en-US" altLang="zh-CN"/>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a:t>
            </a:fld>
            <a:endParaRPr kumimoji="1" lang="zh-CN" altLang="en-US"/>
          </a:p>
        </p:txBody>
      </p:sp>
      <p:pic>
        <p:nvPicPr>
          <p:cNvPr id="17412" name="Picture 4" descr="2-3"/>
          <p:cNvPicPr>
            <a:picLocks noChangeAspect="1"/>
          </p:cNvPicPr>
          <p:nvPr>
            <p:custDataLst>
              <p:tags r:id="rId1"/>
            </p:custDataLst>
          </p:nvPr>
        </p:nvPicPr>
        <p:blipFill>
          <a:blip r:embed="rId3"/>
          <a:stretch>
            <a:fillRect/>
          </a:stretch>
        </p:blipFill>
        <p:spPr>
          <a:xfrm>
            <a:off x="3571240" y="3923665"/>
            <a:ext cx="5597525" cy="2247265"/>
          </a:xfrm>
          <a:prstGeom prst="rect">
            <a:avLst/>
          </a:prstGeom>
          <a:noFill/>
          <a:ln w="9525">
            <a:noFill/>
          </a:ln>
        </p:spPr>
      </p:pic>
      <p:sp>
        <p:nvSpPr>
          <p:cNvPr id="6" name="文本框 5"/>
          <p:cNvSpPr txBox="1"/>
          <p:nvPr/>
        </p:nvSpPr>
        <p:spPr>
          <a:xfrm>
            <a:off x="4798060" y="6249670"/>
            <a:ext cx="2976880" cy="398780"/>
          </a:xfrm>
          <a:prstGeom prst="rect">
            <a:avLst/>
          </a:prstGeom>
          <a:noFill/>
        </p:spPr>
        <p:txBody>
          <a:bodyPr wrap="none" rtlCol="0" anchor="t">
            <a:spAutoFit/>
          </a:bodyPr>
          <a:lstStyle/>
          <a:p>
            <a:r>
              <a:rPr lang="zh-CN" altLang="en-US" sz="2000">
                <a:latin typeface="+mn-ea"/>
                <a:sym typeface="+mn-ea"/>
              </a:rPr>
              <a:t>程序并发执行时的前趋图</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前趋图和程序执行</a:t>
            </a:r>
          </a:p>
        </p:txBody>
      </p:sp>
      <p:sp>
        <p:nvSpPr>
          <p:cNvPr id="3" name="内容占位符 2"/>
          <p:cNvSpPr>
            <a:spLocks noGrp="1"/>
          </p:cNvSpPr>
          <p:nvPr>
            <p:ph idx="1"/>
          </p:nvPr>
        </p:nvSpPr>
        <p:spPr/>
        <p:txBody>
          <a:bodyPr>
            <a:normAutofit/>
          </a:bodyPr>
          <a:lstStyle/>
          <a:p>
            <a:pPr marL="0" indent="0">
              <a:buNone/>
            </a:pPr>
            <a:r>
              <a:rPr lang="en-US" altLang="zh-CN" sz="2220">
                <a:sym typeface="+mn-ea"/>
              </a:rPr>
              <a:t>        </a:t>
            </a:r>
            <a:r>
              <a:rPr lang="zh-CN" altLang="en-US" sz="2220">
                <a:sym typeface="+mn-ea"/>
              </a:rPr>
              <a:t>由上图可看出，存在前趋关系</a:t>
            </a:r>
            <a:r>
              <a:rPr lang="en-US" altLang="zh-CN" sz="2220">
                <a:sym typeface="+mn-ea"/>
              </a:rPr>
              <a:t>I</a:t>
            </a:r>
            <a:r>
              <a:rPr lang="en-US" altLang="zh-CN" sz="2220" baseline="-25000">
                <a:sym typeface="+mn-ea"/>
              </a:rPr>
              <a:t>i</a:t>
            </a:r>
            <a:r>
              <a:rPr lang="en-US" altLang="zh-CN" sz="2220">
                <a:sym typeface="+mn-ea"/>
              </a:rPr>
              <a:t>→C</a:t>
            </a:r>
            <a:r>
              <a:rPr lang="en-US" altLang="zh-CN" sz="2220" baseline="-25000">
                <a:sym typeface="+mn-ea"/>
              </a:rPr>
              <a:t>i</a:t>
            </a:r>
            <a:r>
              <a:rPr lang="zh-CN" altLang="en-US" sz="2220">
                <a:sym typeface="+mn-ea"/>
              </a:rPr>
              <a:t>、</a:t>
            </a:r>
            <a:r>
              <a:rPr lang="en-US" altLang="zh-CN" sz="2220">
                <a:sym typeface="+mn-ea"/>
              </a:rPr>
              <a:t>I</a:t>
            </a:r>
            <a:r>
              <a:rPr lang="en-US" altLang="zh-CN" sz="2220" baseline="-25000">
                <a:sym typeface="+mn-ea"/>
              </a:rPr>
              <a:t>i</a:t>
            </a:r>
            <a:r>
              <a:rPr lang="en-US" altLang="zh-CN" sz="2220">
                <a:sym typeface="+mn-ea"/>
              </a:rPr>
              <a:t>→I</a:t>
            </a:r>
            <a:r>
              <a:rPr lang="en-US" altLang="zh-CN" sz="2220" baseline="-25000">
                <a:sym typeface="+mn-ea"/>
              </a:rPr>
              <a:t>i+1</a:t>
            </a:r>
            <a:r>
              <a:rPr lang="zh-CN" altLang="en-US" sz="2220" baseline="-25000">
                <a:sym typeface="+mn-ea"/>
              </a:rPr>
              <a:t>、</a:t>
            </a:r>
            <a:r>
              <a:rPr lang="en-US" altLang="zh-CN" sz="2220">
                <a:sym typeface="+mn-ea"/>
              </a:rPr>
              <a:t>C</a:t>
            </a:r>
            <a:r>
              <a:rPr lang="en-US" altLang="zh-CN" sz="2220" baseline="-25000">
                <a:sym typeface="+mn-ea"/>
              </a:rPr>
              <a:t>i</a:t>
            </a:r>
            <a:r>
              <a:rPr lang="en-US" altLang="zh-CN" sz="2220">
                <a:sym typeface="+mn-ea"/>
              </a:rPr>
              <a:t>→P</a:t>
            </a:r>
            <a:r>
              <a:rPr lang="en-US" altLang="zh-CN" sz="2220" baseline="-25000">
                <a:sym typeface="+mn-ea"/>
              </a:rPr>
              <a:t>i</a:t>
            </a:r>
            <a:r>
              <a:rPr lang="zh-CN" altLang="en-US" sz="2220" baseline="-25000">
                <a:sym typeface="+mn-ea"/>
              </a:rPr>
              <a:t>、</a:t>
            </a:r>
            <a:r>
              <a:rPr lang="en-US" altLang="zh-CN" sz="2220">
                <a:sym typeface="+mn-ea"/>
              </a:rPr>
              <a:t>C</a:t>
            </a:r>
            <a:r>
              <a:rPr lang="en-US" altLang="zh-CN" sz="2220" baseline="-25000">
                <a:sym typeface="+mn-ea"/>
              </a:rPr>
              <a:t>i</a:t>
            </a:r>
            <a:r>
              <a:rPr lang="en-US" altLang="zh-CN" sz="2220">
                <a:sym typeface="+mn-ea"/>
              </a:rPr>
              <a:t>→C</a:t>
            </a:r>
            <a:r>
              <a:rPr lang="en-US" altLang="zh-CN" sz="2220" baseline="-25000">
                <a:sym typeface="+mn-ea"/>
              </a:rPr>
              <a:t>i+1</a:t>
            </a:r>
            <a:r>
              <a:rPr lang="zh-CN" altLang="en-US" sz="2220" baseline="-25000">
                <a:sym typeface="+mn-ea"/>
              </a:rPr>
              <a:t>、</a:t>
            </a:r>
            <a:r>
              <a:rPr lang="en-US" altLang="zh-CN" sz="2220">
                <a:sym typeface="+mn-ea"/>
              </a:rPr>
              <a:t>P</a:t>
            </a:r>
            <a:r>
              <a:rPr lang="en-US" altLang="zh-CN" sz="2220" baseline="-25000">
                <a:sym typeface="+mn-ea"/>
              </a:rPr>
              <a:t>i</a:t>
            </a:r>
            <a:r>
              <a:rPr lang="en-US" altLang="zh-CN" sz="2220">
                <a:sym typeface="+mn-ea"/>
              </a:rPr>
              <a:t>→P</a:t>
            </a:r>
            <a:r>
              <a:rPr lang="en-US" altLang="zh-CN" sz="2220" baseline="-25000">
                <a:sym typeface="+mn-ea"/>
              </a:rPr>
              <a:t>i+1</a:t>
            </a:r>
            <a:r>
              <a:rPr lang="zh-CN" altLang="en-US" sz="2220">
                <a:sym typeface="+mn-ea"/>
              </a:rPr>
              <a:t>，而</a:t>
            </a:r>
            <a:r>
              <a:rPr lang="en-US" altLang="zh-CN" sz="2220">
                <a:sym typeface="+mn-ea"/>
              </a:rPr>
              <a:t>I</a:t>
            </a:r>
            <a:r>
              <a:rPr lang="en-US" altLang="zh-CN" sz="2220" baseline="-25000">
                <a:sym typeface="+mn-ea"/>
              </a:rPr>
              <a:t>i+1</a:t>
            </a:r>
            <a:r>
              <a:rPr lang="zh-CN" altLang="en-US" sz="2220">
                <a:sym typeface="+mn-ea"/>
              </a:rPr>
              <a:t>和</a:t>
            </a:r>
            <a:r>
              <a:rPr lang="en-US" altLang="zh-CN" sz="2220">
                <a:sym typeface="+mn-ea"/>
              </a:rPr>
              <a:t>C</a:t>
            </a:r>
            <a:r>
              <a:rPr lang="en-US" altLang="zh-CN" sz="2220" baseline="-25000">
                <a:sym typeface="+mn-ea"/>
              </a:rPr>
              <a:t>i</a:t>
            </a:r>
            <a:r>
              <a:rPr lang="zh-CN" altLang="en-US" sz="2220">
                <a:sym typeface="+mn-ea"/>
              </a:rPr>
              <a:t>及</a:t>
            </a:r>
            <a:r>
              <a:rPr lang="en-US" altLang="zh-CN" sz="2220">
                <a:sym typeface="+mn-ea"/>
              </a:rPr>
              <a:t>P</a:t>
            </a:r>
            <a:r>
              <a:rPr lang="en-US" altLang="zh-CN" sz="2220" baseline="-25000">
                <a:sym typeface="+mn-ea"/>
              </a:rPr>
              <a:t>i-1</a:t>
            </a:r>
            <a:r>
              <a:rPr lang="zh-CN" altLang="en-US" sz="2220">
                <a:sym typeface="+mn-ea"/>
              </a:rPr>
              <a:t>是重叠的，即在</a:t>
            </a:r>
            <a:r>
              <a:rPr lang="en-US" altLang="zh-CN" sz="2220">
                <a:sym typeface="+mn-ea"/>
              </a:rPr>
              <a:t>P</a:t>
            </a:r>
            <a:r>
              <a:rPr lang="en-US" altLang="zh-CN" sz="2220" baseline="-25000">
                <a:sym typeface="+mn-ea"/>
              </a:rPr>
              <a:t>i-1</a:t>
            </a:r>
            <a:r>
              <a:rPr lang="zh-CN" altLang="en-US" sz="2220">
                <a:sym typeface="+mn-ea"/>
              </a:rPr>
              <a:t>和</a:t>
            </a:r>
            <a:r>
              <a:rPr lang="en-US" altLang="zh-CN" sz="2220">
                <a:sym typeface="+mn-ea"/>
              </a:rPr>
              <a:t>C</a:t>
            </a:r>
            <a:r>
              <a:rPr lang="en-US" altLang="zh-CN" sz="2220" baseline="-25000">
                <a:sym typeface="+mn-ea"/>
              </a:rPr>
              <a:t>i</a:t>
            </a:r>
            <a:r>
              <a:rPr lang="zh-CN" altLang="en-US" sz="2220">
                <a:sym typeface="+mn-ea"/>
              </a:rPr>
              <a:t>以及</a:t>
            </a:r>
            <a:r>
              <a:rPr lang="en-US" altLang="zh-CN" sz="2220">
                <a:sym typeface="+mn-ea"/>
              </a:rPr>
              <a:t>I</a:t>
            </a:r>
            <a:r>
              <a:rPr lang="en-US" altLang="zh-CN" sz="2220" baseline="-25000">
                <a:sym typeface="+mn-ea"/>
              </a:rPr>
              <a:t>i+1</a:t>
            </a:r>
            <a:r>
              <a:rPr lang="zh-CN" altLang="en-US" sz="2220">
                <a:sym typeface="+mn-ea"/>
              </a:rPr>
              <a:t>之间，不存在前趋关系，可以并发执行。</a:t>
            </a:r>
            <a:br>
              <a:rPr lang="zh-CN" altLang="en-US" sz="2220">
                <a:sym typeface="+mn-ea"/>
              </a:rPr>
            </a:br>
            <a:r>
              <a:rPr lang="en-US" altLang="zh-CN" sz="2220">
                <a:sym typeface="+mn-ea"/>
              </a:rPr>
              <a:t>        </a:t>
            </a:r>
            <a:r>
              <a:rPr lang="zh-CN" altLang="en-US" sz="2220">
                <a:sym typeface="+mn-ea"/>
              </a:rPr>
              <a:t>对于具有下述四条语句的程序段：</a:t>
            </a:r>
            <a:br>
              <a:rPr lang="zh-CN" altLang="en-US" sz="2220">
                <a:sym typeface="+mn-ea"/>
              </a:rPr>
            </a:br>
            <a:r>
              <a:rPr lang="zh-CN" altLang="en-US" sz="2220">
                <a:sym typeface="+mn-ea"/>
              </a:rPr>
              <a:t>　　</a:t>
            </a:r>
            <a:r>
              <a:rPr lang="en-US" altLang="zh-CN" sz="2220">
                <a:sym typeface="+mn-ea"/>
              </a:rPr>
              <a:t>S</a:t>
            </a:r>
            <a:r>
              <a:rPr lang="en-US" altLang="zh-CN" sz="2220" baseline="-25000">
                <a:sym typeface="+mn-ea"/>
              </a:rPr>
              <a:t>1</a:t>
            </a:r>
            <a:r>
              <a:rPr lang="en-US" altLang="zh-CN" sz="2220">
                <a:sym typeface="+mn-ea"/>
              </a:rPr>
              <a:t>: a :=x+2</a:t>
            </a:r>
            <a:br>
              <a:rPr lang="en-US" altLang="zh-CN" sz="2220">
                <a:sym typeface="+mn-ea"/>
              </a:rPr>
            </a:br>
            <a:r>
              <a:rPr lang="zh-CN" altLang="en-US" sz="2220">
                <a:sym typeface="+mn-ea"/>
              </a:rPr>
              <a:t>　　</a:t>
            </a:r>
            <a:r>
              <a:rPr lang="en-US" altLang="zh-CN" sz="2220">
                <a:sym typeface="+mn-ea"/>
              </a:rPr>
              <a:t>S</a:t>
            </a:r>
            <a:r>
              <a:rPr lang="en-US" altLang="zh-CN" sz="2220" baseline="-25000">
                <a:sym typeface="+mn-ea"/>
              </a:rPr>
              <a:t>2</a:t>
            </a:r>
            <a:r>
              <a:rPr lang="en-US" altLang="zh-CN" sz="2220">
                <a:sym typeface="+mn-ea"/>
              </a:rPr>
              <a:t>: b :=y+4</a:t>
            </a:r>
            <a:br>
              <a:rPr lang="en-US" altLang="zh-CN" sz="2220">
                <a:sym typeface="+mn-ea"/>
              </a:rPr>
            </a:br>
            <a:r>
              <a:rPr lang="zh-CN" altLang="en-US" sz="2220">
                <a:sym typeface="+mn-ea"/>
              </a:rPr>
              <a:t>　　</a:t>
            </a:r>
            <a:r>
              <a:rPr lang="en-US" altLang="zh-CN" sz="2220">
                <a:sym typeface="+mn-ea"/>
              </a:rPr>
              <a:t>S</a:t>
            </a:r>
            <a:r>
              <a:rPr lang="en-US" altLang="zh-CN" sz="2220" baseline="-25000">
                <a:sym typeface="+mn-ea"/>
              </a:rPr>
              <a:t>3</a:t>
            </a:r>
            <a:r>
              <a:rPr lang="en-US" altLang="zh-CN" sz="2220">
                <a:sym typeface="+mn-ea"/>
              </a:rPr>
              <a:t>: c :=a+b</a:t>
            </a:r>
            <a:br>
              <a:rPr lang="en-US" altLang="zh-CN" sz="2220">
                <a:sym typeface="+mn-ea"/>
              </a:rPr>
            </a:br>
            <a:r>
              <a:rPr lang="zh-CN" altLang="en-US" sz="2220">
                <a:sym typeface="+mn-ea"/>
              </a:rPr>
              <a:t>　　</a:t>
            </a:r>
            <a:r>
              <a:rPr lang="en-US" altLang="zh-CN" sz="2220">
                <a:sym typeface="+mn-ea"/>
              </a:rPr>
              <a:t>S</a:t>
            </a:r>
            <a:r>
              <a:rPr lang="en-US" altLang="zh-CN" sz="2220" baseline="-25000">
                <a:sym typeface="+mn-ea"/>
              </a:rPr>
              <a:t>4</a:t>
            </a:r>
            <a:r>
              <a:rPr lang="en-US" altLang="zh-CN" sz="2220">
                <a:sym typeface="+mn-ea"/>
              </a:rPr>
              <a:t>: d :=c+b</a:t>
            </a:r>
            <a:br>
              <a:rPr lang="en-US" altLang="zh-CN" sz="2220">
                <a:sym typeface="+mn-ea"/>
              </a:rPr>
            </a:br>
            <a:r>
              <a:rPr lang="zh-CN" altLang="en-US" sz="2220">
                <a:sym typeface="+mn-ea"/>
              </a:rPr>
              <a:t>　　可画出如右图的前趋关系。可以看出：</a:t>
            </a:r>
            <a:r>
              <a:rPr lang="en-US" altLang="zh-CN" sz="2220">
                <a:sym typeface="+mn-ea"/>
              </a:rPr>
              <a:t>S</a:t>
            </a:r>
            <a:r>
              <a:rPr lang="en-US" altLang="zh-CN" sz="2220" baseline="-25000">
                <a:sym typeface="+mn-ea"/>
              </a:rPr>
              <a:t>3</a:t>
            </a:r>
            <a:r>
              <a:rPr lang="zh-CN" altLang="en-US" sz="2220">
                <a:sym typeface="+mn-ea"/>
              </a:rPr>
              <a:t>必须在</a:t>
            </a:r>
            <a:r>
              <a:rPr lang="en-US" altLang="zh-CN" sz="2220">
                <a:sym typeface="+mn-ea"/>
              </a:rPr>
              <a:t>a</a:t>
            </a:r>
            <a:r>
              <a:rPr lang="zh-CN" altLang="en-US" sz="2220">
                <a:sym typeface="+mn-ea"/>
              </a:rPr>
              <a:t>和</a:t>
            </a:r>
            <a:r>
              <a:rPr lang="en-US" altLang="zh-CN" sz="2220">
                <a:sym typeface="+mn-ea"/>
              </a:rPr>
              <a:t>b</a:t>
            </a:r>
            <a:r>
              <a:rPr lang="zh-CN" altLang="en-US" sz="2220">
                <a:sym typeface="+mn-ea"/>
              </a:rPr>
              <a:t>被赋值后方能执行；</a:t>
            </a:r>
            <a:r>
              <a:rPr lang="en-US" altLang="zh-CN" sz="2220">
                <a:sym typeface="+mn-ea"/>
              </a:rPr>
              <a:t>S</a:t>
            </a:r>
            <a:r>
              <a:rPr lang="en-US" altLang="zh-CN" sz="2220" baseline="-25000">
                <a:sym typeface="+mn-ea"/>
              </a:rPr>
              <a:t>4</a:t>
            </a:r>
            <a:r>
              <a:rPr lang="zh-CN" altLang="en-US" sz="2220">
                <a:sym typeface="+mn-ea"/>
              </a:rPr>
              <a:t>必须在</a:t>
            </a:r>
            <a:r>
              <a:rPr lang="en-US" altLang="zh-CN" sz="2220">
                <a:sym typeface="+mn-ea"/>
              </a:rPr>
              <a:t>S</a:t>
            </a:r>
            <a:r>
              <a:rPr lang="en-US" altLang="zh-CN" sz="2220" baseline="-25000">
                <a:sym typeface="+mn-ea"/>
              </a:rPr>
              <a:t>3</a:t>
            </a:r>
            <a:r>
              <a:rPr lang="zh-CN" altLang="en-US" sz="2220">
                <a:sym typeface="+mn-ea"/>
              </a:rPr>
              <a:t>之后执行；但</a:t>
            </a:r>
            <a:r>
              <a:rPr lang="en-US" altLang="zh-CN" sz="2220">
                <a:sym typeface="+mn-ea"/>
              </a:rPr>
              <a:t>S</a:t>
            </a:r>
            <a:r>
              <a:rPr lang="en-US" altLang="zh-CN" sz="2220" baseline="-25000">
                <a:sym typeface="+mn-ea"/>
              </a:rPr>
              <a:t>1</a:t>
            </a:r>
            <a:r>
              <a:rPr lang="zh-CN" altLang="en-US" sz="2220">
                <a:sym typeface="+mn-ea"/>
              </a:rPr>
              <a:t>和</a:t>
            </a:r>
            <a:r>
              <a:rPr lang="en-US" altLang="zh-CN" sz="2220">
                <a:sym typeface="+mn-ea"/>
              </a:rPr>
              <a:t>S</a:t>
            </a:r>
            <a:r>
              <a:rPr lang="en-US" altLang="zh-CN" sz="2220" baseline="-25000">
                <a:sym typeface="+mn-ea"/>
              </a:rPr>
              <a:t>2</a:t>
            </a:r>
            <a:r>
              <a:rPr lang="zh-CN" altLang="en-US" sz="2220">
                <a:sym typeface="+mn-ea"/>
              </a:rPr>
              <a:t>则可以并发执行，因为它们彼此互不依赖</a:t>
            </a:r>
            <a:endParaRPr lang="zh-CN" altLang="en-US" sz="222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a:t>
            </a:fld>
            <a:endParaRPr kumimoji="1" lang="zh-CN" altLang="en-US"/>
          </a:p>
        </p:txBody>
      </p:sp>
      <p:pic>
        <p:nvPicPr>
          <p:cNvPr id="19460" name="Picture 4" descr="2-4"/>
          <p:cNvPicPr>
            <a:picLocks noChangeAspect="1"/>
          </p:cNvPicPr>
          <p:nvPr/>
        </p:nvPicPr>
        <p:blipFill>
          <a:blip r:embed="rId2"/>
          <a:stretch>
            <a:fillRect/>
          </a:stretch>
        </p:blipFill>
        <p:spPr>
          <a:xfrm>
            <a:off x="7440930" y="2386330"/>
            <a:ext cx="3446780" cy="208534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前趋图和程序执行</a:t>
            </a:r>
          </a:p>
        </p:txBody>
      </p:sp>
      <p:sp>
        <p:nvSpPr>
          <p:cNvPr id="3" name="内容占位符 2"/>
          <p:cNvSpPr>
            <a:spLocks noGrp="1"/>
          </p:cNvSpPr>
          <p:nvPr>
            <p:ph idx="1"/>
          </p:nvPr>
        </p:nvSpPr>
        <p:spPr>
          <a:xfrm>
            <a:off x="838200" y="1510758"/>
            <a:ext cx="10515600" cy="5347242"/>
          </a:xfrm>
        </p:spPr>
        <p:txBody>
          <a:bodyPr>
            <a:normAutofit/>
          </a:bodyPr>
          <a:lstStyle/>
          <a:p>
            <a:r>
              <a:rPr lang="zh-CN" altLang="en-US">
                <a:solidFill>
                  <a:srgbClr val="0070C0"/>
                </a:solidFill>
              </a:rPr>
              <a:t>程序并发执行</a:t>
            </a:r>
            <a:endParaRPr lang="en-US" altLang="zh-CN">
              <a:solidFill>
                <a:srgbClr val="0070C0"/>
              </a:solidFill>
            </a:endParaRPr>
          </a:p>
          <a:p>
            <a:pPr lvl="1" algn="just">
              <a:buFont typeface="Wingdings" panose="05000000000000000000" pitchFamily="2" charset="2"/>
              <a:buChar char="ü"/>
            </a:pPr>
            <a:r>
              <a:rPr lang="zh-CN" altLang="en-US"/>
              <a:t>程序并发执行时的特征</a:t>
            </a:r>
          </a:p>
          <a:p>
            <a:pPr marL="914400" lvl="2" indent="0">
              <a:buNone/>
            </a:pPr>
            <a:r>
              <a:t>在引入程序间并发执行功能后，虽然提高了系统的吞吐量和资源利用率，但由于它们共享系统资源，以及它们为完成同一项任务而相互合作，致使在这些并发执行的程序之间必将形成相互制约的关系，由此会给程序并发执行带来新的特征。</a:t>
            </a:r>
            <a:br>
              <a:rPr/>
            </a:br>
            <a:r>
              <a:t>(1)间断性</a:t>
            </a:r>
            <a:r>
              <a:rPr lang="zh-CN" altLang="en-US"/>
              <a:t>；</a:t>
            </a:r>
            <a:r>
              <a:t>(2)失去封闭性</a:t>
            </a:r>
            <a:r>
              <a:rPr lang="zh-CN" altLang="en-US"/>
              <a:t>；</a:t>
            </a:r>
            <a:r>
              <a:t>(3)不可再现性</a:t>
            </a:r>
            <a:endParaRPr lang="en-US" altLang="zh-CN"/>
          </a:p>
          <a:p>
            <a:pPr lvl="1" algn="just">
              <a:buFont typeface="Wingdings" panose="05000000000000000000" pitchFamily="2" charset="2"/>
              <a:buChar char="ü"/>
            </a:pPr>
            <a:endParaRPr lang="en-US" altLang="zh-CN"/>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a:t>
            </a:fld>
            <a:endParaRPr kumimoji="1"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进程的描述</a:t>
            </a:r>
          </a:p>
        </p:txBody>
      </p:sp>
      <p:sp>
        <p:nvSpPr>
          <p:cNvPr id="3" name="内容占位符 2"/>
          <p:cNvSpPr>
            <a:spLocks noGrp="1"/>
          </p:cNvSpPr>
          <p:nvPr>
            <p:ph idx="1"/>
          </p:nvPr>
        </p:nvSpPr>
        <p:spPr>
          <a:xfrm>
            <a:off x="838200" y="1510758"/>
            <a:ext cx="10515600" cy="5347242"/>
          </a:xfrm>
        </p:spPr>
        <p:txBody>
          <a:bodyPr>
            <a:normAutofit lnSpcReduction="10000"/>
          </a:bodyPr>
          <a:lstStyle/>
          <a:p>
            <a:r>
              <a:rPr lang="zh-CN" altLang="en-US">
                <a:solidFill>
                  <a:srgbClr val="0070C0"/>
                </a:solidFill>
                <a:ea typeface="+mn-ea"/>
                <a:sym typeface="+mn-ea"/>
              </a:rPr>
              <a:t>进程的定义和特征</a:t>
            </a:r>
            <a:endParaRPr lang="en-US" altLang="zh-CN">
              <a:solidFill>
                <a:srgbClr val="0070C0"/>
              </a:solidFill>
              <a:ea typeface="+mn-ea"/>
            </a:endParaRPr>
          </a:p>
          <a:p>
            <a:pPr lvl="1" algn="just">
              <a:buFont typeface="Wingdings" panose="05000000000000000000" pitchFamily="2" charset="2"/>
              <a:buChar char="ü"/>
            </a:pPr>
            <a:r>
              <a:rPr lang="zh-CN" altLang="en-US">
                <a:ea typeface="+mn-ea"/>
                <a:sym typeface="+mn-ea"/>
              </a:rPr>
              <a:t>进程的定义</a:t>
            </a:r>
            <a:endParaRPr lang="zh-CN" altLang="en-US">
              <a:ea typeface="+mn-ea"/>
            </a:endParaRPr>
          </a:p>
          <a:p>
            <a:pPr marL="914400" lvl="2" indent="0" algn="just">
              <a:buNone/>
            </a:pPr>
            <a:r>
              <a:rPr>
                <a:ea typeface="+mn-ea"/>
              </a:rPr>
              <a:t>在多道程序环境下，程序的执行属于并发执行，此时它们将失去其封闭性，并具有间断性，以及其运行结果不可再现性的特征。由此，决定了通常的程序是不能参与并发执行的，否则，程序的运行也就失去了意义。为了能使程序并发执行，并且可以对并发执行的程序加以描述和控制，人们引入了“进程”的概念。</a:t>
            </a:r>
          </a:p>
          <a:p>
            <a:pPr marL="914400" lvl="2" indent="0" algn="just">
              <a:buNone/>
            </a:pPr>
            <a:r>
              <a:rPr lang="en-US" altLang="zh-CN">
                <a:ea typeface="+mn-ea"/>
              </a:rPr>
              <a:t>对于进程的定义，从不同的角度可以有不同的定义，其中较典型的定义有</a:t>
            </a:r>
            <a:r>
              <a:rPr lang="zh-CN" altLang="en-US">
                <a:ea typeface="+mn-ea"/>
              </a:rPr>
              <a:t>：</a:t>
            </a:r>
            <a:r>
              <a:rPr lang="en-US" altLang="zh-CN">
                <a:ea typeface="+mn-ea"/>
              </a:rPr>
              <a:t>(1)进程是程序的一次执行</a:t>
            </a:r>
            <a:r>
              <a:rPr lang="zh-CN" altLang="en-US">
                <a:ea typeface="+mn-ea"/>
              </a:rPr>
              <a:t>；</a:t>
            </a:r>
            <a:r>
              <a:rPr lang="en-US" altLang="zh-CN">
                <a:ea typeface="+mn-ea"/>
              </a:rPr>
              <a:t>(2)进程是一个程序及其数据在处理机上顺序执行时所发生的活动</a:t>
            </a:r>
            <a:r>
              <a:rPr lang="zh-CN" altLang="en-US">
                <a:ea typeface="+mn-ea"/>
              </a:rPr>
              <a:t>；</a:t>
            </a:r>
            <a:r>
              <a:rPr lang="en-US" altLang="zh-CN">
                <a:ea typeface="+mn-ea"/>
              </a:rPr>
              <a:t>(3)进程是具有独立功能的程序在一个数据集合上运行的过程，它是系统进行资源分配和调度的一个独立单位</a:t>
            </a:r>
            <a:r>
              <a:rPr lang="zh-CN" altLang="en-US">
                <a:ea typeface="+mn-ea"/>
              </a:rPr>
              <a:t>。</a:t>
            </a:r>
            <a:endParaRPr lang="en-US" altLang="zh-CN">
              <a:ea typeface="+mn-ea"/>
            </a:endParaRPr>
          </a:p>
          <a:p>
            <a:pPr lvl="1" algn="just">
              <a:buClrTx/>
              <a:buSzTx/>
              <a:buFont typeface="Wingdings" panose="05000000000000000000" pitchFamily="2" charset="2"/>
              <a:buChar char="ü"/>
            </a:pPr>
            <a:r>
              <a:rPr lang="zh-CN" altLang="en-US" sz="2400">
                <a:ea typeface="+mn-ea"/>
                <a:sym typeface="+mn-ea"/>
              </a:rPr>
              <a:t>进程的特征</a:t>
            </a:r>
            <a:endParaRPr lang="zh-CN" altLang="en-US" sz="2400">
              <a:ea typeface="+mn-ea"/>
            </a:endParaRPr>
          </a:p>
          <a:p>
            <a:pPr marL="914400" lvl="2" indent="0" algn="just">
              <a:buNone/>
            </a:pPr>
            <a:r>
              <a:rPr sz="2000">
                <a:ea typeface="+mn-ea"/>
                <a:sym typeface="+mn-ea"/>
              </a:rPr>
              <a:t>进程和程序是两个截然不同的概念，除了进程具有程序所没有的PCB结构外，还具有特征</a:t>
            </a:r>
            <a:r>
              <a:rPr lang="zh-CN" sz="2000">
                <a:ea typeface="+mn-ea"/>
                <a:sym typeface="+mn-ea"/>
              </a:rPr>
              <a:t>：</a:t>
            </a:r>
            <a:r>
              <a:rPr lang="en-US" altLang="zh-CN" sz="2000">
                <a:ea typeface="+mn-ea"/>
                <a:sym typeface="+mn-ea"/>
              </a:rPr>
              <a:t>(1)</a:t>
            </a:r>
            <a:r>
              <a:rPr lang="zh-CN" altLang="en-US" sz="2000">
                <a:ea typeface="+mn-ea"/>
                <a:sym typeface="+mn-ea"/>
              </a:rPr>
              <a:t>动态性；</a:t>
            </a:r>
            <a:r>
              <a:rPr lang="en-US" altLang="zh-CN" sz="2000">
                <a:ea typeface="+mn-ea"/>
                <a:sym typeface="+mn-ea"/>
              </a:rPr>
              <a:t>(2)</a:t>
            </a:r>
            <a:r>
              <a:rPr lang="zh-CN" altLang="en-US" sz="2000">
                <a:ea typeface="+mn-ea"/>
                <a:sym typeface="+mn-ea"/>
              </a:rPr>
              <a:t>并发性；</a:t>
            </a:r>
            <a:r>
              <a:rPr lang="en-US" altLang="zh-CN" sz="2000">
                <a:ea typeface="+mn-ea"/>
                <a:sym typeface="+mn-ea"/>
              </a:rPr>
              <a:t>(3)</a:t>
            </a:r>
            <a:r>
              <a:rPr lang="zh-CN" altLang="en-US" sz="2000">
                <a:ea typeface="+mn-ea"/>
                <a:sym typeface="+mn-ea"/>
              </a:rPr>
              <a:t>独立性；</a:t>
            </a:r>
            <a:r>
              <a:rPr lang="en-US" altLang="zh-CN" sz="2000">
                <a:ea typeface="+mn-ea"/>
                <a:sym typeface="+mn-ea"/>
              </a:rPr>
              <a:t>(4)</a:t>
            </a:r>
            <a:r>
              <a:rPr lang="zh-CN" altLang="en-US" sz="2000">
                <a:ea typeface="+mn-ea"/>
                <a:sym typeface="+mn-ea"/>
              </a:rPr>
              <a:t>异步性。</a:t>
            </a:r>
            <a:endParaRPr lang="en-US" altLang="zh-CN">
              <a:ea typeface="+mn-ea"/>
            </a:endParaRPr>
          </a:p>
          <a:p>
            <a:pPr marL="914400" lvl="2" indent="0" algn="just">
              <a:buNone/>
            </a:pPr>
            <a:endParaRPr lang="en-US" altLang="zh-CN"/>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a:t>
            </a:fld>
            <a:endParaRPr kumimoji="1"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进程的描述</a:t>
            </a:r>
          </a:p>
        </p:txBody>
      </p:sp>
      <p:sp>
        <p:nvSpPr>
          <p:cNvPr id="3" name="内容占位符 2"/>
          <p:cNvSpPr>
            <a:spLocks noGrp="1"/>
          </p:cNvSpPr>
          <p:nvPr>
            <p:ph idx="1"/>
          </p:nvPr>
        </p:nvSpPr>
        <p:spPr>
          <a:xfrm>
            <a:off x="838200" y="1510665"/>
            <a:ext cx="10528935" cy="5347335"/>
          </a:xfrm>
        </p:spPr>
        <p:txBody>
          <a:bodyPr>
            <a:normAutofit/>
          </a:bodyPr>
          <a:lstStyle/>
          <a:p>
            <a:r>
              <a:rPr lang="zh-CN" altLang="en-US">
                <a:solidFill>
                  <a:srgbClr val="0070C0"/>
                </a:solidFill>
                <a:ea typeface="+mn-ea"/>
                <a:sym typeface="+mn-ea"/>
              </a:rPr>
              <a:t>进程的基本状态及转换</a:t>
            </a:r>
            <a:endParaRPr lang="en-US" altLang="zh-CN">
              <a:solidFill>
                <a:srgbClr val="0070C0"/>
              </a:solidFill>
              <a:ea typeface="+mn-ea"/>
            </a:endParaRPr>
          </a:p>
          <a:p>
            <a:pPr lvl="1" algn="just">
              <a:buFont typeface="Wingdings" panose="05000000000000000000" pitchFamily="2" charset="2"/>
              <a:buChar char="ü"/>
            </a:pPr>
            <a:r>
              <a:rPr lang="zh-CN" altLang="en-US">
                <a:ea typeface="+mn-ea"/>
                <a:sym typeface="+mn-ea"/>
              </a:rPr>
              <a:t>进程的三种基本状态</a:t>
            </a:r>
            <a:endParaRPr lang="zh-CN" altLang="en-US">
              <a:ea typeface="+mn-ea"/>
            </a:endParaRPr>
          </a:p>
          <a:p>
            <a:pPr marL="914400" lvl="2" indent="0" algn="just">
              <a:buNone/>
            </a:pPr>
            <a:r>
              <a:rPr>
                <a:ea typeface="+mn-ea"/>
              </a:rPr>
              <a:t>多个进程在并发执行时共享系统资源，致使它们在运行过程中呈现间断性的运行规律，所以进程在其生命周期内可能具有多种状态。一般而言，每个进程至少应处于三种基本状态之一</a:t>
            </a:r>
            <a:r>
              <a:rPr lang="zh-CN">
                <a:ea typeface="+mn-ea"/>
              </a:rPr>
              <a:t>：</a:t>
            </a:r>
            <a:r>
              <a:rPr lang="en-US" altLang="zh-CN">
                <a:ea typeface="+mn-ea"/>
              </a:rPr>
              <a:t>(1)</a:t>
            </a:r>
            <a:r>
              <a:rPr lang="zh-CN" altLang="en-US">
                <a:ea typeface="+mn-ea"/>
                <a:sym typeface="+mn-ea"/>
              </a:rPr>
              <a:t>就绪</a:t>
            </a:r>
            <a:r>
              <a:rPr lang="en-US" altLang="zh-CN">
                <a:ea typeface="+mn-ea"/>
                <a:sym typeface="+mn-ea"/>
              </a:rPr>
              <a:t>(Ready)</a:t>
            </a:r>
            <a:r>
              <a:rPr lang="zh-CN" altLang="en-US">
                <a:ea typeface="+mn-ea"/>
                <a:sym typeface="+mn-ea"/>
              </a:rPr>
              <a:t>状态；</a:t>
            </a:r>
            <a:r>
              <a:rPr lang="en-US" altLang="zh-CN">
                <a:ea typeface="+mn-ea"/>
                <a:sym typeface="+mn-ea"/>
              </a:rPr>
              <a:t>(2)</a:t>
            </a:r>
            <a:r>
              <a:rPr lang="zh-CN" altLang="en-US">
                <a:ea typeface="+mn-ea"/>
                <a:sym typeface="+mn-ea"/>
              </a:rPr>
              <a:t>执行</a:t>
            </a:r>
            <a:r>
              <a:rPr lang="en-US" altLang="zh-CN">
                <a:ea typeface="+mn-ea"/>
                <a:sym typeface="+mn-ea"/>
              </a:rPr>
              <a:t>(Running)</a:t>
            </a:r>
            <a:r>
              <a:rPr lang="zh-CN" altLang="en-US">
                <a:ea typeface="+mn-ea"/>
                <a:sym typeface="+mn-ea"/>
              </a:rPr>
              <a:t>状态；</a:t>
            </a:r>
            <a:r>
              <a:rPr lang="en-US" altLang="zh-CN">
                <a:ea typeface="+mn-ea"/>
                <a:sym typeface="+mn-ea"/>
              </a:rPr>
              <a:t>(3)</a:t>
            </a:r>
            <a:r>
              <a:rPr lang="zh-CN" altLang="en-US">
                <a:ea typeface="+mn-ea"/>
                <a:sym typeface="+mn-ea"/>
              </a:rPr>
              <a:t>阻塞</a:t>
            </a:r>
            <a:r>
              <a:rPr lang="en-US" altLang="zh-CN">
                <a:ea typeface="+mn-ea"/>
                <a:sym typeface="+mn-ea"/>
              </a:rPr>
              <a:t>(Block)</a:t>
            </a:r>
            <a:r>
              <a:rPr lang="zh-CN" altLang="en-US">
                <a:ea typeface="+mn-ea"/>
                <a:sym typeface="+mn-ea"/>
              </a:rPr>
              <a:t>状态。</a:t>
            </a:r>
          </a:p>
          <a:p>
            <a:pPr lvl="1" algn="just">
              <a:buClrTx/>
              <a:buSzTx/>
              <a:buFont typeface="Wingdings" panose="05000000000000000000" pitchFamily="2" charset="2"/>
              <a:buChar char="ü"/>
            </a:pPr>
            <a:r>
              <a:rPr lang="zh-CN" altLang="en-US">
                <a:ea typeface="+mn-ea"/>
                <a:sym typeface="+mn-ea"/>
              </a:rPr>
              <a:t>三种基本状态的转换</a:t>
            </a:r>
            <a:endParaRPr lang="zh-CN" altLang="en-US" sz="2400">
              <a:ea typeface="+mn-ea"/>
            </a:endParaRPr>
          </a:p>
          <a:p>
            <a:pPr marL="914400" lvl="2" indent="0" algn="just">
              <a:buNone/>
            </a:pPr>
            <a:r>
              <a:rPr sz="2000">
                <a:ea typeface="+mn-ea"/>
              </a:rPr>
              <a:t>进程在运行过程中经常发生状态转换</a:t>
            </a:r>
            <a:r>
              <a:rPr lang="zh-CN" sz="2000">
                <a:ea typeface="+mn-ea"/>
              </a:rPr>
              <a:t>：</a:t>
            </a:r>
            <a:r>
              <a:rPr lang="en-US" altLang="zh-CN" sz="2000">
                <a:ea typeface="+mn-ea"/>
              </a:rPr>
              <a:t>(1)</a:t>
            </a:r>
            <a:r>
              <a:rPr sz="2000">
                <a:ea typeface="+mn-ea"/>
              </a:rPr>
              <a:t>处于就绪状态的进程，在调度程序为之分配了处理机之后便可执行，相应地，其状态就由就绪态转变为执行态；</a:t>
            </a:r>
            <a:r>
              <a:rPr lang="en-US" sz="2000">
                <a:ea typeface="+mn-ea"/>
              </a:rPr>
              <a:t>(2)</a:t>
            </a:r>
            <a:r>
              <a:rPr sz="2000">
                <a:ea typeface="+mn-ea"/>
              </a:rPr>
              <a:t>正在执行的进程(当前进程)如果因分配给它的时间片已完而被剥夺处理机暂停执行时，其状态便由执行转为就绪；</a:t>
            </a:r>
            <a:r>
              <a:rPr lang="en-US" sz="2000">
                <a:ea typeface="+mn-ea"/>
              </a:rPr>
              <a:t>(3)</a:t>
            </a:r>
            <a:r>
              <a:rPr sz="2000">
                <a:ea typeface="+mn-ea"/>
              </a:rPr>
              <a:t>如果因发生某事件，致使当前进程的执行受阻(例如进程访问某临界资源，而该资源正被其它进程访问时)，使之无法继续执行，则该进程状态将由执行转变为阻塞。</a:t>
            </a:r>
            <a:endParaRPr lang="en-US" altLang="zh-CN">
              <a:ea typeface="+mn-ea"/>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a:t>
            </a:fld>
            <a:endParaRPr kumimoji="1" lang="zh-CN" altLang="en-US"/>
          </a:p>
        </p:txBody>
      </p:sp>
      <p:pic>
        <p:nvPicPr>
          <p:cNvPr id="26628" name="Picture 4" descr="2-5"/>
          <p:cNvPicPr>
            <a:picLocks noChangeAspect="1"/>
          </p:cNvPicPr>
          <p:nvPr/>
        </p:nvPicPr>
        <p:blipFill>
          <a:blip r:embed="rId2"/>
          <a:stretch>
            <a:fillRect/>
          </a:stretch>
        </p:blipFill>
        <p:spPr>
          <a:xfrm>
            <a:off x="8364220" y="0"/>
            <a:ext cx="3827780" cy="2265045"/>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进程的描述</a:t>
            </a:r>
          </a:p>
        </p:txBody>
      </p:sp>
      <p:sp>
        <p:nvSpPr>
          <p:cNvPr id="3" name="内容占位符 2"/>
          <p:cNvSpPr>
            <a:spLocks noGrp="1"/>
          </p:cNvSpPr>
          <p:nvPr>
            <p:ph idx="1"/>
          </p:nvPr>
        </p:nvSpPr>
        <p:spPr>
          <a:xfrm>
            <a:off x="838200" y="1510665"/>
            <a:ext cx="10528935" cy="5347335"/>
          </a:xfrm>
        </p:spPr>
        <p:txBody>
          <a:bodyPr>
            <a:normAutofit fontScale="90000" lnSpcReduction="10000"/>
          </a:bodyPr>
          <a:lstStyle/>
          <a:p>
            <a:r>
              <a:rPr lang="zh-CN" altLang="en-US" sz="3110">
                <a:solidFill>
                  <a:srgbClr val="0070C0"/>
                </a:solidFill>
                <a:ea typeface="+mn-ea"/>
                <a:sym typeface="+mn-ea"/>
              </a:rPr>
              <a:t>进程的基本状态及转换</a:t>
            </a:r>
            <a:endParaRPr lang="en-US" altLang="zh-CN" sz="3110">
              <a:solidFill>
                <a:srgbClr val="0070C0"/>
              </a:solidFill>
              <a:ea typeface="+mn-ea"/>
            </a:endParaRPr>
          </a:p>
          <a:p>
            <a:pPr lvl="1" algn="just">
              <a:buFont typeface="Wingdings" panose="05000000000000000000" pitchFamily="2" charset="2"/>
              <a:buChar char="ü"/>
            </a:pPr>
            <a:r>
              <a:rPr lang="zh-CN" altLang="en-US" sz="2665">
                <a:ea typeface="+mn-ea"/>
                <a:sym typeface="+mn-ea"/>
              </a:rPr>
              <a:t>创建状态和终止状态</a:t>
            </a:r>
          </a:p>
          <a:p>
            <a:pPr lvl="2" algn="just">
              <a:buFont typeface="Wingdings" panose="05000000000000000000" charset="0"/>
              <a:buChar char="l"/>
            </a:pPr>
            <a:r>
              <a:rPr lang="zh-CN" altLang="en-US" sz="2220">
                <a:ea typeface="+mn-ea"/>
              </a:rPr>
              <a:t>创建状态        </a:t>
            </a:r>
          </a:p>
          <a:p>
            <a:pPr marL="914400" lvl="2" indent="0" algn="just">
              <a:buNone/>
            </a:pPr>
            <a:r>
              <a:rPr sz="2220">
                <a:ea typeface="+mn-ea"/>
              </a:rPr>
              <a:t>创建一个进程</a:t>
            </a:r>
            <a:r>
              <a:rPr lang="zh-CN" sz="2220">
                <a:ea typeface="+mn-ea"/>
              </a:rPr>
              <a:t>需</a:t>
            </a:r>
            <a:r>
              <a:rPr sz="2220">
                <a:ea typeface="+mn-ea"/>
              </a:rPr>
              <a:t>多个步骤才能完成：</a:t>
            </a:r>
            <a:r>
              <a:rPr lang="en-US" sz="2220">
                <a:ea typeface="+mn-ea"/>
              </a:rPr>
              <a:t>(1)</a:t>
            </a:r>
            <a:r>
              <a:rPr sz="2220">
                <a:ea typeface="+mn-ea"/>
              </a:rPr>
              <a:t>由进程申请一个空白PCB，并向PCB中填写用于控制和管理进程的信息；</a:t>
            </a:r>
            <a:r>
              <a:rPr lang="en-US" sz="2220">
                <a:ea typeface="+mn-ea"/>
              </a:rPr>
              <a:t>(2)</a:t>
            </a:r>
            <a:r>
              <a:rPr sz="2220">
                <a:ea typeface="+mn-ea"/>
              </a:rPr>
              <a:t>为该进程分配运行时所必须的资源；</a:t>
            </a:r>
            <a:r>
              <a:rPr lang="en-US" sz="2220">
                <a:ea typeface="+mn-ea"/>
              </a:rPr>
              <a:t>(3)</a:t>
            </a:r>
            <a:r>
              <a:rPr sz="2220">
                <a:ea typeface="+mn-ea"/>
              </a:rPr>
              <a:t>把该进程转入就绪状态并插入就绪队列之中。</a:t>
            </a:r>
            <a:r>
              <a:rPr lang="zh-CN" sz="2220">
                <a:ea typeface="+mn-ea"/>
              </a:rPr>
              <a:t>若</a:t>
            </a:r>
            <a:r>
              <a:rPr sz="2220">
                <a:ea typeface="+mn-ea"/>
              </a:rPr>
              <a:t>进程所需资源尚不能得到满足，如系统尚无足够的内存使进程无法装入其中，此时创建工作尚未完成，进程不能被调度运行，于是把此时进程所处的状态称为创建状态</a:t>
            </a:r>
            <a:r>
              <a:rPr lang="zh-CN" altLang="en-US" sz="2220">
                <a:ea typeface="+mn-ea"/>
                <a:sym typeface="+mn-ea"/>
              </a:rPr>
              <a:t>。</a:t>
            </a:r>
          </a:p>
          <a:p>
            <a:pPr lvl="2" algn="just">
              <a:buClrTx/>
              <a:buSzTx/>
              <a:buFont typeface="Wingdings" panose="05000000000000000000" charset="0"/>
              <a:buChar char="l"/>
            </a:pPr>
            <a:r>
              <a:rPr lang="zh-CN" altLang="en-US" sz="2220">
                <a:ea typeface="+mn-ea"/>
                <a:sym typeface="+mn-ea"/>
              </a:rPr>
              <a:t>终止状态</a:t>
            </a:r>
          </a:p>
          <a:p>
            <a:pPr marL="914400" lvl="2" indent="0" algn="just">
              <a:buNone/>
            </a:pPr>
            <a:r>
              <a:rPr lang="zh-CN" altLang="en-US" sz="2220">
                <a:ea typeface="+mn-ea"/>
                <a:sym typeface="+mn-ea"/>
              </a:rPr>
              <a:t>当进程到达自然结束点，或出现无法克服的错误，或被操作系统所终结，或被其他有终止权的进程所终结，它将进入终止状态。进入终止态的进程以后不能再执行，但在操作系统中依然保留一个记录，其中保存状态码和一些计时统计数据，供其他进程收集。一旦其他进程完成了对其信息的提取之后，操作系统将删除该进程，即将其PCB清零，并将该空白PCB返还系统。</a:t>
            </a:r>
            <a:endParaRPr lang="en-US" altLang="zh-CN" sz="2220">
              <a:ea typeface="+mn-ea"/>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a:t>
            </a:fld>
            <a:endParaRPr kumimoji="1" lang="zh-CN" altLang="en-US"/>
          </a:p>
        </p:txBody>
      </p:sp>
      <p:pic>
        <p:nvPicPr>
          <p:cNvPr id="29700" name="Picture 4" descr="2-6"/>
          <p:cNvPicPr>
            <a:picLocks noChangeAspect="1"/>
          </p:cNvPicPr>
          <p:nvPr/>
        </p:nvPicPr>
        <p:blipFill>
          <a:blip r:embed="rId2"/>
          <a:stretch>
            <a:fillRect/>
          </a:stretch>
        </p:blipFill>
        <p:spPr>
          <a:xfrm>
            <a:off x="7658735" y="153670"/>
            <a:ext cx="4533265" cy="2078355"/>
          </a:xfrm>
          <a:prstGeom prst="rect">
            <a:avLst/>
          </a:prstGeom>
          <a:noFill/>
          <a:ln w="9525">
            <a:noFill/>
          </a:ln>
        </p:spPr>
      </p:pic>
      <p:sp>
        <p:nvSpPr>
          <p:cNvPr id="7" name="文本框 6">
            <a:extLst>
              <a:ext uri="{FF2B5EF4-FFF2-40B4-BE49-F238E27FC236}">
                <a16:creationId xmlns:a16="http://schemas.microsoft.com/office/drawing/2014/main" id="{8A925317-2964-4841-BA06-165077764844}"/>
              </a:ext>
            </a:extLst>
          </p:cNvPr>
          <p:cNvSpPr txBox="1"/>
          <p:nvPr/>
        </p:nvSpPr>
        <p:spPr>
          <a:xfrm>
            <a:off x="24889" y="2456795"/>
            <a:ext cx="1793972" cy="4401205"/>
          </a:xfrm>
          <a:prstGeom prst="rect">
            <a:avLst/>
          </a:prstGeom>
          <a:noFill/>
        </p:spPr>
        <p:txBody>
          <a:bodyPr wrap="square">
            <a:spAutoFit/>
          </a:bodyPr>
          <a:lstStyle/>
          <a:p>
            <a:pPr algn="just"/>
            <a:r>
              <a:rPr lang="en-US" altLang="zh-CN" sz="2000" b="1" i="0">
                <a:solidFill>
                  <a:srgbClr val="C00000"/>
                </a:solidFill>
                <a:effectLst/>
                <a:latin typeface="Times New Roman" panose="02020603050405020304" pitchFamily="18" charset="0"/>
                <a:cs typeface="Times New Roman" panose="02020603050405020304" pitchFamily="18" charset="0"/>
              </a:rPr>
              <a:t>PID 0</a:t>
            </a:r>
            <a:r>
              <a:rPr lang="zh-CN" altLang="en-US" sz="2000" b="1" i="0">
                <a:solidFill>
                  <a:srgbClr val="C00000"/>
                </a:solidFill>
                <a:effectLst/>
                <a:latin typeface="Times New Roman" panose="02020603050405020304" pitchFamily="18" charset="0"/>
                <a:cs typeface="Times New Roman" panose="02020603050405020304" pitchFamily="18" charset="0"/>
              </a:rPr>
              <a:t>进程为调度进程，也称为系统进程；</a:t>
            </a:r>
            <a:r>
              <a:rPr lang="en-US" altLang="zh-CN" sz="2000" b="1" i="0">
                <a:solidFill>
                  <a:srgbClr val="C00000"/>
                </a:solidFill>
                <a:effectLst/>
                <a:latin typeface="Times New Roman" panose="02020603050405020304" pitchFamily="18" charset="0"/>
                <a:cs typeface="Times New Roman" panose="02020603050405020304" pitchFamily="18" charset="0"/>
              </a:rPr>
              <a:t>PID</a:t>
            </a:r>
            <a:r>
              <a:rPr lang="zh-CN" altLang="en-US" sz="2000" b="1">
                <a:solidFill>
                  <a:srgbClr val="C00000"/>
                </a:solidFill>
                <a:latin typeface="Times New Roman" panose="02020603050405020304" pitchFamily="18" charset="0"/>
                <a:cs typeface="Times New Roman" panose="02020603050405020304" pitchFamily="18" charset="0"/>
              </a:rPr>
              <a:t> </a:t>
            </a:r>
            <a:r>
              <a:rPr lang="en-US" altLang="zh-CN" sz="2000" b="1" i="0">
                <a:solidFill>
                  <a:srgbClr val="C00000"/>
                </a:solidFill>
                <a:effectLst/>
                <a:latin typeface="Times New Roman" panose="02020603050405020304" pitchFamily="18" charset="0"/>
                <a:cs typeface="Times New Roman" panose="02020603050405020304" pitchFamily="18" charset="0"/>
              </a:rPr>
              <a:t>1</a:t>
            </a:r>
            <a:r>
              <a:rPr lang="zh-CN" altLang="en-US" sz="2000" b="1" i="0">
                <a:solidFill>
                  <a:srgbClr val="C00000"/>
                </a:solidFill>
                <a:effectLst/>
                <a:latin typeface="Times New Roman" panose="02020603050405020304" pitchFamily="18" charset="0"/>
                <a:cs typeface="Times New Roman" panose="02020603050405020304" pitchFamily="18" charset="0"/>
              </a:rPr>
              <a:t>进程为</a:t>
            </a:r>
            <a:r>
              <a:rPr lang="en-US" altLang="zh-CN" sz="2000" b="1" i="0">
                <a:solidFill>
                  <a:srgbClr val="C00000"/>
                </a:solidFill>
                <a:effectLst/>
                <a:latin typeface="Times New Roman" panose="02020603050405020304" pitchFamily="18" charset="0"/>
                <a:cs typeface="Times New Roman" panose="02020603050405020304" pitchFamily="18" charset="0"/>
              </a:rPr>
              <a:t>init</a:t>
            </a:r>
            <a:r>
              <a:rPr lang="zh-CN" altLang="en-US" sz="2000" b="1" i="0">
                <a:solidFill>
                  <a:srgbClr val="C00000"/>
                </a:solidFill>
                <a:effectLst/>
                <a:latin typeface="Times New Roman" panose="02020603050405020304" pitchFamily="18" charset="0"/>
                <a:cs typeface="Times New Roman" panose="02020603050405020304" pitchFamily="18" charset="0"/>
              </a:rPr>
              <a:t>进程，它是一个普通的用户进程，但是以超级用户特权运行；</a:t>
            </a:r>
            <a:r>
              <a:rPr lang="en-US" altLang="zh-CN" sz="2000" b="1" i="0">
                <a:solidFill>
                  <a:srgbClr val="C00000"/>
                </a:solidFill>
                <a:effectLst/>
                <a:latin typeface="Times New Roman" panose="02020603050405020304" pitchFamily="18" charset="0"/>
                <a:cs typeface="Times New Roman" panose="02020603050405020304" pitchFamily="18" charset="0"/>
              </a:rPr>
              <a:t>PID</a:t>
            </a:r>
            <a:r>
              <a:rPr lang="zh-CN" altLang="en-US" sz="2000" b="1">
                <a:solidFill>
                  <a:srgbClr val="C00000"/>
                </a:solidFill>
                <a:latin typeface="Times New Roman" panose="02020603050405020304" pitchFamily="18" charset="0"/>
                <a:cs typeface="Times New Roman" panose="02020603050405020304" pitchFamily="18" charset="0"/>
              </a:rPr>
              <a:t> </a:t>
            </a:r>
            <a:r>
              <a:rPr lang="en-US" altLang="zh-CN" sz="2000" b="1" i="0">
                <a:solidFill>
                  <a:srgbClr val="C00000"/>
                </a:solidFill>
                <a:effectLst/>
                <a:latin typeface="Times New Roman" panose="02020603050405020304" pitchFamily="18" charset="0"/>
                <a:cs typeface="Times New Roman" panose="02020603050405020304" pitchFamily="18" charset="0"/>
              </a:rPr>
              <a:t>2</a:t>
            </a:r>
            <a:r>
              <a:rPr lang="zh-CN" altLang="en-US" sz="2000" b="1" i="0">
                <a:solidFill>
                  <a:srgbClr val="C00000"/>
                </a:solidFill>
                <a:effectLst/>
                <a:latin typeface="Times New Roman" panose="02020603050405020304" pitchFamily="18" charset="0"/>
                <a:cs typeface="Times New Roman" panose="02020603050405020304" pitchFamily="18" charset="0"/>
              </a:rPr>
              <a:t>进程是页守护进程，负责支持虚拟存储系统的分页操作。</a:t>
            </a:r>
            <a:endParaRPr lang="zh-CN" altLang="en-US" sz="200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进程的描述</a:t>
            </a:r>
          </a:p>
        </p:txBody>
      </p:sp>
      <p:sp>
        <p:nvSpPr>
          <p:cNvPr id="3" name="内容占位符 2"/>
          <p:cNvSpPr>
            <a:spLocks noGrp="1"/>
          </p:cNvSpPr>
          <p:nvPr>
            <p:ph idx="1"/>
          </p:nvPr>
        </p:nvSpPr>
        <p:spPr>
          <a:xfrm>
            <a:off x="838200" y="1510665"/>
            <a:ext cx="10528935" cy="5347335"/>
          </a:xfrm>
        </p:spPr>
        <p:txBody>
          <a:bodyPr>
            <a:normAutofit/>
          </a:bodyPr>
          <a:lstStyle/>
          <a:p>
            <a:r>
              <a:rPr lang="zh-CN" altLang="en-US">
                <a:solidFill>
                  <a:srgbClr val="0070C0"/>
                </a:solidFill>
                <a:ea typeface="+mn-ea"/>
                <a:sym typeface="+mn-ea"/>
              </a:rPr>
              <a:t>挂起操作和进程状态的转换</a:t>
            </a:r>
          </a:p>
          <a:p>
            <a:pPr lvl="1" algn="just">
              <a:buFont typeface="Wingdings" panose="05000000000000000000" pitchFamily="2" charset="2"/>
              <a:buChar char="ü"/>
            </a:pPr>
            <a:r>
              <a:rPr lang="zh-CN" altLang="en-US">
                <a:ea typeface="+mn-ea"/>
                <a:sym typeface="+mn-ea"/>
              </a:rPr>
              <a:t>挂起操作的引入</a:t>
            </a:r>
          </a:p>
          <a:p>
            <a:pPr marL="914400" lvl="2" indent="0" algn="just">
              <a:buNone/>
            </a:pPr>
            <a:r>
              <a:rPr err="1">
                <a:ea typeface="+mn-ea"/>
              </a:rPr>
              <a:t>引入挂起操作是系统和用户的需要</a:t>
            </a:r>
            <a:r>
              <a:rPr lang="zh-CN">
                <a:ea typeface="+mn-ea"/>
              </a:rPr>
              <a:t>：</a:t>
            </a:r>
            <a:r>
              <a:rPr>
                <a:ea typeface="+mn-ea"/>
              </a:rPr>
              <a:t>(1)终端用户的需要</a:t>
            </a:r>
            <a:r>
              <a:rPr lang="zh-CN">
                <a:ea typeface="+mn-ea"/>
              </a:rPr>
              <a:t>；</a:t>
            </a:r>
            <a:r>
              <a:rPr>
                <a:ea typeface="+mn-ea"/>
              </a:rPr>
              <a:t>(2)父进程请求</a:t>
            </a:r>
            <a:r>
              <a:rPr lang="zh-CN">
                <a:ea typeface="+mn-ea"/>
              </a:rPr>
              <a:t>；</a:t>
            </a:r>
            <a:r>
              <a:rPr>
                <a:ea typeface="+mn-ea"/>
              </a:rPr>
              <a:t>(3)负荷调节的需要</a:t>
            </a:r>
            <a:r>
              <a:rPr lang="zh-CN">
                <a:ea typeface="+mn-ea"/>
              </a:rPr>
              <a:t>；</a:t>
            </a:r>
            <a:r>
              <a:rPr>
                <a:ea typeface="+mn-ea"/>
              </a:rPr>
              <a:t>(4)操作系统的需要</a:t>
            </a:r>
            <a:r>
              <a:rPr lang="zh-CN" altLang="en-US">
                <a:ea typeface="+mn-ea"/>
                <a:sym typeface="+mn-ea"/>
              </a:rPr>
              <a:t>。</a:t>
            </a:r>
          </a:p>
          <a:p>
            <a:pPr lvl="1" algn="just">
              <a:buClrTx/>
              <a:buSzTx/>
              <a:buFont typeface="Wingdings" panose="05000000000000000000" pitchFamily="2" charset="2"/>
              <a:buChar char="ü"/>
            </a:pPr>
            <a:r>
              <a:rPr lang="zh-CN" altLang="en-US">
                <a:ea typeface="+mn-ea"/>
                <a:sym typeface="+mn-ea"/>
              </a:rPr>
              <a:t>引入挂起原语操作后三个进程状态的转换</a:t>
            </a:r>
          </a:p>
          <a:p>
            <a:pPr marL="914400" lvl="2" indent="0" algn="just">
              <a:buNone/>
            </a:pPr>
            <a:r>
              <a:rPr sz="2000" err="1">
                <a:ea typeface="+mn-ea"/>
              </a:rPr>
              <a:t>在引入挂起原语Suspend和激活原语Active后，在它们的作用下，进程将可能发生几种状态的转换</a:t>
            </a:r>
            <a:r>
              <a:rPr lang="zh-CN" sz="2000">
                <a:ea typeface="+mn-ea"/>
              </a:rPr>
              <a:t>：</a:t>
            </a:r>
            <a:r>
              <a:rPr sz="2000">
                <a:ea typeface="+mn-ea"/>
              </a:rPr>
              <a:t>(1)活动就绪→静止就绪</a:t>
            </a:r>
            <a:r>
              <a:rPr lang="zh-CN" sz="2000">
                <a:ea typeface="+mn-ea"/>
              </a:rPr>
              <a:t>；</a:t>
            </a:r>
            <a:r>
              <a:rPr sz="2000">
                <a:ea typeface="+mn-ea"/>
              </a:rPr>
              <a:t>(2)活动阻塞→静止阻塞</a:t>
            </a:r>
            <a:r>
              <a:rPr lang="zh-CN" sz="2000">
                <a:ea typeface="+mn-ea"/>
              </a:rPr>
              <a:t>；</a:t>
            </a:r>
            <a:r>
              <a:rPr sz="2000">
                <a:ea typeface="+mn-ea"/>
              </a:rPr>
              <a:t>(3)静止就绪→活动就绪</a:t>
            </a:r>
            <a:r>
              <a:rPr lang="zh-CN" sz="2000">
                <a:ea typeface="+mn-ea"/>
              </a:rPr>
              <a:t>；</a:t>
            </a:r>
            <a:r>
              <a:rPr sz="2000">
                <a:ea typeface="+mn-ea"/>
              </a:rPr>
              <a:t>(4)静止阻塞→活动阻塞。</a:t>
            </a:r>
          </a:p>
          <a:p>
            <a:pPr lvl="1" algn="just">
              <a:buClrTx/>
              <a:buSzTx/>
              <a:buFont typeface="Wingdings" panose="05000000000000000000" pitchFamily="2" charset="2"/>
              <a:buChar char="ü"/>
            </a:pPr>
            <a:r>
              <a:rPr lang="zh-CN" altLang="en-US">
                <a:ea typeface="+mn-ea"/>
                <a:sym typeface="+mn-ea"/>
              </a:rPr>
              <a:t>引入挂起操作后五个进程状态的转换</a:t>
            </a:r>
            <a:endParaRPr lang="zh-CN" altLang="en-US" sz="2400">
              <a:ea typeface="+mn-ea"/>
              <a:sym typeface="+mn-ea"/>
            </a:endParaRPr>
          </a:p>
          <a:p>
            <a:pPr marL="914400" lvl="2" indent="0" algn="just">
              <a:buNone/>
            </a:pPr>
            <a:r>
              <a:rPr lang="zh-CN" altLang="en-US" sz="2000">
                <a:ea typeface="+mn-ea"/>
                <a:sym typeface="+mn-ea"/>
              </a:rPr>
              <a:t>引进创建和终止状态后，在进程状态转换时要增加考虑下面的几种情况：</a:t>
            </a:r>
            <a:r>
              <a:rPr lang="en-US" altLang="zh-CN" sz="2000">
                <a:ea typeface="+mn-ea"/>
                <a:sym typeface="+mn-ea"/>
              </a:rPr>
              <a:t>(1)</a:t>
            </a:r>
            <a:r>
              <a:rPr lang="en-US" altLang="zh-CN">
                <a:ea typeface="+mn-ea"/>
                <a:sym typeface="+mn-ea"/>
              </a:rPr>
              <a:t>NULL→</a:t>
            </a:r>
            <a:r>
              <a:rPr lang="zh-CN" altLang="en-US">
                <a:ea typeface="+mn-ea"/>
                <a:sym typeface="+mn-ea"/>
              </a:rPr>
              <a:t>创建；</a:t>
            </a:r>
            <a:r>
              <a:rPr lang="en-US" altLang="zh-CN">
                <a:ea typeface="+mn-ea"/>
                <a:sym typeface="+mn-ea"/>
              </a:rPr>
              <a:t>(2)</a:t>
            </a:r>
            <a:r>
              <a:rPr lang="zh-CN" altLang="en-US">
                <a:ea typeface="+mn-ea"/>
                <a:sym typeface="+mn-ea"/>
              </a:rPr>
              <a:t>创建→活动就绪；</a:t>
            </a:r>
            <a:r>
              <a:rPr lang="en-US" altLang="zh-CN">
                <a:ea typeface="+mn-ea"/>
                <a:sym typeface="+mn-ea"/>
              </a:rPr>
              <a:t>(3)</a:t>
            </a:r>
            <a:r>
              <a:rPr lang="zh-CN" altLang="en-US">
                <a:ea typeface="+mn-ea"/>
                <a:sym typeface="+mn-ea"/>
              </a:rPr>
              <a:t>创建→静止就绪；</a:t>
            </a:r>
            <a:r>
              <a:rPr lang="en-US" altLang="zh-CN">
                <a:ea typeface="+mn-ea"/>
                <a:sym typeface="+mn-ea"/>
              </a:rPr>
              <a:t>(4)</a:t>
            </a:r>
            <a:r>
              <a:rPr lang="zh-CN" altLang="en-US">
                <a:ea typeface="+mn-ea"/>
                <a:sym typeface="+mn-ea"/>
              </a:rPr>
              <a:t>执行→终止。</a:t>
            </a:r>
            <a:endParaRPr lang="en-US" altLang="zh-CN" sz="2000">
              <a:ea typeface="+mn-ea"/>
              <a:sym typeface="+mn-ea"/>
            </a:endParaRPr>
          </a:p>
          <a:p>
            <a:pPr marL="914400" lvl="2" indent="0" algn="just">
              <a:buNone/>
            </a:pPr>
            <a:endParaRPr lang="en-US" altLang="zh-CN">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15</a:t>
            </a:fld>
            <a:endParaRPr kumimoji="1"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sym typeface="+mn-ea"/>
              </a:rPr>
              <a:t>进程的描述</a:t>
            </a:r>
            <a:endParaRPr lang="zh-CN" altLang="en-US"/>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16</a:t>
            </a:fld>
            <a:endParaRPr kumimoji="1" lang="zh-CN" altLang="en-US"/>
          </a:p>
        </p:txBody>
      </p:sp>
      <p:pic>
        <p:nvPicPr>
          <p:cNvPr id="33796" name="Picture 4" descr="2-7"/>
          <p:cNvPicPr>
            <a:picLocks noChangeAspect="1"/>
          </p:cNvPicPr>
          <p:nvPr/>
        </p:nvPicPr>
        <p:blipFill>
          <a:blip r:embed="rId2"/>
          <a:stretch>
            <a:fillRect/>
          </a:stretch>
        </p:blipFill>
        <p:spPr>
          <a:xfrm>
            <a:off x="1190625" y="2258695"/>
            <a:ext cx="3782060" cy="3089275"/>
          </a:xfrm>
          <a:prstGeom prst="rect">
            <a:avLst/>
          </a:prstGeom>
          <a:noFill/>
          <a:ln w="9525">
            <a:noFill/>
          </a:ln>
        </p:spPr>
      </p:pic>
      <p:sp>
        <p:nvSpPr>
          <p:cNvPr id="5" name="文本框 4"/>
          <p:cNvSpPr txBox="1"/>
          <p:nvPr/>
        </p:nvSpPr>
        <p:spPr>
          <a:xfrm>
            <a:off x="1369060" y="5511165"/>
            <a:ext cx="3230880" cy="398780"/>
          </a:xfrm>
          <a:prstGeom prst="rect">
            <a:avLst/>
          </a:prstGeom>
          <a:noFill/>
        </p:spPr>
        <p:txBody>
          <a:bodyPr wrap="none" rtlCol="0" anchor="t">
            <a:spAutoFit/>
          </a:bodyPr>
          <a:lstStyle/>
          <a:p>
            <a:r>
              <a:rPr lang="zh-CN" altLang="en-US" sz="2000">
                <a:sym typeface="+mn-ea"/>
              </a:rPr>
              <a:t>具有挂起状态的进程状态图</a:t>
            </a:r>
          </a:p>
        </p:txBody>
      </p:sp>
      <p:pic>
        <p:nvPicPr>
          <p:cNvPr id="34820" name="Picture 4" descr="2-8"/>
          <p:cNvPicPr>
            <a:picLocks noChangeAspect="1"/>
          </p:cNvPicPr>
          <p:nvPr/>
        </p:nvPicPr>
        <p:blipFill>
          <a:blip r:embed="rId3"/>
          <a:stretch>
            <a:fillRect/>
          </a:stretch>
        </p:blipFill>
        <p:spPr>
          <a:xfrm>
            <a:off x="5398135" y="2532380"/>
            <a:ext cx="5197475" cy="2815590"/>
          </a:xfrm>
          <a:prstGeom prst="rect">
            <a:avLst/>
          </a:prstGeom>
          <a:noFill/>
          <a:ln w="9525">
            <a:noFill/>
          </a:ln>
        </p:spPr>
      </p:pic>
      <p:sp>
        <p:nvSpPr>
          <p:cNvPr id="6" name="文本框 5"/>
          <p:cNvSpPr txBox="1"/>
          <p:nvPr/>
        </p:nvSpPr>
        <p:spPr>
          <a:xfrm>
            <a:off x="5551805" y="5511165"/>
            <a:ext cx="4754880" cy="398780"/>
          </a:xfrm>
          <a:prstGeom prst="rect">
            <a:avLst/>
          </a:prstGeom>
          <a:noFill/>
        </p:spPr>
        <p:txBody>
          <a:bodyPr wrap="none" rtlCol="0" anchor="t">
            <a:spAutoFit/>
          </a:bodyPr>
          <a:lstStyle/>
          <a:p>
            <a:r>
              <a:rPr lang="zh-CN" altLang="en-US" sz="2000">
                <a:sym typeface="+mn-ea"/>
              </a:rPr>
              <a:t>具有创建、终止和挂起状态的进程状态图</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进程的描述</a:t>
            </a:r>
          </a:p>
        </p:txBody>
      </p:sp>
      <p:sp>
        <p:nvSpPr>
          <p:cNvPr id="3" name="内容占位符 2"/>
          <p:cNvSpPr>
            <a:spLocks noGrp="1"/>
          </p:cNvSpPr>
          <p:nvPr>
            <p:ph idx="1"/>
          </p:nvPr>
        </p:nvSpPr>
        <p:spPr>
          <a:xfrm>
            <a:off x="838200" y="1510665"/>
            <a:ext cx="10528935" cy="4845685"/>
          </a:xfrm>
        </p:spPr>
        <p:txBody>
          <a:bodyPr>
            <a:normAutofit/>
          </a:bodyPr>
          <a:lstStyle/>
          <a:p>
            <a:r>
              <a:rPr lang="zh-CN" altLang="en-US">
                <a:solidFill>
                  <a:srgbClr val="0070C0"/>
                </a:solidFill>
                <a:ea typeface="+mn-ea"/>
                <a:sym typeface="+mn-ea"/>
              </a:rPr>
              <a:t>上下文切换</a:t>
            </a:r>
          </a:p>
          <a:p>
            <a:pPr lvl="1" algn="just">
              <a:buFont typeface="Wingdings" panose="05000000000000000000" pitchFamily="2" charset="2"/>
              <a:buChar char="ü"/>
            </a:pPr>
            <a:r>
              <a:rPr lang="zh-CN" altLang="en-US">
                <a:ea typeface="+mn-ea"/>
                <a:sym typeface="+mn-ea"/>
              </a:rPr>
              <a:t>基本概念</a:t>
            </a:r>
          </a:p>
          <a:p>
            <a:pPr marL="914400" lvl="2" indent="0" algn="just">
              <a:buNone/>
            </a:pPr>
            <a:r>
              <a:rPr lang="zh-CN" altLang="en-US" b="1">
                <a:solidFill>
                  <a:srgbClr val="FF0000"/>
                </a:solidFill>
                <a:ea typeface="+mn-ea"/>
              </a:rPr>
              <a:t>上下文切换</a:t>
            </a:r>
            <a:r>
              <a:rPr lang="zh-CN" altLang="en-US">
                <a:ea typeface="+mn-ea"/>
              </a:rPr>
              <a:t>（有时也称作进程切换或任务切换）是指 </a:t>
            </a:r>
            <a:r>
              <a:rPr lang="en-US" altLang="zh-CN">
                <a:ea typeface="+mn-ea"/>
              </a:rPr>
              <a:t>CPU </a:t>
            </a:r>
            <a:r>
              <a:rPr lang="zh-CN" altLang="en-US">
                <a:ea typeface="+mn-ea"/>
              </a:rPr>
              <a:t>从一个进程或线程切换到另一个进程或线程。</a:t>
            </a:r>
            <a:r>
              <a:rPr lang="zh-CN" altLang="en-US" b="1">
                <a:solidFill>
                  <a:srgbClr val="FF0000"/>
                </a:solidFill>
                <a:ea typeface="+mn-ea"/>
              </a:rPr>
              <a:t>上下文</a:t>
            </a:r>
            <a:r>
              <a:rPr lang="zh-CN" altLang="en-US">
                <a:ea typeface="+mn-ea"/>
              </a:rPr>
              <a:t>是指某一时间点 </a:t>
            </a:r>
            <a:r>
              <a:rPr lang="en-US" altLang="zh-CN">
                <a:ea typeface="+mn-ea"/>
              </a:rPr>
              <a:t>CPU </a:t>
            </a:r>
            <a:r>
              <a:rPr lang="zh-CN" altLang="en-US">
                <a:ea typeface="+mn-ea"/>
              </a:rPr>
              <a:t>寄存器和程序计数器的内容。程序计数器是一个专用的寄存器，用于表明指令序列中 </a:t>
            </a:r>
            <a:r>
              <a:rPr lang="en-US" altLang="zh-CN">
                <a:ea typeface="+mn-ea"/>
              </a:rPr>
              <a:t>CPU </a:t>
            </a:r>
            <a:r>
              <a:rPr lang="zh-CN" altLang="en-US">
                <a:ea typeface="+mn-ea"/>
              </a:rPr>
              <a:t>正在执行的位置，存的值为正在执行的指令的位置或者下一个将要被执行的指令的位置，具体依赖于特定的系统。</a:t>
            </a:r>
          </a:p>
          <a:p>
            <a:pPr lvl="1" algn="just">
              <a:buClrTx/>
              <a:buSzTx/>
              <a:buFont typeface="Wingdings" panose="05000000000000000000" pitchFamily="2" charset="2"/>
              <a:buChar char="ü"/>
            </a:pPr>
            <a:r>
              <a:rPr lang="zh-CN" altLang="en-US">
                <a:ea typeface="+mn-ea"/>
                <a:sym typeface="+mn-ea"/>
              </a:rPr>
              <a:t>上下文切换过程</a:t>
            </a:r>
          </a:p>
          <a:p>
            <a:pPr marL="914400" lvl="2" indent="0" algn="just">
              <a:buNone/>
            </a:pPr>
            <a:r>
              <a:rPr lang="en-US" altLang="zh-CN">
                <a:ea typeface="+mn-ea"/>
              </a:rPr>
              <a:t>(1)</a:t>
            </a:r>
            <a:r>
              <a:rPr lang="zh-CN" altLang="en-US">
                <a:ea typeface="+mn-ea"/>
              </a:rPr>
              <a:t>挂起一个进程，将这个进程在 </a:t>
            </a:r>
            <a:r>
              <a:rPr lang="en-US" altLang="zh-CN">
                <a:ea typeface="+mn-ea"/>
              </a:rPr>
              <a:t>CPU </a:t>
            </a:r>
            <a:r>
              <a:rPr lang="zh-CN" altLang="en-US">
                <a:ea typeface="+mn-ea"/>
              </a:rPr>
              <a:t>中的状态（上下文）存储于其</a:t>
            </a:r>
            <a:r>
              <a:rPr lang="en-US" altLang="zh-CN">
                <a:ea typeface="+mn-ea"/>
              </a:rPr>
              <a:t>PCB</a:t>
            </a:r>
            <a:r>
              <a:rPr lang="zh-CN" altLang="en-US">
                <a:ea typeface="+mn-ea"/>
              </a:rPr>
              <a:t>；</a:t>
            </a:r>
            <a:r>
              <a:rPr lang="en-US" altLang="zh-CN">
                <a:ea typeface="+mn-ea"/>
              </a:rPr>
              <a:t>(2)</a:t>
            </a:r>
            <a:r>
              <a:rPr lang="zh-CN" altLang="en-US">
                <a:ea typeface="+mn-ea"/>
              </a:rPr>
              <a:t>在内存中检索下一个进程的上下文并将其在 </a:t>
            </a:r>
            <a:r>
              <a:rPr lang="en-US" altLang="zh-CN">
                <a:ea typeface="+mn-ea"/>
              </a:rPr>
              <a:t>CPU </a:t>
            </a:r>
            <a:r>
              <a:rPr lang="zh-CN" altLang="en-US">
                <a:ea typeface="+mn-ea"/>
              </a:rPr>
              <a:t>寄存器中恢复；</a:t>
            </a:r>
            <a:r>
              <a:rPr lang="en-US" altLang="zh-CN">
                <a:ea typeface="+mn-ea"/>
              </a:rPr>
              <a:t>(3)</a:t>
            </a:r>
            <a:r>
              <a:rPr lang="zh-CN" altLang="en-US">
                <a:ea typeface="+mn-ea"/>
              </a:rPr>
              <a:t>跳转到程序计数器所指向的位置（即跳转到进程被中断时的代码行），以恢复该进程</a:t>
            </a:r>
            <a:r>
              <a:rPr>
                <a:ea typeface="+mn-ea"/>
              </a:rPr>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17</a:t>
            </a:fld>
            <a:endParaRPr kumimoji="1" lang="zh-CN" altLang="en-US"/>
          </a:p>
        </p:txBody>
      </p:sp>
      <p:sp>
        <p:nvSpPr>
          <p:cNvPr id="6" name="文本框 5">
            <a:extLst>
              <a:ext uri="{FF2B5EF4-FFF2-40B4-BE49-F238E27FC236}">
                <a16:creationId xmlns:a16="http://schemas.microsoft.com/office/drawing/2014/main" id="{21047066-615A-4A73-8BB8-C052BB5CE5C0}"/>
              </a:ext>
            </a:extLst>
          </p:cNvPr>
          <p:cNvSpPr txBox="1"/>
          <p:nvPr/>
        </p:nvSpPr>
        <p:spPr>
          <a:xfrm>
            <a:off x="4597361" y="1499403"/>
            <a:ext cx="6912154" cy="769441"/>
          </a:xfrm>
          <a:prstGeom prst="rect">
            <a:avLst/>
          </a:prstGeom>
          <a:noFill/>
        </p:spPr>
        <p:txBody>
          <a:bodyPr wrap="square">
            <a:spAutoFit/>
          </a:bodyPr>
          <a:lstStyle/>
          <a:p>
            <a:r>
              <a:rPr lang="zh-CN" altLang="en-US" sz="2200" b="1">
                <a:solidFill>
                  <a:srgbClr val="C00000"/>
                </a:solidFill>
                <a:latin typeface="Times New Roman" panose="02020603050405020304" pitchFamily="18" charset="0"/>
                <a:cs typeface="Times New Roman" panose="02020603050405020304" pitchFamily="18" charset="0"/>
              </a:rPr>
              <a:t>上下文切换有时被描述为内核挂起 </a:t>
            </a:r>
            <a:r>
              <a:rPr lang="en-US" altLang="zh-CN" sz="2200" b="1">
                <a:solidFill>
                  <a:srgbClr val="C00000"/>
                </a:solidFill>
                <a:latin typeface="Times New Roman" panose="02020603050405020304" pitchFamily="18" charset="0"/>
                <a:cs typeface="Times New Roman" panose="02020603050405020304" pitchFamily="18" charset="0"/>
              </a:rPr>
              <a:t>CPU </a:t>
            </a:r>
            <a:r>
              <a:rPr lang="zh-CN" altLang="en-US" sz="2200" b="1">
                <a:solidFill>
                  <a:srgbClr val="C00000"/>
                </a:solidFill>
                <a:latin typeface="Times New Roman" panose="02020603050405020304" pitchFamily="18" charset="0"/>
                <a:cs typeface="Times New Roman" panose="02020603050405020304" pitchFamily="18" charset="0"/>
              </a:rPr>
              <a:t>当前执行的进程，然后继续执行之前挂起的众多进程中的某一个。</a:t>
            </a:r>
          </a:p>
        </p:txBody>
      </p:sp>
      <p:sp>
        <p:nvSpPr>
          <p:cNvPr id="5" name="文本框 4">
            <a:extLst>
              <a:ext uri="{FF2B5EF4-FFF2-40B4-BE49-F238E27FC236}">
                <a16:creationId xmlns:a16="http://schemas.microsoft.com/office/drawing/2014/main" id="{88A5E21E-5BA2-5E00-8767-2F35AE7F811B}"/>
              </a:ext>
            </a:extLst>
          </p:cNvPr>
          <p:cNvSpPr txBox="1"/>
          <p:nvPr/>
        </p:nvSpPr>
        <p:spPr>
          <a:xfrm>
            <a:off x="1682045" y="6202630"/>
            <a:ext cx="8511822" cy="400110"/>
          </a:xfrm>
          <a:prstGeom prst="rect">
            <a:avLst/>
          </a:prstGeom>
          <a:noFill/>
        </p:spPr>
        <p:txBody>
          <a:bodyPr wrap="square">
            <a:spAutoFit/>
          </a:bodyPr>
          <a:lstStyle/>
          <a:p>
            <a:r>
              <a:rPr lang="zh-CN" altLang="en-US" sz="2000" b="1" dirty="0">
                <a:solidFill>
                  <a:schemeClr val="tx1">
                    <a:lumMod val="95000"/>
                    <a:lumOff val="5000"/>
                  </a:schemeClr>
                </a:solidFill>
                <a:latin typeface="Times New Roman" panose="02020603050405020304" pitchFamily="18" charset="0"/>
                <a:cs typeface="Times New Roman" panose="02020603050405020304" pitchFamily="18" charset="0"/>
              </a:rPr>
              <a:t>上下文切换</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hlinkClick r:id="rId2"/>
              </a:rPr>
              <a:t>https://yang-docs.readthedocs.io/en/latest/linux/contextswitch.html</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486861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进程的描述</a:t>
            </a:r>
          </a:p>
        </p:txBody>
      </p:sp>
      <p:sp>
        <p:nvSpPr>
          <p:cNvPr id="3" name="内容占位符 2"/>
          <p:cNvSpPr>
            <a:spLocks noGrp="1"/>
          </p:cNvSpPr>
          <p:nvPr>
            <p:ph idx="1"/>
          </p:nvPr>
        </p:nvSpPr>
        <p:spPr>
          <a:xfrm>
            <a:off x="838200" y="1510665"/>
            <a:ext cx="6064250" cy="5347335"/>
          </a:xfrm>
        </p:spPr>
        <p:txBody>
          <a:bodyPr>
            <a:normAutofit/>
          </a:bodyPr>
          <a:lstStyle/>
          <a:p>
            <a:r>
              <a:rPr lang="zh-CN" altLang="en-US">
                <a:solidFill>
                  <a:srgbClr val="0070C0"/>
                </a:solidFill>
                <a:ea typeface="+mn-ea"/>
                <a:sym typeface="+mn-ea"/>
              </a:rPr>
              <a:t>进程管理中的数据结构</a:t>
            </a:r>
          </a:p>
          <a:p>
            <a:pPr lvl="1" algn="just">
              <a:buFont typeface="Wingdings" panose="05000000000000000000" pitchFamily="2" charset="2"/>
              <a:buChar char="ü"/>
            </a:pPr>
            <a:r>
              <a:rPr lang="zh-CN" altLang="en-US">
                <a:ea typeface="+mn-ea"/>
                <a:sym typeface="+mn-ea"/>
              </a:rPr>
              <a:t>操作系统中用于管理控制的数据结构</a:t>
            </a:r>
          </a:p>
          <a:p>
            <a:pPr marL="914400" lvl="2" indent="0" algn="just" fontAlgn="auto">
              <a:lnSpc>
                <a:spcPct val="120000"/>
              </a:lnSpc>
              <a:spcBef>
                <a:spcPts val="0"/>
              </a:spcBef>
              <a:buNone/>
            </a:pPr>
            <a:r>
              <a:rPr>
                <a:ea typeface="+mn-ea"/>
              </a:rPr>
              <a:t>在计算机系统中，对每个资源和每个进程都设置一个数据结构，用于表征其实体，我们称之为资源信息表或进程信息表，其中包含了资源或进程的标识、描述、状态等信息以及一批指针。通过这些指针，可以将同类资源或进程的信息表，或者同一进程所占用的资源信息表分类链接成不同的队列，便于操作系统进行查找</a:t>
            </a:r>
            <a:r>
              <a:rPr lang="zh-CN" altLang="en-US">
                <a:ea typeface="+mn-ea"/>
                <a:sym typeface="+mn-ea"/>
              </a:rPr>
              <a:t>。</a:t>
            </a:r>
          </a:p>
          <a:p>
            <a:pPr marL="914400" lvl="2" indent="0" algn="just" fontAlgn="auto">
              <a:lnSpc>
                <a:spcPct val="120000"/>
              </a:lnSpc>
              <a:spcBef>
                <a:spcPts val="0"/>
              </a:spcBef>
              <a:buNone/>
            </a:pPr>
            <a:r>
              <a:rPr lang="zh-CN" altLang="en-US">
                <a:ea typeface="+mn-ea"/>
                <a:sym typeface="+mn-ea"/>
              </a:rPr>
              <a:t>OS管理的数据结构一般分为四类：</a:t>
            </a:r>
            <a:r>
              <a:rPr lang="zh-CN" altLang="en-US" b="1">
                <a:solidFill>
                  <a:srgbClr val="FF0000"/>
                </a:solidFill>
                <a:ea typeface="+mn-ea"/>
                <a:sym typeface="+mn-ea"/>
              </a:rPr>
              <a:t>内存表</a:t>
            </a:r>
            <a:r>
              <a:rPr lang="zh-CN" altLang="en-US">
                <a:ea typeface="+mn-ea"/>
                <a:sym typeface="+mn-ea"/>
              </a:rPr>
              <a:t>、</a:t>
            </a:r>
            <a:r>
              <a:rPr lang="zh-CN" altLang="en-US" b="1">
                <a:solidFill>
                  <a:srgbClr val="FF0000"/>
                </a:solidFill>
                <a:ea typeface="+mn-ea"/>
                <a:sym typeface="+mn-ea"/>
              </a:rPr>
              <a:t>设备表</a:t>
            </a:r>
            <a:r>
              <a:rPr lang="zh-CN" altLang="en-US">
                <a:ea typeface="+mn-ea"/>
                <a:sym typeface="+mn-ea"/>
              </a:rPr>
              <a:t>、</a:t>
            </a:r>
            <a:r>
              <a:rPr lang="zh-CN" altLang="en-US" b="1">
                <a:solidFill>
                  <a:srgbClr val="FF0000"/>
                </a:solidFill>
                <a:ea typeface="+mn-ea"/>
                <a:sym typeface="+mn-ea"/>
              </a:rPr>
              <a:t>文件表</a:t>
            </a:r>
            <a:r>
              <a:rPr lang="zh-CN" altLang="en-US">
                <a:ea typeface="+mn-ea"/>
                <a:sym typeface="+mn-ea"/>
              </a:rPr>
              <a:t>和用于进程管理的</a:t>
            </a:r>
            <a:r>
              <a:rPr lang="zh-CN" altLang="en-US" b="1">
                <a:solidFill>
                  <a:srgbClr val="FF0000"/>
                </a:solidFill>
                <a:ea typeface="+mn-ea"/>
                <a:sym typeface="+mn-ea"/>
              </a:rPr>
              <a:t>进程表</a:t>
            </a:r>
            <a:r>
              <a:rPr lang="zh-CN" altLang="en-US">
                <a:ea typeface="+mn-ea"/>
                <a:sym typeface="+mn-ea"/>
              </a:rPr>
              <a:t>，通常进程表又被称为进程控制块PCB。</a:t>
            </a:r>
          </a:p>
          <a:p>
            <a:pPr marL="914400" lvl="2" indent="0" algn="just">
              <a:buNone/>
            </a:pPr>
            <a:endParaRPr lang="en-US" altLang="zh-CN">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18</a:t>
            </a:fld>
            <a:endParaRPr kumimoji="1" lang="zh-CN" altLang="en-US"/>
          </a:p>
        </p:txBody>
      </p:sp>
      <p:pic>
        <p:nvPicPr>
          <p:cNvPr id="37892" name="Picture 4" descr="2-9"/>
          <p:cNvPicPr>
            <a:picLocks noChangeAspect="1"/>
          </p:cNvPicPr>
          <p:nvPr/>
        </p:nvPicPr>
        <p:blipFill>
          <a:blip r:embed="rId2"/>
          <a:stretch>
            <a:fillRect/>
          </a:stretch>
        </p:blipFill>
        <p:spPr>
          <a:xfrm>
            <a:off x="7029450" y="2329815"/>
            <a:ext cx="5093970" cy="3113405"/>
          </a:xfrm>
          <a:prstGeom prst="rect">
            <a:avLst/>
          </a:prstGeom>
          <a:noFill/>
          <a:ln w="9525">
            <a:noFill/>
          </a:ln>
        </p:spPr>
      </p:pic>
      <p:sp>
        <p:nvSpPr>
          <p:cNvPr id="5" name="文本框 4"/>
          <p:cNvSpPr txBox="1"/>
          <p:nvPr/>
        </p:nvSpPr>
        <p:spPr>
          <a:xfrm>
            <a:off x="7833360" y="5553710"/>
            <a:ext cx="3230880" cy="398780"/>
          </a:xfrm>
          <a:prstGeom prst="rect">
            <a:avLst/>
          </a:prstGeom>
          <a:noFill/>
        </p:spPr>
        <p:txBody>
          <a:bodyPr wrap="none" rtlCol="0" anchor="t">
            <a:spAutoFit/>
          </a:bodyPr>
          <a:lstStyle/>
          <a:p>
            <a:r>
              <a:rPr lang="zh-CN" altLang="en-US" sz="2000">
                <a:sym typeface="+mn-ea"/>
              </a:rPr>
              <a:t>操作系统控制表的一般结构</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进程的描述</a:t>
            </a:r>
          </a:p>
        </p:txBody>
      </p:sp>
      <p:sp>
        <p:nvSpPr>
          <p:cNvPr id="3" name="内容占位符 2"/>
          <p:cNvSpPr>
            <a:spLocks noGrp="1"/>
          </p:cNvSpPr>
          <p:nvPr>
            <p:ph idx="1"/>
          </p:nvPr>
        </p:nvSpPr>
        <p:spPr>
          <a:xfrm>
            <a:off x="838200" y="1510665"/>
            <a:ext cx="10561955" cy="5347335"/>
          </a:xfrm>
        </p:spPr>
        <p:txBody>
          <a:bodyPr>
            <a:normAutofit/>
          </a:bodyPr>
          <a:lstStyle/>
          <a:p>
            <a:r>
              <a:rPr lang="zh-CN" altLang="en-US">
                <a:solidFill>
                  <a:srgbClr val="0070C0"/>
                </a:solidFill>
                <a:ea typeface="+mn-ea"/>
                <a:sym typeface="+mn-ea"/>
              </a:rPr>
              <a:t>进程管理中的数据结构</a:t>
            </a:r>
          </a:p>
          <a:p>
            <a:pPr lvl="1" algn="just">
              <a:buFont typeface="Wingdings" panose="05000000000000000000" pitchFamily="2" charset="2"/>
              <a:buChar char="ü"/>
            </a:pPr>
            <a:r>
              <a:rPr lang="zh-CN" altLang="en-US">
                <a:ea typeface="+mn-ea"/>
                <a:sym typeface="+mn-ea"/>
              </a:rPr>
              <a:t>进程控制块PCB的作用</a:t>
            </a:r>
          </a:p>
          <a:p>
            <a:pPr marL="914400" lvl="2" indent="0" algn="just" fontAlgn="auto">
              <a:lnSpc>
                <a:spcPct val="120000"/>
              </a:lnSpc>
              <a:spcBef>
                <a:spcPts val="0"/>
              </a:spcBef>
              <a:buNone/>
            </a:pPr>
            <a:r>
              <a:rPr lang="en-US" altLang="zh-CN">
                <a:ea typeface="+mn-ea"/>
                <a:sym typeface="+mn-ea"/>
              </a:rPr>
              <a:t>(1)</a:t>
            </a:r>
            <a:r>
              <a:rPr lang="zh-CN" altLang="en-US">
                <a:ea typeface="+mn-ea"/>
                <a:sym typeface="+mn-ea"/>
              </a:rPr>
              <a:t>作为独立运行基本单位的标志；</a:t>
            </a:r>
            <a:r>
              <a:rPr lang="en-US" altLang="zh-CN">
                <a:ea typeface="+mn-ea"/>
                <a:sym typeface="+mn-ea"/>
              </a:rPr>
              <a:t>(2)</a:t>
            </a:r>
            <a:r>
              <a:rPr lang="zh-CN" altLang="en-US">
                <a:ea typeface="+mn-ea"/>
                <a:sym typeface="+mn-ea"/>
              </a:rPr>
              <a:t>能实现间断性运行方式；</a:t>
            </a:r>
            <a:r>
              <a:rPr lang="en-US" altLang="zh-CN">
                <a:ea typeface="+mn-ea"/>
                <a:sym typeface="+mn-ea"/>
              </a:rPr>
              <a:t>(3)</a:t>
            </a:r>
            <a:r>
              <a:rPr lang="zh-CN" altLang="en-US">
                <a:ea typeface="+mn-ea"/>
                <a:sym typeface="+mn-ea"/>
              </a:rPr>
              <a:t>提供进程管理所需要的信息；</a:t>
            </a:r>
            <a:r>
              <a:rPr lang="en-US" altLang="zh-CN">
                <a:ea typeface="+mn-ea"/>
                <a:sym typeface="+mn-ea"/>
              </a:rPr>
              <a:t>(4)</a:t>
            </a:r>
            <a:r>
              <a:rPr lang="zh-CN" altLang="en-US">
                <a:ea typeface="+mn-ea"/>
                <a:sym typeface="+mn-ea"/>
              </a:rPr>
              <a:t>提供进程调度所需要的信息；</a:t>
            </a:r>
            <a:r>
              <a:rPr lang="en-US" altLang="zh-CN">
                <a:ea typeface="+mn-ea"/>
                <a:sym typeface="+mn-ea"/>
              </a:rPr>
              <a:t>(5)</a:t>
            </a:r>
            <a:r>
              <a:rPr lang="zh-CN" altLang="en-US">
                <a:ea typeface="+mn-ea"/>
                <a:sym typeface="+mn-ea"/>
              </a:rPr>
              <a:t>实现与其它进程的同步与通信</a:t>
            </a:r>
          </a:p>
          <a:p>
            <a:pPr lvl="1" algn="just">
              <a:buClrTx/>
              <a:buSzTx/>
              <a:buFont typeface="Wingdings" panose="05000000000000000000" pitchFamily="2" charset="2"/>
              <a:buChar char="ü"/>
            </a:pPr>
            <a:r>
              <a:rPr lang="zh-CN" altLang="en-US">
                <a:ea typeface="+mn-ea"/>
                <a:sym typeface="+mn-ea"/>
              </a:rPr>
              <a:t>进程控制块中的信息</a:t>
            </a:r>
          </a:p>
          <a:p>
            <a:pPr lvl="2" algn="just">
              <a:buFont typeface="Wingdings" panose="05000000000000000000" charset="0"/>
              <a:buChar char="l"/>
            </a:pPr>
            <a:r>
              <a:rPr lang="en-US" altLang="zh-CN">
                <a:ea typeface="+mn-ea"/>
                <a:sym typeface="+mn-ea"/>
              </a:rPr>
              <a:t> 进程标识符</a:t>
            </a:r>
          </a:p>
          <a:p>
            <a:pPr marL="914400" lvl="2" indent="0" algn="just">
              <a:buNone/>
            </a:pPr>
            <a:r>
              <a:rPr lang="en-US" altLang="zh-CN">
                <a:ea typeface="+mn-ea"/>
                <a:sym typeface="+mn-ea"/>
              </a:rPr>
              <a:t>进程标识符用于唯一地标识一个进程。一个进程通常有两种标识符</a:t>
            </a:r>
            <a:r>
              <a:rPr lang="zh-CN" altLang="en-US">
                <a:ea typeface="+mn-ea"/>
                <a:sym typeface="+mn-ea"/>
              </a:rPr>
              <a:t>：</a:t>
            </a:r>
            <a:r>
              <a:rPr lang="en-US" altLang="zh-CN">
                <a:ea typeface="+mn-ea"/>
                <a:sym typeface="+mn-ea"/>
              </a:rPr>
              <a:t>(1)外部标识符</a:t>
            </a:r>
            <a:r>
              <a:rPr lang="zh-CN" altLang="en-US">
                <a:ea typeface="+mn-ea"/>
                <a:sym typeface="+mn-ea"/>
              </a:rPr>
              <a:t>；</a:t>
            </a:r>
            <a:r>
              <a:rPr lang="en-US" altLang="zh-CN">
                <a:ea typeface="+mn-ea"/>
                <a:sym typeface="+mn-ea"/>
              </a:rPr>
              <a:t>(2)内部标识符</a:t>
            </a:r>
            <a:r>
              <a:rPr lang="zh-CN" altLang="en-US">
                <a:ea typeface="+mn-ea"/>
                <a:sym typeface="+mn-ea"/>
              </a:rPr>
              <a:t>。</a:t>
            </a:r>
            <a:endParaRPr lang="en-US" altLang="zh-CN">
              <a:ea typeface="+mn-ea"/>
              <a:sym typeface="+mn-ea"/>
            </a:endParaRPr>
          </a:p>
          <a:p>
            <a:pPr lvl="2" algn="just">
              <a:buFont typeface="Wingdings" panose="05000000000000000000" charset="0"/>
              <a:buChar char="l"/>
            </a:pPr>
            <a:r>
              <a:rPr lang="en-US" altLang="zh-CN">
                <a:ea typeface="+mn-ea"/>
                <a:sym typeface="+mn-ea"/>
              </a:rPr>
              <a:t>处理机状态</a:t>
            </a:r>
          </a:p>
          <a:p>
            <a:pPr marL="914400" lvl="2" algn="just" fontAlgn="auto">
              <a:buClrTx/>
              <a:buSzTx/>
              <a:buNone/>
            </a:pPr>
            <a:r>
              <a:rPr lang="en-US" altLang="zh-CN">
                <a:ea typeface="+mn-ea"/>
                <a:sym typeface="+mn-ea"/>
              </a:rPr>
              <a:t>    处理机状态信息也称为处理机上下文，主要由处理机的各种寄存器中的内容组成</a:t>
            </a:r>
            <a:r>
              <a:rPr lang="zh-CN" altLang="en-US">
                <a:ea typeface="+mn-ea"/>
                <a:sym typeface="+mn-ea"/>
              </a:rPr>
              <a:t>。</a:t>
            </a:r>
            <a:endParaRPr lang="en-US" altLang="zh-CN">
              <a:ea typeface="+mn-ea"/>
              <a:sym typeface="+mn-ea"/>
            </a:endParaRPr>
          </a:p>
          <a:p>
            <a:pPr marL="914400" lvl="2" indent="0" algn="just">
              <a:buNone/>
            </a:pPr>
            <a:endParaRPr lang="en-US" altLang="zh-CN">
              <a:sym typeface="+mn-ea"/>
            </a:endParaRPr>
          </a:p>
          <a:p>
            <a:pPr marL="914400" lvl="2" indent="0" algn="just">
              <a:buNone/>
            </a:pPr>
            <a:endParaRPr lang="en-US" altLang="zh-CN">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19</a:t>
            </a:fld>
            <a:endParaRPr kumimoji="1"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052D02CC-A02C-409D-8A76-09354E61DAC2}"/>
              </a:ext>
            </a:extLst>
          </p:cNvPr>
          <p:cNvSpPr>
            <a:spLocks noGrp="1"/>
          </p:cNvSpPr>
          <p:nvPr>
            <p:ph type="sldNum" sz="quarter" idx="12"/>
          </p:nvPr>
        </p:nvSpPr>
        <p:spPr/>
        <p:txBody>
          <a:bodyPr/>
          <a:lstStyle/>
          <a:p>
            <a:fld id="{07279A2F-85B5-794E-ADF1-0805CD3C44B7}" type="slidenum">
              <a:rPr lang="en-US" altLang="zh-CN" smtClean="0"/>
              <a:t>20</a:t>
            </a:fld>
            <a:endParaRPr lang="en-US" altLang="zh-CN"/>
          </a:p>
        </p:txBody>
      </p:sp>
      <p:graphicFrame>
        <p:nvGraphicFramePr>
          <p:cNvPr id="4" name="表格 3">
            <a:extLst>
              <a:ext uri="{FF2B5EF4-FFF2-40B4-BE49-F238E27FC236}">
                <a16:creationId xmlns:a16="http://schemas.microsoft.com/office/drawing/2014/main" id="{8EEDE909-2701-4FAD-BF51-E3150AC9F008}"/>
              </a:ext>
            </a:extLst>
          </p:cNvPr>
          <p:cNvGraphicFramePr>
            <a:graphicFrameLocks noGrp="1"/>
          </p:cNvGraphicFramePr>
          <p:nvPr>
            <p:extLst>
              <p:ext uri="{D42A27DB-BD31-4B8C-83A1-F6EECF244321}">
                <p14:modId xmlns:p14="http://schemas.microsoft.com/office/powerpoint/2010/main" val="4253269618"/>
              </p:ext>
            </p:extLst>
          </p:nvPr>
        </p:nvGraphicFramePr>
        <p:xfrm>
          <a:off x="275286" y="244914"/>
          <a:ext cx="6651983" cy="6368172"/>
        </p:xfrm>
        <a:graphic>
          <a:graphicData uri="http://schemas.openxmlformats.org/drawingml/2006/table">
            <a:tbl>
              <a:tblPr firstRow="1" firstCol="1" bandRow="1"/>
              <a:tblGrid>
                <a:gridCol w="836537">
                  <a:extLst>
                    <a:ext uri="{9D8B030D-6E8A-4147-A177-3AD203B41FA5}">
                      <a16:colId xmlns:a16="http://schemas.microsoft.com/office/drawing/2014/main" val="1617445969"/>
                    </a:ext>
                  </a:extLst>
                </a:gridCol>
                <a:gridCol w="2063005">
                  <a:extLst>
                    <a:ext uri="{9D8B030D-6E8A-4147-A177-3AD203B41FA5}">
                      <a16:colId xmlns:a16="http://schemas.microsoft.com/office/drawing/2014/main" val="4290153154"/>
                    </a:ext>
                  </a:extLst>
                </a:gridCol>
                <a:gridCol w="3752441">
                  <a:extLst>
                    <a:ext uri="{9D8B030D-6E8A-4147-A177-3AD203B41FA5}">
                      <a16:colId xmlns:a16="http://schemas.microsoft.com/office/drawing/2014/main" val="3448773471"/>
                    </a:ext>
                  </a:extLst>
                </a:gridCol>
              </a:tblGrid>
              <a:tr h="163705">
                <a:tc>
                  <a:txBody>
                    <a:bodyPr/>
                    <a:lstStyle/>
                    <a:p>
                      <a:pPr algn="ctr">
                        <a:lnSpc>
                          <a:spcPct val="150000"/>
                        </a:lnSpc>
                        <a:spcAft>
                          <a:spcPts val="0"/>
                        </a:spcAft>
                      </a:pPr>
                      <a:r>
                        <a:rPr lang="zh-CN" sz="1200" b="1" kern="100">
                          <a:effectLst/>
                          <a:latin typeface="Times New Roman" panose="02020603050405020304" pitchFamily="18" charset="0"/>
                          <a:ea typeface="宋体" panose="02010600030101010101" pitchFamily="2" charset="-122"/>
                          <a:cs typeface="Times New Roman" panose="02020603050405020304" pitchFamily="18" charset="0"/>
                        </a:rPr>
                        <a:t>大类</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lnSpc>
                          <a:spcPct val="150000"/>
                        </a:lnSpc>
                        <a:spcAft>
                          <a:spcPts val="0"/>
                        </a:spcAft>
                      </a:pPr>
                      <a:r>
                        <a:rPr lang="zh-CN" sz="12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项</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lnSpc>
                          <a:spcPct val="150000"/>
                        </a:lnSpc>
                        <a:spcAft>
                          <a:spcPts val="0"/>
                        </a:spcAft>
                      </a:pPr>
                      <a:r>
                        <a:rPr lang="zh-CN" sz="12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可能的用途</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689099906"/>
                  </a:ext>
                </a:extLst>
              </a:tr>
              <a:tr h="163705">
                <a:tc rowSpan="4">
                  <a:txBody>
                    <a:bodyPr/>
                    <a:lstStyle/>
                    <a:p>
                      <a:pPr algn="just">
                        <a:lnSpc>
                          <a:spcPct val="150000"/>
                        </a:lnSpc>
                        <a:spcAft>
                          <a:spcPts val="0"/>
                        </a:spcAft>
                      </a:pPr>
                      <a:r>
                        <a:rPr lang="zh-CN" sz="12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进程标识信息</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进程</a:t>
                      </a: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ID</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用于操作系统唯一所指称</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470673"/>
                  </a:ext>
                </a:extLst>
              </a:tr>
              <a:tr h="163705">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父进程</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用于</a:t>
                      </a: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CPU</a:t>
                      </a: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时间和</a:t>
                      </a: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I/O</a:t>
                      </a: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时间的记账</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3931486"/>
                  </a:ext>
                </a:extLst>
              </a:tr>
              <a:tr h="163705">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用户标识符</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用于解析进程的所有权</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5174966"/>
                  </a:ext>
                </a:extLst>
              </a:tr>
              <a:tr h="163705">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组标识符</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用于在组内成员之间的进程共享</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1270705"/>
                  </a:ext>
                </a:extLst>
              </a:tr>
              <a:tr h="163705">
                <a:tc rowSpan="4">
                  <a:txBody>
                    <a:bodyPr/>
                    <a:lstStyle/>
                    <a:p>
                      <a:pPr algn="just">
                        <a:lnSpc>
                          <a:spcPct val="150000"/>
                        </a:lnSpc>
                        <a:spcAft>
                          <a:spcPts val="0"/>
                        </a:spcAft>
                      </a:pPr>
                      <a:r>
                        <a:rPr lang="zh-CN" sz="12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进程状态信息</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进程可见的寄存器组</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在进程运行过程中存储临时值</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5295222"/>
                  </a:ext>
                </a:extLst>
              </a:tr>
              <a:tr h="163705">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位置计数器</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当进程开始运行时候，用作连续点</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401535"/>
                  </a:ext>
                </a:extLst>
              </a:tr>
              <a:tr h="163705">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标识的条件码</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反映以前执行的指令的状态</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0973968"/>
                  </a:ext>
                </a:extLst>
              </a:tr>
              <a:tr h="163705">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栈指针</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指向过程和系统调用的栈，以追踪调用序列的轨迹</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0073666"/>
                  </a:ext>
                </a:extLst>
              </a:tr>
              <a:tr h="163705">
                <a:tc rowSpan="13">
                  <a:txBody>
                    <a:bodyPr/>
                    <a:lstStyle/>
                    <a:p>
                      <a:pPr algn="just">
                        <a:lnSpc>
                          <a:spcPct val="150000"/>
                        </a:lnSpc>
                        <a:spcAft>
                          <a:spcPts val="0"/>
                        </a:spcAft>
                      </a:pPr>
                      <a:r>
                        <a:rPr lang="zh-CN" sz="12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进程控制信息</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lnSpc>
                          <a:spcPct val="150000"/>
                        </a:lnSpc>
                        <a:spcAft>
                          <a:spcPts val="0"/>
                        </a:spcAft>
                      </a:pPr>
                      <a:r>
                        <a:rPr lang="zh-CN" sz="1200" kern="100" dirty="0">
                          <a:effectLst/>
                          <a:latin typeface="Times New Roman" panose="02020603050405020304" pitchFamily="18" charset="0"/>
                          <a:ea typeface="宋体" panose="02010600030101010101" pitchFamily="2" charset="-122"/>
                          <a:cs typeface="Times New Roman" panose="02020603050405020304" pitchFamily="18" charset="0"/>
                        </a:rPr>
                        <a:t>状态</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进程状态（例如：就行、运行等）</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8878441"/>
                  </a:ext>
                </a:extLst>
              </a:tr>
              <a:tr h="163705">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优先级</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某个进程相对于其他进程的先导关系，用于调度</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0880519"/>
                  </a:ext>
                </a:extLst>
              </a:tr>
              <a:tr h="163705">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进程起始时间</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用于记账和调度</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9182491"/>
                  </a:ext>
                </a:extLst>
              </a:tr>
              <a:tr h="163705">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所用的</a:t>
                      </a: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CPU</a:t>
                      </a: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时间</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用于响应时间的计算和调度</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7280356"/>
                  </a:ext>
                </a:extLst>
              </a:tr>
              <a:tr h="163705">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孩子进程所用的</a:t>
                      </a: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CPU</a:t>
                      </a: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时间</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用于响应时间的计算和调度</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7781276"/>
                  </a:ext>
                </a:extLst>
              </a:tr>
              <a:tr h="163705">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调度参数</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用于调度进程中所需要的资源和</a:t>
                      </a: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CPU</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9641425"/>
                  </a:ext>
                </a:extLst>
              </a:tr>
              <a:tr h="351164">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链接</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进程的列表、队列或栈，以考虑未来的使用和它接收的顺序</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680782"/>
                  </a:ext>
                </a:extLst>
              </a:tr>
              <a:tr h="163705">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进程特权</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能够指派特定的许可给特定的进程，以使用系统资源</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22343665"/>
                  </a:ext>
                </a:extLst>
              </a:tr>
              <a:tr h="163705">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内存指针</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跟踪指派给进程的内存位置</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7229846"/>
                  </a:ext>
                </a:extLst>
              </a:tr>
              <a:tr h="351164">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进程间通信信息</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跟踪来自或指向其他进程所挂起的信号量、消息等，用于之后使用</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1533766"/>
                  </a:ext>
                </a:extLst>
              </a:tr>
              <a:tr h="163705">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分配个进程的设备</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在进程终止之前，释放进程所占有的所有资源</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9416945"/>
                  </a:ext>
                </a:extLst>
              </a:tr>
              <a:tr h="351164">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打开的文件</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在进程终止之前，将所有为写入的数据刷新到文件中，并关闭文件</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7042404"/>
                  </a:ext>
                </a:extLst>
              </a:tr>
              <a:tr h="351164">
                <a:tc vMerge="1">
                  <a:txBody>
                    <a:bodyPr/>
                    <a:lstStyle/>
                    <a:p>
                      <a:endParaRPr lang="zh-CN" altLang="en-US"/>
                    </a:p>
                  </a:txBody>
                  <a:tcPr/>
                </a:tc>
                <a:tc>
                  <a:txBody>
                    <a:bodyPr/>
                    <a:lstStyle/>
                    <a:p>
                      <a:pPr algn="just">
                        <a:lnSpc>
                          <a:spcPct val="150000"/>
                        </a:lnSpc>
                        <a:spcAft>
                          <a:spcPts val="0"/>
                        </a:spcAft>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标志</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200" kern="100" dirty="0">
                          <a:effectLst/>
                          <a:latin typeface="Times New Roman" panose="02020603050405020304" pitchFamily="18" charset="0"/>
                          <a:ea typeface="宋体" panose="02010600030101010101" pitchFamily="2" charset="-122"/>
                          <a:cs typeface="Times New Roman" panose="02020603050405020304" pitchFamily="18" charset="0"/>
                        </a:rPr>
                        <a:t>用于不同用途，例如中断标志将通知系统未来必须要处理的一个挂起的中断信号。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3560" marR="535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6128976"/>
                  </a:ext>
                </a:extLst>
              </a:tr>
            </a:tbl>
          </a:graphicData>
        </a:graphic>
      </p:graphicFrame>
      <p:graphicFrame>
        <p:nvGraphicFramePr>
          <p:cNvPr id="7" name="表格 6">
            <a:extLst>
              <a:ext uri="{FF2B5EF4-FFF2-40B4-BE49-F238E27FC236}">
                <a16:creationId xmlns:a16="http://schemas.microsoft.com/office/drawing/2014/main" id="{DAA421EF-FD58-4EAA-833D-7A3B8BCEE35E}"/>
              </a:ext>
            </a:extLst>
          </p:cNvPr>
          <p:cNvGraphicFramePr>
            <a:graphicFrameLocks noGrp="1"/>
          </p:cNvGraphicFramePr>
          <p:nvPr>
            <p:extLst>
              <p:ext uri="{D42A27DB-BD31-4B8C-83A1-F6EECF244321}">
                <p14:modId xmlns:p14="http://schemas.microsoft.com/office/powerpoint/2010/main" val="2390953549"/>
              </p:ext>
            </p:extLst>
          </p:nvPr>
        </p:nvGraphicFramePr>
        <p:xfrm>
          <a:off x="7100585" y="6743"/>
          <a:ext cx="5091415" cy="6830632"/>
        </p:xfrm>
        <a:graphic>
          <a:graphicData uri="http://schemas.openxmlformats.org/drawingml/2006/table">
            <a:tbl>
              <a:tblPr firstRow="1" firstCol="1" bandRow="1"/>
              <a:tblGrid>
                <a:gridCol w="5091415">
                  <a:extLst>
                    <a:ext uri="{9D8B030D-6E8A-4147-A177-3AD203B41FA5}">
                      <a16:colId xmlns:a16="http://schemas.microsoft.com/office/drawing/2014/main" val="2507441444"/>
                    </a:ext>
                  </a:extLst>
                </a:gridCol>
              </a:tblGrid>
              <a:tr h="4351338">
                <a:tc>
                  <a:txBody>
                    <a:bodyPr/>
                    <a:lstStyle/>
                    <a:p>
                      <a:pPr algn="l">
                        <a:lnSpc>
                          <a:spcPct val="150000"/>
                        </a:lnSpc>
                        <a:spcAft>
                          <a:spcPts val="0"/>
                        </a:spcAft>
                      </a:pPr>
                      <a:r>
                        <a:rPr lang="en-US" sz="1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xv6</a:t>
                      </a:r>
                      <a:r>
                        <a:rPr lang="zh-CN"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保存和恢复的寄存器组，用于停止并恢复进程的运行</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struct context {</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eip</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esp</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ebx</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ecx</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edx</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esi</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edi</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ebp</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进程的状态（枚举值）</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enum</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proc_state</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UNUSED, EMBRYO, SLEEPING,RUNNABLE, RUNNING, ZOMBIE };</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xv6</a:t>
                      </a:r>
                      <a:r>
                        <a:rPr lang="zh-CN"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追踪每个进程的相关信息，包括寄存器上下文与状态</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struct proc {</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char *mem; // Start of process memory</a:t>
                      </a:r>
                      <a:r>
                        <a:rPr lang="zh-CN"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进程内存的起始</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uint</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sz</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Size of process memory </a:t>
                      </a:r>
                      <a:r>
                        <a:rPr lang="zh-CN"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进程内存的大小</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char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kstack</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Bottom of kernel stack </a:t>
                      </a:r>
                      <a:r>
                        <a:rPr lang="zh-CN"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内核栈的栈底</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for this process</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enum</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proc_state</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state; // Process state </a:t>
                      </a:r>
                      <a:r>
                        <a:rPr lang="zh-CN"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进程状态</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pid</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Process ID </a:t>
                      </a:r>
                      <a:r>
                        <a:rPr lang="zh-CN"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进程</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ID</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struct proc *parent; // Parent process </a:t>
                      </a:r>
                      <a:r>
                        <a:rPr lang="zh-CN"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父进程</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void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chan</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If non-zero, sleeping on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chan</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如果非零，则在该</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chan</a:t>
                      </a:r>
                      <a:r>
                        <a:rPr lang="zh-CN"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上睡眠</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 killed; // If non-zero, have been killed </a:t>
                      </a:r>
                      <a:r>
                        <a:rPr lang="zh-CN"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如果非零，则已被杀死</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struct file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ofile</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[NOFILE]; // Open files </a:t>
                      </a:r>
                      <a:r>
                        <a:rPr lang="zh-CN"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所打开的文件</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struct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inode</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cwd</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Current directory </a:t>
                      </a:r>
                      <a:r>
                        <a:rPr lang="zh-CN"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当前目录</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struct context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context</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Switch here to run process </a:t>
                      </a:r>
                      <a:r>
                        <a:rPr lang="zh-CN"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上下文（现场）</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struct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trapframe</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1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tf</a:t>
                      </a: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Trap frame for the </a:t>
                      </a:r>
                      <a:r>
                        <a:rPr lang="zh-CN"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陷入帧</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current interrupt</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lnSpc>
                          <a:spcPct val="150000"/>
                        </a:lnSpc>
                        <a:spcAft>
                          <a:spcPts val="0"/>
                        </a:spcAft>
                      </a:pPr>
                      <a:r>
                        <a:rPr lang="en-US" sz="1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1608" marR="41608" marT="0" marB="0">
                    <a:lnL>
                      <a:noFill/>
                    </a:lnL>
                    <a:lnR>
                      <a:noFill/>
                    </a:lnR>
                    <a:lnT>
                      <a:noFill/>
                    </a:lnT>
                    <a:lnB>
                      <a:noFill/>
                    </a:lnB>
                    <a:solidFill>
                      <a:srgbClr val="D9D9D9"/>
                    </a:solidFill>
                  </a:tcPr>
                </a:tc>
                <a:extLst>
                  <a:ext uri="{0D108BD9-81ED-4DB2-BD59-A6C34878D82A}">
                    <a16:rowId xmlns:a16="http://schemas.microsoft.com/office/drawing/2014/main" val="2951283900"/>
                  </a:ext>
                </a:extLst>
              </a:tr>
            </a:tbl>
          </a:graphicData>
        </a:graphic>
      </p:graphicFrame>
    </p:spTree>
    <p:extLst>
      <p:ext uri="{BB962C8B-B14F-4D97-AF65-F5344CB8AC3E}">
        <p14:creationId xmlns:p14="http://schemas.microsoft.com/office/powerpoint/2010/main" val="4046921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进程的描述</a:t>
            </a:r>
          </a:p>
        </p:txBody>
      </p:sp>
      <p:sp>
        <p:nvSpPr>
          <p:cNvPr id="3" name="内容占位符 2"/>
          <p:cNvSpPr>
            <a:spLocks noGrp="1"/>
          </p:cNvSpPr>
          <p:nvPr>
            <p:ph idx="1"/>
          </p:nvPr>
        </p:nvSpPr>
        <p:spPr>
          <a:xfrm>
            <a:off x="838199" y="1361661"/>
            <a:ext cx="10958945" cy="5496339"/>
          </a:xfrm>
        </p:spPr>
        <p:txBody>
          <a:bodyPr>
            <a:normAutofit fontScale="82500" lnSpcReduction="20000"/>
          </a:bodyPr>
          <a:lstStyle/>
          <a:p>
            <a:r>
              <a:rPr lang="zh-CN" altLang="en-US" sz="3400">
                <a:solidFill>
                  <a:srgbClr val="0070C0"/>
                </a:solidFill>
                <a:ea typeface="+mn-ea"/>
                <a:sym typeface="+mn-ea"/>
              </a:rPr>
              <a:t>进程管理中的数据结构</a:t>
            </a:r>
          </a:p>
          <a:p>
            <a:pPr lvl="1" algn="just">
              <a:buClrTx/>
              <a:buSzTx/>
              <a:buFont typeface="Wingdings" panose="05000000000000000000" pitchFamily="2" charset="2"/>
              <a:buChar char="ü"/>
            </a:pPr>
            <a:r>
              <a:rPr lang="zh-CN" altLang="en-US" sz="2900">
                <a:ea typeface="+mn-ea"/>
                <a:sym typeface="+mn-ea"/>
              </a:rPr>
              <a:t>进程控制块中的信息</a:t>
            </a:r>
          </a:p>
          <a:p>
            <a:pPr lvl="2" algn="just">
              <a:buFont typeface="Wingdings" panose="05000000000000000000" charset="0"/>
              <a:buChar char="l"/>
            </a:pPr>
            <a:r>
              <a:rPr lang="en-US" altLang="zh-CN" sz="2400">
                <a:ea typeface="+mn-ea"/>
                <a:sym typeface="+mn-ea"/>
              </a:rPr>
              <a:t>进程调度信息</a:t>
            </a:r>
          </a:p>
          <a:p>
            <a:pPr marL="914400" lvl="2" indent="0" algn="just">
              <a:lnSpc>
                <a:spcPct val="140000"/>
              </a:lnSpc>
              <a:spcBef>
                <a:spcPts val="0"/>
              </a:spcBef>
              <a:buNone/>
            </a:pPr>
            <a:r>
              <a:rPr sz="2400">
                <a:ea typeface="+mn-ea"/>
                <a:sym typeface="+mn-ea"/>
              </a:rPr>
              <a:t>①</a:t>
            </a:r>
            <a:r>
              <a:rPr sz="2400" b="1" err="1">
                <a:solidFill>
                  <a:srgbClr val="FF0000"/>
                </a:solidFill>
                <a:ea typeface="+mn-ea"/>
                <a:sym typeface="+mn-ea"/>
              </a:rPr>
              <a:t>进程状态</a:t>
            </a:r>
            <a:r>
              <a:rPr sz="2400" err="1">
                <a:ea typeface="+mn-ea"/>
                <a:sym typeface="+mn-ea"/>
              </a:rPr>
              <a:t>，指明进程当前状态，它是进程调度和对换时的依据</a:t>
            </a:r>
            <a:r>
              <a:rPr sz="2400">
                <a:ea typeface="+mn-ea"/>
                <a:sym typeface="+mn-ea"/>
              </a:rPr>
              <a:t>；②</a:t>
            </a:r>
            <a:r>
              <a:rPr sz="2400" b="1">
                <a:solidFill>
                  <a:srgbClr val="FF0000"/>
                </a:solidFill>
                <a:ea typeface="+mn-ea"/>
                <a:sym typeface="+mn-ea"/>
              </a:rPr>
              <a:t>进程优先级</a:t>
            </a:r>
            <a:r>
              <a:rPr sz="2400">
                <a:ea typeface="+mn-ea"/>
                <a:sym typeface="+mn-ea"/>
              </a:rPr>
              <a:t>，用于描述进程使用处理机的优先级别，优先级高的进程应优先获得处理机；③</a:t>
            </a:r>
            <a:r>
              <a:rPr sz="2400" b="1">
                <a:solidFill>
                  <a:srgbClr val="FF0000"/>
                </a:solidFill>
                <a:ea typeface="+mn-ea"/>
                <a:sym typeface="+mn-ea"/>
              </a:rPr>
              <a:t>进程调度所需的其它信息</a:t>
            </a:r>
            <a:r>
              <a:rPr sz="2400">
                <a:ea typeface="+mn-ea"/>
                <a:sym typeface="+mn-ea"/>
              </a:rPr>
              <a:t>，与所采用的进程调度算法有关，如进程已等待CPU的时间总和、进程已执行的时间总和等；④</a:t>
            </a:r>
            <a:r>
              <a:rPr sz="2400" b="1">
                <a:solidFill>
                  <a:srgbClr val="FF0000"/>
                </a:solidFill>
                <a:ea typeface="+mn-ea"/>
                <a:sym typeface="+mn-ea"/>
              </a:rPr>
              <a:t>事件</a:t>
            </a:r>
            <a:r>
              <a:rPr sz="2400">
                <a:ea typeface="+mn-ea"/>
                <a:sym typeface="+mn-ea"/>
              </a:rPr>
              <a:t>，是指进程由执行状态转变为阻塞状态所等待发生的事件，即阻塞原因</a:t>
            </a:r>
            <a:r>
              <a:rPr lang="zh-CN" altLang="en-US" sz="2400">
                <a:ea typeface="+mn-ea"/>
                <a:sym typeface="+mn-ea"/>
              </a:rPr>
              <a:t>。</a:t>
            </a:r>
            <a:endParaRPr lang="en-US" altLang="zh-CN" sz="2400">
              <a:ea typeface="+mn-ea"/>
              <a:sym typeface="+mn-ea"/>
            </a:endParaRPr>
          </a:p>
          <a:p>
            <a:pPr lvl="2" algn="just">
              <a:lnSpc>
                <a:spcPct val="140000"/>
              </a:lnSpc>
              <a:spcBef>
                <a:spcPts val="0"/>
              </a:spcBef>
              <a:buFont typeface="Wingdings" panose="05000000000000000000" charset="0"/>
              <a:buChar char="l"/>
            </a:pPr>
            <a:r>
              <a:rPr lang="en-US" altLang="zh-CN" sz="2400">
                <a:ea typeface="+mn-ea"/>
                <a:sym typeface="+mn-ea"/>
              </a:rPr>
              <a:t>进程控制信息</a:t>
            </a:r>
          </a:p>
          <a:p>
            <a:pPr marL="914400" lvl="2" algn="just" fontAlgn="auto">
              <a:lnSpc>
                <a:spcPct val="140000"/>
              </a:lnSpc>
              <a:spcBef>
                <a:spcPts val="0"/>
              </a:spcBef>
              <a:buClrTx/>
              <a:buSzTx/>
              <a:buNone/>
            </a:pPr>
            <a:r>
              <a:rPr lang="en-US" altLang="zh-CN" sz="2400">
                <a:ea typeface="+mn-ea"/>
                <a:sym typeface="+mn-ea"/>
              </a:rPr>
              <a:t>    ①</a:t>
            </a:r>
            <a:r>
              <a:rPr lang="en-US" altLang="zh-CN" sz="2400" b="1" err="1">
                <a:solidFill>
                  <a:srgbClr val="FF0000"/>
                </a:solidFill>
                <a:ea typeface="+mn-ea"/>
                <a:sym typeface="+mn-ea"/>
              </a:rPr>
              <a:t>程序和数据的地址</a:t>
            </a:r>
            <a:r>
              <a:rPr lang="en-US" altLang="zh-CN" sz="2400" err="1">
                <a:ea typeface="+mn-ea"/>
                <a:sym typeface="+mn-ea"/>
              </a:rPr>
              <a:t>，进程实体中的程序和数据的内存或外存地</a:t>
            </a:r>
            <a:r>
              <a:rPr lang="en-US" altLang="zh-CN" sz="2400">
                <a:ea typeface="+mn-ea"/>
                <a:sym typeface="+mn-ea"/>
              </a:rPr>
              <a:t>(首)</a:t>
            </a:r>
            <a:r>
              <a:rPr lang="en-US" altLang="zh-CN" sz="2400" err="1">
                <a:ea typeface="+mn-ea"/>
                <a:sym typeface="+mn-ea"/>
              </a:rPr>
              <a:t>址，以便再调度到该进程执行时，能从PCB中找到其程序和数据</a:t>
            </a:r>
            <a:r>
              <a:rPr lang="en-US" altLang="zh-CN" sz="2400">
                <a:ea typeface="+mn-ea"/>
                <a:sym typeface="+mn-ea"/>
              </a:rPr>
              <a:t>；②</a:t>
            </a:r>
            <a:r>
              <a:rPr lang="en-US" altLang="zh-CN" sz="2400" b="1" err="1">
                <a:solidFill>
                  <a:srgbClr val="FF0000"/>
                </a:solidFill>
                <a:ea typeface="+mn-ea"/>
                <a:sym typeface="+mn-ea"/>
              </a:rPr>
              <a:t>进程同步和通信机制</a:t>
            </a:r>
            <a:r>
              <a:rPr lang="en-US" altLang="zh-CN" sz="2400" err="1">
                <a:ea typeface="+mn-ea"/>
                <a:sym typeface="+mn-ea"/>
              </a:rPr>
              <a:t>，如消息队列指针、信号量等，可能全部或部分地放在PCB中</a:t>
            </a:r>
            <a:r>
              <a:rPr lang="en-US" altLang="zh-CN" sz="2400">
                <a:ea typeface="+mn-ea"/>
                <a:sym typeface="+mn-ea"/>
              </a:rPr>
              <a:t>；③</a:t>
            </a:r>
            <a:r>
              <a:rPr lang="en-US" altLang="zh-CN" sz="2400" b="1" err="1">
                <a:solidFill>
                  <a:srgbClr val="FF0000"/>
                </a:solidFill>
                <a:ea typeface="+mn-ea"/>
                <a:sym typeface="+mn-ea"/>
              </a:rPr>
              <a:t>资源清单</a:t>
            </a:r>
            <a:r>
              <a:rPr lang="en-US" altLang="zh-CN" sz="2400" err="1">
                <a:ea typeface="+mn-ea"/>
                <a:sym typeface="+mn-ea"/>
              </a:rPr>
              <a:t>，列出了进程在运行期间所需的全部资源</a:t>
            </a:r>
            <a:r>
              <a:rPr lang="en-US" altLang="zh-CN" sz="2400">
                <a:ea typeface="+mn-ea"/>
                <a:sym typeface="+mn-ea"/>
              </a:rPr>
              <a:t>(</a:t>
            </a:r>
            <a:r>
              <a:rPr lang="en-US" altLang="zh-CN" sz="2400" err="1">
                <a:ea typeface="+mn-ea"/>
                <a:sym typeface="+mn-ea"/>
              </a:rPr>
              <a:t>除CPU以外</a:t>
            </a:r>
            <a:r>
              <a:rPr lang="en-US" altLang="zh-CN" sz="2400">
                <a:ea typeface="+mn-ea"/>
                <a:sym typeface="+mn-ea"/>
              </a:rPr>
              <a:t>)，</a:t>
            </a:r>
            <a:r>
              <a:rPr lang="en-US" altLang="zh-CN" sz="2400" err="1">
                <a:ea typeface="+mn-ea"/>
                <a:sym typeface="+mn-ea"/>
              </a:rPr>
              <a:t>还有一张已分配到该进程的资源的清单</a:t>
            </a:r>
            <a:r>
              <a:rPr lang="en-US" altLang="zh-CN" sz="2400">
                <a:ea typeface="+mn-ea"/>
                <a:sym typeface="+mn-ea"/>
              </a:rPr>
              <a:t>；④</a:t>
            </a:r>
            <a:r>
              <a:rPr lang="en-US" altLang="zh-CN" sz="2400" b="1" err="1">
                <a:solidFill>
                  <a:srgbClr val="FF0000"/>
                </a:solidFill>
                <a:ea typeface="+mn-ea"/>
                <a:sym typeface="+mn-ea"/>
              </a:rPr>
              <a:t>链接指针</a:t>
            </a:r>
            <a:r>
              <a:rPr lang="en-US" altLang="zh-CN" sz="2400" err="1">
                <a:ea typeface="+mn-ea"/>
                <a:sym typeface="+mn-ea"/>
              </a:rPr>
              <a:t>，给出本进程</a:t>
            </a:r>
            <a:r>
              <a:rPr lang="en-US" altLang="zh-CN" sz="2400">
                <a:ea typeface="+mn-ea"/>
                <a:sym typeface="+mn-ea"/>
              </a:rPr>
              <a:t>(PCB)</a:t>
            </a:r>
            <a:r>
              <a:rPr lang="en-US" altLang="zh-CN" sz="2400" err="1">
                <a:ea typeface="+mn-ea"/>
                <a:sym typeface="+mn-ea"/>
              </a:rPr>
              <a:t>所在队列中的下一个进程的PCB的首地址</a:t>
            </a:r>
            <a:r>
              <a:rPr lang="zh-CN" altLang="en-US" sz="2400">
                <a:ea typeface="+mn-ea"/>
                <a:sym typeface="+mn-ea"/>
              </a:rPr>
              <a:t>。</a:t>
            </a:r>
            <a:endParaRPr lang="en-US" altLang="zh-CN" sz="2400">
              <a:ea typeface="+mn-ea"/>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21</a:t>
            </a:fld>
            <a:endParaRPr kumimoji="1"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进程的描述</a:t>
            </a:r>
          </a:p>
        </p:txBody>
      </p:sp>
      <p:sp>
        <p:nvSpPr>
          <p:cNvPr id="3" name="内容占位符 2"/>
          <p:cNvSpPr>
            <a:spLocks noGrp="1"/>
          </p:cNvSpPr>
          <p:nvPr>
            <p:ph idx="1"/>
          </p:nvPr>
        </p:nvSpPr>
        <p:spPr>
          <a:xfrm>
            <a:off x="838200" y="1510665"/>
            <a:ext cx="6896100" cy="5347335"/>
          </a:xfrm>
        </p:spPr>
        <p:txBody>
          <a:bodyPr>
            <a:normAutofit/>
          </a:bodyPr>
          <a:lstStyle/>
          <a:p>
            <a:r>
              <a:rPr lang="zh-CN" altLang="en-US">
                <a:solidFill>
                  <a:srgbClr val="0070C0"/>
                </a:solidFill>
                <a:ea typeface="+mn-ea"/>
                <a:sym typeface="+mn-ea"/>
              </a:rPr>
              <a:t>进程管理中的数据结构</a:t>
            </a:r>
          </a:p>
          <a:p>
            <a:pPr lvl="1" algn="just">
              <a:buClrTx/>
              <a:buSzTx/>
              <a:buFont typeface="Wingdings" panose="05000000000000000000" pitchFamily="2" charset="2"/>
              <a:buChar char="ü"/>
            </a:pPr>
            <a:r>
              <a:rPr lang="zh-CN" altLang="en-US">
                <a:ea typeface="+mn-ea"/>
                <a:sym typeface="+mn-ea"/>
              </a:rPr>
              <a:t>进程控制块的组织方式</a:t>
            </a:r>
          </a:p>
          <a:p>
            <a:pPr marL="914400" lvl="2" indent="0" algn="just" fontAlgn="auto">
              <a:spcBef>
                <a:spcPts val="0"/>
              </a:spcBef>
              <a:buNone/>
            </a:pPr>
            <a:r>
              <a:rPr lang="en-US" altLang="zh-CN">
                <a:ea typeface="+mn-ea"/>
                <a:sym typeface="+mn-ea"/>
              </a:rPr>
              <a:t>在一个系统中，通常可拥有数十个、数百个乃至数千个PCB。为了能对它们加以有效的管理，应该用适当的方式将这些PCB组织起来。目前常用的组织方式有以下三种</a:t>
            </a:r>
            <a:r>
              <a:rPr lang="zh-CN" altLang="en-US">
                <a:ea typeface="+mn-ea"/>
                <a:sym typeface="+mn-ea"/>
              </a:rPr>
              <a:t>。</a:t>
            </a:r>
            <a:endParaRPr lang="en-US" altLang="zh-CN">
              <a:ea typeface="+mn-ea"/>
              <a:sym typeface="+mn-ea"/>
            </a:endParaRPr>
          </a:p>
          <a:p>
            <a:pPr marL="914400" lvl="2" indent="0" algn="just" fontAlgn="auto">
              <a:spcBef>
                <a:spcPts val="0"/>
              </a:spcBef>
              <a:buNone/>
            </a:pPr>
            <a:r>
              <a:rPr lang="en-US" altLang="zh-CN">
                <a:ea typeface="+mn-ea"/>
                <a:sym typeface="+mn-ea"/>
              </a:rPr>
              <a:t>(1)</a:t>
            </a:r>
            <a:r>
              <a:rPr lang="en-US" altLang="zh-CN" b="1">
                <a:solidFill>
                  <a:srgbClr val="FF0000"/>
                </a:solidFill>
                <a:ea typeface="+mn-ea"/>
                <a:sym typeface="+mn-ea"/>
              </a:rPr>
              <a:t>线性方式</a:t>
            </a:r>
            <a:r>
              <a:rPr lang="en-US" altLang="zh-CN">
                <a:ea typeface="+mn-ea"/>
                <a:sym typeface="+mn-ea"/>
              </a:rPr>
              <a:t>，即将系统中所有的PCB都组织在一张线性表中，将该表的首址存放在内存的一个专用区域中。该方式实现简单、开销小，但每次查找时都需要扫描整张表，因此适合进程数目不多的系统。</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22</a:t>
            </a:fld>
            <a:endParaRPr kumimoji="1" lang="zh-CN" altLang="en-US"/>
          </a:p>
        </p:txBody>
      </p:sp>
      <p:pic>
        <p:nvPicPr>
          <p:cNvPr id="45060" name="Picture 4" descr="2-10"/>
          <p:cNvPicPr>
            <a:picLocks noChangeAspect="1"/>
          </p:cNvPicPr>
          <p:nvPr/>
        </p:nvPicPr>
        <p:blipFill>
          <a:blip r:embed="rId2"/>
          <a:stretch>
            <a:fillRect/>
          </a:stretch>
        </p:blipFill>
        <p:spPr>
          <a:xfrm>
            <a:off x="8933180" y="2319020"/>
            <a:ext cx="2027555" cy="2962910"/>
          </a:xfrm>
          <a:prstGeom prst="rect">
            <a:avLst/>
          </a:prstGeom>
          <a:noFill/>
          <a:ln w="9525">
            <a:noFill/>
          </a:ln>
        </p:spPr>
      </p:pic>
      <p:sp>
        <p:nvSpPr>
          <p:cNvPr id="5" name="文本框 4"/>
          <p:cNvSpPr txBox="1"/>
          <p:nvPr/>
        </p:nvSpPr>
        <p:spPr>
          <a:xfrm>
            <a:off x="8891270" y="5527040"/>
            <a:ext cx="2209259" cy="400110"/>
          </a:xfrm>
          <a:prstGeom prst="rect">
            <a:avLst/>
          </a:prstGeom>
          <a:noFill/>
        </p:spPr>
        <p:txBody>
          <a:bodyPr wrap="none" rtlCol="0" anchor="t">
            <a:spAutoFit/>
          </a:bodyPr>
          <a:lstStyle/>
          <a:p>
            <a:r>
              <a:rPr lang="en-US" altLang="zh-CN" sz="2000">
                <a:latin typeface="Times New Roman" panose="02020603050405020304" pitchFamily="18" charset="0"/>
                <a:ea typeface="+mj-ea"/>
                <a:cs typeface="Times New Roman" panose="02020603050405020304" pitchFamily="18" charset="0"/>
                <a:sym typeface="+mn-ea"/>
              </a:rPr>
              <a:t>PCB</a:t>
            </a:r>
            <a:r>
              <a:rPr lang="zh-CN" altLang="en-US" sz="2000">
                <a:latin typeface="Times New Roman" panose="02020603050405020304" pitchFamily="18" charset="0"/>
                <a:ea typeface="+mj-ea"/>
                <a:cs typeface="Times New Roman" panose="02020603050405020304" pitchFamily="18" charset="0"/>
                <a:sym typeface="+mn-ea"/>
              </a:rPr>
              <a:t>线性表示意图</a:t>
            </a:r>
            <a:endParaRPr lang="zh-CN" altLang="en-US" sz="2000">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进程的描述</a:t>
            </a:r>
          </a:p>
        </p:txBody>
      </p:sp>
      <p:sp>
        <p:nvSpPr>
          <p:cNvPr id="3" name="内容占位符 2"/>
          <p:cNvSpPr>
            <a:spLocks noGrp="1"/>
          </p:cNvSpPr>
          <p:nvPr>
            <p:ph idx="1"/>
          </p:nvPr>
        </p:nvSpPr>
        <p:spPr>
          <a:xfrm>
            <a:off x="838200" y="1510665"/>
            <a:ext cx="6369050" cy="5347335"/>
          </a:xfrm>
        </p:spPr>
        <p:txBody>
          <a:bodyPr>
            <a:normAutofit/>
          </a:bodyPr>
          <a:lstStyle/>
          <a:p>
            <a:r>
              <a:rPr lang="zh-CN" altLang="en-US">
                <a:solidFill>
                  <a:srgbClr val="0070C0"/>
                </a:solidFill>
                <a:ea typeface="+mn-ea"/>
                <a:sym typeface="+mn-ea"/>
              </a:rPr>
              <a:t>进程管理中的数据结构</a:t>
            </a:r>
          </a:p>
          <a:p>
            <a:pPr lvl="1" algn="just">
              <a:buClrTx/>
              <a:buSzTx/>
              <a:buFont typeface="Wingdings" panose="05000000000000000000" pitchFamily="2" charset="2"/>
              <a:buChar char="ü"/>
            </a:pPr>
            <a:r>
              <a:rPr lang="zh-CN" altLang="en-US">
                <a:ea typeface="+mn-ea"/>
                <a:sym typeface="+mn-ea"/>
              </a:rPr>
              <a:t>进程控制块的组织方式</a:t>
            </a:r>
          </a:p>
          <a:p>
            <a:pPr marL="914400" lvl="2" indent="0" algn="just" fontAlgn="auto">
              <a:spcBef>
                <a:spcPts val="0"/>
              </a:spcBef>
              <a:buNone/>
            </a:pPr>
            <a:r>
              <a:rPr>
                <a:ea typeface="+mn-ea"/>
                <a:sym typeface="+mn-ea"/>
              </a:rPr>
              <a:t>(2)</a:t>
            </a:r>
            <a:r>
              <a:rPr b="1">
                <a:solidFill>
                  <a:srgbClr val="FF0000"/>
                </a:solidFill>
                <a:ea typeface="+mn-ea"/>
                <a:sym typeface="+mn-ea"/>
              </a:rPr>
              <a:t>链接方式</a:t>
            </a:r>
            <a:r>
              <a:rPr>
                <a:ea typeface="+mn-ea"/>
                <a:sym typeface="+mn-ea"/>
              </a:rPr>
              <a:t>，把具有相同状态进程的PCB分别通过PCB中的链接字链接成一个队列。这样，可以形成就绪队列、若干个阻塞队列和空白队列等。对就绪队列而言，往往按进程的优先级将PCB从高到低进行排列，将优先级高的进程PCB排在队列的前面。同样，也可把处于阻塞状态进程的PCB根据其阻塞原因的不同，排成多个阻塞队列，如等待I/O操作完成的队列和等待分配内存的队列等</a:t>
            </a:r>
            <a:r>
              <a:rPr lang="en-US" altLang="zh-CN">
                <a:ea typeface="+mn-ea"/>
                <a:sym typeface="+mn-ea"/>
              </a:rPr>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23</a:t>
            </a:fld>
            <a:endParaRPr kumimoji="1" lang="zh-CN" altLang="en-US"/>
          </a:p>
        </p:txBody>
      </p:sp>
      <p:pic>
        <p:nvPicPr>
          <p:cNvPr id="47108" name="Picture 4" descr="2-11"/>
          <p:cNvPicPr>
            <a:picLocks noChangeAspect="1"/>
          </p:cNvPicPr>
          <p:nvPr/>
        </p:nvPicPr>
        <p:blipFill>
          <a:blip r:embed="rId2"/>
          <a:stretch>
            <a:fillRect/>
          </a:stretch>
        </p:blipFill>
        <p:spPr>
          <a:xfrm>
            <a:off x="7207250" y="1891665"/>
            <a:ext cx="4827905" cy="2824480"/>
          </a:xfrm>
          <a:prstGeom prst="rect">
            <a:avLst/>
          </a:prstGeom>
          <a:noFill/>
          <a:ln w="9525">
            <a:noFill/>
          </a:ln>
        </p:spPr>
      </p:pic>
      <p:sp>
        <p:nvSpPr>
          <p:cNvPr id="6" name="文本框 5"/>
          <p:cNvSpPr txBox="1"/>
          <p:nvPr/>
        </p:nvSpPr>
        <p:spPr>
          <a:xfrm>
            <a:off x="8485505" y="4909820"/>
            <a:ext cx="2465740" cy="400110"/>
          </a:xfrm>
          <a:prstGeom prst="rect">
            <a:avLst/>
          </a:prstGeom>
          <a:noFill/>
        </p:spPr>
        <p:txBody>
          <a:bodyPr wrap="none" rtlCol="0" anchor="t">
            <a:spAutoFit/>
          </a:bodyPr>
          <a:lstStyle/>
          <a:p>
            <a:r>
              <a:rPr lang="en-US" altLang="zh-CN" sz="2000">
                <a:latin typeface="Times New Roman" panose="02020603050405020304" pitchFamily="18" charset="0"/>
                <a:cs typeface="Times New Roman" panose="02020603050405020304" pitchFamily="18" charset="0"/>
                <a:sym typeface="+mn-ea"/>
              </a:rPr>
              <a:t>PCB</a:t>
            </a:r>
            <a:r>
              <a:rPr lang="zh-CN" altLang="en-US" sz="2000">
                <a:latin typeface="Times New Roman" panose="02020603050405020304" pitchFamily="18" charset="0"/>
                <a:cs typeface="Times New Roman" panose="02020603050405020304" pitchFamily="18" charset="0"/>
                <a:sym typeface="+mn-ea"/>
              </a:rPr>
              <a:t>链接队列示意图</a:t>
            </a:r>
            <a:endParaRPr lang="zh-CN"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进程的描述</a:t>
            </a:r>
          </a:p>
        </p:txBody>
      </p:sp>
      <p:sp>
        <p:nvSpPr>
          <p:cNvPr id="3" name="内容占位符 2"/>
          <p:cNvSpPr>
            <a:spLocks noGrp="1"/>
          </p:cNvSpPr>
          <p:nvPr>
            <p:ph idx="1"/>
          </p:nvPr>
        </p:nvSpPr>
        <p:spPr>
          <a:xfrm>
            <a:off x="838200" y="1510666"/>
            <a:ext cx="5960165" cy="5058410"/>
          </a:xfrm>
        </p:spPr>
        <p:txBody>
          <a:bodyPr>
            <a:normAutofit/>
          </a:bodyPr>
          <a:lstStyle/>
          <a:p>
            <a:r>
              <a:rPr lang="zh-CN" altLang="en-US">
                <a:solidFill>
                  <a:srgbClr val="0070C0"/>
                </a:solidFill>
                <a:ea typeface="+mn-ea"/>
                <a:sym typeface="+mn-ea"/>
              </a:rPr>
              <a:t>进程管理中的数据结构</a:t>
            </a:r>
          </a:p>
          <a:p>
            <a:pPr lvl="1" algn="just">
              <a:buClrTx/>
              <a:buSzTx/>
              <a:buFont typeface="Wingdings" panose="05000000000000000000" pitchFamily="2" charset="2"/>
              <a:buChar char="ü"/>
            </a:pPr>
            <a:r>
              <a:rPr lang="zh-CN" altLang="en-US">
                <a:ea typeface="+mn-ea"/>
                <a:sym typeface="+mn-ea"/>
              </a:rPr>
              <a:t>进程控制块的组织方式</a:t>
            </a:r>
          </a:p>
          <a:p>
            <a:pPr marL="914400" lvl="2" indent="0" algn="just" fontAlgn="auto">
              <a:spcBef>
                <a:spcPts val="0"/>
              </a:spcBef>
              <a:buNone/>
            </a:pPr>
            <a:r>
              <a:rPr lang="en-US" altLang="zh-CN">
                <a:ea typeface="+mn-ea"/>
                <a:sym typeface="+mn-ea"/>
              </a:rPr>
              <a:t>(3)</a:t>
            </a:r>
            <a:r>
              <a:rPr lang="zh-CN" altLang="en-US" b="1">
                <a:solidFill>
                  <a:srgbClr val="FF0000"/>
                </a:solidFill>
                <a:ea typeface="+mn-ea"/>
                <a:sym typeface="+mn-ea"/>
              </a:rPr>
              <a:t>索引方式</a:t>
            </a:r>
            <a:r>
              <a:rPr lang="zh-CN" altLang="en-US">
                <a:ea typeface="+mn-ea"/>
                <a:sym typeface="+mn-ea"/>
              </a:rPr>
              <a:t>，即系统根据所有进程状态的不同，建立几张索引表，例如，就绪索引表、阻塞索引表等，并把各索引表在内存的首地址记录在内存的一些专用单元中。在每个索引表的表目中，记录具有相应状态的某个</a:t>
            </a:r>
            <a:r>
              <a:rPr lang="en-US" altLang="zh-CN">
                <a:ea typeface="+mn-ea"/>
                <a:sym typeface="+mn-ea"/>
              </a:rPr>
              <a:t>PCB</a:t>
            </a:r>
            <a:r>
              <a:rPr lang="zh-CN" altLang="en-US">
                <a:ea typeface="+mn-ea"/>
                <a:sym typeface="+mn-ea"/>
              </a:rPr>
              <a:t>在</a:t>
            </a:r>
            <a:r>
              <a:rPr lang="en-US" altLang="zh-CN">
                <a:ea typeface="+mn-ea"/>
                <a:sym typeface="+mn-ea"/>
              </a:rPr>
              <a:t>PCB</a:t>
            </a:r>
            <a:r>
              <a:rPr lang="zh-CN" altLang="en-US">
                <a:ea typeface="+mn-ea"/>
                <a:sym typeface="+mn-ea"/>
              </a:rPr>
              <a:t>表中的地址。</a:t>
            </a:r>
            <a:endParaRPr lang="en-US" altLang="zh-CN">
              <a:ea typeface="+mn-ea"/>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24</a:t>
            </a:fld>
            <a:endParaRPr kumimoji="1" lang="zh-CN" altLang="en-US"/>
          </a:p>
        </p:txBody>
      </p:sp>
      <p:sp>
        <p:nvSpPr>
          <p:cNvPr id="6" name="文本框 5"/>
          <p:cNvSpPr txBox="1"/>
          <p:nvPr/>
        </p:nvSpPr>
        <p:spPr>
          <a:xfrm>
            <a:off x="8552448" y="5842267"/>
            <a:ext cx="2465740" cy="400110"/>
          </a:xfrm>
          <a:prstGeom prst="rect">
            <a:avLst/>
          </a:prstGeom>
          <a:noFill/>
        </p:spPr>
        <p:txBody>
          <a:bodyPr wrap="none" rtlCol="0" anchor="t">
            <a:spAutoFit/>
          </a:bodyPr>
          <a:lstStyle/>
          <a:p>
            <a:pPr algn="l"/>
            <a:r>
              <a:rPr lang="zh-CN" altLang="en-US" sz="2000">
                <a:latin typeface="Times New Roman" panose="02020603050405020304" pitchFamily="18" charset="0"/>
                <a:cs typeface="Times New Roman" panose="02020603050405020304" pitchFamily="18" charset="0"/>
                <a:sym typeface="+mn-ea"/>
              </a:rPr>
              <a:t>按索引方式组织</a:t>
            </a:r>
            <a:r>
              <a:rPr lang="en-US" altLang="zh-CN" sz="2000">
                <a:latin typeface="Times New Roman" panose="02020603050405020304" pitchFamily="18" charset="0"/>
                <a:cs typeface="Times New Roman" panose="02020603050405020304" pitchFamily="18" charset="0"/>
                <a:sym typeface="+mn-ea"/>
              </a:rPr>
              <a:t>PCB</a:t>
            </a:r>
            <a:endParaRPr lang="zh-CN" altLang="en-US" sz="2000">
              <a:latin typeface="Times New Roman" panose="02020603050405020304" pitchFamily="18" charset="0"/>
              <a:cs typeface="Times New Roman" panose="02020603050405020304" pitchFamily="18" charset="0"/>
            </a:endParaRPr>
          </a:p>
        </p:txBody>
      </p:sp>
      <p:pic>
        <p:nvPicPr>
          <p:cNvPr id="49156" name="Picture 4" descr="2-12"/>
          <p:cNvPicPr>
            <a:picLocks noChangeAspect="1"/>
          </p:cNvPicPr>
          <p:nvPr/>
        </p:nvPicPr>
        <p:blipFill>
          <a:blip r:embed="rId2"/>
          <a:stretch>
            <a:fillRect/>
          </a:stretch>
        </p:blipFill>
        <p:spPr>
          <a:xfrm>
            <a:off x="7207250" y="2984399"/>
            <a:ext cx="4883785" cy="2742565"/>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进程控制</a:t>
            </a:r>
            <a:endParaRPr lang="zh-CN" altLang="en-US">
              <a:latin typeface="+mj-ea"/>
              <a:ea typeface="+mj-ea"/>
            </a:endParaRPr>
          </a:p>
        </p:txBody>
      </p:sp>
      <p:sp>
        <p:nvSpPr>
          <p:cNvPr id="3" name="内容占位符 2"/>
          <p:cNvSpPr>
            <a:spLocks noGrp="1"/>
          </p:cNvSpPr>
          <p:nvPr>
            <p:ph idx="1"/>
          </p:nvPr>
        </p:nvSpPr>
        <p:spPr/>
        <p:txBody>
          <a:bodyPr>
            <a:normAutofit/>
          </a:bodyPr>
          <a:lstStyle/>
          <a:p>
            <a:pPr marL="0" indent="0" algn="just">
              <a:buNone/>
            </a:pPr>
            <a:r>
              <a:rPr lang="zh-CN" altLang="en-US" sz="2400">
                <a:solidFill>
                  <a:schemeClr val="accent6">
                    <a:lumMod val="50000"/>
                  </a:schemeClr>
                </a:solidFill>
              </a:rPr>
              <a:t>        进程控制是进程管理最基本的功能，主要包括</a:t>
            </a:r>
            <a:r>
              <a:rPr lang="zh-CN" altLang="en-US" sz="2400" b="1">
                <a:solidFill>
                  <a:srgbClr val="FF0000"/>
                </a:solidFill>
              </a:rPr>
              <a:t>创建新进程</a:t>
            </a:r>
            <a:r>
              <a:rPr lang="zh-CN" altLang="en-US" sz="2400">
                <a:solidFill>
                  <a:schemeClr val="accent6">
                    <a:lumMod val="50000"/>
                  </a:schemeClr>
                </a:solidFill>
              </a:rPr>
              <a:t>、</a:t>
            </a:r>
            <a:r>
              <a:rPr lang="zh-CN" altLang="en-US" sz="2400" b="1">
                <a:solidFill>
                  <a:srgbClr val="FF0000"/>
                </a:solidFill>
              </a:rPr>
              <a:t>终止已完成的进程</a:t>
            </a:r>
            <a:r>
              <a:rPr lang="zh-CN" altLang="en-US" sz="2400">
                <a:solidFill>
                  <a:schemeClr val="accent6">
                    <a:lumMod val="50000"/>
                  </a:schemeClr>
                </a:solidFill>
              </a:rPr>
              <a:t>、将因发生异常情况而无法继续运行的进程置于</a:t>
            </a:r>
            <a:r>
              <a:rPr lang="zh-CN" altLang="en-US" sz="2400" b="1">
                <a:solidFill>
                  <a:srgbClr val="FF0000"/>
                </a:solidFill>
              </a:rPr>
              <a:t>阻塞</a:t>
            </a:r>
            <a:r>
              <a:rPr lang="zh-CN" altLang="en-US" sz="2400">
                <a:solidFill>
                  <a:schemeClr val="accent6">
                    <a:lumMod val="50000"/>
                  </a:schemeClr>
                </a:solidFill>
              </a:rPr>
              <a:t>状态、负责进程运行中的</a:t>
            </a:r>
            <a:r>
              <a:rPr lang="zh-CN" altLang="en-US" sz="2400" b="1">
                <a:solidFill>
                  <a:srgbClr val="FF0000"/>
                </a:solidFill>
              </a:rPr>
              <a:t>状态转换</a:t>
            </a:r>
            <a:r>
              <a:rPr lang="zh-CN" altLang="en-US" sz="2400">
                <a:solidFill>
                  <a:schemeClr val="accent6">
                    <a:lumMod val="50000"/>
                  </a:schemeClr>
                </a:solidFill>
              </a:rPr>
              <a:t>等功能。如当一个正在执行的进程因等待某事件而暂时不能继续执行时，将其转变为阻塞状态，而在该进程所期待的事件出现后，又将该进程转换为就绪状态等。进程控制一般是由</a:t>
            </a:r>
            <a:r>
              <a:rPr lang="en-US" altLang="zh-CN" sz="2400">
                <a:solidFill>
                  <a:schemeClr val="accent6">
                    <a:lumMod val="50000"/>
                  </a:schemeClr>
                </a:solidFill>
              </a:rPr>
              <a:t>OS</a:t>
            </a:r>
            <a:r>
              <a:rPr lang="zh-CN" altLang="en-US" sz="2400">
                <a:solidFill>
                  <a:schemeClr val="accent6">
                    <a:lumMod val="50000"/>
                  </a:schemeClr>
                </a:solidFill>
              </a:rPr>
              <a:t>的内核中的原语来实现的。</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25</a:t>
            </a:fld>
            <a:endParaRPr kumimoji="1" lang="zh-CN" altLang="en-US"/>
          </a:p>
        </p:txBody>
      </p:sp>
    </p:spTree>
    <p:extLst>
      <p:ext uri="{BB962C8B-B14F-4D97-AF65-F5344CB8AC3E}">
        <p14:creationId xmlns:p14="http://schemas.microsoft.com/office/powerpoint/2010/main" val="4055582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进程控制</a:t>
            </a:r>
            <a:endParaRPr lang="zh-CN" altLang="en-US">
              <a:latin typeface="+mj-ea"/>
              <a:ea typeface="+mj-ea"/>
            </a:endParaRPr>
          </a:p>
        </p:txBody>
      </p:sp>
      <p:sp>
        <p:nvSpPr>
          <p:cNvPr id="3" name="内容占位符 2"/>
          <p:cNvSpPr>
            <a:spLocks noGrp="1"/>
          </p:cNvSpPr>
          <p:nvPr>
            <p:ph idx="1"/>
          </p:nvPr>
        </p:nvSpPr>
        <p:spPr>
          <a:xfrm>
            <a:off x="838200" y="1510665"/>
            <a:ext cx="10808368" cy="5347335"/>
          </a:xfrm>
        </p:spPr>
        <p:txBody>
          <a:bodyPr>
            <a:normAutofit fontScale="97500"/>
          </a:bodyPr>
          <a:lstStyle/>
          <a:p>
            <a:r>
              <a:rPr lang="zh-CN" altLang="en-US" sz="2900">
                <a:solidFill>
                  <a:srgbClr val="0070C0"/>
                </a:solidFill>
                <a:ea typeface="+mn-ea"/>
                <a:sym typeface="+mn-ea"/>
              </a:rPr>
              <a:t>操作系统内核</a:t>
            </a:r>
          </a:p>
          <a:p>
            <a:pPr lvl="1" algn="just">
              <a:buClrTx/>
              <a:buSzTx/>
              <a:buFont typeface="Wingdings" panose="05000000000000000000" pitchFamily="2" charset="2"/>
              <a:buChar char="ü"/>
            </a:pPr>
            <a:r>
              <a:rPr lang="zh-CN" altLang="en-US" sz="2500">
                <a:ea typeface="+mn-ea"/>
                <a:sym typeface="+mn-ea"/>
              </a:rPr>
              <a:t>支撑功能</a:t>
            </a:r>
          </a:p>
          <a:p>
            <a:pPr marL="914400" lvl="2" indent="0" algn="just">
              <a:buNone/>
            </a:pPr>
            <a:r>
              <a:rPr lang="en-US" altLang="zh-CN" sz="2100">
                <a:ea typeface="+mn-ea"/>
                <a:sym typeface="+mn-ea"/>
              </a:rPr>
              <a:t>(1)</a:t>
            </a:r>
            <a:r>
              <a:rPr lang="zh-CN" altLang="en-US" sz="2100">
                <a:ea typeface="+mn-ea"/>
                <a:sym typeface="+mn-ea"/>
              </a:rPr>
              <a:t>中断处理</a:t>
            </a:r>
            <a:endParaRPr lang="en-US" altLang="zh-CN" sz="2100">
              <a:ea typeface="+mn-ea"/>
              <a:sym typeface="+mn-ea"/>
            </a:endParaRPr>
          </a:p>
          <a:p>
            <a:pPr marL="914400" lvl="2" indent="0" algn="just">
              <a:buNone/>
            </a:pPr>
            <a:r>
              <a:rPr lang="en-US" altLang="zh-CN" sz="2100">
                <a:ea typeface="+mn-ea"/>
                <a:sym typeface="+mn-ea"/>
              </a:rPr>
              <a:t>(2)</a:t>
            </a:r>
            <a:r>
              <a:rPr lang="zh-CN" altLang="en-US" sz="2100">
                <a:ea typeface="+mn-ea"/>
                <a:sym typeface="+mn-ea"/>
              </a:rPr>
              <a:t>时钟管理</a:t>
            </a:r>
            <a:endParaRPr lang="en-US" altLang="zh-CN" sz="2100">
              <a:ea typeface="+mn-ea"/>
              <a:sym typeface="+mn-ea"/>
            </a:endParaRPr>
          </a:p>
          <a:p>
            <a:pPr marL="914400" lvl="2" indent="0" algn="just">
              <a:buNone/>
            </a:pPr>
            <a:r>
              <a:rPr lang="en-US" altLang="zh-CN" sz="2100">
                <a:ea typeface="+mn-ea"/>
                <a:sym typeface="+mn-ea"/>
              </a:rPr>
              <a:t>(3)</a:t>
            </a:r>
            <a:r>
              <a:rPr lang="zh-CN" altLang="en-US" sz="2100">
                <a:ea typeface="+mn-ea"/>
                <a:sym typeface="+mn-ea"/>
              </a:rPr>
              <a:t>原语操作</a:t>
            </a:r>
            <a:endParaRPr lang="en-US" altLang="zh-CN" sz="2100">
              <a:ea typeface="+mn-ea"/>
              <a:sym typeface="+mn-ea"/>
            </a:endParaRPr>
          </a:p>
          <a:p>
            <a:pPr lvl="1" algn="just">
              <a:buClrTx/>
              <a:buSzTx/>
              <a:buFont typeface="Wingdings" panose="05000000000000000000" pitchFamily="2" charset="2"/>
              <a:buChar char="ü"/>
            </a:pPr>
            <a:r>
              <a:rPr lang="zh-CN" altLang="en-US" sz="2500">
                <a:ea typeface="+mn-ea"/>
                <a:sym typeface="+mn-ea"/>
              </a:rPr>
              <a:t>资源管理功能</a:t>
            </a:r>
            <a:endParaRPr lang="en-US" altLang="zh-CN" sz="2500">
              <a:ea typeface="+mn-ea"/>
              <a:sym typeface="+mn-ea"/>
            </a:endParaRPr>
          </a:p>
          <a:p>
            <a:pPr marL="914400" lvl="2" indent="0" algn="just">
              <a:buNone/>
            </a:pPr>
            <a:r>
              <a:rPr lang="en-US" altLang="zh-CN" sz="2100">
                <a:ea typeface="+mn-ea"/>
                <a:sym typeface="+mn-ea"/>
              </a:rPr>
              <a:t>(1)</a:t>
            </a:r>
            <a:r>
              <a:rPr lang="zh-CN" altLang="en-US" sz="2100">
                <a:ea typeface="+mn-ea"/>
                <a:sym typeface="+mn-ea"/>
              </a:rPr>
              <a:t>进程管理</a:t>
            </a:r>
            <a:endParaRPr lang="en-US" altLang="zh-CN" sz="2100">
              <a:ea typeface="+mn-ea"/>
              <a:sym typeface="+mn-ea"/>
            </a:endParaRPr>
          </a:p>
          <a:p>
            <a:pPr marL="914400" lvl="2" indent="0" algn="just">
              <a:buNone/>
            </a:pPr>
            <a:r>
              <a:rPr lang="en-US" altLang="zh-CN" sz="2100">
                <a:ea typeface="+mn-ea"/>
                <a:sym typeface="+mn-ea"/>
              </a:rPr>
              <a:t>(2)</a:t>
            </a:r>
            <a:r>
              <a:rPr lang="zh-CN" altLang="en-US" sz="2100">
                <a:ea typeface="+mn-ea"/>
                <a:sym typeface="+mn-ea"/>
              </a:rPr>
              <a:t>存储器管理</a:t>
            </a:r>
            <a:endParaRPr lang="en-US" altLang="zh-CN" sz="2100">
              <a:ea typeface="+mn-ea"/>
              <a:sym typeface="+mn-ea"/>
            </a:endParaRPr>
          </a:p>
          <a:p>
            <a:pPr marL="914400" lvl="2" indent="0" algn="just">
              <a:buNone/>
            </a:pPr>
            <a:r>
              <a:rPr lang="en-US" altLang="zh-CN" sz="2100">
                <a:ea typeface="+mn-ea"/>
                <a:sym typeface="+mn-ea"/>
              </a:rPr>
              <a:t>(3)</a:t>
            </a:r>
            <a:r>
              <a:rPr lang="zh-CN" altLang="en-US" sz="2100">
                <a:ea typeface="+mn-ea"/>
                <a:sym typeface="+mn-ea"/>
              </a:rPr>
              <a:t>设备管理</a:t>
            </a:r>
            <a:endParaRPr lang="en-US" altLang="zh-CN" sz="2100">
              <a:ea typeface="+mn-ea"/>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26</a:t>
            </a:fld>
            <a:endParaRPr kumimoji="1" lang="zh-CN" altLang="en-US"/>
          </a:p>
        </p:txBody>
      </p:sp>
    </p:spTree>
    <p:extLst>
      <p:ext uri="{BB962C8B-B14F-4D97-AF65-F5344CB8AC3E}">
        <p14:creationId xmlns:p14="http://schemas.microsoft.com/office/powerpoint/2010/main" val="23033461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进程控制</a:t>
            </a:r>
            <a:endParaRPr lang="zh-CN" altLang="en-US">
              <a:latin typeface="+mj-ea"/>
              <a:ea typeface="+mj-ea"/>
            </a:endParaRPr>
          </a:p>
        </p:txBody>
      </p:sp>
      <p:sp>
        <p:nvSpPr>
          <p:cNvPr id="3" name="内容占位符 2"/>
          <p:cNvSpPr>
            <a:spLocks noGrp="1"/>
          </p:cNvSpPr>
          <p:nvPr>
            <p:ph idx="1"/>
          </p:nvPr>
        </p:nvSpPr>
        <p:spPr>
          <a:xfrm>
            <a:off x="838200" y="1510665"/>
            <a:ext cx="6871636" cy="5347335"/>
          </a:xfrm>
        </p:spPr>
        <p:txBody>
          <a:bodyPr>
            <a:normAutofit fontScale="97500"/>
          </a:bodyPr>
          <a:lstStyle/>
          <a:p>
            <a:r>
              <a:rPr lang="zh-CN" altLang="en-US" sz="2900">
                <a:solidFill>
                  <a:srgbClr val="0070C0"/>
                </a:solidFill>
                <a:ea typeface="+mn-ea"/>
                <a:sym typeface="+mn-ea"/>
              </a:rPr>
              <a:t>进程的创建</a:t>
            </a:r>
          </a:p>
          <a:p>
            <a:pPr lvl="1" algn="just">
              <a:buClrTx/>
              <a:buSzTx/>
              <a:buFont typeface="Wingdings" panose="05000000000000000000" pitchFamily="2" charset="2"/>
              <a:buChar char="ü"/>
            </a:pPr>
            <a:r>
              <a:rPr lang="zh-CN" altLang="en-US" sz="2500">
                <a:ea typeface="+mn-ea"/>
                <a:sym typeface="+mn-ea"/>
              </a:rPr>
              <a:t>进程的层次结构</a:t>
            </a:r>
          </a:p>
          <a:p>
            <a:pPr marL="914400" lvl="2" indent="0" algn="just">
              <a:buNone/>
            </a:pPr>
            <a:r>
              <a:rPr lang="zh-CN" altLang="en-US" sz="2100">
                <a:ea typeface="+mn-ea"/>
                <a:sym typeface="+mn-ea"/>
              </a:rPr>
              <a:t>在</a:t>
            </a:r>
            <a:r>
              <a:rPr lang="en-US" altLang="zh-CN" sz="2100">
                <a:ea typeface="+mn-ea"/>
                <a:sym typeface="+mn-ea"/>
              </a:rPr>
              <a:t>OS</a:t>
            </a:r>
            <a:r>
              <a:rPr lang="zh-CN" altLang="en-US" sz="2100">
                <a:ea typeface="+mn-ea"/>
                <a:sym typeface="+mn-ea"/>
              </a:rPr>
              <a:t>中，允许一个进程创建另一个进程，通常把创建进程的进程称为父进程，而把被创建的进程称为子进程。子进程可继续创建更多的孙进程，由此便形成了一个进程的层次结构。</a:t>
            </a:r>
            <a:endParaRPr lang="en-US" altLang="zh-CN" sz="2100">
              <a:ea typeface="+mn-ea"/>
              <a:sym typeface="+mn-ea"/>
            </a:endParaRPr>
          </a:p>
          <a:p>
            <a:pPr lvl="1" algn="just">
              <a:buClrTx/>
              <a:buSzTx/>
              <a:buFont typeface="Wingdings" panose="05000000000000000000" pitchFamily="2" charset="2"/>
              <a:buChar char="ü"/>
            </a:pPr>
            <a:r>
              <a:rPr lang="zh-CN" altLang="en-US" sz="2500">
                <a:ea typeface="+mn-ea"/>
                <a:sym typeface="+mn-ea"/>
              </a:rPr>
              <a:t>进程图</a:t>
            </a:r>
            <a:endParaRPr lang="en-US" altLang="zh-CN" sz="2500">
              <a:ea typeface="+mn-ea"/>
              <a:sym typeface="+mn-ea"/>
            </a:endParaRPr>
          </a:p>
          <a:p>
            <a:pPr marL="914400" lvl="2" indent="0" algn="just">
              <a:buNone/>
            </a:pPr>
            <a:r>
              <a:rPr lang="zh-CN" altLang="en-US" sz="2100">
                <a:ea typeface="+mn-ea"/>
                <a:sym typeface="+mn-ea"/>
              </a:rPr>
              <a:t>为形象地描述一个进程的家族关系而引入了进程图</a:t>
            </a:r>
            <a:r>
              <a:rPr lang="en-US" altLang="zh-CN" sz="2100">
                <a:ea typeface="+mn-ea"/>
                <a:sym typeface="+mn-ea"/>
              </a:rPr>
              <a:t>(Process Graph)</a:t>
            </a:r>
            <a:r>
              <a:rPr lang="zh-CN" altLang="en-US" sz="2100">
                <a:ea typeface="+mn-ea"/>
                <a:sym typeface="+mn-ea"/>
              </a:rPr>
              <a:t>。所谓进程图就是用于描述进程间关系的一棵有向树，如右图所示。 </a:t>
            </a:r>
            <a:endParaRPr lang="en-US" altLang="zh-CN" sz="2100">
              <a:ea typeface="+mn-ea"/>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27</a:t>
            </a:fld>
            <a:endParaRPr kumimoji="1" lang="zh-CN" altLang="en-US"/>
          </a:p>
        </p:txBody>
      </p:sp>
      <p:pic>
        <p:nvPicPr>
          <p:cNvPr id="5" name="Picture 4" descr="2-13">
            <a:extLst>
              <a:ext uri="{FF2B5EF4-FFF2-40B4-BE49-F238E27FC236}">
                <a16:creationId xmlns:a16="http://schemas.microsoft.com/office/drawing/2014/main" id="{292C6125-D8CB-49AD-AA26-BBA0D2FF97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3942" y="2538948"/>
            <a:ext cx="4236887" cy="3008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E26EEF71-88C8-495E-854D-11E4D7BBB44E}"/>
              </a:ext>
            </a:extLst>
          </p:cNvPr>
          <p:cNvSpPr txBox="1"/>
          <p:nvPr/>
        </p:nvSpPr>
        <p:spPr>
          <a:xfrm>
            <a:off x="9528321" y="5751689"/>
            <a:ext cx="953592" cy="400110"/>
          </a:xfrm>
          <a:prstGeom prst="rect">
            <a:avLst/>
          </a:prstGeom>
          <a:noFill/>
        </p:spPr>
        <p:txBody>
          <a:bodyPr wrap="square">
            <a:spAutoFit/>
          </a:bodyPr>
          <a:lstStyle/>
          <a:p>
            <a:r>
              <a:rPr lang="zh-CN" altLang="en-US" sz="2000"/>
              <a:t>进程树</a:t>
            </a:r>
          </a:p>
        </p:txBody>
      </p:sp>
    </p:spTree>
    <p:extLst>
      <p:ext uri="{BB962C8B-B14F-4D97-AF65-F5344CB8AC3E}">
        <p14:creationId xmlns:p14="http://schemas.microsoft.com/office/powerpoint/2010/main" val="26857893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进程控制</a:t>
            </a:r>
            <a:endParaRPr lang="zh-CN" altLang="en-US">
              <a:latin typeface="+mj-ea"/>
              <a:ea typeface="+mj-ea"/>
            </a:endParaRPr>
          </a:p>
        </p:txBody>
      </p:sp>
      <p:sp>
        <p:nvSpPr>
          <p:cNvPr id="3" name="内容占位符 2"/>
          <p:cNvSpPr>
            <a:spLocks noGrp="1"/>
          </p:cNvSpPr>
          <p:nvPr>
            <p:ph idx="1"/>
          </p:nvPr>
        </p:nvSpPr>
        <p:spPr>
          <a:xfrm>
            <a:off x="838200" y="1394672"/>
            <a:ext cx="7172740" cy="5347335"/>
          </a:xfrm>
        </p:spPr>
        <p:txBody>
          <a:bodyPr>
            <a:normAutofit fontScale="97500" lnSpcReduction="10000"/>
          </a:bodyPr>
          <a:lstStyle/>
          <a:p>
            <a:r>
              <a:rPr lang="zh-CN" altLang="en-US" sz="2900" dirty="0">
                <a:solidFill>
                  <a:srgbClr val="0070C0"/>
                </a:solidFill>
                <a:ea typeface="+mn-ea"/>
                <a:sym typeface="+mn-ea"/>
              </a:rPr>
              <a:t>进程的创建</a:t>
            </a:r>
          </a:p>
          <a:p>
            <a:pPr lvl="1" algn="just">
              <a:buClrTx/>
              <a:buSzTx/>
              <a:buFont typeface="Wingdings" panose="05000000000000000000" pitchFamily="2" charset="2"/>
              <a:buChar char="ü"/>
            </a:pPr>
            <a:r>
              <a:rPr lang="zh-CN" altLang="en-US" sz="2500" dirty="0">
                <a:ea typeface="+mn-ea"/>
                <a:sym typeface="+mn-ea"/>
              </a:rPr>
              <a:t>引起创建进程的事件</a:t>
            </a:r>
          </a:p>
          <a:p>
            <a:pPr marL="914400" lvl="2" indent="0" algn="just">
              <a:buNone/>
            </a:pPr>
            <a:r>
              <a:rPr lang="zh-CN" altLang="en-US" sz="2100" dirty="0">
                <a:ea typeface="+mn-ea"/>
                <a:sym typeface="+mn-ea"/>
              </a:rPr>
              <a:t>为使程序之间能并发运行，应先为它们分别创建进程。导致一个进程去创建另一个进程的典型事件有四类：</a:t>
            </a:r>
            <a:r>
              <a:rPr lang="en-US" altLang="zh-CN" sz="2100" dirty="0">
                <a:ea typeface="+mn-ea"/>
                <a:sym typeface="+mn-ea"/>
              </a:rPr>
              <a:t>(1)</a:t>
            </a:r>
            <a:r>
              <a:rPr lang="zh-CN" altLang="en-US" sz="2100" dirty="0">
                <a:ea typeface="+mn-ea"/>
                <a:sym typeface="+mn-ea"/>
              </a:rPr>
              <a:t>用户登录；</a:t>
            </a:r>
            <a:r>
              <a:rPr lang="en-US" altLang="zh-CN" sz="2100" dirty="0">
                <a:ea typeface="+mn-ea"/>
                <a:sym typeface="+mn-ea"/>
              </a:rPr>
              <a:t>(2)</a:t>
            </a:r>
            <a:r>
              <a:rPr lang="zh-CN" altLang="en-US" sz="2100" dirty="0">
                <a:ea typeface="+mn-ea"/>
                <a:sym typeface="+mn-ea"/>
              </a:rPr>
              <a:t>作业调度；</a:t>
            </a:r>
            <a:r>
              <a:rPr lang="en-US" altLang="zh-CN" sz="2100" dirty="0">
                <a:ea typeface="+mn-ea"/>
                <a:sym typeface="+mn-ea"/>
              </a:rPr>
              <a:t>(3)</a:t>
            </a:r>
            <a:r>
              <a:rPr lang="zh-CN" altLang="en-US" sz="2100" dirty="0">
                <a:ea typeface="+mn-ea"/>
                <a:sym typeface="+mn-ea"/>
              </a:rPr>
              <a:t>提供服务；</a:t>
            </a:r>
            <a:r>
              <a:rPr lang="en-US" altLang="zh-CN" sz="2100" dirty="0">
                <a:ea typeface="+mn-ea"/>
                <a:sym typeface="+mn-ea"/>
              </a:rPr>
              <a:t>(4)</a:t>
            </a:r>
            <a:r>
              <a:rPr lang="zh-CN" altLang="en-US" sz="2100" dirty="0">
                <a:ea typeface="+mn-ea"/>
                <a:sym typeface="+mn-ea"/>
              </a:rPr>
              <a:t>应用请求。</a:t>
            </a:r>
            <a:endParaRPr lang="en-US" altLang="zh-CN" sz="2100" dirty="0">
              <a:ea typeface="+mn-ea"/>
              <a:sym typeface="+mn-ea"/>
            </a:endParaRPr>
          </a:p>
          <a:p>
            <a:pPr lvl="1" algn="just">
              <a:buClrTx/>
              <a:buSzTx/>
              <a:buFont typeface="Wingdings" panose="05000000000000000000" pitchFamily="2" charset="2"/>
              <a:buChar char="ü"/>
            </a:pPr>
            <a:r>
              <a:rPr lang="zh-CN" altLang="en-US" sz="2500" dirty="0">
                <a:ea typeface="+mn-ea"/>
                <a:sym typeface="+mn-ea"/>
              </a:rPr>
              <a:t>进程的创建</a:t>
            </a:r>
            <a:endParaRPr lang="en-US" altLang="zh-CN" sz="2500" dirty="0">
              <a:ea typeface="+mn-ea"/>
              <a:sym typeface="+mn-ea"/>
            </a:endParaRPr>
          </a:p>
          <a:p>
            <a:pPr marL="914400" lvl="2" indent="0" algn="just">
              <a:buNone/>
            </a:pPr>
            <a:r>
              <a:rPr lang="zh-CN" altLang="en-US" sz="2100" dirty="0">
                <a:ea typeface="+mn-ea"/>
                <a:sym typeface="+mn-ea"/>
              </a:rPr>
              <a:t>系统出现创建新进程的请求后，</a:t>
            </a:r>
            <a:r>
              <a:rPr lang="en-US" altLang="zh-CN" sz="2100" dirty="0">
                <a:ea typeface="+mn-ea"/>
                <a:sym typeface="+mn-ea"/>
              </a:rPr>
              <a:t>OS</a:t>
            </a:r>
            <a:r>
              <a:rPr lang="zh-CN" altLang="en-US" sz="2100" dirty="0">
                <a:ea typeface="+mn-ea"/>
                <a:sym typeface="+mn-ea"/>
              </a:rPr>
              <a:t>便调用进程创建原语</a:t>
            </a:r>
            <a:r>
              <a:rPr lang="en-US" altLang="zh-CN" sz="2100" dirty="0">
                <a:ea typeface="+mn-ea"/>
                <a:sym typeface="+mn-ea"/>
              </a:rPr>
              <a:t>Create</a:t>
            </a:r>
            <a:r>
              <a:rPr lang="zh-CN" altLang="en-US" sz="2100" dirty="0">
                <a:ea typeface="+mn-ea"/>
                <a:sym typeface="+mn-ea"/>
              </a:rPr>
              <a:t>按步骤创建一个新进程：</a:t>
            </a:r>
            <a:r>
              <a:rPr lang="en-US" altLang="zh-CN" sz="2100" dirty="0">
                <a:ea typeface="+mn-ea"/>
                <a:sym typeface="+mn-ea"/>
              </a:rPr>
              <a:t>(1)</a:t>
            </a:r>
            <a:r>
              <a:rPr lang="zh-CN" altLang="en-US" sz="2100" dirty="0">
                <a:ea typeface="+mn-ea"/>
                <a:sym typeface="+mn-ea"/>
              </a:rPr>
              <a:t>申请空白</a:t>
            </a:r>
            <a:r>
              <a:rPr lang="en-US" altLang="zh-CN" sz="2100" dirty="0">
                <a:ea typeface="+mn-ea"/>
                <a:sym typeface="+mn-ea"/>
              </a:rPr>
              <a:t>PCB</a:t>
            </a:r>
            <a:r>
              <a:rPr lang="zh-CN" altLang="en-US" sz="2100" dirty="0">
                <a:ea typeface="+mn-ea"/>
                <a:sym typeface="+mn-ea"/>
              </a:rPr>
              <a:t>，为新进程申请获得唯一的数字标识符，并从</a:t>
            </a:r>
            <a:r>
              <a:rPr lang="en-US" altLang="zh-CN" sz="2100" dirty="0">
                <a:ea typeface="+mn-ea"/>
                <a:sym typeface="+mn-ea"/>
              </a:rPr>
              <a:t>PCB</a:t>
            </a:r>
            <a:r>
              <a:rPr lang="zh-CN" altLang="en-US" sz="2100" dirty="0">
                <a:ea typeface="+mn-ea"/>
                <a:sym typeface="+mn-ea"/>
              </a:rPr>
              <a:t>集合中索取一个空白</a:t>
            </a:r>
            <a:r>
              <a:rPr lang="en-US" altLang="zh-CN" sz="2100" dirty="0">
                <a:ea typeface="+mn-ea"/>
                <a:sym typeface="+mn-ea"/>
              </a:rPr>
              <a:t>PCB</a:t>
            </a:r>
            <a:r>
              <a:rPr lang="zh-CN" altLang="en-US" sz="2100" dirty="0">
                <a:ea typeface="+mn-ea"/>
                <a:sym typeface="+mn-ea"/>
              </a:rPr>
              <a:t>；</a:t>
            </a:r>
            <a:r>
              <a:rPr lang="en-US" altLang="zh-CN" sz="2100" dirty="0">
                <a:ea typeface="+mn-ea"/>
                <a:sym typeface="+mn-ea"/>
              </a:rPr>
              <a:t>(2)</a:t>
            </a:r>
            <a:r>
              <a:rPr lang="zh-CN" altLang="en-US" sz="2100" dirty="0">
                <a:ea typeface="+mn-ea"/>
                <a:sym typeface="+mn-ea"/>
              </a:rPr>
              <a:t>为新进程分配其运行所需的资源，包括各种物理和逻辑资源，如内存、文件、</a:t>
            </a:r>
            <a:r>
              <a:rPr lang="en-US" altLang="zh-CN" sz="2100" dirty="0">
                <a:ea typeface="+mn-ea"/>
                <a:sym typeface="+mn-ea"/>
              </a:rPr>
              <a:t>I/O</a:t>
            </a:r>
            <a:r>
              <a:rPr lang="zh-CN" altLang="en-US" sz="2100" dirty="0">
                <a:ea typeface="+mn-ea"/>
                <a:sym typeface="+mn-ea"/>
              </a:rPr>
              <a:t>设备和</a:t>
            </a:r>
            <a:r>
              <a:rPr lang="en-US" altLang="zh-CN" sz="2100" dirty="0">
                <a:ea typeface="+mn-ea"/>
                <a:sym typeface="+mn-ea"/>
              </a:rPr>
              <a:t>CPU</a:t>
            </a:r>
            <a:r>
              <a:rPr lang="zh-CN" altLang="en-US" sz="2100" dirty="0">
                <a:ea typeface="+mn-ea"/>
                <a:sym typeface="+mn-ea"/>
              </a:rPr>
              <a:t>时间等；</a:t>
            </a:r>
            <a:r>
              <a:rPr lang="en-US" altLang="zh-CN" sz="2100" dirty="0">
                <a:ea typeface="+mn-ea"/>
                <a:sym typeface="+mn-ea"/>
              </a:rPr>
              <a:t>(3)</a:t>
            </a:r>
            <a:r>
              <a:rPr lang="zh-CN" altLang="en-US" sz="2100" dirty="0">
                <a:ea typeface="+mn-ea"/>
                <a:sym typeface="+mn-ea"/>
              </a:rPr>
              <a:t>初始化进程控制块</a:t>
            </a:r>
            <a:r>
              <a:rPr lang="en-US" altLang="zh-CN" sz="2100" dirty="0">
                <a:ea typeface="+mn-ea"/>
                <a:sym typeface="+mn-ea"/>
              </a:rPr>
              <a:t>(PCB)</a:t>
            </a:r>
            <a:r>
              <a:rPr lang="zh-CN" altLang="en-US" sz="2100" dirty="0">
                <a:ea typeface="+mn-ea"/>
                <a:sym typeface="+mn-ea"/>
              </a:rPr>
              <a:t>；</a:t>
            </a:r>
            <a:r>
              <a:rPr lang="en-US" altLang="zh-CN" sz="2100" dirty="0">
                <a:ea typeface="+mn-ea"/>
                <a:sym typeface="+mn-ea"/>
              </a:rPr>
              <a:t>(4)</a:t>
            </a:r>
            <a:r>
              <a:rPr lang="zh-CN" altLang="en-US" sz="2100" dirty="0">
                <a:ea typeface="+mn-ea"/>
                <a:sym typeface="+mn-ea"/>
              </a:rPr>
              <a:t>如果进程就绪队列能够接纳新进程，便将新进程插入就绪队列。</a:t>
            </a:r>
            <a:endParaRPr lang="en-US" altLang="zh-CN" sz="2100" dirty="0">
              <a:ea typeface="+mn-ea"/>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28</a:t>
            </a:fld>
            <a:endParaRPr kumimoji="1" lang="zh-CN" altLang="en-US"/>
          </a:p>
        </p:txBody>
      </p:sp>
      <p:graphicFrame>
        <p:nvGraphicFramePr>
          <p:cNvPr id="6" name="表格 5">
            <a:extLst>
              <a:ext uri="{FF2B5EF4-FFF2-40B4-BE49-F238E27FC236}">
                <a16:creationId xmlns:a16="http://schemas.microsoft.com/office/drawing/2014/main" id="{C3C777B3-D0A8-4973-B3CD-9C3ECDFFA406}"/>
              </a:ext>
            </a:extLst>
          </p:cNvPr>
          <p:cNvGraphicFramePr>
            <a:graphicFrameLocks noGrp="1"/>
          </p:cNvGraphicFramePr>
          <p:nvPr>
            <p:extLst>
              <p:ext uri="{D42A27DB-BD31-4B8C-83A1-F6EECF244321}">
                <p14:modId xmlns:p14="http://schemas.microsoft.com/office/powerpoint/2010/main" val="3239154294"/>
              </p:ext>
            </p:extLst>
          </p:nvPr>
        </p:nvGraphicFramePr>
        <p:xfrm>
          <a:off x="8100615" y="0"/>
          <a:ext cx="4091386" cy="6002147"/>
        </p:xfrm>
        <a:graphic>
          <a:graphicData uri="http://schemas.openxmlformats.org/drawingml/2006/table">
            <a:tbl>
              <a:tblPr firstRow="1" firstCol="1" bandRow="1"/>
              <a:tblGrid>
                <a:gridCol w="4091386">
                  <a:extLst>
                    <a:ext uri="{9D8B030D-6E8A-4147-A177-3AD203B41FA5}">
                      <a16:colId xmlns:a16="http://schemas.microsoft.com/office/drawing/2014/main" val="2297195555"/>
                    </a:ext>
                  </a:extLst>
                </a:gridCol>
              </a:tblGrid>
              <a:tr h="4351338">
                <a:tc>
                  <a:txBody>
                    <a:bodyPr/>
                    <a:lstStyle/>
                    <a:p>
                      <a:pPr algn="just">
                        <a:lnSpc>
                          <a:spcPct val="150000"/>
                        </a:lnSpc>
                        <a:spcAft>
                          <a:spcPts val="0"/>
                        </a:spcAft>
                      </a:pPr>
                      <a:r>
                        <a:rPr lang="en-US" sz="1200" b="1" kern="100" dirty="0">
                          <a:effectLst/>
                          <a:latin typeface="Times New Roman" panose="02020603050405020304" pitchFamily="18" charset="0"/>
                          <a:ea typeface="宋体" panose="02010600030101010101" pitchFamily="2" charset="-122"/>
                          <a:cs typeface="Times New Roman" panose="02020603050405020304" pitchFamily="18" charset="0"/>
                        </a:rPr>
                        <a:t>#include &lt;sy</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lang="en-US" sz="12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types.h</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#include &lt;</a:t>
                      </a:r>
                      <a:r>
                        <a:rPr lang="en-US" sz="12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stdio.h</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#include &lt;</a:t>
                      </a:r>
                      <a:r>
                        <a:rPr lang="en-US" sz="12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unistd.h</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 main()</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12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pid_t</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12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pid</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2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algn="just">
                        <a:lnSpc>
                          <a:spcPct val="150000"/>
                        </a:lnSpc>
                        <a:spcAft>
                          <a:spcPts val="0"/>
                        </a:spcAft>
                      </a:pPr>
                      <a:r>
                        <a:rPr lang="en-US" sz="12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创建一个子进程</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12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pid</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fork();</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if (</a:t>
                      </a:r>
                      <a:r>
                        <a:rPr lang="en-US" sz="12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pid</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&lt; 0) { /* </a:t>
                      </a:r>
                      <a:r>
                        <a:rPr lang="zh-CN"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发生错误</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12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fprintf</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(stderr, "Fork Failed");</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return 1;</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else if (</a:t>
                      </a:r>
                      <a:r>
                        <a:rPr lang="en-US" sz="12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pid</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0) { /* </a:t>
                      </a:r>
                      <a:r>
                        <a:rPr lang="zh-CN"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表明是子进程</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12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execlp</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("/bin/</a:t>
                      </a:r>
                      <a:r>
                        <a:rPr lang="en-US" sz="12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ls","ls",NULL</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else { /* </a:t>
                      </a:r>
                      <a:r>
                        <a:rPr lang="zh-CN"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表明是父进程</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a:t>
                      </a:r>
                      <a:r>
                        <a:rPr lang="zh-CN"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父进程等待子进程运行结束</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wait(NULL);</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printf("Child Complete");</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return 0;</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9718" marR="49718" marT="0" marB="0">
                    <a:lnL>
                      <a:noFill/>
                    </a:lnL>
                    <a:lnR>
                      <a:noFill/>
                    </a:lnR>
                    <a:lnT>
                      <a:noFill/>
                    </a:lnT>
                    <a:lnB>
                      <a:noFill/>
                    </a:lnB>
                    <a:solidFill>
                      <a:srgbClr val="D9D9D9"/>
                    </a:solidFill>
                  </a:tcPr>
                </a:tc>
                <a:extLst>
                  <a:ext uri="{0D108BD9-81ED-4DB2-BD59-A6C34878D82A}">
                    <a16:rowId xmlns:a16="http://schemas.microsoft.com/office/drawing/2014/main" val="3509671360"/>
                  </a:ext>
                </a:extLst>
              </a:tr>
            </a:tbl>
          </a:graphicData>
        </a:graphic>
      </p:graphicFrame>
      <p:sp>
        <p:nvSpPr>
          <p:cNvPr id="7" name="文本框 6">
            <a:extLst>
              <a:ext uri="{FF2B5EF4-FFF2-40B4-BE49-F238E27FC236}">
                <a16:creationId xmlns:a16="http://schemas.microsoft.com/office/drawing/2014/main" id="{FB6B1527-105C-1655-6D5A-068B57E5330C}"/>
              </a:ext>
            </a:extLst>
          </p:cNvPr>
          <p:cNvSpPr txBox="1"/>
          <p:nvPr/>
        </p:nvSpPr>
        <p:spPr>
          <a:xfrm>
            <a:off x="1831544" y="6402747"/>
            <a:ext cx="7172739" cy="455253"/>
          </a:xfrm>
          <a:prstGeom prst="rect">
            <a:avLst/>
          </a:prstGeom>
          <a:noFill/>
        </p:spPr>
        <p:txBody>
          <a:bodyPr wrap="square">
            <a:spAutoFit/>
          </a:bodyPr>
          <a:lstStyle/>
          <a:p>
            <a:pPr algn="just">
              <a:lnSpc>
                <a:spcPct val="150000"/>
              </a:lnSpc>
            </a:pPr>
            <a:r>
              <a:rPr lang="zh-CN" altLang="en-US" b="1" i="0" dirty="0">
                <a:effectLst/>
                <a:latin typeface="Times New Roman" panose="02020603050405020304" pitchFamily="18" charset="0"/>
                <a:cs typeface="Times New Roman" panose="02020603050405020304" pitchFamily="18" charset="0"/>
              </a:rPr>
              <a:t>挂起</a:t>
            </a:r>
            <a:r>
              <a:rPr lang="zh-CN" altLang="en-US" b="0" i="0" dirty="0">
                <a:effectLst/>
                <a:latin typeface="Times New Roman" panose="02020603050405020304" pitchFamily="18" charset="0"/>
                <a:cs typeface="Times New Roman" panose="02020603050405020304" pitchFamily="18" charset="0"/>
              </a:rPr>
              <a:t>是一种主动行为；</a:t>
            </a:r>
            <a:r>
              <a:rPr lang="zh-CN" altLang="en-US" b="1" i="0" dirty="0">
                <a:effectLst/>
                <a:latin typeface="Times New Roman" panose="02020603050405020304" pitchFamily="18" charset="0"/>
                <a:cs typeface="Times New Roman" panose="02020603050405020304" pitchFamily="18" charset="0"/>
              </a:rPr>
              <a:t>阻塞</a:t>
            </a:r>
            <a:r>
              <a:rPr lang="zh-CN" altLang="en-US" b="0" i="0" dirty="0">
                <a:effectLst/>
                <a:latin typeface="Times New Roman" panose="02020603050405020304" pitchFamily="18" charset="0"/>
                <a:cs typeface="Times New Roman" panose="02020603050405020304" pitchFamily="18" charset="0"/>
              </a:rPr>
              <a:t>则是一种被动行为，恢复交由系统完成。</a:t>
            </a:r>
            <a:endParaRPr lang="en-US" altLang="zh-CN"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51031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进程控制</a:t>
            </a:r>
            <a:endParaRPr lang="zh-CN" altLang="en-US">
              <a:latin typeface="+mj-ea"/>
              <a:ea typeface="+mj-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29</a:t>
            </a:fld>
            <a:endParaRPr kumimoji="1" lang="zh-CN" altLang="en-US"/>
          </a:p>
        </p:txBody>
      </p:sp>
      <p:graphicFrame>
        <p:nvGraphicFramePr>
          <p:cNvPr id="6" name="表格 5">
            <a:extLst>
              <a:ext uri="{FF2B5EF4-FFF2-40B4-BE49-F238E27FC236}">
                <a16:creationId xmlns:a16="http://schemas.microsoft.com/office/drawing/2014/main" id="{C3C777B3-D0A8-4973-B3CD-9C3ECDFFA406}"/>
              </a:ext>
            </a:extLst>
          </p:cNvPr>
          <p:cNvGraphicFramePr>
            <a:graphicFrameLocks noGrp="1"/>
          </p:cNvGraphicFramePr>
          <p:nvPr>
            <p:extLst>
              <p:ext uri="{D42A27DB-BD31-4B8C-83A1-F6EECF244321}">
                <p14:modId xmlns:p14="http://schemas.microsoft.com/office/powerpoint/2010/main" val="832224873"/>
              </p:ext>
            </p:extLst>
          </p:nvPr>
        </p:nvGraphicFramePr>
        <p:xfrm>
          <a:off x="1307508" y="1541236"/>
          <a:ext cx="3696531" cy="5179187"/>
        </p:xfrm>
        <a:graphic>
          <a:graphicData uri="http://schemas.openxmlformats.org/drawingml/2006/table">
            <a:tbl>
              <a:tblPr firstRow="1" firstCol="1" bandRow="1"/>
              <a:tblGrid>
                <a:gridCol w="3696531">
                  <a:extLst>
                    <a:ext uri="{9D8B030D-6E8A-4147-A177-3AD203B41FA5}">
                      <a16:colId xmlns:a16="http://schemas.microsoft.com/office/drawing/2014/main" val="2297195555"/>
                    </a:ext>
                  </a:extLst>
                </a:gridCol>
              </a:tblGrid>
              <a:tr h="4351338">
                <a:tc>
                  <a:txBody>
                    <a:bodyPr/>
                    <a:lstStyle/>
                    <a:p>
                      <a:pPr algn="just">
                        <a:lnSpc>
                          <a:spcPct val="150000"/>
                        </a:lnSpc>
                        <a:spcAft>
                          <a:spcPts val="0"/>
                        </a:spcAft>
                      </a:pPr>
                      <a:r>
                        <a:rPr lang="en-US" sz="1200" b="1" kern="100" dirty="0">
                          <a:effectLst/>
                          <a:latin typeface="Times New Roman" panose="02020603050405020304" pitchFamily="18" charset="0"/>
                          <a:ea typeface="宋体" panose="02010600030101010101" pitchFamily="2" charset="-122"/>
                          <a:cs typeface="Times New Roman" panose="02020603050405020304" pitchFamily="18" charset="0"/>
                        </a:rPr>
                        <a:t>#include &lt;sy</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lang="en-US" sz="12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types.h</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#include &lt;</a:t>
                      </a:r>
                      <a:r>
                        <a:rPr lang="en-US" sz="12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stdio.h</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#include &lt;</a:t>
                      </a:r>
                      <a:r>
                        <a:rPr lang="en-US" sz="12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unistd.h</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 main()</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p>
                      <a:pPr algn="just">
                        <a:lnSpc>
                          <a:spcPct val="150000"/>
                        </a:lnSpc>
                        <a:spcAft>
                          <a:spcPts val="0"/>
                        </a:spcAft>
                      </a:pPr>
                      <a:r>
                        <a:rPr lang="en-US" altLang="zh-CN"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kern="100" dirty="0">
                          <a:effectLst/>
                          <a:latin typeface="Times New Roman" panose="02020603050405020304" pitchFamily="18" charset="0"/>
                          <a:ea typeface="+mn-ea"/>
                          <a:cs typeface="Times New Roman" panose="02020603050405020304" pitchFamily="18" charset="0"/>
                        </a:rPr>
                        <a:t>pid_t  id=fork();    </a:t>
                      </a:r>
                    </a:p>
                    <a:p>
                      <a:pPr algn="just">
                        <a:lnSpc>
                          <a:spcPct val="150000"/>
                        </a:lnSpc>
                        <a:spcAft>
                          <a:spcPts val="0"/>
                        </a:spcAft>
                      </a:pPr>
                      <a:r>
                        <a:rPr lang="en-US" altLang="zh-CN" sz="1200" b="1" kern="100" dirty="0">
                          <a:effectLst/>
                          <a:latin typeface="Times New Roman" panose="02020603050405020304" pitchFamily="18" charset="0"/>
                          <a:ea typeface="+mn-ea"/>
                          <a:cs typeface="Times New Roman" panose="02020603050405020304" pitchFamily="18" charset="0"/>
                        </a:rPr>
                        <a:t>                   if(id==0)  {    </a:t>
                      </a:r>
                    </a:p>
                    <a:p>
                      <a:pPr algn="just">
                        <a:lnSpc>
                          <a:spcPct val="150000"/>
                        </a:lnSpc>
                        <a:spcAft>
                          <a:spcPts val="0"/>
                        </a:spcAft>
                      </a:pPr>
                      <a:r>
                        <a:rPr lang="en-US" altLang="zh-CN" sz="1200" b="1" kern="100" dirty="0">
                          <a:effectLst/>
                          <a:latin typeface="Times New Roman" panose="02020603050405020304" pitchFamily="18" charset="0"/>
                          <a:ea typeface="+mn-ea"/>
                          <a:cs typeface="Times New Roman" panose="02020603050405020304" pitchFamily="18" charset="0"/>
                        </a:rPr>
                        <a:t>                            while(1)  {</a:t>
                      </a:r>
                    </a:p>
                    <a:p>
                      <a:pPr algn="just">
                        <a:lnSpc>
                          <a:spcPct val="150000"/>
                        </a:lnSpc>
                        <a:spcAft>
                          <a:spcPts val="0"/>
                        </a:spcAft>
                      </a:pPr>
                      <a:r>
                        <a:rPr lang="en-US" altLang="zh-CN" sz="1200" b="1" kern="100" dirty="0">
                          <a:effectLst/>
                          <a:latin typeface="Times New Roman" panose="02020603050405020304" pitchFamily="18" charset="0"/>
                          <a:ea typeface="+mn-ea"/>
                          <a:cs typeface="Times New Roman" panose="02020603050405020304" pitchFamily="18" charset="0"/>
                        </a:rPr>
                        <a:t>                                    printf("I am a child\n"); </a:t>
                      </a:r>
                    </a:p>
                    <a:p>
                      <a:pPr algn="just">
                        <a:lnSpc>
                          <a:spcPct val="150000"/>
                        </a:lnSpc>
                        <a:spcAft>
                          <a:spcPts val="0"/>
                        </a:spcAft>
                      </a:pPr>
                      <a:r>
                        <a:rPr lang="en-US" altLang="zh-CN" sz="1200" b="1" kern="100" dirty="0">
                          <a:effectLst/>
                          <a:latin typeface="Times New Roman" panose="02020603050405020304" pitchFamily="18" charset="0"/>
                          <a:ea typeface="+mn-ea"/>
                          <a:cs typeface="Times New Roman" panose="02020603050405020304" pitchFamily="18" charset="0"/>
                        </a:rPr>
                        <a:t>                                    sleep(2); </a:t>
                      </a:r>
                    </a:p>
                    <a:p>
                      <a:pPr algn="just">
                        <a:lnSpc>
                          <a:spcPct val="150000"/>
                        </a:lnSpc>
                        <a:spcAft>
                          <a:spcPts val="0"/>
                        </a:spcAft>
                      </a:pPr>
                      <a:r>
                        <a:rPr lang="en-US" altLang="zh-CN" sz="1200" b="1" kern="100" dirty="0">
                          <a:effectLst/>
                          <a:latin typeface="Times New Roman" panose="02020603050405020304" pitchFamily="18" charset="0"/>
                          <a:ea typeface="+mn-ea"/>
                          <a:cs typeface="Times New Roman" panose="02020603050405020304" pitchFamily="18" charset="0"/>
                        </a:rPr>
                        <a:t>                             }                                                           </a:t>
                      </a:r>
                    </a:p>
                    <a:p>
                      <a:pPr algn="just">
                        <a:lnSpc>
                          <a:spcPct val="150000"/>
                        </a:lnSpc>
                        <a:spcAft>
                          <a:spcPts val="0"/>
                        </a:spcAft>
                      </a:pPr>
                      <a:r>
                        <a:rPr lang="en-US" altLang="zh-CN" sz="1200" b="1" kern="100" dirty="0">
                          <a:effectLst/>
                          <a:latin typeface="Times New Roman" panose="02020603050405020304" pitchFamily="18" charset="0"/>
                          <a:ea typeface="+mn-ea"/>
                          <a:cs typeface="Times New Roman" panose="02020603050405020304" pitchFamily="18" charset="0"/>
                        </a:rPr>
                        <a:t>                   } else {    </a:t>
                      </a:r>
                    </a:p>
                    <a:p>
                      <a:pPr algn="just">
                        <a:lnSpc>
                          <a:spcPct val="150000"/>
                        </a:lnSpc>
                        <a:spcAft>
                          <a:spcPts val="0"/>
                        </a:spcAft>
                      </a:pPr>
                      <a:r>
                        <a:rPr lang="en-US" altLang="zh-CN" sz="1200" b="1" kern="100" dirty="0">
                          <a:effectLst/>
                          <a:latin typeface="Times New Roman" panose="02020603050405020304" pitchFamily="18" charset="0"/>
                          <a:ea typeface="+mn-ea"/>
                          <a:cs typeface="Times New Roman" panose="02020603050405020304" pitchFamily="18" charset="0"/>
                        </a:rPr>
                        <a:t>                             printf("father do nothing\n");    </a:t>
                      </a:r>
                    </a:p>
                    <a:p>
                      <a:pPr algn="just">
                        <a:lnSpc>
                          <a:spcPct val="150000"/>
                        </a:lnSpc>
                        <a:spcAft>
                          <a:spcPts val="0"/>
                        </a:spcAft>
                      </a:pPr>
                      <a:r>
                        <a:rPr lang="en-US" altLang="zh-CN" sz="1200" b="1" kern="100" dirty="0">
                          <a:effectLst/>
                          <a:latin typeface="Times New Roman" panose="02020603050405020304" pitchFamily="18" charset="0"/>
                          <a:ea typeface="+mn-ea"/>
                          <a:cs typeface="Times New Roman" panose="02020603050405020304" pitchFamily="18" charset="0"/>
                        </a:rPr>
                        <a:t>                             sleep(1000);</a:t>
                      </a:r>
                    </a:p>
                    <a:p>
                      <a:pPr algn="just">
                        <a:lnSpc>
                          <a:spcPct val="150000"/>
                        </a:lnSpc>
                        <a:spcAft>
                          <a:spcPts val="0"/>
                        </a:spcAft>
                      </a:pPr>
                      <a:r>
                        <a:rPr lang="en-US" altLang="zh-CN" sz="1200" b="1" kern="100" dirty="0">
                          <a:effectLst/>
                          <a:latin typeface="Times New Roman" panose="02020603050405020304" pitchFamily="18" charset="0"/>
                          <a:ea typeface="+mn-ea"/>
                          <a:cs typeface="Times New Roman" panose="02020603050405020304" pitchFamily="18" charset="0"/>
                        </a:rPr>
                        <a:t>                             //sleep(10);</a:t>
                      </a:r>
                    </a:p>
                    <a:p>
                      <a:pPr algn="just">
                        <a:lnSpc>
                          <a:spcPct val="150000"/>
                        </a:lnSpc>
                        <a:spcAft>
                          <a:spcPts val="0"/>
                        </a:spcAft>
                      </a:pPr>
                      <a:r>
                        <a:rPr lang="en-US" altLang="zh-CN" sz="1200" b="1" kern="100" dirty="0">
                          <a:effectLst/>
                          <a:latin typeface="Times New Roman" panose="02020603050405020304" pitchFamily="18" charset="0"/>
                          <a:ea typeface="+mn-ea"/>
                          <a:cs typeface="Times New Roman" panose="02020603050405020304" pitchFamily="18" charset="0"/>
                        </a:rPr>
                        <a:t>                             //exit(-1); </a:t>
                      </a:r>
                    </a:p>
                    <a:p>
                      <a:pPr algn="just">
                        <a:lnSpc>
                          <a:spcPct val="150000"/>
                        </a:lnSpc>
                        <a:spcAft>
                          <a:spcPts val="0"/>
                        </a:spcAft>
                      </a:pPr>
                      <a:r>
                        <a:rPr lang="en-US" altLang="zh-CN" sz="1200" b="1" kern="100" dirty="0">
                          <a:effectLst/>
                          <a:latin typeface="Times New Roman" panose="02020603050405020304" pitchFamily="18" charset="0"/>
                          <a:ea typeface="+mn-ea"/>
                          <a:cs typeface="Times New Roman" panose="02020603050405020304" pitchFamily="18" charset="0"/>
                        </a:rPr>
                        <a:t>                   } </a:t>
                      </a:r>
                      <a:endParaRPr lang="zh-CN" altLang="zh-CN" sz="1200" b="1" kern="100" dirty="0">
                        <a:effectLst/>
                        <a:latin typeface="Times New Roman" panose="02020603050405020304" pitchFamily="18" charset="0"/>
                        <a:ea typeface="+mn-ea"/>
                        <a:cs typeface="Times New Roman" panose="02020603050405020304" pitchFamily="18" charset="0"/>
                      </a:endParaRPr>
                    </a:p>
                    <a:p>
                      <a:pPr algn="just">
                        <a:lnSpc>
                          <a:spcPct val="150000"/>
                        </a:lnSpc>
                        <a:spcAft>
                          <a:spcPts val="0"/>
                        </a:spcAft>
                      </a:pPr>
                      <a:r>
                        <a:rPr lang="en-US" sz="12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return 0;</a:t>
                      </a:r>
                    </a:p>
                    <a:p>
                      <a:pPr algn="just">
                        <a:lnSpc>
                          <a:spcPct val="150000"/>
                        </a:lnSpc>
                        <a:spcAft>
                          <a:spcPts val="0"/>
                        </a:spcAft>
                      </a:pPr>
                      <a:r>
                        <a:rPr lang="en-US"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9718" marR="49718" marT="0" marB="0">
                    <a:lnL>
                      <a:noFill/>
                    </a:lnL>
                    <a:lnR>
                      <a:noFill/>
                    </a:lnR>
                    <a:lnT>
                      <a:noFill/>
                    </a:lnT>
                    <a:lnB>
                      <a:noFill/>
                    </a:lnB>
                    <a:solidFill>
                      <a:srgbClr val="D9D9D9"/>
                    </a:solidFill>
                  </a:tcPr>
                </a:tc>
                <a:extLst>
                  <a:ext uri="{0D108BD9-81ED-4DB2-BD59-A6C34878D82A}">
                    <a16:rowId xmlns:a16="http://schemas.microsoft.com/office/drawing/2014/main" val="3509671360"/>
                  </a:ext>
                </a:extLst>
              </a:tr>
            </a:tbl>
          </a:graphicData>
        </a:graphic>
      </p:graphicFrame>
      <p:sp>
        <p:nvSpPr>
          <p:cNvPr id="10" name="文本框 9">
            <a:extLst>
              <a:ext uri="{FF2B5EF4-FFF2-40B4-BE49-F238E27FC236}">
                <a16:creationId xmlns:a16="http://schemas.microsoft.com/office/drawing/2014/main" id="{D7CC846A-65B7-BD87-E721-C7D6056BCEF6}"/>
              </a:ext>
            </a:extLst>
          </p:cNvPr>
          <p:cNvSpPr txBox="1"/>
          <p:nvPr/>
        </p:nvSpPr>
        <p:spPr>
          <a:xfrm>
            <a:off x="5102577" y="1420417"/>
            <a:ext cx="7089423" cy="2117246"/>
          </a:xfrm>
          <a:prstGeom prst="rect">
            <a:avLst/>
          </a:prstGeom>
          <a:noFill/>
        </p:spPr>
        <p:txBody>
          <a:bodyPr wrap="square">
            <a:spAutoFit/>
          </a:bodyPr>
          <a:lstStyle/>
          <a:p>
            <a:pPr>
              <a:lnSpc>
                <a:spcPct val="150000"/>
              </a:lnSpc>
            </a:pPr>
            <a:r>
              <a:rPr lang="en-US" altLang="zh-CN" b="1" dirty="0">
                <a:solidFill>
                  <a:srgbClr val="FF0000"/>
                </a:solidFill>
                <a:latin typeface="Times New Roman" panose="02020603050405020304" pitchFamily="18" charset="0"/>
                <a:cs typeface="Times New Roman" panose="02020603050405020304" pitchFamily="18" charset="0"/>
              </a:rPr>
              <a:t>sleep()</a:t>
            </a:r>
            <a:r>
              <a:rPr lang="zh-CN" altLang="en-US" b="1" dirty="0">
                <a:solidFill>
                  <a:srgbClr val="FF0000"/>
                </a:solidFill>
                <a:latin typeface="Times New Roman" panose="02020603050405020304" pitchFamily="18" charset="0"/>
                <a:cs typeface="Times New Roman" panose="02020603050405020304" pitchFamily="18" charset="0"/>
              </a:rPr>
              <a:t>和</a:t>
            </a:r>
            <a:r>
              <a:rPr lang="en-US" altLang="zh-CN" b="1" dirty="0">
                <a:solidFill>
                  <a:srgbClr val="FF0000"/>
                </a:solidFill>
                <a:latin typeface="Times New Roman" panose="02020603050405020304" pitchFamily="18" charset="0"/>
                <a:cs typeface="Times New Roman" panose="02020603050405020304" pitchFamily="18" charset="0"/>
              </a:rPr>
              <a:t>wait()</a:t>
            </a:r>
            <a:r>
              <a:rPr lang="zh-CN" altLang="en-US" b="1" dirty="0">
                <a:solidFill>
                  <a:srgbClr val="FF0000"/>
                </a:solidFill>
                <a:latin typeface="Times New Roman" panose="02020603050405020304" pitchFamily="18" charset="0"/>
                <a:cs typeface="Times New Roman" panose="02020603050405020304" pitchFamily="18" charset="0"/>
              </a:rPr>
              <a:t>区别？</a:t>
            </a:r>
            <a:endParaRPr lang="en-US" altLang="zh-CN" b="1"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zh-CN" altLang="en-US" b="1" dirty="0">
                <a:latin typeface="Times New Roman" panose="02020603050405020304" pitchFamily="18" charset="0"/>
                <a:cs typeface="Times New Roman" panose="02020603050405020304" pitchFamily="18" charset="0"/>
              </a:rPr>
              <a:t>查看进程详细信息</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ps –ajx</a:t>
            </a:r>
          </a:p>
          <a:p>
            <a:pPr>
              <a:lnSpc>
                <a:spcPct val="150000"/>
              </a:lnSpc>
            </a:pPr>
            <a:r>
              <a:rPr lang="zh-CN" altLang="en-US" b="1" dirty="0">
                <a:latin typeface="Times New Roman" panose="02020603050405020304" pitchFamily="18" charset="0"/>
                <a:cs typeface="Times New Roman" panose="02020603050405020304" pitchFamily="18" charset="0"/>
              </a:rPr>
              <a:t>查看虚拟内存状态</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vmstat 5</a:t>
            </a:r>
          </a:p>
          <a:p>
            <a:pPr>
              <a:lnSpc>
                <a:spcPct val="150000"/>
              </a:lnSpc>
            </a:pPr>
            <a:r>
              <a:rPr lang="zh-CN" altLang="en-US" b="1" dirty="0">
                <a:latin typeface="Times New Roman" panose="02020603050405020304" pitchFamily="18" charset="0"/>
                <a:cs typeface="Times New Roman" panose="02020603050405020304" pitchFamily="18" charset="0"/>
              </a:rPr>
              <a:t>查看进程状态</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pidstat –w 5</a:t>
            </a:r>
          </a:p>
          <a:p>
            <a:pPr>
              <a:lnSpc>
                <a:spcPct val="150000"/>
              </a:lnSpc>
            </a:pPr>
            <a:r>
              <a:rPr lang="zh-CN" altLang="en-US" b="1" dirty="0">
                <a:latin typeface="Times New Roman" panose="02020603050405020304" pitchFamily="18" charset="0"/>
                <a:cs typeface="Times New Roman" panose="02020603050405020304" pitchFamily="18" charset="0"/>
              </a:rPr>
              <a:t>进程状态</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R(</a:t>
            </a:r>
            <a:r>
              <a:rPr lang="zh-CN" altLang="en-US" dirty="0">
                <a:latin typeface="Times New Roman" panose="02020603050405020304" pitchFamily="18" charset="0"/>
                <a:cs typeface="Times New Roman" panose="02020603050405020304" pitchFamily="18" charset="0"/>
              </a:rPr>
              <a:t>运行</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S(</a:t>
            </a:r>
            <a:r>
              <a:rPr lang="zh-CN" altLang="en-US" dirty="0">
                <a:latin typeface="Times New Roman" panose="02020603050405020304" pitchFamily="18" charset="0"/>
                <a:cs typeface="Times New Roman" panose="02020603050405020304" pitchFamily="18" charset="0"/>
              </a:rPr>
              <a:t>休眠</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T(</a:t>
            </a:r>
            <a:r>
              <a:rPr lang="zh-CN" altLang="en-US" dirty="0">
                <a:latin typeface="Times New Roman" panose="02020603050405020304" pitchFamily="18" charset="0"/>
                <a:cs typeface="Times New Roman" panose="02020603050405020304" pitchFamily="18" charset="0"/>
              </a:rPr>
              <a:t>停止</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Z(</a:t>
            </a:r>
            <a:r>
              <a:rPr lang="zh-CN" altLang="en-US" dirty="0">
                <a:latin typeface="Times New Roman" panose="02020603050405020304" pitchFamily="18" charset="0"/>
                <a:cs typeface="Times New Roman" panose="02020603050405020304" pitchFamily="18" charset="0"/>
              </a:rPr>
              <a:t>僵尸</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、带</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号是前台运行</a:t>
            </a:r>
          </a:p>
        </p:txBody>
      </p:sp>
      <p:sp>
        <p:nvSpPr>
          <p:cNvPr id="5" name="文本框 4">
            <a:extLst>
              <a:ext uri="{FF2B5EF4-FFF2-40B4-BE49-F238E27FC236}">
                <a16:creationId xmlns:a16="http://schemas.microsoft.com/office/drawing/2014/main" id="{FDC1B9AB-6D26-F52C-E82D-0375E8ED0827}"/>
              </a:ext>
            </a:extLst>
          </p:cNvPr>
          <p:cNvSpPr txBox="1"/>
          <p:nvPr/>
        </p:nvSpPr>
        <p:spPr>
          <a:xfrm>
            <a:off x="5102576" y="3537663"/>
            <a:ext cx="7089423" cy="646331"/>
          </a:xfrm>
          <a:prstGeom prst="rect">
            <a:avLst/>
          </a:prstGeom>
          <a:noFill/>
        </p:spPr>
        <p:txBody>
          <a:bodyPr wrap="square">
            <a:spAutoFit/>
          </a:bodyPr>
          <a:lstStyle/>
          <a:p>
            <a:r>
              <a:rPr lang="zh-CN" altLang="en-US" b="1" dirty="0">
                <a:latin typeface="Times New Roman" panose="02020603050405020304" pitchFamily="18" charset="0"/>
                <a:cs typeface="Times New Roman" panose="02020603050405020304" pitchFamily="18" charset="0"/>
              </a:rPr>
              <a:t>https://lionheartwang.github.io/blog/2018/06/05/linuxjin-cheng-zhuang-tai-shuo-ming/</a:t>
            </a:r>
          </a:p>
        </p:txBody>
      </p:sp>
    </p:spTree>
    <p:extLst>
      <p:ext uri="{BB962C8B-B14F-4D97-AF65-F5344CB8AC3E}">
        <p14:creationId xmlns:p14="http://schemas.microsoft.com/office/powerpoint/2010/main" val="8140008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进程控制</a:t>
            </a:r>
            <a:endParaRPr lang="zh-CN" altLang="en-US">
              <a:latin typeface="+mj-ea"/>
              <a:ea typeface="+mj-ea"/>
            </a:endParaRPr>
          </a:p>
        </p:txBody>
      </p:sp>
      <p:sp>
        <p:nvSpPr>
          <p:cNvPr id="3" name="内容占位符 2"/>
          <p:cNvSpPr>
            <a:spLocks noGrp="1"/>
          </p:cNvSpPr>
          <p:nvPr>
            <p:ph idx="1"/>
          </p:nvPr>
        </p:nvSpPr>
        <p:spPr>
          <a:xfrm>
            <a:off x="838199" y="1510665"/>
            <a:ext cx="10558113" cy="5347335"/>
          </a:xfrm>
        </p:spPr>
        <p:txBody>
          <a:bodyPr>
            <a:normAutofit fontScale="97500"/>
          </a:bodyPr>
          <a:lstStyle/>
          <a:p>
            <a:r>
              <a:rPr lang="zh-CN" altLang="en-US" sz="2900">
                <a:solidFill>
                  <a:srgbClr val="0070C0"/>
                </a:solidFill>
                <a:ea typeface="+mn-ea"/>
                <a:sym typeface="+mn-ea"/>
              </a:rPr>
              <a:t>进程的终止</a:t>
            </a:r>
          </a:p>
          <a:p>
            <a:pPr lvl="1" algn="just">
              <a:buClrTx/>
              <a:buSzTx/>
              <a:buFont typeface="Wingdings" panose="05000000000000000000" pitchFamily="2" charset="2"/>
              <a:buChar char="ü"/>
            </a:pPr>
            <a:r>
              <a:rPr lang="zh-CN" altLang="en-US" sz="2500">
                <a:ea typeface="+mn-ea"/>
                <a:sym typeface="+mn-ea"/>
              </a:rPr>
              <a:t>引起进程终止的事件</a:t>
            </a:r>
          </a:p>
          <a:p>
            <a:pPr marL="914400" lvl="2" indent="0" algn="just">
              <a:buNone/>
            </a:pPr>
            <a:r>
              <a:rPr lang="en-US" altLang="zh-CN" sz="2100">
                <a:ea typeface="+mn-ea"/>
                <a:sym typeface="+mn-ea"/>
              </a:rPr>
              <a:t>(1)</a:t>
            </a:r>
            <a:r>
              <a:rPr lang="zh-CN" altLang="en-US" sz="2100">
                <a:ea typeface="+mn-ea"/>
                <a:sym typeface="+mn-ea"/>
              </a:rPr>
              <a:t>正常结束；</a:t>
            </a:r>
            <a:r>
              <a:rPr lang="en-US" altLang="zh-CN" sz="2100">
                <a:ea typeface="+mn-ea"/>
                <a:sym typeface="+mn-ea"/>
              </a:rPr>
              <a:t>(2)</a:t>
            </a:r>
            <a:r>
              <a:rPr lang="zh-CN" altLang="en-US" sz="2100">
                <a:ea typeface="+mn-ea"/>
                <a:sym typeface="+mn-ea"/>
              </a:rPr>
              <a:t>异常结束；</a:t>
            </a:r>
            <a:r>
              <a:rPr lang="en-US" altLang="zh-CN" sz="2100">
                <a:ea typeface="+mn-ea"/>
                <a:sym typeface="+mn-ea"/>
              </a:rPr>
              <a:t>(3)</a:t>
            </a:r>
            <a:r>
              <a:rPr lang="zh-CN" altLang="en-US" sz="2100">
                <a:ea typeface="+mn-ea"/>
                <a:sym typeface="+mn-ea"/>
              </a:rPr>
              <a:t>外界干预</a:t>
            </a:r>
            <a:endParaRPr lang="en-US" altLang="zh-CN" sz="2100">
              <a:ea typeface="+mn-ea"/>
              <a:sym typeface="+mn-ea"/>
            </a:endParaRPr>
          </a:p>
          <a:p>
            <a:pPr lvl="1" algn="just">
              <a:buClrTx/>
              <a:buSzTx/>
              <a:buFont typeface="Wingdings" panose="05000000000000000000" pitchFamily="2" charset="2"/>
              <a:buChar char="ü"/>
            </a:pPr>
            <a:r>
              <a:rPr lang="zh-CN" altLang="en-US" sz="2500">
                <a:ea typeface="+mn-ea"/>
                <a:sym typeface="+mn-ea"/>
              </a:rPr>
              <a:t>进程终止的过程</a:t>
            </a:r>
            <a:endParaRPr lang="en-US" altLang="zh-CN" sz="2500">
              <a:ea typeface="+mn-ea"/>
              <a:sym typeface="+mn-ea"/>
            </a:endParaRPr>
          </a:p>
          <a:p>
            <a:pPr marL="914400" lvl="2" indent="0" algn="just">
              <a:buNone/>
            </a:pPr>
            <a:r>
              <a:rPr lang="zh-CN" altLang="en-US" sz="2100">
                <a:ea typeface="+mn-ea"/>
                <a:sym typeface="+mn-ea"/>
              </a:rPr>
              <a:t>若系统中发生了要求终止进程的事件，</a:t>
            </a:r>
            <a:r>
              <a:rPr lang="en-US" altLang="zh-CN" sz="2100">
                <a:ea typeface="+mn-ea"/>
                <a:sym typeface="+mn-ea"/>
              </a:rPr>
              <a:t>OS</a:t>
            </a:r>
            <a:r>
              <a:rPr lang="zh-CN" altLang="en-US" sz="2100">
                <a:ea typeface="+mn-ea"/>
                <a:sym typeface="+mn-ea"/>
              </a:rPr>
              <a:t>便调用进程终止原语，按步骤终止指定进程：</a:t>
            </a:r>
            <a:r>
              <a:rPr lang="en-US" altLang="zh-CN" sz="2100">
                <a:ea typeface="+mn-ea"/>
                <a:sym typeface="+mn-ea"/>
              </a:rPr>
              <a:t>(1)</a:t>
            </a:r>
            <a:r>
              <a:rPr lang="zh-CN" altLang="en-US" sz="2100">
                <a:ea typeface="+mn-ea"/>
                <a:sym typeface="+mn-ea"/>
              </a:rPr>
              <a:t>根据被终止进程的标识符，从</a:t>
            </a:r>
            <a:r>
              <a:rPr lang="en-US" altLang="zh-CN" sz="2100">
                <a:ea typeface="+mn-ea"/>
                <a:sym typeface="+mn-ea"/>
              </a:rPr>
              <a:t>PCB</a:t>
            </a:r>
            <a:r>
              <a:rPr lang="zh-CN" altLang="en-US" sz="2100">
                <a:ea typeface="+mn-ea"/>
                <a:sym typeface="+mn-ea"/>
              </a:rPr>
              <a:t>集合中检索出该进程的</a:t>
            </a:r>
            <a:r>
              <a:rPr lang="en-US" altLang="zh-CN" sz="2100">
                <a:ea typeface="+mn-ea"/>
                <a:sym typeface="+mn-ea"/>
              </a:rPr>
              <a:t>PCB</a:t>
            </a:r>
            <a:r>
              <a:rPr lang="zh-CN" altLang="en-US" sz="2100">
                <a:ea typeface="+mn-ea"/>
                <a:sym typeface="+mn-ea"/>
              </a:rPr>
              <a:t>，从中读出该进程的状态；</a:t>
            </a:r>
            <a:r>
              <a:rPr lang="en-US" altLang="zh-CN" sz="2100">
                <a:ea typeface="+mn-ea"/>
                <a:sym typeface="+mn-ea"/>
              </a:rPr>
              <a:t>(2)</a:t>
            </a:r>
            <a:r>
              <a:rPr lang="zh-CN" altLang="en-US" sz="2100">
                <a:ea typeface="+mn-ea"/>
                <a:sym typeface="+mn-ea"/>
              </a:rPr>
              <a:t>若被终止进程正处于执行状态，应立即终止该进程的执行，并置调度标志为真，用于指示该进程被终止后应重新进行调度；</a:t>
            </a:r>
            <a:r>
              <a:rPr lang="en-US" altLang="zh-CN" sz="2100">
                <a:ea typeface="+mn-ea"/>
                <a:sym typeface="+mn-ea"/>
              </a:rPr>
              <a:t>(3)</a:t>
            </a:r>
            <a:r>
              <a:rPr lang="zh-CN" altLang="en-US" sz="2100">
                <a:ea typeface="+mn-ea"/>
                <a:sym typeface="+mn-ea"/>
              </a:rPr>
              <a:t>若该进程还有子孙进程，还应将其所有子孙进程也都予以终止，以防它们成为不可控的进程；</a:t>
            </a:r>
            <a:r>
              <a:rPr lang="en-US" altLang="zh-CN" sz="2100">
                <a:ea typeface="+mn-ea"/>
                <a:sym typeface="+mn-ea"/>
              </a:rPr>
              <a:t>(4)</a:t>
            </a:r>
            <a:r>
              <a:rPr lang="zh-CN" altLang="en-US" sz="2100">
                <a:ea typeface="+mn-ea"/>
                <a:sym typeface="+mn-ea"/>
              </a:rPr>
              <a:t>将被终止进程所拥有的全部资源或者归还给其父进程，或者归还给系统；</a:t>
            </a:r>
            <a:r>
              <a:rPr lang="en-US" altLang="zh-CN" sz="2100">
                <a:ea typeface="+mn-ea"/>
                <a:sym typeface="+mn-ea"/>
              </a:rPr>
              <a:t>(5)</a:t>
            </a:r>
            <a:r>
              <a:rPr lang="zh-CN" altLang="en-US" sz="2100">
                <a:ea typeface="+mn-ea"/>
                <a:sym typeface="+mn-ea"/>
              </a:rPr>
              <a:t>将被终止进程</a:t>
            </a:r>
            <a:r>
              <a:rPr lang="en-US" altLang="zh-CN" sz="2100">
                <a:ea typeface="+mn-ea"/>
                <a:sym typeface="+mn-ea"/>
              </a:rPr>
              <a:t>(PCB)</a:t>
            </a:r>
            <a:r>
              <a:rPr lang="zh-CN" altLang="en-US" sz="2100">
                <a:ea typeface="+mn-ea"/>
                <a:sym typeface="+mn-ea"/>
              </a:rPr>
              <a:t>从所在队列</a:t>
            </a:r>
            <a:r>
              <a:rPr lang="en-US" altLang="zh-CN" sz="2100">
                <a:ea typeface="+mn-ea"/>
                <a:sym typeface="+mn-ea"/>
              </a:rPr>
              <a:t>(</a:t>
            </a:r>
            <a:r>
              <a:rPr lang="zh-CN" altLang="en-US" sz="2100">
                <a:ea typeface="+mn-ea"/>
                <a:sym typeface="+mn-ea"/>
              </a:rPr>
              <a:t>或链表</a:t>
            </a:r>
            <a:r>
              <a:rPr lang="en-US" altLang="zh-CN" sz="2100">
                <a:ea typeface="+mn-ea"/>
                <a:sym typeface="+mn-ea"/>
              </a:rPr>
              <a:t>)</a:t>
            </a:r>
            <a:r>
              <a:rPr lang="zh-CN" altLang="en-US" sz="2100">
                <a:ea typeface="+mn-ea"/>
                <a:sym typeface="+mn-ea"/>
              </a:rPr>
              <a:t>中移出，等待其它程序来搜集信息。</a:t>
            </a:r>
            <a:endParaRPr lang="en-US" altLang="zh-CN" sz="2100">
              <a:ea typeface="+mn-ea"/>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30</a:t>
            </a:fld>
            <a:endParaRPr kumimoji="1" lang="zh-CN" altLang="en-US"/>
          </a:p>
        </p:txBody>
      </p:sp>
    </p:spTree>
    <p:extLst>
      <p:ext uri="{BB962C8B-B14F-4D97-AF65-F5344CB8AC3E}">
        <p14:creationId xmlns:p14="http://schemas.microsoft.com/office/powerpoint/2010/main" val="19244488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进程控制</a:t>
            </a:r>
            <a:endParaRPr lang="zh-CN" altLang="en-US">
              <a:latin typeface="+mj-ea"/>
              <a:ea typeface="+mj-ea"/>
            </a:endParaRPr>
          </a:p>
        </p:txBody>
      </p:sp>
      <p:sp>
        <p:nvSpPr>
          <p:cNvPr id="3" name="内容占位符 2"/>
          <p:cNvSpPr>
            <a:spLocks noGrp="1"/>
          </p:cNvSpPr>
          <p:nvPr>
            <p:ph idx="1"/>
          </p:nvPr>
        </p:nvSpPr>
        <p:spPr>
          <a:xfrm>
            <a:off x="838199" y="1510665"/>
            <a:ext cx="10558113" cy="5347335"/>
          </a:xfrm>
        </p:spPr>
        <p:txBody>
          <a:bodyPr>
            <a:normAutofit fontScale="97500"/>
          </a:bodyPr>
          <a:lstStyle/>
          <a:p>
            <a:r>
              <a:rPr lang="zh-CN" altLang="en-US" sz="2900">
                <a:solidFill>
                  <a:srgbClr val="0070C0"/>
                </a:solidFill>
                <a:ea typeface="+mn-ea"/>
                <a:sym typeface="+mn-ea"/>
              </a:rPr>
              <a:t>进程的阻塞与唤醒</a:t>
            </a:r>
          </a:p>
          <a:p>
            <a:pPr lvl="1" algn="just">
              <a:buClrTx/>
              <a:buSzTx/>
              <a:buFont typeface="Wingdings" panose="05000000000000000000" pitchFamily="2" charset="2"/>
              <a:buChar char="ü"/>
            </a:pPr>
            <a:r>
              <a:rPr lang="zh-CN" altLang="en-US" sz="2500">
                <a:ea typeface="+mn-ea"/>
                <a:sym typeface="+mn-ea"/>
              </a:rPr>
              <a:t>引起进程阻塞和唤醒的事件</a:t>
            </a:r>
          </a:p>
          <a:p>
            <a:pPr marL="914400" lvl="2" indent="0" algn="just">
              <a:buNone/>
            </a:pPr>
            <a:r>
              <a:rPr lang="en-US" altLang="zh-CN" sz="2100">
                <a:ea typeface="+mn-ea"/>
                <a:sym typeface="+mn-ea"/>
              </a:rPr>
              <a:t>(1)</a:t>
            </a:r>
            <a:r>
              <a:rPr lang="zh-CN" altLang="en-US" sz="2100">
                <a:ea typeface="+mn-ea"/>
                <a:sym typeface="+mn-ea"/>
              </a:rPr>
              <a:t>向系统请求共享资源失败；</a:t>
            </a:r>
            <a:r>
              <a:rPr lang="en-US" altLang="zh-CN" sz="2100">
                <a:ea typeface="+mn-ea"/>
                <a:sym typeface="+mn-ea"/>
              </a:rPr>
              <a:t>(2)</a:t>
            </a:r>
            <a:r>
              <a:rPr lang="zh-CN" altLang="en-US" sz="2100">
                <a:ea typeface="+mn-ea"/>
                <a:sym typeface="+mn-ea"/>
              </a:rPr>
              <a:t>等待某种操作的完成；</a:t>
            </a:r>
            <a:r>
              <a:rPr lang="en-US" altLang="zh-CN" sz="2100">
                <a:ea typeface="+mn-ea"/>
                <a:sym typeface="+mn-ea"/>
              </a:rPr>
              <a:t>(3)</a:t>
            </a:r>
            <a:r>
              <a:rPr lang="zh-CN" altLang="en-US" sz="2100">
                <a:ea typeface="+mn-ea"/>
                <a:sym typeface="+mn-ea"/>
              </a:rPr>
              <a:t>新数据尚未到达；</a:t>
            </a:r>
            <a:r>
              <a:rPr lang="en-US" altLang="zh-CN" sz="2100">
                <a:ea typeface="+mn-ea"/>
                <a:sym typeface="+mn-ea"/>
              </a:rPr>
              <a:t>(4)</a:t>
            </a:r>
            <a:r>
              <a:rPr lang="zh-CN" altLang="en-US" sz="2100">
                <a:ea typeface="+mn-ea"/>
                <a:sym typeface="+mn-ea"/>
              </a:rPr>
              <a:t>等待新任务的到达。</a:t>
            </a:r>
            <a:endParaRPr lang="en-US" altLang="zh-CN" sz="2100">
              <a:ea typeface="+mn-ea"/>
              <a:sym typeface="+mn-ea"/>
            </a:endParaRPr>
          </a:p>
          <a:p>
            <a:pPr lvl="1">
              <a:buClrTx/>
              <a:buSzTx/>
              <a:buFont typeface="Wingdings" panose="05000000000000000000" pitchFamily="2" charset="2"/>
              <a:buChar char="ü"/>
            </a:pPr>
            <a:r>
              <a:rPr lang="zh-CN" altLang="en-US" sz="2500">
                <a:ea typeface="+mn-ea"/>
                <a:sym typeface="+mn-ea"/>
              </a:rPr>
              <a:t>进程阻塞过程</a:t>
            </a:r>
            <a:endParaRPr lang="en-US" altLang="zh-CN" sz="2500">
              <a:ea typeface="+mn-ea"/>
              <a:sym typeface="+mn-ea"/>
            </a:endParaRPr>
          </a:p>
          <a:p>
            <a:pPr marL="914400" lvl="2" indent="0" algn="just">
              <a:buNone/>
            </a:pPr>
            <a:r>
              <a:rPr lang="zh-CN" altLang="en-US" sz="2100">
                <a:ea typeface="+mn-ea"/>
                <a:sym typeface="+mn-ea"/>
              </a:rPr>
              <a:t>正在执行进程，如发生前述某事件，进程便通过调用阻塞原语</a:t>
            </a:r>
            <a:r>
              <a:rPr lang="en-US" altLang="zh-CN" sz="2100">
                <a:ea typeface="+mn-ea"/>
                <a:sym typeface="+mn-ea"/>
              </a:rPr>
              <a:t>block</a:t>
            </a:r>
            <a:r>
              <a:rPr lang="zh-CN" altLang="en-US" sz="2100">
                <a:ea typeface="+mn-ea"/>
                <a:sym typeface="+mn-ea"/>
              </a:rPr>
              <a:t>将自己阻塞。可见，阻塞是进程自身的一种主动行为。进入</a:t>
            </a:r>
            <a:r>
              <a:rPr lang="en-US" altLang="zh-CN" sz="2100">
                <a:ea typeface="+mn-ea"/>
                <a:sym typeface="+mn-ea"/>
              </a:rPr>
              <a:t>block</a:t>
            </a:r>
            <a:r>
              <a:rPr lang="zh-CN" altLang="en-US" sz="2100">
                <a:ea typeface="+mn-ea"/>
                <a:sym typeface="+mn-ea"/>
              </a:rPr>
              <a:t>过程后，由于该进程还处于执行状态，所以应先立即停止执行，把进程控制块中的现行状态由“执行”改为阻塞，并将</a:t>
            </a:r>
            <a:r>
              <a:rPr lang="en-US" altLang="zh-CN" sz="2100">
                <a:ea typeface="+mn-ea"/>
                <a:sym typeface="+mn-ea"/>
              </a:rPr>
              <a:t>PCB</a:t>
            </a:r>
            <a:r>
              <a:rPr lang="zh-CN" altLang="en-US" sz="2100">
                <a:ea typeface="+mn-ea"/>
                <a:sym typeface="+mn-ea"/>
              </a:rPr>
              <a:t>插入阻塞队列。若系统中设置了因不同事件而阻塞的多个阻塞队列，则应将本进程插入到具有相同事件的阻塞队列。最后，转调度程序进行重新调度，将处理机分配给另一就绪进程，并进行切换，亦即，保留被阻塞进程的处理机状态，按新进程的</a:t>
            </a:r>
            <a:r>
              <a:rPr lang="en-US" altLang="zh-CN" sz="2100">
                <a:ea typeface="+mn-ea"/>
                <a:sym typeface="+mn-ea"/>
              </a:rPr>
              <a:t>PCB</a:t>
            </a:r>
            <a:r>
              <a:rPr lang="zh-CN" altLang="en-US" sz="2100">
                <a:ea typeface="+mn-ea"/>
                <a:sym typeface="+mn-ea"/>
              </a:rPr>
              <a:t>中的处理机状态设置</a:t>
            </a:r>
            <a:r>
              <a:rPr lang="en-US" altLang="zh-CN" sz="2100">
                <a:ea typeface="+mn-ea"/>
                <a:sym typeface="+mn-ea"/>
              </a:rPr>
              <a:t>CPU</a:t>
            </a:r>
            <a:r>
              <a:rPr lang="zh-CN" altLang="en-US" sz="2100">
                <a:ea typeface="+mn-ea"/>
                <a:sym typeface="+mn-ea"/>
              </a:rPr>
              <a:t>的环境。</a:t>
            </a:r>
            <a:endParaRPr lang="en-US" altLang="zh-CN" sz="2100">
              <a:ea typeface="+mn-ea"/>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31</a:t>
            </a:fld>
            <a:endParaRPr kumimoji="1" lang="zh-CN" altLang="en-US"/>
          </a:p>
        </p:txBody>
      </p:sp>
    </p:spTree>
    <p:extLst>
      <p:ext uri="{BB962C8B-B14F-4D97-AF65-F5344CB8AC3E}">
        <p14:creationId xmlns:p14="http://schemas.microsoft.com/office/powerpoint/2010/main" val="31927040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进程控制</a:t>
            </a:r>
            <a:endParaRPr lang="zh-CN" altLang="en-US">
              <a:latin typeface="+mj-ea"/>
              <a:ea typeface="+mj-ea"/>
            </a:endParaRPr>
          </a:p>
        </p:txBody>
      </p:sp>
      <p:sp>
        <p:nvSpPr>
          <p:cNvPr id="3" name="内容占位符 2"/>
          <p:cNvSpPr>
            <a:spLocks noGrp="1"/>
          </p:cNvSpPr>
          <p:nvPr>
            <p:ph idx="1"/>
          </p:nvPr>
        </p:nvSpPr>
        <p:spPr>
          <a:xfrm>
            <a:off x="838199" y="1510665"/>
            <a:ext cx="10558113" cy="5347335"/>
          </a:xfrm>
        </p:spPr>
        <p:txBody>
          <a:bodyPr>
            <a:normAutofit fontScale="97500"/>
          </a:bodyPr>
          <a:lstStyle/>
          <a:p>
            <a:r>
              <a:rPr lang="zh-CN" altLang="en-US" sz="2900">
                <a:solidFill>
                  <a:srgbClr val="0070C0"/>
                </a:solidFill>
                <a:ea typeface="+mn-ea"/>
                <a:sym typeface="+mn-ea"/>
              </a:rPr>
              <a:t>进程的阻塞与唤醒</a:t>
            </a:r>
          </a:p>
          <a:p>
            <a:pPr lvl="1" algn="just">
              <a:buClrTx/>
              <a:buSzTx/>
              <a:buFont typeface="Wingdings" panose="05000000000000000000" pitchFamily="2" charset="2"/>
              <a:buChar char="ü"/>
            </a:pPr>
            <a:r>
              <a:rPr lang="zh-CN" altLang="en-US" sz="2500">
                <a:ea typeface="+mn-ea"/>
                <a:sym typeface="+mn-ea"/>
              </a:rPr>
              <a:t>进程唤醒过程</a:t>
            </a:r>
          </a:p>
          <a:p>
            <a:pPr marL="914400" lvl="2" indent="0" algn="just">
              <a:buNone/>
            </a:pPr>
            <a:r>
              <a:rPr lang="zh-CN" altLang="en-US" sz="2100">
                <a:ea typeface="+mn-ea"/>
                <a:sym typeface="+mn-ea"/>
              </a:rPr>
              <a:t>当被阻塞进程所期待的事件发生时，如它所启动的</a:t>
            </a:r>
            <a:r>
              <a:rPr lang="en-US" altLang="zh-CN" sz="2100">
                <a:ea typeface="+mn-ea"/>
                <a:sym typeface="+mn-ea"/>
              </a:rPr>
              <a:t>I/O</a:t>
            </a:r>
            <a:r>
              <a:rPr lang="zh-CN" altLang="en-US" sz="2100">
                <a:ea typeface="+mn-ea"/>
                <a:sym typeface="+mn-ea"/>
              </a:rPr>
              <a:t>操作已完成，或其所期待的数据已经到达，则由有关进程</a:t>
            </a:r>
            <a:r>
              <a:rPr lang="en-US" altLang="zh-CN" sz="2100">
                <a:ea typeface="+mn-ea"/>
                <a:sym typeface="+mn-ea"/>
              </a:rPr>
              <a:t>(</a:t>
            </a:r>
            <a:r>
              <a:rPr lang="zh-CN" altLang="en-US" sz="2100">
                <a:ea typeface="+mn-ea"/>
                <a:sym typeface="+mn-ea"/>
              </a:rPr>
              <a:t>比如提供数据的进程</a:t>
            </a:r>
            <a:r>
              <a:rPr lang="en-US" altLang="zh-CN" sz="2100">
                <a:ea typeface="+mn-ea"/>
                <a:sym typeface="+mn-ea"/>
              </a:rPr>
              <a:t>)</a:t>
            </a:r>
            <a:r>
              <a:rPr lang="zh-CN" altLang="en-US" sz="2100">
                <a:ea typeface="+mn-ea"/>
                <a:sym typeface="+mn-ea"/>
              </a:rPr>
              <a:t>调用唤醒原语</a:t>
            </a:r>
            <a:r>
              <a:rPr lang="en-US" altLang="zh-CN" sz="2100">
                <a:ea typeface="+mn-ea"/>
                <a:sym typeface="+mn-ea"/>
              </a:rPr>
              <a:t>wakeup</a:t>
            </a:r>
            <a:r>
              <a:rPr lang="zh-CN" altLang="en-US" sz="2100">
                <a:ea typeface="+mn-ea"/>
                <a:sym typeface="+mn-ea"/>
              </a:rPr>
              <a:t>，将等待该事件的进程唤醒。</a:t>
            </a:r>
            <a:r>
              <a:rPr lang="en-US" altLang="zh-CN" sz="2100">
                <a:ea typeface="+mn-ea"/>
                <a:sym typeface="+mn-ea"/>
              </a:rPr>
              <a:t>wakeup</a:t>
            </a:r>
            <a:r>
              <a:rPr lang="zh-CN" altLang="en-US" sz="2100">
                <a:ea typeface="+mn-ea"/>
                <a:sym typeface="+mn-ea"/>
              </a:rPr>
              <a:t>执行的过程是：首先把被阻塞的进程从等待该事件的阻塞队列中移出，将其</a:t>
            </a:r>
            <a:r>
              <a:rPr lang="en-US" altLang="zh-CN" sz="2100">
                <a:ea typeface="+mn-ea"/>
                <a:sym typeface="+mn-ea"/>
              </a:rPr>
              <a:t>PCB</a:t>
            </a:r>
            <a:r>
              <a:rPr lang="zh-CN" altLang="en-US" sz="2100">
                <a:ea typeface="+mn-ea"/>
                <a:sym typeface="+mn-ea"/>
              </a:rPr>
              <a:t>中的现行状态由阻塞改为就绪，然后再将该</a:t>
            </a:r>
            <a:r>
              <a:rPr lang="en-US" altLang="zh-CN" sz="2100">
                <a:ea typeface="+mn-ea"/>
                <a:sym typeface="+mn-ea"/>
              </a:rPr>
              <a:t>PCB</a:t>
            </a:r>
            <a:r>
              <a:rPr lang="zh-CN" altLang="en-US" sz="2100">
                <a:ea typeface="+mn-ea"/>
                <a:sym typeface="+mn-ea"/>
              </a:rPr>
              <a:t>插入到就绪队列中。</a:t>
            </a:r>
            <a:endParaRPr lang="en-US" altLang="zh-CN" sz="2100">
              <a:ea typeface="+mn-ea"/>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32</a:t>
            </a:fld>
            <a:endParaRPr kumimoji="1" lang="zh-CN" altLang="en-US"/>
          </a:p>
        </p:txBody>
      </p:sp>
    </p:spTree>
    <p:extLst>
      <p:ext uri="{BB962C8B-B14F-4D97-AF65-F5344CB8AC3E}">
        <p14:creationId xmlns:p14="http://schemas.microsoft.com/office/powerpoint/2010/main" val="1269820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进程控制</a:t>
            </a:r>
            <a:endParaRPr lang="zh-CN" altLang="en-US">
              <a:latin typeface="+mj-ea"/>
              <a:ea typeface="+mj-ea"/>
            </a:endParaRPr>
          </a:p>
        </p:txBody>
      </p:sp>
      <p:sp>
        <p:nvSpPr>
          <p:cNvPr id="3" name="内容占位符 2"/>
          <p:cNvSpPr>
            <a:spLocks noGrp="1"/>
          </p:cNvSpPr>
          <p:nvPr>
            <p:ph idx="1"/>
          </p:nvPr>
        </p:nvSpPr>
        <p:spPr>
          <a:xfrm>
            <a:off x="838199" y="1510665"/>
            <a:ext cx="10558113" cy="5347335"/>
          </a:xfrm>
        </p:spPr>
        <p:txBody>
          <a:bodyPr>
            <a:normAutofit fontScale="97500"/>
          </a:bodyPr>
          <a:lstStyle/>
          <a:p>
            <a:r>
              <a:rPr lang="zh-CN" altLang="en-US" sz="2900">
                <a:solidFill>
                  <a:srgbClr val="0070C0"/>
                </a:solidFill>
                <a:sym typeface="+mn-ea"/>
              </a:rPr>
              <a:t>进程的挂起与激活</a:t>
            </a:r>
          </a:p>
          <a:p>
            <a:pPr lvl="1" algn="just">
              <a:buClrTx/>
              <a:buSzTx/>
              <a:buFont typeface="Wingdings" panose="05000000000000000000" pitchFamily="2" charset="2"/>
              <a:buChar char="ü"/>
            </a:pPr>
            <a:r>
              <a:rPr lang="zh-CN" altLang="en-US" sz="2500">
                <a:sym typeface="+mn-ea"/>
              </a:rPr>
              <a:t>进程的挂起</a:t>
            </a:r>
          </a:p>
          <a:p>
            <a:pPr lvl="1">
              <a:buClrTx/>
              <a:buSzTx/>
              <a:buFont typeface="Wingdings" panose="05000000000000000000" pitchFamily="2" charset="2"/>
              <a:buChar char="ü"/>
            </a:pPr>
            <a:r>
              <a:rPr lang="zh-CN" altLang="en-US" sz="2500">
                <a:sym typeface="+mn-ea"/>
              </a:rPr>
              <a:t>进程的激活</a:t>
            </a:r>
            <a:endParaRPr lang="en-US" altLang="zh-CN" sz="25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33</a:t>
            </a:fld>
            <a:endParaRPr kumimoji="1" lang="zh-CN" altLang="en-US"/>
          </a:p>
        </p:txBody>
      </p:sp>
    </p:spTree>
    <p:extLst>
      <p:ext uri="{BB962C8B-B14F-4D97-AF65-F5344CB8AC3E}">
        <p14:creationId xmlns:p14="http://schemas.microsoft.com/office/powerpoint/2010/main" val="29989256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a:latin typeface="+mj-ea"/>
                <a:ea typeface="+mj-ea"/>
              </a:rPr>
              <a:t>进程同步</a:t>
            </a:r>
            <a:endParaRPr lang="zh-CN" altLang="en-US">
              <a:latin typeface="+mj-ea"/>
              <a:ea typeface="+mj-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34</a:t>
            </a:fld>
            <a:endParaRPr kumimoji="1" lang="zh-CN" altLang="en-US"/>
          </a:p>
        </p:txBody>
      </p:sp>
      <p:sp>
        <p:nvSpPr>
          <p:cNvPr id="7" name="内容占位符 2">
            <a:extLst>
              <a:ext uri="{FF2B5EF4-FFF2-40B4-BE49-F238E27FC236}">
                <a16:creationId xmlns:a16="http://schemas.microsoft.com/office/drawing/2014/main" id="{9D92D4E2-6C4F-4C7F-BE55-679E83969E59}"/>
              </a:ext>
            </a:extLst>
          </p:cNvPr>
          <p:cNvSpPr>
            <a:spLocks noGrp="1"/>
          </p:cNvSpPr>
          <p:nvPr>
            <p:ph idx="1"/>
          </p:nvPr>
        </p:nvSpPr>
        <p:spPr>
          <a:xfrm>
            <a:off x="838200" y="1510758"/>
            <a:ext cx="10515600" cy="4586694"/>
          </a:xfrm>
        </p:spPr>
        <p:txBody>
          <a:bodyPr>
            <a:normAutofit/>
          </a:bodyPr>
          <a:lstStyle/>
          <a:p>
            <a:pPr marL="0" indent="0" algn="just">
              <a:buNone/>
            </a:pPr>
            <a:r>
              <a:rPr lang="zh-CN" altLang="en-US" sz="2400">
                <a:solidFill>
                  <a:schemeClr val="accent6">
                    <a:lumMod val="50000"/>
                  </a:schemeClr>
                </a:solidFill>
              </a:rPr>
              <a:t>        在</a:t>
            </a:r>
            <a:r>
              <a:rPr lang="en-US" altLang="zh-CN" sz="2400">
                <a:solidFill>
                  <a:schemeClr val="accent6">
                    <a:lumMod val="50000"/>
                  </a:schemeClr>
                </a:solidFill>
              </a:rPr>
              <a:t>OS</a:t>
            </a:r>
            <a:r>
              <a:rPr lang="zh-CN" altLang="en-US" sz="2400">
                <a:solidFill>
                  <a:schemeClr val="accent6">
                    <a:lumMod val="50000"/>
                  </a:schemeClr>
                </a:solidFill>
              </a:rPr>
              <a:t>中引入进程后，一方面可以使系统中的多道程序并发执行，这不仅能有效地</a:t>
            </a:r>
            <a:r>
              <a:rPr lang="zh-CN" altLang="en-US" sz="2400" b="1">
                <a:solidFill>
                  <a:srgbClr val="FF0000"/>
                </a:solidFill>
              </a:rPr>
              <a:t>改善资源利用率</a:t>
            </a:r>
            <a:r>
              <a:rPr lang="zh-CN" altLang="en-US" sz="2400">
                <a:solidFill>
                  <a:schemeClr val="accent6">
                    <a:lumMod val="50000"/>
                  </a:schemeClr>
                </a:solidFill>
              </a:rPr>
              <a:t>，还可显著地</a:t>
            </a:r>
            <a:r>
              <a:rPr lang="zh-CN" altLang="en-US" sz="2400" b="1">
                <a:solidFill>
                  <a:srgbClr val="FF0000"/>
                </a:solidFill>
              </a:rPr>
              <a:t>提高系统吞吐量</a:t>
            </a:r>
            <a:r>
              <a:rPr lang="zh-CN" altLang="en-US" sz="2400">
                <a:solidFill>
                  <a:schemeClr val="accent6">
                    <a:lumMod val="50000"/>
                  </a:schemeClr>
                </a:solidFill>
              </a:rPr>
              <a:t>，但另一方面却</a:t>
            </a:r>
            <a:r>
              <a:rPr lang="zh-CN" altLang="en-US" sz="2400" b="1">
                <a:solidFill>
                  <a:srgbClr val="FF0000"/>
                </a:solidFill>
              </a:rPr>
              <a:t>使系统变得更加复杂</a:t>
            </a:r>
            <a:r>
              <a:rPr lang="zh-CN" altLang="en-US" sz="2400">
                <a:solidFill>
                  <a:schemeClr val="accent6">
                    <a:lumMod val="50000"/>
                  </a:schemeClr>
                </a:solidFill>
              </a:rPr>
              <a:t>。如果不能采取有效的措施，对多个进程的运行进行妥善的管理，必然会因为这些进程对系统资源的无序争夺给系统造成混乱。致使每次处理的结果存在着不确定性，即显现出其不可再现性。</a:t>
            </a:r>
          </a:p>
        </p:txBody>
      </p:sp>
    </p:spTree>
    <p:extLst>
      <p:ext uri="{BB962C8B-B14F-4D97-AF65-F5344CB8AC3E}">
        <p14:creationId xmlns:p14="http://schemas.microsoft.com/office/powerpoint/2010/main" val="3410104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进程同步</a:t>
            </a:r>
            <a:endParaRPr lang="zh-CN" altLang="en-US">
              <a:latin typeface="+mj-ea"/>
              <a:ea typeface="+mj-ea"/>
            </a:endParaRPr>
          </a:p>
        </p:txBody>
      </p:sp>
      <p:sp>
        <p:nvSpPr>
          <p:cNvPr id="3" name="内容占位符 2"/>
          <p:cNvSpPr>
            <a:spLocks noGrp="1"/>
          </p:cNvSpPr>
          <p:nvPr>
            <p:ph idx="1"/>
          </p:nvPr>
        </p:nvSpPr>
        <p:spPr>
          <a:xfrm>
            <a:off x="838199" y="1510665"/>
            <a:ext cx="10558113" cy="5347335"/>
          </a:xfrm>
        </p:spPr>
        <p:txBody>
          <a:bodyPr>
            <a:normAutofit fontScale="97500"/>
          </a:bodyPr>
          <a:lstStyle/>
          <a:p>
            <a:r>
              <a:rPr lang="zh-CN" altLang="en-US" sz="2900">
                <a:solidFill>
                  <a:srgbClr val="0070C0"/>
                </a:solidFill>
                <a:ea typeface="+mn-ea"/>
                <a:sym typeface="+mn-ea"/>
              </a:rPr>
              <a:t>进程同步的基本概念</a:t>
            </a:r>
          </a:p>
          <a:p>
            <a:pPr lvl="1" algn="just">
              <a:buClrTx/>
              <a:buSzTx/>
              <a:buFont typeface="Wingdings" panose="05000000000000000000" pitchFamily="2" charset="2"/>
              <a:buChar char="ü"/>
            </a:pPr>
            <a:r>
              <a:rPr lang="zh-CN" altLang="en-US" sz="2500">
                <a:ea typeface="+mn-ea"/>
                <a:sym typeface="+mn-ea"/>
              </a:rPr>
              <a:t>两种形式的制约关系</a:t>
            </a:r>
          </a:p>
          <a:p>
            <a:pPr marL="914400" lvl="2" indent="0" algn="just">
              <a:buNone/>
            </a:pPr>
            <a:r>
              <a:rPr lang="en-US" altLang="zh-CN" sz="2100">
                <a:ea typeface="+mn-ea"/>
                <a:sym typeface="+mn-ea"/>
              </a:rPr>
              <a:t>(1)</a:t>
            </a:r>
            <a:r>
              <a:rPr lang="zh-CN" altLang="en-US" sz="2100">
                <a:ea typeface="+mn-ea"/>
                <a:sym typeface="+mn-ea"/>
              </a:rPr>
              <a:t>间接相互制约关系，进程互斥；</a:t>
            </a:r>
            <a:r>
              <a:rPr lang="en-US" altLang="zh-CN" sz="2100">
                <a:ea typeface="+mn-ea"/>
                <a:sym typeface="+mn-ea"/>
              </a:rPr>
              <a:t>(2)</a:t>
            </a:r>
            <a:r>
              <a:rPr lang="zh-CN" altLang="en-US" sz="2100">
                <a:ea typeface="+mn-ea"/>
                <a:sym typeface="+mn-ea"/>
              </a:rPr>
              <a:t>直接相互制约关系，进程同步。</a:t>
            </a:r>
            <a:endParaRPr lang="en-US" altLang="zh-CN" sz="2100">
              <a:ea typeface="+mn-ea"/>
              <a:sym typeface="+mn-ea"/>
            </a:endParaRPr>
          </a:p>
          <a:p>
            <a:pPr lvl="1">
              <a:buClrTx/>
              <a:buSzTx/>
              <a:buFont typeface="Wingdings" panose="05000000000000000000" pitchFamily="2" charset="2"/>
              <a:buChar char="ü"/>
            </a:pPr>
            <a:r>
              <a:rPr lang="zh-CN" altLang="en-US" sz="2500">
                <a:ea typeface="+mn-ea"/>
                <a:sym typeface="+mn-ea"/>
              </a:rPr>
              <a:t>临界资源</a:t>
            </a:r>
            <a:endParaRPr lang="en-US" altLang="zh-CN" sz="2500">
              <a:ea typeface="+mn-ea"/>
              <a:sym typeface="+mn-ea"/>
            </a:endParaRPr>
          </a:p>
          <a:p>
            <a:pPr marL="914400" lvl="2" indent="0" algn="just">
              <a:buNone/>
            </a:pPr>
            <a:r>
              <a:rPr lang="zh-CN" altLang="en-US" sz="2100">
                <a:ea typeface="+mn-ea"/>
                <a:sym typeface="+mn-ea"/>
              </a:rPr>
              <a:t>诸如硬件资源如打印机、 磁带机等，都属于临界资源，诸进程间应采取互斥方式，实现对这种资源的共享。</a:t>
            </a:r>
            <a:endParaRPr lang="en-US" altLang="zh-CN" sz="2100">
              <a:ea typeface="+mn-ea"/>
              <a:sym typeface="+mn-ea"/>
            </a:endParaRPr>
          </a:p>
          <a:p>
            <a:pPr lvl="1">
              <a:buClrTx/>
              <a:buSzTx/>
              <a:buFont typeface="Wingdings" panose="05000000000000000000" pitchFamily="2" charset="2"/>
              <a:buChar char="ü"/>
            </a:pPr>
            <a:r>
              <a:rPr lang="zh-CN" altLang="en-US" sz="2500">
                <a:ea typeface="+mn-ea"/>
                <a:sym typeface="+mn-ea"/>
              </a:rPr>
              <a:t>临界区</a:t>
            </a:r>
            <a:endParaRPr lang="en-US" altLang="zh-CN" sz="2500">
              <a:ea typeface="+mn-ea"/>
              <a:sym typeface="+mn-ea"/>
            </a:endParaRPr>
          </a:p>
          <a:p>
            <a:pPr marL="914400" lvl="2" indent="0">
              <a:buNone/>
            </a:pPr>
            <a:r>
              <a:rPr lang="zh-CN" altLang="en-US" sz="2100">
                <a:ea typeface="+mn-ea"/>
                <a:sym typeface="+mn-ea"/>
              </a:rPr>
              <a:t>不论是硬件临界资源还是软件临界资源，多个进程必须互斥地对它进行访问。人们把在每个进程中</a:t>
            </a:r>
            <a:r>
              <a:rPr lang="zh-CN" altLang="en-US" sz="2100" b="1">
                <a:solidFill>
                  <a:srgbClr val="FF0000"/>
                </a:solidFill>
                <a:ea typeface="+mn-ea"/>
                <a:sym typeface="+mn-ea"/>
              </a:rPr>
              <a:t>访问临界资源的那段代码</a:t>
            </a:r>
            <a:r>
              <a:rPr lang="zh-CN" altLang="en-US" sz="2100">
                <a:ea typeface="+mn-ea"/>
                <a:sym typeface="+mn-ea"/>
              </a:rPr>
              <a:t>称为</a:t>
            </a:r>
            <a:r>
              <a:rPr lang="zh-CN" altLang="en-US" sz="2100" b="1">
                <a:solidFill>
                  <a:srgbClr val="FF0000"/>
                </a:solidFill>
                <a:ea typeface="+mn-ea"/>
                <a:sym typeface="+mn-ea"/>
              </a:rPr>
              <a:t>临界区</a:t>
            </a:r>
            <a:r>
              <a:rPr lang="zh-CN" altLang="en-US" sz="2100">
                <a:ea typeface="+mn-ea"/>
                <a:sym typeface="+mn-ea"/>
              </a:rPr>
              <a:t>。</a:t>
            </a:r>
            <a:endParaRPr lang="en-US" altLang="zh-CN" sz="2100">
              <a:ea typeface="+mn-ea"/>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35</a:t>
            </a:fld>
            <a:endParaRPr kumimoji="1" lang="zh-CN" altLang="en-US"/>
          </a:p>
        </p:txBody>
      </p:sp>
    </p:spTree>
    <p:extLst>
      <p:ext uri="{BB962C8B-B14F-4D97-AF65-F5344CB8AC3E}">
        <p14:creationId xmlns:p14="http://schemas.microsoft.com/office/powerpoint/2010/main" val="16722685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进程同步</a:t>
            </a:r>
            <a:endParaRPr lang="zh-CN" altLang="en-US">
              <a:latin typeface="+mj-ea"/>
              <a:ea typeface="+mj-ea"/>
            </a:endParaRPr>
          </a:p>
        </p:txBody>
      </p:sp>
      <p:sp>
        <p:nvSpPr>
          <p:cNvPr id="3" name="内容占位符 2"/>
          <p:cNvSpPr>
            <a:spLocks noGrp="1"/>
          </p:cNvSpPr>
          <p:nvPr>
            <p:ph idx="1"/>
          </p:nvPr>
        </p:nvSpPr>
        <p:spPr>
          <a:xfrm>
            <a:off x="838199" y="1510665"/>
            <a:ext cx="10558113" cy="5347335"/>
          </a:xfrm>
        </p:spPr>
        <p:txBody>
          <a:bodyPr>
            <a:normAutofit fontScale="97500"/>
          </a:bodyPr>
          <a:lstStyle/>
          <a:p>
            <a:r>
              <a:rPr lang="zh-CN" altLang="en-US" sz="2900">
                <a:solidFill>
                  <a:srgbClr val="0070C0"/>
                </a:solidFill>
                <a:ea typeface="+mn-ea"/>
                <a:sym typeface="+mn-ea"/>
              </a:rPr>
              <a:t>进程同步的基本概念</a:t>
            </a:r>
          </a:p>
          <a:p>
            <a:pPr lvl="1">
              <a:buClrTx/>
              <a:buSzTx/>
              <a:buFont typeface="Wingdings" panose="05000000000000000000" pitchFamily="2" charset="2"/>
              <a:buChar char="ü"/>
            </a:pPr>
            <a:r>
              <a:rPr lang="zh-CN" altLang="en-US" sz="2500">
                <a:ea typeface="+mn-ea"/>
                <a:sym typeface="+mn-ea"/>
              </a:rPr>
              <a:t>同步机制应遵循的规则</a:t>
            </a:r>
            <a:endParaRPr lang="en-US" altLang="zh-CN" sz="2500">
              <a:ea typeface="+mn-ea"/>
              <a:sym typeface="+mn-ea"/>
            </a:endParaRPr>
          </a:p>
          <a:p>
            <a:pPr marL="914400" lvl="2" indent="0">
              <a:buNone/>
            </a:pPr>
            <a:r>
              <a:rPr lang="zh-CN" altLang="en-US" sz="2100">
                <a:ea typeface="+mn-ea"/>
                <a:sym typeface="+mn-ea"/>
              </a:rPr>
              <a:t>为实现进程互斥地进入自己的临界区，可用软件方法，更多的是在系统中设置专门的同步机构来协调各进程间的运行。所有同步机制都应遵循四条准则：</a:t>
            </a:r>
            <a:r>
              <a:rPr lang="en-US" altLang="zh-CN" sz="2100">
                <a:ea typeface="+mn-ea"/>
                <a:sym typeface="+mn-ea"/>
              </a:rPr>
              <a:t>(1)</a:t>
            </a:r>
            <a:r>
              <a:rPr lang="zh-CN" altLang="en-US" sz="2100" b="1">
                <a:solidFill>
                  <a:srgbClr val="FF0000"/>
                </a:solidFill>
                <a:ea typeface="+mn-ea"/>
                <a:sym typeface="+mn-ea"/>
              </a:rPr>
              <a:t>空闲让进</a:t>
            </a:r>
            <a:r>
              <a:rPr lang="zh-CN" altLang="en-US" sz="2100">
                <a:ea typeface="+mn-ea"/>
                <a:sym typeface="+mn-ea"/>
              </a:rPr>
              <a:t>；</a:t>
            </a:r>
            <a:r>
              <a:rPr lang="en-US" altLang="zh-CN" sz="2100">
                <a:ea typeface="+mn-ea"/>
                <a:sym typeface="+mn-ea"/>
              </a:rPr>
              <a:t>(2)</a:t>
            </a:r>
            <a:r>
              <a:rPr lang="zh-CN" altLang="en-US" sz="2100" b="1">
                <a:solidFill>
                  <a:srgbClr val="FF0000"/>
                </a:solidFill>
                <a:ea typeface="+mn-ea"/>
                <a:sym typeface="+mn-ea"/>
              </a:rPr>
              <a:t>忙则等待</a:t>
            </a:r>
            <a:r>
              <a:rPr lang="zh-CN" altLang="en-US" sz="2100">
                <a:ea typeface="+mn-ea"/>
                <a:sym typeface="+mn-ea"/>
              </a:rPr>
              <a:t>；</a:t>
            </a:r>
            <a:r>
              <a:rPr lang="en-US" altLang="zh-CN" sz="2100">
                <a:ea typeface="+mn-ea"/>
                <a:sym typeface="+mn-ea"/>
              </a:rPr>
              <a:t>(3)</a:t>
            </a:r>
            <a:r>
              <a:rPr lang="zh-CN" altLang="en-US" sz="2100" b="1">
                <a:solidFill>
                  <a:srgbClr val="FF0000"/>
                </a:solidFill>
                <a:ea typeface="+mn-ea"/>
                <a:sym typeface="+mn-ea"/>
              </a:rPr>
              <a:t>有限等待</a:t>
            </a:r>
            <a:r>
              <a:rPr lang="zh-CN" altLang="en-US" sz="2100">
                <a:ea typeface="+mn-ea"/>
                <a:sym typeface="+mn-ea"/>
              </a:rPr>
              <a:t>；</a:t>
            </a:r>
            <a:r>
              <a:rPr lang="en-US" altLang="zh-CN" sz="2100">
                <a:ea typeface="+mn-ea"/>
                <a:sym typeface="+mn-ea"/>
              </a:rPr>
              <a:t>(4)</a:t>
            </a:r>
            <a:r>
              <a:rPr lang="zh-CN" altLang="en-US" sz="2100" b="1">
                <a:solidFill>
                  <a:srgbClr val="FF0000"/>
                </a:solidFill>
                <a:ea typeface="+mn-ea"/>
                <a:sym typeface="+mn-ea"/>
              </a:rPr>
              <a:t>让权等待</a:t>
            </a:r>
            <a:r>
              <a:rPr lang="zh-CN" altLang="en-US" sz="2100">
                <a:ea typeface="+mn-ea"/>
                <a:sym typeface="+mn-ea"/>
              </a:rPr>
              <a:t>。</a:t>
            </a:r>
            <a:endParaRPr lang="en-US" altLang="zh-CN" sz="2100">
              <a:ea typeface="+mn-ea"/>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36</a:t>
            </a:fld>
            <a:endParaRPr kumimoji="1" lang="zh-CN" altLang="en-US"/>
          </a:p>
        </p:txBody>
      </p:sp>
    </p:spTree>
    <p:extLst>
      <p:ext uri="{BB962C8B-B14F-4D97-AF65-F5344CB8AC3E}">
        <p14:creationId xmlns:p14="http://schemas.microsoft.com/office/powerpoint/2010/main" val="7100552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进程同步</a:t>
            </a:r>
            <a:endParaRPr lang="zh-CN" altLang="en-US">
              <a:latin typeface="+mj-ea"/>
              <a:ea typeface="+mj-ea"/>
            </a:endParaRPr>
          </a:p>
        </p:txBody>
      </p:sp>
      <p:sp>
        <p:nvSpPr>
          <p:cNvPr id="3" name="内容占位符 2"/>
          <p:cNvSpPr>
            <a:spLocks noGrp="1"/>
          </p:cNvSpPr>
          <p:nvPr>
            <p:ph idx="1"/>
          </p:nvPr>
        </p:nvSpPr>
        <p:spPr>
          <a:xfrm>
            <a:off x="838199" y="1510665"/>
            <a:ext cx="10558113" cy="5347335"/>
          </a:xfrm>
        </p:spPr>
        <p:txBody>
          <a:bodyPr>
            <a:normAutofit fontScale="97500"/>
          </a:bodyPr>
          <a:lstStyle/>
          <a:p>
            <a:r>
              <a:rPr lang="zh-CN" altLang="en-US" sz="2900">
                <a:solidFill>
                  <a:srgbClr val="0070C0"/>
                </a:solidFill>
                <a:sym typeface="+mn-ea"/>
              </a:rPr>
              <a:t>硬件同步机制</a:t>
            </a:r>
          </a:p>
          <a:p>
            <a:pPr marL="457200" lvl="1" indent="0" algn="just">
              <a:buNone/>
            </a:pPr>
            <a:r>
              <a:rPr lang="zh-CN" altLang="en-US" sz="2100">
                <a:sym typeface="+mn-ea"/>
              </a:rPr>
              <a:t>        虽可以利用软件方法解决诸进程互斥进入临界区的问题，但有一定难度，并且存在很大局限性，因而现在已很少采用。相应地，目前许多计算机已提供了一些特殊的硬件指令，允许对一个字中的内容进行检测和修正，或者是对两个字的内容进行交换等。可利用这些特殊的指令来解决临界区问题。</a:t>
            </a:r>
            <a:endParaRPr lang="en-US" altLang="zh-CN" sz="2100">
              <a:sym typeface="+mn-ea"/>
            </a:endParaRPr>
          </a:p>
          <a:p>
            <a:pPr lvl="1">
              <a:buClrTx/>
              <a:buSzTx/>
              <a:buFont typeface="Wingdings" panose="05000000000000000000" pitchFamily="2" charset="2"/>
              <a:buChar char="ü"/>
            </a:pPr>
            <a:r>
              <a:rPr lang="zh-CN" altLang="en-US" sz="2500">
                <a:sym typeface="+mn-ea"/>
              </a:rPr>
              <a:t>关中断</a:t>
            </a:r>
            <a:endParaRPr lang="en-US" altLang="zh-CN" sz="2500">
              <a:sym typeface="+mn-ea"/>
            </a:endParaRPr>
          </a:p>
          <a:p>
            <a:pPr marL="914400" lvl="2" indent="0" algn="just">
              <a:buNone/>
            </a:pPr>
            <a:r>
              <a:rPr lang="zh-CN" altLang="en-US" sz="2100">
                <a:sym typeface="+mn-ea"/>
              </a:rPr>
              <a:t>关中断是实现互斥的最简单的方法之一。在进入锁测试之前关闭中断，直到完成锁测试并上锁之后才能打开中断。这样，进程在临界区执行期间，计算机系统不响应中断，从而不会引发调度，也就不会发生进程或线程切换。由此，保证了对锁的测试和关锁操作的连续性和完整性，有效地保证了互斥。但是，关中断的方法存在许多缺点：① 滥用关中断权力可能导致严重后果；② 关中断时间过长，会影响系统效率，限制了处理器交叉执行程序的能力；③ 关中断方法也不适用于多</a:t>
            </a:r>
            <a:r>
              <a:rPr lang="en-US" altLang="zh-CN" sz="2100">
                <a:sym typeface="+mn-ea"/>
              </a:rPr>
              <a:t>CPU </a:t>
            </a:r>
            <a:r>
              <a:rPr lang="zh-CN" altLang="en-US" sz="2100">
                <a:sym typeface="+mn-ea"/>
              </a:rPr>
              <a:t>系统，因为在一个处理器上关中断并不能防止进程在其它处理器上执行相同的临界段代码。</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37</a:t>
            </a:fld>
            <a:endParaRPr kumimoji="1" lang="zh-CN" altLang="en-US"/>
          </a:p>
        </p:txBody>
      </p:sp>
    </p:spTree>
    <p:extLst>
      <p:ext uri="{BB962C8B-B14F-4D97-AF65-F5344CB8AC3E}">
        <p14:creationId xmlns:p14="http://schemas.microsoft.com/office/powerpoint/2010/main" val="488775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进程同步</a:t>
            </a:r>
            <a:endParaRPr lang="zh-CN" altLang="en-US">
              <a:latin typeface="+mj-ea"/>
              <a:ea typeface="+mj-ea"/>
            </a:endParaRPr>
          </a:p>
        </p:txBody>
      </p:sp>
      <p:sp>
        <p:nvSpPr>
          <p:cNvPr id="3" name="内容占位符 2"/>
          <p:cNvSpPr>
            <a:spLocks noGrp="1"/>
          </p:cNvSpPr>
          <p:nvPr>
            <p:ph idx="1"/>
          </p:nvPr>
        </p:nvSpPr>
        <p:spPr>
          <a:xfrm>
            <a:off x="838199" y="1510665"/>
            <a:ext cx="10558113" cy="5347335"/>
          </a:xfrm>
        </p:spPr>
        <p:txBody>
          <a:bodyPr>
            <a:normAutofit fontScale="97500"/>
          </a:bodyPr>
          <a:lstStyle/>
          <a:p>
            <a:r>
              <a:rPr lang="zh-CN" altLang="en-US" sz="2900">
                <a:solidFill>
                  <a:srgbClr val="0070C0"/>
                </a:solidFill>
                <a:sym typeface="+mn-ea"/>
              </a:rPr>
              <a:t>硬件同步机制</a:t>
            </a:r>
          </a:p>
          <a:p>
            <a:pPr lvl="1">
              <a:buClrTx/>
              <a:buSzTx/>
              <a:buFont typeface="Wingdings" panose="05000000000000000000" pitchFamily="2" charset="2"/>
              <a:buChar char="ü"/>
            </a:pPr>
            <a:r>
              <a:rPr lang="zh-CN" altLang="en-US" sz="2500">
                <a:sym typeface="+mn-ea"/>
              </a:rPr>
              <a:t>利用</a:t>
            </a:r>
            <a:r>
              <a:rPr lang="en-US" altLang="zh-CN" sz="2500">
                <a:sym typeface="+mn-ea"/>
              </a:rPr>
              <a:t>Test-and-Set</a:t>
            </a:r>
            <a:r>
              <a:rPr lang="zh-CN" altLang="en-US" sz="2500">
                <a:sym typeface="+mn-ea"/>
              </a:rPr>
              <a:t>指令实现互斥</a:t>
            </a:r>
            <a:endParaRPr lang="en-US" altLang="zh-CN" sz="2500">
              <a:sym typeface="+mn-ea"/>
            </a:endParaRPr>
          </a:p>
          <a:p>
            <a:pPr marL="914400" lvl="2" indent="0">
              <a:buNone/>
            </a:pPr>
            <a:r>
              <a:rPr lang="zh-CN" altLang="en-US" sz="2100">
                <a:sym typeface="+mn-ea"/>
              </a:rPr>
              <a:t>这是一种借助一条硬件指令</a:t>
            </a:r>
            <a:r>
              <a:rPr lang="en-US" altLang="zh-CN" sz="2100">
                <a:sym typeface="+mn-ea"/>
              </a:rPr>
              <a:t>——“</a:t>
            </a:r>
            <a:r>
              <a:rPr lang="zh-CN" altLang="en-US" sz="2100">
                <a:sym typeface="+mn-ea"/>
              </a:rPr>
              <a:t>测试并建立”指令</a:t>
            </a:r>
            <a:r>
              <a:rPr lang="en-US" altLang="zh-CN" sz="2100">
                <a:sym typeface="+mn-ea"/>
              </a:rPr>
              <a:t>TS(Test-and-Set)</a:t>
            </a:r>
            <a:r>
              <a:rPr lang="zh-CN" altLang="en-US" sz="2100">
                <a:sym typeface="+mn-ea"/>
              </a:rPr>
              <a:t>以实现互斥的方法。在许多计算机中都提供了这种指令。</a:t>
            </a:r>
            <a:endParaRPr lang="en-US" altLang="zh-CN" sz="2100">
              <a:sym typeface="+mn-ea"/>
            </a:endParaRPr>
          </a:p>
          <a:p>
            <a:pPr lvl="1">
              <a:buClrTx/>
              <a:buSzTx/>
              <a:buFont typeface="Wingdings" panose="05000000000000000000" pitchFamily="2" charset="2"/>
              <a:buChar char="ü"/>
            </a:pPr>
            <a:r>
              <a:rPr lang="zh-CN" altLang="en-US" sz="2500">
                <a:sym typeface="+mn-ea"/>
              </a:rPr>
              <a:t>利用</a:t>
            </a:r>
            <a:r>
              <a:rPr lang="en-US" altLang="zh-CN" sz="2500">
                <a:sym typeface="+mn-ea"/>
              </a:rPr>
              <a:t>Swap</a:t>
            </a:r>
            <a:r>
              <a:rPr lang="zh-CN" altLang="en-US" sz="2500">
                <a:sym typeface="+mn-ea"/>
              </a:rPr>
              <a:t>指令实现进程互斥</a:t>
            </a:r>
            <a:endParaRPr lang="en-US" altLang="zh-CN" sz="2500">
              <a:sym typeface="+mn-ea"/>
            </a:endParaRPr>
          </a:p>
          <a:p>
            <a:pPr marL="914400" lvl="2" indent="0">
              <a:buNone/>
            </a:pPr>
            <a:r>
              <a:rPr lang="zh-CN" altLang="en-US" sz="2100">
                <a:sym typeface="+mn-ea"/>
              </a:rPr>
              <a:t>该指令称为对换指令，在</a:t>
            </a:r>
            <a:r>
              <a:rPr lang="en-US" altLang="zh-CN" sz="2100">
                <a:sym typeface="+mn-ea"/>
              </a:rPr>
              <a:t>Intel 80x86</a:t>
            </a:r>
            <a:r>
              <a:rPr lang="zh-CN" altLang="en-US" sz="2100">
                <a:sym typeface="+mn-ea"/>
              </a:rPr>
              <a:t>中又称为</a:t>
            </a:r>
            <a:r>
              <a:rPr lang="en-US" altLang="zh-CN" sz="2100">
                <a:sym typeface="+mn-ea"/>
              </a:rPr>
              <a:t>XCHG</a:t>
            </a:r>
            <a:r>
              <a:rPr lang="zh-CN" altLang="en-US" sz="2100">
                <a:sym typeface="+mn-ea"/>
              </a:rPr>
              <a:t>指令，用于交换两个字的内容。</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38</a:t>
            </a:fld>
            <a:endParaRPr kumimoji="1" lang="zh-CN" altLang="en-US"/>
          </a:p>
        </p:txBody>
      </p:sp>
    </p:spTree>
    <p:extLst>
      <p:ext uri="{BB962C8B-B14F-4D97-AF65-F5344CB8AC3E}">
        <p14:creationId xmlns:p14="http://schemas.microsoft.com/office/powerpoint/2010/main" val="4132223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进程同步</a:t>
            </a:r>
            <a:endParaRPr lang="zh-CN" altLang="en-US">
              <a:latin typeface="+mj-ea"/>
              <a:ea typeface="+mj-ea"/>
            </a:endParaRPr>
          </a:p>
        </p:txBody>
      </p:sp>
      <p:sp>
        <p:nvSpPr>
          <p:cNvPr id="3" name="内容占位符 2"/>
          <p:cNvSpPr>
            <a:spLocks noGrp="1"/>
          </p:cNvSpPr>
          <p:nvPr>
            <p:ph idx="1"/>
          </p:nvPr>
        </p:nvSpPr>
        <p:spPr>
          <a:xfrm>
            <a:off x="838199" y="1510665"/>
            <a:ext cx="10558113" cy="5347335"/>
          </a:xfrm>
        </p:spPr>
        <p:txBody>
          <a:bodyPr>
            <a:normAutofit fontScale="97500"/>
          </a:bodyPr>
          <a:lstStyle/>
          <a:p>
            <a:r>
              <a:rPr lang="zh-CN" altLang="en-US" sz="2900">
                <a:solidFill>
                  <a:srgbClr val="0070C0"/>
                </a:solidFill>
                <a:sym typeface="+mn-ea"/>
              </a:rPr>
              <a:t>信号量机制</a:t>
            </a:r>
          </a:p>
          <a:p>
            <a:pPr lvl="1">
              <a:buClrTx/>
              <a:buSzTx/>
              <a:buFont typeface="Wingdings" panose="05000000000000000000" pitchFamily="2" charset="2"/>
              <a:buChar char="ü"/>
            </a:pPr>
            <a:r>
              <a:rPr lang="zh-CN" altLang="en-US" sz="2500">
                <a:sym typeface="+mn-ea"/>
              </a:rPr>
              <a:t>整型信号量</a:t>
            </a:r>
            <a:endParaRPr lang="en-US" altLang="zh-CN" sz="2500">
              <a:sym typeface="+mn-ea"/>
            </a:endParaRPr>
          </a:p>
          <a:p>
            <a:pPr marL="914400" lvl="2" indent="0" algn="just">
              <a:buNone/>
            </a:pPr>
            <a:r>
              <a:rPr lang="zh-CN" altLang="en-US" sz="2100">
                <a:sym typeface="+mn-ea"/>
              </a:rPr>
              <a:t>最初由</a:t>
            </a:r>
            <a:r>
              <a:rPr lang="en-US" altLang="zh-CN" sz="2100">
                <a:sym typeface="+mn-ea"/>
              </a:rPr>
              <a:t>Dijkstra</a:t>
            </a:r>
            <a:r>
              <a:rPr lang="zh-CN" altLang="en-US" sz="2100">
                <a:sym typeface="+mn-ea"/>
              </a:rPr>
              <a:t>把整型信号量定义为一个用于表示资源数目的整型量</a:t>
            </a:r>
            <a:r>
              <a:rPr lang="en-US" altLang="zh-CN" sz="2100">
                <a:sym typeface="+mn-ea"/>
              </a:rPr>
              <a:t>S</a:t>
            </a:r>
            <a:r>
              <a:rPr lang="zh-CN" altLang="en-US" sz="2100">
                <a:sym typeface="+mn-ea"/>
              </a:rPr>
              <a:t>，它与一般整型量不同，除初始化外，仅能通过两个标准的原子操作</a:t>
            </a:r>
            <a:r>
              <a:rPr lang="en-US" altLang="zh-CN" sz="2100">
                <a:sym typeface="+mn-ea"/>
              </a:rPr>
              <a:t>wait(S)</a:t>
            </a:r>
            <a:r>
              <a:rPr lang="zh-CN" altLang="en-US" sz="2100">
                <a:sym typeface="+mn-ea"/>
              </a:rPr>
              <a:t>和</a:t>
            </a:r>
            <a:r>
              <a:rPr lang="en-US" altLang="zh-CN" sz="2100">
                <a:sym typeface="+mn-ea"/>
              </a:rPr>
              <a:t>signal(S)</a:t>
            </a:r>
            <a:r>
              <a:rPr lang="zh-CN" altLang="en-US" sz="2100">
                <a:sym typeface="+mn-ea"/>
              </a:rPr>
              <a:t>来访问。很长时间以来，这两个操作一直被分别称为</a:t>
            </a:r>
            <a:r>
              <a:rPr lang="en-US" altLang="zh-CN" sz="2100">
                <a:sym typeface="+mn-ea"/>
              </a:rPr>
              <a:t>P</a:t>
            </a:r>
            <a:r>
              <a:rPr lang="zh-CN" altLang="en-US" sz="2100">
                <a:sym typeface="+mn-ea"/>
              </a:rPr>
              <a:t>、</a:t>
            </a:r>
            <a:r>
              <a:rPr lang="en-US" altLang="zh-CN" sz="2100">
                <a:sym typeface="+mn-ea"/>
              </a:rPr>
              <a:t>V</a:t>
            </a:r>
            <a:r>
              <a:rPr lang="zh-CN" altLang="en-US" sz="2100">
                <a:sym typeface="+mn-ea"/>
              </a:rPr>
              <a:t>操作。</a:t>
            </a:r>
            <a:endParaRPr lang="en-US" altLang="zh-CN" sz="2100">
              <a:sym typeface="+mn-ea"/>
            </a:endParaRPr>
          </a:p>
          <a:p>
            <a:pPr lvl="1">
              <a:buClrTx/>
              <a:buSzTx/>
              <a:buFont typeface="Wingdings" panose="05000000000000000000" pitchFamily="2" charset="2"/>
              <a:buChar char="ü"/>
            </a:pPr>
            <a:r>
              <a:rPr lang="zh-CN" altLang="en-US" sz="2500">
                <a:sym typeface="+mn-ea"/>
              </a:rPr>
              <a:t>记录型信号量</a:t>
            </a:r>
            <a:endParaRPr lang="en-US" altLang="zh-CN" sz="2500">
              <a:sym typeface="+mn-ea"/>
            </a:endParaRPr>
          </a:p>
          <a:p>
            <a:pPr marL="914400" lvl="2" indent="0">
              <a:buNone/>
            </a:pPr>
            <a:r>
              <a:rPr lang="zh-CN" altLang="en-US" sz="2100">
                <a:sym typeface="+mn-ea"/>
              </a:rPr>
              <a:t>在整型信号量机制中的</a:t>
            </a:r>
            <a:r>
              <a:rPr lang="en-US" altLang="zh-CN" sz="2100">
                <a:sym typeface="+mn-ea"/>
              </a:rPr>
              <a:t>wait</a:t>
            </a:r>
            <a:r>
              <a:rPr lang="zh-CN" altLang="en-US" sz="2100">
                <a:sym typeface="+mn-ea"/>
              </a:rPr>
              <a:t>操作，只要是信号量</a:t>
            </a:r>
            <a:r>
              <a:rPr lang="en-US" altLang="zh-CN" sz="2100">
                <a:sym typeface="+mn-ea"/>
              </a:rPr>
              <a:t>S≤0</a:t>
            </a:r>
            <a:r>
              <a:rPr lang="zh-CN" altLang="en-US" sz="2100">
                <a:sym typeface="+mn-ea"/>
              </a:rPr>
              <a:t>，就会不断地测试。因此，该机制并未遵循“让权等待”的准则，而是使进程处于“忙等”的状态。记录型信号量机制则是一种不存在“忙等”现象的进程同步机制。但在采取了“让权等待”的策略后，又会出现多个进程等待访问同一临界资源的情况。为此，在信号量机制中，除了需要一个用于代表资源数目的整型变量</a:t>
            </a:r>
            <a:r>
              <a:rPr lang="en-US" altLang="zh-CN" sz="2100">
                <a:sym typeface="+mn-ea"/>
              </a:rPr>
              <a:t>value</a:t>
            </a:r>
            <a:r>
              <a:rPr lang="zh-CN" altLang="en-US" sz="2100">
                <a:sym typeface="+mn-ea"/>
              </a:rPr>
              <a:t>外，还应增加一个进程链表指针</a:t>
            </a:r>
            <a:r>
              <a:rPr lang="en-US" altLang="zh-CN" sz="2100">
                <a:sym typeface="+mn-ea"/>
              </a:rPr>
              <a:t>list</a:t>
            </a:r>
            <a:r>
              <a:rPr lang="zh-CN" altLang="en-US" sz="2100">
                <a:sym typeface="+mn-ea"/>
              </a:rPr>
              <a:t>，用于链接上述的所有等待进程。</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39</a:t>
            </a:fld>
            <a:endParaRPr kumimoji="1" lang="zh-CN" altLang="en-US"/>
          </a:p>
        </p:txBody>
      </p:sp>
    </p:spTree>
    <p:extLst>
      <p:ext uri="{BB962C8B-B14F-4D97-AF65-F5344CB8AC3E}">
        <p14:creationId xmlns:p14="http://schemas.microsoft.com/office/powerpoint/2010/main" val="3794285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进程同步</a:t>
            </a:r>
            <a:endParaRPr lang="zh-CN" altLang="en-US">
              <a:latin typeface="+mj-ea"/>
              <a:ea typeface="+mj-ea"/>
            </a:endParaRPr>
          </a:p>
        </p:txBody>
      </p:sp>
      <p:sp>
        <p:nvSpPr>
          <p:cNvPr id="3" name="内容占位符 2"/>
          <p:cNvSpPr>
            <a:spLocks noGrp="1"/>
          </p:cNvSpPr>
          <p:nvPr>
            <p:ph idx="1"/>
          </p:nvPr>
        </p:nvSpPr>
        <p:spPr>
          <a:xfrm>
            <a:off x="838199" y="1510665"/>
            <a:ext cx="10558113" cy="5347335"/>
          </a:xfrm>
        </p:spPr>
        <p:txBody>
          <a:bodyPr>
            <a:normAutofit fontScale="97500"/>
          </a:bodyPr>
          <a:lstStyle/>
          <a:p>
            <a:r>
              <a:rPr lang="zh-CN" altLang="en-US" sz="2900">
                <a:solidFill>
                  <a:srgbClr val="0070C0"/>
                </a:solidFill>
                <a:sym typeface="+mn-ea"/>
              </a:rPr>
              <a:t>信号量机制</a:t>
            </a:r>
          </a:p>
          <a:p>
            <a:pPr lvl="1">
              <a:buClrTx/>
              <a:buSzTx/>
              <a:buFont typeface="Wingdings" panose="05000000000000000000" pitchFamily="2" charset="2"/>
              <a:buChar char="ü"/>
            </a:pPr>
            <a:r>
              <a:rPr lang="en-US" altLang="zh-CN" sz="2500">
                <a:sym typeface="+mn-ea"/>
              </a:rPr>
              <a:t>AND</a:t>
            </a:r>
            <a:r>
              <a:rPr lang="zh-CN" altLang="en-US" sz="2500">
                <a:sym typeface="+mn-ea"/>
              </a:rPr>
              <a:t>型信号量</a:t>
            </a:r>
            <a:endParaRPr lang="en-US" altLang="zh-CN" sz="2500">
              <a:sym typeface="+mn-ea"/>
            </a:endParaRPr>
          </a:p>
          <a:p>
            <a:pPr marL="914400" lvl="2" indent="0" algn="just">
              <a:buNone/>
            </a:pPr>
            <a:r>
              <a:rPr lang="zh-CN" altLang="en-US" sz="2100">
                <a:sym typeface="+mn-ea"/>
              </a:rPr>
              <a:t>前述的进程互斥问题针对的是多个并发进程仅共享一个临界资源的情况。在有些应用场合，是一个进程往往需要获得两个或更多的共享资源后方能执行其任务。假定现有两个进程</a:t>
            </a:r>
            <a:r>
              <a:rPr lang="en-US" altLang="zh-CN" sz="2100">
                <a:sym typeface="+mn-ea"/>
              </a:rPr>
              <a:t>A</a:t>
            </a:r>
            <a:r>
              <a:rPr lang="zh-CN" altLang="en-US" sz="2100">
                <a:sym typeface="+mn-ea"/>
              </a:rPr>
              <a:t>和</a:t>
            </a:r>
            <a:r>
              <a:rPr lang="en-US" altLang="zh-CN" sz="2100">
                <a:sym typeface="+mn-ea"/>
              </a:rPr>
              <a:t>B</a:t>
            </a:r>
            <a:r>
              <a:rPr lang="zh-CN" altLang="en-US" sz="2100">
                <a:sym typeface="+mn-ea"/>
              </a:rPr>
              <a:t>，它们都要求访问共享数据</a:t>
            </a:r>
            <a:r>
              <a:rPr lang="en-US" altLang="zh-CN" sz="2100">
                <a:sym typeface="+mn-ea"/>
              </a:rPr>
              <a:t>D</a:t>
            </a:r>
            <a:r>
              <a:rPr lang="zh-CN" altLang="en-US" sz="2100">
                <a:sym typeface="+mn-ea"/>
              </a:rPr>
              <a:t>和</a:t>
            </a:r>
            <a:r>
              <a:rPr lang="en-US" altLang="zh-CN" sz="2100">
                <a:sym typeface="+mn-ea"/>
              </a:rPr>
              <a:t>E</a:t>
            </a:r>
            <a:r>
              <a:rPr lang="zh-CN" altLang="en-US" sz="2100">
                <a:sym typeface="+mn-ea"/>
              </a:rPr>
              <a:t>，当然，共享数据都应作为临界资源。</a:t>
            </a:r>
            <a:endParaRPr lang="en-US" altLang="zh-CN" sz="2100">
              <a:sym typeface="+mn-ea"/>
            </a:endParaRPr>
          </a:p>
          <a:p>
            <a:pPr lvl="1">
              <a:buClrTx/>
              <a:buSzTx/>
              <a:buFont typeface="Wingdings" panose="05000000000000000000" pitchFamily="2" charset="2"/>
              <a:buChar char="ü"/>
            </a:pPr>
            <a:r>
              <a:rPr lang="zh-CN" altLang="en-US" sz="2500">
                <a:sym typeface="+mn-ea"/>
              </a:rPr>
              <a:t>信号量集</a:t>
            </a:r>
            <a:endParaRPr lang="en-US" altLang="zh-CN" sz="2500">
              <a:sym typeface="+mn-ea"/>
            </a:endParaRPr>
          </a:p>
          <a:p>
            <a:pPr marL="914400" lvl="2" indent="0">
              <a:buNone/>
            </a:pPr>
            <a:r>
              <a:rPr lang="zh-CN" altLang="en-US" sz="2100">
                <a:sym typeface="+mn-ea"/>
              </a:rPr>
              <a:t>在前述的记录型信号量机制中，</a:t>
            </a:r>
            <a:r>
              <a:rPr lang="en-US" altLang="zh-CN" sz="2100">
                <a:sym typeface="+mn-ea"/>
              </a:rPr>
              <a:t>wait(S)</a:t>
            </a:r>
            <a:r>
              <a:rPr lang="zh-CN" altLang="en-US" sz="2100">
                <a:sym typeface="+mn-ea"/>
              </a:rPr>
              <a:t>或</a:t>
            </a:r>
            <a:r>
              <a:rPr lang="en-US" altLang="zh-CN" sz="2100">
                <a:sym typeface="+mn-ea"/>
              </a:rPr>
              <a:t>signal(S)</a:t>
            </a:r>
            <a:r>
              <a:rPr lang="zh-CN" altLang="en-US" sz="2100">
                <a:sym typeface="+mn-ea"/>
              </a:rPr>
              <a:t>操作仅能对信号量施以加</a:t>
            </a:r>
            <a:r>
              <a:rPr lang="en-US" altLang="zh-CN" sz="2100">
                <a:sym typeface="+mn-ea"/>
              </a:rPr>
              <a:t>1</a:t>
            </a:r>
            <a:r>
              <a:rPr lang="zh-CN" altLang="en-US" sz="2100">
                <a:sym typeface="+mn-ea"/>
              </a:rPr>
              <a:t>或减</a:t>
            </a:r>
            <a:r>
              <a:rPr lang="en-US" altLang="zh-CN" sz="2100">
                <a:sym typeface="+mn-ea"/>
              </a:rPr>
              <a:t>1</a:t>
            </a:r>
            <a:r>
              <a:rPr lang="zh-CN" altLang="en-US" sz="2100">
                <a:sym typeface="+mn-ea"/>
              </a:rPr>
              <a:t>操作，意味着每次只能对某类临界资源进行一个单位的申请或释放。当一次需要</a:t>
            </a:r>
            <a:r>
              <a:rPr lang="en-US" altLang="zh-CN" sz="2100">
                <a:sym typeface="+mn-ea"/>
              </a:rPr>
              <a:t>N</a:t>
            </a:r>
            <a:r>
              <a:rPr lang="zh-CN" altLang="en-US" sz="2100">
                <a:sym typeface="+mn-ea"/>
              </a:rPr>
              <a:t>个单位时，便要进行</a:t>
            </a:r>
            <a:r>
              <a:rPr lang="en-US" altLang="zh-CN" sz="2100">
                <a:sym typeface="+mn-ea"/>
              </a:rPr>
              <a:t>N</a:t>
            </a:r>
            <a:r>
              <a:rPr lang="zh-CN" altLang="en-US" sz="2100">
                <a:sym typeface="+mn-ea"/>
              </a:rPr>
              <a:t>次</a:t>
            </a:r>
            <a:r>
              <a:rPr lang="en-US" altLang="zh-CN" sz="2100">
                <a:sym typeface="+mn-ea"/>
              </a:rPr>
              <a:t>wait(S)</a:t>
            </a:r>
            <a:r>
              <a:rPr lang="zh-CN" altLang="en-US" sz="2100">
                <a:sym typeface="+mn-ea"/>
              </a:rPr>
              <a:t>操作，这显然是低效的，甚至会增加死锁的概率。此外，在有些情况下，为确保系统的安全性，当所申请的资源数量低于某一下限值时，还必须进行管制，不予以分配。因此，当进程申请某类临界资源时，在每次分配之前，都必须测试资源的数量，判断是否大于可分配的下限值，决定是否予以分配。</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40</a:t>
            </a:fld>
            <a:endParaRPr kumimoji="1" lang="zh-CN" altLang="en-US"/>
          </a:p>
        </p:txBody>
      </p:sp>
    </p:spTree>
    <p:extLst>
      <p:ext uri="{BB962C8B-B14F-4D97-AF65-F5344CB8AC3E}">
        <p14:creationId xmlns:p14="http://schemas.microsoft.com/office/powerpoint/2010/main" val="5389876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进程同步</a:t>
            </a:r>
            <a:endParaRPr lang="zh-CN" altLang="en-US">
              <a:latin typeface="+mj-ea"/>
              <a:ea typeface="+mj-ea"/>
            </a:endParaRPr>
          </a:p>
        </p:txBody>
      </p:sp>
      <p:sp>
        <p:nvSpPr>
          <p:cNvPr id="3" name="内容占位符 2"/>
          <p:cNvSpPr>
            <a:spLocks noGrp="1"/>
          </p:cNvSpPr>
          <p:nvPr>
            <p:ph idx="1"/>
          </p:nvPr>
        </p:nvSpPr>
        <p:spPr>
          <a:xfrm>
            <a:off x="838199" y="1395165"/>
            <a:ext cx="10558113" cy="5592779"/>
          </a:xfrm>
        </p:spPr>
        <p:txBody>
          <a:bodyPr>
            <a:normAutofit fontScale="97500"/>
          </a:bodyPr>
          <a:lstStyle/>
          <a:p>
            <a:r>
              <a:rPr lang="zh-CN" altLang="en-US" sz="2900">
                <a:solidFill>
                  <a:srgbClr val="0070C0"/>
                </a:solidFill>
                <a:sym typeface="+mn-ea"/>
              </a:rPr>
              <a:t>信号量的应用</a:t>
            </a:r>
          </a:p>
          <a:p>
            <a:pPr lvl="1">
              <a:buClrTx/>
              <a:buSzTx/>
              <a:buFont typeface="Wingdings" panose="05000000000000000000" pitchFamily="2" charset="2"/>
              <a:buChar char="ü"/>
            </a:pPr>
            <a:r>
              <a:rPr lang="zh-CN" altLang="en-US" sz="2500">
                <a:sym typeface="+mn-ea"/>
              </a:rPr>
              <a:t>利用信号量实现进程互斥</a:t>
            </a:r>
            <a:endParaRPr lang="en-US" altLang="zh-CN" sz="2500">
              <a:sym typeface="+mn-ea"/>
            </a:endParaRPr>
          </a:p>
          <a:p>
            <a:pPr marL="914400" lvl="2" indent="0" algn="just">
              <a:buNone/>
            </a:pPr>
            <a:r>
              <a:rPr lang="zh-CN" altLang="en-US" sz="2100">
                <a:sym typeface="+mn-ea"/>
              </a:rPr>
              <a:t>为使多个进程能互斥地访问某临界资源，只需为该资源设置一互斥信号量</a:t>
            </a:r>
            <a:r>
              <a:rPr lang="en-US" altLang="zh-CN" sz="2100">
                <a:sym typeface="+mn-ea"/>
              </a:rPr>
              <a:t>mutex</a:t>
            </a:r>
            <a:r>
              <a:rPr lang="zh-CN" altLang="en-US" sz="2100">
                <a:sym typeface="+mn-ea"/>
              </a:rPr>
              <a:t>，并设其初始值为</a:t>
            </a:r>
            <a:r>
              <a:rPr lang="en-US" altLang="zh-CN" sz="2100">
                <a:sym typeface="+mn-ea"/>
              </a:rPr>
              <a:t>1</a:t>
            </a:r>
            <a:r>
              <a:rPr lang="zh-CN" altLang="en-US" sz="2100">
                <a:sym typeface="+mn-ea"/>
              </a:rPr>
              <a:t>，然后将各进程访问该资源的临界区</a:t>
            </a:r>
            <a:r>
              <a:rPr lang="en-US" altLang="zh-CN" sz="2100">
                <a:sym typeface="+mn-ea"/>
              </a:rPr>
              <a:t>CS</a:t>
            </a:r>
            <a:r>
              <a:rPr lang="zh-CN" altLang="en-US" sz="2100">
                <a:sym typeface="+mn-ea"/>
              </a:rPr>
              <a:t>置于</a:t>
            </a:r>
            <a:r>
              <a:rPr lang="en-US" altLang="zh-CN" sz="2100">
                <a:sym typeface="+mn-ea"/>
              </a:rPr>
              <a:t>wait(mutex)</a:t>
            </a:r>
            <a:r>
              <a:rPr lang="zh-CN" altLang="en-US" sz="2100">
                <a:sym typeface="+mn-ea"/>
              </a:rPr>
              <a:t>和</a:t>
            </a:r>
            <a:r>
              <a:rPr lang="en-US" altLang="zh-CN" sz="2100">
                <a:sym typeface="+mn-ea"/>
              </a:rPr>
              <a:t>signal(mutex)</a:t>
            </a:r>
            <a:r>
              <a:rPr lang="zh-CN" altLang="en-US" sz="2100">
                <a:sym typeface="+mn-ea"/>
              </a:rPr>
              <a:t>操作之间即可。</a:t>
            </a:r>
            <a:endParaRPr lang="en-US" altLang="zh-CN" sz="2100">
              <a:sym typeface="+mn-ea"/>
            </a:endParaRPr>
          </a:p>
          <a:p>
            <a:pPr lvl="1">
              <a:buClrTx/>
              <a:buSzTx/>
              <a:buFont typeface="Wingdings" panose="05000000000000000000" pitchFamily="2" charset="2"/>
              <a:buChar char="ü"/>
            </a:pPr>
            <a:r>
              <a:rPr lang="zh-CN" altLang="en-US" sz="2500">
                <a:sym typeface="+mn-ea"/>
              </a:rPr>
              <a:t>利用信号量实现前趋关系</a:t>
            </a:r>
            <a:endParaRPr lang="en-US" altLang="zh-CN" sz="2500">
              <a:sym typeface="+mn-ea"/>
            </a:endParaRPr>
          </a:p>
          <a:p>
            <a:pPr marL="914400" lvl="2" indent="0" algn="just">
              <a:buNone/>
            </a:pPr>
            <a:r>
              <a:rPr lang="zh-CN" altLang="en-US" sz="2100"/>
              <a:t>可利用信号量描述程序或语句之间的前趋关系。假设两个</a:t>
            </a:r>
            <a:r>
              <a:rPr lang="zh-CN" altLang="en-US" sz="2100">
                <a:solidFill>
                  <a:srgbClr val="FF0000"/>
                </a:solidFill>
              </a:rPr>
              <a:t>并发执行的进程</a:t>
            </a:r>
            <a:r>
              <a:rPr lang="en-US" altLang="zh-CN" sz="2100">
                <a:solidFill>
                  <a:srgbClr val="FF0000"/>
                </a:solidFill>
              </a:rPr>
              <a:t>P</a:t>
            </a:r>
            <a:r>
              <a:rPr lang="en-US" altLang="zh-CN" sz="2100" baseline="-25000">
                <a:solidFill>
                  <a:srgbClr val="FF0000"/>
                </a:solidFill>
              </a:rPr>
              <a:t>1</a:t>
            </a:r>
            <a:r>
              <a:rPr lang="zh-CN" altLang="en-US" sz="2100">
                <a:solidFill>
                  <a:srgbClr val="FF0000"/>
                </a:solidFill>
              </a:rPr>
              <a:t>和</a:t>
            </a:r>
            <a:r>
              <a:rPr lang="en-US" altLang="zh-CN" sz="2100">
                <a:solidFill>
                  <a:srgbClr val="FF0000"/>
                </a:solidFill>
              </a:rPr>
              <a:t>P</a:t>
            </a:r>
            <a:r>
              <a:rPr lang="en-US" altLang="zh-CN" sz="2100" baseline="-25000">
                <a:solidFill>
                  <a:srgbClr val="FF0000"/>
                </a:solidFill>
              </a:rPr>
              <a:t>2</a:t>
            </a:r>
            <a:r>
              <a:rPr lang="zh-CN" altLang="en-US" sz="2100"/>
              <a:t>。</a:t>
            </a:r>
            <a:r>
              <a:rPr lang="en-US" altLang="zh-CN" sz="2100">
                <a:solidFill>
                  <a:srgbClr val="FF0000"/>
                </a:solidFill>
              </a:rPr>
              <a:t>P</a:t>
            </a:r>
            <a:r>
              <a:rPr lang="en-US" altLang="zh-CN" sz="2100" baseline="-25000">
                <a:solidFill>
                  <a:srgbClr val="FF0000"/>
                </a:solidFill>
              </a:rPr>
              <a:t>1</a:t>
            </a:r>
            <a:r>
              <a:rPr lang="zh-CN" altLang="en-US" sz="2100">
                <a:solidFill>
                  <a:srgbClr val="FF0000"/>
                </a:solidFill>
              </a:rPr>
              <a:t>中有语句</a:t>
            </a:r>
            <a:r>
              <a:rPr lang="en-US" altLang="zh-CN" sz="2100">
                <a:solidFill>
                  <a:srgbClr val="FF0000"/>
                </a:solidFill>
              </a:rPr>
              <a:t>S</a:t>
            </a:r>
            <a:r>
              <a:rPr lang="en-US" altLang="zh-CN" sz="2100" baseline="-25000">
                <a:solidFill>
                  <a:srgbClr val="FF0000"/>
                </a:solidFill>
              </a:rPr>
              <a:t>1</a:t>
            </a:r>
            <a:r>
              <a:rPr lang="zh-CN" altLang="en-US" sz="2100">
                <a:solidFill>
                  <a:srgbClr val="FF0000"/>
                </a:solidFill>
              </a:rPr>
              <a:t>；</a:t>
            </a:r>
            <a:r>
              <a:rPr lang="en-US" altLang="zh-CN" sz="2100">
                <a:solidFill>
                  <a:srgbClr val="FF0000"/>
                </a:solidFill>
              </a:rPr>
              <a:t>P</a:t>
            </a:r>
            <a:r>
              <a:rPr lang="en-US" altLang="zh-CN" sz="2100" baseline="-25000">
                <a:solidFill>
                  <a:srgbClr val="FF0000"/>
                </a:solidFill>
              </a:rPr>
              <a:t>2</a:t>
            </a:r>
            <a:r>
              <a:rPr lang="zh-CN" altLang="en-US" sz="2100">
                <a:solidFill>
                  <a:srgbClr val="FF0000"/>
                </a:solidFill>
              </a:rPr>
              <a:t>中有语句</a:t>
            </a:r>
            <a:r>
              <a:rPr lang="en-US" altLang="zh-CN" sz="2100">
                <a:solidFill>
                  <a:srgbClr val="FF0000"/>
                </a:solidFill>
              </a:rPr>
              <a:t>S</a:t>
            </a:r>
            <a:r>
              <a:rPr lang="en-US" altLang="zh-CN" sz="2100" baseline="-25000">
                <a:solidFill>
                  <a:srgbClr val="FF0000"/>
                </a:solidFill>
              </a:rPr>
              <a:t>2</a:t>
            </a:r>
            <a:r>
              <a:rPr lang="zh-CN" altLang="en-US" sz="2100"/>
              <a:t>。目标：</a:t>
            </a:r>
            <a:r>
              <a:rPr lang="en-US" altLang="zh-CN" sz="2100">
                <a:solidFill>
                  <a:srgbClr val="FF0000"/>
                </a:solidFill>
              </a:rPr>
              <a:t>S</a:t>
            </a:r>
            <a:r>
              <a:rPr lang="en-US" altLang="zh-CN" sz="2100" baseline="-25000">
                <a:solidFill>
                  <a:srgbClr val="FF0000"/>
                </a:solidFill>
              </a:rPr>
              <a:t>1</a:t>
            </a:r>
            <a:r>
              <a:rPr lang="zh-CN" altLang="en-US" sz="2100">
                <a:solidFill>
                  <a:srgbClr val="FF0000"/>
                </a:solidFill>
              </a:rPr>
              <a:t>执行后再执行</a:t>
            </a:r>
            <a:r>
              <a:rPr lang="en-US" altLang="zh-CN" sz="2100">
                <a:solidFill>
                  <a:srgbClr val="FF0000"/>
                </a:solidFill>
              </a:rPr>
              <a:t>S</a:t>
            </a:r>
            <a:r>
              <a:rPr lang="en-US" altLang="zh-CN" sz="2100" baseline="-25000">
                <a:solidFill>
                  <a:srgbClr val="FF0000"/>
                </a:solidFill>
              </a:rPr>
              <a:t>2</a:t>
            </a:r>
            <a:r>
              <a:rPr lang="zh-CN" altLang="en-US" sz="2100"/>
              <a:t>。为实现该前趋关系，只需使进程</a:t>
            </a:r>
            <a:r>
              <a:rPr lang="en-US" altLang="zh-CN" sz="2100"/>
              <a:t>P</a:t>
            </a:r>
            <a:r>
              <a:rPr lang="en-US" altLang="zh-CN" sz="2100" baseline="-25000"/>
              <a:t>1</a:t>
            </a:r>
            <a:r>
              <a:rPr lang="zh-CN" altLang="en-US" sz="2100"/>
              <a:t>和</a:t>
            </a:r>
            <a:r>
              <a:rPr lang="en-US" altLang="zh-CN" sz="2100"/>
              <a:t>P</a:t>
            </a:r>
            <a:r>
              <a:rPr lang="en-US" altLang="zh-CN" sz="2100" baseline="-25000"/>
              <a:t>2</a:t>
            </a:r>
            <a:r>
              <a:rPr lang="zh-CN" altLang="en-US" sz="2100"/>
              <a:t>共享一个公用信号量</a:t>
            </a:r>
            <a:r>
              <a:rPr lang="en-US" altLang="zh-CN" sz="2100"/>
              <a:t>S</a:t>
            </a:r>
            <a:r>
              <a:rPr lang="zh-CN" altLang="en-US" sz="2100"/>
              <a:t>，并赋予其初值为</a:t>
            </a:r>
            <a:r>
              <a:rPr lang="en-US" altLang="zh-CN" sz="2100"/>
              <a:t>0</a:t>
            </a:r>
            <a:r>
              <a:rPr lang="zh-CN" altLang="en-US" sz="2100"/>
              <a:t>，将</a:t>
            </a:r>
            <a:r>
              <a:rPr lang="en-US" altLang="zh-CN" sz="2100"/>
              <a:t>signal(S)</a:t>
            </a:r>
            <a:r>
              <a:rPr lang="zh-CN" altLang="en-US" sz="2100"/>
              <a:t>操作放在语句</a:t>
            </a:r>
            <a:r>
              <a:rPr lang="en-US" altLang="zh-CN" sz="2100"/>
              <a:t>S</a:t>
            </a:r>
            <a:r>
              <a:rPr lang="en-US" altLang="zh-CN" sz="2100" baseline="-25000"/>
              <a:t>1</a:t>
            </a:r>
            <a:r>
              <a:rPr lang="zh-CN" altLang="en-US" sz="2100"/>
              <a:t>后面，而在</a:t>
            </a:r>
            <a:r>
              <a:rPr lang="en-US" altLang="zh-CN" sz="2100"/>
              <a:t>S</a:t>
            </a:r>
            <a:r>
              <a:rPr lang="en-US" altLang="zh-CN" sz="2100" baseline="-25000"/>
              <a:t>2</a:t>
            </a:r>
            <a:r>
              <a:rPr lang="zh-CN" altLang="en-US" sz="2100"/>
              <a:t>语句前面插入</a:t>
            </a:r>
            <a:r>
              <a:rPr lang="en-US" altLang="zh-CN" sz="2100"/>
              <a:t>wait(S)</a:t>
            </a:r>
            <a:r>
              <a:rPr lang="zh-CN" altLang="en-US" sz="2100"/>
              <a:t>操作，即：在进程</a:t>
            </a:r>
            <a:r>
              <a:rPr lang="en-US" altLang="zh-CN" sz="2100"/>
              <a:t>P</a:t>
            </a:r>
            <a:r>
              <a:rPr lang="en-US" altLang="zh-CN" sz="2100" baseline="-25000"/>
              <a:t>1</a:t>
            </a:r>
            <a:r>
              <a:rPr lang="zh-CN" altLang="en-US" sz="2100"/>
              <a:t>中，用</a:t>
            </a:r>
            <a:r>
              <a:rPr lang="en-US" altLang="zh-CN" sz="2100"/>
              <a:t>S</a:t>
            </a:r>
            <a:r>
              <a:rPr lang="en-US" altLang="zh-CN" sz="2100" baseline="-25000"/>
              <a:t>1</a:t>
            </a:r>
            <a:r>
              <a:rPr lang="zh-CN" altLang="en-US" sz="2100"/>
              <a:t>；</a:t>
            </a:r>
            <a:r>
              <a:rPr lang="en-US" altLang="zh-CN" sz="2100"/>
              <a:t>signal(S)</a:t>
            </a:r>
            <a:r>
              <a:rPr lang="zh-CN" altLang="en-US" sz="2100"/>
              <a:t>；在进程</a:t>
            </a:r>
            <a:r>
              <a:rPr lang="en-US" altLang="zh-CN" sz="2100"/>
              <a:t>P</a:t>
            </a:r>
            <a:r>
              <a:rPr lang="en-US" altLang="zh-CN" sz="2100" baseline="-25000"/>
              <a:t>2</a:t>
            </a:r>
            <a:r>
              <a:rPr lang="zh-CN" altLang="en-US" sz="2100"/>
              <a:t>中，用</a:t>
            </a:r>
            <a:r>
              <a:rPr lang="en-US" altLang="zh-CN" sz="2100"/>
              <a:t>wait(S)</a:t>
            </a:r>
            <a:r>
              <a:rPr lang="zh-CN" altLang="en-US" sz="2100"/>
              <a:t>；</a:t>
            </a:r>
            <a:r>
              <a:rPr lang="en-US" altLang="zh-CN" sz="2100"/>
              <a:t>S</a:t>
            </a:r>
            <a:r>
              <a:rPr lang="en-US" altLang="zh-CN" sz="2100" baseline="-25000"/>
              <a:t>2 </a:t>
            </a:r>
            <a:r>
              <a:rPr lang="zh-CN" altLang="en-US" sz="2100" baseline="-25000"/>
              <a:t>。</a:t>
            </a:r>
            <a:endParaRPr lang="en-US" altLang="zh-CN" sz="2100" baseline="-25000"/>
          </a:p>
          <a:p>
            <a:pPr marL="914400" lvl="2" indent="0" algn="just">
              <a:buNone/>
            </a:pPr>
            <a:r>
              <a:rPr lang="zh-CN" altLang="en-US" sz="2100"/>
              <a:t>由于</a:t>
            </a:r>
            <a:r>
              <a:rPr lang="en-US" altLang="zh-CN" sz="2100"/>
              <a:t>S</a:t>
            </a:r>
            <a:r>
              <a:rPr lang="zh-CN" altLang="en-US" sz="2100"/>
              <a:t>被初始化为</a:t>
            </a:r>
            <a:r>
              <a:rPr lang="en-US" altLang="zh-CN" sz="2100"/>
              <a:t>0</a:t>
            </a:r>
            <a:r>
              <a:rPr lang="zh-CN" altLang="en-US" sz="2100"/>
              <a:t>，这样，若</a:t>
            </a:r>
            <a:r>
              <a:rPr lang="en-US" altLang="zh-CN" sz="2100"/>
              <a:t>P</a:t>
            </a:r>
            <a:r>
              <a:rPr lang="en-US" altLang="zh-CN" sz="2100" baseline="-25000"/>
              <a:t>2</a:t>
            </a:r>
            <a:r>
              <a:rPr lang="zh-CN" altLang="en-US" sz="2100"/>
              <a:t>先执行必定阻塞，只有在进程</a:t>
            </a:r>
            <a:r>
              <a:rPr lang="en-US" altLang="zh-CN" sz="2100"/>
              <a:t>P</a:t>
            </a:r>
            <a:r>
              <a:rPr lang="en-US" altLang="zh-CN" sz="2100" baseline="-25000"/>
              <a:t>1</a:t>
            </a:r>
            <a:r>
              <a:rPr lang="zh-CN" altLang="en-US" sz="2100"/>
              <a:t>执行完</a:t>
            </a:r>
            <a:r>
              <a:rPr lang="en-US" altLang="zh-CN" sz="2100"/>
              <a:t>S</a:t>
            </a:r>
            <a:r>
              <a:rPr lang="en-US" altLang="zh-CN" sz="2100" baseline="-25000"/>
              <a:t>1</a:t>
            </a:r>
            <a:r>
              <a:rPr lang="zh-CN" altLang="en-US" sz="2100"/>
              <a:t>； </a:t>
            </a:r>
            <a:r>
              <a:rPr lang="en-US" altLang="zh-CN" sz="2100"/>
              <a:t>signal(S)</a:t>
            </a:r>
            <a:r>
              <a:rPr lang="zh-CN" altLang="en-US" sz="2100"/>
              <a:t>；操作后使</a:t>
            </a:r>
            <a:r>
              <a:rPr lang="en-US" altLang="zh-CN" sz="2100"/>
              <a:t>S</a:t>
            </a:r>
            <a:r>
              <a:rPr lang="zh-CN" altLang="en-US" sz="2100"/>
              <a:t>增为</a:t>
            </a:r>
            <a:r>
              <a:rPr lang="en-US" altLang="zh-CN" sz="2100"/>
              <a:t>1</a:t>
            </a:r>
            <a:r>
              <a:rPr lang="zh-CN" altLang="en-US" sz="2100"/>
              <a:t>时，</a:t>
            </a:r>
            <a:r>
              <a:rPr lang="en-US" altLang="zh-CN" sz="2100"/>
              <a:t>P</a:t>
            </a:r>
            <a:r>
              <a:rPr lang="en-US" altLang="zh-CN" sz="2100" baseline="-25000"/>
              <a:t>2</a:t>
            </a:r>
            <a:r>
              <a:rPr lang="zh-CN" altLang="en-US" sz="2100"/>
              <a:t>进程方能成功执行语句</a:t>
            </a:r>
            <a:r>
              <a:rPr lang="en-US" altLang="zh-CN" sz="2100"/>
              <a:t>S</a:t>
            </a:r>
            <a:r>
              <a:rPr lang="en-US" altLang="zh-CN" sz="2100" baseline="-25000"/>
              <a:t>2</a:t>
            </a:r>
            <a:r>
              <a:rPr lang="zh-CN" altLang="en-US" sz="2100"/>
              <a:t>。</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41</a:t>
            </a:fld>
            <a:endParaRPr kumimoji="1" lang="zh-CN" altLang="en-US"/>
          </a:p>
        </p:txBody>
      </p:sp>
      <p:pic>
        <p:nvPicPr>
          <p:cNvPr id="5" name="Picture 4" descr="2-14">
            <a:extLst>
              <a:ext uri="{FF2B5EF4-FFF2-40B4-BE49-F238E27FC236}">
                <a16:creationId xmlns:a16="http://schemas.microsoft.com/office/drawing/2014/main" id="{C698740F-FFAE-404D-AFC9-63E81B3645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8380" y="283933"/>
            <a:ext cx="2743200" cy="2311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70156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进程同步</a:t>
            </a:r>
            <a:endParaRPr lang="zh-CN" altLang="en-US">
              <a:latin typeface="+mj-ea"/>
              <a:ea typeface="+mj-ea"/>
            </a:endParaRPr>
          </a:p>
        </p:txBody>
      </p:sp>
      <p:sp>
        <p:nvSpPr>
          <p:cNvPr id="3" name="内容占位符 2"/>
          <p:cNvSpPr>
            <a:spLocks noGrp="1"/>
          </p:cNvSpPr>
          <p:nvPr>
            <p:ph idx="1"/>
          </p:nvPr>
        </p:nvSpPr>
        <p:spPr>
          <a:xfrm>
            <a:off x="838199" y="1510665"/>
            <a:ext cx="6082365" cy="5347335"/>
          </a:xfrm>
        </p:spPr>
        <p:txBody>
          <a:bodyPr>
            <a:normAutofit fontScale="97500"/>
          </a:bodyPr>
          <a:lstStyle/>
          <a:p>
            <a:r>
              <a:rPr lang="zh-CN" altLang="en-US" sz="2900">
                <a:solidFill>
                  <a:srgbClr val="0070C0"/>
                </a:solidFill>
                <a:sym typeface="+mn-ea"/>
              </a:rPr>
              <a:t>管程机制</a:t>
            </a:r>
          </a:p>
          <a:p>
            <a:pPr lvl="1">
              <a:buClrTx/>
              <a:buSzTx/>
              <a:buFont typeface="Wingdings" panose="05000000000000000000" pitchFamily="2" charset="2"/>
              <a:buChar char="ü"/>
            </a:pPr>
            <a:r>
              <a:rPr lang="zh-CN" altLang="en-US" sz="2500">
                <a:sym typeface="+mn-ea"/>
              </a:rPr>
              <a:t>管程的定义</a:t>
            </a:r>
            <a:endParaRPr lang="en-US" altLang="zh-CN" sz="2500">
              <a:sym typeface="+mn-ea"/>
            </a:endParaRPr>
          </a:p>
          <a:p>
            <a:pPr marL="914400" lvl="2" indent="0" algn="just">
              <a:buNone/>
            </a:pPr>
            <a:r>
              <a:rPr lang="zh-CN" altLang="en-US" sz="2100">
                <a:sym typeface="+mn-ea"/>
              </a:rPr>
              <a:t>系统中的各种硬件资源和软件资源均可用数据结构抽象地描述其资源特性，即用少量信息和对该资源所执行的操作来表征该资源，而忽略它们的内部结构和实现细节。</a:t>
            </a:r>
            <a:endParaRPr lang="en-US" altLang="zh-CN" sz="2100">
              <a:sym typeface="+mn-ea"/>
            </a:endParaRPr>
          </a:p>
          <a:p>
            <a:pPr marL="914400" lvl="2" indent="0" algn="just">
              <a:buNone/>
            </a:pPr>
            <a:r>
              <a:rPr lang="zh-CN" altLang="en-US" sz="2100">
                <a:sym typeface="+mn-ea"/>
              </a:rPr>
              <a:t>由上述的定义可知，管程由四部分组成：①管程的名称；②局部于管程的共享数据结构说明；③对该数据结构进行操作的一组过程；④对局部于管程的共享数据设置初始值的语句。右图是一个管程的示意图。</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42</a:t>
            </a:fld>
            <a:endParaRPr kumimoji="1" lang="zh-CN" altLang="en-US"/>
          </a:p>
        </p:txBody>
      </p:sp>
      <p:pic>
        <p:nvPicPr>
          <p:cNvPr id="5" name="Picture 4" descr="2-15">
            <a:extLst>
              <a:ext uri="{FF2B5EF4-FFF2-40B4-BE49-F238E27FC236}">
                <a16:creationId xmlns:a16="http://schemas.microsoft.com/office/drawing/2014/main" id="{6AB88E7D-5D3B-4D08-AE87-8D9DC07FBD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4670" y="1657156"/>
            <a:ext cx="4562475"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D7C0836B-FD3E-4207-9865-BFBDC9AB368A}"/>
              </a:ext>
            </a:extLst>
          </p:cNvPr>
          <p:cNvSpPr txBox="1"/>
          <p:nvPr/>
        </p:nvSpPr>
        <p:spPr>
          <a:xfrm>
            <a:off x="8871065" y="6019497"/>
            <a:ext cx="1773455" cy="400110"/>
          </a:xfrm>
          <a:prstGeom prst="rect">
            <a:avLst/>
          </a:prstGeom>
          <a:noFill/>
        </p:spPr>
        <p:txBody>
          <a:bodyPr wrap="square">
            <a:spAutoFit/>
          </a:bodyPr>
          <a:lstStyle/>
          <a:p>
            <a:r>
              <a:rPr lang="zh-CN" altLang="en-US" sz="2000">
                <a:latin typeface="+mj-ea"/>
                <a:ea typeface="+mj-ea"/>
              </a:rPr>
              <a:t>管程的示意图</a:t>
            </a:r>
          </a:p>
        </p:txBody>
      </p:sp>
    </p:spTree>
    <p:extLst>
      <p:ext uri="{BB962C8B-B14F-4D97-AF65-F5344CB8AC3E}">
        <p14:creationId xmlns:p14="http://schemas.microsoft.com/office/powerpoint/2010/main" val="29437826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dirty="0">
                <a:latin typeface="+mj-ea"/>
                <a:ea typeface="+mj-ea"/>
              </a:rPr>
              <a:t>进程同步</a:t>
            </a:r>
            <a:endParaRPr lang="zh-CN" altLang="en-US" dirty="0">
              <a:latin typeface="+mj-ea"/>
              <a:ea typeface="+mj-ea"/>
            </a:endParaRPr>
          </a:p>
        </p:txBody>
      </p:sp>
      <p:sp>
        <p:nvSpPr>
          <p:cNvPr id="3" name="内容占位符 2"/>
          <p:cNvSpPr>
            <a:spLocks noGrp="1"/>
          </p:cNvSpPr>
          <p:nvPr>
            <p:ph idx="1"/>
          </p:nvPr>
        </p:nvSpPr>
        <p:spPr>
          <a:xfrm>
            <a:off x="838199" y="1510665"/>
            <a:ext cx="10384858" cy="5347335"/>
          </a:xfrm>
        </p:spPr>
        <p:txBody>
          <a:bodyPr>
            <a:normAutofit fontScale="97500"/>
          </a:bodyPr>
          <a:lstStyle/>
          <a:p>
            <a:r>
              <a:rPr lang="zh-CN" altLang="en-US" sz="2900">
                <a:solidFill>
                  <a:srgbClr val="0070C0"/>
                </a:solidFill>
                <a:sym typeface="+mn-ea"/>
              </a:rPr>
              <a:t>管程机制</a:t>
            </a:r>
          </a:p>
          <a:p>
            <a:pPr lvl="1">
              <a:buClrTx/>
              <a:buSzTx/>
              <a:buFont typeface="Wingdings" panose="05000000000000000000" pitchFamily="2" charset="2"/>
              <a:buChar char="ü"/>
            </a:pPr>
            <a:r>
              <a:rPr lang="zh-CN" altLang="en-US" sz="2500">
                <a:sym typeface="+mn-ea"/>
              </a:rPr>
              <a:t>条件变量</a:t>
            </a:r>
            <a:endParaRPr lang="en-US" altLang="zh-CN" sz="2500">
              <a:sym typeface="+mn-ea"/>
            </a:endParaRPr>
          </a:p>
          <a:p>
            <a:pPr marL="914400" lvl="2" indent="0" algn="just">
              <a:buNone/>
            </a:pPr>
            <a:r>
              <a:rPr lang="zh-CN" altLang="en-US" sz="2100">
                <a:sym typeface="+mn-ea"/>
              </a:rPr>
              <a:t>在利用管程实现进程同步时，必须设置同步工具，如两个同步操作原语</a:t>
            </a:r>
            <a:r>
              <a:rPr lang="en-US" altLang="zh-CN" sz="2100">
                <a:sym typeface="+mn-ea"/>
              </a:rPr>
              <a:t>wait</a:t>
            </a:r>
            <a:r>
              <a:rPr lang="zh-CN" altLang="en-US" sz="2100">
                <a:sym typeface="+mn-ea"/>
              </a:rPr>
              <a:t>和</a:t>
            </a:r>
            <a:r>
              <a:rPr lang="en-US" altLang="zh-CN" sz="2100">
                <a:sym typeface="+mn-ea"/>
              </a:rPr>
              <a:t>signal</a:t>
            </a:r>
            <a:r>
              <a:rPr lang="zh-CN" altLang="en-US" sz="2100">
                <a:sym typeface="+mn-ea"/>
              </a:rPr>
              <a:t>。当某进程通过管程请求获得临界资源而未能满足时，管程便调用</a:t>
            </a:r>
            <a:r>
              <a:rPr lang="en-US" altLang="zh-CN" sz="2100">
                <a:sym typeface="+mn-ea"/>
              </a:rPr>
              <a:t>wait</a:t>
            </a:r>
            <a:r>
              <a:rPr lang="zh-CN" altLang="en-US" sz="2100">
                <a:sym typeface="+mn-ea"/>
              </a:rPr>
              <a:t>原语使该进程等待，并将其排在等待队列上。仅当另一进程访问完成并释放该资源之后，管程才又调用</a:t>
            </a:r>
            <a:r>
              <a:rPr lang="en-US" altLang="zh-CN" sz="2100">
                <a:sym typeface="+mn-ea"/>
              </a:rPr>
              <a:t>signal</a:t>
            </a:r>
            <a:r>
              <a:rPr lang="zh-CN" altLang="en-US" sz="2100">
                <a:sym typeface="+mn-ea"/>
              </a:rPr>
              <a:t>原语，唤醒等待队列中的队首进程。</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43</a:t>
            </a:fld>
            <a:endParaRPr kumimoji="1" lang="zh-CN" altLang="en-US"/>
          </a:p>
        </p:txBody>
      </p:sp>
    </p:spTree>
    <p:extLst>
      <p:ext uri="{BB962C8B-B14F-4D97-AF65-F5344CB8AC3E}">
        <p14:creationId xmlns:p14="http://schemas.microsoft.com/office/powerpoint/2010/main" val="22870172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经典进程的同步问题</a:t>
            </a:r>
            <a:endParaRPr lang="zh-CN" altLang="en-US">
              <a:latin typeface="+mj-ea"/>
              <a:ea typeface="+mj-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44</a:t>
            </a:fld>
            <a:endParaRPr kumimoji="1" lang="zh-CN" altLang="en-US"/>
          </a:p>
        </p:txBody>
      </p:sp>
      <p:sp>
        <p:nvSpPr>
          <p:cNvPr id="7" name="内容占位符 2">
            <a:extLst>
              <a:ext uri="{FF2B5EF4-FFF2-40B4-BE49-F238E27FC236}">
                <a16:creationId xmlns:a16="http://schemas.microsoft.com/office/drawing/2014/main" id="{F9C2A822-A428-412A-B42F-288004569F29}"/>
              </a:ext>
            </a:extLst>
          </p:cNvPr>
          <p:cNvSpPr>
            <a:spLocks noGrp="1"/>
          </p:cNvSpPr>
          <p:nvPr>
            <p:ph idx="1"/>
          </p:nvPr>
        </p:nvSpPr>
        <p:spPr>
          <a:xfrm>
            <a:off x="838200" y="1510758"/>
            <a:ext cx="10515600" cy="4586694"/>
          </a:xfrm>
        </p:spPr>
        <p:txBody>
          <a:bodyPr>
            <a:normAutofit/>
          </a:bodyPr>
          <a:lstStyle/>
          <a:p>
            <a:pPr marL="0" indent="0" algn="just">
              <a:buNone/>
            </a:pPr>
            <a:r>
              <a:rPr lang="zh-CN" altLang="en-US" sz="2400">
                <a:solidFill>
                  <a:schemeClr val="accent6">
                    <a:lumMod val="50000"/>
                  </a:schemeClr>
                </a:solidFill>
              </a:rPr>
              <a:t>        在多道程序环境下，进程同步问题十分重要，也是相当有趣的问题，因而吸引了不少学者对它进行研究，由此而产生了一系列经典的进程同步问题，其中较有代表性的是“生产者</a:t>
            </a:r>
            <a:r>
              <a:rPr lang="en-US" altLang="zh-CN" sz="2400">
                <a:solidFill>
                  <a:schemeClr val="accent6">
                    <a:lumMod val="50000"/>
                  </a:schemeClr>
                </a:solidFill>
              </a:rPr>
              <a:t>—</a:t>
            </a:r>
            <a:r>
              <a:rPr lang="zh-CN" altLang="en-US" sz="2400">
                <a:solidFill>
                  <a:schemeClr val="accent6">
                    <a:lumMod val="50000"/>
                  </a:schemeClr>
                </a:solidFill>
              </a:rPr>
              <a:t>消费者”问题、“读者</a:t>
            </a:r>
            <a:r>
              <a:rPr lang="en-US" altLang="zh-CN" sz="2400">
                <a:solidFill>
                  <a:schemeClr val="accent6">
                    <a:lumMod val="50000"/>
                  </a:schemeClr>
                </a:solidFill>
              </a:rPr>
              <a:t>—</a:t>
            </a:r>
            <a:r>
              <a:rPr lang="zh-CN" altLang="en-US" sz="2400">
                <a:solidFill>
                  <a:schemeClr val="accent6">
                    <a:lumMod val="50000"/>
                  </a:schemeClr>
                </a:solidFill>
              </a:rPr>
              <a:t>写者问题”、“哲学家进餐问题”等等。通过对这些问题的研究和学习，可以帮助我们更好地理解进程同步的概念及实现方法。</a:t>
            </a:r>
          </a:p>
        </p:txBody>
      </p:sp>
    </p:spTree>
    <p:extLst>
      <p:ext uri="{BB962C8B-B14F-4D97-AF65-F5344CB8AC3E}">
        <p14:creationId xmlns:p14="http://schemas.microsoft.com/office/powerpoint/2010/main" val="11319655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经典进程的同步问题</a:t>
            </a:r>
            <a:endParaRPr lang="zh-CN" altLang="en-US">
              <a:latin typeface="+mj-ea"/>
              <a:ea typeface="+mj-ea"/>
            </a:endParaRPr>
          </a:p>
        </p:txBody>
      </p:sp>
      <p:sp>
        <p:nvSpPr>
          <p:cNvPr id="3" name="内容占位符 2"/>
          <p:cNvSpPr>
            <a:spLocks noGrp="1"/>
          </p:cNvSpPr>
          <p:nvPr>
            <p:ph idx="1"/>
          </p:nvPr>
        </p:nvSpPr>
        <p:spPr>
          <a:xfrm>
            <a:off x="838199" y="1510665"/>
            <a:ext cx="10384858" cy="5347335"/>
          </a:xfrm>
        </p:spPr>
        <p:txBody>
          <a:bodyPr>
            <a:normAutofit fontScale="97500"/>
          </a:bodyPr>
          <a:lstStyle/>
          <a:p>
            <a:r>
              <a:rPr lang="zh-CN" altLang="en-US" sz="2900">
                <a:solidFill>
                  <a:srgbClr val="0070C0"/>
                </a:solidFill>
                <a:sym typeface="+mn-ea"/>
              </a:rPr>
              <a:t>生产者</a:t>
            </a:r>
            <a:r>
              <a:rPr lang="en-US" altLang="zh-CN" sz="2900">
                <a:solidFill>
                  <a:srgbClr val="0070C0"/>
                </a:solidFill>
                <a:sym typeface="+mn-ea"/>
              </a:rPr>
              <a:t>-</a:t>
            </a:r>
            <a:r>
              <a:rPr lang="zh-CN" altLang="en-US" sz="2900">
                <a:solidFill>
                  <a:srgbClr val="0070C0"/>
                </a:solidFill>
                <a:sym typeface="+mn-ea"/>
              </a:rPr>
              <a:t>消费者问题</a:t>
            </a:r>
          </a:p>
          <a:p>
            <a:pPr lvl="1">
              <a:buClrTx/>
              <a:buSzTx/>
              <a:buFont typeface="Wingdings" panose="05000000000000000000" pitchFamily="2" charset="2"/>
              <a:buChar char="ü"/>
            </a:pPr>
            <a:r>
              <a:rPr lang="zh-CN" altLang="en-US" sz="2500">
                <a:sym typeface="+mn-ea"/>
              </a:rPr>
              <a:t>利用记录型信号量解决生产者</a:t>
            </a:r>
            <a:r>
              <a:rPr lang="en-US" altLang="zh-CN" sz="2500">
                <a:sym typeface="+mn-ea"/>
              </a:rPr>
              <a:t>-</a:t>
            </a:r>
            <a:r>
              <a:rPr lang="zh-CN" altLang="en-US" sz="2500">
                <a:sym typeface="+mn-ea"/>
              </a:rPr>
              <a:t>消费者问题</a:t>
            </a:r>
            <a:endParaRPr lang="en-US" altLang="zh-CN" sz="2500">
              <a:sym typeface="+mn-ea"/>
            </a:endParaRPr>
          </a:p>
          <a:p>
            <a:pPr marL="914400" lvl="2" indent="0" algn="just">
              <a:buNone/>
            </a:pPr>
            <a:r>
              <a:rPr lang="zh-CN" altLang="en-US" sz="2100">
                <a:sym typeface="+mn-ea"/>
              </a:rPr>
              <a:t>假定在生产者和消费者之间的公用缓冲池中具有</a:t>
            </a:r>
            <a:r>
              <a:rPr lang="en-US" altLang="zh-CN" sz="2100">
                <a:sym typeface="+mn-ea"/>
              </a:rPr>
              <a:t>n</a:t>
            </a:r>
            <a:r>
              <a:rPr lang="zh-CN" altLang="en-US" sz="2100">
                <a:sym typeface="+mn-ea"/>
              </a:rPr>
              <a:t>个缓冲区，这时可利用互斥信号量</a:t>
            </a:r>
            <a:r>
              <a:rPr lang="en-US" altLang="zh-CN" sz="2100">
                <a:sym typeface="+mn-ea"/>
              </a:rPr>
              <a:t>mutex</a:t>
            </a:r>
            <a:r>
              <a:rPr lang="zh-CN" altLang="en-US" sz="2100">
                <a:sym typeface="+mn-ea"/>
              </a:rPr>
              <a:t>实现诸进程对缓冲池的互斥使用；利用信号量</a:t>
            </a:r>
            <a:r>
              <a:rPr lang="en-US" altLang="zh-CN" sz="2100">
                <a:sym typeface="+mn-ea"/>
              </a:rPr>
              <a:t>empty</a:t>
            </a:r>
            <a:r>
              <a:rPr lang="zh-CN" altLang="en-US" sz="2100">
                <a:sym typeface="+mn-ea"/>
              </a:rPr>
              <a:t>和</a:t>
            </a:r>
            <a:r>
              <a:rPr lang="en-US" altLang="zh-CN" sz="2100">
                <a:sym typeface="+mn-ea"/>
              </a:rPr>
              <a:t>full</a:t>
            </a:r>
            <a:r>
              <a:rPr lang="zh-CN" altLang="en-US" sz="2100">
                <a:sym typeface="+mn-ea"/>
              </a:rPr>
              <a:t>分别表示缓冲池中空缓冲区和满缓冲区的数量。又假定这些生产者和消费者相互等效，只要缓冲池未满，生产者便可将消息送入缓冲池；只要缓冲池未空，消费者便可从缓冲池中取走一个消息。</a:t>
            </a:r>
            <a:endParaRPr lang="en-US" altLang="zh-CN" sz="2100">
              <a:sym typeface="+mn-ea"/>
            </a:endParaRPr>
          </a:p>
          <a:p>
            <a:pPr lvl="1">
              <a:buClrTx/>
              <a:buSzTx/>
              <a:buFont typeface="Wingdings" panose="05000000000000000000" pitchFamily="2" charset="2"/>
              <a:buChar char="ü"/>
            </a:pPr>
            <a:r>
              <a:rPr lang="zh-CN" altLang="en-US" sz="2500">
                <a:sym typeface="+mn-ea"/>
              </a:rPr>
              <a:t>利用</a:t>
            </a:r>
            <a:r>
              <a:rPr lang="en-US" altLang="zh-CN" sz="2500">
                <a:sym typeface="+mn-ea"/>
              </a:rPr>
              <a:t>AND</a:t>
            </a:r>
            <a:r>
              <a:rPr lang="zh-CN" altLang="en-US" sz="2500">
                <a:sym typeface="+mn-ea"/>
              </a:rPr>
              <a:t>信号量解决生产者</a:t>
            </a:r>
            <a:r>
              <a:rPr lang="en-US" altLang="zh-CN" sz="2500">
                <a:sym typeface="+mn-ea"/>
              </a:rPr>
              <a:t>-</a:t>
            </a:r>
            <a:r>
              <a:rPr lang="zh-CN" altLang="en-US" sz="2500">
                <a:sym typeface="+mn-ea"/>
              </a:rPr>
              <a:t>消费者问题</a:t>
            </a:r>
            <a:endParaRPr lang="en-US" altLang="zh-CN" sz="2500">
              <a:sym typeface="+mn-ea"/>
            </a:endParaRPr>
          </a:p>
          <a:p>
            <a:pPr marL="914400" lvl="2" indent="0" algn="just">
              <a:buNone/>
            </a:pPr>
            <a:r>
              <a:rPr lang="zh-CN" altLang="en-US" sz="2100">
                <a:sym typeface="+mn-ea"/>
              </a:rPr>
              <a:t>对于生产者</a:t>
            </a:r>
            <a:r>
              <a:rPr lang="en-US" altLang="zh-CN" sz="2100">
                <a:sym typeface="+mn-ea"/>
              </a:rPr>
              <a:t>-</a:t>
            </a:r>
            <a:r>
              <a:rPr lang="zh-CN" altLang="en-US" sz="2100">
                <a:sym typeface="+mn-ea"/>
              </a:rPr>
              <a:t>消费者问题，也可利用</a:t>
            </a:r>
            <a:r>
              <a:rPr lang="en-US" altLang="zh-CN" sz="2100">
                <a:sym typeface="+mn-ea"/>
              </a:rPr>
              <a:t>AND</a:t>
            </a:r>
            <a:r>
              <a:rPr lang="zh-CN" altLang="en-US" sz="2100">
                <a:sym typeface="+mn-ea"/>
              </a:rPr>
              <a:t>信号量来解决，即用</a:t>
            </a:r>
            <a:r>
              <a:rPr lang="en-US" altLang="zh-CN" sz="2100">
                <a:sym typeface="+mn-ea"/>
              </a:rPr>
              <a:t>Swait(empty</a:t>
            </a:r>
            <a:r>
              <a:rPr lang="zh-CN" altLang="en-US" sz="2100">
                <a:sym typeface="+mn-ea"/>
              </a:rPr>
              <a:t>，</a:t>
            </a:r>
            <a:r>
              <a:rPr lang="en-US" altLang="zh-CN" sz="2100">
                <a:sym typeface="+mn-ea"/>
              </a:rPr>
              <a:t>mutex)</a:t>
            </a:r>
            <a:r>
              <a:rPr lang="zh-CN" altLang="en-US" sz="2100">
                <a:sym typeface="+mn-ea"/>
              </a:rPr>
              <a:t>来代替</a:t>
            </a:r>
            <a:r>
              <a:rPr lang="en-US" altLang="zh-CN" sz="2100">
                <a:sym typeface="+mn-ea"/>
              </a:rPr>
              <a:t>wait(empty)</a:t>
            </a:r>
            <a:r>
              <a:rPr lang="zh-CN" altLang="en-US" sz="2100">
                <a:sym typeface="+mn-ea"/>
              </a:rPr>
              <a:t>和</a:t>
            </a:r>
            <a:r>
              <a:rPr lang="en-US" altLang="zh-CN" sz="2100">
                <a:sym typeface="+mn-ea"/>
              </a:rPr>
              <a:t>wait(mutex)</a:t>
            </a:r>
            <a:r>
              <a:rPr lang="zh-CN" altLang="en-US" sz="2100">
                <a:sym typeface="+mn-ea"/>
              </a:rPr>
              <a:t>；用</a:t>
            </a:r>
            <a:r>
              <a:rPr lang="en-US" altLang="zh-CN" sz="2100">
                <a:sym typeface="+mn-ea"/>
              </a:rPr>
              <a:t>Ssignal(mutex</a:t>
            </a:r>
            <a:r>
              <a:rPr lang="zh-CN" altLang="en-US" sz="2100">
                <a:sym typeface="+mn-ea"/>
              </a:rPr>
              <a:t>，</a:t>
            </a:r>
            <a:r>
              <a:rPr lang="en-US" altLang="zh-CN" sz="2100">
                <a:sym typeface="+mn-ea"/>
              </a:rPr>
              <a:t>full)</a:t>
            </a:r>
            <a:r>
              <a:rPr lang="zh-CN" altLang="en-US" sz="2100">
                <a:sym typeface="+mn-ea"/>
              </a:rPr>
              <a:t>来代替</a:t>
            </a:r>
            <a:r>
              <a:rPr lang="en-US" altLang="zh-CN" sz="2100">
                <a:sym typeface="+mn-ea"/>
              </a:rPr>
              <a:t>signal(mutex)</a:t>
            </a:r>
            <a:r>
              <a:rPr lang="zh-CN" altLang="en-US" sz="2100">
                <a:sym typeface="+mn-ea"/>
              </a:rPr>
              <a:t>和</a:t>
            </a:r>
            <a:r>
              <a:rPr lang="en-US" altLang="zh-CN" sz="2100">
                <a:sym typeface="+mn-ea"/>
              </a:rPr>
              <a:t>signal(full)</a:t>
            </a:r>
            <a:r>
              <a:rPr lang="zh-CN" altLang="en-US" sz="2100">
                <a:sym typeface="+mn-ea"/>
              </a:rPr>
              <a:t>；用</a:t>
            </a:r>
            <a:r>
              <a:rPr lang="en-US" altLang="zh-CN" sz="2100">
                <a:sym typeface="+mn-ea"/>
              </a:rPr>
              <a:t>Swait(full</a:t>
            </a:r>
            <a:r>
              <a:rPr lang="zh-CN" altLang="en-US" sz="2100">
                <a:sym typeface="+mn-ea"/>
              </a:rPr>
              <a:t>，</a:t>
            </a:r>
            <a:r>
              <a:rPr lang="en-US" altLang="zh-CN" sz="2100">
                <a:sym typeface="+mn-ea"/>
              </a:rPr>
              <a:t>mutex)</a:t>
            </a:r>
            <a:r>
              <a:rPr lang="zh-CN" altLang="en-US" sz="2100">
                <a:sym typeface="+mn-ea"/>
              </a:rPr>
              <a:t>代替</a:t>
            </a:r>
            <a:r>
              <a:rPr lang="en-US" altLang="zh-CN" sz="2100">
                <a:sym typeface="+mn-ea"/>
              </a:rPr>
              <a:t>wait(full)</a:t>
            </a:r>
            <a:r>
              <a:rPr lang="zh-CN" altLang="en-US" sz="2100">
                <a:sym typeface="+mn-ea"/>
              </a:rPr>
              <a:t>和</a:t>
            </a:r>
            <a:r>
              <a:rPr lang="en-US" altLang="zh-CN" sz="2100">
                <a:sym typeface="+mn-ea"/>
              </a:rPr>
              <a:t>wait(mutex)</a:t>
            </a:r>
            <a:r>
              <a:rPr lang="zh-CN" altLang="en-US" sz="2100">
                <a:sym typeface="+mn-ea"/>
              </a:rPr>
              <a:t>，以及用</a:t>
            </a:r>
            <a:r>
              <a:rPr lang="en-US" altLang="zh-CN" sz="2100">
                <a:sym typeface="+mn-ea"/>
              </a:rPr>
              <a:t>Ssignal(mutex</a:t>
            </a:r>
            <a:r>
              <a:rPr lang="zh-CN" altLang="en-US" sz="2100">
                <a:sym typeface="+mn-ea"/>
              </a:rPr>
              <a:t>，</a:t>
            </a:r>
            <a:r>
              <a:rPr lang="en-US" altLang="zh-CN" sz="2100">
                <a:sym typeface="+mn-ea"/>
              </a:rPr>
              <a:t>empty)</a:t>
            </a:r>
            <a:r>
              <a:rPr lang="zh-CN" altLang="en-US" sz="2100">
                <a:sym typeface="+mn-ea"/>
              </a:rPr>
              <a:t>代替</a:t>
            </a:r>
            <a:r>
              <a:rPr lang="en-US" altLang="zh-CN" sz="2100">
                <a:sym typeface="+mn-ea"/>
              </a:rPr>
              <a:t>Signal(mutex)</a:t>
            </a:r>
            <a:r>
              <a:rPr lang="zh-CN" altLang="en-US" sz="2100">
                <a:sym typeface="+mn-ea"/>
              </a:rPr>
              <a:t>和</a:t>
            </a:r>
            <a:r>
              <a:rPr lang="en-US" altLang="zh-CN" sz="2100">
                <a:sym typeface="+mn-ea"/>
              </a:rPr>
              <a:t>Signal(empty)</a:t>
            </a:r>
            <a:r>
              <a:rPr lang="zh-CN" altLang="en-US" sz="2100">
                <a:sym typeface="+mn-ea"/>
              </a:rPr>
              <a:t>。</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45</a:t>
            </a:fld>
            <a:endParaRPr kumimoji="1" lang="zh-CN" altLang="en-US"/>
          </a:p>
        </p:txBody>
      </p:sp>
    </p:spTree>
    <p:extLst>
      <p:ext uri="{BB962C8B-B14F-4D97-AF65-F5344CB8AC3E}">
        <p14:creationId xmlns:p14="http://schemas.microsoft.com/office/powerpoint/2010/main" val="23317589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083A43-F5C6-4BF0-A7C8-62242B99A2CB}"/>
              </a:ext>
            </a:extLst>
          </p:cNvPr>
          <p:cNvSpPr>
            <a:spLocks noGrp="1"/>
          </p:cNvSpPr>
          <p:nvPr>
            <p:ph type="title"/>
          </p:nvPr>
        </p:nvSpPr>
        <p:spPr/>
        <p:txBody>
          <a:bodyPr/>
          <a:lstStyle/>
          <a:p>
            <a:r>
              <a:rPr lang="zh-CN" altLang="en-US" sz="4000">
                <a:latin typeface="+mj-ea"/>
                <a:ea typeface="+mj-ea"/>
              </a:rPr>
              <a:t>经典进程的同步问题</a:t>
            </a:r>
            <a:endParaRPr lang="zh-CN" altLang="en-US">
              <a:latin typeface="+mj-ea"/>
              <a:ea typeface="+mj-ea"/>
            </a:endParaRPr>
          </a:p>
        </p:txBody>
      </p:sp>
      <p:sp>
        <p:nvSpPr>
          <p:cNvPr id="4" name="灯片编号占位符 3">
            <a:extLst>
              <a:ext uri="{FF2B5EF4-FFF2-40B4-BE49-F238E27FC236}">
                <a16:creationId xmlns:a16="http://schemas.microsoft.com/office/drawing/2014/main" id="{A0055BA2-EBD6-4253-8A90-F5BAC1AC3DB2}"/>
              </a:ext>
            </a:extLst>
          </p:cNvPr>
          <p:cNvSpPr>
            <a:spLocks noGrp="1"/>
          </p:cNvSpPr>
          <p:nvPr>
            <p:ph type="sldNum" sz="quarter" idx="12"/>
          </p:nvPr>
        </p:nvSpPr>
        <p:spPr/>
        <p:txBody>
          <a:bodyPr/>
          <a:lstStyle/>
          <a:p>
            <a:fld id="{8D4D1E41-7A09-AB4A-A4E1-09765ADA2698}" type="slidenum">
              <a:rPr kumimoji="1" lang="zh-CN" altLang="en-US" smtClean="0"/>
              <a:t>46</a:t>
            </a:fld>
            <a:endParaRPr kumimoji="1" lang="zh-CN" altLang="en-US"/>
          </a:p>
        </p:txBody>
      </p:sp>
      <p:sp>
        <p:nvSpPr>
          <p:cNvPr id="6" name="文本框 5">
            <a:extLst>
              <a:ext uri="{FF2B5EF4-FFF2-40B4-BE49-F238E27FC236}">
                <a16:creationId xmlns:a16="http://schemas.microsoft.com/office/drawing/2014/main" id="{77A7714B-2674-461D-A772-A7340C3AB097}"/>
              </a:ext>
            </a:extLst>
          </p:cNvPr>
          <p:cNvSpPr txBox="1"/>
          <p:nvPr/>
        </p:nvSpPr>
        <p:spPr>
          <a:xfrm>
            <a:off x="7043796" y="2424795"/>
            <a:ext cx="3794760" cy="3139321"/>
          </a:xfrm>
          <a:prstGeom prst="rect">
            <a:avLst/>
          </a:prstGeom>
          <a:noFill/>
        </p:spPr>
        <p:txBody>
          <a:bodyPr wrap="square">
            <a:spAutoFit/>
          </a:bodyPr>
          <a:lstStyle/>
          <a:p>
            <a:pPr algn="l"/>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while(TRUE){</a:t>
            </a:r>
          </a:p>
          <a:p>
            <a:pPr algn="l"/>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     P(mutex);</a:t>
            </a:r>
          </a:p>
          <a:p>
            <a:pPr algn="l"/>
            <a:r>
              <a:rPr lang="en-US" altLang="zh-CN" sz="220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P(full);</a:t>
            </a:r>
          </a:p>
          <a:p>
            <a:pPr algn="l"/>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b="0" i="0">
                <a:effectLst/>
                <a:latin typeface="Times New Roman" panose="02020603050405020304" pitchFamily="18" charset="0"/>
                <a:ea typeface="宋体" panose="02010600030101010101" pitchFamily="2" charset="-122"/>
                <a:cs typeface="Times New Roman" panose="02020603050405020304" pitchFamily="18" charset="0"/>
              </a:rPr>
              <a:t>从</a:t>
            </a:r>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buffer</a:t>
            </a:r>
            <a:r>
              <a:rPr lang="zh-CN" altLang="en-US" sz="2200" b="0" i="0">
                <a:effectLst/>
                <a:latin typeface="Times New Roman" panose="02020603050405020304" pitchFamily="18" charset="0"/>
                <a:ea typeface="宋体" panose="02010600030101010101" pitchFamily="2" charset="-122"/>
                <a:cs typeface="Times New Roman" panose="02020603050405020304" pitchFamily="18" charset="0"/>
              </a:rPr>
              <a:t>中取出产品；</a:t>
            </a:r>
          </a:p>
          <a:p>
            <a:pPr algn="l"/>
            <a:r>
              <a:rPr lang="zh-CN" altLang="en-US" sz="2200" b="0" i="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out=(out+1)mod n</a:t>
            </a:r>
            <a:r>
              <a:rPr lang="zh-CN" altLang="en-US" sz="2200" b="0" i="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     V(empty);</a:t>
            </a:r>
          </a:p>
          <a:p>
            <a:pPr algn="l"/>
            <a:r>
              <a:rPr lang="en-US" altLang="zh-CN" sz="2200">
                <a:latin typeface="Times New Roman" panose="02020603050405020304" pitchFamily="18" charset="0"/>
                <a:ea typeface="宋体" panose="02010600030101010101" pitchFamily="2" charset="-122"/>
                <a:cs typeface="Times New Roman" panose="02020603050405020304" pitchFamily="18" charset="0"/>
              </a:rPr>
              <a:t>     V(mutex);</a:t>
            </a:r>
            <a:endPar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b="0" i="0">
                <a:effectLst/>
                <a:latin typeface="Times New Roman" panose="02020603050405020304" pitchFamily="18" charset="0"/>
                <a:ea typeface="宋体" panose="02010600030101010101" pitchFamily="2" charset="-122"/>
                <a:cs typeface="Times New Roman" panose="02020603050405020304" pitchFamily="18" charset="0"/>
              </a:rPr>
              <a:t>消费该产品</a:t>
            </a:r>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200" b="0" i="0">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a:t>
            </a:r>
          </a:p>
        </p:txBody>
      </p:sp>
      <p:sp>
        <p:nvSpPr>
          <p:cNvPr id="8" name="文本框 7">
            <a:extLst>
              <a:ext uri="{FF2B5EF4-FFF2-40B4-BE49-F238E27FC236}">
                <a16:creationId xmlns:a16="http://schemas.microsoft.com/office/drawing/2014/main" id="{4CE50C55-59F5-4867-9BCA-8F6DE5DFBE40}"/>
              </a:ext>
            </a:extLst>
          </p:cNvPr>
          <p:cNvSpPr txBox="1"/>
          <p:nvPr/>
        </p:nvSpPr>
        <p:spPr>
          <a:xfrm>
            <a:off x="3624404" y="2424794"/>
            <a:ext cx="3285730" cy="3139321"/>
          </a:xfrm>
          <a:prstGeom prst="rect">
            <a:avLst/>
          </a:prstGeom>
          <a:noFill/>
        </p:spPr>
        <p:txBody>
          <a:bodyPr wrap="square">
            <a:spAutoFit/>
          </a:bodyPr>
          <a:lstStyle/>
          <a:p>
            <a:pPr algn="l"/>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while(TRUE){</a:t>
            </a:r>
          </a:p>
          <a:p>
            <a:pPr algn="l"/>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b="0" i="0">
                <a:effectLst/>
                <a:latin typeface="Times New Roman" panose="02020603050405020304" pitchFamily="18" charset="0"/>
                <a:ea typeface="宋体" panose="02010600030101010101" pitchFamily="2" charset="-122"/>
                <a:cs typeface="Times New Roman" panose="02020603050405020304" pitchFamily="18" charset="0"/>
              </a:rPr>
              <a:t>生产一个产品</a:t>
            </a:r>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a:t>
            </a:r>
          </a:p>
          <a:p>
            <a:pPr algn="l"/>
            <a:r>
              <a:rPr lang="en-US" altLang="zh-CN" sz="2200">
                <a:latin typeface="Times New Roman" panose="02020603050405020304" pitchFamily="18" charset="0"/>
                <a:ea typeface="宋体" panose="02010600030101010101" pitchFamily="2" charset="-122"/>
                <a:cs typeface="Times New Roman" panose="02020603050405020304" pitchFamily="18" charset="0"/>
              </a:rPr>
              <a:t>     P(mutex);</a:t>
            </a:r>
            <a:endParaRPr lang="zh-CN" altLang="en-US" sz="2200" b="0" i="0">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zh-CN" altLang="en-US" sz="2200" b="0" i="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P(empty);</a:t>
            </a:r>
          </a:p>
          <a:p>
            <a:pPr algn="l"/>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b="0" i="0">
                <a:effectLst/>
                <a:latin typeface="Times New Roman" panose="02020603050405020304" pitchFamily="18" charset="0"/>
                <a:ea typeface="宋体" panose="02010600030101010101" pitchFamily="2" charset="-122"/>
                <a:cs typeface="Times New Roman" panose="02020603050405020304" pitchFamily="18" charset="0"/>
              </a:rPr>
              <a:t>产品送往</a:t>
            </a:r>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buffer</a:t>
            </a:r>
            <a:r>
              <a:rPr lang="zh-CN" altLang="en-US" sz="2200" b="0" i="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     in=(in+1)mod n</a:t>
            </a:r>
            <a:r>
              <a:rPr lang="zh-CN" altLang="en-US" sz="2200" b="0" i="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     V(full);</a:t>
            </a:r>
          </a:p>
          <a:p>
            <a:pPr algn="l"/>
            <a:r>
              <a:rPr lang="en-US" altLang="zh-CN" sz="2200">
                <a:latin typeface="Times New Roman" panose="02020603050405020304" pitchFamily="18" charset="0"/>
                <a:ea typeface="宋体" panose="02010600030101010101" pitchFamily="2" charset="-122"/>
                <a:cs typeface="Times New Roman" panose="02020603050405020304" pitchFamily="18" charset="0"/>
              </a:rPr>
              <a:t>     V(mutex)</a:t>
            </a:r>
            <a:endPar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sz="2200" b="0" i="0">
                <a:effectLst/>
                <a:latin typeface="Times New Roman" panose="02020603050405020304" pitchFamily="18" charset="0"/>
                <a:ea typeface="宋体" panose="02010600030101010101" pitchFamily="2" charset="-122"/>
                <a:cs typeface="Times New Roman" panose="02020603050405020304" pitchFamily="18" charset="0"/>
              </a:rPr>
              <a:t>}</a:t>
            </a:r>
          </a:p>
        </p:txBody>
      </p:sp>
      <p:sp>
        <p:nvSpPr>
          <p:cNvPr id="9" name="文本框 8">
            <a:extLst>
              <a:ext uri="{FF2B5EF4-FFF2-40B4-BE49-F238E27FC236}">
                <a16:creationId xmlns:a16="http://schemas.microsoft.com/office/drawing/2014/main" id="{4D2B25B0-6EA5-464F-AEC4-9A1E94A1CE42}"/>
              </a:ext>
            </a:extLst>
          </p:cNvPr>
          <p:cNvSpPr txBox="1"/>
          <p:nvPr/>
        </p:nvSpPr>
        <p:spPr>
          <a:xfrm>
            <a:off x="1518141" y="3323283"/>
            <a:ext cx="1313180" cy="1107996"/>
          </a:xfrm>
          <a:prstGeom prst="rect">
            <a:avLst/>
          </a:prstGeom>
          <a:noFill/>
          <a:ln>
            <a:solidFill>
              <a:schemeClr val="tx1"/>
            </a:solidFill>
          </a:ln>
        </p:spPr>
        <p:txBody>
          <a:bodyPr wrap="none" rtlCol="0">
            <a:spAutoFit/>
          </a:bodyPr>
          <a:lstStyle/>
          <a:p>
            <a:r>
              <a:rPr lang="en-US" altLang="zh-CN" sz="2200">
                <a:latin typeface="Times New Roman" panose="02020603050405020304" pitchFamily="18" charset="0"/>
                <a:ea typeface="宋体" panose="02010600030101010101" pitchFamily="2" charset="-122"/>
                <a:cs typeface="Times New Roman" panose="02020603050405020304" pitchFamily="18" charset="0"/>
              </a:rPr>
              <a:t>empty=n;</a:t>
            </a:r>
          </a:p>
          <a:p>
            <a:r>
              <a:rPr lang="en-US" altLang="zh-CN" sz="2200">
                <a:latin typeface="Times New Roman" panose="02020603050405020304" pitchFamily="18" charset="0"/>
                <a:ea typeface="宋体" panose="02010600030101010101" pitchFamily="2" charset="-122"/>
                <a:cs typeface="Times New Roman" panose="02020603050405020304" pitchFamily="18" charset="0"/>
              </a:rPr>
              <a:t>full=0;</a:t>
            </a:r>
          </a:p>
          <a:p>
            <a:r>
              <a:rPr lang="en-US" altLang="zh-CN" sz="2200">
                <a:latin typeface="Times New Roman" panose="02020603050405020304" pitchFamily="18" charset="0"/>
                <a:ea typeface="宋体" panose="02010600030101010101" pitchFamily="2" charset="-122"/>
                <a:cs typeface="Times New Roman" panose="02020603050405020304" pitchFamily="18" charset="0"/>
              </a:rPr>
              <a:t>mutex=1;</a:t>
            </a:r>
            <a:endParaRPr lang="zh-CN" altLang="en-US" sz="220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07326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dirty="0">
                <a:latin typeface="+mj-ea"/>
                <a:ea typeface="+mj-ea"/>
              </a:rPr>
              <a:t>经典进程的同步问题</a:t>
            </a:r>
            <a:endParaRPr lang="zh-CN" altLang="en-US" dirty="0">
              <a:latin typeface="+mj-ea"/>
              <a:ea typeface="+mj-ea"/>
            </a:endParaRPr>
          </a:p>
        </p:txBody>
      </p:sp>
      <p:sp>
        <p:nvSpPr>
          <p:cNvPr id="3" name="内容占位符 2"/>
          <p:cNvSpPr>
            <a:spLocks noGrp="1"/>
          </p:cNvSpPr>
          <p:nvPr>
            <p:ph idx="1"/>
          </p:nvPr>
        </p:nvSpPr>
        <p:spPr>
          <a:xfrm>
            <a:off x="838199" y="1510665"/>
            <a:ext cx="10384858" cy="5347335"/>
          </a:xfrm>
        </p:spPr>
        <p:txBody>
          <a:bodyPr>
            <a:normAutofit fontScale="97500"/>
          </a:bodyPr>
          <a:lstStyle/>
          <a:p>
            <a:r>
              <a:rPr lang="zh-CN" altLang="en-US" sz="2900">
                <a:solidFill>
                  <a:srgbClr val="0070C0"/>
                </a:solidFill>
                <a:ea typeface="+mn-ea"/>
                <a:sym typeface="+mn-ea"/>
              </a:rPr>
              <a:t>生产者</a:t>
            </a:r>
            <a:r>
              <a:rPr lang="en-US" altLang="zh-CN" sz="2900">
                <a:solidFill>
                  <a:srgbClr val="0070C0"/>
                </a:solidFill>
                <a:ea typeface="+mn-ea"/>
                <a:sym typeface="+mn-ea"/>
              </a:rPr>
              <a:t>-</a:t>
            </a:r>
            <a:r>
              <a:rPr lang="zh-CN" altLang="en-US" sz="2900">
                <a:solidFill>
                  <a:srgbClr val="0070C0"/>
                </a:solidFill>
                <a:ea typeface="+mn-ea"/>
                <a:sym typeface="+mn-ea"/>
              </a:rPr>
              <a:t>消费者问题</a:t>
            </a:r>
          </a:p>
          <a:p>
            <a:pPr lvl="1">
              <a:buClrTx/>
              <a:buSzTx/>
              <a:buFont typeface="Wingdings" panose="05000000000000000000" pitchFamily="2" charset="2"/>
              <a:buChar char="ü"/>
            </a:pPr>
            <a:r>
              <a:rPr lang="zh-CN" altLang="en-US" sz="2500">
                <a:ea typeface="+mn-ea"/>
                <a:sym typeface="+mn-ea"/>
              </a:rPr>
              <a:t>利用管程解决生产者</a:t>
            </a:r>
            <a:r>
              <a:rPr lang="en-US" altLang="zh-CN" sz="2500">
                <a:ea typeface="+mn-ea"/>
                <a:sym typeface="+mn-ea"/>
              </a:rPr>
              <a:t>-</a:t>
            </a:r>
            <a:r>
              <a:rPr lang="zh-CN" altLang="en-US" sz="2500">
                <a:ea typeface="+mn-ea"/>
                <a:sym typeface="+mn-ea"/>
              </a:rPr>
              <a:t>消费者问题</a:t>
            </a:r>
            <a:endParaRPr lang="en-US" altLang="zh-CN" sz="2500">
              <a:ea typeface="+mn-ea"/>
              <a:sym typeface="+mn-ea"/>
            </a:endParaRPr>
          </a:p>
          <a:p>
            <a:pPr marL="914400" lvl="2" indent="0" algn="just">
              <a:buNone/>
            </a:pPr>
            <a:r>
              <a:rPr lang="zh-CN" altLang="en-US" sz="2100">
                <a:ea typeface="+mn-ea"/>
                <a:sym typeface="+mn-ea"/>
              </a:rPr>
              <a:t>在利用管程方法来解决生产者</a:t>
            </a:r>
            <a:r>
              <a:rPr lang="en-US" altLang="zh-CN" sz="2100">
                <a:ea typeface="+mn-ea"/>
                <a:sym typeface="+mn-ea"/>
              </a:rPr>
              <a:t>-</a:t>
            </a:r>
            <a:r>
              <a:rPr lang="zh-CN" altLang="en-US" sz="2100">
                <a:ea typeface="+mn-ea"/>
                <a:sym typeface="+mn-ea"/>
              </a:rPr>
              <a:t>消费者问题时，首先便是为它们建立一个管程，并命名为</a:t>
            </a:r>
            <a:r>
              <a:rPr lang="en-US" altLang="zh-CN" sz="2100">
                <a:ea typeface="+mn-ea"/>
                <a:sym typeface="+mn-ea"/>
              </a:rPr>
              <a:t>procducerconsumer</a:t>
            </a:r>
            <a:r>
              <a:rPr lang="zh-CN" altLang="en-US" sz="2100">
                <a:ea typeface="+mn-ea"/>
                <a:sym typeface="+mn-ea"/>
              </a:rPr>
              <a:t>，或简称为</a:t>
            </a:r>
            <a:r>
              <a:rPr lang="en-US" altLang="zh-CN" sz="2100">
                <a:ea typeface="+mn-ea"/>
                <a:sym typeface="+mn-ea"/>
              </a:rPr>
              <a:t>PC</a:t>
            </a:r>
            <a:r>
              <a:rPr lang="zh-CN" altLang="en-US" sz="2100">
                <a:ea typeface="+mn-ea"/>
                <a:sym typeface="+mn-ea"/>
              </a:rPr>
              <a:t>。其中包括两个过程：</a:t>
            </a:r>
            <a:r>
              <a:rPr lang="en-US" altLang="zh-CN" sz="2100">
                <a:ea typeface="+mn-ea"/>
                <a:sym typeface="+mn-ea"/>
              </a:rPr>
              <a:t>(1)put(x)</a:t>
            </a:r>
            <a:r>
              <a:rPr lang="zh-CN" altLang="en-US" sz="2100">
                <a:ea typeface="+mn-ea"/>
                <a:sym typeface="+mn-ea"/>
              </a:rPr>
              <a:t>过程；</a:t>
            </a:r>
            <a:r>
              <a:rPr lang="en-US" altLang="zh-CN" sz="2100">
                <a:ea typeface="+mn-ea"/>
                <a:sym typeface="+mn-ea"/>
              </a:rPr>
              <a:t>(2)get(x)</a:t>
            </a:r>
            <a:r>
              <a:rPr lang="zh-CN" altLang="en-US" sz="2100">
                <a:ea typeface="+mn-ea"/>
                <a:sym typeface="+mn-ea"/>
              </a:rPr>
              <a:t>过程。</a:t>
            </a:r>
            <a:endParaRPr lang="en-US" altLang="zh-CN" sz="2100">
              <a:ea typeface="+mn-ea"/>
              <a:sym typeface="+mn-ea"/>
            </a:endParaRPr>
          </a:p>
          <a:p>
            <a:pPr marL="914400" lvl="2" indent="0" algn="just">
              <a:buNone/>
            </a:pPr>
            <a:r>
              <a:rPr lang="zh-CN" altLang="en-US" sz="2100">
                <a:ea typeface="+mn-ea"/>
                <a:sym typeface="+mn-ea"/>
              </a:rPr>
              <a:t>对于条件变量</a:t>
            </a:r>
            <a:r>
              <a:rPr lang="en-US" altLang="zh-CN" sz="2100">
                <a:ea typeface="+mn-ea"/>
                <a:sym typeface="+mn-ea"/>
              </a:rPr>
              <a:t>notfull</a:t>
            </a:r>
            <a:r>
              <a:rPr lang="zh-CN" altLang="en-US" sz="2100">
                <a:ea typeface="+mn-ea"/>
                <a:sym typeface="+mn-ea"/>
              </a:rPr>
              <a:t>和</a:t>
            </a:r>
            <a:r>
              <a:rPr lang="en-US" altLang="zh-CN" sz="2100">
                <a:ea typeface="+mn-ea"/>
                <a:sym typeface="+mn-ea"/>
              </a:rPr>
              <a:t>notempty</a:t>
            </a:r>
            <a:r>
              <a:rPr lang="zh-CN" altLang="en-US" sz="2100">
                <a:ea typeface="+mn-ea"/>
                <a:sym typeface="+mn-ea"/>
              </a:rPr>
              <a:t>，分别有两个过程</a:t>
            </a:r>
            <a:r>
              <a:rPr lang="en-US" altLang="zh-CN" sz="2100">
                <a:ea typeface="+mn-ea"/>
                <a:sym typeface="+mn-ea"/>
              </a:rPr>
              <a:t>cwait</a:t>
            </a:r>
            <a:r>
              <a:rPr lang="zh-CN" altLang="en-US" sz="2100">
                <a:ea typeface="+mn-ea"/>
                <a:sym typeface="+mn-ea"/>
              </a:rPr>
              <a:t>和</a:t>
            </a:r>
            <a:r>
              <a:rPr lang="en-US" altLang="zh-CN" sz="2100">
                <a:ea typeface="+mn-ea"/>
                <a:sym typeface="+mn-ea"/>
              </a:rPr>
              <a:t>csignal</a:t>
            </a:r>
            <a:r>
              <a:rPr lang="zh-CN" altLang="en-US" sz="2100">
                <a:ea typeface="+mn-ea"/>
                <a:sym typeface="+mn-ea"/>
              </a:rPr>
              <a:t>对它们进行操作：</a:t>
            </a:r>
            <a:endParaRPr lang="en-US" altLang="zh-CN" sz="2100">
              <a:ea typeface="+mn-ea"/>
              <a:sym typeface="+mn-ea"/>
            </a:endParaRPr>
          </a:p>
          <a:p>
            <a:pPr marL="914400" lvl="2" indent="0" algn="just">
              <a:buNone/>
            </a:pPr>
            <a:r>
              <a:rPr lang="en-US" altLang="zh-CN" sz="2100">
                <a:ea typeface="+mn-ea"/>
                <a:sym typeface="+mn-ea"/>
              </a:rPr>
              <a:t>        (1)</a:t>
            </a:r>
            <a:r>
              <a:rPr lang="en-US" altLang="zh-CN" sz="2100" b="1">
                <a:solidFill>
                  <a:srgbClr val="FF0000"/>
                </a:solidFill>
                <a:ea typeface="+mn-ea"/>
                <a:sym typeface="+mn-ea"/>
              </a:rPr>
              <a:t>cwait(condition)</a:t>
            </a:r>
            <a:r>
              <a:rPr lang="zh-CN" altLang="en-US" sz="2100" b="1">
                <a:solidFill>
                  <a:srgbClr val="FF0000"/>
                </a:solidFill>
                <a:ea typeface="+mn-ea"/>
                <a:sym typeface="+mn-ea"/>
              </a:rPr>
              <a:t>过程</a:t>
            </a:r>
            <a:r>
              <a:rPr lang="zh-CN" altLang="en-US" sz="2100">
                <a:ea typeface="+mn-ea"/>
                <a:sym typeface="+mn-ea"/>
              </a:rPr>
              <a:t>：当管程被一个进程占用时，其他进程调用该过程时阻塞，并挂在条件</a:t>
            </a:r>
            <a:r>
              <a:rPr lang="en-US" altLang="zh-CN" sz="2100">
                <a:ea typeface="+mn-ea"/>
                <a:sym typeface="+mn-ea"/>
              </a:rPr>
              <a:t>condition</a:t>
            </a:r>
            <a:r>
              <a:rPr lang="zh-CN" altLang="en-US" sz="2100">
                <a:ea typeface="+mn-ea"/>
                <a:sym typeface="+mn-ea"/>
              </a:rPr>
              <a:t>的队列上。</a:t>
            </a:r>
            <a:endParaRPr lang="en-US" altLang="zh-CN" sz="2100">
              <a:ea typeface="+mn-ea"/>
              <a:sym typeface="+mn-ea"/>
            </a:endParaRPr>
          </a:p>
          <a:p>
            <a:pPr marL="914400" lvl="2" indent="0" algn="just">
              <a:buNone/>
            </a:pPr>
            <a:r>
              <a:rPr lang="en-US" altLang="zh-CN" sz="2100">
                <a:ea typeface="+mn-ea"/>
                <a:sym typeface="+mn-ea"/>
              </a:rPr>
              <a:t>        (2)</a:t>
            </a:r>
            <a:r>
              <a:rPr lang="en-US" altLang="zh-CN" sz="2100" b="1">
                <a:solidFill>
                  <a:srgbClr val="FF0000"/>
                </a:solidFill>
                <a:ea typeface="+mn-ea"/>
                <a:sym typeface="+mn-ea"/>
              </a:rPr>
              <a:t>csignal(condition)</a:t>
            </a:r>
            <a:r>
              <a:rPr lang="zh-CN" altLang="en-US" sz="2100" b="1">
                <a:solidFill>
                  <a:srgbClr val="FF0000"/>
                </a:solidFill>
                <a:ea typeface="+mn-ea"/>
                <a:sym typeface="+mn-ea"/>
              </a:rPr>
              <a:t>过程</a:t>
            </a:r>
            <a:r>
              <a:rPr lang="zh-CN" altLang="en-US" sz="2100">
                <a:ea typeface="+mn-ea"/>
                <a:sym typeface="+mn-ea"/>
              </a:rPr>
              <a:t>：唤醒在</a:t>
            </a:r>
            <a:r>
              <a:rPr lang="en-US" altLang="zh-CN" sz="2100">
                <a:ea typeface="+mn-ea"/>
                <a:sym typeface="+mn-ea"/>
              </a:rPr>
              <a:t>cwait</a:t>
            </a:r>
            <a:r>
              <a:rPr lang="zh-CN" altLang="en-US" sz="2100">
                <a:ea typeface="+mn-ea"/>
                <a:sym typeface="+mn-ea"/>
              </a:rPr>
              <a:t>执行后阻塞在条件</a:t>
            </a:r>
            <a:r>
              <a:rPr lang="en-US" altLang="zh-CN" sz="2100">
                <a:ea typeface="+mn-ea"/>
                <a:sym typeface="+mn-ea"/>
              </a:rPr>
              <a:t>condition</a:t>
            </a:r>
            <a:r>
              <a:rPr lang="zh-CN" altLang="en-US" sz="2100">
                <a:ea typeface="+mn-ea"/>
                <a:sym typeface="+mn-ea"/>
              </a:rPr>
              <a:t>队列上的进程，如果这样的进程不止一个，则选择其中一个实施唤醒操作；如果队列为空，则无操作而返回</a:t>
            </a:r>
            <a:endParaRPr lang="en-US" altLang="zh-CN" sz="2100">
              <a:ea typeface="+mn-ea"/>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47</a:t>
            </a:fld>
            <a:endParaRPr kumimoji="1" lang="zh-CN" altLang="en-US"/>
          </a:p>
        </p:txBody>
      </p:sp>
    </p:spTree>
    <p:extLst>
      <p:ext uri="{BB962C8B-B14F-4D97-AF65-F5344CB8AC3E}">
        <p14:creationId xmlns:p14="http://schemas.microsoft.com/office/powerpoint/2010/main" val="17759224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5A247A-A611-D601-9850-877B8530089F}"/>
              </a:ext>
            </a:extLst>
          </p:cNvPr>
          <p:cNvSpPr>
            <a:spLocks noGrp="1"/>
          </p:cNvSpPr>
          <p:nvPr>
            <p:ph type="title"/>
          </p:nvPr>
        </p:nvSpPr>
        <p:spPr/>
        <p:txBody>
          <a:bodyPr/>
          <a:lstStyle/>
          <a:p>
            <a:r>
              <a:rPr lang="zh-CN" altLang="en-US" sz="4000">
                <a:latin typeface="+mj-ea"/>
                <a:ea typeface="+mj-ea"/>
              </a:rPr>
              <a:t>经典进程的同步问题</a:t>
            </a:r>
            <a:endParaRPr lang="zh-CN" altLang="en-US" dirty="0"/>
          </a:p>
        </p:txBody>
      </p:sp>
      <p:sp>
        <p:nvSpPr>
          <p:cNvPr id="4" name="灯片编号占位符 3">
            <a:extLst>
              <a:ext uri="{FF2B5EF4-FFF2-40B4-BE49-F238E27FC236}">
                <a16:creationId xmlns:a16="http://schemas.microsoft.com/office/drawing/2014/main" id="{93B2882E-1B75-1646-E62E-A788BF5ED8F1}"/>
              </a:ext>
            </a:extLst>
          </p:cNvPr>
          <p:cNvSpPr>
            <a:spLocks noGrp="1"/>
          </p:cNvSpPr>
          <p:nvPr>
            <p:ph type="sldNum" sz="quarter" idx="12"/>
          </p:nvPr>
        </p:nvSpPr>
        <p:spPr/>
        <p:txBody>
          <a:bodyPr/>
          <a:lstStyle/>
          <a:p>
            <a:fld id="{8D4D1E41-7A09-AB4A-A4E1-09765ADA2698}" type="slidenum">
              <a:rPr kumimoji="1" lang="zh-CN" altLang="en-US" smtClean="0"/>
              <a:t>48</a:t>
            </a:fld>
            <a:endParaRPr kumimoji="1" lang="zh-CN" altLang="en-US"/>
          </a:p>
        </p:txBody>
      </p:sp>
      <p:sp>
        <p:nvSpPr>
          <p:cNvPr id="6" name="文本框 5">
            <a:extLst>
              <a:ext uri="{FF2B5EF4-FFF2-40B4-BE49-F238E27FC236}">
                <a16:creationId xmlns:a16="http://schemas.microsoft.com/office/drawing/2014/main" id="{74D2C8D1-65E5-B6A7-9E8A-32C342EDD945}"/>
              </a:ext>
            </a:extLst>
          </p:cNvPr>
          <p:cNvSpPr txBox="1"/>
          <p:nvPr/>
        </p:nvSpPr>
        <p:spPr>
          <a:xfrm>
            <a:off x="1307508" y="1629624"/>
            <a:ext cx="4879910" cy="5078313"/>
          </a:xfrm>
          <a:prstGeom prst="rect">
            <a:avLst/>
          </a:prstGeom>
          <a:noFill/>
          <a:ln w="19050">
            <a:solidFill>
              <a:schemeClr val="tx1"/>
            </a:solidFill>
          </a:ln>
        </p:spPr>
        <p:txBody>
          <a:bodyPr wrap="square">
            <a:spAutoFit/>
          </a:bodyPr>
          <a:lstStyle/>
          <a:p>
            <a:r>
              <a:rPr lang="en-US" altLang="zh-CN" dirty="0">
                <a:latin typeface="Times New Roman" panose="02020603050405020304" pitchFamily="18" charset="0"/>
                <a:cs typeface="Times New Roman" panose="02020603050405020304" pitchFamily="18" charset="0"/>
              </a:rPr>
              <a:t>#define MAX 100 </a:t>
            </a:r>
          </a:p>
          <a:p>
            <a:r>
              <a:rPr lang="en-US" altLang="zh-CN" b="1" dirty="0">
                <a:latin typeface="Times New Roman" panose="02020603050405020304" pitchFamily="18" charset="0"/>
                <a:cs typeface="Times New Roman" panose="02020603050405020304" pitchFamily="18" charset="0"/>
              </a:rPr>
              <a:t>monitor</a:t>
            </a:r>
            <a:r>
              <a:rPr lang="en-US" altLang="zh-CN"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PC</a:t>
            </a:r>
            <a:r>
              <a:rPr lang="en-US" altLang="zh-CN" dirty="0">
                <a:latin typeface="Times New Roman" panose="02020603050405020304" pitchFamily="18" charset="0"/>
                <a:cs typeface="Times New Roman" panose="02020603050405020304" pitchFamily="18" charset="0"/>
              </a:rPr>
              <a:t> {</a:t>
            </a:r>
          </a:p>
          <a:p>
            <a:pPr indent="457200"/>
            <a:r>
              <a:rPr lang="en-US" altLang="zh-CN" dirty="0">
                <a:latin typeface="Times New Roman" panose="02020603050405020304" pitchFamily="18" charset="0"/>
                <a:cs typeface="Times New Roman" panose="02020603050405020304" pitchFamily="18" charset="0"/>
              </a:rPr>
              <a:t>int count = 0; </a:t>
            </a:r>
          </a:p>
          <a:p>
            <a:pPr indent="457200"/>
            <a:r>
              <a:rPr lang="en-US" altLang="zh-CN" b="1" dirty="0">
                <a:latin typeface="Times New Roman" panose="02020603050405020304" pitchFamily="18" charset="0"/>
                <a:cs typeface="Times New Roman" panose="02020603050405020304" pitchFamily="18" charset="0"/>
              </a:rPr>
              <a:t>conditon</a:t>
            </a:r>
            <a:r>
              <a:rPr lang="en-US" altLang="zh-CN" dirty="0">
                <a:latin typeface="Times New Roman" panose="02020603050405020304" pitchFamily="18" charset="0"/>
                <a:cs typeface="Times New Roman" panose="02020603050405020304" pitchFamily="18" charset="0"/>
              </a:rPr>
              <a:t> full, empty; </a:t>
            </a:r>
          </a:p>
          <a:p>
            <a:pPr indent="457200"/>
            <a:r>
              <a:rPr lang="en-US" altLang="zh-CN" dirty="0">
                <a:latin typeface="Times New Roman" panose="02020603050405020304" pitchFamily="18" charset="0"/>
                <a:cs typeface="Times New Roman" panose="02020603050405020304" pitchFamily="18" charset="0"/>
              </a:rPr>
              <a:t>void </a:t>
            </a:r>
            <a:r>
              <a:rPr lang="en-US" altLang="zh-CN" b="1" dirty="0">
                <a:latin typeface="Times New Roman" panose="02020603050405020304" pitchFamily="18" charset="0"/>
                <a:cs typeface="Times New Roman" panose="02020603050405020304" pitchFamily="18" charset="0"/>
              </a:rPr>
              <a:t>insert</a:t>
            </a:r>
            <a:r>
              <a:rPr lang="en-US" altLang="zh-CN" dirty="0">
                <a:latin typeface="Times New Roman" panose="02020603050405020304" pitchFamily="18" charset="0"/>
                <a:cs typeface="Times New Roman" panose="02020603050405020304" pitchFamily="18" charset="0"/>
              </a:rPr>
              <a:t>(int item) {</a:t>
            </a:r>
          </a:p>
          <a:p>
            <a:pPr indent="457200"/>
            <a:r>
              <a:rPr lang="en-US" altLang="zh-CN" dirty="0">
                <a:latin typeface="Times New Roman" panose="02020603050405020304" pitchFamily="18" charset="0"/>
                <a:cs typeface="Times New Roman" panose="02020603050405020304" pitchFamily="18" charset="0"/>
              </a:rPr>
              <a:t>	if ( count == MAX ) wait(&amp;full);</a:t>
            </a:r>
          </a:p>
          <a:p>
            <a:pPr indent="457200"/>
            <a:r>
              <a:rPr lang="en-US" altLang="zh-CN" dirty="0">
                <a:latin typeface="Times New Roman" panose="02020603050405020304" pitchFamily="18" charset="0"/>
                <a:cs typeface="Times New Roman" panose="02020603050405020304" pitchFamily="18" charset="0"/>
              </a:rPr>
              <a:t>	insert_item(item);</a:t>
            </a:r>
          </a:p>
          <a:p>
            <a:pPr indent="457200"/>
            <a:r>
              <a:rPr lang="en-US" altLang="zh-CN" dirty="0">
                <a:latin typeface="Times New Roman" panose="02020603050405020304" pitchFamily="18" charset="0"/>
                <a:cs typeface="Times New Roman" panose="02020603050405020304" pitchFamily="18" charset="0"/>
              </a:rPr>
              <a:t>	count += 1;</a:t>
            </a:r>
          </a:p>
          <a:p>
            <a:pPr indent="457200"/>
            <a:r>
              <a:rPr lang="en-US" altLang="zh-CN" dirty="0">
                <a:latin typeface="Times New Roman" panose="02020603050405020304" pitchFamily="18" charset="0"/>
                <a:cs typeface="Times New Roman" panose="02020603050405020304" pitchFamily="18" charset="0"/>
              </a:rPr>
              <a:t>	if ( count == MAX -1 ) signal(&amp;empty);</a:t>
            </a:r>
          </a:p>
          <a:p>
            <a:pPr indent="457200"/>
            <a:r>
              <a:rPr lang="en-US" altLang="zh-CN" dirty="0">
                <a:latin typeface="Times New Roman" panose="02020603050405020304" pitchFamily="18" charset="0"/>
                <a:cs typeface="Times New Roman" panose="02020603050405020304" pitchFamily="18" charset="0"/>
              </a:rPr>
              <a:t>}</a:t>
            </a:r>
          </a:p>
          <a:p>
            <a:pPr indent="457200"/>
            <a:r>
              <a:rPr lang="en-US" altLang="zh-CN" dirty="0">
                <a:latin typeface="Times New Roman" panose="02020603050405020304" pitchFamily="18" charset="0"/>
                <a:cs typeface="Times New Roman" panose="02020603050405020304" pitchFamily="18" charset="0"/>
              </a:rPr>
              <a:t>int </a:t>
            </a:r>
            <a:r>
              <a:rPr lang="en-US" altLang="zh-CN" b="1" dirty="0">
                <a:latin typeface="Times New Roman" panose="02020603050405020304" pitchFamily="18" charset="0"/>
                <a:cs typeface="Times New Roman" panose="02020603050405020304" pitchFamily="18" charset="0"/>
              </a:rPr>
              <a:t>remove</a:t>
            </a:r>
            <a:r>
              <a:rPr lang="en-US" altLang="zh-CN" dirty="0">
                <a:latin typeface="Times New Roman" panose="02020603050405020304" pitchFamily="18" charset="0"/>
                <a:cs typeface="Times New Roman" panose="02020603050405020304" pitchFamily="18" charset="0"/>
              </a:rPr>
              <a:t>() {</a:t>
            </a:r>
          </a:p>
          <a:p>
            <a:pPr indent="457200"/>
            <a:r>
              <a:rPr lang="en-US" altLang="zh-CN" dirty="0">
                <a:latin typeface="Times New Roman" panose="02020603050405020304" pitchFamily="18" charset="0"/>
                <a:cs typeface="Times New Roman" panose="02020603050405020304" pitchFamily="18" charset="0"/>
              </a:rPr>
              <a:t>	if( count == 0 ) wait(&amp;empty);</a:t>
            </a:r>
          </a:p>
          <a:p>
            <a:pPr indent="457200"/>
            <a:r>
              <a:rPr lang="en-US" altLang="zh-CN" dirty="0">
                <a:latin typeface="Times New Roman" panose="02020603050405020304" pitchFamily="18" charset="0"/>
                <a:cs typeface="Times New Roman" panose="02020603050405020304" pitchFamily="18" charset="0"/>
              </a:rPr>
              <a:t>	remove_item(item); </a:t>
            </a:r>
          </a:p>
          <a:p>
            <a:pPr indent="457200"/>
            <a:r>
              <a:rPr lang="en-US" altLang="zh-CN" dirty="0">
                <a:latin typeface="Times New Roman" panose="02020603050405020304" pitchFamily="18" charset="0"/>
                <a:cs typeface="Times New Roman" panose="02020603050405020304" pitchFamily="18" charset="0"/>
              </a:rPr>
              <a:t>	count -= 1; </a:t>
            </a:r>
          </a:p>
          <a:p>
            <a:pPr indent="457200"/>
            <a:r>
              <a:rPr lang="en-US" altLang="zh-CN" dirty="0">
                <a:latin typeface="Times New Roman" panose="02020603050405020304" pitchFamily="18" charset="0"/>
                <a:cs typeface="Times New Roman" panose="02020603050405020304" pitchFamily="18" charset="0"/>
              </a:rPr>
              <a:t>	return item; </a:t>
            </a:r>
          </a:p>
          <a:p>
            <a:pPr indent="457200"/>
            <a:r>
              <a:rPr lang="en-US" altLang="zh-CN" dirty="0">
                <a:latin typeface="Times New Roman" panose="02020603050405020304" pitchFamily="18" charset="0"/>
                <a:cs typeface="Times New Roman" panose="02020603050405020304" pitchFamily="18" charset="0"/>
              </a:rPr>
              <a:t>	if( count == MAX - 1) signal(&amp;full);</a:t>
            </a:r>
          </a:p>
          <a:p>
            <a:pPr indent="457200"/>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a:t>
            </a:r>
          </a:p>
        </p:txBody>
      </p:sp>
      <p:sp>
        <p:nvSpPr>
          <p:cNvPr id="8" name="文本框 7">
            <a:extLst>
              <a:ext uri="{FF2B5EF4-FFF2-40B4-BE49-F238E27FC236}">
                <a16:creationId xmlns:a16="http://schemas.microsoft.com/office/drawing/2014/main" id="{448A50C8-599A-8B35-3D07-2E5E3A96114B}"/>
              </a:ext>
            </a:extLst>
          </p:cNvPr>
          <p:cNvSpPr txBox="1"/>
          <p:nvPr/>
        </p:nvSpPr>
        <p:spPr>
          <a:xfrm>
            <a:off x="7371781" y="1629624"/>
            <a:ext cx="2932145" cy="1477328"/>
          </a:xfrm>
          <a:prstGeom prst="rect">
            <a:avLst/>
          </a:prstGeom>
          <a:noFill/>
          <a:ln w="19050">
            <a:solidFill>
              <a:schemeClr val="tx1"/>
            </a:solidFill>
          </a:ln>
        </p:spPr>
        <p:txBody>
          <a:bodyPr wrap="square">
            <a:spAutoFit/>
          </a:bodyPr>
          <a:lstStyle/>
          <a:p>
            <a:r>
              <a:rPr lang="en-US" altLang="zh-CN" dirty="0">
                <a:latin typeface="Times New Roman" panose="02020603050405020304" pitchFamily="18" charset="0"/>
                <a:cs typeface="Times New Roman" panose="02020603050405020304" pitchFamily="18" charset="0"/>
              </a:rPr>
              <a:t>void </a:t>
            </a:r>
            <a:r>
              <a:rPr lang="en-US" altLang="zh-CN" b="1" dirty="0">
                <a:latin typeface="Times New Roman" panose="02020603050405020304" pitchFamily="18" charset="0"/>
                <a:cs typeface="Times New Roman" panose="02020603050405020304" pitchFamily="18" charset="0"/>
              </a:rPr>
              <a:t>producer</a:t>
            </a:r>
            <a:r>
              <a:rPr lang="en-US" altLang="zh-CN" dirty="0">
                <a:latin typeface="Times New Roman" panose="02020603050405020304" pitchFamily="18" charset="0"/>
                <a:cs typeface="Times New Roman" panose="02020603050405020304" pitchFamily="18" charset="0"/>
              </a:rPr>
              <a:t>() {</a:t>
            </a:r>
          </a:p>
          <a:p>
            <a:pPr indent="457200"/>
            <a:r>
              <a:rPr lang="en-US" altLang="zh-CN" dirty="0">
                <a:latin typeface="Times New Roman" panose="02020603050405020304" pitchFamily="18" charset="0"/>
                <a:cs typeface="Times New Roman" panose="02020603050405020304" pitchFamily="18" charset="0"/>
              </a:rPr>
              <a:t>int item;</a:t>
            </a:r>
          </a:p>
          <a:p>
            <a:pPr indent="457200"/>
            <a:r>
              <a:rPr lang="en-US" altLang="zh-CN" dirty="0">
                <a:latin typeface="Times New Roman" panose="02020603050405020304" pitchFamily="18" charset="0"/>
                <a:cs typeface="Times New Roman" panose="02020603050405020304" pitchFamily="18" charset="0"/>
              </a:rPr>
              <a:t>item = produce_item();</a:t>
            </a:r>
          </a:p>
          <a:p>
            <a:pPr indent="457200"/>
            <a:r>
              <a:rPr lang="en-US" altLang="zh-CN" dirty="0">
                <a:latin typeface="Times New Roman" panose="02020603050405020304" pitchFamily="18" charset="0"/>
                <a:cs typeface="Times New Roman" panose="02020603050405020304" pitchFamily="18" charset="0"/>
              </a:rPr>
              <a:t>PC.insert(item);</a:t>
            </a:r>
          </a:p>
          <a:p>
            <a:r>
              <a:rPr lang="en-US" altLang="zh-CN" dirty="0">
                <a:latin typeface="Times New Roman" panose="02020603050405020304" pitchFamily="18" charset="0"/>
                <a:cs typeface="Times New Roman" panose="02020603050405020304" pitchFamily="18" charset="0"/>
              </a:rPr>
              <a:t>} </a:t>
            </a:r>
            <a:endParaRPr lang="zh-CN" altLang="en-US" dirty="0"/>
          </a:p>
        </p:txBody>
      </p:sp>
      <p:sp>
        <p:nvSpPr>
          <p:cNvPr id="10" name="文本框 9">
            <a:extLst>
              <a:ext uri="{FF2B5EF4-FFF2-40B4-BE49-F238E27FC236}">
                <a16:creationId xmlns:a16="http://schemas.microsoft.com/office/drawing/2014/main" id="{9100E841-A17F-5EF3-6611-12035A0E6543}"/>
              </a:ext>
            </a:extLst>
          </p:cNvPr>
          <p:cNvSpPr txBox="1"/>
          <p:nvPr/>
        </p:nvSpPr>
        <p:spPr>
          <a:xfrm>
            <a:off x="7403024" y="3751048"/>
            <a:ext cx="2932145" cy="1477328"/>
          </a:xfrm>
          <a:prstGeom prst="rect">
            <a:avLst/>
          </a:prstGeom>
          <a:noFill/>
          <a:ln w="19050">
            <a:solidFill>
              <a:schemeClr val="tx1"/>
            </a:solidFill>
          </a:ln>
        </p:spPr>
        <p:txBody>
          <a:bodyPr wrap="square">
            <a:spAutoFit/>
          </a:bodyPr>
          <a:lstStyle/>
          <a:p>
            <a:r>
              <a:rPr lang="en-US" altLang="zh-CN" dirty="0">
                <a:latin typeface="Times New Roman" panose="02020603050405020304" pitchFamily="18" charset="0"/>
                <a:cs typeface="Times New Roman" panose="02020603050405020304" pitchFamily="18" charset="0"/>
              </a:rPr>
              <a:t>void </a:t>
            </a:r>
            <a:r>
              <a:rPr lang="en-US" altLang="zh-CN" b="1" dirty="0">
                <a:latin typeface="Times New Roman" panose="02020603050405020304" pitchFamily="18" charset="0"/>
                <a:cs typeface="Times New Roman" panose="02020603050405020304" pitchFamily="18" charset="0"/>
              </a:rPr>
              <a:t>consumer</a:t>
            </a:r>
            <a:r>
              <a:rPr lang="en-US" altLang="zh-CN" dirty="0">
                <a:latin typeface="Times New Roman" panose="02020603050405020304" pitchFamily="18" charset="0"/>
                <a:cs typeface="Times New Roman" panose="02020603050405020304" pitchFamily="18" charset="0"/>
              </a:rPr>
              <a:t>() {</a:t>
            </a:r>
          </a:p>
          <a:p>
            <a:pPr indent="457200"/>
            <a:r>
              <a:rPr lang="en-US" altLang="zh-CN" dirty="0">
                <a:latin typeface="Times New Roman" panose="02020603050405020304" pitchFamily="18" charset="0"/>
                <a:cs typeface="Times New Roman" panose="02020603050405020304" pitchFamily="18" charset="0"/>
              </a:rPr>
              <a:t>int item;</a:t>
            </a:r>
          </a:p>
          <a:p>
            <a:pPr indent="457200"/>
            <a:r>
              <a:rPr lang="en-US" altLang="zh-CN" dirty="0">
                <a:latin typeface="Times New Roman" panose="02020603050405020304" pitchFamily="18" charset="0"/>
                <a:cs typeface="Times New Roman" panose="02020603050405020304" pitchFamily="18" charset="0"/>
              </a:rPr>
              <a:t>item = PC.remove();</a:t>
            </a:r>
          </a:p>
          <a:p>
            <a:pPr indent="457200"/>
            <a:r>
              <a:rPr lang="en-US" altLang="zh-CN" dirty="0">
                <a:latin typeface="Times New Roman" panose="02020603050405020304" pitchFamily="18" charset="0"/>
                <a:cs typeface="Times New Roman" panose="02020603050405020304" pitchFamily="18" charset="0"/>
              </a:rPr>
              <a:t>consumer_item();</a:t>
            </a:r>
          </a:p>
          <a:p>
            <a:r>
              <a:rPr lang="en-US" altLang="zh-CN" dirty="0">
                <a:latin typeface="Times New Roman" panose="02020603050405020304" pitchFamily="18" charset="0"/>
                <a:cs typeface="Times New Roman" panose="02020603050405020304" pitchFamily="18" charset="0"/>
              </a:rPr>
              <a:t>} </a:t>
            </a:r>
            <a:endParaRPr lang="zh-CN" altLang="en-US" dirty="0"/>
          </a:p>
        </p:txBody>
      </p:sp>
      <p:sp>
        <p:nvSpPr>
          <p:cNvPr id="11" name="文本框 10">
            <a:extLst>
              <a:ext uri="{FF2B5EF4-FFF2-40B4-BE49-F238E27FC236}">
                <a16:creationId xmlns:a16="http://schemas.microsoft.com/office/drawing/2014/main" id="{AA360F51-22F6-406D-F181-3FDF8595B9EC}"/>
              </a:ext>
            </a:extLst>
          </p:cNvPr>
          <p:cNvSpPr txBox="1"/>
          <p:nvPr/>
        </p:nvSpPr>
        <p:spPr>
          <a:xfrm>
            <a:off x="8315098" y="5872472"/>
            <a:ext cx="1107996" cy="369332"/>
          </a:xfrm>
          <a:prstGeom prst="rect">
            <a:avLst/>
          </a:prstGeom>
          <a:noFill/>
        </p:spPr>
        <p:txBody>
          <a:bodyPr wrap="none" rtlCol="0">
            <a:spAutoFit/>
          </a:bodyPr>
          <a:lstStyle/>
          <a:p>
            <a:r>
              <a:rPr lang="zh-CN" altLang="en-US" b="1" dirty="0">
                <a:solidFill>
                  <a:schemeClr val="bg2">
                    <a:lumMod val="10000"/>
                  </a:schemeClr>
                </a:solidFill>
              </a:rPr>
              <a:t>管程例子</a:t>
            </a:r>
          </a:p>
        </p:txBody>
      </p:sp>
    </p:spTree>
    <p:extLst>
      <p:ext uri="{BB962C8B-B14F-4D97-AF65-F5344CB8AC3E}">
        <p14:creationId xmlns:p14="http://schemas.microsoft.com/office/powerpoint/2010/main" val="22868756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经典进程的同步问题</a:t>
            </a:r>
            <a:endParaRPr lang="zh-CN" altLang="en-US">
              <a:latin typeface="+mj-ea"/>
              <a:ea typeface="+mj-ea"/>
            </a:endParaRPr>
          </a:p>
        </p:txBody>
      </p:sp>
      <p:sp>
        <p:nvSpPr>
          <p:cNvPr id="3" name="内容占位符 2"/>
          <p:cNvSpPr>
            <a:spLocks noGrp="1"/>
          </p:cNvSpPr>
          <p:nvPr>
            <p:ph idx="1"/>
          </p:nvPr>
        </p:nvSpPr>
        <p:spPr>
          <a:xfrm>
            <a:off x="838199" y="1510665"/>
            <a:ext cx="6399999" cy="5347335"/>
          </a:xfrm>
        </p:spPr>
        <p:txBody>
          <a:bodyPr>
            <a:normAutofit fontScale="97500"/>
          </a:bodyPr>
          <a:lstStyle/>
          <a:p>
            <a:r>
              <a:rPr lang="zh-CN" altLang="en-US" sz="2900">
                <a:solidFill>
                  <a:srgbClr val="0070C0"/>
                </a:solidFill>
                <a:sym typeface="+mn-ea"/>
              </a:rPr>
              <a:t>哲学家进餐问题</a:t>
            </a:r>
          </a:p>
          <a:p>
            <a:pPr lvl="1">
              <a:buClrTx/>
              <a:buSzTx/>
              <a:buFont typeface="Wingdings" panose="05000000000000000000" pitchFamily="2" charset="2"/>
              <a:buChar char="ü"/>
            </a:pPr>
            <a:r>
              <a:rPr lang="zh-CN" altLang="en-US" sz="2500">
                <a:sym typeface="+mn-ea"/>
              </a:rPr>
              <a:t>记录型信号量解决哲学家进餐问题</a:t>
            </a:r>
            <a:endParaRPr lang="en-US" altLang="zh-CN" sz="2500">
              <a:sym typeface="+mn-ea"/>
            </a:endParaRPr>
          </a:p>
          <a:p>
            <a:pPr marL="914400" lvl="2" indent="0" algn="just">
              <a:buNone/>
            </a:pPr>
            <a:r>
              <a:rPr lang="zh-CN" altLang="en-US" sz="2100">
                <a:sym typeface="+mn-ea"/>
              </a:rPr>
              <a:t>放在桌子上的筷子是临界资源，一段时间内只允许一位哲学家使用。为了实现对筷子的互斥使用，可以用一个信号量表示一只筷子，由这五个信号量构成信号量数组。</a:t>
            </a:r>
            <a:endParaRPr lang="en-US" altLang="zh-CN" sz="2100">
              <a:sym typeface="+mn-ea"/>
            </a:endParaRPr>
          </a:p>
          <a:p>
            <a:pPr lvl="1">
              <a:buClrTx/>
              <a:buSzTx/>
              <a:buFont typeface="Wingdings" panose="05000000000000000000" pitchFamily="2" charset="2"/>
              <a:buChar char="ü"/>
            </a:pPr>
            <a:r>
              <a:rPr lang="en-US" altLang="zh-CN" sz="2500">
                <a:sym typeface="+mn-ea"/>
              </a:rPr>
              <a:t>AND</a:t>
            </a:r>
            <a:r>
              <a:rPr lang="zh-CN" altLang="en-US" sz="2500">
                <a:sym typeface="+mn-ea"/>
              </a:rPr>
              <a:t>信号量机制解决哲学家进餐问题</a:t>
            </a:r>
            <a:endParaRPr lang="en-US" altLang="zh-CN" sz="2500">
              <a:sym typeface="+mn-ea"/>
            </a:endParaRPr>
          </a:p>
          <a:p>
            <a:pPr marL="914400" lvl="2" indent="0" algn="just">
              <a:buNone/>
            </a:pPr>
            <a:r>
              <a:rPr lang="zh-CN" altLang="en-US" sz="2100">
                <a:sym typeface="+mn-ea"/>
              </a:rPr>
              <a:t>在哲学家进餐问题中，要求每个哲学家先获得两个临界资源</a:t>
            </a:r>
            <a:r>
              <a:rPr lang="en-US" altLang="zh-CN" sz="2100">
                <a:sym typeface="+mn-ea"/>
              </a:rPr>
              <a:t>(</a:t>
            </a:r>
            <a:r>
              <a:rPr lang="zh-CN" altLang="en-US" sz="2100">
                <a:sym typeface="+mn-ea"/>
              </a:rPr>
              <a:t>筷子</a:t>
            </a:r>
            <a:r>
              <a:rPr lang="en-US" altLang="zh-CN" sz="2100">
                <a:sym typeface="+mn-ea"/>
              </a:rPr>
              <a:t>)</a:t>
            </a:r>
            <a:r>
              <a:rPr lang="zh-CN" altLang="en-US" sz="2100">
                <a:sym typeface="+mn-ea"/>
              </a:rPr>
              <a:t>后方能进餐，这在本质上就是前面所介绍的</a:t>
            </a:r>
            <a:r>
              <a:rPr lang="en-US" altLang="zh-CN" sz="2100">
                <a:sym typeface="+mn-ea"/>
              </a:rPr>
              <a:t>AND</a:t>
            </a:r>
            <a:r>
              <a:rPr lang="zh-CN" altLang="en-US" sz="2100">
                <a:sym typeface="+mn-ea"/>
              </a:rPr>
              <a:t>同步问题，故</a:t>
            </a:r>
            <a:r>
              <a:rPr lang="en-US" altLang="zh-CN" sz="2100">
                <a:sym typeface="+mn-ea"/>
              </a:rPr>
              <a:t>AND</a:t>
            </a:r>
            <a:r>
              <a:rPr lang="zh-CN" altLang="en-US" sz="2100">
                <a:sym typeface="+mn-ea"/>
              </a:rPr>
              <a:t>信号量机制可获得最简洁的解法。</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49</a:t>
            </a:fld>
            <a:endParaRPr kumimoji="1" lang="zh-CN" altLang="en-US"/>
          </a:p>
        </p:txBody>
      </p:sp>
      <p:pic>
        <p:nvPicPr>
          <p:cNvPr id="6" name="图片 5">
            <a:extLst>
              <a:ext uri="{FF2B5EF4-FFF2-40B4-BE49-F238E27FC236}">
                <a16:creationId xmlns:a16="http://schemas.microsoft.com/office/drawing/2014/main" id="{D24AB6A5-11D5-49DF-A2DF-DB7D0510157C}"/>
              </a:ext>
            </a:extLst>
          </p:cNvPr>
          <p:cNvPicPr>
            <a:picLocks noChangeAspect="1"/>
          </p:cNvPicPr>
          <p:nvPr/>
        </p:nvPicPr>
        <p:blipFill>
          <a:blip r:embed="rId2"/>
          <a:stretch>
            <a:fillRect/>
          </a:stretch>
        </p:blipFill>
        <p:spPr>
          <a:xfrm>
            <a:off x="8159587" y="2726932"/>
            <a:ext cx="3194214" cy="2914800"/>
          </a:xfrm>
          <a:prstGeom prst="rect">
            <a:avLst/>
          </a:prstGeom>
        </p:spPr>
      </p:pic>
    </p:spTree>
    <p:extLst>
      <p:ext uri="{BB962C8B-B14F-4D97-AF65-F5344CB8AC3E}">
        <p14:creationId xmlns:p14="http://schemas.microsoft.com/office/powerpoint/2010/main" val="35469998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03CA2B-8416-4FFD-9292-D93E19A35568}"/>
              </a:ext>
            </a:extLst>
          </p:cNvPr>
          <p:cNvSpPr>
            <a:spLocks noGrp="1"/>
          </p:cNvSpPr>
          <p:nvPr>
            <p:ph type="title"/>
          </p:nvPr>
        </p:nvSpPr>
        <p:spPr/>
        <p:txBody>
          <a:bodyPr/>
          <a:lstStyle/>
          <a:p>
            <a:r>
              <a:rPr lang="zh-CN" altLang="en-US" sz="4000">
                <a:latin typeface="+mj-ea"/>
                <a:ea typeface="+mj-ea"/>
              </a:rPr>
              <a:t>经典进程的同步问题</a:t>
            </a:r>
            <a:endParaRPr lang="zh-CN" altLang="en-US">
              <a:latin typeface="+mj-ea"/>
              <a:ea typeface="+mj-ea"/>
            </a:endParaRPr>
          </a:p>
        </p:txBody>
      </p:sp>
      <p:sp>
        <p:nvSpPr>
          <p:cNvPr id="4" name="灯片编号占位符 3">
            <a:extLst>
              <a:ext uri="{FF2B5EF4-FFF2-40B4-BE49-F238E27FC236}">
                <a16:creationId xmlns:a16="http://schemas.microsoft.com/office/drawing/2014/main" id="{9C2A4588-AE80-40D0-B940-1947BD684DA8}"/>
              </a:ext>
            </a:extLst>
          </p:cNvPr>
          <p:cNvSpPr>
            <a:spLocks noGrp="1"/>
          </p:cNvSpPr>
          <p:nvPr>
            <p:ph type="sldNum" sz="quarter" idx="12"/>
          </p:nvPr>
        </p:nvSpPr>
        <p:spPr/>
        <p:txBody>
          <a:bodyPr/>
          <a:lstStyle/>
          <a:p>
            <a:fld id="{8D4D1E41-7A09-AB4A-A4E1-09765ADA2698}" type="slidenum">
              <a:rPr kumimoji="1" lang="zh-CN" altLang="en-US" smtClean="0"/>
              <a:t>50</a:t>
            </a:fld>
            <a:endParaRPr kumimoji="1" lang="zh-CN" altLang="en-US"/>
          </a:p>
        </p:txBody>
      </p:sp>
      <p:sp>
        <p:nvSpPr>
          <p:cNvPr id="5" name="文本框 4">
            <a:extLst>
              <a:ext uri="{FF2B5EF4-FFF2-40B4-BE49-F238E27FC236}">
                <a16:creationId xmlns:a16="http://schemas.microsoft.com/office/drawing/2014/main" id="{7E836A36-F62C-469B-B712-C353AB72FB80}"/>
              </a:ext>
            </a:extLst>
          </p:cNvPr>
          <p:cNvSpPr txBox="1"/>
          <p:nvPr/>
        </p:nvSpPr>
        <p:spPr>
          <a:xfrm>
            <a:off x="2686833" y="1352290"/>
            <a:ext cx="6524544" cy="5170646"/>
          </a:xfrm>
          <a:prstGeom prst="rect">
            <a:avLst/>
          </a:prstGeom>
          <a:noFill/>
        </p:spPr>
        <p:txBody>
          <a:bodyPr wrap="square">
            <a:spAutoFit/>
          </a:bodyPr>
          <a:lstStyle/>
          <a:p>
            <a:r>
              <a:rPr lang="zh-CN" altLang="en-US" sz="2200">
                <a:latin typeface="Times New Roman" panose="02020603050405020304" pitchFamily="18" charset="0"/>
                <a:ea typeface="宋体" panose="02010600030101010101" pitchFamily="2" charset="-122"/>
                <a:cs typeface="Times New Roman" panose="02020603050405020304" pitchFamily="18" charset="0"/>
              </a:rPr>
              <a:t>semaphore chopstick[5] = {1,1,1,1,1};</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while(true)</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/*当哲学家饥饿时，总是先拿左边的筷子，</a:t>
            </a:r>
            <a:r>
              <a:rPr lang="en-US" altLang="zh-CN" sz="220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a:latin typeface="Times New Roman" panose="02020603050405020304" pitchFamily="18" charset="0"/>
                <a:ea typeface="宋体" panose="02010600030101010101" pitchFamily="2" charset="-122"/>
                <a:cs typeface="Times New Roman" panose="02020603050405020304" pitchFamily="18" charset="0"/>
              </a:rPr>
              <a:t>再拿右边的筷子*/</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wait(chopstick[i]);</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wait(chopstick[(i+1)%5]);</a:t>
            </a:r>
          </a:p>
          <a:p>
            <a:endParaRPr lang="zh-CN" altLang="en-US" sz="220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 吃饭</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/*当哲学家进餐完成后，总是先放下左边的</a:t>
            </a:r>
            <a:r>
              <a:rPr lang="en-US" altLang="zh-CN" sz="220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a:latin typeface="Times New Roman" panose="02020603050405020304" pitchFamily="18" charset="0"/>
                <a:ea typeface="宋体" panose="02010600030101010101" pitchFamily="2" charset="-122"/>
                <a:cs typeface="Times New Roman" panose="02020603050405020304" pitchFamily="18" charset="0"/>
              </a:rPr>
              <a:t>筷子，再放下右边的筷子*/</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signal(chopstick[i]);</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signal(chopstick[(i+1)%5]);</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15994313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经典进程的同步问题</a:t>
            </a:r>
            <a:endParaRPr lang="zh-CN" altLang="en-US">
              <a:latin typeface="+mj-ea"/>
              <a:ea typeface="+mj-ea"/>
            </a:endParaRPr>
          </a:p>
        </p:txBody>
      </p:sp>
      <p:sp>
        <p:nvSpPr>
          <p:cNvPr id="3" name="内容占位符 2"/>
          <p:cNvSpPr>
            <a:spLocks noGrp="1"/>
          </p:cNvSpPr>
          <p:nvPr>
            <p:ph idx="1"/>
          </p:nvPr>
        </p:nvSpPr>
        <p:spPr>
          <a:xfrm>
            <a:off x="838199" y="1510665"/>
            <a:ext cx="10384858" cy="5347335"/>
          </a:xfrm>
        </p:spPr>
        <p:txBody>
          <a:bodyPr>
            <a:normAutofit fontScale="97500" lnSpcReduction="10000"/>
          </a:bodyPr>
          <a:lstStyle/>
          <a:p>
            <a:r>
              <a:rPr lang="zh-CN" altLang="en-US" sz="2900">
                <a:solidFill>
                  <a:srgbClr val="0070C0"/>
                </a:solidFill>
                <a:sym typeface="+mn-ea"/>
              </a:rPr>
              <a:t>读者</a:t>
            </a:r>
            <a:r>
              <a:rPr lang="en-US" altLang="zh-CN" sz="2900">
                <a:solidFill>
                  <a:srgbClr val="0070C0"/>
                </a:solidFill>
                <a:sym typeface="+mn-ea"/>
              </a:rPr>
              <a:t>-</a:t>
            </a:r>
            <a:r>
              <a:rPr lang="zh-CN" altLang="en-US" sz="2900">
                <a:solidFill>
                  <a:srgbClr val="0070C0"/>
                </a:solidFill>
                <a:sym typeface="+mn-ea"/>
              </a:rPr>
              <a:t>写者问题</a:t>
            </a:r>
          </a:p>
          <a:p>
            <a:pPr lvl="1">
              <a:buClrTx/>
              <a:buSzTx/>
              <a:buFont typeface="Wingdings" panose="05000000000000000000" pitchFamily="2" charset="2"/>
              <a:buChar char="ü"/>
            </a:pPr>
            <a:r>
              <a:rPr lang="zh-CN" altLang="en-US" sz="2500">
                <a:sym typeface="+mn-ea"/>
              </a:rPr>
              <a:t>利用记录型信号量解决读者</a:t>
            </a:r>
            <a:r>
              <a:rPr lang="en-US" altLang="zh-CN" sz="2500">
                <a:sym typeface="+mn-ea"/>
              </a:rPr>
              <a:t>-</a:t>
            </a:r>
            <a:r>
              <a:rPr lang="zh-CN" altLang="en-US" sz="2500">
                <a:sym typeface="+mn-ea"/>
              </a:rPr>
              <a:t>写者问题</a:t>
            </a:r>
            <a:endParaRPr lang="en-US" altLang="zh-CN" sz="2500">
              <a:sym typeface="+mn-ea"/>
            </a:endParaRPr>
          </a:p>
          <a:p>
            <a:pPr marL="914400" lvl="2" indent="0" algn="just">
              <a:buNone/>
            </a:pPr>
            <a:r>
              <a:rPr lang="zh-CN" altLang="en-US" sz="2100">
                <a:sym typeface="+mn-ea"/>
              </a:rPr>
              <a:t>为实现</a:t>
            </a:r>
            <a:r>
              <a:rPr lang="en-US" altLang="zh-CN" sz="2100">
                <a:sym typeface="+mn-ea"/>
              </a:rPr>
              <a:t>Reader</a:t>
            </a:r>
            <a:r>
              <a:rPr lang="zh-CN" altLang="en-US" sz="2100">
                <a:sym typeface="+mn-ea"/>
              </a:rPr>
              <a:t>与</a:t>
            </a:r>
            <a:r>
              <a:rPr lang="en-US" altLang="zh-CN" sz="2100">
                <a:sym typeface="+mn-ea"/>
              </a:rPr>
              <a:t>Writer</a:t>
            </a:r>
            <a:r>
              <a:rPr lang="zh-CN" altLang="en-US" sz="2100">
                <a:sym typeface="+mn-ea"/>
              </a:rPr>
              <a:t>进程间在读或写时的互斥而设置了一个互斥信号量</a:t>
            </a:r>
            <a:r>
              <a:rPr lang="en-US" altLang="zh-CN" sz="2100">
                <a:sym typeface="+mn-ea"/>
              </a:rPr>
              <a:t>Wmutex</a:t>
            </a:r>
            <a:r>
              <a:rPr lang="zh-CN" altLang="en-US" sz="2100">
                <a:sym typeface="+mn-ea"/>
              </a:rPr>
              <a:t>。另外，再设置一个整型变量</a:t>
            </a:r>
            <a:r>
              <a:rPr lang="en-US" altLang="zh-CN" sz="2100">
                <a:sym typeface="+mn-ea"/>
              </a:rPr>
              <a:t>Readcount</a:t>
            </a:r>
            <a:r>
              <a:rPr lang="zh-CN" altLang="en-US" sz="2100">
                <a:sym typeface="+mn-ea"/>
              </a:rPr>
              <a:t>表示正在读的进程数目。由于只要有一个</a:t>
            </a:r>
            <a:r>
              <a:rPr lang="en-US" altLang="zh-CN" sz="2100">
                <a:sym typeface="+mn-ea"/>
              </a:rPr>
              <a:t>Reader</a:t>
            </a:r>
            <a:r>
              <a:rPr lang="zh-CN" altLang="en-US" sz="2100">
                <a:sym typeface="+mn-ea"/>
              </a:rPr>
              <a:t>进程在读，便不允许</a:t>
            </a:r>
            <a:r>
              <a:rPr lang="en-US" altLang="zh-CN" sz="2100">
                <a:sym typeface="+mn-ea"/>
              </a:rPr>
              <a:t>Writer</a:t>
            </a:r>
            <a:r>
              <a:rPr lang="zh-CN" altLang="en-US" sz="2100">
                <a:sym typeface="+mn-ea"/>
              </a:rPr>
              <a:t>进程去写。因此，仅当</a:t>
            </a:r>
            <a:r>
              <a:rPr lang="en-US" altLang="zh-CN" sz="2100">
                <a:sym typeface="+mn-ea"/>
              </a:rPr>
              <a:t>Readcount=0</a:t>
            </a:r>
            <a:r>
              <a:rPr lang="zh-CN" altLang="en-US" sz="2100">
                <a:sym typeface="+mn-ea"/>
              </a:rPr>
              <a:t>，表示尚无</a:t>
            </a:r>
            <a:r>
              <a:rPr lang="en-US" altLang="zh-CN" sz="2100">
                <a:sym typeface="+mn-ea"/>
              </a:rPr>
              <a:t>Reader</a:t>
            </a:r>
            <a:r>
              <a:rPr lang="zh-CN" altLang="en-US" sz="2100">
                <a:sym typeface="+mn-ea"/>
              </a:rPr>
              <a:t>进程在读时，</a:t>
            </a:r>
            <a:r>
              <a:rPr lang="en-US" altLang="zh-CN" sz="2100">
                <a:sym typeface="+mn-ea"/>
              </a:rPr>
              <a:t>Reader</a:t>
            </a:r>
            <a:r>
              <a:rPr lang="zh-CN" altLang="en-US" sz="2100">
                <a:sym typeface="+mn-ea"/>
              </a:rPr>
              <a:t>进程才需要执行</a:t>
            </a:r>
            <a:r>
              <a:rPr lang="en-US" altLang="zh-CN" sz="2100">
                <a:sym typeface="+mn-ea"/>
              </a:rPr>
              <a:t>Wait(Wmutex)</a:t>
            </a:r>
            <a:r>
              <a:rPr lang="zh-CN" altLang="en-US" sz="2100">
                <a:sym typeface="+mn-ea"/>
              </a:rPr>
              <a:t>操作。若</a:t>
            </a:r>
            <a:r>
              <a:rPr lang="en-US" altLang="zh-CN" sz="2100">
                <a:sym typeface="+mn-ea"/>
              </a:rPr>
              <a:t>wait(Wmutex)</a:t>
            </a:r>
            <a:r>
              <a:rPr lang="zh-CN" altLang="en-US" sz="2100">
                <a:sym typeface="+mn-ea"/>
              </a:rPr>
              <a:t>操作成功，</a:t>
            </a:r>
            <a:r>
              <a:rPr lang="en-US" altLang="zh-CN" sz="2100">
                <a:sym typeface="+mn-ea"/>
              </a:rPr>
              <a:t>Reader</a:t>
            </a:r>
            <a:r>
              <a:rPr lang="zh-CN" altLang="en-US" sz="2100">
                <a:sym typeface="+mn-ea"/>
              </a:rPr>
              <a:t>进程便可去读，相应地，做</a:t>
            </a:r>
            <a:r>
              <a:rPr lang="en-US" altLang="zh-CN" sz="2100">
                <a:sym typeface="+mn-ea"/>
              </a:rPr>
              <a:t>Readcount+1</a:t>
            </a:r>
            <a:r>
              <a:rPr lang="zh-CN" altLang="en-US" sz="2100">
                <a:sym typeface="+mn-ea"/>
              </a:rPr>
              <a:t>操作。</a:t>
            </a:r>
            <a:endParaRPr lang="en-US" altLang="zh-CN" sz="2100">
              <a:sym typeface="+mn-ea"/>
            </a:endParaRPr>
          </a:p>
          <a:p>
            <a:pPr lvl="1">
              <a:buClrTx/>
              <a:buSzTx/>
              <a:buFont typeface="Wingdings" panose="05000000000000000000" pitchFamily="2" charset="2"/>
              <a:buChar char="ü"/>
            </a:pPr>
            <a:r>
              <a:rPr lang="zh-CN" altLang="en-US" sz="2500">
                <a:sym typeface="+mn-ea"/>
              </a:rPr>
              <a:t>利用信号量集机制解决读者</a:t>
            </a:r>
            <a:r>
              <a:rPr lang="en-US" altLang="zh-CN" sz="2500">
                <a:sym typeface="+mn-ea"/>
              </a:rPr>
              <a:t>-</a:t>
            </a:r>
            <a:r>
              <a:rPr lang="zh-CN" altLang="en-US" sz="2500">
                <a:sym typeface="+mn-ea"/>
              </a:rPr>
              <a:t>写者问题</a:t>
            </a:r>
            <a:endParaRPr lang="en-US" altLang="zh-CN" sz="2500">
              <a:sym typeface="+mn-ea"/>
            </a:endParaRPr>
          </a:p>
          <a:p>
            <a:pPr marL="914400" lvl="2" indent="0" algn="just">
              <a:buNone/>
            </a:pPr>
            <a:r>
              <a:rPr lang="zh-CN" altLang="en-US" sz="2100">
                <a:sym typeface="+mn-ea"/>
              </a:rPr>
              <a:t>与前面的略有不同，它增加了一个限制，即最多只允许</a:t>
            </a:r>
            <a:r>
              <a:rPr lang="en-US" altLang="zh-CN" sz="2100">
                <a:sym typeface="+mn-ea"/>
              </a:rPr>
              <a:t>RN</a:t>
            </a:r>
            <a:r>
              <a:rPr lang="zh-CN" altLang="en-US" sz="2100">
                <a:sym typeface="+mn-ea"/>
              </a:rPr>
              <a:t>个读者同时读。为此，又引入了一个信号量</a:t>
            </a:r>
            <a:r>
              <a:rPr lang="en-US" altLang="zh-CN" sz="2100">
                <a:sym typeface="+mn-ea"/>
              </a:rPr>
              <a:t>L</a:t>
            </a:r>
            <a:r>
              <a:rPr lang="zh-CN" altLang="en-US" sz="2100">
                <a:sym typeface="+mn-ea"/>
              </a:rPr>
              <a:t>，并赋予其初值为</a:t>
            </a:r>
            <a:r>
              <a:rPr lang="en-US" altLang="zh-CN" sz="2100">
                <a:sym typeface="+mn-ea"/>
              </a:rPr>
              <a:t>RN</a:t>
            </a:r>
            <a:r>
              <a:rPr lang="zh-CN" altLang="en-US" sz="2100">
                <a:sym typeface="+mn-ea"/>
              </a:rPr>
              <a:t>，通过执行</a:t>
            </a:r>
            <a:r>
              <a:rPr lang="en-US" altLang="zh-CN" sz="2100">
                <a:sym typeface="+mn-ea"/>
              </a:rPr>
              <a:t>wait(L, 1, 1)</a:t>
            </a:r>
            <a:r>
              <a:rPr lang="zh-CN" altLang="en-US" sz="2100">
                <a:sym typeface="+mn-ea"/>
              </a:rPr>
              <a:t>操作来控制读者的数目，每当有一个读者进入时，就要先执行</a:t>
            </a:r>
            <a:r>
              <a:rPr lang="en-US" altLang="zh-CN" sz="2100">
                <a:sym typeface="+mn-ea"/>
              </a:rPr>
              <a:t>wait(L, 1, 1)</a:t>
            </a:r>
            <a:r>
              <a:rPr lang="zh-CN" altLang="en-US" sz="2100">
                <a:sym typeface="+mn-ea"/>
              </a:rPr>
              <a:t>操作，使</a:t>
            </a:r>
            <a:r>
              <a:rPr lang="en-US" altLang="zh-CN" sz="2100">
                <a:sym typeface="+mn-ea"/>
              </a:rPr>
              <a:t>L</a:t>
            </a:r>
            <a:r>
              <a:rPr lang="zh-CN" altLang="en-US" sz="2100">
                <a:sym typeface="+mn-ea"/>
              </a:rPr>
              <a:t>的值减</a:t>
            </a:r>
            <a:r>
              <a:rPr lang="en-US" altLang="zh-CN" sz="2100">
                <a:sym typeface="+mn-ea"/>
              </a:rPr>
              <a:t>1</a:t>
            </a:r>
            <a:r>
              <a:rPr lang="zh-CN" altLang="en-US" sz="2100">
                <a:sym typeface="+mn-ea"/>
              </a:rPr>
              <a:t>。当有</a:t>
            </a:r>
            <a:r>
              <a:rPr lang="en-US" altLang="zh-CN" sz="2100">
                <a:sym typeface="+mn-ea"/>
              </a:rPr>
              <a:t>RN</a:t>
            </a:r>
            <a:r>
              <a:rPr lang="zh-CN" altLang="en-US" sz="2100">
                <a:sym typeface="+mn-ea"/>
              </a:rPr>
              <a:t>个读者进入读后，</a:t>
            </a:r>
            <a:r>
              <a:rPr lang="en-US" altLang="zh-CN" sz="2100">
                <a:sym typeface="+mn-ea"/>
              </a:rPr>
              <a:t>L</a:t>
            </a:r>
            <a:r>
              <a:rPr lang="zh-CN" altLang="en-US" sz="2100">
                <a:sym typeface="+mn-ea"/>
              </a:rPr>
              <a:t>便减为</a:t>
            </a:r>
            <a:r>
              <a:rPr lang="en-US" altLang="zh-CN" sz="2100">
                <a:sym typeface="+mn-ea"/>
              </a:rPr>
              <a:t>0</a:t>
            </a:r>
            <a:r>
              <a:rPr lang="zh-CN" altLang="en-US" sz="2100">
                <a:sym typeface="+mn-ea"/>
              </a:rPr>
              <a:t>，第</a:t>
            </a:r>
            <a:r>
              <a:rPr lang="en-US" altLang="zh-CN" sz="2100">
                <a:sym typeface="+mn-ea"/>
              </a:rPr>
              <a:t>RN + 1</a:t>
            </a:r>
            <a:r>
              <a:rPr lang="zh-CN" altLang="en-US" sz="2100">
                <a:sym typeface="+mn-ea"/>
              </a:rPr>
              <a:t>个读者要进入读时，必然会因</a:t>
            </a:r>
            <a:r>
              <a:rPr lang="en-US" altLang="zh-CN" sz="2100">
                <a:sym typeface="+mn-ea"/>
              </a:rPr>
              <a:t>wait(L, 1, 1)</a:t>
            </a:r>
            <a:r>
              <a:rPr lang="zh-CN" altLang="en-US" sz="2100">
                <a:sym typeface="+mn-ea"/>
              </a:rPr>
              <a:t>操作失败而阻塞。</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51</a:t>
            </a:fld>
            <a:endParaRPr kumimoji="1" lang="zh-CN" altLang="en-US"/>
          </a:p>
        </p:txBody>
      </p:sp>
    </p:spTree>
    <p:extLst>
      <p:ext uri="{BB962C8B-B14F-4D97-AF65-F5344CB8AC3E}">
        <p14:creationId xmlns:p14="http://schemas.microsoft.com/office/powerpoint/2010/main" val="12640288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A4018E-E758-47E6-9435-7FA1F34083CE}"/>
              </a:ext>
            </a:extLst>
          </p:cNvPr>
          <p:cNvSpPr>
            <a:spLocks noGrp="1"/>
          </p:cNvSpPr>
          <p:nvPr>
            <p:ph type="title"/>
          </p:nvPr>
        </p:nvSpPr>
        <p:spPr/>
        <p:txBody>
          <a:bodyPr/>
          <a:lstStyle/>
          <a:p>
            <a:r>
              <a:rPr lang="zh-CN" altLang="en-US" sz="4000">
                <a:latin typeface="+mj-ea"/>
                <a:ea typeface="+mj-ea"/>
              </a:rPr>
              <a:t>经典进程的同步问题</a:t>
            </a:r>
            <a:endParaRPr lang="zh-CN" altLang="en-US">
              <a:latin typeface="+mj-ea"/>
              <a:ea typeface="+mj-ea"/>
            </a:endParaRPr>
          </a:p>
        </p:txBody>
      </p:sp>
      <p:sp>
        <p:nvSpPr>
          <p:cNvPr id="4" name="灯片编号占位符 3">
            <a:extLst>
              <a:ext uri="{FF2B5EF4-FFF2-40B4-BE49-F238E27FC236}">
                <a16:creationId xmlns:a16="http://schemas.microsoft.com/office/drawing/2014/main" id="{8F51B6DC-F584-4C90-8ED4-5C31F5691087}"/>
              </a:ext>
            </a:extLst>
          </p:cNvPr>
          <p:cNvSpPr>
            <a:spLocks noGrp="1"/>
          </p:cNvSpPr>
          <p:nvPr>
            <p:ph type="sldNum" sz="quarter" idx="12"/>
          </p:nvPr>
        </p:nvSpPr>
        <p:spPr/>
        <p:txBody>
          <a:bodyPr/>
          <a:lstStyle/>
          <a:p>
            <a:fld id="{8D4D1E41-7A09-AB4A-A4E1-09765ADA2698}" type="slidenum">
              <a:rPr kumimoji="1" lang="zh-CN" altLang="en-US" smtClean="0"/>
              <a:t>52</a:t>
            </a:fld>
            <a:endParaRPr kumimoji="1" lang="zh-CN" altLang="en-US"/>
          </a:p>
        </p:txBody>
      </p:sp>
      <p:sp>
        <p:nvSpPr>
          <p:cNvPr id="6" name="文本框 5">
            <a:extLst>
              <a:ext uri="{FF2B5EF4-FFF2-40B4-BE49-F238E27FC236}">
                <a16:creationId xmlns:a16="http://schemas.microsoft.com/office/drawing/2014/main" id="{4DE50DC3-1AF2-4C00-A02A-C368C43CABCA}"/>
              </a:ext>
            </a:extLst>
          </p:cNvPr>
          <p:cNvSpPr txBox="1"/>
          <p:nvPr/>
        </p:nvSpPr>
        <p:spPr>
          <a:xfrm>
            <a:off x="2657957" y="1368266"/>
            <a:ext cx="4503238" cy="5170646"/>
          </a:xfrm>
          <a:prstGeom prst="rect">
            <a:avLst/>
          </a:prstGeom>
          <a:noFill/>
        </p:spPr>
        <p:txBody>
          <a:bodyPr wrap="square">
            <a:spAutoFit/>
          </a:bodyPr>
          <a:lstStyle/>
          <a:p>
            <a:r>
              <a:rPr lang="zh-CN" altLang="en-US" sz="2200">
                <a:latin typeface="Times New Roman" panose="02020603050405020304" pitchFamily="18" charset="0"/>
                <a:ea typeface="宋体" panose="02010600030101010101" pitchFamily="2" charset="-122"/>
                <a:cs typeface="Times New Roman" panose="02020603050405020304" pitchFamily="18" charset="0"/>
              </a:rPr>
              <a:t>void reader(){</a:t>
            </a:r>
          </a:p>
          <a:p>
            <a:pPr lvl="1"/>
            <a:r>
              <a:rPr lang="zh-CN" altLang="en-US" sz="2200">
                <a:latin typeface="Times New Roman" panose="02020603050405020304" pitchFamily="18" charset="0"/>
                <a:ea typeface="宋体" panose="02010600030101010101" pitchFamily="2" charset="-122"/>
                <a:cs typeface="Times New Roman" panose="02020603050405020304" pitchFamily="18" charset="0"/>
              </a:rPr>
              <a:t>while(true){</a:t>
            </a:r>
          </a:p>
          <a:p>
            <a:pPr lvl="1"/>
            <a:r>
              <a:rPr lang="en-US" altLang="zh-CN" sz="2200">
                <a:latin typeface="Times New Roman" panose="02020603050405020304" pitchFamily="18" charset="0"/>
                <a:ea typeface="宋体" panose="02010600030101010101" pitchFamily="2" charset="-122"/>
                <a:cs typeface="Times New Roman" panose="02020603050405020304" pitchFamily="18" charset="0"/>
              </a:rPr>
              <a:t>	P</a:t>
            </a:r>
            <a:r>
              <a:rPr lang="zh-CN" altLang="en-US" sz="2200">
                <a:latin typeface="Times New Roman" panose="02020603050405020304" pitchFamily="18" charset="0"/>
                <a:ea typeface="宋体" panose="02010600030101010101" pitchFamily="2" charset="-122"/>
                <a:cs typeface="Times New Roman" panose="02020603050405020304" pitchFamily="18" charset="0"/>
              </a:rPr>
              <a:t>(Fmutex); </a:t>
            </a:r>
            <a:r>
              <a:rPr lang="en-US" altLang="zh-CN" sz="2200">
                <a:latin typeface="Times New Roman" panose="02020603050405020304" pitchFamily="18" charset="0"/>
                <a:ea typeface="宋体" panose="02010600030101010101" pitchFamily="2" charset="-122"/>
                <a:cs typeface="Times New Roman" panose="02020603050405020304" pitchFamily="18" charset="0"/>
              </a:rPr>
              <a:t>P</a:t>
            </a:r>
            <a:r>
              <a:rPr lang="zh-CN" altLang="en-US" sz="2200">
                <a:latin typeface="Times New Roman" panose="02020603050405020304" pitchFamily="18" charset="0"/>
                <a:ea typeface="宋体" panose="02010600030101010101" pitchFamily="2" charset="-122"/>
                <a:cs typeface="Times New Roman" panose="02020603050405020304" pitchFamily="18" charset="0"/>
              </a:rPr>
              <a:t>(Rmutex);</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a:latin typeface="Times New Roman" panose="02020603050405020304" pitchFamily="18" charset="0"/>
                <a:ea typeface="宋体" panose="02010600030101010101" pitchFamily="2" charset="-122"/>
                <a:cs typeface="Times New Roman" panose="02020603050405020304" pitchFamily="18" charset="0"/>
              </a:rPr>
              <a:t>Rcount=Rcount+1;</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a:latin typeface="Times New Roman" panose="02020603050405020304" pitchFamily="18" charset="0"/>
                <a:ea typeface="宋体" panose="02010600030101010101" pitchFamily="2" charset="-122"/>
                <a:cs typeface="Times New Roman" panose="02020603050405020304" pitchFamily="18" charset="0"/>
              </a:rPr>
              <a:t>if(Rcount==1) </a:t>
            </a:r>
            <a:r>
              <a:rPr lang="en-US" altLang="zh-CN" sz="2200">
                <a:latin typeface="Times New Roman" panose="02020603050405020304" pitchFamily="18" charset="0"/>
                <a:ea typeface="宋体" panose="02010600030101010101" pitchFamily="2" charset="-122"/>
                <a:cs typeface="Times New Roman" panose="02020603050405020304" pitchFamily="18" charset="0"/>
              </a:rPr>
              <a:t>P</a:t>
            </a:r>
            <a:r>
              <a:rPr lang="zh-CN" altLang="en-US" sz="2200">
                <a:latin typeface="Times New Roman" panose="02020603050405020304" pitchFamily="18" charset="0"/>
                <a:ea typeface="宋体" panose="02010600030101010101" pitchFamily="2" charset="-122"/>
                <a:cs typeface="Times New Roman" panose="02020603050405020304" pitchFamily="18" charset="0"/>
              </a:rPr>
              <a:t>(Wmutex);</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a:latin typeface="Times New Roman" panose="02020603050405020304" pitchFamily="18" charset="0"/>
                <a:ea typeface="宋体" panose="02010600030101010101" pitchFamily="2" charset="-122"/>
                <a:cs typeface="Times New Roman" panose="02020603050405020304" pitchFamily="18" charset="0"/>
              </a:rPr>
              <a:t>	V</a:t>
            </a:r>
            <a:r>
              <a:rPr lang="zh-CN" altLang="en-US" sz="2200">
                <a:latin typeface="Times New Roman" panose="02020603050405020304" pitchFamily="18" charset="0"/>
                <a:ea typeface="宋体" panose="02010600030101010101" pitchFamily="2" charset="-122"/>
                <a:cs typeface="Times New Roman" panose="02020603050405020304" pitchFamily="18" charset="0"/>
              </a:rPr>
              <a:t>(Rmutex); </a:t>
            </a:r>
            <a:r>
              <a:rPr lang="en-US" altLang="zh-CN" sz="2200">
                <a:latin typeface="Times New Roman" panose="02020603050405020304" pitchFamily="18" charset="0"/>
                <a:ea typeface="宋体" panose="02010600030101010101" pitchFamily="2" charset="-122"/>
                <a:cs typeface="Times New Roman" panose="02020603050405020304" pitchFamily="18" charset="0"/>
              </a:rPr>
              <a:t>V</a:t>
            </a:r>
            <a:r>
              <a:rPr lang="zh-CN" altLang="en-US" sz="2200">
                <a:latin typeface="Times New Roman" panose="02020603050405020304" pitchFamily="18" charset="0"/>
                <a:ea typeface="宋体" panose="02010600030101010101" pitchFamily="2" charset="-122"/>
                <a:cs typeface="Times New Roman" panose="02020603050405020304" pitchFamily="18" charset="0"/>
              </a:rPr>
              <a:t>(Fmutex);</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a:latin typeface="Times New Roman" panose="02020603050405020304" pitchFamily="18" charset="0"/>
                <a:ea typeface="宋体" panose="02010600030101010101" pitchFamily="2" charset="-122"/>
                <a:cs typeface="Times New Roman" panose="02020603050405020304" pitchFamily="18" charset="0"/>
              </a:rPr>
              <a:t>read;</a:t>
            </a:r>
            <a:r>
              <a:rPr lang="en-US" altLang="zh-CN" sz="2200">
                <a:latin typeface="Times New Roman" panose="02020603050405020304" pitchFamily="18" charset="0"/>
                <a:ea typeface="宋体" panose="02010600030101010101" pitchFamily="2" charset="-122"/>
                <a:cs typeface="Times New Roman" panose="02020603050405020304" pitchFamily="18" charset="0"/>
              </a:rPr>
              <a:t>//</a:t>
            </a:r>
            <a:r>
              <a:rPr lang="zh-CN" altLang="en-US" sz="2200">
                <a:latin typeface="Times New Roman" panose="02020603050405020304" pitchFamily="18" charset="0"/>
                <a:ea typeface="宋体" panose="02010600030101010101" pitchFamily="2" charset="-122"/>
                <a:cs typeface="Times New Roman" panose="02020603050405020304" pitchFamily="18" charset="0"/>
              </a:rPr>
              <a:t>读数据</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a:latin typeface="Times New Roman" panose="02020603050405020304" pitchFamily="18" charset="0"/>
                <a:ea typeface="宋体" panose="02010600030101010101" pitchFamily="2" charset="-122"/>
                <a:cs typeface="Times New Roman" panose="02020603050405020304" pitchFamily="18" charset="0"/>
              </a:rPr>
              <a:t>	P</a:t>
            </a:r>
            <a:r>
              <a:rPr lang="zh-CN" altLang="en-US" sz="2200">
                <a:latin typeface="Times New Roman" panose="02020603050405020304" pitchFamily="18" charset="0"/>
                <a:ea typeface="宋体" panose="02010600030101010101" pitchFamily="2" charset="-122"/>
                <a:cs typeface="Times New Roman" panose="02020603050405020304" pitchFamily="18" charset="0"/>
              </a:rPr>
              <a:t>(Rmutex);</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a:latin typeface="Times New Roman" panose="02020603050405020304" pitchFamily="18" charset="0"/>
                <a:ea typeface="宋体" panose="02010600030101010101" pitchFamily="2" charset="-122"/>
                <a:cs typeface="Times New Roman" panose="02020603050405020304" pitchFamily="18" charset="0"/>
              </a:rPr>
              <a:t>Rcount=Rcount-1;</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a:latin typeface="Times New Roman" panose="02020603050405020304" pitchFamily="18" charset="0"/>
                <a:ea typeface="宋体" panose="02010600030101010101" pitchFamily="2" charset="-122"/>
                <a:cs typeface="Times New Roman" panose="02020603050405020304" pitchFamily="18" charset="0"/>
              </a:rPr>
              <a:t>if(Rcount==0) </a:t>
            </a:r>
            <a:r>
              <a:rPr lang="en-US" altLang="zh-CN" sz="2200">
                <a:latin typeface="Times New Roman" panose="02020603050405020304" pitchFamily="18" charset="0"/>
                <a:ea typeface="宋体" panose="02010600030101010101" pitchFamily="2" charset="-122"/>
                <a:cs typeface="Times New Roman" panose="02020603050405020304" pitchFamily="18" charset="0"/>
              </a:rPr>
              <a:t>V</a:t>
            </a:r>
            <a:r>
              <a:rPr lang="zh-CN" altLang="en-US" sz="2200">
                <a:latin typeface="Times New Roman" panose="02020603050405020304" pitchFamily="18" charset="0"/>
                <a:ea typeface="宋体" panose="02010600030101010101" pitchFamily="2" charset="-122"/>
                <a:cs typeface="Times New Roman" panose="02020603050405020304" pitchFamily="18" charset="0"/>
              </a:rPr>
              <a:t>(Wmutex);</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a:latin typeface="Times New Roman" panose="02020603050405020304" pitchFamily="18" charset="0"/>
                <a:ea typeface="宋体" panose="02010600030101010101" pitchFamily="2" charset="-122"/>
                <a:cs typeface="Times New Roman" panose="02020603050405020304" pitchFamily="18" charset="0"/>
              </a:rPr>
              <a:t>	V</a:t>
            </a:r>
            <a:r>
              <a:rPr lang="zh-CN" altLang="en-US" sz="2200">
                <a:latin typeface="Times New Roman" panose="02020603050405020304" pitchFamily="18" charset="0"/>
                <a:ea typeface="宋体" panose="02010600030101010101" pitchFamily="2" charset="-122"/>
                <a:cs typeface="Times New Roman" panose="02020603050405020304" pitchFamily="18" charset="0"/>
              </a:rPr>
              <a:t>(Rmutex);</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8" name="文本框 7">
            <a:extLst>
              <a:ext uri="{FF2B5EF4-FFF2-40B4-BE49-F238E27FC236}">
                <a16:creationId xmlns:a16="http://schemas.microsoft.com/office/drawing/2014/main" id="{AAECDB86-97A8-454F-93D8-E2940341BC02}"/>
              </a:ext>
            </a:extLst>
          </p:cNvPr>
          <p:cNvSpPr txBox="1"/>
          <p:nvPr/>
        </p:nvSpPr>
        <p:spPr>
          <a:xfrm>
            <a:off x="7581278" y="1368266"/>
            <a:ext cx="3364908" cy="3816429"/>
          </a:xfrm>
          <a:prstGeom prst="rect">
            <a:avLst/>
          </a:prstGeom>
          <a:noFill/>
        </p:spPr>
        <p:txBody>
          <a:bodyPr wrap="square">
            <a:spAutoFit/>
          </a:bodyPr>
          <a:lstStyle/>
          <a:p>
            <a:r>
              <a:rPr lang="zh-CN" altLang="en-US" sz="2200">
                <a:latin typeface="Times New Roman" panose="02020603050405020304" pitchFamily="18" charset="0"/>
                <a:ea typeface="宋体" panose="02010600030101010101" pitchFamily="2" charset="-122"/>
                <a:cs typeface="Times New Roman" panose="02020603050405020304" pitchFamily="18" charset="0"/>
              </a:rPr>
              <a:t>void writer(){</a:t>
            </a:r>
          </a:p>
          <a:p>
            <a:r>
              <a:rPr lang="en-US" altLang="zh-CN" sz="220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a:latin typeface="Times New Roman" panose="02020603050405020304" pitchFamily="18" charset="0"/>
                <a:ea typeface="宋体" panose="02010600030101010101" pitchFamily="2" charset="-122"/>
                <a:cs typeface="Times New Roman" panose="02020603050405020304" pitchFamily="18" charset="0"/>
              </a:rPr>
              <a:t>while(true){</a:t>
            </a:r>
          </a:p>
          <a:p>
            <a:pPr lvl="1"/>
            <a:r>
              <a:rPr lang="en-US" altLang="zh-CN" sz="2200">
                <a:latin typeface="Times New Roman" panose="02020603050405020304" pitchFamily="18" charset="0"/>
                <a:ea typeface="宋体" panose="02010600030101010101" pitchFamily="2" charset="-122"/>
                <a:cs typeface="Times New Roman" panose="02020603050405020304" pitchFamily="18" charset="0"/>
              </a:rPr>
              <a:t>	P</a:t>
            </a:r>
            <a:r>
              <a:rPr lang="zh-CN" altLang="en-US" sz="2200">
                <a:latin typeface="Times New Roman" panose="02020603050405020304" pitchFamily="18" charset="0"/>
                <a:ea typeface="宋体" panose="02010600030101010101" pitchFamily="2" charset="-122"/>
                <a:cs typeface="Times New Roman" panose="02020603050405020304" pitchFamily="18" charset="0"/>
              </a:rPr>
              <a:t>(Fmutex);</a:t>
            </a:r>
          </a:p>
          <a:p>
            <a:r>
              <a:rPr lang="en-US" altLang="zh-CN" sz="2200">
                <a:latin typeface="Times New Roman" panose="02020603050405020304" pitchFamily="18" charset="0"/>
                <a:ea typeface="宋体" panose="02010600030101010101" pitchFamily="2" charset="-122"/>
                <a:cs typeface="Times New Roman" panose="02020603050405020304" pitchFamily="18" charset="0"/>
              </a:rPr>
              <a:t>	P</a:t>
            </a:r>
            <a:r>
              <a:rPr lang="zh-CN" altLang="en-US" sz="2200">
                <a:latin typeface="Times New Roman" panose="02020603050405020304" pitchFamily="18" charset="0"/>
                <a:ea typeface="宋体" panose="02010600030101010101" pitchFamily="2" charset="-122"/>
                <a:cs typeface="Times New Roman" panose="02020603050405020304" pitchFamily="18" charset="0"/>
              </a:rPr>
              <a:t>(Wmutex);</a:t>
            </a:r>
            <a:endParaRPr lang="en-US" altLang="zh-CN" sz="220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20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a:latin typeface="Times New Roman" panose="02020603050405020304" pitchFamily="18" charset="0"/>
                <a:ea typeface="宋体" panose="02010600030101010101" pitchFamily="2" charset="-122"/>
                <a:cs typeface="Times New Roman" panose="02020603050405020304" pitchFamily="18" charset="0"/>
              </a:rPr>
              <a:t>....;</a:t>
            </a:r>
          </a:p>
          <a:p>
            <a:r>
              <a:rPr lang="en-US" altLang="zh-CN" sz="220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a:latin typeface="Times New Roman" panose="02020603050405020304" pitchFamily="18" charset="0"/>
                <a:ea typeface="宋体" panose="02010600030101010101" pitchFamily="2" charset="-122"/>
                <a:cs typeface="Times New Roman" panose="02020603050405020304" pitchFamily="18" charset="0"/>
              </a:rPr>
              <a:t>write;</a:t>
            </a:r>
            <a:r>
              <a:rPr lang="en-US" altLang="zh-CN" sz="2200">
                <a:latin typeface="Times New Roman" panose="02020603050405020304" pitchFamily="18" charset="0"/>
                <a:ea typeface="宋体" panose="02010600030101010101" pitchFamily="2" charset="-122"/>
                <a:cs typeface="Times New Roman" panose="02020603050405020304" pitchFamily="18" charset="0"/>
              </a:rPr>
              <a:t>//</a:t>
            </a:r>
            <a:r>
              <a:rPr lang="zh-CN" altLang="en-US" sz="2200">
                <a:latin typeface="Times New Roman" panose="02020603050405020304" pitchFamily="18" charset="0"/>
                <a:ea typeface="宋体" panose="02010600030101010101" pitchFamily="2" charset="-122"/>
                <a:cs typeface="Times New Roman" panose="02020603050405020304" pitchFamily="18" charset="0"/>
              </a:rPr>
              <a:t>写数据</a:t>
            </a:r>
            <a:endParaRPr lang="en-US" altLang="zh-CN" sz="220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20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200">
                <a:latin typeface="Times New Roman" panose="02020603050405020304" pitchFamily="18" charset="0"/>
                <a:ea typeface="宋体" panose="02010600030101010101" pitchFamily="2" charset="-122"/>
                <a:cs typeface="Times New Roman" panose="02020603050405020304" pitchFamily="18" charset="0"/>
              </a:rPr>
              <a:t>	V</a:t>
            </a:r>
            <a:r>
              <a:rPr lang="zh-CN" altLang="en-US" sz="2200">
                <a:latin typeface="Times New Roman" panose="02020603050405020304" pitchFamily="18" charset="0"/>
                <a:ea typeface="宋体" panose="02010600030101010101" pitchFamily="2" charset="-122"/>
                <a:cs typeface="Times New Roman" panose="02020603050405020304" pitchFamily="18" charset="0"/>
              </a:rPr>
              <a:t>(Wmutex);</a:t>
            </a:r>
            <a:endParaRPr lang="en-US" altLang="zh-CN" sz="220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200">
                <a:latin typeface="Times New Roman" panose="02020603050405020304" pitchFamily="18" charset="0"/>
                <a:ea typeface="宋体" panose="02010600030101010101" pitchFamily="2" charset="-122"/>
                <a:cs typeface="Times New Roman" panose="02020603050405020304" pitchFamily="18" charset="0"/>
              </a:rPr>
              <a:t>	V</a:t>
            </a:r>
            <a:r>
              <a:rPr lang="zh-CN" altLang="en-US" sz="2200">
                <a:latin typeface="Times New Roman" panose="02020603050405020304" pitchFamily="18" charset="0"/>
                <a:ea typeface="宋体" panose="02010600030101010101" pitchFamily="2" charset="-122"/>
                <a:cs typeface="Times New Roman" panose="02020603050405020304" pitchFamily="18" charset="0"/>
              </a:rPr>
              <a:t>(Fmutex);</a:t>
            </a:r>
            <a:endParaRPr lang="en-US" altLang="zh-CN" sz="220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20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10" name="文本框 9">
            <a:extLst>
              <a:ext uri="{FF2B5EF4-FFF2-40B4-BE49-F238E27FC236}">
                <a16:creationId xmlns:a16="http://schemas.microsoft.com/office/drawing/2014/main" id="{AE345453-5060-4DEA-BF9D-DD8D94D51372}"/>
              </a:ext>
            </a:extLst>
          </p:cNvPr>
          <p:cNvSpPr txBox="1"/>
          <p:nvPr/>
        </p:nvSpPr>
        <p:spPr>
          <a:xfrm>
            <a:off x="745957" y="2857228"/>
            <a:ext cx="1491917" cy="1446550"/>
          </a:xfrm>
          <a:prstGeom prst="rect">
            <a:avLst/>
          </a:prstGeom>
          <a:noFill/>
          <a:ln>
            <a:solidFill>
              <a:schemeClr val="tx1"/>
            </a:solidFill>
          </a:ln>
        </p:spPr>
        <p:txBody>
          <a:bodyPr wrap="square">
            <a:spAutoFit/>
          </a:bodyPr>
          <a:lstStyle/>
          <a:p>
            <a:r>
              <a:rPr lang="zh-CN" altLang="en-US" sz="2200">
                <a:latin typeface="Times New Roman" panose="02020603050405020304" pitchFamily="18" charset="0"/>
                <a:ea typeface="宋体" panose="02010600030101010101" pitchFamily="2" charset="-122"/>
                <a:cs typeface="Times New Roman" panose="02020603050405020304" pitchFamily="18" charset="0"/>
              </a:rPr>
              <a:t>Rcount=0; Rmutex=</a:t>
            </a:r>
            <a:r>
              <a:rPr lang="en-US" altLang="zh-CN" sz="2200">
                <a:latin typeface="Times New Roman" panose="02020603050405020304" pitchFamily="18" charset="0"/>
                <a:ea typeface="宋体" panose="02010600030101010101" pitchFamily="2" charset="-122"/>
                <a:cs typeface="Times New Roman" panose="02020603050405020304" pitchFamily="18" charset="0"/>
              </a:rPr>
              <a:t>1;</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Wmutex=</a:t>
            </a:r>
            <a:r>
              <a:rPr lang="en-US" altLang="zh-CN" sz="2200">
                <a:latin typeface="Times New Roman" panose="02020603050405020304" pitchFamily="18" charset="0"/>
                <a:ea typeface="宋体" panose="02010600030101010101" pitchFamily="2" charset="-122"/>
                <a:cs typeface="Times New Roman" panose="02020603050405020304" pitchFamily="18" charset="0"/>
              </a:rPr>
              <a:t>1;</a:t>
            </a:r>
          </a:p>
          <a:p>
            <a:r>
              <a:rPr lang="zh-CN" altLang="en-US" sz="2200">
                <a:latin typeface="Times New Roman" panose="02020603050405020304" pitchFamily="18" charset="0"/>
                <a:ea typeface="宋体" panose="02010600030101010101" pitchFamily="2" charset="-122"/>
                <a:cs typeface="Times New Roman" panose="02020603050405020304" pitchFamily="18" charset="0"/>
              </a:rPr>
              <a:t>Fmutex=1;</a:t>
            </a:r>
          </a:p>
        </p:txBody>
      </p:sp>
    </p:spTree>
    <p:extLst>
      <p:ext uri="{BB962C8B-B14F-4D97-AF65-F5344CB8AC3E}">
        <p14:creationId xmlns:p14="http://schemas.microsoft.com/office/powerpoint/2010/main" val="3668336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a:latin typeface="+mj-ea"/>
                <a:ea typeface="+mj-ea"/>
              </a:rPr>
              <a:t>进程通信</a:t>
            </a:r>
            <a:endParaRPr lang="zh-CN" altLang="en-US">
              <a:latin typeface="+mj-ea"/>
              <a:ea typeface="+mj-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53</a:t>
            </a:fld>
            <a:endParaRPr kumimoji="1" lang="zh-CN" altLang="en-US"/>
          </a:p>
        </p:txBody>
      </p:sp>
      <p:sp>
        <p:nvSpPr>
          <p:cNvPr id="7" name="内容占位符 2">
            <a:extLst>
              <a:ext uri="{FF2B5EF4-FFF2-40B4-BE49-F238E27FC236}">
                <a16:creationId xmlns:a16="http://schemas.microsoft.com/office/drawing/2014/main" id="{4FD0EBE6-BED1-41B0-BDC5-3CCB698FCDC9}"/>
              </a:ext>
            </a:extLst>
          </p:cNvPr>
          <p:cNvSpPr>
            <a:spLocks noGrp="1"/>
          </p:cNvSpPr>
          <p:nvPr>
            <p:ph idx="1"/>
          </p:nvPr>
        </p:nvSpPr>
        <p:spPr>
          <a:xfrm>
            <a:off x="838200" y="1510758"/>
            <a:ext cx="10515600" cy="5347242"/>
          </a:xfrm>
        </p:spPr>
        <p:txBody>
          <a:bodyPr>
            <a:noAutofit/>
          </a:bodyPr>
          <a:lstStyle/>
          <a:p>
            <a:pPr marL="0" indent="0" algn="just">
              <a:buNone/>
            </a:pPr>
            <a:r>
              <a:rPr lang="zh-CN" altLang="en-US" sz="2400">
                <a:solidFill>
                  <a:schemeClr val="accent6">
                    <a:lumMod val="50000"/>
                  </a:schemeClr>
                </a:solidFill>
              </a:rPr>
              <a:t>        </a:t>
            </a:r>
            <a:r>
              <a:rPr lang="zh-CN" altLang="en-US" sz="2400" b="1">
                <a:solidFill>
                  <a:srgbClr val="0070C0"/>
                </a:solidFill>
              </a:rPr>
              <a:t>进程通信</a:t>
            </a:r>
            <a:r>
              <a:rPr lang="zh-CN" altLang="en-US" sz="2400">
                <a:solidFill>
                  <a:schemeClr val="accent6">
                    <a:lumMod val="50000"/>
                  </a:schemeClr>
                </a:solidFill>
              </a:rPr>
              <a:t>是指进程间的信息交换。由于进程的互斥与同步，需在进程间交换信息，故不少学者将它们也归为进程通信，但只能将其称为低级进程通信。之所以低级</a:t>
            </a:r>
            <a:r>
              <a:rPr lang="en-US" altLang="zh-CN" sz="2400">
                <a:solidFill>
                  <a:schemeClr val="accent6">
                    <a:lumMod val="50000"/>
                  </a:schemeClr>
                </a:solidFill>
              </a:rPr>
              <a:t>(</a:t>
            </a:r>
            <a:r>
              <a:rPr lang="zh-CN" altLang="en-US" sz="2400">
                <a:solidFill>
                  <a:schemeClr val="accent6">
                    <a:lumMod val="50000"/>
                  </a:schemeClr>
                </a:solidFill>
              </a:rPr>
              <a:t>以信号量机制为例</a:t>
            </a:r>
            <a:r>
              <a:rPr lang="en-US" altLang="zh-CN" sz="2400">
                <a:solidFill>
                  <a:schemeClr val="accent6">
                    <a:lumMod val="50000"/>
                  </a:schemeClr>
                </a:solidFill>
              </a:rPr>
              <a:t>)</a:t>
            </a:r>
            <a:r>
              <a:rPr lang="zh-CN" altLang="en-US" sz="2400">
                <a:solidFill>
                  <a:schemeClr val="accent6">
                    <a:lumMod val="50000"/>
                  </a:schemeClr>
                </a:solidFill>
              </a:rPr>
              <a:t>的原因在于：①</a:t>
            </a:r>
            <a:r>
              <a:rPr lang="zh-CN" altLang="en-US" sz="2400" b="1">
                <a:solidFill>
                  <a:srgbClr val="FF0000"/>
                </a:solidFill>
              </a:rPr>
              <a:t>效率低</a:t>
            </a:r>
            <a:r>
              <a:rPr lang="zh-CN" altLang="en-US" sz="2400">
                <a:solidFill>
                  <a:schemeClr val="accent6">
                    <a:lumMod val="50000"/>
                  </a:schemeClr>
                </a:solidFill>
              </a:rPr>
              <a:t>，生产者每次只能向缓冲池投放一个产品</a:t>
            </a:r>
            <a:r>
              <a:rPr lang="en-US" altLang="zh-CN" sz="2400">
                <a:solidFill>
                  <a:schemeClr val="accent6">
                    <a:lumMod val="50000"/>
                  </a:schemeClr>
                </a:solidFill>
              </a:rPr>
              <a:t>(</a:t>
            </a:r>
            <a:r>
              <a:rPr lang="zh-CN" altLang="en-US" sz="2400">
                <a:solidFill>
                  <a:schemeClr val="accent6">
                    <a:lumMod val="50000"/>
                  </a:schemeClr>
                </a:solidFill>
              </a:rPr>
              <a:t>消息</a:t>
            </a:r>
            <a:r>
              <a:rPr lang="en-US" altLang="zh-CN" sz="2400">
                <a:solidFill>
                  <a:schemeClr val="accent6">
                    <a:lumMod val="50000"/>
                  </a:schemeClr>
                </a:solidFill>
              </a:rPr>
              <a:t>)</a:t>
            </a:r>
            <a:r>
              <a:rPr lang="zh-CN" altLang="en-US" sz="2400">
                <a:solidFill>
                  <a:schemeClr val="accent6">
                    <a:lumMod val="50000"/>
                  </a:schemeClr>
                </a:solidFill>
              </a:rPr>
              <a:t>，消费者每次只能从缓冲区中取得一个消息；②</a:t>
            </a:r>
            <a:r>
              <a:rPr lang="zh-CN" altLang="en-US" sz="2400" b="1">
                <a:solidFill>
                  <a:srgbClr val="FF0000"/>
                </a:solidFill>
              </a:rPr>
              <a:t>通信对用户不透明</a:t>
            </a:r>
            <a:r>
              <a:rPr lang="zh-CN" altLang="en-US" sz="2400">
                <a:solidFill>
                  <a:schemeClr val="accent6">
                    <a:lumMod val="50000"/>
                  </a:schemeClr>
                </a:solidFill>
              </a:rPr>
              <a:t>，</a:t>
            </a:r>
            <a:r>
              <a:rPr lang="en-US" altLang="zh-CN" sz="2400">
                <a:solidFill>
                  <a:schemeClr val="accent6">
                    <a:lumMod val="50000"/>
                  </a:schemeClr>
                </a:solidFill>
              </a:rPr>
              <a:t>OS</a:t>
            </a:r>
            <a:r>
              <a:rPr lang="zh-CN" altLang="en-US" sz="2400">
                <a:solidFill>
                  <a:schemeClr val="accent6">
                    <a:lumMod val="50000"/>
                  </a:schemeClr>
                </a:solidFill>
              </a:rPr>
              <a:t>只为进程之间的通信提供了共享存储器。</a:t>
            </a:r>
            <a:endParaRPr lang="en-US" altLang="zh-CN" sz="2400">
              <a:solidFill>
                <a:schemeClr val="accent6">
                  <a:lumMod val="50000"/>
                </a:schemeClr>
              </a:solidFill>
            </a:endParaRPr>
          </a:p>
          <a:p>
            <a:pPr marL="0" indent="0" algn="just">
              <a:buNone/>
            </a:pPr>
            <a:r>
              <a:rPr lang="zh-CN" altLang="en-US" sz="2400">
                <a:solidFill>
                  <a:schemeClr val="accent6">
                    <a:lumMod val="50000"/>
                  </a:schemeClr>
                </a:solidFill>
              </a:rPr>
              <a:t>        在进程之间要传送大量数据时，应当利用</a:t>
            </a:r>
            <a:r>
              <a:rPr lang="en-US" altLang="zh-CN" sz="2400">
                <a:solidFill>
                  <a:schemeClr val="accent6">
                    <a:lumMod val="50000"/>
                  </a:schemeClr>
                </a:solidFill>
              </a:rPr>
              <a:t>OS</a:t>
            </a:r>
            <a:r>
              <a:rPr lang="zh-CN" altLang="en-US" sz="2400">
                <a:solidFill>
                  <a:schemeClr val="accent6">
                    <a:lumMod val="50000"/>
                  </a:schemeClr>
                </a:solidFill>
              </a:rPr>
              <a:t>提供的高级通信工具，该工具最主要的特点是：</a:t>
            </a:r>
            <a:r>
              <a:rPr lang="en-US" altLang="zh-CN" sz="2400">
                <a:solidFill>
                  <a:schemeClr val="accent6">
                    <a:lumMod val="50000"/>
                  </a:schemeClr>
                </a:solidFill>
              </a:rPr>
              <a:t>(1)</a:t>
            </a:r>
            <a:r>
              <a:rPr lang="zh-CN" altLang="en-US" sz="2400" b="1">
                <a:solidFill>
                  <a:srgbClr val="FF0000"/>
                </a:solidFill>
              </a:rPr>
              <a:t>使用方便</a:t>
            </a:r>
            <a:r>
              <a:rPr lang="zh-CN" altLang="en-US" sz="2400">
                <a:solidFill>
                  <a:schemeClr val="accent6">
                    <a:lumMod val="50000"/>
                  </a:schemeClr>
                </a:solidFill>
              </a:rPr>
              <a:t>。</a:t>
            </a:r>
            <a:r>
              <a:rPr lang="en-US" altLang="zh-CN" sz="2400">
                <a:solidFill>
                  <a:schemeClr val="accent6">
                    <a:lumMod val="50000"/>
                  </a:schemeClr>
                </a:solidFill>
              </a:rPr>
              <a:t>OS</a:t>
            </a:r>
            <a:r>
              <a:rPr lang="zh-CN" altLang="en-US" sz="2400">
                <a:solidFill>
                  <a:schemeClr val="accent6">
                    <a:lumMod val="50000"/>
                  </a:schemeClr>
                </a:solidFill>
              </a:rPr>
              <a:t>隐藏了实现进程通信的具体细节，向用户提供了一组用于实现高级通信的命令</a:t>
            </a:r>
            <a:r>
              <a:rPr lang="en-US" altLang="zh-CN" sz="2400">
                <a:solidFill>
                  <a:schemeClr val="accent6">
                    <a:lumMod val="50000"/>
                  </a:schemeClr>
                </a:solidFill>
              </a:rPr>
              <a:t>(</a:t>
            </a:r>
            <a:r>
              <a:rPr lang="zh-CN" altLang="en-US" sz="2400">
                <a:solidFill>
                  <a:schemeClr val="accent6">
                    <a:lumMod val="50000"/>
                  </a:schemeClr>
                </a:solidFill>
              </a:rPr>
              <a:t>原语</a:t>
            </a:r>
            <a:r>
              <a:rPr lang="en-US" altLang="zh-CN" sz="2400">
                <a:solidFill>
                  <a:schemeClr val="accent6">
                    <a:lumMod val="50000"/>
                  </a:schemeClr>
                </a:solidFill>
              </a:rPr>
              <a:t>)</a:t>
            </a:r>
            <a:r>
              <a:rPr lang="zh-CN" altLang="en-US" sz="2400">
                <a:solidFill>
                  <a:schemeClr val="accent6">
                    <a:lumMod val="50000"/>
                  </a:schemeClr>
                </a:solidFill>
              </a:rPr>
              <a:t>，用户可方便地直接利用它实现进程之间的通信。或者说，通信过程对用户是透明的。这样就大大减少了通信程序编制上的复杂性。</a:t>
            </a:r>
            <a:r>
              <a:rPr lang="en-US" altLang="zh-CN" sz="2400">
                <a:solidFill>
                  <a:schemeClr val="accent6">
                    <a:lumMod val="50000"/>
                  </a:schemeClr>
                </a:solidFill>
              </a:rPr>
              <a:t>(2)</a:t>
            </a:r>
            <a:r>
              <a:rPr lang="zh-CN" altLang="en-US" sz="2400" b="1">
                <a:solidFill>
                  <a:srgbClr val="FF0000"/>
                </a:solidFill>
              </a:rPr>
              <a:t>高效地传送大量数据</a:t>
            </a:r>
            <a:r>
              <a:rPr lang="zh-CN" altLang="en-US" sz="2400">
                <a:solidFill>
                  <a:schemeClr val="accent6">
                    <a:lumMod val="50000"/>
                  </a:schemeClr>
                </a:solidFill>
              </a:rPr>
              <a:t>。用户可直接利用高级通信命令</a:t>
            </a:r>
            <a:r>
              <a:rPr lang="en-US" altLang="zh-CN" sz="2400">
                <a:solidFill>
                  <a:schemeClr val="accent6">
                    <a:lumMod val="50000"/>
                  </a:schemeClr>
                </a:solidFill>
              </a:rPr>
              <a:t>(</a:t>
            </a:r>
            <a:r>
              <a:rPr lang="zh-CN" altLang="en-US" sz="2400">
                <a:solidFill>
                  <a:schemeClr val="accent6">
                    <a:lumMod val="50000"/>
                  </a:schemeClr>
                </a:solidFill>
              </a:rPr>
              <a:t>原语</a:t>
            </a:r>
            <a:r>
              <a:rPr lang="en-US" altLang="zh-CN" sz="2400">
                <a:solidFill>
                  <a:schemeClr val="accent6">
                    <a:lumMod val="50000"/>
                  </a:schemeClr>
                </a:solidFill>
              </a:rPr>
              <a:t>)</a:t>
            </a:r>
            <a:r>
              <a:rPr lang="zh-CN" altLang="en-US" sz="2400">
                <a:solidFill>
                  <a:schemeClr val="accent6">
                    <a:lumMod val="50000"/>
                  </a:schemeClr>
                </a:solidFill>
              </a:rPr>
              <a:t>高效地传送大量的数据</a:t>
            </a:r>
          </a:p>
        </p:txBody>
      </p:sp>
    </p:spTree>
    <p:extLst>
      <p:ext uri="{BB962C8B-B14F-4D97-AF65-F5344CB8AC3E}">
        <p14:creationId xmlns:p14="http://schemas.microsoft.com/office/powerpoint/2010/main" val="2122088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进程通信</a:t>
            </a:r>
            <a:endParaRPr lang="zh-CN" altLang="en-US">
              <a:latin typeface="+mj-ea"/>
              <a:ea typeface="+mj-ea"/>
            </a:endParaRPr>
          </a:p>
        </p:txBody>
      </p:sp>
      <p:sp>
        <p:nvSpPr>
          <p:cNvPr id="3" name="内容占位符 2"/>
          <p:cNvSpPr>
            <a:spLocks noGrp="1"/>
          </p:cNvSpPr>
          <p:nvPr>
            <p:ph idx="1"/>
          </p:nvPr>
        </p:nvSpPr>
        <p:spPr>
          <a:xfrm>
            <a:off x="838199" y="1510665"/>
            <a:ext cx="10384858" cy="5347335"/>
          </a:xfrm>
        </p:spPr>
        <p:txBody>
          <a:bodyPr>
            <a:normAutofit fontScale="97500"/>
          </a:bodyPr>
          <a:lstStyle/>
          <a:p>
            <a:r>
              <a:rPr lang="zh-CN" altLang="en-US" sz="2900">
                <a:solidFill>
                  <a:srgbClr val="0070C0"/>
                </a:solidFill>
                <a:sym typeface="+mn-ea"/>
              </a:rPr>
              <a:t>进程通信的类型</a:t>
            </a:r>
          </a:p>
          <a:p>
            <a:pPr lvl="1">
              <a:buClrTx/>
              <a:buSzTx/>
              <a:buFont typeface="Wingdings" panose="05000000000000000000" pitchFamily="2" charset="2"/>
              <a:buChar char="ü"/>
            </a:pPr>
            <a:r>
              <a:rPr lang="zh-CN" altLang="en-US" sz="2500">
                <a:sym typeface="+mn-ea"/>
              </a:rPr>
              <a:t>共享存储器系统</a:t>
            </a:r>
            <a:endParaRPr lang="en-US" altLang="zh-CN" sz="2500">
              <a:sym typeface="+mn-ea"/>
            </a:endParaRPr>
          </a:p>
          <a:p>
            <a:pPr marL="914400" lvl="2" indent="0" algn="just">
              <a:buNone/>
            </a:pPr>
            <a:r>
              <a:rPr lang="zh-CN" altLang="en-US" sz="2100">
                <a:sym typeface="+mn-ea"/>
              </a:rPr>
              <a:t>在共享存储器系统中，相互通信的进程共享某些数据结构或共享存储区，进程之间能够通过这些空间进行通信。据此，又可将它们分为：</a:t>
            </a:r>
            <a:r>
              <a:rPr lang="en-US" altLang="zh-CN" sz="2100">
                <a:sym typeface="+mn-ea"/>
              </a:rPr>
              <a:t>(1)</a:t>
            </a:r>
            <a:r>
              <a:rPr lang="zh-CN" altLang="en-US" sz="2100">
                <a:sym typeface="+mn-ea"/>
              </a:rPr>
              <a:t>基于共享数据结构的通信方式；</a:t>
            </a:r>
            <a:r>
              <a:rPr lang="en-US" altLang="zh-CN" sz="2100">
                <a:sym typeface="+mn-ea"/>
              </a:rPr>
              <a:t>(2)</a:t>
            </a:r>
            <a:r>
              <a:rPr lang="zh-CN" altLang="en-US" sz="2100">
                <a:sym typeface="+mn-ea"/>
              </a:rPr>
              <a:t>基于共享存储区的通信方式。</a:t>
            </a:r>
            <a:endParaRPr lang="en-US" altLang="zh-CN" sz="2100">
              <a:sym typeface="+mn-ea"/>
            </a:endParaRPr>
          </a:p>
          <a:p>
            <a:pPr lvl="1">
              <a:buClrTx/>
              <a:buSzTx/>
              <a:buFont typeface="Wingdings" panose="05000000000000000000" pitchFamily="2" charset="2"/>
              <a:buChar char="ü"/>
            </a:pPr>
            <a:r>
              <a:rPr lang="zh-CN" altLang="en-US" sz="2500">
                <a:sym typeface="+mn-ea"/>
              </a:rPr>
              <a:t>消息传递系统</a:t>
            </a:r>
            <a:endParaRPr lang="en-US" altLang="zh-CN" sz="2500">
              <a:sym typeface="+mn-ea"/>
            </a:endParaRPr>
          </a:p>
          <a:p>
            <a:pPr marL="914400" lvl="2" indent="0" algn="just">
              <a:buNone/>
            </a:pPr>
            <a:r>
              <a:rPr lang="zh-CN" altLang="en-US" sz="2100">
                <a:sym typeface="+mn-ea"/>
              </a:rPr>
              <a:t>在该机制中，进程不必借助任何共享存储区或数据结构，而以格式化的消息为单位，将通信的数据封装在消息中，并利用操作系统提供的一组通信命令</a:t>
            </a:r>
            <a:r>
              <a:rPr lang="en-US" altLang="zh-CN" sz="2100">
                <a:sym typeface="+mn-ea"/>
              </a:rPr>
              <a:t>(</a:t>
            </a:r>
            <a:r>
              <a:rPr lang="zh-CN" altLang="en-US" sz="2100">
                <a:sym typeface="+mn-ea"/>
              </a:rPr>
              <a:t>原语</a:t>
            </a:r>
            <a:r>
              <a:rPr lang="en-US" altLang="zh-CN" sz="2100">
                <a:sym typeface="+mn-ea"/>
              </a:rPr>
              <a:t>)</a:t>
            </a:r>
            <a:r>
              <a:rPr lang="zh-CN" altLang="en-US" sz="2100">
                <a:sym typeface="+mn-ea"/>
              </a:rPr>
              <a:t>，在进程间进行消息传递，完成进程间的数据交换。</a:t>
            </a:r>
            <a:endParaRPr lang="en-US" altLang="zh-CN" sz="2100">
              <a:sym typeface="+mn-ea"/>
            </a:endParaRPr>
          </a:p>
          <a:p>
            <a:pPr marL="914400" lvl="2" indent="0" algn="just">
              <a:buNone/>
            </a:pPr>
            <a:r>
              <a:rPr lang="zh-CN" altLang="en-US" sz="2100">
                <a:sym typeface="+mn-ea"/>
              </a:rPr>
              <a:t>基于消息传递系统的通信方式属于高级通信方式，因其实现方式的不同，可进一步分为：</a:t>
            </a:r>
            <a:r>
              <a:rPr lang="en-US" altLang="zh-CN" sz="2100">
                <a:sym typeface="+mn-ea"/>
              </a:rPr>
              <a:t>(1)</a:t>
            </a:r>
            <a:r>
              <a:rPr lang="zh-CN" altLang="en-US" sz="2100">
                <a:sym typeface="+mn-ea"/>
              </a:rPr>
              <a:t>直接通信方式；</a:t>
            </a:r>
            <a:r>
              <a:rPr lang="en-US" altLang="zh-CN" sz="2100">
                <a:sym typeface="+mn-ea"/>
              </a:rPr>
              <a:t>(2)</a:t>
            </a:r>
            <a:r>
              <a:rPr lang="zh-CN" altLang="en-US" sz="2100">
                <a:sym typeface="+mn-ea"/>
              </a:rPr>
              <a:t>间接通信方式 。</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54</a:t>
            </a:fld>
            <a:endParaRPr kumimoji="1" lang="zh-CN" altLang="en-US"/>
          </a:p>
        </p:txBody>
      </p:sp>
    </p:spTree>
    <p:extLst>
      <p:ext uri="{BB962C8B-B14F-4D97-AF65-F5344CB8AC3E}">
        <p14:creationId xmlns:p14="http://schemas.microsoft.com/office/powerpoint/2010/main" val="29688334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进程通信</a:t>
            </a:r>
            <a:endParaRPr lang="zh-CN" altLang="en-US">
              <a:latin typeface="+mj-ea"/>
              <a:ea typeface="+mj-ea"/>
            </a:endParaRPr>
          </a:p>
        </p:txBody>
      </p:sp>
      <p:sp>
        <p:nvSpPr>
          <p:cNvPr id="3" name="内容占位符 2"/>
          <p:cNvSpPr>
            <a:spLocks noGrp="1"/>
          </p:cNvSpPr>
          <p:nvPr>
            <p:ph idx="1"/>
          </p:nvPr>
        </p:nvSpPr>
        <p:spPr>
          <a:xfrm>
            <a:off x="838199" y="1510665"/>
            <a:ext cx="10384858" cy="5347335"/>
          </a:xfrm>
        </p:spPr>
        <p:txBody>
          <a:bodyPr>
            <a:normAutofit fontScale="97500"/>
          </a:bodyPr>
          <a:lstStyle/>
          <a:p>
            <a:r>
              <a:rPr lang="zh-CN" altLang="en-US" sz="2900">
                <a:solidFill>
                  <a:srgbClr val="0070C0"/>
                </a:solidFill>
                <a:sym typeface="+mn-ea"/>
              </a:rPr>
              <a:t>进程通信的类型</a:t>
            </a:r>
          </a:p>
          <a:p>
            <a:pPr lvl="1">
              <a:buClrTx/>
              <a:buSzTx/>
              <a:buFont typeface="Wingdings" panose="05000000000000000000" pitchFamily="2" charset="2"/>
              <a:buChar char="ü"/>
            </a:pPr>
            <a:r>
              <a:rPr lang="zh-CN" altLang="en-US" sz="2500">
                <a:sym typeface="+mn-ea"/>
              </a:rPr>
              <a:t>管道通信系统</a:t>
            </a:r>
            <a:endParaRPr lang="en-US" altLang="zh-CN" sz="2500">
              <a:sym typeface="+mn-ea"/>
            </a:endParaRPr>
          </a:p>
          <a:p>
            <a:pPr marL="914400" lvl="2" indent="0" algn="just">
              <a:buNone/>
            </a:pPr>
            <a:r>
              <a:rPr lang="zh-CN" altLang="en-US" sz="2100">
                <a:sym typeface="+mn-ea"/>
              </a:rPr>
              <a:t>所谓“</a:t>
            </a:r>
            <a:r>
              <a:rPr lang="zh-CN" altLang="en-US" sz="2100" b="1">
                <a:solidFill>
                  <a:srgbClr val="C00000"/>
                </a:solidFill>
                <a:sym typeface="+mn-ea"/>
              </a:rPr>
              <a:t>管道</a:t>
            </a:r>
            <a:r>
              <a:rPr lang="zh-CN" altLang="en-US" sz="2100">
                <a:sym typeface="+mn-ea"/>
              </a:rPr>
              <a:t>”是指连接一个读进程和一个写进程以实现它们之间通信的一个共享文件，又名</a:t>
            </a:r>
            <a:r>
              <a:rPr lang="en-US" altLang="zh-CN" sz="2100">
                <a:sym typeface="+mn-ea"/>
              </a:rPr>
              <a:t>pipe</a:t>
            </a:r>
            <a:r>
              <a:rPr lang="zh-CN" altLang="en-US" sz="2100">
                <a:sym typeface="+mn-ea"/>
              </a:rPr>
              <a:t>文件。向管道</a:t>
            </a:r>
            <a:r>
              <a:rPr lang="en-US" altLang="zh-CN" sz="2100">
                <a:sym typeface="+mn-ea"/>
              </a:rPr>
              <a:t>(</a:t>
            </a:r>
            <a:r>
              <a:rPr lang="zh-CN" altLang="en-US" sz="2100">
                <a:sym typeface="+mn-ea"/>
              </a:rPr>
              <a:t>共享文件</a:t>
            </a:r>
            <a:r>
              <a:rPr lang="en-US" altLang="zh-CN" sz="2100">
                <a:sym typeface="+mn-ea"/>
              </a:rPr>
              <a:t>)</a:t>
            </a:r>
            <a:r>
              <a:rPr lang="zh-CN" altLang="en-US" sz="2100">
                <a:sym typeface="+mn-ea"/>
              </a:rPr>
              <a:t>提供输入的发送进程</a:t>
            </a:r>
            <a:r>
              <a:rPr lang="en-US" altLang="zh-CN" sz="2100">
                <a:sym typeface="+mn-ea"/>
              </a:rPr>
              <a:t>(</a:t>
            </a:r>
            <a:r>
              <a:rPr lang="zh-CN" altLang="en-US" sz="2100">
                <a:sym typeface="+mn-ea"/>
              </a:rPr>
              <a:t>即写进程</a:t>
            </a:r>
            <a:r>
              <a:rPr lang="en-US" altLang="zh-CN" sz="2100">
                <a:sym typeface="+mn-ea"/>
              </a:rPr>
              <a:t>)</a:t>
            </a:r>
            <a:r>
              <a:rPr lang="zh-CN" altLang="en-US" sz="2100">
                <a:sym typeface="+mn-ea"/>
              </a:rPr>
              <a:t>以字符流形式将大量数据送入管道；而接收管道输出的接收进程</a:t>
            </a:r>
            <a:r>
              <a:rPr lang="en-US" altLang="zh-CN" sz="2100">
                <a:sym typeface="+mn-ea"/>
              </a:rPr>
              <a:t>(</a:t>
            </a:r>
            <a:r>
              <a:rPr lang="zh-CN" altLang="en-US" sz="2100">
                <a:sym typeface="+mn-ea"/>
              </a:rPr>
              <a:t>即读进程</a:t>
            </a:r>
            <a:r>
              <a:rPr lang="en-US" altLang="zh-CN" sz="2100">
                <a:sym typeface="+mn-ea"/>
              </a:rPr>
              <a:t>)</a:t>
            </a:r>
            <a:r>
              <a:rPr lang="zh-CN" altLang="en-US" sz="2100">
                <a:sym typeface="+mn-ea"/>
              </a:rPr>
              <a:t>则从管道中接收</a:t>
            </a:r>
            <a:r>
              <a:rPr lang="en-US" altLang="zh-CN" sz="2100">
                <a:sym typeface="+mn-ea"/>
              </a:rPr>
              <a:t>(</a:t>
            </a:r>
            <a:r>
              <a:rPr lang="zh-CN" altLang="en-US" sz="2100">
                <a:sym typeface="+mn-ea"/>
              </a:rPr>
              <a:t>读</a:t>
            </a:r>
            <a:r>
              <a:rPr lang="en-US" altLang="zh-CN" sz="2100">
                <a:sym typeface="+mn-ea"/>
              </a:rPr>
              <a:t>)</a:t>
            </a:r>
            <a:r>
              <a:rPr lang="zh-CN" altLang="en-US" sz="2100">
                <a:sym typeface="+mn-ea"/>
              </a:rPr>
              <a:t>数据。由于发送进程和接收进程是利用管道进行通信的，故又称为管道通信。</a:t>
            </a:r>
            <a:endParaRPr lang="en-US" altLang="zh-CN" sz="2100">
              <a:sym typeface="+mn-ea"/>
            </a:endParaRPr>
          </a:p>
          <a:p>
            <a:pPr marL="914400" lvl="2" indent="0" algn="just">
              <a:buNone/>
            </a:pPr>
            <a:r>
              <a:rPr lang="zh-CN" altLang="en-US" sz="2100">
                <a:sym typeface="+mn-ea"/>
              </a:rPr>
              <a:t>为协调双方通信，管道机制必须提供以下三方面的协调能力：①</a:t>
            </a:r>
            <a:r>
              <a:rPr lang="zh-CN" altLang="en-US" sz="2100" b="1">
                <a:solidFill>
                  <a:srgbClr val="FF0000"/>
                </a:solidFill>
                <a:sym typeface="+mn-ea"/>
              </a:rPr>
              <a:t>互斥</a:t>
            </a:r>
            <a:r>
              <a:rPr lang="zh-CN" altLang="en-US" sz="2100">
                <a:sym typeface="+mn-ea"/>
              </a:rPr>
              <a:t>，即当一个进程正在对</a:t>
            </a:r>
            <a:r>
              <a:rPr lang="en-US" altLang="zh-CN" sz="2100">
                <a:sym typeface="+mn-ea"/>
              </a:rPr>
              <a:t>pipe</a:t>
            </a:r>
            <a:r>
              <a:rPr lang="zh-CN" altLang="en-US" sz="2100">
                <a:sym typeface="+mn-ea"/>
              </a:rPr>
              <a:t>执行读</a:t>
            </a:r>
            <a:r>
              <a:rPr lang="en-US" altLang="zh-CN" sz="2100">
                <a:sym typeface="+mn-ea"/>
              </a:rPr>
              <a:t>/</a:t>
            </a:r>
            <a:r>
              <a:rPr lang="zh-CN" altLang="en-US" sz="2100">
                <a:sym typeface="+mn-ea"/>
              </a:rPr>
              <a:t>写操作时，其它</a:t>
            </a:r>
            <a:r>
              <a:rPr lang="en-US" altLang="zh-CN" sz="2100">
                <a:sym typeface="+mn-ea"/>
              </a:rPr>
              <a:t>(</a:t>
            </a:r>
            <a:r>
              <a:rPr lang="zh-CN" altLang="en-US" sz="2100">
                <a:sym typeface="+mn-ea"/>
              </a:rPr>
              <a:t>另一</a:t>
            </a:r>
            <a:r>
              <a:rPr lang="en-US" altLang="zh-CN" sz="2100">
                <a:sym typeface="+mn-ea"/>
              </a:rPr>
              <a:t>)</a:t>
            </a:r>
            <a:r>
              <a:rPr lang="zh-CN" altLang="en-US" sz="2100">
                <a:sym typeface="+mn-ea"/>
              </a:rPr>
              <a:t>进程必须等待。②</a:t>
            </a:r>
            <a:r>
              <a:rPr lang="zh-CN" altLang="en-US" sz="2100" b="1">
                <a:solidFill>
                  <a:srgbClr val="FF0000"/>
                </a:solidFill>
                <a:sym typeface="+mn-ea"/>
              </a:rPr>
              <a:t>同步</a:t>
            </a:r>
            <a:r>
              <a:rPr lang="zh-CN" altLang="en-US" sz="2100">
                <a:sym typeface="+mn-ea"/>
              </a:rPr>
              <a:t>，指当写</a:t>
            </a:r>
            <a:r>
              <a:rPr lang="en-US" altLang="zh-CN" sz="2100">
                <a:sym typeface="+mn-ea"/>
              </a:rPr>
              <a:t>(</a:t>
            </a:r>
            <a:r>
              <a:rPr lang="zh-CN" altLang="en-US" sz="2100">
                <a:sym typeface="+mn-ea"/>
              </a:rPr>
              <a:t>输入</a:t>
            </a:r>
            <a:r>
              <a:rPr lang="en-US" altLang="zh-CN" sz="2100">
                <a:sym typeface="+mn-ea"/>
              </a:rPr>
              <a:t>)</a:t>
            </a:r>
            <a:r>
              <a:rPr lang="zh-CN" altLang="en-US" sz="2100">
                <a:sym typeface="+mn-ea"/>
              </a:rPr>
              <a:t>进程把一定数量</a:t>
            </a:r>
            <a:r>
              <a:rPr lang="en-US" altLang="zh-CN" sz="2100">
                <a:sym typeface="+mn-ea"/>
              </a:rPr>
              <a:t>(</a:t>
            </a:r>
            <a:r>
              <a:rPr lang="zh-CN" altLang="en-US" sz="2100">
                <a:sym typeface="+mn-ea"/>
              </a:rPr>
              <a:t>如</a:t>
            </a:r>
            <a:r>
              <a:rPr lang="en-US" altLang="zh-CN" sz="2100">
                <a:sym typeface="+mn-ea"/>
              </a:rPr>
              <a:t>4 KB)</a:t>
            </a:r>
            <a:r>
              <a:rPr lang="zh-CN" altLang="en-US" sz="2100">
                <a:sym typeface="+mn-ea"/>
              </a:rPr>
              <a:t>的数据写入</a:t>
            </a:r>
            <a:r>
              <a:rPr lang="en-US" altLang="zh-CN" sz="2100">
                <a:sym typeface="+mn-ea"/>
              </a:rPr>
              <a:t>pipe</a:t>
            </a:r>
            <a:r>
              <a:rPr lang="zh-CN" altLang="en-US" sz="2100">
                <a:sym typeface="+mn-ea"/>
              </a:rPr>
              <a:t>，便去睡眠等待，直到读</a:t>
            </a:r>
            <a:r>
              <a:rPr lang="en-US" altLang="zh-CN" sz="2100">
                <a:sym typeface="+mn-ea"/>
              </a:rPr>
              <a:t>(</a:t>
            </a:r>
            <a:r>
              <a:rPr lang="zh-CN" altLang="en-US" sz="2100">
                <a:sym typeface="+mn-ea"/>
              </a:rPr>
              <a:t>输出</a:t>
            </a:r>
            <a:r>
              <a:rPr lang="en-US" altLang="zh-CN" sz="2100">
                <a:sym typeface="+mn-ea"/>
              </a:rPr>
              <a:t>)</a:t>
            </a:r>
            <a:r>
              <a:rPr lang="zh-CN" altLang="en-US" sz="2100">
                <a:sym typeface="+mn-ea"/>
              </a:rPr>
              <a:t>进程取走数据后再把它唤醒。当读进程读一空</a:t>
            </a:r>
            <a:r>
              <a:rPr lang="en-US" altLang="zh-CN" sz="2100">
                <a:sym typeface="+mn-ea"/>
              </a:rPr>
              <a:t>pipe</a:t>
            </a:r>
            <a:r>
              <a:rPr lang="zh-CN" altLang="en-US" sz="2100">
                <a:sym typeface="+mn-ea"/>
              </a:rPr>
              <a:t>时，也应睡眠等待，直至写进程将数据写入管道后才将之唤醒。③</a:t>
            </a:r>
            <a:r>
              <a:rPr lang="zh-CN" altLang="en-US" sz="2100" b="1">
                <a:solidFill>
                  <a:srgbClr val="FF0000"/>
                </a:solidFill>
                <a:sym typeface="+mn-ea"/>
              </a:rPr>
              <a:t>确定对方是否存在</a:t>
            </a:r>
            <a:r>
              <a:rPr lang="zh-CN" altLang="en-US" sz="2100">
                <a:sym typeface="+mn-ea"/>
              </a:rPr>
              <a:t>，只有确定了对方已存在时才能进行通信。</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55</a:t>
            </a:fld>
            <a:endParaRPr kumimoji="1" lang="zh-CN" altLang="en-US"/>
          </a:p>
        </p:txBody>
      </p:sp>
    </p:spTree>
    <p:extLst>
      <p:ext uri="{BB962C8B-B14F-4D97-AF65-F5344CB8AC3E}">
        <p14:creationId xmlns:p14="http://schemas.microsoft.com/office/powerpoint/2010/main" val="4401353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进程通信</a:t>
            </a:r>
            <a:endParaRPr lang="zh-CN" altLang="en-US">
              <a:latin typeface="+mj-ea"/>
              <a:ea typeface="+mj-ea"/>
            </a:endParaRPr>
          </a:p>
        </p:txBody>
      </p:sp>
      <p:sp>
        <p:nvSpPr>
          <p:cNvPr id="3" name="内容占位符 2"/>
          <p:cNvSpPr>
            <a:spLocks noGrp="1"/>
          </p:cNvSpPr>
          <p:nvPr>
            <p:ph idx="1"/>
          </p:nvPr>
        </p:nvSpPr>
        <p:spPr>
          <a:xfrm>
            <a:off x="838199" y="1494513"/>
            <a:ext cx="10384858" cy="5613788"/>
          </a:xfrm>
        </p:spPr>
        <p:txBody>
          <a:bodyPr>
            <a:normAutofit fontScale="97500"/>
          </a:bodyPr>
          <a:lstStyle/>
          <a:p>
            <a:r>
              <a:rPr lang="zh-CN" altLang="en-US" sz="2900">
                <a:solidFill>
                  <a:srgbClr val="0070C0"/>
                </a:solidFill>
                <a:sym typeface="+mn-ea"/>
              </a:rPr>
              <a:t>进程通信的类型</a:t>
            </a:r>
          </a:p>
          <a:p>
            <a:pPr lvl="1">
              <a:buClrTx/>
              <a:buSzTx/>
              <a:buFont typeface="Wingdings" panose="05000000000000000000" pitchFamily="2" charset="2"/>
              <a:buChar char="ü"/>
            </a:pPr>
            <a:r>
              <a:rPr lang="zh-CN" altLang="en-US" sz="2500">
                <a:sym typeface="+mn-ea"/>
              </a:rPr>
              <a:t>客户机</a:t>
            </a:r>
            <a:r>
              <a:rPr lang="en-US" altLang="zh-CN" sz="2500">
                <a:sym typeface="+mn-ea"/>
              </a:rPr>
              <a:t>-</a:t>
            </a:r>
            <a:r>
              <a:rPr lang="zh-CN" altLang="en-US" sz="2500">
                <a:sym typeface="+mn-ea"/>
              </a:rPr>
              <a:t>服务器系统</a:t>
            </a:r>
            <a:endParaRPr lang="en-US" altLang="zh-CN" sz="2500">
              <a:sym typeface="+mn-ea"/>
            </a:endParaRPr>
          </a:p>
          <a:p>
            <a:pPr lvl="2" algn="just">
              <a:buFont typeface="Wingdings" panose="05000000000000000000" pitchFamily="2" charset="2"/>
              <a:buChar char="l"/>
            </a:pPr>
            <a:r>
              <a:rPr lang="zh-CN" altLang="en-US" sz="2100">
                <a:sym typeface="+mn-ea"/>
              </a:rPr>
              <a:t>套接字</a:t>
            </a:r>
            <a:endParaRPr lang="en-US" altLang="zh-CN" sz="2100">
              <a:sym typeface="+mn-ea"/>
            </a:endParaRPr>
          </a:p>
          <a:p>
            <a:pPr marL="914400" lvl="2" indent="0" algn="just">
              <a:buNone/>
            </a:pPr>
            <a:r>
              <a:rPr lang="zh-CN" altLang="en-US" sz="2100" b="1">
                <a:solidFill>
                  <a:srgbClr val="C00000"/>
                </a:solidFill>
                <a:sym typeface="+mn-ea"/>
              </a:rPr>
              <a:t>套接字</a:t>
            </a:r>
            <a:r>
              <a:rPr lang="zh-CN" altLang="en-US" sz="2100">
                <a:sym typeface="+mn-ea"/>
              </a:rPr>
              <a:t>源于</a:t>
            </a:r>
            <a:r>
              <a:rPr lang="en-US" altLang="zh-CN" sz="2100">
                <a:sym typeface="+mn-ea"/>
              </a:rPr>
              <a:t>20</a:t>
            </a:r>
            <a:r>
              <a:rPr lang="zh-CN" altLang="en-US" sz="2100">
                <a:sym typeface="+mn-ea"/>
              </a:rPr>
              <a:t>世纪</a:t>
            </a:r>
            <a:r>
              <a:rPr lang="en-US" altLang="zh-CN" sz="2100">
                <a:sym typeface="+mn-ea"/>
              </a:rPr>
              <a:t>70</a:t>
            </a:r>
            <a:r>
              <a:rPr lang="zh-CN" altLang="en-US" sz="2100">
                <a:sym typeface="+mn-ea"/>
              </a:rPr>
              <a:t>年代加州大学伯克利分校版本的</a:t>
            </a:r>
            <a:r>
              <a:rPr lang="en-US" altLang="zh-CN" sz="2100">
                <a:sym typeface="+mn-ea"/>
              </a:rPr>
              <a:t>UNIX(</a:t>
            </a:r>
            <a:r>
              <a:rPr lang="zh-CN" altLang="en-US" sz="2100">
                <a:sym typeface="+mn-ea"/>
              </a:rPr>
              <a:t>即</a:t>
            </a:r>
            <a:r>
              <a:rPr lang="en-US" altLang="zh-CN" sz="2100">
                <a:sym typeface="+mn-ea"/>
              </a:rPr>
              <a:t>BSD Unix)</a:t>
            </a:r>
            <a:r>
              <a:rPr lang="zh-CN" altLang="en-US" sz="2100">
                <a:sym typeface="+mn-ea"/>
              </a:rPr>
              <a:t>，是</a:t>
            </a:r>
            <a:r>
              <a:rPr lang="en-US" altLang="zh-CN" sz="2100">
                <a:sym typeface="+mn-ea"/>
              </a:rPr>
              <a:t>UNIX </a:t>
            </a:r>
            <a:r>
              <a:rPr lang="zh-CN" altLang="en-US" sz="2100">
                <a:sym typeface="+mn-ea"/>
              </a:rPr>
              <a:t>操作系统下的网络通信接口。一开始，套接字被设计用在同一台主机上多个应用程序之间的通信</a:t>
            </a:r>
            <a:r>
              <a:rPr lang="en-US" altLang="zh-CN" sz="2100">
                <a:sym typeface="+mn-ea"/>
              </a:rPr>
              <a:t>(</a:t>
            </a:r>
            <a:r>
              <a:rPr lang="zh-CN" altLang="en-US" sz="2100">
                <a:sym typeface="+mn-ea"/>
              </a:rPr>
              <a:t>即进程间的通信</a:t>
            </a:r>
            <a:r>
              <a:rPr lang="en-US" altLang="zh-CN" sz="2100">
                <a:sym typeface="+mn-ea"/>
              </a:rPr>
              <a:t>)</a:t>
            </a:r>
            <a:r>
              <a:rPr lang="zh-CN" altLang="en-US" sz="2100">
                <a:sym typeface="+mn-ea"/>
              </a:rPr>
              <a:t>，主要是为了解决多对进程同时通信时端口和物理线路的多路复用问题。随着计算机网络技术的发展以及</a:t>
            </a:r>
            <a:r>
              <a:rPr lang="en-US" altLang="zh-CN" sz="2100">
                <a:sym typeface="+mn-ea"/>
              </a:rPr>
              <a:t>UNIX </a:t>
            </a:r>
            <a:r>
              <a:rPr lang="zh-CN" altLang="en-US" sz="2100">
                <a:sym typeface="+mn-ea"/>
              </a:rPr>
              <a:t>操作系统的广泛使用，套接字已逐渐成为最流行的网络通信程序接口之一。</a:t>
            </a:r>
            <a:endParaRPr lang="en-US" altLang="zh-CN" sz="2100">
              <a:sym typeface="+mn-ea"/>
            </a:endParaRPr>
          </a:p>
          <a:p>
            <a:pPr lvl="2" algn="just">
              <a:buFont typeface="Wingdings" panose="05000000000000000000" pitchFamily="2" charset="2"/>
              <a:buChar char="l"/>
            </a:pPr>
            <a:r>
              <a:rPr lang="zh-CN" altLang="en-US" sz="2100">
                <a:sym typeface="+mn-ea"/>
              </a:rPr>
              <a:t>远程过程调用和远程方法调用</a:t>
            </a:r>
            <a:endParaRPr lang="en-US" altLang="zh-CN" sz="2100">
              <a:sym typeface="+mn-ea"/>
            </a:endParaRPr>
          </a:p>
          <a:p>
            <a:pPr marL="914400" lvl="2" indent="0" algn="just">
              <a:buNone/>
            </a:pPr>
            <a:r>
              <a:rPr lang="zh-CN" altLang="en-US" sz="2100" b="1">
                <a:solidFill>
                  <a:srgbClr val="C00000"/>
                </a:solidFill>
                <a:sym typeface="+mn-ea"/>
              </a:rPr>
              <a:t>远程过程</a:t>
            </a:r>
            <a:r>
              <a:rPr lang="en-US" altLang="zh-CN" sz="2100" b="1">
                <a:solidFill>
                  <a:srgbClr val="C00000"/>
                </a:solidFill>
                <a:sym typeface="+mn-ea"/>
              </a:rPr>
              <a:t>(</a:t>
            </a:r>
            <a:r>
              <a:rPr lang="zh-CN" altLang="en-US" sz="2100" b="1">
                <a:solidFill>
                  <a:srgbClr val="C00000"/>
                </a:solidFill>
                <a:sym typeface="+mn-ea"/>
              </a:rPr>
              <a:t>函数</a:t>
            </a:r>
            <a:r>
              <a:rPr lang="en-US" altLang="zh-CN" sz="2100" b="1">
                <a:solidFill>
                  <a:srgbClr val="C00000"/>
                </a:solidFill>
                <a:sym typeface="+mn-ea"/>
              </a:rPr>
              <a:t>)</a:t>
            </a:r>
            <a:r>
              <a:rPr lang="zh-CN" altLang="en-US" sz="2100" b="1">
                <a:solidFill>
                  <a:srgbClr val="C00000"/>
                </a:solidFill>
                <a:sym typeface="+mn-ea"/>
              </a:rPr>
              <a:t>调用</a:t>
            </a:r>
            <a:r>
              <a:rPr lang="en-US" altLang="zh-CN" sz="2100">
                <a:sym typeface="+mn-ea"/>
              </a:rPr>
              <a:t>(Remote Procedure Call,</a:t>
            </a:r>
            <a:r>
              <a:rPr lang="zh-CN" altLang="en-US" sz="2100">
                <a:sym typeface="+mn-ea"/>
              </a:rPr>
              <a:t> </a:t>
            </a:r>
            <a:r>
              <a:rPr lang="en-US" altLang="zh-CN" sz="2100">
                <a:sym typeface="+mn-ea"/>
              </a:rPr>
              <a:t>RPC)</a:t>
            </a:r>
            <a:r>
              <a:rPr lang="zh-CN" altLang="en-US" sz="2100">
                <a:sym typeface="+mn-ea"/>
              </a:rPr>
              <a:t>是一个通信协议，用于通过网络连接的系统。该协议允许运行于一台主机</a:t>
            </a:r>
            <a:r>
              <a:rPr lang="en-US" altLang="zh-CN" sz="2100">
                <a:sym typeface="+mn-ea"/>
              </a:rPr>
              <a:t>(</a:t>
            </a:r>
            <a:r>
              <a:rPr lang="zh-CN" altLang="en-US" sz="2100">
                <a:sym typeface="+mn-ea"/>
              </a:rPr>
              <a:t>本地</a:t>
            </a:r>
            <a:r>
              <a:rPr lang="en-US" altLang="zh-CN" sz="2100">
                <a:sym typeface="+mn-ea"/>
              </a:rPr>
              <a:t>)</a:t>
            </a:r>
            <a:r>
              <a:rPr lang="zh-CN" altLang="en-US" sz="2100">
                <a:sym typeface="+mn-ea"/>
              </a:rPr>
              <a:t>系统上的进程调用另一台主机</a:t>
            </a:r>
            <a:r>
              <a:rPr lang="en-US" altLang="zh-CN" sz="2100">
                <a:sym typeface="+mn-ea"/>
              </a:rPr>
              <a:t>(</a:t>
            </a:r>
            <a:r>
              <a:rPr lang="zh-CN" altLang="en-US" sz="2100">
                <a:sym typeface="+mn-ea"/>
              </a:rPr>
              <a:t>远程</a:t>
            </a:r>
            <a:r>
              <a:rPr lang="en-US" altLang="zh-CN" sz="2100">
                <a:sym typeface="+mn-ea"/>
              </a:rPr>
              <a:t>)</a:t>
            </a:r>
            <a:r>
              <a:rPr lang="zh-CN" altLang="en-US" sz="2100">
                <a:sym typeface="+mn-ea"/>
              </a:rPr>
              <a:t>系统上的进程，而对程序员表现为常规的过程调用，无需额外地为此编程。如果涉及的软件采用面向对象编程，那么远程过程调用亦可称做远程方法调用。</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56</a:t>
            </a:fld>
            <a:endParaRPr kumimoji="1" lang="zh-CN" altLang="en-US"/>
          </a:p>
        </p:txBody>
      </p:sp>
    </p:spTree>
    <p:extLst>
      <p:ext uri="{BB962C8B-B14F-4D97-AF65-F5344CB8AC3E}">
        <p14:creationId xmlns:p14="http://schemas.microsoft.com/office/powerpoint/2010/main" val="41799209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进程通信</a:t>
            </a:r>
            <a:endParaRPr lang="zh-CN" altLang="en-US">
              <a:latin typeface="+mj-ea"/>
              <a:ea typeface="+mj-ea"/>
            </a:endParaRPr>
          </a:p>
        </p:txBody>
      </p:sp>
      <p:sp>
        <p:nvSpPr>
          <p:cNvPr id="3" name="内容占位符 2"/>
          <p:cNvSpPr>
            <a:spLocks noGrp="1"/>
          </p:cNvSpPr>
          <p:nvPr>
            <p:ph idx="1"/>
          </p:nvPr>
        </p:nvSpPr>
        <p:spPr>
          <a:xfrm>
            <a:off x="838198" y="1494513"/>
            <a:ext cx="10820401" cy="5613788"/>
          </a:xfrm>
        </p:spPr>
        <p:txBody>
          <a:bodyPr>
            <a:normAutofit fontScale="97500"/>
          </a:bodyPr>
          <a:lstStyle/>
          <a:p>
            <a:r>
              <a:rPr lang="zh-CN" altLang="en-US" sz="2900">
                <a:solidFill>
                  <a:srgbClr val="0070C0"/>
                </a:solidFill>
                <a:ea typeface="+mn-ea"/>
                <a:sym typeface="+mn-ea"/>
              </a:rPr>
              <a:t>进程通信的类型</a:t>
            </a:r>
          </a:p>
          <a:p>
            <a:pPr lvl="1">
              <a:buClrTx/>
              <a:buSzTx/>
              <a:buFont typeface="Wingdings" panose="05000000000000000000" pitchFamily="2" charset="2"/>
              <a:buChar char="ü"/>
            </a:pPr>
            <a:r>
              <a:rPr lang="zh-CN" altLang="en-US" sz="2500">
                <a:ea typeface="+mn-ea"/>
                <a:sym typeface="+mn-ea"/>
              </a:rPr>
              <a:t>客户机</a:t>
            </a:r>
            <a:r>
              <a:rPr lang="en-US" altLang="zh-CN" sz="2500">
                <a:ea typeface="+mn-ea"/>
                <a:sym typeface="+mn-ea"/>
              </a:rPr>
              <a:t>-</a:t>
            </a:r>
            <a:r>
              <a:rPr lang="zh-CN" altLang="en-US" sz="2500">
                <a:ea typeface="+mn-ea"/>
                <a:sym typeface="+mn-ea"/>
              </a:rPr>
              <a:t>服务器系统</a:t>
            </a:r>
            <a:endParaRPr lang="en-US" altLang="zh-CN" sz="2500">
              <a:ea typeface="+mn-ea"/>
              <a:sym typeface="+mn-ea"/>
            </a:endParaRPr>
          </a:p>
          <a:p>
            <a:pPr marL="914400" lvl="2" indent="0" algn="just">
              <a:buNone/>
            </a:pPr>
            <a:r>
              <a:rPr lang="en-US" altLang="zh-CN" sz="2100">
                <a:ea typeface="+mn-ea"/>
                <a:sym typeface="+mn-ea"/>
              </a:rPr>
              <a:t>RPC</a:t>
            </a:r>
            <a:r>
              <a:rPr lang="zh-CN" altLang="en-US" sz="2100">
                <a:ea typeface="+mn-ea"/>
                <a:sym typeface="+mn-ea"/>
              </a:rPr>
              <a:t>主要步骤：</a:t>
            </a:r>
            <a:r>
              <a:rPr lang="en-US" altLang="zh-CN" sz="2100">
                <a:ea typeface="+mn-ea"/>
                <a:sym typeface="+mn-ea"/>
              </a:rPr>
              <a:t>(1)</a:t>
            </a:r>
            <a:r>
              <a:rPr lang="zh-CN" altLang="en-US" sz="2100">
                <a:ea typeface="+mn-ea"/>
                <a:sym typeface="+mn-ea"/>
              </a:rPr>
              <a:t>本地过程调用者以一般方式调用远程过程在本地关联的客户存根，传递相应参数，并将控制权转移给客户存根；</a:t>
            </a:r>
            <a:r>
              <a:rPr lang="en-US" altLang="zh-CN" sz="2100">
                <a:ea typeface="+mn-ea"/>
                <a:sym typeface="+mn-ea"/>
              </a:rPr>
              <a:t>(2)</a:t>
            </a:r>
            <a:r>
              <a:rPr lang="zh-CN" altLang="en-US" sz="2100">
                <a:ea typeface="+mn-ea"/>
                <a:sym typeface="+mn-ea"/>
              </a:rPr>
              <a:t>客户存根执行，完成包括过程名和调用参数等信息的消息建立，将控制权转移给本地客户进程；</a:t>
            </a:r>
            <a:r>
              <a:rPr lang="en-US" altLang="zh-CN" sz="2100">
                <a:ea typeface="+mn-ea"/>
                <a:sym typeface="+mn-ea"/>
              </a:rPr>
              <a:t>(3)</a:t>
            </a:r>
            <a:r>
              <a:rPr lang="zh-CN" altLang="en-US" sz="2100">
                <a:ea typeface="+mn-ea"/>
                <a:sym typeface="+mn-ea"/>
              </a:rPr>
              <a:t>本地客户进程完成与服务器的消息传递，将消息发送到远程服务器进程；</a:t>
            </a:r>
            <a:r>
              <a:rPr lang="en-US" altLang="zh-CN" sz="2100">
                <a:ea typeface="+mn-ea"/>
                <a:sym typeface="+mn-ea"/>
              </a:rPr>
              <a:t>(4)</a:t>
            </a:r>
            <a:r>
              <a:rPr lang="zh-CN" altLang="en-US" sz="2100">
                <a:ea typeface="+mn-ea"/>
                <a:sym typeface="+mn-ea"/>
              </a:rPr>
              <a:t>远程服务器进程接收消息后转入执行，并根据远程过程名找到对应服务器存根，将消息转给该存根；</a:t>
            </a:r>
            <a:r>
              <a:rPr lang="en-US" altLang="zh-CN" sz="2100">
                <a:ea typeface="+mn-ea"/>
                <a:sym typeface="+mn-ea"/>
              </a:rPr>
              <a:t>(5)</a:t>
            </a:r>
            <a:r>
              <a:rPr lang="zh-CN" altLang="en-US" sz="2100">
                <a:ea typeface="+mn-ea"/>
                <a:sym typeface="+mn-ea"/>
              </a:rPr>
              <a:t>该服务器存根接到消息后，由阻塞状态转入执行状态，拆开消息从中取出过程调用的参数，然后以一般方式调用服务器上关联的过程；</a:t>
            </a:r>
            <a:r>
              <a:rPr lang="en-US" altLang="zh-CN" sz="2100">
                <a:ea typeface="+mn-ea"/>
                <a:sym typeface="+mn-ea"/>
              </a:rPr>
              <a:t>(6)</a:t>
            </a:r>
            <a:r>
              <a:rPr lang="zh-CN" altLang="en-US" sz="2100">
                <a:ea typeface="+mn-ea"/>
                <a:sym typeface="+mn-ea"/>
              </a:rPr>
              <a:t>在服务器端的远程过程运行完毕后，将结果返回给与之关联的服务器存根；</a:t>
            </a:r>
            <a:r>
              <a:rPr lang="en-US" altLang="zh-CN" sz="2100">
                <a:ea typeface="+mn-ea"/>
                <a:sym typeface="+mn-ea"/>
              </a:rPr>
              <a:t>(7)</a:t>
            </a:r>
            <a:r>
              <a:rPr lang="zh-CN" altLang="en-US" sz="2100">
                <a:ea typeface="+mn-ea"/>
                <a:sym typeface="+mn-ea"/>
              </a:rPr>
              <a:t>该服务器存根获得控制权运行，将结果打包为消息，并将控制权转移给远程服务器进程；</a:t>
            </a:r>
            <a:r>
              <a:rPr lang="en-US" altLang="zh-CN" sz="2100">
                <a:ea typeface="+mn-ea"/>
                <a:sym typeface="+mn-ea"/>
              </a:rPr>
              <a:t>(8)</a:t>
            </a:r>
            <a:r>
              <a:rPr lang="zh-CN" altLang="en-US" sz="2100">
                <a:ea typeface="+mn-ea"/>
                <a:sym typeface="+mn-ea"/>
              </a:rPr>
              <a:t>远程服务器进程将消息发送回客户端；</a:t>
            </a:r>
            <a:r>
              <a:rPr lang="en-US" altLang="zh-CN" sz="2100">
                <a:ea typeface="+mn-ea"/>
                <a:sym typeface="+mn-ea"/>
              </a:rPr>
              <a:t>(9)</a:t>
            </a:r>
            <a:r>
              <a:rPr lang="zh-CN" altLang="en-US" sz="2100">
                <a:ea typeface="+mn-ea"/>
                <a:sym typeface="+mn-ea"/>
              </a:rPr>
              <a:t>本地客户进程接收到消息后，根据其中的过程名将消息存入关联的客户存根，再将控制权转移给客户存根；</a:t>
            </a:r>
            <a:r>
              <a:rPr lang="en-US" altLang="zh-CN" sz="2100">
                <a:ea typeface="+mn-ea"/>
                <a:sym typeface="+mn-ea"/>
              </a:rPr>
              <a:t>(10)</a:t>
            </a:r>
            <a:r>
              <a:rPr lang="zh-CN" altLang="en-US" sz="2100">
                <a:ea typeface="+mn-ea"/>
                <a:sym typeface="+mn-ea"/>
              </a:rPr>
              <a:t>客户存根从消息中取出结果，返回给本地调用者进程，并完成控制权的转移。</a:t>
            </a:r>
            <a:endParaRPr lang="en-US" altLang="zh-CN" sz="2100">
              <a:ea typeface="+mn-ea"/>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57</a:t>
            </a:fld>
            <a:endParaRPr kumimoji="1" lang="zh-CN" altLang="en-US"/>
          </a:p>
        </p:txBody>
      </p:sp>
    </p:spTree>
    <p:extLst>
      <p:ext uri="{BB962C8B-B14F-4D97-AF65-F5344CB8AC3E}">
        <p14:creationId xmlns:p14="http://schemas.microsoft.com/office/powerpoint/2010/main" val="4742736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进程通信</a:t>
            </a:r>
            <a:endParaRPr lang="zh-CN" altLang="en-US">
              <a:latin typeface="+mj-ea"/>
              <a:ea typeface="+mj-ea"/>
            </a:endParaRPr>
          </a:p>
        </p:txBody>
      </p:sp>
      <p:sp>
        <p:nvSpPr>
          <p:cNvPr id="3" name="内容占位符 2"/>
          <p:cNvSpPr>
            <a:spLocks noGrp="1"/>
          </p:cNvSpPr>
          <p:nvPr>
            <p:ph idx="1"/>
          </p:nvPr>
        </p:nvSpPr>
        <p:spPr>
          <a:xfrm>
            <a:off x="838199" y="1494513"/>
            <a:ext cx="10384858" cy="5613788"/>
          </a:xfrm>
        </p:spPr>
        <p:txBody>
          <a:bodyPr>
            <a:normAutofit fontScale="97500"/>
          </a:bodyPr>
          <a:lstStyle/>
          <a:p>
            <a:r>
              <a:rPr lang="zh-CN" altLang="en-US" sz="2900">
                <a:solidFill>
                  <a:srgbClr val="0070C0"/>
                </a:solidFill>
                <a:sym typeface="+mn-ea"/>
              </a:rPr>
              <a:t>消息传递通信的实现方式</a:t>
            </a:r>
          </a:p>
          <a:p>
            <a:pPr lvl="1">
              <a:buClrTx/>
              <a:buSzTx/>
              <a:buFont typeface="Wingdings" panose="05000000000000000000" pitchFamily="2" charset="2"/>
              <a:buChar char="ü"/>
            </a:pPr>
            <a:r>
              <a:rPr lang="zh-CN" altLang="en-US" sz="2500">
                <a:sym typeface="+mn-ea"/>
              </a:rPr>
              <a:t>直接消息传递系统</a:t>
            </a:r>
            <a:endParaRPr lang="en-US" altLang="zh-CN" sz="2500">
              <a:sym typeface="+mn-ea"/>
            </a:endParaRPr>
          </a:p>
          <a:p>
            <a:pPr marL="914400" lvl="2" indent="0" algn="just">
              <a:buNone/>
            </a:pPr>
            <a:r>
              <a:rPr lang="zh-CN" altLang="en-US" sz="2100">
                <a:sym typeface="+mn-ea"/>
              </a:rPr>
              <a:t>直接消息传递系统中采用直接通信方式，即发送进程利用</a:t>
            </a:r>
            <a:r>
              <a:rPr lang="en-US" altLang="zh-CN" sz="2100">
                <a:sym typeface="+mn-ea"/>
              </a:rPr>
              <a:t>OS</a:t>
            </a:r>
            <a:r>
              <a:rPr lang="zh-CN" altLang="en-US" sz="2100">
                <a:sym typeface="+mn-ea"/>
              </a:rPr>
              <a:t>所提供的发送命令</a:t>
            </a:r>
            <a:r>
              <a:rPr lang="en-US" altLang="zh-CN" sz="2100">
                <a:sym typeface="+mn-ea"/>
              </a:rPr>
              <a:t>(</a:t>
            </a:r>
            <a:r>
              <a:rPr lang="zh-CN" altLang="en-US" sz="2100">
                <a:sym typeface="+mn-ea"/>
              </a:rPr>
              <a:t>原语</a:t>
            </a:r>
            <a:r>
              <a:rPr lang="en-US" altLang="zh-CN" sz="2100">
                <a:sym typeface="+mn-ea"/>
              </a:rPr>
              <a:t>)</a:t>
            </a:r>
            <a:r>
              <a:rPr lang="zh-CN" altLang="en-US" sz="2100">
                <a:sym typeface="+mn-ea"/>
              </a:rPr>
              <a:t>，直接把消息发送给目标进程。</a:t>
            </a:r>
            <a:endParaRPr lang="en-US" altLang="zh-CN" sz="2100">
              <a:sym typeface="+mn-ea"/>
            </a:endParaRPr>
          </a:p>
          <a:p>
            <a:pPr marL="914400" lvl="2" indent="0" algn="just">
              <a:buNone/>
            </a:pPr>
            <a:r>
              <a:rPr lang="zh-CN" altLang="en-US" sz="2100" b="1">
                <a:solidFill>
                  <a:srgbClr val="C00000"/>
                </a:solidFill>
                <a:sym typeface="+mn-ea"/>
              </a:rPr>
              <a:t>直接通信原语</a:t>
            </a:r>
            <a:r>
              <a:rPr lang="zh-CN" altLang="en-US" sz="2100">
                <a:sym typeface="+mn-ea"/>
              </a:rPr>
              <a:t>：</a:t>
            </a:r>
            <a:r>
              <a:rPr lang="en-US" altLang="zh-CN" sz="2100">
                <a:sym typeface="Wingdings" panose="05000000000000000000" pitchFamily="2" charset="2"/>
              </a:rPr>
              <a:t>(1)</a:t>
            </a:r>
            <a:r>
              <a:rPr lang="zh-CN" altLang="en-US" sz="2100">
                <a:sym typeface="Wingdings" panose="05000000000000000000" pitchFamily="2" charset="2"/>
              </a:rPr>
              <a:t>对称寻址方式，</a:t>
            </a:r>
            <a:r>
              <a:rPr lang="en-US" altLang="zh-CN" sz="2100">
                <a:sym typeface="Wingdings" panose="05000000000000000000" pitchFamily="2" charset="2"/>
              </a:rPr>
              <a:t>1</a:t>
            </a:r>
            <a:r>
              <a:rPr lang="zh-CN" altLang="en-US" sz="2100">
                <a:sym typeface="Wingdings" panose="05000000000000000000" pitchFamily="2" charset="2"/>
              </a:rPr>
              <a:t>对</a:t>
            </a:r>
            <a:r>
              <a:rPr lang="en-US" altLang="zh-CN" sz="2100">
                <a:sym typeface="Wingdings" panose="05000000000000000000" pitchFamily="2" charset="2"/>
              </a:rPr>
              <a:t>1</a:t>
            </a:r>
            <a:r>
              <a:rPr lang="zh-CN" altLang="en-US" sz="2100">
                <a:sym typeface="Wingdings" panose="05000000000000000000" pitchFamily="2" charset="2"/>
              </a:rPr>
              <a:t>；</a:t>
            </a:r>
            <a:r>
              <a:rPr lang="en-US" altLang="zh-CN" sz="2100">
                <a:sym typeface="Wingdings" panose="05000000000000000000" pitchFamily="2" charset="2"/>
              </a:rPr>
              <a:t>(2)</a:t>
            </a:r>
            <a:r>
              <a:rPr lang="zh-CN" altLang="en-US" sz="2100">
                <a:sym typeface="Wingdings" panose="05000000000000000000" pitchFamily="2" charset="2"/>
              </a:rPr>
              <a:t>非对称寻址方式，</a:t>
            </a:r>
            <a:r>
              <a:rPr lang="en-US" altLang="zh-CN" sz="2100">
                <a:sym typeface="Wingdings" panose="05000000000000000000" pitchFamily="2" charset="2"/>
              </a:rPr>
              <a:t>1</a:t>
            </a:r>
            <a:r>
              <a:rPr lang="zh-CN" altLang="en-US" sz="2100">
                <a:sym typeface="Wingdings" panose="05000000000000000000" pitchFamily="2" charset="2"/>
              </a:rPr>
              <a:t>对多。</a:t>
            </a:r>
            <a:endParaRPr lang="en-US" altLang="zh-CN" sz="2100">
              <a:sym typeface="Wingdings" panose="05000000000000000000" pitchFamily="2" charset="2"/>
            </a:endParaRPr>
          </a:p>
          <a:p>
            <a:pPr marL="914400" lvl="2" indent="0" algn="just">
              <a:buNone/>
            </a:pPr>
            <a:r>
              <a:rPr lang="zh-CN" altLang="en-US" sz="2100" b="1">
                <a:solidFill>
                  <a:srgbClr val="C00000"/>
                </a:solidFill>
                <a:sym typeface="+mn-ea"/>
              </a:rPr>
              <a:t>消息的格式</a:t>
            </a:r>
            <a:r>
              <a:rPr lang="zh-CN" altLang="en-US" sz="2100">
                <a:sym typeface="+mn-ea"/>
              </a:rPr>
              <a:t>：在消息传递系统中所传递的消息必须具有一定的消息格式。在单机系统环境中，由于发送进程和接收进程处于同一台机器中，有着相同的环境，所以消息的格式比较简单，可采用比较短的定长消息格式，以减少对消息的处理和存储开销。该方式可用于办公自动化系统中，为用户提供快速的便笺式通信。但这种方式对于需要发送较长消息的用户是不方便的。为此，可采用变长的消息格式，即进程所发送消息的长度是可变的。对于变长消息，系统无论在处理方面还是存储方面，都可能会付出更多的开销，但其优点在于方便了用户。</a:t>
            </a:r>
            <a:endParaRPr lang="en-US" altLang="zh-CN" sz="2100">
              <a:sym typeface="+mn-ea"/>
            </a:endParaRPr>
          </a:p>
          <a:p>
            <a:pPr marL="914400" lvl="2" indent="0" algn="just">
              <a:buNone/>
            </a:pP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58</a:t>
            </a:fld>
            <a:endParaRPr kumimoji="1" lang="zh-CN" altLang="en-US"/>
          </a:p>
        </p:txBody>
      </p:sp>
    </p:spTree>
    <p:extLst>
      <p:ext uri="{BB962C8B-B14F-4D97-AF65-F5344CB8AC3E}">
        <p14:creationId xmlns:p14="http://schemas.microsoft.com/office/powerpoint/2010/main" val="6839991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进程通信</a:t>
            </a:r>
            <a:endParaRPr lang="zh-CN" altLang="en-US">
              <a:latin typeface="+mj-ea"/>
              <a:ea typeface="+mj-ea"/>
            </a:endParaRPr>
          </a:p>
        </p:txBody>
      </p:sp>
      <p:sp>
        <p:nvSpPr>
          <p:cNvPr id="3" name="内容占位符 2"/>
          <p:cNvSpPr>
            <a:spLocks noGrp="1"/>
          </p:cNvSpPr>
          <p:nvPr>
            <p:ph idx="1"/>
          </p:nvPr>
        </p:nvSpPr>
        <p:spPr>
          <a:xfrm>
            <a:off x="838199" y="1494513"/>
            <a:ext cx="10384858" cy="5613788"/>
          </a:xfrm>
        </p:spPr>
        <p:txBody>
          <a:bodyPr>
            <a:normAutofit fontScale="97500"/>
          </a:bodyPr>
          <a:lstStyle/>
          <a:p>
            <a:r>
              <a:rPr lang="zh-CN" altLang="en-US" sz="2900">
                <a:solidFill>
                  <a:srgbClr val="0070C0"/>
                </a:solidFill>
                <a:sym typeface="+mn-ea"/>
              </a:rPr>
              <a:t>消息传递通信的实现方式</a:t>
            </a:r>
          </a:p>
          <a:p>
            <a:pPr lvl="1">
              <a:buClrTx/>
              <a:buSzTx/>
              <a:buFont typeface="Wingdings" panose="05000000000000000000" pitchFamily="2" charset="2"/>
              <a:buChar char="ü"/>
            </a:pPr>
            <a:r>
              <a:rPr lang="zh-CN" altLang="en-US" sz="2500">
                <a:sym typeface="+mn-ea"/>
              </a:rPr>
              <a:t>直接消息传递系统</a:t>
            </a:r>
            <a:endParaRPr lang="en-US" altLang="zh-CN" sz="2500">
              <a:sym typeface="+mn-ea"/>
            </a:endParaRPr>
          </a:p>
          <a:p>
            <a:pPr marL="914400" lvl="2" indent="0" algn="just">
              <a:buNone/>
            </a:pPr>
            <a:r>
              <a:rPr lang="zh-CN" altLang="en-US" sz="2100" b="1">
                <a:solidFill>
                  <a:srgbClr val="C00000"/>
                </a:solidFill>
                <a:sym typeface="+mn-ea"/>
              </a:rPr>
              <a:t>进程同步方式</a:t>
            </a:r>
            <a:r>
              <a:rPr lang="zh-CN" altLang="en-US" sz="2100">
                <a:sym typeface="+mn-ea"/>
              </a:rPr>
              <a:t>：在进程之间进行通信时，同样需要有进程同步机制，以使诸进程间能协调通信。不论是发送进程还是接收进程，在完成消息的发送或接收后，都存在两种可能性，即进程或者继续发送</a:t>
            </a:r>
            <a:r>
              <a:rPr lang="en-US" altLang="zh-CN" sz="2100">
                <a:sym typeface="+mn-ea"/>
              </a:rPr>
              <a:t>(</a:t>
            </a:r>
            <a:r>
              <a:rPr lang="zh-CN" altLang="en-US" sz="2100">
                <a:sym typeface="+mn-ea"/>
              </a:rPr>
              <a:t>或接收</a:t>
            </a:r>
            <a:r>
              <a:rPr lang="en-US" altLang="zh-CN" sz="2100">
                <a:sym typeface="+mn-ea"/>
              </a:rPr>
              <a:t>)</a:t>
            </a:r>
            <a:r>
              <a:rPr lang="zh-CN" altLang="en-US" sz="2100">
                <a:sym typeface="+mn-ea"/>
              </a:rPr>
              <a:t>或者阻塞。</a:t>
            </a:r>
            <a:endParaRPr lang="en-US" altLang="zh-CN" sz="2100">
              <a:sym typeface="+mn-ea"/>
            </a:endParaRPr>
          </a:p>
          <a:p>
            <a:pPr marL="914400" lvl="2" indent="0" algn="just">
              <a:buNone/>
            </a:pPr>
            <a:r>
              <a:rPr lang="zh-CN" altLang="en-US" sz="2100" b="1">
                <a:solidFill>
                  <a:srgbClr val="C00000"/>
                </a:solidFill>
                <a:sym typeface="+mn-ea"/>
              </a:rPr>
              <a:t>通信链路</a:t>
            </a:r>
            <a:r>
              <a:rPr lang="zh-CN" altLang="en-US" sz="2100">
                <a:sym typeface="+mn-ea"/>
              </a:rPr>
              <a:t>：</a:t>
            </a:r>
            <a:r>
              <a:rPr lang="zh-CN" altLang="en-US" sz="2100">
                <a:sym typeface="Wingdings" panose="05000000000000000000" pitchFamily="2" charset="2"/>
              </a:rPr>
              <a:t>为使在发送进程和接收进程之间能进行通信，必须在两者之间建立一条通信链路。有两种方式建立通信链路。第一种方式是：由发送进程在通信之前用显式的“建立连接”命令</a:t>
            </a:r>
            <a:r>
              <a:rPr lang="en-US" altLang="zh-CN" sz="2100">
                <a:sym typeface="Wingdings" panose="05000000000000000000" pitchFamily="2" charset="2"/>
              </a:rPr>
              <a:t>(</a:t>
            </a:r>
            <a:r>
              <a:rPr lang="zh-CN" altLang="en-US" sz="2100">
                <a:sym typeface="Wingdings" panose="05000000000000000000" pitchFamily="2" charset="2"/>
              </a:rPr>
              <a:t>原语</a:t>
            </a:r>
            <a:r>
              <a:rPr lang="en-US" altLang="zh-CN" sz="2100">
                <a:sym typeface="Wingdings" panose="05000000000000000000" pitchFamily="2" charset="2"/>
              </a:rPr>
              <a:t>)</a:t>
            </a:r>
            <a:r>
              <a:rPr lang="zh-CN" altLang="en-US" sz="2100">
                <a:sym typeface="Wingdings" panose="05000000000000000000" pitchFamily="2" charset="2"/>
              </a:rPr>
              <a:t>请求系统为之建立一条通信链路，在链路使用完后拆除链路。 第二种，发送进程无需明确提出建立链路的请求，只需利用系统提供的发送命令，系统会自动地为之建立一条链路。</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59</a:t>
            </a:fld>
            <a:endParaRPr kumimoji="1" lang="zh-CN" altLang="en-US"/>
          </a:p>
        </p:txBody>
      </p:sp>
    </p:spTree>
    <p:extLst>
      <p:ext uri="{BB962C8B-B14F-4D97-AF65-F5344CB8AC3E}">
        <p14:creationId xmlns:p14="http://schemas.microsoft.com/office/powerpoint/2010/main" val="1065360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进程通信</a:t>
            </a:r>
            <a:endParaRPr lang="zh-CN" altLang="en-US">
              <a:latin typeface="+mj-ea"/>
              <a:ea typeface="+mj-ea"/>
            </a:endParaRPr>
          </a:p>
        </p:txBody>
      </p:sp>
      <p:sp>
        <p:nvSpPr>
          <p:cNvPr id="3" name="内容占位符 2"/>
          <p:cNvSpPr>
            <a:spLocks noGrp="1"/>
          </p:cNvSpPr>
          <p:nvPr>
            <p:ph idx="1"/>
          </p:nvPr>
        </p:nvSpPr>
        <p:spPr>
          <a:xfrm>
            <a:off x="838199" y="1494513"/>
            <a:ext cx="10384858" cy="5613788"/>
          </a:xfrm>
        </p:spPr>
        <p:txBody>
          <a:bodyPr>
            <a:normAutofit fontScale="97500"/>
          </a:bodyPr>
          <a:lstStyle/>
          <a:p>
            <a:r>
              <a:rPr lang="zh-CN" altLang="en-US" sz="2900">
                <a:solidFill>
                  <a:srgbClr val="0070C0"/>
                </a:solidFill>
                <a:sym typeface="+mn-ea"/>
              </a:rPr>
              <a:t>消息传递通信的实现方式</a:t>
            </a:r>
          </a:p>
          <a:p>
            <a:pPr lvl="1">
              <a:buClrTx/>
              <a:buSzTx/>
              <a:buFont typeface="Wingdings" panose="05000000000000000000" pitchFamily="2" charset="2"/>
              <a:buChar char="ü"/>
            </a:pPr>
            <a:r>
              <a:rPr lang="zh-CN" altLang="en-US" sz="2500">
                <a:sym typeface="+mn-ea"/>
              </a:rPr>
              <a:t>信箱通信</a:t>
            </a:r>
            <a:endParaRPr lang="en-US" altLang="zh-CN" sz="2500">
              <a:sym typeface="+mn-ea"/>
            </a:endParaRPr>
          </a:p>
          <a:p>
            <a:pPr marL="914400" lvl="2" indent="0" algn="just">
              <a:buNone/>
            </a:pPr>
            <a:r>
              <a:rPr lang="zh-CN" altLang="en-US" sz="2100" b="1">
                <a:solidFill>
                  <a:srgbClr val="C00000"/>
                </a:solidFill>
                <a:sym typeface="+mn-ea"/>
              </a:rPr>
              <a:t>信箱结构</a:t>
            </a:r>
            <a:r>
              <a:rPr lang="zh-CN" altLang="en-US" sz="2100">
                <a:sym typeface="+mn-ea"/>
              </a:rPr>
              <a:t>：信箱定义为一种数据结构，逻辑上可将其分为两个部分，即信箱头和信箱体。</a:t>
            </a:r>
            <a:endParaRPr lang="en-US" altLang="zh-CN" sz="2100">
              <a:sym typeface="+mn-ea"/>
            </a:endParaRPr>
          </a:p>
          <a:p>
            <a:pPr marL="914400" lvl="2" indent="0" algn="just">
              <a:buNone/>
            </a:pP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60</a:t>
            </a:fld>
            <a:endParaRPr kumimoji="1" lang="zh-CN" altLang="en-US"/>
          </a:p>
        </p:txBody>
      </p:sp>
      <p:pic>
        <p:nvPicPr>
          <p:cNvPr id="5" name="Picture 4" descr="2-16">
            <a:extLst>
              <a:ext uri="{FF2B5EF4-FFF2-40B4-BE49-F238E27FC236}">
                <a16:creationId xmlns:a16="http://schemas.microsoft.com/office/drawing/2014/main" id="{B0E60D69-64FE-4A6F-94D2-0677CB778C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7505" y="3330895"/>
            <a:ext cx="6697662" cy="257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B94028A2-9167-4552-8529-5DEA2E86DBA1}"/>
              </a:ext>
            </a:extLst>
          </p:cNvPr>
          <p:cNvSpPr txBox="1"/>
          <p:nvPr/>
        </p:nvSpPr>
        <p:spPr>
          <a:xfrm>
            <a:off x="5522966" y="6035733"/>
            <a:ext cx="2229556" cy="400110"/>
          </a:xfrm>
          <a:prstGeom prst="rect">
            <a:avLst/>
          </a:prstGeom>
          <a:noFill/>
        </p:spPr>
        <p:txBody>
          <a:bodyPr wrap="square">
            <a:spAutoFit/>
          </a:bodyPr>
          <a:lstStyle/>
          <a:p>
            <a:r>
              <a:rPr lang="zh-CN" altLang="en-US" sz="2000"/>
              <a:t>双向信箱示意图</a:t>
            </a:r>
          </a:p>
        </p:txBody>
      </p:sp>
    </p:spTree>
    <p:extLst>
      <p:ext uri="{BB962C8B-B14F-4D97-AF65-F5344CB8AC3E}">
        <p14:creationId xmlns:p14="http://schemas.microsoft.com/office/powerpoint/2010/main" val="28555676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进程通信</a:t>
            </a:r>
            <a:endParaRPr lang="zh-CN" altLang="en-US">
              <a:latin typeface="+mj-ea"/>
              <a:ea typeface="+mj-ea"/>
            </a:endParaRPr>
          </a:p>
        </p:txBody>
      </p:sp>
      <p:sp>
        <p:nvSpPr>
          <p:cNvPr id="3" name="内容占位符 2"/>
          <p:cNvSpPr>
            <a:spLocks noGrp="1"/>
          </p:cNvSpPr>
          <p:nvPr>
            <p:ph idx="1"/>
          </p:nvPr>
        </p:nvSpPr>
        <p:spPr>
          <a:xfrm>
            <a:off x="838199" y="1494513"/>
            <a:ext cx="10384858" cy="5613788"/>
          </a:xfrm>
        </p:spPr>
        <p:txBody>
          <a:bodyPr>
            <a:normAutofit fontScale="97500"/>
          </a:bodyPr>
          <a:lstStyle/>
          <a:p>
            <a:r>
              <a:rPr lang="zh-CN" altLang="en-US" sz="2900">
                <a:solidFill>
                  <a:srgbClr val="0070C0"/>
                </a:solidFill>
                <a:sym typeface="+mn-ea"/>
              </a:rPr>
              <a:t>消息传递通信的实现方式</a:t>
            </a:r>
          </a:p>
          <a:p>
            <a:pPr lvl="1">
              <a:buClrTx/>
              <a:buSzTx/>
              <a:buFont typeface="Wingdings" panose="05000000000000000000" pitchFamily="2" charset="2"/>
              <a:buChar char="ü"/>
            </a:pPr>
            <a:r>
              <a:rPr lang="zh-CN" altLang="en-US" sz="2500">
                <a:sym typeface="+mn-ea"/>
              </a:rPr>
              <a:t>信箱通信</a:t>
            </a:r>
            <a:endParaRPr lang="en-US" altLang="zh-CN" sz="2500">
              <a:sym typeface="+mn-ea"/>
            </a:endParaRPr>
          </a:p>
          <a:p>
            <a:pPr marL="914400" lvl="2" indent="0" algn="just">
              <a:buNone/>
            </a:pPr>
            <a:r>
              <a:rPr lang="zh-CN" altLang="en-US" sz="2100" b="1">
                <a:solidFill>
                  <a:srgbClr val="C00000"/>
                </a:solidFill>
                <a:sym typeface="+mn-ea"/>
              </a:rPr>
              <a:t>信箱通信原语</a:t>
            </a:r>
            <a:r>
              <a:rPr lang="zh-CN" altLang="en-US" sz="2100">
                <a:sym typeface="+mn-ea"/>
              </a:rPr>
              <a:t>：系统为信箱通信提供了若干条原语，分别用于</a:t>
            </a:r>
            <a:r>
              <a:rPr lang="en-US" altLang="zh-CN" sz="2100">
                <a:sym typeface="+mn-ea"/>
              </a:rPr>
              <a:t>(1)</a:t>
            </a:r>
            <a:r>
              <a:rPr lang="zh-CN" altLang="en-US" sz="2100">
                <a:sym typeface="+mn-ea"/>
              </a:rPr>
              <a:t>信箱创建和撤消；</a:t>
            </a:r>
            <a:r>
              <a:rPr lang="en-US" altLang="zh-CN" sz="2100">
                <a:sym typeface="+mn-ea"/>
              </a:rPr>
              <a:t>(2)</a:t>
            </a:r>
            <a:r>
              <a:rPr lang="zh-CN" altLang="en-US" sz="2100">
                <a:sym typeface="+mn-ea"/>
              </a:rPr>
              <a:t>消息发送和接收。</a:t>
            </a:r>
            <a:endParaRPr lang="en-US" altLang="zh-CN" sz="2100">
              <a:sym typeface="+mn-ea"/>
            </a:endParaRPr>
          </a:p>
          <a:p>
            <a:pPr marL="914400" lvl="2" indent="0" algn="just">
              <a:buNone/>
            </a:pPr>
            <a:r>
              <a:rPr lang="zh-CN" altLang="en-US" sz="2100" b="1">
                <a:solidFill>
                  <a:srgbClr val="C00000"/>
                </a:solidFill>
                <a:sym typeface="+mn-ea"/>
              </a:rPr>
              <a:t>信箱类型</a:t>
            </a:r>
            <a:r>
              <a:rPr lang="zh-CN" altLang="en-US" sz="2100">
                <a:sym typeface="+mn-ea"/>
              </a:rPr>
              <a:t>：信箱可由操作系统创建，也可由用户进程创建，创建者是信箱的拥有者。据此，可把信箱分为</a:t>
            </a:r>
            <a:r>
              <a:rPr lang="en-US" altLang="zh-CN" sz="2100">
                <a:sym typeface="+mn-ea"/>
              </a:rPr>
              <a:t>(1)</a:t>
            </a:r>
            <a:r>
              <a:rPr lang="zh-CN" altLang="en-US" sz="2100" b="1">
                <a:solidFill>
                  <a:srgbClr val="FF0000"/>
                </a:solidFill>
                <a:sym typeface="+mn-ea"/>
              </a:rPr>
              <a:t>私用邮箱</a:t>
            </a:r>
            <a:r>
              <a:rPr lang="zh-CN" altLang="en-US" sz="2100">
                <a:sym typeface="+mn-ea"/>
              </a:rPr>
              <a:t>，由用户进程创建，并作为进程一部分，用户有权从信箱读取信息，其他进程只能向该信箱发送消息。进程结束后，信箱也随之撤销；</a:t>
            </a:r>
            <a:r>
              <a:rPr lang="en-US" altLang="zh-CN" sz="2100">
                <a:sym typeface="+mn-ea"/>
              </a:rPr>
              <a:t>(2)</a:t>
            </a:r>
            <a:r>
              <a:rPr lang="zh-CN" altLang="en-US" sz="2100" b="1">
                <a:solidFill>
                  <a:srgbClr val="FF0000"/>
                </a:solidFill>
                <a:sym typeface="+mn-ea"/>
              </a:rPr>
              <a:t>公用邮箱</a:t>
            </a:r>
            <a:r>
              <a:rPr lang="zh-CN" altLang="en-US" sz="2100">
                <a:sym typeface="+mn-ea"/>
              </a:rPr>
              <a:t>，由操作系统创建，所有受到核准的进程均可向信箱中发送和读取信息。信箱在系统运行期间一直存在，通常采用双向通信链路的信箱实现；</a:t>
            </a:r>
            <a:r>
              <a:rPr lang="en-US" altLang="zh-CN" sz="2100">
                <a:sym typeface="+mn-ea"/>
              </a:rPr>
              <a:t>(3)</a:t>
            </a:r>
            <a:r>
              <a:rPr lang="zh-CN" altLang="en-US" sz="2100" b="1">
                <a:solidFill>
                  <a:srgbClr val="FF0000"/>
                </a:solidFill>
                <a:sym typeface="+mn-ea"/>
              </a:rPr>
              <a:t>共享邮箱</a:t>
            </a:r>
            <a:r>
              <a:rPr lang="zh-CN" altLang="en-US" sz="2100">
                <a:sym typeface="+mn-ea"/>
              </a:rPr>
              <a:t>，由某进程创建，创建时必须指出可以共享信箱的进程的用户名或进程标识符。信箱的创建者和共享者都有权从信箱中取信息。</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61</a:t>
            </a:fld>
            <a:endParaRPr kumimoji="1" lang="zh-CN" altLang="en-US"/>
          </a:p>
        </p:txBody>
      </p:sp>
    </p:spTree>
    <p:extLst>
      <p:ext uri="{BB962C8B-B14F-4D97-AF65-F5344CB8AC3E}">
        <p14:creationId xmlns:p14="http://schemas.microsoft.com/office/powerpoint/2010/main" val="35486910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线程基本概念</a:t>
            </a:r>
            <a:endParaRPr lang="zh-CN" altLang="en-US">
              <a:latin typeface="+mj-ea"/>
              <a:ea typeface="+mj-ea"/>
            </a:endParaRPr>
          </a:p>
        </p:txBody>
      </p:sp>
      <p:sp>
        <p:nvSpPr>
          <p:cNvPr id="3" name="内容占位符 2"/>
          <p:cNvSpPr>
            <a:spLocks noGrp="1"/>
          </p:cNvSpPr>
          <p:nvPr>
            <p:ph idx="1"/>
          </p:nvPr>
        </p:nvSpPr>
        <p:spPr>
          <a:xfrm>
            <a:off x="838199" y="1494513"/>
            <a:ext cx="10384858" cy="5363487"/>
          </a:xfrm>
        </p:spPr>
        <p:txBody>
          <a:bodyPr>
            <a:normAutofit fontScale="97500"/>
          </a:bodyPr>
          <a:lstStyle/>
          <a:p>
            <a:r>
              <a:rPr lang="zh-CN" altLang="en-US" sz="2900">
                <a:solidFill>
                  <a:srgbClr val="0070C0"/>
                </a:solidFill>
                <a:sym typeface="+mn-ea"/>
              </a:rPr>
              <a:t>线程的引入</a:t>
            </a:r>
          </a:p>
          <a:p>
            <a:pPr marL="457200" lvl="1" indent="0" algn="just">
              <a:buClrTx/>
              <a:buSzTx/>
              <a:buNone/>
            </a:pPr>
            <a:r>
              <a:rPr lang="zh-CN" altLang="en-US" sz="2100">
                <a:solidFill>
                  <a:schemeClr val="accent2">
                    <a:lumMod val="75000"/>
                  </a:schemeClr>
                </a:solidFill>
                <a:sym typeface="+mn-ea"/>
              </a:rPr>
              <a:t>        如果在</a:t>
            </a:r>
            <a:r>
              <a:rPr lang="en-US" altLang="zh-CN" sz="2100">
                <a:solidFill>
                  <a:schemeClr val="accent2">
                    <a:lumMod val="75000"/>
                  </a:schemeClr>
                </a:solidFill>
                <a:sym typeface="+mn-ea"/>
              </a:rPr>
              <a:t>OS</a:t>
            </a:r>
            <a:r>
              <a:rPr lang="zh-CN" altLang="en-US" sz="2100">
                <a:solidFill>
                  <a:schemeClr val="accent2">
                    <a:lumMod val="75000"/>
                  </a:schemeClr>
                </a:solidFill>
                <a:sym typeface="+mn-ea"/>
              </a:rPr>
              <a:t>中引入进程的目的是为了使多个程序能并发执行，以提高资源利用率和系统吞吐量，那么在操作系统中再引入线程，则是为了减少程序在并发执行时所付出的时空开销，使</a:t>
            </a:r>
            <a:r>
              <a:rPr lang="en-US" altLang="zh-CN" sz="2100">
                <a:solidFill>
                  <a:schemeClr val="accent2">
                    <a:lumMod val="75000"/>
                  </a:schemeClr>
                </a:solidFill>
                <a:sym typeface="+mn-ea"/>
              </a:rPr>
              <a:t>OS</a:t>
            </a:r>
            <a:r>
              <a:rPr lang="zh-CN" altLang="en-US" sz="2100">
                <a:solidFill>
                  <a:schemeClr val="accent2">
                    <a:lumMod val="75000"/>
                  </a:schemeClr>
                </a:solidFill>
                <a:sym typeface="+mn-ea"/>
              </a:rPr>
              <a:t>具有更好的并发性。</a:t>
            </a:r>
            <a:endParaRPr lang="en-US" altLang="zh-CN" sz="2100">
              <a:solidFill>
                <a:schemeClr val="accent2">
                  <a:lumMod val="75000"/>
                </a:schemeClr>
              </a:solidFill>
              <a:sym typeface="+mn-ea"/>
            </a:endParaRPr>
          </a:p>
          <a:p>
            <a:pPr lvl="1">
              <a:buClrTx/>
              <a:buSzTx/>
              <a:buFont typeface="Wingdings" panose="05000000000000000000" pitchFamily="2" charset="2"/>
              <a:buChar char="ü"/>
            </a:pPr>
            <a:r>
              <a:rPr lang="zh-CN" altLang="en-US" sz="2500">
                <a:sym typeface="+mn-ea"/>
              </a:rPr>
              <a:t>进程两个基本属性</a:t>
            </a:r>
            <a:endParaRPr lang="en-US" altLang="zh-CN" sz="2500">
              <a:sym typeface="+mn-ea"/>
            </a:endParaRPr>
          </a:p>
          <a:p>
            <a:pPr marL="914400" lvl="2" indent="0" algn="just">
              <a:buNone/>
            </a:pPr>
            <a:r>
              <a:rPr lang="zh-CN" altLang="en-US" sz="2100">
                <a:sym typeface="+mn-ea"/>
              </a:rPr>
              <a:t>回顾进程的两个基本属性：①</a:t>
            </a:r>
            <a:r>
              <a:rPr lang="zh-CN" altLang="en-US" sz="2100" b="1">
                <a:solidFill>
                  <a:srgbClr val="FF0000"/>
                </a:solidFill>
                <a:sym typeface="+mn-ea"/>
              </a:rPr>
              <a:t>进程是一个可拥有资源的独立单位</a:t>
            </a:r>
            <a:r>
              <a:rPr lang="zh-CN" altLang="en-US" sz="2100">
                <a:sym typeface="+mn-ea"/>
              </a:rPr>
              <a:t>，一个进程要能独立运行，它必须拥有一定的资源，包括用于存放程序正文、数据的磁盘和内存地址空间，以及它在运行时所需要的</a:t>
            </a:r>
            <a:r>
              <a:rPr lang="en-US" altLang="zh-CN" sz="2100">
                <a:sym typeface="+mn-ea"/>
              </a:rPr>
              <a:t>I/O</a:t>
            </a:r>
            <a:r>
              <a:rPr lang="zh-CN" altLang="en-US" sz="2100">
                <a:sym typeface="+mn-ea"/>
              </a:rPr>
              <a:t>设备、已打开的文件、信号量等；②</a:t>
            </a:r>
            <a:r>
              <a:rPr lang="zh-CN" altLang="en-US" sz="2100" b="1">
                <a:solidFill>
                  <a:srgbClr val="FF0000"/>
                </a:solidFill>
                <a:sym typeface="+mn-ea"/>
              </a:rPr>
              <a:t>进程又是一个可独立调度和分派的基本单位</a:t>
            </a:r>
            <a:r>
              <a:rPr lang="zh-CN" altLang="en-US" sz="2100">
                <a:sym typeface="+mn-ea"/>
              </a:rPr>
              <a:t>，一个进程要能独立运行，它还必须是一个可独立调度和分派的基本单位。每个进程在系统中有唯一的</a:t>
            </a:r>
            <a:r>
              <a:rPr lang="en-US" altLang="zh-CN" sz="2100">
                <a:sym typeface="+mn-ea"/>
              </a:rPr>
              <a:t>PCB</a:t>
            </a:r>
            <a:r>
              <a:rPr lang="zh-CN" altLang="en-US" sz="2100">
                <a:sym typeface="+mn-ea"/>
              </a:rPr>
              <a:t>，系统可根据其</a:t>
            </a:r>
            <a:r>
              <a:rPr lang="en-US" altLang="zh-CN" sz="2100">
                <a:sym typeface="+mn-ea"/>
              </a:rPr>
              <a:t>PCB</a:t>
            </a:r>
            <a:r>
              <a:rPr lang="zh-CN" altLang="en-US" sz="2100">
                <a:sym typeface="+mn-ea"/>
              </a:rPr>
              <a:t>感知进程的存在，也可以根据其</a:t>
            </a:r>
            <a:r>
              <a:rPr lang="en-US" altLang="zh-CN" sz="2100">
                <a:sym typeface="+mn-ea"/>
              </a:rPr>
              <a:t>PCB</a:t>
            </a:r>
            <a:r>
              <a:rPr lang="zh-CN" altLang="en-US" sz="2100">
                <a:sym typeface="+mn-ea"/>
              </a:rPr>
              <a:t>中的信息，对进程进行调度，还可将断点信息保存在其</a:t>
            </a:r>
            <a:r>
              <a:rPr lang="en-US" altLang="zh-CN" sz="2100">
                <a:sym typeface="+mn-ea"/>
              </a:rPr>
              <a:t>PCB</a:t>
            </a:r>
            <a:r>
              <a:rPr lang="zh-CN" altLang="en-US" sz="2100">
                <a:sym typeface="+mn-ea"/>
              </a:rPr>
              <a:t>中。</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62</a:t>
            </a:fld>
            <a:endParaRPr kumimoji="1" lang="zh-CN" altLang="en-US"/>
          </a:p>
        </p:txBody>
      </p:sp>
      <p:sp>
        <p:nvSpPr>
          <p:cNvPr id="6" name="文本框 5">
            <a:extLst>
              <a:ext uri="{FF2B5EF4-FFF2-40B4-BE49-F238E27FC236}">
                <a16:creationId xmlns:a16="http://schemas.microsoft.com/office/drawing/2014/main" id="{9992B6F1-563F-4B21-8081-6DDF75C80320}"/>
              </a:ext>
            </a:extLst>
          </p:cNvPr>
          <p:cNvSpPr txBox="1"/>
          <p:nvPr/>
        </p:nvSpPr>
        <p:spPr>
          <a:xfrm>
            <a:off x="6592250" y="1494513"/>
            <a:ext cx="4761551" cy="430887"/>
          </a:xfrm>
          <a:prstGeom prst="rect">
            <a:avLst/>
          </a:prstGeom>
          <a:noFill/>
        </p:spPr>
        <p:txBody>
          <a:bodyPr wrap="square">
            <a:spAutoFit/>
          </a:bodyPr>
          <a:lstStyle/>
          <a:p>
            <a:r>
              <a:rPr lang="zh-CN" altLang="en-US" sz="2200" b="1">
                <a:solidFill>
                  <a:srgbClr val="FF0000"/>
                </a:solidFill>
                <a:latin typeface="Times New Roman" panose="02020603050405020304" pitchFamily="18" charset="0"/>
                <a:cs typeface="Times New Roman" panose="02020603050405020304" pitchFamily="18" charset="0"/>
              </a:rPr>
              <a:t>轻型进程</a:t>
            </a:r>
            <a:r>
              <a:rPr lang="en-US" altLang="zh-CN" sz="2200" b="1">
                <a:solidFill>
                  <a:srgbClr val="FF0000"/>
                </a:solidFill>
                <a:latin typeface="Times New Roman" panose="02020603050405020304" pitchFamily="18" charset="0"/>
                <a:cs typeface="Times New Roman" panose="02020603050405020304" pitchFamily="18" charset="0"/>
              </a:rPr>
              <a:t>LWP(Light Weight Process)</a:t>
            </a:r>
            <a:endParaRPr lang="zh-CN" altLang="en-US" sz="2200" b="1">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23905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线程基本概念</a:t>
            </a:r>
            <a:endParaRPr lang="zh-CN" altLang="en-US">
              <a:latin typeface="+mj-ea"/>
              <a:ea typeface="+mj-ea"/>
            </a:endParaRPr>
          </a:p>
        </p:txBody>
      </p:sp>
      <p:sp>
        <p:nvSpPr>
          <p:cNvPr id="3" name="内容占位符 2"/>
          <p:cNvSpPr>
            <a:spLocks noGrp="1"/>
          </p:cNvSpPr>
          <p:nvPr>
            <p:ph idx="1"/>
          </p:nvPr>
        </p:nvSpPr>
        <p:spPr>
          <a:xfrm>
            <a:off x="838199" y="1494513"/>
            <a:ext cx="10384858" cy="5363487"/>
          </a:xfrm>
        </p:spPr>
        <p:txBody>
          <a:bodyPr>
            <a:normAutofit fontScale="97500"/>
          </a:bodyPr>
          <a:lstStyle/>
          <a:p>
            <a:r>
              <a:rPr lang="zh-CN" altLang="en-US" sz="2900">
                <a:solidFill>
                  <a:srgbClr val="0070C0"/>
                </a:solidFill>
                <a:sym typeface="+mn-ea"/>
              </a:rPr>
              <a:t>线程的引入</a:t>
            </a:r>
          </a:p>
          <a:p>
            <a:pPr lvl="1">
              <a:buClrTx/>
              <a:buSzTx/>
              <a:buFont typeface="Wingdings" panose="05000000000000000000" pitchFamily="2" charset="2"/>
              <a:buChar char="ü"/>
            </a:pPr>
            <a:r>
              <a:rPr lang="zh-CN" altLang="en-US" sz="2500">
                <a:sym typeface="+mn-ea"/>
              </a:rPr>
              <a:t>程序并发执行所需付出的时空开销</a:t>
            </a:r>
            <a:endParaRPr lang="en-US" altLang="zh-CN" sz="2500">
              <a:sym typeface="+mn-ea"/>
            </a:endParaRPr>
          </a:p>
          <a:p>
            <a:pPr marL="914400" lvl="2" indent="0" algn="just">
              <a:buNone/>
            </a:pPr>
            <a:r>
              <a:rPr lang="zh-CN" altLang="en-US" sz="2100">
                <a:sym typeface="+mn-ea"/>
              </a:rPr>
              <a:t>为使程序能并发执行，系统须进行一系列操作：</a:t>
            </a:r>
            <a:r>
              <a:rPr lang="en-US" altLang="zh-CN" sz="2100">
                <a:sym typeface="+mn-ea"/>
              </a:rPr>
              <a:t>(1)</a:t>
            </a:r>
            <a:r>
              <a:rPr lang="zh-CN" altLang="en-US" sz="2100" b="1">
                <a:solidFill>
                  <a:srgbClr val="FF0000"/>
                </a:solidFill>
                <a:sym typeface="+mn-ea"/>
              </a:rPr>
              <a:t>创建进程</a:t>
            </a:r>
            <a:r>
              <a:rPr lang="zh-CN" altLang="en-US" sz="2100">
                <a:sym typeface="+mn-ea"/>
              </a:rPr>
              <a:t>，系统为它分配所必需的、除处理机以外的所有资源，如内存空间、</a:t>
            </a:r>
            <a:r>
              <a:rPr lang="en-US" altLang="zh-CN" sz="2100">
                <a:sym typeface="+mn-ea"/>
              </a:rPr>
              <a:t>I/O</a:t>
            </a:r>
            <a:r>
              <a:rPr lang="zh-CN" altLang="en-US" sz="2100">
                <a:sym typeface="+mn-ea"/>
              </a:rPr>
              <a:t>设备以及建立相应的</a:t>
            </a:r>
            <a:r>
              <a:rPr lang="en-US" altLang="zh-CN" sz="2100">
                <a:sym typeface="+mn-ea"/>
              </a:rPr>
              <a:t>PCB</a:t>
            </a:r>
            <a:r>
              <a:rPr lang="zh-CN" altLang="en-US" sz="2100">
                <a:sym typeface="+mn-ea"/>
              </a:rPr>
              <a:t>；</a:t>
            </a:r>
            <a:r>
              <a:rPr lang="en-US" altLang="zh-CN" sz="2100">
                <a:sym typeface="+mn-ea"/>
              </a:rPr>
              <a:t>(2)</a:t>
            </a:r>
            <a:r>
              <a:rPr lang="zh-CN" altLang="en-US" sz="2100" b="1">
                <a:solidFill>
                  <a:srgbClr val="FF0000"/>
                </a:solidFill>
                <a:sym typeface="+mn-ea"/>
              </a:rPr>
              <a:t>撤消进程</a:t>
            </a:r>
            <a:r>
              <a:rPr lang="zh-CN" altLang="en-US" sz="2100">
                <a:sym typeface="+mn-ea"/>
              </a:rPr>
              <a:t>，系统先对其所占有的资源执行回收操作，然后再撤消</a:t>
            </a:r>
            <a:r>
              <a:rPr lang="en-US" altLang="zh-CN" sz="2100">
                <a:sym typeface="+mn-ea"/>
              </a:rPr>
              <a:t>PCB</a:t>
            </a:r>
            <a:r>
              <a:rPr lang="zh-CN" altLang="en-US" sz="2100">
                <a:sym typeface="+mn-ea"/>
              </a:rPr>
              <a:t>；</a:t>
            </a:r>
            <a:r>
              <a:rPr lang="en-US" altLang="zh-CN" sz="2100">
                <a:sym typeface="+mn-ea"/>
              </a:rPr>
              <a:t>(3)</a:t>
            </a:r>
            <a:r>
              <a:rPr lang="zh-CN" altLang="en-US" sz="2100" b="1">
                <a:solidFill>
                  <a:srgbClr val="FF0000"/>
                </a:solidFill>
                <a:sym typeface="+mn-ea"/>
              </a:rPr>
              <a:t>进程切换</a:t>
            </a:r>
            <a:r>
              <a:rPr lang="zh-CN" altLang="en-US" sz="2100">
                <a:sym typeface="+mn-ea"/>
              </a:rPr>
              <a:t>，对进程进行上下文切换时，保留当前进程</a:t>
            </a:r>
            <a:r>
              <a:rPr lang="en-US" altLang="zh-CN" sz="2100">
                <a:sym typeface="+mn-ea"/>
              </a:rPr>
              <a:t>CPU</a:t>
            </a:r>
            <a:r>
              <a:rPr lang="zh-CN" altLang="en-US" sz="2100">
                <a:sym typeface="+mn-ea"/>
              </a:rPr>
              <a:t>环境，设置新选中进程的</a:t>
            </a:r>
            <a:r>
              <a:rPr lang="en-US" altLang="zh-CN" sz="2100">
                <a:sym typeface="+mn-ea"/>
              </a:rPr>
              <a:t>CPU</a:t>
            </a:r>
            <a:r>
              <a:rPr lang="zh-CN" altLang="en-US" sz="2100">
                <a:sym typeface="+mn-ea"/>
              </a:rPr>
              <a:t>环境，因而须花费不少的处理机时间。</a:t>
            </a:r>
            <a:endParaRPr lang="en-US" altLang="zh-CN" sz="2100">
              <a:sym typeface="+mn-ea"/>
            </a:endParaRPr>
          </a:p>
          <a:p>
            <a:pPr lvl="1">
              <a:buClrTx/>
              <a:buSzTx/>
              <a:buFont typeface="Wingdings" panose="05000000000000000000" pitchFamily="2" charset="2"/>
              <a:buChar char="ü"/>
            </a:pPr>
            <a:r>
              <a:rPr lang="zh-CN" altLang="en-US" sz="2500">
                <a:sym typeface="+mn-ea"/>
              </a:rPr>
              <a:t>线程</a:t>
            </a:r>
            <a:r>
              <a:rPr lang="en-US" altLang="zh-CN" sz="2500">
                <a:sym typeface="+mn-ea"/>
              </a:rPr>
              <a:t>——</a:t>
            </a:r>
            <a:r>
              <a:rPr lang="zh-CN" altLang="en-US" sz="2500">
                <a:sym typeface="+mn-ea"/>
              </a:rPr>
              <a:t>作为调度和分派的基本单位</a:t>
            </a:r>
            <a:endParaRPr lang="en-US" altLang="zh-CN" sz="2500">
              <a:sym typeface="+mn-ea"/>
            </a:endParaRPr>
          </a:p>
          <a:p>
            <a:pPr marL="914400" lvl="2" indent="0">
              <a:buNone/>
            </a:pPr>
            <a:r>
              <a:rPr lang="zh-CN" altLang="en-US" sz="2100">
                <a:sym typeface="+mn-ea"/>
              </a:rPr>
              <a:t>将进程两个属性分开，进程为</a:t>
            </a:r>
            <a:r>
              <a:rPr lang="zh-CN" altLang="en-US" sz="2100" b="1">
                <a:solidFill>
                  <a:srgbClr val="FF0000"/>
                </a:solidFill>
                <a:sym typeface="+mn-ea"/>
              </a:rPr>
              <a:t>拥有资源的基本单位</a:t>
            </a:r>
            <a:r>
              <a:rPr lang="zh-CN" altLang="en-US" sz="2100">
                <a:sym typeface="+mn-ea"/>
              </a:rPr>
              <a:t>，线程为</a:t>
            </a:r>
            <a:r>
              <a:rPr lang="zh-CN" altLang="en-US" sz="2100" b="1">
                <a:solidFill>
                  <a:srgbClr val="FF0000"/>
                </a:solidFill>
                <a:sym typeface="+mn-ea"/>
              </a:rPr>
              <a:t>调度和分派的基本单位</a:t>
            </a:r>
            <a:r>
              <a:rPr lang="zh-CN" altLang="en-US" sz="2100">
                <a:sym typeface="+mn-ea"/>
              </a:rPr>
              <a:t>。</a:t>
            </a:r>
            <a:endParaRPr lang="en-US" altLang="zh-CN" sz="2100">
              <a:sym typeface="+mn-ea"/>
            </a:endParaRPr>
          </a:p>
          <a:p>
            <a:r>
              <a:rPr lang="zh-CN" altLang="en-US" sz="2900">
                <a:solidFill>
                  <a:srgbClr val="0070C0"/>
                </a:solidFill>
                <a:sym typeface="+mn-ea"/>
              </a:rPr>
              <a:t>线程和进程比较</a:t>
            </a:r>
            <a:endParaRPr lang="en-US" altLang="zh-CN" sz="2900">
              <a:solidFill>
                <a:srgbClr val="0070C0"/>
              </a:solidFill>
              <a:sym typeface="+mn-ea"/>
            </a:endParaRPr>
          </a:p>
          <a:p>
            <a:pPr marL="914400" lvl="2" indent="0">
              <a:buNone/>
            </a:pPr>
            <a:r>
              <a:rPr lang="zh-CN" altLang="en-US" sz="2100">
                <a:sym typeface="+mn-ea"/>
              </a:rPr>
              <a:t>调度的基本单位、并发性、拥有资源、独立性、系统开销、支持多处理机系统</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63</a:t>
            </a:fld>
            <a:endParaRPr kumimoji="1" lang="zh-CN" altLang="en-US"/>
          </a:p>
        </p:txBody>
      </p:sp>
    </p:spTree>
    <p:extLst>
      <p:ext uri="{BB962C8B-B14F-4D97-AF65-F5344CB8AC3E}">
        <p14:creationId xmlns:p14="http://schemas.microsoft.com/office/powerpoint/2010/main" val="11803060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线程基本概念</a:t>
            </a:r>
            <a:endParaRPr lang="zh-CN" altLang="en-US">
              <a:latin typeface="+mj-ea"/>
              <a:ea typeface="+mj-ea"/>
            </a:endParaRPr>
          </a:p>
        </p:txBody>
      </p:sp>
      <p:sp>
        <p:nvSpPr>
          <p:cNvPr id="3" name="内容占位符 2"/>
          <p:cNvSpPr>
            <a:spLocks noGrp="1"/>
          </p:cNvSpPr>
          <p:nvPr>
            <p:ph idx="1"/>
          </p:nvPr>
        </p:nvSpPr>
        <p:spPr>
          <a:xfrm>
            <a:off x="838198" y="1494513"/>
            <a:ext cx="10641497" cy="5363487"/>
          </a:xfrm>
        </p:spPr>
        <p:txBody>
          <a:bodyPr>
            <a:normAutofit fontScale="97500"/>
          </a:bodyPr>
          <a:lstStyle/>
          <a:p>
            <a:r>
              <a:rPr lang="zh-CN" altLang="en-US" sz="2900">
                <a:solidFill>
                  <a:srgbClr val="0070C0"/>
                </a:solidFill>
                <a:sym typeface="+mn-ea"/>
              </a:rPr>
              <a:t>线程的状态和线程控制块</a:t>
            </a:r>
          </a:p>
          <a:p>
            <a:pPr lvl="1">
              <a:buClrTx/>
              <a:buSzTx/>
              <a:buFont typeface="Wingdings" panose="05000000000000000000" pitchFamily="2" charset="2"/>
              <a:buChar char="ü"/>
            </a:pPr>
            <a:r>
              <a:rPr lang="zh-CN" altLang="en-US" sz="2500">
                <a:sym typeface="+mn-ea"/>
              </a:rPr>
              <a:t>线程运行的三个状态</a:t>
            </a:r>
            <a:endParaRPr lang="en-US" altLang="zh-CN" sz="2500">
              <a:sym typeface="+mn-ea"/>
            </a:endParaRPr>
          </a:p>
          <a:p>
            <a:pPr marL="914400" lvl="2" indent="0" algn="just">
              <a:buNone/>
            </a:pPr>
            <a:r>
              <a:rPr lang="zh-CN" altLang="en-US" sz="2100">
                <a:sym typeface="+mn-ea"/>
              </a:rPr>
              <a:t>线程运行时具有三种基本状态：</a:t>
            </a:r>
            <a:r>
              <a:rPr lang="en-US" altLang="zh-CN" sz="2100">
                <a:sym typeface="+mn-ea"/>
              </a:rPr>
              <a:t>(1)</a:t>
            </a:r>
            <a:r>
              <a:rPr lang="zh-CN" altLang="en-US" sz="2100">
                <a:sym typeface="+mn-ea"/>
              </a:rPr>
              <a:t>执行状态，表示线程已获得处理机而正在运行；</a:t>
            </a:r>
            <a:r>
              <a:rPr lang="en-US" altLang="zh-CN" sz="2100">
                <a:sym typeface="+mn-ea"/>
              </a:rPr>
              <a:t>(2)</a:t>
            </a:r>
            <a:r>
              <a:rPr lang="zh-CN" altLang="en-US" sz="2100">
                <a:sym typeface="+mn-ea"/>
              </a:rPr>
              <a:t>就绪状态，指线程已具备各种执行条件，只须再获得</a:t>
            </a:r>
            <a:r>
              <a:rPr lang="en-US" altLang="zh-CN" sz="2100">
                <a:sym typeface="+mn-ea"/>
              </a:rPr>
              <a:t>CPU</a:t>
            </a:r>
            <a:r>
              <a:rPr lang="zh-CN" altLang="en-US" sz="2100">
                <a:sym typeface="+mn-ea"/>
              </a:rPr>
              <a:t>便可立即执行；</a:t>
            </a:r>
            <a:r>
              <a:rPr lang="en-US" altLang="zh-CN" sz="2100">
                <a:sym typeface="+mn-ea"/>
              </a:rPr>
              <a:t>(3)</a:t>
            </a:r>
            <a:r>
              <a:rPr lang="zh-CN" altLang="en-US" sz="2100">
                <a:sym typeface="+mn-ea"/>
              </a:rPr>
              <a:t>阻塞状态，指线程在执行中因某事件受阻而处于暂停状态，如一个线程执行从键盘读入数据的系统调用时，该线程就被阻塞。</a:t>
            </a:r>
            <a:endParaRPr lang="en-US" altLang="zh-CN" sz="2100">
              <a:sym typeface="+mn-ea"/>
            </a:endParaRPr>
          </a:p>
          <a:p>
            <a:pPr lvl="1">
              <a:buClrTx/>
              <a:buSzTx/>
              <a:buFont typeface="Wingdings" panose="05000000000000000000" pitchFamily="2" charset="2"/>
              <a:buChar char="ü"/>
            </a:pPr>
            <a:r>
              <a:rPr lang="zh-CN" altLang="en-US" sz="2500">
                <a:sym typeface="+mn-ea"/>
              </a:rPr>
              <a:t>线程控制块</a:t>
            </a:r>
            <a:endParaRPr lang="en-US" altLang="zh-CN" sz="2500">
              <a:sym typeface="+mn-ea"/>
            </a:endParaRPr>
          </a:p>
          <a:p>
            <a:pPr marL="914400" lvl="2" indent="0">
              <a:buNone/>
            </a:pPr>
            <a:r>
              <a:rPr lang="zh-CN" altLang="en-US" sz="2100">
                <a:sym typeface="+mn-ea"/>
              </a:rPr>
              <a:t>系统为每个线程配置一个线程控制块</a:t>
            </a:r>
            <a:r>
              <a:rPr lang="en-US" altLang="zh-CN" sz="2100">
                <a:sym typeface="+mn-ea"/>
              </a:rPr>
              <a:t>(TCB)</a:t>
            </a:r>
            <a:r>
              <a:rPr lang="zh-CN" altLang="en-US" sz="2100">
                <a:sym typeface="+mn-ea"/>
              </a:rPr>
              <a:t>，将所有用于控制和管理线程的信息记录在线程控制块中。</a:t>
            </a:r>
            <a:endParaRPr lang="en-US" altLang="zh-CN" sz="2100">
              <a:sym typeface="+mn-ea"/>
            </a:endParaRPr>
          </a:p>
          <a:p>
            <a:pPr lvl="1">
              <a:buClrTx/>
              <a:buSzTx/>
              <a:buFont typeface="Wingdings" panose="05000000000000000000" pitchFamily="2" charset="2"/>
              <a:buChar char="ü"/>
            </a:pPr>
            <a:r>
              <a:rPr lang="zh-CN" altLang="en-US" sz="2500">
                <a:sym typeface="+mn-ea"/>
              </a:rPr>
              <a:t>多线程</a:t>
            </a:r>
            <a:r>
              <a:rPr lang="en-US" altLang="zh-CN" sz="2500">
                <a:sym typeface="+mn-ea"/>
              </a:rPr>
              <a:t>OS</a:t>
            </a:r>
            <a:r>
              <a:rPr lang="zh-CN" altLang="en-US" sz="2500">
                <a:sym typeface="+mn-ea"/>
              </a:rPr>
              <a:t>中的进程属性</a:t>
            </a:r>
            <a:endParaRPr lang="en-US" altLang="zh-CN" sz="2500">
              <a:sym typeface="+mn-ea"/>
            </a:endParaRPr>
          </a:p>
          <a:p>
            <a:pPr marL="914400" lvl="2" indent="0">
              <a:buNone/>
            </a:pPr>
            <a:r>
              <a:rPr lang="zh-CN" altLang="en-US" sz="2100">
                <a:sym typeface="+mn-ea"/>
              </a:rPr>
              <a:t>多线程</a:t>
            </a:r>
            <a:r>
              <a:rPr lang="en-US" altLang="zh-CN" sz="2100">
                <a:sym typeface="+mn-ea"/>
              </a:rPr>
              <a:t>OS</a:t>
            </a:r>
            <a:r>
              <a:rPr lang="zh-CN" altLang="en-US" sz="2100">
                <a:sym typeface="+mn-ea"/>
              </a:rPr>
              <a:t>中的进程属性包括：</a:t>
            </a:r>
            <a:r>
              <a:rPr lang="en-US" altLang="zh-CN" sz="2100">
                <a:sym typeface="+mn-ea"/>
              </a:rPr>
              <a:t>(1)</a:t>
            </a:r>
            <a:r>
              <a:rPr lang="zh-CN" altLang="en-US" sz="2100">
                <a:sym typeface="+mn-ea"/>
              </a:rPr>
              <a:t>进程是一个可拥有资源的基本单位；</a:t>
            </a:r>
            <a:r>
              <a:rPr lang="en-US" altLang="zh-CN" sz="2100">
                <a:sym typeface="+mn-ea"/>
              </a:rPr>
              <a:t>(2)</a:t>
            </a:r>
            <a:r>
              <a:rPr lang="zh-CN" altLang="en-US" sz="2100">
                <a:sym typeface="+mn-ea"/>
              </a:rPr>
              <a:t>多个线程可并发执行；</a:t>
            </a:r>
            <a:r>
              <a:rPr lang="en-US" altLang="zh-CN" sz="2100">
                <a:sym typeface="+mn-ea"/>
              </a:rPr>
              <a:t>(3)</a:t>
            </a:r>
            <a:r>
              <a:rPr lang="zh-CN" altLang="en-US" sz="2100">
                <a:sym typeface="+mn-ea"/>
              </a:rPr>
              <a:t>进程已不是可执行的实体。</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64</a:t>
            </a:fld>
            <a:endParaRPr kumimoji="1" lang="zh-CN" altLang="en-US"/>
          </a:p>
        </p:txBody>
      </p:sp>
    </p:spTree>
    <p:extLst>
      <p:ext uri="{BB962C8B-B14F-4D97-AF65-F5344CB8AC3E}">
        <p14:creationId xmlns:p14="http://schemas.microsoft.com/office/powerpoint/2010/main" val="3585805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线程的实现</a:t>
            </a:r>
            <a:endParaRPr lang="zh-CN" altLang="en-US">
              <a:latin typeface="+mj-ea"/>
              <a:ea typeface="+mj-ea"/>
            </a:endParaRPr>
          </a:p>
        </p:txBody>
      </p:sp>
      <p:sp>
        <p:nvSpPr>
          <p:cNvPr id="3" name="内容占位符 2"/>
          <p:cNvSpPr>
            <a:spLocks noGrp="1"/>
          </p:cNvSpPr>
          <p:nvPr>
            <p:ph idx="1"/>
          </p:nvPr>
        </p:nvSpPr>
        <p:spPr>
          <a:xfrm>
            <a:off x="838198" y="1494513"/>
            <a:ext cx="10641497" cy="5363487"/>
          </a:xfrm>
        </p:spPr>
        <p:txBody>
          <a:bodyPr>
            <a:normAutofit fontScale="97500"/>
          </a:bodyPr>
          <a:lstStyle/>
          <a:p>
            <a:r>
              <a:rPr lang="zh-CN" altLang="en-US" sz="2900">
                <a:solidFill>
                  <a:srgbClr val="0070C0"/>
                </a:solidFill>
                <a:sym typeface="+mn-ea"/>
              </a:rPr>
              <a:t>线程的实现方式</a:t>
            </a:r>
          </a:p>
          <a:p>
            <a:pPr lvl="1">
              <a:buClrTx/>
              <a:buSzTx/>
              <a:buFont typeface="Wingdings" panose="05000000000000000000" pitchFamily="2" charset="2"/>
              <a:buChar char="ü"/>
            </a:pPr>
            <a:r>
              <a:rPr lang="zh-CN" altLang="en-US" sz="2500">
                <a:sym typeface="+mn-ea"/>
              </a:rPr>
              <a:t>内核支持线程</a:t>
            </a:r>
            <a:endParaRPr lang="en-US" altLang="zh-CN" sz="2500">
              <a:sym typeface="+mn-ea"/>
            </a:endParaRPr>
          </a:p>
          <a:p>
            <a:pPr marL="914400" lvl="2" indent="0" algn="just">
              <a:buNone/>
            </a:pPr>
            <a:r>
              <a:rPr lang="zh-CN" altLang="en-US" sz="2100">
                <a:sym typeface="+mn-ea"/>
              </a:rPr>
              <a:t>内核支持线程在内核的支持下运行，它们的创建、阻塞、撤消和切换等，都是在内核空间实现的。为对内核线程进行控制和管理，在内核空间也为每一个内核线程设置了一个线程控制块，内核根据该控制块而感知某线程的存在，并对其加以控制。当前大多数</a:t>
            </a:r>
            <a:r>
              <a:rPr lang="en-US" altLang="zh-CN" sz="2100">
                <a:sym typeface="+mn-ea"/>
              </a:rPr>
              <a:t>OS</a:t>
            </a:r>
            <a:r>
              <a:rPr lang="zh-CN" altLang="en-US" sz="2100">
                <a:sym typeface="+mn-ea"/>
              </a:rPr>
              <a:t>都支持内核支持线程。</a:t>
            </a:r>
            <a:endParaRPr lang="en-US" altLang="zh-CN" sz="2100">
              <a:sym typeface="+mn-ea"/>
            </a:endParaRPr>
          </a:p>
          <a:p>
            <a:pPr marL="914400" lvl="2" indent="0" algn="just">
              <a:buNone/>
            </a:pPr>
            <a:r>
              <a:rPr lang="zh-CN" altLang="en-US" sz="2100">
                <a:sym typeface="+mn-ea"/>
              </a:rPr>
              <a:t>这种线程实现方式优点包括：</a:t>
            </a:r>
            <a:r>
              <a:rPr lang="en-US" altLang="zh-CN" sz="2100">
                <a:sym typeface="+mn-ea"/>
              </a:rPr>
              <a:t>(1)</a:t>
            </a:r>
            <a:r>
              <a:rPr lang="zh-CN" altLang="en-US" sz="2100">
                <a:sym typeface="+mn-ea"/>
              </a:rPr>
              <a:t>在多处理器系统中，内核能够同时调度同一进程中的多个线程并行执行；</a:t>
            </a:r>
            <a:r>
              <a:rPr lang="en-US" altLang="zh-CN" sz="2100">
                <a:sym typeface="+mn-ea"/>
              </a:rPr>
              <a:t>(2)</a:t>
            </a:r>
            <a:r>
              <a:rPr lang="zh-CN" altLang="en-US" sz="2100">
                <a:sym typeface="+mn-ea"/>
              </a:rPr>
              <a:t>如果进程中的一个线程被阻塞了，内核可以调度该进程中的其它线程占有处理器运行，也可以运行其它进程中的线程；</a:t>
            </a:r>
            <a:r>
              <a:rPr lang="en-US" altLang="zh-CN" sz="2100">
                <a:sym typeface="+mn-ea"/>
              </a:rPr>
              <a:t>(3)</a:t>
            </a:r>
            <a:r>
              <a:rPr lang="zh-CN" altLang="en-US" sz="2100">
                <a:sym typeface="+mn-ea"/>
              </a:rPr>
              <a:t>内核支持线程具有很小的数据结构和堆栈，线程的切换比较快，切换开销小；</a:t>
            </a:r>
            <a:r>
              <a:rPr lang="en-US" altLang="zh-CN" sz="2100">
                <a:sym typeface="+mn-ea"/>
              </a:rPr>
              <a:t>(4)</a:t>
            </a:r>
            <a:r>
              <a:rPr lang="zh-CN" altLang="en-US" sz="2100">
                <a:sym typeface="+mn-ea"/>
              </a:rPr>
              <a:t>内核本身也可以采用多线程技术，可以提高系统的执行速度和效率。　</a:t>
            </a:r>
            <a:endParaRPr lang="en-US" altLang="zh-CN" sz="2100">
              <a:sym typeface="+mn-ea"/>
            </a:endParaRPr>
          </a:p>
          <a:p>
            <a:pPr marL="914400" lvl="2" indent="0">
              <a:buNone/>
            </a:pP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65</a:t>
            </a:fld>
            <a:endParaRPr kumimoji="1" lang="zh-CN" altLang="en-US"/>
          </a:p>
        </p:txBody>
      </p:sp>
    </p:spTree>
    <p:extLst>
      <p:ext uri="{BB962C8B-B14F-4D97-AF65-F5344CB8AC3E}">
        <p14:creationId xmlns:p14="http://schemas.microsoft.com/office/powerpoint/2010/main" val="34168293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线程的实现</a:t>
            </a:r>
            <a:endParaRPr lang="zh-CN" altLang="en-US">
              <a:latin typeface="+mj-ea"/>
              <a:ea typeface="+mj-ea"/>
            </a:endParaRPr>
          </a:p>
        </p:txBody>
      </p:sp>
      <p:sp>
        <p:nvSpPr>
          <p:cNvPr id="3" name="内容占位符 2"/>
          <p:cNvSpPr>
            <a:spLocks noGrp="1"/>
          </p:cNvSpPr>
          <p:nvPr>
            <p:ph idx="1"/>
          </p:nvPr>
        </p:nvSpPr>
        <p:spPr>
          <a:xfrm>
            <a:off x="838198" y="1494513"/>
            <a:ext cx="10641497" cy="5363487"/>
          </a:xfrm>
        </p:spPr>
        <p:txBody>
          <a:bodyPr>
            <a:normAutofit fontScale="97500"/>
          </a:bodyPr>
          <a:lstStyle/>
          <a:p>
            <a:r>
              <a:rPr lang="zh-CN" altLang="en-US" sz="2900">
                <a:solidFill>
                  <a:srgbClr val="0070C0"/>
                </a:solidFill>
                <a:sym typeface="+mn-ea"/>
              </a:rPr>
              <a:t>线程的实现方式</a:t>
            </a:r>
          </a:p>
          <a:p>
            <a:pPr lvl="1">
              <a:buClrTx/>
              <a:buSzTx/>
              <a:buFont typeface="Wingdings" panose="05000000000000000000" pitchFamily="2" charset="2"/>
              <a:buChar char="ü"/>
            </a:pPr>
            <a:r>
              <a:rPr lang="zh-CN" altLang="en-US" sz="2500">
                <a:sym typeface="+mn-ea"/>
              </a:rPr>
              <a:t>用户级线程</a:t>
            </a:r>
            <a:endParaRPr lang="en-US" altLang="zh-CN" sz="2500">
              <a:sym typeface="+mn-ea"/>
            </a:endParaRPr>
          </a:p>
          <a:p>
            <a:pPr marL="914400" lvl="2" indent="0" algn="just">
              <a:buNone/>
            </a:pPr>
            <a:r>
              <a:rPr lang="zh-CN" altLang="en-US" sz="2100">
                <a:sym typeface="+mn-ea"/>
              </a:rPr>
              <a:t>用户级线程是在用户空间中实现的。对线程的创建、 撤消、同步与通信等功能，都无需内核的支持，即用户级线程是与内核无关的。在一个系统中的用户级线程的数目可以达到数百个至数千个。由于这些线程的任务控制块都是设置在用户空间，而线程所执行的操作也无需内核的帮助，因而内核完全不知道用户级线程的存在。</a:t>
            </a:r>
            <a:endParaRPr lang="en-US" altLang="zh-CN" sz="2100">
              <a:sym typeface="+mn-ea"/>
            </a:endParaRPr>
          </a:p>
          <a:p>
            <a:pPr marL="914400" lvl="2" indent="0" algn="just">
              <a:buNone/>
            </a:pPr>
            <a:r>
              <a:rPr lang="zh-CN" altLang="en-US" sz="2100" b="1">
                <a:solidFill>
                  <a:srgbClr val="FF0000"/>
                </a:solidFill>
                <a:sym typeface="+mn-ea"/>
              </a:rPr>
              <a:t>用户级线程优点</a:t>
            </a:r>
            <a:r>
              <a:rPr lang="zh-CN" altLang="en-US" sz="2100">
                <a:sym typeface="Wingdings" panose="05000000000000000000" pitchFamily="2" charset="2"/>
              </a:rPr>
              <a:t>：</a:t>
            </a:r>
            <a:r>
              <a:rPr lang="en-US" altLang="zh-CN" sz="2100">
                <a:sym typeface="Wingdings" panose="05000000000000000000" pitchFamily="2" charset="2"/>
              </a:rPr>
              <a:t>(1</a:t>
            </a:r>
            <a:r>
              <a:rPr lang="en-US" altLang="zh-CN" sz="2100">
                <a:sym typeface="+mn-ea"/>
              </a:rPr>
              <a:t>)</a:t>
            </a:r>
            <a:r>
              <a:rPr lang="zh-CN" altLang="en-US" sz="2100">
                <a:sym typeface="+mn-ea"/>
              </a:rPr>
              <a:t>线程切换不需要转换到内核空间；</a:t>
            </a:r>
            <a:r>
              <a:rPr lang="en-US" altLang="zh-CN" sz="2100">
                <a:sym typeface="+mn-ea"/>
              </a:rPr>
              <a:t>(2)</a:t>
            </a:r>
            <a:r>
              <a:rPr lang="zh-CN" altLang="en-US" sz="2100">
                <a:sym typeface="+mn-ea"/>
              </a:rPr>
              <a:t>调度算法可以是进程专用的；</a:t>
            </a:r>
            <a:r>
              <a:rPr lang="en-US" altLang="zh-CN" sz="2100">
                <a:sym typeface="+mn-ea"/>
              </a:rPr>
              <a:t>(3)</a:t>
            </a:r>
            <a:r>
              <a:rPr lang="zh-CN" altLang="en-US" sz="2100">
                <a:sym typeface="+mn-ea"/>
              </a:rPr>
              <a:t>用户级线程的实现与</a:t>
            </a:r>
            <a:r>
              <a:rPr lang="en-US" altLang="zh-CN" sz="2100">
                <a:sym typeface="+mn-ea"/>
              </a:rPr>
              <a:t>OS</a:t>
            </a:r>
            <a:r>
              <a:rPr lang="zh-CN" altLang="en-US" sz="2100">
                <a:sym typeface="+mn-ea"/>
              </a:rPr>
              <a:t>平台无关，因为对于线程管理的代码是属于用户程序的一部分，所有的应用程序都可以对之进行共享。</a:t>
            </a: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66</a:t>
            </a:fld>
            <a:endParaRPr kumimoji="1" lang="zh-CN" altLang="en-US"/>
          </a:p>
        </p:txBody>
      </p:sp>
    </p:spTree>
    <p:extLst>
      <p:ext uri="{BB962C8B-B14F-4D97-AF65-F5344CB8AC3E}">
        <p14:creationId xmlns:p14="http://schemas.microsoft.com/office/powerpoint/2010/main" val="27045532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线程的实现</a:t>
            </a:r>
            <a:endParaRPr lang="zh-CN" altLang="en-US">
              <a:latin typeface="+mj-ea"/>
              <a:ea typeface="+mj-ea"/>
            </a:endParaRPr>
          </a:p>
        </p:txBody>
      </p:sp>
      <p:sp>
        <p:nvSpPr>
          <p:cNvPr id="3" name="内容占位符 2"/>
          <p:cNvSpPr>
            <a:spLocks noGrp="1"/>
          </p:cNvSpPr>
          <p:nvPr>
            <p:ph idx="1"/>
          </p:nvPr>
        </p:nvSpPr>
        <p:spPr>
          <a:xfrm>
            <a:off x="838198" y="1494513"/>
            <a:ext cx="10641497" cy="5363487"/>
          </a:xfrm>
        </p:spPr>
        <p:txBody>
          <a:bodyPr>
            <a:normAutofit fontScale="97500"/>
          </a:bodyPr>
          <a:lstStyle/>
          <a:p>
            <a:r>
              <a:rPr lang="zh-CN" altLang="en-US" sz="2900">
                <a:solidFill>
                  <a:srgbClr val="0070C0"/>
                </a:solidFill>
                <a:sym typeface="+mn-ea"/>
              </a:rPr>
              <a:t>线程的实现方式</a:t>
            </a:r>
          </a:p>
          <a:p>
            <a:pPr lvl="1">
              <a:buClrTx/>
              <a:buSzTx/>
              <a:buFont typeface="Wingdings" panose="05000000000000000000" pitchFamily="2" charset="2"/>
              <a:buChar char="ü"/>
            </a:pPr>
            <a:r>
              <a:rPr lang="zh-CN" altLang="en-US" sz="2500">
                <a:sym typeface="+mn-ea"/>
              </a:rPr>
              <a:t>用户级线程</a:t>
            </a:r>
            <a:endParaRPr lang="en-US" altLang="zh-CN" sz="2500">
              <a:sym typeface="+mn-ea"/>
            </a:endParaRPr>
          </a:p>
          <a:p>
            <a:pPr marL="914400" lvl="2" indent="0" algn="just">
              <a:buNone/>
            </a:pPr>
            <a:r>
              <a:rPr lang="zh-CN" altLang="en-US" sz="2100" b="1">
                <a:solidFill>
                  <a:srgbClr val="FF0000"/>
                </a:solidFill>
                <a:sym typeface="+mn-ea"/>
              </a:rPr>
              <a:t>用户级线程缺点</a:t>
            </a:r>
            <a:r>
              <a:rPr lang="zh-CN" altLang="en-US" sz="2100">
                <a:sym typeface="+mn-ea"/>
              </a:rPr>
              <a:t>：</a:t>
            </a:r>
            <a:r>
              <a:rPr lang="en-US" altLang="zh-CN" sz="2100">
                <a:sym typeface="Wingdings" panose="05000000000000000000" pitchFamily="2" charset="2"/>
              </a:rPr>
              <a:t>(1)</a:t>
            </a:r>
            <a:r>
              <a:rPr lang="zh-CN" altLang="en-US" sz="2100">
                <a:sym typeface="+mn-ea"/>
              </a:rPr>
              <a:t>系统调用的阻塞问题。在基于进程机制的</a:t>
            </a:r>
            <a:r>
              <a:rPr lang="en-US" altLang="zh-CN" sz="2100">
                <a:sym typeface="+mn-ea"/>
              </a:rPr>
              <a:t>OS</a:t>
            </a:r>
            <a:r>
              <a:rPr lang="zh-CN" altLang="en-US" sz="2100">
                <a:sym typeface="+mn-ea"/>
              </a:rPr>
              <a:t>中，大多数系统调用将使进程阻塞，因此，当线程执行一个系统调用时，不仅该线程被阻塞，而且，进程内的所有线程会被阻塞。而在内核支持线程方式中，则进程中的其它线程仍然可以运行；</a:t>
            </a:r>
            <a:r>
              <a:rPr lang="en-US" altLang="zh-CN" sz="2100">
                <a:sym typeface="+mn-ea"/>
              </a:rPr>
              <a:t>(2)</a:t>
            </a:r>
            <a:r>
              <a:rPr lang="zh-CN" altLang="en-US" sz="2100">
                <a:sym typeface="+mn-ea"/>
              </a:rPr>
              <a:t>在单纯的用户级线程实现方式中，多线程应用不能利用多处理机进行多重处理的优点，内核每次分配给一个进程的仅有一个</a:t>
            </a:r>
            <a:r>
              <a:rPr lang="en-US" altLang="zh-CN" sz="2100">
                <a:sym typeface="+mn-ea"/>
              </a:rPr>
              <a:t>CPU</a:t>
            </a:r>
            <a:r>
              <a:rPr lang="zh-CN" altLang="en-US" sz="2100">
                <a:sym typeface="+mn-ea"/>
              </a:rPr>
              <a:t>，因此，进程中仅有一个线程能执行，在该线程放弃</a:t>
            </a:r>
            <a:r>
              <a:rPr lang="en-US" altLang="zh-CN" sz="2100">
                <a:sym typeface="+mn-ea"/>
              </a:rPr>
              <a:t>CPU</a:t>
            </a:r>
            <a:r>
              <a:rPr lang="zh-CN" altLang="en-US" sz="2100">
                <a:sym typeface="+mn-ea"/>
              </a:rPr>
              <a:t>之前，其它线程只能等待。</a:t>
            </a:r>
            <a:endParaRPr lang="en-US" altLang="zh-CN" sz="2100">
              <a:sym typeface="+mn-ea"/>
            </a:endParaRPr>
          </a:p>
          <a:p>
            <a:pPr marL="914400" lvl="2" indent="0">
              <a:buNone/>
            </a:pP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67</a:t>
            </a:fld>
            <a:endParaRPr kumimoji="1" lang="zh-CN" altLang="en-US"/>
          </a:p>
        </p:txBody>
      </p:sp>
    </p:spTree>
    <p:extLst>
      <p:ext uri="{BB962C8B-B14F-4D97-AF65-F5344CB8AC3E}">
        <p14:creationId xmlns:p14="http://schemas.microsoft.com/office/powerpoint/2010/main" val="1352189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latin typeface="+mj-ea"/>
                <a:ea typeface="+mj-ea"/>
              </a:rPr>
              <a:t>线程的实现</a:t>
            </a:r>
            <a:endParaRPr lang="zh-CN" altLang="en-US">
              <a:latin typeface="+mj-ea"/>
              <a:ea typeface="+mj-ea"/>
            </a:endParaRPr>
          </a:p>
        </p:txBody>
      </p:sp>
      <p:sp>
        <p:nvSpPr>
          <p:cNvPr id="3" name="内容占位符 2"/>
          <p:cNvSpPr>
            <a:spLocks noGrp="1"/>
          </p:cNvSpPr>
          <p:nvPr>
            <p:ph idx="1"/>
          </p:nvPr>
        </p:nvSpPr>
        <p:spPr>
          <a:xfrm>
            <a:off x="838198" y="1494513"/>
            <a:ext cx="10641497" cy="5363487"/>
          </a:xfrm>
        </p:spPr>
        <p:txBody>
          <a:bodyPr>
            <a:normAutofit fontScale="97500"/>
          </a:bodyPr>
          <a:lstStyle/>
          <a:p>
            <a:r>
              <a:rPr lang="zh-CN" altLang="en-US" sz="2900">
                <a:solidFill>
                  <a:srgbClr val="0070C0"/>
                </a:solidFill>
                <a:sym typeface="+mn-ea"/>
              </a:rPr>
              <a:t>线程的实现方式</a:t>
            </a:r>
          </a:p>
          <a:p>
            <a:pPr lvl="1">
              <a:buClrTx/>
              <a:buSzTx/>
              <a:buFont typeface="Wingdings" panose="05000000000000000000" pitchFamily="2" charset="2"/>
              <a:buChar char="ü"/>
            </a:pPr>
            <a:r>
              <a:rPr lang="zh-CN" altLang="en-US" sz="2500">
                <a:sym typeface="+mn-ea"/>
              </a:rPr>
              <a:t>组合方式</a:t>
            </a:r>
            <a:endParaRPr lang="en-US" altLang="zh-CN" sz="2500">
              <a:sym typeface="+mn-ea"/>
            </a:endParaRPr>
          </a:p>
          <a:p>
            <a:pPr marL="914400" lvl="2" indent="0" algn="just">
              <a:buNone/>
            </a:pPr>
            <a:r>
              <a:rPr lang="zh-CN" altLang="en-US" sz="2100">
                <a:sym typeface="+mn-ea"/>
              </a:rPr>
              <a:t>有些</a:t>
            </a:r>
            <a:r>
              <a:rPr lang="en-US" altLang="zh-CN" sz="2100">
                <a:sym typeface="+mn-ea"/>
              </a:rPr>
              <a:t>OS</a:t>
            </a:r>
            <a:r>
              <a:rPr lang="zh-CN" altLang="en-US" sz="2100">
                <a:sym typeface="+mn-ea"/>
              </a:rPr>
              <a:t>把用户级线程和内核支持线程两种方式进行组合，提供了组合方式</a:t>
            </a:r>
            <a:r>
              <a:rPr lang="en-US" altLang="zh-CN" sz="2100">
                <a:sym typeface="+mn-ea"/>
              </a:rPr>
              <a:t>ULT/KST </a:t>
            </a:r>
            <a:r>
              <a:rPr lang="zh-CN" altLang="en-US" sz="2100">
                <a:sym typeface="+mn-ea"/>
              </a:rPr>
              <a:t>线程。在组合方式线程系统中，内核支持多个内核支持线程的建立、调度和管理，同时，也允许用户应用程序建立、调度和管理用户级线程。</a:t>
            </a:r>
            <a:endParaRPr lang="en-US" altLang="zh-CN" sz="2100">
              <a:sym typeface="+mn-ea"/>
            </a:endParaRPr>
          </a:p>
          <a:p>
            <a:pPr marL="914400" lvl="2" indent="0">
              <a:buNone/>
            </a:pPr>
            <a:endParaRPr lang="en-US" altLang="zh-CN" sz="210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68</a:t>
            </a:fld>
            <a:endParaRPr kumimoji="1" lang="zh-CN" altLang="en-US"/>
          </a:p>
        </p:txBody>
      </p:sp>
      <p:pic>
        <p:nvPicPr>
          <p:cNvPr id="5" name="Picture 4" descr="2-18">
            <a:extLst>
              <a:ext uri="{FF2B5EF4-FFF2-40B4-BE49-F238E27FC236}">
                <a16:creationId xmlns:a16="http://schemas.microsoft.com/office/drawing/2014/main" id="{85AA8886-0F8E-4AE7-B071-92FC01CC89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8790" y="3846513"/>
            <a:ext cx="7416800" cy="250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324A6140-3253-48E2-873C-6C7861ED755E}"/>
              </a:ext>
            </a:extLst>
          </p:cNvPr>
          <p:cNvSpPr txBox="1"/>
          <p:nvPr/>
        </p:nvSpPr>
        <p:spPr>
          <a:xfrm>
            <a:off x="5540764" y="6446565"/>
            <a:ext cx="1476262" cy="400110"/>
          </a:xfrm>
          <a:prstGeom prst="rect">
            <a:avLst/>
          </a:prstGeom>
          <a:noFill/>
        </p:spPr>
        <p:txBody>
          <a:bodyPr wrap="square">
            <a:spAutoFit/>
          </a:bodyPr>
          <a:lstStyle/>
          <a:p>
            <a:r>
              <a:rPr lang="zh-CN" altLang="en-US" sz="2000"/>
              <a:t>多线程模型</a:t>
            </a:r>
          </a:p>
        </p:txBody>
      </p:sp>
    </p:spTree>
    <p:extLst>
      <p:ext uri="{BB962C8B-B14F-4D97-AF65-F5344CB8AC3E}">
        <p14:creationId xmlns:p14="http://schemas.microsoft.com/office/powerpoint/2010/main" val="27888193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280,&quot;width&quot;:10660}"/>
</p:tagLst>
</file>

<file path=ppt/theme/theme1.xml><?xml version="1.0" encoding="utf-8"?>
<a:theme xmlns:a="http://schemas.openxmlformats.org/drawingml/2006/main" name="2_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1888</TotalTime>
  <Words>10270</Words>
  <Application>Microsoft Office PowerPoint</Application>
  <PresentationFormat>宽屏</PresentationFormat>
  <Paragraphs>629</Paragraphs>
  <Slides>68</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68</vt:i4>
      </vt:variant>
    </vt:vector>
  </HeadingPairs>
  <TitlesOfParts>
    <vt:vector size="74" baseType="lpstr">
      <vt:lpstr>等线</vt:lpstr>
      <vt:lpstr>方正琥珀简体</vt:lpstr>
      <vt:lpstr>Arial</vt:lpstr>
      <vt:lpstr>Times New Roman</vt:lpstr>
      <vt:lpstr>Wingdings</vt:lpstr>
      <vt:lpstr>2_Office 主题​​</vt:lpstr>
      <vt:lpstr>第2章  进程的描述与控制 </vt:lpstr>
      <vt:lpstr>前趋图和程序执行</vt:lpstr>
      <vt:lpstr>前趋图和程序执行</vt:lpstr>
      <vt:lpstr>前趋图和程序执行</vt:lpstr>
      <vt:lpstr>前趋图和程序执行</vt:lpstr>
      <vt:lpstr>前趋图和程序执行</vt:lpstr>
      <vt:lpstr>前趋图和程序执行</vt:lpstr>
      <vt:lpstr>前趋图和程序执行</vt:lpstr>
      <vt:lpstr>前趋图和程序执行</vt:lpstr>
      <vt:lpstr>前趋图和程序执行</vt:lpstr>
      <vt:lpstr>前趋图和程序执行</vt:lpstr>
      <vt:lpstr>进程的描述</vt:lpstr>
      <vt:lpstr>进程的描述</vt:lpstr>
      <vt:lpstr>进程的描述</vt:lpstr>
      <vt:lpstr>进程的描述</vt:lpstr>
      <vt:lpstr>进程的描述</vt:lpstr>
      <vt:lpstr>进程的描述</vt:lpstr>
      <vt:lpstr>进程的描述</vt:lpstr>
      <vt:lpstr>进程的描述</vt:lpstr>
      <vt:lpstr>PowerPoint 演示文稿</vt:lpstr>
      <vt:lpstr>进程的描述</vt:lpstr>
      <vt:lpstr>进程的描述</vt:lpstr>
      <vt:lpstr>进程的描述</vt:lpstr>
      <vt:lpstr>进程的描述</vt:lpstr>
      <vt:lpstr>进程控制</vt:lpstr>
      <vt:lpstr>进程控制</vt:lpstr>
      <vt:lpstr>进程控制</vt:lpstr>
      <vt:lpstr>进程控制</vt:lpstr>
      <vt:lpstr>进程控制</vt:lpstr>
      <vt:lpstr>进程控制</vt:lpstr>
      <vt:lpstr>进程控制</vt:lpstr>
      <vt:lpstr>进程控制</vt:lpstr>
      <vt:lpstr>进程控制</vt:lpstr>
      <vt:lpstr>进程同步</vt:lpstr>
      <vt:lpstr>进程同步</vt:lpstr>
      <vt:lpstr>进程同步</vt:lpstr>
      <vt:lpstr>进程同步</vt:lpstr>
      <vt:lpstr>进程同步</vt:lpstr>
      <vt:lpstr>进程同步</vt:lpstr>
      <vt:lpstr>进程同步</vt:lpstr>
      <vt:lpstr>进程同步</vt:lpstr>
      <vt:lpstr>进程同步</vt:lpstr>
      <vt:lpstr>进程同步</vt:lpstr>
      <vt:lpstr>经典进程的同步问题</vt:lpstr>
      <vt:lpstr>经典进程的同步问题</vt:lpstr>
      <vt:lpstr>经典进程的同步问题</vt:lpstr>
      <vt:lpstr>经典进程的同步问题</vt:lpstr>
      <vt:lpstr>经典进程的同步问题</vt:lpstr>
      <vt:lpstr>经典进程的同步问题</vt:lpstr>
      <vt:lpstr>经典进程的同步问题</vt:lpstr>
      <vt:lpstr>经典进程的同步问题</vt:lpstr>
      <vt:lpstr>经典进程的同步问题</vt:lpstr>
      <vt:lpstr>进程通信</vt:lpstr>
      <vt:lpstr>进程通信</vt:lpstr>
      <vt:lpstr>进程通信</vt:lpstr>
      <vt:lpstr>进程通信</vt:lpstr>
      <vt:lpstr>进程通信</vt:lpstr>
      <vt:lpstr>进程通信</vt:lpstr>
      <vt:lpstr>进程通信</vt:lpstr>
      <vt:lpstr>进程通信</vt:lpstr>
      <vt:lpstr>进程通信</vt:lpstr>
      <vt:lpstr>线程基本概念</vt:lpstr>
      <vt:lpstr>线程基本概念</vt:lpstr>
      <vt:lpstr>线程基本概念</vt:lpstr>
      <vt:lpstr>线程的实现</vt:lpstr>
      <vt:lpstr>线程的实现</vt:lpstr>
      <vt:lpstr>线程的实现</vt:lpstr>
      <vt:lpstr>线程的实现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先亮 江</cp:lastModifiedBy>
  <cp:revision>1622</cp:revision>
  <dcterms:created xsi:type="dcterms:W3CDTF">2021-01-06T05:35:00Z</dcterms:created>
  <dcterms:modified xsi:type="dcterms:W3CDTF">2024-09-23T02:52:45Z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87A2D92DD4F145CB94BE3AC0C4ECF3FE</vt:lpwstr>
  </property>
  <property fmtid="{D5CDD505-2E9C-101B-9397-08002B2CF9AE}" pid="3" name="KSOProductBuildVer">
    <vt:lpwstr>2052-11.1.0.10700</vt:lpwstr>
  </property>
</Properties>
</file>