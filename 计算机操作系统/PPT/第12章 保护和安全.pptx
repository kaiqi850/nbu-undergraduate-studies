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6"/>
  </p:notesMasterIdLst>
  <p:sldIdLst>
    <p:sldId id="311" r:id="rId2"/>
    <p:sldId id="312" r:id="rId3"/>
    <p:sldId id="392" r:id="rId4"/>
    <p:sldId id="396" r:id="rId5"/>
    <p:sldId id="397" r:id="rId6"/>
    <p:sldId id="398" r:id="rId7"/>
    <p:sldId id="399" r:id="rId8"/>
    <p:sldId id="401" r:id="rId9"/>
    <p:sldId id="439" r:id="rId10"/>
    <p:sldId id="402" r:id="rId11"/>
    <p:sldId id="403" r:id="rId12"/>
    <p:sldId id="404" r:id="rId13"/>
    <p:sldId id="405" r:id="rId14"/>
    <p:sldId id="406" r:id="rId15"/>
    <p:sldId id="407" r:id="rId16"/>
    <p:sldId id="408" r:id="rId17"/>
    <p:sldId id="409" r:id="rId18"/>
    <p:sldId id="411" r:id="rId19"/>
    <p:sldId id="412" r:id="rId20"/>
    <p:sldId id="413" r:id="rId21"/>
    <p:sldId id="414" r:id="rId22"/>
    <p:sldId id="440" r:id="rId23"/>
    <p:sldId id="416" r:id="rId24"/>
    <p:sldId id="418" r:id="rId25"/>
    <p:sldId id="419" r:id="rId26"/>
    <p:sldId id="420" r:id="rId27"/>
    <p:sldId id="421" r:id="rId28"/>
    <p:sldId id="441" r:id="rId29"/>
    <p:sldId id="423" r:id="rId30"/>
    <p:sldId id="424" r:id="rId31"/>
    <p:sldId id="425" r:id="rId32"/>
    <p:sldId id="428" r:id="rId33"/>
    <p:sldId id="426" r:id="rId34"/>
    <p:sldId id="429" r:id="rId35"/>
    <p:sldId id="430" r:id="rId36"/>
    <p:sldId id="431" r:id="rId37"/>
    <p:sldId id="432" r:id="rId38"/>
    <p:sldId id="433" r:id="rId39"/>
    <p:sldId id="434" r:id="rId40"/>
    <p:sldId id="436" r:id="rId41"/>
    <p:sldId id="438" r:id="rId42"/>
    <p:sldId id="437" r:id="rId43"/>
    <p:sldId id="364" r:id="rId44"/>
    <p:sldId id="394" r:id="rId45"/>
  </p:sldIdLst>
  <p:sldSz cx="12192000" cy="6858000"/>
  <p:notesSz cx="6858000" cy="9144000"/>
  <p:custDataLst>
    <p:tags r:id="rId4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FF00"/>
    <a:srgbClr val="FFC000"/>
    <a:srgbClr val="00005C"/>
    <a:srgbClr val="06D24C"/>
    <a:srgbClr val="035920"/>
    <a:srgbClr val="F6F5F3"/>
    <a:srgbClr val="04862F"/>
    <a:srgbClr val="07DB4E"/>
    <a:srgbClr val="08396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6182" autoAdjust="0"/>
  </p:normalViewPr>
  <p:slideViewPr>
    <p:cSldViewPr snapToGrid="0">
      <p:cViewPr varScale="1">
        <p:scale>
          <a:sx n="82" d="100"/>
          <a:sy n="82" d="100"/>
        </p:scale>
        <p:origin x="672" y="-125"/>
      </p:cViewPr>
      <p:guideLst/>
    </p:cSldViewPr>
  </p:slideViewPr>
  <p:notesTextViewPr>
    <p:cViewPr>
      <p:scale>
        <a:sx n="3" d="2"/>
        <a:sy n="3" d="2"/>
      </p:scale>
      <p:origin x="0" y="0"/>
    </p:cViewPr>
  </p:notesTextViewPr>
  <p:sorterViewPr>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gs" Target="tags/tag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6D8963-CFCD-4740-AF60-049850373CDF}" type="datetimeFigureOut">
              <a:rPr lang="zh-CN" altLang="en-US" smtClean="0"/>
              <a:t>2024/12/1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E6FDB6-6D2B-46C1-9FA1-D82906A37C3A}"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userDrawn="1">
  <p:cSld name="标题幻灯片">
    <p:bg>
      <p:bgPr>
        <a:solidFill>
          <a:srgbClr val="00002E"/>
        </a:solidFill>
        <a:effectLst/>
      </p:bgPr>
    </p:bg>
    <p:spTree>
      <p:nvGrpSpPr>
        <p:cNvPr id="1" name=""/>
        <p:cNvGrpSpPr/>
        <p:nvPr/>
      </p:nvGrpSpPr>
      <p:grpSpPr>
        <a:xfrm>
          <a:off x="0" y="0"/>
          <a:ext cx="0" cy="0"/>
          <a:chOff x="0" y="0"/>
          <a:chExt cx="0" cy="0"/>
        </a:xfrm>
      </p:grpSpPr>
      <p:sp>
        <p:nvSpPr>
          <p:cNvPr id="8" name="Freeform 22_1"/>
          <p:cNvSpPr>
            <a:spLocks noChangeArrowheads="1"/>
          </p:cNvSpPr>
          <p:nvPr userDrawn="1"/>
        </p:nvSpPr>
        <p:spPr bwMode="auto">
          <a:xfrm>
            <a:off x="0"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blipFill>
            <a:blip r:embed="rId2">
              <a:duotone>
                <a:schemeClr val="accent2">
                  <a:shade val="45000"/>
                  <a:satMod val="135000"/>
                </a:schemeClr>
                <a:prstClr val="white"/>
              </a:duotone>
            </a:blip>
            <a:srcRect/>
            <a:stretch>
              <a:fillRect t="-28757" b="-15909"/>
            </a:stretch>
          </a:blipFill>
          <a:ln>
            <a:noFill/>
          </a:ln>
        </p:spPr>
        <p:txBody>
          <a:bodyPr vert="horz" wrap="square" lIns="91440" tIns="45720" rIns="91440" bIns="45720" numCol="1" anchor="t" anchorCtr="0" compatLnSpc="1">
            <a:noAutofit/>
          </a:bodyPr>
          <a:lstStyle/>
          <a:p>
            <a:endParaRPr lang="zh-CN" altLang="en-US"/>
          </a:p>
        </p:txBody>
      </p:sp>
      <p:sp>
        <p:nvSpPr>
          <p:cNvPr id="23" name="任意多边形: 形状 22"/>
          <p:cNvSpPr>
            <a:spLocks noChangeArrowheads="1"/>
          </p:cNvSpPr>
          <p:nvPr userDrawn="1"/>
        </p:nvSpPr>
        <p:spPr bwMode="auto">
          <a:xfrm>
            <a:off x="-794"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solidFill>
            <a:srgbClr val="FFC000">
              <a:alpha val="20000"/>
            </a:srgbClr>
          </a:solidFill>
          <a:ln>
            <a:noFill/>
          </a:ln>
        </p:spPr>
        <p:txBody>
          <a:bodyPr vert="horz" wrap="square" lIns="91440" tIns="45720" rIns="91440" bIns="45720" numCol="1" anchor="t" anchorCtr="0" compatLnSpc="1">
            <a:noAutofit/>
          </a:bodyPr>
          <a:lstStyle/>
          <a:p>
            <a:endParaRPr lang="zh-CN" altLang="en-US"/>
          </a:p>
        </p:txBody>
      </p:sp>
      <p:sp>
        <p:nvSpPr>
          <p:cNvPr id="20" name="任意多边形: 形状 19"/>
          <p:cNvSpPr/>
          <p:nvPr userDrawn="1"/>
        </p:nvSpPr>
        <p:spPr bwMode="auto">
          <a:xfrm>
            <a:off x="0" y="543509"/>
            <a:ext cx="12192000" cy="6167761"/>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C000"/>
              </a:gs>
              <a:gs pos="11000">
                <a:schemeClr val="accent1"/>
              </a:gs>
            </a:gsLst>
            <a:lin ang="4800000" scaled="0"/>
            <a:tileRect/>
          </a:gradFill>
          <a:ln>
            <a:noFill/>
          </a:ln>
        </p:spPr>
        <p:txBody>
          <a:bodyPr vert="horz" wrap="square" lIns="91440" tIns="45720" rIns="91440" bIns="45720" numCol="1" anchor="t" anchorCtr="0" compatLnSpc="1">
            <a:noAutofit/>
          </a:bodyPr>
          <a:lstStyle/>
          <a:p>
            <a:endParaRPr lang="zh-CN" altLang="en-US" dirty="0">
              <a:gradFill>
                <a:gsLst>
                  <a:gs pos="100000">
                    <a:schemeClr val="accent3"/>
                  </a:gs>
                  <a:gs pos="0">
                    <a:schemeClr val="accent4"/>
                  </a:gs>
                </a:gsLst>
                <a:lin ang="13500000" scaled="1"/>
              </a:gradFill>
            </a:endParaRPr>
          </a:p>
        </p:txBody>
      </p:sp>
      <p:sp>
        <p:nvSpPr>
          <p:cNvPr id="12" name="文本占位符 13"/>
          <p:cNvSpPr>
            <a:spLocks noGrp="1"/>
          </p:cNvSpPr>
          <p:nvPr userDrawn="1">
            <p:ph type="body" sz="quarter" idx="10" hasCustomPrompt="1"/>
          </p:nvPr>
        </p:nvSpPr>
        <p:spPr>
          <a:xfrm>
            <a:off x="669925" y="5306656"/>
            <a:ext cx="10850563" cy="296271"/>
          </a:xfrm>
        </p:spPr>
        <p:txBody>
          <a:bodyPr vert="horz" anchor="ctr">
            <a:noAutofit/>
          </a:bodyPr>
          <a:lstStyle>
            <a:lvl1pPr marL="0" indent="0" algn="r">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p>
        </p:txBody>
      </p:sp>
      <p:sp>
        <p:nvSpPr>
          <p:cNvPr id="13" name="文本占位符 13"/>
          <p:cNvSpPr>
            <a:spLocks noGrp="1"/>
          </p:cNvSpPr>
          <p:nvPr userDrawn="1">
            <p:ph type="body" sz="quarter" idx="11" hasCustomPrompt="1"/>
          </p:nvPr>
        </p:nvSpPr>
        <p:spPr>
          <a:xfrm>
            <a:off x="669925" y="5602927"/>
            <a:ext cx="10850563" cy="296271"/>
          </a:xfrm>
        </p:spPr>
        <p:txBody>
          <a:bodyPr vert="horz" anchor="ctr">
            <a:noAutofit/>
          </a:bodyPr>
          <a:lstStyle>
            <a:lvl1pPr marL="0" indent="0" algn="r">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Date</a:t>
            </a:r>
            <a:endParaRPr lang="zh-CN" altLang="en-US" dirty="0"/>
          </a:p>
        </p:txBody>
      </p:sp>
      <p:sp>
        <p:nvSpPr>
          <p:cNvPr id="9801" name="副标题 2"/>
          <p:cNvSpPr>
            <a:spLocks noGrp="1"/>
          </p:cNvSpPr>
          <p:nvPr userDrawn="1">
            <p:ph type="subTitle" idx="1"/>
          </p:nvPr>
        </p:nvSpPr>
        <p:spPr>
          <a:xfrm>
            <a:off x="669925" y="4456729"/>
            <a:ext cx="10850563" cy="558799"/>
          </a:xfrm>
        </p:spPr>
        <p:txBody>
          <a:bodyPr anchor="t" anchorCtr="0">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9802" name="标题 1"/>
          <p:cNvSpPr>
            <a:spLocks noGrp="1"/>
          </p:cNvSpPr>
          <p:nvPr userDrawn="1">
            <p:ph type="ctrTitle"/>
          </p:nvPr>
        </p:nvSpPr>
        <p:spPr>
          <a:xfrm>
            <a:off x="669925" y="1028701"/>
            <a:ext cx="10850563" cy="3136900"/>
          </a:xfrm>
        </p:spPr>
        <p:txBody>
          <a:bodyPr anchor="b" anchorCtr="0">
            <a:normAutofit/>
          </a:bodyPr>
          <a:lstStyle>
            <a:lvl1pPr algn="l">
              <a:defRPr sz="4000">
                <a:solidFill>
                  <a:schemeClr val="bg1"/>
                </a:solidFill>
              </a:defRPr>
            </a:lvl1pPr>
          </a:lstStyle>
          <a:p>
            <a:r>
              <a:rPr lang="en-US" dirty="0"/>
              <a:t>Click to edit Master title style</a:t>
            </a:r>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userDrawn="1">
  <p:cSld name="节标题">
    <p:spTree>
      <p:nvGrpSpPr>
        <p:cNvPr id="1" name=""/>
        <p:cNvGrpSpPr/>
        <p:nvPr/>
      </p:nvGrpSpPr>
      <p:grpSpPr>
        <a:xfrm>
          <a:off x="0" y="0"/>
          <a:ext cx="0" cy="0"/>
          <a:chOff x="0" y="0"/>
          <a:chExt cx="0" cy="0"/>
        </a:xfrm>
      </p:grpSpPr>
      <p:sp>
        <p:nvSpPr>
          <p:cNvPr id="7" name="Freeform 22_1"/>
          <p:cNvSpPr>
            <a:spLocks noChangeArrowheads="1"/>
          </p:cNvSpPr>
          <p:nvPr userDrawn="1"/>
        </p:nvSpPr>
        <p:spPr bwMode="auto">
          <a:xfrm>
            <a:off x="190500" y="3192312"/>
            <a:ext cx="12192000" cy="3429000"/>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blipFill dpi="0" rotWithShape="1">
            <a:blip r:embed="rId2">
              <a:alphaModFix amt="60000"/>
            </a:blip>
            <a:srcRect/>
            <a:stretch>
              <a:fillRect t="-93255" b="-31457"/>
            </a:stretch>
          </a:blipFill>
          <a:ln>
            <a:noFill/>
          </a:ln>
        </p:spPr>
        <p:txBody>
          <a:bodyPr vert="horz" wrap="square" lIns="91440" tIns="45720" rIns="91440" bIns="45720" numCol="1" anchor="t" anchorCtr="0" compatLnSpc="1">
            <a:noAutofit/>
          </a:bodyPr>
          <a:lstStyle/>
          <a:p>
            <a:endParaRPr lang="zh-CN" altLang="en-US" dirty="0"/>
          </a:p>
        </p:txBody>
      </p:sp>
      <p:sp>
        <p:nvSpPr>
          <p:cNvPr id="20" name="标题 1"/>
          <p:cNvSpPr>
            <a:spLocks noGrp="1"/>
          </p:cNvSpPr>
          <p:nvPr userDrawn="1">
            <p:ph type="title"/>
          </p:nvPr>
        </p:nvSpPr>
        <p:spPr>
          <a:xfrm>
            <a:off x="2488168" y="2033814"/>
            <a:ext cx="5419185" cy="895350"/>
          </a:xfrm>
        </p:spPr>
        <p:txBody>
          <a:bodyPr anchor="b">
            <a:normAutofit/>
          </a:bodyPr>
          <a:lstStyle>
            <a:lvl1pPr algn="l">
              <a:defRPr sz="2400" b="1">
                <a:solidFill>
                  <a:schemeClr val="accent3"/>
                </a:solidFill>
              </a:defRPr>
            </a:lvl1pPr>
          </a:lstStyle>
          <a:p>
            <a:r>
              <a:rPr lang="en-US" dirty="0"/>
              <a:t>Click to edit Master title style</a:t>
            </a:r>
            <a:endParaRPr lang="zh-CN" altLang="en-US" dirty="0"/>
          </a:p>
        </p:txBody>
      </p:sp>
      <p:sp>
        <p:nvSpPr>
          <p:cNvPr id="21" name="文本占位符 2"/>
          <p:cNvSpPr>
            <a:spLocks noGrp="1"/>
          </p:cNvSpPr>
          <p:nvPr userDrawn="1">
            <p:ph type="body" idx="1"/>
          </p:nvPr>
        </p:nvSpPr>
        <p:spPr>
          <a:xfrm>
            <a:off x="2489284" y="2929164"/>
            <a:ext cx="5419185" cy="1015623"/>
          </a:xfrm>
        </p:spPr>
        <p:txBody>
          <a:bodyPr anchor="t">
            <a:normAutofit/>
          </a:bodyPr>
          <a:lstStyle>
            <a:lvl1pPr marL="0" indent="0" algn="l">
              <a:lnSpc>
                <a:spcPct val="100000"/>
              </a:lnSpc>
              <a:buNone/>
              <a:defRPr sz="1100">
                <a:solidFill>
                  <a:schemeClr val="accent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7" name="任意多边形: 形状 6"/>
          <p:cNvSpPr/>
          <p:nvPr userDrawn="1"/>
        </p:nvSpPr>
        <p:spPr>
          <a:xfrm>
            <a:off x="-9525" y="-9525"/>
            <a:ext cx="12220575" cy="942975"/>
          </a:xfrm>
          <a:custGeom>
            <a:avLst/>
            <a:gdLst>
              <a:gd name="connsiteX0" fmla="*/ 0 w 12220575"/>
              <a:gd name="connsiteY0" fmla="*/ 0 h 942975"/>
              <a:gd name="connsiteX1" fmla="*/ 9525 w 12220575"/>
              <a:gd name="connsiteY1" fmla="*/ 647700 h 942975"/>
              <a:gd name="connsiteX2" fmla="*/ 2686050 w 12220575"/>
              <a:gd name="connsiteY2" fmla="*/ 942975 h 942975"/>
              <a:gd name="connsiteX3" fmla="*/ 5124450 w 12220575"/>
              <a:gd name="connsiteY3" fmla="*/ 923925 h 942975"/>
              <a:gd name="connsiteX4" fmla="*/ 7277100 w 12220575"/>
              <a:gd name="connsiteY4" fmla="*/ 809625 h 942975"/>
              <a:gd name="connsiteX5" fmla="*/ 9296400 w 12220575"/>
              <a:gd name="connsiteY5" fmla="*/ 466725 h 942975"/>
              <a:gd name="connsiteX6" fmla="*/ 11325225 w 12220575"/>
              <a:gd name="connsiteY6" fmla="*/ 314325 h 942975"/>
              <a:gd name="connsiteX7" fmla="*/ 12220575 w 12220575"/>
              <a:gd name="connsiteY7" fmla="*/ 352425 h 942975"/>
              <a:gd name="connsiteX8" fmla="*/ 12182475 w 12220575"/>
              <a:gd name="connsiteY8" fmla="*/ 9525 h 942975"/>
              <a:gd name="connsiteX9" fmla="*/ 0 w 12220575"/>
              <a:gd name="connsiteY9" fmla="*/ 0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20575" h="942975">
                <a:moveTo>
                  <a:pt x="0" y="0"/>
                </a:moveTo>
                <a:lnTo>
                  <a:pt x="9525" y="647700"/>
                </a:lnTo>
                <a:lnTo>
                  <a:pt x="2686050" y="942975"/>
                </a:lnTo>
                <a:lnTo>
                  <a:pt x="5124450" y="923925"/>
                </a:lnTo>
                <a:lnTo>
                  <a:pt x="7277100" y="809625"/>
                </a:lnTo>
                <a:lnTo>
                  <a:pt x="9296400" y="466725"/>
                </a:lnTo>
                <a:lnTo>
                  <a:pt x="11325225" y="314325"/>
                </a:lnTo>
                <a:lnTo>
                  <a:pt x="12220575" y="352425"/>
                </a:lnTo>
                <a:lnTo>
                  <a:pt x="12182475" y="9525"/>
                </a:lnTo>
                <a:lnTo>
                  <a:pt x="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形状 9"/>
          <p:cNvSpPr/>
          <p:nvPr userDrawn="1"/>
        </p:nvSpPr>
        <p:spPr bwMode="auto">
          <a:xfrm flipH="1" flipV="1">
            <a:off x="-1219199" y="239311"/>
            <a:ext cx="13411199" cy="801180"/>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FF00"/>
              </a:gs>
              <a:gs pos="11000">
                <a:srgbClr val="FFC000"/>
              </a:gs>
            </a:gsLst>
            <a:lin ang="4800000" scaled="0"/>
            <a:tileRect/>
          </a:gradFill>
          <a:ln>
            <a:noFill/>
          </a:ln>
        </p:spPr>
        <p:txBody>
          <a:bodyPr vert="horz" wrap="square" lIns="91440" tIns="45720" rIns="91440" bIns="45720" numCol="1" anchor="t" anchorCtr="0" compatLnSpc="1">
            <a:noAutofit/>
          </a:bodyPr>
          <a:lstStyle/>
          <a:p>
            <a:endParaRPr lang="zh-CN" altLang="en-US" dirty="0">
              <a:gradFill>
                <a:gsLst>
                  <a:gs pos="100000">
                    <a:schemeClr val="accent3"/>
                  </a:gs>
                  <a:gs pos="0">
                    <a:schemeClr val="accent4"/>
                  </a:gs>
                </a:gsLst>
                <a:lin ang="13500000" scaled="1"/>
              </a:gradFill>
            </a:endParaRPr>
          </a:p>
        </p:txBody>
      </p:sp>
      <p:sp>
        <p:nvSpPr>
          <p:cNvPr id="11" name="任意多边形: 形状 10"/>
          <p:cNvSpPr/>
          <p:nvPr userDrawn="1"/>
        </p:nvSpPr>
        <p:spPr>
          <a:xfrm rot="10800000">
            <a:off x="-28575" y="6321199"/>
            <a:ext cx="12220575" cy="942975"/>
          </a:xfrm>
          <a:custGeom>
            <a:avLst/>
            <a:gdLst>
              <a:gd name="connsiteX0" fmla="*/ 0 w 12220575"/>
              <a:gd name="connsiteY0" fmla="*/ 0 h 942975"/>
              <a:gd name="connsiteX1" fmla="*/ 9525 w 12220575"/>
              <a:gd name="connsiteY1" fmla="*/ 647700 h 942975"/>
              <a:gd name="connsiteX2" fmla="*/ 2686050 w 12220575"/>
              <a:gd name="connsiteY2" fmla="*/ 942975 h 942975"/>
              <a:gd name="connsiteX3" fmla="*/ 5124450 w 12220575"/>
              <a:gd name="connsiteY3" fmla="*/ 923925 h 942975"/>
              <a:gd name="connsiteX4" fmla="*/ 7277100 w 12220575"/>
              <a:gd name="connsiteY4" fmla="*/ 809625 h 942975"/>
              <a:gd name="connsiteX5" fmla="*/ 9296400 w 12220575"/>
              <a:gd name="connsiteY5" fmla="*/ 466725 h 942975"/>
              <a:gd name="connsiteX6" fmla="*/ 11325225 w 12220575"/>
              <a:gd name="connsiteY6" fmla="*/ 314325 h 942975"/>
              <a:gd name="connsiteX7" fmla="*/ 12220575 w 12220575"/>
              <a:gd name="connsiteY7" fmla="*/ 352425 h 942975"/>
              <a:gd name="connsiteX8" fmla="*/ 12182475 w 12220575"/>
              <a:gd name="connsiteY8" fmla="*/ 9525 h 942975"/>
              <a:gd name="connsiteX9" fmla="*/ 0 w 12220575"/>
              <a:gd name="connsiteY9" fmla="*/ 0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20575" h="942975">
                <a:moveTo>
                  <a:pt x="0" y="0"/>
                </a:moveTo>
                <a:lnTo>
                  <a:pt x="9525" y="647700"/>
                </a:lnTo>
                <a:lnTo>
                  <a:pt x="2686050" y="942975"/>
                </a:lnTo>
                <a:lnTo>
                  <a:pt x="5124450" y="923925"/>
                </a:lnTo>
                <a:lnTo>
                  <a:pt x="7277100" y="809625"/>
                </a:lnTo>
                <a:lnTo>
                  <a:pt x="9296400" y="466725"/>
                </a:lnTo>
                <a:lnTo>
                  <a:pt x="11325225" y="314325"/>
                </a:lnTo>
                <a:lnTo>
                  <a:pt x="12220575" y="352425"/>
                </a:lnTo>
                <a:lnTo>
                  <a:pt x="12182475" y="9525"/>
                </a:lnTo>
                <a:lnTo>
                  <a:pt x="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任意多边形: 形状 11"/>
          <p:cNvSpPr/>
          <p:nvPr userDrawn="1"/>
        </p:nvSpPr>
        <p:spPr bwMode="auto">
          <a:xfrm>
            <a:off x="-9525" y="6230938"/>
            <a:ext cx="12201525" cy="801179"/>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FF00"/>
              </a:gs>
              <a:gs pos="11000">
                <a:srgbClr val="FFC0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sp>
        <p:nvSpPr>
          <p:cNvPr id="2" name="文本框 1"/>
          <p:cNvSpPr txBox="1"/>
          <p:nvPr userDrawn="1"/>
        </p:nvSpPr>
        <p:spPr>
          <a:xfrm>
            <a:off x="11520488" y="6486465"/>
            <a:ext cx="671512" cy="400110"/>
          </a:xfrm>
          <a:prstGeom prst="rect">
            <a:avLst/>
          </a:prstGeom>
          <a:noFill/>
        </p:spPr>
        <p:txBody>
          <a:bodyPr wrap="square" rtlCol="0">
            <a:spAutoFit/>
          </a:bodyPr>
          <a:lstStyle/>
          <a:p>
            <a:pPr algn="ctr"/>
            <a:fld id="{379552D3-A968-4710-B841-1063F5B640DF}" type="slidenum">
              <a:rPr lang="zh-CN" altLang="en-US" sz="2000" b="1" smtClean="0">
                <a:solidFill>
                  <a:schemeClr val="accent2">
                    <a:lumMod val="50000"/>
                  </a:schemeClr>
                </a:solidFill>
              </a:rPr>
              <a:t>‹#›</a:t>
            </a:fld>
            <a:endParaRPr lang="zh-CN" altLang="en-US" b="1" dirty="0">
              <a:solidFill>
                <a:schemeClr val="accent2">
                  <a:lumMod val="50000"/>
                </a:schemeClr>
              </a:solidFill>
            </a:endParaRPr>
          </a:p>
        </p:txBody>
      </p:sp>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134410" y="24187"/>
            <a:ext cx="527050" cy="52705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ltLang="zh-CN" dirty="0"/>
              <a:t>Click to edit Master title style</a:t>
            </a:r>
            <a:endParaRPr lang="en-US" dirty="0"/>
          </a:p>
        </p:txBody>
      </p:sp>
      <p:sp>
        <p:nvSpPr>
          <p:cNvPr id="3" name="Date Placeholder 2"/>
          <p:cNvSpPr>
            <a:spLocks noGrp="1"/>
          </p:cNvSpPr>
          <p:nvPr>
            <p:ph type="dt" sz="half" idx="10"/>
          </p:nvPr>
        </p:nvSpPr>
        <p:spPr/>
        <p:txBody>
          <a:bodyPr/>
          <a:lstStyle/>
          <a:p>
            <a:fld id="{E6F26766-F62E-419D-BB7F-91C9CEBCA24E}" type="datetime1">
              <a:rPr lang="zh-CN" altLang="en-US" smtClean="0"/>
              <a:t>2024/12/1</a:t>
            </a:fld>
            <a:endParaRPr lang="zh-CN" altLang="en-US"/>
          </a:p>
        </p:txBody>
      </p:sp>
      <p:sp>
        <p:nvSpPr>
          <p:cNvPr id="4" name="Footer Placeholder 3"/>
          <p:cNvSpPr>
            <a:spLocks noGrp="1"/>
          </p:cNvSpPr>
          <p:nvPr>
            <p:ph type="ftr" sz="quarter" idx="11"/>
          </p:nvPr>
        </p:nvSpPr>
        <p:spPr/>
        <p:txBody>
          <a:bodyPr/>
          <a:lstStyle/>
          <a:p>
            <a:r>
              <a:rPr lang="zh-CN" altLang="en-US"/>
              <a:t>请在插入菜单</a:t>
            </a:r>
            <a:r>
              <a:rPr lang="en-US" altLang="zh-CN"/>
              <a:t>—</a:t>
            </a:r>
            <a:r>
              <a:rPr lang="zh-CN" altLang="en-US"/>
              <a:t>页眉和页脚中修改此文本</a:t>
            </a:r>
            <a:endParaRPr lang="zh-CN" altLang="en-US" dirty="0"/>
          </a:p>
        </p:txBody>
      </p:sp>
      <p:sp>
        <p:nvSpPr>
          <p:cNvPr id="5" name="Slide Number Placeholder 4"/>
          <p:cNvSpPr>
            <a:spLocks noGrp="1"/>
          </p:cNvSpPr>
          <p:nvPr>
            <p:ph type="sldNum" sz="quarter" idx="12"/>
          </p:nvPr>
        </p:nvSpPr>
        <p:spPr/>
        <p:txBody>
          <a:bodyPr/>
          <a:lstStyle/>
          <a:p>
            <a:fld id="{5DD3DB80-B894-403A-B48E-6FDC1A72010E}"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末尾幻灯片">
    <p:bg>
      <p:bgPr>
        <a:solidFill>
          <a:schemeClr val="accent3"/>
        </a:solidFill>
        <a:effectLst/>
      </p:bgPr>
    </p:bg>
    <p:spTree>
      <p:nvGrpSpPr>
        <p:cNvPr id="1" name=""/>
        <p:cNvGrpSpPr/>
        <p:nvPr/>
      </p:nvGrpSpPr>
      <p:grpSpPr>
        <a:xfrm>
          <a:off x="0" y="0"/>
          <a:ext cx="0" cy="0"/>
          <a:chOff x="0" y="0"/>
          <a:chExt cx="0" cy="0"/>
        </a:xfrm>
      </p:grpSpPr>
      <p:sp>
        <p:nvSpPr>
          <p:cNvPr id="5" name="Freeform 22_1"/>
          <p:cNvSpPr>
            <a:spLocks noChangeArrowheads="1"/>
          </p:cNvSpPr>
          <p:nvPr userDrawn="1"/>
        </p:nvSpPr>
        <p:spPr bwMode="auto">
          <a:xfrm>
            <a:off x="0"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blipFill>
            <a:blip r:embed="rId2">
              <a:duotone>
                <a:schemeClr val="accent2">
                  <a:shade val="45000"/>
                  <a:satMod val="135000"/>
                </a:schemeClr>
                <a:prstClr val="white"/>
              </a:duotone>
            </a:blip>
            <a:srcRect/>
            <a:stretch>
              <a:fillRect t="-28757" b="-15909"/>
            </a:stretch>
          </a:blipFill>
          <a:ln>
            <a:noFill/>
          </a:ln>
        </p:spPr>
        <p:txBody>
          <a:bodyPr vert="horz" wrap="square" lIns="91440" tIns="45720" rIns="91440" bIns="45720" numCol="1" anchor="t" anchorCtr="0" compatLnSpc="1">
            <a:noAutofit/>
          </a:bodyPr>
          <a:lstStyle/>
          <a:p>
            <a:endParaRPr lang="zh-CN" altLang="en-US"/>
          </a:p>
        </p:txBody>
      </p:sp>
      <p:sp>
        <p:nvSpPr>
          <p:cNvPr id="10" name="任意多边形: 形状 9"/>
          <p:cNvSpPr>
            <a:spLocks noChangeArrowheads="1"/>
          </p:cNvSpPr>
          <p:nvPr userDrawn="1"/>
        </p:nvSpPr>
        <p:spPr bwMode="auto">
          <a:xfrm>
            <a:off x="-794"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solidFill>
            <a:srgbClr val="FFC000">
              <a:alpha val="20000"/>
            </a:srgbClr>
          </a:solidFill>
          <a:ln>
            <a:noFill/>
          </a:ln>
        </p:spPr>
        <p:txBody>
          <a:bodyPr vert="horz" wrap="square" lIns="91440" tIns="45720" rIns="91440" bIns="45720" numCol="1" anchor="t" anchorCtr="0" compatLnSpc="1">
            <a:noAutofit/>
          </a:bodyPr>
          <a:lstStyle/>
          <a:p>
            <a:endParaRPr lang="zh-CN" altLang="en-US"/>
          </a:p>
        </p:txBody>
      </p:sp>
      <p:sp>
        <p:nvSpPr>
          <p:cNvPr id="13" name="标题 1"/>
          <p:cNvSpPr>
            <a:spLocks noGrp="1"/>
          </p:cNvSpPr>
          <p:nvPr userDrawn="1">
            <p:ph type="ctrTitle" hasCustomPrompt="1"/>
          </p:nvPr>
        </p:nvSpPr>
        <p:spPr>
          <a:xfrm>
            <a:off x="4034971" y="2163199"/>
            <a:ext cx="6536871" cy="2390427"/>
          </a:xfrm>
        </p:spPr>
        <p:txBody>
          <a:bodyPr anchor="b">
            <a:normAutofit/>
          </a:bodyPr>
          <a:lstStyle>
            <a:lvl1pPr marL="0" indent="0" algn="ctr">
              <a:buFont typeface="Arial" panose="020B0604020202020204" pitchFamily="34" charset="0"/>
              <a:buNone/>
              <a:defRPr sz="3200">
                <a:solidFill>
                  <a:schemeClr val="bg1"/>
                </a:solidFill>
              </a:defRPr>
            </a:lvl1pPr>
          </a:lstStyle>
          <a:p>
            <a:r>
              <a:rPr lang="en-US" altLang="zh-CN" dirty="0"/>
              <a:t>Conclusion</a:t>
            </a:r>
            <a:endParaRPr lang="zh-CN" altLang="en-US" dirty="0"/>
          </a:p>
        </p:txBody>
      </p:sp>
      <p:sp>
        <p:nvSpPr>
          <p:cNvPr id="15" name="文本占位符 62"/>
          <p:cNvSpPr>
            <a:spLocks noGrp="1"/>
          </p:cNvSpPr>
          <p:nvPr userDrawn="1">
            <p:ph type="body" sz="quarter" idx="18" hasCustomPrompt="1"/>
          </p:nvPr>
        </p:nvSpPr>
        <p:spPr>
          <a:xfrm>
            <a:off x="4034971" y="5238353"/>
            <a:ext cx="6536871" cy="310871"/>
          </a:xfrm>
        </p:spPr>
        <p:txBody>
          <a:bodyPr vert="horz" lIns="91440" tIns="45720" rIns="91440" bIns="45720" rtlCol="0">
            <a:normAutofit/>
          </a:bodyPr>
          <a:lstStyle>
            <a:lvl1pPr marL="0" indent="0" algn="ctr">
              <a:buNone/>
              <a:defRPr lang="zh-CN" altLang="en-US" sz="1500" smtClean="0">
                <a:solidFill>
                  <a:schemeClr val="bg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marL="228600" marR="0" lvl="0" indent="-228600" fontAlgn="auto">
              <a:spcAft>
                <a:spcPts val="0"/>
              </a:spcAft>
              <a:buClrTx/>
              <a:buSzTx/>
            </a:pPr>
            <a:r>
              <a:rPr lang="en-US" altLang="zh-CN" dirty="0"/>
              <a:t>Data</a:t>
            </a:r>
          </a:p>
        </p:txBody>
      </p:sp>
      <p:sp>
        <p:nvSpPr>
          <p:cNvPr id="6" name="文本占位符 13"/>
          <p:cNvSpPr>
            <a:spLocks noGrp="1"/>
          </p:cNvSpPr>
          <p:nvPr>
            <p:ph type="body" sz="quarter" idx="10" hasCustomPrompt="1"/>
          </p:nvPr>
        </p:nvSpPr>
        <p:spPr>
          <a:xfrm>
            <a:off x="4034973" y="4942082"/>
            <a:ext cx="6536871" cy="296271"/>
          </a:xfrm>
        </p:spPr>
        <p:txBody>
          <a:bodyPr vert="horz" anchor="ctr">
            <a:noAutofit/>
          </a:bodyPr>
          <a:lstStyle>
            <a:lvl1pPr marL="0" indent="0" algn="ctr">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p>
        </p:txBody>
      </p:sp>
      <p:sp>
        <p:nvSpPr>
          <p:cNvPr id="11" name="任意多边形: 形状 10"/>
          <p:cNvSpPr/>
          <p:nvPr userDrawn="1"/>
        </p:nvSpPr>
        <p:spPr bwMode="auto">
          <a:xfrm>
            <a:off x="0" y="543509"/>
            <a:ext cx="12192000" cy="6167761"/>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C000"/>
              </a:gs>
              <a:gs pos="11000">
                <a:schemeClr val="accent1"/>
              </a:gs>
            </a:gsLst>
            <a:lin ang="4800000" scaled="0"/>
            <a:tileRect/>
          </a:gradFill>
          <a:ln>
            <a:noFill/>
          </a:ln>
        </p:spPr>
        <p:txBody>
          <a:bodyPr vert="horz" wrap="square" lIns="91440" tIns="45720" rIns="91440" bIns="45720" numCol="1" anchor="t" anchorCtr="0" compatLnSpc="1">
            <a:noAutofit/>
          </a:bodyPr>
          <a:lstStyle/>
          <a:p>
            <a:endParaRPr lang="zh-CN" altLang="en-US" dirty="0">
              <a:gradFill>
                <a:gsLst>
                  <a:gs pos="100000">
                    <a:schemeClr val="accent3"/>
                  </a:gs>
                  <a:gs pos="0">
                    <a:schemeClr val="accent4"/>
                  </a:gs>
                </a:gsLst>
                <a:lin ang="13500000" scaled="1"/>
              </a:gradFill>
            </a:endParaRPr>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9924" y="1"/>
            <a:ext cx="10850563" cy="1028699"/>
          </a:xfrm>
          <a:prstGeom prst="rect">
            <a:avLst/>
          </a:prstGeom>
        </p:spPr>
        <p:txBody>
          <a:bodyPr vert="horz" lIns="91440" tIns="45720" rIns="91440" bIns="45720" rtlCol="0" anchor="b">
            <a:normAutofit/>
          </a:bodyPr>
          <a:lstStyle/>
          <a:p>
            <a:r>
              <a:rPr lang="en-US" altLang="zh-CN" dirty="0"/>
              <a:t>Click to edit Master title style</a:t>
            </a:r>
            <a:endParaRPr lang="zh-CN" altLang="en-US" dirty="0"/>
          </a:p>
        </p:txBody>
      </p:sp>
      <p:sp>
        <p:nvSpPr>
          <p:cNvPr id="3" name="文本占位符 2"/>
          <p:cNvSpPr>
            <a:spLocks noGrp="1"/>
          </p:cNvSpPr>
          <p:nvPr>
            <p:ph type="body" idx="1"/>
          </p:nvPr>
        </p:nvSpPr>
        <p:spPr>
          <a:xfrm>
            <a:off x="669924" y="1123950"/>
            <a:ext cx="10850563" cy="5019675"/>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zh-CN" altLang="en-US" dirty="0"/>
          </a:p>
        </p:txBody>
      </p:sp>
      <p:sp>
        <p:nvSpPr>
          <p:cNvPr id="8" name="日期占位符 3"/>
          <p:cNvSpPr>
            <a:spLocks noGrp="1"/>
          </p:cNvSpPr>
          <p:nvPr>
            <p:ph type="dt" sz="half" idx="2"/>
          </p:nvPr>
        </p:nvSpPr>
        <p:spPr>
          <a:xfrm>
            <a:off x="5401732" y="6240463"/>
            <a:ext cx="1388536" cy="206381"/>
          </a:xfrm>
          <a:prstGeom prst="rect">
            <a:avLst/>
          </a:prstGeom>
        </p:spPr>
        <p:txBody>
          <a:bodyPr vert="horz" lIns="91440" tIns="45720" rIns="91440" bIns="45720" rtlCol="0" anchor="ctr"/>
          <a:lstStyle>
            <a:lvl1pPr algn="ctr">
              <a:defRPr sz="1000">
                <a:solidFill>
                  <a:schemeClr val="tx1">
                    <a:lumMod val="50000"/>
                    <a:lumOff val="50000"/>
                  </a:schemeClr>
                </a:solidFill>
              </a:defRPr>
            </a:lvl1pPr>
          </a:lstStyle>
          <a:p>
            <a:fld id="{67FE44A0-2E53-457E-9AC0-11D6EE9FA3B5}" type="datetime1">
              <a:rPr lang="zh-CN" altLang="en-US" smtClean="0"/>
              <a:t>2024/12/1</a:t>
            </a:fld>
            <a:endParaRPr lang="zh-CN" altLang="en-US"/>
          </a:p>
        </p:txBody>
      </p:sp>
      <p:sp>
        <p:nvSpPr>
          <p:cNvPr id="9" name="页脚占位符 4"/>
          <p:cNvSpPr>
            <a:spLocks noGrp="1"/>
          </p:cNvSpPr>
          <p:nvPr>
            <p:ph type="ftr" sz="quarter" idx="3"/>
          </p:nvPr>
        </p:nvSpPr>
        <p:spPr>
          <a:xfrm>
            <a:off x="669924" y="6240463"/>
            <a:ext cx="4140201" cy="206381"/>
          </a:xfrm>
          <a:prstGeom prst="rect">
            <a:avLst/>
          </a:prstGeom>
        </p:spPr>
        <p:txBody>
          <a:bodyPr vert="horz" lIns="91440" tIns="45720" rIns="91440" bIns="45720" rtlCol="0" anchor="ctr"/>
          <a:lstStyle>
            <a:lvl1pPr algn="l">
              <a:defRPr sz="1000">
                <a:solidFill>
                  <a:schemeClr val="tx1">
                    <a:lumMod val="50000"/>
                    <a:lumOff val="50000"/>
                  </a:schemeClr>
                </a:solidFill>
              </a:defRPr>
            </a:lvl1pPr>
          </a:lstStyle>
          <a:p>
            <a:r>
              <a:rPr lang="zh-CN" altLang="en-US"/>
              <a:t>请在插入菜单</a:t>
            </a:r>
            <a:r>
              <a:rPr lang="en-US" altLang="zh-CN"/>
              <a:t>—</a:t>
            </a:r>
            <a:r>
              <a:rPr lang="zh-CN" altLang="en-US"/>
              <a:t>页眉和页脚中修改此文本</a:t>
            </a:r>
            <a:endParaRPr lang="zh-CN" altLang="en-US" dirty="0"/>
          </a:p>
        </p:txBody>
      </p:sp>
      <p:sp>
        <p:nvSpPr>
          <p:cNvPr id="10" name="灯片编号占位符 5"/>
          <p:cNvSpPr>
            <a:spLocks noGrp="1"/>
          </p:cNvSpPr>
          <p:nvPr>
            <p:ph type="sldNum" sz="quarter" idx="4"/>
          </p:nvPr>
        </p:nvSpPr>
        <p:spPr>
          <a:xfrm>
            <a:off x="8610599" y="6240463"/>
            <a:ext cx="2909888" cy="206381"/>
          </a:xfrm>
          <a:prstGeom prst="rect">
            <a:avLst/>
          </a:prstGeom>
        </p:spPr>
        <p:txBody>
          <a:bodyPr vert="horz" lIns="91440" tIns="45720" rIns="91440" bIns="45720" rtlCol="0" anchor="ctr"/>
          <a:lstStyle>
            <a:lvl1pPr algn="r">
              <a:defRPr sz="1000">
                <a:solidFill>
                  <a:schemeClr val="tx1">
                    <a:lumMod val="50000"/>
                    <a:lumOff val="50000"/>
                  </a:schemeClr>
                </a:solidFill>
              </a:defRPr>
            </a:lvl1pPr>
          </a:lstStyle>
          <a:p>
            <a:fld id="{5DD3DB80-B894-403A-B48E-6FDC1A72010E}"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xml"/><Relationship Id="rId1" Type="http://schemas.openxmlformats.org/officeDocument/2006/relationships/tags" Target="../tags/tag2.xml"/><Relationship Id="rId5" Type="http://schemas.openxmlformats.org/officeDocument/2006/relationships/image" Target="../media/image3.emf"/><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4.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3.xml"/><Relationship Id="rId1" Type="http://schemas.openxmlformats.org/officeDocument/2006/relationships/tags" Target="../tags/tag5.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Layout" Target="../slideLayouts/slideLayout3.xml"/><Relationship Id="rId1" Type="http://schemas.openxmlformats.org/officeDocument/2006/relationships/tags" Target="../tags/tag6.xml"/></Relationships>
</file>

<file path=ppt/slides/_rels/slide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slideLayout" Target="../slideLayouts/slideLayout3.xml"/><Relationship Id="rId1" Type="http://schemas.openxmlformats.org/officeDocument/2006/relationships/tags" Target="../tags/tag7.xml"/><Relationship Id="rId5" Type="http://schemas.openxmlformats.org/officeDocument/2006/relationships/image" Target="../media/image11.jpeg"/><Relationship Id="rId4" Type="http://schemas.openxmlformats.org/officeDocument/2006/relationships/image" Target="../media/image10.jpeg"/></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Layout" Target="../slideLayouts/slideLayout3.xml"/><Relationship Id="rId1" Type="http://schemas.openxmlformats.org/officeDocument/2006/relationships/tags" Target="../tags/tag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9525" imgH="9525" progId="TCLayout.ActiveDocument.1">
                  <p:embed/>
                </p:oleObj>
              </mc:Choice>
              <mc:Fallback>
                <p:oleObj name="think-cell Slide" r:id="rId4" imgW="9525" imgH="9525" progId="TCLayout.ActiveDocument.1">
                  <p:embed/>
                  <p:pic>
                    <p:nvPicPr>
                      <p:cNvPr id="0" name="图片 1044"/>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矩形 1" hidden="1"/>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altLang="zh-CN" sz="4000" b="1"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4" name="标题 3"/>
          <p:cNvSpPr>
            <a:spLocks noGrp="1"/>
          </p:cNvSpPr>
          <p:nvPr>
            <p:ph type="ctrTitle"/>
          </p:nvPr>
        </p:nvSpPr>
        <p:spPr>
          <a:xfrm>
            <a:off x="669925" y="1319455"/>
            <a:ext cx="10850563" cy="3136900"/>
          </a:xfrm>
        </p:spPr>
        <p:txBody>
          <a:bodyPr>
            <a:normAutofit/>
          </a:bodyPr>
          <a:lstStyle/>
          <a:p>
            <a:r>
              <a:rPr lang="zh-CN" altLang="en-US" sz="4800" dirty="0">
                <a:latin typeface="Times New Roman" panose="02020603050405020304" pitchFamily="18" charset="0"/>
                <a:ea typeface="微软雅黑" panose="020B0503020204020204" pitchFamily="34" charset="-122"/>
                <a:cs typeface="+mn-ea"/>
                <a:sym typeface="Times New Roman" panose="02020603050405020304" pitchFamily="18" charset="0"/>
              </a:rPr>
              <a:t>第</a:t>
            </a:r>
            <a:r>
              <a:rPr lang="en-US" altLang="zh-CN" sz="4800" dirty="0">
                <a:latin typeface="Times New Roman" panose="02020603050405020304" pitchFamily="18" charset="0"/>
                <a:ea typeface="微软雅黑" panose="020B0503020204020204" pitchFamily="34" charset="-122"/>
                <a:cs typeface="+mn-ea"/>
                <a:sym typeface="Times New Roman" panose="02020603050405020304" pitchFamily="18" charset="0"/>
              </a:rPr>
              <a:t>12</a:t>
            </a:r>
            <a:r>
              <a:rPr lang="zh-CN" altLang="en-US" sz="4800" dirty="0">
                <a:latin typeface="Times New Roman" panose="02020603050405020304" pitchFamily="18" charset="0"/>
                <a:ea typeface="微软雅黑" panose="020B0503020204020204" pitchFamily="34" charset="-122"/>
                <a:cs typeface="+mn-ea"/>
                <a:sym typeface="Times New Roman" panose="02020603050405020304" pitchFamily="18" charset="0"/>
              </a:rPr>
              <a:t>章 保护和安全</a:t>
            </a:r>
            <a:endParaRPr lang="zh-CN" altLang="en-US" sz="2000" b="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9" name="任意多边形: 形状 28"/>
          <p:cNvSpPr/>
          <p:nvPr/>
        </p:nvSpPr>
        <p:spPr>
          <a:xfrm>
            <a:off x="10968292" y="649047"/>
            <a:ext cx="552196" cy="3896208"/>
          </a:xfrm>
          <a:custGeom>
            <a:avLst/>
            <a:gdLst>
              <a:gd name="connsiteX0" fmla="*/ 438280 w 513703"/>
              <a:gd name="connsiteY0" fmla="*/ 3473760 h 3624606"/>
              <a:gd name="connsiteX1" fmla="*/ 513703 w 513703"/>
              <a:gd name="connsiteY1" fmla="*/ 3549183 h 3624606"/>
              <a:gd name="connsiteX2" fmla="*/ 438280 w 513703"/>
              <a:gd name="connsiteY2" fmla="*/ 3624606 h 3624606"/>
              <a:gd name="connsiteX3" fmla="*/ 362857 w 513703"/>
              <a:gd name="connsiteY3" fmla="*/ 3549183 h 3624606"/>
              <a:gd name="connsiteX4" fmla="*/ 438280 w 513703"/>
              <a:gd name="connsiteY4" fmla="*/ 3473760 h 3624606"/>
              <a:gd name="connsiteX5" fmla="*/ 75423 w 513703"/>
              <a:gd name="connsiteY5" fmla="*/ 3473760 h 3624606"/>
              <a:gd name="connsiteX6" fmla="*/ 150846 w 513703"/>
              <a:gd name="connsiteY6" fmla="*/ 3549183 h 3624606"/>
              <a:gd name="connsiteX7" fmla="*/ 75423 w 513703"/>
              <a:gd name="connsiteY7" fmla="*/ 3624606 h 3624606"/>
              <a:gd name="connsiteX8" fmla="*/ 0 w 513703"/>
              <a:gd name="connsiteY8" fmla="*/ 3549183 h 3624606"/>
              <a:gd name="connsiteX9" fmla="*/ 75423 w 513703"/>
              <a:gd name="connsiteY9" fmla="*/ 3473760 h 3624606"/>
              <a:gd name="connsiteX10" fmla="*/ 438280 w 513703"/>
              <a:gd name="connsiteY10" fmla="*/ 3126882 h 3624606"/>
              <a:gd name="connsiteX11" fmla="*/ 513703 w 513703"/>
              <a:gd name="connsiteY11" fmla="*/ 3202305 h 3624606"/>
              <a:gd name="connsiteX12" fmla="*/ 438280 w 513703"/>
              <a:gd name="connsiteY12" fmla="*/ 3277728 h 3624606"/>
              <a:gd name="connsiteX13" fmla="*/ 362857 w 513703"/>
              <a:gd name="connsiteY13" fmla="*/ 3202305 h 3624606"/>
              <a:gd name="connsiteX14" fmla="*/ 438280 w 513703"/>
              <a:gd name="connsiteY14" fmla="*/ 3126882 h 3624606"/>
              <a:gd name="connsiteX15" fmla="*/ 75423 w 513703"/>
              <a:gd name="connsiteY15" fmla="*/ 3126882 h 3624606"/>
              <a:gd name="connsiteX16" fmla="*/ 150846 w 513703"/>
              <a:gd name="connsiteY16" fmla="*/ 3202305 h 3624606"/>
              <a:gd name="connsiteX17" fmla="*/ 75423 w 513703"/>
              <a:gd name="connsiteY17" fmla="*/ 3277728 h 3624606"/>
              <a:gd name="connsiteX18" fmla="*/ 0 w 513703"/>
              <a:gd name="connsiteY18" fmla="*/ 3202305 h 3624606"/>
              <a:gd name="connsiteX19" fmla="*/ 75423 w 513703"/>
              <a:gd name="connsiteY19" fmla="*/ 3126882 h 3624606"/>
              <a:gd name="connsiteX20" fmla="*/ 438280 w 513703"/>
              <a:gd name="connsiteY20" fmla="*/ 2780004 h 3624606"/>
              <a:gd name="connsiteX21" fmla="*/ 513703 w 513703"/>
              <a:gd name="connsiteY21" fmla="*/ 2855427 h 3624606"/>
              <a:gd name="connsiteX22" fmla="*/ 438280 w 513703"/>
              <a:gd name="connsiteY22" fmla="*/ 2930850 h 3624606"/>
              <a:gd name="connsiteX23" fmla="*/ 362857 w 513703"/>
              <a:gd name="connsiteY23" fmla="*/ 2855427 h 3624606"/>
              <a:gd name="connsiteX24" fmla="*/ 438280 w 513703"/>
              <a:gd name="connsiteY24" fmla="*/ 2780004 h 3624606"/>
              <a:gd name="connsiteX25" fmla="*/ 75423 w 513703"/>
              <a:gd name="connsiteY25" fmla="*/ 2780004 h 3624606"/>
              <a:gd name="connsiteX26" fmla="*/ 150846 w 513703"/>
              <a:gd name="connsiteY26" fmla="*/ 2855427 h 3624606"/>
              <a:gd name="connsiteX27" fmla="*/ 75423 w 513703"/>
              <a:gd name="connsiteY27" fmla="*/ 2930850 h 3624606"/>
              <a:gd name="connsiteX28" fmla="*/ 0 w 513703"/>
              <a:gd name="connsiteY28" fmla="*/ 2855427 h 3624606"/>
              <a:gd name="connsiteX29" fmla="*/ 75423 w 513703"/>
              <a:gd name="connsiteY29" fmla="*/ 2780004 h 3624606"/>
              <a:gd name="connsiteX30" fmla="*/ 438280 w 513703"/>
              <a:gd name="connsiteY30" fmla="*/ 2433126 h 3624606"/>
              <a:gd name="connsiteX31" fmla="*/ 513703 w 513703"/>
              <a:gd name="connsiteY31" fmla="*/ 2508549 h 3624606"/>
              <a:gd name="connsiteX32" fmla="*/ 438280 w 513703"/>
              <a:gd name="connsiteY32" fmla="*/ 2583972 h 3624606"/>
              <a:gd name="connsiteX33" fmla="*/ 362857 w 513703"/>
              <a:gd name="connsiteY33" fmla="*/ 2508549 h 3624606"/>
              <a:gd name="connsiteX34" fmla="*/ 438280 w 513703"/>
              <a:gd name="connsiteY34" fmla="*/ 2433126 h 3624606"/>
              <a:gd name="connsiteX35" fmla="*/ 75423 w 513703"/>
              <a:gd name="connsiteY35" fmla="*/ 2433126 h 3624606"/>
              <a:gd name="connsiteX36" fmla="*/ 150846 w 513703"/>
              <a:gd name="connsiteY36" fmla="*/ 2508549 h 3624606"/>
              <a:gd name="connsiteX37" fmla="*/ 75423 w 513703"/>
              <a:gd name="connsiteY37" fmla="*/ 2583972 h 3624606"/>
              <a:gd name="connsiteX38" fmla="*/ 0 w 513703"/>
              <a:gd name="connsiteY38" fmla="*/ 2508549 h 3624606"/>
              <a:gd name="connsiteX39" fmla="*/ 75423 w 513703"/>
              <a:gd name="connsiteY39" fmla="*/ 2433126 h 3624606"/>
              <a:gd name="connsiteX40" fmla="*/ 438280 w 513703"/>
              <a:gd name="connsiteY40" fmla="*/ 2086248 h 3624606"/>
              <a:gd name="connsiteX41" fmla="*/ 513703 w 513703"/>
              <a:gd name="connsiteY41" fmla="*/ 2161671 h 3624606"/>
              <a:gd name="connsiteX42" fmla="*/ 438280 w 513703"/>
              <a:gd name="connsiteY42" fmla="*/ 2237094 h 3624606"/>
              <a:gd name="connsiteX43" fmla="*/ 362857 w 513703"/>
              <a:gd name="connsiteY43" fmla="*/ 2161671 h 3624606"/>
              <a:gd name="connsiteX44" fmla="*/ 438280 w 513703"/>
              <a:gd name="connsiteY44" fmla="*/ 2086248 h 3624606"/>
              <a:gd name="connsiteX45" fmla="*/ 75423 w 513703"/>
              <a:gd name="connsiteY45" fmla="*/ 2086248 h 3624606"/>
              <a:gd name="connsiteX46" fmla="*/ 150846 w 513703"/>
              <a:gd name="connsiteY46" fmla="*/ 2161671 h 3624606"/>
              <a:gd name="connsiteX47" fmla="*/ 75423 w 513703"/>
              <a:gd name="connsiteY47" fmla="*/ 2237094 h 3624606"/>
              <a:gd name="connsiteX48" fmla="*/ 0 w 513703"/>
              <a:gd name="connsiteY48" fmla="*/ 2161671 h 3624606"/>
              <a:gd name="connsiteX49" fmla="*/ 75423 w 513703"/>
              <a:gd name="connsiteY49" fmla="*/ 2086248 h 3624606"/>
              <a:gd name="connsiteX50" fmla="*/ 438280 w 513703"/>
              <a:gd name="connsiteY50" fmla="*/ 1734390 h 3624606"/>
              <a:gd name="connsiteX51" fmla="*/ 513703 w 513703"/>
              <a:gd name="connsiteY51" fmla="*/ 1809813 h 3624606"/>
              <a:gd name="connsiteX52" fmla="*/ 513200 w 513703"/>
              <a:gd name="connsiteY52" fmla="*/ 1812303 h 3624606"/>
              <a:gd name="connsiteX53" fmla="*/ 513703 w 513703"/>
              <a:gd name="connsiteY53" fmla="*/ 1814793 h 3624606"/>
              <a:gd name="connsiteX54" fmla="*/ 438280 w 513703"/>
              <a:gd name="connsiteY54" fmla="*/ 1890216 h 3624606"/>
              <a:gd name="connsiteX55" fmla="*/ 362857 w 513703"/>
              <a:gd name="connsiteY55" fmla="*/ 1814793 h 3624606"/>
              <a:gd name="connsiteX56" fmla="*/ 363360 w 513703"/>
              <a:gd name="connsiteY56" fmla="*/ 1812303 h 3624606"/>
              <a:gd name="connsiteX57" fmla="*/ 362857 w 513703"/>
              <a:gd name="connsiteY57" fmla="*/ 1809813 h 3624606"/>
              <a:gd name="connsiteX58" fmla="*/ 438280 w 513703"/>
              <a:gd name="connsiteY58" fmla="*/ 1734390 h 3624606"/>
              <a:gd name="connsiteX59" fmla="*/ 75423 w 513703"/>
              <a:gd name="connsiteY59" fmla="*/ 1734390 h 3624606"/>
              <a:gd name="connsiteX60" fmla="*/ 150846 w 513703"/>
              <a:gd name="connsiteY60" fmla="*/ 1809813 h 3624606"/>
              <a:gd name="connsiteX61" fmla="*/ 150343 w 513703"/>
              <a:gd name="connsiteY61" fmla="*/ 1812303 h 3624606"/>
              <a:gd name="connsiteX62" fmla="*/ 150846 w 513703"/>
              <a:gd name="connsiteY62" fmla="*/ 1814793 h 3624606"/>
              <a:gd name="connsiteX63" fmla="*/ 75423 w 513703"/>
              <a:gd name="connsiteY63" fmla="*/ 1890216 h 3624606"/>
              <a:gd name="connsiteX64" fmla="*/ 0 w 513703"/>
              <a:gd name="connsiteY64" fmla="*/ 1814793 h 3624606"/>
              <a:gd name="connsiteX65" fmla="*/ 503 w 513703"/>
              <a:gd name="connsiteY65" fmla="*/ 1812303 h 3624606"/>
              <a:gd name="connsiteX66" fmla="*/ 0 w 513703"/>
              <a:gd name="connsiteY66" fmla="*/ 1809813 h 3624606"/>
              <a:gd name="connsiteX67" fmla="*/ 75423 w 513703"/>
              <a:gd name="connsiteY67" fmla="*/ 1734390 h 3624606"/>
              <a:gd name="connsiteX68" fmla="*/ 438280 w 513703"/>
              <a:gd name="connsiteY68" fmla="*/ 1387512 h 3624606"/>
              <a:gd name="connsiteX69" fmla="*/ 513703 w 513703"/>
              <a:gd name="connsiteY69" fmla="*/ 1462935 h 3624606"/>
              <a:gd name="connsiteX70" fmla="*/ 438280 w 513703"/>
              <a:gd name="connsiteY70" fmla="*/ 1538358 h 3624606"/>
              <a:gd name="connsiteX71" fmla="*/ 362857 w 513703"/>
              <a:gd name="connsiteY71" fmla="*/ 1462935 h 3624606"/>
              <a:gd name="connsiteX72" fmla="*/ 438280 w 513703"/>
              <a:gd name="connsiteY72" fmla="*/ 1387512 h 3624606"/>
              <a:gd name="connsiteX73" fmla="*/ 75423 w 513703"/>
              <a:gd name="connsiteY73" fmla="*/ 1387512 h 3624606"/>
              <a:gd name="connsiteX74" fmla="*/ 150846 w 513703"/>
              <a:gd name="connsiteY74" fmla="*/ 1462935 h 3624606"/>
              <a:gd name="connsiteX75" fmla="*/ 75423 w 513703"/>
              <a:gd name="connsiteY75" fmla="*/ 1538358 h 3624606"/>
              <a:gd name="connsiteX76" fmla="*/ 0 w 513703"/>
              <a:gd name="connsiteY76" fmla="*/ 1462935 h 3624606"/>
              <a:gd name="connsiteX77" fmla="*/ 75423 w 513703"/>
              <a:gd name="connsiteY77" fmla="*/ 1387512 h 3624606"/>
              <a:gd name="connsiteX78" fmla="*/ 75423 w 513703"/>
              <a:gd name="connsiteY78" fmla="*/ 1040634 h 3624606"/>
              <a:gd name="connsiteX79" fmla="*/ 150846 w 513703"/>
              <a:gd name="connsiteY79" fmla="*/ 1116057 h 3624606"/>
              <a:gd name="connsiteX80" fmla="*/ 75423 w 513703"/>
              <a:gd name="connsiteY80" fmla="*/ 1191480 h 3624606"/>
              <a:gd name="connsiteX81" fmla="*/ 0 w 513703"/>
              <a:gd name="connsiteY81" fmla="*/ 1116057 h 3624606"/>
              <a:gd name="connsiteX82" fmla="*/ 75423 w 513703"/>
              <a:gd name="connsiteY82" fmla="*/ 1040634 h 3624606"/>
              <a:gd name="connsiteX83" fmla="*/ 438280 w 513703"/>
              <a:gd name="connsiteY83" fmla="*/ 1040634 h 3624606"/>
              <a:gd name="connsiteX84" fmla="*/ 513703 w 513703"/>
              <a:gd name="connsiteY84" fmla="*/ 1116057 h 3624606"/>
              <a:gd name="connsiteX85" fmla="*/ 438280 w 513703"/>
              <a:gd name="connsiteY85" fmla="*/ 1191480 h 3624606"/>
              <a:gd name="connsiteX86" fmla="*/ 362857 w 513703"/>
              <a:gd name="connsiteY86" fmla="*/ 1116057 h 3624606"/>
              <a:gd name="connsiteX87" fmla="*/ 438280 w 513703"/>
              <a:gd name="connsiteY87" fmla="*/ 1040634 h 3624606"/>
              <a:gd name="connsiteX88" fmla="*/ 438280 w 513703"/>
              <a:gd name="connsiteY88" fmla="*/ 693756 h 3624606"/>
              <a:gd name="connsiteX89" fmla="*/ 513703 w 513703"/>
              <a:gd name="connsiteY89" fmla="*/ 769179 h 3624606"/>
              <a:gd name="connsiteX90" fmla="*/ 438280 w 513703"/>
              <a:gd name="connsiteY90" fmla="*/ 844602 h 3624606"/>
              <a:gd name="connsiteX91" fmla="*/ 362857 w 513703"/>
              <a:gd name="connsiteY91" fmla="*/ 769179 h 3624606"/>
              <a:gd name="connsiteX92" fmla="*/ 438280 w 513703"/>
              <a:gd name="connsiteY92" fmla="*/ 693756 h 3624606"/>
              <a:gd name="connsiteX93" fmla="*/ 75423 w 513703"/>
              <a:gd name="connsiteY93" fmla="*/ 693756 h 3624606"/>
              <a:gd name="connsiteX94" fmla="*/ 150846 w 513703"/>
              <a:gd name="connsiteY94" fmla="*/ 769179 h 3624606"/>
              <a:gd name="connsiteX95" fmla="*/ 75423 w 513703"/>
              <a:gd name="connsiteY95" fmla="*/ 844602 h 3624606"/>
              <a:gd name="connsiteX96" fmla="*/ 0 w 513703"/>
              <a:gd name="connsiteY96" fmla="*/ 769179 h 3624606"/>
              <a:gd name="connsiteX97" fmla="*/ 75423 w 513703"/>
              <a:gd name="connsiteY97" fmla="*/ 693756 h 3624606"/>
              <a:gd name="connsiteX98" fmla="*/ 75423 w 513703"/>
              <a:gd name="connsiteY98" fmla="*/ 346879 h 3624606"/>
              <a:gd name="connsiteX99" fmla="*/ 150846 w 513703"/>
              <a:gd name="connsiteY99" fmla="*/ 422302 h 3624606"/>
              <a:gd name="connsiteX100" fmla="*/ 75423 w 513703"/>
              <a:gd name="connsiteY100" fmla="*/ 497724 h 3624606"/>
              <a:gd name="connsiteX101" fmla="*/ 0 w 513703"/>
              <a:gd name="connsiteY101" fmla="*/ 422302 h 3624606"/>
              <a:gd name="connsiteX102" fmla="*/ 75423 w 513703"/>
              <a:gd name="connsiteY102" fmla="*/ 346879 h 3624606"/>
              <a:gd name="connsiteX103" fmla="*/ 438280 w 513703"/>
              <a:gd name="connsiteY103" fmla="*/ 346878 h 3624606"/>
              <a:gd name="connsiteX104" fmla="*/ 513703 w 513703"/>
              <a:gd name="connsiteY104" fmla="*/ 422301 h 3624606"/>
              <a:gd name="connsiteX105" fmla="*/ 438280 w 513703"/>
              <a:gd name="connsiteY105" fmla="*/ 497724 h 3624606"/>
              <a:gd name="connsiteX106" fmla="*/ 362857 w 513703"/>
              <a:gd name="connsiteY106" fmla="*/ 422301 h 3624606"/>
              <a:gd name="connsiteX107" fmla="*/ 438280 w 513703"/>
              <a:gd name="connsiteY107" fmla="*/ 346878 h 3624606"/>
              <a:gd name="connsiteX108" fmla="*/ 75423 w 513703"/>
              <a:gd name="connsiteY108" fmla="*/ 1 h 3624606"/>
              <a:gd name="connsiteX109" fmla="*/ 150846 w 513703"/>
              <a:gd name="connsiteY109" fmla="*/ 75424 h 3624606"/>
              <a:gd name="connsiteX110" fmla="*/ 75423 w 513703"/>
              <a:gd name="connsiteY110" fmla="*/ 150847 h 3624606"/>
              <a:gd name="connsiteX111" fmla="*/ 0 w 513703"/>
              <a:gd name="connsiteY111" fmla="*/ 75424 h 3624606"/>
              <a:gd name="connsiteX112" fmla="*/ 75423 w 513703"/>
              <a:gd name="connsiteY112" fmla="*/ 1 h 3624606"/>
              <a:gd name="connsiteX113" fmla="*/ 438280 w 513703"/>
              <a:gd name="connsiteY113" fmla="*/ 0 h 3624606"/>
              <a:gd name="connsiteX114" fmla="*/ 513703 w 513703"/>
              <a:gd name="connsiteY114" fmla="*/ 75424 h 3624606"/>
              <a:gd name="connsiteX115" fmla="*/ 438280 w 513703"/>
              <a:gd name="connsiteY115" fmla="*/ 150847 h 3624606"/>
              <a:gd name="connsiteX116" fmla="*/ 362857 w 513703"/>
              <a:gd name="connsiteY116" fmla="*/ 75424 h 3624606"/>
              <a:gd name="connsiteX117" fmla="*/ 438280 w 513703"/>
              <a:gd name="connsiteY117" fmla="*/ 0 h 3624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513703" h="3624606">
                <a:moveTo>
                  <a:pt x="438280" y="3473760"/>
                </a:moveTo>
                <a:cubicBezTo>
                  <a:pt x="479935" y="3473760"/>
                  <a:pt x="513703" y="3507528"/>
                  <a:pt x="513703" y="3549183"/>
                </a:cubicBezTo>
                <a:cubicBezTo>
                  <a:pt x="513703" y="3590838"/>
                  <a:pt x="479935" y="3624606"/>
                  <a:pt x="438280" y="3624606"/>
                </a:cubicBezTo>
                <a:cubicBezTo>
                  <a:pt x="396625" y="3624606"/>
                  <a:pt x="362857" y="3590838"/>
                  <a:pt x="362857" y="3549183"/>
                </a:cubicBezTo>
                <a:cubicBezTo>
                  <a:pt x="362857" y="3507528"/>
                  <a:pt x="396625" y="3473760"/>
                  <a:pt x="438280" y="3473760"/>
                </a:cubicBezTo>
                <a:close/>
                <a:moveTo>
                  <a:pt x="75423" y="3473760"/>
                </a:moveTo>
                <a:cubicBezTo>
                  <a:pt x="117078" y="3473760"/>
                  <a:pt x="150846" y="3507528"/>
                  <a:pt x="150846" y="3549183"/>
                </a:cubicBezTo>
                <a:cubicBezTo>
                  <a:pt x="150846" y="3590838"/>
                  <a:pt x="117078" y="3624606"/>
                  <a:pt x="75423" y="3624606"/>
                </a:cubicBezTo>
                <a:cubicBezTo>
                  <a:pt x="33768" y="3624606"/>
                  <a:pt x="0" y="3590838"/>
                  <a:pt x="0" y="3549183"/>
                </a:cubicBezTo>
                <a:cubicBezTo>
                  <a:pt x="0" y="3507528"/>
                  <a:pt x="33768" y="3473760"/>
                  <a:pt x="75423" y="3473760"/>
                </a:cubicBezTo>
                <a:close/>
                <a:moveTo>
                  <a:pt x="438280" y="3126882"/>
                </a:moveTo>
                <a:cubicBezTo>
                  <a:pt x="479935" y="3126882"/>
                  <a:pt x="513703" y="3160650"/>
                  <a:pt x="513703" y="3202305"/>
                </a:cubicBezTo>
                <a:cubicBezTo>
                  <a:pt x="513703" y="3243960"/>
                  <a:pt x="479935" y="3277728"/>
                  <a:pt x="438280" y="3277728"/>
                </a:cubicBezTo>
                <a:cubicBezTo>
                  <a:pt x="396625" y="3277728"/>
                  <a:pt x="362857" y="3243960"/>
                  <a:pt x="362857" y="3202305"/>
                </a:cubicBezTo>
                <a:cubicBezTo>
                  <a:pt x="362857" y="3160650"/>
                  <a:pt x="396625" y="3126882"/>
                  <a:pt x="438280" y="3126882"/>
                </a:cubicBezTo>
                <a:close/>
                <a:moveTo>
                  <a:pt x="75423" y="3126882"/>
                </a:moveTo>
                <a:cubicBezTo>
                  <a:pt x="117078" y="3126882"/>
                  <a:pt x="150846" y="3160650"/>
                  <a:pt x="150846" y="3202305"/>
                </a:cubicBezTo>
                <a:cubicBezTo>
                  <a:pt x="150846" y="3243960"/>
                  <a:pt x="117078" y="3277728"/>
                  <a:pt x="75423" y="3277728"/>
                </a:cubicBezTo>
                <a:cubicBezTo>
                  <a:pt x="33768" y="3277728"/>
                  <a:pt x="0" y="3243960"/>
                  <a:pt x="0" y="3202305"/>
                </a:cubicBezTo>
                <a:cubicBezTo>
                  <a:pt x="0" y="3160650"/>
                  <a:pt x="33768" y="3126882"/>
                  <a:pt x="75423" y="3126882"/>
                </a:cubicBezTo>
                <a:close/>
                <a:moveTo>
                  <a:pt x="438280" y="2780004"/>
                </a:moveTo>
                <a:cubicBezTo>
                  <a:pt x="479935" y="2780004"/>
                  <a:pt x="513703" y="2813772"/>
                  <a:pt x="513703" y="2855427"/>
                </a:cubicBezTo>
                <a:cubicBezTo>
                  <a:pt x="513703" y="2897082"/>
                  <a:pt x="479935" y="2930850"/>
                  <a:pt x="438280" y="2930850"/>
                </a:cubicBezTo>
                <a:cubicBezTo>
                  <a:pt x="396625" y="2930850"/>
                  <a:pt x="362857" y="2897082"/>
                  <a:pt x="362857" y="2855427"/>
                </a:cubicBezTo>
                <a:cubicBezTo>
                  <a:pt x="362857" y="2813772"/>
                  <a:pt x="396625" y="2780004"/>
                  <a:pt x="438280" y="2780004"/>
                </a:cubicBezTo>
                <a:close/>
                <a:moveTo>
                  <a:pt x="75423" y="2780004"/>
                </a:moveTo>
                <a:cubicBezTo>
                  <a:pt x="117078" y="2780004"/>
                  <a:pt x="150846" y="2813772"/>
                  <a:pt x="150846" y="2855427"/>
                </a:cubicBezTo>
                <a:cubicBezTo>
                  <a:pt x="150846" y="2897082"/>
                  <a:pt x="117078" y="2930850"/>
                  <a:pt x="75423" y="2930850"/>
                </a:cubicBezTo>
                <a:cubicBezTo>
                  <a:pt x="33768" y="2930850"/>
                  <a:pt x="0" y="2897082"/>
                  <a:pt x="0" y="2855427"/>
                </a:cubicBezTo>
                <a:cubicBezTo>
                  <a:pt x="0" y="2813772"/>
                  <a:pt x="33768" y="2780004"/>
                  <a:pt x="75423" y="2780004"/>
                </a:cubicBezTo>
                <a:close/>
                <a:moveTo>
                  <a:pt x="438280" y="2433126"/>
                </a:moveTo>
                <a:cubicBezTo>
                  <a:pt x="479935" y="2433126"/>
                  <a:pt x="513703" y="2466894"/>
                  <a:pt x="513703" y="2508549"/>
                </a:cubicBezTo>
                <a:cubicBezTo>
                  <a:pt x="513703" y="2550204"/>
                  <a:pt x="479935" y="2583972"/>
                  <a:pt x="438280" y="2583972"/>
                </a:cubicBezTo>
                <a:cubicBezTo>
                  <a:pt x="396625" y="2583972"/>
                  <a:pt x="362857" y="2550204"/>
                  <a:pt x="362857" y="2508549"/>
                </a:cubicBezTo>
                <a:cubicBezTo>
                  <a:pt x="362857" y="2466894"/>
                  <a:pt x="396625" y="2433126"/>
                  <a:pt x="438280" y="2433126"/>
                </a:cubicBezTo>
                <a:close/>
                <a:moveTo>
                  <a:pt x="75423" y="2433126"/>
                </a:moveTo>
                <a:cubicBezTo>
                  <a:pt x="117078" y="2433126"/>
                  <a:pt x="150846" y="2466894"/>
                  <a:pt x="150846" y="2508549"/>
                </a:cubicBezTo>
                <a:cubicBezTo>
                  <a:pt x="150846" y="2550204"/>
                  <a:pt x="117078" y="2583972"/>
                  <a:pt x="75423" y="2583972"/>
                </a:cubicBezTo>
                <a:cubicBezTo>
                  <a:pt x="33768" y="2583972"/>
                  <a:pt x="0" y="2550204"/>
                  <a:pt x="0" y="2508549"/>
                </a:cubicBezTo>
                <a:cubicBezTo>
                  <a:pt x="0" y="2466894"/>
                  <a:pt x="33768" y="2433126"/>
                  <a:pt x="75423" y="2433126"/>
                </a:cubicBezTo>
                <a:close/>
                <a:moveTo>
                  <a:pt x="438280" y="2086248"/>
                </a:moveTo>
                <a:cubicBezTo>
                  <a:pt x="479935" y="2086248"/>
                  <a:pt x="513703" y="2120016"/>
                  <a:pt x="513703" y="2161671"/>
                </a:cubicBezTo>
                <a:cubicBezTo>
                  <a:pt x="513703" y="2203326"/>
                  <a:pt x="479935" y="2237094"/>
                  <a:pt x="438280" y="2237094"/>
                </a:cubicBezTo>
                <a:cubicBezTo>
                  <a:pt x="396625" y="2237094"/>
                  <a:pt x="362857" y="2203326"/>
                  <a:pt x="362857" y="2161671"/>
                </a:cubicBezTo>
                <a:cubicBezTo>
                  <a:pt x="362857" y="2120016"/>
                  <a:pt x="396625" y="2086248"/>
                  <a:pt x="438280" y="2086248"/>
                </a:cubicBezTo>
                <a:close/>
                <a:moveTo>
                  <a:pt x="75423" y="2086248"/>
                </a:moveTo>
                <a:cubicBezTo>
                  <a:pt x="117078" y="2086248"/>
                  <a:pt x="150846" y="2120016"/>
                  <a:pt x="150846" y="2161671"/>
                </a:cubicBezTo>
                <a:cubicBezTo>
                  <a:pt x="150846" y="2203326"/>
                  <a:pt x="117078" y="2237094"/>
                  <a:pt x="75423" y="2237094"/>
                </a:cubicBezTo>
                <a:cubicBezTo>
                  <a:pt x="33768" y="2237094"/>
                  <a:pt x="0" y="2203326"/>
                  <a:pt x="0" y="2161671"/>
                </a:cubicBezTo>
                <a:cubicBezTo>
                  <a:pt x="0" y="2120016"/>
                  <a:pt x="33768" y="2086248"/>
                  <a:pt x="75423" y="2086248"/>
                </a:cubicBezTo>
                <a:close/>
                <a:moveTo>
                  <a:pt x="438280" y="1734390"/>
                </a:moveTo>
                <a:cubicBezTo>
                  <a:pt x="479935" y="1734390"/>
                  <a:pt x="513703" y="1768158"/>
                  <a:pt x="513703" y="1809813"/>
                </a:cubicBezTo>
                <a:lnTo>
                  <a:pt x="513200" y="1812303"/>
                </a:lnTo>
                <a:lnTo>
                  <a:pt x="513703" y="1814793"/>
                </a:lnTo>
                <a:cubicBezTo>
                  <a:pt x="513703" y="1856448"/>
                  <a:pt x="479935" y="1890216"/>
                  <a:pt x="438280" y="1890216"/>
                </a:cubicBezTo>
                <a:cubicBezTo>
                  <a:pt x="396625" y="1890216"/>
                  <a:pt x="362857" y="1856448"/>
                  <a:pt x="362857" y="1814793"/>
                </a:cubicBezTo>
                <a:lnTo>
                  <a:pt x="363360" y="1812303"/>
                </a:lnTo>
                <a:lnTo>
                  <a:pt x="362857" y="1809813"/>
                </a:lnTo>
                <a:cubicBezTo>
                  <a:pt x="362857" y="1768158"/>
                  <a:pt x="396625" y="1734390"/>
                  <a:pt x="438280" y="1734390"/>
                </a:cubicBezTo>
                <a:close/>
                <a:moveTo>
                  <a:pt x="75423" y="1734390"/>
                </a:moveTo>
                <a:cubicBezTo>
                  <a:pt x="117078" y="1734390"/>
                  <a:pt x="150846" y="1768158"/>
                  <a:pt x="150846" y="1809813"/>
                </a:cubicBezTo>
                <a:lnTo>
                  <a:pt x="150343" y="1812303"/>
                </a:lnTo>
                <a:lnTo>
                  <a:pt x="150846" y="1814793"/>
                </a:lnTo>
                <a:cubicBezTo>
                  <a:pt x="150846" y="1856448"/>
                  <a:pt x="117078" y="1890216"/>
                  <a:pt x="75423" y="1890216"/>
                </a:cubicBezTo>
                <a:cubicBezTo>
                  <a:pt x="33768" y="1890216"/>
                  <a:pt x="0" y="1856448"/>
                  <a:pt x="0" y="1814793"/>
                </a:cubicBezTo>
                <a:lnTo>
                  <a:pt x="503" y="1812303"/>
                </a:lnTo>
                <a:lnTo>
                  <a:pt x="0" y="1809813"/>
                </a:lnTo>
                <a:cubicBezTo>
                  <a:pt x="0" y="1768158"/>
                  <a:pt x="33768" y="1734390"/>
                  <a:pt x="75423" y="1734390"/>
                </a:cubicBezTo>
                <a:close/>
                <a:moveTo>
                  <a:pt x="438280" y="1387512"/>
                </a:moveTo>
                <a:cubicBezTo>
                  <a:pt x="479935" y="1387512"/>
                  <a:pt x="513703" y="1421280"/>
                  <a:pt x="513703" y="1462935"/>
                </a:cubicBezTo>
                <a:cubicBezTo>
                  <a:pt x="513703" y="1504590"/>
                  <a:pt x="479935" y="1538358"/>
                  <a:pt x="438280" y="1538358"/>
                </a:cubicBezTo>
                <a:cubicBezTo>
                  <a:pt x="396625" y="1538358"/>
                  <a:pt x="362857" y="1504590"/>
                  <a:pt x="362857" y="1462935"/>
                </a:cubicBezTo>
                <a:cubicBezTo>
                  <a:pt x="362857" y="1421280"/>
                  <a:pt x="396625" y="1387512"/>
                  <a:pt x="438280" y="1387512"/>
                </a:cubicBezTo>
                <a:close/>
                <a:moveTo>
                  <a:pt x="75423" y="1387512"/>
                </a:moveTo>
                <a:cubicBezTo>
                  <a:pt x="117078" y="1387512"/>
                  <a:pt x="150846" y="1421280"/>
                  <a:pt x="150846" y="1462935"/>
                </a:cubicBezTo>
                <a:cubicBezTo>
                  <a:pt x="150846" y="1504590"/>
                  <a:pt x="117078" y="1538358"/>
                  <a:pt x="75423" y="1538358"/>
                </a:cubicBezTo>
                <a:cubicBezTo>
                  <a:pt x="33768" y="1538358"/>
                  <a:pt x="0" y="1504590"/>
                  <a:pt x="0" y="1462935"/>
                </a:cubicBezTo>
                <a:cubicBezTo>
                  <a:pt x="0" y="1421280"/>
                  <a:pt x="33768" y="1387512"/>
                  <a:pt x="75423" y="1387512"/>
                </a:cubicBezTo>
                <a:close/>
                <a:moveTo>
                  <a:pt x="75423" y="1040634"/>
                </a:moveTo>
                <a:cubicBezTo>
                  <a:pt x="117078" y="1040634"/>
                  <a:pt x="150846" y="1074403"/>
                  <a:pt x="150846" y="1116057"/>
                </a:cubicBezTo>
                <a:cubicBezTo>
                  <a:pt x="150846" y="1157713"/>
                  <a:pt x="117078" y="1191480"/>
                  <a:pt x="75423" y="1191480"/>
                </a:cubicBezTo>
                <a:cubicBezTo>
                  <a:pt x="33768" y="1191480"/>
                  <a:pt x="0" y="1157713"/>
                  <a:pt x="0" y="1116057"/>
                </a:cubicBezTo>
                <a:cubicBezTo>
                  <a:pt x="0" y="1074403"/>
                  <a:pt x="33768" y="1040634"/>
                  <a:pt x="75423" y="1040634"/>
                </a:cubicBezTo>
                <a:close/>
                <a:moveTo>
                  <a:pt x="438280" y="1040634"/>
                </a:moveTo>
                <a:cubicBezTo>
                  <a:pt x="479935" y="1040634"/>
                  <a:pt x="513703" y="1074402"/>
                  <a:pt x="513703" y="1116057"/>
                </a:cubicBezTo>
                <a:cubicBezTo>
                  <a:pt x="513703" y="1157712"/>
                  <a:pt x="479935" y="1191480"/>
                  <a:pt x="438280" y="1191480"/>
                </a:cubicBezTo>
                <a:cubicBezTo>
                  <a:pt x="396625" y="1191480"/>
                  <a:pt x="362857" y="1157712"/>
                  <a:pt x="362857" y="1116057"/>
                </a:cubicBezTo>
                <a:cubicBezTo>
                  <a:pt x="362857" y="1074402"/>
                  <a:pt x="396625" y="1040634"/>
                  <a:pt x="438280" y="1040634"/>
                </a:cubicBezTo>
                <a:close/>
                <a:moveTo>
                  <a:pt x="438280" y="693756"/>
                </a:moveTo>
                <a:cubicBezTo>
                  <a:pt x="479935" y="693756"/>
                  <a:pt x="513703" y="727524"/>
                  <a:pt x="513703" y="769179"/>
                </a:cubicBezTo>
                <a:cubicBezTo>
                  <a:pt x="513703" y="810834"/>
                  <a:pt x="479935" y="844602"/>
                  <a:pt x="438280" y="844602"/>
                </a:cubicBezTo>
                <a:cubicBezTo>
                  <a:pt x="396625" y="844602"/>
                  <a:pt x="362857" y="810834"/>
                  <a:pt x="362857" y="769179"/>
                </a:cubicBezTo>
                <a:cubicBezTo>
                  <a:pt x="362857" y="727524"/>
                  <a:pt x="396625" y="693756"/>
                  <a:pt x="438280" y="693756"/>
                </a:cubicBezTo>
                <a:close/>
                <a:moveTo>
                  <a:pt x="75423" y="693756"/>
                </a:moveTo>
                <a:cubicBezTo>
                  <a:pt x="117078" y="693756"/>
                  <a:pt x="150846" y="727525"/>
                  <a:pt x="150846" y="769179"/>
                </a:cubicBezTo>
                <a:cubicBezTo>
                  <a:pt x="150846" y="810834"/>
                  <a:pt x="117078" y="844602"/>
                  <a:pt x="75423" y="844602"/>
                </a:cubicBezTo>
                <a:cubicBezTo>
                  <a:pt x="33768" y="844602"/>
                  <a:pt x="0" y="810834"/>
                  <a:pt x="0" y="769179"/>
                </a:cubicBezTo>
                <a:cubicBezTo>
                  <a:pt x="0" y="727525"/>
                  <a:pt x="33768" y="693756"/>
                  <a:pt x="75423" y="693756"/>
                </a:cubicBezTo>
                <a:close/>
                <a:moveTo>
                  <a:pt x="75423" y="346879"/>
                </a:moveTo>
                <a:cubicBezTo>
                  <a:pt x="117078" y="346879"/>
                  <a:pt x="150846" y="380647"/>
                  <a:pt x="150846" y="422302"/>
                </a:cubicBezTo>
                <a:cubicBezTo>
                  <a:pt x="150846" y="463957"/>
                  <a:pt x="117078" y="497724"/>
                  <a:pt x="75423" y="497724"/>
                </a:cubicBezTo>
                <a:cubicBezTo>
                  <a:pt x="33768" y="497724"/>
                  <a:pt x="0" y="463957"/>
                  <a:pt x="0" y="422302"/>
                </a:cubicBezTo>
                <a:cubicBezTo>
                  <a:pt x="0" y="380647"/>
                  <a:pt x="33768" y="346879"/>
                  <a:pt x="75423" y="346879"/>
                </a:cubicBezTo>
                <a:close/>
                <a:moveTo>
                  <a:pt x="438280" y="346878"/>
                </a:moveTo>
                <a:cubicBezTo>
                  <a:pt x="479935" y="346878"/>
                  <a:pt x="513703" y="380646"/>
                  <a:pt x="513703" y="422301"/>
                </a:cubicBezTo>
                <a:cubicBezTo>
                  <a:pt x="513703" y="463956"/>
                  <a:pt x="479935" y="497724"/>
                  <a:pt x="438280" y="497724"/>
                </a:cubicBezTo>
                <a:cubicBezTo>
                  <a:pt x="396625" y="497724"/>
                  <a:pt x="362857" y="463956"/>
                  <a:pt x="362857" y="422301"/>
                </a:cubicBezTo>
                <a:cubicBezTo>
                  <a:pt x="362857" y="380646"/>
                  <a:pt x="396625" y="346878"/>
                  <a:pt x="438280" y="346878"/>
                </a:cubicBezTo>
                <a:close/>
                <a:moveTo>
                  <a:pt x="75423" y="1"/>
                </a:moveTo>
                <a:cubicBezTo>
                  <a:pt x="117078" y="1"/>
                  <a:pt x="150846" y="33769"/>
                  <a:pt x="150846" y="75424"/>
                </a:cubicBezTo>
                <a:cubicBezTo>
                  <a:pt x="150846" y="117079"/>
                  <a:pt x="117078" y="150847"/>
                  <a:pt x="75423" y="150847"/>
                </a:cubicBezTo>
                <a:cubicBezTo>
                  <a:pt x="33768" y="150847"/>
                  <a:pt x="0" y="117079"/>
                  <a:pt x="0" y="75424"/>
                </a:cubicBezTo>
                <a:cubicBezTo>
                  <a:pt x="0" y="33769"/>
                  <a:pt x="33768" y="1"/>
                  <a:pt x="75423" y="1"/>
                </a:cubicBezTo>
                <a:close/>
                <a:moveTo>
                  <a:pt x="438280" y="0"/>
                </a:moveTo>
                <a:cubicBezTo>
                  <a:pt x="479935" y="0"/>
                  <a:pt x="513703" y="33769"/>
                  <a:pt x="513703" y="75424"/>
                </a:cubicBezTo>
                <a:cubicBezTo>
                  <a:pt x="513703" y="117079"/>
                  <a:pt x="479935" y="150847"/>
                  <a:pt x="438280" y="150847"/>
                </a:cubicBezTo>
                <a:cubicBezTo>
                  <a:pt x="396625" y="150847"/>
                  <a:pt x="362857" y="117079"/>
                  <a:pt x="362857" y="75424"/>
                </a:cubicBezTo>
                <a:cubicBezTo>
                  <a:pt x="362857" y="33769"/>
                  <a:pt x="396625" y="0"/>
                  <a:pt x="438280" y="0"/>
                </a:cubicBezTo>
                <a:close/>
              </a:path>
            </a:pathLst>
          </a:custGeom>
          <a:gradFill>
            <a:gsLst>
              <a:gs pos="74000">
                <a:schemeClr val="accent2">
                  <a:alpha val="70000"/>
                </a:schemeClr>
              </a:gs>
              <a:gs pos="0">
                <a:schemeClr val="accent4">
                  <a:alpha val="7000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17" name="矩形: 圆角 21"/>
          <p:cNvSpPr/>
          <p:nvPr/>
        </p:nvSpPr>
        <p:spPr>
          <a:xfrm>
            <a:off x="800099" y="4579447"/>
            <a:ext cx="4235540" cy="459272"/>
          </a:xfrm>
          <a:prstGeom prst="roundRect">
            <a:avLst>
              <a:gd name="adj" fmla="val 5000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主讲教师：江先亮</a:t>
            </a:r>
            <a:endParaRPr lang="en-US" altLang="zh-CN" b="1" dirty="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第12章 知识导图"/>
          <p:cNvPicPr>
            <a:picLocks noChangeAspect="1"/>
          </p:cNvPicPr>
          <p:nvPr/>
        </p:nvPicPr>
        <p:blipFill>
          <a:blip r:embed="rId2"/>
          <a:stretch>
            <a:fillRect/>
          </a:stretch>
        </p:blipFill>
        <p:spPr>
          <a:xfrm>
            <a:off x="2114593" y="948055"/>
            <a:ext cx="7661275" cy="5909945"/>
          </a:xfrm>
          <a:prstGeom prst="rect">
            <a:avLst/>
          </a:prstGeom>
        </p:spPr>
      </p:pic>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0" name="矩形 19"/>
          <p:cNvSpPr/>
          <p:nvPr/>
        </p:nvSpPr>
        <p:spPr>
          <a:xfrm>
            <a:off x="771525" y="257830"/>
            <a:ext cx="2739853" cy="523220"/>
          </a:xfrm>
          <a:prstGeom prst="rect">
            <a:avLst/>
          </a:prstGeom>
        </p:spPr>
        <p:txBody>
          <a:bodyPr wrap="non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第</a:t>
            </a:r>
            <a:r>
              <a:rPr lang="en-US" altLang="zh-CN"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12</a:t>
            </a:r>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章知识导图</a:t>
            </a:r>
          </a:p>
        </p:txBody>
      </p:sp>
      <p:sp>
        <p:nvSpPr>
          <p:cNvPr id="8" name="任意多边形: 形状 7"/>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安全环境</a:t>
            </a:r>
          </a:p>
        </p:txBody>
      </p:sp>
      <p:sp>
        <p:nvSpPr>
          <p:cNvPr id="5" name="ïşľîďè"/>
          <p:cNvSpPr/>
          <p:nvPr/>
        </p:nvSpPr>
        <p:spPr>
          <a:xfrm>
            <a:off x="-788524" y="1134122"/>
            <a:ext cx="4669654" cy="5003800"/>
          </a:xfrm>
          <a:prstGeom prst="rect">
            <a:avLst/>
          </a:prstGeom>
          <a:blipFill>
            <a:blip r:embed="rId2"/>
            <a:stretch>
              <a:fillRect l="-30450" r="-30284"/>
            </a:stretch>
          </a:bli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6" name="îŝļiḋe"/>
          <p:cNvSpPr/>
          <p:nvPr/>
        </p:nvSpPr>
        <p:spPr>
          <a:xfrm>
            <a:off x="3224183" y="1134122"/>
            <a:ext cx="656948" cy="5003800"/>
          </a:xfrm>
          <a:prstGeom prst="rect">
            <a:avLst/>
          </a:prstGeom>
          <a:solidFill>
            <a:schemeClr val="accent1">
              <a:alpha val="7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nvGrpSpPr>
          <p:cNvPr id="7" name="í$1iďè"/>
          <p:cNvGrpSpPr/>
          <p:nvPr/>
        </p:nvGrpSpPr>
        <p:grpSpPr>
          <a:xfrm>
            <a:off x="3348471" y="1174124"/>
            <a:ext cx="7381904" cy="1648925"/>
            <a:chOff x="4136995" y="1170302"/>
            <a:chExt cx="7381904" cy="1648925"/>
          </a:xfrm>
        </p:grpSpPr>
        <p:sp>
          <p:nvSpPr>
            <p:cNvPr id="8" name="îslîďê"/>
            <p:cNvSpPr/>
            <p:nvPr/>
          </p:nvSpPr>
          <p:spPr>
            <a:xfrm>
              <a:off x="4136995" y="1712614"/>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9" name="ïSḻiḍé"/>
            <p:cNvSpPr txBox="1"/>
            <p:nvPr/>
          </p:nvSpPr>
          <p:spPr>
            <a:xfrm>
              <a:off x="4882718" y="1170302"/>
              <a:ext cx="6636181" cy="1648925"/>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lnSpc>
                  <a:spcPct val="130000"/>
                </a:lnSpc>
              </a:pPr>
              <a:r>
                <a:rPr lang="zh-CN" altLang="en-US" sz="2400" dirty="0">
                  <a:solidFill>
                    <a:srgbClr val="0000FF"/>
                  </a:solidFill>
                  <a:latin typeface="+mj-ea"/>
                  <a:ea typeface="+mj-ea"/>
                </a:rPr>
                <a:t>保护</a:t>
              </a:r>
              <a:r>
                <a:rPr lang="zh-CN" altLang="en-US" sz="2400" dirty="0">
                  <a:latin typeface="+mj-ea"/>
                  <a:ea typeface="+mj-ea"/>
                </a:rPr>
                <a:t>可被定义为：</a:t>
              </a:r>
            </a:p>
            <a:p>
              <a:pPr marL="342900" indent="-342900" algn="just">
                <a:lnSpc>
                  <a:spcPct val="130000"/>
                </a:lnSpc>
                <a:buClr>
                  <a:srgbClr val="FF0000"/>
                </a:buClr>
                <a:buFont typeface="Wingdings" panose="05000000000000000000" pitchFamily="2" charset="2"/>
                <a:buChar char="Ø"/>
              </a:pPr>
              <a:r>
                <a:rPr lang="zh-CN" altLang="en-US" sz="2400" dirty="0">
                  <a:latin typeface="+mj-ea"/>
                  <a:ea typeface="+mj-ea"/>
                </a:rPr>
                <a:t>能够对攻击、入侵和损害系统的行为进行防御或监视的设施</a:t>
              </a:r>
            </a:p>
          </p:txBody>
        </p:sp>
      </p:grpSp>
      <p:grpSp>
        <p:nvGrpSpPr>
          <p:cNvPr id="10" name="išḷîḓé"/>
          <p:cNvGrpSpPr/>
          <p:nvPr/>
        </p:nvGrpSpPr>
        <p:grpSpPr>
          <a:xfrm>
            <a:off x="3348471" y="3286056"/>
            <a:ext cx="8378932" cy="801176"/>
            <a:chOff x="4136995" y="3233565"/>
            <a:chExt cx="8378932" cy="801176"/>
          </a:xfrm>
        </p:grpSpPr>
        <p:sp>
          <p:nvSpPr>
            <p:cNvPr id="11" name="íśľïḋé"/>
            <p:cNvSpPr/>
            <p:nvPr/>
          </p:nvSpPr>
          <p:spPr>
            <a:xfrm>
              <a:off x="4136995" y="3450237"/>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12" name="îŝľîḓè"/>
            <p:cNvSpPr txBox="1"/>
            <p:nvPr/>
          </p:nvSpPr>
          <p:spPr>
            <a:xfrm>
              <a:off x="4882718" y="3233565"/>
              <a:ext cx="7633209" cy="801176"/>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2400" dirty="0">
                  <a:solidFill>
                    <a:srgbClr val="0000FF"/>
                  </a:solidFill>
                </a:rPr>
                <a:t>安全</a:t>
              </a:r>
              <a:r>
                <a:rPr lang="zh-CN" altLang="en-US" sz="2400" dirty="0"/>
                <a:t>可被定义为：</a:t>
              </a:r>
            </a:p>
            <a:p>
              <a:pPr marL="342900" indent="-342900">
                <a:lnSpc>
                  <a:spcPct val="130000"/>
                </a:lnSpc>
                <a:buClr>
                  <a:srgbClr val="FF0000"/>
                </a:buClr>
                <a:buFont typeface="Wingdings" panose="05000000000000000000" pitchFamily="2" charset="2"/>
                <a:buChar char="Ø"/>
              </a:pPr>
              <a:r>
                <a:rPr lang="zh-CN" altLang="en-US" sz="2400" dirty="0"/>
                <a:t>对系统完整性和数据安全性的可信度衡量</a:t>
              </a:r>
            </a:p>
          </p:txBody>
        </p:sp>
      </p:grpSp>
      <p:grpSp>
        <p:nvGrpSpPr>
          <p:cNvPr id="13" name="ïSlíḍê"/>
          <p:cNvGrpSpPr/>
          <p:nvPr/>
        </p:nvGrpSpPr>
        <p:grpSpPr>
          <a:xfrm>
            <a:off x="3348471" y="4550239"/>
            <a:ext cx="8361970" cy="1311067"/>
            <a:chOff x="4136995" y="4892764"/>
            <a:chExt cx="8361970" cy="1311067"/>
          </a:xfrm>
        </p:grpSpPr>
        <p:sp>
          <p:nvSpPr>
            <p:cNvPr id="14" name="ïsľíḓê"/>
            <p:cNvSpPr/>
            <p:nvPr/>
          </p:nvSpPr>
          <p:spPr>
            <a:xfrm>
              <a:off x="4136995" y="5187860"/>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15" name="íṧļîḋê"/>
            <p:cNvSpPr txBox="1"/>
            <p:nvPr/>
          </p:nvSpPr>
          <p:spPr>
            <a:xfrm>
              <a:off x="4865756" y="4892764"/>
              <a:ext cx="7633209" cy="1311067"/>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2400" dirty="0">
                  <a:solidFill>
                    <a:srgbClr val="FF0000"/>
                  </a:solidFill>
                </a:rPr>
                <a:t>实现“安全环境”是目标</a:t>
              </a:r>
              <a:r>
                <a:rPr lang="zh-CN" altLang="en-US" sz="2400" dirty="0">
                  <a:solidFill>
                    <a:srgbClr val="0000FF"/>
                  </a:solidFill>
                </a:rPr>
                <a:t>，</a:t>
              </a:r>
              <a:r>
                <a:rPr lang="zh-CN" altLang="en-US" sz="2400" dirty="0"/>
                <a:t>而保护是为了实现该目标所采取的方法和措施</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实现“安全环境”的主要目标</a:t>
            </a:r>
          </a:p>
        </p:txBody>
      </p:sp>
      <p:sp>
        <p:nvSpPr>
          <p:cNvPr id="5" name="内容占位符 2"/>
          <p:cNvSpPr txBox="1"/>
          <p:nvPr/>
        </p:nvSpPr>
        <p:spPr>
          <a:xfrm>
            <a:off x="1618445" y="1145149"/>
            <a:ext cx="10024058" cy="586739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3000"/>
              </a:lnSpc>
              <a:buNone/>
            </a:pPr>
            <a:r>
              <a:rPr lang="zh-CN" altLang="en-US" sz="2200" dirty="0">
                <a:latin typeface="+mn-ea"/>
                <a:cs typeface="+mn-ea"/>
                <a:sym typeface="Times New Roman" panose="02020603050405020304" pitchFamily="18" charset="0"/>
              </a:rPr>
              <a:t>数据机密性</a:t>
            </a:r>
            <a:endParaRPr lang="en-US" altLang="zh-CN" sz="2200" dirty="0">
              <a:latin typeface="+mn-ea"/>
              <a:cs typeface="+mn-ea"/>
              <a:sym typeface="Times New Roman" panose="02020603050405020304" pitchFamily="18" charset="0"/>
            </a:endParaRPr>
          </a:p>
          <a:p>
            <a:pPr lvl="1">
              <a:lnSpc>
                <a:spcPct val="123000"/>
              </a:lnSpc>
              <a:buClr>
                <a:srgbClr val="FF0000"/>
              </a:buClr>
              <a:buFont typeface="Wingdings" panose="05000000000000000000" pitchFamily="2" charset="2"/>
              <a:buChar char="Ø"/>
            </a:pPr>
            <a:r>
              <a:rPr lang="zh-CN" altLang="en-US" sz="2000" dirty="0">
                <a:latin typeface="+mn-ea"/>
                <a:cs typeface="+mn-ea"/>
                <a:sym typeface="Times New Roman" panose="02020603050405020304" pitchFamily="18" charset="0"/>
              </a:rPr>
              <a:t>是</a:t>
            </a:r>
            <a:r>
              <a:rPr lang="zh-CN" altLang="zh-CN" sz="2000" dirty="0">
                <a:latin typeface="+mn-ea"/>
                <a:cs typeface="+mn-ea"/>
                <a:sym typeface="Times New Roman" panose="02020603050405020304" pitchFamily="18" charset="0"/>
              </a:rPr>
              <a:t>指将机密的数据置于保密状态，仅允许被授权用户访问系统中的信息，以避免数据暴露</a:t>
            </a:r>
            <a:endParaRPr lang="en-US" altLang="zh-CN" sz="2000" dirty="0">
              <a:latin typeface="+mn-ea"/>
              <a:cs typeface="+mn-ea"/>
              <a:sym typeface="Times New Roman" panose="02020603050405020304" pitchFamily="18" charset="0"/>
            </a:endParaRPr>
          </a:p>
          <a:p>
            <a:pPr marL="0" indent="0">
              <a:lnSpc>
                <a:spcPct val="123000"/>
              </a:lnSpc>
              <a:buNone/>
            </a:pPr>
            <a:r>
              <a:rPr lang="zh-CN" altLang="en-US" sz="2200" dirty="0">
                <a:latin typeface="+mn-ea"/>
                <a:cs typeface="+mn-ea"/>
                <a:sym typeface="Times New Roman" panose="02020603050405020304" pitchFamily="18" charset="0"/>
              </a:rPr>
              <a:t>数据完整性</a:t>
            </a:r>
            <a:endParaRPr lang="en-US" altLang="zh-CN" sz="2200" dirty="0">
              <a:latin typeface="+mn-ea"/>
              <a:cs typeface="+mn-ea"/>
              <a:sym typeface="Times New Roman" panose="02020603050405020304" pitchFamily="18" charset="0"/>
            </a:endParaRPr>
          </a:p>
          <a:p>
            <a:pPr lvl="1">
              <a:lnSpc>
                <a:spcPct val="123000"/>
              </a:lnSpc>
              <a:buClr>
                <a:srgbClr val="FF0000"/>
              </a:buClr>
              <a:buFont typeface="Wingdings" panose="05000000000000000000" pitchFamily="2" charset="2"/>
              <a:buChar char="Ø"/>
            </a:pPr>
            <a:r>
              <a:rPr lang="zh-CN" altLang="zh-CN" sz="2000" dirty="0">
                <a:latin typeface="+mn-ea"/>
                <a:cs typeface="+mn-ea"/>
                <a:sym typeface="Times New Roman" panose="02020603050405020304" pitchFamily="18" charset="0"/>
              </a:rPr>
              <a:t>是指未经授权的用户，不能擅自篡改系统中所保存的数据</a:t>
            </a:r>
            <a:endParaRPr lang="en-US" altLang="zh-CN" sz="2000" dirty="0">
              <a:latin typeface="+mn-ea"/>
              <a:cs typeface="+mn-ea"/>
              <a:sym typeface="Times New Roman" panose="02020603050405020304" pitchFamily="18" charset="0"/>
            </a:endParaRPr>
          </a:p>
          <a:p>
            <a:pPr marL="0" indent="0">
              <a:lnSpc>
                <a:spcPct val="123000"/>
              </a:lnSpc>
              <a:buNone/>
            </a:pPr>
            <a:r>
              <a:rPr lang="zh-CN" altLang="en-US" sz="2200" dirty="0">
                <a:latin typeface="+mn-ea"/>
                <a:cs typeface="+mn-ea"/>
                <a:sym typeface="Times New Roman" panose="02020603050405020304" pitchFamily="18" charset="0"/>
              </a:rPr>
              <a:t>系统可用性</a:t>
            </a:r>
            <a:endParaRPr lang="en-US" altLang="zh-CN" sz="2200" dirty="0">
              <a:latin typeface="+mn-ea"/>
              <a:cs typeface="+mn-ea"/>
              <a:sym typeface="Times New Roman" panose="02020603050405020304" pitchFamily="18" charset="0"/>
            </a:endParaRPr>
          </a:p>
          <a:p>
            <a:pPr lvl="1">
              <a:lnSpc>
                <a:spcPct val="123000"/>
              </a:lnSpc>
              <a:buClr>
                <a:srgbClr val="FF0000"/>
              </a:buClr>
              <a:buFont typeface="Wingdings" panose="05000000000000000000" pitchFamily="2" charset="2"/>
              <a:buChar char="Ø"/>
            </a:pPr>
            <a:r>
              <a:rPr lang="zh-CN" altLang="zh-CN" sz="2000" dirty="0">
                <a:latin typeface="+mn-ea"/>
                <a:cs typeface="+mn-ea"/>
                <a:sym typeface="Times New Roman" panose="02020603050405020304" pitchFamily="18" charset="0"/>
              </a:rPr>
              <a:t>是指保证计算机中的资源可供授权用户随时访问，而系统不会拒绝服务</a:t>
            </a:r>
            <a:endParaRPr lang="en-US" altLang="zh-CN" sz="2000" dirty="0">
              <a:latin typeface="+mn-ea"/>
              <a:cs typeface="+mn-ea"/>
              <a:sym typeface="Times New Roman" panose="02020603050405020304" pitchFamily="18" charset="0"/>
            </a:endParaRPr>
          </a:p>
          <a:p>
            <a:pPr marL="0" indent="0">
              <a:lnSpc>
                <a:spcPct val="123000"/>
              </a:lnSpc>
              <a:buNone/>
            </a:pPr>
            <a:r>
              <a:rPr lang="zh-CN" altLang="en-US" sz="2200" dirty="0">
                <a:latin typeface="+mn-ea"/>
                <a:cs typeface="+mn-ea"/>
                <a:sym typeface="Times New Roman" panose="02020603050405020304" pitchFamily="18" charset="0"/>
              </a:rPr>
              <a:t>面对的</a:t>
            </a:r>
            <a:r>
              <a:rPr lang="zh-CN" altLang="en-US" sz="2200" dirty="0">
                <a:solidFill>
                  <a:srgbClr val="FF0000"/>
                </a:solidFill>
                <a:latin typeface="+mn-ea"/>
                <a:cs typeface="+mn-ea"/>
                <a:sym typeface="Times New Roman" panose="02020603050405020304" pitchFamily="18" charset="0"/>
              </a:rPr>
              <a:t>三个威胁</a:t>
            </a:r>
            <a:endParaRPr lang="en-US" altLang="zh-CN" sz="2200" dirty="0">
              <a:latin typeface="+mn-ea"/>
              <a:cs typeface="+mn-ea"/>
              <a:sym typeface="Times New Roman" panose="02020603050405020304" pitchFamily="18" charset="0"/>
            </a:endParaRPr>
          </a:p>
          <a:p>
            <a:pPr lvl="1">
              <a:lnSpc>
                <a:spcPct val="123000"/>
              </a:lnSpc>
              <a:buClr>
                <a:srgbClr val="FF0000"/>
              </a:buClr>
              <a:buFont typeface="Wingdings" panose="05000000000000000000" pitchFamily="2" charset="2"/>
              <a:buChar char="Ø"/>
            </a:pPr>
            <a:r>
              <a:rPr lang="zh-CN" altLang="zh-CN" sz="2000" dirty="0">
                <a:latin typeface="+mn-ea"/>
                <a:cs typeface="+mn-ea"/>
                <a:sym typeface="Times New Roman" panose="02020603050405020304" pitchFamily="18" charset="0"/>
              </a:rPr>
              <a:t>攻击者通过各种方式窃取系统中的机密信息以使其暴露</a:t>
            </a:r>
            <a:endParaRPr lang="en-US" altLang="zh-CN" sz="2000" dirty="0">
              <a:latin typeface="+mn-ea"/>
              <a:cs typeface="+mn-ea"/>
              <a:sym typeface="Times New Roman" panose="02020603050405020304" pitchFamily="18" charset="0"/>
            </a:endParaRPr>
          </a:p>
          <a:p>
            <a:pPr lvl="1">
              <a:lnSpc>
                <a:spcPct val="123000"/>
              </a:lnSpc>
              <a:buClr>
                <a:srgbClr val="FF0000"/>
              </a:buClr>
              <a:buFont typeface="Wingdings" panose="05000000000000000000" pitchFamily="2" charset="2"/>
              <a:buChar char="Ø"/>
            </a:pPr>
            <a:r>
              <a:rPr lang="zh-CN" altLang="zh-CN" sz="2000" dirty="0">
                <a:latin typeface="+mn-ea"/>
                <a:cs typeface="+mn-ea"/>
                <a:sym typeface="Times New Roman" panose="02020603050405020304" pitchFamily="18" charset="0"/>
              </a:rPr>
              <a:t>攻击者擅自修改系统中所保存的数据以使其被破坏（即实现数据篡改）</a:t>
            </a:r>
            <a:endParaRPr lang="en-US" altLang="zh-CN" sz="2000" dirty="0">
              <a:latin typeface="+mn-ea"/>
              <a:cs typeface="+mn-ea"/>
              <a:sym typeface="Times New Roman" panose="02020603050405020304" pitchFamily="18" charset="0"/>
            </a:endParaRPr>
          </a:p>
          <a:p>
            <a:pPr lvl="1">
              <a:lnSpc>
                <a:spcPct val="123000"/>
              </a:lnSpc>
              <a:buClr>
                <a:srgbClr val="FF0000"/>
              </a:buClr>
              <a:buFont typeface="Wingdings" panose="05000000000000000000" pitchFamily="2" charset="2"/>
              <a:buChar char="Ø"/>
            </a:pPr>
            <a:r>
              <a:rPr lang="zh-CN" altLang="zh-CN" sz="2000" dirty="0">
                <a:latin typeface="+mn-ea"/>
                <a:cs typeface="+mn-ea"/>
                <a:sym typeface="Times New Roman" panose="02020603050405020304" pitchFamily="18" charset="0"/>
              </a:rPr>
              <a:t>攻击者采用多种方法来扰乱系统以使其瘫痪而拒绝提供服务</a:t>
            </a:r>
            <a:endParaRPr lang="zh-CN" altLang="en-US" sz="2000" dirty="0">
              <a:latin typeface="+mn-ea"/>
              <a:cs typeface="+mn-ea"/>
              <a:sym typeface="Times New Roman" panose="02020603050405020304" pitchFamily="18" charset="0"/>
            </a:endParaRPr>
          </a:p>
        </p:txBody>
      </p:sp>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877935" y="1145149"/>
            <a:ext cx="527050" cy="527050"/>
          </a:xfrm>
          <a:prstGeom prst="rect">
            <a:avLst/>
          </a:prstGeom>
          <a:ln>
            <a:noFill/>
          </a:ln>
          <a:effectLst>
            <a:softEdge rad="0"/>
          </a:effectLst>
        </p:spPr>
      </p:pic>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877935" y="2542581"/>
            <a:ext cx="527050" cy="527050"/>
          </a:xfrm>
          <a:prstGeom prst="rect">
            <a:avLst/>
          </a:prstGeom>
          <a:ln>
            <a:noFill/>
          </a:ln>
          <a:effectLst>
            <a:softEdge rad="0"/>
          </a:effectLst>
        </p:spPr>
      </p:pic>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877935" y="3559971"/>
            <a:ext cx="527050" cy="527050"/>
          </a:xfrm>
          <a:prstGeom prst="rect">
            <a:avLst/>
          </a:prstGeom>
          <a:ln>
            <a:noFill/>
          </a:ln>
          <a:effectLst>
            <a:softEdge rad="0"/>
          </a:effectLst>
        </p:spPr>
      </p:pic>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877935" y="4634236"/>
            <a:ext cx="527050" cy="527050"/>
          </a:xfrm>
          <a:prstGeom prst="rect">
            <a:avLst/>
          </a:prstGeom>
          <a:ln>
            <a:noFill/>
          </a:ln>
          <a:effectLst>
            <a:softEdge rad="0"/>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系统安全的特征</a:t>
            </a:r>
          </a:p>
        </p:txBody>
      </p:sp>
      <p:sp>
        <p:nvSpPr>
          <p:cNvPr id="4" name="内容占位符 2"/>
          <p:cNvSpPr txBox="1"/>
          <p:nvPr/>
        </p:nvSpPr>
        <p:spPr>
          <a:xfrm>
            <a:off x="1622738" y="1164464"/>
            <a:ext cx="9672033" cy="541663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buNone/>
            </a:pPr>
            <a:r>
              <a:rPr lang="zh-CN" altLang="zh-CN" sz="2200" dirty="0">
                <a:latin typeface="+mn-ea"/>
                <a:cs typeface="+mn-ea"/>
                <a:sym typeface="Times New Roman" panose="02020603050405020304" pitchFamily="18" charset="0"/>
              </a:rPr>
              <a:t>信息技术安全评价通用准则，简称</a:t>
            </a:r>
            <a:r>
              <a:rPr lang="en-US" altLang="zh-CN" sz="2200" dirty="0">
                <a:solidFill>
                  <a:srgbClr val="FF0000"/>
                </a:solidFill>
                <a:latin typeface="+mn-ea"/>
                <a:cs typeface="+mn-ea"/>
                <a:sym typeface="Times New Roman" panose="02020603050405020304" pitchFamily="18" charset="0"/>
              </a:rPr>
              <a:t>CC</a:t>
            </a:r>
            <a:r>
              <a:rPr lang="zh-CN" altLang="en-US" sz="2200" dirty="0">
                <a:latin typeface="+mn-ea"/>
                <a:cs typeface="+mn-ea"/>
                <a:sym typeface="Times New Roman" panose="02020603050405020304" pitchFamily="18" charset="0"/>
              </a:rPr>
              <a:t>，作为了国际标准。</a:t>
            </a:r>
            <a:endParaRPr lang="en-US" altLang="zh-CN" sz="2200" dirty="0">
              <a:latin typeface="+mn-ea"/>
              <a:cs typeface="+mn-ea"/>
              <a:sym typeface="Times New Roman" panose="02020603050405020304" pitchFamily="18" charset="0"/>
            </a:endParaRPr>
          </a:p>
          <a:p>
            <a:pPr lvl="1" indent="-431800">
              <a:lnSpc>
                <a:spcPct val="132000"/>
              </a:lnSpc>
              <a:buClr>
                <a:srgbClr val="FF0000"/>
              </a:buClr>
              <a:buFont typeface="Wingdings" panose="05000000000000000000" pitchFamily="2" charset="2"/>
              <a:buChar char="Ø"/>
            </a:pPr>
            <a:r>
              <a:rPr lang="en-US" altLang="zh-CN" sz="2200" dirty="0">
                <a:latin typeface="+mn-ea"/>
                <a:cs typeface="+mn-ea"/>
                <a:sym typeface="Times New Roman" panose="02020603050405020304" pitchFamily="18" charset="0"/>
              </a:rPr>
              <a:t>1983</a:t>
            </a:r>
            <a:r>
              <a:rPr lang="zh-CN" altLang="en-US" sz="2200" dirty="0">
                <a:latin typeface="+mn-ea"/>
                <a:cs typeface="+mn-ea"/>
                <a:sym typeface="Times New Roman" panose="02020603050405020304" pitchFamily="18" charset="0"/>
              </a:rPr>
              <a:t>年，美国国防部颁布了历史上第一个计算机安全</a:t>
            </a:r>
            <a:r>
              <a:rPr lang="zh-CN" altLang="zh-CN" sz="2200" dirty="0">
                <a:latin typeface="+mn-ea"/>
                <a:cs typeface="+mn-ea"/>
                <a:sym typeface="Times New Roman" panose="02020603050405020304" pitchFamily="18" charset="0"/>
              </a:rPr>
              <a:t>评价标准</a:t>
            </a:r>
            <a:r>
              <a:rPr lang="zh-CN" altLang="en-US" sz="2200" dirty="0">
                <a:latin typeface="+mn-ea"/>
                <a:cs typeface="+mn-ea"/>
                <a:sym typeface="Times New Roman" panose="02020603050405020304" pitchFamily="18" charset="0"/>
              </a:rPr>
              <a:t>，最核心文件是</a:t>
            </a:r>
            <a:r>
              <a:rPr lang="en-US" altLang="zh-CN" sz="2200" dirty="0">
                <a:latin typeface="+mn-ea"/>
                <a:cs typeface="+mn-ea"/>
                <a:sym typeface="Times New Roman" panose="02020603050405020304" pitchFamily="18" charset="0"/>
              </a:rPr>
              <a:t>TCSEC</a:t>
            </a:r>
            <a:r>
              <a:rPr lang="zh-CN" altLang="en-US" sz="2200" dirty="0">
                <a:latin typeface="+mn-ea"/>
                <a:cs typeface="+mn-ea"/>
                <a:sym typeface="Times New Roman" panose="02020603050405020304" pitchFamily="18" charset="0"/>
              </a:rPr>
              <a:t>，因</a:t>
            </a:r>
            <a:r>
              <a:rPr lang="zh-CN" altLang="zh-CN" sz="2200" dirty="0">
                <a:latin typeface="+mn-ea"/>
                <a:cs typeface="+mn-ea"/>
                <a:sym typeface="Times New Roman" panose="02020603050405020304" pitchFamily="18" charset="0"/>
              </a:rPr>
              <a:t>它是橙色封皮</a:t>
            </a:r>
            <a:r>
              <a:rPr lang="zh-CN" altLang="en-US" sz="2200" dirty="0">
                <a:latin typeface="+mn-ea"/>
                <a:cs typeface="+mn-ea"/>
                <a:sym typeface="Times New Roman" panose="02020603050405020304" pitchFamily="18" charset="0"/>
              </a:rPr>
              <a:t>，简称“橙皮书”。</a:t>
            </a:r>
            <a:endParaRPr lang="en-US" altLang="zh-CN" sz="2200" dirty="0">
              <a:latin typeface="+mn-ea"/>
              <a:cs typeface="+mn-ea"/>
              <a:sym typeface="Times New Roman" panose="02020603050405020304" pitchFamily="18" charset="0"/>
            </a:endParaRPr>
          </a:p>
          <a:p>
            <a:pPr marL="0" indent="0">
              <a:lnSpc>
                <a:spcPct val="132000"/>
              </a:lnSpc>
              <a:buNone/>
            </a:pPr>
            <a:r>
              <a:rPr lang="zh-CN" altLang="en-US" sz="2200" dirty="0">
                <a:latin typeface="+mn-ea"/>
                <a:cs typeface="+mn-ea"/>
                <a:sym typeface="Times New Roman" panose="02020603050405020304" pitchFamily="18" charset="0"/>
              </a:rPr>
              <a:t>计算机安全的分类：</a:t>
            </a:r>
            <a:endParaRPr lang="en-US" altLang="zh-CN" sz="2200" dirty="0">
              <a:latin typeface="+mn-ea"/>
              <a:cs typeface="+mn-ea"/>
              <a:sym typeface="Times New Roman" panose="02020603050405020304" pitchFamily="18" charset="0"/>
            </a:endParaRPr>
          </a:p>
          <a:p>
            <a:pPr lvl="1" indent="-431800">
              <a:lnSpc>
                <a:spcPct val="132000"/>
              </a:lnSpc>
              <a:buClr>
                <a:srgbClr val="FF0000"/>
              </a:buClr>
              <a:buFont typeface="Wingdings" panose="05000000000000000000" pitchFamily="2" charset="2"/>
              <a:buChar char="Ø"/>
            </a:pPr>
            <a:r>
              <a:rPr lang="en-US" altLang="zh-CN" sz="2200" dirty="0">
                <a:latin typeface="+mn-ea"/>
                <a:cs typeface="+mn-ea"/>
                <a:sym typeface="Times New Roman" panose="02020603050405020304" pitchFamily="18" charset="0"/>
              </a:rPr>
              <a:t>TCSEC</a:t>
            </a:r>
            <a:r>
              <a:rPr lang="zh-CN" altLang="zh-CN" sz="2200" dirty="0">
                <a:latin typeface="+mn-ea"/>
                <a:cs typeface="+mn-ea"/>
                <a:sym typeface="Times New Roman" panose="02020603050405020304" pitchFamily="18" charset="0"/>
              </a:rPr>
              <a:t>将计算机系统的安全程度划分为</a:t>
            </a:r>
            <a:r>
              <a:rPr lang="en-US" altLang="zh-CN" sz="2200" dirty="0">
                <a:solidFill>
                  <a:srgbClr val="FF0000"/>
                </a:solidFill>
                <a:latin typeface="+mn-ea"/>
                <a:cs typeface="+mn-ea"/>
                <a:sym typeface="Times New Roman" panose="02020603050405020304" pitchFamily="18" charset="0"/>
              </a:rPr>
              <a:t>4</a:t>
            </a:r>
            <a:r>
              <a:rPr lang="zh-CN" altLang="zh-CN" sz="2200" dirty="0">
                <a:solidFill>
                  <a:srgbClr val="FF0000"/>
                </a:solidFill>
                <a:latin typeface="+mn-ea"/>
                <a:cs typeface="+mn-ea"/>
                <a:sym typeface="Times New Roman" panose="02020603050405020304" pitchFamily="18" charset="0"/>
              </a:rPr>
              <a:t>类：</a:t>
            </a:r>
            <a:r>
              <a:rPr lang="en-US" altLang="zh-CN" sz="2200" dirty="0">
                <a:solidFill>
                  <a:srgbClr val="FF0000"/>
                </a:solidFill>
                <a:latin typeface="+mn-ea"/>
                <a:cs typeface="+mn-ea"/>
                <a:sym typeface="Times New Roman" panose="02020603050405020304" pitchFamily="18" charset="0"/>
              </a:rPr>
              <a:t>D</a:t>
            </a:r>
            <a:r>
              <a:rPr lang="zh-CN" altLang="zh-CN" sz="2200" dirty="0">
                <a:solidFill>
                  <a:srgbClr val="FF0000"/>
                </a:solidFill>
                <a:latin typeface="+mn-ea"/>
                <a:cs typeface="+mn-ea"/>
                <a:sym typeface="Times New Roman" panose="02020603050405020304" pitchFamily="18" charset="0"/>
              </a:rPr>
              <a:t>、</a:t>
            </a:r>
            <a:r>
              <a:rPr lang="en-US" altLang="zh-CN" sz="2200" dirty="0">
                <a:solidFill>
                  <a:srgbClr val="FF0000"/>
                </a:solidFill>
                <a:latin typeface="+mn-ea"/>
                <a:cs typeface="+mn-ea"/>
                <a:sym typeface="Times New Roman" panose="02020603050405020304" pitchFamily="18" charset="0"/>
              </a:rPr>
              <a:t>C</a:t>
            </a:r>
            <a:r>
              <a:rPr lang="zh-CN" altLang="zh-CN" sz="2200" dirty="0">
                <a:solidFill>
                  <a:srgbClr val="FF0000"/>
                </a:solidFill>
                <a:latin typeface="+mn-ea"/>
                <a:cs typeface="+mn-ea"/>
                <a:sym typeface="Times New Roman" panose="02020603050405020304" pitchFamily="18" charset="0"/>
              </a:rPr>
              <a:t>、</a:t>
            </a:r>
            <a:r>
              <a:rPr lang="en-US" altLang="zh-CN" sz="2200" dirty="0">
                <a:solidFill>
                  <a:srgbClr val="FF0000"/>
                </a:solidFill>
                <a:latin typeface="+mn-ea"/>
                <a:cs typeface="+mn-ea"/>
                <a:sym typeface="Times New Roman" panose="02020603050405020304" pitchFamily="18" charset="0"/>
              </a:rPr>
              <a:t>B</a:t>
            </a:r>
            <a:r>
              <a:rPr lang="zh-CN" altLang="zh-CN" sz="2200" dirty="0">
                <a:solidFill>
                  <a:srgbClr val="FF0000"/>
                </a:solidFill>
                <a:latin typeface="+mn-ea"/>
                <a:cs typeface="+mn-ea"/>
                <a:sym typeface="Times New Roman" panose="02020603050405020304" pitchFamily="18" charset="0"/>
              </a:rPr>
              <a:t>、</a:t>
            </a:r>
            <a:r>
              <a:rPr lang="en-US" altLang="zh-CN" sz="2200" dirty="0">
                <a:solidFill>
                  <a:srgbClr val="FF0000"/>
                </a:solidFill>
                <a:latin typeface="+mn-ea"/>
                <a:cs typeface="+mn-ea"/>
                <a:sym typeface="Times New Roman" panose="02020603050405020304" pitchFamily="18" charset="0"/>
              </a:rPr>
              <a:t>A</a:t>
            </a:r>
            <a:r>
              <a:rPr lang="zh-CN" altLang="en-US" sz="2200" dirty="0">
                <a:solidFill>
                  <a:srgbClr val="FF0000"/>
                </a:solidFill>
                <a:latin typeface="+mn-ea"/>
                <a:cs typeface="+mn-ea"/>
                <a:sym typeface="Times New Roman" panose="02020603050405020304" pitchFamily="18" charset="0"/>
              </a:rPr>
              <a:t>。</a:t>
            </a:r>
            <a:endParaRPr lang="en-US" altLang="zh-CN" sz="2200" dirty="0">
              <a:solidFill>
                <a:srgbClr val="FF0000"/>
              </a:solidFill>
              <a:latin typeface="+mn-ea"/>
              <a:cs typeface="+mn-ea"/>
              <a:sym typeface="Times New Roman" panose="02020603050405020304" pitchFamily="18" charset="0"/>
            </a:endParaRPr>
          </a:p>
          <a:p>
            <a:pPr lvl="1" indent="-431800">
              <a:lnSpc>
                <a:spcPct val="132000"/>
              </a:lnSpc>
              <a:buClr>
                <a:srgbClr val="FF0000"/>
              </a:buClr>
              <a:buFont typeface="Wingdings" panose="05000000000000000000" pitchFamily="2" charset="2"/>
              <a:buChar char="Ø"/>
            </a:pPr>
            <a:r>
              <a:rPr lang="zh-CN" altLang="zh-CN" sz="2200" dirty="0">
                <a:latin typeface="+mn-ea"/>
                <a:cs typeface="+mn-ea"/>
                <a:sym typeface="Times New Roman" panose="02020603050405020304" pitchFamily="18" charset="0"/>
              </a:rPr>
              <a:t>共分为</a:t>
            </a:r>
            <a:r>
              <a:rPr lang="en-US" altLang="zh-CN" sz="2200" dirty="0">
                <a:latin typeface="+mn-ea"/>
                <a:cs typeface="+mn-ea"/>
                <a:sym typeface="Times New Roman" panose="02020603050405020304" pitchFamily="18" charset="0"/>
              </a:rPr>
              <a:t>7</a:t>
            </a:r>
            <a:r>
              <a:rPr lang="zh-CN" altLang="zh-CN" sz="2200" dirty="0">
                <a:latin typeface="+mn-ea"/>
                <a:cs typeface="+mn-ea"/>
                <a:sym typeface="Times New Roman" panose="02020603050405020304" pitchFamily="18" charset="0"/>
              </a:rPr>
              <a:t>个等级：</a:t>
            </a:r>
            <a:r>
              <a:rPr lang="en-US" altLang="zh-CN" sz="2200" dirty="0">
                <a:latin typeface="+mn-ea"/>
                <a:cs typeface="+mn-ea"/>
                <a:sym typeface="Times New Roman" panose="02020603050405020304" pitchFamily="18" charset="0"/>
              </a:rPr>
              <a:t>D</a:t>
            </a:r>
            <a:r>
              <a:rPr lang="zh-CN" altLang="zh-CN" sz="2200" dirty="0">
                <a:latin typeface="+mn-ea"/>
                <a:cs typeface="+mn-ea"/>
                <a:sym typeface="Times New Roman" panose="02020603050405020304" pitchFamily="18" charset="0"/>
              </a:rPr>
              <a:t>、</a:t>
            </a:r>
            <a:r>
              <a:rPr lang="en-US" altLang="zh-CN" sz="2200" dirty="0">
                <a:latin typeface="+mn-ea"/>
                <a:cs typeface="+mn-ea"/>
                <a:sym typeface="Times New Roman" panose="02020603050405020304" pitchFamily="18" charset="0"/>
              </a:rPr>
              <a:t>C</a:t>
            </a:r>
            <a:r>
              <a:rPr lang="en-US" altLang="zh-CN" sz="2200" baseline="-25000" dirty="0">
                <a:latin typeface="+mn-ea"/>
                <a:cs typeface="+mn-ea"/>
                <a:sym typeface="Times New Roman" panose="02020603050405020304" pitchFamily="18" charset="0"/>
              </a:rPr>
              <a:t>1</a:t>
            </a:r>
            <a:r>
              <a:rPr lang="zh-CN" altLang="zh-CN" sz="2200" dirty="0">
                <a:latin typeface="+mn-ea"/>
                <a:cs typeface="+mn-ea"/>
                <a:sym typeface="Times New Roman" panose="02020603050405020304" pitchFamily="18" charset="0"/>
              </a:rPr>
              <a:t>、</a:t>
            </a:r>
            <a:r>
              <a:rPr lang="en-US" altLang="zh-CN" sz="2200" dirty="0">
                <a:latin typeface="+mn-ea"/>
                <a:cs typeface="+mn-ea"/>
                <a:sym typeface="Times New Roman" panose="02020603050405020304" pitchFamily="18" charset="0"/>
              </a:rPr>
              <a:t>C</a:t>
            </a:r>
            <a:r>
              <a:rPr lang="en-US" altLang="zh-CN" sz="2200" baseline="-25000" dirty="0">
                <a:latin typeface="+mn-ea"/>
                <a:cs typeface="+mn-ea"/>
                <a:sym typeface="Times New Roman" panose="02020603050405020304" pitchFamily="18" charset="0"/>
              </a:rPr>
              <a:t>2</a:t>
            </a:r>
            <a:r>
              <a:rPr lang="zh-CN" altLang="zh-CN" sz="2200" dirty="0">
                <a:latin typeface="+mn-ea"/>
                <a:cs typeface="+mn-ea"/>
                <a:sym typeface="Times New Roman" panose="02020603050405020304" pitchFamily="18" charset="0"/>
              </a:rPr>
              <a:t>、</a:t>
            </a:r>
            <a:r>
              <a:rPr lang="en-US" altLang="zh-CN" sz="2200" dirty="0">
                <a:latin typeface="+mn-ea"/>
                <a:cs typeface="+mn-ea"/>
                <a:sym typeface="Times New Roman" panose="02020603050405020304" pitchFamily="18" charset="0"/>
              </a:rPr>
              <a:t>B</a:t>
            </a:r>
            <a:r>
              <a:rPr lang="en-US" altLang="zh-CN" sz="2200" baseline="-25000" dirty="0">
                <a:latin typeface="+mn-ea"/>
                <a:cs typeface="+mn-ea"/>
                <a:sym typeface="Times New Roman" panose="02020603050405020304" pitchFamily="18" charset="0"/>
              </a:rPr>
              <a:t>1</a:t>
            </a:r>
            <a:r>
              <a:rPr lang="zh-CN" altLang="zh-CN" sz="2200" dirty="0">
                <a:latin typeface="+mn-ea"/>
                <a:cs typeface="+mn-ea"/>
                <a:sym typeface="Times New Roman" panose="02020603050405020304" pitchFamily="18" charset="0"/>
              </a:rPr>
              <a:t>、</a:t>
            </a:r>
            <a:r>
              <a:rPr lang="en-US" altLang="zh-CN" sz="2200" dirty="0">
                <a:latin typeface="+mn-ea"/>
                <a:cs typeface="+mn-ea"/>
                <a:sym typeface="Times New Roman" panose="02020603050405020304" pitchFamily="18" charset="0"/>
              </a:rPr>
              <a:t>B</a:t>
            </a:r>
            <a:r>
              <a:rPr lang="en-US" altLang="zh-CN" sz="2200" baseline="-25000" dirty="0">
                <a:latin typeface="+mn-ea"/>
                <a:cs typeface="+mn-ea"/>
                <a:sym typeface="Times New Roman" panose="02020603050405020304" pitchFamily="18" charset="0"/>
              </a:rPr>
              <a:t>2</a:t>
            </a:r>
            <a:r>
              <a:rPr lang="zh-CN" altLang="zh-CN" sz="2200" dirty="0">
                <a:latin typeface="+mn-ea"/>
                <a:cs typeface="+mn-ea"/>
                <a:sym typeface="Times New Roman" panose="02020603050405020304" pitchFamily="18" charset="0"/>
              </a:rPr>
              <a:t>、</a:t>
            </a:r>
            <a:r>
              <a:rPr lang="en-US" altLang="zh-CN" sz="2200" dirty="0">
                <a:latin typeface="+mn-ea"/>
                <a:cs typeface="+mn-ea"/>
                <a:sym typeface="Times New Roman" panose="02020603050405020304" pitchFamily="18" charset="0"/>
              </a:rPr>
              <a:t>B</a:t>
            </a:r>
            <a:r>
              <a:rPr lang="en-US" altLang="zh-CN" sz="2200" baseline="-25000" dirty="0">
                <a:latin typeface="+mn-ea"/>
                <a:cs typeface="+mn-ea"/>
                <a:sym typeface="Times New Roman" panose="02020603050405020304" pitchFamily="18" charset="0"/>
              </a:rPr>
              <a:t>3</a:t>
            </a:r>
            <a:r>
              <a:rPr lang="zh-CN" altLang="zh-CN" sz="2200" dirty="0">
                <a:latin typeface="+mn-ea"/>
                <a:cs typeface="+mn-ea"/>
                <a:sym typeface="Times New Roman" panose="02020603050405020304" pitchFamily="18" charset="0"/>
              </a:rPr>
              <a:t>、</a:t>
            </a:r>
            <a:r>
              <a:rPr lang="en-US" altLang="zh-CN" sz="2200" dirty="0">
                <a:latin typeface="+mn-ea"/>
                <a:cs typeface="+mn-ea"/>
                <a:sym typeface="Times New Roman" panose="02020603050405020304" pitchFamily="18" charset="0"/>
              </a:rPr>
              <a:t>A</a:t>
            </a:r>
            <a:r>
              <a:rPr lang="en-US" altLang="zh-CN" sz="2200" baseline="-25000" dirty="0">
                <a:latin typeface="+mn-ea"/>
                <a:cs typeface="+mn-ea"/>
                <a:sym typeface="Times New Roman" panose="02020603050405020304" pitchFamily="18" charset="0"/>
              </a:rPr>
              <a:t>1</a:t>
            </a:r>
            <a:r>
              <a:rPr lang="zh-CN" altLang="en-US" sz="2200" baseline="-25000" dirty="0">
                <a:latin typeface="+mn-ea"/>
                <a:cs typeface="+mn-ea"/>
                <a:sym typeface="Times New Roman" panose="02020603050405020304" pitchFamily="18" charset="0"/>
              </a:rPr>
              <a:t>。</a:t>
            </a:r>
            <a:endParaRPr lang="en-US" altLang="zh-CN" sz="2200" baseline="-25000" dirty="0">
              <a:latin typeface="+mn-ea"/>
              <a:cs typeface="+mn-ea"/>
              <a:sym typeface="Times New Roman" panose="02020603050405020304" pitchFamily="18" charset="0"/>
            </a:endParaRPr>
          </a:p>
          <a:p>
            <a:pPr marL="1233805" lvl="2" indent="-457200">
              <a:lnSpc>
                <a:spcPct val="132000"/>
              </a:lnSpc>
              <a:buFont typeface="+mj-ea"/>
              <a:buAutoNum type="circleNumDbPlain"/>
            </a:pPr>
            <a:r>
              <a:rPr lang="en-US" altLang="zh-CN" sz="2000" dirty="0">
                <a:solidFill>
                  <a:srgbClr val="0000FF"/>
                </a:solidFill>
                <a:latin typeface="+mn-ea"/>
                <a:cs typeface="+mn-ea"/>
                <a:sym typeface="Times New Roman" panose="02020603050405020304" pitchFamily="18" charset="0"/>
              </a:rPr>
              <a:t>D</a:t>
            </a:r>
            <a:r>
              <a:rPr lang="zh-CN" altLang="en-US" sz="2000" dirty="0">
                <a:solidFill>
                  <a:srgbClr val="0000FF"/>
                </a:solidFill>
                <a:latin typeface="+mn-ea"/>
                <a:cs typeface="+mn-ea"/>
                <a:sym typeface="Times New Roman" panose="02020603050405020304" pitchFamily="18" charset="0"/>
              </a:rPr>
              <a:t>类</a:t>
            </a:r>
            <a:r>
              <a:rPr lang="zh-CN" altLang="en-US" sz="2000" dirty="0">
                <a:latin typeface="+mn-ea"/>
                <a:cs typeface="+mn-ea"/>
                <a:sym typeface="Times New Roman" panose="02020603050405020304" pitchFamily="18" charset="0"/>
              </a:rPr>
              <a:t>，最低安全类别，</a:t>
            </a:r>
            <a:r>
              <a:rPr lang="zh-CN" altLang="zh-CN" sz="2000" dirty="0">
                <a:latin typeface="+mn-ea"/>
                <a:cs typeface="+mn-ea"/>
                <a:sym typeface="Times New Roman" panose="02020603050405020304" pitchFamily="18" charset="0"/>
              </a:rPr>
              <a:t>又称为安全保护欠缺级。凡是无法达到另外</a:t>
            </a:r>
            <a:r>
              <a:rPr lang="en-US" altLang="zh-CN" sz="2000" dirty="0">
                <a:latin typeface="+mn-ea"/>
                <a:cs typeface="+mn-ea"/>
                <a:sym typeface="Times New Roman" panose="02020603050405020304" pitchFamily="18" charset="0"/>
              </a:rPr>
              <a:t>3</a:t>
            </a:r>
            <a:r>
              <a:rPr lang="zh-CN" altLang="zh-CN" sz="2000" dirty="0">
                <a:latin typeface="+mn-ea"/>
                <a:cs typeface="+mn-ea"/>
                <a:sym typeface="Times New Roman" panose="02020603050405020304" pitchFamily="18" charset="0"/>
              </a:rPr>
              <a:t>类标准要求的，都被归为</a:t>
            </a:r>
            <a:r>
              <a:rPr lang="en-US" altLang="zh-CN" sz="2000" dirty="0">
                <a:latin typeface="+mn-ea"/>
                <a:cs typeface="+mn-ea"/>
                <a:sym typeface="Times New Roman" panose="02020603050405020304" pitchFamily="18" charset="0"/>
              </a:rPr>
              <a:t>D</a:t>
            </a:r>
            <a:r>
              <a:rPr lang="zh-CN" altLang="zh-CN" sz="2000" dirty="0">
                <a:latin typeface="+mn-ea"/>
                <a:cs typeface="+mn-ea"/>
                <a:sym typeface="Times New Roman" panose="02020603050405020304" pitchFamily="18" charset="0"/>
              </a:rPr>
              <a:t>类。</a:t>
            </a:r>
            <a:r>
              <a:rPr lang="en-US" altLang="zh-CN" sz="2000" dirty="0">
                <a:latin typeface="+mn-ea"/>
                <a:cs typeface="+mn-ea"/>
                <a:sym typeface="Times New Roman" panose="02020603050405020304" pitchFamily="18" charset="0"/>
              </a:rPr>
              <a:t>MS-DOS</a:t>
            </a:r>
            <a:r>
              <a:rPr lang="zh-CN" altLang="en-US" sz="2000" dirty="0">
                <a:latin typeface="+mn-ea"/>
                <a:cs typeface="+mn-ea"/>
                <a:sym typeface="Times New Roman" panose="02020603050405020304" pitchFamily="18" charset="0"/>
              </a:rPr>
              <a:t>属于</a:t>
            </a:r>
            <a:r>
              <a:rPr lang="en-US" altLang="zh-CN" sz="2000" dirty="0">
                <a:latin typeface="+mn-ea"/>
                <a:cs typeface="+mn-ea"/>
                <a:sym typeface="Times New Roman" panose="02020603050405020304" pitchFamily="18" charset="0"/>
              </a:rPr>
              <a:t>D</a:t>
            </a:r>
            <a:r>
              <a:rPr lang="zh-CN" altLang="en-US" sz="2000" dirty="0">
                <a:latin typeface="+mn-ea"/>
                <a:cs typeface="+mn-ea"/>
                <a:sym typeface="Times New Roman" panose="02020603050405020304" pitchFamily="18" charset="0"/>
              </a:rPr>
              <a:t>类。</a:t>
            </a:r>
            <a:endParaRPr lang="en-US" altLang="zh-CN" sz="2000" dirty="0">
              <a:latin typeface="+mn-ea"/>
              <a:cs typeface="+mn-ea"/>
              <a:sym typeface="Times New Roman" panose="02020603050405020304" pitchFamily="18" charset="0"/>
            </a:endParaRPr>
          </a:p>
          <a:p>
            <a:pPr marL="1233805" lvl="2" indent="-457200">
              <a:lnSpc>
                <a:spcPct val="132000"/>
              </a:lnSpc>
              <a:buFont typeface="+mj-ea"/>
              <a:buAutoNum type="circleNumDbPlain"/>
            </a:pPr>
            <a:r>
              <a:rPr lang="en-US" altLang="zh-CN" sz="2000" dirty="0">
                <a:solidFill>
                  <a:srgbClr val="0000FF"/>
                </a:solidFill>
                <a:latin typeface="+mn-ea"/>
                <a:cs typeface="+mn-ea"/>
                <a:sym typeface="Times New Roman" panose="02020603050405020304" pitchFamily="18" charset="0"/>
              </a:rPr>
              <a:t>C</a:t>
            </a:r>
            <a:r>
              <a:rPr lang="en-US" altLang="zh-CN" sz="2000" baseline="-25000" dirty="0">
                <a:solidFill>
                  <a:srgbClr val="0000FF"/>
                </a:solidFill>
                <a:latin typeface="+mn-ea"/>
                <a:cs typeface="+mn-ea"/>
                <a:sym typeface="Times New Roman" panose="02020603050405020304" pitchFamily="18" charset="0"/>
              </a:rPr>
              <a:t>1</a:t>
            </a:r>
            <a:r>
              <a:rPr lang="en-US" altLang="zh-CN" sz="2000" dirty="0">
                <a:solidFill>
                  <a:srgbClr val="0000FF"/>
                </a:solidFill>
                <a:latin typeface="+mn-ea"/>
                <a:cs typeface="+mn-ea"/>
                <a:sym typeface="Times New Roman" panose="02020603050405020304" pitchFamily="18" charset="0"/>
              </a:rPr>
              <a:t>级</a:t>
            </a:r>
            <a:r>
              <a:rPr lang="zh-CN" altLang="zh-CN" sz="2000" dirty="0">
                <a:latin typeface="+mn-ea"/>
                <a:cs typeface="+mn-ea"/>
                <a:sym typeface="Times New Roman" panose="02020603050405020304" pitchFamily="18" charset="0"/>
              </a:rPr>
              <a:t>。</a:t>
            </a:r>
            <a:r>
              <a:rPr lang="en-US" altLang="zh-CN" sz="2000" dirty="0">
                <a:latin typeface="+mn-ea"/>
                <a:cs typeface="+mn-ea"/>
                <a:sym typeface="Times New Roman" panose="02020603050405020304" pitchFamily="18" charset="0"/>
              </a:rPr>
              <a:t>C</a:t>
            </a:r>
            <a:r>
              <a:rPr lang="zh-CN" altLang="zh-CN" sz="2000" dirty="0">
                <a:latin typeface="+mn-ea"/>
                <a:cs typeface="+mn-ea"/>
                <a:sym typeface="Times New Roman" panose="02020603050405020304" pitchFamily="18" charset="0"/>
              </a:rPr>
              <a:t>类是仅高于</a:t>
            </a:r>
            <a:r>
              <a:rPr lang="en-US" altLang="zh-CN" sz="2000" dirty="0">
                <a:latin typeface="+mn-ea"/>
                <a:cs typeface="+mn-ea"/>
                <a:sym typeface="Times New Roman" panose="02020603050405020304" pitchFamily="18" charset="0"/>
              </a:rPr>
              <a:t>D</a:t>
            </a:r>
            <a:r>
              <a:rPr lang="zh-CN" altLang="zh-CN" sz="2000" dirty="0">
                <a:latin typeface="+mn-ea"/>
                <a:cs typeface="+mn-ea"/>
                <a:sym typeface="Times New Roman" panose="02020603050405020304" pitchFamily="18" charset="0"/>
              </a:rPr>
              <a:t>类的安全类别。</a:t>
            </a:r>
            <a:r>
              <a:rPr lang="en-US" altLang="zh-CN" sz="2000" dirty="0">
                <a:latin typeface="+mn-ea"/>
                <a:cs typeface="+mn-ea"/>
                <a:sym typeface="Times New Roman" panose="02020603050405020304" pitchFamily="18" charset="0"/>
              </a:rPr>
              <a:t>C</a:t>
            </a:r>
            <a:r>
              <a:rPr lang="zh-CN" altLang="zh-CN" sz="2000" dirty="0">
                <a:latin typeface="+mn-ea"/>
                <a:cs typeface="+mn-ea"/>
                <a:sym typeface="Times New Roman" panose="02020603050405020304" pitchFamily="18" charset="0"/>
              </a:rPr>
              <a:t>类分为两级：</a:t>
            </a:r>
            <a:r>
              <a:rPr lang="en-US" altLang="zh-CN" sz="2000" dirty="0">
                <a:latin typeface="+mn-ea"/>
                <a:cs typeface="+mn-ea"/>
                <a:sym typeface="Times New Roman" panose="02020603050405020304" pitchFamily="18" charset="0"/>
              </a:rPr>
              <a:t>C</a:t>
            </a:r>
            <a:r>
              <a:rPr lang="en-US" altLang="zh-CN" sz="2000" baseline="-25000" dirty="0">
                <a:latin typeface="+mn-ea"/>
                <a:cs typeface="+mn-ea"/>
                <a:sym typeface="Times New Roman" panose="02020603050405020304" pitchFamily="18" charset="0"/>
              </a:rPr>
              <a:t>1</a:t>
            </a:r>
            <a:r>
              <a:rPr lang="zh-CN" altLang="zh-CN" sz="2000" dirty="0">
                <a:latin typeface="+mn-ea"/>
                <a:cs typeface="+mn-ea"/>
                <a:sym typeface="Times New Roman" panose="02020603050405020304" pitchFamily="18" charset="0"/>
              </a:rPr>
              <a:t>和</a:t>
            </a:r>
            <a:r>
              <a:rPr lang="en-US" altLang="zh-CN" sz="2000" dirty="0">
                <a:latin typeface="+mn-ea"/>
                <a:cs typeface="+mn-ea"/>
                <a:sym typeface="Times New Roman" panose="02020603050405020304" pitchFamily="18" charset="0"/>
              </a:rPr>
              <a:t>C</a:t>
            </a:r>
            <a:r>
              <a:rPr lang="en-US" altLang="zh-CN" sz="2000" baseline="-25000" dirty="0">
                <a:latin typeface="+mn-ea"/>
                <a:cs typeface="+mn-ea"/>
                <a:sym typeface="Times New Roman" panose="02020603050405020304" pitchFamily="18" charset="0"/>
              </a:rPr>
              <a:t>2</a:t>
            </a:r>
            <a:r>
              <a:rPr lang="zh-CN" altLang="zh-CN" sz="2000" dirty="0">
                <a:latin typeface="+mn-ea"/>
                <a:cs typeface="+mn-ea"/>
                <a:sym typeface="Times New Roman" panose="02020603050405020304" pitchFamily="18" charset="0"/>
              </a:rPr>
              <a:t>。</a:t>
            </a:r>
            <a:r>
              <a:rPr lang="en-US" altLang="zh-CN" sz="2000" dirty="0">
                <a:latin typeface="+mn-ea"/>
                <a:cs typeface="+mn-ea"/>
                <a:sym typeface="Times New Roman" panose="02020603050405020304" pitchFamily="18" charset="0"/>
              </a:rPr>
              <a:t>C</a:t>
            </a:r>
            <a:r>
              <a:rPr lang="en-US" altLang="zh-CN" sz="2000" baseline="-25000" dirty="0">
                <a:latin typeface="+mn-ea"/>
                <a:cs typeface="+mn-ea"/>
                <a:sym typeface="Times New Roman" panose="02020603050405020304" pitchFamily="18" charset="0"/>
              </a:rPr>
              <a:t>1</a:t>
            </a:r>
            <a:r>
              <a:rPr lang="zh-CN" altLang="zh-CN" sz="2000" dirty="0">
                <a:latin typeface="+mn-ea"/>
                <a:cs typeface="+mn-ea"/>
                <a:sym typeface="Times New Roman" panose="02020603050405020304" pitchFamily="18" charset="0"/>
              </a:rPr>
              <a:t>级要求</a:t>
            </a:r>
            <a:r>
              <a:rPr lang="en-US" altLang="zh-CN" sz="2000" dirty="0">
                <a:latin typeface="+mn-ea"/>
                <a:cs typeface="+mn-ea"/>
                <a:sym typeface="Times New Roman" panose="02020603050405020304" pitchFamily="18" charset="0"/>
              </a:rPr>
              <a:t>OS</a:t>
            </a:r>
            <a:r>
              <a:rPr lang="zh-CN" altLang="zh-CN" sz="2000" dirty="0">
                <a:latin typeface="+mn-ea"/>
                <a:cs typeface="+mn-ea"/>
                <a:sym typeface="Times New Roman" panose="02020603050405020304" pitchFamily="18" charset="0"/>
              </a:rPr>
              <a:t>使用保护模式和用户登录验证，并赋予用户自主访问控制权，即允许用户指定其他用户对自己文件的使用权限。大部分的</a:t>
            </a:r>
            <a:r>
              <a:rPr lang="en-US" altLang="zh-CN" sz="2000" dirty="0">
                <a:latin typeface="+mn-ea"/>
                <a:cs typeface="+mn-ea"/>
                <a:sym typeface="Times New Roman" panose="02020603050405020304" pitchFamily="18" charset="0"/>
              </a:rPr>
              <a:t>UNIX</a:t>
            </a:r>
            <a:r>
              <a:rPr lang="zh-CN" altLang="zh-CN" sz="2000" dirty="0">
                <a:latin typeface="+mn-ea"/>
                <a:cs typeface="+mn-ea"/>
                <a:sym typeface="Times New Roman" panose="02020603050405020304" pitchFamily="18" charset="0"/>
              </a:rPr>
              <a:t>系统属于</a:t>
            </a:r>
            <a:r>
              <a:rPr lang="en-US" altLang="zh-CN" sz="2000" dirty="0">
                <a:latin typeface="+mn-ea"/>
                <a:cs typeface="+mn-ea"/>
                <a:sym typeface="Times New Roman" panose="02020603050405020304" pitchFamily="18" charset="0"/>
              </a:rPr>
              <a:t>C</a:t>
            </a:r>
            <a:r>
              <a:rPr lang="en-US" altLang="zh-CN" sz="2000" baseline="-25000" dirty="0">
                <a:latin typeface="+mn-ea"/>
                <a:cs typeface="+mn-ea"/>
                <a:sym typeface="Times New Roman" panose="02020603050405020304" pitchFamily="18" charset="0"/>
              </a:rPr>
              <a:t>1</a:t>
            </a:r>
            <a:r>
              <a:rPr lang="zh-CN" altLang="zh-CN" sz="2000" dirty="0">
                <a:latin typeface="+mn-ea"/>
                <a:cs typeface="+mn-ea"/>
                <a:sym typeface="Times New Roman" panose="02020603050405020304" pitchFamily="18" charset="0"/>
              </a:rPr>
              <a:t>级。</a:t>
            </a:r>
            <a:endParaRPr lang="zh-CN" altLang="en-US" sz="2000" dirty="0">
              <a:latin typeface="+mn-ea"/>
              <a:cs typeface="+mn-ea"/>
              <a:sym typeface="Times New Roman" panose="02020603050405020304" pitchFamily="18" charset="0"/>
            </a:endParaRPr>
          </a:p>
        </p:txBody>
      </p:sp>
      <p:sp>
        <p:nvSpPr>
          <p:cNvPr id="5" name="íSľïdé"/>
          <p:cNvSpPr/>
          <p:nvPr/>
        </p:nvSpPr>
        <p:spPr>
          <a:xfrm>
            <a:off x="773586" y="1255128"/>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6" name="ïŝļíḓê"/>
          <p:cNvSpPr/>
          <p:nvPr/>
        </p:nvSpPr>
        <p:spPr bwMode="auto">
          <a:xfrm>
            <a:off x="784514" y="2633950"/>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91440" tIns="45720" rIns="91440" bIns="45720">
            <a:normAutofit/>
          </a:bodyPr>
          <a:lstStyle/>
          <a:p>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计算机安全的分类（</a:t>
            </a:r>
            <a:r>
              <a:rPr lang="en-US" altLang="zh-CN"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a:t>
            </a:r>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a:t>
            </a:r>
          </a:p>
        </p:txBody>
      </p:sp>
      <p:sp>
        <p:nvSpPr>
          <p:cNvPr id="3" name="内容占位符 2"/>
          <p:cNvSpPr txBox="1"/>
          <p:nvPr/>
        </p:nvSpPr>
        <p:spPr>
          <a:xfrm>
            <a:off x="974501" y="1280373"/>
            <a:ext cx="10217239" cy="484996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23000"/>
              </a:lnSpc>
              <a:buFont typeface="+mj-ea"/>
              <a:buAutoNum type="circleNumDbPlain" startAt="3"/>
            </a:pPr>
            <a:r>
              <a:rPr lang="en-US" altLang="zh-CN" sz="2200" dirty="0">
                <a:solidFill>
                  <a:srgbClr val="0000FF"/>
                </a:solidFill>
                <a:latin typeface="+mn-ea"/>
                <a:cs typeface="+mn-ea"/>
                <a:sym typeface="Times New Roman" panose="02020603050405020304" pitchFamily="18" charset="0"/>
              </a:rPr>
              <a:t>C</a:t>
            </a:r>
            <a:r>
              <a:rPr lang="en-US" altLang="zh-CN" sz="2200" baseline="-25000" dirty="0">
                <a:solidFill>
                  <a:srgbClr val="0000FF"/>
                </a:solidFill>
                <a:latin typeface="+mn-ea"/>
                <a:cs typeface="+mn-ea"/>
                <a:sym typeface="Times New Roman" panose="02020603050405020304" pitchFamily="18" charset="0"/>
              </a:rPr>
              <a:t>2</a:t>
            </a:r>
            <a:r>
              <a:rPr lang="en-US" altLang="zh-CN" sz="2200" dirty="0">
                <a:solidFill>
                  <a:srgbClr val="0000FF"/>
                </a:solidFill>
                <a:latin typeface="+mn-ea"/>
                <a:cs typeface="+mn-ea"/>
                <a:sym typeface="Times New Roman" panose="02020603050405020304" pitchFamily="18" charset="0"/>
              </a:rPr>
              <a:t>级</a:t>
            </a:r>
            <a:r>
              <a:rPr lang="zh-CN" altLang="zh-CN" sz="2200" dirty="0">
                <a:latin typeface="+mn-ea"/>
                <a:cs typeface="+mn-ea"/>
                <a:sym typeface="Times New Roman" panose="02020603050405020304" pitchFamily="18" charset="0"/>
              </a:rPr>
              <a:t>，称为受控存取控制级。它是在</a:t>
            </a:r>
            <a:r>
              <a:rPr lang="en-US" altLang="zh-CN" sz="2200" dirty="0">
                <a:latin typeface="+mn-ea"/>
                <a:cs typeface="+mn-ea"/>
                <a:sym typeface="Times New Roman" panose="02020603050405020304" pitchFamily="18" charset="0"/>
              </a:rPr>
              <a:t>C</a:t>
            </a:r>
            <a:r>
              <a:rPr lang="en-US" altLang="zh-CN" sz="2200" baseline="-25000" dirty="0">
                <a:latin typeface="+mn-ea"/>
                <a:cs typeface="+mn-ea"/>
                <a:sym typeface="Times New Roman" panose="02020603050405020304" pitchFamily="18" charset="0"/>
              </a:rPr>
              <a:t>1</a:t>
            </a:r>
            <a:r>
              <a:rPr lang="zh-CN" altLang="zh-CN" sz="2200" dirty="0">
                <a:latin typeface="+mn-ea"/>
                <a:cs typeface="+mn-ea"/>
                <a:sym typeface="Times New Roman" panose="02020603050405020304" pitchFamily="18" charset="0"/>
              </a:rPr>
              <a:t>级的基础上，增加了一个个体层访问控制</a:t>
            </a:r>
            <a:r>
              <a:rPr lang="zh-CN" altLang="en-US" sz="2200" dirty="0">
                <a:latin typeface="+mn-ea"/>
                <a:cs typeface="+mn-ea"/>
                <a:sym typeface="Times New Roman" panose="02020603050405020304" pitchFamily="18" charset="0"/>
              </a:rPr>
              <a:t>。</a:t>
            </a:r>
            <a:r>
              <a:rPr lang="zh-CN" altLang="zh-CN" sz="2200" dirty="0">
                <a:latin typeface="+mn-ea"/>
                <a:cs typeface="+mn-ea"/>
                <a:sym typeface="Times New Roman" panose="02020603050405020304" pitchFamily="18" charset="0"/>
              </a:rPr>
              <a:t>当前广泛使用的安全软件大多属于</a:t>
            </a:r>
            <a:r>
              <a:rPr lang="en-US" altLang="zh-CN" sz="2200" dirty="0">
                <a:latin typeface="+mn-ea"/>
                <a:cs typeface="+mn-ea"/>
                <a:sym typeface="Times New Roman" panose="02020603050405020304" pitchFamily="18" charset="0"/>
              </a:rPr>
              <a:t>C</a:t>
            </a:r>
            <a:r>
              <a:rPr lang="en-US" altLang="zh-CN" sz="2200" baseline="-25000" dirty="0">
                <a:latin typeface="+mn-ea"/>
                <a:cs typeface="+mn-ea"/>
                <a:sym typeface="Times New Roman" panose="02020603050405020304" pitchFamily="18" charset="0"/>
              </a:rPr>
              <a:t>2</a:t>
            </a:r>
            <a:r>
              <a:rPr lang="zh-CN" altLang="zh-CN" sz="2200" dirty="0">
                <a:latin typeface="+mn-ea"/>
                <a:cs typeface="+mn-ea"/>
                <a:sym typeface="Times New Roman" panose="02020603050405020304" pitchFamily="18" charset="0"/>
              </a:rPr>
              <a:t>级。</a:t>
            </a:r>
            <a:endParaRPr lang="en-US" altLang="zh-CN" sz="2200" dirty="0">
              <a:latin typeface="+mn-ea"/>
              <a:cs typeface="+mn-ea"/>
              <a:sym typeface="Times New Roman" panose="02020603050405020304" pitchFamily="18" charset="0"/>
            </a:endParaRPr>
          </a:p>
          <a:p>
            <a:pPr marL="457200" indent="-457200">
              <a:lnSpc>
                <a:spcPct val="123000"/>
              </a:lnSpc>
              <a:buFont typeface="+mj-ea"/>
              <a:buAutoNum type="circleNumDbPlain" startAt="3"/>
            </a:pPr>
            <a:r>
              <a:rPr lang="en-US" altLang="zh-CN" sz="2200" dirty="0">
                <a:solidFill>
                  <a:srgbClr val="0000FF"/>
                </a:solidFill>
                <a:latin typeface="+mn-ea"/>
                <a:cs typeface="+mn-ea"/>
                <a:sym typeface="Times New Roman" panose="02020603050405020304" pitchFamily="18" charset="0"/>
              </a:rPr>
              <a:t>B</a:t>
            </a:r>
            <a:r>
              <a:rPr lang="en-US" altLang="zh-CN" sz="2200" baseline="-25000" dirty="0">
                <a:solidFill>
                  <a:srgbClr val="0000FF"/>
                </a:solidFill>
                <a:latin typeface="+mn-ea"/>
                <a:cs typeface="+mn-ea"/>
                <a:sym typeface="Times New Roman" panose="02020603050405020304" pitchFamily="18" charset="0"/>
              </a:rPr>
              <a:t>1</a:t>
            </a:r>
            <a:r>
              <a:rPr lang="en-US" altLang="zh-CN" sz="2200" dirty="0">
                <a:solidFill>
                  <a:srgbClr val="0000FF"/>
                </a:solidFill>
                <a:latin typeface="+mn-ea"/>
                <a:cs typeface="+mn-ea"/>
                <a:sym typeface="Times New Roman" panose="02020603050405020304" pitchFamily="18" charset="0"/>
              </a:rPr>
              <a:t>级</a:t>
            </a:r>
            <a:r>
              <a:rPr lang="zh-CN" altLang="zh-CN" sz="2200" dirty="0">
                <a:latin typeface="+mn-ea"/>
                <a:cs typeface="+mn-ea"/>
                <a:sym typeface="Times New Roman" panose="02020603050405020304" pitchFamily="18" charset="0"/>
              </a:rPr>
              <a:t>，具有</a:t>
            </a:r>
            <a:r>
              <a:rPr lang="en-US" altLang="zh-CN" sz="2200" dirty="0">
                <a:latin typeface="+mn-ea"/>
                <a:cs typeface="+mn-ea"/>
                <a:sym typeface="Times New Roman" panose="02020603050405020304" pitchFamily="18" charset="0"/>
              </a:rPr>
              <a:t>C</a:t>
            </a:r>
            <a:r>
              <a:rPr lang="en-US" altLang="zh-CN" sz="2200" baseline="-25000" dirty="0">
                <a:latin typeface="+mn-ea"/>
                <a:cs typeface="+mn-ea"/>
                <a:sym typeface="Times New Roman" panose="02020603050405020304" pitchFamily="18" charset="0"/>
              </a:rPr>
              <a:t>2</a:t>
            </a:r>
            <a:r>
              <a:rPr lang="zh-CN" altLang="zh-CN" sz="2200" dirty="0">
                <a:latin typeface="+mn-ea"/>
                <a:cs typeface="+mn-ea"/>
                <a:sym typeface="Times New Roman" panose="02020603050405020304" pitchFamily="18" charset="0"/>
              </a:rPr>
              <a:t>级的全部安全属性。在</a:t>
            </a:r>
            <a:r>
              <a:rPr lang="en-US" altLang="zh-CN" sz="2200" dirty="0">
                <a:latin typeface="+mn-ea"/>
                <a:cs typeface="+mn-ea"/>
                <a:sym typeface="Times New Roman" panose="02020603050405020304" pitchFamily="18" charset="0"/>
              </a:rPr>
              <a:t>B</a:t>
            </a:r>
            <a:r>
              <a:rPr lang="zh-CN" altLang="zh-CN" sz="2200" dirty="0">
                <a:latin typeface="+mn-ea"/>
                <a:cs typeface="+mn-ea"/>
                <a:sym typeface="Times New Roman" panose="02020603050405020304" pitchFamily="18" charset="0"/>
              </a:rPr>
              <a:t>类系统中，会为每个可控用户和对象贴上一个安全标注。</a:t>
            </a:r>
            <a:endParaRPr lang="en-US" altLang="zh-CN" sz="2200" dirty="0">
              <a:latin typeface="+mn-ea"/>
              <a:cs typeface="+mn-ea"/>
              <a:sym typeface="Times New Roman" panose="02020603050405020304" pitchFamily="18" charset="0"/>
            </a:endParaRPr>
          </a:p>
          <a:p>
            <a:pPr marL="457200" indent="-457200">
              <a:lnSpc>
                <a:spcPct val="123000"/>
              </a:lnSpc>
              <a:buFont typeface="+mj-ea"/>
              <a:buAutoNum type="circleNumDbPlain" startAt="3"/>
            </a:pPr>
            <a:r>
              <a:rPr lang="en-US" altLang="zh-CN" sz="2200" dirty="0">
                <a:solidFill>
                  <a:srgbClr val="0000FF"/>
                </a:solidFill>
                <a:latin typeface="+mn-ea"/>
                <a:cs typeface="+mn-ea"/>
                <a:sym typeface="Times New Roman" panose="02020603050405020304" pitchFamily="18" charset="0"/>
              </a:rPr>
              <a:t>B</a:t>
            </a:r>
            <a:r>
              <a:rPr lang="en-US" altLang="zh-CN" sz="2200" baseline="-25000" dirty="0">
                <a:solidFill>
                  <a:srgbClr val="0000FF"/>
                </a:solidFill>
                <a:latin typeface="+mn-ea"/>
                <a:cs typeface="+mn-ea"/>
                <a:sym typeface="Times New Roman" panose="02020603050405020304" pitchFamily="18" charset="0"/>
              </a:rPr>
              <a:t>2</a:t>
            </a:r>
            <a:r>
              <a:rPr lang="en-US" altLang="zh-CN" sz="2200" dirty="0">
                <a:solidFill>
                  <a:srgbClr val="0000FF"/>
                </a:solidFill>
                <a:latin typeface="+mn-ea"/>
                <a:cs typeface="+mn-ea"/>
                <a:sym typeface="Times New Roman" panose="02020603050405020304" pitchFamily="18" charset="0"/>
              </a:rPr>
              <a:t>级</a:t>
            </a:r>
            <a:r>
              <a:rPr lang="zh-CN" altLang="zh-CN" sz="2200" dirty="0">
                <a:latin typeface="+mn-ea"/>
                <a:cs typeface="+mn-ea"/>
                <a:sym typeface="Times New Roman" panose="02020603050405020304" pitchFamily="18" charset="0"/>
              </a:rPr>
              <a:t>，具有</a:t>
            </a:r>
            <a:r>
              <a:rPr lang="en-US" altLang="zh-CN" sz="2200" dirty="0">
                <a:latin typeface="+mn-ea"/>
                <a:cs typeface="+mn-ea"/>
                <a:sym typeface="Times New Roman" panose="02020603050405020304" pitchFamily="18" charset="0"/>
              </a:rPr>
              <a:t>B</a:t>
            </a:r>
            <a:r>
              <a:rPr lang="en-US" altLang="zh-CN" sz="2200" baseline="-25000" dirty="0">
                <a:latin typeface="+mn-ea"/>
                <a:cs typeface="+mn-ea"/>
                <a:sym typeface="Times New Roman" panose="02020603050405020304" pitchFamily="18" charset="0"/>
              </a:rPr>
              <a:t>1</a:t>
            </a:r>
            <a:r>
              <a:rPr lang="zh-CN" altLang="zh-CN" sz="2200" dirty="0">
                <a:latin typeface="+mn-ea"/>
                <a:cs typeface="+mn-ea"/>
                <a:sym typeface="Times New Roman" panose="02020603050405020304" pitchFamily="18" charset="0"/>
              </a:rPr>
              <a:t>级的全部安全属性。</a:t>
            </a:r>
            <a:r>
              <a:rPr lang="en-US" altLang="zh-CN" sz="2200" dirty="0">
                <a:latin typeface="+mn-ea"/>
                <a:cs typeface="+mn-ea"/>
                <a:sym typeface="Times New Roman" panose="02020603050405020304" pitchFamily="18" charset="0"/>
              </a:rPr>
              <a:t>B</a:t>
            </a:r>
            <a:r>
              <a:rPr lang="en-US" altLang="zh-CN" sz="2200" baseline="-25000" dirty="0">
                <a:latin typeface="+mn-ea"/>
                <a:cs typeface="+mn-ea"/>
                <a:sym typeface="Times New Roman" panose="02020603050405020304" pitchFamily="18" charset="0"/>
              </a:rPr>
              <a:t>2</a:t>
            </a:r>
            <a:r>
              <a:rPr lang="zh-CN" altLang="zh-CN" sz="2200" dirty="0">
                <a:latin typeface="+mn-ea"/>
                <a:cs typeface="+mn-ea"/>
                <a:sym typeface="Times New Roman" panose="02020603050405020304" pitchFamily="18" charset="0"/>
              </a:rPr>
              <a:t>级要求系统必须采用自上而下的结构化设计方法，并能够对设计方法进行检验，对可能存在的隐蔽信道进行安全分析。</a:t>
            </a:r>
            <a:endParaRPr lang="en-US" altLang="zh-CN" sz="2200" dirty="0">
              <a:latin typeface="+mn-ea"/>
              <a:cs typeface="+mn-ea"/>
              <a:sym typeface="Times New Roman" panose="02020603050405020304" pitchFamily="18" charset="0"/>
            </a:endParaRPr>
          </a:p>
          <a:p>
            <a:pPr marL="457200" indent="-457200">
              <a:lnSpc>
                <a:spcPct val="123000"/>
              </a:lnSpc>
              <a:buFont typeface="+mj-ea"/>
              <a:buAutoNum type="circleNumDbPlain" startAt="3"/>
            </a:pPr>
            <a:r>
              <a:rPr lang="en-US" altLang="zh-CN" sz="2200" dirty="0">
                <a:solidFill>
                  <a:srgbClr val="0000FF"/>
                </a:solidFill>
                <a:latin typeface="+mn-ea"/>
                <a:cs typeface="+mn-ea"/>
                <a:sym typeface="Times New Roman" panose="02020603050405020304" pitchFamily="18" charset="0"/>
              </a:rPr>
              <a:t>B</a:t>
            </a:r>
            <a:r>
              <a:rPr lang="en-US" altLang="zh-CN" sz="2200" baseline="-25000" dirty="0">
                <a:solidFill>
                  <a:srgbClr val="0000FF"/>
                </a:solidFill>
                <a:latin typeface="+mn-ea"/>
                <a:cs typeface="+mn-ea"/>
                <a:sym typeface="Times New Roman" panose="02020603050405020304" pitchFamily="18" charset="0"/>
              </a:rPr>
              <a:t>3</a:t>
            </a:r>
            <a:r>
              <a:rPr lang="en-US" altLang="zh-CN" sz="2200" dirty="0">
                <a:solidFill>
                  <a:srgbClr val="0000FF"/>
                </a:solidFill>
                <a:latin typeface="+mn-ea"/>
                <a:cs typeface="+mn-ea"/>
                <a:sym typeface="Times New Roman" panose="02020603050405020304" pitchFamily="18" charset="0"/>
              </a:rPr>
              <a:t>级</a:t>
            </a:r>
            <a:r>
              <a:rPr lang="zh-CN" altLang="zh-CN" sz="2200" dirty="0">
                <a:latin typeface="+mn-ea"/>
                <a:cs typeface="+mn-ea"/>
                <a:sym typeface="Times New Roman" panose="02020603050405020304" pitchFamily="18" charset="0"/>
              </a:rPr>
              <a:t>，具有</a:t>
            </a:r>
            <a:r>
              <a:rPr lang="en-US" altLang="zh-CN" sz="2200" dirty="0">
                <a:latin typeface="+mn-ea"/>
                <a:cs typeface="+mn-ea"/>
                <a:sym typeface="Times New Roman" panose="02020603050405020304" pitchFamily="18" charset="0"/>
              </a:rPr>
              <a:t>B</a:t>
            </a:r>
            <a:r>
              <a:rPr lang="en-US" altLang="zh-CN" sz="2200" baseline="-25000" dirty="0">
                <a:latin typeface="+mn-ea"/>
                <a:cs typeface="+mn-ea"/>
                <a:sym typeface="Times New Roman" panose="02020603050405020304" pitchFamily="18" charset="0"/>
              </a:rPr>
              <a:t>2</a:t>
            </a:r>
            <a:r>
              <a:rPr lang="zh-CN" altLang="zh-CN" sz="2200" dirty="0">
                <a:latin typeface="+mn-ea"/>
                <a:cs typeface="+mn-ea"/>
                <a:sym typeface="Times New Roman" panose="02020603050405020304" pitchFamily="18" charset="0"/>
              </a:rPr>
              <a:t>级的全部安全属性。在</a:t>
            </a:r>
            <a:r>
              <a:rPr lang="en-US" altLang="zh-CN" sz="2200" dirty="0">
                <a:latin typeface="+mn-ea"/>
                <a:cs typeface="+mn-ea"/>
                <a:sym typeface="Times New Roman" panose="02020603050405020304" pitchFamily="18" charset="0"/>
              </a:rPr>
              <a:t>B</a:t>
            </a:r>
            <a:r>
              <a:rPr lang="en-US" altLang="zh-CN" sz="2200" baseline="-25000" dirty="0">
                <a:latin typeface="+mn-ea"/>
                <a:cs typeface="+mn-ea"/>
                <a:sym typeface="Times New Roman" panose="02020603050405020304" pitchFamily="18" charset="0"/>
              </a:rPr>
              <a:t>3</a:t>
            </a:r>
            <a:r>
              <a:rPr lang="zh-CN" altLang="zh-CN" sz="2200" dirty="0">
                <a:latin typeface="+mn-ea"/>
                <a:cs typeface="+mn-ea"/>
                <a:sym typeface="Times New Roman" panose="02020603050405020304" pitchFamily="18" charset="0"/>
              </a:rPr>
              <a:t>级系统中必须包含用户和组的访问控制表、足够的安全审计和灾难恢复能力。</a:t>
            </a:r>
            <a:endParaRPr lang="en-US" altLang="zh-CN" sz="2200" dirty="0">
              <a:latin typeface="+mn-ea"/>
              <a:cs typeface="+mn-ea"/>
              <a:sym typeface="Times New Roman" panose="02020603050405020304" pitchFamily="18" charset="0"/>
            </a:endParaRPr>
          </a:p>
          <a:p>
            <a:pPr marL="457200" indent="-457200">
              <a:lnSpc>
                <a:spcPct val="123000"/>
              </a:lnSpc>
              <a:buFont typeface="+mj-ea"/>
              <a:buAutoNum type="circleNumDbPlain" startAt="3"/>
            </a:pPr>
            <a:r>
              <a:rPr lang="en-US" altLang="zh-CN" sz="2200" dirty="0">
                <a:solidFill>
                  <a:srgbClr val="0000FF"/>
                </a:solidFill>
                <a:latin typeface="+mn-ea"/>
                <a:cs typeface="+mn-ea"/>
                <a:sym typeface="Times New Roman" panose="02020603050405020304" pitchFamily="18" charset="0"/>
              </a:rPr>
              <a:t>A</a:t>
            </a:r>
            <a:r>
              <a:rPr lang="en-US" altLang="zh-CN" sz="2200" baseline="-25000" dirty="0">
                <a:solidFill>
                  <a:srgbClr val="0000FF"/>
                </a:solidFill>
                <a:latin typeface="+mn-ea"/>
                <a:cs typeface="+mn-ea"/>
                <a:sym typeface="Times New Roman" panose="02020603050405020304" pitchFamily="18" charset="0"/>
              </a:rPr>
              <a:t>1</a:t>
            </a:r>
            <a:r>
              <a:rPr lang="en-US" altLang="zh-CN" sz="2200" dirty="0">
                <a:solidFill>
                  <a:srgbClr val="0000FF"/>
                </a:solidFill>
                <a:latin typeface="+mn-ea"/>
                <a:cs typeface="+mn-ea"/>
                <a:sym typeface="Times New Roman" panose="02020603050405020304" pitchFamily="18" charset="0"/>
              </a:rPr>
              <a:t>级</a:t>
            </a:r>
            <a:r>
              <a:rPr lang="zh-CN" altLang="zh-CN" sz="2200" dirty="0">
                <a:latin typeface="+mn-ea"/>
                <a:cs typeface="+mn-ea"/>
                <a:sym typeface="Times New Roman" panose="02020603050405020304" pitchFamily="18" charset="0"/>
              </a:rPr>
              <a:t>，要求系统具有强制存取控制和形式化模型技术的应用，能证明模型是正确的，并须说明有关实现方法是与保护模型一致的。</a:t>
            </a:r>
            <a:endParaRPr lang="zh-CN" altLang="en-US" sz="2200" dirty="0">
              <a:latin typeface="+mn-ea"/>
              <a:cs typeface="+mn-ea"/>
              <a:sym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数据加密原理</a:t>
            </a:r>
          </a:p>
        </p:txBody>
      </p:sp>
      <p:sp>
        <p:nvSpPr>
          <p:cNvPr id="4" name="íSľïdé"/>
          <p:cNvSpPr/>
          <p:nvPr/>
        </p:nvSpPr>
        <p:spPr>
          <a:xfrm>
            <a:off x="1906927" y="1654370"/>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5" name="ïŝļíḓê"/>
          <p:cNvSpPr/>
          <p:nvPr/>
        </p:nvSpPr>
        <p:spPr bwMode="auto">
          <a:xfrm>
            <a:off x="8689292" y="2286218"/>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91440" tIns="45720" rIns="91440" bIns="45720">
            <a:normAutofit/>
          </a:bodyPr>
          <a:lstStyle/>
          <a:p>
            <a:endParaRPr lang="zh-CN" altLang="en-US"/>
          </a:p>
        </p:txBody>
      </p:sp>
      <p:sp>
        <p:nvSpPr>
          <p:cNvPr id="6" name="îṧľîdé"/>
          <p:cNvSpPr/>
          <p:nvPr/>
        </p:nvSpPr>
        <p:spPr>
          <a:xfrm>
            <a:off x="3703687" y="1495090"/>
            <a:ext cx="4034934" cy="2095500"/>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7" name="内容占位符 2"/>
          <p:cNvSpPr txBox="1"/>
          <p:nvPr/>
        </p:nvSpPr>
        <p:spPr>
          <a:xfrm>
            <a:off x="894703" y="2286218"/>
            <a:ext cx="3252294" cy="173003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solidFill>
                  <a:srgbClr val="0000FF"/>
                </a:solidFill>
              </a:rPr>
              <a:t>加密</a:t>
            </a:r>
            <a:r>
              <a:rPr lang="zh-CN" altLang="en-US" sz="2400" dirty="0"/>
              <a:t>是一种密写科学，用于</a:t>
            </a:r>
            <a:r>
              <a:rPr lang="zh-CN" altLang="en-US" sz="2400" dirty="0">
                <a:solidFill>
                  <a:srgbClr val="0000FF"/>
                </a:solidFill>
              </a:rPr>
              <a:t>把系统中的数据</a:t>
            </a:r>
            <a:r>
              <a:rPr lang="en-US" altLang="zh-CN" sz="2400" dirty="0">
                <a:solidFill>
                  <a:srgbClr val="0000FF"/>
                </a:solidFill>
              </a:rPr>
              <a:t>(</a:t>
            </a:r>
            <a:r>
              <a:rPr lang="zh-CN" altLang="en-US" sz="2400" dirty="0">
                <a:solidFill>
                  <a:srgbClr val="0000FF"/>
                </a:solidFill>
              </a:rPr>
              <a:t>称为明文</a:t>
            </a:r>
            <a:r>
              <a:rPr lang="en-US" altLang="zh-CN" sz="2400" dirty="0">
                <a:solidFill>
                  <a:srgbClr val="0000FF"/>
                </a:solidFill>
              </a:rPr>
              <a:t>)</a:t>
            </a:r>
            <a:r>
              <a:rPr lang="zh-CN" altLang="en-US" sz="2400" dirty="0">
                <a:solidFill>
                  <a:srgbClr val="0000FF"/>
                </a:solidFill>
              </a:rPr>
              <a:t>转换为密文</a:t>
            </a:r>
            <a:r>
              <a:rPr lang="zh-CN" altLang="en-US" sz="2400" dirty="0"/>
              <a:t>。使攻击者即使截获到被加密的数据，也无法了解数据的内容，从而有效地保护了系统中信息的安全性</a:t>
            </a:r>
            <a:endParaRPr lang="zh-CN" altLang="en-US" sz="2400" dirty="0">
              <a:solidFill>
                <a:schemeClr val="tx1">
                  <a:lumMod val="65000"/>
                  <a:lumOff val="35000"/>
                </a:schemeClr>
              </a:solidFill>
            </a:endParaRPr>
          </a:p>
        </p:txBody>
      </p:sp>
      <p:sp>
        <p:nvSpPr>
          <p:cNvPr id="8" name="内容占位符 2"/>
          <p:cNvSpPr txBox="1"/>
          <p:nvPr/>
        </p:nvSpPr>
        <p:spPr>
          <a:xfrm>
            <a:off x="7696200" y="2964586"/>
            <a:ext cx="3315237" cy="221271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t>数据加密技术包括：</a:t>
            </a: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rgbClr val="0000FF"/>
                </a:solidFill>
              </a:rPr>
              <a:t>数据加密</a:t>
            </a: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rgbClr val="0000FF"/>
                </a:solidFill>
              </a:rPr>
              <a:t>数据解密</a:t>
            </a: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rgbClr val="0000FF"/>
                </a:solidFill>
              </a:rPr>
              <a:t>数字签名</a:t>
            </a:r>
          </a:p>
        </p:txBody>
      </p:sp>
      <p:sp>
        <p:nvSpPr>
          <p:cNvPr id="9" name="内容占位符 2"/>
          <p:cNvSpPr txBox="1"/>
          <p:nvPr/>
        </p:nvSpPr>
        <p:spPr>
          <a:xfrm>
            <a:off x="9694601" y="3479741"/>
            <a:ext cx="2012296" cy="169756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rgbClr val="0000FF"/>
                </a:solidFill>
              </a:rPr>
              <a:t>签名识别</a:t>
            </a: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rgbClr val="0000FF"/>
                </a:solidFill>
              </a:rPr>
              <a:t>数字证明</a:t>
            </a:r>
          </a:p>
          <a:p>
            <a:pPr marL="0" lvl="1" indent="-342900">
              <a:lnSpc>
                <a:spcPct val="132000"/>
              </a:lnSpc>
              <a:spcBef>
                <a:spcPts val="370"/>
              </a:spcBef>
              <a:buClr>
                <a:srgbClr val="E71101"/>
              </a:buClr>
              <a:buSzPct val="60000"/>
              <a:buFont typeface="Wingdings" panose="05000000000000000000" pitchFamily="2" charset="2"/>
              <a:buChar char="Ø"/>
              <a:defRPr/>
            </a:pPr>
            <a:r>
              <a:rPr lang="en-US" altLang="zh-CN" sz="2400" dirty="0">
                <a:solidFill>
                  <a:srgbClr val="0000FF"/>
                </a:solidFill>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数据加密模型</a:t>
            </a:r>
          </a:p>
        </p:txBody>
      </p:sp>
      <p:sp>
        <p:nvSpPr>
          <p:cNvPr id="3" name="内容占位符 2"/>
          <p:cNvSpPr txBox="1"/>
          <p:nvPr/>
        </p:nvSpPr>
        <p:spPr>
          <a:xfrm>
            <a:off x="851586" y="1289050"/>
            <a:ext cx="3849203" cy="57838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zh-CN" sz="2400" dirty="0">
                <a:latin typeface="+mn-ea"/>
                <a:cs typeface="+mn-ea"/>
                <a:sym typeface="Times New Roman" panose="02020603050405020304" pitchFamily="18" charset="0"/>
              </a:rPr>
              <a:t>数据加密模型由</a:t>
            </a:r>
            <a:r>
              <a:rPr lang="en-US" altLang="zh-CN" sz="2400" dirty="0">
                <a:latin typeface="+mn-ea"/>
                <a:cs typeface="+mn-ea"/>
                <a:sym typeface="Times New Roman" panose="02020603050405020304" pitchFamily="18" charset="0"/>
              </a:rPr>
              <a:t>4</a:t>
            </a:r>
            <a:r>
              <a:rPr lang="zh-CN" altLang="zh-CN" sz="2400" dirty="0">
                <a:latin typeface="+mn-ea"/>
                <a:cs typeface="+mn-ea"/>
                <a:sym typeface="Times New Roman" panose="02020603050405020304" pitchFamily="18" charset="0"/>
              </a:rPr>
              <a:t>部分组成</a:t>
            </a:r>
            <a:endParaRPr lang="en-US" altLang="zh-CN" sz="2400" dirty="0">
              <a:latin typeface="+mn-ea"/>
              <a:cs typeface="+mn-ea"/>
              <a:sym typeface="Times New Roman" panose="02020603050405020304" pitchFamily="18" charset="0"/>
            </a:endParaRPr>
          </a:p>
        </p:txBody>
      </p:sp>
      <p:grpSp>
        <p:nvGrpSpPr>
          <p:cNvPr id="5" name="21764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410344" y="1929384"/>
            <a:ext cx="11229049" cy="3733571"/>
            <a:chOff x="410344" y="1929384"/>
            <a:chExt cx="11229049" cy="3733571"/>
          </a:xfrm>
        </p:grpSpPr>
        <p:sp>
          <p:nvSpPr>
            <p:cNvPr id="6" name="ïsḷîḋê"/>
            <p:cNvSpPr/>
            <p:nvPr/>
          </p:nvSpPr>
          <p:spPr>
            <a:xfrm>
              <a:off x="673100" y="1929384"/>
              <a:ext cx="10845800" cy="2125980"/>
            </a:xfrm>
            <a:prstGeom prst="rightArrow">
              <a:avLst>
                <a:gd name="adj1" fmla="val 50000"/>
                <a:gd name="adj2" fmla="val 4225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7" name="ïṩḻíḑe"/>
            <p:cNvSpPr/>
            <p:nvPr/>
          </p:nvSpPr>
          <p:spPr>
            <a:xfrm rot="2700000">
              <a:off x="1148317" y="2189617"/>
              <a:ext cx="1605516" cy="1605516"/>
            </a:xfrm>
            <a:custGeom>
              <a:avLst/>
              <a:gdLst>
                <a:gd name="connsiteX0" fmla="*/ 135628 w 1605516"/>
                <a:gd name="connsiteY0" fmla="*/ 135628 h 1605516"/>
                <a:gd name="connsiteX1" fmla="*/ 463063 w 1605516"/>
                <a:gd name="connsiteY1" fmla="*/ 0 h 1605516"/>
                <a:gd name="connsiteX2" fmla="*/ 1142453 w 1605516"/>
                <a:gd name="connsiteY2" fmla="*/ 0 h 1605516"/>
                <a:gd name="connsiteX3" fmla="*/ 1605516 w 1605516"/>
                <a:gd name="connsiteY3" fmla="*/ 463063 h 1605516"/>
                <a:gd name="connsiteX4" fmla="*/ 1605516 w 1605516"/>
                <a:gd name="connsiteY4" fmla="*/ 1142453 h 1605516"/>
                <a:gd name="connsiteX5" fmla="*/ 1142453 w 1605516"/>
                <a:gd name="connsiteY5" fmla="*/ 1605516 h 1605516"/>
                <a:gd name="connsiteX6" fmla="*/ 463063 w 1605516"/>
                <a:gd name="connsiteY6" fmla="*/ 1605516 h 1605516"/>
                <a:gd name="connsiteX7" fmla="*/ 282818 w 1605516"/>
                <a:gd name="connsiteY7" fmla="*/ 1569126 h 1605516"/>
                <a:gd name="connsiteX8" fmla="*/ 247355 w 1605516"/>
                <a:gd name="connsiteY8" fmla="*/ 1549878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637 w 1605516"/>
                <a:gd name="connsiteY14" fmla="*/ 1358159 h 1605516"/>
                <a:gd name="connsiteX15" fmla="*/ 36390 w 1605516"/>
                <a:gd name="connsiteY15" fmla="*/ 1322698 h 1605516"/>
                <a:gd name="connsiteX16" fmla="*/ 0 w 1605516"/>
                <a:gd name="connsiteY16" fmla="*/ 1142453 h 1605516"/>
                <a:gd name="connsiteX17" fmla="*/ 0 w 1605516"/>
                <a:gd name="connsiteY17" fmla="*/ 463063 h 1605516"/>
                <a:gd name="connsiteX18" fmla="*/ 135628 w 1605516"/>
                <a:gd name="connsiteY18" fmla="*/ 135628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628" y="135628"/>
                  </a:moveTo>
                  <a:cubicBezTo>
                    <a:pt x="219426" y="51830"/>
                    <a:pt x="335192" y="0"/>
                    <a:pt x="463063" y="0"/>
                  </a:cubicBezTo>
                  <a:lnTo>
                    <a:pt x="1142453" y="0"/>
                  </a:lnTo>
                  <a:cubicBezTo>
                    <a:pt x="1398196" y="0"/>
                    <a:pt x="1605516" y="207320"/>
                    <a:pt x="1605516" y="463063"/>
                  </a:cubicBezTo>
                  <a:lnTo>
                    <a:pt x="1605516" y="1142453"/>
                  </a:lnTo>
                  <a:cubicBezTo>
                    <a:pt x="1605516" y="1398196"/>
                    <a:pt x="1398196" y="1605516"/>
                    <a:pt x="1142453" y="1605516"/>
                  </a:cubicBezTo>
                  <a:lnTo>
                    <a:pt x="463063" y="1605516"/>
                  </a:lnTo>
                  <a:cubicBezTo>
                    <a:pt x="399127" y="1605516"/>
                    <a:pt x="338218" y="1592559"/>
                    <a:pt x="282818" y="1569126"/>
                  </a:cubicBezTo>
                  <a:lnTo>
                    <a:pt x="247355" y="1549878"/>
                  </a:lnTo>
                  <a:lnTo>
                    <a:pt x="706898" y="1090334"/>
                  </a:lnTo>
                  <a:lnTo>
                    <a:pt x="802757" y="1186193"/>
                  </a:lnTo>
                  <a:lnTo>
                    <a:pt x="802757" y="802757"/>
                  </a:lnTo>
                  <a:lnTo>
                    <a:pt x="419322" y="802757"/>
                  </a:lnTo>
                  <a:lnTo>
                    <a:pt x="515181" y="898616"/>
                  </a:lnTo>
                  <a:lnTo>
                    <a:pt x="55637" y="1358159"/>
                  </a:lnTo>
                  <a:lnTo>
                    <a:pt x="36390" y="1322698"/>
                  </a:lnTo>
                  <a:cubicBezTo>
                    <a:pt x="12957" y="1267298"/>
                    <a:pt x="0" y="1206389"/>
                    <a:pt x="0" y="1142453"/>
                  </a:cubicBezTo>
                  <a:lnTo>
                    <a:pt x="0" y="463063"/>
                  </a:lnTo>
                  <a:cubicBezTo>
                    <a:pt x="0" y="335192"/>
                    <a:pt x="51830" y="219426"/>
                    <a:pt x="135628" y="13562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8" name="is1íḑe"/>
            <p:cNvSpPr/>
            <p:nvPr/>
          </p:nvSpPr>
          <p:spPr>
            <a:xfrm rot="2700000">
              <a:off x="3911600" y="2189617"/>
              <a:ext cx="1605516" cy="1605516"/>
            </a:xfrm>
            <a:custGeom>
              <a:avLst/>
              <a:gdLst>
                <a:gd name="connsiteX0" fmla="*/ 135459 w 1605516"/>
                <a:gd name="connsiteY0" fmla="*/ 135459 h 1605516"/>
                <a:gd name="connsiteX1" fmla="*/ 462485 w 1605516"/>
                <a:gd name="connsiteY1" fmla="*/ 0 h 1605516"/>
                <a:gd name="connsiteX2" fmla="*/ 1143031 w 1605516"/>
                <a:gd name="connsiteY2" fmla="*/ 0 h 1605516"/>
                <a:gd name="connsiteX3" fmla="*/ 1605516 w 1605516"/>
                <a:gd name="connsiteY3" fmla="*/ 462485 h 1605516"/>
                <a:gd name="connsiteX4" fmla="*/ 1605516 w 1605516"/>
                <a:gd name="connsiteY4" fmla="*/ 1143031 h 1605516"/>
                <a:gd name="connsiteX5" fmla="*/ 1143031 w 1605516"/>
                <a:gd name="connsiteY5" fmla="*/ 1605516 h 1605516"/>
                <a:gd name="connsiteX6" fmla="*/ 462485 w 1605516"/>
                <a:gd name="connsiteY6" fmla="*/ 1605516 h 1605516"/>
                <a:gd name="connsiteX7" fmla="*/ 282465 w 1605516"/>
                <a:gd name="connsiteY7" fmla="*/ 1569172 h 1605516"/>
                <a:gd name="connsiteX8" fmla="*/ 247202 w 1605516"/>
                <a:gd name="connsiteY8" fmla="*/ 1550031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84 w 1605516"/>
                <a:gd name="connsiteY14" fmla="*/ 1358313 h 1605516"/>
                <a:gd name="connsiteX15" fmla="*/ 36345 w 1605516"/>
                <a:gd name="connsiteY15" fmla="*/ 1323051 h 1605516"/>
                <a:gd name="connsiteX16" fmla="*/ 0 w 1605516"/>
                <a:gd name="connsiteY16" fmla="*/ 1143031 h 1605516"/>
                <a:gd name="connsiteX17" fmla="*/ 0 w 1605516"/>
                <a:gd name="connsiteY17" fmla="*/ 462485 h 1605516"/>
                <a:gd name="connsiteX18" fmla="*/ 135459 w 1605516"/>
                <a:gd name="connsiteY18" fmla="*/ 135459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59" y="135459"/>
                  </a:moveTo>
                  <a:cubicBezTo>
                    <a:pt x="219152" y="51765"/>
                    <a:pt x="334773" y="0"/>
                    <a:pt x="462485" y="0"/>
                  </a:cubicBezTo>
                  <a:lnTo>
                    <a:pt x="1143031" y="0"/>
                  </a:lnTo>
                  <a:cubicBezTo>
                    <a:pt x="1398454" y="0"/>
                    <a:pt x="1605516" y="207062"/>
                    <a:pt x="1605516" y="462485"/>
                  </a:cubicBezTo>
                  <a:lnTo>
                    <a:pt x="1605516" y="1143031"/>
                  </a:lnTo>
                  <a:cubicBezTo>
                    <a:pt x="1605516" y="1398454"/>
                    <a:pt x="1398454" y="1605516"/>
                    <a:pt x="1143031" y="1605516"/>
                  </a:cubicBezTo>
                  <a:lnTo>
                    <a:pt x="462485" y="1605516"/>
                  </a:lnTo>
                  <a:cubicBezTo>
                    <a:pt x="398629" y="1605516"/>
                    <a:pt x="337796" y="1592575"/>
                    <a:pt x="282465" y="1569172"/>
                  </a:cubicBezTo>
                  <a:lnTo>
                    <a:pt x="247202" y="1550031"/>
                  </a:lnTo>
                  <a:lnTo>
                    <a:pt x="706898" y="1090334"/>
                  </a:lnTo>
                  <a:lnTo>
                    <a:pt x="802757" y="1186193"/>
                  </a:lnTo>
                  <a:lnTo>
                    <a:pt x="802757" y="802757"/>
                  </a:lnTo>
                  <a:lnTo>
                    <a:pt x="419322" y="802757"/>
                  </a:lnTo>
                  <a:lnTo>
                    <a:pt x="515181" y="898616"/>
                  </a:lnTo>
                  <a:lnTo>
                    <a:pt x="55484" y="1358313"/>
                  </a:lnTo>
                  <a:lnTo>
                    <a:pt x="36345" y="1323051"/>
                  </a:lnTo>
                  <a:cubicBezTo>
                    <a:pt x="12941" y="1267720"/>
                    <a:pt x="0" y="1206887"/>
                    <a:pt x="0" y="1143031"/>
                  </a:cubicBezTo>
                  <a:lnTo>
                    <a:pt x="0" y="462485"/>
                  </a:lnTo>
                  <a:cubicBezTo>
                    <a:pt x="0" y="334773"/>
                    <a:pt x="51765" y="219152"/>
                    <a:pt x="135459" y="135459"/>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9" name="íṡ1ïḋé"/>
            <p:cNvSpPr/>
            <p:nvPr/>
          </p:nvSpPr>
          <p:spPr>
            <a:xfrm rot="2700000">
              <a:off x="6674883"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7 w 1605516"/>
                <a:gd name="connsiteY7" fmla="*/ 1569179 h 1605516"/>
                <a:gd name="connsiteX8" fmla="*/ 247177 w 1605516"/>
                <a:gd name="connsiteY8" fmla="*/ 1550057 h 1605516"/>
                <a:gd name="connsiteX9" fmla="*/ 706899 w 1605516"/>
                <a:gd name="connsiteY9" fmla="*/ 1090335 h 1605516"/>
                <a:gd name="connsiteX10" fmla="*/ 802758 w 1605516"/>
                <a:gd name="connsiteY10" fmla="*/ 1186194 h 1605516"/>
                <a:gd name="connsiteX11" fmla="*/ 802758 w 1605516"/>
                <a:gd name="connsiteY11" fmla="*/ 802758 h 1605516"/>
                <a:gd name="connsiteX12" fmla="*/ 419322 w 1605516"/>
                <a:gd name="connsiteY12" fmla="*/ 802758 h 1605516"/>
                <a:gd name="connsiteX13" fmla="*/ 515181 w 1605516"/>
                <a:gd name="connsiteY13" fmla="*/ 898617 h 1605516"/>
                <a:gd name="connsiteX14" fmla="*/ 55459 w 1605516"/>
                <a:gd name="connsiteY14" fmla="*/ 1358339 h 1605516"/>
                <a:gd name="connsiteX15" fmla="*/ 36337 w 1605516"/>
                <a:gd name="connsiteY15" fmla="*/ 1323109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6" y="1605516"/>
                    <a:pt x="337726" y="1592577"/>
                    <a:pt x="282407" y="1569179"/>
                  </a:cubicBezTo>
                  <a:lnTo>
                    <a:pt x="247177" y="1550057"/>
                  </a:lnTo>
                  <a:lnTo>
                    <a:pt x="706899" y="1090335"/>
                  </a:lnTo>
                  <a:lnTo>
                    <a:pt x="802758" y="1186194"/>
                  </a:lnTo>
                  <a:lnTo>
                    <a:pt x="802758" y="802758"/>
                  </a:lnTo>
                  <a:lnTo>
                    <a:pt x="419322" y="802758"/>
                  </a:lnTo>
                  <a:lnTo>
                    <a:pt x="515181" y="898617"/>
                  </a:lnTo>
                  <a:lnTo>
                    <a:pt x="55459" y="1358339"/>
                  </a:lnTo>
                  <a:lnTo>
                    <a:pt x="36337" y="1323109"/>
                  </a:lnTo>
                  <a:cubicBezTo>
                    <a:pt x="12939" y="1267790"/>
                    <a:pt x="0" y="1206970"/>
                    <a:pt x="0" y="1143127"/>
                  </a:cubicBezTo>
                  <a:lnTo>
                    <a:pt x="0" y="462389"/>
                  </a:lnTo>
                  <a:cubicBezTo>
                    <a:pt x="0" y="334704"/>
                    <a:pt x="51755" y="219107"/>
                    <a:pt x="135431" y="135431"/>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0" name="îṡlíḓè"/>
            <p:cNvSpPr/>
            <p:nvPr/>
          </p:nvSpPr>
          <p:spPr>
            <a:xfrm rot="2700000">
              <a:off x="9438167"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6 w 1605516"/>
                <a:gd name="connsiteY7" fmla="*/ 1569179 h 1605516"/>
                <a:gd name="connsiteX8" fmla="*/ 247176 w 1605516"/>
                <a:gd name="connsiteY8" fmla="*/ 1550057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59 w 1605516"/>
                <a:gd name="connsiteY14" fmla="*/ 1358338 h 1605516"/>
                <a:gd name="connsiteX15" fmla="*/ 36337 w 1605516"/>
                <a:gd name="connsiteY15" fmla="*/ 1323110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7" y="1605516"/>
                    <a:pt x="337726" y="1592577"/>
                    <a:pt x="282406" y="1569179"/>
                  </a:cubicBezTo>
                  <a:lnTo>
                    <a:pt x="247176" y="1550057"/>
                  </a:lnTo>
                  <a:lnTo>
                    <a:pt x="706898" y="1090334"/>
                  </a:lnTo>
                  <a:lnTo>
                    <a:pt x="802757" y="1186193"/>
                  </a:lnTo>
                  <a:lnTo>
                    <a:pt x="802757" y="802757"/>
                  </a:lnTo>
                  <a:lnTo>
                    <a:pt x="419322" y="802757"/>
                  </a:lnTo>
                  <a:lnTo>
                    <a:pt x="515181" y="898616"/>
                  </a:lnTo>
                  <a:lnTo>
                    <a:pt x="55459" y="1358338"/>
                  </a:lnTo>
                  <a:lnTo>
                    <a:pt x="36337" y="1323110"/>
                  </a:lnTo>
                  <a:cubicBezTo>
                    <a:pt x="12939" y="1267790"/>
                    <a:pt x="0" y="1206969"/>
                    <a:pt x="0" y="1143127"/>
                  </a:cubicBezTo>
                  <a:lnTo>
                    <a:pt x="0" y="462389"/>
                  </a:lnTo>
                  <a:cubicBezTo>
                    <a:pt x="0" y="334704"/>
                    <a:pt x="51755" y="219107"/>
                    <a:pt x="135431" y="13543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2" name="isľîdê"/>
            <p:cNvSpPr txBox="1"/>
            <p:nvPr/>
          </p:nvSpPr>
          <p:spPr>
            <a:xfrm>
              <a:off x="410344" y="4201239"/>
              <a:ext cx="2905986" cy="1461716"/>
            </a:xfrm>
            <a:prstGeom prst="rect">
              <a:avLst/>
            </a:prstGeom>
            <a:noFill/>
            <a:ln>
              <a:noFill/>
            </a:ln>
          </p:spPr>
          <p:txBody>
            <a:bodyPr wrap="square" lIns="91440" tIns="45720" rIns="91440" bIns="45720" anchor="t" anchorCtr="0">
              <a:noAutofit/>
            </a:bodyPr>
            <a:lstStyle/>
            <a:p>
              <a:pPr lvl="1" indent="-457200" algn="ctr">
                <a:lnSpc>
                  <a:spcPct val="120000"/>
                </a:lnSpc>
                <a:buClr>
                  <a:srgbClr val="0000FF"/>
                </a:buClr>
                <a:buFont typeface="+mj-ea"/>
                <a:buAutoNum type="circleNumDbPlain"/>
              </a:pPr>
              <a:r>
                <a:rPr lang="zh-CN" altLang="en-US" sz="2200" dirty="0">
                  <a:solidFill>
                    <a:srgbClr val="0000FF"/>
                  </a:solidFill>
                </a:rPr>
                <a:t>明文：</a:t>
              </a:r>
              <a:r>
                <a:rPr lang="zh-CN" altLang="en-US" sz="2200" dirty="0"/>
                <a:t>被加密的文本，称为明文</a:t>
              </a:r>
              <a:r>
                <a:rPr lang="en-US" altLang="zh-CN" sz="2200" dirty="0"/>
                <a:t>P</a:t>
              </a:r>
              <a:r>
                <a:rPr lang="zh-CN" altLang="en-US" sz="2200" dirty="0"/>
                <a:t>。</a:t>
              </a:r>
            </a:p>
          </p:txBody>
        </p:sp>
        <p:sp>
          <p:nvSpPr>
            <p:cNvPr id="16" name="îṣḻidé"/>
            <p:cNvSpPr txBox="1"/>
            <p:nvPr/>
          </p:nvSpPr>
          <p:spPr>
            <a:xfrm>
              <a:off x="19606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17" name="ïŝ1ïḋè"/>
            <p:cNvSpPr txBox="1"/>
            <p:nvPr/>
          </p:nvSpPr>
          <p:spPr>
            <a:xfrm>
              <a:off x="4741597"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18" name="í$lîdé"/>
            <p:cNvSpPr txBox="1"/>
            <p:nvPr/>
          </p:nvSpPr>
          <p:spPr>
            <a:xfrm>
              <a:off x="7522530"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19" name="išḻïďè"/>
            <p:cNvSpPr txBox="1"/>
            <p:nvPr/>
          </p:nvSpPr>
          <p:spPr>
            <a:xfrm>
              <a:off x="103034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25" name="isľîdê"/>
            <p:cNvSpPr txBox="1"/>
            <p:nvPr/>
          </p:nvSpPr>
          <p:spPr>
            <a:xfrm>
              <a:off x="3387554" y="4182861"/>
              <a:ext cx="2462076" cy="1461716"/>
            </a:xfrm>
            <a:prstGeom prst="rect">
              <a:avLst/>
            </a:prstGeom>
            <a:noFill/>
            <a:ln>
              <a:noFill/>
            </a:ln>
          </p:spPr>
          <p:txBody>
            <a:bodyPr wrap="square" lIns="91440" tIns="45720" rIns="91440" bIns="45720" anchor="t" anchorCtr="0">
              <a:noAutofit/>
            </a:bodyPr>
            <a:lstStyle/>
            <a:p>
              <a:pPr lvl="1" indent="-457200" algn="ctr">
                <a:lnSpc>
                  <a:spcPct val="120000"/>
                </a:lnSpc>
                <a:buClr>
                  <a:srgbClr val="0000FF"/>
                </a:buClr>
                <a:buFont typeface="+mj-ea"/>
                <a:buAutoNum type="circleNumDbPlain"/>
              </a:pPr>
              <a:r>
                <a:rPr lang="zh-CN" altLang="en-US" sz="2200" dirty="0">
                  <a:solidFill>
                    <a:srgbClr val="0000FF"/>
                  </a:solidFill>
                </a:rPr>
                <a:t>密文：</a:t>
              </a:r>
              <a:r>
                <a:rPr lang="zh-CN" altLang="en-US" sz="2200" dirty="0"/>
                <a:t>加密后的文本，称为密文</a:t>
              </a:r>
              <a:r>
                <a:rPr lang="en-US" altLang="zh-CN" sz="2200" dirty="0"/>
                <a:t>Y</a:t>
              </a:r>
              <a:r>
                <a:rPr lang="zh-CN" altLang="en-US" sz="2200" dirty="0"/>
                <a:t>。</a:t>
              </a:r>
            </a:p>
          </p:txBody>
        </p:sp>
        <p:sp>
          <p:nvSpPr>
            <p:cNvPr id="26" name="isľîdê"/>
            <p:cNvSpPr txBox="1"/>
            <p:nvPr/>
          </p:nvSpPr>
          <p:spPr>
            <a:xfrm>
              <a:off x="5920854" y="4182861"/>
              <a:ext cx="3184799" cy="1461716"/>
            </a:xfrm>
            <a:prstGeom prst="rect">
              <a:avLst/>
            </a:prstGeom>
            <a:noFill/>
            <a:ln>
              <a:noFill/>
            </a:ln>
          </p:spPr>
          <p:txBody>
            <a:bodyPr wrap="square" lIns="91440" tIns="45720" rIns="91440" bIns="45720" anchor="t" anchorCtr="0">
              <a:noAutofit/>
            </a:bodyPr>
            <a:lstStyle/>
            <a:p>
              <a:pPr lvl="1" indent="-457200" algn="ctr">
                <a:lnSpc>
                  <a:spcPct val="120000"/>
                </a:lnSpc>
                <a:buClr>
                  <a:srgbClr val="0000FF"/>
                </a:buClr>
                <a:buFont typeface="+mj-ea"/>
                <a:buAutoNum type="circleNumDbPlain"/>
              </a:pPr>
              <a:r>
                <a:rPr lang="zh-CN" altLang="en-US" sz="2200" dirty="0">
                  <a:solidFill>
                    <a:srgbClr val="0000FF"/>
                  </a:solidFill>
                </a:rPr>
                <a:t>加密（解密）</a:t>
              </a:r>
              <a:r>
                <a:rPr lang="zh-CN" altLang="en-US" sz="2200" dirty="0"/>
                <a:t>算法</a:t>
              </a:r>
              <a:r>
                <a:rPr lang="en-US" altLang="zh-CN" sz="2200" dirty="0" err="1"/>
                <a:t>EKe</a:t>
              </a:r>
              <a:r>
                <a:rPr lang="zh-CN" altLang="en-US" sz="2200" dirty="0"/>
                <a:t>（</a:t>
              </a:r>
              <a:r>
                <a:rPr lang="en-US" altLang="zh-CN" sz="2200" dirty="0" err="1"/>
                <a:t>DKd</a:t>
              </a:r>
              <a:r>
                <a:rPr lang="zh-CN" altLang="en-US" sz="2200" dirty="0"/>
                <a:t>）：用于实现从明文（密文）到密文（明文）转换的公式、规则或程序。</a:t>
              </a:r>
            </a:p>
          </p:txBody>
        </p:sp>
        <p:sp>
          <p:nvSpPr>
            <p:cNvPr id="27" name="isľîdê"/>
            <p:cNvSpPr txBox="1"/>
            <p:nvPr/>
          </p:nvSpPr>
          <p:spPr>
            <a:xfrm>
              <a:off x="9105653" y="4182861"/>
              <a:ext cx="2533740" cy="1461716"/>
            </a:xfrm>
            <a:prstGeom prst="rect">
              <a:avLst/>
            </a:prstGeom>
            <a:noFill/>
            <a:ln>
              <a:noFill/>
            </a:ln>
          </p:spPr>
          <p:txBody>
            <a:bodyPr wrap="square" lIns="91440" tIns="45720" rIns="91440" bIns="45720" anchor="t" anchorCtr="0">
              <a:noAutofit/>
            </a:bodyPr>
            <a:lstStyle/>
            <a:p>
              <a:pPr lvl="1" indent="-457200" algn="ctr">
                <a:lnSpc>
                  <a:spcPct val="120000"/>
                </a:lnSpc>
                <a:buClr>
                  <a:srgbClr val="0000FF"/>
                </a:buClr>
                <a:buFont typeface="+mj-ea"/>
                <a:buAutoNum type="circleNumDbPlain"/>
              </a:pPr>
              <a:r>
                <a:rPr lang="zh-CN" altLang="en-US" sz="2200" dirty="0">
                  <a:solidFill>
                    <a:srgbClr val="0000FF"/>
                  </a:solidFill>
                </a:rPr>
                <a:t>密钥</a:t>
              </a:r>
              <a:r>
                <a:rPr lang="en-US" altLang="zh-CN" sz="2200" dirty="0">
                  <a:solidFill>
                    <a:srgbClr val="0000FF"/>
                  </a:solidFill>
                </a:rPr>
                <a:t>K</a:t>
              </a:r>
              <a:r>
                <a:rPr lang="zh-CN" altLang="en-US" sz="2200" dirty="0">
                  <a:solidFill>
                    <a:srgbClr val="0000FF"/>
                  </a:solidFill>
                </a:rPr>
                <a:t>：</a:t>
              </a:r>
              <a:r>
                <a:rPr lang="zh-CN" altLang="en-US" sz="2200" dirty="0"/>
                <a:t>加密和解密算法中的关键参数。</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数据加密模型</a:t>
            </a:r>
          </a:p>
        </p:txBody>
      </p:sp>
      <p:sp>
        <p:nvSpPr>
          <p:cNvPr id="3" name="内容占位符 2"/>
          <p:cNvSpPr txBox="1"/>
          <p:nvPr/>
        </p:nvSpPr>
        <p:spPr>
          <a:xfrm>
            <a:off x="449768" y="1982792"/>
            <a:ext cx="3733294" cy="334906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442595">
              <a:lnSpc>
                <a:spcPct val="132000"/>
              </a:lnSpc>
              <a:buClr>
                <a:srgbClr val="FF0000"/>
              </a:buClr>
              <a:buFont typeface="Wingdings" panose="05000000000000000000" pitchFamily="2" charset="2"/>
              <a:buChar char="p"/>
            </a:pPr>
            <a:r>
              <a:rPr lang="zh-CN" altLang="zh-CN" sz="2400" dirty="0">
                <a:latin typeface="+mn-ea"/>
                <a:cs typeface="+mn-ea"/>
                <a:sym typeface="Times New Roman" panose="02020603050405020304" pitchFamily="18" charset="0"/>
              </a:rPr>
              <a:t>设计密码技术称为密码编码</a:t>
            </a:r>
            <a:endParaRPr lang="en-US" altLang="zh-CN" sz="2400" dirty="0">
              <a:latin typeface="+mn-ea"/>
              <a:cs typeface="+mn-ea"/>
              <a:sym typeface="Times New Roman" panose="02020603050405020304" pitchFamily="18" charset="0"/>
            </a:endParaRPr>
          </a:p>
          <a:p>
            <a:pPr lvl="1" indent="-442595">
              <a:lnSpc>
                <a:spcPct val="132000"/>
              </a:lnSpc>
              <a:buClr>
                <a:srgbClr val="FF0000"/>
              </a:buClr>
              <a:buFont typeface="Wingdings" panose="05000000000000000000" pitchFamily="2" charset="2"/>
              <a:buChar char="p"/>
            </a:pPr>
            <a:r>
              <a:rPr lang="zh-CN" altLang="zh-CN" sz="2400" dirty="0">
                <a:latin typeface="+mn-ea"/>
                <a:cs typeface="+mn-ea"/>
                <a:sym typeface="Times New Roman" panose="02020603050405020304" pitchFamily="18" charset="0"/>
              </a:rPr>
              <a:t>将破译密码技术称为密码分析</a:t>
            </a:r>
            <a:endParaRPr lang="en-US" altLang="zh-CN" sz="2400" dirty="0">
              <a:latin typeface="+mn-ea"/>
              <a:cs typeface="+mn-ea"/>
              <a:sym typeface="Times New Roman" panose="02020603050405020304" pitchFamily="18" charset="0"/>
            </a:endParaRPr>
          </a:p>
          <a:p>
            <a:pPr lvl="1" indent="-442595">
              <a:lnSpc>
                <a:spcPct val="132000"/>
              </a:lnSpc>
              <a:buClr>
                <a:srgbClr val="FF0000"/>
              </a:buClr>
              <a:buFont typeface="Wingdings" panose="05000000000000000000" pitchFamily="2" charset="2"/>
              <a:buChar char="p"/>
            </a:pPr>
            <a:r>
              <a:rPr lang="zh-CN" altLang="zh-CN" sz="2400" dirty="0">
                <a:latin typeface="+mn-ea"/>
                <a:cs typeface="+mn-ea"/>
                <a:sym typeface="Times New Roman" panose="02020603050405020304" pitchFamily="18" charset="0"/>
              </a:rPr>
              <a:t>密码编码和密码分析合起来称为</a:t>
            </a:r>
            <a:r>
              <a:rPr lang="zh-CN" altLang="zh-CN" sz="2400" b="1" dirty="0">
                <a:solidFill>
                  <a:srgbClr val="FF0000"/>
                </a:solidFill>
                <a:latin typeface="+mn-ea"/>
                <a:cs typeface="+mn-ea"/>
                <a:sym typeface="Times New Roman" panose="02020603050405020304" pitchFamily="18" charset="0"/>
              </a:rPr>
              <a:t>密码学</a:t>
            </a:r>
          </a:p>
        </p:txBody>
      </p:sp>
      <p:pic>
        <p:nvPicPr>
          <p:cNvPr id="4" name="图片 3"/>
          <p:cNvPicPr>
            <a:picLocks noChangeAspect="1"/>
          </p:cNvPicPr>
          <p:nvPr/>
        </p:nvPicPr>
        <p:blipFill>
          <a:blip r:embed="rId2"/>
          <a:stretch>
            <a:fillRect/>
          </a:stretch>
        </p:blipFill>
        <p:spPr>
          <a:xfrm>
            <a:off x="4610637" y="2116053"/>
            <a:ext cx="6453353" cy="3082537"/>
          </a:xfrm>
          <a:prstGeom prst="rect">
            <a:avLst/>
          </a:prstGeom>
          <a:ln>
            <a:solidFill>
              <a:schemeClr val="accent1"/>
            </a:solid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基本加密方法 </a:t>
            </a:r>
            <a:r>
              <a:rPr lang="en-US" altLang="zh-CN"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 </a:t>
            </a:r>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易位法</a:t>
            </a:r>
          </a:p>
        </p:txBody>
      </p:sp>
      <p:grpSp>
        <p:nvGrpSpPr>
          <p:cNvPr id="5" name="iṡļiḓe"/>
          <p:cNvGrpSpPr/>
          <p:nvPr/>
        </p:nvGrpSpPr>
        <p:grpSpPr>
          <a:xfrm>
            <a:off x="660400" y="1298467"/>
            <a:ext cx="11020738" cy="942458"/>
            <a:chOff x="660400" y="1787149"/>
            <a:chExt cx="11020738" cy="942458"/>
          </a:xfrm>
        </p:grpSpPr>
        <p:sp>
          <p:nvSpPr>
            <p:cNvPr id="10" name="îṧľîḋé"/>
            <p:cNvSpPr txBox="1"/>
            <p:nvPr/>
          </p:nvSpPr>
          <p:spPr>
            <a:xfrm>
              <a:off x="1296567" y="1835355"/>
              <a:ext cx="10384571" cy="894252"/>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2000"/>
                </a:lnSpc>
              </a:pPr>
              <a:r>
                <a:rPr lang="zh-CN" altLang="en-US" sz="2400" dirty="0">
                  <a:solidFill>
                    <a:srgbClr val="FF0000"/>
                  </a:solidFill>
                </a:rPr>
                <a:t>易位法</a:t>
              </a:r>
              <a:r>
                <a:rPr lang="zh-CN" altLang="en-US" sz="2400" dirty="0"/>
                <a:t>是指按照一定的规则，重新安排明文中的比特或字符的顺序以形成密文，而字符本身却保持不变。</a:t>
              </a:r>
            </a:p>
          </p:txBody>
        </p:sp>
        <p:grpSp>
          <p:nvGrpSpPr>
            <p:cNvPr id="7" name="ïS1íḋé"/>
            <p:cNvGrpSpPr/>
            <p:nvPr/>
          </p:nvGrpSpPr>
          <p:grpSpPr>
            <a:xfrm>
              <a:off x="660400" y="1787149"/>
              <a:ext cx="497734" cy="497734"/>
              <a:chOff x="660400" y="1787149"/>
              <a:chExt cx="497734" cy="497734"/>
            </a:xfrm>
          </p:grpSpPr>
          <p:sp>
            <p:nvSpPr>
              <p:cNvPr id="8" name="islîḋe"/>
              <p:cNvSpPr/>
              <p:nvPr/>
            </p:nvSpPr>
            <p:spPr>
              <a:xfrm>
                <a:off x="660400" y="1787149"/>
                <a:ext cx="497734" cy="49773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9" name="îŝlîďe"/>
              <p:cNvSpPr/>
              <p:nvPr/>
            </p:nvSpPr>
            <p:spPr>
              <a:xfrm>
                <a:off x="779848" y="1918584"/>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nvGrpSpPr>
          <p:cNvPr id="12" name="iŝļïḓê"/>
          <p:cNvGrpSpPr/>
          <p:nvPr/>
        </p:nvGrpSpPr>
        <p:grpSpPr>
          <a:xfrm>
            <a:off x="660400" y="2664840"/>
            <a:ext cx="5475356" cy="3503922"/>
            <a:chOff x="660400" y="2092934"/>
            <a:chExt cx="5475356" cy="3503922"/>
          </a:xfrm>
        </p:grpSpPr>
        <p:grpSp>
          <p:nvGrpSpPr>
            <p:cNvPr id="13" name="ïṧļïḓe"/>
            <p:cNvGrpSpPr/>
            <p:nvPr/>
          </p:nvGrpSpPr>
          <p:grpSpPr>
            <a:xfrm>
              <a:off x="1296567" y="2092934"/>
              <a:ext cx="4839189" cy="3503922"/>
              <a:chOff x="1296567" y="2092934"/>
              <a:chExt cx="6103428" cy="3503922"/>
            </a:xfrm>
          </p:grpSpPr>
          <p:sp>
            <p:nvSpPr>
              <p:cNvPr id="17" name="ïšļíďè"/>
              <p:cNvSpPr txBox="1"/>
              <p:nvPr/>
            </p:nvSpPr>
            <p:spPr>
              <a:xfrm>
                <a:off x="1296567" y="2092934"/>
                <a:ext cx="6103428" cy="796591"/>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2000"/>
                  </a:lnSpc>
                </a:pPr>
                <a:r>
                  <a:rPr lang="zh-CN" altLang="en-US" sz="2400" dirty="0"/>
                  <a:t>按易位单位的不同，易位法又可分成</a:t>
                </a:r>
                <a:r>
                  <a:rPr lang="zh-CN" altLang="en-US" sz="2400" dirty="0">
                    <a:solidFill>
                      <a:srgbClr val="FF0000"/>
                    </a:solidFill>
                  </a:rPr>
                  <a:t>比特易位</a:t>
                </a:r>
                <a:r>
                  <a:rPr lang="zh-CN" altLang="en-US" sz="2400" dirty="0"/>
                  <a:t>和</a:t>
                </a:r>
                <a:r>
                  <a:rPr lang="zh-CN" altLang="en-US" sz="2400" dirty="0">
                    <a:solidFill>
                      <a:srgbClr val="FF0000"/>
                    </a:solidFill>
                  </a:rPr>
                  <a:t>字符易位</a:t>
                </a:r>
                <a:r>
                  <a:rPr lang="zh-CN" altLang="en-US" sz="2400" dirty="0"/>
                  <a:t>两种</a:t>
                </a:r>
              </a:p>
            </p:txBody>
          </p:sp>
          <p:sp>
            <p:nvSpPr>
              <p:cNvPr id="18" name="íşľíḑè"/>
              <p:cNvSpPr/>
              <p:nvPr/>
            </p:nvSpPr>
            <p:spPr bwMode="auto">
              <a:xfrm>
                <a:off x="1296567" y="3114290"/>
                <a:ext cx="6103428" cy="2482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spcBef>
                    <a:spcPts val="600"/>
                  </a:spcBef>
                  <a:spcAft>
                    <a:spcPts val="600"/>
                  </a:spcAft>
                  <a:buFont typeface="Wingdings" panose="05000000000000000000" pitchFamily="2" charset="2"/>
                  <a:buChar char="Ø"/>
                </a:pPr>
                <a:r>
                  <a:rPr lang="zh-CN" altLang="en-US" sz="2200" dirty="0"/>
                  <a:t>比特易位法简单易行，并可用硬件实现，主要用于数字通信中</a:t>
                </a:r>
              </a:p>
              <a:p>
                <a:pPr marL="342900" lvl="1" indent="-342900">
                  <a:lnSpc>
                    <a:spcPct val="132000"/>
                  </a:lnSpc>
                  <a:spcBef>
                    <a:spcPts val="600"/>
                  </a:spcBef>
                  <a:spcAft>
                    <a:spcPts val="600"/>
                  </a:spcAft>
                  <a:buFont typeface="Wingdings" panose="05000000000000000000" pitchFamily="2" charset="2"/>
                  <a:buChar char="Ø"/>
                </a:pPr>
                <a:r>
                  <a:rPr lang="zh-CN" altLang="en-US" sz="2200" dirty="0"/>
                  <a:t>字符易位法利用密钥对明文进行易位后形成密文</a:t>
                </a:r>
              </a:p>
            </p:txBody>
          </p:sp>
        </p:grpSp>
        <p:grpSp>
          <p:nvGrpSpPr>
            <p:cNvPr id="14" name="ïŝľídè"/>
            <p:cNvGrpSpPr/>
            <p:nvPr/>
          </p:nvGrpSpPr>
          <p:grpSpPr>
            <a:xfrm>
              <a:off x="660400" y="2096245"/>
              <a:ext cx="497734" cy="497734"/>
              <a:chOff x="660400" y="2096245"/>
              <a:chExt cx="497734" cy="497734"/>
            </a:xfrm>
          </p:grpSpPr>
          <p:sp>
            <p:nvSpPr>
              <p:cNvPr id="15" name="ïṡľïde"/>
              <p:cNvSpPr/>
              <p:nvPr/>
            </p:nvSpPr>
            <p:spPr>
              <a:xfrm>
                <a:off x="660400" y="2096245"/>
                <a:ext cx="497734" cy="497734"/>
              </a:xfrm>
              <a:prstGeom prst="ellipse">
                <a:avLst/>
              </a:prstGeom>
              <a:solidFill>
                <a:schemeClr val="tx1">
                  <a:lumMod val="50000"/>
                  <a:lumOff val="50000"/>
                </a:schemeClr>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16" name="ïšliḍe"/>
              <p:cNvSpPr/>
              <p:nvPr/>
            </p:nvSpPr>
            <p:spPr>
              <a:xfrm>
                <a:off x="779848" y="2227680"/>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nvGrpSpPr>
          <p:cNvPr id="2" name="组合 1"/>
          <p:cNvGrpSpPr/>
          <p:nvPr/>
        </p:nvGrpSpPr>
        <p:grpSpPr>
          <a:xfrm>
            <a:off x="6441165" y="2540986"/>
            <a:ext cx="5516352" cy="2991174"/>
            <a:chOff x="6424933" y="1290523"/>
            <a:chExt cx="5516352" cy="2991174"/>
          </a:xfrm>
        </p:grpSpPr>
        <p:pic>
          <p:nvPicPr>
            <p:cNvPr id="4" name="图片 3"/>
            <p:cNvPicPr>
              <a:picLocks noChangeAspect="1"/>
            </p:cNvPicPr>
            <p:nvPr/>
          </p:nvPicPr>
          <p:blipFill rotWithShape="1">
            <a:blip r:embed="rId2"/>
            <a:srcRect r="50646"/>
            <a:stretch>
              <a:fillRect/>
            </a:stretch>
          </p:blipFill>
          <p:spPr>
            <a:xfrm>
              <a:off x="6424933" y="1298467"/>
              <a:ext cx="2989523" cy="2983230"/>
            </a:xfrm>
            <a:prstGeom prst="rect">
              <a:avLst/>
            </a:prstGeom>
          </p:spPr>
        </p:pic>
        <p:pic>
          <p:nvPicPr>
            <p:cNvPr id="23" name="图片 22"/>
            <p:cNvPicPr>
              <a:picLocks noChangeAspect="1"/>
            </p:cNvPicPr>
            <p:nvPr/>
          </p:nvPicPr>
          <p:blipFill rotWithShape="1">
            <a:blip r:embed="rId2"/>
            <a:srcRect l="64663"/>
            <a:stretch>
              <a:fillRect/>
            </a:stretch>
          </p:blipFill>
          <p:spPr>
            <a:xfrm>
              <a:off x="9800822" y="1290523"/>
              <a:ext cx="2140463" cy="2983230"/>
            </a:xfrm>
            <a:prstGeom prst="rect">
              <a:avLst/>
            </a:prstGeom>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基本加密方法 </a:t>
            </a:r>
            <a:r>
              <a:rPr lang="en-US" altLang="zh-CN"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 </a:t>
            </a:r>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置换法</a:t>
            </a:r>
          </a:p>
        </p:txBody>
      </p:sp>
      <p:pic>
        <p:nvPicPr>
          <p:cNvPr id="4" name="图片 3"/>
          <p:cNvPicPr>
            <a:picLocks noChangeAspect="1"/>
          </p:cNvPicPr>
          <p:nvPr/>
        </p:nvPicPr>
        <p:blipFill>
          <a:blip r:embed="rId3"/>
          <a:stretch>
            <a:fillRect/>
          </a:stretch>
        </p:blipFill>
        <p:spPr>
          <a:xfrm>
            <a:off x="300194" y="4617312"/>
            <a:ext cx="11391900" cy="1485900"/>
          </a:xfrm>
          <a:prstGeom prst="rect">
            <a:avLst/>
          </a:prstGeom>
          <a:ln>
            <a:solidFill>
              <a:schemeClr val="accent1"/>
            </a:solidFill>
          </a:ln>
        </p:spPr>
      </p:pic>
      <p:grpSp>
        <p:nvGrpSpPr>
          <p:cNvPr id="5" name="185926"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69925" y="1258329"/>
            <a:ext cx="11125200" cy="2821817"/>
            <a:chOff x="660400" y="1580301"/>
            <a:chExt cx="11125200" cy="2821817"/>
          </a:xfrm>
        </p:grpSpPr>
        <p:sp>
          <p:nvSpPr>
            <p:cNvPr id="6" name="íṥḻîḑe"/>
            <p:cNvSpPr/>
            <p:nvPr/>
          </p:nvSpPr>
          <p:spPr>
            <a:xfrm>
              <a:off x="682048" y="1580301"/>
              <a:ext cx="3476055" cy="1008354"/>
            </a:xfrm>
            <a:prstGeom prst="rect">
              <a:avLst/>
            </a:prstGeom>
            <a:blipFill>
              <a:blip r:embed="rId4"/>
              <a:srcRect/>
              <a:stretch>
                <a:fillRect t="-17779" b="-17603"/>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7" name="ïşḻiḍé"/>
            <p:cNvSpPr/>
            <p:nvPr/>
          </p:nvSpPr>
          <p:spPr>
            <a:xfrm>
              <a:off x="660400" y="2732018"/>
              <a:ext cx="3517243" cy="1670100"/>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nSpc>
                  <a:spcPct val="150000"/>
                </a:lnSpc>
              </a:pPr>
              <a:r>
                <a:rPr lang="zh-CN" altLang="en-US" sz="2000" dirty="0">
                  <a:solidFill>
                    <a:srgbClr val="FF0000"/>
                  </a:solidFill>
                </a:rPr>
                <a:t>置换法</a:t>
              </a:r>
              <a:r>
                <a:rPr lang="zh-CN" altLang="en-US" sz="2000" dirty="0">
                  <a:solidFill>
                    <a:schemeClr val="tx1"/>
                  </a:solidFill>
                </a:rPr>
                <a:t>是指按照一定的规则，用一个字符去置换（替代）另一个字符以形成密文</a:t>
              </a:r>
            </a:p>
          </p:txBody>
        </p:sp>
        <p:sp>
          <p:nvSpPr>
            <p:cNvPr id="8" name="îŝļiḋe"/>
            <p:cNvSpPr/>
            <p:nvPr/>
          </p:nvSpPr>
          <p:spPr>
            <a:xfrm>
              <a:off x="4352677" y="1580301"/>
              <a:ext cx="3476055" cy="1008354"/>
            </a:xfrm>
            <a:prstGeom prst="rect">
              <a:avLst/>
            </a:prstGeom>
            <a:blipFill>
              <a:blip r:embed="rId5"/>
              <a:srcRect/>
              <a:stretch>
                <a:fillRect t="-50445" b="-49949"/>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9" name="ïšlïḑè"/>
            <p:cNvSpPr/>
            <p:nvPr/>
          </p:nvSpPr>
          <p:spPr>
            <a:xfrm>
              <a:off x="4331029" y="2732018"/>
              <a:ext cx="3517243" cy="1670100"/>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rmAutofit/>
            </a:bodyPr>
            <a:lstStyle/>
            <a:p>
              <a:pPr>
                <a:lnSpc>
                  <a:spcPct val="150000"/>
                </a:lnSpc>
              </a:pPr>
              <a:r>
                <a:rPr lang="zh-CN" altLang="en-US" sz="2000" dirty="0">
                  <a:solidFill>
                    <a:schemeClr val="tx1"/>
                  </a:solidFill>
                </a:rPr>
                <a:t>这种密码很容易被破译</a:t>
              </a:r>
            </a:p>
          </p:txBody>
        </p:sp>
        <p:sp>
          <p:nvSpPr>
            <p:cNvPr id="10" name="íŝḻiďé"/>
            <p:cNvSpPr/>
            <p:nvPr/>
          </p:nvSpPr>
          <p:spPr>
            <a:xfrm>
              <a:off x="8023305" y="1580301"/>
              <a:ext cx="3762295" cy="1008354"/>
            </a:xfrm>
            <a:prstGeom prst="rect">
              <a:avLst/>
            </a:prstGeom>
            <a:blipFill>
              <a:blip r:embed="rId6"/>
              <a:srcRect/>
              <a:stretch>
                <a:fillRect l="-5418" r="-5379"/>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11" name="í$ḷîḋe"/>
            <p:cNvSpPr/>
            <p:nvPr/>
          </p:nvSpPr>
          <p:spPr>
            <a:xfrm>
              <a:off x="8001657" y="2732018"/>
              <a:ext cx="3783943" cy="1670100"/>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nSpc>
                  <a:spcPct val="130000"/>
                </a:lnSpc>
              </a:pPr>
              <a:r>
                <a:rPr lang="zh-CN" altLang="en-US" sz="2000" dirty="0">
                  <a:solidFill>
                    <a:schemeClr val="tx1"/>
                  </a:solidFill>
                </a:rPr>
                <a:t>例如，将</a:t>
              </a:r>
              <a:r>
                <a:rPr lang="en-US" altLang="zh-CN" sz="2000" dirty="0">
                  <a:solidFill>
                    <a:schemeClr val="tx1"/>
                  </a:solidFill>
                </a:rPr>
                <a:t>26</a:t>
              </a:r>
              <a:r>
                <a:rPr lang="zh-CN" altLang="en-US" sz="2000" dirty="0">
                  <a:solidFill>
                    <a:schemeClr val="tx1"/>
                  </a:solidFill>
                </a:rPr>
                <a:t>个英文字母通过密钥</a:t>
              </a:r>
              <a:r>
                <a:rPr lang="en-US" altLang="zh-CN" sz="2000" dirty="0">
                  <a:solidFill>
                    <a:schemeClr val="tx1"/>
                  </a:solidFill>
                </a:rPr>
                <a:t>QWERTYUIOPASDFGHJKLZXCVBNM </a:t>
              </a:r>
              <a:r>
                <a:rPr lang="zh-CN" altLang="en-US" sz="2000" dirty="0">
                  <a:solidFill>
                    <a:schemeClr val="tx1"/>
                  </a:solidFill>
                </a:rPr>
                <a:t>映像到另外</a:t>
              </a:r>
              <a:r>
                <a:rPr lang="en-US" altLang="zh-CN" sz="2000" dirty="0">
                  <a:solidFill>
                    <a:schemeClr val="tx1"/>
                  </a:solidFill>
                </a:rPr>
                <a:t>26</a:t>
              </a:r>
              <a:r>
                <a:rPr lang="zh-CN" altLang="en-US" sz="2000" dirty="0">
                  <a:solidFill>
                    <a:schemeClr val="tx1"/>
                  </a:solidFill>
                </a:rPr>
                <a:t>个特定字母中，利用置换法和密钥，可将</a:t>
              </a:r>
              <a:r>
                <a:rPr lang="en-US" altLang="zh-CN" sz="2000" dirty="0">
                  <a:solidFill>
                    <a:schemeClr val="tx1"/>
                  </a:solidFill>
                </a:rPr>
                <a:t>attack</a:t>
              </a:r>
              <a:r>
                <a:rPr lang="zh-CN" altLang="en-US" sz="2000" dirty="0">
                  <a:solidFill>
                    <a:schemeClr val="tx1"/>
                  </a:solidFill>
                </a:rPr>
                <a:t>加密而使其变为</a:t>
              </a:r>
              <a:r>
                <a:rPr lang="en-US" altLang="zh-CN" sz="2000" dirty="0">
                  <a:solidFill>
                    <a:schemeClr val="tx1"/>
                  </a:solidFill>
                </a:rPr>
                <a:t>QZZQEA</a:t>
              </a:r>
              <a:r>
                <a:rPr lang="zh-CN" altLang="en-US" sz="2000" dirty="0">
                  <a:solidFill>
                    <a:schemeClr val="tx1"/>
                  </a:solidFill>
                </a:rPr>
                <a:t>，</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12.2.2 </a:t>
            </a:r>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对称加密算法与非对称加密算法</a:t>
            </a:r>
          </a:p>
        </p:txBody>
      </p:sp>
      <p:sp>
        <p:nvSpPr>
          <p:cNvPr id="4" name="íšḻîḋè"/>
          <p:cNvSpPr/>
          <p:nvPr/>
        </p:nvSpPr>
        <p:spPr>
          <a:xfrm>
            <a:off x="1476386" y="3538331"/>
            <a:ext cx="8517619" cy="848305"/>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000" dirty="0"/>
              <a:t>加密密钥</a:t>
            </a:r>
            <a:r>
              <a:rPr lang="en-US" altLang="zh-CN" sz="2000" dirty="0" err="1"/>
              <a:t>Ke</a:t>
            </a:r>
            <a:r>
              <a:rPr lang="zh-CN" altLang="en-US" sz="2000" dirty="0"/>
              <a:t>和解密密钥</a:t>
            </a:r>
            <a:r>
              <a:rPr lang="en-US" altLang="zh-CN" sz="2000" dirty="0" err="1"/>
              <a:t>Kd</a:t>
            </a:r>
            <a:r>
              <a:rPr lang="zh-CN" altLang="en-US" sz="2000" dirty="0"/>
              <a:t>不同，而且难以由</a:t>
            </a:r>
            <a:r>
              <a:rPr lang="en-US" altLang="zh-CN" sz="2000" dirty="0" err="1"/>
              <a:t>Ke</a:t>
            </a:r>
            <a:r>
              <a:rPr lang="zh-CN" altLang="en-US" sz="2000" dirty="0"/>
              <a:t>推导出</a:t>
            </a:r>
            <a:r>
              <a:rPr lang="en-US" altLang="zh-CN" sz="2000" dirty="0" err="1"/>
              <a:t>Kd</a:t>
            </a:r>
            <a:endParaRPr lang="en-US" altLang="zh-CN" sz="2000" dirty="0"/>
          </a:p>
          <a:p>
            <a:pPr marL="342900" indent="-342900">
              <a:lnSpc>
                <a:spcPct val="120000"/>
              </a:lnSpc>
              <a:buClr>
                <a:srgbClr val="FF0000"/>
              </a:buClr>
              <a:buFont typeface="Wingdings" panose="05000000000000000000" pitchFamily="2" charset="2"/>
              <a:buChar char="Ø"/>
            </a:pPr>
            <a:r>
              <a:rPr lang="zh-CN" altLang="en-US" sz="2000" dirty="0"/>
              <a:t>可将其中的一个密钥公开而成为公开密钥</a:t>
            </a:r>
          </a:p>
        </p:txBody>
      </p:sp>
      <p:sp>
        <p:nvSpPr>
          <p:cNvPr id="5" name="i$lîďê"/>
          <p:cNvSpPr/>
          <p:nvPr/>
        </p:nvSpPr>
        <p:spPr>
          <a:xfrm>
            <a:off x="1532022" y="3072557"/>
            <a:ext cx="6555910" cy="392877"/>
          </a:xfrm>
          <a:prstGeom prst="rect">
            <a:avLst/>
          </a:prstGeom>
          <a:noFill/>
          <a:ln>
            <a:noFill/>
          </a:ln>
        </p:spPr>
        <p:txBody>
          <a:bodyPr wrap="square" lIns="91440" tIns="45720" rIns="91440" bIns="45720" anchor="ctr" anchorCtr="0">
            <a:noAutofit/>
          </a:bodyPr>
          <a:lstStyle/>
          <a:p>
            <a:r>
              <a:rPr lang="zh-CN" altLang="en-US" sz="2400" dirty="0">
                <a:solidFill>
                  <a:srgbClr val="FF0000"/>
                </a:solidFill>
              </a:rPr>
              <a:t>非对称加密算法</a:t>
            </a:r>
            <a:r>
              <a:rPr lang="zh-CN" altLang="en-US" sz="2400" dirty="0"/>
              <a:t>，也称公开密钥算法</a:t>
            </a:r>
          </a:p>
        </p:txBody>
      </p:sp>
      <p:sp>
        <p:nvSpPr>
          <p:cNvPr id="6" name="î$ļíḋè"/>
          <p:cNvSpPr/>
          <p:nvPr/>
        </p:nvSpPr>
        <p:spPr>
          <a:xfrm>
            <a:off x="1532023" y="4916493"/>
            <a:ext cx="10187752" cy="1677491"/>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000" dirty="0"/>
              <a:t>非对称加密算法要比对称加密算法处理速度慢，但密钥管理简单</a:t>
            </a:r>
          </a:p>
          <a:p>
            <a:pPr marL="342900" indent="-342900">
              <a:lnSpc>
                <a:spcPct val="120000"/>
              </a:lnSpc>
              <a:buClr>
                <a:srgbClr val="FF0000"/>
              </a:buClr>
              <a:buFont typeface="Wingdings" panose="05000000000000000000" pitchFamily="2" charset="2"/>
              <a:buChar char="Ø"/>
            </a:pPr>
            <a:r>
              <a:rPr lang="zh-CN" altLang="en-US" sz="2000" dirty="0"/>
              <a:t>当前通常同时应用这两种加密算法</a:t>
            </a:r>
          </a:p>
          <a:p>
            <a:pPr marL="800100" lvl="1" indent="-342900">
              <a:lnSpc>
                <a:spcPct val="120000"/>
              </a:lnSpc>
              <a:buClr>
                <a:srgbClr val="FF0000"/>
              </a:buClr>
              <a:buFont typeface="Wingdings" panose="05000000000000000000" pitchFamily="2" charset="2"/>
              <a:buChar char="p"/>
            </a:pPr>
            <a:r>
              <a:rPr lang="zh-CN" altLang="en-US" sz="2000" dirty="0"/>
              <a:t>利用公开密钥技术传递对称密码，而利用对称密钥技术来对实际传输的数据进行加密和解密</a:t>
            </a:r>
          </a:p>
        </p:txBody>
      </p:sp>
      <p:sp>
        <p:nvSpPr>
          <p:cNvPr id="7" name="ïṧḷïḋè"/>
          <p:cNvSpPr/>
          <p:nvPr/>
        </p:nvSpPr>
        <p:spPr>
          <a:xfrm>
            <a:off x="1532024" y="4455234"/>
            <a:ext cx="3696051" cy="415102"/>
          </a:xfrm>
          <a:prstGeom prst="rect">
            <a:avLst/>
          </a:prstGeom>
          <a:noFill/>
          <a:ln>
            <a:noFill/>
          </a:ln>
        </p:spPr>
        <p:txBody>
          <a:bodyPr wrap="square" lIns="91440" tIns="45720" rIns="91440" bIns="45720" anchor="ctr" anchorCtr="0">
            <a:noAutofit/>
          </a:bodyPr>
          <a:lstStyle/>
          <a:p>
            <a:r>
              <a:rPr lang="zh-CN" altLang="en-US" sz="2400" dirty="0"/>
              <a:t>两者</a:t>
            </a:r>
            <a:r>
              <a:rPr lang="zh-CN" altLang="en-US" sz="2400" dirty="0">
                <a:solidFill>
                  <a:srgbClr val="0000FF"/>
                </a:solidFill>
              </a:rPr>
              <a:t>区别：</a:t>
            </a:r>
          </a:p>
        </p:txBody>
      </p:sp>
      <p:sp>
        <p:nvSpPr>
          <p:cNvPr id="8" name="îs1iďé"/>
          <p:cNvSpPr/>
          <p:nvPr/>
        </p:nvSpPr>
        <p:spPr>
          <a:xfrm>
            <a:off x="1551080" y="1688448"/>
            <a:ext cx="9711234" cy="1663381"/>
          </a:xfrm>
          <a:prstGeom prst="rect">
            <a:avLst/>
          </a:prstGeom>
          <a:noFill/>
          <a:ln>
            <a:noFill/>
          </a:ln>
        </p:spPr>
        <p:txBody>
          <a:bodyPr wrap="square" lIns="91440" tIns="45720" rIns="91440" bIns="45720" anchor="t" anchorCtr="0">
            <a:normAutofit/>
          </a:bodyPr>
          <a:lstStyle/>
          <a:p>
            <a:pPr marL="342900" indent="-342900">
              <a:spcBef>
                <a:spcPts val="800"/>
              </a:spcBef>
              <a:buClr>
                <a:srgbClr val="FF0000"/>
              </a:buClr>
              <a:buFont typeface="Wingdings" panose="05000000000000000000" pitchFamily="2" charset="2"/>
              <a:buChar char="Ø"/>
            </a:pPr>
            <a:r>
              <a:rPr lang="zh-CN" altLang="en-US" sz="2000" dirty="0"/>
              <a:t>加密算法和解密算法往往使用相同的密钥；</a:t>
            </a:r>
          </a:p>
          <a:p>
            <a:pPr marL="342900" indent="-342900">
              <a:spcBef>
                <a:spcPts val="800"/>
              </a:spcBef>
              <a:buClr>
                <a:srgbClr val="FF0000"/>
              </a:buClr>
              <a:buFont typeface="Wingdings" panose="05000000000000000000" pitchFamily="2" charset="2"/>
              <a:buChar char="Ø"/>
            </a:pPr>
            <a:r>
              <a:rPr lang="zh-CN" altLang="en-US" sz="2000" dirty="0"/>
              <a:t>或者知道了加密密钥</a:t>
            </a:r>
            <a:r>
              <a:rPr lang="en-US" altLang="zh-CN" sz="2000" dirty="0" err="1"/>
              <a:t>Ke</a:t>
            </a:r>
            <a:r>
              <a:rPr lang="zh-CN" altLang="en-US" sz="2000" dirty="0"/>
              <a:t>后，就很容易推导出解密密钥</a:t>
            </a:r>
            <a:r>
              <a:rPr lang="en-US" altLang="zh-CN" sz="2000" dirty="0" err="1"/>
              <a:t>Kd</a:t>
            </a:r>
            <a:endParaRPr lang="en-US" altLang="zh-CN" sz="2000" dirty="0"/>
          </a:p>
          <a:p>
            <a:pPr marL="342900" indent="-342900">
              <a:spcBef>
                <a:spcPts val="800"/>
              </a:spcBef>
              <a:buClr>
                <a:srgbClr val="FF0000"/>
              </a:buClr>
              <a:buFont typeface="Wingdings" panose="05000000000000000000" pitchFamily="2" charset="2"/>
              <a:buChar char="Ø"/>
            </a:pPr>
            <a:r>
              <a:rPr lang="zh-CN" altLang="en-US" sz="2000" dirty="0"/>
              <a:t>最具代表性的算法：数据加密标准</a:t>
            </a:r>
            <a:r>
              <a:rPr lang="en-US" altLang="zh-CN" sz="2000" dirty="0"/>
              <a:t>DES</a:t>
            </a:r>
            <a:r>
              <a:rPr lang="zh-CN" altLang="en-US" sz="2000" dirty="0"/>
              <a:t>、</a:t>
            </a:r>
            <a:r>
              <a:rPr lang="en-US" altLang="zh-CN" sz="2000" dirty="0"/>
              <a:t>DEP</a:t>
            </a:r>
          </a:p>
        </p:txBody>
      </p:sp>
      <p:sp>
        <p:nvSpPr>
          <p:cNvPr id="9" name="íšḻíḑê"/>
          <p:cNvSpPr/>
          <p:nvPr/>
        </p:nvSpPr>
        <p:spPr>
          <a:xfrm>
            <a:off x="1532023" y="1258524"/>
            <a:ext cx="9311988" cy="405747"/>
          </a:xfrm>
          <a:prstGeom prst="rect">
            <a:avLst/>
          </a:prstGeom>
          <a:noFill/>
          <a:ln>
            <a:noFill/>
          </a:ln>
        </p:spPr>
        <p:txBody>
          <a:bodyPr wrap="square" lIns="91440" tIns="45720" rIns="91440" bIns="45720" anchor="ctr" anchorCtr="0">
            <a:noAutofit/>
          </a:bodyPr>
          <a:lstStyle/>
          <a:p>
            <a:r>
              <a:rPr lang="zh-CN" altLang="en-US" sz="2400" dirty="0">
                <a:solidFill>
                  <a:srgbClr val="FF0000"/>
                </a:solidFill>
              </a:rPr>
              <a:t>对称加密算法</a:t>
            </a:r>
            <a:r>
              <a:rPr lang="zh-CN" altLang="en-US" sz="2400" dirty="0"/>
              <a:t>的加密算法和解密算法之间，存在着一定的相依关系</a:t>
            </a:r>
          </a:p>
        </p:txBody>
      </p:sp>
      <p:sp>
        <p:nvSpPr>
          <p:cNvPr id="10" name="îSļiḓè"/>
          <p:cNvSpPr/>
          <p:nvPr/>
        </p:nvSpPr>
        <p:spPr>
          <a:xfrm>
            <a:off x="848520" y="1244962"/>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11" name="íṥḻîḓe"/>
          <p:cNvSpPr/>
          <p:nvPr/>
        </p:nvSpPr>
        <p:spPr>
          <a:xfrm>
            <a:off x="848520" y="4372632"/>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12" name="îşļiḓè"/>
          <p:cNvSpPr/>
          <p:nvPr/>
        </p:nvSpPr>
        <p:spPr>
          <a:xfrm>
            <a:off x="848520" y="2972031"/>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13" name="îṡḷíďe"/>
          <p:cNvSpPr/>
          <p:nvPr/>
        </p:nvSpPr>
        <p:spPr>
          <a:xfrm>
            <a:off x="1038775" y="1441100"/>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p>
        </p:txBody>
      </p:sp>
      <p:sp>
        <p:nvSpPr>
          <p:cNvPr id="14" name="íSlíḋe"/>
          <p:cNvSpPr/>
          <p:nvPr/>
        </p:nvSpPr>
        <p:spPr>
          <a:xfrm>
            <a:off x="1038774" y="3194048"/>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p>
        </p:txBody>
      </p:sp>
      <p:sp>
        <p:nvSpPr>
          <p:cNvPr id="15" name="ïśḷïḓe"/>
          <p:cNvSpPr/>
          <p:nvPr/>
        </p:nvSpPr>
        <p:spPr>
          <a:xfrm>
            <a:off x="1067713" y="4562092"/>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数字签名与数字证明书</a:t>
            </a:r>
          </a:p>
        </p:txBody>
      </p:sp>
      <p:sp>
        <p:nvSpPr>
          <p:cNvPr id="3" name="内容占位符 2"/>
          <p:cNvSpPr txBox="1"/>
          <p:nvPr/>
        </p:nvSpPr>
        <p:spPr>
          <a:xfrm>
            <a:off x="948744" y="1270930"/>
            <a:ext cx="1588394" cy="48059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400" dirty="0">
                <a:solidFill>
                  <a:srgbClr val="FF0000"/>
                </a:solidFill>
                <a:latin typeface="+mn-ea"/>
                <a:cs typeface="+mn-ea"/>
                <a:sym typeface="Times New Roman" panose="02020603050405020304" pitchFamily="18" charset="0"/>
              </a:rPr>
              <a:t>数字签名</a:t>
            </a:r>
            <a:endParaRPr lang="en-US" altLang="zh-CN" sz="2400" dirty="0">
              <a:latin typeface="+mn-ea"/>
              <a:cs typeface="+mn-ea"/>
              <a:sym typeface="Times New Roman" panose="02020603050405020304" pitchFamily="18" charset="0"/>
            </a:endParaRPr>
          </a:p>
        </p:txBody>
      </p:sp>
      <p:sp>
        <p:nvSpPr>
          <p:cNvPr id="4" name="îṧľîdé"/>
          <p:cNvSpPr/>
          <p:nvPr/>
        </p:nvSpPr>
        <p:spPr>
          <a:xfrm>
            <a:off x="3496365" y="1751527"/>
            <a:ext cx="3550903" cy="2457767"/>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5" name="内容占位符 2"/>
          <p:cNvSpPr txBox="1"/>
          <p:nvPr/>
        </p:nvSpPr>
        <p:spPr>
          <a:xfrm>
            <a:off x="420710" y="2146426"/>
            <a:ext cx="2958730" cy="308426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580"/>
              </a:spcBef>
              <a:buNone/>
              <a:defRPr/>
            </a:pPr>
            <a:r>
              <a:rPr lang="zh-CN" altLang="en-US" sz="2400" dirty="0"/>
              <a:t>在利用计算机网络传送报文时，可将公开密钥法用于电子（数字）签名，以代替传统的手写签名</a:t>
            </a:r>
          </a:p>
        </p:txBody>
      </p:sp>
      <p:sp>
        <p:nvSpPr>
          <p:cNvPr id="6" name="内容占位符 2"/>
          <p:cNvSpPr txBox="1"/>
          <p:nvPr/>
        </p:nvSpPr>
        <p:spPr>
          <a:xfrm>
            <a:off x="7282437" y="2891892"/>
            <a:ext cx="4656278" cy="263480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580"/>
              </a:spcBef>
              <a:buNone/>
              <a:defRPr/>
            </a:pPr>
            <a:r>
              <a:rPr lang="zh-CN" altLang="en-US" sz="2400" dirty="0"/>
              <a:t>需要满足</a:t>
            </a:r>
            <a:r>
              <a:rPr lang="en-US" altLang="zh-CN" sz="2400" dirty="0">
                <a:solidFill>
                  <a:srgbClr val="0000FF"/>
                </a:solidFill>
              </a:rPr>
              <a:t>3</a:t>
            </a:r>
            <a:r>
              <a:rPr lang="zh-CN" altLang="en-US" sz="2400" dirty="0">
                <a:solidFill>
                  <a:srgbClr val="0000FF"/>
                </a:solidFill>
              </a:rPr>
              <a:t>个条件</a:t>
            </a:r>
            <a:r>
              <a:rPr lang="zh-CN" altLang="en-US" sz="2400" dirty="0"/>
              <a:t>：</a:t>
            </a:r>
          </a:p>
          <a:p>
            <a:pPr marL="457200" lvl="2" indent="-342900">
              <a:lnSpc>
                <a:spcPct val="132000"/>
              </a:lnSpc>
              <a:spcBef>
                <a:spcPts val="370"/>
              </a:spcBef>
              <a:buClr>
                <a:srgbClr val="E71101"/>
              </a:buClr>
              <a:buSzPct val="100000"/>
              <a:buFont typeface="Wingdings" panose="05000000000000000000" pitchFamily="2" charset="2"/>
              <a:buChar char="n"/>
              <a:defRPr/>
            </a:pPr>
            <a:r>
              <a:rPr lang="zh-CN" altLang="en-US" sz="2400" dirty="0">
                <a:solidFill>
                  <a:schemeClr val="tx1">
                    <a:lumMod val="65000"/>
                    <a:lumOff val="35000"/>
                  </a:schemeClr>
                </a:solidFill>
              </a:rPr>
              <a:t>接收者能够核实发送者对报文的签名</a:t>
            </a:r>
          </a:p>
          <a:p>
            <a:pPr marL="457200" lvl="2" indent="-342900">
              <a:lnSpc>
                <a:spcPct val="132000"/>
              </a:lnSpc>
              <a:spcBef>
                <a:spcPts val="370"/>
              </a:spcBef>
              <a:buClr>
                <a:srgbClr val="E71101"/>
              </a:buClr>
              <a:buSzPct val="100000"/>
              <a:buFont typeface="Wingdings" panose="05000000000000000000" pitchFamily="2" charset="2"/>
              <a:buChar char="n"/>
              <a:defRPr/>
            </a:pPr>
            <a:r>
              <a:rPr lang="zh-CN" altLang="en-US" sz="2400" dirty="0">
                <a:solidFill>
                  <a:schemeClr val="tx1">
                    <a:lumMod val="65000"/>
                    <a:lumOff val="35000"/>
                  </a:schemeClr>
                </a:solidFill>
              </a:rPr>
              <a:t>发送者事后不能抵赖其对报文的签名</a:t>
            </a:r>
          </a:p>
          <a:p>
            <a:pPr marL="457200" lvl="2" indent="-342900">
              <a:lnSpc>
                <a:spcPct val="132000"/>
              </a:lnSpc>
              <a:spcBef>
                <a:spcPts val="370"/>
              </a:spcBef>
              <a:buClr>
                <a:srgbClr val="E71101"/>
              </a:buClr>
              <a:buSzPct val="100000"/>
              <a:buFont typeface="Wingdings" panose="05000000000000000000" pitchFamily="2" charset="2"/>
              <a:buChar char="n"/>
              <a:defRPr/>
            </a:pPr>
            <a:r>
              <a:rPr lang="zh-CN" altLang="en-US" sz="2400" dirty="0">
                <a:solidFill>
                  <a:schemeClr val="tx1">
                    <a:lumMod val="65000"/>
                    <a:lumOff val="35000"/>
                  </a:schemeClr>
                </a:solidFill>
              </a:rPr>
              <a:t>接收者无法伪造对报文的签名</a:t>
            </a:r>
          </a:p>
        </p:txBody>
      </p:sp>
      <p:sp>
        <p:nvSpPr>
          <p:cNvPr id="7" name="íSľïdé"/>
          <p:cNvSpPr/>
          <p:nvPr/>
        </p:nvSpPr>
        <p:spPr>
          <a:xfrm>
            <a:off x="4393705" y="2186383"/>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bg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8" name="ïŝļíḓê"/>
          <p:cNvSpPr/>
          <p:nvPr/>
        </p:nvSpPr>
        <p:spPr bwMode="auto">
          <a:xfrm>
            <a:off x="5476229" y="3134957"/>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bg1"/>
          </a:solidFill>
          <a:ln>
            <a:noFill/>
          </a:ln>
        </p:spPr>
        <p:txBody>
          <a:bodyPr wrap="square" lIns="91440" tIns="45720" rIns="91440" bIns="45720">
            <a:normAutofit/>
          </a:bodyPr>
          <a:lstStyle/>
          <a:p>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数字签名方法介绍</a:t>
            </a:r>
          </a:p>
        </p:txBody>
      </p:sp>
      <p:grpSp>
        <p:nvGrpSpPr>
          <p:cNvPr id="5" name="iṡļiḓe"/>
          <p:cNvGrpSpPr/>
          <p:nvPr/>
        </p:nvGrpSpPr>
        <p:grpSpPr>
          <a:xfrm>
            <a:off x="660400" y="1298467"/>
            <a:ext cx="11007859" cy="2333733"/>
            <a:chOff x="660400" y="1787149"/>
            <a:chExt cx="11007859" cy="2333733"/>
          </a:xfrm>
        </p:grpSpPr>
        <p:grpSp>
          <p:nvGrpSpPr>
            <p:cNvPr id="6" name="iSḻíḓè"/>
            <p:cNvGrpSpPr/>
            <p:nvPr/>
          </p:nvGrpSpPr>
          <p:grpSpPr>
            <a:xfrm>
              <a:off x="1296566" y="1835355"/>
              <a:ext cx="10371693" cy="2285527"/>
              <a:chOff x="1296566" y="1835355"/>
              <a:chExt cx="13081304" cy="2285527"/>
            </a:xfrm>
          </p:grpSpPr>
          <p:sp>
            <p:nvSpPr>
              <p:cNvPr id="10" name="îṧľîḋé"/>
              <p:cNvSpPr txBox="1"/>
              <p:nvPr/>
            </p:nvSpPr>
            <p:spPr>
              <a:xfrm>
                <a:off x="1296567" y="1835355"/>
                <a:ext cx="6293555"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solidFill>
                      <a:srgbClr val="0000FF"/>
                    </a:solidFill>
                  </a:rPr>
                  <a:t>简单</a:t>
                </a:r>
                <a:r>
                  <a:rPr lang="zh-CN" altLang="en-US" sz="2400" dirty="0"/>
                  <a:t>数字签名</a:t>
                </a:r>
                <a:r>
                  <a:rPr lang="en-US" altLang="zh-CN" sz="2400" dirty="0"/>
                  <a:t>(a)</a:t>
                </a:r>
              </a:p>
            </p:txBody>
          </p:sp>
          <p:sp>
            <p:nvSpPr>
              <p:cNvPr id="11" name="íşļîḓé"/>
              <p:cNvSpPr/>
              <p:nvPr/>
            </p:nvSpPr>
            <p:spPr bwMode="auto">
              <a:xfrm>
                <a:off x="1296566" y="2279077"/>
                <a:ext cx="13081304" cy="1841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buClr>
                    <a:schemeClr val="accent4">
                      <a:lumMod val="40000"/>
                      <a:lumOff val="60000"/>
                    </a:schemeClr>
                  </a:buClr>
                  <a:buFont typeface="Wingdings" panose="05000000000000000000" pitchFamily="2" charset="2"/>
                  <a:buChar char="Ø"/>
                </a:pPr>
                <a:r>
                  <a:rPr lang="zh-CN" altLang="en-US" sz="2200" dirty="0"/>
                  <a:t>发送者</a:t>
                </a:r>
                <a:r>
                  <a:rPr lang="en-US" altLang="zh-CN" sz="2200" dirty="0"/>
                  <a:t>A</a:t>
                </a:r>
                <a:r>
                  <a:rPr lang="zh-CN" altLang="en-US" sz="2200" dirty="0"/>
                  <a:t>可使用私用密钥</a:t>
                </a:r>
                <a:r>
                  <a:rPr lang="en-US" altLang="zh-CN" sz="2200" dirty="0" err="1"/>
                  <a:t>Kda</a:t>
                </a:r>
                <a:r>
                  <a:rPr lang="zh-CN" altLang="en-US" sz="2200" dirty="0"/>
                  <a:t>对明文</a:t>
                </a:r>
                <a:r>
                  <a:rPr lang="en-US" altLang="zh-CN" sz="2200" dirty="0"/>
                  <a:t>P</a:t>
                </a:r>
                <a:r>
                  <a:rPr lang="zh-CN" altLang="en-US" sz="2200" dirty="0"/>
                  <a:t>进行加密，形成</a:t>
                </a:r>
                <a:r>
                  <a:rPr lang="en-US" altLang="zh-CN" sz="2200" dirty="0" err="1"/>
                  <a:t>D</a:t>
                </a:r>
                <a:r>
                  <a:rPr lang="en-US" altLang="zh-CN" sz="2200" baseline="-25000" dirty="0" err="1"/>
                  <a:t>Kda</a:t>
                </a:r>
                <a:r>
                  <a:rPr lang="en-US" altLang="zh-CN" sz="2200" dirty="0"/>
                  <a:t>(P)</a:t>
                </a:r>
                <a:r>
                  <a:rPr lang="zh-CN" altLang="en-US" sz="2200" dirty="0"/>
                  <a:t>，然后将其传送给接收者</a:t>
                </a:r>
                <a:r>
                  <a:rPr lang="en-US" altLang="zh-CN" sz="2200" dirty="0"/>
                  <a:t>B</a:t>
                </a:r>
                <a:r>
                  <a:rPr lang="zh-CN" altLang="en-US" sz="2200" dirty="0"/>
                  <a:t>。</a:t>
                </a:r>
              </a:p>
              <a:p>
                <a:pPr marL="342900" lvl="1" indent="-342900">
                  <a:lnSpc>
                    <a:spcPct val="132000"/>
                  </a:lnSpc>
                  <a:buClr>
                    <a:schemeClr val="accent4">
                      <a:lumMod val="40000"/>
                      <a:lumOff val="60000"/>
                    </a:schemeClr>
                  </a:buClr>
                  <a:buFont typeface="Wingdings" panose="05000000000000000000" pitchFamily="2" charset="2"/>
                  <a:buChar char="Ø"/>
                </a:pPr>
                <a:r>
                  <a:rPr lang="zh-CN" altLang="en-US" sz="2200" dirty="0"/>
                  <a:t>接收者</a:t>
                </a:r>
                <a:r>
                  <a:rPr lang="en-US" altLang="zh-CN" sz="2200" dirty="0"/>
                  <a:t>B</a:t>
                </a:r>
                <a:r>
                  <a:rPr lang="zh-CN" altLang="en-US" sz="2200" dirty="0"/>
                  <a:t>可利用</a:t>
                </a:r>
                <a:r>
                  <a:rPr lang="en-US" altLang="zh-CN" sz="2200" dirty="0"/>
                  <a:t>A</a:t>
                </a:r>
                <a:r>
                  <a:rPr lang="zh-CN" altLang="en-US" sz="2200" dirty="0"/>
                  <a:t>的公开密钥</a:t>
                </a:r>
                <a:r>
                  <a:rPr lang="en-US" altLang="zh-CN" sz="2200" dirty="0"/>
                  <a:t>Kea</a:t>
                </a:r>
                <a:r>
                  <a:rPr lang="zh-CN" altLang="en-US" sz="2200" dirty="0"/>
                  <a:t>对</a:t>
                </a:r>
                <a:r>
                  <a:rPr lang="en-US" altLang="zh-CN" sz="2200" dirty="0" err="1"/>
                  <a:t>D</a:t>
                </a:r>
                <a:r>
                  <a:rPr lang="en-US" altLang="zh-CN" sz="2200" baseline="-25000" dirty="0" err="1"/>
                  <a:t>Kda</a:t>
                </a:r>
                <a:r>
                  <a:rPr lang="en-US" altLang="zh-CN" sz="2200" dirty="0"/>
                  <a:t>(P)</a:t>
                </a:r>
                <a:r>
                  <a:rPr lang="zh-CN" altLang="en-US" sz="2200" dirty="0"/>
                  <a:t>进行解密，得到</a:t>
                </a:r>
                <a:r>
                  <a:rPr lang="en-US" altLang="zh-CN" sz="2200" dirty="0" err="1"/>
                  <a:t>E</a:t>
                </a:r>
                <a:r>
                  <a:rPr lang="en-US" altLang="zh-CN" sz="2200" baseline="-25000" dirty="0" err="1"/>
                  <a:t>Kea</a:t>
                </a:r>
                <a:r>
                  <a:rPr lang="en-US" altLang="zh-CN" sz="2200" dirty="0"/>
                  <a:t>[</a:t>
                </a:r>
                <a:r>
                  <a:rPr lang="en-US" altLang="zh-CN" sz="2200" dirty="0" err="1"/>
                  <a:t>D</a:t>
                </a:r>
                <a:r>
                  <a:rPr lang="en-US" altLang="zh-CN" sz="2200" baseline="-25000" dirty="0" err="1"/>
                  <a:t>Kda</a:t>
                </a:r>
                <a:r>
                  <a:rPr lang="en-US" altLang="zh-CN" sz="2200" dirty="0"/>
                  <a:t>(P)]=P</a:t>
                </a:r>
              </a:p>
            </p:txBody>
          </p:sp>
        </p:grpSp>
        <p:grpSp>
          <p:nvGrpSpPr>
            <p:cNvPr id="7" name="ïS1íḋé"/>
            <p:cNvGrpSpPr/>
            <p:nvPr/>
          </p:nvGrpSpPr>
          <p:grpSpPr>
            <a:xfrm>
              <a:off x="660400" y="1787149"/>
              <a:ext cx="497734" cy="497734"/>
              <a:chOff x="660400" y="1787149"/>
              <a:chExt cx="497734" cy="497734"/>
            </a:xfrm>
          </p:grpSpPr>
          <p:sp>
            <p:nvSpPr>
              <p:cNvPr id="8" name="islîḋe"/>
              <p:cNvSpPr/>
              <p:nvPr/>
            </p:nvSpPr>
            <p:spPr>
              <a:xfrm>
                <a:off x="660400" y="1787149"/>
                <a:ext cx="497734" cy="49773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9" name="îŝlîďe"/>
              <p:cNvSpPr/>
              <p:nvPr/>
            </p:nvSpPr>
            <p:spPr>
              <a:xfrm>
                <a:off x="779848" y="1918584"/>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nvGrpSpPr>
          <p:cNvPr id="12" name="iŝļïḓê"/>
          <p:cNvGrpSpPr/>
          <p:nvPr/>
        </p:nvGrpSpPr>
        <p:grpSpPr>
          <a:xfrm>
            <a:off x="669925" y="3428005"/>
            <a:ext cx="6297847" cy="2728095"/>
            <a:chOff x="660400" y="2092935"/>
            <a:chExt cx="6297847" cy="2728095"/>
          </a:xfrm>
        </p:grpSpPr>
        <p:grpSp>
          <p:nvGrpSpPr>
            <p:cNvPr id="13" name="ïṧļïḓe"/>
            <p:cNvGrpSpPr/>
            <p:nvPr/>
          </p:nvGrpSpPr>
          <p:grpSpPr>
            <a:xfrm>
              <a:off x="1296567" y="2092935"/>
              <a:ext cx="5661680" cy="2728095"/>
              <a:chOff x="1296567" y="2092935"/>
              <a:chExt cx="7140794" cy="2728095"/>
            </a:xfrm>
          </p:grpSpPr>
          <p:sp>
            <p:nvSpPr>
              <p:cNvPr id="17" name="ïšļíďè"/>
              <p:cNvSpPr txBox="1"/>
              <p:nvPr/>
            </p:nvSpPr>
            <p:spPr>
              <a:xfrm>
                <a:off x="1296567" y="2092935"/>
                <a:ext cx="7140794"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solidFill>
                      <a:srgbClr val="FF0000"/>
                    </a:solidFill>
                  </a:rPr>
                  <a:t>保密</a:t>
                </a:r>
                <a:r>
                  <a:rPr lang="zh-CN" altLang="en-US" sz="2400" dirty="0"/>
                  <a:t>数字签名</a:t>
                </a:r>
                <a:r>
                  <a:rPr lang="en-US" altLang="zh-CN" sz="2400" dirty="0"/>
                  <a:t>(b)</a:t>
                </a:r>
              </a:p>
            </p:txBody>
          </p:sp>
          <p:sp>
            <p:nvSpPr>
              <p:cNvPr id="18" name="íşľíḑè"/>
              <p:cNvSpPr/>
              <p:nvPr/>
            </p:nvSpPr>
            <p:spPr bwMode="auto">
              <a:xfrm>
                <a:off x="1312811" y="2588173"/>
                <a:ext cx="3778014" cy="22328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23000"/>
                  </a:lnSpc>
                  <a:buFont typeface="Wingdings" panose="05000000000000000000" pitchFamily="2" charset="2"/>
                  <a:buChar char="Ø"/>
                </a:pPr>
                <a:r>
                  <a:rPr lang="zh-CN" altLang="en-US" sz="2200" dirty="0"/>
                  <a:t>为了实现在发送者</a:t>
                </a:r>
                <a:r>
                  <a:rPr lang="en-US" altLang="zh-CN" sz="2200" dirty="0"/>
                  <a:t>A</a:t>
                </a:r>
                <a:r>
                  <a:rPr lang="zh-CN" altLang="en-US" sz="2200" dirty="0"/>
                  <a:t>和接收者</a:t>
                </a:r>
                <a:r>
                  <a:rPr lang="en-US" altLang="zh-CN" sz="2200" dirty="0"/>
                  <a:t>B</a:t>
                </a:r>
                <a:r>
                  <a:rPr lang="zh-CN" altLang="en-US" sz="2200" dirty="0"/>
                  <a:t>之间的保密数字签名，要求</a:t>
                </a:r>
                <a:r>
                  <a:rPr lang="en-US" altLang="zh-CN" sz="2200" dirty="0"/>
                  <a:t>A</a:t>
                </a:r>
                <a:r>
                  <a:rPr lang="zh-CN" altLang="en-US" sz="2200" dirty="0"/>
                  <a:t>和</a:t>
                </a:r>
                <a:r>
                  <a:rPr lang="en-US" altLang="zh-CN" sz="2200" dirty="0"/>
                  <a:t>B</a:t>
                </a:r>
                <a:r>
                  <a:rPr lang="zh-CN" altLang="en-US" sz="2200" dirty="0"/>
                  <a:t>都具有密钥，再加密和解密</a:t>
                </a:r>
              </a:p>
            </p:txBody>
          </p:sp>
        </p:grpSp>
        <p:grpSp>
          <p:nvGrpSpPr>
            <p:cNvPr id="14" name="ïŝľídè"/>
            <p:cNvGrpSpPr/>
            <p:nvPr/>
          </p:nvGrpSpPr>
          <p:grpSpPr>
            <a:xfrm>
              <a:off x="660400" y="2096245"/>
              <a:ext cx="497734" cy="497734"/>
              <a:chOff x="660400" y="2096245"/>
              <a:chExt cx="497734" cy="497734"/>
            </a:xfrm>
          </p:grpSpPr>
          <p:sp>
            <p:nvSpPr>
              <p:cNvPr id="15" name="ïṡľïde"/>
              <p:cNvSpPr/>
              <p:nvPr/>
            </p:nvSpPr>
            <p:spPr>
              <a:xfrm>
                <a:off x="660400" y="2096245"/>
                <a:ext cx="497734" cy="497734"/>
              </a:xfrm>
              <a:prstGeom prst="ellipse">
                <a:avLst/>
              </a:prstGeom>
              <a:solidFill>
                <a:schemeClr val="tx1">
                  <a:lumMod val="50000"/>
                  <a:lumOff val="50000"/>
                </a:schemeClr>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16" name="ïšliḍe"/>
              <p:cNvSpPr/>
              <p:nvPr/>
            </p:nvSpPr>
            <p:spPr>
              <a:xfrm>
                <a:off x="779848" y="2227680"/>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pic>
        <p:nvPicPr>
          <p:cNvPr id="23" name="图片 22"/>
          <p:cNvPicPr>
            <a:picLocks noChangeAspect="1"/>
          </p:cNvPicPr>
          <p:nvPr/>
        </p:nvPicPr>
        <p:blipFill>
          <a:blip r:embed="rId2"/>
          <a:stretch>
            <a:fillRect/>
          </a:stretch>
        </p:blipFill>
        <p:spPr>
          <a:xfrm>
            <a:off x="4465735" y="3562750"/>
            <a:ext cx="7368599" cy="2380367"/>
          </a:xfrm>
          <a:prstGeom prst="rect">
            <a:avLst/>
          </a:prstGeom>
          <a:ln>
            <a:solidFill>
              <a:schemeClr val="accent1"/>
            </a:solid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数字证明书</a:t>
            </a:r>
          </a:p>
        </p:txBody>
      </p:sp>
      <p:sp>
        <p:nvSpPr>
          <p:cNvPr id="4" name="ïşľîďè"/>
          <p:cNvSpPr/>
          <p:nvPr/>
        </p:nvSpPr>
        <p:spPr>
          <a:xfrm>
            <a:off x="0" y="1147001"/>
            <a:ext cx="4669654" cy="5003800"/>
          </a:xfrm>
          <a:prstGeom prst="rect">
            <a:avLst/>
          </a:prstGeom>
          <a:blipFill>
            <a:blip r:embed="rId2"/>
            <a:stretch>
              <a:fillRect l="-30450" r="-30284"/>
            </a:stretch>
          </a:bli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5" name="îŝļiḋe"/>
          <p:cNvSpPr/>
          <p:nvPr/>
        </p:nvSpPr>
        <p:spPr>
          <a:xfrm>
            <a:off x="4012707" y="1147001"/>
            <a:ext cx="656948" cy="5003800"/>
          </a:xfrm>
          <a:prstGeom prst="rect">
            <a:avLst/>
          </a:prstGeom>
          <a:solidFill>
            <a:schemeClr val="accent1">
              <a:alpha val="7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nvGrpSpPr>
          <p:cNvPr id="6" name="í$1iďè"/>
          <p:cNvGrpSpPr/>
          <p:nvPr/>
        </p:nvGrpSpPr>
        <p:grpSpPr>
          <a:xfrm>
            <a:off x="4136995" y="1187003"/>
            <a:ext cx="7381904" cy="1648925"/>
            <a:chOff x="4136995" y="1170302"/>
            <a:chExt cx="7381904" cy="1648925"/>
          </a:xfrm>
        </p:grpSpPr>
        <p:sp>
          <p:nvSpPr>
            <p:cNvPr id="7" name="îslîďê"/>
            <p:cNvSpPr/>
            <p:nvPr/>
          </p:nvSpPr>
          <p:spPr>
            <a:xfrm>
              <a:off x="4136995" y="1712614"/>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8" name="ïSḻiḍé"/>
            <p:cNvSpPr txBox="1"/>
            <p:nvPr/>
          </p:nvSpPr>
          <p:spPr>
            <a:xfrm>
              <a:off x="4882718" y="1170302"/>
              <a:ext cx="6636181" cy="1648925"/>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lnSpc>
                  <a:spcPct val="130000"/>
                </a:lnSpc>
              </a:pPr>
              <a:r>
                <a:rPr lang="zh-CN" altLang="en-US" sz="2400" dirty="0">
                  <a:latin typeface="+mj-ea"/>
                  <a:ea typeface="+mj-ea"/>
                </a:rPr>
                <a:t>由大家都信得过的认证机构</a:t>
              </a:r>
              <a:r>
                <a:rPr lang="en-US" altLang="zh-CN" sz="2400" dirty="0">
                  <a:latin typeface="+mj-ea"/>
                  <a:ea typeface="+mj-ea"/>
                </a:rPr>
                <a:t>CA</a:t>
              </a:r>
              <a:r>
                <a:rPr lang="zh-CN" altLang="en-US" sz="2400" dirty="0">
                  <a:latin typeface="+mj-ea"/>
                  <a:ea typeface="+mj-ea"/>
                </a:rPr>
                <a:t>为公开密钥发放一份公开密钥证明书，该公开密钥证明书又称为</a:t>
              </a:r>
              <a:r>
                <a:rPr lang="zh-CN" altLang="en-US" sz="2400" dirty="0">
                  <a:solidFill>
                    <a:srgbClr val="FF0000"/>
                  </a:solidFill>
                  <a:latin typeface="+mj-ea"/>
                  <a:ea typeface="+mj-ea"/>
                </a:rPr>
                <a:t>数字证明书</a:t>
              </a:r>
              <a:r>
                <a:rPr lang="zh-CN" altLang="en-US" sz="2400" dirty="0">
                  <a:latin typeface="+mj-ea"/>
                  <a:ea typeface="+mj-ea"/>
                </a:rPr>
                <a:t>，用于证明通信请求者的身份。</a:t>
              </a:r>
            </a:p>
          </p:txBody>
        </p:sp>
      </p:grpSp>
      <p:grpSp>
        <p:nvGrpSpPr>
          <p:cNvPr id="12" name="ïSlíḍê"/>
          <p:cNvGrpSpPr/>
          <p:nvPr/>
        </p:nvGrpSpPr>
        <p:grpSpPr>
          <a:xfrm>
            <a:off x="4183062" y="3299791"/>
            <a:ext cx="7335838" cy="2395919"/>
            <a:chOff x="4183062" y="3629437"/>
            <a:chExt cx="7335838" cy="2395919"/>
          </a:xfrm>
        </p:grpSpPr>
        <p:sp>
          <p:nvSpPr>
            <p:cNvPr id="13" name="ïsľíḓê"/>
            <p:cNvSpPr/>
            <p:nvPr/>
          </p:nvSpPr>
          <p:spPr>
            <a:xfrm>
              <a:off x="4183062" y="3796584"/>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14" name="íṧļîḋê"/>
            <p:cNvSpPr txBox="1"/>
            <p:nvPr/>
          </p:nvSpPr>
          <p:spPr>
            <a:xfrm>
              <a:off x="4882718" y="3629437"/>
              <a:ext cx="6636182" cy="2395919"/>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2400" dirty="0">
                  <a:solidFill>
                    <a:srgbClr val="0000FF"/>
                  </a:solidFill>
                </a:rPr>
                <a:t>国际电信联盟（</a:t>
              </a:r>
              <a:r>
                <a:rPr lang="en-US" altLang="zh-CN" sz="2400" dirty="0">
                  <a:solidFill>
                    <a:srgbClr val="0000FF"/>
                  </a:solidFill>
                </a:rPr>
                <a:t>ITU</a:t>
              </a:r>
              <a:r>
                <a:rPr lang="zh-CN" altLang="en-US" sz="2400" dirty="0">
                  <a:solidFill>
                    <a:srgbClr val="0000FF"/>
                  </a:solidFill>
                </a:rPr>
                <a:t>）</a:t>
              </a:r>
              <a:r>
                <a:rPr lang="zh-CN" altLang="en-US" sz="2400" dirty="0"/>
                <a:t>制定的</a:t>
              </a:r>
              <a:r>
                <a:rPr lang="en-US" altLang="zh-CN" sz="2400" dirty="0"/>
                <a:t>X.509</a:t>
              </a:r>
              <a:r>
                <a:rPr lang="zh-CN" altLang="en-US" sz="2400" dirty="0"/>
                <a:t>标准中，规定了数字证明书的内容</a:t>
              </a:r>
            </a:p>
            <a:p>
              <a:pPr marL="457200" lvl="2" indent="-342900">
                <a:lnSpc>
                  <a:spcPct val="130000"/>
                </a:lnSpc>
                <a:buClr>
                  <a:srgbClr val="FF0000"/>
                </a:buClr>
                <a:buFont typeface="Wingdings" panose="05000000000000000000" pitchFamily="2" charset="2"/>
                <a:buChar char="Ø"/>
              </a:pPr>
              <a:r>
                <a:rPr lang="zh-CN" altLang="en-US" sz="2400" dirty="0"/>
                <a:t>用户名称、发证机构名称、公开密钥、公开密钥的有效日期、数字证明书的编号以及发证者的签名。</a:t>
              </a: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用户验证</a:t>
            </a:r>
          </a:p>
        </p:txBody>
      </p:sp>
      <p:sp>
        <p:nvSpPr>
          <p:cNvPr id="3" name="内容占位符 2"/>
          <p:cNvSpPr txBox="1"/>
          <p:nvPr/>
        </p:nvSpPr>
        <p:spPr>
          <a:xfrm>
            <a:off x="1854558" y="1257842"/>
            <a:ext cx="9519540" cy="466145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3000"/>
              </a:lnSpc>
              <a:spcBef>
                <a:spcPts val="600"/>
              </a:spcBef>
              <a:spcAft>
                <a:spcPts val="600"/>
              </a:spcAft>
              <a:buNone/>
            </a:pPr>
            <a:r>
              <a:rPr lang="zh-CN" altLang="zh-CN" sz="2400" dirty="0">
                <a:solidFill>
                  <a:srgbClr val="FF0000"/>
                </a:solidFill>
                <a:latin typeface="+mn-ea"/>
                <a:cs typeface="+mn-ea"/>
                <a:sym typeface="Times New Roman" panose="02020603050405020304" pitchFamily="18" charset="0"/>
              </a:rPr>
              <a:t>验证</a:t>
            </a:r>
            <a:r>
              <a:rPr lang="zh-CN" altLang="en-US" sz="2400" dirty="0">
                <a:latin typeface="+mn-ea"/>
                <a:cs typeface="+mn-ea"/>
                <a:sym typeface="Times New Roman" panose="02020603050405020304" pitchFamily="18" charset="0"/>
              </a:rPr>
              <a:t>又</a:t>
            </a:r>
            <a:r>
              <a:rPr lang="zh-CN" altLang="zh-CN" sz="2400" dirty="0">
                <a:latin typeface="+mn-ea"/>
                <a:cs typeface="+mn-ea"/>
                <a:sym typeface="Times New Roman" panose="02020603050405020304" pitchFamily="18" charset="0"/>
              </a:rPr>
              <a:t>称为</a:t>
            </a:r>
            <a:r>
              <a:rPr lang="zh-CN" altLang="zh-CN" sz="2400" dirty="0">
                <a:solidFill>
                  <a:srgbClr val="0000FF"/>
                </a:solidFill>
                <a:latin typeface="+mn-ea"/>
                <a:cs typeface="+mn-ea"/>
                <a:sym typeface="Times New Roman" panose="02020603050405020304" pitchFamily="18" charset="0"/>
              </a:rPr>
              <a:t>识别或认证</a:t>
            </a:r>
            <a:endParaRPr lang="en-US" altLang="zh-CN" sz="2400" dirty="0">
              <a:latin typeface="+mn-ea"/>
              <a:cs typeface="+mn-ea"/>
              <a:sym typeface="Times New Roman" panose="02020603050405020304" pitchFamily="18" charset="0"/>
            </a:endParaRPr>
          </a:p>
          <a:p>
            <a:pPr marL="0" indent="0">
              <a:lnSpc>
                <a:spcPct val="123000"/>
              </a:lnSpc>
              <a:spcBef>
                <a:spcPts val="600"/>
              </a:spcBef>
              <a:spcAft>
                <a:spcPts val="600"/>
              </a:spcAft>
              <a:buNone/>
            </a:pPr>
            <a:r>
              <a:rPr lang="zh-CN" altLang="zh-CN" sz="2400" dirty="0">
                <a:latin typeface="+mn-ea"/>
                <a:cs typeface="+mn-ea"/>
                <a:sym typeface="Times New Roman" panose="02020603050405020304" pitchFamily="18" charset="0"/>
              </a:rPr>
              <a:t>用户验证</a:t>
            </a:r>
            <a:r>
              <a:rPr lang="zh-CN" altLang="en-US" sz="2400" dirty="0">
                <a:latin typeface="+mn-ea"/>
                <a:cs typeface="+mn-ea"/>
                <a:sym typeface="Times New Roman" panose="02020603050405020304" pitchFamily="18" charset="0"/>
              </a:rPr>
              <a:t>：</a:t>
            </a:r>
            <a:r>
              <a:rPr lang="zh-CN" altLang="zh-CN" sz="2400" dirty="0">
                <a:latin typeface="+mn-ea"/>
                <a:cs typeface="+mn-ea"/>
                <a:sym typeface="Times New Roman" panose="02020603050405020304" pitchFamily="18" charset="0"/>
              </a:rPr>
              <a:t>当用户要登录一台多用户计算机时，</a:t>
            </a:r>
            <a:r>
              <a:rPr lang="en-US" altLang="zh-CN" sz="2400" dirty="0">
                <a:latin typeface="+mn-ea"/>
                <a:cs typeface="+mn-ea"/>
                <a:sym typeface="Times New Roman" panose="02020603050405020304" pitchFamily="18" charset="0"/>
              </a:rPr>
              <a:t>OS</a:t>
            </a:r>
            <a:r>
              <a:rPr lang="zh-CN" altLang="zh-CN" sz="2400" dirty="0">
                <a:latin typeface="+mn-ea"/>
                <a:cs typeface="+mn-ea"/>
                <a:sym typeface="Times New Roman" panose="02020603050405020304" pitchFamily="18" charset="0"/>
              </a:rPr>
              <a:t>将对该用户进行验证</a:t>
            </a:r>
            <a:r>
              <a:rPr lang="zh-CN" altLang="en-US" sz="2400" dirty="0">
                <a:latin typeface="+mn-ea"/>
                <a:cs typeface="+mn-ea"/>
                <a:sym typeface="Times New Roman" panose="02020603050405020304" pitchFamily="18" charset="0"/>
              </a:rPr>
              <a:t>，</a:t>
            </a:r>
            <a:r>
              <a:rPr lang="zh-CN" altLang="zh-CN" sz="2400" dirty="0">
                <a:latin typeface="+mn-ea"/>
                <a:cs typeface="+mn-ea"/>
                <a:sym typeface="Times New Roman" panose="02020603050405020304" pitchFamily="18" charset="0"/>
              </a:rPr>
              <a:t>目的在于确定被验证对象（包括人和事）是否真实</a:t>
            </a:r>
            <a:endParaRPr lang="en-US" altLang="zh-CN" sz="2400" dirty="0">
              <a:latin typeface="+mn-ea"/>
              <a:cs typeface="+mn-ea"/>
              <a:sym typeface="Times New Roman" panose="02020603050405020304" pitchFamily="18" charset="0"/>
            </a:endParaRPr>
          </a:p>
          <a:p>
            <a:pPr marL="0" indent="0">
              <a:lnSpc>
                <a:spcPct val="123000"/>
              </a:lnSpc>
              <a:spcBef>
                <a:spcPts val="600"/>
              </a:spcBef>
              <a:spcAft>
                <a:spcPts val="600"/>
              </a:spcAft>
              <a:buNone/>
            </a:pPr>
            <a:r>
              <a:rPr lang="zh-CN" altLang="zh-CN" sz="2400" dirty="0">
                <a:latin typeface="+mn-ea"/>
                <a:cs typeface="+mn-ea"/>
                <a:sym typeface="Times New Roman" panose="02020603050405020304" pitchFamily="18" charset="0"/>
              </a:rPr>
              <a:t>通常将验证技术的应用作为保障网络安全的第一道防线</a:t>
            </a:r>
            <a:endParaRPr lang="en-US" altLang="zh-CN" sz="2400" dirty="0">
              <a:latin typeface="+mn-ea"/>
              <a:cs typeface="+mn-ea"/>
              <a:sym typeface="Times New Roman" panose="02020603050405020304" pitchFamily="18" charset="0"/>
            </a:endParaRPr>
          </a:p>
          <a:p>
            <a:pPr marL="0" indent="0">
              <a:lnSpc>
                <a:spcPct val="123000"/>
              </a:lnSpc>
              <a:spcBef>
                <a:spcPts val="600"/>
              </a:spcBef>
              <a:spcAft>
                <a:spcPts val="600"/>
              </a:spcAft>
              <a:buNone/>
            </a:pPr>
            <a:r>
              <a:rPr lang="zh-CN" altLang="en-US" sz="2400" dirty="0">
                <a:latin typeface="+mn-ea"/>
                <a:cs typeface="+mn-ea"/>
                <a:sym typeface="Times New Roman" panose="02020603050405020304" pitchFamily="18" charset="0"/>
              </a:rPr>
              <a:t>目前</a:t>
            </a:r>
            <a:r>
              <a:rPr lang="zh-CN" altLang="zh-CN" sz="2400" dirty="0">
                <a:latin typeface="+mn-ea"/>
                <a:cs typeface="+mn-ea"/>
                <a:sym typeface="Times New Roman" panose="02020603050405020304" pitchFamily="18" charset="0"/>
              </a:rPr>
              <a:t>验证</a:t>
            </a:r>
            <a:r>
              <a:rPr lang="zh-CN" altLang="zh-CN" sz="2400" dirty="0">
                <a:solidFill>
                  <a:srgbClr val="FF0000"/>
                </a:solidFill>
                <a:latin typeface="+mn-ea"/>
                <a:cs typeface="+mn-ea"/>
                <a:sym typeface="Times New Roman" panose="02020603050405020304" pitchFamily="18" charset="0"/>
              </a:rPr>
              <a:t>主要依据</a:t>
            </a:r>
            <a:r>
              <a:rPr lang="en-US" altLang="zh-CN" sz="2400" dirty="0">
                <a:solidFill>
                  <a:srgbClr val="FF0000"/>
                </a:solidFill>
                <a:latin typeface="+mn-ea"/>
                <a:cs typeface="+mn-ea"/>
                <a:sym typeface="Times New Roman" panose="02020603050405020304" pitchFamily="18" charset="0"/>
              </a:rPr>
              <a:t>3</a:t>
            </a:r>
            <a:r>
              <a:rPr lang="zh-CN" altLang="zh-CN" sz="2400" dirty="0">
                <a:solidFill>
                  <a:srgbClr val="FF0000"/>
                </a:solidFill>
                <a:latin typeface="+mn-ea"/>
                <a:cs typeface="+mn-ea"/>
                <a:sym typeface="Times New Roman" panose="02020603050405020304" pitchFamily="18" charset="0"/>
              </a:rPr>
              <a:t>方面的信息</a:t>
            </a:r>
            <a:r>
              <a:rPr lang="zh-CN" altLang="zh-CN" sz="2400" dirty="0">
                <a:latin typeface="+mn-ea"/>
                <a:cs typeface="+mn-ea"/>
                <a:sym typeface="Times New Roman" panose="02020603050405020304" pitchFamily="18" charset="0"/>
              </a:rPr>
              <a:t>来确定被验证对象的身份</a:t>
            </a:r>
            <a:endParaRPr lang="en-US" altLang="zh-CN" sz="2400" dirty="0">
              <a:latin typeface="+mn-ea"/>
              <a:cs typeface="+mn-ea"/>
              <a:sym typeface="Times New Roman" panose="02020603050405020304" pitchFamily="18" charset="0"/>
            </a:endParaRPr>
          </a:p>
          <a:p>
            <a:pPr marL="431800" lvl="1" indent="-457200">
              <a:lnSpc>
                <a:spcPct val="123000"/>
              </a:lnSpc>
              <a:spcBef>
                <a:spcPts val="600"/>
              </a:spcBef>
              <a:spcAft>
                <a:spcPts val="600"/>
              </a:spcAft>
              <a:buClr>
                <a:srgbClr val="FF0000"/>
              </a:buClr>
              <a:buFont typeface="+mj-ea"/>
              <a:buAutoNum type="circleNumDbPlain"/>
            </a:pPr>
            <a:r>
              <a:rPr lang="zh-CN" altLang="zh-CN" sz="2400" dirty="0">
                <a:latin typeface="+mn-ea"/>
                <a:cs typeface="+mn-ea"/>
                <a:sym typeface="Times New Roman" panose="02020603050405020304" pitchFamily="18" charset="0"/>
              </a:rPr>
              <a:t>所知，基于用户所知道的信息，如系统的登录名、口令等</a:t>
            </a:r>
            <a:endParaRPr lang="en-US" altLang="zh-CN" sz="2400" dirty="0">
              <a:latin typeface="+mn-ea"/>
              <a:cs typeface="+mn-ea"/>
              <a:sym typeface="Times New Roman" panose="02020603050405020304" pitchFamily="18" charset="0"/>
            </a:endParaRPr>
          </a:p>
          <a:p>
            <a:pPr marL="431800" lvl="1" indent="-457200">
              <a:lnSpc>
                <a:spcPct val="123000"/>
              </a:lnSpc>
              <a:spcBef>
                <a:spcPts val="600"/>
              </a:spcBef>
              <a:spcAft>
                <a:spcPts val="600"/>
              </a:spcAft>
              <a:buClr>
                <a:srgbClr val="FF0000"/>
              </a:buClr>
              <a:buFont typeface="+mj-ea"/>
              <a:buAutoNum type="circleNumDbPlain"/>
            </a:pPr>
            <a:r>
              <a:rPr lang="zh-CN" altLang="zh-CN" sz="2400" dirty="0">
                <a:latin typeface="+mn-ea"/>
                <a:cs typeface="+mn-ea"/>
                <a:sym typeface="Times New Roman" panose="02020603050405020304" pitchFamily="18" charset="0"/>
              </a:rPr>
              <a:t>所有基于用户所具有的东西，如身份证、信用卡等。</a:t>
            </a:r>
            <a:endParaRPr lang="en-US" altLang="zh-CN" sz="2400" dirty="0">
              <a:latin typeface="+mn-ea"/>
              <a:cs typeface="+mn-ea"/>
              <a:sym typeface="Times New Roman" panose="02020603050405020304" pitchFamily="18" charset="0"/>
            </a:endParaRPr>
          </a:p>
          <a:p>
            <a:pPr marL="431800" lvl="1" indent="-457200">
              <a:lnSpc>
                <a:spcPct val="123000"/>
              </a:lnSpc>
              <a:spcBef>
                <a:spcPts val="600"/>
              </a:spcBef>
              <a:spcAft>
                <a:spcPts val="600"/>
              </a:spcAft>
              <a:buClr>
                <a:srgbClr val="FF0000"/>
              </a:buClr>
              <a:buFont typeface="+mj-ea"/>
              <a:buAutoNum type="circleNumDbPlain"/>
            </a:pPr>
            <a:r>
              <a:rPr lang="zh-CN" altLang="zh-CN" sz="2400" dirty="0">
                <a:latin typeface="+mn-ea"/>
                <a:cs typeface="+mn-ea"/>
                <a:sym typeface="Times New Roman" panose="02020603050405020304" pitchFamily="18" charset="0"/>
              </a:rPr>
              <a:t>用户特征，基于用户所具有的特征，特别是生理特征，如指纹、声纹、</a:t>
            </a:r>
            <a:r>
              <a:rPr lang="en-US" altLang="zh-CN" sz="2400" dirty="0">
                <a:latin typeface="+mn-ea"/>
                <a:cs typeface="+mn-ea"/>
                <a:sym typeface="Times New Roman" panose="02020603050405020304" pitchFamily="18" charset="0"/>
              </a:rPr>
              <a:t>DNA</a:t>
            </a:r>
            <a:r>
              <a:rPr lang="zh-CN" altLang="zh-CN" sz="2400" dirty="0">
                <a:latin typeface="+mn-ea"/>
                <a:cs typeface="+mn-ea"/>
                <a:sym typeface="Times New Roman" panose="02020603050405020304" pitchFamily="18" charset="0"/>
              </a:rPr>
              <a:t>等</a:t>
            </a:r>
            <a:endParaRPr lang="zh-CN" altLang="en-US" sz="2400" dirty="0">
              <a:latin typeface="+mn-ea"/>
              <a:cs typeface="+mn-ea"/>
              <a:sym typeface="Times New Roman" panose="02020603050405020304" pitchFamily="18" charset="0"/>
            </a:endParaRPr>
          </a:p>
        </p:txBody>
      </p:sp>
      <p:sp>
        <p:nvSpPr>
          <p:cNvPr id="4" name="îSļiḓè"/>
          <p:cNvSpPr/>
          <p:nvPr/>
        </p:nvSpPr>
        <p:spPr>
          <a:xfrm>
            <a:off x="900036" y="1219205"/>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5" name="íṥḻîḓe"/>
          <p:cNvSpPr/>
          <p:nvPr/>
        </p:nvSpPr>
        <p:spPr>
          <a:xfrm>
            <a:off x="900036" y="2787771"/>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6" name="îşļiḓè"/>
          <p:cNvSpPr/>
          <p:nvPr/>
        </p:nvSpPr>
        <p:spPr>
          <a:xfrm>
            <a:off x="900036" y="1959258"/>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7" name="îṡḷíďe"/>
          <p:cNvSpPr/>
          <p:nvPr/>
        </p:nvSpPr>
        <p:spPr>
          <a:xfrm>
            <a:off x="1090291" y="1415343"/>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p>
        </p:txBody>
      </p:sp>
      <p:sp>
        <p:nvSpPr>
          <p:cNvPr id="8" name="íSlíḋe"/>
          <p:cNvSpPr/>
          <p:nvPr/>
        </p:nvSpPr>
        <p:spPr>
          <a:xfrm>
            <a:off x="1090290" y="2181275"/>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p>
        </p:txBody>
      </p:sp>
      <p:sp>
        <p:nvSpPr>
          <p:cNvPr id="9" name="ïśḷïḓe"/>
          <p:cNvSpPr/>
          <p:nvPr/>
        </p:nvSpPr>
        <p:spPr>
          <a:xfrm>
            <a:off x="1119229" y="2977231"/>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p>
        </p:txBody>
      </p:sp>
      <p:sp>
        <p:nvSpPr>
          <p:cNvPr id="10" name="îSļiḓè"/>
          <p:cNvSpPr/>
          <p:nvPr/>
        </p:nvSpPr>
        <p:spPr>
          <a:xfrm>
            <a:off x="900036" y="3592219"/>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11" name="îṡḷíďe"/>
          <p:cNvSpPr/>
          <p:nvPr/>
        </p:nvSpPr>
        <p:spPr>
          <a:xfrm>
            <a:off x="1090291" y="3788357"/>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口令验证技术（</a:t>
            </a:r>
            <a:r>
              <a:rPr lang="en-US" altLang="zh-CN"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1</a:t>
            </a:r>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a:t>
            </a:r>
          </a:p>
        </p:txBody>
      </p:sp>
      <p:sp>
        <p:nvSpPr>
          <p:cNvPr id="4" name="íSľïdé"/>
          <p:cNvSpPr/>
          <p:nvPr/>
        </p:nvSpPr>
        <p:spPr>
          <a:xfrm>
            <a:off x="928133" y="1203612"/>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5" name="ïŝļíḓê"/>
          <p:cNvSpPr/>
          <p:nvPr/>
        </p:nvSpPr>
        <p:spPr bwMode="auto">
          <a:xfrm>
            <a:off x="8255574" y="1835459"/>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91440" tIns="45720" rIns="91440" bIns="45720">
            <a:normAutofit/>
          </a:bodyPr>
          <a:lstStyle/>
          <a:p>
            <a:endParaRPr lang="zh-CN" altLang="en-US"/>
          </a:p>
        </p:txBody>
      </p:sp>
      <p:sp>
        <p:nvSpPr>
          <p:cNvPr id="6" name="îṧľîdé"/>
          <p:cNvSpPr/>
          <p:nvPr/>
        </p:nvSpPr>
        <p:spPr>
          <a:xfrm>
            <a:off x="3496470" y="1203612"/>
            <a:ext cx="4034934" cy="2095500"/>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7" name="内容占位符 2"/>
          <p:cNvSpPr txBox="1"/>
          <p:nvPr/>
        </p:nvSpPr>
        <p:spPr>
          <a:xfrm>
            <a:off x="778794" y="1835459"/>
            <a:ext cx="3265172" cy="308426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300"/>
              </a:spcBef>
              <a:buNone/>
              <a:defRPr/>
            </a:pPr>
            <a:r>
              <a:rPr lang="zh-CN" altLang="en-US" sz="2500" dirty="0">
                <a:solidFill>
                  <a:srgbClr val="FF0000"/>
                </a:solidFill>
              </a:rPr>
              <a:t>口令</a:t>
            </a:r>
          </a:p>
          <a:p>
            <a:pPr marL="342900" lvl="1" indent="-342900">
              <a:lnSpc>
                <a:spcPct val="132000"/>
              </a:lnSpc>
              <a:spcBef>
                <a:spcPts val="300"/>
              </a:spcBef>
              <a:buClr>
                <a:srgbClr val="E71101"/>
              </a:buClr>
              <a:buSzPct val="60000"/>
              <a:buFont typeface="Wingdings" panose="05000000000000000000" pitchFamily="2" charset="2"/>
              <a:buChar char="n"/>
              <a:defRPr/>
            </a:pPr>
            <a:r>
              <a:rPr lang="zh-CN" altLang="en-US" sz="2000" dirty="0">
                <a:solidFill>
                  <a:schemeClr val="tx1">
                    <a:lumMod val="65000"/>
                    <a:lumOff val="35000"/>
                  </a:schemeClr>
                </a:solidFill>
              </a:rPr>
              <a:t>登录程序通过输入的用户名和口令，验证用户的合法性</a:t>
            </a:r>
          </a:p>
          <a:p>
            <a:pPr marL="342900" lvl="1" indent="-342900">
              <a:lnSpc>
                <a:spcPct val="132000"/>
              </a:lnSpc>
              <a:spcBef>
                <a:spcPts val="300"/>
              </a:spcBef>
              <a:buClr>
                <a:srgbClr val="E71101"/>
              </a:buClr>
              <a:buSzPct val="60000"/>
              <a:buFont typeface="Wingdings" panose="05000000000000000000" pitchFamily="2" charset="2"/>
              <a:buChar char="n"/>
              <a:defRPr/>
            </a:pPr>
            <a:r>
              <a:rPr lang="zh-CN" altLang="en-US" sz="2000" dirty="0">
                <a:solidFill>
                  <a:schemeClr val="tx1">
                    <a:lumMod val="65000"/>
                    <a:lumOff val="35000"/>
                  </a:schemeClr>
                </a:solidFill>
              </a:rPr>
              <a:t>口令由字母、数字和特殊符号混合组成，它可由系统自动生成，也可由用户自己选定</a:t>
            </a:r>
          </a:p>
        </p:txBody>
      </p:sp>
      <p:sp>
        <p:nvSpPr>
          <p:cNvPr id="8" name="内容占位符 2"/>
          <p:cNvSpPr txBox="1"/>
          <p:nvPr/>
        </p:nvSpPr>
        <p:spPr>
          <a:xfrm>
            <a:off x="7696200" y="2488070"/>
            <a:ext cx="3778876" cy="408659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500" dirty="0"/>
              <a:t>提高口令安全性的</a:t>
            </a:r>
            <a:r>
              <a:rPr lang="zh-CN" altLang="en-US" sz="2500" dirty="0">
                <a:solidFill>
                  <a:srgbClr val="FF0000"/>
                </a:solidFill>
              </a:rPr>
              <a:t>方法：</a:t>
            </a:r>
          </a:p>
          <a:p>
            <a:pPr marL="457200" lvl="2" indent="-342900">
              <a:lnSpc>
                <a:spcPct val="132000"/>
              </a:lnSpc>
              <a:spcBef>
                <a:spcPts val="370"/>
              </a:spcBef>
              <a:buClr>
                <a:srgbClr val="E71101"/>
              </a:buClr>
              <a:buSzPct val="60000"/>
              <a:buFont typeface="Wingdings" panose="05000000000000000000" pitchFamily="2" charset="2"/>
              <a:buChar char="n"/>
              <a:defRPr/>
            </a:pPr>
            <a:r>
              <a:rPr lang="zh-CN" altLang="en-US" sz="2000" dirty="0">
                <a:solidFill>
                  <a:schemeClr val="tx1">
                    <a:lumMod val="65000"/>
                    <a:lumOff val="35000"/>
                  </a:schemeClr>
                </a:solidFill>
              </a:rPr>
              <a:t>口令应适当长</a:t>
            </a:r>
          </a:p>
          <a:p>
            <a:pPr marL="457200" lvl="2" indent="-342900">
              <a:lnSpc>
                <a:spcPct val="132000"/>
              </a:lnSpc>
              <a:spcBef>
                <a:spcPts val="370"/>
              </a:spcBef>
              <a:buClr>
                <a:srgbClr val="E71101"/>
              </a:buClr>
              <a:buSzPct val="60000"/>
              <a:buFont typeface="Wingdings" panose="05000000000000000000" pitchFamily="2" charset="2"/>
              <a:buChar char="n"/>
              <a:defRPr/>
            </a:pPr>
            <a:r>
              <a:rPr lang="zh-CN" altLang="en-US" sz="2000" dirty="0">
                <a:solidFill>
                  <a:schemeClr val="tx1">
                    <a:lumMod val="65000"/>
                    <a:lumOff val="35000"/>
                  </a:schemeClr>
                </a:solidFill>
              </a:rPr>
              <a:t>口令应包含多种字符</a:t>
            </a:r>
          </a:p>
          <a:p>
            <a:pPr marL="457200" lvl="2" indent="-342900">
              <a:lnSpc>
                <a:spcPct val="132000"/>
              </a:lnSpc>
              <a:spcBef>
                <a:spcPts val="370"/>
              </a:spcBef>
              <a:buClr>
                <a:srgbClr val="E71101"/>
              </a:buClr>
              <a:buSzPct val="60000"/>
              <a:buFont typeface="Wingdings" panose="05000000000000000000" pitchFamily="2" charset="2"/>
              <a:buChar char="n"/>
              <a:defRPr/>
            </a:pPr>
            <a:r>
              <a:rPr lang="zh-CN" altLang="en-US" sz="2000" dirty="0">
                <a:solidFill>
                  <a:schemeClr val="tx1">
                    <a:lumMod val="65000"/>
                    <a:lumOff val="35000"/>
                  </a:schemeClr>
                </a:solidFill>
              </a:rPr>
              <a:t>口令机制中应具有自动断开连接功能</a:t>
            </a:r>
          </a:p>
          <a:p>
            <a:pPr marL="457200" lvl="2" indent="-342900">
              <a:lnSpc>
                <a:spcPct val="132000"/>
              </a:lnSpc>
              <a:spcBef>
                <a:spcPts val="370"/>
              </a:spcBef>
              <a:buClr>
                <a:srgbClr val="E71101"/>
              </a:buClr>
              <a:buSzPct val="60000"/>
              <a:buFont typeface="Wingdings" panose="05000000000000000000" pitchFamily="2" charset="2"/>
              <a:buChar char="n"/>
              <a:defRPr/>
            </a:pPr>
            <a:r>
              <a:rPr lang="zh-CN" altLang="en-US" sz="2000" dirty="0">
                <a:solidFill>
                  <a:schemeClr val="tx1">
                    <a:lumMod val="65000"/>
                    <a:lumOff val="35000"/>
                  </a:schemeClr>
                </a:solidFill>
              </a:rPr>
              <a:t>系统不应将口令回送</a:t>
            </a:r>
          </a:p>
          <a:p>
            <a:pPr marL="457200" lvl="2" indent="-342900">
              <a:lnSpc>
                <a:spcPct val="132000"/>
              </a:lnSpc>
              <a:spcBef>
                <a:spcPts val="370"/>
              </a:spcBef>
              <a:buClr>
                <a:srgbClr val="E71101"/>
              </a:buClr>
              <a:buSzPct val="60000"/>
              <a:buFont typeface="Wingdings" panose="05000000000000000000" pitchFamily="2" charset="2"/>
              <a:buChar char="n"/>
              <a:defRPr/>
            </a:pPr>
            <a:r>
              <a:rPr lang="zh-CN" altLang="en-US" sz="2000" dirty="0">
                <a:solidFill>
                  <a:schemeClr val="tx1">
                    <a:lumMod val="65000"/>
                    <a:lumOff val="35000"/>
                  </a:schemeClr>
                </a:solidFill>
              </a:rPr>
              <a:t>系统应记录和报告用户登录情况</a:t>
            </a:r>
          </a:p>
        </p:txBody>
      </p:sp>
      <p:sp>
        <p:nvSpPr>
          <p:cNvPr id="9" name="内容占位符 2"/>
          <p:cNvSpPr txBox="1"/>
          <p:nvPr/>
        </p:nvSpPr>
        <p:spPr>
          <a:xfrm>
            <a:off x="778795" y="5158208"/>
            <a:ext cx="5969736" cy="308426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00100" lvl="2" indent="-342900">
              <a:lnSpc>
                <a:spcPct val="132000"/>
              </a:lnSpc>
              <a:spcBef>
                <a:spcPts val="300"/>
              </a:spcBef>
              <a:buClr>
                <a:srgbClr val="E71101"/>
              </a:buClr>
              <a:buSzPct val="60000"/>
              <a:buFont typeface="Wingdings" panose="05000000000000000000" pitchFamily="2" charset="2"/>
              <a:buChar char="Ø"/>
              <a:defRPr/>
            </a:pPr>
            <a:r>
              <a:rPr lang="zh-CN" altLang="en-US" sz="2000" dirty="0">
                <a:solidFill>
                  <a:schemeClr val="tx1">
                    <a:lumMod val="65000"/>
                    <a:lumOff val="35000"/>
                  </a:schemeClr>
                </a:solidFill>
              </a:rPr>
              <a:t>系统所产生的口令往往不便于记忆</a:t>
            </a:r>
          </a:p>
          <a:p>
            <a:pPr marL="800100" lvl="2" indent="-342900">
              <a:lnSpc>
                <a:spcPct val="132000"/>
              </a:lnSpc>
              <a:spcBef>
                <a:spcPts val="300"/>
              </a:spcBef>
              <a:buClr>
                <a:srgbClr val="E71101"/>
              </a:buClr>
              <a:buSzPct val="60000"/>
              <a:buFont typeface="Wingdings" panose="05000000000000000000" pitchFamily="2" charset="2"/>
              <a:buChar char="Ø"/>
              <a:defRPr/>
            </a:pPr>
            <a:r>
              <a:rPr lang="zh-CN" altLang="en-US" sz="2000" dirty="0">
                <a:solidFill>
                  <a:schemeClr val="tx1">
                    <a:lumMod val="65000"/>
                    <a:lumOff val="35000"/>
                  </a:schemeClr>
                </a:solidFill>
              </a:rPr>
              <a:t>用户自己规定的口令通常容易记忆，但很容易被攻击者猜中</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口令验证技术（</a:t>
            </a:r>
            <a:r>
              <a:rPr lang="en-US" altLang="zh-CN"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a:t>
            </a:r>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a:t>
            </a:r>
          </a:p>
        </p:txBody>
      </p:sp>
      <p:sp>
        <p:nvSpPr>
          <p:cNvPr id="3" name="内容占位符 2"/>
          <p:cNvSpPr txBox="1"/>
          <p:nvPr/>
        </p:nvSpPr>
        <p:spPr>
          <a:xfrm>
            <a:off x="768439" y="1125827"/>
            <a:ext cx="10874062" cy="51950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42595">
              <a:lnSpc>
                <a:spcPct val="123000"/>
              </a:lnSpc>
              <a:buClr>
                <a:srgbClr val="FF0000"/>
              </a:buClr>
              <a:buFont typeface="Wingdings" panose="05000000000000000000" pitchFamily="2" charset="2"/>
              <a:buChar char="n"/>
            </a:pPr>
            <a:r>
              <a:rPr lang="zh-CN" altLang="en-US" sz="2200" dirty="0">
                <a:solidFill>
                  <a:srgbClr val="FF0000"/>
                </a:solidFill>
                <a:latin typeface="+mn-ea"/>
                <a:cs typeface="+mn-ea"/>
                <a:sym typeface="Times New Roman" panose="02020603050405020304" pitchFamily="18" charset="0"/>
              </a:rPr>
              <a:t>一次性口令</a:t>
            </a:r>
            <a:r>
              <a:rPr lang="zh-CN" altLang="en-US" sz="2200" dirty="0">
                <a:latin typeface="+mn-ea"/>
                <a:cs typeface="+mn-ea"/>
                <a:sym typeface="Times New Roman" panose="02020603050405020304" pitchFamily="18" charset="0"/>
              </a:rPr>
              <a:t>：</a:t>
            </a:r>
            <a:r>
              <a:rPr lang="zh-CN" altLang="zh-CN" sz="2200" dirty="0">
                <a:latin typeface="+mn-ea"/>
                <a:cs typeface="+mn-ea"/>
                <a:sym typeface="Times New Roman" panose="02020603050405020304" pitchFamily="18" charset="0"/>
              </a:rPr>
              <a:t>口令被使用一次后就换另一个口令</a:t>
            </a:r>
            <a:endParaRPr lang="en-US" altLang="zh-CN" sz="2200" dirty="0">
              <a:latin typeface="+mn-ea"/>
              <a:cs typeface="+mn-ea"/>
              <a:sym typeface="Times New Roman" panose="02020603050405020304" pitchFamily="18" charset="0"/>
            </a:endParaRPr>
          </a:p>
          <a:p>
            <a:pPr lvl="1">
              <a:lnSpc>
                <a:spcPct val="123000"/>
              </a:lnSpc>
              <a:buFont typeface="Wingdings" panose="05000000000000000000" pitchFamily="2" charset="2"/>
              <a:buChar char="Ø"/>
            </a:pPr>
            <a:r>
              <a:rPr lang="zh-CN" altLang="zh-CN" sz="2000" dirty="0">
                <a:latin typeface="+mn-ea"/>
                <a:cs typeface="+mn-ea"/>
                <a:sym typeface="Times New Roman" panose="02020603050405020304" pitchFamily="18" charset="0"/>
              </a:rPr>
              <a:t>用户给系统提供一张口令表，其中记录有其使用的口令序列</a:t>
            </a:r>
            <a:endParaRPr lang="en-US" altLang="zh-CN" sz="2000" dirty="0">
              <a:latin typeface="+mn-ea"/>
              <a:cs typeface="+mn-ea"/>
              <a:sym typeface="Times New Roman" panose="02020603050405020304" pitchFamily="18" charset="0"/>
            </a:endParaRPr>
          </a:p>
          <a:p>
            <a:pPr lvl="1">
              <a:lnSpc>
                <a:spcPct val="123000"/>
              </a:lnSpc>
              <a:buFont typeface="Wingdings" panose="05000000000000000000" pitchFamily="2" charset="2"/>
              <a:buChar char="Ø"/>
            </a:pPr>
            <a:r>
              <a:rPr lang="zh-CN" altLang="zh-CN" sz="2000" dirty="0">
                <a:latin typeface="+mn-ea"/>
                <a:cs typeface="+mn-ea"/>
                <a:sym typeface="Times New Roman" panose="02020603050405020304" pitchFamily="18" charset="0"/>
              </a:rPr>
              <a:t>系统为该表设置一指针，用于指示下次用户登录时所应使用的口令</a:t>
            </a:r>
            <a:endParaRPr lang="en-US" altLang="zh-CN" sz="2000" dirty="0">
              <a:latin typeface="+mn-ea"/>
              <a:cs typeface="+mn-ea"/>
              <a:sym typeface="Times New Roman" panose="02020603050405020304" pitchFamily="18" charset="0"/>
            </a:endParaRPr>
          </a:p>
          <a:p>
            <a:pPr indent="-442595">
              <a:lnSpc>
                <a:spcPct val="123000"/>
              </a:lnSpc>
              <a:buClr>
                <a:srgbClr val="FF0000"/>
              </a:buClr>
              <a:buFont typeface="Wingdings" panose="05000000000000000000" pitchFamily="2" charset="2"/>
              <a:buChar char="n"/>
            </a:pPr>
            <a:r>
              <a:rPr lang="zh-CN" altLang="en-US" sz="2200" dirty="0">
                <a:solidFill>
                  <a:srgbClr val="FF0000"/>
                </a:solidFill>
                <a:latin typeface="+mn-ea"/>
                <a:cs typeface="+mn-ea"/>
                <a:sym typeface="Times New Roman" panose="02020603050405020304" pitchFamily="18" charset="0"/>
              </a:rPr>
              <a:t>口令文件</a:t>
            </a:r>
            <a:r>
              <a:rPr lang="zh-CN" altLang="en-US" sz="2200" dirty="0">
                <a:latin typeface="+mn-ea"/>
                <a:cs typeface="+mn-ea"/>
                <a:sym typeface="Times New Roman" panose="02020603050405020304" pitchFamily="18" charset="0"/>
              </a:rPr>
              <a:t>：</a:t>
            </a:r>
            <a:r>
              <a:rPr lang="zh-CN" altLang="zh-CN" sz="2200" dirty="0">
                <a:latin typeface="+mn-ea"/>
                <a:cs typeface="+mn-ea"/>
                <a:sym typeface="Times New Roman" panose="02020603050405020304" pitchFamily="18" charset="0"/>
              </a:rPr>
              <a:t>保存合法用户口令和用户特权</a:t>
            </a:r>
            <a:r>
              <a:rPr lang="zh-CN" altLang="en-US" sz="2200" dirty="0">
                <a:latin typeface="+mn-ea"/>
                <a:cs typeface="+mn-ea"/>
                <a:sym typeface="Times New Roman" panose="02020603050405020304" pitchFamily="18" charset="0"/>
              </a:rPr>
              <a:t>的文件</a:t>
            </a:r>
            <a:endParaRPr lang="en-US" altLang="zh-CN" sz="2200" dirty="0">
              <a:latin typeface="+mn-ea"/>
              <a:cs typeface="+mn-ea"/>
              <a:sym typeface="Times New Roman" panose="02020603050405020304" pitchFamily="18" charset="0"/>
            </a:endParaRPr>
          </a:p>
          <a:p>
            <a:pPr lvl="1">
              <a:lnSpc>
                <a:spcPct val="123000"/>
              </a:lnSpc>
              <a:buFont typeface="Wingdings" panose="05000000000000000000" pitchFamily="2" charset="2"/>
              <a:buChar char="Ø"/>
            </a:pPr>
            <a:r>
              <a:rPr lang="zh-CN" altLang="zh-CN" sz="2000" dirty="0">
                <a:latin typeface="+mn-ea"/>
                <a:cs typeface="+mn-ea"/>
                <a:sym typeface="Times New Roman" panose="02020603050405020304" pitchFamily="18" charset="0"/>
              </a:rPr>
              <a:t>保证口令文件安全性最有效的方法是利用加密技术</a:t>
            </a:r>
            <a:endParaRPr lang="en-US" altLang="zh-CN" sz="2000" dirty="0">
              <a:latin typeface="+mn-ea"/>
              <a:cs typeface="+mn-ea"/>
              <a:sym typeface="Times New Roman" panose="02020603050405020304" pitchFamily="18" charset="0"/>
            </a:endParaRPr>
          </a:p>
          <a:p>
            <a:pPr lvl="1">
              <a:lnSpc>
                <a:spcPct val="123000"/>
              </a:lnSpc>
              <a:buFont typeface="Wingdings" panose="05000000000000000000" pitchFamily="2" charset="2"/>
              <a:buChar char="Ø"/>
            </a:pPr>
            <a:r>
              <a:rPr lang="zh-CN" altLang="zh-CN" sz="2000" dirty="0">
                <a:latin typeface="+mn-ea"/>
                <a:cs typeface="+mn-ea"/>
                <a:sym typeface="Times New Roman" panose="02020603050405020304" pitchFamily="18" charset="0"/>
              </a:rPr>
              <a:t>应该妥善保管好已加密的口令文件</a:t>
            </a:r>
            <a:endParaRPr lang="en-US" altLang="zh-CN" sz="2000" dirty="0">
              <a:latin typeface="+mn-ea"/>
              <a:cs typeface="+mn-ea"/>
              <a:sym typeface="Times New Roman" panose="02020603050405020304" pitchFamily="18" charset="0"/>
            </a:endParaRPr>
          </a:p>
          <a:p>
            <a:pPr indent="-442595">
              <a:lnSpc>
                <a:spcPct val="123000"/>
              </a:lnSpc>
              <a:buClr>
                <a:srgbClr val="FF0000"/>
              </a:buClr>
              <a:buFont typeface="Wingdings" panose="05000000000000000000" pitchFamily="2" charset="2"/>
              <a:buChar char="n"/>
            </a:pPr>
            <a:r>
              <a:rPr lang="zh-CN" altLang="en-US" sz="2200" dirty="0">
                <a:solidFill>
                  <a:srgbClr val="0000FF"/>
                </a:solidFill>
                <a:latin typeface="+mn-ea"/>
                <a:cs typeface="+mn-ea"/>
                <a:sym typeface="Times New Roman" panose="02020603050405020304" pitchFamily="18" charset="0"/>
              </a:rPr>
              <a:t>挑战</a:t>
            </a:r>
            <a:r>
              <a:rPr lang="en-US" altLang="zh-CN" sz="2200" dirty="0">
                <a:solidFill>
                  <a:srgbClr val="0000FF"/>
                </a:solidFill>
                <a:latin typeface="+mn-ea"/>
                <a:cs typeface="+mn-ea"/>
                <a:sym typeface="Times New Roman" panose="02020603050405020304" pitchFamily="18" charset="0"/>
              </a:rPr>
              <a:t>-</a:t>
            </a:r>
            <a:r>
              <a:rPr lang="zh-CN" altLang="en-US" sz="2200" dirty="0">
                <a:solidFill>
                  <a:srgbClr val="0000FF"/>
                </a:solidFill>
                <a:latin typeface="+mn-ea"/>
                <a:cs typeface="+mn-ea"/>
                <a:sym typeface="Times New Roman" panose="02020603050405020304" pitchFamily="18" charset="0"/>
              </a:rPr>
              <a:t>响应</a:t>
            </a:r>
            <a:r>
              <a:rPr lang="zh-CN" altLang="en-US" sz="2200" dirty="0">
                <a:latin typeface="+mn-ea"/>
                <a:cs typeface="+mn-ea"/>
                <a:sym typeface="Times New Roman" panose="02020603050405020304" pitchFamily="18" charset="0"/>
              </a:rPr>
              <a:t>验证：</a:t>
            </a:r>
            <a:endParaRPr lang="en-US" altLang="zh-CN" sz="2200" dirty="0">
              <a:latin typeface="+mn-ea"/>
              <a:cs typeface="+mn-ea"/>
              <a:sym typeface="Times New Roman" panose="02020603050405020304" pitchFamily="18" charset="0"/>
            </a:endParaRPr>
          </a:p>
          <a:p>
            <a:pPr lvl="1">
              <a:lnSpc>
                <a:spcPct val="123000"/>
              </a:lnSpc>
              <a:buFont typeface="Wingdings" panose="05000000000000000000" pitchFamily="2" charset="2"/>
              <a:buChar char="Ø"/>
            </a:pPr>
            <a:r>
              <a:rPr lang="zh-CN" altLang="zh-CN" sz="2000" dirty="0">
                <a:latin typeface="+mn-ea"/>
                <a:cs typeface="+mn-ea"/>
                <a:sym typeface="Times New Roman" panose="02020603050405020304" pitchFamily="18" charset="0"/>
              </a:rPr>
              <a:t>由用户自己选择一个算法，并将该算法告知服务器。</a:t>
            </a:r>
            <a:endParaRPr lang="en-US" altLang="zh-CN" sz="2000" dirty="0">
              <a:latin typeface="+mn-ea"/>
              <a:cs typeface="+mn-ea"/>
              <a:sym typeface="Times New Roman" panose="02020603050405020304" pitchFamily="18" charset="0"/>
            </a:endParaRPr>
          </a:p>
          <a:p>
            <a:pPr lvl="1">
              <a:lnSpc>
                <a:spcPct val="123000"/>
              </a:lnSpc>
              <a:buFont typeface="Wingdings" panose="05000000000000000000" pitchFamily="2" charset="2"/>
              <a:buChar char="Ø"/>
            </a:pPr>
            <a:r>
              <a:rPr lang="zh-CN" altLang="zh-CN" sz="2000" dirty="0">
                <a:latin typeface="+mn-ea"/>
                <a:cs typeface="+mn-ea"/>
                <a:sym typeface="Times New Roman" panose="02020603050405020304" pitchFamily="18" charset="0"/>
              </a:rPr>
              <a:t>每当用户登录时，服务器就给用户发来一个随机数，用户收到随机数后，按所选算法对其进行运算，并将</a:t>
            </a:r>
            <a:r>
              <a:rPr lang="zh-CN" altLang="en-US" sz="2000" dirty="0">
                <a:latin typeface="+mn-ea"/>
                <a:cs typeface="+mn-ea"/>
                <a:sym typeface="Times New Roman" panose="02020603050405020304" pitchFamily="18" charset="0"/>
              </a:rPr>
              <a:t>结果</a:t>
            </a:r>
            <a:r>
              <a:rPr lang="zh-CN" altLang="zh-CN" sz="2000" dirty="0">
                <a:latin typeface="+mn-ea"/>
                <a:cs typeface="+mn-ea"/>
                <a:sym typeface="Times New Roman" panose="02020603050405020304" pitchFamily="18" charset="0"/>
              </a:rPr>
              <a:t>作为口令</a:t>
            </a:r>
            <a:endParaRPr lang="en-US" altLang="zh-CN" sz="2000" dirty="0">
              <a:latin typeface="+mn-ea"/>
              <a:cs typeface="+mn-ea"/>
              <a:sym typeface="Times New Roman" panose="02020603050405020304" pitchFamily="18" charset="0"/>
            </a:endParaRPr>
          </a:p>
          <a:p>
            <a:pPr lvl="1">
              <a:lnSpc>
                <a:spcPct val="123000"/>
              </a:lnSpc>
              <a:buFont typeface="Wingdings" panose="05000000000000000000" pitchFamily="2" charset="2"/>
              <a:buChar char="Ø"/>
            </a:pPr>
            <a:r>
              <a:rPr lang="zh-CN" altLang="zh-CN" sz="2000" dirty="0">
                <a:latin typeface="+mn-ea"/>
                <a:cs typeface="+mn-ea"/>
                <a:sym typeface="Times New Roman" panose="02020603050405020304" pitchFamily="18" charset="0"/>
              </a:rPr>
              <a:t>服务器再将所收到的口令与自己（利用</a:t>
            </a:r>
            <a:r>
              <a:rPr lang="en-US" altLang="zh-CN" sz="2000" dirty="0">
                <a:latin typeface="+mn-ea"/>
                <a:cs typeface="+mn-ea"/>
                <a:sym typeface="Times New Roman" panose="02020603050405020304" pitchFamily="18" charset="0"/>
              </a:rPr>
              <a:t> </a:t>
            </a:r>
            <a:r>
              <a:rPr lang="zh-CN" altLang="zh-CN" sz="2000" dirty="0">
                <a:latin typeface="+mn-ea"/>
                <a:cs typeface="+mn-ea"/>
                <a:sym typeface="Times New Roman" panose="02020603050405020304" pitchFamily="18" charset="0"/>
              </a:rPr>
              <a:t>算法）计算的结果进行比较，若两者相同，则允许用户登录，否则拒绝用户登录</a:t>
            </a:r>
            <a:endParaRPr lang="en-US" altLang="zh-CN" sz="2000" dirty="0">
              <a:latin typeface="+mn-ea"/>
              <a:cs typeface="+mn-ea"/>
              <a:sym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基于物理标志的验证技术</a:t>
            </a:r>
          </a:p>
        </p:txBody>
      </p:sp>
      <p:sp>
        <p:nvSpPr>
          <p:cNvPr id="4" name="ïşľîďè"/>
          <p:cNvSpPr/>
          <p:nvPr/>
        </p:nvSpPr>
        <p:spPr>
          <a:xfrm>
            <a:off x="1588" y="1143000"/>
            <a:ext cx="4669654" cy="5003800"/>
          </a:xfrm>
          <a:prstGeom prst="rect">
            <a:avLst/>
          </a:prstGeom>
          <a:blipFill>
            <a:blip r:embed="rId2"/>
            <a:stretch>
              <a:fillRect l="-30450" r="-30284"/>
            </a:stretch>
          </a:bli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5" name="îŝļiḋe"/>
          <p:cNvSpPr/>
          <p:nvPr/>
        </p:nvSpPr>
        <p:spPr>
          <a:xfrm>
            <a:off x="4014295" y="1143000"/>
            <a:ext cx="656948" cy="5003800"/>
          </a:xfrm>
          <a:prstGeom prst="rect">
            <a:avLst/>
          </a:prstGeom>
          <a:solidFill>
            <a:schemeClr val="accent1">
              <a:alpha val="7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nvGrpSpPr>
          <p:cNvPr id="6" name="í$1iďè"/>
          <p:cNvGrpSpPr/>
          <p:nvPr/>
        </p:nvGrpSpPr>
        <p:grpSpPr>
          <a:xfrm>
            <a:off x="4164783" y="1607316"/>
            <a:ext cx="7400184" cy="2475287"/>
            <a:chOff x="4118716" y="1337038"/>
            <a:chExt cx="7400184" cy="2475287"/>
          </a:xfrm>
        </p:grpSpPr>
        <p:sp>
          <p:nvSpPr>
            <p:cNvPr id="7" name="îslîďê"/>
            <p:cNvSpPr/>
            <p:nvPr/>
          </p:nvSpPr>
          <p:spPr>
            <a:xfrm>
              <a:off x="4118716" y="1532309"/>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8" name="ïSḻiḍé"/>
            <p:cNvSpPr txBox="1"/>
            <p:nvPr/>
          </p:nvSpPr>
          <p:spPr>
            <a:xfrm>
              <a:off x="4882719" y="1337038"/>
              <a:ext cx="6636181" cy="2475287"/>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lnSpc>
                  <a:spcPct val="130000"/>
                </a:lnSpc>
              </a:pPr>
              <a:r>
                <a:rPr lang="zh-CN" altLang="en-US" sz="2400" b="1" dirty="0">
                  <a:latin typeface="+mj-ea"/>
                  <a:ea typeface="+mj-ea"/>
                </a:rPr>
                <a:t>基于</a:t>
              </a:r>
              <a:r>
                <a:rPr lang="zh-CN" altLang="en-US" sz="2400" b="1" dirty="0">
                  <a:solidFill>
                    <a:srgbClr val="FF0000"/>
                  </a:solidFill>
                  <a:latin typeface="+mj-ea"/>
                  <a:ea typeface="+mj-ea"/>
                </a:rPr>
                <a:t>磁卡</a:t>
              </a:r>
              <a:r>
                <a:rPr lang="zh-CN" altLang="en-US" sz="2400" b="1" dirty="0">
                  <a:latin typeface="+mj-ea"/>
                  <a:ea typeface="+mj-ea"/>
                </a:rPr>
                <a:t>的验证技术</a:t>
              </a:r>
            </a:p>
            <a:p>
              <a:pPr marL="342900" indent="-342900" algn="just">
                <a:lnSpc>
                  <a:spcPct val="130000"/>
                </a:lnSpc>
                <a:buClr>
                  <a:srgbClr val="FF0000"/>
                </a:buClr>
                <a:buFont typeface="Wingdings" panose="05000000000000000000" pitchFamily="2" charset="2"/>
                <a:buChar char="Ø"/>
              </a:pPr>
              <a:r>
                <a:rPr lang="zh-CN" altLang="en-US" sz="2400" dirty="0">
                  <a:latin typeface="+mj-ea"/>
                  <a:ea typeface="+mj-ea"/>
                </a:rPr>
                <a:t>将磁卡上的数据读入计算机，验证该用户是否合法</a:t>
              </a:r>
            </a:p>
            <a:p>
              <a:pPr marL="342900" indent="-342900" algn="just">
                <a:lnSpc>
                  <a:spcPct val="130000"/>
                </a:lnSpc>
                <a:buClr>
                  <a:srgbClr val="FF0000"/>
                </a:buClr>
                <a:buFont typeface="Wingdings" panose="05000000000000000000" pitchFamily="2" charset="2"/>
                <a:buChar char="Ø"/>
              </a:pPr>
              <a:r>
                <a:rPr lang="zh-CN" altLang="en-US" sz="2400" dirty="0">
                  <a:latin typeface="+mj-ea"/>
                  <a:ea typeface="+mj-ea"/>
                </a:rPr>
                <a:t>可增设了口令机制，即磁卡验证时，要求用户输入口令</a:t>
              </a:r>
            </a:p>
          </p:txBody>
        </p:sp>
      </p:grpSp>
      <p:grpSp>
        <p:nvGrpSpPr>
          <p:cNvPr id="9" name="išḷîḓé"/>
          <p:cNvGrpSpPr/>
          <p:nvPr/>
        </p:nvGrpSpPr>
        <p:grpSpPr>
          <a:xfrm>
            <a:off x="4137718" y="4315300"/>
            <a:ext cx="7722859" cy="1763616"/>
            <a:chOff x="4136995" y="3233565"/>
            <a:chExt cx="7722859" cy="1763616"/>
          </a:xfrm>
        </p:grpSpPr>
        <p:sp>
          <p:nvSpPr>
            <p:cNvPr id="10" name="íśľïḋé"/>
            <p:cNvSpPr/>
            <p:nvPr/>
          </p:nvSpPr>
          <p:spPr>
            <a:xfrm>
              <a:off x="4136995" y="3450237"/>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11" name="îŝľîḓè"/>
            <p:cNvSpPr txBox="1"/>
            <p:nvPr/>
          </p:nvSpPr>
          <p:spPr>
            <a:xfrm>
              <a:off x="4882718" y="3233565"/>
              <a:ext cx="6977136" cy="1763616"/>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2400" b="1" dirty="0"/>
                <a:t>基于</a:t>
              </a:r>
              <a:r>
                <a:rPr lang="en-US" altLang="zh-CN" sz="2400" b="1" dirty="0">
                  <a:solidFill>
                    <a:srgbClr val="FF0000"/>
                  </a:solidFill>
                </a:rPr>
                <a:t>IC</a:t>
              </a:r>
              <a:r>
                <a:rPr lang="zh-CN" altLang="en-US" sz="2400" b="1" dirty="0">
                  <a:solidFill>
                    <a:srgbClr val="FF0000"/>
                  </a:solidFill>
                </a:rPr>
                <a:t>卡</a:t>
              </a:r>
              <a:r>
                <a:rPr lang="zh-CN" altLang="en-US" sz="2400" b="1" dirty="0"/>
                <a:t>的验证技术</a:t>
              </a:r>
            </a:p>
            <a:p>
              <a:pPr marL="342900" indent="-342900">
                <a:lnSpc>
                  <a:spcPct val="130000"/>
                </a:lnSpc>
                <a:buFont typeface="Wingdings" panose="05000000000000000000" pitchFamily="2" charset="2"/>
                <a:buChar char="Ø"/>
              </a:pPr>
              <a:r>
                <a:rPr lang="en-US" altLang="zh-CN" sz="2400" dirty="0"/>
                <a:t>IC</a:t>
              </a:r>
              <a:r>
                <a:rPr lang="zh-CN" altLang="en-US" sz="2400" dirty="0"/>
                <a:t>卡类型：存储器卡、微处理器卡、密码卡</a:t>
              </a:r>
            </a:p>
            <a:p>
              <a:pPr marL="342900" indent="-342900">
                <a:lnSpc>
                  <a:spcPct val="130000"/>
                </a:lnSpc>
                <a:buFont typeface="Wingdings" panose="05000000000000000000" pitchFamily="2" charset="2"/>
                <a:buChar char="Ø"/>
              </a:pPr>
              <a:r>
                <a:rPr lang="zh-CN" altLang="en-US" sz="2400" dirty="0"/>
                <a:t>可采用不同的验证机制，如挑战</a:t>
              </a:r>
              <a:r>
                <a:rPr lang="en-US" altLang="zh-CN" sz="2400" dirty="0"/>
                <a:t>-</a:t>
              </a:r>
              <a:r>
                <a:rPr lang="zh-CN" altLang="en-US" sz="2400" dirty="0"/>
                <a:t>验证机制</a:t>
              </a: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生物识别验证技术</a:t>
            </a:r>
          </a:p>
        </p:txBody>
      </p:sp>
      <p:sp>
        <p:nvSpPr>
          <p:cNvPr id="4" name="内容占位符 2"/>
          <p:cNvSpPr txBox="1"/>
          <p:nvPr/>
        </p:nvSpPr>
        <p:spPr>
          <a:xfrm>
            <a:off x="768439" y="1125828"/>
            <a:ext cx="10874062" cy="163025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442595">
              <a:lnSpc>
                <a:spcPct val="123000"/>
              </a:lnSpc>
              <a:buClr>
                <a:srgbClr val="FF0000"/>
              </a:buClr>
              <a:buFont typeface="Wingdings" panose="05000000000000000000" pitchFamily="2" charset="2"/>
              <a:buChar char="n"/>
            </a:pPr>
            <a:r>
              <a:rPr lang="zh-CN" altLang="en-US" sz="2400" dirty="0">
                <a:latin typeface="+mn-ea"/>
                <a:cs typeface="+mn-ea"/>
                <a:sym typeface="Times New Roman" panose="02020603050405020304" pitchFamily="18" charset="0"/>
              </a:rPr>
              <a:t>利用人体具有的、不可模仿的、难以伪造的特定生物标志来进行验证，因此具有很高的可靠性</a:t>
            </a:r>
          </a:p>
          <a:p>
            <a:pPr lvl="1" indent="-442595">
              <a:lnSpc>
                <a:spcPct val="123000"/>
              </a:lnSpc>
              <a:buClr>
                <a:srgbClr val="FF0000"/>
              </a:buClr>
              <a:buFont typeface="Wingdings" panose="05000000000000000000" pitchFamily="2" charset="2"/>
              <a:buChar char="n"/>
            </a:pPr>
            <a:r>
              <a:rPr lang="zh-CN" altLang="en-US" sz="2400" dirty="0">
                <a:latin typeface="+mn-ea"/>
                <a:cs typeface="+mn-ea"/>
                <a:sym typeface="Times New Roman" panose="02020603050405020304" pitchFamily="18" charset="0"/>
              </a:rPr>
              <a:t>常用于</a:t>
            </a:r>
            <a:r>
              <a:rPr lang="zh-CN" altLang="en-US" sz="2400" dirty="0">
                <a:solidFill>
                  <a:srgbClr val="FF0000"/>
                </a:solidFill>
                <a:latin typeface="+mn-ea"/>
                <a:cs typeface="+mn-ea"/>
                <a:sym typeface="Times New Roman" panose="02020603050405020304" pitchFamily="18" charset="0"/>
              </a:rPr>
              <a:t>身份识别</a:t>
            </a:r>
            <a:r>
              <a:rPr lang="zh-CN" altLang="en-US" sz="2400" dirty="0">
                <a:latin typeface="+mn-ea"/>
                <a:cs typeface="+mn-ea"/>
                <a:sym typeface="Times New Roman" panose="02020603050405020304" pitchFamily="18" charset="0"/>
              </a:rPr>
              <a:t>的生理标志</a:t>
            </a:r>
          </a:p>
        </p:txBody>
      </p:sp>
      <p:sp>
        <p:nvSpPr>
          <p:cNvPr id="43" name="内容占位符 2"/>
          <p:cNvSpPr txBox="1"/>
          <p:nvPr/>
        </p:nvSpPr>
        <p:spPr>
          <a:xfrm>
            <a:off x="2338007" y="2856863"/>
            <a:ext cx="6342354" cy="179241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0"/>
              </a:spcBef>
              <a:buNone/>
            </a:pPr>
            <a:r>
              <a:rPr lang="zh-CN" altLang="en-US" sz="2400" dirty="0"/>
              <a:t>被选用的生理标志应具有</a:t>
            </a:r>
            <a:r>
              <a:rPr lang="en-US" altLang="zh-CN" sz="2400" dirty="0"/>
              <a:t>3</a:t>
            </a:r>
            <a:r>
              <a:rPr lang="zh-CN" altLang="en-US" sz="2400" dirty="0"/>
              <a:t>个条件</a:t>
            </a:r>
          </a:p>
          <a:p>
            <a:pPr indent="-442595">
              <a:lnSpc>
                <a:spcPct val="132000"/>
              </a:lnSpc>
              <a:spcBef>
                <a:spcPts val="0"/>
              </a:spcBef>
              <a:buClr>
                <a:srgbClr val="FF0000"/>
              </a:buClr>
              <a:buFont typeface="Wingdings" panose="05000000000000000000" pitchFamily="2" charset="2"/>
              <a:buChar char="l"/>
            </a:pPr>
            <a:r>
              <a:rPr lang="zh-CN" altLang="en-US" sz="2200" dirty="0"/>
              <a:t>足够的可变性</a:t>
            </a:r>
          </a:p>
          <a:p>
            <a:pPr indent="-442595">
              <a:lnSpc>
                <a:spcPct val="132000"/>
              </a:lnSpc>
              <a:spcBef>
                <a:spcPts val="0"/>
              </a:spcBef>
              <a:buClr>
                <a:srgbClr val="FF0000"/>
              </a:buClr>
              <a:buFont typeface="Wingdings" panose="05000000000000000000" pitchFamily="2" charset="2"/>
              <a:buChar char="l"/>
            </a:pPr>
            <a:r>
              <a:rPr lang="zh-CN" altLang="en-US" sz="2200" dirty="0"/>
              <a:t>应保持稳定，不会经常发生变化</a:t>
            </a:r>
          </a:p>
          <a:p>
            <a:pPr indent="-442595">
              <a:lnSpc>
                <a:spcPct val="132000"/>
              </a:lnSpc>
              <a:spcBef>
                <a:spcPts val="0"/>
              </a:spcBef>
              <a:buClr>
                <a:srgbClr val="FF0000"/>
              </a:buClr>
              <a:buFont typeface="Wingdings" panose="05000000000000000000" pitchFamily="2" charset="2"/>
              <a:buChar char="l"/>
            </a:pPr>
            <a:r>
              <a:rPr lang="zh-CN" altLang="en-US" sz="2200" dirty="0"/>
              <a:t>不易被伪装</a:t>
            </a:r>
          </a:p>
        </p:txBody>
      </p:sp>
      <p:grpSp>
        <p:nvGrpSpPr>
          <p:cNvPr id="44" name="组合 43"/>
          <p:cNvGrpSpPr/>
          <p:nvPr/>
        </p:nvGrpSpPr>
        <p:grpSpPr>
          <a:xfrm>
            <a:off x="1452763" y="3011411"/>
            <a:ext cx="712277" cy="418475"/>
            <a:chOff x="673100" y="2982961"/>
            <a:chExt cx="1597850" cy="938764"/>
          </a:xfrm>
        </p:grpSpPr>
        <p:sp>
          <p:nvSpPr>
            <p:cNvPr id="45" name="ïsḷîde"/>
            <p:cNvSpPr/>
            <p:nvPr/>
          </p:nvSpPr>
          <p:spPr bwMode="auto">
            <a:xfrm>
              <a:off x="673100" y="2982961"/>
              <a:ext cx="1597850" cy="938764"/>
            </a:xfrm>
            <a:prstGeom prst="hexagon">
              <a:avLst/>
            </a:prstGeom>
            <a:solidFill>
              <a:schemeClr val="accent1"/>
            </a:solidFill>
            <a:ln w="19050">
              <a:noFill/>
              <a:round/>
            </a:ln>
          </p:spPr>
          <p:txBody>
            <a:bodyPr wrap="square" lIns="91440" tIns="45720" rIns="91440" bIns="45720" anchor="ctr">
              <a:normAutofit fontScale="47500" lnSpcReduction="20000"/>
            </a:bodyPr>
            <a:lstStyle/>
            <a:p>
              <a:pPr algn="ctr"/>
              <a:endParaRPr lang="en-US" altLang="zh-CN" sz="3200" dirty="0">
                <a:solidFill>
                  <a:schemeClr val="bg1">
                    <a:lumMod val="100000"/>
                  </a:schemeClr>
                </a:solidFill>
                <a:latin typeface="Impact" panose="020B0806030902050204" pitchFamily="34" charset="0"/>
              </a:endParaRPr>
            </a:p>
          </p:txBody>
        </p:sp>
        <p:sp>
          <p:nvSpPr>
            <p:cNvPr id="46" name="iṥḻíḓê"/>
            <p:cNvSpPr/>
            <p:nvPr/>
          </p:nvSpPr>
          <p:spPr bwMode="auto">
            <a:xfrm>
              <a:off x="1212384" y="3153135"/>
              <a:ext cx="567411" cy="566350"/>
            </a:xfrm>
            <a:custGeom>
              <a:avLst/>
              <a:gdLst>
                <a:gd name="connsiteX0" fmla="*/ 290910 w 605702"/>
                <a:gd name="connsiteY0" fmla="*/ 156336 h 604568"/>
                <a:gd name="connsiteX1" fmla="*/ 335849 w 605702"/>
                <a:gd name="connsiteY1" fmla="*/ 164992 h 604568"/>
                <a:gd name="connsiteX2" fmla="*/ 288310 w 605702"/>
                <a:gd name="connsiteY2" fmla="*/ 212456 h 604568"/>
                <a:gd name="connsiteX3" fmla="*/ 203632 w 605702"/>
                <a:gd name="connsiteY3" fmla="*/ 244717 h 604568"/>
                <a:gd name="connsiteX4" fmla="*/ 203632 w 605702"/>
                <a:gd name="connsiteY4" fmla="*/ 401388 h 604568"/>
                <a:gd name="connsiteX5" fmla="*/ 360547 w 605702"/>
                <a:gd name="connsiteY5" fmla="*/ 401388 h 604568"/>
                <a:gd name="connsiteX6" fmla="*/ 392859 w 605702"/>
                <a:gd name="connsiteY6" fmla="*/ 316749 h 604568"/>
                <a:gd name="connsiteX7" fmla="*/ 440397 w 605702"/>
                <a:gd name="connsiteY7" fmla="*/ 269284 h 604568"/>
                <a:gd name="connsiteX8" fmla="*/ 400287 w 605702"/>
                <a:gd name="connsiteY8" fmla="*/ 441065 h 604568"/>
                <a:gd name="connsiteX9" fmla="*/ 163892 w 605702"/>
                <a:gd name="connsiteY9" fmla="*/ 441065 h 604568"/>
                <a:gd name="connsiteX10" fmla="*/ 163892 w 605702"/>
                <a:gd name="connsiteY10" fmla="*/ 205040 h 604568"/>
                <a:gd name="connsiteX11" fmla="*/ 290910 w 605702"/>
                <a:gd name="connsiteY11" fmla="*/ 156336 h 604568"/>
                <a:gd name="connsiteX12" fmla="*/ 246542 w 605702"/>
                <a:gd name="connsiteY12" fmla="*/ 43775 h 604568"/>
                <a:gd name="connsiteX13" fmla="*/ 422196 w 605702"/>
                <a:gd name="connsiteY13" fmla="*/ 78723 h 604568"/>
                <a:gd name="connsiteX14" fmla="*/ 376794 w 605702"/>
                <a:gd name="connsiteY14" fmla="*/ 124054 h 604568"/>
                <a:gd name="connsiteX15" fmla="*/ 126109 w 605702"/>
                <a:gd name="connsiteY15" fmla="*/ 167345 h 604568"/>
                <a:gd name="connsiteX16" fmla="*/ 126109 w 605702"/>
                <a:gd name="connsiteY16" fmla="*/ 478820 h 604568"/>
                <a:gd name="connsiteX17" fmla="*/ 438073 w 605702"/>
                <a:gd name="connsiteY17" fmla="*/ 478820 h 604568"/>
                <a:gd name="connsiteX18" fmla="*/ 481432 w 605702"/>
                <a:gd name="connsiteY18" fmla="*/ 228527 h 604568"/>
                <a:gd name="connsiteX19" fmla="*/ 526741 w 605702"/>
                <a:gd name="connsiteY19" fmla="*/ 183011 h 604568"/>
                <a:gd name="connsiteX20" fmla="*/ 481432 w 605702"/>
                <a:gd name="connsiteY20" fmla="*/ 522111 h 604568"/>
                <a:gd name="connsiteX21" fmla="*/ 82657 w 605702"/>
                <a:gd name="connsiteY21" fmla="*/ 522111 h 604568"/>
                <a:gd name="connsiteX22" fmla="*/ 82657 w 605702"/>
                <a:gd name="connsiteY22" fmla="*/ 123961 h 604568"/>
                <a:gd name="connsiteX23" fmla="*/ 246542 w 605702"/>
                <a:gd name="connsiteY23" fmla="*/ 43775 h 604568"/>
                <a:gd name="connsiteX24" fmla="*/ 536061 w 605702"/>
                <a:gd name="connsiteY24" fmla="*/ 0 h 604568"/>
                <a:gd name="connsiteX25" fmla="*/ 544232 w 605702"/>
                <a:gd name="connsiteY25" fmla="*/ 61368 h 604568"/>
                <a:gd name="connsiteX26" fmla="*/ 605702 w 605702"/>
                <a:gd name="connsiteY26" fmla="*/ 69526 h 604568"/>
                <a:gd name="connsiteX27" fmla="*/ 524361 w 605702"/>
                <a:gd name="connsiteY27" fmla="*/ 150732 h 604568"/>
                <a:gd name="connsiteX28" fmla="*/ 498361 w 605702"/>
                <a:gd name="connsiteY28" fmla="*/ 147302 h 604568"/>
                <a:gd name="connsiteX29" fmla="*/ 337721 w 605702"/>
                <a:gd name="connsiteY29" fmla="*/ 307767 h 604568"/>
                <a:gd name="connsiteX30" fmla="*/ 339764 w 605702"/>
                <a:gd name="connsiteY30" fmla="*/ 323063 h 604568"/>
                <a:gd name="connsiteX31" fmla="*/ 282101 w 605702"/>
                <a:gd name="connsiteY31" fmla="*/ 380630 h 604568"/>
                <a:gd name="connsiteX32" fmla="*/ 224437 w 605702"/>
                <a:gd name="connsiteY32" fmla="*/ 323063 h 604568"/>
                <a:gd name="connsiteX33" fmla="*/ 282101 w 605702"/>
                <a:gd name="connsiteY33" fmla="*/ 265495 h 604568"/>
                <a:gd name="connsiteX34" fmla="*/ 297422 w 605702"/>
                <a:gd name="connsiteY34" fmla="*/ 267535 h 604568"/>
                <a:gd name="connsiteX35" fmla="*/ 458155 w 605702"/>
                <a:gd name="connsiteY35" fmla="*/ 107162 h 604568"/>
                <a:gd name="connsiteX36" fmla="*/ 454719 w 605702"/>
                <a:gd name="connsiteY36" fmla="*/ 81206 h 604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05702" h="604568">
                  <a:moveTo>
                    <a:pt x="290910" y="156336"/>
                  </a:moveTo>
                  <a:cubicBezTo>
                    <a:pt x="306137" y="157147"/>
                    <a:pt x="321272" y="160032"/>
                    <a:pt x="335849" y="164992"/>
                  </a:cubicBezTo>
                  <a:lnTo>
                    <a:pt x="288310" y="212456"/>
                  </a:lnTo>
                  <a:cubicBezTo>
                    <a:pt x="257856" y="210695"/>
                    <a:pt x="226844" y="221449"/>
                    <a:pt x="203632" y="244717"/>
                  </a:cubicBezTo>
                  <a:cubicBezTo>
                    <a:pt x="160271" y="287918"/>
                    <a:pt x="160271" y="358187"/>
                    <a:pt x="203632" y="401388"/>
                  </a:cubicBezTo>
                  <a:cubicBezTo>
                    <a:pt x="246900" y="444680"/>
                    <a:pt x="317279" y="444680"/>
                    <a:pt x="360547" y="401388"/>
                  </a:cubicBezTo>
                  <a:cubicBezTo>
                    <a:pt x="383852" y="378211"/>
                    <a:pt x="394623" y="347156"/>
                    <a:pt x="392859" y="316749"/>
                  </a:cubicBezTo>
                  <a:lnTo>
                    <a:pt x="440397" y="269284"/>
                  </a:lnTo>
                  <a:cubicBezTo>
                    <a:pt x="460267" y="327595"/>
                    <a:pt x="446897" y="394620"/>
                    <a:pt x="400287" y="441065"/>
                  </a:cubicBezTo>
                  <a:cubicBezTo>
                    <a:pt x="335106" y="506236"/>
                    <a:pt x="229073" y="506236"/>
                    <a:pt x="163892" y="441065"/>
                  </a:cubicBezTo>
                  <a:cubicBezTo>
                    <a:pt x="98619" y="375987"/>
                    <a:pt x="98619" y="270118"/>
                    <a:pt x="163892" y="205040"/>
                  </a:cubicBezTo>
                  <a:cubicBezTo>
                    <a:pt x="198711" y="170137"/>
                    <a:pt x="245228" y="153902"/>
                    <a:pt x="290910" y="156336"/>
                  </a:cubicBezTo>
                  <a:close/>
                  <a:moveTo>
                    <a:pt x="246542" y="43775"/>
                  </a:moveTo>
                  <a:cubicBezTo>
                    <a:pt x="306463" y="36243"/>
                    <a:pt x="368345" y="47900"/>
                    <a:pt x="422196" y="78723"/>
                  </a:cubicBezTo>
                  <a:lnTo>
                    <a:pt x="376794" y="124054"/>
                  </a:lnTo>
                  <a:cubicBezTo>
                    <a:pt x="294811" y="85305"/>
                    <a:pt x="193980" y="99581"/>
                    <a:pt x="126109" y="167345"/>
                  </a:cubicBezTo>
                  <a:cubicBezTo>
                    <a:pt x="39948" y="253371"/>
                    <a:pt x="39948" y="392793"/>
                    <a:pt x="126109" y="478820"/>
                  </a:cubicBezTo>
                  <a:cubicBezTo>
                    <a:pt x="212271" y="564846"/>
                    <a:pt x="351912" y="564846"/>
                    <a:pt x="438073" y="478820"/>
                  </a:cubicBezTo>
                  <a:cubicBezTo>
                    <a:pt x="505944" y="411055"/>
                    <a:pt x="520428" y="310382"/>
                    <a:pt x="481432" y="228527"/>
                  </a:cubicBezTo>
                  <a:lnTo>
                    <a:pt x="526741" y="183011"/>
                  </a:lnTo>
                  <a:cubicBezTo>
                    <a:pt x="588484" y="290544"/>
                    <a:pt x="573350" y="430244"/>
                    <a:pt x="481432" y="522111"/>
                  </a:cubicBezTo>
                  <a:cubicBezTo>
                    <a:pt x="371316" y="632054"/>
                    <a:pt x="192866" y="632054"/>
                    <a:pt x="82657" y="522111"/>
                  </a:cubicBezTo>
                  <a:cubicBezTo>
                    <a:pt x="-27552" y="412168"/>
                    <a:pt x="-27552" y="233997"/>
                    <a:pt x="82657" y="123961"/>
                  </a:cubicBezTo>
                  <a:cubicBezTo>
                    <a:pt x="128662" y="78028"/>
                    <a:pt x="186622" y="51307"/>
                    <a:pt x="246542" y="43775"/>
                  </a:cubicBezTo>
                  <a:close/>
                  <a:moveTo>
                    <a:pt x="536061" y="0"/>
                  </a:moveTo>
                  <a:lnTo>
                    <a:pt x="544232" y="61368"/>
                  </a:lnTo>
                  <a:lnTo>
                    <a:pt x="605702" y="69526"/>
                  </a:lnTo>
                  <a:lnTo>
                    <a:pt x="524361" y="150732"/>
                  </a:lnTo>
                  <a:lnTo>
                    <a:pt x="498361" y="147302"/>
                  </a:lnTo>
                  <a:lnTo>
                    <a:pt x="337721" y="307767"/>
                  </a:lnTo>
                  <a:cubicBezTo>
                    <a:pt x="339021" y="312588"/>
                    <a:pt x="339764" y="317779"/>
                    <a:pt x="339764" y="323063"/>
                  </a:cubicBezTo>
                  <a:cubicBezTo>
                    <a:pt x="339764" y="354859"/>
                    <a:pt x="313950" y="380630"/>
                    <a:pt x="282101" y="380630"/>
                  </a:cubicBezTo>
                  <a:cubicBezTo>
                    <a:pt x="250251" y="380630"/>
                    <a:pt x="224437" y="354859"/>
                    <a:pt x="224437" y="323063"/>
                  </a:cubicBezTo>
                  <a:cubicBezTo>
                    <a:pt x="224437" y="291266"/>
                    <a:pt x="250251" y="265495"/>
                    <a:pt x="282101" y="265495"/>
                  </a:cubicBezTo>
                  <a:cubicBezTo>
                    <a:pt x="287393" y="265495"/>
                    <a:pt x="292500" y="266237"/>
                    <a:pt x="297422" y="267535"/>
                  </a:cubicBezTo>
                  <a:lnTo>
                    <a:pt x="458155" y="107162"/>
                  </a:lnTo>
                  <a:lnTo>
                    <a:pt x="454719" y="81206"/>
                  </a:lnTo>
                  <a:close/>
                </a:path>
              </a:pathLst>
            </a:custGeom>
            <a:solidFill>
              <a:schemeClr val="bg1"/>
            </a:solidFill>
            <a:ln>
              <a:noFill/>
            </a:ln>
          </p:spPr>
          <p:txBody>
            <a:bodyPr wrap="square" lIns="91440" tIns="45720" rIns="91440" bIns="45720">
              <a:normAutofit fontScale="70000" lnSpcReduction="20000"/>
            </a:bodyPr>
            <a:lstStyle/>
            <a:p>
              <a:endParaRPr lang="zh-CN" altLang="en-US"/>
            </a:p>
          </p:txBody>
        </p:sp>
      </p:grpSp>
      <p:grpSp>
        <p:nvGrpSpPr>
          <p:cNvPr id="47" name="组合 46"/>
          <p:cNvGrpSpPr/>
          <p:nvPr/>
        </p:nvGrpSpPr>
        <p:grpSpPr>
          <a:xfrm>
            <a:off x="1505666" y="4932613"/>
            <a:ext cx="712277" cy="418475"/>
            <a:chOff x="673100" y="2982961"/>
            <a:chExt cx="1597850" cy="938764"/>
          </a:xfrm>
        </p:grpSpPr>
        <p:sp>
          <p:nvSpPr>
            <p:cNvPr id="48" name="ïsḷîde"/>
            <p:cNvSpPr/>
            <p:nvPr/>
          </p:nvSpPr>
          <p:spPr bwMode="auto">
            <a:xfrm>
              <a:off x="673100" y="2982961"/>
              <a:ext cx="1597850" cy="938764"/>
            </a:xfrm>
            <a:prstGeom prst="hexagon">
              <a:avLst/>
            </a:prstGeom>
            <a:solidFill>
              <a:schemeClr val="accent1"/>
            </a:solidFill>
            <a:ln w="19050">
              <a:noFill/>
              <a:round/>
            </a:ln>
          </p:spPr>
          <p:txBody>
            <a:bodyPr wrap="square" lIns="91440" tIns="45720" rIns="91440" bIns="45720" anchor="ctr">
              <a:normAutofit fontScale="47500" lnSpcReduction="20000"/>
            </a:bodyPr>
            <a:lstStyle/>
            <a:p>
              <a:pPr algn="ctr"/>
              <a:endParaRPr lang="en-US" altLang="zh-CN" sz="3200" dirty="0">
                <a:solidFill>
                  <a:schemeClr val="bg1">
                    <a:lumMod val="100000"/>
                  </a:schemeClr>
                </a:solidFill>
                <a:latin typeface="Impact" panose="020B0806030902050204" pitchFamily="34" charset="0"/>
              </a:endParaRPr>
            </a:p>
          </p:txBody>
        </p:sp>
        <p:sp>
          <p:nvSpPr>
            <p:cNvPr id="49" name="iṥḻíḓê"/>
            <p:cNvSpPr/>
            <p:nvPr/>
          </p:nvSpPr>
          <p:spPr bwMode="auto">
            <a:xfrm>
              <a:off x="1212384" y="3153135"/>
              <a:ext cx="567411" cy="566350"/>
            </a:xfrm>
            <a:custGeom>
              <a:avLst/>
              <a:gdLst>
                <a:gd name="connsiteX0" fmla="*/ 290910 w 605702"/>
                <a:gd name="connsiteY0" fmla="*/ 156336 h 604568"/>
                <a:gd name="connsiteX1" fmla="*/ 335849 w 605702"/>
                <a:gd name="connsiteY1" fmla="*/ 164992 h 604568"/>
                <a:gd name="connsiteX2" fmla="*/ 288310 w 605702"/>
                <a:gd name="connsiteY2" fmla="*/ 212456 h 604568"/>
                <a:gd name="connsiteX3" fmla="*/ 203632 w 605702"/>
                <a:gd name="connsiteY3" fmla="*/ 244717 h 604568"/>
                <a:gd name="connsiteX4" fmla="*/ 203632 w 605702"/>
                <a:gd name="connsiteY4" fmla="*/ 401388 h 604568"/>
                <a:gd name="connsiteX5" fmla="*/ 360547 w 605702"/>
                <a:gd name="connsiteY5" fmla="*/ 401388 h 604568"/>
                <a:gd name="connsiteX6" fmla="*/ 392859 w 605702"/>
                <a:gd name="connsiteY6" fmla="*/ 316749 h 604568"/>
                <a:gd name="connsiteX7" fmla="*/ 440397 w 605702"/>
                <a:gd name="connsiteY7" fmla="*/ 269284 h 604568"/>
                <a:gd name="connsiteX8" fmla="*/ 400287 w 605702"/>
                <a:gd name="connsiteY8" fmla="*/ 441065 h 604568"/>
                <a:gd name="connsiteX9" fmla="*/ 163892 w 605702"/>
                <a:gd name="connsiteY9" fmla="*/ 441065 h 604568"/>
                <a:gd name="connsiteX10" fmla="*/ 163892 w 605702"/>
                <a:gd name="connsiteY10" fmla="*/ 205040 h 604568"/>
                <a:gd name="connsiteX11" fmla="*/ 290910 w 605702"/>
                <a:gd name="connsiteY11" fmla="*/ 156336 h 604568"/>
                <a:gd name="connsiteX12" fmla="*/ 246542 w 605702"/>
                <a:gd name="connsiteY12" fmla="*/ 43775 h 604568"/>
                <a:gd name="connsiteX13" fmla="*/ 422196 w 605702"/>
                <a:gd name="connsiteY13" fmla="*/ 78723 h 604568"/>
                <a:gd name="connsiteX14" fmla="*/ 376794 w 605702"/>
                <a:gd name="connsiteY14" fmla="*/ 124054 h 604568"/>
                <a:gd name="connsiteX15" fmla="*/ 126109 w 605702"/>
                <a:gd name="connsiteY15" fmla="*/ 167345 h 604568"/>
                <a:gd name="connsiteX16" fmla="*/ 126109 w 605702"/>
                <a:gd name="connsiteY16" fmla="*/ 478820 h 604568"/>
                <a:gd name="connsiteX17" fmla="*/ 438073 w 605702"/>
                <a:gd name="connsiteY17" fmla="*/ 478820 h 604568"/>
                <a:gd name="connsiteX18" fmla="*/ 481432 w 605702"/>
                <a:gd name="connsiteY18" fmla="*/ 228527 h 604568"/>
                <a:gd name="connsiteX19" fmla="*/ 526741 w 605702"/>
                <a:gd name="connsiteY19" fmla="*/ 183011 h 604568"/>
                <a:gd name="connsiteX20" fmla="*/ 481432 w 605702"/>
                <a:gd name="connsiteY20" fmla="*/ 522111 h 604568"/>
                <a:gd name="connsiteX21" fmla="*/ 82657 w 605702"/>
                <a:gd name="connsiteY21" fmla="*/ 522111 h 604568"/>
                <a:gd name="connsiteX22" fmla="*/ 82657 w 605702"/>
                <a:gd name="connsiteY22" fmla="*/ 123961 h 604568"/>
                <a:gd name="connsiteX23" fmla="*/ 246542 w 605702"/>
                <a:gd name="connsiteY23" fmla="*/ 43775 h 604568"/>
                <a:gd name="connsiteX24" fmla="*/ 536061 w 605702"/>
                <a:gd name="connsiteY24" fmla="*/ 0 h 604568"/>
                <a:gd name="connsiteX25" fmla="*/ 544232 w 605702"/>
                <a:gd name="connsiteY25" fmla="*/ 61368 h 604568"/>
                <a:gd name="connsiteX26" fmla="*/ 605702 w 605702"/>
                <a:gd name="connsiteY26" fmla="*/ 69526 h 604568"/>
                <a:gd name="connsiteX27" fmla="*/ 524361 w 605702"/>
                <a:gd name="connsiteY27" fmla="*/ 150732 h 604568"/>
                <a:gd name="connsiteX28" fmla="*/ 498361 w 605702"/>
                <a:gd name="connsiteY28" fmla="*/ 147302 h 604568"/>
                <a:gd name="connsiteX29" fmla="*/ 337721 w 605702"/>
                <a:gd name="connsiteY29" fmla="*/ 307767 h 604568"/>
                <a:gd name="connsiteX30" fmla="*/ 339764 w 605702"/>
                <a:gd name="connsiteY30" fmla="*/ 323063 h 604568"/>
                <a:gd name="connsiteX31" fmla="*/ 282101 w 605702"/>
                <a:gd name="connsiteY31" fmla="*/ 380630 h 604568"/>
                <a:gd name="connsiteX32" fmla="*/ 224437 w 605702"/>
                <a:gd name="connsiteY32" fmla="*/ 323063 h 604568"/>
                <a:gd name="connsiteX33" fmla="*/ 282101 w 605702"/>
                <a:gd name="connsiteY33" fmla="*/ 265495 h 604568"/>
                <a:gd name="connsiteX34" fmla="*/ 297422 w 605702"/>
                <a:gd name="connsiteY34" fmla="*/ 267535 h 604568"/>
                <a:gd name="connsiteX35" fmla="*/ 458155 w 605702"/>
                <a:gd name="connsiteY35" fmla="*/ 107162 h 604568"/>
                <a:gd name="connsiteX36" fmla="*/ 454719 w 605702"/>
                <a:gd name="connsiteY36" fmla="*/ 81206 h 604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05702" h="604568">
                  <a:moveTo>
                    <a:pt x="290910" y="156336"/>
                  </a:moveTo>
                  <a:cubicBezTo>
                    <a:pt x="306137" y="157147"/>
                    <a:pt x="321272" y="160032"/>
                    <a:pt x="335849" y="164992"/>
                  </a:cubicBezTo>
                  <a:lnTo>
                    <a:pt x="288310" y="212456"/>
                  </a:lnTo>
                  <a:cubicBezTo>
                    <a:pt x="257856" y="210695"/>
                    <a:pt x="226844" y="221449"/>
                    <a:pt x="203632" y="244717"/>
                  </a:cubicBezTo>
                  <a:cubicBezTo>
                    <a:pt x="160271" y="287918"/>
                    <a:pt x="160271" y="358187"/>
                    <a:pt x="203632" y="401388"/>
                  </a:cubicBezTo>
                  <a:cubicBezTo>
                    <a:pt x="246900" y="444680"/>
                    <a:pt x="317279" y="444680"/>
                    <a:pt x="360547" y="401388"/>
                  </a:cubicBezTo>
                  <a:cubicBezTo>
                    <a:pt x="383852" y="378211"/>
                    <a:pt x="394623" y="347156"/>
                    <a:pt x="392859" y="316749"/>
                  </a:cubicBezTo>
                  <a:lnTo>
                    <a:pt x="440397" y="269284"/>
                  </a:lnTo>
                  <a:cubicBezTo>
                    <a:pt x="460267" y="327595"/>
                    <a:pt x="446897" y="394620"/>
                    <a:pt x="400287" y="441065"/>
                  </a:cubicBezTo>
                  <a:cubicBezTo>
                    <a:pt x="335106" y="506236"/>
                    <a:pt x="229073" y="506236"/>
                    <a:pt x="163892" y="441065"/>
                  </a:cubicBezTo>
                  <a:cubicBezTo>
                    <a:pt x="98619" y="375987"/>
                    <a:pt x="98619" y="270118"/>
                    <a:pt x="163892" y="205040"/>
                  </a:cubicBezTo>
                  <a:cubicBezTo>
                    <a:pt x="198711" y="170137"/>
                    <a:pt x="245228" y="153902"/>
                    <a:pt x="290910" y="156336"/>
                  </a:cubicBezTo>
                  <a:close/>
                  <a:moveTo>
                    <a:pt x="246542" y="43775"/>
                  </a:moveTo>
                  <a:cubicBezTo>
                    <a:pt x="306463" y="36243"/>
                    <a:pt x="368345" y="47900"/>
                    <a:pt x="422196" y="78723"/>
                  </a:cubicBezTo>
                  <a:lnTo>
                    <a:pt x="376794" y="124054"/>
                  </a:lnTo>
                  <a:cubicBezTo>
                    <a:pt x="294811" y="85305"/>
                    <a:pt x="193980" y="99581"/>
                    <a:pt x="126109" y="167345"/>
                  </a:cubicBezTo>
                  <a:cubicBezTo>
                    <a:pt x="39948" y="253371"/>
                    <a:pt x="39948" y="392793"/>
                    <a:pt x="126109" y="478820"/>
                  </a:cubicBezTo>
                  <a:cubicBezTo>
                    <a:pt x="212271" y="564846"/>
                    <a:pt x="351912" y="564846"/>
                    <a:pt x="438073" y="478820"/>
                  </a:cubicBezTo>
                  <a:cubicBezTo>
                    <a:pt x="505944" y="411055"/>
                    <a:pt x="520428" y="310382"/>
                    <a:pt x="481432" y="228527"/>
                  </a:cubicBezTo>
                  <a:lnTo>
                    <a:pt x="526741" y="183011"/>
                  </a:lnTo>
                  <a:cubicBezTo>
                    <a:pt x="588484" y="290544"/>
                    <a:pt x="573350" y="430244"/>
                    <a:pt x="481432" y="522111"/>
                  </a:cubicBezTo>
                  <a:cubicBezTo>
                    <a:pt x="371316" y="632054"/>
                    <a:pt x="192866" y="632054"/>
                    <a:pt x="82657" y="522111"/>
                  </a:cubicBezTo>
                  <a:cubicBezTo>
                    <a:pt x="-27552" y="412168"/>
                    <a:pt x="-27552" y="233997"/>
                    <a:pt x="82657" y="123961"/>
                  </a:cubicBezTo>
                  <a:cubicBezTo>
                    <a:pt x="128662" y="78028"/>
                    <a:pt x="186622" y="51307"/>
                    <a:pt x="246542" y="43775"/>
                  </a:cubicBezTo>
                  <a:close/>
                  <a:moveTo>
                    <a:pt x="536061" y="0"/>
                  </a:moveTo>
                  <a:lnTo>
                    <a:pt x="544232" y="61368"/>
                  </a:lnTo>
                  <a:lnTo>
                    <a:pt x="605702" y="69526"/>
                  </a:lnTo>
                  <a:lnTo>
                    <a:pt x="524361" y="150732"/>
                  </a:lnTo>
                  <a:lnTo>
                    <a:pt x="498361" y="147302"/>
                  </a:lnTo>
                  <a:lnTo>
                    <a:pt x="337721" y="307767"/>
                  </a:lnTo>
                  <a:cubicBezTo>
                    <a:pt x="339021" y="312588"/>
                    <a:pt x="339764" y="317779"/>
                    <a:pt x="339764" y="323063"/>
                  </a:cubicBezTo>
                  <a:cubicBezTo>
                    <a:pt x="339764" y="354859"/>
                    <a:pt x="313950" y="380630"/>
                    <a:pt x="282101" y="380630"/>
                  </a:cubicBezTo>
                  <a:cubicBezTo>
                    <a:pt x="250251" y="380630"/>
                    <a:pt x="224437" y="354859"/>
                    <a:pt x="224437" y="323063"/>
                  </a:cubicBezTo>
                  <a:cubicBezTo>
                    <a:pt x="224437" y="291266"/>
                    <a:pt x="250251" y="265495"/>
                    <a:pt x="282101" y="265495"/>
                  </a:cubicBezTo>
                  <a:cubicBezTo>
                    <a:pt x="287393" y="265495"/>
                    <a:pt x="292500" y="266237"/>
                    <a:pt x="297422" y="267535"/>
                  </a:cubicBezTo>
                  <a:lnTo>
                    <a:pt x="458155" y="107162"/>
                  </a:lnTo>
                  <a:lnTo>
                    <a:pt x="454719" y="81206"/>
                  </a:lnTo>
                  <a:close/>
                </a:path>
              </a:pathLst>
            </a:custGeom>
            <a:solidFill>
              <a:schemeClr val="bg1"/>
            </a:solidFill>
            <a:ln>
              <a:noFill/>
            </a:ln>
          </p:spPr>
          <p:txBody>
            <a:bodyPr wrap="square" lIns="91440" tIns="45720" rIns="91440" bIns="45720">
              <a:normAutofit fontScale="70000" lnSpcReduction="20000"/>
            </a:bodyPr>
            <a:lstStyle/>
            <a:p>
              <a:endParaRPr lang="zh-CN" altLang="en-US"/>
            </a:p>
          </p:txBody>
        </p:sp>
      </p:grpSp>
      <p:sp>
        <p:nvSpPr>
          <p:cNvPr id="50" name="内容占位符 2"/>
          <p:cNvSpPr txBox="1"/>
          <p:nvPr/>
        </p:nvSpPr>
        <p:spPr>
          <a:xfrm>
            <a:off x="2326516" y="4930365"/>
            <a:ext cx="1459873" cy="56891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42595">
              <a:buClr>
                <a:srgbClr val="0000FF"/>
              </a:buClr>
              <a:buFont typeface="Wingdings" panose="05000000000000000000" pitchFamily="2" charset="2"/>
              <a:buChar char="l"/>
            </a:pPr>
            <a:r>
              <a:rPr lang="zh-CN" altLang="en-US" sz="2400" dirty="0">
                <a:solidFill>
                  <a:srgbClr val="0000FF"/>
                </a:solidFill>
              </a:rPr>
              <a:t>指纹</a:t>
            </a:r>
          </a:p>
        </p:txBody>
      </p:sp>
      <p:sp>
        <p:nvSpPr>
          <p:cNvPr id="51" name="内容占位符 2"/>
          <p:cNvSpPr txBox="1"/>
          <p:nvPr/>
        </p:nvSpPr>
        <p:spPr>
          <a:xfrm>
            <a:off x="3894962" y="4930365"/>
            <a:ext cx="1459873" cy="56891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42595">
              <a:buClr>
                <a:srgbClr val="0000FF"/>
              </a:buClr>
              <a:buFont typeface="Wingdings" panose="05000000000000000000" pitchFamily="2" charset="2"/>
              <a:buChar char="l"/>
            </a:pPr>
            <a:r>
              <a:rPr lang="zh-CN" altLang="en-US" sz="2400" dirty="0">
                <a:solidFill>
                  <a:srgbClr val="0000FF"/>
                </a:solidFill>
              </a:rPr>
              <a:t>眼纹</a:t>
            </a:r>
          </a:p>
        </p:txBody>
      </p:sp>
      <p:sp>
        <p:nvSpPr>
          <p:cNvPr id="52" name="内容占位符 2"/>
          <p:cNvSpPr txBox="1"/>
          <p:nvPr/>
        </p:nvSpPr>
        <p:spPr>
          <a:xfrm>
            <a:off x="5509184" y="4930365"/>
            <a:ext cx="1459873" cy="42072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42595">
              <a:buClr>
                <a:srgbClr val="0000FF"/>
              </a:buClr>
              <a:buFont typeface="Wingdings" panose="05000000000000000000" pitchFamily="2" charset="2"/>
              <a:buChar char="l"/>
            </a:pPr>
            <a:r>
              <a:rPr lang="zh-CN" altLang="en-US" sz="2400" dirty="0">
                <a:solidFill>
                  <a:srgbClr val="0000FF"/>
                </a:solidFill>
              </a:rPr>
              <a:t>声音</a:t>
            </a:r>
          </a:p>
        </p:txBody>
      </p:sp>
      <p:sp>
        <p:nvSpPr>
          <p:cNvPr id="53" name="内容占位符 2"/>
          <p:cNvSpPr txBox="1"/>
          <p:nvPr/>
        </p:nvSpPr>
        <p:spPr>
          <a:xfrm>
            <a:off x="7350863" y="4930365"/>
            <a:ext cx="1459873" cy="56891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42595">
              <a:buClr>
                <a:srgbClr val="0000FF"/>
              </a:buClr>
              <a:buFont typeface="Wingdings" panose="05000000000000000000" pitchFamily="2" charset="2"/>
              <a:buChar char="l"/>
            </a:pPr>
            <a:r>
              <a:rPr lang="zh-CN" altLang="en-US" sz="2400" dirty="0">
                <a:solidFill>
                  <a:srgbClr val="0000FF"/>
                </a:solidFill>
              </a:rPr>
              <a:t>人脸</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生物识别系统的组成</a:t>
            </a:r>
          </a:p>
        </p:txBody>
      </p:sp>
      <p:sp>
        <p:nvSpPr>
          <p:cNvPr id="4" name="îṧľîdé"/>
          <p:cNvSpPr/>
          <p:nvPr/>
        </p:nvSpPr>
        <p:spPr>
          <a:xfrm>
            <a:off x="4537029" y="1595322"/>
            <a:ext cx="3550903" cy="2457767"/>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5" name="内容占位符 2"/>
          <p:cNvSpPr txBox="1"/>
          <p:nvPr/>
        </p:nvSpPr>
        <p:spPr>
          <a:xfrm>
            <a:off x="946219" y="1839430"/>
            <a:ext cx="3381082" cy="353106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580"/>
              </a:spcBef>
              <a:buNone/>
              <a:defRPr/>
            </a:pPr>
            <a:r>
              <a:rPr lang="zh-CN" altLang="en-US" sz="2400" dirty="0"/>
              <a:t>对生物识别系统的要求：</a:t>
            </a:r>
          </a:p>
          <a:p>
            <a:pPr marL="342900" lvl="1" indent="-342900">
              <a:lnSpc>
                <a:spcPct val="150000"/>
              </a:lnSpc>
              <a:spcBef>
                <a:spcPts val="300"/>
              </a:spcBef>
              <a:buClr>
                <a:srgbClr val="E71101"/>
              </a:buClr>
              <a:buSzPct val="60000"/>
              <a:buFont typeface="Wingdings" panose="05000000000000000000" pitchFamily="2" charset="2"/>
              <a:buChar char="n"/>
              <a:defRPr/>
            </a:pPr>
            <a:r>
              <a:rPr lang="zh-CN" altLang="en-US" sz="2200" dirty="0">
                <a:solidFill>
                  <a:schemeClr val="tx1">
                    <a:lumMod val="65000"/>
                    <a:lumOff val="35000"/>
                  </a:schemeClr>
                </a:solidFill>
              </a:rPr>
              <a:t>性能需求：应具有具有很强的抗欺骗和防伪造能力。</a:t>
            </a:r>
          </a:p>
          <a:p>
            <a:pPr marL="342900" lvl="1" indent="-342900">
              <a:lnSpc>
                <a:spcPct val="150000"/>
              </a:lnSpc>
              <a:spcBef>
                <a:spcPts val="300"/>
              </a:spcBef>
              <a:buClr>
                <a:srgbClr val="E71101"/>
              </a:buClr>
              <a:buSzPct val="60000"/>
              <a:buFont typeface="Wingdings" panose="05000000000000000000" pitchFamily="2" charset="2"/>
              <a:buChar char="n"/>
              <a:defRPr/>
            </a:pPr>
            <a:r>
              <a:rPr lang="zh-CN" altLang="en-US" sz="2200" dirty="0">
                <a:solidFill>
                  <a:schemeClr val="tx1">
                    <a:lumMod val="65000"/>
                    <a:lumOff val="35000"/>
                  </a:schemeClr>
                </a:solidFill>
              </a:rPr>
              <a:t>易于被用户接受</a:t>
            </a:r>
          </a:p>
          <a:p>
            <a:pPr marL="342900" lvl="1" indent="-342900">
              <a:lnSpc>
                <a:spcPct val="150000"/>
              </a:lnSpc>
              <a:spcBef>
                <a:spcPts val="300"/>
              </a:spcBef>
              <a:buClr>
                <a:srgbClr val="E71101"/>
              </a:buClr>
              <a:buSzPct val="60000"/>
              <a:buFont typeface="Wingdings" panose="05000000000000000000" pitchFamily="2" charset="2"/>
              <a:buChar char="n"/>
              <a:defRPr/>
            </a:pPr>
            <a:r>
              <a:rPr lang="zh-CN" altLang="en-US" sz="2200" dirty="0">
                <a:solidFill>
                  <a:schemeClr val="tx1">
                    <a:lumMod val="65000"/>
                    <a:lumOff val="35000"/>
                  </a:schemeClr>
                </a:solidFill>
              </a:rPr>
              <a:t>成本合理</a:t>
            </a:r>
          </a:p>
        </p:txBody>
      </p:sp>
      <p:sp>
        <p:nvSpPr>
          <p:cNvPr id="6" name="内容占位符 2"/>
          <p:cNvSpPr txBox="1"/>
          <p:nvPr/>
        </p:nvSpPr>
        <p:spPr>
          <a:xfrm>
            <a:off x="8323101" y="2735687"/>
            <a:ext cx="3551220" cy="263480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580"/>
              </a:spcBef>
              <a:buNone/>
              <a:defRPr/>
            </a:pPr>
            <a:r>
              <a:rPr lang="zh-CN" altLang="en-US" sz="2400" dirty="0"/>
              <a:t>生物识别系统的</a:t>
            </a:r>
            <a:r>
              <a:rPr lang="zh-CN" altLang="en-US" sz="2400" dirty="0">
                <a:solidFill>
                  <a:srgbClr val="FF0000"/>
                </a:solidFill>
              </a:rPr>
              <a:t>组成</a:t>
            </a:r>
            <a:r>
              <a:rPr lang="zh-CN" altLang="en-US" sz="2400" dirty="0"/>
              <a:t>：</a:t>
            </a:r>
          </a:p>
          <a:p>
            <a:pPr marL="0" lvl="1" indent="-342900">
              <a:lnSpc>
                <a:spcPct val="132000"/>
              </a:lnSpc>
              <a:spcBef>
                <a:spcPts val="370"/>
              </a:spcBef>
              <a:buClr>
                <a:srgbClr val="E71101"/>
              </a:buClr>
              <a:buSzPct val="60000"/>
              <a:buFont typeface="Wingdings" panose="05000000000000000000" pitchFamily="2" charset="2"/>
              <a:buChar char="n"/>
              <a:defRPr/>
            </a:pPr>
            <a:r>
              <a:rPr lang="zh-CN" altLang="en-US" sz="2200" dirty="0">
                <a:solidFill>
                  <a:srgbClr val="FF0000"/>
                </a:solidFill>
              </a:rPr>
              <a:t>生物特征采集器</a:t>
            </a:r>
          </a:p>
          <a:p>
            <a:pPr marL="0" lvl="1" indent="-342900">
              <a:lnSpc>
                <a:spcPct val="132000"/>
              </a:lnSpc>
              <a:spcBef>
                <a:spcPts val="370"/>
              </a:spcBef>
              <a:buClr>
                <a:srgbClr val="E71101"/>
              </a:buClr>
              <a:buSzPct val="60000"/>
              <a:buFont typeface="Wingdings" panose="05000000000000000000" pitchFamily="2" charset="2"/>
              <a:buChar char="n"/>
              <a:defRPr/>
            </a:pPr>
            <a:r>
              <a:rPr lang="zh-CN" altLang="en-US" sz="2200" dirty="0">
                <a:solidFill>
                  <a:srgbClr val="FF0000"/>
                </a:solidFill>
              </a:rPr>
              <a:t>注册部分</a:t>
            </a:r>
          </a:p>
          <a:p>
            <a:pPr marL="0" lvl="1" indent="-342900">
              <a:lnSpc>
                <a:spcPct val="132000"/>
              </a:lnSpc>
              <a:spcBef>
                <a:spcPts val="370"/>
              </a:spcBef>
              <a:buClr>
                <a:srgbClr val="E71101"/>
              </a:buClr>
              <a:buSzPct val="60000"/>
              <a:buFont typeface="Wingdings" panose="05000000000000000000" pitchFamily="2" charset="2"/>
              <a:buChar char="n"/>
              <a:defRPr/>
            </a:pPr>
            <a:r>
              <a:rPr lang="zh-CN" altLang="en-US" sz="2200" dirty="0">
                <a:solidFill>
                  <a:srgbClr val="FF0000"/>
                </a:solidFill>
              </a:rPr>
              <a:t>识别部分</a:t>
            </a:r>
          </a:p>
        </p:txBody>
      </p:sp>
      <p:sp>
        <p:nvSpPr>
          <p:cNvPr id="7" name="íSľïdé"/>
          <p:cNvSpPr/>
          <p:nvPr/>
        </p:nvSpPr>
        <p:spPr>
          <a:xfrm>
            <a:off x="5434369" y="2030178"/>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bg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8" name="ïŝļíḓê"/>
          <p:cNvSpPr/>
          <p:nvPr/>
        </p:nvSpPr>
        <p:spPr bwMode="auto">
          <a:xfrm>
            <a:off x="6516893" y="2978752"/>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bg1"/>
          </a:solidFill>
          <a:ln>
            <a:noFill/>
          </a:ln>
        </p:spPr>
        <p:txBody>
          <a:bodyPr wrap="square" lIns="91440" tIns="45720" rIns="91440" bIns="45720">
            <a:normAutofit/>
          </a:bodyPr>
          <a:lstStyle/>
          <a:p>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指纹识别系统</a:t>
            </a:r>
          </a:p>
        </p:txBody>
      </p:sp>
      <p:sp>
        <p:nvSpPr>
          <p:cNvPr id="4" name="îŝļiḋe"/>
          <p:cNvSpPr/>
          <p:nvPr/>
        </p:nvSpPr>
        <p:spPr>
          <a:xfrm>
            <a:off x="883141" y="1323483"/>
            <a:ext cx="656948" cy="5003800"/>
          </a:xfrm>
          <a:prstGeom prst="rect">
            <a:avLst/>
          </a:prstGeom>
          <a:solidFill>
            <a:schemeClr val="accent1">
              <a:alpha val="7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nvGrpSpPr>
          <p:cNvPr id="5" name="í$1iďè"/>
          <p:cNvGrpSpPr/>
          <p:nvPr/>
        </p:nvGrpSpPr>
        <p:grpSpPr>
          <a:xfrm>
            <a:off x="1007429" y="1739649"/>
            <a:ext cx="10507661" cy="582314"/>
            <a:chOff x="4136995" y="1556469"/>
            <a:chExt cx="10507661" cy="582314"/>
          </a:xfrm>
        </p:grpSpPr>
        <p:sp>
          <p:nvSpPr>
            <p:cNvPr id="6" name="îslîďê"/>
            <p:cNvSpPr/>
            <p:nvPr/>
          </p:nvSpPr>
          <p:spPr>
            <a:xfrm>
              <a:off x="4136995" y="1757920"/>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7" name="ïSḻiḍé"/>
            <p:cNvSpPr txBox="1"/>
            <p:nvPr/>
          </p:nvSpPr>
          <p:spPr>
            <a:xfrm>
              <a:off x="4882719" y="1556469"/>
              <a:ext cx="9761937" cy="582314"/>
            </a:xfrm>
            <a:prstGeom prst="rect">
              <a:avLst/>
            </a:prstGeom>
            <a:noFill/>
          </p:spPr>
          <p:txBody>
            <a:bodyPr wrap="square" lIns="91440" tIns="45720" rIns="91440" bIns="45720" rtlCol="0" anchor="b"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t>指纹识别系统逐步小型化，</a:t>
              </a:r>
              <a:r>
                <a:rPr lang="zh-CN" altLang="en-US" sz="2400" dirty="0">
                  <a:solidFill>
                    <a:srgbClr val="FF0000"/>
                  </a:solidFill>
                </a:rPr>
                <a:t>该技术已进入广泛应用阶段。</a:t>
              </a:r>
            </a:p>
          </p:txBody>
        </p:sp>
      </p:grpSp>
      <p:grpSp>
        <p:nvGrpSpPr>
          <p:cNvPr id="8" name="išḷîḓé"/>
          <p:cNvGrpSpPr/>
          <p:nvPr/>
        </p:nvGrpSpPr>
        <p:grpSpPr>
          <a:xfrm>
            <a:off x="1007429" y="2832864"/>
            <a:ext cx="10132796" cy="1481627"/>
            <a:chOff x="4136995" y="2564791"/>
            <a:chExt cx="10132796" cy="1481627"/>
          </a:xfrm>
        </p:grpSpPr>
        <p:sp>
          <p:nvSpPr>
            <p:cNvPr id="9" name="íśľïḋé"/>
            <p:cNvSpPr/>
            <p:nvPr/>
          </p:nvSpPr>
          <p:spPr>
            <a:xfrm>
              <a:off x="4136995" y="3050991"/>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nvGrpSpPr>
            <p:cNvPr id="10" name="îśľíḍe"/>
            <p:cNvGrpSpPr/>
            <p:nvPr/>
          </p:nvGrpSpPr>
          <p:grpSpPr>
            <a:xfrm>
              <a:off x="4882719" y="2564791"/>
              <a:ext cx="9387072" cy="1481627"/>
              <a:chOff x="5523309" y="2034654"/>
              <a:chExt cx="8559454" cy="1481627"/>
            </a:xfrm>
          </p:grpSpPr>
          <p:sp>
            <p:nvSpPr>
              <p:cNvPr id="11" name="îŝľîḓè"/>
              <p:cNvSpPr txBox="1"/>
              <p:nvPr/>
            </p:nvSpPr>
            <p:spPr>
              <a:xfrm>
                <a:off x="5523309" y="2034654"/>
                <a:ext cx="5952420" cy="417624"/>
              </a:xfrm>
              <a:prstGeom prst="rect">
                <a:avLst/>
              </a:prstGeom>
              <a:noFill/>
            </p:spPr>
            <p:txBody>
              <a:bodyPr wrap="square" lIns="91440" tIns="45720" rIns="91440" bIns="45720" rtlCol="0" anchor="b"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solidFill>
                      <a:srgbClr val="0000FF"/>
                    </a:solidFill>
                  </a:rPr>
                  <a:t>指纹传感器：</a:t>
                </a:r>
                <a:r>
                  <a:rPr lang="zh-CN" altLang="en-US" sz="2400" dirty="0"/>
                  <a:t>实现指纹图像采集的硬件。</a:t>
                </a:r>
              </a:p>
            </p:txBody>
          </p:sp>
          <p:sp>
            <p:nvSpPr>
              <p:cNvPr id="12" name="iṥlîde"/>
              <p:cNvSpPr/>
              <p:nvPr/>
            </p:nvSpPr>
            <p:spPr bwMode="auto">
              <a:xfrm>
                <a:off x="5523309" y="2405353"/>
                <a:ext cx="8559454" cy="1110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indent="-342900">
                  <a:lnSpc>
                    <a:spcPct val="132000"/>
                  </a:lnSpc>
                  <a:buFont typeface="Wingdings" panose="05000000000000000000" pitchFamily="2" charset="2"/>
                  <a:buChar char="Ø"/>
                </a:pPr>
                <a:r>
                  <a:rPr lang="zh-CN" altLang="en-US" sz="2000" dirty="0"/>
                  <a:t>是指纹识别系统的重要组成部分；</a:t>
                </a:r>
              </a:p>
              <a:p>
                <a:pPr marL="342900" indent="-342900">
                  <a:lnSpc>
                    <a:spcPct val="132000"/>
                  </a:lnSpc>
                  <a:buFont typeface="Wingdings" panose="05000000000000000000" pitchFamily="2" charset="2"/>
                  <a:buChar char="Ø"/>
                </a:pPr>
                <a:r>
                  <a:rPr lang="zh-CN" altLang="en-US" sz="2000" dirty="0"/>
                  <a:t>指纹图像采集质量的好坏，直接影响所形成的指纹图像的质量；</a:t>
                </a:r>
              </a:p>
              <a:p>
                <a:pPr marL="342900" indent="-342900">
                  <a:lnSpc>
                    <a:spcPct val="132000"/>
                  </a:lnSpc>
                  <a:buFont typeface="Wingdings" panose="05000000000000000000" pitchFamily="2" charset="2"/>
                  <a:buChar char="Ø"/>
                </a:pPr>
                <a:r>
                  <a:rPr lang="zh-CN" altLang="en-US" sz="2000" dirty="0"/>
                  <a:t>光学式和压感式指纹传感器应用较广。</a:t>
                </a:r>
              </a:p>
            </p:txBody>
          </p:sp>
        </p:grpSp>
      </p:grpSp>
      <p:grpSp>
        <p:nvGrpSpPr>
          <p:cNvPr id="13" name="ïSlíḍê"/>
          <p:cNvGrpSpPr/>
          <p:nvPr/>
        </p:nvGrpSpPr>
        <p:grpSpPr>
          <a:xfrm>
            <a:off x="1007429" y="4887077"/>
            <a:ext cx="10596435" cy="417624"/>
            <a:chOff x="4136995" y="4889461"/>
            <a:chExt cx="10596435" cy="417624"/>
          </a:xfrm>
        </p:grpSpPr>
        <p:sp>
          <p:nvSpPr>
            <p:cNvPr id="14" name="ïsľíḓê"/>
            <p:cNvSpPr/>
            <p:nvPr/>
          </p:nvSpPr>
          <p:spPr>
            <a:xfrm>
              <a:off x="4136995" y="4943159"/>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16" name="íṧļîḋê"/>
            <p:cNvSpPr txBox="1"/>
            <p:nvPr/>
          </p:nvSpPr>
          <p:spPr>
            <a:xfrm>
              <a:off x="4882719" y="4889461"/>
              <a:ext cx="9850711" cy="417624"/>
            </a:xfrm>
            <a:prstGeom prst="rect">
              <a:avLst/>
            </a:prstGeom>
            <a:noFill/>
          </p:spPr>
          <p:txBody>
            <a:bodyPr wrap="square" lIns="91440" tIns="45720" rIns="91440" bIns="45720" rtlCol="0" anchor="b"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t>指纹识别系统，包括了嵌入式指纹识别系统。</a:t>
              </a:r>
            </a:p>
          </p:txBody>
        </p:sp>
      </p:grpSp>
      <p:cxnSp>
        <p:nvCxnSpPr>
          <p:cNvPr id="18" name="直接连接符 17"/>
          <p:cNvCxnSpPr/>
          <p:nvPr/>
        </p:nvCxnSpPr>
        <p:spPr>
          <a:xfrm>
            <a:off x="1841929" y="2414826"/>
            <a:ext cx="9761936"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1841929" y="4637304"/>
            <a:ext cx="9761935"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1841929" y="5500188"/>
            <a:ext cx="9761935"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来自系统内部的攻击</a:t>
            </a:r>
          </a:p>
        </p:txBody>
      </p:sp>
      <p:sp>
        <p:nvSpPr>
          <p:cNvPr id="4" name="íšḻîḋè"/>
          <p:cNvSpPr/>
          <p:nvPr/>
        </p:nvSpPr>
        <p:spPr>
          <a:xfrm>
            <a:off x="1981293" y="3178375"/>
            <a:ext cx="9571056" cy="3067879"/>
          </a:xfrm>
          <a:prstGeom prst="rect">
            <a:avLst/>
          </a:prstGeom>
          <a:noFill/>
          <a:ln>
            <a:noFill/>
          </a:ln>
        </p:spPr>
        <p:txBody>
          <a:bodyPr wrap="square" lIns="91440" tIns="45720" rIns="91440" bIns="45720" anchor="t" anchorCtr="0">
            <a:normAutofit/>
          </a:bodyPr>
          <a:lstStyle/>
          <a:p>
            <a:pPr marL="342900" indent="-342900">
              <a:lnSpc>
                <a:spcPct val="120000"/>
              </a:lnSpc>
              <a:spcBef>
                <a:spcPts val="600"/>
              </a:spcBef>
              <a:spcAft>
                <a:spcPts val="600"/>
              </a:spcAft>
              <a:buClr>
                <a:srgbClr val="FF0000"/>
              </a:buClr>
              <a:buFont typeface="Wingdings" panose="05000000000000000000" pitchFamily="2" charset="2"/>
              <a:buChar char="Ø"/>
            </a:pPr>
            <a:r>
              <a:rPr lang="zh-CN" altLang="en-US" sz="2200" dirty="0"/>
              <a:t>以合法用户身份直接进行攻击</a:t>
            </a:r>
          </a:p>
          <a:p>
            <a:pPr marL="800100" lvl="1" indent="-342900">
              <a:lnSpc>
                <a:spcPct val="120000"/>
              </a:lnSpc>
              <a:spcBef>
                <a:spcPts val="600"/>
              </a:spcBef>
              <a:spcAft>
                <a:spcPts val="600"/>
              </a:spcAft>
              <a:buClr>
                <a:srgbClr val="FF0000"/>
              </a:buClr>
              <a:buFont typeface="Wingdings" panose="05000000000000000000" pitchFamily="2" charset="2"/>
              <a:buChar char="p"/>
            </a:pPr>
            <a:r>
              <a:rPr lang="zh-CN" altLang="en-US" sz="2200" dirty="0"/>
              <a:t>攻击者获得或假冒合法用户身份，再利用合法用户所拥有的权限来读取、修改、删除系统中的文件，或对系统中的其他资源进行破坏</a:t>
            </a:r>
          </a:p>
          <a:p>
            <a:pPr marL="342900" indent="-342900">
              <a:lnSpc>
                <a:spcPct val="120000"/>
              </a:lnSpc>
              <a:spcBef>
                <a:spcPts val="600"/>
              </a:spcBef>
              <a:spcAft>
                <a:spcPts val="600"/>
              </a:spcAft>
              <a:buClr>
                <a:srgbClr val="FF0000"/>
              </a:buClr>
              <a:buFont typeface="Wingdings" panose="05000000000000000000" pitchFamily="2" charset="2"/>
              <a:buChar char="Ø"/>
            </a:pPr>
            <a:r>
              <a:rPr lang="zh-CN" altLang="en-US" sz="2200" dirty="0"/>
              <a:t>通过代理功能进行间接攻击</a:t>
            </a:r>
          </a:p>
          <a:p>
            <a:pPr marL="800100" lvl="1" indent="-342900">
              <a:lnSpc>
                <a:spcPct val="120000"/>
              </a:lnSpc>
              <a:spcBef>
                <a:spcPts val="600"/>
              </a:spcBef>
              <a:spcAft>
                <a:spcPts val="600"/>
              </a:spcAft>
              <a:buClr>
                <a:srgbClr val="FF0000"/>
              </a:buClr>
              <a:buFont typeface="Wingdings" panose="05000000000000000000" pitchFamily="2" charset="2"/>
              <a:buChar char="p"/>
            </a:pPr>
            <a:r>
              <a:rPr lang="zh-CN" altLang="en-US" sz="2200" dirty="0"/>
              <a:t>攻击者将一个代理程序置入被攻击系统的一个应用程序中，当应用程序执行并调用到代理程序时，它就会执行攻击者预先设计的破坏任务</a:t>
            </a:r>
          </a:p>
        </p:txBody>
      </p:sp>
      <p:sp>
        <p:nvSpPr>
          <p:cNvPr id="5" name="i$lîďê"/>
          <p:cNvSpPr/>
          <p:nvPr/>
        </p:nvSpPr>
        <p:spPr>
          <a:xfrm>
            <a:off x="1981294" y="2686412"/>
            <a:ext cx="3696051" cy="392877"/>
          </a:xfrm>
          <a:prstGeom prst="rect">
            <a:avLst/>
          </a:prstGeom>
          <a:noFill/>
          <a:ln>
            <a:noFill/>
          </a:ln>
        </p:spPr>
        <p:txBody>
          <a:bodyPr wrap="square" lIns="91440" tIns="45720" rIns="91440" bIns="45720" anchor="ctr" anchorCtr="0">
            <a:noAutofit/>
          </a:bodyPr>
          <a:lstStyle/>
          <a:p>
            <a:r>
              <a:rPr lang="zh-CN" altLang="en-US" sz="2400" dirty="0">
                <a:solidFill>
                  <a:srgbClr val="FF0000"/>
                </a:solidFill>
              </a:rPr>
              <a:t>内部攻击</a:t>
            </a:r>
          </a:p>
        </p:txBody>
      </p:sp>
      <p:sp>
        <p:nvSpPr>
          <p:cNvPr id="8" name="îs1iďé"/>
          <p:cNvSpPr/>
          <p:nvPr/>
        </p:nvSpPr>
        <p:spPr>
          <a:xfrm>
            <a:off x="1353427" y="1832413"/>
            <a:ext cx="4778623" cy="576439"/>
          </a:xfrm>
          <a:prstGeom prst="rect">
            <a:avLst/>
          </a:prstGeom>
          <a:noFill/>
          <a:ln>
            <a:noFill/>
          </a:ln>
        </p:spPr>
        <p:txBody>
          <a:bodyPr wrap="square" lIns="91440" tIns="45720" rIns="91440" bIns="45720" anchor="t" anchorCtr="0">
            <a:normAutofit fontScale="92500"/>
          </a:bodyPr>
          <a:lstStyle/>
          <a:p>
            <a:pPr marL="342900" indent="-342900">
              <a:lnSpc>
                <a:spcPct val="120000"/>
              </a:lnSpc>
              <a:buClr>
                <a:srgbClr val="FF0000"/>
              </a:buClr>
              <a:buFont typeface="Wingdings" panose="05000000000000000000" pitchFamily="2" charset="2"/>
              <a:buChar char="Ø"/>
            </a:pPr>
            <a:r>
              <a:rPr lang="zh-CN" altLang="en-US" sz="2400" dirty="0">
                <a:solidFill>
                  <a:srgbClr val="FF0000"/>
                </a:solidFill>
              </a:rPr>
              <a:t>内部攻击</a:t>
            </a:r>
            <a:r>
              <a:rPr lang="zh-CN" altLang="en-US" sz="2400" dirty="0"/>
              <a:t>：攻击来自系统的内部</a:t>
            </a:r>
          </a:p>
        </p:txBody>
      </p:sp>
      <p:sp>
        <p:nvSpPr>
          <p:cNvPr id="9" name="íšḻíḑê"/>
          <p:cNvSpPr/>
          <p:nvPr/>
        </p:nvSpPr>
        <p:spPr>
          <a:xfrm>
            <a:off x="1353428" y="1338592"/>
            <a:ext cx="3696051" cy="405747"/>
          </a:xfrm>
          <a:prstGeom prst="rect">
            <a:avLst/>
          </a:prstGeom>
          <a:noFill/>
          <a:ln>
            <a:noFill/>
          </a:ln>
        </p:spPr>
        <p:txBody>
          <a:bodyPr wrap="square" lIns="91440" tIns="45720" rIns="91440" bIns="45720" anchor="ctr" anchorCtr="0">
            <a:noAutofit/>
          </a:bodyPr>
          <a:lstStyle/>
          <a:p>
            <a:r>
              <a:rPr lang="zh-CN" altLang="en-US" sz="2400" dirty="0"/>
              <a:t>系统攻击</a:t>
            </a:r>
          </a:p>
        </p:txBody>
      </p:sp>
      <p:sp>
        <p:nvSpPr>
          <p:cNvPr id="10" name="îSļiḓè"/>
          <p:cNvSpPr/>
          <p:nvPr/>
        </p:nvSpPr>
        <p:spPr>
          <a:xfrm>
            <a:off x="669925" y="1325030"/>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12" name="îşļiḓè"/>
          <p:cNvSpPr/>
          <p:nvPr/>
        </p:nvSpPr>
        <p:spPr>
          <a:xfrm>
            <a:off x="1297792" y="2676039"/>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13" name="îṡḷíďe"/>
          <p:cNvSpPr/>
          <p:nvPr/>
        </p:nvSpPr>
        <p:spPr>
          <a:xfrm>
            <a:off x="860180" y="1521168"/>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endParaRPr/>
          </a:p>
        </p:txBody>
      </p:sp>
      <p:sp>
        <p:nvSpPr>
          <p:cNvPr id="14" name="íSlíḋe"/>
          <p:cNvSpPr/>
          <p:nvPr/>
        </p:nvSpPr>
        <p:spPr>
          <a:xfrm>
            <a:off x="1488046" y="2898056"/>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endParaRPr/>
          </a:p>
        </p:txBody>
      </p:sp>
      <p:sp>
        <p:nvSpPr>
          <p:cNvPr id="19" name="îs1iďé"/>
          <p:cNvSpPr/>
          <p:nvPr/>
        </p:nvSpPr>
        <p:spPr>
          <a:xfrm>
            <a:off x="5998786" y="1832413"/>
            <a:ext cx="5698466" cy="523971"/>
          </a:xfrm>
          <a:prstGeom prst="rect">
            <a:avLst/>
          </a:prstGeom>
          <a:noFill/>
          <a:ln>
            <a:noFill/>
          </a:ln>
        </p:spPr>
        <p:txBody>
          <a:bodyPr wrap="square" lIns="91440" tIns="45720" rIns="91440" bIns="45720" anchor="t" anchorCtr="0">
            <a:normAutofit/>
          </a:bodyPr>
          <a:lstStyle/>
          <a:p>
            <a:pPr marL="342900" indent="-342900">
              <a:lnSpc>
                <a:spcPct val="120000"/>
              </a:lnSpc>
              <a:buClr>
                <a:srgbClr val="FF0000"/>
              </a:buClr>
              <a:buFont typeface="Wingdings" panose="05000000000000000000" pitchFamily="2" charset="2"/>
              <a:buChar char="Ø"/>
            </a:pPr>
            <a:r>
              <a:rPr lang="zh-CN" altLang="en-US" sz="2400" dirty="0">
                <a:solidFill>
                  <a:srgbClr val="0000FF"/>
                </a:solidFill>
              </a:rPr>
              <a:t>外部攻击</a:t>
            </a:r>
            <a:r>
              <a:rPr lang="zh-CN" altLang="en-US" sz="2400" dirty="0"/>
              <a:t>：攻击来自系统的外部</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早期常用的内部攻击方式</a:t>
            </a:r>
          </a:p>
        </p:txBody>
      </p:sp>
      <p:grpSp>
        <p:nvGrpSpPr>
          <p:cNvPr id="5" name="224405"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532660" y="1741228"/>
            <a:ext cx="11385658" cy="4002749"/>
            <a:chOff x="527899" y="1535166"/>
            <a:chExt cx="11385658" cy="4002749"/>
          </a:xfrm>
        </p:grpSpPr>
        <p:sp>
          <p:nvSpPr>
            <p:cNvPr id="6" name="íśḷíḋé"/>
            <p:cNvSpPr/>
            <p:nvPr/>
          </p:nvSpPr>
          <p:spPr bwMode="auto">
            <a:xfrm>
              <a:off x="4801181" y="2133141"/>
              <a:ext cx="2589100" cy="2588226"/>
            </a:xfrm>
            <a:prstGeom prst="ellipse">
              <a:avLst/>
            </a:prstGeom>
            <a:blipFill>
              <a:blip r:embed="rId3"/>
              <a:stretch>
                <a:fillRect l="-25098" r="-24851"/>
              </a:stretch>
            </a:blipFill>
            <a:ln w="57150">
              <a:solidFill>
                <a:schemeClr val="bg1">
                  <a:lumMod val="9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endParaRPr lang="en-US" sz="2800" b="1">
                <a:solidFill>
                  <a:schemeClr val="lt1"/>
                </a:solidFill>
              </a:endParaRPr>
            </a:p>
          </p:txBody>
        </p:sp>
        <p:sp>
          <p:nvSpPr>
            <p:cNvPr id="7" name="ïSlïďè"/>
            <p:cNvSpPr/>
            <p:nvPr/>
          </p:nvSpPr>
          <p:spPr bwMode="auto">
            <a:xfrm>
              <a:off x="4955845" y="2290426"/>
              <a:ext cx="343408" cy="342533"/>
            </a:xfrm>
            <a:custGeom>
              <a:avLst/>
              <a:gdLst>
                <a:gd name="T0" fmla="*/ 777 w 863"/>
                <a:gd name="T1" fmla="*/ 460 h 861"/>
                <a:gd name="T2" fmla="*/ 505 w 863"/>
                <a:gd name="T3" fmla="*/ 427 h 861"/>
                <a:gd name="T4" fmla="*/ 75 w 863"/>
                <a:gd name="T5" fmla="*/ 0 h 861"/>
                <a:gd name="T6" fmla="*/ 0 w 863"/>
                <a:gd name="T7" fmla="*/ 75 h 861"/>
                <a:gd name="T8" fmla="*/ 430 w 863"/>
                <a:gd name="T9" fmla="*/ 503 h 861"/>
                <a:gd name="T10" fmla="*/ 463 w 863"/>
                <a:gd name="T11" fmla="*/ 774 h 861"/>
                <a:gd name="T12" fmla="*/ 777 w 863"/>
                <a:gd name="T13" fmla="*/ 774 h 861"/>
                <a:gd name="T14" fmla="*/ 777 w 863"/>
                <a:gd name="T15" fmla="*/ 460 h 8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3" h="861">
                  <a:moveTo>
                    <a:pt x="777" y="460"/>
                  </a:moveTo>
                  <a:cubicBezTo>
                    <a:pt x="703" y="386"/>
                    <a:pt x="590" y="376"/>
                    <a:pt x="505" y="427"/>
                  </a:cubicBezTo>
                  <a:cubicBezTo>
                    <a:pt x="75" y="0"/>
                    <a:pt x="75" y="0"/>
                    <a:pt x="75" y="0"/>
                  </a:cubicBezTo>
                  <a:cubicBezTo>
                    <a:pt x="0" y="75"/>
                    <a:pt x="0" y="75"/>
                    <a:pt x="0" y="75"/>
                  </a:cubicBezTo>
                  <a:cubicBezTo>
                    <a:pt x="430" y="503"/>
                    <a:pt x="430" y="503"/>
                    <a:pt x="430" y="503"/>
                  </a:cubicBezTo>
                  <a:cubicBezTo>
                    <a:pt x="378" y="588"/>
                    <a:pt x="389" y="700"/>
                    <a:pt x="463" y="774"/>
                  </a:cubicBezTo>
                  <a:cubicBezTo>
                    <a:pt x="549" y="861"/>
                    <a:pt x="690" y="861"/>
                    <a:pt x="777" y="774"/>
                  </a:cubicBezTo>
                  <a:cubicBezTo>
                    <a:pt x="863" y="687"/>
                    <a:pt x="863" y="547"/>
                    <a:pt x="777" y="460"/>
                  </a:cubicBezTo>
                  <a:close/>
                </a:path>
              </a:pathLst>
            </a:custGeom>
            <a:solidFill>
              <a:schemeClr val="accent1"/>
            </a:solidFill>
            <a:ln>
              <a:noFill/>
            </a:ln>
          </p:spPr>
          <p:txBody>
            <a:bodyPr vert="horz" wrap="square" lIns="91440" tIns="45720" rIns="91440" bIns="45720" numCol="1" anchor="t" anchorCtr="0" compatLnSpc="1">
              <a:normAutofit lnSpcReduction="10000"/>
            </a:bodyPr>
            <a:lstStyle/>
            <a:p>
              <a:endParaRPr lang="en-US"/>
            </a:p>
          </p:txBody>
        </p:sp>
        <p:sp>
          <p:nvSpPr>
            <p:cNvPr id="8" name="îśľïḓê"/>
            <p:cNvSpPr/>
            <p:nvPr/>
          </p:nvSpPr>
          <p:spPr bwMode="auto">
            <a:xfrm>
              <a:off x="4523309" y="3361717"/>
              <a:ext cx="394089" cy="176509"/>
            </a:xfrm>
            <a:custGeom>
              <a:avLst/>
              <a:gdLst>
                <a:gd name="T0" fmla="*/ 770 w 992"/>
                <a:gd name="T1" fmla="*/ 0 h 444"/>
                <a:gd name="T2" fmla="*/ 555 w 992"/>
                <a:gd name="T3" fmla="*/ 169 h 444"/>
                <a:gd name="T4" fmla="*/ 0 w 992"/>
                <a:gd name="T5" fmla="*/ 169 h 444"/>
                <a:gd name="T6" fmla="*/ 0 w 992"/>
                <a:gd name="T7" fmla="*/ 275 h 444"/>
                <a:gd name="T8" fmla="*/ 555 w 992"/>
                <a:gd name="T9" fmla="*/ 275 h 444"/>
                <a:gd name="T10" fmla="*/ 770 w 992"/>
                <a:gd name="T11" fmla="*/ 444 h 444"/>
                <a:gd name="T12" fmla="*/ 992 w 992"/>
                <a:gd name="T13" fmla="*/ 222 h 444"/>
                <a:gd name="T14" fmla="*/ 770 w 992"/>
                <a:gd name="T15" fmla="*/ 0 h 4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92" h="444">
                  <a:moveTo>
                    <a:pt x="770" y="0"/>
                  </a:moveTo>
                  <a:cubicBezTo>
                    <a:pt x="666" y="0"/>
                    <a:pt x="578" y="72"/>
                    <a:pt x="555" y="169"/>
                  </a:cubicBezTo>
                  <a:cubicBezTo>
                    <a:pt x="0" y="169"/>
                    <a:pt x="0" y="169"/>
                    <a:pt x="0" y="169"/>
                  </a:cubicBezTo>
                  <a:cubicBezTo>
                    <a:pt x="0" y="275"/>
                    <a:pt x="0" y="275"/>
                    <a:pt x="0" y="275"/>
                  </a:cubicBezTo>
                  <a:cubicBezTo>
                    <a:pt x="555" y="275"/>
                    <a:pt x="555" y="275"/>
                    <a:pt x="555" y="275"/>
                  </a:cubicBezTo>
                  <a:cubicBezTo>
                    <a:pt x="578" y="372"/>
                    <a:pt x="666" y="444"/>
                    <a:pt x="770" y="444"/>
                  </a:cubicBezTo>
                  <a:cubicBezTo>
                    <a:pt x="892" y="444"/>
                    <a:pt x="992" y="344"/>
                    <a:pt x="992" y="222"/>
                  </a:cubicBezTo>
                  <a:cubicBezTo>
                    <a:pt x="992" y="99"/>
                    <a:pt x="892" y="0"/>
                    <a:pt x="770" y="0"/>
                  </a:cubicBezTo>
                  <a:close/>
                </a:path>
              </a:pathLst>
            </a:custGeom>
            <a:solidFill>
              <a:schemeClr val="accent6"/>
            </a:solidFill>
            <a:ln>
              <a:noFill/>
            </a:ln>
          </p:spPr>
          <p:txBody>
            <a:bodyPr vert="horz" wrap="square" lIns="91440" tIns="45720" rIns="91440" bIns="45720" numCol="1" anchor="t" anchorCtr="0" compatLnSpc="1">
              <a:normAutofit fontScale="32500" lnSpcReduction="20000"/>
            </a:bodyPr>
            <a:lstStyle/>
            <a:p>
              <a:endParaRPr lang="en-US"/>
            </a:p>
          </p:txBody>
        </p:sp>
        <p:sp>
          <p:nvSpPr>
            <p:cNvPr id="9" name="ïSlíďé"/>
            <p:cNvSpPr/>
            <p:nvPr/>
          </p:nvSpPr>
          <p:spPr bwMode="auto">
            <a:xfrm>
              <a:off x="4225048" y="1557009"/>
              <a:ext cx="846430" cy="846430"/>
            </a:xfrm>
            <a:prstGeom prst="ellipse">
              <a:avLst/>
            </a:prstGeom>
            <a:solidFill>
              <a:schemeClr val="accent1"/>
            </a:solidFill>
            <a:ln>
              <a:noFill/>
            </a:ln>
          </p:spPr>
          <p:txBody>
            <a:bodyPr vert="horz" wrap="square" lIns="91440" tIns="45720" rIns="91440" bIns="45720" numCol="1" anchor="t" anchorCtr="0" compatLnSpc="1">
              <a:normAutofit/>
            </a:bodyPr>
            <a:lstStyle/>
            <a:p>
              <a:endParaRPr lang="en-US"/>
            </a:p>
          </p:txBody>
        </p:sp>
        <p:sp>
          <p:nvSpPr>
            <p:cNvPr id="10" name="îSḷîḑê"/>
            <p:cNvSpPr/>
            <p:nvPr/>
          </p:nvSpPr>
          <p:spPr bwMode="auto">
            <a:xfrm>
              <a:off x="3622073" y="2998796"/>
              <a:ext cx="847397" cy="846430"/>
            </a:xfrm>
            <a:prstGeom prst="ellipse">
              <a:avLst/>
            </a:prstGeom>
            <a:solidFill>
              <a:schemeClr val="accent6"/>
            </a:solidFill>
            <a:ln>
              <a:noFill/>
            </a:ln>
          </p:spPr>
          <p:txBody>
            <a:bodyPr vert="horz" wrap="square" lIns="91440" tIns="45720" rIns="91440" bIns="45720" numCol="1" anchor="t" anchorCtr="0" compatLnSpc="1">
              <a:normAutofit/>
            </a:bodyPr>
            <a:lstStyle/>
            <a:p>
              <a:endParaRPr lang="en-US"/>
            </a:p>
          </p:txBody>
        </p:sp>
        <p:sp>
          <p:nvSpPr>
            <p:cNvPr id="11" name="îṣlîḑê"/>
            <p:cNvSpPr/>
            <p:nvPr/>
          </p:nvSpPr>
          <p:spPr bwMode="auto">
            <a:xfrm>
              <a:off x="4945359" y="4227664"/>
              <a:ext cx="352146" cy="352146"/>
            </a:xfrm>
            <a:custGeom>
              <a:avLst/>
              <a:gdLst>
                <a:gd name="T0" fmla="*/ 797 w 884"/>
                <a:gd name="T1" fmla="*/ 87 h 886"/>
                <a:gd name="T2" fmla="*/ 483 w 884"/>
                <a:gd name="T3" fmla="*/ 87 h 886"/>
                <a:gd name="T4" fmla="*/ 450 w 884"/>
                <a:gd name="T5" fmla="*/ 358 h 886"/>
                <a:gd name="T6" fmla="*/ 0 w 884"/>
                <a:gd name="T7" fmla="*/ 811 h 886"/>
                <a:gd name="T8" fmla="*/ 75 w 884"/>
                <a:gd name="T9" fmla="*/ 886 h 886"/>
                <a:gd name="T10" fmla="*/ 525 w 884"/>
                <a:gd name="T11" fmla="*/ 434 h 886"/>
                <a:gd name="T12" fmla="*/ 797 w 884"/>
                <a:gd name="T13" fmla="*/ 401 h 886"/>
                <a:gd name="T14" fmla="*/ 797 w 884"/>
                <a:gd name="T15" fmla="*/ 87 h 8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84" h="886">
                  <a:moveTo>
                    <a:pt x="797" y="87"/>
                  </a:moveTo>
                  <a:cubicBezTo>
                    <a:pt x="710" y="0"/>
                    <a:pt x="570" y="0"/>
                    <a:pt x="483" y="87"/>
                  </a:cubicBezTo>
                  <a:cubicBezTo>
                    <a:pt x="409" y="161"/>
                    <a:pt x="399" y="273"/>
                    <a:pt x="450" y="358"/>
                  </a:cubicBezTo>
                  <a:cubicBezTo>
                    <a:pt x="0" y="811"/>
                    <a:pt x="0" y="811"/>
                    <a:pt x="0" y="811"/>
                  </a:cubicBezTo>
                  <a:cubicBezTo>
                    <a:pt x="75" y="886"/>
                    <a:pt x="75" y="886"/>
                    <a:pt x="75" y="886"/>
                  </a:cubicBezTo>
                  <a:cubicBezTo>
                    <a:pt x="525" y="434"/>
                    <a:pt x="525" y="434"/>
                    <a:pt x="525" y="434"/>
                  </a:cubicBezTo>
                  <a:cubicBezTo>
                    <a:pt x="611" y="485"/>
                    <a:pt x="723" y="475"/>
                    <a:pt x="797" y="401"/>
                  </a:cubicBezTo>
                  <a:cubicBezTo>
                    <a:pt x="884" y="314"/>
                    <a:pt x="884" y="174"/>
                    <a:pt x="797" y="87"/>
                  </a:cubicBezTo>
                  <a:close/>
                </a:path>
              </a:pathLst>
            </a:custGeom>
            <a:solidFill>
              <a:schemeClr val="accent5"/>
            </a:solidFill>
            <a:ln>
              <a:noFill/>
            </a:ln>
          </p:spPr>
          <p:txBody>
            <a:bodyPr vert="horz" wrap="square" lIns="91440" tIns="45720" rIns="91440" bIns="45720" numCol="1" anchor="t" anchorCtr="0" compatLnSpc="1">
              <a:normAutofit lnSpcReduction="10000"/>
            </a:bodyPr>
            <a:lstStyle/>
            <a:p>
              <a:endParaRPr lang="en-US"/>
            </a:p>
          </p:txBody>
        </p:sp>
        <p:sp>
          <p:nvSpPr>
            <p:cNvPr id="12" name="ï$ľîḓé"/>
            <p:cNvSpPr/>
            <p:nvPr/>
          </p:nvSpPr>
          <p:spPr bwMode="auto">
            <a:xfrm flipH="1">
              <a:off x="6892749" y="2290426"/>
              <a:ext cx="343408" cy="342533"/>
            </a:xfrm>
            <a:custGeom>
              <a:avLst/>
              <a:gdLst>
                <a:gd name="T0" fmla="*/ 777 w 863"/>
                <a:gd name="T1" fmla="*/ 460 h 861"/>
                <a:gd name="T2" fmla="*/ 505 w 863"/>
                <a:gd name="T3" fmla="*/ 427 h 861"/>
                <a:gd name="T4" fmla="*/ 75 w 863"/>
                <a:gd name="T5" fmla="*/ 0 h 861"/>
                <a:gd name="T6" fmla="*/ 0 w 863"/>
                <a:gd name="T7" fmla="*/ 75 h 861"/>
                <a:gd name="T8" fmla="*/ 430 w 863"/>
                <a:gd name="T9" fmla="*/ 503 h 861"/>
                <a:gd name="T10" fmla="*/ 463 w 863"/>
                <a:gd name="T11" fmla="*/ 774 h 861"/>
                <a:gd name="T12" fmla="*/ 777 w 863"/>
                <a:gd name="T13" fmla="*/ 774 h 861"/>
                <a:gd name="T14" fmla="*/ 777 w 863"/>
                <a:gd name="T15" fmla="*/ 460 h 8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3" h="861">
                  <a:moveTo>
                    <a:pt x="777" y="460"/>
                  </a:moveTo>
                  <a:cubicBezTo>
                    <a:pt x="703" y="386"/>
                    <a:pt x="590" y="376"/>
                    <a:pt x="505" y="427"/>
                  </a:cubicBezTo>
                  <a:cubicBezTo>
                    <a:pt x="75" y="0"/>
                    <a:pt x="75" y="0"/>
                    <a:pt x="75" y="0"/>
                  </a:cubicBezTo>
                  <a:cubicBezTo>
                    <a:pt x="0" y="75"/>
                    <a:pt x="0" y="75"/>
                    <a:pt x="0" y="75"/>
                  </a:cubicBezTo>
                  <a:cubicBezTo>
                    <a:pt x="430" y="503"/>
                    <a:pt x="430" y="503"/>
                    <a:pt x="430" y="503"/>
                  </a:cubicBezTo>
                  <a:cubicBezTo>
                    <a:pt x="378" y="588"/>
                    <a:pt x="389" y="700"/>
                    <a:pt x="463" y="774"/>
                  </a:cubicBezTo>
                  <a:cubicBezTo>
                    <a:pt x="549" y="861"/>
                    <a:pt x="690" y="861"/>
                    <a:pt x="777" y="774"/>
                  </a:cubicBezTo>
                  <a:cubicBezTo>
                    <a:pt x="863" y="687"/>
                    <a:pt x="863" y="547"/>
                    <a:pt x="777" y="460"/>
                  </a:cubicBezTo>
                  <a:close/>
                </a:path>
              </a:pathLst>
            </a:custGeom>
            <a:solidFill>
              <a:schemeClr val="accent2"/>
            </a:solidFill>
            <a:ln>
              <a:noFill/>
            </a:ln>
          </p:spPr>
          <p:txBody>
            <a:bodyPr vert="horz" wrap="square" lIns="91440" tIns="45720" rIns="91440" bIns="45720" numCol="1" anchor="t" anchorCtr="0" compatLnSpc="1">
              <a:normAutofit lnSpcReduction="10000"/>
            </a:bodyPr>
            <a:lstStyle/>
            <a:p>
              <a:endParaRPr lang="en-US"/>
            </a:p>
          </p:txBody>
        </p:sp>
        <p:sp>
          <p:nvSpPr>
            <p:cNvPr id="13" name="isḷiḋé"/>
            <p:cNvSpPr/>
            <p:nvPr/>
          </p:nvSpPr>
          <p:spPr bwMode="auto">
            <a:xfrm flipH="1">
              <a:off x="7274604" y="3361717"/>
              <a:ext cx="394089" cy="176509"/>
            </a:xfrm>
            <a:custGeom>
              <a:avLst/>
              <a:gdLst>
                <a:gd name="T0" fmla="*/ 770 w 992"/>
                <a:gd name="T1" fmla="*/ 0 h 444"/>
                <a:gd name="T2" fmla="*/ 555 w 992"/>
                <a:gd name="T3" fmla="*/ 169 h 444"/>
                <a:gd name="T4" fmla="*/ 0 w 992"/>
                <a:gd name="T5" fmla="*/ 169 h 444"/>
                <a:gd name="T6" fmla="*/ 0 w 992"/>
                <a:gd name="T7" fmla="*/ 275 h 444"/>
                <a:gd name="T8" fmla="*/ 555 w 992"/>
                <a:gd name="T9" fmla="*/ 275 h 444"/>
                <a:gd name="T10" fmla="*/ 770 w 992"/>
                <a:gd name="T11" fmla="*/ 444 h 444"/>
                <a:gd name="T12" fmla="*/ 992 w 992"/>
                <a:gd name="T13" fmla="*/ 222 h 444"/>
                <a:gd name="T14" fmla="*/ 770 w 992"/>
                <a:gd name="T15" fmla="*/ 0 h 4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92" h="444">
                  <a:moveTo>
                    <a:pt x="770" y="0"/>
                  </a:moveTo>
                  <a:cubicBezTo>
                    <a:pt x="666" y="0"/>
                    <a:pt x="578" y="72"/>
                    <a:pt x="555" y="169"/>
                  </a:cubicBezTo>
                  <a:cubicBezTo>
                    <a:pt x="0" y="169"/>
                    <a:pt x="0" y="169"/>
                    <a:pt x="0" y="169"/>
                  </a:cubicBezTo>
                  <a:cubicBezTo>
                    <a:pt x="0" y="275"/>
                    <a:pt x="0" y="275"/>
                    <a:pt x="0" y="275"/>
                  </a:cubicBezTo>
                  <a:cubicBezTo>
                    <a:pt x="555" y="275"/>
                    <a:pt x="555" y="275"/>
                    <a:pt x="555" y="275"/>
                  </a:cubicBezTo>
                  <a:cubicBezTo>
                    <a:pt x="578" y="372"/>
                    <a:pt x="666" y="444"/>
                    <a:pt x="770" y="444"/>
                  </a:cubicBezTo>
                  <a:cubicBezTo>
                    <a:pt x="892" y="444"/>
                    <a:pt x="992" y="344"/>
                    <a:pt x="992" y="222"/>
                  </a:cubicBezTo>
                  <a:cubicBezTo>
                    <a:pt x="992" y="99"/>
                    <a:pt x="892" y="0"/>
                    <a:pt x="770" y="0"/>
                  </a:cubicBezTo>
                  <a:close/>
                </a:path>
              </a:pathLst>
            </a:custGeom>
            <a:solidFill>
              <a:schemeClr val="accent3"/>
            </a:solidFill>
            <a:ln>
              <a:noFill/>
            </a:ln>
          </p:spPr>
          <p:txBody>
            <a:bodyPr vert="horz" wrap="square" lIns="91440" tIns="45720" rIns="91440" bIns="45720" numCol="1" anchor="t" anchorCtr="0" compatLnSpc="1">
              <a:normAutofit fontScale="32500" lnSpcReduction="20000"/>
            </a:bodyPr>
            <a:lstStyle/>
            <a:p>
              <a:endParaRPr lang="en-US"/>
            </a:p>
          </p:txBody>
        </p:sp>
        <p:sp>
          <p:nvSpPr>
            <p:cNvPr id="14" name="îśḻiďé"/>
            <p:cNvSpPr/>
            <p:nvPr/>
          </p:nvSpPr>
          <p:spPr bwMode="auto">
            <a:xfrm>
              <a:off x="7109163" y="1557009"/>
              <a:ext cx="846430" cy="846430"/>
            </a:xfrm>
            <a:prstGeom prst="ellipse">
              <a:avLst/>
            </a:prstGeom>
            <a:solidFill>
              <a:schemeClr val="accent2"/>
            </a:solidFill>
            <a:ln>
              <a:noFill/>
            </a:ln>
          </p:spPr>
          <p:txBody>
            <a:bodyPr vert="horz" wrap="square" lIns="91440" tIns="45720" rIns="91440" bIns="45720" numCol="1" anchor="t" anchorCtr="0" compatLnSpc="1">
              <a:normAutofit/>
            </a:bodyPr>
            <a:lstStyle/>
            <a:p>
              <a:endParaRPr lang="en-US"/>
            </a:p>
          </p:txBody>
        </p:sp>
        <p:sp>
          <p:nvSpPr>
            <p:cNvPr id="15" name="išľiďe"/>
            <p:cNvSpPr/>
            <p:nvPr/>
          </p:nvSpPr>
          <p:spPr bwMode="auto">
            <a:xfrm>
              <a:off x="7712046" y="2998796"/>
              <a:ext cx="847397" cy="846430"/>
            </a:xfrm>
            <a:prstGeom prst="ellipse">
              <a:avLst/>
            </a:prstGeom>
            <a:solidFill>
              <a:schemeClr val="accent3"/>
            </a:solidFill>
            <a:ln>
              <a:noFill/>
            </a:ln>
          </p:spPr>
          <p:txBody>
            <a:bodyPr vert="horz" wrap="square" lIns="91440" tIns="45720" rIns="91440" bIns="45720" numCol="1" anchor="t" anchorCtr="0" compatLnSpc="1">
              <a:normAutofit/>
            </a:bodyPr>
            <a:lstStyle/>
            <a:p>
              <a:endParaRPr lang="en-US"/>
            </a:p>
          </p:txBody>
        </p:sp>
        <p:sp>
          <p:nvSpPr>
            <p:cNvPr id="16" name="ïṡľíḍè"/>
            <p:cNvSpPr/>
            <p:nvPr/>
          </p:nvSpPr>
          <p:spPr bwMode="auto">
            <a:xfrm flipH="1">
              <a:off x="6894497" y="4227664"/>
              <a:ext cx="352146" cy="352146"/>
            </a:xfrm>
            <a:custGeom>
              <a:avLst/>
              <a:gdLst>
                <a:gd name="T0" fmla="*/ 797 w 884"/>
                <a:gd name="T1" fmla="*/ 87 h 886"/>
                <a:gd name="T2" fmla="*/ 483 w 884"/>
                <a:gd name="T3" fmla="*/ 87 h 886"/>
                <a:gd name="T4" fmla="*/ 450 w 884"/>
                <a:gd name="T5" fmla="*/ 358 h 886"/>
                <a:gd name="T6" fmla="*/ 0 w 884"/>
                <a:gd name="T7" fmla="*/ 811 h 886"/>
                <a:gd name="T8" fmla="*/ 75 w 884"/>
                <a:gd name="T9" fmla="*/ 886 h 886"/>
                <a:gd name="T10" fmla="*/ 525 w 884"/>
                <a:gd name="T11" fmla="*/ 434 h 886"/>
                <a:gd name="T12" fmla="*/ 797 w 884"/>
                <a:gd name="T13" fmla="*/ 401 h 886"/>
                <a:gd name="T14" fmla="*/ 797 w 884"/>
                <a:gd name="T15" fmla="*/ 87 h 8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84" h="886">
                  <a:moveTo>
                    <a:pt x="797" y="87"/>
                  </a:moveTo>
                  <a:cubicBezTo>
                    <a:pt x="710" y="0"/>
                    <a:pt x="570" y="0"/>
                    <a:pt x="483" y="87"/>
                  </a:cubicBezTo>
                  <a:cubicBezTo>
                    <a:pt x="409" y="161"/>
                    <a:pt x="399" y="273"/>
                    <a:pt x="450" y="358"/>
                  </a:cubicBezTo>
                  <a:cubicBezTo>
                    <a:pt x="0" y="811"/>
                    <a:pt x="0" y="811"/>
                    <a:pt x="0" y="811"/>
                  </a:cubicBezTo>
                  <a:cubicBezTo>
                    <a:pt x="75" y="886"/>
                    <a:pt x="75" y="886"/>
                    <a:pt x="75" y="886"/>
                  </a:cubicBezTo>
                  <a:cubicBezTo>
                    <a:pt x="525" y="434"/>
                    <a:pt x="525" y="434"/>
                    <a:pt x="525" y="434"/>
                  </a:cubicBezTo>
                  <a:cubicBezTo>
                    <a:pt x="611" y="485"/>
                    <a:pt x="723" y="475"/>
                    <a:pt x="797" y="401"/>
                  </a:cubicBezTo>
                  <a:cubicBezTo>
                    <a:pt x="884" y="314"/>
                    <a:pt x="884" y="174"/>
                    <a:pt x="797" y="87"/>
                  </a:cubicBezTo>
                  <a:close/>
                </a:path>
              </a:pathLst>
            </a:custGeom>
            <a:solidFill>
              <a:schemeClr val="accent4"/>
            </a:solidFill>
            <a:ln>
              <a:noFill/>
            </a:ln>
          </p:spPr>
          <p:txBody>
            <a:bodyPr vert="horz" wrap="square" lIns="91440" tIns="45720" rIns="91440" bIns="45720" numCol="1" anchor="t" anchorCtr="0" compatLnSpc="1">
              <a:normAutofit lnSpcReduction="10000"/>
            </a:bodyPr>
            <a:lstStyle/>
            <a:p>
              <a:endParaRPr lang="en-US"/>
            </a:p>
          </p:txBody>
        </p:sp>
        <p:sp>
          <p:nvSpPr>
            <p:cNvPr id="17" name="isḷídé"/>
            <p:cNvSpPr/>
            <p:nvPr/>
          </p:nvSpPr>
          <p:spPr bwMode="auto">
            <a:xfrm>
              <a:off x="4220680" y="4443157"/>
              <a:ext cx="846430" cy="847396"/>
            </a:xfrm>
            <a:prstGeom prst="ellipse">
              <a:avLst/>
            </a:prstGeom>
            <a:solidFill>
              <a:schemeClr val="accent5"/>
            </a:solidFill>
            <a:ln>
              <a:noFill/>
            </a:ln>
          </p:spPr>
          <p:txBody>
            <a:bodyPr vert="horz" wrap="square" lIns="91440" tIns="45720" rIns="91440" bIns="45720" numCol="1" anchor="t" anchorCtr="0" compatLnSpc="1">
              <a:normAutofit/>
            </a:bodyPr>
            <a:lstStyle/>
            <a:p>
              <a:endParaRPr lang="en-US"/>
            </a:p>
          </p:txBody>
        </p:sp>
        <p:sp>
          <p:nvSpPr>
            <p:cNvPr id="18" name="íśľîḋé"/>
            <p:cNvSpPr/>
            <p:nvPr/>
          </p:nvSpPr>
          <p:spPr bwMode="auto">
            <a:xfrm>
              <a:off x="7115280" y="4443157"/>
              <a:ext cx="846430" cy="847396"/>
            </a:xfrm>
            <a:prstGeom prst="ellipse">
              <a:avLst/>
            </a:prstGeom>
            <a:solidFill>
              <a:schemeClr val="accent4"/>
            </a:solidFill>
            <a:ln>
              <a:noFill/>
            </a:ln>
          </p:spPr>
          <p:txBody>
            <a:bodyPr vert="horz" wrap="square" lIns="91440" tIns="45720" rIns="91440" bIns="45720" numCol="1" anchor="t" anchorCtr="0" compatLnSpc="1">
              <a:normAutofit/>
            </a:bodyPr>
            <a:lstStyle/>
            <a:p>
              <a:endParaRPr lang="en-US"/>
            </a:p>
          </p:txBody>
        </p:sp>
        <p:sp>
          <p:nvSpPr>
            <p:cNvPr id="19" name="ïṡḷidè"/>
            <p:cNvSpPr/>
            <p:nvPr/>
          </p:nvSpPr>
          <p:spPr bwMode="auto">
            <a:xfrm>
              <a:off x="7963389" y="3249916"/>
              <a:ext cx="344710" cy="344189"/>
            </a:xfrm>
            <a:custGeom>
              <a:avLst/>
              <a:gdLst>
                <a:gd name="connsiteX0" fmla="*/ 106370 w 607639"/>
                <a:gd name="connsiteY0" fmla="*/ 436610 h 606722"/>
                <a:gd name="connsiteX1" fmla="*/ 61329 w 607639"/>
                <a:gd name="connsiteY1" fmla="*/ 480515 h 606722"/>
                <a:gd name="connsiteX2" fmla="*/ 126397 w 607639"/>
                <a:gd name="connsiteY2" fmla="*/ 545485 h 606722"/>
                <a:gd name="connsiteX3" fmla="*/ 170369 w 607639"/>
                <a:gd name="connsiteY3" fmla="*/ 500513 h 606722"/>
                <a:gd name="connsiteX4" fmla="*/ 455714 w 607639"/>
                <a:gd name="connsiteY4" fmla="*/ 404481 h 606722"/>
                <a:gd name="connsiteX5" fmla="*/ 531614 w 607639"/>
                <a:gd name="connsiteY5" fmla="*/ 404481 h 606722"/>
                <a:gd name="connsiteX6" fmla="*/ 531703 w 607639"/>
                <a:gd name="connsiteY6" fmla="*/ 404481 h 606722"/>
                <a:gd name="connsiteX7" fmla="*/ 531792 w 607639"/>
                <a:gd name="connsiteY7" fmla="*/ 404481 h 606722"/>
                <a:gd name="connsiteX8" fmla="*/ 548075 w 607639"/>
                <a:gd name="connsiteY8" fmla="*/ 410525 h 606722"/>
                <a:gd name="connsiteX9" fmla="*/ 551456 w 607639"/>
                <a:gd name="connsiteY9" fmla="*/ 413991 h 606722"/>
                <a:gd name="connsiteX10" fmla="*/ 556973 w 607639"/>
                <a:gd name="connsiteY10" fmla="*/ 429012 h 606722"/>
                <a:gd name="connsiteX11" fmla="*/ 556973 w 607639"/>
                <a:gd name="connsiteY11" fmla="*/ 429811 h 606722"/>
                <a:gd name="connsiteX12" fmla="*/ 556973 w 607639"/>
                <a:gd name="connsiteY12" fmla="*/ 505625 h 606722"/>
                <a:gd name="connsiteX13" fmla="*/ 531614 w 607639"/>
                <a:gd name="connsiteY13" fmla="*/ 530867 h 606722"/>
                <a:gd name="connsiteX14" fmla="*/ 506343 w 607639"/>
                <a:gd name="connsiteY14" fmla="*/ 505625 h 606722"/>
                <a:gd name="connsiteX15" fmla="*/ 476001 w 607639"/>
                <a:gd name="connsiteY15" fmla="*/ 546065 h 606722"/>
                <a:gd name="connsiteX16" fmla="*/ 455714 w 607639"/>
                <a:gd name="connsiteY16" fmla="*/ 556197 h 606722"/>
                <a:gd name="connsiteX17" fmla="*/ 440498 w 607639"/>
                <a:gd name="connsiteY17" fmla="*/ 551131 h 606722"/>
                <a:gd name="connsiteX18" fmla="*/ 435515 w 607639"/>
                <a:gd name="connsiteY18" fmla="*/ 515757 h 606722"/>
                <a:gd name="connsiteX19" fmla="*/ 481073 w 607639"/>
                <a:gd name="connsiteY19" fmla="*/ 455053 h 606722"/>
                <a:gd name="connsiteX20" fmla="*/ 455714 w 607639"/>
                <a:gd name="connsiteY20" fmla="*/ 455053 h 606722"/>
                <a:gd name="connsiteX21" fmla="*/ 430443 w 607639"/>
                <a:gd name="connsiteY21" fmla="*/ 429811 h 606722"/>
                <a:gd name="connsiteX22" fmla="*/ 455714 w 607639"/>
                <a:gd name="connsiteY22" fmla="*/ 404481 h 606722"/>
                <a:gd name="connsiteX23" fmla="*/ 157786 w 607639"/>
                <a:gd name="connsiteY23" fmla="*/ 282117 h 606722"/>
                <a:gd name="connsiteX24" fmla="*/ 175710 w 607639"/>
                <a:gd name="connsiteY24" fmla="*/ 289516 h 606722"/>
                <a:gd name="connsiteX25" fmla="*/ 317685 w 607639"/>
                <a:gd name="connsiteY25" fmla="*/ 431277 h 606722"/>
                <a:gd name="connsiteX26" fmla="*/ 317685 w 607639"/>
                <a:gd name="connsiteY26" fmla="*/ 467006 h 606722"/>
                <a:gd name="connsiteX27" fmla="*/ 245229 w 607639"/>
                <a:gd name="connsiteY27" fmla="*/ 539441 h 606722"/>
                <a:gd name="connsiteX28" fmla="*/ 227248 w 607639"/>
                <a:gd name="connsiteY28" fmla="*/ 546818 h 606722"/>
                <a:gd name="connsiteX29" fmla="*/ 209357 w 607639"/>
                <a:gd name="connsiteY29" fmla="*/ 539441 h 606722"/>
                <a:gd name="connsiteX30" fmla="*/ 206241 w 607639"/>
                <a:gd name="connsiteY30" fmla="*/ 536242 h 606722"/>
                <a:gd name="connsiteX31" fmla="*/ 144734 w 607639"/>
                <a:gd name="connsiteY31" fmla="*/ 599079 h 606722"/>
                <a:gd name="connsiteX32" fmla="*/ 126753 w 607639"/>
                <a:gd name="connsiteY32" fmla="*/ 606722 h 606722"/>
                <a:gd name="connsiteX33" fmla="*/ 126575 w 607639"/>
                <a:gd name="connsiteY33" fmla="*/ 606722 h 606722"/>
                <a:gd name="connsiteX34" fmla="*/ 108684 w 607639"/>
                <a:gd name="connsiteY34" fmla="*/ 599256 h 606722"/>
                <a:gd name="connsiteX35" fmla="*/ 7388 w 607639"/>
                <a:gd name="connsiteY35" fmla="*/ 498113 h 606722"/>
                <a:gd name="connsiteX36" fmla="*/ 0 w 607639"/>
                <a:gd name="connsiteY36" fmla="*/ 480160 h 606722"/>
                <a:gd name="connsiteX37" fmla="*/ 7655 w 607639"/>
                <a:gd name="connsiteY37" fmla="*/ 462206 h 606722"/>
                <a:gd name="connsiteX38" fmla="*/ 70587 w 607639"/>
                <a:gd name="connsiteY38" fmla="*/ 400792 h 606722"/>
                <a:gd name="connsiteX39" fmla="*/ 67382 w 607639"/>
                <a:gd name="connsiteY39" fmla="*/ 397681 h 606722"/>
                <a:gd name="connsiteX40" fmla="*/ 59994 w 607639"/>
                <a:gd name="connsiteY40" fmla="*/ 379728 h 606722"/>
                <a:gd name="connsiteX41" fmla="*/ 67382 w 607639"/>
                <a:gd name="connsiteY41" fmla="*/ 361863 h 606722"/>
                <a:gd name="connsiteX42" fmla="*/ 139927 w 607639"/>
                <a:gd name="connsiteY42" fmla="*/ 289516 h 606722"/>
                <a:gd name="connsiteX43" fmla="*/ 157786 w 607639"/>
                <a:gd name="connsiteY43" fmla="*/ 282117 h 606722"/>
                <a:gd name="connsiteX44" fmla="*/ 363724 w 607639"/>
                <a:gd name="connsiteY44" fmla="*/ 101159 h 606722"/>
                <a:gd name="connsiteX45" fmla="*/ 353254 w 607639"/>
                <a:gd name="connsiteY45" fmla="*/ 105492 h 606722"/>
                <a:gd name="connsiteX46" fmla="*/ 320945 w 607639"/>
                <a:gd name="connsiteY46" fmla="*/ 137752 h 606722"/>
                <a:gd name="connsiteX47" fmla="*/ 323793 w 607639"/>
                <a:gd name="connsiteY47" fmla="*/ 139974 h 606722"/>
                <a:gd name="connsiteX48" fmla="*/ 335898 w 607639"/>
                <a:gd name="connsiteY48" fmla="*/ 148417 h 606722"/>
                <a:gd name="connsiteX49" fmla="*/ 341149 w 607639"/>
                <a:gd name="connsiteY49" fmla="*/ 151794 h 606722"/>
                <a:gd name="connsiteX50" fmla="*/ 359930 w 607639"/>
                <a:gd name="connsiteY50" fmla="*/ 162459 h 606722"/>
                <a:gd name="connsiteX51" fmla="*/ 408439 w 607639"/>
                <a:gd name="connsiteY51" fmla="*/ 198897 h 606722"/>
                <a:gd name="connsiteX52" fmla="*/ 444933 w 607639"/>
                <a:gd name="connsiteY52" fmla="*/ 247243 h 606722"/>
                <a:gd name="connsiteX53" fmla="*/ 455614 w 607639"/>
                <a:gd name="connsiteY53" fmla="*/ 266084 h 606722"/>
                <a:gd name="connsiteX54" fmla="*/ 458907 w 607639"/>
                <a:gd name="connsiteY54" fmla="*/ 271239 h 606722"/>
                <a:gd name="connsiteX55" fmla="*/ 467452 w 607639"/>
                <a:gd name="connsiteY55" fmla="*/ 283326 h 606722"/>
                <a:gd name="connsiteX56" fmla="*/ 469677 w 607639"/>
                <a:gd name="connsiteY56" fmla="*/ 286258 h 606722"/>
                <a:gd name="connsiteX57" fmla="*/ 501987 w 607639"/>
                <a:gd name="connsiteY57" fmla="*/ 253998 h 606722"/>
                <a:gd name="connsiteX58" fmla="*/ 501987 w 607639"/>
                <a:gd name="connsiteY58" fmla="*/ 233024 h 606722"/>
                <a:gd name="connsiteX59" fmla="*/ 374260 w 607639"/>
                <a:gd name="connsiteY59" fmla="*/ 105492 h 606722"/>
                <a:gd name="connsiteX60" fmla="*/ 363724 w 607639"/>
                <a:gd name="connsiteY60" fmla="*/ 101159 h 606722"/>
                <a:gd name="connsiteX61" fmla="*/ 177209 w 607639"/>
                <a:gd name="connsiteY61" fmla="*/ 50521 h 606722"/>
                <a:gd name="connsiteX62" fmla="*/ 195096 w 607639"/>
                <a:gd name="connsiteY62" fmla="*/ 57919 h 606722"/>
                <a:gd name="connsiteX63" fmla="*/ 195096 w 607639"/>
                <a:gd name="connsiteY63" fmla="*/ 93644 h 606722"/>
                <a:gd name="connsiteX64" fmla="*/ 137075 w 607639"/>
                <a:gd name="connsiteY64" fmla="*/ 151675 h 606722"/>
                <a:gd name="connsiteX65" fmla="*/ 151936 w 607639"/>
                <a:gd name="connsiteY65" fmla="*/ 151675 h 606722"/>
                <a:gd name="connsiteX66" fmla="*/ 177209 w 607639"/>
                <a:gd name="connsiteY66" fmla="*/ 176914 h 606722"/>
                <a:gd name="connsiteX67" fmla="*/ 151936 w 607639"/>
                <a:gd name="connsiteY67" fmla="*/ 202241 h 606722"/>
                <a:gd name="connsiteX68" fmla="*/ 75939 w 607639"/>
                <a:gd name="connsiteY68" fmla="*/ 202241 h 606722"/>
                <a:gd name="connsiteX69" fmla="*/ 59387 w 607639"/>
                <a:gd name="connsiteY69" fmla="*/ 196020 h 606722"/>
                <a:gd name="connsiteX70" fmla="*/ 55916 w 607639"/>
                <a:gd name="connsiteY70" fmla="*/ 192288 h 606722"/>
                <a:gd name="connsiteX71" fmla="*/ 50755 w 607639"/>
                <a:gd name="connsiteY71" fmla="*/ 178691 h 606722"/>
                <a:gd name="connsiteX72" fmla="*/ 50666 w 607639"/>
                <a:gd name="connsiteY72" fmla="*/ 176736 h 606722"/>
                <a:gd name="connsiteX73" fmla="*/ 50666 w 607639"/>
                <a:gd name="connsiteY73" fmla="*/ 101109 h 606722"/>
                <a:gd name="connsiteX74" fmla="*/ 75939 w 607639"/>
                <a:gd name="connsiteY74" fmla="*/ 75782 h 606722"/>
                <a:gd name="connsiteX75" fmla="*/ 101301 w 607639"/>
                <a:gd name="connsiteY75" fmla="*/ 101109 h 606722"/>
                <a:gd name="connsiteX76" fmla="*/ 101301 w 607639"/>
                <a:gd name="connsiteY76" fmla="*/ 115861 h 606722"/>
                <a:gd name="connsiteX77" fmla="*/ 159322 w 607639"/>
                <a:gd name="connsiteY77" fmla="*/ 57919 h 606722"/>
                <a:gd name="connsiteX78" fmla="*/ 177209 w 607639"/>
                <a:gd name="connsiteY78" fmla="*/ 50521 h 606722"/>
                <a:gd name="connsiteX79" fmla="*/ 480892 w 607639"/>
                <a:gd name="connsiteY79" fmla="*/ 0 h 606722"/>
                <a:gd name="connsiteX80" fmla="*/ 498960 w 607639"/>
                <a:gd name="connsiteY80" fmla="*/ 7376 h 606722"/>
                <a:gd name="connsiteX81" fmla="*/ 600162 w 607639"/>
                <a:gd name="connsiteY81" fmla="*/ 108513 h 606722"/>
                <a:gd name="connsiteX82" fmla="*/ 607639 w 607639"/>
                <a:gd name="connsiteY82" fmla="*/ 126554 h 606722"/>
                <a:gd name="connsiteX83" fmla="*/ 599984 w 607639"/>
                <a:gd name="connsiteY83" fmla="*/ 144507 h 606722"/>
                <a:gd name="connsiteX84" fmla="*/ 541417 w 607639"/>
                <a:gd name="connsiteY84" fmla="*/ 201741 h 606722"/>
                <a:gd name="connsiteX85" fmla="*/ 537768 w 607639"/>
                <a:gd name="connsiteY85" fmla="*/ 289724 h 606722"/>
                <a:gd name="connsiteX86" fmla="*/ 486499 w 607639"/>
                <a:gd name="connsiteY86" fmla="*/ 340915 h 606722"/>
                <a:gd name="connsiteX87" fmla="*/ 484719 w 607639"/>
                <a:gd name="connsiteY87" fmla="*/ 342159 h 606722"/>
                <a:gd name="connsiteX88" fmla="*/ 480002 w 607639"/>
                <a:gd name="connsiteY88" fmla="*/ 345270 h 606722"/>
                <a:gd name="connsiteX89" fmla="*/ 476530 w 607639"/>
                <a:gd name="connsiteY89" fmla="*/ 346869 h 606722"/>
                <a:gd name="connsiteX90" fmla="*/ 471190 w 607639"/>
                <a:gd name="connsiteY90" fmla="*/ 347847 h 606722"/>
                <a:gd name="connsiteX91" fmla="*/ 468609 w 607639"/>
                <a:gd name="connsiteY91" fmla="*/ 348380 h 606722"/>
                <a:gd name="connsiteX92" fmla="*/ 467452 w 607639"/>
                <a:gd name="connsiteY92" fmla="*/ 348114 h 606722"/>
                <a:gd name="connsiteX93" fmla="*/ 462111 w 607639"/>
                <a:gd name="connsiteY93" fmla="*/ 347047 h 606722"/>
                <a:gd name="connsiteX94" fmla="*/ 458373 w 607639"/>
                <a:gd name="connsiteY94" fmla="*/ 345981 h 606722"/>
                <a:gd name="connsiteX95" fmla="*/ 457305 w 607639"/>
                <a:gd name="connsiteY95" fmla="*/ 345714 h 606722"/>
                <a:gd name="connsiteX96" fmla="*/ 428911 w 607639"/>
                <a:gd name="connsiteY96" fmla="*/ 331494 h 606722"/>
                <a:gd name="connsiteX97" fmla="*/ 407282 w 607639"/>
                <a:gd name="connsiteY97" fmla="*/ 335049 h 606722"/>
                <a:gd name="connsiteX98" fmla="*/ 376308 w 607639"/>
                <a:gd name="connsiteY98" fmla="*/ 365888 h 606722"/>
                <a:gd name="connsiteX99" fmla="*/ 344265 w 607639"/>
                <a:gd name="connsiteY99" fmla="*/ 379219 h 606722"/>
                <a:gd name="connsiteX100" fmla="*/ 312133 w 607639"/>
                <a:gd name="connsiteY100" fmla="*/ 365888 h 606722"/>
                <a:gd name="connsiteX101" fmla="*/ 241194 w 607639"/>
                <a:gd name="connsiteY101" fmla="*/ 295057 h 606722"/>
                <a:gd name="connsiteX102" fmla="*/ 241194 w 607639"/>
                <a:gd name="connsiteY102" fmla="*/ 230891 h 606722"/>
                <a:gd name="connsiteX103" fmla="*/ 272079 w 607639"/>
                <a:gd name="connsiteY103" fmla="*/ 200052 h 606722"/>
                <a:gd name="connsiteX104" fmla="*/ 275551 w 607639"/>
                <a:gd name="connsiteY104" fmla="*/ 178456 h 606722"/>
                <a:gd name="connsiteX105" fmla="*/ 261398 w 607639"/>
                <a:gd name="connsiteY105" fmla="*/ 150106 h 606722"/>
                <a:gd name="connsiteX106" fmla="*/ 261131 w 607639"/>
                <a:gd name="connsiteY106" fmla="*/ 149039 h 606722"/>
                <a:gd name="connsiteX107" fmla="*/ 260063 w 607639"/>
                <a:gd name="connsiteY107" fmla="*/ 145307 h 606722"/>
                <a:gd name="connsiteX108" fmla="*/ 258995 w 607639"/>
                <a:gd name="connsiteY108" fmla="*/ 139974 h 606722"/>
                <a:gd name="connsiteX109" fmla="*/ 259262 w 607639"/>
                <a:gd name="connsiteY109" fmla="*/ 136242 h 606722"/>
                <a:gd name="connsiteX110" fmla="*/ 260241 w 607639"/>
                <a:gd name="connsiteY110" fmla="*/ 130909 h 606722"/>
                <a:gd name="connsiteX111" fmla="*/ 261754 w 607639"/>
                <a:gd name="connsiteY111" fmla="*/ 127443 h 606722"/>
                <a:gd name="connsiteX112" fmla="*/ 264959 w 607639"/>
                <a:gd name="connsiteY112" fmla="*/ 122733 h 606722"/>
                <a:gd name="connsiteX113" fmla="*/ 266116 w 607639"/>
                <a:gd name="connsiteY113" fmla="*/ 120955 h 606722"/>
                <a:gd name="connsiteX114" fmla="*/ 317384 w 607639"/>
                <a:gd name="connsiteY114" fmla="*/ 69676 h 606722"/>
                <a:gd name="connsiteX115" fmla="*/ 405591 w 607639"/>
                <a:gd name="connsiteY115" fmla="*/ 66121 h 606722"/>
                <a:gd name="connsiteX116" fmla="*/ 462912 w 607639"/>
                <a:gd name="connsiteY116" fmla="*/ 7554 h 606722"/>
                <a:gd name="connsiteX117" fmla="*/ 480892 w 607639"/>
                <a:gd name="connsiteY117"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607639" h="606722">
                  <a:moveTo>
                    <a:pt x="106370" y="436610"/>
                  </a:moveTo>
                  <a:lnTo>
                    <a:pt x="61329" y="480515"/>
                  </a:lnTo>
                  <a:lnTo>
                    <a:pt x="126397" y="545485"/>
                  </a:lnTo>
                  <a:lnTo>
                    <a:pt x="170369" y="500513"/>
                  </a:lnTo>
                  <a:close/>
                  <a:moveTo>
                    <a:pt x="455714" y="404481"/>
                  </a:moveTo>
                  <a:lnTo>
                    <a:pt x="531614" y="404481"/>
                  </a:lnTo>
                  <a:lnTo>
                    <a:pt x="531703" y="404481"/>
                  </a:lnTo>
                  <a:lnTo>
                    <a:pt x="531792" y="404481"/>
                  </a:lnTo>
                  <a:cubicBezTo>
                    <a:pt x="538020" y="404481"/>
                    <a:pt x="543715" y="406792"/>
                    <a:pt x="548075" y="410525"/>
                  </a:cubicBezTo>
                  <a:cubicBezTo>
                    <a:pt x="549321" y="411591"/>
                    <a:pt x="550388" y="412747"/>
                    <a:pt x="551456" y="413991"/>
                  </a:cubicBezTo>
                  <a:cubicBezTo>
                    <a:pt x="554748" y="418079"/>
                    <a:pt x="556795" y="423323"/>
                    <a:pt x="556973" y="429012"/>
                  </a:cubicBezTo>
                  <a:cubicBezTo>
                    <a:pt x="556973" y="429278"/>
                    <a:pt x="556973" y="429545"/>
                    <a:pt x="556973" y="429811"/>
                  </a:cubicBezTo>
                  <a:lnTo>
                    <a:pt x="556973" y="505625"/>
                  </a:lnTo>
                  <a:cubicBezTo>
                    <a:pt x="556973" y="519579"/>
                    <a:pt x="545673" y="530867"/>
                    <a:pt x="531614" y="530867"/>
                  </a:cubicBezTo>
                  <a:cubicBezTo>
                    <a:pt x="517644" y="530867"/>
                    <a:pt x="506343" y="519579"/>
                    <a:pt x="506343" y="505625"/>
                  </a:cubicBezTo>
                  <a:lnTo>
                    <a:pt x="476001" y="546065"/>
                  </a:lnTo>
                  <a:cubicBezTo>
                    <a:pt x="471018" y="552731"/>
                    <a:pt x="463366" y="556197"/>
                    <a:pt x="455714" y="556197"/>
                  </a:cubicBezTo>
                  <a:cubicBezTo>
                    <a:pt x="450375" y="556197"/>
                    <a:pt x="445125" y="554508"/>
                    <a:pt x="440498" y="551131"/>
                  </a:cubicBezTo>
                  <a:cubicBezTo>
                    <a:pt x="429375" y="542776"/>
                    <a:pt x="427062" y="526867"/>
                    <a:pt x="435515" y="515757"/>
                  </a:cubicBezTo>
                  <a:lnTo>
                    <a:pt x="481073" y="455053"/>
                  </a:lnTo>
                  <a:lnTo>
                    <a:pt x="455714" y="455053"/>
                  </a:lnTo>
                  <a:cubicBezTo>
                    <a:pt x="441744" y="455053"/>
                    <a:pt x="430443" y="443765"/>
                    <a:pt x="430443" y="429811"/>
                  </a:cubicBezTo>
                  <a:cubicBezTo>
                    <a:pt x="430443" y="415857"/>
                    <a:pt x="441744" y="404481"/>
                    <a:pt x="455714" y="404481"/>
                  </a:cubicBezTo>
                  <a:close/>
                  <a:moveTo>
                    <a:pt x="157786" y="282117"/>
                  </a:moveTo>
                  <a:cubicBezTo>
                    <a:pt x="164272" y="282117"/>
                    <a:pt x="170770" y="284584"/>
                    <a:pt x="175710" y="289516"/>
                  </a:cubicBezTo>
                  <a:lnTo>
                    <a:pt x="317685" y="431277"/>
                  </a:lnTo>
                  <a:cubicBezTo>
                    <a:pt x="327565" y="441142"/>
                    <a:pt x="327565" y="457140"/>
                    <a:pt x="317685" y="467006"/>
                  </a:cubicBezTo>
                  <a:lnTo>
                    <a:pt x="245229" y="539441"/>
                  </a:lnTo>
                  <a:cubicBezTo>
                    <a:pt x="240422" y="544152"/>
                    <a:pt x="234013" y="546818"/>
                    <a:pt x="227248" y="546818"/>
                  </a:cubicBezTo>
                  <a:cubicBezTo>
                    <a:pt x="220572" y="546818"/>
                    <a:pt x="214163" y="544152"/>
                    <a:pt x="209357" y="539441"/>
                  </a:cubicBezTo>
                  <a:lnTo>
                    <a:pt x="206241" y="536242"/>
                  </a:lnTo>
                  <a:lnTo>
                    <a:pt x="144734" y="599079"/>
                  </a:lnTo>
                  <a:cubicBezTo>
                    <a:pt x="140016" y="603967"/>
                    <a:pt x="133518" y="606633"/>
                    <a:pt x="126753" y="606722"/>
                  </a:cubicBezTo>
                  <a:lnTo>
                    <a:pt x="126575" y="606722"/>
                  </a:lnTo>
                  <a:cubicBezTo>
                    <a:pt x="119899" y="606722"/>
                    <a:pt x="113491" y="604056"/>
                    <a:pt x="108684" y="599256"/>
                  </a:cubicBezTo>
                  <a:lnTo>
                    <a:pt x="7388" y="498113"/>
                  </a:lnTo>
                  <a:cubicBezTo>
                    <a:pt x="2670" y="493403"/>
                    <a:pt x="0" y="486914"/>
                    <a:pt x="0" y="480160"/>
                  </a:cubicBezTo>
                  <a:cubicBezTo>
                    <a:pt x="89" y="473405"/>
                    <a:pt x="2759" y="466917"/>
                    <a:pt x="7655" y="462206"/>
                  </a:cubicBezTo>
                  <a:lnTo>
                    <a:pt x="70587" y="400792"/>
                  </a:lnTo>
                  <a:lnTo>
                    <a:pt x="67382" y="397681"/>
                  </a:lnTo>
                  <a:cubicBezTo>
                    <a:pt x="62665" y="392882"/>
                    <a:pt x="59994" y="386482"/>
                    <a:pt x="59994" y="379728"/>
                  </a:cubicBezTo>
                  <a:cubicBezTo>
                    <a:pt x="59994" y="373062"/>
                    <a:pt x="62665" y="366663"/>
                    <a:pt x="67382" y="361863"/>
                  </a:cubicBezTo>
                  <a:lnTo>
                    <a:pt x="139927" y="289516"/>
                  </a:lnTo>
                  <a:cubicBezTo>
                    <a:pt x="144823" y="284584"/>
                    <a:pt x="151299" y="282117"/>
                    <a:pt x="157786" y="282117"/>
                  </a:cubicBezTo>
                  <a:close/>
                  <a:moveTo>
                    <a:pt x="363724" y="101159"/>
                  </a:moveTo>
                  <a:cubicBezTo>
                    <a:pt x="359930" y="101159"/>
                    <a:pt x="356147" y="102604"/>
                    <a:pt x="353254" y="105492"/>
                  </a:cubicBezTo>
                  <a:lnTo>
                    <a:pt x="320945" y="137752"/>
                  </a:lnTo>
                  <a:cubicBezTo>
                    <a:pt x="321835" y="138463"/>
                    <a:pt x="322814" y="139174"/>
                    <a:pt x="323793" y="139974"/>
                  </a:cubicBezTo>
                  <a:cubicBezTo>
                    <a:pt x="327709" y="142818"/>
                    <a:pt x="331715" y="145662"/>
                    <a:pt x="335898" y="148417"/>
                  </a:cubicBezTo>
                  <a:cubicBezTo>
                    <a:pt x="337678" y="149572"/>
                    <a:pt x="339369" y="150728"/>
                    <a:pt x="341149" y="151794"/>
                  </a:cubicBezTo>
                  <a:cubicBezTo>
                    <a:pt x="347113" y="155527"/>
                    <a:pt x="353254" y="159082"/>
                    <a:pt x="359930" y="162459"/>
                  </a:cubicBezTo>
                  <a:cubicBezTo>
                    <a:pt x="376040" y="170724"/>
                    <a:pt x="392863" y="183344"/>
                    <a:pt x="408439" y="198897"/>
                  </a:cubicBezTo>
                  <a:cubicBezTo>
                    <a:pt x="424016" y="214449"/>
                    <a:pt x="436655" y="231246"/>
                    <a:pt x="444933" y="247243"/>
                  </a:cubicBezTo>
                  <a:cubicBezTo>
                    <a:pt x="448315" y="253998"/>
                    <a:pt x="451875" y="260130"/>
                    <a:pt x="455614" y="266084"/>
                  </a:cubicBezTo>
                  <a:cubicBezTo>
                    <a:pt x="456682" y="267862"/>
                    <a:pt x="457839" y="269550"/>
                    <a:pt x="458907" y="271239"/>
                  </a:cubicBezTo>
                  <a:cubicBezTo>
                    <a:pt x="461666" y="275416"/>
                    <a:pt x="464514" y="279504"/>
                    <a:pt x="467452" y="283326"/>
                  </a:cubicBezTo>
                  <a:cubicBezTo>
                    <a:pt x="468164" y="284303"/>
                    <a:pt x="468876" y="285281"/>
                    <a:pt x="469677" y="286258"/>
                  </a:cubicBezTo>
                  <a:lnTo>
                    <a:pt x="501987" y="253998"/>
                  </a:lnTo>
                  <a:cubicBezTo>
                    <a:pt x="507772" y="248221"/>
                    <a:pt x="507772" y="238800"/>
                    <a:pt x="501987" y="233024"/>
                  </a:cubicBezTo>
                  <a:lnTo>
                    <a:pt x="374260" y="105492"/>
                  </a:lnTo>
                  <a:cubicBezTo>
                    <a:pt x="371323" y="102604"/>
                    <a:pt x="367518" y="101159"/>
                    <a:pt x="363724" y="101159"/>
                  </a:cubicBezTo>
                  <a:close/>
                  <a:moveTo>
                    <a:pt x="177209" y="50521"/>
                  </a:moveTo>
                  <a:cubicBezTo>
                    <a:pt x="183683" y="50521"/>
                    <a:pt x="190157" y="52987"/>
                    <a:pt x="195096" y="57919"/>
                  </a:cubicBezTo>
                  <a:cubicBezTo>
                    <a:pt x="205063" y="67784"/>
                    <a:pt x="205063" y="83869"/>
                    <a:pt x="195096" y="93644"/>
                  </a:cubicBezTo>
                  <a:lnTo>
                    <a:pt x="137075" y="151675"/>
                  </a:lnTo>
                  <a:lnTo>
                    <a:pt x="151936" y="151675"/>
                  </a:lnTo>
                  <a:cubicBezTo>
                    <a:pt x="165908" y="151675"/>
                    <a:pt x="177209" y="162961"/>
                    <a:pt x="177209" y="176914"/>
                  </a:cubicBezTo>
                  <a:cubicBezTo>
                    <a:pt x="177209" y="190866"/>
                    <a:pt x="165908" y="202241"/>
                    <a:pt x="151936" y="202241"/>
                  </a:cubicBezTo>
                  <a:lnTo>
                    <a:pt x="75939" y="202241"/>
                  </a:lnTo>
                  <a:cubicBezTo>
                    <a:pt x="69621" y="202241"/>
                    <a:pt x="63836" y="199842"/>
                    <a:pt x="59387" y="196020"/>
                  </a:cubicBezTo>
                  <a:cubicBezTo>
                    <a:pt x="58141" y="194954"/>
                    <a:pt x="56984" y="193710"/>
                    <a:pt x="55916" y="192288"/>
                  </a:cubicBezTo>
                  <a:cubicBezTo>
                    <a:pt x="52980" y="188466"/>
                    <a:pt x="51111" y="183845"/>
                    <a:pt x="50755" y="178691"/>
                  </a:cubicBezTo>
                  <a:cubicBezTo>
                    <a:pt x="50666" y="178069"/>
                    <a:pt x="50666" y="177447"/>
                    <a:pt x="50666" y="176736"/>
                  </a:cubicBezTo>
                  <a:lnTo>
                    <a:pt x="50666" y="101109"/>
                  </a:lnTo>
                  <a:cubicBezTo>
                    <a:pt x="50666" y="87157"/>
                    <a:pt x="61968" y="75782"/>
                    <a:pt x="75939" y="75782"/>
                  </a:cubicBezTo>
                  <a:cubicBezTo>
                    <a:pt x="89910" y="75782"/>
                    <a:pt x="101301" y="87157"/>
                    <a:pt x="101301" y="101109"/>
                  </a:cubicBezTo>
                  <a:lnTo>
                    <a:pt x="101301" y="115861"/>
                  </a:lnTo>
                  <a:lnTo>
                    <a:pt x="159322" y="57919"/>
                  </a:lnTo>
                  <a:cubicBezTo>
                    <a:pt x="164261" y="52987"/>
                    <a:pt x="170735" y="50521"/>
                    <a:pt x="177209" y="50521"/>
                  </a:cubicBezTo>
                  <a:close/>
                  <a:moveTo>
                    <a:pt x="480892" y="0"/>
                  </a:moveTo>
                  <a:cubicBezTo>
                    <a:pt x="487122" y="0"/>
                    <a:pt x="494154" y="2666"/>
                    <a:pt x="498960" y="7376"/>
                  </a:cubicBezTo>
                  <a:lnTo>
                    <a:pt x="600162" y="108513"/>
                  </a:lnTo>
                  <a:cubicBezTo>
                    <a:pt x="604969" y="113312"/>
                    <a:pt x="607639" y="119800"/>
                    <a:pt x="607639" y="126554"/>
                  </a:cubicBezTo>
                  <a:cubicBezTo>
                    <a:pt x="607550" y="133309"/>
                    <a:pt x="604880" y="139708"/>
                    <a:pt x="599984" y="144507"/>
                  </a:cubicBezTo>
                  <a:lnTo>
                    <a:pt x="541417" y="201741"/>
                  </a:lnTo>
                  <a:cubicBezTo>
                    <a:pt x="562957" y="227425"/>
                    <a:pt x="561978" y="265640"/>
                    <a:pt x="537768" y="289724"/>
                  </a:cubicBezTo>
                  <a:lnTo>
                    <a:pt x="486499" y="340915"/>
                  </a:lnTo>
                  <a:cubicBezTo>
                    <a:pt x="485965" y="341537"/>
                    <a:pt x="485342" y="341715"/>
                    <a:pt x="484719" y="342159"/>
                  </a:cubicBezTo>
                  <a:cubicBezTo>
                    <a:pt x="483206" y="343403"/>
                    <a:pt x="481693" y="344470"/>
                    <a:pt x="480002" y="345270"/>
                  </a:cubicBezTo>
                  <a:cubicBezTo>
                    <a:pt x="478845" y="345892"/>
                    <a:pt x="477688" y="346425"/>
                    <a:pt x="476530" y="346869"/>
                  </a:cubicBezTo>
                  <a:cubicBezTo>
                    <a:pt x="474750" y="347403"/>
                    <a:pt x="472970" y="347669"/>
                    <a:pt x="471190" y="347847"/>
                  </a:cubicBezTo>
                  <a:cubicBezTo>
                    <a:pt x="470300" y="347936"/>
                    <a:pt x="469499" y="348380"/>
                    <a:pt x="468609" y="348380"/>
                  </a:cubicBezTo>
                  <a:cubicBezTo>
                    <a:pt x="468253" y="348380"/>
                    <a:pt x="467808" y="348114"/>
                    <a:pt x="467452" y="348114"/>
                  </a:cubicBezTo>
                  <a:cubicBezTo>
                    <a:pt x="465582" y="348025"/>
                    <a:pt x="463891" y="347580"/>
                    <a:pt x="462111" y="347047"/>
                  </a:cubicBezTo>
                  <a:cubicBezTo>
                    <a:pt x="460776" y="346692"/>
                    <a:pt x="459530" y="346514"/>
                    <a:pt x="458373" y="345981"/>
                  </a:cubicBezTo>
                  <a:cubicBezTo>
                    <a:pt x="458017" y="345892"/>
                    <a:pt x="457661" y="345892"/>
                    <a:pt x="457305" y="345714"/>
                  </a:cubicBezTo>
                  <a:lnTo>
                    <a:pt x="428911" y="331494"/>
                  </a:lnTo>
                  <a:cubicBezTo>
                    <a:pt x="421702" y="327940"/>
                    <a:pt x="412979" y="329273"/>
                    <a:pt x="407282" y="335049"/>
                  </a:cubicBezTo>
                  <a:lnTo>
                    <a:pt x="376308" y="365888"/>
                  </a:lnTo>
                  <a:cubicBezTo>
                    <a:pt x="367763" y="374509"/>
                    <a:pt x="356370" y="379219"/>
                    <a:pt x="344265" y="379219"/>
                  </a:cubicBezTo>
                  <a:cubicBezTo>
                    <a:pt x="332160" y="379219"/>
                    <a:pt x="320678" y="374509"/>
                    <a:pt x="312133" y="365888"/>
                  </a:cubicBezTo>
                  <a:lnTo>
                    <a:pt x="241194" y="295057"/>
                  </a:lnTo>
                  <a:cubicBezTo>
                    <a:pt x="223481" y="277371"/>
                    <a:pt x="223481" y="248576"/>
                    <a:pt x="241194" y="230891"/>
                  </a:cubicBezTo>
                  <a:lnTo>
                    <a:pt x="272079" y="200052"/>
                  </a:lnTo>
                  <a:cubicBezTo>
                    <a:pt x="277776" y="194364"/>
                    <a:pt x="279200" y="185655"/>
                    <a:pt x="275551" y="178456"/>
                  </a:cubicBezTo>
                  <a:lnTo>
                    <a:pt x="261398" y="150106"/>
                  </a:lnTo>
                  <a:cubicBezTo>
                    <a:pt x="261220" y="149750"/>
                    <a:pt x="261220" y="149395"/>
                    <a:pt x="261131" y="149039"/>
                  </a:cubicBezTo>
                  <a:cubicBezTo>
                    <a:pt x="260508" y="147884"/>
                    <a:pt x="260330" y="146640"/>
                    <a:pt x="260063" y="145307"/>
                  </a:cubicBezTo>
                  <a:cubicBezTo>
                    <a:pt x="259529" y="143529"/>
                    <a:pt x="259084" y="141841"/>
                    <a:pt x="258995" y="139974"/>
                  </a:cubicBezTo>
                  <a:cubicBezTo>
                    <a:pt x="258906" y="138730"/>
                    <a:pt x="259084" y="137486"/>
                    <a:pt x="259262" y="136242"/>
                  </a:cubicBezTo>
                  <a:cubicBezTo>
                    <a:pt x="259440" y="134375"/>
                    <a:pt x="259707" y="132687"/>
                    <a:pt x="260241" y="130909"/>
                  </a:cubicBezTo>
                  <a:cubicBezTo>
                    <a:pt x="260686" y="129754"/>
                    <a:pt x="261220" y="128599"/>
                    <a:pt x="261754" y="127443"/>
                  </a:cubicBezTo>
                  <a:cubicBezTo>
                    <a:pt x="262644" y="125755"/>
                    <a:pt x="263713" y="124155"/>
                    <a:pt x="264959" y="122733"/>
                  </a:cubicBezTo>
                  <a:cubicBezTo>
                    <a:pt x="265404" y="122111"/>
                    <a:pt x="265582" y="121400"/>
                    <a:pt x="266116" y="120955"/>
                  </a:cubicBezTo>
                  <a:lnTo>
                    <a:pt x="317384" y="69676"/>
                  </a:lnTo>
                  <a:cubicBezTo>
                    <a:pt x="341505" y="45592"/>
                    <a:pt x="379868" y="44525"/>
                    <a:pt x="405591" y="66121"/>
                  </a:cubicBezTo>
                  <a:lnTo>
                    <a:pt x="462912" y="7554"/>
                  </a:lnTo>
                  <a:cubicBezTo>
                    <a:pt x="467719" y="2755"/>
                    <a:pt x="474127" y="89"/>
                    <a:pt x="480892"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21" name="iṡļîḍé"/>
            <p:cNvSpPr/>
            <p:nvPr/>
          </p:nvSpPr>
          <p:spPr bwMode="auto">
            <a:xfrm>
              <a:off x="7366140" y="4694761"/>
              <a:ext cx="344710" cy="344189"/>
            </a:xfrm>
            <a:custGeom>
              <a:avLst/>
              <a:gdLst>
                <a:gd name="connsiteX0" fmla="*/ 257564 w 607639"/>
                <a:gd name="connsiteY0" fmla="*/ 92370 h 606722"/>
                <a:gd name="connsiteX1" fmla="*/ 277411 w 607639"/>
                <a:gd name="connsiteY1" fmla="*/ 112098 h 606722"/>
                <a:gd name="connsiteX2" fmla="*/ 277411 w 607639"/>
                <a:gd name="connsiteY2" fmla="*/ 329729 h 606722"/>
                <a:gd name="connsiteX3" fmla="*/ 495281 w 607639"/>
                <a:gd name="connsiteY3" fmla="*/ 329729 h 606722"/>
                <a:gd name="connsiteX4" fmla="*/ 515128 w 607639"/>
                <a:gd name="connsiteY4" fmla="*/ 349546 h 606722"/>
                <a:gd name="connsiteX5" fmla="*/ 257564 w 607639"/>
                <a:gd name="connsiteY5" fmla="*/ 606722 h 606722"/>
                <a:gd name="connsiteX6" fmla="*/ 0 w 607639"/>
                <a:gd name="connsiteY6" fmla="*/ 349546 h 606722"/>
                <a:gd name="connsiteX7" fmla="*/ 257564 w 607639"/>
                <a:gd name="connsiteY7" fmla="*/ 92370 h 606722"/>
                <a:gd name="connsiteX8" fmla="*/ 350027 w 607639"/>
                <a:gd name="connsiteY8" fmla="*/ 0 h 606722"/>
                <a:gd name="connsiteX9" fmla="*/ 607639 w 607639"/>
                <a:gd name="connsiteY9" fmla="*/ 257220 h 606722"/>
                <a:gd name="connsiteX10" fmla="*/ 587788 w 607639"/>
                <a:gd name="connsiteY10" fmla="*/ 277040 h 606722"/>
                <a:gd name="connsiteX11" fmla="*/ 350027 w 607639"/>
                <a:gd name="connsiteY11" fmla="*/ 277040 h 606722"/>
                <a:gd name="connsiteX12" fmla="*/ 330176 w 607639"/>
                <a:gd name="connsiteY12" fmla="*/ 257220 h 606722"/>
                <a:gd name="connsiteX13" fmla="*/ 330176 w 607639"/>
                <a:gd name="connsiteY13" fmla="*/ 19820 h 606722"/>
                <a:gd name="connsiteX14" fmla="*/ 350027 w 607639"/>
                <a:gd name="connsiteY14"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7639" h="606722">
                  <a:moveTo>
                    <a:pt x="257564" y="92370"/>
                  </a:moveTo>
                  <a:cubicBezTo>
                    <a:pt x="268511" y="92370"/>
                    <a:pt x="277411" y="101168"/>
                    <a:pt x="277411" y="112098"/>
                  </a:cubicBezTo>
                  <a:lnTo>
                    <a:pt x="277411" y="329729"/>
                  </a:lnTo>
                  <a:lnTo>
                    <a:pt x="495281" y="329729"/>
                  </a:lnTo>
                  <a:cubicBezTo>
                    <a:pt x="506228" y="329729"/>
                    <a:pt x="515128" y="338616"/>
                    <a:pt x="515128" y="349546"/>
                  </a:cubicBezTo>
                  <a:cubicBezTo>
                    <a:pt x="515128" y="491286"/>
                    <a:pt x="399607" y="606722"/>
                    <a:pt x="257564" y="606722"/>
                  </a:cubicBezTo>
                  <a:cubicBezTo>
                    <a:pt x="115521" y="606722"/>
                    <a:pt x="0" y="491286"/>
                    <a:pt x="0" y="349546"/>
                  </a:cubicBezTo>
                  <a:cubicBezTo>
                    <a:pt x="0" y="207717"/>
                    <a:pt x="115521" y="92370"/>
                    <a:pt x="257564" y="92370"/>
                  </a:cubicBezTo>
                  <a:close/>
                  <a:moveTo>
                    <a:pt x="350027" y="0"/>
                  </a:moveTo>
                  <a:cubicBezTo>
                    <a:pt x="492007" y="0"/>
                    <a:pt x="607639" y="115367"/>
                    <a:pt x="607639" y="257220"/>
                  </a:cubicBezTo>
                  <a:cubicBezTo>
                    <a:pt x="607639" y="268152"/>
                    <a:pt x="598737" y="277040"/>
                    <a:pt x="587788" y="277040"/>
                  </a:cubicBezTo>
                  <a:lnTo>
                    <a:pt x="350027" y="277040"/>
                  </a:lnTo>
                  <a:cubicBezTo>
                    <a:pt x="339078" y="277040"/>
                    <a:pt x="330176" y="268152"/>
                    <a:pt x="330176" y="257220"/>
                  </a:cubicBezTo>
                  <a:lnTo>
                    <a:pt x="330176" y="19820"/>
                  </a:lnTo>
                  <a:cubicBezTo>
                    <a:pt x="330176" y="8888"/>
                    <a:pt x="339078" y="0"/>
                    <a:pt x="350027"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22" name="îṣľiḓè"/>
            <p:cNvSpPr/>
            <p:nvPr/>
          </p:nvSpPr>
          <p:spPr bwMode="auto">
            <a:xfrm>
              <a:off x="4471521" y="1860106"/>
              <a:ext cx="353485" cy="240234"/>
            </a:xfrm>
            <a:custGeom>
              <a:avLst/>
              <a:gdLst>
                <a:gd name="connsiteX0" fmla="*/ 437011 w 604816"/>
                <a:gd name="connsiteY0" fmla="*/ 83550 h 411044"/>
                <a:gd name="connsiteX1" fmla="*/ 604816 w 604816"/>
                <a:gd name="connsiteY1" fmla="*/ 214450 h 411044"/>
                <a:gd name="connsiteX2" fmla="*/ 539177 w 604816"/>
                <a:gd name="connsiteY2" fmla="*/ 317799 h 411044"/>
                <a:gd name="connsiteX3" fmla="*/ 523523 w 604816"/>
                <a:gd name="connsiteY3" fmla="*/ 340690 h 411044"/>
                <a:gd name="connsiteX4" fmla="*/ 528878 w 604816"/>
                <a:gd name="connsiteY4" fmla="*/ 400177 h 411044"/>
                <a:gd name="connsiteX5" fmla="*/ 462004 w 604816"/>
                <a:gd name="connsiteY5" fmla="*/ 353300 h 411044"/>
                <a:gd name="connsiteX6" fmla="*/ 440033 w 604816"/>
                <a:gd name="connsiteY6" fmla="*/ 345213 h 411044"/>
                <a:gd name="connsiteX7" fmla="*/ 437011 w 604816"/>
                <a:gd name="connsiteY7" fmla="*/ 345350 h 411044"/>
                <a:gd name="connsiteX8" fmla="*/ 338279 w 604816"/>
                <a:gd name="connsiteY8" fmla="*/ 319992 h 411044"/>
                <a:gd name="connsiteX9" fmla="*/ 269207 w 604816"/>
                <a:gd name="connsiteY9" fmla="*/ 214450 h 411044"/>
                <a:gd name="connsiteX10" fmla="*/ 272091 w 604816"/>
                <a:gd name="connsiteY10" fmla="*/ 190189 h 411044"/>
                <a:gd name="connsiteX11" fmla="*/ 280467 w 604816"/>
                <a:gd name="connsiteY11" fmla="*/ 167299 h 411044"/>
                <a:gd name="connsiteX12" fmla="*/ 342948 w 604816"/>
                <a:gd name="connsiteY12" fmla="*/ 106166 h 411044"/>
                <a:gd name="connsiteX13" fmla="*/ 355581 w 604816"/>
                <a:gd name="connsiteY13" fmla="*/ 100135 h 411044"/>
                <a:gd name="connsiteX14" fmla="*/ 358602 w 604816"/>
                <a:gd name="connsiteY14" fmla="*/ 98765 h 411044"/>
                <a:gd name="connsiteX15" fmla="*/ 417375 w 604816"/>
                <a:gd name="connsiteY15" fmla="*/ 84509 h 411044"/>
                <a:gd name="connsiteX16" fmla="*/ 437011 w 604816"/>
                <a:gd name="connsiteY16" fmla="*/ 83550 h 411044"/>
                <a:gd name="connsiteX17" fmla="*/ 213353 w 604816"/>
                <a:gd name="connsiteY17" fmla="*/ 0 h 411044"/>
                <a:gd name="connsiteX18" fmla="*/ 340760 w 604816"/>
                <a:gd name="connsiteY18" fmla="*/ 33580 h 411044"/>
                <a:gd name="connsiteX19" fmla="*/ 331973 w 604816"/>
                <a:gd name="connsiteY19" fmla="*/ 37143 h 411044"/>
                <a:gd name="connsiteX20" fmla="*/ 327031 w 604816"/>
                <a:gd name="connsiteY20" fmla="*/ 39336 h 411044"/>
                <a:gd name="connsiteX21" fmla="*/ 310418 w 604816"/>
                <a:gd name="connsiteY21" fmla="*/ 47423 h 411044"/>
                <a:gd name="connsiteX22" fmla="*/ 306849 w 604816"/>
                <a:gd name="connsiteY22" fmla="*/ 49479 h 411044"/>
                <a:gd name="connsiteX23" fmla="*/ 294630 w 604816"/>
                <a:gd name="connsiteY23" fmla="*/ 56743 h 411044"/>
                <a:gd name="connsiteX24" fmla="*/ 289413 w 604816"/>
                <a:gd name="connsiteY24" fmla="*/ 60307 h 411044"/>
                <a:gd name="connsiteX25" fmla="*/ 279528 w 604816"/>
                <a:gd name="connsiteY25" fmla="*/ 67297 h 411044"/>
                <a:gd name="connsiteX26" fmla="*/ 274585 w 604816"/>
                <a:gd name="connsiteY26" fmla="*/ 71134 h 411044"/>
                <a:gd name="connsiteX27" fmla="*/ 264425 w 604816"/>
                <a:gd name="connsiteY27" fmla="*/ 79906 h 411044"/>
                <a:gd name="connsiteX28" fmla="*/ 261130 w 604816"/>
                <a:gd name="connsiteY28" fmla="*/ 82784 h 411044"/>
                <a:gd name="connsiteX29" fmla="*/ 249186 w 604816"/>
                <a:gd name="connsiteY29" fmla="*/ 95120 h 411044"/>
                <a:gd name="connsiteX30" fmla="*/ 246165 w 604816"/>
                <a:gd name="connsiteY30" fmla="*/ 98683 h 411044"/>
                <a:gd name="connsiteX31" fmla="*/ 238203 w 604816"/>
                <a:gd name="connsiteY31" fmla="*/ 108552 h 411044"/>
                <a:gd name="connsiteX32" fmla="*/ 234770 w 604816"/>
                <a:gd name="connsiteY32" fmla="*/ 113349 h 411044"/>
                <a:gd name="connsiteX33" fmla="*/ 228317 w 604816"/>
                <a:gd name="connsiteY33" fmla="*/ 123080 h 411044"/>
                <a:gd name="connsiteX34" fmla="*/ 225434 w 604816"/>
                <a:gd name="connsiteY34" fmla="*/ 127877 h 411044"/>
                <a:gd name="connsiteX35" fmla="*/ 218844 w 604816"/>
                <a:gd name="connsiteY35" fmla="*/ 140487 h 411044"/>
                <a:gd name="connsiteX36" fmla="*/ 217609 w 604816"/>
                <a:gd name="connsiteY36" fmla="*/ 142954 h 411044"/>
                <a:gd name="connsiteX37" fmla="*/ 211430 w 604816"/>
                <a:gd name="connsiteY37" fmla="*/ 158442 h 411044"/>
                <a:gd name="connsiteX38" fmla="*/ 209920 w 604816"/>
                <a:gd name="connsiteY38" fmla="*/ 163102 h 411044"/>
                <a:gd name="connsiteX39" fmla="*/ 206763 w 604816"/>
                <a:gd name="connsiteY39" fmla="*/ 174752 h 411044"/>
                <a:gd name="connsiteX40" fmla="*/ 205527 w 604816"/>
                <a:gd name="connsiteY40" fmla="*/ 180371 h 411044"/>
                <a:gd name="connsiteX41" fmla="*/ 203467 w 604816"/>
                <a:gd name="connsiteY41" fmla="*/ 192159 h 411044"/>
                <a:gd name="connsiteX42" fmla="*/ 202781 w 604816"/>
                <a:gd name="connsiteY42" fmla="*/ 197367 h 411044"/>
                <a:gd name="connsiteX43" fmla="*/ 201820 w 604816"/>
                <a:gd name="connsiteY43" fmla="*/ 214499 h 411044"/>
                <a:gd name="connsiteX44" fmla="*/ 203467 w 604816"/>
                <a:gd name="connsiteY44" fmla="*/ 236155 h 411044"/>
                <a:gd name="connsiteX45" fmla="*/ 204154 w 604816"/>
                <a:gd name="connsiteY45" fmla="*/ 241637 h 411044"/>
                <a:gd name="connsiteX46" fmla="*/ 208822 w 604816"/>
                <a:gd name="connsiteY46" fmla="*/ 262608 h 411044"/>
                <a:gd name="connsiteX47" fmla="*/ 208959 w 604816"/>
                <a:gd name="connsiteY47" fmla="*/ 263019 h 411044"/>
                <a:gd name="connsiteX48" fmla="*/ 216373 w 604816"/>
                <a:gd name="connsiteY48" fmla="*/ 282893 h 411044"/>
                <a:gd name="connsiteX49" fmla="*/ 218707 w 604816"/>
                <a:gd name="connsiteY49" fmla="*/ 287827 h 411044"/>
                <a:gd name="connsiteX50" fmla="*/ 229004 w 604816"/>
                <a:gd name="connsiteY50" fmla="*/ 307152 h 411044"/>
                <a:gd name="connsiteX51" fmla="*/ 229416 w 604816"/>
                <a:gd name="connsiteY51" fmla="*/ 307700 h 411044"/>
                <a:gd name="connsiteX52" fmla="*/ 242321 w 604816"/>
                <a:gd name="connsiteY52" fmla="*/ 325381 h 411044"/>
                <a:gd name="connsiteX53" fmla="*/ 245616 w 604816"/>
                <a:gd name="connsiteY53" fmla="*/ 329630 h 411044"/>
                <a:gd name="connsiteX54" fmla="*/ 249186 w 604816"/>
                <a:gd name="connsiteY54" fmla="*/ 333742 h 411044"/>
                <a:gd name="connsiteX55" fmla="*/ 213490 w 604816"/>
                <a:gd name="connsiteY55" fmla="*/ 336209 h 411044"/>
                <a:gd name="connsiteX56" fmla="*/ 213353 w 604816"/>
                <a:gd name="connsiteY56" fmla="*/ 336209 h 411044"/>
                <a:gd name="connsiteX57" fmla="*/ 187679 w 604816"/>
                <a:gd name="connsiteY57" fmla="*/ 344159 h 411044"/>
                <a:gd name="connsiteX58" fmla="*/ 87318 w 604816"/>
                <a:gd name="connsiteY58" fmla="*/ 411044 h 411044"/>
                <a:gd name="connsiteX59" fmla="*/ 99674 w 604816"/>
                <a:gd name="connsiteY59" fmla="*/ 324148 h 411044"/>
                <a:gd name="connsiteX60" fmla="*/ 84023 w 604816"/>
                <a:gd name="connsiteY60" fmla="*/ 301259 h 411044"/>
                <a:gd name="connsiteX61" fmla="*/ 0 w 604816"/>
                <a:gd name="connsiteY61" fmla="*/ 168036 h 411044"/>
                <a:gd name="connsiteX62" fmla="*/ 213353 w 604816"/>
                <a:gd name="connsiteY62" fmla="*/ 0 h 411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604816" h="411044">
                  <a:moveTo>
                    <a:pt x="437011" y="83550"/>
                  </a:moveTo>
                  <a:cubicBezTo>
                    <a:pt x="529565" y="83550"/>
                    <a:pt x="604816" y="142215"/>
                    <a:pt x="604816" y="214450"/>
                  </a:cubicBezTo>
                  <a:cubicBezTo>
                    <a:pt x="604816" y="254885"/>
                    <a:pt x="580922" y="292579"/>
                    <a:pt x="539177" y="317799"/>
                  </a:cubicBezTo>
                  <a:cubicBezTo>
                    <a:pt x="530938" y="322871"/>
                    <a:pt x="525308" y="331095"/>
                    <a:pt x="523523" y="340690"/>
                  </a:cubicBezTo>
                  <a:cubicBezTo>
                    <a:pt x="519953" y="360564"/>
                    <a:pt x="522974" y="381125"/>
                    <a:pt x="528878" y="400177"/>
                  </a:cubicBezTo>
                  <a:cubicBezTo>
                    <a:pt x="505122" y="387156"/>
                    <a:pt x="481366" y="370022"/>
                    <a:pt x="462004" y="353300"/>
                  </a:cubicBezTo>
                  <a:cubicBezTo>
                    <a:pt x="455824" y="348091"/>
                    <a:pt x="448134" y="345213"/>
                    <a:pt x="440033" y="345213"/>
                  </a:cubicBezTo>
                  <a:cubicBezTo>
                    <a:pt x="438934" y="345213"/>
                    <a:pt x="437835" y="345350"/>
                    <a:pt x="437011" y="345350"/>
                  </a:cubicBezTo>
                  <a:cubicBezTo>
                    <a:pt x="401308" y="345350"/>
                    <a:pt x="367253" y="336577"/>
                    <a:pt x="338279" y="319992"/>
                  </a:cubicBezTo>
                  <a:cubicBezTo>
                    <a:pt x="295023" y="295183"/>
                    <a:pt x="269207" y="255844"/>
                    <a:pt x="269207" y="214450"/>
                  </a:cubicBezTo>
                  <a:cubicBezTo>
                    <a:pt x="269207" y="206089"/>
                    <a:pt x="270168" y="198002"/>
                    <a:pt x="272091" y="190189"/>
                  </a:cubicBezTo>
                  <a:cubicBezTo>
                    <a:pt x="274013" y="182239"/>
                    <a:pt x="276760" y="174563"/>
                    <a:pt x="280467" y="167299"/>
                  </a:cubicBezTo>
                  <a:cubicBezTo>
                    <a:pt x="292826" y="142352"/>
                    <a:pt x="314797" y="121107"/>
                    <a:pt x="342948" y="106166"/>
                  </a:cubicBezTo>
                  <a:cubicBezTo>
                    <a:pt x="347067" y="103973"/>
                    <a:pt x="351187" y="102054"/>
                    <a:pt x="355581" y="100135"/>
                  </a:cubicBezTo>
                  <a:cubicBezTo>
                    <a:pt x="356542" y="99724"/>
                    <a:pt x="357503" y="99176"/>
                    <a:pt x="358602" y="98765"/>
                  </a:cubicBezTo>
                  <a:cubicBezTo>
                    <a:pt x="376454" y="91363"/>
                    <a:pt x="396228" y="86428"/>
                    <a:pt x="417375" y="84509"/>
                  </a:cubicBezTo>
                  <a:cubicBezTo>
                    <a:pt x="423829" y="83824"/>
                    <a:pt x="430283" y="83550"/>
                    <a:pt x="437011" y="83550"/>
                  </a:cubicBezTo>
                  <a:close/>
                  <a:moveTo>
                    <a:pt x="213353" y="0"/>
                  </a:moveTo>
                  <a:cubicBezTo>
                    <a:pt x="259757" y="0"/>
                    <a:pt x="304377" y="12061"/>
                    <a:pt x="340760" y="33580"/>
                  </a:cubicBezTo>
                  <a:cubicBezTo>
                    <a:pt x="337740" y="34676"/>
                    <a:pt x="334856" y="36047"/>
                    <a:pt x="331973" y="37143"/>
                  </a:cubicBezTo>
                  <a:cubicBezTo>
                    <a:pt x="330326" y="37966"/>
                    <a:pt x="328678" y="38514"/>
                    <a:pt x="327031" y="39336"/>
                  </a:cubicBezTo>
                  <a:cubicBezTo>
                    <a:pt x="321264" y="41803"/>
                    <a:pt x="315773" y="44545"/>
                    <a:pt x="310418" y="47423"/>
                  </a:cubicBezTo>
                  <a:cubicBezTo>
                    <a:pt x="309183" y="48108"/>
                    <a:pt x="308084" y="48793"/>
                    <a:pt x="306849" y="49479"/>
                  </a:cubicBezTo>
                  <a:cubicBezTo>
                    <a:pt x="302730" y="51809"/>
                    <a:pt x="298611" y="54139"/>
                    <a:pt x="294630" y="56743"/>
                  </a:cubicBezTo>
                  <a:cubicBezTo>
                    <a:pt x="292845" y="57839"/>
                    <a:pt x="291060" y="59073"/>
                    <a:pt x="289413" y="60307"/>
                  </a:cubicBezTo>
                  <a:cubicBezTo>
                    <a:pt x="285980" y="62500"/>
                    <a:pt x="282685" y="64830"/>
                    <a:pt x="279528" y="67297"/>
                  </a:cubicBezTo>
                  <a:cubicBezTo>
                    <a:pt x="277880" y="68530"/>
                    <a:pt x="276233" y="69901"/>
                    <a:pt x="274585" y="71134"/>
                  </a:cubicBezTo>
                  <a:cubicBezTo>
                    <a:pt x="271015" y="74013"/>
                    <a:pt x="267720" y="76891"/>
                    <a:pt x="264425" y="79906"/>
                  </a:cubicBezTo>
                  <a:cubicBezTo>
                    <a:pt x="263327" y="80866"/>
                    <a:pt x="262229" y="81825"/>
                    <a:pt x="261130" y="82784"/>
                  </a:cubicBezTo>
                  <a:cubicBezTo>
                    <a:pt x="257012" y="86759"/>
                    <a:pt x="253030" y="90871"/>
                    <a:pt x="249186" y="95120"/>
                  </a:cubicBezTo>
                  <a:cubicBezTo>
                    <a:pt x="248088" y="96216"/>
                    <a:pt x="247264" y="97450"/>
                    <a:pt x="246165" y="98683"/>
                  </a:cubicBezTo>
                  <a:cubicBezTo>
                    <a:pt x="243420" y="101836"/>
                    <a:pt x="240811" y="105125"/>
                    <a:pt x="238203" y="108552"/>
                  </a:cubicBezTo>
                  <a:cubicBezTo>
                    <a:pt x="237104" y="110197"/>
                    <a:pt x="235869" y="111704"/>
                    <a:pt x="234770" y="113349"/>
                  </a:cubicBezTo>
                  <a:cubicBezTo>
                    <a:pt x="232573" y="116501"/>
                    <a:pt x="230377" y="119791"/>
                    <a:pt x="228317" y="123080"/>
                  </a:cubicBezTo>
                  <a:cubicBezTo>
                    <a:pt x="227356" y="124725"/>
                    <a:pt x="226395" y="126233"/>
                    <a:pt x="225434" y="127877"/>
                  </a:cubicBezTo>
                  <a:cubicBezTo>
                    <a:pt x="223100" y="132126"/>
                    <a:pt x="220904" y="136238"/>
                    <a:pt x="218844" y="140487"/>
                  </a:cubicBezTo>
                  <a:cubicBezTo>
                    <a:pt x="218432" y="141309"/>
                    <a:pt x="218021" y="142132"/>
                    <a:pt x="217609" y="142954"/>
                  </a:cubicBezTo>
                  <a:cubicBezTo>
                    <a:pt x="215275" y="148025"/>
                    <a:pt x="213215" y="153233"/>
                    <a:pt x="211430" y="158442"/>
                  </a:cubicBezTo>
                  <a:cubicBezTo>
                    <a:pt x="210881" y="159949"/>
                    <a:pt x="210469" y="161457"/>
                    <a:pt x="209920" y="163102"/>
                  </a:cubicBezTo>
                  <a:cubicBezTo>
                    <a:pt x="208685" y="166940"/>
                    <a:pt x="207724" y="170777"/>
                    <a:pt x="206763" y="174752"/>
                  </a:cubicBezTo>
                  <a:cubicBezTo>
                    <a:pt x="206213" y="176671"/>
                    <a:pt x="205801" y="178453"/>
                    <a:pt x="205527" y="180371"/>
                  </a:cubicBezTo>
                  <a:cubicBezTo>
                    <a:pt x="204703" y="184209"/>
                    <a:pt x="204017" y="188184"/>
                    <a:pt x="203467" y="192159"/>
                  </a:cubicBezTo>
                  <a:cubicBezTo>
                    <a:pt x="203193" y="193940"/>
                    <a:pt x="202918" y="195585"/>
                    <a:pt x="202781" y="197367"/>
                  </a:cubicBezTo>
                  <a:cubicBezTo>
                    <a:pt x="202232" y="203123"/>
                    <a:pt x="201820" y="208743"/>
                    <a:pt x="201820" y="214499"/>
                  </a:cubicBezTo>
                  <a:cubicBezTo>
                    <a:pt x="201820" y="221901"/>
                    <a:pt x="202506" y="229028"/>
                    <a:pt x="203467" y="236155"/>
                  </a:cubicBezTo>
                  <a:cubicBezTo>
                    <a:pt x="203605" y="238074"/>
                    <a:pt x="203879" y="239719"/>
                    <a:pt x="204154" y="241637"/>
                  </a:cubicBezTo>
                  <a:cubicBezTo>
                    <a:pt x="205390" y="248627"/>
                    <a:pt x="206763" y="255755"/>
                    <a:pt x="208822" y="262608"/>
                  </a:cubicBezTo>
                  <a:cubicBezTo>
                    <a:pt x="208822" y="262745"/>
                    <a:pt x="208959" y="262882"/>
                    <a:pt x="208959" y="263019"/>
                  </a:cubicBezTo>
                  <a:cubicBezTo>
                    <a:pt x="211019" y="269735"/>
                    <a:pt x="213627" y="276451"/>
                    <a:pt x="216373" y="282893"/>
                  </a:cubicBezTo>
                  <a:cubicBezTo>
                    <a:pt x="217197" y="284537"/>
                    <a:pt x="217883" y="286182"/>
                    <a:pt x="218707" y="287827"/>
                  </a:cubicBezTo>
                  <a:cubicBezTo>
                    <a:pt x="221727" y="294406"/>
                    <a:pt x="225160" y="300847"/>
                    <a:pt x="229004" y="307152"/>
                  </a:cubicBezTo>
                  <a:cubicBezTo>
                    <a:pt x="229141" y="307289"/>
                    <a:pt x="229278" y="307563"/>
                    <a:pt x="229416" y="307700"/>
                  </a:cubicBezTo>
                  <a:cubicBezTo>
                    <a:pt x="233260" y="313731"/>
                    <a:pt x="237653" y="319625"/>
                    <a:pt x="242321" y="325381"/>
                  </a:cubicBezTo>
                  <a:cubicBezTo>
                    <a:pt x="243420" y="326752"/>
                    <a:pt x="244518" y="328122"/>
                    <a:pt x="245616" y="329630"/>
                  </a:cubicBezTo>
                  <a:cubicBezTo>
                    <a:pt x="246852" y="331001"/>
                    <a:pt x="247950" y="332371"/>
                    <a:pt x="249186" y="333742"/>
                  </a:cubicBezTo>
                  <a:cubicBezTo>
                    <a:pt x="237379" y="335387"/>
                    <a:pt x="225572" y="336209"/>
                    <a:pt x="213490" y="336209"/>
                  </a:cubicBezTo>
                  <a:lnTo>
                    <a:pt x="213353" y="336209"/>
                  </a:lnTo>
                  <a:cubicBezTo>
                    <a:pt x="204154" y="335661"/>
                    <a:pt x="194681" y="337991"/>
                    <a:pt x="187679" y="344159"/>
                  </a:cubicBezTo>
                  <a:cubicBezTo>
                    <a:pt x="158847" y="368692"/>
                    <a:pt x="122602" y="394323"/>
                    <a:pt x="87318" y="411044"/>
                  </a:cubicBezTo>
                  <a:cubicBezTo>
                    <a:pt x="97890" y="384317"/>
                    <a:pt x="105029" y="353479"/>
                    <a:pt x="99674" y="324148"/>
                  </a:cubicBezTo>
                  <a:cubicBezTo>
                    <a:pt x="98027" y="314691"/>
                    <a:pt x="92261" y="306330"/>
                    <a:pt x="84023" y="301259"/>
                  </a:cubicBezTo>
                  <a:cubicBezTo>
                    <a:pt x="30616" y="268912"/>
                    <a:pt x="0" y="220393"/>
                    <a:pt x="0" y="168036"/>
                  </a:cubicBezTo>
                  <a:cubicBezTo>
                    <a:pt x="0" y="75383"/>
                    <a:pt x="95693" y="0"/>
                    <a:pt x="213353" y="0"/>
                  </a:cubicBezTo>
                  <a:close/>
                </a:path>
              </a:pathLst>
            </a:custGeom>
            <a:solidFill>
              <a:schemeClr val="bg1"/>
            </a:solidFill>
            <a:ln>
              <a:noFill/>
            </a:ln>
          </p:spPr>
          <p:txBody>
            <a:bodyPr vert="horz" wrap="square" lIns="91440" tIns="45720" rIns="91440" bIns="45720" numCol="1" anchor="t" anchorCtr="0" compatLnSpc="1">
              <a:normAutofit fontScale="6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23" name="iṧḷíde"/>
            <p:cNvSpPr/>
            <p:nvPr/>
          </p:nvSpPr>
          <p:spPr bwMode="auto">
            <a:xfrm>
              <a:off x="3875298" y="3251795"/>
              <a:ext cx="340948" cy="340433"/>
            </a:xfrm>
            <a:custGeom>
              <a:avLst/>
              <a:gdLst>
                <a:gd name="T0" fmla="*/ 3413 w 6827"/>
                <a:gd name="T1" fmla="*/ 0 h 6827"/>
                <a:gd name="T2" fmla="*/ 0 w 6827"/>
                <a:gd name="T3" fmla="*/ 3413 h 6827"/>
                <a:gd name="T4" fmla="*/ 3413 w 6827"/>
                <a:gd name="T5" fmla="*/ 6827 h 6827"/>
                <a:gd name="T6" fmla="*/ 6827 w 6827"/>
                <a:gd name="T7" fmla="*/ 3413 h 6827"/>
                <a:gd name="T8" fmla="*/ 3413 w 6827"/>
                <a:gd name="T9" fmla="*/ 0 h 6827"/>
                <a:gd name="T10" fmla="*/ 5017 w 6827"/>
                <a:gd name="T11" fmla="*/ 3033 h 6827"/>
                <a:gd name="T12" fmla="*/ 3431 w 6827"/>
                <a:gd name="T13" fmla="*/ 4619 h 6827"/>
                <a:gd name="T14" fmla="*/ 2802 w 6827"/>
                <a:gd name="T15" fmla="*/ 4619 h 6827"/>
                <a:gd name="T16" fmla="*/ 1884 w 6827"/>
                <a:gd name="T17" fmla="*/ 3701 h 6827"/>
                <a:gd name="T18" fmla="*/ 1884 w 6827"/>
                <a:gd name="T19" fmla="*/ 3072 h 6827"/>
                <a:gd name="T20" fmla="*/ 2514 w 6827"/>
                <a:gd name="T21" fmla="*/ 3072 h 6827"/>
                <a:gd name="T22" fmla="*/ 3117 w 6827"/>
                <a:gd name="T23" fmla="*/ 3674 h 6827"/>
                <a:gd name="T24" fmla="*/ 4387 w 6827"/>
                <a:gd name="T25" fmla="*/ 2404 h 6827"/>
                <a:gd name="T26" fmla="*/ 5017 w 6827"/>
                <a:gd name="T27" fmla="*/ 2404 h 6827"/>
                <a:gd name="T28" fmla="*/ 5017 w 6827"/>
                <a:gd name="T29" fmla="*/ 3033 h 6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827" h="6827">
                  <a:moveTo>
                    <a:pt x="3413" y="0"/>
                  </a:moveTo>
                  <a:cubicBezTo>
                    <a:pt x="1531" y="0"/>
                    <a:pt x="0" y="1531"/>
                    <a:pt x="0" y="3413"/>
                  </a:cubicBezTo>
                  <a:cubicBezTo>
                    <a:pt x="0" y="5295"/>
                    <a:pt x="1531" y="6827"/>
                    <a:pt x="3413" y="6827"/>
                  </a:cubicBezTo>
                  <a:cubicBezTo>
                    <a:pt x="5296" y="6827"/>
                    <a:pt x="6827" y="5295"/>
                    <a:pt x="6827" y="3413"/>
                  </a:cubicBezTo>
                  <a:cubicBezTo>
                    <a:pt x="6827" y="1531"/>
                    <a:pt x="5296" y="0"/>
                    <a:pt x="3413" y="0"/>
                  </a:cubicBezTo>
                  <a:close/>
                  <a:moveTo>
                    <a:pt x="5017" y="3033"/>
                  </a:moveTo>
                  <a:lnTo>
                    <a:pt x="3431" y="4619"/>
                  </a:lnTo>
                  <a:cubicBezTo>
                    <a:pt x="3257" y="4792"/>
                    <a:pt x="2976" y="4792"/>
                    <a:pt x="2802" y="4619"/>
                  </a:cubicBezTo>
                  <a:lnTo>
                    <a:pt x="1884" y="3701"/>
                  </a:lnTo>
                  <a:cubicBezTo>
                    <a:pt x="1710" y="3527"/>
                    <a:pt x="1710" y="3245"/>
                    <a:pt x="1884" y="3072"/>
                  </a:cubicBezTo>
                  <a:cubicBezTo>
                    <a:pt x="2058" y="2898"/>
                    <a:pt x="2340" y="2898"/>
                    <a:pt x="2514" y="3072"/>
                  </a:cubicBezTo>
                  <a:lnTo>
                    <a:pt x="3117" y="3674"/>
                  </a:lnTo>
                  <a:lnTo>
                    <a:pt x="4387" y="2404"/>
                  </a:lnTo>
                  <a:cubicBezTo>
                    <a:pt x="4561" y="2230"/>
                    <a:pt x="4843" y="2230"/>
                    <a:pt x="5017" y="2404"/>
                  </a:cubicBezTo>
                  <a:cubicBezTo>
                    <a:pt x="5190" y="2578"/>
                    <a:pt x="5190" y="2859"/>
                    <a:pt x="5017" y="3033"/>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24" name="ïslíḓé"/>
            <p:cNvSpPr/>
            <p:nvPr/>
          </p:nvSpPr>
          <p:spPr bwMode="auto">
            <a:xfrm>
              <a:off x="7360651" y="1810393"/>
              <a:ext cx="343455" cy="339662"/>
            </a:xfrm>
            <a:custGeom>
              <a:avLst/>
              <a:gdLst>
                <a:gd name="connsiteX0" fmla="*/ 466437 w 600511"/>
                <a:gd name="connsiteY0" fmla="*/ 421770 h 593879"/>
                <a:gd name="connsiteX1" fmla="*/ 504684 w 600511"/>
                <a:gd name="connsiteY1" fmla="*/ 459981 h 593879"/>
                <a:gd name="connsiteX2" fmla="*/ 466437 w 600511"/>
                <a:gd name="connsiteY2" fmla="*/ 498192 h 593879"/>
                <a:gd name="connsiteX3" fmla="*/ 428190 w 600511"/>
                <a:gd name="connsiteY3" fmla="*/ 459981 h 593879"/>
                <a:gd name="connsiteX4" fmla="*/ 466437 w 600511"/>
                <a:gd name="connsiteY4" fmla="*/ 421770 h 593879"/>
                <a:gd name="connsiteX5" fmla="*/ 453390 w 600511"/>
                <a:gd name="connsiteY5" fmla="*/ 375066 h 593879"/>
                <a:gd name="connsiteX6" fmla="*/ 421127 w 600511"/>
                <a:gd name="connsiteY6" fmla="*/ 386990 h 593879"/>
                <a:gd name="connsiteX7" fmla="*/ 418868 w 600511"/>
                <a:gd name="connsiteY7" fmla="*/ 392146 h 593879"/>
                <a:gd name="connsiteX8" fmla="*/ 424031 w 600511"/>
                <a:gd name="connsiteY8" fmla="*/ 406325 h 593879"/>
                <a:gd name="connsiteX9" fmla="*/ 423385 w 600511"/>
                <a:gd name="connsiteY9" fmla="*/ 411481 h 593879"/>
                <a:gd name="connsiteX10" fmla="*/ 416287 w 600511"/>
                <a:gd name="connsiteY10" fmla="*/ 413737 h 593879"/>
                <a:gd name="connsiteX11" fmla="*/ 402414 w 600511"/>
                <a:gd name="connsiteY11" fmla="*/ 407292 h 593879"/>
                <a:gd name="connsiteX12" fmla="*/ 397252 w 600511"/>
                <a:gd name="connsiteY12" fmla="*/ 409226 h 593879"/>
                <a:gd name="connsiteX13" fmla="*/ 383056 w 600511"/>
                <a:gd name="connsiteY13" fmla="*/ 440485 h 593879"/>
                <a:gd name="connsiteX14" fmla="*/ 384669 w 600511"/>
                <a:gd name="connsiteY14" fmla="*/ 445318 h 593879"/>
                <a:gd name="connsiteX15" fmla="*/ 398542 w 600511"/>
                <a:gd name="connsiteY15" fmla="*/ 451764 h 593879"/>
                <a:gd name="connsiteX16" fmla="*/ 401769 w 600511"/>
                <a:gd name="connsiteY16" fmla="*/ 455953 h 593879"/>
                <a:gd name="connsiteX17" fmla="*/ 398220 w 600511"/>
                <a:gd name="connsiteY17" fmla="*/ 462720 h 593879"/>
                <a:gd name="connsiteX18" fmla="*/ 384024 w 600511"/>
                <a:gd name="connsiteY18" fmla="*/ 467876 h 593879"/>
                <a:gd name="connsiteX19" fmla="*/ 381766 w 600511"/>
                <a:gd name="connsiteY19" fmla="*/ 472710 h 593879"/>
                <a:gd name="connsiteX20" fmla="*/ 393380 w 600511"/>
                <a:gd name="connsiteY20" fmla="*/ 504936 h 593879"/>
                <a:gd name="connsiteX21" fmla="*/ 398542 w 600511"/>
                <a:gd name="connsiteY21" fmla="*/ 507192 h 593879"/>
                <a:gd name="connsiteX22" fmla="*/ 412738 w 600511"/>
                <a:gd name="connsiteY22" fmla="*/ 502036 h 593879"/>
                <a:gd name="connsiteX23" fmla="*/ 417900 w 600511"/>
                <a:gd name="connsiteY23" fmla="*/ 502680 h 593879"/>
                <a:gd name="connsiteX24" fmla="*/ 420159 w 600511"/>
                <a:gd name="connsiteY24" fmla="*/ 510092 h 593879"/>
                <a:gd name="connsiteX25" fmla="*/ 413706 w 600511"/>
                <a:gd name="connsiteY25" fmla="*/ 523949 h 593879"/>
                <a:gd name="connsiteX26" fmla="*/ 415642 w 600511"/>
                <a:gd name="connsiteY26" fmla="*/ 528783 h 593879"/>
                <a:gd name="connsiteX27" fmla="*/ 446937 w 600511"/>
                <a:gd name="connsiteY27" fmla="*/ 543285 h 593879"/>
                <a:gd name="connsiteX28" fmla="*/ 451777 w 600511"/>
                <a:gd name="connsiteY28" fmla="*/ 541351 h 593879"/>
                <a:gd name="connsiteX29" fmla="*/ 458230 w 600511"/>
                <a:gd name="connsiteY29" fmla="*/ 527494 h 593879"/>
                <a:gd name="connsiteX30" fmla="*/ 462424 w 600511"/>
                <a:gd name="connsiteY30" fmla="*/ 524272 h 593879"/>
                <a:gd name="connsiteX31" fmla="*/ 469199 w 600511"/>
                <a:gd name="connsiteY31" fmla="*/ 528139 h 593879"/>
                <a:gd name="connsiteX32" fmla="*/ 474361 w 600511"/>
                <a:gd name="connsiteY32" fmla="*/ 542318 h 593879"/>
                <a:gd name="connsiteX33" fmla="*/ 479201 w 600511"/>
                <a:gd name="connsiteY33" fmla="*/ 544574 h 593879"/>
                <a:gd name="connsiteX34" fmla="*/ 511464 w 600511"/>
                <a:gd name="connsiteY34" fmla="*/ 532650 h 593879"/>
                <a:gd name="connsiteX35" fmla="*/ 513723 w 600511"/>
                <a:gd name="connsiteY35" fmla="*/ 527816 h 593879"/>
                <a:gd name="connsiteX36" fmla="*/ 508560 w 600511"/>
                <a:gd name="connsiteY36" fmla="*/ 513315 h 593879"/>
                <a:gd name="connsiteX37" fmla="*/ 509206 w 600511"/>
                <a:gd name="connsiteY37" fmla="*/ 508159 h 593879"/>
                <a:gd name="connsiteX38" fmla="*/ 516626 w 600511"/>
                <a:gd name="connsiteY38" fmla="*/ 506225 h 593879"/>
                <a:gd name="connsiteX39" fmla="*/ 530500 w 600511"/>
                <a:gd name="connsiteY39" fmla="*/ 512348 h 593879"/>
                <a:gd name="connsiteX40" fmla="*/ 535339 w 600511"/>
                <a:gd name="connsiteY40" fmla="*/ 510737 h 593879"/>
                <a:gd name="connsiteX41" fmla="*/ 549858 w 600511"/>
                <a:gd name="connsiteY41" fmla="*/ 479478 h 593879"/>
                <a:gd name="connsiteX42" fmla="*/ 547922 w 600511"/>
                <a:gd name="connsiteY42" fmla="*/ 474322 h 593879"/>
                <a:gd name="connsiteX43" fmla="*/ 534049 w 600511"/>
                <a:gd name="connsiteY43" fmla="*/ 467876 h 593879"/>
                <a:gd name="connsiteX44" fmla="*/ 531145 w 600511"/>
                <a:gd name="connsiteY44" fmla="*/ 461109 h 593879"/>
                <a:gd name="connsiteX45" fmla="*/ 534694 w 600511"/>
                <a:gd name="connsiteY45" fmla="*/ 457242 h 593879"/>
                <a:gd name="connsiteX46" fmla="*/ 548890 w 600511"/>
                <a:gd name="connsiteY46" fmla="*/ 451764 h 593879"/>
                <a:gd name="connsiteX47" fmla="*/ 551148 w 600511"/>
                <a:gd name="connsiteY47" fmla="*/ 446930 h 593879"/>
                <a:gd name="connsiteX48" fmla="*/ 539211 w 600511"/>
                <a:gd name="connsiteY48" fmla="*/ 414704 h 593879"/>
                <a:gd name="connsiteX49" fmla="*/ 534371 w 600511"/>
                <a:gd name="connsiteY49" fmla="*/ 412448 h 593879"/>
                <a:gd name="connsiteX50" fmla="*/ 520175 w 600511"/>
                <a:gd name="connsiteY50" fmla="*/ 417604 h 593879"/>
                <a:gd name="connsiteX51" fmla="*/ 514691 w 600511"/>
                <a:gd name="connsiteY51" fmla="*/ 416960 h 593879"/>
                <a:gd name="connsiteX52" fmla="*/ 512755 w 600511"/>
                <a:gd name="connsiteY52" fmla="*/ 409548 h 593879"/>
                <a:gd name="connsiteX53" fmla="*/ 518885 w 600511"/>
                <a:gd name="connsiteY53" fmla="*/ 396013 h 593879"/>
                <a:gd name="connsiteX54" fmla="*/ 516949 w 600511"/>
                <a:gd name="connsiteY54" fmla="*/ 390857 h 593879"/>
                <a:gd name="connsiteX55" fmla="*/ 485976 w 600511"/>
                <a:gd name="connsiteY55" fmla="*/ 376355 h 593879"/>
                <a:gd name="connsiteX56" fmla="*/ 480814 w 600511"/>
                <a:gd name="connsiteY56" fmla="*/ 378289 h 593879"/>
                <a:gd name="connsiteX57" fmla="*/ 474361 w 600511"/>
                <a:gd name="connsiteY57" fmla="*/ 392146 h 593879"/>
                <a:gd name="connsiteX58" fmla="*/ 470167 w 600511"/>
                <a:gd name="connsiteY58" fmla="*/ 395368 h 593879"/>
                <a:gd name="connsiteX59" fmla="*/ 463714 w 600511"/>
                <a:gd name="connsiteY59" fmla="*/ 391824 h 593879"/>
                <a:gd name="connsiteX60" fmla="*/ 458230 w 600511"/>
                <a:gd name="connsiteY60" fmla="*/ 377322 h 593879"/>
                <a:gd name="connsiteX61" fmla="*/ 453390 w 600511"/>
                <a:gd name="connsiteY61" fmla="*/ 375066 h 593879"/>
                <a:gd name="connsiteX62" fmla="*/ 0 w 600511"/>
                <a:gd name="connsiteY62" fmla="*/ 372515 h 593879"/>
                <a:gd name="connsiteX63" fmla="*/ 233292 w 600511"/>
                <a:gd name="connsiteY63" fmla="*/ 465626 h 593879"/>
                <a:gd name="connsiteX64" fmla="*/ 305248 w 600511"/>
                <a:gd name="connsiteY64" fmla="*/ 461116 h 593879"/>
                <a:gd name="connsiteX65" fmla="*/ 332998 w 600511"/>
                <a:gd name="connsiteY65" fmla="*/ 549716 h 593879"/>
                <a:gd name="connsiteX66" fmla="*/ 233292 w 600511"/>
                <a:gd name="connsiteY66" fmla="*/ 558737 h 593879"/>
                <a:gd name="connsiteX67" fmla="*/ 0 w 600511"/>
                <a:gd name="connsiteY67" fmla="*/ 465626 h 593879"/>
                <a:gd name="connsiteX68" fmla="*/ 466295 w 600511"/>
                <a:gd name="connsiteY68" fmla="*/ 326083 h 593879"/>
                <a:gd name="connsiteX69" fmla="*/ 600511 w 600511"/>
                <a:gd name="connsiteY69" fmla="*/ 459820 h 593879"/>
                <a:gd name="connsiteX70" fmla="*/ 466295 w 600511"/>
                <a:gd name="connsiteY70" fmla="*/ 593879 h 593879"/>
                <a:gd name="connsiteX71" fmla="*/ 332080 w 600511"/>
                <a:gd name="connsiteY71" fmla="*/ 459820 h 593879"/>
                <a:gd name="connsiteX72" fmla="*/ 466295 w 600511"/>
                <a:gd name="connsiteY72" fmla="*/ 326083 h 593879"/>
                <a:gd name="connsiteX73" fmla="*/ 0 w 600511"/>
                <a:gd name="connsiteY73" fmla="*/ 232654 h 593879"/>
                <a:gd name="connsiteX74" fmla="*/ 233309 w 600511"/>
                <a:gd name="connsiteY74" fmla="*/ 326103 h 593879"/>
                <a:gd name="connsiteX75" fmla="*/ 466296 w 600511"/>
                <a:gd name="connsiteY75" fmla="*/ 232654 h 593879"/>
                <a:gd name="connsiteX76" fmla="*/ 466296 w 600511"/>
                <a:gd name="connsiteY76" fmla="*/ 299035 h 593879"/>
                <a:gd name="connsiteX77" fmla="*/ 312370 w 600511"/>
                <a:gd name="connsiteY77" fmla="*/ 413429 h 593879"/>
                <a:gd name="connsiteX78" fmla="*/ 233309 w 600511"/>
                <a:gd name="connsiteY78" fmla="*/ 419229 h 593879"/>
                <a:gd name="connsiteX79" fmla="*/ 0 w 600511"/>
                <a:gd name="connsiteY79" fmla="*/ 326103 h 593879"/>
                <a:gd name="connsiteX80" fmla="*/ 233309 w 600511"/>
                <a:gd name="connsiteY80" fmla="*/ 23200 h 593879"/>
                <a:gd name="connsiteX81" fmla="*/ 23234 w 600511"/>
                <a:gd name="connsiteY81" fmla="*/ 93123 h 593879"/>
                <a:gd name="connsiteX82" fmla="*/ 233309 w 600511"/>
                <a:gd name="connsiteY82" fmla="*/ 163046 h 593879"/>
                <a:gd name="connsiteX83" fmla="*/ 443062 w 600511"/>
                <a:gd name="connsiteY83" fmla="*/ 93123 h 593879"/>
                <a:gd name="connsiteX84" fmla="*/ 233309 w 600511"/>
                <a:gd name="connsiteY84" fmla="*/ 23200 h 593879"/>
                <a:gd name="connsiteX85" fmla="*/ 233309 w 600511"/>
                <a:gd name="connsiteY85" fmla="*/ 0 h 593879"/>
                <a:gd name="connsiteX86" fmla="*/ 466296 w 600511"/>
                <a:gd name="connsiteY86" fmla="*/ 93123 h 593879"/>
                <a:gd name="connsiteX87" fmla="*/ 466296 w 600511"/>
                <a:gd name="connsiteY87" fmla="*/ 186246 h 593879"/>
                <a:gd name="connsiteX88" fmla="*/ 233309 w 600511"/>
                <a:gd name="connsiteY88" fmla="*/ 279369 h 593879"/>
                <a:gd name="connsiteX89" fmla="*/ 0 w 600511"/>
                <a:gd name="connsiteY89" fmla="*/ 186246 h 593879"/>
                <a:gd name="connsiteX90" fmla="*/ 0 w 600511"/>
                <a:gd name="connsiteY90" fmla="*/ 93123 h 593879"/>
                <a:gd name="connsiteX91" fmla="*/ 233309 w 600511"/>
                <a:gd name="connsiteY91" fmla="*/ 0 h 59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600511" h="593879">
                  <a:moveTo>
                    <a:pt x="466437" y="421770"/>
                  </a:moveTo>
                  <a:cubicBezTo>
                    <a:pt x="487560" y="421770"/>
                    <a:pt x="504684" y="438878"/>
                    <a:pt x="504684" y="459981"/>
                  </a:cubicBezTo>
                  <a:cubicBezTo>
                    <a:pt x="504684" y="481084"/>
                    <a:pt x="487560" y="498192"/>
                    <a:pt x="466437" y="498192"/>
                  </a:cubicBezTo>
                  <a:cubicBezTo>
                    <a:pt x="445314" y="498192"/>
                    <a:pt x="428190" y="481084"/>
                    <a:pt x="428190" y="459981"/>
                  </a:cubicBezTo>
                  <a:cubicBezTo>
                    <a:pt x="428190" y="438878"/>
                    <a:pt x="445314" y="421770"/>
                    <a:pt x="466437" y="421770"/>
                  </a:cubicBezTo>
                  <a:close/>
                  <a:moveTo>
                    <a:pt x="453390" y="375066"/>
                  </a:moveTo>
                  <a:lnTo>
                    <a:pt x="421127" y="386990"/>
                  </a:lnTo>
                  <a:cubicBezTo>
                    <a:pt x="419191" y="387957"/>
                    <a:pt x="418223" y="389890"/>
                    <a:pt x="418868" y="392146"/>
                  </a:cubicBezTo>
                  <a:lnTo>
                    <a:pt x="424031" y="406325"/>
                  </a:lnTo>
                  <a:cubicBezTo>
                    <a:pt x="424998" y="408259"/>
                    <a:pt x="424676" y="410515"/>
                    <a:pt x="423385" y="411481"/>
                  </a:cubicBezTo>
                  <a:cubicBezTo>
                    <a:pt x="422417" y="412448"/>
                    <a:pt x="418223" y="414382"/>
                    <a:pt x="416287" y="413737"/>
                  </a:cubicBezTo>
                  <a:lnTo>
                    <a:pt x="402414" y="407292"/>
                  </a:lnTo>
                  <a:cubicBezTo>
                    <a:pt x="400478" y="406325"/>
                    <a:pt x="398220" y="407292"/>
                    <a:pt x="397252" y="409226"/>
                  </a:cubicBezTo>
                  <a:lnTo>
                    <a:pt x="383056" y="440485"/>
                  </a:lnTo>
                  <a:cubicBezTo>
                    <a:pt x="382088" y="442096"/>
                    <a:pt x="383056" y="444674"/>
                    <a:pt x="384669" y="445318"/>
                  </a:cubicBezTo>
                  <a:lnTo>
                    <a:pt x="398542" y="451764"/>
                  </a:lnTo>
                  <a:cubicBezTo>
                    <a:pt x="400478" y="452730"/>
                    <a:pt x="402091" y="454664"/>
                    <a:pt x="401769" y="455953"/>
                  </a:cubicBezTo>
                  <a:cubicBezTo>
                    <a:pt x="401769" y="457564"/>
                    <a:pt x="400156" y="462076"/>
                    <a:pt x="398220" y="462720"/>
                  </a:cubicBezTo>
                  <a:lnTo>
                    <a:pt x="384024" y="467876"/>
                  </a:lnTo>
                  <a:cubicBezTo>
                    <a:pt x="382088" y="468521"/>
                    <a:pt x="381120" y="470777"/>
                    <a:pt x="381766" y="472710"/>
                  </a:cubicBezTo>
                  <a:lnTo>
                    <a:pt x="393380" y="504936"/>
                  </a:lnTo>
                  <a:cubicBezTo>
                    <a:pt x="394348" y="506870"/>
                    <a:pt x="396607" y="507836"/>
                    <a:pt x="398542" y="507192"/>
                  </a:cubicBezTo>
                  <a:lnTo>
                    <a:pt x="412738" y="502036"/>
                  </a:lnTo>
                  <a:cubicBezTo>
                    <a:pt x="414674" y="501391"/>
                    <a:pt x="417255" y="501713"/>
                    <a:pt x="417900" y="502680"/>
                  </a:cubicBezTo>
                  <a:cubicBezTo>
                    <a:pt x="418868" y="503969"/>
                    <a:pt x="421127" y="508159"/>
                    <a:pt x="420159" y="510092"/>
                  </a:cubicBezTo>
                  <a:lnTo>
                    <a:pt x="413706" y="523949"/>
                  </a:lnTo>
                  <a:cubicBezTo>
                    <a:pt x="412738" y="525561"/>
                    <a:pt x="413706" y="527816"/>
                    <a:pt x="415642" y="528783"/>
                  </a:cubicBezTo>
                  <a:lnTo>
                    <a:pt x="446937" y="543285"/>
                  </a:lnTo>
                  <a:cubicBezTo>
                    <a:pt x="448873" y="544251"/>
                    <a:pt x="451132" y="543285"/>
                    <a:pt x="451777" y="541351"/>
                  </a:cubicBezTo>
                  <a:lnTo>
                    <a:pt x="458230" y="527494"/>
                  </a:lnTo>
                  <a:cubicBezTo>
                    <a:pt x="459198" y="525561"/>
                    <a:pt x="461133" y="524272"/>
                    <a:pt x="462424" y="524272"/>
                  </a:cubicBezTo>
                  <a:cubicBezTo>
                    <a:pt x="464037" y="524272"/>
                    <a:pt x="468554" y="525883"/>
                    <a:pt x="469199" y="528139"/>
                  </a:cubicBezTo>
                  <a:lnTo>
                    <a:pt x="474361" y="542318"/>
                  </a:lnTo>
                  <a:cubicBezTo>
                    <a:pt x="475007" y="544251"/>
                    <a:pt x="477265" y="545218"/>
                    <a:pt x="479201" y="544574"/>
                  </a:cubicBezTo>
                  <a:lnTo>
                    <a:pt x="511464" y="532650"/>
                  </a:lnTo>
                  <a:cubicBezTo>
                    <a:pt x="513400" y="532006"/>
                    <a:pt x="514368" y="529750"/>
                    <a:pt x="513723" y="527816"/>
                  </a:cubicBezTo>
                  <a:lnTo>
                    <a:pt x="508560" y="513315"/>
                  </a:lnTo>
                  <a:cubicBezTo>
                    <a:pt x="507915" y="511381"/>
                    <a:pt x="508238" y="509125"/>
                    <a:pt x="509206" y="508159"/>
                  </a:cubicBezTo>
                  <a:cubicBezTo>
                    <a:pt x="510496" y="507192"/>
                    <a:pt x="514691" y="505258"/>
                    <a:pt x="516626" y="506225"/>
                  </a:cubicBezTo>
                  <a:lnTo>
                    <a:pt x="530500" y="512348"/>
                  </a:lnTo>
                  <a:cubicBezTo>
                    <a:pt x="532435" y="513315"/>
                    <a:pt x="534694" y="512348"/>
                    <a:pt x="535339" y="510737"/>
                  </a:cubicBezTo>
                  <a:lnTo>
                    <a:pt x="549858" y="479478"/>
                  </a:lnTo>
                  <a:cubicBezTo>
                    <a:pt x="550825" y="477544"/>
                    <a:pt x="549858" y="475288"/>
                    <a:pt x="547922" y="474322"/>
                  </a:cubicBezTo>
                  <a:lnTo>
                    <a:pt x="534049" y="467876"/>
                  </a:lnTo>
                  <a:cubicBezTo>
                    <a:pt x="532113" y="467232"/>
                    <a:pt x="531145" y="462398"/>
                    <a:pt x="531145" y="461109"/>
                  </a:cubicBezTo>
                  <a:cubicBezTo>
                    <a:pt x="531145" y="459498"/>
                    <a:pt x="532435" y="457886"/>
                    <a:pt x="534694" y="457242"/>
                  </a:cubicBezTo>
                  <a:lnTo>
                    <a:pt x="548890" y="451764"/>
                  </a:lnTo>
                  <a:cubicBezTo>
                    <a:pt x="550825" y="451119"/>
                    <a:pt x="551793" y="448863"/>
                    <a:pt x="551148" y="446930"/>
                  </a:cubicBezTo>
                  <a:lnTo>
                    <a:pt x="539211" y="414704"/>
                  </a:lnTo>
                  <a:cubicBezTo>
                    <a:pt x="538565" y="412770"/>
                    <a:pt x="536307" y="411804"/>
                    <a:pt x="534371" y="412448"/>
                  </a:cubicBezTo>
                  <a:lnTo>
                    <a:pt x="520175" y="417604"/>
                  </a:lnTo>
                  <a:cubicBezTo>
                    <a:pt x="517917" y="418571"/>
                    <a:pt x="515658" y="418249"/>
                    <a:pt x="514691" y="416960"/>
                  </a:cubicBezTo>
                  <a:cubicBezTo>
                    <a:pt x="513723" y="415993"/>
                    <a:pt x="511787" y="411481"/>
                    <a:pt x="512755" y="409548"/>
                  </a:cubicBezTo>
                  <a:lnTo>
                    <a:pt x="518885" y="396013"/>
                  </a:lnTo>
                  <a:cubicBezTo>
                    <a:pt x="519853" y="394079"/>
                    <a:pt x="518885" y="391824"/>
                    <a:pt x="516949" y="390857"/>
                  </a:cubicBezTo>
                  <a:lnTo>
                    <a:pt x="485976" y="376355"/>
                  </a:lnTo>
                  <a:cubicBezTo>
                    <a:pt x="484040" y="375711"/>
                    <a:pt x="481782" y="376355"/>
                    <a:pt x="480814" y="378289"/>
                  </a:cubicBezTo>
                  <a:lnTo>
                    <a:pt x="474361" y="392146"/>
                  </a:lnTo>
                  <a:cubicBezTo>
                    <a:pt x="473716" y="394079"/>
                    <a:pt x="471780" y="395691"/>
                    <a:pt x="470167" y="395368"/>
                  </a:cubicBezTo>
                  <a:cubicBezTo>
                    <a:pt x="468877" y="395368"/>
                    <a:pt x="464360" y="393757"/>
                    <a:pt x="463714" y="391824"/>
                  </a:cubicBezTo>
                  <a:lnTo>
                    <a:pt x="458230" y="377322"/>
                  </a:lnTo>
                  <a:cubicBezTo>
                    <a:pt x="457584" y="375389"/>
                    <a:pt x="455326" y="374422"/>
                    <a:pt x="453390" y="375066"/>
                  </a:cubicBezTo>
                  <a:close/>
                  <a:moveTo>
                    <a:pt x="0" y="372515"/>
                  </a:moveTo>
                  <a:cubicBezTo>
                    <a:pt x="0" y="424064"/>
                    <a:pt x="104223" y="465626"/>
                    <a:pt x="233292" y="465626"/>
                  </a:cubicBezTo>
                  <a:cubicBezTo>
                    <a:pt x="258461" y="465626"/>
                    <a:pt x="282661" y="464015"/>
                    <a:pt x="305248" y="461116"/>
                  </a:cubicBezTo>
                  <a:cubicBezTo>
                    <a:pt x="305571" y="493978"/>
                    <a:pt x="315574" y="524264"/>
                    <a:pt x="332998" y="549716"/>
                  </a:cubicBezTo>
                  <a:cubicBezTo>
                    <a:pt x="302667" y="555515"/>
                    <a:pt x="268786" y="558737"/>
                    <a:pt x="233292" y="558737"/>
                  </a:cubicBezTo>
                  <a:cubicBezTo>
                    <a:pt x="104546" y="558737"/>
                    <a:pt x="0" y="517175"/>
                    <a:pt x="0" y="465626"/>
                  </a:cubicBezTo>
                  <a:close/>
                  <a:moveTo>
                    <a:pt x="466295" y="326083"/>
                  </a:moveTo>
                  <a:cubicBezTo>
                    <a:pt x="540501" y="326083"/>
                    <a:pt x="600511" y="386023"/>
                    <a:pt x="600511" y="459820"/>
                  </a:cubicBezTo>
                  <a:cubicBezTo>
                    <a:pt x="600511" y="533939"/>
                    <a:pt x="540501" y="593879"/>
                    <a:pt x="466295" y="593879"/>
                  </a:cubicBezTo>
                  <a:cubicBezTo>
                    <a:pt x="392412" y="593879"/>
                    <a:pt x="332080" y="533939"/>
                    <a:pt x="332080" y="459820"/>
                  </a:cubicBezTo>
                  <a:cubicBezTo>
                    <a:pt x="332080" y="386023"/>
                    <a:pt x="392412" y="326083"/>
                    <a:pt x="466295" y="326083"/>
                  </a:cubicBezTo>
                  <a:close/>
                  <a:moveTo>
                    <a:pt x="0" y="232654"/>
                  </a:moveTo>
                  <a:cubicBezTo>
                    <a:pt x="0" y="284212"/>
                    <a:pt x="104554" y="326103"/>
                    <a:pt x="233309" y="326103"/>
                  </a:cubicBezTo>
                  <a:cubicBezTo>
                    <a:pt x="362065" y="326103"/>
                    <a:pt x="466296" y="284212"/>
                    <a:pt x="466296" y="232654"/>
                  </a:cubicBezTo>
                  <a:lnTo>
                    <a:pt x="466296" y="299035"/>
                  </a:lnTo>
                  <a:cubicBezTo>
                    <a:pt x="393689" y="299035"/>
                    <a:pt x="332377" y="347370"/>
                    <a:pt x="312370" y="413429"/>
                  </a:cubicBezTo>
                  <a:cubicBezTo>
                    <a:pt x="287522" y="416973"/>
                    <a:pt x="261061" y="419229"/>
                    <a:pt x="233309" y="419229"/>
                  </a:cubicBezTo>
                  <a:cubicBezTo>
                    <a:pt x="104231" y="419229"/>
                    <a:pt x="0" y="377338"/>
                    <a:pt x="0" y="326103"/>
                  </a:cubicBezTo>
                  <a:close/>
                  <a:moveTo>
                    <a:pt x="233309" y="23200"/>
                  </a:moveTo>
                  <a:cubicBezTo>
                    <a:pt x="105199" y="23200"/>
                    <a:pt x="23234" y="64445"/>
                    <a:pt x="23234" y="93123"/>
                  </a:cubicBezTo>
                  <a:cubicBezTo>
                    <a:pt x="23234" y="121479"/>
                    <a:pt x="105199" y="163046"/>
                    <a:pt x="233309" y="163046"/>
                  </a:cubicBezTo>
                  <a:cubicBezTo>
                    <a:pt x="361420" y="163046"/>
                    <a:pt x="443062" y="121479"/>
                    <a:pt x="443062" y="93123"/>
                  </a:cubicBezTo>
                  <a:cubicBezTo>
                    <a:pt x="443062" y="64445"/>
                    <a:pt x="361420" y="23200"/>
                    <a:pt x="233309" y="23200"/>
                  </a:cubicBezTo>
                  <a:close/>
                  <a:moveTo>
                    <a:pt x="233309" y="0"/>
                  </a:moveTo>
                  <a:cubicBezTo>
                    <a:pt x="362065" y="0"/>
                    <a:pt x="466296" y="41567"/>
                    <a:pt x="466296" y="93123"/>
                  </a:cubicBezTo>
                  <a:lnTo>
                    <a:pt x="466296" y="186246"/>
                  </a:lnTo>
                  <a:cubicBezTo>
                    <a:pt x="466296" y="237802"/>
                    <a:pt x="362065" y="279369"/>
                    <a:pt x="233309" y="279369"/>
                  </a:cubicBezTo>
                  <a:cubicBezTo>
                    <a:pt x="104231" y="279369"/>
                    <a:pt x="0" y="237802"/>
                    <a:pt x="0" y="186246"/>
                  </a:cubicBezTo>
                  <a:lnTo>
                    <a:pt x="0" y="93123"/>
                  </a:lnTo>
                  <a:cubicBezTo>
                    <a:pt x="0" y="41567"/>
                    <a:pt x="104554" y="0"/>
                    <a:pt x="233309"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25" name="iṩļîḋè"/>
            <p:cNvSpPr/>
            <p:nvPr/>
          </p:nvSpPr>
          <p:spPr bwMode="auto">
            <a:xfrm>
              <a:off x="4472794" y="4737435"/>
              <a:ext cx="342202" cy="258842"/>
            </a:xfrm>
            <a:custGeom>
              <a:avLst/>
              <a:gdLst>
                <a:gd name="connsiteX0" fmla="*/ 303150 w 606298"/>
                <a:gd name="connsiteY0" fmla="*/ 172180 h 458605"/>
                <a:gd name="connsiteX1" fmla="*/ 409775 w 606298"/>
                <a:gd name="connsiteY1" fmla="*/ 278664 h 458605"/>
                <a:gd name="connsiteX2" fmla="*/ 303150 w 606298"/>
                <a:gd name="connsiteY2" fmla="*/ 385148 h 458605"/>
                <a:gd name="connsiteX3" fmla="*/ 196525 w 606298"/>
                <a:gd name="connsiteY3" fmla="*/ 278664 h 458605"/>
                <a:gd name="connsiteX4" fmla="*/ 303150 w 606298"/>
                <a:gd name="connsiteY4" fmla="*/ 172180 h 458605"/>
                <a:gd name="connsiteX5" fmla="*/ 303149 w 606298"/>
                <a:gd name="connsiteY5" fmla="*/ 131787 h 458605"/>
                <a:gd name="connsiteX6" fmla="*/ 156060 w 606298"/>
                <a:gd name="connsiteY6" fmla="*/ 278654 h 458605"/>
                <a:gd name="connsiteX7" fmla="*/ 303149 w 606298"/>
                <a:gd name="connsiteY7" fmla="*/ 425430 h 458605"/>
                <a:gd name="connsiteX8" fmla="*/ 450147 w 606298"/>
                <a:gd name="connsiteY8" fmla="*/ 278654 h 458605"/>
                <a:gd name="connsiteX9" fmla="*/ 303149 w 606298"/>
                <a:gd name="connsiteY9" fmla="*/ 131787 h 458605"/>
                <a:gd name="connsiteX10" fmla="*/ 72767 w 606298"/>
                <a:gd name="connsiteY10" fmla="*/ 60502 h 458605"/>
                <a:gd name="connsiteX11" fmla="*/ 60593 w 606298"/>
                <a:gd name="connsiteY11" fmla="*/ 72657 h 458605"/>
                <a:gd name="connsiteX12" fmla="*/ 60593 w 606298"/>
                <a:gd name="connsiteY12" fmla="*/ 98155 h 458605"/>
                <a:gd name="connsiteX13" fmla="*/ 165762 w 606298"/>
                <a:gd name="connsiteY13" fmla="*/ 98155 h 458605"/>
                <a:gd name="connsiteX14" fmla="*/ 165762 w 606298"/>
                <a:gd name="connsiteY14" fmla="*/ 72657 h 458605"/>
                <a:gd name="connsiteX15" fmla="*/ 153588 w 606298"/>
                <a:gd name="connsiteY15" fmla="*/ 60502 h 458605"/>
                <a:gd name="connsiteX16" fmla="*/ 72767 w 606298"/>
                <a:gd name="connsiteY16" fmla="*/ 0 h 458605"/>
                <a:gd name="connsiteX17" fmla="*/ 153588 w 606298"/>
                <a:gd name="connsiteY17" fmla="*/ 0 h 458605"/>
                <a:gd name="connsiteX18" fmla="*/ 226355 w 606298"/>
                <a:gd name="connsiteY18" fmla="*/ 72657 h 458605"/>
                <a:gd name="connsiteX19" fmla="*/ 226355 w 606298"/>
                <a:gd name="connsiteY19" fmla="*/ 98612 h 458605"/>
                <a:gd name="connsiteX20" fmla="*/ 417654 w 606298"/>
                <a:gd name="connsiteY20" fmla="*/ 98612 h 458605"/>
                <a:gd name="connsiteX21" fmla="*/ 417654 w 606298"/>
                <a:gd name="connsiteY21" fmla="*/ 74119 h 458605"/>
                <a:gd name="connsiteX22" fmla="*/ 449781 w 606298"/>
                <a:gd name="connsiteY22" fmla="*/ 42041 h 458605"/>
                <a:gd name="connsiteX23" fmla="*/ 506713 w 606298"/>
                <a:gd name="connsiteY23" fmla="*/ 42041 h 458605"/>
                <a:gd name="connsiteX24" fmla="*/ 538932 w 606298"/>
                <a:gd name="connsiteY24" fmla="*/ 74119 h 458605"/>
                <a:gd name="connsiteX25" fmla="*/ 538932 w 606298"/>
                <a:gd name="connsiteY25" fmla="*/ 98612 h 458605"/>
                <a:gd name="connsiteX26" fmla="*/ 546712 w 606298"/>
                <a:gd name="connsiteY26" fmla="*/ 98612 h 458605"/>
                <a:gd name="connsiteX27" fmla="*/ 606298 w 606298"/>
                <a:gd name="connsiteY27" fmla="*/ 158108 h 458605"/>
                <a:gd name="connsiteX28" fmla="*/ 606298 w 606298"/>
                <a:gd name="connsiteY28" fmla="*/ 399109 h 458605"/>
                <a:gd name="connsiteX29" fmla="*/ 546712 w 606298"/>
                <a:gd name="connsiteY29" fmla="*/ 458605 h 458605"/>
                <a:gd name="connsiteX30" fmla="*/ 59495 w 606298"/>
                <a:gd name="connsiteY30" fmla="*/ 458605 h 458605"/>
                <a:gd name="connsiteX31" fmla="*/ 0 w 606298"/>
                <a:gd name="connsiteY31" fmla="*/ 399109 h 458605"/>
                <a:gd name="connsiteX32" fmla="*/ 0 w 606298"/>
                <a:gd name="connsiteY32" fmla="*/ 72657 h 458605"/>
                <a:gd name="connsiteX33" fmla="*/ 72767 w 606298"/>
                <a:gd name="connsiteY33" fmla="*/ 0 h 458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06298" h="458605">
                  <a:moveTo>
                    <a:pt x="303150" y="172180"/>
                  </a:moveTo>
                  <a:cubicBezTo>
                    <a:pt x="362037" y="172180"/>
                    <a:pt x="409775" y="219855"/>
                    <a:pt x="409775" y="278664"/>
                  </a:cubicBezTo>
                  <a:cubicBezTo>
                    <a:pt x="409775" y="337473"/>
                    <a:pt x="362037" y="385148"/>
                    <a:pt x="303150" y="385148"/>
                  </a:cubicBezTo>
                  <a:cubicBezTo>
                    <a:pt x="244263" y="385148"/>
                    <a:pt x="196525" y="337473"/>
                    <a:pt x="196525" y="278664"/>
                  </a:cubicBezTo>
                  <a:cubicBezTo>
                    <a:pt x="196525" y="219855"/>
                    <a:pt x="244263" y="172180"/>
                    <a:pt x="303150" y="172180"/>
                  </a:cubicBezTo>
                  <a:close/>
                  <a:moveTo>
                    <a:pt x="303149" y="131787"/>
                  </a:moveTo>
                  <a:cubicBezTo>
                    <a:pt x="222053" y="131787"/>
                    <a:pt x="156060" y="197681"/>
                    <a:pt x="156060" y="278654"/>
                  </a:cubicBezTo>
                  <a:cubicBezTo>
                    <a:pt x="156060" y="359536"/>
                    <a:pt x="222053" y="425430"/>
                    <a:pt x="303149" y="425430"/>
                  </a:cubicBezTo>
                  <a:cubicBezTo>
                    <a:pt x="384245" y="425430"/>
                    <a:pt x="450147" y="359536"/>
                    <a:pt x="450147" y="278654"/>
                  </a:cubicBezTo>
                  <a:cubicBezTo>
                    <a:pt x="450147" y="197681"/>
                    <a:pt x="384245" y="131787"/>
                    <a:pt x="303149" y="131787"/>
                  </a:cubicBezTo>
                  <a:close/>
                  <a:moveTo>
                    <a:pt x="72767" y="60502"/>
                  </a:moveTo>
                  <a:cubicBezTo>
                    <a:pt x="66085" y="60502"/>
                    <a:pt x="60593" y="65985"/>
                    <a:pt x="60593" y="72657"/>
                  </a:cubicBezTo>
                  <a:lnTo>
                    <a:pt x="60593" y="98155"/>
                  </a:lnTo>
                  <a:lnTo>
                    <a:pt x="165762" y="98155"/>
                  </a:lnTo>
                  <a:lnTo>
                    <a:pt x="165762" y="72657"/>
                  </a:lnTo>
                  <a:cubicBezTo>
                    <a:pt x="165762" y="65985"/>
                    <a:pt x="160270" y="60502"/>
                    <a:pt x="153588" y="60502"/>
                  </a:cubicBezTo>
                  <a:close/>
                  <a:moveTo>
                    <a:pt x="72767" y="0"/>
                  </a:moveTo>
                  <a:lnTo>
                    <a:pt x="153588" y="0"/>
                  </a:lnTo>
                  <a:cubicBezTo>
                    <a:pt x="193770" y="0"/>
                    <a:pt x="226355" y="32536"/>
                    <a:pt x="226355" y="72657"/>
                  </a:cubicBezTo>
                  <a:lnTo>
                    <a:pt x="226355" y="98612"/>
                  </a:lnTo>
                  <a:lnTo>
                    <a:pt x="417654" y="98612"/>
                  </a:lnTo>
                  <a:lnTo>
                    <a:pt x="417654" y="74119"/>
                  </a:lnTo>
                  <a:cubicBezTo>
                    <a:pt x="417654" y="56389"/>
                    <a:pt x="432024" y="42041"/>
                    <a:pt x="449781" y="42041"/>
                  </a:cubicBezTo>
                  <a:lnTo>
                    <a:pt x="506713" y="42041"/>
                  </a:lnTo>
                  <a:cubicBezTo>
                    <a:pt x="524561" y="42041"/>
                    <a:pt x="538932" y="56389"/>
                    <a:pt x="538932" y="74119"/>
                  </a:cubicBezTo>
                  <a:lnTo>
                    <a:pt x="538932" y="98612"/>
                  </a:lnTo>
                  <a:lnTo>
                    <a:pt x="546712" y="98612"/>
                  </a:lnTo>
                  <a:cubicBezTo>
                    <a:pt x="579571" y="98612"/>
                    <a:pt x="606298" y="125299"/>
                    <a:pt x="606298" y="158108"/>
                  </a:cubicBezTo>
                  <a:lnTo>
                    <a:pt x="606298" y="399109"/>
                  </a:lnTo>
                  <a:cubicBezTo>
                    <a:pt x="606298" y="431919"/>
                    <a:pt x="579571" y="458605"/>
                    <a:pt x="546712" y="458605"/>
                  </a:cubicBezTo>
                  <a:lnTo>
                    <a:pt x="59495" y="458605"/>
                  </a:lnTo>
                  <a:cubicBezTo>
                    <a:pt x="26635" y="458605"/>
                    <a:pt x="0" y="431919"/>
                    <a:pt x="0" y="399109"/>
                  </a:cubicBezTo>
                  <a:lnTo>
                    <a:pt x="0" y="72657"/>
                  </a:lnTo>
                  <a:cubicBezTo>
                    <a:pt x="0" y="32536"/>
                    <a:pt x="32585" y="0"/>
                    <a:pt x="72767" y="0"/>
                  </a:cubicBezTo>
                  <a:close/>
                </a:path>
              </a:pathLst>
            </a:custGeom>
            <a:solidFill>
              <a:schemeClr val="bg1"/>
            </a:solidFill>
            <a:ln>
              <a:noFill/>
            </a:ln>
          </p:spPr>
          <p:txBody>
            <a:bodyPr vert="horz" wrap="square" lIns="91440" tIns="45720" rIns="91440" bIns="45720" numCol="1" anchor="t" anchorCtr="0" compatLnSpc="1">
              <a:normAutofit fontScale="700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26" name="îṩļiḓè"/>
            <p:cNvSpPr/>
            <p:nvPr/>
          </p:nvSpPr>
          <p:spPr>
            <a:xfrm>
              <a:off x="706927" y="1583168"/>
              <a:ext cx="3486182" cy="965402"/>
            </a:xfrm>
            <a:prstGeom prst="rect">
              <a:avLst/>
            </a:prstGeom>
          </p:spPr>
          <p:txBody>
            <a:bodyPr wrap="square" lIns="91440" tIns="45720" rIns="91440" bIns="45720" anchor="ctr" anchorCtr="0">
              <a:normAutofit/>
            </a:bodyPr>
            <a:lstStyle/>
            <a:p>
              <a:pPr marL="457200" indent="-457200">
                <a:lnSpc>
                  <a:spcPct val="123000"/>
                </a:lnSpc>
                <a:spcBef>
                  <a:spcPts val="600"/>
                </a:spcBef>
                <a:buClr>
                  <a:srgbClr val="0000FF"/>
                </a:buClr>
                <a:buFont typeface="+mj-ea"/>
                <a:buAutoNum type="circleNumDbPlain"/>
              </a:pPr>
              <a:r>
                <a:rPr lang="zh-CN"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窃取尚未清除的有用信息</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7" name="ïṣľîḋê"/>
            <p:cNvSpPr/>
            <p:nvPr/>
          </p:nvSpPr>
          <p:spPr>
            <a:xfrm>
              <a:off x="8072999" y="1535166"/>
              <a:ext cx="3840558" cy="1079558"/>
            </a:xfrm>
            <a:prstGeom prst="rect">
              <a:avLst/>
            </a:prstGeom>
          </p:spPr>
          <p:txBody>
            <a:bodyPr wrap="square" lIns="91440" tIns="45720" rIns="91440" bIns="45720" anchor="ctr" anchorCtr="0">
              <a:normAutofit/>
            </a:bodyPr>
            <a:lstStyle/>
            <a:p>
              <a:pPr marL="457200" indent="-457200">
                <a:lnSpc>
                  <a:spcPct val="123000"/>
                </a:lnSpc>
                <a:spcBef>
                  <a:spcPts val="600"/>
                </a:spcBef>
                <a:buClr>
                  <a:srgbClr val="0000FF"/>
                </a:buClr>
                <a:buFont typeface="+mj-ea"/>
                <a:buAutoNum type="circleNumDbPlain" startAt="4"/>
              </a:pPr>
              <a:r>
                <a:rPr lang="zh-CN"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尝试许多在明文规定中不允许做的操作</a:t>
              </a:r>
              <a:endPar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8" name="išľïḓe"/>
            <p:cNvSpPr/>
            <p:nvPr/>
          </p:nvSpPr>
          <p:spPr>
            <a:xfrm>
              <a:off x="527899" y="3161434"/>
              <a:ext cx="3019285" cy="934048"/>
            </a:xfrm>
            <a:prstGeom prst="rect">
              <a:avLst/>
            </a:prstGeom>
          </p:spPr>
          <p:txBody>
            <a:bodyPr wrap="square" lIns="91440" tIns="45720" rIns="91440" bIns="45720" anchor="ctr" anchorCtr="0">
              <a:noAutofit/>
            </a:bodyPr>
            <a:lstStyle/>
            <a:p>
              <a:pPr marL="457200" indent="-457200">
                <a:lnSpc>
                  <a:spcPct val="123000"/>
                </a:lnSpc>
                <a:spcBef>
                  <a:spcPts val="600"/>
                </a:spcBef>
                <a:buClr>
                  <a:srgbClr val="0000FF"/>
                </a:buClr>
                <a:buFont typeface="+mj-ea"/>
                <a:buAutoNum type="circleNumDbPlain" startAt="2"/>
              </a:pPr>
              <a:r>
                <a:rPr lang="zh-CN"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通过非法的系统调用来搅乱系统</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9" name="îṧľïdè"/>
            <p:cNvSpPr/>
            <p:nvPr/>
          </p:nvSpPr>
          <p:spPr>
            <a:xfrm>
              <a:off x="8644278" y="2998236"/>
              <a:ext cx="3225282" cy="762630"/>
            </a:xfrm>
            <a:prstGeom prst="rect">
              <a:avLst/>
            </a:prstGeom>
          </p:spPr>
          <p:txBody>
            <a:bodyPr wrap="square" lIns="91440" tIns="45720" rIns="91440" bIns="45720" anchor="ctr" anchorCtr="0">
              <a:normAutofit/>
            </a:bodyPr>
            <a:lstStyle/>
            <a:p>
              <a:pPr marL="457200" indent="-457200">
                <a:lnSpc>
                  <a:spcPct val="123000"/>
                </a:lnSpc>
                <a:spcBef>
                  <a:spcPts val="600"/>
                </a:spcBef>
                <a:buClr>
                  <a:srgbClr val="0000FF"/>
                </a:buClr>
                <a:buFont typeface="+mj-ea"/>
                <a:buAutoNum type="circleNumDbPlain" startAt="5"/>
              </a:pPr>
              <a:r>
                <a:rPr lang="zh-CN"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在</a:t>
              </a:r>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OS</a:t>
              </a:r>
              <a:r>
                <a:rPr lang="zh-CN"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中增添陷阱门</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30" name="işľîḓé"/>
            <p:cNvSpPr/>
            <p:nvPr/>
          </p:nvSpPr>
          <p:spPr>
            <a:xfrm>
              <a:off x="665164" y="4708346"/>
              <a:ext cx="3325122" cy="829569"/>
            </a:xfrm>
            <a:prstGeom prst="rect">
              <a:avLst/>
            </a:prstGeom>
          </p:spPr>
          <p:txBody>
            <a:bodyPr wrap="square" lIns="91440" tIns="45720" rIns="91440" bIns="45720" anchor="ctr" anchorCtr="0">
              <a:normAutofit fontScale="92500" lnSpcReduction="10000"/>
            </a:bodyPr>
            <a:lstStyle/>
            <a:p>
              <a:pPr marL="457200" indent="-457200">
                <a:lnSpc>
                  <a:spcPct val="123000"/>
                </a:lnSpc>
                <a:spcBef>
                  <a:spcPts val="600"/>
                </a:spcBef>
                <a:buClr>
                  <a:srgbClr val="0000FF"/>
                </a:buClr>
                <a:buFont typeface="+mj-ea"/>
                <a:buAutoNum type="circleNumDbPlain" startAt="3"/>
              </a:pPr>
              <a:r>
                <a:rPr lang="zh-CN"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使系统自己封杀校验口令程序</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31" name="ïśļíde"/>
            <p:cNvSpPr/>
            <p:nvPr/>
          </p:nvSpPr>
          <p:spPr>
            <a:xfrm>
              <a:off x="8029002" y="4708346"/>
              <a:ext cx="3485135" cy="467559"/>
            </a:xfrm>
            <a:prstGeom prst="rect">
              <a:avLst/>
            </a:prstGeom>
          </p:spPr>
          <p:txBody>
            <a:bodyPr wrap="square" lIns="91440" tIns="45720" rIns="91440" bIns="45720" anchor="ctr" anchorCtr="0">
              <a:normAutofit fontScale="92500"/>
            </a:bodyPr>
            <a:lstStyle/>
            <a:p>
              <a:pPr marL="457200" indent="-457200">
                <a:lnSpc>
                  <a:spcPct val="123000"/>
                </a:lnSpc>
                <a:spcBef>
                  <a:spcPts val="600"/>
                </a:spcBef>
                <a:buClr>
                  <a:srgbClr val="0000FF"/>
                </a:buClr>
                <a:buFont typeface="+mj-ea"/>
                <a:buAutoNum type="circleNumDbPlain" startAt="6"/>
              </a:pPr>
              <a:r>
                <a:rPr lang="zh-CN"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骗取口令</a:t>
              </a:r>
              <a:endPar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逻辑炸弹与陷阱门</a:t>
            </a:r>
          </a:p>
        </p:txBody>
      </p:sp>
      <p:sp>
        <p:nvSpPr>
          <p:cNvPr id="4" name="ïşľîďè"/>
          <p:cNvSpPr/>
          <p:nvPr/>
        </p:nvSpPr>
        <p:spPr>
          <a:xfrm>
            <a:off x="-1393831" y="1211395"/>
            <a:ext cx="4669654" cy="5003800"/>
          </a:xfrm>
          <a:prstGeom prst="rect">
            <a:avLst/>
          </a:prstGeom>
          <a:blipFill>
            <a:blip r:embed="rId2"/>
            <a:stretch>
              <a:fillRect l="-30450" r="-30284"/>
            </a:stretch>
          </a:bli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5" name="îŝļiḋe"/>
          <p:cNvSpPr/>
          <p:nvPr/>
        </p:nvSpPr>
        <p:spPr>
          <a:xfrm>
            <a:off x="2618876" y="1211395"/>
            <a:ext cx="656948" cy="5003800"/>
          </a:xfrm>
          <a:prstGeom prst="rect">
            <a:avLst/>
          </a:prstGeom>
          <a:solidFill>
            <a:schemeClr val="accent1">
              <a:alpha val="7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nvGrpSpPr>
          <p:cNvPr id="6" name="í$1iďè"/>
          <p:cNvGrpSpPr/>
          <p:nvPr/>
        </p:nvGrpSpPr>
        <p:grpSpPr>
          <a:xfrm>
            <a:off x="2743164" y="1251398"/>
            <a:ext cx="8843529" cy="3397876"/>
            <a:chOff x="4136995" y="1170303"/>
            <a:chExt cx="8843529" cy="3397876"/>
          </a:xfrm>
        </p:grpSpPr>
        <p:sp>
          <p:nvSpPr>
            <p:cNvPr id="7" name="îslîďê"/>
            <p:cNvSpPr/>
            <p:nvPr/>
          </p:nvSpPr>
          <p:spPr>
            <a:xfrm>
              <a:off x="4136995" y="1712614"/>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8" name="ïSḻiḍé"/>
            <p:cNvSpPr txBox="1"/>
            <p:nvPr/>
          </p:nvSpPr>
          <p:spPr>
            <a:xfrm>
              <a:off x="4882718" y="1170303"/>
              <a:ext cx="8097806" cy="3397876"/>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lnSpc>
                  <a:spcPct val="123000"/>
                </a:lnSpc>
                <a:spcBef>
                  <a:spcPts val="600"/>
                </a:spcBef>
                <a:buClr>
                  <a:srgbClr val="FF0000"/>
                </a:buClr>
              </a:pPr>
              <a:r>
                <a:rPr lang="zh-CN" altLang="en-US" sz="2400" dirty="0">
                  <a:solidFill>
                    <a:srgbClr val="FF0000"/>
                  </a:solidFill>
                  <a:latin typeface="+mj-ea"/>
                  <a:ea typeface="+mj-ea"/>
                </a:rPr>
                <a:t>恶意软件：</a:t>
              </a:r>
              <a:r>
                <a:rPr lang="zh-CN" altLang="en-US" sz="2400" dirty="0">
                  <a:latin typeface="+mj-ea"/>
                  <a:ea typeface="+mj-ea"/>
                </a:rPr>
                <a:t>攻击者专门编制的一种程序，用来对系统进行破坏。</a:t>
              </a:r>
            </a:p>
            <a:p>
              <a:pPr marL="342900" indent="-342900" algn="just">
                <a:lnSpc>
                  <a:spcPct val="123000"/>
                </a:lnSpc>
                <a:spcBef>
                  <a:spcPts val="600"/>
                </a:spcBef>
                <a:buClr>
                  <a:srgbClr val="FF0000"/>
                </a:buClr>
                <a:buFont typeface="Wingdings" panose="05000000000000000000" pitchFamily="2" charset="2"/>
                <a:buChar char="n"/>
              </a:pPr>
              <a:r>
                <a:rPr lang="zh-CN" altLang="en-US" sz="2200" dirty="0">
                  <a:latin typeface="+mj-ea"/>
                  <a:ea typeface="+mj-ea"/>
                </a:rPr>
                <a:t>独立运行类</a:t>
              </a:r>
            </a:p>
            <a:p>
              <a:pPr marL="800100" lvl="1" indent="-342900" algn="just">
                <a:lnSpc>
                  <a:spcPct val="123000"/>
                </a:lnSpc>
                <a:spcBef>
                  <a:spcPts val="600"/>
                </a:spcBef>
                <a:buClr>
                  <a:srgbClr val="FF0000"/>
                </a:buClr>
                <a:buFont typeface="Wingdings" panose="05000000000000000000" pitchFamily="2" charset="2"/>
                <a:buChar char="Ø"/>
              </a:pPr>
              <a:r>
                <a:rPr lang="zh-CN" altLang="en-US" sz="2200" dirty="0">
                  <a:latin typeface="+mj-ea"/>
                  <a:ea typeface="+mj-ea"/>
                </a:rPr>
                <a:t>这一类恶意软件（如蠕虫、僵尸等）可以通过</a:t>
              </a:r>
              <a:r>
                <a:rPr lang="en-US" altLang="zh-CN" sz="2200" dirty="0">
                  <a:latin typeface="+mj-ea"/>
                  <a:ea typeface="+mj-ea"/>
                </a:rPr>
                <a:t>OS</a:t>
              </a:r>
              <a:r>
                <a:rPr lang="zh-CN" altLang="en-US" sz="2200" dirty="0">
                  <a:latin typeface="+mj-ea"/>
                  <a:ea typeface="+mj-ea"/>
                </a:rPr>
                <a:t>调度执行</a:t>
              </a:r>
            </a:p>
            <a:p>
              <a:pPr marL="342900" indent="-342900" algn="just">
                <a:lnSpc>
                  <a:spcPct val="123000"/>
                </a:lnSpc>
                <a:spcBef>
                  <a:spcPts val="600"/>
                </a:spcBef>
                <a:buClr>
                  <a:srgbClr val="FF0000"/>
                </a:buClr>
                <a:buFont typeface="Wingdings" panose="05000000000000000000" pitchFamily="2" charset="2"/>
                <a:buChar char="n"/>
              </a:pPr>
              <a:r>
                <a:rPr lang="zh-CN" altLang="en-US" sz="2200" dirty="0">
                  <a:latin typeface="+mj-ea"/>
                  <a:ea typeface="+mj-ea"/>
                </a:rPr>
                <a:t>寄生类</a:t>
              </a:r>
            </a:p>
            <a:p>
              <a:pPr marL="800100" lvl="1" indent="-342900" algn="just">
                <a:lnSpc>
                  <a:spcPct val="123000"/>
                </a:lnSpc>
                <a:spcBef>
                  <a:spcPts val="600"/>
                </a:spcBef>
                <a:buClr>
                  <a:srgbClr val="FF0000"/>
                </a:buClr>
                <a:buFont typeface="Wingdings" panose="05000000000000000000" pitchFamily="2" charset="2"/>
                <a:buChar char="Ø"/>
              </a:pPr>
              <a:r>
                <a:rPr lang="zh-CN" altLang="en-US" sz="2200" dirty="0">
                  <a:latin typeface="+mj-ea"/>
                  <a:ea typeface="+mj-ea"/>
                </a:rPr>
                <a:t>这一类恶意软件本身不能独立运行，经常需要寄生在某个应用程序中</a:t>
              </a:r>
            </a:p>
            <a:p>
              <a:pPr marL="800100" lvl="1" indent="-342900" algn="just">
                <a:lnSpc>
                  <a:spcPct val="123000"/>
                </a:lnSpc>
                <a:spcBef>
                  <a:spcPts val="600"/>
                </a:spcBef>
                <a:buClr>
                  <a:srgbClr val="FF0000"/>
                </a:buClr>
                <a:buFont typeface="Wingdings" panose="05000000000000000000" pitchFamily="2" charset="2"/>
                <a:buChar char="Ø"/>
              </a:pPr>
              <a:r>
                <a:rPr lang="zh-CN" altLang="en-US" sz="2200" dirty="0">
                  <a:latin typeface="+mj-ea"/>
                  <a:ea typeface="+mj-ea"/>
                </a:rPr>
                <a:t>如逻辑炸弹、特洛伊木马、病毒等</a:t>
              </a:r>
            </a:p>
          </p:txBody>
        </p:sp>
      </p:grpSp>
      <p:grpSp>
        <p:nvGrpSpPr>
          <p:cNvPr id="12" name="ïSlíḍê"/>
          <p:cNvGrpSpPr/>
          <p:nvPr/>
        </p:nvGrpSpPr>
        <p:grpSpPr>
          <a:xfrm>
            <a:off x="2743164" y="4904128"/>
            <a:ext cx="8843529" cy="1311067"/>
            <a:chOff x="4136995" y="4714289"/>
            <a:chExt cx="8843529" cy="1311067"/>
          </a:xfrm>
        </p:grpSpPr>
        <p:sp>
          <p:nvSpPr>
            <p:cNvPr id="13" name="ïsľíḓê"/>
            <p:cNvSpPr/>
            <p:nvPr/>
          </p:nvSpPr>
          <p:spPr>
            <a:xfrm>
              <a:off x="4136995" y="5187860"/>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14" name="íṧļîḋê"/>
            <p:cNvSpPr txBox="1"/>
            <p:nvPr/>
          </p:nvSpPr>
          <p:spPr>
            <a:xfrm>
              <a:off x="4882717" y="4714289"/>
              <a:ext cx="8097807" cy="1311067"/>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2400" dirty="0">
                  <a:solidFill>
                    <a:srgbClr val="FF0000"/>
                  </a:solidFill>
                </a:rPr>
                <a:t>恶意软件</a:t>
              </a:r>
              <a:r>
                <a:rPr lang="zh-CN" altLang="en-US" sz="2400" dirty="0"/>
                <a:t>是一种极具破坏性的软件，但它不能进行自我复制，也不会感染其他程序。</a:t>
              </a: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逻辑炸弹</a:t>
            </a:r>
          </a:p>
        </p:txBody>
      </p:sp>
      <p:sp>
        <p:nvSpPr>
          <p:cNvPr id="4" name="矩形: 圆角 4"/>
          <p:cNvSpPr/>
          <p:nvPr/>
        </p:nvSpPr>
        <p:spPr>
          <a:xfrm>
            <a:off x="881726" y="1331757"/>
            <a:ext cx="2742976" cy="570355"/>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2400" dirty="0">
                <a:solidFill>
                  <a:schemeClr val="bg1"/>
                </a:solidFill>
              </a:rPr>
              <a:t>逻辑炸弹实例</a:t>
            </a:r>
          </a:p>
        </p:txBody>
      </p:sp>
      <p:sp>
        <p:nvSpPr>
          <p:cNvPr id="5" name="内容占位符 2"/>
          <p:cNvSpPr txBox="1"/>
          <p:nvPr/>
        </p:nvSpPr>
        <p:spPr>
          <a:xfrm>
            <a:off x="881725" y="2054341"/>
            <a:ext cx="4851999" cy="365734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9465" lvl="2" indent="-533400">
              <a:lnSpc>
                <a:spcPct val="132000"/>
              </a:lnSpc>
              <a:spcBef>
                <a:spcPts val="370"/>
              </a:spcBef>
              <a:buClr>
                <a:srgbClr val="E71101"/>
              </a:buClr>
              <a:buSzPct val="100000"/>
              <a:buFont typeface="Wingdings" panose="05000000000000000000" pitchFamily="2" charset="2"/>
              <a:buChar char="n"/>
              <a:defRPr/>
            </a:pPr>
            <a:r>
              <a:rPr lang="zh-CN" altLang="en-US" sz="2400" dirty="0"/>
              <a:t>程序员为了应对自己可能被突然解雇，</a:t>
            </a:r>
            <a:r>
              <a:rPr lang="en-US" altLang="zh-CN" sz="2400" dirty="0"/>
              <a:t>OS</a:t>
            </a:r>
            <a:r>
              <a:rPr lang="zh-CN" altLang="en-US" sz="2400" dirty="0"/>
              <a:t>中预先被放入破坏程序，只要程序员每天输入口令，该程序就不会发作。如果突然被解雇，在第二天（或第二周）由于</a:t>
            </a:r>
            <a:r>
              <a:rPr lang="en-US" altLang="zh-CN" sz="2400" dirty="0"/>
              <a:t>OS</a:t>
            </a:r>
            <a:r>
              <a:rPr lang="zh-CN" altLang="en-US" sz="2400" dirty="0"/>
              <a:t>得不到口令，逻辑炸弹就会被引爆</a:t>
            </a:r>
            <a:r>
              <a:rPr lang="en-US" altLang="zh-CN" sz="2400" dirty="0"/>
              <a:t>——</a:t>
            </a:r>
            <a:r>
              <a:rPr lang="zh-CN" altLang="en-US" sz="2400" dirty="0"/>
              <a:t>执行一段带有破坏性的程序</a:t>
            </a:r>
          </a:p>
        </p:txBody>
      </p:sp>
      <p:sp>
        <p:nvSpPr>
          <p:cNvPr id="6" name="矩形: 圆角 4"/>
          <p:cNvSpPr/>
          <p:nvPr/>
        </p:nvSpPr>
        <p:spPr>
          <a:xfrm>
            <a:off x="6723321" y="1331757"/>
            <a:ext cx="4244439" cy="570355"/>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2400" dirty="0">
                <a:solidFill>
                  <a:schemeClr val="bg1"/>
                </a:solidFill>
              </a:rPr>
              <a:t>逻辑炸弹“爆炸”的条件</a:t>
            </a:r>
          </a:p>
        </p:txBody>
      </p:sp>
      <p:sp>
        <p:nvSpPr>
          <p:cNvPr id="7" name="内容占位符 2"/>
          <p:cNvSpPr txBox="1"/>
          <p:nvPr/>
        </p:nvSpPr>
        <p:spPr>
          <a:xfrm>
            <a:off x="6723321" y="2054341"/>
            <a:ext cx="4978348" cy="298122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1" indent="-342900">
              <a:lnSpc>
                <a:spcPct val="132000"/>
              </a:lnSpc>
              <a:spcBef>
                <a:spcPts val="370"/>
              </a:spcBef>
              <a:buClr>
                <a:srgbClr val="E71101"/>
              </a:buClr>
              <a:buSzPct val="100000"/>
              <a:buFont typeface="Wingdings" panose="05000000000000000000" pitchFamily="2" charset="2"/>
              <a:buChar char="n"/>
              <a:defRPr/>
            </a:pPr>
            <a:r>
              <a:rPr lang="zh-CN" altLang="en-US" sz="2400" dirty="0"/>
              <a:t>时间引发</a:t>
            </a:r>
          </a:p>
          <a:p>
            <a:pPr marL="342900" lvl="1" indent="-342900">
              <a:lnSpc>
                <a:spcPct val="132000"/>
              </a:lnSpc>
              <a:spcBef>
                <a:spcPts val="370"/>
              </a:spcBef>
              <a:buClr>
                <a:srgbClr val="E71101"/>
              </a:buClr>
              <a:buSzPct val="100000"/>
              <a:buFont typeface="Wingdings" panose="05000000000000000000" pitchFamily="2" charset="2"/>
              <a:buChar char="n"/>
              <a:defRPr/>
            </a:pPr>
            <a:r>
              <a:rPr lang="zh-CN" altLang="en-US" sz="2400" dirty="0"/>
              <a:t>事件引发</a:t>
            </a:r>
          </a:p>
          <a:p>
            <a:pPr marL="342900" lvl="1" indent="-342900">
              <a:lnSpc>
                <a:spcPct val="132000"/>
              </a:lnSpc>
              <a:spcBef>
                <a:spcPts val="370"/>
              </a:spcBef>
              <a:buClr>
                <a:srgbClr val="E71101"/>
              </a:buClr>
              <a:buSzPct val="100000"/>
              <a:buFont typeface="Wingdings" panose="05000000000000000000" pitchFamily="2" charset="2"/>
              <a:buChar char="n"/>
              <a:defRPr/>
            </a:pPr>
            <a:r>
              <a:rPr lang="zh-CN" altLang="en-US" sz="2400" dirty="0"/>
              <a:t>计数器引发</a:t>
            </a:r>
          </a:p>
        </p:txBody>
      </p:sp>
      <p:cxnSp>
        <p:nvCxnSpPr>
          <p:cNvPr id="8" name="直接连接符 7"/>
          <p:cNvCxnSpPr/>
          <p:nvPr/>
        </p:nvCxnSpPr>
        <p:spPr>
          <a:xfrm>
            <a:off x="6228522" y="1470991"/>
            <a:ext cx="0" cy="4558748"/>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042991" y="5512904"/>
            <a:ext cx="565867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6042991" y="5711687"/>
            <a:ext cx="565867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6042991" y="5165175"/>
            <a:ext cx="565867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6042991" y="5363958"/>
            <a:ext cx="565867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6042991" y="4740171"/>
            <a:ext cx="565867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6042991" y="4938954"/>
            <a:ext cx="565867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6042991" y="4392442"/>
            <a:ext cx="565867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6042991" y="4591225"/>
            <a:ext cx="5658678"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陷阱门（</a:t>
            </a:r>
            <a:r>
              <a:rPr lang="en-US" altLang="zh-CN"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trap door</a:t>
            </a:r>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a:t>
            </a:r>
          </a:p>
        </p:txBody>
      </p:sp>
      <p:sp>
        <p:nvSpPr>
          <p:cNvPr id="3" name="内容占位符 2"/>
          <p:cNvSpPr txBox="1"/>
          <p:nvPr/>
        </p:nvSpPr>
        <p:spPr>
          <a:xfrm>
            <a:off x="1378040" y="1158783"/>
            <a:ext cx="6065949" cy="422458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3000"/>
              </a:lnSpc>
              <a:spcBef>
                <a:spcPts val="600"/>
              </a:spcBef>
              <a:spcAft>
                <a:spcPts val="600"/>
              </a:spcAft>
              <a:buNone/>
            </a:pPr>
            <a:r>
              <a:rPr lang="zh-CN" altLang="en-US" sz="2400" dirty="0">
                <a:solidFill>
                  <a:srgbClr val="FF0000"/>
                </a:solidFill>
                <a:latin typeface="Times New Roman" panose="02020603050405020304" pitchFamily="18" charset="0"/>
                <a:ea typeface="微软雅黑" panose="020B0503020204020204" pitchFamily="34" charset="-122"/>
                <a:cs typeface="+mn-ea"/>
                <a:sym typeface="Times New Roman" panose="02020603050405020304" pitchFamily="18" charset="0"/>
              </a:rPr>
              <a:t>陷阱门</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概念</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457200" lvl="3" indent="-442595">
              <a:lnSpc>
                <a:spcPct val="123000"/>
              </a:lnSpc>
              <a:spcBef>
                <a:spcPts val="600"/>
              </a:spcBef>
              <a:spcAft>
                <a:spcPts val="600"/>
              </a:spcAft>
              <a:buClr>
                <a:srgbClr val="FF0000"/>
              </a:buClr>
              <a:buFont typeface="Wingdings" panose="05000000000000000000" pitchFamily="2" charset="2"/>
              <a:buChar char="Ø"/>
            </a:pPr>
            <a:r>
              <a:rPr lang="zh-CN"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陷阱门是一段代码，同时也是进入一个程序的隐蔽入口点。有此陷阱门，程序员可以不经过安全检查，即可对程序进行访问</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457200" lvl="3" indent="-442595">
              <a:lnSpc>
                <a:spcPct val="123000"/>
              </a:lnSpc>
              <a:spcBef>
                <a:spcPts val="600"/>
              </a:spcBef>
              <a:spcAft>
                <a:spcPts val="600"/>
              </a:spcAft>
              <a:buClr>
                <a:srgbClr val="FF0000"/>
              </a:buClr>
              <a:buFont typeface="Wingdings" panose="05000000000000000000" pitchFamily="2" charset="2"/>
              <a:buChar char="Ø"/>
            </a:pP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即</a:t>
            </a:r>
            <a:r>
              <a:rPr lang="zh-CN"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程序员通过陷阱门可跳过正常的验证过程</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0" indent="0">
              <a:lnSpc>
                <a:spcPct val="123000"/>
              </a:lnSpc>
              <a:spcBef>
                <a:spcPts val="600"/>
              </a:spcBef>
              <a:spcAft>
                <a:spcPts val="600"/>
              </a:spcAft>
              <a:buNone/>
            </a:pP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陷阱门实例：</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457200" lvl="3" indent="-442595">
              <a:lnSpc>
                <a:spcPct val="123000"/>
              </a:lnSpc>
              <a:spcBef>
                <a:spcPts val="600"/>
              </a:spcBef>
              <a:spcAft>
                <a:spcPts val="600"/>
              </a:spcAft>
              <a:buClr>
                <a:srgbClr val="FF0000"/>
              </a:buClr>
              <a:buFont typeface="Wingdings" panose="05000000000000000000" pitchFamily="2" charset="2"/>
              <a:buChar char="Ø"/>
            </a:pP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使用登录名为“</a:t>
            </a:r>
            <a:r>
              <a:rPr lang="en-US" altLang="zh-CN" sz="2400" dirty="0" err="1">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rPr>
              <a:t>zzzzz</a:t>
            </a:r>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时，无论用什么口令，都能成功登录上机</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pic>
        <p:nvPicPr>
          <p:cNvPr id="4" name="图片 3"/>
          <p:cNvPicPr>
            <a:picLocks noChangeAspect="1"/>
          </p:cNvPicPr>
          <p:nvPr/>
        </p:nvPicPr>
        <p:blipFill rotWithShape="1">
          <a:blip r:embed="rId2">
            <a:clrChange>
              <a:clrFrom>
                <a:srgbClr val="FFFFFF"/>
              </a:clrFrom>
              <a:clrTo>
                <a:srgbClr val="FFFFFF">
                  <a:alpha val="0"/>
                </a:srgbClr>
              </a:clrTo>
            </a:clrChange>
          </a:blip>
          <a:srcRect r="51826"/>
          <a:stretch>
            <a:fillRect/>
          </a:stretch>
        </p:blipFill>
        <p:spPr>
          <a:xfrm>
            <a:off x="7302322" y="1092799"/>
            <a:ext cx="3441657" cy="2551634"/>
          </a:xfrm>
          <a:prstGeom prst="rect">
            <a:avLst/>
          </a:prstGeom>
        </p:spPr>
      </p:pic>
      <p:pic>
        <p:nvPicPr>
          <p:cNvPr id="5" name="图片 4"/>
          <p:cNvPicPr>
            <a:picLocks noChangeAspect="1"/>
          </p:cNvPicPr>
          <p:nvPr/>
        </p:nvPicPr>
        <p:blipFill rotWithShape="1">
          <a:blip r:embed="rId2">
            <a:clrChange>
              <a:clrFrom>
                <a:srgbClr val="FFFFFF"/>
              </a:clrFrom>
              <a:clrTo>
                <a:srgbClr val="FFFFFF">
                  <a:alpha val="0"/>
                </a:srgbClr>
              </a:clrTo>
            </a:clrChange>
          </a:blip>
          <a:srcRect l="51688"/>
          <a:stretch>
            <a:fillRect/>
          </a:stretch>
        </p:blipFill>
        <p:spPr>
          <a:xfrm>
            <a:off x="8297934" y="3644433"/>
            <a:ext cx="3451539" cy="2551633"/>
          </a:xfrm>
          <a:prstGeom prst="rect">
            <a:avLst/>
          </a:prstGeom>
        </p:spPr>
      </p:pic>
      <p:grpSp>
        <p:nvGrpSpPr>
          <p:cNvPr id="6" name="组合 5"/>
          <p:cNvGrpSpPr/>
          <p:nvPr/>
        </p:nvGrpSpPr>
        <p:grpSpPr>
          <a:xfrm>
            <a:off x="601369" y="1223178"/>
            <a:ext cx="712277" cy="418475"/>
            <a:chOff x="673100" y="2982961"/>
            <a:chExt cx="1597850" cy="938764"/>
          </a:xfrm>
        </p:grpSpPr>
        <p:sp>
          <p:nvSpPr>
            <p:cNvPr id="7" name="ïsḷîde"/>
            <p:cNvSpPr/>
            <p:nvPr/>
          </p:nvSpPr>
          <p:spPr bwMode="auto">
            <a:xfrm>
              <a:off x="673100" y="2982961"/>
              <a:ext cx="1597850" cy="938764"/>
            </a:xfrm>
            <a:prstGeom prst="hexagon">
              <a:avLst/>
            </a:prstGeom>
            <a:solidFill>
              <a:schemeClr val="accent1"/>
            </a:solidFill>
            <a:ln w="19050">
              <a:noFill/>
              <a:round/>
            </a:ln>
          </p:spPr>
          <p:txBody>
            <a:bodyPr wrap="square" lIns="91440" tIns="45720" rIns="91440" bIns="45720" anchor="ctr">
              <a:normAutofit fontScale="47500" lnSpcReduction="20000"/>
            </a:bodyPr>
            <a:lstStyle/>
            <a:p>
              <a:pPr algn="ctr"/>
              <a:endParaRPr lang="en-US" altLang="zh-CN" sz="3200" dirty="0">
                <a:solidFill>
                  <a:schemeClr val="bg1">
                    <a:lumMod val="100000"/>
                  </a:schemeClr>
                </a:solidFill>
                <a:latin typeface="Impact" panose="020B0806030902050204" pitchFamily="34" charset="0"/>
              </a:endParaRPr>
            </a:p>
          </p:txBody>
        </p:sp>
        <p:sp>
          <p:nvSpPr>
            <p:cNvPr id="8" name="iṥḻíḓê"/>
            <p:cNvSpPr/>
            <p:nvPr/>
          </p:nvSpPr>
          <p:spPr bwMode="auto">
            <a:xfrm>
              <a:off x="1212384" y="3153135"/>
              <a:ext cx="567411" cy="566350"/>
            </a:xfrm>
            <a:custGeom>
              <a:avLst/>
              <a:gdLst>
                <a:gd name="connsiteX0" fmla="*/ 290910 w 605702"/>
                <a:gd name="connsiteY0" fmla="*/ 156336 h 604568"/>
                <a:gd name="connsiteX1" fmla="*/ 335849 w 605702"/>
                <a:gd name="connsiteY1" fmla="*/ 164992 h 604568"/>
                <a:gd name="connsiteX2" fmla="*/ 288310 w 605702"/>
                <a:gd name="connsiteY2" fmla="*/ 212456 h 604568"/>
                <a:gd name="connsiteX3" fmla="*/ 203632 w 605702"/>
                <a:gd name="connsiteY3" fmla="*/ 244717 h 604568"/>
                <a:gd name="connsiteX4" fmla="*/ 203632 w 605702"/>
                <a:gd name="connsiteY4" fmla="*/ 401388 h 604568"/>
                <a:gd name="connsiteX5" fmla="*/ 360547 w 605702"/>
                <a:gd name="connsiteY5" fmla="*/ 401388 h 604568"/>
                <a:gd name="connsiteX6" fmla="*/ 392859 w 605702"/>
                <a:gd name="connsiteY6" fmla="*/ 316749 h 604568"/>
                <a:gd name="connsiteX7" fmla="*/ 440397 w 605702"/>
                <a:gd name="connsiteY7" fmla="*/ 269284 h 604568"/>
                <a:gd name="connsiteX8" fmla="*/ 400287 w 605702"/>
                <a:gd name="connsiteY8" fmla="*/ 441065 h 604568"/>
                <a:gd name="connsiteX9" fmla="*/ 163892 w 605702"/>
                <a:gd name="connsiteY9" fmla="*/ 441065 h 604568"/>
                <a:gd name="connsiteX10" fmla="*/ 163892 w 605702"/>
                <a:gd name="connsiteY10" fmla="*/ 205040 h 604568"/>
                <a:gd name="connsiteX11" fmla="*/ 290910 w 605702"/>
                <a:gd name="connsiteY11" fmla="*/ 156336 h 604568"/>
                <a:gd name="connsiteX12" fmla="*/ 246542 w 605702"/>
                <a:gd name="connsiteY12" fmla="*/ 43775 h 604568"/>
                <a:gd name="connsiteX13" fmla="*/ 422196 w 605702"/>
                <a:gd name="connsiteY13" fmla="*/ 78723 h 604568"/>
                <a:gd name="connsiteX14" fmla="*/ 376794 w 605702"/>
                <a:gd name="connsiteY14" fmla="*/ 124054 h 604568"/>
                <a:gd name="connsiteX15" fmla="*/ 126109 w 605702"/>
                <a:gd name="connsiteY15" fmla="*/ 167345 h 604568"/>
                <a:gd name="connsiteX16" fmla="*/ 126109 w 605702"/>
                <a:gd name="connsiteY16" fmla="*/ 478820 h 604568"/>
                <a:gd name="connsiteX17" fmla="*/ 438073 w 605702"/>
                <a:gd name="connsiteY17" fmla="*/ 478820 h 604568"/>
                <a:gd name="connsiteX18" fmla="*/ 481432 w 605702"/>
                <a:gd name="connsiteY18" fmla="*/ 228527 h 604568"/>
                <a:gd name="connsiteX19" fmla="*/ 526741 w 605702"/>
                <a:gd name="connsiteY19" fmla="*/ 183011 h 604568"/>
                <a:gd name="connsiteX20" fmla="*/ 481432 w 605702"/>
                <a:gd name="connsiteY20" fmla="*/ 522111 h 604568"/>
                <a:gd name="connsiteX21" fmla="*/ 82657 w 605702"/>
                <a:gd name="connsiteY21" fmla="*/ 522111 h 604568"/>
                <a:gd name="connsiteX22" fmla="*/ 82657 w 605702"/>
                <a:gd name="connsiteY22" fmla="*/ 123961 h 604568"/>
                <a:gd name="connsiteX23" fmla="*/ 246542 w 605702"/>
                <a:gd name="connsiteY23" fmla="*/ 43775 h 604568"/>
                <a:gd name="connsiteX24" fmla="*/ 536061 w 605702"/>
                <a:gd name="connsiteY24" fmla="*/ 0 h 604568"/>
                <a:gd name="connsiteX25" fmla="*/ 544232 w 605702"/>
                <a:gd name="connsiteY25" fmla="*/ 61368 h 604568"/>
                <a:gd name="connsiteX26" fmla="*/ 605702 w 605702"/>
                <a:gd name="connsiteY26" fmla="*/ 69526 h 604568"/>
                <a:gd name="connsiteX27" fmla="*/ 524361 w 605702"/>
                <a:gd name="connsiteY27" fmla="*/ 150732 h 604568"/>
                <a:gd name="connsiteX28" fmla="*/ 498361 w 605702"/>
                <a:gd name="connsiteY28" fmla="*/ 147302 h 604568"/>
                <a:gd name="connsiteX29" fmla="*/ 337721 w 605702"/>
                <a:gd name="connsiteY29" fmla="*/ 307767 h 604568"/>
                <a:gd name="connsiteX30" fmla="*/ 339764 w 605702"/>
                <a:gd name="connsiteY30" fmla="*/ 323063 h 604568"/>
                <a:gd name="connsiteX31" fmla="*/ 282101 w 605702"/>
                <a:gd name="connsiteY31" fmla="*/ 380630 h 604568"/>
                <a:gd name="connsiteX32" fmla="*/ 224437 w 605702"/>
                <a:gd name="connsiteY32" fmla="*/ 323063 h 604568"/>
                <a:gd name="connsiteX33" fmla="*/ 282101 w 605702"/>
                <a:gd name="connsiteY33" fmla="*/ 265495 h 604568"/>
                <a:gd name="connsiteX34" fmla="*/ 297422 w 605702"/>
                <a:gd name="connsiteY34" fmla="*/ 267535 h 604568"/>
                <a:gd name="connsiteX35" fmla="*/ 458155 w 605702"/>
                <a:gd name="connsiteY35" fmla="*/ 107162 h 604568"/>
                <a:gd name="connsiteX36" fmla="*/ 454719 w 605702"/>
                <a:gd name="connsiteY36" fmla="*/ 81206 h 604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05702" h="604568">
                  <a:moveTo>
                    <a:pt x="290910" y="156336"/>
                  </a:moveTo>
                  <a:cubicBezTo>
                    <a:pt x="306137" y="157147"/>
                    <a:pt x="321272" y="160032"/>
                    <a:pt x="335849" y="164992"/>
                  </a:cubicBezTo>
                  <a:lnTo>
                    <a:pt x="288310" y="212456"/>
                  </a:lnTo>
                  <a:cubicBezTo>
                    <a:pt x="257856" y="210695"/>
                    <a:pt x="226844" y="221449"/>
                    <a:pt x="203632" y="244717"/>
                  </a:cubicBezTo>
                  <a:cubicBezTo>
                    <a:pt x="160271" y="287918"/>
                    <a:pt x="160271" y="358187"/>
                    <a:pt x="203632" y="401388"/>
                  </a:cubicBezTo>
                  <a:cubicBezTo>
                    <a:pt x="246900" y="444680"/>
                    <a:pt x="317279" y="444680"/>
                    <a:pt x="360547" y="401388"/>
                  </a:cubicBezTo>
                  <a:cubicBezTo>
                    <a:pt x="383852" y="378211"/>
                    <a:pt x="394623" y="347156"/>
                    <a:pt x="392859" y="316749"/>
                  </a:cubicBezTo>
                  <a:lnTo>
                    <a:pt x="440397" y="269284"/>
                  </a:lnTo>
                  <a:cubicBezTo>
                    <a:pt x="460267" y="327595"/>
                    <a:pt x="446897" y="394620"/>
                    <a:pt x="400287" y="441065"/>
                  </a:cubicBezTo>
                  <a:cubicBezTo>
                    <a:pt x="335106" y="506236"/>
                    <a:pt x="229073" y="506236"/>
                    <a:pt x="163892" y="441065"/>
                  </a:cubicBezTo>
                  <a:cubicBezTo>
                    <a:pt x="98619" y="375987"/>
                    <a:pt x="98619" y="270118"/>
                    <a:pt x="163892" y="205040"/>
                  </a:cubicBezTo>
                  <a:cubicBezTo>
                    <a:pt x="198711" y="170137"/>
                    <a:pt x="245228" y="153902"/>
                    <a:pt x="290910" y="156336"/>
                  </a:cubicBezTo>
                  <a:close/>
                  <a:moveTo>
                    <a:pt x="246542" y="43775"/>
                  </a:moveTo>
                  <a:cubicBezTo>
                    <a:pt x="306463" y="36243"/>
                    <a:pt x="368345" y="47900"/>
                    <a:pt x="422196" y="78723"/>
                  </a:cubicBezTo>
                  <a:lnTo>
                    <a:pt x="376794" y="124054"/>
                  </a:lnTo>
                  <a:cubicBezTo>
                    <a:pt x="294811" y="85305"/>
                    <a:pt x="193980" y="99581"/>
                    <a:pt x="126109" y="167345"/>
                  </a:cubicBezTo>
                  <a:cubicBezTo>
                    <a:pt x="39948" y="253371"/>
                    <a:pt x="39948" y="392793"/>
                    <a:pt x="126109" y="478820"/>
                  </a:cubicBezTo>
                  <a:cubicBezTo>
                    <a:pt x="212271" y="564846"/>
                    <a:pt x="351912" y="564846"/>
                    <a:pt x="438073" y="478820"/>
                  </a:cubicBezTo>
                  <a:cubicBezTo>
                    <a:pt x="505944" y="411055"/>
                    <a:pt x="520428" y="310382"/>
                    <a:pt x="481432" y="228527"/>
                  </a:cubicBezTo>
                  <a:lnTo>
                    <a:pt x="526741" y="183011"/>
                  </a:lnTo>
                  <a:cubicBezTo>
                    <a:pt x="588484" y="290544"/>
                    <a:pt x="573350" y="430244"/>
                    <a:pt x="481432" y="522111"/>
                  </a:cubicBezTo>
                  <a:cubicBezTo>
                    <a:pt x="371316" y="632054"/>
                    <a:pt x="192866" y="632054"/>
                    <a:pt x="82657" y="522111"/>
                  </a:cubicBezTo>
                  <a:cubicBezTo>
                    <a:pt x="-27552" y="412168"/>
                    <a:pt x="-27552" y="233997"/>
                    <a:pt x="82657" y="123961"/>
                  </a:cubicBezTo>
                  <a:cubicBezTo>
                    <a:pt x="128662" y="78028"/>
                    <a:pt x="186622" y="51307"/>
                    <a:pt x="246542" y="43775"/>
                  </a:cubicBezTo>
                  <a:close/>
                  <a:moveTo>
                    <a:pt x="536061" y="0"/>
                  </a:moveTo>
                  <a:lnTo>
                    <a:pt x="544232" y="61368"/>
                  </a:lnTo>
                  <a:lnTo>
                    <a:pt x="605702" y="69526"/>
                  </a:lnTo>
                  <a:lnTo>
                    <a:pt x="524361" y="150732"/>
                  </a:lnTo>
                  <a:lnTo>
                    <a:pt x="498361" y="147302"/>
                  </a:lnTo>
                  <a:lnTo>
                    <a:pt x="337721" y="307767"/>
                  </a:lnTo>
                  <a:cubicBezTo>
                    <a:pt x="339021" y="312588"/>
                    <a:pt x="339764" y="317779"/>
                    <a:pt x="339764" y="323063"/>
                  </a:cubicBezTo>
                  <a:cubicBezTo>
                    <a:pt x="339764" y="354859"/>
                    <a:pt x="313950" y="380630"/>
                    <a:pt x="282101" y="380630"/>
                  </a:cubicBezTo>
                  <a:cubicBezTo>
                    <a:pt x="250251" y="380630"/>
                    <a:pt x="224437" y="354859"/>
                    <a:pt x="224437" y="323063"/>
                  </a:cubicBezTo>
                  <a:cubicBezTo>
                    <a:pt x="224437" y="291266"/>
                    <a:pt x="250251" y="265495"/>
                    <a:pt x="282101" y="265495"/>
                  </a:cubicBezTo>
                  <a:cubicBezTo>
                    <a:pt x="287393" y="265495"/>
                    <a:pt x="292500" y="266237"/>
                    <a:pt x="297422" y="267535"/>
                  </a:cubicBezTo>
                  <a:lnTo>
                    <a:pt x="458155" y="107162"/>
                  </a:lnTo>
                  <a:lnTo>
                    <a:pt x="454719" y="81206"/>
                  </a:lnTo>
                  <a:close/>
                </a:path>
              </a:pathLst>
            </a:custGeom>
            <a:solidFill>
              <a:schemeClr val="bg1"/>
            </a:solidFill>
            <a:ln>
              <a:noFill/>
            </a:ln>
          </p:spPr>
          <p:txBody>
            <a:bodyPr wrap="square" lIns="91440" tIns="45720" rIns="91440" bIns="45720">
              <a:normAutofit fontScale="70000" lnSpcReduction="20000"/>
            </a:bodyPr>
            <a:lstStyle/>
            <a:p>
              <a:endParaRPr lang="zh-CN" altLang="en-US"/>
            </a:p>
          </p:txBody>
        </p:sp>
      </p:grpSp>
      <p:grpSp>
        <p:nvGrpSpPr>
          <p:cNvPr id="9" name="组合 8"/>
          <p:cNvGrpSpPr/>
          <p:nvPr/>
        </p:nvGrpSpPr>
        <p:grpSpPr>
          <a:xfrm>
            <a:off x="665763" y="4844391"/>
            <a:ext cx="712277" cy="418475"/>
            <a:chOff x="673100" y="2982961"/>
            <a:chExt cx="1597850" cy="938764"/>
          </a:xfrm>
        </p:grpSpPr>
        <p:sp>
          <p:nvSpPr>
            <p:cNvPr id="10" name="ïsḷîde"/>
            <p:cNvSpPr/>
            <p:nvPr/>
          </p:nvSpPr>
          <p:spPr bwMode="auto">
            <a:xfrm>
              <a:off x="673100" y="2982961"/>
              <a:ext cx="1597850" cy="938764"/>
            </a:xfrm>
            <a:prstGeom prst="hexagon">
              <a:avLst/>
            </a:prstGeom>
            <a:solidFill>
              <a:schemeClr val="accent1"/>
            </a:solidFill>
            <a:ln w="19050">
              <a:noFill/>
              <a:round/>
            </a:ln>
          </p:spPr>
          <p:txBody>
            <a:bodyPr wrap="square" lIns="91440" tIns="45720" rIns="91440" bIns="45720" anchor="ctr">
              <a:normAutofit fontScale="47500" lnSpcReduction="20000"/>
            </a:bodyPr>
            <a:lstStyle/>
            <a:p>
              <a:pPr algn="ctr"/>
              <a:endParaRPr lang="en-US" altLang="zh-CN" sz="3200" dirty="0">
                <a:solidFill>
                  <a:schemeClr val="bg1">
                    <a:lumMod val="100000"/>
                  </a:schemeClr>
                </a:solidFill>
                <a:latin typeface="Impact" panose="020B0806030902050204" pitchFamily="34" charset="0"/>
              </a:endParaRPr>
            </a:p>
          </p:txBody>
        </p:sp>
        <p:sp>
          <p:nvSpPr>
            <p:cNvPr id="11" name="iṥḻíḓê"/>
            <p:cNvSpPr/>
            <p:nvPr/>
          </p:nvSpPr>
          <p:spPr bwMode="auto">
            <a:xfrm>
              <a:off x="1212384" y="3153135"/>
              <a:ext cx="567411" cy="566350"/>
            </a:xfrm>
            <a:custGeom>
              <a:avLst/>
              <a:gdLst>
                <a:gd name="connsiteX0" fmla="*/ 290910 w 605702"/>
                <a:gd name="connsiteY0" fmla="*/ 156336 h 604568"/>
                <a:gd name="connsiteX1" fmla="*/ 335849 w 605702"/>
                <a:gd name="connsiteY1" fmla="*/ 164992 h 604568"/>
                <a:gd name="connsiteX2" fmla="*/ 288310 w 605702"/>
                <a:gd name="connsiteY2" fmla="*/ 212456 h 604568"/>
                <a:gd name="connsiteX3" fmla="*/ 203632 w 605702"/>
                <a:gd name="connsiteY3" fmla="*/ 244717 h 604568"/>
                <a:gd name="connsiteX4" fmla="*/ 203632 w 605702"/>
                <a:gd name="connsiteY4" fmla="*/ 401388 h 604568"/>
                <a:gd name="connsiteX5" fmla="*/ 360547 w 605702"/>
                <a:gd name="connsiteY5" fmla="*/ 401388 h 604568"/>
                <a:gd name="connsiteX6" fmla="*/ 392859 w 605702"/>
                <a:gd name="connsiteY6" fmla="*/ 316749 h 604568"/>
                <a:gd name="connsiteX7" fmla="*/ 440397 w 605702"/>
                <a:gd name="connsiteY7" fmla="*/ 269284 h 604568"/>
                <a:gd name="connsiteX8" fmla="*/ 400287 w 605702"/>
                <a:gd name="connsiteY8" fmla="*/ 441065 h 604568"/>
                <a:gd name="connsiteX9" fmla="*/ 163892 w 605702"/>
                <a:gd name="connsiteY9" fmla="*/ 441065 h 604568"/>
                <a:gd name="connsiteX10" fmla="*/ 163892 w 605702"/>
                <a:gd name="connsiteY10" fmla="*/ 205040 h 604568"/>
                <a:gd name="connsiteX11" fmla="*/ 290910 w 605702"/>
                <a:gd name="connsiteY11" fmla="*/ 156336 h 604568"/>
                <a:gd name="connsiteX12" fmla="*/ 246542 w 605702"/>
                <a:gd name="connsiteY12" fmla="*/ 43775 h 604568"/>
                <a:gd name="connsiteX13" fmla="*/ 422196 w 605702"/>
                <a:gd name="connsiteY13" fmla="*/ 78723 h 604568"/>
                <a:gd name="connsiteX14" fmla="*/ 376794 w 605702"/>
                <a:gd name="connsiteY14" fmla="*/ 124054 h 604568"/>
                <a:gd name="connsiteX15" fmla="*/ 126109 w 605702"/>
                <a:gd name="connsiteY15" fmla="*/ 167345 h 604568"/>
                <a:gd name="connsiteX16" fmla="*/ 126109 w 605702"/>
                <a:gd name="connsiteY16" fmla="*/ 478820 h 604568"/>
                <a:gd name="connsiteX17" fmla="*/ 438073 w 605702"/>
                <a:gd name="connsiteY17" fmla="*/ 478820 h 604568"/>
                <a:gd name="connsiteX18" fmla="*/ 481432 w 605702"/>
                <a:gd name="connsiteY18" fmla="*/ 228527 h 604568"/>
                <a:gd name="connsiteX19" fmla="*/ 526741 w 605702"/>
                <a:gd name="connsiteY19" fmla="*/ 183011 h 604568"/>
                <a:gd name="connsiteX20" fmla="*/ 481432 w 605702"/>
                <a:gd name="connsiteY20" fmla="*/ 522111 h 604568"/>
                <a:gd name="connsiteX21" fmla="*/ 82657 w 605702"/>
                <a:gd name="connsiteY21" fmla="*/ 522111 h 604568"/>
                <a:gd name="connsiteX22" fmla="*/ 82657 w 605702"/>
                <a:gd name="connsiteY22" fmla="*/ 123961 h 604568"/>
                <a:gd name="connsiteX23" fmla="*/ 246542 w 605702"/>
                <a:gd name="connsiteY23" fmla="*/ 43775 h 604568"/>
                <a:gd name="connsiteX24" fmla="*/ 536061 w 605702"/>
                <a:gd name="connsiteY24" fmla="*/ 0 h 604568"/>
                <a:gd name="connsiteX25" fmla="*/ 544232 w 605702"/>
                <a:gd name="connsiteY25" fmla="*/ 61368 h 604568"/>
                <a:gd name="connsiteX26" fmla="*/ 605702 w 605702"/>
                <a:gd name="connsiteY26" fmla="*/ 69526 h 604568"/>
                <a:gd name="connsiteX27" fmla="*/ 524361 w 605702"/>
                <a:gd name="connsiteY27" fmla="*/ 150732 h 604568"/>
                <a:gd name="connsiteX28" fmla="*/ 498361 w 605702"/>
                <a:gd name="connsiteY28" fmla="*/ 147302 h 604568"/>
                <a:gd name="connsiteX29" fmla="*/ 337721 w 605702"/>
                <a:gd name="connsiteY29" fmla="*/ 307767 h 604568"/>
                <a:gd name="connsiteX30" fmla="*/ 339764 w 605702"/>
                <a:gd name="connsiteY30" fmla="*/ 323063 h 604568"/>
                <a:gd name="connsiteX31" fmla="*/ 282101 w 605702"/>
                <a:gd name="connsiteY31" fmla="*/ 380630 h 604568"/>
                <a:gd name="connsiteX32" fmla="*/ 224437 w 605702"/>
                <a:gd name="connsiteY32" fmla="*/ 323063 h 604568"/>
                <a:gd name="connsiteX33" fmla="*/ 282101 w 605702"/>
                <a:gd name="connsiteY33" fmla="*/ 265495 h 604568"/>
                <a:gd name="connsiteX34" fmla="*/ 297422 w 605702"/>
                <a:gd name="connsiteY34" fmla="*/ 267535 h 604568"/>
                <a:gd name="connsiteX35" fmla="*/ 458155 w 605702"/>
                <a:gd name="connsiteY35" fmla="*/ 107162 h 604568"/>
                <a:gd name="connsiteX36" fmla="*/ 454719 w 605702"/>
                <a:gd name="connsiteY36" fmla="*/ 81206 h 604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05702" h="604568">
                  <a:moveTo>
                    <a:pt x="290910" y="156336"/>
                  </a:moveTo>
                  <a:cubicBezTo>
                    <a:pt x="306137" y="157147"/>
                    <a:pt x="321272" y="160032"/>
                    <a:pt x="335849" y="164992"/>
                  </a:cubicBezTo>
                  <a:lnTo>
                    <a:pt x="288310" y="212456"/>
                  </a:lnTo>
                  <a:cubicBezTo>
                    <a:pt x="257856" y="210695"/>
                    <a:pt x="226844" y="221449"/>
                    <a:pt x="203632" y="244717"/>
                  </a:cubicBezTo>
                  <a:cubicBezTo>
                    <a:pt x="160271" y="287918"/>
                    <a:pt x="160271" y="358187"/>
                    <a:pt x="203632" y="401388"/>
                  </a:cubicBezTo>
                  <a:cubicBezTo>
                    <a:pt x="246900" y="444680"/>
                    <a:pt x="317279" y="444680"/>
                    <a:pt x="360547" y="401388"/>
                  </a:cubicBezTo>
                  <a:cubicBezTo>
                    <a:pt x="383852" y="378211"/>
                    <a:pt x="394623" y="347156"/>
                    <a:pt x="392859" y="316749"/>
                  </a:cubicBezTo>
                  <a:lnTo>
                    <a:pt x="440397" y="269284"/>
                  </a:lnTo>
                  <a:cubicBezTo>
                    <a:pt x="460267" y="327595"/>
                    <a:pt x="446897" y="394620"/>
                    <a:pt x="400287" y="441065"/>
                  </a:cubicBezTo>
                  <a:cubicBezTo>
                    <a:pt x="335106" y="506236"/>
                    <a:pt x="229073" y="506236"/>
                    <a:pt x="163892" y="441065"/>
                  </a:cubicBezTo>
                  <a:cubicBezTo>
                    <a:pt x="98619" y="375987"/>
                    <a:pt x="98619" y="270118"/>
                    <a:pt x="163892" y="205040"/>
                  </a:cubicBezTo>
                  <a:cubicBezTo>
                    <a:pt x="198711" y="170137"/>
                    <a:pt x="245228" y="153902"/>
                    <a:pt x="290910" y="156336"/>
                  </a:cubicBezTo>
                  <a:close/>
                  <a:moveTo>
                    <a:pt x="246542" y="43775"/>
                  </a:moveTo>
                  <a:cubicBezTo>
                    <a:pt x="306463" y="36243"/>
                    <a:pt x="368345" y="47900"/>
                    <a:pt x="422196" y="78723"/>
                  </a:cubicBezTo>
                  <a:lnTo>
                    <a:pt x="376794" y="124054"/>
                  </a:lnTo>
                  <a:cubicBezTo>
                    <a:pt x="294811" y="85305"/>
                    <a:pt x="193980" y="99581"/>
                    <a:pt x="126109" y="167345"/>
                  </a:cubicBezTo>
                  <a:cubicBezTo>
                    <a:pt x="39948" y="253371"/>
                    <a:pt x="39948" y="392793"/>
                    <a:pt x="126109" y="478820"/>
                  </a:cubicBezTo>
                  <a:cubicBezTo>
                    <a:pt x="212271" y="564846"/>
                    <a:pt x="351912" y="564846"/>
                    <a:pt x="438073" y="478820"/>
                  </a:cubicBezTo>
                  <a:cubicBezTo>
                    <a:pt x="505944" y="411055"/>
                    <a:pt x="520428" y="310382"/>
                    <a:pt x="481432" y="228527"/>
                  </a:cubicBezTo>
                  <a:lnTo>
                    <a:pt x="526741" y="183011"/>
                  </a:lnTo>
                  <a:cubicBezTo>
                    <a:pt x="588484" y="290544"/>
                    <a:pt x="573350" y="430244"/>
                    <a:pt x="481432" y="522111"/>
                  </a:cubicBezTo>
                  <a:cubicBezTo>
                    <a:pt x="371316" y="632054"/>
                    <a:pt x="192866" y="632054"/>
                    <a:pt x="82657" y="522111"/>
                  </a:cubicBezTo>
                  <a:cubicBezTo>
                    <a:pt x="-27552" y="412168"/>
                    <a:pt x="-27552" y="233997"/>
                    <a:pt x="82657" y="123961"/>
                  </a:cubicBezTo>
                  <a:cubicBezTo>
                    <a:pt x="128662" y="78028"/>
                    <a:pt x="186622" y="51307"/>
                    <a:pt x="246542" y="43775"/>
                  </a:cubicBezTo>
                  <a:close/>
                  <a:moveTo>
                    <a:pt x="536061" y="0"/>
                  </a:moveTo>
                  <a:lnTo>
                    <a:pt x="544232" y="61368"/>
                  </a:lnTo>
                  <a:lnTo>
                    <a:pt x="605702" y="69526"/>
                  </a:lnTo>
                  <a:lnTo>
                    <a:pt x="524361" y="150732"/>
                  </a:lnTo>
                  <a:lnTo>
                    <a:pt x="498361" y="147302"/>
                  </a:lnTo>
                  <a:lnTo>
                    <a:pt x="337721" y="307767"/>
                  </a:lnTo>
                  <a:cubicBezTo>
                    <a:pt x="339021" y="312588"/>
                    <a:pt x="339764" y="317779"/>
                    <a:pt x="339764" y="323063"/>
                  </a:cubicBezTo>
                  <a:cubicBezTo>
                    <a:pt x="339764" y="354859"/>
                    <a:pt x="313950" y="380630"/>
                    <a:pt x="282101" y="380630"/>
                  </a:cubicBezTo>
                  <a:cubicBezTo>
                    <a:pt x="250251" y="380630"/>
                    <a:pt x="224437" y="354859"/>
                    <a:pt x="224437" y="323063"/>
                  </a:cubicBezTo>
                  <a:cubicBezTo>
                    <a:pt x="224437" y="291266"/>
                    <a:pt x="250251" y="265495"/>
                    <a:pt x="282101" y="265495"/>
                  </a:cubicBezTo>
                  <a:cubicBezTo>
                    <a:pt x="287393" y="265495"/>
                    <a:pt x="292500" y="266237"/>
                    <a:pt x="297422" y="267535"/>
                  </a:cubicBezTo>
                  <a:lnTo>
                    <a:pt x="458155" y="107162"/>
                  </a:lnTo>
                  <a:lnTo>
                    <a:pt x="454719" y="81206"/>
                  </a:lnTo>
                  <a:close/>
                </a:path>
              </a:pathLst>
            </a:custGeom>
            <a:solidFill>
              <a:schemeClr val="bg1"/>
            </a:solidFill>
            <a:ln>
              <a:noFill/>
            </a:ln>
          </p:spPr>
          <p:txBody>
            <a:bodyPr wrap="square" lIns="91440" tIns="45720" rIns="91440" bIns="45720">
              <a:normAutofit fontScale="70000" lnSpcReduction="20000"/>
            </a:bodyPr>
            <a:lstStyle/>
            <a:p>
              <a:endParaRPr lang="zh-CN" altLang="en-US"/>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特洛伊木马与登录欺骗</a:t>
            </a:r>
          </a:p>
        </p:txBody>
      </p:sp>
      <p:sp>
        <p:nvSpPr>
          <p:cNvPr id="4" name="内容占位符 2"/>
          <p:cNvSpPr txBox="1"/>
          <p:nvPr/>
        </p:nvSpPr>
        <p:spPr>
          <a:xfrm>
            <a:off x="1378040" y="1158783"/>
            <a:ext cx="10109915" cy="422458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3000"/>
              </a:lnSpc>
              <a:spcBef>
                <a:spcPts val="600"/>
              </a:spcBef>
              <a:buNone/>
            </a:pPr>
            <a:r>
              <a:rPr lang="zh-CN" altLang="en-US" sz="2400" dirty="0">
                <a:solidFill>
                  <a:srgbClr val="FF0000"/>
                </a:solidFill>
                <a:latin typeface="Times New Roman" panose="02020603050405020304" pitchFamily="18" charset="0"/>
                <a:ea typeface="微软雅黑" panose="020B0503020204020204" pitchFamily="34" charset="-122"/>
                <a:cs typeface="+mn-ea"/>
                <a:sym typeface="Times New Roman" panose="02020603050405020304" pitchFamily="18" charset="0"/>
              </a:rPr>
              <a:t>特洛伊木马</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的基本概念</a:t>
            </a:r>
          </a:p>
          <a:p>
            <a:pPr marL="457200" lvl="3" indent="-442595">
              <a:lnSpc>
                <a:spcPct val="123000"/>
              </a:lnSpc>
              <a:spcBef>
                <a:spcPts val="600"/>
              </a:spcBef>
              <a:buClr>
                <a:srgbClr val="FF0000"/>
              </a:buClr>
              <a:buFont typeface="Wingdings" panose="05000000000000000000" pitchFamily="2" charset="2"/>
              <a:buChar char="Ø"/>
            </a:pP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特洛伊木马是一种恶意软件，它是一个嵌入到有用程序中的、隐蔽的、危害安全的程序。当该程序执行时会引发隐蔽代码执行，产生难以预期的后果</a:t>
            </a:r>
          </a:p>
          <a:p>
            <a:pPr marL="0" indent="0">
              <a:lnSpc>
                <a:spcPct val="123000"/>
              </a:lnSpc>
              <a:spcBef>
                <a:spcPts val="600"/>
              </a:spcBef>
              <a:buNone/>
            </a:pP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特洛伊木马的实例</a:t>
            </a:r>
          </a:p>
          <a:p>
            <a:pPr marL="457200" lvl="3" indent="-442595">
              <a:lnSpc>
                <a:spcPct val="123000"/>
              </a:lnSpc>
              <a:spcBef>
                <a:spcPts val="600"/>
              </a:spcBef>
              <a:buClr>
                <a:srgbClr val="FF0000"/>
              </a:buClr>
              <a:buFont typeface="Wingdings" panose="05000000000000000000" pitchFamily="2" charset="2"/>
              <a:buChar char="Ø"/>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编写特洛伊木马程序的人，将其隐藏在一个新游戏程序中，并将该游戏程序送给某计算机系统的系统操作员</a:t>
            </a:r>
          </a:p>
          <a:p>
            <a:pPr marL="457200" lvl="3" indent="-442595">
              <a:lnSpc>
                <a:spcPct val="123000"/>
              </a:lnSpc>
              <a:spcBef>
                <a:spcPts val="600"/>
              </a:spcBef>
              <a:buClr>
                <a:srgbClr val="FF0000"/>
              </a:buClr>
              <a:buFont typeface="Wingdings" panose="05000000000000000000" pitchFamily="2" charset="2"/>
              <a:buChar char="Ø"/>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操作员在玩新游戏程序时，前台确实是在玩游戏，但隐藏在后台运行的特洛伊木马程序，却将系统中的口令文件复制到了该黑客的文件中</a:t>
            </a:r>
          </a:p>
          <a:p>
            <a:pPr marL="457200" lvl="3" indent="-442595">
              <a:lnSpc>
                <a:spcPct val="123000"/>
              </a:lnSpc>
              <a:spcBef>
                <a:spcPts val="600"/>
              </a:spcBef>
              <a:buClr>
                <a:srgbClr val="FF0000"/>
              </a:buClr>
              <a:buFont typeface="Wingdings" panose="05000000000000000000" pitchFamily="2" charset="2"/>
              <a:buChar char="Ø"/>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由于操作员在打游戏时系统是在高特权模式下运行的，此时，隐藏在游戏程序中的特洛伊木马就继承了高特权，因此能够访问口令文件</a:t>
            </a:r>
          </a:p>
        </p:txBody>
      </p:sp>
      <p:grpSp>
        <p:nvGrpSpPr>
          <p:cNvPr id="5" name="组合 4"/>
          <p:cNvGrpSpPr/>
          <p:nvPr/>
        </p:nvGrpSpPr>
        <p:grpSpPr>
          <a:xfrm>
            <a:off x="601369" y="1223178"/>
            <a:ext cx="712277" cy="418475"/>
            <a:chOff x="673100" y="2982961"/>
            <a:chExt cx="1597850" cy="938764"/>
          </a:xfrm>
        </p:grpSpPr>
        <p:sp>
          <p:nvSpPr>
            <p:cNvPr id="6" name="ïsḷîde"/>
            <p:cNvSpPr/>
            <p:nvPr/>
          </p:nvSpPr>
          <p:spPr bwMode="auto">
            <a:xfrm>
              <a:off x="673100" y="2982961"/>
              <a:ext cx="1597850" cy="938764"/>
            </a:xfrm>
            <a:prstGeom prst="hexagon">
              <a:avLst/>
            </a:prstGeom>
            <a:solidFill>
              <a:schemeClr val="accent1"/>
            </a:solidFill>
            <a:ln w="19050">
              <a:noFill/>
              <a:round/>
            </a:ln>
          </p:spPr>
          <p:txBody>
            <a:bodyPr wrap="square" lIns="91440" tIns="45720" rIns="91440" bIns="45720" anchor="ctr">
              <a:normAutofit fontScale="47500" lnSpcReduction="20000"/>
            </a:bodyPr>
            <a:lstStyle/>
            <a:p>
              <a:pPr algn="ctr"/>
              <a:endParaRPr lang="en-US" altLang="zh-CN" sz="3200" dirty="0">
                <a:solidFill>
                  <a:schemeClr val="bg1">
                    <a:lumMod val="100000"/>
                  </a:schemeClr>
                </a:solidFill>
                <a:latin typeface="Impact" panose="020B0806030902050204" pitchFamily="34" charset="0"/>
              </a:endParaRPr>
            </a:p>
          </p:txBody>
        </p:sp>
        <p:sp>
          <p:nvSpPr>
            <p:cNvPr id="7" name="iṥḻíḓê"/>
            <p:cNvSpPr/>
            <p:nvPr/>
          </p:nvSpPr>
          <p:spPr bwMode="auto">
            <a:xfrm>
              <a:off x="1212384" y="3153135"/>
              <a:ext cx="567411" cy="566350"/>
            </a:xfrm>
            <a:custGeom>
              <a:avLst/>
              <a:gdLst>
                <a:gd name="connsiteX0" fmla="*/ 290910 w 605702"/>
                <a:gd name="connsiteY0" fmla="*/ 156336 h 604568"/>
                <a:gd name="connsiteX1" fmla="*/ 335849 w 605702"/>
                <a:gd name="connsiteY1" fmla="*/ 164992 h 604568"/>
                <a:gd name="connsiteX2" fmla="*/ 288310 w 605702"/>
                <a:gd name="connsiteY2" fmla="*/ 212456 h 604568"/>
                <a:gd name="connsiteX3" fmla="*/ 203632 w 605702"/>
                <a:gd name="connsiteY3" fmla="*/ 244717 h 604568"/>
                <a:gd name="connsiteX4" fmla="*/ 203632 w 605702"/>
                <a:gd name="connsiteY4" fmla="*/ 401388 h 604568"/>
                <a:gd name="connsiteX5" fmla="*/ 360547 w 605702"/>
                <a:gd name="connsiteY5" fmla="*/ 401388 h 604568"/>
                <a:gd name="connsiteX6" fmla="*/ 392859 w 605702"/>
                <a:gd name="connsiteY6" fmla="*/ 316749 h 604568"/>
                <a:gd name="connsiteX7" fmla="*/ 440397 w 605702"/>
                <a:gd name="connsiteY7" fmla="*/ 269284 h 604568"/>
                <a:gd name="connsiteX8" fmla="*/ 400287 w 605702"/>
                <a:gd name="connsiteY8" fmla="*/ 441065 h 604568"/>
                <a:gd name="connsiteX9" fmla="*/ 163892 w 605702"/>
                <a:gd name="connsiteY9" fmla="*/ 441065 h 604568"/>
                <a:gd name="connsiteX10" fmla="*/ 163892 w 605702"/>
                <a:gd name="connsiteY10" fmla="*/ 205040 h 604568"/>
                <a:gd name="connsiteX11" fmla="*/ 290910 w 605702"/>
                <a:gd name="connsiteY11" fmla="*/ 156336 h 604568"/>
                <a:gd name="connsiteX12" fmla="*/ 246542 w 605702"/>
                <a:gd name="connsiteY12" fmla="*/ 43775 h 604568"/>
                <a:gd name="connsiteX13" fmla="*/ 422196 w 605702"/>
                <a:gd name="connsiteY13" fmla="*/ 78723 h 604568"/>
                <a:gd name="connsiteX14" fmla="*/ 376794 w 605702"/>
                <a:gd name="connsiteY14" fmla="*/ 124054 h 604568"/>
                <a:gd name="connsiteX15" fmla="*/ 126109 w 605702"/>
                <a:gd name="connsiteY15" fmla="*/ 167345 h 604568"/>
                <a:gd name="connsiteX16" fmla="*/ 126109 w 605702"/>
                <a:gd name="connsiteY16" fmla="*/ 478820 h 604568"/>
                <a:gd name="connsiteX17" fmla="*/ 438073 w 605702"/>
                <a:gd name="connsiteY17" fmla="*/ 478820 h 604568"/>
                <a:gd name="connsiteX18" fmla="*/ 481432 w 605702"/>
                <a:gd name="connsiteY18" fmla="*/ 228527 h 604568"/>
                <a:gd name="connsiteX19" fmla="*/ 526741 w 605702"/>
                <a:gd name="connsiteY19" fmla="*/ 183011 h 604568"/>
                <a:gd name="connsiteX20" fmla="*/ 481432 w 605702"/>
                <a:gd name="connsiteY20" fmla="*/ 522111 h 604568"/>
                <a:gd name="connsiteX21" fmla="*/ 82657 w 605702"/>
                <a:gd name="connsiteY21" fmla="*/ 522111 h 604568"/>
                <a:gd name="connsiteX22" fmla="*/ 82657 w 605702"/>
                <a:gd name="connsiteY22" fmla="*/ 123961 h 604568"/>
                <a:gd name="connsiteX23" fmla="*/ 246542 w 605702"/>
                <a:gd name="connsiteY23" fmla="*/ 43775 h 604568"/>
                <a:gd name="connsiteX24" fmla="*/ 536061 w 605702"/>
                <a:gd name="connsiteY24" fmla="*/ 0 h 604568"/>
                <a:gd name="connsiteX25" fmla="*/ 544232 w 605702"/>
                <a:gd name="connsiteY25" fmla="*/ 61368 h 604568"/>
                <a:gd name="connsiteX26" fmla="*/ 605702 w 605702"/>
                <a:gd name="connsiteY26" fmla="*/ 69526 h 604568"/>
                <a:gd name="connsiteX27" fmla="*/ 524361 w 605702"/>
                <a:gd name="connsiteY27" fmla="*/ 150732 h 604568"/>
                <a:gd name="connsiteX28" fmla="*/ 498361 w 605702"/>
                <a:gd name="connsiteY28" fmla="*/ 147302 h 604568"/>
                <a:gd name="connsiteX29" fmla="*/ 337721 w 605702"/>
                <a:gd name="connsiteY29" fmla="*/ 307767 h 604568"/>
                <a:gd name="connsiteX30" fmla="*/ 339764 w 605702"/>
                <a:gd name="connsiteY30" fmla="*/ 323063 h 604568"/>
                <a:gd name="connsiteX31" fmla="*/ 282101 w 605702"/>
                <a:gd name="connsiteY31" fmla="*/ 380630 h 604568"/>
                <a:gd name="connsiteX32" fmla="*/ 224437 w 605702"/>
                <a:gd name="connsiteY32" fmla="*/ 323063 h 604568"/>
                <a:gd name="connsiteX33" fmla="*/ 282101 w 605702"/>
                <a:gd name="connsiteY33" fmla="*/ 265495 h 604568"/>
                <a:gd name="connsiteX34" fmla="*/ 297422 w 605702"/>
                <a:gd name="connsiteY34" fmla="*/ 267535 h 604568"/>
                <a:gd name="connsiteX35" fmla="*/ 458155 w 605702"/>
                <a:gd name="connsiteY35" fmla="*/ 107162 h 604568"/>
                <a:gd name="connsiteX36" fmla="*/ 454719 w 605702"/>
                <a:gd name="connsiteY36" fmla="*/ 81206 h 604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05702" h="604568">
                  <a:moveTo>
                    <a:pt x="290910" y="156336"/>
                  </a:moveTo>
                  <a:cubicBezTo>
                    <a:pt x="306137" y="157147"/>
                    <a:pt x="321272" y="160032"/>
                    <a:pt x="335849" y="164992"/>
                  </a:cubicBezTo>
                  <a:lnTo>
                    <a:pt x="288310" y="212456"/>
                  </a:lnTo>
                  <a:cubicBezTo>
                    <a:pt x="257856" y="210695"/>
                    <a:pt x="226844" y="221449"/>
                    <a:pt x="203632" y="244717"/>
                  </a:cubicBezTo>
                  <a:cubicBezTo>
                    <a:pt x="160271" y="287918"/>
                    <a:pt x="160271" y="358187"/>
                    <a:pt x="203632" y="401388"/>
                  </a:cubicBezTo>
                  <a:cubicBezTo>
                    <a:pt x="246900" y="444680"/>
                    <a:pt x="317279" y="444680"/>
                    <a:pt x="360547" y="401388"/>
                  </a:cubicBezTo>
                  <a:cubicBezTo>
                    <a:pt x="383852" y="378211"/>
                    <a:pt x="394623" y="347156"/>
                    <a:pt x="392859" y="316749"/>
                  </a:cubicBezTo>
                  <a:lnTo>
                    <a:pt x="440397" y="269284"/>
                  </a:lnTo>
                  <a:cubicBezTo>
                    <a:pt x="460267" y="327595"/>
                    <a:pt x="446897" y="394620"/>
                    <a:pt x="400287" y="441065"/>
                  </a:cubicBezTo>
                  <a:cubicBezTo>
                    <a:pt x="335106" y="506236"/>
                    <a:pt x="229073" y="506236"/>
                    <a:pt x="163892" y="441065"/>
                  </a:cubicBezTo>
                  <a:cubicBezTo>
                    <a:pt x="98619" y="375987"/>
                    <a:pt x="98619" y="270118"/>
                    <a:pt x="163892" y="205040"/>
                  </a:cubicBezTo>
                  <a:cubicBezTo>
                    <a:pt x="198711" y="170137"/>
                    <a:pt x="245228" y="153902"/>
                    <a:pt x="290910" y="156336"/>
                  </a:cubicBezTo>
                  <a:close/>
                  <a:moveTo>
                    <a:pt x="246542" y="43775"/>
                  </a:moveTo>
                  <a:cubicBezTo>
                    <a:pt x="306463" y="36243"/>
                    <a:pt x="368345" y="47900"/>
                    <a:pt x="422196" y="78723"/>
                  </a:cubicBezTo>
                  <a:lnTo>
                    <a:pt x="376794" y="124054"/>
                  </a:lnTo>
                  <a:cubicBezTo>
                    <a:pt x="294811" y="85305"/>
                    <a:pt x="193980" y="99581"/>
                    <a:pt x="126109" y="167345"/>
                  </a:cubicBezTo>
                  <a:cubicBezTo>
                    <a:pt x="39948" y="253371"/>
                    <a:pt x="39948" y="392793"/>
                    <a:pt x="126109" y="478820"/>
                  </a:cubicBezTo>
                  <a:cubicBezTo>
                    <a:pt x="212271" y="564846"/>
                    <a:pt x="351912" y="564846"/>
                    <a:pt x="438073" y="478820"/>
                  </a:cubicBezTo>
                  <a:cubicBezTo>
                    <a:pt x="505944" y="411055"/>
                    <a:pt x="520428" y="310382"/>
                    <a:pt x="481432" y="228527"/>
                  </a:cubicBezTo>
                  <a:lnTo>
                    <a:pt x="526741" y="183011"/>
                  </a:lnTo>
                  <a:cubicBezTo>
                    <a:pt x="588484" y="290544"/>
                    <a:pt x="573350" y="430244"/>
                    <a:pt x="481432" y="522111"/>
                  </a:cubicBezTo>
                  <a:cubicBezTo>
                    <a:pt x="371316" y="632054"/>
                    <a:pt x="192866" y="632054"/>
                    <a:pt x="82657" y="522111"/>
                  </a:cubicBezTo>
                  <a:cubicBezTo>
                    <a:pt x="-27552" y="412168"/>
                    <a:pt x="-27552" y="233997"/>
                    <a:pt x="82657" y="123961"/>
                  </a:cubicBezTo>
                  <a:cubicBezTo>
                    <a:pt x="128662" y="78028"/>
                    <a:pt x="186622" y="51307"/>
                    <a:pt x="246542" y="43775"/>
                  </a:cubicBezTo>
                  <a:close/>
                  <a:moveTo>
                    <a:pt x="536061" y="0"/>
                  </a:moveTo>
                  <a:lnTo>
                    <a:pt x="544232" y="61368"/>
                  </a:lnTo>
                  <a:lnTo>
                    <a:pt x="605702" y="69526"/>
                  </a:lnTo>
                  <a:lnTo>
                    <a:pt x="524361" y="150732"/>
                  </a:lnTo>
                  <a:lnTo>
                    <a:pt x="498361" y="147302"/>
                  </a:lnTo>
                  <a:lnTo>
                    <a:pt x="337721" y="307767"/>
                  </a:lnTo>
                  <a:cubicBezTo>
                    <a:pt x="339021" y="312588"/>
                    <a:pt x="339764" y="317779"/>
                    <a:pt x="339764" y="323063"/>
                  </a:cubicBezTo>
                  <a:cubicBezTo>
                    <a:pt x="339764" y="354859"/>
                    <a:pt x="313950" y="380630"/>
                    <a:pt x="282101" y="380630"/>
                  </a:cubicBezTo>
                  <a:cubicBezTo>
                    <a:pt x="250251" y="380630"/>
                    <a:pt x="224437" y="354859"/>
                    <a:pt x="224437" y="323063"/>
                  </a:cubicBezTo>
                  <a:cubicBezTo>
                    <a:pt x="224437" y="291266"/>
                    <a:pt x="250251" y="265495"/>
                    <a:pt x="282101" y="265495"/>
                  </a:cubicBezTo>
                  <a:cubicBezTo>
                    <a:pt x="287393" y="265495"/>
                    <a:pt x="292500" y="266237"/>
                    <a:pt x="297422" y="267535"/>
                  </a:cubicBezTo>
                  <a:lnTo>
                    <a:pt x="458155" y="107162"/>
                  </a:lnTo>
                  <a:lnTo>
                    <a:pt x="454719" y="81206"/>
                  </a:lnTo>
                  <a:close/>
                </a:path>
              </a:pathLst>
            </a:custGeom>
            <a:solidFill>
              <a:schemeClr val="bg1"/>
            </a:solidFill>
            <a:ln>
              <a:noFill/>
            </a:ln>
          </p:spPr>
          <p:txBody>
            <a:bodyPr wrap="square" lIns="91440" tIns="45720" rIns="91440" bIns="45720">
              <a:normAutofit fontScale="70000" lnSpcReduction="20000"/>
            </a:bodyPr>
            <a:lstStyle/>
            <a:p>
              <a:endParaRPr lang="zh-CN" altLang="en-US"/>
            </a:p>
          </p:txBody>
        </p:sp>
      </p:grpSp>
      <p:grpSp>
        <p:nvGrpSpPr>
          <p:cNvPr id="8" name="组合 7"/>
          <p:cNvGrpSpPr/>
          <p:nvPr/>
        </p:nvGrpSpPr>
        <p:grpSpPr>
          <a:xfrm>
            <a:off x="612096" y="3155164"/>
            <a:ext cx="712277" cy="418475"/>
            <a:chOff x="673100" y="2982961"/>
            <a:chExt cx="1597850" cy="938764"/>
          </a:xfrm>
        </p:grpSpPr>
        <p:sp>
          <p:nvSpPr>
            <p:cNvPr id="9" name="ïsḷîde"/>
            <p:cNvSpPr/>
            <p:nvPr/>
          </p:nvSpPr>
          <p:spPr bwMode="auto">
            <a:xfrm>
              <a:off x="673100" y="2982961"/>
              <a:ext cx="1597850" cy="938764"/>
            </a:xfrm>
            <a:prstGeom prst="hexagon">
              <a:avLst/>
            </a:prstGeom>
            <a:solidFill>
              <a:schemeClr val="accent1"/>
            </a:solidFill>
            <a:ln w="19050">
              <a:noFill/>
              <a:round/>
            </a:ln>
          </p:spPr>
          <p:txBody>
            <a:bodyPr wrap="square" lIns="91440" tIns="45720" rIns="91440" bIns="45720" anchor="ctr">
              <a:normAutofit fontScale="47500" lnSpcReduction="20000"/>
            </a:bodyPr>
            <a:lstStyle/>
            <a:p>
              <a:pPr algn="ctr"/>
              <a:endParaRPr lang="en-US" altLang="zh-CN" sz="3200" dirty="0">
                <a:solidFill>
                  <a:schemeClr val="bg1">
                    <a:lumMod val="100000"/>
                  </a:schemeClr>
                </a:solidFill>
                <a:latin typeface="Impact" panose="020B0806030902050204" pitchFamily="34" charset="0"/>
              </a:endParaRPr>
            </a:p>
          </p:txBody>
        </p:sp>
        <p:sp>
          <p:nvSpPr>
            <p:cNvPr id="10" name="iṥḻíḓê"/>
            <p:cNvSpPr/>
            <p:nvPr/>
          </p:nvSpPr>
          <p:spPr bwMode="auto">
            <a:xfrm>
              <a:off x="1212384" y="3153135"/>
              <a:ext cx="567411" cy="566350"/>
            </a:xfrm>
            <a:custGeom>
              <a:avLst/>
              <a:gdLst>
                <a:gd name="connsiteX0" fmla="*/ 290910 w 605702"/>
                <a:gd name="connsiteY0" fmla="*/ 156336 h 604568"/>
                <a:gd name="connsiteX1" fmla="*/ 335849 w 605702"/>
                <a:gd name="connsiteY1" fmla="*/ 164992 h 604568"/>
                <a:gd name="connsiteX2" fmla="*/ 288310 w 605702"/>
                <a:gd name="connsiteY2" fmla="*/ 212456 h 604568"/>
                <a:gd name="connsiteX3" fmla="*/ 203632 w 605702"/>
                <a:gd name="connsiteY3" fmla="*/ 244717 h 604568"/>
                <a:gd name="connsiteX4" fmla="*/ 203632 w 605702"/>
                <a:gd name="connsiteY4" fmla="*/ 401388 h 604568"/>
                <a:gd name="connsiteX5" fmla="*/ 360547 w 605702"/>
                <a:gd name="connsiteY5" fmla="*/ 401388 h 604568"/>
                <a:gd name="connsiteX6" fmla="*/ 392859 w 605702"/>
                <a:gd name="connsiteY6" fmla="*/ 316749 h 604568"/>
                <a:gd name="connsiteX7" fmla="*/ 440397 w 605702"/>
                <a:gd name="connsiteY7" fmla="*/ 269284 h 604568"/>
                <a:gd name="connsiteX8" fmla="*/ 400287 w 605702"/>
                <a:gd name="connsiteY8" fmla="*/ 441065 h 604568"/>
                <a:gd name="connsiteX9" fmla="*/ 163892 w 605702"/>
                <a:gd name="connsiteY9" fmla="*/ 441065 h 604568"/>
                <a:gd name="connsiteX10" fmla="*/ 163892 w 605702"/>
                <a:gd name="connsiteY10" fmla="*/ 205040 h 604568"/>
                <a:gd name="connsiteX11" fmla="*/ 290910 w 605702"/>
                <a:gd name="connsiteY11" fmla="*/ 156336 h 604568"/>
                <a:gd name="connsiteX12" fmla="*/ 246542 w 605702"/>
                <a:gd name="connsiteY12" fmla="*/ 43775 h 604568"/>
                <a:gd name="connsiteX13" fmla="*/ 422196 w 605702"/>
                <a:gd name="connsiteY13" fmla="*/ 78723 h 604568"/>
                <a:gd name="connsiteX14" fmla="*/ 376794 w 605702"/>
                <a:gd name="connsiteY14" fmla="*/ 124054 h 604568"/>
                <a:gd name="connsiteX15" fmla="*/ 126109 w 605702"/>
                <a:gd name="connsiteY15" fmla="*/ 167345 h 604568"/>
                <a:gd name="connsiteX16" fmla="*/ 126109 w 605702"/>
                <a:gd name="connsiteY16" fmla="*/ 478820 h 604568"/>
                <a:gd name="connsiteX17" fmla="*/ 438073 w 605702"/>
                <a:gd name="connsiteY17" fmla="*/ 478820 h 604568"/>
                <a:gd name="connsiteX18" fmla="*/ 481432 w 605702"/>
                <a:gd name="connsiteY18" fmla="*/ 228527 h 604568"/>
                <a:gd name="connsiteX19" fmla="*/ 526741 w 605702"/>
                <a:gd name="connsiteY19" fmla="*/ 183011 h 604568"/>
                <a:gd name="connsiteX20" fmla="*/ 481432 w 605702"/>
                <a:gd name="connsiteY20" fmla="*/ 522111 h 604568"/>
                <a:gd name="connsiteX21" fmla="*/ 82657 w 605702"/>
                <a:gd name="connsiteY21" fmla="*/ 522111 h 604568"/>
                <a:gd name="connsiteX22" fmla="*/ 82657 w 605702"/>
                <a:gd name="connsiteY22" fmla="*/ 123961 h 604568"/>
                <a:gd name="connsiteX23" fmla="*/ 246542 w 605702"/>
                <a:gd name="connsiteY23" fmla="*/ 43775 h 604568"/>
                <a:gd name="connsiteX24" fmla="*/ 536061 w 605702"/>
                <a:gd name="connsiteY24" fmla="*/ 0 h 604568"/>
                <a:gd name="connsiteX25" fmla="*/ 544232 w 605702"/>
                <a:gd name="connsiteY25" fmla="*/ 61368 h 604568"/>
                <a:gd name="connsiteX26" fmla="*/ 605702 w 605702"/>
                <a:gd name="connsiteY26" fmla="*/ 69526 h 604568"/>
                <a:gd name="connsiteX27" fmla="*/ 524361 w 605702"/>
                <a:gd name="connsiteY27" fmla="*/ 150732 h 604568"/>
                <a:gd name="connsiteX28" fmla="*/ 498361 w 605702"/>
                <a:gd name="connsiteY28" fmla="*/ 147302 h 604568"/>
                <a:gd name="connsiteX29" fmla="*/ 337721 w 605702"/>
                <a:gd name="connsiteY29" fmla="*/ 307767 h 604568"/>
                <a:gd name="connsiteX30" fmla="*/ 339764 w 605702"/>
                <a:gd name="connsiteY30" fmla="*/ 323063 h 604568"/>
                <a:gd name="connsiteX31" fmla="*/ 282101 w 605702"/>
                <a:gd name="connsiteY31" fmla="*/ 380630 h 604568"/>
                <a:gd name="connsiteX32" fmla="*/ 224437 w 605702"/>
                <a:gd name="connsiteY32" fmla="*/ 323063 h 604568"/>
                <a:gd name="connsiteX33" fmla="*/ 282101 w 605702"/>
                <a:gd name="connsiteY33" fmla="*/ 265495 h 604568"/>
                <a:gd name="connsiteX34" fmla="*/ 297422 w 605702"/>
                <a:gd name="connsiteY34" fmla="*/ 267535 h 604568"/>
                <a:gd name="connsiteX35" fmla="*/ 458155 w 605702"/>
                <a:gd name="connsiteY35" fmla="*/ 107162 h 604568"/>
                <a:gd name="connsiteX36" fmla="*/ 454719 w 605702"/>
                <a:gd name="connsiteY36" fmla="*/ 81206 h 604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05702" h="604568">
                  <a:moveTo>
                    <a:pt x="290910" y="156336"/>
                  </a:moveTo>
                  <a:cubicBezTo>
                    <a:pt x="306137" y="157147"/>
                    <a:pt x="321272" y="160032"/>
                    <a:pt x="335849" y="164992"/>
                  </a:cubicBezTo>
                  <a:lnTo>
                    <a:pt x="288310" y="212456"/>
                  </a:lnTo>
                  <a:cubicBezTo>
                    <a:pt x="257856" y="210695"/>
                    <a:pt x="226844" y="221449"/>
                    <a:pt x="203632" y="244717"/>
                  </a:cubicBezTo>
                  <a:cubicBezTo>
                    <a:pt x="160271" y="287918"/>
                    <a:pt x="160271" y="358187"/>
                    <a:pt x="203632" y="401388"/>
                  </a:cubicBezTo>
                  <a:cubicBezTo>
                    <a:pt x="246900" y="444680"/>
                    <a:pt x="317279" y="444680"/>
                    <a:pt x="360547" y="401388"/>
                  </a:cubicBezTo>
                  <a:cubicBezTo>
                    <a:pt x="383852" y="378211"/>
                    <a:pt x="394623" y="347156"/>
                    <a:pt x="392859" y="316749"/>
                  </a:cubicBezTo>
                  <a:lnTo>
                    <a:pt x="440397" y="269284"/>
                  </a:lnTo>
                  <a:cubicBezTo>
                    <a:pt x="460267" y="327595"/>
                    <a:pt x="446897" y="394620"/>
                    <a:pt x="400287" y="441065"/>
                  </a:cubicBezTo>
                  <a:cubicBezTo>
                    <a:pt x="335106" y="506236"/>
                    <a:pt x="229073" y="506236"/>
                    <a:pt x="163892" y="441065"/>
                  </a:cubicBezTo>
                  <a:cubicBezTo>
                    <a:pt x="98619" y="375987"/>
                    <a:pt x="98619" y="270118"/>
                    <a:pt x="163892" y="205040"/>
                  </a:cubicBezTo>
                  <a:cubicBezTo>
                    <a:pt x="198711" y="170137"/>
                    <a:pt x="245228" y="153902"/>
                    <a:pt x="290910" y="156336"/>
                  </a:cubicBezTo>
                  <a:close/>
                  <a:moveTo>
                    <a:pt x="246542" y="43775"/>
                  </a:moveTo>
                  <a:cubicBezTo>
                    <a:pt x="306463" y="36243"/>
                    <a:pt x="368345" y="47900"/>
                    <a:pt x="422196" y="78723"/>
                  </a:cubicBezTo>
                  <a:lnTo>
                    <a:pt x="376794" y="124054"/>
                  </a:lnTo>
                  <a:cubicBezTo>
                    <a:pt x="294811" y="85305"/>
                    <a:pt x="193980" y="99581"/>
                    <a:pt x="126109" y="167345"/>
                  </a:cubicBezTo>
                  <a:cubicBezTo>
                    <a:pt x="39948" y="253371"/>
                    <a:pt x="39948" y="392793"/>
                    <a:pt x="126109" y="478820"/>
                  </a:cubicBezTo>
                  <a:cubicBezTo>
                    <a:pt x="212271" y="564846"/>
                    <a:pt x="351912" y="564846"/>
                    <a:pt x="438073" y="478820"/>
                  </a:cubicBezTo>
                  <a:cubicBezTo>
                    <a:pt x="505944" y="411055"/>
                    <a:pt x="520428" y="310382"/>
                    <a:pt x="481432" y="228527"/>
                  </a:cubicBezTo>
                  <a:lnTo>
                    <a:pt x="526741" y="183011"/>
                  </a:lnTo>
                  <a:cubicBezTo>
                    <a:pt x="588484" y="290544"/>
                    <a:pt x="573350" y="430244"/>
                    <a:pt x="481432" y="522111"/>
                  </a:cubicBezTo>
                  <a:cubicBezTo>
                    <a:pt x="371316" y="632054"/>
                    <a:pt x="192866" y="632054"/>
                    <a:pt x="82657" y="522111"/>
                  </a:cubicBezTo>
                  <a:cubicBezTo>
                    <a:pt x="-27552" y="412168"/>
                    <a:pt x="-27552" y="233997"/>
                    <a:pt x="82657" y="123961"/>
                  </a:cubicBezTo>
                  <a:cubicBezTo>
                    <a:pt x="128662" y="78028"/>
                    <a:pt x="186622" y="51307"/>
                    <a:pt x="246542" y="43775"/>
                  </a:cubicBezTo>
                  <a:close/>
                  <a:moveTo>
                    <a:pt x="536061" y="0"/>
                  </a:moveTo>
                  <a:lnTo>
                    <a:pt x="544232" y="61368"/>
                  </a:lnTo>
                  <a:lnTo>
                    <a:pt x="605702" y="69526"/>
                  </a:lnTo>
                  <a:lnTo>
                    <a:pt x="524361" y="150732"/>
                  </a:lnTo>
                  <a:lnTo>
                    <a:pt x="498361" y="147302"/>
                  </a:lnTo>
                  <a:lnTo>
                    <a:pt x="337721" y="307767"/>
                  </a:lnTo>
                  <a:cubicBezTo>
                    <a:pt x="339021" y="312588"/>
                    <a:pt x="339764" y="317779"/>
                    <a:pt x="339764" y="323063"/>
                  </a:cubicBezTo>
                  <a:cubicBezTo>
                    <a:pt x="339764" y="354859"/>
                    <a:pt x="313950" y="380630"/>
                    <a:pt x="282101" y="380630"/>
                  </a:cubicBezTo>
                  <a:cubicBezTo>
                    <a:pt x="250251" y="380630"/>
                    <a:pt x="224437" y="354859"/>
                    <a:pt x="224437" y="323063"/>
                  </a:cubicBezTo>
                  <a:cubicBezTo>
                    <a:pt x="224437" y="291266"/>
                    <a:pt x="250251" y="265495"/>
                    <a:pt x="282101" y="265495"/>
                  </a:cubicBezTo>
                  <a:cubicBezTo>
                    <a:pt x="287393" y="265495"/>
                    <a:pt x="292500" y="266237"/>
                    <a:pt x="297422" y="267535"/>
                  </a:cubicBezTo>
                  <a:lnTo>
                    <a:pt x="458155" y="107162"/>
                  </a:lnTo>
                  <a:lnTo>
                    <a:pt x="454719" y="81206"/>
                  </a:lnTo>
                  <a:close/>
                </a:path>
              </a:pathLst>
            </a:custGeom>
            <a:solidFill>
              <a:schemeClr val="bg1"/>
            </a:solidFill>
            <a:ln>
              <a:noFill/>
            </a:ln>
          </p:spPr>
          <p:txBody>
            <a:bodyPr wrap="square" lIns="91440" tIns="45720" rIns="91440" bIns="45720">
              <a:normAutofit fontScale="70000" lnSpcReduction="20000"/>
            </a:bodyPr>
            <a:lstStyle/>
            <a:p>
              <a:endParaRPr lang="zh-CN" altLang="en-US"/>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登录欺骗</a:t>
            </a:r>
          </a:p>
        </p:txBody>
      </p:sp>
      <p:sp>
        <p:nvSpPr>
          <p:cNvPr id="4" name="内容占位符 2"/>
          <p:cNvSpPr txBox="1"/>
          <p:nvPr/>
        </p:nvSpPr>
        <p:spPr>
          <a:xfrm>
            <a:off x="515379" y="1219142"/>
            <a:ext cx="4945487" cy="59274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3000"/>
              </a:lnSpc>
              <a:spcBef>
                <a:spcPts val="600"/>
              </a:spcBef>
              <a:buNone/>
            </a:pP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以</a:t>
            </a:r>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UNIX</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系统为例来说明</a:t>
            </a:r>
            <a:r>
              <a:rPr lang="zh-CN" altLang="en-US" sz="2400" dirty="0">
                <a:solidFill>
                  <a:srgbClr val="FF0000"/>
                </a:solidFill>
                <a:latin typeface="Times New Roman" panose="02020603050405020304" pitchFamily="18" charset="0"/>
                <a:ea typeface="微软雅黑" panose="020B0503020204020204" pitchFamily="34" charset="-122"/>
                <a:cs typeface="+mn-ea"/>
                <a:sym typeface="Times New Roman" panose="02020603050405020304" pitchFamily="18" charset="0"/>
              </a:rPr>
              <a:t>登录欺骗</a:t>
            </a:r>
          </a:p>
        </p:txBody>
      </p:sp>
      <p:grpSp>
        <p:nvGrpSpPr>
          <p:cNvPr id="5" name="185926"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18632" y="1955249"/>
            <a:ext cx="11125200" cy="2821817"/>
            <a:chOff x="660400" y="1580301"/>
            <a:chExt cx="11125200" cy="2821817"/>
          </a:xfrm>
        </p:grpSpPr>
        <p:sp>
          <p:nvSpPr>
            <p:cNvPr id="6" name="íṥḻîḑe"/>
            <p:cNvSpPr/>
            <p:nvPr/>
          </p:nvSpPr>
          <p:spPr>
            <a:xfrm>
              <a:off x="682048" y="1580301"/>
              <a:ext cx="2180193" cy="1008354"/>
            </a:xfrm>
            <a:prstGeom prst="rect">
              <a:avLst/>
            </a:prstGeom>
            <a:blipFill>
              <a:blip r:embed="rId3"/>
              <a:srcRect/>
              <a:stretch>
                <a:fillRect t="-17779" b="-17603"/>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7" name="ïşḻiḍé"/>
            <p:cNvSpPr/>
            <p:nvPr/>
          </p:nvSpPr>
          <p:spPr>
            <a:xfrm>
              <a:off x="660400" y="2732018"/>
              <a:ext cx="2201841" cy="1670100"/>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lnSpc>
                  <a:spcPct val="123000"/>
                </a:lnSpc>
              </a:pPr>
              <a:r>
                <a:rPr lang="zh-CN" altLang="en-US" sz="2000" dirty="0">
                  <a:solidFill>
                    <a:schemeClr val="tx1"/>
                  </a:solidFill>
                </a:rPr>
                <a:t>攻击者编写欺骗登录程序，该程序同样会在屏幕上显示“</a:t>
              </a:r>
              <a:r>
                <a:rPr lang="en-US" altLang="zh-CN" sz="2000" dirty="0">
                  <a:solidFill>
                    <a:schemeClr val="tx1"/>
                  </a:solidFill>
                </a:rPr>
                <a:t>Login:”</a:t>
              </a:r>
              <a:r>
                <a:rPr lang="zh-CN" altLang="en-US" sz="2000" dirty="0">
                  <a:solidFill>
                    <a:schemeClr val="tx1"/>
                  </a:solidFill>
                </a:rPr>
                <a:t>，用于欺骗其他用户进行登录。</a:t>
              </a:r>
            </a:p>
          </p:txBody>
        </p:sp>
        <p:sp>
          <p:nvSpPr>
            <p:cNvPr id="8" name="îŝļiḋe"/>
            <p:cNvSpPr/>
            <p:nvPr/>
          </p:nvSpPr>
          <p:spPr>
            <a:xfrm>
              <a:off x="3081183" y="1580301"/>
              <a:ext cx="4747550" cy="1008354"/>
            </a:xfrm>
            <a:prstGeom prst="rect">
              <a:avLst/>
            </a:prstGeom>
            <a:blipFill>
              <a:blip r:embed="rId4"/>
              <a:srcRect/>
              <a:stretch>
                <a:fillRect t="-50445" b="-49949"/>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9" name="ïšlïḑè"/>
            <p:cNvSpPr/>
            <p:nvPr/>
          </p:nvSpPr>
          <p:spPr>
            <a:xfrm>
              <a:off x="3081183" y="2732018"/>
              <a:ext cx="4767089" cy="1670100"/>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nSpc>
                  <a:spcPct val="123000"/>
                </a:lnSpc>
              </a:pPr>
              <a:r>
                <a:rPr lang="zh-CN" altLang="en-US" sz="2000" dirty="0">
                  <a:solidFill>
                    <a:schemeClr val="tx1"/>
                  </a:solidFill>
                </a:rPr>
                <a:t>当有一用户输入登录名后，欺骗登录程序会接着要求它输入口令。当该用户将口令输入完毕后，欺骗登录程序就会把刚输入的登录名和口令写入一份事先准备好的文件中，并发出信号以请求结束</a:t>
              </a:r>
              <a:r>
                <a:rPr lang="en-US" altLang="zh-CN" sz="2000" dirty="0">
                  <a:solidFill>
                    <a:schemeClr val="tx1"/>
                  </a:solidFill>
                </a:rPr>
                <a:t>shell</a:t>
              </a:r>
              <a:r>
                <a:rPr lang="zh-CN" altLang="en-US" sz="2000" dirty="0">
                  <a:solidFill>
                    <a:schemeClr val="tx1"/>
                  </a:solidFill>
                </a:rPr>
                <a:t>程序，于是欺骗登录程序退出登录，同时也去触发真正的登录程序，并在屏幕上再次显示出“</a:t>
              </a:r>
              <a:r>
                <a:rPr lang="en-US" altLang="zh-CN" sz="2000" dirty="0">
                  <a:solidFill>
                    <a:schemeClr val="tx1"/>
                  </a:solidFill>
                </a:rPr>
                <a:t>Login:”</a:t>
              </a:r>
            </a:p>
          </p:txBody>
        </p:sp>
        <p:sp>
          <p:nvSpPr>
            <p:cNvPr id="10" name="íŝḻiďé"/>
            <p:cNvSpPr/>
            <p:nvPr/>
          </p:nvSpPr>
          <p:spPr>
            <a:xfrm>
              <a:off x="8023305" y="1580301"/>
              <a:ext cx="3762295" cy="1008354"/>
            </a:xfrm>
            <a:prstGeom prst="rect">
              <a:avLst/>
            </a:prstGeom>
            <a:blipFill>
              <a:blip r:embed="rId5"/>
              <a:srcRect/>
              <a:stretch>
                <a:fillRect l="-5418" r="-5379"/>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11" name="í$ḷîḋe"/>
            <p:cNvSpPr/>
            <p:nvPr/>
          </p:nvSpPr>
          <p:spPr>
            <a:xfrm>
              <a:off x="8001657" y="2732018"/>
              <a:ext cx="3783943" cy="1670100"/>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nSpc>
                  <a:spcPct val="123000"/>
                </a:lnSpc>
              </a:pPr>
              <a:r>
                <a:rPr lang="zh-CN" altLang="en-US" sz="2000" dirty="0">
                  <a:solidFill>
                    <a:schemeClr val="tx1"/>
                  </a:solidFill>
                </a:rPr>
                <a:t>用户以为是自己输入发生了错误，系统要求重新输入</a:t>
              </a:r>
            </a:p>
          </p:txBody>
        </p:sp>
      </p:grpSp>
      <p:cxnSp>
        <p:nvCxnSpPr>
          <p:cNvPr id="12" name="直接连接符 11"/>
          <p:cNvCxnSpPr/>
          <p:nvPr/>
        </p:nvCxnSpPr>
        <p:spPr>
          <a:xfrm>
            <a:off x="8126569" y="4121240"/>
            <a:ext cx="345153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8139448" y="4353060"/>
            <a:ext cx="345153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8126569" y="4610638"/>
            <a:ext cx="345153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8139448" y="4906852"/>
            <a:ext cx="345153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8126569" y="5177308"/>
            <a:ext cx="345153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8126569" y="5460643"/>
            <a:ext cx="345153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8126569" y="5718221"/>
            <a:ext cx="345153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8126569" y="5975798"/>
            <a:ext cx="3451538"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缓冲区溢出</a:t>
            </a:r>
          </a:p>
        </p:txBody>
      </p:sp>
      <p:sp>
        <p:nvSpPr>
          <p:cNvPr id="3" name="内容占位符 2"/>
          <p:cNvSpPr txBox="1"/>
          <p:nvPr/>
        </p:nvSpPr>
        <p:spPr>
          <a:xfrm>
            <a:off x="1381316" y="1146800"/>
            <a:ext cx="10616485" cy="45720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600"/>
              </a:spcBef>
              <a:spcAft>
                <a:spcPts val="600"/>
              </a:spcAft>
              <a:buNone/>
            </a:pPr>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C</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语言编译器</a:t>
            </a:r>
            <a:r>
              <a:rPr lang="zh-CN" altLang="en-US" sz="2400" dirty="0">
                <a:solidFill>
                  <a:srgbClr val="FF0000"/>
                </a:solidFill>
                <a:latin typeface="Times New Roman" panose="02020603050405020304" pitchFamily="18" charset="0"/>
                <a:ea typeface="微软雅黑" panose="020B0503020204020204" pitchFamily="34" charset="-122"/>
                <a:cs typeface="+mn-ea"/>
                <a:sym typeface="Times New Roman" panose="02020603050405020304" pitchFamily="18" charset="0"/>
              </a:rPr>
              <a:t>存在着某些漏洞</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，如它对数组不进行边界检查。</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0" indent="0">
              <a:lnSpc>
                <a:spcPct val="123000"/>
              </a:lnSpc>
              <a:spcBef>
                <a:spcPts val="600"/>
              </a:spcBef>
              <a:spcAft>
                <a:spcPts val="600"/>
              </a:spcAft>
              <a:buNone/>
            </a:pPr>
            <a:r>
              <a:rPr lang="zh-CN"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下面的代码是不合法的，数组范围是</a:t>
            </a:r>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1024</a:t>
            </a:r>
            <a:r>
              <a:rPr lang="zh-CN"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，其所包含的数字却有</a:t>
            </a:r>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12000</a:t>
            </a:r>
            <a:r>
              <a:rPr lang="zh-CN"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个，而且在编译时未对此事进行检查。</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0" indent="0">
              <a:lnSpc>
                <a:spcPct val="150000"/>
              </a:lnSpc>
              <a:spcBef>
                <a:spcPts val="600"/>
              </a:spcBef>
              <a:spcAft>
                <a:spcPts val="600"/>
              </a:spcAft>
              <a:buNone/>
            </a:pPr>
            <a:r>
              <a:rPr lang="zh-CN" altLang="zh-CN" sz="2400"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rPr>
              <a:t>攻击者可能会利用</a:t>
            </a:r>
            <a:br>
              <a:rPr lang="en-US" altLang="zh-CN" sz="2400"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rPr>
            </a:br>
            <a:r>
              <a:rPr lang="zh-CN" altLang="zh-CN" sz="2400" u="sng" dirty="0">
                <a:solidFill>
                  <a:srgbClr val="FF0000"/>
                </a:solidFill>
                <a:latin typeface="Times New Roman" panose="02020603050405020304" pitchFamily="18" charset="0"/>
                <a:ea typeface="微软雅黑" panose="020B0503020204020204" pitchFamily="34" charset="-122"/>
                <a:cs typeface="+mn-ea"/>
                <a:sym typeface="Times New Roman" panose="02020603050405020304" pitchFamily="18" charset="0"/>
              </a:rPr>
              <a:t>此漏洞</a:t>
            </a:r>
            <a:r>
              <a:rPr lang="zh-CN" altLang="zh-CN" sz="2400"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rPr>
              <a:t>进行攻击。</a:t>
            </a:r>
            <a:endParaRPr lang="en-US" altLang="zh-CN" sz="2400"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319405" lvl="1" indent="0">
              <a:lnSpc>
                <a:spcPct val="100000"/>
              </a:lnSpc>
              <a:spcBef>
                <a:spcPts val="600"/>
              </a:spcBef>
              <a:spcAft>
                <a:spcPts val="600"/>
              </a:spcAft>
              <a:buFont typeface="Arial" panose="020B0604020202020204" pitchFamily="34" charset="0"/>
              <a:buNone/>
            </a:pPr>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int </a:t>
            </a:r>
            <a:r>
              <a:rPr lang="en-US" altLang="zh-CN" sz="2400" dirty="0" err="1">
                <a:latin typeface="Times New Roman" panose="02020603050405020304" pitchFamily="18" charset="0"/>
                <a:ea typeface="微软雅黑" panose="020B0503020204020204" pitchFamily="34" charset="-122"/>
                <a:cs typeface="+mn-ea"/>
                <a:sym typeface="Times New Roman" panose="02020603050405020304" pitchFamily="18" charset="0"/>
              </a:rPr>
              <a:t>i</a:t>
            </a:r>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a:t>
            </a:r>
            <a:endParaRPr lang="zh-CN"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319405" lvl="1" indent="0">
              <a:lnSpc>
                <a:spcPct val="100000"/>
              </a:lnSpc>
              <a:spcBef>
                <a:spcPts val="600"/>
              </a:spcBef>
              <a:spcAft>
                <a:spcPts val="600"/>
              </a:spcAft>
              <a:buFont typeface="Arial" panose="020B0604020202020204" pitchFamily="34" charset="0"/>
              <a:buNone/>
            </a:pPr>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char C[1024];</a:t>
            </a:r>
            <a:endParaRPr lang="zh-CN"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319405" lvl="1" indent="0">
              <a:lnSpc>
                <a:spcPct val="100000"/>
              </a:lnSpc>
              <a:spcBef>
                <a:spcPts val="600"/>
              </a:spcBef>
              <a:spcAft>
                <a:spcPts val="600"/>
              </a:spcAft>
              <a:buFont typeface="Arial" panose="020B0604020202020204" pitchFamily="34" charset="0"/>
              <a:buNone/>
            </a:pPr>
            <a:r>
              <a:rPr lang="en-US" altLang="zh-CN" sz="2400" dirty="0" err="1">
                <a:latin typeface="Times New Roman" panose="02020603050405020304" pitchFamily="18" charset="0"/>
                <a:ea typeface="微软雅黑" panose="020B0503020204020204" pitchFamily="34" charset="-122"/>
                <a:cs typeface="+mn-ea"/>
                <a:sym typeface="Times New Roman" panose="02020603050405020304" pitchFamily="18" charset="0"/>
              </a:rPr>
              <a:t>i</a:t>
            </a:r>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=12000;</a:t>
            </a:r>
            <a:endParaRPr lang="zh-CN"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319405" lvl="1" indent="0">
              <a:lnSpc>
                <a:spcPct val="100000"/>
              </a:lnSpc>
              <a:spcBef>
                <a:spcPts val="600"/>
              </a:spcBef>
              <a:spcAft>
                <a:spcPts val="600"/>
              </a:spcAft>
              <a:buFont typeface="Arial" panose="020B0604020202020204" pitchFamily="34" charset="0"/>
              <a:buNone/>
            </a:pPr>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C[</a:t>
            </a:r>
            <a:r>
              <a:rPr lang="en-US" altLang="zh-CN" sz="2400" dirty="0" err="1">
                <a:latin typeface="Times New Roman" panose="02020603050405020304" pitchFamily="18" charset="0"/>
                <a:ea typeface="微软雅黑" panose="020B0503020204020204" pitchFamily="34" charset="-122"/>
                <a:cs typeface="+mn-ea"/>
                <a:sym typeface="Times New Roman" panose="02020603050405020304" pitchFamily="18" charset="0"/>
              </a:rPr>
              <a:t>i</a:t>
            </a:r>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]=0;</a:t>
            </a:r>
            <a:endParaRPr lang="zh-CN"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a:lnSpc>
                <a:spcPct val="123000"/>
              </a:lnSpc>
              <a:spcBef>
                <a:spcPts val="600"/>
              </a:spcBef>
              <a:spcAft>
                <a:spcPts val="600"/>
              </a:spcAft>
            </a:pPr>
            <a:endPar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pic>
        <p:nvPicPr>
          <p:cNvPr id="4" name="图片 3"/>
          <p:cNvPicPr>
            <a:picLocks noChangeAspect="1"/>
          </p:cNvPicPr>
          <p:nvPr/>
        </p:nvPicPr>
        <p:blipFill>
          <a:blip r:embed="rId2">
            <a:clrChange>
              <a:clrFrom>
                <a:srgbClr val="FFFFFF"/>
              </a:clrFrom>
              <a:clrTo>
                <a:srgbClr val="FFFFFF">
                  <a:alpha val="0"/>
                </a:srgbClr>
              </a:clrTo>
            </a:clrChange>
          </a:blip>
          <a:stretch>
            <a:fillRect/>
          </a:stretch>
        </p:blipFill>
        <p:spPr>
          <a:xfrm>
            <a:off x="4273214" y="2924813"/>
            <a:ext cx="7317772" cy="3303472"/>
          </a:xfrm>
          <a:prstGeom prst="rect">
            <a:avLst/>
          </a:prstGeom>
        </p:spPr>
      </p:pic>
      <p:sp>
        <p:nvSpPr>
          <p:cNvPr id="5" name="îSļiḓè"/>
          <p:cNvSpPr/>
          <p:nvPr/>
        </p:nvSpPr>
        <p:spPr>
          <a:xfrm>
            <a:off x="669925" y="1224074"/>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6" name="íṥḻîḓe"/>
          <p:cNvSpPr/>
          <p:nvPr/>
        </p:nvSpPr>
        <p:spPr>
          <a:xfrm>
            <a:off x="657909" y="2924813"/>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7" name="îşļiḓè"/>
          <p:cNvSpPr/>
          <p:nvPr/>
        </p:nvSpPr>
        <p:spPr>
          <a:xfrm>
            <a:off x="669924" y="2048079"/>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8" name="îṡḷíďe"/>
          <p:cNvSpPr/>
          <p:nvPr/>
        </p:nvSpPr>
        <p:spPr>
          <a:xfrm>
            <a:off x="860180" y="1420212"/>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p>
        </p:txBody>
      </p:sp>
      <p:sp>
        <p:nvSpPr>
          <p:cNvPr id="9" name="íSlíḋe"/>
          <p:cNvSpPr/>
          <p:nvPr/>
        </p:nvSpPr>
        <p:spPr>
          <a:xfrm>
            <a:off x="860178" y="2270096"/>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p>
        </p:txBody>
      </p:sp>
      <p:sp>
        <p:nvSpPr>
          <p:cNvPr id="10" name="ïśḷïḓe"/>
          <p:cNvSpPr/>
          <p:nvPr/>
        </p:nvSpPr>
        <p:spPr>
          <a:xfrm>
            <a:off x="877102" y="3114273"/>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病毒、蠕虫和移动代码</a:t>
            </a:r>
          </a:p>
        </p:txBody>
      </p:sp>
      <p:sp>
        <p:nvSpPr>
          <p:cNvPr id="4" name="íšḻîḋè"/>
          <p:cNvSpPr/>
          <p:nvPr/>
        </p:nvSpPr>
        <p:spPr>
          <a:xfrm>
            <a:off x="2151493" y="3092182"/>
            <a:ext cx="9182276" cy="3192708"/>
          </a:xfrm>
          <a:prstGeom prst="rect">
            <a:avLst/>
          </a:prstGeom>
          <a:noFill/>
          <a:ln>
            <a:noFill/>
          </a:ln>
        </p:spPr>
        <p:txBody>
          <a:bodyPr wrap="square" lIns="91440" tIns="45720" rIns="91440" bIns="45720" anchor="t" anchorCtr="0">
            <a:normAutofit lnSpcReduction="10000"/>
          </a:bodyPr>
          <a:lstStyle/>
          <a:p>
            <a:pPr marL="342900" indent="-342900">
              <a:lnSpc>
                <a:spcPct val="133000"/>
              </a:lnSpc>
              <a:buClr>
                <a:srgbClr val="FF0000"/>
              </a:buClr>
              <a:buFont typeface="Wingdings" panose="05000000000000000000" pitchFamily="2" charset="2"/>
              <a:buChar char="n"/>
            </a:pPr>
            <a:r>
              <a:rPr lang="zh-CN" altLang="en-US" sz="2400" dirty="0"/>
              <a:t>蠕虫与病毒相似，也能进行自我复制，并可传染给其他程序，给系统带来有害影响，它们都属于恶意软件</a:t>
            </a:r>
          </a:p>
          <a:p>
            <a:pPr marL="800100" lvl="1" indent="-342900">
              <a:lnSpc>
                <a:spcPct val="133000"/>
              </a:lnSpc>
              <a:buClr>
                <a:srgbClr val="FF0000"/>
              </a:buClr>
              <a:buFont typeface="Wingdings" panose="05000000000000000000" pitchFamily="2" charset="2"/>
              <a:buChar char="n"/>
            </a:pPr>
            <a:r>
              <a:rPr lang="zh-CN" altLang="en-US" sz="2400" dirty="0"/>
              <a:t>与病毒的</a:t>
            </a:r>
            <a:r>
              <a:rPr lang="zh-CN" altLang="en-US" sz="2400" dirty="0">
                <a:solidFill>
                  <a:srgbClr val="FF0000"/>
                </a:solidFill>
              </a:rPr>
              <a:t>区别</a:t>
            </a:r>
          </a:p>
          <a:p>
            <a:pPr marL="1257300" lvl="2" indent="-342900">
              <a:lnSpc>
                <a:spcPct val="133000"/>
              </a:lnSpc>
              <a:buClr>
                <a:srgbClr val="FF0000"/>
              </a:buClr>
              <a:buFont typeface="Wingdings" panose="05000000000000000000" pitchFamily="2" charset="2"/>
              <a:buChar char="Ø"/>
            </a:pPr>
            <a:r>
              <a:rPr lang="zh-CN" altLang="en-US" sz="2200" dirty="0"/>
              <a:t>蠕虫本身是一个完整的程序，能作为一个独立的进程运行，因而它不需要寄生在其他程序上</a:t>
            </a:r>
          </a:p>
          <a:p>
            <a:pPr marL="1714500" lvl="3" indent="-342900">
              <a:lnSpc>
                <a:spcPct val="133000"/>
              </a:lnSpc>
              <a:buClr>
                <a:srgbClr val="FF0000"/>
              </a:buClr>
              <a:buFont typeface="Wingdings" panose="05000000000000000000" pitchFamily="2" charset="2"/>
              <a:buChar char="Ø"/>
            </a:pPr>
            <a:r>
              <a:rPr lang="zh-CN" altLang="en-US" sz="2200" dirty="0"/>
              <a:t>蠕虫的传播性没有病毒的强</a:t>
            </a:r>
          </a:p>
          <a:p>
            <a:pPr marL="2171700" lvl="4" indent="-342900">
              <a:lnSpc>
                <a:spcPct val="133000"/>
              </a:lnSpc>
              <a:buClr>
                <a:srgbClr val="FF0000"/>
              </a:buClr>
              <a:buFont typeface="Wingdings" panose="05000000000000000000" pitchFamily="2" charset="2"/>
              <a:buChar char="n"/>
            </a:pPr>
            <a:r>
              <a:rPr lang="zh-CN" altLang="en-US" sz="2400" dirty="0"/>
              <a:t>蠕虫由两部分组成，即引导程序和蠕虫本身</a:t>
            </a:r>
          </a:p>
        </p:txBody>
      </p:sp>
      <p:sp>
        <p:nvSpPr>
          <p:cNvPr id="5" name="i$lîďê"/>
          <p:cNvSpPr/>
          <p:nvPr/>
        </p:nvSpPr>
        <p:spPr>
          <a:xfrm>
            <a:off x="2151133" y="2651734"/>
            <a:ext cx="3696051" cy="392877"/>
          </a:xfrm>
          <a:prstGeom prst="rect">
            <a:avLst/>
          </a:prstGeom>
          <a:noFill/>
          <a:ln>
            <a:noFill/>
          </a:ln>
        </p:spPr>
        <p:txBody>
          <a:bodyPr wrap="square" lIns="91440" tIns="45720" rIns="91440" bIns="45720" anchor="ctr" anchorCtr="0">
            <a:noAutofit/>
          </a:bodyPr>
          <a:lstStyle/>
          <a:p>
            <a:r>
              <a:rPr lang="zh-CN" altLang="en-US" sz="2400" dirty="0">
                <a:solidFill>
                  <a:srgbClr val="0000FF"/>
                </a:solidFill>
              </a:rPr>
              <a:t>蠕虫</a:t>
            </a:r>
          </a:p>
        </p:txBody>
      </p:sp>
      <p:sp>
        <p:nvSpPr>
          <p:cNvPr id="6" name="îs1iďé"/>
          <p:cNvSpPr/>
          <p:nvPr/>
        </p:nvSpPr>
        <p:spPr>
          <a:xfrm>
            <a:off x="1211760" y="1523279"/>
            <a:ext cx="10122009" cy="1012545"/>
          </a:xfrm>
          <a:prstGeom prst="rect">
            <a:avLst/>
          </a:prstGeom>
          <a:noFill/>
          <a:ln>
            <a:noFill/>
          </a:ln>
        </p:spPr>
        <p:txBody>
          <a:bodyPr wrap="square" lIns="91440" tIns="45720" rIns="91440" bIns="45720" anchor="t" anchorCtr="0">
            <a:normAutofit fontScale="92500"/>
          </a:bodyPr>
          <a:lstStyle/>
          <a:p>
            <a:pPr marL="342900" indent="-342900">
              <a:lnSpc>
                <a:spcPct val="143000"/>
              </a:lnSpc>
              <a:buClr>
                <a:srgbClr val="FF0000"/>
              </a:buClr>
              <a:buFont typeface="Wingdings" panose="05000000000000000000" pitchFamily="2" charset="2"/>
              <a:buChar char="Ø"/>
            </a:pPr>
            <a:r>
              <a:rPr lang="zh-CN" altLang="en-US" sz="2400" dirty="0"/>
              <a:t>计算机中的病毒是一段程序，它能把自己附加在其他程序之中，并不断地自我复制，然后去感染其他程序，进而借助被感染的程序和系统传播出去。</a:t>
            </a:r>
            <a:endParaRPr lang="en-US" altLang="zh-CN" sz="2400" dirty="0"/>
          </a:p>
        </p:txBody>
      </p:sp>
      <p:sp>
        <p:nvSpPr>
          <p:cNvPr id="7" name="íšḻíḑê"/>
          <p:cNvSpPr/>
          <p:nvPr/>
        </p:nvSpPr>
        <p:spPr>
          <a:xfrm>
            <a:off x="1211761" y="1106732"/>
            <a:ext cx="3696051" cy="405747"/>
          </a:xfrm>
          <a:prstGeom prst="rect">
            <a:avLst/>
          </a:prstGeom>
          <a:noFill/>
          <a:ln>
            <a:noFill/>
          </a:ln>
        </p:spPr>
        <p:txBody>
          <a:bodyPr wrap="square" lIns="91440" tIns="45720" rIns="91440" bIns="45720" anchor="ctr" anchorCtr="0">
            <a:noAutofit/>
          </a:bodyPr>
          <a:lstStyle/>
          <a:p>
            <a:r>
              <a:rPr lang="zh-CN" altLang="en-US" sz="2400" dirty="0">
                <a:solidFill>
                  <a:srgbClr val="0000FF"/>
                </a:solidFill>
              </a:rPr>
              <a:t>病毒</a:t>
            </a:r>
          </a:p>
        </p:txBody>
      </p:sp>
      <p:sp>
        <p:nvSpPr>
          <p:cNvPr id="8" name="îSļiḓè"/>
          <p:cNvSpPr/>
          <p:nvPr/>
        </p:nvSpPr>
        <p:spPr>
          <a:xfrm>
            <a:off x="528258" y="1093170"/>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9" name="îşļiḓè"/>
          <p:cNvSpPr/>
          <p:nvPr/>
        </p:nvSpPr>
        <p:spPr>
          <a:xfrm>
            <a:off x="1467631" y="2641361"/>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10" name="îṡḷíďe"/>
          <p:cNvSpPr/>
          <p:nvPr/>
        </p:nvSpPr>
        <p:spPr>
          <a:xfrm>
            <a:off x="718513" y="1289308"/>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endParaRPr/>
          </a:p>
        </p:txBody>
      </p:sp>
      <p:sp>
        <p:nvSpPr>
          <p:cNvPr id="11" name="íSlíḋe"/>
          <p:cNvSpPr/>
          <p:nvPr/>
        </p:nvSpPr>
        <p:spPr>
          <a:xfrm>
            <a:off x="1657885" y="2863378"/>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移动代码（</a:t>
            </a:r>
            <a:r>
              <a:rPr lang="en-US" altLang="zh-CN"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1</a:t>
            </a:r>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a:t>
            </a:r>
          </a:p>
        </p:txBody>
      </p:sp>
      <p:sp>
        <p:nvSpPr>
          <p:cNvPr id="4" name="ïşľîďè"/>
          <p:cNvSpPr/>
          <p:nvPr/>
        </p:nvSpPr>
        <p:spPr>
          <a:xfrm>
            <a:off x="1588" y="1143000"/>
            <a:ext cx="4669654" cy="5003800"/>
          </a:xfrm>
          <a:prstGeom prst="rect">
            <a:avLst/>
          </a:prstGeom>
          <a:blipFill>
            <a:blip r:embed="rId2"/>
            <a:stretch>
              <a:fillRect l="-30450" r="-30284"/>
            </a:stretch>
          </a:bli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6" name="îŝļiḋe"/>
          <p:cNvSpPr/>
          <p:nvPr/>
        </p:nvSpPr>
        <p:spPr>
          <a:xfrm>
            <a:off x="4014295" y="1143000"/>
            <a:ext cx="656948" cy="5003800"/>
          </a:xfrm>
          <a:prstGeom prst="rect">
            <a:avLst/>
          </a:prstGeom>
          <a:solidFill>
            <a:schemeClr val="accent1">
              <a:alpha val="7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nvGrpSpPr>
          <p:cNvPr id="7" name="í$1iďè"/>
          <p:cNvGrpSpPr/>
          <p:nvPr/>
        </p:nvGrpSpPr>
        <p:grpSpPr>
          <a:xfrm>
            <a:off x="4183062" y="1607317"/>
            <a:ext cx="7381905" cy="1702554"/>
            <a:chOff x="4136995" y="1337039"/>
            <a:chExt cx="7381905" cy="1702554"/>
          </a:xfrm>
        </p:grpSpPr>
        <p:sp>
          <p:nvSpPr>
            <p:cNvPr id="8" name="îslîďê"/>
            <p:cNvSpPr/>
            <p:nvPr/>
          </p:nvSpPr>
          <p:spPr>
            <a:xfrm>
              <a:off x="4136995" y="1712614"/>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9" name="ïSḻiḍé"/>
            <p:cNvSpPr txBox="1"/>
            <p:nvPr/>
          </p:nvSpPr>
          <p:spPr>
            <a:xfrm>
              <a:off x="4882719" y="1337039"/>
              <a:ext cx="6636181" cy="1702554"/>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lnSpc>
                  <a:spcPct val="130000"/>
                </a:lnSpc>
              </a:pPr>
              <a:r>
                <a:rPr lang="zh-CN" altLang="en-US" sz="2400" b="1" dirty="0">
                  <a:latin typeface="+mj-ea"/>
                  <a:ea typeface="+mj-ea"/>
                </a:rPr>
                <a:t>什么是</a:t>
              </a:r>
              <a:r>
                <a:rPr lang="zh-CN" altLang="en-US" sz="2400" b="1" dirty="0">
                  <a:solidFill>
                    <a:srgbClr val="FF0000"/>
                  </a:solidFill>
                  <a:latin typeface="+mj-ea"/>
                  <a:ea typeface="+mj-ea"/>
                </a:rPr>
                <a:t>移动代码？</a:t>
              </a:r>
            </a:p>
            <a:p>
              <a:pPr marL="342900" indent="-342900" algn="just">
                <a:lnSpc>
                  <a:spcPct val="130000"/>
                </a:lnSpc>
                <a:buFont typeface="Wingdings" panose="05000000000000000000" pitchFamily="2" charset="2"/>
                <a:buChar char="Ø"/>
              </a:pPr>
              <a:r>
                <a:rPr lang="zh-CN" altLang="en-US" sz="2400" dirty="0">
                  <a:latin typeface="+mj-ea"/>
                  <a:ea typeface="+mj-ea"/>
                </a:rPr>
                <a:t>如果一个程序在运行时，能在不同机器之间来回迁移，那么该程序就被称为移动代码</a:t>
              </a:r>
            </a:p>
          </p:txBody>
        </p:sp>
      </p:grpSp>
      <p:grpSp>
        <p:nvGrpSpPr>
          <p:cNvPr id="10" name="išḷîḓé"/>
          <p:cNvGrpSpPr/>
          <p:nvPr/>
        </p:nvGrpSpPr>
        <p:grpSpPr>
          <a:xfrm>
            <a:off x="4183063" y="4016816"/>
            <a:ext cx="7453812" cy="1763616"/>
            <a:chOff x="4136995" y="3450237"/>
            <a:chExt cx="7703732" cy="1763616"/>
          </a:xfrm>
        </p:grpSpPr>
        <p:sp>
          <p:nvSpPr>
            <p:cNvPr id="11" name="íśľïḋé"/>
            <p:cNvSpPr/>
            <p:nvPr/>
          </p:nvSpPr>
          <p:spPr>
            <a:xfrm>
              <a:off x="4136995" y="3450237"/>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12" name="îŝľîḓè"/>
            <p:cNvSpPr txBox="1"/>
            <p:nvPr/>
          </p:nvSpPr>
          <p:spPr>
            <a:xfrm>
              <a:off x="4863591" y="3450237"/>
              <a:ext cx="6977136" cy="1763616"/>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2400" b="1" dirty="0"/>
                <a:t>移动代码能否安全运行？</a:t>
              </a:r>
            </a:p>
            <a:p>
              <a:pPr marL="342900" indent="-342900">
                <a:lnSpc>
                  <a:spcPct val="130000"/>
                </a:lnSpc>
                <a:buFont typeface="Wingdings" panose="05000000000000000000" pitchFamily="2" charset="2"/>
                <a:buChar char="Ø"/>
              </a:pPr>
              <a:r>
                <a:rPr lang="zh-CN" altLang="en-US" sz="2400" dirty="0"/>
                <a:t>移动代码将占用进程的内存空间，并作为合法用户的一部分运行，同时拥有用户的访问权限，因此不能保证系统安全，需要防范移动代码</a:t>
              </a: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移动代码（</a:t>
            </a:r>
            <a:r>
              <a:rPr lang="en-US" altLang="zh-CN"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a:t>
            </a:r>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a:t>
            </a:r>
          </a:p>
        </p:txBody>
      </p:sp>
      <p:sp>
        <p:nvSpPr>
          <p:cNvPr id="4" name="iṥlídè"/>
          <p:cNvSpPr/>
          <p:nvPr/>
        </p:nvSpPr>
        <p:spPr>
          <a:xfrm>
            <a:off x="9004274" y="1406369"/>
            <a:ext cx="5233755" cy="5008286"/>
          </a:xfrm>
          <a:prstGeom prst="rect">
            <a:avLst/>
          </a:prstGeom>
          <a:blipFill>
            <a:blip r:embed="rId2"/>
            <a:stretch>
              <a:fillRect t="-27413" b="-27272"/>
            </a:stretch>
          </a:blipFill>
          <a:ln w="28575">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dirty="0"/>
          </a:p>
        </p:txBody>
      </p:sp>
      <p:grpSp>
        <p:nvGrpSpPr>
          <p:cNvPr id="6" name="iṡļiḓe"/>
          <p:cNvGrpSpPr/>
          <p:nvPr/>
        </p:nvGrpSpPr>
        <p:grpSpPr>
          <a:xfrm>
            <a:off x="660400" y="1298467"/>
            <a:ext cx="7887251" cy="2333733"/>
            <a:chOff x="660400" y="1787149"/>
            <a:chExt cx="7887251" cy="2333733"/>
          </a:xfrm>
        </p:grpSpPr>
        <p:grpSp>
          <p:nvGrpSpPr>
            <p:cNvPr id="7" name="iSḻíḓè"/>
            <p:cNvGrpSpPr/>
            <p:nvPr/>
          </p:nvGrpSpPr>
          <p:grpSpPr>
            <a:xfrm>
              <a:off x="1296566" y="1835355"/>
              <a:ext cx="7251085" cy="2285527"/>
              <a:chOff x="1296566" y="1835355"/>
              <a:chExt cx="9145434" cy="2285527"/>
            </a:xfrm>
          </p:grpSpPr>
          <p:sp>
            <p:nvSpPr>
              <p:cNvPr id="11" name="îṧľîḋé"/>
              <p:cNvSpPr txBox="1"/>
              <p:nvPr/>
            </p:nvSpPr>
            <p:spPr>
              <a:xfrm>
                <a:off x="1296567" y="1835355"/>
                <a:ext cx="6293555"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t>防范移动代码的方法</a:t>
                </a:r>
                <a:r>
                  <a:rPr lang="en-US" altLang="zh-CN" sz="2400" dirty="0">
                    <a:solidFill>
                      <a:srgbClr val="0000FF"/>
                    </a:solidFill>
                  </a:rPr>
                  <a:t>——</a:t>
                </a:r>
                <a:r>
                  <a:rPr lang="zh-CN" altLang="en-US" sz="2400" dirty="0">
                    <a:solidFill>
                      <a:srgbClr val="0000FF"/>
                    </a:solidFill>
                  </a:rPr>
                  <a:t>沙盒法</a:t>
                </a:r>
              </a:p>
            </p:txBody>
          </p:sp>
          <p:sp>
            <p:nvSpPr>
              <p:cNvPr id="12" name="íşļîḓé"/>
              <p:cNvSpPr/>
              <p:nvPr/>
            </p:nvSpPr>
            <p:spPr bwMode="auto">
              <a:xfrm>
                <a:off x="1296566" y="2279077"/>
                <a:ext cx="9145434" cy="1841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buClr>
                    <a:schemeClr val="accent4">
                      <a:lumMod val="40000"/>
                      <a:lumOff val="60000"/>
                    </a:schemeClr>
                  </a:buClr>
                  <a:buFont typeface="Wingdings" panose="05000000000000000000" pitchFamily="2" charset="2"/>
                  <a:buChar char="Ø"/>
                </a:pPr>
                <a:r>
                  <a:rPr lang="zh-CN" altLang="en-US" sz="2000" dirty="0"/>
                  <a:t>基本思想是采用隔离方法，具体做法是把虚拟地址空间分为若干个大小相同的区域，每个区域称为一个沙盒</a:t>
                </a:r>
              </a:p>
              <a:p>
                <a:pPr marL="342900" lvl="1" indent="-342900">
                  <a:lnSpc>
                    <a:spcPct val="132000"/>
                  </a:lnSpc>
                  <a:buClr>
                    <a:schemeClr val="accent4">
                      <a:lumMod val="40000"/>
                      <a:lumOff val="60000"/>
                    </a:schemeClr>
                  </a:buClr>
                  <a:buFont typeface="Wingdings" panose="05000000000000000000" pitchFamily="2" charset="2"/>
                  <a:buChar char="Ø"/>
                </a:pPr>
                <a:r>
                  <a:rPr lang="zh-CN" altLang="en-US" sz="2000" dirty="0"/>
                  <a:t>将不可信程序放入一个沙盒中运行，如果发现沙盒中的程序要访问沙盒外的数据，或者有跳转到沙盒外某个地址去运行的任何企图，则系统将停止该程序的运行</a:t>
                </a:r>
              </a:p>
            </p:txBody>
          </p:sp>
        </p:grpSp>
        <p:grpSp>
          <p:nvGrpSpPr>
            <p:cNvPr id="8" name="ïS1íḋé"/>
            <p:cNvGrpSpPr/>
            <p:nvPr/>
          </p:nvGrpSpPr>
          <p:grpSpPr>
            <a:xfrm>
              <a:off x="660400" y="1787149"/>
              <a:ext cx="497734" cy="497734"/>
              <a:chOff x="660400" y="1787149"/>
              <a:chExt cx="497734" cy="497734"/>
            </a:xfrm>
          </p:grpSpPr>
          <p:sp>
            <p:nvSpPr>
              <p:cNvPr id="9" name="islîḋe"/>
              <p:cNvSpPr/>
              <p:nvPr/>
            </p:nvSpPr>
            <p:spPr>
              <a:xfrm>
                <a:off x="660400" y="1787149"/>
                <a:ext cx="497734" cy="49773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10" name="îŝlîďe"/>
              <p:cNvSpPr/>
              <p:nvPr/>
            </p:nvSpPr>
            <p:spPr>
              <a:xfrm>
                <a:off x="779848" y="1918584"/>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nvGrpSpPr>
          <p:cNvPr id="13" name="iŝļïḓê"/>
          <p:cNvGrpSpPr/>
          <p:nvPr/>
        </p:nvGrpSpPr>
        <p:grpSpPr>
          <a:xfrm>
            <a:off x="660400" y="4100691"/>
            <a:ext cx="7887251" cy="1990235"/>
            <a:chOff x="660400" y="2092935"/>
            <a:chExt cx="7887251" cy="1990235"/>
          </a:xfrm>
        </p:grpSpPr>
        <p:grpSp>
          <p:nvGrpSpPr>
            <p:cNvPr id="14" name="ïṧļïḓe"/>
            <p:cNvGrpSpPr/>
            <p:nvPr/>
          </p:nvGrpSpPr>
          <p:grpSpPr>
            <a:xfrm>
              <a:off x="1296567" y="2092935"/>
              <a:ext cx="7251084" cy="1990235"/>
              <a:chOff x="1296567" y="2092935"/>
              <a:chExt cx="9145430" cy="1990235"/>
            </a:xfrm>
          </p:grpSpPr>
          <p:sp>
            <p:nvSpPr>
              <p:cNvPr id="18" name="ïšļíďè"/>
              <p:cNvSpPr txBox="1"/>
              <p:nvPr/>
            </p:nvSpPr>
            <p:spPr>
              <a:xfrm>
                <a:off x="1296567" y="2092935"/>
                <a:ext cx="7140794"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t>防范移动代码的方法</a:t>
                </a:r>
                <a:r>
                  <a:rPr lang="en-US" altLang="zh-CN" sz="2400" dirty="0">
                    <a:solidFill>
                      <a:srgbClr val="FF0000"/>
                    </a:solidFill>
                  </a:rPr>
                  <a:t>——</a:t>
                </a:r>
                <a:r>
                  <a:rPr lang="zh-CN" altLang="en-US" sz="2400" dirty="0">
                    <a:solidFill>
                      <a:srgbClr val="FF0000"/>
                    </a:solidFill>
                  </a:rPr>
                  <a:t>解释法</a:t>
                </a:r>
              </a:p>
            </p:txBody>
          </p:sp>
          <p:sp>
            <p:nvSpPr>
              <p:cNvPr id="19" name="íşľíḑè"/>
              <p:cNvSpPr/>
              <p:nvPr/>
            </p:nvSpPr>
            <p:spPr bwMode="auto">
              <a:xfrm>
                <a:off x="1296567" y="2593979"/>
                <a:ext cx="9145430" cy="1489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buFont typeface="Wingdings" panose="05000000000000000000" pitchFamily="2" charset="2"/>
                  <a:buChar char="Ø"/>
                </a:pPr>
                <a:r>
                  <a:rPr lang="zh-CN" altLang="en-US" sz="2000" dirty="0"/>
                  <a:t>解释法的基本思想是对移动代码的运行采取解释执行方式</a:t>
                </a:r>
              </a:p>
              <a:p>
                <a:pPr marL="342900" lvl="1" indent="-342900">
                  <a:lnSpc>
                    <a:spcPct val="132000"/>
                  </a:lnSpc>
                  <a:buFont typeface="Wingdings" panose="05000000000000000000" pitchFamily="2" charset="2"/>
                  <a:buChar char="Ø"/>
                </a:pPr>
                <a:r>
                  <a:rPr lang="zh-CN" altLang="en-US" sz="2000" dirty="0"/>
                  <a:t>若移动代码是可信的（来自本地硬盘），则按正常情况处理；否则（如来自互联网），将其放入沙盒中以限制其运行</a:t>
                </a:r>
              </a:p>
            </p:txBody>
          </p:sp>
        </p:grpSp>
        <p:grpSp>
          <p:nvGrpSpPr>
            <p:cNvPr id="15" name="ïŝľídè"/>
            <p:cNvGrpSpPr/>
            <p:nvPr/>
          </p:nvGrpSpPr>
          <p:grpSpPr>
            <a:xfrm>
              <a:off x="660400" y="2096245"/>
              <a:ext cx="497734" cy="497734"/>
              <a:chOff x="660400" y="2096245"/>
              <a:chExt cx="497734" cy="497734"/>
            </a:xfrm>
          </p:grpSpPr>
          <p:sp>
            <p:nvSpPr>
              <p:cNvPr id="16" name="ïṡľïde"/>
              <p:cNvSpPr/>
              <p:nvPr/>
            </p:nvSpPr>
            <p:spPr>
              <a:xfrm>
                <a:off x="660400" y="2096245"/>
                <a:ext cx="497734" cy="497734"/>
              </a:xfrm>
              <a:prstGeom prst="ellipse">
                <a:avLst/>
              </a:prstGeom>
              <a:solidFill>
                <a:schemeClr val="tx1">
                  <a:lumMod val="50000"/>
                  <a:lumOff val="50000"/>
                </a:schemeClr>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17" name="ïšliḍe"/>
              <p:cNvSpPr/>
              <p:nvPr/>
            </p:nvSpPr>
            <p:spPr>
              <a:xfrm>
                <a:off x="779848" y="2227680"/>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计算机病毒的特征与类型</a:t>
            </a:r>
          </a:p>
        </p:txBody>
      </p:sp>
      <p:sp>
        <p:nvSpPr>
          <p:cNvPr id="4" name="îṧľîdé"/>
          <p:cNvSpPr/>
          <p:nvPr/>
        </p:nvSpPr>
        <p:spPr>
          <a:xfrm>
            <a:off x="4021874" y="1444531"/>
            <a:ext cx="3550903" cy="2457767"/>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5" name="内容占位符 2"/>
          <p:cNvSpPr txBox="1"/>
          <p:nvPr/>
        </p:nvSpPr>
        <p:spPr>
          <a:xfrm>
            <a:off x="946219" y="1839430"/>
            <a:ext cx="4308362" cy="308426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580"/>
              </a:spcBef>
              <a:buNone/>
              <a:defRPr/>
            </a:pPr>
            <a:r>
              <a:rPr lang="zh-CN" altLang="en-US" sz="2400" dirty="0">
                <a:solidFill>
                  <a:srgbClr val="FF0000"/>
                </a:solidFill>
              </a:rPr>
              <a:t>计算机病毒的特征 </a:t>
            </a:r>
            <a:endParaRPr lang="en-US" altLang="zh-CN" sz="2400" dirty="0"/>
          </a:p>
          <a:p>
            <a:pPr marL="342900" lvl="1" indent="-342900">
              <a:lnSpc>
                <a:spcPct val="150000"/>
              </a:lnSpc>
              <a:spcBef>
                <a:spcPts val="300"/>
              </a:spcBef>
              <a:buClr>
                <a:srgbClr val="E71101"/>
              </a:buClr>
              <a:buSzPct val="60000"/>
              <a:buFont typeface="Wingdings" panose="05000000000000000000" pitchFamily="2" charset="2"/>
              <a:buChar char="n"/>
              <a:defRPr/>
            </a:pPr>
            <a:r>
              <a:rPr lang="en-US" altLang="zh-CN" sz="2200" dirty="0">
                <a:solidFill>
                  <a:schemeClr val="tx1">
                    <a:lumMod val="65000"/>
                    <a:lumOff val="35000"/>
                  </a:schemeClr>
                </a:solidFill>
              </a:rPr>
              <a:t>(1) </a:t>
            </a:r>
            <a:r>
              <a:rPr lang="zh-CN" altLang="en-US" sz="2200" dirty="0">
                <a:solidFill>
                  <a:schemeClr val="tx1">
                    <a:lumMod val="65000"/>
                    <a:lumOff val="35000"/>
                  </a:schemeClr>
                </a:solidFill>
              </a:rPr>
              <a:t>寄生性</a:t>
            </a:r>
            <a:endParaRPr lang="en-US" altLang="zh-CN" sz="2200" dirty="0">
              <a:solidFill>
                <a:schemeClr val="tx1">
                  <a:lumMod val="65000"/>
                  <a:lumOff val="35000"/>
                </a:schemeClr>
              </a:solidFill>
            </a:endParaRPr>
          </a:p>
          <a:p>
            <a:pPr marL="342900" lvl="1" indent="-342900">
              <a:lnSpc>
                <a:spcPct val="150000"/>
              </a:lnSpc>
              <a:spcBef>
                <a:spcPts val="300"/>
              </a:spcBef>
              <a:buClr>
                <a:srgbClr val="E71101"/>
              </a:buClr>
              <a:buSzPct val="60000"/>
              <a:buFont typeface="Wingdings" panose="05000000000000000000" pitchFamily="2" charset="2"/>
              <a:buChar char="n"/>
              <a:defRPr/>
            </a:pPr>
            <a:r>
              <a:rPr lang="en-US" altLang="zh-CN" sz="2200" dirty="0">
                <a:solidFill>
                  <a:schemeClr val="tx1">
                    <a:lumMod val="65000"/>
                    <a:lumOff val="35000"/>
                  </a:schemeClr>
                </a:solidFill>
              </a:rPr>
              <a:t>(2) </a:t>
            </a:r>
            <a:r>
              <a:rPr lang="zh-CN" altLang="en-US" sz="2200" dirty="0">
                <a:solidFill>
                  <a:schemeClr val="tx1">
                    <a:lumMod val="65000"/>
                    <a:lumOff val="35000"/>
                  </a:schemeClr>
                </a:solidFill>
              </a:rPr>
              <a:t>传染性</a:t>
            </a:r>
            <a:endParaRPr lang="en-US" altLang="zh-CN" sz="2200" dirty="0">
              <a:solidFill>
                <a:schemeClr val="tx1">
                  <a:lumMod val="65000"/>
                  <a:lumOff val="35000"/>
                </a:schemeClr>
              </a:solidFill>
            </a:endParaRPr>
          </a:p>
          <a:p>
            <a:pPr marL="342900" lvl="1" indent="-342900">
              <a:lnSpc>
                <a:spcPct val="150000"/>
              </a:lnSpc>
              <a:spcBef>
                <a:spcPts val="300"/>
              </a:spcBef>
              <a:buClr>
                <a:srgbClr val="E71101"/>
              </a:buClr>
              <a:buSzPct val="60000"/>
              <a:buFont typeface="Wingdings" panose="05000000000000000000" pitchFamily="2" charset="2"/>
              <a:buChar char="n"/>
              <a:defRPr/>
            </a:pPr>
            <a:r>
              <a:rPr lang="en-US" altLang="zh-CN" sz="2200" dirty="0">
                <a:solidFill>
                  <a:schemeClr val="tx1">
                    <a:lumMod val="65000"/>
                    <a:lumOff val="35000"/>
                  </a:schemeClr>
                </a:solidFill>
              </a:rPr>
              <a:t>(3) </a:t>
            </a:r>
            <a:r>
              <a:rPr lang="zh-CN" altLang="en-US" sz="2200" dirty="0">
                <a:solidFill>
                  <a:schemeClr val="tx1">
                    <a:lumMod val="65000"/>
                    <a:lumOff val="35000"/>
                  </a:schemeClr>
                </a:solidFill>
              </a:rPr>
              <a:t>隐蔽性 </a:t>
            </a:r>
            <a:endParaRPr lang="en-US" altLang="zh-CN" sz="2200" dirty="0">
              <a:solidFill>
                <a:schemeClr val="tx1">
                  <a:lumMod val="65000"/>
                  <a:lumOff val="35000"/>
                </a:schemeClr>
              </a:solidFill>
            </a:endParaRPr>
          </a:p>
          <a:p>
            <a:pPr marL="342900" lvl="1" indent="-342900">
              <a:lnSpc>
                <a:spcPct val="150000"/>
              </a:lnSpc>
              <a:spcBef>
                <a:spcPts val="300"/>
              </a:spcBef>
              <a:buClr>
                <a:srgbClr val="E71101"/>
              </a:buClr>
              <a:buSzPct val="60000"/>
              <a:buFont typeface="Wingdings" panose="05000000000000000000" pitchFamily="2" charset="2"/>
              <a:buChar char="n"/>
              <a:defRPr/>
            </a:pPr>
            <a:r>
              <a:rPr lang="en-US" altLang="zh-CN" sz="2200" dirty="0">
                <a:solidFill>
                  <a:schemeClr val="tx1">
                    <a:lumMod val="65000"/>
                    <a:lumOff val="35000"/>
                  </a:schemeClr>
                </a:solidFill>
              </a:rPr>
              <a:t>(4) </a:t>
            </a:r>
            <a:r>
              <a:rPr lang="zh-CN" altLang="en-US" sz="2200" dirty="0">
                <a:solidFill>
                  <a:schemeClr val="tx1">
                    <a:lumMod val="65000"/>
                    <a:lumOff val="35000"/>
                  </a:schemeClr>
                </a:solidFill>
              </a:rPr>
              <a:t>破坏性</a:t>
            </a:r>
          </a:p>
        </p:txBody>
      </p:sp>
      <p:sp>
        <p:nvSpPr>
          <p:cNvPr id="6" name="内容占位符 2"/>
          <p:cNvSpPr txBox="1"/>
          <p:nvPr/>
        </p:nvSpPr>
        <p:spPr>
          <a:xfrm>
            <a:off x="8181433" y="2673414"/>
            <a:ext cx="3551220" cy="309468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580"/>
              </a:spcBef>
              <a:buNone/>
              <a:defRPr/>
            </a:pPr>
            <a:r>
              <a:rPr lang="zh-CN" altLang="en-US" sz="2400" dirty="0"/>
              <a:t>计算机病毒的类型</a:t>
            </a:r>
          </a:p>
          <a:p>
            <a:pPr marL="0" lvl="1" indent="-342900">
              <a:lnSpc>
                <a:spcPct val="132000"/>
              </a:lnSpc>
              <a:spcBef>
                <a:spcPts val="370"/>
              </a:spcBef>
              <a:buClr>
                <a:srgbClr val="E71101"/>
              </a:buClr>
              <a:buSzPct val="60000"/>
              <a:buFont typeface="Wingdings" panose="05000000000000000000" pitchFamily="2" charset="2"/>
              <a:buChar char="n"/>
              <a:defRPr/>
            </a:pPr>
            <a:r>
              <a:rPr lang="zh-CN" altLang="en-US" sz="2200" dirty="0">
                <a:solidFill>
                  <a:schemeClr val="tx1">
                    <a:lumMod val="65000"/>
                    <a:lumOff val="35000"/>
                  </a:schemeClr>
                </a:solidFill>
              </a:rPr>
              <a:t>文件性病毒</a:t>
            </a:r>
          </a:p>
          <a:p>
            <a:pPr marL="0" lvl="1" indent="-342900">
              <a:lnSpc>
                <a:spcPct val="132000"/>
              </a:lnSpc>
              <a:spcBef>
                <a:spcPts val="370"/>
              </a:spcBef>
              <a:buClr>
                <a:srgbClr val="E71101"/>
              </a:buClr>
              <a:buSzPct val="60000"/>
              <a:buFont typeface="Wingdings" panose="05000000000000000000" pitchFamily="2" charset="2"/>
              <a:buChar char="n"/>
              <a:defRPr/>
            </a:pPr>
            <a:r>
              <a:rPr lang="zh-CN" altLang="en-US" sz="2200" dirty="0">
                <a:solidFill>
                  <a:schemeClr val="tx1">
                    <a:lumMod val="65000"/>
                    <a:lumOff val="35000"/>
                  </a:schemeClr>
                </a:solidFill>
              </a:rPr>
              <a:t>内存驻留病毒</a:t>
            </a:r>
          </a:p>
          <a:p>
            <a:pPr marL="0" lvl="1" indent="-342900">
              <a:lnSpc>
                <a:spcPct val="132000"/>
              </a:lnSpc>
              <a:spcBef>
                <a:spcPts val="370"/>
              </a:spcBef>
              <a:buClr>
                <a:srgbClr val="E71101"/>
              </a:buClr>
              <a:buSzPct val="60000"/>
              <a:buFont typeface="Wingdings" panose="05000000000000000000" pitchFamily="2" charset="2"/>
              <a:buChar char="n"/>
              <a:defRPr/>
            </a:pPr>
            <a:r>
              <a:rPr lang="zh-CN" altLang="en-US" sz="2200" dirty="0">
                <a:solidFill>
                  <a:schemeClr val="tx1">
                    <a:lumMod val="65000"/>
                    <a:lumOff val="35000"/>
                  </a:schemeClr>
                </a:solidFill>
              </a:rPr>
              <a:t>引导扇区病毒</a:t>
            </a:r>
          </a:p>
          <a:p>
            <a:pPr marL="0" lvl="1" indent="-342900">
              <a:lnSpc>
                <a:spcPct val="132000"/>
              </a:lnSpc>
              <a:spcBef>
                <a:spcPts val="370"/>
              </a:spcBef>
              <a:buClr>
                <a:srgbClr val="E71101"/>
              </a:buClr>
              <a:buSzPct val="60000"/>
              <a:buFont typeface="Wingdings" panose="05000000000000000000" pitchFamily="2" charset="2"/>
              <a:buChar char="n"/>
              <a:defRPr/>
            </a:pPr>
            <a:r>
              <a:rPr lang="zh-CN" altLang="en-US" sz="2200" dirty="0">
                <a:solidFill>
                  <a:schemeClr val="tx1">
                    <a:lumMod val="65000"/>
                    <a:lumOff val="35000"/>
                  </a:schemeClr>
                </a:solidFill>
              </a:rPr>
              <a:t>宏病毒</a:t>
            </a:r>
          </a:p>
          <a:p>
            <a:pPr marL="0" lvl="1" indent="-342900">
              <a:lnSpc>
                <a:spcPct val="132000"/>
              </a:lnSpc>
              <a:spcBef>
                <a:spcPts val="370"/>
              </a:spcBef>
              <a:buClr>
                <a:srgbClr val="E71101"/>
              </a:buClr>
              <a:buSzPct val="60000"/>
              <a:buFont typeface="Wingdings" panose="05000000000000000000" pitchFamily="2" charset="2"/>
              <a:buChar char="n"/>
              <a:defRPr/>
            </a:pPr>
            <a:r>
              <a:rPr lang="zh-CN" altLang="en-US" sz="2200" dirty="0">
                <a:solidFill>
                  <a:schemeClr val="tx1">
                    <a:lumMod val="65000"/>
                    <a:lumOff val="35000"/>
                  </a:schemeClr>
                </a:solidFill>
              </a:rPr>
              <a:t>电子邮件病毒</a:t>
            </a:r>
          </a:p>
        </p:txBody>
      </p:sp>
      <p:sp>
        <p:nvSpPr>
          <p:cNvPr id="7" name="íSľïdé"/>
          <p:cNvSpPr/>
          <p:nvPr/>
        </p:nvSpPr>
        <p:spPr>
          <a:xfrm>
            <a:off x="4919214" y="1879387"/>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bg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8" name="ïŝļíḓê"/>
          <p:cNvSpPr/>
          <p:nvPr/>
        </p:nvSpPr>
        <p:spPr bwMode="auto">
          <a:xfrm>
            <a:off x="6001738" y="2827961"/>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bg1"/>
          </a:solidFill>
          <a:ln>
            <a:noFill/>
          </a:ln>
        </p:spPr>
        <p:txBody>
          <a:bodyPr wrap="square" lIns="91440" tIns="45720" rIns="91440" bIns="45720">
            <a:normAutofit/>
          </a:bodyPr>
          <a:lstStyle/>
          <a:p>
            <a:endParaRPr lang="zh-C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病毒的隐藏方式</a:t>
            </a:r>
          </a:p>
        </p:txBody>
      </p:sp>
      <p:sp>
        <p:nvSpPr>
          <p:cNvPr id="3" name="内容占位符 2"/>
          <p:cNvSpPr txBox="1"/>
          <p:nvPr/>
        </p:nvSpPr>
        <p:spPr>
          <a:xfrm>
            <a:off x="935865" y="1061434"/>
            <a:ext cx="5258873" cy="579656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42595">
              <a:lnSpc>
                <a:spcPct val="123000"/>
              </a:lnSpc>
              <a:buClr>
                <a:srgbClr val="0000FF"/>
              </a:buClr>
              <a:buFont typeface="Wingdings" panose="05000000000000000000" pitchFamily="2" charset="2"/>
              <a:buChar char="p"/>
            </a:pPr>
            <a:r>
              <a:rPr lang="zh-CN" altLang="en-US" sz="2200"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rPr>
              <a:t>伪装</a:t>
            </a:r>
            <a:endParaRPr lang="en-US" altLang="zh-CN" sz="2200"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776605" lvl="1" indent="-457200">
              <a:lnSpc>
                <a:spcPct val="123000"/>
              </a:lnSpc>
              <a:buFont typeface="+mj-ea"/>
              <a:buAutoNum type="circleNumDbPlain"/>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通过压缩法伪装</a:t>
            </a:r>
            <a:endPar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pic>
        <p:nvPicPr>
          <p:cNvPr id="4" name="图片 3"/>
          <p:cNvPicPr>
            <a:picLocks noChangeAspect="1"/>
          </p:cNvPicPr>
          <p:nvPr/>
        </p:nvPicPr>
        <p:blipFill>
          <a:blip r:embed="rId2"/>
          <a:stretch>
            <a:fillRect/>
          </a:stretch>
        </p:blipFill>
        <p:spPr>
          <a:xfrm>
            <a:off x="5660641" y="2498430"/>
            <a:ext cx="5974080" cy="3637280"/>
          </a:xfrm>
          <a:prstGeom prst="rect">
            <a:avLst/>
          </a:prstGeom>
          <a:ln>
            <a:solidFill>
              <a:schemeClr val="accent1"/>
            </a:solidFill>
          </a:ln>
        </p:spPr>
      </p:pic>
      <p:sp>
        <p:nvSpPr>
          <p:cNvPr id="5" name="内容占位符 2"/>
          <p:cNvSpPr txBox="1"/>
          <p:nvPr/>
        </p:nvSpPr>
        <p:spPr>
          <a:xfrm>
            <a:off x="935865" y="2150701"/>
            <a:ext cx="5258873" cy="398500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42595">
              <a:lnSpc>
                <a:spcPct val="123000"/>
              </a:lnSpc>
              <a:buClr>
                <a:srgbClr val="0000FF"/>
              </a:buClr>
              <a:buFont typeface="Wingdings" panose="05000000000000000000" pitchFamily="2" charset="2"/>
              <a:buChar char="p"/>
            </a:pPr>
            <a:r>
              <a:rPr lang="zh-CN" altLang="en-US" sz="2200"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rPr>
              <a:t>隐藏</a:t>
            </a:r>
            <a:endParaRPr lang="en-US" altLang="zh-CN" sz="2200"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776605" lvl="1" indent="-457200">
              <a:lnSpc>
                <a:spcPct val="123000"/>
              </a:lnSpc>
              <a:buFont typeface="+mj-ea"/>
              <a:buAutoNum type="circleNumDbPlain"/>
            </a:pPr>
            <a:r>
              <a:rPr lang="zh-CN"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隐藏于目录和注册表空间</a:t>
            </a:r>
            <a:endPar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776605" lvl="1" indent="-457200">
              <a:lnSpc>
                <a:spcPct val="123000"/>
              </a:lnSpc>
              <a:buFont typeface="+mj-ea"/>
              <a:buAutoNum type="circleNumDbPlain"/>
            </a:pPr>
            <a:r>
              <a:rPr lang="zh-CN"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隐藏于程序的页内零头里</a:t>
            </a:r>
            <a:endPar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776605" lvl="1" indent="-457200">
              <a:lnSpc>
                <a:spcPct val="123000"/>
              </a:lnSpc>
              <a:buFont typeface="+mj-ea"/>
              <a:buAutoNum type="circleNumDbPlain"/>
            </a:pPr>
            <a:r>
              <a:rPr lang="zh-CN"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更改用于磁盘分配的数据结构</a:t>
            </a:r>
            <a:endPar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776605" lvl="1" indent="-457200">
              <a:lnSpc>
                <a:spcPct val="123000"/>
              </a:lnSpc>
              <a:buFont typeface="+mj-ea"/>
              <a:buAutoNum type="circleNumDbPlain"/>
            </a:pPr>
            <a:r>
              <a:rPr lang="zh-CN"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更改坏扇区列表</a:t>
            </a:r>
            <a:endPar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indent="-442595">
              <a:lnSpc>
                <a:spcPct val="123000"/>
              </a:lnSpc>
              <a:buClr>
                <a:srgbClr val="0000FF"/>
              </a:buClr>
              <a:buFont typeface="Wingdings" panose="05000000000000000000" pitchFamily="2" charset="2"/>
              <a:buChar char="p"/>
            </a:pPr>
            <a:r>
              <a:rPr lang="zh-CN" altLang="en-US" sz="2200"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rPr>
              <a:t>多形态</a:t>
            </a:r>
            <a:endParaRPr lang="en-US" altLang="zh-CN" sz="2200"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776605" lvl="1" indent="-457200">
              <a:lnSpc>
                <a:spcPct val="123000"/>
              </a:lnSpc>
              <a:buFont typeface="+mj-ea"/>
              <a:buAutoNum type="circleNumDbPlain"/>
            </a:pPr>
            <a:r>
              <a:rPr lang="zh-CN"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插入多余的指令</a:t>
            </a:r>
            <a:endPar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776605" lvl="1" indent="-457200">
              <a:lnSpc>
                <a:spcPct val="123000"/>
              </a:lnSpc>
              <a:buFont typeface="+mj-ea"/>
              <a:buAutoNum type="circleNumDbPlain"/>
            </a:pPr>
            <a:r>
              <a:rPr lang="zh-CN"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对病毒程序进行加密</a:t>
            </a:r>
            <a:endPar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6" name="内容占位符 2"/>
          <p:cNvSpPr txBox="1"/>
          <p:nvPr/>
        </p:nvSpPr>
        <p:spPr>
          <a:xfrm>
            <a:off x="4026795" y="1520980"/>
            <a:ext cx="5258873" cy="51790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76605" lvl="1" indent="-457200">
              <a:lnSpc>
                <a:spcPct val="123000"/>
              </a:lnSpc>
              <a:buFont typeface="+mj-ea"/>
              <a:buAutoNum type="circleNumDbPlain" startAt="2"/>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通过修改日期和时间伪装</a:t>
            </a:r>
            <a:endPar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病毒的预防与检测</a:t>
            </a:r>
          </a:p>
        </p:txBody>
      </p:sp>
      <p:sp>
        <p:nvSpPr>
          <p:cNvPr id="3" name="内容占位符 2"/>
          <p:cNvSpPr txBox="1"/>
          <p:nvPr/>
        </p:nvSpPr>
        <p:spPr>
          <a:xfrm>
            <a:off x="921716" y="1527313"/>
            <a:ext cx="9430624" cy="48701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600" dirty="0">
                <a:latin typeface="+mn-ea"/>
                <a:cs typeface="+mn-ea"/>
                <a:sym typeface="Times New Roman" panose="02020603050405020304" pitchFamily="18" charset="0"/>
              </a:rPr>
              <a:t>病毒的</a:t>
            </a:r>
            <a:r>
              <a:rPr lang="zh-CN" altLang="en-US" sz="2600" dirty="0">
                <a:solidFill>
                  <a:srgbClr val="0000FF"/>
                </a:solidFill>
                <a:latin typeface="+mn-ea"/>
                <a:cs typeface="+mn-ea"/>
                <a:sym typeface="Times New Roman" panose="02020603050405020304" pitchFamily="18" charset="0"/>
              </a:rPr>
              <a:t>预防</a:t>
            </a:r>
            <a:endParaRPr lang="en-US" altLang="zh-CN" sz="2600" dirty="0">
              <a:latin typeface="+mn-ea"/>
              <a:cs typeface="+mn-ea"/>
              <a:sym typeface="Times New Roman" panose="02020603050405020304" pitchFamily="18" charset="0"/>
            </a:endParaRPr>
          </a:p>
        </p:txBody>
      </p:sp>
      <p:sp>
        <p:nvSpPr>
          <p:cNvPr id="4" name="内容占位符 2"/>
          <p:cNvSpPr txBox="1"/>
          <p:nvPr/>
        </p:nvSpPr>
        <p:spPr>
          <a:xfrm>
            <a:off x="669925" y="2107095"/>
            <a:ext cx="9430624" cy="31926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76605" lvl="1" indent="-457200">
              <a:lnSpc>
                <a:spcPct val="132000"/>
              </a:lnSpc>
              <a:buFont typeface="+mj-ea"/>
              <a:buAutoNum type="circleNumDbPlain"/>
            </a:pPr>
            <a:r>
              <a:rPr lang="zh-CN"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对重要的软件和数据，应当定期将它们备份到外部存储介质上</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776605" lvl="1" indent="-457200">
              <a:lnSpc>
                <a:spcPct val="132000"/>
              </a:lnSpc>
              <a:buFont typeface="+mj-ea"/>
              <a:buAutoNum type="circleNumDbPlain"/>
            </a:pPr>
            <a:r>
              <a:rPr lang="zh-CN"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使用具有高安全性的</a:t>
            </a:r>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OS</a:t>
            </a:r>
          </a:p>
          <a:p>
            <a:pPr marL="776605" lvl="1" indent="-457200">
              <a:lnSpc>
                <a:spcPct val="132000"/>
              </a:lnSpc>
              <a:buFont typeface="+mj-ea"/>
              <a:buAutoNum type="circleNumDbPlain"/>
            </a:pPr>
            <a:r>
              <a:rPr lang="zh-CN"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使用正版软件</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776605" lvl="1" indent="-457200">
              <a:lnSpc>
                <a:spcPct val="132000"/>
              </a:lnSpc>
              <a:buFont typeface="+mj-ea"/>
              <a:buAutoNum type="circleNumDbPlain"/>
            </a:pPr>
            <a:r>
              <a:rPr lang="zh-CN"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购买性能优良的反病毒软件</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776605" lvl="1" indent="-457200">
              <a:lnSpc>
                <a:spcPct val="132000"/>
              </a:lnSpc>
              <a:buFont typeface="+mj-ea"/>
              <a:buAutoNum type="circleNumDbPlain"/>
            </a:pPr>
            <a:r>
              <a:rPr lang="zh-CN"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对于来历不明的电子邮件，不要将其轻易打开</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776605" lvl="1" indent="-457200">
              <a:lnSpc>
                <a:spcPct val="132000"/>
              </a:lnSpc>
              <a:buFont typeface="+mj-ea"/>
              <a:buAutoNum type="circleNumDbPlain"/>
            </a:pPr>
            <a:r>
              <a:rPr lang="zh-CN"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要定期检查硬盘及</a:t>
            </a:r>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U</a:t>
            </a:r>
            <a:r>
              <a:rPr lang="zh-CN"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盘</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zh-CN"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用反病毒软件来清除其中的病毒</a:t>
            </a:r>
            <a:endPar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病毒的检测</a:t>
            </a:r>
          </a:p>
        </p:txBody>
      </p:sp>
      <p:sp>
        <p:nvSpPr>
          <p:cNvPr id="4" name="内容占位符 2"/>
          <p:cNvSpPr txBox="1"/>
          <p:nvPr/>
        </p:nvSpPr>
        <p:spPr>
          <a:xfrm>
            <a:off x="1555170" y="1182609"/>
            <a:ext cx="4468969" cy="118710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ts val="0"/>
              </a:spcBef>
              <a:buNone/>
            </a:pPr>
            <a:r>
              <a:rPr lang="zh-CN" altLang="en-US" sz="2400" dirty="0">
                <a:solidFill>
                  <a:srgbClr val="0000FF"/>
                </a:solidFill>
              </a:rPr>
              <a:t>基于病毒数据库</a:t>
            </a:r>
            <a:r>
              <a:rPr lang="zh-CN" altLang="en-US" sz="2400" dirty="0"/>
              <a:t>的检测方法：</a:t>
            </a:r>
          </a:p>
          <a:p>
            <a:pPr marL="342900" lvl="1" indent="-342900">
              <a:lnSpc>
                <a:spcPct val="150000"/>
              </a:lnSpc>
              <a:spcBef>
                <a:spcPts val="300"/>
              </a:spcBef>
              <a:buClr>
                <a:srgbClr val="E71101"/>
              </a:buClr>
              <a:buSzPct val="60000"/>
              <a:buFont typeface="Wingdings" panose="05000000000000000000" pitchFamily="2" charset="2"/>
              <a:buChar char="n"/>
              <a:defRPr/>
            </a:pPr>
            <a:r>
              <a:rPr lang="zh-CN" altLang="en-US" sz="2200" dirty="0">
                <a:solidFill>
                  <a:schemeClr val="tx1">
                    <a:lumMod val="65000"/>
                    <a:lumOff val="35000"/>
                  </a:schemeClr>
                </a:solidFill>
              </a:rPr>
              <a:t>建立病毒数据库；</a:t>
            </a:r>
          </a:p>
        </p:txBody>
      </p:sp>
      <p:grpSp>
        <p:nvGrpSpPr>
          <p:cNvPr id="5" name="组合 4"/>
          <p:cNvGrpSpPr/>
          <p:nvPr/>
        </p:nvGrpSpPr>
        <p:grpSpPr>
          <a:xfrm>
            <a:off x="669926" y="1337157"/>
            <a:ext cx="712277" cy="418475"/>
            <a:chOff x="673100" y="2982961"/>
            <a:chExt cx="1597850" cy="938764"/>
          </a:xfrm>
        </p:grpSpPr>
        <p:sp>
          <p:nvSpPr>
            <p:cNvPr id="6" name="ïsḷîde"/>
            <p:cNvSpPr/>
            <p:nvPr/>
          </p:nvSpPr>
          <p:spPr bwMode="auto">
            <a:xfrm>
              <a:off x="673100" y="2982961"/>
              <a:ext cx="1597850" cy="938764"/>
            </a:xfrm>
            <a:prstGeom prst="hexagon">
              <a:avLst/>
            </a:prstGeom>
            <a:solidFill>
              <a:schemeClr val="accent1"/>
            </a:solidFill>
            <a:ln w="19050">
              <a:noFill/>
              <a:round/>
            </a:ln>
          </p:spPr>
          <p:txBody>
            <a:bodyPr wrap="square" lIns="91440" tIns="45720" rIns="91440" bIns="45720" anchor="ctr">
              <a:normAutofit fontScale="47500" lnSpcReduction="20000"/>
            </a:bodyPr>
            <a:lstStyle/>
            <a:p>
              <a:pPr algn="ctr"/>
              <a:endParaRPr lang="en-US" altLang="zh-CN" sz="3200" dirty="0">
                <a:solidFill>
                  <a:schemeClr val="bg1">
                    <a:lumMod val="100000"/>
                  </a:schemeClr>
                </a:solidFill>
                <a:latin typeface="Impact" panose="020B0806030902050204" pitchFamily="34" charset="0"/>
              </a:endParaRPr>
            </a:p>
          </p:txBody>
        </p:sp>
        <p:sp>
          <p:nvSpPr>
            <p:cNvPr id="7" name="iṥḻíḓê"/>
            <p:cNvSpPr/>
            <p:nvPr/>
          </p:nvSpPr>
          <p:spPr bwMode="auto">
            <a:xfrm>
              <a:off x="1212384" y="3153135"/>
              <a:ext cx="567411" cy="566350"/>
            </a:xfrm>
            <a:custGeom>
              <a:avLst/>
              <a:gdLst>
                <a:gd name="connsiteX0" fmla="*/ 290910 w 605702"/>
                <a:gd name="connsiteY0" fmla="*/ 156336 h 604568"/>
                <a:gd name="connsiteX1" fmla="*/ 335849 w 605702"/>
                <a:gd name="connsiteY1" fmla="*/ 164992 h 604568"/>
                <a:gd name="connsiteX2" fmla="*/ 288310 w 605702"/>
                <a:gd name="connsiteY2" fmla="*/ 212456 h 604568"/>
                <a:gd name="connsiteX3" fmla="*/ 203632 w 605702"/>
                <a:gd name="connsiteY3" fmla="*/ 244717 h 604568"/>
                <a:gd name="connsiteX4" fmla="*/ 203632 w 605702"/>
                <a:gd name="connsiteY4" fmla="*/ 401388 h 604568"/>
                <a:gd name="connsiteX5" fmla="*/ 360547 w 605702"/>
                <a:gd name="connsiteY5" fmla="*/ 401388 h 604568"/>
                <a:gd name="connsiteX6" fmla="*/ 392859 w 605702"/>
                <a:gd name="connsiteY6" fmla="*/ 316749 h 604568"/>
                <a:gd name="connsiteX7" fmla="*/ 440397 w 605702"/>
                <a:gd name="connsiteY7" fmla="*/ 269284 h 604568"/>
                <a:gd name="connsiteX8" fmla="*/ 400287 w 605702"/>
                <a:gd name="connsiteY8" fmla="*/ 441065 h 604568"/>
                <a:gd name="connsiteX9" fmla="*/ 163892 w 605702"/>
                <a:gd name="connsiteY9" fmla="*/ 441065 h 604568"/>
                <a:gd name="connsiteX10" fmla="*/ 163892 w 605702"/>
                <a:gd name="connsiteY10" fmla="*/ 205040 h 604568"/>
                <a:gd name="connsiteX11" fmla="*/ 290910 w 605702"/>
                <a:gd name="connsiteY11" fmla="*/ 156336 h 604568"/>
                <a:gd name="connsiteX12" fmla="*/ 246542 w 605702"/>
                <a:gd name="connsiteY12" fmla="*/ 43775 h 604568"/>
                <a:gd name="connsiteX13" fmla="*/ 422196 w 605702"/>
                <a:gd name="connsiteY13" fmla="*/ 78723 h 604568"/>
                <a:gd name="connsiteX14" fmla="*/ 376794 w 605702"/>
                <a:gd name="connsiteY14" fmla="*/ 124054 h 604568"/>
                <a:gd name="connsiteX15" fmla="*/ 126109 w 605702"/>
                <a:gd name="connsiteY15" fmla="*/ 167345 h 604568"/>
                <a:gd name="connsiteX16" fmla="*/ 126109 w 605702"/>
                <a:gd name="connsiteY16" fmla="*/ 478820 h 604568"/>
                <a:gd name="connsiteX17" fmla="*/ 438073 w 605702"/>
                <a:gd name="connsiteY17" fmla="*/ 478820 h 604568"/>
                <a:gd name="connsiteX18" fmla="*/ 481432 w 605702"/>
                <a:gd name="connsiteY18" fmla="*/ 228527 h 604568"/>
                <a:gd name="connsiteX19" fmla="*/ 526741 w 605702"/>
                <a:gd name="connsiteY19" fmla="*/ 183011 h 604568"/>
                <a:gd name="connsiteX20" fmla="*/ 481432 w 605702"/>
                <a:gd name="connsiteY20" fmla="*/ 522111 h 604568"/>
                <a:gd name="connsiteX21" fmla="*/ 82657 w 605702"/>
                <a:gd name="connsiteY21" fmla="*/ 522111 h 604568"/>
                <a:gd name="connsiteX22" fmla="*/ 82657 w 605702"/>
                <a:gd name="connsiteY22" fmla="*/ 123961 h 604568"/>
                <a:gd name="connsiteX23" fmla="*/ 246542 w 605702"/>
                <a:gd name="connsiteY23" fmla="*/ 43775 h 604568"/>
                <a:gd name="connsiteX24" fmla="*/ 536061 w 605702"/>
                <a:gd name="connsiteY24" fmla="*/ 0 h 604568"/>
                <a:gd name="connsiteX25" fmla="*/ 544232 w 605702"/>
                <a:gd name="connsiteY25" fmla="*/ 61368 h 604568"/>
                <a:gd name="connsiteX26" fmla="*/ 605702 w 605702"/>
                <a:gd name="connsiteY26" fmla="*/ 69526 h 604568"/>
                <a:gd name="connsiteX27" fmla="*/ 524361 w 605702"/>
                <a:gd name="connsiteY27" fmla="*/ 150732 h 604568"/>
                <a:gd name="connsiteX28" fmla="*/ 498361 w 605702"/>
                <a:gd name="connsiteY28" fmla="*/ 147302 h 604568"/>
                <a:gd name="connsiteX29" fmla="*/ 337721 w 605702"/>
                <a:gd name="connsiteY29" fmla="*/ 307767 h 604568"/>
                <a:gd name="connsiteX30" fmla="*/ 339764 w 605702"/>
                <a:gd name="connsiteY30" fmla="*/ 323063 h 604568"/>
                <a:gd name="connsiteX31" fmla="*/ 282101 w 605702"/>
                <a:gd name="connsiteY31" fmla="*/ 380630 h 604568"/>
                <a:gd name="connsiteX32" fmla="*/ 224437 w 605702"/>
                <a:gd name="connsiteY32" fmla="*/ 323063 h 604568"/>
                <a:gd name="connsiteX33" fmla="*/ 282101 w 605702"/>
                <a:gd name="connsiteY33" fmla="*/ 265495 h 604568"/>
                <a:gd name="connsiteX34" fmla="*/ 297422 w 605702"/>
                <a:gd name="connsiteY34" fmla="*/ 267535 h 604568"/>
                <a:gd name="connsiteX35" fmla="*/ 458155 w 605702"/>
                <a:gd name="connsiteY35" fmla="*/ 107162 h 604568"/>
                <a:gd name="connsiteX36" fmla="*/ 454719 w 605702"/>
                <a:gd name="connsiteY36" fmla="*/ 81206 h 604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05702" h="604568">
                  <a:moveTo>
                    <a:pt x="290910" y="156336"/>
                  </a:moveTo>
                  <a:cubicBezTo>
                    <a:pt x="306137" y="157147"/>
                    <a:pt x="321272" y="160032"/>
                    <a:pt x="335849" y="164992"/>
                  </a:cubicBezTo>
                  <a:lnTo>
                    <a:pt x="288310" y="212456"/>
                  </a:lnTo>
                  <a:cubicBezTo>
                    <a:pt x="257856" y="210695"/>
                    <a:pt x="226844" y="221449"/>
                    <a:pt x="203632" y="244717"/>
                  </a:cubicBezTo>
                  <a:cubicBezTo>
                    <a:pt x="160271" y="287918"/>
                    <a:pt x="160271" y="358187"/>
                    <a:pt x="203632" y="401388"/>
                  </a:cubicBezTo>
                  <a:cubicBezTo>
                    <a:pt x="246900" y="444680"/>
                    <a:pt x="317279" y="444680"/>
                    <a:pt x="360547" y="401388"/>
                  </a:cubicBezTo>
                  <a:cubicBezTo>
                    <a:pt x="383852" y="378211"/>
                    <a:pt x="394623" y="347156"/>
                    <a:pt x="392859" y="316749"/>
                  </a:cubicBezTo>
                  <a:lnTo>
                    <a:pt x="440397" y="269284"/>
                  </a:lnTo>
                  <a:cubicBezTo>
                    <a:pt x="460267" y="327595"/>
                    <a:pt x="446897" y="394620"/>
                    <a:pt x="400287" y="441065"/>
                  </a:cubicBezTo>
                  <a:cubicBezTo>
                    <a:pt x="335106" y="506236"/>
                    <a:pt x="229073" y="506236"/>
                    <a:pt x="163892" y="441065"/>
                  </a:cubicBezTo>
                  <a:cubicBezTo>
                    <a:pt x="98619" y="375987"/>
                    <a:pt x="98619" y="270118"/>
                    <a:pt x="163892" y="205040"/>
                  </a:cubicBezTo>
                  <a:cubicBezTo>
                    <a:pt x="198711" y="170137"/>
                    <a:pt x="245228" y="153902"/>
                    <a:pt x="290910" y="156336"/>
                  </a:cubicBezTo>
                  <a:close/>
                  <a:moveTo>
                    <a:pt x="246542" y="43775"/>
                  </a:moveTo>
                  <a:cubicBezTo>
                    <a:pt x="306463" y="36243"/>
                    <a:pt x="368345" y="47900"/>
                    <a:pt x="422196" y="78723"/>
                  </a:cubicBezTo>
                  <a:lnTo>
                    <a:pt x="376794" y="124054"/>
                  </a:lnTo>
                  <a:cubicBezTo>
                    <a:pt x="294811" y="85305"/>
                    <a:pt x="193980" y="99581"/>
                    <a:pt x="126109" y="167345"/>
                  </a:cubicBezTo>
                  <a:cubicBezTo>
                    <a:pt x="39948" y="253371"/>
                    <a:pt x="39948" y="392793"/>
                    <a:pt x="126109" y="478820"/>
                  </a:cubicBezTo>
                  <a:cubicBezTo>
                    <a:pt x="212271" y="564846"/>
                    <a:pt x="351912" y="564846"/>
                    <a:pt x="438073" y="478820"/>
                  </a:cubicBezTo>
                  <a:cubicBezTo>
                    <a:pt x="505944" y="411055"/>
                    <a:pt x="520428" y="310382"/>
                    <a:pt x="481432" y="228527"/>
                  </a:cubicBezTo>
                  <a:lnTo>
                    <a:pt x="526741" y="183011"/>
                  </a:lnTo>
                  <a:cubicBezTo>
                    <a:pt x="588484" y="290544"/>
                    <a:pt x="573350" y="430244"/>
                    <a:pt x="481432" y="522111"/>
                  </a:cubicBezTo>
                  <a:cubicBezTo>
                    <a:pt x="371316" y="632054"/>
                    <a:pt x="192866" y="632054"/>
                    <a:pt x="82657" y="522111"/>
                  </a:cubicBezTo>
                  <a:cubicBezTo>
                    <a:pt x="-27552" y="412168"/>
                    <a:pt x="-27552" y="233997"/>
                    <a:pt x="82657" y="123961"/>
                  </a:cubicBezTo>
                  <a:cubicBezTo>
                    <a:pt x="128662" y="78028"/>
                    <a:pt x="186622" y="51307"/>
                    <a:pt x="246542" y="43775"/>
                  </a:cubicBezTo>
                  <a:close/>
                  <a:moveTo>
                    <a:pt x="536061" y="0"/>
                  </a:moveTo>
                  <a:lnTo>
                    <a:pt x="544232" y="61368"/>
                  </a:lnTo>
                  <a:lnTo>
                    <a:pt x="605702" y="69526"/>
                  </a:lnTo>
                  <a:lnTo>
                    <a:pt x="524361" y="150732"/>
                  </a:lnTo>
                  <a:lnTo>
                    <a:pt x="498361" y="147302"/>
                  </a:lnTo>
                  <a:lnTo>
                    <a:pt x="337721" y="307767"/>
                  </a:lnTo>
                  <a:cubicBezTo>
                    <a:pt x="339021" y="312588"/>
                    <a:pt x="339764" y="317779"/>
                    <a:pt x="339764" y="323063"/>
                  </a:cubicBezTo>
                  <a:cubicBezTo>
                    <a:pt x="339764" y="354859"/>
                    <a:pt x="313950" y="380630"/>
                    <a:pt x="282101" y="380630"/>
                  </a:cubicBezTo>
                  <a:cubicBezTo>
                    <a:pt x="250251" y="380630"/>
                    <a:pt x="224437" y="354859"/>
                    <a:pt x="224437" y="323063"/>
                  </a:cubicBezTo>
                  <a:cubicBezTo>
                    <a:pt x="224437" y="291266"/>
                    <a:pt x="250251" y="265495"/>
                    <a:pt x="282101" y="265495"/>
                  </a:cubicBezTo>
                  <a:cubicBezTo>
                    <a:pt x="287393" y="265495"/>
                    <a:pt x="292500" y="266237"/>
                    <a:pt x="297422" y="267535"/>
                  </a:cubicBezTo>
                  <a:lnTo>
                    <a:pt x="458155" y="107162"/>
                  </a:lnTo>
                  <a:lnTo>
                    <a:pt x="454719" y="81206"/>
                  </a:lnTo>
                  <a:close/>
                </a:path>
              </a:pathLst>
            </a:custGeom>
            <a:solidFill>
              <a:schemeClr val="bg1"/>
            </a:solidFill>
            <a:ln>
              <a:noFill/>
            </a:ln>
          </p:spPr>
          <p:txBody>
            <a:bodyPr wrap="square" lIns="91440" tIns="45720" rIns="91440" bIns="45720">
              <a:normAutofit fontScale="70000" lnSpcReduction="20000"/>
            </a:bodyPr>
            <a:lstStyle/>
            <a:p>
              <a:endParaRPr lang="zh-CN" altLang="en-US"/>
            </a:p>
          </p:txBody>
        </p:sp>
      </p:grpSp>
      <p:grpSp>
        <p:nvGrpSpPr>
          <p:cNvPr id="8" name="组合 7"/>
          <p:cNvGrpSpPr/>
          <p:nvPr/>
        </p:nvGrpSpPr>
        <p:grpSpPr>
          <a:xfrm>
            <a:off x="669925" y="2401823"/>
            <a:ext cx="712277" cy="418475"/>
            <a:chOff x="673100" y="2982961"/>
            <a:chExt cx="1597850" cy="938764"/>
          </a:xfrm>
        </p:grpSpPr>
        <p:sp>
          <p:nvSpPr>
            <p:cNvPr id="9" name="ïsḷîde"/>
            <p:cNvSpPr/>
            <p:nvPr/>
          </p:nvSpPr>
          <p:spPr bwMode="auto">
            <a:xfrm>
              <a:off x="673100" y="2982961"/>
              <a:ext cx="1597850" cy="938764"/>
            </a:xfrm>
            <a:prstGeom prst="hexagon">
              <a:avLst/>
            </a:prstGeom>
            <a:solidFill>
              <a:schemeClr val="accent1"/>
            </a:solidFill>
            <a:ln w="19050">
              <a:noFill/>
              <a:round/>
            </a:ln>
          </p:spPr>
          <p:txBody>
            <a:bodyPr wrap="square" lIns="91440" tIns="45720" rIns="91440" bIns="45720" anchor="ctr">
              <a:normAutofit fontScale="47500" lnSpcReduction="20000"/>
            </a:bodyPr>
            <a:lstStyle/>
            <a:p>
              <a:pPr algn="ctr"/>
              <a:endParaRPr lang="en-US" altLang="zh-CN" sz="3200" dirty="0">
                <a:solidFill>
                  <a:schemeClr val="bg1">
                    <a:lumMod val="100000"/>
                  </a:schemeClr>
                </a:solidFill>
                <a:latin typeface="Impact" panose="020B0806030902050204" pitchFamily="34" charset="0"/>
              </a:endParaRPr>
            </a:p>
          </p:txBody>
        </p:sp>
        <p:sp>
          <p:nvSpPr>
            <p:cNvPr id="10" name="iṥḻíḓê"/>
            <p:cNvSpPr/>
            <p:nvPr/>
          </p:nvSpPr>
          <p:spPr bwMode="auto">
            <a:xfrm>
              <a:off x="1212384" y="3153135"/>
              <a:ext cx="567411" cy="566350"/>
            </a:xfrm>
            <a:custGeom>
              <a:avLst/>
              <a:gdLst>
                <a:gd name="connsiteX0" fmla="*/ 290910 w 605702"/>
                <a:gd name="connsiteY0" fmla="*/ 156336 h 604568"/>
                <a:gd name="connsiteX1" fmla="*/ 335849 w 605702"/>
                <a:gd name="connsiteY1" fmla="*/ 164992 h 604568"/>
                <a:gd name="connsiteX2" fmla="*/ 288310 w 605702"/>
                <a:gd name="connsiteY2" fmla="*/ 212456 h 604568"/>
                <a:gd name="connsiteX3" fmla="*/ 203632 w 605702"/>
                <a:gd name="connsiteY3" fmla="*/ 244717 h 604568"/>
                <a:gd name="connsiteX4" fmla="*/ 203632 w 605702"/>
                <a:gd name="connsiteY4" fmla="*/ 401388 h 604568"/>
                <a:gd name="connsiteX5" fmla="*/ 360547 w 605702"/>
                <a:gd name="connsiteY5" fmla="*/ 401388 h 604568"/>
                <a:gd name="connsiteX6" fmla="*/ 392859 w 605702"/>
                <a:gd name="connsiteY6" fmla="*/ 316749 h 604568"/>
                <a:gd name="connsiteX7" fmla="*/ 440397 w 605702"/>
                <a:gd name="connsiteY7" fmla="*/ 269284 h 604568"/>
                <a:gd name="connsiteX8" fmla="*/ 400287 w 605702"/>
                <a:gd name="connsiteY8" fmla="*/ 441065 h 604568"/>
                <a:gd name="connsiteX9" fmla="*/ 163892 w 605702"/>
                <a:gd name="connsiteY9" fmla="*/ 441065 h 604568"/>
                <a:gd name="connsiteX10" fmla="*/ 163892 w 605702"/>
                <a:gd name="connsiteY10" fmla="*/ 205040 h 604568"/>
                <a:gd name="connsiteX11" fmla="*/ 290910 w 605702"/>
                <a:gd name="connsiteY11" fmla="*/ 156336 h 604568"/>
                <a:gd name="connsiteX12" fmla="*/ 246542 w 605702"/>
                <a:gd name="connsiteY12" fmla="*/ 43775 h 604568"/>
                <a:gd name="connsiteX13" fmla="*/ 422196 w 605702"/>
                <a:gd name="connsiteY13" fmla="*/ 78723 h 604568"/>
                <a:gd name="connsiteX14" fmla="*/ 376794 w 605702"/>
                <a:gd name="connsiteY14" fmla="*/ 124054 h 604568"/>
                <a:gd name="connsiteX15" fmla="*/ 126109 w 605702"/>
                <a:gd name="connsiteY15" fmla="*/ 167345 h 604568"/>
                <a:gd name="connsiteX16" fmla="*/ 126109 w 605702"/>
                <a:gd name="connsiteY16" fmla="*/ 478820 h 604568"/>
                <a:gd name="connsiteX17" fmla="*/ 438073 w 605702"/>
                <a:gd name="connsiteY17" fmla="*/ 478820 h 604568"/>
                <a:gd name="connsiteX18" fmla="*/ 481432 w 605702"/>
                <a:gd name="connsiteY18" fmla="*/ 228527 h 604568"/>
                <a:gd name="connsiteX19" fmla="*/ 526741 w 605702"/>
                <a:gd name="connsiteY19" fmla="*/ 183011 h 604568"/>
                <a:gd name="connsiteX20" fmla="*/ 481432 w 605702"/>
                <a:gd name="connsiteY20" fmla="*/ 522111 h 604568"/>
                <a:gd name="connsiteX21" fmla="*/ 82657 w 605702"/>
                <a:gd name="connsiteY21" fmla="*/ 522111 h 604568"/>
                <a:gd name="connsiteX22" fmla="*/ 82657 w 605702"/>
                <a:gd name="connsiteY22" fmla="*/ 123961 h 604568"/>
                <a:gd name="connsiteX23" fmla="*/ 246542 w 605702"/>
                <a:gd name="connsiteY23" fmla="*/ 43775 h 604568"/>
                <a:gd name="connsiteX24" fmla="*/ 536061 w 605702"/>
                <a:gd name="connsiteY24" fmla="*/ 0 h 604568"/>
                <a:gd name="connsiteX25" fmla="*/ 544232 w 605702"/>
                <a:gd name="connsiteY25" fmla="*/ 61368 h 604568"/>
                <a:gd name="connsiteX26" fmla="*/ 605702 w 605702"/>
                <a:gd name="connsiteY26" fmla="*/ 69526 h 604568"/>
                <a:gd name="connsiteX27" fmla="*/ 524361 w 605702"/>
                <a:gd name="connsiteY27" fmla="*/ 150732 h 604568"/>
                <a:gd name="connsiteX28" fmla="*/ 498361 w 605702"/>
                <a:gd name="connsiteY28" fmla="*/ 147302 h 604568"/>
                <a:gd name="connsiteX29" fmla="*/ 337721 w 605702"/>
                <a:gd name="connsiteY29" fmla="*/ 307767 h 604568"/>
                <a:gd name="connsiteX30" fmla="*/ 339764 w 605702"/>
                <a:gd name="connsiteY30" fmla="*/ 323063 h 604568"/>
                <a:gd name="connsiteX31" fmla="*/ 282101 w 605702"/>
                <a:gd name="connsiteY31" fmla="*/ 380630 h 604568"/>
                <a:gd name="connsiteX32" fmla="*/ 224437 w 605702"/>
                <a:gd name="connsiteY32" fmla="*/ 323063 h 604568"/>
                <a:gd name="connsiteX33" fmla="*/ 282101 w 605702"/>
                <a:gd name="connsiteY33" fmla="*/ 265495 h 604568"/>
                <a:gd name="connsiteX34" fmla="*/ 297422 w 605702"/>
                <a:gd name="connsiteY34" fmla="*/ 267535 h 604568"/>
                <a:gd name="connsiteX35" fmla="*/ 458155 w 605702"/>
                <a:gd name="connsiteY35" fmla="*/ 107162 h 604568"/>
                <a:gd name="connsiteX36" fmla="*/ 454719 w 605702"/>
                <a:gd name="connsiteY36" fmla="*/ 81206 h 604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05702" h="604568">
                  <a:moveTo>
                    <a:pt x="290910" y="156336"/>
                  </a:moveTo>
                  <a:cubicBezTo>
                    <a:pt x="306137" y="157147"/>
                    <a:pt x="321272" y="160032"/>
                    <a:pt x="335849" y="164992"/>
                  </a:cubicBezTo>
                  <a:lnTo>
                    <a:pt x="288310" y="212456"/>
                  </a:lnTo>
                  <a:cubicBezTo>
                    <a:pt x="257856" y="210695"/>
                    <a:pt x="226844" y="221449"/>
                    <a:pt x="203632" y="244717"/>
                  </a:cubicBezTo>
                  <a:cubicBezTo>
                    <a:pt x="160271" y="287918"/>
                    <a:pt x="160271" y="358187"/>
                    <a:pt x="203632" y="401388"/>
                  </a:cubicBezTo>
                  <a:cubicBezTo>
                    <a:pt x="246900" y="444680"/>
                    <a:pt x="317279" y="444680"/>
                    <a:pt x="360547" y="401388"/>
                  </a:cubicBezTo>
                  <a:cubicBezTo>
                    <a:pt x="383852" y="378211"/>
                    <a:pt x="394623" y="347156"/>
                    <a:pt x="392859" y="316749"/>
                  </a:cubicBezTo>
                  <a:lnTo>
                    <a:pt x="440397" y="269284"/>
                  </a:lnTo>
                  <a:cubicBezTo>
                    <a:pt x="460267" y="327595"/>
                    <a:pt x="446897" y="394620"/>
                    <a:pt x="400287" y="441065"/>
                  </a:cubicBezTo>
                  <a:cubicBezTo>
                    <a:pt x="335106" y="506236"/>
                    <a:pt x="229073" y="506236"/>
                    <a:pt x="163892" y="441065"/>
                  </a:cubicBezTo>
                  <a:cubicBezTo>
                    <a:pt x="98619" y="375987"/>
                    <a:pt x="98619" y="270118"/>
                    <a:pt x="163892" y="205040"/>
                  </a:cubicBezTo>
                  <a:cubicBezTo>
                    <a:pt x="198711" y="170137"/>
                    <a:pt x="245228" y="153902"/>
                    <a:pt x="290910" y="156336"/>
                  </a:cubicBezTo>
                  <a:close/>
                  <a:moveTo>
                    <a:pt x="246542" y="43775"/>
                  </a:moveTo>
                  <a:cubicBezTo>
                    <a:pt x="306463" y="36243"/>
                    <a:pt x="368345" y="47900"/>
                    <a:pt x="422196" y="78723"/>
                  </a:cubicBezTo>
                  <a:lnTo>
                    <a:pt x="376794" y="124054"/>
                  </a:lnTo>
                  <a:cubicBezTo>
                    <a:pt x="294811" y="85305"/>
                    <a:pt x="193980" y="99581"/>
                    <a:pt x="126109" y="167345"/>
                  </a:cubicBezTo>
                  <a:cubicBezTo>
                    <a:pt x="39948" y="253371"/>
                    <a:pt x="39948" y="392793"/>
                    <a:pt x="126109" y="478820"/>
                  </a:cubicBezTo>
                  <a:cubicBezTo>
                    <a:pt x="212271" y="564846"/>
                    <a:pt x="351912" y="564846"/>
                    <a:pt x="438073" y="478820"/>
                  </a:cubicBezTo>
                  <a:cubicBezTo>
                    <a:pt x="505944" y="411055"/>
                    <a:pt x="520428" y="310382"/>
                    <a:pt x="481432" y="228527"/>
                  </a:cubicBezTo>
                  <a:lnTo>
                    <a:pt x="526741" y="183011"/>
                  </a:lnTo>
                  <a:cubicBezTo>
                    <a:pt x="588484" y="290544"/>
                    <a:pt x="573350" y="430244"/>
                    <a:pt x="481432" y="522111"/>
                  </a:cubicBezTo>
                  <a:cubicBezTo>
                    <a:pt x="371316" y="632054"/>
                    <a:pt x="192866" y="632054"/>
                    <a:pt x="82657" y="522111"/>
                  </a:cubicBezTo>
                  <a:cubicBezTo>
                    <a:pt x="-27552" y="412168"/>
                    <a:pt x="-27552" y="233997"/>
                    <a:pt x="82657" y="123961"/>
                  </a:cubicBezTo>
                  <a:cubicBezTo>
                    <a:pt x="128662" y="78028"/>
                    <a:pt x="186622" y="51307"/>
                    <a:pt x="246542" y="43775"/>
                  </a:cubicBezTo>
                  <a:close/>
                  <a:moveTo>
                    <a:pt x="536061" y="0"/>
                  </a:moveTo>
                  <a:lnTo>
                    <a:pt x="544232" y="61368"/>
                  </a:lnTo>
                  <a:lnTo>
                    <a:pt x="605702" y="69526"/>
                  </a:lnTo>
                  <a:lnTo>
                    <a:pt x="524361" y="150732"/>
                  </a:lnTo>
                  <a:lnTo>
                    <a:pt x="498361" y="147302"/>
                  </a:lnTo>
                  <a:lnTo>
                    <a:pt x="337721" y="307767"/>
                  </a:lnTo>
                  <a:cubicBezTo>
                    <a:pt x="339021" y="312588"/>
                    <a:pt x="339764" y="317779"/>
                    <a:pt x="339764" y="323063"/>
                  </a:cubicBezTo>
                  <a:cubicBezTo>
                    <a:pt x="339764" y="354859"/>
                    <a:pt x="313950" y="380630"/>
                    <a:pt x="282101" y="380630"/>
                  </a:cubicBezTo>
                  <a:cubicBezTo>
                    <a:pt x="250251" y="380630"/>
                    <a:pt x="224437" y="354859"/>
                    <a:pt x="224437" y="323063"/>
                  </a:cubicBezTo>
                  <a:cubicBezTo>
                    <a:pt x="224437" y="291266"/>
                    <a:pt x="250251" y="265495"/>
                    <a:pt x="282101" y="265495"/>
                  </a:cubicBezTo>
                  <a:cubicBezTo>
                    <a:pt x="287393" y="265495"/>
                    <a:pt x="292500" y="266237"/>
                    <a:pt x="297422" y="267535"/>
                  </a:cubicBezTo>
                  <a:lnTo>
                    <a:pt x="458155" y="107162"/>
                  </a:lnTo>
                  <a:lnTo>
                    <a:pt x="454719" y="81206"/>
                  </a:lnTo>
                  <a:close/>
                </a:path>
              </a:pathLst>
            </a:custGeom>
            <a:solidFill>
              <a:schemeClr val="bg1"/>
            </a:solidFill>
            <a:ln>
              <a:noFill/>
            </a:ln>
          </p:spPr>
          <p:txBody>
            <a:bodyPr wrap="square" lIns="91440" tIns="45720" rIns="91440" bIns="45720">
              <a:normAutofit fontScale="70000" lnSpcReduction="20000"/>
            </a:bodyPr>
            <a:lstStyle/>
            <a:p>
              <a:endParaRPr lang="zh-CN" altLang="en-US"/>
            </a:p>
          </p:txBody>
        </p:sp>
      </p:grpSp>
      <p:sp>
        <p:nvSpPr>
          <p:cNvPr id="12" name="内容占位符 2"/>
          <p:cNvSpPr txBox="1"/>
          <p:nvPr/>
        </p:nvSpPr>
        <p:spPr>
          <a:xfrm>
            <a:off x="1622600" y="2350307"/>
            <a:ext cx="9893887" cy="163786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ts val="0"/>
              </a:spcBef>
              <a:buNone/>
            </a:pPr>
            <a:r>
              <a:rPr lang="zh-CN" altLang="en-US" sz="2400" dirty="0">
                <a:solidFill>
                  <a:srgbClr val="0000FF"/>
                </a:solidFill>
              </a:rPr>
              <a:t>完整性</a:t>
            </a:r>
            <a:r>
              <a:rPr lang="zh-CN" altLang="en-US" sz="2400" dirty="0"/>
              <a:t>检测方法：</a:t>
            </a:r>
          </a:p>
          <a:p>
            <a:pPr marL="342900" lvl="1" indent="-342900">
              <a:lnSpc>
                <a:spcPct val="150000"/>
              </a:lnSpc>
              <a:spcBef>
                <a:spcPts val="300"/>
              </a:spcBef>
              <a:buClr>
                <a:srgbClr val="E71101"/>
              </a:buClr>
              <a:buSzPct val="60000"/>
              <a:buFont typeface="Wingdings" panose="05000000000000000000" pitchFamily="2" charset="2"/>
              <a:buChar char="n"/>
              <a:defRPr/>
            </a:pPr>
            <a:r>
              <a:rPr lang="zh-CN" altLang="en-US" sz="2200" dirty="0">
                <a:solidFill>
                  <a:srgbClr val="FF0000"/>
                </a:solidFill>
              </a:rPr>
              <a:t>完整性检测程序在检测病毒之前，首先会扫描硬盘，检查其中是否有病毒，当确信硬盘“干净”时，才正式工作；</a:t>
            </a:r>
          </a:p>
          <a:p>
            <a:pPr marL="342900" lvl="1" indent="-342900">
              <a:lnSpc>
                <a:spcPct val="150000"/>
              </a:lnSpc>
              <a:spcBef>
                <a:spcPts val="300"/>
              </a:spcBef>
              <a:buClr>
                <a:srgbClr val="E71101"/>
              </a:buClr>
              <a:buSzPct val="60000"/>
              <a:buFont typeface="Wingdings" panose="05000000000000000000" pitchFamily="2" charset="2"/>
              <a:buChar char="n"/>
              <a:defRPr/>
            </a:pPr>
            <a:r>
              <a:rPr lang="zh-CN" altLang="en-US" sz="2200" dirty="0">
                <a:solidFill>
                  <a:schemeClr val="tx1">
                    <a:lumMod val="65000"/>
                    <a:lumOff val="35000"/>
                  </a:schemeClr>
                </a:solidFill>
              </a:rPr>
              <a:t>首先计算每个文件的检查和，然后计算目录中所有相关文件的检查和，将所有检查和写入一个检查和文件中；</a:t>
            </a:r>
          </a:p>
          <a:p>
            <a:pPr marL="342900" lvl="1" indent="-342900">
              <a:lnSpc>
                <a:spcPct val="150000"/>
              </a:lnSpc>
              <a:spcBef>
                <a:spcPts val="300"/>
              </a:spcBef>
              <a:buClr>
                <a:srgbClr val="E71101"/>
              </a:buClr>
              <a:buSzPct val="60000"/>
              <a:buFont typeface="Wingdings" panose="05000000000000000000" pitchFamily="2" charset="2"/>
              <a:buChar char="n"/>
              <a:defRPr/>
            </a:pPr>
            <a:r>
              <a:rPr lang="zh-CN" altLang="en-US" sz="2200" dirty="0">
                <a:solidFill>
                  <a:schemeClr val="tx1">
                    <a:lumMod val="65000"/>
                    <a:lumOff val="35000"/>
                  </a:schemeClr>
                </a:solidFill>
              </a:rPr>
              <a:t>在检测病毒时，完整性检测程序将重新计算所有文件的检查和，并将它们分别与原文件的检查和进行比较，若不匹配，则表明该文件已感染上病毒。</a:t>
            </a:r>
          </a:p>
          <a:p>
            <a:pPr marL="342900" lvl="1" indent="-342900">
              <a:lnSpc>
                <a:spcPct val="150000"/>
              </a:lnSpc>
              <a:spcBef>
                <a:spcPts val="300"/>
              </a:spcBef>
              <a:buClr>
                <a:srgbClr val="E71101"/>
              </a:buClr>
              <a:buSzPct val="60000"/>
              <a:buFont typeface="Wingdings" panose="05000000000000000000" pitchFamily="2" charset="2"/>
              <a:buChar char="n"/>
              <a:defRPr/>
            </a:pPr>
            <a:endParaRPr lang="zh-CN" altLang="en-US" sz="2200" dirty="0">
              <a:solidFill>
                <a:schemeClr val="tx1">
                  <a:lumMod val="65000"/>
                  <a:lumOff val="35000"/>
                </a:schemeClr>
              </a:solidFill>
            </a:endParaRPr>
          </a:p>
        </p:txBody>
      </p:sp>
      <p:sp>
        <p:nvSpPr>
          <p:cNvPr id="13" name="内容占位符 2"/>
          <p:cNvSpPr txBox="1"/>
          <p:nvPr/>
        </p:nvSpPr>
        <p:spPr>
          <a:xfrm>
            <a:off x="5461715" y="1665479"/>
            <a:ext cx="4468969" cy="69770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1" indent="-342900">
              <a:lnSpc>
                <a:spcPct val="150000"/>
              </a:lnSpc>
              <a:spcBef>
                <a:spcPts val="300"/>
              </a:spcBef>
              <a:buClr>
                <a:srgbClr val="E71101"/>
              </a:buClr>
              <a:buSzPct val="60000"/>
              <a:buFont typeface="Wingdings" panose="05000000000000000000" pitchFamily="2" charset="2"/>
              <a:buChar char="n"/>
              <a:defRPr/>
            </a:pPr>
            <a:r>
              <a:rPr lang="zh-CN" altLang="en-US" sz="2200" dirty="0">
                <a:solidFill>
                  <a:schemeClr val="tx1">
                    <a:lumMod val="65000"/>
                    <a:lumOff val="35000"/>
                  </a:schemeClr>
                </a:solidFill>
              </a:rPr>
              <a:t>扫描硬盘上的可执行文件。</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访问矩阵模型和信息流控制模型</a:t>
            </a:r>
          </a:p>
        </p:txBody>
      </p:sp>
      <p:sp>
        <p:nvSpPr>
          <p:cNvPr id="3" name="内容占位符 2"/>
          <p:cNvSpPr txBox="1"/>
          <p:nvPr/>
        </p:nvSpPr>
        <p:spPr>
          <a:xfrm>
            <a:off x="203970" y="1127480"/>
            <a:ext cx="11637985" cy="414688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442595">
              <a:lnSpc>
                <a:spcPct val="123000"/>
              </a:lnSpc>
              <a:buClr>
                <a:srgbClr val="FF0000"/>
              </a:buClr>
              <a:buFont typeface="Wingdings" panose="05000000000000000000" pitchFamily="2" charset="2"/>
              <a:buChar char="n"/>
            </a:pPr>
            <a:r>
              <a:rPr lang="zh-CN"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rPr>
              <a:t>要建立一个可信系统，应在OS核心中构建一个安全模型，模型要非常简单以确保自身的安全性</a:t>
            </a:r>
            <a:endPar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lvl="1" indent="-442595">
              <a:lnSpc>
                <a:spcPct val="123000"/>
              </a:lnSpc>
              <a:buClr>
                <a:srgbClr val="FF0000"/>
              </a:buClr>
              <a:buFont typeface="Wingdings" panose="05000000000000000000" pitchFamily="2" charset="2"/>
              <a:buChar char="n"/>
            </a:pPr>
            <a:r>
              <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安全策略：</a:t>
            </a:r>
            <a:endPar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817245" lvl="3">
              <a:lnSpc>
                <a:spcPct val="123000"/>
              </a:lnSpc>
              <a:buClr>
                <a:srgbClr val="0000FF"/>
              </a:buClr>
              <a:buFont typeface="Wingdings" panose="05000000000000000000" pitchFamily="2" charset="2"/>
              <a:buChar char="Ø"/>
            </a:pPr>
            <a:r>
              <a:rPr lang="zh-CN"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rPr>
              <a:t>根据系统对安全的需求所定义的一组规则以及相应的描述</a:t>
            </a:r>
            <a:endPar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lvl="1" indent="-442595">
              <a:lnSpc>
                <a:spcPct val="123000"/>
              </a:lnSpc>
              <a:buClr>
                <a:srgbClr val="FF0000"/>
              </a:buClr>
              <a:buFont typeface="Wingdings" panose="05000000000000000000" pitchFamily="2" charset="2"/>
              <a:buChar char="n"/>
            </a:pPr>
            <a:r>
              <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安全模型：</a:t>
            </a:r>
            <a:r>
              <a:rPr lang="zh-CN"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rPr>
              <a:t>用于精确描述系统的安全需求和策略</a:t>
            </a:r>
            <a:endPar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817245" lvl="3">
              <a:lnSpc>
                <a:spcPct val="123000"/>
              </a:lnSpc>
              <a:buClr>
                <a:srgbClr val="0000FF"/>
              </a:buClr>
              <a:buFont typeface="Wingdings" panose="05000000000000000000" pitchFamily="2" charset="2"/>
              <a:buChar char="Ø"/>
            </a:pPr>
            <a:r>
              <a:rPr lang="zh-CN"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rPr>
              <a:t>安全模型首先应当是精确的、同时它也应当是简单和容易理解的，而且不涉及安全功能的具体实现细节</a:t>
            </a:r>
            <a:endPar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817245" lvl="3">
              <a:lnSpc>
                <a:spcPct val="123000"/>
              </a:lnSpc>
              <a:buClr>
                <a:srgbClr val="0000FF"/>
              </a:buClr>
              <a:buFont typeface="Wingdings" panose="05000000000000000000" pitchFamily="2" charset="2"/>
              <a:buChar char="Ø"/>
            </a:pPr>
            <a:r>
              <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比较实用的模型：访问矩阵模型、信息流控制模型</a:t>
            </a:r>
            <a:endPar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lvl="1" indent="-442595">
              <a:lnSpc>
                <a:spcPct val="123000"/>
              </a:lnSpc>
              <a:buClr>
                <a:srgbClr val="FF0000"/>
              </a:buClr>
              <a:buFont typeface="Wingdings" panose="05000000000000000000" pitchFamily="2" charset="2"/>
              <a:buChar char="n"/>
            </a:pPr>
            <a:r>
              <a:rPr lang="zh-CN" altLang="en-US" sz="2000" dirty="0">
                <a:solidFill>
                  <a:srgbClr val="FF0000"/>
                </a:solidFill>
                <a:latin typeface="Times New Roman" panose="02020603050405020304" pitchFamily="18" charset="0"/>
                <a:ea typeface="微软雅黑" panose="020B0503020204020204" pitchFamily="34" charset="-122"/>
                <a:cs typeface="+mn-ea"/>
                <a:sym typeface="Times New Roman" panose="02020603050405020304" pitchFamily="18" charset="0"/>
              </a:rPr>
              <a:t>访问矩阵模型</a:t>
            </a:r>
            <a:r>
              <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，也称</a:t>
            </a:r>
            <a:r>
              <a:rPr lang="zh-CN" altLang="en-US" sz="2000" dirty="0">
                <a:solidFill>
                  <a:srgbClr val="FF0000"/>
                </a:solidFill>
                <a:latin typeface="Times New Roman" panose="02020603050405020304" pitchFamily="18" charset="0"/>
                <a:ea typeface="微软雅黑" panose="020B0503020204020204" pitchFamily="34" charset="-122"/>
                <a:cs typeface="+mn-ea"/>
                <a:sym typeface="Times New Roman" panose="02020603050405020304" pitchFamily="18" charset="0"/>
              </a:rPr>
              <a:t>保护矩阵</a:t>
            </a:r>
            <a:endPar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4" name="内容占位符 2"/>
          <p:cNvSpPr txBox="1"/>
          <p:nvPr/>
        </p:nvSpPr>
        <p:spPr>
          <a:xfrm>
            <a:off x="203970" y="4639178"/>
            <a:ext cx="5502228" cy="159406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17245" lvl="3">
              <a:lnSpc>
                <a:spcPct val="123000"/>
              </a:lnSpc>
              <a:buClr>
                <a:srgbClr val="0000FF"/>
              </a:buClr>
              <a:buFont typeface="Wingdings" panose="05000000000000000000" pitchFamily="2" charset="2"/>
              <a:buChar char="Ø"/>
            </a:pPr>
            <a:r>
              <a:rPr lang="zh-CN"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rPr>
              <a:t>系统中的每个主体（用户）都拥有矩阵中的一行</a:t>
            </a:r>
            <a:endPar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817245" lvl="3">
              <a:lnSpc>
                <a:spcPct val="123000"/>
              </a:lnSpc>
              <a:buClr>
                <a:srgbClr val="0000FF"/>
              </a:buClr>
              <a:buFont typeface="Wingdings" panose="05000000000000000000" pitchFamily="2" charset="2"/>
              <a:buChar char="Ø"/>
            </a:pPr>
            <a:r>
              <a:rPr lang="zh-CN"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rPr>
              <a:t>每个客体都拥有矩阵中的一列。客体可以是程序、文件或设备</a:t>
            </a:r>
            <a:endPar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5" name="内容占位符 2"/>
          <p:cNvSpPr txBox="1"/>
          <p:nvPr/>
        </p:nvSpPr>
        <p:spPr>
          <a:xfrm>
            <a:off x="5535527" y="4625236"/>
            <a:ext cx="6249538" cy="234944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17245" lvl="3">
              <a:lnSpc>
                <a:spcPct val="123000"/>
              </a:lnSpc>
              <a:buClr>
                <a:srgbClr val="0000FF"/>
              </a:buClr>
              <a:buFont typeface="Wingdings" panose="05000000000000000000" pitchFamily="2" charset="2"/>
              <a:buChar char="Ø"/>
            </a:pPr>
            <a:r>
              <a:rPr lang="zh-CN"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rPr>
              <a:t>矩阵中的交叉项表示某主体对某客体的存取权限集</a:t>
            </a:r>
            <a:endPar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817245" lvl="3">
              <a:lnSpc>
                <a:spcPct val="123000"/>
              </a:lnSpc>
              <a:buClr>
                <a:srgbClr val="0000FF"/>
              </a:buClr>
              <a:buFont typeface="Wingdings" panose="05000000000000000000" pitchFamily="2" charset="2"/>
              <a:buChar char="Ø"/>
            </a:pPr>
            <a:r>
              <a:rPr lang="zh-CN"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rPr>
              <a:t>访问矩阵模型决定在任何域中的进程可以执行的操作</a:t>
            </a:r>
            <a:endPar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817245" lvl="3">
              <a:lnSpc>
                <a:spcPct val="123000"/>
              </a:lnSpc>
              <a:buClr>
                <a:srgbClr val="0000FF"/>
              </a:buClr>
              <a:buFont typeface="Wingdings" panose="05000000000000000000" pitchFamily="2" charset="2"/>
              <a:buChar char="Ø"/>
            </a:pPr>
            <a:endPar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信息流控制模型</a:t>
            </a:r>
          </a:p>
        </p:txBody>
      </p:sp>
      <p:sp>
        <p:nvSpPr>
          <p:cNvPr id="4" name="iṥlídè"/>
          <p:cNvSpPr/>
          <p:nvPr/>
        </p:nvSpPr>
        <p:spPr>
          <a:xfrm>
            <a:off x="9575122" y="1298467"/>
            <a:ext cx="5233755" cy="5008286"/>
          </a:xfrm>
          <a:prstGeom prst="rect">
            <a:avLst/>
          </a:prstGeom>
          <a:blipFill>
            <a:blip r:embed="rId2"/>
            <a:stretch>
              <a:fillRect t="-27413" b="-27272"/>
            </a:stretch>
          </a:blipFill>
          <a:ln w="28575">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dirty="0"/>
          </a:p>
        </p:txBody>
      </p:sp>
      <p:grpSp>
        <p:nvGrpSpPr>
          <p:cNvPr id="5" name="iṡļiḓe"/>
          <p:cNvGrpSpPr/>
          <p:nvPr/>
        </p:nvGrpSpPr>
        <p:grpSpPr>
          <a:xfrm>
            <a:off x="660400" y="1298467"/>
            <a:ext cx="8682381" cy="1232698"/>
            <a:chOff x="660400" y="1787149"/>
            <a:chExt cx="8682381" cy="1232698"/>
          </a:xfrm>
        </p:grpSpPr>
        <p:sp>
          <p:nvSpPr>
            <p:cNvPr id="10" name="îṧľîḋé"/>
            <p:cNvSpPr txBox="1"/>
            <p:nvPr/>
          </p:nvSpPr>
          <p:spPr>
            <a:xfrm>
              <a:off x="1296566" y="1835355"/>
              <a:ext cx="8046215" cy="1184492"/>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3000"/>
                </a:lnSpc>
              </a:pPr>
              <a:r>
                <a:rPr lang="zh-CN" altLang="en-US" sz="2400" dirty="0">
                  <a:solidFill>
                    <a:srgbClr val="FF0000"/>
                  </a:solidFill>
                </a:rPr>
                <a:t>信息流控制模型</a:t>
              </a:r>
              <a:r>
                <a:rPr lang="zh-CN" altLang="en-US" sz="2400" dirty="0"/>
                <a:t>是对访问矩阵模型的补充，用于监管信息在系统中流通的有效路径，控制信息流从一个实体沿着安全路径流向另一实体。</a:t>
              </a:r>
            </a:p>
          </p:txBody>
        </p:sp>
        <p:grpSp>
          <p:nvGrpSpPr>
            <p:cNvPr id="7" name="ïS1íḋé"/>
            <p:cNvGrpSpPr/>
            <p:nvPr/>
          </p:nvGrpSpPr>
          <p:grpSpPr>
            <a:xfrm>
              <a:off x="660400" y="1787149"/>
              <a:ext cx="497734" cy="497734"/>
              <a:chOff x="660400" y="1787149"/>
              <a:chExt cx="497734" cy="497734"/>
            </a:xfrm>
          </p:grpSpPr>
          <p:sp>
            <p:nvSpPr>
              <p:cNvPr id="8" name="islîḋe"/>
              <p:cNvSpPr/>
              <p:nvPr/>
            </p:nvSpPr>
            <p:spPr>
              <a:xfrm>
                <a:off x="660400" y="1787149"/>
                <a:ext cx="497734" cy="49773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9" name="îŝlîďe"/>
              <p:cNvSpPr/>
              <p:nvPr/>
            </p:nvSpPr>
            <p:spPr>
              <a:xfrm>
                <a:off x="779848" y="1918584"/>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nvGrpSpPr>
          <p:cNvPr id="12" name="iŝļïḓê"/>
          <p:cNvGrpSpPr/>
          <p:nvPr/>
        </p:nvGrpSpPr>
        <p:grpSpPr>
          <a:xfrm>
            <a:off x="669925" y="2915394"/>
            <a:ext cx="8672857" cy="3034833"/>
            <a:chOff x="660400" y="2092935"/>
            <a:chExt cx="8672857" cy="3034833"/>
          </a:xfrm>
        </p:grpSpPr>
        <p:grpSp>
          <p:nvGrpSpPr>
            <p:cNvPr id="13" name="ïṧļïḓe"/>
            <p:cNvGrpSpPr/>
            <p:nvPr/>
          </p:nvGrpSpPr>
          <p:grpSpPr>
            <a:xfrm>
              <a:off x="1296566" y="2092935"/>
              <a:ext cx="8036691" cy="3034833"/>
              <a:chOff x="1296566" y="2092935"/>
              <a:chExt cx="10136277" cy="3034833"/>
            </a:xfrm>
          </p:grpSpPr>
          <p:sp>
            <p:nvSpPr>
              <p:cNvPr id="17" name="ïšļíďè"/>
              <p:cNvSpPr txBox="1"/>
              <p:nvPr/>
            </p:nvSpPr>
            <p:spPr>
              <a:xfrm>
                <a:off x="1296567" y="2092935"/>
                <a:ext cx="9011717"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en-US" altLang="zh-CN" sz="2400" dirty="0"/>
                  <a:t>Bell-La </a:t>
                </a:r>
                <a:r>
                  <a:rPr lang="en-US" altLang="zh-CN" sz="2400" dirty="0" err="1"/>
                  <a:t>Padula</a:t>
                </a:r>
                <a:r>
                  <a:rPr lang="zh-CN" altLang="en-US" sz="2400" dirty="0"/>
                  <a:t>模型：最广泛使用的信息流控制模型</a:t>
                </a:r>
              </a:p>
            </p:txBody>
          </p:sp>
          <p:sp>
            <p:nvSpPr>
              <p:cNvPr id="18" name="íşľíḑè"/>
              <p:cNvSpPr/>
              <p:nvPr/>
            </p:nvSpPr>
            <p:spPr bwMode="auto">
              <a:xfrm>
                <a:off x="1296566" y="2487963"/>
                <a:ext cx="10136277" cy="2639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buClr>
                    <a:srgbClr val="FF0000"/>
                  </a:buClr>
                  <a:buFont typeface="Wingdings" panose="05000000000000000000" pitchFamily="2" charset="2"/>
                  <a:buChar char="n"/>
                </a:pPr>
                <a:r>
                  <a:rPr lang="zh-CN" altLang="en-US" sz="2400" dirty="0"/>
                  <a:t>信息分为</a:t>
                </a:r>
                <a:r>
                  <a:rPr lang="en-US" altLang="zh-CN" sz="2400" dirty="0"/>
                  <a:t>4</a:t>
                </a:r>
                <a:r>
                  <a:rPr lang="zh-CN" altLang="en-US" sz="2400" dirty="0"/>
                  <a:t>等：</a:t>
                </a:r>
                <a:r>
                  <a:rPr lang="zh-CN" altLang="en-US" sz="2400" dirty="0">
                    <a:solidFill>
                      <a:srgbClr val="0000FF"/>
                    </a:solidFill>
                  </a:rPr>
                  <a:t>无密级、秘密级、机密级和绝密级</a:t>
                </a:r>
              </a:p>
              <a:p>
                <a:pPr marL="342900" lvl="1" indent="-342900">
                  <a:lnSpc>
                    <a:spcPct val="132000"/>
                  </a:lnSpc>
                  <a:buClr>
                    <a:srgbClr val="FF0000"/>
                  </a:buClr>
                  <a:buFont typeface="Wingdings" panose="05000000000000000000" pitchFamily="2" charset="2"/>
                  <a:buChar char="n"/>
                </a:pPr>
                <a:r>
                  <a:rPr lang="zh-CN" altLang="en-US" sz="2400" dirty="0"/>
                  <a:t>只要系统严格执行两项规定，就能确保信息的安全流动</a:t>
                </a:r>
              </a:p>
              <a:p>
                <a:pPr marL="800100" lvl="2" indent="-342900">
                  <a:lnSpc>
                    <a:spcPct val="132000"/>
                  </a:lnSpc>
                  <a:buClr>
                    <a:srgbClr val="FF0000"/>
                  </a:buClr>
                  <a:buFont typeface="Wingdings" panose="05000000000000000000" pitchFamily="2" charset="2"/>
                  <a:buChar char="Ø"/>
                </a:pPr>
                <a:r>
                  <a:rPr lang="zh-CN" altLang="en-US" sz="2400" dirty="0"/>
                  <a:t>不能上读：在密级</a:t>
                </a:r>
                <a:r>
                  <a:rPr lang="en-US" altLang="zh-CN" sz="2400" dirty="0"/>
                  <a:t>k</a:t>
                </a:r>
                <a:r>
                  <a:rPr lang="zh-CN" altLang="en-US" sz="2400" dirty="0"/>
                  <a:t>层中运行的进程，只能读相同或更低密级层中的对象</a:t>
                </a:r>
              </a:p>
              <a:p>
                <a:pPr marL="800100" lvl="2" indent="-342900">
                  <a:lnSpc>
                    <a:spcPct val="132000"/>
                  </a:lnSpc>
                  <a:buClr>
                    <a:srgbClr val="FF0000"/>
                  </a:buClr>
                  <a:buFont typeface="Wingdings" panose="05000000000000000000" pitchFamily="2" charset="2"/>
                  <a:buChar char="Ø"/>
                </a:pPr>
                <a:r>
                  <a:rPr lang="zh-CN" altLang="en-US" sz="2400" dirty="0"/>
                  <a:t>不能下写：在密级</a:t>
                </a:r>
                <a:r>
                  <a:rPr lang="en-US" altLang="zh-CN" sz="2400" dirty="0"/>
                  <a:t>k</a:t>
                </a:r>
                <a:r>
                  <a:rPr lang="zh-CN" altLang="en-US" sz="2400" dirty="0"/>
                  <a:t>层中运行的进程，只能写相同或更高密级层中的对象</a:t>
                </a:r>
              </a:p>
            </p:txBody>
          </p:sp>
        </p:grpSp>
        <p:grpSp>
          <p:nvGrpSpPr>
            <p:cNvPr id="14" name="ïŝľídè"/>
            <p:cNvGrpSpPr/>
            <p:nvPr/>
          </p:nvGrpSpPr>
          <p:grpSpPr>
            <a:xfrm>
              <a:off x="660400" y="2096245"/>
              <a:ext cx="497734" cy="497734"/>
              <a:chOff x="660400" y="2096245"/>
              <a:chExt cx="497734" cy="497734"/>
            </a:xfrm>
          </p:grpSpPr>
          <p:sp>
            <p:nvSpPr>
              <p:cNvPr id="15" name="ïṡľïde"/>
              <p:cNvSpPr/>
              <p:nvPr/>
            </p:nvSpPr>
            <p:spPr>
              <a:xfrm>
                <a:off x="660400" y="2096245"/>
                <a:ext cx="497734" cy="497734"/>
              </a:xfrm>
              <a:prstGeom prst="ellipse">
                <a:avLst/>
              </a:prstGeom>
              <a:solidFill>
                <a:schemeClr val="tx1">
                  <a:lumMod val="50000"/>
                  <a:lumOff val="50000"/>
                </a:schemeClr>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16" name="ïšliḍe"/>
              <p:cNvSpPr/>
              <p:nvPr/>
            </p:nvSpPr>
            <p:spPr>
              <a:xfrm>
                <a:off x="779848" y="2227680"/>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可信计算基</a:t>
            </a:r>
          </a:p>
        </p:txBody>
      </p:sp>
      <p:pic>
        <p:nvPicPr>
          <p:cNvPr id="3" name="图片 2"/>
          <p:cNvPicPr>
            <a:picLocks noChangeAspect="1"/>
          </p:cNvPicPr>
          <p:nvPr/>
        </p:nvPicPr>
        <p:blipFill>
          <a:blip r:embed="rId2"/>
          <a:stretch>
            <a:fillRect/>
          </a:stretch>
        </p:blipFill>
        <p:spPr>
          <a:xfrm>
            <a:off x="5773503" y="2735842"/>
            <a:ext cx="5795645" cy="3324225"/>
          </a:xfrm>
          <a:prstGeom prst="rect">
            <a:avLst/>
          </a:prstGeom>
        </p:spPr>
      </p:pic>
      <p:sp>
        <p:nvSpPr>
          <p:cNvPr id="4" name="内容占位符 2"/>
          <p:cNvSpPr txBox="1"/>
          <p:nvPr/>
        </p:nvSpPr>
        <p:spPr>
          <a:xfrm>
            <a:off x="1682944" y="1195146"/>
            <a:ext cx="9886204" cy="18056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buNone/>
            </a:pPr>
            <a:r>
              <a:rPr lang="zh-CN"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可信系统的核心是</a:t>
            </a:r>
            <a:r>
              <a:rPr lang="zh-CN" altLang="zh-CN" sz="2400" dirty="0">
                <a:solidFill>
                  <a:srgbClr val="FF0000"/>
                </a:solidFill>
                <a:latin typeface="Times New Roman" panose="02020603050405020304" pitchFamily="18" charset="0"/>
                <a:ea typeface="微软雅黑" panose="020B0503020204020204" pitchFamily="34" charset="-122"/>
                <a:cs typeface="+mn-ea"/>
                <a:sym typeface="Times New Roman" panose="02020603050405020304" pitchFamily="18" charset="0"/>
              </a:rPr>
              <a:t>可信计算基</a:t>
            </a:r>
            <a:r>
              <a:rPr lang="en-US" altLang="zh-CN" sz="2400" dirty="0">
                <a:solidFill>
                  <a:srgbClr val="FF0000"/>
                </a:solidFill>
                <a:latin typeface="Times New Roman" panose="02020603050405020304" pitchFamily="18" charset="0"/>
                <a:ea typeface="微软雅黑" panose="020B0503020204020204" pitchFamily="34" charset="-122"/>
                <a:cs typeface="+mn-ea"/>
                <a:sym typeface="Times New Roman" panose="02020603050405020304" pitchFamily="18" charset="0"/>
              </a:rPr>
              <a:t>TCB</a:t>
            </a:r>
            <a:r>
              <a:rPr lang="zh-CN"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，它包含了用于检查所有与安全问题有关的访问监视器和存放着许多与安全有关的信息的安全核心数据库等。</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0" indent="0">
              <a:lnSpc>
                <a:spcPct val="132000"/>
              </a:lnSpc>
              <a:buNone/>
            </a:pPr>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TCB</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的</a:t>
            </a:r>
            <a:r>
              <a:rPr lang="zh-CN" altLang="en-US" sz="2400"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rPr>
              <a:t>功能：</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5" name="内容占位符 2"/>
          <p:cNvSpPr txBox="1"/>
          <p:nvPr/>
        </p:nvSpPr>
        <p:spPr>
          <a:xfrm>
            <a:off x="566892" y="3000777"/>
            <a:ext cx="5048298" cy="320683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442595">
              <a:lnSpc>
                <a:spcPct val="123000"/>
              </a:lnSpc>
              <a:buClr>
                <a:srgbClr val="FF0000"/>
              </a:buClr>
              <a:buFont typeface="Wingdings" panose="05000000000000000000" pitchFamily="2" charset="2"/>
              <a:buChar char="n"/>
            </a:pPr>
            <a:r>
              <a:rPr lang="zh-CN"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rPr>
              <a:t>典型的TCB在硬件方面与一般计算机系统相似，只是少了一些不影响安全性的I/O设备；</a:t>
            </a:r>
            <a:endPar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lvl="1" indent="-442595">
              <a:lnSpc>
                <a:spcPct val="123000"/>
              </a:lnSpc>
              <a:buClr>
                <a:srgbClr val="FF0000"/>
              </a:buClr>
              <a:buFont typeface="Wingdings" panose="05000000000000000000" pitchFamily="2" charset="2"/>
              <a:buChar char="n"/>
            </a:pPr>
            <a:r>
              <a:rPr lang="zh-CN"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rPr>
              <a:t>TCB中应配置OS最核心的功能，如进程创建、进程切换、内存映射、部分文件管理以及设备管理等功能；</a:t>
            </a:r>
            <a:endPar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lvl="1" indent="-442595">
              <a:lnSpc>
                <a:spcPct val="123000"/>
              </a:lnSpc>
              <a:buClr>
                <a:srgbClr val="FF0000"/>
              </a:buClr>
              <a:buFont typeface="Wingdings" panose="05000000000000000000" pitchFamily="2" charset="2"/>
              <a:buChar char="n"/>
            </a:pPr>
            <a:r>
              <a:rPr lang="zh-CN" altLang="zh-CN" sz="2000"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rPr>
              <a:t>访问监视器</a:t>
            </a:r>
            <a:r>
              <a:rPr lang="zh-CN" altLang="en-US" sz="2000"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zh-CN"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rPr>
              <a:t>它要求所有与安全有关的问题都必须集中在一处进行检查。</a:t>
            </a:r>
            <a:endPar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grpSp>
        <p:nvGrpSpPr>
          <p:cNvPr id="6" name="组合 5"/>
          <p:cNvGrpSpPr/>
          <p:nvPr/>
        </p:nvGrpSpPr>
        <p:grpSpPr>
          <a:xfrm>
            <a:off x="730268" y="1350036"/>
            <a:ext cx="712277" cy="418475"/>
            <a:chOff x="673100" y="2982961"/>
            <a:chExt cx="1597850" cy="938764"/>
          </a:xfrm>
        </p:grpSpPr>
        <p:sp>
          <p:nvSpPr>
            <p:cNvPr id="7" name="ïsḷîde"/>
            <p:cNvSpPr/>
            <p:nvPr/>
          </p:nvSpPr>
          <p:spPr bwMode="auto">
            <a:xfrm>
              <a:off x="673100" y="2982961"/>
              <a:ext cx="1597850" cy="938764"/>
            </a:xfrm>
            <a:prstGeom prst="hexagon">
              <a:avLst/>
            </a:prstGeom>
            <a:solidFill>
              <a:schemeClr val="accent1"/>
            </a:solidFill>
            <a:ln w="19050">
              <a:noFill/>
              <a:round/>
            </a:ln>
          </p:spPr>
          <p:txBody>
            <a:bodyPr wrap="square" lIns="91440" tIns="45720" rIns="91440" bIns="45720" anchor="ctr">
              <a:normAutofit fontScale="47500" lnSpcReduction="20000"/>
            </a:bodyPr>
            <a:lstStyle/>
            <a:p>
              <a:pPr algn="ctr"/>
              <a:endParaRPr lang="en-US" altLang="zh-CN" sz="3200" dirty="0">
                <a:solidFill>
                  <a:schemeClr val="bg1">
                    <a:lumMod val="100000"/>
                  </a:schemeClr>
                </a:solidFill>
                <a:latin typeface="Impact" panose="020B0806030902050204" pitchFamily="34" charset="0"/>
              </a:endParaRPr>
            </a:p>
          </p:txBody>
        </p:sp>
        <p:sp>
          <p:nvSpPr>
            <p:cNvPr id="8" name="iṥḻíḓê"/>
            <p:cNvSpPr/>
            <p:nvPr/>
          </p:nvSpPr>
          <p:spPr bwMode="auto">
            <a:xfrm>
              <a:off x="1212384" y="3153135"/>
              <a:ext cx="567411" cy="566350"/>
            </a:xfrm>
            <a:custGeom>
              <a:avLst/>
              <a:gdLst>
                <a:gd name="connsiteX0" fmla="*/ 290910 w 605702"/>
                <a:gd name="connsiteY0" fmla="*/ 156336 h 604568"/>
                <a:gd name="connsiteX1" fmla="*/ 335849 w 605702"/>
                <a:gd name="connsiteY1" fmla="*/ 164992 h 604568"/>
                <a:gd name="connsiteX2" fmla="*/ 288310 w 605702"/>
                <a:gd name="connsiteY2" fmla="*/ 212456 h 604568"/>
                <a:gd name="connsiteX3" fmla="*/ 203632 w 605702"/>
                <a:gd name="connsiteY3" fmla="*/ 244717 h 604568"/>
                <a:gd name="connsiteX4" fmla="*/ 203632 w 605702"/>
                <a:gd name="connsiteY4" fmla="*/ 401388 h 604568"/>
                <a:gd name="connsiteX5" fmla="*/ 360547 w 605702"/>
                <a:gd name="connsiteY5" fmla="*/ 401388 h 604568"/>
                <a:gd name="connsiteX6" fmla="*/ 392859 w 605702"/>
                <a:gd name="connsiteY6" fmla="*/ 316749 h 604568"/>
                <a:gd name="connsiteX7" fmla="*/ 440397 w 605702"/>
                <a:gd name="connsiteY7" fmla="*/ 269284 h 604568"/>
                <a:gd name="connsiteX8" fmla="*/ 400287 w 605702"/>
                <a:gd name="connsiteY8" fmla="*/ 441065 h 604568"/>
                <a:gd name="connsiteX9" fmla="*/ 163892 w 605702"/>
                <a:gd name="connsiteY9" fmla="*/ 441065 h 604568"/>
                <a:gd name="connsiteX10" fmla="*/ 163892 w 605702"/>
                <a:gd name="connsiteY10" fmla="*/ 205040 h 604568"/>
                <a:gd name="connsiteX11" fmla="*/ 290910 w 605702"/>
                <a:gd name="connsiteY11" fmla="*/ 156336 h 604568"/>
                <a:gd name="connsiteX12" fmla="*/ 246542 w 605702"/>
                <a:gd name="connsiteY12" fmla="*/ 43775 h 604568"/>
                <a:gd name="connsiteX13" fmla="*/ 422196 w 605702"/>
                <a:gd name="connsiteY13" fmla="*/ 78723 h 604568"/>
                <a:gd name="connsiteX14" fmla="*/ 376794 w 605702"/>
                <a:gd name="connsiteY14" fmla="*/ 124054 h 604568"/>
                <a:gd name="connsiteX15" fmla="*/ 126109 w 605702"/>
                <a:gd name="connsiteY15" fmla="*/ 167345 h 604568"/>
                <a:gd name="connsiteX16" fmla="*/ 126109 w 605702"/>
                <a:gd name="connsiteY16" fmla="*/ 478820 h 604568"/>
                <a:gd name="connsiteX17" fmla="*/ 438073 w 605702"/>
                <a:gd name="connsiteY17" fmla="*/ 478820 h 604568"/>
                <a:gd name="connsiteX18" fmla="*/ 481432 w 605702"/>
                <a:gd name="connsiteY18" fmla="*/ 228527 h 604568"/>
                <a:gd name="connsiteX19" fmla="*/ 526741 w 605702"/>
                <a:gd name="connsiteY19" fmla="*/ 183011 h 604568"/>
                <a:gd name="connsiteX20" fmla="*/ 481432 w 605702"/>
                <a:gd name="connsiteY20" fmla="*/ 522111 h 604568"/>
                <a:gd name="connsiteX21" fmla="*/ 82657 w 605702"/>
                <a:gd name="connsiteY21" fmla="*/ 522111 h 604568"/>
                <a:gd name="connsiteX22" fmla="*/ 82657 w 605702"/>
                <a:gd name="connsiteY22" fmla="*/ 123961 h 604568"/>
                <a:gd name="connsiteX23" fmla="*/ 246542 w 605702"/>
                <a:gd name="connsiteY23" fmla="*/ 43775 h 604568"/>
                <a:gd name="connsiteX24" fmla="*/ 536061 w 605702"/>
                <a:gd name="connsiteY24" fmla="*/ 0 h 604568"/>
                <a:gd name="connsiteX25" fmla="*/ 544232 w 605702"/>
                <a:gd name="connsiteY25" fmla="*/ 61368 h 604568"/>
                <a:gd name="connsiteX26" fmla="*/ 605702 w 605702"/>
                <a:gd name="connsiteY26" fmla="*/ 69526 h 604568"/>
                <a:gd name="connsiteX27" fmla="*/ 524361 w 605702"/>
                <a:gd name="connsiteY27" fmla="*/ 150732 h 604568"/>
                <a:gd name="connsiteX28" fmla="*/ 498361 w 605702"/>
                <a:gd name="connsiteY28" fmla="*/ 147302 h 604568"/>
                <a:gd name="connsiteX29" fmla="*/ 337721 w 605702"/>
                <a:gd name="connsiteY29" fmla="*/ 307767 h 604568"/>
                <a:gd name="connsiteX30" fmla="*/ 339764 w 605702"/>
                <a:gd name="connsiteY30" fmla="*/ 323063 h 604568"/>
                <a:gd name="connsiteX31" fmla="*/ 282101 w 605702"/>
                <a:gd name="connsiteY31" fmla="*/ 380630 h 604568"/>
                <a:gd name="connsiteX32" fmla="*/ 224437 w 605702"/>
                <a:gd name="connsiteY32" fmla="*/ 323063 h 604568"/>
                <a:gd name="connsiteX33" fmla="*/ 282101 w 605702"/>
                <a:gd name="connsiteY33" fmla="*/ 265495 h 604568"/>
                <a:gd name="connsiteX34" fmla="*/ 297422 w 605702"/>
                <a:gd name="connsiteY34" fmla="*/ 267535 h 604568"/>
                <a:gd name="connsiteX35" fmla="*/ 458155 w 605702"/>
                <a:gd name="connsiteY35" fmla="*/ 107162 h 604568"/>
                <a:gd name="connsiteX36" fmla="*/ 454719 w 605702"/>
                <a:gd name="connsiteY36" fmla="*/ 81206 h 604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05702" h="604568">
                  <a:moveTo>
                    <a:pt x="290910" y="156336"/>
                  </a:moveTo>
                  <a:cubicBezTo>
                    <a:pt x="306137" y="157147"/>
                    <a:pt x="321272" y="160032"/>
                    <a:pt x="335849" y="164992"/>
                  </a:cubicBezTo>
                  <a:lnTo>
                    <a:pt x="288310" y="212456"/>
                  </a:lnTo>
                  <a:cubicBezTo>
                    <a:pt x="257856" y="210695"/>
                    <a:pt x="226844" y="221449"/>
                    <a:pt x="203632" y="244717"/>
                  </a:cubicBezTo>
                  <a:cubicBezTo>
                    <a:pt x="160271" y="287918"/>
                    <a:pt x="160271" y="358187"/>
                    <a:pt x="203632" y="401388"/>
                  </a:cubicBezTo>
                  <a:cubicBezTo>
                    <a:pt x="246900" y="444680"/>
                    <a:pt x="317279" y="444680"/>
                    <a:pt x="360547" y="401388"/>
                  </a:cubicBezTo>
                  <a:cubicBezTo>
                    <a:pt x="383852" y="378211"/>
                    <a:pt x="394623" y="347156"/>
                    <a:pt x="392859" y="316749"/>
                  </a:cubicBezTo>
                  <a:lnTo>
                    <a:pt x="440397" y="269284"/>
                  </a:lnTo>
                  <a:cubicBezTo>
                    <a:pt x="460267" y="327595"/>
                    <a:pt x="446897" y="394620"/>
                    <a:pt x="400287" y="441065"/>
                  </a:cubicBezTo>
                  <a:cubicBezTo>
                    <a:pt x="335106" y="506236"/>
                    <a:pt x="229073" y="506236"/>
                    <a:pt x="163892" y="441065"/>
                  </a:cubicBezTo>
                  <a:cubicBezTo>
                    <a:pt x="98619" y="375987"/>
                    <a:pt x="98619" y="270118"/>
                    <a:pt x="163892" y="205040"/>
                  </a:cubicBezTo>
                  <a:cubicBezTo>
                    <a:pt x="198711" y="170137"/>
                    <a:pt x="245228" y="153902"/>
                    <a:pt x="290910" y="156336"/>
                  </a:cubicBezTo>
                  <a:close/>
                  <a:moveTo>
                    <a:pt x="246542" y="43775"/>
                  </a:moveTo>
                  <a:cubicBezTo>
                    <a:pt x="306463" y="36243"/>
                    <a:pt x="368345" y="47900"/>
                    <a:pt x="422196" y="78723"/>
                  </a:cubicBezTo>
                  <a:lnTo>
                    <a:pt x="376794" y="124054"/>
                  </a:lnTo>
                  <a:cubicBezTo>
                    <a:pt x="294811" y="85305"/>
                    <a:pt x="193980" y="99581"/>
                    <a:pt x="126109" y="167345"/>
                  </a:cubicBezTo>
                  <a:cubicBezTo>
                    <a:pt x="39948" y="253371"/>
                    <a:pt x="39948" y="392793"/>
                    <a:pt x="126109" y="478820"/>
                  </a:cubicBezTo>
                  <a:cubicBezTo>
                    <a:pt x="212271" y="564846"/>
                    <a:pt x="351912" y="564846"/>
                    <a:pt x="438073" y="478820"/>
                  </a:cubicBezTo>
                  <a:cubicBezTo>
                    <a:pt x="505944" y="411055"/>
                    <a:pt x="520428" y="310382"/>
                    <a:pt x="481432" y="228527"/>
                  </a:cubicBezTo>
                  <a:lnTo>
                    <a:pt x="526741" y="183011"/>
                  </a:lnTo>
                  <a:cubicBezTo>
                    <a:pt x="588484" y="290544"/>
                    <a:pt x="573350" y="430244"/>
                    <a:pt x="481432" y="522111"/>
                  </a:cubicBezTo>
                  <a:cubicBezTo>
                    <a:pt x="371316" y="632054"/>
                    <a:pt x="192866" y="632054"/>
                    <a:pt x="82657" y="522111"/>
                  </a:cubicBezTo>
                  <a:cubicBezTo>
                    <a:pt x="-27552" y="412168"/>
                    <a:pt x="-27552" y="233997"/>
                    <a:pt x="82657" y="123961"/>
                  </a:cubicBezTo>
                  <a:cubicBezTo>
                    <a:pt x="128662" y="78028"/>
                    <a:pt x="186622" y="51307"/>
                    <a:pt x="246542" y="43775"/>
                  </a:cubicBezTo>
                  <a:close/>
                  <a:moveTo>
                    <a:pt x="536061" y="0"/>
                  </a:moveTo>
                  <a:lnTo>
                    <a:pt x="544232" y="61368"/>
                  </a:lnTo>
                  <a:lnTo>
                    <a:pt x="605702" y="69526"/>
                  </a:lnTo>
                  <a:lnTo>
                    <a:pt x="524361" y="150732"/>
                  </a:lnTo>
                  <a:lnTo>
                    <a:pt x="498361" y="147302"/>
                  </a:lnTo>
                  <a:lnTo>
                    <a:pt x="337721" y="307767"/>
                  </a:lnTo>
                  <a:cubicBezTo>
                    <a:pt x="339021" y="312588"/>
                    <a:pt x="339764" y="317779"/>
                    <a:pt x="339764" y="323063"/>
                  </a:cubicBezTo>
                  <a:cubicBezTo>
                    <a:pt x="339764" y="354859"/>
                    <a:pt x="313950" y="380630"/>
                    <a:pt x="282101" y="380630"/>
                  </a:cubicBezTo>
                  <a:cubicBezTo>
                    <a:pt x="250251" y="380630"/>
                    <a:pt x="224437" y="354859"/>
                    <a:pt x="224437" y="323063"/>
                  </a:cubicBezTo>
                  <a:cubicBezTo>
                    <a:pt x="224437" y="291266"/>
                    <a:pt x="250251" y="265495"/>
                    <a:pt x="282101" y="265495"/>
                  </a:cubicBezTo>
                  <a:cubicBezTo>
                    <a:pt x="287393" y="265495"/>
                    <a:pt x="292500" y="266237"/>
                    <a:pt x="297422" y="267535"/>
                  </a:cubicBezTo>
                  <a:lnTo>
                    <a:pt x="458155" y="107162"/>
                  </a:lnTo>
                  <a:lnTo>
                    <a:pt x="454719" y="81206"/>
                  </a:lnTo>
                  <a:close/>
                </a:path>
              </a:pathLst>
            </a:custGeom>
            <a:solidFill>
              <a:schemeClr val="bg1"/>
            </a:solidFill>
            <a:ln>
              <a:noFill/>
            </a:ln>
          </p:spPr>
          <p:txBody>
            <a:bodyPr wrap="square" lIns="91440" tIns="45720" rIns="91440" bIns="45720">
              <a:normAutofit fontScale="70000" lnSpcReduction="20000"/>
            </a:bodyPr>
            <a:lstStyle/>
            <a:p>
              <a:endParaRPr lang="zh-CN" altLang="en-US"/>
            </a:p>
          </p:txBody>
        </p:sp>
      </p:grpSp>
      <p:grpSp>
        <p:nvGrpSpPr>
          <p:cNvPr id="9" name="组合 8"/>
          <p:cNvGrpSpPr/>
          <p:nvPr/>
        </p:nvGrpSpPr>
        <p:grpSpPr>
          <a:xfrm>
            <a:off x="730268" y="2407520"/>
            <a:ext cx="712277" cy="418475"/>
            <a:chOff x="673100" y="2982961"/>
            <a:chExt cx="1597850" cy="938764"/>
          </a:xfrm>
        </p:grpSpPr>
        <p:sp>
          <p:nvSpPr>
            <p:cNvPr id="10" name="ïsḷîde"/>
            <p:cNvSpPr/>
            <p:nvPr/>
          </p:nvSpPr>
          <p:spPr bwMode="auto">
            <a:xfrm>
              <a:off x="673100" y="2982961"/>
              <a:ext cx="1597850" cy="938764"/>
            </a:xfrm>
            <a:prstGeom prst="hexagon">
              <a:avLst/>
            </a:prstGeom>
            <a:solidFill>
              <a:schemeClr val="accent1"/>
            </a:solidFill>
            <a:ln w="19050">
              <a:noFill/>
              <a:round/>
            </a:ln>
          </p:spPr>
          <p:txBody>
            <a:bodyPr wrap="square" lIns="91440" tIns="45720" rIns="91440" bIns="45720" anchor="ctr">
              <a:normAutofit fontScale="47500" lnSpcReduction="20000"/>
            </a:bodyPr>
            <a:lstStyle/>
            <a:p>
              <a:pPr algn="ctr"/>
              <a:endParaRPr lang="en-US" altLang="zh-CN" sz="3200" dirty="0">
                <a:solidFill>
                  <a:schemeClr val="bg1">
                    <a:lumMod val="100000"/>
                  </a:schemeClr>
                </a:solidFill>
                <a:latin typeface="Impact" panose="020B0806030902050204" pitchFamily="34" charset="0"/>
              </a:endParaRPr>
            </a:p>
          </p:txBody>
        </p:sp>
        <p:sp>
          <p:nvSpPr>
            <p:cNvPr id="11" name="iṥḻíḓê"/>
            <p:cNvSpPr/>
            <p:nvPr/>
          </p:nvSpPr>
          <p:spPr bwMode="auto">
            <a:xfrm>
              <a:off x="1212384" y="3153135"/>
              <a:ext cx="567411" cy="566350"/>
            </a:xfrm>
            <a:custGeom>
              <a:avLst/>
              <a:gdLst>
                <a:gd name="connsiteX0" fmla="*/ 290910 w 605702"/>
                <a:gd name="connsiteY0" fmla="*/ 156336 h 604568"/>
                <a:gd name="connsiteX1" fmla="*/ 335849 w 605702"/>
                <a:gd name="connsiteY1" fmla="*/ 164992 h 604568"/>
                <a:gd name="connsiteX2" fmla="*/ 288310 w 605702"/>
                <a:gd name="connsiteY2" fmla="*/ 212456 h 604568"/>
                <a:gd name="connsiteX3" fmla="*/ 203632 w 605702"/>
                <a:gd name="connsiteY3" fmla="*/ 244717 h 604568"/>
                <a:gd name="connsiteX4" fmla="*/ 203632 w 605702"/>
                <a:gd name="connsiteY4" fmla="*/ 401388 h 604568"/>
                <a:gd name="connsiteX5" fmla="*/ 360547 w 605702"/>
                <a:gd name="connsiteY5" fmla="*/ 401388 h 604568"/>
                <a:gd name="connsiteX6" fmla="*/ 392859 w 605702"/>
                <a:gd name="connsiteY6" fmla="*/ 316749 h 604568"/>
                <a:gd name="connsiteX7" fmla="*/ 440397 w 605702"/>
                <a:gd name="connsiteY7" fmla="*/ 269284 h 604568"/>
                <a:gd name="connsiteX8" fmla="*/ 400287 w 605702"/>
                <a:gd name="connsiteY8" fmla="*/ 441065 h 604568"/>
                <a:gd name="connsiteX9" fmla="*/ 163892 w 605702"/>
                <a:gd name="connsiteY9" fmla="*/ 441065 h 604568"/>
                <a:gd name="connsiteX10" fmla="*/ 163892 w 605702"/>
                <a:gd name="connsiteY10" fmla="*/ 205040 h 604568"/>
                <a:gd name="connsiteX11" fmla="*/ 290910 w 605702"/>
                <a:gd name="connsiteY11" fmla="*/ 156336 h 604568"/>
                <a:gd name="connsiteX12" fmla="*/ 246542 w 605702"/>
                <a:gd name="connsiteY12" fmla="*/ 43775 h 604568"/>
                <a:gd name="connsiteX13" fmla="*/ 422196 w 605702"/>
                <a:gd name="connsiteY13" fmla="*/ 78723 h 604568"/>
                <a:gd name="connsiteX14" fmla="*/ 376794 w 605702"/>
                <a:gd name="connsiteY14" fmla="*/ 124054 h 604568"/>
                <a:gd name="connsiteX15" fmla="*/ 126109 w 605702"/>
                <a:gd name="connsiteY15" fmla="*/ 167345 h 604568"/>
                <a:gd name="connsiteX16" fmla="*/ 126109 w 605702"/>
                <a:gd name="connsiteY16" fmla="*/ 478820 h 604568"/>
                <a:gd name="connsiteX17" fmla="*/ 438073 w 605702"/>
                <a:gd name="connsiteY17" fmla="*/ 478820 h 604568"/>
                <a:gd name="connsiteX18" fmla="*/ 481432 w 605702"/>
                <a:gd name="connsiteY18" fmla="*/ 228527 h 604568"/>
                <a:gd name="connsiteX19" fmla="*/ 526741 w 605702"/>
                <a:gd name="connsiteY19" fmla="*/ 183011 h 604568"/>
                <a:gd name="connsiteX20" fmla="*/ 481432 w 605702"/>
                <a:gd name="connsiteY20" fmla="*/ 522111 h 604568"/>
                <a:gd name="connsiteX21" fmla="*/ 82657 w 605702"/>
                <a:gd name="connsiteY21" fmla="*/ 522111 h 604568"/>
                <a:gd name="connsiteX22" fmla="*/ 82657 w 605702"/>
                <a:gd name="connsiteY22" fmla="*/ 123961 h 604568"/>
                <a:gd name="connsiteX23" fmla="*/ 246542 w 605702"/>
                <a:gd name="connsiteY23" fmla="*/ 43775 h 604568"/>
                <a:gd name="connsiteX24" fmla="*/ 536061 w 605702"/>
                <a:gd name="connsiteY24" fmla="*/ 0 h 604568"/>
                <a:gd name="connsiteX25" fmla="*/ 544232 w 605702"/>
                <a:gd name="connsiteY25" fmla="*/ 61368 h 604568"/>
                <a:gd name="connsiteX26" fmla="*/ 605702 w 605702"/>
                <a:gd name="connsiteY26" fmla="*/ 69526 h 604568"/>
                <a:gd name="connsiteX27" fmla="*/ 524361 w 605702"/>
                <a:gd name="connsiteY27" fmla="*/ 150732 h 604568"/>
                <a:gd name="connsiteX28" fmla="*/ 498361 w 605702"/>
                <a:gd name="connsiteY28" fmla="*/ 147302 h 604568"/>
                <a:gd name="connsiteX29" fmla="*/ 337721 w 605702"/>
                <a:gd name="connsiteY29" fmla="*/ 307767 h 604568"/>
                <a:gd name="connsiteX30" fmla="*/ 339764 w 605702"/>
                <a:gd name="connsiteY30" fmla="*/ 323063 h 604568"/>
                <a:gd name="connsiteX31" fmla="*/ 282101 w 605702"/>
                <a:gd name="connsiteY31" fmla="*/ 380630 h 604568"/>
                <a:gd name="connsiteX32" fmla="*/ 224437 w 605702"/>
                <a:gd name="connsiteY32" fmla="*/ 323063 h 604568"/>
                <a:gd name="connsiteX33" fmla="*/ 282101 w 605702"/>
                <a:gd name="connsiteY33" fmla="*/ 265495 h 604568"/>
                <a:gd name="connsiteX34" fmla="*/ 297422 w 605702"/>
                <a:gd name="connsiteY34" fmla="*/ 267535 h 604568"/>
                <a:gd name="connsiteX35" fmla="*/ 458155 w 605702"/>
                <a:gd name="connsiteY35" fmla="*/ 107162 h 604568"/>
                <a:gd name="connsiteX36" fmla="*/ 454719 w 605702"/>
                <a:gd name="connsiteY36" fmla="*/ 81206 h 604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05702" h="604568">
                  <a:moveTo>
                    <a:pt x="290910" y="156336"/>
                  </a:moveTo>
                  <a:cubicBezTo>
                    <a:pt x="306137" y="157147"/>
                    <a:pt x="321272" y="160032"/>
                    <a:pt x="335849" y="164992"/>
                  </a:cubicBezTo>
                  <a:lnTo>
                    <a:pt x="288310" y="212456"/>
                  </a:lnTo>
                  <a:cubicBezTo>
                    <a:pt x="257856" y="210695"/>
                    <a:pt x="226844" y="221449"/>
                    <a:pt x="203632" y="244717"/>
                  </a:cubicBezTo>
                  <a:cubicBezTo>
                    <a:pt x="160271" y="287918"/>
                    <a:pt x="160271" y="358187"/>
                    <a:pt x="203632" y="401388"/>
                  </a:cubicBezTo>
                  <a:cubicBezTo>
                    <a:pt x="246900" y="444680"/>
                    <a:pt x="317279" y="444680"/>
                    <a:pt x="360547" y="401388"/>
                  </a:cubicBezTo>
                  <a:cubicBezTo>
                    <a:pt x="383852" y="378211"/>
                    <a:pt x="394623" y="347156"/>
                    <a:pt x="392859" y="316749"/>
                  </a:cubicBezTo>
                  <a:lnTo>
                    <a:pt x="440397" y="269284"/>
                  </a:lnTo>
                  <a:cubicBezTo>
                    <a:pt x="460267" y="327595"/>
                    <a:pt x="446897" y="394620"/>
                    <a:pt x="400287" y="441065"/>
                  </a:cubicBezTo>
                  <a:cubicBezTo>
                    <a:pt x="335106" y="506236"/>
                    <a:pt x="229073" y="506236"/>
                    <a:pt x="163892" y="441065"/>
                  </a:cubicBezTo>
                  <a:cubicBezTo>
                    <a:pt x="98619" y="375987"/>
                    <a:pt x="98619" y="270118"/>
                    <a:pt x="163892" y="205040"/>
                  </a:cubicBezTo>
                  <a:cubicBezTo>
                    <a:pt x="198711" y="170137"/>
                    <a:pt x="245228" y="153902"/>
                    <a:pt x="290910" y="156336"/>
                  </a:cubicBezTo>
                  <a:close/>
                  <a:moveTo>
                    <a:pt x="246542" y="43775"/>
                  </a:moveTo>
                  <a:cubicBezTo>
                    <a:pt x="306463" y="36243"/>
                    <a:pt x="368345" y="47900"/>
                    <a:pt x="422196" y="78723"/>
                  </a:cubicBezTo>
                  <a:lnTo>
                    <a:pt x="376794" y="124054"/>
                  </a:lnTo>
                  <a:cubicBezTo>
                    <a:pt x="294811" y="85305"/>
                    <a:pt x="193980" y="99581"/>
                    <a:pt x="126109" y="167345"/>
                  </a:cubicBezTo>
                  <a:cubicBezTo>
                    <a:pt x="39948" y="253371"/>
                    <a:pt x="39948" y="392793"/>
                    <a:pt x="126109" y="478820"/>
                  </a:cubicBezTo>
                  <a:cubicBezTo>
                    <a:pt x="212271" y="564846"/>
                    <a:pt x="351912" y="564846"/>
                    <a:pt x="438073" y="478820"/>
                  </a:cubicBezTo>
                  <a:cubicBezTo>
                    <a:pt x="505944" y="411055"/>
                    <a:pt x="520428" y="310382"/>
                    <a:pt x="481432" y="228527"/>
                  </a:cubicBezTo>
                  <a:lnTo>
                    <a:pt x="526741" y="183011"/>
                  </a:lnTo>
                  <a:cubicBezTo>
                    <a:pt x="588484" y="290544"/>
                    <a:pt x="573350" y="430244"/>
                    <a:pt x="481432" y="522111"/>
                  </a:cubicBezTo>
                  <a:cubicBezTo>
                    <a:pt x="371316" y="632054"/>
                    <a:pt x="192866" y="632054"/>
                    <a:pt x="82657" y="522111"/>
                  </a:cubicBezTo>
                  <a:cubicBezTo>
                    <a:pt x="-27552" y="412168"/>
                    <a:pt x="-27552" y="233997"/>
                    <a:pt x="82657" y="123961"/>
                  </a:cubicBezTo>
                  <a:cubicBezTo>
                    <a:pt x="128662" y="78028"/>
                    <a:pt x="186622" y="51307"/>
                    <a:pt x="246542" y="43775"/>
                  </a:cubicBezTo>
                  <a:close/>
                  <a:moveTo>
                    <a:pt x="536061" y="0"/>
                  </a:moveTo>
                  <a:lnTo>
                    <a:pt x="544232" y="61368"/>
                  </a:lnTo>
                  <a:lnTo>
                    <a:pt x="605702" y="69526"/>
                  </a:lnTo>
                  <a:lnTo>
                    <a:pt x="524361" y="150732"/>
                  </a:lnTo>
                  <a:lnTo>
                    <a:pt x="498361" y="147302"/>
                  </a:lnTo>
                  <a:lnTo>
                    <a:pt x="337721" y="307767"/>
                  </a:lnTo>
                  <a:cubicBezTo>
                    <a:pt x="339021" y="312588"/>
                    <a:pt x="339764" y="317779"/>
                    <a:pt x="339764" y="323063"/>
                  </a:cubicBezTo>
                  <a:cubicBezTo>
                    <a:pt x="339764" y="354859"/>
                    <a:pt x="313950" y="380630"/>
                    <a:pt x="282101" y="380630"/>
                  </a:cubicBezTo>
                  <a:cubicBezTo>
                    <a:pt x="250251" y="380630"/>
                    <a:pt x="224437" y="354859"/>
                    <a:pt x="224437" y="323063"/>
                  </a:cubicBezTo>
                  <a:cubicBezTo>
                    <a:pt x="224437" y="291266"/>
                    <a:pt x="250251" y="265495"/>
                    <a:pt x="282101" y="265495"/>
                  </a:cubicBezTo>
                  <a:cubicBezTo>
                    <a:pt x="287393" y="265495"/>
                    <a:pt x="292500" y="266237"/>
                    <a:pt x="297422" y="267535"/>
                  </a:cubicBezTo>
                  <a:lnTo>
                    <a:pt x="458155" y="107162"/>
                  </a:lnTo>
                  <a:lnTo>
                    <a:pt x="454719" y="81206"/>
                  </a:lnTo>
                  <a:close/>
                </a:path>
              </a:pathLst>
            </a:custGeom>
            <a:solidFill>
              <a:schemeClr val="bg1"/>
            </a:solidFill>
            <a:ln>
              <a:noFill/>
            </a:ln>
          </p:spPr>
          <p:txBody>
            <a:bodyPr wrap="square" lIns="91440" tIns="45720" rIns="91440" bIns="45720">
              <a:normAutofit fontScale="70000" lnSpcReduction="20000"/>
            </a:bodyPr>
            <a:lstStyle/>
            <a:p>
              <a:endParaRPr lang="zh-CN" altLang="en-US"/>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安全核心数据库</a:t>
            </a:r>
          </a:p>
        </p:txBody>
      </p:sp>
      <p:sp>
        <p:nvSpPr>
          <p:cNvPr id="12" name="íSľïdé"/>
          <p:cNvSpPr/>
          <p:nvPr/>
        </p:nvSpPr>
        <p:spPr>
          <a:xfrm>
            <a:off x="1864506" y="1512705"/>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13" name="ïŝļíḓê"/>
          <p:cNvSpPr/>
          <p:nvPr/>
        </p:nvSpPr>
        <p:spPr bwMode="auto">
          <a:xfrm>
            <a:off x="8368484" y="1747839"/>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91440" tIns="45720" rIns="91440" bIns="45720">
            <a:normAutofit/>
          </a:bodyPr>
          <a:lstStyle/>
          <a:p>
            <a:endParaRPr lang="zh-CN" altLang="en-US"/>
          </a:p>
        </p:txBody>
      </p:sp>
      <p:sp>
        <p:nvSpPr>
          <p:cNvPr id="14" name="îṧľîdé"/>
          <p:cNvSpPr/>
          <p:nvPr/>
        </p:nvSpPr>
        <p:spPr>
          <a:xfrm>
            <a:off x="3700753" y="1327668"/>
            <a:ext cx="4034934" cy="1106440"/>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15" name="内容占位符 2"/>
          <p:cNvSpPr txBox="1"/>
          <p:nvPr/>
        </p:nvSpPr>
        <p:spPr>
          <a:xfrm>
            <a:off x="556068" y="2144553"/>
            <a:ext cx="5162152" cy="173003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t>在</a:t>
            </a:r>
            <a:r>
              <a:rPr lang="en-US" altLang="zh-CN" sz="2400" dirty="0"/>
              <a:t>TCB</a:t>
            </a:r>
            <a:r>
              <a:rPr lang="zh-CN" altLang="en-US" sz="2400" dirty="0"/>
              <a:t>中配置安全核心数据库，在数据库内存放了许多与安全有关的信息</a:t>
            </a:r>
          </a:p>
          <a:p>
            <a:pPr marL="457200" lvl="1" indent="-457200">
              <a:lnSpc>
                <a:spcPct val="132000"/>
              </a:lnSpc>
              <a:spcBef>
                <a:spcPts val="370"/>
              </a:spcBef>
              <a:buClr>
                <a:srgbClr val="E71101"/>
              </a:buClr>
              <a:buSzPct val="100000"/>
              <a:buFont typeface="+mj-ea"/>
              <a:buAutoNum type="circleNumDbPlain"/>
              <a:defRPr/>
            </a:pPr>
            <a:r>
              <a:rPr lang="zh-CN" altLang="en-US" sz="2400" dirty="0">
                <a:solidFill>
                  <a:schemeClr val="tx1">
                    <a:lumMod val="65000"/>
                    <a:lumOff val="35000"/>
                  </a:schemeClr>
                </a:solidFill>
              </a:rPr>
              <a:t>访问控制模型，用于实现对用户访问文件的控制，其中列出了每个主体的访问权限和每个对象的保护属性；</a:t>
            </a:r>
          </a:p>
          <a:p>
            <a:pPr marL="457200" lvl="1" indent="-457200">
              <a:lnSpc>
                <a:spcPct val="132000"/>
              </a:lnSpc>
              <a:spcBef>
                <a:spcPts val="370"/>
              </a:spcBef>
              <a:buClr>
                <a:srgbClr val="E71101"/>
              </a:buClr>
              <a:buSzPct val="100000"/>
              <a:buFont typeface="+mj-ea"/>
              <a:buAutoNum type="circleNumDbPlain"/>
              <a:defRPr/>
            </a:pPr>
            <a:r>
              <a:rPr lang="zh-CN" altLang="en-US" sz="2400" dirty="0">
                <a:solidFill>
                  <a:schemeClr val="tx1">
                    <a:lumMod val="65000"/>
                    <a:lumOff val="35000"/>
                  </a:schemeClr>
                </a:solidFill>
              </a:rPr>
              <a:t>信息流控制模型，用于控制信息流从一个实体沿着安全路经流向另一个实体</a:t>
            </a:r>
          </a:p>
        </p:txBody>
      </p:sp>
      <p:sp>
        <p:nvSpPr>
          <p:cNvPr id="16" name="内容占位符 2"/>
          <p:cNvSpPr txBox="1"/>
          <p:nvPr/>
        </p:nvSpPr>
        <p:spPr>
          <a:xfrm>
            <a:off x="7735687" y="2434108"/>
            <a:ext cx="4062082" cy="423714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t>访问监视器</a:t>
            </a:r>
          </a:p>
          <a:p>
            <a:pPr marL="0" lvl="1" indent="-342900">
              <a:lnSpc>
                <a:spcPct val="132000"/>
              </a:lnSpc>
              <a:spcBef>
                <a:spcPts val="370"/>
              </a:spcBef>
              <a:buClr>
                <a:srgbClr val="E71101"/>
              </a:buClr>
              <a:buSzPct val="100000"/>
              <a:buFont typeface="Wingdings" panose="05000000000000000000" pitchFamily="2" charset="2"/>
              <a:buChar char="Ø"/>
              <a:defRPr/>
            </a:pPr>
            <a:r>
              <a:rPr lang="zh-CN" altLang="en-US" sz="2400" dirty="0">
                <a:solidFill>
                  <a:schemeClr val="tx1">
                    <a:lumMod val="65000"/>
                    <a:lumOff val="35000"/>
                  </a:schemeClr>
                </a:solidFill>
              </a:rPr>
              <a:t>它基于主体和被访问对象的安全参数来控制主体对该对象的访问，进而实现有效的安全接入控制</a:t>
            </a:r>
            <a:endParaRPr lang="en-US" altLang="zh-CN" sz="2400" dirty="0">
              <a:solidFill>
                <a:schemeClr val="tx1">
                  <a:lumMod val="65000"/>
                  <a:lumOff val="35000"/>
                </a:schemeClr>
              </a:solidFill>
            </a:endParaRPr>
          </a:p>
          <a:p>
            <a:pPr marL="114300" lvl="1" indent="-457200">
              <a:lnSpc>
                <a:spcPct val="132000"/>
              </a:lnSpc>
              <a:spcBef>
                <a:spcPts val="370"/>
              </a:spcBef>
              <a:buClr>
                <a:srgbClr val="E71101"/>
              </a:buClr>
              <a:buSzPct val="100000"/>
              <a:buFont typeface="+mj-ea"/>
              <a:buAutoNum type="circleNumDbPlain"/>
              <a:defRPr/>
            </a:pPr>
            <a:r>
              <a:rPr lang="zh-CN" altLang="en-US" sz="2400" dirty="0">
                <a:solidFill>
                  <a:schemeClr val="tx1">
                    <a:lumMod val="65000"/>
                    <a:lumOff val="35000"/>
                  </a:schemeClr>
                </a:solidFill>
              </a:rPr>
              <a:t>完全仲裁</a:t>
            </a:r>
          </a:p>
          <a:p>
            <a:pPr marL="114300" lvl="1" indent="-457200">
              <a:lnSpc>
                <a:spcPct val="132000"/>
              </a:lnSpc>
              <a:spcBef>
                <a:spcPts val="370"/>
              </a:spcBef>
              <a:buClr>
                <a:srgbClr val="E71101"/>
              </a:buClr>
              <a:buSzPct val="100000"/>
              <a:buFont typeface="+mj-ea"/>
              <a:buAutoNum type="circleNumDbPlain"/>
              <a:defRPr/>
            </a:pPr>
            <a:r>
              <a:rPr lang="zh-CN" altLang="en-US" sz="2400" dirty="0">
                <a:solidFill>
                  <a:schemeClr val="tx1">
                    <a:lumMod val="65000"/>
                    <a:lumOff val="35000"/>
                  </a:schemeClr>
                </a:solidFill>
              </a:rPr>
              <a:t>隔离</a:t>
            </a:r>
          </a:p>
        </p:txBody>
      </p:sp>
      <p:sp>
        <p:nvSpPr>
          <p:cNvPr id="17" name="内容占位符 2"/>
          <p:cNvSpPr txBox="1"/>
          <p:nvPr/>
        </p:nvSpPr>
        <p:spPr>
          <a:xfrm>
            <a:off x="9364841" y="5473522"/>
            <a:ext cx="2187509" cy="553791"/>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lvl="1" indent="-457200">
              <a:lnSpc>
                <a:spcPct val="132000"/>
              </a:lnSpc>
              <a:spcBef>
                <a:spcPts val="370"/>
              </a:spcBef>
              <a:buClr>
                <a:srgbClr val="E71101"/>
              </a:buClr>
              <a:buSzPct val="100000"/>
              <a:buFont typeface="+mj-ea"/>
              <a:buAutoNum type="circleNumDbPlain" startAt="3"/>
              <a:defRPr/>
            </a:pPr>
            <a:r>
              <a:rPr lang="zh-CN" altLang="en-US" sz="2400" dirty="0">
                <a:solidFill>
                  <a:schemeClr val="tx1">
                    <a:lumMod val="65000"/>
                    <a:lumOff val="35000"/>
                  </a:schemeClr>
                </a:solidFill>
              </a:rPr>
              <a:t>可证实性</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12.6.3 </a:t>
            </a:r>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设计安全操作系统的原则</a:t>
            </a:r>
          </a:p>
        </p:txBody>
      </p:sp>
      <p:grpSp>
        <p:nvGrpSpPr>
          <p:cNvPr id="4" name="224405"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532660" y="1763071"/>
            <a:ext cx="10986239" cy="3733544"/>
            <a:chOff x="527899" y="1557009"/>
            <a:chExt cx="10986239" cy="3733544"/>
          </a:xfrm>
        </p:grpSpPr>
        <p:sp>
          <p:nvSpPr>
            <p:cNvPr id="5" name="íśḷíḋé"/>
            <p:cNvSpPr/>
            <p:nvPr/>
          </p:nvSpPr>
          <p:spPr bwMode="auto">
            <a:xfrm>
              <a:off x="4801181" y="2133141"/>
              <a:ext cx="2589100" cy="2588226"/>
            </a:xfrm>
            <a:prstGeom prst="ellipse">
              <a:avLst/>
            </a:prstGeom>
            <a:blipFill>
              <a:blip r:embed="rId3"/>
              <a:stretch>
                <a:fillRect l="-25098" r="-24851"/>
              </a:stretch>
            </a:blipFill>
            <a:ln w="57150">
              <a:solidFill>
                <a:schemeClr val="bg1">
                  <a:lumMod val="9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endParaRPr lang="en-US" sz="2800" b="1">
                <a:solidFill>
                  <a:schemeClr val="lt1"/>
                </a:solidFill>
              </a:endParaRPr>
            </a:p>
          </p:txBody>
        </p:sp>
        <p:sp>
          <p:nvSpPr>
            <p:cNvPr id="6" name="ïSlïďè"/>
            <p:cNvSpPr/>
            <p:nvPr/>
          </p:nvSpPr>
          <p:spPr bwMode="auto">
            <a:xfrm>
              <a:off x="4955845" y="2290426"/>
              <a:ext cx="343408" cy="342533"/>
            </a:xfrm>
            <a:custGeom>
              <a:avLst/>
              <a:gdLst>
                <a:gd name="T0" fmla="*/ 777 w 863"/>
                <a:gd name="T1" fmla="*/ 460 h 861"/>
                <a:gd name="T2" fmla="*/ 505 w 863"/>
                <a:gd name="T3" fmla="*/ 427 h 861"/>
                <a:gd name="T4" fmla="*/ 75 w 863"/>
                <a:gd name="T5" fmla="*/ 0 h 861"/>
                <a:gd name="T6" fmla="*/ 0 w 863"/>
                <a:gd name="T7" fmla="*/ 75 h 861"/>
                <a:gd name="T8" fmla="*/ 430 w 863"/>
                <a:gd name="T9" fmla="*/ 503 h 861"/>
                <a:gd name="T10" fmla="*/ 463 w 863"/>
                <a:gd name="T11" fmla="*/ 774 h 861"/>
                <a:gd name="T12" fmla="*/ 777 w 863"/>
                <a:gd name="T13" fmla="*/ 774 h 861"/>
                <a:gd name="T14" fmla="*/ 777 w 863"/>
                <a:gd name="T15" fmla="*/ 460 h 8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3" h="861">
                  <a:moveTo>
                    <a:pt x="777" y="460"/>
                  </a:moveTo>
                  <a:cubicBezTo>
                    <a:pt x="703" y="386"/>
                    <a:pt x="590" y="376"/>
                    <a:pt x="505" y="427"/>
                  </a:cubicBezTo>
                  <a:cubicBezTo>
                    <a:pt x="75" y="0"/>
                    <a:pt x="75" y="0"/>
                    <a:pt x="75" y="0"/>
                  </a:cubicBezTo>
                  <a:cubicBezTo>
                    <a:pt x="0" y="75"/>
                    <a:pt x="0" y="75"/>
                    <a:pt x="0" y="75"/>
                  </a:cubicBezTo>
                  <a:cubicBezTo>
                    <a:pt x="430" y="503"/>
                    <a:pt x="430" y="503"/>
                    <a:pt x="430" y="503"/>
                  </a:cubicBezTo>
                  <a:cubicBezTo>
                    <a:pt x="378" y="588"/>
                    <a:pt x="389" y="700"/>
                    <a:pt x="463" y="774"/>
                  </a:cubicBezTo>
                  <a:cubicBezTo>
                    <a:pt x="549" y="861"/>
                    <a:pt x="690" y="861"/>
                    <a:pt x="777" y="774"/>
                  </a:cubicBezTo>
                  <a:cubicBezTo>
                    <a:pt x="863" y="687"/>
                    <a:pt x="863" y="547"/>
                    <a:pt x="777" y="460"/>
                  </a:cubicBezTo>
                  <a:close/>
                </a:path>
              </a:pathLst>
            </a:custGeom>
            <a:solidFill>
              <a:schemeClr val="accent1"/>
            </a:solidFill>
            <a:ln>
              <a:noFill/>
            </a:ln>
          </p:spPr>
          <p:txBody>
            <a:bodyPr vert="horz" wrap="square" lIns="91440" tIns="45720" rIns="91440" bIns="45720" numCol="1" anchor="t" anchorCtr="0" compatLnSpc="1">
              <a:normAutofit lnSpcReduction="10000"/>
            </a:bodyPr>
            <a:lstStyle/>
            <a:p>
              <a:endParaRPr lang="en-US"/>
            </a:p>
          </p:txBody>
        </p:sp>
        <p:sp>
          <p:nvSpPr>
            <p:cNvPr id="7" name="îśľïḓê"/>
            <p:cNvSpPr/>
            <p:nvPr/>
          </p:nvSpPr>
          <p:spPr bwMode="auto">
            <a:xfrm>
              <a:off x="4523309" y="3361717"/>
              <a:ext cx="394089" cy="176509"/>
            </a:xfrm>
            <a:custGeom>
              <a:avLst/>
              <a:gdLst>
                <a:gd name="T0" fmla="*/ 770 w 992"/>
                <a:gd name="T1" fmla="*/ 0 h 444"/>
                <a:gd name="T2" fmla="*/ 555 w 992"/>
                <a:gd name="T3" fmla="*/ 169 h 444"/>
                <a:gd name="T4" fmla="*/ 0 w 992"/>
                <a:gd name="T5" fmla="*/ 169 h 444"/>
                <a:gd name="T6" fmla="*/ 0 w 992"/>
                <a:gd name="T7" fmla="*/ 275 h 444"/>
                <a:gd name="T8" fmla="*/ 555 w 992"/>
                <a:gd name="T9" fmla="*/ 275 h 444"/>
                <a:gd name="T10" fmla="*/ 770 w 992"/>
                <a:gd name="T11" fmla="*/ 444 h 444"/>
                <a:gd name="T12" fmla="*/ 992 w 992"/>
                <a:gd name="T13" fmla="*/ 222 h 444"/>
                <a:gd name="T14" fmla="*/ 770 w 992"/>
                <a:gd name="T15" fmla="*/ 0 h 4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92" h="444">
                  <a:moveTo>
                    <a:pt x="770" y="0"/>
                  </a:moveTo>
                  <a:cubicBezTo>
                    <a:pt x="666" y="0"/>
                    <a:pt x="578" y="72"/>
                    <a:pt x="555" y="169"/>
                  </a:cubicBezTo>
                  <a:cubicBezTo>
                    <a:pt x="0" y="169"/>
                    <a:pt x="0" y="169"/>
                    <a:pt x="0" y="169"/>
                  </a:cubicBezTo>
                  <a:cubicBezTo>
                    <a:pt x="0" y="275"/>
                    <a:pt x="0" y="275"/>
                    <a:pt x="0" y="275"/>
                  </a:cubicBezTo>
                  <a:cubicBezTo>
                    <a:pt x="555" y="275"/>
                    <a:pt x="555" y="275"/>
                    <a:pt x="555" y="275"/>
                  </a:cubicBezTo>
                  <a:cubicBezTo>
                    <a:pt x="578" y="372"/>
                    <a:pt x="666" y="444"/>
                    <a:pt x="770" y="444"/>
                  </a:cubicBezTo>
                  <a:cubicBezTo>
                    <a:pt x="892" y="444"/>
                    <a:pt x="992" y="344"/>
                    <a:pt x="992" y="222"/>
                  </a:cubicBezTo>
                  <a:cubicBezTo>
                    <a:pt x="992" y="99"/>
                    <a:pt x="892" y="0"/>
                    <a:pt x="770" y="0"/>
                  </a:cubicBezTo>
                  <a:close/>
                </a:path>
              </a:pathLst>
            </a:custGeom>
            <a:solidFill>
              <a:schemeClr val="accent6"/>
            </a:solidFill>
            <a:ln>
              <a:noFill/>
            </a:ln>
          </p:spPr>
          <p:txBody>
            <a:bodyPr vert="horz" wrap="square" lIns="91440" tIns="45720" rIns="91440" bIns="45720" numCol="1" anchor="t" anchorCtr="0" compatLnSpc="1">
              <a:normAutofit fontScale="32500" lnSpcReduction="20000"/>
            </a:bodyPr>
            <a:lstStyle/>
            <a:p>
              <a:endParaRPr lang="en-US"/>
            </a:p>
          </p:txBody>
        </p:sp>
        <p:sp>
          <p:nvSpPr>
            <p:cNvPr id="8" name="ïSlíďé"/>
            <p:cNvSpPr/>
            <p:nvPr/>
          </p:nvSpPr>
          <p:spPr bwMode="auto">
            <a:xfrm>
              <a:off x="4225048" y="1557009"/>
              <a:ext cx="846430" cy="846430"/>
            </a:xfrm>
            <a:prstGeom prst="ellipse">
              <a:avLst/>
            </a:prstGeom>
            <a:solidFill>
              <a:schemeClr val="accent1"/>
            </a:solidFill>
            <a:ln>
              <a:noFill/>
            </a:ln>
          </p:spPr>
          <p:txBody>
            <a:bodyPr vert="horz" wrap="square" lIns="91440" tIns="45720" rIns="91440" bIns="45720" numCol="1" anchor="t" anchorCtr="0" compatLnSpc="1">
              <a:normAutofit/>
            </a:bodyPr>
            <a:lstStyle/>
            <a:p>
              <a:endParaRPr lang="en-US"/>
            </a:p>
          </p:txBody>
        </p:sp>
        <p:sp>
          <p:nvSpPr>
            <p:cNvPr id="9" name="îSḷîḑê"/>
            <p:cNvSpPr/>
            <p:nvPr/>
          </p:nvSpPr>
          <p:spPr bwMode="auto">
            <a:xfrm>
              <a:off x="3622073" y="2998796"/>
              <a:ext cx="847397" cy="846430"/>
            </a:xfrm>
            <a:prstGeom prst="ellipse">
              <a:avLst/>
            </a:prstGeom>
            <a:solidFill>
              <a:schemeClr val="accent6"/>
            </a:solidFill>
            <a:ln>
              <a:noFill/>
            </a:ln>
          </p:spPr>
          <p:txBody>
            <a:bodyPr vert="horz" wrap="square" lIns="91440" tIns="45720" rIns="91440" bIns="45720" numCol="1" anchor="t" anchorCtr="0" compatLnSpc="1">
              <a:normAutofit/>
            </a:bodyPr>
            <a:lstStyle/>
            <a:p>
              <a:endParaRPr lang="en-US"/>
            </a:p>
          </p:txBody>
        </p:sp>
        <p:sp>
          <p:nvSpPr>
            <p:cNvPr id="10" name="îṣlîḑê"/>
            <p:cNvSpPr/>
            <p:nvPr/>
          </p:nvSpPr>
          <p:spPr bwMode="auto">
            <a:xfrm>
              <a:off x="4945359" y="4227664"/>
              <a:ext cx="352146" cy="352146"/>
            </a:xfrm>
            <a:custGeom>
              <a:avLst/>
              <a:gdLst>
                <a:gd name="T0" fmla="*/ 797 w 884"/>
                <a:gd name="T1" fmla="*/ 87 h 886"/>
                <a:gd name="T2" fmla="*/ 483 w 884"/>
                <a:gd name="T3" fmla="*/ 87 h 886"/>
                <a:gd name="T4" fmla="*/ 450 w 884"/>
                <a:gd name="T5" fmla="*/ 358 h 886"/>
                <a:gd name="T6" fmla="*/ 0 w 884"/>
                <a:gd name="T7" fmla="*/ 811 h 886"/>
                <a:gd name="T8" fmla="*/ 75 w 884"/>
                <a:gd name="T9" fmla="*/ 886 h 886"/>
                <a:gd name="T10" fmla="*/ 525 w 884"/>
                <a:gd name="T11" fmla="*/ 434 h 886"/>
                <a:gd name="T12" fmla="*/ 797 w 884"/>
                <a:gd name="T13" fmla="*/ 401 h 886"/>
                <a:gd name="T14" fmla="*/ 797 w 884"/>
                <a:gd name="T15" fmla="*/ 87 h 8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84" h="886">
                  <a:moveTo>
                    <a:pt x="797" y="87"/>
                  </a:moveTo>
                  <a:cubicBezTo>
                    <a:pt x="710" y="0"/>
                    <a:pt x="570" y="0"/>
                    <a:pt x="483" y="87"/>
                  </a:cubicBezTo>
                  <a:cubicBezTo>
                    <a:pt x="409" y="161"/>
                    <a:pt x="399" y="273"/>
                    <a:pt x="450" y="358"/>
                  </a:cubicBezTo>
                  <a:cubicBezTo>
                    <a:pt x="0" y="811"/>
                    <a:pt x="0" y="811"/>
                    <a:pt x="0" y="811"/>
                  </a:cubicBezTo>
                  <a:cubicBezTo>
                    <a:pt x="75" y="886"/>
                    <a:pt x="75" y="886"/>
                    <a:pt x="75" y="886"/>
                  </a:cubicBezTo>
                  <a:cubicBezTo>
                    <a:pt x="525" y="434"/>
                    <a:pt x="525" y="434"/>
                    <a:pt x="525" y="434"/>
                  </a:cubicBezTo>
                  <a:cubicBezTo>
                    <a:pt x="611" y="485"/>
                    <a:pt x="723" y="475"/>
                    <a:pt x="797" y="401"/>
                  </a:cubicBezTo>
                  <a:cubicBezTo>
                    <a:pt x="884" y="314"/>
                    <a:pt x="884" y="174"/>
                    <a:pt x="797" y="87"/>
                  </a:cubicBezTo>
                  <a:close/>
                </a:path>
              </a:pathLst>
            </a:custGeom>
            <a:solidFill>
              <a:schemeClr val="accent5"/>
            </a:solidFill>
            <a:ln>
              <a:noFill/>
            </a:ln>
          </p:spPr>
          <p:txBody>
            <a:bodyPr vert="horz" wrap="square" lIns="91440" tIns="45720" rIns="91440" bIns="45720" numCol="1" anchor="t" anchorCtr="0" compatLnSpc="1">
              <a:normAutofit lnSpcReduction="10000"/>
            </a:bodyPr>
            <a:lstStyle/>
            <a:p>
              <a:endParaRPr lang="en-US"/>
            </a:p>
          </p:txBody>
        </p:sp>
        <p:sp>
          <p:nvSpPr>
            <p:cNvPr id="11" name="ï$ľîḓé"/>
            <p:cNvSpPr/>
            <p:nvPr/>
          </p:nvSpPr>
          <p:spPr bwMode="auto">
            <a:xfrm flipH="1">
              <a:off x="6892749" y="2290426"/>
              <a:ext cx="343408" cy="342533"/>
            </a:xfrm>
            <a:custGeom>
              <a:avLst/>
              <a:gdLst>
                <a:gd name="T0" fmla="*/ 777 w 863"/>
                <a:gd name="T1" fmla="*/ 460 h 861"/>
                <a:gd name="T2" fmla="*/ 505 w 863"/>
                <a:gd name="T3" fmla="*/ 427 h 861"/>
                <a:gd name="T4" fmla="*/ 75 w 863"/>
                <a:gd name="T5" fmla="*/ 0 h 861"/>
                <a:gd name="T6" fmla="*/ 0 w 863"/>
                <a:gd name="T7" fmla="*/ 75 h 861"/>
                <a:gd name="T8" fmla="*/ 430 w 863"/>
                <a:gd name="T9" fmla="*/ 503 h 861"/>
                <a:gd name="T10" fmla="*/ 463 w 863"/>
                <a:gd name="T11" fmla="*/ 774 h 861"/>
                <a:gd name="T12" fmla="*/ 777 w 863"/>
                <a:gd name="T13" fmla="*/ 774 h 861"/>
                <a:gd name="T14" fmla="*/ 777 w 863"/>
                <a:gd name="T15" fmla="*/ 460 h 8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3" h="861">
                  <a:moveTo>
                    <a:pt x="777" y="460"/>
                  </a:moveTo>
                  <a:cubicBezTo>
                    <a:pt x="703" y="386"/>
                    <a:pt x="590" y="376"/>
                    <a:pt x="505" y="427"/>
                  </a:cubicBezTo>
                  <a:cubicBezTo>
                    <a:pt x="75" y="0"/>
                    <a:pt x="75" y="0"/>
                    <a:pt x="75" y="0"/>
                  </a:cubicBezTo>
                  <a:cubicBezTo>
                    <a:pt x="0" y="75"/>
                    <a:pt x="0" y="75"/>
                    <a:pt x="0" y="75"/>
                  </a:cubicBezTo>
                  <a:cubicBezTo>
                    <a:pt x="430" y="503"/>
                    <a:pt x="430" y="503"/>
                    <a:pt x="430" y="503"/>
                  </a:cubicBezTo>
                  <a:cubicBezTo>
                    <a:pt x="378" y="588"/>
                    <a:pt x="389" y="700"/>
                    <a:pt x="463" y="774"/>
                  </a:cubicBezTo>
                  <a:cubicBezTo>
                    <a:pt x="549" y="861"/>
                    <a:pt x="690" y="861"/>
                    <a:pt x="777" y="774"/>
                  </a:cubicBezTo>
                  <a:cubicBezTo>
                    <a:pt x="863" y="687"/>
                    <a:pt x="863" y="547"/>
                    <a:pt x="777" y="460"/>
                  </a:cubicBezTo>
                  <a:close/>
                </a:path>
              </a:pathLst>
            </a:custGeom>
            <a:solidFill>
              <a:schemeClr val="accent2"/>
            </a:solidFill>
            <a:ln>
              <a:noFill/>
            </a:ln>
          </p:spPr>
          <p:txBody>
            <a:bodyPr vert="horz" wrap="square" lIns="91440" tIns="45720" rIns="91440" bIns="45720" numCol="1" anchor="t" anchorCtr="0" compatLnSpc="1">
              <a:normAutofit lnSpcReduction="10000"/>
            </a:bodyPr>
            <a:lstStyle/>
            <a:p>
              <a:endParaRPr lang="en-US"/>
            </a:p>
          </p:txBody>
        </p:sp>
        <p:sp>
          <p:nvSpPr>
            <p:cNvPr id="12" name="isḷiḋé"/>
            <p:cNvSpPr/>
            <p:nvPr/>
          </p:nvSpPr>
          <p:spPr bwMode="auto">
            <a:xfrm flipH="1">
              <a:off x="7274604" y="3361717"/>
              <a:ext cx="394089" cy="176509"/>
            </a:xfrm>
            <a:custGeom>
              <a:avLst/>
              <a:gdLst>
                <a:gd name="T0" fmla="*/ 770 w 992"/>
                <a:gd name="T1" fmla="*/ 0 h 444"/>
                <a:gd name="T2" fmla="*/ 555 w 992"/>
                <a:gd name="T3" fmla="*/ 169 h 444"/>
                <a:gd name="T4" fmla="*/ 0 w 992"/>
                <a:gd name="T5" fmla="*/ 169 h 444"/>
                <a:gd name="T6" fmla="*/ 0 w 992"/>
                <a:gd name="T7" fmla="*/ 275 h 444"/>
                <a:gd name="T8" fmla="*/ 555 w 992"/>
                <a:gd name="T9" fmla="*/ 275 h 444"/>
                <a:gd name="T10" fmla="*/ 770 w 992"/>
                <a:gd name="T11" fmla="*/ 444 h 444"/>
                <a:gd name="T12" fmla="*/ 992 w 992"/>
                <a:gd name="T13" fmla="*/ 222 h 444"/>
                <a:gd name="T14" fmla="*/ 770 w 992"/>
                <a:gd name="T15" fmla="*/ 0 h 4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92" h="444">
                  <a:moveTo>
                    <a:pt x="770" y="0"/>
                  </a:moveTo>
                  <a:cubicBezTo>
                    <a:pt x="666" y="0"/>
                    <a:pt x="578" y="72"/>
                    <a:pt x="555" y="169"/>
                  </a:cubicBezTo>
                  <a:cubicBezTo>
                    <a:pt x="0" y="169"/>
                    <a:pt x="0" y="169"/>
                    <a:pt x="0" y="169"/>
                  </a:cubicBezTo>
                  <a:cubicBezTo>
                    <a:pt x="0" y="275"/>
                    <a:pt x="0" y="275"/>
                    <a:pt x="0" y="275"/>
                  </a:cubicBezTo>
                  <a:cubicBezTo>
                    <a:pt x="555" y="275"/>
                    <a:pt x="555" y="275"/>
                    <a:pt x="555" y="275"/>
                  </a:cubicBezTo>
                  <a:cubicBezTo>
                    <a:pt x="578" y="372"/>
                    <a:pt x="666" y="444"/>
                    <a:pt x="770" y="444"/>
                  </a:cubicBezTo>
                  <a:cubicBezTo>
                    <a:pt x="892" y="444"/>
                    <a:pt x="992" y="344"/>
                    <a:pt x="992" y="222"/>
                  </a:cubicBezTo>
                  <a:cubicBezTo>
                    <a:pt x="992" y="99"/>
                    <a:pt x="892" y="0"/>
                    <a:pt x="770" y="0"/>
                  </a:cubicBezTo>
                  <a:close/>
                </a:path>
              </a:pathLst>
            </a:custGeom>
            <a:solidFill>
              <a:schemeClr val="accent3"/>
            </a:solidFill>
            <a:ln>
              <a:noFill/>
            </a:ln>
          </p:spPr>
          <p:txBody>
            <a:bodyPr vert="horz" wrap="square" lIns="91440" tIns="45720" rIns="91440" bIns="45720" numCol="1" anchor="t" anchorCtr="0" compatLnSpc="1">
              <a:normAutofit fontScale="32500" lnSpcReduction="20000"/>
            </a:bodyPr>
            <a:lstStyle/>
            <a:p>
              <a:endParaRPr lang="en-US"/>
            </a:p>
          </p:txBody>
        </p:sp>
        <p:sp>
          <p:nvSpPr>
            <p:cNvPr id="13" name="îśḻiďé"/>
            <p:cNvSpPr/>
            <p:nvPr/>
          </p:nvSpPr>
          <p:spPr bwMode="auto">
            <a:xfrm>
              <a:off x="7109163" y="1557009"/>
              <a:ext cx="846430" cy="846430"/>
            </a:xfrm>
            <a:prstGeom prst="ellipse">
              <a:avLst/>
            </a:prstGeom>
            <a:solidFill>
              <a:schemeClr val="accent2"/>
            </a:solidFill>
            <a:ln>
              <a:noFill/>
            </a:ln>
          </p:spPr>
          <p:txBody>
            <a:bodyPr vert="horz" wrap="square" lIns="91440" tIns="45720" rIns="91440" bIns="45720" numCol="1" anchor="t" anchorCtr="0" compatLnSpc="1">
              <a:normAutofit/>
            </a:bodyPr>
            <a:lstStyle/>
            <a:p>
              <a:endParaRPr lang="en-US"/>
            </a:p>
          </p:txBody>
        </p:sp>
        <p:sp>
          <p:nvSpPr>
            <p:cNvPr id="14" name="išľiďe"/>
            <p:cNvSpPr/>
            <p:nvPr/>
          </p:nvSpPr>
          <p:spPr bwMode="auto">
            <a:xfrm>
              <a:off x="7712046" y="2998796"/>
              <a:ext cx="847397" cy="846430"/>
            </a:xfrm>
            <a:prstGeom prst="ellipse">
              <a:avLst/>
            </a:prstGeom>
            <a:solidFill>
              <a:schemeClr val="accent3"/>
            </a:solidFill>
            <a:ln>
              <a:noFill/>
            </a:ln>
          </p:spPr>
          <p:txBody>
            <a:bodyPr vert="horz" wrap="square" lIns="91440" tIns="45720" rIns="91440" bIns="45720" numCol="1" anchor="t" anchorCtr="0" compatLnSpc="1">
              <a:normAutofit/>
            </a:bodyPr>
            <a:lstStyle/>
            <a:p>
              <a:endParaRPr lang="en-US"/>
            </a:p>
          </p:txBody>
        </p:sp>
        <p:sp>
          <p:nvSpPr>
            <p:cNvPr id="15" name="ïṡľíḍè"/>
            <p:cNvSpPr/>
            <p:nvPr/>
          </p:nvSpPr>
          <p:spPr bwMode="auto">
            <a:xfrm flipH="1">
              <a:off x="6894497" y="4227664"/>
              <a:ext cx="352146" cy="352146"/>
            </a:xfrm>
            <a:custGeom>
              <a:avLst/>
              <a:gdLst>
                <a:gd name="T0" fmla="*/ 797 w 884"/>
                <a:gd name="T1" fmla="*/ 87 h 886"/>
                <a:gd name="T2" fmla="*/ 483 w 884"/>
                <a:gd name="T3" fmla="*/ 87 h 886"/>
                <a:gd name="T4" fmla="*/ 450 w 884"/>
                <a:gd name="T5" fmla="*/ 358 h 886"/>
                <a:gd name="T6" fmla="*/ 0 w 884"/>
                <a:gd name="T7" fmla="*/ 811 h 886"/>
                <a:gd name="T8" fmla="*/ 75 w 884"/>
                <a:gd name="T9" fmla="*/ 886 h 886"/>
                <a:gd name="T10" fmla="*/ 525 w 884"/>
                <a:gd name="T11" fmla="*/ 434 h 886"/>
                <a:gd name="T12" fmla="*/ 797 w 884"/>
                <a:gd name="T13" fmla="*/ 401 h 886"/>
                <a:gd name="T14" fmla="*/ 797 w 884"/>
                <a:gd name="T15" fmla="*/ 87 h 8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84" h="886">
                  <a:moveTo>
                    <a:pt x="797" y="87"/>
                  </a:moveTo>
                  <a:cubicBezTo>
                    <a:pt x="710" y="0"/>
                    <a:pt x="570" y="0"/>
                    <a:pt x="483" y="87"/>
                  </a:cubicBezTo>
                  <a:cubicBezTo>
                    <a:pt x="409" y="161"/>
                    <a:pt x="399" y="273"/>
                    <a:pt x="450" y="358"/>
                  </a:cubicBezTo>
                  <a:cubicBezTo>
                    <a:pt x="0" y="811"/>
                    <a:pt x="0" y="811"/>
                    <a:pt x="0" y="811"/>
                  </a:cubicBezTo>
                  <a:cubicBezTo>
                    <a:pt x="75" y="886"/>
                    <a:pt x="75" y="886"/>
                    <a:pt x="75" y="886"/>
                  </a:cubicBezTo>
                  <a:cubicBezTo>
                    <a:pt x="525" y="434"/>
                    <a:pt x="525" y="434"/>
                    <a:pt x="525" y="434"/>
                  </a:cubicBezTo>
                  <a:cubicBezTo>
                    <a:pt x="611" y="485"/>
                    <a:pt x="723" y="475"/>
                    <a:pt x="797" y="401"/>
                  </a:cubicBezTo>
                  <a:cubicBezTo>
                    <a:pt x="884" y="314"/>
                    <a:pt x="884" y="174"/>
                    <a:pt x="797" y="87"/>
                  </a:cubicBezTo>
                  <a:close/>
                </a:path>
              </a:pathLst>
            </a:custGeom>
            <a:solidFill>
              <a:schemeClr val="accent4"/>
            </a:solidFill>
            <a:ln>
              <a:noFill/>
            </a:ln>
          </p:spPr>
          <p:txBody>
            <a:bodyPr vert="horz" wrap="square" lIns="91440" tIns="45720" rIns="91440" bIns="45720" numCol="1" anchor="t" anchorCtr="0" compatLnSpc="1">
              <a:normAutofit lnSpcReduction="10000"/>
            </a:bodyPr>
            <a:lstStyle/>
            <a:p>
              <a:endParaRPr lang="en-US"/>
            </a:p>
          </p:txBody>
        </p:sp>
        <p:sp>
          <p:nvSpPr>
            <p:cNvPr id="16" name="isḷídé"/>
            <p:cNvSpPr/>
            <p:nvPr/>
          </p:nvSpPr>
          <p:spPr bwMode="auto">
            <a:xfrm>
              <a:off x="4220680" y="4443157"/>
              <a:ext cx="846430" cy="847396"/>
            </a:xfrm>
            <a:prstGeom prst="ellipse">
              <a:avLst/>
            </a:prstGeom>
            <a:solidFill>
              <a:schemeClr val="accent5"/>
            </a:solidFill>
            <a:ln>
              <a:noFill/>
            </a:ln>
          </p:spPr>
          <p:txBody>
            <a:bodyPr vert="horz" wrap="square" lIns="91440" tIns="45720" rIns="91440" bIns="45720" numCol="1" anchor="t" anchorCtr="0" compatLnSpc="1">
              <a:normAutofit/>
            </a:bodyPr>
            <a:lstStyle/>
            <a:p>
              <a:endParaRPr lang="en-US"/>
            </a:p>
          </p:txBody>
        </p:sp>
        <p:sp>
          <p:nvSpPr>
            <p:cNvPr id="17" name="íśľîḋé"/>
            <p:cNvSpPr/>
            <p:nvPr/>
          </p:nvSpPr>
          <p:spPr bwMode="auto">
            <a:xfrm>
              <a:off x="7115280" y="4443157"/>
              <a:ext cx="846430" cy="847396"/>
            </a:xfrm>
            <a:prstGeom prst="ellipse">
              <a:avLst/>
            </a:prstGeom>
            <a:solidFill>
              <a:schemeClr val="accent4"/>
            </a:solidFill>
            <a:ln>
              <a:noFill/>
            </a:ln>
          </p:spPr>
          <p:txBody>
            <a:bodyPr vert="horz" wrap="square" lIns="91440" tIns="45720" rIns="91440" bIns="45720" numCol="1" anchor="t" anchorCtr="0" compatLnSpc="1">
              <a:normAutofit/>
            </a:bodyPr>
            <a:lstStyle/>
            <a:p>
              <a:endParaRPr lang="en-US"/>
            </a:p>
          </p:txBody>
        </p:sp>
        <p:sp>
          <p:nvSpPr>
            <p:cNvPr id="18" name="ïṡḷidè"/>
            <p:cNvSpPr/>
            <p:nvPr/>
          </p:nvSpPr>
          <p:spPr bwMode="auto">
            <a:xfrm>
              <a:off x="7963389" y="3249916"/>
              <a:ext cx="344710" cy="344189"/>
            </a:xfrm>
            <a:custGeom>
              <a:avLst/>
              <a:gdLst>
                <a:gd name="connsiteX0" fmla="*/ 106370 w 607639"/>
                <a:gd name="connsiteY0" fmla="*/ 436610 h 606722"/>
                <a:gd name="connsiteX1" fmla="*/ 61329 w 607639"/>
                <a:gd name="connsiteY1" fmla="*/ 480515 h 606722"/>
                <a:gd name="connsiteX2" fmla="*/ 126397 w 607639"/>
                <a:gd name="connsiteY2" fmla="*/ 545485 h 606722"/>
                <a:gd name="connsiteX3" fmla="*/ 170369 w 607639"/>
                <a:gd name="connsiteY3" fmla="*/ 500513 h 606722"/>
                <a:gd name="connsiteX4" fmla="*/ 455714 w 607639"/>
                <a:gd name="connsiteY4" fmla="*/ 404481 h 606722"/>
                <a:gd name="connsiteX5" fmla="*/ 531614 w 607639"/>
                <a:gd name="connsiteY5" fmla="*/ 404481 h 606722"/>
                <a:gd name="connsiteX6" fmla="*/ 531703 w 607639"/>
                <a:gd name="connsiteY6" fmla="*/ 404481 h 606722"/>
                <a:gd name="connsiteX7" fmla="*/ 531792 w 607639"/>
                <a:gd name="connsiteY7" fmla="*/ 404481 h 606722"/>
                <a:gd name="connsiteX8" fmla="*/ 548075 w 607639"/>
                <a:gd name="connsiteY8" fmla="*/ 410525 h 606722"/>
                <a:gd name="connsiteX9" fmla="*/ 551456 w 607639"/>
                <a:gd name="connsiteY9" fmla="*/ 413991 h 606722"/>
                <a:gd name="connsiteX10" fmla="*/ 556973 w 607639"/>
                <a:gd name="connsiteY10" fmla="*/ 429012 h 606722"/>
                <a:gd name="connsiteX11" fmla="*/ 556973 w 607639"/>
                <a:gd name="connsiteY11" fmla="*/ 429811 h 606722"/>
                <a:gd name="connsiteX12" fmla="*/ 556973 w 607639"/>
                <a:gd name="connsiteY12" fmla="*/ 505625 h 606722"/>
                <a:gd name="connsiteX13" fmla="*/ 531614 w 607639"/>
                <a:gd name="connsiteY13" fmla="*/ 530867 h 606722"/>
                <a:gd name="connsiteX14" fmla="*/ 506343 w 607639"/>
                <a:gd name="connsiteY14" fmla="*/ 505625 h 606722"/>
                <a:gd name="connsiteX15" fmla="*/ 476001 w 607639"/>
                <a:gd name="connsiteY15" fmla="*/ 546065 h 606722"/>
                <a:gd name="connsiteX16" fmla="*/ 455714 w 607639"/>
                <a:gd name="connsiteY16" fmla="*/ 556197 h 606722"/>
                <a:gd name="connsiteX17" fmla="*/ 440498 w 607639"/>
                <a:gd name="connsiteY17" fmla="*/ 551131 h 606722"/>
                <a:gd name="connsiteX18" fmla="*/ 435515 w 607639"/>
                <a:gd name="connsiteY18" fmla="*/ 515757 h 606722"/>
                <a:gd name="connsiteX19" fmla="*/ 481073 w 607639"/>
                <a:gd name="connsiteY19" fmla="*/ 455053 h 606722"/>
                <a:gd name="connsiteX20" fmla="*/ 455714 w 607639"/>
                <a:gd name="connsiteY20" fmla="*/ 455053 h 606722"/>
                <a:gd name="connsiteX21" fmla="*/ 430443 w 607639"/>
                <a:gd name="connsiteY21" fmla="*/ 429811 h 606722"/>
                <a:gd name="connsiteX22" fmla="*/ 455714 w 607639"/>
                <a:gd name="connsiteY22" fmla="*/ 404481 h 606722"/>
                <a:gd name="connsiteX23" fmla="*/ 157786 w 607639"/>
                <a:gd name="connsiteY23" fmla="*/ 282117 h 606722"/>
                <a:gd name="connsiteX24" fmla="*/ 175710 w 607639"/>
                <a:gd name="connsiteY24" fmla="*/ 289516 h 606722"/>
                <a:gd name="connsiteX25" fmla="*/ 317685 w 607639"/>
                <a:gd name="connsiteY25" fmla="*/ 431277 h 606722"/>
                <a:gd name="connsiteX26" fmla="*/ 317685 w 607639"/>
                <a:gd name="connsiteY26" fmla="*/ 467006 h 606722"/>
                <a:gd name="connsiteX27" fmla="*/ 245229 w 607639"/>
                <a:gd name="connsiteY27" fmla="*/ 539441 h 606722"/>
                <a:gd name="connsiteX28" fmla="*/ 227248 w 607639"/>
                <a:gd name="connsiteY28" fmla="*/ 546818 h 606722"/>
                <a:gd name="connsiteX29" fmla="*/ 209357 w 607639"/>
                <a:gd name="connsiteY29" fmla="*/ 539441 h 606722"/>
                <a:gd name="connsiteX30" fmla="*/ 206241 w 607639"/>
                <a:gd name="connsiteY30" fmla="*/ 536242 h 606722"/>
                <a:gd name="connsiteX31" fmla="*/ 144734 w 607639"/>
                <a:gd name="connsiteY31" fmla="*/ 599079 h 606722"/>
                <a:gd name="connsiteX32" fmla="*/ 126753 w 607639"/>
                <a:gd name="connsiteY32" fmla="*/ 606722 h 606722"/>
                <a:gd name="connsiteX33" fmla="*/ 126575 w 607639"/>
                <a:gd name="connsiteY33" fmla="*/ 606722 h 606722"/>
                <a:gd name="connsiteX34" fmla="*/ 108684 w 607639"/>
                <a:gd name="connsiteY34" fmla="*/ 599256 h 606722"/>
                <a:gd name="connsiteX35" fmla="*/ 7388 w 607639"/>
                <a:gd name="connsiteY35" fmla="*/ 498113 h 606722"/>
                <a:gd name="connsiteX36" fmla="*/ 0 w 607639"/>
                <a:gd name="connsiteY36" fmla="*/ 480160 h 606722"/>
                <a:gd name="connsiteX37" fmla="*/ 7655 w 607639"/>
                <a:gd name="connsiteY37" fmla="*/ 462206 h 606722"/>
                <a:gd name="connsiteX38" fmla="*/ 70587 w 607639"/>
                <a:gd name="connsiteY38" fmla="*/ 400792 h 606722"/>
                <a:gd name="connsiteX39" fmla="*/ 67382 w 607639"/>
                <a:gd name="connsiteY39" fmla="*/ 397681 h 606722"/>
                <a:gd name="connsiteX40" fmla="*/ 59994 w 607639"/>
                <a:gd name="connsiteY40" fmla="*/ 379728 h 606722"/>
                <a:gd name="connsiteX41" fmla="*/ 67382 w 607639"/>
                <a:gd name="connsiteY41" fmla="*/ 361863 h 606722"/>
                <a:gd name="connsiteX42" fmla="*/ 139927 w 607639"/>
                <a:gd name="connsiteY42" fmla="*/ 289516 h 606722"/>
                <a:gd name="connsiteX43" fmla="*/ 157786 w 607639"/>
                <a:gd name="connsiteY43" fmla="*/ 282117 h 606722"/>
                <a:gd name="connsiteX44" fmla="*/ 363724 w 607639"/>
                <a:gd name="connsiteY44" fmla="*/ 101159 h 606722"/>
                <a:gd name="connsiteX45" fmla="*/ 353254 w 607639"/>
                <a:gd name="connsiteY45" fmla="*/ 105492 h 606722"/>
                <a:gd name="connsiteX46" fmla="*/ 320945 w 607639"/>
                <a:gd name="connsiteY46" fmla="*/ 137752 h 606722"/>
                <a:gd name="connsiteX47" fmla="*/ 323793 w 607639"/>
                <a:gd name="connsiteY47" fmla="*/ 139974 h 606722"/>
                <a:gd name="connsiteX48" fmla="*/ 335898 w 607639"/>
                <a:gd name="connsiteY48" fmla="*/ 148417 h 606722"/>
                <a:gd name="connsiteX49" fmla="*/ 341149 w 607639"/>
                <a:gd name="connsiteY49" fmla="*/ 151794 h 606722"/>
                <a:gd name="connsiteX50" fmla="*/ 359930 w 607639"/>
                <a:gd name="connsiteY50" fmla="*/ 162459 h 606722"/>
                <a:gd name="connsiteX51" fmla="*/ 408439 w 607639"/>
                <a:gd name="connsiteY51" fmla="*/ 198897 h 606722"/>
                <a:gd name="connsiteX52" fmla="*/ 444933 w 607639"/>
                <a:gd name="connsiteY52" fmla="*/ 247243 h 606722"/>
                <a:gd name="connsiteX53" fmla="*/ 455614 w 607639"/>
                <a:gd name="connsiteY53" fmla="*/ 266084 h 606722"/>
                <a:gd name="connsiteX54" fmla="*/ 458907 w 607639"/>
                <a:gd name="connsiteY54" fmla="*/ 271239 h 606722"/>
                <a:gd name="connsiteX55" fmla="*/ 467452 w 607639"/>
                <a:gd name="connsiteY55" fmla="*/ 283326 h 606722"/>
                <a:gd name="connsiteX56" fmla="*/ 469677 w 607639"/>
                <a:gd name="connsiteY56" fmla="*/ 286258 h 606722"/>
                <a:gd name="connsiteX57" fmla="*/ 501987 w 607639"/>
                <a:gd name="connsiteY57" fmla="*/ 253998 h 606722"/>
                <a:gd name="connsiteX58" fmla="*/ 501987 w 607639"/>
                <a:gd name="connsiteY58" fmla="*/ 233024 h 606722"/>
                <a:gd name="connsiteX59" fmla="*/ 374260 w 607639"/>
                <a:gd name="connsiteY59" fmla="*/ 105492 h 606722"/>
                <a:gd name="connsiteX60" fmla="*/ 363724 w 607639"/>
                <a:gd name="connsiteY60" fmla="*/ 101159 h 606722"/>
                <a:gd name="connsiteX61" fmla="*/ 177209 w 607639"/>
                <a:gd name="connsiteY61" fmla="*/ 50521 h 606722"/>
                <a:gd name="connsiteX62" fmla="*/ 195096 w 607639"/>
                <a:gd name="connsiteY62" fmla="*/ 57919 h 606722"/>
                <a:gd name="connsiteX63" fmla="*/ 195096 w 607639"/>
                <a:gd name="connsiteY63" fmla="*/ 93644 h 606722"/>
                <a:gd name="connsiteX64" fmla="*/ 137075 w 607639"/>
                <a:gd name="connsiteY64" fmla="*/ 151675 h 606722"/>
                <a:gd name="connsiteX65" fmla="*/ 151936 w 607639"/>
                <a:gd name="connsiteY65" fmla="*/ 151675 h 606722"/>
                <a:gd name="connsiteX66" fmla="*/ 177209 w 607639"/>
                <a:gd name="connsiteY66" fmla="*/ 176914 h 606722"/>
                <a:gd name="connsiteX67" fmla="*/ 151936 w 607639"/>
                <a:gd name="connsiteY67" fmla="*/ 202241 h 606722"/>
                <a:gd name="connsiteX68" fmla="*/ 75939 w 607639"/>
                <a:gd name="connsiteY68" fmla="*/ 202241 h 606722"/>
                <a:gd name="connsiteX69" fmla="*/ 59387 w 607639"/>
                <a:gd name="connsiteY69" fmla="*/ 196020 h 606722"/>
                <a:gd name="connsiteX70" fmla="*/ 55916 w 607639"/>
                <a:gd name="connsiteY70" fmla="*/ 192288 h 606722"/>
                <a:gd name="connsiteX71" fmla="*/ 50755 w 607639"/>
                <a:gd name="connsiteY71" fmla="*/ 178691 h 606722"/>
                <a:gd name="connsiteX72" fmla="*/ 50666 w 607639"/>
                <a:gd name="connsiteY72" fmla="*/ 176736 h 606722"/>
                <a:gd name="connsiteX73" fmla="*/ 50666 w 607639"/>
                <a:gd name="connsiteY73" fmla="*/ 101109 h 606722"/>
                <a:gd name="connsiteX74" fmla="*/ 75939 w 607639"/>
                <a:gd name="connsiteY74" fmla="*/ 75782 h 606722"/>
                <a:gd name="connsiteX75" fmla="*/ 101301 w 607639"/>
                <a:gd name="connsiteY75" fmla="*/ 101109 h 606722"/>
                <a:gd name="connsiteX76" fmla="*/ 101301 w 607639"/>
                <a:gd name="connsiteY76" fmla="*/ 115861 h 606722"/>
                <a:gd name="connsiteX77" fmla="*/ 159322 w 607639"/>
                <a:gd name="connsiteY77" fmla="*/ 57919 h 606722"/>
                <a:gd name="connsiteX78" fmla="*/ 177209 w 607639"/>
                <a:gd name="connsiteY78" fmla="*/ 50521 h 606722"/>
                <a:gd name="connsiteX79" fmla="*/ 480892 w 607639"/>
                <a:gd name="connsiteY79" fmla="*/ 0 h 606722"/>
                <a:gd name="connsiteX80" fmla="*/ 498960 w 607639"/>
                <a:gd name="connsiteY80" fmla="*/ 7376 h 606722"/>
                <a:gd name="connsiteX81" fmla="*/ 600162 w 607639"/>
                <a:gd name="connsiteY81" fmla="*/ 108513 h 606722"/>
                <a:gd name="connsiteX82" fmla="*/ 607639 w 607639"/>
                <a:gd name="connsiteY82" fmla="*/ 126554 h 606722"/>
                <a:gd name="connsiteX83" fmla="*/ 599984 w 607639"/>
                <a:gd name="connsiteY83" fmla="*/ 144507 h 606722"/>
                <a:gd name="connsiteX84" fmla="*/ 541417 w 607639"/>
                <a:gd name="connsiteY84" fmla="*/ 201741 h 606722"/>
                <a:gd name="connsiteX85" fmla="*/ 537768 w 607639"/>
                <a:gd name="connsiteY85" fmla="*/ 289724 h 606722"/>
                <a:gd name="connsiteX86" fmla="*/ 486499 w 607639"/>
                <a:gd name="connsiteY86" fmla="*/ 340915 h 606722"/>
                <a:gd name="connsiteX87" fmla="*/ 484719 w 607639"/>
                <a:gd name="connsiteY87" fmla="*/ 342159 h 606722"/>
                <a:gd name="connsiteX88" fmla="*/ 480002 w 607639"/>
                <a:gd name="connsiteY88" fmla="*/ 345270 h 606722"/>
                <a:gd name="connsiteX89" fmla="*/ 476530 w 607639"/>
                <a:gd name="connsiteY89" fmla="*/ 346869 h 606722"/>
                <a:gd name="connsiteX90" fmla="*/ 471190 w 607639"/>
                <a:gd name="connsiteY90" fmla="*/ 347847 h 606722"/>
                <a:gd name="connsiteX91" fmla="*/ 468609 w 607639"/>
                <a:gd name="connsiteY91" fmla="*/ 348380 h 606722"/>
                <a:gd name="connsiteX92" fmla="*/ 467452 w 607639"/>
                <a:gd name="connsiteY92" fmla="*/ 348114 h 606722"/>
                <a:gd name="connsiteX93" fmla="*/ 462111 w 607639"/>
                <a:gd name="connsiteY93" fmla="*/ 347047 h 606722"/>
                <a:gd name="connsiteX94" fmla="*/ 458373 w 607639"/>
                <a:gd name="connsiteY94" fmla="*/ 345981 h 606722"/>
                <a:gd name="connsiteX95" fmla="*/ 457305 w 607639"/>
                <a:gd name="connsiteY95" fmla="*/ 345714 h 606722"/>
                <a:gd name="connsiteX96" fmla="*/ 428911 w 607639"/>
                <a:gd name="connsiteY96" fmla="*/ 331494 h 606722"/>
                <a:gd name="connsiteX97" fmla="*/ 407282 w 607639"/>
                <a:gd name="connsiteY97" fmla="*/ 335049 h 606722"/>
                <a:gd name="connsiteX98" fmla="*/ 376308 w 607639"/>
                <a:gd name="connsiteY98" fmla="*/ 365888 h 606722"/>
                <a:gd name="connsiteX99" fmla="*/ 344265 w 607639"/>
                <a:gd name="connsiteY99" fmla="*/ 379219 h 606722"/>
                <a:gd name="connsiteX100" fmla="*/ 312133 w 607639"/>
                <a:gd name="connsiteY100" fmla="*/ 365888 h 606722"/>
                <a:gd name="connsiteX101" fmla="*/ 241194 w 607639"/>
                <a:gd name="connsiteY101" fmla="*/ 295057 h 606722"/>
                <a:gd name="connsiteX102" fmla="*/ 241194 w 607639"/>
                <a:gd name="connsiteY102" fmla="*/ 230891 h 606722"/>
                <a:gd name="connsiteX103" fmla="*/ 272079 w 607639"/>
                <a:gd name="connsiteY103" fmla="*/ 200052 h 606722"/>
                <a:gd name="connsiteX104" fmla="*/ 275551 w 607639"/>
                <a:gd name="connsiteY104" fmla="*/ 178456 h 606722"/>
                <a:gd name="connsiteX105" fmla="*/ 261398 w 607639"/>
                <a:gd name="connsiteY105" fmla="*/ 150106 h 606722"/>
                <a:gd name="connsiteX106" fmla="*/ 261131 w 607639"/>
                <a:gd name="connsiteY106" fmla="*/ 149039 h 606722"/>
                <a:gd name="connsiteX107" fmla="*/ 260063 w 607639"/>
                <a:gd name="connsiteY107" fmla="*/ 145307 h 606722"/>
                <a:gd name="connsiteX108" fmla="*/ 258995 w 607639"/>
                <a:gd name="connsiteY108" fmla="*/ 139974 h 606722"/>
                <a:gd name="connsiteX109" fmla="*/ 259262 w 607639"/>
                <a:gd name="connsiteY109" fmla="*/ 136242 h 606722"/>
                <a:gd name="connsiteX110" fmla="*/ 260241 w 607639"/>
                <a:gd name="connsiteY110" fmla="*/ 130909 h 606722"/>
                <a:gd name="connsiteX111" fmla="*/ 261754 w 607639"/>
                <a:gd name="connsiteY111" fmla="*/ 127443 h 606722"/>
                <a:gd name="connsiteX112" fmla="*/ 264959 w 607639"/>
                <a:gd name="connsiteY112" fmla="*/ 122733 h 606722"/>
                <a:gd name="connsiteX113" fmla="*/ 266116 w 607639"/>
                <a:gd name="connsiteY113" fmla="*/ 120955 h 606722"/>
                <a:gd name="connsiteX114" fmla="*/ 317384 w 607639"/>
                <a:gd name="connsiteY114" fmla="*/ 69676 h 606722"/>
                <a:gd name="connsiteX115" fmla="*/ 405591 w 607639"/>
                <a:gd name="connsiteY115" fmla="*/ 66121 h 606722"/>
                <a:gd name="connsiteX116" fmla="*/ 462912 w 607639"/>
                <a:gd name="connsiteY116" fmla="*/ 7554 h 606722"/>
                <a:gd name="connsiteX117" fmla="*/ 480892 w 607639"/>
                <a:gd name="connsiteY117"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607639" h="606722">
                  <a:moveTo>
                    <a:pt x="106370" y="436610"/>
                  </a:moveTo>
                  <a:lnTo>
                    <a:pt x="61329" y="480515"/>
                  </a:lnTo>
                  <a:lnTo>
                    <a:pt x="126397" y="545485"/>
                  </a:lnTo>
                  <a:lnTo>
                    <a:pt x="170369" y="500513"/>
                  </a:lnTo>
                  <a:close/>
                  <a:moveTo>
                    <a:pt x="455714" y="404481"/>
                  </a:moveTo>
                  <a:lnTo>
                    <a:pt x="531614" y="404481"/>
                  </a:lnTo>
                  <a:lnTo>
                    <a:pt x="531703" y="404481"/>
                  </a:lnTo>
                  <a:lnTo>
                    <a:pt x="531792" y="404481"/>
                  </a:lnTo>
                  <a:cubicBezTo>
                    <a:pt x="538020" y="404481"/>
                    <a:pt x="543715" y="406792"/>
                    <a:pt x="548075" y="410525"/>
                  </a:cubicBezTo>
                  <a:cubicBezTo>
                    <a:pt x="549321" y="411591"/>
                    <a:pt x="550388" y="412747"/>
                    <a:pt x="551456" y="413991"/>
                  </a:cubicBezTo>
                  <a:cubicBezTo>
                    <a:pt x="554748" y="418079"/>
                    <a:pt x="556795" y="423323"/>
                    <a:pt x="556973" y="429012"/>
                  </a:cubicBezTo>
                  <a:cubicBezTo>
                    <a:pt x="556973" y="429278"/>
                    <a:pt x="556973" y="429545"/>
                    <a:pt x="556973" y="429811"/>
                  </a:cubicBezTo>
                  <a:lnTo>
                    <a:pt x="556973" y="505625"/>
                  </a:lnTo>
                  <a:cubicBezTo>
                    <a:pt x="556973" y="519579"/>
                    <a:pt x="545673" y="530867"/>
                    <a:pt x="531614" y="530867"/>
                  </a:cubicBezTo>
                  <a:cubicBezTo>
                    <a:pt x="517644" y="530867"/>
                    <a:pt x="506343" y="519579"/>
                    <a:pt x="506343" y="505625"/>
                  </a:cubicBezTo>
                  <a:lnTo>
                    <a:pt x="476001" y="546065"/>
                  </a:lnTo>
                  <a:cubicBezTo>
                    <a:pt x="471018" y="552731"/>
                    <a:pt x="463366" y="556197"/>
                    <a:pt x="455714" y="556197"/>
                  </a:cubicBezTo>
                  <a:cubicBezTo>
                    <a:pt x="450375" y="556197"/>
                    <a:pt x="445125" y="554508"/>
                    <a:pt x="440498" y="551131"/>
                  </a:cubicBezTo>
                  <a:cubicBezTo>
                    <a:pt x="429375" y="542776"/>
                    <a:pt x="427062" y="526867"/>
                    <a:pt x="435515" y="515757"/>
                  </a:cubicBezTo>
                  <a:lnTo>
                    <a:pt x="481073" y="455053"/>
                  </a:lnTo>
                  <a:lnTo>
                    <a:pt x="455714" y="455053"/>
                  </a:lnTo>
                  <a:cubicBezTo>
                    <a:pt x="441744" y="455053"/>
                    <a:pt x="430443" y="443765"/>
                    <a:pt x="430443" y="429811"/>
                  </a:cubicBezTo>
                  <a:cubicBezTo>
                    <a:pt x="430443" y="415857"/>
                    <a:pt x="441744" y="404481"/>
                    <a:pt x="455714" y="404481"/>
                  </a:cubicBezTo>
                  <a:close/>
                  <a:moveTo>
                    <a:pt x="157786" y="282117"/>
                  </a:moveTo>
                  <a:cubicBezTo>
                    <a:pt x="164272" y="282117"/>
                    <a:pt x="170770" y="284584"/>
                    <a:pt x="175710" y="289516"/>
                  </a:cubicBezTo>
                  <a:lnTo>
                    <a:pt x="317685" y="431277"/>
                  </a:lnTo>
                  <a:cubicBezTo>
                    <a:pt x="327565" y="441142"/>
                    <a:pt x="327565" y="457140"/>
                    <a:pt x="317685" y="467006"/>
                  </a:cubicBezTo>
                  <a:lnTo>
                    <a:pt x="245229" y="539441"/>
                  </a:lnTo>
                  <a:cubicBezTo>
                    <a:pt x="240422" y="544152"/>
                    <a:pt x="234013" y="546818"/>
                    <a:pt x="227248" y="546818"/>
                  </a:cubicBezTo>
                  <a:cubicBezTo>
                    <a:pt x="220572" y="546818"/>
                    <a:pt x="214163" y="544152"/>
                    <a:pt x="209357" y="539441"/>
                  </a:cubicBezTo>
                  <a:lnTo>
                    <a:pt x="206241" y="536242"/>
                  </a:lnTo>
                  <a:lnTo>
                    <a:pt x="144734" y="599079"/>
                  </a:lnTo>
                  <a:cubicBezTo>
                    <a:pt x="140016" y="603967"/>
                    <a:pt x="133518" y="606633"/>
                    <a:pt x="126753" y="606722"/>
                  </a:cubicBezTo>
                  <a:lnTo>
                    <a:pt x="126575" y="606722"/>
                  </a:lnTo>
                  <a:cubicBezTo>
                    <a:pt x="119899" y="606722"/>
                    <a:pt x="113491" y="604056"/>
                    <a:pt x="108684" y="599256"/>
                  </a:cubicBezTo>
                  <a:lnTo>
                    <a:pt x="7388" y="498113"/>
                  </a:lnTo>
                  <a:cubicBezTo>
                    <a:pt x="2670" y="493403"/>
                    <a:pt x="0" y="486914"/>
                    <a:pt x="0" y="480160"/>
                  </a:cubicBezTo>
                  <a:cubicBezTo>
                    <a:pt x="89" y="473405"/>
                    <a:pt x="2759" y="466917"/>
                    <a:pt x="7655" y="462206"/>
                  </a:cubicBezTo>
                  <a:lnTo>
                    <a:pt x="70587" y="400792"/>
                  </a:lnTo>
                  <a:lnTo>
                    <a:pt x="67382" y="397681"/>
                  </a:lnTo>
                  <a:cubicBezTo>
                    <a:pt x="62665" y="392882"/>
                    <a:pt x="59994" y="386482"/>
                    <a:pt x="59994" y="379728"/>
                  </a:cubicBezTo>
                  <a:cubicBezTo>
                    <a:pt x="59994" y="373062"/>
                    <a:pt x="62665" y="366663"/>
                    <a:pt x="67382" y="361863"/>
                  </a:cubicBezTo>
                  <a:lnTo>
                    <a:pt x="139927" y="289516"/>
                  </a:lnTo>
                  <a:cubicBezTo>
                    <a:pt x="144823" y="284584"/>
                    <a:pt x="151299" y="282117"/>
                    <a:pt x="157786" y="282117"/>
                  </a:cubicBezTo>
                  <a:close/>
                  <a:moveTo>
                    <a:pt x="363724" y="101159"/>
                  </a:moveTo>
                  <a:cubicBezTo>
                    <a:pt x="359930" y="101159"/>
                    <a:pt x="356147" y="102604"/>
                    <a:pt x="353254" y="105492"/>
                  </a:cubicBezTo>
                  <a:lnTo>
                    <a:pt x="320945" y="137752"/>
                  </a:lnTo>
                  <a:cubicBezTo>
                    <a:pt x="321835" y="138463"/>
                    <a:pt x="322814" y="139174"/>
                    <a:pt x="323793" y="139974"/>
                  </a:cubicBezTo>
                  <a:cubicBezTo>
                    <a:pt x="327709" y="142818"/>
                    <a:pt x="331715" y="145662"/>
                    <a:pt x="335898" y="148417"/>
                  </a:cubicBezTo>
                  <a:cubicBezTo>
                    <a:pt x="337678" y="149572"/>
                    <a:pt x="339369" y="150728"/>
                    <a:pt x="341149" y="151794"/>
                  </a:cubicBezTo>
                  <a:cubicBezTo>
                    <a:pt x="347113" y="155527"/>
                    <a:pt x="353254" y="159082"/>
                    <a:pt x="359930" y="162459"/>
                  </a:cubicBezTo>
                  <a:cubicBezTo>
                    <a:pt x="376040" y="170724"/>
                    <a:pt x="392863" y="183344"/>
                    <a:pt x="408439" y="198897"/>
                  </a:cubicBezTo>
                  <a:cubicBezTo>
                    <a:pt x="424016" y="214449"/>
                    <a:pt x="436655" y="231246"/>
                    <a:pt x="444933" y="247243"/>
                  </a:cubicBezTo>
                  <a:cubicBezTo>
                    <a:pt x="448315" y="253998"/>
                    <a:pt x="451875" y="260130"/>
                    <a:pt x="455614" y="266084"/>
                  </a:cubicBezTo>
                  <a:cubicBezTo>
                    <a:pt x="456682" y="267862"/>
                    <a:pt x="457839" y="269550"/>
                    <a:pt x="458907" y="271239"/>
                  </a:cubicBezTo>
                  <a:cubicBezTo>
                    <a:pt x="461666" y="275416"/>
                    <a:pt x="464514" y="279504"/>
                    <a:pt x="467452" y="283326"/>
                  </a:cubicBezTo>
                  <a:cubicBezTo>
                    <a:pt x="468164" y="284303"/>
                    <a:pt x="468876" y="285281"/>
                    <a:pt x="469677" y="286258"/>
                  </a:cubicBezTo>
                  <a:lnTo>
                    <a:pt x="501987" y="253998"/>
                  </a:lnTo>
                  <a:cubicBezTo>
                    <a:pt x="507772" y="248221"/>
                    <a:pt x="507772" y="238800"/>
                    <a:pt x="501987" y="233024"/>
                  </a:cubicBezTo>
                  <a:lnTo>
                    <a:pt x="374260" y="105492"/>
                  </a:lnTo>
                  <a:cubicBezTo>
                    <a:pt x="371323" y="102604"/>
                    <a:pt x="367518" y="101159"/>
                    <a:pt x="363724" y="101159"/>
                  </a:cubicBezTo>
                  <a:close/>
                  <a:moveTo>
                    <a:pt x="177209" y="50521"/>
                  </a:moveTo>
                  <a:cubicBezTo>
                    <a:pt x="183683" y="50521"/>
                    <a:pt x="190157" y="52987"/>
                    <a:pt x="195096" y="57919"/>
                  </a:cubicBezTo>
                  <a:cubicBezTo>
                    <a:pt x="205063" y="67784"/>
                    <a:pt x="205063" y="83869"/>
                    <a:pt x="195096" y="93644"/>
                  </a:cubicBezTo>
                  <a:lnTo>
                    <a:pt x="137075" y="151675"/>
                  </a:lnTo>
                  <a:lnTo>
                    <a:pt x="151936" y="151675"/>
                  </a:lnTo>
                  <a:cubicBezTo>
                    <a:pt x="165908" y="151675"/>
                    <a:pt x="177209" y="162961"/>
                    <a:pt x="177209" y="176914"/>
                  </a:cubicBezTo>
                  <a:cubicBezTo>
                    <a:pt x="177209" y="190866"/>
                    <a:pt x="165908" y="202241"/>
                    <a:pt x="151936" y="202241"/>
                  </a:cubicBezTo>
                  <a:lnTo>
                    <a:pt x="75939" y="202241"/>
                  </a:lnTo>
                  <a:cubicBezTo>
                    <a:pt x="69621" y="202241"/>
                    <a:pt x="63836" y="199842"/>
                    <a:pt x="59387" y="196020"/>
                  </a:cubicBezTo>
                  <a:cubicBezTo>
                    <a:pt x="58141" y="194954"/>
                    <a:pt x="56984" y="193710"/>
                    <a:pt x="55916" y="192288"/>
                  </a:cubicBezTo>
                  <a:cubicBezTo>
                    <a:pt x="52980" y="188466"/>
                    <a:pt x="51111" y="183845"/>
                    <a:pt x="50755" y="178691"/>
                  </a:cubicBezTo>
                  <a:cubicBezTo>
                    <a:pt x="50666" y="178069"/>
                    <a:pt x="50666" y="177447"/>
                    <a:pt x="50666" y="176736"/>
                  </a:cubicBezTo>
                  <a:lnTo>
                    <a:pt x="50666" y="101109"/>
                  </a:lnTo>
                  <a:cubicBezTo>
                    <a:pt x="50666" y="87157"/>
                    <a:pt x="61968" y="75782"/>
                    <a:pt x="75939" y="75782"/>
                  </a:cubicBezTo>
                  <a:cubicBezTo>
                    <a:pt x="89910" y="75782"/>
                    <a:pt x="101301" y="87157"/>
                    <a:pt x="101301" y="101109"/>
                  </a:cubicBezTo>
                  <a:lnTo>
                    <a:pt x="101301" y="115861"/>
                  </a:lnTo>
                  <a:lnTo>
                    <a:pt x="159322" y="57919"/>
                  </a:lnTo>
                  <a:cubicBezTo>
                    <a:pt x="164261" y="52987"/>
                    <a:pt x="170735" y="50521"/>
                    <a:pt x="177209" y="50521"/>
                  </a:cubicBezTo>
                  <a:close/>
                  <a:moveTo>
                    <a:pt x="480892" y="0"/>
                  </a:moveTo>
                  <a:cubicBezTo>
                    <a:pt x="487122" y="0"/>
                    <a:pt x="494154" y="2666"/>
                    <a:pt x="498960" y="7376"/>
                  </a:cubicBezTo>
                  <a:lnTo>
                    <a:pt x="600162" y="108513"/>
                  </a:lnTo>
                  <a:cubicBezTo>
                    <a:pt x="604969" y="113312"/>
                    <a:pt x="607639" y="119800"/>
                    <a:pt x="607639" y="126554"/>
                  </a:cubicBezTo>
                  <a:cubicBezTo>
                    <a:pt x="607550" y="133309"/>
                    <a:pt x="604880" y="139708"/>
                    <a:pt x="599984" y="144507"/>
                  </a:cubicBezTo>
                  <a:lnTo>
                    <a:pt x="541417" y="201741"/>
                  </a:lnTo>
                  <a:cubicBezTo>
                    <a:pt x="562957" y="227425"/>
                    <a:pt x="561978" y="265640"/>
                    <a:pt x="537768" y="289724"/>
                  </a:cubicBezTo>
                  <a:lnTo>
                    <a:pt x="486499" y="340915"/>
                  </a:lnTo>
                  <a:cubicBezTo>
                    <a:pt x="485965" y="341537"/>
                    <a:pt x="485342" y="341715"/>
                    <a:pt x="484719" y="342159"/>
                  </a:cubicBezTo>
                  <a:cubicBezTo>
                    <a:pt x="483206" y="343403"/>
                    <a:pt x="481693" y="344470"/>
                    <a:pt x="480002" y="345270"/>
                  </a:cubicBezTo>
                  <a:cubicBezTo>
                    <a:pt x="478845" y="345892"/>
                    <a:pt x="477688" y="346425"/>
                    <a:pt x="476530" y="346869"/>
                  </a:cubicBezTo>
                  <a:cubicBezTo>
                    <a:pt x="474750" y="347403"/>
                    <a:pt x="472970" y="347669"/>
                    <a:pt x="471190" y="347847"/>
                  </a:cubicBezTo>
                  <a:cubicBezTo>
                    <a:pt x="470300" y="347936"/>
                    <a:pt x="469499" y="348380"/>
                    <a:pt x="468609" y="348380"/>
                  </a:cubicBezTo>
                  <a:cubicBezTo>
                    <a:pt x="468253" y="348380"/>
                    <a:pt x="467808" y="348114"/>
                    <a:pt x="467452" y="348114"/>
                  </a:cubicBezTo>
                  <a:cubicBezTo>
                    <a:pt x="465582" y="348025"/>
                    <a:pt x="463891" y="347580"/>
                    <a:pt x="462111" y="347047"/>
                  </a:cubicBezTo>
                  <a:cubicBezTo>
                    <a:pt x="460776" y="346692"/>
                    <a:pt x="459530" y="346514"/>
                    <a:pt x="458373" y="345981"/>
                  </a:cubicBezTo>
                  <a:cubicBezTo>
                    <a:pt x="458017" y="345892"/>
                    <a:pt x="457661" y="345892"/>
                    <a:pt x="457305" y="345714"/>
                  </a:cubicBezTo>
                  <a:lnTo>
                    <a:pt x="428911" y="331494"/>
                  </a:lnTo>
                  <a:cubicBezTo>
                    <a:pt x="421702" y="327940"/>
                    <a:pt x="412979" y="329273"/>
                    <a:pt x="407282" y="335049"/>
                  </a:cubicBezTo>
                  <a:lnTo>
                    <a:pt x="376308" y="365888"/>
                  </a:lnTo>
                  <a:cubicBezTo>
                    <a:pt x="367763" y="374509"/>
                    <a:pt x="356370" y="379219"/>
                    <a:pt x="344265" y="379219"/>
                  </a:cubicBezTo>
                  <a:cubicBezTo>
                    <a:pt x="332160" y="379219"/>
                    <a:pt x="320678" y="374509"/>
                    <a:pt x="312133" y="365888"/>
                  </a:cubicBezTo>
                  <a:lnTo>
                    <a:pt x="241194" y="295057"/>
                  </a:lnTo>
                  <a:cubicBezTo>
                    <a:pt x="223481" y="277371"/>
                    <a:pt x="223481" y="248576"/>
                    <a:pt x="241194" y="230891"/>
                  </a:cubicBezTo>
                  <a:lnTo>
                    <a:pt x="272079" y="200052"/>
                  </a:lnTo>
                  <a:cubicBezTo>
                    <a:pt x="277776" y="194364"/>
                    <a:pt x="279200" y="185655"/>
                    <a:pt x="275551" y="178456"/>
                  </a:cubicBezTo>
                  <a:lnTo>
                    <a:pt x="261398" y="150106"/>
                  </a:lnTo>
                  <a:cubicBezTo>
                    <a:pt x="261220" y="149750"/>
                    <a:pt x="261220" y="149395"/>
                    <a:pt x="261131" y="149039"/>
                  </a:cubicBezTo>
                  <a:cubicBezTo>
                    <a:pt x="260508" y="147884"/>
                    <a:pt x="260330" y="146640"/>
                    <a:pt x="260063" y="145307"/>
                  </a:cubicBezTo>
                  <a:cubicBezTo>
                    <a:pt x="259529" y="143529"/>
                    <a:pt x="259084" y="141841"/>
                    <a:pt x="258995" y="139974"/>
                  </a:cubicBezTo>
                  <a:cubicBezTo>
                    <a:pt x="258906" y="138730"/>
                    <a:pt x="259084" y="137486"/>
                    <a:pt x="259262" y="136242"/>
                  </a:cubicBezTo>
                  <a:cubicBezTo>
                    <a:pt x="259440" y="134375"/>
                    <a:pt x="259707" y="132687"/>
                    <a:pt x="260241" y="130909"/>
                  </a:cubicBezTo>
                  <a:cubicBezTo>
                    <a:pt x="260686" y="129754"/>
                    <a:pt x="261220" y="128599"/>
                    <a:pt x="261754" y="127443"/>
                  </a:cubicBezTo>
                  <a:cubicBezTo>
                    <a:pt x="262644" y="125755"/>
                    <a:pt x="263713" y="124155"/>
                    <a:pt x="264959" y="122733"/>
                  </a:cubicBezTo>
                  <a:cubicBezTo>
                    <a:pt x="265404" y="122111"/>
                    <a:pt x="265582" y="121400"/>
                    <a:pt x="266116" y="120955"/>
                  </a:cubicBezTo>
                  <a:lnTo>
                    <a:pt x="317384" y="69676"/>
                  </a:lnTo>
                  <a:cubicBezTo>
                    <a:pt x="341505" y="45592"/>
                    <a:pt x="379868" y="44525"/>
                    <a:pt x="405591" y="66121"/>
                  </a:cubicBezTo>
                  <a:lnTo>
                    <a:pt x="462912" y="7554"/>
                  </a:lnTo>
                  <a:cubicBezTo>
                    <a:pt x="467719" y="2755"/>
                    <a:pt x="474127" y="89"/>
                    <a:pt x="480892"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19" name="iṡļîḍé"/>
            <p:cNvSpPr/>
            <p:nvPr/>
          </p:nvSpPr>
          <p:spPr bwMode="auto">
            <a:xfrm>
              <a:off x="7366140" y="4694761"/>
              <a:ext cx="344710" cy="344189"/>
            </a:xfrm>
            <a:custGeom>
              <a:avLst/>
              <a:gdLst>
                <a:gd name="connsiteX0" fmla="*/ 257564 w 607639"/>
                <a:gd name="connsiteY0" fmla="*/ 92370 h 606722"/>
                <a:gd name="connsiteX1" fmla="*/ 277411 w 607639"/>
                <a:gd name="connsiteY1" fmla="*/ 112098 h 606722"/>
                <a:gd name="connsiteX2" fmla="*/ 277411 w 607639"/>
                <a:gd name="connsiteY2" fmla="*/ 329729 h 606722"/>
                <a:gd name="connsiteX3" fmla="*/ 495281 w 607639"/>
                <a:gd name="connsiteY3" fmla="*/ 329729 h 606722"/>
                <a:gd name="connsiteX4" fmla="*/ 515128 w 607639"/>
                <a:gd name="connsiteY4" fmla="*/ 349546 h 606722"/>
                <a:gd name="connsiteX5" fmla="*/ 257564 w 607639"/>
                <a:gd name="connsiteY5" fmla="*/ 606722 h 606722"/>
                <a:gd name="connsiteX6" fmla="*/ 0 w 607639"/>
                <a:gd name="connsiteY6" fmla="*/ 349546 h 606722"/>
                <a:gd name="connsiteX7" fmla="*/ 257564 w 607639"/>
                <a:gd name="connsiteY7" fmla="*/ 92370 h 606722"/>
                <a:gd name="connsiteX8" fmla="*/ 350027 w 607639"/>
                <a:gd name="connsiteY8" fmla="*/ 0 h 606722"/>
                <a:gd name="connsiteX9" fmla="*/ 607639 w 607639"/>
                <a:gd name="connsiteY9" fmla="*/ 257220 h 606722"/>
                <a:gd name="connsiteX10" fmla="*/ 587788 w 607639"/>
                <a:gd name="connsiteY10" fmla="*/ 277040 h 606722"/>
                <a:gd name="connsiteX11" fmla="*/ 350027 w 607639"/>
                <a:gd name="connsiteY11" fmla="*/ 277040 h 606722"/>
                <a:gd name="connsiteX12" fmla="*/ 330176 w 607639"/>
                <a:gd name="connsiteY12" fmla="*/ 257220 h 606722"/>
                <a:gd name="connsiteX13" fmla="*/ 330176 w 607639"/>
                <a:gd name="connsiteY13" fmla="*/ 19820 h 606722"/>
                <a:gd name="connsiteX14" fmla="*/ 350027 w 607639"/>
                <a:gd name="connsiteY14"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7639" h="606722">
                  <a:moveTo>
                    <a:pt x="257564" y="92370"/>
                  </a:moveTo>
                  <a:cubicBezTo>
                    <a:pt x="268511" y="92370"/>
                    <a:pt x="277411" y="101168"/>
                    <a:pt x="277411" y="112098"/>
                  </a:cubicBezTo>
                  <a:lnTo>
                    <a:pt x="277411" y="329729"/>
                  </a:lnTo>
                  <a:lnTo>
                    <a:pt x="495281" y="329729"/>
                  </a:lnTo>
                  <a:cubicBezTo>
                    <a:pt x="506228" y="329729"/>
                    <a:pt x="515128" y="338616"/>
                    <a:pt x="515128" y="349546"/>
                  </a:cubicBezTo>
                  <a:cubicBezTo>
                    <a:pt x="515128" y="491286"/>
                    <a:pt x="399607" y="606722"/>
                    <a:pt x="257564" y="606722"/>
                  </a:cubicBezTo>
                  <a:cubicBezTo>
                    <a:pt x="115521" y="606722"/>
                    <a:pt x="0" y="491286"/>
                    <a:pt x="0" y="349546"/>
                  </a:cubicBezTo>
                  <a:cubicBezTo>
                    <a:pt x="0" y="207717"/>
                    <a:pt x="115521" y="92370"/>
                    <a:pt x="257564" y="92370"/>
                  </a:cubicBezTo>
                  <a:close/>
                  <a:moveTo>
                    <a:pt x="350027" y="0"/>
                  </a:moveTo>
                  <a:cubicBezTo>
                    <a:pt x="492007" y="0"/>
                    <a:pt x="607639" y="115367"/>
                    <a:pt x="607639" y="257220"/>
                  </a:cubicBezTo>
                  <a:cubicBezTo>
                    <a:pt x="607639" y="268152"/>
                    <a:pt x="598737" y="277040"/>
                    <a:pt x="587788" y="277040"/>
                  </a:cubicBezTo>
                  <a:lnTo>
                    <a:pt x="350027" y="277040"/>
                  </a:lnTo>
                  <a:cubicBezTo>
                    <a:pt x="339078" y="277040"/>
                    <a:pt x="330176" y="268152"/>
                    <a:pt x="330176" y="257220"/>
                  </a:cubicBezTo>
                  <a:lnTo>
                    <a:pt x="330176" y="19820"/>
                  </a:lnTo>
                  <a:cubicBezTo>
                    <a:pt x="330176" y="8888"/>
                    <a:pt x="339078" y="0"/>
                    <a:pt x="350027"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21" name="îṣľiḓè"/>
            <p:cNvSpPr/>
            <p:nvPr/>
          </p:nvSpPr>
          <p:spPr bwMode="auto">
            <a:xfrm>
              <a:off x="4471521" y="1860106"/>
              <a:ext cx="353485" cy="240234"/>
            </a:xfrm>
            <a:custGeom>
              <a:avLst/>
              <a:gdLst>
                <a:gd name="connsiteX0" fmla="*/ 437011 w 604816"/>
                <a:gd name="connsiteY0" fmla="*/ 83550 h 411044"/>
                <a:gd name="connsiteX1" fmla="*/ 604816 w 604816"/>
                <a:gd name="connsiteY1" fmla="*/ 214450 h 411044"/>
                <a:gd name="connsiteX2" fmla="*/ 539177 w 604816"/>
                <a:gd name="connsiteY2" fmla="*/ 317799 h 411044"/>
                <a:gd name="connsiteX3" fmla="*/ 523523 w 604816"/>
                <a:gd name="connsiteY3" fmla="*/ 340690 h 411044"/>
                <a:gd name="connsiteX4" fmla="*/ 528878 w 604816"/>
                <a:gd name="connsiteY4" fmla="*/ 400177 h 411044"/>
                <a:gd name="connsiteX5" fmla="*/ 462004 w 604816"/>
                <a:gd name="connsiteY5" fmla="*/ 353300 h 411044"/>
                <a:gd name="connsiteX6" fmla="*/ 440033 w 604816"/>
                <a:gd name="connsiteY6" fmla="*/ 345213 h 411044"/>
                <a:gd name="connsiteX7" fmla="*/ 437011 w 604816"/>
                <a:gd name="connsiteY7" fmla="*/ 345350 h 411044"/>
                <a:gd name="connsiteX8" fmla="*/ 338279 w 604816"/>
                <a:gd name="connsiteY8" fmla="*/ 319992 h 411044"/>
                <a:gd name="connsiteX9" fmla="*/ 269207 w 604816"/>
                <a:gd name="connsiteY9" fmla="*/ 214450 h 411044"/>
                <a:gd name="connsiteX10" fmla="*/ 272091 w 604816"/>
                <a:gd name="connsiteY10" fmla="*/ 190189 h 411044"/>
                <a:gd name="connsiteX11" fmla="*/ 280467 w 604816"/>
                <a:gd name="connsiteY11" fmla="*/ 167299 h 411044"/>
                <a:gd name="connsiteX12" fmla="*/ 342948 w 604816"/>
                <a:gd name="connsiteY12" fmla="*/ 106166 h 411044"/>
                <a:gd name="connsiteX13" fmla="*/ 355581 w 604816"/>
                <a:gd name="connsiteY13" fmla="*/ 100135 h 411044"/>
                <a:gd name="connsiteX14" fmla="*/ 358602 w 604816"/>
                <a:gd name="connsiteY14" fmla="*/ 98765 h 411044"/>
                <a:gd name="connsiteX15" fmla="*/ 417375 w 604816"/>
                <a:gd name="connsiteY15" fmla="*/ 84509 h 411044"/>
                <a:gd name="connsiteX16" fmla="*/ 437011 w 604816"/>
                <a:gd name="connsiteY16" fmla="*/ 83550 h 411044"/>
                <a:gd name="connsiteX17" fmla="*/ 213353 w 604816"/>
                <a:gd name="connsiteY17" fmla="*/ 0 h 411044"/>
                <a:gd name="connsiteX18" fmla="*/ 340760 w 604816"/>
                <a:gd name="connsiteY18" fmla="*/ 33580 h 411044"/>
                <a:gd name="connsiteX19" fmla="*/ 331973 w 604816"/>
                <a:gd name="connsiteY19" fmla="*/ 37143 h 411044"/>
                <a:gd name="connsiteX20" fmla="*/ 327031 w 604816"/>
                <a:gd name="connsiteY20" fmla="*/ 39336 h 411044"/>
                <a:gd name="connsiteX21" fmla="*/ 310418 w 604816"/>
                <a:gd name="connsiteY21" fmla="*/ 47423 h 411044"/>
                <a:gd name="connsiteX22" fmla="*/ 306849 w 604816"/>
                <a:gd name="connsiteY22" fmla="*/ 49479 h 411044"/>
                <a:gd name="connsiteX23" fmla="*/ 294630 w 604816"/>
                <a:gd name="connsiteY23" fmla="*/ 56743 h 411044"/>
                <a:gd name="connsiteX24" fmla="*/ 289413 w 604816"/>
                <a:gd name="connsiteY24" fmla="*/ 60307 h 411044"/>
                <a:gd name="connsiteX25" fmla="*/ 279528 w 604816"/>
                <a:gd name="connsiteY25" fmla="*/ 67297 h 411044"/>
                <a:gd name="connsiteX26" fmla="*/ 274585 w 604816"/>
                <a:gd name="connsiteY26" fmla="*/ 71134 h 411044"/>
                <a:gd name="connsiteX27" fmla="*/ 264425 w 604816"/>
                <a:gd name="connsiteY27" fmla="*/ 79906 h 411044"/>
                <a:gd name="connsiteX28" fmla="*/ 261130 w 604816"/>
                <a:gd name="connsiteY28" fmla="*/ 82784 h 411044"/>
                <a:gd name="connsiteX29" fmla="*/ 249186 w 604816"/>
                <a:gd name="connsiteY29" fmla="*/ 95120 h 411044"/>
                <a:gd name="connsiteX30" fmla="*/ 246165 w 604816"/>
                <a:gd name="connsiteY30" fmla="*/ 98683 h 411044"/>
                <a:gd name="connsiteX31" fmla="*/ 238203 w 604816"/>
                <a:gd name="connsiteY31" fmla="*/ 108552 h 411044"/>
                <a:gd name="connsiteX32" fmla="*/ 234770 w 604816"/>
                <a:gd name="connsiteY32" fmla="*/ 113349 h 411044"/>
                <a:gd name="connsiteX33" fmla="*/ 228317 w 604816"/>
                <a:gd name="connsiteY33" fmla="*/ 123080 h 411044"/>
                <a:gd name="connsiteX34" fmla="*/ 225434 w 604816"/>
                <a:gd name="connsiteY34" fmla="*/ 127877 h 411044"/>
                <a:gd name="connsiteX35" fmla="*/ 218844 w 604816"/>
                <a:gd name="connsiteY35" fmla="*/ 140487 h 411044"/>
                <a:gd name="connsiteX36" fmla="*/ 217609 w 604816"/>
                <a:gd name="connsiteY36" fmla="*/ 142954 h 411044"/>
                <a:gd name="connsiteX37" fmla="*/ 211430 w 604816"/>
                <a:gd name="connsiteY37" fmla="*/ 158442 h 411044"/>
                <a:gd name="connsiteX38" fmla="*/ 209920 w 604816"/>
                <a:gd name="connsiteY38" fmla="*/ 163102 h 411044"/>
                <a:gd name="connsiteX39" fmla="*/ 206763 w 604816"/>
                <a:gd name="connsiteY39" fmla="*/ 174752 h 411044"/>
                <a:gd name="connsiteX40" fmla="*/ 205527 w 604816"/>
                <a:gd name="connsiteY40" fmla="*/ 180371 h 411044"/>
                <a:gd name="connsiteX41" fmla="*/ 203467 w 604816"/>
                <a:gd name="connsiteY41" fmla="*/ 192159 h 411044"/>
                <a:gd name="connsiteX42" fmla="*/ 202781 w 604816"/>
                <a:gd name="connsiteY42" fmla="*/ 197367 h 411044"/>
                <a:gd name="connsiteX43" fmla="*/ 201820 w 604816"/>
                <a:gd name="connsiteY43" fmla="*/ 214499 h 411044"/>
                <a:gd name="connsiteX44" fmla="*/ 203467 w 604816"/>
                <a:gd name="connsiteY44" fmla="*/ 236155 h 411044"/>
                <a:gd name="connsiteX45" fmla="*/ 204154 w 604816"/>
                <a:gd name="connsiteY45" fmla="*/ 241637 h 411044"/>
                <a:gd name="connsiteX46" fmla="*/ 208822 w 604816"/>
                <a:gd name="connsiteY46" fmla="*/ 262608 h 411044"/>
                <a:gd name="connsiteX47" fmla="*/ 208959 w 604816"/>
                <a:gd name="connsiteY47" fmla="*/ 263019 h 411044"/>
                <a:gd name="connsiteX48" fmla="*/ 216373 w 604816"/>
                <a:gd name="connsiteY48" fmla="*/ 282893 h 411044"/>
                <a:gd name="connsiteX49" fmla="*/ 218707 w 604816"/>
                <a:gd name="connsiteY49" fmla="*/ 287827 h 411044"/>
                <a:gd name="connsiteX50" fmla="*/ 229004 w 604816"/>
                <a:gd name="connsiteY50" fmla="*/ 307152 h 411044"/>
                <a:gd name="connsiteX51" fmla="*/ 229416 w 604816"/>
                <a:gd name="connsiteY51" fmla="*/ 307700 h 411044"/>
                <a:gd name="connsiteX52" fmla="*/ 242321 w 604816"/>
                <a:gd name="connsiteY52" fmla="*/ 325381 h 411044"/>
                <a:gd name="connsiteX53" fmla="*/ 245616 w 604816"/>
                <a:gd name="connsiteY53" fmla="*/ 329630 h 411044"/>
                <a:gd name="connsiteX54" fmla="*/ 249186 w 604816"/>
                <a:gd name="connsiteY54" fmla="*/ 333742 h 411044"/>
                <a:gd name="connsiteX55" fmla="*/ 213490 w 604816"/>
                <a:gd name="connsiteY55" fmla="*/ 336209 h 411044"/>
                <a:gd name="connsiteX56" fmla="*/ 213353 w 604816"/>
                <a:gd name="connsiteY56" fmla="*/ 336209 h 411044"/>
                <a:gd name="connsiteX57" fmla="*/ 187679 w 604816"/>
                <a:gd name="connsiteY57" fmla="*/ 344159 h 411044"/>
                <a:gd name="connsiteX58" fmla="*/ 87318 w 604816"/>
                <a:gd name="connsiteY58" fmla="*/ 411044 h 411044"/>
                <a:gd name="connsiteX59" fmla="*/ 99674 w 604816"/>
                <a:gd name="connsiteY59" fmla="*/ 324148 h 411044"/>
                <a:gd name="connsiteX60" fmla="*/ 84023 w 604816"/>
                <a:gd name="connsiteY60" fmla="*/ 301259 h 411044"/>
                <a:gd name="connsiteX61" fmla="*/ 0 w 604816"/>
                <a:gd name="connsiteY61" fmla="*/ 168036 h 411044"/>
                <a:gd name="connsiteX62" fmla="*/ 213353 w 604816"/>
                <a:gd name="connsiteY62" fmla="*/ 0 h 411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604816" h="411044">
                  <a:moveTo>
                    <a:pt x="437011" y="83550"/>
                  </a:moveTo>
                  <a:cubicBezTo>
                    <a:pt x="529565" y="83550"/>
                    <a:pt x="604816" y="142215"/>
                    <a:pt x="604816" y="214450"/>
                  </a:cubicBezTo>
                  <a:cubicBezTo>
                    <a:pt x="604816" y="254885"/>
                    <a:pt x="580922" y="292579"/>
                    <a:pt x="539177" y="317799"/>
                  </a:cubicBezTo>
                  <a:cubicBezTo>
                    <a:pt x="530938" y="322871"/>
                    <a:pt x="525308" y="331095"/>
                    <a:pt x="523523" y="340690"/>
                  </a:cubicBezTo>
                  <a:cubicBezTo>
                    <a:pt x="519953" y="360564"/>
                    <a:pt x="522974" y="381125"/>
                    <a:pt x="528878" y="400177"/>
                  </a:cubicBezTo>
                  <a:cubicBezTo>
                    <a:pt x="505122" y="387156"/>
                    <a:pt x="481366" y="370022"/>
                    <a:pt x="462004" y="353300"/>
                  </a:cubicBezTo>
                  <a:cubicBezTo>
                    <a:pt x="455824" y="348091"/>
                    <a:pt x="448134" y="345213"/>
                    <a:pt x="440033" y="345213"/>
                  </a:cubicBezTo>
                  <a:cubicBezTo>
                    <a:pt x="438934" y="345213"/>
                    <a:pt x="437835" y="345350"/>
                    <a:pt x="437011" y="345350"/>
                  </a:cubicBezTo>
                  <a:cubicBezTo>
                    <a:pt x="401308" y="345350"/>
                    <a:pt x="367253" y="336577"/>
                    <a:pt x="338279" y="319992"/>
                  </a:cubicBezTo>
                  <a:cubicBezTo>
                    <a:pt x="295023" y="295183"/>
                    <a:pt x="269207" y="255844"/>
                    <a:pt x="269207" y="214450"/>
                  </a:cubicBezTo>
                  <a:cubicBezTo>
                    <a:pt x="269207" y="206089"/>
                    <a:pt x="270168" y="198002"/>
                    <a:pt x="272091" y="190189"/>
                  </a:cubicBezTo>
                  <a:cubicBezTo>
                    <a:pt x="274013" y="182239"/>
                    <a:pt x="276760" y="174563"/>
                    <a:pt x="280467" y="167299"/>
                  </a:cubicBezTo>
                  <a:cubicBezTo>
                    <a:pt x="292826" y="142352"/>
                    <a:pt x="314797" y="121107"/>
                    <a:pt x="342948" y="106166"/>
                  </a:cubicBezTo>
                  <a:cubicBezTo>
                    <a:pt x="347067" y="103973"/>
                    <a:pt x="351187" y="102054"/>
                    <a:pt x="355581" y="100135"/>
                  </a:cubicBezTo>
                  <a:cubicBezTo>
                    <a:pt x="356542" y="99724"/>
                    <a:pt x="357503" y="99176"/>
                    <a:pt x="358602" y="98765"/>
                  </a:cubicBezTo>
                  <a:cubicBezTo>
                    <a:pt x="376454" y="91363"/>
                    <a:pt x="396228" y="86428"/>
                    <a:pt x="417375" y="84509"/>
                  </a:cubicBezTo>
                  <a:cubicBezTo>
                    <a:pt x="423829" y="83824"/>
                    <a:pt x="430283" y="83550"/>
                    <a:pt x="437011" y="83550"/>
                  </a:cubicBezTo>
                  <a:close/>
                  <a:moveTo>
                    <a:pt x="213353" y="0"/>
                  </a:moveTo>
                  <a:cubicBezTo>
                    <a:pt x="259757" y="0"/>
                    <a:pt x="304377" y="12061"/>
                    <a:pt x="340760" y="33580"/>
                  </a:cubicBezTo>
                  <a:cubicBezTo>
                    <a:pt x="337740" y="34676"/>
                    <a:pt x="334856" y="36047"/>
                    <a:pt x="331973" y="37143"/>
                  </a:cubicBezTo>
                  <a:cubicBezTo>
                    <a:pt x="330326" y="37966"/>
                    <a:pt x="328678" y="38514"/>
                    <a:pt x="327031" y="39336"/>
                  </a:cubicBezTo>
                  <a:cubicBezTo>
                    <a:pt x="321264" y="41803"/>
                    <a:pt x="315773" y="44545"/>
                    <a:pt x="310418" y="47423"/>
                  </a:cubicBezTo>
                  <a:cubicBezTo>
                    <a:pt x="309183" y="48108"/>
                    <a:pt x="308084" y="48793"/>
                    <a:pt x="306849" y="49479"/>
                  </a:cubicBezTo>
                  <a:cubicBezTo>
                    <a:pt x="302730" y="51809"/>
                    <a:pt x="298611" y="54139"/>
                    <a:pt x="294630" y="56743"/>
                  </a:cubicBezTo>
                  <a:cubicBezTo>
                    <a:pt x="292845" y="57839"/>
                    <a:pt x="291060" y="59073"/>
                    <a:pt x="289413" y="60307"/>
                  </a:cubicBezTo>
                  <a:cubicBezTo>
                    <a:pt x="285980" y="62500"/>
                    <a:pt x="282685" y="64830"/>
                    <a:pt x="279528" y="67297"/>
                  </a:cubicBezTo>
                  <a:cubicBezTo>
                    <a:pt x="277880" y="68530"/>
                    <a:pt x="276233" y="69901"/>
                    <a:pt x="274585" y="71134"/>
                  </a:cubicBezTo>
                  <a:cubicBezTo>
                    <a:pt x="271015" y="74013"/>
                    <a:pt x="267720" y="76891"/>
                    <a:pt x="264425" y="79906"/>
                  </a:cubicBezTo>
                  <a:cubicBezTo>
                    <a:pt x="263327" y="80866"/>
                    <a:pt x="262229" y="81825"/>
                    <a:pt x="261130" y="82784"/>
                  </a:cubicBezTo>
                  <a:cubicBezTo>
                    <a:pt x="257012" y="86759"/>
                    <a:pt x="253030" y="90871"/>
                    <a:pt x="249186" y="95120"/>
                  </a:cubicBezTo>
                  <a:cubicBezTo>
                    <a:pt x="248088" y="96216"/>
                    <a:pt x="247264" y="97450"/>
                    <a:pt x="246165" y="98683"/>
                  </a:cubicBezTo>
                  <a:cubicBezTo>
                    <a:pt x="243420" y="101836"/>
                    <a:pt x="240811" y="105125"/>
                    <a:pt x="238203" y="108552"/>
                  </a:cubicBezTo>
                  <a:cubicBezTo>
                    <a:pt x="237104" y="110197"/>
                    <a:pt x="235869" y="111704"/>
                    <a:pt x="234770" y="113349"/>
                  </a:cubicBezTo>
                  <a:cubicBezTo>
                    <a:pt x="232573" y="116501"/>
                    <a:pt x="230377" y="119791"/>
                    <a:pt x="228317" y="123080"/>
                  </a:cubicBezTo>
                  <a:cubicBezTo>
                    <a:pt x="227356" y="124725"/>
                    <a:pt x="226395" y="126233"/>
                    <a:pt x="225434" y="127877"/>
                  </a:cubicBezTo>
                  <a:cubicBezTo>
                    <a:pt x="223100" y="132126"/>
                    <a:pt x="220904" y="136238"/>
                    <a:pt x="218844" y="140487"/>
                  </a:cubicBezTo>
                  <a:cubicBezTo>
                    <a:pt x="218432" y="141309"/>
                    <a:pt x="218021" y="142132"/>
                    <a:pt x="217609" y="142954"/>
                  </a:cubicBezTo>
                  <a:cubicBezTo>
                    <a:pt x="215275" y="148025"/>
                    <a:pt x="213215" y="153233"/>
                    <a:pt x="211430" y="158442"/>
                  </a:cubicBezTo>
                  <a:cubicBezTo>
                    <a:pt x="210881" y="159949"/>
                    <a:pt x="210469" y="161457"/>
                    <a:pt x="209920" y="163102"/>
                  </a:cubicBezTo>
                  <a:cubicBezTo>
                    <a:pt x="208685" y="166940"/>
                    <a:pt x="207724" y="170777"/>
                    <a:pt x="206763" y="174752"/>
                  </a:cubicBezTo>
                  <a:cubicBezTo>
                    <a:pt x="206213" y="176671"/>
                    <a:pt x="205801" y="178453"/>
                    <a:pt x="205527" y="180371"/>
                  </a:cubicBezTo>
                  <a:cubicBezTo>
                    <a:pt x="204703" y="184209"/>
                    <a:pt x="204017" y="188184"/>
                    <a:pt x="203467" y="192159"/>
                  </a:cubicBezTo>
                  <a:cubicBezTo>
                    <a:pt x="203193" y="193940"/>
                    <a:pt x="202918" y="195585"/>
                    <a:pt x="202781" y="197367"/>
                  </a:cubicBezTo>
                  <a:cubicBezTo>
                    <a:pt x="202232" y="203123"/>
                    <a:pt x="201820" y="208743"/>
                    <a:pt x="201820" y="214499"/>
                  </a:cubicBezTo>
                  <a:cubicBezTo>
                    <a:pt x="201820" y="221901"/>
                    <a:pt x="202506" y="229028"/>
                    <a:pt x="203467" y="236155"/>
                  </a:cubicBezTo>
                  <a:cubicBezTo>
                    <a:pt x="203605" y="238074"/>
                    <a:pt x="203879" y="239719"/>
                    <a:pt x="204154" y="241637"/>
                  </a:cubicBezTo>
                  <a:cubicBezTo>
                    <a:pt x="205390" y="248627"/>
                    <a:pt x="206763" y="255755"/>
                    <a:pt x="208822" y="262608"/>
                  </a:cubicBezTo>
                  <a:cubicBezTo>
                    <a:pt x="208822" y="262745"/>
                    <a:pt x="208959" y="262882"/>
                    <a:pt x="208959" y="263019"/>
                  </a:cubicBezTo>
                  <a:cubicBezTo>
                    <a:pt x="211019" y="269735"/>
                    <a:pt x="213627" y="276451"/>
                    <a:pt x="216373" y="282893"/>
                  </a:cubicBezTo>
                  <a:cubicBezTo>
                    <a:pt x="217197" y="284537"/>
                    <a:pt x="217883" y="286182"/>
                    <a:pt x="218707" y="287827"/>
                  </a:cubicBezTo>
                  <a:cubicBezTo>
                    <a:pt x="221727" y="294406"/>
                    <a:pt x="225160" y="300847"/>
                    <a:pt x="229004" y="307152"/>
                  </a:cubicBezTo>
                  <a:cubicBezTo>
                    <a:pt x="229141" y="307289"/>
                    <a:pt x="229278" y="307563"/>
                    <a:pt x="229416" y="307700"/>
                  </a:cubicBezTo>
                  <a:cubicBezTo>
                    <a:pt x="233260" y="313731"/>
                    <a:pt x="237653" y="319625"/>
                    <a:pt x="242321" y="325381"/>
                  </a:cubicBezTo>
                  <a:cubicBezTo>
                    <a:pt x="243420" y="326752"/>
                    <a:pt x="244518" y="328122"/>
                    <a:pt x="245616" y="329630"/>
                  </a:cubicBezTo>
                  <a:cubicBezTo>
                    <a:pt x="246852" y="331001"/>
                    <a:pt x="247950" y="332371"/>
                    <a:pt x="249186" y="333742"/>
                  </a:cubicBezTo>
                  <a:cubicBezTo>
                    <a:pt x="237379" y="335387"/>
                    <a:pt x="225572" y="336209"/>
                    <a:pt x="213490" y="336209"/>
                  </a:cubicBezTo>
                  <a:lnTo>
                    <a:pt x="213353" y="336209"/>
                  </a:lnTo>
                  <a:cubicBezTo>
                    <a:pt x="204154" y="335661"/>
                    <a:pt x="194681" y="337991"/>
                    <a:pt x="187679" y="344159"/>
                  </a:cubicBezTo>
                  <a:cubicBezTo>
                    <a:pt x="158847" y="368692"/>
                    <a:pt x="122602" y="394323"/>
                    <a:pt x="87318" y="411044"/>
                  </a:cubicBezTo>
                  <a:cubicBezTo>
                    <a:pt x="97890" y="384317"/>
                    <a:pt x="105029" y="353479"/>
                    <a:pt x="99674" y="324148"/>
                  </a:cubicBezTo>
                  <a:cubicBezTo>
                    <a:pt x="98027" y="314691"/>
                    <a:pt x="92261" y="306330"/>
                    <a:pt x="84023" y="301259"/>
                  </a:cubicBezTo>
                  <a:cubicBezTo>
                    <a:pt x="30616" y="268912"/>
                    <a:pt x="0" y="220393"/>
                    <a:pt x="0" y="168036"/>
                  </a:cubicBezTo>
                  <a:cubicBezTo>
                    <a:pt x="0" y="75383"/>
                    <a:pt x="95693" y="0"/>
                    <a:pt x="213353" y="0"/>
                  </a:cubicBezTo>
                  <a:close/>
                </a:path>
              </a:pathLst>
            </a:custGeom>
            <a:solidFill>
              <a:schemeClr val="bg1"/>
            </a:solidFill>
            <a:ln>
              <a:noFill/>
            </a:ln>
          </p:spPr>
          <p:txBody>
            <a:bodyPr vert="horz" wrap="square" lIns="91440" tIns="45720" rIns="91440" bIns="45720" numCol="1" anchor="t" anchorCtr="0" compatLnSpc="1">
              <a:normAutofit fontScale="6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22" name="iṧḷíde"/>
            <p:cNvSpPr/>
            <p:nvPr/>
          </p:nvSpPr>
          <p:spPr bwMode="auto">
            <a:xfrm>
              <a:off x="3875298" y="3251795"/>
              <a:ext cx="340948" cy="340433"/>
            </a:xfrm>
            <a:custGeom>
              <a:avLst/>
              <a:gdLst>
                <a:gd name="T0" fmla="*/ 3413 w 6827"/>
                <a:gd name="T1" fmla="*/ 0 h 6827"/>
                <a:gd name="T2" fmla="*/ 0 w 6827"/>
                <a:gd name="T3" fmla="*/ 3413 h 6827"/>
                <a:gd name="T4" fmla="*/ 3413 w 6827"/>
                <a:gd name="T5" fmla="*/ 6827 h 6827"/>
                <a:gd name="T6" fmla="*/ 6827 w 6827"/>
                <a:gd name="T7" fmla="*/ 3413 h 6827"/>
                <a:gd name="T8" fmla="*/ 3413 w 6827"/>
                <a:gd name="T9" fmla="*/ 0 h 6827"/>
                <a:gd name="T10" fmla="*/ 5017 w 6827"/>
                <a:gd name="T11" fmla="*/ 3033 h 6827"/>
                <a:gd name="T12" fmla="*/ 3431 w 6827"/>
                <a:gd name="T13" fmla="*/ 4619 h 6827"/>
                <a:gd name="T14" fmla="*/ 2802 w 6827"/>
                <a:gd name="T15" fmla="*/ 4619 h 6827"/>
                <a:gd name="T16" fmla="*/ 1884 w 6827"/>
                <a:gd name="T17" fmla="*/ 3701 h 6827"/>
                <a:gd name="T18" fmla="*/ 1884 w 6827"/>
                <a:gd name="T19" fmla="*/ 3072 h 6827"/>
                <a:gd name="T20" fmla="*/ 2514 w 6827"/>
                <a:gd name="T21" fmla="*/ 3072 h 6827"/>
                <a:gd name="T22" fmla="*/ 3117 w 6827"/>
                <a:gd name="T23" fmla="*/ 3674 h 6827"/>
                <a:gd name="T24" fmla="*/ 4387 w 6827"/>
                <a:gd name="T25" fmla="*/ 2404 h 6827"/>
                <a:gd name="T26" fmla="*/ 5017 w 6827"/>
                <a:gd name="T27" fmla="*/ 2404 h 6827"/>
                <a:gd name="T28" fmla="*/ 5017 w 6827"/>
                <a:gd name="T29" fmla="*/ 3033 h 6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827" h="6827">
                  <a:moveTo>
                    <a:pt x="3413" y="0"/>
                  </a:moveTo>
                  <a:cubicBezTo>
                    <a:pt x="1531" y="0"/>
                    <a:pt x="0" y="1531"/>
                    <a:pt x="0" y="3413"/>
                  </a:cubicBezTo>
                  <a:cubicBezTo>
                    <a:pt x="0" y="5295"/>
                    <a:pt x="1531" y="6827"/>
                    <a:pt x="3413" y="6827"/>
                  </a:cubicBezTo>
                  <a:cubicBezTo>
                    <a:pt x="5296" y="6827"/>
                    <a:pt x="6827" y="5295"/>
                    <a:pt x="6827" y="3413"/>
                  </a:cubicBezTo>
                  <a:cubicBezTo>
                    <a:pt x="6827" y="1531"/>
                    <a:pt x="5296" y="0"/>
                    <a:pt x="3413" y="0"/>
                  </a:cubicBezTo>
                  <a:close/>
                  <a:moveTo>
                    <a:pt x="5017" y="3033"/>
                  </a:moveTo>
                  <a:lnTo>
                    <a:pt x="3431" y="4619"/>
                  </a:lnTo>
                  <a:cubicBezTo>
                    <a:pt x="3257" y="4792"/>
                    <a:pt x="2976" y="4792"/>
                    <a:pt x="2802" y="4619"/>
                  </a:cubicBezTo>
                  <a:lnTo>
                    <a:pt x="1884" y="3701"/>
                  </a:lnTo>
                  <a:cubicBezTo>
                    <a:pt x="1710" y="3527"/>
                    <a:pt x="1710" y="3245"/>
                    <a:pt x="1884" y="3072"/>
                  </a:cubicBezTo>
                  <a:cubicBezTo>
                    <a:pt x="2058" y="2898"/>
                    <a:pt x="2340" y="2898"/>
                    <a:pt x="2514" y="3072"/>
                  </a:cubicBezTo>
                  <a:lnTo>
                    <a:pt x="3117" y="3674"/>
                  </a:lnTo>
                  <a:lnTo>
                    <a:pt x="4387" y="2404"/>
                  </a:lnTo>
                  <a:cubicBezTo>
                    <a:pt x="4561" y="2230"/>
                    <a:pt x="4843" y="2230"/>
                    <a:pt x="5017" y="2404"/>
                  </a:cubicBezTo>
                  <a:cubicBezTo>
                    <a:pt x="5190" y="2578"/>
                    <a:pt x="5190" y="2859"/>
                    <a:pt x="5017" y="3033"/>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23" name="ïslíḓé"/>
            <p:cNvSpPr/>
            <p:nvPr/>
          </p:nvSpPr>
          <p:spPr bwMode="auto">
            <a:xfrm>
              <a:off x="7360651" y="1810393"/>
              <a:ext cx="343455" cy="339662"/>
            </a:xfrm>
            <a:custGeom>
              <a:avLst/>
              <a:gdLst>
                <a:gd name="connsiteX0" fmla="*/ 466437 w 600511"/>
                <a:gd name="connsiteY0" fmla="*/ 421770 h 593879"/>
                <a:gd name="connsiteX1" fmla="*/ 504684 w 600511"/>
                <a:gd name="connsiteY1" fmla="*/ 459981 h 593879"/>
                <a:gd name="connsiteX2" fmla="*/ 466437 w 600511"/>
                <a:gd name="connsiteY2" fmla="*/ 498192 h 593879"/>
                <a:gd name="connsiteX3" fmla="*/ 428190 w 600511"/>
                <a:gd name="connsiteY3" fmla="*/ 459981 h 593879"/>
                <a:gd name="connsiteX4" fmla="*/ 466437 w 600511"/>
                <a:gd name="connsiteY4" fmla="*/ 421770 h 593879"/>
                <a:gd name="connsiteX5" fmla="*/ 453390 w 600511"/>
                <a:gd name="connsiteY5" fmla="*/ 375066 h 593879"/>
                <a:gd name="connsiteX6" fmla="*/ 421127 w 600511"/>
                <a:gd name="connsiteY6" fmla="*/ 386990 h 593879"/>
                <a:gd name="connsiteX7" fmla="*/ 418868 w 600511"/>
                <a:gd name="connsiteY7" fmla="*/ 392146 h 593879"/>
                <a:gd name="connsiteX8" fmla="*/ 424031 w 600511"/>
                <a:gd name="connsiteY8" fmla="*/ 406325 h 593879"/>
                <a:gd name="connsiteX9" fmla="*/ 423385 w 600511"/>
                <a:gd name="connsiteY9" fmla="*/ 411481 h 593879"/>
                <a:gd name="connsiteX10" fmla="*/ 416287 w 600511"/>
                <a:gd name="connsiteY10" fmla="*/ 413737 h 593879"/>
                <a:gd name="connsiteX11" fmla="*/ 402414 w 600511"/>
                <a:gd name="connsiteY11" fmla="*/ 407292 h 593879"/>
                <a:gd name="connsiteX12" fmla="*/ 397252 w 600511"/>
                <a:gd name="connsiteY12" fmla="*/ 409226 h 593879"/>
                <a:gd name="connsiteX13" fmla="*/ 383056 w 600511"/>
                <a:gd name="connsiteY13" fmla="*/ 440485 h 593879"/>
                <a:gd name="connsiteX14" fmla="*/ 384669 w 600511"/>
                <a:gd name="connsiteY14" fmla="*/ 445318 h 593879"/>
                <a:gd name="connsiteX15" fmla="*/ 398542 w 600511"/>
                <a:gd name="connsiteY15" fmla="*/ 451764 h 593879"/>
                <a:gd name="connsiteX16" fmla="*/ 401769 w 600511"/>
                <a:gd name="connsiteY16" fmla="*/ 455953 h 593879"/>
                <a:gd name="connsiteX17" fmla="*/ 398220 w 600511"/>
                <a:gd name="connsiteY17" fmla="*/ 462720 h 593879"/>
                <a:gd name="connsiteX18" fmla="*/ 384024 w 600511"/>
                <a:gd name="connsiteY18" fmla="*/ 467876 h 593879"/>
                <a:gd name="connsiteX19" fmla="*/ 381766 w 600511"/>
                <a:gd name="connsiteY19" fmla="*/ 472710 h 593879"/>
                <a:gd name="connsiteX20" fmla="*/ 393380 w 600511"/>
                <a:gd name="connsiteY20" fmla="*/ 504936 h 593879"/>
                <a:gd name="connsiteX21" fmla="*/ 398542 w 600511"/>
                <a:gd name="connsiteY21" fmla="*/ 507192 h 593879"/>
                <a:gd name="connsiteX22" fmla="*/ 412738 w 600511"/>
                <a:gd name="connsiteY22" fmla="*/ 502036 h 593879"/>
                <a:gd name="connsiteX23" fmla="*/ 417900 w 600511"/>
                <a:gd name="connsiteY23" fmla="*/ 502680 h 593879"/>
                <a:gd name="connsiteX24" fmla="*/ 420159 w 600511"/>
                <a:gd name="connsiteY24" fmla="*/ 510092 h 593879"/>
                <a:gd name="connsiteX25" fmla="*/ 413706 w 600511"/>
                <a:gd name="connsiteY25" fmla="*/ 523949 h 593879"/>
                <a:gd name="connsiteX26" fmla="*/ 415642 w 600511"/>
                <a:gd name="connsiteY26" fmla="*/ 528783 h 593879"/>
                <a:gd name="connsiteX27" fmla="*/ 446937 w 600511"/>
                <a:gd name="connsiteY27" fmla="*/ 543285 h 593879"/>
                <a:gd name="connsiteX28" fmla="*/ 451777 w 600511"/>
                <a:gd name="connsiteY28" fmla="*/ 541351 h 593879"/>
                <a:gd name="connsiteX29" fmla="*/ 458230 w 600511"/>
                <a:gd name="connsiteY29" fmla="*/ 527494 h 593879"/>
                <a:gd name="connsiteX30" fmla="*/ 462424 w 600511"/>
                <a:gd name="connsiteY30" fmla="*/ 524272 h 593879"/>
                <a:gd name="connsiteX31" fmla="*/ 469199 w 600511"/>
                <a:gd name="connsiteY31" fmla="*/ 528139 h 593879"/>
                <a:gd name="connsiteX32" fmla="*/ 474361 w 600511"/>
                <a:gd name="connsiteY32" fmla="*/ 542318 h 593879"/>
                <a:gd name="connsiteX33" fmla="*/ 479201 w 600511"/>
                <a:gd name="connsiteY33" fmla="*/ 544574 h 593879"/>
                <a:gd name="connsiteX34" fmla="*/ 511464 w 600511"/>
                <a:gd name="connsiteY34" fmla="*/ 532650 h 593879"/>
                <a:gd name="connsiteX35" fmla="*/ 513723 w 600511"/>
                <a:gd name="connsiteY35" fmla="*/ 527816 h 593879"/>
                <a:gd name="connsiteX36" fmla="*/ 508560 w 600511"/>
                <a:gd name="connsiteY36" fmla="*/ 513315 h 593879"/>
                <a:gd name="connsiteX37" fmla="*/ 509206 w 600511"/>
                <a:gd name="connsiteY37" fmla="*/ 508159 h 593879"/>
                <a:gd name="connsiteX38" fmla="*/ 516626 w 600511"/>
                <a:gd name="connsiteY38" fmla="*/ 506225 h 593879"/>
                <a:gd name="connsiteX39" fmla="*/ 530500 w 600511"/>
                <a:gd name="connsiteY39" fmla="*/ 512348 h 593879"/>
                <a:gd name="connsiteX40" fmla="*/ 535339 w 600511"/>
                <a:gd name="connsiteY40" fmla="*/ 510737 h 593879"/>
                <a:gd name="connsiteX41" fmla="*/ 549858 w 600511"/>
                <a:gd name="connsiteY41" fmla="*/ 479478 h 593879"/>
                <a:gd name="connsiteX42" fmla="*/ 547922 w 600511"/>
                <a:gd name="connsiteY42" fmla="*/ 474322 h 593879"/>
                <a:gd name="connsiteX43" fmla="*/ 534049 w 600511"/>
                <a:gd name="connsiteY43" fmla="*/ 467876 h 593879"/>
                <a:gd name="connsiteX44" fmla="*/ 531145 w 600511"/>
                <a:gd name="connsiteY44" fmla="*/ 461109 h 593879"/>
                <a:gd name="connsiteX45" fmla="*/ 534694 w 600511"/>
                <a:gd name="connsiteY45" fmla="*/ 457242 h 593879"/>
                <a:gd name="connsiteX46" fmla="*/ 548890 w 600511"/>
                <a:gd name="connsiteY46" fmla="*/ 451764 h 593879"/>
                <a:gd name="connsiteX47" fmla="*/ 551148 w 600511"/>
                <a:gd name="connsiteY47" fmla="*/ 446930 h 593879"/>
                <a:gd name="connsiteX48" fmla="*/ 539211 w 600511"/>
                <a:gd name="connsiteY48" fmla="*/ 414704 h 593879"/>
                <a:gd name="connsiteX49" fmla="*/ 534371 w 600511"/>
                <a:gd name="connsiteY49" fmla="*/ 412448 h 593879"/>
                <a:gd name="connsiteX50" fmla="*/ 520175 w 600511"/>
                <a:gd name="connsiteY50" fmla="*/ 417604 h 593879"/>
                <a:gd name="connsiteX51" fmla="*/ 514691 w 600511"/>
                <a:gd name="connsiteY51" fmla="*/ 416960 h 593879"/>
                <a:gd name="connsiteX52" fmla="*/ 512755 w 600511"/>
                <a:gd name="connsiteY52" fmla="*/ 409548 h 593879"/>
                <a:gd name="connsiteX53" fmla="*/ 518885 w 600511"/>
                <a:gd name="connsiteY53" fmla="*/ 396013 h 593879"/>
                <a:gd name="connsiteX54" fmla="*/ 516949 w 600511"/>
                <a:gd name="connsiteY54" fmla="*/ 390857 h 593879"/>
                <a:gd name="connsiteX55" fmla="*/ 485976 w 600511"/>
                <a:gd name="connsiteY55" fmla="*/ 376355 h 593879"/>
                <a:gd name="connsiteX56" fmla="*/ 480814 w 600511"/>
                <a:gd name="connsiteY56" fmla="*/ 378289 h 593879"/>
                <a:gd name="connsiteX57" fmla="*/ 474361 w 600511"/>
                <a:gd name="connsiteY57" fmla="*/ 392146 h 593879"/>
                <a:gd name="connsiteX58" fmla="*/ 470167 w 600511"/>
                <a:gd name="connsiteY58" fmla="*/ 395368 h 593879"/>
                <a:gd name="connsiteX59" fmla="*/ 463714 w 600511"/>
                <a:gd name="connsiteY59" fmla="*/ 391824 h 593879"/>
                <a:gd name="connsiteX60" fmla="*/ 458230 w 600511"/>
                <a:gd name="connsiteY60" fmla="*/ 377322 h 593879"/>
                <a:gd name="connsiteX61" fmla="*/ 453390 w 600511"/>
                <a:gd name="connsiteY61" fmla="*/ 375066 h 593879"/>
                <a:gd name="connsiteX62" fmla="*/ 0 w 600511"/>
                <a:gd name="connsiteY62" fmla="*/ 372515 h 593879"/>
                <a:gd name="connsiteX63" fmla="*/ 233292 w 600511"/>
                <a:gd name="connsiteY63" fmla="*/ 465626 h 593879"/>
                <a:gd name="connsiteX64" fmla="*/ 305248 w 600511"/>
                <a:gd name="connsiteY64" fmla="*/ 461116 h 593879"/>
                <a:gd name="connsiteX65" fmla="*/ 332998 w 600511"/>
                <a:gd name="connsiteY65" fmla="*/ 549716 h 593879"/>
                <a:gd name="connsiteX66" fmla="*/ 233292 w 600511"/>
                <a:gd name="connsiteY66" fmla="*/ 558737 h 593879"/>
                <a:gd name="connsiteX67" fmla="*/ 0 w 600511"/>
                <a:gd name="connsiteY67" fmla="*/ 465626 h 593879"/>
                <a:gd name="connsiteX68" fmla="*/ 466295 w 600511"/>
                <a:gd name="connsiteY68" fmla="*/ 326083 h 593879"/>
                <a:gd name="connsiteX69" fmla="*/ 600511 w 600511"/>
                <a:gd name="connsiteY69" fmla="*/ 459820 h 593879"/>
                <a:gd name="connsiteX70" fmla="*/ 466295 w 600511"/>
                <a:gd name="connsiteY70" fmla="*/ 593879 h 593879"/>
                <a:gd name="connsiteX71" fmla="*/ 332080 w 600511"/>
                <a:gd name="connsiteY71" fmla="*/ 459820 h 593879"/>
                <a:gd name="connsiteX72" fmla="*/ 466295 w 600511"/>
                <a:gd name="connsiteY72" fmla="*/ 326083 h 593879"/>
                <a:gd name="connsiteX73" fmla="*/ 0 w 600511"/>
                <a:gd name="connsiteY73" fmla="*/ 232654 h 593879"/>
                <a:gd name="connsiteX74" fmla="*/ 233309 w 600511"/>
                <a:gd name="connsiteY74" fmla="*/ 326103 h 593879"/>
                <a:gd name="connsiteX75" fmla="*/ 466296 w 600511"/>
                <a:gd name="connsiteY75" fmla="*/ 232654 h 593879"/>
                <a:gd name="connsiteX76" fmla="*/ 466296 w 600511"/>
                <a:gd name="connsiteY76" fmla="*/ 299035 h 593879"/>
                <a:gd name="connsiteX77" fmla="*/ 312370 w 600511"/>
                <a:gd name="connsiteY77" fmla="*/ 413429 h 593879"/>
                <a:gd name="connsiteX78" fmla="*/ 233309 w 600511"/>
                <a:gd name="connsiteY78" fmla="*/ 419229 h 593879"/>
                <a:gd name="connsiteX79" fmla="*/ 0 w 600511"/>
                <a:gd name="connsiteY79" fmla="*/ 326103 h 593879"/>
                <a:gd name="connsiteX80" fmla="*/ 233309 w 600511"/>
                <a:gd name="connsiteY80" fmla="*/ 23200 h 593879"/>
                <a:gd name="connsiteX81" fmla="*/ 23234 w 600511"/>
                <a:gd name="connsiteY81" fmla="*/ 93123 h 593879"/>
                <a:gd name="connsiteX82" fmla="*/ 233309 w 600511"/>
                <a:gd name="connsiteY82" fmla="*/ 163046 h 593879"/>
                <a:gd name="connsiteX83" fmla="*/ 443062 w 600511"/>
                <a:gd name="connsiteY83" fmla="*/ 93123 h 593879"/>
                <a:gd name="connsiteX84" fmla="*/ 233309 w 600511"/>
                <a:gd name="connsiteY84" fmla="*/ 23200 h 593879"/>
                <a:gd name="connsiteX85" fmla="*/ 233309 w 600511"/>
                <a:gd name="connsiteY85" fmla="*/ 0 h 593879"/>
                <a:gd name="connsiteX86" fmla="*/ 466296 w 600511"/>
                <a:gd name="connsiteY86" fmla="*/ 93123 h 593879"/>
                <a:gd name="connsiteX87" fmla="*/ 466296 w 600511"/>
                <a:gd name="connsiteY87" fmla="*/ 186246 h 593879"/>
                <a:gd name="connsiteX88" fmla="*/ 233309 w 600511"/>
                <a:gd name="connsiteY88" fmla="*/ 279369 h 593879"/>
                <a:gd name="connsiteX89" fmla="*/ 0 w 600511"/>
                <a:gd name="connsiteY89" fmla="*/ 186246 h 593879"/>
                <a:gd name="connsiteX90" fmla="*/ 0 w 600511"/>
                <a:gd name="connsiteY90" fmla="*/ 93123 h 593879"/>
                <a:gd name="connsiteX91" fmla="*/ 233309 w 600511"/>
                <a:gd name="connsiteY91" fmla="*/ 0 h 59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600511" h="593879">
                  <a:moveTo>
                    <a:pt x="466437" y="421770"/>
                  </a:moveTo>
                  <a:cubicBezTo>
                    <a:pt x="487560" y="421770"/>
                    <a:pt x="504684" y="438878"/>
                    <a:pt x="504684" y="459981"/>
                  </a:cubicBezTo>
                  <a:cubicBezTo>
                    <a:pt x="504684" y="481084"/>
                    <a:pt x="487560" y="498192"/>
                    <a:pt x="466437" y="498192"/>
                  </a:cubicBezTo>
                  <a:cubicBezTo>
                    <a:pt x="445314" y="498192"/>
                    <a:pt x="428190" y="481084"/>
                    <a:pt x="428190" y="459981"/>
                  </a:cubicBezTo>
                  <a:cubicBezTo>
                    <a:pt x="428190" y="438878"/>
                    <a:pt x="445314" y="421770"/>
                    <a:pt x="466437" y="421770"/>
                  </a:cubicBezTo>
                  <a:close/>
                  <a:moveTo>
                    <a:pt x="453390" y="375066"/>
                  </a:moveTo>
                  <a:lnTo>
                    <a:pt x="421127" y="386990"/>
                  </a:lnTo>
                  <a:cubicBezTo>
                    <a:pt x="419191" y="387957"/>
                    <a:pt x="418223" y="389890"/>
                    <a:pt x="418868" y="392146"/>
                  </a:cubicBezTo>
                  <a:lnTo>
                    <a:pt x="424031" y="406325"/>
                  </a:lnTo>
                  <a:cubicBezTo>
                    <a:pt x="424998" y="408259"/>
                    <a:pt x="424676" y="410515"/>
                    <a:pt x="423385" y="411481"/>
                  </a:cubicBezTo>
                  <a:cubicBezTo>
                    <a:pt x="422417" y="412448"/>
                    <a:pt x="418223" y="414382"/>
                    <a:pt x="416287" y="413737"/>
                  </a:cubicBezTo>
                  <a:lnTo>
                    <a:pt x="402414" y="407292"/>
                  </a:lnTo>
                  <a:cubicBezTo>
                    <a:pt x="400478" y="406325"/>
                    <a:pt x="398220" y="407292"/>
                    <a:pt x="397252" y="409226"/>
                  </a:cubicBezTo>
                  <a:lnTo>
                    <a:pt x="383056" y="440485"/>
                  </a:lnTo>
                  <a:cubicBezTo>
                    <a:pt x="382088" y="442096"/>
                    <a:pt x="383056" y="444674"/>
                    <a:pt x="384669" y="445318"/>
                  </a:cubicBezTo>
                  <a:lnTo>
                    <a:pt x="398542" y="451764"/>
                  </a:lnTo>
                  <a:cubicBezTo>
                    <a:pt x="400478" y="452730"/>
                    <a:pt x="402091" y="454664"/>
                    <a:pt x="401769" y="455953"/>
                  </a:cubicBezTo>
                  <a:cubicBezTo>
                    <a:pt x="401769" y="457564"/>
                    <a:pt x="400156" y="462076"/>
                    <a:pt x="398220" y="462720"/>
                  </a:cubicBezTo>
                  <a:lnTo>
                    <a:pt x="384024" y="467876"/>
                  </a:lnTo>
                  <a:cubicBezTo>
                    <a:pt x="382088" y="468521"/>
                    <a:pt x="381120" y="470777"/>
                    <a:pt x="381766" y="472710"/>
                  </a:cubicBezTo>
                  <a:lnTo>
                    <a:pt x="393380" y="504936"/>
                  </a:lnTo>
                  <a:cubicBezTo>
                    <a:pt x="394348" y="506870"/>
                    <a:pt x="396607" y="507836"/>
                    <a:pt x="398542" y="507192"/>
                  </a:cubicBezTo>
                  <a:lnTo>
                    <a:pt x="412738" y="502036"/>
                  </a:lnTo>
                  <a:cubicBezTo>
                    <a:pt x="414674" y="501391"/>
                    <a:pt x="417255" y="501713"/>
                    <a:pt x="417900" y="502680"/>
                  </a:cubicBezTo>
                  <a:cubicBezTo>
                    <a:pt x="418868" y="503969"/>
                    <a:pt x="421127" y="508159"/>
                    <a:pt x="420159" y="510092"/>
                  </a:cubicBezTo>
                  <a:lnTo>
                    <a:pt x="413706" y="523949"/>
                  </a:lnTo>
                  <a:cubicBezTo>
                    <a:pt x="412738" y="525561"/>
                    <a:pt x="413706" y="527816"/>
                    <a:pt x="415642" y="528783"/>
                  </a:cubicBezTo>
                  <a:lnTo>
                    <a:pt x="446937" y="543285"/>
                  </a:lnTo>
                  <a:cubicBezTo>
                    <a:pt x="448873" y="544251"/>
                    <a:pt x="451132" y="543285"/>
                    <a:pt x="451777" y="541351"/>
                  </a:cubicBezTo>
                  <a:lnTo>
                    <a:pt x="458230" y="527494"/>
                  </a:lnTo>
                  <a:cubicBezTo>
                    <a:pt x="459198" y="525561"/>
                    <a:pt x="461133" y="524272"/>
                    <a:pt x="462424" y="524272"/>
                  </a:cubicBezTo>
                  <a:cubicBezTo>
                    <a:pt x="464037" y="524272"/>
                    <a:pt x="468554" y="525883"/>
                    <a:pt x="469199" y="528139"/>
                  </a:cubicBezTo>
                  <a:lnTo>
                    <a:pt x="474361" y="542318"/>
                  </a:lnTo>
                  <a:cubicBezTo>
                    <a:pt x="475007" y="544251"/>
                    <a:pt x="477265" y="545218"/>
                    <a:pt x="479201" y="544574"/>
                  </a:cubicBezTo>
                  <a:lnTo>
                    <a:pt x="511464" y="532650"/>
                  </a:lnTo>
                  <a:cubicBezTo>
                    <a:pt x="513400" y="532006"/>
                    <a:pt x="514368" y="529750"/>
                    <a:pt x="513723" y="527816"/>
                  </a:cubicBezTo>
                  <a:lnTo>
                    <a:pt x="508560" y="513315"/>
                  </a:lnTo>
                  <a:cubicBezTo>
                    <a:pt x="507915" y="511381"/>
                    <a:pt x="508238" y="509125"/>
                    <a:pt x="509206" y="508159"/>
                  </a:cubicBezTo>
                  <a:cubicBezTo>
                    <a:pt x="510496" y="507192"/>
                    <a:pt x="514691" y="505258"/>
                    <a:pt x="516626" y="506225"/>
                  </a:cubicBezTo>
                  <a:lnTo>
                    <a:pt x="530500" y="512348"/>
                  </a:lnTo>
                  <a:cubicBezTo>
                    <a:pt x="532435" y="513315"/>
                    <a:pt x="534694" y="512348"/>
                    <a:pt x="535339" y="510737"/>
                  </a:cubicBezTo>
                  <a:lnTo>
                    <a:pt x="549858" y="479478"/>
                  </a:lnTo>
                  <a:cubicBezTo>
                    <a:pt x="550825" y="477544"/>
                    <a:pt x="549858" y="475288"/>
                    <a:pt x="547922" y="474322"/>
                  </a:cubicBezTo>
                  <a:lnTo>
                    <a:pt x="534049" y="467876"/>
                  </a:lnTo>
                  <a:cubicBezTo>
                    <a:pt x="532113" y="467232"/>
                    <a:pt x="531145" y="462398"/>
                    <a:pt x="531145" y="461109"/>
                  </a:cubicBezTo>
                  <a:cubicBezTo>
                    <a:pt x="531145" y="459498"/>
                    <a:pt x="532435" y="457886"/>
                    <a:pt x="534694" y="457242"/>
                  </a:cubicBezTo>
                  <a:lnTo>
                    <a:pt x="548890" y="451764"/>
                  </a:lnTo>
                  <a:cubicBezTo>
                    <a:pt x="550825" y="451119"/>
                    <a:pt x="551793" y="448863"/>
                    <a:pt x="551148" y="446930"/>
                  </a:cubicBezTo>
                  <a:lnTo>
                    <a:pt x="539211" y="414704"/>
                  </a:lnTo>
                  <a:cubicBezTo>
                    <a:pt x="538565" y="412770"/>
                    <a:pt x="536307" y="411804"/>
                    <a:pt x="534371" y="412448"/>
                  </a:cubicBezTo>
                  <a:lnTo>
                    <a:pt x="520175" y="417604"/>
                  </a:lnTo>
                  <a:cubicBezTo>
                    <a:pt x="517917" y="418571"/>
                    <a:pt x="515658" y="418249"/>
                    <a:pt x="514691" y="416960"/>
                  </a:cubicBezTo>
                  <a:cubicBezTo>
                    <a:pt x="513723" y="415993"/>
                    <a:pt x="511787" y="411481"/>
                    <a:pt x="512755" y="409548"/>
                  </a:cubicBezTo>
                  <a:lnTo>
                    <a:pt x="518885" y="396013"/>
                  </a:lnTo>
                  <a:cubicBezTo>
                    <a:pt x="519853" y="394079"/>
                    <a:pt x="518885" y="391824"/>
                    <a:pt x="516949" y="390857"/>
                  </a:cubicBezTo>
                  <a:lnTo>
                    <a:pt x="485976" y="376355"/>
                  </a:lnTo>
                  <a:cubicBezTo>
                    <a:pt x="484040" y="375711"/>
                    <a:pt x="481782" y="376355"/>
                    <a:pt x="480814" y="378289"/>
                  </a:cubicBezTo>
                  <a:lnTo>
                    <a:pt x="474361" y="392146"/>
                  </a:lnTo>
                  <a:cubicBezTo>
                    <a:pt x="473716" y="394079"/>
                    <a:pt x="471780" y="395691"/>
                    <a:pt x="470167" y="395368"/>
                  </a:cubicBezTo>
                  <a:cubicBezTo>
                    <a:pt x="468877" y="395368"/>
                    <a:pt x="464360" y="393757"/>
                    <a:pt x="463714" y="391824"/>
                  </a:cubicBezTo>
                  <a:lnTo>
                    <a:pt x="458230" y="377322"/>
                  </a:lnTo>
                  <a:cubicBezTo>
                    <a:pt x="457584" y="375389"/>
                    <a:pt x="455326" y="374422"/>
                    <a:pt x="453390" y="375066"/>
                  </a:cubicBezTo>
                  <a:close/>
                  <a:moveTo>
                    <a:pt x="0" y="372515"/>
                  </a:moveTo>
                  <a:cubicBezTo>
                    <a:pt x="0" y="424064"/>
                    <a:pt x="104223" y="465626"/>
                    <a:pt x="233292" y="465626"/>
                  </a:cubicBezTo>
                  <a:cubicBezTo>
                    <a:pt x="258461" y="465626"/>
                    <a:pt x="282661" y="464015"/>
                    <a:pt x="305248" y="461116"/>
                  </a:cubicBezTo>
                  <a:cubicBezTo>
                    <a:pt x="305571" y="493978"/>
                    <a:pt x="315574" y="524264"/>
                    <a:pt x="332998" y="549716"/>
                  </a:cubicBezTo>
                  <a:cubicBezTo>
                    <a:pt x="302667" y="555515"/>
                    <a:pt x="268786" y="558737"/>
                    <a:pt x="233292" y="558737"/>
                  </a:cubicBezTo>
                  <a:cubicBezTo>
                    <a:pt x="104546" y="558737"/>
                    <a:pt x="0" y="517175"/>
                    <a:pt x="0" y="465626"/>
                  </a:cubicBezTo>
                  <a:close/>
                  <a:moveTo>
                    <a:pt x="466295" y="326083"/>
                  </a:moveTo>
                  <a:cubicBezTo>
                    <a:pt x="540501" y="326083"/>
                    <a:pt x="600511" y="386023"/>
                    <a:pt x="600511" y="459820"/>
                  </a:cubicBezTo>
                  <a:cubicBezTo>
                    <a:pt x="600511" y="533939"/>
                    <a:pt x="540501" y="593879"/>
                    <a:pt x="466295" y="593879"/>
                  </a:cubicBezTo>
                  <a:cubicBezTo>
                    <a:pt x="392412" y="593879"/>
                    <a:pt x="332080" y="533939"/>
                    <a:pt x="332080" y="459820"/>
                  </a:cubicBezTo>
                  <a:cubicBezTo>
                    <a:pt x="332080" y="386023"/>
                    <a:pt x="392412" y="326083"/>
                    <a:pt x="466295" y="326083"/>
                  </a:cubicBezTo>
                  <a:close/>
                  <a:moveTo>
                    <a:pt x="0" y="232654"/>
                  </a:moveTo>
                  <a:cubicBezTo>
                    <a:pt x="0" y="284212"/>
                    <a:pt x="104554" y="326103"/>
                    <a:pt x="233309" y="326103"/>
                  </a:cubicBezTo>
                  <a:cubicBezTo>
                    <a:pt x="362065" y="326103"/>
                    <a:pt x="466296" y="284212"/>
                    <a:pt x="466296" y="232654"/>
                  </a:cubicBezTo>
                  <a:lnTo>
                    <a:pt x="466296" y="299035"/>
                  </a:lnTo>
                  <a:cubicBezTo>
                    <a:pt x="393689" y="299035"/>
                    <a:pt x="332377" y="347370"/>
                    <a:pt x="312370" y="413429"/>
                  </a:cubicBezTo>
                  <a:cubicBezTo>
                    <a:pt x="287522" y="416973"/>
                    <a:pt x="261061" y="419229"/>
                    <a:pt x="233309" y="419229"/>
                  </a:cubicBezTo>
                  <a:cubicBezTo>
                    <a:pt x="104231" y="419229"/>
                    <a:pt x="0" y="377338"/>
                    <a:pt x="0" y="326103"/>
                  </a:cubicBezTo>
                  <a:close/>
                  <a:moveTo>
                    <a:pt x="233309" y="23200"/>
                  </a:moveTo>
                  <a:cubicBezTo>
                    <a:pt x="105199" y="23200"/>
                    <a:pt x="23234" y="64445"/>
                    <a:pt x="23234" y="93123"/>
                  </a:cubicBezTo>
                  <a:cubicBezTo>
                    <a:pt x="23234" y="121479"/>
                    <a:pt x="105199" y="163046"/>
                    <a:pt x="233309" y="163046"/>
                  </a:cubicBezTo>
                  <a:cubicBezTo>
                    <a:pt x="361420" y="163046"/>
                    <a:pt x="443062" y="121479"/>
                    <a:pt x="443062" y="93123"/>
                  </a:cubicBezTo>
                  <a:cubicBezTo>
                    <a:pt x="443062" y="64445"/>
                    <a:pt x="361420" y="23200"/>
                    <a:pt x="233309" y="23200"/>
                  </a:cubicBezTo>
                  <a:close/>
                  <a:moveTo>
                    <a:pt x="233309" y="0"/>
                  </a:moveTo>
                  <a:cubicBezTo>
                    <a:pt x="362065" y="0"/>
                    <a:pt x="466296" y="41567"/>
                    <a:pt x="466296" y="93123"/>
                  </a:cubicBezTo>
                  <a:lnTo>
                    <a:pt x="466296" y="186246"/>
                  </a:lnTo>
                  <a:cubicBezTo>
                    <a:pt x="466296" y="237802"/>
                    <a:pt x="362065" y="279369"/>
                    <a:pt x="233309" y="279369"/>
                  </a:cubicBezTo>
                  <a:cubicBezTo>
                    <a:pt x="104231" y="279369"/>
                    <a:pt x="0" y="237802"/>
                    <a:pt x="0" y="186246"/>
                  </a:cubicBezTo>
                  <a:lnTo>
                    <a:pt x="0" y="93123"/>
                  </a:lnTo>
                  <a:cubicBezTo>
                    <a:pt x="0" y="41567"/>
                    <a:pt x="104554" y="0"/>
                    <a:pt x="233309"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24" name="iṩļîḋè"/>
            <p:cNvSpPr/>
            <p:nvPr/>
          </p:nvSpPr>
          <p:spPr bwMode="auto">
            <a:xfrm>
              <a:off x="4472794" y="4737435"/>
              <a:ext cx="342202" cy="258842"/>
            </a:xfrm>
            <a:custGeom>
              <a:avLst/>
              <a:gdLst>
                <a:gd name="connsiteX0" fmla="*/ 303150 w 606298"/>
                <a:gd name="connsiteY0" fmla="*/ 172180 h 458605"/>
                <a:gd name="connsiteX1" fmla="*/ 409775 w 606298"/>
                <a:gd name="connsiteY1" fmla="*/ 278664 h 458605"/>
                <a:gd name="connsiteX2" fmla="*/ 303150 w 606298"/>
                <a:gd name="connsiteY2" fmla="*/ 385148 h 458605"/>
                <a:gd name="connsiteX3" fmla="*/ 196525 w 606298"/>
                <a:gd name="connsiteY3" fmla="*/ 278664 h 458605"/>
                <a:gd name="connsiteX4" fmla="*/ 303150 w 606298"/>
                <a:gd name="connsiteY4" fmla="*/ 172180 h 458605"/>
                <a:gd name="connsiteX5" fmla="*/ 303149 w 606298"/>
                <a:gd name="connsiteY5" fmla="*/ 131787 h 458605"/>
                <a:gd name="connsiteX6" fmla="*/ 156060 w 606298"/>
                <a:gd name="connsiteY6" fmla="*/ 278654 h 458605"/>
                <a:gd name="connsiteX7" fmla="*/ 303149 w 606298"/>
                <a:gd name="connsiteY7" fmla="*/ 425430 h 458605"/>
                <a:gd name="connsiteX8" fmla="*/ 450147 w 606298"/>
                <a:gd name="connsiteY8" fmla="*/ 278654 h 458605"/>
                <a:gd name="connsiteX9" fmla="*/ 303149 w 606298"/>
                <a:gd name="connsiteY9" fmla="*/ 131787 h 458605"/>
                <a:gd name="connsiteX10" fmla="*/ 72767 w 606298"/>
                <a:gd name="connsiteY10" fmla="*/ 60502 h 458605"/>
                <a:gd name="connsiteX11" fmla="*/ 60593 w 606298"/>
                <a:gd name="connsiteY11" fmla="*/ 72657 h 458605"/>
                <a:gd name="connsiteX12" fmla="*/ 60593 w 606298"/>
                <a:gd name="connsiteY12" fmla="*/ 98155 h 458605"/>
                <a:gd name="connsiteX13" fmla="*/ 165762 w 606298"/>
                <a:gd name="connsiteY13" fmla="*/ 98155 h 458605"/>
                <a:gd name="connsiteX14" fmla="*/ 165762 w 606298"/>
                <a:gd name="connsiteY14" fmla="*/ 72657 h 458605"/>
                <a:gd name="connsiteX15" fmla="*/ 153588 w 606298"/>
                <a:gd name="connsiteY15" fmla="*/ 60502 h 458605"/>
                <a:gd name="connsiteX16" fmla="*/ 72767 w 606298"/>
                <a:gd name="connsiteY16" fmla="*/ 0 h 458605"/>
                <a:gd name="connsiteX17" fmla="*/ 153588 w 606298"/>
                <a:gd name="connsiteY17" fmla="*/ 0 h 458605"/>
                <a:gd name="connsiteX18" fmla="*/ 226355 w 606298"/>
                <a:gd name="connsiteY18" fmla="*/ 72657 h 458605"/>
                <a:gd name="connsiteX19" fmla="*/ 226355 w 606298"/>
                <a:gd name="connsiteY19" fmla="*/ 98612 h 458605"/>
                <a:gd name="connsiteX20" fmla="*/ 417654 w 606298"/>
                <a:gd name="connsiteY20" fmla="*/ 98612 h 458605"/>
                <a:gd name="connsiteX21" fmla="*/ 417654 w 606298"/>
                <a:gd name="connsiteY21" fmla="*/ 74119 h 458605"/>
                <a:gd name="connsiteX22" fmla="*/ 449781 w 606298"/>
                <a:gd name="connsiteY22" fmla="*/ 42041 h 458605"/>
                <a:gd name="connsiteX23" fmla="*/ 506713 w 606298"/>
                <a:gd name="connsiteY23" fmla="*/ 42041 h 458605"/>
                <a:gd name="connsiteX24" fmla="*/ 538932 w 606298"/>
                <a:gd name="connsiteY24" fmla="*/ 74119 h 458605"/>
                <a:gd name="connsiteX25" fmla="*/ 538932 w 606298"/>
                <a:gd name="connsiteY25" fmla="*/ 98612 h 458605"/>
                <a:gd name="connsiteX26" fmla="*/ 546712 w 606298"/>
                <a:gd name="connsiteY26" fmla="*/ 98612 h 458605"/>
                <a:gd name="connsiteX27" fmla="*/ 606298 w 606298"/>
                <a:gd name="connsiteY27" fmla="*/ 158108 h 458605"/>
                <a:gd name="connsiteX28" fmla="*/ 606298 w 606298"/>
                <a:gd name="connsiteY28" fmla="*/ 399109 h 458605"/>
                <a:gd name="connsiteX29" fmla="*/ 546712 w 606298"/>
                <a:gd name="connsiteY29" fmla="*/ 458605 h 458605"/>
                <a:gd name="connsiteX30" fmla="*/ 59495 w 606298"/>
                <a:gd name="connsiteY30" fmla="*/ 458605 h 458605"/>
                <a:gd name="connsiteX31" fmla="*/ 0 w 606298"/>
                <a:gd name="connsiteY31" fmla="*/ 399109 h 458605"/>
                <a:gd name="connsiteX32" fmla="*/ 0 w 606298"/>
                <a:gd name="connsiteY32" fmla="*/ 72657 h 458605"/>
                <a:gd name="connsiteX33" fmla="*/ 72767 w 606298"/>
                <a:gd name="connsiteY33" fmla="*/ 0 h 458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06298" h="458605">
                  <a:moveTo>
                    <a:pt x="303150" y="172180"/>
                  </a:moveTo>
                  <a:cubicBezTo>
                    <a:pt x="362037" y="172180"/>
                    <a:pt x="409775" y="219855"/>
                    <a:pt x="409775" y="278664"/>
                  </a:cubicBezTo>
                  <a:cubicBezTo>
                    <a:pt x="409775" y="337473"/>
                    <a:pt x="362037" y="385148"/>
                    <a:pt x="303150" y="385148"/>
                  </a:cubicBezTo>
                  <a:cubicBezTo>
                    <a:pt x="244263" y="385148"/>
                    <a:pt x="196525" y="337473"/>
                    <a:pt x="196525" y="278664"/>
                  </a:cubicBezTo>
                  <a:cubicBezTo>
                    <a:pt x="196525" y="219855"/>
                    <a:pt x="244263" y="172180"/>
                    <a:pt x="303150" y="172180"/>
                  </a:cubicBezTo>
                  <a:close/>
                  <a:moveTo>
                    <a:pt x="303149" y="131787"/>
                  </a:moveTo>
                  <a:cubicBezTo>
                    <a:pt x="222053" y="131787"/>
                    <a:pt x="156060" y="197681"/>
                    <a:pt x="156060" y="278654"/>
                  </a:cubicBezTo>
                  <a:cubicBezTo>
                    <a:pt x="156060" y="359536"/>
                    <a:pt x="222053" y="425430"/>
                    <a:pt x="303149" y="425430"/>
                  </a:cubicBezTo>
                  <a:cubicBezTo>
                    <a:pt x="384245" y="425430"/>
                    <a:pt x="450147" y="359536"/>
                    <a:pt x="450147" y="278654"/>
                  </a:cubicBezTo>
                  <a:cubicBezTo>
                    <a:pt x="450147" y="197681"/>
                    <a:pt x="384245" y="131787"/>
                    <a:pt x="303149" y="131787"/>
                  </a:cubicBezTo>
                  <a:close/>
                  <a:moveTo>
                    <a:pt x="72767" y="60502"/>
                  </a:moveTo>
                  <a:cubicBezTo>
                    <a:pt x="66085" y="60502"/>
                    <a:pt x="60593" y="65985"/>
                    <a:pt x="60593" y="72657"/>
                  </a:cubicBezTo>
                  <a:lnTo>
                    <a:pt x="60593" y="98155"/>
                  </a:lnTo>
                  <a:lnTo>
                    <a:pt x="165762" y="98155"/>
                  </a:lnTo>
                  <a:lnTo>
                    <a:pt x="165762" y="72657"/>
                  </a:lnTo>
                  <a:cubicBezTo>
                    <a:pt x="165762" y="65985"/>
                    <a:pt x="160270" y="60502"/>
                    <a:pt x="153588" y="60502"/>
                  </a:cubicBezTo>
                  <a:close/>
                  <a:moveTo>
                    <a:pt x="72767" y="0"/>
                  </a:moveTo>
                  <a:lnTo>
                    <a:pt x="153588" y="0"/>
                  </a:lnTo>
                  <a:cubicBezTo>
                    <a:pt x="193770" y="0"/>
                    <a:pt x="226355" y="32536"/>
                    <a:pt x="226355" y="72657"/>
                  </a:cubicBezTo>
                  <a:lnTo>
                    <a:pt x="226355" y="98612"/>
                  </a:lnTo>
                  <a:lnTo>
                    <a:pt x="417654" y="98612"/>
                  </a:lnTo>
                  <a:lnTo>
                    <a:pt x="417654" y="74119"/>
                  </a:lnTo>
                  <a:cubicBezTo>
                    <a:pt x="417654" y="56389"/>
                    <a:pt x="432024" y="42041"/>
                    <a:pt x="449781" y="42041"/>
                  </a:cubicBezTo>
                  <a:lnTo>
                    <a:pt x="506713" y="42041"/>
                  </a:lnTo>
                  <a:cubicBezTo>
                    <a:pt x="524561" y="42041"/>
                    <a:pt x="538932" y="56389"/>
                    <a:pt x="538932" y="74119"/>
                  </a:cubicBezTo>
                  <a:lnTo>
                    <a:pt x="538932" y="98612"/>
                  </a:lnTo>
                  <a:lnTo>
                    <a:pt x="546712" y="98612"/>
                  </a:lnTo>
                  <a:cubicBezTo>
                    <a:pt x="579571" y="98612"/>
                    <a:pt x="606298" y="125299"/>
                    <a:pt x="606298" y="158108"/>
                  </a:cubicBezTo>
                  <a:lnTo>
                    <a:pt x="606298" y="399109"/>
                  </a:lnTo>
                  <a:cubicBezTo>
                    <a:pt x="606298" y="431919"/>
                    <a:pt x="579571" y="458605"/>
                    <a:pt x="546712" y="458605"/>
                  </a:cubicBezTo>
                  <a:lnTo>
                    <a:pt x="59495" y="458605"/>
                  </a:lnTo>
                  <a:cubicBezTo>
                    <a:pt x="26635" y="458605"/>
                    <a:pt x="0" y="431919"/>
                    <a:pt x="0" y="399109"/>
                  </a:cubicBezTo>
                  <a:lnTo>
                    <a:pt x="0" y="72657"/>
                  </a:lnTo>
                  <a:cubicBezTo>
                    <a:pt x="0" y="32536"/>
                    <a:pt x="32585" y="0"/>
                    <a:pt x="72767" y="0"/>
                  </a:cubicBezTo>
                  <a:close/>
                </a:path>
              </a:pathLst>
            </a:custGeom>
            <a:solidFill>
              <a:schemeClr val="bg1"/>
            </a:solidFill>
            <a:ln>
              <a:noFill/>
            </a:ln>
          </p:spPr>
          <p:txBody>
            <a:bodyPr vert="horz" wrap="square" lIns="91440" tIns="45720" rIns="91440" bIns="45720" numCol="1" anchor="t" anchorCtr="0" compatLnSpc="1">
              <a:normAutofit fontScale="700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25" name="îṩļiḓè"/>
            <p:cNvSpPr/>
            <p:nvPr/>
          </p:nvSpPr>
          <p:spPr>
            <a:xfrm>
              <a:off x="527899" y="1667557"/>
              <a:ext cx="3623447" cy="467559"/>
            </a:xfrm>
            <a:prstGeom prst="rect">
              <a:avLst/>
            </a:prstGeom>
          </p:spPr>
          <p:txBody>
            <a:bodyPr wrap="square" lIns="91440" tIns="45720" rIns="91440" bIns="45720" anchor="ctr" anchorCtr="0">
              <a:noAutofit/>
            </a:bodyPr>
            <a:lstStyle/>
            <a:p>
              <a:r>
                <a:rPr lang="zh-CN" altLang="en-US" sz="2400"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rPr>
                <a:t>微内核（安全内核）</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原则</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6" name="ïṣľîḋê"/>
            <p:cNvSpPr/>
            <p:nvPr/>
          </p:nvSpPr>
          <p:spPr>
            <a:xfrm>
              <a:off x="8029002" y="1667557"/>
              <a:ext cx="3485135" cy="467559"/>
            </a:xfrm>
            <a:prstGeom prst="rect">
              <a:avLst/>
            </a:prstGeom>
          </p:spPr>
          <p:txBody>
            <a:bodyPr wrap="square" lIns="91440" tIns="45720" rIns="91440" bIns="45720" anchor="ctr" anchorCtr="0">
              <a:normAutofit/>
            </a:bodyPr>
            <a:lstStyle/>
            <a:p>
              <a:r>
                <a:rPr lang="zh-CN" altLang="en-US" sz="2400"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rPr>
                <a:t>隔离</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原则</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7" name="išľïḓe"/>
            <p:cNvSpPr/>
            <p:nvPr/>
          </p:nvSpPr>
          <p:spPr>
            <a:xfrm>
              <a:off x="527899" y="3161434"/>
              <a:ext cx="3019285" cy="467559"/>
            </a:xfrm>
            <a:prstGeom prst="rect">
              <a:avLst/>
            </a:prstGeom>
          </p:spPr>
          <p:txBody>
            <a:bodyPr wrap="square" lIns="91440" tIns="45720" rIns="91440" bIns="45720" anchor="ctr" anchorCtr="0">
              <a:noAutofit/>
            </a:bodyPr>
            <a:lstStyle/>
            <a:p>
              <a:r>
                <a:rPr lang="zh-CN" altLang="en-US" sz="2400"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rPr>
                <a:t>策略与机制分离</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原则</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8" name="îṧľïdè"/>
            <p:cNvSpPr/>
            <p:nvPr/>
          </p:nvSpPr>
          <p:spPr>
            <a:xfrm>
              <a:off x="8632118" y="3161434"/>
              <a:ext cx="2882020" cy="467559"/>
            </a:xfrm>
            <a:prstGeom prst="rect">
              <a:avLst/>
            </a:prstGeom>
          </p:spPr>
          <p:txBody>
            <a:bodyPr wrap="square" lIns="91440" tIns="45720" rIns="91440" bIns="45720" anchor="ctr" anchorCtr="0">
              <a:normAutofit/>
            </a:bodyPr>
            <a:lstStyle/>
            <a:p>
              <a:r>
                <a:rPr lang="zh-CN" altLang="en-US" sz="2400"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rPr>
                <a:t>部分硬件实现</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原则</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9" name="işľîḓé"/>
            <p:cNvSpPr/>
            <p:nvPr/>
          </p:nvSpPr>
          <p:spPr>
            <a:xfrm>
              <a:off x="665163" y="4708346"/>
              <a:ext cx="3486183" cy="467559"/>
            </a:xfrm>
            <a:prstGeom prst="rect">
              <a:avLst/>
            </a:prstGeom>
          </p:spPr>
          <p:txBody>
            <a:bodyPr wrap="square" lIns="91440" tIns="45720" rIns="91440" bIns="45720" anchor="ctr" anchorCtr="0">
              <a:normAutofit/>
            </a:bodyPr>
            <a:lstStyle/>
            <a:p>
              <a:pPr algn="r"/>
              <a:r>
                <a:rPr lang="zh-CN" altLang="en-US" sz="2400"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rPr>
                <a:t>安全入口</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原则</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30" name="ïśļíde"/>
            <p:cNvSpPr/>
            <p:nvPr/>
          </p:nvSpPr>
          <p:spPr>
            <a:xfrm>
              <a:off x="8029002" y="4708346"/>
              <a:ext cx="3485135" cy="467559"/>
            </a:xfrm>
            <a:prstGeom prst="rect">
              <a:avLst/>
            </a:prstGeom>
          </p:spPr>
          <p:txBody>
            <a:bodyPr wrap="square" lIns="91440" tIns="45720" rIns="91440" bIns="45720" anchor="ctr" anchorCtr="0">
              <a:normAutofit/>
            </a:bodyPr>
            <a:lstStyle/>
            <a:p>
              <a:r>
                <a:rPr lang="zh-CN" altLang="en-US" sz="2400"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rPr>
                <a:t>分层设计</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原则</a:t>
              </a:r>
            </a:p>
          </p:txBody>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课程思政小讲堂</a:t>
            </a:r>
          </a:p>
        </p:txBody>
      </p:sp>
      <p:sp>
        <p:nvSpPr>
          <p:cNvPr id="52" name="内容占位符 3"/>
          <p:cNvSpPr txBox="1"/>
          <p:nvPr/>
        </p:nvSpPr>
        <p:spPr>
          <a:xfrm>
            <a:off x="962317" y="1144956"/>
            <a:ext cx="10267365" cy="542951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25000"/>
              </a:lnSpc>
              <a:spcBef>
                <a:spcPts val="300"/>
              </a:spcBef>
              <a:spcAft>
                <a:spcPts val="300"/>
              </a:spcAft>
              <a:buFont typeface="Arial" panose="020B0604020202020204" pitchFamily="34" charset="0"/>
              <a:buNone/>
            </a:pPr>
            <a:r>
              <a:rPr lang="zh-CN" altLang="en-US" sz="2400"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rPr>
              <a:t>互联网行业的“苦行僧”，由始至今从未言弃</a:t>
            </a:r>
          </a:p>
          <a:p>
            <a:pPr marL="0" indent="457200" algn="just">
              <a:lnSpc>
                <a:spcPct val="125000"/>
              </a:lnSpc>
              <a:spcBef>
                <a:spcPts val="300"/>
              </a:spcBef>
              <a:spcAft>
                <a:spcPts val="300"/>
              </a:spcAft>
              <a:buFont typeface="Arial" panose="020B0604020202020204" pitchFamily="34" charset="0"/>
              <a:buNone/>
            </a:pPr>
            <a:r>
              <a:rPr lang="zh-CN" altLang="en-US" sz="2300" dirty="0">
                <a:latin typeface="Times New Roman" panose="02020603050405020304" pitchFamily="18" charset="0"/>
                <a:ea typeface="微软雅黑" panose="020B0503020204020204" pitchFamily="34" charset="-122"/>
                <a:cs typeface="+mn-ea"/>
                <a:sym typeface="Times New Roman" panose="02020603050405020304" pitchFamily="18" charset="0"/>
              </a:rPr>
              <a:t> 早在</a:t>
            </a:r>
            <a:r>
              <a:rPr lang="en-US" altLang="zh-CN" sz="2300" dirty="0">
                <a:latin typeface="Times New Roman" panose="02020603050405020304" pitchFamily="18" charset="0"/>
                <a:ea typeface="微软雅黑" panose="020B0503020204020204" pitchFamily="34" charset="-122"/>
                <a:cs typeface="+mn-ea"/>
                <a:sym typeface="Times New Roman" panose="02020603050405020304" pitchFamily="18" charset="0"/>
              </a:rPr>
              <a:t>20</a:t>
            </a:r>
            <a:r>
              <a:rPr lang="zh-CN" altLang="en-US" sz="2300" dirty="0">
                <a:latin typeface="Times New Roman" panose="02020603050405020304" pitchFamily="18" charset="0"/>
                <a:ea typeface="微软雅黑" panose="020B0503020204020204" pitchFamily="34" charset="-122"/>
                <a:cs typeface="+mn-ea"/>
                <a:sym typeface="Times New Roman" panose="02020603050405020304" pitchFamily="18" charset="0"/>
              </a:rPr>
              <a:t>世纪</a:t>
            </a:r>
            <a:r>
              <a:rPr lang="en-US" altLang="zh-CN" sz="2300" dirty="0">
                <a:latin typeface="Times New Roman" panose="02020603050405020304" pitchFamily="18" charset="0"/>
                <a:ea typeface="微软雅黑" panose="020B0503020204020204" pitchFamily="34" charset="-122"/>
                <a:cs typeface="+mn-ea"/>
                <a:sym typeface="Times New Roman" panose="02020603050405020304" pitchFamily="18" charset="0"/>
              </a:rPr>
              <a:t>70</a:t>
            </a:r>
            <a:r>
              <a:rPr lang="zh-CN" altLang="en-US" sz="2300" dirty="0">
                <a:latin typeface="Times New Roman" panose="02020603050405020304" pitchFamily="18" charset="0"/>
                <a:ea typeface="微软雅黑" panose="020B0503020204020204" pitchFamily="34" charset="-122"/>
                <a:cs typeface="+mn-ea"/>
                <a:sym typeface="Times New Roman" panose="02020603050405020304" pitchFamily="18" charset="0"/>
              </a:rPr>
              <a:t>年代，国内许多科研院所就已参与到了</a:t>
            </a:r>
            <a:r>
              <a:rPr lang="en-US" altLang="zh-CN" sz="2300" dirty="0">
                <a:latin typeface="Times New Roman" panose="02020603050405020304" pitchFamily="18" charset="0"/>
                <a:ea typeface="微软雅黑" panose="020B0503020204020204" pitchFamily="34" charset="-122"/>
                <a:cs typeface="+mn-ea"/>
                <a:sym typeface="Times New Roman" panose="02020603050405020304" pitchFamily="18" charset="0"/>
              </a:rPr>
              <a:t>UNIX</a:t>
            </a:r>
            <a:r>
              <a:rPr lang="zh-CN" altLang="en-US" sz="2300" dirty="0">
                <a:latin typeface="Times New Roman" panose="02020603050405020304" pitchFamily="18" charset="0"/>
                <a:ea typeface="微软雅黑" panose="020B0503020204020204" pitchFamily="34" charset="-122"/>
                <a:cs typeface="+mn-ea"/>
                <a:sym typeface="Times New Roman" panose="02020603050405020304" pitchFamily="18" charset="0"/>
              </a:rPr>
              <a:t>自主操作系统的研发中。伴随着</a:t>
            </a:r>
            <a:r>
              <a:rPr lang="en-US" altLang="zh-CN" sz="2300" dirty="0">
                <a:latin typeface="Times New Roman" panose="02020603050405020304" pitchFamily="18" charset="0"/>
                <a:ea typeface="微软雅黑" panose="020B0503020204020204" pitchFamily="34" charset="-122"/>
                <a:cs typeface="+mn-ea"/>
                <a:sym typeface="Times New Roman" panose="02020603050405020304" pitchFamily="18" charset="0"/>
              </a:rPr>
              <a:t>Linux</a:t>
            </a:r>
            <a:r>
              <a:rPr lang="zh-CN" altLang="en-US" sz="2300" dirty="0">
                <a:latin typeface="Times New Roman" panose="02020603050405020304" pitchFamily="18" charset="0"/>
                <a:ea typeface="微软雅黑" panose="020B0503020204020204" pitchFamily="34" charset="-122"/>
                <a:cs typeface="+mn-ea"/>
                <a:sym typeface="Times New Roman" panose="02020603050405020304" pitchFamily="18" charset="0"/>
              </a:rPr>
              <a:t>系统的诞生，其凭借开源特征得以迅速取代</a:t>
            </a:r>
            <a:r>
              <a:rPr lang="en-US" altLang="zh-CN" sz="2300" dirty="0">
                <a:latin typeface="Times New Roman" panose="02020603050405020304" pitchFamily="18" charset="0"/>
                <a:ea typeface="微软雅黑" panose="020B0503020204020204" pitchFamily="34" charset="-122"/>
                <a:cs typeface="+mn-ea"/>
                <a:sym typeface="Times New Roman" panose="02020603050405020304" pitchFamily="18" charset="0"/>
              </a:rPr>
              <a:t>UNIX</a:t>
            </a:r>
            <a:r>
              <a:rPr lang="zh-CN" altLang="en-US" sz="2300" dirty="0">
                <a:latin typeface="Times New Roman" panose="02020603050405020304" pitchFamily="18" charset="0"/>
                <a:ea typeface="微软雅黑" panose="020B0503020204020204" pitchFamily="34" charset="-122"/>
                <a:cs typeface="+mn-ea"/>
                <a:sym typeface="Times New Roman" panose="02020603050405020304" pitchFamily="18" charset="0"/>
              </a:rPr>
              <a:t>成为国产操作系统开发的主流。</a:t>
            </a:r>
          </a:p>
          <a:p>
            <a:pPr marL="0" indent="457200" algn="just">
              <a:lnSpc>
                <a:spcPct val="125000"/>
              </a:lnSpc>
              <a:spcBef>
                <a:spcPts val="300"/>
              </a:spcBef>
              <a:spcAft>
                <a:spcPts val="300"/>
              </a:spcAft>
              <a:buFont typeface="Arial" panose="020B0604020202020204" pitchFamily="34" charset="0"/>
              <a:buNone/>
            </a:pPr>
            <a:r>
              <a:rPr lang="en-US" altLang="zh-CN" sz="2300" dirty="0">
                <a:latin typeface="Times New Roman" panose="02020603050405020304" pitchFamily="18" charset="0"/>
                <a:ea typeface="微软雅黑" panose="020B0503020204020204" pitchFamily="34" charset="-122"/>
                <a:cs typeface="+mn-ea"/>
                <a:sym typeface="Times New Roman" panose="02020603050405020304" pitchFamily="18" charset="0"/>
              </a:rPr>
              <a:t>20</a:t>
            </a:r>
            <a:r>
              <a:rPr lang="zh-CN" altLang="en-US" sz="2300" dirty="0">
                <a:latin typeface="Times New Roman" panose="02020603050405020304" pitchFamily="18" charset="0"/>
                <a:ea typeface="微软雅黑" panose="020B0503020204020204" pitchFamily="34" charset="-122"/>
                <a:cs typeface="+mn-ea"/>
                <a:sym typeface="Times New Roman" panose="02020603050405020304" pitchFamily="18" charset="0"/>
              </a:rPr>
              <a:t>世纪</a:t>
            </a:r>
            <a:r>
              <a:rPr lang="en-US" altLang="zh-CN" sz="2300" dirty="0">
                <a:latin typeface="Times New Roman" panose="02020603050405020304" pitchFamily="18" charset="0"/>
                <a:ea typeface="微软雅黑" panose="020B0503020204020204" pitchFamily="34" charset="-122"/>
                <a:cs typeface="+mn-ea"/>
                <a:sym typeface="Times New Roman" panose="02020603050405020304" pitchFamily="18" charset="0"/>
              </a:rPr>
              <a:t>90</a:t>
            </a:r>
            <a:r>
              <a:rPr lang="zh-CN" altLang="en-US" sz="2300" dirty="0">
                <a:latin typeface="Times New Roman" panose="02020603050405020304" pitchFamily="18" charset="0"/>
                <a:ea typeface="微软雅黑" panose="020B0503020204020204" pitchFamily="34" charset="-122"/>
                <a:cs typeface="+mn-ea"/>
                <a:sym typeface="Times New Roman" panose="02020603050405020304" pitchFamily="18" charset="0"/>
              </a:rPr>
              <a:t>年代，曾是中国</a:t>
            </a:r>
            <a:r>
              <a:rPr lang="en-US" altLang="zh-CN" sz="2300" dirty="0">
                <a:latin typeface="Times New Roman" panose="02020603050405020304" pitchFamily="18" charset="0"/>
                <a:ea typeface="微软雅黑" panose="020B0503020204020204" pitchFamily="34" charset="-122"/>
                <a:cs typeface="+mn-ea"/>
                <a:sym typeface="Times New Roman" panose="02020603050405020304" pitchFamily="18" charset="0"/>
              </a:rPr>
              <a:t>Linux</a:t>
            </a:r>
            <a:r>
              <a:rPr lang="zh-CN" altLang="en-US" sz="2300" dirty="0">
                <a:latin typeface="Times New Roman" panose="02020603050405020304" pitchFamily="18" charset="0"/>
                <a:ea typeface="微软雅黑" panose="020B0503020204020204" pitchFamily="34" charset="-122"/>
                <a:cs typeface="+mn-ea"/>
                <a:sym typeface="Times New Roman" panose="02020603050405020304" pitchFamily="18" charset="0"/>
              </a:rPr>
              <a:t>公社（</a:t>
            </a:r>
            <a:r>
              <a:rPr lang="en-US" altLang="zh-CN" sz="2300" dirty="0" err="1">
                <a:latin typeface="Times New Roman" panose="02020603050405020304" pitchFamily="18" charset="0"/>
                <a:ea typeface="微软雅黑" panose="020B0503020204020204" pitchFamily="34" charset="-122"/>
                <a:cs typeface="+mn-ea"/>
                <a:sym typeface="Times New Roman" panose="02020603050405020304" pitchFamily="18" charset="0"/>
              </a:rPr>
              <a:t>Linuxfans</a:t>
            </a:r>
            <a:r>
              <a:rPr lang="zh-CN" altLang="en-US" sz="2300" dirty="0">
                <a:latin typeface="Times New Roman" panose="02020603050405020304" pitchFamily="18" charset="0"/>
                <a:ea typeface="微软雅黑" panose="020B0503020204020204" pitchFamily="34" charset="-122"/>
                <a:cs typeface="+mn-ea"/>
                <a:sym typeface="Times New Roman" panose="02020603050405020304" pitchFamily="18" charset="0"/>
              </a:rPr>
              <a:t>）的发起人和重要参与者之一的黄建忠，做了一个彻底改变他人生轨迹的选择</a:t>
            </a:r>
            <a:r>
              <a:rPr lang="en-US" altLang="zh-CN" sz="2300" dirty="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zh-CN" altLang="en-US" sz="2300" dirty="0">
                <a:latin typeface="Times New Roman" panose="02020603050405020304" pitchFamily="18" charset="0"/>
                <a:ea typeface="微软雅黑" panose="020B0503020204020204" pitchFamily="34" charset="-122"/>
                <a:cs typeface="+mn-ea"/>
                <a:sym typeface="Times New Roman" panose="02020603050405020304" pitchFamily="18" charset="0"/>
              </a:rPr>
              <a:t>投身北京中科红旗软件技术有限公司（简称中科红旗）。他带领团队以</a:t>
            </a:r>
            <a:r>
              <a:rPr lang="en-US" altLang="zh-CN" sz="2300" dirty="0">
                <a:latin typeface="Times New Roman" panose="02020603050405020304" pitchFamily="18" charset="0"/>
                <a:ea typeface="微软雅黑" panose="020B0503020204020204" pitchFamily="34" charset="-122"/>
                <a:cs typeface="+mn-ea"/>
                <a:sym typeface="Times New Roman" panose="02020603050405020304" pitchFamily="18" charset="0"/>
              </a:rPr>
              <a:t>Linux</a:t>
            </a:r>
            <a:r>
              <a:rPr lang="zh-CN" altLang="en-US" sz="2300" dirty="0">
                <a:latin typeface="Times New Roman" panose="02020603050405020304" pitchFamily="18" charset="0"/>
                <a:ea typeface="微软雅黑" panose="020B0503020204020204" pitchFamily="34" charset="-122"/>
                <a:cs typeface="+mn-ea"/>
                <a:sym typeface="Times New Roman" panose="02020603050405020304" pitchFamily="18" charset="0"/>
              </a:rPr>
              <a:t>系统为基础二次开发操作系统，经过多年的努力，国产操作系统无论是布局还是操作方式，都同</a:t>
            </a:r>
            <a:r>
              <a:rPr lang="en-US" altLang="zh-CN" sz="2300" dirty="0">
                <a:latin typeface="Times New Roman" panose="02020603050405020304" pitchFamily="18" charset="0"/>
                <a:ea typeface="微软雅黑" panose="020B0503020204020204" pitchFamily="34" charset="-122"/>
                <a:cs typeface="+mn-ea"/>
                <a:sym typeface="Times New Roman" panose="02020603050405020304" pitchFamily="18" charset="0"/>
              </a:rPr>
              <a:t>Windows XP</a:t>
            </a:r>
            <a:r>
              <a:rPr lang="zh-CN" altLang="en-US" sz="2300" dirty="0">
                <a:latin typeface="Times New Roman" panose="02020603050405020304" pitchFamily="18" charset="0"/>
                <a:ea typeface="微软雅黑" panose="020B0503020204020204" pitchFamily="34" charset="-122"/>
                <a:cs typeface="+mn-ea"/>
                <a:sym typeface="Times New Roman" panose="02020603050405020304" pitchFamily="18" charset="0"/>
              </a:rPr>
              <a:t>相差无几，并在易用性等方面基本具备了</a:t>
            </a:r>
            <a:r>
              <a:rPr lang="en-US" altLang="zh-CN" sz="2300" dirty="0">
                <a:latin typeface="Times New Roman" panose="02020603050405020304" pitchFamily="18" charset="0"/>
                <a:ea typeface="微软雅黑" panose="020B0503020204020204" pitchFamily="34" charset="-122"/>
                <a:cs typeface="+mn-ea"/>
                <a:sym typeface="Times New Roman" panose="02020603050405020304" pitchFamily="18" charset="0"/>
              </a:rPr>
              <a:t>Windows XP</a:t>
            </a:r>
            <a:r>
              <a:rPr lang="zh-CN" altLang="en-US" sz="2300" dirty="0">
                <a:latin typeface="Times New Roman" panose="02020603050405020304" pitchFamily="18" charset="0"/>
                <a:ea typeface="微软雅黑" panose="020B0503020204020204" pitchFamily="34" charset="-122"/>
                <a:cs typeface="+mn-ea"/>
                <a:sym typeface="Times New Roman" panose="02020603050405020304" pitchFamily="18" charset="0"/>
              </a:rPr>
              <a:t>替代能力。然而，当黄建忠真正走进市场才发现，原本以为是“蓝海”的操作系统领域，其实是“死海”！</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课程思政小讲堂</a:t>
            </a:r>
          </a:p>
        </p:txBody>
      </p:sp>
      <p:sp>
        <p:nvSpPr>
          <p:cNvPr id="52" name="内容占位符 3"/>
          <p:cNvSpPr txBox="1"/>
          <p:nvPr/>
        </p:nvSpPr>
        <p:spPr>
          <a:xfrm>
            <a:off x="962317" y="1144956"/>
            <a:ext cx="10267365" cy="542951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25000"/>
              </a:lnSpc>
              <a:spcBef>
                <a:spcPts val="300"/>
              </a:spcBef>
              <a:spcAft>
                <a:spcPts val="300"/>
              </a:spcAft>
              <a:buFont typeface="Arial" panose="020B0604020202020204" pitchFamily="34" charset="0"/>
              <a:buNone/>
            </a:pPr>
            <a:r>
              <a:rPr lang="zh-CN" altLang="en-US" sz="2400"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rPr>
              <a:t>互联网行业的“苦行僧”，由始至今从未言弃</a:t>
            </a:r>
          </a:p>
          <a:p>
            <a:pPr marL="0" indent="457200" algn="just">
              <a:lnSpc>
                <a:spcPct val="125000"/>
              </a:lnSpc>
              <a:spcBef>
                <a:spcPts val="300"/>
              </a:spcBef>
              <a:spcAft>
                <a:spcPts val="300"/>
              </a:spcAft>
              <a:buFont typeface="Arial" panose="020B0604020202020204" pitchFamily="34" charset="0"/>
              <a:buNone/>
            </a:pPr>
            <a:r>
              <a:rPr lang="en-US" altLang="zh-CN" sz="2300" dirty="0">
                <a:latin typeface="Times New Roman" panose="02020603050405020304" pitchFamily="18" charset="0"/>
                <a:ea typeface="微软雅黑" panose="020B0503020204020204" pitchFamily="34" charset="-122"/>
                <a:cs typeface="+mn-ea"/>
                <a:sym typeface="Times New Roman" panose="02020603050405020304" pitchFamily="18" charset="0"/>
              </a:rPr>
              <a:t>2009</a:t>
            </a:r>
            <a:r>
              <a:rPr lang="zh-CN" altLang="en-US" sz="2300" dirty="0">
                <a:latin typeface="Times New Roman" panose="02020603050405020304" pitchFamily="18" charset="0"/>
                <a:ea typeface="微软雅黑" panose="020B0503020204020204" pitchFamily="34" charset="-122"/>
                <a:cs typeface="+mn-ea"/>
                <a:sym typeface="Times New Roman" panose="02020603050405020304" pitchFamily="18" charset="0"/>
              </a:rPr>
              <a:t>年，中国电子信息产业的国家队</a:t>
            </a:r>
            <a:r>
              <a:rPr lang="en-US" altLang="zh-CN" sz="2300" dirty="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zh-CN" altLang="en-US" sz="2300" dirty="0">
                <a:latin typeface="Times New Roman" panose="02020603050405020304" pitchFamily="18" charset="0"/>
                <a:ea typeface="微软雅黑" panose="020B0503020204020204" pitchFamily="34" charset="-122"/>
                <a:cs typeface="+mn-ea"/>
                <a:sym typeface="Times New Roman" panose="02020603050405020304" pitchFamily="18" charset="0"/>
              </a:rPr>
              <a:t>中国电子科技集团，整合集团优势资源，投资设立普华公司，黄建忠又一次义无反顾地投身其中，成为普华技术部研发总监，中科红旗的创业团队也先后投奔过来。普华肩负提升国家基础软件产业核心竞争力的重要使命，</a:t>
            </a:r>
            <a:r>
              <a:rPr lang="en-US" altLang="zh-CN" sz="2300" dirty="0">
                <a:latin typeface="Times New Roman" panose="02020603050405020304" pitchFamily="18" charset="0"/>
                <a:ea typeface="微软雅黑" panose="020B0503020204020204" pitchFamily="34" charset="-122"/>
                <a:cs typeface="+mn-ea"/>
                <a:sym typeface="Times New Roman" panose="02020603050405020304" pitchFamily="18" charset="0"/>
              </a:rPr>
              <a:t>2014</a:t>
            </a:r>
            <a:r>
              <a:rPr lang="zh-CN" altLang="en-US" sz="2300" dirty="0">
                <a:latin typeface="Times New Roman" panose="02020603050405020304" pitchFamily="18" charset="0"/>
                <a:ea typeface="微软雅黑" panose="020B0503020204020204" pitchFamily="34" charset="-122"/>
                <a:cs typeface="+mn-ea"/>
                <a:sym typeface="Times New Roman" panose="02020603050405020304" pitchFamily="18" charset="0"/>
              </a:rPr>
              <a:t>年初正式进军国产操作系统领域。</a:t>
            </a:r>
            <a:endParaRPr lang="en-US" altLang="zh-CN" sz="23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0" indent="457200" algn="just">
              <a:lnSpc>
                <a:spcPct val="125000"/>
              </a:lnSpc>
              <a:spcBef>
                <a:spcPts val="300"/>
              </a:spcBef>
              <a:spcAft>
                <a:spcPts val="300"/>
              </a:spcAft>
              <a:buFont typeface="Arial" panose="020B0604020202020204" pitchFamily="34" charset="0"/>
              <a:buNone/>
            </a:pPr>
            <a:r>
              <a:rPr lang="zh-CN" altLang="en-US" sz="2300" dirty="0">
                <a:latin typeface="Times New Roman" panose="02020603050405020304" pitchFamily="18" charset="0"/>
                <a:ea typeface="微软雅黑" panose="020B0503020204020204" pitchFamily="34" charset="-122"/>
                <a:cs typeface="+mn-ea"/>
                <a:sym typeface="Times New Roman" panose="02020603050405020304" pitchFamily="18" charset="0"/>
              </a:rPr>
              <a:t> 雄厚的资金支持加上富有经验的团队，使得当年</a:t>
            </a:r>
            <a:r>
              <a:rPr lang="en-US" altLang="zh-CN" sz="2300" dirty="0">
                <a:latin typeface="Times New Roman" panose="02020603050405020304" pitchFamily="18" charset="0"/>
                <a:ea typeface="微软雅黑" panose="020B0503020204020204" pitchFamily="34" charset="-122"/>
                <a:cs typeface="+mn-ea"/>
                <a:sym typeface="Times New Roman" panose="02020603050405020304" pitchFamily="18" charset="0"/>
              </a:rPr>
              <a:t>9</a:t>
            </a:r>
            <a:r>
              <a:rPr lang="zh-CN" altLang="en-US" sz="2300" dirty="0">
                <a:latin typeface="Times New Roman" panose="02020603050405020304" pitchFamily="18" charset="0"/>
                <a:ea typeface="微软雅黑" panose="020B0503020204020204" pitchFamily="34" charset="-122"/>
                <a:cs typeface="+mn-ea"/>
                <a:sym typeface="Times New Roman" panose="02020603050405020304" pitchFamily="18" charset="0"/>
              </a:rPr>
              <a:t>月普华操作系统</a:t>
            </a:r>
            <a:r>
              <a:rPr lang="en-US" altLang="zh-CN" sz="2300" dirty="0">
                <a:latin typeface="Times New Roman" panose="02020603050405020304" pitchFamily="18" charset="0"/>
                <a:ea typeface="微软雅黑" panose="020B0503020204020204" pitchFamily="34" charset="-122"/>
                <a:cs typeface="+mn-ea"/>
                <a:sym typeface="Times New Roman" panose="02020603050405020304" pitchFamily="18" charset="0"/>
              </a:rPr>
              <a:t>3.0</a:t>
            </a:r>
            <a:r>
              <a:rPr lang="zh-CN" altLang="en-US" sz="2300" dirty="0">
                <a:latin typeface="Times New Roman" panose="02020603050405020304" pitchFamily="18" charset="0"/>
                <a:ea typeface="微软雅黑" panose="020B0503020204020204" pitchFamily="34" charset="-122"/>
                <a:cs typeface="+mn-ea"/>
                <a:sym typeface="Times New Roman" panose="02020603050405020304" pitchFamily="18" charset="0"/>
              </a:rPr>
              <a:t>版本便正式发布。但是走进市场才发现，绝大多数人依旧只认</a:t>
            </a:r>
            <a:r>
              <a:rPr lang="en-US" altLang="zh-CN" sz="2300" dirty="0">
                <a:latin typeface="Times New Roman" panose="02020603050405020304" pitchFamily="18" charset="0"/>
                <a:ea typeface="微软雅黑" panose="020B0503020204020204" pitchFamily="34" charset="-122"/>
                <a:cs typeface="+mn-ea"/>
                <a:sym typeface="Times New Roman" panose="02020603050405020304" pitchFamily="18" charset="0"/>
              </a:rPr>
              <a:t>Windows</a:t>
            </a:r>
            <a:r>
              <a:rPr lang="zh-CN" altLang="en-US" sz="2300" dirty="0">
                <a:latin typeface="Times New Roman" panose="02020603050405020304" pitchFamily="18" charset="0"/>
                <a:ea typeface="微软雅黑" panose="020B0503020204020204" pitchFamily="34" charset="-122"/>
                <a:cs typeface="+mn-ea"/>
                <a:sym typeface="Times New Roman" panose="02020603050405020304" pitchFamily="18" charset="0"/>
              </a:rPr>
              <a:t>！</a:t>
            </a:r>
          </a:p>
          <a:p>
            <a:pPr marL="0" indent="457200" algn="just">
              <a:lnSpc>
                <a:spcPct val="125000"/>
              </a:lnSpc>
              <a:spcBef>
                <a:spcPts val="300"/>
              </a:spcBef>
              <a:spcAft>
                <a:spcPts val="300"/>
              </a:spcAft>
              <a:buFont typeface="Arial" panose="020B0604020202020204" pitchFamily="34" charset="0"/>
              <a:buNone/>
            </a:pPr>
            <a:r>
              <a:rPr lang="zh-CN" altLang="en-US" sz="2300" dirty="0">
                <a:latin typeface="Times New Roman" panose="02020603050405020304" pitchFamily="18" charset="0"/>
                <a:ea typeface="微软雅黑" panose="020B0503020204020204" pitchFamily="34" charset="-122"/>
                <a:cs typeface="+mn-ea"/>
                <a:sym typeface="Times New Roman" panose="02020603050405020304" pitchFamily="18" charset="0"/>
              </a:rPr>
              <a:t>直到“棱镜门”事件爆发与</a:t>
            </a:r>
            <a:r>
              <a:rPr lang="en-US" altLang="zh-CN" sz="2300" dirty="0">
                <a:latin typeface="Times New Roman" panose="02020603050405020304" pitchFamily="18" charset="0"/>
                <a:ea typeface="微软雅黑" panose="020B0503020204020204" pitchFamily="34" charset="-122"/>
                <a:cs typeface="+mn-ea"/>
                <a:sym typeface="Times New Roman" panose="02020603050405020304" pitchFamily="18" charset="0"/>
              </a:rPr>
              <a:t>WannaCry</a:t>
            </a:r>
            <a:r>
              <a:rPr lang="zh-CN" altLang="en-US" sz="2300" dirty="0">
                <a:latin typeface="Times New Roman" panose="02020603050405020304" pitchFamily="18" charset="0"/>
                <a:ea typeface="微软雅黑" panose="020B0503020204020204" pitchFamily="34" charset="-122"/>
                <a:cs typeface="+mn-ea"/>
                <a:sym typeface="Times New Roman" panose="02020603050405020304" pitchFamily="18" charset="0"/>
              </a:rPr>
              <a:t>（音译“想哭”）病毒肆虐全球，网络安全才逐步上升到国家战略层面，具备网络安全优势的国产操作系统逐渐深入人心，得到了业内外的普遍认同，并逐步进入国家政府部门以及金融、能源等经济社会运行的神经中枢。</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 TOOLS.GUIDESSETTING" val="{&quot;Id&quot;:&quot;2d4375ee-8516-45e0-8956-45702a61a9b6&quot;,&quot;Name&quot;:&quot;iSlide&quot;,&quot;HeaderHeight&quot;:15.0,&quot;FooterHeight&quot;:9.0000000000000036,&quot;SideMargin&quot;:5.4999999999999982,&quot;TopMargin&quot;:0.0,&quot;BottomMargin&quot;:0.0,&quot;IntervalMargin&quot;:1.3999999999999997}"/>
  <p:tag name="ISLIDE.GUIDESSETTING" val="{&quot;Id&quot;:&quot;GuidesStyle_Normal&quot;,&quot;Name&quot;:&quot;正常&quot;,&quot;HeaderHeight&quot;:15.0,&quot;FooterHeight&quot;:9.0,&quot;SideMargin&quot;:5.5,&quot;TopMargin&quot;:0.0,&quot;BottomMargin&quot;:0.0,&quot;IntervalMargin&quot;:1.5}"/>
  <p:tag name="THINKCELLUNDODONOTDELETE" val="0"/>
  <p:tag name="ISLIDE.THEME" val="074baa65-1bcf-453b-aed6-4412331b316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A6S0wzOvQ8a50SA42PUNRg"/>
</p:tagLst>
</file>

<file path=ppt/tags/tag4.xml><?xml version="1.0" encoding="utf-8"?>
<p:tagLst xmlns:a="http://schemas.openxmlformats.org/drawingml/2006/main" xmlns:r="http://schemas.openxmlformats.org/officeDocument/2006/relationships" xmlns:p="http://schemas.openxmlformats.org/presentationml/2006/main">
  <p:tag name="ISLIDE.DIAGRAM" val="217641"/>
</p:tagLst>
</file>

<file path=ppt/tags/tag5.xml><?xml version="1.0" encoding="utf-8"?>
<p:tagLst xmlns:a="http://schemas.openxmlformats.org/drawingml/2006/main" xmlns:r="http://schemas.openxmlformats.org/officeDocument/2006/relationships" xmlns:p="http://schemas.openxmlformats.org/presentationml/2006/main">
  <p:tag name="ISLIDE.DIAGRAM" val="185926"/>
</p:tagLst>
</file>

<file path=ppt/tags/tag6.xml><?xml version="1.0" encoding="utf-8"?>
<p:tagLst xmlns:a="http://schemas.openxmlformats.org/drawingml/2006/main" xmlns:r="http://schemas.openxmlformats.org/officeDocument/2006/relationships" xmlns:p="http://schemas.openxmlformats.org/presentationml/2006/main">
  <p:tag name="ISLIDE.DIAGRAM" val="224405"/>
</p:tagLst>
</file>

<file path=ppt/tags/tag7.xml><?xml version="1.0" encoding="utf-8"?>
<p:tagLst xmlns:a="http://schemas.openxmlformats.org/drawingml/2006/main" xmlns:r="http://schemas.openxmlformats.org/officeDocument/2006/relationships" xmlns:p="http://schemas.openxmlformats.org/presentationml/2006/main">
  <p:tag name="ISLIDE.DIAGRAM" val="185926"/>
</p:tagLst>
</file>

<file path=ppt/tags/tag8.xml><?xml version="1.0" encoding="utf-8"?>
<p:tagLst xmlns:a="http://schemas.openxmlformats.org/drawingml/2006/main" xmlns:r="http://schemas.openxmlformats.org/officeDocument/2006/relationships" xmlns:p="http://schemas.openxmlformats.org/presentationml/2006/main">
  <p:tag name="ISLIDE.DIAGRAM" val="224405"/>
</p:tagLst>
</file>

<file path=ppt/theme/theme1.xml><?xml version="1.0" encoding="utf-8"?>
<a:theme xmlns:a="http://schemas.openxmlformats.org/drawingml/2006/main" name="主题5">
  <a:themeElements>
    <a:clrScheme name="自定义 15">
      <a:dk1>
        <a:srgbClr val="000000"/>
      </a:dk1>
      <a:lt1>
        <a:srgbClr val="FFFFFF"/>
      </a:lt1>
      <a:dk2>
        <a:srgbClr val="768394"/>
      </a:dk2>
      <a:lt2>
        <a:srgbClr val="F0F0F0"/>
      </a:lt2>
      <a:accent1>
        <a:srgbClr val="07416B"/>
      </a:accent1>
      <a:accent2>
        <a:srgbClr val="FFC000"/>
      </a:accent2>
      <a:accent3>
        <a:srgbClr val="00002E"/>
      </a:accent3>
      <a:accent4>
        <a:srgbClr val="031684"/>
      </a:accent4>
      <a:accent5>
        <a:srgbClr val="969696"/>
      </a:accent5>
      <a:accent6>
        <a:srgbClr val="B2B2B2"/>
      </a:accent6>
      <a:hlink>
        <a:srgbClr val="4472C4"/>
      </a:hlink>
      <a:folHlink>
        <a:srgbClr val="BFBFBF"/>
      </a:folHlink>
    </a:clrScheme>
    <a:fontScheme name="tlyz4zaq">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iSlide</Template>
  <TotalTime>4</TotalTime>
  <Words>4218</Words>
  <Application>Microsoft Office PowerPoint</Application>
  <PresentationFormat>宽屏</PresentationFormat>
  <Paragraphs>328</Paragraphs>
  <Slides>44</Slides>
  <Notes>0</Notes>
  <HiddenSlides>0</HiddenSlides>
  <MMClips>0</MMClips>
  <ScaleCrop>false</ScaleCrop>
  <HeadingPairs>
    <vt:vector size="8" baseType="variant">
      <vt:variant>
        <vt:lpstr>已用的字体</vt:lpstr>
      </vt:variant>
      <vt:variant>
        <vt:i4>5</vt:i4>
      </vt:variant>
      <vt:variant>
        <vt:lpstr>主题</vt:lpstr>
      </vt:variant>
      <vt:variant>
        <vt:i4>1</vt:i4>
      </vt:variant>
      <vt:variant>
        <vt:lpstr>嵌入 OLE 服务器</vt:lpstr>
      </vt:variant>
      <vt:variant>
        <vt:i4>1</vt:i4>
      </vt:variant>
      <vt:variant>
        <vt:lpstr>幻灯片标题</vt:lpstr>
      </vt:variant>
      <vt:variant>
        <vt:i4>44</vt:i4>
      </vt:variant>
    </vt:vector>
  </HeadingPairs>
  <TitlesOfParts>
    <vt:vector size="51" baseType="lpstr">
      <vt:lpstr>Arial</vt:lpstr>
      <vt:lpstr>Calibri</vt:lpstr>
      <vt:lpstr>Impact</vt:lpstr>
      <vt:lpstr>Times New Roman</vt:lpstr>
      <vt:lpstr>Wingdings</vt:lpstr>
      <vt:lpstr>主题5</vt:lpstr>
      <vt:lpstr>think-cell Slide</vt:lpstr>
      <vt:lpstr>第12章 保护和安全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iSlide</Manager>
  <Company>iSlide</Company>
  <LinksUpToDate>false</LinksUpToDate>
  <SharedDoc>false</SharedDoc>
  <HyperlinkBase>https://www.islide.cc</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iSlide</dc:creator>
  <cp:lastModifiedBy>先亮 江</cp:lastModifiedBy>
  <cp:revision>154</cp:revision>
  <cp:lastPrinted>2019-04-18T16:00:00Z</cp:lastPrinted>
  <dcterms:created xsi:type="dcterms:W3CDTF">2019-04-18T16:00:00Z</dcterms:created>
  <dcterms:modified xsi:type="dcterms:W3CDTF">2024-12-01T14:15:51Z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ICV">
    <vt:lpwstr>8746C9A8821C40BEB8C574B1DABDD6E7</vt:lpwstr>
  </property>
  <property fmtid="{D5CDD505-2E9C-101B-9397-08002B2CF9AE}" pid="4" name="KSOProductBuildVer">
    <vt:lpwstr>2052-11.1.0.10356</vt:lpwstr>
  </property>
</Properties>
</file>