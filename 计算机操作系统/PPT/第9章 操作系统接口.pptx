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53" r:id="rId1"/>
  </p:sldMasterIdLst>
  <p:notesMasterIdLst>
    <p:notesMasterId r:id="rId34"/>
  </p:notesMasterIdLst>
  <p:sldIdLst>
    <p:sldId id="1253" r:id="rId2"/>
    <p:sldId id="1247" r:id="rId3"/>
    <p:sldId id="1255" r:id="rId4"/>
    <p:sldId id="1256" r:id="rId5"/>
    <p:sldId id="1257" r:id="rId6"/>
    <p:sldId id="1258" r:id="rId7"/>
    <p:sldId id="1259" r:id="rId8"/>
    <p:sldId id="1260" r:id="rId9"/>
    <p:sldId id="1261" r:id="rId10"/>
    <p:sldId id="1262" r:id="rId11"/>
    <p:sldId id="1263" r:id="rId12"/>
    <p:sldId id="1264" r:id="rId13"/>
    <p:sldId id="1265" r:id="rId14"/>
    <p:sldId id="1266" r:id="rId15"/>
    <p:sldId id="1267" r:id="rId16"/>
    <p:sldId id="1268" r:id="rId17"/>
    <p:sldId id="1269" r:id="rId18"/>
    <p:sldId id="1270" r:id="rId19"/>
    <p:sldId id="1271" r:id="rId20"/>
    <p:sldId id="1272" r:id="rId21"/>
    <p:sldId id="1273" r:id="rId22"/>
    <p:sldId id="1274" r:id="rId23"/>
    <p:sldId id="1276" r:id="rId24"/>
    <p:sldId id="1277" r:id="rId25"/>
    <p:sldId id="1278" r:id="rId26"/>
    <p:sldId id="1279" r:id="rId27"/>
    <p:sldId id="1280" r:id="rId28"/>
    <p:sldId id="1281" r:id="rId29"/>
    <p:sldId id="1282" r:id="rId30"/>
    <p:sldId id="1283" r:id="rId31"/>
    <p:sldId id="1284" r:id="rId32"/>
    <p:sldId id="1254" r:id="rId3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 jr" initials="zj" lastIdx="1" clrIdx="0">
    <p:extLst>
      <p:ext uri="{19B8F6BF-5375-455C-9EA6-DF929625EA0E}">
        <p15:presenceInfo xmlns:p15="http://schemas.microsoft.com/office/powerpoint/2012/main" userId="2e4313e0a95621db"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B307E"/>
    <a:srgbClr val="FDCB0B"/>
    <a:srgbClr val="FFD700"/>
    <a:srgbClr val="F9BC12"/>
    <a:srgbClr val="FFD801"/>
    <a:srgbClr val="EFB914"/>
    <a:srgbClr val="F5BD15"/>
    <a:srgbClr val="F8BF15"/>
    <a:srgbClr val="FEC60D"/>
    <a:srgbClr val="FFC21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861"/>
    <p:restoredTop sz="84431" autoAdjust="0"/>
  </p:normalViewPr>
  <p:slideViewPr>
    <p:cSldViewPr snapToGrid="0" snapToObjects="1">
      <p:cViewPr varScale="1">
        <p:scale>
          <a:sx n="97" d="100"/>
          <a:sy n="97" d="100"/>
        </p:scale>
        <p:origin x="2370" y="120"/>
      </p:cViewPr>
      <p:guideLst/>
    </p:cSldViewPr>
  </p:slideViewPr>
  <p:outlineViewPr>
    <p:cViewPr>
      <p:scale>
        <a:sx n="33" d="100"/>
        <a:sy n="33" d="100"/>
      </p:scale>
      <p:origin x="0" y="-264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5E8472-67E5-DE40-B53F-0C0FEA434AA0}" type="datetimeFigureOut">
              <a:rPr kumimoji="1" lang="zh-CN" altLang="en-US" smtClean="0"/>
              <a:t>2022/12/2</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0B8802-914A-7C41-BC77-CC54DEE99EEF}" type="slidenum">
              <a:rPr kumimoji="1" lang="zh-CN" altLang="en-US" smtClean="0"/>
              <a:t>‹#›</a:t>
            </a:fld>
            <a:endParaRPr kumimoji="1" lang="zh-CN" altLang="en-US"/>
          </a:p>
        </p:txBody>
      </p:sp>
    </p:spTree>
    <p:extLst>
      <p:ext uri="{BB962C8B-B14F-4D97-AF65-F5344CB8AC3E}">
        <p14:creationId xmlns:p14="http://schemas.microsoft.com/office/powerpoint/2010/main" val="39560254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a:t>
            </a:fld>
            <a:endParaRPr kumimoji="1" lang="zh-CN" altLang="en-US"/>
          </a:p>
        </p:txBody>
      </p:sp>
    </p:spTree>
    <p:extLst>
      <p:ext uri="{BB962C8B-B14F-4D97-AF65-F5344CB8AC3E}">
        <p14:creationId xmlns:p14="http://schemas.microsoft.com/office/powerpoint/2010/main" val="25842765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a:t>
            </a:fld>
            <a:endParaRPr kumimoji="1" lang="zh-CN" altLang="en-US"/>
          </a:p>
        </p:txBody>
      </p:sp>
    </p:spTree>
    <p:extLst>
      <p:ext uri="{BB962C8B-B14F-4D97-AF65-F5344CB8AC3E}">
        <p14:creationId xmlns:p14="http://schemas.microsoft.com/office/powerpoint/2010/main" val="40986379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4</a:t>
            </a:fld>
            <a:endParaRPr kumimoji="1" lang="zh-CN" altLang="en-US"/>
          </a:p>
        </p:txBody>
      </p:sp>
    </p:spTree>
    <p:extLst>
      <p:ext uri="{BB962C8B-B14F-4D97-AF65-F5344CB8AC3E}">
        <p14:creationId xmlns:p14="http://schemas.microsoft.com/office/powerpoint/2010/main" val="42325138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5</a:t>
            </a:fld>
            <a:endParaRPr kumimoji="1" lang="zh-CN" altLang="en-US"/>
          </a:p>
        </p:txBody>
      </p:sp>
    </p:spTree>
    <p:extLst>
      <p:ext uri="{BB962C8B-B14F-4D97-AF65-F5344CB8AC3E}">
        <p14:creationId xmlns:p14="http://schemas.microsoft.com/office/powerpoint/2010/main" val="128799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6</a:t>
            </a:fld>
            <a:endParaRPr kumimoji="1" lang="zh-CN" altLang="en-US"/>
          </a:p>
        </p:txBody>
      </p:sp>
    </p:spTree>
    <p:extLst>
      <p:ext uri="{BB962C8B-B14F-4D97-AF65-F5344CB8AC3E}">
        <p14:creationId xmlns:p14="http://schemas.microsoft.com/office/powerpoint/2010/main" val="23041542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7</a:t>
            </a:fld>
            <a:endParaRPr kumimoji="1" lang="zh-CN" altLang="en-US"/>
          </a:p>
        </p:txBody>
      </p:sp>
    </p:spTree>
    <p:extLst>
      <p:ext uri="{BB962C8B-B14F-4D97-AF65-F5344CB8AC3E}">
        <p14:creationId xmlns:p14="http://schemas.microsoft.com/office/powerpoint/2010/main" val="2827438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8</a:t>
            </a:fld>
            <a:endParaRPr kumimoji="1" lang="zh-CN" altLang="en-US"/>
          </a:p>
        </p:txBody>
      </p:sp>
    </p:spTree>
    <p:extLst>
      <p:ext uri="{BB962C8B-B14F-4D97-AF65-F5344CB8AC3E}">
        <p14:creationId xmlns:p14="http://schemas.microsoft.com/office/powerpoint/2010/main" val="31952811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9</a:t>
            </a:fld>
            <a:endParaRPr kumimoji="1" lang="zh-CN" altLang="en-US"/>
          </a:p>
        </p:txBody>
      </p:sp>
    </p:spTree>
    <p:extLst>
      <p:ext uri="{BB962C8B-B14F-4D97-AF65-F5344CB8AC3E}">
        <p14:creationId xmlns:p14="http://schemas.microsoft.com/office/powerpoint/2010/main" val="29299650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10</a:t>
            </a:fld>
            <a:endParaRPr kumimoji="1" lang="zh-CN" altLang="en-US"/>
          </a:p>
        </p:txBody>
      </p:sp>
    </p:spTree>
    <p:extLst>
      <p:ext uri="{BB962C8B-B14F-4D97-AF65-F5344CB8AC3E}">
        <p14:creationId xmlns:p14="http://schemas.microsoft.com/office/powerpoint/2010/main" val="40150800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11</a:t>
            </a:fld>
            <a:endParaRPr kumimoji="1" lang="zh-CN" altLang="en-US"/>
          </a:p>
        </p:txBody>
      </p:sp>
    </p:spTree>
    <p:extLst>
      <p:ext uri="{BB962C8B-B14F-4D97-AF65-F5344CB8AC3E}">
        <p14:creationId xmlns:p14="http://schemas.microsoft.com/office/powerpoint/2010/main" val="12246008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12</a:t>
            </a:fld>
            <a:endParaRPr kumimoji="1" lang="zh-CN" altLang="en-US"/>
          </a:p>
        </p:txBody>
      </p:sp>
    </p:spTree>
    <p:extLst>
      <p:ext uri="{BB962C8B-B14F-4D97-AF65-F5344CB8AC3E}">
        <p14:creationId xmlns:p14="http://schemas.microsoft.com/office/powerpoint/2010/main" val="4004922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13</a:t>
            </a:fld>
            <a:endParaRPr kumimoji="1" lang="zh-CN" altLang="en-US"/>
          </a:p>
        </p:txBody>
      </p:sp>
    </p:spTree>
    <p:extLst>
      <p:ext uri="{BB962C8B-B14F-4D97-AF65-F5344CB8AC3E}">
        <p14:creationId xmlns:p14="http://schemas.microsoft.com/office/powerpoint/2010/main" val="2644511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14</a:t>
            </a:fld>
            <a:endParaRPr kumimoji="1" lang="zh-CN" altLang="en-US"/>
          </a:p>
        </p:txBody>
      </p:sp>
    </p:spTree>
    <p:extLst>
      <p:ext uri="{BB962C8B-B14F-4D97-AF65-F5344CB8AC3E}">
        <p14:creationId xmlns:p14="http://schemas.microsoft.com/office/powerpoint/2010/main" val="4662776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15</a:t>
            </a:fld>
            <a:endParaRPr kumimoji="1" lang="zh-CN" altLang="en-US"/>
          </a:p>
        </p:txBody>
      </p:sp>
    </p:spTree>
    <p:extLst>
      <p:ext uri="{BB962C8B-B14F-4D97-AF65-F5344CB8AC3E}">
        <p14:creationId xmlns:p14="http://schemas.microsoft.com/office/powerpoint/2010/main" val="42922508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16</a:t>
            </a:fld>
            <a:endParaRPr kumimoji="1" lang="zh-CN" altLang="en-US"/>
          </a:p>
        </p:txBody>
      </p:sp>
    </p:spTree>
    <p:extLst>
      <p:ext uri="{BB962C8B-B14F-4D97-AF65-F5344CB8AC3E}">
        <p14:creationId xmlns:p14="http://schemas.microsoft.com/office/powerpoint/2010/main" val="39596371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17</a:t>
            </a:fld>
            <a:endParaRPr kumimoji="1" lang="zh-CN" altLang="en-US"/>
          </a:p>
        </p:txBody>
      </p:sp>
    </p:spTree>
    <p:extLst>
      <p:ext uri="{BB962C8B-B14F-4D97-AF65-F5344CB8AC3E}">
        <p14:creationId xmlns:p14="http://schemas.microsoft.com/office/powerpoint/2010/main" val="42884577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18</a:t>
            </a:fld>
            <a:endParaRPr kumimoji="1" lang="zh-CN" altLang="en-US"/>
          </a:p>
        </p:txBody>
      </p:sp>
    </p:spTree>
    <p:extLst>
      <p:ext uri="{BB962C8B-B14F-4D97-AF65-F5344CB8AC3E}">
        <p14:creationId xmlns:p14="http://schemas.microsoft.com/office/powerpoint/2010/main" val="7863837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19</a:t>
            </a:fld>
            <a:endParaRPr kumimoji="1" lang="zh-CN" altLang="en-US"/>
          </a:p>
        </p:txBody>
      </p:sp>
    </p:spTree>
    <p:extLst>
      <p:ext uri="{BB962C8B-B14F-4D97-AF65-F5344CB8AC3E}">
        <p14:creationId xmlns:p14="http://schemas.microsoft.com/office/powerpoint/2010/main" val="33782512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20</a:t>
            </a:fld>
            <a:endParaRPr kumimoji="1" lang="zh-CN" altLang="en-US"/>
          </a:p>
        </p:txBody>
      </p:sp>
    </p:spTree>
    <p:extLst>
      <p:ext uri="{BB962C8B-B14F-4D97-AF65-F5344CB8AC3E}">
        <p14:creationId xmlns:p14="http://schemas.microsoft.com/office/powerpoint/2010/main" val="31973069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21</a:t>
            </a:fld>
            <a:endParaRPr kumimoji="1" lang="zh-CN" altLang="en-US"/>
          </a:p>
        </p:txBody>
      </p:sp>
    </p:spTree>
    <p:extLst>
      <p:ext uri="{BB962C8B-B14F-4D97-AF65-F5344CB8AC3E}">
        <p14:creationId xmlns:p14="http://schemas.microsoft.com/office/powerpoint/2010/main" val="379397339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22</a:t>
            </a:fld>
            <a:endParaRPr kumimoji="1" lang="zh-CN" altLang="en-US"/>
          </a:p>
        </p:txBody>
      </p:sp>
    </p:spTree>
    <p:extLst>
      <p:ext uri="{BB962C8B-B14F-4D97-AF65-F5344CB8AC3E}">
        <p14:creationId xmlns:p14="http://schemas.microsoft.com/office/powerpoint/2010/main" val="269282355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23</a:t>
            </a:fld>
            <a:endParaRPr kumimoji="1" lang="zh-CN" altLang="en-US"/>
          </a:p>
        </p:txBody>
      </p:sp>
    </p:spTree>
    <p:extLst>
      <p:ext uri="{BB962C8B-B14F-4D97-AF65-F5344CB8AC3E}">
        <p14:creationId xmlns:p14="http://schemas.microsoft.com/office/powerpoint/2010/main" val="348750275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24</a:t>
            </a:fld>
            <a:endParaRPr kumimoji="1" lang="zh-CN" altLang="en-US"/>
          </a:p>
        </p:txBody>
      </p:sp>
    </p:spTree>
    <p:extLst>
      <p:ext uri="{BB962C8B-B14F-4D97-AF65-F5344CB8AC3E}">
        <p14:creationId xmlns:p14="http://schemas.microsoft.com/office/powerpoint/2010/main" val="29576276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25</a:t>
            </a:fld>
            <a:endParaRPr kumimoji="1" lang="zh-CN" altLang="en-US"/>
          </a:p>
        </p:txBody>
      </p:sp>
    </p:spTree>
    <p:extLst>
      <p:ext uri="{BB962C8B-B14F-4D97-AF65-F5344CB8AC3E}">
        <p14:creationId xmlns:p14="http://schemas.microsoft.com/office/powerpoint/2010/main" val="388997858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26</a:t>
            </a:fld>
            <a:endParaRPr kumimoji="1" lang="zh-CN" altLang="en-US"/>
          </a:p>
        </p:txBody>
      </p:sp>
    </p:spTree>
    <p:extLst>
      <p:ext uri="{BB962C8B-B14F-4D97-AF65-F5344CB8AC3E}">
        <p14:creationId xmlns:p14="http://schemas.microsoft.com/office/powerpoint/2010/main" val="22466411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27</a:t>
            </a:fld>
            <a:endParaRPr kumimoji="1" lang="zh-CN" altLang="en-US"/>
          </a:p>
        </p:txBody>
      </p:sp>
    </p:spTree>
    <p:extLst>
      <p:ext uri="{BB962C8B-B14F-4D97-AF65-F5344CB8AC3E}">
        <p14:creationId xmlns:p14="http://schemas.microsoft.com/office/powerpoint/2010/main" val="347434592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28</a:t>
            </a:fld>
            <a:endParaRPr kumimoji="1" lang="zh-CN" altLang="en-US"/>
          </a:p>
        </p:txBody>
      </p:sp>
    </p:spTree>
    <p:extLst>
      <p:ext uri="{BB962C8B-B14F-4D97-AF65-F5344CB8AC3E}">
        <p14:creationId xmlns:p14="http://schemas.microsoft.com/office/powerpoint/2010/main" val="82145187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29</a:t>
            </a:fld>
            <a:endParaRPr kumimoji="1" lang="zh-CN" altLang="en-US"/>
          </a:p>
        </p:txBody>
      </p:sp>
    </p:spTree>
    <p:extLst>
      <p:ext uri="{BB962C8B-B14F-4D97-AF65-F5344CB8AC3E}">
        <p14:creationId xmlns:p14="http://schemas.microsoft.com/office/powerpoint/2010/main" val="66447364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30</a:t>
            </a:fld>
            <a:endParaRPr kumimoji="1" lang="zh-CN" altLang="en-US"/>
          </a:p>
        </p:txBody>
      </p:sp>
    </p:spTree>
    <p:extLst>
      <p:ext uri="{BB962C8B-B14F-4D97-AF65-F5344CB8AC3E}">
        <p14:creationId xmlns:p14="http://schemas.microsoft.com/office/powerpoint/2010/main" val="384675208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31</a:t>
            </a:fld>
            <a:endParaRPr kumimoji="1" lang="zh-CN" altLang="en-US"/>
          </a:p>
        </p:txBody>
      </p:sp>
    </p:spTree>
    <p:extLst>
      <p:ext uri="{BB962C8B-B14F-4D97-AF65-F5344CB8AC3E}">
        <p14:creationId xmlns:p14="http://schemas.microsoft.com/office/powerpoint/2010/main" val="31802259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F97C75-78EB-4043-953B-95F867F42CEE}"/>
              </a:ext>
            </a:extLst>
          </p:cNvPr>
          <p:cNvSpPr>
            <a:spLocks noGrp="1"/>
          </p:cNvSpPr>
          <p:nvPr>
            <p:ph type="ctrTitle" hasCustomPrompt="1"/>
          </p:nvPr>
        </p:nvSpPr>
        <p:spPr>
          <a:xfrm>
            <a:off x="1524000" y="1122363"/>
            <a:ext cx="9144000" cy="2387600"/>
          </a:xfrm>
        </p:spPr>
        <p:txBody>
          <a:bodyPr anchor="b">
            <a:normAutofit/>
          </a:bodyPr>
          <a:lstStyle>
            <a:lvl1pPr algn="ctr">
              <a:defRPr sz="5400">
                <a:latin typeface="Times New Roman" panose="02020603050405020304" pitchFamily="18" charset="0"/>
                <a:ea typeface="+mn-ea"/>
                <a:cs typeface="Times New Roman" panose="02020603050405020304" pitchFamily="18" charset="0"/>
              </a:defRPr>
            </a:lvl1pPr>
          </a:lstStyle>
          <a:p>
            <a:r>
              <a:rPr kumimoji="1" lang="zh-CN" altLang="en-US" dirty="0"/>
              <a:t>单击此处编辑母版标题样式</a:t>
            </a:r>
            <a:br>
              <a:rPr kumimoji="1" lang="en-US" altLang="zh-CN" dirty="0"/>
            </a:br>
            <a:endParaRPr kumimoji="1" lang="zh-CN" altLang="en-US" dirty="0"/>
          </a:p>
        </p:txBody>
      </p:sp>
      <p:sp>
        <p:nvSpPr>
          <p:cNvPr id="3" name="副标题 2">
            <a:extLst>
              <a:ext uri="{FF2B5EF4-FFF2-40B4-BE49-F238E27FC236}">
                <a16:creationId xmlns:a16="http://schemas.microsoft.com/office/drawing/2014/main" id="{421C1163-5F70-9046-86B2-81951DCE1A96}"/>
              </a:ext>
            </a:extLst>
          </p:cNvPr>
          <p:cNvSpPr>
            <a:spLocks noGrp="1"/>
          </p:cNvSpPr>
          <p:nvPr>
            <p:ph type="subTitle" idx="1"/>
          </p:nvPr>
        </p:nvSpPr>
        <p:spPr>
          <a:xfrm>
            <a:off x="1524000" y="3602038"/>
            <a:ext cx="9144000" cy="1655762"/>
          </a:xfrm>
          <a:ln>
            <a:noFill/>
          </a:ln>
        </p:spPr>
        <p:txBody>
          <a:bodyPr/>
          <a:lstStyle>
            <a:lvl1pPr marL="0" indent="0" algn="ctr">
              <a:buNone/>
              <a:defRPr sz="2400">
                <a:latin typeface="Times New Roman" panose="02020603050405020304" pitchFamily="18" charset="0"/>
                <a:ea typeface="+mn-ea"/>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kumimoji="1" lang="en-US" altLang="zh-CN" dirty="0"/>
          </a:p>
          <a:p>
            <a:r>
              <a:rPr kumimoji="1" lang="zh-CN" altLang="en-US" dirty="0"/>
              <a:t>单击此处编辑母版副标题样式</a:t>
            </a:r>
          </a:p>
        </p:txBody>
      </p:sp>
      <p:sp>
        <p:nvSpPr>
          <p:cNvPr id="4" name="日期占位符 3">
            <a:extLst>
              <a:ext uri="{FF2B5EF4-FFF2-40B4-BE49-F238E27FC236}">
                <a16:creationId xmlns:a16="http://schemas.microsoft.com/office/drawing/2014/main" id="{9C07FD42-40C8-0740-93F0-4905CF427A8F}"/>
              </a:ext>
            </a:extLst>
          </p:cNvPr>
          <p:cNvSpPr>
            <a:spLocks noGrp="1"/>
          </p:cNvSpPr>
          <p:nvPr>
            <p:ph type="dt" sz="half" idx="10"/>
          </p:nvPr>
        </p:nvSpPr>
        <p:spPr/>
        <p:txBody>
          <a:bodyPr/>
          <a:lstStyle>
            <a:lvl1pPr>
              <a:defRPr>
                <a:latin typeface="Times New Roman" panose="02020603050405020304" pitchFamily="18" charset="0"/>
                <a:ea typeface="+mn-ea"/>
                <a:cs typeface="Times New Roman" panose="02020603050405020304" pitchFamily="18" charset="0"/>
              </a:defRPr>
            </a:lvl1pPr>
          </a:lstStyle>
          <a:p>
            <a:fld id="{E6C9AC36-F551-8142-B918-8641B516A611}" type="datetime1">
              <a:rPr kumimoji="1" lang="zh-CN" altLang="en-US" smtClean="0"/>
              <a:pPr/>
              <a:t>2022/12/2</a:t>
            </a:fld>
            <a:endParaRPr kumimoji="1" lang="zh-CN" altLang="en-US" dirty="0"/>
          </a:p>
        </p:txBody>
      </p:sp>
      <p:sp>
        <p:nvSpPr>
          <p:cNvPr id="5" name="页脚占位符 4">
            <a:extLst>
              <a:ext uri="{FF2B5EF4-FFF2-40B4-BE49-F238E27FC236}">
                <a16:creationId xmlns:a16="http://schemas.microsoft.com/office/drawing/2014/main" id="{B598E813-0309-7546-9A4F-6893C100586A}"/>
              </a:ext>
            </a:extLst>
          </p:cNvPr>
          <p:cNvSpPr>
            <a:spLocks noGrp="1"/>
          </p:cNvSpPr>
          <p:nvPr>
            <p:ph type="ftr" sz="quarter" idx="11"/>
          </p:nvPr>
        </p:nvSpPr>
        <p:spPr/>
        <p:txBody>
          <a:bodyPr/>
          <a:lstStyle>
            <a:lvl1pPr>
              <a:defRPr>
                <a:latin typeface="Times New Roman" panose="02020603050405020304" pitchFamily="18" charset="0"/>
                <a:ea typeface="+mn-ea"/>
                <a:cs typeface="Times New Roman" panose="02020603050405020304" pitchFamily="18" charset="0"/>
              </a:defRPr>
            </a:lvl1pPr>
          </a:lstStyle>
          <a:p>
            <a:endParaRPr kumimoji="1" lang="zh-CN" altLang="en-US" dirty="0"/>
          </a:p>
        </p:txBody>
      </p:sp>
      <p:sp>
        <p:nvSpPr>
          <p:cNvPr id="7" name="矩形 6">
            <a:extLst>
              <a:ext uri="{FF2B5EF4-FFF2-40B4-BE49-F238E27FC236}">
                <a16:creationId xmlns:a16="http://schemas.microsoft.com/office/drawing/2014/main" id="{B6F9E280-F138-8142-8DB1-324EA9F38324}"/>
              </a:ext>
            </a:extLst>
          </p:cNvPr>
          <p:cNvSpPr/>
          <p:nvPr userDrawn="1"/>
        </p:nvSpPr>
        <p:spPr>
          <a:xfrm>
            <a:off x="-9939" y="-8627"/>
            <a:ext cx="9307502" cy="56781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b="0" spc="600" dirty="0">
                <a:solidFill>
                  <a:schemeClr val="bg1"/>
                </a:solidFill>
                <a:latin typeface="Times New Roman" panose="02020603050405020304" pitchFamily="18" charset="0"/>
                <a:ea typeface="+mn-ea"/>
                <a:cs typeface="Times New Roman" panose="02020603050405020304" pitchFamily="18" charset="0"/>
              </a:rPr>
              <a:t>操作系统讲义</a:t>
            </a:r>
          </a:p>
        </p:txBody>
      </p:sp>
      <p:sp>
        <p:nvSpPr>
          <p:cNvPr id="9" name="文本框 8">
            <a:extLst>
              <a:ext uri="{FF2B5EF4-FFF2-40B4-BE49-F238E27FC236}">
                <a16:creationId xmlns:a16="http://schemas.microsoft.com/office/drawing/2014/main" id="{56DF02C2-66E0-594F-914D-47F0EC7AA666}"/>
              </a:ext>
            </a:extLst>
          </p:cNvPr>
          <p:cNvSpPr txBox="1"/>
          <p:nvPr userDrawn="1"/>
        </p:nvSpPr>
        <p:spPr>
          <a:xfrm>
            <a:off x="9488849" y="123270"/>
            <a:ext cx="2509020" cy="400110"/>
          </a:xfrm>
          <a:prstGeom prst="rect">
            <a:avLst/>
          </a:prstGeom>
          <a:noFill/>
        </p:spPr>
        <p:txBody>
          <a:bodyPr wrap="none" rtlCol="0">
            <a:spAutoFit/>
          </a:bodyPr>
          <a:lstStyle/>
          <a:p>
            <a:pPr algn="r"/>
            <a:r>
              <a:rPr lang="zh-CN" altLang="en-US" sz="2000" spc="600" dirty="0">
                <a:solidFill>
                  <a:srgbClr val="5B307E"/>
                </a:solidFill>
                <a:latin typeface="Times New Roman" panose="02020603050405020304" pitchFamily="18" charset="0"/>
                <a:ea typeface="+mn-ea"/>
                <a:cs typeface="Times New Roman" panose="02020603050405020304" pitchFamily="18" charset="0"/>
              </a:rPr>
              <a:t>分享</a:t>
            </a:r>
            <a:r>
              <a:rPr lang="en-US" altLang="zh-CN" sz="2000" spc="600" dirty="0">
                <a:solidFill>
                  <a:srgbClr val="5B307E"/>
                </a:solidFill>
                <a:latin typeface="Times New Roman" panose="02020603050405020304" pitchFamily="18" charset="0"/>
                <a:ea typeface="+mn-ea"/>
                <a:cs typeface="Times New Roman" panose="02020603050405020304" pitchFamily="18" charset="0"/>
              </a:rPr>
              <a:t>·</a:t>
            </a:r>
            <a:r>
              <a:rPr lang="zh-CN" altLang="en-US" sz="2000" spc="600" dirty="0">
                <a:solidFill>
                  <a:srgbClr val="5B307E"/>
                </a:solidFill>
                <a:latin typeface="Times New Roman" panose="02020603050405020304" pitchFamily="18" charset="0"/>
                <a:ea typeface="+mn-ea"/>
                <a:cs typeface="Times New Roman" panose="02020603050405020304" pitchFamily="18" charset="0"/>
              </a:rPr>
              <a:t>开源</a:t>
            </a:r>
            <a:r>
              <a:rPr lang="en-US" altLang="zh-CN" sz="2000" spc="600" dirty="0">
                <a:solidFill>
                  <a:srgbClr val="5B307E"/>
                </a:solidFill>
                <a:latin typeface="Times New Roman" panose="02020603050405020304" pitchFamily="18" charset="0"/>
                <a:ea typeface="+mn-ea"/>
                <a:cs typeface="Times New Roman" panose="02020603050405020304" pitchFamily="18" charset="0"/>
              </a:rPr>
              <a:t>·</a:t>
            </a:r>
            <a:r>
              <a:rPr lang="zh-CN" altLang="en-US" sz="2000" spc="600" dirty="0">
                <a:solidFill>
                  <a:srgbClr val="5B307E"/>
                </a:solidFill>
                <a:latin typeface="Times New Roman" panose="02020603050405020304" pitchFamily="18" charset="0"/>
                <a:ea typeface="+mn-ea"/>
                <a:cs typeface="Times New Roman" panose="02020603050405020304" pitchFamily="18" charset="0"/>
              </a:rPr>
              <a:t>系统</a:t>
            </a:r>
          </a:p>
        </p:txBody>
      </p:sp>
    </p:spTree>
    <p:extLst>
      <p:ext uri="{BB962C8B-B14F-4D97-AF65-F5344CB8AC3E}">
        <p14:creationId xmlns:p14="http://schemas.microsoft.com/office/powerpoint/2010/main" val="38909479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3457C5-5D0E-4F46-9D0B-7EA2985DFFE7}"/>
              </a:ext>
            </a:extLst>
          </p:cNvPr>
          <p:cNvSpPr>
            <a:spLocks noGrp="1"/>
          </p:cNvSpPr>
          <p:nvPr>
            <p:ph type="title"/>
          </p:nvPr>
        </p:nvSpPr>
        <p:spPr/>
        <p:txBody>
          <a:bodyPr>
            <a:normAutofit/>
          </a:bodyPr>
          <a:lstStyle>
            <a:lvl1pPr>
              <a:defRPr sz="4000">
                <a:latin typeface="Times New Roman" panose="02020603050405020304" pitchFamily="18" charset="0"/>
                <a:ea typeface="+mn-ea"/>
                <a:cs typeface="Times New Roman" panose="02020603050405020304" pitchFamily="18" charset="0"/>
              </a:defRPr>
            </a:lvl1pPr>
          </a:lstStyle>
          <a:p>
            <a:r>
              <a:rPr kumimoji="1" lang="zh-CN" altLang="en-US" dirty="0"/>
              <a:t>单击此处编辑母版标题样式</a:t>
            </a:r>
          </a:p>
        </p:txBody>
      </p:sp>
      <p:sp>
        <p:nvSpPr>
          <p:cNvPr id="3" name="内容占位符 2">
            <a:extLst>
              <a:ext uri="{FF2B5EF4-FFF2-40B4-BE49-F238E27FC236}">
                <a16:creationId xmlns:a16="http://schemas.microsoft.com/office/drawing/2014/main" id="{D2FA45BE-434F-B44C-99F8-C563AC076A02}"/>
              </a:ext>
            </a:extLst>
          </p:cNvPr>
          <p:cNvSpPr>
            <a:spLocks noGrp="1"/>
          </p:cNvSpPr>
          <p:nvPr>
            <p:ph idx="1"/>
          </p:nvPr>
        </p:nvSpPr>
        <p:spPr>
          <a:xfrm>
            <a:off x="838200" y="1510758"/>
            <a:ext cx="10515600" cy="4586694"/>
          </a:xfrm>
        </p:spPr>
        <p:txBody>
          <a:bodyPr/>
          <a:lstStyle>
            <a:lvl1pPr marL="360363" indent="-360363">
              <a:lnSpc>
                <a:spcPct val="100000"/>
              </a:lnSpc>
              <a:spcBef>
                <a:spcPts val="600"/>
              </a:spcBef>
              <a:buFont typeface="Wingdings" pitchFamily="2" charset="2"/>
              <a:buChar char="Ø"/>
              <a:tabLst/>
              <a:defRPr>
                <a:latin typeface="Times New Roman" panose="02020603050405020304" pitchFamily="18" charset="0"/>
                <a:ea typeface="+mn-ea"/>
                <a:cs typeface="Times New Roman" panose="02020603050405020304" pitchFamily="18" charset="0"/>
              </a:defRPr>
            </a:lvl1pPr>
            <a:lvl2pPr>
              <a:lnSpc>
                <a:spcPct val="100000"/>
              </a:lnSpc>
              <a:spcBef>
                <a:spcPts val="600"/>
              </a:spcBef>
              <a:buFont typeface="Arial" panose="020B0604020202020204" pitchFamily="34" charset="0"/>
              <a:buChar char="•"/>
              <a:defRPr>
                <a:latin typeface="Times New Roman" panose="02020603050405020304" pitchFamily="18" charset="0"/>
                <a:ea typeface="+mn-ea"/>
                <a:cs typeface="Times New Roman" panose="02020603050405020304" pitchFamily="18" charset="0"/>
              </a:defRPr>
            </a:lvl2pPr>
            <a:lvl3pPr>
              <a:lnSpc>
                <a:spcPct val="100000"/>
              </a:lnSpc>
              <a:spcBef>
                <a:spcPts val="600"/>
              </a:spcBef>
              <a:defRPr>
                <a:latin typeface="Times New Roman" panose="02020603050405020304" pitchFamily="18" charset="0"/>
                <a:ea typeface="+mn-ea"/>
                <a:cs typeface="Times New Roman" panose="02020603050405020304" pitchFamily="18" charset="0"/>
              </a:defRPr>
            </a:lvl3pPr>
            <a:lvl4pPr>
              <a:lnSpc>
                <a:spcPct val="100000"/>
              </a:lnSpc>
              <a:spcBef>
                <a:spcPts val="600"/>
              </a:spcBef>
              <a:defRPr>
                <a:latin typeface="Times New Roman" panose="02020603050405020304" pitchFamily="18" charset="0"/>
                <a:ea typeface="+mn-ea"/>
                <a:cs typeface="Times New Roman" panose="02020603050405020304" pitchFamily="18" charset="0"/>
              </a:defRPr>
            </a:lvl4pPr>
            <a:lvl5pPr>
              <a:lnSpc>
                <a:spcPct val="100000"/>
              </a:lnSpc>
              <a:spcBef>
                <a:spcPts val="600"/>
              </a:spcBef>
              <a:defRPr>
                <a:latin typeface="Times New Roman" panose="02020603050405020304" pitchFamily="18" charset="0"/>
                <a:ea typeface="+mn-ea"/>
                <a:cs typeface="Times New Roman" panose="02020603050405020304" pitchFamily="18" charset="0"/>
              </a:defRPr>
            </a:lvl5p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日期占位符 3">
            <a:extLst>
              <a:ext uri="{FF2B5EF4-FFF2-40B4-BE49-F238E27FC236}">
                <a16:creationId xmlns:a16="http://schemas.microsoft.com/office/drawing/2014/main" id="{5A1C8C13-A111-E44B-BB6E-32C9AFF870A6}"/>
              </a:ext>
            </a:extLst>
          </p:cNvPr>
          <p:cNvSpPr>
            <a:spLocks noGrp="1"/>
          </p:cNvSpPr>
          <p:nvPr>
            <p:ph type="dt" sz="half" idx="10"/>
          </p:nvPr>
        </p:nvSpPr>
        <p:spPr/>
        <p:txBody>
          <a:bodyPr/>
          <a:lstStyle>
            <a:lvl1pPr>
              <a:defRPr>
                <a:latin typeface="Times New Roman" panose="02020603050405020304" pitchFamily="18" charset="0"/>
                <a:ea typeface="+mn-ea"/>
                <a:cs typeface="Times New Roman" panose="02020603050405020304" pitchFamily="18" charset="0"/>
              </a:defRPr>
            </a:lvl1pPr>
          </a:lstStyle>
          <a:p>
            <a:fld id="{D9F44458-A3AD-7248-AB3A-A80099144E2A}" type="datetime1">
              <a:rPr kumimoji="1" lang="zh-CN" altLang="en-US" smtClean="0"/>
              <a:pPr/>
              <a:t>2022/12/2</a:t>
            </a:fld>
            <a:endParaRPr kumimoji="1" lang="zh-CN" altLang="en-US"/>
          </a:p>
        </p:txBody>
      </p:sp>
      <p:sp>
        <p:nvSpPr>
          <p:cNvPr id="5" name="页脚占位符 4">
            <a:extLst>
              <a:ext uri="{FF2B5EF4-FFF2-40B4-BE49-F238E27FC236}">
                <a16:creationId xmlns:a16="http://schemas.microsoft.com/office/drawing/2014/main" id="{3A7B7B75-EEC1-2D4D-AB7C-5A3514969529}"/>
              </a:ext>
            </a:extLst>
          </p:cNvPr>
          <p:cNvSpPr>
            <a:spLocks noGrp="1"/>
          </p:cNvSpPr>
          <p:nvPr>
            <p:ph type="ftr" sz="quarter" idx="11"/>
          </p:nvPr>
        </p:nvSpPr>
        <p:spPr/>
        <p:txBody>
          <a:bodyPr/>
          <a:lstStyle>
            <a:lvl1pPr>
              <a:defRPr>
                <a:latin typeface="Times New Roman" panose="02020603050405020304" pitchFamily="18" charset="0"/>
                <a:ea typeface="+mn-ea"/>
                <a:cs typeface="Times New Roman" panose="02020603050405020304" pitchFamily="18" charset="0"/>
              </a:defRPr>
            </a:lvl1pPr>
          </a:lstStyle>
          <a:p>
            <a:endParaRPr kumimoji="1" lang="zh-CN" altLang="en-US"/>
          </a:p>
        </p:txBody>
      </p:sp>
      <p:sp>
        <p:nvSpPr>
          <p:cNvPr id="6" name="灯片编号占位符 5">
            <a:extLst>
              <a:ext uri="{FF2B5EF4-FFF2-40B4-BE49-F238E27FC236}">
                <a16:creationId xmlns:a16="http://schemas.microsoft.com/office/drawing/2014/main" id="{8FDBE6BC-6A1B-1944-BBB6-30FD8C33B360}"/>
              </a:ext>
            </a:extLst>
          </p:cNvPr>
          <p:cNvSpPr>
            <a:spLocks noGrp="1"/>
          </p:cNvSpPr>
          <p:nvPr>
            <p:ph type="sldNum" sz="quarter" idx="12"/>
          </p:nvPr>
        </p:nvSpPr>
        <p:spPr/>
        <p:txBody>
          <a:bodyPr/>
          <a:lstStyle>
            <a:lvl1pPr>
              <a:defRPr>
                <a:latin typeface="Times New Roman" panose="02020603050405020304" pitchFamily="18" charset="0"/>
                <a:ea typeface="+mn-ea"/>
                <a:cs typeface="Times New Roman" panose="02020603050405020304" pitchFamily="18" charset="0"/>
              </a:defRPr>
            </a:lvl1pPr>
          </a:lstStyle>
          <a:p>
            <a:fld id="{8D4D1E41-7A09-AB4A-A4E1-09765ADA2698}" type="slidenum">
              <a:rPr kumimoji="1" lang="zh-CN" altLang="en-US" smtClean="0"/>
              <a:pPr/>
              <a:t>‹#›</a:t>
            </a:fld>
            <a:endParaRPr kumimoji="1" lang="zh-CN" altLang="en-US" dirty="0"/>
          </a:p>
        </p:txBody>
      </p:sp>
      <p:cxnSp>
        <p:nvCxnSpPr>
          <p:cNvPr id="40" name="直线连接符 39">
            <a:extLst>
              <a:ext uri="{FF2B5EF4-FFF2-40B4-BE49-F238E27FC236}">
                <a16:creationId xmlns:a16="http://schemas.microsoft.com/office/drawing/2014/main" id="{9E7AFED4-5702-094E-A3B8-21EB069F234E}"/>
              </a:ext>
            </a:extLst>
          </p:cNvPr>
          <p:cNvCxnSpPr>
            <a:cxnSpLocks/>
          </p:cNvCxnSpPr>
          <p:nvPr userDrawn="1"/>
        </p:nvCxnSpPr>
        <p:spPr>
          <a:xfrm>
            <a:off x="1314788" y="1244212"/>
            <a:ext cx="7295812" cy="0"/>
          </a:xfrm>
          <a:prstGeom prst="line">
            <a:avLst/>
          </a:prstGeom>
          <a:ln w="19050">
            <a:solidFill>
              <a:srgbClr val="5C307E"/>
            </a:solidFill>
          </a:ln>
        </p:spPr>
        <p:style>
          <a:lnRef idx="1">
            <a:schemeClr val="accent1"/>
          </a:lnRef>
          <a:fillRef idx="0">
            <a:schemeClr val="accent1"/>
          </a:fillRef>
          <a:effectRef idx="0">
            <a:schemeClr val="accent1"/>
          </a:effectRef>
          <a:fontRef idx="minor">
            <a:schemeClr val="tx1"/>
          </a:fontRef>
        </p:style>
      </p:cxnSp>
      <p:cxnSp>
        <p:nvCxnSpPr>
          <p:cNvPr id="64" name="直线连接符 63">
            <a:extLst>
              <a:ext uri="{FF2B5EF4-FFF2-40B4-BE49-F238E27FC236}">
                <a16:creationId xmlns:a16="http://schemas.microsoft.com/office/drawing/2014/main" id="{06B569DB-EE88-CB4A-A634-A7CA45E81663}"/>
              </a:ext>
            </a:extLst>
          </p:cNvPr>
          <p:cNvCxnSpPr>
            <a:cxnSpLocks/>
          </p:cNvCxnSpPr>
          <p:nvPr userDrawn="1"/>
        </p:nvCxnSpPr>
        <p:spPr>
          <a:xfrm>
            <a:off x="9640085" y="559432"/>
            <a:ext cx="0" cy="625672"/>
          </a:xfrm>
          <a:prstGeom prst="line">
            <a:avLst/>
          </a:prstGeom>
          <a:ln w="12700" cap="rnd">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71" name="组合 70">
            <a:extLst>
              <a:ext uri="{FF2B5EF4-FFF2-40B4-BE49-F238E27FC236}">
                <a16:creationId xmlns:a16="http://schemas.microsoft.com/office/drawing/2014/main" id="{C1D75728-DE08-814F-9EF0-7E9AFB999FE6}"/>
              </a:ext>
            </a:extLst>
          </p:cNvPr>
          <p:cNvGrpSpPr/>
          <p:nvPr userDrawn="1"/>
        </p:nvGrpSpPr>
        <p:grpSpPr>
          <a:xfrm>
            <a:off x="715452" y="634525"/>
            <a:ext cx="403039" cy="321898"/>
            <a:chOff x="1368170" y="664579"/>
            <a:chExt cx="550582" cy="439737"/>
          </a:xfrm>
          <a:solidFill>
            <a:schemeClr val="bg1"/>
          </a:solidFill>
        </p:grpSpPr>
        <p:sp>
          <p:nvSpPr>
            <p:cNvPr id="72" name="Freeform 1">
              <a:extLst>
                <a:ext uri="{FF2B5EF4-FFF2-40B4-BE49-F238E27FC236}">
                  <a16:creationId xmlns:a16="http://schemas.microsoft.com/office/drawing/2014/main" id="{53F1A011-1E52-3140-9C21-8911AB32201B}"/>
                </a:ext>
              </a:extLst>
            </p:cNvPr>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n-ea"/>
                <a:cs typeface="Times New Roman" panose="02020603050405020304" pitchFamily="18" charset="0"/>
              </a:endParaRPr>
            </a:p>
          </p:txBody>
        </p:sp>
        <p:sp>
          <p:nvSpPr>
            <p:cNvPr id="73" name="Freeform 2">
              <a:extLst>
                <a:ext uri="{FF2B5EF4-FFF2-40B4-BE49-F238E27FC236}">
                  <a16:creationId xmlns:a16="http://schemas.microsoft.com/office/drawing/2014/main" id="{364873AD-F7AE-3D48-84F0-C71836518975}"/>
                </a:ext>
              </a:extLst>
            </p:cNvPr>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n-ea"/>
                <a:cs typeface="Times New Roman" panose="02020603050405020304" pitchFamily="18" charset="0"/>
              </a:endParaRPr>
            </a:p>
          </p:txBody>
        </p:sp>
        <p:sp>
          <p:nvSpPr>
            <p:cNvPr id="74" name="Freeform 3">
              <a:extLst>
                <a:ext uri="{FF2B5EF4-FFF2-40B4-BE49-F238E27FC236}">
                  <a16:creationId xmlns:a16="http://schemas.microsoft.com/office/drawing/2014/main" id="{5B03D593-4A0D-DF4E-8474-4FAD50C6BCB7}"/>
                </a:ext>
              </a:extLst>
            </p:cNvPr>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n-ea"/>
                <a:cs typeface="Times New Roman" panose="02020603050405020304" pitchFamily="18" charset="0"/>
              </a:endParaRPr>
            </a:p>
          </p:txBody>
        </p:sp>
        <p:sp>
          <p:nvSpPr>
            <p:cNvPr id="75" name="Freeform 4">
              <a:extLst>
                <a:ext uri="{FF2B5EF4-FFF2-40B4-BE49-F238E27FC236}">
                  <a16:creationId xmlns:a16="http://schemas.microsoft.com/office/drawing/2014/main" id="{1A0E5E70-2235-6044-9E4C-A8D32092980C}"/>
                </a:ext>
              </a:extLst>
            </p:cNvPr>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n-ea"/>
                <a:cs typeface="Times New Roman" panose="02020603050405020304" pitchFamily="18" charset="0"/>
              </a:endParaRPr>
            </a:p>
          </p:txBody>
        </p:sp>
        <p:sp>
          <p:nvSpPr>
            <p:cNvPr id="76" name="Freeform 5">
              <a:extLst>
                <a:ext uri="{FF2B5EF4-FFF2-40B4-BE49-F238E27FC236}">
                  <a16:creationId xmlns:a16="http://schemas.microsoft.com/office/drawing/2014/main" id="{9F25C08B-5CAA-1D40-B768-CF07CC9095C1}"/>
                </a:ext>
              </a:extLst>
            </p:cNvPr>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n-ea"/>
                <a:cs typeface="Times New Roman" panose="02020603050405020304" pitchFamily="18" charset="0"/>
              </a:endParaRPr>
            </a:p>
          </p:txBody>
        </p:sp>
        <p:sp>
          <p:nvSpPr>
            <p:cNvPr id="77" name="Freeform 6">
              <a:extLst>
                <a:ext uri="{FF2B5EF4-FFF2-40B4-BE49-F238E27FC236}">
                  <a16:creationId xmlns:a16="http://schemas.microsoft.com/office/drawing/2014/main" id="{A1A66D2D-2EC2-AA45-8DA4-4B543D6DB3C7}"/>
                </a:ext>
              </a:extLst>
            </p:cNvPr>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n-ea"/>
                <a:cs typeface="Times New Roman" panose="02020603050405020304" pitchFamily="18" charset="0"/>
              </a:endParaRPr>
            </a:p>
          </p:txBody>
        </p:sp>
        <p:sp>
          <p:nvSpPr>
            <p:cNvPr id="78" name="Freeform 7">
              <a:extLst>
                <a:ext uri="{FF2B5EF4-FFF2-40B4-BE49-F238E27FC236}">
                  <a16:creationId xmlns:a16="http://schemas.microsoft.com/office/drawing/2014/main" id="{BF5A2635-9D3C-B746-B7BB-00E1B5440D84}"/>
                </a:ext>
              </a:extLst>
            </p:cNvPr>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n-ea"/>
                <a:cs typeface="Times New Roman" panose="02020603050405020304" pitchFamily="18" charset="0"/>
              </a:endParaRPr>
            </a:p>
          </p:txBody>
        </p:sp>
        <p:sp>
          <p:nvSpPr>
            <p:cNvPr id="79" name="Freeform 8">
              <a:extLst>
                <a:ext uri="{FF2B5EF4-FFF2-40B4-BE49-F238E27FC236}">
                  <a16:creationId xmlns:a16="http://schemas.microsoft.com/office/drawing/2014/main" id="{9A427AEE-5F0B-1D43-8127-A5A07CDC3AC8}"/>
                </a:ext>
              </a:extLst>
            </p:cNvPr>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n-ea"/>
                <a:cs typeface="Times New Roman" panose="02020603050405020304" pitchFamily="18" charset="0"/>
              </a:endParaRPr>
            </a:p>
          </p:txBody>
        </p:sp>
        <p:sp>
          <p:nvSpPr>
            <p:cNvPr id="80" name="Freeform 9">
              <a:extLst>
                <a:ext uri="{FF2B5EF4-FFF2-40B4-BE49-F238E27FC236}">
                  <a16:creationId xmlns:a16="http://schemas.microsoft.com/office/drawing/2014/main" id="{E60E42BA-4A46-4D41-AA72-E2F725048BE0}"/>
                </a:ext>
              </a:extLst>
            </p:cNvPr>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n-ea"/>
                <a:cs typeface="Times New Roman" panose="02020603050405020304" pitchFamily="18" charset="0"/>
              </a:endParaRPr>
            </a:p>
          </p:txBody>
        </p:sp>
        <p:sp>
          <p:nvSpPr>
            <p:cNvPr id="81" name="Freeform 10">
              <a:extLst>
                <a:ext uri="{FF2B5EF4-FFF2-40B4-BE49-F238E27FC236}">
                  <a16:creationId xmlns:a16="http://schemas.microsoft.com/office/drawing/2014/main" id="{5B1734EF-4E6E-164F-849F-5F01256562DA}"/>
                </a:ext>
              </a:extLst>
            </p:cNvPr>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n-ea"/>
                <a:cs typeface="Times New Roman" panose="02020603050405020304" pitchFamily="18" charset="0"/>
              </a:endParaRPr>
            </a:p>
          </p:txBody>
        </p:sp>
        <p:sp>
          <p:nvSpPr>
            <p:cNvPr id="82" name="Freeform 11">
              <a:extLst>
                <a:ext uri="{FF2B5EF4-FFF2-40B4-BE49-F238E27FC236}">
                  <a16:creationId xmlns:a16="http://schemas.microsoft.com/office/drawing/2014/main" id="{8623BE8B-4483-AE4A-A6EA-432CBE50BCAC}"/>
                </a:ext>
              </a:extLst>
            </p:cNvPr>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n-ea"/>
                <a:cs typeface="Times New Roman" panose="02020603050405020304" pitchFamily="18" charset="0"/>
              </a:endParaRPr>
            </a:p>
          </p:txBody>
        </p:sp>
      </p:grpSp>
      <p:pic>
        <p:nvPicPr>
          <p:cNvPr id="8" name="图片 7">
            <a:extLst>
              <a:ext uri="{FF2B5EF4-FFF2-40B4-BE49-F238E27FC236}">
                <a16:creationId xmlns:a16="http://schemas.microsoft.com/office/drawing/2014/main" id="{D78FDA68-D42A-4B5F-BB4E-E568E391EE0C}"/>
              </a:ext>
            </a:extLst>
          </p:cNvPr>
          <p:cNvPicPr>
            <a:picLocks noChangeAspect="1"/>
          </p:cNvPicPr>
          <p:nvPr userDrawn="1"/>
        </p:nvPicPr>
        <p:blipFill>
          <a:blip r:embed="rId2"/>
          <a:stretch>
            <a:fillRect/>
          </a:stretch>
        </p:blipFill>
        <p:spPr>
          <a:xfrm>
            <a:off x="9745897" y="497386"/>
            <a:ext cx="2172649" cy="665946"/>
          </a:xfrm>
          <a:prstGeom prst="rect">
            <a:avLst/>
          </a:prstGeom>
        </p:spPr>
      </p:pic>
      <p:sp>
        <p:nvSpPr>
          <p:cNvPr id="7" name="AutoShape 4" descr="华为 openEuler 开源社区如约而至，上千个代码仓库已开放！">
            <a:extLst>
              <a:ext uri="{FF2B5EF4-FFF2-40B4-BE49-F238E27FC236}">
                <a16:creationId xmlns:a16="http://schemas.microsoft.com/office/drawing/2014/main" id="{4F6DB7B7-4AA4-4828-8961-C778CFDDFBDE}"/>
              </a:ext>
            </a:extLst>
          </p:cNvPr>
          <p:cNvSpPr>
            <a:spLocks noChangeAspect="1" noChangeArrowheads="1"/>
          </p:cNvSpPr>
          <p:nvPr userDrawn="1"/>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Times New Roman" panose="02020603050405020304" pitchFamily="18" charset="0"/>
              <a:ea typeface="+mn-ea"/>
              <a:cs typeface="Times New Roman" panose="02020603050405020304" pitchFamily="18" charset="0"/>
            </a:endParaRPr>
          </a:p>
        </p:txBody>
      </p:sp>
      <p:pic>
        <p:nvPicPr>
          <p:cNvPr id="10" name="图片 9">
            <a:extLst>
              <a:ext uri="{FF2B5EF4-FFF2-40B4-BE49-F238E27FC236}">
                <a16:creationId xmlns:a16="http://schemas.microsoft.com/office/drawing/2014/main" id="{537D1EFF-6DA9-4895-8869-A51D8B5BE513}"/>
              </a:ext>
            </a:extLst>
          </p:cNvPr>
          <p:cNvPicPr>
            <a:picLocks noChangeAspect="1"/>
          </p:cNvPicPr>
          <p:nvPr userDrawn="1"/>
        </p:nvPicPr>
        <p:blipFill rotWithShape="1">
          <a:blip r:embed="rId3"/>
          <a:srcRect l="14829" r="13965"/>
          <a:stretch/>
        </p:blipFill>
        <p:spPr>
          <a:xfrm>
            <a:off x="369018" y="485954"/>
            <a:ext cx="803904" cy="677378"/>
          </a:xfrm>
          <a:prstGeom prst="rect">
            <a:avLst/>
          </a:prstGeom>
        </p:spPr>
      </p:pic>
    </p:spTree>
    <p:extLst>
      <p:ext uri="{BB962C8B-B14F-4D97-AF65-F5344CB8AC3E}">
        <p14:creationId xmlns:p14="http://schemas.microsoft.com/office/powerpoint/2010/main" val="11158555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E9F4A777-4880-8640-83A6-327323A56F12}"/>
              </a:ext>
            </a:extLst>
          </p:cNvPr>
          <p:cNvSpPr>
            <a:spLocks noGrp="1"/>
          </p:cNvSpPr>
          <p:nvPr>
            <p:ph sz="half" idx="1"/>
          </p:nvPr>
        </p:nvSpPr>
        <p:spPr>
          <a:xfrm>
            <a:off x="838200" y="1825625"/>
            <a:ext cx="5181600" cy="4351338"/>
          </a:xfrm>
        </p:spPr>
        <p:txBody>
          <a:bodyPr/>
          <a:lstStyle>
            <a:lvl1pPr>
              <a:defRPr>
                <a:latin typeface="Times New Roman" panose="02020603050405020304" pitchFamily="18" charset="0"/>
                <a:ea typeface="+mn-ea"/>
                <a:cs typeface="Times New Roman" panose="02020603050405020304" pitchFamily="18" charset="0"/>
              </a:defRPr>
            </a:lvl1pPr>
            <a:lvl2pPr>
              <a:defRPr>
                <a:latin typeface="Times New Roman" panose="02020603050405020304" pitchFamily="18" charset="0"/>
                <a:ea typeface="+mn-ea"/>
                <a:cs typeface="Times New Roman" panose="02020603050405020304" pitchFamily="18" charset="0"/>
              </a:defRPr>
            </a:lvl2pPr>
            <a:lvl3pPr>
              <a:defRPr>
                <a:latin typeface="Times New Roman" panose="02020603050405020304" pitchFamily="18" charset="0"/>
                <a:ea typeface="+mn-ea"/>
                <a:cs typeface="Times New Roman" panose="02020603050405020304" pitchFamily="18" charset="0"/>
              </a:defRPr>
            </a:lvl3pPr>
            <a:lvl4pPr>
              <a:defRPr>
                <a:latin typeface="Times New Roman" panose="02020603050405020304" pitchFamily="18" charset="0"/>
                <a:ea typeface="+mn-ea"/>
                <a:cs typeface="Times New Roman" panose="02020603050405020304" pitchFamily="18" charset="0"/>
              </a:defRPr>
            </a:lvl4pPr>
            <a:lvl5pPr>
              <a:defRPr>
                <a:latin typeface="Times New Roman" panose="02020603050405020304" pitchFamily="18" charset="0"/>
                <a:ea typeface="+mn-ea"/>
                <a:cs typeface="Times New Roman" panose="02020603050405020304" pitchFamily="18" charset="0"/>
              </a:defRPr>
            </a:lvl5p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内容占位符 3">
            <a:extLst>
              <a:ext uri="{FF2B5EF4-FFF2-40B4-BE49-F238E27FC236}">
                <a16:creationId xmlns:a16="http://schemas.microsoft.com/office/drawing/2014/main" id="{27E2510C-46FB-B140-83A3-4B9EF1B4C9DF}"/>
              </a:ext>
            </a:extLst>
          </p:cNvPr>
          <p:cNvSpPr>
            <a:spLocks noGrp="1"/>
          </p:cNvSpPr>
          <p:nvPr>
            <p:ph sz="half" idx="2"/>
          </p:nvPr>
        </p:nvSpPr>
        <p:spPr>
          <a:xfrm>
            <a:off x="6172200" y="1825625"/>
            <a:ext cx="5181600" cy="4351338"/>
          </a:xfrm>
        </p:spPr>
        <p:txBody>
          <a:bodyPr/>
          <a:lstStyle>
            <a:lvl1pPr>
              <a:defRPr>
                <a:latin typeface="Times New Roman" panose="02020603050405020304" pitchFamily="18" charset="0"/>
                <a:ea typeface="+mn-ea"/>
                <a:cs typeface="Times New Roman" panose="02020603050405020304" pitchFamily="18" charset="0"/>
              </a:defRPr>
            </a:lvl1pPr>
            <a:lvl2pPr>
              <a:defRPr>
                <a:latin typeface="Times New Roman" panose="02020603050405020304" pitchFamily="18" charset="0"/>
                <a:ea typeface="+mn-ea"/>
                <a:cs typeface="Times New Roman" panose="02020603050405020304" pitchFamily="18" charset="0"/>
              </a:defRPr>
            </a:lvl2pPr>
            <a:lvl3pPr>
              <a:defRPr>
                <a:latin typeface="Times New Roman" panose="02020603050405020304" pitchFamily="18" charset="0"/>
                <a:ea typeface="+mn-ea"/>
                <a:cs typeface="Times New Roman" panose="02020603050405020304" pitchFamily="18" charset="0"/>
              </a:defRPr>
            </a:lvl3pPr>
            <a:lvl4pPr>
              <a:defRPr>
                <a:latin typeface="Times New Roman" panose="02020603050405020304" pitchFamily="18" charset="0"/>
                <a:ea typeface="+mn-ea"/>
                <a:cs typeface="Times New Roman" panose="02020603050405020304" pitchFamily="18" charset="0"/>
              </a:defRPr>
            </a:lvl4pPr>
            <a:lvl5pPr>
              <a:defRPr>
                <a:latin typeface="Times New Roman" panose="02020603050405020304" pitchFamily="18" charset="0"/>
                <a:ea typeface="+mn-ea"/>
                <a:cs typeface="Times New Roman" panose="02020603050405020304" pitchFamily="18" charset="0"/>
              </a:defRPr>
            </a:lvl5p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5" name="日期占位符 4">
            <a:extLst>
              <a:ext uri="{FF2B5EF4-FFF2-40B4-BE49-F238E27FC236}">
                <a16:creationId xmlns:a16="http://schemas.microsoft.com/office/drawing/2014/main" id="{C459310F-E4CA-E54F-B1B1-7656B1F4AAA8}"/>
              </a:ext>
            </a:extLst>
          </p:cNvPr>
          <p:cNvSpPr>
            <a:spLocks noGrp="1"/>
          </p:cNvSpPr>
          <p:nvPr>
            <p:ph type="dt" sz="half" idx="10"/>
          </p:nvPr>
        </p:nvSpPr>
        <p:spPr/>
        <p:txBody>
          <a:bodyPr/>
          <a:lstStyle>
            <a:lvl1pPr>
              <a:defRPr>
                <a:latin typeface="Times New Roman" panose="02020603050405020304" pitchFamily="18" charset="0"/>
                <a:ea typeface="+mn-ea"/>
                <a:cs typeface="Times New Roman" panose="02020603050405020304" pitchFamily="18" charset="0"/>
              </a:defRPr>
            </a:lvl1pPr>
          </a:lstStyle>
          <a:p>
            <a:fld id="{4290EBB2-4D7C-084A-BE30-AC939B671EC1}" type="datetime1">
              <a:rPr kumimoji="1" lang="zh-CN" altLang="en-US" smtClean="0"/>
              <a:pPr/>
              <a:t>2022/12/2</a:t>
            </a:fld>
            <a:endParaRPr kumimoji="1" lang="zh-CN" altLang="en-US"/>
          </a:p>
        </p:txBody>
      </p:sp>
      <p:sp>
        <p:nvSpPr>
          <p:cNvPr id="6" name="页脚占位符 5">
            <a:extLst>
              <a:ext uri="{FF2B5EF4-FFF2-40B4-BE49-F238E27FC236}">
                <a16:creationId xmlns:a16="http://schemas.microsoft.com/office/drawing/2014/main" id="{D8A41358-8B3C-CE4B-B391-06B0FF85E814}"/>
              </a:ext>
            </a:extLst>
          </p:cNvPr>
          <p:cNvSpPr>
            <a:spLocks noGrp="1"/>
          </p:cNvSpPr>
          <p:nvPr>
            <p:ph type="ftr" sz="quarter" idx="11"/>
          </p:nvPr>
        </p:nvSpPr>
        <p:spPr/>
        <p:txBody>
          <a:bodyPr/>
          <a:lstStyle>
            <a:lvl1pPr>
              <a:defRPr>
                <a:latin typeface="Times New Roman" panose="02020603050405020304" pitchFamily="18" charset="0"/>
                <a:ea typeface="+mn-ea"/>
                <a:cs typeface="Times New Roman" panose="02020603050405020304" pitchFamily="18" charset="0"/>
              </a:defRPr>
            </a:lvl1pPr>
          </a:lstStyle>
          <a:p>
            <a:endParaRPr kumimoji="1" lang="zh-CN" altLang="en-US"/>
          </a:p>
        </p:txBody>
      </p:sp>
      <p:sp>
        <p:nvSpPr>
          <p:cNvPr id="7" name="灯片编号占位符 6">
            <a:extLst>
              <a:ext uri="{FF2B5EF4-FFF2-40B4-BE49-F238E27FC236}">
                <a16:creationId xmlns:a16="http://schemas.microsoft.com/office/drawing/2014/main" id="{FDFB6C4E-D29D-9647-82C6-2B183C588D14}"/>
              </a:ext>
            </a:extLst>
          </p:cNvPr>
          <p:cNvSpPr>
            <a:spLocks noGrp="1"/>
          </p:cNvSpPr>
          <p:nvPr>
            <p:ph type="sldNum" sz="quarter" idx="12"/>
          </p:nvPr>
        </p:nvSpPr>
        <p:spPr/>
        <p:txBody>
          <a:bodyPr/>
          <a:lstStyle>
            <a:lvl1pPr>
              <a:defRPr>
                <a:latin typeface="Times New Roman" panose="02020603050405020304" pitchFamily="18" charset="0"/>
                <a:ea typeface="+mn-ea"/>
                <a:cs typeface="Times New Roman" panose="02020603050405020304" pitchFamily="18" charset="0"/>
              </a:defRPr>
            </a:lvl1pPr>
          </a:lstStyle>
          <a:p>
            <a:fld id="{8D4D1E41-7A09-AB4A-A4E1-09765ADA2698}" type="slidenum">
              <a:rPr kumimoji="1" lang="zh-CN" altLang="en-US" smtClean="0"/>
              <a:pPr/>
              <a:t>‹#›</a:t>
            </a:fld>
            <a:endParaRPr kumimoji="1" lang="zh-CN" altLang="en-US"/>
          </a:p>
        </p:txBody>
      </p:sp>
      <p:sp>
        <p:nvSpPr>
          <p:cNvPr id="76" name="标题 1">
            <a:extLst>
              <a:ext uri="{FF2B5EF4-FFF2-40B4-BE49-F238E27FC236}">
                <a16:creationId xmlns:a16="http://schemas.microsoft.com/office/drawing/2014/main" id="{9F8181F7-80D6-426E-AFE8-FB2DFF65E8FD}"/>
              </a:ext>
            </a:extLst>
          </p:cNvPr>
          <p:cNvSpPr>
            <a:spLocks noGrp="1"/>
          </p:cNvSpPr>
          <p:nvPr>
            <p:ph type="title"/>
          </p:nvPr>
        </p:nvSpPr>
        <p:spPr>
          <a:xfrm>
            <a:off x="1307508" y="365126"/>
            <a:ext cx="8220812" cy="879086"/>
          </a:xfrm>
        </p:spPr>
        <p:txBody>
          <a:bodyPr>
            <a:normAutofit/>
          </a:bodyPr>
          <a:lstStyle>
            <a:lvl1pPr>
              <a:defRPr sz="4000">
                <a:latin typeface="Times New Roman" panose="02020603050405020304" pitchFamily="18" charset="0"/>
                <a:ea typeface="+mn-ea"/>
                <a:cs typeface="Times New Roman" panose="02020603050405020304" pitchFamily="18" charset="0"/>
              </a:defRPr>
            </a:lvl1pPr>
          </a:lstStyle>
          <a:p>
            <a:r>
              <a:rPr kumimoji="1" lang="zh-CN" altLang="en-US" dirty="0"/>
              <a:t>单击此处编辑母版标题样式</a:t>
            </a:r>
          </a:p>
        </p:txBody>
      </p:sp>
      <p:cxnSp>
        <p:nvCxnSpPr>
          <p:cNvPr id="77" name="直线连接符 39">
            <a:extLst>
              <a:ext uri="{FF2B5EF4-FFF2-40B4-BE49-F238E27FC236}">
                <a16:creationId xmlns:a16="http://schemas.microsoft.com/office/drawing/2014/main" id="{FD052F5B-CE6A-4A1A-8EF2-B2EA4AD732A1}"/>
              </a:ext>
            </a:extLst>
          </p:cNvPr>
          <p:cNvCxnSpPr>
            <a:cxnSpLocks/>
          </p:cNvCxnSpPr>
          <p:nvPr userDrawn="1"/>
        </p:nvCxnSpPr>
        <p:spPr>
          <a:xfrm>
            <a:off x="1314788" y="1244212"/>
            <a:ext cx="7295812" cy="0"/>
          </a:xfrm>
          <a:prstGeom prst="line">
            <a:avLst/>
          </a:prstGeom>
          <a:ln w="19050">
            <a:solidFill>
              <a:srgbClr val="5C307E"/>
            </a:solidFill>
          </a:ln>
        </p:spPr>
        <p:style>
          <a:lnRef idx="1">
            <a:schemeClr val="accent1"/>
          </a:lnRef>
          <a:fillRef idx="0">
            <a:schemeClr val="accent1"/>
          </a:fillRef>
          <a:effectRef idx="0">
            <a:schemeClr val="accent1"/>
          </a:effectRef>
          <a:fontRef idx="minor">
            <a:schemeClr val="tx1"/>
          </a:fontRef>
        </p:style>
      </p:cxnSp>
      <p:cxnSp>
        <p:nvCxnSpPr>
          <p:cNvPr id="78" name="直线连接符 63">
            <a:extLst>
              <a:ext uri="{FF2B5EF4-FFF2-40B4-BE49-F238E27FC236}">
                <a16:creationId xmlns:a16="http://schemas.microsoft.com/office/drawing/2014/main" id="{5AE29B1F-7085-4DB6-8B2E-71AE9756DEE5}"/>
              </a:ext>
            </a:extLst>
          </p:cNvPr>
          <p:cNvCxnSpPr>
            <a:cxnSpLocks/>
          </p:cNvCxnSpPr>
          <p:nvPr userDrawn="1"/>
        </p:nvCxnSpPr>
        <p:spPr>
          <a:xfrm>
            <a:off x="9640085" y="559432"/>
            <a:ext cx="0" cy="625672"/>
          </a:xfrm>
          <a:prstGeom prst="line">
            <a:avLst/>
          </a:prstGeom>
          <a:ln w="12700" cap="rnd">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79" name="组合 78">
            <a:extLst>
              <a:ext uri="{FF2B5EF4-FFF2-40B4-BE49-F238E27FC236}">
                <a16:creationId xmlns:a16="http://schemas.microsoft.com/office/drawing/2014/main" id="{6623D12F-6F66-4800-AEB4-15FFA2088008}"/>
              </a:ext>
            </a:extLst>
          </p:cNvPr>
          <p:cNvGrpSpPr/>
          <p:nvPr userDrawn="1"/>
        </p:nvGrpSpPr>
        <p:grpSpPr>
          <a:xfrm>
            <a:off x="715452" y="634525"/>
            <a:ext cx="403039" cy="321898"/>
            <a:chOff x="1368170" y="664579"/>
            <a:chExt cx="550582" cy="439737"/>
          </a:xfrm>
          <a:solidFill>
            <a:schemeClr val="bg1"/>
          </a:solidFill>
        </p:grpSpPr>
        <p:sp>
          <p:nvSpPr>
            <p:cNvPr id="80" name="Freeform 1">
              <a:extLst>
                <a:ext uri="{FF2B5EF4-FFF2-40B4-BE49-F238E27FC236}">
                  <a16:creationId xmlns:a16="http://schemas.microsoft.com/office/drawing/2014/main" id="{A4EA86F4-1616-404A-B3A8-40F621B116F5}"/>
                </a:ext>
              </a:extLst>
            </p:cNvPr>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n-ea"/>
                <a:cs typeface="Times New Roman" panose="02020603050405020304" pitchFamily="18" charset="0"/>
              </a:endParaRPr>
            </a:p>
          </p:txBody>
        </p:sp>
        <p:sp>
          <p:nvSpPr>
            <p:cNvPr id="81" name="Freeform 2">
              <a:extLst>
                <a:ext uri="{FF2B5EF4-FFF2-40B4-BE49-F238E27FC236}">
                  <a16:creationId xmlns:a16="http://schemas.microsoft.com/office/drawing/2014/main" id="{B94EAAE0-8448-4BED-934F-86E4D9BE6BF7}"/>
                </a:ext>
              </a:extLst>
            </p:cNvPr>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n-ea"/>
                <a:cs typeface="Times New Roman" panose="02020603050405020304" pitchFamily="18" charset="0"/>
              </a:endParaRPr>
            </a:p>
          </p:txBody>
        </p:sp>
        <p:sp>
          <p:nvSpPr>
            <p:cNvPr id="82" name="Freeform 3">
              <a:extLst>
                <a:ext uri="{FF2B5EF4-FFF2-40B4-BE49-F238E27FC236}">
                  <a16:creationId xmlns:a16="http://schemas.microsoft.com/office/drawing/2014/main" id="{FE1A878D-B42E-44AD-A507-E8131D58305D}"/>
                </a:ext>
              </a:extLst>
            </p:cNvPr>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n-ea"/>
                <a:cs typeface="Times New Roman" panose="02020603050405020304" pitchFamily="18" charset="0"/>
              </a:endParaRPr>
            </a:p>
          </p:txBody>
        </p:sp>
        <p:sp>
          <p:nvSpPr>
            <p:cNvPr id="83" name="Freeform 4">
              <a:extLst>
                <a:ext uri="{FF2B5EF4-FFF2-40B4-BE49-F238E27FC236}">
                  <a16:creationId xmlns:a16="http://schemas.microsoft.com/office/drawing/2014/main" id="{2917B038-BE65-4EDE-BCE6-28D8A33628C0}"/>
                </a:ext>
              </a:extLst>
            </p:cNvPr>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n-ea"/>
                <a:cs typeface="Times New Roman" panose="02020603050405020304" pitchFamily="18" charset="0"/>
              </a:endParaRPr>
            </a:p>
          </p:txBody>
        </p:sp>
        <p:sp>
          <p:nvSpPr>
            <p:cNvPr id="84" name="Freeform 5">
              <a:extLst>
                <a:ext uri="{FF2B5EF4-FFF2-40B4-BE49-F238E27FC236}">
                  <a16:creationId xmlns:a16="http://schemas.microsoft.com/office/drawing/2014/main" id="{BFF95844-69C4-4D91-BB8A-43361DB33C00}"/>
                </a:ext>
              </a:extLst>
            </p:cNvPr>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n-ea"/>
                <a:cs typeface="Times New Roman" panose="02020603050405020304" pitchFamily="18" charset="0"/>
              </a:endParaRPr>
            </a:p>
          </p:txBody>
        </p:sp>
        <p:sp>
          <p:nvSpPr>
            <p:cNvPr id="85" name="Freeform 6">
              <a:extLst>
                <a:ext uri="{FF2B5EF4-FFF2-40B4-BE49-F238E27FC236}">
                  <a16:creationId xmlns:a16="http://schemas.microsoft.com/office/drawing/2014/main" id="{0EC6F8B2-3F7B-481D-A5C3-593859BA3904}"/>
                </a:ext>
              </a:extLst>
            </p:cNvPr>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n-ea"/>
                <a:cs typeface="Times New Roman" panose="02020603050405020304" pitchFamily="18" charset="0"/>
              </a:endParaRPr>
            </a:p>
          </p:txBody>
        </p:sp>
        <p:sp>
          <p:nvSpPr>
            <p:cNvPr id="86" name="Freeform 7">
              <a:extLst>
                <a:ext uri="{FF2B5EF4-FFF2-40B4-BE49-F238E27FC236}">
                  <a16:creationId xmlns:a16="http://schemas.microsoft.com/office/drawing/2014/main" id="{F0C61DE2-78C6-42E1-92E7-9A31F8C42BBD}"/>
                </a:ext>
              </a:extLst>
            </p:cNvPr>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n-ea"/>
                <a:cs typeface="Times New Roman" panose="02020603050405020304" pitchFamily="18" charset="0"/>
              </a:endParaRPr>
            </a:p>
          </p:txBody>
        </p:sp>
        <p:sp>
          <p:nvSpPr>
            <p:cNvPr id="87" name="Freeform 8">
              <a:extLst>
                <a:ext uri="{FF2B5EF4-FFF2-40B4-BE49-F238E27FC236}">
                  <a16:creationId xmlns:a16="http://schemas.microsoft.com/office/drawing/2014/main" id="{E1826B12-A3BC-432A-816C-7F734429A6C0}"/>
                </a:ext>
              </a:extLst>
            </p:cNvPr>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n-ea"/>
                <a:cs typeface="Times New Roman" panose="02020603050405020304" pitchFamily="18" charset="0"/>
              </a:endParaRPr>
            </a:p>
          </p:txBody>
        </p:sp>
        <p:sp>
          <p:nvSpPr>
            <p:cNvPr id="88" name="Freeform 9">
              <a:extLst>
                <a:ext uri="{FF2B5EF4-FFF2-40B4-BE49-F238E27FC236}">
                  <a16:creationId xmlns:a16="http://schemas.microsoft.com/office/drawing/2014/main" id="{CFE3DB99-4C71-42E1-96A1-E7B9C2A8459C}"/>
                </a:ext>
              </a:extLst>
            </p:cNvPr>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n-ea"/>
                <a:cs typeface="Times New Roman" panose="02020603050405020304" pitchFamily="18" charset="0"/>
              </a:endParaRPr>
            </a:p>
          </p:txBody>
        </p:sp>
        <p:sp>
          <p:nvSpPr>
            <p:cNvPr id="89" name="Freeform 10">
              <a:extLst>
                <a:ext uri="{FF2B5EF4-FFF2-40B4-BE49-F238E27FC236}">
                  <a16:creationId xmlns:a16="http://schemas.microsoft.com/office/drawing/2014/main" id="{A81B2E72-88A6-4C42-87A8-837C6A495D61}"/>
                </a:ext>
              </a:extLst>
            </p:cNvPr>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n-ea"/>
                <a:cs typeface="Times New Roman" panose="02020603050405020304" pitchFamily="18" charset="0"/>
              </a:endParaRPr>
            </a:p>
          </p:txBody>
        </p:sp>
        <p:sp>
          <p:nvSpPr>
            <p:cNvPr id="90" name="Freeform 11">
              <a:extLst>
                <a:ext uri="{FF2B5EF4-FFF2-40B4-BE49-F238E27FC236}">
                  <a16:creationId xmlns:a16="http://schemas.microsoft.com/office/drawing/2014/main" id="{03C011E7-BE7F-4EED-B847-D887A0A3FA70}"/>
                </a:ext>
              </a:extLst>
            </p:cNvPr>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n-ea"/>
                <a:cs typeface="Times New Roman" panose="02020603050405020304" pitchFamily="18" charset="0"/>
              </a:endParaRPr>
            </a:p>
          </p:txBody>
        </p:sp>
      </p:grpSp>
      <p:pic>
        <p:nvPicPr>
          <p:cNvPr id="91" name="图片 90">
            <a:extLst>
              <a:ext uri="{FF2B5EF4-FFF2-40B4-BE49-F238E27FC236}">
                <a16:creationId xmlns:a16="http://schemas.microsoft.com/office/drawing/2014/main" id="{30D59E9D-4209-40C8-AC29-40B9F932767F}"/>
              </a:ext>
            </a:extLst>
          </p:cNvPr>
          <p:cNvPicPr>
            <a:picLocks noChangeAspect="1"/>
          </p:cNvPicPr>
          <p:nvPr userDrawn="1"/>
        </p:nvPicPr>
        <p:blipFill>
          <a:blip r:embed="rId2"/>
          <a:stretch>
            <a:fillRect/>
          </a:stretch>
        </p:blipFill>
        <p:spPr>
          <a:xfrm>
            <a:off x="9745897" y="497386"/>
            <a:ext cx="2172649" cy="665946"/>
          </a:xfrm>
          <a:prstGeom prst="rect">
            <a:avLst/>
          </a:prstGeom>
        </p:spPr>
      </p:pic>
      <p:pic>
        <p:nvPicPr>
          <p:cNvPr id="24" name="图片 23">
            <a:extLst>
              <a:ext uri="{FF2B5EF4-FFF2-40B4-BE49-F238E27FC236}">
                <a16:creationId xmlns:a16="http://schemas.microsoft.com/office/drawing/2014/main" id="{1881D5AC-060E-4D65-817F-635BAE83660F}"/>
              </a:ext>
            </a:extLst>
          </p:cNvPr>
          <p:cNvPicPr>
            <a:picLocks noChangeAspect="1"/>
          </p:cNvPicPr>
          <p:nvPr userDrawn="1"/>
        </p:nvPicPr>
        <p:blipFill rotWithShape="1">
          <a:blip r:embed="rId3"/>
          <a:srcRect l="14829" r="13965"/>
          <a:stretch/>
        </p:blipFill>
        <p:spPr>
          <a:xfrm>
            <a:off x="369018" y="485954"/>
            <a:ext cx="803904" cy="677378"/>
          </a:xfrm>
          <a:prstGeom prst="rect">
            <a:avLst/>
          </a:prstGeom>
        </p:spPr>
      </p:pic>
    </p:spTree>
    <p:extLst>
      <p:ext uri="{BB962C8B-B14F-4D97-AF65-F5344CB8AC3E}">
        <p14:creationId xmlns:p14="http://schemas.microsoft.com/office/powerpoint/2010/main" val="11262884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Times New Roman" panose="02020603050405020304" pitchFamily="18" charset="0"/>
                <a:ea typeface="宋体" panose="02010600030101010101" pitchFamily="2" charset="-122"/>
                <a:cs typeface="Times New Roman" panose="02020603050405020304" pitchFamily="18" charset="0"/>
              </a:defRPr>
            </a:lvl1pPr>
          </a:lstStyle>
          <a:p>
            <a:r>
              <a:rPr lang="zh-CN" altLang="en-US"/>
              <a:t>单击此处编辑母版标题样式</a:t>
            </a:r>
          </a:p>
        </p:txBody>
      </p:sp>
      <p:sp>
        <p:nvSpPr>
          <p:cNvPr id="3" name="Rectangle 6">
            <a:extLst>
              <a:ext uri="{FF2B5EF4-FFF2-40B4-BE49-F238E27FC236}">
                <a16:creationId xmlns:a16="http://schemas.microsoft.com/office/drawing/2014/main" id="{0909CBCB-4772-C140-A4B1-31188B93BC68}"/>
              </a:ext>
            </a:extLst>
          </p:cNvPr>
          <p:cNvSpPr>
            <a:spLocks noGrp="1" noChangeArrowheads="1"/>
          </p:cNvSpPr>
          <p:nvPr>
            <p:ph type="dt" sz="half" idx="10"/>
          </p:nvPr>
        </p:nvSpPr>
        <p:spPr>
          <a:ln/>
        </p:spPr>
        <p:txBody>
          <a:bodyPr/>
          <a:lstStyle>
            <a:lvl1pPr>
              <a:defRPr>
                <a:latin typeface="Times New Roman" panose="02020603050405020304" pitchFamily="18" charset="0"/>
                <a:ea typeface="宋体" panose="02010600030101010101" pitchFamily="2" charset="-122"/>
                <a:cs typeface="Times New Roman" panose="02020603050405020304" pitchFamily="18" charset="0"/>
              </a:defRPr>
            </a:lvl1pPr>
          </a:lstStyle>
          <a:p>
            <a:pPr>
              <a:defRPr/>
            </a:pPr>
            <a:fld id="{45C7992C-DF72-7644-B12E-329898B62496}" type="datetime1">
              <a:rPr lang="zh-CN" altLang="en-US" smtClean="0"/>
              <a:pPr>
                <a:defRPr/>
              </a:pPr>
              <a:t>2022/12/2</a:t>
            </a:fld>
            <a:endParaRPr lang="en-US" altLang="zh-CN"/>
          </a:p>
        </p:txBody>
      </p:sp>
      <p:sp>
        <p:nvSpPr>
          <p:cNvPr id="4" name="Rectangle 7">
            <a:extLst>
              <a:ext uri="{FF2B5EF4-FFF2-40B4-BE49-F238E27FC236}">
                <a16:creationId xmlns:a16="http://schemas.microsoft.com/office/drawing/2014/main" id="{ED82BB1B-5A33-BF46-ADBA-8265C3C1C522}"/>
              </a:ext>
            </a:extLst>
          </p:cNvPr>
          <p:cNvSpPr>
            <a:spLocks noGrp="1" noChangeArrowheads="1"/>
          </p:cNvSpPr>
          <p:nvPr>
            <p:ph type="ftr" sz="quarter" idx="11"/>
          </p:nvPr>
        </p:nvSpPr>
        <p:spPr>
          <a:ln/>
        </p:spPr>
        <p:txBody>
          <a:bodyPr/>
          <a:lstStyle>
            <a:lvl1pPr>
              <a:defRPr>
                <a:latin typeface="Times New Roman" panose="02020603050405020304" pitchFamily="18" charset="0"/>
                <a:ea typeface="宋体" panose="02010600030101010101" pitchFamily="2" charset="-122"/>
                <a:cs typeface="Times New Roman" panose="02020603050405020304" pitchFamily="18" charset="0"/>
              </a:defRPr>
            </a:lvl1pPr>
          </a:lstStyle>
          <a:p>
            <a:pPr>
              <a:defRPr/>
            </a:pPr>
            <a:endParaRPr lang="en-US" altLang="zh-CN"/>
          </a:p>
        </p:txBody>
      </p:sp>
      <p:sp>
        <p:nvSpPr>
          <p:cNvPr id="5" name="Rectangle 8">
            <a:extLst>
              <a:ext uri="{FF2B5EF4-FFF2-40B4-BE49-F238E27FC236}">
                <a16:creationId xmlns:a16="http://schemas.microsoft.com/office/drawing/2014/main" id="{EB931506-C8E0-1649-BE54-52B88034B126}"/>
              </a:ext>
            </a:extLst>
          </p:cNvPr>
          <p:cNvSpPr>
            <a:spLocks noGrp="1" noChangeArrowheads="1"/>
          </p:cNvSpPr>
          <p:nvPr>
            <p:ph type="sldNum" sz="quarter" idx="12"/>
          </p:nvPr>
        </p:nvSpPr>
        <p:spPr>
          <a:ln/>
        </p:spPr>
        <p:txBody>
          <a:bodyPr/>
          <a:lstStyle>
            <a:lvl1pPr>
              <a:defRPr>
                <a:latin typeface="Times New Roman" panose="02020603050405020304" pitchFamily="18" charset="0"/>
                <a:ea typeface="宋体" panose="02010600030101010101" pitchFamily="2" charset="-122"/>
                <a:cs typeface="Times New Roman" panose="02020603050405020304" pitchFamily="18" charset="0"/>
              </a:defRPr>
            </a:lvl1pPr>
          </a:lstStyle>
          <a:p>
            <a:fld id="{07279A2F-85B5-794E-ADF1-0805CD3C44B7}" type="slidenum">
              <a:rPr lang="en-US" altLang="zh-CN" smtClean="0"/>
              <a:pPr/>
              <a:t>‹#›</a:t>
            </a:fld>
            <a:endParaRPr lang="en-US" altLang="zh-CN"/>
          </a:p>
        </p:txBody>
      </p:sp>
    </p:spTree>
    <p:extLst>
      <p:ext uri="{BB962C8B-B14F-4D97-AF65-F5344CB8AC3E}">
        <p14:creationId xmlns:p14="http://schemas.microsoft.com/office/powerpoint/2010/main" val="346082946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2AAAA80D-F069-DE49-8F34-B637A12CB530}"/>
              </a:ext>
            </a:extLst>
          </p:cNvPr>
          <p:cNvSpPr>
            <a:spLocks noGrp="1"/>
          </p:cNvSpPr>
          <p:nvPr>
            <p:ph type="title"/>
          </p:nvPr>
        </p:nvSpPr>
        <p:spPr>
          <a:xfrm>
            <a:off x="1307508" y="365126"/>
            <a:ext cx="8220812" cy="879086"/>
          </a:xfrm>
          <a:prstGeom prst="rect">
            <a:avLst/>
          </a:prstGeom>
        </p:spPr>
        <p:txBody>
          <a:bodyPr vert="horz" lIns="91440" tIns="45720" rIns="91440" bIns="45720" rtlCol="0" anchor="ctr">
            <a:normAutofit/>
          </a:bodyPr>
          <a:lstStyle/>
          <a:p>
            <a:r>
              <a:rPr kumimoji="1" lang="zh-CN" altLang="en-US" dirty="0"/>
              <a:t>单击此处编辑母版标题样式</a:t>
            </a:r>
          </a:p>
        </p:txBody>
      </p:sp>
      <p:sp>
        <p:nvSpPr>
          <p:cNvPr id="3" name="文本占位符 2">
            <a:extLst>
              <a:ext uri="{FF2B5EF4-FFF2-40B4-BE49-F238E27FC236}">
                <a16:creationId xmlns:a16="http://schemas.microsoft.com/office/drawing/2014/main" id="{A2AAAE3F-F071-E445-8B18-8EAF3979328E}"/>
              </a:ext>
            </a:extLst>
          </p:cNvPr>
          <p:cNvSpPr>
            <a:spLocks noGrp="1"/>
          </p:cNvSpPr>
          <p:nvPr>
            <p:ph type="body" idx="1"/>
          </p:nvPr>
        </p:nvSpPr>
        <p:spPr>
          <a:xfrm>
            <a:off x="838200" y="1590270"/>
            <a:ext cx="10515600" cy="4586694"/>
          </a:xfrm>
          <a:prstGeom prst="rect">
            <a:avLst/>
          </a:prstGeom>
        </p:spPr>
        <p:txBody>
          <a:bodyPr vert="horz" lIns="91440" tIns="45720" rIns="91440" bIns="45720" rtlCol="0">
            <a:normAutofit/>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日期占位符 3">
            <a:extLst>
              <a:ext uri="{FF2B5EF4-FFF2-40B4-BE49-F238E27FC236}">
                <a16:creationId xmlns:a16="http://schemas.microsoft.com/office/drawing/2014/main" id="{91E21652-6A28-F54F-98C2-D24C55AD3ED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Times New Roman" panose="02020603050405020304" pitchFamily="18" charset="0"/>
                <a:ea typeface="宋体" panose="02010600030101010101" pitchFamily="2" charset="-122"/>
                <a:cs typeface="Times New Roman" panose="02020603050405020304" pitchFamily="18" charset="0"/>
              </a:defRPr>
            </a:lvl1pPr>
          </a:lstStyle>
          <a:p>
            <a:fld id="{6B5948C6-0782-6042-A859-FD82FD45C478}" type="datetime1">
              <a:rPr kumimoji="1" lang="zh-CN" altLang="en-US" smtClean="0"/>
              <a:pPr/>
              <a:t>2022/12/2</a:t>
            </a:fld>
            <a:endParaRPr kumimoji="1" lang="zh-CN" altLang="en-US"/>
          </a:p>
        </p:txBody>
      </p:sp>
      <p:sp>
        <p:nvSpPr>
          <p:cNvPr id="5" name="页脚占位符 4">
            <a:extLst>
              <a:ext uri="{FF2B5EF4-FFF2-40B4-BE49-F238E27FC236}">
                <a16:creationId xmlns:a16="http://schemas.microsoft.com/office/drawing/2014/main" id="{DCB9D617-AB6E-774C-A385-AAFEFB9272A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anose="02020603050405020304" pitchFamily="18" charset="0"/>
                <a:ea typeface="宋体" panose="02010600030101010101" pitchFamily="2" charset="-122"/>
                <a:cs typeface="Times New Roman" panose="02020603050405020304" pitchFamily="18" charset="0"/>
              </a:defRPr>
            </a:lvl1pPr>
          </a:lstStyle>
          <a:p>
            <a:endParaRPr kumimoji="1" lang="zh-CN" altLang="en-US"/>
          </a:p>
        </p:txBody>
      </p:sp>
      <p:sp>
        <p:nvSpPr>
          <p:cNvPr id="6" name="灯片编号占位符 5">
            <a:extLst>
              <a:ext uri="{FF2B5EF4-FFF2-40B4-BE49-F238E27FC236}">
                <a16:creationId xmlns:a16="http://schemas.microsoft.com/office/drawing/2014/main" id="{7F17F525-3365-224F-AAA7-E3B9B30119F2}"/>
              </a:ext>
            </a:extLst>
          </p:cNvPr>
          <p:cNvSpPr>
            <a:spLocks noGrp="1"/>
          </p:cNvSpPr>
          <p:nvPr>
            <p:ph type="sldNum" sz="quarter" idx="4"/>
          </p:nvPr>
        </p:nvSpPr>
        <p:spPr>
          <a:xfrm>
            <a:off x="9053945"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Times New Roman" panose="02020603050405020304" pitchFamily="18" charset="0"/>
                <a:ea typeface="宋体" panose="02010600030101010101" pitchFamily="2" charset="-122"/>
                <a:cs typeface="Times New Roman" panose="02020603050405020304" pitchFamily="18" charset="0"/>
              </a:defRPr>
            </a:lvl1pPr>
          </a:lstStyle>
          <a:p>
            <a:fld id="{8D4D1E41-7A09-AB4A-A4E1-09765ADA2698}" type="slidenum">
              <a:rPr kumimoji="1" lang="zh-CN" altLang="en-US" smtClean="0"/>
              <a:pPr/>
              <a:t>‹#›</a:t>
            </a:fld>
            <a:endParaRPr kumimoji="1" lang="zh-CN" altLang="en-US"/>
          </a:p>
        </p:txBody>
      </p:sp>
    </p:spTree>
    <p:extLst>
      <p:ext uri="{BB962C8B-B14F-4D97-AF65-F5344CB8AC3E}">
        <p14:creationId xmlns:p14="http://schemas.microsoft.com/office/powerpoint/2010/main" val="1190096747"/>
      </p:ext>
    </p:extLst>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1pPr>
    </p:titleStyle>
    <p:bodyStyle>
      <a:lvl1pPr marL="228600" indent="-228600" algn="l" defTabSz="914400" rtl="0" eaLnBrk="1" latinLnBrk="0" hangingPunct="1">
        <a:lnSpc>
          <a:spcPct val="100000"/>
        </a:lnSpc>
        <a:spcBef>
          <a:spcPts val="600"/>
        </a:spcBef>
        <a:buFont typeface="Arial" panose="020B0604020202020204" pitchFamily="34" charset="0"/>
        <a:buChar char="•"/>
        <a:defRPr sz="2800" kern="12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8.emf"/></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nchor="ctr" anchorCtr="0"/>
          <a:lstStyle/>
          <a:p>
            <a:pPr eaLnBrk="1" hangingPunct="1">
              <a:spcBef>
                <a:spcPct val="50000"/>
              </a:spcBef>
            </a:pPr>
            <a:r>
              <a:rPr lang="zh-CN" altLang="en-US" sz="5400" b="1" dirty="0">
                <a:solidFill>
                  <a:srgbClr val="CC0099"/>
                </a:solidFill>
                <a:latin typeface="方正琥珀简体" pitchFamily="65" charset="-122"/>
                <a:ea typeface="方正琥珀简体" pitchFamily="65" charset="-122"/>
              </a:rPr>
              <a:t>第</a:t>
            </a:r>
            <a:r>
              <a:rPr lang="en-US" altLang="zh-CN" b="1" dirty="0">
                <a:solidFill>
                  <a:srgbClr val="CC0099"/>
                </a:solidFill>
                <a:latin typeface="方正琥珀简体" pitchFamily="65" charset="-122"/>
                <a:ea typeface="方正琥珀简体" pitchFamily="65" charset="-122"/>
              </a:rPr>
              <a:t>9</a:t>
            </a:r>
            <a:r>
              <a:rPr lang="zh-CN" altLang="en-US" sz="5400" b="1" dirty="0">
                <a:solidFill>
                  <a:srgbClr val="CC0099"/>
                </a:solidFill>
                <a:latin typeface="方正琥珀简体" pitchFamily="65" charset="-122"/>
                <a:ea typeface="方正琥珀简体" pitchFamily="65" charset="-122"/>
              </a:rPr>
              <a:t>章  </a:t>
            </a:r>
            <a:r>
              <a:rPr lang="zh-CN" altLang="en-US" sz="5400" b="1" dirty="0">
                <a:solidFill>
                  <a:schemeClr val="hlink"/>
                </a:solidFill>
                <a:ea typeface="方正琥珀简体" pitchFamily="65" charset="-122"/>
              </a:rPr>
              <a:t>操作系统接口</a:t>
            </a:r>
            <a:endParaRPr lang="zh-CN" altLang="en-US" sz="5400" dirty="0">
              <a:solidFill>
                <a:schemeClr val="tx2"/>
              </a:solidFill>
            </a:endParaRPr>
          </a:p>
        </p:txBody>
      </p:sp>
      <p:sp>
        <p:nvSpPr>
          <p:cNvPr id="3" name="副标题 2"/>
          <p:cNvSpPr>
            <a:spLocks noGrp="1"/>
          </p:cNvSpPr>
          <p:nvPr>
            <p:ph type="subTitle" idx="1"/>
          </p:nvPr>
        </p:nvSpPr>
        <p:spPr>
          <a:xfrm>
            <a:off x="1524000" y="3693376"/>
            <a:ext cx="9144000" cy="1655762"/>
          </a:xfrm>
        </p:spPr>
        <p:txBody>
          <a:bodyPr/>
          <a:lstStyle/>
          <a:p>
            <a:endParaRPr lang="en-US" altLang="zh-CN" dirty="0"/>
          </a:p>
          <a:p>
            <a:r>
              <a:rPr lang="zh-CN" altLang="en-US" sz="2800" b="1" dirty="0">
                <a:solidFill>
                  <a:srgbClr val="002060"/>
                </a:solidFill>
                <a:ea typeface="方正琥珀简体"/>
              </a:rPr>
              <a:t>教师：江</a:t>
            </a:r>
            <a:r>
              <a:rPr lang="zh-CN" altLang="en-US" sz="2800" b="1">
                <a:solidFill>
                  <a:srgbClr val="002060"/>
                </a:solidFill>
                <a:ea typeface="方正琥珀简体"/>
              </a:rPr>
              <a:t>先亮</a:t>
            </a:r>
            <a:endParaRPr lang="zh-CN" altLang="en-US" sz="2800" b="1" dirty="0">
              <a:solidFill>
                <a:srgbClr val="002060"/>
              </a:solidFill>
              <a:ea typeface="方正琥珀简体"/>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normAutofit/>
          </a:bodyPr>
          <a:lstStyle/>
          <a:p>
            <a:r>
              <a:rPr kumimoji="1" lang="zh-CN" altLang="en-US" dirty="0"/>
              <a:t>用户接口</a:t>
            </a:r>
          </a:p>
        </p:txBody>
      </p:sp>
      <p:sp>
        <p:nvSpPr>
          <p:cNvPr id="3" name="内容占位符 2">
            <a:extLst>
              <a:ext uri="{FF2B5EF4-FFF2-40B4-BE49-F238E27FC236}">
                <a16:creationId xmlns:a16="http://schemas.microsoft.com/office/drawing/2014/main" id="{A3BB8FC7-88A8-0B4D-B7E9-5A9282A67521}"/>
              </a:ext>
            </a:extLst>
          </p:cNvPr>
          <p:cNvSpPr>
            <a:spLocks noGrp="1"/>
          </p:cNvSpPr>
          <p:nvPr>
            <p:ph idx="1"/>
          </p:nvPr>
        </p:nvSpPr>
        <p:spPr>
          <a:xfrm>
            <a:off x="838200" y="1510758"/>
            <a:ext cx="10515600" cy="4982116"/>
          </a:xfrm>
        </p:spPr>
        <p:txBody>
          <a:bodyPr>
            <a:normAutofit/>
          </a:bodyPr>
          <a:lstStyle/>
          <a:p>
            <a:pPr>
              <a:lnSpc>
                <a:spcPct val="110000"/>
              </a:lnSpc>
            </a:pPr>
            <a:r>
              <a:rPr kumimoji="1" lang="zh-CN" altLang="en-US" dirty="0"/>
              <a:t>字符显示式联机用户接口</a:t>
            </a:r>
            <a:endParaRPr kumimoji="1" lang="en-US" altLang="zh-CN" dirty="0">
              <a:solidFill>
                <a:srgbClr val="C00000"/>
              </a:solidFill>
            </a:endParaRPr>
          </a:p>
          <a:p>
            <a:pPr lvl="1">
              <a:lnSpc>
                <a:spcPct val="110000"/>
              </a:lnSpc>
              <a:buFont typeface="Wingdings" panose="05000000000000000000" pitchFamily="2" charset="2"/>
              <a:buChar char="ü"/>
            </a:pPr>
            <a:r>
              <a:rPr kumimoji="1" lang="zh-CN" altLang="en-US" dirty="0"/>
              <a:t>命令行方式</a:t>
            </a:r>
            <a:endParaRPr kumimoji="1" lang="en-US" altLang="zh-CN" dirty="0"/>
          </a:p>
          <a:p>
            <a:pPr marL="914400" lvl="2" indent="0" algn="just">
              <a:lnSpc>
                <a:spcPct val="110000"/>
              </a:lnSpc>
              <a:buNone/>
            </a:pPr>
            <a:r>
              <a:rPr kumimoji="1" lang="zh-CN" altLang="en-US" dirty="0"/>
              <a:t>该方式以行为单位，输入和显示不同命令。每行长度一般不超过</a:t>
            </a:r>
            <a:r>
              <a:rPr kumimoji="1" lang="en-US" altLang="zh-CN" dirty="0"/>
              <a:t>256</a:t>
            </a:r>
            <a:r>
              <a:rPr kumimoji="1" lang="zh-CN" altLang="en-US" dirty="0"/>
              <a:t>个字符，一般情况下，以回车符作为一个命令的结束标记。通常，命令执行采用的是间断式的串行执行方式，即后一个命令的输入一般需等到前一个命令执行结束，如用户键入的一条命令处理完成后系统发出新的命令输入提示符，用户才可以继续输入下一条命令。</a:t>
            </a:r>
            <a:endParaRPr kumimoji="1" lang="en-US" altLang="zh-CN" dirty="0"/>
          </a:p>
          <a:p>
            <a:pPr lvl="1">
              <a:lnSpc>
                <a:spcPct val="110000"/>
              </a:lnSpc>
              <a:buFont typeface="Wingdings" panose="05000000000000000000" pitchFamily="2" charset="2"/>
              <a:buChar char="ü"/>
            </a:pPr>
            <a:r>
              <a:rPr kumimoji="1" lang="zh-CN" altLang="en-US" dirty="0"/>
              <a:t>批命令方式</a:t>
            </a:r>
            <a:endParaRPr kumimoji="1" lang="en-US" altLang="zh-CN" dirty="0"/>
          </a:p>
          <a:p>
            <a:pPr marL="914400" lvl="2" indent="0">
              <a:lnSpc>
                <a:spcPct val="110000"/>
              </a:lnSpc>
              <a:buNone/>
            </a:pPr>
            <a:r>
              <a:rPr kumimoji="1" lang="zh-CN" altLang="en-US" dirty="0"/>
              <a:t>在操作命令的实际使用过程中，经常遇到需要对多条命令的连续使用、或对若干条命令的重复使用、或对不同命令进行选择性使用的情况，如果用户每次都采用命令行方式将命令一条条由键盘输入，既浪费时间，又容易出错。因此，操作系统都支持一种称为批命令的特别命令方式，允许用户预先把一系列命令组织在一种称为批命令文件的文件中，一次建立，多次执行。</a:t>
            </a:r>
            <a:endParaRPr kumimoji="1" lang="en-US" altLang="zh-CN" dirty="0"/>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6" name="文本框 5">
            <a:extLst>
              <a:ext uri="{FF2B5EF4-FFF2-40B4-BE49-F238E27FC236}">
                <a16:creationId xmlns:a16="http://schemas.microsoft.com/office/drawing/2014/main" id="{EDDF19AC-2430-4C08-BF4C-4E3070B12037}"/>
              </a:ext>
            </a:extLst>
          </p:cNvPr>
          <p:cNvSpPr txBox="1"/>
          <p:nvPr/>
        </p:nvSpPr>
        <p:spPr>
          <a:xfrm>
            <a:off x="7511762" y="1291501"/>
            <a:ext cx="3842038" cy="707886"/>
          </a:xfrm>
          <a:prstGeom prst="rect">
            <a:avLst/>
          </a:prstGeom>
          <a:noFill/>
          <a:ln w="28575">
            <a:solidFill>
              <a:schemeClr val="tx1"/>
            </a:solidFill>
            <a:prstDash val="dash"/>
          </a:ln>
        </p:spPr>
        <p:txBody>
          <a:bodyPr wrap="square">
            <a:spAutoFit/>
          </a:bodyPr>
          <a:lstStyle/>
          <a:p>
            <a:r>
              <a:rPr lang="zh-CN" altLang="en-US" sz="2000" b="1" dirty="0">
                <a:solidFill>
                  <a:srgbClr val="FF0000"/>
                </a:solidFill>
              </a:rPr>
              <a:t>一般可分为字符显示式联机用户接口和图形化联机用户接口两类</a:t>
            </a:r>
          </a:p>
        </p:txBody>
      </p:sp>
    </p:spTree>
    <p:extLst>
      <p:ext uri="{BB962C8B-B14F-4D97-AF65-F5344CB8AC3E}">
        <p14:creationId xmlns:p14="http://schemas.microsoft.com/office/powerpoint/2010/main" val="37122347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normAutofit/>
          </a:bodyPr>
          <a:lstStyle/>
          <a:p>
            <a:r>
              <a:rPr kumimoji="1" lang="zh-CN" altLang="en-US" dirty="0"/>
              <a:t>用户接口</a:t>
            </a:r>
          </a:p>
        </p:txBody>
      </p:sp>
      <p:sp>
        <p:nvSpPr>
          <p:cNvPr id="3" name="内容占位符 2">
            <a:extLst>
              <a:ext uri="{FF2B5EF4-FFF2-40B4-BE49-F238E27FC236}">
                <a16:creationId xmlns:a16="http://schemas.microsoft.com/office/drawing/2014/main" id="{A3BB8FC7-88A8-0B4D-B7E9-5A9282A67521}"/>
              </a:ext>
            </a:extLst>
          </p:cNvPr>
          <p:cNvSpPr>
            <a:spLocks noGrp="1"/>
          </p:cNvSpPr>
          <p:nvPr>
            <p:ph idx="1"/>
          </p:nvPr>
        </p:nvSpPr>
        <p:spPr>
          <a:xfrm>
            <a:off x="838199" y="1517072"/>
            <a:ext cx="10695709" cy="5340927"/>
          </a:xfrm>
        </p:spPr>
        <p:txBody>
          <a:bodyPr>
            <a:normAutofit/>
          </a:bodyPr>
          <a:lstStyle/>
          <a:p>
            <a:pPr>
              <a:lnSpc>
                <a:spcPct val="110000"/>
              </a:lnSpc>
            </a:pPr>
            <a:r>
              <a:rPr kumimoji="1" lang="zh-CN" altLang="en-US" dirty="0"/>
              <a:t>图形化联机用户接口</a:t>
            </a:r>
            <a:endParaRPr kumimoji="1" lang="en-US" altLang="zh-CN" dirty="0">
              <a:solidFill>
                <a:srgbClr val="C00000"/>
              </a:solidFill>
            </a:endParaRPr>
          </a:p>
          <a:p>
            <a:pPr lvl="1">
              <a:lnSpc>
                <a:spcPct val="110000"/>
              </a:lnSpc>
              <a:buFont typeface="Wingdings" panose="05000000000000000000" pitchFamily="2" charset="2"/>
              <a:buChar char="ü"/>
            </a:pPr>
            <a:r>
              <a:rPr kumimoji="1" lang="zh-CN" altLang="en-US" dirty="0"/>
              <a:t>图形用户接口引入</a:t>
            </a:r>
            <a:endParaRPr kumimoji="1" lang="en-US" altLang="zh-CN" dirty="0"/>
          </a:p>
          <a:p>
            <a:pPr marL="914400" lvl="2" indent="0" algn="just">
              <a:lnSpc>
                <a:spcPct val="110000"/>
              </a:lnSpc>
              <a:buNone/>
            </a:pPr>
            <a:r>
              <a:rPr kumimoji="1" lang="zh-CN" altLang="en-US" dirty="0"/>
              <a:t>虽然用户可通过命令行和批命令方式取得操作系统的服务，并控制作业运行，但却要牢记各种命令的动词和参数，必须严格按规定格式输入命令，而且不同操作系统所提供的命令语言的词法、语法、语义及表达形式是不一样，这样既不方便又花费时间。于是，图形化用户接口</a:t>
            </a:r>
            <a:r>
              <a:rPr kumimoji="1" lang="en-US" altLang="zh-CN" dirty="0"/>
              <a:t>GUI</a:t>
            </a:r>
            <a:r>
              <a:rPr kumimoji="1" lang="zh-CN" altLang="en-US" dirty="0"/>
              <a:t>便应运而生。</a:t>
            </a:r>
            <a:endParaRPr kumimoji="1" lang="en-US" altLang="zh-CN" dirty="0"/>
          </a:p>
          <a:p>
            <a:pPr lvl="1">
              <a:lnSpc>
                <a:spcPct val="110000"/>
              </a:lnSpc>
              <a:buFont typeface="Wingdings" panose="05000000000000000000" pitchFamily="2" charset="2"/>
              <a:buChar char="ü"/>
            </a:pPr>
            <a:r>
              <a:rPr kumimoji="1" lang="zh-CN" altLang="en-US" dirty="0"/>
              <a:t>使用</a:t>
            </a:r>
            <a:r>
              <a:rPr kumimoji="1" lang="en-US" altLang="zh-CN" dirty="0"/>
              <a:t>WIMP</a:t>
            </a:r>
            <a:r>
              <a:rPr kumimoji="1" lang="zh-CN" altLang="en-US" dirty="0"/>
              <a:t>技术</a:t>
            </a:r>
            <a:endParaRPr kumimoji="1" lang="en-US" altLang="zh-CN" dirty="0"/>
          </a:p>
          <a:p>
            <a:pPr marL="914400" lvl="2" indent="0" algn="just">
              <a:lnSpc>
                <a:spcPct val="110000"/>
              </a:lnSpc>
              <a:buNone/>
            </a:pPr>
            <a:r>
              <a:rPr kumimoji="1" lang="en-US" altLang="zh-CN" dirty="0"/>
              <a:t>GUI</a:t>
            </a:r>
            <a:r>
              <a:rPr kumimoji="1" lang="zh-CN" altLang="en-US" dirty="0"/>
              <a:t>采用图形化操作界面，使用</a:t>
            </a:r>
            <a:r>
              <a:rPr kumimoji="1" lang="en-US" altLang="zh-CN" dirty="0"/>
              <a:t>WIMP </a:t>
            </a:r>
            <a:r>
              <a:rPr kumimoji="1" lang="zh-CN" altLang="en-US" dirty="0"/>
              <a:t>技术，该技术将窗口、图标、菜单、鼠标和面向对象技术等集成在一起，引入各种形象图标，将系统各项功能、各种应用程序和文件直观、逼真地表示出来，形成一个图文并茂的视窗操作环境。</a:t>
            </a:r>
            <a:endParaRPr kumimoji="1" lang="en-US" altLang="zh-CN" dirty="0"/>
          </a:p>
          <a:p>
            <a:pPr lvl="1">
              <a:lnSpc>
                <a:spcPct val="110000"/>
              </a:lnSpc>
              <a:buFont typeface="Wingdings" panose="05000000000000000000" pitchFamily="2" charset="2"/>
              <a:buChar char="ü"/>
            </a:pPr>
            <a:r>
              <a:rPr kumimoji="1" lang="en-US" altLang="zh-CN" dirty="0"/>
              <a:t>Windows</a:t>
            </a:r>
            <a:r>
              <a:rPr kumimoji="1" lang="zh-CN" altLang="en-US" dirty="0"/>
              <a:t>的</a:t>
            </a:r>
            <a:r>
              <a:rPr kumimoji="1" lang="en-US" altLang="zh-CN" dirty="0"/>
              <a:t>GUI</a:t>
            </a:r>
            <a:r>
              <a:rPr kumimoji="1" lang="zh-CN" altLang="en-US" dirty="0"/>
              <a:t>简介</a:t>
            </a:r>
            <a:endParaRPr kumimoji="1" lang="en-US" altLang="zh-CN" dirty="0"/>
          </a:p>
          <a:p>
            <a:pPr marL="914400" lvl="2" indent="0" algn="just">
              <a:lnSpc>
                <a:spcPct val="110000"/>
              </a:lnSpc>
              <a:buNone/>
            </a:pPr>
            <a:r>
              <a:rPr kumimoji="1" lang="zh-CN" altLang="en-US" dirty="0"/>
              <a:t>以</a:t>
            </a:r>
            <a:r>
              <a:rPr kumimoji="1" lang="en-US" altLang="zh-CN" dirty="0"/>
              <a:t>Windows </a:t>
            </a:r>
            <a:r>
              <a:rPr kumimoji="1" lang="zh-CN" altLang="en-US" dirty="0"/>
              <a:t>操作系统为例，系统初始化后，</a:t>
            </a:r>
            <a:r>
              <a:rPr kumimoji="1" lang="en-US" altLang="zh-CN" dirty="0"/>
              <a:t>OS</a:t>
            </a:r>
            <a:r>
              <a:rPr kumimoji="1" lang="zh-CN" altLang="en-US" dirty="0"/>
              <a:t>为终端用户生成了一个运行</a:t>
            </a:r>
            <a:r>
              <a:rPr kumimoji="1" lang="en-US" altLang="zh-CN" dirty="0"/>
              <a:t>explorer.exe</a:t>
            </a:r>
            <a:r>
              <a:rPr kumimoji="1" lang="zh-CN" altLang="en-US" dirty="0"/>
              <a:t>的进程，它运行一个具有窗口界面的命令解释程序，该窗口是一个特殊窗口，即桌面。</a:t>
            </a:r>
            <a:endParaRPr kumimoji="1" lang="en-US" altLang="zh-CN" dirty="0"/>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Tree>
    <p:extLst>
      <p:ext uri="{BB962C8B-B14F-4D97-AF65-F5344CB8AC3E}">
        <p14:creationId xmlns:p14="http://schemas.microsoft.com/office/powerpoint/2010/main" val="27506723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normAutofit/>
          </a:bodyPr>
          <a:lstStyle/>
          <a:p>
            <a:r>
              <a:rPr kumimoji="1" lang="zh-CN" altLang="en-US" dirty="0"/>
              <a:t>用户接口</a:t>
            </a:r>
          </a:p>
        </p:txBody>
      </p:sp>
      <p:sp>
        <p:nvSpPr>
          <p:cNvPr id="3" name="内容占位符 2">
            <a:extLst>
              <a:ext uri="{FF2B5EF4-FFF2-40B4-BE49-F238E27FC236}">
                <a16:creationId xmlns:a16="http://schemas.microsoft.com/office/drawing/2014/main" id="{A3BB8FC7-88A8-0B4D-B7E9-5A9282A67521}"/>
              </a:ext>
            </a:extLst>
          </p:cNvPr>
          <p:cNvSpPr>
            <a:spLocks noGrp="1"/>
          </p:cNvSpPr>
          <p:nvPr>
            <p:ph idx="1"/>
          </p:nvPr>
        </p:nvSpPr>
        <p:spPr>
          <a:xfrm>
            <a:off x="838200" y="1510758"/>
            <a:ext cx="10515600" cy="4982116"/>
          </a:xfrm>
        </p:spPr>
        <p:txBody>
          <a:bodyPr>
            <a:normAutofit/>
          </a:bodyPr>
          <a:lstStyle/>
          <a:p>
            <a:pPr>
              <a:lnSpc>
                <a:spcPct val="110000"/>
              </a:lnSpc>
            </a:pPr>
            <a:r>
              <a:rPr kumimoji="1" lang="zh-CN" altLang="en-US" dirty="0"/>
              <a:t>联机命令的类型</a:t>
            </a:r>
            <a:endParaRPr kumimoji="1" lang="en-US" altLang="zh-CN" dirty="0">
              <a:solidFill>
                <a:srgbClr val="C00000"/>
              </a:solidFill>
            </a:endParaRPr>
          </a:p>
          <a:p>
            <a:pPr lvl="1">
              <a:lnSpc>
                <a:spcPct val="110000"/>
              </a:lnSpc>
              <a:buFont typeface="Wingdings" panose="05000000000000000000" pitchFamily="2" charset="2"/>
              <a:buChar char="ü"/>
            </a:pPr>
            <a:r>
              <a:rPr kumimoji="1" lang="zh-CN" altLang="en-US" dirty="0"/>
              <a:t>系统访问类</a:t>
            </a:r>
            <a:endParaRPr kumimoji="1" lang="en-US" altLang="zh-CN" dirty="0"/>
          </a:p>
          <a:p>
            <a:pPr marL="914400" lvl="2" indent="0" algn="just">
              <a:lnSpc>
                <a:spcPct val="110000"/>
              </a:lnSpc>
              <a:buNone/>
            </a:pPr>
            <a:r>
              <a:rPr lang="zh-CN" altLang="en-US" dirty="0"/>
              <a:t>在多用户系统中，为保证系统安全性，都毫无例外地设置注册命令</a:t>
            </a:r>
            <a:r>
              <a:rPr lang="en-US" altLang="zh-CN" dirty="0"/>
              <a:t>Login</a:t>
            </a:r>
            <a:r>
              <a:rPr lang="zh-CN" altLang="en-US" dirty="0"/>
              <a:t>。凡要在多用户系统终端上上机的用户，都必须先在系统管理员处获得合法的注册名和口令。以后，每当用户在接通其所用终端的电源后，便由系统直接调用，并在屏幕上显示出以下的注册命令：</a:t>
            </a:r>
            <a:endParaRPr lang="en-US" altLang="zh-CN" dirty="0"/>
          </a:p>
          <a:p>
            <a:pPr marL="914400" lvl="2" indent="0" algn="just">
              <a:lnSpc>
                <a:spcPct val="110000"/>
              </a:lnSpc>
              <a:buNone/>
            </a:pPr>
            <a:r>
              <a:rPr lang="en-US" altLang="zh-CN" dirty="0"/>
              <a:t>		Login:</a:t>
            </a:r>
            <a:r>
              <a:rPr lang="zh-CN" altLang="en-US" dirty="0"/>
              <a:t>  </a:t>
            </a:r>
            <a:r>
              <a:rPr lang="en-US" altLang="zh-CN" dirty="0"/>
              <a:t>/</a:t>
            </a:r>
            <a:r>
              <a:rPr lang="zh-CN" altLang="en-US" dirty="0"/>
              <a:t>提示用户键入自己的注册名</a:t>
            </a:r>
            <a:endParaRPr lang="en-US" altLang="zh-CN" dirty="0"/>
          </a:p>
          <a:p>
            <a:pPr marL="914400" lvl="2" indent="0" algn="just">
              <a:lnSpc>
                <a:spcPct val="110000"/>
              </a:lnSpc>
              <a:buNone/>
            </a:pPr>
            <a:r>
              <a:rPr lang="zh-CN" altLang="en-US" dirty="0"/>
              <a:t>当用户键入正确的注册名并按下回车键后，屏幕上又会出现：</a:t>
            </a:r>
            <a:endParaRPr lang="en-US" altLang="zh-CN" dirty="0"/>
          </a:p>
          <a:p>
            <a:pPr marL="914400" lvl="2" indent="0" algn="just">
              <a:lnSpc>
                <a:spcPct val="110000"/>
              </a:lnSpc>
              <a:buNone/>
            </a:pPr>
            <a:r>
              <a:rPr lang="en-US" altLang="zh-CN" dirty="0"/>
              <a:t>		Password:</a:t>
            </a:r>
            <a:r>
              <a:rPr lang="zh-CN" altLang="en-US" dirty="0"/>
              <a:t>  </a:t>
            </a:r>
            <a:r>
              <a:rPr lang="en-US" altLang="zh-CN" dirty="0"/>
              <a:t>/</a:t>
            </a:r>
            <a:r>
              <a:rPr lang="zh-CN" altLang="en-US" dirty="0"/>
              <a:t>提示用户键入自己的口令</a:t>
            </a:r>
            <a:endParaRPr kumimoji="1" lang="en-US" altLang="zh-CN" dirty="0"/>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Tree>
    <p:extLst>
      <p:ext uri="{BB962C8B-B14F-4D97-AF65-F5344CB8AC3E}">
        <p14:creationId xmlns:p14="http://schemas.microsoft.com/office/powerpoint/2010/main" val="15826864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normAutofit/>
          </a:bodyPr>
          <a:lstStyle/>
          <a:p>
            <a:r>
              <a:rPr kumimoji="1" lang="zh-CN" altLang="en-US" dirty="0"/>
              <a:t>用户接口</a:t>
            </a:r>
          </a:p>
        </p:txBody>
      </p:sp>
      <p:sp>
        <p:nvSpPr>
          <p:cNvPr id="3" name="内容占位符 2">
            <a:extLst>
              <a:ext uri="{FF2B5EF4-FFF2-40B4-BE49-F238E27FC236}">
                <a16:creationId xmlns:a16="http://schemas.microsoft.com/office/drawing/2014/main" id="{A3BB8FC7-88A8-0B4D-B7E9-5A9282A67521}"/>
              </a:ext>
            </a:extLst>
          </p:cNvPr>
          <p:cNvSpPr>
            <a:spLocks noGrp="1"/>
          </p:cNvSpPr>
          <p:nvPr>
            <p:ph idx="1"/>
          </p:nvPr>
        </p:nvSpPr>
        <p:spPr>
          <a:xfrm>
            <a:off x="838200" y="1510758"/>
            <a:ext cx="10515600" cy="4982116"/>
          </a:xfrm>
        </p:spPr>
        <p:txBody>
          <a:bodyPr>
            <a:normAutofit/>
          </a:bodyPr>
          <a:lstStyle/>
          <a:p>
            <a:pPr>
              <a:lnSpc>
                <a:spcPct val="110000"/>
              </a:lnSpc>
            </a:pPr>
            <a:r>
              <a:rPr kumimoji="1" lang="zh-CN" altLang="en-US" dirty="0"/>
              <a:t>联机命令的类型</a:t>
            </a:r>
            <a:endParaRPr kumimoji="1" lang="en-US" altLang="zh-CN" dirty="0">
              <a:solidFill>
                <a:srgbClr val="C00000"/>
              </a:solidFill>
            </a:endParaRPr>
          </a:p>
          <a:p>
            <a:pPr lvl="1">
              <a:lnSpc>
                <a:spcPct val="110000"/>
              </a:lnSpc>
              <a:buFont typeface="Wingdings" panose="05000000000000000000" pitchFamily="2" charset="2"/>
              <a:buChar char="ü"/>
            </a:pPr>
            <a:r>
              <a:rPr kumimoji="1" lang="zh-CN" altLang="en-US" dirty="0"/>
              <a:t>文件操作命令</a:t>
            </a:r>
          </a:p>
          <a:p>
            <a:pPr marL="914400" lvl="2" indent="0" algn="just">
              <a:lnSpc>
                <a:spcPct val="110000"/>
              </a:lnSpc>
              <a:buNone/>
            </a:pPr>
            <a:r>
              <a:rPr lang="zh-CN" altLang="en-US" b="1" dirty="0">
                <a:solidFill>
                  <a:srgbClr val="FF0000"/>
                </a:solidFill>
              </a:rPr>
              <a:t>显示文件命令</a:t>
            </a:r>
            <a:r>
              <a:rPr lang="en-US" altLang="zh-CN" b="1" dirty="0">
                <a:solidFill>
                  <a:srgbClr val="FF0000"/>
                </a:solidFill>
              </a:rPr>
              <a:t>type</a:t>
            </a:r>
            <a:r>
              <a:rPr lang="zh-CN" altLang="en-US" dirty="0"/>
              <a:t>：用于将指定文件内容显示在屏幕上。</a:t>
            </a:r>
            <a:endParaRPr lang="en-US" altLang="zh-CN" dirty="0"/>
          </a:p>
          <a:p>
            <a:pPr marL="914400" lvl="2" indent="0" algn="just">
              <a:lnSpc>
                <a:spcPct val="110000"/>
              </a:lnSpc>
              <a:buNone/>
            </a:pPr>
            <a:r>
              <a:rPr lang="zh-CN" altLang="en-US" b="1" dirty="0">
                <a:solidFill>
                  <a:srgbClr val="FF0000"/>
                </a:solidFill>
              </a:rPr>
              <a:t>拷贝文件命令</a:t>
            </a:r>
            <a:r>
              <a:rPr lang="en-US" altLang="zh-CN" b="1" dirty="0">
                <a:solidFill>
                  <a:srgbClr val="FF0000"/>
                </a:solidFill>
              </a:rPr>
              <a:t>copy</a:t>
            </a:r>
            <a:r>
              <a:rPr lang="zh-CN" altLang="en-US" dirty="0"/>
              <a:t>：用于实现文件的拷贝。</a:t>
            </a:r>
            <a:endParaRPr lang="en-US" altLang="zh-CN" dirty="0"/>
          </a:p>
          <a:p>
            <a:pPr marL="914400" lvl="2" indent="0" algn="just">
              <a:lnSpc>
                <a:spcPct val="110000"/>
              </a:lnSpc>
              <a:buNone/>
            </a:pPr>
            <a:r>
              <a:rPr lang="zh-CN" altLang="en-US" b="1" dirty="0">
                <a:solidFill>
                  <a:srgbClr val="FF0000"/>
                </a:solidFill>
              </a:rPr>
              <a:t>文件比较命令</a:t>
            </a:r>
            <a:r>
              <a:rPr lang="en-US" altLang="zh-CN" b="1" dirty="0">
                <a:solidFill>
                  <a:srgbClr val="FF0000"/>
                </a:solidFill>
              </a:rPr>
              <a:t>comp</a:t>
            </a:r>
            <a:r>
              <a:rPr lang="zh-CN" altLang="en-US" dirty="0"/>
              <a:t>：该命令用于对两个指定文件进行比较，两文件可以在同一个或不同的驱动器上。</a:t>
            </a:r>
            <a:endParaRPr lang="en-US" altLang="zh-CN" dirty="0"/>
          </a:p>
          <a:p>
            <a:pPr marL="914400" lvl="2" indent="0" algn="just">
              <a:lnSpc>
                <a:spcPct val="110000"/>
              </a:lnSpc>
              <a:buNone/>
            </a:pPr>
            <a:r>
              <a:rPr lang="zh-CN" altLang="en-US" b="1" dirty="0">
                <a:solidFill>
                  <a:srgbClr val="FF0000"/>
                </a:solidFill>
              </a:rPr>
              <a:t>重新命名命令</a:t>
            </a:r>
            <a:r>
              <a:rPr lang="en-US" altLang="zh-CN" b="1" dirty="0">
                <a:solidFill>
                  <a:srgbClr val="FF0000"/>
                </a:solidFill>
              </a:rPr>
              <a:t>rename</a:t>
            </a:r>
            <a:r>
              <a:rPr lang="zh-CN" altLang="en-US" dirty="0"/>
              <a:t>：该命令用于将以第一参数命名的文件改成用第二参数给定的名字。</a:t>
            </a:r>
            <a:endParaRPr lang="en-US" altLang="zh-CN" dirty="0"/>
          </a:p>
          <a:p>
            <a:pPr marL="914400" lvl="2" indent="0" algn="just">
              <a:lnSpc>
                <a:spcPct val="110000"/>
              </a:lnSpc>
              <a:buNone/>
            </a:pPr>
            <a:r>
              <a:rPr lang="zh-CN" altLang="en-US" b="1" dirty="0">
                <a:solidFill>
                  <a:srgbClr val="FF0000"/>
                </a:solidFill>
              </a:rPr>
              <a:t>删除文件命令</a:t>
            </a:r>
            <a:r>
              <a:rPr lang="en-US" altLang="zh-CN" b="1" dirty="0">
                <a:solidFill>
                  <a:srgbClr val="FF0000"/>
                </a:solidFill>
              </a:rPr>
              <a:t>erase</a:t>
            </a:r>
            <a:r>
              <a:rPr lang="zh-CN" altLang="en-US" dirty="0"/>
              <a:t>：该命令用于删除一个或一组文件，例如，当参数路径名为*</a:t>
            </a:r>
            <a:r>
              <a:rPr lang="en-US" altLang="zh-CN" dirty="0"/>
              <a:t>.BAK</a:t>
            </a:r>
            <a:r>
              <a:rPr lang="zh-CN" altLang="en-US" dirty="0"/>
              <a:t>时，表示删除指定目录下的所有其扩展名为 </a:t>
            </a:r>
            <a:r>
              <a:rPr lang="en-US" altLang="zh-CN" dirty="0"/>
              <a:t>.</a:t>
            </a:r>
            <a:r>
              <a:rPr lang="en-US" altLang="zh-CN" dirty="0" err="1"/>
              <a:t>Bak</a:t>
            </a:r>
            <a:r>
              <a:rPr lang="zh-CN" altLang="en-US" dirty="0"/>
              <a:t>的文件</a:t>
            </a:r>
            <a:endParaRPr lang="en-US" altLang="zh-CN" dirty="0"/>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Tree>
    <p:extLst>
      <p:ext uri="{BB962C8B-B14F-4D97-AF65-F5344CB8AC3E}">
        <p14:creationId xmlns:p14="http://schemas.microsoft.com/office/powerpoint/2010/main" val="34010714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normAutofit/>
          </a:bodyPr>
          <a:lstStyle/>
          <a:p>
            <a:r>
              <a:rPr kumimoji="1" lang="zh-CN" altLang="en-US" dirty="0"/>
              <a:t>用户接口</a:t>
            </a:r>
          </a:p>
        </p:txBody>
      </p:sp>
      <p:sp>
        <p:nvSpPr>
          <p:cNvPr id="3" name="内容占位符 2">
            <a:extLst>
              <a:ext uri="{FF2B5EF4-FFF2-40B4-BE49-F238E27FC236}">
                <a16:creationId xmlns:a16="http://schemas.microsoft.com/office/drawing/2014/main" id="{A3BB8FC7-88A8-0B4D-B7E9-5A9282A67521}"/>
              </a:ext>
            </a:extLst>
          </p:cNvPr>
          <p:cNvSpPr>
            <a:spLocks noGrp="1"/>
          </p:cNvSpPr>
          <p:nvPr>
            <p:ph idx="1"/>
          </p:nvPr>
        </p:nvSpPr>
        <p:spPr>
          <a:xfrm>
            <a:off x="838200" y="1510758"/>
            <a:ext cx="10515600" cy="4982116"/>
          </a:xfrm>
        </p:spPr>
        <p:txBody>
          <a:bodyPr>
            <a:normAutofit/>
          </a:bodyPr>
          <a:lstStyle/>
          <a:p>
            <a:pPr>
              <a:lnSpc>
                <a:spcPct val="110000"/>
              </a:lnSpc>
            </a:pPr>
            <a:r>
              <a:rPr kumimoji="1" lang="zh-CN" altLang="en-US" dirty="0"/>
              <a:t>联机命令的类型</a:t>
            </a:r>
            <a:endParaRPr kumimoji="1" lang="en-US" altLang="zh-CN" dirty="0">
              <a:solidFill>
                <a:srgbClr val="C00000"/>
              </a:solidFill>
            </a:endParaRPr>
          </a:p>
          <a:p>
            <a:pPr lvl="1">
              <a:lnSpc>
                <a:spcPct val="110000"/>
              </a:lnSpc>
              <a:buFont typeface="Wingdings" panose="05000000000000000000" pitchFamily="2" charset="2"/>
              <a:buChar char="ü"/>
            </a:pPr>
            <a:r>
              <a:rPr kumimoji="1" lang="zh-CN" altLang="en-US" dirty="0"/>
              <a:t>目录操作命令</a:t>
            </a:r>
          </a:p>
          <a:p>
            <a:pPr marL="914400" lvl="2" indent="0" algn="just">
              <a:lnSpc>
                <a:spcPct val="110000"/>
              </a:lnSpc>
              <a:buNone/>
            </a:pPr>
            <a:r>
              <a:rPr lang="zh-CN" altLang="en-US" b="1" dirty="0">
                <a:solidFill>
                  <a:srgbClr val="FF0000"/>
                </a:solidFill>
              </a:rPr>
              <a:t>建立子目录命令</a:t>
            </a:r>
            <a:r>
              <a:rPr lang="en-US" altLang="zh-CN" b="1" dirty="0" err="1">
                <a:solidFill>
                  <a:srgbClr val="FF0000"/>
                </a:solidFill>
              </a:rPr>
              <a:t>mkdir</a:t>
            </a:r>
            <a:r>
              <a:rPr lang="zh-CN" altLang="en-US" dirty="0"/>
              <a:t>：用于建立指定名字的新目录。</a:t>
            </a:r>
            <a:endParaRPr lang="en-US" altLang="zh-CN" dirty="0"/>
          </a:p>
          <a:p>
            <a:pPr marL="914400" lvl="2" indent="0" algn="just">
              <a:lnSpc>
                <a:spcPct val="110000"/>
              </a:lnSpc>
              <a:buNone/>
            </a:pPr>
            <a:r>
              <a:rPr lang="zh-CN" altLang="en-US" b="1" dirty="0">
                <a:solidFill>
                  <a:srgbClr val="FF0000"/>
                </a:solidFill>
              </a:rPr>
              <a:t>显示目录命令</a:t>
            </a:r>
            <a:r>
              <a:rPr lang="en-US" altLang="zh-CN" b="1" dirty="0" err="1">
                <a:solidFill>
                  <a:srgbClr val="FF0000"/>
                </a:solidFill>
              </a:rPr>
              <a:t>dir</a:t>
            </a:r>
            <a:r>
              <a:rPr lang="zh-CN" altLang="en-US" dirty="0"/>
              <a:t>：显示指定磁盘中的目录项。</a:t>
            </a:r>
            <a:endParaRPr lang="en-US" altLang="zh-CN" dirty="0"/>
          </a:p>
          <a:p>
            <a:pPr marL="914400" lvl="2" indent="0" algn="just">
              <a:lnSpc>
                <a:spcPct val="110000"/>
              </a:lnSpc>
              <a:buNone/>
            </a:pPr>
            <a:r>
              <a:rPr lang="zh-CN" altLang="en-US" b="1" dirty="0">
                <a:solidFill>
                  <a:srgbClr val="FF0000"/>
                </a:solidFill>
              </a:rPr>
              <a:t>删除子目录命令</a:t>
            </a:r>
            <a:r>
              <a:rPr lang="en-US" altLang="zh-CN" b="1" dirty="0" err="1">
                <a:solidFill>
                  <a:srgbClr val="FF0000"/>
                </a:solidFill>
              </a:rPr>
              <a:t>rmdir</a:t>
            </a:r>
            <a:r>
              <a:rPr lang="zh-CN" altLang="en-US" dirty="0"/>
              <a:t>：用于删除指定的子目录文件，但不能删除普通文件，而且一次只能删除一个空目录</a:t>
            </a:r>
            <a:r>
              <a:rPr lang="en-US" altLang="zh-CN" dirty="0"/>
              <a:t>(</a:t>
            </a:r>
            <a:r>
              <a:rPr lang="zh-CN" altLang="en-US" dirty="0"/>
              <a:t>其中仅含“</a:t>
            </a:r>
            <a:r>
              <a:rPr lang="en-US" altLang="zh-CN" dirty="0"/>
              <a:t>.”</a:t>
            </a:r>
            <a:r>
              <a:rPr lang="zh-CN" altLang="en-US" dirty="0"/>
              <a:t>和“</a:t>
            </a:r>
            <a:r>
              <a:rPr lang="en-US" altLang="zh-CN" dirty="0"/>
              <a:t>..”</a:t>
            </a:r>
            <a:r>
              <a:rPr lang="zh-CN" altLang="en-US" dirty="0"/>
              <a:t>两个文件</a:t>
            </a:r>
            <a:r>
              <a:rPr lang="en-US" altLang="zh-CN" dirty="0"/>
              <a:t>)</a:t>
            </a:r>
            <a:r>
              <a:rPr lang="zh-CN" altLang="en-US" dirty="0"/>
              <a:t>，不能删除根及当前目录。</a:t>
            </a:r>
            <a:endParaRPr lang="en-US" altLang="zh-CN" dirty="0"/>
          </a:p>
          <a:p>
            <a:pPr marL="914400" lvl="2" indent="0" algn="just">
              <a:lnSpc>
                <a:spcPct val="110000"/>
              </a:lnSpc>
              <a:buNone/>
            </a:pPr>
            <a:r>
              <a:rPr lang="zh-CN" altLang="en-US" b="1" dirty="0">
                <a:solidFill>
                  <a:srgbClr val="FF0000"/>
                </a:solidFill>
              </a:rPr>
              <a:t>显示目录结构命令</a:t>
            </a:r>
            <a:r>
              <a:rPr lang="en-US" altLang="zh-CN" b="1" dirty="0">
                <a:solidFill>
                  <a:srgbClr val="FF0000"/>
                </a:solidFill>
              </a:rPr>
              <a:t>tree</a:t>
            </a:r>
            <a:r>
              <a:rPr lang="zh-CN" altLang="en-US" dirty="0"/>
              <a:t>：显示指定盘上的所有目录路径及其层次关系。</a:t>
            </a:r>
            <a:endParaRPr lang="en-US" altLang="zh-CN" dirty="0"/>
          </a:p>
          <a:p>
            <a:pPr marL="914400" lvl="2" indent="0" algn="just">
              <a:lnSpc>
                <a:spcPct val="110000"/>
              </a:lnSpc>
              <a:buNone/>
            </a:pPr>
            <a:r>
              <a:rPr lang="zh-CN" altLang="en-US" b="1" dirty="0">
                <a:solidFill>
                  <a:srgbClr val="FF0000"/>
                </a:solidFill>
              </a:rPr>
              <a:t>改变当前目录命令</a:t>
            </a:r>
            <a:r>
              <a:rPr lang="en-US" altLang="zh-CN" b="1" dirty="0" err="1">
                <a:solidFill>
                  <a:srgbClr val="FF0000"/>
                </a:solidFill>
              </a:rPr>
              <a:t>chdir</a:t>
            </a:r>
            <a:r>
              <a:rPr lang="zh-CN" altLang="en-US" dirty="0"/>
              <a:t>：将当前目录改变为由路径名参数给定的目录。用“</a:t>
            </a:r>
            <a:r>
              <a:rPr lang="en-US" altLang="zh-CN" dirty="0"/>
              <a:t>..”</a:t>
            </a:r>
            <a:r>
              <a:rPr lang="zh-CN" altLang="en-US" dirty="0"/>
              <a:t>作参数时，表示应返回到上一级目录下。</a:t>
            </a:r>
            <a:endParaRPr lang="en-US" altLang="zh-CN" dirty="0"/>
          </a:p>
          <a:p>
            <a:pPr lvl="1">
              <a:lnSpc>
                <a:spcPct val="110000"/>
              </a:lnSpc>
              <a:buFont typeface="Wingdings" panose="05000000000000000000" pitchFamily="2" charset="2"/>
              <a:buChar char="ü"/>
            </a:pPr>
            <a:r>
              <a:rPr kumimoji="1" lang="zh-CN" altLang="en-US" dirty="0"/>
              <a:t>其它命令</a:t>
            </a:r>
            <a:endParaRPr kumimoji="1" lang="en-US" altLang="zh-CN" dirty="0"/>
          </a:p>
          <a:p>
            <a:pPr marL="914400" lvl="2" indent="0">
              <a:lnSpc>
                <a:spcPct val="110000"/>
              </a:lnSpc>
              <a:buNone/>
            </a:pPr>
            <a:r>
              <a:rPr kumimoji="1" lang="zh-CN" altLang="en-US" dirty="0"/>
              <a:t>输入输出重定向命令、管道连接、过滤命令、批命令</a:t>
            </a:r>
            <a:endParaRPr kumimoji="1" lang="en-US" altLang="zh-CN" dirty="0"/>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Tree>
    <p:extLst>
      <p:ext uri="{BB962C8B-B14F-4D97-AF65-F5344CB8AC3E}">
        <p14:creationId xmlns:p14="http://schemas.microsoft.com/office/powerpoint/2010/main" val="38666026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normAutofit/>
          </a:bodyPr>
          <a:lstStyle/>
          <a:p>
            <a:r>
              <a:rPr kumimoji="1" lang="en-US" altLang="zh-CN" dirty="0"/>
              <a:t>Shell</a:t>
            </a:r>
            <a:r>
              <a:rPr kumimoji="1" lang="zh-CN" altLang="en-US" dirty="0"/>
              <a:t>命令语言</a:t>
            </a:r>
          </a:p>
        </p:txBody>
      </p:sp>
      <p:sp>
        <p:nvSpPr>
          <p:cNvPr id="3" name="内容占位符 2">
            <a:extLst>
              <a:ext uri="{FF2B5EF4-FFF2-40B4-BE49-F238E27FC236}">
                <a16:creationId xmlns:a16="http://schemas.microsoft.com/office/drawing/2014/main" id="{A3BB8FC7-88A8-0B4D-B7E9-5A9282A67521}"/>
              </a:ext>
            </a:extLst>
          </p:cNvPr>
          <p:cNvSpPr>
            <a:spLocks noGrp="1"/>
          </p:cNvSpPr>
          <p:nvPr>
            <p:ph idx="1"/>
          </p:nvPr>
        </p:nvSpPr>
        <p:spPr>
          <a:xfrm>
            <a:off x="838200" y="1510757"/>
            <a:ext cx="10515600" cy="5210717"/>
          </a:xfrm>
        </p:spPr>
        <p:txBody>
          <a:bodyPr>
            <a:normAutofit/>
          </a:bodyPr>
          <a:lstStyle/>
          <a:p>
            <a:pPr>
              <a:lnSpc>
                <a:spcPct val="110000"/>
              </a:lnSpc>
            </a:pPr>
            <a:r>
              <a:rPr kumimoji="1" lang="zh-CN" altLang="en-US" dirty="0"/>
              <a:t>简单命令简介</a:t>
            </a:r>
            <a:endParaRPr kumimoji="1" lang="en-US" altLang="zh-CN" dirty="0">
              <a:solidFill>
                <a:srgbClr val="C00000"/>
              </a:solidFill>
            </a:endParaRPr>
          </a:p>
          <a:p>
            <a:pPr lvl="1">
              <a:lnSpc>
                <a:spcPct val="110000"/>
              </a:lnSpc>
              <a:buFont typeface="Wingdings" panose="05000000000000000000" pitchFamily="2" charset="2"/>
              <a:buChar char="ü"/>
            </a:pPr>
            <a:r>
              <a:rPr kumimoji="1" lang="zh-CN" altLang="en-US" dirty="0"/>
              <a:t>简单命令的格式</a:t>
            </a:r>
          </a:p>
          <a:p>
            <a:pPr marL="914400" lvl="2" indent="0" algn="just">
              <a:lnSpc>
                <a:spcPct val="110000"/>
              </a:lnSpc>
              <a:buNone/>
            </a:pPr>
            <a:r>
              <a:rPr lang="zh-CN" altLang="en-US" dirty="0"/>
              <a:t>简单命令格式比较自由，包括命令名字符个数及用于分隔命令名、选项、各参数间的空格数等，都是任意的。在</a:t>
            </a:r>
            <a:r>
              <a:rPr lang="en-US" altLang="zh-CN" dirty="0"/>
              <a:t>UNIX</a:t>
            </a:r>
            <a:r>
              <a:rPr lang="zh-CN" altLang="en-US" dirty="0"/>
              <a:t>和</a:t>
            </a:r>
            <a:r>
              <a:rPr lang="en-US" altLang="zh-CN" dirty="0"/>
              <a:t>Linux</a:t>
            </a:r>
            <a:r>
              <a:rPr lang="zh-CN" altLang="en-US" dirty="0"/>
              <a:t>系统中都规定，命令由小写字母构成，命令可带有参数表，用于给出执行命令时的附加信息，每个参数是一个单词。命令名与参数表之间还可使用一种称为选项的自变量，用减号开始，后跟一个或多个字母、数字。一条命令可有多个选项，用于改变命令执行动作的类型。</a:t>
            </a:r>
            <a:endParaRPr lang="en-US" altLang="zh-CN" dirty="0"/>
          </a:p>
          <a:p>
            <a:pPr lvl="1">
              <a:lnSpc>
                <a:spcPct val="110000"/>
              </a:lnSpc>
              <a:buFont typeface="Wingdings" panose="05000000000000000000" pitchFamily="2" charset="2"/>
              <a:buChar char="ü"/>
            </a:pPr>
            <a:r>
              <a:rPr kumimoji="1" lang="zh-CN" altLang="en-US" dirty="0"/>
              <a:t>简单命令的分类</a:t>
            </a:r>
            <a:endParaRPr kumimoji="1" lang="en-US" altLang="zh-CN" dirty="0"/>
          </a:p>
          <a:p>
            <a:pPr marL="914400" lvl="2" indent="0" algn="just">
              <a:lnSpc>
                <a:spcPct val="110000"/>
              </a:lnSpc>
              <a:buNone/>
            </a:pPr>
            <a:r>
              <a:rPr kumimoji="1" lang="zh-CN" altLang="en-US" dirty="0"/>
              <a:t>在</a:t>
            </a:r>
            <a:r>
              <a:rPr kumimoji="1" lang="en-US" altLang="zh-CN" dirty="0"/>
              <a:t>Linux</a:t>
            </a:r>
            <a:r>
              <a:rPr kumimoji="1" lang="zh-CN" altLang="en-US" dirty="0"/>
              <a:t>或</a:t>
            </a:r>
            <a:r>
              <a:rPr kumimoji="1" lang="en-US" altLang="zh-CN" dirty="0"/>
              <a:t>UNIX</a:t>
            </a:r>
            <a:r>
              <a:rPr kumimoji="1" lang="zh-CN" altLang="en-US" dirty="0"/>
              <a:t>系统中，一般把简单命令分为两类：</a:t>
            </a:r>
            <a:r>
              <a:rPr kumimoji="1" lang="en-US" altLang="zh-CN" dirty="0"/>
              <a:t>(1)</a:t>
            </a:r>
            <a:r>
              <a:rPr kumimoji="1" lang="zh-CN" altLang="en-US" dirty="0"/>
              <a:t>系统提供的标准命令。包括调用各种语言处理程序、实用程序等，其数量随系统版本的不同而有所差异，系统管理员可以增添新的系统标准命令。</a:t>
            </a:r>
            <a:r>
              <a:rPr kumimoji="1" lang="en-US" altLang="zh-CN" dirty="0"/>
              <a:t>(2)</a:t>
            </a:r>
            <a:r>
              <a:rPr kumimoji="1" lang="zh-CN" altLang="en-US" dirty="0"/>
              <a:t>用户自定义的命令。系统管理员和用户自行定义的命令的执行方式与系统标准命令的执行方式相同。</a:t>
            </a:r>
            <a:endParaRPr kumimoji="1" lang="en-US" altLang="zh-CN" dirty="0"/>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6" name="文本框 5">
            <a:extLst>
              <a:ext uri="{FF2B5EF4-FFF2-40B4-BE49-F238E27FC236}">
                <a16:creationId xmlns:a16="http://schemas.microsoft.com/office/drawing/2014/main" id="{730FFE2A-2573-4783-87A8-7D28DAD92304}"/>
              </a:ext>
            </a:extLst>
          </p:cNvPr>
          <p:cNvSpPr txBox="1"/>
          <p:nvPr/>
        </p:nvSpPr>
        <p:spPr>
          <a:xfrm>
            <a:off x="8397587" y="1504441"/>
            <a:ext cx="2862695" cy="646331"/>
          </a:xfrm>
          <a:prstGeom prst="rect">
            <a:avLst/>
          </a:prstGeom>
          <a:noFill/>
          <a:ln w="28575">
            <a:solidFill>
              <a:schemeClr val="tx1"/>
            </a:solidFill>
            <a:prstDash val="dash"/>
          </a:ln>
        </p:spPr>
        <p:txBody>
          <a:bodyPr wrap="square">
            <a:spAutoFit/>
          </a:bodyPr>
          <a:lstStyle/>
          <a:p>
            <a:pPr algn="just"/>
            <a:r>
              <a:rPr lang="zh-CN" altLang="en-US" b="1" dirty="0">
                <a:solidFill>
                  <a:srgbClr val="FF0000"/>
                </a:solidFill>
              </a:rPr>
              <a:t>一条命令行中仅有一个命令，就把它称为</a:t>
            </a:r>
            <a:r>
              <a:rPr lang="zh-CN" altLang="en-US" b="1" dirty="0">
                <a:solidFill>
                  <a:schemeClr val="accent3"/>
                </a:solidFill>
              </a:rPr>
              <a:t>简单命令</a:t>
            </a:r>
          </a:p>
        </p:txBody>
      </p:sp>
    </p:spTree>
    <p:extLst>
      <p:ext uri="{BB962C8B-B14F-4D97-AF65-F5344CB8AC3E}">
        <p14:creationId xmlns:p14="http://schemas.microsoft.com/office/powerpoint/2010/main" val="34144643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normAutofit/>
          </a:bodyPr>
          <a:lstStyle/>
          <a:p>
            <a:r>
              <a:rPr kumimoji="1" lang="en-US" altLang="zh-CN" dirty="0"/>
              <a:t>Shell</a:t>
            </a:r>
            <a:r>
              <a:rPr kumimoji="1" lang="zh-CN" altLang="en-US" dirty="0"/>
              <a:t>命令语言</a:t>
            </a:r>
          </a:p>
        </p:txBody>
      </p:sp>
      <p:sp>
        <p:nvSpPr>
          <p:cNvPr id="3" name="内容占位符 2">
            <a:extLst>
              <a:ext uri="{FF2B5EF4-FFF2-40B4-BE49-F238E27FC236}">
                <a16:creationId xmlns:a16="http://schemas.microsoft.com/office/drawing/2014/main" id="{A3BB8FC7-88A8-0B4D-B7E9-5A9282A67521}"/>
              </a:ext>
            </a:extLst>
          </p:cNvPr>
          <p:cNvSpPr>
            <a:spLocks noGrp="1"/>
          </p:cNvSpPr>
          <p:nvPr>
            <p:ph idx="1"/>
          </p:nvPr>
        </p:nvSpPr>
        <p:spPr>
          <a:xfrm>
            <a:off x="838200" y="1510757"/>
            <a:ext cx="10515600" cy="5210717"/>
          </a:xfrm>
        </p:spPr>
        <p:txBody>
          <a:bodyPr>
            <a:normAutofit/>
          </a:bodyPr>
          <a:lstStyle/>
          <a:p>
            <a:pPr>
              <a:lnSpc>
                <a:spcPct val="110000"/>
              </a:lnSpc>
            </a:pPr>
            <a:r>
              <a:rPr kumimoji="1" lang="zh-CN" altLang="en-US" dirty="0"/>
              <a:t>简单命令简介</a:t>
            </a:r>
            <a:endParaRPr kumimoji="1" lang="en-US" altLang="zh-CN" dirty="0">
              <a:solidFill>
                <a:srgbClr val="C00000"/>
              </a:solidFill>
            </a:endParaRPr>
          </a:p>
          <a:p>
            <a:pPr lvl="1">
              <a:lnSpc>
                <a:spcPct val="110000"/>
              </a:lnSpc>
              <a:buFont typeface="Wingdings" panose="05000000000000000000" pitchFamily="2" charset="2"/>
              <a:buChar char="ü"/>
            </a:pPr>
            <a:r>
              <a:rPr kumimoji="1" lang="zh-CN" altLang="en-US" dirty="0"/>
              <a:t>简单命令的分类</a:t>
            </a:r>
            <a:endParaRPr kumimoji="1" lang="en-US" altLang="zh-CN" dirty="0"/>
          </a:p>
          <a:p>
            <a:pPr marL="914400" lvl="2" indent="0" algn="just">
              <a:lnSpc>
                <a:spcPct val="110000"/>
              </a:lnSpc>
              <a:buNone/>
            </a:pPr>
            <a:r>
              <a:rPr kumimoji="1" lang="zh-CN" altLang="en-US" dirty="0"/>
              <a:t>对于简单命令，还可根据命令是否包含在</a:t>
            </a:r>
            <a:r>
              <a:rPr kumimoji="1" lang="en-US" altLang="zh-CN" dirty="0"/>
              <a:t>Shell</a:t>
            </a:r>
            <a:r>
              <a:rPr kumimoji="1" lang="zh-CN" altLang="en-US" dirty="0"/>
              <a:t>内部，即是否常驻内存，而分为内部命令和外部命令两类：</a:t>
            </a:r>
            <a:r>
              <a:rPr kumimoji="1" lang="en-US" altLang="zh-CN" dirty="0"/>
              <a:t>(1)</a:t>
            </a:r>
            <a:r>
              <a:rPr kumimoji="1" lang="zh-CN" altLang="en-US" dirty="0"/>
              <a:t>内部命令。</a:t>
            </a:r>
            <a:r>
              <a:rPr kumimoji="1" lang="en-US" altLang="zh-CN" dirty="0"/>
              <a:t>Shell</a:t>
            </a:r>
            <a:r>
              <a:rPr kumimoji="1" lang="zh-CN" altLang="en-US" dirty="0"/>
              <a:t>中少数标准命令，如改变工作目录命令</a:t>
            </a:r>
            <a:r>
              <a:rPr kumimoji="1" lang="en-US" altLang="zh-CN" dirty="0"/>
              <a:t>cd</a:t>
            </a:r>
            <a:r>
              <a:rPr kumimoji="1" lang="zh-CN" altLang="en-US" dirty="0"/>
              <a:t>等，是包含在</a:t>
            </a:r>
            <a:r>
              <a:rPr kumimoji="1" lang="en-US" altLang="zh-CN" dirty="0"/>
              <a:t>Shell</a:t>
            </a:r>
            <a:r>
              <a:rPr kumimoji="1" lang="zh-CN" altLang="en-US" dirty="0"/>
              <a:t>内部的，作为内部命令常驻内存。</a:t>
            </a:r>
            <a:r>
              <a:rPr kumimoji="1" lang="en-US" altLang="zh-CN" dirty="0"/>
              <a:t>(2)</a:t>
            </a:r>
            <a:r>
              <a:rPr kumimoji="1" lang="zh-CN" altLang="en-US" dirty="0"/>
              <a:t>外部命令。</a:t>
            </a:r>
            <a:r>
              <a:rPr kumimoji="1" lang="en-US" altLang="zh-CN" dirty="0"/>
              <a:t>Shell</a:t>
            </a:r>
            <a:r>
              <a:rPr kumimoji="1" lang="zh-CN" altLang="en-US" dirty="0"/>
              <a:t>中大多数的命令如拷贝命令</a:t>
            </a:r>
            <a:r>
              <a:rPr kumimoji="1" lang="en-US" altLang="zh-CN" dirty="0"/>
              <a:t>cp</a:t>
            </a:r>
            <a:r>
              <a:rPr kumimoji="1" lang="zh-CN" altLang="en-US" dirty="0"/>
              <a:t>和移动命令</a:t>
            </a:r>
            <a:r>
              <a:rPr kumimoji="1" lang="en-US" altLang="zh-CN" dirty="0"/>
              <a:t>rm</a:t>
            </a:r>
            <a:r>
              <a:rPr kumimoji="1" lang="zh-CN" altLang="en-US" dirty="0"/>
              <a:t>等，均保存于外存</a:t>
            </a:r>
            <a:r>
              <a:rPr kumimoji="1" lang="en-US" altLang="zh-CN" dirty="0"/>
              <a:t>(</a:t>
            </a:r>
            <a:r>
              <a:rPr kumimoji="1" lang="zh-CN" altLang="en-US" dirty="0"/>
              <a:t>盘</a:t>
            </a:r>
            <a:r>
              <a:rPr kumimoji="1" lang="en-US" altLang="zh-CN" dirty="0"/>
              <a:t>)</a:t>
            </a:r>
            <a:r>
              <a:rPr kumimoji="1" lang="zh-CN" altLang="en-US" dirty="0"/>
              <a:t>上，即每个命令是存在于文件系统中某个目录下的单独程序。这样做的好处在于，可以很大程度地节省内存空间。</a:t>
            </a:r>
            <a:endParaRPr kumimoji="1" lang="en-US" altLang="zh-CN" dirty="0"/>
          </a:p>
          <a:p>
            <a:pPr lvl="1">
              <a:lnSpc>
                <a:spcPct val="110000"/>
              </a:lnSpc>
              <a:buFont typeface="Wingdings" panose="05000000000000000000" pitchFamily="2" charset="2"/>
              <a:buChar char="ü"/>
            </a:pPr>
            <a:r>
              <a:rPr kumimoji="1" lang="en-US" altLang="zh-CN" dirty="0"/>
              <a:t>Shell</a:t>
            </a:r>
            <a:r>
              <a:rPr kumimoji="1" lang="zh-CN" altLang="en-US" dirty="0"/>
              <a:t>的种类</a:t>
            </a:r>
            <a:endParaRPr kumimoji="1" lang="en-US" altLang="zh-CN" dirty="0"/>
          </a:p>
          <a:p>
            <a:pPr marL="914400" lvl="2" indent="0" algn="just">
              <a:lnSpc>
                <a:spcPct val="110000"/>
              </a:lnSpc>
              <a:buNone/>
            </a:pPr>
            <a:r>
              <a:rPr kumimoji="1" lang="zh-CN" altLang="en-US" dirty="0"/>
              <a:t>现在流行的</a:t>
            </a:r>
            <a:r>
              <a:rPr kumimoji="1" lang="en-US" altLang="zh-CN" dirty="0"/>
              <a:t>Shell</a:t>
            </a:r>
            <a:r>
              <a:rPr kumimoji="1" lang="zh-CN" altLang="en-US" dirty="0"/>
              <a:t>有多种类型，下面简单介绍几种流行的</a:t>
            </a:r>
            <a:r>
              <a:rPr kumimoji="1" lang="en-US" altLang="zh-CN" dirty="0"/>
              <a:t>Shell</a:t>
            </a:r>
            <a:r>
              <a:rPr kumimoji="1" lang="zh-CN" altLang="en-US" dirty="0">
                <a:sym typeface="Wingdings" panose="05000000000000000000" pitchFamily="2" charset="2"/>
              </a:rPr>
              <a:t>：</a:t>
            </a:r>
            <a:r>
              <a:rPr kumimoji="1" lang="en-US" altLang="zh-CN" dirty="0">
                <a:sym typeface="Wingdings" panose="05000000000000000000" pitchFamily="2" charset="2"/>
              </a:rPr>
              <a:t>(</a:t>
            </a:r>
            <a:r>
              <a:rPr kumimoji="1" lang="en-US" altLang="zh-CN" dirty="0"/>
              <a:t>1)Bourne Shell</a:t>
            </a:r>
            <a:r>
              <a:rPr kumimoji="1" lang="zh-CN" altLang="en-US" dirty="0"/>
              <a:t>。</a:t>
            </a:r>
            <a:r>
              <a:rPr kumimoji="1" lang="en-US" altLang="zh-CN" dirty="0"/>
              <a:t>(2)C Shell</a:t>
            </a:r>
            <a:r>
              <a:rPr kumimoji="1" lang="zh-CN" altLang="en-US" dirty="0"/>
              <a:t>，一种比</a:t>
            </a:r>
            <a:r>
              <a:rPr kumimoji="1" lang="en-US" altLang="zh-CN" dirty="0"/>
              <a:t>B Shell</a:t>
            </a:r>
            <a:r>
              <a:rPr kumimoji="1" lang="zh-CN" altLang="en-US" dirty="0"/>
              <a:t>更适于编程的</a:t>
            </a:r>
            <a:r>
              <a:rPr kumimoji="1" lang="en-US" altLang="zh-CN" dirty="0"/>
              <a:t>Shell</a:t>
            </a:r>
            <a:r>
              <a:rPr kumimoji="1" lang="zh-CN" altLang="en-US" dirty="0"/>
              <a:t>，是标准</a:t>
            </a:r>
            <a:r>
              <a:rPr kumimoji="1" lang="en-US" altLang="zh-CN" dirty="0"/>
              <a:t>BSD(Berkeley System Distribution)</a:t>
            </a:r>
            <a:r>
              <a:rPr kumimoji="1" lang="zh-CN" altLang="en-US" dirty="0"/>
              <a:t>命令解释。</a:t>
            </a:r>
            <a:r>
              <a:rPr kumimoji="1" lang="en-US" altLang="zh-CN" dirty="0"/>
              <a:t>(3)Korn Shell</a:t>
            </a:r>
            <a:r>
              <a:rPr kumimoji="1" lang="zh-CN" altLang="en-US" dirty="0"/>
              <a:t>，集合了</a:t>
            </a:r>
            <a:r>
              <a:rPr kumimoji="1" lang="en-US" altLang="zh-CN" dirty="0"/>
              <a:t>C Shell</a:t>
            </a:r>
            <a:r>
              <a:rPr kumimoji="1" lang="zh-CN" altLang="en-US" dirty="0"/>
              <a:t>和</a:t>
            </a:r>
            <a:r>
              <a:rPr kumimoji="1" lang="en-US" altLang="zh-CN" dirty="0"/>
              <a:t>B Shell</a:t>
            </a:r>
            <a:r>
              <a:rPr kumimoji="1" lang="zh-CN" altLang="en-US" dirty="0"/>
              <a:t>的优点，并且和</a:t>
            </a:r>
            <a:r>
              <a:rPr kumimoji="1" lang="en-US" altLang="zh-CN" dirty="0"/>
              <a:t>B Shell</a:t>
            </a:r>
            <a:r>
              <a:rPr kumimoji="1" lang="zh-CN" altLang="en-US" dirty="0"/>
              <a:t>完全兼容，它的名字是</a:t>
            </a:r>
            <a:r>
              <a:rPr kumimoji="1" lang="en-US" altLang="zh-CN" dirty="0"/>
              <a:t>K Sh</a:t>
            </a:r>
            <a:r>
              <a:rPr kumimoji="1" lang="zh-CN" altLang="en-US" dirty="0"/>
              <a:t>。</a:t>
            </a:r>
            <a:endParaRPr kumimoji="1" lang="en-US" altLang="zh-CN" dirty="0"/>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Tree>
    <p:extLst>
      <p:ext uri="{BB962C8B-B14F-4D97-AF65-F5344CB8AC3E}">
        <p14:creationId xmlns:p14="http://schemas.microsoft.com/office/powerpoint/2010/main" val="1904739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normAutofit/>
          </a:bodyPr>
          <a:lstStyle/>
          <a:p>
            <a:r>
              <a:rPr kumimoji="1" lang="en-US" altLang="zh-CN" dirty="0"/>
              <a:t>Shell</a:t>
            </a:r>
            <a:r>
              <a:rPr kumimoji="1" lang="zh-CN" altLang="en-US" dirty="0"/>
              <a:t>命令语言</a:t>
            </a:r>
          </a:p>
        </p:txBody>
      </p:sp>
      <p:sp>
        <p:nvSpPr>
          <p:cNvPr id="3" name="内容占位符 2">
            <a:extLst>
              <a:ext uri="{FF2B5EF4-FFF2-40B4-BE49-F238E27FC236}">
                <a16:creationId xmlns:a16="http://schemas.microsoft.com/office/drawing/2014/main" id="{A3BB8FC7-88A8-0B4D-B7E9-5A9282A67521}"/>
              </a:ext>
            </a:extLst>
          </p:cNvPr>
          <p:cNvSpPr>
            <a:spLocks noGrp="1"/>
          </p:cNvSpPr>
          <p:nvPr>
            <p:ph idx="1"/>
          </p:nvPr>
        </p:nvSpPr>
        <p:spPr>
          <a:xfrm>
            <a:off x="838200" y="1510757"/>
            <a:ext cx="10515600" cy="5210717"/>
          </a:xfrm>
        </p:spPr>
        <p:txBody>
          <a:bodyPr>
            <a:normAutofit/>
          </a:bodyPr>
          <a:lstStyle/>
          <a:p>
            <a:pPr>
              <a:lnSpc>
                <a:spcPct val="110000"/>
              </a:lnSpc>
            </a:pPr>
            <a:r>
              <a:rPr kumimoji="1" lang="zh-CN" altLang="en-US" dirty="0"/>
              <a:t>简单命令类型</a:t>
            </a:r>
            <a:endParaRPr kumimoji="1" lang="en-US" altLang="zh-CN" dirty="0">
              <a:solidFill>
                <a:srgbClr val="C00000"/>
              </a:solidFill>
            </a:endParaRPr>
          </a:p>
          <a:p>
            <a:pPr lvl="1">
              <a:lnSpc>
                <a:spcPct val="110000"/>
              </a:lnSpc>
              <a:buFont typeface="Wingdings" panose="05000000000000000000" pitchFamily="2" charset="2"/>
              <a:buChar char="ü"/>
            </a:pPr>
            <a:r>
              <a:rPr kumimoji="1" lang="zh-CN" altLang="en-US" dirty="0"/>
              <a:t>进入与退出系统</a:t>
            </a:r>
            <a:endParaRPr kumimoji="1" lang="en-US" altLang="zh-CN" dirty="0"/>
          </a:p>
          <a:p>
            <a:pPr marL="914400" lvl="2" indent="0" algn="just">
              <a:lnSpc>
                <a:spcPct val="110000"/>
              </a:lnSpc>
              <a:buNone/>
            </a:pPr>
            <a:r>
              <a:rPr kumimoji="1" lang="zh-CN" altLang="en-US" dirty="0"/>
              <a:t>进入系统</a:t>
            </a:r>
            <a:r>
              <a:rPr kumimoji="1" lang="en-US" altLang="zh-CN" dirty="0"/>
              <a:t>(</a:t>
            </a:r>
            <a:r>
              <a:rPr kumimoji="1" lang="zh-CN" altLang="en-US" dirty="0"/>
              <a:t>也称为注册</a:t>
            </a:r>
            <a:r>
              <a:rPr kumimoji="1" lang="en-US" altLang="zh-CN" dirty="0"/>
              <a:t>)</a:t>
            </a:r>
            <a:r>
              <a:rPr kumimoji="1" lang="zh-CN" altLang="en-US" dirty="0"/>
              <a:t>、退出系统。</a:t>
            </a:r>
            <a:endParaRPr kumimoji="1" lang="en-US" altLang="zh-CN" dirty="0"/>
          </a:p>
          <a:p>
            <a:pPr lvl="1">
              <a:lnSpc>
                <a:spcPct val="110000"/>
              </a:lnSpc>
              <a:buFont typeface="Wingdings" panose="05000000000000000000" pitchFamily="2" charset="2"/>
              <a:buChar char="ü"/>
            </a:pPr>
            <a:r>
              <a:rPr kumimoji="1" lang="zh-CN" altLang="en-US" dirty="0"/>
              <a:t>文件操作命令</a:t>
            </a:r>
            <a:endParaRPr kumimoji="1" lang="en-US" altLang="zh-CN" dirty="0"/>
          </a:p>
          <a:p>
            <a:pPr marL="914400" lvl="2" indent="0" algn="just">
              <a:lnSpc>
                <a:spcPct val="110000"/>
              </a:lnSpc>
              <a:buNone/>
            </a:pPr>
            <a:r>
              <a:rPr kumimoji="1" lang="zh-CN" altLang="en-US" dirty="0"/>
              <a:t>显示文件内容命令</a:t>
            </a:r>
            <a:r>
              <a:rPr kumimoji="1" lang="en-US" altLang="zh-CN" dirty="0"/>
              <a:t>cat</a:t>
            </a:r>
            <a:r>
              <a:rPr kumimoji="1" lang="zh-CN" altLang="en-US" dirty="0"/>
              <a:t>、复制文件副本的命令</a:t>
            </a:r>
            <a:r>
              <a:rPr kumimoji="1" lang="en-US" altLang="zh-CN" dirty="0"/>
              <a:t>cp</a:t>
            </a:r>
            <a:r>
              <a:rPr kumimoji="1" lang="zh-CN" altLang="en-US" dirty="0"/>
              <a:t>、对已有文件改名的命令</a:t>
            </a:r>
            <a:r>
              <a:rPr kumimoji="1" lang="en-US" altLang="zh-CN" dirty="0"/>
              <a:t>mv</a:t>
            </a:r>
            <a:r>
              <a:rPr kumimoji="1" lang="zh-CN" altLang="en-US" dirty="0"/>
              <a:t>、撤消文件的命令</a:t>
            </a:r>
            <a:r>
              <a:rPr kumimoji="1" lang="en-US" altLang="zh-CN" dirty="0"/>
              <a:t>rm</a:t>
            </a:r>
            <a:r>
              <a:rPr kumimoji="1" lang="zh-CN" altLang="en-US" dirty="0"/>
              <a:t>、确定文件类型的命令</a:t>
            </a:r>
            <a:r>
              <a:rPr kumimoji="1" lang="en-US" altLang="zh-CN" dirty="0"/>
              <a:t>file</a:t>
            </a:r>
            <a:r>
              <a:rPr kumimoji="1" lang="zh-CN" altLang="en-US" dirty="0"/>
              <a:t>。</a:t>
            </a:r>
            <a:endParaRPr kumimoji="1" lang="en-US" altLang="zh-CN" dirty="0"/>
          </a:p>
          <a:p>
            <a:pPr lvl="1">
              <a:lnSpc>
                <a:spcPct val="110000"/>
              </a:lnSpc>
              <a:buFont typeface="Wingdings" panose="05000000000000000000" pitchFamily="2" charset="2"/>
              <a:buChar char="ü"/>
            </a:pPr>
            <a:r>
              <a:rPr kumimoji="1" lang="zh-CN" altLang="en-US" dirty="0"/>
              <a:t>目录操作命令</a:t>
            </a:r>
            <a:endParaRPr kumimoji="1" lang="en-US" altLang="zh-CN" dirty="0"/>
          </a:p>
          <a:p>
            <a:pPr marL="914400" lvl="2" indent="0">
              <a:lnSpc>
                <a:spcPct val="110000"/>
              </a:lnSpc>
              <a:buNone/>
            </a:pPr>
            <a:r>
              <a:rPr kumimoji="1" lang="zh-CN" altLang="en-US" dirty="0"/>
              <a:t>建立目录的命令</a:t>
            </a:r>
            <a:r>
              <a:rPr kumimoji="1" lang="en-US" altLang="zh-CN" dirty="0" err="1"/>
              <a:t>mkdir</a:t>
            </a:r>
            <a:r>
              <a:rPr kumimoji="1" lang="zh-CN" altLang="en-US" dirty="0"/>
              <a:t>、撤消目录的命令</a:t>
            </a:r>
            <a:r>
              <a:rPr kumimoji="1" lang="en-US" altLang="zh-CN" dirty="0" err="1"/>
              <a:t>rmdir</a:t>
            </a:r>
            <a:r>
              <a:rPr kumimoji="1" lang="zh-CN" altLang="en-US" dirty="0"/>
              <a:t>、改变工作目录的命令</a:t>
            </a:r>
            <a:r>
              <a:rPr kumimoji="1" lang="en-US" altLang="zh-CN" dirty="0"/>
              <a:t>cd</a:t>
            </a:r>
            <a:r>
              <a:rPr kumimoji="1" lang="zh-CN" altLang="en-US" dirty="0"/>
              <a:t>。</a:t>
            </a:r>
            <a:endParaRPr kumimoji="1" lang="en-US" altLang="zh-CN" dirty="0"/>
          </a:p>
          <a:p>
            <a:pPr lvl="1">
              <a:lnSpc>
                <a:spcPct val="110000"/>
              </a:lnSpc>
              <a:buFont typeface="Wingdings" panose="05000000000000000000" pitchFamily="2" charset="2"/>
              <a:buChar char="ü"/>
            </a:pPr>
            <a:r>
              <a:rPr kumimoji="1" lang="zh-CN" altLang="en-US" dirty="0"/>
              <a:t>系统询问命令</a:t>
            </a:r>
            <a:endParaRPr kumimoji="1" lang="en-US" altLang="zh-CN" dirty="0"/>
          </a:p>
          <a:p>
            <a:pPr marL="914400" lvl="2" indent="0">
              <a:lnSpc>
                <a:spcPct val="110000"/>
              </a:lnSpc>
              <a:buNone/>
            </a:pPr>
            <a:r>
              <a:rPr kumimoji="1" lang="zh-CN" altLang="en-US" dirty="0"/>
              <a:t>访问当前日期和时间命令</a:t>
            </a:r>
            <a:r>
              <a:rPr kumimoji="1" lang="en-US" altLang="zh-CN" dirty="0"/>
              <a:t>date</a:t>
            </a:r>
            <a:r>
              <a:rPr kumimoji="1" lang="zh-CN" altLang="en-US" dirty="0"/>
              <a:t>、询问系统当前用户的命令</a:t>
            </a:r>
            <a:r>
              <a:rPr kumimoji="1" lang="en-US" altLang="zh-CN" dirty="0"/>
              <a:t>who</a:t>
            </a:r>
            <a:r>
              <a:rPr kumimoji="1" lang="zh-CN" altLang="en-US" dirty="0"/>
              <a:t>、显示当前目录路径名的命令</a:t>
            </a:r>
            <a:r>
              <a:rPr kumimoji="1" lang="en-US" altLang="zh-CN" dirty="0" err="1"/>
              <a:t>pwd</a:t>
            </a:r>
            <a:r>
              <a:rPr kumimoji="1" lang="zh-CN" altLang="en-US" dirty="0"/>
              <a:t>。</a:t>
            </a:r>
            <a:endParaRPr kumimoji="1" lang="en-US" altLang="zh-CN" dirty="0"/>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Tree>
    <p:extLst>
      <p:ext uri="{BB962C8B-B14F-4D97-AF65-F5344CB8AC3E}">
        <p14:creationId xmlns:p14="http://schemas.microsoft.com/office/powerpoint/2010/main" val="12251869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normAutofit/>
          </a:bodyPr>
          <a:lstStyle/>
          <a:p>
            <a:r>
              <a:rPr kumimoji="1" lang="en-US" altLang="zh-CN" dirty="0"/>
              <a:t>Shell</a:t>
            </a:r>
            <a:r>
              <a:rPr kumimoji="1" lang="zh-CN" altLang="en-US" dirty="0"/>
              <a:t>命令语言</a:t>
            </a:r>
          </a:p>
        </p:txBody>
      </p:sp>
      <p:sp>
        <p:nvSpPr>
          <p:cNvPr id="3" name="内容占位符 2">
            <a:extLst>
              <a:ext uri="{FF2B5EF4-FFF2-40B4-BE49-F238E27FC236}">
                <a16:creationId xmlns:a16="http://schemas.microsoft.com/office/drawing/2014/main" id="{A3BB8FC7-88A8-0B4D-B7E9-5A9282A67521}"/>
              </a:ext>
            </a:extLst>
          </p:cNvPr>
          <p:cNvSpPr>
            <a:spLocks noGrp="1"/>
          </p:cNvSpPr>
          <p:nvPr>
            <p:ph idx="1"/>
          </p:nvPr>
        </p:nvSpPr>
        <p:spPr>
          <a:xfrm>
            <a:off x="838200" y="1510757"/>
            <a:ext cx="10515600" cy="5210717"/>
          </a:xfrm>
        </p:spPr>
        <p:txBody>
          <a:bodyPr>
            <a:normAutofit/>
          </a:bodyPr>
          <a:lstStyle/>
          <a:p>
            <a:pPr>
              <a:lnSpc>
                <a:spcPct val="110000"/>
              </a:lnSpc>
            </a:pPr>
            <a:r>
              <a:rPr kumimoji="1" lang="zh-CN" altLang="en-US" dirty="0"/>
              <a:t>重定向与管道命令</a:t>
            </a:r>
            <a:endParaRPr kumimoji="1" lang="en-US" altLang="zh-CN" dirty="0">
              <a:solidFill>
                <a:srgbClr val="C00000"/>
              </a:solidFill>
            </a:endParaRPr>
          </a:p>
          <a:p>
            <a:pPr lvl="1">
              <a:lnSpc>
                <a:spcPct val="110000"/>
              </a:lnSpc>
              <a:buFont typeface="Wingdings" panose="05000000000000000000" pitchFamily="2" charset="2"/>
              <a:buChar char="ü"/>
            </a:pPr>
            <a:r>
              <a:rPr kumimoji="1" lang="zh-CN" altLang="en-US" dirty="0"/>
              <a:t>重定向命令</a:t>
            </a:r>
            <a:endParaRPr kumimoji="1" lang="en-US" altLang="zh-CN" dirty="0"/>
          </a:p>
          <a:p>
            <a:pPr marL="914400" lvl="2" indent="0" algn="just">
              <a:lnSpc>
                <a:spcPct val="110000"/>
              </a:lnSpc>
              <a:buNone/>
            </a:pPr>
            <a:r>
              <a:rPr kumimoji="1" lang="zh-CN" altLang="en-US" dirty="0"/>
              <a:t>在</a:t>
            </a:r>
            <a:r>
              <a:rPr kumimoji="1" lang="en-US" altLang="zh-CN" dirty="0"/>
              <a:t>Linux</a:t>
            </a:r>
            <a:r>
              <a:rPr kumimoji="1" lang="zh-CN" altLang="en-US" dirty="0"/>
              <a:t>系统中，由系统定义了三个文件。其中，有两个分别称为标准输入和标准输出的文件，各对应于终端键盘输入和终端屏幕输出。它们是在用户注册时，由</a:t>
            </a:r>
            <a:r>
              <a:rPr kumimoji="1" lang="en-US" altLang="zh-CN" dirty="0"/>
              <a:t>Login</a:t>
            </a:r>
            <a:r>
              <a:rPr kumimoji="1" lang="zh-CN" altLang="en-US" dirty="0"/>
              <a:t>程序打开的。这样，在用户程序执行时，隐含的标准输入是键盘输入，标准输出即屏幕</a:t>
            </a:r>
            <a:r>
              <a:rPr kumimoji="1" lang="en-US" altLang="zh-CN" dirty="0"/>
              <a:t>(</a:t>
            </a:r>
            <a:r>
              <a:rPr kumimoji="1" lang="zh-CN" altLang="en-US" dirty="0"/>
              <a:t>输出</a:t>
            </a:r>
            <a:r>
              <a:rPr kumimoji="1" lang="en-US" altLang="zh-CN" dirty="0"/>
              <a:t>)</a:t>
            </a:r>
            <a:r>
              <a:rPr kumimoji="1" lang="zh-CN" altLang="en-US" dirty="0"/>
              <a:t>显示。但用户程序中可能不要求从键盘输入，而是从某个指定文件上读取信息供程序使用；同样，用户可能希望把程序执行时所产生的结果数据写到某个指定文件中而非屏幕上。</a:t>
            </a:r>
            <a:endParaRPr kumimoji="1" lang="en-US" altLang="zh-CN" dirty="0"/>
          </a:p>
          <a:p>
            <a:pPr lvl="1">
              <a:lnSpc>
                <a:spcPct val="110000"/>
              </a:lnSpc>
              <a:buFont typeface="Wingdings" panose="05000000000000000000" pitchFamily="2" charset="2"/>
              <a:buChar char="ü"/>
            </a:pPr>
            <a:r>
              <a:rPr kumimoji="1" lang="zh-CN" altLang="en-US" dirty="0"/>
              <a:t>管道命令</a:t>
            </a:r>
            <a:endParaRPr kumimoji="1" lang="en-US" altLang="zh-CN" dirty="0"/>
          </a:p>
          <a:p>
            <a:pPr marL="914400" lvl="2" indent="0" algn="just">
              <a:lnSpc>
                <a:spcPct val="110000"/>
              </a:lnSpc>
              <a:buNone/>
            </a:pPr>
            <a:r>
              <a:rPr kumimoji="1" lang="zh-CN" altLang="en-US" dirty="0"/>
              <a:t>人们又进一步把重定向思想加以扩充，用符号“</a:t>
            </a:r>
            <a:r>
              <a:rPr kumimoji="1" lang="en-US" altLang="zh-CN" dirty="0"/>
              <a:t>|”</a:t>
            </a:r>
            <a:r>
              <a:rPr kumimoji="1" lang="zh-CN" altLang="en-US" dirty="0"/>
              <a:t>来连接两条命令，使其前一条命令的输出作为后一条命令的输入。</a:t>
            </a:r>
            <a:endParaRPr kumimoji="1" lang="en-US" altLang="zh-CN" dirty="0"/>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Tree>
    <p:extLst>
      <p:ext uri="{BB962C8B-B14F-4D97-AF65-F5344CB8AC3E}">
        <p14:creationId xmlns:p14="http://schemas.microsoft.com/office/powerpoint/2010/main" val="10041404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normAutofit/>
          </a:bodyPr>
          <a:lstStyle/>
          <a:p>
            <a:r>
              <a:rPr kumimoji="1" lang="en-US" altLang="zh-CN" dirty="0"/>
              <a:t>Shell</a:t>
            </a:r>
            <a:r>
              <a:rPr kumimoji="1" lang="zh-CN" altLang="en-US" dirty="0"/>
              <a:t>命令语言</a:t>
            </a:r>
          </a:p>
        </p:txBody>
      </p:sp>
      <p:sp>
        <p:nvSpPr>
          <p:cNvPr id="3" name="内容占位符 2">
            <a:extLst>
              <a:ext uri="{FF2B5EF4-FFF2-40B4-BE49-F238E27FC236}">
                <a16:creationId xmlns:a16="http://schemas.microsoft.com/office/drawing/2014/main" id="{A3BB8FC7-88A8-0B4D-B7E9-5A9282A67521}"/>
              </a:ext>
            </a:extLst>
          </p:cNvPr>
          <p:cNvSpPr>
            <a:spLocks noGrp="1"/>
          </p:cNvSpPr>
          <p:nvPr>
            <p:ph idx="1"/>
          </p:nvPr>
        </p:nvSpPr>
        <p:spPr>
          <a:xfrm>
            <a:off x="838200" y="1510757"/>
            <a:ext cx="10515600" cy="5210717"/>
          </a:xfrm>
        </p:spPr>
        <p:txBody>
          <a:bodyPr>
            <a:normAutofit/>
          </a:bodyPr>
          <a:lstStyle/>
          <a:p>
            <a:pPr>
              <a:lnSpc>
                <a:spcPct val="110000"/>
              </a:lnSpc>
            </a:pPr>
            <a:r>
              <a:rPr kumimoji="1" lang="zh-CN" altLang="en-US" dirty="0"/>
              <a:t>通信命令</a:t>
            </a:r>
            <a:endParaRPr kumimoji="1" lang="en-US" altLang="zh-CN" dirty="0">
              <a:solidFill>
                <a:srgbClr val="C00000"/>
              </a:solidFill>
            </a:endParaRPr>
          </a:p>
          <a:p>
            <a:pPr lvl="1">
              <a:lnSpc>
                <a:spcPct val="110000"/>
              </a:lnSpc>
              <a:buFont typeface="Wingdings" panose="05000000000000000000" pitchFamily="2" charset="2"/>
              <a:buChar char="ü"/>
            </a:pPr>
            <a:r>
              <a:rPr kumimoji="1" lang="zh-CN" altLang="en-US" dirty="0"/>
              <a:t>信箱通信命令</a:t>
            </a:r>
            <a:r>
              <a:rPr kumimoji="1" lang="en-US" altLang="zh-CN" dirty="0"/>
              <a:t>mail</a:t>
            </a:r>
          </a:p>
          <a:p>
            <a:pPr marL="914400" lvl="2" indent="0" algn="just">
              <a:lnSpc>
                <a:spcPct val="110000"/>
              </a:lnSpc>
              <a:buNone/>
            </a:pPr>
            <a:r>
              <a:rPr kumimoji="1" lang="zh-CN" altLang="en-US" dirty="0"/>
              <a:t>信箱通信是作为在</a:t>
            </a:r>
            <a:r>
              <a:rPr kumimoji="1" lang="en-US" altLang="zh-CN" dirty="0"/>
              <a:t>UNIX</a:t>
            </a:r>
            <a:r>
              <a:rPr kumimoji="1" lang="zh-CN" altLang="en-US" dirty="0"/>
              <a:t>的各用户之间进行非交互式通信的工具。发信者把要发送的消息写成信件，“邮寄”到对方的信箱中。</a:t>
            </a:r>
            <a:endParaRPr kumimoji="1" lang="en-US" altLang="zh-CN" dirty="0"/>
          </a:p>
          <a:p>
            <a:pPr lvl="1">
              <a:lnSpc>
                <a:spcPct val="110000"/>
              </a:lnSpc>
              <a:buFont typeface="Wingdings" panose="05000000000000000000" pitchFamily="2" charset="2"/>
              <a:buChar char="ü"/>
            </a:pPr>
            <a:r>
              <a:rPr kumimoji="1" lang="zh-CN" altLang="en-US" dirty="0"/>
              <a:t>对话通信命令</a:t>
            </a:r>
            <a:r>
              <a:rPr kumimoji="1" lang="en-US" altLang="zh-CN" dirty="0"/>
              <a:t>write</a:t>
            </a:r>
          </a:p>
          <a:p>
            <a:pPr marL="914400" lvl="2" indent="0" algn="just">
              <a:lnSpc>
                <a:spcPct val="110000"/>
              </a:lnSpc>
              <a:buNone/>
            </a:pPr>
            <a:r>
              <a:rPr kumimoji="1" lang="zh-CN" altLang="en-US" dirty="0"/>
              <a:t>用这条命令可以使用户与当前在系统中的其他用户直接进行联机通信。</a:t>
            </a:r>
            <a:endParaRPr kumimoji="1" lang="en-US" altLang="zh-CN" dirty="0"/>
          </a:p>
          <a:p>
            <a:pPr lvl="1">
              <a:lnSpc>
                <a:spcPct val="110000"/>
              </a:lnSpc>
              <a:buFont typeface="Wingdings" panose="05000000000000000000" pitchFamily="2" charset="2"/>
              <a:buChar char="ü"/>
            </a:pPr>
            <a:r>
              <a:rPr kumimoji="1" lang="zh-CN" altLang="en-US" dirty="0"/>
              <a:t>允许或拒绝接收消息的</a:t>
            </a:r>
            <a:r>
              <a:rPr kumimoji="1" lang="en-US" altLang="zh-CN" dirty="0"/>
              <a:t>mesg</a:t>
            </a:r>
            <a:r>
              <a:rPr kumimoji="1" lang="zh-CN" altLang="en-US" dirty="0"/>
              <a:t>命令</a:t>
            </a:r>
            <a:endParaRPr kumimoji="1" lang="en-US" altLang="zh-CN" dirty="0"/>
          </a:p>
          <a:p>
            <a:pPr marL="914400" lvl="2" indent="0">
              <a:lnSpc>
                <a:spcPct val="110000"/>
              </a:lnSpc>
              <a:buNone/>
            </a:pPr>
            <a:r>
              <a:rPr kumimoji="1" lang="zh-CN" altLang="en-US" dirty="0"/>
              <a:t>其格式为：</a:t>
            </a:r>
            <a:r>
              <a:rPr kumimoji="1" lang="en-US" altLang="zh-CN" dirty="0"/>
              <a:t>mesg[-n][-y]</a:t>
            </a:r>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Tree>
    <p:extLst>
      <p:ext uri="{BB962C8B-B14F-4D97-AF65-F5344CB8AC3E}">
        <p14:creationId xmlns:p14="http://schemas.microsoft.com/office/powerpoint/2010/main" val="2748746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normAutofit/>
          </a:bodyPr>
          <a:lstStyle/>
          <a:p>
            <a:r>
              <a:rPr kumimoji="1" lang="en-US" altLang="zh-CN" dirty="0"/>
              <a:t>Shell</a:t>
            </a:r>
            <a:r>
              <a:rPr kumimoji="1" lang="zh-CN" altLang="en-US" dirty="0"/>
              <a:t>命令语言</a:t>
            </a:r>
          </a:p>
        </p:txBody>
      </p:sp>
      <p:sp>
        <p:nvSpPr>
          <p:cNvPr id="3" name="内容占位符 2">
            <a:extLst>
              <a:ext uri="{FF2B5EF4-FFF2-40B4-BE49-F238E27FC236}">
                <a16:creationId xmlns:a16="http://schemas.microsoft.com/office/drawing/2014/main" id="{A3BB8FC7-88A8-0B4D-B7E9-5A9282A67521}"/>
              </a:ext>
            </a:extLst>
          </p:cNvPr>
          <p:cNvSpPr>
            <a:spLocks noGrp="1"/>
          </p:cNvSpPr>
          <p:nvPr>
            <p:ph idx="1"/>
          </p:nvPr>
        </p:nvSpPr>
        <p:spPr>
          <a:xfrm>
            <a:off x="838200" y="1510757"/>
            <a:ext cx="10515600" cy="5210717"/>
          </a:xfrm>
        </p:spPr>
        <p:txBody>
          <a:bodyPr>
            <a:normAutofit/>
          </a:bodyPr>
          <a:lstStyle/>
          <a:p>
            <a:pPr>
              <a:lnSpc>
                <a:spcPct val="110000"/>
              </a:lnSpc>
            </a:pPr>
            <a:r>
              <a:rPr kumimoji="1" lang="zh-CN" altLang="en-US" dirty="0"/>
              <a:t>后台命令</a:t>
            </a:r>
            <a:endParaRPr kumimoji="1" lang="en-US" altLang="zh-CN" dirty="0">
              <a:solidFill>
                <a:srgbClr val="C00000"/>
              </a:solidFill>
            </a:endParaRPr>
          </a:p>
          <a:p>
            <a:pPr marL="914400" lvl="2" indent="0" algn="just">
              <a:lnSpc>
                <a:spcPct val="110000"/>
              </a:lnSpc>
              <a:buNone/>
            </a:pPr>
            <a:r>
              <a:rPr kumimoji="1" lang="zh-CN" altLang="en-US" dirty="0"/>
              <a:t>有些命令需要执行很长的时间，这样，当用户键入该命令后，便会发现自己已无事可做，要一直等到该命令执行完毕，方可再键入下一条命令。这时用户自然会想到应该利用这段时间去做些别的事。</a:t>
            </a:r>
            <a:r>
              <a:rPr kumimoji="1" lang="en-US" altLang="zh-CN" dirty="0"/>
              <a:t>UNIX</a:t>
            </a:r>
            <a:r>
              <a:rPr kumimoji="1" lang="zh-CN" altLang="en-US" dirty="0"/>
              <a:t>系统提供了这种机制，用户可以在这种命令后面再加上“</a:t>
            </a:r>
            <a:r>
              <a:rPr kumimoji="1" lang="en-US" altLang="zh-CN" dirty="0"/>
              <a:t>&amp;”</a:t>
            </a:r>
            <a:r>
              <a:rPr kumimoji="1" lang="zh-CN" altLang="en-US" dirty="0"/>
              <a:t>号，以告诉</a:t>
            </a:r>
            <a:r>
              <a:rPr kumimoji="1" lang="en-US" altLang="zh-CN" dirty="0"/>
              <a:t>Shell</a:t>
            </a:r>
            <a:r>
              <a:rPr kumimoji="1" lang="zh-CN" altLang="en-US" dirty="0"/>
              <a:t>将该命令放在后台执行，以便用户能在前台继续键入其它命令，完成其它工作。</a:t>
            </a:r>
            <a:endParaRPr kumimoji="1" lang="en-US" altLang="zh-CN" dirty="0"/>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Tree>
    <p:extLst>
      <p:ext uri="{BB962C8B-B14F-4D97-AF65-F5344CB8AC3E}">
        <p14:creationId xmlns:p14="http://schemas.microsoft.com/office/powerpoint/2010/main" val="10681678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normAutofit/>
          </a:bodyPr>
          <a:lstStyle/>
          <a:p>
            <a:r>
              <a:rPr kumimoji="1" lang="zh-CN" altLang="en-US" dirty="0"/>
              <a:t>联机命令接口的实现</a:t>
            </a:r>
          </a:p>
        </p:txBody>
      </p:sp>
      <p:sp>
        <p:nvSpPr>
          <p:cNvPr id="3" name="内容占位符 2">
            <a:extLst>
              <a:ext uri="{FF2B5EF4-FFF2-40B4-BE49-F238E27FC236}">
                <a16:creationId xmlns:a16="http://schemas.microsoft.com/office/drawing/2014/main" id="{A3BB8FC7-88A8-0B4D-B7E9-5A9282A67521}"/>
              </a:ext>
            </a:extLst>
          </p:cNvPr>
          <p:cNvSpPr>
            <a:spLocks noGrp="1"/>
          </p:cNvSpPr>
          <p:nvPr>
            <p:ph idx="1"/>
          </p:nvPr>
        </p:nvSpPr>
        <p:spPr>
          <a:xfrm>
            <a:off x="838200" y="1510757"/>
            <a:ext cx="10515600" cy="5210717"/>
          </a:xfrm>
        </p:spPr>
        <p:txBody>
          <a:bodyPr>
            <a:normAutofit/>
          </a:bodyPr>
          <a:lstStyle/>
          <a:p>
            <a:pPr>
              <a:lnSpc>
                <a:spcPct val="110000"/>
              </a:lnSpc>
            </a:pPr>
            <a:r>
              <a:rPr kumimoji="1" lang="zh-CN" altLang="en-US" dirty="0"/>
              <a:t>键盘终端处理程序</a:t>
            </a:r>
            <a:endParaRPr kumimoji="1" lang="en-US" altLang="zh-CN" dirty="0">
              <a:solidFill>
                <a:srgbClr val="C00000"/>
              </a:solidFill>
            </a:endParaRPr>
          </a:p>
          <a:p>
            <a:pPr lvl="1">
              <a:lnSpc>
                <a:spcPct val="110000"/>
              </a:lnSpc>
              <a:buFont typeface="Wingdings" panose="05000000000000000000" pitchFamily="2" charset="2"/>
              <a:buChar char="ü"/>
            </a:pPr>
            <a:r>
              <a:rPr kumimoji="1" lang="zh-CN" altLang="en-US" dirty="0"/>
              <a:t>字符接收功能</a:t>
            </a:r>
            <a:endParaRPr kumimoji="1" lang="en-US" altLang="zh-CN" dirty="0"/>
          </a:p>
          <a:p>
            <a:pPr marL="914400" lvl="2" indent="0" algn="just">
              <a:lnSpc>
                <a:spcPct val="110000"/>
              </a:lnSpc>
              <a:buNone/>
            </a:pPr>
            <a:r>
              <a:rPr kumimoji="1" lang="zh-CN" altLang="en-US" dirty="0"/>
              <a:t>为实现人机交互，键盘终端处理程序必须能够接收从终端输入的字符，并将之传送给用户程序。有两种方式可实现字符接收功能：面向字符方式、面向行方式</a:t>
            </a:r>
            <a:endParaRPr kumimoji="1" lang="en-US" altLang="zh-CN" dirty="0"/>
          </a:p>
          <a:p>
            <a:pPr lvl="1">
              <a:lnSpc>
                <a:spcPct val="110000"/>
              </a:lnSpc>
              <a:buFont typeface="Wingdings" panose="05000000000000000000" pitchFamily="2" charset="2"/>
              <a:buChar char="ü"/>
            </a:pPr>
            <a:r>
              <a:rPr kumimoji="1" lang="zh-CN" altLang="en-US" dirty="0"/>
              <a:t>字符缓冲功能</a:t>
            </a:r>
            <a:endParaRPr kumimoji="1" lang="en-US" altLang="zh-CN" dirty="0"/>
          </a:p>
          <a:p>
            <a:pPr marL="914400" lvl="2" indent="0" algn="just">
              <a:lnSpc>
                <a:spcPct val="110000"/>
              </a:lnSpc>
              <a:buNone/>
            </a:pPr>
            <a:r>
              <a:rPr kumimoji="1" lang="zh-CN" altLang="en-US" dirty="0"/>
              <a:t>为能暂存从终端键入的字符，以降低中断处理器的频率，在终端处理程序中，还必须具有字符缓冲功能。字符缓冲可采用两种方式之一：专用缓冲方式、公用缓冲方式。</a:t>
            </a:r>
            <a:endParaRPr kumimoji="1" lang="en-US" altLang="zh-CN" dirty="0"/>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6" name="文本框 5">
            <a:extLst>
              <a:ext uri="{FF2B5EF4-FFF2-40B4-BE49-F238E27FC236}">
                <a16:creationId xmlns:a16="http://schemas.microsoft.com/office/drawing/2014/main" id="{9D1A2FAD-48FB-41D7-A18E-EED0EF3EA980}"/>
              </a:ext>
            </a:extLst>
          </p:cNvPr>
          <p:cNvSpPr txBox="1"/>
          <p:nvPr/>
        </p:nvSpPr>
        <p:spPr>
          <a:xfrm>
            <a:off x="5326474" y="1317028"/>
            <a:ext cx="5932430" cy="1015663"/>
          </a:xfrm>
          <a:prstGeom prst="rect">
            <a:avLst/>
          </a:prstGeom>
          <a:noFill/>
          <a:ln w="28575">
            <a:solidFill>
              <a:schemeClr val="tx1">
                <a:lumMod val="65000"/>
                <a:lumOff val="35000"/>
              </a:schemeClr>
            </a:solidFill>
            <a:prstDash val="dash"/>
          </a:ln>
        </p:spPr>
        <p:txBody>
          <a:bodyPr wrap="square">
            <a:spAutoFit/>
          </a:bodyPr>
          <a:lstStyle/>
          <a:p>
            <a:r>
              <a:rPr lang="zh-CN" altLang="en-US" sz="2000" b="1" dirty="0">
                <a:solidFill>
                  <a:srgbClr val="FF0000"/>
                </a:solidFill>
                <a:latin typeface="Times New Roman" panose="02020603050405020304" pitchFamily="18" charset="0"/>
                <a:cs typeface="Times New Roman" panose="02020603050405020304" pitchFamily="18" charset="0"/>
              </a:rPr>
              <a:t>键盘终端处理程序应具有的功能：①接收用户从终端上打入的字符；②字符缓冲，用于暂存所接收的字符；③回送显示；④屏幕编辑；⑤特殊字符处理。</a:t>
            </a:r>
          </a:p>
        </p:txBody>
      </p:sp>
      <p:pic>
        <p:nvPicPr>
          <p:cNvPr id="7" name="Picture 4">
            <a:extLst>
              <a:ext uri="{FF2B5EF4-FFF2-40B4-BE49-F238E27FC236}">
                <a16:creationId xmlns:a16="http://schemas.microsoft.com/office/drawing/2014/main" id="{5B7F955C-0C7D-4860-A54F-1A61F8B998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91388" y="4525310"/>
            <a:ext cx="5019212" cy="2291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884339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normAutofit/>
          </a:bodyPr>
          <a:lstStyle/>
          <a:p>
            <a:r>
              <a:rPr kumimoji="1" lang="zh-CN" altLang="en-US" dirty="0"/>
              <a:t>联机命令接口的实现</a:t>
            </a:r>
          </a:p>
        </p:txBody>
      </p:sp>
      <p:sp>
        <p:nvSpPr>
          <p:cNvPr id="3" name="内容占位符 2">
            <a:extLst>
              <a:ext uri="{FF2B5EF4-FFF2-40B4-BE49-F238E27FC236}">
                <a16:creationId xmlns:a16="http://schemas.microsoft.com/office/drawing/2014/main" id="{A3BB8FC7-88A8-0B4D-B7E9-5A9282A67521}"/>
              </a:ext>
            </a:extLst>
          </p:cNvPr>
          <p:cNvSpPr>
            <a:spLocks noGrp="1"/>
          </p:cNvSpPr>
          <p:nvPr>
            <p:ph idx="1"/>
          </p:nvPr>
        </p:nvSpPr>
        <p:spPr>
          <a:xfrm>
            <a:off x="838200" y="1510757"/>
            <a:ext cx="10515600" cy="5347243"/>
          </a:xfrm>
        </p:spPr>
        <p:txBody>
          <a:bodyPr>
            <a:normAutofit/>
          </a:bodyPr>
          <a:lstStyle/>
          <a:p>
            <a:pPr>
              <a:lnSpc>
                <a:spcPct val="110000"/>
              </a:lnSpc>
            </a:pPr>
            <a:r>
              <a:rPr kumimoji="1" lang="zh-CN" altLang="en-US" dirty="0"/>
              <a:t>键盘终端处理程序</a:t>
            </a:r>
            <a:endParaRPr kumimoji="1" lang="en-US" altLang="zh-CN" dirty="0">
              <a:solidFill>
                <a:srgbClr val="C00000"/>
              </a:solidFill>
            </a:endParaRPr>
          </a:p>
          <a:p>
            <a:pPr lvl="1">
              <a:lnSpc>
                <a:spcPct val="110000"/>
              </a:lnSpc>
              <a:buFont typeface="Wingdings" panose="05000000000000000000" pitchFamily="2" charset="2"/>
              <a:buChar char="ü"/>
            </a:pPr>
            <a:r>
              <a:rPr kumimoji="1" lang="zh-CN" altLang="en-US" dirty="0"/>
              <a:t>回送显示</a:t>
            </a:r>
            <a:endParaRPr kumimoji="1" lang="en-US" altLang="zh-CN" dirty="0"/>
          </a:p>
          <a:p>
            <a:pPr marL="914400" lvl="2" indent="0" algn="just">
              <a:lnSpc>
                <a:spcPct val="110000"/>
              </a:lnSpc>
              <a:buNone/>
            </a:pPr>
            <a:r>
              <a:rPr kumimoji="1" lang="zh-CN" altLang="en-US" dirty="0"/>
              <a:t>回送显示</a:t>
            </a:r>
            <a:r>
              <a:rPr kumimoji="1" lang="en-US" altLang="zh-CN" dirty="0"/>
              <a:t>(</a:t>
            </a:r>
            <a:r>
              <a:rPr kumimoji="1" lang="zh-CN" altLang="en-US" dirty="0"/>
              <a:t>回显</a:t>
            </a:r>
            <a:r>
              <a:rPr kumimoji="1" lang="en-US" altLang="zh-CN" dirty="0"/>
              <a:t>)</a:t>
            </a:r>
            <a:r>
              <a:rPr kumimoji="1" lang="zh-CN" altLang="en-US" dirty="0"/>
              <a:t>是指每当用户从键盘输入一个字符后，终端处理程序便将该字符送往屏幕显示。有些终端的回显由硬件实现，其速度较快，但往往会引起麻烦。如当用户键入口令时，为防止口令被盗用，显然不该有回显。此外，用硬件实现回显也缺乏灵活性，因而近年来多改用软件来实现回显，这样可以做到在用户需要时才回显。</a:t>
            </a:r>
            <a:endParaRPr kumimoji="1" lang="en-US" altLang="zh-CN" dirty="0"/>
          </a:p>
          <a:p>
            <a:pPr lvl="1">
              <a:lnSpc>
                <a:spcPct val="110000"/>
              </a:lnSpc>
              <a:buFont typeface="Wingdings" panose="05000000000000000000" pitchFamily="2" charset="2"/>
              <a:buChar char="ü"/>
            </a:pPr>
            <a:r>
              <a:rPr kumimoji="1" lang="zh-CN" altLang="en-US" dirty="0"/>
              <a:t>屏幕编辑</a:t>
            </a:r>
            <a:endParaRPr kumimoji="1" lang="en-US" altLang="zh-CN" dirty="0"/>
          </a:p>
          <a:p>
            <a:pPr marL="914400" lvl="2" indent="0" algn="just">
              <a:lnSpc>
                <a:spcPct val="110000"/>
              </a:lnSpc>
              <a:buNone/>
            </a:pPr>
            <a:r>
              <a:rPr kumimoji="1" lang="zh-CN" altLang="en-US" dirty="0"/>
              <a:t>用户常希望能对从键盘打入数据</a:t>
            </a:r>
            <a:r>
              <a:rPr kumimoji="1" lang="en-US" altLang="zh-CN" dirty="0"/>
              <a:t>(</a:t>
            </a:r>
            <a:r>
              <a:rPr kumimoji="1" lang="zh-CN" altLang="en-US" dirty="0"/>
              <a:t>字符</a:t>
            </a:r>
            <a:r>
              <a:rPr kumimoji="1" lang="en-US" altLang="zh-CN" dirty="0"/>
              <a:t>)</a:t>
            </a:r>
            <a:r>
              <a:rPr kumimoji="1" lang="zh-CN" altLang="en-US" dirty="0"/>
              <a:t>进行修改，如删除</a:t>
            </a:r>
            <a:r>
              <a:rPr kumimoji="1" lang="en-US" altLang="zh-CN" dirty="0"/>
              <a:t>(</a:t>
            </a:r>
            <a:r>
              <a:rPr kumimoji="1" lang="zh-CN" altLang="en-US" dirty="0"/>
              <a:t>插入</a:t>
            </a:r>
            <a:r>
              <a:rPr kumimoji="1" lang="en-US" altLang="zh-CN" dirty="0"/>
              <a:t>)</a:t>
            </a:r>
            <a:r>
              <a:rPr kumimoji="1" lang="zh-CN" altLang="en-US" dirty="0"/>
              <a:t>一个或多个字符。为此，在终端处理程序中，还应能实现屏幕编辑功能，包括能提供若干个编辑键。常用的编辑键有：删除字符键、删除一行键、插入键、移动光标键、屏幕上卷或下移键等。</a:t>
            </a:r>
            <a:endParaRPr kumimoji="1" lang="en-US" altLang="zh-CN" dirty="0"/>
          </a:p>
          <a:p>
            <a:pPr lvl="1" algn="just">
              <a:lnSpc>
                <a:spcPct val="110000"/>
              </a:lnSpc>
              <a:buFont typeface="Wingdings" panose="05000000000000000000" pitchFamily="2" charset="2"/>
              <a:buChar char="ü"/>
            </a:pPr>
            <a:r>
              <a:rPr kumimoji="1" lang="zh-CN" altLang="en-US" dirty="0"/>
              <a:t>特殊字符处理</a:t>
            </a:r>
            <a:endParaRPr kumimoji="1" lang="en-US" altLang="zh-CN" dirty="0"/>
          </a:p>
          <a:p>
            <a:pPr marL="914400" lvl="2" indent="0" algn="just">
              <a:lnSpc>
                <a:spcPct val="110000"/>
              </a:lnSpc>
              <a:buNone/>
            </a:pPr>
            <a:r>
              <a:rPr kumimoji="1" lang="zh-CN" altLang="en-US" dirty="0"/>
              <a:t>终端处理程序必须能对若干特殊字符进行及时处理，这些字符是：中断字符、停止上卷字符、恢复上卷字符。</a:t>
            </a:r>
            <a:endParaRPr kumimoji="1" lang="en-US" altLang="zh-CN" dirty="0"/>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Tree>
    <p:extLst>
      <p:ext uri="{BB962C8B-B14F-4D97-AF65-F5344CB8AC3E}">
        <p14:creationId xmlns:p14="http://schemas.microsoft.com/office/powerpoint/2010/main" val="23004036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normAutofit/>
          </a:bodyPr>
          <a:lstStyle/>
          <a:p>
            <a:r>
              <a:rPr kumimoji="1" lang="zh-CN" altLang="en-US" dirty="0"/>
              <a:t>联机命令接口的实现</a:t>
            </a:r>
          </a:p>
        </p:txBody>
      </p:sp>
      <p:sp>
        <p:nvSpPr>
          <p:cNvPr id="3" name="内容占位符 2">
            <a:extLst>
              <a:ext uri="{FF2B5EF4-FFF2-40B4-BE49-F238E27FC236}">
                <a16:creationId xmlns:a16="http://schemas.microsoft.com/office/drawing/2014/main" id="{A3BB8FC7-88A8-0B4D-B7E9-5A9282A67521}"/>
              </a:ext>
            </a:extLst>
          </p:cNvPr>
          <p:cNvSpPr>
            <a:spLocks noGrp="1"/>
          </p:cNvSpPr>
          <p:nvPr>
            <p:ph idx="1"/>
          </p:nvPr>
        </p:nvSpPr>
        <p:spPr>
          <a:xfrm>
            <a:off x="838200" y="1510757"/>
            <a:ext cx="10515600" cy="5347243"/>
          </a:xfrm>
        </p:spPr>
        <p:txBody>
          <a:bodyPr>
            <a:normAutofit/>
          </a:bodyPr>
          <a:lstStyle/>
          <a:p>
            <a:pPr>
              <a:lnSpc>
                <a:spcPct val="110000"/>
              </a:lnSpc>
            </a:pPr>
            <a:r>
              <a:rPr kumimoji="1" lang="en-US" altLang="zh-CN" dirty="0"/>
              <a:t>MS-DOS</a:t>
            </a:r>
            <a:r>
              <a:rPr kumimoji="1" lang="zh-CN" altLang="en-US" dirty="0"/>
              <a:t>解释程序</a:t>
            </a:r>
            <a:endParaRPr kumimoji="1" lang="en-US" altLang="zh-CN" dirty="0">
              <a:solidFill>
                <a:srgbClr val="C00000"/>
              </a:solidFill>
            </a:endParaRPr>
          </a:p>
          <a:p>
            <a:pPr lvl="1">
              <a:lnSpc>
                <a:spcPct val="110000"/>
              </a:lnSpc>
              <a:buFont typeface="Wingdings" panose="05000000000000000000" pitchFamily="2" charset="2"/>
              <a:buChar char="ü"/>
            </a:pPr>
            <a:r>
              <a:rPr kumimoji="1" lang="zh-CN" altLang="en-US" dirty="0"/>
              <a:t>命令解释程序的作用</a:t>
            </a:r>
            <a:endParaRPr kumimoji="1" lang="en-US" altLang="zh-CN" dirty="0"/>
          </a:p>
          <a:p>
            <a:pPr marL="914400" lvl="2" indent="0" algn="just">
              <a:lnSpc>
                <a:spcPct val="110000"/>
              </a:lnSpc>
              <a:buNone/>
            </a:pPr>
            <a:r>
              <a:rPr kumimoji="1" lang="zh-CN" altLang="en-US" dirty="0"/>
              <a:t>在联机操作方式下，终端处理程序把用户键入的信息送键盘缓冲区中保存。一旦用户键入回车符，便立即把控制权交给命令解释程序。显然，对于不同的命令，应有能完成特定功能的命令处理程序与之对应。可见，命令解释程序的主要作用是在屏幕上给出提示符，请用户键入命令，然后读入该命令，识别命令，再转到相应命令处理程序的入口地址，把控制权交给该处理程序去执行，并将处理结果送屏幕上显示。若用户键入的命令有错，而命令解释程序未能予以识别，或在执行中间出现问题时，则应显示出某一出错信息。</a:t>
            </a:r>
            <a:endParaRPr kumimoji="1" lang="en-US" altLang="zh-CN" dirty="0"/>
          </a:p>
          <a:p>
            <a:pPr lvl="1">
              <a:lnSpc>
                <a:spcPct val="110000"/>
              </a:lnSpc>
              <a:buFont typeface="Wingdings" panose="05000000000000000000" pitchFamily="2" charset="2"/>
              <a:buChar char="ü"/>
            </a:pPr>
            <a:r>
              <a:rPr kumimoji="1" lang="zh-CN" altLang="en-US" dirty="0"/>
              <a:t>命令解释程序的组成</a:t>
            </a:r>
            <a:endParaRPr kumimoji="1" lang="en-US" altLang="zh-CN" dirty="0"/>
          </a:p>
          <a:p>
            <a:pPr marL="914400" lvl="2" indent="0" algn="just">
              <a:lnSpc>
                <a:spcPct val="110000"/>
              </a:lnSpc>
              <a:buNone/>
            </a:pPr>
            <a:r>
              <a:rPr kumimoji="1" lang="en-US" altLang="zh-CN" dirty="0"/>
              <a:t>MS-DOS</a:t>
            </a:r>
            <a:r>
              <a:rPr kumimoji="1" lang="zh-CN" altLang="en-US" dirty="0"/>
              <a:t>是</a:t>
            </a:r>
            <a:r>
              <a:rPr kumimoji="1" lang="en-US" altLang="zh-CN" dirty="0"/>
              <a:t>1981</a:t>
            </a:r>
            <a:r>
              <a:rPr kumimoji="1" lang="zh-CN" altLang="en-US" dirty="0"/>
              <a:t>年由</a:t>
            </a:r>
            <a:r>
              <a:rPr kumimoji="1" lang="en-US" altLang="zh-CN" dirty="0"/>
              <a:t>Microsoft</a:t>
            </a:r>
            <a:r>
              <a:rPr kumimoji="1" lang="zh-CN" altLang="en-US" dirty="0"/>
              <a:t>公司开发、 配置在微机上的</a:t>
            </a:r>
            <a:r>
              <a:rPr kumimoji="1" lang="en-US" altLang="zh-CN" dirty="0"/>
              <a:t>OS</a:t>
            </a:r>
            <a:r>
              <a:rPr kumimoji="1" lang="zh-CN" altLang="en-US" dirty="0"/>
              <a:t>。</a:t>
            </a:r>
            <a:r>
              <a:rPr kumimoji="1" lang="en-US" altLang="zh-CN" dirty="0"/>
              <a:t>MS-DOS</a:t>
            </a:r>
            <a:r>
              <a:rPr kumimoji="1" lang="zh-CN" altLang="en-US" dirty="0"/>
              <a:t>版本由开始时的</a:t>
            </a:r>
            <a:r>
              <a:rPr kumimoji="1" lang="en-US" altLang="zh-CN" dirty="0"/>
              <a:t>1.0</a:t>
            </a:r>
            <a:r>
              <a:rPr kumimoji="1" lang="zh-CN" altLang="en-US" dirty="0"/>
              <a:t>版本升级到</a:t>
            </a:r>
            <a:r>
              <a:rPr kumimoji="1" lang="en-US" altLang="zh-CN" dirty="0"/>
              <a:t>1994</a:t>
            </a:r>
            <a:r>
              <a:rPr kumimoji="1" lang="zh-CN" altLang="en-US" dirty="0"/>
              <a:t>年的</a:t>
            </a:r>
            <a:r>
              <a:rPr kumimoji="1" lang="en-US" altLang="zh-CN" dirty="0"/>
              <a:t>6.X</a:t>
            </a:r>
            <a:r>
              <a:rPr kumimoji="1" lang="zh-CN" altLang="en-US" dirty="0"/>
              <a:t>版本。在此期间，它已是事实上的</a:t>
            </a:r>
            <a:r>
              <a:rPr kumimoji="1" lang="en-US" altLang="zh-CN" dirty="0"/>
              <a:t>16</a:t>
            </a:r>
            <a:r>
              <a:rPr kumimoji="1" lang="zh-CN" altLang="en-US" dirty="0"/>
              <a:t>位微机</a:t>
            </a:r>
            <a:r>
              <a:rPr kumimoji="1" lang="en-US" altLang="zh-CN" dirty="0"/>
              <a:t>OS</a:t>
            </a:r>
            <a:r>
              <a:rPr kumimoji="1" lang="zh-CN" altLang="en-US" dirty="0"/>
              <a:t>标准。以</a:t>
            </a:r>
            <a:r>
              <a:rPr kumimoji="1" lang="en-US" altLang="zh-CN" dirty="0"/>
              <a:t>MS-DOS</a:t>
            </a:r>
            <a:r>
              <a:rPr kumimoji="1" lang="zh-CN" altLang="en-US" dirty="0"/>
              <a:t>操作系统中</a:t>
            </a:r>
            <a:r>
              <a:rPr kumimoji="1" lang="en-US" altLang="zh-CN" dirty="0"/>
              <a:t>COMMAND.COM</a:t>
            </a:r>
            <a:r>
              <a:rPr kumimoji="1" lang="zh-CN" altLang="en-US" dirty="0"/>
              <a:t>处理程序为例来说明命令解释程序的组成。它包括三部分：常驻部分、初始化部分、暂存部分。</a:t>
            </a:r>
            <a:endParaRPr kumimoji="1" lang="en-US" altLang="zh-CN" dirty="0"/>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Tree>
    <p:extLst>
      <p:ext uri="{BB962C8B-B14F-4D97-AF65-F5344CB8AC3E}">
        <p14:creationId xmlns:p14="http://schemas.microsoft.com/office/powerpoint/2010/main" val="9251370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normAutofit/>
          </a:bodyPr>
          <a:lstStyle/>
          <a:p>
            <a:r>
              <a:rPr kumimoji="1" lang="zh-CN" altLang="en-US" dirty="0"/>
              <a:t>联机命令接口的实现</a:t>
            </a:r>
          </a:p>
        </p:txBody>
      </p:sp>
      <p:sp>
        <p:nvSpPr>
          <p:cNvPr id="3" name="内容占位符 2">
            <a:extLst>
              <a:ext uri="{FF2B5EF4-FFF2-40B4-BE49-F238E27FC236}">
                <a16:creationId xmlns:a16="http://schemas.microsoft.com/office/drawing/2014/main" id="{A3BB8FC7-88A8-0B4D-B7E9-5A9282A67521}"/>
              </a:ext>
            </a:extLst>
          </p:cNvPr>
          <p:cNvSpPr>
            <a:spLocks noGrp="1"/>
          </p:cNvSpPr>
          <p:nvPr>
            <p:ph idx="1"/>
          </p:nvPr>
        </p:nvSpPr>
        <p:spPr>
          <a:xfrm>
            <a:off x="838200" y="1510757"/>
            <a:ext cx="4566920" cy="5347243"/>
          </a:xfrm>
        </p:spPr>
        <p:txBody>
          <a:bodyPr>
            <a:normAutofit/>
          </a:bodyPr>
          <a:lstStyle/>
          <a:p>
            <a:pPr algn="just">
              <a:lnSpc>
                <a:spcPct val="110000"/>
              </a:lnSpc>
            </a:pPr>
            <a:r>
              <a:rPr kumimoji="1" lang="en-US" altLang="zh-CN" dirty="0"/>
              <a:t>MS-DOS</a:t>
            </a:r>
            <a:r>
              <a:rPr kumimoji="1" lang="zh-CN" altLang="en-US" dirty="0"/>
              <a:t>解释程序</a:t>
            </a:r>
            <a:endParaRPr kumimoji="1" lang="en-US" altLang="zh-CN" dirty="0">
              <a:solidFill>
                <a:srgbClr val="C00000"/>
              </a:solidFill>
            </a:endParaRPr>
          </a:p>
          <a:p>
            <a:pPr lvl="1" algn="just">
              <a:lnSpc>
                <a:spcPct val="110000"/>
              </a:lnSpc>
              <a:buFont typeface="Wingdings" panose="05000000000000000000" pitchFamily="2" charset="2"/>
              <a:buChar char="ü"/>
            </a:pPr>
            <a:r>
              <a:rPr kumimoji="1" lang="zh-CN" altLang="en-US" dirty="0"/>
              <a:t>命令解释程序的工作流程</a:t>
            </a:r>
            <a:endParaRPr kumimoji="1" lang="en-US" altLang="zh-CN" dirty="0"/>
          </a:p>
          <a:p>
            <a:pPr marL="914400" lvl="2" indent="0" algn="just">
              <a:lnSpc>
                <a:spcPct val="110000"/>
              </a:lnSpc>
              <a:buNone/>
            </a:pPr>
            <a:r>
              <a:rPr kumimoji="1" lang="zh-CN" altLang="en-US" dirty="0"/>
              <a:t>系统在接通电源或复位后，初始化部分获得控制权，对整个系统完成初始化工作，并自动执行</a:t>
            </a:r>
            <a:r>
              <a:rPr kumimoji="1" lang="en-US" altLang="zh-CN" dirty="0"/>
              <a:t>AUTOEXEC.BAT</a:t>
            </a:r>
            <a:r>
              <a:rPr kumimoji="1" lang="zh-CN" altLang="en-US" dirty="0"/>
              <a:t>文件，之后便把控制权交给暂存部分。暂存部分首先读入键盘缓冲区中的命令，判别其文件名、扩展名及驱动器名是否正确。若发现有错，在给出出错信息后返回；若无错，再识别该命令。</a:t>
            </a:r>
            <a:endParaRPr kumimoji="1" lang="en-US" altLang="zh-CN" dirty="0"/>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pic>
        <p:nvPicPr>
          <p:cNvPr id="5" name="Picture 4">
            <a:extLst>
              <a:ext uri="{FF2B5EF4-FFF2-40B4-BE49-F238E27FC236}">
                <a16:creationId xmlns:a16="http://schemas.microsoft.com/office/drawing/2014/main" id="{0FB21FAF-2EA3-41C4-AD5F-097A658C97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03253" y="2080429"/>
            <a:ext cx="6264275" cy="3517900"/>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a:extLst>
              <a:ext uri="{FF2B5EF4-FFF2-40B4-BE49-F238E27FC236}">
                <a16:creationId xmlns:a16="http://schemas.microsoft.com/office/drawing/2014/main" id="{5341D368-45DF-4D64-8F85-9F26A0531B16}"/>
              </a:ext>
            </a:extLst>
          </p:cNvPr>
          <p:cNvSpPr txBox="1"/>
          <p:nvPr/>
        </p:nvSpPr>
        <p:spPr>
          <a:xfrm>
            <a:off x="7017374" y="5956240"/>
            <a:ext cx="3636031" cy="400110"/>
          </a:xfrm>
          <a:prstGeom prst="rect">
            <a:avLst/>
          </a:prstGeom>
          <a:noFill/>
        </p:spPr>
        <p:txBody>
          <a:bodyPr wrap="square">
            <a:spAutoFit/>
          </a:bodyPr>
          <a:lstStyle/>
          <a:p>
            <a:r>
              <a:rPr lang="en-US" altLang="zh-CN" sz="2000" b="1" dirty="0">
                <a:solidFill>
                  <a:schemeClr val="accent2">
                    <a:lumMod val="50000"/>
                  </a:schemeClr>
                </a:solidFill>
                <a:latin typeface="Times New Roman" panose="02020603050405020304" pitchFamily="18" charset="0"/>
                <a:cs typeface="Times New Roman" panose="02020603050405020304" pitchFamily="18" charset="0"/>
              </a:rPr>
              <a:t>COMMAND.COM</a:t>
            </a:r>
            <a:r>
              <a:rPr lang="zh-CN" altLang="en-US" sz="2000" b="1" dirty="0">
                <a:solidFill>
                  <a:schemeClr val="accent2">
                    <a:lumMod val="50000"/>
                  </a:schemeClr>
                </a:solidFill>
                <a:latin typeface="Times New Roman" panose="02020603050405020304" pitchFamily="18" charset="0"/>
                <a:cs typeface="Times New Roman" panose="02020603050405020304" pitchFamily="18" charset="0"/>
              </a:rPr>
              <a:t>的工作流程</a:t>
            </a:r>
          </a:p>
        </p:txBody>
      </p:sp>
    </p:spTree>
    <p:extLst>
      <p:ext uri="{BB962C8B-B14F-4D97-AF65-F5344CB8AC3E}">
        <p14:creationId xmlns:p14="http://schemas.microsoft.com/office/powerpoint/2010/main" val="6658808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normAutofit/>
          </a:bodyPr>
          <a:lstStyle/>
          <a:p>
            <a:r>
              <a:rPr kumimoji="1" lang="zh-CN" altLang="en-US" dirty="0"/>
              <a:t>联机命令接口的实现</a:t>
            </a:r>
          </a:p>
        </p:txBody>
      </p:sp>
      <p:sp>
        <p:nvSpPr>
          <p:cNvPr id="3" name="内容占位符 2">
            <a:extLst>
              <a:ext uri="{FF2B5EF4-FFF2-40B4-BE49-F238E27FC236}">
                <a16:creationId xmlns:a16="http://schemas.microsoft.com/office/drawing/2014/main" id="{A3BB8FC7-88A8-0B4D-B7E9-5A9282A67521}"/>
              </a:ext>
            </a:extLst>
          </p:cNvPr>
          <p:cNvSpPr>
            <a:spLocks noGrp="1"/>
          </p:cNvSpPr>
          <p:nvPr>
            <p:ph idx="1"/>
          </p:nvPr>
        </p:nvSpPr>
        <p:spPr>
          <a:xfrm>
            <a:off x="838200" y="1510757"/>
            <a:ext cx="4597400" cy="5347243"/>
          </a:xfrm>
        </p:spPr>
        <p:txBody>
          <a:bodyPr>
            <a:normAutofit/>
          </a:bodyPr>
          <a:lstStyle/>
          <a:p>
            <a:pPr>
              <a:lnSpc>
                <a:spcPct val="110000"/>
              </a:lnSpc>
            </a:pPr>
            <a:r>
              <a:rPr kumimoji="1" lang="en-US" altLang="zh-CN" dirty="0"/>
              <a:t>Shell</a:t>
            </a:r>
            <a:r>
              <a:rPr kumimoji="1" lang="zh-CN" altLang="en-US" dirty="0"/>
              <a:t>解释程序</a:t>
            </a:r>
            <a:endParaRPr kumimoji="1" lang="en-US" altLang="zh-CN" dirty="0">
              <a:solidFill>
                <a:srgbClr val="C00000"/>
              </a:solidFill>
            </a:endParaRPr>
          </a:p>
          <a:p>
            <a:pPr lvl="1">
              <a:lnSpc>
                <a:spcPct val="110000"/>
              </a:lnSpc>
              <a:buFont typeface="Wingdings" panose="05000000000000000000" pitchFamily="2" charset="2"/>
              <a:buChar char="ü"/>
            </a:pPr>
            <a:r>
              <a:rPr kumimoji="1" lang="en-US" altLang="zh-CN" dirty="0"/>
              <a:t>Shell</a:t>
            </a:r>
            <a:r>
              <a:rPr kumimoji="1" lang="zh-CN" altLang="en-US" dirty="0"/>
              <a:t>命令特点</a:t>
            </a:r>
            <a:endParaRPr kumimoji="1" lang="en-US" altLang="zh-CN" dirty="0"/>
          </a:p>
          <a:p>
            <a:pPr marL="914400" lvl="2" indent="0" algn="just">
              <a:lnSpc>
                <a:spcPct val="110000"/>
              </a:lnSpc>
              <a:buNone/>
            </a:pPr>
            <a:r>
              <a:rPr kumimoji="1" lang="en-US" altLang="zh-CN" dirty="0"/>
              <a:t>Shell</a:t>
            </a:r>
            <a:r>
              <a:rPr kumimoji="1" lang="zh-CN" altLang="en-US" dirty="0"/>
              <a:t>命令类型多而复杂，主要表现：一条命令行中含有多个命令、具有不同的分隔符。</a:t>
            </a:r>
            <a:endParaRPr kumimoji="1" lang="en-US" altLang="zh-CN" dirty="0"/>
          </a:p>
          <a:p>
            <a:pPr lvl="1">
              <a:lnSpc>
                <a:spcPct val="110000"/>
              </a:lnSpc>
              <a:buFont typeface="Wingdings" panose="05000000000000000000" pitchFamily="2" charset="2"/>
              <a:buChar char="ü"/>
            </a:pPr>
            <a:r>
              <a:rPr kumimoji="1" lang="zh-CN" altLang="en-US" dirty="0"/>
              <a:t>二叉树结构的命令行树</a:t>
            </a:r>
            <a:endParaRPr kumimoji="1" lang="en-US" altLang="zh-CN" dirty="0"/>
          </a:p>
          <a:p>
            <a:pPr marL="914400" lvl="2" indent="0" algn="just">
              <a:lnSpc>
                <a:spcPct val="110000"/>
              </a:lnSpc>
              <a:buNone/>
            </a:pPr>
            <a:r>
              <a:rPr kumimoji="1" lang="zh-CN" altLang="en-US" b="1" dirty="0">
                <a:solidFill>
                  <a:srgbClr val="FF0000"/>
                </a:solidFill>
              </a:rPr>
              <a:t>命令表型结点</a:t>
            </a:r>
            <a:r>
              <a:rPr kumimoji="1" lang="zh-CN" altLang="en-US" dirty="0"/>
              <a:t>：</a:t>
            </a:r>
            <a:r>
              <a:rPr kumimoji="1" lang="en-US" altLang="zh-CN" dirty="0"/>
              <a:t>Shell</a:t>
            </a:r>
            <a:r>
              <a:rPr kumimoji="1" lang="zh-CN" altLang="en-US" dirty="0"/>
              <a:t>命令解释程序按命令行语句结构顺序进行检查，每当遇到“；”及“</a:t>
            </a:r>
            <a:r>
              <a:rPr kumimoji="1" lang="en-US" altLang="zh-CN" dirty="0"/>
              <a:t>&amp;”</a:t>
            </a:r>
            <a:r>
              <a:rPr kumimoji="1" lang="zh-CN" altLang="en-US" dirty="0"/>
              <a:t>分隔符时便为之建立一个命令表型结点，将分隔符左面部分构成该结点的左子树，右面部分构成右子树。</a:t>
            </a:r>
            <a:endParaRPr kumimoji="1" lang="en-US" altLang="zh-CN" dirty="0"/>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pic>
        <p:nvPicPr>
          <p:cNvPr id="5" name="Picture 4">
            <a:extLst>
              <a:ext uri="{FF2B5EF4-FFF2-40B4-BE49-F238E27FC236}">
                <a16:creationId xmlns:a16="http://schemas.microsoft.com/office/drawing/2014/main" id="{0BE682AC-CACA-4B70-98DB-FBE25AE7EF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04002" y="3650184"/>
            <a:ext cx="3410478" cy="2706166"/>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a:extLst>
              <a:ext uri="{FF2B5EF4-FFF2-40B4-BE49-F238E27FC236}">
                <a16:creationId xmlns:a16="http://schemas.microsoft.com/office/drawing/2014/main" id="{AA466F2F-F759-4905-9298-299B97D3F4B6}"/>
              </a:ext>
            </a:extLst>
          </p:cNvPr>
          <p:cNvSpPr txBox="1"/>
          <p:nvPr/>
        </p:nvSpPr>
        <p:spPr>
          <a:xfrm>
            <a:off x="5609705" y="2784536"/>
            <a:ext cx="5048135" cy="400110"/>
          </a:xfrm>
          <a:prstGeom prst="rect">
            <a:avLst/>
          </a:prstGeom>
          <a:noFill/>
          <a:ln w="19050">
            <a:solidFill>
              <a:schemeClr val="tx1"/>
            </a:solidFill>
            <a:prstDash val="dash"/>
          </a:ln>
        </p:spPr>
        <p:txBody>
          <a:bodyPr wrap="square">
            <a:spAutoFit/>
          </a:bodyPr>
          <a:lstStyle/>
          <a:p>
            <a:r>
              <a:rPr lang="en-US" altLang="zh-CN" sz="2000" b="1" dirty="0">
                <a:solidFill>
                  <a:srgbClr val="FF0000"/>
                </a:solidFill>
                <a:latin typeface="Times New Roman" panose="02020603050405020304" pitchFamily="18" charset="0"/>
                <a:cs typeface="Times New Roman" panose="02020603050405020304" pitchFamily="18" charset="0"/>
              </a:rPr>
              <a:t>Command 1</a:t>
            </a:r>
            <a:r>
              <a:rPr lang="zh-CN" altLang="en-US" sz="2000" b="1" dirty="0">
                <a:solidFill>
                  <a:srgbClr val="FF0000"/>
                </a:solidFill>
                <a:latin typeface="Times New Roman" panose="02020603050405020304" pitchFamily="18" charset="0"/>
                <a:cs typeface="Times New Roman" panose="02020603050405020304" pitchFamily="18" charset="0"/>
              </a:rPr>
              <a:t>；</a:t>
            </a:r>
            <a:r>
              <a:rPr lang="en-US" altLang="zh-CN" sz="2000" b="1" dirty="0">
                <a:solidFill>
                  <a:srgbClr val="FF0000"/>
                </a:solidFill>
                <a:latin typeface="Times New Roman" panose="02020603050405020304" pitchFamily="18" charset="0"/>
                <a:cs typeface="Times New Roman" panose="02020603050405020304" pitchFamily="18" charset="0"/>
              </a:rPr>
              <a:t>Command 2</a:t>
            </a:r>
            <a:r>
              <a:rPr lang="zh-CN" altLang="en-US" sz="2000" b="1" dirty="0">
                <a:solidFill>
                  <a:srgbClr val="FF0000"/>
                </a:solidFill>
                <a:latin typeface="Times New Roman" panose="02020603050405020304" pitchFamily="18" charset="0"/>
                <a:cs typeface="Times New Roman" panose="02020603050405020304" pitchFamily="18" charset="0"/>
              </a:rPr>
              <a:t>；</a:t>
            </a:r>
            <a:r>
              <a:rPr lang="en-US" altLang="zh-CN" sz="2000" b="1" dirty="0">
                <a:solidFill>
                  <a:srgbClr val="FF0000"/>
                </a:solidFill>
                <a:latin typeface="Times New Roman" panose="02020603050405020304" pitchFamily="18" charset="0"/>
                <a:cs typeface="Times New Roman" panose="02020603050405020304" pitchFamily="18" charset="0"/>
              </a:rPr>
              <a:t>&amp; Command 3</a:t>
            </a:r>
            <a:endParaRPr lang="zh-CN" altLang="en-US" sz="2000"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047718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normAutofit/>
          </a:bodyPr>
          <a:lstStyle/>
          <a:p>
            <a:r>
              <a:rPr kumimoji="1" lang="zh-CN" altLang="en-US" dirty="0"/>
              <a:t>联机命令接口的实现</a:t>
            </a:r>
          </a:p>
        </p:txBody>
      </p:sp>
      <p:sp>
        <p:nvSpPr>
          <p:cNvPr id="3" name="内容占位符 2">
            <a:extLst>
              <a:ext uri="{FF2B5EF4-FFF2-40B4-BE49-F238E27FC236}">
                <a16:creationId xmlns:a16="http://schemas.microsoft.com/office/drawing/2014/main" id="{A3BB8FC7-88A8-0B4D-B7E9-5A9282A67521}"/>
              </a:ext>
            </a:extLst>
          </p:cNvPr>
          <p:cNvSpPr>
            <a:spLocks noGrp="1"/>
          </p:cNvSpPr>
          <p:nvPr>
            <p:ph idx="1"/>
          </p:nvPr>
        </p:nvSpPr>
        <p:spPr>
          <a:xfrm>
            <a:off x="838200" y="1510757"/>
            <a:ext cx="4871720" cy="5347243"/>
          </a:xfrm>
        </p:spPr>
        <p:txBody>
          <a:bodyPr>
            <a:normAutofit lnSpcReduction="10000"/>
          </a:bodyPr>
          <a:lstStyle/>
          <a:p>
            <a:pPr>
              <a:lnSpc>
                <a:spcPct val="110000"/>
              </a:lnSpc>
            </a:pPr>
            <a:r>
              <a:rPr kumimoji="1" lang="en-US" altLang="zh-CN" dirty="0"/>
              <a:t>Shell</a:t>
            </a:r>
            <a:r>
              <a:rPr kumimoji="1" lang="zh-CN" altLang="en-US" dirty="0"/>
              <a:t>解释程序</a:t>
            </a:r>
            <a:endParaRPr kumimoji="1" lang="en-US" altLang="zh-CN" dirty="0">
              <a:solidFill>
                <a:srgbClr val="C00000"/>
              </a:solidFill>
            </a:endParaRPr>
          </a:p>
          <a:p>
            <a:pPr lvl="1">
              <a:lnSpc>
                <a:spcPct val="110000"/>
              </a:lnSpc>
              <a:buFont typeface="Wingdings" panose="05000000000000000000" pitchFamily="2" charset="2"/>
              <a:buChar char="ü"/>
            </a:pPr>
            <a:r>
              <a:rPr kumimoji="1" lang="zh-CN" altLang="en-US" dirty="0"/>
              <a:t>二叉树结构的命令行树</a:t>
            </a:r>
            <a:endParaRPr kumimoji="1" lang="en-US" altLang="zh-CN" dirty="0"/>
          </a:p>
          <a:p>
            <a:pPr marL="914400" lvl="2" indent="0" algn="just">
              <a:lnSpc>
                <a:spcPct val="110000"/>
              </a:lnSpc>
              <a:buNone/>
            </a:pPr>
            <a:r>
              <a:rPr kumimoji="1" lang="zh-CN" altLang="en-US" b="1" dirty="0">
                <a:solidFill>
                  <a:srgbClr val="FF0000"/>
                </a:solidFill>
              </a:rPr>
              <a:t>管道文件型结点</a:t>
            </a:r>
            <a:r>
              <a:rPr kumimoji="1" lang="zh-CN" altLang="en-US" dirty="0"/>
              <a:t>：当</a:t>
            </a:r>
            <a:r>
              <a:rPr kumimoji="1" lang="en-US" altLang="zh-CN" dirty="0"/>
              <a:t>Shell</a:t>
            </a:r>
            <a:r>
              <a:rPr kumimoji="1" lang="zh-CN" altLang="en-US" dirty="0"/>
              <a:t>命令解释程序遇到管道算符“</a:t>
            </a:r>
            <a:r>
              <a:rPr kumimoji="1" lang="en-US" altLang="zh-CN" dirty="0"/>
              <a:t>Ι”</a:t>
            </a:r>
            <a:r>
              <a:rPr kumimoji="1" lang="zh-CN" altLang="en-US" dirty="0"/>
              <a:t>时，先为之建立一个管道文件型结点，再将分隔符左面部分构成该结点的左子树，右面部分构成右子树。</a:t>
            </a:r>
            <a:endParaRPr kumimoji="1" lang="en-US" altLang="zh-CN" dirty="0"/>
          </a:p>
          <a:p>
            <a:pPr marL="914400" lvl="2" indent="0" algn="just">
              <a:lnSpc>
                <a:spcPct val="110000"/>
              </a:lnSpc>
              <a:buNone/>
            </a:pPr>
            <a:r>
              <a:rPr lang="zh-CN" altLang="en-US" b="1" dirty="0">
                <a:solidFill>
                  <a:srgbClr val="FF0000"/>
                </a:solidFill>
              </a:rPr>
              <a:t>简单命令型结点</a:t>
            </a:r>
            <a:r>
              <a:rPr kumimoji="1" lang="zh-CN" altLang="en-US" dirty="0"/>
              <a:t>：对于简单命令，在命令行中仅有一条命令，它是属于可以立即执行的命令，系统无需为它建立二叉树结构的命令行树。当命令解释程序读入键盘缓冲区中的命令后，若判定它是简单命令，再进一步确定是否是内部命令。</a:t>
            </a:r>
            <a:endParaRPr kumimoji="1" lang="en-US" altLang="zh-CN" dirty="0"/>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7" name="文本框 6">
            <a:extLst>
              <a:ext uri="{FF2B5EF4-FFF2-40B4-BE49-F238E27FC236}">
                <a16:creationId xmlns:a16="http://schemas.microsoft.com/office/drawing/2014/main" id="{AA466F2F-F759-4905-9298-299B97D3F4B6}"/>
              </a:ext>
            </a:extLst>
          </p:cNvPr>
          <p:cNvSpPr txBox="1"/>
          <p:nvPr/>
        </p:nvSpPr>
        <p:spPr>
          <a:xfrm>
            <a:off x="6096000" y="2584481"/>
            <a:ext cx="4763655" cy="400110"/>
          </a:xfrm>
          <a:prstGeom prst="rect">
            <a:avLst/>
          </a:prstGeom>
          <a:noFill/>
          <a:ln w="19050">
            <a:solidFill>
              <a:schemeClr val="tx1"/>
            </a:solidFill>
            <a:prstDash val="dash"/>
          </a:ln>
        </p:spPr>
        <p:txBody>
          <a:bodyPr wrap="square">
            <a:spAutoFit/>
          </a:bodyPr>
          <a:lstStyle/>
          <a:p>
            <a:r>
              <a:rPr lang="fr-FR" altLang="zh-CN" sz="2000" b="1" dirty="0">
                <a:solidFill>
                  <a:srgbClr val="FF0000"/>
                </a:solidFill>
                <a:latin typeface="Times New Roman" panose="02020603050405020304" pitchFamily="18" charset="0"/>
                <a:cs typeface="Times New Roman" panose="02020603050405020304" pitchFamily="18" charset="0"/>
              </a:rPr>
              <a:t>Command 1 Ι Command 2 Ι  Command 3</a:t>
            </a:r>
            <a:endParaRPr lang="zh-CN" altLang="en-US" sz="2000" b="1" dirty="0">
              <a:solidFill>
                <a:srgbClr val="FF0000"/>
              </a:solidFill>
              <a:latin typeface="Times New Roman" panose="02020603050405020304" pitchFamily="18" charset="0"/>
              <a:cs typeface="Times New Roman" panose="02020603050405020304" pitchFamily="18" charset="0"/>
            </a:endParaRPr>
          </a:p>
        </p:txBody>
      </p:sp>
      <p:pic>
        <p:nvPicPr>
          <p:cNvPr id="8" name="Picture 4">
            <a:extLst>
              <a:ext uri="{FF2B5EF4-FFF2-40B4-BE49-F238E27FC236}">
                <a16:creationId xmlns:a16="http://schemas.microsoft.com/office/drawing/2014/main" id="{F037E0D4-50B0-4D86-A6D0-AC54EED2DA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6051" y="3179212"/>
            <a:ext cx="3579494" cy="29825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589184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normAutofit/>
          </a:bodyPr>
          <a:lstStyle/>
          <a:p>
            <a:r>
              <a:rPr kumimoji="1" lang="zh-CN" altLang="en-US" dirty="0"/>
              <a:t>联机命令接口的实现</a:t>
            </a:r>
          </a:p>
        </p:txBody>
      </p:sp>
      <p:sp>
        <p:nvSpPr>
          <p:cNvPr id="3" name="内容占位符 2">
            <a:extLst>
              <a:ext uri="{FF2B5EF4-FFF2-40B4-BE49-F238E27FC236}">
                <a16:creationId xmlns:a16="http://schemas.microsoft.com/office/drawing/2014/main" id="{A3BB8FC7-88A8-0B4D-B7E9-5A9282A67521}"/>
              </a:ext>
            </a:extLst>
          </p:cNvPr>
          <p:cNvSpPr>
            <a:spLocks noGrp="1"/>
          </p:cNvSpPr>
          <p:nvPr>
            <p:ph idx="1"/>
          </p:nvPr>
        </p:nvSpPr>
        <p:spPr>
          <a:xfrm>
            <a:off x="838200" y="1510757"/>
            <a:ext cx="5481320" cy="5347243"/>
          </a:xfrm>
        </p:spPr>
        <p:txBody>
          <a:bodyPr>
            <a:normAutofit/>
          </a:bodyPr>
          <a:lstStyle/>
          <a:p>
            <a:pPr>
              <a:lnSpc>
                <a:spcPct val="110000"/>
              </a:lnSpc>
            </a:pPr>
            <a:r>
              <a:rPr kumimoji="1" lang="en-US" altLang="zh-CN" dirty="0"/>
              <a:t>Shell</a:t>
            </a:r>
            <a:r>
              <a:rPr kumimoji="1" lang="zh-CN" altLang="en-US" dirty="0"/>
              <a:t>解释程序</a:t>
            </a:r>
            <a:endParaRPr kumimoji="1" lang="en-US" altLang="zh-CN" dirty="0">
              <a:solidFill>
                <a:srgbClr val="C00000"/>
              </a:solidFill>
            </a:endParaRPr>
          </a:p>
          <a:p>
            <a:pPr lvl="1">
              <a:lnSpc>
                <a:spcPct val="110000"/>
              </a:lnSpc>
              <a:buFont typeface="Wingdings" panose="05000000000000000000" pitchFamily="2" charset="2"/>
              <a:buChar char="ü"/>
            </a:pPr>
            <a:r>
              <a:rPr kumimoji="1" lang="en-US" altLang="zh-CN" dirty="0"/>
              <a:t>Linux</a:t>
            </a:r>
            <a:r>
              <a:rPr kumimoji="1" lang="zh-CN" altLang="en-US" dirty="0"/>
              <a:t>命令解释程序的工作流程</a:t>
            </a:r>
            <a:endParaRPr kumimoji="1" lang="en-US" altLang="zh-CN" dirty="0"/>
          </a:p>
          <a:p>
            <a:pPr marL="914400" lvl="2" indent="0" algn="just">
              <a:lnSpc>
                <a:spcPct val="110000"/>
              </a:lnSpc>
              <a:buNone/>
            </a:pPr>
            <a:r>
              <a:rPr kumimoji="1" lang="zh-CN" altLang="en-US" dirty="0"/>
              <a:t>在</a:t>
            </a:r>
            <a:r>
              <a:rPr kumimoji="1" lang="en-US" altLang="zh-CN" dirty="0"/>
              <a:t>Linux</a:t>
            </a:r>
            <a:r>
              <a:rPr kumimoji="1" lang="zh-CN" altLang="en-US" dirty="0"/>
              <a:t>系统中，系统初启后，内核为每个终端用户建立一个进程，去执行</a:t>
            </a:r>
            <a:r>
              <a:rPr kumimoji="1" lang="en-US" altLang="zh-CN" dirty="0"/>
              <a:t>Shell</a:t>
            </a:r>
            <a:r>
              <a:rPr kumimoji="1" lang="zh-CN" altLang="en-US" dirty="0"/>
              <a:t>解释程序。</a:t>
            </a:r>
            <a:endParaRPr kumimoji="1" lang="en-US" altLang="zh-CN" dirty="0"/>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pic>
        <p:nvPicPr>
          <p:cNvPr id="9" name="Picture 4">
            <a:extLst>
              <a:ext uri="{FF2B5EF4-FFF2-40B4-BE49-F238E27FC236}">
                <a16:creationId xmlns:a16="http://schemas.microsoft.com/office/drawing/2014/main" id="{0D38896F-9393-4A08-A632-05ECE64E7B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08737" y="1717752"/>
            <a:ext cx="4945063" cy="4505325"/>
          </a:xfrm>
          <a:prstGeom prst="rect">
            <a:avLst/>
          </a:prstGeom>
          <a:noFill/>
          <a:extLst>
            <a:ext uri="{909E8E84-426E-40DD-AFC4-6F175D3DCCD1}">
              <a14:hiddenFill xmlns:a14="http://schemas.microsoft.com/office/drawing/2010/main">
                <a:solidFill>
                  <a:srgbClr val="FFFFFF"/>
                </a:solidFill>
              </a14:hiddenFill>
            </a:ext>
          </a:extLst>
        </p:spPr>
      </p:pic>
      <p:sp>
        <p:nvSpPr>
          <p:cNvPr id="10" name="文本框 9">
            <a:extLst>
              <a:ext uri="{FF2B5EF4-FFF2-40B4-BE49-F238E27FC236}">
                <a16:creationId xmlns:a16="http://schemas.microsoft.com/office/drawing/2014/main" id="{11854BCA-DE62-494B-A40D-CE746EA160CB}"/>
              </a:ext>
            </a:extLst>
          </p:cNvPr>
          <p:cNvSpPr txBox="1"/>
          <p:nvPr/>
        </p:nvSpPr>
        <p:spPr>
          <a:xfrm>
            <a:off x="6507796" y="6348333"/>
            <a:ext cx="4746943" cy="369332"/>
          </a:xfrm>
          <a:prstGeom prst="rect">
            <a:avLst/>
          </a:prstGeom>
          <a:noFill/>
        </p:spPr>
        <p:txBody>
          <a:bodyPr wrap="square">
            <a:spAutoFit/>
          </a:bodyPr>
          <a:lstStyle/>
          <a:p>
            <a:pPr algn="ctr"/>
            <a:r>
              <a:rPr lang="en-US" altLang="zh-CN" b="1" dirty="0">
                <a:solidFill>
                  <a:schemeClr val="accent2">
                    <a:lumMod val="50000"/>
                  </a:schemeClr>
                </a:solidFill>
                <a:latin typeface="Times New Roman" panose="02020603050405020304" pitchFamily="18" charset="0"/>
                <a:cs typeface="Times New Roman" panose="02020603050405020304" pitchFamily="18" charset="0"/>
              </a:rPr>
              <a:t>Shell</a:t>
            </a:r>
            <a:r>
              <a:rPr lang="zh-CN" altLang="en-US" b="1" dirty="0">
                <a:solidFill>
                  <a:schemeClr val="accent2">
                    <a:lumMod val="50000"/>
                  </a:schemeClr>
                </a:solidFill>
                <a:latin typeface="Times New Roman" panose="02020603050405020304" pitchFamily="18" charset="0"/>
                <a:cs typeface="Times New Roman" panose="02020603050405020304" pitchFamily="18" charset="0"/>
              </a:rPr>
              <a:t>基本执行过程及父子进程之间的关系</a:t>
            </a:r>
          </a:p>
        </p:txBody>
      </p:sp>
    </p:spTree>
    <p:extLst>
      <p:ext uri="{BB962C8B-B14F-4D97-AF65-F5344CB8AC3E}">
        <p14:creationId xmlns:p14="http://schemas.microsoft.com/office/powerpoint/2010/main" val="22126724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normAutofit/>
          </a:bodyPr>
          <a:lstStyle/>
          <a:p>
            <a:r>
              <a:rPr kumimoji="1" lang="zh-CN" altLang="en-US" dirty="0"/>
              <a:t>系统调用的概念和类型</a:t>
            </a:r>
          </a:p>
        </p:txBody>
      </p:sp>
      <p:sp>
        <p:nvSpPr>
          <p:cNvPr id="3" name="内容占位符 2">
            <a:extLst>
              <a:ext uri="{FF2B5EF4-FFF2-40B4-BE49-F238E27FC236}">
                <a16:creationId xmlns:a16="http://schemas.microsoft.com/office/drawing/2014/main" id="{A3BB8FC7-88A8-0B4D-B7E9-5A9282A67521}"/>
              </a:ext>
            </a:extLst>
          </p:cNvPr>
          <p:cNvSpPr>
            <a:spLocks noGrp="1"/>
          </p:cNvSpPr>
          <p:nvPr>
            <p:ph idx="1"/>
          </p:nvPr>
        </p:nvSpPr>
        <p:spPr>
          <a:xfrm>
            <a:off x="838200" y="1510757"/>
            <a:ext cx="10515600" cy="5347243"/>
          </a:xfrm>
        </p:spPr>
        <p:txBody>
          <a:bodyPr>
            <a:normAutofit/>
          </a:bodyPr>
          <a:lstStyle/>
          <a:p>
            <a:pPr>
              <a:lnSpc>
                <a:spcPct val="110000"/>
              </a:lnSpc>
            </a:pPr>
            <a:r>
              <a:rPr kumimoji="1" lang="zh-CN" altLang="en-US" dirty="0"/>
              <a:t>系统调用的基本概念</a:t>
            </a:r>
            <a:endParaRPr kumimoji="1" lang="en-US" altLang="zh-CN" dirty="0">
              <a:solidFill>
                <a:srgbClr val="C00000"/>
              </a:solidFill>
            </a:endParaRPr>
          </a:p>
          <a:p>
            <a:pPr lvl="1">
              <a:lnSpc>
                <a:spcPct val="110000"/>
              </a:lnSpc>
              <a:buFont typeface="Wingdings" panose="05000000000000000000" pitchFamily="2" charset="2"/>
              <a:buChar char="ü"/>
            </a:pPr>
            <a:r>
              <a:rPr kumimoji="1" lang="zh-CN" altLang="en-US" dirty="0"/>
              <a:t>系统态和用户态</a:t>
            </a:r>
            <a:endParaRPr kumimoji="1" lang="en-US" altLang="zh-CN" dirty="0"/>
          </a:p>
          <a:p>
            <a:pPr marL="914400" lvl="2" indent="0" algn="just">
              <a:lnSpc>
                <a:spcPct val="110000"/>
              </a:lnSpc>
              <a:buNone/>
            </a:pPr>
            <a:r>
              <a:rPr kumimoji="1" lang="zh-CN" altLang="en-US" dirty="0"/>
              <a:t>在计算机系统中设置了两种状态：系统态</a:t>
            </a:r>
            <a:r>
              <a:rPr kumimoji="1" lang="en-US" altLang="zh-CN" dirty="0"/>
              <a:t>(</a:t>
            </a:r>
            <a:r>
              <a:rPr kumimoji="1" lang="zh-CN" altLang="en-US" dirty="0"/>
              <a:t>或称为核心态</a:t>
            </a:r>
            <a:r>
              <a:rPr kumimoji="1" lang="en-US" altLang="zh-CN" dirty="0"/>
              <a:t>)</a:t>
            </a:r>
            <a:r>
              <a:rPr kumimoji="1" lang="zh-CN" altLang="en-US" dirty="0"/>
              <a:t>和用户态。在实际运行过程中，处理机会在系统态和用户态间切换。相应地，现代多数</a:t>
            </a:r>
            <a:r>
              <a:rPr kumimoji="1" lang="en-US" altLang="zh-CN" dirty="0"/>
              <a:t>OS</a:t>
            </a:r>
            <a:r>
              <a:rPr kumimoji="1" lang="zh-CN" altLang="en-US" dirty="0"/>
              <a:t>将</a:t>
            </a:r>
            <a:r>
              <a:rPr kumimoji="1" lang="en-US" altLang="zh-CN" dirty="0"/>
              <a:t>CPU</a:t>
            </a:r>
            <a:r>
              <a:rPr kumimoji="1" lang="zh-CN" altLang="en-US" dirty="0"/>
              <a:t>的指令集分为</a:t>
            </a:r>
            <a:r>
              <a:rPr kumimoji="1" lang="zh-CN" altLang="en-US" b="1" dirty="0">
                <a:solidFill>
                  <a:srgbClr val="FF0000"/>
                </a:solidFill>
              </a:rPr>
              <a:t>特权指令</a:t>
            </a:r>
            <a:r>
              <a:rPr kumimoji="1" lang="zh-CN" altLang="en-US" dirty="0"/>
              <a:t>和</a:t>
            </a:r>
            <a:r>
              <a:rPr kumimoji="1" lang="zh-CN" altLang="en-US" b="1" dirty="0">
                <a:solidFill>
                  <a:srgbClr val="FF0000"/>
                </a:solidFill>
              </a:rPr>
              <a:t>非特权指令</a:t>
            </a:r>
            <a:r>
              <a:rPr kumimoji="1" lang="zh-CN" altLang="en-US" dirty="0"/>
              <a:t>两类。</a:t>
            </a:r>
            <a:endParaRPr kumimoji="1" lang="en-US" altLang="zh-CN" dirty="0"/>
          </a:p>
          <a:p>
            <a:pPr lvl="1">
              <a:lnSpc>
                <a:spcPct val="110000"/>
              </a:lnSpc>
              <a:buFont typeface="Wingdings" panose="05000000000000000000" pitchFamily="2" charset="2"/>
              <a:buChar char="ü"/>
            </a:pPr>
            <a:r>
              <a:rPr kumimoji="1" lang="zh-CN" altLang="en-US" dirty="0"/>
              <a:t>系统调用</a:t>
            </a:r>
            <a:endParaRPr kumimoji="1" lang="en-US" altLang="zh-CN" dirty="0"/>
          </a:p>
          <a:p>
            <a:pPr marL="914400" lvl="2" indent="0" algn="just">
              <a:lnSpc>
                <a:spcPct val="110000"/>
              </a:lnSpc>
              <a:buNone/>
            </a:pPr>
            <a:r>
              <a:rPr kumimoji="1" lang="zh-CN" altLang="en-US" dirty="0"/>
              <a:t>在</a:t>
            </a:r>
            <a:r>
              <a:rPr kumimoji="1" lang="en-US" altLang="zh-CN" dirty="0"/>
              <a:t>OS</a:t>
            </a:r>
            <a:r>
              <a:rPr kumimoji="1" lang="zh-CN" altLang="en-US" dirty="0"/>
              <a:t>中提供系统调用的目的是使应用程序可以通过它间接调用</a:t>
            </a:r>
            <a:r>
              <a:rPr kumimoji="1" lang="en-US" altLang="zh-CN" dirty="0"/>
              <a:t>OS</a:t>
            </a:r>
            <a:r>
              <a:rPr kumimoji="1" lang="zh-CN" altLang="en-US" dirty="0"/>
              <a:t>中的相关过程，取得相应的服务。系统调用在本质上是应用程序请求</a:t>
            </a:r>
            <a:r>
              <a:rPr kumimoji="1" lang="en-US" altLang="zh-CN" dirty="0"/>
              <a:t>OS</a:t>
            </a:r>
            <a:r>
              <a:rPr kumimoji="1" lang="zh-CN" altLang="en-US" dirty="0"/>
              <a:t>内核完成某功能时的一种过程调用，但它是一种特殊的过程调用，它与一般的过程调用有几方面的明显差别：运行在不同的系统状态、</a:t>
            </a:r>
            <a:r>
              <a:rPr lang="zh-CN" altLang="en-US" dirty="0"/>
              <a:t>状态的转换、返回问题、嵌套调用</a:t>
            </a:r>
            <a:r>
              <a:rPr kumimoji="1" lang="zh-CN" altLang="en-US" dirty="0"/>
              <a:t>。</a:t>
            </a:r>
            <a:endParaRPr kumimoji="1" lang="en-US" altLang="zh-CN" dirty="0"/>
          </a:p>
          <a:p>
            <a:pPr lvl="1">
              <a:lnSpc>
                <a:spcPct val="110000"/>
              </a:lnSpc>
              <a:buFont typeface="Wingdings" panose="05000000000000000000" pitchFamily="2" charset="2"/>
              <a:buChar char="ü"/>
            </a:pPr>
            <a:r>
              <a:rPr kumimoji="1" lang="zh-CN" altLang="en-US" dirty="0"/>
              <a:t>中断机制</a:t>
            </a:r>
            <a:endParaRPr kumimoji="1" lang="en-US" altLang="zh-CN" dirty="0"/>
          </a:p>
          <a:p>
            <a:pPr marL="914400" lvl="2" indent="0">
              <a:lnSpc>
                <a:spcPct val="110000"/>
              </a:lnSpc>
              <a:buNone/>
            </a:pPr>
            <a:r>
              <a:rPr kumimoji="1" lang="zh-CN" altLang="en-US" dirty="0"/>
              <a:t>系统调用通过中断机制实现，并且一个操作系统的所有系统调用，都通过同一个中断入口来实现。如</a:t>
            </a:r>
            <a:r>
              <a:rPr kumimoji="1" lang="en-US" altLang="zh-CN" dirty="0"/>
              <a:t>MS-DOS</a:t>
            </a:r>
            <a:r>
              <a:rPr kumimoji="1" lang="zh-CN" altLang="en-US" dirty="0"/>
              <a:t>提供</a:t>
            </a:r>
            <a:r>
              <a:rPr kumimoji="1" lang="en-US" altLang="zh-CN" dirty="0"/>
              <a:t>INT 21H</a:t>
            </a:r>
            <a:r>
              <a:rPr kumimoji="1" lang="zh-CN" altLang="en-US" dirty="0"/>
              <a:t>，应用程序通过该中断获取操作系统的服务。</a:t>
            </a:r>
            <a:endParaRPr kumimoji="1" lang="en-US" altLang="zh-CN" dirty="0"/>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6" name="文本框 5">
            <a:extLst>
              <a:ext uri="{FF2B5EF4-FFF2-40B4-BE49-F238E27FC236}">
                <a16:creationId xmlns:a16="http://schemas.microsoft.com/office/drawing/2014/main" id="{9739EFC9-D989-4B4D-9EBD-99213AEE218B}"/>
              </a:ext>
            </a:extLst>
          </p:cNvPr>
          <p:cNvSpPr txBox="1"/>
          <p:nvPr/>
        </p:nvSpPr>
        <p:spPr>
          <a:xfrm>
            <a:off x="4622800" y="1374060"/>
            <a:ext cx="6604000" cy="1015663"/>
          </a:xfrm>
          <a:prstGeom prst="rect">
            <a:avLst/>
          </a:prstGeom>
          <a:noFill/>
          <a:ln w="19050">
            <a:solidFill>
              <a:schemeClr val="tx1"/>
            </a:solidFill>
            <a:prstDash val="dash"/>
          </a:ln>
        </p:spPr>
        <p:txBody>
          <a:bodyPr wrap="square">
            <a:spAutoFit/>
          </a:bodyPr>
          <a:lstStyle/>
          <a:p>
            <a:pPr algn="just"/>
            <a:r>
              <a:rPr lang="zh-CN" altLang="en-US" sz="2000" b="1" dirty="0">
                <a:solidFill>
                  <a:srgbClr val="FF0000"/>
                </a:solidFill>
                <a:latin typeface="Times New Roman" panose="02020603050405020304" pitchFamily="18" charset="0"/>
                <a:cs typeface="Times New Roman" panose="02020603050405020304" pitchFamily="18" charset="0"/>
              </a:rPr>
              <a:t>两类程序：</a:t>
            </a:r>
            <a:r>
              <a:rPr lang="zh-CN" altLang="en-US" sz="2000" b="1" dirty="0">
                <a:solidFill>
                  <a:schemeClr val="bg2">
                    <a:lumMod val="75000"/>
                  </a:schemeClr>
                </a:solidFill>
                <a:latin typeface="Times New Roman" panose="02020603050405020304" pitchFamily="18" charset="0"/>
                <a:cs typeface="Times New Roman" panose="02020603050405020304" pitchFamily="18" charset="0"/>
              </a:rPr>
              <a:t>系统程序</a:t>
            </a:r>
            <a:r>
              <a:rPr lang="zh-CN" altLang="en-US" sz="2000" b="1" dirty="0">
                <a:solidFill>
                  <a:srgbClr val="FF0000"/>
                </a:solidFill>
                <a:latin typeface="Times New Roman" panose="02020603050405020304" pitchFamily="18" charset="0"/>
                <a:cs typeface="Times New Roman" panose="02020603050405020304" pitchFamily="18" charset="0"/>
              </a:rPr>
              <a:t>和</a:t>
            </a:r>
            <a:r>
              <a:rPr lang="zh-CN" altLang="en-US" sz="2000" b="1" dirty="0">
                <a:solidFill>
                  <a:schemeClr val="bg2">
                    <a:lumMod val="75000"/>
                  </a:schemeClr>
                </a:solidFill>
                <a:latin typeface="Times New Roman" panose="02020603050405020304" pitchFamily="18" charset="0"/>
                <a:cs typeface="Times New Roman" panose="02020603050405020304" pitchFamily="18" charset="0"/>
              </a:rPr>
              <a:t>应用程序</a:t>
            </a:r>
            <a:r>
              <a:rPr lang="zh-CN" altLang="en-US" sz="2000" b="1" dirty="0">
                <a:solidFill>
                  <a:srgbClr val="FF0000"/>
                </a:solidFill>
                <a:latin typeface="Times New Roman" panose="02020603050405020304" pitchFamily="18" charset="0"/>
                <a:cs typeface="Times New Roman" panose="02020603050405020304" pitchFamily="18" charset="0"/>
              </a:rPr>
              <a:t>。为防止应用程序对</a:t>
            </a:r>
            <a:r>
              <a:rPr lang="en-US" altLang="zh-CN" sz="2000" b="1" dirty="0">
                <a:solidFill>
                  <a:srgbClr val="FF0000"/>
                </a:solidFill>
                <a:latin typeface="Times New Roman" panose="02020603050405020304" pitchFamily="18" charset="0"/>
                <a:cs typeface="Times New Roman" panose="02020603050405020304" pitchFamily="18" charset="0"/>
              </a:rPr>
              <a:t>OS</a:t>
            </a:r>
            <a:r>
              <a:rPr lang="zh-CN" altLang="en-US" sz="2000" b="1" dirty="0">
                <a:solidFill>
                  <a:srgbClr val="FF0000"/>
                </a:solidFill>
                <a:latin typeface="Times New Roman" panose="02020603050405020304" pitchFamily="18" charset="0"/>
                <a:cs typeface="Times New Roman" panose="02020603050405020304" pitchFamily="18" charset="0"/>
              </a:rPr>
              <a:t>的破坏，应用程序和</a:t>
            </a:r>
            <a:r>
              <a:rPr lang="en-US" altLang="zh-CN" sz="2000" b="1" dirty="0">
                <a:solidFill>
                  <a:srgbClr val="FF0000"/>
                </a:solidFill>
                <a:latin typeface="Times New Roman" panose="02020603050405020304" pitchFamily="18" charset="0"/>
                <a:cs typeface="Times New Roman" panose="02020603050405020304" pitchFamily="18" charset="0"/>
              </a:rPr>
              <a:t>OS</a:t>
            </a:r>
            <a:r>
              <a:rPr lang="zh-CN" altLang="en-US" sz="2000" b="1" dirty="0">
                <a:solidFill>
                  <a:srgbClr val="FF0000"/>
                </a:solidFill>
                <a:latin typeface="Times New Roman" panose="02020603050405020304" pitchFamily="18" charset="0"/>
                <a:cs typeface="Times New Roman" panose="02020603050405020304" pitchFamily="18" charset="0"/>
              </a:rPr>
              <a:t>的内核是运行在不同的状态，即</a:t>
            </a:r>
            <a:r>
              <a:rPr lang="en-US" altLang="zh-CN" sz="2000" b="1" dirty="0">
                <a:solidFill>
                  <a:srgbClr val="FF0000"/>
                </a:solidFill>
                <a:latin typeface="Times New Roman" panose="02020603050405020304" pitchFamily="18" charset="0"/>
                <a:cs typeface="Times New Roman" panose="02020603050405020304" pitchFamily="18" charset="0"/>
              </a:rPr>
              <a:t>OS</a:t>
            </a:r>
            <a:r>
              <a:rPr lang="zh-CN" altLang="en-US" sz="2000" b="1" dirty="0">
                <a:solidFill>
                  <a:srgbClr val="FF0000"/>
                </a:solidFill>
                <a:latin typeface="Times New Roman" panose="02020603050405020304" pitchFamily="18" charset="0"/>
                <a:cs typeface="Times New Roman" panose="02020603050405020304" pitchFamily="18" charset="0"/>
              </a:rPr>
              <a:t>的内核是运行在系统态，而应用程序是运行在用户态。</a:t>
            </a:r>
          </a:p>
        </p:txBody>
      </p:sp>
    </p:spTree>
    <p:extLst>
      <p:ext uri="{BB962C8B-B14F-4D97-AF65-F5344CB8AC3E}">
        <p14:creationId xmlns:p14="http://schemas.microsoft.com/office/powerpoint/2010/main" val="11344560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normAutofit/>
          </a:bodyPr>
          <a:lstStyle/>
          <a:p>
            <a:r>
              <a:rPr kumimoji="1" lang="zh-CN" altLang="en-US" dirty="0"/>
              <a:t>系统调用的概念和类型</a:t>
            </a:r>
          </a:p>
        </p:txBody>
      </p:sp>
      <p:sp>
        <p:nvSpPr>
          <p:cNvPr id="3" name="内容占位符 2">
            <a:extLst>
              <a:ext uri="{FF2B5EF4-FFF2-40B4-BE49-F238E27FC236}">
                <a16:creationId xmlns:a16="http://schemas.microsoft.com/office/drawing/2014/main" id="{A3BB8FC7-88A8-0B4D-B7E9-5A9282A67521}"/>
              </a:ext>
            </a:extLst>
          </p:cNvPr>
          <p:cNvSpPr>
            <a:spLocks noGrp="1"/>
          </p:cNvSpPr>
          <p:nvPr>
            <p:ph idx="1"/>
          </p:nvPr>
        </p:nvSpPr>
        <p:spPr>
          <a:xfrm>
            <a:off x="838200" y="1510757"/>
            <a:ext cx="10515600" cy="5347243"/>
          </a:xfrm>
        </p:spPr>
        <p:txBody>
          <a:bodyPr>
            <a:normAutofit/>
          </a:bodyPr>
          <a:lstStyle/>
          <a:p>
            <a:pPr>
              <a:lnSpc>
                <a:spcPct val="110000"/>
              </a:lnSpc>
            </a:pPr>
            <a:r>
              <a:rPr kumimoji="1" lang="zh-CN" altLang="en-US" dirty="0"/>
              <a:t>系统调用的类型</a:t>
            </a:r>
            <a:endParaRPr kumimoji="1" lang="en-US" altLang="zh-CN" dirty="0">
              <a:solidFill>
                <a:srgbClr val="C00000"/>
              </a:solidFill>
            </a:endParaRPr>
          </a:p>
          <a:p>
            <a:pPr lvl="1">
              <a:lnSpc>
                <a:spcPct val="110000"/>
              </a:lnSpc>
              <a:buFont typeface="Wingdings" panose="05000000000000000000" pitchFamily="2" charset="2"/>
              <a:buChar char="ü"/>
            </a:pPr>
            <a:r>
              <a:rPr kumimoji="1" lang="zh-CN" altLang="en-US" dirty="0"/>
              <a:t>进程控制类系统调用</a:t>
            </a:r>
            <a:endParaRPr kumimoji="1" lang="en-US" altLang="zh-CN" dirty="0"/>
          </a:p>
          <a:p>
            <a:pPr marL="914400" lvl="2" indent="0" algn="just">
              <a:lnSpc>
                <a:spcPct val="110000"/>
              </a:lnSpc>
              <a:buNone/>
            </a:pPr>
            <a:r>
              <a:rPr kumimoji="1" lang="zh-CN" altLang="en-US" dirty="0"/>
              <a:t>主要用于对进程控制的系统调用：</a:t>
            </a:r>
            <a:r>
              <a:rPr lang="zh-CN" altLang="en-US" dirty="0"/>
              <a:t>创建和终止进程的系统调用、获得和设置进程属性的系统调用、等待某事件出现的系统调用</a:t>
            </a:r>
            <a:r>
              <a:rPr kumimoji="1" lang="zh-CN" altLang="en-US" dirty="0"/>
              <a:t>。</a:t>
            </a:r>
            <a:endParaRPr kumimoji="1" lang="en-US" altLang="zh-CN" dirty="0"/>
          </a:p>
          <a:p>
            <a:pPr lvl="1">
              <a:lnSpc>
                <a:spcPct val="110000"/>
              </a:lnSpc>
              <a:buFont typeface="Wingdings" panose="05000000000000000000" pitchFamily="2" charset="2"/>
              <a:buChar char="ü"/>
            </a:pPr>
            <a:r>
              <a:rPr kumimoji="1" lang="zh-CN" altLang="en-US" dirty="0"/>
              <a:t>文件操纵类系统调用</a:t>
            </a:r>
            <a:endParaRPr kumimoji="1" lang="en-US" altLang="zh-CN" dirty="0"/>
          </a:p>
          <a:p>
            <a:pPr marL="914400" lvl="2" indent="0" algn="just">
              <a:lnSpc>
                <a:spcPct val="110000"/>
              </a:lnSpc>
              <a:buNone/>
            </a:pPr>
            <a:r>
              <a:rPr kumimoji="1" lang="zh-CN" altLang="en-US" dirty="0"/>
              <a:t>对文件进行操纵的主要系统调用：</a:t>
            </a:r>
            <a:r>
              <a:rPr lang="zh-CN" altLang="en-US" dirty="0"/>
              <a:t>创建和删除文件、打开和关闭文件的系统调用、读和写文件的系统调用</a:t>
            </a:r>
            <a:r>
              <a:rPr kumimoji="1" lang="zh-CN" altLang="en-US" dirty="0"/>
              <a:t>。</a:t>
            </a:r>
            <a:endParaRPr kumimoji="1" lang="en-US" altLang="zh-CN" dirty="0"/>
          </a:p>
          <a:p>
            <a:pPr lvl="1">
              <a:lnSpc>
                <a:spcPct val="110000"/>
              </a:lnSpc>
              <a:buFont typeface="Wingdings" panose="05000000000000000000" pitchFamily="2" charset="2"/>
              <a:buChar char="ü"/>
            </a:pPr>
            <a:r>
              <a:rPr kumimoji="1" lang="zh-CN" altLang="en-US" dirty="0"/>
              <a:t>进程通信类系统调用</a:t>
            </a:r>
            <a:endParaRPr kumimoji="1" lang="en-US" altLang="zh-CN" dirty="0"/>
          </a:p>
          <a:p>
            <a:pPr marL="914400" lvl="2" indent="0" algn="just">
              <a:lnSpc>
                <a:spcPct val="110000"/>
              </a:lnSpc>
              <a:buNone/>
            </a:pPr>
            <a:r>
              <a:rPr kumimoji="1" lang="zh-CN" altLang="en-US" dirty="0"/>
              <a:t>在单处理机系统中，</a:t>
            </a:r>
            <a:r>
              <a:rPr kumimoji="1" lang="en-US" altLang="zh-CN" dirty="0"/>
              <a:t>OS</a:t>
            </a:r>
            <a:r>
              <a:rPr kumimoji="1" lang="zh-CN" altLang="en-US" dirty="0"/>
              <a:t>经常采用消息传递方式和共享存储区方式。当采用消息传递方式时，在通信前需先打开一个连接。为此，应由源进程发出一条打开连接的系统调用，而目标进程则应利用接受连接的系统调用表示同意进行通信；然后，在源和目标进程之间便可开始通信。可以利用发送消息的系统调用或者用接收消息的系统调用来交换信息。通信结束后，还须再利用关闭连接的系统调用结束通信。</a:t>
            </a:r>
            <a:endParaRPr kumimoji="1" lang="en-US" altLang="zh-CN" dirty="0"/>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Tree>
    <p:extLst>
      <p:ext uri="{BB962C8B-B14F-4D97-AF65-F5344CB8AC3E}">
        <p14:creationId xmlns:p14="http://schemas.microsoft.com/office/powerpoint/2010/main" val="21060195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normAutofit/>
          </a:bodyPr>
          <a:lstStyle/>
          <a:p>
            <a:r>
              <a:rPr kumimoji="1" lang="zh-CN" altLang="en-US" dirty="0"/>
              <a:t>系统调用的概念和类型</a:t>
            </a:r>
          </a:p>
        </p:txBody>
      </p:sp>
      <p:sp>
        <p:nvSpPr>
          <p:cNvPr id="3" name="内容占位符 2">
            <a:extLst>
              <a:ext uri="{FF2B5EF4-FFF2-40B4-BE49-F238E27FC236}">
                <a16:creationId xmlns:a16="http://schemas.microsoft.com/office/drawing/2014/main" id="{A3BB8FC7-88A8-0B4D-B7E9-5A9282A67521}"/>
              </a:ext>
            </a:extLst>
          </p:cNvPr>
          <p:cNvSpPr>
            <a:spLocks noGrp="1"/>
          </p:cNvSpPr>
          <p:nvPr>
            <p:ph idx="1"/>
          </p:nvPr>
        </p:nvSpPr>
        <p:spPr>
          <a:xfrm>
            <a:off x="838200" y="1510757"/>
            <a:ext cx="10515600" cy="5347243"/>
          </a:xfrm>
        </p:spPr>
        <p:txBody>
          <a:bodyPr>
            <a:normAutofit/>
          </a:bodyPr>
          <a:lstStyle/>
          <a:p>
            <a:pPr>
              <a:lnSpc>
                <a:spcPct val="110000"/>
              </a:lnSpc>
            </a:pPr>
            <a:r>
              <a:rPr kumimoji="1" lang="en-US" altLang="zh-CN" dirty="0"/>
              <a:t>POSIX</a:t>
            </a:r>
            <a:r>
              <a:rPr kumimoji="1" lang="zh-CN" altLang="en-US" dirty="0"/>
              <a:t>标准</a:t>
            </a:r>
            <a:endParaRPr kumimoji="1" lang="en-US" altLang="zh-CN" dirty="0">
              <a:solidFill>
                <a:srgbClr val="C00000"/>
              </a:solidFill>
            </a:endParaRPr>
          </a:p>
          <a:p>
            <a:pPr marL="457200" lvl="1" indent="0" algn="just">
              <a:lnSpc>
                <a:spcPct val="110000"/>
              </a:lnSpc>
              <a:buNone/>
            </a:pPr>
            <a:r>
              <a:rPr lang="zh-CN" altLang="en-US" sz="2000" dirty="0"/>
              <a:t>目前许多操作系统都提供上面所介绍的各种类型系统调用，实现的功能也相类似，但在实现的细节和形式方面却相差很大，这种差异给实现应用程序与操作系统平台的无关性带来了很大的困难。为解决这一问题，国际标准化组织</a:t>
            </a:r>
            <a:r>
              <a:rPr lang="en-US" altLang="zh-CN" sz="2000" dirty="0"/>
              <a:t>ISO</a:t>
            </a:r>
            <a:r>
              <a:rPr lang="zh-CN" altLang="en-US" sz="2000" dirty="0"/>
              <a:t>给出的有关系统调用的国际标准</a:t>
            </a:r>
            <a:r>
              <a:rPr lang="en-US" altLang="zh-CN" sz="2000" dirty="0"/>
              <a:t>POSIX1003.1(Portable Operating System IX)</a:t>
            </a:r>
            <a:r>
              <a:rPr lang="zh-CN" altLang="en-US" sz="2000" dirty="0"/>
              <a:t>，也称为“基于</a:t>
            </a:r>
            <a:r>
              <a:rPr lang="en-US" altLang="zh-CN" sz="2000" dirty="0"/>
              <a:t>UNIX</a:t>
            </a:r>
            <a:r>
              <a:rPr lang="zh-CN" altLang="en-US" sz="2000" dirty="0"/>
              <a:t>的可移植操作系统接口” </a:t>
            </a:r>
            <a:r>
              <a:rPr kumimoji="1" lang="zh-CN" altLang="en-US" sz="2000" dirty="0"/>
              <a:t>。</a:t>
            </a:r>
            <a:endParaRPr kumimoji="1" lang="en-US" altLang="zh-CN" sz="2000" dirty="0"/>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graphicFrame>
        <p:nvGraphicFramePr>
          <p:cNvPr id="5" name="Object 4">
            <a:extLst>
              <a:ext uri="{FF2B5EF4-FFF2-40B4-BE49-F238E27FC236}">
                <a16:creationId xmlns:a16="http://schemas.microsoft.com/office/drawing/2014/main" id="{6ACC3868-14B9-4C54-9F39-2BB4B3D324C4}"/>
              </a:ext>
            </a:extLst>
          </p:cNvPr>
          <p:cNvGraphicFramePr>
            <a:graphicFrameLocks noChangeAspect="1"/>
          </p:cNvGraphicFramePr>
          <p:nvPr>
            <p:extLst>
              <p:ext uri="{D42A27DB-BD31-4B8C-83A1-F6EECF244321}">
                <p14:modId xmlns:p14="http://schemas.microsoft.com/office/powerpoint/2010/main" val="3061329473"/>
              </p:ext>
            </p:extLst>
          </p:nvPr>
        </p:nvGraphicFramePr>
        <p:xfrm>
          <a:off x="2330133" y="3454400"/>
          <a:ext cx="7848600" cy="3267075"/>
        </p:xfrm>
        <a:graphic>
          <a:graphicData uri="http://schemas.openxmlformats.org/presentationml/2006/ole">
            <mc:AlternateContent xmlns:mc="http://schemas.openxmlformats.org/markup-compatibility/2006">
              <mc:Choice xmlns:v="urn:schemas-microsoft-com:vml" Requires="v">
                <p:oleObj name="Visio" r:id="rId3" imgW="4438802" imgH="1846783" progId="Visio.Drawing.11">
                  <p:embed/>
                </p:oleObj>
              </mc:Choice>
              <mc:Fallback>
                <p:oleObj name="Visio" r:id="rId3" imgW="4438802" imgH="1846783" progId="Visio.Drawing.11">
                  <p:embed/>
                  <p:pic>
                    <p:nvPicPr>
                      <p:cNvPr id="764932" name="Object 4">
                        <a:extLst>
                          <a:ext uri="{FF2B5EF4-FFF2-40B4-BE49-F238E27FC236}">
                            <a16:creationId xmlns:a16="http://schemas.microsoft.com/office/drawing/2014/main" id="{D0814CD8-4CC1-4933-801C-250839ECECE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30133" y="3454400"/>
                        <a:ext cx="7848600" cy="3267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文本框 6">
            <a:extLst>
              <a:ext uri="{FF2B5EF4-FFF2-40B4-BE49-F238E27FC236}">
                <a16:creationId xmlns:a16="http://schemas.microsoft.com/office/drawing/2014/main" id="{5D5F00C6-326F-46BF-B07C-F2B0098033D0}"/>
              </a:ext>
            </a:extLst>
          </p:cNvPr>
          <p:cNvSpPr txBox="1"/>
          <p:nvPr/>
        </p:nvSpPr>
        <p:spPr>
          <a:xfrm>
            <a:off x="8338907" y="5705812"/>
            <a:ext cx="2378825" cy="1015663"/>
          </a:xfrm>
          <a:prstGeom prst="rect">
            <a:avLst/>
          </a:prstGeom>
          <a:noFill/>
        </p:spPr>
        <p:txBody>
          <a:bodyPr wrap="square">
            <a:spAutoFit/>
          </a:bodyPr>
          <a:lstStyle/>
          <a:p>
            <a:pPr algn="just"/>
            <a:r>
              <a:rPr lang="en-US" altLang="zh-CN" sz="2000" b="1" dirty="0">
                <a:solidFill>
                  <a:schemeClr val="accent2">
                    <a:lumMod val="50000"/>
                  </a:schemeClr>
                </a:solidFill>
                <a:latin typeface="Times New Roman" panose="02020603050405020304" pitchFamily="18" charset="0"/>
                <a:cs typeface="Times New Roman" panose="02020603050405020304" pitchFamily="18" charset="0"/>
              </a:rPr>
              <a:t>UNIX/Linux</a:t>
            </a:r>
            <a:r>
              <a:rPr lang="zh-CN" altLang="en-US" sz="2000" b="1" dirty="0">
                <a:solidFill>
                  <a:schemeClr val="accent2">
                    <a:lumMod val="50000"/>
                  </a:schemeClr>
                </a:solidFill>
                <a:latin typeface="Times New Roman" panose="02020603050405020304" pitchFamily="18" charset="0"/>
                <a:cs typeface="Times New Roman" panose="02020603050405020304" pitchFamily="18" charset="0"/>
              </a:rPr>
              <a:t>系统程序、库函数、系统调用的分层关系</a:t>
            </a:r>
          </a:p>
        </p:txBody>
      </p:sp>
    </p:spTree>
    <p:extLst>
      <p:ext uri="{BB962C8B-B14F-4D97-AF65-F5344CB8AC3E}">
        <p14:creationId xmlns:p14="http://schemas.microsoft.com/office/powerpoint/2010/main" val="28200272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normAutofit/>
          </a:bodyPr>
          <a:lstStyle/>
          <a:p>
            <a:r>
              <a:rPr kumimoji="1" lang="en-US" altLang="zh-CN" dirty="0"/>
              <a:t>UNIX</a:t>
            </a:r>
            <a:r>
              <a:rPr kumimoji="1" lang="zh-CN" altLang="en-US" dirty="0"/>
              <a:t>系统调用</a:t>
            </a:r>
          </a:p>
        </p:txBody>
      </p:sp>
      <p:sp>
        <p:nvSpPr>
          <p:cNvPr id="3" name="内容占位符 2">
            <a:extLst>
              <a:ext uri="{FF2B5EF4-FFF2-40B4-BE49-F238E27FC236}">
                <a16:creationId xmlns:a16="http://schemas.microsoft.com/office/drawing/2014/main" id="{A3BB8FC7-88A8-0B4D-B7E9-5A9282A67521}"/>
              </a:ext>
            </a:extLst>
          </p:cNvPr>
          <p:cNvSpPr>
            <a:spLocks noGrp="1"/>
          </p:cNvSpPr>
          <p:nvPr>
            <p:ph idx="1"/>
          </p:nvPr>
        </p:nvSpPr>
        <p:spPr>
          <a:xfrm>
            <a:off x="838200" y="1510757"/>
            <a:ext cx="10515600" cy="5347243"/>
          </a:xfrm>
        </p:spPr>
        <p:txBody>
          <a:bodyPr>
            <a:normAutofit/>
          </a:bodyPr>
          <a:lstStyle/>
          <a:p>
            <a:pPr>
              <a:lnSpc>
                <a:spcPct val="110000"/>
              </a:lnSpc>
            </a:pPr>
            <a:r>
              <a:rPr kumimoji="1" lang="zh-CN" altLang="en-US" dirty="0"/>
              <a:t>进程控制</a:t>
            </a:r>
            <a:endParaRPr kumimoji="1" lang="en-US" altLang="zh-CN" dirty="0">
              <a:solidFill>
                <a:srgbClr val="C00000"/>
              </a:solidFill>
            </a:endParaRPr>
          </a:p>
          <a:p>
            <a:pPr lvl="1">
              <a:lnSpc>
                <a:spcPct val="110000"/>
              </a:lnSpc>
              <a:buFont typeface="Wingdings" panose="05000000000000000000" pitchFamily="2" charset="2"/>
              <a:buChar char="ü"/>
            </a:pPr>
            <a:r>
              <a:rPr kumimoji="1" lang="zh-CN" altLang="en-US" dirty="0"/>
              <a:t>进程的创建和终止</a:t>
            </a:r>
            <a:endParaRPr kumimoji="1" lang="en-US" altLang="zh-CN" dirty="0"/>
          </a:p>
          <a:p>
            <a:pPr marL="914400" lvl="2" indent="0" algn="just">
              <a:lnSpc>
                <a:spcPct val="110000"/>
              </a:lnSpc>
              <a:buNone/>
            </a:pPr>
            <a:r>
              <a:rPr kumimoji="1" lang="zh-CN" altLang="en-US" dirty="0"/>
              <a:t>创建进程</a:t>
            </a:r>
            <a:r>
              <a:rPr kumimoji="1" lang="en-US" altLang="zh-CN" dirty="0"/>
              <a:t>(fork)</a:t>
            </a:r>
            <a:r>
              <a:rPr kumimoji="1" lang="zh-CN" altLang="en-US" dirty="0"/>
              <a:t>、</a:t>
            </a:r>
            <a:r>
              <a:rPr lang="zh-CN" altLang="en-US" dirty="0"/>
              <a:t>终止进程</a:t>
            </a:r>
            <a:r>
              <a:rPr lang="en-US" altLang="zh-CN" dirty="0"/>
              <a:t>(exit) </a:t>
            </a:r>
            <a:r>
              <a:rPr kumimoji="1" lang="zh-CN" altLang="en-US" dirty="0"/>
              <a:t>。</a:t>
            </a:r>
            <a:endParaRPr kumimoji="1" lang="en-US" altLang="zh-CN" dirty="0"/>
          </a:p>
          <a:p>
            <a:pPr lvl="1">
              <a:lnSpc>
                <a:spcPct val="110000"/>
              </a:lnSpc>
              <a:buFont typeface="Wingdings" panose="05000000000000000000" pitchFamily="2" charset="2"/>
              <a:buChar char="ü"/>
            </a:pPr>
            <a:r>
              <a:rPr kumimoji="1" lang="zh-CN" altLang="en-US" dirty="0"/>
              <a:t>改变进程映像和等待</a:t>
            </a:r>
            <a:endParaRPr kumimoji="1" lang="en-US" altLang="zh-CN" dirty="0"/>
          </a:p>
          <a:p>
            <a:pPr marL="914400" lvl="2" indent="0" algn="just">
              <a:lnSpc>
                <a:spcPct val="110000"/>
              </a:lnSpc>
              <a:buNone/>
            </a:pPr>
            <a:r>
              <a:rPr lang="zh-CN" altLang="en-US" dirty="0"/>
              <a:t>执行一个文件</a:t>
            </a:r>
            <a:r>
              <a:rPr lang="en-US" altLang="zh-CN" dirty="0"/>
              <a:t>(exec)</a:t>
            </a:r>
            <a:r>
              <a:rPr lang="zh-CN" altLang="en-US" dirty="0"/>
              <a:t>、等待子进程结束</a:t>
            </a:r>
            <a:r>
              <a:rPr lang="en-US" altLang="zh-CN" dirty="0"/>
              <a:t>(wait)</a:t>
            </a:r>
            <a:r>
              <a:rPr kumimoji="1" lang="zh-CN" altLang="en-US" dirty="0"/>
              <a:t>。</a:t>
            </a:r>
            <a:endParaRPr kumimoji="1" lang="en-US" altLang="zh-CN" dirty="0"/>
          </a:p>
          <a:p>
            <a:pPr lvl="1">
              <a:lnSpc>
                <a:spcPct val="110000"/>
              </a:lnSpc>
              <a:buFont typeface="Wingdings" panose="05000000000000000000" pitchFamily="2" charset="2"/>
              <a:buChar char="ü"/>
            </a:pPr>
            <a:r>
              <a:rPr kumimoji="1" lang="zh-CN" altLang="en-US" dirty="0"/>
              <a:t>其它进程调用</a:t>
            </a:r>
            <a:endParaRPr kumimoji="1" lang="en-US" altLang="zh-CN" dirty="0"/>
          </a:p>
          <a:p>
            <a:pPr marL="914400" lvl="2" indent="0" algn="just">
              <a:lnSpc>
                <a:spcPct val="110000"/>
              </a:lnSpc>
              <a:buNone/>
            </a:pPr>
            <a:r>
              <a:rPr kumimoji="1" lang="zh-CN" altLang="en-US" dirty="0"/>
              <a:t>获得进程</a:t>
            </a:r>
            <a:r>
              <a:rPr kumimoji="1" lang="en-US" altLang="zh-CN" dirty="0"/>
              <a:t>ID</a:t>
            </a:r>
            <a:r>
              <a:rPr kumimoji="1" lang="zh-CN" altLang="en-US" dirty="0"/>
              <a:t>、</a:t>
            </a:r>
            <a:r>
              <a:rPr lang="zh-CN" altLang="en-US" dirty="0"/>
              <a:t>获得用户</a:t>
            </a:r>
            <a:r>
              <a:rPr lang="en-US" altLang="zh-CN" dirty="0"/>
              <a:t>ID</a:t>
            </a:r>
            <a:r>
              <a:rPr lang="zh-CN" altLang="en-US" dirty="0"/>
              <a:t>、进程暂停</a:t>
            </a:r>
            <a:r>
              <a:rPr lang="en-US" altLang="zh-CN" dirty="0"/>
              <a:t>(pause)</a:t>
            </a:r>
            <a:r>
              <a:rPr kumimoji="1" lang="zh-CN" altLang="en-US" dirty="0"/>
              <a:t>。</a:t>
            </a:r>
            <a:endParaRPr kumimoji="1" lang="en-US" altLang="zh-CN" dirty="0"/>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6" name="文本框 5">
            <a:extLst>
              <a:ext uri="{FF2B5EF4-FFF2-40B4-BE49-F238E27FC236}">
                <a16:creationId xmlns:a16="http://schemas.microsoft.com/office/drawing/2014/main" id="{6C0BE635-C702-46A4-9502-A644A669E931}"/>
              </a:ext>
            </a:extLst>
          </p:cNvPr>
          <p:cNvSpPr txBox="1"/>
          <p:nvPr/>
        </p:nvSpPr>
        <p:spPr>
          <a:xfrm>
            <a:off x="5811520" y="1507632"/>
            <a:ext cx="5374640" cy="707886"/>
          </a:xfrm>
          <a:prstGeom prst="rect">
            <a:avLst/>
          </a:prstGeom>
          <a:noFill/>
          <a:ln w="19050">
            <a:solidFill>
              <a:schemeClr val="tx1"/>
            </a:solidFill>
            <a:prstDash val="dash"/>
          </a:ln>
        </p:spPr>
        <p:txBody>
          <a:bodyPr wrap="square">
            <a:spAutoFit/>
          </a:bodyPr>
          <a:lstStyle/>
          <a:p>
            <a:pPr algn="just"/>
            <a:r>
              <a:rPr lang="zh-CN" altLang="en-US" sz="2000" b="1" dirty="0">
                <a:solidFill>
                  <a:srgbClr val="FF0000"/>
                </a:solidFill>
                <a:latin typeface="Times New Roman" panose="02020603050405020304" pitchFamily="18" charset="0"/>
                <a:cs typeface="Times New Roman" panose="02020603050405020304" pitchFamily="18" charset="0"/>
              </a:rPr>
              <a:t>创建进程的系统调用</a:t>
            </a:r>
            <a:r>
              <a:rPr lang="en-US" altLang="zh-CN" sz="2000" b="1" dirty="0">
                <a:solidFill>
                  <a:srgbClr val="FF0000"/>
                </a:solidFill>
                <a:latin typeface="Times New Roman" panose="02020603050405020304" pitchFamily="18" charset="0"/>
                <a:cs typeface="Times New Roman" panose="02020603050405020304" pitchFamily="18" charset="0"/>
              </a:rPr>
              <a:t>fork</a:t>
            </a:r>
            <a:r>
              <a:rPr lang="zh-CN" altLang="en-US" sz="2000" b="1" dirty="0">
                <a:solidFill>
                  <a:srgbClr val="FF0000"/>
                </a:solidFill>
                <a:latin typeface="Times New Roman" panose="02020603050405020304" pitchFamily="18" charset="0"/>
                <a:cs typeface="Times New Roman" panose="02020603050405020304" pitchFamily="18" charset="0"/>
              </a:rPr>
              <a:t>、终止进程的系统调用</a:t>
            </a:r>
            <a:r>
              <a:rPr lang="en-US" altLang="zh-CN" sz="2000" b="1" dirty="0">
                <a:solidFill>
                  <a:srgbClr val="FF0000"/>
                </a:solidFill>
                <a:latin typeface="Times New Roman" panose="02020603050405020304" pitchFamily="18" charset="0"/>
                <a:cs typeface="Times New Roman" panose="02020603050405020304" pitchFamily="18" charset="0"/>
              </a:rPr>
              <a:t>exit</a:t>
            </a:r>
            <a:r>
              <a:rPr lang="zh-CN" altLang="en-US" sz="2000" b="1" dirty="0">
                <a:solidFill>
                  <a:srgbClr val="FF0000"/>
                </a:solidFill>
                <a:latin typeface="Times New Roman" panose="02020603050405020304" pitchFamily="18" charset="0"/>
                <a:cs typeface="Times New Roman" panose="02020603050405020304" pitchFamily="18" charset="0"/>
              </a:rPr>
              <a:t>、等待子进程结束的系统调用</a:t>
            </a:r>
            <a:r>
              <a:rPr lang="en-US" altLang="zh-CN" sz="2000" b="1" dirty="0">
                <a:solidFill>
                  <a:srgbClr val="FF0000"/>
                </a:solidFill>
                <a:latin typeface="Times New Roman" panose="02020603050405020304" pitchFamily="18" charset="0"/>
                <a:cs typeface="Times New Roman" panose="02020603050405020304" pitchFamily="18" charset="0"/>
              </a:rPr>
              <a:t>wait</a:t>
            </a:r>
            <a:r>
              <a:rPr lang="zh-CN" altLang="en-US" sz="2000" b="1" dirty="0">
                <a:solidFill>
                  <a:srgbClr val="FF0000"/>
                </a:solidFill>
                <a:latin typeface="Times New Roman" panose="02020603050405020304" pitchFamily="18" charset="0"/>
                <a:cs typeface="Times New Roman" panose="02020603050405020304" pitchFamily="18" charset="0"/>
              </a:rPr>
              <a:t>等</a:t>
            </a:r>
          </a:p>
        </p:txBody>
      </p:sp>
    </p:spTree>
    <p:extLst>
      <p:ext uri="{BB962C8B-B14F-4D97-AF65-F5344CB8AC3E}">
        <p14:creationId xmlns:p14="http://schemas.microsoft.com/office/powerpoint/2010/main" val="24438372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normAutofit/>
          </a:bodyPr>
          <a:lstStyle/>
          <a:p>
            <a:r>
              <a:rPr kumimoji="1" lang="en-US" altLang="zh-CN" dirty="0"/>
              <a:t>UNIX</a:t>
            </a:r>
            <a:r>
              <a:rPr kumimoji="1" lang="zh-CN" altLang="en-US" dirty="0"/>
              <a:t>系统调用</a:t>
            </a:r>
          </a:p>
        </p:txBody>
      </p:sp>
      <p:sp>
        <p:nvSpPr>
          <p:cNvPr id="3" name="内容占位符 2">
            <a:extLst>
              <a:ext uri="{FF2B5EF4-FFF2-40B4-BE49-F238E27FC236}">
                <a16:creationId xmlns:a16="http://schemas.microsoft.com/office/drawing/2014/main" id="{A3BB8FC7-88A8-0B4D-B7E9-5A9282A67521}"/>
              </a:ext>
            </a:extLst>
          </p:cNvPr>
          <p:cNvSpPr>
            <a:spLocks noGrp="1"/>
          </p:cNvSpPr>
          <p:nvPr>
            <p:ph idx="1"/>
          </p:nvPr>
        </p:nvSpPr>
        <p:spPr>
          <a:xfrm>
            <a:off x="838200" y="1510757"/>
            <a:ext cx="10515600" cy="5347243"/>
          </a:xfrm>
        </p:spPr>
        <p:txBody>
          <a:bodyPr>
            <a:normAutofit/>
          </a:bodyPr>
          <a:lstStyle/>
          <a:p>
            <a:pPr>
              <a:lnSpc>
                <a:spcPct val="110000"/>
              </a:lnSpc>
            </a:pPr>
            <a:r>
              <a:rPr kumimoji="1" lang="zh-CN" altLang="en-US" dirty="0"/>
              <a:t>文件操纵</a:t>
            </a:r>
            <a:endParaRPr kumimoji="1" lang="en-US" altLang="zh-CN" dirty="0">
              <a:solidFill>
                <a:srgbClr val="C00000"/>
              </a:solidFill>
            </a:endParaRPr>
          </a:p>
          <a:p>
            <a:pPr lvl="1">
              <a:lnSpc>
                <a:spcPct val="110000"/>
              </a:lnSpc>
              <a:buFont typeface="Wingdings" panose="05000000000000000000" pitchFamily="2" charset="2"/>
              <a:buChar char="ü"/>
            </a:pPr>
            <a:r>
              <a:rPr kumimoji="1" lang="zh-CN" altLang="en-US" dirty="0"/>
              <a:t>文件的创建和删除</a:t>
            </a:r>
            <a:endParaRPr kumimoji="1" lang="en-US" altLang="zh-CN" dirty="0"/>
          </a:p>
          <a:p>
            <a:pPr marL="914400" lvl="2" indent="0" algn="just">
              <a:lnSpc>
                <a:spcPct val="110000"/>
              </a:lnSpc>
              <a:buNone/>
            </a:pPr>
            <a:r>
              <a:rPr lang="zh-CN" altLang="en-US" dirty="0"/>
              <a:t>创建文件</a:t>
            </a:r>
            <a:r>
              <a:rPr lang="en-US" altLang="zh-CN" dirty="0"/>
              <a:t>(create)</a:t>
            </a:r>
            <a:r>
              <a:rPr kumimoji="1" lang="zh-CN" altLang="en-US" dirty="0"/>
              <a:t>、</a:t>
            </a:r>
            <a:r>
              <a:rPr lang="zh-CN" altLang="en-US" dirty="0"/>
              <a:t>删除文件</a:t>
            </a:r>
            <a:r>
              <a:rPr kumimoji="1" lang="zh-CN" altLang="en-US" dirty="0"/>
              <a:t>。</a:t>
            </a:r>
            <a:endParaRPr kumimoji="1" lang="en-US" altLang="zh-CN" dirty="0"/>
          </a:p>
          <a:p>
            <a:pPr lvl="1">
              <a:lnSpc>
                <a:spcPct val="110000"/>
              </a:lnSpc>
              <a:buFont typeface="Wingdings" panose="05000000000000000000" pitchFamily="2" charset="2"/>
              <a:buChar char="ü"/>
            </a:pPr>
            <a:r>
              <a:rPr kumimoji="1" lang="zh-CN" altLang="en-US" dirty="0"/>
              <a:t>文件的打开和关闭</a:t>
            </a:r>
            <a:endParaRPr kumimoji="1" lang="en-US" altLang="zh-CN" dirty="0"/>
          </a:p>
          <a:p>
            <a:pPr marL="914400" lvl="2" indent="0" algn="just">
              <a:lnSpc>
                <a:spcPct val="110000"/>
              </a:lnSpc>
              <a:buNone/>
            </a:pPr>
            <a:r>
              <a:rPr lang="zh-CN" altLang="en-US" dirty="0"/>
              <a:t>打开文件</a:t>
            </a:r>
            <a:r>
              <a:rPr lang="en-US" altLang="zh-CN" dirty="0"/>
              <a:t>(open)</a:t>
            </a:r>
            <a:r>
              <a:rPr lang="zh-CN" altLang="en-US" dirty="0"/>
              <a:t>、关闭文件</a:t>
            </a:r>
            <a:r>
              <a:rPr lang="en-US" altLang="zh-CN" dirty="0"/>
              <a:t>(close)</a:t>
            </a:r>
            <a:r>
              <a:rPr kumimoji="1" lang="zh-CN" altLang="en-US" dirty="0"/>
              <a:t>。</a:t>
            </a:r>
            <a:endParaRPr kumimoji="1" lang="en-US" altLang="zh-CN" dirty="0"/>
          </a:p>
          <a:p>
            <a:pPr lvl="1">
              <a:lnSpc>
                <a:spcPct val="110000"/>
              </a:lnSpc>
              <a:buFont typeface="Wingdings" panose="05000000000000000000" pitchFamily="2" charset="2"/>
              <a:buChar char="ü"/>
            </a:pPr>
            <a:r>
              <a:rPr kumimoji="1" lang="zh-CN" altLang="en-US" dirty="0"/>
              <a:t>文件的读和写</a:t>
            </a:r>
            <a:endParaRPr kumimoji="1" lang="en-US" altLang="zh-CN" dirty="0"/>
          </a:p>
          <a:p>
            <a:pPr marL="914400" lvl="2" indent="0" algn="just">
              <a:lnSpc>
                <a:spcPct val="110000"/>
              </a:lnSpc>
              <a:buNone/>
            </a:pPr>
            <a:r>
              <a:rPr kumimoji="1" lang="zh-CN" altLang="en-US" dirty="0"/>
              <a:t>读和写文件的系统调用是</a:t>
            </a:r>
            <a:r>
              <a:rPr kumimoji="1" lang="en-US" altLang="zh-CN" dirty="0"/>
              <a:t>read</a:t>
            </a:r>
            <a:r>
              <a:rPr kumimoji="1" lang="zh-CN" altLang="en-US" dirty="0"/>
              <a:t>和</a:t>
            </a:r>
            <a:r>
              <a:rPr kumimoji="1" lang="en-US" altLang="zh-CN" dirty="0"/>
              <a:t>write</a:t>
            </a:r>
            <a:r>
              <a:rPr kumimoji="1" lang="zh-CN" altLang="en-US" dirty="0"/>
              <a:t>。仅当用户利用</a:t>
            </a:r>
            <a:r>
              <a:rPr kumimoji="1" lang="en-US" altLang="zh-CN" dirty="0"/>
              <a:t>open</a:t>
            </a:r>
            <a:r>
              <a:rPr kumimoji="1" lang="zh-CN" altLang="en-US" dirty="0"/>
              <a:t>打开指定文件后，方可调用</a:t>
            </a:r>
            <a:r>
              <a:rPr kumimoji="1" lang="en-US" altLang="zh-CN" dirty="0"/>
              <a:t>read</a:t>
            </a:r>
            <a:r>
              <a:rPr kumimoji="1" lang="zh-CN" altLang="en-US" dirty="0"/>
              <a:t>或</a:t>
            </a:r>
            <a:r>
              <a:rPr kumimoji="1" lang="en-US" altLang="zh-CN" dirty="0"/>
              <a:t>write</a:t>
            </a:r>
            <a:r>
              <a:rPr kumimoji="1" lang="zh-CN" altLang="en-US" dirty="0"/>
              <a:t>对文件执行读或写操作。两个系统调用都要求用户提供三个输入参数：①文件描述符</a:t>
            </a:r>
            <a:r>
              <a:rPr kumimoji="1" lang="en-US" altLang="zh-CN" dirty="0"/>
              <a:t>fd</a:t>
            </a:r>
            <a:r>
              <a:rPr kumimoji="1" lang="zh-CN" altLang="en-US" dirty="0"/>
              <a:t>。②</a:t>
            </a:r>
            <a:r>
              <a:rPr kumimoji="1" lang="en-US" altLang="zh-CN" dirty="0"/>
              <a:t>buf</a:t>
            </a:r>
            <a:r>
              <a:rPr kumimoji="1" lang="zh-CN" altLang="en-US" dirty="0"/>
              <a:t>缓冲区首址。对读而言，这是用户所要求的信息传送的目标地址；对写而言，则是信息传送的源地址。③用户要求传送的字节数</a:t>
            </a:r>
            <a:r>
              <a:rPr kumimoji="1" lang="en-US" altLang="zh-CN" dirty="0"/>
              <a:t>nbyte</a:t>
            </a:r>
            <a:r>
              <a:rPr kumimoji="1" lang="zh-CN" altLang="en-US" dirty="0"/>
              <a:t>。</a:t>
            </a:r>
            <a:endParaRPr kumimoji="1" lang="en-US" altLang="zh-CN" dirty="0"/>
          </a:p>
          <a:p>
            <a:pPr lvl="1">
              <a:lnSpc>
                <a:spcPct val="110000"/>
              </a:lnSpc>
              <a:buFont typeface="Wingdings" panose="05000000000000000000" pitchFamily="2" charset="2"/>
              <a:buChar char="ü"/>
            </a:pPr>
            <a:r>
              <a:rPr kumimoji="1" lang="zh-CN" altLang="en-US" dirty="0"/>
              <a:t>建立与文件的连接和去连接</a:t>
            </a:r>
            <a:endParaRPr kumimoji="1" lang="en-US" altLang="zh-CN" dirty="0"/>
          </a:p>
          <a:p>
            <a:pPr marL="914400" lvl="2" indent="0">
              <a:lnSpc>
                <a:spcPct val="110000"/>
              </a:lnSpc>
              <a:buNone/>
            </a:pPr>
            <a:r>
              <a:rPr lang="zh-CN" altLang="en-US" dirty="0"/>
              <a:t>连接</a:t>
            </a:r>
            <a:r>
              <a:rPr lang="en-US" altLang="zh-CN" dirty="0"/>
              <a:t>(</a:t>
            </a:r>
            <a:r>
              <a:rPr lang="en-US" altLang="zh-CN" b="1" dirty="0">
                <a:solidFill>
                  <a:srgbClr val="FF0000"/>
                </a:solidFill>
              </a:rPr>
              <a:t>link</a:t>
            </a:r>
            <a:r>
              <a:rPr lang="en-US" altLang="zh-CN" dirty="0"/>
              <a:t>)</a:t>
            </a:r>
            <a:r>
              <a:rPr kumimoji="1" lang="zh-CN" altLang="en-US" dirty="0"/>
              <a:t>、</a:t>
            </a:r>
            <a:r>
              <a:rPr lang="zh-CN" altLang="en-US" dirty="0"/>
              <a:t>去连接</a:t>
            </a:r>
            <a:r>
              <a:rPr lang="en-US" altLang="zh-CN" dirty="0"/>
              <a:t>(</a:t>
            </a:r>
            <a:r>
              <a:rPr lang="en-US" altLang="zh-CN" b="1" dirty="0">
                <a:solidFill>
                  <a:srgbClr val="FF0000"/>
                </a:solidFill>
              </a:rPr>
              <a:t>unlink</a:t>
            </a:r>
            <a:r>
              <a:rPr lang="en-US" altLang="zh-CN" dirty="0"/>
              <a:t>)</a:t>
            </a:r>
            <a:endParaRPr kumimoji="1" lang="en-US" altLang="zh-CN" dirty="0"/>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6" name="文本框 5">
            <a:extLst>
              <a:ext uri="{FF2B5EF4-FFF2-40B4-BE49-F238E27FC236}">
                <a16:creationId xmlns:a16="http://schemas.microsoft.com/office/drawing/2014/main" id="{6C0BE635-C702-46A4-9502-A644A669E931}"/>
              </a:ext>
            </a:extLst>
          </p:cNvPr>
          <p:cNvSpPr txBox="1"/>
          <p:nvPr/>
        </p:nvSpPr>
        <p:spPr>
          <a:xfrm>
            <a:off x="5811520" y="1507632"/>
            <a:ext cx="5374640" cy="1015663"/>
          </a:xfrm>
          <a:prstGeom prst="rect">
            <a:avLst/>
          </a:prstGeom>
          <a:noFill/>
          <a:ln w="19050">
            <a:solidFill>
              <a:schemeClr val="tx1"/>
            </a:solidFill>
            <a:prstDash val="dash"/>
          </a:ln>
        </p:spPr>
        <p:txBody>
          <a:bodyPr wrap="square">
            <a:spAutoFit/>
          </a:bodyPr>
          <a:lstStyle/>
          <a:p>
            <a:pPr algn="just"/>
            <a:r>
              <a:rPr lang="zh-CN" altLang="en-US" sz="2000" b="1" dirty="0">
                <a:solidFill>
                  <a:srgbClr val="FF0000"/>
                </a:solidFill>
                <a:latin typeface="Times New Roman" panose="02020603050405020304" pitchFamily="18" charset="0"/>
                <a:cs typeface="Times New Roman" panose="02020603050405020304" pitchFamily="18" charset="0"/>
              </a:rPr>
              <a:t>对文件进行操纵的系统调用是数量最多的一类系统调用，其中包括创建文件、 打开文件、关闭文件、读文件及写文件等</a:t>
            </a:r>
          </a:p>
        </p:txBody>
      </p:sp>
    </p:spTree>
    <p:extLst>
      <p:ext uri="{BB962C8B-B14F-4D97-AF65-F5344CB8AC3E}">
        <p14:creationId xmlns:p14="http://schemas.microsoft.com/office/powerpoint/2010/main" val="6645783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normAutofit/>
          </a:bodyPr>
          <a:lstStyle/>
          <a:p>
            <a:r>
              <a:rPr kumimoji="1" lang="en-US" altLang="zh-CN" dirty="0"/>
              <a:t>UNIX</a:t>
            </a:r>
            <a:r>
              <a:rPr kumimoji="1" lang="zh-CN" altLang="en-US" dirty="0"/>
              <a:t>系统调用</a:t>
            </a:r>
          </a:p>
        </p:txBody>
      </p:sp>
      <p:sp>
        <p:nvSpPr>
          <p:cNvPr id="3" name="内容占位符 2">
            <a:extLst>
              <a:ext uri="{FF2B5EF4-FFF2-40B4-BE49-F238E27FC236}">
                <a16:creationId xmlns:a16="http://schemas.microsoft.com/office/drawing/2014/main" id="{A3BB8FC7-88A8-0B4D-B7E9-5A9282A67521}"/>
              </a:ext>
            </a:extLst>
          </p:cNvPr>
          <p:cNvSpPr>
            <a:spLocks noGrp="1"/>
          </p:cNvSpPr>
          <p:nvPr>
            <p:ph idx="1"/>
          </p:nvPr>
        </p:nvSpPr>
        <p:spPr>
          <a:xfrm>
            <a:off x="838200" y="1510757"/>
            <a:ext cx="10515600" cy="5347243"/>
          </a:xfrm>
        </p:spPr>
        <p:txBody>
          <a:bodyPr>
            <a:normAutofit/>
          </a:bodyPr>
          <a:lstStyle/>
          <a:p>
            <a:pPr>
              <a:lnSpc>
                <a:spcPct val="110000"/>
              </a:lnSpc>
            </a:pPr>
            <a:r>
              <a:rPr kumimoji="1" lang="zh-CN" altLang="en-US" dirty="0"/>
              <a:t>进程通信和信息保护</a:t>
            </a:r>
            <a:endParaRPr kumimoji="1" lang="en-US" altLang="zh-CN" dirty="0">
              <a:solidFill>
                <a:srgbClr val="C00000"/>
              </a:solidFill>
            </a:endParaRPr>
          </a:p>
          <a:p>
            <a:pPr lvl="1">
              <a:lnSpc>
                <a:spcPct val="110000"/>
              </a:lnSpc>
              <a:buFont typeface="Wingdings" panose="05000000000000000000" pitchFamily="2" charset="2"/>
              <a:buChar char="ü"/>
            </a:pPr>
            <a:r>
              <a:rPr kumimoji="1" lang="zh-CN" altLang="en-US" dirty="0"/>
              <a:t>进程通信</a:t>
            </a:r>
            <a:endParaRPr kumimoji="1" lang="en-US" altLang="zh-CN" dirty="0"/>
          </a:p>
          <a:p>
            <a:pPr marL="914400" lvl="2" indent="0" algn="just">
              <a:lnSpc>
                <a:spcPct val="110000"/>
              </a:lnSpc>
              <a:buNone/>
            </a:pPr>
            <a:r>
              <a:rPr lang="zh-CN" altLang="en-US" dirty="0"/>
              <a:t>消息机制</a:t>
            </a:r>
            <a:r>
              <a:rPr kumimoji="1" lang="zh-CN" altLang="en-US" dirty="0"/>
              <a:t>、</a:t>
            </a:r>
            <a:r>
              <a:rPr lang="zh-CN" altLang="en-US" dirty="0"/>
              <a:t>共享存储器机制、信号量机制</a:t>
            </a:r>
            <a:r>
              <a:rPr kumimoji="1" lang="zh-CN" altLang="en-US" dirty="0"/>
              <a:t>。</a:t>
            </a:r>
            <a:endParaRPr kumimoji="1" lang="en-US" altLang="zh-CN" dirty="0"/>
          </a:p>
          <a:p>
            <a:pPr lvl="1">
              <a:lnSpc>
                <a:spcPct val="110000"/>
              </a:lnSpc>
              <a:buFont typeface="Wingdings" panose="05000000000000000000" pitchFamily="2" charset="2"/>
              <a:buChar char="ü"/>
            </a:pPr>
            <a:r>
              <a:rPr kumimoji="1" lang="zh-CN" altLang="en-US" dirty="0"/>
              <a:t>信息维护</a:t>
            </a:r>
            <a:endParaRPr kumimoji="1" lang="en-US" altLang="zh-CN" dirty="0"/>
          </a:p>
          <a:p>
            <a:pPr marL="914400" lvl="2" indent="0" algn="just">
              <a:lnSpc>
                <a:spcPct val="110000"/>
              </a:lnSpc>
              <a:buNone/>
            </a:pPr>
            <a:r>
              <a:rPr lang="zh-CN" altLang="en-US" dirty="0"/>
              <a:t>在</a:t>
            </a:r>
            <a:r>
              <a:rPr lang="en-US" altLang="zh-CN" dirty="0"/>
              <a:t>UNIX</a:t>
            </a:r>
            <a:r>
              <a:rPr lang="zh-CN" altLang="en-US" dirty="0"/>
              <a:t>系统中，设置了许多条用于系统维护的系统调用：设置和获得时间、获得进程和子进程时间</a:t>
            </a:r>
            <a:r>
              <a:rPr lang="en-US" altLang="zh-CN" dirty="0"/>
              <a:t>(times)</a:t>
            </a:r>
            <a:r>
              <a:rPr lang="zh-CN" altLang="en-US" dirty="0"/>
              <a:t>、设置文件访问和修改时间</a:t>
            </a:r>
            <a:r>
              <a:rPr lang="en-US" altLang="zh-CN" dirty="0"/>
              <a:t>(utime)</a:t>
            </a:r>
            <a:r>
              <a:rPr lang="zh-CN" altLang="en-US" dirty="0"/>
              <a:t>、获得当前</a:t>
            </a:r>
            <a:r>
              <a:rPr lang="en-US" altLang="zh-CN" dirty="0"/>
              <a:t>UNIX</a:t>
            </a:r>
            <a:r>
              <a:rPr lang="zh-CN" altLang="en-US" dirty="0"/>
              <a:t>系统的名称</a:t>
            </a:r>
            <a:r>
              <a:rPr lang="en-US" altLang="zh-CN" dirty="0"/>
              <a:t>(uname)</a:t>
            </a:r>
            <a:r>
              <a:rPr kumimoji="1" lang="zh-CN" altLang="en-US" dirty="0"/>
              <a:t>。</a:t>
            </a:r>
            <a:endParaRPr kumimoji="1" lang="en-US" altLang="zh-CN" dirty="0"/>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Tree>
    <p:extLst>
      <p:ext uri="{BB962C8B-B14F-4D97-AF65-F5344CB8AC3E}">
        <p14:creationId xmlns:p14="http://schemas.microsoft.com/office/powerpoint/2010/main" val="40775401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normAutofit/>
          </a:bodyPr>
          <a:lstStyle/>
          <a:p>
            <a:r>
              <a:rPr kumimoji="1" lang="zh-CN" altLang="en-US" dirty="0"/>
              <a:t>系统调用的实现</a:t>
            </a:r>
          </a:p>
        </p:txBody>
      </p:sp>
      <p:sp>
        <p:nvSpPr>
          <p:cNvPr id="3" name="内容占位符 2">
            <a:extLst>
              <a:ext uri="{FF2B5EF4-FFF2-40B4-BE49-F238E27FC236}">
                <a16:creationId xmlns:a16="http://schemas.microsoft.com/office/drawing/2014/main" id="{A3BB8FC7-88A8-0B4D-B7E9-5A9282A67521}"/>
              </a:ext>
            </a:extLst>
          </p:cNvPr>
          <p:cNvSpPr>
            <a:spLocks noGrp="1"/>
          </p:cNvSpPr>
          <p:nvPr>
            <p:ph idx="1"/>
          </p:nvPr>
        </p:nvSpPr>
        <p:spPr>
          <a:xfrm>
            <a:off x="838200" y="1510757"/>
            <a:ext cx="10515600" cy="5347243"/>
          </a:xfrm>
        </p:spPr>
        <p:txBody>
          <a:bodyPr>
            <a:normAutofit/>
          </a:bodyPr>
          <a:lstStyle/>
          <a:p>
            <a:pPr>
              <a:lnSpc>
                <a:spcPct val="110000"/>
              </a:lnSpc>
            </a:pPr>
            <a:r>
              <a:rPr kumimoji="1" lang="zh-CN" altLang="en-US" dirty="0"/>
              <a:t>系统调用的实现方法</a:t>
            </a:r>
            <a:endParaRPr kumimoji="1" lang="en-US" altLang="zh-CN" dirty="0">
              <a:solidFill>
                <a:srgbClr val="C00000"/>
              </a:solidFill>
            </a:endParaRPr>
          </a:p>
          <a:p>
            <a:pPr lvl="1">
              <a:lnSpc>
                <a:spcPct val="110000"/>
              </a:lnSpc>
              <a:buFont typeface="Wingdings" panose="05000000000000000000" pitchFamily="2" charset="2"/>
              <a:buChar char="ü"/>
            </a:pPr>
            <a:r>
              <a:rPr kumimoji="1" lang="zh-CN" altLang="en-US" dirty="0"/>
              <a:t>系统调用号和参数的设置</a:t>
            </a:r>
            <a:endParaRPr kumimoji="1" lang="en-US" altLang="zh-CN" dirty="0"/>
          </a:p>
          <a:p>
            <a:pPr marL="914400" lvl="2" indent="0" algn="just">
              <a:lnSpc>
                <a:spcPct val="110000"/>
              </a:lnSpc>
              <a:buNone/>
            </a:pPr>
            <a:r>
              <a:rPr lang="zh-CN" altLang="en-US" dirty="0"/>
              <a:t>在一个系统中设置许多条系统调用，并赋予每条系统调用一个唯一的系统调用号。在系统调用命令</a:t>
            </a:r>
            <a:r>
              <a:rPr lang="en-US" altLang="zh-CN" dirty="0"/>
              <a:t>(</a:t>
            </a:r>
            <a:r>
              <a:rPr lang="zh-CN" altLang="en-US" dirty="0"/>
              <a:t>陷入指令</a:t>
            </a:r>
            <a:r>
              <a:rPr lang="en-US" altLang="zh-CN" dirty="0"/>
              <a:t>)</a:t>
            </a:r>
            <a:r>
              <a:rPr lang="zh-CN" altLang="en-US" dirty="0"/>
              <a:t>中把相应的系统调用号传递给中断和陷入机制的方法有很多，在有的系统中，直接把系统调用号放在系统调用命令</a:t>
            </a:r>
            <a:r>
              <a:rPr lang="en-US" altLang="zh-CN" dirty="0"/>
              <a:t>(</a:t>
            </a:r>
            <a:r>
              <a:rPr lang="zh-CN" altLang="en-US" dirty="0"/>
              <a:t>陷入指令</a:t>
            </a:r>
            <a:r>
              <a:rPr lang="en-US" altLang="zh-CN" dirty="0"/>
              <a:t>)</a:t>
            </a:r>
            <a:r>
              <a:rPr lang="zh-CN" altLang="en-US" dirty="0"/>
              <a:t>中，如 </a:t>
            </a:r>
            <a:r>
              <a:rPr lang="en-US" altLang="zh-CN" dirty="0"/>
              <a:t>IBM 370</a:t>
            </a:r>
            <a:r>
              <a:rPr lang="zh-CN" altLang="en-US" dirty="0"/>
              <a:t>和早期的</a:t>
            </a:r>
            <a:r>
              <a:rPr lang="en-US" altLang="zh-CN" dirty="0"/>
              <a:t>UNIX</a:t>
            </a:r>
            <a:r>
              <a:rPr lang="zh-CN" altLang="en-US" dirty="0"/>
              <a:t>系统，是把系统调用命令的低</a:t>
            </a:r>
            <a:r>
              <a:rPr lang="en-US" altLang="zh-CN" dirty="0"/>
              <a:t>8</a:t>
            </a:r>
            <a:r>
              <a:rPr lang="zh-CN" altLang="en-US" dirty="0"/>
              <a:t>位用于存放系统调用号；在另一些系统中，则将系统调用号装入某指定寄存器或内存单元中，如</a:t>
            </a:r>
            <a:r>
              <a:rPr lang="en-US" altLang="zh-CN" dirty="0"/>
              <a:t>MS-DOS</a:t>
            </a:r>
            <a:r>
              <a:rPr lang="zh-CN" altLang="en-US" dirty="0"/>
              <a:t>是将系统调用号放在</a:t>
            </a:r>
            <a:r>
              <a:rPr lang="en-US" altLang="zh-CN" dirty="0"/>
              <a:t>AH</a:t>
            </a:r>
            <a:r>
              <a:rPr lang="zh-CN" altLang="en-US" dirty="0"/>
              <a:t>寄存器中，</a:t>
            </a:r>
            <a:r>
              <a:rPr lang="en-US" altLang="zh-CN" dirty="0"/>
              <a:t>Linux</a:t>
            </a:r>
            <a:r>
              <a:rPr lang="zh-CN" altLang="en-US" dirty="0"/>
              <a:t>则是利用</a:t>
            </a:r>
            <a:r>
              <a:rPr lang="en-US" altLang="zh-CN" dirty="0"/>
              <a:t>EAX</a:t>
            </a:r>
            <a:r>
              <a:rPr lang="zh-CN" altLang="en-US" dirty="0"/>
              <a:t>寄存器来存放应用程序传递的系统调用号</a:t>
            </a:r>
            <a:r>
              <a:rPr kumimoji="1" lang="zh-CN" altLang="en-US" dirty="0"/>
              <a:t>。</a:t>
            </a:r>
            <a:endParaRPr kumimoji="1" lang="en-US" altLang="zh-CN" dirty="0"/>
          </a:p>
          <a:p>
            <a:pPr marL="914400" lvl="2" indent="0" algn="just">
              <a:lnSpc>
                <a:spcPct val="110000"/>
              </a:lnSpc>
              <a:buNone/>
            </a:pPr>
            <a:r>
              <a:rPr lang="zh-CN" altLang="en-US" dirty="0"/>
              <a:t>每条系统调用都含有若干个参数，在执行系统调用时，如何设置系统调用所需的参数，即如何将这些参数传递给陷入处理机构和系统内部的子程序</a:t>
            </a:r>
            <a:r>
              <a:rPr lang="en-US" altLang="zh-CN" dirty="0"/>
              <a:t>(</a:t>
            </a:r>
            <a:r>
              <a:rPr lang="zh-CN" altLang="en-US" dirty="0"/>
              <a:t>过程</a:t>
            </a:r>
            <a:r>
              <a:rPr lang="en-US" altLang="zh-CN" dirty="0"/>
              <a:t>)</a:t>
            </a:r>
            <a:r>
              <a:rPr lang="zh-CN" altLang="en-US" dirty="0"/>
              <a:t>，常用的实现方式有几种：陷入指令自带方式、直接将参数送入相应的寄存器中、参数表方式</a:t>
            </a:r>
            <a:r>
              <a:rPr kumimoji="1" lang="zh-CN" altLang="en-US" dirty="0"/>
              <a:t>。</a:t>
            </a:r>
            <a:endParaRPr kumimoji="1" lang="en-US" altLang="zh-CN" dirty="0"/>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5" name="文本框 4">
            <a:extLst>
              <a:ext uri="{FF2B5EF4-FFF2-40B4-BE49-F238E27FC236}">
                <a16:creationId xmlns:a16="http://schemas.microsoft.com/office/drawing/2014/main" id="{B1246570-9095-42DD-8408-3617AEC57E4D}"/>
              </a:ext>
            </a:extLst>
          </p:cNvPr>
          <p:cNvSpPr txBox="1"/>
          <p:nvPr/>
        </p:nvSpPr>
        <p:spPr>
          <a:xfrm>
            <a:off x="5943600" y="1244212"/>
            <a:ext cx="5222240" cy="1323439"/>
          </a:xfrm>
          <a:prstGeom prst="rect">
            <a:avLst/>
          </a:prstGeom>
          <a:noFill/>
          <a:ln w="19050">
            <a:solidFill>
              <a:schemeClr val="tx1"/>
            </a:solidFill>
            <a:prstDash val="dash"/>
          </a:ln>
        </p:spPr>
        <p:txBody>
          <a:bodyPr wrap="square">
            <a:spAutoFit/>
          </a:bodyPr>
          <a:lstStyle/>
          <a:p>
            <a:pPr algn="just"/>
            <a:r>
              <a:rPr lang="zh-CN" altLang="en-US" sz="2000" b="1" dirty="0">
                <a:solidFill>
                  <a:srgbClr val="FF0000"/>
                </a:solidFill>
                <a:latin typeface="Times New Roman" panose="02020603050405020304" pitchFamily="18" charset="0"/>
                <a:cs typeface="Times New Roman" panose="02020603050405020304" pitchFamily="18" charset="0"/>
              </a:rPr>
              <a:t>系统调用实现与一般过程调用实现相比，两者间有很大差异。对于系统调用，控制是由原来的用户态转换为系统态，这是借助于陷入机制来完成的</a:t>
            </a:r>
          </a:p>
        </p:txBody>
      </p:sp>
    </p:spTree>
    <p:extLst>
      <p:ext uri="{BB962C8B-B14F-4D97-AF65-F5344CB8AC3E}">
        <p14:creationId xmlns:p14="http://schemas.microsoft.com/office/powerpoint/2010/main" val="10794023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normAutofit/>
          </a:bodyPr>
          <a:lstStyle/>
          <a:p>
            <a:r>
              <a:rPr kumimoji="1" lang="zh-CN" altLang="en-US" dirty="0"/>
              <a:t>系统调用的实现</a:t>
            </a:r>
          </a:p>
        </p:txBody>
      </p:sp>
      <p:sp>
        <p:nvSpPr>
          <p:cNvPr id="3" name="内容占位符 2">
            <a:extLst>
              <a:ext uri="{FF2B5EF4-FFF2-40B4-BE49-F238E27FC236}">
                <a16:creationId xmlns:a16="http://schemas.microsoft.com/office/drawing/2014/main" id="{A3BB8FC7-88A8-0B4D-B7E9-5A9282A67521}"/>
              </a:ext>
            </a:extLst>
          </p:cNvPr>
          <p:cNvSpPr>
            <a:spLocks noGrp="1"/>
          </p:cNvSpPr>
          <p:nvPr>
            <p:ph idx="1"/>
          </p:nvPr>
        </p:nvSpPr>
        <p:spPr>
          <a:xfrm>
            <a:off x="838200" y="1510757"/>
            <a:ext cx="10515600" cy="5347243"/>
          </a:xfrm>
        </p:spPr>
        <p:txBody>
          <a:bodyPr>
            <a:normAutofit/>
          </a:bodyPr>
          <a:lstStyle/>
          <a:p>
            <a:pPr>
              <a:lnSpc>
                <a:spcPct val="110000"/>
              </a:lnSpc>
            </a:pPr>
            <a:r>
              <a:rPr kumimoji="1" lang="zh-CN" altLang="en-US" dirty="0"/>
              <a:t>系统调用的实现方法</a:t>
            </a:r>
            <a:endParaRPr kumimoji="1" lang="en-US" altLang="zh-CN" dirty="0">
              <a:solidFill>
                <a:srgbClr val="C00000"/>
              </a:solidFill>
            </a:endParaRPr>
          </a:p>
          <a:p>
            <a:pPr lvl="1">
              <a:lnSpc>
                <a:spcPct val="110000"/>
              </a:lnSpc>
              <a:buFont typeface="Wingdings" panose="05000000000000000000" pitchFamily="2" charset="2"/>
              <a:buChar char="ü"/>
            </a:pPr>
            <a:r>
              <a:rPr kumimoji="1" lang="zh-CN" altLang="en-US" dirty="0"/>
              <a:t>系统调用的处理步骤</a:t>
            </a:r>
            <a:endParaRPr kumimoji="1" lang="en-US" altLang="zh-CN" dirty="0"/>
          </a:p>
          <a:p>
            <a:pPr marL="914400" lvl="2" indent="0" algn="just">
              <a:lnSpc>
                <a:spcPct val="110000"/>
              </a:lnSpc>
              <a:buNone/>
            </a:pPr>
            <a:r>
              <a:rPr kumimoji="1" lang="zh-CN" altLang="en-US" dirty="0"/>
              <a:t>在设置了系统调用号和参数后，便可执行一条系统调用命令。不同的系统可采用不同的执行方式。在</a:t>
            </a:r>
            <a:r>
              <a:rPr kumimoji="1" lang="en-US" altLang="zh-CN" dirty="0"/>
              <a:t>UNIX</a:t>
            </a:r>
            <a:r>
              <a:rPr kumimoji="1" lang="zh-CN" altLang="en-US" dirty="0"/>
              <a:t>系统中，是执行</a:t>
            </a:r>
            <a:r>
              <a:rPr kumimoji="1" lang="en-US" altLang="zh-CN" dirty="0"/>
              <a:t>CHMK</a:t>
            </a:r>
            <a:r>
              <a:rPr kumimoji="1" lang="zh-CN" altLang="en-US" dirty="0"/>
              <a:t>命令；而在</a:t>
            </a:r>
            <a:r>
              <a:rPr kumimoji="1" lang="en-US" altLang="zh-CN" dirty="0"/>
              <a:t>MS-DOS</a:t>
            </a:r>
            <a:r>
              <a:rPr kumimoji="1" lang="zh-CN" altLang="en-US" dirty="0"/>
              <a:t>中则是执行</a:t>
            </a:r>
            <a:r>
              <a:rPr kumimoji="1" lang="en-US" altLang="zh-CN" dirty="0"/>
              <a:t>INT 21</a:t>
            </a:r>
            <a:r>
              <a:rPr kumimoji="1" lang="zh-CN" altLang="en-US" dirty="0"/>
              <a:t>软中断。</a:t>
            </a:r>
            <a:endParaRPr kumimoji="1" lang="en-US" altLang="zh-CN" dirty="0"/>
          </a:p>
          <a:p>
            <a:pPr lvl="1">
              <a:lnSpc>
                <a:spcPct val="110000"/>
              </a:lnSpc>
              <a:buFont typeface="Wingdings" panose="05000000000000000000" pitchFamily="2" charset="2"/>
              <a:buChar char="ü"/>
            </a:pPr>
            <a:r>
              <a:rPr kumimoji="1" lang="zh-CN" altLang="en-US" dirty="0"/>
              <a:t>系统调用处理子程序的处理过程</a:t>
            </a:r>
            <a:endParaRPr kumimoji="1" lang="en-US" altLang="zh-CN" dirty="0"/>
          </a:p>
          <a:p>
            <a:pPr marL="914400" lvl="2" indent="0" algn="just">
              <a:lnSpc>
                <a:spcPct val="110000"/>
              </a:lnSpc>
              <a:buNone/>
            </a:pPr>
            <a:r>
              <a:rPr lang="zh-CN" altLang="en-US" dirty="0"/>
              <a:t>系统调用的功能主要是由系统调用子程序来完成的。对于不同系统调用，其处理程序将执行不同的功能</a:t>
            </a:r>
            <a:r>
              <a:rPr kumimoji="1" lang="zh-CN" altLang="en-US" dirty="0"/>
              <a:t>。</a:t>
            </a:r>
            <a:endParaRPr kumimoji="1" lang="en-US" altLang="zh-CN" dirty="0"/>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Tree>
    <p:extLst>
      <p:ext uri="{BB962C8B-B14F-4D97-AF65-F5344CB8AC3E}">
        <p14:creationId xmlns:p14="http://schemas.microsoft.com/office/powerpoint/2010/main" val="1448139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normAutofit/>
          </a:bodyPr>
          <a:lstStyle/>
          <a:p>
            <a:r>
              <a:rPr kumimoji="1" lang="zh-CN" altLang="en-US" dirty="0"/>
              <a:t>系统调用的实现</a:t>
            </a:r>
          </a:p>
        </p:txBody>
      </p:sp>
      <p:sp>
        <p:nvSpPr>
          <p:cNvPr id="3" name="内容占位符 2">
            <a:extLst>
              <a:ext uri="{FF2B5EF4-FFF2-40B4-BE49-F238E27FC236}">
                <a16:creationId xmlns:a16="http://schemas.microsoft.com/office/drawing/2014/main" id="{A3BB8FC7-88A8-0B4D-B7E9-5A9282A67521}"/>
              </a:ext>
            </a:extLst>
          </p:cNvPr>
          <p:cNvSpPr>
            <a:spLocks noGrp="1"/>
          </p:cNvSpPr>
          <p:nvPr>
            <p:ph idx="1"/>
          </p:nvPr>
        </p:nvSpPr>
        <p:spPr>
          <a:xfrm>
            <a:off x="838200" y="1510757"/>
            <a:ext cx="10515600" cy="5347243"/>
          </a:xfrm>
        </p:spPr>
        <p:txBody>
          <a:bodyPr>
            <a:normAutofit/>
          </a:bodyPr>
          <a:lstStyle/>
          <a:p>
            <a:pPr>
              <a:lnSpc>
                <a:spcPct val="110000"/>
              </a:lnSpc>
            </a:pPr>
            <a:r>
              <a:rPr kumimoji="1" lang="en-US" altLang="zh-CN" dirty="0"/>
              <a:t>UNIX</a:t>
            </a:r>
            <a:r>
              <a:rPr kumimoji="1" lang="zh-CN" altLang="en-US" dirty="0"/>
              <a:t>系统调用的实现</a:t>
            </a:r>
            <a:endParaRPr kumimoji="1" lang="en-US" altLang="zh-CN" dirty="0">
              <a:solidFill>
                <a:srgbClr val="C00000"/>
              </a:solidFill>
            </a:endParaRPr>
          </a:p>
          <a:p>
            <a:pPr lvl="1">
              <a:lnSpc>
                <a:spcPct val="110000"/>
              </a:lnSpc>
              <a:buFont typeface="Wingdings" panose="05000000000000000000" pitchFamily="2" charset="2"/>
              <a:buChar char="ü"/>
            </a:pPr>
            <a:r>
              <a:rPr kumimoji="1" lang="en-US" altLang="zh-CN" dirty="0"/>
              <a:t>CPU</a:t>
            </a:r>
            <a:r>
              <a:rPr kumimoji="1" lang="zh-CN" altLang="en-US" dirty="0"/>
              <a:t>环境保护</a:t>
            </a:r>
            <a:endParaRPr kumimoji="1" lang="en-US" altLang="zh-CN" dirty="0"/>
          </a:p>
          <a:p>
            <a:pPr marL="914400" lvl="2" indent="0" algn="just">
              <a:lnSpc>
                <a:spcPct val="110000"/>
              </a:lnSpc>
              <a:buNone/>
            </a:pPr>
            <a:r>
              <a:rPr kumimoji="1" lang="zh-CN" altLang="en-US" dirty="0"/>
              <a:t>当用户程序处在用户态，且在执行系统调用命令</a:t>
            </a:r>
            <a:r>
              <a:rPr kumimoji="1" lang="en-US" altLang="zh-CN" dirty="0"/>
              <a:t>(</a:t>
            </a:r>
            <a:r>
              <a:rPr kumimoji="1" lang="zh-CN" altLang="en-US" dirty="0"/>
              <a:t>即</a:t>
            </a:r>
            <a:r>
              <a:rPr kumimoji="1" lang="en-US" altLang="zh-CN" dirty="0"/>
              <a:t>CHMK</a:t>
            </a:r>
            <a:r>
              <a:rPr kumimoji="1" lang="zh-CN" altLang="en-US" dirty="0"/>
              <a:t>命令</a:t>
            </a:r>
            <a:r>
              <a:rPr kumimoji="1" lang="en-US" altLang="zh-CN" dirty="0"/>
              <a:t>)</a:t>
            </a:r>
            <a:r>
              <a:rPr kumimoji="1" lang="zh-CN" altLang="en-US" dirty="0"/>
              <a:t>之前，应在用户空间提供系统调用所需的参数表，并将该参数表的地址送入</a:t>
            </a:r>
            <a:r>
              <a:rPr kumimoji="1" lang="en-US" altLang="zh-CN" dirty="0"/>
              <a:t>R0</a:t>
            </a:r>
            <a:r>
              <a:rPr kumimoji="1" lang="zh-CN" altLang="en-US" dirty="0"/>
              <a:t>寄存器。在执行</a:t>
            </a:r>
            <a:r>
              <a:rPr kumimoji="1" lang="en-US" altLang="zh-CN" dirty="0"/>
              <a:t>CHMK</a:t>
            </a:r>
            <a:r>
              <a:rPr kumimoji="1" lang="zh-CN" altLang="en-US" dirty="0"/>
              <a:t>命令后，处理机将由用户态转为核心态，并由硬件自动地将处理机状态长字</a:t>
            </a:r>
            <a:r>
              <a:rPr kumimoji="1" lang="en-US" altLang="zh-CN" dirty="0"/>
              <a:t>(PSL)</a:t>
            </a:r>
            <a:r>
              <a:rPr kumimoji="1" lang="zh-CN" altLang="en-US" dirty="0"/>
              <a:t>、程序计数器</a:t>
            </a:r>
            <a:r>
              <a:rPr kumimoji="1" lang="en-US" altLang="zh-CN" dirty="0"/>
              <a:t>(PC)</a:t>
            </a:r>
            <a:r>
              <a:rPr kumimoji="1" lang="zh-CN" altLang="en-US" dirty="0"/>
              <a:t>和代码操作数</a:t>
            </a:r>
            <a:r>
              <a:rPr kumimoji="1" lang="en-US" altLang="zh-CN" dirty="0"/>
              <a:t>(code)</a:t>
            </a:r>
            <a:r>
              <a:rPr kumimoji="1" lang="zh-CN" altLang="en-US" dirty="0"/>
              <a:t>压入用户核心栈，继而从中断和陷入向量表中取出</a:t>
            </a:r>
            <a:r>
              <a:rPr kumimoji="1" lang="en-US" altLang="zh-CN" dirty="0" err="1"/>
              <a:t>trap.S</a:t>
            </a:r>
            <a:r>
              <a:rPr kumimoji="1" lang="zh-CN" altLang="en-US" dirty="0"/>
              <a:t>的入口地址，然后便转入中断和陷入总控程序</a:t>
            </a:r>
            <a:r>
              <a:rPr kumimoji="1" lang="en-US" altLang="zh-CN" dirty="0" err="1"/>
              <a:t>trap.S</a:t>
            </a:r>
            <a:r>
              <a:rPr kumimoji="1" lang="zh-CN" altLang="en-US" dirty="0"/>
              <a:t>中执行。</a:t>
            </a:r>
            <a:endParaRPr kumimoji="1" lang="en-US" altLang="zh-CN" dirty="0"/>
          </a:p>
          <a:p>
            <a:pPr lvl="1">
              <a:lnSpc>
                <a:spcPct val="110000"/>
              </a:lnSpc>
              <a:buFont typeface="Wingdings" panose="05000000000000000000" pitchFamily="2" charset="2"/>
              <a:buChar char="ü"/>
            </a:pPr>
            <a:r>
              <a:rPr kumimoji="1" lang="en-US" altLang="zh-CN" dirty="0"/>
              <a:t>AP</a:t>
            </a:r>
            <a:r>
              <a:rPr kumimoji="1" lang="zh-CN" altLang="en-US" dirty="0"/>
              <a:t>和</a:t>
            </a:r>
            <a:r>
              <a:rPr kumimoji="1" lang="en-US" altLang="zh-CN" dirty="0"/>
              <a:t>FP</a:t>
            </a:r>
            <a:r>
              <a:rPr kumimoji="1" lang="zh-CN" altLang="en-US" dirty="0"/>
              <a:t>指针</a:t>
            </a:r>
            <a:endParaRPr kumimoji="1" lang="en-US" altLang="zh-CN" dirty="0"/>
          </a:p>
          <a:p>
            <a:pPr marL="914400" lvl="2" indent="0" algn="just">
              <a:lnSpc>
                <a:spcPct val="110000"/>
              </a:lnSpc>
              <a:buNone/>
            </a:pPr>
            <a:r>
              <a:rPr lang="zh-CN" altLang="en-US" dirty="0"/>
              <a:t>为实现系统调用的嵌套使用，在系统中还设置了两个指针，其一是系统调用参数表指针</a:t>
            </a:r>
            <a:r>
              <a:rPr lang="en-US" altLang="zh-CN" dirty="0"/>
              <a:t>AP</a:t>
            </a:r>
            <a:r>
              <a:rPr lang="zh-CN" altLang="en-US" dirty="0"/>
              <a:t>，用于指示正在执行的系统调用所需参数表的地址，通常是把该地址放在某个寄存器中，例如放在</a:t>
            </a:r>
            <a:r>
              <a:rPr lang="en-US" altLang="zh-CN" dirty="0"/>
              <a:t>R12</a:t>
            </a:r>
            <a:r>
              <a:rPr lang="zh-CN" altLang="en-US" dirty="0"/>
              <a:t>中；再者，还须设置一个调用栈帧指针。所谓调用栈帧</a:t>
            </a:r>
            <a:r>
              <a:rPr lang="en-US" altLang="zh-CN" dirty="0"/>
              <a:t>(</a:t>
            </a:r>
            <a:r>
              <a:rPr lang="zh-CN" altLang="en-US" dirty="0"/>
              <a:t>或简称栈帧</a:t>
            </a:r>
            <a:r>
              <a:rPr lang="en-US" altLang="zh-CN" dirty="0"/>
              <a:t>)</a:t>
            </a:r>
            <a:r>
              <a:rPr lang="zh-CN" altLang="en-US" dirty="0"/>
              <a:t>，是指每个系统调用需要保存而被压入用户核心栈的所有数据项；而栈帧指针</a:t>
            </a:r>
            <a:r>
              <a:rPr lang="en-US" altLang="zh-CN" dirty="0"/>
              <a:t>FP</a:t>
            </a:r>
            <a:r>
              <a:rPr lang="zh-CN" altLang="en-US" dirty="0"/>
              <a:t>则是用于指示本次系统调用所保存的数据项</a:t>
            </a:r>
            <a:r>
              <a:rPr kumimoji="1" lang="zh-CN" altLang="en-US" dirty="0"/>
              <a:t>。</a:t>
            </a:r>
            <a:endParaRPr kumimoji="1" lang="en-US" altLang="zh-CN" dirty="0"/>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Tree>
    <p:extLst>
      <p:ext uri="{BB962C8B-B14F-4D97-AF65-F5344CB8AC3E}">
        <p14:creationId xmlns:p14="http://schemas.microsoft.com/office/powerpoint/2010/main" val="33600993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normAutofit/>
          </a:bodyPr>
          <a:lstStyle/>
          <a:p>
            <a:r>
              <a:rPr kumimoji="1" lang="zh-CN" altLang="en-US" dirty="0"/>
              <a:t>系统调用的实现</a:t>
            </a:r>
          </a:p>
        </p:txBody>
      </p:sp>
      <p:sp>
        <p:nvSpPr>
          <p:cNvPr id="3" name="内容占位符 2">
            <a:extLst>
              <a:ext uri="{FF2B5EF4-FFF2-40B4-BE49-F238E27FC236}">
                <a16:creationId xmlns:a16="http://schemas.microsoft.com/office/drawing/2014/main" id="{A3BB8FC7-88A8-0B4D-B7E9-5A9282A67521}"/>
              </a:ext>
            </a:extLst>
          </p:cNvPr>
          <p:cNvSpPr>
            <a:spLocks noGrp="1"/>
          </p:cNvSpPr>
          <p:nvPr>
            <p:ph idx="1"/>
          </p:nvPr>
        </p:nvSpPr>
        <p:spPr>
          <a:xfrm>
            <a:off x="838200" y="1510757"/>
            <a:ext cx="10515600" cy="5347243"/>
          </a:xfrm>
        </p:spPr>
        <p:txBody>
          <a:bodyPr>
            <a:normAutofit/>
          </a:bodyPr>
          <a:lstStyle/>
          <a:p>
            <a:pPr>
              <a:lnSpc>
                <a:spcPct val="110000"/>
              </a:lnSpc>
            </a:pPr>
            <a:r>
              <a:rPr kumimoji="1" lang="en-US" altLang="zh-CN" dirty="0"/>
              <a:t>UNIX</a:t>
            </a:r>
            <a:r>
              <a:rPr kumimoji="1" lang="zh-CN" altLang="en-US" dirty="0"/>
              <a:t>系统调用的实现</a:t>
            </a:r>
            <a:endParaRPr kumimoji="1" lang="en-US" altLang="zh-CN" dirty="0">
              <a:solidFill>
                <a:srgbClr val="C00000"/>
              </a:solidFill>
            </a:endParaRPr>
          </a:p>
          <a:p>
            <a:pPr lvl="1">
              <a:lnSpc>
                <a:spcPct val="110000"/>
              </a:lnSpc>
              <a:buFont typeface="Wingdings" panose="05000000000000000000" pitchFamily="2" charset="2"/>
              <a:buChar char="ü"/>
            </a:pPr>
            <a:r>
              <a:rPr kumimoji="1" lang="zh-CN" altLang="en-US" dirty="0"/>
              <a:t>确定系统调用号</a:t>
            </a:r>
            <a:endParaRPr kumimoji="1" lang="en-US" altLang="zh-CN" dirty="0"/>
          </a:p>
          <a:p>
            <a:pPr marL="914400" lvl="2" indent="0" algn="just">
              <a:lnSpc>
                <a:spcPct val="110000"/>
              </a:lnSpc>
              <a:buNone/>
            </a:pPr>
            <a:r>
              <a:rPr kumimoji="1" lang="zh-CN" altLang="en-US" dirty="0"/>
              <a:t>在中断和陷入发生后，应先经硬件陷入机构予以处理，再进入中断和陷入总控程序</a:t>
            </a:r>
            <a:r>
              <a:rPr kumimoji="1" lang="en-US" altLang="zh-CN" dirty="0"/>
              <a:t>trap.S</a:t>
            </a:r>
            <a:r>
              <a:rPr kumimoji="1" lang="zh-CN" altLang="en-US" dirty="0"/>
              <a:t>，在保护好</a:t>
            </a:r>
            <a:r>
              <a:rPr kumimoji="1" lang="en-US" altLang="zh-CN" dirty="0"/>
              <a:t>CPU</a:t>
            </a:r>
            <a:r>
              <a:rPr kumimoji="1" lang="zh-CN" altLang="en-US" dirty="0"/>
              <a:t>现场后再调用</a:t>
            </a:r>
            <a:r>
              <a:rPr kumimoji="1" lang="en-US" altLang="zh-CN" dirty="0" err="1"/>
              <a:t>trap.C</a:t>
            </a:r>
            <a:r>
              <a:rPr kumimoji="1" lang="zh-CN" altLang="en-US" dirty="0"/>
              <a:t>继续处理。</a:t>
            </a:r>
            <a:endParaRPr kumimoji="1" lang="en-US" altLang="zh-CN" dirty="0"/>
          </a:p>
          <a:p>
            <a:pPr lvl="1">
              <a:lnSpc>
                <a:spcPct val="110000"/>
              </a:lnSpc>
              <a:buFont typeface="Wingdings" panose="05000000000000000000" pitchFamily="2" charset="2"/>
              <a:buChar char="ü"/>
            </a:pPr>
            <a:r>
              <a:rPr kumimoji="1" lang="zh-CN" altLang="en-US" dirty="0"/>
              <a:t>参数传送</a:t>
            </a:r>
            <a:endParaRPr kumimoji="1" lang="en-US" altLang="zh-CN" dirty="0"/>
          </a:p>
          <a:p>
            <a:pPr marL="914400" lvl="2" indent="0" algn="just">
              <a:lnSpc>
                <a:spcPct val="110000"/>
              </a:lnSpc>
              <a:buNone/>
            </a:pPr>
            <a:r>
              <a:rPr lang="zh-CN" altLang="en-US" dirty="0"/>
              <a:t>参数传送是指由</a:t>
            </a:r>
            <a:r>
              <a:rPr lang="en-US" altLang="zh-CN" dirty="0" err="1"/>
              <a:t>trap.C</a:t>
            </a:r>
            <a:r>
              <a:rPr lang="zh-CN" altLang="en-US" dirty="0"/>
              <a:t>程序将系统调用参数表中的内容从用户区传送到</a:t>
            </a:r>
            <a:r>
              <a:rPr lang="en-US" altLang="zh-CN" dirty="0"/>
              <a:t>User</a:t>
            </a:r>
            <a:r>
              <a:rPr lang="zh-CN" altLang="en-US" dirty="0"/>
              <a:t>结构的</a:t>
            </a:r>
            <a:r>
              <a:rPr lang="en-US" altLang="zh-CN" dirty="0"/>
              <a:t>U.U-</a:t>
            </a:r>
            <a:r>
              <a:rPr lang="en-US" altLang="zh-CN" dirty="0" err="1"/>
              <a:t>arg</a:t>
            </a:r>
            <a:r>
              <a:rPr lang="zh-CN" altLang="en-US" dirty="0"/>
              <a:t>中，供系统调用处理程序使用</a:t>
            </a:r>
            <a:r>
              <a:rPr kumimoji="1" lang="zh-CN" altLang="en-US" dirty="0"/>
              <a:t>。</a:t>
            </a:r>
            <a:endParaRPr kumimoji="1" lang="en-US" altLang="zh-CN" dirty="0"/>
          </a:p>
          <a:p>
            <a:pPr lvl="1">
              <a:lnSpc>
                <a:spcPct val="110000"/>
              </a:lnSpc>
              <a:buFont typeface="Wingdings" panose="05000000000000000000" pitchFamily="2" charset="2"/>
              <a:buChar char="ü"/>
            </a:pPr>
            <a:r>
              <a:rPr kumimoji="1" lang="zh-CN" altLang="en-US" dirty="0"/>
              <a:t>利用系统调用定义表转入相应的处理程序</a:t>
            </a:r>
            <a:endParaRPr kumimoji="1" lang="en-US" altLang="zh-CN" dirty="0"/>
          </a:p>
          <a:p>
            <a:pPr marL="914400" lvl="2" indent="0" algn="just">
              <a:lnSpc>
                <a:spcPct val="110000"/>
              </a:lnSpc>
              <a:buNone/>
            </a:pPr>
            <a:r>
              <a:rPr kumimoji="1" lang="zh-CN" altLang="en-US" dirty="0"/>
              <a:t>在</a:t>
            </a:r>
            <a:r>
              <a:rPr kumimoji="1" lang="en-US" altLang="zh-CN" dirty="0"/>
              <a:t>UNIX</a:t>
            </a:r>
            <a:r>
              <a:rPr kumimoji="1" lang="zh-CN" altLang="en-US" dirty="0"/>
              <a:t>系统中，对于不同</a:t>
            </a:r>
            <a:r>
              <a:rPr kumimoji="1" lang="en-US" altLang="zh-CN" dirty="0"/>
              <a:t>(</a:t>
            </a:r>
            <a:r>
              <a:rPr kumimoji="1" lang="zh-CN" altLang="en-US" dirty="0"/>
              <a:t>编号</a:t>
            </a:r>
            <a:r>
              <a:rPr kumimoji="1" lang="en-US" altLang="zh-CN" dirty="0"/>
              <a:t>)</a:t>
            </a:r>
            <a:r>
              <a:rPr kumimoji="1" lang="zh-CN" altLang="en-US" dirty="0"/>
              <a:t>的系统调用，都设置了与之相应的处理子程序。为使不同的系统调用能方便地转入其相应的处理子程序，也将各处理子程序入口地址放入系统调用定义表中。</a:t>
            </a:r>
            <a:endParaRPr kumimoji="1" lang="en-US" altLang="zh-CN" dirty="0"/>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Tree>
    <p:extLst>
      <p:ext uri="{BB962C8B-B14F-4D97-AF65-F5344CB8AC3E}">
        <p14:creationId xmlns:p14="http://schemas.microsoft.com/office/powerpoint/2010/main" val="20045123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normAutofit/>
          </a:bodyPr>
          <a:lstStyle/>
          <a:p>
            <a:r>
              <a:rPr kumimoji="1" lang="zh-CN" altLang="en-US" dirty="0"/>
              <a:t>系统调用的实现</a:t>
            </a:r>
          </a:p>
        </p:txBody>
      </p:sp>
      <p:sp>
        <p:nvSpPr>
          <p:cNvPr id="3" name="内容占位符 2">
            <a:extLst>
              <a:ext uri="{FF2B5EF4-FFF2-40B4-BE49-F238E27FC236}">
                <a16:creationId xmlns:a16="http://schemas.microsoft.com/office/drawing/2014/main" id="{A3BB8FC7-88A8-0B4D-B7E9-5A9282A67521}"/>
              </a:ext>
            </a:extLst>
          </p:cNvPr>
          <p:cNvSpPr>
            <a:spLocks noGrp="1"/>
          </p:cNvSpPr>
          <p:nvPr>
            <p:ph idx="1"/>
          </p:nvPr>
        </p:nvSpPr>
        <p:spPr>
          <a:xfrm>
            <a:off x="838200" y="1510757"/>
            <a:ext cx="10515600" cy="5347243"/>
          </a:xfrm>
        </p:spPr>
        <p:txBody>
          <a:bodyPr>
            <a:normAutofit/>
          </a:bodyPr>
          <a:lstStyle/>
          <a:p>
            <a:pPr>
              <a:lnSpc>
                <a:spcPct val="110000"/>
              </a:lnSpc>
            </a:pPr>
            <a:r>
              <a:rPr kumimoji="1" lang="en-US" altLang="zh-CN" dirty="0"/>
              <a:t>UNIX</a:t>
            </a:r>
            <a:r>
              <a:rPr kumimoji="1" lang="zh-CN" altLang="en-US" dirty="0"/>
              <a:t>系统调用的实现</a:t>
            </a:r>
            <a:endParaRPr kumimoji="1" lang="en-US" altLang="zh-CN" dirty="0">
              <a:solidFill>
                <a:srgbClr val="C00000"/>
              </a:solidFill>
            </a:endParaRPr>
          </a:p>
          <a:p>
            <a:pPr lvl="1">
              <a:lnSpc>
                <a:spcPct val="110000"/>
              </a:lnSpc>
              <a:buFont typeface="Wingdings" panose="05000000000000000000" pitchFamily="2" charset="2"/>
              <a:buChar char="ü"/>
            </a:pPr>
            <a:r>
              <a:rPr kumimoji="1" lang="zh-CN" altLang="en-US" dirty="0"/>
              <a:t>系统调用返回前的公共处理</a:t>
            </a:r>
            <a:endParaRPr kumimoji="1" lang="en-US" altLang="zh-CN" dirty="0"/>
          </a:p>
          <a:p>
            <a:pPr marL="914400" lvl="2" indent="0" algn="just">
              <a:lnSpc>
                <a:spcPct val="110000"/>
              </a:lnSpc>
              <a:buNone/>
            </a:pPr>
            <a:r>
              <a:rPr kumimoji="1" lang="zh-CN" altLang="en-US" dirty="0"/>
              <a:t>在</a:t>
            </a:r>
            <a:r>
              <a:rPr kumimoji="1" lang="en-US" altLang="zh-CN" dirty="0"/>
              <a:t>UNIX</a:t>
            </a:r>
            <a:r>
              <a:rPr kumimoji="1" lang="zh-CN" altLang="en-US" dirty="0"/>
              <a:t>系统中，进程调度主要依据是进程动态优先级。随着进程执行时间加长，其优先级将逐步降低。每当执行了系统调用命令并由系统调用处理子程序返回到</a:t>
            </a:r>
            <a:r>
              <a:rPr kumimoji="1" lang="en-US" altLang="zh-CN" dirty="0" err="1"/>
              <a:t>trap.C</a:t>
            </a:r>
            <a:r>
              <a:rPr kumimoji="1" lang="zh-CN" altLang="en-US" dirty="0"/>
              <a:t>后，都将重新计算该进程的优先级；另外，在系统调用执行过程中，若发生了错误使进程无法继续运行时，系统会设置再调度标志。处理子程序在计算了进程的优先级后，又去检查该再调度标志是否已又被设置。若已设置，便调用</a:t>
            </a:r>
            <a:r>
              <a:rPr kumimoji="1" lang="en-US" altLang="zh-CN" dirty="0"/>
              <a:t>switch</a:t>
            </a:r>
            <a:r>
              <a:rPr kumimoji="1" lang="zh-CN" altLang="en-US" dirty="0"/>
              <a:t>调度程序，再去从所有的就绪进程中选择优先级最高的进程，把处理机让给该进程去运行。</a:t>
            </a:r>
            <a:endParaRPr kumimoji="1" lang="en-US" altLang="zh-CN" dirty="0"/>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Tree>
    <p:extLst>
      <p:ext uri="{BB962C8B-B14F-4D97-AF65-F5344CB8AC3E}">
        <p14:creationId xmlns:p14="http://schemas.microsoft.com/office/powerpoint/2010/main" val="40248520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normAutofit/>
          </a:bodyPr>
          <a:lstStyle/>
          <a:p>
            <a:r>
              <a:rPr kumimoji="1" lang="zh-CN" altLang="en-US" dirty="0"/>
              <a:t>系统调用的实现</a:t>
            </a:r>
          </a:p>
        </p:txBody>
      </p:sp>
      <p:sp>
        <p:nvSpPr>
          <p:cNvPr id="3" name="内容占位符 2">
            <a:extLst>
              <a:ext uri="{FF2B5EF4-FFF2-40B4-BE49-F238E27FC236}">
                <a16:creationId xmlns:a16="http://schemas.microsoft.com/office/drawing/2014/main" id="{A3BB8FC7-88A8-0B4D-B7E9-5A9282A67521}"/>
              </a:ext>
            </a:extLst>
          </p:cNvPr>
          <p:cNvSpPr>
            <a:spLocks noGrp="1"/>
          </p:cNvSpPr>
          <p:nvPr>
            <p:ph idx="1"/>
          </p:nvPr>
        </p:nvSpPr>
        <p:spPr>
          <a:xfrm>
            <a:off x="838200" y="1510757"/>
            <a:ext cx="10515600" cy="5347243"/>
          </a:xfrm>
        </p:spPr>
        <p:txBody>
          <a:bodyPr>
            <a:normAutofit/>
          </a:bodyPr>
          <a:lstStyle/>
          <a:p>
            <a:pPr>
              <a:lnSpc>
                <a:spcPct val="110000"/>
              </a:lnSpc>
            </a:pPr>
            <a:r>
              <a:rPr kumimoji="1" lang="en-US" altLang="zh-CN" dirty="0"/>
              <a:t>Linux</a:t>
            </a:r>
            <a:r>
              <a:rPr kumimoji="1" lang="zh-CN" altLang="en-US" dirty="0"/>
              <a:t>系统调用</a:t>
            </a:r>
            <a:endParaRPr kumimoji="1" lang="en-US" altLang="zh-CN" dirty="0">
              <a:solidFill>
                <a:srgbClr val="C00000"/>
              </a:solidFill>
            </a:endParaRPr>
          </a:p>
          <a:p>
            <a:pPr lvl="1">
              <a:lnSpc>
                <a:spcPct val="110000"/>
              </a:lnSpc>
              <a:buFont typeface="Wingdings" panose="05000000000000000000" pitchFamily="2" charset="2"/>
              <a:buChar char="ü"/>
            </a:pPr>
            <a:r>
              <a:rPr kumimoji="1" lang="zh-CN" altLang="en-US" dirty="0"/>
              <a:t>系统调用返回前的公共处理</a:t>
            </a:r>
            <a:endParaRPr kumimoji="1" lang="en-US" altLang="zh-CN" dirty="0"/>
          </a:p>
          <a:p>
            <a:pPr marL="914400" lvl="2" indent="0" algn="just">
              <a:lnSpc>
                <a:spcPct val="110000"/>
              </a:lnSpc>
              <a:buNone/>
            </a:pPr>
            <a:r>
              <a:rPr lang="zh-CN" altLang="en-US" dirty="0"/>
              <a:t>与</a:t>
            </a:r>
            <a:r>
              <a:rPr lang="en-US" altLang="zh-CN" dirty="0"/>
              <a:t>UNIX</a:t>
            </a:r>
            <a:r>
              <a:rPr lang="zh-CN" altLang="en-US" dirty="0"/>
              <a:t>相似，</a:t>
            </a:r>
            <a:r>
              <a:rPr lang="en-US" altLang="zh-CN" dirty="0"/>
              <a:t>Linux</a:t>
            </a:r>
            <a:r>
              <a:rPr lang="zh-CN" altLang="en-US" dirty="0"/>
              <a:t>采用类似技术实现系统调用。</a:t>
            </a:r>
            <a:r>
              <a:rPr lang="en-US" altLang="zh-CN" dirty="0"/>
              <a:t>Linux</a:t>
            </a:r>
            <a:r>
              <a:rPr lang="zh-CN" altLang="en-US" dirty="0"/>
              <a:t>系统在</a:t>
            </a:r>
            <a:r>
              <a:rPr lang="en-US" altLang="zh-CN" dirty="0"/>
              <a:t>CPU</a:t>
            </a:r>
            <a:r>
              <a:rPr lang="zh-CN" altLang="en-US" dirty="0"/>
              <a:t>的保护模式下提供了四个特权级别，目前内核都只用到了其中的两个特权级别，分别为“特权级</a:t>
            </a:r>
            <a:r>
              <a:rPr lang="en-US" altLang="zh-CN" dirty="0"/>
              <a:t>0”(</a:t>
            </a:r>
            <a:r>
              <a:rPr lang="zh-CN" altLang="en-US" dirty="0"/>
              <a:t>即内核态</a:t>
            </a:r>
            <a:r>
              <a:rPr lang="en-US" altLang="zh-CN" dirty="0"/>
              <a:t>)</a:t>
            </a:r>
            <a:r>
              <a:rPr lang="zh-CN" altLang="en-US" dirty="0"/>
              <a:t>和“特权级</a:t>
            </a:r>
            <a:r>
              <a:rPr lang="en-US" altLang="zh-CN" dirty="0"/>
              <a:t>3”(</a:t>
            </a:r>
            <a:r>
              <a:rPr lang="zh-CN" altLang="en-US" dirty="0"/>
              <a:t>即用户态</a:t>
            </a:r>
            <a:r>
              <a:rPr lang="en-US" altLang="zh-CN" dirty="0"/>
              <a:t>)</a:t>
            </a:r>
            <a:r>
              <a:rPr lang="zh-CN" altLang="en-US" dirty="0"/>
              <a:t>。用户对系统调用不能任意拦截和修改，以保证内核的安全性。</a:t>
            </a:r>
            <a:r>
              <a:rPr lang="en-US" altLang="zh-CN" dirty="0"/>
              <a:t>Linux</a:t>
            </a:r>
            <a:r>
              <a:rPr lang="zh-CN" altLang="en-US" dirty="0"/>
              <a:t>最多可以有</a:t>
            </a:r>
            <a:r>
              <a:rPr lang="en-US" altLang="zh-CN" dirty="0"/>
              <a:t>190</a:t>
            </a:r>
            <a:r>
              <a:rPr lang="zh-CN" altLang="en-US" dirty="0"/>
              <a:t>个系统调用。应用程序和</a:t>
            </a:r>
            <a:r>
              <a:rPr lang="en-US" altLang="zh-CN" dirty="0"/>
              <a:t>Shell</a:t>
            </a:r>
            <a:r>
              <a:rPr lang="zh-CN" altLang="en-US" dirty="0"/>
              <a:t>需要通过系统调用机制访问</a:t>
            </a:r>
            <a:r>
              <a:rPr lang="en-US" altLang="zh-CN" dirty="0"/>
              <a:t>Linux</a:t>
            </a:r>
            <a:r>
              <a:rPr lang="zh-CN" altLang="en-US" dirty="0"/>
              <a:t>内核</a:t>
            </a:r>
            <a:r>
              <a:rPr lang="en-US" altLang="zh-CN" dirty="0"/>
              <a:t>(</a:t>
            </a:r>
            <a:r>
              <a:rPr lang="zh-CN" altLang="en-US" dirty="0"/>
              <a:t>功能</a:t>
            </a:r>
            <a:r>
              <a:rPr lang="en-US" altLang="zh-CN" dirty="0"/>
              <a:t>) </a:t>
            </a:r>
            <a:r>
              <a:rPr kumimoji="1" lang="zh-CN" altLang="en-US" dirty="0"/>
              <a:t>。</a:t>
            </a:r>
            <a:endParaRPr kumimoji="1" lang="en-US" altLang="zh-CN" dirty="0"/>
          </a:p>
          <a:p>
            <a:pPr lvl="1">
              <a:lnSpc>
                <a:spcPct val="110000"/>
              </a:lnSpc>
              <a:buFont typeface="Wingdings" panose="05000000000000000000" pitchFamily="2" charset="2"/>
              <a:buChar char="ü"/>
            </a:pPr>
            <a:r>
              <a:rPr kumimoji="1" lang="en-US" altLang="zh-CN" dirty="0"/>
              <a:t>Win32</a:t>
            </a:r>
            <a:r>
              <a:rPr kumimoji="1" lang="zh-CN" altLang="en-US" dirty="0"/>
              <a:t>的应用程序接口</a:t>
            </a:r>
            <a:endParaRPr kumimoji="1" lang="en-US" altLang="zh-CN" dirty="0"/>
          </a:p>
          <a:p>
            <a:pPr marL="914400" lvl="2" indent="0" algn="just">
              <a:lnSpc>
                <a:spcPct val="110000"/>
              </a:lnSpc>
              <a:buNone/>
            </a:pPr>
            <a:r>
              <a:rPr kumimoji="1" lang="zh-CN" altLang="en-US" dirty="0"/>
              <a:t>首先需要说明的是应用程序接口</a:t>
            </a:r>
            <a:r>
              <a:rPr kumimoji="1" lang="en-US" altLang="zh-CN" dirty="0"/>
              <a:t>(API)</a:t>
            </a:r>
            <a:r>
              <a:rPr kumimoji="1" lang="zh-CN" altLang="en-US" dirty="0"/>
              <a:t>与系统调用的区别和联系。</a:t>
            </a:r>
            <a:r>
              <a:rPr kumimoji="1" lang="en-US" altLang="zh-CN" dirty="0"/>
              <a:t>API</a:t>
            </a:r>
            <a:r>
              <a:rPr kumimoji="1" lang="zh-CN" altLang="en-US" dirty="0"/>
              <a:t>是一个函数定义，说明如何获得一个给定服务，而系统调用是通过中断向内核发出一个请求。一个</a:t>
            </a:r>
            <a:r>
              <a:rPr kumimoji="1" lang="en-US" altLang="zh-CN" dirty="0"/>
              <a:t>API</a:t>
            </a:r>
            <a:r>
              <a:rPr kumimoji="1" lang="zh-CN" altLang="en-US" dirty="0"/>
              <a:t>函数可能不与任何系统调用相对应，也可以调用若干个系统调用，不同的</a:t>
            </a:r>
            <a:r>
              <a:rPr kumimoji="1" lang="en-US" altLang="zh-CN" dirty="0"/>
              <a:t>API</a:t>
            </a:r>
            <a:r>
              <a:rPr kumimoji="1" lang="zh-CN" altLang="en-US" dirty="0"/>
              <a:t>函数可能封装了相同的系统调用。</a:t>
            </a:r>
            <a:endParaRPr kumimoji="1" lang="en-US" altLang="zh-CN" dirty="0"/>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Tree>
    <p:extLst>
      <p:ext uri="{BB962C8B-B14F-4D97-AF65-F5344CB8AC3E}">
        <p14:creationId xmlns:p14="http://schemas.microsoft.com/office/powerpoint/2010/main" val="245643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63D2AF-47F1-45CA-AE25-66ADAEA1417E}"/>
              </a:ext>
            </a:extLst>
          </p:cNvPr>
          <p:cNvSpPr>
            <a:spLocks noGrp="1"/>
          </p:cNvSpPr>
          <p:nvPr>
            <p:ph type="title"/>
          </p:nvPr>
        </p:nvSpPr>
        <p:spPr/>
        <p:txBody>
          <a:bodyPr/>
          <a:lstStyle/>
          <a:p>
            <a:r>
              <a:rPr lang="zh-CN" altLang="en-US" dirty="0"/>
              <a:t>习题</a:t>
            </a:r>
          </a:p>
        </p:txBody>
      </p:sp>
      <p:sp>
        <p:nvSpPr>
          <p:cNvPr id="3" name="内容占位符 2">
            <a:extLst>
              <a:ext uri="{FF2B5EF4-FFF2-40B4-BE49-F238E27FC236}">
                <a16:creationId xmlns:a16="http://schemas.microsoft.com/office/drawing/2014/main" id="{2E82CFBF-B9D1-497C-A35A-B62751E787C0}"/>
              </a:ext>
            </a:extLst>
          </p:cNvPr>
          <p:cNvSpPr>
            <a:spLocks noGrp="1"/>
          </p:cNvSpPr>
          <p:nvPr>
            <p:ph idx="1"/>
          </p:nvPr>
        </p:nvSpPr>
        <p:spPr/>
        <p:txBody>
          <a:bodyPr/>
          <a:lstStyle/>
          <a:p>
            <a:r>
              <a:rPr lang="en-US" altLang="zh-CN"/>
              <a:t>19</a:t>
            </a:r>
            <a:endParaRPr lang="zh-CN" altLang="en-US"/>
          </a:p>
        </p:txBody>
      </p:sp>
      <p:sp>
        <p:nvSpPr>
          <p:cNvPr id="4" name="灯片编号占位符 3">
            <a:extLst>
              <a:ext uri="{FF2B5EF4-FFF2-40B4-BE49-F238E27FC236}">
                <a16:creationId xmlns:a16="http://schemas.microsoft.com/office/drawing/2014/main" id="{47666F2C-4E9D-4F29-A92F-4753897808CD}"/>
              </a:ext>
            </a:extLst>
          </p:cNvPr>
          <p:cNvSpPr>
            <a:spLocks noGrp="1"/>
          </p:cNvSpPr>
          <p:nvPr>
            <p:ph type="sldNum" sz="quarter" idx="12"/>
          </p:nvPr>
        </p:nvSpPr>
        <p:spPr/>
        <p:txBody>
          <a:bodyPr/>
          <a:lstStyle/>
          <a:p>
            <a:fld id="{8D4D1E41-7A09-AB4A-A4E1-09765ADA2698}" type="slidenum">
              <a:rPr kumimoji="1" lang="zh-CN" altLang="en-US" smtClean="0"/>
              <a:pPr/>
              <a:t>32</a:t>
            </a:fld>
            <a:endParaRPr kumimoji="1" lang="zh-CN" altLang="en-US" dirty="0"/>
          </a:p>
        </p:txBody>
      </p:sp>
    </p:spTree>
    <p:extLst>
      <p:ext uri="{BB962C8B-B14F-4D97-AF65-F5344CB8AC3E}">
        <p14:creationId xmlns:p14="http://schemas.microsoft.com/office/powerpoint/2010/main" val="3858120352"/>
      </p:ext>
    </p:extLst>
  </p:cSld>
  <p:clrMapOvr>
    <a:masterClrMapping/>
  </p:clrMapOvr>
</p:sld>
</file>

<file path=ppt/theme/theme1.xml><?xml version="1.0" encoding="utf-8"?>
<a:theme xmlns:a="http://schemas.openxmlformats.org/drawingml/2006/main" name="2_Office 主题​​">
  <a:themeElements>
    <a:clrScheme name="蓝色暖调">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11866</TotalTime>
  <Words>4752</Words>
  <Application>Microsoft Office PowerPoint</Application>
  <PresentationFormat>宽屏</PresentationFormat>
  <Paragraphs>273</Paragraphs>
  <Slides>32</Slides>
  <Notes>30</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1</vt:i4>
      </vt:variant>
      <vt:variant>
        <vt:lpstr>幻灯片标题</vt:lpstr>
      </vt:variant>
      <vt:variant>
        <vt:i4>32</vt:i4>
      </vt:variant>
    </vt:vector>
  </HeadingPairs>
  <TitlesOfParts>
    <vt:vector size="41" baseType="lpstr">
      <vt:lpstr>等线</vt:lpstr>
      <vt:lpstr>方正琥珀简体</vt:lpstr>
      <vt:lpstr>Microsoft YaHei</vt:lpstr>
      <vt:lpstr>Arial</vt:lpstr>
      <vt:lpstr>Calibri</vt:lpstr>
      <vt:lpstr>Times New Roman</vt:lpstr>
      <vt:lpstr>Wingdings</vt:lpstr>
      <vt:lpstr>2_Office 主题​​</vt:lpstr>
      <vt:lpstr>Visio</vt:lpstr>
      <vt:lpstr>第9章  操作系统接口</vt:lpstr>
      <vt:lpstr>用户接口</vt:lpstr>
      <vt:lpstr>用户接口</vt:lpstr>
      <vt:lpstr>用户接口</vt:lpstr>
      <vt:lpstr>用户接口</vt:lpstr>
      <vt:lpstr>用户接口</vt:lpstr>
      <vt:lpstr>Shell命令语言</vt:lpstr>
      <vt:lpstr>Shell命令语言</vt:lpstr>
      <vt:lpstr>Shell命令语言</vt:lpstr>
      <vt:lpstr>Shell命令语言</vt:lpstr>
      <vt:lpstr>Shell命令语言</vt:lpstr>
      <vt:lpstr>Shell命令语言</vt:lpstr>
      <vt:lpstr>联机命令接口的实现</vt:lpstr>
      <vt:lpstr>联机命令接口的实现</vt:lpstr>
      <vt:lpstr>联机命令接口的实现</vt:lpstr>
      <vt:lpstr>联机命令接口的实现</vt:lpstr>
      <vt:lpstr>联机命令接口的实现</vt:lpstr>
      <vt:lpstr>联机命令接口的实现</vt:lpstr>
      <vt:lpstr>联机命令接口的实现</vt:lpstr>
      <vt:lpstr>系统调用的概念和类型</vt:lpstr>
      <vt:lpstr>系统调用的概念和类型</vt:lpstr>
      <vt:lpstr>系统调用的概念和类型</vt:lpstr>
      <vt:lpstr>UNIX系统调用</vt:lpstr>
      <vt:lpstr>UNIX系统调用</vt:lpstr>
      <vt:lpstr>UNIX系统调用</vt:lpstr>
      <vt:lpstr>系统调用的实现</vt:lpstr>
      <vt:lpstr>系统调用的实现</vt:lpstr>
      <vt:lpstr>系统调用的实现</vt:lpstr>
      <vt:lpstr>系统调用的实现</vt:lpstr>
      <vt:lpstr>系统调用的实现</vt:lpstr>
      <vt:lpstr>系统调用的实现</vt:lpstr>
      <vt:lpstr>习题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Yong Cui</dc:creator>
  <cp:lastModifiedBy>先亮 江</cp:lastModifiedBy>
  <cp:revision>1179</cp:revision>
  <dcterms:created xsi:type="dcterms:W3CDTF">2021-01-06T05:35:51Z</dcterms:created>
  <dcterms:modified xsi:type="dcterms:W3CDTF">2022-12-02T12:17:46Z</dcterms:modified>
</cp:coreProperties>
</file>