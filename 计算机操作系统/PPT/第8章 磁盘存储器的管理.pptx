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3" r:id="rId1"/>
  </p:sldMasterIdLst>
  <p:notesMasterIdLst>
    <p:notesMasterId r:id="rId43"/>
  </p:notesMasterIdLst>
  <p:sldIdLst>
    <p:sldId id="1252" r:id="rId2"/>
    <p:sldId id="1247" r:id="rId3"/>
    <p:sldId id="1251" r:id="rId4"/>
    <p:sldId id="1253" r:id="rId5"/>
    <p:sldId id="1255" r:id="rId6"/>
    <p:sldId id="1256" r:id="rId7"/>
    <p:sldId id="1257" r:id="rId8"/>
    <p:sldId id="1258" r:id="rId9"/>
    <p:sldId id="1259" r:id="rId10"/>
    <p:sldId id="1260" r:id="rId11"/>
    <p:sldId id="1261" r:id="rId12"/>
    <p:sldId id="1262" r:id="rId13"/>
    <p:sldId id="1263" r:id="rId14"/>
    <p:sldId id="1264" r:id="rId15"/>
    <p:sldId id="1265" r:id="rId16"/>
    <p:sldId id="1266" r:id="rId17"/>
    <p:sldId id="1267" r:id="rId18"/>
    <p:sldId id="1268" r:id="rId19"/>
    <p:sldId id="1269" r:id="rId20"/>
    <p:sldId id="1270" r:id="rId21"/>
    <p:sldId id="1271" r:id="rId22"/>
    <p:sldId id="1272" r:id="rId23"/>
    <p:sldId id="1273" r:id="rId24"/>
    <p:sldId id="1274" r:id="rId25"/>
    <p:sldId id="1275" r:id="rId26"/>
    <p:sldId id="1276" r:id="rId27"/>
    <p:sldId id="1277" r:id="rId28"/>
    <p:sldId id="1278" r:id="rId29"/>
    <p:sldId id="1279" r:id="rId30"/>
    <p:sldId id="1280" r:id="rId31"/>
    <p:sldId id="1281" r:id="rId32"/>
    <p:sldId id="1282" r:id="rId33"/>
    <p:sldId id="1283" r:id="rId34"/>
    <p:sldId id="1284" r:id="rId35"/>
    <p:sldId id="1285" r:id="rId36"/>
    <p:sldId id="1287" r:id="rId37"/>
    <p:sldId id="1286" r:id="rId38"/>
    <p:sldId id="1288" r:id="rId39"/>
    <p:sldId id="1289" r:id="rId40"/>
    <p:sldId id="1290" r:id="rId41"/>
    <p:sldId id="1291"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extLst>
      <p:ext uri="{19B8F6BF-5375-455C-9EA6-DF929625EA0E}">
        <p15:presenceInfo xmlns:p15="http://schemas.microsoft.com/office/powerpoint/2012/main" userId="2e4313e0a95621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64266" autoAdjust="0"/>
  </p:normalViewPr>
  <p:slideViewPr>
    <p:cSldViewPr snapToGrid="0" snapToObjects="1">
      <p:cViewPr varScale="1">
        <p:scale>
          <a:sx n="48" d="100"/>
          <a:sy n="48" d="100"/>
        </p:scale>
        <p:origin x="1179" y="24"/>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2023/12/4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在使用</a:t>
            </a:r>
            <a:r>
              <a:rPr lang="en-US" altLang="zh-CN" b="0" i="0" dirty="0">
                <a:solidFill>
                  <a:srgbClr val="121212"/>
                </a:solidFill>
                <a:effectLst/>
                <a:latin typeface="-apple-system"/>
              </a:rPr>
              <a:t>MBR</a:t>
            </a:r>
            <a:r>
              <a:rPr lang="zh-CN" altLang="en-US" b="0" i="0" dirty="0">
                <a:solidFill>
                  <a:srgbClr val="121212"/>
                </a:solidFill>
                <a:effectLst/>
                <a:latin typeface="-apple-system"/>
              </a:rPr>
              <a:t>格式化硬盘时，引导区使用</a:t>
            </a:r>
            <a:r>
              <a:rPr lang="en-US" altLang="zh-CN" b="0" i="0" dirty="0">
                <a:solidFill>
                  <a:srgbClr val="121212"/>
                </a:solidFill>
                <a:effectLst/>
                <a:latin typeface="-apple-system"/>
              </a:rPr>
              <a:t>4</a:t>
            </a:r>
            <a:r>
              <a:rPr lang="zh-CN" altLang="en-US" b="0" i="0" dirty="0">
                <a:solidFill>
                  <a:srgbClr val="121212"/>
                </a:solidFill>
                <a:effectLst/>
                <a:latin typeface="-apple-system"/>
              </a:rPr>
              <a:t>个字节来记录磁盘的扇区总数，即</a:t>
            </a:r>
            <a:r>
              <a:rPr lang="en-US" altLang="zh-CN" b="0" i="0" dirty="0">
                <a:solidFill>
                  <a:srgbClr val="121212"/>
                </a:solidFill>
                <a:effectLst/>
                <a:latin typeface="-apple-system"/>
              </a:rPr>
              <a:t>MBR</a:t>
            </a:r>
            <a:r>
              <a:rPr lang="zh-CN" altLang="en-US" b="0" i="0" dirty="0">
                <a:solidFill>
                  <a:srgbClr val="121212"/>
                </a:solidFill>
                <a:effectLst/>
                <a:latin typeface="-apple-system"/>
              </a:rPr>
              <a:t>最多只支持</a:t>
            </a:r>
            <a:r>
              <a:rPr lang="en-US" altLang="zh-CN" b="0" i="0" dirty="0">
                <a:solidFill>
                  <a:srgbClr val="121212"/>
                </a:solidFill>
                <a:effectLst/>
                <a:latin typeface="-apple-system"/>
              </a:rPr>
              <a:t>4G</a:t>
            </a:r>
            <a:r>
              <a:rPr lang="zh-CN" altLang="en-US" b="0" i="0" dirty="0">
                <a:solidFill>
                  <a:srgbClr val="121212"/>
                </a:solidFill>
                <a:effectLst/>
                <a:latin typeface="-apple-system"/>
              </a:rPr>
              <a:t>个扇区（</a:t>
            </a:r>
            <a:r>
              <a:rPr lang="en-US" altLang="zh-CN" b="0" i="0" dirty="0">
                <a:solidFill>
                  <a:srgbClr val="121212"/>
                </a:solidFill>
                <a:effectLst/>
                <a:latin typeface="-apple-system"/>
              </a:rPr>
              <a:t>2^32</a:t>
            </a:r>
            <a:r>
              <a:rPr lang="zh-CN" altLang="en-US" b="0" i="0" dirty="0">
                <a:solidFill>
                  <a:srgbClr val="121212"/>
                </a:solidFill>
                <a:effectLst/>
                <a:latin typeface="-apple-system"/>
              </a:rPr>
              <a:t>），每个扇区</a:t>
            </a:r>
            <a:r>
              <a:rPr lang="en-US" altLang="zh-CN" b="0" i="0" dirty="0">
                <a:solidFill>
                  <a:srgbClr val="121212"/>
                </a:solidFill>
                <a:effectLst/>
                <a:latin typeface="-apple-system"/>
              </a:rPr>
              <a:t>512K</a:t>
            </a:r>
            <a:r>
              <a:rPr lang="zh-CN" altLang="en-US" b="0" i="0" dirty="0">
                <a:solidFill>
                  <a:srgbClr val="121212"/>
                </a:solidFill>
                <a:effectLst/>
                <a:latin typeface="-apple-system"/>
              </a:rPr>
              <a:t>，则磁盘最大值 （</a:t>
            </a:r>
            <a:r>
              <a:rPr lang="en-US" altLang="zh-CN" b="0" i="0" dirty="0">
                <a:solidFill>
                  <a:srgbClr val="121212"/>
                </a:solidFill>
                <a:effectLst/>
                <a:latin typeface="-apple-system"/>
              </a:rPr>
              <a:t>2^32</a:t>
            </a:r>
            <a:r>
              <a:rPr lang="zh-CN" altLang="en-US" b="0" i="0" dirty="0">
                <a:solidFill>
                  <a:srgbClr val="121212"/>
                </a:solidFill>
                <a:effectLst/>
                <a:latin typeface="-apple-system"/>
              </a:rPr>
              <a:t>）* </a:t>
            </a:r>
            <a:r>
              <a:rPr lang="en-US" altLang="zh-CN" b="0" i="0" dirty="0">
                <a:solidFill>
                  <a:srgbClr val="121212"/>
                </a:solidFill>
                <a:effectLst/>
                <a:latin typeface="-apple-system"/>
              </a:rPr>
              <a:t>512K = 2T</a:t>
            </a:r>
            <a:r>
              <a:rPr lang="zh-CN" altLang="en-US" b="0" i="0" dirty="0">
                <a:solidFill>
                  <a:srgbClr val="121212"/>
                </a:solidFill>
                <a:effectLst/>
                <a:latin typeface="-apple-system"/>
              </a:rPr>
              <a:t>。这个是</a:t>
            </a:r>
            <a:r>
              <a:rPr lang="en-US" altLang="zh-CN" b="0" i="0" dirty="0">
                <a:solidFill>
                  <a:srgbClr val="121212"/>
                </a:solidFill>
                <a:effectLst/>
                <a:latin typeface="-apple-system"/>
              </a:rPr>
              <a:t>MBR</a:t>
            </a:r>
            <a:r>
              <a:rPr lang="zh-CN" altLang="en-US" b="0" i="0" dirty="0">
                <a:solidFill>
                  <a:srgbClr val="121212"/>
                </a:solidFill>
                <a:effectLst/>
                <a:latin typeface="-apple-system"/>
              </a:rPr>
              <a:t>的局限，而不是</a:t>
            </a:r>
            <a:r>
              <a:rPr lang="en-US" altLang="zh-CN" b="0" i="0" dirty="0">
                <a:solidFill>
                  <a:srgbClr val="121212"/>
                </a:solidFill>
                <a:effectLst/>
                <a:latin typeface="-apple-system"/>
              </a:rPr>
              <a:t>FAT32</a:t>
            </a:r>
            <a:r>
              <a:rPr lang="zh-CN" altLang="en-US" b="0" i="0" dirty="0">
                <a:solidFill>
                  <a:srgbClr val="121212"/>
                </a:solidFill>
                <a:effectLst/>
                <a:latin typeface="-apple-system"/>
              </a:rPr>
              <a:t>的局限。</a:t>
            </a:r>
            <a:endParaRPr lang="en-US" altLang="zh-CN" b="0" i="0" dirty="0">
              <a:solidFill>
                <a:srgbClr val="121212"/>
              </a:solidFill>
              <a:effectLst/>
              <a:latin typeface="-apple-system"/>
            </a:endParaRPr>
          </a:p>
          <a:p>
            <a:r>
              <a:rPr lang="en-US" altLang="zh-CN" dirty="0"/>
              <a:t>2T </a:t>
            </a:r>
            <a:r>
              <a:rPr lang="zh-CN" altLang="en-US" dirty="0"/>
              <a:t>的限制是由于磁盘分区模式即 </a:t>
            </a:r>
            <a:r>
              <a:rPr lang="en-US" altLang="zh-CN" dirty="0"/>
              <a:t>MBR</a:t>
            </a:r>
            <a:r>
              <a:rPr lang="zh-CN" altLang="en-US" dirty="0"/>
              <a:t>（主引导记录）的大小及格式限制的；另外一种分区模式为 </a:t>
            </a:r>
            <a:r>
              <a:rPr lang="en-US" altLang="zh-CN" dirty="0"/>
              <a:t>GPT</a:t>
            </a:r>
            <a:r>
              <a:rPr lang="zh-CN" altLang="en-US" dirty="0"/>
              <a:t>，突破了 </a:t>
            </a:r>
            <a:r>
              <a:rPr lang="en-US" altLang="zh-CN" dirty="0"/>
              <a:t>2T </a:t>
            </a:r>
            <a:r>
              <a:rPr lang="zh-CN" altLang="en-US" dirty="0"/>
              <a:t>的物理限制。 磁盘的第一个扇区</a:t>
            </a:r>
            <a:r>
              <a:rPr lang="en-US" altLang="zh-CN" dirty="0"/>
              <a:t>(0</a:t>
            </a:r>
            <a:r>
              <a:rPr lang="zh-CN" altLang="en-US" dirty="0"/>
              <a:t>号扇区，每个扇区大小为 </a:t>
            </a:r>
            <a:r>
              <a:rPr lang="en-US" altLang="zh-CN" dirty="0"/>
              <a:t>512B)</a:t>
            </a:r>
            <a:r>
              <a:rPr lang="zh-CN" altLang="en-US" dirty="0"/>
              <a:t>保存的是主引导记录，其中 </a:t>
            </a:r>
            <a:r>
              <a:rPr lang="en-US" altLang="zh-CN" dirty="0"/>
              <a:t>64 </a:t>
            </a:r>
            <a:r>
              <a:rPr lang="zh-CN" altLang="en-US" dirty="0"/>
              <a:t>个字节用于保存分区表信息，最多支持 </a:t>
            </a:r>
            <a:r>
              <a:rPr lang="en-US" altLang="zh-CN" dirty="0"/>
              <a:t>4 </a:t>
            </a:r>
            <a:r>
              <a:rPr lang="zh-CN" altLang="en-US" dirty="0"/>
              <a:t>个主分区，每个分区占用 </a:t>
            </a:r>
            <a:r>
              <a:rPr lang="en-US" altLang="zh-CN" dirty="0"/>
              <a:t>16 </a:t>
            </a:r>
            <a:r>
              <a:rPr lang="zh-CN" altLang="en-US" dirty="0"/>
              <a:t>字节，这 </a:t>
            </a:r>
            <a:r>
              <a:rPr lang="en-US" altLang="zh-CN" dirty="0"/>
              <a:t>16 </a:t>
            </a:r>
            <a:r>
              <a:rPr lang="zh-CN" altLang="en-US" dirty="0"/>
              <a:t>个字节中有 </a:t>
            </a:r>
            <a:r>
              <a:rPr lang="en-US" altLang="zh-CN" dirty="0"/>
              <a:t>4 </a:t>
            </a:r>
            <a:r>
              <a:rPr lang="zh-CN" altLang="en-US" dirty="0"/>
              <a:t>个字节用于保存这个分区的扇区数，</a:t>
            </a:r>
            <a:r>
              <a:rPr lang="en-US" altLang="zh-CN" dirty="0"/>
              <a:t>4 </a:t>
            </a:r>
            <a:r>
              <a:rPr lang="zh-CN" altLang="en-US" dirty="0"/>
              <a:t>字节能保存的扇区数为  </a:t>
            </a:r>
            <a:r>
              <a:rPr lang="en-US" altLang="zh-CN" dirty="0"/>
              <a:t>2^32</a:t>
            </a:r>
            <a:r>
              <a:rPr lang="zh-CN" altLang="en-US" dirty="0"/>
              <a:t>，因此单个分区最大为 </a:t>
            </a:r>
            <a:r>
              <a:rPr lang="en-US" altLang="zh-CN" dirty="0"/>
              <a:t>2T = 2^32 * 512B</a:t>
            </a:r>
            <a:r>
              <a:rPr lang="zh-CN" altLang="en-US" dirty="0"/>
              <a:t>。意味着即使文件系统（</a:t>
            </a:r>
            <a:r>
              <a:rPr lang="en-US" altLang="zh-CN" dirty="0"/>
              <a:t>Fat32</a:t>
            </a:r>
            <a:r>
              <a:rPr lang="zh-CN" altLang="en-US" dirty="0"/>
              <a:t>，</a:t>
            </a:r>
            <a:r>
              <a:rPr lang="en-US" altLang="zh-CN" dirty="0"/>
              <a:t>ext3</a:t>
            </a:r>
            <a:r>
              <a:rPr lang="zh-CN" altLang="en-US" dirty="0"/>
              <a:t>等）本身支持更大的单个分区大小，也会受限于磁盘分区模式的限制。</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535675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a:ln>
            <a:noFill/>
          </a:ln>
        </p:spPr>
        <p:txBody>
          <a:bodyPr/>
          <a:lstStyle>
            <a:lvl1pPr marL="0" indent="0" algn="ctr">
              <a:buNone/>
              <a:defRPr sz="2400">
                <a:latin typeface="Times New Roman" panose="02020603050405020304" pitchFamily="18" charset="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E6C9AC36-F551-8142-B918-8641B516A611}" type="datetime1">
              <a:rPr kumimoji="1" lang="zh-CN" altLang="en-US" smtClean="0"/>
              <a:pPr/>
              <a:t>2023/12/4</a:t>
            </a:fld>
            <a:endParaRPr kumimoji="1" lang="zh-CN" altLang="en-US" dirty="0"/>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n-ea"/>
                <a:cs typeface="Times New Roman" panose="02020603050405020304" pitchFamily="18" charset="0"/>
              </a:rPr>
              <a:t>操作系统讲义</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n-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系统</a:t>
            </a:r>
          </a:p>
        </p:txBody>
      </p:sp>
      <p:sp>
        <p:nvSpPr>
          <p:cNvPr id="10" name="文本框 9">
            <a:extLst>
              <a:ext uri="{FF2B5EF4-FFF2-40B4-BE49-F238E27FC236}">
                <a16:creationId xmlns:a16="http://schemas.microsoft.com/office/drawing/2014/main" id="{F4B6AE72-9896-4390-885F-C06808FC32AB}"/>
              </a:ext>
            </a:extLst>
          </p:cNvPr>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90947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atin typeface="Times New Roman" panose="02020603050405020304" pitchFamily="18" charset="0"/>
                <a:ea typeface="+mj-ea"/>
                <a:cs typeface="Times New Roman" panose="02020603050405020304" pitchFamily="18" charset="0"/>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20000"/>
              </a:lnSpc>
              <a:spcBef>
                <a:spcPts val="600"/>
              </a:spcBef>
              <a:buFont typeface="Wingdings" pitchFamily="2" charset="2"/>
              <a:buChar char="Ø"/>
              <a:tabLst/>
              <a:defRPr>
                <a:latin typeface="Times New Roman" panose="02020603050405020304" pitchFamily="18" charset="0"/>
                <a:ea typeface="+mj-ea"/>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mj-ea"/>
                <a:cs typeface="Times New Roman" panose="02020603050405020304" pitchFamily="18" charset="0"/>
              </a:defRPr>
            </a:lvl2pPr>
            <a:lvl3pPr>
              <a:lnSpc>
                <a:spcPct val="120000"/>
              </a:lnSpc>
              <a:spcBef>
                <a:spcPts val="600"/>
              </a:spcBef>
              <a:defRPr>
                <a:latin typeface="Times New Roman" panose="02020603050405020304" pitchFamily="18" charset="0"/>
                <a:ea typeface="+mj-ea"/>
                <a:cs typeface="Times New Roman" panose="02020603050405020304" pitchFamily="18" charset="0"/>
              </a:defRPr>
            </a:lvl3pPr>
            <a:lvl4pPr>
              <a:lnSpc>
                <a:spcPct val="120000"/>
              </a:lnSpc>
              <a:spcBef>
                <a:spcPts val="600"/>
              </a:spcBef>
              <a:defRPr>
                <a:latin typeface="Times New Roman" panose="02020603050405020304" pitchFamily="18" charset="0"/>
                <a:ea typeface="+mj-ea"/>
                <a:cs typeface="Times New Roman" panose="02020603050405020304" pitchFamily="18" charset="0"/>
              </a:defRPr>
            </a:lvl4pPr>
            <a:lvl5pPr>
              <a:lnSpc>
                <a:spcPct val="120000"/>
              </a:lnSpc>
              <a:spcBef>
                <a:spcPts val="600"/>
              </a:spcBef>
              <a:defRPr>
                <a:latin typeface="Times New Roman" panose="02020603050405020304" pitchFamily="18" charset="0"/>
                <a:ea typeface="+mj-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lvl1pPr>
              <a:defRPr>
                <a:latin typeface="Times New Roman" panose="02020603050405020304" pitchFamily="18" charset="0"/>
                <a:ea typeface="+mj-ea"/>
                <a:cs typeface="Times New Roman" panose="02020603050405020304" pitchFamily="18" charset="0"/>
              </a:defRPr>
            </a:lvl1pPr>
          </a:lstStyle>
          <a:p>
            <a:fld id="{D9F44458-A3AD-7248-AB3A-A80099144E2A}" type="datetime1">
              <a:rPr kumimoji="1" lang="zh-CN" altLang="en-US" smtClean="0"/>
              <a:pPr/>
              <a:t>2023/12/4</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lvl1pPr>
              <a:defRPr>
                <a:latin typeface="Times New Roman" panose="02020603050405020304" pitchFamily="18" charset="0"/>
                <a:ea typeface="+mj-ea"/>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lvl1pPr>
              <a:defRPr>
                <a:latin typeface="Times New Roman" panose="02020603050405020304" pitchFamily="18" charset="0"/>
                <a:ea typeface="+mj-ea"/>
                <a:cs typeface="Times New Roman" panose="02020603050405020304" pitchFamily="18" charset="0"/>
              </a:defRPr>
            </a:lvl1p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j-ea"/>
                <a:cs typeface="Times New Roman" panose="02020603050405020304" pitchFamily="18" charset="0"/>
              </a:endParaRPr>
            </a:p>
          </p:txBody>
        </p:sp>
      </p:grpSp>
      <p:pic>
        <p:nvPicPr>
          <p:cNvPr id="8" name="图片 7">
            <a:extLst>
              <a:ext uri="{FF2B5EF4-FFF2-40B4-BE49-F238E27FC236}">
                <a16:creationId xmlns:a16="http://schemas.microsoft.com/office/drawing/2014/main" id="{D78FDA68-D42A-4B5F-BB4E-E568E391EE0C}"/>
              </a:ext>
            </a:extLst>
          </p:cNvPr>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a:extLst>
              <a:ext uri="{FF2B5EF4-FFF2-40B4-BE49-F238E27FC236}">
                <a16:creationId xmlns:a16="http://schemas.microsoft.com/office/drawing/2014/main" id="{4F6DB7B7-4AA4-4828-8961-C778CFDDFBDE}"/>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Times New Roman" panose="02020603050405020304" pitchFamily="18" charset="0"/>
              <a:ea typeface="+mj-ea"/>
              <a:cs typeface="Times New Roman" panose="02020603050405020304" pitchFamily="18" charset="0"/>
            </a:endParaRPr>
          </a:p>
        </p:txBody>
      </p:sp>
      <p:pic>
        <p:nvPicPr>
          <p:cNvPr id="10" name="图片 9">
            <a:extLst>
              <a:ext uri="{FF2B5EF4-FFF2-40B4-BE49-F238E27FC236}">
                <a16:creationId xmlns:a16="http://schemas.microsoft.com/office/drawing/2014/main" id="{537D1EFF-6DA9-4895-8869-A51D8B5BE513}"/>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158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4290EBB2-4D7C-084A-BE30-AC939B671EC1}" type="datetime1">
              <a:rPr kumimoji="1" lang="zh-CN" altLang="en-US" smtClean="0"/>
              <a:pPr/>
              <a:t>2023/12/4</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a:extLst>
              <a:ext uri="{FF2B5EF4-FFF2-40B4-BE49-F238E27FC236}">
                <a16:creationId xmlns:a16="http://schemas.microsoft.com/office/drawing/2014/main" id="{9F8181F7-80D6-426E-AFE8-FB2DFF65E8FD}"/>
              </a:ext>
            </a:extLst>
          </p:cNvPr>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cxnSp>
        <p:nvCxnSpPr>
          <p:cNvPr id="77" name="直线连接符 39">
            <a:extLst>
              <a:ext uri="{FF2B5EF4-FFF2-40B4-BE49-F238E27FC236}">
                <a16:creationId xmlns:a16="http://schemas.microsoft.com/office/drawing/2014/main" id="{FD052F5B-CE6A-4A1A-8EF2-B2EA4AD732A1}"/>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a:extLst>
              <a:ext uri="{FF2B5EF4-FFF2-40B4-BE49-F238E27FC236}">
                <a16:creationId xmlns:a16="http://schemas.microsoft.com/office/drawing/2014/main" id="{5AE29B1F-7085-4DB6-8B2E-71AE9756DEE5}"/>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6623D12F-6F66-4800-AEB4-15FFA2088008}"/>
              </a:ext>
            </a:extLst>
          </p:cNvPr>
          <p:cNvGrpSpPr/>
          <p:nvPr userDrawn="1"/>
        </p:nvGrpSpPr>
        <p:grpSpPr>
          <a:xfrm>
            <a:off x="715452" y="634525"/>
            <a:ext cx="403039" cy="321898"/>
            <a:chOff x="1368170" y="664579"/>
            <a:chExt cx="550582" cy="439737"/>
          </a:xfrm>
          <a:solidFill>
            <a:schemeClr val="bg1"/>
          </a:solidFill>
        </p:grpSpPr>
        <p:sp>
          <p:nvSpPr>
            <p:cNvPr id="80" name="Freeform 1">
              <a:extLst>
                <a:ext uri="{FF2B5EF4-FFF2-40B4-BE49-F238E27FC236}">
                  <a16:creationId xmlns:a16="http://schemas.microsoft.com/office/drawing/2014/main" id="{A4EA86F4-1616-404A-B3A8-40F621B116F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2">
              <a:extLst>
                <a:ext uri="{FF2B5EF4-FFF2-40B4-BE49-F238E27FC236}">
                  <a16:creationId xmlns:a16="http://schemas.microsoft.com/office/drawing/2014/main" id="{B94EAAE0-8448-4BED-934F-86E4D9BE6BF7}"/>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3">
              <a:extLst>
                <a:ext uri="{FF2B5EF4-FFF2-40B4-BE49-F238E27FC236}">
                  <a16:creationId xmlns:a16="http://schemas.microsoft.com/office/drawing/2014/main" id="{FE1A878D-B42E-44AD-A507-E8131D58305D}"/>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3" name="Freeform 4">
              <a:extLst>
                <a:ext uri="{FF2B5EF4-FFF2-40B4-BE49-F238E27FC236}">
                  <a16:creationId xmlns:a16="http://schemas.microsoft.com/office/drawing/2014/main" id="{2917B038-BE65-4EDE-BCE6-28D8A33628C0}"/>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4" name="Freeform 5">
              <a:extLst>
                <a:ext uri="{FF2B5EF4-FFF2-40B4-BE49-F238E27FC236}">
                  <a16:creationId xmlns:a16="http://schemas.microsoft.com/office/drawing/2014/main" id="{BFF95844-69C4-4D91-BB8A-43361DB33C0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5" name="Freeform 6">
              <a:extLst>
                <a:ext uri="{FF2B5EF4-FFF2-40B4-BE49-F238E27FC236}">
                  <a16:creationId xmlns:a16="http://schemas.microsoft.com/office/drawing/2014/main" id="{0EC6F8B2-3F7B-481D-A5C3-593859BA3904}"/>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6" name="Freeform 7">
              <a:extLst>
                <a:ext uri="{FF2B5EF4-FFF2-40B4-BE49-F238E27FC236}">
                  <a16:creationId xmlns:a16="http://schemas.microsoft.com/office/drawing/2014/main" id="{F0C61DE2-78C6-42E1-92E7-9A31F8C42BB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7" name="Freeform 8">
              <a:extLst>
                <a:ext uri="{FF2B5EF4-FFF2-40B4-BE49-F238E27FC236}">
                  <a16:creationId xmlns:a16="http://schemas.microsoft.com/office/drawing/2014/main" id="{E1826B12-A3BC-432A-816C-7F734429A6C0}"/>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8" name="Freeform 9">
              <a:extLst>
                <a:ext uri="{FF2B5EF4-FFF2-40B4-BE49-F238E27FC236}">
                  <a16:creationId xmlns:a16="http://schemas.microsoft.com/office/drawing/2014/main" id="{CFE3DB99-4C71-42E1-96A1-E7B9C2A8459C}"/>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9" name="Freeform 10">
              <a:extLst>
                <a:ext uri="{FF2B5EF4-FFF2-40B4-BE49-F238E27FC236}">
                  <a16:creationId xmlns:a16="http://schemas.microsoft.com/office/drawing/2014/main" id="{A81B2E72-88A6-4C42-87A8-837C6A495D6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90" name="Freeform 11">
              <a:extLst>
                <a:ext uri="{FF2B5EF4-FFF2-40B4-BE49-F238E27FC236}">
                  <a16:creationId xmlns:a16="http://schemas.microsoft.com/office/drawing/2014/main" id="{03C011E7-BE7F-4EED-B847-D887A0A3FA70}"/>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91" name="图片 90">
            <a:extLst>
              <a:ext uri="{FF2B5EF4-FFF2-40B4-BE49-F238E27FC236}">
                <a16:creationId xmlns:a16="http://schemas.microsoft.com/office/drawing/2014/main" id="{30D59E9D-4209-40C8-AC29-40B9F932767F}"/>
              </a:ext>
            </a:extLst>
          </p:cNvPr>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a:extLst>
              <a:ext uri="{FF2B5EF4-FFF2-40B4-BE49-F238E27FC236}">
                <a16:creationId xmlns:a16="http://schemas.microsoft.com/office/drawing/2014/main" id="{1881D5AC-060E-4D65-817F-635BAE83660F}"/>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2628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mj-ea"/>
                <a:cs typeface="Times New Roman" panose="02020603050405020304" pitchFamily="18" charset="0"/>
              </a:defRPr>
            </a:lvl1pPr>
          </a:lstStyle>
          <a:p>
            <a:r>
              <a:rPr lang="zh-CN" altLang="en-US"/>
              <a:t>单击此处编辑母版标题样式</a:t>
            </a:r>
          </a:p>
        </p:txBody>
      </p:sp>
      <p:sp>
        <p:nvSpPr>
          <p:cNvPr id="3" name="Rectangle 6">
            <a:extLst>
              <a:ext uri="{FF2B5EF4-FFF2-40B4-BE49-F238E27FC236}">
                <a16:creationId xmlns:a16="http://schemas.microsoft.com/office/drawing/2014/main" id="{0909CBCB-4772-C140-A4B1-31188B93BC68}"/>
              </a:ext>
            </a:extLst>
          </p:cNvPr>
          <p:cNvSpPr>
            <a:spLocks noGrp="1" noChangeArrowheads="1"/>
          </p:cNvSpPr>
          <p:nvPr>
            <p:ph type="dt" sz="half" idx="10"/>
          </p:nvPr>
        </p:nvSpPr>
        <p:spPr>
          <a:ln/>
        </p:spPr>
        <p:txBody>
          <a:bodyPr/>
          <a:lstStyle>
            <a:lvl1pPr>
              <a:defRPr>
                <a:latin typeface="Times New Roman" panose="02020603050405020304" pitchFamily="18" charset="0"/>
                <a:ea typeface="+mj-ea"/>
                <a:cs typeface="Times New Roman" panose="02020603050405020304" pitchFamily="18" charset="0"/>
              </a:defRPr>
            </a:lvl1pPr>
          </a:lstStyle>
          <a:p>
            <a:pPr>
              <a:defRPr/>
            </a:pPr>
            <a:fld id="{45C7992C-DF72-7644-B12E-329898B62496}" type="datetime1">
              <a:rPr lang="zh-CN" altLang="en-US" smtClean="0"/>
              <a:pPr>
                <a:defRPr/>
              </a:pPr>
              <a:t>2023/12/4</a:t>
            </a:fld>
            <a:endParaRPr lang="en-US" altLang="zh-CN"/>
          </a:p>
        </p:txBody>
      </p:sp>
      <p:sp>
        <p:nvSpPr>
          <p:cNvPr id="4" name="Rectangle 7">
            <a:extLst>
              <a:ext uri="{FF2B5EF4-FFF2-40B4-BE49-F238E27FC236}">
                <a16:creationId xmlns:a16="http://schemas.microsoft.com/office/drawing/2014/main" id="{ED82BB1B-5A33-BF46-ADBA-8265C3C1C522}"/>
              </a:ext>
            </a:extLst>
          </p:cNvPr>
          <p:cNvSpPr>
            <a:spLocks noGrp="1" noChangeArrowheads="1"/>
          </p:cNvSpPr>
          <p:nvPr>
            <p:ph type="ftr" sz="quarter" idx="11"/>
          </p:nvPr>
        </p:nvSpPr>
        <p:spPr>
          <a:ln/>
        </p:spPr>
        <p:txBody>
          <a:bodyPr/>
          <a:lstStyle>
            <a:lvl1pPr>
              <a:defRPr>
                <a:latin typeface="Times New Roman" panose="02020603050405020304" pitchFamily="18" charset="0"/>
                <a:ea typeface="+mj-ea"/>
                <a:cs typeface="Times New Roman" panose="02020603050405020304" pitchFamily="18" charset="0"/>
              </a:defRPr>
            </a:lvl1pPr>
          </a:lstStyle>
          <a:p>
            <a:pPr>
              <a:defRPr/>
            </a:pPr>
            <a:endParaRPr lang="en-US" altLang="zh-CN"/>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atin typeface="Times New Roman" panose="02020603050405020304" pitchFamily="18" charset="0"/>
                <a:ea typeface="+mj-ea"/>
                <a:cs typeface="Times New Roman" panose="02020603050405020304" pitchFamily="18" charset="0"/>
              </a:defRPr>
            </a:lvl1pPr>
          </a:lstStyle>
          <a:p>
            <a:fld id="{07279A2F-85B5-794E-ADF1-0805CD3C44B7}" type="slidenum">
              <a:rPr lang="en-US" altLang="zh-CN" smtClean="0"/>
              <a:pPr/>
              <a:t>‹#›</a:t>
            </a:fld>
            <a:endParaRPr lang="en-US" altLang="zh-CN"/>
          </a:p>
        </p:txBody>
      </p:sp>
    </p:spTree>
    <p:extLst>
      <p:ext uri="{BB962C8B-B14F-4D97-AF65-F5344CB8AC3E}">
        <p14:creationId xmlns:p14="http://schemas.microsoft.com/office/powerpoint/2010/main" val="3460829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6B5948C6-0782-6042-A859-FD82FD45C478}" type="datetime1">
              <a:rPr kumimoji="1" lang="zh-CN" altLang="en-US" smtClean="0"/>
              <a:t>2023/12/4</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19009674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BB2C5-4861-41DD-A3F1-A1BD7B75C075}"/>
              </a:ext>
            </a:extLst>
          </p:cNvPr>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a:solidFill>
                  <a:srgbClr val="CC0099"/>
                </a:solidFill>
                <a:latin typeface="方正琥珀简体" pitchFamily="65" charset="-122"/>
                <a:ea typeface="方正琥珀简体" pitchFamily="65" charset="-122"/>
              </a:rPr>
              <a:t>8</a:t>
            </a:r>
            <a:r>
              <a:rPr lang="zh-CN" altLang="en-US" sz="5400" b="1">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磁盘存储器管理</a:t>
            </a:r>
            <a:r>
              <a:rPr lang="zh-CN" altLang="en-US" sz="5400" dirty="0">
                <a:solidFill>
                  <a:schemeClr val="tx2"/>
                </a:solidFill>
              </a:rPr>
              <a:t> </a:t>
            </a:r>
          </a:p>
        </p:txBody>
      </p:sp>
      <p:sp>
        <p:nvSpPr>
          <p:cNvPr id="3" name="副标题 2">
            <a:extLst>
              <a:ext uri="{FF2B5EF4-FFF2-40B4-BE49-F238E27FC236}">
                <a16:creationId xmlns:a16="http://schemas.microsoft.com/office/drawing/2014/main" id="{79A89368-ACE2-41B7-9F68-350DB9A638D0}"/>
              </a:ext>
            </a:extLst>
          </p:cNvPr>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a:t>
            </a:r>
            <a:r>
              <a:rPr lang="zh-CN" altLang="en-US" sz="2800" b="1">
                <a:solidFill>
                  <a:srgbClr val="002060"/>
                </a:solidFill>
                <a:ea typeface="方正琥珀简体"/>
              </a:rPr>
              <a:t>先亮</a:t>
            </a:r>
            <a:endParaRPr lang="zh-CN" altLang="en-US" sz="2800" b="1" dirty="0">
              <a:solidFill>
                <a:srgbClr val="002060"/>
              </a:solidFill>
              <a:ea typeface="方正琥珀简体"/>
            </a:endParaRPr>
          </a:p>
        </p:txBody>
      </p:sp>
    </p:spTree>
    <p:extLst>
      <p:ext uri="{BB962C8B-B14F-4D97-AF65-F5344CB8AC3E}">
        <p14:creationId xmlns:p14="http://schemas.microsoft.com/office/powerpoint/2010/main" val="370677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外存的组织方式</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CFF197B2-6755-4605-9238-589043F7A52A}"/>
              </a:ext>
            </a:extLst>
          </p:cNvPr>
          <p:cNvSpPr txBox="1"/>
          <p:nvPr/>
        </p:nvSpPr>
        <p:spPr>
          <a:xfrm>
            <a:off x="644236" y="1803553"/>
            <a:ext cx="10962409" cy="1200329"/>
          </a:xfrm>
          <a:prstGeom prst="rect">
            <a:avLst/>
          </a:prstGeom>
          <a:noFill/>
        </p:spPr>
        <p:txBody>
          <a:bodyPr wrap="square">
            <a:spAutoFit/>
          </a:bodyPr>
          <a:lstStyle/>
          <a:p>
            <a:pPr algn="just"/>
            <a:r>
              <a:rPr lang="zh-CN" altLang="en-US" sz="2400" dirty="0">
                <a:solidFill>
                  <a:schemeClr val="accent1">
                    <a:lumMod val="75000"/>
                  </a:schemeClr>
                </a:solidFill>
              </a:rPr>
              <a:t>         文件物理结构直接与外存组织方式有关。对于不同的外存组织方式，将形成不同的文件物理结构。目前常用的外存组织方式有：</a:t>
            </a:r>
            <a:r>
              <a:rPr lang="zh-CN" altLang="en-US" sz="2400" b="1" dirty="0">
                <a:solidFill>
                  <a:srgbClr val="FF0000"/>
                </a:solidFill>
              </a:rPr>
              <a:t>连续组织方式</a:t>
            </a:r>
            <a:r>
              <a:rPr lang="zh-CN" altLang="en-US" sz="2400" dirty="0">
                <a:solidFill>
                  <a:schemeClr val="accent1">
                    <a:lumMod val="75000"/>
                  </a:schemeClr>
                </a:solidFill>
              </a:rPr>
              <a:t>、</a:t>
            </a:r>
            <a:r>
              <a:rPr lang="zh-CN" altLang="en-US" sz="2400" b="1" dirty="0">
                <a:solidFill>
                  <a:srgbClr val="FF0000"/>
                </a:solidFill>
              </a:rPr>
              <a:t>链接组织方式</a:t>
            </a:r>
            <a:r>
              <a:rPr lang="zh-CN" altLang="en-US" sz="2400" dirty="0">
                <a:solidFill>
                  <a:schemeClr val="accent1">
                    <a:lumMod val="75000"/>
                  </a:schemeClr>
                </a:solidFill>
              </a:rPr>
              <a:t>、</a:t>
            </a:r>
            <a:r>
              <a:rPr lang="zh-CN" altLang="en-US" sz="2400" b="1" dirty="0">
                <a:solidFill>
                  <a:srgbClr val="FF0000"/>
                </a:solidFill>
              </a:rPr>
              <a:t>索引组织方式</a:t>
            </a:r>
            <a:r>
              <a:rPr lang="zh-CN" altLang="en-US" sz="2400" dirty="0">
                <a:solidFill>
                  <a:schemeClr val="accent1">
                    <a:lumMod val="75000"/>
                  </a:schemeClr>
                </a:solidFill>
              </a:rPr>
              <a:t>。</a:t>
            </a:r>
          </a:p>
        </p:txBody>
      </p:sp>
    </p:spTree>
    <p:extLst>
      <p:ext uri="{BB962C8B-B14F-4D97-AF65-F5344CB8AC3E}">
        <p14:creationId xmlns:p14="http://schemas.microsoft.com/office/powerpoint/2010/main" val="3712234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1" y="1510758"/>
            <a:ext cx="5011881" cy="5347242"/>
          </a:xfrm>
        </p:spPr>
        <p:txBody>
          <a:bodyPr>
            <a:normAutofit/>
          </a:bodyPr>
          <a:lstStyle/>
          <a:p>
            <a:pPr>
              <a:lnSpc>
                <a:spcPct val="120000"/>
              </a:lnSpc>
            </a:pPr>
            <a:r>
              <a:rPr kumimoji="1" lang="zh-CN" altLang="en-US" dirty="0"/>
              <a:t>连续组织方式</a:t>
            </a:r>
            <a:endParaRPr kumimoji="1" lang="en-US" altLang="zh-CN" dirty="0"/>
          </a:p>
          <a:p>
            <a:pPr lvl="1" algn="just">
              <a:buFont typeface="Wingdings" panose="05000000000000000000" pitchFamily="2" charset="2"/>
              <a:buChar char="ü"/>
            </a:pPr>
            <a:r>
              <a:rPr kumimoji="1" lang="zh-CN" altLang="en-US" sz="2000" dirty="0"/>
              <a:t>连续组织方式又称连续分配方式，要求为每一个文件分配一组相邻接盘块。例如第</a:t>
            </a:r>
            <a:r>
              <a:rPr kumimoji="1" lang="en-US" altLang="zh-CN" sz="2000" dirty="0"/>
              <a:t>1</a:t>
            </a:r>
            <a:r>
              <a:rPr kumimoji="1" lang="zh-CN" altLang="en-US" sz="2000" dirty="0"/>
              <a:t>个盘块的地址为</a:t>
            </a:r>
            <a:r>
              <a:rPr kumimoji="1" lang="en-US" altLang="zh-CN" sz="2000" dirty="0"/>
              <a:t>b</a:t>
            </a:r>
            <a:r>
              <a:rPr kumimoji="1" lang="zh-CN" altLang="en-US" sz="2000" dirty="0"/>
              <a:t>，则第二个盘块的地址为</a:t>
            </a:r>
            <a:r>
              <a:rPr kumimoji="1" lang="en-US" altLang="zh-CN" sz="2000" dirty="0"/>
              <a:t>b+1</a:t>
            </a:r>
            <a:r>
              <a:rPr kumimoji="1" lang="zh-CN" altLang="en-US" sz="2000" dirty="0"/>
              <a:t>，第三个盘块的地址为</a:t>
            </a:r>
            <a:r>
              <a:rPr kumimoji="1" lang="en-US" altLang="zh-CN" sz="2000" dirty="0"/>
              <a:t>b+2, …</a:t>
            </a:r>
            <a:r>
              <a:rPr kumimoji="1" lang="zh-CN" altLang="en-US" sz="2000" dirty="0"/>
              <a:t>。通常，它们都位于一条磁道上，在进行读</a:t>
            </a:r>
            <a:r>
              <a:rPr kumimoji="1" lang="en-US" altLang="zh-CN" sz="2000" dirty="0"/>
              <a:t>/</a:t>
            </a:r>
            <a:r>
              <a:rPr kumimoji="1" lang="zh-CN" altLang="en-US" sz="2000" dirty="0"/>
              <a:t>写时，不必移动磁头。在采用连续组织方式时，可把逻辑文件中的记录顺序地存储到邻接的各物理盘块中，这样所形成的文件结构称为顺序文件结构，此时的物理文件称为顺序文件。</a:t>
            </a:r>
            <a:endParaRPr kumimoji="1" lang="en-US" altLang="zh-CN" sz="2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9667D324-D0F6-4453-9E06-87B216B66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201" y="2421083"/>
            <a:ext cx="5587502" cy="296179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7DE0AB0-1ABA-4FE4-8220-BEF017347162}"/>
              </a:ext>
            </a:extLst>
          </p:cNvPr>
          <p:cNvSpPr txBox="1"/>
          <p:nvPr/>
        </p:nvSpPr>
        <p:spPr>
          <a:xfrm>
            <a:off x="7377764" y="5669556"/>
            <a:ext cx="3000375" cy="400110"/>
          </a:xfrm>
          <a:prstGeom prst="rect">
            <a:avLst/>
          </a:prstGeom>
          <a:noFill/>
        </p:spPr>
        <p:txBody>
          <a:bodyPr wrap="square">
            <a:spAutoFit/>
          </a:bodyPr>
          <a:lstStyle/>
          <a:p>
            <a:r>
              <a:rPr lang="zh-CN" altLang="en-US" sz="2000" dirty="0">
                <a:solidFill>
                  <a:schemeClr val="accent2">
                    <a:lumMod val="75000"/>
                  </a:schemeClr>
                </a:solidFill>
              </a:rPr>
              <a:t>磁盘空间的连续组织方式</a:t>
            </a:r>
          </a:p>
        </p:txBody>
      </p:sp>
    </p:spTree>
    <p:extLst>
      <p:ext uri="{BB962C8B-B14F-4D97-AF65-F5344CB8AC3E}">
        <p14:creationId xmlns:p14="http://schemas.microsoft.com/office/powerpoint/2010/main" val="110681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r>
              <a:rPr kumimoji="1" lang="zh-CN" altLang="en-US" dirty="0"/>
              <a:t>连续组织方式</a:t>
            </a:r>
            <a:endParaRPr kumimoji="1" lang="en-US" altLang="zh-CN" dirty="0"/>
          </a:p>
          <a:p>
            <a:pPr lvl="1" algn="just">
              <a:buFont typeface="Wingdings" panose="05000000000000000000" pitchFamily="2" charset="2"/>
              <a:buChar char="ü"/>
            </a:pPr>
            <a:r>
              <a:rPr kumimoji="1" lang="zh-CN" altLang="en-US" sz="2000" dirty="0"/>
              <a:t>连续组织方式的主要优点：</a:t>
            </a:r>
            <a:r>
              <a:rPr kumimoji="1" lang="zh-CN" altLang="en-US" sz="2000" b="1" dirty="0">
                <a:solidFill>
                  <a:srgbClr val="FF0000"/>
                </a:solidFill>
              </a:rPr>
              <a:t>顺序访问容易</a:t>
            </a:r>
            <a:r>
              <a:rPr kumimoji="1" lang="zh-CN" altLang="en-US" sz="2000" dirty="0"/>
              <a:t>、</a:t>
            </a:r>
            <a:r>
              <a:rPr kumimoji="1" lang="zh-CN" altLang="en-US" sz="2000" b="1" dirty="0">
                <a:solidFill>
                  <a:srgbClr val="FF0000"/>
                </a:solidFill>
              </a:rPr>
              <a:t>顺序访问速度快</a:t>
            </a:r>
            <a:r>
              <a:rPr kumimoji="1" lang="zh-CN" altLang="en-US" sz="2000" dirty="0"/>
              <a:t>。</a:t>
            </a:r>
            <a:endParaRPr kumimoji="1" lang="en-US" altLang="zh-CN" sz="2000" dirty="0"/>
          </a:p>
          <a:p>
            <a:pPr lvl="1" algn="just">
              <a:buFont typeface="Wingdings" panose="05000000000000000000" pitchFamily="2" charset="2"/>
              <a:buChar char="ü"/>
            </a:pPr>
            <a:r>
              <a:rPr kumimoji="1" lang="zh-CN" altLang="en-US" sz="2000" dirty="0"/>
              <a:t>连续组织方式的主要缺点：</a:t>
            </a:r>
            <a:r>
              <a:rPr kumimoji="1" lang="zh-CN" altLang="en-US" sz="2000" b="1" dirty="0">
                <a:solidFill>
                  <a:srgbClr val="FF0000"/>
                </a:solidFill>
              </a:rPr>
              <a:t>要求为一个文件分配连续的存储空间、必须事先知道文件的长度、不能灵活地删除和插入记录、对于那些动态增长的文件</a:t>
            </a:r>
            <a:r>
              <a:rPr kumimoji="1" lang="zh-CN" altLang="en-US" sz="2000" dirty="0"/>
              <a:t>。</a:t>
            </a:r>
            <a:endParaRPr kumimoji="1" lang="en-US" altLang="zh-CN" sz="2000" dirty="0"/>
          </a:p>
          <a:p>
            <a:pPr>
              <a:lnSpc>
                <a:spcPct val="120000"/>
              </a:lnSpc>
            </a:pPr>
            <a:r>
              <a:rPr kumimoji="1" lang="zh-CN" altLang="en-US" dirty="0"/>
              <a:t>链接组织方式</a:t>
            </a:r>
            <a:endParaRPr kumimoji="1" lang="en-US" altLang="zh-CN" dirty="0"/>
          </a:p>
          <a:p>
            <a:pPr lvl="1" algn="just">
              <a:buFont typeface="Wingdings" panose="05000000000000000000" pitchFamily="2" charset="2"/>
              <a:buChar char="ü"/>
            </a:pPr>
            <a:r>
              <a:rPr kumimoji="1" lang="zh-CN" altLang="en-US" sz="2000" dirty="0"/>
              <a:t>如果可将文件装到多个离散盘块中，就可消除连续组织方式的缺点。在采用链接组织方式时，可为文件分配多个不连续盘块，再通过每个盘块上的链接指针，将同属于一个文件的多个离散盘块链接成一个链表，由此所形成的物理文件称为链接文件。链接组织方式的主要优点是：</a:t>
            </a:r>
            <a:r>
              <a:rPr kumimoji="1" lang="zh-CN" altLang="en-US" sz="2000" b="1" dirty="0">
                <a:solidFill>
                  <a:srgbClr val="FF0000"/>
                </a:solidFill>
              </a:rPr>
              <a:t>消除了磁盘的外部碎片，提高了外存的利用率；对插入、删除和修改记录都非常容易；能适应文件动态增长，无需事先知道文件的大小</a:t>
            </a:r>
            <a:r>
              <a:rPr kumimoji="1" lang="zh-CN" altLang="en-US" sz="2000" dirty="0"/>
              <a:t>。</a:t>
            </a:r>
            <a:endParaRPr kumimoji="1" lang="en-US" altLang="zh-CN" sz="2000"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659130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20000"/>
              </a:lnSpc>
            </a:pPr>
            <a:r>
              <a:rPr kumimoji="1" lang="zh-CN" altLang="en-US" dirty="0"/>
              <a:t>链接组织方式</a:t>
            </a:r>
            <a:endParaRPr kumimoji="1" lang="en-US" altLang="zh-CN" dirty="0"/>
          </a:p>
          <a:p>
            <a:pPr lvl="1" algn="just">
              <a:buFont typeface="Wingdings" panose="05000000000000000000" pitchFamily="2" charset="2"/>
              <a:buChar char="ü"/>
            </a:pPr>
            <a:r>
              <a:rPr kumimoji="1" lang="zh-CN" altLang="en-US" dirty="0"/>
              <a:t>隐式链接</a:t>
            </a:r>
            <a:endParaRPr kumimoji="1" lang="en-US" altLang="zh-CN" dirty="0"/>
          </a:p>
          <a:p>
            <a:pPr marL="914400" lvl="2" indent="0" algn="just">
              <a:buNone/>
            </a:pPr>
            <a:r>
              <a:rPr kumimoji="1" lang="zh-CN" altLang="en-US" dirty="0"/>
              <a:t>采用隐式链接组织方式时，文件目录的每个目录项中都须含有指向链接文件第一个盘块和最后一个盘块的指针。</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D4836E61-77D7-4FE8-92C0-A957B0F3B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9555" y="3366144"/>
            <a:ext cx="4901045" cy="299020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21F2BBCC-AE48-4C0C-93E5-7C0EC9D6A63E}"/>
              </a:ext>
            </a:extLst>
          </p:cNvPr>
          <p:cNvSpPr txBox="1"/>
          <p:nvPr/>
        </p:nvSpPr>
        <p:spPr>
          <a:xfrm>
            <a:off x="4724400" y="6487988"/>
            <a:ext cx="2743200" cy="400110"/>
          </a:xfrm>
          <a:prstGeom prst="rect">
            <a:avLst/>
          </a:prstGeom>
          <a:noFill/>
        </p:spPr>
        <p:txBody>
          <a:bodyPr wrap="square">
            <a:spAutoFit/>
          </a:bodyPr>
          <a:lstStyle/>
          <a:p>
            <a:r>
              <a:rPr lang="zh-CN" altLang="en-US" sz="2000" dirty="0">
                <a:solidFill>
                  <a:schemeClr val="accent2">
                    <a:lumMod val="75000"/>
                  </a:schemeClr>
                </a:solidFill>
              </a:rPr>
              <a:t>磁盘空间的链接式分配</a:t>
            </a:r>
          </a:p>
        </p:txBody>
      </p:sp>
    </p:spTree>
    <p:extLst>
      <p:ext uri="{BB962C8B-B14F-4D97-AF65-F5344CB8AC3E}">
        <p14:creationId xmlns:p14="http://schemas.microsoft.com/office/powerpoint/2010/main" val="419545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20000"/>
              </a:lnSpc>
            </a:pPr>
            <a:r>
              <a:rPr kumimoji="1" lang="zh-CN" altLang="en-US" dirty="0"/>
              <a:t>链接组织方式</a:t>
            </a:r>
            <a:endParaRPr kumimoji="1" lang="en-US" altLang="zh-CN" dirty="0"/>
          </a:p>
          <a:p>
            <a:pPr lvl="1" algn="just">
              <a:buFont typeface="Wingdings" panose="05000000000000000000" pitchFamily="2" charset="2"/>
              <a:buChar char="ü"/>
            </a:pPr>
            <a:r>
              <a:rPr kumimoji="1" lang="zh-CN" altLang="en-US" dirty="0"/>
              <a:t>显式链接</a:t>
            </a:r>
            <a:endParaRPr kumimoji="1" lang="en-US" altLang="zh-CN" dirty="0"/>
          </a:p>
          <a:p>
            <a:pPr marL="914400" lvl="2" indent="0" algn="just">
              <a:buNone/>
            </a:pPr>
            <a:r>
              <a:rPr kumimoji="1" lang="zh-CN" altLang="en-US" dirty="0"/>
              <a:t>把用于链接文件各物理块的指针显式地存放在内存的一张链接表中，该表在整个磁盘中仅设置一张，如下图所示：</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21F2BBCC-AE48-4C0C-93E5-7C0EC9D6A63E}"/>
              </a:ext>
            </a:extLst>
          </p:cNvPr>
          <p:cNvSpPr txBox="1"/>
          <p:nvPr/>
        </p:nvSpPr>
        <p:spPr>
          <a:xfrm>
            <a:off x="4289713" y="6356350"/>
            <a:ext cx="2743200" cy="400110"/>
          </a:xfrm>
          <a:prstGeom prst="rect">
            <a:avLst/>
          </a:prstGeom>
          <a:noFill/>
        </p:spPr>
        <p:txBody>
          <a:bodyPr wrap="square">
            <a:spAutoFit/>
          </a:bodyPr>
          <a:lstStyle/>
          <a:p>
            <a:pPr algn="ctr"/>
            <a:r>
              <a:rPr lang="zh-CN" altLang="en-US" sz="2000" dirty="0">
                <a:solidFill>
                  <a:schemeClr val="accent2">
                    <a:lumMod val="75000"/>
                  </a:schemeClr>
                </a:solidFill>
              </a:rPr>
              <a:t>显式链接结构</a:t>
            </a:r>
          </a:p>
        </p:txBody>
      </p:sp>
      <p:pic>
        <p:nvPicPr>
          <p:cNvPr id="8" name="Picture 4">
            <a:extLst>
              <a:ext uri="{FF2B5EF4-FFF2-40B4-BE49-F238E27FC236}">
                <a16:creationId xmlns:a16="http://schemas.microsoft.com/office/drawing/2014/main" id="{16AE877C-15CD-4F8D-B861-14BC97CF4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480957"/>
            <a:ext cx="4464627" cy="2611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976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4752109" cy="5347242"/>
          </a:xfrm>
        </p:spPr>
        <p:txBody>
          <a:bodyPr>
            <a:normAutofit/>
          </a:bodyPr>
          <a:lstStyle/>
          <a:p>
            <a:pPr>
              <a:lnSpc>
                <a:spcPct val="120000"/>
              </a:lnSpc>
            </a:pPr>
            <a:r>
              <a:rPr kumimoji="1" lang="en-US" altLang="zh-CN" dirty="0"/>
              <a:t>FAT</a:t>
            </a:r>
            <a:r>
              <a:rPr kumimoji="1" lang="zh-CN" altLang="en-US" dirty="0"/>
              <a:t>技术</a:t>
            </a:r>
            <a:endParaRPr kumimoji="1" lang="en-US" altLang="zh-CN" dirty="0"/>
          </a:p>
          <a:p>
            <a:pPr lvl="1" algn="just">
              <a:buFont typeface="Wingdings" panose="05000000000000000000" pitchFamily="2" charset="2"/>
              <a:buChar char="ü"/>
            </a:pPr>
            <a:r>
              <a:rPr kumimoji="1" lang="en-US" altLang="zh-CN" dirty="0"/>
              <a:t>FAT12</a:t>
            </a:r>
          </a:p>
          <a:p>
            <a:pPr marL="914400" lvl="2" indent="0" algn="just">
              <a:buNone/>
            </a:pPr>
            <a:r>
              <a:rPr kumimoji="1" lang="zh-CN" altLang="en-US" b="1" dirty="0">
                <a:solidFill>
                  <a:srgbClr val="FF0000"/>
                </a:solidFill>
              </a:rPr>
              <a:t>早期</a:t>
            </a:r>
            <a:r>
              <a:rPr kumimoji="1" lang="en-US" altLang="zh-CN" b="1" dirty="0">
                <a:solidFill>
                  <a:srgbClr val="FF0000"/>
                </a:solidFill>
              </a:rPr>
              <a:t>FAT12</a:t>
            </a:r>
            <a:r>
              <a:rPr kumimoji="1" lang="zh-CN" altLang="en-US" b="1" dirty="0">
                <a:solidFill>
                  <a:srgbClr val="FF0000"/>
                </a:solidFill>
              </a:rPr>
              <a:t>文件系统</a:t>
            </a:r>
            <a:r>
              <a:rPr kumimoji="1" lang="zh-CN" altLang="en-US" dirty="0"/>
              <a:t>：</a:t>
            </a:r>
            <a:r>
              <a:rPr kumimoji="1" lang="en-US" altLang="zh-CN" dirty="0"/>
              <a:t>FAT12</a:t>
            </a:r>
            <a:r>
              <a:rPr kumimoji="1" lang="zh-CN" altLang="en-US" dirty="0"/>
              <a:t>以盘块为基本分配单位。由于</a:t>
            </a:r>
            <a:r>
              <a:rPr kumimoji="1" lang="en-US" altLang="zh-CN" dirty="0"/>
              <a:t>FAT</a:t>
            </a:r>
            <a:r>
              <a:rPr kumimoji="1" lang="zh-CN" altLang="en-US" dirty="0"/>
              <a:t>是文件系统中最重要的数据结构，为安全起见，在每个分区中都配有</a:t>
            </a:r>
            <a:r>
              <a:rPr kumimoji="1" lang="zh-CN" altLang="en-US" b="1" dirty="0">
                <a:solidFill>
                  <a:srgbClr val="FF0000"/>
                </a:solidFill>
              </a:rPr>
              <a:t>两张</a:t>
            </a:r>
            <a:r>
              <a:rPr kumimoji="1" lang="zh-CN" altLang="en-US" dirty="0"/>
              <a:t>相同的文件分配表</a:t>
            </a:r>
            <a:r>
              <a:rPr kumimoji="1" lang="en-US" altLang="zh-CN" dirty="0"/>
              <a:t>FAT1</a:t>
            </a:r>
            <a:r>
              <a:rPr kumimoji="1" lang="zh-CN" altLang="en-US" dirty="0"/>
              <a:t>和</a:t>
            </a:r>
            <a:r>
              <a:rPr kumimoji="1" lang="en-US" altLang="zh-CN" dirty="0"/>
              <a:t>FAT2</a:t>
            </a:r>
            <a:r>
              <a:rPr kumimoji="1" lang="zh-CN" altLang="en-US" dirty="0"/>
              <a:t>。在</a:t>
            </a:r>
            <a:r>
              <a:rPr kumimoji="1" lang="en-US" altLang="zh-CN" dirty="0"/>
              <a:t>FAT</a:t>
            </a:r>
            <a:r>
              <a:rPr kumimoji="1" lang="zh-CN" altLang="en-US" dirty="0"/>
              <a:t>的每个表项中存放下一个盘块号，它实际上是盘块之间的链接指针，通过它可将一个文件所有盘块链接起来，而将文件第一个盘块号放在自己的</a:t>
            </a:r>
            <a:r>
              <a:rPr kumimoji="1" lang="en-US" altLang="zh-CN" dirty="0"/>
              <a:t>FCB</a:t>
            </a:r>
            <a:r>
              <a:rPr kumimoji="1" lang="zh-CN" altLang="en-US" dirty="0"/>
              <a:t>中。</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9" name="Picture 4">
            <a:extLst>
              <a:ext uri="{FF2B5EF4-FFF2-40B4-BE49-F238E27FC236}">
                <a16:creationId xmlns:a16="http://schemas.microsoft.com/office/drawing/2014/main" id="{242FDF06-05F4-43D6-A75A-CEDDB0AF0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972" y="2509956"/>
            <a:ext cx="3603987" cy="354120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8580E895-0825-4A3D-A8E2-3EE6094D525D}"/>
              </a:ext>
            </a:extLst>
          </p:cNvPr>
          <p:cNvSpPr txBox="1"/>
          <p:nvPr/>
        </p:nvSpPr>
        <p:spPr>
          <a:xfrm>
            <a:off x="7198517" y="6300829"/>
            <a:ext cx="2924898" cy="400110"/>
          </a:xfrm>
          <a:prstGeom prst="rect">
            <a:avLst/>
          </a:prstGeom>
          <a:noFill/>
        </p:spPr>
        <p:txBody>
          <a:bodyPr wrap="square">
            <a:spAutoFit/>
          </a:bodyPr>
          <a:lstStyle/>
          <a:p>
            <a:r>
              <a:rPr lang="en-US" altLang="zh-CN" sz="2000" dirty="0">
                <a:solidFill>
                  <a:schemeClr val="accent3">
                    <a:lumMod val="50000"/>
                  </a:schemeClr>
                </a:solidFill>
                <a:latin typeface="Times New Roman" panose="02020603050405020304" pitchFamily="18" charset="0"/>
                <a:cs typeface="Times New Roman" panose="02020603050405020304" pitchFamily="18" charset="0"/>
              </a:rPr>
              <a:t>MS-DOS</a:t>
            </a:r>
            <a:r>
              <a:rPr lang="zh-CN" altLang="en-US" sz="2000" dirty="0">
                <a:solidFill>
                  <a:schemeClr val="accent3">
                    <a:lumMod val="50000"/>
                  </a:schemeClr>
                </a:solidFill>
                <a:latin typeface="Times New Roman" panose="02020603050405020304" pitchFamily="18" charset="0"/>
                <a:cs typeface="Times New Roman" panose="02020603050405020304" pitchFamily="18" charset="0"/>
              </a:rPr>
              <a:t>的文件物理结构</a:t>
            </a:r>
          </a:p>
        </p:txBody>
      </p:sp>
      <p:pic>
        <p:nvPicPr>
          <p:cNvPr id="6" name="图片 5">
            <a:extLst>
              <a:ext uri="{FF2B5EF4-FFF2-40B4-BE49-F238E27FC236}">
                <a16:creationId xmlns:a16="http://schemas.microsoft.com/office/drawing/2014/main" id="{40C122BE-B5B6-4D7B-BCB1-BA179CC2EB89}"/>
              </a:ext>
            </a:extLst>
          </p:cNvPr>
          <p:cNvPicPr>
            <a:picLocks noChangeAspect="1"/>
          </p:cNvPicPr>
          <p:nvPr/>
        </p:nvPicPr>
        <p:blipFill>
          <a:blip r:embed="rId3"/>
          <a:stretch>
            <a:fillRect/>
          </a:stretch>
        </p:blipFill>
        <p:spPr>
          <a:xfrm>
            <a:off x="8991600" y="9907"/>
            <a:ext cx="3200400" cy="2432719"/>
          </a:xfrm>
          <a:prstGeom prst="rect">
            <a:avLst/>
          </a:prstGeom>
        </p:spPr>
      </p:pic>
    </p:spTree>
    <p:extLst>
      <p:ext uri="{BB962C8B-B14F-4D97-AF65-F5344CB8AC3E}">
        <p14:creationId xmlns:p14="http://schemas.microsoft.com/office/powerpoint/2010/main" val="2306528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20000"/>
              </a:lnSpc>
            </a:pPr>
            <a:r>
              <a:rPr kumimoji="1" lang="en-US" altLang="zh-CN" dirty="0"/>
              <a:t>FAT</a:t>
            </a:r>
            <a:r>
              <a:rPr kumimoji="1" lang="zh-CN" altLang="en-US" dirty="0"/>
              <a:t>技术</a:t>
            </a:r>
            <a:endParaRPr kumimoji="1" lang="en-US" altLang="zh-CN" dirty="0"/>
          </a:p>
          <a:p>
            <a:pPr lvl="1" algn="just">
              <a:buFont typeface="Wingdings" panose="05000000000000000000" pitchFamily="2" charset="2"/>
              <a:buChar char="ü"/>
            </a:pPr>
            <a:r>
              <a:rPr kumimoji="1" lang="en-US" altLang="zh-CN" dirty="0"/>
              <a:t>FAT12</a:t>
            </a:r>
          </a:p>
          <a:p>
            <a:pPr marL="914400" lvl="2" indent="0" algn="just">
              <a:buNone/>
            </a:pPr>
            <a:r>
              <a:rPr kumimoji="1" lang="zh-CN" altLang="en-US" b="1" dirty="0">
                <a:solidFill>
                  <a:srgbClr val="FF0000"/>
                </a:solidFill>
              </a:rPr>
              <a:t>以簇为单位的</a:t>
            </a:r>
            <a:r>
              <a:rPr kumimoji="1" lang="en-US" altLang="zh-CN" b="1" dirty="0">
                <a:solidFill>
                  <a:srgbClr val="FF0000"/>
                </a:solidFill>
              </a:rPr>
              <a:t>FAT12</a:t>
            </a:r>
            <a:r>
              <a:rPr kumimoji="1" lang="zh-CN" altLang="en-US" b="1" dirty="0">
                <a:solidFill>
                  <a:srgbClr val="FF0000"/>
                </a:solidFill>
              </a:rPr>
              <a:t>文件系统</a:t>
            </a:r>
            <a:r>
              <a:rPr kumimoji="1" lang="zh-CN" altLang="en-US" dirty="0"/>
              <a:t>：稍加分析便可看出，如果把每个盘块</a:t>
            </a:r>
            <a:r>
              <a:rPr kumimoji="1" lang="en-US" altLang="zh-CN" dirty="0"/>
              <a:t>(</a:t>
            </a:r>
            <a:r>
              <a:rPr kumimoji="1" lang="zh-CN" altLang="en-US" dirty="0"/>
              <a:t>扇区</a:t>
            </a:r>
            <a:r>
              <a:rPr kumimoji="1" lang="en-US" altLang="zh-CN" dirty="0"/>
              <a:t>)</a:t>
            </a:r>
            <a:r>
              <a:rPr kumimoji="1" lang="zh-CN" altLang="en-US" dirty="0"/>
              <a:t>的容量增大</a:t>
            </a:r>
            <a:r>
              <a:rPr kumimoji="1" lang="en-US" altLang="zh-CN" dirty="0"/>
              <a:t>n</a:t>
            </a:r>
            <a:r>
              <a:rPr kumimoji="1" lang="zh-CN" altLang="en-US" dirty="0"/>
              <a:t>倍，则磁盘的最大容量便可增加</a:t>
            </a:r>
            <a:r>
              <a:rPr kumimoji="1" lang="en-US" altLang="zh-CN" dirty="0"/>
              <a:t>n</a:t>
            </a:r>
            <a:r>
              <a:rPr kumimoji="1" lang="zh-CN" altLang="en-US" dirty="0"/>
              <a:t>倍。但要增加盘块容量是不方便和不灵活的。为此，引入了簇</a:t>
            </a:r>
            <a:r>
              <a:rPr kumimoji="1" lang="en-US" altLang="zh-CN" dirty="0"/>
              <a:t>(cluster)</a:t>
            </a:r>
            <a:r>
              <a:rPr kumimoji="1" lang="zh-CN" altLang="en-US" dirty="0"/>
              <a:t>的概念。</a:t>
            </a:r>
            <a:endParaRPr kumimoji="1" lang="en-US" altLang="zh-CN" dirty="0"/>
          </a:p>
          <a:p>
            <a:pPr lvl="1" algn="just">
              <a:buFont typeface="Wingdings" panose="05000000000000000000" pitchFamily="2" charset="2"/>
              <a:buChar char="ü"/>
            </a:pPr>
            <a:r>
              <a:rPr kumimoji="1" lang="en-US" altLang="zh-CN" dirty="0"/>
              <a:t>FAT16</a:t>
            </a:r>
          </a:p>
          <a:p>
            <a:pPr marL="914400" lvl="2" indent="0" algn="just">
              <a:buNone/>
            </a:pPr>
            <a:r>
              <a:rPr kumimoji="1" lang="en-US" altLang="zh-CN" dirty="0"/>
              <a:t>FAT12</a:t>
            </a:r>
            <a:r>
              <a:rPr kumimoji="1" lang="zh-CN" altLang="en-US" dirty="0"/>
              <a:t>对磁盘容量限制的原因在于</a:t>
            </a:r>
            <a:r>
              <a:rPr kumimoji="1" lang="en-US" altLang="zh-CN" dirty="0"/>
              <a:t>FAT12</a:t>
            </a:r>
            <a:r>
              <a:rPr kumimoji="1" lang="zh-CN" altLang="en-US" dirty="0"/>
              <a:t>表中的</a:t>
            </a:r>
            <a:r>
              <a:rPr kumimoji="1" lang="zh-CN" altLang="en-US" b="1" dirty="0">
                <a:solidFill>
                  <a:srgbClr val="FF0000"/>
                </a:solidFill>
              </a:rPr>
              <a:t>表项有限制</a:t>
            </a:r>
            <a:r>
              <a:rPr kumimoji="1" lang="zh-CN" altLang="en-US" dirty="0"/>
              <a:t>，亦即最多只允许</a:t>
            </a:r>
            <a:r>
              <a:rPr kumimoji="1" lang="en-US" altLang="zh-CN" dirty="0"/>
              <a:t>4096</a:t>
            </a:r>
            <a:r>
              <a:rPr kumimoji="1" lang="zh-CN" altLang="en-US" dirty="0"/>
              <a:t>个表项。随着磁盘容量的增加，必定会引起簇的大小和簇内碎片也随之增加。</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863516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4658032" cy="4982116"/>
          </a:xfrm>
        </p:spPr>
        <p:txBody>
          <a:bodyPr>
            <a:normAutofit/>
          </a:bodyPr>
          <a:lstStyle/>
          <a:p>
            <a:pPr>
              <a:lnSpc>
                <a:spcPct val="120000"/>
              </a:lnSpc>
            </a:pPr>
            <a:r>
              <a:rPr kumimoji="1" lang="en-US" altLang="zh-CN" dirty="0"/>
              <a:t>FAT</a:t>
            </a:r>
            <a:r>
              <a:rPr kumimoji="1" lang="zh-CN" altLang="en-US" dirty="0"/>
              <a:t>技术</a:t>
            </a:r>
            <a:endParaRPr kumimoji="1" lang="en-US" altLang="zh-CN" dirty="0"/>
          </a:p>
          <a:p>
            <a:pPr lvl="1" algn="just">
              <a:buFont typeface="Wingdings" panose="05000000000000000000" pitchFamily="2" charset="2"/>
              <a:buChar char="ü"/>
            </a:pPr>
            <a:r>
              <a:rPr kumimoji="1" lang="en-US" altLang="zh-CN" dirty="0"/>
              <a:t>FAT32</a:t>
            </a:r>
          </a:p>
          <a:p>
            <a:pPr marL="914400" lvl="2" indent="0" algn="just">
              <a:buNone/>
            </a:pPr>
            <a:r>
              <a:rPr kumimoji="1" lang="zh-CN" altLang="en-US" dirty="0"/>
              <a:t>由于</a:t>
            </a:r>
            <a:r>
              <a:rPr kumimoji="1" lang="en-US" altLang="zh-CN" dirty="0"/>
              <a:t>FAT16</a:t>
            </a:r>
            <a:r>
              <a:rPr kumimoji="1" lang="zh-CN" altLang="en-US" dirty="0"/>
              <a:t>表的长度只有</a:t>
            </a:r>
            <a:r>
              <a:rPr kumimoji="1" lang="en-US" altLang="zh-CN" dirty="0"/>
              <a:t>65 535</a:t>
            </a:r>
            <a:r>
              <a:rPr kumimoji="1" lang="zh-CN" altLang="en-US" dirty="0"/>
              <a:t>项，随着磁盘容量的增加，簇的大小也必然会随之增加，为了减少簇内零，也就应当增加</a:t>
            </a:r>
            <a:r>
              <a:rPr kumimoji="1" lang="en-US" altLang="zh-CN" dirty="0"/>
              <a:t>FAT</a:t>
            </a:r>
            <a:r>
              <a:rPr kumimoji="1" lang="zh-CN" altLang="en-US" dirty="0"/>
              <a:t>表的长度，为此需要再增加</a:t>
            </a:r>
            <a:r>
              <a:rPr kumimoji="1" lang="en-US" altLang="zh-CN" dirty="0"/>
              <a:t>FAT</a:t>
            </a:r>
            <a:r>
              <a:rPr kumimoji="1" lang="zh-CN" altLang="en-US" dirty="0"/>
              <a:t>表的宽度，这样也就由</a:t>
            </a:r>
            <a:r>
              <a:rPr kumimoji="1" lang="en-US" altLang="zh-CN" dirty="0"/>
              <a:t>FAT16</a:t>
            </a:r>
            <a:r>
              <a:rPr kumimoji="1" lang="zh-CN" altLang="en-US" dirty="0"/>
              <a:t>演变为</a:t>
            </a:r>
            <a:r>
              <a:rPr kumimoji="1" lang="en-US" altLang="zh-CN" dirty="0"/>
              <a:t>FAT32</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B1747C4B-4B3A-45BB-8481-551FB9DB6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820" y="2778024"/>
            <a:ext cx="4041058" cy="322424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ACFE80B0-AB45-41FD-87A8-A760D9133383}"/>
              </a:ext>
            </a:extLst>
          </p:cNvPr>
          <p:cNvSpPr txBox="1"/>
          <p:nvPr/>
        </p:nvSpPr>
        <p:spPr>
          <a:xfrm>
            <a:off x="6057283" y="6092764"/>
            <a:ext cx="4491777" cy="400110"/>
          </a:xfrm>
          <a:prstGeom prst="rect">
            <a:avLst/>
          </a:prstGeom>
          <a:noFill/>
        </p:spPr>
        <p:txBody>
          <a:bodyPr wrap="square">
            <a:spAutoFit/>
          </a:bodyPr>
          <a:lstStyle/>
          <a:p>
            <a:pPr algn="ctr"/>
            <a:r>
              <a:rPr lang="en-US" altLang="zh-CN" sz="2000" b="1" dirty="0">
                <a:solidFill>
                  <a:schemeClr val="accent3">
                    <a:lumMod val="75000"/>
                  </a:schemeClr>
                </a:solidFill>
                <a:latin typeface="Times New Roman" panose="02020603050405020304" pitchFamily="18" charset="0"/>
                <a:cs typeface="Times New Roman" panose="02020603050405020304" pitchFamily="18" charset="0"/>
              </a:rPr>
              <a:t>FAT</a:t>
            </a:r>
            <a:r>
              <a:rPr lang="zh-CN" altLang="en-US" sz="2000" b="1" dirty="0">
                <a:solidFill>
                  <a:schemeClr val="accent3">
                    <a:lumMod val="75000"/>
                  </a:schemeClr>
                </a:solidFill>
                <a:latin typeface="Times New Roman" panose="02020603050405020304" pitchFamily="18" charset="0"/>
                <a:cs typeface="Times New Roman" panose="02020603050405020304" pitchFamily="18" charset="0"/>
              </a:rPr>
              <a:t>中簇的大小与最大分区的对应关系</a:t>
            </a:r>
          </a:p>
        </p:txBody>
      </p:sp>
    </p:spTree>
    <p:extLst>
      <p:ext uri="{BB962C8B-B14F-4D97-AF65-F5344CB8AC3E}">
        <p14:creationId xmlns:p14="http://schemas.microsoft.com/office/powerpoint/2010/main" val="3326242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20000"/>
              </a:lnSpc>
            </a:pPr>
            <a:r>
              <a:rPr kumimoji="1" lang="en-US" altLang="zh-CN" dirty="0"/>
              <a:t>NTFS</a:t>
            </a:r>
            <a:r>
              <a:rPr kumimoji="1" lang="zh-CN" altLang="en-US" dirty="0"/>
              <a:t>的文件组织方式</a:t>
            </a:r>
            <a:endParaRPr kumimoji="1" lang="en-US" altLang="zh-CN" dirty="0"/>
          </a:p>
          <a:p>
            <a:pPr lvl="1" algn="just">
              <a:buFont typeface="Wingdings" panose="05000000000000000000" pitchFamily="2" charset="2"/>
              <a:buChar char="ü"/>
            </a:pPr>
            <a:r>
              <a:rPr kumimoji="1" lang="en-US" altLang="zh-CN" dirty="0"/>
              <a:t>NTFS</a:t>
            </a:r>
            <a:r>
              <a:rPr kumimoji="1" lang="zh-CN" altLang="en-US" dirty="0"/>
              <a:t>新特征</a:t>
            </a:r>
            <a:endParaRPr kumimoji="1" lang="en-US" altLang="zh-CN" dirty="0"/>
          </a:p>
          <a:p>
            <a:pPr marL="914400" lvl="2" indent="0" algn="just">
              <a:buNone/>
            </a:pPr>
            <a:r>
              <a:rPr kumimoji="1" lang="en-US" altLang="zh-CN" dirty="0"/>
              <a:t>NTFS(New Technology File System)</a:t>
            </a:r>
            <a:r>
              <a:rPr kumimoji="1" lang="zh-CN" altLang="en-US" dirty="0"/>
              <a:t>是一个专门为</a:t>
            </a:r>
            <a:r>
              <a:rPr kumimoji="1" lang="en-US" altLang="zh-CN" dirty="0"/>
              <a:t>Windows NT</a:t>
            </a:r>
            <a:r>
              <a:rPr kumimoji="1" lang="zh-CN" altLang="en-US" dirty="0"/>
              <a:t>开发的、全新的文件系统，并适用于</a:t>
            </a:r>
            <a:r>
              <a:rPr kumimoji="1" lang="en-US" altLang="zh-CN" dirty="0"/>
              <a:t>Windows 2000/XP</a:t>
            </a:r>
            <a:r>
              <a:rPr kumimoji="1" lang="zh-CN" altLang="en-US" dirty="0"/>
              <a:t>及后续的</a:t>
            </a:r>
            <a:r>
              <a:rPr kumimoji="1" lang="en-US" altLang="zh-CN" dirty="0"/>
              <a:t>Windows OS</a:t>
            </a:r>
            <a:r>
              <a:rPr kumimoji="1" lang="zh-CN" altLang="en-US" dirty="0"/>
              <a:t>。</a:t>
            </a:r>
            <a:endParaRPr kumimoji="1" lang="en-US" altLang="zh-CN" dirty="0"/>
          </a:p>
          <a:p>
            <a:pPr lvl="1" algn="just">
              <a:buFont typeface="Wingdings" panose="05000000000000000000" pitchFamily="2" charset="2"/>
              <a:buChar char="ü"/>
            </a:pPr>
            <a:r>
              <a:rPr kumimoji="1" lang="zh-CN" altLang="en-US" dirty="0"/>
              <a:t>磁盘组织</a:t>
            </a:r>
            <a:endParaRPr kumimoji="1" lang="en-US" altLang="zh-CN" dirty="0"/>
          </a:p>
          <a:p>
            <a:pPr marL="914400" lvl="2" indent="0" algn="just">
              <a:buNone/>
            </a:pPr>
            <a:r>
              <a:rPr kumimoji="1" lang="en-US" altLang="zh-CN" dirty="0"/>
              <a:t>NTFS</a:t>
            </a:r>
            <a:r>
              <a:rPr kumimoji="1" lang="zh-CN" altLang="en-US" dirty="0"/>
              <a:t>以簇为磁盘空间分配和回收的基本单位。</a:t>
            </a:r>
            <a:r>
              <a:rPr kumimoji="1" lang="zh-CN" altLang="en-US" b="1" dirty="0">
                <a:solidFill>
                  <a:srgbClr val="FF0000"/>
                </a:solidFill>
              </a:rPr>
              <a:t>一个文件占用若干个簇，一个簇只属于一个文件</a:t>
            </a:r>
            <a:r>
              <a:rPr kumimoji="1" lang="zh-CN" altLang="en-US" dirty="0"/>
              <a:t>。在为文件分配磁盘空间时，无须知道盘块的大小，只要根据不同的磁盘容量，选择相应大小的簇，即使</a:t>
            </a:r>
            <a:r>
              <a:rPr kumimoji="1" lang="en-US" altLang="zh-CN" dirty="0"/>
              <a:t>NTFS</a:t>
            </a:r>
            <a:r>
              <a:rPr kumimoji="1" lang="zh-CN" altLang="en-US" dirty="0"/>
              <a:t>具有了与磁盘物理块大小无关的独立性。</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246306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10515600" cy="4982116"/>
          </a:xfrm>
        </p:spPr>
        <p:txBody>
          <a:bodyPr>
            <a:normAutofit/>
          </a:bodyPr>
          <a:lstStyle/>
          <a:p>
            <a:pPr>
              <a:lnSpc>
                <a:spcPct val="120000"/>
              </a:lnSpc>
            </a:pPr>
            <a:r>
              <a:rPr kumimoji="1" lang="en-US" altLang="zh-CN" dirty="0"/>
              <a:t>NTFS</a:t>
            </a:r>
            <a:r>
              <a:rPr kumimoji="1" lang="zh-CN" altLang="en-US" dirty="0"/>
              <a:t>的文件组织方式</a:t>
            </a:r>
            <a:endParaRPr kumimoji="1" lang="en-US" altLang="zh-CN" dirty="0"/>
          </a:p>
          <a:p>
            <a:pPr lvl="1" algn="just">
              <a:buFont typeface="Wingdings" panose="05000000000000000000" pitchFamily="2" charset="2"/>
              <a:buChar char="ü"/>
            </a:pPr>
            <a:r>
              <a:rPr kumimoji="1" lang="zh-CN" altLang="en-US" dirty="0"/>
              <a:t>文件的组织</a:t>
            </a:r>
            <a:endParaRPr kumimoji="1" lang="en-US" altLang="zh-CN" dirty="0"/>
          </a:p>
          <a:p>
            <a:pPr marL="914400" lvl="2" indent="0" algn="just">
              <a:buNone/>
            </a:pPr>
            <a:r>
              <a:rPr kumimoji="1" lang="zh-CN" altLang="en-US" dirty="0"/>
              <a:t>在</a:t>
            </a:r>
            <a:r>
              <a:rPr kumimoji="1" lang="en-US" altLang="zh-CN" dirty="0"/>
              <a:t>NTFS</a:t>
            </a:r>
            <a:r>
              <a:rPr kumimoji="1" lang="zh-CN" altLang="en-US" dirty="0"/>
              <a:t>中，以卷为单位，将一个卷中的所有文件信息、目录信息以及可用的未分配空间信息，都以文件记录的方式记录在一张主控文件表</a:t>
            </a:r>
            <a:r>
              <a:rPr kumimoji="1" lang="en-US" altLang="zh-CN" dirty="0"/>
              <a:t>MFT(Master File Table)</a:t>
            </a:r>
            <a:r>
              <a:rPr kumimoji="1" lang="zh-CN" altLang="en-US" dirty="0"/>
              <a:t>中，该表是</a:t>
            </a:r>
            <a:r>
              <a:rPr kumimoji="1" lang="en-US" altLang="zh-CN" dirty="0"/>
              <a:t>NTFS</a:t>
            </a:r>
            <a:r>
              <a:rPr kumimoji="1" lang="zh-CN" altLang="en-US" dirty="0"/>
              <a:t>卷结构的中心，从逻辑上讲，卷中的每个文件作为一条记录，在</a:t>
            </a:r>
            <a:r>
              <a:rPr kumimoji="1" lang="en-US" altLang="zh-CN" dirty="0"/>
              <a:t>MFT</a:t>
            </a:r>
            <a:r>
              <a:rPr kumimoji="1" lang="zh-CN" altLang="en-US" dirty="0"/>
              <a:t>表中占有一行，其中还包括</a:t>
            </a:r>
            <a:r>
              <a:rPr kumimoji="1" lang="en-US" altLang="zh-CN" dirty="0"/>
              <a:t>MFT</a:t>
            </a:r>
            <a:r>
              <a:rPr kumimoji="1" lang="zh-CN" altLang="en-US" dirty="0"/>
              <a:t>自己的这一行。每行大小固定为</a:t>
            </a:r>
            <a:r>
              <a:rPr kumimoji="1" lang="en-US" altLang="zh-CN" dirty="0"/>
              <a:t>1 KB</a:t>
            </a:r>
            <a:r>
              <a:rPr kumimoji="1" lang="zh-CN" altLang="en-US" dirty="0"/>
              <a:t>，每行称为该行所对应文件的元数据</a:t>
            </a:r>
            <a:r>
              <a:rPr kumimoji="1" lang="en-US" altLang="zh-CN" dirty="0"/>
              <a:t>(metadata)</a:t>
            </a:r>
            <a:r>
              <a:rPr kumimoji="1" lang="zh-CN" altLang="en-US" dirty="0"/>
              <a:t>，也称为文件控制字。</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412651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1" y="1510758"/>
            <a:ext cx="5090652" cy="5347242"/>
          </a:xfrm>
        </p:spPr>
        <p:txBody>
          <a:bodyPr>
            <a:normAutofit/>
          </a:bodyPr>
          <a:lstStyle/>
          <a:p>
            <a:pPr>
              <a:lnSpc>
                <a:spcPct val="120000"/>
              </a:lnSpc>
            </a:pPr>
            <a:r>
              <a:rPr kumimoji="1" lang="zh-CN" altLang="en-US" dirty="0"/>
              <a:t>索引组织方式</a:t>
            </a:r>
            <a:endParaRPr kumimoji="1" lang="en-US" altLang="zh-CN" dirty="0"/>
          </a:p>
          <a:p>
            <a:pPr lvl="1" algn="just">
              <a:buFont typeface="Wingdings" panose="05000000000000000000" pitchFamily="2" charset="2"/>
              <a:buChar char="ü"/>
            </a:pPr>
            <a:r>
              <a:rPr kumimoji="1" lang="zh-CN" altLang="en-US" dirty="0"/>
              <a:t>单级索引组织方式</a:t>
            </a:r>
            <a:endParaRPr kumimoji="1" lang="en-US" altLang="zh-CN" dirty="0"/>
          </a:p>
          <a:p>
            <a:pPr marL="914400" lvl="2" indent="0" algn="just">
              <a:buNone/>
            </a:pPr>
            <a:r>
              <a:rPr kumimoji="1" lang="zh-CN" altLang="en-US" dirty="0"/>
              <a:t>链接组织方式虽然解决了连续组织方式所存在的问题</a:t>
            </a:r>
            <a:r>
              <a:rPr kumimoji="1" lang="en-US" altLang="zh-CN" dirty="0"/>
              <a:t>(</a:t>
            </a:r>
            <a:r>
              <a:rPr kumimoji="1" lang="zh-CN" altLang="en-US" dirty="0"/>
              <a:t>即不便于随机访问</a:t>
            </a:r>
            <a:r>
              <a:rPr kumimoji="1" lang="en-US" altLang="zh-CN" dirty="0"/>
              <a:t>)</a:t>
            </a:r>
            <a:r>
              <a:rPr kumimoji="1" lang="zh-CN" altLang="en-US" dirty="0"/>
              <a:t>，但又出现了另外两个问题，即：①不能支持高效直接存取，要对一个较大文件进行存取，须在</a:t>
            </a:r>
            <a:r>
              <a:rPr kumimoji="1" lang="en-US" altLang="zh-CN" dirty="0"/>
              <a:t>FAT</a:t>
            </a:r>
            <a:r>
              <a:rPr kumimoji="1" lang="zh-CN" altLang="en-US" dirty="0"/>
              <a:t>中顺序地查找许多盘块号；②</a:t>
            </a:r>
            <a:r>
              <a:rPr kumimoji="1" lang="en-US" altLang="zh-CN" dirty="0"/>
              <a:t>FAT</a:t>
            </a:r>
            <a:r>
              <a:rPr kumimoji="1" lang="zh-CN" altLang="en-US" dirty="0"/>
              <a:t>需占用较大的内存空间，由于一个文件所占用盘块的盘块号是随机地分布在</a:t>
            </a:r>
            <a:r>
              <a:rPr kumimoji="1" lang="en-US" altLang="zh-CN" dirty="0"/>
              <a:t>FAT</a:t>
            </a:r>
            <a:r>
              <a:rPr kumimoji="1" lang="zh-CN" altLang="en-US" dirty="0"/>
              <a:t>中的，因而只有将整个</a:t>
            </a:r>
            <a:r>
              <a:rPr kumimoji="1" lang="en-US" altLang="zh-CN" dirty="0"/>
              <a:t>FAT</a:t>
            </a:r>
            <a:r>
              <a:rPr kumimoji="1" lang="zh-CN" altLang="en-US" dirty="0"/>
              <a:t>调入内存，才能保证在</a:t>
            </a:r>
            <a:r>
              <a:rPr kumimoji="1" lang="en-US" altLang="zh-CN" dirty="0"/>
              <a:t>FAT</a:t>
            </a:r>
            <a:r>
              <a:rPr kumimoji="1" lang="zh-CN" altLang="en-US" dirty="0"/>
              <a:t>中找到一个文件的所有盘块号。</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36846FB0-8C56-4957-A7B1-A880CCA56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0465" y="2486106"/>
            <a:ext cx="4885654" cy="3720041"/>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A6CDDE6D-FAFA-496B-B4E9-32A68630AB7C}"/>
              </a:ext>
            </a:extLst>
          </p:cNvPr>
          <p:cNvSpPr txBox="1"/>
          <p:nvPr/>
        </p:nvSpPr>
        <p:spPr>
          <a:xfrm>
            <a:off x="8114181" y="6258008"/>
            <a:ext cx="1879527" cy="400110"/>
          </a:xfrm>
          <a:prstGeom prst="rect">
            <a:avLst/>
          </a:prstGeom>
          <a:noFill/>
        </p:spPr>
        <p:txBody>
          <a:bodyPr wrap="square">
            <a:spAutoFit/>
          </a:bodyPr>
          <a:lstStyle/>
          <a:p>
            <a:pPr algn="ctr"/>
            <a:r>
              <a:rPr lang="zh-CN" altLang="en-US" sz="2000" b="1" dirty="0">
                <a:solidFill>
                  <a:schemeClr val="accent3">
                    <a:lumMod val="75000"/>
                  </a:schemeClr>
                </a:solidFill>
              </a:rPr>
              <a:t>索引分配方式</a:t>
            </a:r>
          </a:p>
        </p:txBody>
      </p:sp>
    </p:spTree>
    <p:extLst>
      <p:ext uri="{BB962C8B-B14F-4D97-AF65-F5344CB8AC3E}">
        <p14:creationId xmlns:p14="http://schemas.microsoft.com/office/powerpoint/2010/main" val="1889298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838200" y="1510758"/>
            <a:ext cx="5179141" cy="5347242"/>
          </a:xfrm>
        </p:spPr>
        <p:txBody>
          <a:bodyPr>
            <a:normAutofit/>
          </a:bodyPr>
          <a:lstStyle/>
          <a:p>
            <a:pPr>
              <a:lnSpc>
                <a:spcPct val="120000"/>
              </a:lnSpc>
            </a:pPr>
            <a:r>
              <a:rPr kumimoji="1" lang="zh-CN" altLang="en-US" dirty="0"/>
              <a:t>索引组织方式</a:t>
            </a:r>
            <a:endParaRPr kumimoji="1" lang="en-US" altLang="zh-CN" dirty="0"/>
          </a:p>
          <a:p>
            <a:pPr lvl="1" algn="just">
              <a:buFont typeface="Wingdings" panose="05000000000000000000" pitchFamily="2" charset="2"/>
              <a:buChar char="ü"/>
            </a:pPr>
            <a:r>
              <a:rPr kumimoji="1" lang="zh-CN" altLang="en-US" dirty="0"/>
              <a:t>多级索引组织方式</a:t>
            </a:r>
            <a:endParaRPr kumimoji="1" lang="en-US" altLang="zh-CN" dirty="0"/>
          </a:p>
          <a:p>
            <a:pPr marL="914400" lvl="2" indent="0" algn="just">
              <a:buNone/>
            </a:pPr>
            <a:r>
              <a:rPr kumimoji="1" lang="zh-CN" altLang="en-US" dirty="0"/>
              <a:t>在为一个大文件分配磁盘空间时，如果所分配出去的盘块的盘块号已经装满一个索引块时，</a:t>
            </a:r>
            <a:r>
              <a:rPr kumimoji="1" lang="en-US" altLang="zh-CN" dirty="0"/>
              <a:t>OS</a:t>
            </a:r>
            <a:r>
              <a:rPr kumimoji="1" lang="zh-CN" altLang="en-US" dirty="0"/>
              <a:t>须再为该文件分配另一个索引块，用于将以后继续为之分配的盘块号记录于其中。依此类推，再通过链指针将各索引块按序链接起来。</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A6CDDE6D-FAFA-496B-B4E9-32A68630AB7C}"/>
              </a:ext>
            </a:extLst>
          </p:cNvPr>
          <p:cNvSpPr txBox="1"/>
          <p:nvPr/>
        </p:nvSpPr>
        <p:spPr>
          <a:xfrm>
            <a:off x="8114181" y="6258008"/>
            <a:ext cx="1879527" cy="400110"/>
          </a:xfrm>
          <a:prstGeom prst="rect">
            <a:avLst/>
          </a:prstGeom>
          <a:noFill/>
        </p:spPr>
        <p:txBody>
          <a:bodyPr wrap="square">
            <a:spAutoFit/>
          </a:bodyPr>
          <a:lstStyle/>
          <a:p>
            <a:pPr algn="ctr"/>
            <a:r>
              <a:rPr lang="zh-CN" altLang="en-US" sz="2000" b="1" dirty="0">
                <a:solidFill>
                  <a:schemeClr val="accent3">
                    <a:lumMod val="75000"/>
                  </a:schemeClr>
                </a:solidFill>
              </a:rPr>
              <a:t>索引分配方式</a:t>
            </a:r>
          </a:p>
        </p:txBody>
      </p:sp>
      <p:pic>
        <p:nvPicPr>
          <p:cNvPr id="8" name="Picture 4">
            <a:extLst>
              <a:ext uri="{FF2B5EF4-FFF2-40B4-BE49-F238E27FC236}">
                <a16:creationId xmlns:a16="http://schemas.microsoft.com/office/drawing/2014/main" id="{0161F147-F2EA-4026-875C-C3F113A12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7000" y="1829026"/>
            <a:ext cx="4433887" cy="436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381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lstStyle/>
          <a:p>
            <a:r>
              <a:rPr kumimoji="1" lang="zh-CN" altLang="en-US" dirty="0"/>
              <a:t>外存的组织方式</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394855" y="1510758"/>
            <a:ext cx="7067830" cy="5347242"/>
          </a:xfrm>
        </p:spPr>
        <p:txBody>
          <a:bodyPr>
            <a:normAutofit/>
          </a:bodyPr>
          <a:lstStyle/>
          <a:p>
            <a:pPr>
              <a:lnSpc>
                <a:spcPct val="120000"/>
              </a:lnSpc>
            </a:pPr>
            <a:r>
              <a:rPr kumimoji="1" lang="zh-CN" altLang="en-US" dirty="0"/>
              <a:t>索引组织方式</a:t>
            </a:r>
            <a:endParaRPr kumimoji="1" lang="en-US" altLang="zh-CN" dirty="0"/>
          </a:p>
          <a:p>
            <a:pPr lvl="1" algn="just">
              <a:buFont typeface="Wingdings" panose="05000000000000000000" pitchFamily="2" charset="2"/>
              <a:buChar char="ü"/>
            </a:pPr>
            <a:r>
              <a:rPr kumimoji="1" lang="zh-CN" altLang="en-US" dirty="0"/>
              <a:t>增量式索引组织方式</a:t>
            </a:r>
            <a:endParaRPr kumimoji="1" lang="en-US" altLang="zh-CN" dirty="0"/>
          </a:p>
          <a:p>
            <a:pPr marL="914400" lvl="2" indent="0" algn="just">
              <a:buNone/>
            </a:pPr>
            <a:r>
              <a:rPr kumimoji="1" lang="zh-CN" altLang="en-US" b="1" dirty="0">
                <a:solidFill>
                  <a:srgbClr val="FF0000"/>
                </a:solidFill>
              </a:rPr>
              <a:t>增量式索引组织方式基本思想</a:t>
            </a:r>
            <a:r>
              <a:rPr kumimoji="1" lang="zh-CN" altLang="en-US" dirty="0"/>
              <a:t>：为能较全面地照顾到小、中、大及特大型作业，可采取多种组织方式构成文件物理结构。如果盘块大小为</a:t>
            </a:r>
            <a:r>
              <a:rPr kumimoji="1" lang="en-US" altLang="zh-CN" dirty="0"/>
              <a:t>1 KB</a:t>
            </a:r>
            <a:r>
              <a:rPr kumimoji="1" lang="zh-CN" altLang="en-US" dirty="0"/>
              <a:t>或</a:t>
            </a:r>
            <a:r>
              <a:rPr kumimoji="1" lang="en-US" altLang="zh-CN" dirty="0"/>
              <a:t>4 KB</a:t>
            </a:r>
            <a:r>
              <a:rPr kumimoji="1" lang="zh-CN" altLang="en-US" dirty="0"/>
              <a:t>，对于小文件</a:t>
            </a:r>
            <a:r>
              <a:rPr kumimoji="1" lang="en-US" altLang="zh-CN" dirty="0"/>
              <a:t>(</a:t>
            </a:r>
            <a:r>
              <a:rPr kumimoji="1" lang="zh-CN" altLang="en-US" dirty="0"/>
              <a:t>如</a:t>
            </a:r>
            <a:r>
              <a:rPr kumimoji="1" lang="en-US" altLang="zh-CN" dirty="0"/>
              <a:t>1 KB</a:t>
            </a:r>
            <a:r>
              <a:rPr kumimoji="1" lang="zh-CN" altLang="en-US" dirty="0"/>
              <a:t>～</a:t>
            </a:r>
            <a:r>
              <a:rPr kumimoji="1" lang="en-US" altLang="zh-CN" dirty="0"/>
              <a:t>10 KB</a:t>
            </a:r>
            <a:r>
              <a:rPr kumimoji="1" lang="zh-CN" altLang="en-US" dirty="0"/>
              <a:t>或</a:t>
            </a:r>
            <a:r>
              <a:rPr kumimoji="1" lang="en-US" altLang="zh-CN" dirty="0"/>
              <a:t>4 KB</a:t>
            </a:r>
            <a:r>
              <a:rPr kumimoji="1" lang="zh-CN" altLang="en-US" dirty="0"/>
              <a:t>～</a:t>
            </a:r>
            <a:r>
              <a:rPr kumimoji="1" lang="en-US" altLang="zh-CN" dirty="0"/>
              <a:t>40 KB)</a:t>
            </a:r>
            <a:r>
              <a:rPr kumimoji="1" lang="zh-CN" altLang="en-US" dirty="0"/>
              <a:t>而言，最多只会占用</a:t>
            </a:r>
            <a:r>
              <a:rPr kumimoji="1" lang="en-US" altLang="zh-CN" dirty="0"/>
              <a:t>10</a:t>
            </a:r>
            <a:r>
              <a:rPr kumimoji="1" lang="zh-CN" altLang="en-US" dirty="0"/>
              <a:t>个盘块，为能提高对数量众多的小型作业的访问速度，最好能将它们的每一个盘块地址都直接放入文件控制块</a:t>
            </a:r>
            <a:r>
              <a:rPr kumimoji="1" lang="en-US" altLang="zh-CN" dirty="0"/>
              <a:t>FCB(</a:t>
            </a:r>
            <a:r>
              <a:rPr kumimoji="1" lang="zh-CN" altLang="en-US" dirty="0"/>
              <a:t>或索引结点</a:t>
            </a:r>
            <a:r>
              <a:rPr kumimoji="1" lang="en-US" altLang="zh-CN" dirty="0"/>
              <a:t>)</a:t>
            </a:r>
            <a:r>
              <a:rPr kumimoji="1" lang="zh-CN" altLang="en-US" dirty="0"/>
              <a:t>中，这样就可以直接从</a:t>
            </a:r>
            <a:r>
              <a:rPr kumimoji="1" lang="en-US" altLang="zh-CN" dirty="0"/>
              <a:t>FCB</a:t>
            </a:r>
            <a:r>
              <a:rPr kumimoji="1" lang="zh-CN" altLang="en-US" dirty="0"/>
              <a:t>中获得该文件的盘块地址。</a:t>
            </a:r>
            <a:endParaRPr kumimoji="1" lang="en-US" altLang="zh-CN" dirty="0"/>
          </a:p>
          <a:p>
            <a:pPr marL="914400" lvl="2" indent="0" algn="just">
              <a:buNone/>
            </a:pPr>
            <a:r>
              <a:rPr lang="en-US" altLang="zh-CN" b="1" dirty="0">
                <a:solidFill>
                  <a:srgbClr val="FF0000"/>
                </a:solidFill>
              </a:rPr>
              <a:t>UNIX System V</a:t>
            </a:r>
            <a:r>
              <a:rPr lang="zh-CN" altLang="en-US" b="1" dirty="0">
                <a:solidFill>
                  <a:srgbClr val="FF0000"/>
                </a:solidFill>
              </a:rPr>
              <a:t>的组织方式</a:t>
            </a:r>
            <a:r>
              <a:rPr kumimoji="1" lang="zh-CN" altLang="en-US" dirty="0"/>
              <a:t>：在</a:t>
            </a:r>
            <a:r>
              <a:rPr kumimoji="1" lang="en-US" altLang="zh-CN" dirty="0"/>
              <a:t>UNIX System V</a:t>
            </a:r>
            <a:r>
              <a:rPr kumimoji="1" lang="zh-CN" altLang="en-US" dirty="0"/>
              <a:t>索引结点中设有</a:t>
            </a:r>
            <a:r>
              <a:rPr kumimoji="1" lang="en-US" altLang="zh-CN" dirty="0"/>
              <a:t>13</a:t>
            </a:r>
            <a:r>
              <a:rPr kumimoji="1" lang="zh-CN" altLang="en-US" dirty="0"/>
              <a:t>个地址项，即</a:t>
            </a:r>
            <a:r>
              <a:rPr kumimoji="1" lang="en-US" altLang="zh-CN" dirty="0" err="1"/>
              <a:t>i.addr</a:t>
            </a:r>
            <a:r>
              <a:rPr kumimoji="1" lang="en-US" altLang="zh-CN" dirty="0"/>
              <a:t>(0)</a:t>
            </a:r>
            <a:r>
              <a:rPr kumimoji="1" lang="zh-CN" altLang="en-US" dirty="0"/>
              <a:t>～</a:t>
            </a:r>
            <a:r>
              <a:rPr kumimoji="1" lang="en-US" altLang="zh-CN" dirty="0" err="1"/>
              <a:t>i.addr</a:t>
            </a:r>
            <a:r>
              <a:rPr kumimoji="1" lang="en-US" altLang="zh-CN" dirty="0"/>
              <a:t>(12)</a:t>
            </a:r>
            <a:r>
              <a:rPr kumimoji="1" lang="zh-CN" altLang="en-US" dirty="0"/>
              <a:t>。几类地址：直接地址、一次间接地址、多次间接地址。</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9" name="Picture 4">
            <a:extLst>
              <a:ext uri="{FF2B5EF4-FFF2-40B4-BE49-F238E27FC236}">
                <a16:creationId xmlns:a16="http://schemas.microsoft.com/office/drawing/2014/main" id="{3DE33E64-4A49-42CD-99C0-000E7D985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8360" y="3092336"/>
            <a:ext cx="4654579" cy="290030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96D78B4C-0754-4D65-8FB5-AF51FCF223A3}"/>
              </a:ext>
            </a:extLst>
          </p:cNvPr>
          <p:cNvSpPr txBox="1"/>
          <p:nvPr/>
        </p:nvSpPr>
        <p:spPr>
          <a:xfrm>
            <a:off x="8895997" y="6157003"/>
            <a:ext cx="1799303" cy="400110"/>
          </a:xfrm>
          <a:prstGeom prst="rect">
            <a:avLst/>
          </a:prstGeom>
          <a:noFill/>
        </p:spPr>
        <p:txBody>
          <a:bodyPr wrap="square">
            <a:spAutoFit/>
          </a:bodyPr>
          <a:lstStyle/>
          <a:p>
            <a:pPr algn="ctr"/>
            <a:r>
              <a:rPr lang="zh-CN" altLang="en-US" sz="2000" b="1" dirty="0">
                <a:solidFill>
                  <a:schemeClr val="accent3">
                    <a:lumMod val="75000"/>
                  </a:schemeClr>
                </a:solidFill>
              </a:rPr>
              <a:t>混合索引方式</a:t>
            </a:r>
          </a:p>
        </p:txBody>
      </p:sp>
    </p:spTree>
    <p:extLst>
      <p:ext uri="{BB962C8B-B14F-4D97-AF65-F5344CB8AC3E}">
        <p14:creationId xmlns:p14="http://schemas.microsoft.com/office/powerpoint/2010/main" val="283226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149780" cy="5347242"/>
          </a:xfrm>
        </p:spPr>
        <p:txBody>
          <a:bodyPr>
            <a:normAutofit/>
          </a:bodyPr>
          <a:lstStyle/>
          <a:p>
            <a:pPr>
              <a:lnSpc>
                <a:spcPct val="120000"/>
              </a:lnSpc>
            </a:pPr>
            <a:r>
              <a:rPr kumimoji="1" lang="zh-CN" altLang="en-US" dirty="0"/>
              <a:t>空闲表法和空闲链表法</a:t>
            </a:r>
            <a:endParaRPr kumimoji="1" lang="en-US" altLang="zh-CN" dirty="0"/>
          </a:p>
          <a:p>
            <a:pPr lvl="1" algn="just">
              <a:buFont typeface="Wingdings" panose="05000000000000000000" pitchFamily="2" charset="2"/>
              <a:buChar char="ü"/>
            </a:pPr>
            <a:r>
              <a:rPr kumimoji="1" lang="zh-CN" altLang="en-US" dirty="0"/>
              <a:t>空闲表法</a:t>
            </a:r>
            <a:endParaRPr kumimoji="1" lang="en-US" altLang="zh-CN" dirty="0"/>
          </a:p>
          <a:p>
            <a:pPr marL="914400" lvl="2" indent="0" algn="just">
              <a:buNone/>
            </a:pPr>
            <a:r>
              <a:rPr kumimoji="1" lang="zh-CN" altLang="en-US" b="1" dirty="0">
                <a:solidFill>
                  <a:srgbClr val="FF0000"/>
                </a:solidFill>
              </a:rPr>
              <a:t>空闲表：</a:t>
            </a:r>
            <a:r>
              <a:rPr kumimoji="1" lang="zh-CN" altLang="en-US" dirty="0"/>
              <a:t>空闲表法属于连续分配方式，它与内存的动态分配方式雷同，它为每个文件分配一块连续的存储空间。即系统也为外存上的所有空闲区建立一张空闲表，每个空闲区对应于一个空闲表项，其中包括表项序号、该空闲区的第一个盘块号、该区的空闲盘块数等信息。再将所有空闲区按其起始盘块号递增的次序排列，形成空闲盘块表，如下表所示。</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7" name="Picture 4">
            <a:extLst>
              <a:ext uri="{FF2B5EF4-FFF2-40B4-BE49-F238E27FC236}">
                <a16:creationId xmlns:a16="http://schemas.microsoft.com/office/drawing/2014/main" id="{CB34AD0D-6389-46CE-A7B0-45768FD8C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4437" y="4523858"/>
            <a:ext cx="5125268" cy="2170381"/>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511F6F6-C947-4E84-B9BD-4605AA86103C}"/>
              </a:ext>
            </a:extLst>
          </p:cNvPr>
          <p:cNvSpPr txBox="1"/>
          <p:nvPr/>
        </p:nvSpPr>
        <p:spPr>
          <a:xfrm>
            <a:off x="5402997" y="4099789"/>
            <a:ext cx="1688148" cy="400110"/>
          </a:xfrm>
          <a:prstGeom prst="rect">
            <a:avLst/>
          </a:prstGeom>
          <a:noFill/>
        </p:spPr>
        <p:txBody>
          <a:bodyPr wrap="square">
            <a:spAutoFit/>
          </a:bodyPr>
          <a:lstStyle/>
          <a:p>
            <a:pPr algn="ctr"/>
            <a:r>
              <a:rPr lang="zh-CN" altLang="en-US" sz="2000" b="1" dirty="0">
                <a:solidFill>
                  <a:schemeClr val="accent3">
                    <a:lumMod val="75000"/>
                  </a:schemeClr>
                </a:solidFill>
              </a:rPr>
              <a:t>空闲盘块表</a:t>
            </a:r>
          </a:p>
        </p:txBody>
      </p:sp>
    </p:spTree>
    <p:extLst>
      <p:ext uri="{BB962C8B-B14F-4D97-AF65-F5344CB8AC3E}">
        <p14:creationId xmlns:p14="http://schemas.microsoft.com/office/powerpoint/2010/main" val="307594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149780" cy="5347242"/>
          </a:xfrm>
        </p:spPr>
        <p:txBody>
          <a:bodyPr>
            <a:normAutofit/>
          </a:bodyPr>
          <a:lstStyle/>
          <a:p>
            <a:pPr>
              <a:lnSpc>
                <a:spcPct val="120000"/>
              </a:lnSpc>
            </a:pPr>
            <a:r>
              <a:rPr kumimoji="1" lang="zh-CN" altLang="en-US" dirty="0"/>
              <a:t>空闲表法和空闲链表法</a:t>
            </a:r>
            <a:endParaRPr kumimoji="1" lang="en-US" altLang="zh-CN" dirty="0"/>
          </a:p>
          <a:p>
            <a:pPr lvl="1" algn="just">
              <a:buFont typeface="Wingdings" panose="05000000000000000000" pitchFamily="2" charset="2"/>
              <a:buChar char="ü"/>
            </a:pPr>
            <a:r>
              <a:rPr kumimoji="1" lang="zh-CN" altLang="en-US" dirty="0"/>
              <a:t>空闲表法</a:t>
            </a:r>
            <a:endParaRPr kumimoji="1" lang="en-US" altLang="zh-CN" dirty="0"/>
          </a:p>
          <a:p>
            <a:pPr marL="914400" lvl="2" indent="0" algn="just">
              <a:buNone/>
            </a:pPr>
            <a:r>
              <a:rPr kumimoji="1" lang="zh-CN" altLang="en-US" b="1" dirty="0">
                <a:solidFill>
                  <a:srgbClr val="FF0000"/>
                </a:solidFill>
              </a:rPr>
              <a:t>存储空间的分配与回收</a:t>
            </a:r>
            <a:r>
              <a:rPr kumimoji="1" lang="zh-CN" altLang="en-US" dirty="0"/>
              <a:t>：空闲盘区分配与内存分区</a:t>
            </a:r>
            <a:r>
              <a:rPr kumimoji="1" lang="en-US" altLang="zh-CN" dirty="0"/>
              <a:t>(</a:t>
            </a:r>
            <a:r>
              <a:rPr kumimoji="1" lang="zh-CN" altLang="en-US" dirty="0"/>
              <a:t>动态</a:t>
            </a:r>
            <a:r>
              <a:rPr kumimoji="1" lang="en-US" altLang="zh-CN" dirty="0"/>
              <a:t>)</a:t>
            </a:r>
            <a:r>
              <a:rPr kumimoji="1" lang="zh-CN" altLang="en-US" dirty="0"/>
              <a:t>分配类似，同样是采用首次适应算法和最佳适应算法等，它们对存储空间的利用率大体相当，都优于最坏适应算法。在系统为某新创建的文件分配空闲盘块时，先顺序地检索空闲表的各表项，直至找到第一个其大小能满足要求的空闲区，再将该盘区分配给用户</a:t>
            </a:r>
            <a:r>
              <a:rPr kumimoji="1" lang="en-US" altLang="zh-CN" dirty="0"/>
              <a:t>(</a:t>
            </a:r>
            <a:r>
              <a:rPr kumimoji="1" lang="zh-CN" altLang="en-US" dirty="0"/>
              <a:t>进程</a:t>
            </a:r>
            <a:r>
              <a:rPr kumimoji="1" lang="en-US" altLang="zh-CN" dirty="0"/>
              <a:t>)</a:t>
            </a:r>
            <a:r>
              <a:rPr kumimoji="1" lang="zh-CN" altLang="en-US" dirty="0"/>
              <a:t>，同时修改空闲表。</a:t>
            </a:r>
            <a:endParaRPr kumimoji="1" lang="en-US" altLang="zh-CN" dirty="0"/>
          </a:p>
          <a:p>
            <a:pPr lvl="1" algn="just">
              <a:buFont typeface="Wingdings" panose="05000000000000000000" pitchFamily="2" charset="2"/>
              <a:buChar char="ü"/>
            </a:pPr>
            <a:r>
              <a:rPr kumimoji="1" lang="zh-CN" altLang="en-US" dirty="0"/>
              <a:t>空闲链表法</a:t>
            </a:r>
            <a:endParaRPr kumimoji="1" lang="en-US" altLang="zh-CN" dirty="0"/>
          </a:p>
          <a:p>
            <a:pPr marL="914400" lvl="2" indent="0" algn="just">
              <a:buNone/>
            </a:pPr>
            <a:r>
              <a:rPr kumimoji="1" lang="zh-CN" altLang="en-US" b="1" dirty="0">
                <a:solidFill>
                  <a:srgbClr val="FF0000"/>
                </a:solidFill>
              </a:rPr>
              <a:t>空闲盘块链</a:t>
            </a:r>
            <a:r>
              <a:rPr kumimoji="1" lang="zh-CN" altLang="en-US" dirty="0"/>
              <a:t>：将磁盘上的所有空闲空间以盘块为单位拉成一条链，其中的每一个盘块都有指向后继盘块的指针。</a:t>
            </a:r>
            <a:endParaRPr kumimoji="1" lang="en-US" altLang="zh-CN" dirty="0"/>
          </a:p>
          <a:p>
            <a:pPr marL="914400" lvl="2" indent="0" algn="just">
              <a:buNone/>
            </a:pPr>
            <a:r>
              <a:rPr kumimoji="1" lang="zh-CN" altLang="en-US" b="1" dirty="0">
                <a:solidFill>
                  <a:srgbClr val="FF0000"/>
                </a:solidFill>
              </a:rPr>
              <a:t>空闲盘区链</a:t>
            </a:r>
            <a:r>
              <a:rPr kumimoji="1" lang="zh-CN" altLang="en-US" dirty="0"/>
              <a:t>：将磁盘上所有空闲盘区</a:t>
            </a:r>
            <a:r>
              <a:rPr kumimoji="1" lang="en-US" altLang="zh-CN" dirty="0"/>
              <a:t>(</a:t>
            </a:r>
            <a:r>
              <a:rPr kumimoji="1" lang="zh-CN" altLang="en-US" dirty="0"/>
              <a:t>每个盘区可包含若干个盘块</a:t>
            </a:r>
            <a:r>
              <a:rPr kumimoji="1" lang="en-US" altLang="zh-CN" dirty="0"/>
              <a:t>)</a:t>
            </a:r>
            <a:r>
              <a:rPr kumimoji="1" lang="zh-CN" altLang="en-US" dirty="0"/>
              <a:t>拉成一条链。在每个盘区上除含有用于指示下一个空闲盘区的指针外，还应有能指明本盘区大小</a:t>
            </a:r>
            <a:r>
              <a:rPr kumimoji="1" lang="en-US" altLang="zh-CN" dirty="0"/>
              <a:t>(</a:t>
            </a:r>
            <a:r>
              <a:rPr kumimoji="1" lang="zh-CN" altLang="en-US" dirty="0"/>
              <a:t>盘块数</a:t>
            </a:r>
            <a:r>
              <a:rPr kumimoji="1" lang="en-US" altLang="zh-CN" dirty="0"/>
              <a:t>)</a:t>
            </a:r>
            <a:r>
              <a:rPr kumimoji="1" lang="zh-CN" altLang="en-US" dirty="0"/>
              <a:t>的信息。</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624405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149780" cy="5347242"/>
          </a:xfrm>
        </p:spPr>
        <p:txBody>
          <a:bodyPr>
            <a:normAutofit/>
          </a:bodyPr>
          <a:lstStyle/>
          <a:p>
            <a:pPr>
              <a:lnSpc>
                <a:spcPct val="120000"/>
              </a:lnSpc>
            </a:pPr>
            <a:r>
              <a:rPr kumimoji="1" lang="zh-CN" altLang="en-US" dirty="0"/>
              <a:t>位示图法</a:t>
            </a:r>
            <a:endParaRPr kumimoji="1" lang="en-US" altLang="zh-CN" dirty="0"/>
          </a:p>
          <a:p>
            <a:pPr lvl="1" algn="just">
              <a:buFont typeface="Wingdings" panose="05000000000000000000" pitchFamily="2" charset="2"/>
              <a:buChar char="ü"/>
            </a:pPr>
            <a:r>
              <a:rPr kumimoji="1" lang="zh-CN" altLang="en-US" dirty="0"/>
              <a:t>位示图</a:t>
            </a:r>
            <a:endParaRPr kumimoji="1" lang="en-US" altLang="zh-CN" dirty="0"/>
          </a:p>
          <a:p>
            <a:pPr marL="914400" lvl="2" indent="0" algn="just">
              <a:buNone/>
            </a:pPr>
            <a:r>
              <a:rPr kumimoji="1" lang="zh-CN" altLang="en-US" dirty="0"/>
              <a:t>位示图是利用二进制的一位来表示磁盘中一个盘块的使用情况。当其值为“</a:t>
            </a:r>
            <a:r>
              <a:rPr kumimoji="1" lang="en-US" altLang="zh-CN" dirty="0"/>
              <a:t>0”</a:t>
            </a:r>
            <a:r>
              <a:rPr kumimoji="1" lang="zh-CN" altLang="en-US" dirty="0"/>
              <a:t>时，表示对应的盘块空闲；为“</a:t>
            </a:r>
            <a:r>
              <a:rPr kumimoji="1" lang="en-US" altLang="zh-CN" dirty="0"/>
              <a:t>1”</a:t>
            </a:r>
            <a:r>
              <a:rPr kumimoji="1" lang="zh-CN" altLang="en-US" dirty="0"/>
              <a:t>时，表示已分配。有的系统把“</a:t>
            </a:r>
            <a:r>
              <a:rPr kumimoji="1" lang="en-US" altLang="zh-CN" dirty="0"/>
              <a:t>0”</a:t>
            </a:r>
            <a:r>
              <a:rPr kumimoji="1" lang="zh-CN" altLang="en-US" dirty="0"/>
              <a:t>作为盘块已分配的标志，把“</a:t>
            </a:r>
            <a:r>
              <a:rPr kumimoji="1" lang="en-US" altLang="zh-CN" dirty="0"/>
              <a:t>1”</a:t>
            </a:r>
            <a:r>
              <a:rPr kumimoji="1" lang="zh-CN" altLang="en-US" dirty="0"/>
              <a:t>作为空闲标志。</a:t>
            </a:r>
            <a:r>
              <a:rPr kumimoji="1" lang="en-US" altLang="zh-CN" dirty="0"/>
              <a:t>(</a:t>
            </a:r>
            <a:r>
              <a:rPr kumimoji="1" lang="zh-CN" altLang="en-US" dirty="0"/>
              <a:t>它们在本质上是相同的，都是用一位的两种状态来标志空闲和已分配两种情况。</a:t>
            </a:r>
            <a:r>
              <a:rPr kumimoji="1" lang="en-US" altLang="zh-CN" dirty="0"/>
              <a:t>)</a:t>
            </a:r>
            <a:r>
              <a:rPr kumimoji="1" lang="zh-CN" altLang="en-US" dirty="0"/>
              <a:t>磁盘上的所有盘块都有一个二进制位与之对应，这样，由所有盘块所对应的位构成一个集合，称为位示图。</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BFA6B77D-285D-406B-9C97-00EDFB2BC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7405" y="4781557"/>
            <a:ext cx="6736530" cy="207644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A351E7C2-86FA-4660-B541-B4C3EA507B6F}"/>
              </a:ext>
            </a:extLst>
          </p:cNvPr>
          <p:cNvSpPr txBox="1"/>
          <p:nvPr/>
        </p:nvSpPr>
        <p:spPr>
          <a:xfrm>
            <a:off x="5888805" y="4366697"/>
            <a:ext cx="953729" cy="400110"/>
          </a:xfrm>
          <a:prstGeom prst="rect">
            <a:avLst/>
          </a:prstGeom>
          <a:noFill/>
        </p:spPr>
        <p:txBody>
          <a:bodyPr wrap="square">
            <a:spAutoFit/>
          </a:bodyPr>
          <a:lstStyle/>
          <a:p>
            <a:pPr algn="ctr"/>
            <a:r>
              <a:rPr lang="zh-CN" altLang="en-US" sz="2000" b="1" dirty="0">
                <a:solidFill>
                  <a:schemeClr val="accent3">
                    <a:lumMod val="75000"/>
                  </a:schemeClr>
                </a:solidFill>
              </a:rPr>
              <a:t>位示图</a:t>
            </a:r>
          </a:p>
        </p:txBody>
      </p:sp>
    </p:spTree>
    <p:extLst>
      <p:ext uri="{BB962C8B-B14F-4D97-AF65-F5344CB8AC3E}">
        <p14:creationId xmlns:p14="http://schemas.microsoft.com/office/powerpoint/2010/main" val="182742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149780" cy="5347242"/>
          </a:xfrm>
        </p:spPr>
        <p:txBody>
          <a:bodyPr>
            <a:normAutofit/>
          </a:bodyPr>
          <a:lstStyle/>
          <a:p>
            <a:pPr>
              <a:lnSpc>
                <a:spcPct val="120000"/>
              </a:lnSpc>
            </a:pPr>
            <a:r>
              <a:rPr kumimoji="1" lang="zh-CN" altLang="en-US" dirty="0"/>
              <a:t>位示图法</a:t>
            </a:r>
            <a:endParaRPr kumimoji="1" lang="en-US" altLang="zh-CN" dirty="0"/>
          </a:p>
          <a:p>
            <a:pPr lvl="1" algn="just">
              <a:buFont typeface="Wingdings" panose="05000000000000000000" pitchFamily="2" charset="2"/>
              <a:buChar char="ü"/>
            </a:pPr>
            <a:r>
              <a:rPr kumimoji="1" lang="zh-CN" altLang="en-US" dirty="0"/>
              <a:t>盘块的分配</a:t>
            </a:r>
            <a:endParaRPr kumimoji="1" lang="en-US" altLang="zh-CN" dirty="0"/>
          </a:p>
          <a:p>
            <a:pPr marL="914400" lvl="2" indent="0" algn="just">
              <a:buNone/>
            </a:pPr>
            <a:r>
              <a:rPr kumimoji="1" lang="zh-CN" altLang="en-US" dirty="0"/>
              <a:t>根据位示图进行盘块分配时，可分三步进行：</a:t>
            </a:r>
            <a:r>
              <a:rPr kumimoji="1" lang="en-US" altLang="zh-CN" dirty="0"/>
              <a:t>(1)</a:t>
            </a:r>
            <a:r>
              <a:rPr kumimoji="1" lang="zh-CN" altLang="en-US" dirty="0"/>
              <a:t>顺序扫描位示图，从中找出一个或一组其值为“</a:t>
            </a:r>
            <a:r>
              <a:rPr kumimoji="1" lang="en-US" altLang="zh-CN" dirty="0"/>
              <a:t>0”</a:t>
            </a:r>
            <a:r>
              <a:rPr kumimoji="1" lang="zh-CN" altLang="en-US" dirty="0"/>
              <a:t>的二进制位</a:t>
            </a:r>
            <a:r>
              <a:rPr kumimoji="1" lang="en-US" altLang="zh-CN" dirty="0"/>
              <a:t>(“0”</a:t>
            </a:r>
            <a:r>
              <a:rPr kumimoji="1" lang="zh-CN" altLang="en-US" dirty="0"/>
              <a:t>表示空闲时</a:t>
            </a:r>
            <a:r>
              <a:rPr kumimoji="1" lang="en-US" altLang="zh-CN" dirty="0"/>
              <a:t>)</a:t>
            </a:r>
            <a:r>
              <a:rPr kumimoji="1" lang="zh-CN" altLang="en-US" dirty="0"/>
              <a:t>；</a:t>
            </a:r>
            <a:r>
              <a:rPr kumimoji="1" lang="en-US" altLang="zh-CN" dirty="0"/>
              <a:t>(2)</a:t>
            </a:r>
            <a:r>
              <a:rPr kumimoji="1" lang="zh-CN" altLang="en-US" dirty="0"/>
              <a:t>将所找到的一个或一组二进制位转换成与之相应的盘块号。假定找到的其值为“</a:t>
            </a:r>
            <a:r>
              <a:rPr kumimoji="1" lang="en-US" altLang="zh-CN" dirty="0"/>
              <a:t>0”</a:t>
            </a:r>
            <a:r>
              <a:rPr kumimoji="1" lang="zh-CN" altLang="en-US" dirty="0"/>
              <a:t>的二进制位位于位示图的第</a:t>
            </a:r>
            <a:r>
              <a:rPr kumimoji="1" lang="en-US" altLang="zh-CN" dirty="0"/>
              <a:t>i</a:t>
            </a:r>
            <a:r>
              <a:rPr kumimoji="1" lang="zh-CN" altLang="en-US" dirty="0"/>
              <a:t>行、第</a:t>
            </a:r>
            <a:r>
              <a:rPr kumimoji="1" lang="en-US" altLang="zh-CN" dirty="0"/>
              <a:t>j</a:t>
            </a:r>
            <a:r>
              <a:rPr kumimoji="1" lang="zh-CN" altLang="en-US" dirty="0"/>
              <a:t>列，则其相应的盘块号计算为（</a:t>
            </a:r>
            <a:r>
              <a:rPr lang="en-US" altLang="zh-CN" dirty="0"/>
              <a:t> n</a:t>
            </a:r>
            <a:r>
              <a:rPr lang="zh-CN" altLang="en-US" dirty="0"/>
              <a:t>代表每行的位数</a:t>
            </a:r>
            <a:r>
              <a:rPr kumimoji="1" lang="zh-CN" altLang="en-US" dirty="0"/>
              <a:t>）：</a:t>
            </a:r>
            <a:r>
              <a:rPr kumimoji="1" lang="pt-BR" altLang="zh-CN" dirty="0"/>
              <a:t>b=n</a:t>
            </a:r>
            <a:r>
              <a:rPr kumimoji="1" lang="zh-CN" altLang="en-US" dirty="0"/>
              <a:t>*</a:t>
            </a:r>
            <a:r>
              <a:rPr kumimoji="1" lang="pt-BR" altLang="zh-CN" dirty="0"/>
              <a:t>(i - 1) + j</a:t>
            </a:r>
            <a:r>
              <a:rPr kumimoji="1" lang="zh-CN" altLang="en-US" dirty="0"/>
              <a:t>；</a:t>
            </a:r>
            <a:r>
              <a:rPr kumimoji="1" lang="en-US" altLang="zh-CN" dirty="0"/>
              <a:t>(3)</a:t>
            </a:r>
            <a:r>
              <a:rPr kumimoji="1" lang="zh-CN" altLang="en-US" dirty="0"/>
              <a:t>修改位示图，令</a:t>
            </a:r>
            <a:r>
              <a:rPr kumimoji="1" lang="en-US" altLang="zh-CN" dirty="0"/>
              <a:t>map[i, j]=1</a:t>
            </a:r>
            <a:r>
              <a:rPr kumimoji="1" lang="zh-CN" altLang="en-US" dirty="0"/>
              <a:t>。</a:t>
            </a:r>
            <a:endParaRPr kumimoji="1" lang="en-US" altLang="zh-CN" dirty="0"/>
          </a:p>
          <a:p>
            <a:pPr lvl="1" algn="just">
              <a:buFont typeface="Wingdings" panose="05000000000000000000" pitchFamily="2" charset="2"/>
              <a:buChar char="ü"/>
            </a:pPr>
            <a:r>
              <a:rPr kumimoji="1" lang="zh-CN" altLang="en-US" dirty="0"/>
              <a:t>盘块的回收</a:t>
            </a:r>
            <a:endParaRPr kumimoji="1" lang="en-US" altLang="zh-CN" dirty="0"/>
          </a:p>
          <a:p>
            <a:pPr marL="914400" lvl="2" indent="0" algn="just">
              <a:buNone/>
            </a:pPr>
            <a:r>
              <a:rPr kumimoji="1" lang="zh-CN" altLang="en-US" dirty="0"/>
              <a:t>盘块的回收分两步：</a:t>
            </a:r>
            <a:r>
              <a:rPr kumimoji="1" lang="en-US" altLang="zh-CN" dirty="0"/>
              <a:t>(1)</a:t>
            </a:r>
            <a:r>
              <a:rPr kumimoji="1" lang="zh-CN" altLang="en-US" dirty="0"/>
              <a:t>将回收盘块的盘块号转换成位示图中的行号和列号。转换公式为：</a:t>
            </a:r>
            <a:r>
              <a:rPr kumimoji="1" lang="pt-BR" altLang="zh-CN" dirty="0"/>
              <a:t>i=(b-1)DIVn+1</a:t>
            </a:r>
            <a:r>
              <a:rPr kumimoji="1" lang="zh-CN" altLang="en-US" dirty="0"/>
              <a:t>，</a:t>
            </a:r>
            <a:r>
              <a:rPr kumimoji="1" lang="da-DK" altLang="zh-CN" dirty="0"/>
              <a:t>j=(b-1)MODn+1</a:t>
            </a:r>
            <a:r>
              <a:rPr kumimoji="1" lang="zh-CN" altLang="en-US" dirty="0"/>
              <a:t>；</a:t>
            </a:r>
            <a:r>
              <a:rPr kumimoji="1" lang="en-US" altLang="zh-CN" dirty="0"/>
              <a:t>(2)</a:t>
            </a:r>
            <a:r>
              <a:rPr kumimoji="1" lang="zh-CN" altLang="en-US" dirty="0"/>
              <a:t>修改位示图，令</a:t>
            </a:r>
            <a:r>
              <a:rPr kumimoji="1" lang="en-US" altLang="zh-CN" dirty="0"/>
              <a:t>map[i, j]=0</a:t>
            </a:r>
            <a:r>
              <a:rPr kumimoji="1" lang="zh-CN" altLang="en-US" dirty="0"/>
              <a:t>。</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698689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3687096" cy="5347242"/>
          </a:xfrm>
        </p:spPr>
        <p:txBody>
          <a:bodyPr>
            <a:normAutofit/>
          </a:bodyPr>
          <a:lstStyle/>
          <a:p>
            <a:pPr>
              <a:lnSpc>
                <a:spcPct val="120000"/>
              </a:lnSpc>
            </a:pPr>
            <a:r>
              <a:rPr kumimoji="1" lang="zh-CN" altLang="en-US" dirty="0"/>
              <a:t>成组链接法</a:t>
            </a:r>
            <a:endParaRPr kumimoji="1" lang="en-US" altLang="zh-CN" dirty="0"/>
          </a:p>
          <a:p>
            <a:pPr lvl="1" algn="just">
              <a:buFont typeface="Wingdings" panose="05000000000000000000" pitchFamily="2" charset="2"/>
              <a:buChar char="ü"/>
            </a:pPr>
            <a:r>
              <a:rPr kumimoji="1" lang="zh-CN" altLang="en-US" dirty="0"/>
              <a:t>空闲盘块的组织</a:t>
            </a:r>
            <a:endParaRPr kumimoji="1" lang="en-US" altLang="zh-CN" dirty="0"/>
          </a:p>
          <a:p>
            <a:pPr marL="914400" lvl="2" indent="0" algn="just">
              <a:buNone/>
            </a:pPr>
            <a:r>
              <a:rPr kumimoji="1" lang="en-US" altLang="zh-CN" dirty="0"/>
              <a:t>(1)</a:t>
            </a:r>
            <a:r>
              <a:rPr kumimoji="1" lang="zh-CN" altLang="en-US" dirty="0"/>
              <a:t>空闲盘块号栈，用来存放当前可用的一组空闲盘块的盘块号</a:t>
            </a:r>
            <a:r>
              <a:rPr kumimoji="1" lang="en-US" altLang="zh-CN" dirty="0"/>
              <a:t>(</a:t>
            </a:r>
            <a:r>
              <a:rPr kumimoji="1" lang="zh-CN" altLang="en-US" dirty="0"/>
              <a:t>最多含</a:t>
            </a:r>
            <a:r>
              <a:rPr kumimoji="1" lang="en-US" altLang="zh-CN" dirty="0"/>
              <a:t>100</a:t>
            </a:r>
            <a:r>
              <a:rPr kumimoji="1" lang="zh-CN" altLang="en-US" dirty="0"/>
              <a:t>个号</a:t>
            </a:r>
            <a:r>
              <a:rPr kumimoji="1" lang="en-US" altLang="zh-CN" dirty="0"/>
              <a:t>)</a:t>
            </a:r>
            <a:r>
              <a:rPr kumimoji="1" lang="zh-CN" altLang="en-US" dirty="0"/>
              <a:t>，以及栈中尚有的空闲盘块</a:t>
            </a:r>
            <a:r>
              <a:rPr kumimoji="1" lang="en-US" altLang="zh-CN" dirty="0"/>
              <a:t>(</a:t>
            </a:r>
            <a:r>
              <a:rPr kumimoji="1" lang="zh-CN" altLang="en-US" dirty="0"/>
              <a:t>号</a:t>
            </a:r>
            <a:r>
              <a:rPr kumimoji="1" lang="en-US" altLang="zh-CN" dirty="0"/>
              <a:t>)</a:t>
            </a:r>
            <a:r>
              <a:rPr kumimoji="1" lang="zh-CN" altLang="en-US" dirty="0"/>
              <a:t>数</a:t>
            </a:r>
            <a:r>
              <a:rPr kumimoji="1" lang="en-US" altLang="zh-CN" dirty="0"/>
              <a:t>N</a:t>
            </a:r>
            <a:r>
              <a:rPr kumimoji="1" lang="zh-CN" altLang="en-US" dirty="0"/>
              <a:t>。顺便指出，</a:t>
            </a:r>
            <a:r>
              <a:rPr kumimoji="1" lang="en-US" altLang="zh-CN" dirty="0"/>
              <a:t>N</a:t>
            </a:r>
            <a:r>
              <a:rPr kumimoji="1" lang="zh-CN" altLang="en-US" dirty="0"/>
              <a:t>还兼作栈顶指针用。</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DF991BAA-A5B2-4841-A09B-5AAF293CAD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0098" y="2382747"/>
            <a:ext cx="6408738" cy="392112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E3B8F33-3818-4015-87F2-0B41606497A2}"/>
              </a:ext>
            </a:extLst>
          </p:cNvPr>
          <p:cNvSpPr txBox="1"/>
          <p:nvPr/>
        </p:nvSpPr>
        <p:spPr>
          <a:xfrm>
            <a:off x="6509740" y="6388387"/>
            <a:ext cx="2869454" cy="400110"/>
          </a:xfrm>
          <a:prstGeom prst="rect">
            <a:avLst/>
          </a:prstGeom>
          <a:noFill/>
        </p:spPr>
        <p:txBody>
          <a:bodyPr wrap="square">
            <a:spAutoFit/>
          </a:bodyPr>
          <a:lstStyle/>
          <a:p>
            <a:pPr algn="ctr"/>
            <a:r>
              <a:rPr lang="zh-CN" altLang="en-US" sz="2000" b="1" dirty="0">
                <a:solidFill>
                  <a:schemeClr val="accent3">
                    <a:lumMod val="75000"/>
                  </a:schemeClr>
                </a:solidFill>
              </a:rPr>
              <a:t>空闲盘块的成组链接法</a:t>
            </a:r>
          </a:p>
        </p:txBody>
      </p:sp>
      <p:sp>
        <p:nvSpPr>
          <p:cNvPr id="8" name="文本框 7">
            <a:extLst>
              <a:ext uri="{FF2B5EF4-FFF2-40B4-BE49-F238E27FC236}">
                <a16:creationId xmlns:a16="http://schemas.microsoft.com/office/drawing/2014/main" id="{CDA536CF-0C96-4B3E-8374-9B4FA5B8B9B1}"/>
              </a:ext>
            </a:extLst>
          </p:cNvPr>
          <p:cNvSpPr txBox="1"/>
          <p:nvPr/>
        </p:nvSpPr>
        <p:spPr>
          <a:xfrm>
            <a:off x="394855" y="6403776"/>
            <a:ext cx="6096000"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https://blog.csdn.net/Ajay666/article/details/73569654</a:t>
            </a:r>
          </a:p>
        </p:txBody>
      </p:sp>
    </p:spTree>
    <p:extLst>
      <p:ext uri="{BB962C8B-B14F-4D97-AF65-F5344CB8AC3E}">
        <p14:creationId xmlns:p14="http://schemas.microsoft.com/office/powerpoint/2010/main" val="188730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149780" cy="5347242"/>
          </a:xfrm>
        </p:spPr>
        <p:txBody>
          <a:bodyPr>
            <a:normAutofit/>
          </a:bodyPr>
          <a:lstStyle/>
          <a:p>
            <a:pPr>
              <a:lnSpc>
                <a:spcPct val="120000"/>
              </a:lnSpc>
            </a:pPr>
            <a:r>
              <a:rPr kumimoji="1" lang="zh-CN" altLang="en-US" dirty="0"/>
              <a:t>成组链接法</a:t>
            </a:r>
            <a:endParaRPr kumimoji="1" lang="en-US" altLang="zh-CN" dirty="0"/>
          </a:p>
          <a:p>
            <a:pPr lvl="1" algn="just">
              <a:buFont typeface="Wingdings" panose="05000000000000000000" pitchFamily="2" charset="2"/>
              <a:buChar char="ü"/>
            </a:pPr>
            <a:r>
              <a:rPr kumimoji="1" lang="zh-CN" altLang="en-US" dirty="0"/>
              <a:t>空闲盘块的组织</a:t>
            </a:r>
            <a:endParaRPr kumimoji="1" lang="en-US" altLang="zh-CN" dirty="0"/>
          </a:p>
          <a:p>
            <a:pPr marL="914400" lvl="2" indent="0" algn="just">
              <a:buNone/>
            </a:pPr>
            <a:r>
              <a:rPr kumimoji="1" lang="en-US" altLang="zh-CN" dirty="0"/>
              <a:t>(2)</a:t>
            </a:r>
            <a:r>
              <a:rPr kumimoji="1" lang="zh-CN" altLang="en-US" dirty="0"/>
              <a:t>文件区中所有空闲盘块被分成若干个组，如每</a:t>
            </a:r>
            <a:r>
              <a:rPr kumimoji="1" lang="en-US" altLang="zh-CN" dirty="0"/>
              <a:t>100</a:t>
            </a:r>
            <a:r>
              <a:rPr kumimoji="1" lang="zh-CN" altLang="en-US" dirty="0"/>
              <a:t>个盘块为一组。假定盘上共有</a:t>
            </a:r>
            <a:r>
              <a:rPr kumimoji="1" lang="en-US" altLang="zh-CN" dirty="0"/>
              <a:t>10000</a:t>
            </a:r>
            <a:r>
              <a:rPr kumimoji="1" lang="zh-CN" altLang="en-US" dirty="0"/>
              <a:t>个盘块，每块大小为</a:t>
            </a:r>
            <a:r>
              <a:rPr kumimoji="1" lang="en-US" altLang="zh-CN" dirty="0"/>
              <a:t>1KB</a:t>
            </a:r>
            <a:r>
              <a:rPr kumimoji="1" lang="zh-CN" altLang="en-US" dirty="0"/>
              <a:t>，其中第</a:t>
            </a:r>
            <a:r>
              <a:rPr kumimoji="1" lang="en-US" altLang="zh-CN" dirty="0"/>
              <a:t>201</a:t>
            </a:r>
            <a:r>
              <a:rPr kumimoji="1" lang="zh-CN" altLang="en-US" dirty="0"/>
              <a:t>～</a:t>
            </a:r>
            <a:r>
              <a:rPr kumimoji="1" lang="en-US" altLang="zh-CN" dirty="0"/>
              <a:t>7999</a:t>
            </a:r>
            <a:r>
              <a:rPr kumimoji="1" lang="zh-CN" altLang="en-US" dirty="0"/>
              <a:t>号盘块用于存放文件，即作为文件区，该区的最末一组盘块号为</a:t>
            </a:r>
            <a:r>
              <a:rPr kumimoji="1" lang="en-US" altLang="zh-CN" dirty="0"/>
              <a:t>7901</a:t>
            </a:r>
            <a:r>
              <a:rPr kumimoji="1" lang="zh-CN" altLang="en-US" dirty="0"/>
              <a:t>～</a:t>
            </a:r>
            <a:r>
              <a:rPr kumimoji="1" lang="en-US" altLang="zh-CN" dirty="0"/>
              <a:t>7999</a:t>
            </a:r>
            <a:r>
              <a:rPr kumimoji="1" lang="zh-CN" altLang="en-US" dirty="0"/>
              <a:t>、次末组为</a:t>
            </a:r>
            <a:r>
              <a:rPr kumimoji="1" lang="en-US" altLang="zh-CN" dirty="0"/>
              <a:t>7801</a:t>
            </a:r>
            <a:r>
              <a:rPr kumimoji="1" lang="zh-CN" altLang="en-US" dirty="0"/>
              <a:t>～</a:t>
            </a:r>
            <a:r>
              <a:rPr kumimoji="1" lang="en-US" altLang="zh-CN" dirty="0"/>
              <a:t>7900</a:t>
            </a:r>
            <a:r>
              <a:rPr kumimoji="1" lang="zh-CN" altLang="en-US" dirty="0"/>
              <a:t>、</a:t>
            </a:r>
            <a:r>
              <a:rPr kumimoji="1" lang="en-US" altLang="zh-CN" dirty="0"/>
              <a:t>…</a:t>
            </a:r>
            <a:r>
              <a:rPr kumimoji="1" lang="zh-CN" altLang="en-US" dirty="0"/>
              <a:t>，倒数第二组盘块号为</a:t>
            </a:r>
            <a:r>
              <a:rPr kumimoji="1" lang="en-US" altLang="zh-CN" dirty="0"/>
              <a:t>301</a:t>
            </a:r>
            <a:r>
              <a:rPr kumimoji="1" lang="zh-CN" altLang="en-US" dirty="0"/>
              <a:t>～</a:t>
            </a:r>
            <a:r>
              <a:rPr kumimoji="1" lang="en-US" altLang="zh-CN" dirty="0"/>
              <a:t>400</a:t>
            </a:r>
            <a:r>
              <a:rPr kumimoji="1" lang="zh-CN" altLang="en-US" dirty="0"/>
              <a:t>、第一组为</a:t>
            </a:r>
            <a:r>
              <a:rPr kumimoji="1" lang="en-US" altLang="zh-CN" dirty="0"/>
              <a:t>201</a:t>
            </a:r>
            <a:r>
              <a:rPr kumimoji="1" lang="zh-CN" altLang="en-US" dirty="0"/>
              <a:t>～</a:t>
            </a:r>
            <a:r>
              <a:rPr kumimoji="1" lang="en-US" altLang="zh-CN" dirty="0"/>
              <a:t>300</a:t>
            </a:r>
            <a:r>
              <a:rPr kumimoji="1" lang="zh-CN" altLang="en-US" dirty="0"/>
              <a:t>。</a:t>
            </a:r>
            <a:endParaRPr kumimoji="1" lang="en-US" altLang="zh-CN" dirty="0"/>
          </a:p>
          <a:p>
            <a:pPr marL="914400" lvl="2" indent="0" algn="just">
              <a:buNone/>
            </a:pPr>
            <a:r>
              <a:rPr kumimoji="1" lang="en-US" altLang="zh-CN" dirty="0"/>
              <a:t>(3)</a:t>
            </a:r>
            <a:r>
              <a:rPr kumimoji="1" lang="zh-CN" altLang="en-US" dirty="0"/>
              <a:t>将每一组含有盘块总数</a:t>
            </a:r>
            <a:r>
              <a:rPr kumimoji="1" lang="en-US" altLang="zh-CN" dirty="0"/>
              <a:t>N</a:t>
            </a:r>
            <a:r>
              <a:rPr kumimoji="1" lang="zh-CN" altLang="en-US" dirty="0"/>
              <a:t>和该组所有盘块号记入其前一组第一个盘块的</a:t>
            </a:r>
            <a:r>
              <a:rPr kumimoji="1" lang="en-US" altLang="zh-CN" dirty="0" err="1"/>
              <a:t>S.free</a:t>
            </a:r>
            <a:r>
              <a:rPr kumimoji="1" lang="en-US" altLang="zh-CN" dirty="0"/>
              <a:t>(0)</a:t>
            </a:r>
            <a:r>
              <a:rPr kumimoji="1" lang="zh-CN" altLang="en-US" dirty="0"/>
              <a:t>～</a:t>
            </a:r>
            <a:r>
              <a:rPr kumimoji="1" lang="en-US" altLang="zh-CN" dirty="0" err="1"/>
              <a:t>S.free</a:t>
            </a:r>
            <a:r>
              <a:rPr kumimoji="1" lang="en-US" altLang="zh-CN" dirty="0"/>
              <a:t>(99)</a:t>
            </a:r>
            <a:r>
              <a:rPr kumimoji="1" lang="zh-CN" altLang="en-US" dirty="0"/>
              <a:t>中。这样，由各组的第一个盘块可链成一条链。</a:t>
            </a:r>
            <a:endParaRPr kumimoji="1" lang="en-US" altLang="zh-CN" dirty="0"/>
          </a:p>
          <a:p>
            <a:pPr marL="914400" lvl="2" indent="0" algn="just">
              <a:buNone/>
            </a:pPr>
            <a:r>
              <a:rPr kumimoji="1" lang="en-US" altLang="zh-CN" dirty="0"/>
              <a:t>(4)</a:t>
            </a:r>
            <a:r>
              <a:rPr kumimoji="1" lang="zh-CN" altLang="en-US" dirty="0"/>
              <a:t>将第一组盘块总数和所有盘块号记入空闲盘块号栈中，作为当前可供分配的空闲盘块号。</a:t>
            </a:r>
            <a:endParaRPr kumimoji="1" lang="en-US" altLang="zh-CN" dirty="0"/>
          </a:p>
          <a:p>
            <a:pPr marL="914400" lvl="2" indent="0" algn="just">
              <a:buNone/>
            </a:pPr>
            <a:r>
              <a:rPr kumimoji="1" lang="en-US" altLang="zh-CN" dirty="0"/>
              <a:t>(5)</a:t>
            </a:r>
            <a:r>
              <a:rPr kumimoji="1" lang="zh-CN" altLang="en-US" dirty="0"/>
              <a:t>最末一组只有</a:t>
            </a:r>
            <a:r>
              <a:rPr kumimoji="1" lang="en-US" altLang="zh-CN" dirty="0"/>
              <a:t>99</a:t>
            </a:r>
            <a:r>
              <a:rPr kumimoji="1" lang="zh-CN" altLang="en-US" dirty="0"/>
              <a:t>个盘块，其盘块号分别记入其前一组</a:t>
            </a:r>
            <a:r>
              <a:rPr kumimoji="1" lang="en-US" altLang="zh-CN" dirty="0" err="1"/>
              <a:t>S.free</a:t>
            </a:r>
            <a:r>
              <a:rPr kumimoji="1" lang="en-US" altLang="zh-CN" dirty="0"/>
              <a:t>(1)</a:t>
            </a:r>
            <a:r>
              <a:rPr kumimoji="1" lang="zh-CN" altLang="en-US" dirty="0"/>
              <a:t>～</a:t>
            </a:r>
            <a:r>
              <a:rPr kumimoji="1" lang="en-US" altLang="zh-CN" dirty="0" err="1"/>
              <a:t>S.free</a:t>
            </a:r>
            <a:r>
              <a:rPr kumimoji="1" lang="en-US" altLang="zh-CN" dirty="0"/>
              <a:t>(99)</a:t>
            </a:r>
            <a:r>
              <a:rPr kumimoji="1" lang="zh-CN" altLang="en-US" dirty="0"/>
              <a:t>中，而在</a:t>
            </a:r>
            <a:r>
              <a:rPr kumimoji="1" lang="en-US" altLang="zh-CN" dirty="0" err="1"/>
              <a:t>S.free</a:t>
            </a:r>
            <a:r>
              <a:rPr kumimoji="1" lang="en-US" altLang="zh-CN" dirty="0"/>
              <a:t>(0)</a:t>
            </a:r>
            <a:r>
              <a:rPr kumimoji="1" lang="zh-CN" altLang="en-US" dirty="0"/>
              <a:t>中则存放“</a:t>
            </a:r>
            <a:r>
              <a:rPr kumimoji="1" lang="en-US" altLang="zh-CN" dirty="0"/>
              <a:t>0”</a:t>
            </a:r>
            <a:r>
              <a:rPr kumimoji="1" lang="zh-CN" altLang="en-US" dirty="0"/>
              <a:t>，作为空闲盘块链结束标志。</a:t>
            </a:r>
            <a:r>
              <a:rPr kumimoji="1" lang="en-US" altLang="zh-CN" dirty="0"/>
              <a:t>(</a:t>
            </a:r>
            <a:r>
              <a:rPr kumimoji="1" lang="zh-CN" altLang="en-US" dirty="0"/>
              <a:t>注：最后一组盘块数应为</a:t>
            </a:r>
            <a:r>
              <a:rPr kumimoji="1" lang="en-US" altLang="zh-CN" dirty="0"/>
              <a:t>99</a:t>
            </a:r>
            <a:r>
              <a:rPr kumimoji="1" lang="zh-CN" altLang="en-US" dirty="0"/>
              <a:t>，不应是</a:t>
            </a:r>
            <a:r>
              <a:rPr kumimoji="1" lang="en-US" altLang="zh-CN" dirty="0"/>
              <a:t>100</a:t>
            </a:r>
            <a:r>
              <a:rPr kumimoji="1" lang="zh-CN" altLang="en-US" dirty="0"/>
              <a:t>，因为这是指可供使用的空闲盘块。其编号为</a:t>
            </a:r>
            <a:r>
              <a:rPr kumimoji="1" lang="en-US" altLang="zh-CN" dirty="0"/>
              <a:t>(1</a:t>
            </a:r>
            <a:r>
              <a:rPr kumimoji="1" lang="zh-CN" altLang="en-US" dirty="0"/>
              <a:t>～</a:t>
            </a:r>
            <a:r>
              <a:rPr kumimoji="1" lang="en-US" altLang="zh-CN" dirty="0"/>
              <a:t>99)</a:t>
            </a:r>
            <a:r>
              <a:rPr kumimoji="1" lang="zh-CN" altLang="en-US" dirty="0"/>
              <a:t>，</a:t>
            </a:r>
            <a:r>
              <a:rPr kumimoji="1" lang="en-US" altLang="zh-CN" dirty="0"/>
              <a:t>0</a:t>
            </a:r>
            <a:r>
              <a:rPr kumimoji="1" lang="zh-CN" altLang="en-US" dirty="0"/>
              <a:t>号放空闲盘块链结尾标志。</a:t>
            </a:r>
            <a:r>
              <a:rPr kumimoji="1" lang="en-US" altLang="zh-CN" dirty="0"/>
              <a:t>)</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41043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文件存储空间的管理</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510758"/>
            <a:ext cx="11035816" cy="5347242"/>
          </a:xfrm>
        </p:spPr>
        <p:txBody>
          <a:bodyPr>
            <a:normAutofit/>
          </a:bodyPr>
          <a:lstStyle/>
          <a:p>
            <a:pPr>
              <a:lnSpc>
                <a:spcPct val="120000"/>
              </a:lnSpc>
            </a:pPr>
            <a:r>
              <a:rPr kumimoji="1" lang="zh-CN" altLang="en-US" dirty="0"/>
              <a:t>成组链接法</a:t>
            </a:r>
            <a:endParaRPr kumimoji="1" lang="en-US" altLang="zh-CN" dirty="0"/>
          </a:p>
          <a:p>
            <a:pPr lvl="1" algn="just">
              <a:buFont typeface="Wingdings" panose="05000000000000000000" pitchFamily="2" charset="2"/>
              <a:buChar char="ü"/>
            </a:pPr>
            <a:r>
              <a:rPr kumimoji="1" lang="zh-CN" altLang="en-US" dirty="0"/>
              <a:t>空闲盘块的分配与回收</a:t>
            </a:r>
            <a:endParaRPr kumimoji="1" lang="en-US" altLang="zh-CN" dirty="0"/>
          </a:p>
          <a:p>
            <a:pPr marL="914400" lvl="2" indent="0" algn="just">
              <a:buNone/>
            </a:pPr>
            <a:r>
              <a:rPr kumimoji="1" lang="zh-CN" altLang="en-US" dirty="0"/>
              <a:t>当系统要为用户分配文件所需的盘块时，须调用盘块分配过程来完成。该过程首先检查空闲盘块号栈是否上锁，如未上锁，便从栈顶取出一空闲盘块号，将与之对应的盘块分配给用户，然后将栈顶指针下移一格。若该盘块号已是栈底，即</a:t>
            </a:r>
            <a:r>
              <a:rPr kumimoji="1" lang="en-US" altLang="zh-CN" dirty="0"/>
              <a:t>S.free(0)</a:t>
            </a:r>
            <a:r>
              <a:rPr kumimoji="1" lang="zh-CN" altLang="en-US" dirty="0"/>
              <a:t>，这是当前栈中最后一个可分配的盘块号。</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7617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CC2FCC99-6E21-4B58-A434-897768E453E1}"/>
              </a:ext>
            </a:extLst>
          </p:cNvPr>
          <p:cNvSpPr txBox="1"/>
          <p:nvPr/>
        </p:nvSpPr>
        <p:spPr>
          <a:xfrm>
            <a:off x="661555" y="1727538"/>
            <a:ext cx="10868890" cy="1200329"/>
          </a:xfrm>
          <a:prstGeom prst="rect">
            <a:avLst/>
          </a:prstGeom>
          <a:noFill/>
        </p:spPr>
        <p:txBody>
          <a:bodyPr wrap="square">
            <a:spAutoFit/>
          </a:bodyPr>
          <a:lstStyle/>
          <a:p>
            <a:pPr algn="just"/>
            <a:r>
              <a:rPr lang="zh-CN" altLang="en-US" sz="2400" dirty="0">
                <a:solidFill>
                  <a:schemeClr val="accent4">
                    <a:lumMod val="60000"/>
                    <a:lumOff val="40000"/>
                  </a:schemeClr>
                </a:solidFill>
                <a:latin typeface="Times New Roman" panose="02020603050405020304" pitchFamily="18" charset="0"/>
                <a:cs typeface="Times New Roman" panose="02020603050405020304" pitchFamily="18" charset="0"/>
              </a:rPr>
              <a:t>（</a:t>
            </a:r>
            <a:r>
              <a:rPr lang="en-US" altLang="zh-CN" sz="2400" dirty="0">
                <a:solidFill>
                  <a:schemeClr val="accent4">
                    <a:lumMod val="60000"/>
                    <a:lumOff val="40000"/>
                  </a:schemeClr>
                </a:solidFill>
                <a:latin typeface="Times New Roman" panose="02020603050405020304" pitchFamily="18" charset="0"/>
                <a:cs typeface="Times New Roman" panose="02020603050405020304" pitchFamily="18" charset="0"/>
              </a:rPr>
              <a:t>1</a:t>
            </a:r>
            <a:r>
              <a:rPr lang="zh-CN" altLang="en-US" sz="2400" dirty="0">
                <a:solidFill>
                  <a:schemeClr val="accent4">
                    <a:lumMod val="60000"/>
                    <a:lumOff val="40000"/>
                  </a:schemeClr>
                </a:solidFill>
                <a:latin typeface="Times New Roman" panose="02020603050405020304" pitchFamily="18" charset="0"/>
                <a:cs typeface="Times New Roman" panose="02020603050405020304" pitchFamily="18" charset="0"/>
              </a:rPr>
              <a:t>）改进文件目录结构以及检索目录的方法来减少对目录的查找时间；</a:t>
            </a:r>
            <a:endParaRPr lang="en-US" altLang="zh-CN" sz="2400" dirty="0">
              <a:solidFill>
                <a:schemeClr val="accent4">
                  <a:lumMod val="60000"/>
                  <a:lumOff val="40000"/>
                </a:schemeClr>
              </a:solidFill>
              <a:latin typeface="Times New Roman" panose="02020603050405020304" pitchFamily="18" charset="0"/>
              <a:cs typeface="Times New Roman" panose="02020603050405020304" pitchFamily="18" charset="0"/>
            </a:endParaRPr>
          </a:p>
          <a:p>
            <a:pPr algn="just"/>
            <a:r>
              <a:rPr lang="zh-CN" altLang="en-US" sz="2400" dirty="0">
                <a:solidFill>
                  <a:schemeClr val="accent4">
                    <a:lumMod val="60000"/>
                    <a:lumOff val="40000"/>
                  </a:schemeClr>
                </a:solidFill>
                <a:latin typeface="Times New Roman" panose="02020603050405020304" pitchFamily="18" charset="0"/>
                <a:cs typeface="Times New Roman" panose="02020603050405020304" pitchFamily="18" charset="0"/>
              </a:rPr>
              <a:t>（</a:t>
            </a:r>
            <a:r>
              <a:rPr lang="en-US" altLang="zh-CN" sz="2400" dirty="0">
                <a:solidFill>
                  <a:schemeClr val="accent4">
                    <a:lumMod val="60000"/>
                    <a:lumOff val="40000"/>
                  </a:schemeClr>
                </a:solidFill>
                <a:latin typeface="Times New Roman" panose="02020603050405020304" pitchFamily="18" charset="0"/>
                <a:cs typeface="Times New Roman" panose="02020603050405020304" pitchFamily="18" charset="0"/>
              </a:rPr>
              <a:t>2</a:t>
            </a:r>
            <a:r>
              <a:rPr lang="zh-CN" altLang="en-US" sz="2400" dirty="0">
                <a:solidFill>
                  <a:schemeClr val="accent4">
                    <a:lumMod val="60000"/>
                    <a:lumOff val="40000"/>
                  </a:schemeClr>
                </a:solidFill>
                <a:latin typeface="Times New Roman" panose="02020603050405020304" pitchFamily="18" charset="0"/>
                <a:cs typeface="Times New Roman" panose="02020603050405020304" pitchFamily="18" charset="0"/>
              </a:rPr>
              <a:t>）选取好的文件存储结构，以提高对文件的访问速度；</a:t>
            </a:r>
            <a:endParaRPr lang="en-US" altLang="zh-CN" sz="2400" dirty="0">
              <a:solidFill>
                <a:schemeClr val="accent4">
                  <a:lumMod val="60000"/>
                  <a:lumOff val="40000"/>
                </a:schemeClr>
              </a:solidFill>
              <a:latin typeface="Times New Roman" panose="02020603050405020304" pitchFamily="18" charset="0"/>
              <a:cs typeface="Times New Roman" panose="02020603050405020304" pitchFamily="18" charset="0"/>
            </a:endParaRPr>
          </a:p>
          <a:p>
            <a:pPr algn="just"/>
            <a:r>
              <a:rPr lang="zh-CN" altLang="en-US" sz="2400" b="1" dirty="0">
                <a:solidFill>
                  <a:srgbClr val="FF0000"/>
                </a:solidFill>
                <a:latin typeface="Times New Roman" panose="02020603050405020304" pitchFamily="18" charset="0"/>
                <a:cs typeface="Times New Roman" panose="02020603050405020304" pitchFamily="18" charset="0"/>
              </a:rPr>
              <a:t>（</a:t>
            </a:r>
            <a:r>
              <a:rPr lang="en-US" altLang="zh-CN" sz="2400" b="1" dirty="0">
                <a:solidFill>
                  <a:srgbClr val="FF0000"/>
                </a:solidFill>
                <a:latin typeface="Times New Roman" panose="02020603050405020304" pitchFamily="18" charset="0"/>
                <a:cs typeface="Times New Roman" panose="02020603050405020304" pitchFamily="18" charset="0"/>
              </a:rPr>
              <a:t>3</a:t>
            </a:r>
            <a:r>
              <a:rPr lang="zh-CN" altLang="en-US" sz="2400" b="1" dirty="0">
                <a:solidFill>
                  <a:srgbClr val="FF0000"/>
                </a:solidFill>
                <a:latin typeface="Times New Roman" panose="02020603050405020304" pitchFamily="18" charset="0"/>
                <a:cs typeface="Times New Roman" panose="02020603050405020304" pitchFamily="18" charset="0"/>
              </a:rPr>
              <a:t>）提高磁盘</a:t>
            </a:r>
            <a:r>
              <a:rPr lang="en-US" altLang="zh-CN" sz="2400" b="1" dirty="0">
                <a:solidFill>
                  <a:srgbClr val="FF0000"/>
                </a:solidFill>
                <a:latin typeface="Times New Roman" panose="02020603050405020304" pitchFamily="18" charset="0"/>
                <a:cs typeface="Times New Roman" panose="02020603050405020304" pitchFamily="18" charset="0"/>
              </a:rPr>
              <a:t>I/O</a:t>
            </a:r>
            <a:r>
              <a:rPr lang="zh-CN" altLang="en-US" sz="2400" b="1" dirty="0">
                <a:solidFill>
                  <a:srgbClr val="FF0000"/>
                </a:solidFill>
                <a:latin typeface="Times New Roman" panose="02020603050405020304" pitchFamily="18" charset="0"/>
                <a:cs typeface="Times New Roman" panose="02020603050405020304" pitchFamily="18" charset="0"/>
              </a:rPr>
              <a:t>速度，能将文件中数据快速地从磁盘传送到内存，或者相反</a:t>
            </a:r>
            <a:r>
              <a:rPr lang="zh-CN" altLang="en-US" sz="2400" dirty="0">
                <a:solidFill>
                  <a:schemeClr val="accent3">
                    <a:lumMod val="75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74259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13163"/>
            <a:ext cx="11035816" cy="5444837"/>
          </a:xfrm>
        </p:spPr>
        <p:txBody>
          <a:bodyPr>
            <a:normAutofit/>
          </a:bodyPr>
          <a:lstStyle/>
          <a:p>
            <a:pPr>
              <a:lnSpc>
                <a:spcPct val="120000"/>
              </a:lnSpc>
            </a:pPr>
            <a:r>
              <a:rPr kumimoji="1" lang="zh-CN" altLang="en-US" dirty="0"/>
              <a:t>磁盘高速缓存</a:t>
            </a:r>
            <a:endParaRPr kumimoji="1" lang="en-US" altLang="zh-CN" dirty="0"/>
          </a:p>
          <a:p>
            <a:pPr marL="457200" lvl="1" indent="0" algn="just">
              <a:buNone/>
            </a:pPr>
            <a:r>
              <a:rPr kumimoji="1" lang="zh-CN" altLang="en-US" sz="2000" dirty="0"/>
              <a:t>在设计磁盘高速缓存时需考虑的问题：</a:t>
            </a:r>
            <a:r>
              <a:rPr kumimoji="1" lang="en-US" altLang="zh-CN" sz="2000" dirty="0"/>
              <a:t>(1)</a:t>
            </a:r>
            <a:r>
              <a:rPr kumimoji="1" lang="zh-CN" altLang="en-US" sz="2000" b="1" dirty="0">
                <a:solidFill>
                  <a:srgbClr val="FF0000"/>
                </a:solidFill>
              </a:rPr>
              <a:t>如何将磁盘高速缓存中的数据传送给请求进程</a:t>
            </a:r>
            <a:r>
              <a:rPr kumimoji="1" lang="zh-CN" altLang="en-US" sz="2000" dirty="0"/>
              <a:t>；</a:t>
            </a:r>
            <a:r>
              <a:rPr kumimoji="1" lang="en-US" altLang="zh-CN" sz="2000" dirty="0"/>
              <a:t>(2)</a:t>
            </a:r>
            <a:r>
              <a:rPr kumimoji="1" lang="zh-CN" altLang="en-US" sz="2000" b="1" dirty="0">
                <a:solidFill>
                  <a:srgbClr val="FF0000"/>
                </a:solidFill>
              </a:rPr>
              <a:t>采用什么样的置换策略</a:t>
            </a:r>
            <a:r>
              <a:rPr kumimoji="1" lang="zh-CN" altLang="en-US" sz="2000" dirty="0"/>
              <a:t>；</a:t>
            </a:r>
            <a:r>
              <a:rPr kumimoji="1" lang="en-US" altLang="zh-CN" sz="2000" dirty="0"/>
              <a:t>(3)</a:t>
            </a:r>
            <a:r>
              <a:rPr kumimoji="1" lang="zh-CN" altLang="en-US" sz="2000" b="1" dirty="0">
                <a:solidFill>
                  <a:srgbClr val="FF0000"/>
                </a:solidFill>
              </a:rPr>
              <a:t>已修改的盘块数据在何时被写回磁盘</a:t>
            </a:r>
            <a:r>
              <a:rPr kumimoji="1" lang="zh-CN" altLang="en-US" sz="2000" dirty="0"/>
              <a:t>。</a:t>
            </a:r>
            <a:endParaRPr kumimoji="1" lang="en-US" altLang="zh-CN" sz="2000" dirty="0"/>
          </a:p>
          <a:p>
            <a:pPr lvl="1" algn="just">
              <a:buFont typeface="Wingdings" panose="05000000000000000000" pitchFamily="2" charset="2"/>
              <a:buChar char="ü"/>
            </a:pPr>
            <a:r>
              <a:rPr kumimoji="1" lang="zh-CN" altLang="en-US" dirty="0"/>
              <a:t>数据交付</a:t>
            </a:r>
            <a:r>
              <a:rPr kumimoji="1" lang="en-US" altLang="zh-CN" dirty="0"/>
              <a:t>(Data Delivery)</a:t>
            </a:r>
            <a:r>
              <a:rPr kumimoji="1" lang="zh-CN" altLang="en-US" dirty="0"/>
              <a:t>方式</a:t>
            </a:r>
            <a:endParaRPr kumimoji="1" lang="en-US" altLang="zh-CN" dirty="0"/>
          </a:p>
          <a:p>
            <a:pPr marL="914400" lvl="2" indent="0" algn="just">
              <a:buNone/>
            </a:pPr>
            <a:r>
              <a:rPr kumimoji="1" lang="zh-CN" altLang="en-US" dirty="0"/>
              <a:t>如果</a:t>
            </a:r>
            <a:r>
              <a:rPr kumimoji="1" lang="en-US" altLang="zh-CN" dirty="0"/>
              <a:t>I/O</a:t>
            </a:r>
            <a:r>
              <a:rPr kumimoji="1" lang="zh-CN" altLang="en-US" dirty="0"/>
              <a:t>请求所需的数据能从磁盘高速缓存中获取，此时就需要将磁盘高速缓存中的数据传送给请求进程。所谓数据交付就是将磁盘高速缓存中的数据传送给请求者进程。系统可以采取两种方式将数据交付给请求进程：</a:t>
            </a:r>
            <a:r>
              <a:rPr kumimoji="1" lang="en-US" altLang="zh-CN" dirty="0"/>
              <a:t>(1)</a:t>
            </a:r>
            <a:r>
              <a:rPr kumimoji="1" lang="zh-CN" altLang="en-US" dirty="0"/>
              <a:t>数据交付；</a:t>
            </a:r>
            <a:r>
              <a:rPr kumimoji="1" lang="en-US" altLang="zh-CN" dirty="0"/>
              <a:t>(2)</a:t>
            </a:r>
            <a:r>
              <a:rPr kumimoji="1" lang="zh-CN" altLang="en-US" dirty="0"/>
              <a:t>指针交付。</a:t>
            </a:r>
            <a:endParaRPr kumimoji="1" lang="en-US" altLang="zh-CN" dirty="0"/>
          </a:p>
          <a:p>
            <a:pPr lvl="1" algn="just">
              <a:buFont typeface="Wingdings" panose="05000000000000000000" pitchFamily="2" charset="2"/>
              <a:buChar char="ü"/>
            </a:pPr>
            <a:r>
              <a:rPr kumimoji="1" lang="zh-CN" altLang="en-US" dirty="0"/>
              <a:t>置换算法</a:t>
            </a:r>
            <a:endParaRPr kumimoji="1" lang="en-US" altLang="zh-CN" dirty="0"/>
          </a:p>
          <a:p>
            <a:pPr marL="914400" lvl="2" indent="0" algn="just">
              <a:buNone/>
            </a:pPr>
            <a:r>
              <a:rPr kumimoji="1" lang="zh-CN" altLang="en-US" dirty="0"/>
              <a:t>不少系统在设计其高速缓存置换算法时，除考虑到最近最久未使用原则外，还考虑：</a:t>
            </a:r>
            <a:r>
              <a:rPr kumimoji="1" lang="en-US" altLang="zh-CN" dirty="0"/>
              <a:t>(1)</a:t>
            </a:r>
            <a:r>
              <a:rPr kumimoji="1" lang="zh-CN" altLang="en-US" dirty="0"/>
              <a:t>访问频率；</a:t>
            </a:r>
            <a:r>
              <a:rPr kumimoji="1" lang="en-US" altLang="zh-CN" dirty="0"/>
              <a:t>(2)</a:t>
            </a:r>
            <a:r>
              <a:rPr kumimoji="1" lang="zh-CN" altLang="en-US" dirty="0"/>
              <a:t>可预见性；</a:t>
            </a:r>
            <a:r>
              <a:rPr kumimoji="1" lang="en-US" altLang="zh-CN" dirty="0"/>
              <a:t>(3)</a:t>
            </a:r>
            <a:r>
              <a:rPr kumimoji="1" lang="zh-CN" altLang="en-US" dirty="0"/>
              <a:t>数据的一致性。</a:t>
            </a:r>
            <a:endParaRPr kumimoji="1" lang="en-US" altLang="zh-CN" dirty="0"/>
          </a:p>
          <a:p>
            <a:pPr lvl="1" algn="just">
              <a:buFont typeface="Wingdings" panose="05000000000000000000" pitchFamily="2" charset="2"/>
              <a:buChar char="ü"/>
            </a:pPr>
            <a:r>
              <a:rPr kumimoji="1" lang="zh-CN" altLang="en-US" dirty="0"/>
              <a:t>周期性地写回磁盘</a:t>
            </a:r>
            <a:endParaRPr kumimoji="1" lang="en-US" altLang="zh-CN" dirty="0"/>
          </a:p>
          <a:p>
            <a:pPr marL="914400" lvl="2" indent="0" algn="just">
              <a:buNone/>
            </a:pPr>
            <a:r>
              <a:rPr kumimoji="1" lang="zh-CN" altLang="en-US" dirty="0"/>
              <a:t>根据</a:t>
            </a:r>
            <a:r>
              <a:rPr kumimoji="1" lang="en-US" altLang="zh-CN" dirty="0"/>
              <a:t>LRU</a:t>
            </a:r>
            <a:r>
              <a:rPr kumimoji="1" lang="zh-CN" altLang="en-US" dirty="0"/>
              <a:t>算法，那些经常被访问的盘块数据可能会一直保留在高速缓存中，长期不被写回。</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271758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提高磁盘</a:t>
            </a:r>
            <a:r>
              <a:rPr kumimoji="1" lang="en-US" altLang="zh-CN" dirty="0"/>
              <a:t>I/O</a:t>
            </a:r>
            <a:r>
              <a:rPr kumimoji="1" lang="zh-CN" altLang="en-US" dirty="0"/>
              <a:t>速度的其它方法</a:t>
            </a:r>
            <a:endParaRPr kumimoji="1" lang="en-US" altLang="zh-CN" dirty="0"/>
          </a:p>
          <a:p>
            <a:pPr lvl="1" algn="just">
              <a:buFont typeface="Wingdings" panose="05000000000000000000" pitchFamily="2" charset="2"/>
              <a:buChar char="ü"/>
            </a:pPr>
            <a:r>
              <a:rPr kumimoji="1" lang="zh-CN" altLang="en-US" dirty="0"/>
              <a:t>提前读</a:t>
            </a:r>
            <a:endParaRPr kumimoji="1" lang="en-US" altLang="zh-CN" dirty="0"/>
          </a:p>
          <a:p>
            <a:pPr marL="914400" lvl="2" indent="0" algn="just">
              <a:buNone/>
            </a:pPr>
            <a:r>
              <a:rPr kumimoji="1" lang="zh-CN" altLang="en-US" dirty="0"/>
              <a:t>把要读的数据提前取到内存中，等到要用的时候直接从内存里取，以提高效率。</a:t>
            </a:r>
            <a:endParaRPr kumimoji="1" lang="en-US" altLang="zh-CN" dirty="0"/>
          </a:p>
          <a:p>
            <a:pPr lvl="1" algn="just">
              <a:buFont typeface="Wingdings" panose="05000000000000000000" pitchFamily="2" charset="2"/>
              <a:buChar char="ü"/>
            </a:pPr>
            <a:r>
              <a:rPr kumimoji="1" lang="zh-CN" altLang="en-US" dirty="0"/>
              <a:t>延迟写</a:t>
            </a:r>
            <a:endParaRPr kumimoji="1" lang="en-US" altLang="zh-CN" dirty="0"/>
          </a:p>
          <a:p>
            <a:pPr marL="914400" lvl="2" indent="0" algn="just">
              <a:buNone/>
            </a:pPr>
            <a:r>
              <a:rPr kumimoji="1" lang="zh-CN" altLang="en-US" dirty="0"/>
              <a:t>把要写回的数据先放到内存里，等积累多了再一次性写到磁盘。</a:t>
            </a:r>
            <a:endParaRPr kumimoji="1" lang="en-US" altLang="zh-CN" dirty="0"/>
          </a:p>
          <a:p>
            <a:pPr lvl="1" algn="just">
              <a:buFont typeface="Wingdings" panose="05000000000000000000" pitchFamily="2" charset="2"/>
              <a:buChar char="ü"/>
            </a:pPr>
            <a:r>
              <a:rPr kumimoji="1" lang="zh-CN" altLang="en-US" dirty="0"/>
              <a:t>优化物理块的分布</a:t>
            </a:r>
            <a:endParaRPr kumimoji="1" lang="en-US" altLang="zh-CN" dirty="0"/>
          </a:p>
          <a:p>
            <a:pPr marL="914400" lvl="2" indent="0" algn="just">
              <a:buNone/>
            </a:pPr>
            <a:r>
              <a:rPr kumimoji="1" lang="zh-CN" altLang="en-US" dirty="0"/>
              <a:t>尽可能地将一个文件对应的盘块分布在同一个磁道上，减少寻道时间。</a:t>
            </a:r>
            <a:endParaRPr kumimoji="1" lang="en-US" altLang="zh-CN" dirty="0"/>
          </a:p>
          <a:p>
            <a:pPr lvl="1" algn="just">
              <a:buFont typeface="Wingdings" panose="05000000000000000000" pitchFamily="2" charset="2"/>
              <a:buChar char="ü"/>
            </a:pPr>
            <a:r>
              <a:rPr kumimoji="1" lang="zh-CN" altLang="en-US" dirty="0"/>
              <a:t>虚拟盘</a:t>
            </a:r>
            <a:endParaRPr kumimoji="1" lang="en-US" altLang="zh-CN" dirty="0"/>
          </a:p>
          <a:p>
            <a:pPr marL="914400" lvl="2" indent="0" algn="just">
              <a:buNone/>
            </a:pPr>
            <a:r>
              <a:rPr kumimoji="1" lang="zh-CN" altLang="en-US" dirty="0"/>
              <a:t>由于访问内存的速度远高于访问磁盘的速度，于是有人试图利用内存空间去仿真磁盘，形成所谓虚拟盘，又称</a:t>
            </a:r>
            <a:r>
              <a:rPr kumimoji="1" lang="en-US" altLang="zh-CN" dirty="0"/>
              <a:t>RAM</a:t>
            </a:r>
            <a:r>
              <a:rPr kumimoji="1" lang="zh-CN" altLang="en-US" dirty="0"/>
              <a:t>盘。该盘的设备驱动程序也可以接受所有标准的磁盘操作，但这些操作的执行不是在磁盘上而是在内存中。这对用户都是透明的。</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699053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廉价磁盘冗余阵列</a:t>
            </a:r>
            <a:r>
              <a:rPr kumimoji="1" lang="en-US" altLang="zh-CN" dirty="0"/>
              <a:t>(RAID)</a:t>
            </a:r>
          </a:p>
          <a:p>
            <a:pPr lvl="1" algn="just">
              <a:buFont typeface="Wingdings" panose="05000000000000000000" pitchFamily="2" charset="2"/>
              <a:buChar char="ü"/>
            </a:pPr>
            <a:r>
              <a:rPr kumimoji="1" lang="zh-CN" altLang="en-US" dirty="0"/>
              <a:t>并行交叉存取</a:t>
            </a:r>
            <a:endParaRPr kumimoji="1" lang="en-US" altLang="zh-CN" dirty="0"/>
          </a:p>
          <a:p>
            <a:pPr marL="914400" lvl="2" indent="0" algn="just">
              <a:buNone/>
            </a:pPr>
            <a:r>
              <a:rPr kumimoji="1" lang="zh-CN" altLang="en-US" dirty="0"/>
              <a:t>将大、中型机中用于提高访问内存速度的并行交叉存取技术应用到磁盘存储系统中，以提高对磁盘的</a:t>
            </a:r>
            <a:r>
              <a:rPr kumimoji="1" lang="en-US" altLang="zh-CN" dirty="0"/>
              <a:t>I/O</a:t>
            </a:r>
            <a:r>
              <a:rPr kumimoji="1" lang="zh-CN" altLang="en-US" dirty="0"/>
              <a:t>速度。在该系统中，有多台磁盘驱动器，系统将每一盘块中的数据分为若干个子盘块数据，再把每一个子盘块的数据分别存储到各个不同磁盘中的相同位置上。以后当要将一个盘块的数据传送到内存时，采取并行传输方式，将各个盘块中的子盘块数据同时向内存中传输，从而使传输时间大大减少。</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图片 4">
            <a:extLst>
              <a:ext uri="{FF2B5EF4-FFF2-40B4-BE49-F238E27FC236}">
                <a16:creationId xmlns:a16="http://schemas.microsoft.com/office/drawing/2014/main" id="{DBBD8A00-449E-4223-8DBD-38F78D852B78}"/>
              </a:ext>
            </a:extLst>
          </p:cNvPr>
          <p:cNvPicPr>
            <a:picLocks noChangeAspect="1"/>
          </p:cNvPicPr>
          <p:nvPr/>
        </p:nvPicPr>
        <p:blipFill>
          <a:blip r:embed="rId2"/>
          <a:stretch>
            <a:fillRect/>
          </a:stretch>
        </p:blipFill>
        <p:spPr>
          <a:xfrm>
            <a:off x="2461625" y="4505868"/>
            <a:ext cx="7559695" cy="1639966"/>
          </a:xfrm>
          <a:prstGeom prst="rect">
            <a:avLst/>
          </a:prstGeom>
        </p:spPr>
      </p:pic>
      <p:sp>
        <p:nvSpPr>
          <p:cNvPr id="7" name="文本框 6">
            <a:extLst>
              <a:ext uri="{FF2B5EF4-FFF2-40B4-BE49-F238E27FC236}">
                <a16:creationId xmlns:a16="http://schemas.microsoft.com/office/drawing/2014/main" id="{4F81DE0C-E588-4308-B3C2-6871C9AE3E88}"/>
              </a:ext>
            </a:extLst>
          </p:cNvPr>
          <p:cNvSpPr txBox="1"/>
          <p:nvPr/>
        </p:nvSpPr>
        <p:spPr>
          <a:xfrm>
            <a:off x="4798434" y="6352744"/>
            <a:ext cx="2886075" cy="400110"/>
          </a:xfrm>
          <a:prstGeom prst="rect">
            <a:avLst/>
          </a:prstGeom>
          <a:noFill/>
        </p:spPr>
        <p:txBody>
          <a:bodyPr wrap="square">
            <a:spAutoFit/>
          </a:bodyPr>
          <a:lstStyle/>
          <a:p>
            <a:pPr algn="ctr"/>
            <a:r>
              <a:rPr lang="zh-CN" altLang="en-US" sz="2000" b="1" dirty="0">
                <a:solidFill>
                  <a:schemeClr val="accent3">
                    <a:lumMod val="75000"/>
                  </a:schemeClr>
                </a:solidFill>
              </a:rPr>
              <a:t>磁盘并行交叉存取方式</a:t>
            </a:r>
          </a:p>
        </p:txBody>
      </p:sp>
    </p:spTree>
    <p:extLst>
      <p:ext uri="{BB962C8B-B14F-4D97-AF65-F5344CB8AC3E}">
        <p14:creationId xmlns:p14="http://schemas.microsoft.com/office/powerpoint/2010/main" val="3435103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廉价磁盘冗余阵列</a:t>
            </a:r>
            <a:r>
              <a:rPr kumimoji="1" lang="en-US" altLang="zh-CN" dirty="0"/>
              <a:t>(RAID)</a:t>
            </a:r>
          </a:p>
          <a:p>
            <a:pPr lvl="1" algn="just">
              <a:buFont typeface="Wingdings" panose="05000000000000000000" pitchFamily="2" charset="2"/>
              <a:buChar char="ü"/>
            </a:pPr>
            <a:r>
              <a:rPr kumimoji="1" lang="en-US" altLang="zh-CN" dirty="0"/>
              <a:t>RAID</a:t>
            </a:r>
            <a:r>
              <a:rPr kumimoji="1" lang="zh-CN" altLang="en-US" dirty="0"/>
              <a:t>的分级</a:t>
            </a:r>
            <a:endParaRPr kumimoji="1" lang="en-US" altLang="zh-CN" dirty="0"/>
          </a:p>
          <a:p>
            <a:pPr marL="914400" lvl="2" indent="0" algn="just">
              <a:buNone/>
            </a:pPr>
            <a:r>
              <a:rPr kumimoji="1" lang="en-US" altLang="zh-CN" dirty="0"/>
              <a:t>RAID</a:t>
            </a:r>
            <a:r>
              <a:rPr kumimoji="1" lang="zh-CN" altLang="en-US" dirty="0"/>
              <a:t>在刚被推出时，是分成</a:t>
            </a:r>
            <a:r>
              <a:rPr kumimoji="1" lang="en-US" altLang="zh-CN" dirty="0"/>
              <a:t>6</a:t>
            </a:r>
            <a:r>
              <a:rPr kumimoji="1" lang="zh-CN" altLang="en-US" dirty="0"/>
              <a:t>级的，后来又增加了</a:t>
            </a:r>
            <a:r>
              <a:rPr kumimoji="1" lang="en-US" altLang="zh-CN" dirty="0"/>
              <a:t>RAID 6</a:t>
            </a:r>
            <a:r>
              <a:rPr kumimoji="1" lang="zh-CN" altLang="en-US" dirty="0"/>
              <a:t>级和</a:t>
            </a:r>
            <a:r>
              <a:rPr kumimoji="1" lang="en-US" altLang="zh-CN" dirty="0"/>
              <a:t>RAID 7</a:t>
            </a:r>
            <a:r>
              <a:rPr kumimoji="1" lang="zh-CN" altLang="en-US" dirty="0"/>
              <a:t>级。</a:t>
            </a:r>
            <a:endParaRPr kumimoji="1" lang="en-US" altLang="zh-CN" dirty="0"/>
          </a:p>
          <a:p>
            <a:pPr marL="914400" lvl="2" indent="0" algn="just">
              <a:buNone/>
            </a:pPr>
            <a:r>
              <a:rPr kumimoji="1" lang="en-US" altLang="zh-CN" dirty="0"/>
              <a:t>(1)RAID 0</a:t>
            </a:r>
            <a:r>
              <a:rPr kumimoji="1" lang="zh-CN" altLang="en-US" dirty="0"/>
              <a:t>级：简单的、无数据校验的数据条带化技术，不提供任何形式的冗余策略；</a:t>
            </a:r>
            <a:endParaRPr kumimoji="1" lang="en-US" altLang="zh-CN" dirty="0"/>
          </a:p>
          <a:p>
            <a:pPr marL="914400" lvl="2" indent="0" algn="just">
              <a:buNone/>
            </a:pPr>
            <a:r>
              <a:rPr kumimoji="1" lang="en-US" altLang="zh-CN" dirty="0"/>
              <a:t>(2)RAID 1</a:t>
            </a:r>
            <a:r>
              <a:rPr kumimoji="1" lang="zh-CN" altLang="en-US" dirty="0"/>
              <a:t>级：将数据完全一致地分别写到工作盘和镜像盘，磁盘空间利用率为 </a:t>
            </a:r>
            <a:r>
              <a:rPr kumimoji="1" lang="en-US" altLang="zh-CN" dirty="0"/>
              <a:t>50%</a:t>
            </a:r>
            <a:r>
              <a:rPr kumimoji="1" lang="zh-CN" altLang="en-US" dirty="0"/>
              <a:t>；</a:t>
            </a:r>
            <a:endParaRPr kumimoji="1" lang="en-US" altLang="zh-CN" dirty="0"/>
          </a:p>
          <a:p>
            <a:pPr marL="914400" lvl="2" indent="0" algn="just">
              <a:buNone/>
            </a:pPr>
            <a:r>
              <a:rPr kumimoji="1" lang="en-US" altLang="zh-CN" dirty="0"/>
              <a:t>(3)RAID 3</a:t>
            </a:r>
            <a:r>
              <a:rPr kumimoji="1" lang="zh-CN" altLang="en-US" dirty="0"/>
              <a:t>级：采用一个专用的磁盘作为校验盘，其余磁盘作为数据盘；</a:t>
            </a:r>
            <a:endParaRPr kumimoji="1" lang="en-US" altLang="zh-CN" dirty="0"/>
          </a:p>
          <a:p>
            <a:pPr marL="914400" lvl="2" indent="0" algn="just">
              <a:buNone/>
            </a:pPr>
            <a:r>
              <a:rPr kumimoji="1" lang="en-US" altLang="zh-CN" dirty="0"/>
              <a:t>(4)RAID 5</a:t>
            </a:r>
            <a:r>
              <a:rPr kumimoji="1" lang="zh-CN" altLang="en-US" dirty="0"/>
              <a:t>级：校验数据分布在阵列中的所有磁盘上，没有采用专门的校验磁盘；</a:t>
            </a:r>
            <a:endParaRPr kumimoji="1" lang="en-US" altLang="zh-CN" dirty="0"/>
          </a:p>
          <a:p>
            <a:pPr marL="914400" lvl="2" indent="0" algn="just">
              <a:buNone/>
            </a:pPr>
            <a:r>
              <a:rPr kumimoji="1" lang="en-US" altLang="zh-CN" dirty="0"/>
              <a:t>(5)RAID 6</a:t>
            </a:r>
            <a:r>
              <a:rPr kumimoji="1" lang="zh-CN" altLang="en-US" dirty="0"/>
              <a:t>级：采用两个独立的校验算法，校验数据可分别存储在两个不同校验盘上；</a:t>
            </a:r>
            <a:endParaRPr kumimoji="1" lang="en-US" altLang="zh-CN" dirty="0"/>
          </a:p>
          <a:p>
            <a:pPr marL="914400" lvl="2" indent="0" algn="just">
              <a:buNone/>
            </a:pPr>
            <a:r>
              <a:rPr kumimoji="1" lang="en-US" altLang="zh-CN" dirty="0"/>
              <a:t>……</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330058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4BF3AE5-5796-466E-B850-252DE7EE71E2}"/>
              </a:ext>
            </a:extLst>
          </p:cNvPr>
          <p:cNvSpPr>
            <a:spLocks noGrp="1"/>
          </p:cNvSpPr>
          <p:nvPr>
            <p:ph type="sldNum" sz="quarter" idx="12"/>
          </p:nvPr>
        </p:nvSpPr>
        <p:spPr/>
        <p:txBody>
          <a:bodyPr/>
          <a:lstStyle/>
          <a:p>
            <a:fld id="{8D4D1E41-7A09-AB4A-A4E1-09765ADA2698}" type="slidenum">
              <a:rPr kumimoji="1" lang="zh-CN" altLang="en-US" smtClean="0"/>
              <a:pPr/>
              <a:t>27</a:t>
            </a:fld>
            <a:endParaRPr kumimoji="1" lang="zh-CN" altLang="en-US" dirty="0"/>
          </a:p>
        </p:txBody>
      </p:sp>
      <p:pic>
        <p:nvPicPr>
          <p:cNvPr id="6" name="图片 5">
            <a:extLst>
              <a:ext uri="{FF2B5EF4-FFF2-40B4-BE49-F238E27FC236}">
                <a16:creationId xmlns:a16="http://schemas.microsoft.com/office/drawing/2014/main" id="{819036C4-A99C-4404-B457-2DB1988B69E7}"/>
              </a:ext>
            </a:extLst>
          </p:cNvPr>
          <p:cNvPicPr>
            <a:picLocks noChangeAspect="1"/>
          </p:cNvPicPr>
          <p:nvPr/>
        </p:nvPicPr>
        <p:blipFill>
          <a:blip r:embed="rId2"/>
          <a:stretch>
            <a:fillRect/>
          </a:stretch>
        </p:blipFill>
        <p:spPr>
          <a:xfrm>
            <a:off x="5977262" y="3408225"/>
            <a:ext cx="4448283" cy="2609659"/>
          </a:xfrm>
          <a:prstGeom prst="rect">
            <a:avLst/>
          </a:prstGeom>
        </p:spPr>
      </p:pic>
      <p:pic>
        <p:nvPicPr>
          <p:cNvPr id="1026" name="Picture 2">
            <a:extLst>
              <a:ext uri="{FF2B5EF4-FFF2-40B4-BE49-F238E27FC236}">
                <a16:creationId xmlns:a16="http://schemas.microsoft.com/office/drawing/2014/main" id="{25896F00-2857-4C71-9DF0-A2BE7DE92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7791" y="405246"/>
            <a:ext cx="1694584" cy="26096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8A2A6BB-BB89-474F-A545-BAB1C281D0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8482" y="450707"/>
            <a:ext cx="1694584" cy="26096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2BFE536-E3AF-4F21-A572-0A510B95D4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8979" y="450706"/>
            <a:ext cx="3526566" cy="2609659"/>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4ABC86F1-5480-48E0-9019-A06AF7BCA320}"/>
              </a:ext>
            </a:extLst>
          </p:cNvPr>
          <p:cNvPicPr>
            <a:picLocks noChangeAspect="1"/>
          </p:cNvPicPr>
          <p:nvPr/>
        </p:nvPicPr>
        <p:blipFill>
          <a:blip r:embed="rId6"/>
          <a:stretch>
            <a:fillRect/>
          </a:stretch>
        </p:blipFill>
        <p:spPr>
          <a:xfrm>
            <a:off x="1999092" y="3408225"/>
            <a:ext cx="3526566" cy="2609659"/>
          </a:xfrm>
          <a:prstGeom prst="rect">
            <a:avLst/>
          </a:prstGeom>
        </p:spPr>
      </p:pic>
      <p:sp>
        <p:nvSpPr>
          <p:cNvPr id="12" name="文本框 11">
            <a:extLst>
              <a:ext uri="{FF2B5EF4-FFF2-40B4-BE49-F238E27FC236}">
                <a16:creationId xmlns:a16="http://schemas.microsoft.com/office/drawing/2014/main" id="{F418A05C-2DF4-49D8-9D2A-EF28AAE6F9AF}"/>
              </a:ext>
            </a:extLst>
          </p:cNvPr>
          <p:cNvSpPr txBox="1"/>
          <p:nvPr/>
        </p:nvSpPr>
        <p:spPr>
          <a:xfrm>
            <a:off x="394855" y="6411204"/>
            <a:ext cx="6094268"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https://blog.csdn.net/ensp1/article/details/81318135</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026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a:t>
            </a:r>
            <a:r>
              <a:rPr kumimoji="1" lang="en-US" altLang="zh-CN" dirty="0"/>
              <a:t>I/O</a:t>
            </a:r>
            <a:r>
              <a:rPr kumimoji="1" lang="zh-CN" altLang="en-US" dirty="0"/>
              <a:t>速度的途径</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廉价磁盘冗余阵列</a:t>
            </a:r>
            <a:r>
              <a:rPr kumimoji="1" lang="en-US" altLang="zh-CN" dirty="0"/>
              <a:t>(RAID)</a:t>
            </a:r>
          </a:p>
          <a:p>
            <a:pPr lvl="1" algn="just">
              <a:buFont typeface="Wingdings" panose="05000000000000000000" pitchFamily="2" charset="2"/>
              <a:buChar char="ü"/>
            </a:pPr>
            <a:r>
              <a:rPr kumimoji="1" lang="en-US" altLang="zh-CN" dirty="0"/>
              <a:t>RAID</a:t>
            </a:r>
            <a:r>
              <a:rPr kumimoji="1" lang="zh-CN" altLang="en-US" dirty="0"/>
              <a:t>的优点</a:t>
            </a:r>
            <a:endParaRPr kumimoji="1" lang="en-US" altLang="zh-CN" dirty="0"/>
          </a:p>
          <a:p>
            <a:pPr marL="914400" lvl="2" indent="0" algn="just">
              <a:buNone/>
            </a:pPr>
            <a:r>
              <a:rPr kumimoji="1" lang="en-US" altLang="zh-CN" dirty="0"/>
              <a:t>(1)</a:t>
            </a:r>
            <a:r>
              <a:rPr kumimoji="1" lang="zh-CN" altLang="en-US" b="1" dirty="0">
                <a:solidFill>
                  <a:srgbClr val="FF0000"/>
                </a:solidFill>
              </a:rPr>
              <a:t>可靠性高</a:t>
            </a:r>
            <a:r>
              <a:rPr kumimoji="1" lang="zh-CN" altLang="en-US" dirty="0"/>
              <a:t>，除</a:t>
            </a:r>
            <a:r>
              <a:rPr kumimoji="1" lang="en-US" altLang="zh-CN" dirty="0"/>
              <a:t>RAID 0</a:t>
            </a:r>
            <a:r>
              <a:rPr kumimoji="1" lang="zh-CN" altLang="en-US" dirty="0"/>
              <a:t>外，其余各级都采用了容错技术。当阵列中某一磁盘损坏时，并不会造成数据丢失。此时可根据其它未损坏磁盘中的信息来恢复已损坏盘中的信息。其可靠性比单台磁盘机高出一个数量级。</a:t>
            </a:r>
            <a:endParaRPr kumimoji="1" lang="en-US" altLang="zh-CN" dirty="0"/>
          </a:p>
          <a:p>
            <a:pPr marL="914400" lvl="2" indent="0" algn="just">
              <a:buNone/>
            </a:pPr>
            <a:r>
              <a:rPr kumimoji="1" lang="en-US" altLang="zh-CN" dirty="0"/>
              <a:t>(2)</a:t>
            </a:r>
            <a:r>
              <a:rPr kumimoji="1" lang="zh-CN" altLang="en-US" b="1" dirty="0">
                <a:solidFill>
                  <a:srgbClr val="FF0000"/>
                </a:solidFill>
              </a:rPr>
              <a:t>磁盘</a:t>
            </a:r>
            <a:r>
              <a:rPr kumimoji="1" lang="en-US" altLang="zh-CN" b="1" dirty="0">
                <a:solidFill>
                  <a:srgbClr val="FF0000"/>
                </a:solidFill>
              </a:rPr>
              <a:t>I/O</a:t>
            </a:r>
            <a:r>
              <a:rPr kumimoji="1" lang="zh-CN" altLang="en-US" b="1" dirty="0">
                <a:solidFill>
                  <a:srgbClr val="FF0000"/>
                </a:solidFill>
              </a:rPr>
              <a:t>速度高</a:t>
            </a:r>
            <a:r>
              <a:rPr kumimoji="1" lang="zh-CN" altLang="en-US" dirty="0"/>
              <a:t>，由于采取了并行交叉存取方式，可使磁盘</a:t>
            </a:r>
            <a:r>
              <a:rPr kumimoji="1" lang="en-US" altLang="zh-CN" dirty="0"/>
              <a:t>I/O</a:t>
            </a:r>
            <a:r>
              <a:rPr kumimoji="1" lang="zh-CN" altLang="en-US" dirty="0"/>
              <a:t>速度提高</a:t>
            </a:r>
            <a:r>
              <a:rPr kumimoji="1" lang="en-US" altLang="zh-CN" i="1" dirty="0"/>
              <a:t>N</a:t>
            </a:r>
            <a:r>
              <a:rPr kumimoji="1" lang="en-US" altLang="zh-CN" dirty="0"/>
              <a:t>-1</a:t>
            </a:r>
            <a:r>
              <a:rPr kumimoji="1" lang="zh-CN" altLang="en-US" dirty="0"/>
              <a:t>倍。</a:t>
            </a:r>
            <a:endParaRPr kumimoji="1" lang="en-US" altLang="zh-CN" dirty="0"/>
          </a:p>
          <a:p>
            <a:pPr marL="914400" lvl="2" indent="0" algn="just">
              <a:buNone/>
            </a:pPr>
            <a:r>
              <a:rPr kumimoji="1" lang="en-US" altLang="zh-CN" dirty="0"/>
              <a:t>(3)</a:t>
            </a:r>
            <a:r>
              <a:rPr kumimoji="1" lang="zh-CN" altLang="en-US" b="1" dirty="0">
                <a:solidFill>
                  <a:srgbClr val="FF0000"/>
                </a:solidFill>
              </a:rPr>
              <a:t>性能</a:t>
            </a:r>
            <a:r>
              <a:rPr kumimoji="1" lang="en-US" altLang="zh-CN" b="1" dirty="0">
                <a:solidFill>
                  <a:srgbClr val="FF0000"/>
                </a:solidFill>
              </a:rPr>
              <a:t>/</a:t>
            </a:r>
            <a:r>
              <a:rPr kumimoji="1" lang="zh-CN" altLang="en-US" b="1" dirty="0">
                <a:solidFill>
                  <a:srgbClr val="FF0000"/>
                </a:solidFill>
              </a:rPr>
              <a:t>价格比高</a:t>
            </a:r>
            <a:r>
              <a:rPr kumimoji="1" lang="zh-CN" altLang="en-US" dirty="0"/>
              <a:t>，</a:t>
            </a:r>
            <a:r>
              <a:rPr kumimoji="1" lang="en-US" altLang="zh-CN" dirty="0"/>
              <a:t>RAID</a:t>
            </a:r>
            <a:r>
              <a:rPr kumimoji="1" lang="zh-CN" altLang="en-US" dirty="0"/>
              <a:t>的体积与具有相同容量和速度的大型磁盘系统相比，只是后者的</a:t>
            </a:r>
            <a:r>
              <a:rPr kumimoji="1" lang="en-US" altLang="zh-CN" dirty="0"/>
              <a:t>1/3</a:t>
            </a:r>
            <a:r>
              <a:rPr kumimoji="1" lang="zh-CN" altLang="en-US" dirty="0"/>
              <a:t>，价格也只是后者的</a:t>
            </a:r>
            <a:r>
              <a:rPr kumimoji="1" lang="en-US" altLang="zh-CN" dirty="0"/>
              <a:t>1/3</a:t>
            </a:r>
            <a:r>
              <a:rPr kumimoji="1" lang="zh-CN" altLang="en-US" dirty="0"/>
              <a:t>，且可靠性高。换言之，它仅以牺牲</a:t>
            </a:r>
            <a:r>
              <a:rPr kumimoji="1" lang="en-US" altLang="zh-CN" dirty="0"/>
              <a:t>1/N</a:t>
            </a:r>
            <a:r>
              <a:rPr kumimoji="1" lang="zh-CN" altLang="en-US" dirty="0"/>
              <a:t>的容量为代价，换取了高可靠性。</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00542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第一级容错技术</a:t>
            </a:r>
            <a:r>
              <a:rPr kumimoji="1" lang="en-US" altLang="zh-CN" dirty="0"/>
              <a:t>SFT-Ⅰ</a:t>
            </a:r>
          </a:p>
          <a:p>
            <a:pPr marL="457200" lvl="1" indent="0" algn="just">
              <a:buNone/>
            </a:pPr>
            <a:r>
              <a:rPr kumimoji="1" lang="zh-CN" altLang="en-US" sz="2000" dirty="0"/>
              <a:t>第一级容错技术</a:t>
            </a:r>
            <a:r>
              <a:rPr kumimoji="1" lang="en-US" altLang="zh-CN" sz="2000" dirty="0"/>
              <a:t>(SFT-Ⅰ)</a:t>
            </a:r>
            <a:r>
              <a:rPr kumimoji="1" lang="zh-CN" altLang="en-US" sz="2000" dirty="0"/>
              <a:t>是最基本的一种磁盘容错技术，主要用于防止因磁盘表面缺陷所造成的数据丢失。它包含双份目录、双份文件分配表及写后读校验等措施。</a:t>
            </a:r>
            <a:endParaRPr kumimoji="1" lang="en-US" altLang="zh-CN" sz="2000" dirty="0"/>
          </a:p>
          <a:p>
            <a:pPr lvl="1" algn="just">
              <a:buFont typeface="Wingdings" panose="05000000000000000000" pitchFamily="2" charset="2"/>
              <a:buChar char="ü"/>
            </a:pPr>
            <a:r>
              <a:rPr kumimoji="1" lang="zh-CN" altLang="en-US" dirty="0"/>
              <a:t>双份目录和双份文件分配表</a:t>
            </a:r>
            <a:endParaRPr kumimoji="1" lang="en-US" altLang="zh-CN" dirty="0"/>
          </a:p>
          <a:p>
            <a:pPr marL="914400" lvl="2" indent="0" algn="just">
              <a:buNone/>
            </a:pPr>
            <a:r>
              <a:rPr kumimoji="1" lang="zh-CN" altLang="en-US" dirty="0"/>
              <a:t>在磁盘上存放的文件目录和文件分配表</a:t>
            </a:r>
            <a:r>
              <a:rPr kumimoji="1" lang="en-US" altLang="zh-CN" dirty="0"/>
              <a:t>FAT</a:t>
            </a:r>
            <a:r>
              <a:rPr kumimoji="1" lang="zh-CN" altLang="en-US" dirty="0"/>
              <a:t>，是文件管理所用的重要数据结构。为了防止这些表格被破坏，可在不同的磁盘上或在磁盘的不同区域中分别建立</a:t>
            </a:r>
            <a:r>
              <a:rPr kumimoji="1" lang="en-US" altLang="zh-CN" dirty="0"/>
              <a:t>(</a:t>
            </a:r>
            <a:r>
              <a:rPr kumimoji="1" lang="zh-CN" altLang="en-US" dirty="0"/>
              <a:t>双份</a:t>
            </a:r>
            <a:r>
              <a:rPr kumimoji="1" lang="en-US" altLang="zh-CN" dirty="0"/>
              <a:t>)</a:t>
            </a:r>
            <a:r>
              <a:rPr kumimoji="1" lang="zh-CN" altLang="en-US" dirty="0"/>
              <a:t>目录表和</a:t>
            </a:r>
            <a:r>
              <a:rPr kumimoji="1" lang="en-US" altLang="zh-CN" dirty="0"/>
              <a:t>FAT</a:t>
            </a:r>
            <a:r>
              <a:rPr kumimoji="1" lang="zh-CN" altLang="en-US" dirty="0"/>
              <a:t>。其中一份为主目录及主</a:t>
            </a:r>
            <a:r>
              <a:rPr kumimoji="1" lang="en-US" altLang="zh-CN" dirty="0"/>
              <a:t>FAT</a:t>
            </a:r>
            <a:r>
              <a:rPr kumimoji="1" lang="zh-CN" altLang="en-US" dirty="0"/>
              <a:t>，另一份为备份目录及备份</a:t>
            </a:r>
            <a:r>
              <a:rPr kumimoji="1" lang="en-US" altLang="zh-CN" dirty="0"/>
              <a:t>FAT</a:t>
            </a:r>
            <a:r>
              <a:rPr kumimoji="1" lang="zh-CN" altLang="en-US" dirty="0"/>
              <a:t>。一旦由于磁盘表面缺陷而造成主文件目录或主</a:t>
            </a:r>
            <a:r>
              <a:rPr kumimoji="1" lang="en-US" altLang="zh-CN" dirty="0"/>
              <a:t>FAT</a:t>
            </a:r>
            <a:r>
              <a:rPr kumimoji="1" lang="zh-CN" altLang="en-US" dirty="0"/>
              <a:t>的损坏时，系统便自动启用备份文件目录及备份</a:t>
            </a:r>
            <a:r>
              <a:rPr kumimoji="1" lang="en-US" altLang="zh-CN" dirty="0"/>
              <a:t>FAT</a:t>
            </a:r>
            <a:r>
              <a:rPr kumimoji="1" lang="zh-CN" altLang="en-US" dirty="0"/>
              <a:t>，从而可以保证磁盘上的数据仍可访问。</a:t>
            </a:r>
            <a:endParaRPr kumimoji="1" lang="en-US" altLang="zh-CN" dirty="0"/>
          </a:p>
          <a:p>
            <a:pPr lvl="1" algn="just">
              <a:buFont typeface="Wingdings" panose="05000000000000000000" pitchFamily="2" charset="2"/>
              <a:buChar char="ü"/>
            </a:pPr>
            <a:r>
              <a:rPr kumimoji="1" lang="zh-CN" altLang="en-US" dirty="0"/>
              <a:t>热修复重定向和写后读校验</a:t>
            </a:r>
            <a:endParaRPr kumimoji="1" lang="en-US" altLang="zh-CN" dirty="0"/>
          </a:p>
          <a:p>
            <a:pPr marL="914400" lvl="2" indent="0" algn="just">
              <a:buNone/>
            </a:pPr>
            <a:r>
              <a:rPr kumimoji="1" lang="zh-CN" altLang="en-US" dirty="0"/>
              <a:t>在磁盘表面有少量缺陷的情况下，则可采取某种补救措施后继续使用。一般主要采取两个补救措施：</a:t>
            </a:r>
            <a:r>
              <a:rPr kumimoji="1" lang="en-US" altLang="zh-CN" dirty="0"/>
              <a:t>(1)</a:t>
            </a:r>
            <a:r>
              <a:rPr kumimoji="1" lang="zh-CN" altLang="en-US" dirty="0"/>
              <a:t>热修复重定向；</a:t>
            </a:r>
            <a:r>
              <a:rPr kumimoji="1" lang="en-US" altLang="zh-CN" dirty="0"/>
              <a:t>(2)</a:t>
            </a:r>
            <a:r>
              <a:rPr kumimoji="1" lang="zh-CN" altLang="en-US" dirty="0"/>
              <a:t>写后读校验方式。</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197110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第二级容错技术</a:t>
            </a:r>
            <a:r>
              <a:rPr kumimoji="1" lang="en-US" altLang="zh-CN" dirty="0"/>
              <a:t>SFT-Ⅱ</a:t>
            </a:r>
          </a:p>
          <a:p>
            <a:pPr lvl="1" algn="just">
              <a:buFont typeface="Wingdings" panose="05000000000000000000" pitchFamily="2" charset="2"/>
              <a:buChar char="ü"/>
            </a:pPr>
            <a:r>
              <a:rPr kumimoji="1" lang="zh-CN" altLang="en-US" dirty="0"/>
              <a:t>磁盘镜像</a:t>
            </a:r>
            <a:endParaRPr kumimoji="1" lang="en-US" altLang="zh-CN" dirty="0"/>
          </a:p>
          <a:p>
            <a:pPr marL="914400" lvl="2" indent="0" algn="just">
              <a:buNone/>
            </a:pPr>
            <a:r>
              <a:rPr kumimoji="1" lang="zh-CN" altLang="en-US" dirty="0"/>
              <a:t>为避免磁盘驱动器发生故障而丢失数据，增设了磁盘镜像功能。为实现该功能，须在同一磁盘控制器下，再增设一个完全相同的磁盘驱动器，如下图所示。</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5" name="Picture 4">
            <a:extLst>
              <a:ext uri="{FF2B5EF4-FFF2-40B4-BE49-F238E27FC236}">
                <a16:creationId xmlns:a16="http://schemas.microsoft.com/office/drawing/2014/main" id="{76E56D84-5CE9-4F43-8F9F-F15DA05E1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487" y="3703568"/>
            <a:ext cx="4804458" cy="2442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90D8F85F-B0CA-4702-8409-BCF090845430}"/>
              </a:ext>
            </a:extLst>
          </p:cNvPr>
          <p:cNvSpPr txBox="1"/>
          <p:nvPr/>
        </p:nvSpPr>
        <p:spPr>
          <a:xfrm>
            <a:off x="5631522" y="6321365"/>
            <a:ext cx="2040388" cy="400110"/>
          </a:xfrm>
          <a:prstGeom prst="rect">
            <a:avLst/>
          </a:prstGeom>
          <a:noFill/>
        </p:spPr>
        <p:txBody>
          <a:bodyPr wrap="square">
            <a:spAutoFit/>
          </a:bodyPr>
          <a:lstStyle/>
          <a:p>
            <a:r>
              <a:rPr lang="zh-CN" altLang="en-US" sz="2000" b="1" dirty="0">
                <a:solidFill>
                  <a:srgbClr val="7030A0"/>
                </a:solidFill>
              </a:rPr>
              <a:t>磁盘镜像示意图 </a:t>
            </a:r>
          </a:p>
        </p:txBody>
      </p:sp>
    </p:spTree>
    <p:extLst>
      <p:ext uri="{BB962C8B-B14F-4D97-AF65-F5344CB8AC3E}">
        <p14:creationId xmlns:p14="http://schemas.microsoft.com/office/powerpoint/2010/main" val="2619733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第二级容错技术</a:t>
            </a:r>
            <a:r>
              <a:rPr kumimoji="1" lang="en-US" altLang="zh-CN" dirty="0"/>
              <a:t>SFT-Ⅱ</a:t>
            </a:r>
          </a:p>
          <a:p>
            <a:pPr lvl="1" algn="just">
              <a:buFont typeface="Wingdings" panose="05000000000000000000" pitchFamily="2" charset="2"/>
              <a:buChar char="ü"/>
            </a:pPr>
            <a:r>
              <a:rPr kumimoji="1" lang="zh-CN" altLang="en-US" dirty="0"/>
              <a:t>磁盘双工</a:t>
            </a:r>
            <a:endParaRPr kumimoji="1" lang="en-US" altLang="zh-CN" dirty="0"/>
          </a:p>
          <a:p>
            <a:pPr marL="914400" lvl="2" indent="0" algn="just">
              <a:buNone/>
            </a:pPr>
            <a:r>
              <a:rPr kumimoji="1" lang="zh-CN" altLang="en-US" dirty="0"/>
              <a:t>如果控制这两台磁盘驱动器的磁盘控制器发生故障，或主机到磁盘控制器之间的通道发生故障，磁盘镜像功能便起不到数据保护的作用。因此，在第二级容错技术中，又增加了磁盘双工功能，即将两台磁盘驱动器分别接到两个磁盘控制器上，同样使这两台磁盘机镜像成对，如下图所示。</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90D8F85F-B0CA-4702-8409-BCF090845430}"/>
              </a:ext>
            </a:extLst>
          </p:cNvPr>
          <p:cNvSpPr txBox="1"/>
          <p:nvPr/>
        </p:nvSpPr>
        <p:spPr>
          <a:xfrm>
            <a:off x="5075805" y="6321365"/>
            <a:ext cx="2040388" cy="400110"/>
          </a:xfrm>
          <a:prstGeom prst="rect">
            <a:avLst/>
          </a:prstGeom>
          <a:noFill/>
        </p:spPr>
        <p:txBody>
          <a:bodyPr wrap="square">
            <a:spAutoFit/>
          </a:bodyPr>
          <a:lstStyle/>
          <a:p>
            <a:r>
              <a:rPr lang="zh-CN" altLang="en-US" sz="2000" b="1" dirty="0">
                <a:solidFill>
                  <a:srgbClr val="7030A0"/>
                </a:solidFill>
              </a:rPr>
              <a:t>磁盘双工示意图 </a:t>
            </a:r>
          </a:p>
        </p:txBody>
      </p:sp>
      <p:pic>
        <p:nvPicPr>
          <p:cNvPr id="8" name="Picture 4">
            <a:extLst>
              <a:ext uri="{FF2B5EF4-FFF2-40B4-BE49-F238E27FC236}">
                <a16:creationId xmlns:a16="http://schemas.microsoft.com/office/drawing/2014/main" id="{03552F24-C7BC-4B24-A570-9C3EEF05E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1906" y="3963807"/>
            <a:ext cx="4548187" cy="222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17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基于集群技术的容错功能</a:t>
            </a:r>
            <a:endParaRPr kumimoji="1" lang="en-US" altLang="zh-CN" dirty="0"/>
          </a:p>
          <a:p>
            <a:pPr lvl="1" algn="just">
              <a:buFont typeface="Wingdings" panose="05000000000000000000" pitchFamily="2" charset="2"/>
              <a:buChar char="ü"/>
            </a:pPr>
            <a:r>
              <a:rPr kumimoji="1" lang="zh-CN" altLang="en-US" dirty="0"/>
              <a:t>双机热备份模式</a:t>
            </a:r>
            <a:endParaRPr kumimoji="1" lang="en-US" altLang="zh-CN" dirty="0"/>
          </a:p>
          <a:p>
            <a:pPr marL="914400" lvl="2" indent="0" algn="just">
              <a:buNone/>
            </a:pPr>
            <a:r>
              <a:rPr kumimoji="1" lang="zh-CN" altLang="en-US" dirty="0"/>
              <a:t>在这种模式的系统中，备有两台服务器，两者的处理能力通常是完全相同的，一台作为主服务器，另一台作为备份服务器。</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90D8F85F-B0CA-4702-8409-BCF090845430}"/>
              </a:ext>
            </a:extLst>
          </p:cNvPr>
          <p:cNvSpPr txBox="1"/>
          <p:nvPr/>
        </p:nvSpPr>
        <p:spPr>
          <a:xfrm>
            <a:off x="4871957" y="5557827"/>
            <a:ext cx="2040388" cy="400110"/>
          </a:xfrm>
          <a:prstGeom prst="rect">
            <a:avLst/>
          </a:prstGeom>
          <a:noFill/>
        </p:spPr>
        <p:txBody>
          <a:bodyPr wrap="square">
            <a:spAutoFit/>
          </a:bodyPr>
          <a:lstStyle/>
          <a:p>
            <a:r>
              <a:rPr lang="zh-CN" altLang="en-US" sz="2000" b="1" dirty="0">
                <a:solidFill>
                  <a:srgbClr val="7030A0"/>
                </a:solidFill>
              </a:rPr>
              <a:t>双机热备份模式</a:t>
            </a:r>
          </a:p>
        </p:txBody>
      </p:sp>
      <p:pic>
        <p:nvPicPr>
          <p:cNvPr id="9" name="Picture 4">
            <a:extLst>
              <a:ext uri="{FF2B5EF4-FFF2-40B4-BE49-F238E27FC236}">
                <a16:creationId xmlns:a16="http://schemas.microsoft.com/office/drawing/2014/main" id="{56C7CDD5-6BA3-4C9A-9916-4DA8E339E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983" y="3694153"/>
            <a:ext cx="7272337"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423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5238477" cy="5403274"/>
          </a:xfrm>
        </p:spPr>
        <p:txBody>
          <a:bodyPr>
            <a:normAutofit/>
          </a:bodyPr>
          <a:lstStyle/>
          <a:p>
            <a:pPr>
              <a:lnSpc>
                <a:spcPct val="120000"/>
              </a:lnSpc>
            </a:pPr>
            <a:r>
              <a:rPr kumimoji="1" lang="zh-CN" altLang="en-US" dirty="0"/>
              <a:t>基于集群技术的容错功能</a:t>
            </a:r>
            <a:endParaRPr kumimoji="1" lang="en-US" altLang="zh-CN" dirty="0"/>
          </a:p>
          <a:p>
            <a:pPr lvl="1" algn="just">
              <a:buFont typeface="Wingdings" panose="05000000000000000000" pitchFamily="2" charset="2"/>
              <a:buChar char="ü"/>
            </a:pPr>
            <a:r>
              <a:rPr kumimoji="1" lang="zh-CN" altLang="en-US" dirty="0"/>
              <a:t>双机互为备份模式</a:t>
            </a:r>
            <a:endParaRPr kumimoji="1" lang="en-US" altLang="zh-CN" dirty="0"/>
          </a:p>
          <a:p>
            <a:pPr marL="914400" lvl="2" indent="0" algn="just">
              <a:buNone/>
            </a:pPr>
            <a:r>
              <a:rPr kumimoji="1" lang="zh-CN" altLang="en-US" dirty="0"/>
              <a:t>在双机互为备份模式中，平时，两台服务器均为在线服务器，它们各自完成自己的任务，例如，一台作为数据库服务器，另一台作为电子邮件服务器。为实现两者互为备份的功能，在两台服务器之间，应通过某种专线将其连接起来。如果希望两台服务器之间能相距较远，最好利用</a:t>
            </a:r>
            <a:r>
              <a:rPr kumimoji="1" lang="en-US" altLang="zh-CN" dirty="0"/>
              <a:t>FDDI</a:t>
            </a:r>
            <a:r>
              <a:rPr kumimoji="1" lang="zh-CN" altLang="en-US" dirty="0"/>
              <a:t>单模光纤来连接两台服务器。在此情况下，最好再通过路由器将两台服务器互连起来，作为备份通信线路。</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a:extLst>
              <a:ext uri="{FF2B5EF4-FFF2-40B4-BE49-F238E27FC236}">
                <a16:creationId xmlns:a16="http://schemas.microsoft.com/office/drawing/2014/main" id="{90D8F85F-B0CA-4702-8409-BCF090845430}"/>
              </a:ext>
            </a:extLst>
          </p:cNvPr>
          <p:cNvSpPr txBox="1"/>
          <p:nvPr/>
        </p:nvSpPr>
        <p:spPr>
          <a:xfrm>
            <a:off x="7274350" y="6037293"/>
            <a:ext cx="3559190" cy="400110"/>
          </a:xfrm>
          <a:prstGeom prst="rect">
            <a:avLst/>
          </a:prstGeom>
          <a:noFill/>
        </p:spPr>
        <p:txBody>
          <a:bodyPr wrap="square">
            <a:spAutoFit/>
          </a:bodyPr>
          <a:lstStyle/>
          <a:p>
            <a:r>
              <a:rPr lang="zh-CN" altLang="en-US" sz="2000" b="1" dirty="0">
                <a:solidFill>
                  <a:srgbClr val="7030A0"/>
                </a:solidFill>
              </a:rPr>
              <a:t>双机互为备份系统的示意图</a:t>
            </a:r>
          </a:p>
        </p:txBody>
      </p:sp>
      <p:pic>
        <p:nvPicPr>
          <p:cNvPr id="8" name="Picture 4">
            <a:extLst>
              <a:ext uri="{FF2B5EF4-FFF2-40B4-BE49-F238E27FC236}">
                <a16:creationId xmlns:a16="http://schemas.microsoft.com/office/drawing/2014/main" id="{4B62D11A-FC62-41CF-94A8-93328252B8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8916" y="2622046"/>
            <a:ext cx="6242050" cy="306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8872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基于集群技术的容错功能</a:t>
            </a:r>
            <a:endParaRPr kumimoji="1" lang="en-US" altLang="zh-CN" dirty="0"/>
          </a:p>
          <a:p>
            <a:pPr lvl="1" algn="just">
              <a:buFont typeface="Wingdings" panose="05000000000000000000" pitchFamily="2" charset="2"/>
              <a:buChar char="ü"/>
            </a:pPr>
            <a:r>
              <a:rPr kumimoji="1" lang="zh-CN" altLang="en-US" dirty="0"/>
              <a:t>公用磁盘模式</a:t>
            </a:r>
            <a:endParaRPr kumimoji="1" lang="en-US" altLang="zh-CN" dirty="0"/>
          </a:p>
          <a:p>
            <a:pPr marL="914400" lvl="2" indent="0" algn="just">
              <a:buNone/>
            </a:pPr>
            <a:r>
              <a:rPr kumimoji="1" lang="zh-CN" altLang="en-US" dirty="0"/>
              <a:t>为减少信息复制的开销，可以将多台计算机连接到一台公共的磁盘系统上去。该公共磁盘被划分为若干个卷。每台计算机使用一个卷。如果某台计算机发生故障，此时系统将重新进行配置，根据某种调度策略来选择另一台替代机器，后者对发生故障的机器的卷拥有所有权，从而可接替故障计算机所承担的任务。该模式的优点是消除了信息的复制时间，因而减少了网络和服务器的开销。</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017136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提高磁盘可靠性的技术</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454728"/>
            <a:ext cx="11035816" cy="5403274"/>
          </a:xfrm>
        </p:spPr>
        <p:txBody>
          <a:bodyPr>
            <a:normAutofit/>
          </a:bodyPr>
          <a:lstStyle/>
          <a:p>
            <a:pPr>
              <a:lnSpc>
                <a:spcPct val="120000"/>
              </a:lnSpc>
            </a:pPr>
            <a:r>
              <a:rPr kumimoji="1" lang="zh-CN" altLang="en-US" dirty="0"/>
              <a:t>后备系统</a:t>
            </a:r>
            <a:endParaRPr kumimoji="1" lang="en-US" altLang="zh-CN" dirty="0"/>
          </a:p>
          <a:p>
            <a:pPr lvl="1" algn="just">
              <a:buFont typeface="Wingdings" panose="05000000000000000000" pitchFamily="2" charset="2"/>
              <a:buChar char="ü"/>
            </a:pPr>
            <a:r>
              <a:rPr kumimoji="1" lang="zh-CN" altLang="en-US" dirty="0"/>
              <a:t>磁带机</a:t>
            </a:r>
            <a:endParaRPr kumimoji="1" lang="en-US" altLang="zh-CN" dirty="0"/>
          </a:p>
          <a:p>
            <a:pPr marL="914400" lvl="2" indent="0" algn="just">
              <a:buNone/>
            </a:pPr>
            <a:r>
              <a:rPr kumimoji="1" lang="zh-CN" altLang="en-US" dirty="0"/>
              <a:t>它是最早作为计算机系统的外存储器。但由于它只适合存储顺序文件，故现在主要把它作为后备设备。磁盘机的主要优点是容量大，一般可达数</a:t>
            </a:r>
            <a:r>
              <a:rPr kumimoji="1" lang="en-US" altLang="zh-CN" dirty="0"/>
              <a:t>GB</a:t>
            </a:r>
            <a:r>
              <a:rPr kumimoji="1" lang="zh-CN" altLang="en-US" dirty="0"/>
              <a:t>至数十</a:t>
            </a:r>
            <a:r>
              <a:rPr kumimoji="1" lang="en-US" altLang="zh-CN" dirty="0"/>
              <a:t>GB</a:t>
            </a:r>
            <a:r>
              <a:rPr kumimoji="1" lang="zh-CN" altLang="en-US" dirty="0"/>
              <a:t>，且价格便宜，故在许多大、中型系统中都配置了磁带机。其缺点是只能顺序存取且速度也较慢，为数百</a:t>
            </a:r>
            <a:r>
              <a:rPr kumimoji="1" lang="en-US" altLang="zh-CN" dirty="0"/>
              <a:t>KB</a:t>
            </a:r>
            <a:r>
              <a:rPr kumimoji="1" lang="zh-CN" altLang="en-US" dirty="0"/>
              <a:t>到数</a:t>
            </a:r>
            <a:r>
              <a:rPr kumimoji="1" lang="en-US" altLang="zh-CN" dirty="0"/>
              <a:t>MB</a:t>
            </a:r>
            <a:r>
              <a:rPr kumimoji="1" lang="zh-CN" altLang="en-US" dirty="0"/>
              <a:t>，为了将一个大容量磁盘上的数据拷贝到磁带上，需要花费很多时间。</a:t>
            </a:r>
            <a:endParaRPr kumimoji="1" lang="en-US" altLang="zh-CN" dirty="0"/>
          </a:p>
          <a:p>
            <a:pPr lvl="1" algn="just">
              <a:buFont typeface="Wingdings" panose="05000000000000000000" pitchFamily="2" charset="2"/>
              <a:buChar char="ü"/>
            </a:pPr>
            <a:r>
              <a:rPr kumimoji="1" lang="zh-CN" altLang="en-US" dirty="0"/>
              <a:t>硬盘</a:t>
            </a:r>
            <a:endParaRPr kumimoji="1" lang="en-US" altLang="zh-CN" dirty="0"/>
          </a:p>
          <a:p>
            <a:pPr marL="914400" lvl="2" indent="0" algn="just">
              <a:buNone/>
            </a:pPr>
            <a:r>
              <a:rPr kumimoji="1" lang="zh-CN" altLang="en-US" dirty="0"/>
              <a:t>移动磁盘、固定硬盘驱动器。</a:t>
            </a:r>
            <a:endParaRPr kumimoji="1" lang="en-US" altLang="zh-CN" dirty="0"/>
          </a:p>
          <a:p>
            <a:pPr lvl="1" algn="just">
              <a:buFont typeface="Wingdings" panose="05000000000000000000" pitchFamily="2" charset="2"/>
              <a:buChar char="ü"/>
            </a:pPr>
            <a:r>
              <a:rPr kumimoji="1" lang="zh-CN" altLang="en-US" dirty="0"/>
              <a:t>光盘驱动器</a:t>
            </a:r>
            <a:endParaRPr kumimoji="1" lang="en-US" altLang="zh-CN" dirty="0"/>
          </a:p>
          <a:p>
            <a:pPr marL="914400" lvl="2" indent="0" algn="just">
              <a:buNone/>
            </a:pPr>
            <a:r>
              <a:rPr kumimoji="1" lang="zh-CN" altLang="en-US" dirty="0"/>
              <a:t>只读光盘驱动器</a:t>
            </a:r>
            <a:r>
              <a:rPr kumimoji="1" lang="en-US" altLang="zh-CN" dirty="0"/>
              <a:t>CD-ROM</a:t>
            </a:r>
            <a:r>
              <a:rPr kumimoji="1" lang="zh-CN" altLang="en-US" dirty="0"/>
              <a:t>和</a:t>
            </a:r>
            <a:r>
              <a:rPr kumimoji="1" lang="en-US" altLang="zh-CN" dirty="0"/>
              <a:t>DVD-ROM</a:t>
            </a:r>
            <a:r>
              <a:rPr kumimoji="1" lang="zh-CN" altLang="en-US" dirty="0"/>
              <a:t>、可读写光盘驱动器。</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8" name="Picture 4">
            <a:extLst>
              <a:ext uri="{FF2B5EF4-FFF2-40B4-BE49-F238E27FC236}">
                <a16:creationId xmlns:a16="http://schemas.microsoft.com/office/drawing/2014/main" id="{EEF85976-C6D3-43C2-81E9-91B3F6211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8520" y="4156365"/>
            <a:ext cx="2877735" cy="2161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97DD76F5-B8AE-40F9-B600-DBC2524D4618}"/>
              </a:ext>
            </a:extLst>
          </p:cNvPr>
          <p:cNvSpPr txBox="1"/>
          <p:nvPr/>
        </p:nvSpPr>
        <p:spPr>
          <a:xfrm>
            <a:off x="8364758" y="6382702"/>
            <a:ext cx="3585258" cy="400110"/>
          </a:xfrm>
          <a:prstGeom prst="rect">
            <a:avLst/>
          </a:prstGeom>
          <a:noFill/>
        </p:spPr>
        <p:txBody>
          <a:bodyPr wrap="square">
            <a:spAutoFit/>
          </a:bodyPr>
          <a:lstStyle/>
          <a:p>
            <a:r>
              <a:rPr lang="zh-CN" altLang="en-US" sz="2000" b="1" dirty="0">
                <a:solidFill>
                  <a:srgbClr val="7030A0"/>
                </a:solidFill>
                <a:latin typeface="Times New Roman" panose="02020603050405020304" pitchFamily="18" charset="0"/>
                <a:cs typeface="Times New Roman" panose="02020603050405020304" pitchFamily="18" charset="0"/>
              </a:rPr>
              <a:t>利用大容量硬盘兼做后备系统</a:t>
            </a:r>
          </a:p>
        </p:txBody>
      </p:sp>
    </p:spTree>
    <p:extLst>
      <p:ext uri="{BB962C8B-B14F-4D97-AF65-F5344CB8AC3E}">
        <p14:creationId xmlns:p14="http://schemas.microsoft.com/office/powerpoint/2010/main" val="2672780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数据一致性控制</a:t>
            </a:r>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5B83EF2D-A02A-402D-8B6E-EF0007B137F5}"/>
              </a:ext>
            </a:extLst>
          </p:cNvPr>
          <p:cNvSpPr txBox="1"/>
          <p:nvPr/>
        </p:nvSpPr>
        <p:spPr>
          <a:xfrm>
            <a:off x="580663" y="1824335"/>
            <a:ext cx="11030673" cy="830997"/>
          </a:xfrm>
          <a:prstGeom prst="rect">
            <a:avLst/>
          </a:prstGeom>
          <a:noFill/>
        </p:spPr>
        <p:txBody>
          <a:bodyPr wrap="square">
            <a:spAutoFit/>
          </a:bodyPr>
          <a:lstStyle/>
          <a:p>
            <a:pPr algn="just"/>
            <a:r>
              <a:rPr lang="zh-CN" altLang="en-US" sz="2400" dirty="0">
                <a:solidFill>
                  <a:srgbClr val="7030A0"/>
                </a:solidFill>
              </a:rPr>
              <a:t>         在实际应用中，经常会在多个文件中都含有同一个数据。所谓</a:t>
            </a:r>
            <a:r>
              <a:rPr lang="zh-CN" altLang="en-US" sz="2400" b="1" dirty="0">
                <a:solidFill>
                  <a:srgbClr val="FF0000"/>
                </a:solidFill>
              </a:rPr>
              <a:t>数据一致性</a:t>
            </a:r>
            <a:r>
              <a:rPr lang="zh-CN" altLang="en-US" sz="2400" dirty="0">
                <a:solidFill>
                  <a:srgbClr val="7030A0"/>
                </a:solidFill>
              </a:rPr>
              <a:t>问题是指，保存在多个文件中的同一数据，在任何情况下都必需能保证相同</a:t>
            </a:r>
          </a:p>
        </p:txBody>
      </p:sp>
    </p:spTree>
    <p:extLst>
      <p:ext uri="{BB962C8B-B14F-4D97-AF65-F5344CB8AC3E}">
        <p14:creationId xmlns:p14="http://schemas.microsoft.com/office/powerpoint/2010/main" val="2524108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数据一致性控制</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244212"/>
            <a:ext cx="11316370" cy="5613790"/>
          </a:xfrm>
        </p:spPr>
        <p:txBody>
          <a:bodyPr>
            <a:normAutofit/>
          </a:bodyPr>
          <a:lstStyle/>
          <a:p>
            <a:pPr>
              <a:lnSpc>
                <a:spcPct val="120000"/>
              </a:lnSpc>
            </a:pPr>
            <a:r>
              <a:rPr kumimoji="1" lang="zh-CN" altLang="en-US" dirty="0"/>
              <a:t>事务</a:t>
            </a:r>
            <a:endParaRPr kumimoji="1" lang="en-US" altLang="zh-CN" dirty="0"/>
          </a:p>
          <a:p>
            <a:pPr lvl="1" algn="just">
              <a:buFont typeface="Wingdings" panose="05000000000000000000" pitchFamily="2" charset="2"/>
              <a:buChar char="ü"/>
            </a:pPr>
            <a:r>
              <a:rPr kumimoji="1" lang="zh-CN" altLang="en-US" dirty="0"/>
              <a:t>事务的定义</a:t>
            </a:r>
            <a:endParaRPr kumimoji="1" lang="en-US" altLang="zh-CN" dirty="0"/>
          </a:p>
          <a:p>
            <a:pPr marL="914400" lvl="2" indent="0" algn="just">
              <a:buNone/>
            </a:pPr>
            <a:r>
              <a:rPr kumimoji="1" lang="zh-CN" altLang="en-US" dirty="0"/>
              <a:t>事务是用于访问和修改各数据项的一个程序单位。事务也可被看做是一系列相关读和写操作。</a:t>
            </a:r>
            <a:endParaRPr kumimoji="1" lang="en-US" altLang="zh-CN" dirty="0"/>
          </a:p>
          <a:p>
            <a:pPr lvl="1" algn="just">
              <a:buFont typeface="Wingdings" panose="05000000000000000000" pitchFamily="2" charset="2"/>
              <a:buChar char="ü"/>
            </a:pPr>
            <a:r>
              <a:rPr kumimoji="1" lang="zh-CN" altLang="en-US" dirty="0"/>
              <a:t>事务记录</a:t>
            </a:r>
            <a:endParaRPr kumimoji="1" lang="en-US" altLang="zh-CN" dirty="0"/>
          </a:p>
          <a:p>
            <a:pPr marL="914400" lvl="2" indent="0" algn="just">
              <a:buNone/>
            </a:pPr>
            <a:r>
              <a:rPr kumimoji="1" lang="zh-CN" altLang="en-US" dirty="0"/>
              <a:t>为实现原子修改，通常须借助于称为事务记录的数据结构来实现。这些数据结构被放在一个非常可靠的存储器</a:t>
            </a:r>
            <a:r>
              <a:rPr kumimoji="1" lang="en-US" altLang="zh-CN" dirty="0"/>
              <a:t>(</a:t>
            </a:r>
            <a:r>
              <a:rPr kumimoji="1" lang="zh-CN" altLang="en-US" dirty="0"/>
              <a:t>又称稳定存储器</a:t>
            </a:r>
            <a:r>
              <a:rPr kumimoji="1" lang="en-US" altLang="zh-CN" dirty="0"/>
              <a:t>)</a:t>
            </a:r>
            <a:r>
              <a:rPr kumimoji="1" lang="zh-CN" altLang="en-US" dirty="0"/>
              <a:t>中，用来记录在事务运行时数据项修改的全部信息，故又称为运行记录</a:t>
            </a:r>
            <a:r>
              <a:rPr kumimoji="1" lang="en-US" altLang="zh-CN" dirty="0"/>
              <a:t>(Log)</a:t>
            </a:r>
            <a:r>
              <a:rPr kumimoji="1" lang="zh-CN" altLang="en-US" dirty="0"/>
              <a:t>。</a:t>
            </a:r>
            <a:endParaRPr kumimoji="1" lang="en-US" altLang="zh-CN" dirty="0"/>
          </a:p>
          <a:p>
            <a:pPr lvl="1" algn="just">
              <a:buFont typeface="Wingdings" panose="05000000000000000000" pitchFamily="2" charset="2"/>
              <a:buChar char="ü"/>
            </a:pPr>
            <a:r>
              <a:rPr kumimoji="1" lang="zh-CN" altLang="en-US" dirty="0"/>
              <a:t>恢复算法</a:t>
            </a:r>
            <a:endParaRPr kumimoji="1" lang="en-US" altLang="zh-CN" dirty="0"/>
          </a:p>
          <a:p>
            <a:pPr marL="914400" lvl="2" indent="0" algn="just">
              <a:buNone/>
            </a:pPr>
            <a:r>
              <a:rPr kumimoji="1" lang="zh-CN" altLang="en-US" dirty="0"/>
              <a:t>由于一组被事务</a:t>
            </a:r>
            <a:r>
              <a:rPr kumimoji="1" lang="en-US" altLang="zh-CN" dirty="0" err="1"/>
              <a:t>Ti</a:t>
            </a:r>
            <a:r>
              <a:rPr kumimoji="1" lang="zh-CN" altLang="en-US" dirty="0"/>
              <a:t>修改的数据以及它们被修改前后的值都能在事务记录表中找到，因此，利用事务记录表系统能处理任何故障而不致使故障造成非易失性存储器中信息的丢失。恢复算法可利用两个过程：</a:t>
            </a:r>
            <a:r>
              <a:rPr kumimoji="1" lang="en-US" altLang="zh-CN" dirty="0"/>
              <a:t>(1)</a:t>
            </a:r>
            <a:r>
              <a:rPr kumimoji="1" lang="en-US" altLang="zh-CN" dirty="0" err="1"/>
              <a:t>undo〈Ti</a:t>
            </a:r>
            <a:r>
              <a:rPr kumimoji="1" lang="en-US" altLang="zh-CN" dirty="0"/>
              <a:t>〉</a:t>
            </a:r>
            <a:r>
              <a:rPr kumimoji="1" lang="zh-CN" altLang="en-US" dirty="0"/>
              <a:t>。该过程把所有被事务</a:t>
            </a:r>
            <a:r>
              <a:rPr kumimoji="1" lang="en-US" altLang="zh-CN" dirty="0" err="1"/>
              <a:t>Ti</a:t>
            </a:r>
            <a:r>
              <a:rPr kumimoji="1" lang="zh-CN" altLang="en-US" dirty="0"/>
              <a:t>修改过的数据恢复为修改前的值；</a:t>
            </a:r>
            <a:r>
              <a:rPr kumimoji="1" lang="en-US" altLang="zh-CN" dirty="0"/>
              <a:t>(2)</a:t>
            </a:r>
            <a:r>
              <a:rPr kumimoji="1" lang="en-US" altLang="zh-CN" dirty="0" err="1"/>
              <a:t>redo〈Ti</a:t>
            </a:r>
            <a:r>
              <a:rPr kumimoji="1" lang="en-US" altLang="zh-CN" dirty="0"/>
              <a:t>〉</a:t>
            </a:r>
            <a:r>
              <a:rPr kumimoji="1" lang="zh-CN" altLang="en-US" dirty="0"/>
              <a:t>。该过程能把所有被事务</a:t>
            </a:r>
            <a:r>
              <a:rPr kumimoji="1" lang="en-US" altLang="zh-CN" dirty="0" err="1"/>
              <a:t>Ti</a:t>
            </a:r>
            <a:r>
              <a:rPr kumimoji="1" lang="zh-CN" altLang="en-US" dirty="0"/>
              <a:t>修改过的数据设置为新值。</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310069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数据一致性控制</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244212"/>
            <a:ext cx="11316370" cy="5613790"/>
          </a:xfrm>
        </p:spPr>
        <p:txBody>
          <a:bodyPr>
            <a:normAutofit/>
          </a:bodyPr>
          <a:lstStyle/>
          <a:p>
            <a:pPr>
              <a:lnSpc>
                <a:spcPct val="120000"/>
              </a:lnSpc>
            </a:pPr>
            <a:r>
              <a:rPr kumimoji="1" lang="zh-CN" altLang="en-US" dirty="0"/>
              <a:t>检查点</a:t>
            </a:r>
            <a:endParaRPr kumimoji="1" lang="en-US" altLang="zh-CN" dirty="0"/>
          </a:p>
          <a:p>
            <a:pPr lvl="1" algn="just">
              <a:buFont typeface="Wingdings" panose="05000000000000000000" pitchFamily="2" charset="2"/>
              <a:buChar char="ü"/>
            </a:pPr>
            <a:r>
              <a:rPr kumimoji="1" lang="zh-CN" altLang="en-US" dirty="0"/>
              <a:t>检查点的作用</a:t>
            </a:r>
            <a:endParaRPr kumimoji="1" lang="en-US" altLang="zh-CN" dirty="0"/>
          </a:p>
          <a:p>
            <a:pPr marL="914400" lvl="2" indent="0" algn="just">
              <a:buNone/>
            </a:pPr>
            <a:r>
              <a:rPr kumimoji="1" lang="zh-CN" altLang="en-US" dirty="0"/>
              <a:t>当系统发生故障时，必须去检查整个</a:t>
            </a:r>
            <a:r>
              <a:rPr kumimoji="1" lang="en-US" altLang="zh-CN" dirty="0"/>
              <a:t>Log</a:t>
            </a:r>
            <a:r>
              <a:rPr kumimoji="1" lang="zh-CN" altLang="en-US" dirty="0"/>
              <a:t>表，以确定哪些事务需要利用</a:t>
            </a:r>
            <a:r>
              <a:rPr kumimoji="1" lang="en-US" altLang="zh-CN" dirty="0" err="1"/>
              <a:t>redo〈Ti</a:t>
            </a:r>
            <a:r>
              <a:rPr kumimoji="1" lang="en-US" altLang="zh-CN" dirty="0"/>
              <a:t>〉</a:t>
            </a:r>
            <a:r>
              <a:rPr kumimoji="1" lang="zh-CN" altLang="en-US" dirty="0"/>
              <a:t>过程去设置新值，而哪些事务又需要利用</a:t>
            </a:r>
            <a:r>
              <a:rPr kumimoji="1" lang="en-US" altLang="zh-CN" dirty="0" err="1"/>
              <a:t>undo〈Ti</a:t>
            </a:r>
            <a:r>
              <a:rPr kumimoji="1" lang="en-US" altLang="zh-CN" dirty="0"/>
              <a:t>〉</a:t>
            </a:r>
            <a:r>
              <a:rPr kumimoji="1" lang="zh-CN" altLang="en-US" dirty="0"/>
              <a:t>过程去恢复数据的旧值。由于在系统中可能存在着许多并发执行的事务，因而在事务记录表中就会有许多事务执行操作的记录。随着时间的推移，记录的数据也会愈来愈多。因此，一旦系统发生故障，在事务记录表中的记录清理起来就非常费时。</a:t>
            </a:r>
            <a:endParaRPr kumimoji="1" lang="en-US" altLang="zh-CN" dirty="0"/>
          </a:p>
          <a:p>
            <a:pPr lvl="1" algn="just">
              <a:buFont typeface="Wingdings" panose="05000000000000000000" pitchFamily="2" charset="2"/>
              <a:buChar char="ü"/>
            </a:pPr>
            <a:r>
              <a:rPr kumimoji="1" lang="zh-CN" altLang="en-US" dirty="0"/>
              <a:t>新的恢复算法</a:t>
            </a:r>
            <a:endParaRPr kumimoji="1" lang="en-US" altLang="zh-CN" dirty="0"/>
          </a:p>
          <a:p>
            <a:pPr marL="914400" lvl="2" indent="0" algn="just">
              <a:buNone/>
            </a:pPr>
            <a:r>
              <a:rPr kumimoji="1" lang="zh-CN" altLang="en-US" dirty="0"/>
              <a:t>在引入检查点后，可大大减少恢复处理的开销。因为在发生故障后，并不需要对事务记录表中的所有事务记录进行处理，而只需对最后一个检查点之后的事务记录进行处理。因此，恢复例程首先查找事务记录表，确定在最近检查点以前开始执行的最后的事务</a:t>
            </a:r>
            <a:r>
              <a:rPr kumimoji="1" lang="en-US" altLang="zh-CN" dirty="0" err="1"/>
              <a:t>Ti</a:t>
            </a:r>
            <a:r>
              <a:rPr kumimoji="1" lang="zh-CN" altLang="en-US" dirty="0"/>
              <a:t>。在找到这样的事务后，再返回去搜索事务记录表，便可找到第一个检查点记录，恢复例程便从该检查点开始返回搜索各个事务的记录，并利用</a:t>
            </a:r>
            <a:r>
              <a:rPr kumimoji="1" lang="en-US" altLang="zh-CN" dirty="0"/>
              <a:t>redo</a:t>
            </a:r>
            <a:r>
              <a:rPr kumimoji="1" lang="zh-CN" altLang="en-US" dirty="0"/>
              <a:t>和</a:t>
            </a:r>
            <a:r>
              <a:rPr kumimoji="1" lang="en-US" altLang="zh-CN" dirty="0"/>
              <a:t>undo</a:t>
            </a:r>
            <a:r>
              <a:rPr kumimoji="1" lang="zh-CN" altLang="en-US" dirty="0"/>
              <a:t>过程对它们进行处理。</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42637975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数据一致性控制</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244212"/>
            <a:ext cx="11316370" cy="5613790"/>
          </a:xfrm>
        </p:spPr>
        <p:txBody>
          <a:bodyPr>
            <a:normAutofit/>
          </a:bodyPr>
          <a:lstStyle/>
          <a:p>
            <a:pPr>
              <a:lnSpc>
                <a:spcPct val="120000"/>
              </a:lnSpc>
            </a:pPr>
            <a:r>
              <a:rPr kumimoji="1" lang="zh-CN" altLang="en-US" dirty="0"/>
              <a:t>并发控制</a:t>
            </a:r>
            <a:endParaRPr kumimoji="1" lang="en-US" altLang="zh-CN" dirty="0"/>
          </a:p>
          <a:p>
            <a:pPr lvl="1" algn="just">
              <a:buFont typeface="Wingdings" panose="05000000000000000000" pitchFamily="2" charset="2"/>
              <a:buChar char="ü"/>
            </a:pPr>
            <a:r>
              <a:rPr kumimoji="1" lang="zh-CN" altLang="en-US" dirty="0"/>
              <a:t>利用互斥锁实现“顺序性”</a:t>
            </a:r>
            <a:endParaRPr kumimoji="1" lang="en-US" altLang="zh-CN" dirty="0"/>
          </a:p>
          <a:p>
            <a:pPr marL="914400" lvl="2" indent="0" algn="just">
              <a:buNone/>
            </a:pPr>
            <a:r>
              <a:rPr kumimoji="1" lang="zh-CN" altLang="en-US" dirty="0"/>
              <a:t>实现顺序性的一种最简单方法是设置一种用于实现互斥的锁，简称为互斥锁。在利用互斥锁实现顺序性时，应为每一个共享对象设置一把互斥锁。当某一事务</a:t>
            </a:r>
            <a:r>
              <a:rPr kumimoji="1" lang="en-US" altLang="zh-CN" dirty="0" err="1"/>
              <a:t>Ti</a:t>
            </a:r>
            <a:r>
              <a:rPr kumimoji="1" lang="zh-CN" altLang="en-US" dirty="0"/>
              <a:t>要去访问某对象时，应先获得该对象的互斥锁。若成功，便用该锁将该对象锁住，于是事务</a:t>
            </a:r>
            <a:r>
              <a:rPr kumimoji="1" lang="en-US" altLang="zh-CN" dirty="0"/>
              <a:t>T</a:t>
            </a:r>
            <a:r>
              <a:rPr kumimoji="1" lang="zh-CN" altLang="en-US" dirty="0"/>
              <a:t>便可对该对象执行读或写操作；而其它事务由于未能获得该锁，因而不能访问该对象。如果</a:t>
            </a:r>
            <a:r>
              <a:rPr kumimoji="1" lang="en-US" altLang="zh-CN" dirty="0" err="1"/>
              <a:t>Ti</a:t>
            </a:r>
            <a:r>
              <a:rPr kumimoji="1" lang="zh-CN" altLang="en-US" dirty="0"/>
              <a:t>需要对一批对象进行访问，为保证事务操作的原子性，</a:t>
            </a:r>
            <a:r>
              <a:rPr kumimoji="1" lang="en-US" altLang="zh-CN" dirty="0" err="1"/>
              <a:t>Ti</a:t>
            </a:r>
            <a:r>
              <a:rPr kumimoji="1" lang="zh-CN" altLang="en-US" dirty="0"/>
              <a:t>应先获得这一批对象的互斥锁，以全部锁住这些对象。</a:t>
            </a:r>
            <a:endParaRPr kumimoji="1" lang="en-US" altLang="zh-CN" dirty="0"/>
          </a:p>
          <a:p>
            <a:pPr lvl="1" algn="just">
              <a:buFont typeface="Wingdings" panose="05000000000000000000" pitchFamily="2" charset="2"/>
              <a:buChar char="ü"/>
            </a:pPr>
            <a:r>
              <a:rPr kumimoji="1" lang="zh-CN" altLang="en-US" dirty="0"/>
              <a:t>利用互斥锁和共享锁实现顺序性</a:t>
            </a:r>
            <a:endParaRPr kumimoji="1" lang="en-US" altLang="zh-CN" dirty="0"/>
          </a:p>
          <a:p>
            <a:pPr marL="914400" lvl="2" indent="0" algn="just">
              <a:buNone/>
            </a:pPr>
            <a:r>
              <a:rPr kumimoji="1" lang="zh-CN" altLang="en-US" dirty="0"/>
              <a:t>互斥锁实现顺序性的方法简单易行，但这却存在着效率不高的问题。因为一个共享文件虽然只允许一个事务去写，但却允许多个事务同时去读；而在利用互斥锁来锁住文件后，则只允许一个事务去读。为了提高运行效率而又引入了另一种形式的锁</a:t>
            </a:r>
            <a:r>
              <a:rPr kumimoji="1" lang="en-US" altLang="zh-CN" dirty="0"/>
              <a:t>——</a:t>
            </a:r>
            <a:r>
              <a:rPr kumimoji="1" lang="zh-CN" altLang="en-US" dirty="0"/>
              <a:t>共享锁。共享锁与互斥锁的区别在于：互斥锁仅允许一个事务对相应对象执行读或写操作，而共享锁则允许多个事务对相应对象执行读操作，但不允许其中任何一个事务对对象执行写操作。</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282554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0958-4D71-F742-8F7B-402BE45269D0}"/>
              </a:ext>
            </a:extLst>
          </p:cNvPr>
          <p:cNvSpPr>
            <a:spLocks noGrp="1"/>
          </p:cNvSpPr>
          <p:nvPr>
            <p:ph type="title"/>
          </p:nvPr>
        </p:nvSpPr>
        <p:spPr/>
        <p:txBody>
          <a:bodyPr>
            <a:normAutofit/>
          </a:bodyPr>
          <a:lstStyle/>
          <a:p>
            <a:r>
              <a:rPr kumimoji="1" lang="zh-CN" altLang="en-US" dirty="0"/>
              <a:t>数据一致性控制</a:t>
            </a:r>
          </a:p>
        </p:txBody>
      </p:sp>
      <p:sp>
        <p:nvSpPr>
          <p:cNvPr id="3" name="内容占位符 2">
            <a:extLst>
              <a:ext uri="{FF2B5EF4-FFF2-40B4-BE49-F238E27FC236}">
                <a16:creationId xmlns:a16="http://schemas.microsoft.com/office/drawing/2014/main" id="{A3BB8FC7-88A8-0B4D-B7E9-5A9282A67521}"/>
              </a:ext>
            </a:extLst>
          </p:cNvPr>
          <p:cNvSpPr>
            <a:spLocks noGrp="1"/>
          </p:cNvSpPr>
          <p:nvPr>
            <p:ph idx="1"/>
          </p:nvPr>
        </p:nvSpPr>
        <p:spPr>
          <a:xfrm>
            <a:off x="560439" y="1244212"/>
            <a:ext cx="11316370" cy="5613790"/>
          </a:xfrm>
        </p:spPr>
        <p:txBody>
          <a:bodyPr>
            <a:normAutofit/>
          </a:bodyPr>
          <a:lstStyle/>
          <a:p>
            <a:pPr>
              <a:lnSpc>
                <a:spcPct val="120000"/>
              </a:lnSpc>
            </a:pPr>
            <a:r>
              <a:rPr kumimoji="1" lang="zh-CN" altLang="en-US" dirty="0"/>
              <a:t>重复数据的数据一致性问题</a:t>
            </a:r>
            <a:endParaRPr kumimoji="1" lang="en-US" altLang="zh-CN" dirty="0"/>
          </a:p>
          <a:p>
            <a:pPr lvl="1" algn="just">
              <a:buFont typeface="Wingdings" panose="05000000000000000000" pitchFamily="2" charset="2"/>
              <a:buChar char="ü"/>
            </a:pPr>
            <a:r>
              <a:rPr kumimoji="1" lang="zh-CN" altLang="en-US" dirty="0"/>
              <a:t>重复文件的一致性</a:t>
            </a:r>
            <a:endParaRPr kumimoji="1" lang="en-US" altLang="zh-CN" dirty="0"/>
          </a:p>
          <a:p>
            <a:pPr marL="914400" lvl="2" indent="0" algn="just">
              <a:buNone/>
            </a:pPr>
            <a:r>
              <a:rPr kumimoji="1" lang="zh-CN" altLang="en-US" dirty="0"/>
              <a:t>例如，对于</a:t>
            </a:r>
            <a:r>
              <a:rPr kumimoji="1" lang="en-US" altLang="zh-CN" dirty="0"/>
              <a:t>UNIX</a:t>
            </a:r>
            <a:r>
              <a:rPr kumimoji="1" lang="zh-CN" altLang="en-US" dirty="0"/>
              <a:t>文件目录，每个目录项中含有一个</a:t>
            </a:r>
            <a:r>
              <a:rPr kumimoji="1" lang="en-US" altLang="zh-CN" dirty="0"/>
              <a:t>ASCII</a:t>
            </a:r>
            <a:r>
              <a:rPr kumimoji="1" lang="zh-CN" altLang="en-US" dirty="0"/>
              <a:t>码的文件名和一个索引结点号，后者指向一个索引结点。当有重复文件时，一个目录项可由一个文件名和若干个索引结点号组成，每个索引结点号都是指向各自的索引结点。</a:t>
            </a:r>
            <a:endParaRPr kumimoji="1" lang="en-US" altLang="zh-CN" dirty="0"/>
          </a:p>
          <a:p>
            <a:pPr lvl="1" algn="just">
              <a:buFont typeface="Wingdings" panose="05000000000000000000" pitchFamily="2" charset="2"/>
              <a:buChar char="ü"/>
            </a:pPr>
            <a:r>
              <a:rPr kumimoji="1" lang="zh-CN" altLang="en-US" dirty="0"/>
              <a:t>链接数一致性检查</a:t>
            </a:r>
            <a:endParaRPr kumimoji="1" lang="en-US" altLang="zh-CN" dirty="0"/>
          </a:p>
          <a:p>
            <a:pPr marL="914400" lvl="2" indent="0" algn="just">
              <a:buNone/>
            </a:pPr>
            <a:r>
              <a:rPr kumimoji="1" lang="zh-CN" altLang="en-US" dirty="0"/>
              <a:t>在</a:t>
            </a:r>
            <a:r>
              <a:rPr kumimoji="1" lang="en-US" altLang="zh-CN" dirty="0"/>
              <a:t>UNIX</a:t>
            </a:r>
            <a:r>
              <a:rPr kumimoji="1" lang="zh-CN" altLang="en-US" dirty="0"/>
              <a:t>类型的文件目录中，其每个目录项内都含有一个索引结点号，用于指向该文件的索引结点。对于一个共享文件，其索引结点号会在目录中出现多次。</a:t>
            </a:r>
            <a:endParaRPr kumimoji="1" lang="en-US" altLang="zh-CN" dirty="0"/>
          </a:p>
        </p:txBody>
      </p:sp>
      <p:sp>
        <p:nvSpPr>
          <p:cNvPr id="4" name="灯片编号占位符 3">
            <a:extLst>
              <a:ext uri="{FF2B5EF4-FFF2-40B4-BE49-F238E27FC236}">
                <a16:creationId xmlns:a16="http://schemas.microsoft.com/office/drawing/2014/main" id="{B52606DE-3A97-2441-B675-7C32A3083F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136969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BE7E96-6B8C-46C9-9248-DBA42A110374}"/>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2396924C-8847-43B5-AB23-9C540C37840B}"/>
              </a:ext>
            </a:extLst>
          </p:cNvPr>
          <p:cNvSpPr>
            <a:spLocks noGrp="1"/>
          </p:cNvSpPr>
          <p:nvPr>
            <p:ph idx="1"/>
          </p:nvPr>
        </p:nvSpPr>
        <p:spPr/>
        <p:txBody>
          <a:bodyPr/>
          <a:lstStyle/>
          <a:p>
            <a:r>
              <a:rPr lang="en-US" altLang="zh-CN" dirty="0"/>
              <a:t>11</a:t>
            </a:r>
            <a:r>
              <a:rPr lang="zh-CN" altLang="en-US" dirty="0"/>
              <a:t>、</a:t>
            </a:r>
            <a:r>
              <a:rPr lang="en-US" altLang="zh-CN" dirty="0"/>
              <a:t>14</a:t>
            </a:r>
            <a:endParaRPr lang="zh-CN" altLang="en-US" dirty="0"/>
          </a:p>
        </p:txBody>
      </p:sp>
      <p:sp>
        <p:nvSpPr>
          <p:cNvPr id="4" name="灯片编号占位符 3">
            <a:extLst>
              <a:ext uri="{FF2B5EF4-FFF2-40B4-BE49-F238E27FC236}">
                <a16:creationId xmlns:a16="http://schemas.microsoft.com/office/drawing/2014/main" id="{FC2AABE2-61AB-487F-B389-DBE2EE118E53}"/>
              </a:ext>
            </a:extLst>
          </p:cNvPr>
          <p:cNvSpPr>
            <a:spLocks noGrp="1"/>
          </p:cNvSpPr>
          <p:nvPr>
            <p:ph type="sldNum" sz="quarter" idx="12"/>
          </p:nvPr>
        </p:nvSpPr>
        <p:spPr/>
        <p:txBody>
          <a:bodyPr/>
          <a:lstStyle/>
          <a:p>
            <a:fld id="{8D4D1E41-7A09-AB4A-A4E1-09765ADA2698}" type="slidenum">
              <a:rPr kumimoji="1" lang="zh-CN" altLang="en-US" smtClean="0"/>
              <a:pPr/>
              <a:t>41</a:t>
            </a:fld>
            <a:endParaRPr kumimoji="1" lang="zh-CN" altLang="en-US" dirty="0"/>
          </a:p>
        </p:txBody>
      </p:sp>
    </p:spTree>
    <p:extLst>
      <p:ext uri="{BB962C8B-B14F-4D97-AF65-F5344CB8AC3E}">
        <p14:creationId xmlns:p14="http://schemas.microsoft.com/office/powerpoint/2010/main" val="3572926014"/>
      </p:ext>
    </p:extLst>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12753</TotalTime>
  <Words>5539</Words>
  <Application>Microsoft Office PowerPoint</Application>
  <PresentationFormat>宽屏</PresentationFormat>
  <Paragraphs>265</Paragraphs>
  <Slides>41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41</vt:i4>
      </vt:variant>
    </vt:vector>
  </HeadingPairs>
  <TitlesOfParts>
    <vt:vector size="50" baseType="lpstr">
      <vt:lpstr>-apple-system</vt:lpstr>
      <vt:lpstr>等线</vt:lpstr>
      <vt:lpstr>方正琥珀简体</vt:lpstr>
      <vt:lpstr>Microsoft YaHei</vt:lpstr>
      <vt:lpstr>Arial</vt:lpstr>
      <vt:lpstr>Calibri</vt:lpstr>
      <vt:lpstr>Times New Roman</vt:lpstr>
      <vt:lpstr>Wingdings</vt:lpstr>
      <vt:lpstr>2_Office 主题​​</vt:lpstr>
      <vt:lpstr>第8章  磁盘存储器管理 </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外存的组织方式</vt:lpstr>
      <vt:lpstr>文件存储空间的管理</vt:lpstr>
      <vt:lpstr>文件存储空间的管理</vt:lpstr>
      <vt:lpstr>文件存储空间的管理</vt:lpstr>
      <vt:lpstr>文件存储空间的管理</vt:lpstr>
      <vt:lpstr>文件存储空间的管理</vt:lpstr>
      <vt:lpstr>文件存储空间的管理</vt:lpstr>
      <vt:lpstr>文件存储空间的管理</vt:lpstr>
      <vt:lpstr>提高磁盘I/O速度的途径</vt:lpstr>
      <vt:lpstr>提高磁盘I/O速度的途径</vt:lpstr>
      <vt:lpstr>提高磁盘I/O速度的途径</vt:lpstr>
      <vt:lpstr>提高磁盘I/O速度的途径</vt:lpstr>
      <vt:lpstr>提高磁盘I/O速度的途径</vt:lpstr>
      <vt:lpstr>PowerPoint 演示文稿</vt:lpstr>
      <vt:lpstr>提高磁盘I/O速度的途径</vt:lpstr>
      <vt:lpstr>提高磁盘可靠性的技术</vt:lpstr>
      <vt:lpstr>提高磁盘可靠性的技术</vt:lpstr>
      <vt:lpstr>提高磁盘可靠性的技术</vt:lpstr>
      <vt:lpstr>提高磁盘可靠性的技术</vt:lpstr>
      <vt:lpstr>提高磁盘可靠性的技术</vt:lpstr>
      <vt:lpstr>提高磁盘可靠性的技术</vt:lpstr>
      <vt:lpstr>提高磁盘可靠性的技术</vt:lpstr>
      <vt:lpstr>数据一致性控制</vt:lpstr>
      <vt:lpstr>数据一致性控制</vt:lpstr>
      <vt:lpstr>数据一致性控制</vt:lpstr>
      <vt:lpstr>数据一致性控制</vt:lpstr>
      <vt:lpstr>数据一致性控制</vt:lpstr>
      <vt:lpstr>习题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1327</cp:revision>
  <dcterms:created xsi:type="dcterms:W3CDTF">2021-01-06T05:35:51Z</dcterms:created>
  <dcterms:modified xsi:type="dcterms:W3CDTF">2023-12-04T06:10:21Z</dcterms:modified>
</cp:coreProperties>
</file>