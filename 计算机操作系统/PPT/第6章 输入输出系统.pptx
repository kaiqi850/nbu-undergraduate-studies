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61"/>
  </p:notesMasterIdLst>
  <p:sldIdLst>
    <p:sldId id="1252" r:id="rId2"/>
    <p:sldId id="1247" r:id="rId3"/>
    <p:sldId id="1251" r:id="rId4"/>
    <p:sldId id="1253" r:id="rId5"/>
    <p:sldId id="1254" r:id="rId6"/>
    <p:sldId id="1255" r:id="rId7"/>
    <p:sldId id="1256" r:id="rId8"/>
    <p:sldId id="1258" r:id="rId9"/>
    <p:sldId id="1257" r:id="rId10"/>
    <p:sldId id="1259" r:id="rId11"/>
    <p:sldId id="1260" r:id="rId12"/>
    <p:sldId id="1261" r:id="rId13"/>
    <p:sldId id="1263" r:id="rId14"/>
    <p:sldId id="1264" r:id="rId15"/>
    <p:sldId id="1265" r:id="rId16"/>
    <p:sldId id="1268" r:id="rId17"/>
    <p:sldId id="1267" r:id="rId18"/>
    <p:sldId id="1269" r:id="rId19"/>
    <p:sldId id="1270" r:id="rId20"/>
    <p:sldId id="1271" r:id="rId21"/>
    <p:sldId id="1272" r:id="rId22"/>
    <p:sldId id="1273" r:id="rId23"/>
    <p:sldId id="1274" r:id="rId24"/>
    <p:sldId id="1275" r:id="rId25"/>
    <p:sldId id="1276" r:id="rId26"/>
    <p:sldId id="1277" r:id="rId27"/>
    <p:sldId id="1278" r:id="rId28"/>
    <p:sldId id="1280" r:id="rId29"/>
    <p:sldId id="1279" r:id="rId30"/>
    <p:sldId id="1281" r:id="rId31"/>
    <p:sldId id="1282" r:id="rId32"/>
    <p:sldId id="1283" r:id="rId33"/>
    <p:sldId id="1284" r:id="rId34"/>
    <p:sldId id="1285" r:id="rId35"/>
    <p:sldId id="1286" r:id="rId36"/>
    <p:sldId id="1287" r:id="rId37"/>
    <p:sldId id="1288" r:id="rId38"/>
    <p:sldId id="1289" r:id="rId39"/>
    <p:sldId id="1290" r:id="rId40"/>
    <p:sldId id="1291" r:id="rId41"/>
    <p:sldId id="1292" r:id="rId42"/>
    <p:sldId id="1293" r:id="rId43"/>
    <p:sldId id="1294" r:id="rId44"/>
    <p:sldId id="1295" r:id="rId45"/>
    <p:sldId id="1296" r:id="rId46"/>
    <p:sldId id="1297" r:id="rId47"/>
    <p:sldId id="1298" r:id="rId48"/>
    <p:sldId id="1300" r:id="rId49"/>
    <p:sldId id="1301" r:id="rId50"/>
    <p:sldId id="1302" r:id="rId51"/>
    <p:sldId id="1303" r:id="rId52"/>
    <p:sldId id="1304" r:id="rId53"/>
    <p:sldId id="1305" r:id="rId54"/>
    <p:sldId id="1306" r:id="rId55"/>
    <p:sldId id="1307" r:id="rId56"/>
    <p:sldId id="1308" r:id="rId57"/>
    <p:sldId id="1309" r:id="rId58"/>
    <p:sldId id="1310" r:id="rId59"/>
    <p:sldId id="1311"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61"/>
    <p:restoredTop sz="84431" autoAdjust="0"/>
  </p:normalViewPr>
  <p:slideViewPr>
    <p:cSldViewPr snapToGrid="0" snapToObjects="1">
      <p:cViewPr varScale="1">
        <p:scale>
          <a:sx n="107" d="100"/>
          <a:sy n="107" d="100"/>
        </p:scale>
        <p:origin x="2010" y="96"/>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2024/11/3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直接内存访问（DMA）方式是一种完全由硬件执行I/O交换的工作方式。DMA控制器从CPU完全接管对总线的控制。数据交换不经过CPU，而直接在内存和I/O设备之间进行。DMA控制器采用以下三种方式：</a:t>
            </a:r>
          </a:p>
          <a:p>
            <a:r>
              <a:rPr lang="zh-CN" altLang="en-US"/>
              <a:t>①停止CPU访问内存：当外设要求传送一批数据时，由DMA控制器发一个信号给CPU。DMA控制器获得总线控制权后，开始进行数据传送。一批数据传送完毕后，DMA控制器通知CPU可以使用内存，并把总线控制权交还给CPU。</a:t>
            </a:r>
          </a:p>
          <a:p>
            <a:r>
              <a:rPr lang="zh-CN" altLang="en-US"/>
              <a:t>②周期挪用：当I/O设备没有 DMA请求时，CPU按程序要求访问内存：一旦 I/O设备有DMA请求，则I/O设备挪用一个或几个周期。</a:t>
            </a:r>
          </a:p>
          <a:p>
            <a:r>
              <a:rPr lang="zh-CN" altLang="en-US"/>
              <a:t>③DMA与CPU交替访内：一个CPU周期可分为2个周期，一个专供DMA控制器访内，另一个专供CPU访内。不需要总线使用权的申请、建立和归还过程。</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p:cNvSpPr>
            <a:spLocks noGrp="1"/>
          </p:cNvSpPr>
          <p:nvPr>
            <p:ph type="subTitle" idx="1" hasCustomPrompt="1"/>
          </p:nvPr>
        </p:nvSpPr>
        <p:spPr>
          <a:xfrm>
            <a:off x="1524000" y="3602038"/>
            <a:ext cx="9144000" cy="1655762"/>
          </a:xfrm>
          <a:ln>
            <a:noFill/>
          </a:ln>
        </p:spPr>
        <p:txBody>
          <a:bodyPr/>
          <a:lstStyle>
            <a:lvl1pPr marL="0" indent="0" algn="ctr">
              <a:buNone/>
              <a:defRPr sz="2400">
                <a:latin typeface="Times New Roman" panose="02020603050405020304" pitchFamily="18" charset="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E6C9AC36-F551-8142-B918-8641B516A611}" type="datetime1">
              <a:rPr kumimoji="1" lang="zh-CN" altLang="en-US" smtClean="0"/>
              <a:t>2024/11/3</a:t>
            </a:fld>
            <a:endParaRPr kumimoji="1" lang="zh-CN" altLang="en-US" dirty="0"/>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dirty="0"/>
          </a:p>
        </p:txBody>
      </p:sp>
      <p:sp>
        <p:nvSpPr>
          <p:cNvPr id="7" name="矩形 6"/>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mn-ea"/>
                <a:cs typeface="Times New Roman" panose="02020603050405020304" pitchFamily="18" charset="0"/>
              </a:rPr>
              <a:t>操作系统讲义</a:t>
            </a:r>
          </a:p>
        </p:txBody>
      </p:sp>
      <p:sp>
        <p:nvSpPr>
          <p:cNvPr id="9" name="文本框 8"/>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mn-ea"/>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系统</a:t>
            </a:r>
          </a:p>
        </p:txBody>
      </p:sp>
      <p:sp>
        <p:nvSpPr>
          <p:cNvPr id="10" name="文本框 9"/>
          <p:cNvSpPr txBox="1"/>
          <p:nvPr userDrawn="1"/>
        </p:nvSpPr>
        <p:spPr>
          <a:xfrm>
            <a:off x="9831318" y="6365398"/>
            <a:ext cx="2166551" cy="369332"/>
          </a:xfrm>
          <a:prstGeom prst="rect">
            <a:avLst/>
          </a:prstGeom>
          <a:noFill/>
        </p:spPr>
        <p:txBody>
          <a:bodyPr wrap="square">
            <a:spAutoFit/>
          </a:bodyPr>
          <a:lstStyle/>
          <a:p>
            <a:r>
              <a:rPr lang="en-US" altLang="zh-CN"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Contributor: </a:t>
            </a:r>
            <a:r>
              <a:rPr lang="zh-CN" altLang="en-US"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江先亮</a:t>
            </a:r>
            <a:endParaRPr lang="en-US" altLang="zh-CN" dirty="0">
              <a:solidFill>
                <a:schemeClr val="accent1">
                  <a:lumMod val="60000"/>
                  <a:lumOff val="40000"/>
                </a:schemeClr>
              </a:solidFill>
              <a:latin typeface="Times New Roman" panose="02020603050405020304" pitchFamily="18" charset="0"/>
              <a:ea typeface="+mn-ea"/>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20000"/>
              </a:lnSpc>
              <a:spcBef>
                <a:spcPts val="600"/>
              </a:spcBef>
              <a:buFont typeface="Wingdings" panose="05000000000000000000" pitchFamily="2" charset="2"/>
              <a:buChar char="Ø"/>
              <a:defRPr>
                <a:latin typeface="Times New Roman" panose="02020603050405020304" pitchFamily="18" charset="0"/>
                <a:ea typeface="+mn-ea"/>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mn-ea"/>
                <a:cs typeface="Times New Roman" panose="02020603050405020304" pitchFamily="18" charset="0"/>
              </a:defRPr>
            </a:lvl2pPr>
            <a:lvl3pPr>
              <a:lnSpc>
                <a:spcPct val="120000"/>
              </a:lnSpc>
              <a:spcBef>
                <a:spcPts val="600"/>
              </a:spcBef>
              <a:defRPr>
                <a:latin typeface="Times New Roman" panose="02020603050405020304" pitchFamily="18" charset="0"/>
                <a:ea typeface="+mn-ea"/>
                <a:cs typeface="Times New Roman" panose="02020603050405020304" pitchFamily="18" charset="0"/>
              </a:defRPr>
            </a:lvl3pPr>
            <a:lvl4pPr>
              <a:lnSpc>
                <a:spcPct val="120000"/>
              </a:lnSpc>
              <a:spcBef>
                <a:spcPts val="600"/>
              </a:spcBef>
              <a:defRPr>
                <a:latin typeface="Times New Roman" panose="02020603050405020304" pitchFamily="18" charset="0"/>
                <a:ea typeface="+mn-ea"/>
                <a:cs typeface="Times New Roman" panose="02020603050405020304" pitchFamily="18" charset="0"/>
              </a:defRPr>
            </a:lvl4pPr>
            <a:lvl5pPr>
              <a:lnSpc>
                <a:spcPct val="120000"/>
              </a:lnSpc>
              <a:spcBef>
                <a:spcPts val="600"/>
              </a:spcBef>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D9F44458-A3AD-7248-AB3A-A80099144E2A}" type="datetime1">
              <a:rPr kumimoji="1" lang="zh-CN" altLang="en-US" smtClean="0"/>
              <a:t>2024/11/3</a:t>
            </a:fld>
            <a:endParaRPr kumimoji="1" lang="zh-CN" altLang="en-US"/>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ea typeface="+mn-ea"/>
                <a:cs typeface="Times New Roman" panose="02020603050405020304" pitchFamily="18" charset="0"/>
              </a:defRPr>
            </a:lvl1p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pSp>
      <p:pic>
        <p:nvPicPr>
          <p:cNvPr id="8" name="图片 7"/>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603050405020304" pitchFamily="18" charset="0"/>
              <a:ea typeface="+mn-ea"/>
              <a:cs typeface="Times New Roman" panose="02020603050405020304" pitchFamily="18" charset="0"/>
            </a:endParaRPr>
          </a:p>
        </p:txBody>
      </p:sp>
      <p:pic>
        <p:nvPicPr>
          <p:cNvPr id="10" name="图片 9"/>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4290EBB2-4D7C-084A-BE30-AC939B671EC1}" type="datetime1">
              <a:rPr kumimoji="1" lang="zh-CN" altLang="en-US" smtClean="0"/>
              <a:t>2024/11/3</a:t>
            </a:fld>
            <a:endParaRPr kumimoji="1" lang="zh-CN" altLang="en-US"/>
          </a:p>
        </p:txBody>
      </p:sp>
      <p:sp>
        <p:nvSpPr>
          <p:cNvPr id="6" name="页脚占位符 5"/>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a:p>
        </p:txBody>
      </p:sp>
      <p:sp>
        <p:nvSpPr>
          <p:cNvPr id="7" name="灯片编号占位符 6"/>
          <p:cNvSpPr>
            <a:spLocks noGrp="1"/>
          </p:cNvSpPr>
          <p:nvPr>
            <p:ph type="sldNum" sz="quarter" idx="12"/>
          </p:nvPr>
        </p:nvSpPr>
        <p:spPr/>
        <p:txBody>
          <a:bodyPr/>
          <a:lstStyle>
            <a:lvl1pPr>
              <a:defRPr>
                <a:latin typeface="Times New Roman" panose="02020603050405020304" pitchFamily="18" charset="0"/>
                <a:ea typeface="+mn-ea"/>
                <a:cs typeface="Times New Roman" panose="02020603050405020304" pitchFamily="18" charset="0"/>
              </a:defRPr>
            </a:lvl1pPr>
          </a:lstStyle>
          <a:p>
            <a:fld id="{8D4D1E41-7A09-AB4A-A4E1-09765ADA2698}" type="slidenum">
              <a:rPr kumimoji="1" lang="zh-CN" altLang="en-US" smtClean="0"/>
              <a:t>‹#›</a:t>
            </a:fld>
            <a:endParaRPr kumimoji="1" lang="zh-CN" altLang="en-US"/>
          </a:p>
        </p:txBody>
      </p:sp>
      <p:sp>
        <p:nvSpPr>
          <p:cNvPr id="76" name="标题 1"/>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p>
        </p:txBody>
      </p:sp>
      <p:cxnSp>
        <p:nvCxnSpPr>
          <p:cNvPr id="77"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userDrawn="1"/>
        </p:nvGrpSpPr>
        <p:grpSpPr>
          <a:xfrm>
            <a:off x="715452" y="634525"/>
            <a:ext cx="403039" cy="321898"/>
            <a:chOff x="1368170" y="664579"/>
            <a:chExt cx="550582" cy="439737"/>
          </a:xfrm>
          <a:solidFill>
            <a:schemeClr val="bg1"/>
          </a:solidFill>
        </p:grpSpPr>
        <p:sp>
          <p:nvSpPr>
            <p:cNvPr id="80"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1"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2"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3"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4"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5"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6"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7"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8"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9"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90"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pSp>
      <p:pic>
        <p:nvPicPr>
          <p:cNvPr id="91" name="图片 90"/>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45C7992C-DF72-7644-B12E-329898B62496}" type="datetime1">
              <a:rPr lang="zh-CN" altLang="en-US" smtClean="0"/>
              <a:t>2024/11/3</a:t>
            </a:fld>
            <a:endParaRPr lang="en-US" altLang="zh-CN"/>
          </a:p>
        </p:txBody>
      </p:sp>
      <p:sp>
        <p:nvSpPr>
          <p:cNvPr id="4" name="Rectangle 7"/>
          <p:cNvSpPr>
            <a:spLocks noGrp="1" noChangeArrowheads="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07279A2F-85B5-794E-ADF1-0805CD3C44B7}" type="slidenum">
              <a:rPr lang="en-US" altLang="zh-CN"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6B5948C6-0782-6042-A859-FD82FD45C478}" type="datetime1">
              <a:rPr kumimoji="1" lang="zh-CN" altLang="en-US" smtClean="0"/>
              <a:t>2024/11/3</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chor="ctr" anchorCtr="0"/>
          <a:lstStyle/>
          <a:p>
            <a:pPr eaLnBrk="1" hangingPunct="1">
              <a:spcBef>
                <a:spcPct val="50000"/>
              </a:spcBef>
            </a:pPr>
            <a:r>
              <a:rPr lang="zh-CN" altLang="en-US" sz="5400" b="1" dirty="0">
                <a:solidFill>
                  <a:srgbClr val="CC0099"/>
                </a:solidFill>
                <a:latin typeface="方正琥珀简体" pitchFamily="65" charset="-122"/>
                <a:ea typeface="方正琥珀简体" pitchFamily="65" charset="-122"/>
              </a:rPr>
              <a:t>第</a:t>
            </a:r>
            <a:r>
              <a:rPr lang="en-US" altLang="zh-CN" sz="5400" b="1" dirty="0">
                <a:solidFill>
                  <a:srgbClr val="CC0099"/>
                </a:solidFill>
                <a:latin typeface="方正琥珀简体" pitchFamily="65" charset="-122"/>
                <a:ea typeface="方正琥珀简体" pitchFamily="65" charset="-122"/>
              </a:rPr>
              <a:t>6</a:t>
            </a:r>
            <a:r>
              <a:rPr lang="zh-CN" altLang="en-US" sz="5400" b="1" dirty="0">
                <a:solidFill>
                  <a:srgbClr val="CC0099"/>
                </a:solidFill>
                <a:latin typeface="方正琥珀简体" pitchFamily="65" charset="-122"/>
                <a:ea typeface="方正琥珀简体" pitchFamily="65" charset="-122"/>
              </a:rPr>
              <a:t>章  </a:t>
            </a:r>
            <a:r>
              <a:rPr lang="zh-CN" altLang="en-US" sz="5400" b="1" dirty="0">
                <a:solidFill>
                  <a:schemeClr val="hlink"/>
                </a:solidFill>
                <a:ea typeface="方正琥珀简体" pitchFamily="65" charset="-122"/>
              </a:rPr>
              <a:t>输入输出系统</a:t>
            </a:r>
            <a:r>
              <a:rPr lang="zh-CN" altLang="en-US" sz="5400" dirty="0">
                <a:solidFill>
                  <a:schemeClr val="tx2"/>
                </a:solidFill>
              </a:rPr>
              <a:t> </a:t>
            </a:r>
          </a:p>
        </p:txBody>
      </p:sp>
      <p:sp>
        <p:nvSpPr>
          <p:cNvPr id="3" name="副标题 2"/>
          <p:cNvSpPr>
            <a:spLocks noGrp="1"/>
          </p:cNvSpPr>
          <p:nvPr>
            <p:ph type="subTitle" idx="1"/>
          </p:nvPr>
        </p:nvSpPr>
        <p:spPr>
          <a:xfrm>
            <a:off x="1524000" y="3693376"/>
            <a:ext cx="9144000" cy="1655762"/>
          </a:xfrm>
        </p:spPr>
        <p:txBody>
          <a:bodyPr/>
          <a:lstStyle/>
          <a:p>
            <a:endParaRPr lang="en-US" altLang="zh-CN" dirty="0"/>
          </a:p>
          <a:p>
            <a:r>
              <a:rPr lang="zh-CN" altLang="en-US" sz="2800" b="1" dirty="0">
                <a:solidFill>
                  <a:srgbClr val="002060"/>
                </a:solidFill>
                <a:ea typeface="方正琥珀简体"/>
              </a:rPr>
              <a:t>教师：江先亮</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I/O</a:t>
            </a:r>
            <a:r>
              <a:rPr kumimoji="1" lang="zh-CN" altLang="en-US" dirty="0"/>
              <a:t>系统的功能、模型和接口</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665018" y="1629270"/>
            <a:ext cx="10733809" cy="1384995"/>
          </a:xfrm>
          <a:prstGeom prst="rect">
            <a:avLst/>
          </a:prstGeom>
          <a:noFill/>
        </p:spPr>
        <p:txBody>
          <a:bodyPr wrap="square">
            <a:spAutoFit/>
          </a:bodyPr>
          <a:lstStyle/>
          <a:p>
            <a:pPr algn="just"/>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        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系统管理的主要对象是</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设备和相应的设备控制器。其最主要的任务是，完成用户提出的</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请求，提高</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速率，以及提高设备的利用率，并能为更高层的进程方便地使用这些设备提供手段。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系统的功能、模型和接口</a:t>
            </a:r>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en-US" altLang="zh-CN" dirty="0"/>
              <a:t>I/O</a:t>
            </a:r>
            <a:r>
              <a:rPr kumimoji="1" lang="zh-CN" altLang="en-US" dirty="0"/>
              <a:t>系统的基本功能</a:t>
            </a:r>
            <a:endParaRPr kumimoji="1" lang="en-US" altLang="zh-CN" dirty="0"/>
          </a:p>
          <a:p>
            <a:pPr lvl="1">
              <a:buFont typeface="Wingdings" panose="05000000000000000000" pitchFamily="2" charset="2"/>
              <a:buChar char="ü"/>
            </a:pPr>
            <a:r>
              <a:rPr kumimoji="1" lang="zh-CN" altLang="en-US" dirty="0"/>
              <a:t>隐藏物理设备的细节</a:t>
            </a:r>
            <a:endParaRPr kumimoji="1" lang="en-US" altLang="zh-CN" dirty="0"/>
          </a:p>
          <a:p>
            <a:pPr marL="914400" lvl="2" indent="0" algn="just">
              <a:buNone/>
            </a:pPr>
            <a:r>
              <a:rPr kumimoji="1" lang="en-US" altLang="zh-CN" dirty="0"/>
              <a:t>I/O</a:t>
            </a:r>
            <a:r>
              <a:rPr kumimoji="1" lang="zh-CN" altLang="en-US" dirty="0"/>
              <a:t>设备的类型非常多，且彼此间在多方面都有差异，诸如它们接收和产生数据的速度，传输方向、粒度、数据的表示形式及可靠性等方面。</a:t>
            </a:r>
            <a:endParaRPr kumimoji="1" lang="en-US" altLang="zh-CN" dirty="0"/>
          </a:p>
          <a:p>
            <a:pPr lvl="1">
              <a:lnSpc>
                <a:spcPct val="120000"/>
              </a:lnSpc>
              <a:buFont typeface="Wingdings" panose="05000000000000000000" pitchFamily="2" charset="2"/>
              <a:buChar char="ü"/>
            </a:pPr>
            <a:r>
              <a:rPr kumimoji="1" lang="zh-CN" altLang="en-US" dirty="0"/>
              <a:t>与设备的无关性</a:t>
            </a:r>
            <a:endParaRPr kumimoji="1" lang="en-US" altLang="zh-CN" dirty="0"/>
          </a:p>
          <a:p>
            <a:pPr marL="914400" lvl="2" indent="0" algn="just">
              <a:buNone/>
            </a:pPr>
            <a:r>
              <a:rPr kumimoji="1" lang="zh-CN" altLang="en-US" dirty="0"/>
              <a:t>隐藏物理设备的细节，在早期的</a:t>
            </a:r>
            <a:r>
              <a:rPr kumimoji="1" lang="en-US" altLang="zh-CN" dirty="0"/>
              <a:t>OS</a:t>
            </a:r>
            <a:r>
              <a:rPr kumimoji="1" lang="zh-CN" altLang="en-US" dirty="0"/>
              <a:t>中就已实现，它可方便用户对设备的使用。</a:t>
            </a:r>
            <a:r>
              <a:rPr kumimoji="1" lang="zh-CN" altLang="en-US" b="1" dirty="0">
                <a:solidFill>
                  <a:srgbClr val="FF0000"/>
                </a:solidFill>
              </a:rPr>
              <a:t>与设备的无关性</a:t>
            </a:r>
            <a:r>
              <a:rPr kumimoji="1" lang="zh-CN" altLang="en-US" dirty="0"/>
              <a:t>是在较晚时才实现的，这</a:t>
            </a:r>
            <a:r>
              <a:rPr kumimoji="1" lang="zh-CN" altLang="en-US" b="1" dirty="0">
                <a:solidFill>
                  <a:srgbClr val="FF0000"/>
                </a:solidFill>
              </a:rPr>
              <a:t>是在隐藏物理设备细节的基础上实现的</a:t>
            </a:r>
            <a:r>
              <a:rPr kumimoji="1" lang="zh-CN" altLang="en-US" dirty="0"/>
              <a:t>。</a:t>
            </a:r>
            <a:endParaRPr kumimoji="1" lang="en-US" altLang="zh-CN" dirty="0"/>
          </a:p>
          <a:p>
            <a:pPr lvl="1">
              <a:lnSpc>
                <a:spcPct val="120000"/>
              </a:lnSpc>
              <a:buFont typeface="Wingdings" panose="05000000000000000000" pitchFamily="2" charset="2"/>
              <a:buChar char="ü"/>
            </a:pPr>
            <a:r>
              <a:rPr kumimoji="1" lang="zh-CN" altLang="en-US" dirty="0"/>
              <a:t>提高处理机和</a:t>
            </a:r>
            <a:r>
              <a:rPr kumimoji="1" lang="en-US" altLang="zh-CN" dirty="0"/>
              <a:t>I/O</a:t>
            </a:r>
            <a:r>
              <a:rPr kumimoji="1" lang="zh-CN" altLang="en-US" dirty="0"/>
              <a:t>设备的利用率</a:t>
            </a:r>
            <a:endParaRPr kumimoji="1" lang="en-US" altLang="zh-CN" dirty="0"/>
          </a:p>
          <a:p>
            <a:pPr marL="914400" lvl="2" indent="0" algn="just">
              <a:buNone/>
            </a:pPr>
            <a:r>
              <a:rPr kumimoji="1" lang="zh-CN" altLang="en-US" dirty="0"/>
              <a:t>在一般的系统中，</a:t>
            </a:r>
            <a:r>
              <a:rPr kumimoji="1" lang="en-US" altLang="zh-CN" dirty="0"/>
              <a:t>I/O</a:t>
            </a:r>
            <a:r>
              <a:rPr kumimoji="1" lang="zh-CN" altLang="en-US" dirty="0"/>
              <a:t>设备间相互独立，能够并行操作，在处理机与设备间也能并行操作。因此，</a:t>
            </a:r>
            <a:r>
              <a:rPr kumimoji="1" lang="en-US" altLang="zh-CN" dirty="0"/>
              <a:t>I/O</a:t>
            </a:r>
            <a:r>
              <a:rPr kumimoji="1" lang="zh-CN" altLang="en-US" dirty="0"/>
              <a:t>系统的第</a:t>
            </a:r>
            <a:r>
              <a:rPr kumimoji="1" lang="en-US" altLang="zh-CN" dirty="0"/>
              <a:t>3</a:t>
            </a:r>
            <a:r>
              <a:rPr kumimoji="1" lang="zh-CN" altLang="en-US" dirty="0"/>
              <a:t>个功能是要尽可能地让处理机和</a:t>
            </a:r>
            <a:r>
              <a:rPr kumimoji="1" lang="en-US" altLang="zh-CN" dirty="0"/>
              <a:t>I/O</a:t>
            </a:r>
            <a:r>
              <a:rPr kumimoji="1" lang="zh-CN" altLang="en-US" dirty="0"/>
              <a:t>设备并行操作，以提高它们的利用率。为此，一方面要求处理机能快速响应用户的</a:t>
            </a:r>
            <a:r>
              <a:rPr kumimoji="1" lang="en-US" altLang="zh-CN" dirty="0"/>
              <a:t>I/O</a:t>
            </a:r>
            <a:r>
              <a:rPr kumimoji="1" lang="zh-CN" altLang="en-US" dirty="0"/>
              <a:t>请求，使</a:t>
            </a:r>
            <a:r>
              <a:rPr kumimoji="1" lang="en-US" altLang="zh-CN" dirty="0"/>
              <a:t>I/O</a:t>
            </a:r>
            <a:r>
              <a:rPr kumimoji="1" lang="zh-CN" altLang="en-US" dirty="0"/>
              <a:t>设备尽快地运行起来，另一方面也应尽量减少在每个</a:t>
            </a:r>
            <a:r>
              <a:rPr kumimoji="1" lang="en-US" altLang="zh-CN" dirty="0"/>
              <a:t>I/O</a:t>
            </a:r>
            <a:r>
              <a:rPr kumimoji="1" lang="zh-CN" altLang="en-US" dirty="0"/>
              <a:t>设备运行时处理机的干预时间。</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系统的功能、模型和接口</a:t>
            </a:r>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en-US" altLang="zh-CN" dirty="0"/>
              <a:t>I/O</a:t>
            </a:r>
            <a:r>
              <a:rPr kumimoji="1" lang="zh-CN" altLang="en-US" dirty="0"/>
              <a:t>系统的基本功能</a:t>
            </a:r>
            <a:endParaRPr kumimoji="1" lang="en-US" altLang="zh-CN" dirty="0"/>
          </a:p>
          <a:p>
            <a:pPr lvl="1">
              <a:buFont typeface="Wingdings" panose="05000000000000000000" pitchFamily="2" charset="2"/>
              <a:buChar char="ü"/>
            </a:pPr>
            <a:r>
              <a:rPr kumimoji="1" lang="zh-CN" altLang="en-US" dirty="0"/>
              <a:t>对</a:t>
            </a:r>
            <a:r>
              <a:rPr kumimoji="1" lang="en-US" altLang="zh-CN" dirty="0"/>
              <a:t>I/O</a:t>
            </a:r>
            <a:r>
              <a:rPr kumimoji="1" lang="zh-CN" altLang="en-US" dirty="0"/>
              <a:t>设备进行控制</a:t>
            </a:r>
            <a:endParaRPr kumimoji="1" lang="en-US" altLang="zh-CN" dirty="0"/>
          </a:p>
          <a:p>
            <a:pPr marL="914400" lvl="2" indent="0" algn="just">
              <a:buNone/>
            </a:pPr>
            <a:r>
              <a:rPr kumimoji="1" lang="zh-CN" altLang="en-US" dirty="0"/>
              <a:t>对</a:t>
            </a:r>
            <a:r>
              <a:rPr kumimoji="1" lang="en-US" altLang="zh-CN" dirty="0"/>
              <a:t>I/O</a:t>
            </a:r>
            <a:r>
              <a:rPr kumimoji="1" lang="zh-CN" altLang="en-US" dirty="0"/>
              <a:t>设备进行控制是驱动程序的功能。目前对</a:t>
            </a:r>
            <a:r>
              <a:rPr kumimoji="1" lang="en-US" altLang="zh-CN" dirty="0"/>
              <a:t>I/O</a:t>
            </a:r>
            <a:r>
              <a:rPr kumimoji="1" lang="zh-CN" altLang="en-US" dirty="0"/>
              <a:t>设备有</a:t>
            </a:r>
            <a:r>
              <a:rPr kumimoji="1" lang="en-US" altLang="zh-CN" dirty="0"/>
              <a:t>4</a:t>
            </a:r>
            <a:r>
              <a:rPr kumimoji="1" lang="zh-CN" altLang="en-US" dirty="0"/>
              <a:t>种控制方式：①采用</a:t>
            </a:r>
            <a:r>
              <a:rPr kumimoji="1" lang="zh-CN" altLang="en-US" b="1" dirty="0">
                <a:solidFill>
                  <a:srgbClr val="FF0000"/>
                </a:solidFill>
              </a:rPr>
              <a:t>轮询的可编程</a:t>
            </a:r>
            <a:r>
              <a:rPr kumimoji="1" lang="en-US" altLang="zh-CN" b="1" dirty="0">
                <a:solidFill>
                  <a:srgbClr val="FF0000"/>
                </a:solidFill>
              </a:rPr>
              <a:t>I/O</a:t>
            </a:r>
            <a:r>
              <a:rPr kumimoji="1" lang="zh-CN" altLang="en-US" dirty="0"/>
              <a:t>方式；②采用</a:t>
            </a:r>
            <a:r>
              <a:rPr kumimoji="1" lang="zh-CN" altLang="en-US" b="1" dirty="0">
                <a:solidFill>
                  <a:srgbClr val="FF0000"/>
                </a:solidFill>
              </a:rPr>
              <a:t>中断的可编程</a:t>
            </a:r>
            <a:r>
              <a:rPr kumimoji="1" lang="en-US" altLang="zh-CN" b="1" dirty="0">
                <a:solidFill>
                  <a:srgbClr val="FF0000"/>
                </a:solidFill>
              </a:rPr>
              <a:t>I/O</a:t>
            </a:r>
            <a:r>
              <a:rPr kumimoji="1" lang="zh-CN" altLang="en-US" dirty="0"/>
              <a:t>方式；③</a:t>
            </a:r>
            <a:r>
              <a:rPr kumimoji="1" lang="zh-CN" altLang="en-US" b="1" dirty="0">
                <a:solidFill>
                  <a:srgbClr val="FF0000"/>
                </a:solidFill>
              </a:rPr>
              <a:t>直接存储器访问</a:t>
            </a:r>
            <a:r>
              <a:rPr kumimoji="1" lang="zh-CN" altLang="en-US" dirty="0"/>
              <a:t>方式；④</a:t>
            </a:r>
            <a:r>
              <a:rPr kumimoji="1" lang="en-US" altLang="zh-CN" b="1" dirty="0">
                <a:solidFill>
                  <a:srgbClr val="FF0000"/>
                </a:solidFill>
              </a:rPr>
              <a:t>I/O</a:t>
            </a:r>
            <a:r>
              <a:rPr kumimoji="1" lang="zh-CN" altLang="en-US" b="1" dirty="0">
                <a:solidFill>
                  <a:srgbClr val="FF0000"/>
                </a:solidFill>
              </a:rPr>
              <a:t>通道</a:t>
            </a:r>
            <a:r>
              <a:rPr kumimoji="1" lang="zh-CN" altLang="en-US" dirty="0"/>
              <a:t>方式。</a:t>
            </a:r>
            <a:endParaRPr kumimoji="1" lang="en-US" altLang="zh-CN" dirty="0"/>
          </a:p>
          <a:p>
            <a:pPr lvl="1">
              <a:lnSpc>
                <a:spcPct val="120000"/>
              </a:lnSpc>
              <a:buFont typeface="Wingdings" panose="05000000000000000000" pitchFamily="2" charset="2"/>
              <a:buChar char="ü"/>
            </a:pPr>
            <a:r>
              <a:rPr kumimoji="1" lang="zh-CN" altLang="en-US" dirty="0"/>
              <a:t>确保对设备的正确共享</a:t>
            </a:r>
            <a:endParaRPr kumimoji="1" lang="en-US" altLang="zh-CN" dirty="0"/>
          </a:p>
          <a:p>
            <a:pPr marL="914400" lvl="2" indent="0" algn="just">
              <a:buNone/>
            </a:pPr>
            <a:r>
              <a:rPr kumimoji="1" lang="zh-CN" altLang="en-US" dirty="0"/>
              <a:t>从设备的共享属性上，可将系统中的设备分为两类：</a:t>
            </a:r>
            <a:r>
              <a:rPr kumimoji="1" lang="en-US" altLang="zh-CN" dirty="0"/>
              <a:t>(1)</a:t>
            </a:r>
            <a:r>
              <a:rPr kumimoji="1" lang="zh-CN" altLang="en-US" b="1" dirty="0">
                <a:solidFill>
                  <a:srgbClr val="FF0000"/>
                </a:solidFill>
              </a:rPr>
              <a:t>独占设备</a:t>
            </a:r>
            <a:r>
              <a:rPr kumimoji="1" lang="zh-CN" altLang="en-US" dirty="0"/>
              <a:t>，进程应互斥地访问这类设备，即系统一旦把这类设备分配给了某进程后，便由该进程独占，直至用完释放。典型的独占设备有打印机、磁带机等。</a:t>
            </a:r>
            <a:r>
              <a:rPr kumimoji="1" lang="en-US" altLang="zh-CN" dirty="0"/>
              <a:t>(2)</a:t>
            </a:r>
            <a:r>
              <a:rPr kumimoji="1" lang="zh-CN" altLang="en-US" b="1" dirty="0">
                <a:solidFill>
                  <a:srgbClr val="FF0000"/>
                </a:solidFill>
              </a:rPr>
              <a:t>共享设备</a:t>
            </a:r>
            <a:r>
              <a:rPr kumimoji="1" lang="zh-CN" altLang="en-US" dirty="0"/>
              <a:t>，指在一段时间内允许多个进程同时访问的设备。典型的共享设备是磁盘，当有多个进程需对磁盘执行读、写操作时，可以交叉进行，不会影响到读、写的正确性。</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系统的功能、模型和接口</a:t>
            </a:r>
          </a:p>
        </p:txBody>
      </p:sp>
      <p:sp>
        <p:nvSpPr>
          <p:cNvPr id="3" name="内容占位符 2"/>
          <p:cNvSpPr>
            <a:spLocks noGrp="1"/>
          </p:cNvSpPr>
          <p:nvPr>
            <p:ph idx="1"/>
          </p:nvPr>
        </p:nvSpPr>
        <p:spPr>
          <a:xfrm>
            <a:off x="838200" y="1510758"/>
            <a:ext cx="10515600" cy="5347242"/>
          </a:xfrm>
        </p:spPr>
        <p:txBody>
          <a:bodyPr>
            <a:normAutofit/>
          </a:bodyPr>
          <a:lstStyle/>
          <a:p>
            <a:r>
              <a:rPr kumimoji="1" lang="en-US" altLang="zh-CN" dirty="0"/>
              <a:t>I/O</a:t>
            </a:r>
            <a:r>
              <a:rPr kumimoji="1" lang="zh-CN" altLang="en-US" dirty="0"/>
              <a:t>系统的基本功能</a:t>
            </a:r>
            <a:endParaRPr kumimoji="1" lang="en-US" altLang="zh-CN" dirty="0"/>
          </a:p>
          <a:p>
            <a:pPr lvl="1">
              <a:buFont typeface="Wingdings" panose="05000000000000000000" pitchFamily="2" charset="2"/>
              <a:buChar char="ü"/>
            </a:pPr>
            <a:r>
              <a:rPr kumimoji="1" lang="zh-CN" altLang="en-US" dirty="0"/>
              <a:t>错误处理</a:t>
            </a:r>
            <a:endParaRPr kumimoji="1" lang="en-US" altLang="zh-CN" dirty="0"/>
          </a:p>
          <a:p>
            <a:pPr marL="914400" lvl="2" indent="0" algn="just">
              <a:buNone/>
            </a:pPr>
            <a:r>
              <a:rPr kumimoji="1" lang="zh-CN" altLang="en-US" dirty="0"/>
              <a:t>大多数设备都包括较多的机械和电气部分，运行时容易出现错误和故障。从处理的角度，可将错误分为临时性错误和持久性错误。对于临时性错误，可通过重试操作来纠正，只有在发生了持久性错误时，才需要向上层报告。</a:t>
            </a:r>
            <a:endParaRPr kumimoji="1" lang="en-US" altLang="zh-CN" dirty="0"/>
          </a:p>
          <a:p>
            <a:pPr>
              <a:lnSpc>
                <a:spcPct val="120000"/>
              </a:lnSpc>
            </a:pPr>
            <a:r>
              <a:rPr kumimoji="1" lang="en-US" altLang="zh-CN" dirty="0"/>
              <a:t>I/O</a:t>
            </a:r>
            <a:r>
              <a:rPr kumimoji="1" lang="zh-CN" altLang="en-US" dirty="0"/>
              <a:t>系统的层次结构和模型</a:t>
            </a:r>
            <a:endParaRPr kumimoji="1" lang="en-US" altLang="zh-CN" dirty="0"/>
          </a:p>
          <a:p>
            <a:pPr lvl="1">
              <a:buFont typeface="Wingdings" panose="05000000000000000000" pitchFamily="2" charset="2"/>
              <a:buChar char="ü"/>
            </a:pPr>
            <a:r>
              <a:rPr kumimoji="1" lang="en-US" altLang="zh-CN" dirty="0"/>
              <a:t>I/O</a:t>
            </a:r>
            <a:r>
              <a:rPr kumimoji="1" lang="zh-CN" altLang="en-US" dirty="0"/>
              <a:t>软件的层次结构</a:t>
            </a:r>
            <a:endParaRPr kumimoji="1" lang="en-US" altLang="zh-CN" dirty="0"/>
          </a:p>
          <a:p>
            <a:pPr lvl="2">
              <a:buFont typeface="Wingdings" panose="05000000000000000000" pitchFamily="2" charset="2"/>
              <a:buChar char="ü"/>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6778" y="4307532"/>
            <a:ext cx="5266313" cy="2028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6450156" y="6402187"/>
            <a:ext cx="2603789" cy="400110"/>
          </a:xfrm>
          <a:prstGeom prst="rect">
            <a:avLst/>
          </a:prstGeom>
          <a:noFill/>
        </p:spPr>
        <p:txBody>
          <a:bodyPr wrap="square">
            <a:spAutoFit/>
          </a:bodyPr>
          <a:lstStyle/>
          <a:p>
            <a:r>
              <a:rPr lang="en-US" altLang="zh-CN" sz="2000" b="1" dirty="0">
                <a:solidFill>
                  <a:schemeClr val="tx2">
                    <a:lumMod val="75000"/>
                  </a:schemeClr>
                </a:solidFill>
                <a:latin typeface="Times New Roman" panose="02020603050405020304" pitchFamily="18" charset="0"/>
                <a:cs typeface="Times New Roman" panose="02020603050405020304" pitchFamily="18" charset="0"/>
              </a:rPr>
              <a:t>I/O</a:t>
            </a:r>
            <a:r>
              <a:rPr lang="zh-CN" altLang="en-US" sz="2000" b="1" dirty="0">
                <a:solidFill>
                  <a:schemeClr val="tx2">
                    <a:lumMod val="75000"/>
                  </a:schemeClr>
                </a:solidFill>
                <a:latin typeface="Times New Roman" panose="02020603050405020304" pitchFamily="18" charset="0"/>
                <a:cs typeface="Times New Roman" panose="02020603050405020304" pitchFamily="18" charset="0"/>
              </a:rPr>
              <a:t>系统的层次结构</a:t>
            </a:r>
          </a:p>
        </p:txBody>
      </p:sp>
      <p:sp>
        <p:nvSpPr>
          <p:cNvPr id="9" name="文本框 8"/>
          <p:cNvSpPr txBox="1"/>
          <p:nvPr/>
        </p:nvSpPr>
        <p:spPr>
          <a:xfrm>
            <a:off x="1475510" y="5321614"/>
            <a:ext cx="2270560" cy="707886"/>
          </a:xfrm>
          <a:prstGeom prst="rect">
            <a:avLst/>
          </a:prstGeom>
          <a:noFill/>
          <a:ln w="19050">
            <a:solidFill>
              <a:schemeClr val="bg2">
                <a:lumMod val="10000"/>
              </a:schemeClr>
            </a:solidFill>
          </a:ln>
        </p:spPr>
        <p:txBody>
          <a:bodyPr wrap="square">
            <a:spAutoFit/>
          </a:bodyPr>
          <a:lstStyle/>
          <a:p>
            <a:r>
              <a:rPr lang="zh-CN" altLang="en-US" sz="2000" b="1" dirty="0">
                <a:solidFill>
                  <a:srgbClr val="FF0000"/>
                </a:solidFill>
                <a:latin typeface="Times New Roman" panose="02020603050405020304" pitchFamily="18" charset="0"/>
                <a:cs typeface="Times New Roman" panose="02020603050405020304" pitchFamily="18" charset="0"/>
              </a:rPr>
              <a:t>通常把</a:t>
            </a:r>
            <a:r>
              <a:rPr lang="en-US" altLang="zh-CN" sz="2000" b="1" dirty="0">
                <a:solidFill>
                  <a:srgbClr val="FF0000"/>
                </a:solidFill>
                <a:latin typeface="Times New Roman" panose="02020603050405020304" pitchFamily="18" charset="0"/>
                <a:cs typeface="Times New Roman" panose="02020603050405020304" pitchFamily="18" charset="0"/>
              </a:rPr>
              <a:t>I/O </a:t>
            </a:r>
            <a:r>
              <a:rPr lang="zh-CN" altLang="en-US" sz="2000" b="1" dirty="0">
                <a:solidFill>
                  <a:srgbClr val="FF0000"/>
                </a:solidFill>
                <a:latin typeface="Times New Roman" panose="02020603050405020304" pitchFamily="18" charset="0"/>
                <a:cs typeface="Times New Roman" panose="02020603050405020304" pitchFamily="18" charset="0"/>
              </a:rPr>
              <a:t>软件组织成四个层次</a:t>
            </a:r>
          </a:p>
        </p:txBody>
      </p:sp>
      <p:cxnSp>
        <p:nvCxnSpPr>
          <p:cNvPr id="11" name="直接箭头连接符 10"/>
          <p:cNvCxnSpPr/>
          <p:nvPr/>
        </p:nvCxnSpPr>
        <p:spPr>
          <a:xfrm flipV="1">
            <a:off x="3788571" y="5434445"/>
            <a:ext cx="1085704" cy="228600"/>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系统的功能、模型和接口</a:t>
            </a:r>
          </a:p>
        </p:txBody>
      </p:sp>
      <p:sp>
        <p:nvSpPr>
          <p:cNvPr id="3" name="内容占位符 2"/>
          <p:cNvSpPr>
            <a:spLocks noGrp="1"/>
          </p:cNvSpPr>
          <p:nvPr>
            <p:ph idx="1"/>
          </p:nvPr>
        </p:nvSpPr>
        <p:spPr>
          <a:xfrm>
            <a:off x="838200" y="1510758"/>
            <a:ext cx="5562600" cy="5347242"/>
          </a:xfrm>
        </p:spPr>
        <p:txBody>
          <a:bodyPr>
            <a:normAutofit/>
          </a:bodyPr>
          <a:lstStyle/>
          <a:p>
            <a:pPr>
              <a:lnSpc>
                <a:spcPct val="120000"/>
              </a:lnSpc>
            </a:pPr>
            <a:r>
              <a:rPr kumimoji="1" lang="en-US" altLang="zh-CN" dirty="0"/>
              <a:t>I/O</a:t>
            </a:r>
            <a:r>
              <a:rPr kumimoji="1" lang="zh-CN" altLang="en-US" dirty="0"/>
              <a:t>系统的层次结构和模型</a:t>
            </a:r>
            <a:endParaRPr kumimoji="1" lang="en-US" altLang="zh-CN" dirty="0"/>
          </a:p>
          <a:p>
            <a:pPr lvl="1">
              <a:buFont typeface="Wingdings" panose="05000000000000000000" pitchFamily="2" charset="2"/>
              <a:buChar char="ü"/>
            </a:pPr>
            <a:r>
              <a:rPr kumimoji="1" lang="en-US" altLang="zh-CN" dirty="0"/>
              <a:t>I/O</a:t>
            </a:r>
            <a:r>
              <a:rPr kumimoji="1" lang="zh-CN" altLang="en-US" dirty="0"/>
              <a:t>系统中各种模块之间的层次视图</a:t>
            </a:r>
            <a:endParaRPr kumimoji="1" lang="en-US" altLang="zh-CN" dirty="0"/>
          </a:p>
          <a:p>
            <a:pPr marL="914400" lvl="2" indent="0" algn="just">
              <a:buNone/>
            </a:pPr>
            <a:r>
              <a:rPr kumimoji="1" lang="zh-CN" altLang="en-US" dirty="0"/>
              <a:t>为了更清晰地描述</a:t>
            </a:r>
            <a:r>
              <a:rPr kumimoji="1" lang="en-US" altLang="zh-CN" dirty="0"/>
              <a:t>I/O</a:t>
            </a:r>
            <a:r>
              <a:rPr kumimoji="1" lang="zh-CN" altLang="en-US" dirty="0"/>
              <a:t>系统中主要模块间的关系，进一步介绍</a:t>
            </a:r>
            <a:r>
              <a:rPr kumimoji="1" lang="en-US" altLang="zh-CN" dirty="0"/>
              <a:t>I/O</a:t>
            </a:r>
            <a:r>
              <a:rPr kumimoji="1" lang="zh-CN" altLang="en-US" dirty="0"/>
              <a:t>系统中各种</a:t>
            </a:r>
            <a:r>
              <a:rPr kumimoji="1" lang="en-US" altLang="zh-CN" dirty="0"/>
              <a:t>I/O</a:t>
            </a:r>
            <a:r>
              <a:rPr kumimoji="1" lang="zh-CN" altLang="en-US" dirty="0"/>
              <a:t>模块之间的层次视图，如右图所示。</a:t>
            </a:r>
            <a:endParaRPr kumimoji="1" lang="en-US" altLang="zh-CN" dirty="0"/>
          </a:p>
          <a:p>
            <a:pPr marL="914400" lvl="2" indent="0" algn="just">
              <a:buNone/>
            </a:pPr>
            <a:r>
              <a:rPr kumimoji="1" lang="en-US" altLang="zh-CN" dirty="0"/>
              <a:t>1)</a:t>
            </a:r>
            <a:r>
              <a:rPr kumimoji="1" lang="en-US" altLang="zh-CN" b="1" dirty="0">
                <a:solidFill>
                  <a:srgbClr val="FF0000"/>
                </a:solidFill>
              </a:rPr>
              <a:t>I/O</a:t>
            </a:r>
            <a:r>
              <a:rPr kumimoji="1" lang="zh-CN" altLang="en-US" b="1" dirty="0">
                <a:solidFill>
                  <a:srgbClr val="FF0000"/>
                </a:solidFill>
              </a:rPr>
              <a:t>系统的上、下接口</a:t>
            </a:r>
            <a:r>
              <a:rPr kumimoji="1" lang="zh-CN" altLang="en-US" dirty="0"/>
              <a:t>：</a:t>
            </a:r>
            <a:r>
              <a:rPr kumimoji="1" lang="en-US" altLang="zh-CN" dirty="0"/>
              <a:t>I/O</a:t>
            </a:r>
            <a:r>
              <a:rPr kumimoji="1" lang="zh-CN" altLang="en-US" dirty="0"/>
              <a:t>系统接口、软件</a:t>
            </a:r>
            <a:r>
              <a:rPr kumimoji="1" lang="en-US" altLang="zh-CN" dirty="0"/>
              <a:t>/</a:t>
            </a:r>
            <a:r>
              <a:rPr kumimoji="1" lang="zh-CN" altLang="en-US" dirty="0"/>
              <a:t>硬件</a:t>
            </a:r>
            <a:r>
              <a:rPr kumimoji="1" lang="en-US" altLang="zh-CN" dirty="0"/>
              <a:t>(RW/HW)</a:t>
            </a:r>
            <a:r>
              <a:rPr kumimoji="1" lang="zh-CN" altLang="en-US" dirty="0"/>
              <a:t>接口。</a:t>
            </a:r>
            <a:endParaRPr kumimoji="1" lang="en-US" altLang="zh-CN" dirty="0"/>
          </a:p>
          <a:p>
            <a:pPr marL="914400" lvl="2" indent="0" algn="just">
              <a:buNone/>
            </a:pPr>
            <a:r>
              <a:rPr kumimoji="1" lang="en-US" altLang="zh-CN" dirty="0"/>
              <a:t>2)</a:t>
            </a:r>
            <a:r>
              <a:rPr kumimoji="1" lang="en-US" altLang="zh-CN" b="1" dirty="0">
                <a:solidFill>
                  <a:srgbClr val="FF0000"/>
                </a:solidFill>
              </a:rPr>
              <a:t>I/O</a:t>
            </a:r>
            <a:r>
              <a:rPr kumimoji="1" lang="zh-CN" altLang="en-US" b="1" dirty="0">
                <a:solidFill>
                  <a:srgbClr val="FF0000"/>
                </a:solidFill>
              </a:rPr>
              <a:t>系统的分层</a:t>
            </a:r>
            <a:r>
              <a:rPr kumimoji="1" lang="zh-CN" altLang="en-US" dirty="0"/>
              <a:t>：中断处理程序、设备驱动程序、设备独立性软件。</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8755" y="2046525"/>
            <a:ext cx="5533225" cy="359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7451437" y="5819979"/>
            <a:ext cx="4153765" cy="400110"/>
          </a:xfrm>
          <a:prstGeom prst="rect">
            <a:avLst/>
          </a:prstGeom>
          <a:noFill/>
        </p:spPr>
        <p:txBody>
          <a:bodyPr wrap="square">
            <a:spAutoFit/>
          </a:bodyPr>
          <a:lstStyle/>
          <a:p>
            <a:r>
              <a:rPr lang="en-US" altLang="zh-CN" sz="2000" b="1" dirty="0">
                <a:solidFill>
                  <a:schemeClr val="tx2">
                    <a:lumMod val="75000"/>
                  </a:schemeClr>
                </a:solidFill>
                <a:latin typeface="Times New Roman" panose="02020603050405020304" pitchFamily="18" charset="0"/>
                <a:cs typeface="Times New Roman" panose="02020603050405020304" pitchFamily="18" charset="0"/>
              </a:rPr>
              <a:t>I/O</a:t>
            </a:r>
            <a:r>
              <a:rPr lang="zh-CN" altLang="en-US" sz="2000" b="1" dirty="0">
                <a:solidFill>
                  <a:schemeClr val="tx2">
                    <a:lumMod val="75000"/>
                  </a:schemeClr>
                </a:solidFill>
                <a:latin typeface="Times New Roman" panose="02020603050405020304" pitchFamily="18" charset="0"/>
                <a:cs typeface="Times New Roman" panose="02020603050405020304" pitchFamily="18" charset="0"/>
              </a:rPr>
              <a:t>系统中各种模块之间的层次视图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系统的功能、模型和接口</a:t>
            </a:r>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en-US" altLang="zh-CN" dirty="0"/>
              <a:t>I/O</a:t>
            </a:r>
            <a:r>
              <a:rPr kumimoji="1" lang="zh-CN" altLang="en-US" dirty="0"/>
              <a:t>系统接口</a:t>
            </a:r>
            <a:endParaRPr kumimoji="1" lang="en-US" altLang="zh-CN" dirty="0"/>
          </a:p>
          <a:p>
            <a:pPr lvl="1">
              <a:buFont typeface="Wingdings" panose="05000000000000000000" pitchFamily="2" charset="2"/>
              <a:buChar char="ü"/>
            </a:pPr>
            <a:r>
              <a:rPr kumimoji="1" lang="zh-CN" altLang="en-US" dirty="0"/>
              <a:t>块设备接口</a:t>
            </a:r>
            <a:endParaRPr kumimoji="1" lang="en-US" altLang="zh-CN" dirty="0"/>
          </a:p>
          <a:p>
            <a:pPr marL="914400" lvl="2" indent="0" algn="just">
              <a:buNone/>
            </a:pPr>
            <a:r>
              <a:rPr kumimoji="1" lang="en-US" altLang="zh-CN" dirty="0"/>
              <a:t>(1)</a:t>
            </a:r>
            <a:r>
              <a:rPr kumimoji="1" lang="zh-CN" altLang="en-US" dirty="0"/>
              <a:t>块设备；</a:t>
            </a:r>
            <a:r>
              <a:rPr kumimoji="1" lang="en-US" altLang="zh-CN" dirty="0"/>
              <a:t>(2)</a:t>
            </a:r>
            <a:r>
              <a:rPr kumimoji="1" lang="zh-CN" altLang="en-US" dirty="0"/>
              <a:t>隐藏了磁盘的二维结构；</a:t>
            </a:r>
            <a:r>
              <a:rPr kumimoji="1" lang="en-US" altLang="zh-CN" dirty="0"/>
              <a:t>(3)</a:t>
            </a:r>
            <a:r>
              <a:rPr kumimoji="1" lang="zh-CN" altLang="en-US" dirty="0"/>
              <a:t>将抽象命令映射为低层操作。</a:t>
            </a:r>
            <a:endParaRPr kumimoji="1" lang="en-US" altLang="zh-CN" dirty="0"/>
          </a:p>
          <a:p>
            <a:pPr lvl="1">
              <a:buFont typeface="Wingdings" panose="05000000000000000000" pitchFamily="2" charset="2"/>
              <a:buChar char="ü"/>
            </a:pPr>
            <a:r>
              <a:rPr kumimoji="1" lang="zh-CN" altLang="en-US" dirty="0"/>
              <a:t>流设备接口</a:t>
            </a:r>
            <a:endParaRPr kumimoji="1" lang="en-US" altLang="zh-CN" dirty="0"/>
          </a:p>
          <a:p>
            <a:pPr marL="914400" lvl="2" indent="0" algn="just">
              <a:buNone/>
            </a:pPr>
            <a:r>
              <a:rPr kumimoji="1" lang="zh-CN" altLang="en-US" dirty="0"/>
              <a:t>流设备接口是流设备管理程序与高层之间的接口。该接口又称为字符设备接口，它反映了大部分字符设备的本质特征，用于控制字符设备的输入或输出。</a:t>
            </a:r>
            <a:endParaRPr kumimoji="1" lang="en-US" altLang="zh-CN" dirty="0"/>
          </a:p>
          <a:p>
            <a:pPr marL="914400" lvl="2" indent="0" algn="just">
              <a:buNone/>
            </a:pPr>
            <a:r>
              <a:rPr kumimoji="1" lang="en-US" altLang="zh-CN" dirty="0"/>
              <a:t>(1)</a:t>
            </a:r>
            <a:r>
              <a:rPr kumimoji="1" lang="zh-CN" altLang="en-US" dirty="0"/>
              <a:t>字符设备；</a:t>
            </a:r>
            <a:r>
              <a:rPr kumimoji="1" lang="en-US" altLang="zh-CN" dirty="0"/>
              <a:t>(2)get</a:t>
            </a:r>
            <a:r>
              <a:rPr kumimoji="1" lang="zh-CN" altLang="en-US" dirty="0"/>
              <a:t>和</a:t>
            </a:r>
            <a:r>
              <a:rPr kumimoji="1" lang="en-US" altLang="zh-CN" dirty="0"/>
              <a:t>put</a:t>
            </a:r>
            <a:r>
              <a:rPr kumimoji="1" lang="zh-CN" altLang="en-US" dirty="0"/>
              <a:t>操作；</a:t>
            </a:r>
            <a:r>
              <a:rPr kumimoji="1" lang="en-US" altLang="zh-CN" dirty="0"/>
              <a:t>(3)in-control</a:t>
            </a:r>
            <a:r>
              <a:rPr kumimoji="1" lang="zh-CN" altLang="en-US" dirty="0"/>
              <a:t>指令。</a:t>
            </a:r>
            <a:endParaRPr kumimoji="1" lang="en-US" altLang="zh-CN" dirty="0"/>
          </a:p>
          <a:p>
            <a:pPr lvl="1">
              <a:lnSpc>
                <a:spcPct val="120000"/>
              </a:lnSpc>
              <a:buFont typeface="Wingdings" panose="05000000000000000000" pitchFamily="2" charset="2"/>
              <a:buChar char="ü"/>
            </a:pPr>
            <a:r>
              <a:rPr kumimoji="1" lang="zh-CN" altLang="en-US" dirty="0"/>
              <a:t>网络通信接口</a:t>
            </a:r>
            <a:endParaRPr kumimoji="1" lang="en-US" altLang="zh-CN" dirty="0"/>
          </a:p>
          <a:p>
            <a:pPr marL="914400" lvl="2" indent="0" algn="just">
              <a:buNone/>
            </a:pPr>
            <a:r>
              <a:rPr kumimoji="1" lang="zh-CN" altLang="en-US" dirty="0"/>
              <a:t>在现代</a:t>
            </a:r>
            <a:r>
              <a:rPr kumimoji="1" lang="en-US" altLang="zh-CN" dirty="0"/>
              <a:t>OS</a:t>
            </a:r>
            <a:r>
              <a:rPr kumimoji="1" lang="zh-CN" altLang="en-US" dirty="0"/>
              <a:t>中，都提供了面向网络的功能。但首先还需要通过某种方式把计算机连接到网络上。同时操作系统也必须提供相应的网络软件和网络通信接口，使计算机能通过网络与网络上的其它计算机进行通信或上网浏览。</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I/O</a:t>
            </a:r>
            <a:r>
              <a:rPr kumimoji="1" lang="zh-CN" altLang="en-US" dirty="0"/>
              <a:t>设备和设备控制器</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665018" y="1629270"/>
            <a:ext cx="10733809" cy="2677656"/>
          </a:xfrm>
          <a:prstGeom prst="rect">
            <a:avLst/>
          </a:prstGeom>
          <a:noFill/>
        </p:spPr>
        <p:txBody>
          <a:bodyPr wrap="square">
            <a:spAutoFit/>
          </a:bodyPr>
          <a:lstStyle/>
          <a:p>
            <a:pPr algn="just"/>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        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设备一般是由执行</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操作的机械部分和执行控制</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的电子部件组成。通常将这两部分分开，执行</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操作的机械部分就是一般的</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设备，而执行控制</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的电子部件则称为设备控制器或适配器</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(adapter)</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。在微型机和小型机中的控制器常做成印刷电路卡形式，因而也常称为控制卡、接口卡或网卡，可将它插入计算机的扩展槽中。在有的大、中型计算机系统中，还配置了</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通道或</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处理机。</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I/O</a:t>
            </a:r>
            <a:r>
              <a:rPr kumimoji="1" lang="zh-CN" altLang="en-US" dirty="0"/>
              <a:t>设备和设备控制器</a:t>
            </a:r>
          </a:p>
        </p:txBody>
      </p:sp>
      <p:sp>
        <p:nvSpPr>
          <p:cNvPr id="3" name="内容占位符 2"/>
          <p:cNvSpPr>
            <a:spLocks noGrp="1"/>
          </p:cNvSpPr>
          <p:nvPr>
            <p:ph idx="1"/>
          </p:nvPr>
        </p:nvSpPr>
        <p:spPr>
          <a:xfrm>
            <a:off x="796494" y="1384990"/>
            <a:ext cx="6196587" cy="5153922"/>
          </a:xfrm>
        </p:spPr>
        <p:txBody>
          <a:bodyPr>
            <a:normAutofit/>
          </a:bodyPr>
          <a:lstStyle/>
          <a:p>
            <a:pPr algn="just">
              <a:lnSpc>
                <a:spcPct val="120000"/>
              </a:lnSpc>
            </a:pPr>
            <a:r>
              <a:rPr kumimoji="1" lang="en-US" altLang="zh-CN" dirty="0"/>
              <a:t>I/O</a:t>
            </a:r>
            <a:r>
              <a:rPr kumimoji="1" lang="zh-CN" altLang="en-US" dirty="0"/>
              <a:t>设备</a:t>
            </a:r>
            <a:endParaRPr kumimoji="1" lang="en-US" altLang="zh-CN" dirty="0"/>
          </a:p>
          <a:p>
            <a:pPr lvl="1" algn="just">
              <a:buFont typeface="Wingdings" panose="05000000000000000000" pitchFamily="2" charset="2"/>
              <a:buChar char="ü"/>
            </a:pPr>
            <a:r>
              <a:rPr kumimoji="1" lang="en-US" altLang="zh-CN" dirty="0"/>
              <a:t>I/O</a:t>
            </a:r>
            <a:r>
              <a:rPr kumimoji="1" lang="zh-CN" altLang="en-US" dirty="0"/>
              <a:t>设备的类型</a:t>
            </a:r>
            <a:endParaRPr kumimoji="1" lang="en-US" altLang="zh-CN" dirty="0"/>
          </a:p>
          <a:p>
            <a:pPr marL="914400" lvl="2" indent="0" algn="just">
              <a:buNone/>
            </a:pPr>
            <a:r>
              <a:rPr kumimoji="1" lang="en-US" altLang="zh-CN" dirty="0"/>
              <a:t>(1)</a:t>
            </a:r>
            <a:r>
              <a:rPr kumimoji="1" lang="zh-CN" altLang="en-US" dirty="0"/>
              <a:t>按使用特性分类：存储设备、输入输出设备；</a:t>
            </a:r>
            <a:r>
              <a:rPr kumimoji="1" lang="en-US" altLang="zh-CN" dirty="0"/>
              <a:t>(2)</a:t>
            </a:r>
            <a:r>
              <a:rPr kumimoji="1" lang="zh-CN" altLang="en-US" dirty="0"/>
              <a:t>按传输速率分类：低速（如键盘）、中速（如打印机）和高速（如磁盘）设备；</a:t>
            </a:r>
            <a:r>
              <a:rPr kumimoji="1" lang="en-US" altLang="zh-CN" dirty="0"/>
              <a:t>(3)</a:t>
            </a:r>
            <a:r>
              <a:rPr kumimoji="1" lang="zh-CN" altLang="en-US" dirty="0"/>
              <a:t>按信息交互单位分类：字符设备、块设备；</a:t>
            </a:r>
            <a:r>
              <a:rPr kumimoji="1" lang="en-US" altLang="zh-CN" dirty="0"/>
              <a:t>(4)</a:t>
            </a:r>
            <a:r>
              <a:rPr kumimoji="1" lang="zh-CN" altLang="en-US" dirty="0"/>
              <a:t>按设备共享属性分类：独占、共享、虚拟设备。</a:t>
            </a:r>
            <a:endParaRPr kumimoji="1" lang="en-US" altLang="zh-CN" dirty="0"/>
          </a:p>
          <a:p>
            <a:pPr lvl="1" algn="just">
              <a:buFont typeface="Wingdings" panose="05000000000000000000" pitchFamily="2" charset="2"/>
              <a:buChar char="ü"/>
            </a:pPr>
            <a:r>
              <a:rPr kumimoji="1" lang="zh-CN" altLang="en-US" dirty="0"/>
              <a:t>设备与控制器之间的接口</a:t>
            </a:r>
            <a:endParaRPr kumimoji="1" lang="en-US" altLang="zh-CN" dirty="0"/>
          </a:p>
          <a:p>
            <a:pPr marL="914400" lvl="2" indent="0" algn="just">
              <a:buNone/>
            </a:pPr>
            <a:r>
              <a:rPr kumimoji="1" lang="zh-CN" altLang="en-US" dirty="0"/>
              <a:t>设备并不直接与</a:t>
            </a:r>
            <a:r>
              <a:rPr kumimoji="1" lang="en-US" altLang="zh-CN" dirty="0"/>
              <a:t>CPU</a:t>
            </a:r>
            <a:r>
              <a:rPr kumimoji="1" lang="zh-CN" altLang="en-US" dirty="0"/>
              <a:t>进行通信，而与设备控制器通信，因此，在</a:t>
            </a:r>
            <a:r>
              <a:rPr kumimoji="1" lang="en-US" altLang="zh-CN" dirty="0"/>
              <a:t>I/O</a:t>
            </a:r>
            <a:r>
              <a:rPr kumimoji="1" lang="zh-CN" altLang="en-US" dirty="0"/>
              <a:t>设备中应含有与设备控制器间的接口，在该接口中有三类信号：</a:t>
            </a:r>
            <a:r>
              <a:rPr lang="zh-CN" altLang="en-US" b="1" dirty="0">
                <a:solidFill>
                  <a:srgbClr val="FF0000"/>
                </a:solidFill>
              </a:rPr>
              <a:t>数据信号线</a:t>
            </a:r>
            <a:r>
              <a:rPr lang="zh-CN" altLang="en-US" dirty="0"/>
              <a:t>、</a:t>
            </a:r>
            <a:r>
              <a:rPr lang="zh-CN" altLang="en-US" b="1" dirty="0">
                <a:solidFill>
                  <a:srgbClr val="FF0000"/>
                </a:solidFill>
              </a:rPr>
              <a:t>控制信号线</a:t>
            </a:r>
            <a:r>
              <a:rPr lang="zh-CN" altLang="en-US" dirty="0"/>
              <a:t>、</a:t>
            </a:r>
            <a:r>
              <a:rPr lang="zh-CN" altLang="en-US" b="1" dirty="0">
                <a:solidFill>
                  <a:srgbClr val="FF0000"/>
                </a:solidFill>
              </a:rPr>
              <a:t>状态信号线</a:t>
            </a:r>
            <a:r>
              <a:rPr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1093" y="2616833"/>
            <a:ext cx="4814454" cy="203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8431693" y="5086162"/>
            <a:ext cx="2795926" cy="400110"/>
          </a:xfrm>
          <a:prstGeom prst="rect">
            <a:avLst/>
          </a:prstGeom>
          <a:noFill/>
        </p:spPr>
        <p:txBody>
          <a:bodyPr wrap="square">
            <a:spAutoFit/>
          </a:bodyPr>
          <a:lstStyle/>
          <a:p>
            <a:r>
              <a:rPr lang="zh-CN" altLang="en-US" sz="2000" b="1" dirty="0">
                <a:solidFill>
                  <a:schemeClr val="bg2">
                    <a:lumMod val="25000"/>
                  </a:schemeClr>
                </a:solidFill>
              </a:rPr>
              <a:t>设备与控制器间的接口</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设备和设备控制器</a:t>
            </a:r>
          </a:p>
        </p:txBody>
      </p:sp>
      <p:sp>
        <p:nvSpPr>
          <p:cNvPr id="3" name="内容占位符 2"/>
          <p:cNvSpPr>
            <a:spLocks noGrp="1"/>
          </p:cNvSpPr>
          <p:nvPr>
            <p:ph idx="1"/>
          </p:nvPr>
        </p:nvSpPr>
        <p:spPr>
          <a:xfrm>
            <a:off x="394855" y="1496291"/>
            <a:ext cx="5569527" cy="5361709"/>
          </a:xfrm>
        </p:spPr>
        <p:txBody>
          <a:bodyPr>
            <a:normAutofit lnSpcReduction="10000"/>
          </a:bodyPr>
          <a:lstStyle/>
          <a:p>
            <a:pPr>
              <a:lnSpc>
                <a:spcPct val="120000"/>
              </a:lnSpc>
            </a:pPr>
            <a:r>
              <a:rPr kumimoji="1" lang="zh-CN" altLang="en-US" dirty="0"/>
              <a:t>设备控制器</a:t>
            </a:r>
            <a:endParaRPr kumimoji="1" lang="en-US" altLang="zh-CN" dirty="0"/>
          </a:p>
          <a:p>
            <a:pPr lvl="1">
              <a:buFont typeface="Wingdings" panose="05000000000000000000" pitchFamily="2" charset="2"/>
              <a:buChar char="ü"/>
            </a:pPr>
            <a:r>
              <a:rPr kumimoji="1" lang="zh-CN" altLang="en-US" dirty="0"/>
              <a:t>设备控制器的基本功能</a:t>
            </a:r>
            <a:endParaRPr kumimoji="1" lang="en-US" altLang="zh-CN" dirty="0"/>
          </a:p>
          <a:p>
            <a:pPr marL="914400" lvl="2" indent="0" algn="just">
              <a:buNone/>
            </a:pPr>
            <a:r>
              <a:rPr kumimoji="1" lang="en-US" altLang="zh-CN" dirty="0"/>
              <a:t>(1)</a:t>
            </a:r>
            <a:r>
              <a:rPr kumimoji="1" lang="zh-CN" altLang="en-US" dirty="0"/>
              <a:t>接收和识别命令；</a:t>
            </a:r>
            <a:r>
              <a:rPr kumimoji="1" lang="en-US" altLang="zh-CN" dirty="0"/>
              <a:t>(2)</a:t>
            </a:r>
            <a:r>
              <a:rPr kumimoji="1" lang="zh-CN" altLang="en-US" dirty="0"/>
              <a:t>数据交换；</a:t>
            </a:r>
            <a:r>
              <a:rPr kumimoji="1" lang="en-US" altLang="zh-CN" dirty="0"/>
              <a:t>(3)</a:t>
            </a:r>
            <a:r>
              <a:rPr lang="zh-CN" altLang="en-US" dirty="0"/>
              <a:t>标识和报告设备的状态；</a:t>
            </a:r>
            <a:r>
              <a:rPr lang="en-US" altLang="zh-CN" dirty="0"/>
              <a:t>(4)</a:t>
            </a:r>
            <a:r>
              <a:rPr lang="zh-CN" altLang="en-US" dirty="0"/>
              <a:t>地址识别；</a:t>
            </a:r>
            <a:r>
              <a:rPr lang="en-US" altLang="zh-CN" dirty="0"/>
              <a:t>(5)</a:t>
            </a:r>
            <a:r>
              <a:rPr lang="zh-CN" altLang="en-US" dirty="0"/>
              <a:t>数据缓冲区；</a:t>
            </a:r>
            <a:r>
              <a:rPr lang="en-US" altLang="zh-CN" dirty="0"/>
              <a:t>(6)</a:t>
            </a:r>
            <a:r>
              <a:rPr lang="zh-CN" altLang="en-US" dirty="0"/>
              <a:t>差错控制</a:t>
            </a:r>
            <a:r>
              <a:rPr kumimoji="1" lang="zh-CN" altLang="en-US" dirty="0"/>
              <a:t>。</a:t>
            </a:r>
            <a:endParaRPr kumimoji="1" lang="en-US" altLang="zh-CN" dirty="0"/>
          </a:p>
          <a:p>
            <a:pPr lvl="1">
              <a:buFont typeface="Wingdings" panose="05000000000000000000" pitchFamily="2" charset="2"/>
              <a:buChar char="ü"/>
            </a:pPr>
            <a:r>
              <a:rPr kumimoji="1" lang="zh-CN" altLang="en-US" dirty="0"/>
              <a:t>设备控制器的组成</a:t>
            </a:r>
            <a:endParaRPr kumimoji="1" lang="en-US" altLang="zh-CN" dirty="0"/>
          </a:p>
          <a:p>
            <a:pPr marL="914400" lvl="2" indent="0" algn="just">
              <a:buNone/>
            </a:pPr>
            <a:r>
              <a:rPr kumimoji="1" lang="zh-CN" altLang="en-US" dirty="0"/>
              <a:t>设备控制器位于</a:t>
            </a:r>
            <a:r>
              <a:rPr kumimoji="1" lang="en-US" altLang="zh-CN" dirty="0"/>
              <a:t>CPU</a:t>
            </a:r>
            <a:r>
              <a:rPr kumimoji="1" lang="zh-CN" altLang="en-US" dirty="0"/>
              <a:t>与设备之间，它既要与</a:t>
            </a:r>
            <a:r>
              <a:rPr kumimoji="1" lang="en-US" altLang="zh-CN" dirty="0"/>
              <a:t>CPU</a:t>
            </a:r>
            <a:r>
              <a:rPr kumimoji="1" lang="zh-CN" altLang="en-US" dirty="0"/>
              <a:t>通信，又要与设备通信，还应具有按照</a:t>
            </a:r>
            <a:r>
              <a:rPr kumimoji="1" lang="en-US" altLang="zh-CN" dirty="0"/>
              <a:t>CPU</a:t>
            </a:r>
            <a:r>
              <a:rPr kumimoji="1" lang="zh-CN" altLang="en-US" dirty="0"/>
              <a:t>所发来的命令去控制设备工作的功能，因此，现有的大多数控制器都是由三部分组成：</a:t>
            </a:r>
            <a:r>
              <a:rPr kumimoji="1" lang="zh-CN" altLang="en-US" b="1" dirty="0">
                <a:solidFill>
                  <a:srgbClr val="FF0000"/>
                </a:solidFill>
              </a:rPr>
              <a:t>设备控制器与处理机的接口</a:t>
            </a:r>
            <a:r>
              <a:rPr kumimoji="1" lang="zh-CN" altLang="en-US" dirty="0"/>
              <a:t>、</a:t>
            </a:r>
            <a:r>
              <a:rPr kumimoji="1" lang="zh-CN" altLang="en-US" b="1" dirty="0">
                <a:solidFill>
                  <a:srgbClr val="FF0000"/>
                </a:solidFill>
              </a:rPr>
              <a:t>设备控制器与设备的接口</a:t>
            </a:r>
            <a:r>
              <a:rPr kumimoji="1" lang="zh-CN" altLang="en-US" dirty="0"/>
              <a:t>、</a:t>
            </a:r>
            <a:r>
              <a:rPr kumimoji="1" lang="en-US" altLang="zh-CN" dirty="0"/>
              <a:t> </a:t>
            </a:r>
            <a:r>
              <a:rPr kumimoji="1" lang="en-US" altLang="zh-CN" b="1" dirty="0">
                <a:solidFill>
                  <a:srgbClr val="FF0000"/>
                </a:solidFill>
              </a:rPr>
              <a:t>I/O</a:t>
            </a:r>
            <a:r>
              <a:rPr kumimoji="1" lang="zh-CN" altLang="en-US" b="1" dirty="0">
                <a:solidFill>
                  <a:srgbClr val="FF0000"/>
                </a:solidFill>
              </a:rPr>
              <a:t>逻辑</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613056"/>
            <a:ext cx="5974901" cy="264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7886330" y="5616860"/>
            <a:ext cx="2394239" cy="400110"/>
          </a:xfrm>
          <a:prstGeom prst="rect">
            <a:avLst/>
          </a:prstGeom>
          <a:noFill/>
        </p:spPr>
        <p:txBody>
          <a:bodyPr wrap="square">
            <a:spAutoFit/>
          </a:bodyPr>
          <a:lstStyle/>
          <a:p>
            <a:r>
              <a:rPr lang="zh-CN" altLang="en-US" sz="2000" b="1" dirty="0">
                <a:solidFill>
                  <a:schemeClr val="bg2">
                    <a:lumMod val="25000"/>
                  </a:schemeClr>
                </a:solidFill>
              </a:rPr>
              <a:t>设备控制器的组成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设备和设备控制器</a:t>
            </a:r>
          </a:p>
        </p:txBody>
      </p:sp>
      <p:sp>
        <p:nvSpPr>
          <p:cNvPr id="3" name="内容占位符 2"/>
          <p:cNvSpPr>
            <a:spLocks noGrp="1"/>
          </p:cNvSpPr>
          <p:nvPr>
            <p:ph idx="1"/>
          </p:nvPr>
        </p:nvSpPr>
        <p:spPr>
          <a:xfrm>
            <a:off x="838200" y="1510758"/>
            <a:ext cx="5645728" cy="5347242"/>
          </a:xfrm>
        </p:spPr>
        <p:txBody>
          <a:bodyPr>
            <a:normAutofit lnSpcReduction="10000"/>
          </a:bodyPr>
          <a:lstStyle/>
          <a:p>
            <a:pPr>
              <a:lnSpc>
                <a:spcPct val="120000"/>
              </a:lnSpc>
            </a:pPr>
            <a:r>
              <a:rPr kumimoji="1" lang="zh-CN" altLang="en-US" dirty="0"/>
              <a:t>内存映像</a:t>
            </a:r>
            <a:r>
              <a:rPr kumimoji="1" lang="en-US" altLang="zh-CN" dirty="0"/>
              <a:t>I/O</a:t>
            </a:r>
          </a:p>
          <a:p>
            <a:pPr lvl="1">
              <a:buFont typeface="Wingdings" panose="05000000000000000000" pitchFamily="2" charset="2"/>
              <a:buChar char="ü"/>
            </a:pPr>
            <a:r>
              <a:rPr kumimoji="1" lang="zh-CN" altLang="en-US" dirty="0"/>
              <a:t>利用特定的</a:t>
            </a:r>
            <a:r>
              <a:rPr kumimoji="1" lang="en-US" altLang="zh-CN" dirty="0"/>
              <a:t>I/O</a:t>
            </a:r>
            <a:r>
              <a:rPr kumimoji="1" lang="zh-CN" altLang="en-US" dirty="0"/>
              <a:t>指令</a:t>
            </a:r>
            <a:endParaRPr kumimoji="1" lang="en-US" altLang="zh-CN" dirty="0"/>
          </a:p>
          <a:p>
            <a:pPr marL="914400" lvl="2" indent="0" algn="just">
              <a:buNone/>
            </a:pPr>
            <a:r>
              <a:rPr kumimoji="1" lang="zh-CN" altLang="en-US" dirty="0"/>
              <a:t>早期计算机中，包括大型计算机，为实现</a:t>
            </a:r>
            <a:r>
              <a:rPr kumimoji="1" lang="en-US" altLang="zh-CN" dirty="0"/>
              <a:t>CPU</a:t>
            </a:r>
            <a:r>
              <a:rPr kumimoji="1" lang="zh-CN" altLang="en-US" dirty="0"/>
              <a:t>和设备控制器之间的通信，每个控制寄存器分配一个</a:t>
            </a:r>
            <a:r>
              <a:rPr kumimoji="1" lang="en-US" altLang="zh-CN" dirty="0"/>
              <a:t>I/O</a:t>
            </a:r>
            <a:r>
              <a:rPr kumimoji="1" lang="zh-CN" altLang="en-US" dirty="0"/>
              <a:t>端口，这是一个</a:t>
            </a:r>
            <a:r>
              <a:rPr kumimoji="1" lang="en-US" altLang="zh-CN" dirty="0"/>
              <a:t>8</a:t>
            </a:r>
            <a:r>
              <a:rPr kumimoji="1" lang="zh-CN" altLang="en-US" dirty="0"/>
              <a:t>位或</a:t>
            </a:r>
            <a:r>
              <a:rPr kumimoji="1" lang="en-US" altLang="zh-CN" dirty="0"/>
              <a:t>16</a:t>
            </a:r>
            <a:r>
              <a:rPr kumimoji="1" lang="zh-CN" altLang="en-US" dirty="0"/>
              <a:t>位的整数，如右图所示。另外还设置了一些特定的</a:t>
            </a:r>
            <a:r>
              <a:rPr kumimoji="1" lang="en-US" altLang="zh-CN" dirty="0"/>
              <a:t>I/O</a:t>
            </a:r>
            <a:r>
              <a:rPr kumimoji="1" lang="zh-CN" altLang="en-US" dirty="0"/>
              <a:t>指令。</a:t>
            </a:r>
            <a:endParaRPr kumimoji="1" lang="en-US" altLang="zh-CN" dirty="0"/>
          </a:p>
          <a:p>
            <a:pPr lvl="1">
              <a:lnSpc>
                <a:spcPct val="120000"/>
              </a:lnSpc>
              <a:buFont typeface="Wingdings" panose="05000000000000000000" pitchFamily="2" charset="2"/>
              <a:buChar char="ü"/>
            </a:pPr>
            <a:r>
              <a:rPr kumimoji="1" lang="zh-CN" altLang="en-US" dirty="0"/>
              <a:t>内存映像</a:t>
            </a:r>
            <a:r>
              <a:rPr kumimoji="1" lang="en-US" altLang="zh-CN" dirty="0"/>
              <a:t>I/O</a:t>
            </a:r>
          </a:p>
          <a:p>
            <a:pPr marL="914400" lvl="2" indent="0" algn="just">
              <a:buNone/>
            </a:pPr>
            <a:r>
              <a:rPr kumimoji="1" lang="zh-CN" altLang="en-US" dirty="0"/>
              <a:t>这种方式在编址上不再区分内存单元地址和设备控制器中的寄存器地址，都采用</a:t>
            </a:r>
            <a:r>
              <a:rPr kumimoji="1" lang="en-US" altLang="zh-CN" i="1" dirty="0"/>
              <a:t>k</a:t>
            </a:r>
            <a:r>
              <a:rPr kumimoji="1" lang="zh-CN" altLang="en-US" dirty="0"/>
              <a:t>。当</a:t>
            </a:r>
            <a:r>
              <a:rPr kumimoji="1" lang="en-US" altLang="zh-CN" i="1" dirty="0"/>
              <a:t>k</a:t>
            </a:r>
            <a:r>
              <a:rPr kumimoji="1" lang="zh-CN" altLang="en-US" dirty="0"/>
              <a:t>值处于</a:t>
            </a:r>
            <a:r>
              <a:rPr kumimoji="1" lang="en-US" altLang="zh-CN" dirty="0"/>
              <a:t>0</a:t>
            </a:r>
            <a:r>
              <a:rPr kumimoji="1" lang="zh-CN" altLang="en-US" dirty="0"/>
              <a:t>～</a:t>
            </a:r>
            <a:r>
              <a:rPr kumimoji="1" lang="en-US" altLang="zh-CN" i="1" dirty="0"/>
              <a:t>n</a:t>
            </a:r>
            <a:r>
              <a:rPr kumimoji="1" lang="en-US" altLang="zh-CN" dirty="0"/>
              <a:t>-1</a:t>
            </a:r>
            <a:r>
              <a:rPr kumimoji="1" lang="zh-CN" altLang="en-US" dirty="0"/>
              <a:t>范围时，被认为是内存地址，若</a:t>
            </a:r>
            <a:r>
              <a:rPr kumimoji="1" lang="en-US" altLang="zh-CN" i="1" dirty="0"/>
              <a:t>k</a:t>
            </a:r>
            <a:r>
              <a:rPr kumimoji="1" lang="zh-CN" altLang="en-US" dirty="0"/>
              <a:t>大于等于</a:t>
            </a:r>
            <a:r>
              <a:rPr kumimoji="1" lang="en-US" altLang="zh-CN" i="1" dirty="0"/>
              <a:t>n</a:t>
            </a:r>
            <a:r>
              <a:rPr kumimoji="1" lang="zh-CN" altLang="en-US" dirty="0"/>
              <a:t>时，被认为是某个控制器的寄存器地址。</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8859" y="1881477"/>
            <a:ext cx="5645728" cy="4083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8369013" y="6189364"/>
            <a:ext cx="1805420" cy="400110"/>
          </a:xfrm>
          <a:prstGeom prst="rect">
            <a:avLst/>
          </a:prstGeom>
          <a:noFill/>
        </p:spPr>
        <p:txBody>
          <a:bodyPr wrap="square">
            <a:spAutoFit/>
          </a:bodyPr>
          <a:lstStyle/>
          <a:p>
            <a:r>
              <a:rPr lang="zh-CN" altLang="en-US" sz="2000" b="1" dirty="0">
                <a:solidFill>
                  <a:schemeClr val="bg2">
                    <a:lumMod val="25000"/>
                  </a:schemeClr>
                </a:solidFill>
              </a:rPr>
              <a:t>设备寻址形式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设备和设备控制器</a:t>
            </a:r>
          </a:p>
        </p:txBody>
      </p:sp>
      <p:sp>
        <p:nvSpPr>
          <p:cNvPr id="3" name="内容占位符 2"/>
          <p:cNvSpPr>
            <a:spLocks noGrp="1"/>
          </p:cNvSpPr>
          <p:nvPr>
            <p:ph idx="1"/>
          </p:nvPr>
        </p:nvSpPr>
        <p:spPr>
          <a:xfrm>
            <a:off x="838199" y="1510758"/>
            <a:ext cx="10799619" cy="5347242"/>
          </a:xfrm>
        </p:spPr>
        <p:txBody>
          <a:bodyPr>
            <a:normAutofit/>
          </a:bodyPr>
          <a:lstStyle/>
          <a:p>
            <a:pPr>
              <a:lnSpc>
                <a:spcPct val="120000"/>
              </a:lnSpc>
            </a:pPr>
            <a:r>
              <a:rPr kumimoji="1" lang="en-US" altLang="zh-CN" dirty="0"/>
              <a:t>I/O</a:t>
            </a:r>
            <a:r>
              <a:rPr kumimoji="1" lang="zh-CN" altLang="en-US" dirty="0"/>
              <a:t>通道</a:t>
            </a:r>
            <a:endParaRPr kumimoji="1" lang="en-US" altLang="zh-CN" dirty="0"/>
          </a:p>
          <a:p>
            <a:pPr lvl="1">
              <a:buFont typeface="Wingdings" panose="05000000000000000000" pitchFamily="2" charset="2"/>
              <a:buChar char="ü"/>
            </a:pPr>
            <a:r>
              <a:rPr kumimoji="1" lang="en-US" altLang="zh-CN" dirty="0"/>
              <a:t>I/O</a:t>
            </a:r>
            <a:r>
              <a:rPr kumimoji="1" lang="zh-CN" altLang="en-US" dirty="0"/>
              <a:t>通道设备的引入</a:t>
            </a:r>
            <a:endParaRPr kumimoji="1" lang="en-US" altLang="zh-CN" dirty="0"/>
          </a:p>
          <a:p>
            <a:pPr marL="914400" lvl="2" indent="0" algn="just">
              <a:buNone/>
            </a:pPr>
            <a:r>
              <a:rPr kumimoji="1" lang="zh-CN" altLang="en-US" dirty="0"/>
              <a:t>在</a:t>
            </a:r>
            <a:r>
              <a:rPr kumimoji="1" lang="en-US" altLang="zh-CN" dirty="0"/>
              <a:t>CPU</a:t>
            </a:r>
            <a:r>
              <a:rPr kumimoji="1" lang="zh-CN" altLang="en-US" dirty="0"/>
              <a:t>与</a:t>
            </a:r>
            <a:r>
              <a:rPr kumimoji="1" lang="en-US" altLang="zh-CN" dirty="0"/>
              <a:t>I/O</a:t>
            </a:r>
            <a:r>
              <a:rPr kumimoji="1" lang="zh-CN" altLang="en-US" dirty="0"/>
              <a:t>设备间增加设备控制器后，虽能大大减少</a:t>
            </a:r>
            <a:r>
              <a:rPr kumimoji="1" lang="en-US" altLang="zh-CN" dirty="0"/>
              <a:t>CPU</a:t>
            </a:r>
            <a:r>
              <a:rPr kumimoji="1" lang="zh-CN" altLang="en-US" dirty="0"/>
              <a:t>对</a:t>
            </a:r>
            <a:r>
              <a:rPr kumimoji="1" lang="en-US" altLang="zh-CN" dirty="0"/>
              <a:t>I/O</a:t>
            </a:r>
            <a:r>
              <a:rPr kumimoji="1" lang="zh-CN" altLang="en-US" dirty="0"/>
              <a:t>的干预，但当主机所配置的外设很多时，</a:t>
            </a:r>
            <a:r>
              <a:rPr kumimoji="1" lang="en-US" altLang="zh-CN" dirty="0"/>
              <a:t>CPU</a:t>
            </a:r>
            <a:r>
              <a:rPr kumimoji="1" lang="zh-CN" altLang="en-US" dirty="0"/>
              <a:t>的负担仍然很重。为此，在</a:t>
            </a:r>
            <a:r>
              <a:rPr kumimoji="1" lang="en-US" altLang="zh-CN" dirty="0"/>
              <a:t>CPU</a:t>
            </a:r>
            <a:r>
              <a:rPr kumimoji="1" lang="zh-CN" altLang="en-US" dirty="0"/>
              <a:t>和设备控制器之间又增设了</a:t>
            </a:r>
            <a:r>
              <a:rPr kumimoji="1" lang="en-US" altLang="zh-CN" dirty="0"/>
              <a:t>I/O</a:t>
            </a:r>
            <a:r>
              <a:rPr kumimoji="1" lang="zh-CN" altLang="en-US" dirty="0"/>
              <a:t>通道</a:t>
            </a:r>
            <a:r>
              <a:rPr kumimoji="1" lang="en-US" altLang="zh-CN" dirty="0"/>
              <a:t>(I/O Channel)</a:t>
            </a:r>
            <a:r>
              <a:rPr kumimoji="1" lang="zh-CN" altLang="en-US" dirty="0"/>
              <a:t>。</a:t>
            </a:r>
            <a:endParaRPr kumimoji="1" lang="en-US" altLang="zh-CN" dirty="0"/>
          </a:p>
          <a:p>
            <a:pPr lvl="1">
              <a:lnSpc>
                <a:spcPct val="120000"/>
              </a:lnSpc>
              <a:buFont typeface="Wingdings" panose="05000000000000000000" pitchFamily="2" charset="2"/>
              <a:buChar char="ü"/>
            </a:pPr>
            <a:r>
              <a:rPr kumimoji="1" lang="zh-CN" altLang="en-US" dirty="0"/>
              <a:t>通道类型</a:t>
            </a:r>
            <a:endParaRPr kumimoji="1" lang="en-US" altLang="zh-CN" dirty="0"/>
          </a:p>
          <a:p>
            <a:pPr marL="914400" lvl="2" indent="0" algn="just">
              <a:buNone/>
            </a:pPr>
            <a:r>
              <a:rPr kumimoji="1" lang="en-US" altLang="zh-CN" dirty="0"/>
              <a:t>1)</a:t>
            </a:r>
            <a:r>
              <a:rPr kumimoji="1" lang="zh-CN" altLang="en-US" dirty="0"/>
              <a:t>字节多路通道</a:t>
            </a:r>
            <a:r>
              <a:rPr kumimoji="1" lang="en-US" altLang="zh-CN" dirty="0"/>
              <a:t>(Byte Multiplexor Channel)</a:t>
            </a:r>
            <a:r>
              <a:rPr kumimoji="1" lang="zh-CN" altLang="en-US" dirty="0"/>
              <a:t>：按字节交叉方式工作的通道。它通常都含有许多非分配型子通道，其数量可从几十到数百个，每一个子通道连接一台</a:t>
            </a:r>
            <a:r>
              <a:rPr kumimoji="1" lang="en-US" altLang="zh-CN" dirty="0"/>
              <a:t>I/O</a:t>
            </a:r>
            <a:r>
              <a:rPr kumimoji="1" lang="zh-CN" altLang="en-US" dirty="0"/>
              <a:t>设备，并控制该设备的</a:t>
            </a:r>
            <a:r>
              <a:rPr kumimoji="1" lang="en-US" altLang="zh-CN" dirty="0"/>
              <a:t>I/O</a:t>
            </a:r>
            <a:r>
              <a:rPr kumimoji="1" lang="zh-CN" altLang="en-US" dirty="0"/>
              <a:t>操作。这些子通道按时间片轮转方式共享主通道。</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设备和设备控制器</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pic>
        <p:nvPicPr>
          <p:cNvPr id="5" name="Picture 4" descr="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775" y="2332472"/>
            <a:ext cx="8563407" cy="319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4491903" y="5831502"/>
            <a:ext cx="3208194" cy="400110"/>
          </a:xfrm>
          <a:prstGeom prst="rect">
            <a:avLst/>
          </a:prstGeom>
          <a:noFill/>
        </p:spPr>
        <p:txBody>
          <a:bodyPr wrap="square">
            <a:spAutoFit/>
          </a:bodyPr>
          <a:lstStyle/>
          <a:p>
            <a:r>
              <a:rPr lang="zh-CN" altLang="en-US" sz="2000" b="1" dirty="0">
                <a:solidFill>
                  <a:schemeClr val="bg2">
                    <a:lumMod val="25000"/>
                  </a:schemeClr>
                </a:solidFill>
              </a:rPr>
              <a:t>字节多路通道的工作原理</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设备和设备控制器</a:t>
            </a:r>
          </a:p>
        </p:txBody>
      </p:sp>
      <p:sp>
        <p:nvSpPr>
          <p:cNvPr id="3" name="内容占位符 2"/>
          <p:cNvSpPr>
            <a:spLocks noGrp="1"/>
          </p:cNvSpPr>
          <p:nvPr>
            <p:ph idx="1"/>
          </p:nvPr>
        </p:nvSpPr>
        <p:spPr>
          <a:xfrm>
            <a:off x="838199" y="1510758"/>
            <a:ext cx="10799619" cy="5347242"/>
          </a:xfrm>
        </p:spPr>
        <p:txBody>
          <a:bodyPr>
            <a:normAutofit/>
          </a:bodyPr>
          <a:lstStyle/>
          <a:p>
            <a:pPr>
              <a:lnSpc>
                <a:spcPct val="120000"/>
              </a:lnSpc>
            </a:pPr>
            <a:r>
              <a:rPr kumimoji="1" lang="en-US" altLang="zh-CN" dirty="0"/>
              <a:t>I/O</a:t>
            </a:r>
            <a:r>
              <a:rPr kumimoji="1" lang="zh-CN" altLang="en-US" dirty="0"/>
              <a:t>通道</a:t>
            </a:r>
            <a:endParaRPr kumimoji="1" lang="en-US" altLang="zh-CN" dirty="0"/>
          </a:p>
          <a:p>
            <a:pPr lvl="1">
              <a:buFont typeface="Wingdings" panose="05000000000000000000" pitchFamily="2" charset="2"/>
              <a:buChar char="ü"/>
            </a:pPr>
            <a:r>
              <a:rPr kumimoji="1" lang="zh-CN" altLang="en-US" dirty="0"/>
              <a:t>通道类型</a:t>
            </a:r>
            <a:endParaRPr kumimoji="1" lang="en-US" altLang="zh-CN" dirty="0"/>
          </a:p>
          <a:p>
            <a:pPr marL="914400" lvl="2" indent="0" algn="just">
              <a:buNone/>
            </a:pPr>
            <a:r>
              <a:rPr kumimoji="1" lang="en-US" altLang="zh-CN" dirty="0"/>
              <a:t>2)</a:t>
            </a:r>
            <a:r>
              <a:rPr kumimoji="1" lang="zh-CN" altLang="en-US" dirty="0"/>
              <a:t>数组选择通道</a:t>
            </a:r>
            <a:r>
              <a:rPr kumimoji="1" lang="en-US" altLang="zh-CN" dirty="0"/>
              <a:t>(Block Selector Channel)</a:t>
            </a:r>
            <a:r>
              <a:rPr kumimoji="1" lang="zh-CN" altLang="en-US" dirty="0"/>
              <a:t>：字节多路通道不适于连接高速设备，这推动了按数组方式进行数据传送的数组选择通道的形成。</a:t>
            </a:r>
            <a:endParaRPr kumimoji="1" lang="en-US" altLang="zh-CN" dirty="0"/>
          </a:p>
          <a:p>
            <a:pPr marL="914400" lvl="2" indent="0" algn="just">
              <a:buNone/>
            </a:pPr>
            <a:r>
              <a:rPr kumimoji="1" lang="en-US" altLang="zh-CN" dirty="0"/>
              <a:t>3)</a:t>
            </a:r>
            <a:r>
              <a:rPr kumimoji="1" lang="zh-CN" altLang="en-US" dirty="0"/>
              <a:t>数组多路通道</a:t>
            </a:r>
            <a:r>
              <a:rPr kumimoji="1" lang="en-US" altLang="zh-CN" dirty="0"/>
              <a:t>(Block Multiplexor Channel)</a:t>
            </a:r>
            <a:r>
              <a:rPr kumimoji="1" lang="zh-CN" altLang="en-US" dirty="0"/>
              <a:t>：数组选择通道虽有很高的传输速率，但它却每次只允许一个设备传输数据。数组多路通道是将数组选择通道传输速率高和字节多路通道能使各子通道</a:t>
            </a:r>
            <a:r>
              <a:rPr kumimoji="1" lang="en-US" altLang="zh-CN" dirty="0"/>
              <a:t>(</a:t>
            </a:r>
            <a:r>
              <a:rPr kumimoji="1" lang="zh-CN" altLang="en-US" dirty="0"/>
              <a:t>设备</a:t>
            </a:r>
            <a:r>
              <a:rPr kumimoji="1" lang="en-US" altLang="zh-CN" dirty="0"/>
              <a:t>)</a:t>
            </a:r>
            <a:r>
              <a:rPr kumimoji="1" lang="zh-CN" altLang="en-US" dirty="0"/>
              <a:t>分时并行操作的优点相结合而形成的一种新通道。</a:t>
            </a:r>
            <a:endParaRPr kumimoji="1" lang="en-US" altLang="zh-CN" dirty="0"/>
          </a:p>
          <a:p>
            <a:pPr lvl="1">
              <a:lnSpc>
                <a:spcPct val="120000"/>
              </a:lnSpc>
              <a:buFont typeface="Wingdings" panose="05000000000000000000" pitchFamily="2" charset="2"/>
              <a:buChar char="ü"/>
            </a:pPr>
            <a:r>
              <a:rPr kumimoji="1" lang="zh-CN" altLang="en-US" dirty="0"/>
              <a:t>“瓶颈”问题</a:t>
            </a:r>
            <a:endParaRPr kumimoji="1" lang="en-US" altLang="zh-CN" dirty="0"/>
          </a:p>
          <a:p>
            <a:pPr marL="914400" lvl="2" indent="0" algn="just">
              <a:buNone/>
            </a:pPr>
            <a:r>
              <a:rPr lang="zh-CN" altLang="en-US" dirty="0"/>
              <a:t>由于通道价格昂贵，致使机器中所设置的通道数量势必较少，这往往又使它成了</a:t>
            </a:r>
            <a:r>
              <a:rPr lang="en-US" altLang="zh-CN" dirty="0"/>
              <a:t>I/O</a:t>
            </a:r>
            <a:r>
              <a:rPr lang="zh-CN" altLang="en-US" dirty="0"/>
              <a:t>的瓶颈，进而造成整个系统吞吐量的下降</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I/O</a:t>
            </a:r>
            <a:r>
              <a:rPr kumimoji="1" lang="zh-CN" altLang="en-US" dirty="0"/>
              <a:t>设备和设备控制器</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pic>
        <p:nvPicPr>
          <p:cNvPr id="5" name="Picture 4" descr="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422" y="2109738"/>
            <a:ext cx="5270213" cy="335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2489055" y="6092764"/>
            <a:ext cx="1867766" cy="400110"/>
          </a:xfrm>
          <a:prstGeom prst="rect">
            <a:avLst/>
          </a:prstGeom>
          <a:noFill/>
        </p:spPr>
        <p:txBody>
          <a:bodyPr wrap="square">
            <a:spAutoFit/>
          </a:bodyPr>
          <a:lstStyle/>
          <a:p>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单通路</a:t>
            </a:r>
            <a:r>
              <a:rPr lang="en-US" altLang="zh-CN" sz="2000" b="1" dirty="0">
                <a:solidFill>
                  <a:schemeClr val="bg2">
                    <a:lumMod val="25000"/>
                  </a:schemeClr>
                </a:solidFill>
                <a:latin typeface="Times New Roman" panose="02020603050405020304" pitchFamily="18" charset="0"/>
                <a:cs typeface="Times New Roman" panose="02020603050405020304" pitchFamily="18" charset="0"/>
              </a:rPr>
              <a:t>I/O</a:t>
            </a:r>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系统</a:t>
            </a:r>
          </a:p>
        </p:txBody>
      </p:sp>
      <p:pic>
        <p:nvPicPr>
          <p:cNvPr id="8" name="Picture 4" descr="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0216" y="2746022"/>
            <a:ext cx="5806929" cy="198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8568170" y="4818294"/>
            <a:ext cx="1857375" cy="400110"/>
          </a:xfrm>
          <a:prstGeom prst="rect">
            <a:avLst/>
          </a:prstGeom>
          <a:noFill/>
        </p:spPr>
        <p:txBody>
          <a:bodyPr wrap="square">
            <a:spAutoFit/>
          </a:bodyPr>
          <a:lstStyle/>
          <a:p>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多通路</a:t>
            </a:r>
            <a:r>
              <a:rPr lang="en-US" altLang="zh-CN" sz="2000" b="1" dirty="0">
                <a:solidFill>
                  <a:schemeClr val="bg2">
                    <a:lumMod val="25000"/>
                  </a:schemeClr>
                </a:solidFill>
                <a:latin typeface="Times New Roman" panose="02020603050405020304" pitchFamily="18" charset="0"/>
                <a:cs typeface="Times New Roman" panose="02020603050405020304" pitchFamily="18" charset="0"/>
              </a:rPr>
              <a:t>I/O</a:t>
            </a:r>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系统</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中断机构和中断处理程序</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665018" y="1629270"/>
            <a:ext cx="10848109" cy="2677656"/>
          </a:xfrm>
          <a:prstGeom prst="rect">
            <a:avLst/>
          </a:prstGeom>
          <a:noFill/>
        </p:spPr>
        <p:txBody>
          <a:bodyPr wrap="square">
            <a:spAutoFit/>
          </a:bodyPr>
          <a:lstStyle/>
          <a:p>
            <a:pPr algn="just"/>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        中断在操作系统中有着特殊重要的地位，它是多道程序得以实现的基础，没有中断，就不可能实现多道程序，因为进程之间的切换是通过中断来完成的。另一方面，中断也是设备管理的基础，为了提高处理机的利用率和实现</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CPU</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与</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设备并行执行，也必需有中断的支持。中断处理程序是</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系统中最低的一层，它是整个</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系统的基础。</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中断机构和中断处理程序</a:t>
            </a:r>
          </a:p>
        </p:txBody>
      </p:sp>
      <p:sp>
        <p:nvSpPr>
          <p:cNvPr id="3" name="内容占位符 2"/>
          <p:cNvSpPr>
            <a:spLocks noGrp="1"/>
          </p:cNvSpPr>
          <p:nvPr>
            <p:ph idx="1"/>
          </p:nvPr>
        </p:nvSpPr>
        <p:spPr>
          <a:xfrm>
            <a:off x="838199" y="1510758"/>
            <a:ext cx="10799619" cy="5347242"/>
          </a:xfrm>
        </p:spPr>
        <p:txBody>
          <a:bodyPr>
            <a:normAutofit/>
          </a:bodyPr>
          <a:lstStyle/>
          <a:p>
            <a:pPr>
              <a:lnSpc>
                <a:spcPct val="120000"/>
              </a:lnSpc>
            </a:pPr>
            <a:r>
              <a:rPr kumimoji="1" lang="zh-CN" altLang="en-US" dirty="0"/>
              <a:t>中断简介</a:t>
            </a:r>
            <a:endParaRPr kumimoji="1" lang="en-US" altLang="zh-CN" dirty="0"/>
          </a:p>
          <a:p>
            <a:pPr lvl="1">
              <a:buFont typeface="Wingdings" panose="05000000000000000000" pitchFamily="2" charset="2"/>
              <a:buChar char="ü"/>
            </a:pPr>
            <a:r>
              <a:rPr kumimoji="1" lang="zh-CN" altLang="en-US" dirty="0"/>
              <a:t>中断和陷入</a:t>
            </a:r>
            <a:endParaRPr kumimoji="1" lang="en-US" altLang="zh-CN" dirty="0"/>
          </a:p>
          <a:p>
            <a:pPr lvl="1">
              <a:lnSpc>
                <a:spcPct val="120000"/>
              </a:lnSpc>
              <a:buFont typeface="Wingdings" panose="05000000000000000000" pitchFamily="2" charset="2"/>
              <a:buChar char="ü"/>
            </a:pPr>
            <a:endParaRPr kumimoji="1" lang="en-US" altLang="zh-CN" dirty="0"/>
          </a:p>
          <a:p>
            <a:pPr lvl="1">
              <a:lnSpc>
                <a:spcPct val="120000"/>
              </a:lnSpc>
              <a:buFont typeface="Wingdings" panose="05000000000000000000" pitchFamily="2" charset="2"/>
              <a:buChar char="ü"/>
            </a:pPr>
            <a:endParaRPr kumimoji="1" lang="en-US" altLang="zh-CN" dirty="0"/>
          </a:p>
          <a:p>
            <a:pPr lvl="1">
              <a:lnSpc>
                <a:spcPct val="120000"/>
              </a:lnSpc>
              <a:buFont typeface="Wingdings" panose="05000000000000000000" pitchFamily="2" charset="2"/>
              <a:buChar char="ü"/>
            </a:pPr>
            <a:endParaRPr kumimoji="1" lang="en-US" altLang="zh-CN" dirty="0"/>
          </a:p>
          <a:p>
            <a:pPr lvl="1">
              <a:lnSpc>
                <a:spcPct val="120000"/>
              </a:lnSpc>
              <a:buFont typeface="Wingdings" panose="05000000000000000000" pitchFamily="2" charset="2"/>
              <a:buChar char="ü"/>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graphicFrame>
        <p:nvGraphicFramePr>
          <p:cNvPr id="5" name="表格 4"/>
          <p:cNvGraphicFramePr>
            <a:graphicFrameLocks noGrp="1"/>
          </p:cNvGraphicFramePr>
          <p:nvPr>
            <p:extLst>
              <p:ext uri="{D42A27DB-BD31-4B8C-83A1-F6EECF244321}">
                <p14:modId xmlns:p14="http://schemas.microsoft.com/office/powerpoint/2010/main" val="3449044176"/>
              </p:ext>
            </p:extLst>
          </p:nvPr>
        </p:nvGraphicFramePr>
        <p:xfrm>
          <a:off x="4480846" y="1448642"/>
          <a:ext cx="7280440" cy="3299153"/>
        </p:xfrm>
        <a:graphic>
          <a:graphicData uri="http://schemas.openxmlformats.org/drawingml/2006/table">
            <a:tbl>
              <a:tblPr/>
              <a:tblGrid>
                <a:gridCol w="1316058">
                  <a:extLst>
                    <a:ext uri="{9D8B030D-6E8A-4147-A177-3AD203B41FA5}">
                      <a16:colId xmlns:a16="http://schemas.microsoft.com/office/drawing/2014/main" val="20000"/>
                    </a:ext>
                  </a:extLst>
                </a:gridCol>
                <a:gridCol w="1596118">
                  <a:extLst>
                    <a:ext uri="{9D8B030D-6E8A-4147-A177-3AD203B41FA5}">
                      <a16:colId xmlns:a16="http://schemas.microsoft.com/office/drawing/2014/main" val="20001"/>
                    </a:ext>
                  </a:extLst>
                </a:gridCol>
                <a:gridCol w="1648584">
                  <a:extLst>
                    <a:ext uri="{9D8B030D-6E8A-4147-A177-3AD203B41FA5}">
                      <a16:colId xmlns:a16="http://schemas.microsoft.com/office/drawing/2014/main" val="20002"/>
                    </a:ext>
                  </a:extLst>
                </a:gridCol>
                <a:gridCol w="1263592">
                  <a:extLst>
                    <a:ext uri="{9D8B030D-6E8A-4147-A177-3AD203B41FA5}">
                      <a16:colId xmlns:a16="http://schemas.microsoft.com/office/drawing/2014/main" val="20003"/>
                    </a:ext>
                  </a:extLst>
                </a:gridCol>
                <a:gridCol w="1456088">
                  <a:extLst>
                    <a:ext uri="{9D8B030D-6E8A-4147-A177-3AD203B41FA5}">
                      <a16:colId xmlns:a16="http://schemas.microsoft.com/office/drawing/2014/main" val="20004"/>
                    </a:ext>
                  </a:extLst>
                </a:gridCol>
              </a:tblGrid>
              <a:tr h="564432">
                <a:tc>
                  <a:txBody>
                    <a:bodyPr/>
                    <a:lstStyle/>
                    <a:p>
                      <a:pPr algn="ctr"/>
                      <a:endParaRPr lang="zh-CN" altLang="en-US" sz="1800" b="1" dirty="0">
                        <a:effectLst/>
                        <a:latin typeface="Times New Roman" panose="02020603050405020304" pitchFamily="18" charset="0"/>
                        <a:ea typeface="+mn-ea"/>
                        <a:cs typeface="Times New Roman" panose="02020603050405020304" pitchFamily="18" charset="0"/>
                      </a:endParaRP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effectLst/>
                          <a:latin typeface="Times New Roman" panose="02020603050405020304" pitchFamily="18" charset="0"/>
                          <a:ea typeface="+mn-ea"/>
                          <a:cs typeface="Times New Roman" panose="02020603050405020304" pitchFamily="18" charset="0"/>
                        </a:rPr>
                        <a:t>类别</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effectLst/>
                          <a:latin typeface="Times New Roman" panose="02020603050405020304" pitchFamily="18" charset="0"/>
                          <a:ea typeface="+mn-ea"/>
                          <a:cs typeface="Times New Roman" panose="02020603050405020304" pitchFamily="18" charset="0"/>
                        </a:rPr>
                        <a:t>原因</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a:effectLst/>
                          <a:latin typeface="Times New Roman" panose="02020603050405020304" pitchFamily="18" charset="0"/>
                          <a:ea typeface="+mn-ea"/>
                          <a:cs typeface="Times New Roman" panose="02020603050405020304" pitchFamily="18" charset="0"/>
                        </a:rPr>
                        <a:t>同步</a:t>
                      </a:r>
                      <a:r>
                        <a:rPr lang="en-US" altLang="zh-CN" sz="1800" b="1">
                          <a:effectLst/>
                          <a:latin typeface="Times New Roman" panose="02020603050405020304" pitchFamily="18" charset="0"/>
                          <a:ea typeface="+mn-ea"/>
                          <a:cs typeface="Times New Roman" panose="02020603050405020304" pitchFamily="18" charset="0"/>
                        </a:rPr>
                        <a:t>/</a:t>
                      </a:r>
                      <a:r>
                        <a:rPr lang="zh-CN" altLang="en-US" sz="1800" b="1">
                          <a:effectLst/>
                          <a:latin typeface="Times New Roman" panose="02020603050405020304" pitchFamily="18" charset="0"/>
                          <a:ea typeface="+mn-ea"/>
                          <a:cs typeface="Times New Roman" panose="02020603050405020304" pitchFamily="18" charset="0"/>
                        </a:rPr>
                        <a:t>异步</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a:effectLst/>
                          <a:latin typeface="Times New Roman" panose="02020603050405020304" pitchFamily="18" charset="0"/>
                          <a:ea typeface="+mn-ea"/>
                          <a:cs typeface="Times New Roman" panose="02020603050405020304" pitchFamily="18" charset="0"/>
                        </a:rPr>
                        <a:t>返回行为</a:t>
                      </a:r>
                    </a:p>
                  </a:txBody>
                  <a:tcPr marL="66953" marR="66953" marT="33477" marB="33477">
                    <a:lnL w="7620" cap="flat" cmpd="sng" algn="ctr">
                      <a:solidFill>
                        <a:srgbClr val="C0C0C0"/>
                      </a:solidFill>
                      <a:prstDash val="solid"/>
                      <a:round/>
                      <a:headEnd type="none" w="med" len="med"/>
                      <a:tailEnd type="none" w="med" len="med"/>
                    </a:lnL>
                    <a:lnB w="7620" cap="flat" cmpd="sng" algn="ctr">
                      <a:solidFill>
                        <a:srgbClr val="C0C0C0"/>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598484">
                <a:tc>
                  <a:txBody>
                    <a:bodyPr/>
                    <a:lstStyle/>
                    <a:p>
                      <a:pPr algn="ctr"/>
                      <a:r>
                        <a:rPr lang="zh-CN" altLang="en-US" sz="1800">
                          <a:effectLst/>
                          <a:latin typeface="Times New Roman" panose="02020603050405020304" pitchFamily="18" charset="0"/>
                          <a:ea typeface="+mn-ea"/>
                          <a:cs typeface="Times New Roman" panose="02020603050405020304" pitchFamily="18" charset="0"/>
                        </a:rPr>
                        <a:t>中断</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中断（</a:t>
                      </a:r>
                      <a:r>
                        <a:rPr lang="en-US" sz="1800" dirty="0">
                          <a:effectLst/>
                          <a:latin typeface="Times New Roman" panose="02020603050405020304" pitchFamily="18" charset="0"/>
                          <a:ea typeface="+mn-ea"/>
                          <a:cs typeface="Times New Roman" panose="02020603050405020304" pitchFamily="18" charset="0"/>
                        </a:rPr>
                        <a:t>interrupt）</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来自</a:t>
                      </a:r>
                      <a:r>
                        <a:rPr lang="en-US" altLang="zh-CN" sz="1800" dirty="0">
                          <a:effectLst/>
                          <a:latin typeface="Times New Roman" panose="02020603050405020304" pitchFamily="18" charset="0"/>
                          <a:ea typeface="+mn-ea"/>
                          <a:cs typeface="Times New Roman" panose="02020603050405020304" pitchFamily="18" charset="0"/>
                        </a:rPr>
                        <a:t>I/O</a:t>
                      </a:r>
                      <a:r>
                        <a:rPr lang="zh-CN" altLang="en-US" sz="1800" dirty="0">
                          <a:effectLst/>
                          <a:latin typeface="Times New Roman" panose="02020603050405020304" pitchFamily="18" charset="0"/>
                          <a:ea typeface="+mn-ea"/>
                          <a:cs typeface="Times New Roman" panose="02020603050405020304" pitchFamily="18" charset="0"/>
                        </a:rPr>
                        <a:t>设备或其他硬件部件</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异步</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总是返回到下一条指令</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7919">
                <a:tc rowSpan="3">
                  <a:txBody>
                    <a:bodyPr/>
                    <a:lstStyle/>
                    <a:p>
                      <a:pPr algn="ctr"/>
                      <a:r>
                        <a:rPr lang="zh-CN" altLang="en-US" sz="1800">
                          <a:effectLst/>
                          <a:latin typeface="Times New Roman" panose="02020603050405020304" pitchFamily="18" charset="0"/>
                          <a:ea typeface="+mn-ea"/>
                          <a:cs typeface="Times New Roman" panose="02020603050405020304" pitchFamily="18" charset="0"/>
                        </a:rPr>
                        <a:t>异常</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陷入</a:t>
                      </a:r>
                      <a:r>
                        <a:rPr lang="en-US" altLang="zh-CN" sz="1800">
                          <a:effectLst/>
                          <a:latin typeface="Times New Roman" panose="02020603050405020304" pitchFamily="18" charset="0"/>
                          <a:ea typeface="+mn-ea"/>
                          <a:cs typeface="Times New Roman" panose="02020603050405020304" pitchFamily="18" charset="0"/>
                        </a:rPr>
                        <a:t>(</a:t>
                      </a:r>
                      <a:r>
                        <a:rPr lang="en-US" sz="1800">
                          <a:effectLst/>
                          <a:latin typeface="Times New Roman" panose="02020603050405020304" pitchFamily="18" charset="0"/>
                          <a:ea typeface="+mn-ea"/>
                          <a:cs typeface="Times New Roman" panose="02020603050405020304" pitchFamily="18" charset="0"/>
                        </a:rPr>
                        <a:t>trap)</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有意识安排的</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同步</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返回到下一条指令</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8982">
                <a:tc vMerge="1">
                  <a:txBody>
                    <a:bodyPr/>
                    <a:lstStyle/>
                    <a:p>
                      <a:endParaRPr lang="zh-CN"/>
                    </a:p>
                  </a:txBody>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故障（</a:t>
                      </a:r>
                      <a:r>
                        <a:rPr lang="en-US" sz="1800">
                          <a:effectLst/>
                          <a:latin typeface="Times New Roman" panose="02020603050405020304" pitchFamily="18" charset="0"/>
                          <a:ea typeface="+mn-ea"/>
                          <a:cs typeface="Times New Roman" panose="02020603050405020304" pitchFamily="18" charset="0"/>
                        </a:rPr>
                        <a:t>fault）</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可恢复的错误</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同步</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返回到当前指令</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0991">
                <a:tc vMerge="1">
                  <a:txBody>
                    <a:bodyPr/>
                    <a:lstStyle/>
                    <a:p>
                      <a:endParaRPr lang="zh-CN"/>
                    </a:p>
                  </a:txBody>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终止（</a:t>
                      </a:r>
                      <a:r>
                        <a:rPr lang="en-US" sz="1800">
                          <a:effectLst/>
                          <a:latin typeface="Times New Roman" panose="02020603050405020304" pitchFamily="18" charset="0"/>
                          <a:ea typeface="+mn-ea"/>
                          <a:cs typeface="Times New Roman" panose="02020603050405020304" pitchFamily="18" charset="0"/>
                        </a:rPr>
                        <a:t>abort）</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a:effectLst/>
                          <a:latin typeface="Times New Roman" panose="02020603050405020304" pitchFamily="18" charset="0"/>
                          <a:ea typeface="+mn-ea"/>
                          <a:cs typeface="Times New Roman" panose="02020603050405020304" pitchFamily="18" charset="0"/>
                        </a:rPr>
                        <a:t>不可恢复的错误</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同步</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tc>
                  <a:txBody>
                    <a:bodyPr/>
                    <a:lstStyle/>
                    <a:p>
                      <a:pPr algn="ctr"/>
                      <a:r>
                        <a:rPr lang="zh-CN" altLang="en-US" sz="1800" dirty="0">
                          <a:effectLst/>
                          <a:latin typeface="Times New Roman" panose="02020603050405020304" pitchFamily="18" charset="0"/>
                          <a:ea typeface="+mn-ea"/>
                          <a:cs typeface="Times New Roman" panose="02020603050405020304" pitchFamily="18" charset="0"/>
                        </a:rPr>
                        <a:t>不会返回</a:t>
                      </a:r>
                    </a:p>
                  </a:txBody>
                  <a:tcPr marL="78112" marR="78112" marT="44635" marB="44635" anchor="ctr">
                    <a:lnL w="7620" cap="flat" cmpd="sng" algn="ctr">
                      <a:solidFill>
                        <a:srgbClr val="C0C0C0"/>
                      </a:solidFill>
                      <a:prstDash val="solid"/>
                      <a:round/>
                      <a:headEnd type="none" w="med" len="med"/>
                      <a:tailEnd type="none" w="med" len="med"/>
                    </a:lnL>
                    <a:lnR w="7620" cap="flat" cmpd="sng" algn="ctr">
                      <a:solidFill>
                        <a:srgbClr val="C0C0C0"/>
                      </a:solidFill>
                      <a:prstDash val="solid"/>
                      <a:round/>
                      <a:headEnd type="none" w="med" len="med"/>
                      <a:tailEnd type="none" w="med" len="med"/>
                    </a:lnR>
                    <a:lnT w="7620" cap="flat" cmpd="sng" algn="ctr">
                      <a:solidFill>
                        <a:srgbClr val="C0C0C0"/>
                      </a:solidFill>
                      <a:prstDash val="solid"/>
                      <a:round/>
                      <a:headEnd type="none" w="med" len="med"/>
                      <a:tailEnd type="none" w="med" len="med"/>
                    </a:lnT>
                    <a:lnB w="7620" cap="flat" cmpd="sng" algn="ctr">
                      <a:solidFill>
                        <a:srgbClr val="C0C0C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1026" name="Picture 2">
            <a:extLst>
              <a:ext uri="{FF2B5EF4-FFF2-40B4-BE49-F238E27FC236}">
                <a16:creationId xmlns:a16="http://schemas.microsoft.com/office/drawing/2014/main" id="{2CE76784-750E-6F55-3365-13EC2B654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3" y="4477923"/>
            <a:ext cx="6229106" cy="23800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中断机构和中断处理程序</a:t>
            </a:r>
          </a:p>
        </p:txBody>
      </p:sp>
      <p:sp>
        <p:nvSpPr>
          <p:cNvPr id="3" name="内容占位符 2"/>
          <p:cNvSpPr>
            <a:spLocks noGrp="1"/>
          </p:cNvSpPr>
          <p:nvPr>
            <p:ph idx="1"/>
          </p:nvPr>
        </p:nvSpPr>
        <p:spPr>
          <a:xfrm>
            <a:off x="838199" y="1510758"/>
            <a:ext cx="10799619" cy="5347242"/>
          </a:xfrm>
        </p:spPr>
        <p:txBody>
          <a:bodyPr>
            <a:normAutofit/>
          </a:bodyPr>
          <a:lstStyle/>
          <a:p>
            <a:pPr>
              <a:lnSpc>
                <a:spcPct val="120000"/>
              </a:lnSpc>
            </a:pPr>
            <a:r>
              <a:rPr kumimoji="1" lang="zh-CN" altLang="en-US" dirty="0"/>
              <a:t>中断简介</a:t>
            </a:r>
            <a:endParaRPr kumimoji="1" lang="en-US" altLang="zh-CN" dirty="0"/>
          </a:p>
          <a:p>
            <a:pPr lvl="1">
              <a:buFont typeface="Wingdings" panose="05000000000000000000" pitchFamily="2" charset="2"/>
              <a:buChar char="ü"/>
            </a:pPr>
            <a:r>
              <a:rPr kumimoji="1" lang="zh-CN" altLang="en-US" dirty="0"/>
              <a:t>中断向量表和中断优先级</a:t>
            </a:r>
            <a:endParaRPr kumimoji="1" lang="en-US" altLang="zh-CN" dirty="0"/>
          </a:p>
          <a:p>
            <a:pPr marL="914400" lvl="2" indent="0" algn="just">
              <a:buNone/>
            </a:pPr>
            <a:r>
              <a:rPr kumimoji="1" lang="en-US" altLang="zh-CN" dirty="0"/>
              <a:t>1)</a:t>
            </a:r>
            <a:r>
              <a:rPr kumimoji="1" lang="zh-CN" altLang="en-US" dirty="0"/>
              <a:t>中断向量表：把系统中所有的中断类型码及其对应的中断向量按一定的规律存放在一个区域内，这个存储区域就叫中断向量表。</a:t>
            </a:r>
            <a:endParaRPr kumimoji="1" lang="en-US" altLang="zh-CN" dirty="0"/>
          </a:p>
          <a:p>
            <a:pPr marL="914400" lvl="2" indent="0" algn="just">
              <a:buNone/>
            </a:pPr>
            <a:r>
              <a:rPr kumimoji="1" lang="en-US" altLang="zh-CN" dirty="0"/>
              <a:t>2)</a:t>
            </a:r>
            <a:r>
              <a:rPr kumimoji="1" lang="zh-CN" altLang="en-US" dirty="0"/>
              <a:t>中断优先级：</a:t>
            </a:r>
            <a:r>
              <a:rPr kumimoji="1" lang="en-US" altLang="zh-CN" dirty="0"/>
              <a:t>CPU</a:t>
            </a:r>
            <a:r>
              <a:rPr kumimoji="1" lang="zh-CN" altLang="en-US" dirty="0"/>
              <a:t>响应中断的先后顺序。</a:t>
            </a:r>
            <a:endParaRPr kumimoji="1" lang="en-US" altLang="zh-CN" dirty="0"/>
          </a:p>
          <a:p>
            <a:pPr lvl="1">
              <a:lnSpc>
                <a:spcPct val="120000"/>
              </a:lnSpc>
              <a:buFont typeface="Wingdings" panose="05000000000000000000" pitchFamily="2" charset="2"/>
              <a:buChar char="ü"/>
            </a:pPr>
            <a:r>
              <a:rPr kumimoji="1" lang="zh-CN" altLang="en-US" dirty="0"/>
              <a:t>对多中断源的处理方式</a:t>
            </a:r>
            <a:endParaRPr kumimoji="1" lang="en-US" altLang="zh-CN" dirty="0"/>
          </a:p>
          <a:p>
            <a:pPr marL="914400" lvl="2" indent="0" algn="just">
              <a:buNone/>
            </a:pPr>
            <a:r>
              <a:rPr lang="en-US" altLang="zh-CN" dirty="0"/>
              <a:t>1)</a:t>
            </a:r>
            <a:r>
              <a:rPr lang="zh-CN" altLang="en-US" dirty="0"/>
              <a:t>屏蔽</a:t>
            </a:r>
            <a:r>
              <a:rPr lang="en-US" altLang="zh-CN" dirty="0"/>
              <a:t>(</a:t>
            </a:r>
            <a:r>
              <a:rPr lang="zh-CN" altLang="en-US" dirty="0"/>
              <a:t>禁止</a:t>
            </a:r>
            <a:r>
              <a:rPr lang="en-US" altLang="zh-CN" dirty="0"/>
              <a:t>)</a:t>
            </a:r>
            <a:r>
              <a:rPr lang="zh-CN" altLang="en-US" dirty="0"/>
              <a:t>中断</a:t>
            </a:r>
            <a:endParaRPr lang="en-US" altLang="zh-CN" dirty="0"/>
          </a:p>
          <a:p>
            <a:pPr marL="914400" lvl="2" indent="0" algn="just">
              <a:buNone/>
            </a:pPr>
            <a:r>
              <a:rPr kumimoji="1" lang="en-US" altLang="zh-CN" dirty="0"/>
              <a:t>2)</a:t>
            </a:r>
            <a:r>
              <a:rPr lang="zh-CN" altLang="en-US" dirty="0"/>
              <a:t>嵌套中断</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1122" y="3966495"/>
            <a:ext cx="5710751" cy="247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7370106" y="6440398"/>
            <a:ext cx="2532784" cy="400110"/>
          </a:xfrm>
          <a:prstGeom prst="rect">
            <a:avLst/>
          </a:prstGeom>
          <a:noFill/>
        </p:spPr>
        <p:txBody>
          <a:bodyPr wrap="square">
            <a:spAutoFit/>
          </a:bodyPr>
          <a:lstStyle/>
          <a:p>
            <a:r>
              <a:rPr lang="zh-CN" altLang="en-US" sz="2000" b="1" dirty="0">
                <a:solidFill>
                  <a:schemeClr val="bg2">
                    <a:lumMod val="25000"/>
                  </a:schemeClr>
                </a:solidFill>
              </a:rPr>
              <a:t>对多中断的处理方式</a:t>
            </a:r>
          </a:p>
        </p:txBody>
      </p:sp>
      <p:sp>
        <p:nvSpPr>
          <p:cNvPr id="8" name="文本框 7"/>
          <p:cNvSpPr txBox="1"/>
          <p:nvPr/>
        </p:nvSpPr>
        <p:spPr>
          <a:xfrm>
            <a:off x="6886828" y="1313447"/>
            <a:ext cx="4910317" cy="1015663"/>
          </a:xfrm>
          <a:prstGeom prst="rect">
            <a:avLst/>
          </a:prstGeom>
          <a:noFill/>
          <a:ln w="28575">
            <a:solidFill>
              <a:schemeClr val="tx1"/>
            </a:solidFill>
          </a:ln>
        </p:spPr>
        <p:txBody>
          <a:bodyPr wrap="square">
            <a:spAutoFit/>
          </a:bodyPr>
          <a:lstStyle/>
          <a:p>
            <a:r>
              <a:rPr lang="en-US" altLang="zh-CN" sz="2000" b="1" i="0" dirty="0">
                <a:solidFill>
                  <a:srgbClr val="FF0000"/>
                </a:solidFill>
                <a:effectLst/>
                <a:latin typeface="Times New Roman" panose="02020603050405020304" pitchFamily="18" charset="0"/>
                <a:cs typeface="Times New Roman" panose="02020603050405020304" pitchFamily="18" charset="0"/>
              </a:rPr>
              <a:t>CPU</a:t>
            </a:r>
            <a:r>
              <a:rPr lang="zh-CN" altLang="en-US" sz="2000" b="1" i="0" dirty="0">
                <a:solidFill>
                  <a:srgbClr val="FF0000"/>
                </a:solidFill>
                <a:effectLst/>
                <a:latin typeface="Times New Roman" panose="02020603050405020304" pitchFamily="18" charset="0"/>
                <a:cs typeface="Times New Roman" panose="02020603050405020304" pitchFamily="18" charset="0"/>
              </a:rPr>
              <a:t>内部引发的中断称作内中断，外部引发的中断称为外中断。而外中断源分为以下两类：可屏蔽中断、不可屏蔽中断。</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中断机构和中断处理程序</a:t>
            </a:r>
          </a:p>
        </p:txBody>
      </p:sp>
      <p:sp>
        <p:nvSpPr>
          <p:cNvPr id="3" name="内容占位符 2"/>
          <p:cNvSpPr>
            <a:spLocks noGrp="1"/>
          </p:cNvSpPr>
          <p:nvPr>
            <p:ph idx="1"/>
          </p:nvPr>
        </p:nvSpPr>
        <p:spPr>
          <a:xfrm>
            <a:off x="838199" y="1510758"/>
            <a:ext cx="10799619" cy="5347242"/>
          </a:xfrm>
        </p:spPr>
        <p:txBody>
          <a:bodyPr>
            <a:normAutofit/>
          </a:bodyPr>
          <a:lstStyle/>
          <a:p>
            <a:pPr>
              <a:lnSpc>
                <a:spcPct val="120000"/>
              </a:lnSpc>
            </a:pPr>
            <a:r>
              <a:rPr kumimoji="1" lang="zh-CN" altLang="en-US" dirty="0"/>
              <a:t>中断处理程序 </a:t>
            </a:r>
            <a:endParaRPr kumimoji="1" lang="en-US" altLang="zh-CN" dirty="0"/>
          </a:p>
          <a:p>
            <a:pPr marL="457200" lvl="1" indent="0" algn="just">
              <a:buNone/>
            </a:pPr>
            <a:r>
              <a:rPr kumimoji="1" lang="zh-CN" altLang="en-US" sz="2000" dirty="0"/>
              <a:t>当一个进程请求</a:t>
            </a:r>
            <a:r>
              <a:rPr kumimoji="1" lang="en-US" altLang="zh-CN" sz="2000" dirty="0"/>
              <a:t>I/O </a:t>
            </a:r>
            <a:r>
              <a:rPr kumimoji="1" lang="zh-CN" altLang="en-US" sz="2000" dirty="0"/>
              <a:t>操作时，该进程将被挂起，直到</a:t>
            </a:r>
            <a:r>
              <a:rPr kumimoji="1" lang="en-US" altLang="zh-CN" sz="2000" dirty="0"/>
              <a:t>I/O</a:t>
            </a:r>
            <a:r>
              <a:rPr kumimoji="1" lang="zh-CN" altLang="en-US" sz="2000" dirty="0"/>
              <a:t>设备完成</a:t>
            </a:r>
            <a:r>
              <a:rPr kumimoji="1" lang="en-US" altLang="zh-CN" sz="2000" dirty="0"/>
              <a:t>I/O</a:t>
            </a:r>
            <a:r>
              <a:rPr kumimoji="1" lang="zh-CN" altLang="en-US" sz="2000" dirty="0"/>
              <a:t>操作后，设备控制器便向</a:t>
            </a:r>
            <a:r>
              <a:rPr kumimoji="1" lang="en-US" altLang="zh-CN" sz="2000" dirty="0"/>
              <a:t>CPU</a:t>
            </a:r>
            <a:r>
              <a:rPr kumimoji="1" lang="zh-CN" altLang="en-US" sz="2000" dirty="0"/>
              <a:t>发送一个中断请求，</a:t>
            </a:r>
            <a:r>
              <a:rPr kumimoji="1" lang="en-US" altLang="zh-CN" sz="2000" dirty="0"/>
              <a:t>CPU</a:t>
            </a:r>
            <a:r>
              <a:rPr kumimoji="1" lang="zh-CN" altLang="en-US" sz="2000" dirty="0"/>
              <a:t>响应后便转向中断处理程序，中断处理程序执行相应的处理，处理完后解除相应进程的阻塞状态。</a:t>
            </a:r>
            <a:endParaRPr kumimoji="1" lang="en-US" altLang="zh-CN" sz="20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379" y="3285817"/>
            <a:ext cx="5692776" cy="3083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2393661" y="6413359"/>
            <a:ext cx="2730211" cy="400110"/>
          </a:xfrm>
          <a:prstGeom prst="rect">
            <a:avLst/>
          </a:prstGeom>
          <a:noFill/>
        </p:spPr>
        <p:txBody>
          <a:bodyPr wrap="square">
            <a:spAutoFit/>
          </a:bodyPr>
          <a:lstStyle/>
          <a:p>
            <a:r>
              <a:rPr lang="zh-CN" altLang="en-US" sz="2000" b="1" dirty="0">
                <a:solidFill>
                  <a:schemeClr val="bg2">
                    <a:lumMod val="25000"/>
                  </a:schemeClr>
                </a:solidFill>
              </a:rPr>
              <a:t>中断现场保护示意图</a:t>
            </a:r>
          </a:p>
        </p:txBody>
      </p:sp>
      <p:sp>
        <p:nvSpPr>
          <p:cNvPr id="10" name="文本框 9"/>
          <p:cNvSpPr txBox="1"/>
          <p:nvPr/>
        </p:nvSpPr>
        <p:spPr>
          <a:xfrm>
            <a:off x="9053945" y="3285817"/>
            <a:ext cx="2089295" cy="1323439"/>
          </a:xfrm>
          <a:prstGeom prst="rect">
            <a:avLst/>
          </a:prstGeom>
          <a:noFill/>
          <a:ln w="19050">
            <a:solidFill>
              <a:schemeClr val="tx1"/>
            </a:solidFill>
          </a:ln>
        </p:spPr>
        <p:txBody>
          <a:bodyPr wrap="square">
            <a:spAutoFit/>
          </a:bodyPr>
          <a:lstStyle/>
          <a:p>
            <a:r>
              <a:rPr lang="en-US" altLang="zh-CN" sz="2000" b="1" i="0" dirty="0">
                <a:solidFill>
                  <a:srgbClr val="FF0000"/>
                </a:solidFill>
                <a:effectLst/>
                <a:latin typeface="Times New Roman" panose="02020603050405020304" pitchFamily="18" charset="0"/>
                <a:cs typeface="Times New Roman" panose="02020603050405020304" pitchFamily="18" charset="0"/>
              </a:rPr>
              <a:t>AX:</a:t>
            </a:r>
            <a:r>
              <a:rPr lang="zh-CN" altLang="en-US" sz="2000" b="1" i="0" dirty="0">
                <a:solidFill>
                  <a:srgbClr val="FF0000"/>
                </a:solidFill>
                <a:effectLst/>
                <a:latin typeface="Times New Roman" panose="02020603050405020304" pitchFamily="18" charset="0"/>
                <a:cs typeface="Times New Roman" panose="02020603050405020304" pitchFamily="18" charset="0"/>
              </a:rPr>
              <a:t>累积暂存器，</a:t>
            </a:r>
            <a:r>
              <a:rPr lang="en-US" altLang="zh-CN" sz="2000" b="1" i="0" dirty="0">
                <a:solidFill>
                  <a:srgbClr val="FF0000"/>
                </a:solidFill>
                <a:effectLst/>
                <a:latin typeface="Times New Roman" panose="02020603050405020304" pitchFamily="18" charset="0"/>
                <a:cs typeface="Times New Roman" panose="02020603050405020304" pitchFamily="18" charset="0"/>
              </a:rPr>
              <a:t>BX:</a:t>
            </a:r>
            <a:r>
              <a:rPr lang="zh-CN" altLang="en-US" sz="2000" b="1" i="0" dirty="0">
                <a:solidFill>
                  <a:srgbClr val="FF0000"/>
                </a:solidFill>
                <a:effectLst/>
                <a:latin typeface="Times New Roman" panose="02020603050405020304" pitchFamily="18" charset="0"/>
                <a:cs typeface="Times New Roman" panose="02020603050405020304" pitchFamily="18" charset="0"/>
              </a:rPr>
              <a:t>基底暂存器，</a:t>
            </a:r>
            <a:r>
              <a:rPr lang="en-US" altLang="zh-CN" sz="2000" b="1" i="0" dirty="0">
                <a:solidFill>
                  <a:srgbClr val="FF0000"/>
                </a:solidFill>
                <a:effectLst/>
                <a:latin typeface="Times New Roman" panose="02020603050405020304" pitchFamily="18" charset="0"/>
                <a:cs typeface="Times New Roman" panose="02020603050405020304" pitchFamily="18" charset="0"/>
              </a:rPr>
              <a:t>CX:</a:t>
            </a:r>
            <a:r>
              <a:rPr lang="zh-CN" altLang="en-US" sz="2000" b="1" i="0" dirty="0">
                <a:solidFill>
                  <a:srgbClr val="FF0000"/>
                </a:solidFill>
                <a:effectLst/>
                <a:latin typeface="Times New Roman" panose="02020603050405020304" pitchFamily="18" charset="0"/>
                <a:cs typeface="Times New Roman" panose="02020603050405020304" pitchFamily="18" charset="0"/>
              </a:rPr>
              <a:t>计数暂存器，</a:t>
            </a:r>
            <a:r>
              <a:rPr lang="en-US" altLang="zh-CN" sz="2000" b="1" i="0" dirty="0">
                <a:solidFill>
                  <a:srgbClr val="FF0000"/>
                </a:solidFill>
                <a:effectLst/>
                <a:latin typeface="Times New Roman" panose="02020603050405020304" pitchFamily="18" charset="0"/>
                <a:cs typeface="Times New Roman" panose="02020603050405020304" pitchFamily="18" charset="0"/>
              </a:rPr>
              <a:t>DX:</a:t>
            </a:r>
            <a:r>
              <a:rPr lang="zh-CN" altLang="en-US" sz="2000" b="1" i="0" dirty="0">
                <a:solidFill>
                  <a:srgbClr val="FF0000"/>
                </a:solidFill>
                <a:effectLst/>
                <a:latin typeface="Times New Roman" panose="02020603050405020304" pitchFamily="18" charset="0"/>
                <a:cs typeface="Times New Roman" panose="02020603050405020304" pitchFamily="18" charset="0"/>
              </a:rPr>
              <a:t>资料暂存器</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中断机构和中断处理程序</a:t>
            </a:r>
          </a:p>
        </p:txBody>
      </p:sp>
      <p:sp>
        <p:nvSpPr>
          <p:cNvPr id="3" name="内容占位符 2"/>
          <p:cNvSpPr>
            <a:spLocks noGrp="1"/>
          </p:cNvSpPr>
          <p:nvPr>
            <p:ph idx="1"/>
          </p:nvPr>
        </p:nvSpPr>
        <p:spPr>
          <a:xfrm>
            <a:off x="838199" y="1510758"/>
            <a:ext cx="10799619" cy="5347242"/>
          </a:xfrm>
        </p:spPr>
        <p:txBody>
          <a:bodyPr>
            <a:normAutofit/>
          </a:bodyPr>
          <a:lstStyle/>
          <a:p>
            <a:pPr>
              <a:lnSpc>
                <a:spcPct val="120000"/>
              </a:lnSpc>
            </a:pPr>
            <a:r>
              <a:rPr kumimoji="1" lang="zh-CN" altLang="en-US" dirty="0"/>
              <a:t>中断处理程序 </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descr="6-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914" y="1810038"/>
            <a:ext cx="5234370" cy="468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7280129" y="6531551"/>
            <a:ext cx="1795030" cy="400110"/>
          </a:xfrm>
          <a:prstGeom prst="rect">
            <a:avLst/>
          </a:prstGeom>
          <a:noFill/>
        </p:spPr>
        <p:txBody>
          <a:bodyPr wrap="square">
            <a:spAutoFit/>
          </a:bodyPr>
          <a:lstStyle/>
          <a:p>
            <a:r>
              <a:rPr lang="zh-CN" altLang="en-US" sz="2000" b="1" dirty="0">
                <a:solidFill>
                  <a:schemeClr val="bg2">
                    <a:lumMod val="25000"/>
                  </a:schemeClr>
                </a:solidFill>
              </a:rPr>
              <a:t>中断处理流程</a:t>
            </a:r>
          </a:p>
        </p:txBody>
      </p:sp>
      <p:sp>
        <p:nvSpPr>
          <p:cNvPr id="7" name="文本框 6"/>
          <p:cNvSpPr txBox="1"/>
          <p:nvPr/>
        </p:nvSpPr>
        <p:spPr>
          <a:xfrm>
            <a:off x="1307508" y="2104899"/>
            <a:ext cx="3474027" cy="4708981"/>
          </a:xfrm>
          <a:prstGeom prst="rect">
            <a:avLst/>
          </a:prstGeom>
          <a:noFill/>
          <a:ln w="19050">
            <a:solidFill>
              <a:schemeClr val="tx1"/>
            </a:solidFill>
          </a:ln>
        </p:spPr>
        <p:txBody>
          <a:bodyPr wrap="square">
            <a:spAutoFit/>
          </a:bodyPr>
          <a:lstStyle/>
          <a:p>
            <a:pPr algn="just"/>
            <a:r>
              <a:rPr lang="zh-CN" altLang="en-US" sz="2000" dirty="0">
                <a:latin typeface="Times New Roman" panose="02020603050405020304" pitchFamily="18" charset="0"/>
                <a:cs typeface="Times New Roman" panose="02020603050405020304" pitchFamily="18" charset="0"/>
              </a:rPr>
              <a:t>Linux系统调用通过</a:t>
            </a:r>
            <a:r>
              <a:rPr lang="en-US" altLang="zh-CN" sz="2000" dirty="0">
                <a:latin typeface="Times New Roman" panose="02020603050405020304" pitchFamily="18" charset="0"/>
                <a:cs typeface="Times New Roman" panose="02020603050405020304" pitchFamily="18" charset="0"/>
              </a:rPr>
              <a:t>INT</a:t>
            </a:r>
            <a:r>
              <a:rPr lang="zh-CN" altLang="en-US" sz="2000" dirty="0">
                <a:latin typeface="Times New Roman" panose="02020603050405020304" pitchFamily="18" charset="0"/>
                <a:cs typeface="Times New Roman" panose="02020603050405020304" pitchFamily="18" charset="0"/>
              </a:rPr>
              <a:t> 80</a:t>
            </a:r>
            <a:r>
              <a:rPr lang="en-US" altLang="zh-CN" sz="2000" dirty="0">
                <a:latin typeface="Times New Roman" panose="02020603050405020304" pitchFamily="18" charset="0"/>
                <a:cs typeface="Times New Roman" panose="02020603050405020304" pitchFamily="18" charset="0"/>
              </a:rPr>
              <a:t>H</a:t>
            </a:r>
            <a:r>
              <a:rPr lang="zh-CN" altLang="en-US" sz="2000" dirty="0">
                <a:latin typeface="Times New Roman" panose="02020603050405020304" pitchFamily="18" charset="0"/>
                <a:cs typeface="Times New Roman" panose="02020603050405020304" pitchFamily="18" charset="0"/>
              </a:rPr>
              <a:t>实现，用系统调用号来区分入口函数。操作系统实现</a:t>
            </a:r>
            <a:r>
              <a:rPr lang="zh-CN" altLang="en-US" sz="2000" b="1" dirty="0">
                <a:solidFill>
                  <a:srgbClr val="FF0000"/>
                </a:solidFill>
                <a:latin typeface="Times New Roman" panose="02020603050405020304" pitchFamily="18" charset="0"/>
                <a:cs typeface="Times New Roman" panose="02020603050405020304" pitchFamily="18" charset="0"/>
              </a:rPr>
              <a:t>系统调用的基本过程</a:t>
            </a:r>
            <a:r>
              <a:rPr lang="zh-CN" altLang="en-US" sz="2000" dirty="0">
                <a:latin typeface="Times New Roman" panose="02020603050405020304" pitchFamily="18" charset="0"/>
                <a:cs typeface="Times New Roman" panose="02020603050405020304" pitchFamily="18" charset="0"/>
              </a:rPr>
              <a:t>： 应用程序调用库函数</a:t>
            </a:r>
            <a:r>
              <a:rPr lang="en-US" altLang="zh-CN" sz="2000" dirty="0">
                <a:latin typeface="Times New Roman" panose="02020603050405020304" pitchFamily="18" charset="0"/>
                <a:cs typeface="Times New Roman" panose="02020603050405020304" pitchFamily="18" charset="0"/>
              </a:rPr>
              <a:t>(API)</a:t>
            </a:r>
            <a:r>
              <a:rPr lang="zh-CN" altLang="en-US" sz="2000" dirty="0">
                <a:latin typeface="Times New Roman" panose="02020603050405020304" pitchFamily="18" charset="0"/>
                <a:cs typeface="Times New Roman" panose="02020603050405020304" pitchFamily="18" charset="0"/>
              </a:rPr>
              <a:t>；API将系统调用号存入EAX，然后通过中断调用使系统进入内核态；内核中的中断处理函数根据系统调用号，调用对应的内核函数</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系统调用</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；系统调用完成相应功能，将返回值存入EAX，返回到中断处理函数；中断处理函数返回到API中；API将EAX返回给应用程序。</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设备驱动程序</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665018" y="1629270"/>
            <a:ext cx="10848109" cy="3108543"/>
          </a:xfrm>
          <a:prstGeom prst="rect">
            <a:avLst/>
          </a:prstGeom>
          <a:noFill/>
        </p:spPr>
        <p:txBody>
          <a:bodyPr wrap="square">
            <a:spAutoFit/>
          </a:bodyPr>
          <a:lstStyle/>
          <a:p>
            <a:pPr algn="just"/>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        设备处理程序通常又称为设备驱动程序，它是</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系统的高层与设备控制器之间的通信程序，其主要任务是接收上层软件发来的抽象</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要求，如</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read</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或</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write</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命令，再把它转换为具体要求后，发送给设备控制器，启动设备去执行；反之，它也将由设备控制器发来的信号传送给上层软件。由于驱动程序与硬件密切相关，故通常应为每一类设备配置一种驱动程序。例如，打印机和显示器需要不同的驱动程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199" y="1510758"/>
            <a:ext cx="10799619" cy="5347242"/>
          </a:xfrm>
        </p:spPr>
        <p:txBody>
          <a:bodyPr>
            <a:normAutofit/>
          </a:bodyPr>
          <a:lstStyle/>
          <a:p>
            <a:pPr>
              <a:lnSpc>
                <a:spcPct val="120000"/>
              </a:lnSpc>
            </a:pPr>
            <a:r>
              <a:rPr kumimoji="1" lang="zh-CN" altLang="en-US" dirty="0"/>
              <a:t>设备驱动程序概述</a:t>
            </a:r>
            <a:endParaRPr kumimoji="1" lang="en-US" altLang="zh-CN" dirty="0"/>
          </a:p>
          <a:p>
            <a:pPr lvl="1">
              <a:buFont typeface="Wingdings" panose="05000000000000000000" pitchFamily="2" charset="2"/>
              <a:buChar char="ü"/>
            </a:pPr>
            <a:r>
              <a:rPr kumimoji="1" lang="zh-CN" altLang="en-US" dirty="0"/>
              <a:t>设备驱动程序的功能</a:t>
            </a:r>
            <a:endParaRPr kumimoji="1" lang="en-US" altLang="zh-CN" dirty="0"/>
          </a:p>
          <a:p>
            <a:pPr marL="914400" lvl="2" indent="0" algn="just">
              <a:buNone/>
            </a:pPr>
            <a:r>
              <a:rPr kumimoji="1" lang="en-US" altLang="zh-CN" dirty="0"/>
              <a:t>(1)</a:t>
            </a:r>
            <a:r>
              <a:rPr kumimoji="1" lang="zh-CN" altLang="en-US" dirty="0"/>
              <a:t>接收由与设备无关的软件发来的命令和参数，并将命令中的抽象要求转换为与设备相关的低层操作序列。</a:t>
            </a:r>
            <a:endParaRPr kumimoji="1" lang="en-US" altLang="zh-CN" dirty="0"/>
          </a:p>
          <a:p>
            <a:pPr marL="914400" lvl="2" indent="0" algn="just">
              <a:buNone/>
            </a:pPr>
            <a:r>
              <a:rPr kumimoji="1" lang="en-US" altLang="zh-CN" dirty="0"/>
              <a:t>(2)</a:t>
            </a:r>
            <a:r>
              <a:rPr kumimoji="1" lang="zh-CN" altLang="en-US" dirty="0"/>
              <a:t>检查用户</a:t>
            </a:r>
            <a:r>
              <a:rPr kumimoji="1" lang="en-US" altLang="zh-CN" dirty="0"/>
              <a:t>I/O</a:t>
            </a:r>
            <a:r>
              <a:rPr kumimoji="1" lang="zh-CN" altLang="en-US" dirty="0"/>
              <a:t>请求的合法性，了解</a:t>
            </a:r>
            <a:r>
              <a:rPr kumimoji="1" lang="en-US" altLang="zh-CN" dirty="0"/>
              <a:t>I/O</a:t>
            </a:r>
            <a:r>
              <a:rPr kumimoji="1" lang="zh-CN" altLang="en-US" dirty="0"/>
              <a:t>设备的工作状态，传递与</a:t>
            </a:r>
            <a:r>
              <a:rPr kumimoji="1" lang="en-US" altLang="zh-CN" dirty="0"/>
              <a:t>I/O</a:t>
            </a:r>
            <a:r>
              <a:rPr kumimoji="1" lang="zh-CN" altLang="en-US" dirty="0"/>
              <a:t>设备操作有关的参数，设置设备的工作方式。</a:t>
            </a:r>
            <a:endParaRPr kumimoji="1" lang="en-US" altLang="zh-CN" dirty="0"/>
          </a:p>
          <a:p>
            <a:pPr marL="914400" lvl="2" indent="0" algn="just">
              <a:buNone/>
            </a:pPr>
            <a:r>
              <a:rPr kumimoji="1" lang="en-US" altLang="zh-CN" dirty="0"/>
              <a:t>(3)</a:t>
            </a:r>
            <a:r>
              <a:rPr kumimoji="1" lang="zh-CN" altLang="en-US" dirty="0"/>
              <a:t>发出</a:t>
            </a:r>
            <a:r>
              <a:rPr kumimoji="1" lang="en-US" altLang="zh-CN" dirty="0"/>
              <a:t>I/O</a:t>
            </a:r>
            <a:r>
              <a:rPr kumimoji="1" lang="zh-CN" altLang="en-US" dirty="0"/>
              <a:t>命令，如果设备空闲，便立即启动</a:t>
            </a:r>
            <a:r>
              <a:rPr kumimoji="1" lang="en-US" altLang="zh-CN" dirty="0"/>
              <a:t>I/O</a:t>
            </a:r>
            <a:r>
              <a:rPr kumimoji="1" lang="zh-CN" altLang="en-US" dirty="0"/>
              <a:t>设备，完成指定的</a:t>
            </a:r>
            <a:r>
              <a:rPr kumimoji="1" lang="en-US" altLang="zh-CN" dirty="0"/>
              <a:t>I/O</a:t>
            </a:r>
            <a:r>
              <a:rPr kumimoji="1" lang="zh-CN" altLang="en-US" dirty="0"/>
              <a:t>操作；如果设备忙碌，则将请求者的请求块挂在设备队列上等待。</a:t>
            </a:r>
            <a:endParaRPr kumimoji="1" lang="en-US" altLang="zh-CN" dirty="0"/>
          </a:p>
          <a:p>
            <a:pPr marL="914400" lvl="2" indent="0" algn="just">
              <a:buNone/>
            </a:pPr>
            <a:r>
              <a:rPr kumimoji="1" lang="en-US" altLang="zh-CN" dirty="0"/>
              <a:t>(4)</a:t>
            </a:r>
            <a:r>
              <a:rPr kumimoji="1" lang="zh-CN" altLang="en-US" dirty="0"/>
              <a:t>及时响应由设备控制器发来的中断请求，并根据其中断类型，调用相应的中断处理程序进行处理。</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199" y="1510758"/>
            <a:ext cx="10799619" cy="5347242"/>
          </a:xfrm>
        </p:spPr>
        <p:txBody>
          <a:bodyPr>
            <a:normAutofit lnSpcReduction="10000"/>
          </a:bodyPr>
          <a:lstStyle/>
          <a:p>
            <a:pPr>
              <a:lnSpc>
                <a:spcPct val="120000"/>
              </a:lnSpc>
            </a:pPr>
            <a:r>
              <a:rPr kumimoji="1" lang="zh-CN" altLang="en-US" dirty="0"/>
              <a:t>设备驱动程序概述</a:t>
            </a:r>
            <a:endParaRPr kumimoji="1" lang="en-US" altLang="zh-CN" dirty="0"/>
          </a:p>
          <a:p>
            <a:pPr lvl="1">
              <a:buFont typeface="Wingdings" panose="05000000000000000000" pitchFamily="2" charset="2"/>
              <a:buChar char="ü"/>
            </a:pPr>
            <a:r>
              <a:rPr kumimoji="1" lang="zh-CN" altLang="en-US" dirty="0"/>
              <a:t>设备驱动程序的特点</a:t>
            </a:r>
            <a:endParaRPr kumimoji="1" lang="en-US" altLang="zh-CN" dirty="0"/>
          </a:p>
          <a:p>
            <a:pPr marL="914400" lvl="2" indent="0" algn="just">
              <a:buNone/>
            </a:pPr>
            <a:r>
              <a:rPr kumimoji="1" lang="zh-CN" altLang="en-US" dirty="0"/>
              <a:t>设备驱动程序属于低级的系统例程，它与一般的应用程序及系统程序间有下述明显差异：</a:t>
            </a:r>
            <a:endParaRPr kumimoji="1" lang="en-US" altLang="zh-CN" dirty="0"/>
          </a:p>
          <a:p>
            <a:pPr marL="914400" lvl="2" indent="0" algn="just">
              <a:buNone/>
            </a:pPr>
            <a:r>
              <a:rPr kumimoji="1" lang="en-US" altLang="zh-CN" dirty="0"/>
              <a:t>(1)</a:t>
            </a:r>
            <a:r>
              <a:rPr kumimoji="1" lang="zh-CN" altLang="en-US" dirty="0"/>
              <a:t>驱动程序是实现在与设备无关的软件和设备控制器之间通信和转换的程序，它</a:t>
            </a:r>
            <a:r>
              <a:rPr kumimoji="1" lang="zh-CN" altLang="en-US" b="1" dirty="0">
                <a:solidFill>
                  <a:srgbClr val="FF0000"/>
                </a:solidFill>
              </a:rPr>
              <a:t>将抽象的</a:t>
            </a:r>
            <a:r>
              <a:rPr kumimoji="1" lang="en-US" altLang="zh-CN" b="1" dirty="0">
                <a:solidFill>
                  <a:srgbClr val="FF0000"/>
                </a:solidFill>
              </a:rPr>
              <a:t>I/O</a:t>
            </a:r>
            <a:r>
              <a:rPr kumimoji="1" lang="zh-CN" altLang="en-US" b="1" dirty="0">
                <a:solidFill>
                  <a:srgbClr val="FF0000"/>
                </a:solidFill>
              </a:rPr>
              <a:t>请求转换成具体的</a:t>
            </a:r>
            <a:r>
              <a:rPr kumimoji="1" lang="en-US" altLang="zh-CN" b="1" dirty="0">
                <a:solidFill>
                  <a:srgbClr val="FF0000"/>
                </a:solidFill>
              </a:rPr>
              <a:t>I/O</a:t>
            </a:r>
            <a:r>
              <a:rPr kumimoji="1" lang="zh-CN" altLang="en-US" b="1" dirty="0">
                <a:solidFill>
                  <a:srgbClr val="FF0000"/>
                </a:solidFill>
              </a:rPr>
              <a:t>操作</a:t>
            </a:r>
            <a:r>
              <a:rPr kumimoji="1" lang="zh-CN" altLang="en-US" dirty="0"/>
              <a:t>后传送给控制器。又把控制器中所记录的设备状态和</a:t>
            </a:r>
            <a:r>
              <a:rPr kumimoji="1" lang="en-US" altLang="zh-CN" dirty="0"/>
              <a:t>I/O</a:t>
            </a:r>
            <a:r>
              <a:rPr kumimoji="1" lang="zh-CN" altLang="en-US" dirty="0"/>
              <a:t>操作完成情况，及时地反映给请求</a:t>
            </a:r>
            <a:r>
              <a:rPr kumimoji="1" lang="en-US" altLang="zh-CN" dirty="0"/>
              <a:t>I/O</a:t>
            </a:r>
            <a:r>
              <a:rPr kumimoji="1" lang="zh-CN" altLang="en-US" dirty="0"/>
              <a:t>的进程。</a:t>
            </a:r>
            <a:endParaRPr kumimoji="1" lang="en-US" altLang="zh-CN" dirty="0"/>
          </a:p>
          <a:p>
            <a:pPr marL="914400" lvl="2" indent="0" algn="just">
              <a:buNone/>
            </a:pPr>
            <a:r>
              <a:rPr kumimoji="1" lang="en-US" altLang="zh-CN" dirty="0"/>
              <a:t>(2)</a:t>
            </a:r>
            <a:r>
              <a:rPr kumimoji="1" lang="zh-CN" altLang="en-US" dirty="0"/>
              <a:t>驱动程序与设备控制器以及</a:t>
            </a:r>
            <a:r>
              <a:rPr kumimoji="1" lang="en-US" altLang="zh-CN" dirty="0"/>
              <a:t>I/O</a:t>
            </a:r>
            <a:r>
              <a:rPr kumimoji="1" lang="zh-CN" altLang="en-US" dirty="0"/>
              <a:t>设备的硬件特性紧密相关，对于不同类型的设备，应配置不同的驱动程序。但可以为相同的多个终端设置一个终端驱动程序。</a:t>
            </a:r>
            <a:endParaRPr kumimoji="1" lang="en-US" altLang="zh-CN" dirty="0"/>
          </a:p>
          <a:p>
            <a:pPr marL="914400" lvl="2" indent="0" algn="just">
              <a:buNone/>
            </a:pPr>
            <a:r>
              <a:rPr kumimoji="1" lang="en-US" altLang="zh-CN" dirty="0"/>
              <a:t>(3)</a:t>
            </a:r>
            <a:r>
              <a:rPr kumimoji="1" lang="zh-CN" altLang="en-US" dirty="0"/>
              <a:t>驱动程序与</a:t>
            </a:r>
            <a:r>
              <a:rPr kumimoji="1" lang="en-US" altLang="zh-CN" dirty="0"/>
              <a:t>I/O</a:t>
            </a:r>
            <a:r>
              <a:rPr kumimoji="1" lang="zh-CN" altLang="en-US" dirty="0"/>
              <a:t>设备所采用的</a:t>
            </a:r>
            <a:r>
              <a:rPr kumimoji="1" lang="en-US" altLang="zh-CN" dirty="0"/>
              <a:t>I/O</a:t>
            </a:r>
            <a:r>
              <a:rPr kumimoji="1" lang="zh-CN" altLang="en-US" dirty="0"/>
              <a:t>控制方式紧密相关，常用的</a:t>
            </a:r>
            <a:r>
              <a:rPr kumimoji="1" lang="en-US" altLang="zh-CN" dirty="0"/>
              <a:t>I/O</a:t>
            </a:r>
            <a:r>
              <a:rPr kumimoji="1" lang="zh-CN" altLang="en-US" dirty="0"/>
              <a:t>控制方式是中断驱动和</a:t>
            </a:r>
            <a:r>
              <a:rPr kumimoji="1" lang="en-US" altLang="zh-CN" dirty="0"/>
              <a:t>DMA</a:t>
            </a:r>
            <a:r>
              <a:rPr kumimoji="1" lang="zh-CN" altLang="en-US" dirty="0"/>
              <a:t>方式。</a:t>
            </a:r>
            <a:endParaRPr kumimoji="1" lang="en-US" altLang="zh-CN" dirty="0"/>
          </a:p>
          <a:p>
            <a:pPr marL="914400" lvl="2" indent="0" algn="just">
              <a:buNone/>
            </a:pPr>
            <a:r>
              <a:rPr kumimoji="1" lang="en-US" altLang="zh-CN" dirty="0"/>
              <a:t>(4)</a:t>
            </a:r>
            <a:r>
              <a:rPr kumimoji="1" lang="zh-CN" altLang="en-US" dirty="0"/>
              <a:t>由于驱动程序与硬件紧密相关，因而其中一部分必须用汇编语言书写。目前有很多驱动程序的基本部分已经固化在</a:t>
            </a:r>
            <a:r>
              <a:rPr kumimoji="1" lang="en-US" altLang="zh-CN" dirty="0"/>
              <a:t>ROM</a:t>
            </a:r>
            <a:r>
              <a:rPr kumimoji="1" lang="zh-CN" altLang="en-US" dirty="0"/>
              <a:t>中。</a:t>
            </a:r>
            <a:endParaRPr kumimoji="1" lang="en-US" altLang="zh-CN" dirty="0"/>
          </a:p>
          <a:p>
            <a:pPr marL="914400" lvl="2" indent="0" algn="just">
              <a:buNone/>
            </a:pPr>
            <a:r>
              <a:rPr kumimoji="1" lang="en-US" altLang="zh-CN" dirty="0"/>
              <a:t>(5)</a:t>
            </a:r>
            <a:r>
              <a:rPr kumimoji="1" lang="zh-CN" altLang="en-US" dirty="0"/>
              <a:t>驱动程序应允许可重入。一个正在运行的驱动程序常会在一次调用完成前被再次调用。</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199" y="1510758"/>
            <a:ext cx="10799619" cy="5347242"/>
          </a:xfrm>
        </p:spPr>
        <p:txBody>
          <a:bodyPr>
            <a:normAutofit/>
          </a:bodyPr>
          <a:lstStyle/>
          <a:p>
            <a:r>
              <a:rPr kumimoji="1" lang="zh-CN" altLang="en-US" dirty="0"/>
              <a:t>设备驱动程序概述</a:t>
            </a:r>
            <a:endParaRPr kumimoji="1" lang="en-US" altLang="zh-CN" dirty="0"/>
          </a:p>
          <a:p>
            <a:pPr lvl="1">
              <a:buFont typeface="Wingdings" panose="05000000000000000000" pitchFamily="2" charset="2"/>
              <a:buChar char="ü"/>
            </a:pPr>
            <a:r>
              <a:rPr kumimoji="1" lang="zh-CN" altLang="en-US" dirty="0"/>
              <a:t>设备处理方式</a:t>
            </a:r>
            <a:endParaRPr kumimoji="1" lang="en-US" altLang="zh-CN" dirty="0"/>
          </a:p>
          <a:p>
            <a:pPr marL="914400" lvl="2" indent="0" algn="just">
              <a:buNone/>
            </a:pPr>
            <a:r>
              <a:rPr kumimoji="1" lang="zh-CN" altLang="en-US" dirty="0"/>
              <a:t>在不同的操作系统中，所采用的设备处理方式并不完全相同。</a:t>
            </a:r>
            <a:endParaRPr kumimoji="1" lang="en-US" altLang="zh-CN" dirty="0"/>
          </a:p>
          <a:p>
            <a:pPr>
              <a:lnSpc>
                <a:spcPct val="120000"/>
              </a:lnSpc>
            </a:pPr>
            <a:r>
              <a:rPr kumimoji="1" lang="zh-CN" altLang="en-US" dirty="0"/>
              <a:t>设备驱动程序的处理过程</a:t>
            </a:r>
            <a:endParaRPr kumimoji="1" lang="en-US" altLang="zh-CN" dirty="0"/>
          </a:p>
          <a:p>
            <a:pPr marL="457200" lvl="1" indent="0" algn="just">
              <a:buNone/>
            </a:pPr>
            <a:r>
              <a:rPr kumimoji="1" lang="zh-CN" altLang="en-US" sz="2000" dirty="0"/>
              <a:t>设备驱动程序的主要任务是启动指定设备，完成上层指定的</a:t>
            </a:r>
            <a:r>
              <a:rPr kumimoji="1" lang="en-US" altLang="zh-CN" sz="2000" dirty="0"/>
              <a:t>I/O</a:t>
            </a:r>
            <a:r>
              <a:rPr kumimoji="1" lang="zh-CN" altLang="en-US" sz="2000" dirty="0"/>
              <a:t>工作。但在启动之前，应先完成必要的准备工作，如检测设备状态是否为“忙”等。在完成所有的准备工作后，才向设备控制器发送一条启动命令。</a:t>
            </a:r>
            <a:endParaRPr kumimoji="1" lang="en-US" altLang="zh-CN" sz="20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8978" y="4438384"/>
            <a:ext cx="4760628" cy="205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7123480" y="6492874"/>
            <a:ext cx="2531623" cy="400110"/>
          </a:xfrm>
          <a:prstGeom prst="rect">
            <a:avLst/>
          </a:prstGeom>
          <a:noFill/>
        </p:spPr>
        <p:txBody>
          <a:bodyPr wrap="square">
            <a:spAutoFit/>
          </a:bodyPr>
          <a:lstStyle/>
          <a:p>
            <a:r>
              <a:rPr lang="zh-CN" altLang="en-US" sz="2000" b="1" dirty="0">
                <a:solidFill>
                  <a:srgbClr val="002060"/>
                </a:solidFill>
              </a:rPr>
              <a:t>状态寄存器中的格式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对</a:t>
            </a:r>
            <a:r>
              <a:rPr kumimoji="1" lang="en-US" altLang="zh-CN" dirty="0"/>
              <a:t>I/O</a:t>
            </a:r>
            <a:r>
              <a:rPr kumimoji="1" lang="zh-CN" altLang="en-US" dirty="0"/>
              <a:t>设备的控制方式</a:t>
            </a:r>
            <a:endParaRPr kumimoji="1" lang="en-US" altLang="zh-CN" dirty="0"/>
          </a:p>
          <a:p>
            <a:pPr lvl="1">
              <a:buFont typeface="Wingdings" panose="05000000000000000000" pitchFamily="2" charset="2"/>
              <a:buChar char="ü"/>
            </a:pPr>
            <a:r>
              <a:rPr kumimoji="1" lang="zh-CN" altLang="en-US" dirty="0"/>
              <a:t>使用轮询的可编程</a:t>
            </a:r>
            <a:r>
              <a:rPr kumimoji="1" lang="en-US" altLang="zh-CN" dirty="0"/>
              <a:t>I/O</a:t>
            </a:r>
            <a:r>
              <a:rPr kumimoji="1" lang="zh-CN" altLang="en-US" dirty="0"/>
              <a:t>方式</a:t>
            </a:r>
            <a:endParaRPr kumimoji="1" lang="en-US" altLang="zh-CN" dirty="0"/>
          </a:p>
          <a:p>
            <a:pPr marL="914400" lvl="2" indent="0" algn="just">
              <a:buNone/>
            </a:pPr>
            <a:r>
              <a:rPr kumimoji="1" lang="zh-CN" altLang="en-US" dirty="0"/>
              <a:t>处理机对</a:t>
            </a:r>
            <a:r>
              <a:rPr kumimoji="1" lang="en-US" altLang="zh-CN" dirty="0"/>
              <a:t>I/O</a:t>
            </a:r>
            <a:r>
              <a:rPr kumimoji="1" lang="zh-CN" altLang="en-US" dirty="0"/>
              <a:t>设备的控制采取轮询的可编程</a:t>
            </a:r>
            <a:r>
              <a:rPr kumimoji="1" lang="en-US" altLang="zh-CN" dirty="0"/>
              <a:t>I/O</a:t>
            </a:r>
            <a:r>
              <a:rPr kumimoji="1" lang="zh-CN" altLang="en-US" dirty="0"/>
              <a:t>方式，即在处理机向控制器发出一条</a:t>
            </a:r>
            <a:r>
              <a:rPr kumimoji="1" lang="en-US" altLang="zh-CN" dirty="0"/>
              <a:t>I/O</a:t>
            </a:r>
            <a:r>
              <a:rPr kumimoji="1" lang="zh-CN" altLang="en-US" dirty="0"/>
              <a:t>指令，启动输入设备输入数据时，要同时把状态寄存器中的忙</a:t>
            </a:r>
            <a:r>
              <a:rPr kumimoji="1" lang="en-US" altLang="zh-CN" dirty="0"/>
              <a:t>/</a:t>
            </a:r>
            <a:r>
              <a:rPr kumimoji="1" lang="zh-CN" altLang="en-US" dirty="0"/>
              <a:t>闲标志</a:t>
            </a:r>
            <a:r>
              <a:rPr kumimoji="1" lang="en-US" altLang="zh-CN" dirty="0"/>
              <a:t>busy</a:t>
            </a:r>
            <a:r>
              <a:rPr kumimoji="1" lang="zh-CN" altLang="en-US" dirty="0"/>
              <a:t>置为</a:t>
            </a:r>
            <a:r>
              <a:rPr kumimoji="1" lang="en-US" altLang="zh-CN" dirty="0"/>
              <a:t>1</a:t>
            </a:r>
            <a:r>
              <a:rPr kumimoji="1" lang="zh-CN" altLang="en-US" dirty="0"/>
              <a:t>，然后便不断地循环测试</a:t>
            </a:r>
            <a:r>
              <a:rPr kumimoji="1" lang="en-US" altLang="zh-CN" dirty="0"/>
              <a:t>busy(</a:t>
            </a:r>
            <a:r>
              <a:rPr kumimoji="1" lang="zh-CN" altLang="en-US" dirty="0"/>
              <a:t>称为轮询</a:t>
            </a:r>
            <a:r>
              <a:rPr kumimoji="1" lang="en-US" altLang="zh-CN" dirty="0"/>
              <a:t>)</a:t>
            </a:r>
            <a:r>
              <a:rPr kumimoji="1" lang="zh-CN" altLang="en-US" dirty="0"/>
              <a:t>。当</a:t>
            </a:r>
            <a:r>
              <a:rPr kumimoji="1" lang="en-US" altLang="zh-CN" dirty="0"/>
              <a:t>busy=1</a:t>
            </a:r>
            <a:r>
              <a:rPr kumimoji="1" lang="zh-CN" altLang="en-US" dirty="0"/>
              <a:t>时，表示输入机尚未输完一个字</a:t>
            </a:r>
            <a:r>
              <a:rPr kumimoji="1" lang="en-US" altLang="zh-CN" dirty="0"/>
              <a:t>(</a:t>
            </a:r>
            <a:r>
              <a:rPr kumimoji="1" lang="zh-CN" altLang="en-US" dirty="0"/>
              <a:t>符</a:t>
            </a:r>
            <a:r>
              <a:rPr kumimoji="1" lang="en-US" altLang="zh-CN" dirty="0"/>
              <a:t>)</a:t>
            </a:r>
            <a:r>
              <a:rPr kumimoji="1" lang="zh-CN" altLang="en-US" dirty="0"/>
              <a:t>，处理机应继续对该标志进行测试，直至</a:t>
            </a:r>
            <a:r>
              <a:rPr kumimoji="1" lang="en-US" altLang="zh-CN" dirty="0"/>
              <a:t>busy=0</a:t>
            </a:r>
            <a:r>
              <a:rPr kumimoji="1" lang="zh-CN" altLang="en-US" dirty="0"/>
              <a:t>，表明输入机已将输入数据送入控制器的数据寄存器中。于是处理机将数据寄存器中的数据取出，送入内存指定单元中，这样便完成了一个字</a:t>
            </a:r>
            <a:r>
              <a:rPr kumimoji="1" lang="en-US" altLang="zh-CN" dirty="0"/>
              <a:t>(</a:t>
            </a:r>
            <a:r>
              <a:rPr kumimoji="1" lang="zh-CN" altLang="en-US" dirty="0"/>
              <a:t>符</a:t>
            </a:r>
            <a:r>
              <a:rPr kumimoji="1" lang="en-US" altLang="zh-CN" dirty="0"/>
              <a:t>)</a:t>
            </a:r>
            <a:r>
              <a:rPr kumimoji="1" lang="zh-CN" altLang="en-US" dirty="0"/>
              <a:t>的</a:t>
            </a:r>
            <a:r>
              <a:rPr kumimoji="1" lang="en-US" altLang="zh-CN" dirty="0"/>
              <a:t>I/O</a:t>
            </a:r>
            <a:r>
              <a:rPr kumimoji="1" lang="zh-CN" altLang="en-US" dirty="0"/>
              <a:t>。接着再去启动读下一个数据，并置</a:t>
            </a:r>
            <a:r>
              <a:rPr kumimoji="1" lang="en-US" altLang="zh-CN" dirty="0"/>
              <a:t>busy=1</a:t>
            </a:r>
            <a:r>
              <a:rPr kumimoji="1" lang="zh-CN" altLang="en-US" dirty="0"/>
              <a:t>。</a:t>
            </a:r>
            <a:endParaRPr kumimoji="1" lang="en-US" altLang="zh-CN" dirty="0"/>
          </a:p>
          <a:p>
            <a:pPr lvl="1">
              <a:buFont typeface="Wingdings" panose="05000000000000000000" pitchFamily="2" charset="2"/>
              <a:buChar char="ü"/>
            </a:pPr>
            <a:r>
              <a:rPr kumimoji="1" lang="zh-CN" altLang="en-US" dirty="0"/>
              <a:t>使用中断的可编程</a:t>
            </a:r>
            <a:r>
              <a:rPr kumimoji="1" lang="en-US" altLang="zh-CN" dirty="0"/>
              <a:t>I/O</a:t>
            </a:r>
            <a:r>
              <a:rPr kumimoji="1" lang="zh-CN" altLang="en-US" dirty="0"/>
              <a:t>方式</a:t>
            </a:r>
            <a:endParaRPr kumimoji="1" lang="en-US" altLang="zh-CN" dirty="0"/>
          </a:p>
          <a:p>
            <a:pPr marL="914400" lvl="2" indent="0" algn="just">
              <a:buNone/>
            </a:pPr>
            <a:r>
              <a:rPr kumimoji="1" lang="zh-CN" altLang="en-US" dirty="0"/>
              <a:t>当前，对</a:t>
            </a:r>
            <a:r>
              <a:rPr kumimoji="1" lang="en-US" altLang="zh-CN" dirty="0"/>
              <a:t>I/O</a:t>
            </a:r>
            <a:r>
              <a:rPr kumimoji="1" lang="zh-CN" altLang="en-US" dirty="0"/>
              <a:t>设备的控制，广泛采用中断的可编程</a:t>
            </a:r>
            <a:r>
              <a:rPr kumimoji="1" lang="en-US" altLang="zh-CN" dirty="0"/>
              <a:t>I/O</a:t>
            </a:r>
            <a:r>
              <a:rPr kumimoji="1" lang="zh-CN" altLang="en-US" dirty="0"/>
              <a:t>方式，即当某进程要启动某个</a:t>
            </a:r>
            <a:r>
              <a:rPr kumimoji="1" lang="en-US" altLang="zh-CN" dirty="0"/>
              <a:t>I/O</a:t>
            </a:r>
            <a:r>
              <a:rPr kumimoji="1" lang="zh-CN" altLang="en-US" dirty="0"/>
              <a:t>设备工作时，便由</a:t>
            </a:r>
            <a:r>
              <a:rPr kumimoji="1" lang="en-US" altLang="zh-CN" dirty="0"/>
              <a:t>CPU</a:t>
            </a:r>
            <a:r>
              <a:rPr kumimoji="1" lang="zh-CN" altLang="en-US" dirty="0"/>
              <a:t>向相应的设备控制器发出一条</a:t>
            </a:r>
            <a:r>
              <a:rPr kumimoji="1" lang="en-US" altLang="zh-CN" dirty="0"/>
              <a:t>I/O</a:t>
            </a:r>
            <a:r>
              <a:rPr kumimoji="1" lang="zh-CN" altLang="en-US" dirty="0"/>
              <a:t>命令，然后立即返回继续执行原来的任务。设备控制器于是按照该命令的要求去控制指定</a:t>
            </a:r>
            <a:r>
              <a:rPr kumimoji="1" lang="en-US" altLang="zh-CN" dirty="0"/>
              <a:t>I/O</a:t>
            </a:r>
            <a:r>
              <a:rPr kumimoji="1" lang="zh-CN" altLang="en-US" dirty="0"/>
              <a:t>设备。此时，</a:t>
            </a:r>
            <a:r>
              <a:rPr kumimoji="1" lang="en-US" altLang="zh-CN" dirty="0"/>
              <a:t>CPU</a:t>
            </a:r>
            <a:r>
              <a:rPr kumimoji="1" lang="zh-CN" altLang="en-US" dirty="0"/>
              <a:t>与</a:t>
            </a:r>
            <a:r>
              <a:rPr kumimoji="1" lang="en-US" altLang="zh-CN" dirty="0"/>
              <a:t>I/O</a:t>
            </a:r>
            <a:r>
              <a:rPr kumimoji="1" lang="zh-CN" altLang="en-US" dirty="0"/>
              <a:t>设备并行操作。</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对</a:t>
            </a:r>
            <a:r>
              <a:rPr kumimoji="1" lang="en-US" altLang="zh-CN" dirty="0"/>
              <a:t>I/O</a:t>
            </a:r>
            <a:r>
              <a:rPr kumimoji="1" lang="zh-CN" altLang="en-US" dirty="0"/>
              <a:t>设备的控制方式</a:t>
            </a:r>
            <a:endParaRPr kumimoji="1" lang="en-US" altLang="zh-CN" dirty="0"/>
          </a:p>
          <a:p>
            <a:pPr lvl="1">
              <a:buFont typeface="Wingdings" panose="05000000000000000000" pitchFamily="2" charset="2"/>
              <a:buChar char="ü"/>
            </a:pPr>
            <a:r>
              <a:rPr kumimoji="1" lang="zh-CN" altLang="en-US" dirty="0"/>
              <a:t>直接存储器访问方式</a:t>
            </a:r>
            <a:endParaRPr kumimoji="1" lang="en-US" altLang="zh-CN" dirty="0"/>
          </a:p>
          <a:p>
            <a:pPr marL="914400" lvl="2" indent="0" algn="just">
              <a:buNone/>
            </a:pPr>
            <a:r>
              <a:rPr kumimoji="1" lang="zh-CN" altLang="en-US" b="1" dirty="0">
                <a:solidFill>
                  <a:srgbClr val="FF0000"/>
                </a:solidFill>
              </a:rPr>
              <a:t>引入原因</a:t>
            </a:r>
            <a:r>
              <a:rPr kumimoji="1" lang="zh-CN" altLang="en-US" dirty="0"/>
              <a:t>：虽然中断驱动</a:t>
            </a:r>
            <a:r>
              <a:rPr kumimoji="1" lang="en-US" altLang="zh-CN" dirty="0"/>
              <a:t>I/O</a:t>
            </a:r>
            <a:r>
              <a:rPr kumimoji="1" lang="zh-CN" altLang="en-US" dirty="0"/>
              <a:t>比程序</a:t>
            </a:r>
            <a:r>
              <a:rPr kumimoji="1" lang="en-US" altLang="zh-CN" dirty="0"/>
              <a:t>I/O</a:t>
            </a:r>
            <a:r>
              <a:rPr kumimoji="1" lang="zh-CN" altLang="en-US" dirty="0"/>
              <a:t>方式更有效，但它仍是以字</a:t>
            </a:r>
            <a:r>
              <a:rPr kumimoji="1" lang="en-US" altLang="zh-CN" dirty="0"/>
              <a:t>(</a:t>
            </a:r>
            <a:r>
              <a:rPr kumimoji="1" lang="zh-CN" altLang="en-US" dirty="0"/>
              <a:t>节</a:t>
            </a:r>
            <a:r>
              <a:rPr kumimoji="1" lang="en-US" altLang="zh-CN" dirty="0"/>
              <a:t>)</a:t>
            </a:r>
            <a:r>
              <a:rPr kumimoji="1" lang="zh-CN" altLang="en-US" dirty="0"/>
              <a:t>为单位进行</a:t>
            </a:r>
            <a:r>
              <a:rPr kumimoji="1" lang="en-US" altLang="zh-CN" dirty="0"/>
              <a:t>I/O</a:t>
            </a:r>
            <a:r>
              <a:rPr kumimoji="1" lang="zh-CN" altLang="en-US" dirty="0"/>
              <a:t>的。每当完成一个字</a:t>
            </a:r>
            <a:r>
              <a:rPr kumimoji="1" lang="en-US" altLang="zh-CN" dirty="0"/>
              <a:t>(</a:t>
            </a:r>
            <a:r>
              <a:rPr kumimoji="1" lang="zh-CN" altLang="en-US" dirty="0"/>
              <a:t>节</a:t>
            </a:r>
            <a:r>
              <a:rPr kumimoji="1" lang="en-US" altLang="zh-CN" dirty="0"/>
              <a:t>)</a:t>
            </a:r>
            <a:r>
              <a:rPr kumimoji="1" lang="zh-CN" altLang="en-US" dirty="0"/>
              <a:t>的</a:t>
            </a:r>
            <a:r>
              <a:rPr kumimoji="1" lang="en-US" altLang="zh-CN" dirty="0"/>
              <a:t>I/O</a:t>
            </a:r>
            <a:r>
              <a:rPr kumimoji="1" lang="zh-CN" altLang="en-US" dirty="0"/>
              <a:t>时，控制器便要向</a:t>
            </a:r>
            <a:r>
              <a:rPr kumimoji="1" lang="en-US" altLang="zh-CN" dirty="0"/>
              <a:t>CPU</a:t>
            </a:r>
            <a:r>
              <a:rPr kumimoji="1" lang="zh-CN" altLang="en-US" dirty="0"/>
              <a:t>请求一次中断。</a:t>
            </a:r>
            <a:endParaRPr kumimoji="1" lang="en-US" altLang="zh-CN" dirty="0"/>
          </a:p>
          <a:p>
            <a:pPr marL="914400" lvl="2" indent="0" algn="just">
              <a:buNone/>
            </a:pPr>
            <a:r>
              <a:rPr kumimoji="1" lang="zh-CN" altLang="en-US" b="1" dirty="0">
                <a:solidFill>
                  <a:srgbClr val="FF0000"/>
                </a:solidFill>
              </a:rPr>
              <a:t>主要特点</a:t>
            </a:r>
            <a:r>
              <a:rPr kumimoji="1" lang="zh-CN" altLang="en-US" dirty="0"/>
              <a:t>：</a:t>
            </a:r>
            <a:r>
              <a:rPr kumimoji="1" lang="en-US" altLang="zh-CN" dirty="0"/>
              <a:t>(1)</a:t>
            </a:r>
            <a:r>
              <a:rPr kumimoji="1" lang="zh-CN" altLang="en-US" dirty="0"/>
              <a:t>数据传输的基本单位是数据块，即在</a:t>
            </a:r>
            <a:r>
              <a:rPr kumimoji="1" lang="en-US" altLang="zh-CN" dirty="0"/>
              <a:t>CPU</a:t>
            </a:r>
            <a:r>
              <a:rPr kumimoji="1" lang="zh-CN" altLang="en-US" dirty="0"/>
              <a:t>与</a:t>
            </a:r>
            <a:r>
              <a:rPr kumimoji="1" lang="en-US" altLang="zh-CN" dirty="0"/>
              <a:t>I/O</a:t>
            </a:r>
            <a:r>
              <a:rPr kumimoji="1" lang="zh-CN" altLang="en-US" dirty="0"/>
              <a:t>设备之间，每次传送至少一个数据块；</a:t>
            </a:r>
            <a:r>
              <a:rPr kumimoji="1" lang="en-US" altLang="zh-CN" dirty="0"/>
              <a:t>(2)</a:t>
            </a:r>
            <a:r>
              <a:rPr kumimoji="1" lang="zh-CN" altLang="en-US" dirty="0"/>
              <a:t>所传送的数据是从设备直接送入内存的，或者相反；</a:t>
            </a:r>
            <a:r>
              <a:rPr kumimoji="1" lang="en-US" altLang="zh-CN" dirty="0"/>
              <a:t>(3)</a:t>
            </a:r>
            <a:r>
              <a:rPr kumimoji="1" lang="zh-CN" altLang="en-US" dirty="0"/>
              <a:t>仅在传送一个或多个数据块的开始和结束时，才需</a:t>
            </a:r>
            <a:r>
              <a:rPr kumimoji="1" lang="en-US" altLang="zh-CN" dirty="0"/>
              <a:t>CPU</a:t>
            </a:r>
            <a:r>
              <a:rPr kumimoji="1" lang="zh-CN" altLang="en-US" dirty="0"/>
              <a:t>干预，整块数据的传送是在控制器的控制下完成。</a:t>
            </a:r>
            <a:r>
              <a:rPr kumimoji="1" lang="en-US" altLang="zh-CN" dirty="0"/>
              <a:t>DMA</a:t>
            </a:r>
            <a:r>
              <a:rPr kumimoji="1" lang="zh-CN" altLang="en-US" dirty="0"/>
              <a:t>方式较之中断驱动方式又进一步提高了</a:t>
            </a:r>
            <a:r>
              <a:rPr kumimoji="1" lang="en-US" altLang="zh-CN" dirty="0"/>
              <a:t>CPU</a:t>
            </a:r>
            <a:r>
              <a:rPr kumimoji="1" lang="zh-CN" altLang="en-US" dirty="0"/>
              <a:t>与</a:t>
            </a:r>
            <a:r>
              <a:rPr kumimoji="1" lang="en-US" altLang="zh-CN" dirty="0"/>
              <a:t>I/O</a:t>
            </a:r>
            <a:r>
              <a:rPr kumimoji="1" lang="zh-CN" altLang="en-US" dirty="0"/>
              <a:t>设备的并行操作程度。</a:t>
            </a:r>
            <a:endParaRPr kumimoji="1" lang="en-US" altLang="zh-CN" dirty="0"/>
          </a:p>
          <a:p>
            <a:pPr marL="914400" lvl="2" indent="0" algn="just">
              <a:buNone/>
            </a:pPr>
            <a:r>
              <a:rPr kumimoji="1" lang="zh-CN" altLang="en-US" b="1" dirty="0">
                <a:solidFill>
                  <a:srgbClr val="FF0000"/>
                </a:solidFill>
              </a:rPr>
              <a:t>控制器组成</a:t>
            </a:r>
            <a:r>
              <a:rPr kumimoji="1" lang="zh-CN" altLang="en-US" dirty="0"/>
              <a:t>：主机与</a:t>
            </a:r>
            <a:r>
              <a:rPr kumimoji="1" lang="en-US" altLang="zh-CN" dirty="0"/>
              <a:t>DMA</a:t>
            </a:r>
            <a:r>
              <a:rPr kumimoji="1" lang="zh-CN" altLang="en-US" dirty="0"/>
              <a:t>控制器的接口、</a:t>
            </a:r>
            <a:r>
              <a:rPr kumimoji="1" lang="en-US" altLang="zh-CN" dirty="0"/>
              <a:t>DMA</a:t>
            </a:r>
            <a:r>
              <a:rPr kumimoji="1" lang="zh-CN" altLang="en-US" dirty="0"/>
              <a:t>控制器与块设备的接口、</a:t>
            </a:r>
            <a:r>
              <a:rPr kumimoji="1" lang="en-US" altLang="zh-CN" dirty="0"/>
              <a:t>I/O</a:t>
            </a:r>
            <a:r>
              <a:rPr kumimoji="1" lang="zh-CN" altLang="en-US" dirty="0"/>
              <a:t>控制逻辑，具体如上图所示。这里主要介绍主机与控制器之间的接口。</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6472" y="136525"/>
            <a:ext cx="5458937" cy="2066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8319078" y="2184462"/>
            <a:ext cx="2418484"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DMA</a:t>
            </a:r>
            <a:r>
              <a:rPr lang="zh-CN" altLang="en-US" sz="2000" b="1" dirty="0">
                <a:solidFill>
                  <a:srgbClr val="002060"/>
                </a:solidFill>
                <a:latin typeface="Times New Roman" panose="02020603050405020304" pitchFamily="18" charset="0"/>
                <a:cs typeface="Times New Roman" panose="02020603050405020304" pitchFamily="18" charset="0"/>
              </a:rPr>
              <a:t>控制器的组成</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200" y="1390142"/>
            <a:ext cx="4159828" cy="5471933"/>
          </a:xfrm>
        </p:spPr>
        <p:txBody>
          <a:bodyPr>
            <a:normAutofit/>
          </a:bodyPr>
          <a:lstStyle/>
          <a:p>
            <a:pPr>
              <a:lnSpc>
                <a:spcPct val="120000"/>
              </a:lnSpc>
            </a:pPr>
            <a:r>
              <a:rPr kumimoji="1" lang="zh-CN" altLang="en-US" dirty="0"/>
              <a:t>对</a:t>
            </a:r>
            <a:r>
              <a:rPr kumimoji="1" lang="en-US" altLang="zh-CN" dirty="0"/>
              <a:t>I/O</a:t>
            </a:r>
            <a:r>
              <a:rPr kumimoji="1" lang="zh-CN" altLang="en-US" dirty="0"/>
              <a:t>设备的控制方式</a:t>
            </a:r>
            <a:endParaRPr kumimoji="1" lang="en-US" altLang="zh-CN" dirty="0"/>
          </a:p>
          <a:p>
            <a:pPr lvl="1">
              <a:buFont typeface="Wingdings" panose="05000000000000000000" pitchFamily="2" charset="2"/>
              <a:buChar char="ü"/>
            </a:pPr>
            <a:r>
              <a:rPr kumimoji="1" lang="zh-CN" altLang="en-US" dirty="0"/>
              <a:t>直接存储器访问方式</a:t>
            </a:r>
            <a:endParaRPr kumimoji="1" lang="en-US" altLang="zh-CN" dirty="0"/>
          </a:p>
          <a:p>
            <a:pPr marL="914400" lvl="2" indent="0" algn="just">
              <a:buNone/>
            </a:pPr>
            <a:r>
              <a:rPr kumimoji="1" lang="en-US" altLang="zh-CN" b="1" dirty="0">
                <a:solidFill>
                  <a:srgbClr val="FF0000"/>
                </a:solidFill>
              </a:rPr>
              <a:t>DMA</a:t>
            </a:r>
            <a:r>
              <a:rPr kumimoji="1" lang="zh-CN" altLang="en-US" b="1" dirty="0">
                <a:solidFill>
                  <a:srgbClr val="FF0000"/>
                </a:solidFill>
              </a:rPr>
              <a:t>工作过程</a:t>
            </a:r>
            <a:r>
              <a:rPr kumimoji="1" lang="zh-CN" altLang="en-US" dirty="0"/>
              <a:t>：当</a:t>
            </a:r>
            <a:r>
              <a:rPr kumimoji="1" lang="en-US" altLang="zh-CN" dirty="0"/>
              <a:t>CPU</a:t>
            </a:r>
            <a:r>
              <a:rPr kumimoji="1" lang="zh-CN" altLang="en-US" dirty="0"/>
              <a:t>要从磁盘读入一数据块时，便向磁盘控制器发送一条读命令。该命令被送入命令寄存器</a:t>
            </a:r>
            <a:r>
              <a:rPr kumimoji="1" lang="en-US" altLang="zh-CN" dirty="0"/>
              <a:t>CR</a:t>
            </a:r>
            <a:r>
              <a:rPr kumimoji="1" lang="zh-CN" altLang="en-US" dirty="0"/>
              <a:t>中。同时，需要将本次要读入数据在内存的起始目标地址送入内存地址寄存器</a:t>
            </a:r>
            <a:r>
              <a:rPr kumimoji="1" lang="en-US" altLang="zh-CN" dirty="0"/>
              <a:t>MAR</a:t>
            </a:r>
            <a:r>
              <a:rPr kumimoji="1" lang="zh-CN" altLang="en-US" dirty="0"/>
              <a:t>中。</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descr="6-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7306" y="1562552"/>
            <a:ext cx="467677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6660457" y="5956152"/>
            <a:ext cx="2969202"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DMA</a:t>
            </a:r>
            <a:r>
              <a:rPr lang="zh-CN" altLang="en-US" sz="2000" b="1" dirty="0">
                <a:solidFill>
                  <a:srgbClr val="002060"/>
                </a:solidFill>
                <a:latin typeface="Times New Roman" panose="02020603050405020304" pitchFamily="18" charset="0"/>
                <a:cs typeface="Times New Roman" panose="02020603050405020304" pitchFamily="18" charset="0"/>
              </a:rPr>
              <a:t>方式的工作流程图</a:t>
            </a:r>
          </a:p>
        </p:txBody>
      </p:sp>
      <p:sp>
        <p:nvSpPr>
          <p:cNvPr id="5" name="文本框 4"/>
          <p:cNvSpPr txBox="1"/>
          <p:nvPr/>
        </p:nvSpPr>
        <p:spPr>
          <a:xfrm>
            <a:off x="8295640" y="1390015"/>
            <a:ext cx="3676650" cy="1322070"/>
          </a:xfrm>
          <a:prstGeom prst="rect">
            <a:avLst/>
          </a:prstGeom>
          <a:noFill/>
          <a:ln w="28575">
            <a:gradFill>
              <a:gsLst>
                <a:gs pos="19000">
                  <a:srgbClr val="FFB9B9"/>
                </a:gs>
                <a:gs pos="64000">
                  <a:srgbClr val="FF8F8E"/>
                </a:gs>
                <a:gs pos="44000">
                  <a:srgbClr val="FE9E9F"/>
                </a:gs>
                <a:gs pos="84000">
                  <a:srgbClr val="FF7373"/>
                </a:gs>
              </a:gsLst>
              <a:lin ang="5400000" scaled="1"/>
            </a:gradFill>
          </a:ln>
        </p:spPr>
        <p:txBody>
          <a:bodyPr wrap="square" rtlCol="0" anchor="t">
            <a:spAutoFit/>
          </a:bodyPr>
          <a:lstStyle/>
          <a:p>
            <a:pPr algn="just"/>
            <a:r>
              <a:rPr lang="zh-CN" altLang="en-US" sz="2000" b="1">
                <a:solidFill>
                  <a:schemeClr val="bg2">
                    <a:lumMod val="90000"/>
                  </a:schemeClr>
                </a:solidFill>
                <a:latin typeface="Times New Roman" panose="02020603050405020304" pitchFamily="18" charset="0"/>
                <a:cs typeface="Times New Roman" panose="02020603050405020304" pitchFamily="18" charset="0"/>
              </a:rPr>
              <a:t>DMA控制器可采用哪几种方式与CPU分时使用内存？</a:t>
            </a:r>
          </a:p>
          <a:p>
            <a:pPr algn="just"/>
            <a:r>
              <a:rPr lang="en-US" altLang="zh-CN" sz="2000" b="1">
                <a:solidFill>
                  <a:srgbClr val="FF0000"/>
                </a:solidFill>
                <a:latin typeface="Times New Roman" panose="02020603050405020304" pitchFamily="18" charset="0"/>
                <a:cs typeface="Times New Roman" panose="02020603050405020304" pitchFamily="18" charset="0"/>
              </a:rPr>
              <a:t>1)</a:t>
            </a:r>
            <a:r>
              <a:rPr lang="zh-CN" altLang="en-US" sz="2000" b="1">
                <a:solidFill>
                  <a:srgbClr val="FF0000"/>
                </a:solidFill>
                <a:latin typeface="Times New Roman" panose="02020603050405020304" pitchFamily="18" charset="0"/>
                <a:cs typeface="Times New Roman" panose="02020603050405020304" pitchFamily="18" charset="0"/>
              </a:rPr>
              <a:t>停止</a:t>
            </a:r>
            <a:r>
              <a:rPr lang="en-US" altLang="zh-CN" sz="2000" b="1">
                <a:solidFill>
                  <a:srgbClr val="FF0000"/>
                </a:solidFill>
                <a:latin typeface="Times New Roman" panose="02020603050405020304" pitchFamily="18" charset="0"/>
                <a:cs typeface="Times New Roman" panose="02020603050405020304" pitchFamily="18" charset="0"/>
              </a:rPr>
              <a:t>CPU</a:t>
            </a:r>
            <a:r>
              <a:rPr lang="zh-CN" altLang="en-US" sz="2000" b="1">
                <a:solidFill>
                  <a:srgbClr val="FF0000"/>
                </a:solidFill>
                <a:latin typeface="Times New Roman" panose="02020603050405020304" pitchFamily="18" charset="0"/>
                <a:cs typeface="Times New Roman" panose="02020603050405020304" pitchFamily="18" charset="0"/>
              </a:rPr>
              <a:t>访存；</a:t>
            </a:r>
            <a:r>
              <a:rPr lang="en-US" altLang="zh-CN" sz="2000" b="1">
                <a:solidFill>
                  <a:srgbClr val="FF0000"/>
                </a:solidFill>
                <a:latin typeface="Times New Roman" panose="02020603050405020304" pitchFamily="18" charset="0"/>
                <a:cs typeface="Times New Roman" panose="02020603050405020304" pitchFamily="18" charset="0"/>
              </a:rPr>
              <a:t>2)</a:t>
            </a:r>
            <a:r>
              <a:rPr lang="zh-CN" altLang="en-US" sz="2000" b="1">
                <a:solidFill>
                  <a:srgbClr val="FF0000"/>
                </a:solidFill>
                <a:latin typeface="Times New Roman" panose="02020603050405020304" pitchFamily="18" charset="0"/>
                <a:cs typeface="Times New Roman" panose="02020603050405020304" pitchFamily="18" charset="0"/>
              </a:rPr>
              <a:t>周期挪用；</a:t>
            </a:r>
            <a:r>
              <a:rPr lang="en-US" altLang="zh-CN" sz="2000" b="1">
                <a:solidFill>
                  <a:srgbClr val="FF0000"/>
                </a:solidFill>
                <a:latin typeface="Times New Roman" panose="02020603050405020304" pitchFamily="18" charset="0"/>
                <a:cs typeface="Times New Roman" panose="02020603050405020304" pitchFamily="18" charset="0"/>
              </a:rPr>
              <a:t>3)DMA</a:t>
            </a:r>
            <a:r>
              <a:rPr lang="zh-CN" altLang="en-US" sz="2000" b="1">
                <a:solidFill>
                  <a:srgbClr val="FF0000"/>
                </a:solidFill>
                <a:latin typeface="Times New Roman" panose="02020603050405020304" pitchFamily="18" charset="0"/>
                <a:cs typeface="Times New Roman" panose="02020603050405020304" pitchFamily="18" charset="0"/>
              </a:rPr>
              <a:t>与</a:t>
            </a:r>
            <a:r>
              <a:rPr lang="en-US" altLang="zh-CN" sz="2000" b="1">
                <a:solidFill>
                  <a:srgbClr val="FF0000"/>
                </a:solidFill>
                <a:latin typeface="Times New Roman" panose="02020603050405020304" pitchFamily="18" charset="0"/>
                <a:cs typeface="Times New Roman" panose="02020603050405020304" pitchFamily="18" charset="0"/>
              </a:rPr>
              <a:t>CPU</a:t>
            </a:r>
            <a:r>
              <a:rPr lang="zh-CN" altLang="en-US" sz="2000" b="1">
                <a:solidFill>
                  <a:srgbClr val="FF0000"/>
                </a:solidFill>
                <a:latin typeface="Times New Roman" panose="02020603050405020304" pitchFamily="18" charset="0"/>
                <a:cs typeface="Times New Roman" panose="02020603050405020304" pitchFamily="18" charset="0"/>
              </a:rPr>
              <a:t>交替访问</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200" y="1390142"/>
            <a:ext cx="4159828" cy="5471933"/>
          </a:xfrm>
        </p:spPr>
        <p:txBody>
          <a:bodyPr>
            <a:normAutofit/>
          </a:bodyPr>
          <a:lstStyle/>
          <a:p>
            <a:pPr>
              <a:lnSpc>
                <a:spcPct val="120000"/>
              </a:lnSpc>
            </a:pPr>
            <a:r>
              <a:rPr kumimoji="1" lang="zh-CN" altLang="en-US" dirty="0"/>
              <a:t>对</a:t>
            </a:r>
            <a:r>
              <a:rPr kumimoji="1" lang="en-US" altLang="zh-CN" dirty="0"/>
              <a:t>I/O</a:t>
            </a:r>
            <a:r>
              <a:rPr kumimoji="1" lang="zh-CN" altLang="en-US" dirty="0"/>
              <a:t>设备的控制方式</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descr="6-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2779" y="2071687"/>
            <a:ext cx="6315075" cy="442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设备驱动程序</a:t>
            </a:r>
          </a:p>
        </p:txBody>
      </p:sp>
      <p:sp>
        <p:nvSpPr>
          <p:cNvPr id="3" name="内容占位符 2"/>
          <p:cNvSpPr>
            <a:spLocks noGrp="1"/>
          </p:cNvSpPr>
          <p:nvPr>
            <p:ph idx="1"/>
          </p:nvPr>
        </p:nvSpPr>
        <p:spPr>
          <a:xfrm>
            <a:off x="838200" y="1390142"/>
            <a:ext cx="6851074" cy="5471933"/>
          </a:xfrm>
        </p:spPr>
        <p:txBody>
          <a:bodyPr>
            <a:normAutofit lnSpcReduction="10000"/>
          </a:bodyPr>
          <a:lstStyle/>
          <a:p>
            <a:pPr>
              <a:lnSpc>
                <a:spcPct val="120000"/>
              </a:lnSpc>
            </a:pPr>
            <a:r>
              <a:rPr kumimoji="1" lang="zh-CN" altLang="en-US" dirty="0"/>
              <a:t>对</a:t>
            </a:r>
            <a:r>
              <a:rPr kumimoji="1" lang="en-US" altLang="zh-CN" dirty="0"/>
              <a:t>I/O</a:t>
            </a:r>
            <a:r>
              <a:rPr kumimoji="1" lang="zh-CN" altLang="en-US" dirty="0"/>
              <a:t>设备的控制方式</a:t>
            </a:r>
            <a:endParaRPr kumimoji="1" lang="en-US" altLang="zh-CN" dirty="0"/>
          </a:p>
          <a:p>
            <a:pPr lvl="1">
              <a:buFont typeface="Wingdings" panose="05000000000000000000" pitchFamily="2" charset="2"/>
              <a:buChar char="ü"/>
            </a:pPr>
            <a:r>
              <a:rPr kumimoji="1" lang="nn-NO" altLang="zh-CN" dirty="0"/>
              <a:t>I/O</a:t>
            </a:r>
            <a:r>
              <a:rPr kumimoji="1" lang="zh-CN" altLang="nn-NO" dirty="0"/>
              <a:t>通道控制方式</a:t>
            </a:r>
            <a:endParaRPr kumimoji="1" lang="en-US" altLang="zh-CN" dirty="0"/>
          </a:p>
          <a:p>
            <a:pPr marL="914400" lvl="2" indent="0" algn="just">
              <a:buNone/>
            </a:pPr>
            <a:r>
              <a:rPr kumimoji="1" lang="zh-CN" altLang="en-US" b="1" dirty="0">
                <a:solidFill>
                  <a:srgbClr val="FF0000"/>
                </a:solidFill>
              </a:rPr>
              <a:t>引入原因</a:t>
            </a:r>
            <a:r>
              <a:rPr kumimoji="1" lang="zh-CN" altLang="en-US" dirty="0"/>
              <a:t>：</a:t>
            </a:r>
            <a:r>
              <a:rPr kumimoji="1" lang="en-US" altLang="zh-CN" dirty="0"/>
              <a:t>DMA</a:t>
            </a:r>
            <a:r>
              <a:rPr kumimoji="1" lang="zh-CN" altLang="en-US" dirty="0"/>
              <a:t>方式比起中断方式来已经显著地减少了</a:t>
            </a:r>
            <a:r>
              <a:rPr kumimoji="1" lang="en-US" altLang="zh-CN" dirty="0"/>
              <a:t>CPU</a:t>
            </a:r>
            <a:r>
              <a:rPr kumimoji="1" lang="zh-CN" altLang="en-US" dirty="0"/>
              <a:t>的干预，即已由以字</a:t>
            </a:r>
            <a:r>
              <a:rPr kumimoji="1" lang="en-US" altLang="zh-CN" dirty="0"/>
              <a:t>(</a:t>
            </a:r>
            <a:r>
              <a:rPr kumimoji="1" lang="zh-CN" altLang="en-US" dirty="0"/>
              <a:t>节</a:t>
            </a:r>
            <a:r>
              <a:rPr kumimoji="1" lang="en-US" altLang="zh-CN" dirty="0"/>
              <a:t>)</a:t>
            </a:r>
            <a:r>
              <a:rPr kumimoji="1" lang="zh-CN" altLang="en-US" dirty="0"/>
              <a:t>为单位的干预减少到以数据块为单位的干预，但</a:t>
            </a:r>
            <a:r>
              <a:rPr kumimoji="1" lang="en-US" altLang="zh-CN" dirty="0"/>
              <a:t>CPU</a:t>
            </a:r>
            <a:r>
              <a:rPr kumimoji="1" lang="zh-CN" altLang="en-US" dirty="0"/>
              <a:t>每发出一条</a:t>
            </a:r>
            <a:r>
              <a:rPr kumimoji="1" lang="en-US" altLang="zh-CN" dirty="0"/>
              <a:t>I/O</a:t>
            </a:r>
            <a:r>
              <a:rPr kumimoji="1" lang="zh-CN" altLang="en-US" dirty="0"/>
              <a:t>指令，也只能读</a:t>
            </a:r>
            <a:r>
              <a:rPr kumimoji="1" lang="en-US" altLang="zh-CN" dirty="0"/>
              <a:t>(</a:t>
            </a:r>
            <a:r>
              <a:rPr kumimoji="1" lang="zh-CN" altLang="en-US" dirty="0"/>
              <a:t>或写</a:t>
            </a:r>
            <a:r>
              <a:rPr kumimoji="1" lang="en-US" altLang="zh-CN" dirty="0"/>
              <a:t>)</a:t>
            </a:r>
            <a:r>
              <a:rPr kumimoji="1" lang="zh-CN" altLang="en-US" dirty="0"/>
              <a:t>一个连续的数据块。而当我们需要一次去读多个数据块且将它们分别传送到不同的内存区域，或者相反时，则须由</a:t>
            </a:r>
            <a:r>
              <a:rPr kumimoji="1" lang="en-US" altLang="zh-CN" dirty="0"/>
              <a:t>CPU</a:t>
            </a:r>
            <a:r>
              <a:rPr kumimoji="1" lang="zh-CN" altLang="en-US" dirty="0"/>
              <a:t>分别发出多条</a:t>
            </a:r>
            <a:r>
              <a:rPr kumimoji="1" lang="en-US" altLang="zh-CN" dirty="0"/>
              <a:t>I/O</a:t>
            </a:r>
            <a:r>
              <a:rPr kumimoji="1" lang="zh-CN" altLang="en-US" dirty="0"/>
              <a:t>指令及进行多次中断处理才能完成。</a:t>
            </a:r>
            <a:endParaRPr kumimoji="1" lang="en-US" altLang="zh-CN" dirty="0"/>
          </a:p>
          <a:p>
            <a:pPr marL="914400" lvl="2" indent="0" algn="just">
              <a:buNone/>
            </a:pPr>
            <a:r>
              <a:rPr kumimoji="1" lang="zh-CN" altLang="en-US" b="1" dirty="0">
                <a:solidFill>
                  <a:srgbClr val="FF0000"/>
                </a:solidFill>
              </a:rPr>
              <a:t>通道程序</a:t>
            </a:r>
            <a:r>
              <a:rPr kumimoji="1" lang="zh-CN" altLang="en-US" dirty="0"/>
              <a:t>：通道是通过执行通道程序并与设备控制器共同实现对</a:t>
            </a:r>
            <a:r>
              <a:rPr kumimoji="1" lang="en-US" altLang="zh-CN" dirty="0"/>
              <a:t>I/O</a:t>
            </a:r>
            <a:r>
              <a:rPr kumimoji="1" lang="zh-CN" altLang="en-US" dirty="0"/>
              <a:t>设备的控制的。通道程序是由一系列通道指令</a:t>
            </a:r>
            <a:r>
              <a:rPr kumimoji="1" lang="en-US" altLang="zh-CN" dirty="0"/>
              <a:t>(</a:t>
            </a:r>
            <a:r>
              <a:rPr kumimoji="1" lang="zh-CN" altLang="en-US" dirty="0"/>
              <a:t>或称为通道命令</a:t>
            </a:r>
            <a:r>
              <a:rPr kumimoji="1" lang="en-US" altLang="zh-CN" dirty="0"/>
              <a:t>)</a:t>
            </a:r>
            <a:r>
              <a:rPr kumimoji="1" lang="zh-CN" altLang="en-US" dirty="0"/>
              <a:t>所构成的。右表是一个由六条通道指令所构成的简单的通道程序。该程序的功能是将内存中不同地址的数据写成多个记录。</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p:cNvPicPr>
            <a:picLocks noChangeAspect="1" noChangeArrowheads="1"/>
          </p:cNvPicPr>
          <p:nvPr/>
        </p:nvPicPr>
        <p:blipFill>
          <a:blip r:embed="rId2"/>
          <a:srcRect l="17018" r="17043"/>
          <a:stretch>
            <a:fillRect/>
          </a:stretch>
        </p:blipFill>
        <p:spPr bwMode="auto">
          <a:xfrm>
            <a:off x="7367154" y="3132130"/>
            <a:ext cx="5167746" cy="2486630"/>
          </a:xfrm>
          <a:prstGeom prst="rect">
            <a:avLst/>
          </a:prstGeom>
          <a:noFill/>
          <a:ln>
            <a:noFill/>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与设备无关的</a:t>
            </a:r>
            <a:r>
              <a:rPr kumimoji="1" lang="en-US" altLang="zh-CN" dirty="0"/>
              <a:t>I/O</a:t>
            </a:r>
            <a:r>
              <a:rPr kumimoji="1" lang="zh-CN" altLang="en-US" dirty="0"/>
              <a:t>软件</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665018" y="1629270"/>
            <a:ext cx="10848109" cy="2246769"/>
          </a:xfrm>
          <a:prstGeom prst="rect">
            <a:avLst/>
          </a:prstGeom>
          <a:noFill/>
        </p:spPr>
        <p:txBody>
          <a:bodyPr wrap="square">
            <a:spAutoFit/>
          </a:bodyPr>
          <a:lstStyle/>
          <a:p>
            <a:pPr algn="just"/>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        为方便用户和提高</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OS</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的可适应性与可扩展性，在现代</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OS</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的</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系统中，都无一例外地增加了与设备无关的</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软件，以实现设备独立性，也称为设备无关性。其基本含义是：应用程序中所用的设备，不局限于使用某个具体的物理设备。为每个设备所配置的设备驱动程序是与硬件紧密相关的软件。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与设备无关软件的基本概念</a:t>
            </a:r>
            <a:endParaRPr kumimoji="1" lang="en-US" altLang="zh-CN" dirty="0"/>
          </a:p>
          <a:p>
            <a:pPr lvl="1">
              <a:buFont typeface="Wingdings" panose="05000000000000000000" pitchFamily="2" charset="2"/>
              <a:buChar char="ü"/>
            </a:pPr>
            <a:r>
              <a:rPr kumimoji="1" lang="zh-CN" altLang="en-US" dirty="0"/>
              <a:t>以物理设备名使用设备</a:t>
            </a:r>
            <a:endParaRPr kumimoji="1" lang="en-US" altLang="zh-CN" dirty="0"/>
          </a:p>
          <a:p>
            <a:pPr marL="914400" lvl="2" indent="0" algn="just">
              <a:buNone/>
            </a:pPr>
            <a:r>
              <a:rPr kumimoji="1" lang="zh-CN" altLang="en-US" dirty="0"/>
              <a:t>在早期</a:t>
            </a:r>
            <a:r>
              <a:rPr kumimoji="1" lang="en-US" altLang="zh-CN" dirty="0"/>
              <a:t>OS</a:t>
            </a:r>
            <a:r>
              <a:rPr kumimoji="1" lang="zh-CN" altLang="en-US" dirty="0"/>
              <a:t>中，应用程序在使用</a:t>
            </a:r>
            <a:r>
              <a:rPr kumimoji="1" lang="en-US" altLang="zh-CN" dirty="0"/>
              <a:t>I/O</a:t>
            </a:r>
            <a:r>
              <a:rPr kumimoji="1" lang="zh-CN" altLang="en-US" dirty="0"/>
              <a:t>设备时，都使用设备的物理名称，这使应用程序与系统中的物理设备直接相关。</a:t>
            </a:r>
            <a:endParaRPr kumimoji="1" lang="en-US" altLang="zh-CN" dirty="0"/>
          </a:p>
          <a:p>
            <a:pPr lvl="1">
              <a:buFont typeface="Wingdings" panose="05000000000000000000" pitchFamily="2" charset="2"/>
              <a:buChar char="ü"/>
            </a:pPr>
            <a:r>
              <a:rPr kumimoji="1" lang="zh-CN" altLang="en-US" dirty="0"/>
              <a:t>引入了逻辑设备名</a:t>
            </a:r>
            <a:endParaRPr kumimoji="1" lang="en-US" altLang="zh-CN" dirty="0"/>
          </a:p>
          <a:p>
            <a:pPr marL="914400" lvl="2" indent="0" algn="just">
              <a:buNone/>
            </a:pPr>
            <a:r>
              <a:rPr kumimoji="1" lang="zh-CN" altLang="en-US" dirty="0"/>
              <a:t>为实现与设备的无关性而引入了逻辑设备和物理设备两个概念。逻辑设备是抽象设备名。</a:t>
            </a:r>
            <a:endParaRPr kumimoji="1" lang="en-US" altLang="zh-CN" dirty="0"/>
          </a:p>
          <a:p>
            <a:pPr lvl="1">
              <a:buFont typeface="Wingdings" panose="05000000000000000000" pitchFamily="2" charset="2"/>
              <a:buChar char="ü"/>
            </a:pPr>
            <a:r>
              <a:rPr kumimoji="1" lang="zh-CN" altLang="en-US" dirty="0"/>
              <a:t>逻辑设备名称到物理设备名称的转换</a:t>
            </a:r>
            <a:endParaRPr kumimoji="1" lang="en-US" altLang="zh-CN" dirty="0"/>
          </a:p>
          <a:p>
            <a:pPr marL="914400" lvl="2" indent="0">
              <a:buNone/>
            </a:pPr>
            <a:r>
              <a:rPr kumimoji="1" lang="zh-CN" altLang="en-US" dirty="0"/>
              <a:t>在应用程序中，用逻辑设备名称使用设备虽然方便了用户，但系统却只识别物理设备名称，因此在实际执行时，还必须使用物理名称。为此，在系统中，必须具有将逻辑设备名称转换为某物理设备名称的功能。</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与设备无关的软件</a:t>
            </a:r>
            <a:endParaRPr kumimoji="1" lang="en-US" altLang="zh-CN" dirty="0"/>
          </a:p>
          <a:p>
            <a:pPr lvl="1">
              <a:buFont typeface="Wingdings" panose="05000000000000000000" pitchFamily="2" charset="2"/>
              <a:buChar char="ü"/>
            </a:pPr>
            <a:r>
              <a:rPr kumimoji="1" lang="zh-CN" altLang="en-US" dirty="0"/>
              <a:t>设备驱动程序的统一接口</a:t>
            </a:r>
            <a:endParaRPr kumimoji="1" lang="en-US" altLang="zh-CN" dirty="0"/>
          </a:p>
          <a:p>
            <a:pPr marL="914400" lvl="2" indent="0" algn="just">
              <a:buNone/>
            </a:pPr>
            <a:r>
              <a:rPr kumimoji="1" lang="zh-CN" altLang="en-US" dirty="0"/>
              <a:t>为了使所有的设备驱动程序有着统一的接口，一方面，要求每个设备驱动程序与</a:t>
            </a:r>
            <a:r>
              <a:rPr kumimoji="1" lang="en-US" altLang="zh-CN" dirty="0"/>
              <a:t>OS</a:t>
            </a:r>
            <a:r>
              <a:rPr kumimoji="1" lang="zh-CN" altLang="en-US" dirty="0"/>
              <a:t>之间都有着相同的接口，或者相近的接口，这样会使添加一个新的设备驱动程序变得很容易，同时在很大程度上方便了开发人员对设备驱动程序的编制。另一方面，要将抽象设备名映射到适当的驱动程序上，或者说，将抽象的设备名转换为具体的物理设备名，并进一步可以找到相应物理设备的驱动程序入口。此外，还应对设备进行保护，禁止用户直接访问设备，以防止无权访问的用户使用。</a:t>
            </a:r>
            <a:endParaRPr kumimoji="1" lang="en-US" altLang="zh-CN" dirty="0"/>
          </a:p>
          <a:p>
            <a:pPr lvl="1">
              <a:buFont typeface="Wingdings" panose="05000000000000000000" pitchFamily="2" charset="2"/>
              <a:buChar char="ü"/>
            </a:pPr>
            <a:r>
              <a:rPr kumimoji="1" lang="zh-CN" altLang="en-US" dirty="0"/>
              <a:t>缓冲管理</a:t>
            </a:r>
          </a:p>
          <a:p>
            <a:pPr marL="914400" lvl="2" indent="0" algn="just">
              <a:buNone/>
            </a:pPr>
            <a:r>
              <a:rPr kumimoji="1" lang="zh-CN" altLang="en-US" dirty="0"/>
              <a:t>无论是字符设备还是块设备，它们的运行速度都远低于</a:t>
            </a:r>
            <a:r>
              <a:rPr kumimoji="1" lang="en-US" altLang="zh-CN" dirty="0"/>
              <a:t>CPU</a:t>
            </a:r>
            <a:r>
              <a:rPr kumimoji="1" lang="zh-CN" altLang="en-US" dirty="0"/>
              <a:t>的速度。为了缓和</a:t>
            </a:r>
            <a:r>
              <a:rPr kumimoji="1" lang="en-US" altLang="zh-CN" dirty="0"/>
              <a:t>CPU</a:t>
            </a:r>
            <a:r>
              <a:rPr kumimoji="1" lang="zh-CN" altLang="en-US" dirty="0"/>
              <a:t>和</a:t>
            </a:r>
            <a:r>
              <a:rPr kumimoji="1" lang="en-US" altLang="zh-CN" dirty="0"/>
              <a:t>I/O</a:t>
            </a:r>
            <a:r>
              <a:rPr kumimoji="1" lang="zh-CN" altLang="en-US" dirty="0"/>
              <a:t>设备之间的矛盾、提高</a:t>
            </a:r>
            <a:r>
              <a:rPr kumimoji="1" lang="en-US" altLang="zh-CN" dirty="0"/>
              <a:t>CPU</a:t>
            </a:r>
            <a:r>
              <a:rPr kumimoji="1" lang="zh-CN" altLang="en-US" dirty="0"/>
              <a:t>的利用率，在现代</a:t>
            </a:r>
            <a:r>
              <a:rPr kumimoji="1" lang="en-US" altLang="zh-CN" dirty="0"/>
              <a:t>OS</a:t>
            </a:r>
            <a:r>
              <a:rPr kumimoji="1" lang="zh-CN" altLang="en-US" dirty="0"/>
              <a:t>中都无一例外地分别为字符设备和块设备配置了相应的缓冲区。缓冲区有着多种形式，如单缓冲区、双缓冲区、循环缓冲区、公用缓冲池等，以满足不同情况的需要。</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与设备无关的软件</a:t>
            </a:r>
            <a:endParaRPr kumimoji="1" lang="en-US" altLang="zh-CN" dirty="0"/>
          </a:p>
          <a:p>
            <a:pPr lvl="1">
              <a:buFont typeface="Wingdings" panose="05000000000000000000" pitchFamily="2" charset="2"/>
              <a:buChar char="ü"/>
            </a:pPr>
            <a:r>
              <a:rPr kumimoji="1" lang="zh-CN" altLang="en-US" dirty="0"/>
              <a:t>差错控制</a:t>
            </a:r>
            <a:endParaRPr kumimoji="1" lang="en-US" altLang="zh-CN" dirty="0"/>
          </a:p>
          <a:p>
            <a:pPr marL="914400" lvl="2" indent="0" algn="just">
              <a:buNone/>
            </a:pPr>
            <a:r>
              <a:rPr kumimoji="1" lang="zh-CN" altLang="en-US" dirty="0"/>
              <a:t>由于设备中有着许多的机械和电气部分，因此，它们比主机更容易出现故障，这就导致</a:t>
            </a:r>
            <a:r>
              <a:rPr kumimoji="1" lang="en-US" altLang="zh-CN" dirty="0"/>
              <a:t>I/O</a:t>
            </a:r>
            <a:r>
              <a:rPr kumimoji="1" lang="zh-CN" altLang="en-US" dirty="0"/>
              <a:t>操作中的绝大多数错误都与设备有关。错误可分为如下两类：暂时性错误和持久性错误。</a:t>
            </a:r>
            <a:endParaRPr kumimoji="1" lang="en-US" altLang="zh-CN" dirty="0"/>
          </a:p>
          <a:p>
            <a:pPr lvl="1">
              <a:buFont typeface="Wingdings" panose="05000000000000000000" pitchFamily="2" charset="2"/>
              <a:buChar char="ü"/>
            </a:pPr>
            <a:r>
              <a:rPr kumimoji="1" lang="zh-CN" altLang="en-US" dirty="0"/>
              <a:t>对独立设备的分配与回收</a:t>
            </a:r>
          </a:p>
          <a:p>
            <a:pPr marL="914400" lvl="2" indent="0" algn="just">
              <a:buNone/>
            </a:pPr>
            <a:r>
              <a:rPr kumimoji="1" lang="zh-CN" altLang="en-US" dirty="0"/>
              <a:t>在系统中有两类设备：独占设备和共享设备。对于独占设备，为了避免诸进程对独占设备的争夺，必须由系统来统一分配，不允许进程自行使用。每当进程需要使用某</a:t>
            </a:r>
            <a:r>
              <a:rPr kumimoji="1" lang="en-US" altLang="zh-CN" dirty="0"/>
              <a:t>(</a:t>
            </a:r>
            <a:r>
              <a:rPr kumimoji="1" lang="zh-CN" altLang="en-US" dirty="0"/>
              <a:t>独占</a:t>
            </a:r>
            <a:r>
              <a:rPr kumimoji="1" lang="en-US" altLang="zh-CN" dirty="0"/>
              <a:t>)</a:t>
            </a:r>
            <a:r>
              <a:rPr kumimoji="1" lang="zh-CN" altLang="en-US" dirty="0"/>
              <a:t>设备时，必须先提出申请。</a:t>
            </a:r>
            <a:r>
              <a:rPr kumimoji="1" lang="en-US" altLang="zh-CN" dirty="0"/>
              <a:t>OS</a:t>
            </a:r>
            <a:r>
              <a:rPr kumimoji="1" lang="zh-CN" altLang="en-US" dirty="0"/>
              <a:t>接到对设备的请求后，先对进程所请求的独占设备进行检查，看该设备是否空闲。若空闲，才把该设备分配给请求进程。否则，进程将被阻塞，放入该设备的请求队列中等待。等到其它进程释放该设备时，再将队列中的第一个进程唤醒，该进程得到设备后继续运行。</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与设备无关的软件</a:t>
            </a:r>
            <a:endParaRPr kumimoji="1" lang="en-US" altLang="zh-CN" dirty="0"/>
          </a:p>
          <a:p>
            <a:pPr lvl="1">
              <a:buFont typeface="Wingdings" panose="05000000000000000000" pitchFamily="2" charset="2"/>
              <a:buChar char="ü"/>
            </a:pPr>
            <a:r>
              <a:rPr kumimoji="1" lang="zh-CN" altLang="en-US" dirty="0"/>
              <a:t>独立于设备的逻辑数据块</a:t>
            </a:r>
            <a:endParaRPr kumimoji="1" lang="en-US" altLang="zh-CN" dirty="0"/>
          </a:p>
          <a:p>
            <a:pPr marL="914400" lvl="2" indent="0" algn="just">
              <a:buNone/>
            </a:pPr>
            <a:r>
              <a:rPr kumimoji="1" lang="zh-CN" altLang="en-US" dirty="0"/>
              <a:t>不同类型设备，其数据交换单位是不同的，读取和传输速率也各不相同，如字符型设备以单个字符</a:t>
            </a:r>
            <a:r>
              <a:rPr kumimoji="1" lang="en-US" altLang="zh-CN" dirty="0"/>
              <a:t>(</a:t>
            </a:r>
            <a:r>
              <a:rPr kumimoji="1" lang="zh-CN" altLang="en-US" dirty="0"/>
              <a:t>字</a:t>
            </a:r>
            <a:r>
              <a:rPr kumimoji="1" lang="en-US" altLang="zh-CN" dirty="0"/>
              <a:t>)</a:t>
            </a:r>
            <a:r>
              <a:rPr kumimoji="1" lang="zh-CN" altLang="en-US" dirty="0"/>
              <a:t>为单位，块设备是以一个数据块为单位。即使同一类型的设备，其数据交换单位的大小也是有差异的，如不同磁盘由于扇区大小的不同，可能造成数据块大小的不一致。设备独立性软件应能够隐藏这些差异而被逻辑设备使用，并向高层软件提供大小统一的逻辑数据块。与</a:t>
            </a:r>
            <a:r>
              <a:rPr kumimoji="1" lang="zh-CN" altLang="en-US" b="1" dirty="0">
                <a:solidFill>
                  <a:srgbClr val="FF0000"/>
                </a:solidFill>
              </a:rPr>
              <a:t>设备无关软件的功能</a:t>
            </a:r>
            <a:r>
              <a:rPr kumimoji="1" lang="zh-CN" altLang="en-US" dirty="0"/>
              <a:t>如下图所示：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5846" y="4399987"/>
            <a:ext cx="2971800" cy="2354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设备分配</a:t>
            </a:r>
            <a:endParaRPr kumimoji="1" lang="en-US" altLang="zh-CN" dirty="0"/>
          </a:p>
          <a:p>
            <a:pPr lvl="1">
              <a:buFont typeface="Wingdings" panose="05000000000000000000" pitchFamily="2" charset="2"/>
              <a:buChar char="ü"/>
            </a:pPr>
            <a:r>
              <a:rPr kumimoji="1" lang="zh-CN" altLang="en-US" dirty="0"/>
              <a:t>设备分配中的数据结构</a:t>
            </a:r>
            <a:endParaRPr kumimoji="1" lang="en-US" altLang="zh-CN" dirty="0"/>
          </a:p>
          <a:p>
            <a:pPr marL="914400" lvl="2" indent="0" algn="just">
              <a:buNone/>
            </a:pPr>
            <a:r>
              <a:rPr kumimoji="1" lang="zh-CN" altLang="en-US" dirty="0"/>
              <a:t>在用于设备分配的数据结构中，记录了对设备或控制器进行控制所需的信息。在进行设备分配时需要如下的数据结构。</a:t>
            </a:r>
            <a:endParaRPr kumimoji="1" lang="en-US" altLang="zh-CN" dirty="0"/>
          </a:p>
          <a:p>
            <a:pPr marL="914400" lvl="2" indent="0" algn="just">
              <a:buNone/>
            </a:pPr>
            <a:r>
              <a:rPr kumimoji="1" lang="en-US" altLang="zh-CN" dirty="0"/>
              <a:t>1)</a:t>
            </a:r>
            <a:r>
              <a:rPr kumimoji="1" lang="zh-CN" altLang="en-US" b="1" dirty="0">
                <a:solidFill>
                  <a:srgbClr val="FF0000"/>
                </a:solidFill>
              </a:rPr>
              <a:t>设备控制表</a:t>
            </a:r>
            <a:r>
              <a:rPr kumimoji="1" lang="en-US" altLang="zh-CN" b="1" dirty="0">
                <a:solidFill>
                  <a:srgbClr val="FF0000"/>
                </a:solidFill>
              </a:rPr>
              <a:t>DCT</a:t>
            </a:r>
            <a:r>
              <a:rPr kumimoji="1" lang="zh-CN" altLang="en-US" dirty="0"/>
              <a:t>：系统为每一个设备都配置了一张设备控制表，用于记录设备的情况，具体如下图所示：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7280566" y="1390142"/>
            <a:ext cx="4211779" cy="707886"/>
          </a:xfrm>
          <a:prstGeom prst="rect">
            <a:avLst/>
          </a:prstGeom>
          <a:noFill/>
          <a:ln w="19050">
            <a:solidFill>
              <a:schemeClr val="tx1"/>
            </a:solidFill>
          </a:ln>
        </p:spPr>
        <p:txBody>
          <a:bodyPr wrap="square">
            <a:spAutoFit/>
          </a:bodyPr>
          <a:lstStyle/>
          <a:p>
            <a:pPr marL="0" lvl="1" indent="0">
              <a:buNone/>
            </a:pPr>
            <a:r>
              <a:rPr kumimoji="1" lang="zh-CN" altLang="en-US" sz="2000" b="1" dirty="0">
                <a:solidFill>
                  <a:srgbClr val="FF0000"/>
                </a:solidFill>
                <a:latin typeface="Times New Roman" panose="02020603050405020304" pitchFamily="18" charset="0"/>
                <a:cs typeface="Times New Roman" panose="02020603050405020304" pitchFamily="18" charset="0"/>
              </a:rPr>
              <a:t>系统为实现对独占设备的分配，必须在系统中配置相应的数据结构。</a:t>
            </a:r>
            <a:endParaRPr kumimoji="1" lang="en-US" altLang="zh-CN" sz="2000" b="1" dirty="0">
              <a:solidFill>
                <a:srgbClr val="FF0000"/>
              </a:solidFill>
              <a:latin typeface="Times New Roman" panose="02020603050405020304" pitchFamily="18" charset="0"/>
              <a:cs typeface="Times New Roman" panose="02020603050405020304" pitchFamily="18" charset="0"/>
            </a:endParaRPr>
          </a:p>
        </p:txBody>
      </p:sp>
      <p:pic>
        <p:nvPicPr>
          <p:cNvPr id="7" name="Picture 4" descr="6-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8277" y="3738866"/>
            <a:ext cx="5083203" cy="2754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5797477" y="6473282"/>
            <a:ext cx="1566429" cy="400110"/>
          </a:xfrm>
          <a:prstGeom prst="rect">
            <a:avLst/>
          </a:prstGeom>
          <a:noFill/>
        </p:spPr>
        <p:txBody>
          <a:bodyPr wrap="square">
            <a:spAutoFit/>
          </a:bodyPr>
          <a:lstStyle/>
          <a:p>
            <a:r>
              <a:rPr lang="zh-CN" altLang="en-US" sz="2000" b="1" dirty="0">
                <a:solidFill>
                  <a:srgbClr val="002060"/>
                </a:solidFill>
              </a:rPr>
              <a:t>设备控制表</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1069783" cy="5471933"/>
          </a:xfrm>
        </p:spPr>
        <p:txBody>
          <a:bodyPr>
            <a:normAutofit/>
          </a:bodyPr>
          <a:lstStyle/>
          <a:p>
            <a:pPr>
              <a:lnSpc>
                <a:spcPct val="120000"/>
              </a:lnSpc>
            </a:pPr>
            <a:r>
              <a:rPr kumimoji="1" lang="zh-CN" altLang="en-US" dirty="0"/>
              <a:t>设备分配</a:t>
            </a:r>
            <a:endParaRPr kumimoji="1" lang="en-US" altLang="zh-CN" dirty="0"/>
          </a:p>
          <a:p>
            <a:pPr lvl="1">
              <a:buFont typeface="Wingdings" panose="05000000000000000000" pitchFamily="2" charset="2"/>
              <a:buChar char="ü"/>
            </a:pPr>
            <a:r>
              <a:rPr kumimoji="1" lang="zh-CN" altLang="en-US" dirty="0"/>
              <a:t>设备分配中的数据结构</a:t>
            </a:r>
            <a:endParaRPr kumimoji="1" lang="en-US" altLang="zh-CN" dirty="0"/>
          </a:p>
          <a:p>
            <a:pPr marL="914400" lvl="2" indent="0" algn="just">
              <a:buNone/>
            </a:pPr>
            <a:r>
              <a:rPr kumimoji="1" lang="en-US" altLang="zh-CN" dirty="0"/>
              <a:t>2)</a:t>
            </a:r>
            <a:r>
              <a:rPr kumimoji="1" lang="zh-CN" altLang="en-US" b="1" dirty="0">
                <a:solidFill>
                  <a:srgbClr val="FF0000"/>
                </a:solidFill>
              </a:rPr>
              <a:t>控制器控制表、通道控制表和系统设备表</a:t>
            </a:r>
            <a:r>
              <a:rPr kumimoji="1" lang="zh-CN" altLang="en-US" dirty="0"/>
              <a:t>：</a:t>
            </a:r>
            <a:endParaRPr kumimoji="1" lang="en-US" altLang="zh-CN" dirty="0"/>
          </a:p>
          <a:p>
            <a:pPr marL="1371600" lvl="2" indent="-457200" algn="just">
              <a:buFont typeface="+mj-ea"/>
              <a:buAutoNum type="circleNumDbPlain"/>
            </a:pPr>
            <a:r>
              <a:rPr kumimoji="1" lang="zh-CN" altLang="en-US" b="1" dirty="0">
                <a:solidFill>
                  <a:srgbClr val="00B0F0"/>
                </a:solidFill>
              </a:rPr>
              <a:t>控制器控制表</a:t>
            </a:r>
            <a:r>
              <a:rPr kumimoji="1" lang="en-US" altLang="zh-CN" b="1" dirty="0">
                <a:solidFill>
                  <a:srgbClr val="00B0F0"/>
                </a:solidFill>
              </a:rPr>
              <a:t>(COCT)</a:t>
            </a:r>
            <a:r>
              <a:rPr kumimoji="1" lang="zh-CN" altLang="en-US" dirty="0"/>
              <a:t>。系统为每一个控制器都设置了用于记录控制器情况的控制器控制表。</a:t>
            </a:r>
            <a:endParaRPr kumimoji="1" lang="en-US" altLang="zh-CN" dirty="0"/>
          </a:p>
          <a:p>
            <a:pPr marL="1371600" lvl="2" indent="-457200" algn="just">
              <a:buFont typeface="+mj-ea"/>
              <a:buAutoNum type="circleNumDbPlain"/>
            </a:pPr>
            <a:r>
              <a:rPr kumimoji="1" lang="zh-CN" altLang="en-US" b="1" dirty="0">
                <a:solidFill>
                  <a:srgbClr val="00B0F0"/>
                </a:solidFill>
              </a:rPr>
              <a:t>通道控制表</a:t>
            </a:r>
            <a:r>
              <a:rPr kumimoji="1" lang="en-US" altLang="zh-CN" b="1" dirty="0">
                <a:solidFill>
                  <a:srgbClr val="00B0F0"/>
                </a:solidFill>
              </a:rPr>
              <a:t>(CHCT)</a:t>
            </a:r>
            <a:r>
              <a:rPr kumimoji="1" lang="zh-CN" altLang="en-US" dirty="0"/>
              <a:t>。每个通道都有一张通道控制表。</a:t>
            </a:r>
            <a:endParaRPr kumimoji="1" lang="en-US" altLang="zh-CN" dirty="0"/>
          </a:p>
          <a:p>
            <a:pPr marL="1371600" lvl="2" indent="-457200" algn="just">
              <a:buFont typeface="+mj-ea"/>
              <a:buAutoNum type="circleNumDbPlain"/>
            </a:pPr>
            <a:r>
              <a:rPr kumimoji="1" lang="zh-CN" altLang="en-US" b="1" dirty="0">
                <a:solidFill>
                  <a:srgbClr val="00B0F0"/>
                </a:solidFill>
              </a:rPr>
              <a:t>系统设备表</a:t>
            </a:r>
            <a:r>
              <a:rPr kumimoji="1" lang="en-US" altLang="zh-CN" b="1" dirty="0">
                <a:solidFill>
                  <a:srgbClr val="00B0F0"/>
                </a:solidFill>
              </a:rPr>
              <a:t>(SDT)</a:t>
            </a:r>
            <a:r>
              <a:rPr kumimoji="1" lang="zh-CN" altLang="en-US" dirty="0"/>
              <a:t>。系统范围的数据结构，记录了系统中全部设备情况，每个设备占一个表目，其中包括设备类型、设备标识符、设备控制表及设备驱动程序的入口等项。</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descr="6-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3162" y="4967996"/>
            <a:ext cx="7379855" cy="189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设备分配</a:t>
            </a:r>
            <a:endParaRPr kumimoji="1" lang="en-US" altLang="zh-CN" dirty="0"/>
          </a:p>
          <a:p>
            <a:pPr lvl="1">
              <a:buFont typeface="Wingdings" panose="05000000000000000000" pitchFamily="2" charset="2"/>
              <a:buChar char="ü"/>
            </a:pPr>
            <a:r>
              <a:rPr kumimoji="1" lang="zh-CN" altLang="en-US" dirty="0"/>
              <a:t>设备分配时应考虑的因素</a:t>
            </a:r>
            <a:endParaRPr kumimoji="1" lang="en-US" altLang="zh-CN" dirty="0"/>
          </a:p>
          <a:p>
            <a:pPr marL="914400" lvl="2" indent="0" algn="just">
              <a:buNone/>
            </a:pPr>
            <a:r>
              <a:rPr kumimoji="1" lang="zh-CN" altLang="en-US" dirty="0"/>
              <a:t>系统在分配设备时，应考虑如下几个因素：</a:t>
            </a:r>
            <a:endParaRPr kumimoji="1" lang="en-US" altLang="zh-CN" dirty="0"/>
          </a:p>
          <a:p>
            <a:pPr marL="914400" lvl="2" indent="0" algn="just">
              <a:buNone/>
            </a:pPr>
            <a:r>
              <a:rPr kumimoji="1" lang="en-US" altLang="zh-CN" dirty="0"/>
              <a:t>1)</a:t>
            </a:r>
            <a:r>
              <a:rPr kumimoji="1" lang="zh-CN" altLang="en-US" b="1" dirty="0">
                <a:solidFill>
                  <a:srgbClr val="FF0000"/>
                </a:solidFill>
              </a:rPr>
              <a:t>设备的固有属性</a:t>
            </a:r>
            <a:r>
              <a:rPr kumimoji="1" lang="zh-CN" altLang="en-US" dirty="0"/>
              <a:t>：设备的固有属性可分成三种，对它们应采取不同的分配策略。独占设备的分配策略、共享设备的分配策略、虚拟设备的分配策略（虚拟设备属于可共享的设备，可以将它同时分配给多个进程使用）。</a:t>
            </a:r>
            <a:endParaRPr kumimoji="1" lang="en-US" altLang="zh-CN" dirty="0"/>
          </a:p>
          <a:p>
            <a:pPr marL="914400" lvl="2" indent="0" algn="just">
              <a:buNone/>
            </a:pPr>
            <a:r>
              <a:rPr kumimoji="1" lang="en-US" altLang="zh-CN" dirty="0"/>
              <a:t>2)</a:t>
            </a:r>
            <a:r>
              <a:rPr kumimoji="1" lang="zh-CN" altLang="en-US" b="1" dirty="0">
                <a:solidFill>
                  <a:srgbClr val="FF0000"/>
                </a:solidFill>
              </a:rPr>
              <a:t>设备分配算法</a:t>
            </a:r>
            <a:r>
              <a:rPr kumimoji="1" lang="zh-CN" altLang="en-US" dirty="0"/>
              <a:t>：对设备分配算法，通常采用两种</a:t>
            </a:r>
            <a:r>
              <a:rPr kumimoji="1" lang="en-US" altLang="zh-CN" dirty="0"/>
              <a:t>(1)</a:t>
            </a:r>
            <a:r>
              <a:rPr kumimoji="1" lang="zh-CN" altLang="en-US" dirty="0"/>
              <a:t>先来先服务；</a:t>
            </a:r>
            <a:r>
              <a:rPr kumimoji="1" lang="en-US" altLang="zh-CN" dirty="0"/>
              <a:t>(2)</a:t>
            </a:r>
            <a:r>
              <a:rPr kumimoji="1" lang="zh-CN" altLang="en-US" dirty="0"/>
              <a:t>优先级高者优先。</a:t>
            </a:r>
            <a:endParaRPr kumimoji="1" lang="en-US" altLang="zh-CN" dirty="0"/>
          </a:p>
          <a:p>
            <a:pPr marL="914400" lvl="2" indent="0" algn="just">
              <a:buNone/>
            </a:pPr>
            <a:r>
              <a:rPr kumimoji="1" lang="en-US" altLang="zh-CN" dirty="0"/>
              <a:t>3)</a:t>
            </a:r>
            <a:r>
              <a:rPr kumimoji="1" lang="zh-CN" altLang="en-US" b="1" dirty="0">
                <a:solidFill>
                  <a:srgbClr val="FF0000"/>
                </a:solidFill>
              </a:rPr>
              <a:t>设备分配中的安全性</a:t>
            </a:r>
            <a:r>
              <a:rPr kumimoji="1" lang="zh-CN" altLang="en-US" dirty="0"/>
              <a:t>：从进程运行安全性上考虑，设备分配有两种方式</a:t>
            </a:r>
            <a:r>
              <a:rPr kumimoji="1" lang="en-US" altLang="zh-CN" dirty="0"/>
              <a:t>(1)</a:t>
            </a:r>
            <a:r>
              <a:rPr kumimoji="1" lang="zh-CN" altLang="en-US" dirty="0"/>
              <a:t>安全分配方式；</a:t>
            </a:r>
            <a:r>
              <a:rPr kumimoji="1" lang="en-US" altLang="zh-CN" dirty="0"/>
              <a:t>(2)</a:t>
            </a:r>
            <a:r>
              <a:rPr kumimoji="1" lang="zh-CN" altLang="en-US" dirty="0"/>
              <a:t>不安全分配方式。</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设备分配</a:t>
            </a:r>
            <a:endParaRPr kumimoji="1" lang="en-US" altLang="zh-CN" dirty="0"/>
          </a:p>
          <a:p>
            <a:pPr lvl="1">
              <a:buFont typeface="Wingdings" panose="05000000000000000000" pitchFamily="2" charset="2"/>
              <a:buChar char="ü"/>
            </a:pPr>
            <a:r>
              <a:rPr kumimoji="1" lang="zh-CN" altLang="en-US" dirty="0"/>
              <a:t>独占设备的分配程序</a:t>
            </a:r>
            <a:endParaRPr kumimoji="1" lang="en-US" altLang="zh-CN" dirty="0"/>
          </a:p>
          <a:p>
            <a:pPr marL="914400" lvl="2" indent="0" algn="just">
              <a:buNone/>
            </a:pPr>
            <a:r>
              <a:rPr kumimoji="1" lang="en-US" altLang="zh-CN" dirty="0"/>
              <a:t>1)</a:t>
            </a:r>
            <a:r>
              <a:rPr kumimoji="1" lang="zh-CN" altLang="en-US" b="1" dirty="0">
                <a:solidFill>
                  <a:srgbClr val="FF0000"/>
                </a:solidFill>
              </a:rPr>
              <a:t>基本的设备分配程序</a:t>
            </a:r>
            <a:r>
              <a:rPr kumimoji="1" lang="zh-CN" altLang="en-US" dirty="0"/>
              <a:t>：通过一个例子来介绍设备分配过程。当某进程提出</a:t>
            </a:r>
            <a:r>
              <a:rPr kumimoji="1" lang="en-US" altLang="zh-CN" dirty="0"/>
              <a:t>I/O</a:t>
            </a:r>
            <a:r>
              <a:rPr kumimoji="1" lang="zh-CN" altLang="en-US" dirty="0"/>
              <a:t>请求后，系统的设备分配程序可按步骤进行设备分配</a:t>
            </a:r>
            <a:r>
              <a:rPr kumimoji="1" lang="en-US" altLang="zh-CN" dirty="0"/>
              <a:t>(1)</a:t>
            </a:r>
            <a:r>
              <a:rPr kumimoji="1" lang="zh-CN" altLang="en-US" dirty="0"/>
              <a:t>分配设备；</a:t>
            </a:r>
            <a:r>
              <a:rPr kumimoji="1" lang="en-US" altLang="zh-CN" dirty="0"/>
              <a:t>(2)</a:t>
            </a:r>
            <a:r>
              <a:rPr kumimoji="1" lang="zh-CN" altLang="en-US" dirty="0"/>
              <a:t>分配控制器；</a:t>
            </a:r>
            <a:r>
              <a:rPr kumimoji="1" lang="en-US" altLang="zh-CN" dirty="0"/>
              <a:t>(3)</a:t>
            </a:r>
            <a:r>
              <a:rPr kumimoji="1" lang="zh-CN" altLang="en-US" dirty="0"/>
              <a:t>分配通道。</a:t>
            </a:r>
            <a:endParaRPr kumimoji="1" lang="en-US" altLang="zh-CN" dirty="0"/>
          </a:p>
          <a:p>
            <a:pPr marL="914400" lvl="2" indent="0" algn="just">
              <a:buNone/>
            </a:pPr>
            <a:r>
              <a:rPr kumimoji="1" lang="en-US" altLang="zh-CN" dirty="0"/>
              <a:t>2)</a:t>
            </a:r>
            <a:r>
              <a:rPr kumimoji="1" lang="zh-CN" altLang="en-US" b="1" dirty="0">
                <a:solidFill>
                  <a:srgbClr val="FF0000"/>
                </a:solidFill>
              </a:rPr>
              <a:t>设备分配程序的改进</a:t>
            </a:r>
            <a:r>
              <a:rPr kumimoji="1" lang="zh-CN" altLang="en-US" dirty="0"/>
              <a:t>：上面的例子中，进程是以物理设备名提出</a:t>
            </a:r>
            <a:r>
              <a:rPr kumimoji="1" lang="en-US" altLang="zh-CN" dirty="0"/>
              <a:t>I/O</a:t>
            </a:r>
            <a:r>
              <a:rPr kumimoji="1" lang="zh-CN" altLang="en-US" dirty="0"/>
              <a:t>请求的。如果所指定的设备已分配给其它进程，则分配失败。或者说上面的设备分配程序不具有与设备无关性。</a:t>
            </a:r>
            <a:r>
              <a:rPr kumimoji="1" lang="zh-CN" altLang="en-US" b="1" u="sng" dirty="0">
                <a:solidFill>
                  <a:schemeClr val="bg2">
                    <a:lumMod val="50000"/>
                  </a:schemeClr>
                </a:solidFill>
              </a:rPr>
              <a:t>为获得设备的独立性，进程应使用逻辑设备名请求</a:t>
            </a:r>
            <a:r>
              <a:rPr kumimoji="1" lang="en-US" altLang="zh-CN" b="1" u="sng" dirty="0">
                <a:solidFill>
                  <a:schemeClr val="bg2">
                    <a:lumMod val="50000"/>
                  </a:schemeClr>
                </a:solidFill>
              </a:rPr>
              <a:t>I/O</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与设备无关的</a:t>
            </a:r>
            <a:r>
              <a:rPr kumimoji="1" lang="en-US" altLang="zh-CN" dirty="0"/>
              <a:t>I/O</a:t>
            </a:r>
            <a:r>
              <a:rPr kumimoji="1" lang="zh-CN" altLang="en-US" dirty="0"/>
              <a:t>软件</a:t>
            </a:r>
          </a:p>
        </p:txBody>
      </p:sp>
      <p:sp>
        <p:nvSpPr>
          <p:cNvPr id="3" name="内容占位符 2"/>
          <p:cNvSpPr>
            <a:spLocks noGrp="1"/>
          </p:cNvSpPr>
          <p:nvPr>
            <p:ph idx="1"/>
          </p:nvPr>
        </p:nvSpPr>
        <p:spPr>
          <a:xfrm>
            <a:off x="838199" y="1390142"/>
            <a:ext cx="10799619" cy="5471933"/>
          </a:xfrm>
        </p:spPr>
        <p:txBody>
          <a:bodyPr>
            <a:normAutofit/>
          </a:bodyPr>
          <a:lstStyle/>
          <a:p>
            <a:pPr>
              <a:lnSpc>
                <a:spcPct val="120000"/>
              </a:lnSpc>
            </a:pPr>
            <a:r>
              <a:rPr kumimoji="1" lang="zh-CN" altLang="en-US" dirty="0"/>
              <a:t>逻辑设备名到物理设备名映射的实现</a:t>
            </a:r>
            <a:endParaRPr kumimoji="1" lang="en-US" altLang="zh-CN" dirty="0"/>
          </a:p>
          <a:p>
            <a:pPr lvl="1">
              <a:buFont typeface="Wingdings" panose="05000000000000000000" pitchFamily="2" charset="2"/>
              <a:buChar char="ü"/>
            </a:pPr>
            <a:r>
              <a:rPr kumimoji="1" lang="zh-CN" altLang="en-US" dirty="0"/>
              <a:t>逻辑设备表</a:t>
            </a:r>
            <a:r>
              <a:rPr kumimoji="1" lang="en-US" altLang="zh-CN" dirty="0"/>
              <a:t>LUT(Logical Unit Table)</a:t>
            </a:r>
          </a:p>
          <a:p>
            <a:pPr marL="914400" lvl="2" indent="0" algn="just">
              <a:buNone/>
            </a:pPr>
            <a:r>
              <a:rPr kumimoji="1" lang="zh-CN" altLang="en-US" dirty="0"/>
              <a:t>在逻辑设备表每个表目中包含</a:t>
            </a:r>
            <a:r>
              <a:rPr kumimoji="1" lang="en-US" altLang="zh-CN" dirty="0"/>
              <a:t>3</a:t>
            </a:r>
            <a:r>
              <a:rPr kumimoji="1" lang="zh-CN" altLang="en-US" dirty="0"/>
              <a:t>项：逻辑设备名、物理设备名和设备驱动程序入口地址。</a:t>
            </a:r>
            <a:endParaRPr kumimoji="1" lang="en-US" altLang="zh-CN" dirty="0"/>
          </a:p>
          <a:p>
            <a:pPr lvl="1">
              <a:buFont typeface="Wingdings" panose="05000000000000000000" pitchFamily="2" charset="2"/>
              <a:buChar char="ü"/>
            </a:pPr>
            <a:endParaRPr kumimoji="1" lang="en-US" altLang="zh-CN" dirty="0"/>
          </a:p>
          <a:p>
            <a:pPr lvl="1">
              <a:buFont typeface="Wingdings" panose="05000000000000000000" pitchFamily="2" charset="2"/>
              <a:buChar char="ü"/>
            </a:pPr>
            <a:endParaRPr kumimoji="1" lang="en-US" altLang="zh-CN" dirty="0"/>
          </a:p>
          <a:p>
            <a:pPr lvl="1">
              <a:buFont typeface="Wingdings" panose="05000000000000000000" pitchFamily="2" charset="2"/>
              <a:buChar char="ü"/>
            </a:pPr>
            <a:endParaRPr kumimoji="1" lang="en-US" altLang="zh-CN" dirty="0"/>
          </a:p>
          <a:p>
            <a:pPr marL="457200" lvl="1" indent="0">
              <a:buNone/>
            </a:pPr>
            <a:endParaRPr kumimoji="1" lang="en-US" altLang="zh-CN" dirty="0"/>
          </a:p>
          <a:p>
            <a:pPr lvl="1">
              <a:buFont typeface="Wingdings" panose="05000000000000000000" pitchFamily="2" charset="2"/>
              <a:buChar char="ü"/>
            </a:pPr>
            <a:r>
              <a:rPr kumimoji="1" lang="zh-CN" altLang="en-US" dirty="0"/>
              <a:t>逻辑设备表的设置问题</a:t>
            </a:r>
            <a:endParaRPr kumimoji="1" lang="en-US" altLang="zh-CN" dirty="0"/>
          </a:p>
          <a:p>
            <a:pPr marL="914400" lvl="2" indent="0">
              <a:buNone/>
            </a:pPr>
            <a:r>
              <a:rPr kumimoji="1" lang="zh-CN" altLang="en-US" dirty="0"/>
              <a:t>在系统中可采取两种方式设置逻辑设备表：第一种方式，是在整个系统中只设置一张</a:t>
            </a:r>
            <a:r>
              <a:rPr kumimoji="1" lang="en-US" altLang="zh-CN" dirty="0"/>
              <a:t>LUT</a:t>
            </a:r>
            <a:r>
              <a:rPr kumimoji="1" lang="zh-CN" altLang="en-US" dirty="0"/>
              <a:t>；第二种方式，是为每个用户设置一张</a:t>
            </a:r>
            <a:r>
              <a:rPr kumimoji="1" lang="en-US" altLang="zh-CN" dirty="0"/>
              <a:t>LUT</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8733" y="2985874"/>
            <a:ext cx="7097714" cy="1928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5959184" y="4755307"/>
            <a:ext cx="1511879" cy="400110"/>
          </a:xfrm>
          <a:prstGeom prst="rect">
            <a:avLst/>
          </a:prstGeom>
          <a:noFill/>
        </p:spPr>
        <p:txBody>
          <a:bodyPr wrap="square">
            <a:spAutoFit/>
          </a:bodyPr>
          <a:lstStyle/>
          <a:p>
            <a:r>
              <a:rPr lang="zh-CN" altLang="en-US" sz="2000" b="1" dirty="0">
                <a:solidFill>
                  <a:srgbClr val="002060"/>
                </a:solidFill>
              </a:rPr>
              <a:t>逻辑设备表</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用户层的</a:t>
            </a:r>
            <a:r>
              <a:rPr kumimoji="1" lang="en-US" altLang="zh-CN" dirty="0"/>
              <a:t>I/O</a:t>
            </a:r>
            <a:r>
              <a:rPr kumimoji="1" lang="zh-CN" altLang="en-US" dirty="0"/>
              <a:t>软件</a:t>
            </a:r>
          </a:p>
        </p:txBody>
      </p:sp>
      <p:sp>
        <p:nvSpPr>
          <p:cNvPr id="3" name="内容占位符 2"/>
          <p:cNvSpPr>
            <a:spLocks noGrp="1"/>
          </p:cNvSpPr>
          <p:nvPr>
            <p:ph idx="1"/>
          </p:nvPr>
        </p:nvSpPr>
        <p:spPr>
          <a:xfrm>
            <a:off x="838200" y="1390142"/>
            <a:ext cx="5167746" cy="5471933"/>
          </a:xfrm>
        </p:spPr>
        <p:txBody>
          <a:bodyPr>
            <a:normAutofit/>
          </a:bodyPr>
          <a:lstStyle/>
          <a:p>
            <a:pPr>
              <a:lnSpc>
                <a:spcPct val="120000"/>
              </a:lnSpc>
            </a:pPr>
            <a:r>
              <a:rPr kumimoji="1" lang="zh-CN" altLang="en-US" dirty="0"/>
              <a:t>系统调用与库函数</a:t>
            </a:r>
            <a:endParaRPr kumimoji="1" lang="en-US" altLang="zh-CN" dirty="0"/>
          </a:p>
          <a:p>
            <a:pPr lvl="1">
              <a:buFont typeface="Wingdings" panose="05000000000000000000" pitchFamily="2" charset="2"/>
              <a:buChar char="ü"/>
            </a:pPr>
            <a:r>
              <a:rPr kumimoji="1" lang="zh-CN" altLang="en-US" dirty="0"/>
              <a:t>系统调用</a:t>
            </a:r>
          </a:p>
          <a:p>
            <a:pPr marL="914400" lvl="2" indent="0" algn="just">
              <a:buNone/>
            </a:pPr>
            <a:r>
              <a:rPr kumimoji="1" lang="zh-CN" altLang="en-US" dirty="0"/>
              <a:t>一方面，为使诸进程能有条不紊地使用</a:t>
            </a:r>
            <a:r>
              <a:rPr kumimoji="1" lang="en-US" altLang="zh-CN" dirty="0"/>
              <a:t>I/O</a:t>
            </a:r>
            <a:r>
              <a:rPr kumimoji="1" lang="zh-CN" altLang="en-US" dirty="0"/>
              <a:t>设备，且能保护设备的安全性，不允许运行在用户态的应用进程去直接调用运行在核心态</a:t>
            </a:r>
            <a:r>
              <a:rPr kumimoji="1" lang="en-US" altLang="zh-CN" dirty="0"/>
              <a:t>(</a:t>
            </a:r>
            <a:r>
              <a:rPr kumimoji="1" lang="zh-CN" altLang="en-US" dirty="0"/>
              <a:t>系统态</a:t>
            </a:r>
            <a:r>
              <a:rPr kumimoji="1" lang="en-US" altLang="zh-CN" dirty="0"/>
              <a:t>)</a:t>
            </a:r>
            <a:r>
              <a:rPr kumimoji="1" lang="zh-CN" altLang="en-US" dirty="0"/>
              <a:t>的</a:t>
            </a:r>
            <a:r>
              <a:rPr kumimoji="1" lang="en-US" altLang="zh-CN" dirty="0"/>
              <a:t>OS</a:t>
            </a:r>
            <a:r>
              <a:rPr kumimoji="1" lang="zh-CN" altLang="en-US" dirty="0"/>
              <a:t>过程。但另一方面，应用进程在运行时，又必须取得</a:t>
            </a:r>
            <a:r>
              <a:rPr kumimoji="1" lang="en-US" altLang="zh-CN" dirty="0"/>
              <a:t>OS</a:t>
            </a:r>
            <a:r>
              <a:rPr kumimoji="1" lang="zh-CN" altLang="en-US" dirty="0"/>
              <a:t>所提供的服务，否则，应用程序几乎无法运行。为了解决此矛盾，</a:t>
            </a:r>
            <a:r>
              <a:rPr kumimoji="1" lang="en-US" altLang="zh-CN" dirty="0"/>
              <a:t>OS</a:t>
            </a:r>
            <a:r>
              <a:rPr kumimoji="1" lang="zh-CN" altLang="en-US" dirty="0"/>
              <a:t>在用户层中引入了一个中介过程</a:t>
            </a:r>
            <a:r>
              <a:rPr kumimoji="1" lang="en-US" altLang="zh-CN" dirty="0"/>
              <a:t>——</a:t>
            </a:r>
            <a:r>
              <a:rPr kumimoji="1" lang="zh-CN" altLang="en-US" dirty="0"/>
              <a:t>系统调用，应用程序可以通过它间接调用</a:t>
            </a:r>
            <a:r>
              <a:rPr kumimoji="1" lang="en-US" altLang="zh-CN" dirty="0"/>
              <a:t>OS</a:t>
            </a:r>
            <a:r>
              <a:rPr kumimoji="1" lang="zh-CN" altLang="en-US" dirty="0"/>
              <a:t>中的</a:t>
            </a:r>
            <a:r>
              <a:rPr kumimoji="1" lang="en-US" altLang="zh-CN" dirty="0"/>
              <a:t>I/O</a:t>
            </a:r>
            <a:r>
              <a:rPr kumimoji="1" lang="zh-CN" altLang="en-US" dirty="0"/>
              <a:t>过程，对</a:t>
            </a:r>
            <a:r>
              <a:rPr kumimoji="1" lang="en-US" altLang="zh-CN" dirty="0"/>
              <a:t>I/O</a:t>
            </a:r>
            <a:r>
              <a:rPr kumimoji="1" lang="zh-CN" altLang="en-US" dirty="0"/>
              <a:t>设备进行操作。</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6212" y="2578458"/>
            <a:ext cx="4827587" cy="3580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7568405" y="6192462"/>
            <a:ext cx="2743200" cy="400110"/>
          </a:xfrm>
          <a:prstGeom prst="rect">
            <a:avLst/>
          </a:prstGeom>
          <a:noFill/>
        </p:spPr>
        <p:txBody>
          <a:bodyPr wrap="square">
            <a:spAutoFit/>
          </a:bodyPr>
          <a:lstStyle/>
          <a:p>
            <a:r>
              <a:rPr lang="zh-CN" altLang="en-US" sz="2000" b="1" dirty="0">
                <a:solidFill>
                  <a:srgbClr val="002060"/>
                </a:solidFill>
              </a:rPr>
              <a:t>系统调用的执行过程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用户层的</a:t>
            </a:r>
            <a:r>
              <a:rPr kumimoji="1" lang="en-US" altLang="zh-CN" dirty="0"/>
              <a:t>I/O</a:t>
            </a:r>
            <a:r>
              <a:rPr kumimoji="1" lang="zh-CN" altLang="en-US" dirty="0"/>
              <a:t>软件</a:t>
            </a:r>
          </a:p>
        </p:txBody>
      </p:sp>
      <p:sp>
        <p:nvSpPr>
          <p:cNvPr id="3" name="内容占位符 2"/>
          <p:cNvSpPr>
            <a:spLocks noGrp="1"/>
          </p:cNvSpPr>
          <p:nvPr>
            <p:ph idx="1"/>
          </p:nvPr>
        </p:nvSpPr>
        <p:spPr>
          <a:xfrm>
            <a:off x="838200" y="1390142"/>
            <a:ext cx="10778836" cy="5471933"/>
          </a:xfrm>
        </p:spPr>
        <p:txBody>
          <a:bodyPr>
            <a:normAutofit/>
          </a:bodyPr>
          <a:lstStyle/>
          <a:p>
            <a:pPr>
              <a:lnSpc>
                <a:spcPct val="120000"/>
              </a:lnSpc>
            </a:pPr>
            <a:r>
              <a:rPr kumimoji="1" lang="zh-CN" altLang="en-US" dirty="0"/>
              <a:t>系统调用与库函数</a:t>
            </a:r>
            <a:endParaRPr kumimoji="1" lang="en-US" altLang="zh-CN" dirty="0"/>
          </a:p>
          <a:p>
            <a:pPr lvl="1">
              <a:buFont typeface="Wingdings" panose="05000000000000000000" pitchFamily="2" charset="2"/>
              <a:buChar char="ü"/>
            </a:pPr>
            <a:r>
              <a:rPr kumimoji="1" lang="zh-CN" altLang="en-US" dirty="0"/>
              <a:t>库函数</a:t>
            </a:r>
          </a:p>
          <a:p>
            <a:pPr marL="914400" lvl="2" indent="0" algn="just">
              <a:buNone/>
            </a:pPr>
            <a:r>
              <a:rPr kumimoji="1" lang="zh-CN" altLang="en-US" dirty="0"/>
              <a:t>在</a:t>
            </a:r>
            <a:r>
              <a:rPr kumimoji="1" lang="en-US" altLang="zh-CN" dirty="0"/>
              <a:t>C</a:t>
            </a:r>
            <a:r>
              <a:rPr kumimoji="1" lang="zh-CN" altLang="en-US" dirty="0"/>
              <a:t>语言以及</a:t>
            </a:r>
            <a:r>
              <a:rPr kumimoji="1" lang="en-US" altLang="zh-CN" dirty="0"/>
              <a:t>UNIX</a:t>
            </a:r>
            <a:r>
              <a:rPr kumimoji="1" lang="zh-CN" altLang="en-US" dirty="0"/>
              <a:t>系统中，系统调用</a:t>
            </a:r>
            <a:r>
              <a:rPr kumimoji="1" lang="en-US" altLang="zh-CN" dirty="0"/>
              <a:t>(</a:t>
            </a:r>
            <a:r>
              <a:rPr kumimoji="1" lang="zh-CN" altLang="en-US" dirty="0"/>
              <a:t>如</a:t>
            </a:r>
            <a:r>
              <a:rPr kumimoji="1" lang="en-US" altLang="zh-CN" dirty="0"/>
              <a:t>read)</a:t>
            </a:r>
            <a:r>
              <a:rPr kumimoji="1" lang="zh-CN" altLang="en-US" dirty="0"/>
              <a:t>与各系统调用所使用的库函数</a:t>
            </a:r>
            <a:r>
              <a:rPr kumimoji="1" lang="en-US" altLang="zh-CN" dirty="0"/>
              <a:t>(</a:t>
            </a:r>
            <a:r>
              <a:rPr kumimoji="1" lang="zh-CN" altLang="en-US" dirty="0"/>
              <a:t>如</a:t>
            </a:r>
            <a:r>
              <a:rPr kumimoji="1" lang="en-US" altLang="zh-CN" dirty="0"/>
              <a:t>read)</a:t>
            </a:r>
            <a:r>
              <a:rPr kumimoji="1" lang="zh-CN" altLang="en-US" dirty="0"/>
              <a:t>之间几乎是一一对应的。而微软定义了一套过程，称为</a:t>
            </a:r>
            <a:r>
              <a:rPr kumimoji="1" lang="en-US" altLang="zh-CN" dirty="0"/>
              <a:t>Win32 API</a:t>
            </a:r>
            <a:r>
              <a:rPr kumimoji="1" lang="zh-CN" altLang="en-US" dirty="0"/>
              <a:t>的应用程序接口</a:t>
            </a:r>
            <a:r>
              <a:rPr kumimoji="1" lang="en-US" altLang="zh-CN" dirty="0"/>
              <a:t>(Application Program Interface)</a:t>
            </a:r>
            <a:r>
              <a:rPr kumimoji="1" lang="zh-CN" altLang="en-US" dirty="0"/>
              <a:t>，程序员利用它们取得</a:t>
            </a:r>
            <a:r>
              <a:rPr kumimoji="1" lang="en-US" altLang="zh-CN" dirty="0"/>
              <a:t>OS</a:t>
            </a:r>
            <a:r>
              <a:rPr kumimoji="1" lang="zh-CN" altLang="en-US" dirty="0"/>
              <a:t>服务，该接口与实际的系统调用并不一一对应。用户程序通过调用对应的库函数使用系统调用，这些库函数与调用程序连接在一起，被嵌入在运行时装入内存的二进制程序中。</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用户层的</a:t>
            </a:r>
            <a:r>
              <a:rPr kumimoji="1" lang="en-US" altLang="zh-CN" dirty="0"/>
              <a:t>I/O</a:t>
            </a:r>
            <a:r>
              <a:rPr kumimoji="1" lang="zh-CN" altLang="en-US" dirty="0"/>
              <a:t>软件</a:t>
            </a:r>
          </a:p>
        </p:txBody>
      </p:sp>
      <p:sp>
        <p:nvSpPr>
          <p:cNvPr id="3" name="内容占位符 2"/>
          <p:cNvSpPr>
            <a:spLocks noGrp="1"/>
          </p:cNvSpPr>
          <p:nvPr>
            <p:ph idx="1"/>
          </p:nvPr>
        </p:nvSpPr>
        <p:spPr>
          <a:xfrm>
            <a:off x="838200" y="1390142"/>
            <a:ext cx="10778836" cy="5471933"/>
          </a:xfrm>
        </p:spPr>
        <p:txBody>
          <a:bodyPr>
            <a:normAutofit/>
          </a:bodyPr>
          <a:lstStyle/>
          <a:p>
            <a:pPr>
              <a:lnSpc>
                <a:spcPct val="120000"/>
              </a:lnSpc>
            </a:pPr>
            <a:r>
              <a:rPr kumimoji="1" lang="zh-CN" altLang="en-US" dirty="0"/>
              <a:t>假脱机</a:t>
            </a:r>
            <a:r>
              <a:rPr kumimoji="1" lang="en-US" altLang="zh-CN" dirty="0"/>
              <a:t>(Spooling)</a:t>
            </a:r>
            <a:r>
              <a:rPr kumimoji="1" lang="zh-CN" altLang="en-US" dirty="0"/>
              <a:t>系统</a:t>
            </a:r>
            <a:endParaRPr kumimoji="1" lang="en-US" altLang="zh-CN" dirty="0"/>
          </a:p>
          <a:p>
            <a:pPr lvl="1">
              <a:buFont typeface="Wingdings" panose="05000000000000000000" pitchFamily="2" charset="2"/>
              <a:buChar char="ü"/>
            </a:pPr>
            <a:r>
              <a:rPr kumimoji="1" lang="zh-CN" altLang="en-US" dirty="0"/>
              <a:t>假脱机技术</a:t>
            </a:r>
          </a:p>
          <a:p>
            <a:pPr marL="914400" lvl="2" indent="0" algn="just">
              <a:buNone/>
            </a:pPr>
            <a:r>
              <a:rPr kumimoji="1" lang="zh-CN" altLang="en-US" dirty="0"/>
              <a:t>在</a:t>
            </a:r>
            <a:r>
              <a:rPr kumimoji="1" lang="en-US" altLang="zh-CN" dirty="0"/>
              <a:t>20</a:t>
            </a:r>
            <a:r>
              <a:rPr kumimoji="1" lang="zh-CN" altLang="en-US" dirty="0"/>
              <a:t>世纪</a:t>
            </a:r>
            <a:r>
              <a:rPr kumimoji="1" lang="en-US" altLang="zh-CN" dirty="0"/>
              <a:t>50</a:t>
            </a:r>
            <a:r>
              <a:rPr kumimoji="1" lang="zh-CN" altLang="en-US" dirty="0"/>
              <a:t>年代，为了缓和</a:t>
            </a:r>
            <a:r>
              <a:rPr kumimoji="1" lang="en-US" altLang="zh-CN" dirty="0"/>
              <a:t>CPU</a:t>
            </a:r>
            <a:r>
              <a:rPr kumimoji="1" lang="zh-CN" altLang="en-US" dirty="0"/>
              <a:t>的高速性与</a:t>
            </a:r>
            <a:r>
              <a:rPr kumimoji="1" lang="en-US" altLang="zh-CN" dirty="0"/>
              <a:t>I/O</a:t>
            </a:r>
            <a:r>
              <a:rPr kumimoji="1" lang="zh-CN" altLang="en-US" dirty="0"/>
              <a:t>设备低速性间的矛盾，而引入了脱机输入、脱机输出技术。该技术是利用专门的外围控制机，先将低速</a:t>
            </a:r>
            <a:r>
              <a:rPr kumimoji="1" lang="en-US" altLang="zh-CN" dirty="0"/>
              <a:t>I/O</a:t>
            </a:r>
            <a:r>
              <a:rPr kumimoji="1" lang="zh-CN" altLang="en-US" dirty="0"/>
              <a:t>设备上的数据传送到高速磁盘上，或者相反。这样当处理机需要输入数据时，便可以直接从磁盘中读取数据，极大地提高了输入速度。反之，在处理机需要输出数据时，也可以很快的速度把数据先输出到磁盘上，处理机便可去做自己的事情。</a:t>
            </a:r>
            <a:endParaRPr kumimoji="1" lang="en-US" altLang="zh-CN" dirty="0"/>
          </a:p>
          <a:p>
            <a:pPr lvl="1">
              <a:buFont typeface="Wingdings" panose="05000000000000000000" pitchFamily="2" charset="2"/>
              <a:buChar char="ü"/>
            </a:pPr>
            <a:r>
              <a:rPr kumimoji="1" lang="en-US" altLang="zh-CN" dirty="0"/>
              <a:t>SPOOLing</a:t>
            </a:r>
            <a:r>
              <a:rPr kumimoji="1" lang="zh-CN" altLang="en-US" dirty="0"/>
              <a:t>的组成</a:t>
            </a:r>
            <a:endParaRPr kumimoji="1" lang="en-US" altLang="zh-CN" dirty="0"/>
          </a:p>
          <a:p>
            <a:pPr marL="914400" lvl="2" indent="0" algn="just">
              <a:buNone/>
            </a:pPr>
            <a:r>
              <a:rPr kumimoji="1" lang="en-US" altLang="zh-CN" dirty="0"/>
              <a:t>SPOOLing</a:t>
            </a:r>
            <a:r>
              <a:rPr kumimoji="1" lang="zh-CN" altLang="en-US" dirty="0"/>
              <a:t>技术是对脱机输入</a:t>
            </a:r>
            <a:r>
              <a:rPr kumimoji="1" lang="en-US" altLang="zh-CN" dirty="0"/>
              <a:t>/</a:t>
            </a:r>
            <a:r>
              <a:rPr kumimoji="1" lang="zh-CN" altLang="en-US" dirty="0"/>
              <a:t>输出系统的模拟，相应地，如下图</a:t>
            </a:r>
            <a:r>
              <a:rPr kumimoji="1" lang="en-US" altLang="zh-CN" dirty="0"/>
              <a:t>(a)</a:t>
            </a:r>
            <a:r>
              <a:rPr kumimoji="1" lang="zh-CN" altLang="en-US" dirty="0"/>
              <a:t>所示，</a:t>
            </a:r>
            <a:r>
              <a:rPr kumimoji="1" lang="en-US" altLang="zh-CN" dirty="0"/>
              <a:t>SPOOLing</a:t>
            </a:r>
            <a:r>
              <a:rPr kumimoji="1" lang="zh-CN" altLang="en-US" dirty="0"/>
              <a:t>系统建立在通道技术和多道程序技术的基础上，以高速随机外存</a:t>
            </a:r>
            <a:r>
              <a:rPr kumimoji="1" lang="en-US" altLang="zh-CN" dirty="0"/>
              <a:t>(</a:t>
            </a:r>
            <a:r>
              <a:rPr kumimoji="1" lang="zh-CN" altLang="en-US" dirty="0"/>
              <a:t>通常为磁盘</a:t>
            </a:r>
            <a:r>
              <a:rPr kumimoji="1" lang="en-US" altLang="zh-CN" dirty="0"/>
              <a:t>)</a:t>
            </a:r>
            <a:r>
              <a:rPr kumimoji="1" lang="zh-CN" altLang="en-US" dirty="0"/>
              <a:t>为后援存储器。</a:t>
            </a:r>
            <a:r>
              <a:rPr kumimoji="1" lang="en-US" altLang="zh-CN" dirty="0"/>
              <a:t>SPOOLing</a:t>
            </a:r>
            <a:r>
              <a:rPr kumimoji="1" lang="zh-CN" altLang="en-US" dirty="0"/>
              <a:t>的工作原理如下图</a:t>
            </a:r>
            <a:r>
              <a:rPr kumimoji="1" lang="en-US" altLang="zh-CN" dirty="0"/>
              <a:t>(b)</a:t>
            </a:r>
            <a:r>
              <a:rPr kumimoji="1" lang="zh-CN" altLang="en-US" dirty="0"/>
              <a:t>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用户层的</a:t>
            </a:r>
            <a:r>
              <a:rPr kumimoji="1" lang="en-US" altLang="zh-CN" dirty="0"/>
              <a:t>I/O</a:t>
            </a:r>
            <a:r>
              <a:rPr kumimoji="1" lang="zh-CN" altLang="en-US" dirty="0"/>
              <a:t>软件</a:t>
            </a:r>
          </a:p>
        </p:txBody>
      </p:sp>
      <p:sp>
        <p:nvSpPr>
          <p:cNvPr id="3" name="内容占位符 2"/>
          <p:cNvSpPr>
            <a:spLocks noGrp="1"/>
          </p:cNvSpPr>
          <p:nvPr>
            <p:ph idx="1"/>
          </p:nvPr>
        </p:nvSpPr>
        <p:spPr>
          <a:xfrm>
            <a:off x="838200" y="1390142"/>
            <a:ext cx="5115793" cy="5471933"/>
          </a:xfrm>
        </p:spPr>
        <p:txBody>
          <a:bodyPr>
            <a:normAutofit/>
          </a:bodyPr>
          <a:lstStyle/>
          <a:p>
            <a:pPr>
              <a:lnSpc>
                <a:spcPct val="120000"/>
              </a:lnSpc>
            </a:pPr>
            <a:r>
              <a:rPr kumimoji="1" lang="zh-CN" altLang="en-US" dirty="0"/>
              <a:t>假脱机</a:t>
            </a:r>
            <a:r>
              <a:rPr kumimoji="1" lang="en-US" altLang="zh-CN" dirty="0"/>
              <a:t>(Spooling)</a:t>
            </a:r>
            <a:r>
              <a:rPr kumimoji="1" lang="zh-CN" altLang="en-US" dirty="0"/>
              <a:t>系统</a:t>
            </a:r>
            <a:endParaRPr kumimoji="1" lang="en-US" altLang="zh-CN" dirty="0"/>
          </a:p>
          <a:p>
            <a:pPr lvl="1">
              <a:buFont typeface="Wingdings" panose="05000000000000000000" pitchFamily="2" charset="2"/>
              <a:buChar char="ü"/>
            </a:pPr>
            <a:r>
              <a:rPr kumimoji="1" lang="en-US" altLang="zh-CN" dirty="0"/>
              <a:t>SPOOLing</a:t>
            </a:r>
            <a:r>
              <a:rPr kumimoji="1" lang="zh-CN" altLang="en-US" dirty="0"/>
              <a:t>的组成</a:t>
            </a:r>
            <a:endParaRPr kumimoji="1" lang="en-US" altLang="zh-CN" dirty="0"/>
          </a:p>
          <a:p>
            <a:pPr marL="914400" lvl="2" indent="0">
              <a:buNone/>
            </a:pPr>
            <a:r>
              <a:rPr kumimoji="1" lang="zh-CN" altLang="en-US" b="1" dirty="0">
                <a:solidFill>
                  <a:srgbClr val="FF0000"/>
                </a:solidFill>
              </a:rPr>
              <a:t>四个部分</a:t>
            </a:r>
            <a:r>
              <a:rPr kumimoji="1" lang="zh-CN" altLang="en-US" dirty="0"/>
              <a:t>：输入井和输出井、输入缓冲区和输出缓冲区、输入进程和输出进程、井管理程序。</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291" y="3918760"/>
            <a:ext cx="4919702" cy="24375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9691" y="179545"/>
            <a:ext cx="6223049" cy="62444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用户层的</a:t>
            </a:r>
            <a:r>
              <a:rPr kumimoji="1" lang="en-US" altLang="zh-CN" dirty="0"/>
              <a:t>I/O</a:t>
            </a:r>
            <a:r>
              <a:rPr kumimoji="1" lang="zh-CN" altLang="en-US" dirty="0"/>
              <a:t>软件</a:t>
            </a:r>
          </a:p>
        </p:txBody>
      </p:sp>
      <p:sp>
        <p:nvSpPr>
          <p:cNvPr id="3" name="内容占位符 2"/>
          <p:cNvSpPr>
            <a:spLocks noGrp="1"/>
          </p:cNvSpPr>
          <p:nvPr>
            <p:ph idx="1"/>
          </p:nvPr>
        </p:nvSpPr>
        <p:spPr>
          <a:xfrm>
            <a:off x="838199" y="1244212"/>
            <a:ext cx="10958945" cy="5617863"/>
          </a:xfrm>
        </p:spPr>
        <p:txBody>
          <a:bodyPr>
            <a:normAutofit lnSpcReduction="10000"/>
          </a:bodyPr>
          <a:lstStyle/>
          <a:p>
            <a:pPr>
              <a:lnSpc>
                <a:spcPct val="120000"/>
              </a:lnSpc>
            </a:pPr>
            <a:r>
              <a:rPr kumimoji="1" lang="zh-CN" altLang="en-US" dirty="0"/>
              <a:t>假脱机</a:t>
            </a:r>
            <a:r>
              <a:rPr kumimoji="1" lang="en-US" altLang="zh-CN" dirty="0"/>
              <a:t>(Spooling)</a:t>
            </a:r>
            <a:r>
              <a:rPr kumimoji="1" lang="zh-CN" altLang="en-US" dirty="0"/>
              <a:t>系统</a:t>
            </a:r>
            <a:endParaRPr kumimoji="1" lang="en-US" altLang="zh-CN" dirty="0"/>
          </a:p>
          <a:p>
            <a:pPr lvl="1">
              <a:buFont typeface="Wingdings" panose="05000000000000000000" pitchFamily="2" charset="2"/>
              <a:buChar char="ü"/>
            </a:pPr>
            <a:r>
              <a:rPr kumimoji="1" lang="en-US" altLang="zh-CN" dirty="0"/>
              <a:t>SPOOLing</a:t>
            </a:r>
            <a:r>
              <a:rPr kumimoji="1" lang="zh-CN" altLang="en-US" dirty="0"/>
              <a:t>系统的特点</a:t>
            </a:r>
          </a:p>
          <a:p>
            <a:pPr marL="914400" lvl="2" indent="0" algn="just">
              <a:buNone/>
            </a:pPr>
            <a:r>
              <a:rPr kumimoji="1" lang="en-US" altLang="zh-CN" dirty="0"/>
              <a:t>(1)</a:t>
            </a:r>
            <a:r>
              <a:rPr kumimoji="1" lang="zh-CN" altLang="en-US" dirty="0"/>
              <a:t>提高了</a:t>
            </a:r>
            <a:r>
              <a:rPr kumimoji="1" lang="en-US" altLang="zh-CN" dirty="0"/>
              <a:t>I/O</a:t>
            </a:r>
            <a:r>
              <a:rPr kumimoji="1" lang="zh-CN" altLang="en-US" dirty="0"/>
              <a:t>的速度；</a:t>
            </a:r>
            <a:r>
              <a:rPr kumimoji="1" lang="en-US" altLang="zh-CN" dirty="0"/>
              <a:t>(2)</a:t>
            </a:r>
            <a:r>
              <a:rPr kumimoji="1" lang="zh-CN" altLang="en-US" dirty="0"/>
              <a:t>将独占设备改造为共享设备；</a:t>
            </a:r>
            <a:r>
              <a:rPr kumimoji="1" lang="en-US" altLang="zh-CN" dirty="0"/>
              <a:t>(3)</a:t>
            </a:r>
            <a:r>
              <a:rPr kumimoji="1" lang="zh-CN" altLang="en-US" dirty="0"/>
              <a:t>实现了虚拟设备功能。</a:t>
            </a:r>
            <a:endParaRPr kumimoji="1" lang="en-US" altLang="zh-CN" dirty="0"/>
          </a:p>
          <a:p>
            <a:pPr lvl="1">
              <a:buFont typeface="Wingdings" panose="05000000000000000000" pitchFamily="2" charset="2"/>
              <a:buChar char="ü"/>
            </a:pPr>
            <a:r>
              <a:rPr kumimoji="1" lang="zh-CN" altLang="en-US" dirty="0"/>
              <a:t>假脱机打印机系统</a:t>
            </a:r>
            <a:endParaRPr kumimoji="1" lang="en-US" altLang="zh-CN" dirty="0"/>
          </a:p>
          <a:p>
            <a:pPr marL="914400" lvl="2" indent="0" algn="just">
              <a:buNone/>
            </a:pPr>
            <a:r>
              <a:rPr kumimoji="1" lang="zh-CN" altLang="en-US" dirty="0"/>
              <a:t>打印机属于独占设备，利用假脱机技术将它改造为一台可供多个用户共享的打印设备，提高设备的利用率，也方便用户。共享打印机技术已被广泛地用于多用户系统和局域网络中。假脱机打印系统主要有三部分：磁盘缓冲区、打印缓冲区、假脱机管理进程和假脱机打印进程。</a:t>
            </a:r>
            <a:endParaRPr kumimoji="1" lang="en-US" altLang="zh-CN" dirty="0"/>
          </a:p>
          <a:p>
            <a:pPr lvl="1">
              <a:buFont typeface="Wingdings" panose="05000000000000000000" pitchFamily="2" charset="2"/>
              <a:buChar char="ü"/>
            </a:pPr>
            <a:r>
              <a:rPr kumimoji="1" lang="zh-CN" altLang="en-US" dirty="0"/>
              <a:t>守护进程</a:t>
            </a:r>
            <a:r>
              <a:rPr kumimoji="1" lang="en-US" altLang="zh-CN" dirty="0"/>
              <a:t>(daemon)</a:t>
            </a:r>
          </a:p>
          <a:p>
            <a:pPr marL="914400" lvl="2" indent="0" algn="just">
              <a:buNone/>
            </a:pPr>
            <a:r>
              <a:rPr kumimoji="1" lang="zh-CN" altLang="en-US" dirty="0"/>
              <a:t>为打印机建立一个守护进程，由它执行一部分原来由假脱机管理进程实现的功能，如为用户在磁盘缓冲区中申请一个空闲盘块，并将要打印的数据送入其中，将该盘块的首址返回给请求进程。另一部分由请求进程自己完成，每个要求打印的进程首先生成一份要求打印的文件，其中包含对打印的要求和指向装有打印输出数据盘块的指针等信息，然后将用户请求打印文件放入假脱机文件队列</a:t>
            </a:r>
            <a:r>
              <a:rPr kumimoji="1" lang="en-US" altLang="zh-CN" dirty="0"/>
              <a:t>(</a:t>
            </a:r>
            <a:r>
              <a:rPr kumimoji="1" lang="zh-CN" altLang="en-US" dirty="0"/>
              <a:t>目录</a:t>
            </a:r>
            <a:r>
              <a:rPr kumimoji="1" lang="en-US" altLang="zh-CN" dirty="0"/>
              <a:t>)</a:t>
            </a:r>
            <a:r>
              <a:rPr kumimoji="1" lang="zh-CN" altLang="en-US" dirty="0"/>
              <a:t>中。</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p:cNvSpPr txBox="1"/>
          <p:nvPr/>
        </p:nvSpPr>
        <p:spPr>
          <a:xfrm>
            <a:off x="665018" y="1629270"/>
            <a:ext cx="10848109" cy="2246769"/>
          </a:xfrm>
          <a:prstGeom prst="rect">
            <a:avLst/>
          </a:prstGeom>
          <a:noFill/>
        </p:spPr>
        <p:txBody>
          <a:bodyPr wrap="square">
            <a:spAutoFit/>
          </a:bodyPr>
          <a:lstStyle/>
          <a:p>
            <a:pPr algn="just"/>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        在现代操作系统中，几乎所有的</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I/O</a:t>
            </a:r>
            <a:r>
              <a:rPr lang="zh-CN" altLang="en-US" sz="2800" dirty="0">
                <a:solidFill>
                  <a:schemeClr val="accent2">
                    <a:lumMod val="75000"/>
                  </a:schemeClr>
                </a:solidFill>
                <a:latin typeface="Times New Roman" panose="02020603050405020304" pitchFamily="18" charset="0"/>
                <a:cs typeface="Times New Roman" panose="02020603050405020304" pitchFamily="18" charset="0"/>
              </a:rPr>
              <a:t>设备在与处理机交换数据时都用了缓冲区。缓冲区是一个存储区域，它可以由专门的硬件寄存器组成，但由于硬件的成本较高，容量也较小，一般仅用在对速度要求非常高的场合，如存储器管理中所用的联想存储器；设备控制器中用的数据缓冲区等。</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3" name="内容占位符 2"/>
          <p:cNvSpPr>
            <a:spLocks noGrp="1"/>
          </p:cNvSpPr>
          <p:nvPr>
            <p:ph idx="1"/>
          </p:nvPr>
        </p:nvSpPr>
        <p:spPr>
          <a:xfrm>
            <a:off x="838200" y="1390142"/>
            <a:ext cx="10778836" cy="5471933"/>
          </a:xfrm>
        </p:spPr>
        <p:txBody>
          <a:bodyPr>
            <a:normAutofit/>
          </a:bodyPr>
          <a:lstStyle/>
          <a:p>
            <a:pPr>
              <a:lnSpc>
                <a:spcPct val="120000"/>
              </a:lnSpc>
            </a:pPr>
            <a:r>
              <a:rPr kumimoji="1" lang="zh-CN" altLang="en-US" dirty="0"/>
              <a:t>缓冲的引入</a:t>
            </a:r>
            <a:endParaRPr kumimoji="1" lang="en-US" altLang="zh-CN" dirty="0"/>
          </a:p>
          <a:p>
            <a:pPr marL="914400" lvl="2" indent="0" algn="just">
              <a:buNone/>
            </a:pPr>
            <a:r>
              <a:rPr kumimoji="1" lang="zh-CN" altLang="en-US" dirty="0"/>
              <a:t>引入缓冲区的原因有很多，可归结为几点：</a:t>
            </a:r>
            <a:r>
              <a:rPr kumimoji="1" lang="en-US" altLang="zh-CN" dirty="0"/>
              <a:t>(1)</a:t>
            </a:r>
            <a:r>
              <a:rPr kumimoji="1" lang="zh-CN" altLang="en-US" dirty="0"/>
              <a:t>缓和</a:t>
            </a:r>
            <a:r>
              <a:rPr kumimoji="1" lang="en-US" altLang="zh-CN" dirty="0"/>
              <a:t>CPU</a:t>
            </a:r>
            <a:r>
              <a:rPr kumimoji="1" lang="zh-CN" altLang="en-US" dirty="0"/>
              <a:t>与</a:t>
            </a:r>
            <a:r>
              <a:rPr kumimoji="1" lang="en-US" altLang="zh-CN" dirty="0"/>
              <a:t>I/O</a:t>
            </a:r>
            <a:r>
              <a:rPr kumimoji="1" lang="zh-CN" altLang="en-US" dirty="0"/>
              <a:t>设备间速度不匹配的矛盾；</a:t>
            </a:r>
            <a:r>
              <a:rPr kumimoji="1" lang="en-US" altLang="zh-CN" dirty="0"/>
              <a:t>(2)</a:t>
            </a:r>
            <a:r>
              <a:rPr kumimoji="1" lang="zh-CN" altLang="en-US" dirty="0"/>
              <a:t>减少对</a:t>
            </a:r>
            <a:r>
              <a:rPr kumimoji="1" lang="en-US" altLang="zh-CN" dirty="0"/>
              <a:t>CPU</a:t>
            </a:r>
            <a:r>
              <a:rPr kumimoji="1" lang="zh-CN" altLang="en-US" dirty="0"/>
              <a:t>的中断频率，放宽对</a:t>
            </a:r>
            <a:r>
              <a:rPr kumimoji="1" lang="en-US" altLang="zh-CN" dirty="0"/>
              <a:t>CPU</a:t>
            </a:r>
            <a:r>
              <a:rPr kumimoji="1" lang="zh-CN" altLang="en-US" dirty="0"/>
              <a:t>中断响应时间的限制；</a:t>
            </a:r>
            <a:r>
              <a:rPr kumimoji="1" lang="en-US" altLang="zh-CN" dirty="0"/>
              <a:t>(3)</a:t>
            </a:r>
            <a:r>
              <a:rPr kumimoji="1" lang="zh-CN" altLang="en-US" dirty="0"/>
              <a:t>解决数据粒度不匹配的问题；</a:t>
            </a:r>
            <a:r>
              <a:rPr kumimoji="1" lang="en-US" altLang="zh-CN" dirty="0"/>
              <a:t>(4)</a:t>
            </a:r>
            <a:r>
              <a:rPr kumimoji="1" lang="zh-CN" altLang="en-US" dirty="0"/>
              <a:t>提高</a:t>
            </a:r>
            <a:r>
              <a:rPr kumimoji="1" lang="en-US" altLang="zh-CN" dirty="0"/>
              <a:t>CPU</a:t>
            </a:r>
            <a:r>
              <a:rPr kumimoji="1" lang="zh-CN" altLang="en-US" dirty="0"/>
              <a:t>和</a:t>
            </a:r>
            <a:r>
              <a:rPr kumimoji="1" lang="en-US" altLang="zh-CN" dirty="0"/>
              <a:t>I/O</a:t>
            </a:r>
            <a:r>
              <a:rPr kumimoji="1" lang="zh-CN" altLang="en-US" dirty="0"/>
              <a:t>设备之间的并行性。</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1734" y="3429000"/>
            <a:ext cx="5788531" cy="260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4675476" y="6308088"/>
            <a:ext cx="3104284" cy="400110"/>
          </a:xfrm>
          <a:prstGeom prst="rect">
            <a:avLst/>
          </a:prstGeom>
          <a:noFill/>
        </p:spPr>
        <p:txBody>
          <a:bodyPr wrap="square">
            <a:spAutoFit/>
          </a:bodyPr>
          <a:lstStyle/>
          <a:p>
            <a:r>
              <a:rPr lang="zh-CN" altLang="en-US" sz="2000" b="1" dirty="0">
                <a:solidFill>
                  <a:srgbClr val="002060"/>
                </a:solidFill>
              </a:rPr>
              <a:t>利用缓冲寄存器实现缓冲</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3" name="内容占位符 2"/>
          <p:cNvSpPr>
            <a:spLocks noGrp="1"/>
          </p:cNvSpPr>
          <p:nvPr>
            <p:ph idx="1"/>
          </p:nvPr>
        </p:nvSpPr>
        <p:spPr>
          <a:xfrm>
            <a:off x="838200" y="1390142"/>
            <a:ext cx="5257800" cy="5471933"/>
          </a:xfrm>
        </p:spPr>
        <p:txBody>
          <a:bodyPr>
            <a:normAutofit/>
          </a:bodyPr>
          <a:lstStyle/>
          <a:p>
            <a:pPr>
              <a:lnSpc>
                <a:spcPct val="120000"/>
              </a:lnSpc>
            </a:pPr>
            <a:r>
              <a:rPr kumimoji="1" lang="zh-CN" altLang="en-US" dirty="0"/>
              <a:t>单缓冲区和双缓冲区</a:t>
            </a:r>
            <a:endParaRPr kumimoji="1" lang="en-US" altLang="zh-CN" dirty="0"/>
          </a:p>
          <a:p>
            <a:pPr lvl="1">
              <a:buFont typeface="Wingdings" panose="05000000000000000000" pitchFamily="2" charset="2"/>
              <a:buChar char="ü"/>
            </a:pPr>
            <a:r>
              <a:rPr kumimoji="1" lang="zh-CN" altLang="en-US" dirty="0"/>
              <a:t>单缓冲区</a:t>
            </a:r>
          </a:p>
          <a:p>
            <a:pPr marL="914400" lvl="2" indent="0" algn="just">
              <a:buNone/>
            </a:pPr>
            <a:r>
              <a:rPr kumimoji="1" lang="zh-CN" altLang="en-US" dirty="0"/>
              <a:t>在单缓冲情况下，每当用户进程发出一</a:t>
            </a:r>
            <a:r>
              <a:rPr kumimoji="1" lang="en-US" altLang="zh-CN" dirty="0"/>
              <a:t>I/O</a:t>
            </a:r>
            <a:r>
              <a:rPr kumimoji="1" lang="zh-CN" altLang="en-US" dirty="0"/>
              <a:t>请求时，操作系统便在主存中为之分配一缓冲区。</a:t>
            </a:r>
            <a:endParaRPr kumimoji="1" lang="en-US" altLang="zh-CN" dirty="0"/>
          </a:p>
          <a:p>
            <a:pPr lvl="1">
              <a:buFont typeface="Wingdings" panose="05000000000000000000" pitchFamily="2" charset="2"/>
              <a:buChar char="ü"/>
            </a:pPr>
            <a:r>
              <a:rPr kumimoji="1" lang="zh-CN" altLang="en-US" dirty="0"/>
              <a:t>双缓冲区</a:t>
            </a:r>
            <a:endParaRPr kumimoji="1" lang="en-US" altLang="zh-CN" dirty="0"/>
          </a:p>
          <a:p>
            <a:pPr marL="914400" lvl="2" indent="0" algn="just">
              <a:buNone/>
            </a:pPr>
            <a:r>
              <a:rPr kumimoji="1" lang="zh-CN" altLang="en-US" dirty="0"/>
              <a:t>由于缓冲区是共享资源，生产者与消费者在使用缓冲区时必须互斥。如果消费者尚未取走缓冲区中的数据，即使生产者又生产出新的数据，也无法将它送入缓冲区，生产者等待。如果为生产者与消费者设置了两个缓冲区，便能解决这一问题。</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6670" y="1307014"/>
            <a:ext cx="4627130" cy="2390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7882947" y="3716820"/>
            <a:ext cx="2314575" cy="400110"/>
          </a:xfrm>
          <a:prstGeom prst="rect">
            <a:avLst/>
          </a:prstGeom>
          <a:noFill/>
        </p:spPr>
        <p:txBody>
          <a:bodyPr wrap="square">
            <a:spAutoFit/>
          </a:bodyPr>
          <a:lstStyle/>
          <a:p>
            <a:r>
              <a:rPr lang="zh-CN" altLang="en-US" sz="2000" b="1" dirty="0">
                <a:solidFill>
                  <a:srgbClr val="002060"/>
                </a:solidFill>
              </a:rPr>
              <a:t>单缓冲工作示意图</a:t>
            </a:r>
          </a:p>
        </p:txBody>
      </p:sp>
      <p:pic>
        <p:nvPicPr>
          <p:cNvPr id="8" name="Picture 4" descr="6-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6669" y="4141330"/>
            <a:ext cx="4627130" cy="226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7882947" y="6461965"/>
            <a:ext cx="2293793" cy="400110"/>
          </a:xfrm>
          <a:prstGeom prst="rect">
            <a:avLst/>
          </a:prstGeom>
          <a:noFill/>
        </p:spPr>
        <p:txBody>
          <a:bodyPr wrap="square">
            <a:spAutoFit/>
          </a:bodyPr>
          <a:lstStyle/>
          <a:p>
            <a:r>
              <a:rPr lang="zh-CN" altLang="en-US" sz="2000" b="1" dirty="0">
                <a:solidFill>
                  <a:srgbClr val="002060"/>
                </a:solidFill>
              </a:rPr>
              <a:t>双缓冲工作示意图</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3" name="内容占位符 2"/>
          <p:cNvSpPr>
            <a:spLocks noGrp="1"/>
          </p:cNvSpPr>
          <p:nvPr>
            <p:ph idx="1"/>
          </p:nvPr>
        </p:nvSpPr>
        <p:spPr>
          <a:xfrm>
            <a:off x="838199" y="1390142"/>
            <a:ext cx="10789227" cy="5471933"/>
          </a:xfrm>
        </p:spPr>
        <p:txBody>
          <a:bodyPr>
            <a:normAutofit/>
          </a:bodyPr>
          <a:lstStyle/>
          <a:p>
            <a:pPr>
              <a:lnSpc>
                <a:spcPct val="120000"/>
              </a:lnSpc>
            </a:pPr>
            <a:r>
              <a:rPr kumimoji="1" lang="zh-CN" altLang="en-US" dirty="0"/>
              <a:t>单缓冲区和双缓冲区</a:t>
            </a:r>
            <a:endParaRPr kumimoji="1" lang="en-US" altLang="zh-CN" dirty="0"/>
          </a:p>
          <a:p>
            <a:pPr lvl="1">
              <a:buFont typeface="Wingdings" panose="05000000000000000000" pitchFamily="2" charset="2"/>
              <a:buChar char="ü"/>
            </a:pPr>
            <a:r>
              <a:rPr kumimoji="1" lang="zh-CN" altLang="en-US" dirty="0"/>
              <a:t>双缓冲区</a:t>
            </a:r>
            <a:endParaRPr kumimoji="1" lang="en-US" altLang="zh-CN" dirty="0"/>
          </a:p>
          <a:p>
            <a:pPr marL="914400" lvl="2" indent="0" algn="just">
              <a:buNone/>
            </a:pPr>
            <a:r>
              <a:rPr kumimoji="1" lang="zh-CN" altLang="en-US" dirty="0"/>
              <a:t>如果在实现两台机器之间的通信时仅为它们配置了单缓冲，如下图</a:t>
            </a:r>
            <a:r>
              <a:rPr kumimoji="1" lang="en-US" altLang="zh-CN" dirty="0"/>
              <a:t>(a)</a:t>
            </a:r>
            <a:r>
              <a:rPr kumimoji="1" lang="zh-CN" altLang="en-US" dirty="0"/>
              <a:t>所示，那么，它们之间在任一时刻都只能实现单方向的数据传输。例如，只允许把数据从</a:t>
            </a:r>
            <a:r>
              <a:rPr kumimoji="1" lang="en-US" altLang="zh-CN" dirty="0"/>
              <a:t>A</a:t>
            </a:r>
            <a:r>
              <a:rPr kumimoji="1" lang="zh-CN" altLang="en-US" dirty="0"/>
              <a:t>传送到</a:t>
            </a:r>
            <a:r>
              <a:rPr kumimoji="1" lang="en-US" altLang="zh-CN" dirty="0"/>
              <a:t>B</a:t>
            </a:r>
            <a:r>
              <a:rPr kumimoji="1" lang="zh-CN" altLang="en-US" dirty="0"/>
              <a:t>，或者从</a:t>
            </a:r>
            <a:r>
              <a:rPr kumimoji="1" lang="en-US" altLang="zh-CN" dirty="0"/>
              <a:t>B</a:t>
            </a:r>
            <a:r>
              <a:rPr kumimoji="1" lang="zh-CN" altLang="en-US" dirty="0"/>
              <a:t>传送到</a:t>
            </a:r>
            <a:r>
              <a:rPr kumimoji="1" lang="en-US" altLang="zh-CN" dirty="0"/>
              <a:t>A</a:t>
            </a:r>
            <a:r>
              <a:rPr kumimoji="1" lang="zh-CN" altLang="en-US" dirty="0"/>
              <a:t>，而绝不允许双方同时向对方发送数据。为了实现双向数据传输，必须在两台机器中都设置两个缓冲区，一个用作发送缓冲区，另一个用作接收缓冲区，如下图</a:t>
            </a:r>
            <a:r>
              <a:rPr kumimoji="1" lang="en-US" altLang="zh-CN" dirty="0"/>
              <a:t>(b)</a:t>
            </a:r>
            <a:r>
              <a:rPr kumimoji="1" lang="zh-CN" altLang="en-US" dirty="0"/>
              <a:t>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10" name="文本框 9"/>
          <p:cNvSpPr txBox="1"/>
          <p:nvPr/>
        </p:nvSpPr>
        <p:spPr>
          <a:xfrm>
            <a:off x="5442240" y="6430777"/>
            <a:ext cx="3121601" cy="400110"/>
          </a:xfrm>
          <a:prstGeom prst="rect">
            <a:avLst/>
          </a:prstGeom>
          <a:noFill/>
        </p:spPr>
        <p:txBody>
          <a:bodyPr wrap="square">
            <a:spAutoFit/>
          </a:bodyPr>
          <a:lstStyle/>
          <a:p>
            <a:r>
              <a:rPr lang="zh-CN" altLang="en-US" sz="2000" b="1" dirty="0">
                <a:solidFill>
                  <a:srgbClr val="002060"/>
                </a:solidFill>
              </a:rPr>
              <a:t>双机通信时缓冲区的设置</a:t>
            </a:r>
          </a:p>
        </p:txBody>
      </p:sp>
      <p:pic>
        <p:nvPicPr>
          <p:cNvPr id="9" name="Picture 4" descr="6-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6736" y="4053372"/>
            <a:ext cx="6692610" cy="243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3" name="内容占位符 2"/>
          <p:cNvSpPr>
            <a:spLocks noGrp="1"/>
          </p:cNvSpPr>
          <p:nvPr>
            <p:ph idx="1"/>
          </p:nvPr>
        </p:nvSpPr>
        <p:spPr>
          <a:xfrm>
            <a:off x="838199" y="1390142"/>
            <a:ext cx="10789227" cy="5471933"/>
          </a:xfrm>
        </p:spPr>
        <p:txBody>
          <a:bodyPr>
            <a:normAutofit/>
          </a:bodyPr>
          <a:lstStyle/>
          <a:p>
            <a:pPr>
              <a:lnSpc>
                <a:spcPct val="120000"/>
              </a:lnSpc>
            </a:pPr>
            <a:r>
              <a:rPr kumimoji="1" lang="zh-CN" altLang="en-US" dirty="0"/>
              <a:t>环形缓冲区</a:t>
            </a:r>
            <a:endParaRPr kumimoji="1" lang="en-US" altLang="zh-CN" dirty="0"/>
          </a:p>
          <a:p>
            <a:pPr lvl="1">
              <a:buFont typeface="Wingdings" panose="05000000000000000000" pitchFamily="2" charset="2"/>
              <a:buChar char="ü"/>
            </a:pPr>
            <a:r>
              <a:rPr kumimoji="1" lang="zh-CN" altLang="en-US" dirty="0"/>
              <a:t>环形缓冲区的组成</a:t>
            </a:r>
            <a:endParaRPr kumimoji="1" lang="en-US" altLang="zh-CN" dirty="0"/>
          </a:p>
          <a:p>
            <a:pPr marL="914400" lvl="2" indent="0" algn="just">
              <a:buNone/>
            </a:pPr>
            <a:r>
              <a:rPr kumimoji="1" lang="zh-CN" altLang="en-US" dirty="0"/>
              <a:t>在环形缓冲中包括多个缓冲区，其每个缓冲区的大小相同。作为输入的多缓冲区可分为三种类型：用于装输入数据的空缓冲区</a:t>
            </a:r>
            <a:r>
              <a:rPr kumimoji="1" lang="en-US" altLang="zh-CN" dirty="0"/>
              <a:t>R</a:t>
            </a:r>
            <a:r>
              <a:rPr kumimoji="1" lang="zh-CN" altLang="en-US" dirty="0"/>
              <a:t>、已装满数据的缓冲区</a:t>
            </a:r>
            <a:r>
              <a:rPr kumimoji="1" lang="en-US" altLang="zh-CN" dirty="0"/>
              <a:t>G</a:t>
            </a:r>
            <a:r>
              <a:rPr kumimoji="1" lang="zh-CN" altLang="en-US" dirty="0"/>
              <a:t>以及计算进程正在使用的现行工作缓冲区</a:t>
            </a:r>
            <a:r>
              <a:rPr kumimoji="1" lang="en-US" altLang="zh-CN" dirty="0"/>
              <a:t>C</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descr="6-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3079" y="3741738"/>
            <a:ext cx="6035241" cy="2714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5737875" y="6202187"/>
            <a:ext cx="1545648" cy="400110"/>
          </a:xfrm>
          <a:prstGeom prst="rect">
            <a:avLst/>
          </a:prstGeom>
          <a:noFill/>
        </p:spPr>
        <p:txBody>
          <a:bodyPr wrap="square">
            <a:spAutoFit/>
          </a:bodyPr>
          <a:lstStyle/>
          <a:p>
            <a:r>
              <a:rPr lang="zh-CN" altLang="en-US" sz="2000" b="1" dirty="0">
                <a:solidFill>
                  <a:srgbClr val="002060"/>
                </a:solidFill>
              </a:rPr>
              <a:t>环形缓冲区</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3" name="内容占位符 2"/>
          <p:cNvSpPr>
            <a:spLocks noGrp="1"/>
          </p:cNvSpPr>
          <p:nvPr>
            <p:ph idx="1"/>
          </p:nvPr>
        </p:nvSpPr>
        <p:spPr>
          <a:xfrm>
            <a:off x="838199" y="1390142"/>
            <a:ext cx="10789227" cy="5471933"/>
          </a:xfrm>
        </p:spPr>
        <p:txBody>
          <a:bodyPr>
            <a:normAutofit/>
          </a:bodyPr>
          <a:lstStyle/>
          <a:p>
            <a:pPr>
              <a:lnSpc>
                <a:spcPct val="120000"/>
              </a:lnSpc>
            </a:pPr>
            <a:r>
              <a:rPr kumimoji="1" lang="zh-CN" altLang="en-US" dirty="0"/>
              <a:t>环形缓冲区</a:t>
            </a:r>
            <a:endParaRPr kumimoji="1" lang="en-US" altLang="zh-CN" dirty="0"/>
          </a:p>
          <a:p>
            <a:pPr lvl="1">
              <a:buFont typeface="Wingdings" panose="05000000000000000000" pitchFamily="2" charset="2"/>
              <a:buChar char="ü"/>
            </a:pPr>
            <a:r>
              <a:rPr kumimoji="1" lang="zh-CN" altLang="en-US" dirty="0"/>
              <a:t>环形缓冲区的使用</a:t>
            </a:r>
            <a:endParaRPr kumimoji="1" lang="en-US" altLang="zh-CN" dirty="0"/>
          </a:p>
          <a:p>
            <a:pPr marL="914400" lvl="2" indent="0" algn="just">
              <a:buNone/>
            </a:pPr>
            <a:r>
              <a:rPr kumimoji="1" lang="zh-CN" altLang="en-US" dirty="0"/>
              <a:t>计算进程和输入进程可利用下述两个过程来使用形环缓冲区：</a:t>
            </a:r>
            <a:r>
              <a:rPr kumimoji="1" lang="en-US" altLang="zh-CN" dirty="0"/>
              <a:t>(1)Getbuf</a:t>
            </a:r>
            <a:r>
              <a:rPr kumimoji="1" lang="zh-CN" altLang="en-US" dirty="0"/>
              <a:t>过程；</a:t>
            </a:r>
            <a:r>
              <a:rPr kumimoji="1" lang="en-US" altLang="zh-CN" dirty="0"/>
              <a:t>(2) Releasebuf</a:t>
            </a:r>
            <a:r>
              <a:rPr kumimoji="1" lang="zh-CN" altLang="en-US" dirty="0"/>
              <a:t>过程。</a:t>
            </a:r>
            <a:endParaRPr kumimoji="1" lang="en-US" altLang="zh-CN" dirty="0"/>
          </a:p>
          <a:p>
            <a:pPr lvl="1">
              <a:buFont typeface="Wingdings" panose="05000000000000000000" pitchFamily="2" charset="2"/>
              <a:buChar char="ü"/>
            </a:pPr>
            <a:r>
              <a:rPr kumimoji="1" lang="zh-CN" altLang="en-US" dirty="0"/>
              <a:t>进程之间的同步问题</a:t>
            </a:r>
            <a:endParaRPr kumimoji="1" lang="en-US" altLang="zh-CN" dirty="0"/>
          </a:p>
          <a:p>
            <a:pPr marL="914400" lvl="2" indent="0" algn="just">
              <a:buNone/>
            </a:pPr>
            <a:r>
              <a:rPr kumimoji="1" lang="zh-CN" altLang="en-US" dirty="0"/>
              <a:t>使用输入循环缓冲，可使输入进程和计算进程并行执行。相应地，指针</a:t>
            </a:r>
            <a:r>
              <a:rPr kumimoji="1" lang="en-US" altLang="zh-CN" dirty="0" err="1"/>
              <a:t>Nexti</a:t>
            </a:r>
            <a:r>
              <a:rPr kumimoji="1" lang="zh-CN" altLang="en-US" dirty="0"/>
              <a:t>和指针</a:t>
            </a:r>
            <a:r>
              <a:rPr kumimoji="1" lang="en-US" altLang="zh-CN" dirty="0" err="1"/>
              <a:t>Nextg</a:t>
            </a:r>
            <a:r>
              <a:rPr kumimoji="1" lang="zh-CN" altLang="en-US" dirty="0"/>
              <a:t>将不断地沿着顺时针方向移动，这样就可能出现两种情况：</a:t>
            </a:r>
            <a:r>
              <a:rPr kumimoji="1" lang="en-US" altLang="zh-CN" dirty="0"/>
              <a:t>(1)</a:t>
            </a:r>
            <a:r>
              <a:rPr kumimoji="1" lang="en-US" altLang="zh-CN" dirty="0" err="1"/>
              <a:t>Nexti</a:t>
            </a:r>
            <a:r>
              <a:rPr kumimoji="1" lang="zh-CN" altLang="en-US" dirty="0"/>
              <a:t>指针追赶上</a:t>
            </a:r>
            <a:r>
              <a:rPr kumimoji="1" lang="en-US" altLang="zh-CN" dirty="0" err="1"/>
              <a:t>Nextg</a:t>
            </a:r>
            <a:r>
              <a:rPr kumimoji="1" lang="zh-CN" altLang="en-US" dirty="0"/>
              <a:t>指针；</a:t>
            </a:r>
            <a:r>
              <a:rPr kumimoji="1" lang="en-US" altLang="zh-CN" dirty="0"/>
              <a:t>(2)</a:t>
            </a:r>
            <a:r>
              <a:rPr kumimoji="1" lang="en-US" altLang="zh-CN" dirty="0" err="1"/>
              <a:t>Nextg</a:t>
            </a:r>
            <a:r>
              <a:rPr kumimoji="1" lang="zh-CN" altLang="en-US" dirty="0"/>
              <a:t>指针追赶上</a:t>
            </a:r>
            <a:r>
              <a:rPr kumimoji="1" lang="en-US" altLang="zh-CN" dirty="0" err="1"/>
              <a:t>Nexti</a:t>
            </a:r>
            <a:r>
              <a:rPr kumimoji="1" lang="zh-CN" altLang="en-US" dirty="0"/>
              <a:t>指针。</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3" name="内容占位符 2"/>
          <p:cNvSpPr>
            <a:spLocks noGrp="1"/>
          </p:cNvSpPr>
          <p:nvPr>
            <p:ph idx="1"/>
          </p:nvPr>
        </p:nvSpPr>
        <p:spPr>
          <a:xfrm>
            <a:off x="838199" y="1390142"/>
            <a:ext cx="10789227" cy="5471933"/>
          </a:xfrm>
        </p:spPr>
        <p:txBody>
          <a:bodyPr>
            <a:normAutofit/>
          </a:bodyPr>
          <a:lstStyle/>
          <a:p>
            <a:pPr>
              <a:lnSpc>
                <a:spcPct val="120000"/>
              </a:lnSpc>
            </a:pPr>
            <a:r>
              <a:rPr kumimoji="1" lang="zh-CN" altLang="en-US" dirty="0"/>
              <a:t>缓冲池</a:t>
            </a:r>
            <a:endParaRPr kumimoji="1" lang="en-US" altLang="zh-CN" dirty="0"/>
          </a:p>
          <a:p>
            <a:pPr lvl="1">
              <a:buFont typeface="Wingdings" panose="05000000000000000000" pitchFamily="2" charset="2"/>
              <a:buChar char="ü"/>
            </a:pPr>
            <a:r>
              <a:rPr kumimoji="1" lang="zh-CN" altLang="en-US" dirty="0"/>
              <a:t>缓冲池的组成</a:t>
            </a:r>
            <a:endParaRPr kumimoji="1" lang="en-US" altLang="zh-CN" dirty="0"/>
          </a:p>
          <a:p>
            <a:pPr marL="914400" lvl="2" indent="0" algn="just">
              <a:buNone/>
            </a:pPr>
            <a:r>
              <a:rPr kumimoji="1" lang="zh-CN" altLang="en-US" dirty="0"/>
              <a:t>缓冲池管理着多个缓冲区，每个缓冲区由用于标识和管理的缓冲首部以及用于存放数据的缓冲体两部分组成。缓冲首部一般包括缓冲区号、设备号、设备上的数据块号、同步信号量以及队列链接指针等。为了管理上的方便，一般将缓冲池中具有相同类型的缓冲区链接成一个队列，于是可形成三个队列：</a:t>
            </a:r>
            <a:r>
              <a:rPr kumimoji="1" lang="en-US" altLang="zh-CN" dirty="0"/>
              <a:t>(1)</a:t>
            </a:r>
            <a:r>
              <a:rPr kumimoji="1" lang="zh-CN" altLang="en-US" dirty="0"/>
              <a:t>空白缓冲队列</a:t>
            </a:r>
            <a:r>
              <a:rPr kumimoji="1" lang="en-US" altLang="zh-CN" dirty="0" err="1"/>
              <a:t>emq</a:t>
            </a:r>
            <a:r>
              <a:rPr kumimoji="1" lang="zh-CN" altLang="en-US" dirty="0"/>
              <a:t>；</a:t>
            </a:r>
            <a:r>
              <a:rPr kumimoji="1" lang="en-US" altLang="zh-CN" dirty="0"/>
              <a:t>(2)</a:t>
            </a:r>
            <a:r>
              <a:rPr kumimoji="1" lang="zh-CN" altLang="en-US" dirty="0"/>
              <a:t>输入队列</a:t>
            </a:r>
            <a:r>
              <a:rPr kumimoji="1" lang="en-US" altLang="zh-CN" dirty="0" err="1"/>
              <a:t>inq</a:t>
            </a:r>
            <a:r>
              <a:rPr kumimoji="1" lang="zh-CN" altLang="en-US" dirty="0"/>
              <a:t>；</a:t>
            </a:r>
            <a:r>
              <a:rPr kumimoji="1" lang="en-US" altLang="zh-CN" dirty="0"/>
              <a:t>(3)</a:t>
            </a:r>
            <a:r>
              <a:rPr kumimoji="1" lang="zh-CN" altLang="en-US" dirty="0"/>
              <a:t>输出队列</a:t>
            </a:r>
            <a:r>
              <a:rPr kumimoji="1" lang="en-US" altLang="zh-CN" dirty="0" err="1"/>
              <a:t>outq</a:t>
            </a:r>
            <a:r>
              <a:rPr kumimoji="1" lang="zh-CN" altLang="en-US" dirty="0"/>
              <a:t>。</a:t>
            </a:r>
            <a:endParaRPr kumimoji="1" lang="en-US" altLang="zh-CN" dirty="0"/>
          </a:p>
          <a:p>
            <a:pPr lvl="1">
              <a:buFont typeface="Wingdings" panose="05000000000000000000" pitchFamily="2" charset="2"/>
              <a:buChar char="ü"/>
            </a:pPr>
            <a:r>
              <a:rPr kumimoji="1" lang="en-US" altLang="zh-CN" dirty="0"/>
              <a:t>Getbuf</a:t>
            </a:r>
            <a:r>
              <a:rPr kumimoji="1" lang="zh-CN" altLang="en-US" dirty="0"/>
              <a:t>过程和</a:t>
            </a:r>
            <a:r>
              <a:rPr kumimoji="1" lang="en-US" altLang="zh-CN" dirty="0" err="1"/>
              <a:t>Putbuf</a:t>
            </a:r>
            <a:r>
              <a:rPr kumimoji="1" lang="zh-CN" altLang="en-US" dirty="0"/>
              <a:t>过程</a:t>
            </a:r>
            <a:endParaRPr kumimoji="1" lang="en-US" altLang="zh-CN" dirty="0"/>
          </a:p>
          <a:p>
            <a:pPr marL="914400" lvl="2" indent="0" algn="just">
              <a:buNone/>
            </a:pPr>
            <a:r>
              <a:rPr kumimoji="1" lang="zh-CN" altLang="en-US" dirty="0"/>
              <a:t>在数据结构课程中，曾介绍过队列和对队列进行操作的两个过程，第一个是 </a:t>
            </a:r>
            <a:r>
              <a:rPr kumimoji="1" lang="en-US" altLang="zh-CN" dirty="0"/>
              <a:t>Addbuf(type</a:t>
            </a:r>
            <a:r>
              <a:rPr kumimoji="1" lang="zh-CN" altLang="en-US" dirty="0"/>
              <a:t>，</a:t>
            </a:r>
            <a:r>
              <a:rPr kumimoji="1" lang="en-US" altLang="zh-CN" dirty="0"/>
              <a:t>number)</a:t>
            </a:r>
            <a:r>
              <a:rPr kumimoji="1" lang="zh-CN" altLang="en-US" dirty="0"/>
              <a:t>过程。该过程用于将由参数</a:t>
            </a:r>
            <a:r>
              <a:rPr kumimoji="1" lang="en-US" altLang="zh-CN" dirty="0"/>
              <a:t>number</a:t>
            </a:r>
            <a:r>
              <a:rPr kumimoji="1" lang="zh-CN" altLang="en-US" dirty="0"/>
              <a:t>所指示的缓冲区</a:t>
            </a:r>
            <a:r>
              <a:rPr kumimoji="1" lang="en-US" altLang="zh-CN" dirty="0"/>
              <a:t>B</a:t>
            </a:r>
            <a:r>
              <a:rPr kumimoji="1" lang="zh-CN" altLang="en-US" dirty="0"/>
              <a:t>挂在</a:t>
            </a:r>
            <a:r>
              <a:rPr kumimoji="1" lang="en-US" altLang="zh-CN" dirty="0"/>
              <a:t>type</a:t>
            </a:r>
            <a:r>
              <a:rPr kumimoji="1" lang="zh-CN" altLang="en-US" dirty="0"/>
              <a:t>队列上。第二个是</a:t>
            </a:r>
            <a:r>
              <a:rPr kumimoji="1" lang="en-US" altLang="zh-CN" dirty="0"/>
              <a:t>Takebuf(type)</a:t>
            </a:r>
            <a:r>
              <a:rPr kumimoji="1" lang="zh-CN" altLang="en-US" dirty="0"/>
              <a:t>过程。它用于从</a:t>
            </a:r>
            <a:r>
              <a:rPr kumimoji="1" lang="en-US" altLang="zh-CN" dirty="0"/>
              <a:t>type</a:t>
            </a:r>
            <a:r>
              <a:rPr kumimoji="1" lang="zh-CN" altLang="en-US" dirty="0"/>
              <a:t>所指示的队列的队首摘下一个缓冲区。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缓冲区管理</a:t>
            </a:r>
          </a:p>
        </p:txBody>
      </p:sp>
      <p:sp>
        <p:nvSpPr>
          <p:cNvPr id="3" name="内容占位符 2"/>
          <p:cNvSpPr>
            <a:spLocks noGrp="1"/>
          </p:cNvSpPr>
          <p:nvPr>
            <p:ph idx="1"/>
          </p:nvPr>
        </p:nvSpPr>
        <p:spPr>
          <a:xfrm>
            <a:off x="838199" y="1390142"/>
            <a:ext cx="10789227" cy="5471933"/>
          </a:xfrm>
        </p:spPr>
        <p:txBody>
          <a:bodyPr>
            <a:normAutofit/>
          </a:bodyPr>
          <a:lstStyle/>
          <a:p>
            <a:pPr>
              <a:lnSpc>
                <a:spcPct val="120000"/>
              </a:lnSpc>
            </a:pPr>
            <a:r>
              <a:rPr kumimoji="1" lang="zh-CN" altLang="en-US" dirty="0"/>
              <a:t>缓冲池</a:t>
            </a:r>
            <a:endParaRPr kumimoji="1" lang="en-US" altLang="zh-CN" dirty="0"/>
          </a:p>
          <a:p>
            <a:pPr lvl="1">
              <a:buFont typeface="Wingdings" panose="05000000000000000000" pitchFamily="2" charset="2"/>
              <a:buChar char="ü"/>
            </a:pPr>
            <a:r>
              <a:rPr kumimoji="1" lang="zh-CN" altLang="en-US" dirty="0"/>
              <a:t>缓冲区的工作方式</a:t>
            </a:r>
            <a:endParaRPr kumimoji="1" lang="en-US" altLang="zh-CN" dirty="0"/>
          </a:p>
          <a:p>
            <a:pPr marL="914400" lvl="2" indent="0" algn="just">
              <a:buNone/>
            </a:pPr>
            <a:r>
              <a:rPr kumimoji="1" lang="zh-CN" altLang="en-US" dirty="0"/>
              <a:t>缓冲区可以工作在如下四种工作方式。</a:t>
            </a:r>
            <a:endParaRPr kumimoji="1" lang="en-US" altLang="zh-CN" dirty="0"/>
          </a:p>
          <a:p>
            <a:pPr marL="914400" lvl="2" indent="0" algn="just">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3145033"/>
            <a:ext cx="676910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5070329" y="5366053"/>
            <a:ext cx="2324966" cy="400110"/>
          </a:xfrm>
          <a:prstGeom prst="rect">
            <a:avLst/>
          </a:prstGeom>
          <a:noFill/>
        </p:spPr>
        <p:txBody>
          <a:bodyPr wrap="square">
            <a:spAutoFit/>
          </a:bodyPr>
          <a:lstStyle/>
          <a:p>
            <a:r>
              <a:rPr lang="zh-CN" altLang="en-US" sz="2000" b="1" dirty="0">
                <a:solidFill>
                  <a:srgbClr val="002060"/>
                </a:solidFill>
              </a:rPr>
              <a:t>缓冲区的工作方式</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磁盘存储器的性能和调度</a:t>
            </a:r>
          </a:p>
        </p:txBody>
      </p:sp>
      <p:sp>
        <p:nvSpPr>
          <p:cNvPr id="3" name="内容占位符 2"/>
          <p:cNvSpPr>
            <a:spLocks noGrp="1"/>
          </p:cNvSpPr>
          <p:nvPr>
            <p:ph idx="1"/>
          </p:nvPr>
        </p:nvSpPr>
        <p:spPr>
          <a:xfrm>
            <a:off x="838199" y="1390142"/>
            <a:ext cx="5157356" cy="5471933"/>
          </a:xfrm>
        </p:spPr>
        <p:txBody>
          <a:bodyPr>
            <a:normAutofit/>
          </a:bodyPr>
          <a:lstStyle/>
          <a:p>
            <a:pPr>
              <a:lnSpc>
                <a:spcPct val="120000"/>
              </a:lnSpc>
            </a:pPr>
            <a:r>
              <a:rPr kumimoji="1" lang="zh-CN" altLang="en-US" dirty="0"/>
              <a:t>磁盘性能简述</a:t>
            </a:r>
            <a:endParaRPr kumimoji="1" lang="en-US" altLang="zh-CN" dirty="0"/>
          </a:p>
          <a:p>
            <a:pPr lvl="1">
              <a:buFont typeface="Wingdings" panose="05000000000000000000" pitchFamily="2" charset="2"/>
              <a:buChar char="ü"/>
            </a:pPr>
            <a:r>
              <a:rPr kumimoji="1" lang="zh-CN" altLang="en-US" dirty="0"/>
              <a:t>数据的组织和格式</a:t>
            </a:r>
            <a:endParaRPr kumimoji="1" lang="en-US" altLang="zh-CN" dirty="0"/>
          </a:p>
          <a:p>
            <a:pPr marL="914400" lvl="2" indent="0" algn="just">
              <a:buNone/>
            </a:pPr>
            <a:r>
              <a:rPr kumimoji="1" lang="zh-CN" altLang="en-US" dirty="0"/>
              <a:t>磁盘设备可包括一个或多个物理盘片，每个磁盘片分一个或两个存储面</a:t>
            </a:r>
            <a:r>
              <a:rPr kumimoji="1" lang="en-US" altLang="zh-CN" dirty="0"/>
              <a:t>(Surface)</a:t>
            </a:r>
            <a:r>
              <a:rPr kumimoji="1" lang="zh-CN" altLang="en-US" dirty="0"/>
              <a:t>，每个盘面上有若干个磁道</a:t>
            </a:r>
            <a:r>
              <a:rPr kumimoji="1" lang="en-US" altLang="zh-CN" dirty="0"/>
              <a:t>(Track)</a:t>
            </a:r>
            <a:r>
              <a:rPr kumimoji="1" lang="zh-CN" altLang="en-US" dirty="0"/>
              <a:t>，磁道之间留有必要的间隙</a:t>
            </a:r>
            <a:r>
              <a:rPr kumimoji="1" lang="en-US" altLang="zh-CN" dirty="0"/>
              <a:t>(Gap)</a:t>
            </a:r>
            <a:r>
              <a:rPr kumimoji="1" lang="zh-CN" altLang="en-US" dirty="0"/>
              <a:t>。为使处理简单起见，在每条磁道上可存储相同数目的二进制位。</a:t>
            </a:r>
            <a:endParaRPr kumimoji="1" lang="en-US" altLang="zh-CN" dirty="0"/>
          </a:p>
          <a:p>
            <a:pPr marL="914400" lvl="2" indent="0" algn="just">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descr="6-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19973"/>
            <a:ext cx="5903913"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8355446" y="5796160"/>
            <a:ext cx="2345748" cy="400110"/>
          </a:xfrm>
          <a:prstGeom prst="rect">
            <a:avLst/>
          </a:prstGeom>
          <a:noFill/>
        </p:spPr>
        <p:txBody>
          <a:bodyPr wrap="square">
            <a:spAutoFit/>
          </a:bodyPr>
          <a:lstStyle/>
          <a:p>
            <a:r>
              <a:rPr lang="zh-CN" altLang="en-US" sz="2000" b="1" dirty="0">
                <a:solidFill>
                  <a:srgbClr val="002060"/>
                </a:solidFill>
              </a:rPr>
              <a:t>磁盘的结构和布局</a:t>
            </a:r>
          </a:p>
        </p:txBody>
      </p:sp>
      <p:pic>
        <p:nvPicPr>
          <p:cNvPr id="10" name="Picture 4" descr="6-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965" y="5004148"/>
            <a:ext cx="5013035" cy="167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磁盘存储器的性能和调度</a:t>
            </a:r>
          </a:p>
        </p:txBody>
      </p:sp>
      <p:sp>
        <p:nvSpPr>
          <p:cNvPr id="3" name="内容占位符 2"/>
          <p:cNvSpPr>
            <a:spLocks noGrp="1"/>
          </p:cNvSpPr>
          <p:nvPr>
            <p:ph idx="1"/>
          </p:nvPr>
        </p:nvSpPr>
        <p:spPr>
          <a:xfrm>
            <a:off x="838198" y="1390142"/>
            <a:ext cx="11069783" cy="5471933"/>
          </a:xfrm>
        </p:spPr>
        <p:txBody>
          <a:bodyPr>
            <a:normAutofit/>
          </a:bodyPr>
          <a:lstStyle/>
          <a:p>
            <a:pPr>
              <a:lnSpc>
                <a:spcPct val="120000"/>
              </a:lnSpc>
            </a:pPr>
            <a:r>
              <a:rPr kumimoji="1" lang="zh-CN" altLang="en-US" dirty="0"/>
              <a:t>磁盘性能简述</a:t>
            </a:r>
            <a:endParaRPr kumimoji="1" lang="en-US" altLang="zh-CN" dirty="0"/>
          </a:p>
          <a:p>
            <a:pPr lvl="1">
              <a:buFont typeface="Wingdings" panose="05000000000000000000" pitchFamily="2" charset="2"/>
              <a:buChar char="ü"/>
            </a:pPr>
            <a:r>
              <a:rPr kumimoji="1" lang="zh-CN" altLang="en-US" dirty="0"/>
              <a:t>磁盘的类型</a:t>
            </a:r>
            <a:endParaRPr kumimoji="1" lang="en-US" altLang="zh-CN" dirty="0"/>
          </a:p>
          <a:p>
            <a:pPr marL="914400" lvl="2" indent="0" algn="just">
              <a:buNone/>
            </a:pPr>
            <a:r>
              <a:rPr kumimoji="1" lang="zh-CN" altLang="en-US" dirty="0"/>
              <a:t>对于磁盘，可以从不同的角度进行分类。最常见的有：将磁盘分成硬盘和软盘、单片盘和多片盘、固定头磁盘和活动头</a:t>
            </a:r>
            <a:r>
              <a:rPr kumimoji="1" lang="en-US" altLang="zh-CN" dirty="0"/>
              <a:t>(</a:t>
            </a:r>
            <a:r>
              <a:rPr kumimoji="1" lang="zh-CN" altLang="en-US" dirty="0"/>
              <a:t>移动头</a:t>
            </a:r>
            <a:r>
              <a:rPr kumimoji="1" lang="en-US" altLang="zh-CN" dirty="0"/>
              <a:t>)</a:t>
            </a:r>
            <a:r>
              <a:rPr kumimoji="1" lang="zh-CN" altLang="en-US" dirty="0"/>
              <a:t>磁盘等。</a:t>
            </a:r>
            <a:endParaRPr kumimoji="1" lang="en-US" altLang="zh-CN" dirty="0"/>
          </a:p>
          <a:p>
            <a:pPr lvl="1">
              <a:buFont typeface="Wingdings" panose="05000000000000000000" pitchFamily="2" charset="2"/>
              <a:buChar char="ü"/>
            </a:pPr>
            <a:r>
              <a:rPr kumimoji="1" lang="zh-CN" altLang="en-US" dirty="0"/>
              <a:t>磁盘访问时间</a:t>
            </a:r>
            <a:endParaRPr kumimoji="1" lang="en-US" altLang="zh-CN" dirty="0"/>
          </a:p>
          <a:p>
            <a:pPr marL="914400" lvl="2" indent="0" algn="just">
              <a:buNone/>
            </a:pPr>
            <a:r>
              <a:rPr kumimoji="1" lang="zh-CN" altLang="en-US" dirty="0"/>
              <a:t>磁盘设备在工作时以恒定速率旋转。为了读或写，磁头必须能移动到所指定的磁道上，并等待所指定的扇区的开始位置旋转到磁头下，然后再开始读或写数据。</a:t>
            </a:r>
            <a:endParaRPr kumimoji="1" lang="en-US" altLang="zh-CN" dirty="0"/>
          </a:p>
          <a:p>
            <a:pPr marL="914400" lvl="2" indent="0" algn="just">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磁盘存储器的性能和调度</a:t>
            </a:r>
          </a:p>
        </p:txBody>
      </p:sp>
      <p:sp>
        <p:nvSpPr>
          <p:cNvPr id="3" name="内容占位符 2"/>
          <p:cNvSpPr>
            <a:spLocks noGrp="1"/>
          </p:cNvSpPr>
          <p:nvPr>
            <p:ph idx="1"/>
          </p:nvPr>
        </p:nvSpPr>
        <p:spPr>
          <a:xfrm>
            <a:off x="838198" y="1390142"/>
            <a:ext cx="4159829" cy="5471933"/>
          </a:xfrm>
        </p:spPr>
        <p:txBody>
          <a:bodyPr>
            <a:normAutofit/>
          </a:bodyPr>
          <a:lstStyle/>
          <a:p>
            <a:pPr algn="just">
              <a:lnSpc>
                <a:spcPct val="120000"/>
              </a:lnSpc>
            </a:pPr>
            <a:r>
              <a:rPr kumimoji="1" lang="zh-CN" altLang="en-US" dirty="0"/>
              <a:t>早期的磁盘调度算法</a:t>
            </a:r>
            <a:endParaRPr kumimoji="1" lang="en-US" altLang="zh-CN" dirty="0"/>
          </a:p>
          <a:p>
            <a:pPr lvl="1" algn="just">
              <a:buFont typeface="Wingdings" panose="05000000000000000000" pitchFamily="2" charset="2"/>
              <a:buChar char="ü"/>
            </a:pPr>
            <a:r>
              <a:rPr kumimoji="1" lang="zh-CN" altLang="en-US" dirty="0"/>
              <a:t>先来先服务</a:t>
            </a:r>
            <a:r>
              <a:rPr kumimoji="1" lang="en-US" altLang="zh-CN" dirty="0"/>
              <a:t>(FCFS)</a:t>
            </a:r>
          </a:p>
          <a:p>
            <a:pPr marL="914400" lvl="2" indent="0" algn="just">
              <a:buNone/>
            </a:pPr>
            <a:r>
              <a:rPr kumimoji="1" lang="zh-CN" altLang="en-US" dirty="0"/>
              <a:t>最简单的磁盘调度算法，根据进程请求访问磁盘的先后次序进行调度。</a:t>
            </a:r>
            <a:endParaRPr kumimoji="1" lang="en-US" altLang="zh-CN" dirty="0"/>
          </a:p>
          <a:p>
            <a:pPr lvl="1">
              <a:buFont typeface="Wingdings" panose="05000000000000000000" pitchFamily="2" charset="2"/>
              <a:buChar char="ü"/>
            </a:pPr>
            <a:r>
              <a:rPr kumimoji="1" lang="zh-CN" altLang="en-US" dirty="0"/>
              <a:t>最短寻道时间优先</a:t>
            </a:r>
            <a:r>
              <a:rPr kumimoji="1" lang="en-US" altLang="zh-CN" dirty="0"/>
              <a:t>(SSTF)</a:t>
            </a:r>
          </a:p>
          <a:p>
            <a:pPr marL="914400" lvl="2" indent="0" algn="just">
              <a:buNone/>
            </a:pPr>
            <a:r>
              <a:rPr kumimoji="1" lang="zh-CN" altLang="en-US" dirty="0"/>
              <a:t>该算法选择这样的进程，其要求访问的磁道与当前磁头所在的磁道距离最近，以使每次的寻道时间最短，但这种算法不能保证平均寻道时间最短。</a:t>
            </a:r>
            <a:endParaRPr kumimoji="1" lang="en-US" altLang="zh-CN" dirty="0"/>
          </a:p>
          <a:p>
            <a:pPr marL="914400" lvl="2" indent="0" algn="just">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6-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914" y="1778866"/>
            <a:ext cx="3121025" cy="437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6034152" y="6320849"/>
            <a:ext cx="1888548"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FCFS</a:t>
            </a:r>
            <a:r>
              <a:rPr lang="zh-CN" altLang="en-US" sz="2000" b="1" dirty="0">
                <a:solidFill>
                  <a:srgbClr val="002060"/>
                </a:solidFill>
                <a:latin typeface="Times New Roman" panose="02020603050405020304" pitchFamily="18" charset="0"/>
                <a:cs typeface="Times New Roman" panose="02020603050405020304" pitchFamily="18" charset="0"/>
              </a:rPr>
              <a:t>调度算法 </a:t>
            </a:r>
          </a:p>
        </p:txBody>
      </p:sp>
      <p:pic>
        <p:nvPicPr>
          <p:cNvPr id="8" name="Picture 4" descr="6-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632" y="1707429"/>
            <a:ext cx="3171825" cy="444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9481270" y="6308181"/>
            <a:ext cx="1888548"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SSTF</a:t>
            </a:r>
            <a:r>
              <a:rPr lang="zh-CN" altLang="en-US" sz="2000" b="1" dirty="0">
                <a:solidFill>
                  <a:srgbClr val="002060"/>
                </a:solidFill>
                <a:latin typeface="Times New Roman" panose="02020603050405020304" pitchFamily="18" charset="0"/>
                <a:cs typeface="Times New Roman" panose="02020603050405020304" pitchFamily="18" charset="0"/>
              </a:rPr>
              <a:t>调度算法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磁盘存储器的性能和调度</a:t>
            </a:r>
          </a:p>
        </p:txBody>
      </p:sp>
      <p:sp>
        <p:nvSpPr>
          <p:cNvPr id="3" name="内容占位符 2"/>
          <p:cNvSpPr>
            <a:spLocks noGrp="1"/>
          </p:cNvSpPr>
          <p:nvPr>
            <p:ph idx="1"/>
          </p:nvPr>
        </p:nvSpPr>
        <p:spPr>
          <a:xfrm>
            <a:off x="838198" y="1390142"/>
            <a:ext cx="10958947" cy="5471933"/>
          </a:xfrm>
        </p:spPr>
        <p:txBody>
          <a:bodyPr>
            <a:normAutofit/>
          </a:bodyPr>
          <a:lstStyle/>
          <a:p>
            <a:pPr algn="just">
              <a:lnSpc>
                <a:spcPct val="120000"/>
              </a:lnSpc>
            </a:pPr>
            <a:r>
              <a:rPr kumimoji="1" lang="zh-CN" altLang="en-US" dirty="0"/>
              <a:t>基于扫描的磁盘调度算法</a:t>
            </a:r>
            <a:endParaRPr kumimoji="1" lang="en-US" altLang="zh-CN" dirty="0"/>
          </a:p>
          <a:p>
            <a:pPr lvl="1" algn="just">
              <a:buFont typeface="Wingdings" panose="05000000000000000000" pitchFamily="2" charset="2"/>
              <a:buChar char="ü"/>
            </a:pPr>
            <a:r>
              <a:rPr kumimoji="1" lang="zh-CN" altLang="en-US" dirty="0"/>
              <a:t>扫描</a:t>
            </a:r>
            <a:r>
              <a:rPr kumimoji="1" lang="en-US" altLang="zh-CN" dirty="0"/>
              <a:t>(SCAN)</a:t>
            </a:r>
            <a:r>
              <a:rPr kumimoji="1" lang="zh-CN" altLang="en-US" dirty="0"/>
              <a:t>算法</a:t>
            </a:r>
            <a:endParaRPr kumimoji="1" lang="en-US" altLang="zh-CN" dirty="0"/>
          </a:p>
          <a:p>
            <a:pPr marL="914400" lvl="2" indent="0" algn="just">
              <a:buNone/>
            </a:pPr>
            <a:r>
              <a:rPr kumimoji="1" lang="en-US" altLang="zh-CN" dirty="0"/>
              <a:t>SSTF</a:t>
            </a:r>
            <a:r>
              <a:rPr kumimoji="1" lang="zh-CN" altLang="en-US" dirty="0"/>
              <a:t>算法的实质是基于优先级的调度算法，因此就可能导致优先级低的进程发生“饥饿”</a:t>
            </a:r>
            <a:r>
              <a:rPr kumimoji="1" lang="en-US" altLang="zh-CN" dirty="0"/>
              <a:t>(Starvation)</a:t>
            </a:r>
            <a:r>
              <a:rPr kumimoji="1" lang="zh-CN" altLang="en-US" dirty="0"/>
              <a:t>现象。因为只要不断有新进程的请求到达，且其所要访问的磁道与磁头当前所在磁道的距离较近，这种新进程的</a:t>
            </a:r>
            <a:r>
              <a:rPr kumimoji="1" lang="en-US" altLang="zh-CN" dirty="0"/>
              <a:t>I/O</a:t>
            </a:r>
            <a:r>
              <a:rPr kumimoji="1" lang="zh-CN" altLang="en-US" dirty="0"/>
              <a:t>请求必然优先满足。在对</a:t>
            </a:r>
            <a:r>
              <a:rPr kumimoji="1" lang="en-US" altLang="zh-CN" dirty="0"/>
              <a:t>SSTF</a:t>
            </a:r>
            <a:r>
              <a:rPr kumimoji="1" lang="zh-CN" altLang="en-US" dirty="0"/>
              <a:t>算法略加修改后，则可防止低优先级进程出现“饥饿”现象。</a:t>
            </a:r>
            <a:endParaRPr kumimoji="1" lang="en-US" altLang="zh-CN" dirty="0"/>
          </a:p>
          <a:p>
            <a:pPr lvl="1">
              <a:buFont typeface="Wingdings" panose="05000000000000000000" pitchFamily="2" charset="2"/>
              <a:buChar char="ü"/>
            </a:pPr>
            <a:r>
              <a:rPr kumimoji="1" lang="zh-CN" altLang="en-US" dirty="0"/>
              <a:t>循环扫描</a:t>
            </a:r>
            <a:r>
              <a:rPr kumimoji="1" lang="en-US" altLang="zh-CN" dirty="0"/>
              <a:t>(CSCAN)</a:t>
            </a:r>
            <a:r>
              <a:rPr kumimoji="1" lang="zh-CN" altLang="en-US" dirty="0"/>
              <a:t>算法</a:t>
            </a:r>
            <a:endParaRPr kumimoji="1" lang="en-US" altLang="zh-CN" dirty="0"/>
          </a:p>
          <a:p>
            <a:pPr marL="914400" lvl="2" indent="0" algn="just">
              <a:buNone/>
            </a:pPr>
            <a:r>
              <a:rPr kumimoji="1" lang="en-US" altLang="zh-CN" dirty="0"/>
              <a:t>SCAN</a:t>
            </a:r>
            <a:r>
              <a:rPr kumimoji="1" lang="zh-CN" altLang="en-US" dirty="0"/>
              <a:t>算法既能获得较好的寻道性能，又能防止“饥饿”现象，故被广泛用于大、中、小型机器和网络中的磁盘调度。但也存在这样的问题：当磁头刚从里向外移动而越过了某一磁道时，恰好又有一进程请求访问此磁道，这时，该进程必须等待，待磁头继续从里向外，然后再从外向里扫描完处于外面的所有要访问的磁道后，才处理该进程的请求，致使该进程的请求被大大地推迟。</a:t>
            </a:r>
            <a:endParaRPr kumimoji="1" lang="en-US" altLang="zh-CN" dirty="0"/>
          </a:p>
          <a:p>
            <a:pPr marL="914400" lvl="2" indent="0" algn="just">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磁盘存储器的性能和调度</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descr="6-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520" y="1758084"/>
            <a:ext cx="28765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2779280" y="6171684"/>
            <a:ext cx="1795030" cy="369332"/>
          </a:xfrm>
          <a:prstGeom prst="rect">
            <a:avLst/>
          </a:prstGeom>
          <a:noFill/>
        </p:spPr>
        <p:txBody>
          <a:bodyPr wrap="square">
            <a:spAutoFit/>
          </a:bodyPr>
          <a:lstStyle/>
          <a:p>
            <a:r>
              <a:rPr lang="en-US" altLang="zh-CN" b="1" dirty="0">
                <a:solidFill>
                  <a:srgbClr val="002060"/>
                </a:solidFill>
                <a:latin typeface="Times New Roman" panose="02020603050405020304" pitchFamily="18" charset="0"/>
                <a:cs typeface="Times New Roman" panose="02020603050405020304" pitchFamily="18" charset="0"/>
              </a:rPr>
              <a:t>SCAN</a:t>
            </a:r>
            <a:r>
              <a:rPr lang="zh-CN" altLang="en-US" b="1" dirty="0">
                <a:solidFill>
                  <a:srgbClr val="002060"/>
                </a:solidFill>
                <a:latin typeface="Times New Roman" panose="02020603050405020304" pitchFamily="18" charset="0"/>
                <a:cs typeface="Times New Roman" panose="02020603050405020304" pitchFamily="18" charset="0"/>
              </a:rPr>
              <a:t>调度算法</a:t>
            </a:r>
          </a:p>
        </p:txBody>
      </p:sp>
      <p:pic>
        <p:nvPicPr>
          <p:cNvPr id="10" name="Picture 4" descr="6-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1770" y="1758084"/>
            <a:ext cx="28765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7010689" y="6140906"/>
            <a:ext cx="2158711"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CSCAN</a:t>
            </a:r>
            <a:r>
              <a:rPr lang="zh-CN" altLang="en-US" sz="2000" b="1" dirty="0">
                <a:solidFill>
                  <a:srgbClr val="002060"/>
                </a:solidFill>
                <a:latin typeface="Times New Roman" panose="02020603050405020304" pitchFamily="18" charset="0"/>
                <a:cs typeface="Times New Roman" panose="02020603050405020304" pitchFamily="18" charset="0"/>
              </a:rPr>
              <a:t>调度算法</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磁盘存储器的性能和调度</a:t>
            </a:r>
          </a:p>
        </p:txBody>
      </p:sp>
      <p:sp>
        <p:nvSpPr>
          <p:cNvPr id="3" name="内容占位符 2"/>
          <p:cNvSpPr>
            <a:spLocks noGrp="1"/>
          </p:cNvSpPr>
          <p:nvPr>
            <p:ph idx="1"/>
          </p:nvPr>
        </p:nvSpPr>
        <p:spPr>
          <a:xfrm>
            <a:off x="838198" y="1390142"/>
            <a:ext cx="10958947" cy="5471933"/>
          </a:xfrm>
        </p:spPr>
        <p:txBody>
          <a:bodyPr>
            <a:normAutofit/>
          </a:bodyPr>
          <a:lstStyle/>
          <a:p>
            <a:pPr algn="just">
              <a:lnSpc>
                <a:spcPct val="120000"/>
              </a:lnSpc>
            </a:pPr>
            <a:r>
              <a:rPr kumimoji="1" lang="zh-CN" altLang="en-US" dirty="0"/>
              <a:t>基于扫描的磁盘调度算法</a:t>
            </a:r>
            <a:endParaRPr kumimoji="1" lang="en-US" altLang="zh-CN" dirty="0"/>
          </a:p>
          <a:p>
            <a:pPr lvl="1" algn="just">
              <a:buFont typeface="Wingdings" panose="05000000000000000000" pitchFamily="2" charset="2"/>
              <a:buChar char="ü"/>
            </a:pPr>
            <a:r>
              <a:rPr kumimoji="1" lang="en-US" altLang="zh-CN" dirty="0"/>
              <a:t>NStepSCAN</a:t>
            </a:r>
            <a:r>
              <a:rPr kumimoji="1" lang="zh-CN" altLang="en-US" dirty="0"/>
              <a:t>和</a:t>
            </a:r>
            <a:r>
              <a:rPr kumimoji="1" lang="en-US" altLang="zh-CN" dirty="0"/>
              <a:t>FSCAN</a:t>
            </a:r>
            <a:r>
              <a:rPr kumimoji="1" lang="zh-CN" altLang="en-US" dirty="0"/>
              <a:t>调度算法</a:t>
            </a:r>
            <a:endParaRPr kumimoji="1" lang="en-US" altLang="zh-CN" dirty="0"/>
          </a:p>
          <a:p>
            <a:pPr marL="914400" lvl="2" indent="0" algn="just">
              <a:buNone/>
            </a:pPr>
            <a:r>
              <a:rPr kumimoji="1" lang="en-US" altLang="zh-CN" b="1" dirty="0">
                <a:solidFill>
                  <a:srgbClr val="FF0000"/>
                </a:solidFill>
              </a:rPr>
              <a:t>NStepSCAN</a:t>
            </a:r>
            <a:r>
              <a:rPr kumimoji="1" lang="zh-CN" altLang="en-US" b="1" dirty="0">
                <a:solidFill>
                  <a:srgbClr val="FF0000"/>
                </a:solidFill>
              </a:rPr>
              <a:t>算法</a:t>
            </a:r>
            <a:r>
              <a:rPr kumimoji="1" lang="zh-CN" altLang="en-US" dirty="0"/>
              <a:t>：在</a:t>
            </a:r>
            <a:r>
              <a:rPr kumimoji="1" lang="en-US" altLang="zh-CN" dirty="0"/>
              <a:t>SSTF</a:t>
            </a:r>
            <a:r>
              <a:rPr kumimoji="1" lang="zh-CN" altLang="en-US" dirty="0"/>
              <a:t>、</a:t>
            </a:r>
            <a:r>
              <a:rPr kumimoji="1" lang="en-US" altLang="zh-CN" dirty="0"/>
              <a:t>SCAN</a:t>
            </a:r>
            <a:r>
              <a:rPr kumimoji="1" lang="zh-CN" altLang="en-US" dirty="0"/>
              <a:t>及</a:t>
            </a:r>
            <a:r>
              <a:rPr kumimoji="1" lang="en-US" altLang="zh-CN" dirty="0"/>
              <a:t>CSCAN</a:t>
            </a:r>
            <a:r>
              <a:rPr kumimoji="1" lang="zh-CN" altLang="en-US" dirty="0"/>
              <a:t>几种调度算法中，都可能出现磁臂停留在某处不动的情况，例如，有一个或几个进程对某一磁道有较高的访问频率，即这个</a:t>
            </a:r>
            <a:r>
              <a:rPr kumimoji="1" lang="en-US" altLang="zh-CN" dirty="0"/>
              <a:t>(</a:t>
            </a:r>
            <a:r>
              <a:rPr kumimoji="1" lang="zh-CN" altLang="en-US" dirty="0"/>
              <a:t>些</a:t>
            </a:r>
            <a:r>
              <a:rPr kumimoji="1" lang="en-US" altLang="zh-CN" dirty="0"/>
              <a:t>)</a:t>
            </a:r>
            <a:r>
              <a:rPr kumimoji="1" lang="zh-CN" altLang="en-US" dirty="0"/>
              <a:t>进程反复请求对某一磁道的</a:t>
            </a:r>
            <a:r>
              <a:rPr kumimoji="1" lang="en-US" altLang="zh-CN" dirty="0"/>
              <a:t>I/O</a:t>
            </a:r>
            <a:r>
              <a:rPr kumimoji="1" lang="zh-CN" altLang="en-US" dirty="0"/>
              <a:t>操作，从而垄断了整个磁盘设备。我们把这一现象称为“磁臂粘着”</a:t>
            </a:r>
            <a:r>
              <a:rPr kumimoji="1" lang="en-US" altLang="zh-CN" dirty="0"/>
              <a:t>(</a:t>
            </a:r>
            <a:r>
              <a:rPr kumimoji="1" lang="en-US" altLang="zh-CN" dirty="0" err="1"/>
              <a:t>Armstickiness</a:t>
            </a:r>
            <a:r>
              <a:rPr kumimoji="1" lang="en-US" altLang="zh-CN" dirty="0"/>
              <a:t>)</a:t>
            </a:r>
            <a:r>
              <a:rPr kumimoji="1" lang="zh-CN" altLang="en-US" dirty="0"/>
              <a:t>。在高密度磁盘上容易出现此情况</a:t>
            </a:r>
            <a:endParaRPr kumimoji="1" lang="en-US" altLang="zh-CN" dirty="0"/>
          </a:p>
          <a:p>
            <a:pPr marL="914400" lvl="2" indent="0" algn="just">
              <a:buNone/>
            </a:pPr>
            <a:r>
              <a:rPr kumimoji="1" lang="en-US" altLang="zh-CN" b="1" dirty="0">
                <a:solidFill>
                  <a:srgbClr val="FF0000"/>
                </a:solidFill>
              </a:rPr>
              <a:t>FSCAN</a:t>
            </a:r>
            <a:r>
              <a:rPr kumimoji="1" lang="zh-CN" altLang="en-US" b="1" dirty="0">
                <a:solidFill>
                  <a:srgbClr val="FF0000"/>
                </a:solidFill>
              </a:rPr>
              <a:t>算法</a:t>
            </a:r>
            <a:r>
              <a:rPr kumimoji="1" lang="zh-CN" altLang="en-US" dirty="0"/>
              <a:t>：</a:t>
            </a:r>
            <a:r>
              <a:rPr kumimoji="1" lang="en-US" altLang="zh-CN" dirty="0"/>
              <a:t>FSCAN</a:t>
            </a:r>
            <a:r>
              <a:rPr kumimoji="1" lang="zh-CN" altLang="en-US" dirty="0"/>
              <a:t>算法实质上是</a:t>
            </a:r>
            <a:r>
              <a:rPr kumimoji="1" lang="en-US" altLang="zh-CN" dirty="0"/>
              <a:t>N</a:t>
            </a:r>
            <a:r>
              <a:rPr kumimoji="1" lang="zh-CN" altLang="en-US" dirty="0"/>
              <a:t>步</a:t>
            </a:r>
            <a:r>
              <a:rPr kumimoji="1" lang="en-US" altLang="zh-CN" dirty="0"/>
              <a:t>SCAN</a:t>
            </a:r>
            <a:r>
              <a:rPr kumimoji="1" lang="zh-CN" altLang="en-US" dirty="0"/>
              <a:t>算法的简化，即</a:t>
            </a:r>
            <a:r>
              <a:rPr kumimoji="1" lang="en-US" altLang="zh-CN" dirty="0"/>
              <a:t>FSCAN</a:t>
            </a:r>
            <a:r>
              <a:rPr kumimoji="1" lang="zh-CN" altLang="en-US" dirty="0"/>
              <a:t>只将磁盘请求队列分成两个子队列。一个是由当前所有请求磁盘</a:t>
            </a:r>
            <a:r>
              <a:rPr kumimoji="1" lang="en-US" altLang="zh-CN" dirty="0"/>
              <a:t>I/O</a:t>
            </a:r>
            <a:r>
              <a:rPr kumimoji="1" lang="zh-CN" altLang="en-US" dirty="0"/>
              <a:t>的进程形成的队列，由磁盘调度按</a:t>
            </a:r>
            <a:r>
              <a:rPr kumimoji="1" lang="en-US" altLang="zh-CN" dirty="0"/>
              <a:t>SCAN</a:t>
            </a:r>
            <a:r>
              <a:rPr kumimoji="1" lang="zh-CN" altLang="en-US" dirty="0"/>
              <a:t>算法进行处理。另一个是在扫描期间，将新出现的所有请求磁盘</a:t>
            </a:r>
            <a:r>
              <a:rPr kumimoji="1" lang="en-US" altLang="zh-CN" dirty="0"/>
              <a:t>I/O</a:t>
            </a:r>
            <a:r>
              <a:rPr kumimoji="1" lang="zh-CN" altLang="en-US" dirty="0"/>
              <a:t>的进程放入等待处理的请求队列。这样，所有的新请求都将被推迟到下一次扫描时处理。</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a:t>
            </a:r>
          </a:p>
        </p:txBody>
      </p:sp>
      <p:sp>
        <p:nvSpPr>
          <p:cNvPr id="3" name="内容占位符 2"/>
          <p:cNvSpPr>
            <a:spLocks noGrp="1"/>
          </p:cNvSpPr>
          <p:nvPr>
            <p:ph idx="1"/>
          </p:nvPr>
        </p:nvSpPr>
        <p:spPr/>
        <p:txBody>
          <a:bodyPr/>
          <a:lstStyle/>
          <a:p>
            <a:r>
              <a:rPr lang="en-US" altLang="zh-CN" dirty="0"/>
              <a:t>6</a:t>
            </a:r>
            <a:r>
              <a:rPr lang="zh-CN" altLang="en-US" dirty="0"/>
              <a:t>、</a:t>
            </a:r>
            <a:r>
              <a:rPr lang="en-US" altLang="zh-CN" dirty="0"/>
              <a:t>8</a:t>
            </a:r>
            <a:r>
              <a:rPr lang="zh-CN" altLang="en-US" dirty="0"/>
              <a:t>、</a:t>
            </a:r>
            <a:r>
              <a:rPr lang="en-US" altLang="zh-CN" dirty="0"/>
              <a:t>11</a:t>
            </a:r>
            <a:r>
              <a:rPr lang="zh-CN" altLang="en-US" dirty="0"/>
              <a:t>、</a:t>
            </a:r>
            <a:r>
              <a:rPr lang="en-US" altLang="zh-CN" dirty="0"/>
              <a:t>16</a:t>
            </a:r>
            <a:r>
              <a:rPr lang="zh-CN" altLang="en-US" dirty="0"/>
              <a:t>、</a:t>
            </a:r>
            <a:r>
              <a:rPr lang="en-US" altLang="zh-CN" dirty="0"/>
              <a:t>30</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Tree>
  </p:cSld>
  <p:clrMapOvr>
    <a:masterClrMapping/>
  </p:clrMapOvr>
</p:sld>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7605</Words>
  <Application>Microsoft Office PowerPoint</Application>
  <PresentationFormat>宽屏</PresentationFormat>
  <Paragraphs>412</Paragraphs>
  <Slides>59</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59</vt:i4>
      </vt:variant>
    </vt:vector>
  </HeadingPairs>
  <TitlesOfParts>
    <vt:vector size="66" baseType="lpstr">
      <vt:lpstr>等线</vt:lpstr>
      <vt:lpstr>方正琥珀简体</vt:lpstr>
      <vt:lpstr>微软雅黑</vt:lpstr>
      <vt:lpstr>Arial</vt:lpstr>
      <vt:lpstr>Times New Roman</vt:lpstr>
      <vt:lpstr>Wingdings</vt:lpstr>
      <vt:lpstr>2_Office 主题​​</vt:lpstr>
      <vt:lpstr>第6章  输入输出系统 </vt:lpstr>
      <vt:lpstr>I/O系统的功能、模型和接口</vt:lpstr>
      <vt:lpstr>I/O系统的功能、模型和接口</vt:lpstr>
      <vt:lpstr>I/O系统的功能、模型和接口</vt:lpstr>
      <vt:lpstr>I/O系统的功能、模型和接口</vt:lpstr>
      <vt:lpstr>I/O系统的功能、模型和接口</vt:lpstr>
      <vt:lpstr>I/O系统的功能、模型和接口</vt:lpstr>
      <vt:lpstr>I/O设备和设备控制器</vt:lpstr>
      <vt:lpstr>I/O设备和设备控制器</vt:lpstr>
      <vt:lpstr>I/O设备和设备控制器</vt:lpstr>
      <vt:lpstr>I/O设备和设备控制器</vt:lpstr>
      <vt:lpstr>I/O设备和设备控制器</vt:lpstr>
      <vt:lpstr>I/O设备和设备控制器</vt:lpstr>
      <vt:lpstr>I/O设备和设备控制器</vt:lpstr>
      <vt:lpstr>I/O设备和设备控制器</vt:lpstr>
      <vt:lpstr>中断机构和中断处理程序</vt:lpstr>
      <vt:lpstr>中断机构和中断处理程序</vt:lpstr>
      <vt:lpstr>中断机构和中断处理程序</vt:lpstr>
      <vt:lpstr>中断机构和中断处理程序</vt:lpstr>
      <vt:lpstr>中断机构和中断处理程序</vt:lpstr>
      <vt:lpstr>设备驱动程序</vt:lpstr>
      <vt:lpstr>设备驱动程序</vt:lpstr>
      <vt:lpstr>设备驱动程序</vt:lpstr>
      <vt:lpstr>设备驱动程序</vt:lpstr>
      <vt:lpstr>设备驱动程序</vt:lpstr>
      <vt:lpstr>设备驱动程序</vt:lpstr>
      <vt:lpstr>设备驱动程序</vt:lpstr>
      <vt:lpstr>设备驱动程序</vt:lpstr>
      <vt:lpstr>设备驱动程序</vt:lpstr>
      <vt:lpstr>与设备无关的I/O软件</vt:lpstr>
      <vt:lpstr>与设备无关的I/O软件</vt:lpstr>
      <vt:lpstr>与设备无关的I/O软件</vt:lpstr>
      <vt:lpstr>与设备无关的I/O软件</vt:lpstr>
      <vt:lpstr>与设备无关的I/O软件</vt:lpstr>
      <vt:lpstr>与设备无关的I/O软件</vt:lpstr>
      <vt:lpstr>与设备无关的I/O软件</vt:lpstr>
      <vt:lpstr>与设备无关的I/O软件</vt:lpstr>
      <vt:lpstr>与设备无关的I/O软件</vt:lpstr>
      <vt:lpstr>与设备无关的I/O软件</vt:lpstr>
      <vt:lpstr>用户层的I/O软件</vt:lpstr>
      <vt:lpstr>用户层的I/O软件</vt:lpstr>
      <vt:lpstr>用户层的I/O软件</vt:lpstr>
      <vt:lpstr>用户层的I/O软件</vt:lpstr>
      <vt:lpstr>用户层的I/O软件</vt:lpstr>
      <vt:lpstr>缓冲区管理</vt:lpstr>
      <vt:lpstr>缓冲区管理</vt:lpstr>
      <vt:lpstr>缓冲区管理</vt:lpstr>
      <vt:lpstr>缓冲区管理</vt:lpstr>
      <vt:lpstr>缓冲区管理</vt:lpstr>
      <vt:lpstr>缓冲区管理</vt:lpstr>
      <vt:lpstr>缓冲区管理</vt:lpstr>
      <vt:lpstr>缓冲区管理</vt:lpstr>
      <vt:lpstr>磁盘存储器的性能和调度</vt:lpstr>
      <vt:lpstr>磁盘存储器的性能和调度</vt:lpstr>
      <vt:lpstr>磁盘存储器的性能和调度</vt:lpstr>
      <vt:lpstr>磁盘存储器的性能和调度</vt:lpstr>
      <vt:lpstr>磁盘存储器的性能和调度</vt:lpstr>
      <vt:lpstr>磁盘存储器的性能和调度</vt:lpstr>
      <vt:lpstr>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1403</cp:revision>
  <dcterms:created xsi:type="dcterms:W3CDTF">2021-01-06T05:35:00Z</dcterms:created>
  <dcterms:modified xsi:type="dcterms:W3CDTF">2024-11-03T14:32:36Z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195C423891B34C6FAE66063922B3E5FB</vt:lpwstr>
  </property>
  <property fmtid="{D5CDD505-2E9C-101B-9397-08002B2CF9AE}" pid="3" name="KSOProductBuildVer">
    <vt:lpwstr>2052-11.1.0.11045</vt:lpwstr>
  </property>
</Properties>
</file>