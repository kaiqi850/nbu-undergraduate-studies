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53" r:id="rId1"/>
  </p:sldMasterIdLst>
  <p:notesMasterIdLst>
    <p:notesMasterId r:id="rId39"/>
  </p:notesMasterIdLst>
  <p:sldIdLst>
    <p:sldId id="1252" r:id="rId2"/>
    <p:sldId id="1247" r:id="rId3"/>
    <p:sldId id="1251" r:id="rId4"/>
    <p:sldId id="1253" r:id="rId5"/>
    <p:sldId id="1254" r:id="rId6"/>
    <p:sldId id="1255" r:id="rId7"/>
    <p:sldId id="1256" r:id="rId8"/>
    <p:sldId id="1257" r:id="rId9"/>
    <p:sldId id="1258" r:id="rId10"/>
    <p:sldId id="1259" r:id="rId11"/>
    <p:sldId id="1260" r:id="rId12"/>
    <p:sldId id="1261" r:id="rId13"/>
    <p:sldId id="1262" r:id="rId14"/>
    <p:sldId id="1263" r:id="rId15"/>
    <p:sldId id="1264" r:id="rId16"/>
    <p:sldId id="1265" r:id="rId17"/>
    <p:sldId id="1266" r:id="rId18"/>
    <p:sldId id="1267" r:id="rId19"/>
    <p:sldId id="1268" r:id="rId20"/>
    <p:sldId id="1269" r:id="rId21"/>
    <p:sldId id="1270" r:id="rId22"/>
    <p:sldId id="1271" r:id="rId23"/>
    <p:sldId id="1272" r:id="rId24"/>
    <p:sldId id="1273" r:id="rId25"/>
    <p:sldId id="1274" r:id="rId26"/>
    <p:sldId id="1275" r:id="rId27"/>
    <p:sldId id="1276" r:id="rId28"/>
    <p:sldId id="1277" r:id="rId29"/>
    <p:sldId id="1278" r:id="rId30"/>
    <p:sldId id="1279" r:id="rId31"/>
    <p:sldId id="1280" r:id="rId32"/>
    <p:sldId id="1281" r:id="rId33"/>
    <p:sldId id="1282" r:id="rId34"/>
    <p:sldId id="1283" r:id="rId35"/>
    <p:sldId id="1284" r:id="rId36"/>
    <p:sldId id="1285" r:id="rId37"/>
    <p:sldId id="1286" r:id="rId3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 jr" initials="zj" lastIdx="1" clrIdx="0">
    <p:extLst>
      <p:ext uri="{19B8F6BF-5375-455C-9EA6-DF929625EA0E}">
        <p15:presenceInfo xmlns:p15="http://schemas.microsoft.com/office/powerpoint/2012/main" userId="2e4313e0a95621d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307E"/>
    <a:srgbClr val="FDCB0B"/>
    <a:srgbClr val="FFD700"/>
    <a:srgbClr val="F9BC12"/>
    <a:srgbClr val="FFD801"/>
    <a:srgbClr val="EFB914"/>
    <a:srgbClr val="F5BD15"/>
    <a:srgbClr val="F8BF15"/>
    <a:srgbClr val="FEC60D"/>
    <a:srgbClr val="FFC21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861"/>
    <p:restoredTop sz="84431" autoAdjust="0"/>
  </p:normalViewPr>
  <p:slideViewPr>
    <p:cSldViewPr snapToGrid="0" snapToObjects="1">
      <p:cViewPr varScale="1">
        <p:scale>
          <a:sx n="74" d="100"/>
          <a:sy n="74" d="100"/>
        </p:scale>
        <p:origin x="816" y="77"/>
      </p:cViewPr>
      <p:guideLst/>
    </p:cSldViewPr>
  </p:slideViewPr>
  <p:outlineViewPr>
    <p:cViewPr>
      <p:scale>
        <a:sx n="33" d="100"/>
        <a:sy n="33" d="100"/>
      </p:scale>
      <p:origin x="0" y="-264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E8472-67E5-DE40-B53F-0C0FEA434AA0}" type="datetimeFigureOut">
              <a:rPr kumimoji="1" lang="zh-CN" altLang="en-US" smtClean="0"/>
              <a:t>2022/10/18</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B8802-914A-7C41-BC77-CC54DEE99EEF}" type="slidenum">
              <a:rPr kumimoji="1" lang="zh-CN" altLang="en-US" smtClean="0"/>
              <a:t>‹#›</a:t>
            </a:fld>
            <a:endParaRPr kumimoji="1" lang="zh-CN" altLang="en-US"/>
          </a:p>
        </p:txBody>
      </p:sp>
    </p:spTree>
    <p:extLst>
      <p:ext uri="{BB962C8B-B14F-4D97-AF65-F5344CB8AC3E}">
        <p14:creationId xmlns:p14="http://schemas.microsoft.com/office/powerpoint/2010/main" val="3956025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16</a:t>
            </a:fld>
            <a:endParaRPr kumimoji="1" lang="zh-CN" altLang="en-US"/>
          </a:p>
        </p:txBody>
      </p:sp>
    </p:spTree>
    <p:extLst>
      <p:ext uri="{BB962C8B-B14F-4D97-AF65-F5344CB8AC3E}">
        <p14:creationId xmlns:p14="http://schemas.microsoft.com/office/powerpoint/2010/main" val="26835322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17</a:t>
            </a:fld>
            <a:endParaRPr kumimoji="1" lang="zh-CN" altLang="en-US"/>
          </a:p>
        </p:txBody>
      </p:sp>
    </p:spTree>
    <p:extLst>
      <p:ext uri="{BB962C8B-B14F-4D97-AF65-F5344CB8AC3E}">
        <p14:creationId xmlns:p14="http://schemas.microsoft.com/office/powerpoint/2010/main" val="2744984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18</a:t>
            </a:fld>
            <a:endParaRPr kumimoji="1" lang="zh-CN" altLang="en-US"/>
          </a:p>
        </p:txBody>
      </p:sp>
    </p:spTree>
    <p:extLst>
      <p:ext uri="{BB962C8B-B14F-4D97-AF65-F5344CB8AC3E}">
        <p14:creationId xmlns:p14="http://schemas.microsoft.com/office/powerpoint/2010/main" val="36098334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19</a:t>
            </a:fld>
            <a:endParaRPr kumimoji="1" lang="zh-CN" altLang="en-US"/>
          </a:p>
        </p:txBody>
      </p:sp>
    </p:spTree>
    <p:extLst>
      <p:ext uri="{BB962C8B-B14F-4D97-AF65-F5344CB8AC3E}">
        <p14:creationId xmlns:p14="http://schemas.microsoft.com/office/powerpoint/2010/main" val="4921448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20</a:t>
            </a:fld>
            <a:endParaRPr kumimoji="1" lang="zh-CN" altLang="en-US"/>
          </a:p>
        </p:txBody>
      </p:sp>
    </p:spTree>
    <p:extLst>
      <p:ext uri="{BB962C8B-B14F-4D97-AF65-F5344CB8AC3E}">
        <p14:creationId xmlns:p14="http://schemas.microsoft.com/office/powerpoint/2010/main" val="9579197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21</a:t>
            </a:fld>
            <a:endParaRPr kumimoji="1" lang="zh-CN" altLang="en-US"/>
          </a:p>
        </p:txBody>
      </p:sp>
    </p:spTree>
    <p:extLst>
      <p:ext uri="{BB962C8B-B14F-4D97-AF65-F5344CB8AC3E}">
        <p14:creationId xmlns:p14="http://schemas.microsoft.com/office/powerpoint/2010/main" val="17251434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22</a:t>
            </a:fld>
            <a:endParaRPr kumimoji="1" lang="zh-CN" altLang="en-US"/>
          </a:p>
        </p:txBody>
      </p:sp>
    </p:spTree>
    <p:extLst>
      <p:ext uri="{BB962C8B-B14F-4D97-AF65-F5344CB8AC3E}">
        <p14:creationId xmlns:p14="http://schemas.microsoft.com/office/powerpoint/2010/main" val="11406877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23</a:t>
            </a:fld>
            <a:endParaRPr kumimoji="1" lang="zh-CN" altLang="en-US"/>
          </a:p>
        </p:txBody>
      </p:sp>
    </p:spTree>
    <p:extLst>
      <p:ext uri="{BB962C8B-B14F-4D97-AF65-F5344CB8AC3E}">
        <p14:creationId xmlns:p14="http://schemas.microsoft.com/office/powerpoint/2010/main" val="26195490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24</a:t>
            </a:fld>
            <a:endParaRPr kumimoji="1" lang="zh-CN" altLang="en-US"/>
          </a:p>
        </p:txBody>
      </p:sp>
    </p:spTree>
    <p:extLst>
      <p:ext uri="{BB962C8B-B14F-4D97-AF65-F5344CB8AC3E}">
        <p14:creationId xmlns:p14="http://schemas.microsoft.com/office/powerpoint/2010/main" val="306289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25</a:t>
            </a:fld>
            <a:endParaRPr kumimoji="1" lang="zh-CN" altLang="en-US"/>
          </a:p>
        </p:txBody>
      </p:sp>
    </p:spTree>
    <p:extLst>
      <p:ext uri="{BB962C8B-B14F-4D97-AF65-F5344CB8AC3E}">
        <p14:creationId xmlns:p14="http://schemas.microsoft.com/office/powerpoint/2010/main" val="32031164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26</a:t>
            </a:fld>
            <a:endParaRPr kumimoji="1" lang="zh-CN" altLang="en-US"/>
          </a:p>
        </p:txBody>
      </p:sp>
    </p:spTree>
    <p:extLst>
      <p:ext uri="{BB962C8B-B14F-4D97-AF65-F5344CB8AC3E}">
        <p14:creationId xmlns:p14="http://schemas.microsoft.com/office/powerpoint/2010/main" val="35322861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27</a:t>
            </a:fld>
            <a:endParaRPr kumimoji="1" lang="zh-CN" altLang="en-US"/>
          </a:p>
        </p:txBody>
      </p:sp>
    </p:spTree>
    <p:extLst>
      <p:ext uri="{BB962C8B-B14F-4D97-AF65-F5344CB8AC3E}">
        <p14:creationId xmlns:p14="http://schemas.microsoft.com/office/powerpoint/2010/main" val="5619084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28</a:t>
            </a:fld>
            <a:endParaRPr kumimoji="1" lang="zh-CN" altLang="en-US"/>
          </a:p>
        </p:txBody>
      </p:sp>
    </p:spTree>
    <p:extLst>
      <p:ext uri="{BB962C8B-B14F-4D97-AF65-F5344CB8AC3E}">
        <p14:creationId xmlns:p14="http://schemas.microsoft.com/office/powerpoint/2010/main" val="37262629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29</a:t>
            </a:fld>
            <a:endParaRPr kumimoji="1" lang="zh-CN" altLang="en-US"/>
          </a:p>
        </p:txBody>
      </p:sp>
    </p:spTree>
    <p:extLst>
      <p:ext uri="{BB962C8B-B14F-4D97-AF65-F5344CB8AC3E}">
        <p14:creationId xmlns:p14="http://schemas.microsoft.com/office/powerpoint/2010/main" val="9849618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30</a:t>
            </a:fld>
            <a:endParaRPr kumimoji="1" lang="zh-CN" altLang="en-US"/>
          </a:p>
        </p:txBody>
      </p:sp>
    </p:spTree>
    <p:extLst>
      <p:ext uri="{BB962C8B-B14F-4D97-AF65-F5344CB8AC3E}">
        <p14:creationId xmlns:p14="http://schemas.microsoft.com/office/powerpoint/2010/main" val="28293879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31</a:t>
            </a:fld>
            <a:endParaRPr kumimoji="1" lang="zh-CN" altLang="en-US"/>
          </a:p>
        </p:txBody>
      </p:sp>
    </p:spTree>
    <p:extLst>
      <p:ext uri="{BB962C8B-B14F-4D97-AF65-F5344CB8AC3E}">
        <p14:creationId xmlns:p14="http://schemas.microsoft.com/office/powerpoint/2010/main" val="35520299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32</a:t>
            </a:fld>
            <a:endParaRPr kumimoji="1" lang="zh-CN" altLang="en-US"/>
          </a:p>
        </p:txBody>
      </p:sp>
    </p:spTree>
    <p:extLst>
      <p:ext uri="{BB962C8B-B14F-4D97-AF65-F5344CB8AC3E}">
        <p14:creationId xmlns:p14="http://schemas.microsoft.com/office/powerpoint/2010/main" val="25383316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33</a:t>
            </a:fld>
            <a:endParaRPr kumimoji="1" lang="zh-CN" altLang="en-US"/>
          </a:p>
        </p:txBody>
      </p:sp>
    </p:spTree>
    <p:extLst>
      <p:ext uri="{BB962C8B-B14F-4D97-AF65-F5344CB8AC3E}">
        <p14:creationId xmlns:p14="http://schemas.microsoft.com/office/powerpoint/2010/main" val="9967269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34</a:t>
            </a:fld>
            <a:endParaRPr kumimoji="1" lang="zh-CN" altLang="en-US"/>
          </a:p>
        </p:txBody>
      </p:sp>
    </p:spTree>
    <p:extLst>
      <p:ext uri="{BB962C8B-B14F-4D97-AF65-F5344CB8AC3E}">
        <p14:creationId xmlns:p14="http://schemas.microsoft.com/office/powerpoint/2010/main" val="13102777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35</a:t>
            </a:fld>
            <a:endParaRPr kumimoji="1" lang="zh-CN" altLang="en-US"/>
          </a:p>
        </p:txBody>
      </p:sp>
    </p:spTree>
    <p:extLst>
      <p:ext uri="{BB962C8B-B14F-4D97-AF65-F5344CB8AC3E}">
        <p14:creationId xmlns:p14="http://schemas.microsoft.com/office/powerpoint/2010/main" val="2969722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36</a:t>
            </a:fld>
            <a:endParaRPr kumimoji="1" lang="zh-CN" altLang="en-US"/>
          </a:p>
        </p:txBody>
      </p:sp>
    </p:spTree>
    <p:extLst>
      <p:ext uri="{BB962C8B-B14F-4D97-AF65-F5344CB8AC3E}">
        <p14:creationId xmlns:p14="http://schemas.microsoft.com/office/powerpoint/2010/main" val="31924257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37</a:t>
            </a:fld>
            <a:endParaRPr kumimoji="1" lang="zh-CN" altLang="en-US"/>
          </a:p>
        </p:txBody>
      </p:sp>
    </p:spTree>
    <p:extLst>
      <p:ext uri="{BB962C8B-B14F-4D97-AF65-F5344CB8AC3E}">
        <p14:creationId xmlns:p14="http://schemas.microsoft.com/office/powerpoint/2010/main" val="21269482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F97C75-78EB-4043-953B-95F867F42CEE}"/>
              </a:ext>
            </a:extLst>
          </p:cNvPr>
          <p:cNvSpPr>
            <a:spLocks noGrp="1"/>
          </p:cNvSpPr>
          <p:nvPr>
            <p:ph type="ctrTitle" hasCustomPrompt="1"/>
          </p:nvPr>
        </p:nvSpPr>
        <p:spPr>
          <a:xfrm>
            <a:off x="1524000" y="1122363"/>
            <a:ext cx="9144000" cy="2387600"/>
          </a:xfrm>
        </p:spPr>
        <p:txBody>
          <a:bodyPr anchor="b">
            <a:normAutofit/>
          </a:bodyPr>
          <a:lstStyle>
            <a:lvl1pPr algn="ctr">
              <a:defRPr sz="5400">
                <a:latin typeface="Times New Roman" panose="02020603050405020304" pitchFamily="18" charset="0"/>
                <a:ea typeface="+mn-ea"/>
                <a:cs typeface="Times New Roman" panose="02020603050405020304" pitchFamily="18" charset="0"/>
              </a:defRPr>
            </a:lvl1pPr>
          </a:lstStyle>
          <a:p>
            <a:r>
              <a:rPr kumimoji="1" lang="zh-CN" altLang="en-US" dirty="0"/>
              <a:t>单击此处编辑母版标题样式</a:t>
            </a:r>
            <a:br>
              <a:rPr kumimoji="1" lang="en-US" altLang="zh-CN" dirty="0"/>
            </a:br>
            <a:endParaRPr kumimoji="1" lang="zh-CN" altLang="en-US" dirty="0"/>
          </a:p>
        </p:txBody>
      </p:sp>
      <p:sp>
        <p:nvSpPr>
          <p:cNvPr id="3" name="副标题 2">
            <a:extLst>
              <a:ext uri="{FF2B5EF4-FFF2-40B4-BE49-F238E27FC236}">
                <a16:creationId xmlns:a16="http://schemas.microsoft.com/office/drawing/2014/main" id="{421C1163-5F70-9046-86B2-81951DCE1A96}"/>
              </a:ext>
            </a:extLst>
          </p:cNvPr>
          <p:cNvSpPr>
            <a:spLocks noGrp="1"/>
          </p:cNvSpPr>
          <p:nvPr>
            <p:ph type="subTitle" idx="1"/>
          </p:nvPr>
        </p:nvSpPr>
        <p:spPr>
          <a:xfrm>
            <a:off x="1524000" y="3602038"/>
            <a:ext cx="9144000" cy="1655762"/>
          </a:xfrm>
          <a:ln>
            <a:noFill/>
          </a:ln>
        </p:spPr>
        <p:txBody>
          <a:bodyPr/>
          <a:lstStyle>
            <a:lvl1pPr marL="0" indent="0" algn="ctr">
              <a:buNone/>
              <a:defRPr sz="2400">
                <a:latin typeface="Times New Roman" panose="02020603050405020304" pitchFamily="18" charset="0"/>
                <a:ea typeface="+mn-ea"/>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kumimoji="1" lang="en-US" altLang="zh-CN" dirty="0"/>
          </a:p>
          <a:p>
            <a:r>
              <a:rPr kumimoji="1" lang="zh-CN" altLang="en-US" dirty="0"/>
              <a:t>单击此处编辑母版副标题样式</a:t>
            </a:r>
          </a:p>
        </p:txBody>
      </p:sp>
      <p:sp>
        <p:nvSpPr>
          <p:cNvPr id="4" name="日期占位符 3">
            <a:extLst>
              <a:ext uri="{FF2B5EF4-FFF2-40B4-BE49-F238E27FC236}">
                <a16:creationId xmlns:a16="http://schemas.microsoft.com/office/drawing/2014/main" id="{9C07FD42-40C8-0740-93F0-4905CF427A8F}"/>
              </a:ext>
            </a:extLst>
          </p:cNvPr>
          <p:cNvSpPr>
            <a:spLocks noGrp="1"/>
          </p:cNvSpPr>
          <p:nvPr>
            <p:ph type="dt" sz="half" idx="10"/>
          </p:nvPr>
        </p:nvSpPr>
        <p:spPr/>
        <p:txBody>
          <a:bodyPr/>
          <a:lstStyle>
            <a:lvl1pPr>
              <a:defRPr>
                <a:latin typeface="Times New Roman" panose="02020603050405020304" pitchFamily="18" charset="0"/>
                <a:ea typeface="+mn-ea"/>
                <a:cs typeface="Times New Roman" panose="02020603050405020304" pitchFamily="18" charset="0"/>
              </a:defRPr>
            </a:lvl1pPr>
          </a:lstStyle>
          <a:p>
            <a:fld id="{E6C9AC36-F551-8142-B918-8641B516A611}" type="datetime1">
              <a:rPr kumimoji="1" lang="zh-CN" altLang="en-US" smtClean="0"/>
              <a:pPr/>
              <a:t>2022/10/18</a:t>
            </a:fld>
            <a:endParaRPr kumimoji="1" lang="zh-CN" altLang="en-US" dirty="0"/>
          </a:p>
        </p:txBody>
      </p:sp>
      <p:sp>
        <p:nvSpPr>
          <p:cNvPr id="5" name="页脚占位符 4">
            <a:extLst>
              <a:ext uri="{FF2B5EF4-FFF2-40B4-BE49-F238E27FC236}">
                <a16:creationId xmlns:a16="http://schemas.microsoft.com/office/drawing/2014/main" id="{B598E813-0309-7546-9A4F-6893C100586A}"/>
              </a:ext>
            </a:extLst>
          </p:cNvPr>
          <p:cNvSpPr>
            <a:spLocks noGrp="1"/>
          </p:cNvSpPr>
          <p:nvPr>
            <p:ph type="ftr" sz="quarter" idx="11"/>
          </p:nvPr>
        </p:nvSpPr>
        <p:spPr/>
        <p:txBody>
          <a:bodyPr/>
          <a:lstStyle>
            <a:lvl1pPr>
              <a:defRPr>
                <a:latin typeface="Times New Roman" panose="02020603050405020304" pitchFamily="18" charset="0"/>
                <a:ea typeface="+mn-ea"/>
                <a:cs typeface="Times New Roman" panose="02020603050405020304" pitchFamily="18" charset="0"/>
              </a:defRPr>
            </a:lvl1pPr>
          </a:lstStyle>
          <a:p>
            <a:endParaRPr kumimoji="1" lang="zh-CN" altLang="en-US" dirty="0"/>
          </a:p>
        </p:txBody>
      </p:sp>
      <p:sp>
        <p:nvSpPr>
          <p:cNvPr id="7" name="矩形 6">
            <a:extLst>
              <a:ext uri="{FF2B5EF4-FFF2-40B4-BE49-F238E27FC236}">
                <a16:creationId xmlns:a16="http://schemas.microsoft.com/office/drawing/2014/main" id="{B6F9E280-F138-8142-8DB1-324EA9F38324}"/>
              </a:ext>
            </a:extLst>
          </p:cNvPr>
          <p:cNvSpPr/>
          <p:nvPr userDrawn="1"/>
        </p:nvSpPr>
        <p:spPr>
          <a:xfrm>
            <a:off x="-9939" y="-8627"/>
            <a:ext cx="9307502" cy="56781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0" spc="600" dirty="0">
                <a:solidFill>
                  <a:schemeClr val="bg1"/>
                </a:solidFill>
                <a:latin typeface="Times New Roman" panose="02020603050405020304" pitchFamily="18" charset="0"/>
                <a:ea typeface="+mn-ea"/>
                <a:cs typeface="Times New Roman" panose="02020603050405020304" pitchFamily="18" charset="0"/>
              </a:rPr>
              <a:t>操作系统讲义</a:t>
            </a:r>
          </a:p>
        </p:txBody>
      </p:sp>
      <p:sp>
        <p:nvSpPr>
          <p:cNvPr id="9" name="文本框 8">
            <a:extLst>
              <a:ext uri="{FF2B5EF4-FFF2-40B4-BE49-F238E27FC236}">
                <a16:creationId xmlns:a16="http://schemas.microsoft.com/office/drawing/2014/main" id="{56DF02C2-66E0-594F-914D-47F0EC7AA666}"/>
              </a:ext>
            </a:extLst>
          </p:cNvPr>
          <p:cNvSpPr txBox="1"/>
          <p:nvPr userDrawn="1"/>
        </p:nvSpPr>
        <p:spPr>
          <a:xfrm>
            <a:off x="9488849" y="123270"/>
            <a:ext cx="2509020" cy="400110"/>
          </a:xfrm>
          <a:prstGeom prst="rect">
            <a:avLst/>
          </a:prstGeom>
          <a:noFill/>
        </p:spPr>
        <p:txBody>
          <a:bodyPr wrap="none" rtlCol="0">
            <a:spAutoFit/>
          </a:bodyPr>
          <a:lstStyle/>
          <a:p>
            <a:pPr algn="r"/>
            <a:r>
              <a:rPr lang="zh-CN" altLang="en-US" sz="2000" spc="600" dirty="0">
                <a:solidFill>
                  <a:srgbClr val="5B307E"/>
                </a:solidFill>
                <a:latin typeface="Times New Roman" panose="02020603050405020304" pitchFamily="18" charset="0"/>
                <a:ea typeface="+mn-ea"/>
                <a:cs typeface="Times New Roman" panose="02020603050405020304" pitchFamily="18" charset="0"/>
              </a:rPr>
              <a:t>分享</a:t>
            </a:r>
            <a:r>
              <a:rPr lang="en-US" altLang="zh-CN" sz="2000" spc="600" dirty="0">
                <a:solidFill>
                  <a:srgbClr val="5B307E"/>
                </a:solidFill>
                <a:latin typeface="Times New Roman" panose="02020603050405020304" pitchFamily="18" charset="0"/>
                <a:ea typeface="+mn-ea"/>
                <a:cs typeface="Times New Roman" panose="02020603050405020304" pitchFamily="18" charset="0"/>
              </a:rPr>
              <a:t>·</a:t>
            </a:r>
            <a:r>
              <a:rPr lang="zh-CN" altLang="en-US" sz="2000" spc="600" dirty="0">
                <a:solidFill>
                  <a:srgbClr val="5B307E"/>
                </a:solidFill>
                <a:latin typeface="Times New Roman" panose="02020603050405020304" pitchFamily="18" charset="0"/>
                <a:ea typeface="+mn-ea"/>
                <a:cs typeface="Times New Roman" panose="02020603050405020304" pitchFamily="18" charset="0"/>
              </a:rPr>
              <a:t>开源</a:t>
            </a:r>
            <a:r>
              <a:rPr lang="en-US" altLang="zh-CN" sz="2000" spc="600" dirty="0">
                <a:solidFill>
                  <a:srgbClr val="5B307E"/>
                </a:solidFill>
                <a:latin typeface="Times New Roman" panose="02020603050405020304" pitchFamily="18" charset="0"/>
                <a:ea typeface="+mn-ea"/>
                <a:cs typeface="Times New Roman" panose="02020603050405020304" pitchFamily="18" charset="0"/>
              </a:rPr>
              <a:t>·</a:t>
            </a:r>
            <a:r>
              <a:rPr lang="zh-CN" altLang="en-US" sz="2000" spc="600" dirty="0">
                <a:solidFill>
                  <a:srgbClr val="5B307E"/>
                </a:solidFill>
                <a:latin typeface="Times New Roman" panose="02020603050405020304" pitchFamily="18" charset="0"/>
                <a:ea typeface="+mn-ea"/>
                <a:cs typeface="Times New Roman" panose="02020603050405020304" pitchFamily="18" charset="0"/>
              </a:rPr>
              <a:t>系统</a:t>
            </a:r>
          </a:p>
        </p:txBody>
      </p:sp>
      <p:sp>
        <p:nvSpPr>
          <p:cNvPr id="10" name="文本框 9">
            <a:extLst>
              <a:ext uri="{FF2B5EF4-FFF2-40B4-BE49-F238E27FC236}">
                <a16:creationId xmlns:a16="http://schemas.microsoft.com/office/drawing/2014/main" id="{F4B6AE72-9896-4390-885F-C06808FC32AB}"/>
              </a:ext>
            </a:extLst>
          </p:cNvPr>
          <p:cNvSpPr txBox="1"/>
          <p:nvPr userDrawn="1"/>
        </p:nvSpPr>
        <p:spPr>
          <a:xfrm>
            <a:off x="9831318" y="6365398"/>
            <a:ext cx="2166551" cy="369332"/>
          </a:xfrm>
          <a:prstGeom prst="rect">
            <a:avLst/>
          </a:prstGeom>
          <a:noFill/>
        </p:spPr>
        <p:txBody>
          <a:bodyPr wrap="square">
            <a:spAutoFit/>
          </a:bodyPr>
          <a:lstStyle/>
          <a:p>
            <a:r>
              <a:rPr lang="en-US" altLang="zh-CN" b="0" i="0" dirty="0">
                <a:solidFill>
                  <a:schemeClr val="accent1">
                    <a:lumMod val="60000"/>
                    <a:lumOff val="40000"/>
                  </a:schemeClr>
                </a:solidFill>
                <a:effectLst/>
                <a:latin typeface="Times New Roman" panose="02020603050405020304" pitchFamily="18" charset="0"/>
                <a:ea typeface="+mn-ea"/>
                <a:cs typeface="Times New Roman" panose="02020603050405020304" pitchFamily="18" charset="0"/>
              </a:rPr>
              <a:t>Contributor: </a:t>
            </a:r>
            <a:r>
              <a:rPr lang="zh-CN" altLang="en-US" b="0" i="0" dirty="0">
                <a:solidFill>
                  <a:schemeClr val="accent1">
                    <a:lumMod val="60000"/>
                    <a:lumOff val="40000"/>
                  </a:schemeClr>
                </a:solidFill>
                <a:effectLst/>
                <a:latin typeface="Times New Roman" panose="02020603050405020304" pitchFamily="18" charset="0"/>
                <a:ea typeface="+mn-ea"/>
                <a:cs typeface="Times New Roman" panose="02020603050405020304" pitchFamily="18" charset="0"/>
              </a:rPr>
              <a:t>江先亮</a:t>
            </a:r>
            <a:endParaRPr lang="en-US" altLang="zh-CN" dirty="0">
              <a:solidFill>
                <a:schemeClr val="accent1">
                  <a:lumMod val="60000"/>
                  <a:lumOff val="40000"/>
                </a:schemeClr>
              </a:solidFill>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8909479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3457C5-5D0E-4F46-9D0B-7EA2985DFFE7}"/>
              </a:ext>
            </a:extLst>
          </p:cNvPr>
          <p:cNvSpPr>
            <a:spLocks noGrp="1"/>
          </p:cNvSpPr>
          <p:nvPr>
            <p:ph type="title"/>
          </p:nvPr>
        </p:nvSpPr>
        <p:spPr/>
        <p:txBody>
          <a:bodyPr>
            <a:normAutofit/>
          </a:bodyPr>
          <a:lstStyle>
            <a:lvl1pPr>
              <a:defRPr sz="4000">
                <a:latin typeface="Times New Roman" panose="02020603050405020304" pitchFamily="18" charset="0"/>
                <a:ea typeface="宋体" panose="02010600030101010101" pitchFamily="2" charset="-122"/>
                <a:cs typeface="Times New Roman" panose="02020603050405020304" pitchFamily="18" charset="0"/>
              </a:defRPr>
            </a:lvl1pPr>
          </a:lstStyle>
          <a:p>
            <a:r>
              <a:rPr kumimoji="1" lang="zh-CN" altLang="en-US" dirty="0"/>
              <a:t>单击此处编辑母版标题样式</a:t>
            </a:r>
          </a:p>
        </p:txBody>
      </p:sp>
      <p:sp>
        <p:nvSpPr>
          <p:cNvPr id="3" name="内容占位符 2">
            <a:extLst>
              <a:ext uri="{FF2B5EF4-FFF2-40B4-BE49-F238E27FC236}">
                <a16:creationId xmlns:a16="http://schemas.microsoft.com/office/drawing/2014/main" id="{D2FA45BE-434F-B44C-99F8-C563AC076A02}"/>
              </a:ext>
            </a:extLst>
          </p:cNvPr>
          <p:cNvSpPr>
            <a:spLocks noGrp="1"/>
          </p:cNvSpPr>
          <p:nvPr>
            <p:ph idx="1"/>
          </p:nvPr>
        </p:nvSpPr>
        <p:spPr>
          <a:xfrm>
            <a:off x="838200" y="1510758"/>
            <a:ext cx="10515600" cy="4586694"/>
          </a:xfrm>
        </p:spPr>
        <p:txBody>
          <a:bodyPr/>
          <a:lstStyle>
            <a:lvl1pPr marL="360363" indent="-360363">
              <a:lnSpc>
                <a:spcPct val="120000"/>
              </a:lnSpc>
              <a:spcBef>
                <a:spcPts val="600"/>
              </a:spcBef>
              <a:buFont typeface="Wingdings" pitchFamily="2" charset="2"/>
              <a:buChar char="Ø"/>
              <a:tabLst/>
              <a:defRPr>
                <a:latin typeface="Times New Roman" panose="02020603050405020304" pitchFamily="18" charset="0"/>
                <a:ea typeface="宋体" panose="02010600030101010101" pitchFamily="2" charset="-122"/>
                <a:cs typeface="Times New Roman" panose="02020603050405020304" pitchFamily="18" charset="0"/>
              </a:defRPr>
            </a:lvl1pPr>
            <a:lvl2pPr>
              <a:lnSpc>
                <a:spcPct val="120000"/>
              </a:lnSpc>
              <a:spcBef>
                <a:spcPts val="600"/>
              </a:spcBef>
              <a:buFont typeface="Arial" panose="020B0604020202020204" pitchFamily="34" charset="0"/>
              <a:buChar char="•"/>
              <a:defRPr>
                <a:latin typeface="Times New Roman" panose="02020603050405020304" pitchFamily="18" charset="0"/>
                <a:ea typeface="宋体" panose="02010600030101010101" pitchFamily="2" charset="-122"/>
                <a:cs typeface="Times New Roman" panose="02020603050405020304" pitchFamily="18" charset="0"/>
              </a:defRPr>
            </a:lvl2pPr>
            <a:lvl3pPr>
              <a:lnSpc>
                <a:spcPct val="120000"/>
              </a:lnSpc>
              <a:spcBef>
                <a:spcPts val="600"/>
              </a:spcBef>
              <a:defRPr>
                <a:latin typeface="Times New Roman" panose="02020603050405020304" pitchFamily="18" charset="0"/>
                <a:ea typeface="宋体" panose="02010600030101010101" pitchFamily="2" charset="-122"/>
                <a:cs typeface="Times New Roman" panose="02020603050405020304" pitchFamily="18" charset="0"/>
              </a:defRPr>
            </a:lvl3pPr>
            <a:lvl4pPr>
              <a:lnSpc>
                <a:spcPct val="120000"/>
              </a:lnSpc>
              <a:spcBef>
                <a:spcPts val="600"/>
              </a:spcBef>
              <a:defRPr>
                <a:latin typeface="Times New Roman" panose="02020603050405020304" pitchFamily="18" charset="0"/>
                <a:ea typeface="宋体" panose="02010600030101010101" pitchFamily="2" charset="-122"/>
                <a:cs typeface="Times New Roman" panose="02020603050405020304" pitchFamily="18" charset="0"/>
              </a:defRPr>
            </a:lvl4pPr>
            <a:lvl5pPr>
              <a:lnSpc>
                <a:spcPct val="120000"/>
              </a:lnSpc>
              <a:spcBef>
                <a:spcPts val="600"/>
              </a:spcBef>
              <a:defRPr>
                <a:latin typeface="Times New Roman" panose="02020603050405020304" pitchFamily="18" charset="0"/>
                <a:ea typeface="宋体" panose="02010600030101010101" pitchFamily="2" charset="-122"/>
                <a:cs typeface="Times New Roman" panose="02020603050405020304" pitchFamily="18" charset="0"/>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5A1C8C13-A111-E44B-BB6E-32C9AFF870A6}"/>
              </a:ext>
            </a:extLst>
          </p:cNvPr>
          <p:cNvSpPr>
            <a:spLocks noGrp="1"/>
          </p:cNvSpPr>
          <p:nvPr>
            <p:ph type="dt" sz="half" idx="10"/>
          </p:nvPr>
        </p:nvSpPr>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stStyle>
          <a:p>
            <a:fld id="{D9F44458-A3AD-7248-AB3A-A80099144E2A}" type="datetime1">
              <a:rPr kumimoji="1" lang="zh-CN" altLang="en-US" smtClean="0"/>
              <a:pPr/>
              <a:t>2022/10/18</a:t>
            </a:fld>
            <a:endParaRPr kumimoji="1" lang="zh-CN" altLang="en-US"/>
          </a:p>
        </p:txBody>
      </p:sp>
      <p:sp>
        <p:nvSpPr>
          <p:cNvPr id="5" name="页脚占位符 4">
            <a:extLst>
              <a:ext uri="{FF2B5EF4-FFF2-40B4-BE49-F238E27FC236}">
                <a16:creationId xmlns:a16="http://schemas.microsoft.com/office/drawing/2014/main" id="{3A7B7B75-EEC1-2D4D-AB7C-5A3514969529}"/>
              </a:ext>
            </a:extLst>
          </p:cNvPr>
          <p:cNvSpPr>
            <a:spLocks noGrp="1"/>
          </p:cNvSpPr>
          <p:nvPr>
            <p:ph type="ftr" sz="quarter" idx="11"/>
          </p:nvPr>
        </p:nvSpPr>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stStyle>
          <a:p>
            <a:endParaRPr kumimoji="1" lang="zh-CN" altLang="en-US"/>
          </a:p>
        </p:txBody>
      </p:sp>
      <p:sp>
        <p:nvSpPr>
          <p:cNvPr id="6" name="灯片编号占位符 5">
            <a:extLst>
              <a:ext uri="{FF2B5EF4-FFF2-40B4-BE49-F238E27FC236}">
                <a16:creationId xmlns:a16="http://schemas.microsoft.com/office/drawing/2014/main" id="{8FDBE6BC-6A1B-1944-BBB6-30FD8C33B360}"/>
              </a:ext>
            </a:extLst>
          </p:cNvPr>
          <p:cNvSpPr>
            <a:spLocks noGrp="1"/>
          </p:cNvSpPr>
          <p:nvPr>
            <p:ph type="sldNum" sz="quarter" idx="12"/>
          </p:nvPr>
        </p:nvSpPr>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stStyle>
          <a:p>
            <a:fld id="{8D4D1E41-7A09-AB4A-A4E1-09765ADA2698}" type="slidenum">
              <a:rPr kumimoji="1" lang="zh-CN" altLang="en-US" smtClean="0"/>
              <a:pPr/>
              <a:t>‹#›</a:t>
            </a:fld>
            <a:endParaRPr kumimoji="1" lang="zh-CN" altLang="en-US" dirty="0"/>
          </a:p>
        </p:txBody>
      </p:sp>
      <p:cxnSp>
        <p:nvCxnSpPr>
          <p:cNvPr id="40" name="直线连接符 39">
            <a:extLst>
              <a:ext uri="{FF2B5EF4-FFF2-40B4-BE49-F238E27FC236}">
                <a16:creationId xmlns:a16="http://schemas.microsoft.com/office/drawing/2014/main" id="{9E7AFED4-5702-094E-A3B8-21EB069F234E}"/>
              </a:ext>
            </a:extLst>
          </p:cNvPr>
          <p:cNvCxnSpPr>
            <a:cxnSpLocks/>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cxnSp>
        <p:nvCxnSpPr>
          <p:cNvPr id="64" name="直线连接符 63">
            <a:extLst>
              <a:ext uri="{FF2B5EF4-FFF2-40B4-BE49-F238E27FC236}">
                <a16:creationId xmlns:a16="http://schemas.microsoft.com/office/drawing/2014/main" id="{06B569DB-EE88-CB4A-A634-A7CA45E81663}"/>
              </a:ext>
            </a:extLst>
          </p:cNvPr>
          <p:cNvCxnSpPr>
            <a:cxnSpLocks/>
          </p:cNvCxnSpPr>
          <p:nvPr userDrawn="1"/>
        </p:nvCxnSpPr>
        <p:spPr>
          <a:xfrm>
            <a:off x="9640085" y="559432"/>
            <a:ext cx="0" cy="625672"/>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71" name="组合 70">
            <a:extLst>
              <a:ext uri="{FF2B5EF4-FFF2-40B4-BE49-F238E27FC236}">
                <a16:creationId xmlns:a16="http://schemas.microsoft.com/office/drawing/2014/main" id="{C1D75728-DE08-814F-9EF0-7E9AFB999FE6}"/>
              </a:ext>
            </a:extLst>
          </p:cNvPr>
          <p:cNvGrpSpPr/>
          <p:nvPr userDrawn="1"/>
        </p:nvGrpSpPr>
        <p:grpSpPr>
          <a:xfrm>
            <a:off x="715452" y="634525"/>
            <a:ext cx="403039" cy="321898"/>
            <a:chOff x="1368170" y="664579"/>
            <a:chExt cx="550582" cy="439737"/>
          </a:xfrm>
          <a:solidFill>
            <a:schemeClr val="bg1"/>
          </a:solidFill>
        </p:grpSpPr>
        <p:sp>
          <p:nvSpPr>
            <p:cNvPr id="72" name="Freeform 1">
              <a:extLst>
                <a:ext uri="{FF2B5EF4-FFF2-40B4-BE49-F238E27FC236}">
                  <a16:creationId xmlns:a16="http://schemas.microsoft.com/office/drawing/2014/main" id="{53F1A011-1E52-3140-9C21-8911AB32201B}"/>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73" name="Freeform 2">
              <a:extLst>
                <a:ext uri="{FF2B5EF4-FFF2-40B4-BE49-F238E27FC236}">
                  <a16:creationId xmlns:a16="http://schemas.microsoft.com/office/drawing/2014/main" id="{364873AD-F7AE-3D48-84F0-C71836518975}"/>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74" name="Freeform 3">
              <a:extLst>
                <a:ext uri="{FF2B5EF4-FFF2-40B4-BE49-F238E27FC236}">
                  <a16:creationId xmlns:a16="http://schemas.microsoft.com/office/drawing/2014/main" id="{5B03D593-4A0D-DF4E-8474-4FAD50C6BCB7}"/>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75" name="Freeform 4">
              <a:extLst>
                <a:ext uri="{FF2B5EF4-FFF2-40B4-BE49-F238E27FC236}">
                  <a16:creationId xmlns:a16="http://schemas.microsoft.com/office/drawing/2014/main" id="{1A0E5E70-2235-6044-9E4C-A8D32092980C}"/>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76" name="Freeform 5">
              <a:extLst>
                <a:ext uri="{FF2B5EF4-FFF2-40B4-BE49-F238E27FC236}">
                  <a16:creationId xmlns:a16="http://schemas.microsoft.com/office/drawing/2014/main" id="{9F25C08B-5CAA-1D40-B768-CF07CC9095C1}"/>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77" name="Freeform 6">
              <a:extLst>
                <a:ext uri="{FF2B5EF4-FFF2-40B4-BE49-F238E27FC236}">
                  <a16:creationId xmlns:a16="http://schemas.microsoft.com/office/drawing/2014/main" id="{A1A66D2D-2EC2-AA45-8DA4-4B543D6DB3C7}"/>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 name="Freeform 7">
              <a:extLst>
                <a:ext uri="{FF2B5EF4-FFF2-40B4-BE49-F238E27FC236}">
                  <a16:creationId xmlns:a16="http://schemas.microsoft.com/office/drawing/2014/main" id="{BF5A2635-9D3C-B746-B7BB-00E1B5440D84}"/>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79" name="Freeform 8">
              <a:extLst>
                <a:ext uri="{FF2B5EF4-FFF2-40B4-BE49-F238E27FC236}">
                  <a16:creationId xmlns:a16="http://schemas.microsoft.com/office/drawing/2014/main" id="{9A427AEE-5F0B-1D43-8127-A5A07CDC3AC8}"/>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80" name="Freeform 9">
              <a:extLst>
                <a:ext uri="{FF2B5EF4-FFF2-40B4-BE49-F238E27FC236}">
                  <a16:creationId xmlns:a16="http://schemas.microsoft.com/office/drawing/2014/main" id="{E60E42BA-4A46-4D41-AA72-E2F725048BE0}"/>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81" name="Freeform 10">
              <a:extLst>
                <a:ext uri="{FF2B5EF4-FFF2-40B4-BE49-F238E27FC236}">
                  <a16:creationId xmlns:a16="http://schemas.microsoft.com/office/drawing/2014/main" id="{5B1734EF-4E6E-164F-849F-5F01256562DA}"/>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82" name="Freeform 11">
              <a:extLst>
                <a:ext uri="{FF2B5EF4-FFF2-40B4-BE49-F238E27FC236}">
                  <a16:creationId xmlns:a16="http://schemas.microsoft.com/office/drawing/2014/main" id="{8623BE8B-4483-AE4A-A6EA-432CBE50BCAC}"/>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grpSp>
      <p:pic>
        <p:nvPicPr>
          <p:cNvPr id="8" name="图片 7">
            <a:extLst>
              <a:ext uri="{FF2B5EF4-FFF2-40B4-BE49-F238E27FC236}">
                <a16:creationId xmlns:a16="http://schemas.microsoft.com/office/drawing/2014/main" id="{D78FDA68-D42A-4B5F-BB4E-E568E391EE0C}"/>
              </a:ext>
            </a:extLst>
          </p:cNvPr>
          <p:cNvPicPr>
            <a:picLocks noChangeAspect="1"/>
          </p:cNvPicPr>
          <p:nvPr userDrawn="1"/>
        </p:nvPicPr>
        <p:blipFill>
          <a:blip r:embed="rId2"/>
          <a:stretch>
            <a:fillRect/>
          </a:stretch>
        </p:blipFill>
        <p:spPr>
          <a:xfrm>
            <a:off x="9745897" y="497386"/>
            <a:ext cx="2172649" cy="665946"/>
          </a:xfrm>
          <a:prstGeom prst="rect">
            <a:avLst/>
          </a:prstGeom>
        </p:spPr>
      </p:pic>
      <p:sp>
        <p:nvSpPr>
          <p:cNvPr id="7" name="AutoShape 4" descr="华为 openEuler 开源社区如约而至，上千个代码仓库已开放！">
            <a:extLst>
              <a:ext uri="{FF2B5EF4-FFF2-40B4-BE49-F238E27FC236}">
                <a16:creationId xmlns:a16="http://schemas.microsoft.com/office/drawing/2014/main" id="{4F6DB7B7-4AA4-4828-8961-C778CFDDFBDE}"/>
              </a:ext>
            </a:extLst>
          </p:cNvPr>
          <p:cNvSpPr>
            <a:spLocks noChangeAspect="1" noChangeArrowheads="1"/>
          </p:cNvSpPr>
          <p:nvPr userDrawn="1"/>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10" name="图片 9">
            <a:extLst>
              <a:ext uri="{FF2B5EF4-FFF2-40B4-BE49-F238E27FC236}">
                <a16:creationId xmlns:a16="http://schemas.microsoft.com/office/drawing/2014/main" id="{537D1EFF-6DA9-4895-8869-A51D8B5BE513}"/>
              </a:ext>
            </a:extLst>
          </p:cNvPr>
          <p:cNvPicPr>
            <a:picLocks noChangeAspect="1"/>
          </p:cNvPicPr>
          <p:nvPr userDrawn="1"/>
        </p:nvPicPr>
        <p:blipFill rotWithShape="1">
          <a:blip r:embed="rId3"/>
          <a:srcRect l="14829" r="13965"/>
          <a:stretch/>
        </p:blipFill>
        <p:spPr>
          <a:xfrm>
            <a:off x="369018" y="485954"/>
            <a:ext cx="803904" cy="677378"/>
          </a:xfrm>
          <a:prstGeom prst="rect">
            <a:avLst/>
          </a:prstGeom>
        </p:spPr>
      </p:pic>
    </p:spTree>
    <p:extLst>
      <p:ext uri="{BB962C8B-B14F-4D97-AF65-F5344CB8AC3E}">
        <p14:creationId xmlns:p14="http://schemas.microsoft.com/office/powerpoint/2010/main" val="11158555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9F4A777-4880-8640-83A6-327323A56F12}"/>
              </a:ext>
            </a:extLst>
          </p:cNvPr>
          <p:cNvSpPr>
            <a:spLocks noGrp="1"/>
          </p:cNvSpPr>
          <p:nvPr>
            <p:ph sz="half" idx="1"/>
          </p:nvPr>
        </p:nvSpPr>
        <p:spPr>
          <a:xfrm>
            <a:off x="838200" y="1825625"/>
            <a:ext cx="5181600" cy="4351338"/>
          </a:xfrm>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vl2pPr>
              <a:defRPr>
                <a:latin typeface="Times New Roman" panose="02020603050405020304" pitchFamily="18" charset="0"/>
                <a:ea typeface="宋体" panose="02010600030101010101" pitchFamily="2" charset="-122"/>
                <a:cs typeface="Times New Roman" panose="02020603050405020304" pitchFamily="18" charset="0"/>
              </a:defRPr>
            </a:lvl2pPr>
            <a:lvl3pPr>
              <a:defRPr>
                <a:latin typeface="Times New Roman" panose="02020603050405020304" pitchFamily="18" charset="0"/>
                <a:ea typeface="宋体" panose="02010600030101010101" pitchFamily="2" charset="-122"/>
                <a:cs typeface="Times New Roman" panose="02020603050405020304" pitchFamily="18" charset="0"/>
              </a:defRPr>
            </a:lvl3pPr>
            <a:lvl4pPr>
              <a:defRPr>
                <a:latin typeface="Times New Roman" panose="02020603050405020304" pitchFamily="18" charset="0"/>
                <a:ea typeface="宋体" panose="02010600030101010101" pitchFamily="2" charset="-122"/>
                <a:cs typeface="Times New Roman" panose="02020603050405020304" pitchFamily="18" charset="0"/>
              </a:defRPr>
            </a:lvl4pPr>
            <a:lvl5pPr>
              <a:defRPr>
                <a:latin typeface="Times New Roman" panose="02020603050405020304" pitchFamily="18" charset="0"/>
                <a:ea typeface="宋体" panose="02010600030101010101" pitchFamily="2" charset="-122"/>
                <a:cs typeface="Times New Roman" panose="02020603050405020304" pitchFamily="18" charset="0"/>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内容占位符 3">
            <a:extLst>
              <a:ext uri="{FF2B5EF4-FFF2-40B4-BE49-F238E27FC236}">
                <a16:creationId xmlns:a16="http://schemas.microsoft.com/office/drawing/2014/main" id="{27E2510C-46FB-B140-83A3-4B9EF1B4C9DF}"/>
              </a:ext>
            </a:extLst>
          </p:cNvPr>
          <p:cNvSpPr>
            <a:spLocks noGrp="1"/>
          </p:cNvSpPr>
          <p:nvPr>
            <p:ph sz="half" idx="2"/>
          </p:nvPr>
        </p:nvSpPr>
        <p:spPr>
          <a:xfrm>
            <a:off x="6172200" y="1825625"/>
            <a:ext cx="5181600" cy="4351338"/>
          </a:xfrm>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vl2pPr>
              <a:defRPr>
                <a:latin typeface="Times New Roman" panose="02020603050405020304" pitchFamily="18" charset="0"/>
                <a:ea typeface="宋体" panose="02010600030101010101" pitchFamily="2" charset="-122"/>
                <a:cs typeface="Times New Roman" panose="02020603050405020304" pitchFamily="18" charset="0"/>
              </a:defRPr>
            </a:lvl2pPr>
            <a:lvl3pPr>
              <a:defRPr>
                <a:latin typeface="Times New Roman" panose="02020603050405020304" pitchFamily="18" charset="0"/>
                <a:ea typeface="宋体" panose="02010600030101010101" pitchFamily="2" charset="-122"/>
                <a:cs typeface="Times New Roman" panose="02020603050405020304" pitchFamily="18" charset="0"/>
              </a:defRPr>
            </a:lvl3pPr>
            <a:lvl4pPr>
              <a:defRPr>
                <a:latin typeface="Times New Roman" panose="02020603050405020304" pitchFamily="18" charset="0"/>
                <a:ea typeface="宋体" panose="02010600030101010101" pitchFamily="2" charset="-122"/>
                <a:cs typeface="Times New Roman" panose="02020603050405020304" pitchFamily="18" charset="0"/>
              </a:defRPr>
            </a:lvl4pPr>
            <a:lvl5pPr>
              <a:defRPr>
                <a:latin typeface="Times New Roman" panose="02020603050405020304" pitchFamily="18" charset="0"/>
                <a:ea typeface="宋体" panose="02010600030101010101" pitchFamily="2" charset="-122"/>
                <a:cs typeface="Times New Roman" panose="02020603050405020304" pitchFamily="18" charset="0"/>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5" name="日期占位符 4">
            <a:extLst>
              <a:ext uri="{FF2B5EF4-FFF2-40B4-BE49-F238E27FC236}">
                <a16:creationId xmlns:a16="http://schemas.microsoft.com/office/drawing/2014/main" id="{C459310F-E4CA-E54F-B1B1-7656B1F4AAA8}"/>
              </a:ext>
            </a:extLst>
          </p:cNvPr>
          <p:cNvSpPr>
            <a:spLocks noGrp="1"/>
          </p:cNvSpPr>
          <p:nvPr>
            <p:ph type="dt" sz="half" idx="10"/>
          </p:nvPr>
        </p:nvSpPr>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stStyle>
          <a:p>
            <a:fld id="{4290EBB2-4D7C-084A-BE30-AC939B671EC1}" type="datetime1">
              <a:rPr kumimoji="1" lang="zh-CN" altLang="en-US" smtClean="0"/>
              <a:pPr/>
              <a:t>2022/10/18</a:t>
            </a:fld>
            <a:endParaRPr kumimoji="1" lang="zh-CN" altLang="en-US"/>
          </a:p>
        </p:txBody>
      </p:sp>
      <p:sp>
        <p:nvSpPr>
          <p:cNvPr id="6" name="页脚占位符 5">
            <a:extLst>
              <a:ext uri="{FF2B5EF4-FFF2-40B4-BE49-F238E27FC236}">
                <a16:creationId xmlns:a16="http://schemas.microsoft.com/office/drawing/2014/main" id="{D8A41358-8B3C-CE4B-B391-06B0FF85E814}"/>
              </a:ext>
            </a:extLst>
          </p:cNvPr>
          <p:cNvSpPr>
            <a:spLocks noGrp="1"/>
          </p:cNvSpPr>
          <p:nvPr>
            <p:ph type="ftr" sz="quarter" idx="11"/>
          </p:nvPr>
        </p:nvSpPr>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stStyle>
          <a:p>
            <a:endParaRPr kumimoji="1" lang="zh-CN" altLang="en-US"/>
          </a:p>
        </p:txBody>
      </p:sp>
      <p:sp>
        <p:nvSpPr>
          <p:cNvPr id="7" name="灯片编号占位符 6">
            <a:extLst>
              <a:ext uri="{FF2B5EF4-FFF2-40B4-BE49-F238E27FC236}">
                <a16:creationId xmlns:a16="http://schemas.microsoft.com/office/drawing/2014/main" id="{FDFB6C4E-D29D-9647-82C6-2B183C588D14}"/>
              </a:ext>
            </a:extLst>
          </p:cNvPr>
          <p:cNvSpPr>
            <a:spLocks noGrp="1"/>
          </p:cNvSpPr>
          <p:nvPr>
            <p:ph type="sldNum" sz="quarter" idx="12"/>
          </p:nvPr>
        </p:nvSpPr>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stStyle>
          <a:p>
            <a:fld id="{8D4D1E41-7A09-AB4A-A4E1-09765ADA2698}" type="slidenum">
              <a:rPr kumimoji="1" lang="zh-CN" altLang="en-US" smtClean="0"/>
              <a:pPr/>
              <a:t>‹#›</a:t>
            </a:fld>
            <a:endParaRPr kumimoji="1" lang="zh-CN" altLang="en-US"/>
          </a:p>
        </p:txBody>
      </p:sp>
      <p:sp>
        <p:nvSpPr>
          <p:cNvPr id="76" name="标题 1">
            <a:extLst>
              <a:ext uri="{FF2B5EF4-FFF2-40B4-BE49-F238E27FC236}">
                <a16:creationId xmlns:a16="http://schemas.microsoft.com/office/drawing/2014/main" id="{9F8181F7-80D6-426E-AFE8-FB2DFF65E8FD}"/>
              </a:ext>
            </a:extLst>
          </p:cNvPr>
          <p:cNvSpPr>
            <a:spLocks noGrp="1"/>
          </p:cNvSpPr>
          <p:nvPr>
            <p:ph type="title"/>
          </p:nvPr>
        </p:nvSpPr>
        <p:spPr>
          <a:xfrm>
            <a:off x="1307508" y="365126"/>
            <a:ext cx="8220812" cy="879086"/>
          </a:xfrm>
        </p:spPr>
        <p:txBody>
          <a:bodyPr>
            <a:normAutofit/>
          </a:bodyPr>
          <a:lstStyle>
            <a:lvl1pPr>
              <a:defRPr sz="4000">
                <a:latin typeface="Times New Roman" panose="02020603050405020304" pitchFamily="18" charset="0"/>
                <a:ea typeface="宋体" panose="02010600030101010101" pitchFamily="2" charset="-122"/>
                <a:cs typeface="Times New Roman" panose="02020603050405020304" pitchFamily="18" charset="0"/>
              </a:defRPr>
            </a:lvl1pPr>
          </a:lstStyle>
          <a:p>
            <a:r>
              <a:rPr kumimoji="1" lang="zh-CN" altLang="en-US" dirty="0"/>
              <a:t>单击此处编辑母版标题样式</a:t>
            </a:r>
          </a:p>
        </p:txBody>
      </p:sp>
      <p:cxnSp>
        <p:nvCxnSpPr>
          <p:cNvPr id="77" name="直线连接符 39">
            <a:extLst>
              <a:ext uri="{FF2B5EF4-FFF2-40B4-BE49-F238E27FC236}">
                <a16:creationId xmlns:a16="http://schemas.microsoft.com/office/drawing/2014/main" id="{FD052F5B-CE6A-4A1A-8EF2-B2EA4AD732A1}"/>
              </a:ext>
            </a:extLst>
          </p:cNvPr>
          <p:cNvCxnSpPr>
            <a:cxnSpLocks/>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cxnSp>
        <p:nvCxnSpPr>
          <p:cNvPr id="78" name="直线连接符 63">
            <a:extLst>
              <a:ext uri="{FF2B5EF4-FFF2-40B4-BE49-F238E27FC236}">
                <a16:creationId xmlns:a16="http://schemas.microsoft.com/office/drawing/2014/main" id="{5AE29B1F-7085-4DB6-8B2E-71AE9756DEE5}"/>
              </a:ext>
            </a:extLst>
          </p:cNvPr>
          <p:cNvCxnSpPr>
            <a:cxnSpLocks/>
          </p:cNvCxnSpPr>
          <p:nvPr userDrawn="1"/>
        </p:nvCxnSpPr>
        <p:spPr>
          <a:xfrm>
            <a:off x="9640085" y="559432"/>
            <a:ext cx="0" cy="625672"/>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79" name="组合 78">
            <a:extLst>
              <a:ext uri="{FF2B5EF4-FFF2-40B4-BE49-F238E27FC236}">
                <a16:creationId xmlns:a16="http://schemas.microsoft.com/office/drawing/2014/main" id="{6623D12F-6F66-4800-AEB4-15FFA2088008}"/>
              </a:ext>
            </a:extLst>
          </p:cNvPr>
          <p:cNvGrpSpPr/>
          <p:nvPr userDrawn="1"/>
        </p:nvGrpSpPr>
        <p:grpSpPr>
          <a:xfrm>
            <a:off x="715452" y="634525"/>
            <a:ext cx="403039" cy="321898"/>
            <a:chOff x="1368170" y="664579"/>
            <a:chExt cx="550582" cy="439737"/>
          </a:xfrm>
          <a:solidFill>
            <a:schemeClr val="bg1"/>
          </a:solidFill>
        </p:grpSpPr>
        <p:sp>
          <p:nvSpPr>
            <p:cNvPr id="80" name="Freeform 1">
              <a:extLst>
                <a:ext uri="{FF2B5EF4-FFF2-40B4-BE49-F238E27FC236}">
                  <a16:creationId xmlns:a16="http://schemas.microsoft.com/office/drawing/2014/main" id="{A4EA86F4-1616-404A-B3A8-40F621B116F5}"/>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81" name="Freeform 2">
              <a:extLst>
                <a:ext uri="{FF2B5EF4-FFF2-40B4-BE49-F238E27FC236}">
                  <a16:creationId xmlns:a16="http://schemas.microsoft.com/office/drawing/2014/main" id="{B94EAAE0-8448-4BED-934F-86E4D9BE6BF7}"/>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82" name="Freeform 3">
              <a:extLst>
                <a:ext uri="{FF2B5EF4-FFF2-40B4-BE49-F238E27FC236}">
                  <a16:creationId xmlns:a16="http://schemas.microsoft.com/office/drawing/2014/main" id="{FE1A878D-B42E-44AD-A507-E8131D58305D}"/>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83" name="Freeform 4">
              <a:extLst>
                <a:ext uri="{FF2B5EF4-FFF2-40B4-BE49-F238E27FC236}">
                  <a16:creationId xmlns:a16="http://schemas.microsoft.com/office/drawing/2014/main" id="{2917B038-BE65-4EDE-BCE6-28D8A33628C0}"/>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84" name="Freeform 5">
              <a:extLst>
                <a:ext uri="{FF2B5EF4-FFF2-40B4-BE49-F238E27FC236}">
                  <a16:creationId xmlns:a16="http://schemas.microsoft.com/office/drawing/2014/main" id="{BFF95844-69C4-4D91-BB8A-43361DB33C00}"/>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85" name="Freeform 6">
              <a:extLst>
                <a:ext uri="{FF2B5EF4-FFF2-40B4-BE49-F238E27FC236}">
                  <a16:creationId xmlns:a16="http://schemas.microsoft.com/office/drawing/2014/main" id="{0EC6F8B2-3F7B-481D-A5C3-593859BA3904}"/>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86" name="Freeform 7">
              <a:extLst>
                <a:ext uri="{FF2B5EF4-FFF2-40B4-BE49-F238E27FC236}">
                  <a16:creationId xmlns:a16="http://schemas.microsoft.com/office/drawing/2014/main" id="{F0C61DE2-78C6-42E1-92E7-9A31F8C42BBD}"/>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87" name="Freeform 8">
              <a:extLst>
                <a:ext uri="{FF2B5EF4-FFF2-40B4-BE49-F238E27FC236}">
                  <a16:creationId xmlns:a16="http://schemas.microsoft.com/office/drawing/2014/main" id="{E1826B12-A3BC-432A-816C-7F734429A6C0}"/>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88" name="Freeform 9">
              <a:extLst>
                <a:ext uri="{FF2B5EF4-FFF2-40B4-BE49-F238E27FC236}">
                  <a16:creationId xmlns:a16="http://schemas.microsoft.com/office/drawing/2014/main" id="{CFE3DB99-4C71-42E1-96A1-E7B9C2A8459C}"/>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89" name="Freeform 10">
              <a:extLst>
                <a:ext uri="{FF2B5EF4-FFF2-40B4-BE49-F238E27FC236}">
                  <a16:creationId xmlns:a16="http://schemas.microsoft.com/office/drawing/2014/main" id="{A81B2E72-88A6-4C42-87A8-837C6A495D61}"/>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90" name="Freeform 11">
              <a:extLst>
                <a:ext uri="{FF2B5EF4-FFF2-40B4-BE49-F238E27FC236}">
                  <a16:creationId xmlns:a16="http://schemas.microsoft.com/office/drawing/2014/main" id="{03C011E7-BE7F-4EED-B847-D887A0A3FA70}"/>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grpSp>
      <p:pic>
        <p:nvPicPr>
          <p:cNvPr id="91" name="图片 90">
            <a:extLst>
              <a:ext uri="{FF2B5EF4-FFF2-40B4-BE49-F238E27FC236}">
                <a16:creationId xmlns:a16="http://schemas.microsoft.com/office/drawing/2014/main" id="{30D59E9D-4209-40C8-AC29-40B9F932767F}"/>
              </a:ext>
            </a:extLst>
          </p:cNvPr>
          <p:cNvPicPr>
            <a:picLocks noChangeAspect="1"/>
          </p:cNvPicPr>
          <p:nvPr userDrawn="1"/>
        </p:nvPicPr>
        <p:blipFill>
          <a:blip r:embed="rId2"/>
          <a:stretch>
            <a:fillRect/>
          </a:stretch>
        </p:blipFill>
        <p:spPr>
          <a:xfrm>
            <a:off x="9745897" y="497386"/>
            <a:ext cx="2172649" cy="665946"/>
          </a:xfrm>
          <a:prstGeom prst="rect">
            <a:avLst/>
          </a:prstGeom>
        </p:spPr>
      </p:pic>
      <p:pic>
        <p:nvPicPr>
          <p:cNvPr id="24" name="图片 23">
            <a:extLst>
              <a:ext uri="{FF2B5EF4-FFF2-40B4-BE49-F238E27FC236}">
                <a16:creationId xmlns:a16="http://schemas.microsoft.com/office/drawing/2014/main" id="{1881D5AC-060E-4D65-817F-635BAE83660F}"/>
              </a:ext>
            </a:extLst>
          </p:cNvPr>
          <p:cNvPicPr>
            <a:picLocks noChangeAspect="1"/>
          </p:cNvPicPr>
          <p:nvPr userDrawn="1"/>
        </p:nvPicPr>
        <p:blipFill rotWithShape="1">
          <a:blip r:embed="rId3"/>
          <a:srcRect l="14829" r="13965"/>
          <a:stretch/>
        </p:blipFill>
        <p:spPr>
          <a:xfrm>
            <a:off x="369018" y="485954"/>
            <a:ext cx="803904" cy="677378"/>
          </a:xfrm>
          <a:prstGeom prst="rect">
            <a:avLst/>
          </a:prstGeom>
        </p:spPr>
      </p:pic>
    </p:spTree>
    <p:extLst>
      <p:ext uri="{BB962C8B-B14F-4D97-AF65-F5344CB8AC3E}">
        <p14:creationId xmlns:p14="http://schemas.microsoft.com/office/powerpoint/2010/main" val="11262884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stStyle>
          <a:p>
            <a:r>
              <a:rPr lang="zh-CN" altLang="en-US"/>
              <a:t>单击此处编辑母版标题样式</a:t>
            </a:r>
          </a:p>
        </p:txBody>
      </p:sp>
      <p:sp>
        <p:nvSpPr>
          <p:cNvPr id="3" name="Rectangle 6">
            <a:extLst>
              <a:ext uri="{FF2B5EF4-FFF2-40B4-BE49-F238E27FC236}">
                <a16:creationId xmlns:a16="http://schemas.microsoft.com/office/drawing/2014/main" id="{0909CBCB-4772-C140-A4B1-31188B93BC68}"/>
              </a:ext>
            </a:extLst>
          </p:cNvPr>
          <p:cNvSpPr>
            <a:spLocks noGrp="1" noChangeArrowheads="1"/>
          </p:cNvSpPr>
          <p:nvPr>
            <p:ph type="dt" sz="half" idx="10"/>
          </p:nvPr>
        </p:nvSpPr>
        <p:spPr>
          <a:ln/>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stStyle>
          <a:p>
            <a:pPr>
              <a:defRPr/>
            </a:pPr>
            <a:fld id="{45C7992C-DF72-7644-B12E-329898B62496}" type="datetime1">
              <a:rPr lang="zh-CN" altLang="en-US" smtClean="0"/>
              <a:pPr>
                <a:defRPr/>
              </a:pPr>
              <a:t>2022/10/18</a:t>
            </a:fld>
            <a:endParaRPr lang="en-US" altLang="zh-CN"/>
          </a:p>
        </p:txBody>
      </p:sp>
      <p:sp>
        <p:nvSpPr>
          <p:cNvPr id="4" name="Rectangle 7">
            <a:extLst>
              <a:ext uri="{FF2B5EF4-FFF2-40B4-BE49-F238E27FC236}">
                <a16:creationId xmlns:a16="http://schemas.microsoft.com/office/drawing/2014/main" id="{ED82BB1B-5A33-BF46-ADBA-8265C3C1C522}"/>
              </a:ext>
            </a:extLst>
          </p:cNvPr>
          <p:cNvSpPr>
            <a:spLocks noGrp="1" noChangeArrowheads="1"/>
          </p:cNvSpPr>
          <p:nvPr>
            <p:ph type="ftr" sz="quarter" idx="11"/>
          </p:nvPr>
        </p:nvSpPr>
        <p:spPr>
          <a:ln/>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stStyle>
          <a:p>
            <a:pPr>
              <a:defRPr/>
            </a:pPr>
            <a:endParaRPr lang="en-US" altLang="zh-CN"/>
          </a:p>
        </p:txBody>
      </p:sp>
      <p:sp>
        <p:nvSpPr>
          <p:cNvPr id="5" name="Rectangle 8">
            <a:extLst>
              <a:ext uri="{FF2B5EF4-FFF2-40B4-BE49-F238E27FC236}">
                <a16:creationId xmlns:a16="http://schemas.microsoft.com/office/drawing/2014/main" id="{EB931506-C8E0-1649-BE54-52B88034B126}"/>
              </a:ext>
            </a:extLst>
          </p:cNvPr>
          <p:cNvSpPr>
            <a:spLocks noGrp="1" noChangeArrowheads="1"/>
          </p:cNvSpPr>
          <p:nvPr>
            <p:ph type="sldNum" sz="quarter" idx="12"/>
          </p:nvPr>
        </p:nvSpPr>
        <p:spPr>
          <a:ln/>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stStyle>
          <a:p>
            <a:fld id="{07279A2F-85B5-794E-ADF1-0805CD3C44B7}" type="slidenum">
              <a:rPr lang="en-US" altLang="zh-CN" smtClean="0"/>
              <a:pPr/>
              <a:t>‹#›</a:t>
            </a:fld>
            <a:endParaRPr lang="en-US" altLang="zh-CN"/>
          </a:p>
        </p:txBody>
      </p:sp>
    </p:spTree>
    <p:extLst>
      <p:ext uri="{BB962C8B-B14F-4D97-AF65-F5344CB8AC3E}">
        <p14:creationId xmlns:p14="http://schemas.microsoft.com/office/powerpoint/2010/main" val="346082946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AAAA80D-F069-DE49-8F34-B637A12CB530}"/>
              </a:ext>
            </a:extLst>
          </p:cNvPr>
          <p:cNvSpPr>
            <a:spLocks noGrp="1"/>
          </p:cNvSpPr>
          <p:nvPr>
            <p:ph type="title"/>
          </p:nvPr>
        </p:nvSpPr>
        <p:spPr>
          <a:xfrm>
            <a:off x="1307508" y="365126"/>
            <a:ext cx="8220812" cy="879086"/>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a:extLst>
              <a:ext uri="{FF2B5EF4-FFF2-40B4-BE49-F238E27FC236}">
                <a16:creationId xmlns:a16="http://schemas.microsoft.com/office/drawing/2014/main" id="{A2AAAE3F-F071-E445-8B18-8EAF3979328E}"/>
              </a:ext>
            </a:extLst>
          </p:cNvPr>
          <p:cNvSpPr>
            <a:spLocks noGrp="1"/>
          </p:cNvSpPr>
          <p:nvPr>
            <p:ph type="body" idx="1"/>
          </p:nvPr>
        </p:nvSpPr>
        <p:spPr>
          <a:xfrm>
            <a:off x="838200" y="1590270"/>
            <a:ext cx="10515600" cy="4586694"/>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91E21652-6A28-F54F-98C2-D24C55AD3E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ea typeface="宋体" panose="02010600030101010101" pitchFamily="2" charset="-122"/>
                <a:cs typeface="Times New Roman" panose="02020603050405020304" pitchFamily="18" charset="0"/>
              </a:defRPr>
            </a:lvl1pPr>
          </a:lstStyle>
          <a:p>
            <a:fld id="{6B5948C6-0782-6042-A859-FD82FD45C478}" type="datetime1">
              <a:rPr kumimoji="1" lang="zh-CN" altLang="en-US" smtClean="0"/>
              <a:pPr/>
              <a:t>2022/10/18</a:t>
            </a:fld>
            <a:endParaRPr kumimoji="1" lang="zh-CN" altLang="en-US"/>
          </a:p>
        </p:txBody>
      </p:sp>
      <p:sp>
        <p:nvSpPr>
          <p:cNvPr id="5" name="页脚占位符 4">
            <a:extLst>
              <a:ext uri="{FF2B5EF4-FFF2-40B4-BE49-F238E27FC236}">
                <a16:creationId xmlns:a16="http://schemas.microsoft.com/office/drawing/2014/main" id="{DCB9D617-AB6E-774C-A385-AAFEFB9272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ea typeface="宋体" panose="02010600030101010101" pitchFamily="2" charset="-122"/>
                <a:cs typeface="Times New Roman" panose="02020603050405020304" pitchFamily="18" charset="0"/>
              </a:defRPr>
            </a:lvl1pPr>
          </a:lstStyle>
          <a:p>
            <a:endParaRPr kumimoji="1" lang="zh-CN" altLang="en-US"/>
          </a:p>
        </p:txBody>
      </p:sp>
      <p:sp>
        <p:nvSpPr>
          <p:cNvPr id="6" name="灯片编号占位符 5">
            <a:extLst>
              <a:ext uri="{FF2B5EF4-FFF2-40B4-BE49-F238E27FC236}">
                <a16:creationId xmlns:a16="http://schemas.microsoft.com/office/drawing/2014/main" id="{7F17F525-3365-224F-AAA7-E3B9B30119F2}"/>
              </a:ext>
            </a:extLst>
          </p:cNvPr>
          <p:cNvSpPr>
            <a:spLocks noGrp="1"/>
          </p:cNvSpPr>
          <p:nvPr>
            <p:ph type="sldNum" sz="quarter" idx="4"/>
          </p:nvPr>
        </p:nvSpPr>
        <p:spPr>
          <a:xfrm>
            <a:off x="9053945"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ea typeface="宋体" panose="02010600030101010101" pitchFamily="2" charset="-122"/>
                <a:cs typeface="Times New Roman" panose="02020603050405020304" pitchFamily="18" charset="0"/>
              </a:defRPr>
            </a:lvl1pPr>
          </a:lstStyle>
          <a:p>
            <a:fld id="{8D4D1E41-7A09-AB4A-A4E1-09765ADA2698}" type="slidenum">
              <a:rPr kumimoji="1" lang="zh-CN" altLang="en-US" smtClean="0"/>
              <a:pPr/>
              <a:t>‹#›</a:t>
            </a:fld>
            <a:endParaRPr kumimoji="1" lang="zh-CN" altLang="en-US"/>
          </a:p>
        </p:txBody>
      </p:sp>
    </p:spTree>
    <p:extLst>
      <p:ext uri="{BB962C8B-B14F-4D97-AF65-F5344CB8AC3E}">
        <p14:creationId xmlns:p14="http://schemas.microsoft.com/office/powerpoint/2010/main" val="1190096747"/>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p:titleStyle>
    <p:bodyStyle>
      <a:lvl1pPr marL="228600" indent="-228600" algn="l" defTabSz="914400" rtl="0" eaLnBrk="1" latinLnBrk="0" hangingPunct="1">
        <a:lnSpc>
          <a:spcPct val="100000"/>
        </a:lnSpc>
        <a:spcBef>
          <a:spcPts val="600"/>
        </a:spcBef>
        <a:buFont typeface="Arial" panose="020B0604020202020204" pitchFamily="34" charset="0"/>
        <a:buChar char="•"/>
        <a:defRPr sz="28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7.wmf"/><Relationship Id="rId4" Type="http://schemas.openxmlformats.org/officeDocument/2006/relationships/oleObject" Target="../embeddings/oleObject2.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9BB2C5-4861-41DD-A3F1-A1BD7B75C075}"/>
              </a:ext>
            </a:extLst>
          </p:cNvPr>
          <p:cNvSpPr>
            <a:spLocks noGrp="1"/>
          </p:cNvSpPr>
          <p:nvPr>
            <p:ph type="ctrTitle"/>
          </p:nvPr>
        </p:nvSpPr>
        <p:spPr/>
        <p:txBody>
          <a:bodyPr anchor="ctr" anchorCtr="0"/>
          <a:lstStyle/>
          <a:p>
            <a:pPr eaLnBrk="1" hangingPunct="1">
              <a:spcBef>
                <a:spcPct val="50000"/>
              </a:spcBef>
            </a:pPr>
            <a:r>
              <a:rPr lang="zh-CN" altLang="en-US" sz="5400" b="1" dirty="0">
                <a:solidFill>
                  <a:srgbClr val="CC0099"/>
                </a:solidFill>
                <a:latin typeface="方正琥珀简体" pitchFamily="65" charset="-122"/>
                <a:ea typeface="方正琥珀简体" pitchFamily="65" charset="-122"/>
              </a:rPr>
              <a:t>第</a:t>
            </a:r>
            <a:r>
              <a:rPr lang="en-US" altLang="zh-CN" sz="5400" b="1" dirty="0">
                <a:solidFill>
                  <a:srgbClr val="CC0099"/>
                </a:solidFill>
                <a:latin typeface="方正琥珀简体" pitchFamily="65" charset="-122"/>
                <a:ea typeface="方正琥珀简体" pitchFamily="65" charset="-122"/>
              </a:rPr>
              <a:t>5</a:t>
            </a:r>
            <a:r>
              <a:rPr lang="zh-CN" altLang="en-US" sz="5400" b="1" dirty="0">
                <a:solidFill>
                  <a:srgbClr val="CC0099"/>
                </a:solidFill>
                <a:latin typeface="方正琥珀简体" pitchFamily="65" charset="-122"/>
                <a:ea typeface="方正琥珀简体" pitchFamily="65" charset="-122"/>
              </a:rPr>
              <a:t>章  </a:t>
            </a:r>
            <a:r>
              <a:rPr lang="zh-CN" altLang="en-US" sz="5400" b="1" dirty="0">
                <a:solidFill>
                  <a:schemeClr val="hlink"/>
                </a:solidFill>
                <a:ea typeface="方正琥珀简体" pitchFamily="65" charset="-122"/>
              </a:rPr>
              <a:t>虚拟存储器</a:t>
            </a:r>
            <a:r>
              <a:rPr lang="zh-CN" altLang="en-US" sz="5400" dirty="0">
                <a:solidFill>
                  <a:schemeClr val="tx2"/>
                </a:solidFill>
              </a:rPr>
              <a:t> </a:t>
            </a:r>
          </a:p>
        </p:txBody>
      </p:sp>
      <p:sp>
        <p:nvSpPr>
          <p:cNvPr id="3" name="副标题 2">
            <a:extLst>
              <a:ext uri="{FF2B5EF4-FFF2-40B4-BE49-F238E27FC236}">
                <a16:creationId xmlns:a16="http://schemas.microsoft.com/office/drawing/2014/main" id="{79A89368-ACE2-41B7-9F68-350DB9A638D0}"/>
              </a:ext>
            </a:extLst>
          </p:cNvPr>
          <p:cNvSpPr>
            <a:spLocks noGrp="1"/>
          </p:cNvSpPr>
          <p:nvPr>
            <p:ph type="subTitle" idx="1"/>
          </p:nvPr>
        </p:nvSpPr>
        <p:spPr>
          <a:xfrm>
            <a:off x="1524000" y="3693376"/>
            <a:ext cx="9144000" cy="1655762"/>
          </a:xfrm>
        </p:spPr>
        <p:txBody>
          <a:bodyPr/>
          <a:lstStyle/>
          <a:p>
            <a:endParaRPr lang="en-US" altLang="zh-CN" dirty="0"/>
          </a:p>
          <a:p>
            <a:r>
              <a:rPr lang="zh-CN" altLang="en-US" sz="2800" b="1" dirty="0">
                <a:solidFill>
                  <a:srgbClr val="002060"/>
                </a:solidFill>
                <a:ea typeface="方正琥珀简体"/>
              </a:rPr>
              <a:t>教师：江</a:t>
            </a:r>
            <a:r>
              <a:rPr lang="zh-CN" altLang="en-US" sz="2800" b="1">
                <a:solidFill>
                  <a:srgbClr val="002060"/>
                </a:solidFill>
                <a:ea typeface="方正琥珀简体"/>
              </a:rPr>
              <a:t>先亮</a:t>
            </a:r>
            <a:endParaRPr lang="zh-CN" altLang="en-US" sz="2800" b="1" dirty="0">
              <a:solidFill>
                <a:srgbClr val="002060"/>
              </a:solidFill>
              <a:ea typeface="方正琥珀简体"/>
            </a:endParaRPr>
          </a:p>
        </p:txBody>
      </p:sp>
    </p:spTree>
    <p:extLst>
      <p:ext uri="{BB962C8B-B14F-4D97-AF65-F5344CB8AC3E}">
        <p14:creationId xmlns:p14="http://schemas.microsoft.com/office/powerpoint/2010/main" val="37067759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lstStyle/>
          <a:p>
            <a:r>
              <a:rPr kumimoji="1" lang="zh-CN" altLang="en-US" dirty="0"/>
              <a:t>虚拟存储器概述</a:t>
            </a:r>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8" name="文本框 7">
            <a:extLst>
              <a:ext uri="{FF2B5EF4-FFF2-40B4-BE49-F238E27FC236}">
                <a16:creationId xmlns:a16="http://schemas.microsoft.com/office/drawing/2014/main" id="{1600E437-418D-4B76-872C-0787888DD618}"/>
              </a:ext>
            </a:extLst>
          </p:cNvPr>
          <p:cNvSpPr txBox="1"/>
          <p:nvPr/>
        </p:nvSpPr>
        <p:spPr>
          <a:xfrm>
            <a:off x="557645" y="1661775"/>
            <a:ext cx="11076709" cy="2308324"/>
          </a:xfrm>
          <a:prstGeom prst="rect">
            <a:avLst/>
          </a:prstGeom>
          <a:noFill/>
        </p:spPr>
        <p:txBody>
          <a:bodyPr wrap="square">
            <a:spAutoFit/>
          </a:bodyPr>
          <a:lstStyle/>
          <a:p>
            <a:pPr algn="just"/>
            <a:r>
              <a:rPr lang="zh-CN" altLang="en-US" sz="2400" dirty="0">
                <a:solidFill>
                  <a:schemeClr val="accent4">
                    <a:lumMod val="75000"/>
                  </a:schemeClr>
                </a:solidFill>
                <a:latin typeface="Times New Roman" panose="02020603050405020304" pitchFamily="18" charset="0"/>
                <a:cs typeface="Times New Roman" panose="02020603050405020304" pitchFamily="18" charset="0"/>
              </a:rPr>
              <a:t>        前述存储器管理方式有一个共同的特点，即它们都要求将一个作业全部装入内存后方能运行。于是，出现了下面这样两种情况：</a:t>
            </a:r>
            <a:endParaRPr lang="en-US" altLang="zh-CN" sz="2400" dirty="0">
              <a:solidFill>
                <a:schemeClr val="accent4">
                  <a:lumMod val="75000"/>
                </a:schemeClr>
              </a:solidFill>
              <a:latin typeface="Times New Roman" panose="02020603050405020304" pitchFamily="18" charset="0"/>
              <a:cs typeface="Times New Roman" panose="02020603050405020304" pitchFamily="18" charset="0"/>
            </a:endParaRPr>
          </a:p>
          <a:p>
            <a:pPr indent="720000" algn="just"/>
            <a:r>
              <a:rPr lang="en-US" altLang="zh-CN" sz="2400" dirty="0">
                <a:solidFill>
                  <a:schemeClr val="accent4">
                    <a:lumMod val="75000"/>
                  </a:schemeClr>
                </a:solidFill>
                <a:latin typeface="Times New Roman" panose="02020603050405020304" pitchFamily="18" charset="0"/>
                <a:cs typeface="Times New Roman" panose="02020603050405020304" pitchFamily="18" charset="0"/>
              </a:rPr>
              <a:t>(1)</a:t>
            </a:r>
            <a:r>
              <a:rPr lang="zh-CN" altLang="en-US" sz="2400" dirty="0">
                <a:solidFill>
                  <a:schemeClr val="accent4">
                    <a:lumMod val="75000"/>
                  </a:schemeClr>
                </a:solidFill>
                <a:latin typeface="Times New Roman" panose="02020603050405020304" pitchFamily="18" charset="0"/>
                <a:cs typeface="Times New Roman" panose="02020603050405020304" pitchFamily="18" charset="0"/>
              </a:rPr>
              <a:t>有的作业很大，其所要求的内存空间超过了内存总容量，作业不能全部被装入内存，致使该作业无法运行；</a:t>
            </a:r>
            <a:endParaRPr lang="en-US" altLang="zh-CN" sz="2400" dirty="0">
              <a:solidFill>
                <a:schemeClr val="accent4">
                  <a:lumMod val="75000"/>
                </a:schemeClr>
              </a:solidFill>
              <a:latin typeface="Times New Roman" panose="02020603050405020304" pitchFamily="18" charset="0"/>
              <a:cs typeface="Times New Roman" panose="02020603050405020304" pitchFamily="18" charset="0"/>
            </a:endParaRPr>
          </a:p>
          <a:p>
            <a:pPr indent="720000" algn="just"/>
            <a:r>
              <a:rPr lang="en-US" altLang="zh-CN" sz="2400" dirty="0">
                <a:solidFill>
                  <a:schemeClr val="accent4">
                    <a:lumMod val="75000"/>
                  </a:schemeClr>
                </a:solidFill>
                <a:latin typeface="Times New Roman" panose="02020603050405020304" pitchFamily="18" charset="0"/>
                <a:cs typeface="Times New Roman" panose="02020603050405020304" pitchFamily="18" charset="0"/>
              </a:rPr>
              <a:t>(2)</a:t>
            </a:r>
            <a:r>
              <a:rPr lang="zh-CN" altLang="en-US" sz="2400" dirty="0">
                <a:solidFill>
                  <a:schemeClr val="accent4">
                    <a:lumMod val="75000"/>
                  </a:schemeClr>
                </a:solidFill>
                <a:latin typeface="Times New Roman" panose="02020603050405020304" pitchFamily="18" charset="0"/>
                <a:cs typeface="Times New Roman" panose="02020603050405020304" pitchFamily="18" charset="0"/>
              </a:rPr>
              <a:t>有大量作业要求运行，但由于内存容量不足以容纳所有这些作业，只能将少数作业装入内存让它们先运行，而将其它大量的作业留在外存上等待。</a:t>
            </a:r>
          </a:p>
        </p:txBody>
      </p:sp>
    </p:spTree>
    <p:extLst>
      <p:ext uri="{BB962C8B-B14F-4D97-AF65-F5344CB8AC3E}">
        <p14:creationId xmlns:p14="http://schemas.microsoft.com/office/powerpoint/2010/main" val="37122347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lstStyle/>
          <a:p>
            <a:r>
              <a:rPr kumimoji="1" lang="zh-CN" altLang="en-US" dirty="0"/>
              <a:t>虚拟存储器概述</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8"/>
            <a:ext cx="10515600" cy="5347242"/>
          </a:xfrm>
        </p:spPr>
        <p:txBody>
          <a:bodyPr>
            <a:normAutofit/>
          </a:bodyPr>
          <a:lstStyle/>
          <a:p>
            <a:pPr>
              <a:lnSpc>
                <a:spcPct val="120000"/>
              </a:lnSpc>
            </a:pPr>
            <a:r>
              <a:rPr kumimoji="1" lang="zh-CN" altLang="en-US" dirty="0"/>
              <a:t>常规存储管理方式的特征和局部性原理</a:t>
            </a:r>
            <a:endParaRPr kumimoji="1" lang="en-US" altLang="zh-CN" dirty="0"/>
          </a:p>
          <a:p>
            <a:pPr lvl="1">
              <a:buFont typeface="Wingdings" panose="05000000000000000000" pitchFamily="2" charset="2"/>
              <a:buChar char="ü"/>
            </a:pPr>
            <a:r>
              <a:rPr kumimoji="1" lang="zh-CN" altLang="en-US" dirty="0"/>
              <a:t>常规存储器管理方式的特征</a:t>
            </a:r>
            <a:endParaRPr kumimoji="1" lang="en-US" altLang="zh-CN" dirty="0"/>
          </a:p>
          <a:p>
            <a:pPr marL="914400" lvl="2" indent="0" algn="just">
              <a:buNone/>
            </a:pPr>
            <a:r>
              <a:rPr kumimoji="1" lang="zh-CN" altLang="en-US" dirty="0"/>
              <a:t>前一章各种存储器管理方式统称为传统存储器管理方式，它们全都具有两个共同的特征：</a:t>
            </a:r>
            <a:r>
              <a:rPr kumimoji="1" lang="en-US" altLang="zh-CN" dirty="0"/>
              <a:t>(1)</a:t>
            </a:r>
            <a:r>
              <a:rPr kumimoji="1" lang="zh-CN" altLang="en-US" dirty="0"/>
              <a:t>一次性；</a:t>
            </a:r>
            <a:r>
              <a:rPr lang="en-US" altLang="zh-CN" dirty="0"/>
              <a:t>(2)</a:t>
            </a:r>
            <a:r>
              <a:rPr lang="zh-CN" altLang="en-US" dirty="0"/>
              <a:t>驻留性。</a:t>
            </a:r>
          </a:p>
          <a:p>
            <a:pPr lvl="1">
              <a:buFont typeface="Wingdings" panose="05000000000000000000" pitchFamily="2" charset="2"/>
              <a:buChar char="ü"/>
            </a:pPr>
            <a:r>
              <a:rPr kumimoji="1" lang="zh-CN" altLang="en-US" dirty="0"/>
              <a:t>局部性原理</a:t>
            </a:r>
            <a:endParaRPr kumimoji="1" lang="en-US" altLang="zh-CN" dirty="0"/>
          </a:p>
          <a:p>
            <a:pPr marL="914400" lvl="2" indent="0" algn="just">
              <a:buNone/>
            </a:pPr>
            <a:r>
              <a:rPr kumimoji="1" lang="zh-CN" altLang="en-US" dirty="0"/>
              <a:t>程序运行时存在的局部性现象，很早就已被人发现，但直到</a:t>
            </a:r>
            <a:r>
              <a:rPr kumimoji="1" lang="en-US" altLang="zh-CN" dirty="0"/>
              <a:t>1968</a:t>
            </a:r>
            <a:r>
              <a:rPr kumimoji="1" lang="zh-CN" altLang="en-US" dirty="0"/>
              <a:t>年，</a:t>
            </a:r>
            <a:r>
              <a:rPr kumimoji="1" lang="en-US" altLang="zh-CN" dirty="0"/>
              <a:t>P.Denning</a:t>
            </a:r>
            <a:r>
              <a:rPr kumimoji="1" lang="zh-CN" altLang="en-US" dirty="0"/>
              <a:t>才真正指出：程序在执行时将呈现出局部性规律，即在一较短的时间内，程序的执行仅局限于某个部分，相应地，它所访问的存储空间也局限于某个区域。具体表现在两个方面：</a:t>
            </a:r>
            <a:r>
              <a:rPr lang="en-US" altLang="zh-CN" dirty="0"/>
              <a:t> (1)</a:t>
            </a:r>
            <a:r>
              <a:rPr lang="zh-CN" altLang="en-US" dirty="0"/>
              <a:t>时间局限性；</a:t>
            </a:r>
            <a:r>
              <a:rPr lang="en-US" altLang="zh-CN" dirty="0"/>
              <a:t> (2)</a:t>
            </a:r>
            <a:r>
              <a:rPr lang="zh-CN" altLang="en-US" dirty="0"/>
              <a:t>空间局限性。</a:t>
            </a:r>
            <a:endParaRPr kumimoji="1" lang="en-US" altLang="zh-CN" dirty="0"/>
          </a:p>
          <a:p>
            <a:pPr lvl="1">
              <a:buFont typeface="Wingdings" panose="05000000000000000000" pitchFamily="2" charset="2"/>
              <a:buChar char="ü"/>
            </a:pPr>
            <a:r>
              <a:rPr kumimoji="1" lang="zh-CN" altLang="en-US" dirty="0"/>
              <a:t>虚拟存储器的基本工作情况</a:t>
            </a:r>
            <a:endParaRPr kumimoji="1" lang="en-US" altLang="zh-CN" dirty="0"/>
          </a:p>
          <a:p>
            <a:pPr marL="914400" lvl="2" indent="0">
              <a:buNone/>
            </a:pPr>
            <a:r>
              <a:rPr kumimoji="1" lang="zh-CN" altLang="en-US" dirty="0"/>
              <a:t>基于局部性原理可知，应用程序在运行之前没有必要将之全部装入内存，而仅须将那些当前要运行的少数页面或段先装入内存便可运行，其余部分暂留在盘上。</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11068154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lstStyle/>
          <a:p>
            <a:r>
              <a:rPr kumimoji="1" lang="zh-CN" altLang="en-US" dirty="0"/>
              <a:t>虚拟存储器概述</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8"/>
            <a:ext cx="10515600" cy="5347242"/>
          </a:xfrm>
        </p:spPr>
        <p:txBody>
          <a:bodyPr>
            <a:normAutofit/>
          </a:bodyPr>
          <a:lstStyle/>
          <a:p>
            <a:pPr>
              <a:lnSpc>
                <a:spcPct val="120000"/>
              </a:lnSpc>
            </a:pPr>
            <a:r>
              <a:rPr kumimoji="1" lang="zh-CN" altLang="en-US" dirty="0"/>
              <a:t>虚拟存储器的定义和特征</a:t>
            </a:r>
            <a:endParaRPr kumimoji="1" lang="en-US" altLang="zh-CN" dirty="0"/>
          </a:p>
          <a:p>
            <a:pPr lvl="1">
              <a:buFont typeface="Wingdings" panose="05000000000000000000" pitchFamily="2" charset="2"/>
              <a:buChar char="ü"/>
            </a:pPr>
            <a:r>
              <a:rPr kumimoji="1" lang="zh-CN" altLang="en-US" dirty="0"/>
              <a:t>虚拟存储器的定义</a:t>
            </a:r>
            <a:endParaRPr kumimoji="1" lang="en-US" altLang="zh-CN" dirty="0"/>
          </a:p>
          <a:p>
            <a:pPr marL="914400" lvl="2" indent="0" algn="just">
              <a:buNone/>
            </a:pPr>
            <a:r>
              <a:rPr kumimoji="1" lang="zh-CN" altLang="en-US" dirty="0"/>
              <a:t>当用户看到自己的程序能在系统中正常运行时，他会认为该系统所具有的内存容量一定比自己的程序大，或者说，用户所感觉到的内存容量会比实际内存容量大得多。但用户所看到的大容量只是一种错觉，是虚的，故人们把这样的存储器称为虚拟存储器</a:t>
            </a:r>
            <a:r>
              <a:rPr lang="zh-CN" altLang="en-US" dirty="0"/>
              <a:t>。</a:t>
            </a:r>
          </a:p>
          <a:p>
            <a:pPr lvl="1">
              <a:buFont typeface="Wingdings" panose="05000000000000000000" pitchFamily="2" charset="2"/>
              <a:buChar char="ü"/>
            </a:pPr>
            <a:r>
              <a:rPr kumimoji="1" lang="zh-CN" altLang="en-US" dirty="0"/>
              <a:t>虚拟存储器的特征</a:t>
            </a:r>
            <a:endParaRPr kumimoji="1" lang="en-US" altLang="zh-CN" dirty="0"/>
          </a:p>
          <a:p>
            <a:pPr marL="914400" lvl="2" indent="0" algn="just">
              <a:buNone/>
            </a:pPr>
            <a:r>
              <a:rPr kumimoji="1" lang="zh-CN" altLang="en-US" dirty="0"/>
              <a:t>与传统的存储器管理方式比较，虚拟存储器具有三个重要特征：</a:t>
            </a:r>
            <a:r>
              <a:rPr kumimoji="1" lang="en-US" altLang="zh-CN" dirty="0"/>
              <a:t>(1)</a:t>
            </a:r>
            <a:r>
              <a:rPr kumimoji="1" lang="zh-CN" altLang="en-US" dirty="0"/>
              <a:t>多次性；</a:t>
            </a:r>
            <a:r>
              <a:rPr kumimoji="1" lang="en-US" altLang="zh-CN" dirty="0"/>
              <a:t>(2)</a:t>
            </a:r>
            <a:r>
              <a:rPr kumimoji="1" lang="zh-CN" altLang="en-US" dirty="0"/>
              <a:t>对换性；</a:t>
            </a:r>
            <a:r>
              <a:rPr kumimoji="1" lang="en-US" altLang="zh-CN" dirty="0"/>
              <a:t>(3)</a:t>
            </a:r>
            <a:r>
              <a:rPr kumimoji="1" lang="zh-CN" altLang="en-US" dirty="0"/>
              <a:t>虚拟性</a:t>
            </a:r>
            <a:r>
              <a:rPr lang="zh-CN" altLang="en-US" dirty="0"/>
              <a:t>。</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31235592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lstStyle/>
          <a:p>
            <a:r>
              <a:rPr kumimoji="1" lang="zh-CN" altLang="en-US" dirty="0"/>
              <a:t>虚拟存储器概述</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8"/>
            <a:ext cx="10515600" cy="5347242"/>
          </a:xfrm>
        </p:spPr>
        <p:txBody>
          <a:bodyPr>
            <a:normAutofit/>
          </a:bodyPr>
          <a:lstStyle/>
          <a:p>
            <a:pPr>
              <a:lnSpc>
                <a:spcPct val="120000"/>
              </a:lnSpc>
            </a:pPr>
            <a:r>
              <a:rPr kumimoji="1" lang="zh-CN" altLang="en-US" dirty="0"/>
              <a:t>虚拟存储器的实现方法</a:t>
            </a:r>
            <a:endParaRPr kumimoji="1" lang="en-US" altLang="zh-CN" dirty="0"/>
          </a:p>
          <a:p>
            <a:pPr lvl="1">
              <a:buFont typeface="Wingdings" panose="05000000000000000000" pitchFamily="2" charset="2"/>
              <a:buChar char="ü"/>
            </a:pPr>
            <a:r>
              <a:rPr kumimoji="1" lang="zh-CN" altLang="en-US" dirty="0"/>
              <a:t>请求分页系统</a:t>
            </a:r>
            <a:endParaRPr kumimoji="1" lang="en-US" altLang="zh-CN" dirty="0"/>
          </a:p>
          <a:p>
            <a:pPr marL="914400" lvl="2" indent="0" algn="just">
              <a:buNone/>
            </a:pPr>
            <a:r>
              <a:rPr lang="zh-CN" altLang="en-US" b="1" dirty="0">
                <a:solidFill>
                  <a:srgbClr val="FF0000"/>
                </a:solidFill>
              </a:rPr>
              <a:t>硬件支持</a:t>
            </a:r>
            <a:r>
              <a:rPr lang="zh-CN" altLang="en-US" dirty="0"/>
              <a:t>：请求分页的页表机制、缺页中断机构、地址变换机构</a:t>
            </a:r>
            <a:endParaRPr lang="en-US" altLang="zh-CN" dirty="0"/>
          </a:p>
          <a:p>
            <a:pPr marL="914400" lvl="2" indent="0" algn="just">
              <a:buNone/>
            </a:pPr>
            <a:r>
              <a:rPr lang="zh-CN" altLang="en-US" b="1" dirty="0">
                <a:solidFill>
                  <a:srgbClr val="FF0000"/>
                </a:solidFill>
              </a:rPr>
              <a:t>实现请求分页的软件</a:t>
            </a:r>
            <a:endParaRPr lang="en-US" altLang="zh-CN" b="1" dirty="0">
              <a:solidFill>
                <a:srgbClr val="FF0000"/>
              </a:solidFill>
            </a:endParaRPr>
          </a:p>
          <a:p>
            <a:pPr lvl="1">
              <a:buFont typeface="Wingdings" panose="05000000000000000000" pitchFamily="2" charset="2"/>
              <a:buChar char="ü"/>
            </a:pPr>
            <a:r>
              <a:rPr kumimoji="1" lang="zh-CN" altLang="en-US" dirty="0"/>
              <a:t>请求分段系统</a:t>
            </a:r>
            <a:endParaRPr kumimoji="1" lang="en-US" altLang="zh-CN" dirty="0"/>
          </a:p>
          <a:p>
            <a:pPr marL="914400" lvl="2" indent="0" algn="just">
              <a:buNone/>
            </a:pPr>
            <a:r>
              <a:rPr kumimoji="1" lang="zh-CN" altLang="en-US" b="1" dirty="0">
                <a:solidFill>
                  <a:srgbClr val="FF0000"/>
                </a:solidFill>
              </a:rPr>
              <a:t>硬件支持</a:t>
            </a:r>
            <a:r>
              <a:rPr kumimoji="1" lang="zh-CN" altLang="en-US" dirty="0"/>
              <a:t>：请求分段的段表机制、缺页中断机构、地址变换机构</a:t>
            </a:r>
            <a:endParaRPr kumimoji="1" lang="en-US" altLang="zh-CN" dirty="0"/>
          </a:p>
          <a:p>
            <a:pPr marL="914400" lvl="2" indent="0" algn="just">
              <a:buNone/>
            </a:pPr>
            <a:r>
              <a:rPr kumimoji="1" lang="zh-CN" altLang="en-US" b="1" dirty="0">
                <a:solidFill>
                  <a:srgbClr val="FF0000"/>
                </a:solidFill>
              </a:rPr>
              <a:t>实现请求分页的软件</a:t>
            </a:r>
            <a:endParaRPr kumimoji="1" lang="en-US" altLang="zh-CN" b="1" dirty="0">
              <a:solidFill>
                <a:srgbClr val="FF0000"/>
              </a:solidFill>
            </a:endParaRPr>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11310783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请求分页存储管理方式</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8"/>
            <a:ext cx="10515600" cy="5347242"/>
          </a:xfrm>
        </p:spPr>
        <p:txBody>
          <a:bodyPr>
            <a:normAutofit/>
          </a:bodyPr>
          <a:lstStyle/>
          <a:p>
            <a:pPr>
              <a:lnSpc>
                <a:spcPct val="120000"/>
              </a:lnSpc>
            </a:pPr>
            <a:r>
              <a:rPr kumimoji="1" lang="zh-CN" altLang="en-US" dirty="0"/>
              <a:t>请求分页中的硬件支持</a:t>
            </a:r>
            <a:endParaRPr kumimoji="1" lang="en-US" altLang="zh-CN" dirty="0"/>
          </a:p>
          <a:p>
            <a:pPr marL="457200" lvl="1" indent="0">
              <a:buNone/>
            </a:pPr>
            <a:r>
              <a:rPr kumimoji="1" lang="zh-CN" altLang="en-US" sz="2000" dirty="0"/>
              <a:t>        为了实现请求分页，系统必须提供一定的硬件支持。计算机系统除了要求一定容量的内存和外存外，还需要有请求页表机制、缺页中断机构以及地址变换机构。</a:t>
            </a:r>
            <a:endParaRPr kumimoji="1" lang="en-US" altLang="zh-CN" sz="2000" dirty="0"/>
          </a:p>
          <a:p>
            <a:pPr lvl="1">
              <a:buFont typeface="Wingdings" panose="05000000000000000000" pitchFamily="2" charset="2"/>
              <a:buChar char="ü"/>
            </a:pPr>
            <a:r>
              <a:rPr kumimoji="1" lang="zh-CN" altLang="en-US" dirty="0"/>
              <a:t>请求页表机制</a:t>
            </a:r>
            <a:endParaRPr kumimoji="1" lang="en-US" altLang="zh-CN" dirty="0"/>
          </a:p>
          <a:p>
            <a:pPr marL="914400" lvl="2" indent="0" algn="just">
              <a:buNone/>
            </a:pPr>
            <a:r>
              <a:rPr kumimoji="1" lang="zh-CN" altLang="en-US" dirty="0"/>
              <a:t>在请求分页系统中需要的主要数据结构是请求页表，其基本作用仍然是将用户地址空间中的逻辑地址映射为内存空间中的物理地址。为了满足页面换进换出的需要，在请求页表中又增加了四个字段。这样，在请求分页系统中的每个页表应含以下诸项：</a:t>
            </a:r>
            <a:endParaRPr kumimoji="1" lang="en-US" altLang="zh-CN" dirty="0"/>
          </a:p>
          <a:p>
            <a:pPr marL="914400" lvl="2" indent="0" algn="just">
              <a:buNone/>
            </a:pPr>
            <a:endParaRPr lang="zh-CN" altLang="en-US" dirty="0"/>
          </a:p>
          <a:p>
            <a:pPr lvl="1">
              <a:buFont typeface="Wingdings" panose="05000000000000000000" pitchFamily="2" charset="2"/>
              <a:buChar char="ü"/>
            </a:pPr>
            <a:r>
              <a:rPr kumimoji="1" lang="zh-CN" altLang="en-US" dirty="0"/>
              <a:t>缺页中断机构</a:t>
            </a:r>
            <a:endParaRPr kumimoji="1" lang="en-US" altLang="zh-CN" dirty="0"/>
          </a:p>
          <a:p>
            <a:pPr marL="914400" lvl="2" indent="0" algn="just">
              <a:buNone/>
            </a:pPr>
            <a:r>
              <a:rPr kumimoji="1" lang="en-US" altLang="zh-CN" dirty="0"/>
              <a:t>(1)</a:t>
            </a:r>
            <a:r>
              <a:rPr kumimoji="1" lang="zh-CN" altLang="en-US" dirty="0"/>
              <a:t>在指令执行期间产生和处理中断信号；</a:t>
            </a:r>
            <a:endParaRPr kumimoji="1" lang="en-US" altLang="zh-CN" dirty="0"/>
          </a:p>
          <a:p>
            <a:pPr marL="914400" lvl="2" indent="0" algn="just">
              <a:buNone/>
            </a:pPr>
            <a:r>
              <a:rPr kumimoji="1" lang="en-US" altLang="zh-CN" dirty="0"/>
              <a:t>(2)</a:t>
            </a:r>
            <a:r>
              <a:rPr kumimoji="1" lang="zh-CN" altLang="en-US" dirty="0"/>
              <a:t>一条指令在执行期间可能产生多次缺页中断。</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pic>
        <p:nvPicPr>
          <p:cNvPr id="5" name="Picture 4">
            <a:extLst>
              <a:ext uri="{FF2B5EF4-FFF2-40B4-BE49-F238E27FC236}">
                <a16:creationId xmlns:a16="http://schemas.microsoft.com/office/drawing/2014/main" id="{A35FB4D0-B38E-4072-B6DB-B365317290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9441" y="4545535"/>
            <a:ext cx="7920038"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文本框 6">
            <a:extLst>
              <a:ext uri="{FF2B5EF4-FFF2-40B4-BE49-F238E27FC236}">
                <a16:creationId xmlns:a16="http://schemas.microsoft.com/office/drawing/2014/main" id="{A886D73D-5E68-4E1F-8DE4-DB3A84CC890F}"/>
              </a:ext>
            </a:extLst>
          </p:cNvPr>
          <p:cNvSpPr txBox="1"/>
          <p:nvPr/>
        </p:nvSpPr>
        <p:spPr>
          <a:xfrm>
            <a:off x="7260288" y="5116178"/>
            <a:ext cx="4093512" cy="1631216"/>
          </a:xfrm>
          <a:prstGeom prst="rect">
            <a:avLst/>
          </a:prstGeom>
          <a:noFill/>
          <a:ln w="19050">
            <a:solidFill>
              <a:schemeClr val="tx2">
                <a:lumMod val="75000"/>
              </a:schemeClr>
            </a:solidFill>
          </a:ln>
        </p:spPr>
        <p:txBody>
          <a:bodyPr wrap="square">
            <a:spAutoFit/>
          </a:bodyPr>
          <a:lstStyle/>
          <a:p>
            <a:r>
              <a:rPr lang="zh-CN" altLang="en-US" sz="2000" b="1" i="0" dirty="0">
                <a:solidFill>
                  <a:srgbClr val="FF0000"/>
                </a:solidFill>
                <a:effectLst/>
                <a:latin typeface="Arial" panose="020B0604020202020204" pitchFamily="34" charset="0"/>
              </a:rPr>
              <a:t>中断</a:t>
            </a:r>
            <a:r>
              <a:rPr lang="zh-CN" altLang="en-US" sz="2000" b="1" i="0" dirty="0">
                <a:solidFill>
                  <a:schemeClr val="bg2">
                    <a:lumMod val="50000"/>
                  </a:schemeClr>
                </a:solidFill>
                <a:effectLst/>
                <a:latin typeface="Arial" panose="020B0604020202020204" pitchFamily="34" charset="0"/>
              </a:rPr>
              <a:t>是指计算机运行过程中，出现某些</a:t>
            </a:r>
            <a:r>
              <a:rPr lang="zh-CN" altLang="en-US" sz="2000" b="1" i="0" dirty="0">
                <a:solidFill>
                  <a:srgbClr val="FF0000"/>
                </a:solidFill>
                <a:effectLst/>
                <a:latin typeface="Arial" panose="020B0604020202020204" pitchFamily="34" charset="0"/>
              </a:rPr>
              <a:t>意外情况</a:t>
            </a:r>
            <a:r>
              <a:rPr lang="zh-CN" altLang="en-US" sz="2000" b="1" i="0" dirty="0">
                <a:solidFill>
                  <a:schemeClr val="bg2">
                    <a:lumMod val="50000"/>
                  </a:schemeClr>
                </a:solidFill>
                <a:effectLst/>
                <a:latin typeface="Arial" panose="020B0604020202020204" pitchFamily="34" charset="0"/>
              </a:rPr>
              <a:t>需主机干预时，机器能自动停止正在运行的程序并转入</a:t>
            </a:r>
            <a:r>
              <a:rPr lang="zh-CN" altLang="en-US" sz="2000" b="1" i="0" dirty="0">
                <a:solidFill>
                  <a:srgbClr val="FF0000"/>
                </a:solidFill>
                <a:effectLst/>
                <a:latin typeface="Arial" panose="020B0604020202020204" pitchFamily="34" charset="0"/>
              </a:rPr>
              <a:t>处理新情况的程序</a:t>
            </a:r>
            <a:r>
              <a:rPr lang="zh-CN" altLang="en-US" sz="2000" b="1" i="0" dirty="0">
                <a:solidFill>
                  <a:schemeClr val="bg2">
                    <a:lumMod val="50000"/>
                  </a:schemeClr>
                </a:solidFill>
                <a:effectLst/>
                <a:latin typeface="Arial" panose="020B0604020202020204" pitchFamily="34" charset="0"/>
              </a:rPr>
              <a:t>，处理完毕后又返回原被暂停的程序继续运行。</a:t>
            </a:r>
            <a:endParaRPr lang="zh-CN" altLang="en-US" sz="2000" b="1" dirty="0">
              <a:solidFill>
                <a:schemeClr val="bg2">
                  <a:lumMod val="50000"/>
                </a:schemeClr>
              </a:solidFill>
            </a:endParaRPr>
          </a:p>
        </p:txBody>
      </p:sp>
    </p:spTree>
    <p:extLst>
      <p:ext uri="{BB962C8B-B14F-4D97-AF65-F5344CB8AC3E}">
        <p14:creationId xmlns:p14="http://schemas.microsoft.com/office/powerpoint/2010/main" val="6984180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请求分页存储管理方式</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8"/>
            <a:ext cx="10515600" cy="5347242"/>
          </a:xfrm>
        </p:spPr>
        <p:txBody>
          <a:bodyPr>
            <a:normAutofit/>
          </a:bodyPr>
          <a:lstStyle/>
          <a:p>
            <a:pPr>
              <a:lnSpc>
                <a:spcPct val="120000"/>
              </a:lnSpc>
            </a:pPr>
            <a:r>
              <a:rPr kumimoji="1" lang="zh-CN" altLang="en-US" dirty="0"/>
              <a:t>请求分页中的硬件支持</a:t>
            </a:r>
            <a:endParaRPr lang="zh-CN" altLang="en-US" dirty="0"/>
          </a:p>
          <a:p>
            <a:pPr lvl="1">
              <a:buFont typeface="Wingdings" panose="05000000000000000000" pitchFamily="2" charset="2"/>
              <a:buChar char="ü"/>
            </a:pPr>
            <a:r>
              <a:rPr kumimoji="1" lang="zh-CN" altLang="en-US" dirty="0"/>
              <a:t>缺页中断机构</a:t>
            </a:r>
          </a:p>
          <a:p>
            <a:pPr marL="914400" lvl="2" indent="0" algn="just">
              <a:buNone/>
            </a:pP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pic>
        <p:nvPicPr>
          <p:cNvPr id="8" name="Picture 4">
            <a:extLst>
              <a:ext uri="{FF2B5EF4-FFF2-40B4-BE49-F238E27FC236}">
                <a16:creationId xmlns:a16="http://schemas.microsoft.com/office/drawing/2014/main" id="{4960BE00-EA17-4E47-9DE7-15E529B21C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32457" y="2377353"/>
            <a:ext cx="3333462" cy="3597261"/>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a:extLst>
              <a:ext uri="{FF2B5EF4-FFF2-40B4-BE49-F238E27FC236}">
                <a16:creationId xmlns:a16="http://schemas.microsoft.com/office/drawing/2014/main" id="{56AF9E8B-65CF-46CD-84B3-1CDE5D90A387}"/>
              </a:ext>
            </a:extLst>
          </p:cNvPr>
          <p:cNvSpPr txBox="1"/>
          <p:nvPr/>
        </p:nvSpPr>
        <p:spPr>
          <a:xfrm>
            <a:off x="5203826" y="6138802"/>
            <a:ext cx="2578966" cy="400110"/>
          </a:xfrm>
          <a:prstGeom prst="rect">
            <a:avLst/>
          </a:prstGeom>
          <a:noFill/>
        </p:spPr>
        <p:txBody>
          <a:bodyPr wrap="square">
            <a:spAutoFit/>
          </a:bodyPr>
          <a:lstStyle/>
          <a:p>
            <a:r>
              <a:rPr lang="en-US" altLang="zh-CN" sz="2000" b="1" dirty="0">
                <a:latin typeface="Times New Roman" panose="02020603050405020304" pitchFamily="18" charset="0"/>
                <a:ea typeface="+mj-ea"/>
                <a:cs typeface="Times New Roman" panose="02020603050405020304" pitchFamily="18" charset="0"/>
              </a:rPr>
              <a:t>6</a:t>
            </a:r>
            <a:r>
              <a:rPr lang="zh-CN" altLang="en-US" sz="2000" b="1" dirty="0">
                <a:latin typeface="Times New Roman" panose="02020603050405020304" pitchFamily="18" charset="0"/>
                <a:ea typeface="+mj-ea"/>
                <a:cs typeface="Times New Roman" panose="02020603050405020304" pitchFamily="18" charset="0"/>
              </a:rPr>
              <a:t>次缺页中断的指令</a:t>
            </a:r>
          </a:p>
        </p:txBody>
      </p:sp>
    </p:spTree>
    <p:extLst>
      <p:ext uri="{BB962C8B-B14F-4D97-AF65-F5344CB8AC3E}">
        <p14:creationId xmlns:p14="http://schemas.microsoft.com/office/powerpoint/2010/main" val="1688397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请求分页存储管理方式</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8"/>
            <a:ext cx="4689764" cy="5347242"/>
          </a:xfrm>
        </p:spPr>
        <p:txBody>
          <a:bodyPr>
            <a:normAutofit/>
          </a:bodyPr>
          <a:lstStyle/>
          <a:p>
            <a:pPr>
              <a:lnSpc>
                <a:spcPct val="120000"/>
              </a:lnSpc>
            </a:pPr>
            <a:r>
              <a:rPr kumimoji="1" lang="zh-CN" altLang="en-US" dirty="0"/>
              <a:t>请求分页中的硬件支持</a:t>
            </a:r>
            <a:endParaRPr lang="zh-CN" altLang="en-US" dirty="0"/>
          </a:p>
          <a:p>
            <a:pPr lvl="1">
              <a:buFont typeface="Wingdings" panose="05000000000000000000" pitchFamily="2" charset="2"/>
              <a:buChar char="ü"/>
            </a:pPr>
            <a:r>
              <a:rPr kumimoji="1" lang="zh-CN" altLang="en-US" dirty="0"/>
              <a:t>地址变换机构</a:t>
            </a:r>
            <a:endParaRPr kumimoji="1" lang="en-US" altLang="zh-CN" dirty="0"/>
          </a:p>
          <a:p>
            <a:pPr marL="914400" lvl="2" indent="0">
              <a:buNone/>
            </a:pPr>
            <a:r>
              <a:rPr kumimoji="1" lang="zh-CN" altLang="en-US" dirty="0"/>
              <a:t>请求分页系统中的地址变换机构是在分页系统地址变换机构的基础上，为实现虚拟存储器，再增加了某些功能所形成的，如产生和处理缺页中断，以及从内存中换出一页的功能等等。</a:t>
            </a:r>
          </a:p>
          <a:p>
            <a:pPr marL="914400" lvl="2" indent="0" algn="just">
              <a:buNone/>
            </a:pP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pic>
        <p:nvPicPr>
          <p:cNvPr id="7" name="Picture 4">
            <a:extLst>
              <a:ext uri="{FF2B5EF4-FFF2-40B4-BE49-F238E27FC236}">
                <a16:creationId xmlns:a16="http://schemas.microsoft.com/office/drawing/2014/main" id="{5F2ECA8F-A121-4EDE-8755-436A5E34FC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27964" y="1568111"/>
            <a:ext cx="6553200" cy="4422775"/>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a:extLst>
              <a:ext uri="{FF2B5EF4-FFF2-40B4-BE49-F238E27FC236}">
                <a16:creationId xmlns:a16="http://schemas.microsoft.com/office/drawing/2014/main" id="{D6DF5879-AFE0-44E8-8720-DE8C75B3C42B}"/>
              </a:ext>
            </a:extLst>
          </p:cNvPr>
          <p:cNvSpPr txBox="1"/>
          <p:nvPr/>
        </p:nvSpPr>
        <p:spPr>
          <a:xfrm>
            <a:off x="6902161" y="6156295"/>
            <a:ext cx="3374448" cy="400110"/>
          </a:xfrm>
          <a:prstGeom prst="rect">
            <a:avLst/>
          </a:prstGeom>
          <a:noFill/>
        </p:spPr>
        <p:txBody>
          <a:bodyPr wrap="square">
            <a:spAutoFit/>
          </a:bodyPr>
          <a:lstStyle/>
          <a:p>
            <a:r>
              <a:rPr lang="zh-CN" altLang="en-US" sz="2000" dirty="0"/>
              <a:t>请求分页中的地址变换过程</a:t>
            </a:r>
          </a:p>
        </p:txBody>
      </p:sp>
    </p:spTree>
    <p:extLst>
      <p:ext uri="{BB962C8B-B14F-4D97-AF65-F5344CB8AC3E}">
        <p14:creationId xmlns:p14="http://schemas.microsoft.com/office/powerpoint/2010/main" val="30776509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请求分页存储管理方式</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8"/>
            <a:ext cx="10515600" cy="5347242"/>
          </a:xfrm>
        </p:spPr>
        <p:txBody>
          <a:bodyPr>
            <a:normAutofit/>
          </a:bodyPr>
          <a:lstStyle/>
          <a:p>
            <a:pPr>
              <a:lnSpc>
                <a:spcPct val="120000"/>
              </a:lnSpc>
            </a:pPr>
            <a:r>
              <a:rPr kumimoji="1" lang="zh-CN" altLang="en-US" dirty="0"/>
              <a:t>请求分页中的内存分配</a:t>
            </a:r>
            <a:endParaRPr lang="zh-CN" altLang="en-US" dirty="0"/>
          </a:p>
          <a:p>
            <a:pPr lvl="1">
              <a:buFont typeface="Wingdings" panose="05000000000000000000" pitchFamily="2" charset="2"/>
              <a:buChar char="ü"/>
            </a:pPr>
            <a:r>
              <a:rPr kumimoji="1" lang="zh-CN" altLang="en-US" dirty="0"/>
              <a:t>最小物理块数的确定</a:t>
            </a:r>
            <a:endParaRPr kumimoji="1" lang="en-US" altLang="zh-CN" dirty="0"/>
          </a:p>
          <a:p>
            <a:pPr marL="914400" lvl="2" indent="0">
              <a:buNone/>
            </a:pPr>
            <a:r>
              <a:rPr kumimoji="1" lang="zh-CN" altLang="en-US" dirty="0"/>
              <a:t>一个显而易见的事实是，随着为每个进程所分配的物理块的减少，将使进程在执行中的缺页率上升，从而会降低进程的执行速度。为使进程能有效地工作，应为它分配一定数目的物理块，但这并不是最小物理块数的概念。</a:t>
            </a:r>
            <a:endParaRPr kumimoji="1" lang="en-US" altLang="zh-CN" dirty="0"/>
          </a:p>
          <a:p>
            <a:pPr lvl="1">
              <a:buFont typeface="Wingdings" panose="05000000000000000000" pitchFamily="2" charset="2"/>
              <a:buChar char="ü"/>
            </a:pPr>
            <a:r>
              <a:rPr kumimoji="1" lang="zh-CN" altLang="en-US" dirty="0"/>
              <a:t>内存分配策略</a:t>
            </a:r>
            <a:endParaRPr kumimoji="1" lang="en-US" altLang="zh-CN" dirty="0"/>
          </a:p>
          <a:p>
            <a:pPr marL="914400" lvl="2" indent="0">
              <a:buNone/>
            </a:pPr>
            <a:r>
              <a:rPr kumimoji="1" lang="zh-CN" altLang="en-US" dirty="0"/>
              <a:t>在请求分页系统中，可采取两种内存分配策略，即固定和可变分配策略。在进行置换时，也可采取两种策略，即全局置换和局部置换。于是可组合出以下三种适用的策略：</a:t>
            </a:r>
            <a:endParaRPr kumimoji="1" lang="en-US" altLang="zh-CN" dirty="0"/>
          </a:p>
          <a:p>
            <a:pPr marL="1371600" lvl="2" indent="-457200">
              <a:buAutoNum type="arabicParenR"/>
            </a:pPr>
            <a:r>
              <a:rPr kumimoji="1" lang="zh-CN" altLang="en-US" dirty="0"/>
              <a:t>固定分配局部置换</a:t>
            </a:r>
            <a:r>
              <a:rPr kumimoji="1" lang="en-US" altLang="zh-CN" dirty="0"/>
              <a:t>(Fixed Allocation</a:t>
            </a:r>
            <a:r>
              <a:rPr kumimoji="1" lang="zh-CN" altLang="en-US" dirty="0"/>
              <a:t>，</a:t>
            </a:r>
            <a:r>
              <a:rPr kumimoji="1" lang="en-US" altLang="zh-CN" dirty="0"/>
              <a:t>Local Replacement)</a:t>
            </a:r>
          </a:p>
          <a:p>
            <a:pPr marL="1371600" lvl="2" indent="-457200">
              <a:buAutoNum type="arabicParenR"/>
            </a:pPr>
            <a:r>
              <a:rPr kumimoji="1" lang="zh-CN" altLang="en-US" dirty="0"/>
              <a:t>可变分配全局置换</a:t>
            </a:r>
            <a:r>
              <a:rPr kumimoji="1" lang="en-US" altLang="zh-CN" dirty="0"/>
              <a:t>(Variable Allocation</a:t>
            </a:r>
            <a:r>
              <a:rPr kumimoji="1" lang="zh-CN" altLang="en-US" dirty="0"/>
              <a:t>，</a:t>
            </a:r>
            <a:r>
              <a:rPr kumimoji="1" lang="en-US" altLang="zh-CN" dirty="0"/>
              <a:t>Global Replacement)</a:t>
            </a:r>
          </a:p>
          <a:p>
            <a:pPr marL="1371600" lvl="2" indent="-457200">
              <a:buAutoNum type="arabicParenR"/>
            </a:pPr>
            <a:r>
              <a:rPr kumimoji="1" lang="zh-CN" altLang="en-US" dirty="0"/>
              <a:t>可变分配局部置换</a:t>
            </a:r>
            <a:r>
              <a:rPr kumimoji="1" lang="en-US" altLang="zh-CN" dirty="0"/>
              <a:t>(Variable Allocation</a:t>
            </a:r>
            <a:r>
              <a:rPr kumimoji="1" lang="zh-CN" altLang="en-US" dirty="0"/>
              <a:t>，</a:t>
            </a:r>
            <a:r>
              <a:rPr kumimoji="1" lang="en-US" altLang="zh-CN" dirty="0"/>
              <a:t>Local Replacement)</a:t>
            </a:r>
          </a:p>
          <a:p>
            <a:pPr lvl="1">
              <a:buFont typeface="Wingdings" panose="05000000000000000000" pitchFamily="2" charset="2"/>
              <a:buChar char="ü"/>
            </a:pPr>
            <a:endParaRPr kumimoji="1" lang="zh-CN" altLang="en-US" dirty="0"/>
          </a:p>
          <a:p>
            <a:pPr marL="914400" lvl="2" indent="0" algn="just">
              <a:buNone/>
            </a:pP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7378129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请求分页存储管理方式</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8"/>
            <a:ext cx="10515600" cy="5347242"/>
          </a:xfrm>
        </p:spPr>
        <p:txBody>
          <a:bodyPr>
            <a:normAutofit/>
          </a:bodyPr>
          <a:lstStyle/>
          <a:p>
            <a:pPr>
              <a:lnSpc>
                <a:spcPct val="120000"/>
              </a:lnSpc>
            </a:pPr>
            <a:r>
              <a:rPr kumimoji="1" lang="zh-CN" altLang="en-US" dirty="0"/>
              <a:t>请求分页中的内存分配</a:t>
            </a:r>
            <a:endParaRPr lang="zh-CN" altLang="en-US" dirty="0"/>
          </a:p>
          <a:p>
            <a:pPr lvl="1">
              <a:buFont typeface="Wingdings" panose="05000000000000000000" pitchFamily="2" charset="2"/>
              <a:buChar char="ü"/>
            </a:pPr>
            <a:r>
              <a:rPr kumimoji="1" lang="zh-CN" altLang="en-US" dirty="0"/>
              <a:t>物理块分配算法</a:t>
            </a:r>
            <a:endParaRPr kumimoji="1" lang="en-US" altLang="zh-CN" dirty="0"/>
          </a:p>
          <a:p>
            <a:pPr marL="914400" lvl="2" indent="0">
              <a:buNone/>
            </a:pPr>
            <a:r>
              <a:rPr kumimoji="1" lang="zh-CN" altLang="en-US" dirty="0"/>
              <a:t>在采用固定分配策略时，如何将系统中可供分配的所有物理块分配给各个进程，可采用下述几种算法：</a:t>
            </a:r>
            <a:endParaRPr kumimoji="1" lang="en-US" altLang="zh-CN" dirty="0"/>
          </a:p>
          <a:p>
            <a:pPr marL="914400" lvl="2" indent="0">
              <a:buNone/>
            </a:pPr>
            <a:r>
              <a:rPr kumimoji="1" lang="en-US" altLang="zh-CN" dirty="0"/>
              <a:t>(1)</a:t>
            </a:r>
            <a:r>
              <a:rPr kumimoji="1" lang="zh-CN" altLang="en-US" b="1" dirty="0">
                <a:solidFill>
                  <a:srgbClr val="FF0000"/>
                </a:solidFill>
              </a:rPr>
              <a:t>平均分配算法</a:t>
            </a:r>
            <a:r>
              <a:rPr kumimoji="1" lang="zh-CN" altLang="en-US" dirty="0"/>
              <a:t>，即将系统中所有可供分配的物理块平均分配给各个进程； </a:t>
            </a:r>
            <a:br>
              <a:rPr kumimoji="1" lang="zh-CN" altLang="en-US" dirty="0"/>
            </a:br>
            <a:r>
              <a:rPr kumimoji="1" lang="en-US" altLang="zh-CN" dirty="0"/>
              <a:t>(2)</a:t>
            </a:r>
            <a:r>
              <a:rPr kumimoji="1" lang="zh-CN" altLang="en-US" b="1" dirty="0">
                <a:solidFill>
                  <a:srgbClr val="FF0000"/>
                </a:solidFill>
              </a:rPr>
              <a:t>按比例分配算法</a:t>
            </a:r>
            <a:r>
              <a:rPr kumimoji="1" lang="zh-CN" altLang="en-US" dirty="0"/>
              <a:t>，即根据进程的大小按比例分配物理块。如果系统中共有</a:t>
            </a:r>
            <a:r>
              <a:rPr kumimoji="1" lang="en-US" altLang="zh-CN" dirty="0"/>
              <a:t>n</a:t>
            </a:r>
            <a:r>
              <a:rPr kumimoji="1" lang="zh-CN" altLang="en-US" dirty="0"/>
              <a:t>个进程，每个进程的页面数为</a:t>
            </a:r>
            <a:r>
              <a:rPr kumimoji="1" lang="en-US" altLang="zh-CN" dirty="0"/>
              <a:t>S</a:t>
            </a:r>
            <a:r>
              <a:rPr kumimoji="1" lang="en-US" altLang="zh-CN" baseline="-25000" dirty="0"/>
              <a:t>i</a:t>
            </a:r>
            <a:r>
              <a:rPr kumimoji="1" lang="zh-CN" altLang="en-US" dirty="0"/>
              <a:t>，则系统中各进程页面数的总和为：</a:t>
            </a:r>
            <a:endParaRPr kumimoji="1" lang="en-US" altLang="zh-CN" dirty="0"/>
          </a:p>
          <a:p>
            <a:pPr marL="914400" lvl="2" indent="0">
              <a:buNone/>
            </a:pPr>
            <a:endParaRPr kumimoji="1" lang="en-US" altLang="zh-CN" dirty="0"/>
          </a:p>
          <a:p>
            <a:pPr marL="914400" lvl="2" indent="0">
              <a:buNone/>
            </a:pPr>
            <a:r>
              <a:rPr kumimoji="1" lang="zh-CN" altLang="en-US" dirty="0"/>
              <a:t>又假定系统中可用的物理块总数为</a:t>
            </a:r>
            <a:r>
              <a:rPr kumimoji="1" lang="en-US" altLang="zh-CN" dirty="0"/>
              <a:t>m</a:t>
            </a:r>
            <a:r>
              <a:rPr kumimoji="1" lang="zh-CN" altLang="en-US" dirty="0"/>
              <a:t>，则每个进程所能分到的物理块数为</a:t>
            </a:r>
            <a:r>
              <a:rPr kumimoji="1" lang="en-US" altLang="zh-CN" dirty="0"/>
              <a:t>b</a:t>
            </a:r>
            <a:r>
              <a:rPr kumimoji="1" lang="en-US" altLang="zh-CN" baseline="-25000" dirty="0"/>
              <a:t>i</a:t>
            </a:r>
            <a:r>
              <a:rPr kumimoji="1" lang="zh-CN" altLang="en-US" dirty="0"/>
              <a:t>可由下式计算：</a:t>
            </a:r>
            <a:endParaRPr kumimoji="1" lang="en-US" altLang="zh-CN" dirty="0"/>
          </a:p>
          <a:p>
            <a:pPr marL="914400" lvl="2" indent="0">
              <a:buNone/>
            </a:pPr>
            <a:endParaRPr kumimoji="1" lang="zh-CN" altLang="en-US" dirty="0"/>
          </a:p>
          <a:p>
            <a:pPr marL="914400" lvl="2" indent="0" algn="just">
              <a:buNone/>
            </a:pPr>
            <a:r>
              <a:rPr lang="zh-CN" altLang="en-US" dirty="0"/>
              <a:t>这里，</a:t>
            </a:r>
            <a:r>
              <a:rPr lang="en-US" altLang="zh-CN" dirty="0"/>
              <a:t>b</a:t>
            </a:r>
            <a:r>
              <a:rPr lang="en-US" altLang="zh-CN" baseline="-25000" dirty="0"/>
              <a:t>i</a:t>
            </a:r>
            <a:r>
              <a:rPr lang="zh-CN" altLang="en-US" dirty="0"/>
              <a:t>应该取整，它必须大于最小物理块数。</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graphicFrame>
        <p:nvGraphicFramePr>
          <p:cNvPr id="5" name="Object 4">
            <a:extLst>
              <a:ext uri="{FF2B5EF4-FFF2-40B4-BE49-F238E27FC236}">
                <a16:creationId xmlns:a16="http://schemas.microsoft.com/office/drawing/2014/main" id="{C2B61F9C-28CD-4C4F-B5A7-B7FD516360D9}"/>
              </a:ext>
            </a:extLst>
          </p:cNvPr>
          <p:cNvGraphicFramePr>
            <a:graphicFrameLocks noChangeAspect="1"/>
          </p:cNvGraphicFramePr>
          <p:nvPr>
            <p:extLst>
              <p:ext uri="{D42A27DB-BD31-4B8C-83A1-F6EECF244321}">
                <p14:modId xmlns:p14="http://schemas.microsoft.com/office/powerpoint/2010/main" val="153725317"/>
              </p:ext>
            </p:extLst>
          </p:nvPr>
        </p:nvGraphicFramePr>
        <p:xfrm>
          <a:off x="8363671" y="4184379"/>
          <a:ext cx="936625" cy="739775"/>
        </p:xfrm>
        <a:graphic>
          <a:graphicData uri="http://schemas.openxmlformats.org/presentationml/2006/ole">
            <mc:AlternateContent xmlns:mc="http://schemas.openxmlformats.org/markup-compatibility/2006">
              <mc:Choice xmlns:v="urn:schemas-microsoft-com:vml" Requires="v">
                <p:oleObj name="公式" r:id="rId2" imgW="545863" imgH="431613" progId="Equation.3">
                  <p:embed/>
                </p:oleObj>
              </mc:Choice>
              <mc:Fallback>
                <p:oleObj name="公式" r:id="rId2" imgW="545863" imgH="431613" progId="Equation.3">
                  <p:embed/>
                  <p:pic>
                    <p:nvPicPr>
                      <p:cNvPr id="728068" name="Object 4">
                        <a:extLst>
                          <a:ext uri="{FF2B5EF4-FFF2-40B4-BE49-F238E27FC236}">
                            <a16:creationId xmlns:a16="http://schemas.microsoft.com/office/drawing/2014/main" id="{319C7557-AF0D-4BC2-A120-9F97C69598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63671" y="4184379"/>
                        <a:ext cx="936625" cy="739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4">
            <a:extLst>
              <a:ext uri="{FF2B5EF4-FFF2-40B4-BE49-F238E27FC236}">
                <a16:creationId xmlns:a16="http://schemas.microsoft.com/office/drawing/2014/main" id="{FA338B80-944F-40DB-9211-E5529EC5B899}"/>
              </a:ext>
            </a:extLst>
          </p:cNvPr>
          <p:cNvGraphicFramePr>
            <a:graphicFrameLocks noChangeAspect="1"/>
          </p:cNvGraphicFramePr>
          <p:nvPr>
            <p:extLst>
              <p:ext uri="{D42A27DB-BD31-4B8C-83A1-F6EECF244321}">
                <p14:modId xmlns:p14="http://schemas.microsoft.com/office/powerpoint/2010/main" val="244725102"/>
              </p:ext>
            </p:extLst>
          </p:nvPr>
        </p:nvGraphicFramePr>
        <p:xfrm>
          <a:off x="8363671" y="5423054"/>
          <a:ext cx="1327621" cy="719128"/>
        </p:xfrm>
        <a:graphic>
          <a:graphicData uri="http://schemas.openxmlformats.org/presentationml/2006/ole">
            <mc:AlternateContent xmlns:mc="http://schemas.openxmlformats.org/markup-compatibility/2006">
              <mc:Choice xmlns:v="urn:schemas-microsoft-com:vml" Requires="v">
                <p:oleObj name="公式" r:id="rId4" imgW="685800" imgH="368300" progId="Equation.3">
                  <p:embed/>
                </p:oleObj>
              </mc:Choice>
              <mc:Fallback>
                <p:oleObj name="公式" r:id="rId4" imgW="685800" imgH="368300" progId="Equation.3">
                  <p:embed/>
                  <p:pic>
                    <p:nvPicPr>
                      <p:cNvPr id="729092" name="Object 4">
                        <a:extLst>
                          <a:ext uri="{FF2B5EF4-FFF2-40B4-BE49-F238E27FC236}">
                            <a16:creationId xmlns:a16="http://schemas.microsoft.com/office/drawing/2014/main" id="{DED9C951-24CB-4C47-8D91-0419A7FEB13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63671" y="5423054"/>
                        <a:ext cx="1327621" cy="719128"/>
                      </a:xfrm>
                      <a:prstGeom prst="rect">
                        <a:avLst/>
                      </a:prstGeom>
                      <a:noFill/>
                    </p:spPr>
                  </p:pic>
                </p:oleObj>
              </mc:Fallback>
            </mc:AlternateContent>
          </a:graphicData>
        </a:graphic>
      </p:graphicFrame>
    </p:spTree>
    <p:extLst>
      <p:ext uri="{BB962C8B-B14F-4D97-AF65-F5344CB8AC3E}">
        <p14:creationId xmlns:p14="http://schemas.microsoft.com/office/powerpoint/2010/main" val="17165396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请求分页存储管理方式</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8"/>
            <a:ext cx="10515600" cy="5347242"/>
          </a:xfrm>
        </p:spPr>
        <p:txBody>
          <a:bodyPr>
            <a:normAutofit/>
          </a:bodyPr>
          <a:lstStyle/>
          <a:p>
            <a:pPr>
              <a:lnSpc>
                <a:spcPct val="120000"/>
              </a:lnSpc>
            </a:pPr>
            <a:r>
              <a:rPr kumimoji="1" lang="zh-CN" altLang="en-US" dirty="0"/>
              <a:t>请求分页中的内存分配</a:t>
            </a:r>
            <a:endParaRPr lang="zh-CN" altLang="en-US" dirty="0"/>
          </a:p>
          <a:p>
            <a:pPr lvl="1">
              <a:buFont typeface="Wingdings" panose="05000000000000000000" pitchFamily="2" charset="2"/>
              <a:buChar char="ü"/>
            </a:pPr>
            <a:r>
              <a:rPr kumimoji="1" lang="zh-CN" altLang="en-US" dirty="0"/>
              <a:t>物理块分配算法</a:t>
            </a:r>
            <a:endParaRPr kumimoji="1" lang="en-US" altLang="zh-CN" dirty="0"/>
          </a:p>
          <a:p>
            <a:pPr marL="914400" lvl="2" indent="0">
              <a:buNone/>
            </a:pPr>
            <a:r>
              <a:rPr kumimoji="1" lang="zh-CN" altLang="en-US" dirty="0"/>
              <a:t>在采用固定分配策略时，如何将系统中可供分配的所有物理块分配给各个进程，可采用下述几种算法：</a:t>
            </a:r>
            <a:endParaRPr kumimoji="1" lang="en-US" altLang="zh-CN" dirty="0"/>
          </a:p>
          <a:p>
            <a:pPr marL="914400" lvl="2" indent="0" algn="just">
              <a:buNone/>
            </a:pPr>
            <a:r>
              <a:rPr kumimoji="1" lang="en-US" altLang="zh-CN" dirty="0"/>
              <a:t>(3)</a:t>
            </a:r>
            <a:r>
              <a:rPr kumimoji="1" lang="zh-CN" altLang="en-US" b="1" dirty="0">
                <a:solidFill>
                  <a:srgbClr val="FF0000"/>
                </a:solidFill>
              </a:rPr>
              <a:t>考虑优先权的分配算法</a:t>
            </a:r>
            <a:r>
              <a:rPr kumimoji="1" lang="zh-CN" altLang="en-US" dirty="0"/>
              <a:t>。在实际应用中，为了照顾到重要的、紧迫的作业能尽快地完成，应为它分配较多的内存空间。通常采取的方法是把内存中可供分配的所有物理块分成两部分：一部分按比例地分配给各进程；另一部分则根据各进程的优先权进行分配，为高优先进程适当地增加其相应份额。在有的系统中，如重要的实时控制系统，则可能是完全按优先权为各进程分配其物理块。</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20998832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请求分页存储管理方式</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7"/>
            <a:ext cx="10515600" cy="5471933"/>
          </a:xfrm>
        </p:spPr>
        <p:txBody>
          <a:bodyPr>
            <a:normAutofit lnSpcReduction="10000"/>
          </a:bodyPr>
          <a:lstStyle/>
          <a:p>
            <a:pPr>
              <a:lnSpc>
                <a:spcPct val="120000"/>
              </a:lnSpc>
            </a:pPr>
            <a:r>
              <a:rPr kumimoji="1" lang="zh-CN" altLang="en-US" dirty="0"/>
              <a:t>页面调入策略</a:t>
            </a:r>
            <a:endParaRPr lang="zh-CN" altLang="en-US" dirty="0"/>
          </a:p>
          <a:p>
            <a:pPr marL="457200" lvl="1" indent="0" algn="just">
              <a:buNone/>
            </a:pPr>
            <a:r>
              <a:rPr kumimoji="1" lang="zh-CN" altLang="en-US" sz="2000" dirty="0"/>
              <a:t>        为使进程能够正常运行，必须事先将要执行的那部分程序和数据所在的页面调入内存。现在的问题是：</a:t>
            </a:r>
            <a:r>
              <a:rPr kumimoji="1" lang="en-US" altLang="zh-CN" sz="2000" dirty="0"/>
              <a:t>(1)</a:t>
            </a:r>
            <a:r>
              <a:rPr kumimoji="1" lang="zh-CN" altLang="en-US" sz="2000" dirty="0"/>
              <a:t>系统何时调入所需页面；</a:t>
            </a:r>
            <a:r>
              <a:rPr kumimoji="1" lang="en-US" altLang="zh-CN" sz="2000" dirty="0"/>
              <a:t>(2)</a:t>
            </a:r>
            <a:r>
              <a:rPr kumimoji="1" lang="zh-CN" altLang="en-US" sz="2000" dirty="0"/>
              <a:t>系统从何处调入这些页面；</a:t>
            </a:r>
            <a:r>
              <a:rPr kumimoji="1" lang="en-US" altLang="zh-CN" sz="2000" dirty="0"/>
              <a:t>(3)</a:t>
            </a:r>
            <a:r>
              <a:rPr kumimoji="1" lang="zh-CN" altLang="en-US" sz="2000" dirty="0"/>
              <a:t>如何进行调入。</a:t>
            </a:r>
            <a:endParaRPr kumimoji="1" lang="en-US" altLang="zh-CN" sz="2000" dirty="0"/>
          </a:p>
          <a:p>
            <a:pPr lvl="1">
              <a:buFont typeface="Wingdings" panose="05000000000000000000" pitchFamily="2" charset="2"/>
              <a:buChar char="ü"/>
            </a:pPr>
            <a:r>
              <a:rPr kumimoji="1" lang="zh-CN" altLang="en-US" dirty="0"/>
              <a:t>何时调入页面</a:t>
            </a:r>
            <a:endParaRPr kumimoji="1" lang="en-US" altLang="zh-CN" dirty="0"/>
          </a:p>
          <a:p>
            <a:pPr marL="914400" lvl="2" indent="0">
              <a:buNone/>
            </a:pPr>
            <a:r>
              <a:rPr kumimoji="1" lang="en-US" altLang="zh-CN" dirty="0"/>
              <a:t>(1)</a:t>
            </a:r>
            <a:r>
              <a:rPr kumimoji="1" lang="zh-CN" altLang="en-US" dirty="0"/>
              <a:t>预调页策略；</a:t>
            </a:r>
            <a:r>
              <a:rPr kumimoji="1" lang="en-US" altLang="zh-CN" dirty="0"/>
              <a:t>(2)</a:t>
            </a:r>
            <a:r>
              <a:rPr kumimoji="1" lang="zh-CN" altLang="en-US" dirty="0"/>
              <a:t>请求调页策略</a:t>
            </a:r>
            <a:endParaRPr kumimoji="1" lang="en-US" altLang="zh-CN" dirty="0"/>
          </a:p>
          <a:p>
            <a:pPr lvl="1">
              <a:buFont typeface="Wingdings" panose="05000000000000000000" pitchFamily="2" charset="2"/>
              <a:buChar char="ü"/>
            </a:pPr>
            <a:r>
              <a:rPr kumimoji="1" lang="zh-CN" altLang="en-US" dirty="0"/>
              <a:t>从何处调入页面</a:t>
            </a:r>
            <a:endParaRPr kumimoji="1" lang="en-US" altLang="zh-CN" dirty="0"/>
          </a:p>
          <a:p>
            <a:pPr marL="1371600" lvl="2" indent="-457200">
              <a:buAutoNum type="arabicParenBoth"/>
            </a:pPr>
            <a:r>
              <a:rPr kumimoji="1" lang="zh-CN" altLang="en-US" dirty="0"/>
              <a:t>系统拥有足够对换区空间，此时可全部从对换区调入所需页面，以提高调页速度；</a:t>
            </a:r>
            <a:endParaRPr kumimoji="1" lang="en-US" altLang="zh-CN" dirty="0"/>
          </a:p>
          <a:p>
            <a:pPr marL="1371600" lvl="2" indent="-457200" algn="just">
              <a:buAutoNum type="arabicParenBoth"/>
            </a:pPr>
            <a:r>
              <a:rPr kumimoji="1" lang="zh-CN" altLang="en-US" dirty="0"/>
              <a:t>系统缺少足够对换区空间，此时凡不会被修改的文件，都直接从文件区调入；而当换出这些页面时，由于它们未被修改，则不必再将它们重写到磁盘</a:t>
            </a:r>
            <a:r>
              <a:rPr kumimoji="1" lang="en-US" altLang="zh-CN" dirty="0"/>
              <a:t>(</a:t>
            </a:r>
            <a:r>
              <a:rPr kumimoji="1" lang="zh-CN" altLang="en-US" dirty="0"/>
              <a:t>换出</a:t>
            </a:r>
            <a:r>
              <a:rPr kumimoji="1" lang="en-US" altLang="zh-CN" dirty="0"/>
              <a:t>)</a:t>
            </a:r>
            <a:r>
              <a:rPr kumimoji="1" lang="zh-CN" altLang="en-US" dirty="0"/>
              <a:t>，以后再调入时，仍从文件区直接调入。但对于那些可能被修改的部分，在将它们换出时便须调到对换区，以后需要时再从对换区调入。</a:t>
            </a:r>
            <a:endParaRPr kumimoji="1" lang="en-US" altLang="zh-CN" dirty="0"/>
          </a:p>
          <a:p>
            <a:pPr marL="1371600" lvl="2" indent="-457200">
              <a:buAutoNum type="arabicParenBoth"/>
            </a:pPr>
            <a:r>
              <a:rPr kumimoji="1" lang="en-US" altLang="zh-CN" dirty="0"/>
              <a:t>UNIX</a:t>
            </a:r>
            <a:r>
              <a:rPr kumimoji="1" lang="zh-CN" altLang="en-US" dirty="0"/>
              <a:t>方式</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15646595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请求分页存储管理方式</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7"/>
            <a:ext cx="10515600" cy="5471933"/>
          </a:xfrm>
        </p:spPr>
        <p:txBody>
          <a:bodyPr>
            <a:normAutofit/>
          </a:bodyPr>
          <a:lstStyle/>
          <a:p>
            <a:pPr>
              <a:lnSpc>
                <a:spcPct val="120000"/>
              </a:lnSpc>
            </a:pPr>
            <a:r>
              <a:rPr kumimoji="1" lang="zh-CN" altLang="en-US" dirty="0"/>
              <a:t>页面调入策略</a:t>
            </a:r>
            <a:endParaRPr lang="zh-CN" altLang="en-US" dirty="0"/>
          </a:p>
          <a:p>
            <a:pPr lvl="1">
              <a:buFont typeface="Wingdings" panose="05000000000000000000" pitchFamily="2" charset="2"/>
              <a:buChar char="ü"/>
            </a:pPr>
            <a:r>
              <a:rPr kumimoji="1" lang="zh-CN" altLang="en-US" dirty="0"/>
              <a:t>页面调入过程</a:t>
            </a:r>
            <a:endParaRPr kumimoji="1" lang="en-US" altLang="zh-CN" dirty="0"/>
          </a:p>
          <a:p>
            <a:pPr marL="914400" lvl="2" indent="0" algn="just">
              <a:buNone/>
            </a:pPr>
            <a:r>
              <a:rPr kumimoji="1" lang="zh-CN" altLang="en-US" dirty="0"/>
              <a:t>每当程序所要访问的页面未在内存时</a:t>
            </a:r>
            <a:r>
              <a:rPr kumimoji="1" lang="en-US" altLang="zh-CN" dirty="0"/>
              <a:t>(</a:t>
            </a:r>
            <a:r>
              <a:rPr kumimoji="1" lang="zh-CN" altLang="en-US" dirty="0"/>
              <a:t>存在位为“</a:t>
            </a:r>
            <a:r>
              <a:rPr kumimoji="1" lang="en-US" altLang="zh-CN" dirty="0"/>
              <a:t>0”)</a:t>
            </a:r>
            <a:r>
              <a:rPr kumimoji="1" lang="zh-CN" altLang="en-US" dirty="0"/>
              <a:t>，便向</a:t>
            </a:r>
            <a:r>
              <a:rPr kumimoji="1" lang="en-US" altLang="zh-CN" dirty="0"/>
              <a:t>CPU</a:t>
            </a:r>
            <a:r>
              <a:rPr kumimoji="1" lang="zh-CN" altLang="en-US" dirty="0"/>
              <a:t>发出一缺页中断，中断处理程序首先保留</a:t>
            </a:r>
            <a:r>
              <a:rPr kumimoji="1" lang="en-US" altLang="zh-CN" dirty="0"/>
              <a:t>CPU</a:t>
            </a:r>
            <a:r>
              <a:rPr kumimoji="1" lang="zh-CN" altLang="en-US" dirty="0"/>
              <a:t>环境，分析中断原因后转入缺页中断处理程序。</a:t>
            </a:r>
            <a:endParaRPr kumimoji="1" lang="en-US" altLang="zh-CN" dirty="0"/>
          </a:p>
          <a:p>
            <a:pPr lvl="1">
              <a:buFont typeface="Wingdings" panose="05000000000000000000" pitchFamily="2" charset="2"/>
              <a:buChar char="ü"/>
            </a:pPr>
            <a:r>
              <a:rPr kumimoji="1" lang="zh-CN" altLang="en-US" dirty="0"/>
              <a:t>缺页率</a:t>
            </a:r>
            <a:endParaRPr kumimoji="1" lang="en-US" altLang="zh-CN" dirty="0"/>
          </a:p>
          <a:p>
            <a:pPr marL="914400" lvl="2" indent="0" algn="just">
              <a:buNone/>
            </a:pPr>
            <a:r>
              <a:rPr kumimoji="1" lang="zh-CN" altLang="en-US" dirty="0"/>
              <a:t>假设进程的逻辑空间为</a:t>
            </a:r>
            <a:r>
              <a:rPr kumimoji="1" lang="en-US" altLang="zh-CN" dirty="0"/>
              <a:t>n</a:t>
            </a:r>
            <a:r>
              <a:rPr kumimoji="1" lang="zh-CN" altLang="en-US" dirty="0"/>
              <a:t>页，系统为其分配的内存物理块数为</a:t>
            </a:r>
            <a:r>
              <a:rPr kumimoji="1" lang="en-US" altLang="zh-CN" dirty="0"/>
              <a:t>m(m ≤ n)</a:t>
            </a:r>
            <a:r>
              <a:rPr kumimoji="1" lang="zh-CN" altLang="en-US" dirty="0"/>
              <a:t>。如果在进程运行过程中，访问页面成功</a:t>
            </a:r>
            <a:r>
              <a:rPr kumimoji="1" lang="en-US" altLang="zh-CN" dirty="0"/>
              <a:t>(</a:t>
            </a:r>
            <a:r>
              <a:rPr kumimoji="1" lang="zh-CN" altLang="en-US" dirty="0"/>
              <a:t>即所访问页面在内存中</a:t>
            </a:r>
            <a:r>
              <a:rPr kumimoji="1" lang="en-US" altLang="zh-CN" dirty="0"/>
              <a:t>)</a:t>
            </a:r>
            <a:r>
              <a:rPr kumimoji="1" lang="zh-CN" altLang="en-US" dirty="0"/>
              <a:t>的次数为</a:t>
            </a:r>
            <a:r>
              <a:rPr kumimoji="1" lang="en-US" altLang="zh-CN" dirty="0"/>
              <a:t>S</a:t>
            </a:r>
            <a:r>
              <a:rPr kumimoji="1" lang="zh-CN" altLang="en-US" dirty="0"/>
              <a:t>，访问页面失败</a:t>
            </a:r>
            <a:r>
              <a:rPr kumimoji="1" lang="en-US" altLang="zh-CN" dirty="0"/>
              <a:t>(</a:t>
            </a:r>
            <a:r>
              <a:rPr kumimoji="1" lang="zh-CN" altLang="en-US" dirty="0"/>
              <a:t>即所访问页面不在内存中，需要从外存调入</a:t>
            </a:r>
            <a:r>
              <a:rPr kumimoji="1" lang="en-US" altLang="zh-CN" dirty="0"/>
              <a:t>)</a:t>
            </a:r>
            <a:r>
              <a:rPr kumimoji="1" lang="zh-CN" altLang="en-US" dirty="0"/>
              <a:t>的次数为</a:t>
            </a:r>
            <a:r>
              <a:rPr kumimoji="1" lang="en-US" altLang="zh-CN" dirty="0"/>
              <a:t>F</a:t>
            </a:r>
            <a:r>
              <a:rPr kumimoji="1" lang="zh-CN" altLang="en-US" dirty="0"/>
              <a:t>，则该进程总的页面访问次数为</a:t>
            </a:r>
            <a:r>
              <a:rPr kumimoji="1" lang="en-US" altLang="zh-CN" dirty="0"/>
              <a:t>A = S+F</a:t>
            </a:r>
            <a:r>
              <a:rPr kumimoji="1" lang="zh-CN" altLang="en-US" dirty="0"/>
              <a:t>，那么该进程在其运行过程中的缺页率即为：</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graphicFrame>
        <p:nvGraphicFramePr>
          <p:cNvPr id="5" name="Object 4">
            <a:extLst>
              <a:ext uri="{FF2B5EF4-FFF2-40B4-BE49-F238E27FC236}">
                <a16:creationId xmlns:a16="http://schemas.microsoft.com/office/drawing/2014/main" id="{29FE6058-F8DD-4482-8728-7A568C41B377}"/>
              </a:ext>
            </a:extLst>
          </p:cNvPr>
          <p:cNvGraphicFramePr>
            <a:graphicFrameLocks noChangeAspect="1"/>
          </p:cNvGraphicFramePr>
          <p:nvPr>
            <p:extLst>
              <p:ext uri="{D42A27DB-BD31-4B8C-83A1-F6EECF244321}">
                <p14:modId xmlns:p14="http://schemas.microsoft.com/office/powerpoint/2010/main" val="3490229785"/>
              </p:ext>
            </p:extLst>
          </p:nvPr>
        </p:nvGraphicFramePr>
        <p:xfrm>
          <a:off x="7803186" y="5347243"/>
          <a:ext cx="686187" cy="651027"/>
        </p:xfrm>
        <a:graphic>
          <a:graphicData uri="http://schemas.openxmlformats.org/presentationml/2006/ole">
            <mc:AlternateContent xmlns:mc="http://schemas.openxmlformats.org/markup-compatibility/2006">
              <mc:Choice xmlns:v="urn:schemas-microsoft-com:vml" Requires="v">
                <p:oleObj name="公式" r:id="rId2" imgW="368140" imgH="355446" progId="Equation.3">
                  <p:embed/>
                </p:oleObj>
              </mc:Choice>
              <mc:Fallback>
                <p:oleObj name="公式" r:id="rId2" imgW="368140" imgH="355446" progId="Equation.3">
                  <p:embed/>
                  <p:pic>
                    <p:nvPicPr>
                      <p:cNvPr id="735236" name="Object 4">
                        <a:extLst>
                          <a:ext uri="{FF2B5EF4-FFF2-40B4-BE49-F238E27FC236}">
                            <a16:creationId xmlns:a16="http://schemas.microsoft.com/office/drawing/2014/main" id="{35693A4E-2151-4C69-99A0-6901774BEE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03186" y="5347243"/>
                        <a:ext cx="686187" cy="651027"/>
                      </a:xfrm>
                      <a:prstGeom prst="rect">
                        <a:avLst/>
                      </a:prstGeom>
                      <a:noFill/>
                    </p:spPr>
                  </p:pic>
                </p:oleObj>
              </mc:Fallback>
            </mc:AlternateContent>
          </a:graphicData>
        </a:graphic>
      </p:graphicFrame>
    </p:spTree>
    <p:extLst>
      <p:ext uri="{BB962C8B-B14F-4D97-AF65-F5344CB8AC3E}">
        <p14:creationId xmlns:p14="http://schemas.microsoft.com/office/powerpoint/2010/main" val="3317606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请求分页存储管理方式</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7"/>
            <a:ext cx="10515600" cy="5471933"/>
          </a:xfrm>
        </p:spPr>
        <p:txBody>
          <a:bodyPr>
            <a:normAutofit/>
          </a:bodyPr>
          <a:lstStyle/>
          <a:p>
            <a:pPr>
              <a:lnSpc>
                <a:spcPct val="120000"/>
              </a:lnSpc>
            </a:pPr>
            <a:r>
              <a:rPr kumimoji="1" lang="zh-CN" altLang="en-US" dirty="0"/>
              <a:t>页面调入策略</a:t>
            </a:r>
            <a:endParaRPr lang="zh-CN" altLang="en-US" dirty="0"/>
          </a:p>
          <a:p>
            <a:pPr lvl="1">
              <a:buFont typeface="Wingdings" panose="05000000000000000000" pitchFamily="2" charset="2"/>
              <a:buChar char="ü"/>
            </a:pPr>
            <a:r>
              <a:rPr kumimoji="1" lang="zh-CN" altLang="en-US" dirty="0"/>
              <a:t>缺页率</a:t>
            </a:r>
            <a:endParaRPr kumimoji="1" lang="en-US" altLang="zh-CN" dirty="0"/>
          </a:p>
          <a:p>
            <a:pPr marL="914400" lvl="2" indent="0" algn="just">
              <a:buNone/>
            </a:pPr>
            <a:r>
              <a:rPr kumimoji="1" lang="zh-CN" altLang="en-US" dirty="0"/>
              <a:t>在缺页中断处理时，当由于空间不足，需要置换部分页面到外存时，选择被置换页面还需要考虑到置换代价，如页面是否被修改过。没有修改过的页面可以直接放弃，而修改过的页面则必须进行保存，所以处理这两种情况时的时间也是不同的。假设被置换的页面被修改的概率是</a:t>
            </a:r>
            <a:r>
              <a:rPr kumimoji="1" lang="en-US" altLang="zh-CN" dirty="0"/>
              <a:t>β</a:t>
            </a:r>
            <a:r>
              <a:rPr kumimoji="1" lang="zh-CN" altLang="en-US" dirty="0"/>
              <a:t>，其缺页中断处理时间为</a:t>
            </a:r>
            <a:r>
              <a:rPr kumimoji="1" lang="en-US" altLang="zh-CN" dirty="0"/>
              <a:t>t</a:t>
            </a:r>
            <a:r>
              <a:rPr kumimoji="1" lang="en-US" altLang="zh-CN" baseline="-25000" dirty="0"/>
              <a:t>a</a:t>
            </a:r>
            <a:r>
              <a:rPr kumimoji="1" lang="zh-CN" altLang="en-US" dirty="0"/>
              <a:t>，被置换页面没有被修改的缺页中断时间为</a:t>
            </a:r>
            <a:r>
              <a:rPr kumimoji="1" lang="en-US" altLang="zh-CN" dirty="0"/>
              <a:t>t</a:t>
            </a:r>
            <a:r>
              <a:rPr kumimoji="1" lang="en-US" altLang="zh-CN" baseline="-25000" dirty="0"/>
              <a:t>b</a:t>
            </a:r>
            <a:r>
              <a:rPr kumimoji="1" lang="zh-CN" altLang="en-US" dirty="0"/>
              <a:t>，那么，缺页中断处理时间的计算公式为：</a:t>
            </a:r>
            <a:r>
              <a:rPr kumimoji="1" lang="fr-FR" altLang="zh-CN" dirty="0"/>
              <a:t>t=β×t</a:t>
            </a:r>
            <a:r>
              <a:rPr kumimoji="1" lang="fr-FR" altLang="zh-CN" baseline="-25000" dirty="0"/>
              <a:t>a</a:t>
            </a:r>
            <a:r>
              <a:rPr kumimoji="1" lang="fr-FR" altLang="zh-CN" dirty="0"/>
              <a:t>+(1—β)×t</a:t>
            </a:r>
            <a:r>
              <a:rPr kumimoji="1" lang="fr-FR" altLang="zh-CN" baseline="-25000" dirty="0"/>
              <a:t>b</a:t>
            </a:r>
            <a:endParaRPr kumimoji="1" lang="en-US" altLang="zh-CN" baseline="-25000"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3370586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页面置换算法</a:t>
            </a:r>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8" name="文本框 7">
            <a:extLst>
              <a:ext uri="{FF2B5EF4-FFF2-40B4-BE49-F238E27FC236}">
                <a16:creationId xmlns:a16="http://schemas.microsoft.com/office/drawing/2014/main" id="{EC875FD8-D6E7-490D-B428-3DB5B8B95566}"/>
              </a:ext>
            </a:extLst>
          </p:cNvPr>
          <p:cNvSpPr txBox="1"/>
          <p:nvPr/>
        </p:nvSpPr>
        <p:spPr>
          <a:xfrm>
            <a:off x="436419" y="1706756"/>
            <a:ext cx="11319162" cy="1938992"/>
          </a:xfrm>
          <a:prstGeom prst="rect">
            <a:avLst/>
          </a:prstGeom>
          <a:noFill/>
        </p:spPr>
        <p:txBody>
          <a:bodyPr wrap="square">
            <a:spAutoFit/>
          </a:bodyPr>
          <a:lstStyle/>
          <a:p>
            <a:pPr algn="just"/>
            <a:r>
              <a:rPr lang="zh-CN" altLang="en-US" sz="2400" dirty="0">
                <a:solidFill>
                  <a:schemeClr val="accent3">
                    <a:lumMod val="75000"/>
                  </a:schemeClr>
                </a:solidFill>
                <a:latin typeface="Times New Roman" panose="02020603050405020304" pitchFamily="18" charset="0"/>
                <a:cs typeface="Times New Roman" panose="02020603050405020304" pitchFamily="18" charset="0"/>
              </a:rPr>
              <a:t>        在进程运行过程中，若其所要访问的页面不在内存，而需把它们调入内存，但内存已无空闲空间时，为保证该进程能正常运行，系统必须从内存中调出一页程序或数据送到磁盘的对换区中。但应将哪个页面调出，须根据一定的算法来确定。通常，把选择换出页面的算法称为页面置换算法</a:t>
            </a:r>
            <a:r>
              <a:rPr lang="en-US" altLang="zh-CN" sz="2400" dirty="0">
                <a:solidFill>
                  <a:schemeClr val="accent3">
                    <a:lumMod val="75000"/>
                  </a:schemeClr>
                </a:solidFill>
                <a:latin typeface="Times New Roman" panose="02020603050405020304" pitchFamily="18" charset="0"/>
                <a:cs typeface="Times New Roman" panose="02020603050405020304" pitchFamily="18" charset="0"/>
              </a:rPr>
              <a:t>(Page-Replacement Algorithms)</a:t>
            </a:r>
            <a:r>
              <a:rPr lang="zh-CN" altLang="en-US" sz="2400" dirty="0">
                <a:solidFill>
                  <a:schemeClr val="accent3">
                    <a:lumMod val="75000"/>
                  </a:schemeClr>
                </a:solidFill>
                <a:latin typeface="Times New Roman" panose="02020603050405020304" pitchFamily="18" charset="0"/>
                <a:cs typeface="Times New Roman" panose="02020603050405020304" pitchFamily="18" charset="0"/>
              </a:rPr>
              <a:t>。置换算法的好坏将直接影响到系统的性能。</a:t>
            </a:r>
          </a:p>
        </p:txBody>
      </p:sp>
    </p:spTree>
    <p:extLst>
      <p:ext uri="{BB962C8B-B14F-4D97-AF65-F5344CB8AC3E}">
        <p14:creationId xmlns:p14="http://schemas.microsoft.com/office/powerpoint/2010/main" val="29380625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页面置换算法</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7"/>
            <a:ext cx="10515600" cy="5471933"/>
          </a:xfrm>
        </p:spPr>
        <p:txBody>
          <a:bodyPr>
            <a:normAutofit/>
          </a:bodyPr>
          <a:lstStyle/>
          <a:p>
            <a:pPr>
              <a:lnSpc>
                <a:spcPct val="120000"/>
              </a:lnSpc>
            </a:pPr>
            <a:r>
              <a:rPr kumimoji="1" lang="zh-CN" altLang="en-US" dirty="0"/>
              <a:t>最佳置换算法和先进先出置换算法</a:t>
            </a:r>
            <a:endParaRPr lang="zh-CN" altLang="en-US" dirty="0"/>
          </a:p>
          <a:p>
            <a:pPr lvl="1">
              <a:buFont typeface="Wingdings" panose="05000000000000000000" pitchFamily="2" charset="2"/>
              <a:buChar char="ü"/>
            </a:pPr>
            <a:r>
              <a:rPr kumimoji="1" lang="zh-CN" altLang="en-US" dirty="0"/>
              <a:t>最佳</a:t>
            </a:r>
            <a:r>
              <a:rPr kumimoji="1" lang="en-US" altLang="zh-CN" dirty="0"/>
              <a:t>(Optimal)</a:t>
            </a:r>
            <a:r>
              <a:rPr kumimoji="1" lang="zh-CN" altLang="en-US" dirty="0"/>
              <a:t>置换算法</a:t>
            </a:r>
            <a:endParaRPr kumimoji="1" lang="en-US" altLang="zh-CN" dirty="0"/>
          </a:p>
          <a:p>
            <a:pPr marL="914400" lvl="2" indent="0" algn="just">
              <a:buNone/>
            </a:pPr>
            <a:r>
              <a:rPr kumimoji="1" lang="zh-CN" altLang="en-US" dirty="0"/>
              <a:t>最佳置换算法是由</a:t>
            </a:r>
            <a:r>
              <a:rPr kumimoji="1" lang="en-US" altLang="zh-CN" dirty="0"/>
              <a:t>Belady</a:t>
            </a:r>
            <a:r>
              <a:rPr kumimoji="1" lang="zh-CN" altLang="en-US" dirty="0"/>
              <a:t>于</a:t>
            </a:r>
            <a:r>
              <a:rPr kumimoji="1" lang="en-US" altLang="zh-CN" dirty="0"/>
              <a:t>1966</a:t>
            </a:r>
            <a:r>
              <a:rPr kumimoji="1" lang="zh-CN" altLang="en-US" dirty="0"/>
              <a:t>年提出的一种理论上的算法。其选择的被淘汰页面将是以后永不使用的，或许是在最长</a:t>
            </a:r>
            <a:r>
              <a:rPr kumimoji="1" lang="en-US" altLang="zh-CN" dirty="0"/>
              <a:t>(</a:t>
            </a:r>
            <a:r>
              <a:rPr kumimoji="1" lang="zh-CN" altLang="en-US" dirty="0"/>
              <a:t>未来</a:t>
            </a:r>
            <a:r>
              <a:rPr kumimoji="1" lang="en-US" altLang="zh-CN" dirty="0"/>
              <a:t>)</a:t>
            </a:r>
            <a:r>
              <a:rPr kumimoji="1" lang="zh-CN" altLang="en-US" dirty="0"/>
              <a:t>时间内不再被访问的页面。采用最佳置换算法通常可保证获得最低的缺页率。但由于人们目前还无法预知，一个进程在内存的若干个页面中，哪一个页面是未来最长时间内不再被访问的，因而该算法是无法实现的，但可以利用该算法去评价其它算法。</a:t>
            </a:r>
            <a:endParaRPr kumimoji="1" lang="en-US" altLang="zh-CN" baseline="-25000"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pic>
        <p:nvPicPr>
          <p:cNvPr id="5" name="Picture 4">
            <a:extLst>
              <a:ext uri="{FF2B5EF4-FFF2-40B4-BE49-F238E27FC236}">
                <a16:creationId xmlns:a16="http://schemas.microsoft.com/office/drawing/2014/main" id="{E6F5E4C2-113B-4D9F-9D5D-785446939C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2845" y="4734002"/>
            <a:ext cx="7632700" cy="1489075"/>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B52C9EE2-AA98-4C6C-B7CD-570A192AD809}"/>
              </a:ext>
            </a:extLst>
          </p:cNvPr>
          <p:cNvSpPr txBox="1"/>
          <p:nvPr/>
        </p:nvSpPr>
        <p:spPr>
          <a:xfrm>
            <a:off x="4854430" y="6357276"/>
            <a:ext cx="3509530" cy="400110"/>
          </a:xfrm>
          <a:prstGeom prst="rect">
            <a:avLst/>
          </a:prstGeom>
          <a:noFill/>
        </p:spPr>
        <p:txBody>
          <a:bodyPr wrap="square">
            <a:spAutoFit/>
          </a:bodyPr>
          <a:lstStyle/>
          <a:p>
            <a:r>
              <a:rPr lang="zh-CN" altLang="en-US" sz="2000" b="1" dirty="0">
                <a:latin typeface="Times New Roman" panose="02020603050405020304" pitchFamily="18" charset="0"/>
                <a:cs typeface="Times New Roman" panose="02020603050405020304" pitchFamily="18" charset="0"/>
              </a:rPr>
              <a:t>最佳页面置换算法的置换图</a:t>
            </a:r>
          </a:p>
        </p:txBody>
      </p:sp>
    </p:spTree>
    <p:extLst>
      <p:ext uri="{BB962C8B-B14F-4D97-AF65-F5344CB8AC3E}">
        <p14:creationId xmlns:p14="http://schemas.microsoft.com/office/powerpoint/2010/main" val="8670127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页面置换算法</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7"/>
            <a:ext cx="10515600" cy="5471933"/>
          </a:xfrm>
        </p:spPr>
        <p:txBody>
          <a:bodyPr>
            <a:normAutofit/>
          </a:bodyPr>
          <a:lstStyle/>
          <a:p>
            <a:pPr>
              <a:lnSpc>
                <a:spcPct val="120000"/>
              </a:lnSpc>
            </a:pPr>
            <a:r>
              <a:rPr kumimoji="1" lang="zh-CN" altLang="en-US" dirty="0"/>
              <a:t>最佳置换算法和先进先出置换算法</a:t>
            </a:r>
            <a:endParaRPr lang="zh-CN" altLang="en-US" dirty="0"/>
          </a:p>
          <a:p>
            <a:pPr lvl="1">
              <a:buFont typeface="Wingdings" panose="05000000000000000000" pitchFamily="2" charset="2"/>
              <a:buChar char="ü"/>
            </a:pPr>
            <a:r>
              <a:rPr kumimoji="1" lang="zh-CN" altLang="en-US" dirty="0"/>
              <a:t>先进先出</a:t>
            </a:r>
            <a:r>
              <a:rPr kumimoji="1" lang="en-US" altLang="zh-CN" dirty="0"/>
              <a:t>(FIFO)</a:t>
            </a:r>
            <a:r>
              <a:rPr kumimoji="1" lang="zh-CN" altLang="en-US" dirty="0"/>
              <a:t>页面置换算法</a:t>
            </a:r>
            <a:endParaRPr kumimoji="1" lang="en-US" altLang="zh-CN" dirty="0"/>
          </a:p>
          <a:p>
            <a:pPr marL="914400" lvl="2" indent="0" algn="just">
              <a:buNone/>
            </a:pPr>
            <a:r>
              <a:rPr kumimoji="1" lang="en-US" altLang="zh-CN" dirty="0"/>
              <a:t>FIFO</a:t>
            </a:r>
            <a:r>
              <a:rPr kumimoji="1" lang="zh-CN" altLang="en-US" dirty="0"/>
              <a:t>算法是最早出现的置换算法。该算法总是淘汰最先进入内存的页面，即选择在内存中驻留时间最久的页面予以淘汰。该算法实现简单，只需把一个进程已调入内存的页面按先后次序链接成一个队列，并设置一个指针，称为替换指针，使它总是指向最老的页面。但该算法与进程实际运行的规律不相适应，因为在进程中，有些页面经常被访问，比如，含有全局变量、常用函数、例程等的页面，</a:t>
            </a:r>
            <a:r>
              <a:rPr kumimoji="1" lang="en-US" altLang="zh-CN" dirty="0"/>
              <a:t>FIFO</a:t>
            </a:r>
            <a:r>
              <a:rPr kumimoji="1" lang="zh-CN" altLang="en-US" dirty="0"/>
              <a:t>算法并不能保证这些页面不被淘汰。</a:t>
            </a:r>
            <a:endParaRPr kumimoji="1" lang="en-US" altLang="zh-CN" baseline="-25000"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7" name="文本框 6">
            <a:extLst>
              <a:ext uri="{FF2B5EF4-FFF2-40B4-BE49-F238E27FC236}">
                <a16:creationId xmlns:a16="http://schemas.microsoft.com/office/drawing/2014/main" id="{B52C9EE2-AA98-4C6C-B7CD-570A192AD809}"/>
              </a:ext>
            </a:extLst>
          </p:cNvPr>
          <p:cNvSpPr txBox="1"/>
          <p:nvPr/>
        </p:nvSpPr>
        <p:spPr>
          <a:xfrm>
            <a:off x="4854429" y="6364781"/>
            <a:ext cx="3509530" cy="400110"/>
          </a:xfrm>
          <a:prstGeom prst="rect">
            <a:avLst/>
          </a:prstGeom>
          <a:noFill/>
        </p:spPr>
        <p:txBody>
          <a:bodyPr wrap="square">
            <a:spAutoFit/>
          </a:bodyPr>
          <a:lstStyle/>
          <a:p>
            <a:r>
              <a:rPr lang="en-US" altLang="zh-CN" sz="2000" b="1" dirty="0">
                <a:latin typeface="Times New Roman" panose="02020603050405020304" pitchFamily="18" charset="0"/>
                <a:cs typeface="Times New Roman" panose="02020603050405020304" pitchFamily="18" charset="0"/>
              </a:rPr>
              <a:t>FIFO</a:t>
            </a:r>
            <a:r>
              <a:rPr lang="zh-CN" altLang="en-US" sz="2000" b="1" dirty="0">
                <a:latin typeface="Times New Roman" panose="02020603050405020304" pitchFamily="18" charset="0"/>
                <a:cs typeface="Times New Roman" panose="02020603050405020304" pitchFamily="18" charset="0"/>
              </a:rPr>
              <a:t>置换算法的置换图</a:t>
            </a:r>
          </a:p>
        </p:txBody>
      </p:sp>
      <p:pic>
        <p:nvPicPr>
          <p:cNvPr id="8" name="Picture 4">
            <a:extLst>
              <a:ext uri="{FF2B5EF4-FFF2-40B4-BE49-F238E27FC236}">
                <a16:creationId xmlns:a16="http://schemas.microsoft.com/office/drawing/2014/main" id="{B54CE6D9-B4E9-436C-BB12-09752F7806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37307" y="5071401"/>
            <a:ext cx="7343775" cy="1285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11102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页面置换算法</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7"/>
            <a:ext cx="10515600" cy="5471933"/>
          </a:xfrm>
        </p:spPr>
        <p:txBody>
          <a:bodyPr>
            <a:normAutofit/>
          </a:bodyPr>
          <a:lstStyle/>
          <a:p>
            <a:pPr>
              <a:lnSpc>
                <a:spcPct val="120000"/>
              </a:lnSpc>
            </a:pPr>
            <a:r>
              <a:rPr kumimoji="1" lang="zh-CN" altLang="en-US" dirty="0"/>
              <a:t>最近最久未使用和最少使用置换算法</a:t>
            </a:r>
            <a:endParaRPr lang="zh-CN" altLang="en-US" dirty="0"/>
          </a:p>
          <a:p>
            <a:pPr lvl="1">
              <a:buFont typeface="Wingdings" panose="05000000000000000000" pitchFamily="2" charset="2"/>
              <a:buChar char="ü"/>
            </a:pPr>
            <a:r>
              <a:rPr kumimoji="1" lang="en-US" altLang="zh-CN" dirty="0"/>
              <a:t>LRU(Least Recently Used)</a:t>
            </a:r>
            <a:r>
              <a:rPr kumimoji="1" lang="zh-CN" altLang="en-US" dirty="0"/>
              <a:t>置换算法的描述</a:t>
            </a:r>
            <a:endParaRPr kumimoji="1" lang="en-US" altLang="zh-CN" dirty="0"/>
          </a:p>
          <a:p>
            <a:pPr marL="914400" lvl="2" indent="0" algn="just">
              <a:buNone/>
            </a:pPr>
            <a:r>
              <a:rPr kumimoji="1" lang="en-US" altLang="zh-CN" dirty="0"/>
              <a:t>FIFO</a:t>
            </a:r>
            <a:r>
              <a:rPr kumimoji="1" lang="zh-CN" altLang="en-US" dirty="0"/>
              <a:t>置换算法的性能之所以较差，是因为它所依据的条件是各个页面调入内存的时间，而页面调入的先后并不能反映页面的使用情况。最近最久未使用</a:t>
            </a:r>
            <a:r>
              <a:rPr kumimoji="1" lang="en-US" altLang="zh-CN" dirty="0"/>
              <a:t>(LRU)</a:t>
            </a:r>
            <a:r>
              <a:rPr kumimoji="1" lang="zh-CN" altLang="en-US" dirty="0"/>
              <a:t>的页面置换算法是根据页面调入内存后的使用情况做出决策的。</a:t>
            </a:r>
            <a:endParaRPr kumimoji="1" lang="en-US" altLang="zh-CN" baseline="-25000"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7" name="文本框 6">
            <a:extLst>
              <a:ext uri="{FF2B5EF4-FFF2-40B4-BE49-F238E27FC236}">
                <a16:creationId xmlns:a16="http://schemas.microsoft.com/office/drawing/2014/main" id="{B52C9EE2-AA98-4C6C-B7CD-570A192AD809}"/>
              </a:ext>
            </a:extLst>
          </p:cNvPr>
          <p:cNvSpPr txBox="1"/>
          <p:nvPr/>
        </p:nvSpPr>
        <p:spPr>
          <a:xfrm>
            <a:off x="5054671" y="5730576"/>
            <a:ext cx="2450380" cy="400110"/>
          </a:xfrm>
          <a:prstGeom prst="rect">
            <a:avLst/>
          </a:prstGeom>
          <a:noFill/>
        </p:spPr>
        <p:txBody>
          <a:bodyPr wrap="square">
            <a:spAutoFit/>
          </a:bodyPr>
          <a:lstStyle/>
          <a:p>
            <a:r>
              <a:rPr lang="en-US" altLang="zh-CN" sz="2000" b="1" dirty="0">
                <a:latin typeface="Times New Roman" panose="02020603050405020304" pitchFamily="18" charset="0"/>
                <a:cs typeface="Times New Roman" panose="02020603050405020304" pitchFamily="18" charset="0"/>
              </a:rPr>
              <a:t>LRU</a:t>
            </a:r>
            <a:r>
              <a:rPr lang="zh-CN" altLang="en-US" sz="2000" b="1" dirty="0">
                <a:latin typeface="Times New Roman" panose="02020603050405020304" pitchFamily="18" charset="0"/>
                <a:cs typeface="Times New Roman" panose="02020603050405020304" pitchFamily="18" charset="0"/>
              </a:rPr>
              <a:t>页面置换算法</a:t>
            </a:r>
          </a:p>
        </p:txBody>
      </p:sp>
      <p:pic>
        <p:nvPicPr>
          <p:cNvPr id="9" name="Picture 4">
            <a:extLst>
              <a:ext uri="{FF2B5EF4-FFF2-40B4-BE49-F238E27FC236}">
                <a16:creationId xmlns:a16="http://schemas.microsoft.com/office/drawing/2014/main" id="{2C7BDD69-8B06-4373-93A2-7B214E077C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5924" y="4157518"/>
            <a:ext cx="7127875" cy="1306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540772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页面置换算法</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48447" y="1274398"/>
            <a:ext cx="10747664" cy="5471933"/>
          </a:xfrm>
        </p:spPr>
        <p:txBody>
          <a:bodyPr>
            <a:normAutofit/>
          </a:bodyPr>
          <a:lstStyle/>
          <a:p>
            <a:pPr>
              <a:lnSpc>
                <a:spcPct val="120000"/>
              </a:lnSpc>
            </a:pPr>
            <a:r>
              <a:rPr kumimoji="1" lang="zh-CN" altLang="en-US" dirty="0"/>
              <a:t>最近最久未使用和最少使用置换算法</a:t>
            </a:r>
            <a:endParaRPr lang="zh-CN" altLang="en-US" dirty="0"/>
          </a:p>
          <a:p>
            <a:pPr lvl="1">
              <a:buFont typeface="Wingdings" panose="05000000000000000000" pitchFamily="2" charset="2"/>
              <a:buChar char="ü"/>
            </a:pPr>
            <a:r>
              <a:rPr kumimoji="1" lang="en-US" altLang="zh-CN" dirty="0"/>
              <a:t>LRU</a:t>
            </a:r>
            <a:r>
              <a:rPr kumimoji="1" lang="zh-CN" altLang="en-US" dirty="0"/>
              <a:t>置换算法的硬件支持</a:t>
            </a:r>
            <a:endParaRPr kumimoji="1" lang="en-US" altLang="zh-CN" dirty="0"/>
          </a:p>
          <a:p>
            <a:pPr marL="914400" lvl="2" indent="0" algn="just">
              <a:buNone/>
            </a:pPr>
            <a:r>
              <a:rPr kumimoji="1" lang="zh-CN" altLang="en-US" b="1" dirty="0">
                <a:solidFill>
                  <a:srgbClr val="FF0000"/>
                </a:solidFill>
              </a:rPr>
              <a:t>寄存器</a:t>
            </a:r>
            <a:r>
              <a:rPr kumimoji="1" lang="zh-CN" altLang="en-US" dirty="0"/>
              <a:t>：为了记录某进程在内存中各页的使用情况，须为每个在内存中的页面配置一个移位寄存器，可表示为：</a:t>
            </a:r>
            <a:r>
              <a:rPr lang="en-US" altLang="zh-CN" dirty="0"/>
              <a:t> R = R</a:t>
            </a:r>
            <a:r>
              <a:rPr lang="en-US" altLang="zh-CN" baseline="-25000" dirty="0"/>
              <a:t>n-1</a:t>
            </a:r>
            <a:r>
              <a:rPr lang="en-US" altLang="zh-CN" dirty="0"/>
              <a:t>R</a:t>
            </a:r>
            <a:r>
              <a:rPr lang="en-US" altLang="zh-CN" baseline="-25000" dirty="0"/>
              <a:t>n-2</a:t>
            </a:r>
            <a:r>
              <a:rPr lang="en-US" altLang="zh-CN" dirty="0"/>
              <a:t>R</a:t>
            </a:r>
            <a:r>
              <a:rPr lang="en-US" altLang="zh-CN" baseline="-25000" dirty="0"/>
              <a:t>n-3</a:t>
            </a:r>
            <a:r>
              <a:rPr lang="en-US" altLang="zh-CN" dirty="0"/>
              <a:t> … R</a:t>
            </a:r>
            <a:r>
              <a:rPr lang="en-US" altLang="zh-CN" baseline="-25000" dirty="0"/>
              <a:t>2</a:t>
            </a:r>
            <a:r>
              <a:rPr lang="en-US" altLang="zh-CN" dirty="0"/>
              <a:t>R</a:t>
            </a:r>
            <a:r>
              <a:rPr lang="en-US" altLang="zh-CN" baseline="-25000" dirty="0"/>
              <a:t>1</a:t>
            </a:r>
            <a:r>
              <a:rPr lang="en-US" altLang="zh-CN" dirty="0"/>
              <a:t>R</a:t>
            </a:r>
            <a:r>
              <a:rPr lang="en-US" altLang="zh-CN" baseline="-25000" dirty="0"/>
              <a:t>0</a:t>
            </a:r>
            <a:r>
              <a:rPr kumimoji="1" lang="zh-CN" altLang="en-US" dirty="0"/>
              <a:t>。</a:t>
            </a:r>
            <a:endParaRPr kumimoji="1" lang="en-US" altLang="zh-CN" dirty="0"/>
          </a:p>
          <a:p>
            <a:pPr marL="914400" lvl="2" indent="0" algn="just">
              <a:buNone/>
            </a:pPr>
            <a:r>
              <a:rPr kumimoji="1" lang="zh-CN" altLang="en-US" dirty="0"/>
              <a:t>当进程访问某物理块时，将相应寄存器的</a:t>
            </a:r>
            <a:r>
              <a:rPr kumimoji="1" lang="en-US" altLang="zh-CN" dirty="0"/>
              <a:t>R</a:t>
            </a:r>
            <a:r>
              <a:rPr kumimoji="1" lang="en-US" altLang="zh-CN" baseline="-25000" dirty="0"/>
              <a:t>n-1</a:t>
            </a:r>
            <a:r>
              <a:rPr kumimoji="1" lang="zh-CN" altLang="en-US" dirty="0"/>
              <a:t>位置成</a:t>
            </a:r>
            <a:r>
              <a:rPr kumimoji="1" lang="en-US" altLang="zh-CN" dirty="0"/>
              <a:t>1</a:t>
            </a:r>
            <a:r>
              <a:rPr kumimoji="1" lang="zh-CN" altLang="en-US" dirty="0"/>
              <a:t>。此时，定时信号将每隔一定时间</a:t>
            </a:r>
            <a:r>
              <a:rPr kumimoji="1" lang="en-US" altLang="zh-CN" dirty="0"/>
              <a:t>(</a:t>
            </a:r>
            <a:r>
              <a:rPr kumimoji="1" lang="zh-CN" altLang="en-US" dirty="0"/>
              <a:t>如</a:t>
            </a:r>
            <a:r>
              <a:rPr kumimoji="1" lang="en-US" altLang="zh-CN" dirty="0"/>
              <a:t>100ms)</a:t>
            </a:r>
            <a:r>
              <a:rPr kumimoji="1" lang="zh-CN" altLang="en-US" dirty="0"/>
              <a:t>将寄存器右移</a:t>
            </a:r>
            <a:r>
              <a:rPr kumimoji="1" lang="en-US" altLang="zh-CN" dirty="0"/>
              <a:t>1</a:t>
            </a:r>
            <a:r>
              <a:rPr kumimoji="1" lang="zh-CN" altLang="en-US" dirty="0"/>
              <a:t>位。如果我们把</a:t>
            </a:r>
            <a:r>
              <a:rPr kumimoji="1" lang="en-US" altLang="zh-CN" dirty="0"/>
              <a:t>n</a:t>
            </a:r>
            <a:r>
              <a:rPr kumimoji="1" lang="zh-CN" altLang="en-US" dirty="0"/>
              <a:t>位寄存器的数看作是一个整数，那么具有最小数值的寄存器所对应的页面，就是最近最久未使用的页面。</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pic>
        <p:nvPicPr>
          <p:cNvPr id="8" name="Picture 4">
            <a:extLst>
              <a:ext uri="{FF2B5EF4-FFF2-40B4-BE49-F238E27FC236}">
                <a16:creationId xmlns:a16="http://schemas.microsoft.com/office/drawing/2014/main" id="{5FE286E5-A4A3-4ED1-AAF0-6D2A8AFF44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4472999" y="4361365"/>
            <a:ext cx="7123112" cy="2444473"/>
          </a:xfrm>
          <a:prstGeom prst="rect">
            <a:avLst/>
          </a:prstGeom>
          <a:noFill/>
          <a:extLs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sp>
        <p:nvSpPr>
          <p:cNvPr id="10" name="文本框 9">
            <a:extLst>
              <a:ext uri="{FF2B5EF4-FFF2-40B4-BE49-F238E27FC236}">
                <a16:creationId xmlns:a16="http://schemas.microsoft.com/office/drawing/2014/main" id="{0C77A9B3-D91D-4573-A495-6E32426286A7}"/>
              </a:ext>
            </a:extLst>
          </p:cNvPr>
          <p:cNvSpPr txBox="1"/>
          <p:nvPr/>
        </p:nvSpPr>
        <p:spPr>
          <a:xfrm>
            <a:off x="2552556" y="5229658"/>
            <a:ext cx="2376921" cy="707886"/>
          </a:xfrm>
          <a:prstGeom prst="rect">
            <a:avLst/>
          </a:prstGeom>
          <a:noFill/>
        </p:spPr>
        <p:txBody>
          <a:bodyPr wrap="square">
            <a:spAutoFit/>
          </a:bodyPr>
          <a:lstStyle/>
          <a:p>
            <a:r>
              <a:rPr lang="zh-CN" altLang="en-US" sz="2000" b="1" dirty="0">
                <a:solidFill>
                  <a:schemeClr val="bg2">
                    <a:lumMod val="25000"/>
                  </a:schemeClr>
                </a:solidFill>
                <a:latin typeface="Times New Roman" panose="02020603050405020304" pitchFamily="18" charset="0"/>
                <a:cs typeface="Times New Roman" panose="02020603050405020304" pitchFamily="18" charset="0"/>
              </a:rPr>
              <a:t>某进程具有</a:t>
            </a:r>
            <a:r>
              <a:rPr lang="en-US" altLang="zh-CN" sz="2000" b="1" dirty="0">
                <a:solidFill>
                  <a:schemeClr val="bg2">
                    <a:lumMod val="25000"/>
                  </a:schemeClr>
                </a:solidFill>
                <a:latin typeface="Times New Roman" panose="02020603050405020304" pitchFamily="18" charset="0"/>
                <a:cs typeface="Times New Roman" panose="02020603050405020304" pitchFamily="18" charset="0"/>
              </a:rPr>
              <a:t>8</a:t>
            </a:r>
            <a:r>
              <a:rPr lang="zh-CN" altLang="en-US" sz="2000" b="1" dirty="0">
                <a:solidFill>
                  <a:schemeClr val="bg2">
                    <a:lumMod val="25000"/>
                  </a:schemeClr>
                </a:solidFill>
                <a:latin typeface="Times New Roman" panose="02020603050405020304" pitchFamily="18" charset="0"/>
                <a:cs typeface="Times New Roman" panose="02020603050405020304" pitchFamily="18" charset="0"/>
              </a:rPr>
              <a:t>个页面时的</a:t>
            </a:r>
            <a:r>
              <a:rPr lang="en-US" altLang="zh-CN" sz="2000" b="1" dirty="0">
                <a:solidFill>
                  <a:schemeClr val="bg2">
                    <a:lumMod val="25000"/>
                  </a:schemeClr>
                </a:solidFill>
                <a:latin typeface="Times New Roman" panose="02020603050405020304" pitchFamily="18" charset="0"/>
                <a:cs typeface="Times New Roman" panose="02020603050405020304" pitchFamily="18" charset="0"/>
              </a:rPr>
              <a:t>LRU</a:t>
            </a:r>
            <a:r>
              <a:rPr lang="zh-CN" altLang="en-US" sz="2000" b="1" dirty="0">
                <a:solidFill>
                  <a:schemeClr val="bg2">
                    <a:lumMod val="25000"/>
                  </a:schemeClr>
                </a:solidFill>
                <a:latin typeface="Times New Roman" panose="02020603050405020304" pitchFamily="18" charset="0"/>
                <a:cs typeface="Times New Roman" panose="02020603050405020304" pitchFamily="18" charset="0"/>
              </a:rPr>
              <a:t>访问情况</a:t>
            </a:r>
          </a:p>
        </p:txBody>
      </p:sp>
    </p:spTree>
    <p:extLst>
      <p:ext uri="{BB962C8B-B14F-4D97-AF65-F5344CB8AC3E}">
        <p14:creationId xmlns:p14="http://schemas.microsoft.com/office/powerpoint/2010/main" val="29309774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页面置换算法</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7"/>
            <a:ext cx="10515600" cy="5471933"/>
          </a:xfrm>
        </p:spPr>
        <p:txBody>
          <a:bodyPr>
            <a:normAutofit/>
          </a:bodyPr>
          <a:lstStyle/>
          <a:p>
            <a:pPr>
              <a:lnSpc>
                <a:spcPct val="120000"/>
              </a:lnSpc>
            </a:pPr>
            <a:r>
              <a:rPr kumimoji="1" lang="zh-CN" altLang="en-US" dirty="0"/>
              <a:t>最近最久未使用和最少使用置换算法</a:t>
            </a:r>
            <a:endParaRPr lang="zh-CN" altLang="en-US" dirty="0"/>
          </a:p>
          <a:p>
            <a:pPr lvl="1">
              <a:buFont typeface="Wingdings" panose="05000000000000000000" pitchFamily="2" charset="2"/>
              <a:buChar char="ü"/>
            </a:pPr>
            <a:r>
              <a:rPr kumimoji="1" lang="en-US" altLang="zh-CN" dirty="0"/>
              <a:t>LRU</a:t>
            </a:r>
            <a:r>
              <a:rPr kumimoji="1" lang="zh-CN" altLang="en-US" dirty="0"/>
              <a:t>置换算法的硬件支持</a:t>
            </a:r>
          </a:p>
          <a:p>
            <a:pPr marL="914400" lvl="2" indent="0" algn="just">
              <a:buNone/>
            </a:pPr>
            <a:r>
              <a:rPr kumimoji="1" lang="zh-CN" altLang="en-US" dirty="0"/>
              <a:t>栈：可利用一个特殊的栈保存当前使用的各个页面的页面号。每当进程访问某页面时，便将该页面的页面号从栈中移出，将它压入栈顶。因此，栈顶始终是最新被访问页面的编号，而栈底则是最近最久未使用页面的页面号。假定现有一进程，它分有五个物理块，所访问的页面的页面号序列为：</a:t>
            </a:r>
            <a:r>
              <a:rPr kumimoji="1" lang="en-US" altLang="zh-CN" dirty="0"/>
              <a:t>4</a:t>
            </a:r>
            <a:r>
              <a:rPr kumimoji="1" lang="zh-CN" altLang="en-US" dirty="0"/>
              <a:t>，</a:t>
            </a:r>
            <a:r>
              <a:rPr kumimoji="1" lang="en-US" altLang="zh-CN" dirty="0"/>
              <a:t>7</a:t>
            </a:r>
            <a:r>
              <a:rPr kumimoji="1" lang="zh-CN" altLang="en-US" dirty="0"/>
              <a:t>，</a:t>
            </a:r>
            <a:r>
              <a:rPr kumimoji="1" lang="en-US" altLang="zh-CN" dirty="0"/>
              <a:t>0</a:t>
            </a:r>
            <a:r>
              <a:rPr kumimoji="1" lang="zh-CN" altLang="en-US" dirty="0"/>
              <a:t>，</a:t>
            </a:r>
            <a:r>
              <a:rPr kumimoji="1" lang="en-US" altLang="zh-CN" dirty="0"/>
              <a:t>7</a:t>
            </a:r>
            <a:r>
              <a:rPr kumimoji="1" lang="zh-CN" altLang="en-US" dirty="0"/>
              <a:t>，</a:t>
            </a:r>
            <a:r>
              <a:rPr kumimoji="1" lang="en-US" altLang="zh-CN" dirty="0"/>
              <a:t>1</a:t>
            </a:r>
            <a:r>
              <a:rPr kumimoji="1" lang="zh-CN" altLang="en-US" dirty="0"/>
              <a:t>，</a:t>
            </a:r>
            <a:r>
              <a:rPr kumimoji="1" lang="en-US" altLang="zh-CN" dirty="0"/>
              <a:t>0</a:t>
            </a:r>
            <a:r>
              <a:rPr kumimoji="1" lang="zh-CN" altLang="en-US" dirty="0"/>
              <a:t>，</a:t>
            </a:r>
            <a:r>
              <a:rPr kumimoji="1" lang="en-US" altLang="zh-CN" dirty="0"/>
              <a:t>1</a:t>
            </a:r>
            <a:r>
              <a:rPr kumimoji="1" lang="zh-CN" altLang="en-US" dirty="0"/>
              <a:t>，</a:t>
            </a:r>
            <a:r>
              <a:rPr kumimoji="1" lang="en-US" altLang="zh-CN" dirty="0"/>
              <a:t>2</a:t>
            </a:r>
            <a:r>
              <a:rPr kumimoji="1" lang="zh-CN" altLang="en-US" dirty="0"/>
              <a:t>，</a:t>
            </a:r>
            <a:r>
              <a:rPr kumimoji="1" lang="en-US" altLang="zh-CN" dirty="0"/>
              <a:t>1</a:t>
            </a:r>
            <a:r>
              <a:rPr kumimoji="1" lang="zh-CN" altLang="en-US" dirty="0"/>
              <a:t>，</a:t>
            </a:r>
            <a:r>
              <a:rPr kumimoji="1" lang="en-US" altLang="zh-CN" dirty="0"/>
              <a:t>2</a:t>
            </a:r>
            <a:r>
              <a:rPr kumimoji="1" lang="zh-CN" altLang="en-US" dirty="0"/>
              <a:t>，</a:t>
            </a:r>
            <a:r>
              <a:rPr kumimoji="1" lang="en-US" altLang="zh-CN" dirty="0"/>
              <a:t>6</a:t>
            </a:r>
            <a:r>
              <a:rPr kumimoji="1" lang="zh-CN" altLang="en-US" dirty="0"/>
              <a:t>。</a:t>
            </a:r>
            <a:endParaRPr kumimoji="1" lang="en-US" altLang="zh-CN" baseline="-25000"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pic>
        <p:nvPicPr>
          <p:cNvPr id="8" name="Picture 4">
            <a:extLst>
              <a:ext uri="{FF2B5EF4-FFF2-40B4-BE49-F238E27FC236}">
                <a16:creationId xmlns:a16="http://schemas.microsoft.com/office/drawing/2014/main" id="{4A7BD045-0E64-4D66-AC26-C5DE5EE300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5786" y="4248228"/>
            <a:ext cx="7272337" cy="197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9">
            <a:extLst>
              <a:ext uri="{FF2B5EF4-FFF2-40B4-BE49-F238E27FC236}">
                <a16:creationId xmlns:a16="http://schemas.microsoft.com/office/drawing/2014/main" id="{261BFEA8-6F11-4D14-AE12-26858A961054}"/>
              </a:ext>
            </a:extLst>
          </p:cNvPr>
          <p:cNvSpPr txBox="1"/>
          <p:nvPr/>
        </p:nvSpPr>
        <p:spPr>
          <a:xfrm>
            <a:off x="4401416" y="6388421"/>
            <a:ext cx="4652529" cy="400110"/>
          </a:xfrm>
          <a:prstGeom prst="rect">
            <a:avLst/>
          </a:prstGeom>
          <a:noFill/>
        </p:spPr>
        <p:txBody>
          <a:bodyPr wrap="square">
            <a:spAutoFit/>
          </a:bodyPr>
          <a:lstStyle/>
          <a:p>
            <a:r>
              <a:rPr lang="zh-CN" altLang="en-US" sz="2000" b="1" dirty="0">
                <a:solidFill>
                  <a:schemeClr val="bg2">
                    <a:lumMod val="25000"/>
                  </a:schemeClr>
                </a:solidFill>
                <a:latin typeface="Times New Roman" panose="02020603050405020304" pitchFamily="18" charset="0"/>
                <a:cs typeface="Times New Roman" panose="02020603050405020304" pitchFamily="18" charset="0"/>
              </a:rPr>
              <a:t>用栈保存当前使用页面时栈的变化情况</a:t>
            </a:r>
          </a:p>
        </p:txBody>
      </p:sp>
    </p:spTree>
    <p:extLst>
      <p:ext uri="{BB962C8B-B14F-4D97-AF65-F5344CB8AC3E}">
        <p14:creationId xmlns:p14="http://schemas.microsoft.com/office/powerpoint/2010/main" val="33988743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页面置换算法</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7"/>
            <a:ext cx="10515600" cy="5471933"/>
          </a:xfrm>
        </p:spPr>
        <p:txBody>
          <a:bodyPr>
            <a:normAutofit/>
          </a:bodyPr>
          <a:lstStyle/>
          <a:p>
            <a:pPr>
              <a:lnSpc>
                <a:spcPct val="120000"/>
              </a:lnSpc>
            </a:pPr>
            <a:r>
              <a:rPr kumimoji="1" lang="zh-CN" altLang="en-US" dirty="0"/>
              <a:t>最近最久未使用和最少使用置换算法</a:t>
            </a:r>
            <a:endParaRPr lang="zh-CN" altLang="en-US" dirty="0"/>
          </a:p>
          <a:p>
            <a:pPr lvl="1">
              <a:buFont typeface="Wingdings" panose="05000000000000000000" pitchFamily="2" charset="2"/>
              <a:buChar char="ü"/>
            </a:pPr>
            <a:r>
              <a:rPr kumimoji="1" lang="zh-CN" altLang="en-US" dirty="0"/>
              <a:t>最少使用</a:t>
            </a:r>
            <a:r>
              <a:rPr kumimoji="1" lang="en-US" altLang="zh-CN" dirty="0"/>
              <a:t>(Least Frequently Used</a:t>
            </a:r>
            <a:r>
              <a:rPr kumimoji="1" lang="zh-CN" altLang="en-US" dirty="0"/>
              <a:t>，</a:t>
            </a:r>
            <a:r>
              <a:rPr kumimoji="1" lang="en-US" altLang="zh-CN" dirty="0"/>
              <a:t>LFU)</a:t>
            </a:r>
            <a:r>
              <a:rPr kumimoji="1" lang="zh-CN" altLang="en-US" dirty="0"/>
              <a:t>置换算法</a:t>
            </a:r>
          </a:p>
          <a:p>
            <a:pPr marL="914400" lvl="2" indent="0" algn="just">
              <a:buNone/>
            </a:pPr>
            <a:r>
              <a:rPr kumimoji="1" lang="zh-CN" altLang="en-US" dirty="0"/>
              <a:t>在采用</a:t>
            </a:r>
            <a:r>
              <a:rPr kumimoji="1" lang="en-US" altLang="zh-CN" dirty="0"/>
              <a:t>LFU</a:t>
            </a:r>
            <a:r>
              <a:rPr kumimoji="1" lang="zh-CN" altLang="en-US" dirty="0"/>
              <a:t>算法时，应为在内存中的每个页面设置一个移位寄存器，用来记录该页面被访问的频率。该置换算法选择在最近时期使用最少的页面作为淘汰页。</a:t>
            </a:r>
            <a:endParaRPr kumimoji="1" lang="en-US" altLang="zh-CN" baseline="-25000"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25475305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页面置换算法</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7"/>
            <a:ext cx="10515600" cy="5471933"/>
          </a:xfrm>
        </p:spPr>
        <p:txBody>
          <a:bodyPr>
            <a:normAutofit/>
          </a:bodyPr>
          <a:lstStyle/>
          <a:p>
            <a:pPr>
              <a:lnSpc>
                <a:spcPct val="120000"/>
              </a:lnSpc>
            </a:pPr>
            <a:r>
              <a:rPr kumimoji="1" lang="en-US" altLang="zh-CN" dirty="0"/>
              <a:t>Clock</a:t>
            </a:r>
            <a:r>
              <a:rPr kumimoji="1" lang="zh-CN" altLang="en-US" dirty="0"/>
              <a:t>置换算法</a:t>
            </a:r>
            <a:endParaRPr lang="zh-CN" altLang="en-US" dirty="0"/>
          </a:p>
          <a:p>
            <a:pPr lvl="1">
              <a:buFont typeface="Wingdings" panose="05000000000000000000" pitchFamily="2" charset="2"/>
              <a:buChar char="ü"/>
            </a:pPr>
            <a:r>
              <a:rPr kumimoji="1" lang="zh-CN" altLang="en-US" dirty="0"/>
              <a:t>简单的</a:t>
            </a:r>
            <a:r>
              <a:rPr kumimoji="1" lang="en-US" altLang="zh-CN" dirty="0"/>
              <a:t>Clock</a:t>
            </a:r>
            <a:r>
              <a:rPr kumimoji="1" lang="zh-CN" altLang="en-US" dirty="0"/>
              <a:t>置换算法</a:t>
            </a:r>
          </a:p>
          <a:p>
            <a:pPr marL="914400" lvl="2" indent="0" algn="just">
              <a:buNone/>
            </a:pPr>
            <a:r>
              <a:rPr kumimoji="1" lang="zh-CN" altLang="en-US" dirty="0"/>
              <a:t>当利用简单</a:t>
            </a:r>
            <a:r>
              <a:rPr kumimoji="1" lang="en-US" altLang="zh-CN" dirty="0"/>
              <a:t>Clock</a:t>
            </a:r>
            <a:r>
              <a:rPr kumimoji="1" lang="zh-CN" altLang="en-US" dirty="0"/>
              <a:t>算法时，只需为每页设置</a:t>
            </a:r>
            <a:r>
              <a:rPr kumimoji="1" lang="en-US" altLang="zh-CN" dirty="0"/>
              <a:t>1</a:t>
            </a:r>
            <a:r>
              <a:rPr kumimoji="1" lang="zh-CN" altLang="en-US" dirty="0"/>
              <a:t>位访问位，再将内存中的所有页面都通过链接指针链接成一个循环队列。</a:t>
            </a:r>
            <a:endParaRPr kumimoji="1" lang="en-US" altLang="zh-CN" baseline="-25000"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pic>
        <p:nvPicPr>
          <p:cNvPr id="5" name="Picture 4">
            <a:extLst>
              <a:ext uri="{FF2B5EF4-FFF2-40B4-BE49-F238E27FC236}">
                <a16:creationId xmlns:a16="http://schemas.microsoft.com/office/drawing/2014/main" id="{DCB50DE5-91BD-49BB-9546-5C55AD2214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22869" y="3445089"/>
            <a:ext cx="6985000" cy="321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01DE10AC-29AD-494A-9CFA-E7F3E8DFDF17}"/>
              </a:ext>
            </a:extLst>
          </p:cNvPr>
          <p:cNvSpPr txBox="1"/>
          <p:nvPr/>
        </p:nvSpPr>
        <p:spPr>
          <a:xfrm>
            <a:off x="1751590" y="4688310"/>
            <a:ext cx="2106035" cy="707886"/>
          </a:xfrm>
          <a:prstGeom prst="rect">
            <a:avLst/>
          </a:prstGeom>
          <a:noFill/>
        </p:spPr>
        <p:txBody>
          <a:bodyPr wrap="square">
            <a:spAutoFit/>
          </a:bodyPr>
          <a:lstStyle/>
          <a:p>
            <a:r>
              <a:rPr lang="zh-CN" altLang="en-US" sz="2000" b="1" dirty="0">
                <a:solidFill>
                  <a:schemeClr val="bg2">
                    <a:lumMod val="25000"/>
                  </a:schemeClr>
                </a:solidFill>
                <a:latin typeface="Times New Roman" panose="02020603050405020304" pitchFamily="18" charset="0"/>
                <a:cs typeface="Times New Roman" panose="02020603050405020304" pitchFamily="18" charset="0"/>
              </a:rPr>
              <a:t>简单</a:t>
            </a:r>
            <a:r>
              <a:rPr lang="en-US" altLang="zh-CN" sz="2000" b="1" dirty="0">
                <a:solidFill>
                  <a:schemeClr val="bg2">
                    <a:lumMod val="25000"/>
                  </a:schemeClr>
                </a:solidFill>
                <a:latin typeface="Times New Roman" panose="02020603050405020304" pitchFamily="18" charset="0"/>
                <a:cs typeface="Times New Roman" panose="02020603050405020304" pitchFamily="18" charset="0"/>
              </a:rPr>
              <a:t>Clock</a:t>
            </a:r>
            <a:r>
              <a:rPr lang="zh-CN" altLang="en-US" sz="2000" b="1" dirty="0">
                <a:solidFill>
                  <a:schemeClr val="bg2">
                    <a:lumMod val="25000"/>
                  </a:schemeClr>
                </a:solidFill>
                <a:latin typeface="Times New Roman" panose="02020603050405020304" pitchFamily="18" charset="0"/>
                <a:cs typeface="Times New Roman" panose="02020603050405020304" pitchFamily="18" charset="0"/>
              </a:rPr>
              <a:t>置换算法的流程和示例</a:t>
            </a:r>
          </a:p>
        </p:txBody>
      </p:sp>
    </p:spTree>
    <p:extLst>
      <p:ext uri="{BB962C8B-B14F-4D97-AF65-F5344CB8AC3E}">
        <p14:creationId xmlns:p14="http://schemas.microsoft.com/office/powerpoint/2010/main" val="31540044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页面置换算法</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7"/>
            <a:ext cx="10515600" cy="5471933"/>
          </a:xfrm>
        </p:spPr>
        <p:txBody>
          <a:bodyPr>
            <a:normAutofit/>
          </a:bodyPr>
          <a:lstStyle/>
          <a:p>
            <a:pPr>
              <a:lnSpc>
                <a:spcPct val="120000"/>
              </a:lnSpc>
            </a:pPr>
            <a:r>
              <a:rPr kumimoji="1" lang="en-US" altLang="zh-CN" dirty="0"/>
              <a:t>Clock</a:t>
            </a:r>
            <a:r>
              <a:rPr kumimoji="1" lang="zh-CN" altLang="en-US" dirty="0"/>
              <a:t>置换算法</a:t>
            </a:r>
            <a:endParaRPr lang="zh-CN" altLang="en-US" dirty="0"/>
          </a:p>
          <a:p>
            <a:pPr lvl="1">
              <a:buFont typeface="Wingdings" panose="05000000000000000000" pitchFamily="2" charset="2"/>
              <a:buChar char="ü"/>
            </a:pPr>
            <a:r>
              <a:rPr kumimoji="1" lang="zh-CN" altLang="en-US" dirty="0"/>
              <a:t>改进型</a:t>
            </a:r>
            <a:r>
              <a:rPr kumimoji="1" lang="en-US" altLang="zh-CN" dirty="0"/>
              <a:t>Clock</a:t>
            </a:r>
            <a:r>
              <a:rPr kumimoji="1" lang="zh-CN" altLang="en-US" dirty="0"/>
              <a:t>置换算法</a:t>
            </a:r>
          </a:p>
          <a:p>
            <a:pPr marL="914400" lvl="2" indent="0" algn="just">
              <a:buNone/>
            </a:pPr>
            <a:r>
              <a:rPr kumimoji="1" lang="zh-CN" altLang="en-US" dirty="0"/>
              <a:t>在将一个页面换出时，如果该页已被修改过，便须将该页重新写回到磁盘上；但如果该页未被修改过，则不必将它拷回磁盘。换而言之，对于修改过的页面，在换出时所付出的开销比未修改过的页面大，或者说，置换代价大。在改进型</a:t>
            </a:r>
            <a:r>
              <a:rPr kumimoji="1" lang="en-US" altLang="zh-CN" dirty="0"/>
              <a:t>Clock</a:t>
            </a:r>
            <a:r>
              <a:rPr kumimoji="1" lang="zh-CN" altLang="en-US" dirty="0"/>
              <a:t>算法中，除须考虑页面的使用情况外，还须再增加一个因素</a:t>
            </a:r>
            <a:r>
              <a:rPr kumimoji="1" lang="en-US" altLang="zh-CN" dirty="0"/>
              <a:t>——</a:t>
            </a:r>
            <a:r>
              <a:rPr kumimoji="1" lang="zh-CN" altLang="en-US" dirty="0"/>
              <a:t>置换代价。</a:t>
            </a:r>
            <a:endParaRPr kumimoji="1" lang="en-US" altLang="zh-CN" baseline="-25000"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11229673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页面置换算法</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7"/>
            <a:ext cx="10515600" cy="5471933"/>
          </a:xfrm>
        </p:spPr>
        <p:txBody>
          <a:bodyPr>
            <a:normAutofit lnSpcReduction="10000"/>
          </a:bodyPr>
          <a:lstStyle/>
          <a:p>
            <a:r>
              <a:rPr kumimoji="1" lang="zh-CN" altLang="en-US" dirty="0"/>
              <a:t>页面缓冲算法</a:t>
            </a:r>
            <a:r>
              <a:rPr kumimoji="1" lang="en-US" altLang="zh-CN" dirty="0"/>
              <a:t>(Page Buffering Algorithm</a:t>
            </a:r>
            <a:r>
              <a:rPr kumimoji="1" lang="zh-CN" altLang="en-US" dirty="0"/>
              <a:t>，</a:t>
            </a:r>
            <a:r>
              <a:rPr kumimoji="1" lang="en-US" altLang="zh-CN" dirty="0"/>
              <a:t>PBA)</a:t>
            </a:r>
            <a:endParaRPr lang="zh-CN" altLang="en-US" dirty="0"/>
          </a:p>
          <a:p>
            <a:pPr lvl="1">
              <a:buFont typeface="Wingdings" panose="05000000000000000000" pitchFamily="2" charset="2"/>
              <a:buChar char="ü"/>
            </a:pPr>
            <a:r>
              <a:rPr kumimoji="1" lang="zh-CN" altLang="en-US" dirty="0"/>
              <a:t>影响页面换进换出效率的若干因素</a:t>
            </a:r>
          </a:p>
          <a:p>
            <a:pPr marL="914400" lvl="2" indent="0" algn="just">
              <a:buNone/>
            </a:pPr>
            <a:r>
              <a:rPr lang="en-US" altLang="zh-CN" dirty="0"/>
              <a:t>(1)</a:t>
            </a:r>
            <a:r>
              <a:rPr lang="zh-CN" altLang="en-US" dirty="0"/>
              <a:t>页面置换算法；</a:t>
            </a:r>
            <a:r>
              <a:rPr lang="en-US" altLang="zh-CN" dirty="0"/>
              <a:t>(2)</a:t>
            </a:r>
            <a:r>
              <a:rPr lang="zh-CN" altLang="en-US" dirty="0"/>
              <a:t>写回磁盘的频率；</a:t>
            </a:r>
            <a:r>
              <a:rPr lang="en-US" altLang="zh-CN" dirty="0"/>
              <a:t>(3)</a:t>
            </a:r>
            <a:r>
              <a:rPr lang="zh-CN" altLang="en-US" dirty="0"/>
              <a:t>读入内存的频率。</a:t>
            </a:r>
            <a:endParaRPr lang="en-US" altLang="zh-CN" dirty="0"/>
          </a:p>
          <a:p>
            <a:pPr lvl="1">
              <a:buFont typeface="Wingdings" panose="05000000000000000000" pitchFamily="2" charset="2"/>
              <a:buChar char="ü"/>
            </a:pPr>
            <a:r>
              <a:rPr kumimoji="1" lang="zh-CN" altLang="en-US" dirty="0"/>
              <a:t>页面缓冲算法</a:t>
            </a:r>
            <a:r>
              <a:rPr kumimoji="1" lang="en-US" altLang="zh-CN" dirty="0"/>
              <a:t>PBA</a:t>
            </a:r>
          </a:p>
          <a:p>
            <a:pPr marL="914400" lvl="2" indent="0" algn="just">
              <a:buNone/>
            </a:pPr>
            <a:r>
              <a:rPr kumimoji="1" lang="en-US" altLang="zh-CN" dirty="0"/>
              <a:t>PBA</a:t>
            </a:r>
            <a:r>
              <a:rPr kumimoji="1" lang="zh-CN" altLang="en-US" dirty="0"/>
              <a:t>算法的主要特点是：①显著地降低了页面换进、换出的频率，使磁盘</a:t>
            </a:r>
            <a:r>
              <a:rPr kumimoji="1" lang="en-US" altLang="zh-CN" dirty="0"/>
              <a:t>I/O</a:t>
            </a:r>
            <a:r>
              <a:rPr kumimoji="1" lang="zh-CN" altLang="en-US" dirty="0"/>
              <a:t>的操作次数大为减少，因而减少了页面换进、换出的开销；②正是由于换入换出的开销大幅度减小，才能使其采用一种较简单的置换策略，如先进先出</a:t>
            </a:r>
            <a:r>
              <a:rPr kumimoji="1" lang="en-US" altLang="zh-CN" dirty="0"/>
              <a:t>(FIFO)</a:t>
            </a:r>
            <a:r>
              <a:rPr kumimoji="1" lang="zh-CN" altLang="en-US" dirty="0"/>
              <a:t>算法，它不需要特殊硬件的支持，实现起来非常简单。</a:t>
            </a:r>
            <a:endParaRPr kumimoji="1" lang="en-US" altLang="zh-CN" dirty="0"/>
          </a:p>
          <a:p>
            <a:pPr>
              <a:lnSpc>
                <a:spcPct val="120000"/>
              </a:lnSpc>
            </a:pPr>
            <a:r>
              <a:rPr kumimoji="1" lang="zh-CN" altLang="en-US" dirty="0"/>
              <a:t>访问内存的有效时间</a:t>
            </a:r>
            <a:endParaRPr lang="zh-CN" altLang="en-US" dirty="0"/>
          </a:p>
          <a:p>
            <a:pPr lvl="1">
              <a:buFont typeface="Wingdings" panose="05000000000000000000" pitchFamily="2" charset="2"/>
              <a:buChar char="ü"/>
            </a:pPr>
            <a:r>
              <a:rPr kumimoji="1" lang="zh-CN" altLang="en-US" dirty="0"/>
              <a:t>访问内存的有效时间素</a:t>
            </a:r>
          </a:p>
          <a:p>
            <a:pPr marL="914400" lvl="2" indent="0" algn="just">
              <a:buNone/>
            </a:pPr>
            <a:r>
              <a:rPr lang="zh-CN" altLang="en-US" dirty="0"/>
              <a:t>与基本分页存储管理方式不同，在请求分页管理方式中，内存有效访问时间不仅要考虑访问页表和访问实际物理地址数据的时间，还必须要考虑到缺页中断的处理时间。</a:t>
            </a:r>
            <a:endParaRPr kumimoji="1" lang="en-US" altLang="zh-CN" dirty="0"/>
          </a:p>
          <a:p>
            <a:pPr marL="914400" lvl="2" indent="0" algn="just">
              <a:buNone/>
            </a:pP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文本框 5">
            <a:extLst>
              <a:ext uri="{FF2B5EF4-FFF2-40B4-BE49-F238E27FC236}">
                <a16:creationId xmlns:a16="http://schemas.microsoft.com/office/drawing/2014/main" id="{1220D061-957C-4A40-8D18-D79C493BE0E2}"/>
              </a:ext>
            </a:extLst>
          </p:cNvPr>
          <p:cNvSpPr txBox="1"/>
          <p:nvPr/>
        </p:nvSpPr>
        <p:spPr>
          <a:xfrm>
            <a:off x="6233247" y="4580687"/>
            <a:ext cx="3561484" cy="400110"/>
          </a:xfrm>
          <a:prstGeom prst="rect">
            <a:avLst/>
          </a:prstGeom>
          <a:noFill/>
        </p:spPr>
        <p:txBody>
          <a:bodyPr wrap="square">
            <a:spAutoFit/>
          </a:bodyPr>
          <a:lstStyle/>
          <a:p>
            <a:r>
              <a:rPr lang="zh-CN" altLang="en-US" sz="2000" b="1" dirty="0">
                <a:solidFill>
                  <a:schemeClr val="bg2">
                    <a:lumMod val="25000"/>
                  </a:schemeClr>
                </a:solidFill>
              </a:rPr>
              <a:t>空闲页面链表和修改页面链表</a:t>
            </a:r>
          </a:p>
        </p:txBody>
      </p:sp>
    </p:spTree>
    <p:extLst>
      <p:ext uri="{BB962C8B-B14F-4D97-AF65-F5344CB8AC3E}">
        <p14:creationId xmlns:p14="http://schemas.microsoft.com/office/powerpoint/2010/main" val="21574515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“抖动”与工作集</a:t>
            </a:r>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8" name="文本框 7">
            <a:extLst>
              <a:ext uri="{FF2B5EF4-FFF2-40B4-BE49-F238E27FC236}">
                <a16:creationId xmlns:a16="http://schemas.microsoft.com/office/drawing/2014/main" id="{B1AFBE8F-761B-4EF2-9B40-755175BDC7E1}"/>
              </a:ext>
            </a:extLst>
          </p:cNvPr>
          <p:cNvSpPr txBox="1"/>
          <p:nvPr/>
        </p:nvSpPr>
        <p:spPr>
          <a:xfrm>
            <a:off x="270165" y="1767007"/>
            <a:ext cx="11526980" cy="1569660"/>
          </a:xfrm>
          <a:prstGeom prst="rect">
            <a:avLst/>
          </a:prstGeom>
          <a:noFill/>
        </p:spPr>
        <p:txBody>
          <a:bodyPr wrap="square">
            <a:spAutoFit/>
          </a:bodyPr>
          <a:lstStyle/>
          <a:p>
            <a:pPr algn="just"/>
            <a:r>
              <a:rPr lang="zh-CN" altLang="en-US" sz="2400" dirty="0">
                <a:solidFill>
                  <a:schemeClr val="accent4">
                    <a:lumMod val="75000"/>
                  </a:schemeClr>
                </a:solidFill>
                <a:latin typeface="Times New Roman" panose="02020603050405020304" pitchFamily="18" charset="0"/>
                <a:cs typeface="Times New Roman" panose="02020603050405020304" pitchFamily="18" charset="0"/>
              </a:rPr>
              <a:t>        由于请求分页式虚拟存储器系统的性能优越，在正常运行情况下，它能有效地减少内存碎片，提高处理机的利用率和吞吐量，故是目前最常用的一种系统。但如果在系统中运行的进程太多，进程在运行中会频繁地发生缺页情况，这又会对系统的性能产生很大的影响，故还须对请求分页系统的性能做简单的分析。</a:t>
            </a:r>
          </a:p>
        </p:txBody>
      </p:sp>
    </p:spTree>
    <p:extLst>
      <p:ext uri="{BB962C8B-B14F-4D97-AF65-F5344CB8AC3E}">
        <p14:creationId xmlns:p14="http://schemas.microsoft.com/office/powerpoint/2010/main" val="8314422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“抖动”与工作集</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7"/>
            <a:ext cx="10515600" cy="5471933"/>
          </a:xfrm>
        </p:spPr>
        <p:txBody>
          <a:bodyPr>
            <a:normAutofit/>
          </a:bodyPr>
          <a:lstStyle/>
          <a:p>
            <a:pPr>
              <a:lnSpc>
                <a:spcPct val="120000"/>
              </a:lnSpc>
            </a:pPr>
            <a:r>
              <a:rPr kumimoji="1" lang="zh-CN" altLang="en-US" dirty="0"/>
              <a:t>多道程序度与“抖动”</a:t>
            </a:r>
            <a:endParaRPr lang="zh-CN" altLang="en-US" dirty="0"/>
          </a:p>
          <a:p>
            <a:pPr lvl="1">
              <a:buFont typeface="Wingdings" panose="05000000000000000000" pitchFamily="2" charset="2"/>
              <a:buChar char="ü"/>
            </a:pPr>
            <a:r>
              <a:rPr kumimoji="1" lang="zh-CN" altLang="en-US" dirty="0"/>
              <a:t>多道程序度与处理机的利用率</a:t>
            </a:r>
          </a:p>
          <a:p>
            <a:pPr marL="914400" lvl="2" indent="0" algn="just">
              <a:buNone/>
            </a:pPr>
            <a:r>
              <a:rPr kumimoji="1" lang="zh-CN" altLang="en-US" dirty="0"/>
              <a:t>由于虚拟存储器系统能从逻辑上扩大内存，这时，只需装入一个进程的部分程序和数据便可开始运行，故人们希望在系统中能运行更多的进程，即增加多道程序度，以提高处理机的利用率。</a:t>
            </a:r>
            <a:endParaRPr kumimoji="1" lang="en-US" altLang="zh-CN" baseline="-25000"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pic>
        <p:nvPicPr>
          <p:cNvPr id="5" name="Picture 4">
            <a:extLst>
              <a:ext uri="{FF2B5EF4-FFF2-40B4-BE49-F238E27FC236}">
                <a16:creationId xmlns:a16="http://schemas.microsoft.com/office/drawing/2014/main" id="{15267275-1AD7-4C7C-A231-2F1A34750D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24312" y="3440834"/>
            <a:ext cx="4932651" cy="3354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FABCEEE0-80A1-42C6-8C84-62E224A60DD7}"/>
              </a:ext>
            </a:extLst>
          </p:cNvPr>
          <p:cNvSpPr txBox="1"/>
          <p:nvPr/>
        </p:nvSpPr>
        <p:spPr>
          <a:xfrm>
            <a:off x="2314978" y="4949108"/>
            <a:ext cx="1986858" cy="400110"/>
          </a:xfrm>
          <a:prstGeom prst="rect">
            <a:avLst/>
          </a:prstGeom>
          <a:noFill/>
        </p:spPr>
        <p:txBody>
          <a:bodyPr wrap="square">
            <a:spAutoFit/>
          </a:bodyPr>
          <a:lstStyle/>
          <a:p>
            <a:r>
              <a:rPr lang="zh-CN" altLang="en-US" sz="2000" b="1" dirty="0">
                <a:solidFill>
                  <a:schemeClr val="bg2">
                    <a:lumMod val="25000"/>
                  </a:schemeClr>
                </a:solidFill>
              </a:rPr>
              <a:t>处理机的利用率</a:t>
            </a:r>
          </a:p>
        </p:txBody>
      </p:sp>
    </p:spTree>
    <p:extLst>
      <p:ext uri="{BB962C8B-B14F-4D97-AF65-F5344CB8AC3E}">
        <p14:creationId xmlns:p14="http://schemas.microsoft.com/office/powerpoint/2010/main" val="12820598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“抖动”与工作集</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7"/>
            <a:ext cx="10515600" cy="5471933"/>
          </a:xfrm>
        </p:spPr>
        <p:txBody>
          <a:bodyPr>
            <a:normAutofit/>
          </a:bodyPr>
          <a:lstStyle/>
          <a:p>
            <a:pPr>
              <a:lnSpc>
                <a:spcPct val="120000"/>
              </a:lnSpc>
            </a:pPr>
            <a:r>
              <a:rPr kumimoji="1" lang="zh-CN" altLang="en-US" dirty="0"/>
              <a:t>多道程序度与“抖动”</a:t>
            </a:r>
            <a:endParaRPr lang="zh-CN" altLang="en-US" dirty="0"/>
          </a:p>
          <a:p>
            <a:pPr lvl="1">
              <a:buFont typeface="Wingdings" panose="05000000000000000000" pitchFamily="2" charset="2"/>
              <a:buChar char="ü"/>
            </a:pPr>
            <a:r>
              <a:rPr kumimoji="1" lang="zh-CN" altLang="en-US" dirty="0"/>
              <a:t>产生“抖动”的原因</a:t>
            </a:r>
          </a:p>
          <a:p>
            <a:pPr marL="914400" lvl="2" indent="0" algn="just">
              <a:buNone/>
            </a:pPr>
            <a:r>
              <a:rPr kumimoji="1" lang="zh-CN" altLang="en-US" dirty="0"/>
              <a:t>发生“抖动”的</a:t>
            </a:r>
            <a:r>
              <a:rPr kumimoji="1" lang="zh-CN" altLang="en-US" b="1" dirty="0">
                <a:solidFill>
                  <a:srgbClr val="FF0000"/>
                </a:solidFill>
              </a:rPr>
              <a:t>根本原因</a:t>
            </a:r>
            <a:r>
              <a:rPr kumimoji="1" lang="zh-CN" altLang="en-US" dirty="0"/>
              <a:t>：系统中运行的进程太多，由此分配给每一个进程的物理块太少，不能满足进程正常运行的基本要求，致使每个进程在运行时，频繁地出现缺页，必须请求系统将所缺之页调入内存。这会使得在系统中排队等待页面调进</a:t>
            </a:r>
            <a:r>
              <a:rPr kumimoji="1" lang="en-US" altLang="zh-CN" dirty="0"/>
              <a:t>/</a:t>
            </a:r>
            <a:r>
              <a:rPr kumimoji="1" lang="zh-CN" altLang="en-US" dirty="0"/>
              <a:t>调出的进程数目增加。显然，对磁盘的有效访问时间也随之急剧增加，造成每个进程的大部分时间都用于页面的换进</a:t>
            </a:r>
            <a:r>
              <a:rPr kumimoji="1" lang="en-US" altLang="zh-CN" dirty="0"/>
              <a:t>/</a:t>
            </a:r>
            <a:r>
              <a:rPr kumimoji="1" lang="zh-CN" altLang="en-US" dirty="0"/>
              <a:t>换出，而几乎不能再去做任何有效的工作，从而导致发生处理机的利用率急剧下降并趋于</a:t>
            </a:r>
            <a:r>
              <a:rPr kumimoji="1" lang="en-US" altLang="zh-CN" dirty="0"/>
              <a:t>0</a:t>
            </a:r>
            <a:r>
              <a:rPr kumimoji="1" lang="zh-CN" altLang="en-US" dirty="0"/>
              <a:t>的情况。我们称此时的进程是处于“抖动”状态。</a:t>
            </a:r>
            <a:endParaRPr kumimoji="1" lang="en-US" altLang="zh-CN" baseline="-25000"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32191704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“抖动”与工作集</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7"/>
            <a:ext cx="10515600" cy="5471933"/>
          </a:xfrm>
        </p:spPr>
        <p:txBody>
          <a:bodyPr>
            <a:normAutofit/>
          </a:bodyPr>
          <a:lstStyle/>
          <a:p>
            <a:pPr>
              <a:lnSpc>
                <a:spcPct val="120000"/>
              </a:lnSpc>
            </a:pPr>
            <a:r>
              <a:rPr kumimoji="1" lang="zh-CN" altLang="en-US" dirty="0"/>
              <a:t>工作集</a:t>
            </a:r>
            <a:endParaRPr lang="zh-CN" altLang="en-US" dirty="0"/>
          </a:p>
          <a:p>
            <a:pPr lvl="1">
              <a:buFont typeface="Wingdings" panose="05000000000000000000" pitchFamily="2" charset="2"/>
              <a:buChar char="ü"/>
            </a:pPr>
            <a:r>
              <a:rPr kumimoji="1" lang="zh-CN" altLang="en-US" dirty="0"/>
              <a:t>工作集的基本概念</a:t>
            </a:r>
          </a:p>
          <a:p>
            <a:pPr marL="914400" lvl="2" indent="0" algn="just">
              <a:buNone/>
            </a:pPr>
            <a:r>
              <a:rPr kumimoji="1" lang="zh-CN" altLang="en-US" dirty="0"/>
              <a:t>进程发生缺页率的时间间隔与进程所获得的物理块数有关。</a:t>
            </a:r>
            <a:endParaRPr kumimoji="1" lang="en-US" altLang="zh-CN" baseline="-25000"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pic>
        <p:nvPicPr>
          <p:cNvPr id="5" name="Picture 4">
            <a:extLst>
              <a:ext uri="{FF2B5EF4-FFF2-40B4-BE49-F238E27FC236}">
                <a16:creationId xmlns:a16="http://schemas.microsoft.com/office/drawing/2014/main" id="{00567015-86EB-4099-A084-BA91776B50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6511" y="3147147"/>
            <a:ext cx="5371693" cy="3053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AF6CA47E-083C-452B-8DA6-43796B774F3A}"/>
              </a:ext>
            </a:extLst>
          </p:cNvPr>
          <p:cNvSpPr txBox="1"/>
          <p:nvPr/>
        </p:nvSpPr>
        <p:spPr>
          <a:xfrm>
            <a:off x="4336039" y="6321365"/>
            <a:ext cx="3519921" cy="400110"/>
          </a:xfrm>
          <a:prstGeom prst="rect">
            <a:avLst/>
          </a:prstGeom>
          <a:noFill/>
        </p:spPr>
        <p:txBody>
          <a:bodyPr wrap="square">
            <a:spAutoFit/>
          </a:bodyPr>
          <a:lstStyle/>
          <a:p>
            <a:pPr algn="ctr"/>
            <a:r>
              <a:rPr lang="zh-CN" altLang="en-US" sz="2000" b="1" dirty="0">
                <a:solidFill>
                  <a:srgbClr val="002060"/>
                </a:solidFill>
              </a:rPr>
              <a:t>缺页率与物理块数的关系</a:t>
            </a:r>
          </a:p>
        </p:txBody>
      </p:sp>
      <p:sp>
        <p:nvSpPr>
          <p:cNvPr id="9" name="文本框 8">
            <a:extLst>
              <a:ext uri="{FF2B5EF4-FFF2-40B4-BE49-F238E27FC236}">
                <a16:creationId xmlns:a16="http://schemas.microsoft.com/office/drawing/2014/main" id="{4B5BC424-81C8-4791-A01D-38C9CF65512C}"/>
              </a:ext>
            </a:extLst>
          </p:cNvPr>
          <p:cNvSpPr txBox="1"/>
          <p:nvPr/>
        </p:nvSpPr>
        <p:spPr>
          <a:xfrm>
            <a:off x="6945889" y="1503394"/>
            <a:ext cx="4216111" cy="707886"/>
          </a:xfrm>
          <a:prstGeom prst="rect">
            <a:avLst/>
          </a:prstGeom>
          <a:noFill/>
          <a:ln w="19050">
            <a:solidFill>
              <a:schemeClr val="tx1"/>
            </a:solidFill>
          </a:ln>
        </p:spPr>
        <p:txBody>
          <a:bodyPr wrap="square">
            <a:spAutoFit/>
          </a:bodyPr>
          <a:lstStyle/>
          <a:p>
            <a:r>
              <a:rPr lang="zh-CN" altLang="en-US" sz="2000" b="1" i="0" dirty="0">
                <a:solidFill>
                  <a:srgbClr val="FF0000"/>
                </a:solidFill>
                <a:effectLst/>
                <a:latin typeface="Times New Roman" panose="02020603050405020304" pitchFamily="18" charset="0"/>
                <a:cs typeface="Times New Roman" panose="02020603050405020304" pitchFamily="18" charset="0"/>
              </a:rPr>
              <a:t>驻留集：</a:t>
            </a:r>
            <a:r>
              <a:rPr lang="zh-CN" altLang="en-US" sz="2000" i="0" dirty="0">
                <a:solidFill>
                  <a:srgbClr val="002060"/>
                </a:solidFill>
                <a:effectLst/>
                <a:latin typeface="Times New Roman" panose="02020603050405020304" pitchFamily="18" charset="0"/>
                <a:cs typeface="Times New Roman" panose="02020603050405020304" pitchFamily="18" charset="0"/>
              </a:rPr>
              <a:t>指请求分页存储管理中给进程分配的物理页面（块）的集合</a:t>
            </a:r>
            <a:endParaRPr lang="zh-CN" altLang="en-US" sz="20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96475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“抖动”与工作集</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7"/>
            <a:ext cx="4783282" cy="5347243"/>
          </a:xfrm>
        </p:spPr>
        <p:txBody>
          <a:bodyPr>
            <a:normAutofit/>
          </a:bodyPr>
          <a:lstStyle/>
          <a:p>
            <a:pPr>
              <a:lnSpc>
                <a:spcPct val="120000"/>
              </a:lnSpc>
            </a:pPr>
            <a:r>
              <a:rPr kumimoji="1" lang="zh-CN" altLang="en-US" dirty="0"/>
              <a:t>工作集</a:t>
            </a:r>
            <a:endParaRPr lang="zh-CN" altLang="en-US" dirty="0"/>
          </a:p>
          <a:p>
            <a:pPr lvl="1">
              <a:buFont typeface="Wingdings" panose="05000000000000000000" pitchFamily="2" charset="2"/>
              <a:buChar char="ü"/>
            </a:pPr>
            <a:r>
              <a:rPr kumimoji="1" lang="zh-CN" altLang="en-US" dirty="0"/>
              <a:t>工作集的定义</a:t>
            </a:r>
          </a:p>
          <a:p>
            <a:pPr marL="914400" lvl="2" indent="0" algn="just">
              <a:buNone/>
            </a:pPr>
            <a:r>
              <a:rPr kumimoji="1" lang="zh-CN" altLang="en-US" dirty="0"/>
              <a:t>指在</a:t>
            </a:r>
            <a:r>
              <a:rPr kumimoji="1" lang="zh-CN" altLang="en-US" b="1" dirty="0">
                <a:solidFill>
                  <a:srgbClr val="FF0000"/>
                </a:solidFill>
              </a:rPr>
              <a:t>某段时间间隔</a:t>
            </a:r>
            <a:r>
              <a:rPr kumimoji="1" lang="en-US" altLang="zh-CN" b="1" dirty="0">
                <a:solidFill>
                  <a:srgbClr val="FF0000"/>
                </a:solidFill>
              </a:rPr>
              <a:t>Δ</a:t>
            </a:r>
            <a:r>
              <a:rPr kumimoji="1" lang="zh-CN" altLang="en-US" b="1" dirty="0">
                <a:solidFill>
                  <a:srgbClr val="FF0000"/>
                </a:solidFill>
              </a:rPr>
              <a:t>里，进程实际所要访问页面的集合</a:t>
            </a:r>
            <a:r>
              <a:rPr kumimoji="1" lang="zh-CN" altLang="en-US" dirty="0"/>
              <a:t>。</a:t>
            </a:r>
            <a:r>
              <a:rPr kumimoji="1" lang="en-US" altLang="zh-CN" dirty="0"/>
              <a:t>Denning</a:t>
            </a:r>
            <a:r>
              <a:rPr kumimoji="1" lang="zh-CN" altLang="en-US" dirty="0"/>
              <a:t>指出，虽然程序只需要少量的几页在内存便可运行，但为了较少地产生缺页，应将程序的全部工作集装入内存中。然而我们无法事先预知程序在不同时刻将访问哪些页面，故仍只有像置换算法那样，用程序的过去某段时间内的行为作为程序在将来某段时间内行为的近似。</a:t>
            </a:r>
            <a:endParaRPr kumimoji="1" lang="en-US" altLang="zh-CN" baseline="-25000"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pic>
        <p:nvPicPr>
          <p:cNvPr id="8" name="Picture 4">
            <a:extLst>
              <a:ext uri="{FF2B5EF4-FFF2-40B4-BE49-F238E27FC236}">
                <a16:creationId xmlns:a16="http://schemas.microsoft.com/office/drawing/2014/main" id="{FCE4D90B-5147-4D43-B98B-FE899F9EEC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0995" y="2092337"/>
            <a:ext cx="6026150" cy="409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8">
            <a:extLst>
              <a:ext uri="{FF2B5EF4-FFF2-40B4-BE49-F238E27FC236}">
                <a16:creationId xmlns:a16="http://schemas.microsoft.com/office/drawing/2014/main" id="{83A30A61-9CB6-40EC-8648-6024788B461E}"/>
              </a:ext>
            </a:extLst>
          </p:cNvPr>
          <p:cNvSpPr txBox="1"/>
          <p:nvPr/>
        </p:nvSpPr>
        <p:spPr>
          <a:xfrm>
            <a:off x="7205662" y="6321365"/>
            <a:ext cx="3696566" cy="400110"/>
          </a:xfrm>
          <a:prstGeom prst="rect">
            <a:avLst/>
          </a:prstGeom>
          <a:noFill/>
        </p:spPr>
        <p:txBody>
          <a:bodyPr wrap="square">
            <a:spAutoFit/>
          </a:bodyPr>
          <a:lstStyle/>
          <a:p>
            <a:r>
              <a:rPr lang="zh-CN" altLang="en-US" sz="2000" b="1" dirty="0">
                <a:solidFill>
                  <a:srgbClr val="002060"/>
                </a:solidFill>
                <a:latin typeface="Times New Roman" panose="02020603050405020304" pitchFamily="18" charset="0"/>
                <a:cs typeface="Times New Roman" panose="02020603050405020304" pitchFamily="18" charset="0"/>
              </a:rPr>
              <a:t>窗口为</a:t>
            </a:r>
            <a:r>
              <a:rPr lang="en-US" altLang="zh-CN" sz="2000" b="1" dirty="0">
                <a:solidFill>
                  <a:srgbClr val="002060"/>
                </a:solidFill>
                <a:latin typeface="Times New Roman" panose="02020603050405020304" pitchFamily="18" charset="0"/>
                <a:cs typeface="Times New Roman" panose="02020603050405020304" pitchFamily="18" charset="0"/>
              </a:rPr>
              <a:t>3</a:t>
            </a:r>
            <a:r>
              <a:rPr lang="zh-CN" altLang="en-US" sz="2000" b="1" dirty="0">
                <a:solidFill>
                  <a:srgbClr val="002060"/>
                </a:solidFill>
                <a:latin typeface="Times New Roman" panose="02020603050405020304" pitchFamily="18" charset="0"/>
                <a:cs typeface="Times New Roman" panose="02020603050405020304" pitchFamily="18" charset="0"/>
              </a:rPr>
              <a:t>、</a:t>
            </a:r>
            <a:r>
              <a:rPr lang="en-US" altLang="zh-CN" sz="2000" b="1" dirty="0">
                <a:solidFill>
                  <a:srgbClr val="002060"/>
                </a:solidFill>
                <a:latin typeface="Times New Roman" panose="02020603050405020304" pitchFamily="18" charset="0"/>
                <a:cs typeface="Times New Roman" panose="02020603050405020304" pitchFamily="18" charset="0"/>
              </a:rPr>
              <a:t>4</a:t>
            </a:r>
            <a:r>
              <a:rPr lang="zh-CN" altLang="en-US" sz="2000" b="1" dirty="0">
                <a:solidFill>
                  <a:srgbClr val="002060"/>
                </a:solidFill>
                <a:latin typeface="Times New Roman" panose="02020603050405020304" pitchFamily="18" charset="0"/>
                <a:cs typeface="Times New Roman" panose="02020603050405020304" pitchFamily="18" charset="0"/>
              </a:rPr>
              <a:t>、</a:t>
            </a:r>
            <a:r>
              <a:rPr lang="en-US" altLang="zh-CN" sz="2000" b="1" dirty="0">
                <a:solidFill>
                  <a:srgbClr val="002060"/>
                </a:solidFill>
                <a:latin typeface="Times New Roman" panose="02020603050405020304" pitchFamily="18" charset="0"/>
                <a:cs typeface="Times New Roman" panose="02020603050405020304" pitchFamily="18" charset="0"/>
              </a:rPr>
              <a:t>5</a:t>
            </a:r>
            <a:r>
              <a:rPr lang="zh-CN" altLang="en-US" sz="2000" b="1" dirty="0">
                <a:solidFill>
                  <a:srgbClr val="002060"/>
                </a:solidFill>
                <a:latin typeface="Times New Roman" panose="02020603050405020304" pitchFamily="18" charset="0"/>
                <a:cs typeface="Times New Roman" panose="02020603050405020304" pitchFamily="18" charset="0"/>
              </a:rPr>
              <a:t>时进程的工作集</a:t>
            </a:r>
          </a:p>
        </p:txBody>
      </p:sp>
      <p:sp>
        <p:nvSpPr>
          <p:cNvPr id="11" name="文本框 10">
            <a:extLst>
              <a:ext uri="{FF2B5EF4-FFF2-40B4-BE49-F238E27FC236}">
                <a16:creationId xmlns:a16="http://schemas.microsoft.com/office/drawing/2014/main" id="{DDC69FC5-E85C-4A5D-AADE-70C9AAB6BB31}"/>
              </a:ext>
            </a:extLst>
          </p:cNvPr>
          <p:cNvSpPr txBox="1"/>
          <p:nvPr/>
        </p:nvSpPr>
        <p:spPr>
          <a:xfrm>
            <a:off x="3694834" y="1318606"/>
            <a:ext cx="8102311" cy="707886"/>
          </a:xfrm>
          <a:prstGeom prst="rect">
            <a:avLst/>
          </a:prstGeom>
          <a:noFill/>
          <a:ln w="19050">
            <a:solidFill>
              <a:schemeClr val="tx1"/>
            </a:solidFill>
          </a:ln>
        </p:spPr>
        <p:txBody>
          <a:bodyPr wrap="square">
            <a:spAutoFit/>
          </a:bodyPr>
          <a:lstStyle/>
          <a:p>
            <a:r>
              <a:rPr lang="en-US" altLang="zh-CN" sz="2000" b="1" dirty="0">
                <a:solidFill>
                  <a:srgbClr val="FF0000"/>
                </a:solidFill>
                <a:latin typeface="Times New Roman" panose="02020603050405020304" pitchFamily="18" charset="0"/>
                <a:cs typeface="Times New Roman" panose="02020603050405020304" pitchFamily="18" charset="0"/>
              </a:rPr>
              <a:t>...,1,3,4,5,6,0,3,2,3,2,→t</a:t>
            </a:r>
            <a:r>
              <a:rPr lang="zh-CN" altLang="en-US" sz="2000" b="1" dirty="0">
                <a:solidFill>
                  <a:srgbClr val="FF0000"/>
                </a:solidFill>
                <a:latin typeface="Times New Roman" panose="02020603050405020304" pitchFamily="18" charset="0"/>
                <a:cs typeface="Times New Roman" panose="02020603050405020304" pitchFamily="18" charset="0"/>
              </a:rPr>
              <a:t>时刻←</a:t>
            </a:r>
            <a:r>
              <a:rPr lang="en-US" altLang="zh-CN" sz="2000" b="1" dirty="0">
                <a:solidFill>
                  <a:srgbClr val="FF0000"/>
                </a:solidFill>
                <a:latin typeface="Times New Roman" panose="02020603050405020304" pitchFamily="18" charset="0"/>
                <a:cs typeface="Times New Roman" panose="02020603050405020304" pitchFamily="18" charset="0"/>
              </a:rPr>
              <a:t>,0,4,0,3,2,9,1,......,1,3,4,5,6,0,3,2,3,2,→t</a:t>
            </a:r>
            <a:r>
              <a:rPr lang="zh-CN" altLang="en-US" sz="2000" b="1" dirty="0">
                <a:solidFill>
                  <a:srgbClr val="FF0000"/>
                </a:solidFill>
                <a:latin typeface="Times New Roman" panose="02020603050405020304" pitchFamily="18" charset="0"/>
                <a:cs typeface="Times New Roman" panose="02020603050405020304" pitchFamily="18" charset="0"/>
              </a:rPr>
              <a:t>时刻←</a:t>
            </a:r>
            <a:r>
              <a:rPr lang="en-US" altLang="zh-CN" sz="2000" b="1" dirty="0">
                <a:solidFill>
                  <a:srgbClr val="FF0000"/>
                </a:solidFill>
                <a:latin typeface="Times New Roman" panose="02020603050405020304" pitchFamily="18" charset="0"/>
                <a:cs typeface="Times New Roman" panose="02020603050405020304" pitchFamily="18" charset="0"/>
              </a:rPr>
              <a:t>,0,4,0,3,2,9,1,...</a:t>
            </a:r>
            <a:r>
              <a:rPr lang="zh-CN" altLang="en-US" sz="2000" b="1" dirty="0">
                <a:solidFill>
                  <a:srgbClr val="FF0000"/>
                </a:solidFill>
                <a:latin typeface="Times New Roman" panose="02020603050405020304" pitchFamily="18" charset="0"/>
                <a:cs typeface="Times New Roman" panose="02020603050405020304" pitchFamily="18" charset="0"/>
              </a:rPr>
              <a:t>若工作集窗口大小是</a:t>
            </a:r>
            <a:r>
              <a:rPr lang="en-US" altLang="zh-CN" sz="2000" b="1" dirty="0">
                <a:solidFill>
                  <a:srgbClr val="FF0000"/>
                </a:solidFill>
                <a:latin typeface="Times New Roman" panose="02020603050405020304" pitchFamily="18" charset="0"/>
                <a:cs typeface="Times New Roman" panose="02020603050405020304" pitchFamily="18" charset="0"/>
              </a:rPr>
              <a:t>6</a:t>
            </a:r>
            <a:r>
              <a:rPr lang="zh-CN" altLang="en-US" sz="2000" b="1" dirty="0">
                <a:solidFill>
                  <a:srgbClr val="FF0000"/>
                </a:solidFill>
                <a:latin typeface="Times New Roman" panose="02020603050405020304" pitchFamily="18" charset="0"/>
                <a:cs typeface="Times New Roman" panose="02020603050405020304" pitchFamily="18" charset="0"/>
              </a:rPr>
              <a:t>，则在</a:t>
            </a:r>
            <a:r>
              <a:rPr lang="en-US" altLang="zh-CN" sz="2000" b="1" dirty="0">
                <a:solidFill>
                  <a:srgbClr val="FF0000"/>
                </a:solidFill>
                <a:latin typeface="Times New Roman" panose="02020603050405020304" pitchFamily="18" charset="0"/>
                <a:cs typeface="Times New Roman" panose="02020603050405020304" pitchFamily="18" charset="0"/>
              </a:rPr>
              <a:t>t</a:t>
            </a:r>
            <a:r>
              <a:rPr lang="zh-CN" altLang="en-US" sz="2000" b="1" dirty="0">
                <a:solidFill>
                  <a:srgbClr val="FF0000"/>
                </a:solidFill>
                <a:latin typeface="Times New Roman" panose="02020603050405020304" pitchFamily="18" charset="0"/>
                <a:cs typeface="Times New Roman" panose="02020603050405020304" pitchFamily="18" charset="0"/>
              </a:rPr>
              <a:t>时刻的工作集为？</a:t>
            </a:r>
          </a:p>
        </p:txBody>
      </p:sp>
    </p:spTree>
    <p:extLst>
      <p:ext uri="{BB962C8B-B14F-4D97-AF65-F5344CB8AC3E}">
        <p14:creationId xmlns:p14="http://schemas.microsoft.com/office/powerpoint/2010/main" val="29570089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“抖动”与工作集</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7"/>
            <a:ext cx="10515600" cy="5471933"/>
          </a:xfrm>
        </p:spPr>
        <p:txBody>
          <a:bodyPr>
            <a:normAutofit/>
          </a:bodyPr>
          <a:lstStyle/>
          <a:p>
            <a:pPr>
              <a:lnSpc>
                <a:spcPct val="120000"/>
              </a:lnSpc>
            </a:pPr>
            <a:r>
              <a:rPr kumimoji="1" lang="zh-CN" altLang="en-US" dirty="0"/>
              <a:t>“抖动”的预防方法</a:t>
            </a:r>
            <a:endParaRPr lang="zh-CN" altLang="en-US" dirty="0"/>
          </a:p>
          <a:p>
            <a:pPr lvl="1">
              <a:buFont typeface="Wingdings" panose="05000000000000000000" pitchFamily="2" charset="2"/>
              <a:buChar char="ü"/>
            </a:pPr>
            <a:r>
              <a:rPr kumimoji="1" lang="zh-CN" altLang="en-US" dirty="0"/>
              <a:t>采取局部置换策略</a:t>
            </a:r>
          </a:p>
          <a:p>
            <a:pPr marL="914400" lvl="2" indent="0" algn="just">
              <a:buNone/>
            </a:pPr>
            <a:r>
              <a:rPr kumimoji="1" lang="zh-CN" altLang="en-US" dirty="0"/>
              <a:t>在页面分配和置换策略中，如果采取的是可变分配方式，则为了预防发生“抖动”，可采取局部置换策略。</a:t>
            </a:r>
            <a:endParaRPr kumimoji="1" lang="en-US" altLang="zh-CN" baseline="-25000" dirty="0"/>
          </a:p>
          <a:p>
            <a:pPr lvl="1">
              <a:buFont typeface="Wingdings" panose="05000000000000000000" pitchFamily="2" charset="2"/>
              <a:buChar char="ü"/>
            </a:pPr>
            <a:r>
              <a:rPr kumimoji="1" lang="zh-CN" altLang="en-US" dirty="0"/>
              <a:t>把工作集算法融入到处理机调度中</a:t>
            </a:r>
            <a:endParaRPr kumimoji="1" lang="en-US" altLang="zh-CN" dirty="0"/>
          </a:p>
          <a:p>
            <a:pPr marL="914400" lvl="2" indent="0">
              <a:buNone/>
            </a:pPr>
            <a:r>
              <a:rPr kumimoji="1" lang="zh-CN" altLang="en-US" dirty="0"/>
              <a:t>当调度程序发现处理机利用率低下时，它将试图从外存调入一个新作业进入内存，来改善处理机的利用率。</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19760511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“抖动”与工作集</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7"/>
            <a:ext cx="10515600" cy="5471933"/>
          </a:xfrm>
        </p:spPr>
        <p:txBody>
          <a:bodyPr>
            <a:normAutofit/>
          </a:bodyPr>
          <a:lstStyle/>
          <a:p>
            <a:pPr>
              <a:lnSpc>
                <a:spcPct val="120000"/>
              </a:lnSpc>
            </a:pPr>
            <a:r>
              <a:rPr kumimoji="1" lang="zh-CN" altLang="en-US" dirty="0"/>
              <a:t>“抖动”的预防方法</a:t>
            </a:r>
            <a:endParaRPr lang="zh-CN" altLang="en-US" dirty="0"/>
          </a:p>
          <a:p>
            <a:pPr lvl="1">
              <a:buFont typeface="Wingdings" panose="05000000000000000000" pitchFamily="2" charset="2"/>
              <a:buChar char="ü"/>
            </a:pPr>
            <a:r>
              <a:rPr kumimoji="1" lang="zh-CN" altLang="en-US" dirty="0"/>
              <a:t>利用“</a:t>
            </a:r>
            <a:r>
              <a:rPr kumimoji="1" lang="en-US" altLang="zh-CN" dirty="0"/>
              <a:t>L=S”</a:t>
            </a:r>
            <a:r>
              <a:rPr kumimoji="1" lang="zh-CN" altLang="en-US" dirty="0"/>
              <a:t>准则调节缺页率</a:t>
            </a:r>
            <a:endParaRPr kumimoji="1" lang="en-US" altLang="zh-CN" dirty="0"/>
          </a:p>
          <a:p>
            <a:pPr marL="914400" lvl="2" indent="0">
              <a:buNone/>
            </a:pPr>
            <a:r>
              <a:rPr kumimoji="1" lang="en-US" altLang="zh-CN" dirty="0"/>
              <a:t>Denning</a:t>
            </a:r>
            <a:r>
              <a:rPr kumimoji="1" lang="zh-CN" altLang="en-US" dirty="0"/>
              <a:t>于</a:t>
            </a:r>
            <a:r>
              <a:rPr kumimoji="1" lang="en-US" altLang="zh-CN" dirty="0"/>
              <a:t>1980</a:t>
            </a:r>
            <a:r>
              <a:rPr kumimoji="1" lang="zh-CN" altLang="en-US" dirty="0"/>
              <a:t>年提出了“</a:t>
            </a:r>
            <a:r>
              <a:rPr kumimoji="1" lang="en-US" altLang="zh-CN" dirty="0"/>
              <a:t>L=S”</a:t>
            </a:r>
            <a:r>
              <a:rPr kumimoji="1" lang="zh-CN" altLang="en-US" dirty="0"/>
              <a:t>的准则来调节多道程序度，其中</a:t>
            </a:r>
            <a:r>
              <a:rPr kumimoji="1" lang="en-US" altLang="zh-CN" dirty="0"/>
              <a:t>L</a:t>
            </a:r>
            <a:r>
              <a:rPr kumimoji="1" lang="zh-CN" altLang="en-US" dirty="0"/>
              <a:t>是缺页之间的平均时间，</a:t>
            </a:r>
            <a:r>
              <a:rPr kumimoji="1" lang="en-US" altLang="zh-CN" dirty="0"/>
              <a:t>S</a:t>
            </a:r>
            <a:r>
              <a:rPr kumimoji="1" lang="zh-CN" altLang="en-US" dirty="0"/>
              <a:t>是平均缺页服务时间，即用于置换一个页面所需的时间。如果是</a:t>
            </a:r>
            <a:r>
              <a:rPr kumimoji="1" lang="en-US" altLang="zh-CN" dirty="0"/>
              <a:t>L</a:t>
            </a:r>
            <a:r>
              <a:rPr kumimoji="1" lang="zh-CN" altLang="en-US" dirty="0"/>
              <a:t>远比</a:t>
            </a:r>
            <a:r>
              <a:rPr kumimoji="1" lang="en-US" altLang="zh-CN" dirty="0"/>
              <a:t>S</a:t>
            </a:r>
            <a:r>
              <a:rPr kumimoji="1" lang="zh-CN" altLang="en-US" dirty="0"/>
              <a:t>大，说明很少发生缺页，磁盘的能力尚未得到充分的利用；反之，如果是</a:t>
            </a:r>
            <a:r>
              <a:rPr kumimoji="1" lang="en-US" altLang="zh-CN" dirty="0"/>
              <a:t>L</a:t>
            </a:r>
            <a:r>
              <a:rPr kumimoji="1" lang="zh-CN" altLang="en-US" dirty="0"/>
              <a:t>比</a:t>
            </a:r>
            <a:r>
              <a:rPr kumimoji="1" lang="en-US" altLang="zh-CN" dirty="0"/>
              <a:t>S</a:t>
            </a:r>
            <a:r>
              <a:rPr kumimoji="1" lang="zh-CN" altLang="en-US" dirty="0"/>
              <a:t>小，则说明频繁发生缺页，缺页的速度已超过磁盘的处理能力。只有当</a:t>
            </a:r>
            <a:r>
              <a:rPr kumimoji="1" lang="en-US" altLang="zh-CN" dirty="0"/>
              <a:t>L</a:t>
            </a:r>
            <a:r>
              <a:rPr kumimoji="1" lang="zh-CN" altLang="en-US" dirty="0"/>
              <a:t>与</a:t>
            </a:r>
            <a:r>
              <a:rPr kumimoji="1" lang="en-US" altLang="zh-CN" dirty="0"/>
              <a:t>S</a:t>
            </a:r>
            <a:r>
              <a:rPr kumimoji="1" lang="zh-CN" altLang="en-US" dirty="0"/>
              <a:t>接近时，磁盘和处理机都可达到它们的最大利用率。理论和实践都已证明，利用“</a:t>
            </a:r>
            <a:r>
              <a:rPr kumimoji="1" lang="en-US" altLang="zh-CN" dirty="0"/>
              <a:t>L=S”</a:t>
            </a:r>
            <a:r>
              <a:rPr kumimoji="1" lang="zh-CN" altLang="en-US" dirty="0"/>
              <a:t>准则，对于调节缺页率是十分有效的。</a:t>
            </a:r>
            <a:endParaRPr kumimoji="1" lang="en-US" altLang="zh-CN" baseline="-25000" dirty="0"/>
          </a:p>
          <a:p>
            <a:pPr lvl="1">
              <a:buFont typeface="Wingdings" panose="05000000000000000000" pitchFamily="2" charset="2"/>
              <a:buChar char="ü"/>
            </a:pPr>
            <a:r>
              <a:rPr kumimoji="1" lang="zh-CN" altLang="en-US" dirty="0"/>
              <a:t>选择暂停的进程</a:t>
            </a:r>
            <a:endParaRPr kumimoji="1" lang="en-US" altLang="zh-CN" dirty="0"/>
          </a:p>
          <a:p>
            <a:pPr marL="914400" lvl="2" indent="0">
              <a:buNone/>
            </a:pPr>
            <a:r>
              <a:rPr kumimoji="1" lang="zh-CN" altLang="en-US" dirty="0"/>
              <a:t>当多道程序度偏高时，已影响到处理机的利用率，为了防止发生“抖动”，系统必须减少多道程序的数目。</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14198807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请求分段存储管理方式</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7"/>
            <a:ext cx="10515600" cy="5471933"/>
          </a:xfrm>
        </p:spPr>
        <p:txBody>
          <a:bodyPr>
            <a:normAutofit/>
          </a:bodyPr>
          <a:lstStyle/>
          <a:p>
            <a:pPr>
              <a:lnSpc>
                <a:spcPct val="120000"/>
              </a:lnSpc>
            </a:pPr>
            <a:r>
              <a:rPr kumimoji="1" lang="zh-CN" altLang="en-US" dirty="0"/>
              <a:t>请求分段中的硬件支持</a:t>
            </a:r>
            <a:endParaRPr kumimoji="1" lang="en-US" altLang="zh-CN" dirty="0"/>
          </a:p>
          <a:p>
            <a:pPr marL="457200" lvl="1" indent="0">
              <a:buNone/>
            </a:pPr>
            <a:r>
              <a:rPr kumimoji="1" lang="zh-CN" altLang="en-US" dirty="0"/>
              <a:t>        为实现请求分段式存储管理，应在系统中配置多种硬件机构，以支持快速地完成请求分段功能。与请求分页系统相似，在请求分段系统中所需的硬件支持有段表机制、缺段中断机构，以及地址变换机构。</a:t>
            </a:r>
            <a:endParaRPr kumimoji="1" lang="en-US" altLang="zh-CN" dirty="0"/>
          </a:p>
          <a:p>
            <a:pPr lvl="1">
              <a:buFont typeface="Wingdings" panose="05000000000000000000" pitchFamily="2" charset="2"/>
              <a:buChar char="ü"/>
            </a:pPr>
            <a:r>
              <a:rPr kumimoji="1" lang="zh-CN" altLang="en-US" dirty="0"/>
              <a:t>请求段表机制</a:t>
            </a:r>
            <a:endParaRPr kumimoji="1" lang="en-US" altLang="zh-CN" dirty="0"/>
          </a:p>
          <a:p>
            <a:pPr marL="914400" lvl="2" indent="0" algn="just">
              <a:buNone/>
            </a:pPr>
            <a:r>
              <a:rPr kumimoji="1" lang="zh-CN" altLang="en-US" dirty="0"/>
              <a:t>在请求分段式管理中所需的主要数据结构是请求段表。在该表中除了具有请求分页机制中有的访问字段</a:t>
            </a:r>
            <a:r>
              <a:rPr kumimoji="1" lang="en-US" altLang="zh-CN" dirty="0"/>
              <a:t>A</a:t>
            </a:r>
            <a:r>
              <a:rPr kumimoji="1" lang="zh-CN" altLang="en-US" dirty="0"/>
              <a:t>、修改位</a:t>
            </a:r>
            <a:r>
              <a:rPr kumimoji="1" lang="en-US" altLang="zh-CN" dirty="0"/>
              <a:t>M</a:t>
            </a:r>
            <a:r>
              <a:rPr kumimoji="1" lang="zh-CN" altLang="en-US" dirty="0"/>
              <a:t>、存在位</a:t>
            </a:r>
            <a:r>
              <a:rPr kumimoji="1" lang="en-US" altLang="zh-CN" dirty="0"/>
              <a:t>P</a:t>
            </a:r>
            <a:r>
              <a:rPr kumimoji="1" lang="zh-CN" altLang="en-US" dirty="0"/>
              <a:t>和外存始址四个字段外，还增加了存取方式字段和增补位。这些字段供程序在调进、调出时参考。下面给出请求分段的段表项。</a:t>
            </a:r>
            <a:endParaRPr kumimoji="1" lang="en-US" altLang="zh-CN" baseline="-25000"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pic>
        <p:nvPicPr>
          <p:cNvPr id="5" name="Picture 4">
            <a:extLst>
              <a:ext uri="{FF2B5EF4-FFF2-40B4-BE49-F238E27FC236}">
                <a16:creationId xmlns:a16="http://schemas.microsoft.com/office/drawing/2014/main" id="{7B6B2D62-B1CD-423C-8340-FA02E8089C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6141" y="5454805"/>
            <a:ext cx="7993062" cy="63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762064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请求分段存储管理方式</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685800" y="1510757"/>
            <a:ext cx="5791201" cy="5471933"/>
          </a:xfrm>
        </p:spPr>
        <p:txBody>
          <a:bodyPr>
            <a:normAutofit/>
          </a:bodyPr>
          <a:lstStyle/>
          <a:p>
            <a:pPr>
              <a:lnSpc>
                <a:spcPct val="120000"/>
              </a:lnSpc>
            </a:pPr>
            <a:r>
              <a:rPr kumimoji="1" lang="zh-CN" altLang="en-US" dirty="0"/>
              <a:t>请求分段中的硬件支持</a:t>
            </a:r>
            <a:endParaRPr kumimoji="1" lang="en-US" altLang="zh-CN" dirty="0"/>
          </a:p>
          <a:p>
            <a:pPr lvl="1">
              <a:buFont typeface="Wingdings" panose="05000000000000000000" pitchFamily="2" charset="2"/>
              <a:buChar char="ü"/>
            </a:pPr>
            <a:r>
              <a:rPr kumimoji="1" lang="zh-CN" altLang="en-US" dirty="0"/>
              <a:t>缺段中断机构</a:t>
            </a:r>
            <a:endParaRPr kumimoji="1" lang="en-US" altLang="zh-CN" dirty="0"/>
          </a:p>
          <a:p>
            <a:pPr marL="914400" lvl="2" indent="0" algn="just">
              <a:buNone/>
            </a:pPr>
            <a:r>
              <a:rPr kumimoji="1" lang="zh-CN" altLang="en-US" dirty="0"/>
              <a:t>在请求分段系统中采用的是请求调段策略。每当发现运行进程所要访问的段尚未调入内存时，便由缺段中断机构产生一缺段中断信号，进入</a:t>
            </a:r>
            <a:r>
              <a:rPr kumimoji="1" lang="en-US" altLang="zh-CN" dirty="0"/>
              <a:t>OS</a:t>
            </a:r>
            <a:r>
              <a:rPr kumimoji="1" lang="zh-CN" altLang="en-US" dirty="0"/>
              <a:t>后，由缺段中断处理程序将所需的段调入内存。与缺页中断机构类似，缺段中断机构同样需要在一条指令的执行期间产生和处理中断，以及在一条指令执行期间，可能产生多次缺段中断。但由于分段是信息的逻辑单位，因而不可能出现一条指令被分割在两个分段中，和一组信息被分割在两个分段中的情况。</a:t>
            </a:r>
            <a:endParaRPr kumimoji="1" lang="en-US" altLang="zh-CN" baseline="-25000"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pic>
        <p:nvPicPr>
          <p:cNvPr id="6" name="Picture 4">
            <a:extLst>
              <a:ext uri="{FF2B5EF4-FFF2-40B4-BE49-F238E27FC236}">
                <a16:creationId xmlns:a16="http://schemas.microsoft.com/office/drawing/2014/main" id="{4EAF84BA-FF98-4B17-9EFB-4D3751325E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4263" y="2158228"/>
            <a:ext cx="5715000" cy="398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a:extLst>
              <a:ext uri="{FF2B5EF4-FFF2-40B4-BE49-F238E27FC236}">
                <a16:creationId xmlns:a16="http://schemas.microsoft.com/office/drawing/2014/main" id="{BE839D4E-E2A4-478F-B323-04742BD912F6}"/>
              </a:ext>
            </a:extLst>
          </p:cNvPr>
          <p:cNvSpPr txBox="1"/>
          <p:nvPr/>
        </p:nvSpPr>
        <p:spPr>
          <a:xfrm>
            <a:off x="7331651" y="6272950"/>
            <a:ext cx="3860223" cy="400110"/>
          </a:xfrm>
          <a:prstGeom prst="rect">
            <a:avLst/>
          </a:prstGeom>
          <a:noFill/>
        </p:spPr>
        <p:txBody>
          <a:bodyPr wrap="square">
            <a:spAutoFit/>
          </a:bodyPr>
          <a:lstStyle/>
          <a:p>
            <a:r>
              <a:rPr lang="zh-CN" altLang="en-US" sz="2000" b="1" dirty="0">
                <a:solidFill>
                  <a:srgbClr val="002060"/>
                </a:solidFill>
              </a:rPr>
              <a:t>请求分段系统中的中断处理过程</a:t>
            </a:r>
          </a:p>
        </p:txBody>
      </p:sp>
    </p:spTree>
    <p:extLst>
      <p:ext uri="{BB962C8B-B14F-4D97-AF65-F5344CB8AC3E}">
        <p14:creationId xmlns:p14="http://schemas.microsoft.com/office/powerpoint/2010/main" val="12527466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请求分段存储管理方式</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7"/>
            <a:ext cx="5178136" cy="5471933"/>
          </a:xfrm>
        </p:spPr>
        <p:txBody>
          <a:bodyPr>
            <a:normAutofit/>
          </a:bodyPr>
          <a:lstStyle/>
          <a:p>
            <a:pPr>
              <a:lnSpc>
                <a:spcPct val="120000"/>
              </a:lnSpc>
            </a:pPr>
            <a:r>
              <a:rPr kumimoji="1" lang="zh-CN" altLang="en-US" dirty="0"/>
              <a:t>请求分段中的硬件支持</a:t>
            </a:r>
            <a:endParaRPr kumimoji="1" lang="en-US" altLang="zh-CN" dirty="0"/>
          </a:p>
          <a:p>
            <a:pPr lvl="1">
              <a:buFont typeface="Wingdings" panose="05000000000000000000" pitchFamily="2" charset="2"/>
              <a:buChar char="ü"/>
            </a:pPr>
            <a:r>
              <a:rPr kumimoji="1" lang="zh-CN" altLang="en-US" dirty="0"/>
              <a:t>地址变换机构</a:t>
            </a:r>
            <a:endParaRPr kumimoji="1" lang="en-US" altLang="zh-CN" dirty="0"/>
          </a:p>
          <a:p>
            <a:pPr marL="914400" lvl="2" indent="0" algn="just">
              <a:buNone/>
            </a:pPr>
            <a:r>
              <a:rPr kumimoji="1" lang="zh-CN" altLang="en-US" dirty="0"/>
              <a:t>请求分段系统中的地址变换机构是在分段系统地址变换机构的基础上形成的。因为被访问的段并非全在内存，所以在地址变换时，若发现所要访问的段不在内存，必须先将所缺的段调入内存，并修改段表，然后才能再利用段表进行地址变换。为此，在地址变换机构中又增加了某些功能，如缺段中断的请求及处理等。</a:t>
            </a:r>
            <a:endParaRPr kumimoji="1" lang="en-US" altLang="zh-CN" baseline="-25000"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pic>
        <p:nvPicPr>
          <p:cNvPr id="6" name="Picture 4">
            <a:extLst>
              <a:ext uri="{FF2B5EF4-FFF2-40B4-BE49-F238E27FC236}">
                <a16:creationId xmlns:a16="http://schemas.microsoft.com/office/drawing/2014/main" id="{A7248CC8-0A24-4C5D-8EEC-A7999BEA1D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37313" y="1790556"/>
            <a:ext cx="4638675" cy="439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a:extLst>
              <a:ext uri="{FF2B5EF4-FFF2-40B4-BE49-F238E27FC236}">
                <a16:creationId xmlns:a16="http://schemas.microsoft.com/office/drawing/2014/main" id="{1336E245-D754-4FE1-8CEF-87C45791A6BC}"/>
              </a:ext>
            </a:extLst>
          </p:cNvPr>
          <p:cNvSpPr txBox="1"/>
          <p:nvPr/>
        </p:nvSpPr>
        <p:spPr>
          <a:xfrm>
            <a:off x="7257616" y="6292819"/>
            <a:ext cx="3592657" cy="400110"/>
          </a:xfrm>
          <a:prstGeom prst="rect">
            <a:avLst/>
          </a:prstGeom>
          <a:noFill/>
        </p:spPr>
        <p:txBody>
          <a:bodyPr wrap="square">
            <a:spAutoFit/>
          </a:bodyPr>
          <a:lstStyle/>
          <a:p>
            <a:r>
              <a:rPr lang="zh-CN" altLang="en-US" sz="2000" b="1" dirty="0">
                <a:solidFill>
                  <a:srgbClr val="002060"/>
                </a:solidFill>
              </a:rPr>
              <a:t>请求分段系统的地址变换过程</a:t>
            </a:r>
          </a:p>
        </p:txBody>
      </p:sp>
    </p:spTree>
    <p:extLst>
      <p:ext uri="{BB962C8B-B14F-4D97-AF65-F5344CB8AC3E}">
        <p14:creationId xmlns:p14="http://schemas.microsoft.com/office/powerpoint/2010/main" val="22829281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请求分段存储管理方式</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7"/>
            <a:ext cx="10515600" cy="5471933"/>
          </a:xfrm>
        </p:spPr>
        <p:txBody>
          <a:bodyPr>
            <a:normAutofit/>
          </a:bodyPr>
          <a:lstStyle/>
          <a:p>
            <a:pPr>
              <a:lnSpc>
                <a:spcPct val="120000"/>
              </a:lnSpc>
            </a:pPr>
            <a:r>
              <a:rPr kumimoji="1" lang="zh-CN" altLang="en-US" dirty="0"/>
              <a:t>分段的共享与保护</a:t>
            </a:r>
            <a:endParaRPr kumimoji="1" lang="en-US" altLang="zh-CN" dirty="0"/>
          </a:p>
          <a:p>
            <a:pPr lvl="1">
              <a:buFont typeface="Wingdings" panose="05000000000000000000" pitchFamily="2" charset="2"/>
              <a:buChar char="ü"/>
            </a:pPr>
            <a:r>
              <a:rPr kumimoji="1" lang="zh-CN" altLang="en-US" dirty="0"/>
              <a:t>共享段表</a:t>
            </a:r>
            <a:endParaRPr kumimoji="1" lang="en-US" altLang="zh-CN" dirty="0"/>
          </a:p>
          <a:p>
            <a:pPr marL="914400" lvl="2" indent="0" algn="just">
              <a:buNone/>
            </a:pPr>
            <a:r>
              <a:rPr kumimoji="1" lang="en-US" altLang="zh-CN" dirty="0"/>
              <a:t>(1)</a:t>
            </a:r>
            <a:r>
              <a:rPr kumimoji="1" lang="zh-CN" altLang="en-US" dirty="0"/>
              <a:t>共享进程计数</a:t>
            </a:r>
            <a:r>
              <a:rPr kumimoji="1" lang="en-US" altLang="zh-CN" dirty="0"/>
              <a:t>count</a:t>
            </a:r>
            <a:r>
              <a:rPr kumimoji="1" lang="zh-CN" altLang="en-US" dirty="0"/>
              <a:t>；</a:t>
            </a:r>
            <a:r>
              <a:rPr kumimoji="1" lang="en-US" altLang="zh-CN" dirty="0"/>
              <a:t>(2)</a:t>
            </a:r>
            <a:r>
              <a:rPr kumimoji="1" lang="zh-CN" altLang="en-US" dirty="0"/>
              <a:t>存取控制字段；</a:t>
            </a:r>
            <a:r>
              <a:rPr kumimoji="1" lang="en-US" altLang="zh-CN" dirty="0"/>
              <a:t>(3)</a:t>
            </a:r>
            <a:r>
              <a:rPr kumimoji="1" lang="zh-CN" altLang="en-US" dirty="0"/>
              <a:t>段号</a:t>
            </a:r>
            <a:endParaRPr kumimoji="1" lang="en-US" altLang="zh-CN" baseline="-25000" dirty="0"/>
          </a:p>
          <a:p>
            <a:pPr lvl="1">
              <a:buFont typeface="Wingdings" panose="05000000000000000000" pitchFamily="2" charset="2"/>
              <a:buChar char="ü"/>
            </a:pP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pic>
        <p:nvPicPr>
          <p:cNvPr id="6" name="Picture 4">
            <a:extLst>
              <a:ext uri="{FF2B5EF4-FFF2-40B4-BE49-F238E27FC236}">
                <a16:creationId xmlns:a16="http://schemas.microsoft.com/office/drawing/2014/main" id="{25572F7C-C883-43D0-BEC7-B159DE4BC0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6940" y="3223935"/>
            <a:ext cx="7058025" cy="291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a:extLst>
              <a:ext uri="{FF2B5EF4-FFF2-40B4-BE49-F238E27FC236}">
                <a16:creationId xmlns:a16="http://schemas.microsoft.com/office/drawing/2014/main" id="{5CB0C88E-9F59-4B5B-98FD-A70404A119F5}"/>
              </a:ext>
            </a:extLst>
          </p:cNvPr>
          <p:cNvSpPr txBox="1"/>
          <p:nvPr/>
        </p:nvSpPr>
        <p:spPr>
          <a:xfrm>
            <a:off x="5322743" y="6002681"/>
            <a:ext cx="1546513" cy="400110"/>
          </a:xfrm>
          <a:prstGeom prst="rect">
            <a:avLst/>
          </a:prstGeom>
          <a:noFill/>
        </p:spPr>
        <p:txBody>
          <a:bodyPr wrap="square">
            <a:spAutoFit/>
          </a:bodyPr>
          <a:lstStyle/>
          <a:p>
            <a:r>
              <a:rPr lang="zh-CN" altLang="en-US" sz="2000" b="1" dirty="0">
                <a:solidFill>
                  <a:srgbClr val="002060"/>
                </a:solidFill>
              </a:rPr>
              <a:t>共享段表项</a:t>
            </a:r>
          </a:p>
        </p:txBody>
      </p:sp>
    </p:spTree>
    <p:extLst>
      <p:ext uri="{BB962C8B-B14F-4D97-AF65-F5344CB8AC3E}">
        <p14:creationId xmlns:p14="http://schemas.microsoft.com/office/powerpoint/2010/main" val="26722584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请求分段存储管理方式</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7"/>
            <a:ext cx="10515600" cy="5471933"/>
          </a:xfrm>
        </p:spPr>
        <p:txBody>
          <a:bodyPr>
            <a:normAutofit/>
          </a:bodyPr>
          <a:lstStyle/>
          <a:p>
            <a:pPr>
              <a:lnSpc>
                <a:spcPct val="120000"/>
              </a:lnSpc>
            </a:pPr>
            <a:r>
              <a:rPr kumimoji="1" lang="zh-CN" altLang="en-US" dirty="0"/>
              <a:t>分段的共享与保护</a:t>
            </a:r>
            <a:endParaRPr kumimoji="1" lang="en-US" altLang="zh-CN" dirty="0"/>
          </a:p>
          <a:p>
            <a:pPr lvl="1">
              <a:buFont typeface="Wingdings" panose="05000000000000000000" pitchFamily="2" charset="2"/>
              <a:buChar char="ü"/>
            </a:pPr>
            <a:r>
              <a:rPr kumimoji="1" lang="zh-CN" altLang="en-US" dirty="0"/>
              <a:t>共享段的分配与回收</a:t>
            </a:r>
            <a:endParaRPr kumimoji="1" lang="en-US" altLang="zh-CN" dirty="0"/>
          </a:p>
          <a:p>
            <a:pPr marL="914400" lvl="2" indent="0" algn="just">
              <a:buNone/>
            </a:pPr>
            <a:r>
              <a:rPr kumimoji="1" lang="en-US" altLang="zh-CN" dirty="0"/>
              <a:t>(1)</a:t>
            </a:r>
            <a:r>
              <a:rPr kumimoji="1" lang="zh-CN" altLang="en-US" dirty="0"/>
              <a:t>共享段的分配；</a:t>
            </a:r>
            <a:r>
              <a:rPr kumimoji="1" lang="en-US" altLang="zh-CN" dirty="0"/>
              <a:t>(2)</a:t>
            </a:r>
            <a:r>
              <a:rPr kumimoji="1" lang="zh-CN" altLang="en-US" dirty="0"/>
              <a:t>共享段的回收</a:t>
            </a:r>
            <a:endParaRPr kumimoji="1" lang="en-US" altLang="zh-CN" baseline="-25000" dirty="0"/>
          </a:p>
          <a:p>
            <a:pPr lvl="1">
              <a:buFont typeface="Wingdings" panose="05000000000000000000" pitchFamily="2" charset="2"/>
              <a:buChar char="ü"/>
            </a:pPr>
            <a:r>
              <a:rPr kumimoji="1" lang="zh-CN" altLang="en-US" dirty="0"/>
              <a:t>分段保护</a:t>
            </a:r>
            <a:endParaRPr kumimoji="1" lang="en-US" altLang="zh-CN" dirty="0"/>
          </a:p>
          <a:p>
            <a:pPr marL="914400" lvl="2" indent="0">
              <a:buNone/>
            </a:pPr>
            <a:r>
              <a:rPr kumimoji="1" lang="zh-CN" altLang="en-US" dirty="0"/>
              <a:t>在分段系统中，由于每个分段在逻辑上是相对独立的，因而较容易实现信息保护。目前，常采用几种措施来确保信息的安全：</a:t>
            </a:r>
            <a:r>
              <a:rPr lang="zh-CN" altLang="en-US" dirty="0"/>
              <a:t>越界检查、存取控制检查、环保护机构。</a:t>
            </a:r>
            <a:endParaRPr kumimoji="1" lang="en-US" altLang="zh-CN" dirty="0"/>
          </a:p>
          <a:p>
            <a:pPr lvl="1">
              <a:buFont typeface="Wingdings" panose="05000000000000000000" pitchFamily="2" charset="2"/>
              <a:buChar char="ü"/>
            </a:pP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pic>
        <p:nvPicPr>
          <p:cNvPr id="7" name="Picture 4">
            <a:extLst>
              <a:ext uri="{FF2B5EF4-FFF2-40B4-BE49-F238E27FC236}">
                <a16:creationId xmlns:a16="http://schemas.microsoft.com/office/drawing/2014/main" id="{68D9DBA5-A0DC-40DB-9053-0C0249D075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1032" y="4429125"/>
            <a:ext cx="7273925" cy="2109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8">
            <a:extLst>
              <a:ext uri="{FF2B5EF4-FFF2-40B4-BE49-F238E27FC236}">
                <a16:creationId xmlns:a16="http://schemas.microsoft.com/office/drawing/2014/main" id="{8095E0DC-6D30-4C1D-B0F7-652BABC6F985}"/>
              </a:ext>
            </a:extLst>
          </p:cNvPr>
          <p:cNvSpPr txBox="1"/>
          <p:nvPr/>
        </p:nvSpPr>
        <p:spPr>
          <a:xfrm>
            <a:off x="5946343" y="6520500"/>
            <a:ext cx="1483302" cy="400110"/>
          </a:xfrm>
          <a:prstGeom prst="rect">
            <a:avLst/>
          </a:prstGeom>
          <a:noFill/>
        </p:spPr>
        <p:txBody>
          <a:bodyPr wrap="square">
            <a:spAutoFit/>
          </a:bodyPr>
          <a:lstStyle/>
          <a:p>
            <a:r>
              <a:rPr lang="zh-CN" altLang="en-US" sz="2000" b="1" dirty="0">
                <a:solidFill>
                  <a:srgbClr val="002060"/>
                </a:solidFill>
              </a:rPr>
              <a:t>环保护机构</a:t>
            </a:r>
          </a:p>
        </p:txBody>
      </p:sp>
    </p:spTree>
    <p:extLst>
      <p:ext uri="{BB962C8B-B14F-4D97-AF65-F5344CB8AC3E}">
        <p14:creationId xmlns:p14="http://schemas.microsoft.com/office/powerpoint/2010/main" val="16451000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习题</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8"/>
            <a:ext cx="10515600" cy="5210718"/>
          </a:xfrm>
        </p:spPr>
        <p:txBody>
          <a:bodyPr>
            <a:normAutofit/>
          </a:bodyPr>
          <a:lstStyle/>
          <a:p>
            <a:pPr>
              <a:lnSpc>
                <a:spcPct val="120000"/>
              </a:lnSpc>
            </a:pPr>
            <a:r>
              <a:rPr kumimoji="1" lang="en-US" altLang="zh-CN" dirty="0"/>
              <a:t>11</a:t>
            </a:r>
            <a:r>
              <a:rPr kumimoji="1" lang="zh-CN" altLang="en-US" dirty="0"/>
              <a:t>、</a:t>
            </a:r>
            <a:r>
              <a:rPr kumimoji="1" lang="en-US" altLang="zh-CN" dirty="0"/>
              <a:t>13</a:t>
            </a:r>
            <a:r>
              <a:rPr kumimoji="1" lang="zh-CN" altLang="en-US" dirty="0"/>
              <a:t>、</a:t>
            </a:r>
            <a:r>
              <a:rPr kumimoji="1" lang="en-US" altLang="zh-CN" dirty="0"/>
              <a:t>16</a:t>
            </a:r>
            <a:r>
              <a:rPr kumimoji="1" lang="zh-CN" altLang="en-US" dirty="0"/>
              <a:t>、</a:t>
            </a:r>
            <a:r>
              <a:rPr kumimoji="1" lang="en-US" altLang="zh-CN"/>
              <a:t>20</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2700281978"/>
      </p:ext>
    </p:extLst>
  </p:cSld>
  <p:clrMapOvr>
    <a:masterClrMapping/>
  </p:clrMapOvr>
</p:sld>
</file>

<file path=ppt/theme/theme1.xml><?xml version="1.0" encoding="utf-8"?>
<a:theme xmlns:a="http://schemas.openxmlformats.org/drawingml/2006/main" name="2_Office 主题​​">
  <a:themeElements>
    <a:clrScheme name="蓝色暖调">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12668</TotalTime>
  <Words>4332</Words>
  <Application>Microsoft Office PowerPoint</Application>
  <PresentationFormat>宽屏</PresentationFormat>
  <Paragraphs>263</Paragraphs>
  <Slides>37</Slides>
  <Notes>22</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37</vt:i4>
      </vt:variant>
    </vt:vector>
  </HeadingPairs>
  <TitlesOfParts>
    <vt:vector size="46" baseType="lpstr">
      <vt:lpstr>等线</vt:lpstr>
      <vt:lpstr>方正琥珀简体</vt:lpstr>
      <vt:lpstr>Microsoft YaHei</vt:lpstr>
      <vt:lpstr>Arial</vt:lpstr>
      <vt:lpstr>Calibri</vt:lpstr>
      <vt:lpstr>Times New Roman</vt:lpstr>
      <vt:lpstr>Wingdings</vt:lpstr>
      <vt:lpstr>2_Office 主题​​</vt:lpstr>
      <vt:lpstr>公式</vt:lpstr>
      <vt:lpstr>第5章  虚拟存储器 </vt:lpstr>
      <vt:lpstr>虚拟存储器概述</vt:lpstr>
      <vt:lpstr>虚拟存储器概述</vt:lpstr>
      <vt:lpstr>虚拟存储器概述</vt:lpstr>
      <vt:lpstr>虚拟存储器概述</vt:lpstr>
      <vt:lpstr>请求分页存储管理方式</vt:lpstr>
      <vt:lpstr>请求分页存储管理方式</vt:lpstr>
      <vt:lpstr>请求分页存储管理方式</vt:lpstr>
      <vt:lpstr>请求分页存储管理方式</vt:lpstr>
      <vt:lpstr>请求分页存储管理方式</vt:lpstr>
      <vt:lpstr>请求分页存储管理方式</vt:lpstr>
      <vt:lpstr>请求分页存储管理方式</vt:lpstr>
      <vt:lpstr>请求分页存储管理方式</vt:lpstr>
      <vt:lpstr>请求分页存储管理方式</vt:lpstr>
      <vt:lpstr>页面置换算法</vt:lpstr>
      <vt:lpstr>页面置换算法</vt:lpstr>
      <vt:lpstr>页面置换算法</vt:lpstr>
      <vt:lpstr>页面置换算法</vt:lpstr>
      <vt:lpstr>页面置换算法</vt:lpstr>
      <vt:lpstr>页面置换算法</vt:lpstr>
      <vt:lpstr>页面置换算法</vt:lpstr>
      <vt:lpstr>页面置换算法</vt:lpstr>
      <vt:lpstr>页面置换算法</vt:lpstr>
      <vt:lpstr>页面置换算法</vt:lpstr>
      <vt:lpstr>“抖动”与工作集</vt:lpstr>
      <vt:lpstr>“抖动”与工作集</vt:lpstr>
      <vt:lpstr>“抖动”与工作集</vt:lpstr>
      <vt:lpstr>“抖动”与工作集</vt:lpstr>
      <vt:lpstr>“抖动”与工作集</vt:lpstr>
      <vt:lpstr>“抖动”与工作集</vt:lpstr>
      <vt:lpstr>“抖动”与工作集</vt:lpstr>
      <vt:lpstr>请求分段存储管理方式</vt:lpstr>
      <vt:lpstr>请求分段存储管理方式</vt:lpstr>
      <vt:lpstr>请求分段存储管理方式</vt:lpstr>
      <vt:lpstr>请求分段存储管理方式</vt:lpstr>
      <vt:lpstr>请求分段存储管理方式</vt:lpstr>
      <vt:lpstr>习题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Yong Cui</dc:creator>
  <cp:lastModifiedBy>江先亮</cp:lastModifiedBy>
  <cp:revision>1175</cp:revision>
  <dcterms:created xsi:type="dcterms:W3CDTF">2021-01-06T05:35:51Z</dcterms:created>
  <dcterms:modified xsi:type="dcterms:W3CDTF">2022-10-18T02:56:27Z</dcterms:modified>
</cp:coreProperties>
</file>